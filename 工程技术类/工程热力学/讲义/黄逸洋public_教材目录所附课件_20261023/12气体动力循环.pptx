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0"/>
  </p:notesMasterIdLst>
  <p:sldIdLst>
    <p:sldId id="257" r:id="rId2"/>
    <p:sldId id="258" r:id="rId3"/>
    <p:sldId id="259" r:id="rId4"/>
    <p:sldId id="261" r:id="rId5"/>
    <p:sldId id="262" r:id="rId6"/>
    <p:sldId id="263" r:id="rId7"/>
    <p:sldId id="264" r:id="rId8"/>
    <p:sldId id="273" r:id="rId9"/>
    <p:sldId id="266" r:id="rId10"/>
    <p:sldId id="267" r:id="rId11"/>
    <p:sldId id="268" r:id="rId12"/>
    <p:sldId id="269" r:id="rId13"/>
    <p:sldId id="270" r:id="rId14"/>
    <p:sldId id="274" r:id="rId15"/>
    <p:sldId id="275" r:id="rId16"/>
    <p:sldId id="272"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366" r:id="rId35"/>
    <p:sldId id="367"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0" autoAdjust="0"/>
    <p:restoredTop sz="95677" autoAdjust="0"/>
  </p:normalViewPr>
  <p:slideViewPr>
    <p:cSldViewPr snapToGrid="0">
      <p:cViewPr varScale="1">
        <p:scale>
          <a:sx n="92" d="100"/>
          <a:sy n="92" d="100"/>
        </p:scale>
        <p:origin x="928" y="56"/>
      </p:cViewPr>
      <p:guideLst/>
    </p:cSldViewPr>
  </p:slideViewPr>
  <p:outlineViewPr>
    <p:cViewPr>
      <p:scale>
        <a:sx n="33" d="100"/>
        <a:sy n="33" d="100"/>
      </p:scale>
      <p:origin x="0" y="-16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image" Target="../media/image32.wmf"/><Relationship Id="rId7" Type="http://schemas.openxmlformats.org/officeDocument/2006/relationships/image" Target="../media/image36.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5" Type="http://schemas.openxmlformats.org/officeDocument/2006/relationships/image" Target="../media/image56.wmf"/><Relationship Id="rId4" Type="http://schemas.openxmlformats.org/officeDocument/2006/relationships/image" Target="../media/image5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5" Type="http://schemas.openxmlformats.org/officeDocument/2006/relationships/image" Target="../media/image73.wmf"/><Relationship Id="rId4" Type="http://schemas.openxmlformats.org/officeDocument/2006/relationships/image" Target="../media/image7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5" Type="http://schemas.openxmlformats.org/officeDocument/2006/relationships/image" Target="../media/image83.wmf"/><Relationship Id="rId4" Type="http://schemas.openxmlformats.org/officeDocument/2006/relationships/image" Target="../media/image9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6" Type="http://schemas.openxmlformats.org/officeDocument/2006/relationships/image" Target="../media/image84.wmf"/><Relationship Id="rId5" Type="http://schemas.openxmlformats.org/officeDocument/2006/relationships/image" Target="../media/image98.wmf"/><Relationship Id="rId4" Type="http://schemas.openxmlformats.org/officeDocument/2006/relationships/image" Target="../media/image9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2.wmf"/><Relationship Id="rId1" Type="http://schemas.openxmlformats.org/officeDocument/2006/relationships/image" Target="../media/image10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4" Type="http://schemas.openxmlformats.org/officeDocument/2006/relationships/image" Target="../media/image11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121.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847EC-C74F-4D0B-B042-A220D6843F4B}" type="datetimeFigureOut">
              <a:rPr lang="zh-CN" altLang="en-US" smtClean="0"/>
              <a:t>2020/9/27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3B6C1-8FB5-4DAE-B0AE-35EF635537F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73B6C1-8FB5-4DAE-B0AE-35EF635537FA}" type="slidenum">
              <a:rPr lang="zh-CN" altLang="en-US" smtClean="0"/>
              <a:t>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197635"/>
          <p:cNvSpPr>
            <a:spLocks noGrp="1"/>
          </p:cNvSpPr>
          <p:nvPr>
            <p:ph type="dt" sz="half" idx="10"/>
          </p:nvPr>
        </p:nvSpPr>
        <p:spPr>
          <a:ln/>
        </p:spPr>
        <p:txBody>
          <a:bodyPr/>
          <a:lstStyle>
            <a:lvl1pPr>
              <a:defRPr/>
            </a:lvl1pPr>
          </a:lstStyle>
          <a:p>
            <a:fld id="{BB962C8B-B14F-4D97-AF65-F5344CB8AC3E}" type="datetime1">
              <a:rPr lang="zh-CN" altLang="en-US"/>
              <a:pPr/>
              <a:t>2020/9/27</a:t>
            </a:fld>
            <a:endParaRPr lang="zh-CN" altLang="en-US">
              <a:latin typeface="Times New Roman" panose="02020603050405020304" pitchFamily="18" charset="0"/>
            </a:endParaRPr>
          </a:p>
        </p:txBody>
      </p:sp>
      <p:sp>
        <p:nvSpPr>
          <p:cNvPr id="6" name="页脚占位符 197636"/>
          <p:cNvSpPr>
            <a:spLocks noGrp="1"/>
          </p:cNvSpPr>
          <p:nvPr>
            <p:ph type="ftr" sz="quarter" idx="11"/>
          </p:nvPr>
        </p:nvSpPr>
        <p:spPr>
          <a:ln/>
        </p:spPr>
        <p:txBody>
          <a:bodyPr/>
          <a:lstStyle>
            <a:lvl1pPr>
              <a:defRPr/>
            </a:lvl1pPr>
          </a:lstStyle>
          <a:p>
            <a:endParaRPr lang="zh-CN" altLang="en-US"/>
          </a:p>
        </p:txBody>
      </p:sp>
      <p:sp>
        <p:nvSpPr>
          <p:cNvPr id="7" name="灯片编号占位符 197637"/>
          <p:cNvSpPr>
            <a:spLocks noGrp="1"/>
          </p:cNvSpPr>
          <p:nvPr>
            <p:ph type="sldNum" sz="quarter" idx="12"/>
          </p:nvPr>
        </p:nvSpPr>
        <p:spPr>
          <a:ln/>
        </p:spPr>
        <p:txBody>
          <a:bodyPr/>
          <a:lstStyle>
            <a:lvl1pPr>
              <a:defRPr/>
            </a:lvl1pPr>
          </a:lstStyle>
          <a:p>
            <a:fld id="{D20D38AF-2FA8-4CB6-BA2A-C81FCC824A45}"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002628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2020/9/27</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3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slideLayout" Target="../slideLayouts/slideLayout7.xml"/><Relationship Id="rId7" Type="http://schemas.openxmlformats.org/officeDocument/2006/relationships/oleObject" Target="../embeddings/oleObject3.bin"/><Relationship Id="rId12" Type="http://schemas.openxmlformats.org/officeDocument/2006/relationships/image" Target="../media/image19.wmf"/><Relationship Id="rId2" Type="http://schemas.openxmlformats.org/officeDocument/2006/relationships/tags" Target="../tags/tag9.xml"/><Relationship Id="rId1" Type="http://schemas.openxmlformats.org/officeDocument/2006/relationships/vmlDrawing" Target="../drawings/vmlDrawing2.vml"/><Relationship Id="rId6" Type="http://schemas.openxmlformats.org/officeDocument/2006/relationships/image" Target="../media/image16.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18.wmf"/><Relationship Id="rId4" Type="http://schemas.openxmlformats.org/officeDocument/2006/relationships/image" Target="../media/image7.emf"/><Relationship Id="rId9"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7.bin"/><Relationship Id="rId4" Type="http://schemas.openxmlformats.org/officeDocument/2006/relationships/image" Target="../media/image20.wmf"/></Relationships>
</file>

<file path=ppt/slides/_rels/slide39.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7.wmf"/><Relationship Id="rId17" Type="http://schemas.openxmlformats.org/officeDocument/2006/relationships/image" Target="../media/image7.emf"/><Relationship Id="rId2" Type="http://schemas.openxmlformats.org/officeDocument/2006/relationships/slideLayout" Target="../slideLayouts/slideLayout7.xml"/><Relationship Id="rId16" Type="http://schemas.openxmlformats.org/officeDocument/2006/relationships/image" Target="../media/image29.wmf"/><Relationship Id="rId1" Type="http://schemas.openxmlformats.org/officeDocument/2006/relationships/vmlDrawing" Target="../drawings/vmlDrawing4.vml"/><Relationship Id="rId6" Type="http://schemas.openxmlformats.org/officeDocument/2006/relationships/image" Target="../media/image24.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2.bin"/><Relationship Id="rId14" Type="http://schemas.openxmlformats.org/officeDocument/2006/relationships/image" Target="../media/image28.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4.wmf"/><Relationship Id="rId18" Type="http://schemas.openxmlformats.org/officeDocument/2006/relationships/oleObject" Target="../embeddings/oleObject23.bin"/><Relationship Id="rId3" Type="http://schemas.openxmlformats.org/officeDocument/2006/relationships/slideLayout" Target="../slideLayouts/slideLayout7.xml"/><Relationship Id="rId7" Type="http://schemas.openxmlformats.org/officeDocument/2006/relationships/image" Target="../media/image31.wmf"/><Relationship Id="rId12" Type="http://schemas.openxmlformats.org/officeDocument/2006/relationships/oleObject" Target="../embeddings/oleObject20.bin"/><Relationship Id="rId17" Type="http://schemas.openxmlformats.org/officeDocument/2006/relationships/image" Target="../media/image36.wmf"/><Relationship Id="rId2" Type="http://schemas.openxmlformats.org/officeDocument/2006/relationships/tags" Target="../tags/tag10.xml"/><Relationship Id="rId16" Type="http://schemas.openxmlformats.org/officeDocument/2006/relationships/oleObject" Target="../embeddings/oleObject22.bin"/><Relationship Id="rId20" Type="http://schemas.openxmlformats.org/officeDocument/2006/relationships/image" Target="../media/image38.png"/><Relationship Id="rId1" Type="http://schemas.openxmlformats.org/officeDocument/2006/relationships/vmlDrawing" Target="../drawings/vmlDrawing5.vml"/><Relationship Id="rId6" Type="http://schemas.openxmlformats.org/officeDocument/2006/relationships/oleObject" Target="../embeddings/oleObject17.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19.bin"/><Relationship Id="rId19" Type="http://schemas.openxmlformats.org/officeDocument/2006/relationships/image" Target="../media/image37.wmf"/><Relationship Id="rId4" Type="http://schemas.openxmlformats.org/officeDocument/2006/relationships/oleObject" Target="../embeddings/oleObject16.bin"/><Relationship Id="rId9" Type="http://schemas.openxmlformats.org/officeDocument/2006/relationships/image" Target="../media/image32.wmf"/><Relationship Id="rId14" Type="http://schemas.openxmlformats.org/officeDocument/2006/relationships/oleObject" Target="../embeddings/oleObject21.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43.wmf"/><Relationship Id="rId3" Type="http://schemas.openxmlformats.org/officeDocument/2006/relationships/slideLayout" Target="../slideLayouts/slideLayout7.xml"/><Relationship Id="rId7" Type="http://schemas.openxmlformats.org/officeDocument/2006/relationships/image" Target="../media/image40.wmf"/><Relationship Id="rId12" Type="http://schemas.openxmlformats.org/officeDocument/2006/relationships/oleObject" Target="../embeddings/oleObject28.bin"/><Relationship Id="rId17" Type="http://schemas.openxmlformats.org/officeDocument/2006/relationships/image" Target="../media/image45.wmf"/><Relationship Id="rId2" Type="http://schemas.openxmlformats.org/officeDocument/2006/relationships/tags" Target="../tags/tag11.xml"/><Relationship Id="rId16" Type="http://schemas.openxmlformats.org/officeDocument/2006/relationships/oleObject" Target="../embeddings/oleObject30.bin"/><Relationship Id="rId1" Type="http://schemas.openxmlformats.org/officeDocument/2006/relationships/vmlDrawing" Target="../drawings/vmlDrawing6.vml"/><Relationship Id="rId6" Type="http://schemas.openxmlformats.org/officeDocument/2006/relationships/oleObject" Target="../embeddings/oleObject25.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41.wmf"/><Relationship Id="rId14" Type="http://schemas.openxmlformats.org/officeDocument/2006/relationships/oleObject" Target="../embeddings/oleObject29.bin"/></Relationships>
</file>

<file path=ppt/slides/_rels/slide42.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0.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7.wmf"/><Relationship Id="rId11" Type="http://schemas.openxmlformats.org/officeDocument/2006/relationships/image" Target="../media/image9.emf"/><Relationship Id="rId5" Type="http://schemas.openxmlformats.org/officeDocument/2006/relationships/oleObject" Target="../embeddings/oleObject32.bin"/><Relationship Id="rId15" Type="http://schemas.openxmlformats.org/officeDocument/2006/relationships/image" Target="../media/image51.wmf"/><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34.bin"/><Relationship Id="rId14" Type="http://schemas.openxmlformats.org/officeDocument/2006/relationships/oleObject" Target="../embeddings/oleObject36.bin"/></Relationships>
</file>

<file path=ppt/slides/_rels/slide43.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56.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53.wmf"/><Relationship Id="rId11" Type="http://schemas.openxmlformats.org/officeDocument/2006/relationships/image" Target="../media/image12.emf"/><Relationship Id="rId5" Type="http://schemas.openxmlformats.org/officeDocument/2006/relationships/oleObject" Target="../embeddings/oleObject38.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0.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8.wmf"/><Relationship Id="rId5" Type="http://schemas.openxmlformats.org/officeDocument/2006/relationships/oleObject" Target="../embeddings/oleObject43.bin"/><Relationship Id="rId4" Type="http://schemas.openxmlformats.org/officeDocument/2006/relationships/image" Target="../media/image57.wmf"/><Relationship Id="rId9" Type="http://schemas.openxmlformats.org/officeDocument/2006/relationships/image" Target="../media/image60.png"/></Relationships>
</file>

<file path=ppt/slides/_rels/slide46.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62.wmf"/><Relationship Id="rId5" Type="http://schemas.openxmlformats.org/officeDocument/2006/relationships/oleObject" Target="../embeddings/oleObject46.bin"/><Relationship Id="rId4" Type="http://schemas.openxmlformats.org/officeDocument/2006/relationships/image" Target="../media/image61.wmf"/><Relationship Id="rId9" Type="http://schemas.openxmlformats.org/officeDocument/2006/relationships/image" Target="../media/image64.png"/></Relationships>
</file>

<file path=ppt/slides/_rels/slide47.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6.wmf"/><Relationship Id="rId5" Type="http://schemas.openxmlformats.org/officeDocument/2006/relationships/oleObject" Target="../embeddings/oleObject49.bin"/><Relationship Id="rId4" Type="http://schemas.openxmlformats.org/officeDocument/2006/relationships/image" Target="../media/image65.wmf"/><Relationship Id="rId9" Type="http://schemas.openxmlformats.org/officeDocument/2006/relationships/image" Target="../media/image6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74.png"/><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73.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70.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5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oleObject" Target="../embeddings/oleObject56.bin"/><Relationship Id="rId7" Type="http://schemas.openxmlformats.org/officeDocument/2006/relationships/image" Target="../media/image85.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4.wmf"/><Relationship Id="rId5" Type="http://schemas.openxmlformats.org/officeDocument/2006/relationships/oleObject" Target="../embeddings/oleObject57.bin"/><Relationship Id="rId4" Type="http://schemas.openxmlformats.org/officeDocument/2006/relationships/image" Target="../media/image83.wmf"/></Relationships>
</file>

<file path=ppt/slides/_rels/slide66.xml.rels><?xml version="1.0" encoding="UTF-8" standalone="yes"?>
<Relationships xmlns="http://schemas.openxmlformats.org/package/2006/relationships"><Relationship Id="rId8" Type="http://schemas.openxmlformats.org/officeDocument/2006/relationships/image" Target="../media/image89.wmf"/><Relationship Id="rId13" Type="http://schemas.openxmlformats.org/officeDocument/2006/relationships/image" Target="../media/image83.wmf"/><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8.wmf"/><Relationship Id="rId11" Type="http://schemas.openxmlformats.org/officeDocument/2006/relationships/image" Target="../media/image86.png"/><Relationship Id="rId5" Type="http://schemas.openxmlformats.org/officeDocument/2006/relationships/oleObject" Target="../embeddings/oleObject59.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61.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2.bin"/><Relationship Id="rId7" Type="http://schemas.openxmlformats.org/officeDocument/2006/relationships/image" Target="../media/image93.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92.wmf"/><Relationship Id="rId5" Type="http://schemas.openxmlformats.org/officeDocument/2006/relationships/oleObject" Target="../embeddings/oleObject63.bin"/><Relationship Id="rId4" Type="http://schemas.openxmlformats.org/officeDocument/2006/relationships/image" Target="../media/image91.wmf"/></Relationships>
</file>

<file path=ppt/slides/_rels/slide68.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57.bin"/><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98.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95.wmf"/><Relationship Id="rId11" Type="http://schemas.openxmlformats.org/officeDocument/2006/relationships/oleObject" Target="../embeddings/oleObject68.bin"/><Relationship Id="rId5" Type="http://schemas.openxmlformats.org/officeDocument/2006/relationships/oleObject" Target="../embeddings/oleObject65.bin"/><Relationship Id="rId15" Type="http://schemas.openxmlformats.org/officeDocument/2006/relationships/image" Target="../media/image99.png"/><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67.bin"/><Relationship Id="rId14" Type="http://schemas.openxmlformats.org/officeDocument/2006/relationships/image" Target="../media/image84.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17.vml"/><Relationship Id="rId5" Type="http://schemas.openxmlformats.org/officeDocument/2006/relationships/image" Target="../media/image103.png"/><Relationship Id="rId4" Type="http://schemas.openxmlformats.org/officeDocument/2006/relationships/image" Target="../media/image102.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103.png"/><Relationship Id="rId4" Type="http://schemas.openxmlformats.org/officeDocument/2006/relationships/image" Target="../media/image104.wmf"/></Relationships>
</file>

<file path=ppt/slides/_rels/slide75.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02.wmf"/><Relationship Id="rId5" Type="http://schemas.openxmlformats.org/officeDocument/2006/relationships/oleObject" Target="../embeddings/oleObject72.bin"/><Relationship Id="rId4" Type="http://schemas.openxmlformats.org/officeDocument/2006/relationships/image" Target="../media/image105.wmf"/><Relationship Id="rId9" Type="http://schemas.openxmlformats.org/officeDocument/2006/relationships/image" Target="../media/image103.png"/></Relationships>
</file>

<file path=ppt/slides/_rels/slide76.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08.wmf"/><Relationship Id="rId11" Type="http://schemas.openxmlformats.org/officeDocument/2006/relationships/image" Target="../media/image111.png"/><Relationship Id="rId5" Type="http://schemas.openxmlformats.org/officeDocument/2006/relationships/oleObject" Target="../embeddings/oleObject75.bin"/><Relationship Id="rId10" Type="http://schemas.openxmlformats.org/officeDocument/2006/relationships/image" Target="../media/image110.wmf"/><Relationship Id="rId4" Type="http://schemas.openxmlformats.org/officeDocument/2006/relationships/image" Target="../media/image107.wmf"/><Relationship Id="rId9" Type="http://schemas.openxmlformats.org/officeDocument/2006/relationships/oleObject" Target="../embeddings/oleObject77.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110.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oleObject" Target="../embeddings/oleObject78.bin"/><Relationship Id="rId7" Type="http://schemas.openxmlformats.org/officeDocument/2006/relationships/image" Target="../media/image123.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22.wmf"/><Relationship Id="rId5" Type="http://schemas.openxmlformats.org/officeDocument/2006/relationships/oleObject" Target="../embeddings/oleObject79.bin"/><Relationship Id="rId4" Type="http://schemas.openxmlformats.org/officeDocument/2006/relationships/image" Target="../media/image121.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26.wmf"/><Relationship Id="rId5" Type="http://schemas.openxmlformats.org/officeDocument/2006/relationships/oleObject" Target="../embeddings/oleObject81.bin"/><Relationship Id="rId4" Type="http://schemas.openxmlformats.org/officeDocument/2006/relationships/image" Target="../media/image125.wmf"/></Relationships>
</file>

<file path=ppt/slides/_rels/slide9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134.png"/><Relationship Id="rId4" Type="http://schemas.openxmlformats.org/officeDocument/2006/relationships/image" Target="../media/image135.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141.png"/><Relationship Id="rId4" Type="http://schemas.openxmlformats.org/officeDocument/2006/relationships/image" Target="../media/image140.wmf"/></Relationships>
</file>

<file path=ppt/slides/_rels/slide108.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3313"/>
          <p:cNvSpPr>
            <a:spLocks noGrp="1" noChangeArrowheads="1"/>
          </p:cNvSpPr>
          <p:nvPr>
            <p:ph type="ctrTitle"/>
          </p:nvPr>
        </p:nvSpPr>
        <p:spPr>
          <a:xfrm>
            <a:off x="1027113" y="2243138"/>
            <a:ext cx="7086600" cy="990600"/>
          </a:xfrm>
        </p:spPr>
        <p:txBody>
          <a:bodyPr anchor="ctr"/>
          <a:lstStyle/>
          <a:p>
            <a:r>
              <a:rPr lang="en-US" altLang="zh-CN" sz="4400" b="1" dirty="0" smtClean="0">
                <a:latin typeface="黑体" panose="02010609060101010101" pitchFamily="49" charset="-122"/>
                <a:ea typeface="黑体" panose="02010609060101010101" pitchFamily="49" charset="-122"/>
              </a:rPr>
              <a:t>12</a:t>
            </a:r>
            <a:r>
              <a:rPr lang="zh-CN" altLang="en-US" sz="4400" b="1" dirty="0" smtClean="0">
                <a:latin typeface="黑体" panose="02010609060101010101" pitchFamily="49" charset="-122"/>
                <a:ea typeface="黑体" panose="02010609060101010101" pitchFamily="49" charset="-122"/>
              </a:rPr>
              <a:t>　气体动力循环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50177"/>
          <p:cNvSpPr>
            <a:spLocks noGrp="1" noChangeArrowheads="1"/>
          </p:cNvSpPr>
          <p:nvPr>
            <p:ph type="ctrTitle"/>
          </p:nvPr>
        </p:nvSpPr>
        <p:spPr>
          <a:xfrm>
            <a:off x="150669" y="1816966"/>
            <a:ext cx="8569325" cy="1676400"/>
          </a:xfrm>
        </p:spPr>
        <p:txBody>
          <a:bodyPr anchor="ctr"/>
          <a:lstStyle/>
          <a:p>
            <a:r>
              <a:rPr lang="en-US" altLang="zh-CN" sz="4400" b="1" dirty="0" smtClean="0">
                <a:latin typeface="黑体" panose="02010609060101010101" pitchFamily="49" charset="-122"/>
                <a:ea typeface="黑体" panose="02010609060101010101" pitchFamily="49" charset="-122"/>
              </a:rPr>
              <a:t>12</a:t>
            </a:r>
            <a:r>
              <a:rPr lang="zh-CN" altLang="en-US" sz="4400" b="1" dirty="0" smtClean="0">
                <a:latin typeface="黑体" panose="02010609060101010101" pitchFamily="49" charset="-122"/>
                <a:ea typeface="黑体" panose="02010609060101010101" pitchFamily="49" charset="-122"/>
              </a:rPr>
              <a:t>－</a:t>
            </a:r>
            <a:r>
              <a:rPr lang="en-US" altLang="zh-CN" sz="4400" b="1" dirty="0" smtClean="0">
                <a:latin typeface="黑体" panose="02010609060101010101" pitchFamily="49" charset="-122"/>
                <a:ea typeface="黑体" panose="02010609060101010101" pitchFamily="49" charset="-122"/>
              </a:rPr>
              <a:t>1</a:t>
            </a:r>
            <a:r>
              <a:rPr lang="zh-CN" altLang="en-US" sz="4400" b="1" dirty="0" smtClean="0">
                <a:latin typeface="黑体" panose="02010609060101010101" pitchFamily="49" charset="-122"/>
                <a:ea typeface="黑体" panose="02010609060101010101" pitchFamily="49" charset="-122"/>
              </a:rPr>
              <a:t>　热力循环概述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234497"/>
          <p:cNvSpPr>
            <a:spLocks noGrp="1" noChangeArrowheads="1"/>
          </p:cNvSpPr>
          <p:nvPr>
            <p:ph type="title"/>
          </p:nvPr>
        </p:nvSpPr>
        <p:spPr>
          <a:xfrm>
            <a:off x="250825" y="188913"/>
            <a:ext cx="8229600" cy="1143000"/>
          </a:xfrm>
        </p:spPr>
        <p:txBody>
          <a:bodyPr/>
          <a:lstStyle/>
          <a:p>
            <a:pPr algn="l"/>
            <a:r>
              <a:rPr lang="zh-CN" altLang="en-US" sz="3600" b="1" dirty="0" smtClean="0">
                <a:latin typeface="黑体" panose="02010609060101010101" pitchFamily="49" charset="-122"/>
                <a:ea typeface="黑体" panose="02010609060101010101" pitchFamily="49" charset="-122"/>
              </a:rPr>
              <a:t>一、热力循环的分类</a:t>
            </a:r>
          </a:p>
        </p:txBody>
      </p:sp>
      <p:sp>
        <p:nvSpPr>
          <p:cNvPr id="234501" name="矩形 234500"/>
          <p:cNvSpPr>
            <a:spLocks noChangeArrowheads="1"/>
          </p:cNvSpPr>
          <p:nvPr/>
        </p:nvSpPr>
        <p:spPr bwMode="auto">
          <a:xfrm>
            <a:off x="611188" y="2201863"/>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FF0000"/>
                </a:solidFill>
                <a:latin typeface="黑体" panose="02010609060101010101" pitchFamily="49" charset="-122"/>
                <a:ea typeface="黑体" panose="02010609060101010101" pitchFamily="49" charset="-122"/>
              </a:rPr>
              <a:t>动力循环：</a:t>
            </a:r>
            <a:r>
              <a:rPr lang="zh-CN" altLang="en-US" sz="2800" b="1" dirty="0">
                <a:latin typeface="黑体" panose="02010609060101010101" pitchFamily="49" charset="-122"/>
                <a:ea typeface="黑体" panose="02010609060101010101" pitchFamily="49" charset="-122"/>
              </a:rPr>
              <a:t>将热量通过能量的传递和转换，转变成人们所需要的功。</a:t>
            </a:r>
          </a:p>
        </p:txBody>
      </p:sp>
      <p:sp>
        <p:nvSpPr>
          <p:cNvPr id="234502" name="矩形 234501"/>
          <p:cNvSpPr>
            <a:spLocks noChangeArrowheads="1"/>
          </p:cNvSpPr>
          <p:nvPr/>
        </p:nvSpPr>
        <p:spPr bwMode="auto">
          <a:xfrm>
            <a:off x="611188" y="3570288"/>
            <a:ext cx="77057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FF0000"/>
                </a:solidFill>
                <a:latin typeface="Tahoma" panose="020B0604030504040204" pitchFamily="34" charset="0"/>
              </a:rPr>
              <a:t>制冷循环：</a:t>
            </a:r>
            <a:r>
              <a:rPr lang="zh-CN" altLang="en-US" sz="2800" b="1" dirty="0">
                <a:latin typeface="Tahoma" panose="020B0604030504040204" pitchFamily="34" charset="0"/>
              </a:rPr>
              <a:t>将热量不断地从系统排向环境以使系统温度降到所要求的某一低于环境温度的水平。</a:t>
            </a:r>
          </a:p>
        </p:txBody>
      </p:sp>
      <p:sp>
        <p:nvSpPr>
          <p:cNvPr id="234503" name="矩形 234502"/>
          <p:cNvSpPr>
            <a:spLocks noChangeArrowheads="1"/>
          </p:cNvSpPr>
          <p:nvPr/>
        </p:nvSpPr>
        <p:spPr bwMode="auto">
          <a:xfrm>
            <a:off x="684213" y="5083175"/>
            <a:ext cx="75660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FF0000"/>
                </a:solidFill>
                <a:latin typeface="Tahoma" panose="020B0604030504040204" pitchFamily="34" charset="0"/>
              </a:rPr>
              <a:t>热泵循环：</a:t>
            </a:r>
            <a:r>
              <a:rPr lang="zh-CN" altLang="en-US" sz="2800" b="1" dirty="0">
                <a:latin typeface="Tahoma" panose="020B0604030504040204" pitchFamily="34" charset="0"/>
              </a:rPr>
              <a:t>将热量不断地传给系统使系统温度提高到所要求的某一高于环境温度的水平。</a:t>
            </a:r>
          </a:p>
        </p:txBody>
      </p:sp>
      <p:sp>
        <p:nvSpPr>
          <p:cNvPr id="36869" name="文本框 1"/>
          <p:cNvSpPr txBox="1">
            <a:spLocks noChangeArrowheads="1"/>
          </p:cNvSpPr>
          <p:nvPr/>
        </p:nvSpPr>
        <p:spPr bwMode="auto">
          <a:xfrm>
            <a:off x="785813" y="1331913"/>
            <a:ext cx="24529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dirty="0">
                <a:ea typeface="黑体" panose="02010609060101010101" pitchFamily="49" charset="-122"/>
              </a:rPr>
              <a:t>1. </a:t>
            </a:r>
            <a:r>
              <a:rPr lang="zh-CN" altLang="en-US" sz="3200" b="1" dirty="0">
                <a:ea typeface="黑体" panose="02010609060101010101" pitchFamily="49" charset="-122"/>
              </a:rPr>
              <a:t>按目的分</a:t>
            </a:r>
            <a:endParaRPr lang="zh-CN" altLang="en-US" sz="3200" b="1"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4501"/>
                                        </p:tgtEl>
                                        <p:attrNameLst>
                                          <p:attrName>style.visibility</p:attrName>
                                        </p:attrNameLst>
                                      </p:cBhvr>
                                      <p:to>
                                        <p:strVal val="visible"/>
                                      </p:to>
                                    </p:set>
                                    <p:animEffect transition="in" filter="blinds(horizontal)">
                                      <p:cBhvr>
                                        <p:cTn id="7" dur="500"/>
                                        <p:tgtEl>
                                          <p:spTgt spid="2345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4502"/>
                                        </p:tgtEl>
                                        <p:attrNameLst>
                                          <p:attrName>style.visibility</p:attrName>
                                        </p:attrNameLst>
                                      </p:cBhvr>
                                      <p:to>
                                        <p:strVal val="visible"/>
                                      </p:to>
                                    </p:set>
                                    <p:animEffect transition="in" filter="blinds(horizontal)">
                                      <p:cBhvr>
                                        <p:cTn id="12" dur="500"/>
                                        <p:tgtEl>
                                          <p:spTgt spid="2345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4503"/>
                                        </p:tgtEl>
                                        <p:attrNameLst>
                                          <p:attrName>style.visibility</p:attrName>
                                        </p:attrNameLst>
                                      </p:cBhvr>
                                      <p:to>
                                        <p:strVal val="visible"/>
                                      </p:to>
                                    </p:set>
                                    <p:animEffect transition="in" filter="blinds(horizontal)">
                                      <p:cBhvr>
                                        <p:cTn id="17" dur="500"/>
                                        <p:tgtEl>
                                          <p:spTgt spid="234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1" grpId="0"/>
      <p:bldP spid="234502" grpId="0"/>
      <p:bldP spid="23450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235521"/>
          <p:cNvSpPr>
            <a:spLocks noGrp="1" noChangeArrowheads="1"/>
          </p:cNvSpPr>
          <p:nvPr>
            <p:ph type="title"/>
          </p:nvPr>
        </p:nvSpPr>
        <p:spPr>
          <a:xfrm>
            <a:off x="250825" y="188913"/>
            <a:ext cx="8229600" cy="1143000"/>
          </a:xfrm>
        </p:spPr>
        <p:txBody>
          <a:bodyPr/>
          <a:lstStyle/>
          <a:p>
            <a:pPr algn="l"/>
            <a:r>
              <a:rPr lang="zh-CN" altLang="en-US" sz="3600" b="1" dirty="0" smtClean="0">
                <a:latin typeface="黑体" panose="02010609060101010101" pitchFamily="49" charset="-122"/>
                <a:ea typeface="黑体" panose="02010609060101010101" pitchFamily="49" charset="-122"/>
              </a:rPr>
              <a:t>一、热力循环的分类</a:t>
            </a:r>
          </a:p>
        </p:txBody>
      </p:sp>
      <p:sp>
        <p:nvSpPr>
          <p:cNvPr id="235523" name="矩形 235522"/>
          <p:cNvSpPr>
            <a:spLocks noChangeArrowheads="1"/>
          </p:cNvSpPr>
          <p:nvPr/>
        </p:nvSpPr>
        <p:spPr bwMode="auto">
          <a:xfrm>
            <a:off x="577850" y="1509713"/>
            <a:ext cx="7848600" cy="35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dirty="0">
                <a:latin typeface="Tahoma" panose="020B0604030504040204" pitchFamily="34" charset="0"/>
                <a:ea typeface="黑体" panose="02010609060101010101" pitchFamily="49" charset="-122"/>
              </a:rPr>
              <a:t>  </a:t>
            </a:r>
            <a:endParaRPr lang="zh-CN" altLang="en-US" sz="2800" dirty="0">
              <a:latin typeface="Tahoma" panose="020B0604030504040204" pitchFamily="34" charset="0"/>
              <a:ea typeface="黑体" panose="02010609060101010101" pitchFamily="49" charset="-122"/>
            </a:endParaRPr>
          </a:p>
          <a:p>
            <a:pPr>
              <a:spcBef>
                <a:spcPct val="50000"/>
              </a:spcBef>
              <a:buSzPct val="60000"/>
              <a:buFont typeface="Wingdings" panose="05000000000000000000" pitchFamily="2" charset="2"/>
              <a:buNone/>
            </a:pPr>
            <a:r>
              <a:rPr lang="zh-CN" altLang="en-US" sz="2800" b="1" dirty="0">
                <a:latin typeface="Tahoma" panose="020B0604030504040204" pitchFamily="34" charset="0"/>
                <a:ea typeface="黑体" panose="02010609060101010101" pitchFamily="49" charset="-122"/>
              </a:rPr>
              <a:t>气体动力循环：流体工质在</a:t>
            </a:r>
            <a:r>
              <a:rPr lang="zh-CN" altLang="en-US" sz="2800" b="1" dirty="0">
                <a:solidFill>
                  <a:srgbClr val="FF0000"/>
                </a:solidFill>
                <a:latin typeface="Tahoma" panose="020B0604030504040204" pitchFamily="34" charset="0"/>
                <a:ea typeface="黑体" panose="02010609060101010101" pitchFamily="49" charset="-122"/>
              </a:rPr>
              <a:t>整个循环过程中均保持为气相状态</a:t>
            </a:r>
          </a:p>
          <a:p>
            <a:pPr>
              <a:spcBef>
                <a:spcPct val="50000"/>
              </a:spcBef>
              <a:buSzPct val="60000"/>
              <a:buFont typeface="Wingdings" panose="05000000000000000000" pitchFamily="2" charset="2"/>
              <a:buNone/>
            </a:pPr>
            <a:r>
              <a:rPr lang="zh-CN" altLang="en-US" sz="2800" b="1" dirty="0">
                <a:latin typeface="Tahoma" panose="020B0604030504040204" pitchFamily="34" charset="0"/>
                <a:ea typeface="黑体" panose="02010609060101010101" pitchFamily="49" charset="-122"/>
              </a:rPr>
              <a:t>蒸汽动力循环：流体工质在进行热力循环时会</a:t>
            </a:r>
            <a:r>
              <a:rPr lang="zh-CN" altLang="en-US" sz="2800" b="1" dirty="0">
                <a:solidFill>
                  <a:srgbClr val="FF0000"/>
                </a:solidFill>
                <a:latin typeface="Tahoma" panose="020B0604030504040204" pitchFamily="34" charset="0"/>
                <a:ea typeface="黑体" panose="02010609060101010101" pitchFamily="49" charset="-122"/>
              </a:rPr>
              <a:t>发生气、液相之间的转变</a:t>
            </a:r>
            <a:r>
              <a:rPr lang="zh-CN" altLang="en-US" sz="2800" b="1" dirty="0">
                <a:latin typeface="Tahoma" panose="020B0604030504040204" pitchFamily="34" charset="0"/>
                <a:ea typeface="黑体" panose="02010609060101010101" pitchFamily="49" charset="-122"/>
              </a:rPr>
              <a:t>，即在循环过程的一些设备中，工质为气态，一些设备中为液态，另一些设备中为气、液共存状态。</a:t>
            </a:r>
            <a:r>
              <a:rPr lang="zh-CN" altLang="en-US" sz="2800" b="1" dirty="0">
                <a:latin typeface="Tahoma" panose="020B0604030504040204" pitchFamily="34" charset="0"/>
              </a:rPr>
              <a:t> </a:t>
            </a:r>
          </a:p>
        </p:txBody>
      </p:sp>
      <p:sp>
        <p:nvSpPr>
          <p:cNvPr id="235524" name="矩形 235523"/>
          <p:cNvSpPr>
            <a:spLocks noChangeArrowheads="1"/>
          </p:cNvSpPr>
          <p:nvPr/>
        </p:nvSpPr>
        <p:spPr bwMode="auto">
          <a:xfrm>
            <a:off x="995363" y="5410200"/>
            <a:ext cx="770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FF0000"/>
                </a:solidFill>
                <a:latin typeface="Tahoma" panose="020B0604030504040204" pitchFamily="34" charset="0"/>
              </a:rPr>
              <a:t>制冷和热泵循环也有气体和蒸气循环之分</a:t>
            </a:r>
            <a:endParaRPr lang="zh-CN" altLang="en-US" sz="2800">
              <a:latin typeface="Tahoma" panose="020B0604030504040204" pitchFamily="34" charset="0"/>
            </a:endParaRPr>
          </a:p>
        </p:txBody>
      </p:sp>
      <p:sp>
        <p:nvSpPr>
          <p:cNvPr id="37892" name="文本框 1"/>
          <p:cNvSpPr txBox="1">
            <a:spLocks noChangeArrowheads="1"/>
          </p:cNvSpPr>
          <p:nvPr/>
        </p:nvSpPr>
        <p:spPr bwMode="auto">
          <a:xfrm>
            <a:off x="785813" y="1331913"/>
            <a:ext cx="32768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dirty="0">
                <a:ea typeface="黑体" panose="02010609060101010101" pitchFamily="49" charset="-122"/>
                <a:sym typeface="宋体" panose="02010600030101010101" pitchFamily="2" charset="-122"/>
              </a:rPr>
              <a:t>2. </a:t>
            </a:r>
            <a:r>
              <a:rPr lang="zh-CN" altLang="en-US" sz="3200" b="1" dirty="0">
                <a:ea typeface="黑体" panose="02010609060101010101" pitchFamily="49" charset="-122"/>
                <a:sym typeface="宋体" panose="02010600030101010101" pitchFamily="2" charset="-122"/>
              </a:rPr>
              <a:t>按循环工质分</a:t>
            </a:r>
            <a:endParaRPr lang="zh-CN" altLang="en-US" sz="3200" b="1"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23">
                                            <p:txEl>
                                              <p:charRg st="31" end="60"/>
                                            </p:txEl>
                                          </p:spTgt>
                                        </p:tgtEl>
                                        <p:attrNameLst>
                                          <p:attrName>style.visibility</p:attrName>
                                        </p:attrNameLst>
                                      </p:cBhvr>
                                      <p:to>
                                        <p:strVal val="visible"/>
                                      </p:to>
                                    </p:set>
                                    <p:animEffect transition="in" filter="blinds(horizontal)">
                                      <p:cBhvr>
                                        <p:cTn id="7" dur="500"/>
                                        <p:tgtEl>
                                          <p:spTgt spid="235523">
                                            <p:txEl>
                                              <p:charRg st="31" end="6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23">
                                            <p:txEl>
                                              <p:charRg st="60" end="108"/>
                                            </p:txEl>
                                          </p:spTgt>
                                        </p:tgtEl>
                                        <p:attrNameLst>
                                          <p:attrName>style.visibility</p:attrName>
                                        </p:attrNameLst>
                                      </p:cBhvr>
                                      <p:to>
                                        <p:strVal val="visible"/>
                                      </p:to>
                                    </p:set>
                                    <p:animEffect transition="in" filter="blinds(horizontal)">
                                      <p:cBhvr>
                                        <p:cTn id="12" dur="500"/>
                                        <p:tgtEl>
                                          <p:spTgt spid="235523">
                                            <p:txEl>
                                              <p:charRg st="60" end="10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24"/>
                                        </p:tgtEl>
                                        <p:attrNameLst>
                                          <p:attrName>style.visibility</p:attrName>
                                        </p:attrNameLst>
                                      </p:cBhvr>
                                      <p:to>
                                        <p:strVal val="visible"/>
                                      </p:to>
                                    </p:set>
                                    <p:animEffect transition="in" filter="blinds(horizontal)">
                                      <p:cBhvr>
                                        <p:cTn id="17" dur="500"/>
                                        <p:tgtEl>
                                          <p:spTgt spid="235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236545"/>
          <p:cNvSpPr>
            <a:spLocks noGrp="1" noChangeArrowheads="1"/>
          </p:cNvSpPr>
          <p:nvPr>
            <p:ph type="title"/>
          </p:nvPr>
        </p:nvSpPr>
        <p:spPr>
          <a:xfrm>
            <a:off x="250825" y="0"/>
            <a:ext cx="8893175" cy="1143000"/>
          </a:xfrm>
        </p:spPr>
        <p:txBody>
          <a:bodyPr/>
          <a:lstStyle/>
          <a:p>
            <a:pPr algn="l"/>
            <a:r>
              <a:rPr lang="zh-CN" altLang="en-US" sz="3600" b="1" smtClean="0">
                <a:latin typeface="黑体" panose="02010609060101010101" pitchFamily="49" charset="-122"/>
                <a:ea typeface="黑体" panose="02010609060101010101" pitchFamily="49" charset="-122"/>
              </a:rPr>
              <a:t>一、热力循环的</a:t>
            </a:r>
            <a:r>
              <a:rPr lang="zh-CN" altLang="en-US" sz="3600" b="1" dirty="0" smtClean="0">
                <a:latin typeface="黑体" panose="02010609060101010101" pitchFamily="49" charset="-122"/>
                <a:ea typeface="黑体" panose="02010609060101010101" pitchFamily="49" charset="-122"/>
              </a:rPr>
              <a:t>分类</a:t>
            </a:r>
          </a:p>
        </p:txBody>
      </p:sp>
      <p:sp>
        <p:nvSpPr>
          <p:cNvPr id="236547" name="矩形 236546"/>
          <p:cNvSpPr>
            <a:spLocks noChangeArrowheads="1"/>
          </p:cNvSpPr>
          <p:nvPr/>
        </p:nvSpPr>
        <p:spPr bwMode="auto">
          <a:xfrm>
            <a:off x="611188" y="1985963"/>
            <a:ext cx="78486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ahoma" panose="020B0604030504040204" pitchFamily="34" charset="0"/>
                <a:ea typeface="黑体" panose="02010609060101010101" pitchFamily="49" charset="-122"/>
              </a:rPr>
              <a:t>将动力循环分为</a:t>
            </a:r>
            <a:r>
              <a:rPr lang="zh-CN" altLang="en-US" sz="2800" b="1" dirty="0">
                <a:solidFill>
                  <a:srgbClr val="FF0000"/>
                </a:solidFill>
                <a:latin typeface="Tahoma" panose="020B0604030504040204" pitchFamily="34" charset="0"/>
                <a:ea typeface="黑体" panose="02010609060101010101" pitchFamily="49" charset="-122"/>
              </a:rPr>
              <a:t>内燃式</a:t>
            </a:r>
            <a:r>
              <a:rPr lang="zh-CN" altLang="en-US" sz="2800" b="1" dirty="0">
                <a:latin typeface="Tahoma" panose="020B0604030504040204" pitchFamily="34" charset="0"/>
                <a:ea typeface="黑体" panose="02010609060101010101" pitchFamily="49" charset="-122"/>
              </a:rPr>
              <a:t>和</a:t>
            </a:r>
            <a:r>
              <a:rPr lang="zh-CN" altLang="en-US" sz="2800" b="1" dirty="0">
                <a:solidFill>
                  <a:srgbClr val="FF0000"/>
                </a:solidFill>
                <a:latin typeface="Tahoma" panose="020B0604030504040204" pitchFamily="34" charset="0"/>
                <a:ea typeface="黑体" panose="02010609060101010101" pitchFamily="49" charset="-122"/>
              </a:rPr>
              <a:t>外燃式</a:t>
            </a:r>
            <a:r>
              <a:rPr lang="zh-CN" altLang="en-US" sz="2800" b="1" dirty="0">
                <a:latin typeface="Tahoma" panose="020B0604030504040204" pitchFamily="34" charset="0"/>
                <a:ea typeface="黑体" panose="02010609060101010101" pitchFamily="49" charset="-122"/>
              </a:rPr>
              <a:t>：</a:t>
            </a:r>
          </a:p>
          <a:p>
            <a:pPr>
              <a:spcBef>
                <a:spcPct val="50000"/>
              </a:spcBef>
              <a:buSzPct val="60000"/>
              <a:buFont typeface="Wingdings" panose="05000000000000000000" pitchFamily="2" charset="2"/>
              <a:buChar char="l"/>
            </a:pPr>
            <a:r>
              <a:rPr lang="zh-CN" altLang="en-US" sz="2800" b="1" dirty="0">
                <a:latin typeface="Tahoma" panose="020B0604030504040204" pitchFamily="34" charset="0"/>
                <a:ea typeface="黑体" panose="02010609060101010101" pitchFamily="49" charset="-122"/>
              </a:rPr>
              <a:t>内燃式</a:t>
            </a:r>
            <a:r>
              <a:rPr lang="en-US" altLang="zh-CN" sz="2800" b="1" dirty="0">
                <a:latin typeface="Times New Roman" panose="02020603050405020304" pitchFamily="18" charset="0"/>
                <a:ea typeface="黑体" panose="02010609060101010101" pitchFamily="49" charset="-122"/>
              </a:rPr>
              <a:t>——</a:t>
            </a:r>
            <a:r>
              <a:rPr lang="zh-CN" altLang="en-US" sz="2800" b="1" dirty="0">
                <a:latin typeface="Tahoma" panose="020B0604030504040204" pitchFamily="34" charset="0"/>
                <a:ea typeface="黑体" panose="02010609060101010101" pitchFamily="49" charset="-122"/>
              </a:rPr>
              <a:t>燃气即为工质，工质吸热量来自于工质自身的燃烧放热。</a:t>
            </a:r>
            <a:r>
              <a:rPr lang="zh-CN" altLang="en-US" sz="2800" b="1" dirty="0" smtClean="0">
                <a:latin typeface="Tahoma" panose="020B0604030504040204" pitchFamily="34" charset="0"/>
                <a:ea typeface="黑体" panose="02010609060101010101" pitchFamily="49" charset="-122"/>
              </a:rPr>
              <a:t>常见：内燃机</a:t>
            </a:r>
            <a:r>
              <a:rPr lang="zh-CN" altLang="en-US" sz="2800" b="1" dirty="0">
                <a:latin typeface="Tahoma" panose="020B0604030504040204" pitchFamily="34" charset="0"/>
                <a:ea typeface="黑体" panose="02010609060101010101" pitchFamily="49" charset="-122"/>
              </a:rPr>
              <a:t>循环、燃气轮机循环（</a:t>
            </a:r>
            <a:r>
              <a:rPr lang="zh-CN" altLang="en-US" sz="2800" b="1" dirty="0" smtClean="0">
                <a:latin typeface="Tahoma" panose="020B0604030504040204" pitchFamily="34" charset="0"/>
                <a:ea typeface="黑体" panose="02010609060101010101" pitchFamily="49" charset="-122"/>
              </a:rPr>
              <a:t>本章）</a:t>
            </a:r>
            <a:r>
              <a:rPr lang="zh-CN" altLang="en-US" b="1" dirty="0" smtClean="0"/>
              <a:t> </a:t>
            </a:r>
            <a:endParaRPr lang="zh-CN" altLang="en-US" sz="2800" b="1" dirty="0">
              <a:latin typeface="Tahoma" panose="020B0604030504040204" pitchFamily="34" charset="0"/>
              <a:ea typeface="黑体" panose="02010609060101010101" pitchFamily="49" charset="-122"/>
            </a:endParaRPr>
          </a:p>
          <a:p>
            <a:pPr>
              <a:spcBef>
                <a:spcPct val="50000"/>
              </a:spcBef>
              <a:buSzPct val="60000"/>
              <a:buFont typeface="Wingdings" panose="05000000000000000000" pitchFamily="2" charset="2"/>
              <a:buChar char="l"/>
            </a:pPr>
            <a:r>
              <a:rPr lang="zh-CN" altLang="en-US" sz="2800" b="1" dirty="0">
                <a:latin typeface="Tahoma" panose="020B0604030504040204" pitchFamily="34" charset="0"/>
                <a:ea typeface="黑体" panose="02010609060101010101" pitchFamily="49" charset="-122"/>
              </a:rPr>
              <a:t>外燃式</a:t>
            </a:r>
            <a:r>
              <a:rPr lang="en-US" altLang="zh-CN" sz="2800" b="1" dirty="0">
                <a:latin typeface="Times New Roman" panose="02020603050405020304" pitchFamily="18" charset="0"/>
                <a:ea typeface="黑体" panose="02010609060101010101" pitchFamily="49" charset="-122"/>
              </a:rPr>
              <a:t>——</a:t>
            </a:r>
            <a:r>
              <a:rPr lang="zh-CN" altLang="en-US" sz="2800" b="1" dirty="0">
                <a:latin typeface="Tahoma" panose="020B0604030504040204" pitchFamily="34" charset="0"/>
                <a:ea typeface="黑体" panose="02010609060101010101" pitchFamily="49" charset="-122"/>
              </a:rPr>
              <a:t>工质自身不燃烧，需要通过外部热源（如锅炉，地热井，核反应器或太阳能集热器等）将热量通过换热器传给工质。常见：蒸汽动力循环（下</a:t>
            </a:r>
            <a:r>
              <a:rPr lang="zh-CN" altLang="en-US" sz="2800" b="1" dirty="0" smtClean="0">
                <a:latin typeface="Tahoma" panose="020B0604030504040204" pitchFamily="34" charset="0"/>
                <a:ea typeface="黑体" panose="02010609060101010101" pitchFamily="49" charset="-122"/>
              </a:rPr>
              <a:t>一章） </a:t>
            </a:r>
            <a:endParaRPr lang="zh-CN" altLang="en-US" sz="2800" b="1" dirty="0">
              <a:latin typeface="Tahoma" panose="020B0604030504040204" pitchFamily="34" charset="0"/>
              <a:ea typeface="黑体" panose="02010609060101010101" pitchFamily="49" charset="-122"/>
            </a:endParaRPr>
          </a:p>
        </p:txBody>
      </p:sp>
      <p:sp>
        <p:nvSpPr>
          <p:cNvPr id="38915" name="文本框 1"/>
          <p:cNvSpPr txBox="1">
            <a:spLocks noChangeArrowheads="1"/>
          </p:cNvSpPr>
          <p:nvPr/>
        </p:nvSpPr>
        <p:spPr bwMode="auto">
          <a:xfrm>
            <a:off x="779463" y="1143000"/>
            <a:ext cx="47900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3200" b="1" dirty="0">
                <a:ea typeface="黑体" panose="02010609060101010101" pitchFamily="49" charset="-122"/>
                <a:sym typeface="宋体" panose="02010600030101010101" pitchFamily="2" charset="-122"/>
              </a:rPr>
              <a:t>3. </a:t>
            </a:r>
            <a:r>
              <a:rPr lang="zh-CN" altLang="en-US" sz="3200" b="1" dirty="0">
                <a:ea typeface="黑体" panose="02010609060101010101" pitchFamily="49" charset="-122"/>
                <a:sym typeface="宋体" panose="02010600030101010101" pitchFamily="2" charset="-122"/>
              </a:rPr>
              <a:t>按燃料燃烧方式分</a:t>
            </a:r>
            <a:endParaRPr lang="zh-CN" altLang="en-US" sz="3200" b="1"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6547">
                                            <p:txEl>
                                              <p:pRg st="1" end="1"/>
                                            </p:txEl>
                                          </p:spTgt>
                                        </p:tgtEl>
                                        <p:attrNameLst>
                                          <p:attrName>style.visibility</p:attrName>
                                        </p:attrNameLst>
                                      </p:cBhvr>
                                      <p:to>
                                        <p:strVal val="visible"/>
                                      </p:to>
                                    </p:set>
                                    <p:animEffect transition="in" filter="blinds(horizontal)">
                                      <p:cBhvr>
                                        <p:cTn id="7" dur="500"/>
                                        <p:tgtEl>
                                          <p:spTgt spid="2365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6547">
                                            <p:txEl>
                                              <p:pRg st="2" end="2"/>
                                            </p:txEl>
                                          </p:spTgt>
                                        </p:tgtEl>
                                        <p:attrNameLst>
                                          <p:attrName>style.visibility</p:attrName>
                                        </p:attrNameLst>
                                      </p:cBhvr>
                                      <p:to>
                                        <p:strVal val="visible"/>
                                      </p:to>
                                    </p:set>
                                    <p:animEffect transition="in" filter="blinds(horizontal)">
                                      <p:cBhvr>
                                        <p:cTn id="12" dur="500"/>
                                        <p:tgtEl>
                                          <p:spTgt spid="236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238593"/>
          <p:cNvSpPr>
            <a:spLocks noGrp="1" noChangeArrowheads="1"/>
          </p:cNvSpPr>
          <p:nvPr>
            <p:ph type="title"/>
          </p:nvPr>
        </p:nvSpPr>
        <p:spPr>
          <a:xfrm>
            <a:off x="250825" y="188913"/>
            <a:ext cx="8229600" cy="1143000"/>
          </a:xfrm>
        </p:spPr>
        <p:txBody>
          <a:bodyPr/>
          <a:lstStyle/>
          <a:p>
            <a:pPr algn="l"/>
            <a:r>
              <a:rPr lang="zh-CN" altLang="en-US" sz="3600" b="1" dirty="0" smtClean="0">
                <a:latin typeface="黑体" panose="02010609060101010101" pitchFamily="49" charset="-122"/>
                <a:ea typeface="黑体" panose="02010609060101010101" pitchFamily="49" charset="-122"/>
              </a:rPr>
              <a:t>二、分析循环时常用的简化</a:t>
            </a:r>
          </a:p>
        </p:txBody>
      </p:sp>
      <p:sp>
        <p:nvSpPr>
          <p:cNvPr id="39938" name="矩形 238594"/>
          <p:cNvSpPr>
            <a:spLocks noChangeArrowheads="1"/>
          </p:cNvSpPr>
          <p:nvPr/>
        </p:nvSpPr>
        <p:spPr bwMode="auto">
          <a:xfrm>
            <a:off x="611188" y="1628775"/>
            <a:ext cx="806450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ahoma" panose="020B0604030504040204" pitchFamily="34" charset="0"/>
                <a:ea typeface="黑体" panose="02010609060101010101" pitchFamily="49" charset="-122"/>
              </a:rPr>
              <a:t>实际循环十分复杂（各种摩擦、设备在启动或停机时的各种不稳定和非平衡状态等）。为便于理论分析，常将实际循环抽象概括为</a:t>
            </a:r>
            <a:r>
              <a:rPr lang="zh-CN" altLang="en-US" sz="2800" b="1" dirty="0">
                <a:solidFill>
                  <a:srgbClr val="FF0000"/>
                </a:solidFill>
                <a:latin typeface="Tahoma" panose="020B0604030504040204" pitchFamily="34" charset="0"/>
                <a:ea typeface="黑体" panose="02010609060101010101" pitchFamily="49" charset="-122"/>
              </a:rPr>
              <a:t>内可逆的理想循环</a:t>
            </a:r>
            <a:r>
              <a:rPr lang="zh-CN" altLang="en-US" sz="2800" b="1" dirty="0">
                <a:latin typeface="Tahoma" panose="020B0604030504040204" pitchFamily="34" charset="0"/>
                <a:ea typeface="黑体" panose="02010609060101010101" pitchFamily="49" charset="-122"/>
              </a:rPr>
              <a:t>。</a:t>
            </a:r>
          </a:p>
          <a:p>
            <a:pPr>
              <a:spcBef>
                <a:spcPct val="50000"/>
              </a:spcBef>
            </a:pPr>
            <a:r>
              <a:rPr lang="zh-CN" altLang="en-US" sz="2800" b="1" dirty="0">
                <a:latin typeface="Tahoma" panose="020B0604030504040204" pitchFamily="34" charset="0"/>
                <a:ea typeface="黑体" panose="02010609060101010101" pitchFamily="49" charset="-122"/>
              </a:rPr>
              <a:t>尽管此种简化方法忽略了实际情况的诸多细节，但它对于人们找出影响循环效率的主要因素和提高效率的可能措施是十分有效的，其合理性也已被实践所证明。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239617"/>
          <p:cNvSpPr>
            <a:spLocks noGrp="1" noChangeArrowheads="1"/>
          </p:cNvSpPr>
          <p:nvPr>
            <p:ph type="title"/>
          </p:nvPr>
        </p:nvSpPr>
        <p:spPr>
          <a:xfrm>
            <a:off x="468313" y="115888"/>
            <a:ext cx="8229600" cy="1143000"/>
          </a:xfrm>
        </p:spPr>
        <p:txBody>
          <a:bodyPr/>
          <a:lstStyle/>
          <a:p>
            <a:r>
              <a:rPr lang="zh-CN" altLang="en-US" sz="3600" b="1" dirty="0" smtClean="0">
                <a:latin typeface="黑体" panose="02010609060101010101" pitchFamily="49" charset="-122"/>
                <a:ea typeface="黑体" panose="02010609060101010101" pitchFamily="49" charset="-122"/>
              </a:rPr>
              <a:t>常用简化</a:t>
            </a:r>
          </a:p>
        </p:txBody>
      </p:sp>
      <p:sp>
        <p:nvSpPr>
          <p:cNvPr id="40962" name="文本占位符 239618"/>
          <p:cNvSpPr>
            <a:spLocks noGrp="1" noChangeArrowheads="1"/>
          </p:cNvSpPr>
          <p:nvPr>
            <p:ph idx="1"/>
          </p:nvPr>
        </p:nvSpPr>
        <p:spPr>
          <a:xfrm>
            <a:off x="468313" y="1196975"/>
            <a:ext cx="8229600" cy="4824413"/>
          </a:xfrm>
        </p:spPr>
        <p:txBody>
          <a:bodyPr/>
          <a:lstStyle/>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a:t>
            </a:r>
            <a:r>
              <a:rPr lang="zh-CN" altLang="zh-CN" sz="2800" b="1" dirty="0" smtClean="0">
                <a:latin typeface="+mj-lt"/>
              </a:rPr>
              <a:t>假设</a:t>
            </a:r>
            <a:r>
              <a:rPr lang="zh-CN" altLang="zh-CN" sz="2800" b="1" dirty="0">
                <a:latin typeface="+mj-lt"/>
              </a:rPr>
              <a:t>循环中</a:t>
            </a:r>
            <a:r>
              <a:rPr lang="zh-CN" altLang="zh-CN" sz="2800" b="1" dirty="0">
                <a:solidFill>
                  <a:srgbClr val="FF0000"/>
                </a:solidFill>
                <a:latin typeface="+mj-lt"/>
              </a:rPr>
              <a:t>无摩擦</a:t>
            </a:r>
            <a:r>
              <a:rPr lang="zh-CN" altLang="zh-CN" sz="2800" b="1" dirty="0">
                <a:latin typeface="+mj-lt"/>
              </a:rPr>
              <a:t>，不必考虑工质在流经连接管道以及各换热设备时的</a:t>
            </a:r>
            <a:r>
              <a:rPr lang="zh-CN" altLang="zh-CN" sz="2800" b="1" dirty="0" smtClean="0">
                <a:latin typeface="+mj-lt"/>
              </a:rPr>
              <a:t>压降</a:t>
            </a:r>
            <a:r>
              <a:rPr lang="zh-CN" altLang="en-US" sz="2800" b="1" dirty="0" smtClean="0">
                <a:latin typeface="+mj-lt"/>
              </a:rPr>
              <a:t>；</a:t>
            </a:r>
            <a:endParaRPr lang="zh-CN" altLang="en-US" sz="2800" b="1" dirty="0" smtClean="0">
              <a:latin typeface="+mj-lt"/>
              <a:ea typeface="黑体" panose="02010609060101010101" pitchFamily="49" charset="-122"/>
            </a:endParaRPr>
          </a:p>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a:t>
            </a:r>
            <a:r>
              <a:rPr lang="zh-CN" altLang="zh-CN" sz="2800" b="1" dirty="0" smtClean="0">
                <a:latin typeface="黑体" panose="02010609060101010101" pitchFamily="49" charset="-122"/>
                <a:ea typeface="黑体" panose="02010609060101010101" pitchFamily="49" charset="-122"/>
              </a:rPr>
              <a:t>假设</a:t>
            </a:r>
            <a:r>
              <a:rPr lang="zh-CN" altLang="zh-CN" sz="2800" b="1" dirty="0">
                <a:latin typeface="黑体" panose="02010609060101010101" pitchFamily="49" charset="-122"/>
                <a:ea typeface="黑体" panose="02010609060101010101" pitchFamily="49" charset="-122"/>
              </a:rPr>
              <a:t>膨胀和压缩过程均为</a:t>
            </a:r>
            <a:r>
              <a:rPr lang="zh-CN" altLang="zh-CN" sz="2800" b="1" dirty="0">
                <a:solidFill>
                  <a:srgbClr val="FF0000"/>
                </a:solidFill>
                <a:latin typeface="黑体" panose="02010609060101010101" pitchFamily="49" charset="-122"/>
                <a:ea typeface="黑体" panose="02010609060101010101" pitchFamily="49" charset="-122"/>
              </a:rPr>
              <a:t>准静态</a:t>
            </a:r>
            <a:r>
              <a:rPr lang="zh-CN" altLang="zh-CN" sz="2800" b="1" dirty="0">
                <a:latin typeface="黑体" panose="02010609060101010101" pitchFamily="49" charset="-122"/>
                <a:ea typeface="黑体" panose="02010609060101010101" pitchFamily="49" charset="-122"/>
              </a:rPr>
              <a:t>过程，且认为流动过程是</a:t>
            </a:r>
            <a:r>
              <a:rPr lang="zh-CN" altLang="zh-CN" sz="2800" b="1" dirty="0">
                <a:solidFill>
                  <a:srgbClr val="FF0000"/>
                </a:solidFill>
                <a:latin typeface="黑体" panose="02010609060101010101" pitchFamily="49" charset="-122"/>
                <a:ea typeface="黑体" panose="02010609060101010101" pitchFamily="49" charset="-122"/>
              </a:rPr>
              <a:t>稳定</a:t>
            </a:r>
            <a:r>
              <a:rPr lang="zh-CN" altLang="zh-CN" sz="2800" b="1" dirty="0">
                <a:latin typeface="黑体" panose="02010609060101010101" pitchFamily="49" charset="-122"/>
                <a:ea typeface="黑体" panose="02010609060101010101" pitchFamily="49" charset="-122"/>
              </a:rPr>
              <a:t>的</a:t>
            </a:r>
            <a:r>
              <a:rPr lang="zh-CN" altLang="en-US" sz="2800" b="1" dirty="0" smtClean="0">
                <a:latin typeface="黑体" panose="02010609060101010101" pitchFamily="49" charset="-122"/>
                <a:ea typeface="黑体" panose="02010609060101010101" pitchFamily="49" charset="-122"/>
              </a:rPr>
              <a:t>； </a:t>
            </a:r>
          </a:p>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3</a:t>
            </a:r>
            <a:r>
              <a:rPr lang="zh-CN" altLang="en-US"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假设连接各设备的管道</a:t>
            </a:r>
            <a:r>
              <a:rPr lang="zh-CN" altLang="zh-CN" sz="2800" b="1" dirty="0">
                <a:solidFill>
                  <a:srgbClr val="FF0000"/>
                </a:solidFill>
                <a:latin typeface="黑体" panose="02010609060101010101" pitchFamily="49" charset="-122"/>
                <a:ea typeface="黑体" panose="02010609060101010101" pitchFamily="49" charset="-122"/>
              </a:rPr>
              <a:t>隔热良好</a:t>
            </a:r>
            <a:r>
              <a:rPr lang="zh-CN" altLang="zh-CN" sz="2800" b="1" dirty="0">
                <a:latin typeface="黑体" panose="02010609060101010101" pitchFamily="49" charset="-122"/>
                <a:ea typeface="黑体" panose="02010609060101010101" pitchFamily="49" charset="-122"/>
              </a:rPr>
              <a:t>，即通过连接管道的传热量忽略不计</a:t>
            </a:r>
            <a:r>
              <a:rPr lang="zh-CN" altLang="en-US" sz="2800" b="1" dirty="0" smtClean="0">
                <a:latin typeface="黑体" panose="02010609060101010101" pitchFamily="49" charset="-122"/>
                <a:ea typeface="黑体" panose="02010609060101010101" pitchFamily="49" charset="-122"/>
              </a:rPr>
              <a:t>；</a:t>
            </a:r>
          </a:p>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4</a:t>
            </a:r>
            <a:r>
              <a:rPr lang="zh-CN" altLang="en-US" sz="2800" b="1" dirty="0" smtClean="0">
                <a:latin typeface="黑体" panose="02010609060101010101" pitchFamily="49" charset="-122"/>
                <a:ea typeface="黑体" panose="02010609060101010101" pitchFamily="49" charset="-122"/>
              </a:rPr>
              <a:t>）工质流过循环中的各个设备时，一般</a:t>
            </a:r>
            <a:r>
              <a:rPr lang="zh-CN" altLang="en-US" sz="2800" b="1" dirty="0" smtClean="0">
                <a:solidFill>
                  <a:srgbClr val="FF0000"/>
                </a:solidFill>
                <a:latin typeface="黑体" panose="02010609060101010101" pitchFamily="49" charset="-122"/>
                <a:ea typeface="黑体" panose="02010609060101010101" pitchFamily="49" charset="-122"/>
              </a:rPr>
              <a:t>不考虑其动能和重力势能的变化</a:t>
            </a:r>
            <a:r>
              <a:rPr lang="zh-CN" altLang="en-US" sz="2800" b="1" dirty="0" smtClean="0">
                <a:latin typeface="黑体" panose="02010609060101010101" pitchFamily="49" charset="-122"/>
                <a:ea typeface="黑体" panose="02010609060101010101" pitchFamily="49" charset="-122"/>
              </a:rPr>
              <a:t>。因为大多数情况下，能量守恒方程中此两项的变化数值与其它项相比很小，可忽略不计。但喷管或扩压管不能忽略动能变化。</a:t>
            </a:r>
          </a:p>
          <a:p>
            <a:pPr>
              <a:buFontTx/>
              <a:buNone/>
            </a:pP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241665"/>
          <p:cNvSpPr>
            <a:spLocks noGrp="1" noChangeArrowheads="1"/>
          </p:cNvSpPr>
          <p:nvPr>
            <p:ph type="title"/>
          </p:nvPr>
        </p:nvSpPr>
        <p:spPr>
          <a:xfrm>
            <a:off x="438150" y="226218"/>
            <a:ext cx="7886700" cy="1325563"/>
          </a:xfrm>
        </p:spPr>
        <p:txBody>
          <a:bodyPr/>
          <a:lstStyle/>
          <a:p>
            <a:r>
              <a:rPr lang="zh-CN" altLang="en-US" sz="4000" b="1" dirty="0" smtClean="0">
                <a:latin typeface="黑体" panose="02010609060101010101" pitchFamily="49" charset="-122"/>
                <a:ea typeface="黑体" panose="02010609060101010101" pitchFamily="49" charset="-122"/>
              </a:rPr>
              <a:t>三、第一和第二定律分析法</a:t>
            </a:r>
          </a:p>
        </p:txBody>
      </p:sp>
      <p:sp>
        <p:nvSpPr>
          <p:cNvPr id="3" name="内容占位符 2"/>
          <p:cNvSpPr>
            <a:spLocks noGrp="1"/>
          </p:cNvSpPr>
          <p:nvPr>
            <p:ph idx="1"/>
          </p:nvPr>
        </p:nvSpPr>
        <p:spPr/>
        <p:txBody>
          <a:bodyPr>
            <a:normAutofit/>
          </a:bodyPr>
          <a:lstStyle/>
          <a:p>
            <a:r>
              <a:rPr lang="zh-CN" altLang="en-US" sz="2800" b="1" dirty="0" smtClean="0"/>
              <a:t>分析循环的方法主要有“第一定律分析法”和“第二定律分析法”</a:t>
            </a:r>
            <a:endParaRPr lang="en-US" altLang="zh-CN" sz="2800" b="1" dirty="0" smtClean="0"/>
          </a:p>
          <a:p>
            <a:r>
              <a:rPr lang="zh-CN" altLang="en-US" sz="2800" b="1" dirty="0" smtClean="0"/>
              <a:t>前者基于能量守恒定律，从能量转换的数量关系来评价循环的经济性，以热效率为指标</a:t>
            </a:r>
            <a:endParaRPr lang="en-US" altLang="zh-CN" sz="2800" b="1" dirty="0" smtClean="0"/>
          </a:p>
          <a:p>
            <a:r>
              <a:rPr lang="zh-CN" altLang="en-US" sz="2800" b="1" dirty="0" smtClean="0"/>
              <a:t>后者基于热力学第二定律，更侧重考虑能量的品质，以</a:t>
            </a:r>
            <a:r>
              <a:rPr lang="zh-CN" altLang="zh-CN" sz="2800" b="1" dirty="0" smtClean="0"/>
              <a:t>作功</a:t>
            </a:r>
            <a:r>
              <a:rPr lang="zh-CN" altLang="zh-CN" sz="2800" b="1" dirty="0"/>
              <a:t>能力损失和㶲效率作为评价循环经济性的指标，找到不可逆性最大的部位，为减少不可逆性提供指导</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f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83" y="483034"/>
            <a:ext cx="4149090" cy="5840730"/>
          </a:xfrm>
          <a:prstGeom prst="rect">
            <a:avLst/>
          </a:prstGeom>
          <a:noFill/>
          <a:extLst>
            <a:ext uri="{909E8E84-426E-40DD-AFC4-6F175D3DCCD1}">
              <a14:hiddenFill xmlns:a14="http://schemas.microsoft.com/office/drawing/2010/main">
                <a:solidFill>
                  <a:srgbClr val="FFFFFF"/>
                </a:solidFill>
              </a14:hiddenFill>
            </a:ext>
          </a:extLst>
        </p:spPr>
      </p:pic>
      <p:sp>
        <p:nvSpPr>
          <p:cNvPr id="128003" name="Rectangle 3"/>
          <p:cNvSpPr>
            <a:spLocks noChangeArrowheads="1"/>
          </p:cNvSpPr>
          <p:nvPr/>
        </p:nvSpPr>
        <p:spPr bwMode="auto">
          <a:xfrm>
            <a:off x="4516580" y="171306"/>
            <a:ext cx="4392613" cy="1619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b="1" dirty="0">
                <a:solidFill>
                  <a:srgbClr val="FF0000"/>
                </a:solidFill>
                <a:ea typeface="黑体" panose="02010609060101010101" pitchFamily="49" charset="-122"/>
              </a:rPr>
              <a:t>两类方法所揭示的不完善部位及损失大小可能不同</a:t>
            </a:r>
          </a:p>
        </p:txBody>
      </p:sp>
      <p:sp>
        <p:nvSpPr>
          <p:cNvPr id="128004" name="Rectangle 4"/>
          <p:cNvSpPr>
            <a:spLocks noChangeArrowheads="1"/>
          </p:cNvSpPr>
          <p:nvPr/>
        </p:nvSpPr>
        <p:spPr bwMode="auto">
          <a:xfrm>
            <a:off x="4516580" y="1994767"/>
            <a:ext cx="4294910" cy="4142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zh-CN" altLang="en-US" sz="2800" b="1" dirty="0">
                <a:ea typeface="黑体" panose="02010609060101010101" pitchFamily="49" charset="-122"/>
              </a:rPr>
              <a:t>蒸汽动力循环中，能量损失最大</a:t>
            </a:r>
            <a:r>
              <a:rPr lang="en-US" altLang="zh-CN" sz="2800" b="1" dirty="0">
                <a:ea typeface="黑体" panose="02010609060101010101" pitchFamily="49" charset="-122"/>
              </a:rPr>
              <a:t>——</a:t>
            </a:r>
            <a:r>
              <a:rPr lang="zh-CN" altLang="en-US" sz="2800" b="1" dirty="0">
                <a:solidFill>
                  <a:srgbClr val="FF0000"/>
                </a:solidFill>
                <a:ea typeface="黑体" panose="02010609060101010101" pitchFamily="49" charset="-122"/>
              </a:rPr>
              <a:t>凝汽器</a:t>
            </a:r>
            <a:r>
              <a:rPr lang="zh-CN" altLang="en-US" sz="2800" b="1" dirty="0" smtClean="0">
                <a:ea typeface="黑体" panose="02010609060101010101" pitchFamily="49" charset="-122"/>
              </a:rPr>
              <a:t>，</a:t>
            </a:r>
            <a:r>
              <a:rPr lang="zh-CN" altLang="zh-CN" sz="2800" b="1" dirty="0">
                <a:solidFill>
                  <a:prstClr val="black"/>
                </a:solidFill>
                <a:latin typeface="黑体" panose="02010609060101010101" pitchFamily="49" charset="-122"/>
                <a:ea typeface="黑体" panose="02010609060101010101" pitchFamily="49" charset="-122"/>
              </a:rPr>
              <a:t>㶲</a:t>
            </a:r>
            <a:r>
              <a:rPr lang="zh-CN" altLang="en-US" sz="2800" b="1" dirty="0" smtClean="0">
                <a:ea typeface="黑体" panose="02010609060101010101" pitchFamily="49" charset="-122"/>
              </a:rPr>
              <a:t>损失</a:t>
            </a:r>
            <a:r>
              <a:rPr lang="zh-CN" altLang="en-US" sz="2800" b="1" dirty="0">
                <a:ea typeface="黑体" panose="02010609060101010101" pitchFamily="49" charset="-122"/>
              </a:rPr>
              <a:t>最大</a:t>
            </a:r>
            <a:r>
              <a:rPr lang="en-US" altLang="zh-CN" sz="2800" b="1" dirty="0">
                <a:ea typeface="黑体" panose="02010609060101010101" pitchFamily="49" charset="-122"/>
              </a:rPr>
              <a:t>——</a:t>
            </a:r>
            <a:r>
              <a:rPr lang="zh-CN" altLang="en-US" sz="2800" b="1" dirty="0">
                <a:solidFill>
                  <a:srgbClr val="FF0000"/>
                </a:solidFill>
                <a:ea typeface="黑体" panose="02010609060101010101" pitchFamily="49" charset="-122"/>
              </a:rPr>
              <a:t>锅炉</a:t>
            </a:r>
            <a:endParaRPr lang="zh-CN" altLang="en-US" sz="2800" b="1" dirty="0">
              <a:ea typeface="黑体" panose="02010609060101010101" pitchFamily="49" charset="-122"/>
            </a:endParaRPr>
          </a:p>
          <a:p>
            <a:r>
              <a:rPr lang="zh-CN" altLang="en-US" sz="2800" b="1" dirty="0">
                <a:ea typeface="黑体" panose="02010609060101010101" pitchFamily="49" charset="-122"/>
              </a:rPr>
              <a:t>原因：凝汽器中冷、热流体的温差并不大，不可逆性和由此造成</a:t>
            </a:r>
            <a:r>
              <a:rPr lang="zh-CN" altLang="en-US" sz="2800" b="1" dirty="0" smtClean="0">
                <a:ea typeface="黑体" panose="02010609060101010101" pitchFamily="49" charset="-122"/>
              </a:rPr>
              <a:t>的</a:t>
            </a:r>
            <a:r>
              <a:rPr lang="zh-CN" altLang="zh-CN" sz="2800" b="1" dirty="0">
                <a:solidFill>
                  <a:prstClr val="black"/>
                </a:solidFill>
                <a:latin typeface="黑体" panose="02010609060101010101" pitchFamily="49" charset="-122"/>
                <a:ea typeface="黑体" panose="02010609060101010101" pitchFamily="49" charset="-122"/>
              </a:rPr>
              <a:t>㶲</a:t>
            </a:r>
            <a:r>
              <a:rPr lang="zh-CN" altLang="en-US" sz="2800" b="1" dirty="0" smtClean="0">
                <a:ea typeface="黑体" panose="02010609060101010101" pitchFamily="49" charset="-122"/>
              </a:rPr>
              <a:t>损</a:t>
            </a:r>
            <a:r>
              <a:rPr lang="zh-CN" altLang="en-US" sz="2800" b="1" dirty="0">
                <a:ea typeface="黑体" panose="02010609060101010101" pitchFamily="49" charset="-122"/>
              </a:rPr>
              <a:t>并不大；锅炉中燃料的燃烧温度和工质水的温差则</a:t>
            </a:r>
            <a:r>
              <a:rPr lang="zh-CN" altLang="en-US" sz="2800" b="1" dirty="0" smtClean="0">
                <a:ea typeface="黑体" panose="02010609060101010101" pitchFamily="49" charset="-122"/>
              </a:rPr>
              <a:t>很大</a:t>
            </a:r>
            <a:endParaRPr lang="zh-CN" altLang="en-US" sz="2800" b="1" dirty="0">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4">
                                            <p:txEl>
                                              <p:pRg st="1" end="1"/>
                                            </p:txEl>
                                          </p:spTgt>
                                        </p:tgtEl>
                                        <p:attrNameLst>
                                          <p:attrName>style.visibility</p:attrName>
                                        </p:attrNameLst>
                                      </p:cBhvr>
                                      <p:to>
                                        <p:strVal val="visible"/>
                                      </p:to>
                                    </p:set>
                                    <p:animEffect transition="in" filter="blinds(horizontal)">
                                      <p:cBhvr>
                                        <p:cTn id="7" dur="500"/>
                                        <p:tgtEl>
                                          <p:spTgt spid="1280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521133" y="752332"/>
            <a:ext cx="792003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71500" indent="-571500" eaLnBrk="0" hangingPunct="0">
              <a:buFont typeface="Arial" panose="020B0604020202020204" pitchFamily="34" charset="0"/>
              <a:buChar char="•"/>
            </a:pPr>
            <a:r>
              <a:rPr lang="zh-CN" altLang="en-US" sz="3600" b="1" dirty="0">
                <a:latin typeface="+mn-ea"/>
              </a:rPr>
              <a:t>由此可见，在工程应用中，为了全面反映循环的经济性，</a:t>
            </a:r>
            <a:r>
              <a:rPr lang="zh-CN" altLang="en-US" sz="3600" b="1" dirty="0">
                <a:solidFill>
                  <a:srgbClr val="FF0000"/>
                </a:solidFill>
                <a:latin typeface="+mn-ea"/>
              </a:rPr>
              <a:t>需综合应用两种方法</a:t>
            </a:r>
            <a:r>
              <a:rPr lang="zh-CN" altLang="en-US" sz="3600" b="1" dirty="0">
                <a:latin typeface="+mn-ea"/>
              </a:rPr>
              <a:t>以便同时考虑能量的数量和</a:t>
            </a:r>
            <a:r>
              <a:rPr lang="zh-CN" altLang="en-US" sz="3600" b="1" dirty="0" smtClean="0">
                <a:latin typeface="+mn-ea"/>
              </a:rPr>
              <a:t>品质</a:t>
            </a:r>
            <a:endParaRPr lang="en-US" altLang="zh-CN" sz="3600" b="1" dirty="0" smtClean="0">
              <a:latin typeface="+mn-ea"/>
            </a:endParaRPr>
          </a:p>
          <a:p>
            <a:pPr marL="571500" indent="-571500" eaLnBrk="0" hangingPunct="0">
              <a:buFont typeface="Arial" panose="020B0604020202020204" pitchFamily="34" charset="0"/>
              <a:buChar char="•"/>
            </a:pPr>
            <a:r>
              <a:rPr lang="zh-CN" altLang="en-US" sz="3600" b="1" dirty="0">
                <a:latin typeface="+mn-ea"/>
              </a:rPr>
              <a:t>本课程重点介绍第一定律分析法</a:t>
            </a:r>
            <a:endParaRPr lang="zh-CN" altLang="en-US" sz="3600" dirty="0"/>
          </a:p>
          <a:p>
            <a:pPr marL="571500" indent="-571500" eaLnBrk="0" hangingPunct="0">
              <a:buFont typeface="Arial" panose="020B0604020202020204" pitchFamily="34" charset="0"/>
              <a:buChar char="•"/>
            </a:pPr>
            <a:endParaRPr lang="zh-CN" altLang="en-US" sz="3600" b="1"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243715"/>
          <p:cNvSpPr>
            <a:spLocks noChangeArrowheads="1"/>
          </p:cNvSpPr>
          <p:nvPr/>
        </p:nvSpPr>
        <p:spPr bwMode="auto">
          <a:xfrm>
            <a:off x="323851" y="1844675"/>
            <a:ext cx="8473786"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zh-CN" sz="3600" b="1" dirty="0"/>
              <a:t>12</a:t>
            </a:r>
            <a:r>
              <a:rPr lang="zh-CN" altLang="en-US" sz="3600" b="1" dirty="0"/>
              <a:t>－</a:t>
            </a:r>
            <a:r>
              <a:rPr lang="en-US" altLang="zh-CN" sz="3600" b="1" dirty="0"/>
              <a:t>2</a:t>
            </a:r>
            <a:r>
              <a:rPr lang="zh-CN" altLang="en-US" sz="3600" b="1" dirty="0"/>
              <a:t>　气体动力循环的空气标准假设</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244737"/>
          <p:cNvSpPr>
            <a:spLocks noGrp="1" noChangeArrowheads="1"/>
          </p:cNvSpPr>
          <p:nvPr>
            <p:ph type="title"/>
          </p:nvPr>
        </p:nvSpPr>
        <p:spPr>
          <a:xfrm>
            <a:off x="468313" y="0"/>
            <a:ext cx="8229600" cy="1143000"/>
          </a:xfrm>
        </p:spPr>
        <p:txBody>
          <a:bodyPr/>
          <a:lstStyle/>
          <a:p>
            <a:r>
              <a:rPr lang="zh-CN" altLang="en-US" sz="3600" b="1" dirty="0" smtClean="0">
                <a:latin typeface="黑体" panose="02010609060101010101" pitchFamily="49" charset="-122"/>
                <a:ea typeface="黑体" panose="02010609060101010101" pitchFamily="49" charset="-122"/>
              </a:rPr>
              <a:t>一、为什么需要引入空气标准假设？</a:t>
            </a:r>
          </a:p>
        </p:txBody>
      </p:sp>
      <p:sp>
        <p:nvSpPr>
          <p:cNvPr id="244739" name="内容占位符 244738"/>
          <p:cNvSpPr>
            <a:spLocks noGrp="1" noChangeArrowheads="1"/>
          </p:cNvSpPr>
          <p:nvPr>
            <p:ph idx="1"/>
          </p:nvPr>
        </p:nvSpPr>
        <p:spPr>
          <a:xfrm>
            <a:off x="399040" y="1309977"/>
            <a:ext cx="8229600" cy="5040312"/>
          </a:xfrm>
        </p:spPr>
        <p:txBody>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常见的气体动力循环有内燃机装置中常用的狄赛尔（</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Diesel</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）循环和奥托（</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Otto</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）循环，以及燃气轮机装置中常用的布雷顿（</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Brayton</a:t>
            </a:r>
            <a:r>
              <a:rPr lang="zh-CN" altLang="en-US" sz="2800" b="1" dirty="0" smtClean="0">
                <a:latin typeface="黑体" panose="02010609060101010101" pitchFamily="49" charset="-122"/>
                <a:ea typeface="黑体" panose="02010609060101010101" pitchFamily="49" charset="-122"/>
              </a:rPr>
              <a:t>）循环等</a:t>
            </a:r>
          </a:p>
          <a:p>
            <a:r>
              <a:rPr lang="zh-CN" altLang="en-US" sz="2800" b="1" dirty="0" smtClean="0">
                <a:latin typeface="黑体" panose="02010609060101010101" pitchFamily="49" charset="-122"/>
                <a:ea typeface="黑体" panose="02010609060101010101" pitchFamily="49" charset="-122"/>
              </a:rPr>
              <a:t>均为内燃式循环，燃气即为工质，工质吸热来自于工质自身的燃烧放热</a:t>
            </a:r>
          </a:p>
          <a:p>
            <a:r>
              <a:rPr lang="zh-CN" altLang="en-US" sz="2800" b="1" dirty="0" smtClean="0">
                <a:latin typeface="黑体" panose="02010609060101010101" pitchFamily="49" charset="-122"/>
                <a:ea typeface="黑体" panose="02010609060101010101" pitchFamily="49" charset="-122"/>
              </a:rPr>
              <a:t>由于有燃料的喷入和燃烧，循环过程中工质的成分、质量会有所改变</a:t>
            </a:r>
          </a:p>
          <a:p>
            <a:r>
              <a:rPr lang="zh-CN" altLang="en-US" sz="2800" b="1" dirty="0" smtClean="0">
                <a:latin typeface="黑体" panose="02010609060101010101" pitchFamily="49" charset="-122"/>
                <a:ea typeface="黑体" panose="02010609060101010101" pitchFamily="49" charset="-122"/>
              </a:rPr>
              <a:t>此外，工质作功后作为废气排入大气环境而并非回到其初始状态，这说明工质并没有完成闭合循环，而是一种开式循环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4739">
                                            <p:txEl>
                                              <p:pRg st="1" end="1"/>
                                            </p:txEl>
                                          </p:spTgt>
                                        </p:tgtEl>
                                        <p:attrNameLst>
                                          <p:attrName>style.visibility</p:attrName>
                                        </p:attrNameLst>
                                      </p:cBhvr>
                                      <p:to>
                                        <p:strVal val="visible"/>
                                      </p:to>
                                    </p:set>
                                    <p:animEffect transition="in" filter="blinds(horizontal)">
                                      <p:cBhvr>
                                        <p:cTn id="7" dur="500"/>
                                        <p:tgtEl>
                                          <p:spTgt spid="2447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4739">
                                            <p:txEl>
                                              <p:pRg st="2" end="2"/>
                                            </p:txEl>
                                          </p:spTgt>
                                        </p:tgtEl>
                                        <p:attrNameLst>
                                          <p:attrName>style.visibility</p:attrName>
                                        </p:attrNameLst>
                                      </p:cBhvr>
                                      <p:to>
                                        <p:strVal val="visible"/>
                                      </p:to>
                                    </p:set>
                                    <p:animEffect transition="in" filter="blinds(horizontal)">
                                      <p:cBhvr>
                                        <p:cTn id="12" dur="500"/>
                                        <p:tgtEl>
                                          <p:spTgt spid="2447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4739">
                                            <p:txEl>
                                              <p:pRg st="3" end="3"/>
                                            </p:txEl>
                                          </p:spTgt>
                                        </p:tgtEl>
                                        <p:attrNameLst>
                                          <p:attrName>style.visibility</p:attrName>
                                        </p:attrNameLst>
                                      </p:cBhvr>
                                      <p:to>
                                        <p:strVal val="visible"/>
                                      </p:to>
                                    </p:set>
                                    <p:animEffect transition="in" filter="blinds(horizontal)">
                                      <p:cBhvr>
                                        <p:cTn id="17" dur="500"/>
                                        <p:tgtEl>
                                          <p:spTgt spid="2447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占位符 245762"/>
          <p:cNvSpPr>
            <a:spLocks noGrp="1" noChangeArrowheads="1"/>
          </p:cNvSpPr>
          <p:nvPr>
            <p:ph idx="1"/>
          </p:nvPr>
        </p:nvSpPr>
        <p:spPr>
          <a:xfrm>
            <a:off x="628650" y="1153679"/>
            <a:ext cx="7886700" cy="4351338"/>
          </a:xfrm>
        </p:spPr>
        <p:txBody>
          <a:bodyPr>
            <a:normAutofit/>
          </a:bodyPr>
          <a:lstStyle/>
          <a:p>
            <a:r>
              <a:rPr lang="zh-CN" altLang="en-US" sz="2800" b="1" dirty="0">
                <a:latin typeface="黑体" panose="02010609060101010101" pitchFamily="49" charset="-122"/>
                <a:ea typeface="黑体" panose="02010609060101010101" pitchFamily="49" charset="-122"/>
              </a:rPr>
              <a:t>可见，实际气体动力循环十分复杂，为使分析简化，在分析气体动力循环时，除了应用</a:t>
            </a:r>
            <a:r>
              <a:rPr lang="en-US" altLang="zh-CN" sz="2800" b="1" dirty="0">
                <a:latin typeface="黑体" panose="02010609060101010101" pitchFamily="49" charset="-122"/>
                <a:ea typeface="黑体" panose="02010609060101010101" pitchFamily="49" charset="-122"/>
              </a:rPr>
              <a:t>12-1</a:t>
            </a:r>
            <a:r>
              <a:rPr lang="zh-CN" altLang="en-US" sz="2800" b="1" dirty="0">
                <a:latin typeface="黑体" panose="02010609060101010101" pitchFamily="49" charset="-122"/>
                <a:ea typeface="黑体" panose="02010609060101010101" pitchFamily="49" charset="-122"/>
              </a:rPr>
              <a:t>节中提到的循环过程的常用简化外（无摩擦、准静、稳定流动、管道散热忽略、势能和动能变化忽略），通常还要作</a:t>
            </a:r>
            <a:r>
              <a:rPr lang="zh-CN" altLang="en-US" sz="2800" b="1" dirty="0">
                <a:solidFill>
                  <a:srgbClr val="FF0000"/>
                </a:solidFill>
                <a:latin typeface="黑体" panose="02010609060101010101" pitchFamily="49" charset="-122"/>
                <a:ea typeface="黑体" panose="02010609060101010101" pitchFamily="49" charset="-122"/>
              </a:rPr>
              <a:t>空气标准假设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116739"/>
          <p:cNvSpPr txBox="1">
            <a:spLocks noChangeArrowheads="1"/>
          </p:cNvSpPr>
          <p:nvPr/>
        </p:nvSpPr>
        <p:spPr bwMode="auto">
          <a:xfrm>
            <a:off x="3059113" y="333375"/>
            <a:ext cx="57610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Times New Roman" panose="02020603050405020304" pitchFamily="18" charset="0"/>
                <a:ea typeface="黑体" panose="02010609060101010101" pitchFamily="49" charset="-122"/>
              </a:rPr>
              <a:t>空气标准假设</a:t>
            </a:r>
          </a:p>
        </p:txBody>
      </p:sp>
      <p:sp>
        <p:nvSpPr>
          <p:cNvPr id="47113" name="矩形 116773"/>
          <p:cNvSpPr>
            <a:spLocks noChangeArrowheads="1"/>
          </p:cNvSpPr>
          <p:nvPr/>
        </p:nvSpPr>
        <p:spPr bwMode="auto">
          <a:xfrm>
            <a:off x="0"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3" name="文本占位符 239618"/>
          <p:cNvSpPr txBox="1">
            <a:spLocks noChangeArrowheads="1"/>
          </p:cNvSpPr>
          <p:nvPr/>
        </p:nvSpPr>
        <p:spPr>
          <a:xfrm>
            <a:off x="468313" y="1196975"/>
            <a:ext cx="8229600" cy="4824413"/>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把循环工质简化为空气，它在装置中完成闭式循环，且作理想气体处理</a:t>
            </a:r>
            <a:r>
              <a:rPr lang="zh-CN" altLang="en-US" sz="2800" b="1" dirty="0">
                <a:latin typeface="黑体" panose="02010609060101010101" pitchFamily="49" charset="-122"/>
                <a:ea typeface="黑体" panose="02010609060101010101" pitchFamily="49" charset="-122"/>
              </a:rPr>
              <a:t>； </a:t>
            </a:r>
          </a:p>
          <a:p>
            <a:pPr>
              <a:buFontTx/>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组成循环的所有过程均为内部可逆的，也就是理想循环</a:t>
            </a:r>
            <a:r>
              <a:rPr lang="zh-CN" altLang="en-US" sz="2800" b="1" dirty="0">
                <a:latin typeface="黑体" panose="02010609060101010101" pitchFamily="49" charset="-122"/>
                <a:ea typeface="黑体" panose="02010609060101010101" pitchFamily="49" charset="-122"/>
              </a:rPr>
              <a:t>； </a:t>
            </a:r>
          </a:p>
          <a:p>
            <a:pPr>
              <a:buFontTx/>
              <a:buNone/>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把燃烧产生高温、高压燃气的过程简化为空气工质从外部高温热源的吸热过程</a:t>
            </a:r>
            <a:r>
              <a:rPr lang="zh-CN" altLang="en-US" sz="2800" b="1" dirty="0">
                <a:latin typeface="黑体" panose="02010609060101010101" pitchFamily="49" charset="-122"/>
                <a:ea typeface="黑体" panose="02010609060101010101" pitchFamily="49" charset="-122"/>
              </a:rPr>
              <a:t>；</a:t>
            </a:r>
          </a:p>
          <a:p>
            <a:pPr>
              <a:buFontTx/>
              <a:buNone/>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把排气过程简化为工质向低温热源的放热过程。经过放热后，工质又重新开始循环，即认为是定量工质完成闭式</a:t>
            </a:r>
            <a:r>
              <a:rPr lang="zh-CN" altLang="zh-CN" sz="2800" b="1" dirty="0" smtClean="0">
                <a:latin typeface="黑体" panose="02010609060101010101" pitchFamily="49" charset="-122"/>
                <a:ea typeface="黑体" panose="02010609060101010101" pitchFamily="49" charset="-122"/>
              </a:rPr>
              <a:t>循环</a:t>
            </a:r>
            <a:r>
              <a:rPr lang="zh-CN" altLang="en-US" sz="2800" b="1" dirty="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a:p>
            <a:pPr>
              <a:buFontTx/>
              <a:buNone/>
            </a:pPr>
            <a:endParaRPr lang="zh-CN" altLang="en-US" sz="2800" b="1" dirty="0" smtClean="0">
              <a:latin typeface="黑体" panose="02010609060101010101" pitchFamily="49" charset="-122"/>
              <a:ea typeface="黑体" panose="02010609060101010101" pitchFamily="49" charset="-122"/>
            </a:endParaRPr>
          </a:p>
        </p:txBody>
      </p:sp>
      <p:sp>
        <p:nvSpPr>
          <p:cNvPr id="8" name="矩形 7"/>
          <p:cNvSpPr/>
          <p:nvPr/>
        </p:nvSpPr>
        <p:spPr>
          <a:xfrm>
            <a:off x="868508" y="5341158"/>
            <a:ext cx="7207105" cy="954107"/>
          </a:xfrm>
          <a:prstGeom prst="rect">
            <a:avLst/>
          </a:prstGeom>
        </p:spPr>
        <p:txBody>
          <a:bodyPr wrap="square">
            <a:spAutoFit/>
          </a:bodyPr>
          <a:lstStyle/>
          <a:p>
            <a:pPr lvl="0"/>
            <a:r>
              <a:rPr lang="zh-CN" altLang="en-US" sz="2800" b="1" dirty="0" smtClean="0">
                <a:solidFill>
                  <a:prstClr val="black"/>
                </a:solidFill>
                <a:latin typeface="黑体" panose="02010609060101010101" pitchFamily="49" charset="-122"/>
                <a:ea typeface="黑体" panose="02010609060101010101" pitchFamily="49" charset="-122"/>
              </a:rPr>
              <a:t>还可以</a:t>
            </a:r>
            <a:r>
              <a:rPr lang="zh-CN" altLang="en-US" sz="2800" b="1" dirty="0">
                <a:solidFill>
                  <a:prstClr val="black"/>
                </a:solidFill>
                <a:latin typeface="黑体" panose="02010609060101010101" pitchFamily="49" charset="-122"/>
                <a:ea typeface="黑体" panose="02010609060101010101" pitchFamily="49" charset="-122"/>
              </a:rPr>
              <a:t>进一步</a:t>
            </a:r>
            <a:r>
              <a:rPr lang="zh-CN" altLang="zh-CN" sz="2800" b="1" dirty="0" smtClean="0">
                <a:solidFill>
                  <a:prstClr val="black"/>
                </a:solidFill>
                <a:latin typeface="黑体" panose="02010609060101010101" pitchFamily="49" charset="-122"/>
                <a:ea typeface="黑体" panose="02010609060101010101" pitchFamily="49" charset="-122"/>
              </a:rPr>
              <a:t>将</a:t>
            </a:r>
            <a:r>
              <a:rPr lang="zh-CN" altLang="zh-CN" sz="2800" b="1" dirty="0">
                <a:solidFill>
                  <a:prstClr val="black"/>
                </a:solidFill>
                <a:latin typeface="黑体" panose="02010609060101010101" pitchFamily="49" charset="-122"/>
                <a:ea typeface="黑体" panose="02010609060101010101" pitchFamily="49" charset="-122"/>
              </a:rPr>
              <a:t>空气的比热容近似为定值，在具体计算时取其在室温</a:t>
            </a:r>
            <a:r>
              <a:rPr lang="zh-CN" altLang="en-US" sz="2800" b="1" dirty="0">
                <a:solidFill>
                  <a:prstClr val="black"/>
                </a:solidFill>
                <a:latin typeface="黑体" panose="02010609060101010101" pitchFamily="49" charset="-122"/>
                <a:ea typeface="黑体" panose="02010609060101010101" pitchFamily="49" charset="-122"/>
              </a:rPr>
              <a:t>（</a:t>
            </a: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25</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prstClr val="black"/>
                </a:solidFill>
                <a:latin typeface="黑体" panose="02010609060101010101" pitchFamily="49" charset="-122"/>
                <a:ea typeface="黑体" panose="02010609060101010101" pitchFamily="49" charset="-122"/>
              </a:rPr>
              <a:t>）下的数值。</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23455" y="478212"/>
            <a:ext cx="7155872" cy="523220"/>
          </a:xfrm>
          <a:prstGeom prst="rect">
            <a:avLst/>
          </a:prstGeom>
        </p:spPr>
        <p:txBody>
          <a:bodyPr wrap="square">
            <a:spAutoFit/>
          </a:bodyPr>
          <a:lstStyle/>
          <a:p>
            <a:r>
              <a:rPr lang="zh-CN" altLang="en-US" sz="2800" b="1" dirty="0" smtClean="0">
                <a:solidFill>
                  <a:prstClr val="black"/>
                </a:solidFill>
                <a:latin typeface="黑体" panose="02010609060101010101" pitchFamily="49" charset="-122"/>
                <a:ea typeface="黑体" panose="02010609060101010101" pitchFamily="49" charset="-122"/>
              </a:rPr>
              <a:t>以上第（</a:t>
            </a:r>
            <a:r>
              <a:rPr lang="en-US" altLang="zh-CN" sz="2800" b="1" dirty="0" smtClean="0">
                <a:solidFill>
                  <a:prstClr val="black"/>
                </a:solidFill>
                <a:latin typeface="黑体" panose="02010609060101010101" pitchFamily="49" charset="-122"/>
                <a:ea typeface="黑体" panose="02010609060101010101" pitchFamily="49" charset="-122"/>
              </a:rPr>
              <a:t>3</a:t>
            </a:r>
            <a:r>
              <a:rPr lang="zh-CN" altLang="en-US" sz="2800" b="1" dirty="0" smtClean="0">
                <a:solidFill>
                  <a:prstClr val="black"/>
                </a:solidFill>
                <a:latin typeface="黑体" panose="02010609060101010101" pitchFamily="49" charset="-122"/>
                <a:ea typeface="黑体" panose="02010609060101010101" pitchFamily="49" charset="-122"/>
              </a:rPr>
              <a:t>）点简化的图示说明</a:t>
            </a:r>
            <a:endParaRPr lang="zh-CN" altLang="en-US" dirty="0"/>
          </a:p>
        </p:txBody>
      </p:sp>
      <p:sp>
        <p:nvSpPr>
          <p:cNvPr id="6" name="矩形 5"/>
          <p:cNvSpPr/>
          <p:nvPr/>
        </p:nvSpPr>
        <p:spPr>
          <a:xfrm>
            <a:off x="4863073" y="3192353"/>
            <a:ext cx="2916254" cy="523220"/>
          </a:xfrm>
          <a:prstGeom prst="rect">
            <a:avLst/>
          </a:prstGeom>
        </p:spPr>
        <p:txBody>
          <a:bodyPr wrap="square">
            <a:spAutoFit/>
          </a:bodyPr>
          <a:lstStyle/>
          <a:p>
            <a:r>
              <a:rPr lang="zh-CN" altLang="en-US" sz="2800" b="1" dirty="0">
                <a:solidFill>
                  <a:srgbClr val="0070C0"/>
                </a:solidFill>
                <a:latin typeface="黑体" panose="02010609060101010101" pitchFamily="49" charset="-122"/>
                <a:ea typeface="黑体" panose="02010609060101010101" pitchFamily="49" charset="-122"/>
              </a:rPr>
              <a:t>简化</a:t>
            </a:r>
            <a:endParaRPr lang="zh-CN" altLang="en-US" sz="2800" dirty="0">
              <a:solidFill>
                <a:srgbClr val="0070C0"/>
              </a:solidFill>
            </a:endParaRPr>
          </a:p>
        </p:txBody>
      </p:sp>
      <p:sp>
        <p:nvSpPr>
          <p:cNvPr id="8" name="矩形 7"/>
          <p:cNvSpPr/>
          <p:nvPr/>
        </p:nvSpPr>
        <p:spPr>
          <a:xfrm>
            <a:off x="5403274" y="4545220"/>
            <a:ext cx="3103418" cy="954107"/>
          </a:xfrm>
          <a:prstGeom prst="rect">
            <a:avLst/>
          </a:prstGeom>
        </p:spPr>
        <p:txBody>
          <a:bodyPr wrap="square">
            <a:spAutoFit/>
          </a:bodyPr>
          <a:lstStyle/>
          <a:p>
            <a:r>
              <a:rPr lang="zh-CN" altLang="zh-CN" sz="2800" b="1" dirty="0">
                <a:solidFill>
                  <a:prstClr val="black"/>
                </a:solidFill>
                <a:latin typeface="黑体" panose="02010609060101010101" pitchFamily="49" charset="-122"/>
                <a:ea typeface="黑体" panose="02010609060101010101" pitchFamily="49" charset="-122"/>
              </a:rPr>
              <a:t>空气工质从外部高温热源的吸热过程</a:t>
            </a:r>
            <a:endParaRPr lang="zh-CN" altLang="en-US" dirty="0"/>
          </a:p>
        </p:txBody>
      </p:sp>
      <p:sp>
        <p:nvSpPr>
          <p:cNvPr id="10" name="下箭头 9"/>
          <p:cNvSpPr/>
          <p:nvPr/>
        </p:nvSpPr>
        <p:spPr>
          <a:xfrm>
            <a:off x="4201391" y="3013364"/>
            <a:ext cx="478192" cy="12330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accent2"/>
                </a:solidFill>
                <a:prstDash val="solid"/>
              </a:ln>
              <a:solidFill>
                <a:schemeClr val="accent2">
                  <a:lumMod val="40000"/>
                  <a:lumOff val="60000"/>
                </a:schemeClr>
              </a:solidFill>
            </a:endParaRPr>
          </a:p>
        </p:txBody>
      </p:sp>
      <p:sp>
        <p:nvSpPr>
          <p:cNvPr id="11" name="矩形 10"/>
          <p:cNvSpPr/>
          <p:nvPr/>
        </p:nvSpPr>
        <p:spPr>
          <a:xfrm>
            <a:off x="5742838" y="1728618"/>
            <a:ext cx="2916254" cy="954107"/>
          </a:xfrm>
          <a:prstGeom prst="rect">
            <a:avLst/>
          </a:prstGeom>
        </p:spPr>
        <p:txBody>
          <a:bodyPr wrap="square">
            <a:spAutoFit/>
          </a:bodyPr>
          <a:lstStyle/>
          <a:p>
            <a:r>
              <a:rPr lang="zh-CN" altLang="zh-CN" sz="2800" b="1" dirty="0" smtClean="0">
                <a:latin typeface="黑体" panose="02010609060101010101" pitchFamily="49" charset="-122"/>
                <a:ea typeface="黑体" panose="02010609060101010101" pitchFamily="49" charset="-122"/>
              </a:rPr>
              <a:t>燃烧</a:t>
            </a:r>
            <a:r>
              <a:rPr lang="zh-CN" altLang="zh-CN" sz="2800" b="1" dirty="0">
                <a:latin typeface="黑体" panose="02010609060101010101" pitchFamily="49" charset="-122"/>
                <a:ea typeface="黑体" panose="02010609060101010101" pitchFamily="49" charset="-122"/>
              </a:rPr>
              <a:t>产生高温、高压燃气的过程</a:t>
            </a:r>
            <a:endParaRPr lang="zh-CN" altLang="en-US" sz="28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600" y="1642885"/>
            <a:ext cx="4535817" cy="1115665"/>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437" y="3851093"/>
            <a:ext cx="4871126" cy="1658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96" name="矩形 246795"/>
          <p:cNvSpPr>
            <a:spLocks noChangeArrowheads="1"/>
          </p:cNvSpPr>
          <p:nvPr/>
        </p:nvSpPr>
        <p:spPr bwMode="auto">
          <a:xfrm>
            <a:off x="638897" y="957397"/>
            <a:ext cx="78486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342900" indent="-342900">
              <a:buFont typeface="Arial" panose="020B0604020202020204" pitchFamily="34" charset="0"/>
              <a:buChar char="•"/>
            </a:pPr>
            <a:r>
              <a:rPr lang="zh-CN" altLang="en-US" sz="2800" b="1" dirty="0">
                <a:latin typeface="Times New Roman" panose="02020603050405020304" pitchFamily="18" charset="0"/>
                <a:ea typeface="黑体" panose="02010609060101010101" pitchFamily="49" charset="-122"/>
              </a:rPr>
              <a:t>经过空气标准假设，实际的气体动力</a:t>
            </a:r>
            <a:r>
              <a:rPr lang="zh-CN" altLang="en-US" sz="2800" b="1" dirty="0" smtClean="0">
                <a:latin typeface="Times New Roman" panose="02020603050405020304" pitchFamily="18" charset="0"/>
                <a:ea typeface="黑体" panose="02010609060101010101" pitchFamily="49" charset="-122"/>
              </a:rPr>
              <a:t>循环就理想化</a:t>
            </a:r>
            <a:r>
              <a:rPr lang="zh-CN" altLang="en-US" sz="2800" b="1" dirty="0">
                <a:latin typeface="Times New Roman" panose="02020603050405020304" pitchFamily="18" charset="0"/>
                <a:ea typeface="黑体" panose="02010609060101010101" pitchFamily="49" charset="-122"/>
              </a:rPr>
              <a:t>为以空气为工质的内可逆理想</a:t>
            </a:r>
            <a:r>
              <a:rPr lang="zh-CN" altLang="en-US" sz="2800" b="1" dirty="0" smtClean="0">
                <a:latin typeface="Times New Roman" panose="02020603050405020304" pitchFamily="18" charset="0"/>
                <a:ea typeface="黑体" panose="02010609060101010101" pitchFamily="49" charset="-122"/>
              </a:rPr>
              <a:t>循环</a:t>
            </a:r>
            <a:endParaRPr lang="en-US" altLang="zh-CN" sz="2800" b="1" dirty="0" smtClean="0">
              <a:latin typeface="Times New Roman" panose="02020603050405020304" pitchFamily="18" charset="0"/>
              <a:ea typeface="黑体" panose="02010609060101010101" pitchFamily="49" charset="-122"/>
            </a:endParaRPr>
          </a:p>
          <a:p>
            <a:pPr marL="342900" indent="-342900">
              <a:buFont typeface="Arial" panose="020B0604020202020204" pitchFamily="34" charset="0"/>
              <a:buChar char="•"/>
            </a:pPr>
            <a:r>
              <a:rPr lang="zh-CN" altLang="en-US" sz="2800" b="1" dirty="0">
                <a:latin typeface="Times New Roman" panose="02020603050405020304" pitchFamily="18" charset="0"/>
                <a:ea typeface="黑体" panose="02010609060101010101" pitchFamily="49" charset="-122"/>
              </a:rPr>
              <a:t>但</a:t>
            </a:r>
            <a:r>
              <a:rPr lang="zh-CN" altLang="en-US" sz="2800" b="1" dirty="0" smtClean="0">
                <a:latin typeface="Times New Roman" panose="02020603050405020304" pitchFamily="18" charset="0"/>
                <a:ea typeface="黑体" panose="02010609060101010101" pitchFamily="49" charset="-122"/>
              </a:rPr>
              <a:t>需要注意，</a:t>
            </a:r>
            <a:r>
              <a:rPr lang="zh-CN" altLang="zh-CN" sz="2800" b="1" dirty="0">
                <a:latin typeface="Times New Roman" panose="02020603050405020304" pitchFamily="18" charset="0"/>
                <a:ea typeface="黑体" panose="02010609060101010101" pitchFamily="49" charset="-122"/>
              </a:rPr>
              <a:t>这一假设仅适用于气体动力循环，在分析蒸汽动力循环时，由于蒸汽的热物性和空气相差较大，不能采用空气标准假设</a:t>
            </a:r>
            <a:endParaRPr lang="zh-CN" altLang="en-US" sz="2800" b="1"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44033"/>
          <p:cNvSpPr>
            <a:spLocks noGrp="1" noChangeArrowheads="1"/>
          </p:cNvSpPr>
          <p:nvPr>
            <p:ph type="ctrTitle"/>
          </p:nvPr>
        </p:nvSpPr>
        <p:spPr>
          <a:xfrm>
            <a:off x="935038" y="1736725"/>
            <a:ext cx="7272337" cy="2232025"/>
          </a:xfrm>
        </p:spPr>
        <p:txBody>
          <a:bodyPr anchor="ctr"/>
          <a:lstStyle/>
          <a:p>
            <a:r>
              <a:rPr lang="en-US" altLang="zh-CN" sz="4400" b="1" dirty="0" smtClean="0">
                <a:latin typeface="+mn-lt"/>
              </a:rPr>
              <a:t>12-3 </a:t>
            </a:r>
            <a:r>
              <a:rPr lang="zh-CN" altLang="en-US" sz="4400" b="1" dirty="0" smtClean="0">
                <a:latin typeface="+mn-lt"/>
              </a:rPr>
              <a:t>往复活塞式内燃机的工作原理及实际循环的简化</a:t>
            </a:r>
            <a:br>
              <a:rPr lang="zh-CN" altLang="en-US" sz="4400" b="1" dirty="0" smtClean="0">
                <a:latin typeface="+mn-lt"/>
              </a:rPr>
            </a:br>
            <a:endParaRPr lang="zh-CN" altLang="en-US" sz="4400" b="1" dirty="0" smtClean="0">
              <a:latin typeface="+mn-lt"/>
            </a:endParaRPr>
          </a:p>
        </p:txBody>
      </p:sp>
    </p:spTree>
    <p:extLst>
      <p:ext uri="{BB962C8B-B14F-4D97-AF65-F5344CB8AC3E}">
        <p14:creationId xmlns:p14="http://schemas.microsoft.com/office/powerpoint/2010/main" val="3295448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5121"/>
          <p:cNvSpPr>
            <a:spLocks noGrp="1" noChangeArrowheads="1"/>
          </p:cNvSpPr>
          <p:nvPr>
            <p:ph type="title"/>
          </p:nvPr>
        </p:nvSpPr>
        <p:spPr>
          <a:xfrm>
            <a:off x="395288" y="160338"/>
            <a:ext cx="5792787" cy="914400"/>
          </a:xfrm>
        </p:spPr>
        <p:txBody>
          <a:bodyPr/>
          <a:lstStyle/>
          <a:p>
            <a:pPr algn="l"/>
            <a:r>
              <a:rPr lang="zh-CN" altLang="en-US" sz="3600" b="1" dirty="0" smtClean="0">
                <a:latin typeface="+mn-lt"/>
              </a:rPr>
              <a:t>一、活塞式内燃机分类</a:t>
            </a:r>
          </a:p>
        </p:txBody>
      </p:sp>
      <p:sp>
        <p:nvSpPr>
          <p:cNvPr id="5123" name="内容占位符 5122"/>
          <p:cNvSpPr>
            <a:spLocks noGrp="1" noChangeArrowheads="1"/>
          </p:cNvSpPr>
          <p:nvPr>
            <p:ph idx="1"/>
          </p:nvPr>
        </p:nvSpPr>
        <p:spPr>
          <a:xfrm>
            <a:off x="616383" y="1233776"/>
            <a:ext cx="8042707" cy="2645497"/>
          </a:xfrm>
        </p:spPr>
        <p:txBody>
          <a:bodyPr>
            <a:noAutofit/>
          </a:bodyPr>
          <a:lstStyle/>
          <a:p>
            <a:r>
              <a:rPr lang="zh-CN" altLang="en-US" sz="3000" b="1" dirty="0" smtClean="0"/>
              <a:t>按燃料：</a:t>
            </a:r>
            <a:r>
              <a:rPr lang="zh-CN" altLang="en-US" sz="3000" b="1" dirty="0" smtClean="0">
                <a:solidFill>
                  <a:srgbClr val="FF0000"/>
                </a:solidFill>
              </a:rPr>
              <a:t>煤气机、汽油机和柴油机</a:t>
            </a:r>
            <a:endParaRPr lang="en-US" altLang="zh-CN" sz="3000" b="1" dirty="0" smtClean="0">
              <a:solidFill>
                <a:srgbClr val="FF0000"/>
              </a:solidFill>
            </a:endParaRPr>
          </a:p>
          <a:p>
            <a:r>
              <a:rPr lang="zh-CN" altLang="en-US" sz="3000" b="1" dirty="0" smtClean="0"/>
              <a:t>按点火方式：</a:t>
            </a:r>
            <a:r>
              <a:rPr lang="zh-CN" altLang="en-US" sz="3000" b="1" dirty="0" smtClean="0">
                <a:solidFill>
                  <a:srgbClr val="FF0000"/>
                </a:solidFill>
              </a:rPr>
              <a:t>点燃式和压燃式</a:t>
            </a:r>
            <a:endParaRPr lang="en-US" altLang="zh-CN" sz="3000" b="1" dirty="0" smtClean="0">
              <a:solidFill>
                <a:srgbClr val="FF0000"/>
              </a:solidFill>
            </a:endParaRPr>
          </a:p>
          <a:p>
            <a:pPr>
              <a:spcBef>
                <a:spcPct val="20000"/>
              </a:spcBef>
            </a:pPr>
            <a:r>
              <a:rPr lang="zh-CN" altLang="en-US" sz="3000" b="1" dirty="0" smtClean="0"/>
              <a:t>按</a:t>
            </a:r>
            <a:r>
              <a:rPr lang="zh-CN" altLang="en-US" sz="3000" b="1" dirty="0"/>
              <a:t>冲程：</a:t>
            </a:r>
            <a:r>
              <a:rPr lang="zh-CN" altLang="en-US" sz="3000" b="1" dirty="0">
                <a:solidFill>
                  <a:srgbClr val="FF0000"/>
                </a:solidFill>
              </a:rPr>
              <a:t>四冲程</a:t>
            </a:r>
            <a:r>
              <a:rPr lang="zh-CN" altLang="en-US" sz="3000" b="1" dirty="0"/>
              <a:t>（汽车发动机）</a:t>
            </a:r>
            <a:r>
              <a:rPr lang="zh-CN" altLang="en-US" sz="3000" b="1" dirty="0" smtClean="0">
                <a:solidFill>
                  <a:srgbClr val="FF0000"/>
                </a:solidFill>
              </a:rPr>
              <a:t>和两冲程</a:t>
            </a:r>
            <a:r>
              <a:rPr lang="zh-CN" altLang="en-US" sz="3000" b="1" dirty="0"/>
              <a:t>（</a:t>
            </a:r>
            <a:r>
              <a:rPr lang="zh-CN" altLang="en-US" sz="3000" b="1" dirty="0" smtClean="0"/>
              <a:t>摩托车</a:t>
            </a:r>
            <a:r>
              <a:rPr lang="zh-CN" altLang="en-US" sz="3000" b="1" dirty="0"/>
              <a:t>等轻型交通工具和割草机等园林机械）</a:t>
            </a:r>
          </a:p>
          <a:p>
            <a:endParaRPr lang="zh-CN" altLang="en-US" sz="3000" dirty="0" smtClean="0">
              <a:solidFill>
                <a:srgbClr val="FF0000"/>
              </a:solidFill>
              <a:latin typeface="+mn-lt"/>
            </a:endParaRPr>
          </a:p>
        </p:txBody>
      </p:sp>
      <p:sp>
        <p:nvSpPr>
          <p:cNvPr id="5124" name="矩形 5123"/>
          <p:cNvSpPr>
            <a:spLocks noChangeArrowheads="1"/>
          </p:cNvSpPr>
          <p:nvPr/>
        </p:nvSpPr>
        <p:spPr bwMode="auto">
          <a:xfrm>
            <a:off x="395288" y="4868863"/>
            <a:ext cx="78486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zh-CN" altLang="en-US" sz="2600" dirty="0">
              <a:ea typeface="楷体_GB2312" pitchFamily="49" charset="-122"/>
            </a:endParaRPr>
          </a:p>
        </p:txBody>
      </p:sp>
      <p:sp>
        <p:nvSpPr>
          <p:cNvPr id="3" name="矩形 2"/>
          <p:cNvSpPr/>
          <p:nvPr/>
        </p:nvSpPr>
        <p:spPr>
          <a:xfrm>
            <a:off x="488371" y="3714701"/>
            <a:ext cx="8236529" cy="2308324"/>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0070C0"/>
                </a:solidFill>
              </a:rPr>
              <a:t>点燃式内燃机：吸入燃料和空气的混合物，经压缩后，由火花塞点燃；</a:t>
            </a:r>
            <a:r>
              <a:rPr lang="zh-CN" altLang="en-US" sz="2400" b="1" dirty="0" smtClean="0">
                <a:solidFill>
                  <a:srgbClr val="0070C0"/>
                </a:solidFill>
              </a:rPr>
              <a:t>（煤气机</a:t>
            </a:r>
            <a:r>
              <a:rPr lang="zh-CN" altLang="en-US" sz="2400" b="1" dirty="0">
                <a:solidFill>
                  <a:srgbClr val="0070C0"/>
                </a:solidFill>
              </a:rPr>
              <a:t>、</a:t>
            </a:r>
            <a:r>
              <a:rPr lang="zh-CN" altLang="en-US" sz="2400" b="1" dirty="0" smtClean="0">
                <a:solidFill>
                  <a:srgbClr val="0070C0"/>
                </a:solidFill>
              </a:rPr>
              <a:t>汽油机采用此种）</a:t>
            </a:r>
            <a:endParaRPr lang="en-US" altLang="zh-CN" sz="2400" b="1" dirty="0" smtClean="0">
              <a:solidFill>
                <a:srgbClr val="0070C0"/>
              </a:solidFill>
            </a:endParaRPr>
          </a:p>
          <a:p>
            <a:pPr marL="342900" indent="-342900">
              <a:buFont typeface="Wingdings" panose="05000000000000000000" pitchFamily="2" charset="2"/>
              <a:buChar char="Ø"/>
            </a:pPr>
            <a:r>
              <a:rPr lang="zh-CN" altLang="en-US" sz="2400" b="1" dirty="0">
                <a:solidFill>
                  <a:srgbClr val="0070C0"/>
                </a:solidFill>
              </a:rPr>
              <a:t>压燃式内燃机：吸入的仅仅是空气，经压缩后使空气的温度上升到燃料自燃的温度，再喷入燃料燃烧。（</a:t>
            </a:r>
            <a:r>
              <a:rPr lang="zh-CN" altLang="en-US" sz="2400" b="1" dirty="0" smtClean="0">
                <a:solidFill>
                  <a:srgbClr val="0070C0"/>
                </a:solidFill>
              </a:rPr>
              <a:t>柴油机采用此种）</a:t>
            </a:r>
            <a:endParaRPr lang="zh-CN" altLang="en-US" sz="2400" b="1" dirty="0">
              <a:solidFill>
                <a:srgbClr val="0070C0"/>
              </a:solidFill>
            </a:endParaRPr>
          </a:p>
          <a:p>
            <a:pPr marL="342900" indent="-342900">
              <a:buFont typeface="Wingdings" panose="05000000000000000000" pitchFamily="2" charset="2"/>
              <a:buChar char="Ø"/>
            </a:pPr>
            <a:endParaRPr lang="en-US" altLang="zh-CN" sz="2400" b="1" dirty="0" smtClean="0">
              <a:solidFill>
                <a:srgbClr val="0070C0"/>
              </a:solidFill>
            </a:endParaRPr>
          </a:p>
        </p:txBody>
      </p:sp>
    </p:spTree>
    <p:custDataLst>
      <p:tags r:id="rId1"/>
    </p:custDataLst>
    <p:extLst>
      <p:ext uri="{BB962C8B-B14F-4D97-AF65-F5344CB8AC3E}">
        <p14:creationId xmlns:p14="http://schemas.microsoft.com/office/powerpoint/2010/main" val="36338948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nodePh="1">
                                  <p:stCondLst>
                                    <p:cond delay="0"/>
                                  </p:stCondLst>
                                  <p:endCondLst>
                                    <p:cond evt="begin" delay="0">
                                      <p:tn val="19"/>
                                    </p:cond>
                                  </p:endCondLst>
                                  <p:childTnLst>
                                    <p:set>
                                      <p:cBhvr>
                                        <p:cTn id="20" dur="1" fill="hold">
                                          <p:stCondLst>
                                            <p:cond delay="0"/>
                                          </p:stCondLst>
                                        </p:cTn>
                                        <p:tgtEl>
                                          <p:spTgt spid="5124"/>
                                        </p:tgtEl>
                                        <p:attrNameLst>
                                          <p:attrName>style.visibility</p:attrName>
                                        </p:attrNameLst>
                                      </p:cBhvr>
                                      <p:to>
                                        <p:strVal val="visible"/>
                                      </p:to>
                                    </p:set>
                                    <p:animEffect transition="in" filter="blinds(horizontal)">
                                      <p:cBhvr>
                                        <p:cTn id="21" dur="500"/>
                                        <p:tgtEl>
                                          <p:spTgt spid="512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123">
                                            <p:txEl>
                                              <p:pRg st="2" end="2"/>
                                            </p:txEl>
                                          </p:spTgt>
                                        </p:tgtEl>
                                        <p:attrNameLst>
                                          <p:attrName>style.visibility</p:attrName>
                                        </p:attrNameLst>
                                      </p:cBhvr>
                                      <p:to>
                                        <p:strVal val="visible"/>
                                      </p:to>
                                    </p:set>
                                    <p:animEffect transition="in" filter="blinds(horizontal)">
                                      <p:cBhvr>
                                        <p:cTn id="26"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5124" grpId="0"/>
      <p:bldP spid="3" grpId="0"/>
    </p:bld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93572-034-26C167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549275"/>
            <a:ext cx="8640762" cy="5072063"/>
          </a:xfrm>
          <a:prstGeom prst="rect">
            <a:avLst/>
          </a:prstGeom>
          <a:noFill/>
          <a:extLst>
            <a:ext uri="{909E8E84-426E-40DD-AFC4-6F175D3DCCD1}">
              <a14:hiddenFill xmlns:a14="http://schemas.microsoft.com/office/drawing/2010/main">
                <a:solidFill>
                  <a:srgbClr val="FFFFFF"/>
                </a:solidFill>
              </a14:hiddenFill>
            </a:ext>
          </a:extLst>
        </p:spPr>
      </p:pic>
      <p:sp>
        <p:nvSpPr>
          <p:cNvPr id="130051" name="Rectangle 3"/>
          <p:cNvSpPr>
            <a:spLocks noChangeArrowheads="1"/>
          </p:cNvSpPr>
          <p:nvPr/>
        </p:nvSpPr>
        <p:spPr bwMode="auto">
          <a:xfrm>
            <a:off x="1581151" y="58769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dirty="0"/>
              <a:t>吸气</a:t>
            </a:r>
          </a:p>
        </p:txBody>
      </p:sp>
      <p:sp>
        <p:nvSpPr>
          <p:cNvPr id="130052" name="Rectangle 4"/>
          <p:cNvSpPr>
            <a:spLocks noChangeArrowheads="1"/>
          </p:cNvSpPr>
          <p:nvPr/>
        </p:nvSpPr>
        <p:spPr bwMode="auto">
          <a:xfrm>
            <a:off x="3348038" y="58769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t>压缩</a:t>
            </a:r>
          </a:p>
        </p:txBody>
      </p:sp>
      <p:sp>
        <p:nvSpPr>
          <p:cNvPr id="130053" name="Rectangle 5"/>
          <p:cNvSpPr>
            <a:spLocks noChangeArrowheads="1"/>
          </p:cNvSpPr>
          <p:nvPr/>
        </p:nvSpPr>
        <p:spPr bwMode="auto">
          <a:xfrm>
            <a:off x="5435600" y="5876925"/>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t>燃烧膨胀</a:t>
            </a:r>
          </a:p>
        </p:txBody>
      </p:sp>
      <p:sp>
        <p:nvSpPr>
          <p:cNvPr id="130054" name="Rectangle 6"/>
          <p:cNvSpPr>
            <a:spLocks noChangeArrowheads="1"/>
          </p:cNvSpPr>
          <p:nvPr/>
        </p:nvSpPr>
        <p:spPr bwMode="auto">
          <a:xfrm>
            <a:off x="7339012" y="5876926"/>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t>排气</a:t>
            </a:r>
          </a:p>
        </p:txBody>
      </p:sp>
    </p:spTree>
    <p:extLst>
      <p:ext uri="{BB962C8B-B14F-4D97-AF65-F5344CB8AC3E}">
        <p14:creationId xmlns:p14="http://schemas.microsoft.com/office/powerpoint/2010/main" val="4093600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5121"/>
          <p:cNvSpPr>
            <a:spLocks noGrp="1" noChangeArrowheads="1"/>
          </p:cNvSpPr>
          <p:nvPr>
            <p:ph type="title"/>
          </p:nvPr>
        </p:nvSpPr>
        <p:spPr>
          <a:xfrm>
            <a:off x="363538" y="401638"/>
            <a:ext cx="5792787" cy="914400"/>
          </a:xfrm>
        </p:spPr>
        <p:txBody>
          <a:bodyPr/>
          <a:lstStyle/>
          <a:p>
            <a:pPr algn="l"/>
            <a:r>
              <a:rPr lang="zh-CN" altLang="en-US" sz="3600" b="1" dirty="0" smtClean="0">
                <a:latin typeface="+mn-lt"/>
              </a:rPr>
              <a:t>二、活塞式内燃机工作原理</a:t>
            </a:r>
          </a:p>
        </p:txBody>
      </p:sp>
      <p:sp>
        <p:nvSpPr>
          <p:cNvPr id="51202" name="文本框 3"/>
          <p:cNvSpPr txBox="1">
            <a:spLocks noChangeArrowheads="1"/>
          </p:cNvSpPr>
          <p:nvPr/>
        </p:nvSpPr>
        <p:spPr bwMode="auto">
          <a:xfrm>
            <a:off x="695325" y="2422525"/>
            <a:ext cx="74803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a:t>下面以机械喷射式四冲程柴油机为例，说明内燃机的工作原理。</a:t>
            </a:r>
          </a:p>
        </p:txBody>
      </p:sp>
    </p:spTree>
    <p:extLst>
      <p:ext uri="{BB962C8B-B14F-4D97-AF65-F5344CB8AC3E}">
        <p14:creationId xmlns:p14="http://schemas.microsoft.com/office/powerpoint/2010/main" val="298034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矩形 58377"/>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2226" name="文本框 58374"/>
          <p:cNvSpPr txBox="1">
            <a:spLocks noChangeArrowheads="1"/>
          </p:cNvSpPr>
          <p:nvPr/>
        </p:nvSpPr>
        <p:spPr bwMode="auto">
          <a:xfrm>
            <a:off x="500063" y="6175375"/>
            <a:ext cx="3760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t>四冲程柴油机的示功图</a:t>
            </a:r>
          </a:p>
        </p:txBody>
      </p:sp>
      <p:pic>
        <p:nvPicPr>
          <p:cNvPr id="52227"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58738"/>
            <a:ext cx="4179888"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文本框 58374"/>
          <p:cNvSpPr txBox="1">
            <a:spLocks noChangeArrowheads="1"/>
          </p:cNvSpPr>
          <p:nvPr/>
        </p:nvSpPr>
        <p:spPr bwMode="auto">
          <a:xfrm>
            <a:off x="4430714" y="842963"/>
            <a:ext cx="4214812"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400" b="1" dirty="0">
                <a:solidFill>
                  <a:srgbClr val="FF0000"/>
                </a:solidFill>
              </a:rPr>
              <a:t>0-1</a:t>
            </a:r>
            <a:r>
              <a:rPr lang="zh-CN" altLang="en-US" sz="2400" b="1" dirty="0">
                <a:solidFill>
                  <a:srgbClr val="FF0000"/>
                </a:solidFill>
              </a:rPr>
              <a:t>吸气过程</a:t>
            </a:r>
            <a:r>
              <a:rPr lang="zh-CN" altLang="en-US" sz="2400" b="1" dirty="0"/>
              <a:t>：</a:t>
            </a:r>
          </a:p>
          <a:p>
            <a:pPr eaLnBrk="0" hangingPunct="0"/>
            <a:endParaRPr lang="zh-CN" altLang="en-US" sz="2400" b="1" dirty="0"/>
          </a:p>
          <a:p>
            <a:pPr marL="342900" indent="-342900" eaLnBrk="0" hangingPunct="0">
              <a:buFont typeface="Arial" panose="020B0604020202020204" pitchFamily="34" charset="0"/>
              <a:buChar char="•"/>
            </a:pPr>
            <a:r>
              <a:rPr lang="zh-CN" altLang="en-US" sz="2400" b="1" dirty="0"/>
              <a:t>开启进气阀，活塞自左止点向右移动至右止点，空气被吸入</a:t>
            </a:r>
            <a:r>
              <a:rPr lang="zh-CN" altLang="en-US" sz="2400" b="1" dirty="0" smtClean="0"/>
              <a:t>气缸</a:t>
            </a:r>
            <a:endParaRPr lang="zh-CN" altLang="en-US" sz="2400" b="1" dirty="0"/>
          </a:p>
          <a:p>
            <a:pPr marL="342900" indent="-342900" eaLnBrk="0" hangingPunct="0">
              <a:buFont typeface="Arial" panose="020B0604020202020204" pitchFamily="34" charset="0"/>
              <a:buChar char="•"/>
            </a:pPr>
            <a:r>
              <a:rPr lang="zh-CN" altLang="en-US" sz="2400" b="1" dirty="0"/>
              <a:t>由于阀门的节流作用，进入气缸的气体压力略低于</a:t>
            </a:r>
            <a:r>
              <a:rPr lang="zh-CN" altLang="en-US" sz="2400" b="1" dirty="0" smtClean="0"/>
              <a:t>大气压力</a:t>
            </a:r>
            <a:endParaRPr lang="zh-CN" altLang="en-US" sz="2400" b="1" dirty="0"/>
          </a:p>
          <a:p>
            <a:pPr marL="342900" indent="-342900" eaLnBrk="0" hangingPunct="0">
              <a:buFont typeface="Arial" panose="020B0604020202020204" pitchFamily="34" charset="0"/>
              <a:buChar char="•"/>
            </a:pPr>
            <a:r>
              <a:rPr lang="zh-CN" altLang="en-US" sz="2400" b="1" dirty="0"/>
              <a:t>在吸气冲程中，缸内气体的数量增加，但其热力状态并没有</a:t>
            </a:r>
            <a:r>
              <a:rPr lang="zh-CN" altLang="en-US" sz="2400" b="1" dirty="0" smtClean="0"/>
              <a:t>变化</a:t>
            </a:r>
            <a:endParaRPr lang="zh-CN" altLang="en-US" sz="2400" b="1" dirty="0"/>
          </a:p>
          <a:p>
            <a:pPr marL="342900" indent="-342900" eaLnBrk="0" hangingPunct="0">
              <a:buFont typeface="Arial" panose="020B0604020202020204" pitchFamily="34" charset="0"/>
              <a:buChar char="•"/>
            </a:pPr>
            <a:r>
              <a:rPr lang="zh-CN" altLang="en-US" sz="2400" b="1" dirty="0"/>
              <a:t>当活塞到达右止点后，进气阀关闭，吸气过程结束</a:t>
            </a:r>
          </a:p>
        </p:txBody>
      </p:sp>
    </p:spTree>
    <p:extLst>
      <p:ext uri="{BB962C8B-B14F-4D97-AF65-F5344CB8AC3E}">
        <p14:creationId xmlns:p14="http://schemas.microsoft.com/office/powerpoint/2010/main" val="1711206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58377"/>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3250" name="文本框 58374"/>
          <p:cNvSpPr txBox="1">
            <a:spLocks noChangeArrowheads="1"/>
          </p:cNvSpPr>
          <p:nvPr/>
        </p:nvSpPr>
        <p:spPr bwMode="auto">
          <a:xfrm>
            <a:off x="460375" y="6259513"/>
            <a:ext cx="3760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t>四冲程柴油机的示功图</a:t>
            </a:r>
          </a:p>
        </p:txBody>
      </p:sp>
      <p:pic>
        <p:nvPicPr>
          <p:cNvPr id="53251"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49" y="196418"/>
            <a:ext cx="4181475"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文本框 58374"/>
          <p:cNvSpPr txBox="1">
            <a:spLocks noChangeArrowheads="1"/>
          </p:cNvSpPr>
          <p:nvPr/>
        </p:nvSpPr>
        <p:spPr bwMode="auto">
          <a:xfrm>
            <a:off x="4482306" y="866775"/>
            <a:ext cx="444052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400" b="1" dirty="0">
                <a:solidFill>
                  <a:srgbClr val="FF0000"/>
                </a:solidFill>
              </a:rPr>
              <a:t>1-2</a:t>
            </a:r>
            <a:r>
              <a:rPr lang="zh-CN" altLang="en-US" sz="2400" b="1" dirty="0">
                <a:solidFill>
                  <a:srgbClr val="FF0000"/>
                </a:solidFill>
              </a:rPr>
              <a:t>压缩过程</a:t>
            </a:r>
            <a:r>
              <a:rPr lang="zh-CN" altLang="en-US" sz="2400" b="1" dirty="0"/>
              <a:t>：</a:t>
            </a:r>
          </a:p>
          <a:p>
            <a:pPr eaLnBrk="0" hangingPunct="0"/>
            <a:endParaRPr lang="zh-CN" altLang="en-US" sz="2400" b="1" dirty="0"/>
          </a:p>
          <a:p>
            <a:pPr marL="342900" indent="-342900" eaLnBrk="0" hangingPunct="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进气阀关闭后，活塞回行，自右止点移向左止点，消耗外功对空气压缩</a:t>
            </a:r>
            <a:r>
              <a:rPr lang="zh-CN" altLang="en-US" sz="2400" b="1" dirty="0" smtClean="0">
                <a:latin typeface="Times New Roman" panose="02020603050405020304" pitchFamily="18" charset="0"/>
                <a:cs typeface="Times New Roman" panose="02020603050405020304" pitchFamily="18" charset="0"/>
              </a:rPr>
              <a:t>升压</a:t>
            </a:r>
            <a:endParaRPr lang="zh-CN" altLang="en-US" sz="2400" b="1" dirty="0">
              <a:latin typeface="Times New Roman" panose="02020603050405020304" pitchFamily="18" charset="0"/>
              <a:cs typeface="Times New Roman" panose="02020603050405020304" pitchFamily="18" charset="0"/>
            </a:endParaRPr>
          </a:p>
          <a:p>
            <a:pPr marL="342900" indent="-342900" eaLnBrk="0" hangingPunct="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压缩终止时，气体的温度应超过柴油的自燃温度（约335℃），一般为600～700</a:t>
            </a:r>
            <a:r>
              <a:rPr lang="zh-CN" altLang="en-US" sz="2400" b="1" dirty="0" smtClean="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marL="342900" indent="-342900" eaLnBrk="0" hangingPunct="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缸壁夹层中有水冷却，空气与水进行热量交换，所以空气的压缩为放热压缩，过程的平均多变指数n=1.34～1.37</a:t>
            </a:r>
          </a:p>
        </p:txBody>
      </p:sp>
    </p:spTree>
    <p:extLst>
      <p:ext uri="{BB962C8B-B14F-4D97-AF65-F5344CB8AC3E}">
        <p14:creationId xmlns:p14="http://schemas.microsoft.com/office/powerpoint/2010/main" val="1404304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矩形 58377"/>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4274" name="文本框 58374"/>
          <p:cNvSpPr txBox="1">
            <a:spLocks noChangeArrowheads="1"/>
          </p:cNvSpPr>
          <p:nvPr/>
        </p:nvSpPr>
        <p:spPr bwMode="auto">
          <a:xfrm>
            <a:off x="522288" y="6259513"/>
            <a:ext cx="3760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t>四冲程柴油机的示功图</a:t>
            </a:r>
          </a:p>
        </p:txBody>
      </p:sp>
      <p:pic>
        <p:nvPicPr>
          <p:cNvPr id="5427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157163"/>
            <a:ext cx="4179888"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文本框 58374"/>
          <p:cNvSpPr txBox="1">
            <a:spLocks noChangeArrowheads="1"/>
          </p:cNvSpPr>
          <p:nvPr/>
        </p:nvSpPr>
        <p:spPr bwMode="auto">
          <a:xfrm>
            <a:off x="4537075" y="349250"/>
            <a:ext cx="4062413"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400" b="1" dirty="0">
                <a:solidFill>
                  <a:srgbClr val="FF0000"/>
                </a:solidFill>
              </a:rPr>
              <a:t>2-3-4</a:t>
            </a:r>
            <a:r>
              <a:rPr lang="zh-CN" altLang="en-US" sz="2400" b="1" dirty="0">
                <a:solidFill>
                  <a:srgbClr val="FF0000"/>
                </a:solidFill>
              </a:rPr>
              <a:t>燃烧过程</a:t>
            </a:r>
            <a:r>
              <a:rPr lang="zh-CN" altLang="en-US" sz="2400" b="1" dirty="0"/>
              <a:t>：</a:t>
            </a:r>
          </a:p>
          <a:p>
            <a:pPr eaLnBrk="0" hangingPunct="0"/>
            <a:endParaRPr lang="zh-CN" altLang="en-US" sz="2400" b="1" dirty="0"/>
          </a:p>
          <a:p>
            <a:pPr marL="342900" indent="-342900" eaLnBrk="0" hangingPunct="0">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通常空气压缩终止前，一部分柴油由高压油泵提前喷入气缸，柴油遇高温空气后迅速</a:t>
            </a:r>
            <a:r>
              <a:rPr lang="zh-CN" altLang="en-US" sz="2200" b="1" dirty="0" smtClean="0">
                <a:latin typeface="Times New Roman" panose="02020603050405020304" pitchFamily="18" charset="0"/>
                <a:cs typeface="Times New Roman" panose="02020603050405020304" pitchFamily="18" charset="0"/>
              </a:rPr>
              <a:t>自燃</a:t>
            </a:r>
            <a:endParaRPr lang="zh-CN" altLang="en-US" sz="2200" b="1" dirty="0">
              <a:latin typeface="Times New Roman" panose="02020603050405020304" pitchFamily="18" charset="0"/>
              <a:cs typeface="Times New Roman" panose="02020603050405020304" pitchFamily="18" charset="0"/>
            </a:endParaRPr>
          </a:p>
          <a:p>
            <a:pPr marL="342900" indent="-342900" eaLnBrk="0" hangingPunct="0">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由于燃烧过程十分迅猛，燃气压力迅速升至4.5～8.0 MPa，而活塞在左止点附近位置变动很少，燃烧几乎在定容条件下进行（2-3段）</a:t>
            </a:r>
          </a:p>
          <a:p>
            <a:pPr marL="342900" indent="-342900" eaLnBrk="0" hangingPunct="0">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活塞到达左止点3后，又开始右行，此时燃烧继续进行，缸内气体的压力变化很少，所以3-4段接近于定压过程。燃烧终止（点4）时燃气温度可高达1700～1800</a:t>
            </a:r>
            <a:r>
              <a:rPr lang="zh-CN" altLang="en-US" sz="2200" b="1" dirty="0" smtClean="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0471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58377"/>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5298" name="文本框 58374"/>
          <p:cNvSpPr txBox="1">
            <a:spLocks noChangeArrowheads="1"/>
          </p:cNvSpPr>
          <p:nvPr/>
        </p:nvSpPr>
        <p:spPr bwMode="auto">
          <a:xfrm>
            <a:off x="433388" y="6221413"/>
            <a:ext cx="3760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t>四冲程柴油机的示功图</a:t>
            </a:r>
          </a:p>
        </p:txBody>
      </p:sp>
      <p:pic>
        <p:nvPicPr>
          <p:cNvPr id="55299"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838" y="138113"/>
            <a:ext cx="4181475"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文本框 58374"/>
          <p:cNvSpPr txBox="1">
            <a:spLocks noChangeArrowheads="1"/>
          </p:cNvSpPr>
          <p:nvPr/>
        </p:nvSpPr>
        <p:spPr bwMode="auto">
          <a:xfrm>
            <a:off x="4484688" y="681038"/>
            <a:ext cx="41021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400" b="1" dirty="0">
                <a:solidFill>
                  <a:srgbClr val="FF0000"/>
                </a:solidFill>
              </a:rPr>
              <a:t>4-5</a:t>
            </a:r>
            <a:r>
              <a:rPr lang="zh-CN" altLang="en-US" sz="2400" b="1" dirty="0">
                <a:solidFill>
                  <a:srgbClr val="FF0000"/>
                </a:solidFill>
              </a:rPr>
              <a:t>膨胀过程</a:t>
            </a:r>
            <a:r>
              <a:rPr lang="zh-CN" altLang="en-US" sz="2400" b="1" dirty="0"/>
              <a:t>：</a:t>
            </a:r>
          </a:p>
          <a:p>
            <a:pPr eaLnBrk="0" hangingPunct="0"/>
            <a:endParaRPr lang="zh-CN" altLang="en-US" sz="2400" b="1" dirty="0"/>
          </a:p>
          <a:p>
            <a:pPr marL="342900" indent="-342900" eaLnBrk="0" hangingPunct="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活塞自左向右移动，高温高压燃气膨胀</a:t>
            </a:r>
            <a:r>
              <a:rPr lang="zh-CN" altLang="en-US" sz="2400" b="1" dirty="0" smtClean="0">
                <a:latin typeface="Times New Roman" panose="02020603050405020304" pitchFamily="18" charset="0"/>
                <a:cs typeface="Times New Roman" panose="02020603050405020304" pitchFamily="18" charset="0"/>
              </a:rPr>
              <a:t>作功</a:t>
            </a:r>
            <a:endParaRPr lang="en-US" altLang="zh-CN" sz="2400" b="1" dirty="0" smtClean="0">
              <a:latin typeface="Times New Roman" panose="02020603050405020304" pitchFamily="18" charset="0"/>
              <a:cs typeface="Times New Roman" panose="02020603050405020304" pitchFamily="18" charset="0"/>
            </a:endParaRPr>
          </a:p>
          <a:p>
            <a:pPr marL="342900" indent="-342900" eaLnBrk="0" hangingPunct="0">
              <a:buFont typeface="Arial" panose="020B0604020202020204" pitchFamily="34" charset="0"/>
              <a:buChar char="•"/>
            </a:pPr>
            <a:r>
              <a:rPr lang="zh-CN" altLang="en-US" sz="2400" b="1" dirty="0" smtClean="0">
                <a:latin typeface="Times New Roman" panose="02020603050405020304" pitchFamily="18" charset="0"/>
                <a:cs typeface="Times New Roman" panose="02020603050405020304" pitchFamily="18" charset="0"/>
              </a:rPr>
              <a:t>到点</a:t>
            </a:r>
            <a:r>
              <a:rPr lang="zh-CN" altLang="en-US" sz="2400" b="1" dirty="0">
                <a:latin typeface="Times New Roman" panose="02020603050405020304" pitchFamily="18" charset="0"/>
                <a:cs typeface="Times New Roman" panose="02020603050405020304" pitchFamily="18" charset="0"/>
              </a:rPr>
              <a:t>5时缸内气体的压力一般降为0.3～0.5 </a:t>
            </a:r>
            <a:r>
              <a:rPr lang="zh-CN" altLang="en-US" sz="2400" b="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a</a:t>
            </a:r>
            <a:endParaRPr lang="en-US" altLang="zh-CN" sz="2400" b="1" dirty="0" smtClean="0">
              <a:latin typeface="Times New Roman" panose="02020603050405020304" pitchFamily="18" charset="0"/>
              <a:cs typeface="Times New Roman" panose="02020603050405020304" pitchFamily="18" charset="0"/>
            </a:endParaRPr>
          </a:p>
          <a:p>
            <a:pPr marL="342900" indent="-342900" eaLnBrk="0" hangingPunct="0">
              <a:buFont typeface="Arial" panose="020B0604020202020204" pitchFamily="34" charset="0"/>
              <a:buChar char="•"/>
            </a:pPr>
            <a:r>
              <a:rPr lang="zh-CN" altLang="en-US" sz="2400" b="1" dirty="0" smtClean="0">
                <a:latin typeface="Times New Roman" panose="02020603050405020304" pitchFamily="18" charset="0"/>
                <a:cs typeface="Times New Roman" panose="02020603050405020304" pitchFamily="18" charset="0"/>
              </a:rPr>
              <a:t>通常</a:t>
            </a:r>
            <a:r>
              <a:rPr lang="zh-CN" altLang="en-US" sz="2400" b="1" dirty="0">
                <a:latin typeface="Times New Roman" panose="02020603050405020304" pitchFamily="18" charset="0"/>
                <a:cs typeface="Times New Roman" panose="02020603050405020304" pitchFamily="18" charset="0"/>
              </a:rPr>
              <a:t>情况下，在膨胀过程中，气体还同时向冷却水放热，所以该过程也不完全是绝热的</a:t>
            </a:r>
          </a:p>
        </p:txBody>
      </p:sp>
    </p:spTree>
    <p:extLst>
      <p:ext uri="{BB962C8B-B14F-4D97-AF65-F5344CB8AC3E}">
        <p14:creationId xmlns:p14="http://schemas.microsoft.com/office/powerpoint/2010/main" val="3409588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3"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312738"/>
            <a:ext cx="4179888"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文本框 58374"/>
          <p:cNvSpPr txBox="1">
            <a:spLocks noChangeArrowheads="1"/>
          </p:cNvSpPr>
          <p:nvPr/>
        </p:nvSpPr>
        <p:spPr bwMode="auto">
          <a:xfrm>
            <a:off x="4551217" y="598342"/>
            <a:ext cx="4447309"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400" b="1" dirty="0">
                <a:solidFill>
                  <a:srgbClr val="FF0000"/>
                </a:solidFill>
              </a:rPr>
              <a:t>5-6-0</a:t>
            </a:r>
            <a:r>
              <a:rPr lang="zh-CN" altLang="en-US" sz="2400" b="1" dirty="0">
                <a:solidFill>
                  <a:srgbClr val="FF0000"/>
                </a:solidFill>
              </a:rPr>
              <a:t>排气过程</a:t>
            </a:r>
            <a:r>
              <a:rPr lang="zh-CN" altLang="en-US" sz="2400" b="1" dirty="0" smtClean="0"/>
              <a:t>：</a:t>
            </a:r>
            <a:endParaRPr lang="en-US" altLang="zh-CN" sz="2400" b="1" dirty="0" smtClean="0"/>
          </a:p>
          <a:p>
            <a:pPr eaLnBrk="0" hangingPunct="0"/>
            <a:endParaRPr lang="zh-CN" altLang="en-US" sz="2400" b="1" dirty="0"/>
          </a:p>
          <a:p>
            <a:pPr marL="342900" indent="-342900" eaLnBrk="0" hangingPunct="0">
              <a:buFont typeface="Arial" panose="020B0604020202020204" pitchFamily="34" charset="0"/>
              <a:buChar char="•"/>
            </a:pPr>
            <a:r>
              <a:rPr lang="zh-CN" altLang="en-US" sz="2400" b="1" dirty="0"/>
              <a:t>膨胀过程结束后（活塞至点5，位于右止点附近），排气阀开启，部分废气排入大气，缸内压力骤减到略高于大气压力（5-6段）。到达点6后，活塞向左返行，将其余废气排至大气中（6-0段</a:t>
            </a:r>
            <a:r>
              <a:rPr lang="zh-CN" altLang="en-US" sz="2400" b="1" dirty="0" smtClean="0"/>
              <a:t>）</a:t>
            </a:r>
            <a:endParaRPr lang="zh-CN" altLang="en-US" sz="2400" b="1" dirty="0"/>
          </a:p>
        </p:txBody>
      </p:sp>
      <p:sp>
        <p:nvSpPr>
          <p:cNvPr id="56326" name="文本框 58374"/>
          <p:cNvSpPr txBox="1">
            <a:spLocks noChangeArrowheads="1"/>
          </p:cNvSpPr>
          <p:nvPr/>
        </p:nvSpPr>
        <p:spPr bwMode="auto">
          <a:xfrm>
            <a:off x="433388" y="6221413"/>
            <a:ext cx="3760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t>四冲程柴油机的示功图</a:t>
            </a:r>
          </a:p>
        </p:txBody>
      </p:sp>
      <p:sp>
        <p:nvSpPr>
          <p:cNvPr id="3" name="矩形 2"/>
          <p:cNvSpPr/>
          <p:nvPr/>
        </p:nvSpPr>
        <p:spPr>
          <a:xfrm>
            <a:off x="4561319" y="4900090"/>
            <a:ext cx="4361008" cy="1200329"/>
          </a:xfrm>
          <a:prstGeom prst="rect">
            <a:avLst/>
          </a:prstGeom>
        </p:spPr>
        <p:txBody>
          <a:bodyPr wrap="square">
            <a:spAutoFit/>
          </a:bodyPr>
          <a:lstStyle/>
          <a:p>
            <a:pPr lvl="0" eaLnBrk="0" hangingPunct="0"/>
            <a:r>
              <a:rPr lang="zh-CN" altLang="en-US" sz="2400" b="1" dirty="0">
                <a:solidFill>
                  <a:srgbClr val="0070C0"/>
                </a:solidFill>
              </a:rPr>
              <a:t>经历以上5个过程后，活塞总计往返移动两次（四个冲程），完成一个工作循环。</a:t>
            </a:r>
          </a:p>
        </p:txBody>
      </p:sp>
    </p:spTree>
    <p:extLst>
      <p:ext uri="{BB962C8B-B14F-4D97-AF65-F5344CB8AC3E}">
        <p14:creationId xmlns:p14="http://schemas.microsoft.com/office/powerpoint/2010/main" val="4282370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内容占位符 244738"/>
          <p:cNvSpPr>
            <a:spLocks noGrp="1" noChangeArrowheads="1"/>
          </p:cNvSpPr>
          <p:nvPr/>
        </p:nvSpPr>
        <p:spPr bwMode="auto">
          <a:xfrm>
            <a:off x="457200" y="2352675"/>
            <a:ext cx="82296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800" b="1" dirty="0">
                <a:latin typeface="黑体" panose="02010609060101010101" pitchFamily="49" charset="-122"/>
                <a:ea typeface="黑体" panose="02010609060101010101" pitchFamily="49" charset="-122"/>
              </a:rPr>
              <a:t>往复活塞式内燃机中，工质在状态变化过程中发生了化学反应，燃气的</a:t>
            </a:r>
            <a:r>
              <a:rPr lang="zh-CN" altLang="en-US" sz="2800" b="1" dirty="0">
                <a:solidFill>
                  <a:srgbClr val="FF0000"/>
                </a:solidFill>
                <a:latin typeface="黑体" panose="02010609060101010101" pitchFamily="49" charset="-122"/>
                <a:ea typeface="黑体" panose="02010609060101010101" pitchFamily="49" charset="-122"/>
              </a:rPr>
              <a:t>质量和成分发生了变化</a:t>
            </a:r>
            <a:endParaRPr lang="zh-CN" altLang="en-US" sz="2800" b="1" dirty="0">
              <a:latin typeface="黑体" panose="02010609060101010101" pitchFamily="49" charset="-122"/>
              <a:ea typeface="黑体" panose="02010609060101010101" pitchFamily="49" charset="-122"/>
            </a:endParaRPr>
          </a:p>
          <a:p>
            <a:pPr>
              <a:spcBef>
                <a:spcPct val="20000"/>
              </a:spcBef>
              <a:buFontTx/>
              <a:buChar char="•"/>
            </a:pPr>
            <a:r>
              <a:rPr lang="zh-CN" altLang="en-US" sz="2800" b="1" dirty="0">
                <a:latin typeface="黑体" panose="02010609060101010101" pitchFamily="49" charset="-122"/>
                <a:ea typeface="黑体" panose="02010609060101010101" pitchFamily="49" charset="-122"/>
              </a:rPr>
              <a:t>吸入的空气经过和燃料的混合、燃烧，燃气膨胀作功后以废气的形式排入大气，下一循环要另行吸入新鲜空气，这说明工质经历的是</a:t>
            </a:r>
            <a:r>
              <a:rPr lang="zh-CN" altLang="en-US" sz="2800" b="1" dirty="0">
                <a:solidFill>
                  <a:srgbClr val="FF0000"/>
                </a:solidFill>
                <a:latin typeface="黑体" panose="02010609060101010101" pitchFamily="49" charset="-122"/>
                <a:ea typeface="黑体" panose="02010609060101010101" pitchFamily="49" charset="-122"/>
              </a:rPr>
              <a:t>开式循环</a:t>
            </a:r>
            <a:r>
              <a:rPr lang="zh-CN" altLang="en-US" sz="2800" b="1" dirty="0">
                <a:latin typeface="黑体" panose="02010609060101010101" pitchFamily="49" charset="-122"/>
                <a:ea typeface="黑体" panose="02010609060101010101" pitchFamily="49" charset="-122"/>
              </a:rPr>
              <a:t>而非闭式循环</a:t>
            </a:r>
          </a:p>
        </p:txBody>
      </p:sp>
      <p:sp>
        <p:nvSpPr>
          <p:cNvPr id="57346" name="矩形 120836"/>
          <p:cNvSpPr>
            <a:spLocks noChangeArrowheads="1"/>
          </p:cNvSpPr>
          <p:nvPr/>
        </p:nvSpPr>
        <p:spPr bwMode="auto">
          <a:xfrm>
            <a:off x="923925" y="1363663"/>
            <a:ext cx="48173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b="1" dirty="0">
                <a:latin typeface="Times New Roman" panose="02020603050405020304" pitchFamily="18" charset="0"/>
                <a:ea typeface="黑体" panose="02010609060101010101" pitchFamily="49" charset="-122"/>
              </a:rPr>
              <a:t>活塞式内燃机循环特点</a:t>
            </a:r>
          </a:p>
        </p:txBody>
      </p:sp>
      <p:sp>
        <p:nvSpPr>
          <p:cNvPr id="57347" name="标题 5121"/>
          <p:cNvSpPr>
            <a:spLocks noGrp="1" noChangeArrowheads="1"/>
          </p:cNvSpPr>
          <p:nvPr/>
        </p:nvSpPr>
        <p:spPr bwMode="auto">
          <a:xfrm>
            <a:off x="363538" y="401638"/>
            <a:ext cx="57927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dirty="0"/>
              <a:t>三、实际过程的抽象和简化</a:t>
            </a:r>
          </a:p>
        </p:txBody>
      </p:sp>
    </p:spTree>
    <p:custDataLst>
      <p:tags r:id="rId1"/>
    </p:custDataLst>
    <p:extLst>
      <p:ext uri="{BB962C8B-B14F-4D97-AF65-F5344CB8AC3E}">
        <p14:creationId xmlns:p14="http://schemas.microsoft.com/office/powerpoint/2010/main" val="3385298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Effect transition="in" filter="blinds(horizontal)">
                                      <p:cBhvr>
                                        <p:cTn id="7" dur="500"/>
                                        <p:tgtEl>
                                          <p:spTgt spid="244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4739">
                                            <p:txEl>
                                              <p:pRg st="1" end="1"/>
                                            </p:txEl>
                                          </p:spTgt>
                                        </p:tgtEl>
                                        <p:attrNameLst>
                                          <p:attrName>style.visibility</p:attrName>
                                        </p:attrNameLst>
                                      </p:cBhvr>
                                      <p:to>
                                        <p:strVal val="visible"/>
                                      </p:to>
                                    </p:set>
                                    <p:animEffect transition="in" filter="blinds(horizontal)">
                                      <p:cBhvr>
                                        <p:cTn id="12" dur="500"/>
                                        <p:tgtEl>
                                          <p:spTgt spid="2447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文本框 1"/>
          <p:cNvSpPr txBox="1">
            <a:spLocks noChangeArrowheads="1"/>
          </p:cNvSpPr>
          <p:nvPr/>
        </p:nvSpPr>
        <p:spPr bwMode="auto">
          <a:xfrm>
            <a:off x="598488" y="852488"/>
            <a:ext cx="75120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t> </a:t>
            </a:r>
            <a:r>
              <a:rPr lang="en-US" altLang="zh-CN" sz="2800" b="1" dirty="0" smtClean="0"/>
              <a:t>   </a:t>
            </a:r>
            <a:r>
              <a:rPr lang="zh-CN" altLang="en-US" sz="2800" b="1" dirty="0" smtClean="0"/>
              <a:t>在进行热力学分析时，结合</a:t>
            </a:r>
            <a:r>
              <a:rPr lang="en-US" altLang="zh-CN" sz="2800" b="1" dirty="0" smtClean="0"/>
              <a:t>12-1</a:t>
            </a:r>
            <a:r>
              <a:rPr lang="zh-CN" altLang="en-US" sz="2800" b="1" dirty="0" smtClean="0"/>
              <a:t>节所介绍的分析</a:t>
            </a:r>
            <a:r>
              <a:rPr lang="zh-CN" altLang="en-US" sz="2800" b="1" dirty="0"/>
              <a:t>循环时常用的简化</a:t>
            </a:r>
            <a:r>
              <a:rPr lang="zh-CN" altLang="en-US" sz="2800" b="1" dirty="0" smtClean="0"/>
              <a:t>以及</a:t>
            </a:r>
            <a:r>
              <a:rPr lang="en-US" altLang="zh-CN" sz="2800" b="1" dirty="0" smtClean="0"/>
              <a:t>12-2</a:t>
            </a:r>
            <a:r>
              <a:rPr lang="zh-CN" altLang="en-US" sz="2800" b="1" dirty="0" smtClean="0"/>
              <a:t>节所介绍的空气</a:t>
            </a:r>
            <a:r>
              <a:rPr lang="zh-CN" altLang="en-US" sz="2800" b="1" dirty="0"/>
              <a:t>标准假设，可将上述</a:t>
            </a:r>
            <a:r>
              <a:rPr lang="zh-CN" altLang="en-US" sz="2800" b="1" dirty="0">
                <a:solidFill>
                  <a:srgbClr val="FF0000"/>
                </a:solidFill>
              </a:rPr>
              <a:t>有吸气、压缩、燃烧、膨胀和排气的开口热力过程理想化为定量工质（定比热容的理想气体）的闭式循环</a:t>
            </a:r>
            <a:r>
              <a:rPr lang="zh-CN" altLang="en-US" sz="2800" b="1" dirty="0"/>
              <a:t>，并按照不同燃烧方式归纳为三类理想循环</a:t>
            </a:r>
          </a:p>
        </p:txBody>
      </p:sp>
      <p:sp>
        <p:nvSpPr>
          <p:cNvPr id="58370" name="文本框 2"/>
          <p:cNvSpPr txBox="1">
            <a:spLocks noChangeArrowheads="1"/>
          </p:cNvSpPr>
          <p:nvPr/>
        </p:nvSpPr>
        <p:spPr bwMode="auto">
          <a:xfrm>
            <a:off x="1660525" y="3495675"/>
            <a:ext cx="45815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t>1</a:t>
            </a:r>
            <a:r>
              <a:rPr lang="zh-CN" altLang="en-US" sz="2800" b="1"/>
              <a:t>、混合加热理想循环</a:t>
            </a:r>
          </a:p>
          <a:p>
            <a:r>
              <a:rPr lang="en-US" altLang="zh-CN" sz="2800" b="1"/>
              <a:t>2</a:t>
            </a:r>
            <a:r>
              <a:rPr lang="zh-CN" altLang="en-US" sz="2800" b="1"/>
              <a:t>、定压加热理想循环</a:t>
            </a:r>
          </a:p>
          <a:p>
            <a:r>
              <a:rPr lang="en-US" altLang="zh-CN" sz="2800" b="1"/>
              <a:t>3</a:t>
            </a:r>
            <a:r>
              <a:rPr lang="zh-CN" altLang="en-US" sz="2800" b="1"/>
              <a:t>、定容加热理想循环</a:t>
            </a:r>
          </a:p>
        </p:txBody>
      </p:sp>
    </p:spTree>
    <p:extLst>
      <p:ext uri="{BB962C8B-B14F-4D97-AF65-F5344CB8AC3E}">
        <p14:creationId xmlns:p14="http://schemas.microsoft.com/office/powerpoint/2010/main" val="3612559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矩形 128010"/>
          <p:cNvSpPr>
            <a:spLocks noChangeArrowheads="1"/>
          </p:cNvSpPr>
          <p:nvPr/>
        </p:nvSpPr>
        <p:spPr bwMode="auto">
          <a:xfrm>
            <a:off x="3133725"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9402" name="矩形 128011"/>
          <p:cNvSpPr>
            <a:spLocks noChangeArrowheads="1"/>
          </p:cNvSpPr>
          <p:nvPr/>
        </p:nvSpPr>
        <p:spPr bwMode="auto">
          <a:xfrm>
            <a:off x="3133725" y="1952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9403" name="矩形 128012"/>
          <p:cNvSpPr>
            <a:spLocks noChangeArrowheads="1"/>
          </p:cNvSpPr>
          <p:nvPr/>
        </p:nvSpPr>
        <p:spPr bwMode="auto">
          <a:xfrm>
            <a:off x="3205163" y="2057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59404" name="文本框 128014"/>
          <p:cNvSpPr txBox="1">
            <a:spLocks noChangeArrowheads="1"/>
          </p:cNvSpPr>
          <p:nvPr/>
        </p:nvSpPr>
        <p:spPr bwMode="auto">
          <a:xfrm>
            <a:off x="1620838" y="250825"/>
            <a:ext cx="5060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latin typeface="Times New Roman" panose="02020603050405020304" pitchFamily="18" charset="0"/>
              </a:rPr>
              <a:t>实际工作循环的抽象与简化</a:t>
            </a:r>
          </a:p>
        </p:txBody>
      </p:sp>
      <p:pic>
        <p:nvPicPr>
          <p:cNvPr id="5940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676" y="1174750"/>
            <a:ext cx="3400425"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888076" y="1775936"/>
            <a:ext cx="5179724" cy="1938992"/>
          </a:xfrm>
          <a:prstGeom prst="rect">
            <a:avLst/>
          </a:prstGeom>
        </p:spPr>
        <p:txBody>
          <a:bodyPr wrap="square">
            <a:spAutoFit/>
          </a:bodyPr>
          <a:lstStyle/>
          <a:p>
            <a:pPr marL="285750" indent="-285750">
              <a:buFont typeface="Arial" panose="020B0604020202020204" pitchFamily="34" charset="0"/>
              <a:buChar char="•"/>
            </a:pPr>
            <a:r>
              <a:rPr lang="zh-CN" altLang="en-US" sz="2400" b="1" dirty="0"/>
              <a:t>吸、排气</a:t>
            </a:r>
            <a:r>
              <a:rPr lang="zh-CN" altLang="en-US" sz="2400" b="1" dirty="0" smtClean="0"/>
              <a:t>线</a:t>
            </a:r>
            <a:r>
              <a:rPr lang="zh-CN" altLang="en-US" sz="2400" b="1" dirty="0" smtClean="0">
                <a:latin typeface="微软雅黑" panose="020B0503020204020204" pitchFamily="34" charset="-122"/>
                <a:ea typeface="微软雅黑" panose="020B0503020204020204" pitchFamily="34" charset="-122"/>
              </a:rPr>
              <a:t>→</a:t>
            </a:r>
            <a:r>
              <a:rPr lang="zh-CN" altLang="en-US" sz="2400" b="1" dirty="0" smtClean="0"/>
              <a:t>重合</a:t>
            </a:r>
            <a:r>
              <a:rPr lang="zh-CN" altLang="en-US" sz="2400" b="1" dirty="0"/>
              <a:t>、忽略</a:t>
            </a:r>
          </a:p>
          <a:p>
            <a:pPr marL="285750" indent="-285750">
              <a:buFont typeface="Arial" panose="020B0604020202020204" pitchFamily="34" charset="0"/>
              <a:buChar char="•"/>
            </a:pPr>
            <a:r>
              <a:rPr lang="zh-CN" altLang="en-US" sz="2400" b="1" dirty="0" smtClean="0"/>
              <a:t>燃烧</a:t>
            </a:r>
            <a:r>
              <a:rPr lang="zh-CN" altLang="en-US" sz="2400" b="1" dirty="0">
                <a:latin typeface="微软雅黑" panose="020B0503020204020204" pitchFamily="34" charset="-122"/>
                <a:ea typeface="微软雅黑" panose="020B0503020204020204" pitchFamily="34" charset="-122"/>
              </a:rPr>
              <a:t>→ </a:t>
            </a:r>
            <a:r>
              <a:rPr lang="zh-CN" altLang="en-US" sz="2400" b="1" dirty="0" smtClean="0"/>
              <a:t>2</a:t>
            </a:r>
            <a:r>
              <a:rPr lang="zh-CN" altLang="en-US" sz="2400" b="1" dirty="0"/>
              <a:t>-3定容吸热+3-4定压吸热</a:t>
            </a:r>
          </a:p>
          <a:p>
            <a:pPr marL="285750" indent="-285750">
              <a:buFont typeface="Arial" panose="020B0604020202020204" pitchFamily="34" charset="0"/>
              <a:buChar char="•"/>
            </a:pPr>
            <a:r>
              <a:rPr lang="zh-CN" altLang="en-US" sz="2400" b="1" dirty="0" smtClean="0"/>
              <a:t>排气</a:t>
            </a:r>
            <a:r>
              <a:rPr lang="zh-CN" altLang="en-US" sz="2400" b="1" dirty="0">
                <a:latin typeface="微软雅黑" panose="020B0503020204020204" pitchFamily="34" charset="-122"/>
                <a:ea typeface="微软雅黑" panose="020B0503020204020204" pitchFamily="34" charset="-122"/>
              </a:rPr>
              <a:t>→ </a:t>
            </a:r>
            <a:r>
              <a:rPr lang="zh-CN" altLang="en-US" sz="2400" b="1" dirty="0" smtClean="0"/>
              <a:t>5</a:t>
            </a:r>
            <a:r>
              <a:rPr lang="zh-CN" altLang="en-US" sz="2400" b="1" dirty="0"/>
              <a:t>-6定容放热</a:t>
            </a:r>
          </a:p>
          <a:p>
            <a:pPr marL="285750" indent="-285750">
              <a:buFont typeface="Arial" panose="020B0604020202020204" pitchFamily="34" charset="0"/>
              <a:buChar char="•"/>
            </a:pPr>
            <a:r>
              <a:rPr lang="zh-CN" altLang="en-US" sz="2400" b="1" dirty="0"/>
              <a:t>压缩、</a:t>
            </a:r>
            <a:r>
              <a:rPr lang="zh-CN" altLang="en-US" sz="2400" b="1" dirty="0" smtClean="0"/>
              <a:t>膨胀</a:t>
            </a:r>
            <a:r>
              <a:rPr lang="zh-CN" altLang="en-US" sz="2400" b="1" dirty="0">
                <a:latin typeface="微软雅黑" panose="020B0503020204020204" pitchFamily="34" charset="-122"/>
                <a:ea typeface="微软雅黑" panose="020B0503020204020204" pitchFamily="34" charset="-122"/>
              </a:rPr>
              <a:t>→ </a:t>
            </a:r>
            <a:r>
              <a:rPr lang="zh-CN" altLang="en-US" sz="2400" b="1" dirty="0" smtClean="0"/>
              <a:t>1</a:t>
            </a:r>
            <a:r>
              <a:rPr lang="zh-CN" altLang="en-US" sz="2400" b="1" dirty="0"/>
              <a:t>-2及4-5定熵过程</a:t>
            </a:r>
          </a:p>
          <a:p>
            <a:pPr marL="285750" indent="-285750">
              <a:buFont typeface="Arial" panose="020B0604020202020204" pitchFamily="34" charset="0"/>
              <a:buChar char="•"/>
            </a:pPr>
            <a:r>
              <a:rPr lang="zh-CN" altLang="en-US" sz="2400" b="1" dirty="0"/>
              <a:t>燃气成分</a:t>
            </a:r>
            <a:r>
              <a:rPr lang="zh-CN" altLang="en-US" sz="2400" b="1" dirty="0" smtClean="0"/>
              <a:t>改变</a:t>
            </a:r>
            <a:r>
              <a:rPr lang="zh-CN" altLang="en-US" sz="2400" b="1" dirty="0">
                <a:latin typeface="微软雅黑" panose="020B0503020204020204" pitchFamily="34" charset="-122"/>
                <a:ea typeface="微软雅黑" panose="020B0503020204020204" pitchFamily="34" charset="-122"/>
              </a:rPr>
              <a:t>→</a:t>
            </a:r>
            <a:r>
              <a:rPr lang="zh-CN" altLang="en-US" sz="2400" b="1" dirty="0" smtClean="0"/>
              <a:t>忽略</a:t>
            </a:r>
            <a:endParaRPr lang="zh-CN" altLang="en-US" sz="2400" b="1" dirty="0"/>
          </a:p>
        </p:txBody>
      </p:sp>
    </p:spTree>
    <p:extLst>
      <p:ext uri="{BB962C8B-B14F-4D97-AF65-F5344CB8AC3E}">
        <p14:creationId xmlns:p14="http://schemas.microsoft.com/office/powerpoint/2010/main" val="1040874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1725" y="2057400"/>
            <a:ext cx="3214688"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8"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0125" y="2174875"/>
            <a:ext cx="3214688"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5"/>
          <p:cNvSpPr txBox="1">
            <a:spLocks noChangeArrowheads="1"/>
          </p:cNvSpPr>
          <p:nvPr/>
        </p:nvSpPr>
        <p:spPr bwMode="auto">
          <a:xfrm>
            <a:off x="572943" y="396586"/>
            <a:ext cx="735488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b="1" dirty="0"/>
              <a:t>通过上述简化</a:t>
            </a:r>
            <a:r>
              <a:rPr lang="zh-CN" altLang="en-US" sz="2800" b="1" dirty="0"/>
              <a:t>，</a:t>
            </a:r>
            <a:r>
              <a:rPr lang="zh-CN" altLang="zh-CN" sz="2800" b="1" dirty="0"/>
              <a:t>得到的内燃机（机械喷射式柴油机）的内可逆理想循环的</a:t>
            </a:r>
            <a:r>
              <a:rPr lang="en-US" altLang="zh-CN" sz="2800" b="1" i="1" dirty="0">
                <a:latin typeface="Times New Roman" panose="02020603050405020304" pitchFamily="18" charset="0"/>
                <a:cs typeface="Times New Roman" panose="02020603050405020304" pitchFamily="18" charset="0"/>
              </a:rPr>
              <a:t>p-v</a:t>
            </a:r>
            <a:r>
              <a:rPr lang="zh-CN" altLang="zh-CN" sz="2800" b="1" dirty="0">
                <a:latin typeface="Times New Roman" panose="02020603050405020304" pitchFamily="18" charset="0"/>
                <a:cs typeface="Times New Roman" panose="02020603050405020304" pitchFamily="18" charset="0"/>
              </a:rPr>
              <a:t>图及</a:t>
            </a:r>
            <a:r>
              <a:rPr lang="en-US" altLang="zh-CN" sz="2800" b="1" i="1" dirty="0">
                <a:latin typeface="Times New Roman" panose="02020603050405020304" pitchFamily="18" charset="0"/>
                <a:cs typeface="Times New Roman" panose="02020603050405020304" pitchFamily="18" charset="0"/>
              </a:rPr>
              <a:t>T-s</a:t>
            </a:r>
            <a:r>
              <a:rPr lang="zh-CN" altLang="zh-CN" sz="2800" b="1" dirty="0"/>
              <a:t>图如</a:t>
            </a:r>
            <a:r>
              <a:rPr lang="zh-CN" altLang="en-US" sz="2800" b="1" dirty="0"/>
              <a:t>下</a:t>
            </a:r>
            <a:r>
              <a:rPr lang="zh-CN" altLang="zh-CN" sz="2800" b="1" dirty="0"/>
              <a:t>图所示，称为</a:t>
            </a:r>
            <a:r>
              <a:rPr lang="zh-CN" altLang="zh-CN" sz="2800" b="1" dirty="0">
                <a:solidFill>
                  <a:srgbClr val="FF0000"/>
                </a:solidFill>
              </a:rPr>
              <a:t>混合加热理想</a:t>
            </a:r>
            <a:r>
              <a:rPr lang="zh-CN" altLang="zh-CN" sz="2800" b="1" dirty="0" smtClean="0">
                <a:solidFill>
                  <a:srgbClr val="FF0000"/>
                </a:solidFill>
              </a:rPr>
              <a:t>循环</a:t>
            </a:r>
            <a:endParaRPr lang="zh-CN" altLang="en-US" sz="2800" b="1" dirty="0">
              <a:solidFill>
                <a:srgbClr val="FF0000"/>
              </a:solidFill>
            </a:endParaRPr>
          </a:p>
        </p:txBody>
      </p:sp>
    </p:spTree>
    <p:extLst>
      <p:ext uri="{BB962C8B-B14F-4D97-AF65-F5344CB8AC3E}">
        <p14:creationId xmlns:p14="http://schemas.microsoft.com/office/powerpoint/2010/main" val="967250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2"/>
          <p:cNvSpPr txBox="1">
            <a:spLocks noChangeArrowheads="1"/>
          </p:cNvSpPr>
          <p:nvPr/>
        </p:nvSpPr>
        <p:spPr bwMode="auto">
          <a:xfrm>
            <a:off x="528638" y="301625"/>
            <a:ext cx="7732712"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b="1" dirty="0"/>
              <a:t>有些高增压柴油机及船用柴油机，在压缩终了时用高压空气将柴油喷入气缸，随喷随燃（即一边燃烧一边膨胀），燃烧过程主要在活塞离开左止点后的一段行程中进行，该过程中缸内压力变化不大，接近于定压燃烧过程，这些柴油机内的循环可按照</a:t>
            </a:r>
            <a:r>
              <a:rPr lang="zh-CN" altLang="en-US" sz="2600" b="1" dirty="0">
                <a:solidFill>
                  <a:srgbClr val="FF0000"/>
                </a:solidFill>
              </a:rPr>
              <a:t>定压加热理想循环</a:t>
            </a:r>
            <a:r>
              <a:rPr lang="zh-CN" altLang="en-US" sz="2600" b="1" dirty="0"/>
              <a:t>（又称狄塞尔循环）来进行分析</a:t>
            </a:r>
          </a:p>
        </p:txBody>
      </p:sp>
      <p:pic>
        <p:nvPicPr>
          <p:cNvPr id="61442" name="图片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638" y="2965450"/>
            <a:ext cx="3513137"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3" name="图片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1850" y="3016250"/>
            <a:ext cx="34544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31874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5" name="图片 251907" descr="Diesel 188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113" y="901700"/>
            <a:ext cx="1754187"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6" name="矩形 251908"/>
          <p:cNvSpPr>
            <a:spLocks noChangeArrowheads="1"/>
          </p:cNvSpPr>
          <p:nvPr/>
        </p:nvSpPr>
        <p:spPr bwMode="auto">
          <a:xfrm>
            <a:off x="3169084" y="3114006"/>
            <a:ext cx="3219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dirty="0"/>
              <a:t> </a:t>
            </a:r>
            <a:r>
              <a:rPr lang="en-US" altLang="zh-CN" dirty="0">
                <a:latin typeface="Times New Roman" panose="02020603050405020304" pitchFamily="18" charset="0"/>
                <a:cs typeface="Times New Roman" panose="02020603050405020304" pitchFamily="18" charset="0"/>
              </a:rPr>
              <a:t>Diesel Rudolf</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1858-1913</a:t>
            </a:r>
            <a:r>
              <a:rPr lang="zh-CN" altLang="en-US" dirty="0">
                <a:latin typeface="Times New Roman" panose="02020603050405020304" pitchFamily="18" charset="0"/>
                <a:cs typeface="Times New Roman" panose="02020603050405020304" pitchFamily="18" charset="0"/>
              </a:rPr>
              <a:t>） </a:t>
            </a:r>
          </a:p>
        </p:txBody>
      </p:sp>
      <p:sp>
        <p:nvSpPr>
          <p:cNvPr id="6" name="矩形 252932"/>
          <p:cNvSpPr>
            <a:spLocks noChangeArrowheads="1"/>
          </p:cNvSpPr>
          <p:nvPr/>
        </p:nvSpPr>
        <p:spPr bwMode="auto">
          <a:xfrm>
            <a:off x="660796" y="3970590"/>
            <a:ext cx="782081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a:latin typeface="Times New Roman" panose="02020603050405020304" pitchFamily="18" charset="0"/>
                <a:cs typeface="Times New Roman" panose="02020603050405020304" pitchFamily="18" charset="0"/>
              </a:rPr>
              <a:t>英文中，</a:t>
            </a:r>
            <a:r>
              <a:rPr lang="en-US" altLang="zh-CN" sz="2800" b="1" dirty="0">
                <a:latin typeface="Times New Roman" panose="02020603050405020304" pitchFamily="18" charset="0"/>
                <a:cs typeface="Times New Roman" panose="02020603050405020304" pitchFamily="18" charset="0"/>
              </a:rPr>
              <a:t>Diesel</a:t>
            </a:r>
            <a:r>
              <a:rPr lang="zh-CN" altLang="en-US" sz="2800" b="1" dirty="0">
                <a:latin typeface="Times New Roman" panose="02020603050405020304" pitchFamily="18" charset="0"/>
                <a:cs typeface="Times New Roman" panose="02020603050405020304" pitchFamily="18" charset="0"/>
              </a:rPr>
              <a:t>即为柴油机之意，该词取自于德国发明家、工程师狄赛尔</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鲁道夫（</a:t>
            </a:r>
            <a:r>
              <a:rPr lang="en-US" altLang="zh-CN" sz="2800" b="1" dirty="0">
                <a:latin typeface="Times New Roman" panose="02020603050405020304" pitchFamily="18" charset="0"/>
                <a:cs typeface="Times New Roman" panose="02020603050405020304" pitchFamily="18" charset="0"/>
              </a:rPr>
              <a:t>Diesel Rudolf</a:t>
            </a:r>
            <a:r>
              <a:rPr lang="zh-CN" altLang="en-US" sz="2800" b="1" dirty="0">
                <a:latin typeface="Times New Roman" panose="02020603050405020304" pitchFamily="18" charset="0"/>
                <a:cs typeface="Times New Roman" panose="02020603050405020304" pitchFamily="18" charset="0"/>
              </a:rPr>
              <a:t>）的名字，他于</a:t>
            </a:r>
            <a:r>
              <a:rPr lang="en-US" altLang="zh-CN" sz="2800" b="1" dirty="0">
                <a:latin typeface="Times New Roman" panose="02020603050405020304" pitchFamily="18" charset="0"/>
                <a:cs typeface="Times New Roman" panose="02020603050405020304" pitchFamily="18" charset="0"/>
              </a:rPr>
              <a:t>1898</a:t>
            </a:r>
            <a:r>
              <a:rPr lang="zh-CN" altLang="en-US" sz="2800" b="1" dirty="0">
                <a:latin typeface="Times New Roman" panose="02020603050405020304" pitchFamily="18" charset="0"/>
                <a:cs typeface="Times New Roman" panose="02020603050405020304" pitchFamily="18" charset="0"/>
              </a:rPr>
              <a:t>年左右发明了柴油机技术并对之拥有专利。</a:t>
            </a:r>
          </a:p>
        </p:txBody>
      </p:sp>
    </p:spTree>
    <p:extLst>
      <p:ext uri="{BB962C8B-B14F-4D97-AF65-F5344CB8AC3E}">
        <p14:creationId xmlns:p14="http://schemas.microsoft.com/office/powerpoint/2010/main" val="19920826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文本框 1"/>
          <p:cNvSpPr txBox="1">
            <a:spLocks noChangeArrowheads="1"/>
          </p:cNvSpPr>
          <p:nvPr/>
        </p:nvSpPr>
        <p:spPr bwMode="auto">
          <a:xfrm>
            <a:off x="468313" y="395288"/>
            <a:ext cx="80835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t>以上两种循环适用于柴油机。而对于汽油机和煤气机而言，它们均为点燃式内燃机，在压缩过程中被压缩的是燃料和空气的混合物。压缩终止时，活塞处于左止点处，由电火花塞产生火花而将可燃混合物点燃。因为燃烧迅速，此时活塞的位移极小，几乎在定容下燃烧，而不再有边燃烧边膨胀的定压燃烧过程。因此，汽油机和煤气机内的循环可按照</a:t>
            </a:r>
            <a:r>
              <a:rPr lang="zh-CN" altLang="en-US" sz="2400" b="1">
                <a:solidFill>
                  <a:srgbClr val="FF0000"/>
                </a:solidFill>
              </a:rPr>
              <a:t>定容加热理想循环</a:t>
            </a:r>
            <a:r>
              <a:rPr lang="zh-CN" altLang="en-US" sz="2400" b="1"/>
              <a:t>（又称奥托循环）来进行分析</a:t>
            </a:r>
          </a:p>
        </p:txBody>
      </p:sp>
      <p:pic>
        <p:nvPicPr>
          <p:cNvPr id="63490"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050" y="3071813"/>
            <a:ext cx="3465513" cy="348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4413" y="3071813"/>
            <a:ext cx="3465512"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8308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矩形 252932"/>
          <p:cNvSpPr>
            <a:spLocks noChangeArrowheads="1"/>
          </p:cNvSpPr>
          <p:nvPr/>
        </p:nvSpPr>
        <p:spPr bwMode="auto">
          <a:xfrm>
            <a:off x="895350" y="4229100"/>
            <a:ext cx="75628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dirty="0">
                <a:latin typeface="Times New Roman" panose="02020603050405020304" pitchFamily="18" charset="0"/>
              </a:rPr>
              <a:t>Otto</a:t>
            </a:r>
            <a:r>
              <a:rPr lang="zh-CN" altLang="en-US" sz="2800" b="1" dirty="0">
                <a:latin typeface="Times New Roman" panose="02020603050405020304" pitchFamily="18" charset="0"/>
              </a:rPr>
              <a:t>循环技术由德国科学家奥托</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尼古拉斯（</a:t>
            </a:r>
            <a:r>
              <a:rPr lang="en-US" altLang="zh-CN" sz="2800" b="1" dirty="0">
                <a:latin typeface="Times New Roman" panose="02020603050405020304" pitchFamily="18" charset="0"/>
              </a:rPr>
              <a:t>Otto Nicolaus</a:t>
            </a:r>
            <a:r>
              <a:rPr lang="zh-CN" altLang="en-US" sz="2800" b="1" dirty="0">
                <a:latin typeface="Times New Roman" panose="02020603050405020304" pitchFamily="18" charset="0"/>
              </a:rPr>
              <a:t>）于</a:t>
            </a:r>
            <a:r>
              <a:rPr lang="en-US" altLang="zh-CN" sz="2800" b="1" dirty="0">
                <a:latin typeface="Times New Roman" panose="02020603050405020304" pitchFamily="18" charset="0"/>
              </a:rPr>
              <a:t>1876</a:t>
            </a:r>
            <a:r>
              <a:rPr lang="zh-CN" altLang="en-US" sz="2800" b="1" dirty="0">
                <a:latin typeface="Times New Roman" panose="02020603050405020304" pitchFamily="18" charset="0"/>
              </a:rPr>
              <a:t>年发明</a:t>
            </a:r>
          </a:p>
        </p:txBody>
      </p:sp>
      <p:pic>
        <p:nvPicPr>
          <p:cNvPr id="64514" name="图片 252933" descr="Nicolaus-August-Ot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8088" y="914400"/>
            <a:ext cx="15525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文本框 1"/>
          <p:cNvSpPr txBox="1">
            <a:spLocks noChangeArrowheads="1"/>
          </p:cNvSpPr>
          <p:nvPr/>
        </p:nvSpPr>
        <p:spPr bwMode="auto">
          <a:xfrm>
            <a:off x="3328699" y="3322637"/>
            <a:ext cx="3397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latin typeface="Times New Roman" panose="02020603050405020304" pitchFamily="18" charset="0"/>
                <a:cs typeface="Times New Roman" panose="02020603050405020304" pitchFamily="18" charset="0"/>
              </a:rPr>
              <a:t>Otto Nicolaus (1832-1891）</a:t>
            </a:r>
          </a:p>
        </p:txBody>
      </p:sp>
    </p:spTree>
    <p:extLst>
      <p:ext uri="{BB962C8B-B14F-4D97-AF65-F5344CB8AC3E}">
        <p14:creationId xmlns:p14="http://schemas.microsoft.com/office/powerpoint/2010/main" val="2534034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矩形 120836"/>
          <p:cNvSpPr>
            <a:spLocks noChangeArrowheads="1"/>
          </p:cNvSpPr>
          <p:nvPr/>
        </p:nvSpPr>
        <p:spPr bwMode="auto">
          <a:xfrm>
            <a:off x="611188" y="1376363"/>
            <a:ext cx="7921625"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为简化计算并提供一种往复式发动机的比较手段，工程界引进平均有效压力（mean effective pressure）的概念，用MEP表示活塞式内燃机循环特点</a:t>
            </a:r>
          </a:p>
        </p:txBody>
      </p:sp>
      <p:sp>
        <p:nvSpPr>
          <p:cNvPr id="65538" name="标题 5121"/>
          <p:cNvSpPr>
            <a:spLocks noGrp="1" noChangeArrowheads="1"/>
          </p:cNvSpPr>
          <p:nvPr/>
        </p:nvSpPr>
        <p:spPr bwMode="auto">
          <a:xfrm>
            <a:off x="363538" y="401638"/>
            <a:ext cx="57927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dirty="0"/>
              <a:t>四、平均有效压力</a:t>
            </a:r>
          </a:p>
        </p:txBody>
      </p:sp>
      <p:graphicFrame>
        <p:nvGraphicFramePr>
          <p:cNvPr id="6" name="对象 5"/>
          <p:cNvGraphicFramePr>
            <a:graphicFrameLocks noChangeAspect="1"/>
          </p:cNvGraphicFramePr>
          <p:nvPr/>
        </p:nvGraphicFramePr>
        <p:xfrm>
          <a:off x="1747982" y="3505055"/>
          <a:ext cx="5374640" cy="1022350"/>
        </p:xfrm>
        <a:graphic>
          <a:graphicData uri="http://schemas.openxmlformats.org/presentationml/2006/ole">
            <mc:AlternateContent xmlns:mc="http://schemas.openxmlformats.org/markup-compatibility/2006">
              <mc:Choice xmlns:v="urn:schemas-microsoft-com:vml" Requires="v">
                <p:oleObj spid="_x0000_s72708" name="Equation" r:id="rId3" imgW="2336800" imgH="444500" progId="Equation.DSMT4">
                  <p:embed/>
                </p:oleObj>
              </mc:Choice>
              <mc:Fallback>
                <p:oleObj name="Equation" r:id="rId3" imgW="2336800" imgH="44450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982" y="3505055"/>
                        <a:ext cx="5374640"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86222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63" y="503238"/>
            <a:ext cx="510540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2" name="文本框 2"/>
          <p:cNvSpPr txBox="1">
            <a:spLocks noChangeArrowheads="1"/>
          </p:cNvSpPr>
          <p:nvPr/>
        </p:nvSpPr>
        <p:spPr bwMode="auto">
          <a:xfrm>
            <a:off x="5213350" y="1081088"/>
            <a:ext cx="344805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cs typeface="Times New Roman" panose="02020603050405020304" pitchFamily="18" charset="0"/>
              </a:rPr>
              <a:t>活塞式内燃机的压缩、膨胀过程中压力是变化的，因此平均有效压力是一个假想的压力，但该参数在活塞式内燃机的分析中应用广泛，它可用于比较相同尺寸内燃机的性能，即MEP值越大，内燃机输出的净功量越多。</a:t>
            </a:r>
          </a:p>
        </p:txBody>
      </p:sp>
    </p:spTree>
    <p:extLst>
      <p:ext uri="{BB962C8B-B14F-4D97-AF65-F5344CB8AC3E}">
        <p14:creationId xmlns:p14="http://schemas.microsoft.com/office/powerpoint/2010/main" val="41909294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矩形 126979"/>
          <p:cNvSpPr>
            <a:spLocks noChangeArrowheads="1"/>
          </p:cNvSpPr>
          <p:nvPr/>
        </p:nvSpPr>
        <p:spPr bwMode="auto">
          <a:xfrm>
            <a:off x="827088" y="734291"/>
            <a:ext cx="7812087" cy="211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400" b="1" dirty="0">
                <a:latin typeface="Times New Roman" panose="02020603050405020304" pitchFamily="18" charset="0"/>
              </a:rPr>
              <a:t>12-4</a:t>
            </a:r>
            <a:r>
              <a:rPr lang="en-US" altLang="zh-CN" sz="4400" b="1" dirty="0"/>
              <a:t> </a:t>
            </a:r>
            <a:r>
              <a:rPr lang="zh-CN" altLang="en-US" sz="4400" b="1" dirty="0"/>
              <a:t>往复活塞式内燃机理想循环的热效率</a:t>
            </a:r>
          </a:p>
        </p:txBody>
      </p:sp>
      <p:sp>
        <p:nvSpPr>
          <p:cNvPr id="67586" name="文本框 1"/>
          <p:cNvSpPr txBox="1">
            <a:spLocks noChangeArrowheads="1"/>
          </p:cNvSpPr>
          <p:nvPr/>
        </p:nvSpPr>
        <p:spPr bwMode="auto">
          <a:xfrm>
            <a:off x="727075" y="4265613"/>
            <a:ext cx="7561263"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FF0000"/>
                </a:solidFill>
              </a:rPr>
              <a:t>说明</a:t>
            </a:r>
            <a:r>
              <a:rPr lang="zh-CN" altLang="en-US" sz="2800" b="1" dirty="0"/>
              <a:t>：本节涉及到的热量（包括吸热量和放热量）和各种功量（包括工质对外界作功和外界对工质作功）均为大于0的绝对数值</a:t>
            </a:r>
          </a:p>
        </p:txBody>
      </p:sp>
    </p:spTree>
    <p:extLst>
      <p:ext uri="{BB962C8B-B14F-4D97-AF65-F5344CB8AC3E}">
        <p14:creationId xmlns:p14="http://schemas.microsoft.com/office/powerpoint/2010/main" val="3932795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矩形 140291"/>
          <p:cNvSpPr>
            <a:spLocks noChangeArrowheads="1"/>
          </p:cNvSpPr>
          <p:nvPr/>
        </p:nvSpPr>
        <p:spPr bwMode="auto">
          <a:xfrm>
            <a:off x="327025" y="1419225"/>
            <a:ext cx="7812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3200" b="1" dirty="0">
                <a:latin typeface="Times New Roman" panose="02020603050405020304" pitchFamily="18" charset="0"/>
              </a:rPr>
              <a:t>1. </a:t>
            </a:r>
            <a:r>
              <a:rPr lang="zh-CN" altLang="en-US" sz="3200" b="1" dirty="0"/>
              <a:t>混合加热理想循环</a:t>
            </a:r>
          </a:p>
        </p:txBody>
      </p:sp>
      <p:sp>
        <p:nvSpPr>
          <p:cNvPr id="68610" name="矩形 140292"/>
          <p:cNvSpPr>
            <a:spLocks noChangeArrowheads="1"/>
          </p:cNvSpPr>
          <p:nvPr/>
        </p:nvSpPr>
        <p:spPr bwMode="auto">
          <a:xfrm>
            <a:off x="327025" y="385763"/>
            <a:ext cx="7812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Times New Roman" panose="02020603050405020304" pitchFamily="18" charset="0"/>
              </a:rPr>
              <a:t>一、循环热效率及其影响因素</a:t>
            </a:r>
            <a:endParaRPr lang="zh-CN" altLang="en-US" sz="3200" b="1" dirty="0"/>
          </a:p>
        </p:txBody>
      </p:sp>
      <p:pic>
        <p:nvPicPr>
          <p:cNvPr id="68611" name="图片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1613" y="2451100"/>
            <a:ext cx="3214687"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1075" name="对象 131074"/>
          <p:cNvGraphicFramePr>
            <a:graphicFrameLocks/>
          </p:cNvGraphicFramePr>
          <p:nvPr>
            <p:extLst/>
          </p:nvPr>
        </p:nvGraphicFramePr>
        <p:xfrm>
          <a:off x="4987925" y="1317625"/>
          <a:ext cx="2700338" cy="1133475"/>
        </p:xfrm>
        <a:graphic>
          <a:graphicData uri="http://schemas.openxmlformats.org/presentationml/2006/ole">
            <mc:AlternateContent xmlns:mc="http://schemas.openxmlformats.org/markup-compatibility/2006">
              <mc:Choice xmlns:v="urn:schemas-microsoft-com:vml" Requires="v">
                <p:oleObj spid="_x0000_s19494" name="Equation" r:id="rId5" imgW="1028520" imgH="431640" progId="Equation.DSMT4">
                  <p:embed/>
                </p:oleObj>
              </mc:Choice>
              <mc:Fallback>
                <p:oleObj name="Equation" r:id="rId5" imgW="1028520" imgH="431640" progId="Equation.DSMT4">
                  <p:embed/>
                  <p:pic>
                    <p:nvPicPr>
                      <p:cNvPr id="131075" name="对象 131074"/>
                      <p:cNvPicPr>
                        <a:picLocks noChangeArrowheads="1"/>
                      </p:cNvPicPr>
                      <p:nvPr/>
                    </p:nvPicPr>
                    <p:blipFill>
                      <a:blip r:embed="rId6"/>
                      <a:srcRect/>
                      <a:stretch>
                        <a:fillRect/>
                      </a:stretch>
                    </p:blipFill>
                    <p:spPr bwMode="auto">
                      <a:xfrm>
                        <a:off x="4987925" y="1317625"/>
                        <a:ext cx="2700338"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80" name="对象 131079"/>
          <p:cNvGraphicFramePr>
            <a:graphicFrameLocks/>
          </p:cNvGraphicFramePr>
          <p:nvPr/>
        </p:nvGraphicFramePr>
        <p:xfrm>
          <a:off x="3979863" y="2593975"/>
          <a:ext cx="4391025" cy="1200150"/>
        </p:xfrm>
        <a:graphic>
          <a:graphicData uri="http://schemas.openxmlformats.org/presentationml/2006/ole">
            <mc:AlternateContent xmlns:mc="http://schemas.openxmlformats.org/markup-compatibility/2006">
              <mc:Choice xmlns:v="urn:schemas-microsoft-com:vml" Requires="v">
                <p:oleObj spid="_x0000_s19495" r:id="rId7" imgW="1764534" imgH="482391" progId="Equation.DSMT4">
                  <p:embed/>
                </p:oleObj>
              </mc:Choice>
              <mc:Fallback>
                <p:oleObj r:id="rId7" imgW="1764534" imgH="482391" progId="Equation.DSMT4">
                  <p:embed/>
                  <p:pic>
                    <p:nvPicPr>
                      <p:cNvPr id="131080" name="对象 13107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9863" y="2593975"/>
                        <a:ext cx="4391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81" name="对象 131080"/>
          <p:cNvGraphicFramePr>
            <a:graphicFrameLocks/>
          </p:cNvGraphicFramePr>
          <p:nvPr/>
        </p:nvGraphicFramePr>
        <p:xfrm>
          <a:off x="4067175" y="4108450"/>
          <a:ext cx="3348038" cy="631825"/>
        </p:xfrm>
        <a:graphic>
          <a:graphicData uri="http://schemas.openxmlformats.org/presentationml/2006/ole">
            <mc:AlternateContent xmlns:mc="http://schemas.openxmlformats.org/markup-compatibility/2006">
              <mc:Choice xmlns:v="urn:schemas-microsoft-com:vml" Requires="v">
                <p:oleObj spid="_x0000_s19496" r:id="rId9" imgW="1345032" imgH="253780" progId="Equation.DSMT4">
                  <p:embed/>
                </p:oleObj>
              </mc:Choice>
              <mc:Fallback>
                <p:oleObj r:id="rId9" imgW="1345032" imgH="253780" progId="Equation.DSMT4">
                  <p:embed/>
                  <p:pic>
                    <p:nvPicPr>
                      <p:cNvPr id="131081" name="对象 13108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7175" y="4108450"/>
                        <a:ext cx="334803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89" name="对象 131088"/>
          <p:cNvGraphicFramePr>
            <a:graphicFrameLocks/>
          </p:cNvGraphicFramePr>
          <p:nvPr>
            <p:extLst/>
          </p:nvPr>
        </p:nvGraphicFramePr>
        <p:xfrm>
          <a:off x="2536825" y="5349875"/>
          <a:ext cx="5689600" cy="1130300"/>
        </p:xfrm>
        <a:graphic>
          <a:graphicData uri="http://schemas.openxmlformats.org/presentationml/2006/ole">
            <mc:AlternateContent xmlns:mc="http://schemas.openxmlformats.org/markup-compatibility/2006">
              <mc:Choice xmlns:v="urn:schemas-microsoft-com:vml" Requires="v">
                <p:oleObj spid="_x0000_s19497" name="Equation" r:id="rId11" imgW="2234880" imgH="444240" progId="Equation.DSMT4">
                  <p:embed/>
                </p:oleObj>
              </mc:Choice>
              <mc:Fallback>
                <p:oleObj name="Equation" r:id="rId11" imgW="2234880" imgH="444240" progId="Equation.DSMT4">
                  <p:embed/>
                  <p:pic>
                    <p:nvPicPr>
                      <p:cNvPr id="131089" name="对象 131088"/>
                      <p:cNvPicPr>
                        <a:picLocks noChangeArrowheads="1"/>
                      </p:cNvPicPr>
                      <p:nvPr/>
                    </p:nvPicPr>
                    <p:blipFill>
                      <a:blip r:embed="rId12"/>
                      <a:srcRect/>
                      <a:stretch>
                        <a:fillRect/>
                      </a:stretch>
                    </p:blipFill>
                    <p:spPr bwMode="auto">
                      <a:xfrm>
                        <a:off x="2536825" y="5349875"/>
                        <a:ext cx="56896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2174035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box(out)">
                                      <p:cBhvr>
                                        <p:cTn id="7" dur="500"/>
                                        <p:tgtEl>
                                          <p:spTgt spid="131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31080"/>
                                        </p:tgtEl>
                                        <p:attrNameLst>
                                          <p:attrName>style.visibility</p:attrName>
                                        </p:attrNameLst>
                                      </p:cBhvr>
                                      <p:to>
                                        <p:strVal val="visible"/>
                                      </p:to>
                                    </p:set>
                                    <p:animEffect transition="in" filter="box(out)">
                                      <p:cBhvr>
                                        <p:cTn id="12" dur="500"/>
                                        <p:tgtEl>
                                          <p:spTgt spid="1310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31081"/>
                                        </p:tgtEl>
                                        <p:attrNameLst>
                                          <p:attrName>style.visibility</p:attrName>
                                        </p:attrNameLst>
                                      </p:cBhvr>
                                      <p:to>
                                        <p:strVal val="visible"/>
                                      </p:to>
                                    </p:set>
                                    <p:animEffect transition="in" filter="box(out)">
                                      <p:cBhvr>
                                        <p:cTn id="17" dur="500"/>
                                        <p:tgtEl>
                                          <p:spTgt spid="1310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31089"/>
                                        </p:tgtEl>
                                        <p:attrNameLst>
                                          <p:attrName>style.visibility</p:attrName>
                                        </p:attrNameLst>
                                      </p:cBhvr>
                                      <p:to>
                                        <p:strVal val="visible"/>
                                      </p:to>
                                    </p:set>
                                    <p:animEffect transition="in" filter="box(out)">
                                      <p:cBhvr>
                                        <p:cTn id="22" dur="500"/>
                                        <p:tgtEl>
                                          <p:spTgt spid="131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对象 130052"/>
          <p:cNvGraphicFramePr>
            <a:graphicFrameLocks/>
          </p:cNvGraphicFramePr>
          <p:nvPr>
            <p:extLst/>
          </p:nvPr>
        </p:nvGraphicFramePr>
        <p:xfrm>
          <a:off x="2778125" y="1876570"/>
          <a:ext cx="1143000" cy="1030287"/>
        </p:xfrm>
        <a:graphic>
          <a:graphicData uri="http://schemas.openxmlformats.org/presentationml/2006/ole">
            <mc:AlternateContent xmlns:mc="http://schemas.openxmlformats.org/markup-compatibility/2006">
              <mc:Choice xmlns:v="urn:schemas-microsoft-com:vml" Requires="v">
                <p:oleObj spid="_x0000_s20509" r:id="rId3" imgW="418737" imgH="406048" progId="Equation.DSMT4">
                  <p:embed/>
                </p:oleObj>
              </mc:Choice>
              <mc:Fallback>
                <p:oleObj r:id="rId3" imgW="418737" imgH="406048" progId="Equation.DSMT4">
                  <p:embed/>
                  <p:pic>
                    <p:nvPicPr>
                      <p:cNvPr id="69634" name="对象 13005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25" y="1876570"/>
                        <a:ext cx="11430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35" name="对象 130053"/>
          <p:cNvGraphicFramePr>
            <a:graphicFrameLocks/>
          </p:cNvGraphicFramePr>
          <p:nvPr>
            <p:extLst/>
          </p:nvPr>
        </p:nvGraphicFramePr>
        <p:xfrm>
          <a:off x="3108325" y="2987820"/>
          <a:ext cx="1120775" cy="1025525"/>
        </p:xfrm>
        <a:graphic>
          <a:graphicData uri="http://schemas.openxmlformats.org/presentationml/2006/ole">
            <mc:AlternateContent xmlns:mc="http://schemas.openxmlformats.org/markup-compatibility/2006">
              <mc:Choice xmlns:v="urn:schemas-microsoft-com:vml" Requires="v">
                <p:oleObj spid="_x0000_s20510" r:id="rId5" imgW="457200" imgH="419100" progId="Equation.DSMT4">
                  <p:embed/>
                </p:oleObj>
              </mc:Choice>
              <mc:Fallback>
                <p:oleObj r:id="rId5" imgW="457200" imgH="419100" progId="Equation.DSMT4">
                  <p:embed/>
                  <p:pic>
                    <p:nvPicPr>
                      <p:cNvPr id="69635" name="对象 13005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325" y="2987820"/>
                        <a:ext cx="11207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36" name="对象 130054"/>
          <p:cNvGraphicFramePr>
            <a:graphicFrameLocks/>
          </p:cNvGraphicFramePr>
          <p:nvPr>
            <p:extLst/>
          </p:nvPr>
        </p:nvGraphicFramePr>
        <p:xfrm>
          <a:off x="3108325" y="4235595"/>
          <a:ext cx="1077913" cy="1014412"/>
        </p:xfrm>
        <a:graphic>
          <a:graphicData uri="http://schemas.openxmlformats.org/presentationml/2006/ole">
            <mc:AlternateContent xmlns:mc="http://schemas.openxmlformats.org/markup-compatibility/2006">
              <mc:Choice xmlns:v="urn:schemas-microsoft-com:vml" Requires="v">
                <p:oleObj spid="_x0000_s20511" r:id="rId7" imgW="431425" imgH="406048" progId="Equation.DSMT4">
                  <p:embed/>
                </p:oleObj>
              </mc:Choice>
              <mc:Fallback>
                <p:oleObj r:id="rId7" imgW="431425" imgH="406048" progId="Equation.DSMT4">
                  <p:embed/>
                  <p:pic>
                    <p:nvPicPr>
                      <p:cNvPr id="69636" name="对象 13005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8325" y="4235595"/>
                        <a:ext cx="1077913"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7" name="文本框 130055"/>
          <p:cNvSpPr txBox="1">
            <a:spLocks noChangeArrowheads="1"/>
          </p:cNvSpPr>
          <p:nvPr/>
        </p:nvSpPr>
        <p:spPr bwMode="auto">
          <a:xfrm>
            <a:off x="1270000" y="2148611"/>
            <a:ext cx="1101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ea typeface="楷体_GB2312" pitchFamily="49" charset="-122"/>
              </a:rPr>
              <a:t>压缩比</a:t>
            </a:r>
            <a:endParaRPr lang="en-US" altLang="zh-CN" sz="2400" b="1" dirty="0">
              <a:latin typeface="Times New Roman" panose="02020603050405020304" pitchFamily="18" charset="0"/>
              <a:ea typeface="楷体_GB2312" pitchFamily="49" charset="-122"/>
            </a:endParaRPr>
          </a:p>
        </p:txBody>
      </p:sp>
      <p:sp>
        <p:nvSpPr>
          <p:cNvPr id="69638" name="文本框 130056"/>
          <p:cNvSpPr txBox="1">
            <a:spLocks noChangeArrowheads="1"/>
          </p:cNvSpPr>
          <p:nvPr/>
        </p:nvSpPr>
        <p:spPr bwMode="auto">
          <a:xfrm>
            <a:off x="1196975" y="3249756"/>
            <a:ext cx="1714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ea typeface="楷体_GB2312" pitchFamily="49" charset="-122"/>
              </a:rPr>
              <a:t>定容增压比</a:t>
            </a:r>
            <a:endParaRPr lang="en-US" altLang="zh-CN" sz="2400" b="1" dirty="0">
              <a:latin typeface="Times New Roman" panose="02020603050405020304" pitchFamily="18" charset="0"/>
              <a:ea typeface="楷体_GB2312" pitchFamily="49" charset="-122"/>
            </a:endParaRPr>
          </a:p>
        </p:txBody>
      </p:sp>
      <p:sp>
        <p:nvSpPr>
          <p:cNvPr id="69639" name="文本框 130057"/>
          <p:cNvSpPr txBox="1">
            <a:spLocks noChangeArrowheads="1"/>
          </p:cNvSpPr>
          <p:nvPr/>
        </p:nvSpPr>
        <p:spPr bwMode="auto">
          <a:xfrm>
            <a:off x="1196975" y="4513407"/>
            <a:ext cx="3743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FF0000"/>
                </a:solidFill>
                <a:latin typeface="Times New Roman" panose="02020603050405020304" pitchFamily="18" charset="0"/>
                <a:ea typeface="楷体_GB2312" pitchFamily="49" charset="-122"/>
              </a:rPr>
              <a:t>定压预胀比</a:t>
            </a:r>
            <a:r>
              <a:rPr lang="zh-CN" altLang="en-US" sz="2400" b="1">
                <a:latin typeface="Times New Roman" panose="02020603050405020304" pitchFamily="18" charset="0"/>
                <a:ea typeface="楷体_GB2312" pitchFamily="49" charset="-122"/>
              </a:rPr>
              <a:t> </a:t>
            </a:r>
            <a:endParaRPr lang="en-US" altLang="zh-CN" sz="2400" b="1">
              <a:latin typeface="Times New Roman" panose="02020603050405020304" pitchFamily="18" charset="0"/>
              <a:ea typeface="楷体_GB2312" pitchFamily="49" charset="-122"/>
            </a:endParaRPr>
          </a:p>
        </p:txBody>
      </p:sp>
      <p:sp>
        <p:nvSpPr>
          <p:cNvPr id="9" name="矩形 140291"/>
          <p:cNvSpPr>
            <a:spLocks noChangeArrowheads="1"/>
          </p:cNvSpPr>
          <p:nvPr/>
        </p:nvSpPr>
        <p:spPr bwMode="auto">
          <a:xfrm>
            <a:off x="458643" y="551441"/>
            <a:ext cx="7812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dirty="0" smtClean="0">
                <a:latin typeface="Times New Roman" panose="02020603050405020304" pitchFamily="18" charset="0"/>
              </a:rPr>
              <a:t>引入三个反映混合加热循环特征的参数：</a:t>
            </a:r>
            <a:endParaRPr lang="zh-CN" altLang="en-US" sz="2800" b="1" dirty="0"/>
          </a:p>
        </p:txBody>
      </p:sp>
    </p:spTree>
    <p:extLst>
      <p:ext uri="{BB962C8B-B14F-4D97-AF65-F5344CB8AC3E}">
        <p14:creationId xmlns:p14="http://schemas.microsoft.com/office/powerpoint/2010/main" val="2204627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7" name="对象 132097"/>
          <p:cNvGraphicFramePr>
            <a:graphicFrameLocks/>
          </p:cNvGraphicFramePr>
          <p:nvPr>
            <p:extLst/>
          </p:nvPr>
        </p:nvGraphicFramePr>
        <p:xfrm>
          <a:off x="2225675" y="260350"/>
          <a:ext cx="4427538" cy="1130300"/>
        </p:xfrm>
        <a:graphic>
          <a:graphicData uri="http://schemas.openxmlformats.org/presentationml/2006/ole">
            <mc:AlternateContent xmlns:mc="http://schemas.openxmlformats.org/markup-compatibility/2006">
              <mc:Choice xmlns:v="urn:schemas-microsoft-com:vml" Requires="v">
                <p:oleObj spid="_x0000_s21569" name="Equation" r:id="rId3" imgW="1739880" imgH="444240" progId="Equation.DSMT4">
                  <p:embed/>
                </p:oleObj>
              </mc:Choice>
              <mc:Fallback>
                <p:oleObj name="Equation" r:id="rId3" imgW="1739880" imgH="444240" progId="Equation.DSMT4">
                  <p:embed/>
                  <p:pic>
                    <p:nvPicPr>
                      <p:cNvPr id="70657" name="对象 132097"/>
                      <p:cNvPicPr>
                        <a:picLocks noChangeArrowheads="1"/>
                      </p:cNvPicPr>
                      <p:nvPr/>
                    </p:nvPicPr>
                    <p:blipFill>
                      <a:blip r:embed="rId4"/>
                      <a:srcRect/>
                      <a:stretch>
                        <a:fillRect/>
                      </a:stretch>
                    </p:blipFill>
                    <p:spPr bwMode="auto">
                      <a:xfrm>
                        <a:off x="2225675" y="260350"/>
                        <a:ext cx="4427538"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0658" name="组合 132115"/>
          <p:cNvGrpSpPr>
            <a:grpSpLocks/>
          </p:cNvGrpSpPr>
          <p:nvPr/>
        </p:nvGrpSpPr>
        <p:grpSpPr bwMode="auto">
          <a:xfrm>
            <a:off x="468313" y="2343150"/>
            <a:ext cx="4179887" cy="4075113"/>
            <a:chOff x="295" y="1476"/>
            <a:chExt cx="2633" cy="2567"/>
          </a:xfrm>
        </p:grpSpPr>
        <p:graphicFrame>
          <p:nvGraphicFramePr>
            <p:cNvPr id="70659" name="对象 132099"/>
            <p:cNvGraphicFramePr>
              <a:graphicFrameLocks/>
            </p:cNvGraphicFramePr>
            <p:nvPr/>
          </p:nvGraphicFramePr>
          <p:xfrm>
            <a:off x="319" y="1476"/>
            <a:ext cx="2609" cy="657"/>
          </p:xfrm>
          <a:graphic>
            <a:graphicData uri="http://schemas.openxmlformats.org/presentationml/2006/ole">
              <mc:AlternateContent xmlns:mc="http://schemas.openxmlformats.org/markup-compatibility/2006">
                <mc:Choice xmlns:v="urn:schemas-microsoft-com:vml" Requires="v">
                  <p:oleObj spid="_x0000_s21570" r:id="rId5" imgW="1815840" imgH="457200" progId="Equation.DSMT4">
                    <p:embed/>
                  </p:oleObj>
                </mc:Choice>
                <mc:Fallback>
                  <p:oleObj r:id="rId5" imgW="1815840" imgH="457200" progId="Equation.DSMT4">
                    <p:embed/>
                    <p:pic>
                      <p:nvPicPr>
                        <p:cNvPr id="70659" name="对象 13209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 y="1476"/>
                          <a:ext cx="2609" cy="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0" name="对象 132100"/>
            <p:cNvGraphicFramePr>
              <a:graphicFrameLocks/>
            </p:cNvGraphicFramePr>
            <p:nvPr/>
          </p:nvGraphicFramePr>
          <p:xfrm>
            <a:off x="296" y="2205"/>
            <a:ext cx="2493" cy="569"/>
          </p:xfrm>
          <a:graphic>
            <a:graphicData uri="http://schemas.openxmlformats.org/presentationml/2006/ole">
              <mc:AlternateContent xmlns:mc="http://schemas.openxmlformats.org/markup-compatibility/2006">
                <mc:Choice xmlns:v="urn:schemas-microsoft-com:vml" Requires="v">
                  <p:oleObj spid="_x0000_s21571" r:id="rId7" imgW="1892160" imgH="431640" progId="Equation.DSMT4">
                    <p:embed/>
                  </p:oleObj>
                </mc:Choice>
                <mc:Fallback>
                  <p:oleObj r:id="rId7" imgW="1892160" imgH="431640" progId="Equation.DSMT4">
                    <p:embed/>
                    <p:pic>
                      <p:nvPicPr>
                        <p:cNvPr id="70660" name="对象 13210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 y="2205"/>
                          <a:ext cx="2493"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1" name="对象 132101"/>
            <p:cNvGraphicFramePr>
              <a:graphicFrameLocks/>
            </p:cNvGraphicFramePr>
            <p:nvPr/>
          </p:nvGraphicFramePr>
          <p:xfrm>
            <a:off x="295" y="2787"/>
            <a:ext cx="2630" cy="581"/>
          </p:xfrm>
          <a:graphic>
            <a:graphicData uri="http://schemas.openxmlformats.org/presentationml/2006/ole">
              <mc:AlternateContent xmlns:mc="http://schemas.openxmlformats.org/markup-compatibility/2006">
                <mc:Choice xmlns:v="urn:schemas-microsoft-com:vml" Requires="v">
                  <p:oleObj spid="_x0000_s21572" r:id="rId9" imgW="1955520" imgH="431640" progId="Equation.DSMT4">
                    <p:embed/>
                  </p:oleObj>
                </mc:Choice>
                <mc:Fallback>
                  <p:oleObj r:id="rId9" imgW="1955520" imgH="431640" progId="Equation.DSMT4">
                    <p:embed/>
                    <p:pic>
                      <p:nvPicPr>
                        <p:cNvPr id="70661" name="对象 13210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 y="2787"/>
                          <a:ext cx="2630"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2" name="对象 132102"/>
            <p:cNvGraphicFramePr>
              <a:graphicFrameLocks/>
            </p:cNvGraphicFramePr>
            <p:nvPr/>
          </p:nvGraphicFramePr>
          <p:xfrm>
            <a:off x="394" y="3495"/>
            <a:ext cx="1624" cy="548"/>
          </p:xfrm>
          <a:graphic>
            <a:graphicData uri="http://schemas.openxmlformats.org/presentationml/2006/ole">
              <mc:AlternateContent xmlns:mc="http://schemas.openxmlformats.org/markup-compatibility/2006">
                <mc:Choice xmlns:v="urn:schemas-microsoft-com:vml" Requires="v">
                  <p:oleObj spid="_x0000_s21573" r:id="rId11" imgW="1129810" imgH="380835" progId="Equation.DSMT4">
                    <p:embed/>
                  </p:oleObj>
                </mc:Choice>
                <mc:Fallback>
                  <p:oleObj r:id="rId11" imgW="1129810" imgH="380835" progId="Equation.DSMT4">
                    <p:embed/>
                    <p:pic>
                      <p:nvPicPr>
                        <p:cNvPr id="70662" name="对象 13210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4" y="3495"/>
                          <a:ext cx="1624"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70663" name="矩形 132103"/>
          <p:cNvSpPr>
            <a:spLocks noChangeArrowheads="1"/>
          </p:cNvSpPr>
          <p:nvPr/>
        </p:nvSpPr>
        <p:spPr bwMode="auto">
          <a:xfrm>
            <a:off x="3986213"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pSp>
        <p:nvGrpSpPr>
          <p:cNvPr id="132113" name="组合 132112"/>
          <p:cNvGrpSpPr>
            <a:grpSpLocks/>
          </p:cNvGrpSpPr>
          <p:nvPr/>
        </p:nvGrpSpPr>
        <p:grpSpPr bwMode="auto">
          <a:xfrm>
            <a:off x="376238" y="1700213"/>
            <a:ext cx="3379787" cy="530225"/>
            <a:chOff x="237" y="1071"/>
            <a:chExt cx="2129" cy="334"/>
          </a:xfrm>
        </p:grpSpPr>
        <p:graphicFrame>
          <p:nvGraphicFramePr>
            <p:cNvPr id="70665" name="对象 132098"/>
            <p:cNvGraphicFramePr>
              <a:graphicFrameLocks/>
            </p:cNvGraphicFramePr>
            <p:nvPr/>
          </p:nvGraphicFramePr>
          <p:xfrm>
            <a:off x="695" y="1134"/>
            <a:ext cx="797" cy="271"/>
          </p:xfrm>
          <a:graphic>
            <a:graphicData uri="http://schemas.openxmlformats.org/presentationml/2006/ole">
              <mc:AlternateContent xmlns:mc="http://schemas.openxmlformats.org/markup-compatibility/2006">
                <mc:Choice xmlns:v="urn:schemas-microsoft-com:vml" Requires="v">
                  <p:oleObj spid="_x0000_s21574" r:id="rId13" imgW="596382" imgH="203024" progId="Equation.DSMT4">
                    <p:embed/>
                  </p:oleObj>
                </mc:Choice>
                <mc:Fallback>
                  <p:oleObj r:id="rId13" imgW="596382" imgH="203024" progId="Equation.DSMT4">
                    <p:embed/>
                    <p:pic>
                      <p:nvPicPr>
                        <p:cNvPr id="70665" name="对象 13209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5" y="1134"/>
                          <a:ext cx="7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6" name="文本框 132104"/>
            <p:cNvSpPr txBox="1">
              <a:spLocks noChangeArrowheads="1"/>
            </p:cNvSpPr>
            <p:nvPr/>
          </p:nvSpPr>
          <p:spPr bwMode="auto">
            <a:xfrm>
              <a:off x="237" y="1117"/>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利用</a:t>
              </a:r>
            </a:p>
          </p:txBody>
        </p:sp>
        <p:sp>
          <p:nvSpPr>
            <p:cNvPr id="70667" name="文本框 132105"/>
            <p:cNvSpPr txBox="1">
              <a:spLocks noChangeArrowheads="1"/>
            </p:cNvSpPr>
            <p:nvPr/>
          </p:nvSpPr>
          <p:spPr bwMode="auto">
            <a:xfrm>
              <a:off x="1516" y="1117"/>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表示</a:t>
              </a:r>
            </a:p>
          </p:txBody>
        </p:sp>
        <p:graphicFrame>
          <p:nvGraphicFramePr>
            <p:cNvPr id="70668" name="对象 132106"/>
            <p:cNvGraphicFramePr>
              <a:graphicFrameLocks/>
            </p:cNvGraphicFramePr>
            <p:nvPr/>
          </p:nvGraphicFramePr>
          <p:xfrm>
            <a:off x="2154" y="1071"/>
            <a:ext cx="212" cy="318"/>
          </p:xfrm>
          <a:graphic>
            <a:graphicData uri="http://schemas.openxmlformats.org/presentationml/2006/ole">
              <mc:AlternateContent xmlns:mc="http://schemas.openxmlformats.org/markup-compatibility/2006">
                <mc:Choice xmlns:v="urn:schemas-microsoft-com:vml" Requires="v">
                  <p:oleObj spid="_x0000_s21575" r:id="rId15" imgW="152268" imgH="228402" progId="Equation.DSMT4">
                    <p:embed/>
                  </p:oleObj>
                </mc:Choice>
                <mc:Fallback>
                  <p:oleObj r:id="rId15" imgW="152268" imgH="228402" progId="Equation.DSMT4">
                    <p:embed/>
                    <p:pic>
                      <p:nvPicPr>
                        <p:cNvPr id="70668" name="对象 13210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54" y="1071"/>
                          <a:ext cx="21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70669" name="图片 4"/>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087938" y="2230438"/>
            <a:ext cx="3214687"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4456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矩形 133139"/>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71682" name="对象 133121"/>
          <p:cNvGraphicFramePr>
            <a:graphicFrameLocks/>
          </p:cNvGraphicFramePr>
          <p:nvPr/>
        </p:nvGraphicFramePr>
        <p:xfrm>
          <a:off x="1377950" y="903288"/>
          <a:ext cx="3581400" cy="514350"/>
        </p:xfrm>
        <a:graphic>
          <a:graphicData uri="http://schemas.openxmlformats.org/presentationml/2006/ole">
            <mc:AlternateContent xmlns:mc="http://schemas.openxmlformats.org/markup-compatibility/2006">
              <mc:Choice xmlns:v="urn:schemas-microsoft-com:vml" Requires="v">
                <p:oleObj spid="_x0000_s22602" r:id="rId4" imgW="1498320" imgH="215640" progId="Equation.DSMT4">
                  <p:embed/>
                </p:oleObj>
              </mc:Choice>
              <mc:Fallback>
                <p:oleObj r:id="rId4" imgW="1498320" imgH="215640" progId="Equation.DSMT4">
                  <p:embed/>
                  <p:pic>
                    <p:nvPicPr>
                      <p:cNvPr id="71682" name="对象 13312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7950" y="903288"/>
                        <a:ext cx="35814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3" name="文本框 133122"/>
          <p:cNvSpPr txBox="1">
            <a:spLocks noChangeArrowheads="1"/>
          </p:cNvSpPr>
          <p:nvPr/>
        </p:nvSpPr>
        <p:spPr bwMode="auto">
          <a:xfrm>
            <a:off x="5562600" y="904875"/>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两式相除，考虑到</a:t>
            </a:r>
          </a:p>
        </p:txBody>
      </p:sp>
      <p:graphicFrame>
        <p:nvGraphicFramePr>
          <p:cNvPr id="71684" name="对象 133123"/>
          <p:cNvGraphicFramePr>
            <a:graphicFrameLocks/>
          </p:cNvGraphicFramePr>
          <p:nvPr/>
        </p:nvGraphicFramePr>
        <p:xfrm>
          <a:off x="1285875" y="1446213"/>
          <a:ext cx="3751263" cy="577850"/>
        </p:xfrm>
        <a:graphic>
          <a:graphicData uri="http://schemas.openxmlformats.org/presentationml/2006/ole">
            <mc:AlternateContent xmlns:mc="http://schemas.openxmlformats.org/markup-compatibility/2006">
              <mc:Choice xmlns:v="urn:schemas-microsoft-com:vml" Requires="v">
                <p:oleObj spid="_x0000_s22603" r:id="rId6" imgW="1485900" imgH="228600" progId="Equation.DSMT4">
                  <p:embed/>
                </p:oleObj>
              </mc:Choice>
              <mc:Fallback>
                <p:oleObj r:id="rId6" imgW="1485900" imgH="228600" progId="Equation.DSMT4">
                  <p:embed/>
                  <p:pic>
                    <p:nvPicPr>
                      <p:cNvPr id="71684" name="对象 13312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1446213"/>
                        <a:ext cx="37512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685" name="对象 133124"/>
          <p:cNvGraphicFramePr>
            <a:graphicFrameLocks/>
          </p:cNvGraphicFramePr>
          <p:nvPr/>
        </p:nvGraphicFramePr>
        <p:xfrm>
          <a:off x="179388" y="2205038"/>
          <a:ext cx="4884737" cy="1204912"/>
        </p:xfrm>
        <a:graphic>
          <a:graphicData uri="http://schemas.openxmlformats.org/presentationml/2006/ole">
            <mc:AlternateContent xmlns:mc="http://schemas.openxmlformats.org/markup-compatibility/2006">
              <mc:Choice xmlns:v="urn:schemas-microsoft-com:vml" Requires="v">
                <p:oleObj spid="_x0000_s22604" r:id="rId8" imgW="2057400" imgH="507960" progId="Equation.DSMT4">
                  <p:embed/>
                </p:oleObj>
              </mc:Choice>
              <mc:Fallback>
                <p:oleObj r:id="rId8" imgW="2057400" imgH="507960" progId="Equation.DSMT4">
                  <p:embed/>
                  <p:pic>
                    <p:nvPicPr>
                      <p:cNvPr id="71685" name="对象 13312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388" y="2205038"/>
                        <a:ext cx="4884737" cy="120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26" name="对象 133125"/>
          <p:cNvGraphicFramePr>
            <a:graphicFrameLocks/>
          </p:cNvGraphicFramePr>
          <p:nvPr>
            <p:extLst/>
          </p:nvPr>
        </p:nvGraphicFramePr>
        <p:xfrm>
          <a:off x="4540250" y="5275263"/>
          <a:ext cx="4379913" cy="1060450"/>
        </p:xfrm>
        <a:graphic>
          <a:graphicData uri="http://schemas.openxmlformats.org/presentationml/2006/ole">
            <mc:AlternateContent xmlns:mc="http://schemas.openxmlformats.org/markup-compatibility/2006">
              <mc:Choice xmlns:v="urn:schemas-microsoft-com:vml" Requires="v">
                <p:oleObj spid="_x0000_s22605" name="Equation" r:id="rId10" imgW="1993680" imgH="482400" progId="Equation.DSMT4">
                  <p:embed/>
                </p:oleObj>
              </mc:Choice>
              <mc:Fallback>
                <p:oleObj name="Equation" r:id="rId10" imgW="1993680" imgH="482400" progId="Equation.DSMT4">
                  <p:embed/>
                  <p:pic>
                    <p:nvPicPr>
                      <p:cNvPr id="133126" name="对象 133125"/>
                      <p:cNvPicPr>
                        <a:picLocks noChangeArrowheads="1"/>
                      </p:cNvPicPr>
                      <p:nvPr/>
                    </p:nvPicPr>
                    <p:blipFill>
                      <a:blip r:embed="rId11"/>
                      <a:srcRect/>
                      <a:stretch>
                        <a:fillRect/>
                      </a:stretch>
                    </p:blipFill>
                    <p:spPr bwMode="auto">
                      <a:xfrm>
                        <a:off x="4540250" y="5275263"/>
                        <a:ext cx="4379913" cy="10604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7" name="对象 133126"/>
          <p:cNvGraphicFramePr>
            <a:graphicFrameLocks/>
          </p:cNvGraphicFramePr>
          <p:nvPr/>
        </p:nvGraphicFramePr>
        <p:xfrm>
          <a:off x="373063" y="3433763"/>
          <a:ext cx="1449387" cy="985837"/>
        </p:xfrm>
        <a:graphic>
          <a:graphicData uri="http://schemas.openxmlformats.org/presentationml/2006/ole">
            <mc:AlternateContent xmlns:mc="http://schemas.openxmlformats.org/markup-compatibility/2006">
              <mc:Choice xmlns:v="urn:schemas-microsoft-com:vml" Requires="v">
                <p:oleObj spid="_x0000_s22606" r:id="rId12" imgW="634725" imgH="431613" progId="Equation.DSMT4">
                  <p:embed/>
                </p:oleObj>
              </mc:Choice>
              <mc:Fallback>
                <p:oleObj r:id="rId12" imgW="634725" imgH="431613" progId="Equation.DSMT4">
                  <p:embed/>
                  <p:pic>
                    <p:nvPicPr>
                      <p:cNvPr id="71687" name="对象 13312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3063" y="3433763"/>
                        <a:ext cx="1449387"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688" name="对象 133127"/>
          <p:cNvGraphicFramePr>
            <a:graphicFrameLocks/>
          </p:cNvGraphicFramePr>
          <p:nvPr/>
        </p:nvGraphicFramePr>
        <p:xfrm>
          <a:off x="2533650" y="3619500"/>
          <a:ext cx="1568450" cy="571500"/>
        </p:xfrm>
        <a:graphic>
          <a:graphicData uri="http://schemas.openxmlformats.org/presentationml/2006/ole">
            <mc:AlternateContent xmlns:mc="http://schemas.openxmlformats.org/markup-compatibility/2006">
              <mc:Choice xmlns:v="urn:schemas-microsoft-com:vml" Requires="v">
                <p:oleObj spid="_x0000_s22607" r:id="rId14" imgW="660240" imgH="241200" progId="Equation.DSMT4">
                  <p:embed/>
                </p:oleObj>
              </mc:Choice>
              <mc:Fallback>
                <p:oleObj r:id="rId14" imgW="660240" imgH="241200" progId="Equation.DSMT4">
                  <p:embed/>
                  <p:pic>
                    <p:nvPicPr>
                      <p:cNvPr id="71688" name="对象 13312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3650" y="3619500"/>
                        <a:ext cx="1568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29" name="对象 133128"/>
          <p:cNvGraphicFramePr>
            <a:graphicFrameLocks/>
          </p:cNvGraphicFramePr>
          <p:nvPr>
            <p:extLst/>
          </p:nvPr>
        </p:nvGraphicFramePr>
        <p:xfrm>
          <a:off x="196850" y="5157788"/>
          <a:ext cx="4100513" cy="1047750"/>
        </p:xfrm>
        <a:graphic>
          <a:graphicData uri="http://schemas.openxmlformats.org/presentationml/2006/ole">
            <mc:AlternateContent xmlns:mc="http://schemas.openxmlformats.org/markup-compatibility/2006">
              <mc:Choice xmlns:v="urn:schemas-microsoft-com:vml" Requires="v">
                <p:oleObj spid="_x0000_s22608" name="Equation" r:id="rId16" imgW="1739880" imgH="444240" progId="Equation.DSMT4">
                  <p:embed/>
                </p:oleObj>
              </mc:Choice>
              <mc:Fallback>
                <p:oleObj name="Equation" r:id="rId16" imgW="1739880" imgH="444240" progId="Equation.DSMT4">
                  <p:embed/>
                  <p:pic>
                    <p:nvPicPr>
                      <p:cNvPr id="133129" name="对象 133128"/>
                      <p:cNvPicPr>
                        <a:picLocks noChangeArrowheads="1"/>
                      </p:cNvPicPr>
                      <p:nvPr/>
                    </p:nvPicPr>
                    <p:blipFill>
                      <a:blip r:embed="rId17"/>
                      <a:srcRect/>
                      <a:stretch>
                        <a:fillRect/>
                      </a:stretch>
                    </p:blipFill>
                    <p:spPr bwMode="auto">
                      <a:xfrm>
                        <a:off x="196850" y="5157788"/>
                        <a:ext cx="4100513"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90" name="文本框 133129"/>
          <p:cNvSpPr txBox="1">
            <a:spLocks noChangeArrowheads="1"/>
          </p:cNvSpPr>
          <p:nvPr/>
        </p:nvSpPr>
        <p:spPr bwMode="auto">
          <a:xfrm>
            <a:off x="323850" y="4508500"/>
            <a:ext cx="3171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把</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2</a:t>
            </a:r>
            <a:r>
              <a:rPr lang="zh-CN" altLang="en-US"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3</a:t>
            </a:r>
            <a:r>
              <a:rPr lang="zh-CN" altLang="en-US"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4</a:t>
            </a:r>
            <a:r>
              <a:rPr lang="zh-CN" altLang="en-US" sz="2400" b="1">
                <a:latin typeface="Times New Roman" panose="02020603050405020304" pitchFamily="18" charset="0"/>
                <a:ea typeface="楷体_GB2312" pitchFamily="49" charset="-122"/>
              </a:rPr>
              <a:t>和</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5</a:t>
            </a:r>
            <a:r>
              <a:rPr lang="zh-CN" altLang="en-US" sz="2400" b="1">
                <a:latin typeface="Times New Roman" panose="02020603050405020304" pitchFamily="18" charset="0"/>
                <a:ea typeface="楷体_GB2312" pitchFamily="49" charset="-122"/>
              </a:rPr>
              <a:t>代入</a:t>
            </a:r>
          </a:p>
        </p:txBody>
      </p:sp>
      <p:sp>
        <p:nvSpPr>
          <p:cNvPr id="71691" name="文本框 133130"/>
          <p:cNvSpPr txBox="1">
            <a:spLocks noChangeArrowheads="1"/>
          </p:cNvSpPr>
          <p:nvPr/>
        </p:nvSpPr>
        <p:spPr bwMode="auto">
          <a:xfrm>
            <a:off x="441325" y="96838"/>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求</a:t>
            </a:r>
          </a:p>
        </p:txBody>
      </p:sp>
      <p:graphicFrame>
        <p:nvGraphicFramePr>
          <p:cNvPr id="71692" name="对象 133131"/>
          <p:cNvGraphicFramePr>
            <a:graphicFrameLocks/>
          </p:cNvGraphicFramePr>
          <p:nvPr/>
        </p:nvGraphicFramePr>
        <p:xfrm>
          <a:off x="1447800" y="0"/>
          <a:ext cx="520700" cy="985838"/>
        </p:xfrm>
        <a:graphic>
          <a:graphicData uri="http://schemas.openxmlformats.org/presentationml/2006/ole">
            <mc:AlternateContent xmlns:mc="http://schemas.openxmlformats.org/markup-compatibility/2006">
              <mc:Choice xmlns:v="urn:schemas-microsoft-com:vml" Requires="v">
                <p:oleObj spid="_x0000_s22609" r:id="rId18" imgW="228501" imgH="431613" progId="Equation.DSMT4">
                  <p:embed/>
                </p:oleObj>
              </mc:Choice>
              <mc:Fallback>
                <p:oleObj r:id="rId18" imgW="228501" imgH="431613" progId="Equation.DSMT4">
                  <p:embed/>
                  <p:pic>
                    <p:nvPicPr>
                      <p:cNvPr id="71692" name="对象 13313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47800" y="0"/>
                        <a:ext cx="5207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93" name="矩形 133133"/>
          <p:cNvSpPr>
            <a:spLocks noChangeArrowheads="1"/>
          </p:cNvSpPr>
          <p:nvPr/>
        </p:nvSpPr>
        <p:spPr bwMode="auto">
          <a:xfrm>
            <a:off x="3986213"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pic>
        <p:nvPicPr>
          <p:cNvPr id="71694" name="图片 133134"/>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5795963" y="2060575"/>
            <a:ext cx="29019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4068278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29"/>
                                        </p:tgtEl>
                                        <p:attrNameLst>
                                          <p:attrName>style.visibility</p:attrName>
                                        </p:attrNameLst>
                                      </p:cBhvr>
                                      <p:to>
                                        <p:strVal val="visible"/>
                                      </p:to>
                                    </p:set>
                                    <p:animEffect transition="in" filter="blinds(horizontal)">
                                      <p:cBhvr>
                                        <p:cTn id="7" dur="500"/>
                                        <p:tgtEl>
                                          <p:spTgt spid="1331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3126"/>
                                        </p:tgtEl>
                                        <p:attrNameLst>
                                          <p:attrName>style.visibility</p:attrName>
                                        </p:attrNameLst>
                                      </p:cBhvr>
                                      <p:to>
                                        <p:strVal val="visible"/>
                                      </p:to>
                                    </p:set>
                                    <p:animEffect transition="in" filter="blinds(horizontal)">
                                      <p:cBhvr>
                                        <p:cTn id="12" dur="500"/>
                                        <p:tgtEl>
                                          <p:spTgt spid="133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矩形 134160"/>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72707" name="对象 134146"/>
          <p:cNvGraphicFramePr>
            <a:graphicFrameLocks/>
          </p:cNvGraphicFramePr>
          <p:nvPr/>
        </p:nvGraphicFramePr>
        <p:xfrm>
          <a:off x="3563938" y="1844675"/>
          <a:ext cx="1143000" cy="528638"/>
        </p:xfrm>
        <a:graphic>
          <a:graphicData uri="http://schemas.openxmlformats.org/presentationml/2006/ole">
            <mc:AlternateContent xmlns:mc="http://schemas.openxmlformats.org/markup-compatibility/2006">
              <mc:Choice xmlns:v="urn:schemas-microsoft-com:vml" Requires="v">
                <p:oleObj spid="_x0000_s23617" r:id="rId4" imgW="495085" imgH="228501" progId="Equation.DSMT4">
                  <p:embed/>
                </p:oleObj>
              </mc:Choice>
              <mc:Fallback>
                <p:oleObj r:id="rId4" imgW="495085" imgH="228501" progId="Equation.DSMT4">
                  <p:embed/>
                  <p:pic>
                    <p:nvPicPr>
                      <p:cNvPr id="72707" name="对象 13414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1844675"/>
                        <a:ext cx="11430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8" name="对象 134147"/>
          <p:cNvGraphicFramePr>
            <a:graphicFrameLocks/>
          </p:cNvGraphicFramePr>
          <p:nvPr/>
        </p:nvGraphicFramePr>
        <p:xfrm>
          <a:off x="3576638" y="3368675"/>
          <a:ext cx="1057275" cy="487363"/>
        </p:xfrm>
        <a:graphic>
          <a:graphicData uri="http://schemas.openxmlformats.org/presentationml/2006/ole">
            <mc:AlternateContent xmlns:mc="http://schemas.openxmlformats.org/markup-compatibility/2006">
              <mc:Choice xmlns:v="urn:schemas-microsoft-com:vml" Requires="v">
                <p:oleObj spid="_x0000_s23618" r:id="rId6" imgW="495085" imgH="228501" progId="Equation.DSMT4">
                  <p:embed/>
                </p:oleObj>
              </mc:Choice>
              <mc:Fallback>
                <p:oleObj r:id="rId6" imgW="495085" imgH="228501" progId="Equation.DSMT4">
                  <p:embed/>
                  <p:pic>
                    <p:nvPicPr>
                      <p:cNvPr id="72708" name="对象 13414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6638" y="3368675"/>
                        <a:ext cx="105727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9" name="对象 134149"/>
          <p:cNvGraphicFramePr>
            <a:graphicFrameLocks/>
          </p:cNvGraphicFramePr>
          <p:nvPr/>
        </p:nvGraphicFramePr>
        <p:xfrm>
          <a:off x="3563938" y="2659063"/>
          <a:ext cx="1066800" cy="493712"/>
        </p:xfrm>
        <a:graphic>
          <a:graphicData uri="http://schemas.openxmlformats.org/presentationml/2006/ole">
            <mc:AlternateContent xmlns:mc="http://schemas.openxmlformats.org/markup-compatibility/2006">
              <mc:Choice xmlns:v="urn:schemas-microsoft-com:vml" Requires="v">
                <p:oleObj spid="_x0000_s23619" r:id="rId8" imgW="495085" imgH="228501" progId="Equation.DSMT4">
                  <p:embed/>
                </p:oleObj>
              </mc:Choice>
              <mc:Fallback>
                <p:oleObj r:id="rId8" imgW="495085" imgH="228501" progId="Equation.DSMT4">
                  <p:embed/>
                  <p:pic>
                    <p:nvPicPr>
                      <p:cNvPr id="72709" name="对象 13414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938" y="2659063"/>
                        <a:ext cx="10668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0" name="对象 134150"/>
          <p:cNvGraphicFramePr>
            <a:graphicFrameLocks/>
          </p:cNvGraphicFramePr>
          <p:nvPr>
            <p:extLst/>
          </p:nvPr>
        </p:nvGraphicFramePr>
        <p:xfrm>
          <a:off x="4840288" y="2687638"/>
          <a:ext cx="571500" cy="514350"/>
        </p:xfrm>
        <a:graphic>
          <a:graphicData uri="http://schemas.openxmlformats.org/presentationml/2006/ole">
            <mc:AlternateContent xmlns:mc="http://schemas.openxmlformats.org/markup-compatibility/2006">
              <mc:Choice xmlns:v="urn:schemas-microsoft-com:vml" Requires="v">
                <p:oleObj spid="_x0000_s23620" name="Equation" r:id="rId10" imgW="253800" imgH="228600" progId="Equation.DSMT4">
                  <p:embed/>
                </p:oleObj>
              </mc:Choice>
              <mc:Fallback>
                <p:oleObj name="Equation" r:id="rId10" imgW="253800" imgH="228600" progId="Equation.DSMT4">
                  <p:embed/>
                  <p:pic>
                    <p:nvPicPr>
                      <p:cNvPr id="72710" name="对象 134150"/>
                      <p:cNvPicPr>
                        <a:picLocks noChangeArrowheads="1"/>
                      </p:cNvPicPr>
                      <p:nvPr/>
                    </p:nvPicPr>
                    <p:blipFill>
                      <a:blip r:embed="rId11"/>
                      <a:srcRect/>
                      <a:stretch>
                        <a:fillRect/>
                      </a:stretch>
                    </p:blipFill>
                    <p:spPr bwMode="auto">
                      <a:xfrm>
                        <a:off x="4840288" y="2687638"/>
                        <a:ext cx="571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1" name="对象 134151"/>
          <p:cNvGraphicFramePr>
            <a:graphicFrameLocks/>
          </p:cNvGraphicFramePr>
          <p:nvPr>
            <p:extLst/>
          </p:nvPr>
        </p:nvGraphicFramePr>
        <p:xfrm>
          <a:off x="4840288" y="1858963"/>
          <a:ext cx="571500" cy="514350"/>
        </p:xfrm>
        <a:graphic>
          <a:graphicData uri="http://schemas.openxmlformats.org/presentationml/2006/ole">
            <mc:AlternateContent xmlns:mc="http://schemas.openxmlformats.org/markup-compatibility/2006">
              <mc:Choice xmlns:v="urn:schemas-microsoft-com:vml" Requires="v">
                <p:oleObj spid="_x0000_s23621" name="Equation" r:id="rId12" imgW="253800" imgH="228600" progId="Equation.DSMT4">
                  <p:embed/>
                </p:oleObj>
              </mc:Choice>
              <mc:Fallback>
                <p:oleObj name="Equation" r:id="rId12" imgW="253800" imgH="228600" progId="Equation.DSMT4">
                  <p:embed/>
                  <p:pic>
                    <p:nvPicPr>
                      <p:cNvPr id="72711" name="对象 134151"/>
                      <p:cNvPicPr>
                        <a:picLocks noChangeArrowheads="1"/>
                      </p:cNvPicPr>
                      <p:nvPr/>
                    </p:nvPicPr>
                    <p:blipFill>
                      <a:blip r:embed="rId13"/>
                      <a:srcRect/>
                      <a:stretch>
                        <a:fillRect/>
                      </a:stretch>
                    </p:blipFill>
                    <p:spPr bwMode="auto">
                      <a:xfrm>
                        <a:off x="4840288" y="1858963"/>
                        <a:ext cx="571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2" name="对象 134152"/>
          <p:cNvGraphicFramePr>
            <a:graphicFrameLocks/>
          </p:cNvGraphicFramePr>
          <p:nvPr>
            <p:extLst/>
          </p:nvPr>
        </p:nvGraphicFramePr>
        <p:xfrm>
          <a:off x="4840288" y="3382963"/>
          <a:ext cx="571500" cy="514350"/>
        </p:xfrm>
        <a:graphic>
          <a:graphicData uri="http://schemas.openxmlformats.org/presentationml/2006/ole">
            <mc:AlternateContent xmlns:mc="http://schemas.openxmlformats.org/markup-compatibility/2006">
              <mc:Choice xmlns:v="urn:schemas-microsoft-com:vml" Requires="v">
                <p:oleObj spid="_x0000_s23622" name="Equation" r:id="rId14" imgW="253800" imgH="228600" progId="Equation.DSMT4">
                  <p:embed/>
                </p:oleObj>
              </mc:Choice>
              <mc:Fallback>
                <p:oleObj name="Equation" r:id="rId14" imgW="253800" imgH="228600" progId="Equation.DSMT4">
                  <p:embed/>
                  <p:pic>
                    <p:nvPicPr>
                      <p:cNvPr id="72712" name="对象 134152"/>
                      <p:cNvPicPr>
                        <a:picLocks noChangeArrowheads="1"/>
                      </p:cNvPicPr>
                      <p:nvPr/>
                    </p:nvPicPr>
                    <p:blipFill>
                      <a:blip r:embed="rId15"/>
                      <a:srcRect/>
                      <a:stretch>
                        <a:fillRect/>
                      </a:stretch>
                    </p:blipFill>
                    <p:spPr bwMode="auto">
                      <a:xfrm>
                        <a:off x="4840288" y="3382963"/>
                        <a:ext cx="571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26" name="对象 133125"/>
          <p:cNvGraphicFramePr>
            <a:graphicFrameLocks/>
          </p:cNvGraphicFramePr>
          <p:nvPr>
            <p:extLst/>
          </p:nvPr>
        </p:nvGraphicFramePr>
        <p:xfrm>
          <a:off x="2586038" y="328613"/>
          <a:ext cx="4379912" cy="1060450"/>
        </p:xfrm>
        <a:graphic>
          <a:graphicData uri="http://schemas.openxmlformats.org/presentationml/2006/ole">
            <mc:AlternateContent xmlns:mc="http://schemas.openxmlformats.org/markup-compatibility/2006">
              <mc:Choice xmlns:v="urn:schemas-microsoft-com:vml" Requires="v">
                <p:oleObj spid="_x0000_s23623" name="Equation" r:id="rId16" imgW="1993680" imgH="482400" progId="Equation.DSMT4">
                  <p:embed/>
                </p:oleObj>
              </mc:Choice>
              <mc:Fallback>
                <p:oleObj name="Equation" r:id="rId16" imgW="1993680" imgH="482400" progId="Equation.DSMT4">
                  <p:embed/>
                  <p:pic>
                    <p:nvPicPr>
                      <p:cNvPr id="133126" name="对象 133125"/>
                      <p:cNvPicPr>
                        <a:picLocks noChangeArrowheads="1"/>
                      </p:cNvPicPr>
                      <p:nvPr/>
                    </p:nvPicPr>
                    <p:blipFill>
                      <a:blip r:embed="rId17"/>
                      <a:srcRect/>
                      <a:stretch>
                        <a:fillRect/>
                      </a:stretch>
                    </p:blipFill>
                    <p:spPr bwMode="auto">
                      <a:xfrm>
                        <a:off x="2586038" y="328613"/>
                        <a:ext cx="4379912" cy="10604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本框 1"/>
          <p:cNvSpPr txBox="1">
            <a:spLocks noChangeArrowheads="1"/>
          </p:cNvSpPr>
          <p:nvPr/>
        </p:nvSpPr>
        <p:spPr bwMode="auto">
          <a:xfrm>
            <a:off x="1375786" y="1773238"/>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smtClean="0">
                <a:sym typeface="宋体" panose="02010600030101010101" pitchFamily="2" charset="-122"/>
              </a:rPr>
              <a:t>讨论：</a:t>
            </a:r>
            <a:endParaRPr lang="zh-CN" altLang="en-US" sz="2400" b="1" dirty="0">
              <a:sym typeface="宋体" panose="02010600030101010101" pitchFamily="2" charset="-122"/>
            </a:endParaRPr>
          </a:p>
        </p:txBody>
      </p:sp>
    </p:spTree>
    <p:custDataLst>
      <p:tags r:id="rId2"/>
    </p:custDataLst>
    <p:extLst>
      <p:ext uri="{BB962C8B-B14F-4D97-AF65-F5344CB8AC3E}">
        <p14:creationId xmlns:p14="http://schemas.microsoft.com/office/powerpoint/2010/main" val="2294703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29" name="对象 135170"/>
          <p:cNvGraphicFramePr>
            <a:graphicFrameLocks noChangeAspect="1"/>
          </p:cNvGraphicFramePr>
          <p:nvPr>
            <p:extLst/>
          </p:nvPr>
        </p:nvGraphicFramePr>
        <p:xfrm>
          <a:off x="722313" y="3386138"/>
          <a:ext cx="3592512" cy="998537"/>
        </p:xfrm>
        <a:graphic>
          <a:graphicData uri="http://schemas.openxmlformats.org/presentationml/2006/ole">
            <mc:AlternateContent xmlns:mc="http://schemas.openxmlformats.org/markup-compatibility/2006">
              <mc:Choice xmlns:v="urn:schemas-microsoft-com:vml" Requires="v">
                <p:oleObj spid="_x0000_s24632" name="Equation" r:id="rId3" imgW="1600200" imgH="444240" progId="Equation.DSMT4">
                  <p:embed/>
                </p:oleObj>
              </mc:Choice>
              <mc:Fallback>
                <p:oleObj name="Equation" r:id="rId3" imgW="1600200" imgH="444240" progId="Equation.DSMT4">
                  <p:embed/>
                  <p:pic>
                    <p:nvPicPr>
                      <p:cNvPr id="73729" name="对象 135170"/>
                      <p:cNvPicPr>
                        <a:picLocks noChangeAspect="1" noChangeArrowheads="1"/>
                      </p:cNvPicPr>
                      <p:nvPr/>
                    </p:nvPicPr>
                    <p:blipFill>
                      <a:blip r:embed="rId4"/>
                      <a:srcRect/>
                      <a:stretch>
                        <a:fillRect/>
                      </a:stretch>
                    </p:blipFill>
                    <p:spPr bwMode="auto">
                      <a:xfrm>
                        <a:off x="722313" y="3386138"/>
                        <a:ext cx="3592512"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5174" name="对象 135173"/>
          <p:cNvGraphicFramePr>
            <a:graphicFrameLocks/>
          </p:cNvGraphicFramePr>
          <p:nvPr/>
        </p:nvGraphicFramePr>
        <p:xfrm>
          <a:off x="633413" y="2557463"/>
          <a:ext cx="2319337" cy="595312"/>
        </p:xfrm>
        <a:graphic>
          <a:graphicData uri="http://schemas.openxmlformats.org/presentationml/2006/ole">
            <mc:AlternateContent xmlns:mc="http://schemas.openxmlformats.org/markup-compatibility/2006">
              <mc:Choice xmlns:v="urn:schemas-microsoft-com:vml" Requires="v">
                <p:oleObj spid="_x0000_s24633" r:id="rId5" imgW="989741" imgH="253780" progId="Equation.DSMT4">
                  <p:embed/>
                </p:oleObj>
              </mc:Choice>
              <mc:Fallback>
                <p:oleObj r:id="rId5" imgW="989741" imgH="253780" progId="Equation.DSMT4">
                  <p:embed/>
                  <p:pic>
                    <p:nvPicPr>
                      <p:cNvPr id="135174" name="对象 13517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413" y="2557463"/>
                        <a:ext cx="231933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5175" name="对象 135174"/>
          <p:cNvGraphicFramePr>
            <a:graphicFrameLocks/>
          </p:cNvGraphicFramePr>
          <p:nvPr/>
        </p:nvGraphicFramePr>
        <p:xfrm>
          <a:off x="633413" y="1543050"/>
          <a:ext cx="2382837" cy="617538"/>
        </p:xfrm>
        <a:graphic>
          <a:graphicData uri="http://schemas.openxmlformats.org/presentationml/2006/ole">
            <mc:AlternateContent xmlns:mc="http://schemas.openxmlformats.org/markup-compatibility/2006">
              <mc:Choice xmlns:v="urn:schemas-microsoft-com:vml" Requires="v">
                <p:oleObj spid="_x0000_s24634" r:id="rId7" imgW="977052" imgH="253780" progId="Equation.DSMT4">
                  <p:embed/>
                </p:oleObj>
              </mc:Choice>
              <mc:Fallback>
                <p:oleObj r:id="rId7" imgW="977052" imgH="253780" progId="Equation.DSMT4">
                  <p:embed/>
                  <p:pic>
                    <p:nvPicPr>
                      <p:cNvPr id="135175" name="对象 13517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413" y="1543050"/>
                        <a:ext cx="23828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5176" name="对象 135175"/>
          <p:cNvGraphicFramePr>
            <a:graphicFrameLocks/>
          </p:cNvGraphicFramePr>
          <p:nvPr>
            <p:extLst/>
          </p:nvPr>
        </p:nvGraphicFramePr>
        <p:xfrm>
          <a:off x="1633538" y="4614863"/>
          <a:ext cx="2628900" cy="1001712"/>
        </p:xfrm>
        <a:graphic>
          <a:graphicData uri="http://schemas.openxmlformats.org/presentationml/2006/ole">
            <mc:AlternateContent xmlns:mc="http://schemas.openxmlformats.org/markup-compatibility/2006">
              <mc:Choice xmlns:v="urn:schemas-microsoft-com:vml" Requires="v">
                <p:oleObj spid="_x0000_s24635" name="Equation" r:id="rId9" imgW="1231560" imgH="469800" progId="Equation.DSMT4">
                  <p:embed/>
                </p:oleObj>
              </mc:Choice>
              <mc:Fallback>
                <p:oleObj name="Equation" r:id="rId9" imgW="1231560" imgH="469800" progId="Equation.DSMT4">
                  <p:embed/>
                  <p:pic>
                    <p:nvPicPr>
                      <p:cNvPr id="135176" name="对象 135175"/>
                      <p:cNvPicPr>
                        <a:picLocks noChangeArrowheads="1"/>
                      </p:cNvPicPr>
                      <p:nvPr/>
                    </p:nvPicPr>
                    <p:blipFill>
                      <a:blip r:embed="rId10"/>
                      <a:srcRect/>
                      <a:stretch>
                        <a:fillRect/>
                      </a:stretch>
                    </p:blipFill>
                    <p:spPr bwMode="auto">
                      <a:xfrm>
                        <a:off x="1633538" y="4614863"/>
                        <a:ext cx="26289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3" name="矩形 135176"/>
          <p:cNvSpPr>
            <a:spLocks noChangeArrowheads="1"/>
          </p:cNvSpPr>
          <p:nvPr/>
        </p:nvSpPr>
        <p:spPr bwMode="auto">
          <a:xfrm>
            <a:off x="3971925" y="2895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3734" name="矩形 135177"/>
          <p:cNvSpPr>
            <a:spLocks noChangeArrowheads="1"/>
          </p:cNvSpPr>
          <p:nvPr/>
        </p:nvSpPr>
        <p:spPr bwMode="auto">
          <a:xfrm>
            <a:off x="3767138" y="2676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3735" name="矩形 135178"/>
          <p:cNvSpPr>
            <a:spLocks noChangeArrowheads="1"/>
          </p:cNvSpPr>
          <p:nvPr/>
        </p:nvSpPr>
        <p:spPr bwMode="auto">
          <a:xfrm>
            <a:off x="3986213"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3736" name="矩形 135179"/>
          <p:cNvSpPr>
            <a:spLocks noChangeArrowheads="1"/>
          </p:cNvSpPr>
          <p:nvPr/>
        </p:nvSpPr>
        <p:spPr bwMode="auto">
          <a:xfrm>
            <a:off x="3971925" y="2895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3737" name="矩形 135181"/>
          <p:cNvSpPr>
            <a:spLocks noChangeArrowheads="1"/>
          </p:cNvSpPr>
          <p:nvPr/>
        </p:nvSpPr>
        <p:spPr bwMode="auto">
          <a:xfrm>
            <a:off x="3624263"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3738" name="矩形 140291"/>
          <p:cNvSpPr>
            <a:spLocks noChangeArrowheads="1"/>
          </p:cNvSpPr>
          <p:nvPr/>
        </p:nvSpPr>
        <p:spPr bwMode="auto">
          <a:xfrm>
            <a:off x="333375" y="473075"/>
            <a:ext cx="7812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3200" b="1" dirty="0">
                <a:latin typeface="Times New Roman" panose="02020603050405020304" pitchFamily="18" charset="0"/>
              </a:rPr>
              <a:t>2. </a:t>
            </a:r>
            <a:r>
              <a:rPr lang="zh-CN" altLang="en-US" sz="3200" b="1" dirty="0"/>
              <a:t>定压加热理想循环</a:t>
            </a:r>
          </a:p>
        </p:txBody>
      </p:sp>
      <p:pic>
        <p:nvPicPr>
          <p:cNvPr id="73739" name="图片 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16525" y="130175"/>
            <a:ext cx="34544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0" name="文本框 1"/>
          <p:cNvSpPr txBox="1">
            <a:spLocks noChangeArrowheads="1"/>
          </p:cNvSpPr>
          <p:nvPr/>
        </p:nvSpPr>
        <p:spPr bwMode="auto">
          <a:xfrm>
            <a:off x="854075" y="4819650"/>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t>或</a:t>
            </a:r>
          </a:p>
        </p:txBody>
      </p:sp>
      <p:graphicFrame>
        <p:nvGraphicFramePr>
          <p:cNvPr id="73741" name="对象 136194"/>
          <p:cNvGraphicFramePr>
            <a:graphicFrameLocks/>
          </p:cNvGraphicFramePr>
          <p:nvPr>
            <p:extLst/>
          </p:nvPr>
        </p:nvGraphicFramePr>
        <p:xfrm>
          <a:off x="5710238" y="4537075"/>
          <a:ext cx="2225675" cy="557213"/>
        </p:xfrm>
        <a:graphic>
          <a:graphicData uri="http://schemas.openxmlformats.org/presentationml/2006/ole">
            <mc:AlternateContent xmlns:mc="http://schemas.openxmlformats.org/markup-compatibility/2006">
              <mc:Choice xmlns:v="urn:schemas-microsoft-com:vml" Requires="v">
                <p:oleObj spid="_x0000_s24636" name="Equation" r:id="rId12" imgW="914400" imgH="228600" progId="Equation.DSMT4">
                  <p:embed/>
                </p:oleObj>
              </mc:Choice>
              <mc:Fallback>
                <p:oleObj name="Equation" r:id="rId12" imgW="914400" imgH="228600" progId="Equation.DSMT4">
                  <p:embed/>
                  <p:pic>
                    <p:nvPicPr>
                      <p:cNvPr id="73741" name="对象 136194"/>
                      <p:cNvPicPr>
                        <a:picLocks noChangeArrowheads="1"/>
                      </p:cNvPicPr>
                      <p:nvPr/>
                    </p:nvPicPr>
                    <p:blipFill>
                      <a:blip r:embed="rId13"/>
                      <a:srcRect/>
                      <a:stretch>
                        <a:fillRect/>
                      </a:stretch>
                    </p:blipFill>
                    <p:spPr bwMode="auto">
                      <a:xfrm>
                        <a:off x="5710238" y="4537075"/>
                        <a:ext cx="222567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42" name="对象 156677"/>
          <p:cNvGraphicFramePr>
            <a:graphicFrameLocks/>
          </p:cNvGraphicFramePr>
          <p:nvPr>
            <p:extLst/>
          </p:nvPr>
        </p:nvGraphicFramePr>
        <p:xfrm>
          <a:off x="5681663" y="5524500"/>
          <a:ext cx="2282825" cy="563563"/>
        </p:xfrm>
        <a:graphic>
          <a:graphicData uri="http://schemas.openxmlformats.org/presentationml/2006/ole">
            <mc:AlternateContent xmlns:mc="http://schemas.openxmlformats.org/markup-compatibility/2006">
              <mc:Choice xmlns:v="urn:schemas-microsoft-com:vml" Requires="v">
                <p:oleObj spid="_x0000_s24637" name="Equation" r:id="rId14" imgW="927000" imgH="228600" progId="Equation.DSMT4">
                  <p:embed/>
                </p:oleObj>
              </mc:Choice>
              <mc:Fallback>
                <p:oleObj name="Equation" r:id="rId14" imgW="927000" imgH="228600" progId="Equation.DSMT4">
                  <p:embed/>
                  <p:pic>
                    <p:nvPicPr>
                      <p:cNvPr id="73742" name="对象 156677"/>
                      <p:cNvPicPr>
                        <a:picLocks noChangeArrowheads="1"/>
                      </p:cNvPicPr>
                      <p:nvPr/>
                    </p:nvPicPr>
                    <p:blipFill>
                      <a:blip r:embed="rId15"/>
                      <a:srcRect/>
                      <a:stretch>
                        <a:fillRect/>
                      </a:stretch>
                    </p:blipFill>
                    <p:spPr bwMode="auto">
                      <a:xfrm>
                        <a:off x="5681663" y="5524500"/>
                        <a:ext cx="228282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3" name="文本框 136193"/>
          <p:cNvSpPr txBox="1">
            <a:spLocks noChangeArrowheads="1"/>
          </p:cNvSpPr>
          <p:nvPr/>
        </p:nvSpPr>
        <p:spPr bwMode="auto">
          <a:xfrm>
            <a:off x="5181600" y="3863975"/>
            <a:ext cx="298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imes New Roman" panose="02020603050405020304" pitchFamily="18" charset="0"/>
              </a:rPr>
              <a:t>讨论：</a:t>
            </a:r>
          </a:p>
        </p:txBody>
      </p:sp>
    </p:spTree>
    <p:extLst>
      <p:ext uri="{BB962C8B-B14F-4D97-AF65-F5344CB8AC3E}">
        <p14:creationId xmlns:p14="http://schemas.microsoft.com/office/powerpoint/2010/main" val="3249528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矩形 138258"/>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138242" name="对象 138241"/>
          <p:cNvGraphicFramePr>
            <a:graphicFrameLocks/>
          </p:cNvGraphicFramePr>
          <p:nvPr/>
        </p:nvGraphicFramePr>
        <p:xfrm>
          <a:off x="817563" y="1571625"/>
          <a:ext cx="2581275" cy="669925"/>
        </p:xfrm>
        <a:graphic>
          <a:graphicData uri="http://schemas.openxmlformats.org/presentationml/2006/ole">
            <mc:AlternateContent xmlns:mc="http://schemas.openxmlformats.org/markup-compatibility/2006">
              <mc:Choice xmlns:v="urn:schemas-microsoft-com:vml" Requires="v">
                <p:oleObj spid="_x0000_s25647" r:id="rId3" imgW="977052" imgH="253780" progId="Equation.DSMT4">
                  <p:embed/>
                </p:oleObj>
              </mc:Choice>
              <mc:Fallback>
                <p:oleObj r:id="rId3" imgW="977052" imgH="253780" progId="Equation.DSMT4">
                  <p:embed/>
                  <p:pic>
                    <p:nvPicPr>
                      <p:cNvPr id="138242" name="对象 1382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563" y="1571625"/>
                        <a:ext cx="25812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43" name="对象 138242"/>
          <p:cNvGraphicFramePr>
            <a:graphicFrameLocks/>
          </p:cNvGraphicFramePr>
          <p:nvPr>
            <p:extLst/>
          </p:nvPr>
        </p:nvGraphicFramePr>
        <p:xfrm>
          <a:off x="1493838" y="4751388"/>
          <a:ext cx="1857375" cy="992187"/>
        </p:xfrm>
        <a:graphic>
          <a:graphicData uri="http://schemas.openxmlformats.org/presentationml/2006/ole">
            <mc:AlternateContent xmlns:mc="http://schemas.openxmlformats.org/markup-compatibility/2006">
              <mc:Choice xmlns:v="urn:schemas-microsoft-com:vml" Requires="v">
                <p:oleObj spid="_x0000_s25648" name="Equation" r:id="rId5" imgW="736560" imgH="393480" progId="Equation.DSMT4">
                  <p:embed/>
                </p:oleObj>
              </mc:Choice>
              <mc:Fallback>
                <p:oleObj name="Equation" r:id="rId5" imgW="736560" imgH="393480" progId="Equation.DSMT4">
                  <p:embed/>
                  <p:pic>
                    <p:nvPicPr>
                      <p:cNvPr id="138243" name="对象 138242"/>
                      <p:cNvPicPr>
                        <a:picLocks noChangeArrowheads="1"/>
                      </p:cNvPicPr>
                      <p:nvPr/>
                    </p:nvPicPr>
                    <p:blipFill>
                      <a:blip r:embed="rId6"/>
                      <a:srcRect/>
                      <a:stretch>
                        <a:fillRect/>
                      </a:stretch>
                    </p:blipFill>
                    <p:spPr bwMode="auto">
                      <a:xfrm>
                        <a:off x="1493838" y="4751388"/>
                        <a:ext cx="1857375"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44" name="对象 138243"/>
          <p:cNvGraphicFramePr>
            <a:graphicFrameLocks/>
          </p:cNvGraphicFramePr>
          <p:nvPr/>
        </p:nvGraphicFramePr>
        <p:xfrm>
          <a:off x="817563" y="2462213"/>
          <a:ext cx="2471737" cy="677862"/>
        </p:xfrm>
        <a:graphic>
          <a:graphicData uri="http://schemas.openxmlformats.org/presentationml/2006/ole">
            <mc:AlternateContent xmlns:mc="http://schemas.openxmlformats.org/markup-compatibility/2006">
              <mc:Choice xmlns:v="urn:schemas-microsoft-com:vml" Requires="v">
                <p:oleObj spid="_x0000_s25649" r:id="rId7" imgW="989741" imgH="253780" progId="Equation.DSMT4">
                  <p:embed/>
                </p:oleObj>
              </mc:Choice>
              <mc:Fallback>
                <p:oleObj r:id="rId7" imgW="989741" imgH="253780" progId="Equation.DSMT4">
                  <p:embed/>
                  <p:pic>
                    <p:nvPicPr>
                      <p:cNvPr id="138244" name="对象 13824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7563" y="2462213"/>
                        <a:ext cx="2471737"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45" name="对象 138244"/>
          <p:cNvGraphicFramePr>
            <a:graphicFrameLocks/>
          </p:cNvGraphicFramePr>
          <p:nvPr>
            <p:extLst/>
          </p:nvPr>
        </p:nvGraphicFramePr>
        <p:xfrm>
          <a:off x="866775" y="3427413"/>
          <a:ext cx="3602038" cy="1133475"/>
        </p:xfrm>
        <a:graphic>
          <a:graphicData uri="http://schemas.openxmlformats.org/presentationml/2006/ole">
            <mc:AlternateContent xmlns:mc="http://schemas.openxmlformats.org/markup-compatibility/2006">
              <mc:Choice xmlns:v="urn:schemas-microsoft-com:vml" Requires="v">
                <p:oleObj spid="_x0000_s25650" name="Equation" r:id="rId9" imgW="1371600" imgH="431640" progId="Equation.DSMT4">
                  <p:embed/>
                </p:oleObj>
              </mc:Choice>
              <mc:Fallback>
                <p:oleObj name="Equation" r:id="rId9" imgW="1371600" imgH="431640" progId="Equation.DSMT4">
                  <p:embed/>
                  <p:pic>
                    <p:nvPicPr>
                      <p:cNvPr id="138245" name="对象 138244"/>
                      <p:cNvPicPr>
                        <a:picLocks noChangeArrowheads="1"/>
                      </p:cNvPicPr>
                      <p:nvPr/>
                    </p:nvPicPr>
                    <p:blipFill>
                      <a:blip r:embed="rId10"/>
                      <a:srcRect/>
                      <a:stretch>
                        <a:fillRect/>
                      </a:stretch>
                    </p:blipFill>
                    <p:spPr bwMode="auto">
                      <a:xfrm>
                        <a:off x="866775" y="3427413"/>
                        <a:ext cx="3602038"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8" name="矩形 138245"/>
          <p:cNvSpPr>
            <a:spLocks noChangeArrowheads="1"/>
          </p:cNvSpPr>
          <p:nvPr/>
        </p:nvSpPr>
        <p:spPr bwMode="auto">
          <a:xfrm>
            <a:off x="3943350"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4759" name="矩形 138246"/>
          <p:cNvSpPr>
            <a:spLocks noChangeArrowheads="1"/>
          </p:cNvSpPr>
          <p:nvPr/>
        </p:nvSpPr>
        <p:spPr bwMode="auto">
          <a:xfrm>
            <a:off x="4000500"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4760" name="矩形 138248"/>
          <p:cNvSpPr>
            <a:spLocks noChangeArrowheads="1"/>
          </p:cNvSpPr>
          <p:nvPr/>
        </p:nvSpPr>
        <p:spPr bwMode="auto">
          <a:xfrm>
            <a:off x="3533775" y="250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4761" name="矩形 138249"/>
          <p:cNvSpPr>
            <a:spLocks noChangeArrowheads="1"/>
          </p:cNvSpPr>
          <p:nvPr/>
        </p:nvSpPr>
        <p:spPr bwMode="auto">
          <a:xfrm>
            <a:off x="3614738"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4762" name="矩形 140291"/>
          <p:cNvSpPr>
            <a:spLocks noChangeArrowheads="1"/>
          </p:cNvSpPr>
          <p:nvPr/>
        </p:nvSpPr>
        <p:spPr bwMode="auto">
          <a:xfrm>
            <a:off x="333375" y="473075"/>
            <a:ext cx="7812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3200" b="1" dirty="0">
                <a:latin typeface="Times New Roman" panose="02020603050405020304" pitchFamily="18" charset="0"/>
              </a:rPr>
              <a:t>3. </a:t>
            </a:r>
            <a:r>
              <a:rPr lang="zh-CN" altLang="en-US" sz="3200" b="1" dirty="0"/>
              <a:t>定容加热理想循环</a:t>
            </a:r>
          </a:p>
        </p:txBody>
      </p:sp>
      <p:pic>
        <p:nvPicPr>
          <p:cNvPr id="74763" name="图片 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02238" y="349250"/>
            <a:ext cx="3465512"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4" name="文本框 1"/>
          <p:cNvSpPr txBox="1">
            <a:spLocks noChangeArrowheads="1"/>
          </p:cNvSpPr>
          <p:nvPr/>
        </p:nvSpPr>
        <p:spPr bwMode="auto">
          <a:xfrm>
            <a:off x="620713" y="5076825"/>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ym typeface="宋体" panose="02010600030101010101" pitchFamily="2" charset="-122"/>
              </a:rPr>
              <a:t>或</a:t>
            </a:r>
          </a:p>
        </p:txBody>
      </p:sp>
      <p:graphicFrame>
        <p:nvGraphicFramePr>
          <p:cNvPr id="74766" name="对象 139266"/>
          <p:cNvGraphicFramePr>
            <a:graphicFrameLocks/>
          </p:cNvGraphicFramePr>
          <p:nvPr>
            <p:extLst/>
          </p:nvPr>
        </p:nvGraphicFramePr>
        <p:xfrm>
          <a:off x="5764213" y="5175250"/>
          <a:ext cx="1458912" cy="508000"/>
        </p:xfrm>
        <a:graphic>
          <a:graphicData uri="http://schemas.openxmlformats.org/presentationml/2006/ole">
            <mc:AlternateContent xmlns:mc="http://schemas.openxmlformats.org/markup-compatibility/2006">
              <mc:Choice xmlns:v="urn:schemas-microsoft-com:vml" Requires="v">
                <p:oleObj spid="_x0000_s25651" name="Equation" r:id="rId12" imgW="571320" imgH="228600" progId="Equation.DSMT4">
                  <p:embed/>
                </p:oleObj>
              </mc:Choice>
              <mc:Fallback>
                <p:oleObj name="Equation" r:id="rId12" imgW="571320" imgH="228600" progId="Equation.DSMT4">
                  <p:embed/>
                  <p:pic>
                    <p:nvPicPr>
                      <p:cNvPr id="74766" name="对象 139266"/>
                      <p:cNvPicPr>
                        <a:picLocks noChangeArrowheads="1"/>
                      </p:cNvPicPr>
                      <p:nvPr/>
                    </p:nvPicPr>
                    <p:blipFill>
                      <a:blip r:embed="rId13"/>
                      <a:srcRect/>
                      <a:stretch>
                        <a:fillRect/>
                      </a:stretch>
                    </p:blipFill>
                    <p:spPr bwMode="auto">
                      <a:xfrm>
                        <a:off x="5764213" y="5175250"/>
                        <a:ext cx="14589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文本框 1"/>
          <p:cNvSpPr txBox="1">
            <a:spLocks noChangeArrowheads="1"/>
          </p:cNvSpPr>
          <p:nvPr/>
        </p:nvSpPr>
        <p:spPr bwMode="auto">
          <a:xfrm>
            <a:off x="5380864" y="4585422"/>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smtClean="0">
                <a:sym typeface="宋体" panose="02010600030101010101" pitchFamily="2" charset="-122"/>
              </a:rPr>
              <a:t>讨论：</a:t>
            </a:r>
            <a:endParaRPr lang="zh-CN" altLang="en-US" sz="2400" b="1" dirty="0">
              <a:sym typeface="宋体" panose="02010600030101010101" pitchFamily="2" charset="-122"/>
            </a:endParaRPr>
          </a:p>
        </p:txBody>
      </p:sp>
    </p:spTree>
    <p:extLst>
      <p:ext uri="{BB962C8B-B14F-4D97-AF65-F5344CB8AC3E}">
        <p14:creationId xmlns:p14="http://schemas.microsoft.com/office/powerpoint/2010/main" val="23282296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44387"/>
          <p:cNvSpPr>
            <a:spLocks noChangeArrowheads="1"/>
          </p:cNvSpPr>
          <p:nvPr/>
        </p:nvSpPr>
        <p:spPr bwMode="auto">
          <a:xfrm>
            <a:off x="208973" y="339004"/>
            <a:ext cx="7812088"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zh-CN" altLang="en-US" sz="4000" b="1" dirty="0">
                <a:latin typeface="Times New Roman" panose="02020603050405020304" pitchFamily="18" charset="0"/>
              </a:rPr>
              <a:t>二、三</a:t>
            </a:r>
            <a:r>
              <a:rPr lang="zh-CN" altLang="en-US" sz="4000" b="1" dirty="0"/>
              <a:t>种理想循环的热力学比较</a:t>
            </a:r>
          </a:p>
        </p:txBody>
      </p:sp>
      <p:sp>
        <p:nvSpPr>
          <p:cNvPr id="75778" name="文本框 1"/>
          <p:cNvSpPr txBox="1">
            <a:spLocks noChangeArrowheads="1"/>
          </p:cNvSpPr>
          <p:nvPr/>
        </p:nvSpPr>
        <p:spPr bwMode="auto">
          <a:xfrm>
            <a:off x="755650" y="1484313"/>
            <a:ext cx="764857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 typeface="Arial" panose="020B0604020202020204" pitchFamily="34" charset="0"/>
              <a:buChar char="•"/>
            </a:pPr>
            <a:r>
              <a:rPr lang="zh-CN" altLang="en-US" sz="2800" b="1" dirty="0" smtClean="0"/>
              <a:t>活塞</a:t>
            </a:r>
            <a:r>
              <a:rPr lang="zh-CN" altLang="en-US" sz="2800" b="1" dirty="0"/>
              <a:t>式内燃机各种循环热效率的比较取决于实施循环时的条件，因此在进行各种理想循环的比较时，需要</a:t>
            </a:r>
            <a:r>
              <a:rPr lang="zh-CN" altLang="en-US" sz="2800" b="1" dirty="0">
                <a:solidFill>
                  <a:srgbClr val="FF0000"/>
                </a:solidFill>
              </a:rPr>
              <a:t>在相同的参数条件</a:t>
            </a:r>
            <a:r>
              <a:rPr lang="zh-CN" altLang="en-US" sz="2800" b="1" dirty="0"/>
              <a:t>下</a:t>
            </a:r>
            <a:r>
              <a:rPr lang="zh-CN" altLang="en-US" sz="2800" b="1" dirty="0" smtClean="0"/>
              <a:t>进行</a:t>
            </a:r>
            <a:endParaRPr lang="zh-CN" altLang="en-US" sz="2800" b="1" dirty="0"/>
          </a:p>
          <a:p>
            <a:pPr marL="342900" indent="-342900">
              <a:buFont typeface="Arial" panose="020B0604020202020204" pitchFamily="34" charset="0"/>
              <a:buChar char="•"/>
            </a:pPr>
            <a:r>
              <a:rPr lang="zh-CN" altLang="en-US" sz="2800" b="1" dirty="0" smtClean="0"/>
              <a:t>一般</a:t>
            </a:r>
            <a:r>
              <a:rPr lang="zh-CN" altLang="en-US" sz="2800" b="1" dirty="0"/>
              <a:t>地，在初始状态相同的情况下，分别</a:t>
            </a:r>
            <a:r>
              <a:rPr lang="zh-CN" altLang="en-US" sz="2800" b="1" dirty="0" smtClean="0"/>
              <a:t>以</a:t>
            </a:r>
            <a:r>
              <a:rPr lang="en-US" altLang="zh-CN" sz="2800" b="1" dirty="0" smtClean="0"/>
              <a:t>:1</a:t>
            </a:r>
            <a:r>
              <a:rPr lang="zh-CN" altLang="en-US" sz="2800" b="1" dirty="0"/>
              <a:t>、压缩比相同、吸热量相同</a:t>
            </a:r>
            <a:r>
              <a:rPr lang="zh-CN" altLang="en-US" sz="2800" b="1" dirty="0" smtClean="0"/>
              <a:t>；</a:t>
            </a:r>
            <a:r>
              <a:rPr lang="en-US" altLang="zh-CN" sz="2800" b="1" dirty="0" smtClean="0"/>
              <a:t>2</a:t>
            </a:r>
            <a:r>
              <a:rPr lang="zh-CN" altLang="en-US" sz="2800" b="1" dirty="0"/>
              <a:t>、循环最高压力和最高温度</a:t>
            </a:r>
            <a:r>
              <a:rPr lang="zh-CN" altLang="en-US" sz="2800" b="1" dirty="0" smtClean="0"/>
              <a:t>相同作为</a:t>
            </a:r>
            <a:r>
              <a:rPr lang="zh-CN" altLang="en-US" sz="2800" b="1" dirty="0"/>
              <a:t>比较</a:t>
            </a:r>
            <a:r>
              <a:rPr lang="zh-CN" altLang="en-US" sz="2800" b="1" dirty="0" smtClean="0"/>
              <a:t>基础</a:t>
            </a:r>
            <a:endParaRPr lang="zh-CN" altLang="en-US" sz="2800" b="1" dirty="0"/>
          </a:p>
          <a:p>
            <a:pPr marL="342900" indent="-342900">
              <a:buFont typeface="Arial" panose="020B0604020202020204" pitchFamily="34" charset="0"/>
              <a:buChar char="•"/>
            </a:pPr>
            <a:r>
              <a:rPr lang="zh-CN" altLang="en-US" sz="2800" b="1" dirty="0" smtClean="0"/>
              <a:t>在</a:t>
            </a:r>
            <a:r>
              <a:rPr lang="zh-CN" altLang="en-US" sz="2800" b="1" dirty="0"/>
              <a:t>进行分析比较时，采用</a:t>
            </a:r>
            <a:r>
              <a:rPr lang="zh-CN" altLang="en-US" sz="2800" b="1" dirty="0">
                <a:solidFill>
                  <a:srgbClr val="FF0000"/>
                </a:solidFill>
              </a:rPr>
              <a:t>温熵图</a:t>
            </a:r>
            <a:r>
              <a:rPr lang="zh-CN" altLang="en-US" sz="2800" b="1" dirty="0"/>
              <a:t>最为简便，原因是温熵图可方便地比较换热量的大小以及</a:t>
            </a:r>
            <a:r>
              <a:rPr lang="zh-CN" altLang="en-US" sz="2800" b="1" dirty="0">
                <a:solidFill>
                  <a:srgbClr val="0000FF"/>
                </a:solidFill>
              </a:rPr>
              <a:t>平均温度</a:t>
            </a:r>
            <a:r>
              <a:rPr lang="zh-CN" altLang="en-US" sz="2800" b="1" dirty="0"/>
              <a:t>的高低</a:t>
            </a:r>
          </a:p>
        </p:txBody>
      </p:sp>
    </p:spTree>
    <p:extLst>
      <p:ext uri="{BB962C8B-B14F-4D97-AF65-F5344CB8AC3E}">
        <p14:creationId xmlns:p14="http://schemas.microsoft.com/office/powerpoint/2010/main" val="2021283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2" name="对象 17"/>
          <p:cNvGraphicFramePr>
            <a:graphicFrameLocks noChangeAspect="1"/>
          </p:cNvGraphicFramePr>
          <p:nvPr/>
        </p:nvGraphicFramePr>
        <p:xfrm>
          <a:off x="5842000" y="1098550"/>
          <a:ext cx="3119438" cy="852488"/>
        </p:xfrm>
        <a:graphic>
          <a:graphicData uri="http://schemas.openxmlformats.org/presentationml/2006/ole">
            <mc:AlternateContent xmlns:mc="http://schemas.openxmlformats.org/markup-compatibility/2006">
              <mc:Choice xmlns:v="urn:schemas-microsoft-com:vml" Requires="v">
                <p:oleObj spid="_x0000_s26659" r:id="rId3" imgW="1523880" imgH="444240" progId="Equation.DSMT4">
                  <p:embed/>
                </p:oleObj>
              </mc:Choice>
              <mc:Fallback>
                <p:oleObj r:id="rId3" imgW="1523880" imgH="444240" progId="Equation.DSMT4">
                  <p:embed/>
                  <p:pic>
                    <p:nvPicPr>
                      <p:cNvPr id="76802"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0" y="1098550"/>
                        <a:ext cx="3119438" cy="852488"/>
                      </a:xfrm>
                      <a:prstGeom prst="rect">
                        <a:avLst/>
                      </a:prstGeom>
                      <a:noFill/>
                      <a:ln w="28575">
                        <a:solidFill>
                          <a:srgbClr val="89A4A7"/>
                        </a:solidFill>
                        <a:round/>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03" name="文本框 19"/>
          <p:cNvSpPr txBox="1">
            <a:spLocks noChangeArrowheads="1"/>
          </p:cNvSpPr>
          <p:nvPr/>
        </p:nvSpPr>
        <p:spPr bwMode="auto">
          <a:xfrm>
            <a:off x="5889625" y="365125"/>
            <a:ext cx="254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t>平均吸热温度</a:t>
            </a:r>
          </a:p>
        </p:txBody>
      </p:sp>
      <p:sp>
        <p:nvSpPr>
          <p:cNvPr id="76804" name="文本框 20"/>
          <p:cNvSpPr txBox="1">
            <a:spLocks noChangeArrowheads="1"/>
          </p:cNvSpPr>
          <p:nvPr/>
        </p:nvSpPr>
        <p:spPr bwMode="auto">
          <a:xfrm>
            <a:off x="5889625" y="2309813"/>
            <a:ext cx="2540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t>平均放热温度</a:t>
            </a:r>
          </a:p>
        </p:txBody>
      </p:sp>
      <p:graphicFrame>
        <p:nvGraphicFramePr>
          <p:cNvPr id="76805" name="对象 25"/>
          <p:cNvGraphicFramePr>
            <a:graphicFrameLocks noChangeAspect="1"/>
          </p:cNvGraphicFramePr>
          <p:nvPr/>
        </p:nvGraphicFramePr>
        <p:xfrm>
          <a:off x="5800725" y="3171825"/>
          <a:ext cx="3121025" cy="852488"/>
        </p:xfrm>
        <a:graphic>
          <a:graphicData uri="http://schemas.openxmlformats.org/presentationml/2006/ole">
            <mc:AlternateContent xmlns:mc="http://schemas.openxmlformats.org/markup-compatibility/2006">
              <mc:Choice xmlns:v="urn:schemas-microsoft-com:vml" Requires="v">
                <p:oleObj spid="_x0000_s26660" r:id="rId5" imgW="1523880" imgH="444240" progId="Equation.DSMT4">
                  <p:embed/>
                </p:oleObj>
              </mc:Choice>
              <mc:Fallback>
                <p:oleObj r:id="rId5" imgW="1523880" imgH="444240" progId="Equation.DSMT4">
                  <p:embed/>
                  <p:pic>
                    <p:nvPicPr>
                      <p:cNvPr id="76805" name="对象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0725" y="3171825"/>
                        <a:ext cx="3121025" cy="852488"/>
                      </a:xfrm>
                      <a:prstGeom prst="rect">
                        <a:avLst/>
                      </a:prstGeom>
                      <a:noFill/>
                      <a:ln w="28575">
                        <a:solidFill>
                          <a:srgbClr val="89A4A7"/>
                        </a:solidFill>
                        <a:round/>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6806" name="对象 27"/>
          <p:cNvGraphicFramePr>
            <a:graphicFrameLocks noChangeAspect="1"/>
          </p:cNvGraphicFramePr>
          <p:nvPr/>
        </p:nvGraphicFramePr>
        <p:xfrm>
          <a:off x="3640138" y="5149850"/>
          <a:ext cx="2289175" cy="854075"/>
        </p:xfrm>
        <a:graphic>
          <a:graphicData uri="http://schemas.openxmlformats.org/presentationml/2006/ole">
            <mc:AlternateContent xmlns:mc="http://schemas.openxmlformats.org/markup-compatibility/2006">
              <mc:Choice xmlns:v="urn:schemas-microsoft-com:vml" Requires="v">
                <p:oleObj spid="_x0000_s26661" r:id="rId7" imgW="1117440" imgH="444240" progId="Equation.DSMT4">
                  <p:embed/>
                </p:oleObj>
              </mc:Choice>
              <mc:Fallback>
                <p:oleObj r:id="rId7" imgW="1117440" imgH="444240" progId="Equation.DSMT4">
                  <p:embed/>
                  <p:pic>
                    <p:nvPicPr>
                      <p:cNvPr id="76806" name="对象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0138" y="5149850"/>
                        <a:ext cx="2289175" cy="854075"/>
                      </a:xfrm>
                      <a:prstGeom prst="rect">
                        <a:avLst/>
                      </a:prstGeom>
                      <a:noFill/>
                      <a:ln w="28575">
                        <a:solidFill>
                          <a:srgbClr val="89A4A7"/>
                        </a:solidFill>
                        <a:round/>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7965" y="626269"/>
            <a:ext cx="5401524" cy="4212701"/>
          </a:xfrm>
          <a:prstGeom prst="rect">
            <a:avLst/>
          </a:prstGeom>
        </p:spPr>
      </p:pic>
    </p:spTree>
    <p:extLst>
      <p:ext uri="{BB962C8B-B14F-4D97-AF65-F5344CB8AC3E}">
        <p14:creationId xmlns:p14="http://schemas.microsoft.com/office/powerpoint/2010/main" val="2576228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145425"/>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77827" name="对象 145411"/>
          <p:cNvGraphicFramePr>
            <a:graphicFrameLocks/>
          </p:cNvGraphicFramePr>
          <p:nvPr/>
        </p:nvGraphicFramePr>
        <p:xfrm>
          <a:off x="5651500" y="1196975"/>
          <a:ext cx="2430463" cy="668338"/>
        </p:xfrm>
        <a:graphic>
          <a:graphicData uri="http://schemas.openxmlformats.org/presentationml/2006/ole">
            <mc:AlternateContent xmlns:mc="http://schemas.openxmlformats.org/markup-compatibility/2006">
              <mc:Choice xmlns:v="urn:schemas-microsoft-com:vml" Requires="v">
                <p:oleObj spid="_x0000_s27683" r:id="rId3" imgW="875920" imgH="241195" progId="Equation.DSMT4">
                  <p:embed/>
                </p:oleObj>
              </mc:Choice>
              <mc:Fallback>
                <p:oleObj r:id="rId3" imgW="875920" imgH="241195" progId="Equation.DSMT4">
                  <p:embed/>
                  <p:pic>
                    <p:nvPicPr>
                      <p:cNvPr id="77827" name="对象 1454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1196975"/>
                        <a:ext cx="2430463"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28" name="对象 145414"/>
          <p:cNvGraphicFramePr>
            <a:graphicFrameLocks/>
          </p:cNvGraphicFramePr>
          <p:nvPr/>
        </p:nvGraphicFramePr>
        <p:xfrm>
          <a:off x="5740400" y="2036763"/>
          <a:ext cx="2441575" cy="635000"/>
        </p:xfrm>
        <a:graphic>
          <a:graphicData uri="http://schemas.openxmlformats.org/presentationml/2006/ole">
            <mc:AlternateContent xmlns:mc="http://schemas.openxmlformats.org/markup-compatibility/2006">
              <mc:Choice xmlns:v="urn:schemas-microsoft-com:vml" Requires="v">
                <p:oleObj spid="_x0000_s27684" r:id="rId5" imgW="926698" imgH="241195" progId="Equation.DSMT4">
                  <p:embed/>
                </p:oleObj>
              </mc:Choice>
              <mc:Fallback>
                <p:oleObj r:id="rId5" imgW="926698" imgH="241195" progId="Equation.DSMT4">
                  <p:embed/>
                  <p:pic>
                    <p:nvPicPr>
                      <p:cNvPr id="77828" name="对象 1454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0400" y="2036763"/>
                        <a:ext cx="2441575"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29" name="对象 145415"/>
          <p:cNvGraphicFramePr>
            <a:graphicFrameLocks/>
          </p:cNvGraphicFramePr>
          <p:nvPr/>
        </p:nvGraphicFramePr>
        <p:xfrm>
          <a:off x="5784850" y="2795588"/>
          <a:ext cx="2247900" cy="687387"/>
        </p:xfrm>
        <a:graphic>
          <a:graphicData uri="http://schemas.openxmlformats.org/presentationml/2006/ole">
            <mc:AlternateContent xmlns:mc="http://schemas.openxmlformats.org/markup-compatibility/2006">
              <mc:Choice xmlns:v="urn:schemas-microsoft-com:vml" Requires="v">
                <p:oleObj spid="_x0000_s27685" r:id="rId7" imgW="787320" imgH="241200" progId="Equation.DSMT4">
                  <p:embed/>
                </p:oleObj>
              </mc:Choice>
              <mc:Fallback>
                <p:oleObj r:id="rId7" imgW="787320" imgH="241200" progId="Equation.DSMT4">
                  <p:embed/>
                  <p:pic>
                    <p:nvPicPr>
                      <p:cNvPr id="77829" name="对象 1454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84850" y="2795588"/>
                        <a:ext cx="22479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7830" name="矩形 145417"/>
          <p:cNvSpPr>
            <a:spLocks noChangeArrowheads="1"/>
          </p:cNvSpPr>
          <p:nvPr/>
        </p:nvSpPr>
        <p:spPr bwMode="auto">
          <a:xfrm>
            <a:off x="3548063" y="2471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77831" name="矩形 145418"/>
          <p:cNvSpPr>
            <a:spLocks noChangeArrowheads="1"/>
          </p:cNvSpPr>
          <p:nvPr/>
        </p:nvSpPr>
        <p:spPr bwMode="auto">
          <a:xfrm>
            <a:off x="3343275" y="2471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 name="文本框 20"/>
          <p:cNvSpPr txBox="1">
            <a:spLocks noChangeArrowheads="1"/>
          </p:cNvSpPr>
          <p:nvPr/>
        </p:nvSpPr>
        <p:spPr bwMode="auto">
          <a:xfrm>
            <a:off x="423284" y="287665"/>
            <a:ext cx="65379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t>一、压缩比相同、吸热量相同时的比较</a:t>
            </a:r>
            <a:endParaRPr lang="zh-CN" altLang="en-US" sz="2800" b="1" dirty="0"/>
          </a:p>
        </p:txBody>
      </p:sp>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6873" y="1510748"/>
            <a:ext cx="4182218" cy="3944454"/>
          </a:xfrm>
          <a:prstGeom prst="rect">
            <a:avLst/>
          </a:prstGeom>
        </p:spPr>
      </p:pic>
    </p:spTree>
    <p:extLst>
      <p:ext uri="{BB962C8B-B14F-4D97-AF65-F5344CB8AC3E}">
        <p14:creationId xmlns:p14="http://schemas.microsoft.com/office/powerpoint/2010/main" val="3811035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1" name="对象 145413"/>
          <p:cNvGraphicFramePr>
            <a:graphicFrameLocks/>
          </p:cNvGraphicFramePr>
          <p:nvPr/>
        </p:nvGraphicFramePr>
        <p:xfrm>
          <a:off x="5859463" y="1787525"/>
          <a:ext cx="2589212" cy="631825"/>
        </p:xfrm>
        <a:graphic>
          <a:graphicData uri="http://schemas.openxmlformats.org/presentationml/2006/ole">
            <mc:AlternateContent xmlns:mc="http://schemas.openxmlformats.org/markup-compatibility/2006">
              <mc:Choice xmlns:v="urn:schemas-microsoft-com:vml" Requires="v">
                <p:oleObj spid="_x0000_s28707" r:id="rId3" imgW="990170" imgH="241195" progId="Equation.DSMT4">
                  <p:embed/>
                </p:oleObj>
              </mc:Choice>
              <mc:Fallback>
                <p:oleObj r:id="rId3" imgW="990170" imgH="241195" progId="Equation.DSMT4">
                  <p:embed/>
                  <p:pic>
                    <p:nvPicPr>
                      <p:cNvPr id="78851" name="对象 1454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9463" y="1787525"/>
                        <a:ext cx="258921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2" name="对象 145416"/>
          <p:cNvGraphicFramePr>
            <a:graphicFrameLocks/>
          </p:cNvGraphicFramePr>
          <p:nvPr/>
        </p:nvGraphicFramePr>
        <p:xfrm>
          <a:off x="5859463" y="2684463"/>
          <a:ext cx="2470150" cy="627062"/>
        </p:xfrm>
        <a:graphic>
          <a:graphicData uri="http://schemas.openxmlformats.org/presentationml/2006/ole">
            <mc:AlternateContent xmlns:mc="http://schemas.openxmlformats.org/markup-compatibility/2006">
              <mc:Choice xmlns:v="urn:schemas-microsoft-com:vml" Requires="v">
                <p:oleObj spid="_x0000_s28708" r:id="rId5" imgW="952087" imgH="241195" progId="Equation.DSMT4">
                  <p:embed/>
                </p:oleObj>
              </mc:Choice>
              <mc:Fallback>
                <p:oleObj r:id="rId5" imgW="952087" imgH="241195" progId="Equation.DSMT4">
                  <p:embed/>
                  <p:pic>
                    <p:nvPicPr>
                      <p:cNvPr id="78852" name="对象 1454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9463" y="2684463"/>
                        <a:ext cx="247015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3" name="对象 145415"/>
          <p:cNvGraphicFramePr>
            <a:graphicFrameLocks/>
          </p:cNvGraphicFramePr>
          <p:nvPr/>
        </p:nvGraphicFramePr>
        <p:xfrm>
          <a:off x="5829300" y="3694113"/>
          <a:ext cx="2247900" cy="687387"/>
        </p:xfrm>
        <a:graphic>
          <a:graphicData uri="http://schemas.openxmlformats.org/presentationml/2006/ole">
            <mc:AlternateContent xmlns:mc="http://schemas.openxmlformats.org/markup-compatibility/2006">
              <mc:Choice xmlns:v="urn:schemas-microsoft-com:vml" Requires="v">
                <p:oleObj spid="_x0000_s28709" r:id="rId7" imgW="787320" imgH="241200" progId="Equation.DSMT4">
                  <p:embed/>
                </p:oleObj>
              </mc:Choice>
              <mc:Fallback>
                <p:oleObj r:id="rId7" imgW="787320" imgH="241200" progId="Equation.DSMT4">
                  <p:embed/>
                  <p:pic>
                    <p:nvPicPr>
                      <p:cNvPr id="78853" name="对象 1454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9300" y="3694113"/>
                        <a:ext cx="22479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文本框 20"/>
          <p:cNvSpPr txBox="1">
            <a:spLocks noChangeArrowheads="1"/>
          </p:cNvSpPr>
          <p:nvPr/>
        </p:nvSpPr>
        <p:spPr bwMode="auto">
          <a:xfrm>
            <a:off x="839643" y="348745"/>
            <a:ext cx="41479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t>也</a:t>
            </a:r>
            <a:r>
              <a:rPr lang="zh-CN" altLang="en-US" sz="2800" b="1" dirty="0" smtClean="0"/>
              <a:t>可以采用平均温度法</a:t>
            </a:r>
            <a:endParaRPr lang="zh-CN" altLang="en-US" sz="2800" b="1" dirty="0"/>
          </a:p>
        </p:txBody>
      </p:sp>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2310" y="1385022"/>
            <a:ext cx="4462659" cy="3853006"/>
          </a:xfrm>
          <a:prstGeom prst="rect">
            <a:avLst/>
          </a:prstGeom>
        </p:spPr>
      </p:pic>
    </p:spTree>
    <p:extLst>
      <p:ext uri="{BB962C8B-B14F-4D97-AF65-F5344CB8AC3E}">
        <p14:creationId xmlns:p14="http://schemas.microsoft.com/office/powerpoint/2010/main" val="1658696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占位符 314370"/>
          <p:cNvSpPr>
            <a:spLocks noGrp="1" noChangeArrowheads="1"/>
          </p:cNvSpPr>
          <p:nvPr>
            <p:ph idx="1"/>
          </p:nvPr>
        </p:nvSpPr>
        <p:spPr>
          <a:xfrm>
            <a:off x="468313" y="981075"/>
            <a:ext cx="8229600" cy="4525963"/>
          </a:xfrm>
        </p:spPr>
        <p:txBody>
          <a:bodyPr>
            <a:normAutofit/>
          </a:bodyPr>
          <a:lstStyle/>
          <a:p>
            <a:r>
              <a:rPr lang="zh-CN" altLang="en-US" sz="2800" b="1" dirty="0" smtClean="0">
                <a:latin typeface="黑体" panose="02010609060101010101" pitchFamily="49" charset="-122"/>
                <a:ea typeface="黑体" panose="02010609060101010101" pitchFamily="49" charset="-122"/>
              </a:rPr>
              <a:t>当压缩比和吸热量相同时，定容加热比定压加热对循环有利</a:t>
            </a:r>
          </a:p>
          <a:p>
            <a:r>
              <a:rPr lang="zh-CN" altLang="en-US" sz="2800" b="1" dirty="0" smtClean="0">
                <a:latin typeface="黑体" panose="02010609060101010101" pitchFamily="49" charset="-122"/>
                <a:ea typeface="黑体" panose="02010609060101010101" pitchFamily="49" charset="-122"/>
              </a:rPr>
              <a:t>但在实际应用中，三种循环的压缩比各不相同，所以将压缩比相同作为比较基础并不完全符合内燃机的实际情况</a:t>
            </a:r>
          </a:p>
          <a:p>
            <a:r>
              <a:rPr lang="zh-CN" altLang="en-US" sz="2800" b="1" dirty="0" smtClean="0">
                <a:latin typeface="黑体" panose="02010609060101010101" pitchFamily="49" charset="-122"/>
                <a:ea typeface="黑体" panose="02010609060101010101" pitchFamily="49" charset="-122"/>
              </a:rPr>
              <a:t>压缩比的不同是由于不同燃料的着火燃烧方式不同</a:t>
            </a:r>
            <a:r>
              <a:rPr lang="zh-CN" altLang="en-US" sz="2800" dirty="0" smtClean="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2285048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315394"/>
          <p:cNvSpPr>
            <a:spLocks noChangeArrowheads="1"/>
          </p:cNvSpPr>
          <p:nvPr/>
        </p:nvSpPr>
        <p:spPr bwMode="auto">
          <a:xfrm>
            <a:off x="547688" y="700088"/>
            <a:ext cx="8137525" cy="310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对于按定容加热循环工作的内燃机（汽油机），着火方式为点燃式，被压缩的是燃料和空气的混合物，压缩比不能太高（</a:t>
            </a:r>
            <a:r>
              <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压缩比：</a:t>
            </a:r>
            <a:r>
              <a:rPr lang="en-US" altLang="zh-CN"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5:1~9:1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），否则压缩后混合物的温度超过其自燃温度（汽油约为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415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），以致在点火前产生不正常的燃烧（“爆燃”：气缸内发生金属撞击声，气缸过热，发动机功率及热效率显著下降，排气冒黑烟等</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3642078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317442"/>
          <p:cNvSpPr>
            <a:spLocks noChangeArrowheads="1"/>
          </p:cNvSpPr>
          <p:nvPr/>
        </p:nvSpPr>
        <p:spPr bwMode="auto">
          <a:xfrm>
            <a:off x="539750" y="765175"/>
            <a:ext cx="8137525"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spcBef>
                <a:spcPct val="50000"/>
              </a:spcBef>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sym typeface="Symbol" panose="05050102010706020507" pitchFamily="18" charset="2"/>
              </a:rPr>
              <a:t>为了解决汽油机的“爆燃”问题，人们尝试将燃料和空气分开，使吸气与压缩过程的工质仅仅为空气，这样压缩后就不会出现自燃问题，从而压缩比可取较大值，达到提高循环热效率的</a:t>
            </a:r>
            <a:r>
              <a:rPr lang="zh-CN" altLang="en-US" sz="2800" b="1" dirty="0" smtClean="0">
                <a:latin typeface="黑体" panose="02010609060101010101" pitchFamily="49" charset="-122"/>
                <a:ea typeface="黑体" panose="02010609060101010101" pitchFamily="49" charset="-122"/>
                <a:sym typeface="Symbol" panose="05050102010706020507" pitchFamily="18" charset="2"/>
              </a:rPr>
              <a:t>目的</a:t>
            </a:r>
            <a:endParaRPr lang="zh-CN" altLang="en-US" sz="2800" b="1" dirty="0">
              <a:latin typeface="黑体" panose="02010609060101010101" pitchFamily="49" charset="-122"/>
              <a:ea typeface="黑体" panose="02010609060101010101" pitchFamily="49" charset="-122"/>
              <a:sym typeface="Symbol" panose="05050102010706020507" pitchFamily="18" charset="2"/>
            </a:endParaRPr>
          </a:p>
          <a:p>
            <a:pPr marL="457200" indent="-457200">
              <a:spcBef>
                <a:spcPct val="50000"/>
              </a:spcBef>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sym typeface="Symbol" panose="05050102010706020507" pitchFamily="18" charset="2"/>
              </a:rPr>
              <a:t>这样便诞生了柴油机。柴油机压缩比的下限值要使压缩终止时的温度保证燃料能够自燃，压缩比的上限值受到机械强度等因素的限制</a:t>
            </a:r>
          </a:p>
          <a:p>
            <a:pPr>
              <a:spcBef>
                <a:spcPct val="50000"/>
              </a:spcBef>
            </a:pPr>
            <a:r>
              <a:rPr lang="zh-CN" altLang="en-US" sz="2800" b="1" dirty="0">
                <a:latin typeface="黑体" panose="02010609060101010101" pitchFamily="49" charset="-122"/>
                <a:ea typeface="黑体" panose="02010609060101010101" pitchFamily="49" charset="-122"/>
                <a:sym typeface="Symbol" panose="05050102010706020507" pitchFamily="18" charset="2"/>
              </a:rPr>
              <a:t>（</a:t>
            </a:r>
            <a:r>
              <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压缩比</a:t>
            </a:r>
            <a:r>
              <a:rPr lang="en-US" altLang="zh-CN"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:13:1~18:1</a:t>
            </a:r>
            <a:r>
              <a:rPr lang="zh-CN" altLang="en-US" sz="2800" b="1" dirty="0">
                <a:latin typeface="黑体" panose="02010609060101010101" pitchFamily="49" charset="-122"/>
                <a:ea typeface="黑体" panose="02010609060101010101" pitchFamily="49" charset="-122"/>
                <a:sym typeface="Symbol" panose="05050102010706020507" pitchFamily="18" charset="2"/>
              </a:rPr>
              <a:t>） </a:t>
            </a:r>
          </a:p>
        </p:txBody>
      </p:sp>
    </p:spTree>
    <p:extLst>
      <p:ext uri="{BB962C8B-B14F-4D97-AF65-F5344CB8AC3E}">
        <p14:creationId xmlns:p14="http://schemas.microsoft.com/office/powerpoint/2010/main" val="3423441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矩形 146448"/>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82947" name="对象 146434"/>
          <p:cNvGraphicFramePr>
            <a:graphicFrameLocks/>
          </p:cNvGraphicFramePr>
          <p:nvPr/>
        </p:nvGraphicFramePr>
        <p:xfrm>
          <a:off x="4987925" y="1341438"/>
          <a:ext cx="2476500" cy="646112"/>
        </p:xfrm>
        <a:graphic>
          <a:graphicData uri="http://schemas.openxmlformats.org/presentationml/2006/ole">
            <mc:AlternateContent xmlns:mc="http://schemas.openxmlformats.org/markup-compatibility/2006">
              <mc:Choice xmlns:v="urn:schemas-microsoft-com:vml" Requires="v">
                <p:oleObj spid="_x0000_s29752" r:id="rId3" imgW="926698" imgH="241195" progId="Equation.DSMT4">
                  <p:embed/>
                </p:oleObj>
              </mc:Choice>
              <mc:Fallback>
                <p:oleObj r:id="rId3" imgW="926698" imgH="241195" progId="Equation.DSMT4">
                  <p:embed/>
                  <p:pic>
                    <p:nvPicPr>
                      <p:cNvPr id="82947" name="对象 1464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925" y="1341438"/>
                        <a:ext cx="2476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48" name="文本框 146435"/>
          <p:cNvSpPr txBox="1">
            <a:spLocks noChangeArrowheads="1"/>
          </p:cNvSpPr>
          <p:nvPr/>
        </p:nvSpPr>
        <p:spPr bwMode="auto">
          <a:xfrm>
            <a:off x="4902200" y="3759200"/>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imes New Roman" panose="02020603050405020304" pitchFamily="18" charset="0"/>
                <a:ea typeface="楷体_GB2312" pitchFamily="49" charset="-122"/>
              </a:rPr>
              <a:t>或</a:t>
            </a:r>
          </a:p>
        </p:txBody>
      </p:sp>
      <p:graphicFrame>
        <p:nvGraphicFramePr>
          <p:cNvPr id="82949" name="对象 146436"/>
          <p:cNvGraphicFramePr>
            <a:graphicFrameLocks/>
          </p:cNvGraphicFramePr>
          <p:nvPr/>
        </p:nvGraphicFramePr>
        <p:xfrm>
          <a:off x="5292725" y="4292600"/>
          <a:ext cx="2674938" cy="642938"/>
        </p:xfrm>
        <a:graphic>
          <a:graphicData uri="http://schemas.openxmlformats.org/presentationml/2006/ole">
            <mc:AlternateContent xmlns:mc="http://schemas.openxmlformats.org/markup-compatibility/2006">
              <mc:Choice xmlns:v="urn:schemas-microsoft-com:vml" Requires="v">
                <p:oleObj spid="_x0000_s29753" r:id="rId5" imgW="1002865" imgH="241195" progId="Equation.DSMT4">
                  <p:embed/>
                </p:oleObj>
              </mc:Choice>
              <mc:Fallback>
                <p:oleObj r:id="rId5" imgW="1002865" imgH="241195" progId="Equation.DSMT4">
                  <p:embed/>
                  <p:pic>
                    <p:nvPicPr>
                      <p:cNvPr id="82949" name="对象 1464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4292600"/>
                        <a:ext cx="2674938"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0" name="对象 146437"/>
          <p:cNvGraphicFramePr>
            <a:graphicFrameLocks/>
          </p:cNvGraphicFramePr>
          <p:nvPr/>
        </p:nvGraphicFramePr>
        <p:xfrm>
          <a:off x="5048250" y="2047875"/>
          <a:ext cx="2413000" cy="638175"/>
        </p:xfrm>
        <a:graphic>
          <a:graphicData uri="http://schemas.openxmlformats.org/presentationml/2006/ole">
            <mc:AlternateContent xmlns:mc="http://schemas.openxmlformats.org/markup-compatibility/2006">
              <mc:Choice xmlns:v="urn:schemas-microsoft-com:vml" Requires="v">
                <p:oleObj spid="_x0000_s29754" r:id="rId7" imgW="914003" imgH="241195" progId="Equation.DSMT4">
                  <p:embed/>
                </p:oleObj>
              </mc:Choice>
              <mc:Fallback>
                <p:oleObj r:id="rId7" imgW="914003" imgH="241195" progId="Equation.DSMT4">
                  <p:embed/>
                  <p:pic>
                    <p:nvPicPr>
                      <p:cNvPr id="82950" name="对象 14643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8250" y="2047875"/>
                        <a:ext cx="24130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1" name="对象 146438"/>
          <p:cNvGraphicFramePr>
            <a:graphicFrameLocks/>
          </p:cNvGraphicFramePr>
          <p:nvPr/>
        </p:nvGraphicFramePr>
        <p:xfrm>
          <a:off x="5199063" y="2811463"/>
          <a:ext cx="2205037" cy="676275"/>
        </p:xfrm>
        <a:graphic>
          <a:graphicData uri="http://schemas.openxmlformats.org/presentationml/2006/ole">
            <mc:AlternateContent xmlns:mc="http://schemas.openxmlformats.org/markup-compatibility/2006">
              <mc:Choice xmlns:v="urn:schemas-microsoft-com:vml" Requires="v">
                <p:oleObj spid="_x0000_s29755" r:id="rId9" imgW="787320" imgH="241200" progId="Equation.DSMT4">
                  <p:embed/>
                </p:oleObj>
              </mc:Choice>
              <mc:Fallback>
                <p:oleObj r:id="rId9" imgW="787320" imgH="241200" progId="Equation.DSMT4">
                  <p:embed/>
                  <p:pic>
                    <p:nvPicPr>
                      <p:cNvPr id="82951" name="对象 14643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99063" y="2811463"/>
                        <a:ext cx="22050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2" name="对象 146439"/>
          <p:cNvGraphicFramePr>
            <a:graphicFrameLocks/>
          </p:cNvGraphicFramePr>
          <p:nvPr/>
        </p:nvGraphicFramePr>
        <p:xfrm>
          <a:off x="5343525" y="5095875"/>
          <a:ext cx="2460625" cy="623888"/>
        </p:xfrm>
        <a:graphic>
          <a:graphicData uri="http://schemas.openxmlformats.org/presentationml/2006/ole">
            <mc:AlternateContent xmlns:mc="http://schemas.openxmlformats.org/markup-compatibility/2006">
              <mc:Choice xmlns:v="urn:schemas-microsoft-com:vml" Requires="v">
                <p:oleObj spid="_x0000_s29756" r:id="rId11" imgW="952087" imgH="241195" progId="Equation.DSMT4">
                  <p:embed/>
                </p:oleObj>
              </mc:Choice>
              <mc:Fallback>
                <p:oleObj r:id="rId11" imgW="952087" imgH="241195" progId="Equation.DSMT4">
                  <p:embed/>
                  <p:pic>
                    <p:nvPicPr>
                      <p:cNvPr id="82952" name="对象 14643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43525" y="5095875"/>
                        <a:ext cx="246062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3" name="文本框 146449"/>
          <p:cNvSpPr txBox="1">
            <a:spLocks noChangeArrowheads="1"/>
          </p:cNvSpPr>
          <p:nvPr/>
        </p:nvSpPr>
        <p:spPr bwMode="auto">
          <a:xfrm>
            <a:off x="431800" y="881063"/>
            <a:ext cx="84470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dirty="0"/>
              <a:t>这种比较实际上是在相同的</a:t>
            </a:r>
            <a:r>
              <a:rPr lang="zh-CN" altLang="en-US" sz="2400" b="1" dirty="0" smtClean="0"/>
              <a:t>热强度</a:t>
            </a:r>
            <a:r>
              <a:rPr lang="zh-CN" altLang="en-US" sz="2400" b="1" dirty="0"/>
              <a:t>和机械强度条件下进行的</a:t>
            </a:r>
          </a:p>
        </p:txBody>
      </p:sp>
      <p:sp>
        <p:nvSpPr>
          <p:cNvPr id="12" name="文本框 20"/>
          <p:cNvSpPr txBox="1">
            <a:spLocks noChangeArrowheads="1"/>
          </p:cNvSpPr>
          <p:nvPr/>
        </p:nvSpPr>
        <p:spPr bwMode="auto">
          <a:xfrm>
            <a:off x="300182" y="224959"/>
            <a:ext cx="61560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t>二、循环</a:t>
            </a:r>
            <a:r>
              <a:rPr lang="en-US" altLang="zh-CN" sz="2800" b="1" i="1" dirty="0" err="1">
                <a:latin typeface="Times New Roman" panose="02020603050405020304" pitchFamily="18" charset="0"/>
                <a:ea typeface="楷体_GB2312" pitchFamily="49" charset="-122"/>
              </a:rPr>
              <a:t>p</a:t>
            </a:r>
            <a:r>
              <a:rPr lang="en-US" altLang="zh-CN" sz="2800" b="1" baseline="-25000" dirty="0" err="1">
                <a:latin typeface="Times New Roman" panose="02020603050405020304" pitchFamily="18" charset="0"/>
                <a:ea typeface="楷体_GB2312" pitchFamily="49" charset="-122"/>
              </a:rPr>
              <a:t>max</a:t>
            </a:r>
            <a:r>
              <a:rPr lang="zh-CN" altLang="en-US" sz="2800" b="1" dirty="0">
                <a:latin typeface="Times New Roman" panose="02020603050405020304" pitchFamily="18" charset="0"/>
                <a:ea typeface="楷体_GB2312" pitchFamily="49" charset="-122"/>
              </a:rPr>
              <a:t>、</a:t>
            </a:r>
            <a:r>
              <a:rPr lang="en-US" altLang="zh-CN" sz="2800" b="1" i="1" dirty="0" err="1" smtClean="0">
                <a:latin typeface="Times New Roman" panose="02020603050405020304" pitchFamily="18" charset="0"/>
                <a:ea typeface="楷体_GB2312" pitchFamily="49" charset="-122"/>
              </a:rPr>
              <a:t>T</a:t>
            </a:r>
            <a:r>
              <a:rPr lang="en-US" altLang="zh-CN" sz="2800" b="1" baseline="-25000" dirty="0" err="1" smtClean="0">
                <a:latin typeface="Times New Roman" panose="02020603050405020304" pitchFamily="18" charset="0"/>
                <a:ea typeface="楷体_GB2312" pitchFamily="49" charset="-122"/>
              </a:rPr>
              <a:t>max</a:t>
            </a:r>
            <a:r>
              <a:rPr lang="zh-CN" altLang="en-US" sz="2800" b="1" dirty="0" smtClean="0"/>
              <a:t>相同时的比较</a:t>
            </a:r>
            <a:endParaRPr lang="zh-CN" altLang="en-US" sz="2800" b="1" dirty="0"/>
          </a:p>
        </p:txBody>
      </p:sp>
      <p:pic>
        <p:nvPicPr>
          <p:cNvPr id="2" name="图片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31800" y="1987550"/>
            <a:ext cx="4499238" cy="3834716"/>
          </a:xfrm>
          <a:prstGeom prst="rect">
            <a:avLst/>
          </a:prstGeom>
        </p:spPr>
      </p:pic>
    </p:spTree>
    <p:extLst>
      <p:ext uri="{BB962C8B-B14F-4D97-AF65-F5344CB8AC3E}">
        <p14:creationId xmlns:p14="http://schemas.microsoft.com/office/powerpoint/2010/main" val="1769126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文本占位符 313346"/>
          <p:cNvSpPr>
            <a:spLocks noGrp="1" noChangeArrowheads="1"/>
          </p:cNvSpPr>
          <p:nvPr>
            <p:ph idx="1"/>
          </p:nvPr>
        </p:nvSpPr>
        <p:spPr>
          <a:xfrm>
            <a:off x="602096" y="882795"/>
            <a:ext cx="7856105" cy="4525962"/>
          </a:xfrm>
        </p:spPr>
        <p:txBody>
          <a:bodyPr>
            <a:normAutofit/>
          </a:bodyPr>
          <a:lstStyle/>
          <a:p>
            <a:r>
              <a:rPr lang="zh-CN" altLang="en-US" sz="2800" b="1" dirty="0" smtClean="0">
                <a:latin typeface="黑体" panose="02010609060101010101" pitchFamily="49" charset="-122"/>
                <a:ea typeface="黑体" panose="02010609060101010101" pitchFamily="49" charset="-122"/>
              </a:rPr>
              <a:t>在循环最高压力和最高温度相同的条件下，定压加热理想循环的热效率最高，混合加热理想循环次之，定容加热理想循环最低</a:t>
            </a:r>
          </a:p>
          <a:p>
            <a:r>
              <a:rPr lang="zh-CN" altLang="en-US" sz="2800" b="1" dirty="0" smtClean="0">
                <a:latin typeface="黑体" panose="02010609060101010101" pitchFamily="49" charset="-122"/>
                <a:ea typeface="黑体" panose="02010609060101010101" pitchFamily="49" charset="-122"/>
              </a:rPr>
              <a:t>这说明，在内燃机的热强度和机械强度受到限制的情况下，采用定压加热循环可以获得较高的热效率</a:t>
            </a:r>
            <a:r>
              <a:rPr lang="zh-CN" altLang="en-US" sz="2800" dirty="0" smtClean="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7855797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占位符 318466"/>
          <p:cNvSpPr>
            <a:spLocks noGrp="1" noChangeArrowheads="1"/>
          </p:cNvSpPr>
          <p:nvPr>
            <p:ph idx="1"/>
          </p:nvPr>
        </p:nvSpPr>
        <p:spPr>
          <a:xfrm>
            <a:off x="539750" y="908050"/>
            <a:ext cx="8229600" cy="4525963"/>
          </a:xfrm>
        </p:spPr>
        <p:txBody>
          <a:bodyPr>
            <a:normAutofit/>
          </a:bodyPr>
          <a:lstStyle/>
          <a:p>
            <a:pPr>
              <a:lnSpc>
                <a:spcPct val="90000"/>
              </a:lnSpc>
            </a:pPr>
            <a:r>
              <a:rPr lang="zh-CN" altLang="en-US" sz="2800" b="1" dirty="0" smtClean="0">
                <a:latin typeface="黑体" panose="02010609060101010101" pitchFamily="49" charset="-122"/>
                <a:ea typeface="黑体" panose="02010609060101010101" pitchFamily="49" charset="-122"/>
              </a:rPr>
              <a:t>在实际情况中也的确如此</a:t>
            </a:r>
          </a:p>
          <a:p>
            <a:pPr>
              <a:lnSpc>
                <a:spcPct val="90000"/>
              </a:lnSpc>
            </a:pPr>
            <a:r>
              <a:rPr lang="zh-CN" altLang="en-US" sz="2800" b="1" dirty="0" smtClean="0">
                <a:latin typeface="黑体" panose="02010609060101010101" pitchFamily="49" charset="-122"/>
                <a:ea typeface="黑体" panose="02010609060101010101" pitchFamily="49" charset="-122"/>
              </a:rPr>
              <a:t>柴油机的压缩比比汽油机高，因此柴油机的热效率通常要高于汽油机</a:t>
            </a:r>
          </a:p>
          <a:p>
            <a:pPr>
              <a:lnSpc>
                <a:spcPct val="90000"/>
              </a:lnSpc>
            </a:pPr>
            <a:r>
              <a:rPr lang="zh-CN" altLang="en-US" sz="2800" b="1" dirty="0" smtClean="0">
                <a:latin typeface="黑体" panose="02010609060101010101" pitchFamily="49" charset="-122"/>
                <a:ea typeface="黑体" panose="02010609060101010101" pitchFamily="49" charset="-122"/>
              </a:rPr>
              <a:t>但柴油机比较笨重，噪声和振动都比同功率的汽油机大，因此</a:t>
            </a:r>
            <a:r>
              <a:rPr lang="zh-CN" altLang="en-US" sz="2800" b="1" dirty="0" smtClean="0">
                <a:solidFill>
                  <a:srgbClr val="0000FF"/>
                </a:solidFill>
                <a:latin typeface="黑体" panose="02010609060101010101" pitchFamily="49" charset="-122"/>
                <a:ea typeface="黑体" panose="02010609060101010101" pitchFamily="49" charset="-122"/>
              </a:rPr>
              <a:t>柴油机</a:t>
            </a:r>
            <a:r>
              <a:rPr lang="zh-CN" altLang="en-US" sz="2800" b="1" dirty="0" smtClean="0">
                <a:latin typeface="黑体" panose="02010609060101010101" pitchFamily="49" charset="-122"/>
                <a:ea typeface="黑体" panose="02010609060101010101" pitchFamily="49" charset="-122"/>
              </a:rPr>
              <a:t>主要用于装备</a:t>
            </a:r>
            <a:r>
              <a:rPr lang="zh-CN" altLang="en-US" sz="2800" b="1" dirty="0" smtClean="0">
                <a:solidFill>
                  <a:srgbClr val="0000FF"/>
                </a:solidFill>
                <a:latin typeface="黑体" panose="02010609060101010101" pitchFamily="49" charset="-122"/>
                <a:ea typeface="黑体" panose="02010609060101010101" pitchFamily="49" charset="-122"/>
              </a:rPr>
              <a:t>重型机械</a:t>
            </a:r>
            <a:r>
              <a:rPr lang="zh-CN" altLang="en-US" sz="2800" b="1" dirty="0" smtClean="0">
                <a:latin typeface="黑体" panose="02010609060101010101" pitchFamily="49" charset="-122"/>
                <a:ea typeface="黑体" panose="02010609060101010101" pitchFamily="49" charset="-122"/>
              </a:rPr>
              <a:t>，如推土机、重型卡车、船舶主机等，而对于要求</a:t>
            </a:r>
            <a:r>
              <a:rPr lang="zh-CN" altLang="en-US" sz="2800" b="1" dirty="0" smtClean="0">
                <a:solidFill>
                  <a:srgbClr val="FF0000"/>
                </a:solidFill>
                <a:latin typeface="黑体" panose="02010609060101010101" pitchFamily="49" charset="-122"/>
                <a:ea typeface="黑体" panose="02010609060101010101" pitchFamily="49" charset="-122"/>
              </a:rPr>
              <a:t>轻便和低噪声的设备</a:t>
            </a:r>
            <a:r>
              <a:rPr lang="zh-CN" altLang="en-US" sz="2800" b="1" dirty="0" smtClean="0">
                <a:latin typeface="黑体" panose="02010609060101010101" pitchFamily="49" charset="-122"/>
                <a:ea typeface="黑体" panose="02010609060101010101" pitchFamily="49" charset="-122"/>
              </a:rPr>
              <a:t>，如轿车、摩托车、园艺机械、螺旋桨直升机等，大多采用</a:t>
            </a:r>
            <a:r>
              <a:rPr lang="zh-CN" altLang="en-US" sz="2800" b="1" dirty="0" smtClean="0">
                <a:solidFill>
                  <a:srgbClr val="FF0000"/>
                </a:solidFill>
                <a:latin typeface="黑体" panose="02010609060101010101" pitchFamily="49" charset="-122"/>
                <a:ea typeface="黑体" panose="02010609060101010101" pitchFamily="49" charset="-122"/>
              </a:rPr>
              <a:t>汽油机</a:t>
            </a:r>
            <a:endParaRPr lang="zh-CN" altLang="en-US" sz="2800" b="1" dirty="0" smtClean="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63744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59745"/>
          <p:cNvSpPr>
            <a:spLocks noGrp="1" noChangeArrowheads="1"/>
          </p:cNvSpPr>
          <p:nvPr>
            <p:ph type="ctrTitle"/>
          </p:nvPr>
        </p:nvSpPr>
        <p:spPr>
          <a:xfrm>
            <a:off x="611188" y="1916113"/>
            <a:ext cx="7772400" cy="1143000"/>
          </a:xfrm>
        </p:spPr>
        <p:txBody>
          <a:bodyPr anchor="ctr">
            <a:normAutofit fontScale="90000"/>
          </a:bodyPr>
          <a:lstStyle/>
          <a:p>
            <a:r>
              <a:rPr lang="en-US" altLang="zh-CN" sz="4400" b="1" dirty="0" smtClean="0">
                <a:latin typeface="Times New Roman" panose="02020603050405020304" pitchFamily="18" charset="0"/>
              </a:rPr>
              <a:t>12-5</a:t>
            </a:r>
            <a:r>
              <a:rPr lang="en-US" altLang="zh-CN" sz="4400" b="1" dirty="0" smtClean="0"/>
              <a:t> </a:t>
            </a:r>
            <a:r>
              <a:rPr lang="zh-CN" altLang="en-US" sz="4400" b="1" dirty="0" smtClean="0"/>
              <a:t>燃气轮机装置的定压加热理想循环</a:t>
            </a:r>
          </a:p>
        </p:txBody>
      </p:sp>
    </p:spTree>
    <p:extLst>
      <p:ext uri="{BB962C8B-B14F-4D97-AF65-F5344CB8AC3E}">
        <p14:creationId xmlns:p14="http://schemas.microsoft.com/office/powerpoint/2010/main" val="1915427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202757"/>
          <p:cNvSpPr>
            <a:spLocks noChangeArrowheads="1"/>
          </p:cNvSpPr>
          <p:nvPr/>
        </p:nvSpPr>
        <p:spPr bwMode="auto">
          <a:xfrm>
            <a:off x="3305175"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87046" name="文本框 2"/>
          <p:cNvSpPr txBox="1">
            <a:spLocks noChangeArrowheads="1"/>
          </p:cNvSpPr>
          <p:nvPr/>
        </p:nvSpPr>
        <p:spPr bwMode="auto">
          <a:xfrm>
            <a:off x="1830180" y="4215989"/>
            <a:ext cx="54276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dirty="0"/>
              <a:t>最简单的燃气轮机装置的示意图</a:t>
            </a:r>
          </a:p>
        </p:txBody>
      </p:sp>
      <p:sp>
        <p:nvSpPr>
          <p:cNvPr id="87047" name="文本框 3"/>
          <p:cNvSpPr txBox="1">
            <a:spLocks noChangeArrowheads="1"/>
          </p:cNvSpPr>
          <p:nvPr/>
        </p:nvSpPr>
        <p:spPr bwMode="auto">
          <a:xfrm>
            <a:off x="595313" y="5000625"/>
            <a:ext cx="81168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t>目前大部分燃气轮机都是在此装置的基础上采用回热，或者在回热基础上采用多级压缩和级间冷却、多级膨胀和级间再热等措施以提高装置的热效率</a:t>
            </a:r>
          </a:p>
        </p:txBody>
      </p:sp>
      <p:sp>
        <p:nvSpPr>
          <p:cNvPr id="6" name="矩形 5"/>
          <p:cNvSpPr/>
          <p:nvPr/>
        </p:nvSpPr>
        <p:spPr>
          <a:xfrm>
            <a:off x="409557" y="260110"/>
            <a:ext cx="2646878" cy="584775"/>
          </a:xfrm>
          <a:prstGeom prst="rect">
            <a:avLst/>
          </a:prstGeom>
        </p:spPr>
        <p:txBody>
          <a:bodyPr wrap="none">
            <a:spAutoFit/>
          </a:bodyPr>
          <a:lstStyle/>
          <a:p>
            <a:r>
              <a:rPr lang="zh-CN" altLang="en-US" sz="3200" b="1" dirty="0" smtClean="0"/>
              <a:t>一、工作原理</a:t>
            </a:r>
            <a:endParaRPr lang="zh-CN" altLang="en-US" sz="3200" b="1"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4134" y="929960"/>
            <a:ext cx="4560203" cy="3286029"/>
          </a:xfrm>
          <a:prstGeom prst="rect">
            <a:avLst/>
          </a:prstGeom>
        </p:spPr>
      </p:pic>
    </p:spTree>
    <p:extLst>
      <p:ext uri="{BB962C8B-B14F-4D97-AF65-F5344CB8AC3E}">
        <p14:creationId xmlns:p14="http://schemas.microsoft.com/office/powerpoint/2010/main" val="2917521288"/>
      </p:ext>
    </p:extLst>
  </p:cSld>
  <p:clrMapOvr>
    <a:masterClrMapping/>
  </p:clrMapOvr>
  <p:transition/>
  <p:timing>
    <p:tnLst>
      <p:par>
        <p:cTn id="1" dur="indefinite" restart="never" nodeType="tmRoot"/>
      </p:par>
    </p:tnLst>
  </p:timing>
  <p:extLst mod="1"/>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框 5"/>
          <p:cNvSpPr txBox="1">
            <a:spLocks noChangeArrowheads="1"/>
          </p:cNvSpPr>
          <p:nvPr/>
        </p:nvSpPr>
        <p:spPr bwMode="auto">
          <a:xfrm>
            <a:off x="924455" y="4055428"/>
            <a:ext cx="7493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ym typeface="宋体" panose="02010600030101010101" pitchFamily="2" charset="-122"/>
              </a:rPr>
              <a:t>1-2</a:t>
            </a:r>
            <a:r>
              <a:rPr lang="zh-CN" altLang="en-US" sz="2400" b="1" dirty="0">
                <a:sym typeface="宋体" panose="02010600030101010101" pitchFamily="2" charset="-122"/>
              </a:rPr>
              <a:t>：</a:t>
            </a:r>
            <a:r>
              <a:rPr lang="en-US" altLang="zh-CN" sz="2400" b="1" dirty="0">
                <a:sym typeface="宋体" panose="02010600030101010101" pitchFamily="2" charset="-122"/>
              </a:rPr>
              <a:t> </a:t>
            </a:r>
            <a:r>
              <a:rPr lang="zh-CN" altLang="en-US" sz="2400" b="1" dirty="0">
                <a:sym typeface="宋体" panose="02010600030101010101" pitchFamily="2" charset="-122"/>
              </a:rPr>
              <a:t>压气机从大气中吸入空气，压缩到一定压力后送入燃烧室</a:t>
            </a:r>
            <a:endParaRPr lang="zh-CN" altLang="en-US" sz="2400" b="1"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54" y="473727"/>
            <a:ext cx="3846909" cy="277392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380" y="531376"/>
            <a:ext cx="4163929" cy="2450804"/>
          </a:xfrm>
          <a:prstGeom prst="rect">
            <a:avLst/>
          </a:prstGeom>
        </p:spPr>
      </p:pic>
    </p:spTree>
    <p:extLst>
      <p:ext uri="{BB962C8B-B14F-4D97-AF65-F5344CB8AC3E}">
        <p14:creationId xmlns:p14="http://schemas.microsoft.com/office/powerpoint/2010/main" val="2374998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文本框 3"/>
          <p:cNvSpPr txBox="1">
            <a:spLocks noChangeArrowheads="1"/>
          </p:cNvSpPr>
          <p:nvPr/>
        </p:nvSpPr>
        <p:spPr bwMode="auto">
          <a:xfrm>
            <a:off x="491490" y="3718032"/>
            <a:ext cx="83343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t>2-3</a:t>
            </a:r>
            <a:r>
              <a:rPr lang="zh-CN" altLang="en-US" sz="2400" b="1" dirty="0"/>
              <a:t>：在燃烧室中，压缩空气与供入的燃料在定压下燃烧，形成该压力下的高温燃气。高温燃气与通过燃烧室夹层通道的压缩空气相混合，使混合气体降低到燃气轮机叶片所能承受的温度范围，而后进入燃气轮机。</a:t>
            </a:r>
          </a:p>
          <a:p>
            <a:endParaRPr lang="en-US" altLang="zh-CN" sz="2400"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54" y="473727"/>
            <a:ext cx="3846909" cy="277392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380" y="531376"/>
            <a:ext cx="4163929" cy="2450804"/>
          </a:xfrm>
          <a:prstGeom prst="rect">
            <a:avLst/>
          </a:prstGeom>
        </p:spPr>
      </p:pic>
    </p:spTree>
    <p:extLst>
      <p:ext uri="{BB962C8B-B14F-4D97-AF65-F5344CB8AC3E}">
        <p14:creationId xmlns:p14="http://schemas.microsoft.com/office/powerpoint/2010/main" val="3951416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矩形 202756"/>
          <p:cNvSpPr>
            <a:spLocks noChangeArrowheads="1"/>
          </p:cNvSpPr>
          <p:nvPr/>
        </p:nvSpPr>
        <p:spPr bwMode="auto">
          <a:xfrm>
            <a:off x="2871788" y="132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0115" name="矩形 202757"/>
          <p:cNvSpPr>
            <a:spLocks noChangeArrowheads="1"/>
          </p:cNvSpPr>
          <p:nvPr/>
        </p:nvSpPr>
        <p:spPr bwMode="auto">
          <a:xfrm>
            <a:off x="3305175"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0116" name="文本框 3"/>
          <p:cNvSpPr txBox="1">
            <a:spLocks noChangeArrowheads="1"/>
          </p:cNvSpPr>
          <p:nvPr/>
        </p:nvSpPr>
        <p:spPr bwMode="auto">
          <a:xfrm>
            <a:off x="527791" y="3651673"/>
            <a:ext cx="83343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t>3-4</a:t>
            </a:r>
            <a:r>
              <a:rPr lang="zh-CN" altLang="en-US" sz="2400" b="1" dirty="0"/>
              <a:t>：</a:t>
            </a:r>
            <a:r>
              <a:rPr lang="en-US" altLang="zh-CN" sz="2400" b="1" dirty="0"/>
              <a:t> </a:t>
            </a:r>
            <a:r>
              <a:rPr lang="zh-CN" altLang="en-US" sz="2400" b="1" dirty="0"/>
              <a:t>在燃气轮机中，混合气体先在由静叶片组成的喷管中膨胀，把热能部分地转变为动能，形成高速气流，然后冲击固定在转子上的动叶片组成的通道，形成推力推动叶片，使转子转动而输出机械功。燃气轮机所作的功一部分带动压气机，剩余部分（循环净功</a:t>
            </a:r>
            <a:r>
              <a:rPr lang="en-US" altLang="zh-CN" sz="2400" b="1" i="1" dirty="0" err="1">
                <a:latin typeface="Times New Roman" panose="02020603050405020304" pitchFamily="18" charset="0"/>
                <a:cs typeface="Times New Roman" panose="02020603050405020304" pitchFamily="18" charset="0"/>
              </a:rPr>
              <a:t>w</a:t>
            </a:r>
            <a:r>
              <a:rPr lang="en-US" altLang="zh-CN" sz="2400" b="1" baseline="-25000" dirty="0" err="1">
                <a:latin typeface="Times New Roman" panose="02020603050405020304" pitchFamily="18" charset="0"/>
                <a:cs typeface="Times New Roman" panose="02020603050405020304" pitchFamily="18" charset="0"/>
              </a:rPr>
              <a:t>net</a:t>
            </a:r>
            <a:r>
              <a:rPr lang="zh-CN" altLang="en-US" sz="2400" b="1" dirty="0" smtClean="0"/>
              <a:t>）对外输出，用于带动发电机或其他负载</a:t>
            </a:r>
            <a:endParaRPr lang="en-US" altLang="zh-CN" sz="2400" b="1"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54" y="473727"/>
            <a:ext cx="3846909" cy="277392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380" y="531376"/>
            <a:ext cx="4163929" cy="2450804"/>
          </a:xfrm>
          <a:prstGeom prst="rect">
            <a:avLst/>
          </a:prstGeom>
        </p:spPr>
      </p:pic>
    </p:spTree>
    <p:extLst>
      <p:ext uri="{BB962C8B-B14F-4D97-AF65-F5344CB8AC3E}">
        <p14:creationId xmlns:p14="http://schemas.microsoft.com/office/powerpoint/2010/main" val="1121836502"/>
      </p:ext>
    </p:extLst>
  </p:cSld>
  <p:clrMapOvr>
    <a:masterClrMapping/>
  </p:clrMapOvr>
  <p:transition/>
  <p:timing>
    <p:tnLst>
      <p:par>
        <p:cTn id="1" dur="indefinite" restart="never" nodeType="tmRoot"/>
      </p:par>
    </p:tnLst>
  </p:timing>
  <p:extLst mod="1"/>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202756"/>
          <p:cNvSpPr>
            <a:spLocks noChangeArrowheads="1"/>
          </p:cNvSpPr>
          <p:nvPr/>
        </p:nvSpPr>
        <p:spPr bwMode="auto">
          <a:xfrm>
            <a:off x="2871788" y="132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1139" name="矩形 202757"/>
          <p:cNvSpPr>
            <a:spLocks noChangeArrowheads="1"/>
          </p:cNvSpPr>
          <p:nvPr/>
        </p:nvSpPr>
        <p:spPr bwMode="auto">
          <a:xfrm>
            <a:off x="3305175"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8" name="文本框 5"/>
          <p:cNvSpPr txBox="1">
            <a:spLocks noChangeArrowheads="1"/>
          </p:cNvSpPr>
          <p:nvPr/>
        </p:nvSpPr>
        <p:spPr bwMode="auto">
          <a:xfrm>
            <a:off x="806578" y="3937348"/>
            <a:ext cx="8238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smtClean="0"/>
              <a:t>从燃气轮机排出的废气进入大气环境，放热后完成循环</a:t>
            </a:r>
            <a:endParaRPr lang="zh-CN" altLang="en-US" sz="2400" b="1"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54" y="473727"/>
            <a:ext cx="3846909" cy="2773920"/>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380" y="531376"/>
            <a:ext cx="4163929" cy="2450804"/>
          </a:xfrm>
          <a:prstGeom prst="rect">
            <a:avLst/>
          </a:prstGeom>
        </p:spPr>
      </p:pic>
    </p:spTree>
    <p:extLst>
      <p:ext uri="{BB962C8B-B14F-4D97-AF65-F5344CB8AC3E}">
        <p14:creationId xmlns:p14="http://schemas.microsoft.com/office/powerpoint/2010/main" val="2809363033"/>
      </p:ext>
    </p:extLst>
  </p:cSld>
  <p:clrMapOvr>
    <a:masterClrMapping/>
  </p:clrMapOvr>
  <p:transition/>
  <p:timing>
    <p:tnLst>
      <p:par>
        <p:cTn id="1" dur="indefinite" restart="never" nodeType="tmRoot"/>
      </p:par>
    </p:tnLst>
  </p:timing>
  <p:extLst mod="1"/>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
          <p:cNvSpPr txBox="1">
            <a:spLocks noChangeArrowheads="1"/>
          </p:cNvSpPr>
          <p:nvPr/>
        </p:nvSpPr>
        <p:spPr bwMode="auto">
          <a:xfrm>
            <a:off x="561413" y="544792"/>
            <a:ext cx="823803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400" b="1" dirty="0" smtClean="0"/>
              <a:t>燃气轮机</a:t>
            </a:r>
            <a:r>
              <a:rPr lang="zh-CN" altLang="zh-CN" sz="2400" b="1" dirty="0"/>
              <a:t>是一种旋转式热力发动机，没有往复运动部件以及由此引起的不平衡惯性力，故可以设计成很高的转速，且工作过程是连续的。因此，它可以在重量和尺寸都很小的情况下输出很大的功率。目前，燃气轮机装置在航空、舰船、机车、电站等部门应用广泛。</a:t>
            </a:r>
            <a:endParaRPr lang="zh-CN" altLang="en-US" sz="2400" b="1" dirty="0"/>
          </a:p>
        </p:txBody>
      </p:sp>
      <p:pic>
        <p:nvPicPr>
          <p:cNvPr id="3" name="图片 2"/>
          <p:cNvPicPr>
            <a:picLocks noChangeAspect="1"/>
          </p:cNvPicPr>
          <p:nvPr/>
        </p:nvPicPr>
        <p:blipFill>
          <a:blip r:embed="rId2"/>
          <a:stretch>
            <a:fillRect/>
          </a:stretch>
        </p:blipFill>
        <p:spPr>
          <a:xfrm>
            <a:off x="2401405" y="2881726"/>
            <a:ext cx="3867150" cy="2590800"/>
          </a:xfrm>
          <a:prstGeom prst="rect">
            <a:avLst/>
          </a:prstGeom>
          <a:noFill/>
          <a:ln w="9525">
            <a:noFill/>
          </a:ln>
        </p:spPr>
      </p:pic>
      <p:sp>
        <p:nvSpPr>
          <p:cNvPr id="4" name="矩形 3"/>
          <p:cNvSpPr/>
          <p:nvPr/>
        </p:nvSpPr>
        <p:spPr>
          <a:xfrm>
            <a:off x="2875722" y="5556042"/>
            <a:ext cx="2597425" cy="369332"/>
          </a:xfrm>
          <a:prstGeom prst="rect">
            <a:avLst/>
          </a:prstGeom>
          <a:noFill/>
          <a:ln w="9525">
            <a:noFill/>
          </a:ln>
        </p:spPr>
        <p:txBody>
          <a:bodyPr wrap="square">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dirty="0" smtClean="0">
                <a:latin typeface="楷体_GB2312" pitchFamily="49" charset="-122"/>
                <a:ea typeface="黑体" panose="02010609060101010101" pitchFamily="49" charset="-122"/>
              </a:rPr>
              <a:t>涡轮风扇发动机示意图</a:t>
            </a:r>
            <a:endParaRPr lang="en-US" altLang="zh-CN" dirty="0">
              <a:latin typeface="楷体_GB2312" pitchFamily="49" charset="-122"/>
              <a:ea typeface="黑体" panose="02010609060101010101" pitchFamily="49" charset="-122"/>
            </a:endParaRPr>
          </a:p>
        </p:txBody>
      </p:sp>
    </p:spTree>
    <p:extLst>
      <p:ext uri="{BB962C8B-B14F-4D97-AF65-F5344CB8AC3E}">
        <p14:creationId xmlns:p14="http://schemas.microsoft.com/office/powerpoint/2010/main" val="1773730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4442" y="984856"/>
            <a:ext cx="4310246" cy="4480948"/>
          </a:xfrm>
          <a:prstGeom prst="rect">
            <a:avLst/>
          </a:prstGeom>
        </p:spPr>
      </p:pic>
      <p:sp>
        <p:nvSpPr>
          <p:cNvPr id="9" name="矩形 8"/>
          <p:cNvSpPr/>
          <p:nvPr/>
        </p:nvSpPr>
        <p:spPr>
          <a:xfrm>
            <a:off x="447040" y="200026"/>
            <a:ext cx="7989446" cy="1569660"/>
          </a:xfrm>
          <a:prstGeom prst="rect">
            <a:avLst/>
          </a:prstGeom>
        </p:spPr>
        <p:txBody>
          <a:bodyPr wrap="square">
            <a:spAutoFit/>
          </a:bodyPr>
          <a:lstStyle/>
          <a:p>
            <a:r>
              <a:rPr lang="zh-CN" altLang="en-US" sz="3200" b="1" dirty="0" smtClean="0"/>
              <a:t>二、燃气轮机</a:t>
            </a:r>
            <a:r>
              <a:rPr lang="zh-CN" altLang="en-US" sz="3200" b="1" dirty="0"/>
              <a:t>装置的定压加热理想</a:t>
            </a:r>
            <a:r>
              <a:rPr lang="zh-CN" altLang="en-US" sz="3200" b="1" dirty="0" smtClean="0"/>
              <a:t>循环</a:t>
            </a:r>
            <a:r>
              <a:rPr lang="zh-CN" altLang="en-US" sz="3200" b="1" dirty="0">
                <a:latin typeface="Times New Roman" panose="02020603050405020304" pitchFamily="18" charset="0"/>
                <a:cs typeface="Times New Roman" panose="02020603050405020304" pitchFamily="18" charset="0"/>
              </a:rPr>
              <a:t>（</a:t>
            </a:r>
            <a:r>
              <a:rPr lang="en-US" altLang="zh-CN" sz="3200" b="1" dirty="0">
                <a:latin typeface="Times New Roman" panose="02020603050405020304" pitchFamily="18" charset="0"/>
                <a:cs typeface="Times New Roman" panose="02020603050405020304" pitchFamily="18" charset="0"/>
              </a:rPr>
              <a:t>Brayton cycle</a:t>
            </a:r>
            <a:r>
              <a:rPr lang="zh-CN" altLang="en-US" sz="3200" b="1" dirty="0">
                <a:latin typeface="Times New Roman" panose="02020603050405020304" pitchFamily="18" charset="0"/>
                <a:cs typeface="Times New Roman" panose="02020603050405020304" pitchFamily="18" charset="0"/>
              </a:rPr>
              <a:t>）</a:t>
            </a:r>
          </a:p>
          <a:p>
            <a:endParaRPr lang="zh-CN" altLang="en-US" sz="3200" dirty="0"/>
          </a:p>
        </p:txBody>
      </p:sp>
      <p:sp>
        <p:nvSpPr>
          <p:cNvPr id="3" name="虚尾箭头 2"/>
          <p:cNvSpPr/>
          <p:nvPr/>
        </p:nvSpPr>
        <p:spPr>
          <a:xfrm>
            <a:off x="4108173" y="2223212"/>
            <a:ext cx="794022" cy="331304"/>
          </a:xfrm>
          <a:prstGeom prst="striped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6" name="矩形 5"/>
          <p:cNvSpPr/>
          <p:nvPr/>
        </p:nvSpPr>
        <p:spPr>
          <a:xfrm>
            <a:off x="3045204" y="1769686"/>
            <a:ext cx="2793117" cy="369332"/>
          </a:xfrm>
          <a:prstGeom prst="rect">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p:spPr>
        <p:txBody>
          <a:bodyPr wrap="square">
            <a:spAutoFit/>
          </a:bodyPr>
          <a:lstStyle/>
          <a:p>
            <a:r>
              <a:rPr lang="zh-CN" altLang="en-US" b="1" dirty="0" smtClean="0">
                <a:latin typeface="Times New Roman" panose="02020603050405020304" pitchFamily="18" charset="0"/>
                <a:ea typeface="楷体_GB2312" pitchFamily="49" charset="-122"/>
              </a:rPr>
              <a:t>常用简化</a:t>
            </a:r>
            <a:r>
              <a:rPr lang="en-US" altLang="zh-CN" b="1" dirty="0" smtClean="0">
                <a:latin typeface="Times New Roman" panose="02020603050405020304" pitchFamily="18" charset="0"/>
                <a:ea typeface="楷体_GB2312" pitchFamily="49" charset="-122"/>
              </a:rPr>
              <a:t>+</a:t>
            </a:r>
            <a:r>
              <a:rPr lang="zh-CN" altLang="en-US" b="1" dirty="0" smtClean="0">
                <a:latin typeface="Times New Roman" panose="02020603050405020304" pitchFamily="18" charset="0"/>
                <a:ea typeface="楷体_GB2312" pitchFamily="49" charset="-122"/>
              </a:rPr>
              <a:t>空气</a:t>
            </a:r>
            <a:r>
              <a:rPr lang="zh-CN" altLang="en-US" b="1" dirty="0">
                <a:latin typeface="Times New Roman" panose="02020603050405020304" pitchFamily="18" charset="0"/>
                <a:ea typeface="楷体_GB2312" pitchFamily="49" charset="-122"/>
              </a:rPr>
              <a:t>标准</a:t>
            </a:r>
            <a:r>
              <a:rPr lang="zh-CN" altLang="en-US" b="1" dirty="0" smtClean="0">
                <a:latin typeface="Times New Roman" panose="02020603050405020304" pitchFamily="18" charset="0"/>
                <a:ea typeface="楷体_GB2312" pitchFamily="49" charset="-122"/>
              </a:rPr>
              <a:t>假设</a:t>
            </a:r>
            <a:endParaRPr lang="zh-CN" altLang="en-US" dirty="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039" y="1667926"/>
            <a:ext cx="4163929" cy="2450804"/>
          </a:xfrm>
          <a:prstGeom prst="rect">
            <a:avLst/>
          </a:prstGeom>
        </p:spPr>
      </p:pic>
      <p:sp>
        <p:nvSpPr>
          <p:cNvPr id="7" name="矩形 6"/>
          <p:cNvSpPr/>
          <p:nvPr/>
        </p:nvSpPr>
        <p:spPr>
          <a:xfrm>
            <a:off x="447039" y="4416088"/>
            <a:ext cx="3570208" cy="461665"/>
          </a:xfrm>
          <a:prstGeom prst="rect">
            <a:avLst/>
          </a:prstGeom>
        </p:spPr>
        <p:txBody>
          <a:bodyPr wrap="none">
            <a:spAutoFit/>
          </a:bodyPr>
          <a:lstStyle/>
          <a:p>
            <a:r>
              <a:rPr lang="zh-CN" altLang="en-US" sz="2400" dirty="0">
                <a:solidFill>
                  <a:srgbClr val="FF0000"/>
                </a:solidFill>
              </a:rPr>
              <a:t>实际的开式、不可逆循环</a:t>
            </a:r>
          </a:p>
        </p:txBody>
      </p:sp>
      <p:sp>
        <p:nvSpPr>
          <p:cNvPr id="11" name="矩形 10"/>
          <p:cNvSpPr/>
          <p:nvPr/>
        </p:nvSpPr>
        <p:spPr>
          <a:xfrm>
            <a:off x="4441762" y="5624662"/>
            <a:ext cx="4551218" cy="830997"/>
          </a:xfrm>
          <a:prstGeom prst="rect">
            <a:avLst/>
          </a:prstGeom>
        </p:spPr>
        <p:txBody>
          <a:bodyPr wrap="square">
            <a:spAutoFit/>
          </a:bodyPr>
          <a:lstStyle/>
          <a:p>
            <a:r>
              <a:rPr lang="zh-CN" altLang="en-US" sz="2400" dirty="0">
                <a:solidFill>
                  <a:srgbClr val="FF0000"/>
                </a:solidFill>
              </a:rPr>
              <a:t>理想化为定量工质（定比热容的理想气体）的闭式内可逆循环</a:t>
            </a:r>
          </a:p>
        </p:txBody>
      </p:sp>
    </p:spTree>
    <p:extLst>
      <p:ext uri="{BB962C8B-B14F-4D97-AF65-F5344CB8AC3E}">
        <p14:creationId xmlns:p14="http://schemas.microsoft.com/office/powerpoint/2010/main" val="3702835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562" y="521887"/>
            <a:ext cx="4316342" cy="4487045"/>
          </a:xfrm>
          <a:prstGeom prst="rect">
            <a:avLst/>
          </a:prstGeom>
        </p:spPr>
      </p:pic>
      <p:sp>
        <p:nvSpPr>
          <p:cNvPr id="4" name="文本框 5"/>
          <p:cNvSpPr txBox="1">
            <a:spLocks noChangeArrowheads="1"/>
          </p:cNvSpPr>
          <p:nvPr/>
        </p:nvSpPr>
        <p:spPr bwMode="auto">
          <a:xfrm>
            <a:off x="4896400" y="798978"/>
            <a:ext cx="380733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t>理想</a:t>
            </a:r>
            <a:r>
              <a:rPr lang="zh-CN" altLang="en-US" sz="2800" b="1" dirty="0" smtClean="0"/>
              <a:t>化</a:t>
            </a:r>
            <a:r>
              <a:rPr lang="en-US" altLang="zh-CN" sz="2800" b="1" dirty="0" smtClean="0"/>
              <a:t>1</a:t>
            </a:r>
            <a:r>
              <a:rPr lang="zh-CN" altLang="en-US" sz="2800" b="1" dirty="0" smtClean="0"/>
              <a:t>：把</a:t>
            </a:r>
            <a:r>
              <a:rPr lang="zh-CN" altLang="zh-CN" sz="2800" b="1" dirty="0" smtClean="0"/>
              <a:t>压缩</a:t>
            </a:r>
            <a:r>
              <a:rPr lang="zh-CN" altLang="zh-CN" sz="2800" b="1" dirty="0"/>
              <a:t>和膨胀过程简化为定熵</a:t>
            </a:r>
            <a:r>
              <a:rPr lang="zh-CN" altLang="zh-CN" sz="2800" b="1" dirty="0" smtClean="0"/>
              <a:t>过程</a:t>
            </a:r>
            <a:endParaRPr lang="en-US" altLang="zh-CN" sz="2800" b="1" dirty="0" smtClean="0"/>
          </a:p>
        </p:txBody>
      </p:sp>
      <p:sp>
        <p:nvSpPr>
          <p:cNvPr id="5" name="矩形 4"/>
          <p:cNvSpPr/>
          <p:nvPr/>
        </p:nvSpPr>
        <p:spPr>
          <a:xfrm>
            <a:off x="4896400" y="2189788"/>
            <a:ext cx="3868293" cy="2308324"/>
          </a:xfrm>
          <a:prstGeom prst="rect">
            <a:avLst/>
          </a:prstGeom>
        </p:spPr>
        <p:txBody>
          <a:bodyPr wrap="square">
            <a:spAutoFit/>
          </a:bodyPr>
          <a:lstStyle/>
          <a:p>
            <a:r>
              <a:rPr lang="zh-CN" altLang="en-US" sz="2400" b="1" dirty="0" smtClean="0">
                <a:solidFill>
                  <a:srgbClr val="0070C0"/>
                </a:solidFill>
              </a:rPr>
              <a:t>原因：</a:t>
            </a:r>
            <a:r>
              <a:rPr lang="zh-CN" altLang="zh-CN" sz="2400" b="1" dirty="0" smtClean="0">
                <a:solidFill>
                  <a:srgbClr val="0070C0"/>
                </a:solidFill>
              </a:rPr>
              <a:t>气流</a:t>
            </a:r>
            <a:r>
              <a:rPr lang="zh-CN" altLang="zh-CN" sz="2400" b="1" dirty="0">
                <a:solidFill>
                  <a:srgbClr val="0070C0"/>
                </a:solidFill>
              </a:rPr>
              <a:t>以极高的速度流经压气机和燃气轮机而来不及与外界换热，此时压气机和燃气轮机中的过程为绝热，又因过程是理想可逆的，故为定熵过程</a:t>
            </a:r>
            <a:endParaRPr lang="en-US" altLang="zh-CN" sz="2400" b="1" dirty="0">
              <a:solidFill>
                <a:srgbClr val="0070C0"/>
              </a:solidFill>
            </a:endParaRPr>
          </a:p>
        </p:txBody>
      </p:sp>
      <p:sp>
        <p:nvSpPr>
          <p:cNvPr id="6" name="椭圆 5"/>
          <p:cNvSpPr/>
          <p:nvPr/>
        </p:nvSpPr>
        <p:spPr>
          <a:xfrm>
            <a:off x="223520" y="2316480"/>
            <a:ext cx="1476587" cy="1266614"/>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2559600" y="2264295"/>
            <a:ext cx="1592454" cy="1393306"/>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45182" y="5269099"/>
            <a:ext cx="4551218" cy="830997"/>
          </a:xfrm>
          <a:prstGeom prst="rect">
            <a:avLst/>
          </a:prstGeom>
        </p:spPr>
        <p:txBody>
          <a:bodyPr wrap="square">
            <a:spAutoFit/>
          </a:bodyPr>
          <a:lstStyle/>
          <a:p>
            <a:r>
              <a:rPr lang="zh-CN" altLang="en-US" sz="2400" dirty="0">
                <a:solidFill>
                  <a:srgbClr val="FF0000"/>
                </a:solidFill>
              </a:rPr>
              <a:t>理想化为定量工质（定比热容的理想气体）的闭式内可逆循环</a:t>
            </a:r>
          </a:p>
        </p:txBody>
      </p:sp>
    </p:spTree>
    <p:extLst>
      <p:ext uri="{BB962C8B-B14F-4D97-AF65-F5344CB8AC3E}">
        <p14:creationId xmlns:p14="http://schemas.microsoft.com/office/powerpoint/2010/main" val="37132315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descr="5A{6PSSM2L~B(%F]AUM{1}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62" y="540908"/>
            <a:ext cx="4314825"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5"/>
          <p:cNvSpPr txBox="1">
            <a:spLocks noChangeArrowheads="1"/>
          </p:cNvSpPr>
          <p:nvPr/>
        </p:nvSpPr>
        <p:spPr bwMode="auto">
          <a:xfrm>
            <a:off x="4842212" y="756995"/>
            <a:ext cx="380733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t>理想化</a:t>
            </a:r>
            <a:r>
              <a:rPr lang="en-US" altLang="zh-CN" sz="2800" b="1" dirty="0" smtClean="0"/>
              <a:t>2</a:t>
            </a:r>
            <a:r>
              <a:rPr lang="zh-CN" altLang="en-US" sz="2800" b="1" dirty="0" smtClean="0"/>
              <a:t>：</a:t>
            </a:r>
            <a:r>
              <a:rPr lang="zh-CN" altLang="zh-CN" sz="2800" b="1" dirty="0"/>
              <a:t>把燃烧过程简化为空气工质从外部热源的定压吸热过程</a:t>
            </a:r>
            <a:endParaRPr lang="en-US" altLang="zh-CN" sz="2800" b="1" dirty="0"/>
          </a:p>
        </p:txBody>
      </p:sp>
      <p:sp>
        <p:nvSpPr>
          <p:cNvPr id="6" name="文本框 5"/>
          <p:cNvSpPr txBox="1">
            <a:spLocks noChangeArrowheads="1"/>
          </p:cNvSpPr>
          <p:nvPr/>
        </p:nvSpPr>
        <p:spPr bwMode="auto">
          <a:xfrm>
            <a:off x="4842213" y="3625765"/>
            <a:ext cx="380733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t>理想化</a:t>
            </a:r>
            <a:r>
              <a:rPr lang="en-US" altLang="zh-CN" sz="2800" b="1" dirty="0" smtClean="0"/>
              <a:t>3</a:t>
            </a:r>
            <a:r>
              <a:rPr lang="zh-CN" altLang="en-US" sz="2800" b="1" dirty="0" smtClean="0"/>
              <a:t>：</a:t>
            </a:r>
            <a:r>
              <a:rPr lang="zh-CN" altLang="zh-CN" sz="2800" b="1" dirty="0"/>
              <a:t>把排气过程简化为空气工质向外部冷源的定压放热过程</a:t>
            </a:r>
            <a:endParaRPr lang="zh-CN" altLang="en-US" sz="2800" b="1" dirty="0"/>
          </a:p>
        </p:txBody>
      </p:sp>
      <p:sp>
        <p:nvSpPr>
          <p:cNvPr id="7" name="椭圆 6"/>
          <p:cNvSpPr/>
          <p:nvPr/>
        </p:nvSpPr>
        <p:spPr>
          <a:xfrm>
            <a:off x="1113387" y="372534"/>
            <a:ext cx="2070080" cy="2106506"/>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7"/>
          <p:cNvSpPr/>
          <p:nvPr/>
        </p:nvSpPr>
        <p:spPr>
          <a:xfrm>
            <a:off x="3556000" y="1320800"/>
            <a:ext cx="1016000" cy="25738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椭圆 8"/>
          <p:cNvSpPr/>
          <p:nvPr/>
        </p:nvSpPr>
        <p:spPr>
          <a:xfrm>
            <a:off x="1113387" y="3265011"/>
            <a:ext cx="2070080" cy="2106506"/>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3521054" y="4189570"/>
            <a:ext cx="1016000" cy="25738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 name="矩形 10"/>
          <p:cNvSpPr/>
          <p:nvPr/>
        </p:nvSpPr>
        <p:spPr>
          <a:xfrm>
            <a:off x="314365" y="5505185"/>
            <a:ext cx="4551218" cy="830997"/>
          </a:xfrm>
          <a:prstGeom prst="rect">
            <a:avLst/>
          </a:prstGeom>
        </p:spPr>
        <p:txBody>
          <a:bodyPr wrap="square">
            <a:spAutoFit/>
          </a:bodyPr>
          <a:lstStyle/>
          <a:p>
            <a:r>
              <a:rPr lang="zh-CN" altLang="en-US" sz="2400" dirty="0">
                <a:solidFill>
                  <a:srgbClr val="FF0000"/>
                </a:solidFill>
              </a:rPr>
              <a:t>理想化为定量工质（定比热容的理想气体）的闭式内可逆循环</a:t>
            </a:r>
          </a:p>
        </p:txBody>
      </p:sp>
    </p:spTree>
    <p:extLst>
      <p:ext uri="{BB962C8B-B14F-4D97-AF65-F5344CB8AC3E}">
        <p14:creationId xmlns:p14="http://schemas.microsoft.com/office/powerpoint/2010/main" val="3498851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7" descr="%M4[G%EISZT4FFM1A~BVMC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06" y="451269"/>
            <a:ext cx="1443037" cy="183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8"/>
          <p:cNvSpPr txBox="1">
            <a:spLocks noChangeArrowheads="1"/>
          </p:cNvSpPr>
          <p:nvPr/>
        </p:nvSpPr>
        <p:spPr bwMode="auto">
          <a:xfrm>
            <a:off x="2396854" y="1536464"/>
            <a:ext cx="211503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latin typeface="Times New Roman" panose="02020603050405020304" pitchFamily="18" charset="0"/>
                <a:cs typeface="Times New Roman" panose="02020603050405020304" pitchFamily="18" charset="0"/>
              </a:rPr>
              <a:t>George Brayton（1830-1892）</a:t>
            </a:r>
          </a:p>
        </p:txBody>
      </p:sp>
      <p:sp>
        <p:nvSpPr>
          <p:cNvPr id="4" name="文本框 9"/>
          <p:cNvSpPr txBox="1">
            <a:spLocks noChangeArrowheads="1"/>
          </p:cNvSpPr>
          <p:nvPr/>
        </p:nvSpPr>
        <p:spPr bwMode="auto">
          <a:xfrm>
            <a:off x="771461" y="2281657"/>
            <a:ext cx="3205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t>美国工程师，</a:t>
            </a:r>
            <a:r>
              <a:rPr lang="en-US" altLang="zh-CN" dirty="0"/>
              <a:t>1870</a:t>
            </a:r>
            <a:r>
              <a:rPr lang="zh-CN" altLang="en-US" dirty="0"/>
              <a:t>年左右提出</a:t>
            </a:r>
          </a:p>
        </p:txBody>
      </p:sp>
      <p:sp>
        <p:nvSpPr>
          <p:cNvPr id="6" name="文本框 5"/>
          <p:cNvSpPr txBox="1">
            <a:spLocks noChangeArrowheads="1"/>
          </p:cNvSpPr>
          <p:nvPr/>
        </p:nvSpPr>
        <p:spPr bwMode="auto">
          <a:xfrm>
            <a:off x="588580" y="3165178"/>
            <a:ext cx="806774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zh-CN" sz="2400" b="1" dirty="0" smtClean="0"/>
              <a:t>在燃气轮机透平输出轴功和压气机消耗轴功时，均存在着因流体的粘性而引起的耗散效应</a:t>
            </a:r>
            <a:r>
              <a:rPr lang="zh-CN" altLang="en-US" sz="2400" b="1" dirty="0" smtClean="0"/>
              <a:t>，</a:t>
            </a:r>
            <a:r>
              <a:rPr lang="zh-CN" altLang="zh-CN" sz="2400" b="1" dirty="0" smtClean="0"/>
              <a:t>使得燃气轮机和压气机内的热力过程均为不可逆过程</a:t>
            </a:r>
            <a:endParaRPr lang="en-US" altLang="zh-CN" sz="2400" b="1" dirty="0" smtClean="0"/>
          </a:p>
          <a:p>
            <a:pPr marL="457200" indent="-457200">
              <a:buFont typeface="Arial" panose="020B0604020202020204" pitchFamily="34" charset="0"/>
              <a:buChar char="•"/>
            </a:pPr>
            <a:r>
              <a:rPr lang="zh-CN" altLang="zh-CN" sz="2400" b="1" dirty="0" smtClean="0"/>
              <a:t>可见，燃气轮机装置的定压加热“理想”循环只是一种内可逆的近似</a:t>
            </a:r>
            <a:endParaRPr lang="en-US" altLang="zh-CN" sz="2400" b="1" dirty="0" smtClean="0"/>
          </a:p>
          <a:p>
            <a:pPr marL="457200" indent="-457200">
              <a:buFont typeface="Arial" panose="020B0604020202020204" pitchFamily="34" charset="0"/>
              <a:buChar char="•"/>
            </a:pPr>
            <a:r>
              <a:rPr lang="zh-CN" altLang="zh-CN" sz="2400" b="1" dirty="0" smtClean="0"/>
              <a:t>在</a:t>
            </a:r>
            <a:r>
              <a:rPr lang="en-US" altLang="zh-CN" sz="2400" b="1" dirty="0"/>
              <a:t>12-6</a:t>
            </a:r>
            <a:r>
              <a:rPr lang="zh-CN" altLang="zh-CN" sz="2400" b="1" dirty="0"/>
              <a:t>节中，考虑了循环的不可逆损失，特别是燃气轮机和压气机装置内的不可逆损失，这才是较为贴近实际</a:t>
            </a:r>
            <a:r>
              <a:rPr lang="zh-CN" altLang="zh-CN" sz="2400" b="1" dirty="0" smtClean="0"/>
              <a:t>的</a:t>
            </a:r>
            <a:endParaRPr lang="zh-CN" altLang="en-US" sz="2400" b="1" dirty="0"/>
          </a:p>
        </p:txBody>
      </p:sp>
    </p:spTree>
    <p:extLst>
      <p:ext uri="{BB962C8B-B14F-4D97-AF65-F5344CB8AC3E}">
        <p14:creationId xmlns:p14="http://schemas.microsoft.com/office/powerpoint/2010/main" val="3270499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文本框 203778"/>
          <p:cNvSpPr txBox="1">
            <a:spLocks noChangeArrowheads="1"/>
          </p:cNvSpPr>
          <p:nvPr/>
        </p:nvSpPr>
        <p:spPr bwMode="auto">
          <a:xfrm>
            <a:off x="228600" y="1009650"/>
            <a:ext cx="3842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latin typeface="Times New Roman" panose="02020603050405020304" pitchFamily="18" charset="0"/>
                <a:ea typeface="楷体_GB2312" pitchFamily="49" charset="-122"/>
              </a:rPr>
              <a:t>1-2  </a:t>
            </a:r>
            <a:r>
              <a:rPr lang="zh-CN" altLang="en-US" sz="2400" b="1" dirty="0">
                <a:latin typeface="宋体" panose="02010600030101010101" pitchFamily="2" charset="-122"/>
                <a:ea typeface="宋体" panose="02010600030101010101" pitchFamily="2" charset="-122"/>
              </a:rPr>
              <a:t>定熵压缩（压气机内）</a:t>
            </a:r>
          </a:p>
        </p:txBody>
      </p:sp>
      <p:sp>
        <p:nvSpPr>
          <p:cNvPr id="94210" name="矩形 203779"/>
          <p:cNvSpPr>
            <a:spLocks noChangeArrowheads="1"/>
          </p:cNvSpPr>
          <p:nvPr/>
        </p:nvSpPr>
        <p:spPr bwMode="auto">
          <a:xfrm>
            <a:off x="250825" y="247015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dirty="0">
                <a:latin typeface="Times New Roman" panose="02020603050405020304" pitchFamily="18" charset="0"/>
                <a:ea typeface="楷体_GB2312" pitchFamily="49" charset="-122"/>
              </a:rPr>
              <a:t>2-3  </a:t>
            </a:r>
            <a:r>
              <a:rPr lang="zh-CN" altLang="en-US" sz="2400" b="1" dirty="0">
                <a:latin typeface="宋体" panose="02010600030101010101" pitchFamily="2" charset="-122"/>
                <a:ea typeface="宋体" panose="02010600030101010101" pitchFamily="2" charset="-122"/>
              </a:rPr>
              <a:t>定压吸热（燃烧室内）</a:t>
            </a:r>
          </a:p>
        </p:txBody>
      </p:sp>
      <p:sp>
        <p:nvSpPr>
          <p:cNvPr id="94211" name="矩形 203780"/>
          <p:cNvSpPr>
            <a:spLocks noChangeArrowheads="1"/>
          </p:cNvSpPr>
          <p:nvPr/>
        </p:nvSpPr>
        <p:spPr bwMode="auto">
          <a:xfrm>
            <a:off x="214313" y="4154488"/>
            <a:ext cx="551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dirty="0">
                <a:latin typeface="Times New Roman" panose="02020603050405020304" pitchFamily="18" charset="0"/>
                <a:ea typeface="楷体_GB2312" pitchFamily="49" charset="-122"/>
              </a:rPr>
              <a:t>3-4  </a:t>
            </a:r>
            <a:r>
              <a:rPr lang="zh-CN" altLang="en-US" sz="2400" b="1" dirty="0">
                <a:latin typeface="宋体" panose="02010600030101010101" pitchFamily="2" charset="-122"/>
                <a:ea typeface="宋体" panose="02010600030101010101" pitchFamily="2" charset="-122"/>
              </a:rPr>
              <a:t>定熵膨胀（燃气轮机内）</a:t>
            </a:r>
          </a:p>
        </p:txBody>
      </p:sp>
      <p:sp>
        <p:nvSpPr>
          <p:cNvPr id="94212" name="矩形 203781"/>
          <p:cNvSpPr>
            <a:spLocks noChangeArrowheads="1"/>
          </p:cNvSpPr>
          <p:nvPr/>
        </p:nvSpPr>
        <p:spPr bwMode="auto">
          <a:xfrm>
            <a:off x="250825" y="4943475"/>
            <a:ext cx="5032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2400" b="1" dirty="0">
                <a:latin typeface="Times New Roman" panose="02020603050405020304" pitchFamily="18" charset="0"/>
                <a:ea typeface="楷体_GB2312" pitchFamily="49" charset="-122"/>
              </a:rPr>
              <a:t>4-1  </a:t>
            </a:r>
            <a:r>
              <a:rPr lang="zh-CN" altLang="en-US" sz="2400" b="1" dirty="0">
                <a:latin typeface="宋体" panose="02010600030101010101" pitchFamily="2" charset="-122"/>
                <a:ea typeface="宋体" panose="02010600030101010101" pitchFamily="2" charset="-122"/>
              </a:rPr>
              <a:t>定压放热（排气，假想换热器）</a:t>
            </a:r>
          </a:p>
        </p:txBody>
      </p:sp>
      <p:graphicFrame>
        <p:nvGraphicFramePr>
          <p:cNvPr id="94213" name="对象 203782"/>
          <p:cNvGraphicFramePr>
            <a:graphicFrameLocks/>
          </p:cNvGraphicFramePr>
          <p:nvPr/>
        </p:nvGraphicFramePr>
        <p:xfrm>
          <a:off x="2843213" y="1558925"/>
          <a:ext cx="914400" cy="812800"/>
        </p:xfrm>
        <a:graphic>
          <a:graphicData uri="http://schemas.openxmlformats.org/presentationml/2006/ole">
            <mc:AlternateContent xmlns:mc="http://schemas.openxmlformats.org/markup-compatibility/2006">
              <mc:Choice xmlns:v="urn:schemas-microsoft-com:vml" Requires="v">
                <p:oleObj spid="_x0000_s36886" r:id="rId3" imgW="456803" imgH="406048" progId="Equation.DSMT4">
                  <p:embed/>
                </p:oleObj>
              </mc:Choice>
              <mc:Fallback>
                <p:oleObj r:id="rId3" imgW="456803" imgH="406048" progId="Equation.DSMT4">
                  <p:embed/>
                  <p:pic>
                    <p:nvPicPr>
                      <p:cNvPr id="94213" name="对象 20378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558925"/>
                        <a:ext cx="9144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4" name="文本框 203783"/>
          <p:cNvSpPr txBox="1">
            <a:spLocks noChangeArrowheads="1"/>
          </p:cNvSpPr>
          <p:nvPr/>
        </p:nvSpPr>
        <p:spPr bwMode="auto">
          <a:xfrm>
            <a:off x="711200" y="1662113"/>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宋体" panose="02010600030101010101" pitchFamily="2" charset="-122"/>
                <a:ea typeface="宋体" panose="02010600030101010101" pitchFamily="2" charset="-122"/>
              </a:rPr>
              <a:t>循环增压比</a:t>
            </a:r>
          </a:p>
        </p:txBody>
      </p:sp>
      <p:graphicFrame>
        <p:nvGraphicFramePr>
          <p:cNvPr id="94215" name="对象 203784"/>
          <p:cNvGraphicFramePr>
            <a:graphicFrameLocks/>
          </p:cNvGraphicFramePr>
          <p:nvPr/>
        </p:nvGraphicFramePr>
        <p:xfrm>
          <a:off x="2843213" y="3143250"/>
          <a:ext cx="812800" cy="838200"/>
        </p:xfrm>
        <a:graphic>
          <a:graphicData uri="http://schemas.openxmlformats.org/presentationml/2006/ole">
            <mc:AlternateContent xmlns:mc="http://schemas.openxmlformats.org/markup-compatibility/2006">
              <mc:Choice xmlns:v="urn:schemas-microsoft-com:vml" Requires="v">
                <p:oleObj spid="_x0000_s36887" r:id="rId5" imgW="406048" imgH="418737" progId="Equation.DSMT4">
                  <p:embed/>
                </p:oleObj>
              </mc:Choice>
              <mc:Fallback>
                <p:oleObj r:id="rId5" imgW="406048" imgH="418737" progId="Equation.DSMT4">
                  <p:embed/>
                  <p:pic>
                    <p:nvPicPr>
                      <p:cNvPr id="94215" name="对象 20378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143250"/>
                        <a:ext cx="812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6" name="文本框 203785"/>
          <p:cNvSpPr txBox="1">
            <a:spLocks noChangeArrowheads="1"/>
          </p:cNvSpPr>
          <p:nvPr/>
        </p:nvSpPr>
        <p:spPr bwMode="auto">
          <a:xfrm>
            <a:off x="381000" y="3321050"/>
            <a:ext cx="18213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dirty="0">
                <a:latin typeface="Times New Roman" panose="02020603050405020304" pitchFamily="18" charset="0"/>
              </a:rPr>
              <a:t> </a:t>
            </a:r>
            <a:r>
              <a:rPr lang="zh-CN" altLang="en-US" sz="2400" b="1" dirty="0">
                <a:latin typeface="宋体" panose="02010600030101010101" pitchFamily="2" charset="-122"/>
                <a:ea typeface="宋体" panose="02010600030101010101" pitchFamily="2" charset="-122"/>
              </a:rPr>
              <a:t>循环增温比</a:t>
            </a:r>
          </a:p>
        </p:txBody>
      </p:sp>
      <p:sp>
        <p:nvSpPr>
          <p:cNvPr id="94217" name="矩形 203786"/>
          <p:cNvSpPr>
            <a:spLocks noChangeArrowheads="1"/>
          </p:cNvSpPr>
          <p:nvPr/>
        </p:nvSpPr>
        <p:spPr bwMode="auto">
          <a:xfrm>
            <a:off x="3633788"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4218" name="矩形 203787"/>
          <p:cNvSpPr>
            <a:spLocks noChangeArrowheads="1"/>
          </p:cNvSpPr>
          <p:nvPr/>
        </p:nvSpPr>
        <p:spPr bwMode="auto">
          <a:xfrm>
            <a:off x="3590925" y="2528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pic>
        <p:nvPicPr>
          <p:cNvPr id="94219" name="图片 1" descr="(3VQRZ]9RCUOEXJQ0EL4U2U"/>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1263" y="236538"/>
            <a:ext cx="3646487"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20" name="图片 2" descr="MLGM6)I}G0DV))@IX0BPPNW"/>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2238" y="3481388"/>
            <a:ext cx="3465512"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5010323"/>
      </p:ext>
    </p:extLst>
  </p:cSld>
  <p:clrMapOvr>
    <a:masterClrMapping/>
  </p:clrMapOvr>
  <p:transition/>
  <p:timing>
    <p:tnLst>
      <p:par>
        <p:cTn id="1" dur="indefinite" restart="never" nodeType="tmRoot"/>
      </p:par>
    </p:tnLst>
  </p:timing>
  <p:extLst mod="1"/>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6" name="对象 204803"/>
          <p:cNvGraphicFramePr>
            <a:graphicFrameLocks/>
          </p:cNvGraphicFramePr>
          <p:nvPr/>
        </p:nvGraphicFramePr>
        <p:xfrm>
          <a:off x="611188" y="1844675"/>
          <a:ext cx="3363912" cy="560388"/>
        </p:xfrm>
        <a:graphic>
          <a:graphicData uri="http://schemas.openxmlformats.org/presentationml/2006/ole">
            <mc:AlternateContent xmlns:mc="http://schemas.openxmlformats.org/markup-compatibility/2006">
              <mc:Choice xmlns:v="urn:schemas-microsoft-com:vml" Requires="v">
                <p:oleObj spid="_x0000_s37940" r:id="rId3" imgW="1522678" imgH="253780" progId="Equation.DSMT4">
                  <p:embed/>
                </p:oleObj>
              </mc:Choice>
              <mc:Fallback>
                <p:oleObj r:id="rId3" imgW="1522678" imgH="253780" progId="Equation.DSMT4">
                  <p:embed/>
                  <p:pic>
                    <p:nvPicPr>
                      <p:cNvPr id="95236" name="对象 2048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844675"/>
                        <a:ext cx="336391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5237" name="对象 204809"/>
          <p:cNvGraphicFramePr>
            <a:graphicFrameLocks/>
          </p:cNvGraphicFramePr>
          <p:nvPr>
            <p:extLst/>
          </p:nvPr>
        </p:nvGraphicFramePr>
        <p:xfrm>
          <a:off x="871537" y="5059651"/>
          <a:ext cx="3103563" cy="1120775"/>
        </p:xfrm>
        <a:graphic>
          <a:graphicData uri="http://schemas.openxmlformats.org/presentationml/2006/ole">
            <mc:AlternateContent xmlns:mc="http://schemas.openxmlformats.org/markup-compatibility/2006">
              <mc:Choice xmlns:v="urn:schemas-microsoft-com:vml" Requires="v">
                <p:oleObj spid="_x0000_s37941" name="Equation" r:id="rId5" imgW="1371600" imgH="495000" progId="Equation.DSMT4">
                  <p:embed/>
                </p:oleObj>
              </mc:Choice>
              <mc:Fallback>
                <p:oleObj name="Equation" r:id="rId5" imgW="1371600" imgH="495000" progId="Equation.DSMT4">
                  <p:embed/>
                  <p:pic>
                    <p:nvPicPr>
                      <p:cNvPr id="95237" name="对象 204809"/>
                      <p:cNvPicPr>
                        <a:picLocks noChangeArrowheads="1"/>
                      </p:cNvPicPr>
                      <p:nvPr/>
                    </p:nvPicPr>
                    <p:blipFill>
                      <a:blip r:embed="rId6"/>
                      <a:srcRect/>
                      <a:stretch>
                        <a:fillRect/>
                      </a:stretch>
                    </p:blipFill>
                    <p:spPr bwMode="auto">
                      <a:xfrm>
                        <a:off x="871537" y="5059651"/>
                        <a:ext cx="3103563" cy="1120775"/>
                      </a:xfrm>
                      <a:prstGeom prst="rect">
                        <a:avLst/>
                      </a:prstGeom>
                      <a:noFill/>
                      <a:ln w="25400">
                        <a:solidFill>
                          <a:srgbClr val="FFCC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9" name="对象 204811"/>
          <p:cNvGraphicFramePr>
            <a:graphicFrameLocks/>
          </p:cNvGraphicFramePr>
          <p:nvPr/>
        </p:nvGraphicFramePr>
        <p:xfrm>
          <a:off x="684213" y="2565400"/>
          <a:ext cx="3354387" cy="561975"/>
        </p:xfrm>
        <a:graphic>
          <a:graphicData uri="http://schemas.openxmlformats.org/presentationml/2006/ole">
            <mc:AlternateContent xmlns:mc="http://schemas.openxmlformats.org/markup-compatibility/2006">
              <mc:Choice xmlns:v="urn:schemas-microsoft-com:vml" Requires="v">
                <p:oleObj spid="_x0000_s37942" r:id="rId7" imgW="1509989" imgH="253780" progId="Equation.DSMT4">
                  <p:embed/>
                </p:oleObj>
              </mc:Choice>
              <mc:Fallback>
                <p:oleObj r:id="rId7" imgW="1509989" imgH="253780" progId="Equation.DSMT4">
                  <p:embed/>
                  <p:pic>
                    <p:nvPicPr>
                      <p:cNvPr id="95239" name="对象 2048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2565400"/>
                        <a:ext cx="33543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5240" name="对象 204812"/>
          <p:cNvGraphicFramePr>
            <a:graphicFrameLocks/>
          </p:cNvGraphicFramePr>
          <p:nvPr>
            <p:extLst/>
          </p:nvPr>
        </p:nvGraphicFramePr>
        <p:xfrm>
          <a:off x="533400" y="3656013"/>
          <a:ext cx="5257800" cy="971550"/>
        </p:xfrm>
        <a:graphic>
          <a:graphicData uri="http://schemas.openxmlformats.org/presentationml/2006/ole">
            <mc:AlternateContent xmlns:mc="http://schemas.openxmlformats.org/markup-compatibility/2006">
              <mc:Choice xmlns:v="urn:schemas-microsoft-com:vml" Requires="v">
                <p:oleObj spid="_x0000_s37943" name="Equation" r:id="rId9" imgW="2336760" imgH="431640" progId="Equation.DSMT4">
                  <p:embed/>
                </p:oleObj>
              </mc:Choice>
              <mc:Fallback>
                <p:oleObj name="Equation" r:id="rId9" imgW="2336760" imgH="431640" progId="Equation.DSMT4">
                  <p:embed/>
                  <p:pic>
                    <p:nvPicPr>
                      <p:cNvPr id="95240" name="对象 204812"/>
                      <p:cNvPicPr>
                        <a:picLocks noChangeArrowheads="1"/>
                      </p:cNvPicPr>
                      <p:nvPr/>
                    </p:nvPicPr>
                    <p:blipFill>
                      <a:blip r:embed="rId10"/>
                      <a:srcRect/>
                      <a:stretch>
                        <a:fillRect/>
                      </a:stretch>
                    </p:blipFill>
                    <p:spPr bwMode="auto">
                      <a:xfrm>
                        <a:off x="533400" y="3656013"/>
                        <a:ext cx="52578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41" name="矩形 204814"/>
          <p:cNvSpPr>
            <a:spLocks noChangeArrowheads="1"/>
          </p:cNvSpPr>
          <p:nvPr/>
        </p:nvSpPr>
        <p:spPr bwMode="auto">
          <a:xfrm>
            <a:off x="3590925" y="2528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pic>
        <p:nvPicPr>
          <p:cNvPr id="95242" name="图片 2" descr="MLGM6)I}G0DV))@IX0BPPNW"/>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34024" y="472787"/>
            <a:ext cx="3465513"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284698" y="696338"/>
            <a:ext cx="3892412" cy="584775"/>
          </a:xfrm>
          <a:prstGeom prst="rect">
            <a:avLst/>
          </a:prstGeom>
        </p:spPr>
        <p:txBody>
          <a:bodyPr wrap="none">
            <a:spAutoFit/>
          </a:bodyPr>
          <a:lstStyle/>
          <a:p>
            <a:r>
              <a:rPr lang="zh-CN" altLang="en-US" sz="3200" b="1" dirty="0"/>
              <a:t>布雷顿</a:t>
            </a:r>
            <a:r>
              <a:rPr lang="zh-CN" altLang="en-US" sz="3200" b="1" dirty="0" smtClean="0"/>
              <a:t>循环的热效率</a:t>
            </a:r>
            <a:endParaRPr lang="zh-CN" altLang="en-US" sz="3200" b="1" dirty="0"/>
          </a:p>
        </p:txBody>
      </p:sp>
      <p:graphicFrame>
        <p:nvGraphicFramePr>
          <p:cNvPr id="14" name="对象 203782"/>
          <p:cNvGraphicFramePr>
            <a:graphicFrameLocks/>
          </p:cNvGraphicFramePr>
          <p:nvPr>
            <p:extLst/>
          </p:nvPr>
        </p:nvGraphicFramePr>
        <p:xfrm>
          <a:off x="7506528" y="4780723"/>
          <a:ext cx="914400" cy="812800"/>
        </p:xfrm>
        <a:graphic>
          <a:graphicData uri="http://schemas.openxmlformats.org/presentationml/2006/ole">
            <mc:AlternateContent xmlns:mc="http://schemas.openxmlformats.org/markup-compatibility/2006">
              <mc:Choice xmlns:v="urn:schemas-microsoft-com:vml" Requires="v">
                <p:oleObj spid="_x0000_s37944" r:id="rId12" imgW="456803" imgH="406048" progId="Equation.DSMT4">
                  <p:embed/>
                </p:oleObj>
              </mc:Choice>
              <mc:Fallback>
                <p:oleObj r:id="rId12" imgW="456803" imgH="406048" progId="Equation.DSMT4">
                  <p:embed/>
                  <p:pic>
                    <p:nvPicPr>
                      <p:cNvPr id="14" name="对象 20378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06528" y="4780723"/>
                        <a:ext cx="9144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文本框 203783"/>
          <p:cNvSpPr txBox="1">
            <a:spLocks noChangeArrowheads="1"/>
          </p:cNvSpPr>
          <p:nvPr/>
        </p:nvSpPr>
        <p:spPr bwMode="auto">
          <a:xfrm>
            <a:off x="5791200" y="4903789"/>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宋体" panose="02010600030101010101" pitchFamily="2" charset="-122"/>
                <a:ea typeface="宋体" panose="02010600030101010101" pitchFamily="2" charset="-122"/>
              </a:rPr>
              <a:t>循环增压比</a:t>
            </a:r>
            <a:endParaRPr lang="zh-CN" altLang="en-US" sz="2800" dirty="0">
              <a:latin typeface="宋体" panose="02010600030101010101" pitchFamily="2" charset="-122"/>
              <a:ea typeface="宋体" panose="02010600030101010101" pitchFamily="2" charset="-122"/>
            </a:endParaRPr>
          </a:p>
        </p:txBody>
      </p:sp>
      <p:sp>
        <p:nvSpPr>
          <p:cNvPr id="3" name="右弧形箭头 2"/>
          <p:cNvSpPr/>
          <p:nvPr/>
        </p:nvSpPr>
        <p:spPr>
          <a:xfrm rot="2631853">
            <a:off x="4557109" y="4484083"/>
            <a:ext cx="927427" cy="198358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4"/>
          <p:cNvSpPr/>
          <p:nvPr/>
        </p:nvSpPr>
        <p:spPr>
          <a:xfrm>
            <a:off x="5850835" y="4780723"/>
            <a:ext cx="2756452" cy="8978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68744288"/>
      </p:ext>
    </p:extLst>
  </p:cSld>
  <p:clrMapOvr>
    <a:masterClrMapping/>
  </p:clrMapOvr>
  <p:transition/>
  <p:timing>
    <p:tnLst>
      <p:par>
        <p:cTn id="1" dur="indefinite" restart="never" nodeType="tmRoot"/>
      </p:par>
    </p:tnLst>
  </p:timing>
  <p:extLst mod="1"/>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205839"/>
          <p:cNvSpPr>
            <a:spLocks noChangeArrowheads="1"/>
          </p:cNvSpPr>
          <p:nvPr/>
        </p:nvSpPr>
        <p:spPr bwMode="auto">
          <a:xfrm>
            <a:off x="144463" y="549275"/>
            <a:ext cx="8675687" cy="1223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96259" name="对象 205826"/>
          <p:cNvGraphicFramePr>
            <a:graphicFrameLocks/>
          </p:cNvGraphicFramePr>
          <p:nvPr>
            <p:extLst/>
          </p:nvPr>
        </p:nvGraphicFramePr>
        <p:xfrm>
          <a:off x="1812130" y="2963863"/>
          <a:ext cx="1465263" cy="488950"/>
        </p:xfrm>
        <a:graphic>
          <a:graphicData uri="http://schemas.openxmlformats.org/presentationml/2006/ole">
            <mc:AlternateContent xmlns:mc="http://schemas.openxmlformats.org/markup-compatibility/2006">
              <mc:Choice xmlns:v="urn:schemas-microsoft-com:vml" Requires="v">
                <p:oleObj spid="_x0000_s38939" name="Equation" r:id="rId3" imgW="685800" imgH="228600" progId="Equation.DSMT4">
                  <p:embed/>
                </p:oleObj>
              </mc:Choice>
              <mc:Fallback>
                <p:oleObj name="Equation" r:id="rId3" imgW="685800" imgH="228600" progId="Equation.DSMT4">
                  <p:embed/>
                  <p:pic>
                    <p:nvPicPr>
                      <p:cNvPr id="96259" name="对象 205826"/>
                      <p:cNvPicPr>
                        <a:picLocks noChangeArrowheads="1"/>
                      </p:cNvPicPr>
                      <p:nvPr/>
                    </p:nvPicPr>
                    <p:blipFill>
                      <a:blip r:embed="rId4"/>
                      <a:srcRect/>
                      <a:stretch>
                        <a:fillRect/>
                      </a:stretch>
                    </p:blipFill>
                    <p:spPr bwMode="auto">
                      <a:xfrm>
                        <a:off x="1812130" y="2963863"/>
                        <a:ext cx="14652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0" name="矩形 205830"/>
          <p:cNvSpPr>
            <a:spLocks noChangeArrowheads="1"/>
          </p:cNvSpPr>
          <p:nvPr/>
        </p:nvSpPr>
        <p:spPr bwMode="auto">
          <a:xfrm>
            <a:off x="3524250" y="2281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96262" name="对象 204809"/>
          <p:cNvGraphicFramePr>
            <a:graphicFrameLocks/>
          </p:cNvGraphicFramePr>
          <p:nvPr>
            <p:extLst/>
          </p:nvPr>
        </p:nvGraphicFramePr>
        <p:xfrm>
          <a:off x="1682750" y="1317625"/>
          <a:ext cx="1724025" cy="1122363"/>
        </p:xfrm>
        <a:graphic>
          <a:graphicData uri="http://schemas.openxmlformats.org/presentationml/2006/ole">
            <mc:AlternateContent xmlns:mc="http://schemas.openxmlformats.org/markup-compatibility/2006">
              <mc:Choice xmlns:v="urn:schemas-microsoft-com:vml" Requires="v">
                <p:oleObj spid="_x0000_s38940" name="Equation" r:id="rId5" imgW="761760" imgH="495000" progId="Equation.DSMT4">
                  <p:embed/>
                </p:oleObj>
              </mc:Choice>
              <mc:Fallback>
                <p:oleObj name="Equation" r:id="rId5" imgW="761760" imgH="495000" progId="Equation.DSMT4">
                  <p:embed/>
                  <p:pic>
                    <p:nvPicPr>
                      <p:cNvPr id="96262" name="对象 204809"/>
                      <p:cNvPicPr>
                        <a:picLocks noChangeArrowheads="1"/>
                      </p:cNvPicPr>
                      <p:nvPr/>
                    </p:nvPicPr>
                    <p:blipFill>
                      <a:blip r:embed="rId6"/>
                      <a:srcRect/>
                      <a:stretch>
                        <a:fillRect/>
                      </a:stretch>
                    </p:blipFill>
                    <p:spPr bwMode="auto">
                      <a:xfrm>
                        <a:off x="1682750" y="1317625"/>
                        <a:ext cx="1724025" cy="1122363"/>
                      </a:xfrm>
                      <a:prstGeom prst="rect">
                        <a:avLst/>
                      </a:prstGeom>
                      <a:noFill/>
                      <a:ln w="25400">
                        <a:solidFill>
                          <a:srgbClr val="FFCC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23538" y="1047541"/>
            <a:ext cx="3779848" cy="3225064"/>
          </a:xfrm>
          <a:prstGeom prst="rect">
            <a:avLst/>
          </a:prstGeom>
        </p:spPr>
      </p:pic>
    </p:spTree>
    <p:extLst>
      <p:ext uri="{BB962C8B-B14F-4D97-AF65-F5344CB8AC3E}">
        <p14:creationId xmlns:p14="http://schemas.microsoft.com/office/powerpoint/2010/main" val="3008561181"/>
      </p:ext>
    </p:extLst>
  </p:cSld>
  <p:clrMapOvr>
    <a:masterClrMapping/>
  </p:clrMapOvr>
  <p:transition/>
  <p:timing>
    <p:tnLst>
      <p:par>
        <p:cTn id="1" dur="indefinite" restart="never" nodeType="tmRoot"/>
      </p:par>
    </p:tnLst>
  </p:timing>
  <p:extLst mod="1"/>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对象 206849"/>
          <p:cNvGraphicFramePr>
            <a:graphicFrameLocks/>
          </p:cNvGraphicFramePr>
          <p:nvPr>
            <p:extLst/>
          </p:nvPr>
        </p:nvGraphicFramePr>
        <p:xfrm>
          <a:off x="1127594" y="2198718"/>
          <a:ext cx="2154237" cy="554038"/>
        </p:xfrm>
        <a:graphic>
          <a:graphicData uri="http://schemas.openxmlformats.org/presentationml/2006/ole">
            <mc:AlternateContent xmlns:mc="http://schemas.openxmlformats.org/markup-compatibility/2006">
              <mc:Choice xmlns:v="urn:schemas-microsoft-com:vml" Requires="v">
                <p:oleObj spid="_x0000_s39998" name="Equation" r:id="rId3" imgW="888840" imgH="228600" progId="Equation.DSMT4">
                  <p:embed/>
                </p:oleObj>
              </mc:Choice>
              <mc:Fallback>
                <p:oleObj name="Equation" r:id="rId3" imgW="888840" imgH="228600" progId="Equation.DSMT4">
                  <p:embed/>
                  <p:pic>
                    <p:nvPicPr>
                      <p:cNvPr id="97282" name="对象 206849"/>
                      <p:cNvPicPr>
                        <a:picLocks noChangeArrowheads="1"/>
                      </p:cNvPicPr>
                      <p:nvPr/>
                    </p:nvPicPr>
                    <p:blipFill>
                      <a:blip r:embed="rId4"/>
                      <a:srcRect/>
                      <a:stretch>
                        <a:fillRect/>
                      </a:stretch>
                    </p:blipFill>
                    <p:spPr bwMode="auto">
                      <a:xfrm>
                        <a:off x="1127594" y="2198718"/>
                        <a:ext cx="2154237" cy="554038"/>
                      </a:xfrm>
                      <a:prstGeom prst="rect">
                        <a:avLst/>
                      </a:prstGeom>
                      <a:noFill/>
                      <a:ln>
                        <a:noFill/>
                      </a:ln>
                      <a:extLst/>
                    </p:spPr>
                  </p:pic>
                </p:oleObj>
              </mc:Fallback>
            </mc:AlternateContent>
          </a:graphicData>
        </a:graphic>
      </p:graphicFrame>
      <p:graphicFrame>
        <p:nvGraphicFramePr>
          <p:cNvPr id="97283" name="对象 206851"/>
          <p:cNvGraphicFramePr>
            <a:graphicFrameLocks/>
          </p:cNvGraphicFramePr>
          <p:nvPr>
            <p:extLst/>
          </p:nvPr>
        </p:nvGraphicFramePr>
        <p:xfrm>
          <a:off x="585703" y="4764219"/>
          <a:ext cx="1250950" cy="825500"/>
        </p:xfrm>
        <a:graphic>
          <a:graphicData uri="http://schemas.openxmlformats.org/presentationml/2006/ole">
            <mc:AlternateContent xmlns:mc="http://schemas.openxmlformats.org/markup-compatibility/2006">
              <mc:Choice xmlns:v="urn:schemas-microsoft-com:vml" Requires="v">
                <p:oleObj spid="_x0000_s39999" name="Equation" r:id="rId5" imgW="596880" imgH="393480" progId="Equation.DSMT4">
                  <p:embed/>
                </p:oleObj>
              </mc:Choice>
              <mc:Fallback>
                <p:oleObj name="Equation" r:id="rId5" imgW="596880" imgH="393480" progId="Equation.DSMT4">
                  <p:embed/>
                  <p:pic>
                    <p:nvPicPr>
                      <p:cNvPr id="97283" name="对象 206851"/>
                      <p:cNvPicPr>
                        <a:picLocks noChangeArrowheads="1"/>
                      </p:cNvPicPr>
                      <p:nvPr/>
                    </p:nvPicPr>
                    <p:blipFill>
                      <a:blip r:embed="rId6"/>
                      <a:srcRect/>
                      <a:stretch>
                        <a:fillRect/>
                      </a:stretch>
                    </p:blipFill>
                    <p:spPr bwMode="auto">
                      <a:xfrm>
                        <a:off x="585703" y="4764219"/>
                        <a:ext cx="12509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284" name="矩形 206854"/>
          <p:cNvSpPr>
            <a:spLocks noChangeArrowheads="1"/>
          </p:cNvSpPr>
          <p:nvPr/>
        </p:nvSpPr>
        <p:spPr bwMode="auto">
          <a:xfrm>
            <a:off x="3581400" y="2419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97285" name="对象 206855"/>
          <p:cNvGraphicFramePr>
            <a:graphicFrameLocks/>
          </p:cNvGraphicFramePr>
          <p:nvPr>
            <p:extLst/>
          </p:nvPr>
        </p:nvGraphicFramePr>
        <p:xfrm>
          <a:off x="2389103" y="4630869"/>
          <a:ext cx="1854200" cy="911225"/>
        </p:xfrm>
        <a:graphic>
          <a:graphicData uri="http://schemas.openxmlformats.org/presentationml/2006/ole">
            <mc:AlternateContent xmlns:mc="http://schemas.openxmlformats.org/markup-compatibility/2006">
              <mc:Choice xmlns:v="urn:schemas-microsoft-com:vml" Requires="v">
                <p:oleObj spid="_x0000_s40000" r:id="rId7" imgW="774360" imgH="380880" progId="Equation.DSMT4">
                  <p:embed/>
                </p:oleObj>
              </mc:Choice>
              <mc:Fallback>
                <p:oleObj r:id="rId7" imgW="774360" imgH="380880" progId="Equation.DSMT4">
                  <p:embed/>
                  <p:pic>
                    <p:nvPicPr>
                      <p:cNvPr id="97285" name="对象 20685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9103" y="4630869"/>
                        <a:ext cx="185420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86" name="对象 206856"/>
          <p:cNvGraphicFramePr>
            <a:graphicFrameLocks/>
          </p:cNvGraphicFramePr>
          <p:nvPr>
            <p:extLst/>
          </p:nvPr>
        </p:nvGraphicFramePr>
        <p:xfrm>
          <a:off x="4991015" y="4807081"/>
          <a:ext cx="3195638" cy="779463"/>
        </p:xfrm>
        <a:graphic>
          <a:graphicData uri="http://schemas.openxmlformats.org/presentationml/2006/ole">
            <mc:AlternateContent xmlns:mc="http://schemas.openxmlformats.org/markup-compatibility/2006">
              <mc:Choice xmlns:v="urn:schemas-microsoft-com:vml" Requires="v">
                <p:oleObj spid="_x0000_s40001" r:id="rId9" imgW="1409088" imgH="342751" progId="Equation.DSMT4">
                  <p:embed/>
                </p:oleObj>
              </mc:Choice>
              <mc:Fallback>
                <p:oleObj r:id="rId9" imgW="1409088" imgH="342751" progId="Equation.DSMT4">
                  <p:embed/>
                  <p:pic>
                    <p:nvPicPr>
                      <p:cNvPr id="97286" name="对象 20685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1015" y="4807081"/>
                        <a:ext cx="319563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287" name="右箭头 206857"/>
          <p:cNvSpPr>
            <a:spLocks noChangeArrowheads="1"/>
          </p:cNvSpPr>
          <p:nvPr/>
        </p:nvSpPr>
        <p:spPr bwMode="auto">
          <a:xfrm>
            <a:off x="1893803" y="5124581"/>
            <a:ext cx="504825" cy="144463"/>
          </a:xfrm>
          <a:prstGeom prst="rightArrow">
            <a:avLst>
              <a:gd name="adj1" fmla="val 50000"/>
              <a:gd name="adj2" fmla="val 87314"/>
            </a:avLst>
          </a:prstGeom>
          <a:solidFill>
            <a:srgbClr val="FF0000"/>
          </a:solidFill>
          <a:ln w="9525">
            <a:solidFill>
              <a:srgbClr val="FF0000"/>
            </a:solidFill>
            <a:miter lim="800000"/>
            <a:headEnd/>
            <a:tailEnd/>
          </a:ln>
        </p:spPr>
        <p:txBody>
          <a:bodyPr/>
          <a:lstStyle/>
          <a:p>
            <a:pPr eaLnBrk="0" hangingPunct="0"/>
            <a:endParaRPr lang="zh-CN" altLang="en-US"/>
          </a:p>
        </p:txBody>
      </p:sp>
      <p:graphicFrame>
        <p:nvGraphicFramePr>
          <p:cNvPr id="97289" name="对象 2"/>
          <p:cNvGraphicFramePr>
            <a:graphicFrameLocks noChangeAspect="1"/>
          </p:cNvGraphicFramePr>
          <p:nvPr>
            <p:extLst/>
          </p:nvPr>
        </p:nvGraphicFramePr>
        <p:xfrm>
          <a:off x="366628" y="2955395"/>
          <a:ext cx="4624387" cy="1654175"/>
        </p:xfrm>
        <a:graphic>
          <a:graphicData uri="http://schemas.openxmlformats.org/presentationml/2006/ole">
            <mc:AlternateContent xmlns:mc="http://schemas.openxmlformats.org/markup-compatibility/2006">
              <mc:Choice xmlns:v="urn:schemas-microsoft-com:vml" Requires="v">
                <p:oleObj spid="_x0000_s40002" name="Equation" r:id="rId11" imgW="4787280" imgH="942480" progId="Equation.DSMT4">
                  <p:embed/>
                </p:oleObj>
              </mc:Choice>
              <mc:Fallback>
                <p:oleObj name="Equation" r:id="rId11" imgW="4787280" imgH="942480" progId="Equation.DSMT4">
                  <p:embed/>
                  <p:pic>
                    <p:nvPicPr>
                      <p:cNvPr id="97289" name="对象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6628" y="2955395"/>
                        <a:ext cx="46243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90" name="右箭头 206857"/>
          <p:cNvSpPr>
            <a:spLocks noChangeArrowheads="1"/>
          </p:cNvSpPr>
          <p:nvPr/>
        </p:nvSpPr>
        <p:spPr bwMode="auto">
          <a:xfrm>
            <a:off x="4383003" y="5183319"/>
            <a:ext cx="504825" cy="144462"/>
          </a:xfrm>
          <a:prstGeom prst="rightArrow">
            <a:avLst>
              <a:gd name="adj1" fmla="val 50000"/>
              <a:gd name="adj2" fmla="val 87314"/>
            </a:avLst>
          </a:prstGeom>
          <a:solidFill>
            <a:srgbClr val="FF0000"/>
          </a:solidFill>
          <a:ln w="9525">
            <a:solidFill>
              <a:srgbClr val="FF0000"/>
            </a:solidFill>
            <a:miter lim="800000"/>
            <a:headEnd/>
            <a:tailEnd/>
          </a:ln>
        </p:spPr>
        <p:txBody>
          <a:bodyPr/>
          <a:lstStyle/>
          <a:p>
            <a:pPr eaLnBrk="0" hangingPunct="0"/>
            <a:endParaRPr lang="zh-CN" altLang="en-US"/>
          </a:p>
        </p:txBody>
      </p:sp>
      <p:sp>
        <p:nvSpPr>
          <p:cNvPr id="12" name="矩形 11"/>
          <p:cNvSpPr/>
          <p:nvPr/>
        </p:nvSpPr>
        <p:spPr>
          <a:xfrm>
            <a:off x="244994" y="206256"/>
            <a:ext cx="5519460" cy="584775"/>
          </a:xfrm>
          <a:prstGeom prst="rect">
            <a:avLst/>
          </a:prstGeom>
        </p:spPr>
        <p:txBody>
          <a:bodyPr wrap="none">
            <a:spAutoFit/>
          </a:bodyPr>
          <a:lstStyle/>
          <a:p>
            <a:r>
              <a:rPr lang="zh-CN" altLang="en-US" sz="3200" b="1" dirty="0" smtClean="0"/>
              <a:t>三、布雷顿循环增压比的选择</a:t>
            </a:r>
            <a:endParaRPr lang="zh-CN" altLang="en-US" sz="3200" b="1" dirty="0"/>
          </a:p>
        </p:txBody>
      </p:sp>
      <p:sp>
        <p:nvSpPr>
          <p:cNvPr id="15" name="矩形 14"/>
          <p:cNvSpPr/>
          <p:nvPr/>
        </p:nvSpPr>
        <p:spPr>
          <a:xfrm>
            <a:off x="244994" y="1072936"/>
            <a:ext cx="4554468" cy="954107"/>
          </a:xfrm>
          <a:prstGeom prst="rect">
            <a:avLst/>
          </a:prstGeom>
        </p:spPr>
        <p:txBody>
          <a:bodyPr wrap="square">
            <a:spAutoFit/>
          </a:bodyPr>
          <a:lstStyle/>
          <a:p>
            <a:r>
              <a:rPr lang="zh-CN" altLang="en-US" sz="2800" b="1" dirty="0" smtClean="0">
                <a:latin typeface="宋体" panose="02010600030101010101" pitchFamily="2" charset="-122"/>
                <a:ea typeface="宋体" panose="02010600030101010101" pitchFamily="2" charset="-122"/>
              </a:rPr>
              <a:t>在循环最高温度</a:t>
            </a:r>
            <a:r>
              <a:rPr lang="en-US" altLang="zh-CN" sz="2800" b="1" i="1" dirty="0" smtClean="0">
                <a:latin typeface="Times New Roman" panose="02020603050405020304" pitchFamily="18" charset="0"/>
                <a:ea typeface="宋体" panose="02010600030101010101" pitchFamily="2" charset="-122"/>
                <a:cs typeface="Times New Roman" panose="02020603050405020304" pitchFamily="18" charset="0"/>
              </a:rPr>
              <a:t>T</a:t>
            </a:r>
            <a:r>
              <a:rPr lang="en-US" altLang="zh-CN" sz="2800" b="1" baseline="-25000" dirty="0" smtClean="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b="1" dirty="0" smtClean="0">
                <a:latin typeface="宋体" panose="02010600030101010101" pitchFamily="2" charset="-122"/>
                <a:ea typeface="宋体" panose="02010600030101010101" pitchFamily="2" charset="-122"/>
              </a:rPr>
              <a:t>和最低温度</a:t>
            </a:r>
            <a:r>
              <a:rPr lang="en-US" altLang="zh-CN" sz="2800" b="1" i="1" dirty="0" smtClean="0">
                <a:latin typeface="Times New Roman" panose="02020603050405020304" pitchFamily="18" charset="0"/>
                <a:ea typeface="宋体" panose="02010600030101010101" pitchFamily="2" charset="-122"/>
                <a:cs typeface="Times New Roman" panose="02020603050405020304" pitchFamily="18" charset="0"/>
              </a:rPr>
              <a:t>T</a:t>
            </a:r>
            <a:r>
              <a:rPr lang="en-US" altLang="zh-CN" sz="2800" b="1" baseline="-250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dirty="0" smtClean="0">
                <a:latin typeface="宋体" panose="02010600030101010101" pitchFamily="2" charset="-122"/>
                <a:ea typeface="宋体" panose="02010600030101010101" pitchFamily="2" charset="-122"/>
              </a:rPr>
              <a:t>给定时，</a:t>
            </a:r>
            <a:r>
              <a:rPr lang="el-GR" altLang="zh-CN" sz="2800" b="1" i="1" dirty="0" smtClean="0">
                <a:latin typeface="Times New Roman" panose="02020603050405020304" pitchFamily="18" charset="0"/>
                <a:ea typeface="微软雅黑" panose="020B0503020204020204" pitchFamily="34" charset="-122"/>
                <a:cs typeface="Times New Roman" panose="02020603050405020304" pitchFamily="18" charset="0"/>
              </a:rPr>
              <a:t>π</a:t>
            </a:r>
            <a:r>
              <a:rPr lang="zh-CN" altLang="en-US" sz="2800" b="1" dirty="0" smtClean="0">
                <a:latin typeface="宋体" panose="02010600030101010101" pitchFamily="2" charset="-122"/>
                <a:ea typeface="宋体" panose="02010600030101010101" pitchFamily="2" charset="-122"/>
              </a:rPr>
              <a:t>取某值时使</a:t>
            </a:r>
            <a:endParaRPr lang="zh-CN" altLang="en-US" sz="2800" b="1" i="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6" name="对象 203784"/>
          <p:cNvGraphicFramePr>
            <a:graphicFrameLocks/>
          </p:cNvGraphicFramePr>
          <p:nvPr>
            <p:extLst/>
          </p:nvPr>
        </p:nvGraphicFramePr>
        <p:xfrm>
          <a:off x="3711575" y="5784541"/>
          <a:ext cx="812800" cy="838200"/>
        </p:xfrm>
        <a:graphic>
          <a:graphicData uri="http://schemas.openxmlformats.org/presentationml/2006/ole">
            <mc:AlternateContent xmlns:mc="http://schemas.openxmlformats.org/markup-compatibility/2006">
              <mc:Choice xmlns:v="urn:schemas-microsoft-com:vml" Requires="v">
                <p:oleObj spid="_x0000_s40003" r:id="rId13" imgW="406048" imgH="418737" progId="Equation.DSMT4">
                  <p:embed/>
                </p:oleObj>
              </mc:Choice>
              <mc:Fallback>
                <p:oleObj r:id="rId13" imgW="406048" imgH="418737" progId="Equation.DSMT4">
                  <p:embed/>
                  <p:pic>
                    <p:nvPicPr>
                      <p:cNvPr id="16" name="对象 20378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1575" y="5784541"/>
                        <a:ext cx="812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文本框 203785"/>
          <p:cNvSpPr txBox="1">
            <a:spLocks noChangeArrowheads="1"/>
          </p:cNvSpPr>
          <p:nvPr/>
        </p:nvSpPr>
        <p:spPr bwMode="auto">
          <a:xfrm>
            <a:off x="1914525" y="5944085"/>
            <a:ext cx="18213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dirty="0">
                <a:latin typeface="Times New Roman" panose="02020603050405020304" pitchFamily="18" charset="0"/>
              </a:rPr>
              <a:t> </a:t>
            </a:r>
            <a:r>
              <a:rPr lang="zh-CN" altLang="en-US" sz="2400" b="1" dirty="0">
                <a:latin typeface="宋体" panose="02010600030101010101" pitchFamily="2" charset="-122"/>
                <a:ea typeface="宋体" panose="02010600030101010101" pitchFamily="2" charset="-122"/>
              </a:rPr>
              <a:t>循环增温比</a:t>
            </a:r>
            <a:endParaRPr lang="zh-CN" altLang="en-US" sz="2800" dirty="0">
              <a:latin typeface="宋体" panose="02010600030101010101" pitchFamily="2" charset="-122"/>
              <a:ea typeface="宋体" panose="02010600030101010101" pitchFamily="2" charset="-122"/>
            </a:endParaRPr>
          </a:p>
        </p:txBody>
      </p:sp>
      <p:sp>
        <p:nvSpPr>
          <p:cNvPr id="18" name="矩形 17"/>
          <p:cNvSpPr/>
          <p:nvPr/>
        </p:nvSpPr>
        <p:spPr>
          <a:xfrm>
            <a:off x="1984584" y="5784540"/>
            <a:ext cx="2756452" cy="8503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上箭头 4"/>
          <p:cNvSpPr/>
          <p:nvPr/>
        </p:nvSpPr>
        <p:spPr>
          <a:xfrm>
            <a:off x="3312786" y="5408009"/>
            <a:ext cx="202096" cy="3644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48148" y="941500"/>
            <a:ext cx="3938357" cy="2840982"/>
          </a:xfrm>
          <a:prstGeom prst="rect">
            <a:avLst/>
          </a:prstGeom>
        </p:spPr>
      </p:pic>
    </p:spTree>
    <p:extLst>
      <p:ext uri="{BB962C8B-B14F-4D97-AF65-F5344CB8AC3E}">
        <p14:creationId xmlns:p14="http://schemas.microsoft.com/office/powerpoint/2010/main" val="3633697758"/>
      </p:ext>
    </p:extLst>
  </p:cSld>
  <p:clrMapOvr>
    <a:masterClrMapping/>
  </p:clrMapOvr>
  <p:transition/>
  <p:timing>
    <p:tnLst>
      <p:par>
        <p:cTn id="1" dur="indefinite" restart="never" nodeType="tmRoot"/>
      </p:par>
    </p:tnLst>
  </p:timing>
  <p:extLst mod="1"/>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矩形 268291"/>
          <p:cNvSpPr>
            <a:spLocks noChangeArrowheads="1"/>
          </p:cNvSpPr>
          <p:nvPr/>
        </p:nvSpPr>
        <p:spPr bwMode="auto">
          <a:xfrm>
            <a:off x="611188" y="1844675"/>
            <a:ext cx="7848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zh-CN" sz="4000" b="1" dirty="0"/>
              <a:t>12-6   </a:t>
            </a:r>
            <a:r>
              <a:rPr lang="zh-CN" altLang="en-US" sz="4400" b="1" dirty="0"/>
              <a:t>考虑内不可逆损失时燃气轮机装置的定压加热循环</a:t>
            </a:r>
            <a:r>
              <a:rPr lang="zh-CN" altLang="en-US" sz="4400" dirty="0"/>
              <a:t> </a:t>
            </a:r>
          </a:p>
        </p:txBody>
      </p:sp>
    </p:spTree>
    <p:extLst>
      <p:ext uri="{BB962C8B-B14F-4D97-AF65-F5344CB8AC3E}">
        <p14:creationId xmlns:p14="http://schemas.microsoft.com/office/powerpoint/2010/main" val="32550697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矩形 306180"/>
          <p:cNvSpPr>
            <a:spLocks noChangeArrowheads="1"/>
          </p:cNvSpPr>
          <p:nvPr/>
        </p:nvSpPr>
        <p:spPr bwMode="auto">
          <a:xfrm>
            <a:off x="0" y="2247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99332" name="矩形 306182"/>
          <p:cNvSpPr>
            <a:spLocks noChangeArrowheads="1"/>
          </p:cNvSpPr>
          <p:nvPr/>
        </p:nvSpPr>
        <p:spPr bwMode="auto">
          <a:xfrm>
            <a:off x="395288" y="4005263"/>
            <a:ext cx="37941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400" b="1" dirty="0">
                <a:solidFill>
                  <a:srgbClr val="FF0000"/>
                </a:solidFill>
              </a:rPr>
              <a:t>本课程：</a:t>
            </a:r>
            <a:r>
              <a:rPr lang="zh-CN" altLang="en-US" sz="2400" b="1" dirty="0"/>
              <a:t>仅考虑压缩和膨胀过程的不可逆性，认为工质吸热和放热时分别为定压过程 </a:t>
            </a:r>
          </a:p>
        </p:txBody>
      </p:sp>
      <p:sp>
        <p:nvSpPr>
          <p:cNvPr id="99333" name="矩形 306183"/>
          <p:cNvSpPr>
            <a:spLocks noChangeArrowheads="1"/>
          </p:cNvSpPr>
          <p:nvPr/>
        </p:nvSpPr>
        <p:spPr bwMode="auto">
          <a:xfrm>
            <a:off x="4427538" y="4356100"/>
            <a:ext cx="4484687"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400" b="1">
                <a:solidFill>
                  <a:srgbClr val="FF0000"/>
                </a:solidFill>
              </a:rPr>
              <a:t>实际</a:t>
            </a:r>
            <a:r>
              <a:rPr lang="zh-CN" altLang="en-US" sz="2400" b="1"/>
              <a:t>：工质在吸热和放热时，工质的流动会产生压降（工质的流动正是压差所驱动的） ，此时循环的名称就不能再是“定压”加热循环了 </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36" y="522160"/>
            <a:ext cx="4243184" cy="3596952"/>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8656" y="211237"/>
            <a:ext cx="4035902" cy="3907875"/>
          </a:xfrm>
          <a:prstGeom prst="rect">
            <a:avLst/>
          </a:prstGeom>
        </p:spPr>
      </p:pic>
    </p:spTree>
    <p:extLst>
      <p:ext uri="{BB962C8B-B14F-4D97-AF65-F5344CB8AC3E}">
        <p14:creationId xmlns:p14="http://schemas.microsoft.com/office/powerpoint/2010/main" val="1706243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06182"/>
          <p:cNvSpPr>
            <a:spLocks noChangeArrowheads="1"/>
          </p:cNvSpPr>
          <p:nvPr/>
        </p:nvSpPr>
        <p:spPr bwMode="auto">
          <a:xfrm>
            <a:off x="4503463" y="729491"/>
            <a:ext cx="37941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400" b="1" dirty="0" smtClean="0"/>
              <a:t>循环</a:t>
            </a:r>
            <a:r>
              <a:rPr lang="en-US" altLang="zh-CN" sz="2400" b="1" dirty="0" smtClean="0"/>
              <a:t>1-2-3-4-1</a:t>
            </a:r>
            <a:r>
              <a:rPr lang="zh-CN" altLang="en-US" sz="2400" b="1" dirty="0" smtClean="0"/>
              <a:t>是</a:t>
            </a:r>
            <a:r>
              <a:rPr lang="zh-CN" altLang="zh-CN" sz="2400" b="1" dirty="0" smtClean="0"/>
              <a:t>考虑</a:t>
            </a:r>
            <a:r>
              <a:rPr lang="zh-CN" altLang="en-US" sz="2400" b="1" dirty="0"/>
              <a:t>了</a:t>
            </a:r>
            <a:r>
              <a:rPr lang="zh-CN" altLang="zh-CN" sz="2400" b="1" dirty="0"/>
              <a:t>压气机和燃气轮机中存在的摩擦损失</a:t>
            </a:r>
            <a:r>
              <a:rPr lang="zh-CN" altLang="en-US" sz="2400" b="1" dirty="0"/>
              <a:t>后，燃气轮机的定压加热</a:t>
            </a:r>
            <a:r>
              <a:rPr lang="zh-CN" altLang="en-US" sz="2400" b="1" dirty="0" smtClean="0"/>
              <a:t>循环，其中：</a:t>
            </a:r>
            <a:endParaRPr lang="zh-CN" altLang="en-US" sz="2400" b="1" dirty="0"/>
          </a:p>
        </p:txBody>
      </p:sp>
      <p:sp>
        <p:nvSpPr>
          <p:cNvPr id="6" name="矩形 306182"/>
          <p:cNvSpPr>
            <a:spLocks noChangeArrowheads="1"/>
          </p:cNvSpPr>
          <p:nvPr/>
        </p:nvSpPr>
        <p:spPr bwMode="auto">
          <a:xfrm>
            <a:off x="4503463" y="2419936"/>
            <a:ext cx="37941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en-US" altLang="zh-CN" sz="2400" b="1" dirty="0" smtClean="0"/>
              <a:t>1-2</a:t>
            </a:r>
            <a:r>
              <a:rPr lang="zh-CN" altLang="en-US" sz="2400" b="1" dirty="0" smtClean="0"/>
              <a:t>：压气机中的不可逆绝热压缩</a:t>
            </a:r>
            <a:endParaRPr lang="en-US" altLang="zh-CN" sz="2400" b="1" dirty="0" smtClean="0"/>
          </a:p>
        </p:txBody>
      </p:sp>
      <p:sp>
        <p:nvSpPr>
          <p:cNvPr id="7" name="矩形 306182"/>
          <p:cNvSpPr>
            <a:spLocks noChangeArrowheads="1"/>
          </p:cNvSpPr>
          <p:nvPr/>
        </p:nvSpPr>
        <p:spPr bwMode="auto">
          <a:xfrm>
            <a:off x="4503463" y="3371718"/>
            <a:ext cx="37941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en-US" altLang="zh-CN" sz="2400" b="1" dirty="0" smtClean="0"/>
              <a:t>3-4</a:t>
            </a:r>
            <a:r>
              <a:rPr lang="zh-CN" altLang="en-US" sz="2400" b="1" dirty="0" smtClean="0"/>
              <a:t>：燃气轮机中的不可逆绝热膨胀</a:t>
            </a:r>
            <a:endParaRPr lang="en-US" altLang="zh-CN" sz="2400" b="1" dirty="0" smtClean="0"/>
          </a:p>
        </p:txBody>
      </p:sp>
      <p:sp>
        <p:nvSpPr>
          <p:cNvPr id="8" name="矩形 306182"/>
          <p:cNvSpPr>
            <a:spLocks noChangeArrowheads="1"/>
          </p:cNvSpPr>
          <p:nvPr/>
        </p:nvSpPr>
        <p:spPr bwMode="auto">
          <a:xfrm>
            <a:off x="579681" y="4666040"/>
            <a:ext cx="784756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nchor="ctr">
            <a:spAutoFit/>
          </a:bodyPr>
          <a:lstStyle/>
          <a:p>
            <a:r>
              <a:rPr lang="zh-CN" altLang="zh-CN" sz="2400" b="1" dirty="0">
                <a:latin typeface="Times New Roman" panose="02020603050405020304" pitchFamily="18" charset="0"/>
                <a:cs typeface="Times New Roman" panose="02020603050405020304" pitchFamily="18" charset="0"/>
              </a:rPr>
              <a:t>压气机和燃气轮机出口状态</a:t>
            </a:r>
            <a:r>
              <a:rPr lang="en-US" altLang="zh-CN" sz="2400" b="1" dirty="0">
                <a:latin typeface="Times New Roman" panose="02020603050405020304" pitchFamily="18" charset="0"/>
                <a:cs typeface="Times New Roman" panose="02020603050405020304" pitchFamily="18" charset="0"/>
              </a:rPr>
              <a:t>2</a:t>
            </a:r>
            <a:r>
              <a:rPr lang="zh-CN" altLang="zh-CN"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4</a:t>
            </a:r>
            <a:r>
              <a:rPr lang="zh-CN" altLang="zh-CN" sz="2400" b="1" dirty="0">
                <a:latin typeface="Times New Roman" panose="02020603050405020304" pitchFamily="18" charset="0"/>
                <a:cs typeface="Times New Roman" panose="02020603050405020304" pitchFamily="18" charset="0"/>
              </a:rPr>
              <a:t>都比理想循环的对应状态</a:t>
            </a:r>
            <a:r>
              <a:rPr lang="en-US" altLang="zh-CN" sz="2400" b="1" dirty="0">
                <a:latin typeface="Times New Roman" panose="02020603050405020304" pitchFamily="18" charset="0"/>
                <a:cs typeface="Times New Roman" panose="02020603050405020304" pitchFamily="18" charset="0"/>
              </a:rPr>
              <a:t>2</a:t>
            </a:r>
            <a:r>
              <a:rPr lang="en-US" altLang="zh-CN" sz="2400" b="1" i="1" baseline="-25000" dirty="0">
                <a:latin typeface="Times New Roman" panose="02020603050405020304" pitchFamily="18" charset="0"/>
                <a:cs typeface="Times New Roman" panose="02020603050405020304" pitchFamily="18" charset="0"/>
              </a:rPr>
              <a:t>s</a:t>
            </a:r>
            <a:r>
              <a:rPr lang="zh-CN" altLang="zh-CN"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4</a:t>
            </a:r>
            <a:r>
              <a:rPr lang="en-US" altLang="zh-CN" sz="2400" b="1" i="1" baseline="-25000" dirty="0">
                <a:latin typeface="Times New Roman" panose="02020603050405020304" pitchFamily="18" charset="0"/>
                <a:cs typeface="Times New Roman" panose="02020603050405020304" pitchFamily="18" charset="0"/>
              </a:rPr>
              <a:t>s</a:t>
            </a:r>
            <a:r>
              <a:rPr lang="zh-CN" altLang="zh-CN" sz="2400" b="1" dirty="0">
                <a:latin typeface="Times New Roman" panose="02020603050405020304" pitchFamily="18" charset="0"/>
                <a:cs typeface="Times New Roman" panose="02020603050405020304" pitchFamily="18" charset="0"/>
              </a:rPr>
              <a:t>有更大的熵值，这是因为对于稳定地流过</a:t>
            </a:r>
            <a:r>
              <a:rPr lang="zh-CN" altLang="zh-CN" sz="2400" b="1" dirty="0">
                <a:solidFill>
                  <a:srgbClr val="FF0000"/>
                </a:solidFill>
                <a:latin typeface="Times New Roman" panose="02020603050405020304" pitchFamily="18" charset="0"/>
                <a:cs typeface="Times New Roman" panose="02020603050405020304" pitchFamily="18" charset="0"/>
              </a:rPr>
              <a:t>绝热</a:t>
            </a:r>
            <a:r>
              <a:rPr lang="zh-CN" altLang="zh-CN" sz="2400" b="1" dirty="0">
                <a:latin typeface="Times New Roman" panose="02020603050405020304" pitchFamily="18" charset="0"/>
                <a:cs typeface="Times New Roman" panose="02020603050405020304" pitchFamily="18" charset="0"/>
              </a:rPr>
              <a:t>设备的单股流体，过程中的不可逆因素总要导致流体的熵值</a:t>
            </a:r>
            <a:r>
              <a:rPr lang="zh-CN" altLang="zh-CN" sz="2400" b="1" dirty="0" smtClean="0">
                <a:latin typeface="Times New Roman" panose="02020603050405020304" pitchFamily="18" charset="0"/>
                <a:cs typeface="Times New Roman" panose="02020603050405020304" pitchFamily="18" charset="0"/>
              </a:rPr>
              <a:t>增加</a:t>
            </a:r>
            <a:r>
              <a:rPr lang="zh-CN" altLang="en-US" sz="2400" b="1" dirty="0" smtClean="0">
                <a:latin typeface="Times New Roman" panose="02020603050405020304" pitchFamily="18" charset="0"/>
                <a:cs typeface="Times New Roman" panose="02020603050405020304" pitchFamily="18" charset="0"/>
              </a:rPr>
              <a:t>（详见熵方程）</a:t>
            </a:r>
            <a:endParaRPr lang="zh-CN" altLang="en-US" sz="2400" b="1"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36" y="522160"/>
            <a:ext cx="4243184" cy="3596952"/>
          </a:xfrm>
          <a:prstGeom prst="rect">
            <a:avLst/>
          </a:prstGeom>
        </p:spPr>
      </p:pic>
    </p:spTree>
    <p:extLst>
      <p:ext uri="{BB962C8B-B14F-4D97-AF65-F5344CB8AC3E}">
        <p14:creationId xmlns:p14="http://schemas.microsoft.com/office/powerpoint/2010/main" val="40698347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67944"/>
          <p:cNvSpPr txBox="1">
            <a:spLocks noChangeArrowheads="1"/>
          </p:cNvSpPr>
          <p:nvPr/>
        </p:nvSpPr>
        <p:spPr>
          <a:xfrm>
            <a:off x="302523" y="424069"/>
            <a:ext cx="8229600" cy="1143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3000" b="1" dirty="0" smtClean="0">
                <a:ea typeface="黑体" panose="02010609060101010101" pitchFamily="49" charset="-122"/>
              </a:rPr>
              <a:t>一、压气机的绝热效率和燃气轮机的相对内效率</a:t>
            </a:r>
          </a:p>
        </p:txBody>
      </p:sp>
      <p:sp>
        <p:nvSpPr>
          <p:cNvPr id="4" name="矩形 3"/>
          <p:cNvSpPr/>
          <p:nvPr/>
        </p:nvSpPr>
        <p:spPr>
          <a:xfrm>
            <a:off x="588063" y="1336236"/>
            <a:ext cx="6497291" cy="523220"/>
          </a:xfrm>
          <a:prstGeom prst="rect">
            <a:avLst/>
          </a:prstGeom>
        </p:spPr>
        <p:txBody>
          <a:bodyPr wrap="none">
            <a:spAutoFit/>
          </a:bodyPr>
          <a:lstStyle/>
          <a:p>
            <a:r>
              <a:rPr lang="en-US" altLang="zh-CN" sz="2800" b="1" dirty="0" smtClean="0">
                <a:solidFill>
                  <a:prstClr val="black"/>
                </a:solidFill>
                <a:ea typeface="黑体" panose="02010609060101010101" pitchFamily="49" charset="-122"/>
              </a:rPr>
              <a:t>1</a:t>
            </a:r>
            <a:r>
              <a:rPr lang="zh-CN" altLang="en-US" sz="2800" b="1" dirty="0" smtClean="0">
                <a:solidFill>
                  <a:prstClr val="black"/>
                </a:solidFill>
                <a:ea typeface="黑体" panose="02010609060101010101" pitchFamily="49" charset="-122"/>
              </a:rPr>
              <a:t>、压气机</a:t>
            </a:r>
            <a:r>
              <a:rPr lang="zh-CN" altLang="en-US" sz="2800" b="1" dirty="0">
                <a:solidFill>
                  <a:prstClr val="black"/>
                </a:solidFill>
                <a:ea typeface="黑体" panose="02010609060101010101" pitchFamily="49" charset="-122"/>
              </a:rPr>
              <a:t>的绝热</a:t>
            </a:r>
            <a:r>
              <a:rPr lang="zh-CN" altLang="en-US" sz="2800" b="1" dirty="0" smtClean="0">
                <a:solidFill>
                  <a:prstClr val="black"/>
                </a:solidFill>
                <a:ea typeface="黑体" panose="02010609060101010101" pitchFamily="49" charset="-122"/>
              </a:rPr>
              <a:t>效率（也叫定熵效率）</a:t>
            </a:r>
            <a:endParaRPr lang="zh-CN" altLang="en-US" sz="2800" dirty="0"/>
          </a:p>
        </p:txBody>
      </p:sp>
      <p:sp>
        <p:nvSpPr>
          <p:cNvPr id="7" name="文本框 6"/>
          <p:cNvSpPr txBox="1"/>
          <p:nvPr/>
        </p:nvSpPr>
        <p:spPr>
          <a:xfrm>
            <a:off x="687455" y="2479236"/>
            <a:ext cx="7767432" cy="2754600"/>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smtClean="0"/>
              <a:t>11-6</a:t>
            </a:r>
            <a:r>
              <a:rPr lang="zh-CN" altLang="zh-CN" sz="2400" b="1" dirty="0" smtClean="0"/>
              <a:t>节</a:t>
            </a:r>
            <a:r>
              <a:rPr lang="zh-CN" altLang="zh-CN" sz="2400" b="1" dirty="0" smtClean="0"/>
              <a:t>指出</a:t>
            </a:r>
            <a:r>
              <a:rPr lang="zh-CN" altLang="zh-CN" sz="2400" b="1" dirty="0"/>
              <a:t>，对于</a:t>
            </a:r>
            <a:r>
              <a:rPr lang="zh-CN" altLang="zh-CN" sz="2400" b="1" dirty="0">
                <a:solidFill>
                  <a:srgbClr val="FF0000"/>
                </a:solidFill>
              </a:rPr>
              <a:t>叶轮式压气机</a:t>
            </a:r>
            <a:r>
              <a:rPr lang="zh-CN" altLang="zh-CN" sz="2400" b="1" dirty="0"/>
              <a:t>，气流以极高的速度流经压气机而来不及冷却，因此压气机一般在不冷却条件下工作，此时压气机中的压缩过程为绝热，故人们</a:t>
            </a:r>
            <a:r>
              <a:rPr lang="zh-CN" altLang="zh-CN" sz="2400" b="1" dirty="0">
                <a:solidFill>
                  <a:srgbClr val="FF0000"/>
                </a:solidFill>
              </a:rPr>
              <a:t>通常采用压气机的绝热</a:t>
            </a:r>
            <a:r>
              <a:rPr lang="zh-CN" altLang="zh-CN" sz="2400" b="1" dirty="0" smtClean="0">
                <a:solidFill>
                  <a:srgbClr val="FF0000"/>
                </a:solidFill>
              </a:rPr>
              <a:t>效率来</a:t>
            </a:r>
            <a:r>
              <a:rPr lang="zh-CN" altLang="zh-CN" sz="2400" b="1" dirty="0">
                <a:solidFill>
                  <a:srgbClr val="FF0000"/>
                </a:solidFill>
              </a:rPr>
              <a:t>评价压气机的</a:t>
            </a:r>
            <a:r>
              <a:rPr lang="zh-CN" altLang="zh-CN" sz="2400" b="1" dirty="0" smtClean="0">
                <a:solidFill>
                  <a:srgbClr val="FF0000"/>
                </a:solidFill>
              </a:rPr>
              <a:t>性能</a:t>
            </a:r>
            <a:endParaRPr lang="en-US" altLang="zh-CN" sz="2400" b="1" dirty="0" smtClean="0">
              <a:solidFill>
                <a:srgbClr val="FF0000"/>
              </a:solidFill>
            </a:endParaRPr>
          </a:p>
          <a:p>
            <a:pPr marL="342900" indent="-342900">
              <a:spcBef>
                <a:spcPts val="750"/>
              </a:spcBef>
              <a:buFont typeface="Arial" panose="020B0604020202020204" pitchFamily="34" charset="0"/>
              <a:buChar char="•"/>
            </a:pPr>
            <a:r>
              <a:rPr lang="zh-CN" altLang="zh-CN" sz="2400" b="1" dirty="0" smtClean="0"/>
              <a:t>燃气轮机</a:t>
            </a:r>
            <a:r>
              <a:rPr lang="zh-CN" altLang="zh-CN" sz="2400" b="1" dirty="0"/>
              <a:t>装置采用轴流式压气机，它属于叶轮式压气机，气流经过压气机的摩擦损失用压气机的绝热</a:t>
            </a:r>
            <a:r>
              <a:rPr lang="zh-CN" altLang="zh-CN" sz="2400" b="1" dirty="0" smtClean="0"/>
              <a:t>效率</a:t>
            </a:r>
            <a:r>
              <a:rPr lang="zh-CN" altLang="en-US" sz="2400" b="1" dirty="0" smtClean="0"/>
              <a:t>来量度</a:t>
            </a:r>
            <a:endParaRPr lang="zh-CN" altLang="en-US" sz="2400" b="1" dirty="0"/>
          </a:p>
        </p:txBody>
      </p:sp>
    </p:spTree>
    <p:extLst>
      <p:ext uri="{BB962C8B-B14F-4D97-AF65-F5344CB8AC3E}">
        <p14:creationId xmlns:p14="http://schemas.microsoft.com/office/powerpoint/2010/main" val="3953104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2288" y="574236"/>
            <a:ext cx="7972842" cy="1815882"/>
          </a:xfrm>
          <a:prstGeom prst="rect">
            <a:avLst/>
          </a:prstGeom>
        </p:spPr>
        <p:txBody>
          <a:bodyPr wrap="square">
            <a:spAutoFit/>
          </a:bodyPr>
          <a:lstStyle/>
          <a:p>
            <a:r>
              <a:rPr lang="zh-CN" altLang="zh-CN" sz="2800" b="1" dirty="0" smtClean="0"/>
              <a:t>在</a:t>
            </a:r>
            <a:r>
              <a:rPr lang="zh-CN" altLang="zh-CN" sz="2800" b="1" dirty="0"/>
              <a:t>压气机中，在压缩前气体的状态相同、压缩后气体的压力也相同的情况下，对气体进行可逆绝热压缩时的耗功</a:t>
            </a:r>
            <a:r>
              <a:rPr lang="zh-CN" altLang="zh-CN" sz="2800" b="1" dirty="0" smtClean="0"/>
              <a:t>量</a:t>
            </a:r>
            <a:r>
              <a:rPr lang="en-US" altLang="zh-CN" sz="2800" b="1" i="1" dirty="0" err="1" smtClean="0">
                <a:latin typeface="Times New Roman" panose="02020603050405020304" pitchFamily="18" charset="0"/>
                <a:cs typeface="Times New Roman" panose="02020603050405020304" pitchFamily="18" charset="0"/>
              </a:rPr>
              <a:t>w</a:t>
            </a:r>
            <a:r>
              <a:rPr lang="en-US" altLang="zh-CN" sz="2800" b="1" baseline="-25000" dirty="0" err="1" smtClean="0">
                <a:latin typeface="Times New Roman" panose="02020603050405020304" pitchFamily="18" charset="0"/>
                <a:cs typeface="Times New Roman" panose="02020603050405020304" pitchFamily="18" charset="0"/>
              </a:rPr>
              <a:t>C,</a:t>
            </a:r>
            <a:r>
              <a:rPr lang="en-US" altLang="zh-CN" sz="2800" b="1" i="1" baseline="-25000" dirty="0" err="1" smtClean="0">
                <a:latin typeface="Times New Roman" panose="02020603050405020304" pitchFamily="18" charset="0"/>
                <a:cs typeface="Times New Roman" panose="02020603050405020304" pitchFamily="18" charset="0"/>
              </a:rPr>
              <a:t>s</a:t>
            </a:r>
            <a:r>
              <a:rPr lang="zh-CN" altLang="zh-CN" sz="2800" b="1" dirty="0" smtClean="0"/>
              <a:t>与</a:t>
            </a:r>
            <a:r>
              <a:rPr lang="zh-CN" altLang="zh-CN" sz="2800" b="1" dirty="0"/>
              <a:t>实际不</a:t>
            </a:r>
            <a:r>
              <a:rPr lang="zh-CN" altLang="zh-CN" sz="2800" b="1" dirty="0" smtClean="0"/>
              <a:t>可逆</a:t>
            </a:r>
            <a:r>
              <a:rPr lang="zh-CN" altLang="en-US" sz="2800" b="1" dirty="0" smtClean="0"/>
              <a:t>绝热</a:t>
            </a:r>
            <a:r>
              <a:rPr lang="zh-CN" altLang="zh-CN" sz="2800" b="1" dirty="0" smtClean="0"/>
              <a:t>压缩</a:t>
            </a:r>
            <a:r>
              <a:rPr lang="zh-CN" altLang="zh-CN" sz="2800" b="1" dirty="0"/>
              <a:t>时的耗功</a:t>
            </a:r>
            <a:r>
              <a:rPr lang="zh-CN" altLang="zh-CN" sz="2800" b="1" dirty="0" smtClean="0"/>
              <a:t>量</a:t>
            </a:r>
            <a:r>
              <a:rPr lang="en-US" altLang="zh-CN" sz="2800" b="1" i="1" dirty="0" err="1">
                <a:latin typeface="Times New Roman" panose="02020603050405020304" pitchFamily="18" charset="0"/>
                <a:cs typeface="Times New Roman" panose="02020603050405020304" pitchFamily="18" charset="0"/>
              </a:rPr>
              <a:t>w</a:t>
            </a:r>
            <a:r>
              <a:rPr lang="en-US" altLang="zh-CN" sz="2800" b="1" baseline="-25000" dirty="0" err="1">
                <a:latin typeface="Times New Roman" panose="02020603050405020304" pitchFamily="18" charset="0"/>
                <a:cs typeface="Times New Roman" panose="02020603050405020304" pitchFamily="18" charset="0"/>
              </a:rPr>
              <a:t>C</a:t>
            </a:r>
            <a:r>
              <a:rPr lang="zh-CN" altLang="zh-CN" sz="2800" b="1" dirty="0" smtClean="0"/>
              <a:t>的</a:t>
            </a:r>
            <a:r>
              <a:rPr lang="zh-CN" altLang="zh-CN" sz="2800" b="1" dirty="0"/>
              <a:t>比值，称为</a:t>
            </a:r>
            <a:r>
              <a:rPr lang="zh-CN" altLang="zh-CN" sz="2800" b="1" dirty="0">
                <a:solidFill>
                  <a:srgbClr val="FF0000"/>
                </a:solidFill>
              </a:rPr>
              <a:t>压气机的绝热</a:t>
            </a:r>
            <a:r>
              <a:rPr lang="zh-CN" altLang="zh-CN" sz="2800" b="1" dirty="0" smtClean="0">
                <a:solidFill>
                  <a:srgbClr val="FF0000"/>
                </a:solidFill>
              </a:rPr>
              <a:t>效率</a:t>
            </a:r>
            <a:r>
              <a:rPr lang="en-US" altLang="zh-CN" sz="2000" b="1" dirty="0" smtClean="0"/>
              <a:t>(11-6</a:t>
            </a:r>
            <a:r>
              <a:rPr lang="zh-CN" altLang="en-US" sz="2000" b="1" dirty="0" smtClean="0"/>
              <a:t>节</a:t>
            </a:r>
            <a:r>
              <a:rPr lang="en-US" altLang="zh-CN" sz="2000" b="1" dirty="0" smtClean="0"/>
              <a:t>)</a:t>
            </a:r>
            <a:endParaRPr lang="zh-CN" altLang="en-US" sz="2000" b="1" dirty="0"/>
          </a:p>
        </p:txBody>
      </p:sp>
      <p:graphicFrame>
        <p:nvGraphicFramePr>
          <p:cNvPr id="9" name="对象 8"/>
          <p:cNvGraphicFramePr>
            <a:graphicFrameLocks noChangeAspect="1"/>
          </p:cNvGraphicFramePr>
          <p:nvPr>
            <p:extLst/>
          </p:nvPr>
        </p:nvGraphicFramePr>
        <p:xfrm>
          <a:off x="974034" y="3478696"/>
          <a:ext cx="3206750" cy="1143000"/>
        </p:xfrm>
        <a:graphic>
          <a:graphicData uri="http://schemas.openxmlformats.org/presentationml/2006/ole">
            <mc:AlternateContent xmlns:mc="http://schemas.openxmlformats.org/markup-compatibility/2006">
              <mc:Choice xmlns:v="urn:schemas-microsoft-com:vml" Requires="v">
                <p:oleObj spid="_x0000_s43025" name="Equation" r:id="rId3" imgW="1282700" imgH="457200" progId="Equation.DSMT4">
                  <p:embed/>
                </p:oleObj>
              </mc:Choice>
              <mc:Fallback>
                <p:oleObj name="Equation" r:id="rId3" imgW="1282700" imgH="457200" progId="Equation.DSMT4">
                  <p:embed/>
                  <p:pic>
                    <p:nvPicPr>
                      <p:cNvPr id="9"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4034" y="3478696"/>
                        <a:ext cx="320675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19190" y="2741399"/>
            <a:ext cx="3749365" cy="3176291"/>
          </a:xfrm>
          <a:prstGeom prst="rect">
            <a:avLst/>
          </a:prstGeom>
        </p:spPr>
      </p:pic>
    </p:spTree>
    <p:extLst>
      <p:ext uri="{BB962C8B-B14F-4D97-AF65-F5344CB8AC3E}">
        <p14:creationId xmlns:p14="http://schemas.microsoft.com/office/powerpoint/2010/main" val="2174565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1315" y="547732"/>
            <a:ext cx="4333238" cy="523220"/>
          </a:xfrm>
          <a:prstGeom prst="rect">
            <a:avLst/>
          </a:prstGeom>
        </p:spPr>
        <p:txBody>
          <a:bodyPr wrap="none">
            <a:spAutoFit/>
          </a:bodyPr>
          <a:lstStyle/>
          <a:p>
            <a:r>
              <a:rPr lang="en-US" altLang="zh-CN" sz="2800" b="1" dirty="0" smtClean="0">
                <a:solidFill>
                  <a:prstClr val="black"/>
                </a:solidFill>
                <a:ea typeface="黑体" panose="02010609060101010101" pitchFamily="49" charset="-122"/>
              </a:rPr>
              <a:t>2</a:t>
            </a:r>
            <a:r>
              <a:rPr lang="zh-CN" altLang="en-US" sz="2800" b="1" dirty="0" smtClean="0">
                <a:solidFill>
                  <a:prstClr val="black"/>
                </a:solidFill>
                <a:ea typeface="黑体" panose="02010609060101010101" pitchFamily="49" charset="-122"/>
              </a:rPr>
              <a:t>、燃气轮机的相对内效率</a:t>
            </a:r>
            <a:endParaRPr lang="zh-CN" altLang="en-US" sz="2800" dirty="0"/>
          </a:p>
        </p:txBody>
      </p:sp>
      <p:sp>
        <p:nvSpPr>
          <p:cNvPr id="7" name="文本框 6"/>
          <p:cNvSpPr txBox="1"/>
          <p:nvPr/>
        </p:nvSpPr>
        <p:spPr>
          <a:xfrm>
            <a:off x="535054" y="1458818"/>
            <a:ext cx="7767432" cy="2000548"/>
          </a:xfrm>
          <a:prstGeom prst="rect">
            <a:avLst/>
          </a:prstGeom>
          <a:noFill/>
        </p:spPr>
        <p:txBody>
          <a:bodyPr wrap="square" rtlCol="0">
            <a:spAutoFit/>
          </a:bodyPr>
          <a:lstStyle/>
          <a:p>
            <a:pPr marL="342900" indent="-342900">
              <a:buFont typeface="Arial" panose="020B0604020202020204" pitchFamily="34" charset="0"/>
              <a:buChar char="•"/>
            </a:pPr>
            <a:r>
              <a:rPr lang="zh-CN" altLang="zh-CN" sz="2400" b="1" dirty="0"/>
              <a:t>燃气轮机的摩擦损失用相对内效率</a:t>
            </a:r>
            <a:r>
              <a:rPr lang="zh-CN" altLang="en-US" sz="2400" b="1" dirty="0"/>
              <a:t>来度量</a:t>
            </a:r>
            <a:endParaRPr lang="en-US" altLang="zh-CN" sz="2400" b="1" dirty="0"/>
          </a:p>
          <a:p>
            <a:pPr marL="342900" indent="-342900">
              <a:buFont typeface="Arial" panose="020B0604020202020204" pitchFamily="34" charset="0"/>
              <a:buChar char="•"/>
            </a:pPr>
            <a:r>
              <a:rPr lang="zh-CN" altLang="zh-CN" sz="2400" b="1" dirty="0"/>
              <a:t>在燃气轮机中，在膨胀前气体的状态相同、膨胀后气体的压力也相同的情况下，气体在实际不</a:t>
            </a:r>
            <a:r>
              <a:rPr lang="zh-CN" altLang="zh-CN" sz="2400" b="1" dirty="0" smtClean="0"/>
              <a:t>可逆</a:t>
            </a:r>
            <a:r>
              <a:rPr lang="zh-CN" altLang="en-US" sz="2400" b="1" dirty="0" smtClean="0"/>
              <a:t>绝热</a:t>
            </a:r>
            <a:r>
              <a:rPr lang="zh-CN" altLang="zh-CN" sz="2400" b="1" dirty="0" smtClean="0"/>
              <a:t>膨胀</a:t>
            </a:r>
            <a:r>
              <a:rPr lang="zh-CN" altLang="zh-CN" sz="2400" b="1" dirty="0"/>
              <a:t>过程中作出的功</a:t>
            </a:r>
            <a:r>
              <a:rPr lang="zh-CN" altLang="zh-CN" sz="2400" b="1" dirty="0" smtClean="0"/>
              <a:t>量</a:t>
            </a:r>
            <a:r>
              <a:rPr lang="en-US" altLang="zh-CN" sz="2400" b="1" i="1" dirty="0" err="1">
                <a:latin typeface="Times New Roman" panose="02020603050405020304" pitchFamily="18" charset="0"/>
                <a:cs typeface="Times New Roman" panose="02020603050405020304" pitchFamily="18" charset="0"/>
              </a:rPr>
              <a:t>w</a:t>
            </a:r>
            <a:r>
              <a:rPr lang="en-US" altLang="zh-CN" sz="2400" b="1" baseline="-25000" dirty="0" err="1">
                <a:latin typeface="Times New Roman" panose="02020603050405020304" pitchFamily="18" charset="0"/>
                <a:cs typeface="Times New Roman" panose="02020603050405020304" pitchFamily="18" charset="0"/>
              </a:rPr>
              <a:t>T</a:t>
            </a:r>
            <a:r>
              <a:rPr lang="zh-CN" altLang="zh-CN" sz="2400" b="1" dirty="0" smtClean="0"/>
              <a:t>与</a:t>
            </a:r>
            <a:r>
              <a:rPr lang="zh-CN" altLang="zh-CN" sz="2400" b="1" dirty="0"/>
              <a:t>可逆绝热膨胀过程中作出的功</a:t>
            </a:r>
            <a:r>
              <a:rPr lang="zh-CN" altLang="zh-CN" sz="2400" b="1" dirty="0" smtClean="0"/>
              <a:t>量</a:t>
            </a:r>
            <a:r>
              <a:rPr lang="en-US" altLang="zh-CN" sz="2400" b="1" i="1" dirty="0" err="1" smtClean="0">
                <a:latin typeface="Times New Roman" panose="02020603050405020304" pitchFamily="18" charset="0"/>
                <a:cs typeface="Times New Roman" panose="02020603050405020304" pitchFamily="18" charset="0"/>
              </a:rPr>
              <a:t>w</a:t>
            </a:r>
            <a:r>
              <a:rPr lang="en-US" altLang="zh-CN" sz="2400" b="1" baseline="-25000" dirty="0" err="1" smtClean="0">
                <a:latin typeface="Times New Roman" panose="02020603050405020304" pitchFamily="18" charset="0"/>
                <a:cs typeface="Times New Roman" panose="02020603050405020304" pitchFamily="18" charset="0"/>
              </a:rPr>
              <a:t>T,</a:t>
            </a:r>
            <a:r>
              <a:rPr lang="en-US" altLang="zh-CN" sz="2400" b="1" i="1" baseline="-25000" dirty="0" err="1" smtClean="0">
                <a:latin typeface="Times New Roman" panose="02020603050405020304" pitchFamily="18" charset="0"/>
                <a:cs typeface="Times New Roman" panose="02020603050405020304" pitchFamily="18" charset="0"/>
              </a:rPr>
              <a:t>s</a:t>
            </a:r>
            <a:r>
              <a:rPr lang="zh-CN" altLang="zh-CN" sz="2400" b="1" dirty="0" smtClean="0"/>
              <a:t>的</a:t>
            </a:r>
            <a:r>
              <a:rPr lang="zh-CN" altLang="zh-CN" sz="2400" b="1" dirty="0"/>
              <a:t>比值，称为燃气轮机的相对内效率</a:t>
            </a:r>
            <a:endParaRPr lang="zh-CN" altLang="en-US" sz="2400" b="1" dirty="0"/>
          </a:p>
        </p:txBody>
      </p:sp>
      <p:graphicFrame>
        <p:nvGraphicFramePr>
          <p:cNvPr id="11" name="对象 10"/>
          <p:cNvGraphicFramePr>
            <a:graphicFrameLocks noChangeAspect="1"/>
          </p:cNvGraphicFramePr>
          <p:nvPr>
            <p:extLst/>
          </p:nvPr>
        </p:nvGraphicFramePr>
        <p:xfrm>
          <a:off x="881270" y="4114800"/>
          <a:ext cx="3016250" cy="1143000"/>
        </p:xfrm>
        <a:graphic>
          <a:graphicData uri="http://schemas.openxmlformats.org/presentationml/2006/ole">
            <mc:AlternateContent xmlns:mc="http://schemas.openxmlformats.org/markup-compatibility/2006">
              <mc:Choice xmlns:v="urn:schemas-microsoft-com:vml" Requires="v">
                <p:oleObj spid="_x0000_s44049" name="Equation" r:id="rId3" imgW="1206500" imgH="457200" progId="Equation.DSMT4">
                  <p:embed/>
                </p:oleObj>
              </mc:Choice>
              <mc:Fallback>
                <p:oleObj name="Equation" r:id="rId3" imgW="1206500" imgH="457200" progId="Equation.DSMT4">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270" y="4114800"/>
                        <a:ext cx="301625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1481" y="3459366"/>
            <a:ext cx="3749365" cy="3176291"/>
          </a:xfrm>
          <a:prstGeom prst="rect">
            <a:avLst/>
          </a:prstGeom>
        </p:spPr>
      </p:pic>
    </p:spTree>
    <p:extLst>
      <p:ext uri="{BB962C8B-B14F-4D97-AF65-F5344CB8AC3E}">
        <p14:creationId xmlns:p14="http://schemas.microsoft.com/office/powerpoint/2010/main" val="28240932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68972"/>
          <p:cNvSpPr>
            <a:spLocks noGrp="1" noChangeArrowheads="1"/>
          </p:cNvSpPr>
          <p:nvPr>
            <p:ph type="title"/>
          </p:nvPr>
        </p:nvSpPr>
        <p:spPr>
          <a:xfrm>
            <a:off x="395288" y="430004"/>
            <a:ext cx="8506308" cy="684421"/>
          </a:xfrm>
        </p:spPr>
        <p:txBody>
          <a:bodyPr anchor="b">
            <a:normAutofit fontScale="90000"/>
          </a:bodyPr>
          <a:lstStyle/>
          <a:p>
            <a:r>
              <a:rPr lang="zh-CN" altLang="en-US" b="1" dirty="0" smtClean="0">
                <a:ea typeface="黑体" panose="02010609060101010101" pitchFamily="49" charset="-122"/>
              </a:rPr>
              <a:t>二、燃气轮机装置定压加热实际循环的</a:t>
            </a:r>
            <a:r>
              <a:rPr lang="zh-CN" altLang="en-US" b="1" dirty="0">
                <a:ea typeface="黑体" panose="02010609060101010101" pitchFamily="49" charset="-122"/>
              </a:rPr>
              <a:t>热</a:t>
            </a:r>
            <a:r>
              <a:rPr lang="zh-CN" altLang="en-US" b="1" dirty="0" smtClean="0">
                <a:ea typeface="黑体" panose="02010609060101010101" pitchFamily="49" charset="-122"/>
              </a:rPr>
              <a:t>效率</a:t>
            </a:r>
            <a:r>
              <a:rPr lang="zh-CN" altLang="en-US" dirty="0" smtClean="0"/>
              <a:t> </a:t>
            </a:r>
          </a:p>
        </p:txBody>
      </p:sp>
      <p:sp>
        <p:nvSpPr>
          <p:cNvPr id="101379" name="矩形 168988"/>
          <p:cNvSpPr>
            <a:spLocks noChangeArrowheads="1"/>
          </p:cNvSpPr>
          <p:nvPr/>
        </p:nvSpPr>
        <p:spPr bwMode="auto">
          <a:xfrm>
            <a:off x="526793" y="1486925"/>
            <a:ext cx="4671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r>
              <a:rPr lang="zh-CN" altLang="en-US" sz="2400" b="1" dirty="0"/>
              <a:t>实际压气机出口空气的焓值为： </a:t>
            </a:r>
          </a:p>
        </p:txBody>
      </p:sp>
      <p:sp>
        <p:nvSpPr>
          <p:cNvPr id="101380" name="矩形 168990"/>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101383" name="右箭头 168993"/>
          <p:cNvSpPr>
            <a:spLocks noChangeArrowheads="1"/>
          </p:cNvSpPr>
          <p:nvPr/>
        </p:nvSpPr>
        <p:spPr bwMode="auto">
          <a:xfrm>
            <a:off x="797517" y="3659168"/>
            <a:ext cx="360362" cy="144463"/>
          </a:xfrm>
          <a:prstGeom prst="rightArrow">
            <a:avLst>
              <a:gd name="adj1" fmla="val 50000"/>
              <a:gd name="adj2" fmla="val 62328"/>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101385" name="矩形 16899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graphicFrame>
        <p:nvGraphicFramePr>
          <p:cNvPr id="101386" name="对象 168997"/>
          <p:cNvGraphicFramePr>
            <a:graphicFrameLocks/>
          </p:cNvGraphicFramePr>
          <p:nvPr>
            <p:extLst/>
          </p:nvPr>
        </p:nvGraphicFramePr>
        <p:xfrm>
          <a:off x="676275" y="5024438"/>
          <a:ext cx="4076700" cy="1066800"/>
        </p:xfrm>
        <a:graphic>
          <a:graphicData uri="http://schemas.openxmlformats.org/presentationml/2006/ole">
            <mc:AlternateContent xmlns:mc="http://schemas.openxmlformats.org/markup-compatibility/2006">
              <mc:Choice xmlns:v="urn:schemas-microsoft-com:vml" Requires="v">
                <p:oleObj spid="_x0000_s45093" name="Equation" r:id="rId3" imgW="1803240" imgH="469800" progId="Equation.DSMT4">
                  <p:embed/>
                </p:oleObj>
              </mc:Choice>
              <mc:Fallback>
                <p:oleObj name="Equation" r:id="rId3" imgW="1803240" imgH="469800" progId="Equation.DSMT4">
                  <p:embed/>
                  <p:pic>
                    <p:nvPicPr>
                      <p:cNvPr id="101386" name="对象 168997"/>
                      <p:cNvPicPr>
                        <a:picLocks noChangeArrowheads="1"/>
                      </p:cNvPicPr>
                      <p:nvPr/>
                    </p:nvPicPr>
                    <p:blipFill>
                      <a:blip r:embed="rId4"/>
                      <a:srcRect/>
                      <a:stretch>
                        <a:fillRect/>
                      </a:stretch>
                    </p:blipFill>
                    <p:spPr bwMode="auto">
                      <a:xfrm>
                        <a:off x="676275" y="5024438"/>
                        <a:ext cx="4076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1387" name="矩形 168999"/>
          <p:cNvSpPr>
            <a:spLocks noChangeArrowheads="1"/>
          </p:cNvSpPr>
          <p:nvPr/>
        </p:nvSpPr>
        <p:spPr bwMode="auto">
          <a:xfrm>
            <a:off x="494040" y="4394817"/>
            <a:ext cx="43652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r>
              <a:rPr lang="zh-CN" altLang="en-US" sz="2400" b="1" dirty="0" smtClean="0">
                <a:latin typeface="Times New Roman" panose="02020603050405020304" pitchFamily="18" charset="0"/>
                <a:cs typeface="Times New Roman" panose="02020603050405020304" pitchFamily="18" charset="0"/>
              </a:rPr>
              <a:t>循环中</a:t>
            </a:r>
            <a:r>
              <a:rPr lang="en-US" altLang="zh-CN" sz="2400" b="1" dirty="0" smtClean="0">
                <a:latin typeface="Times New Roman" panose="02020603050405020304" pitchFamily="18" charset="0"/>
                <a:cs typeface="Times New Roman" panose="02020603050405020304" pitchFamily="18" charset="0"/>
              </a:rPr>
              <a:t>1 kg</a:t>
            </a:r>
            <a:r>
              <a:rPr lang="zh-CN" altLang="en-US" sz="2400" b="1" dirty="0" smtClean="0">
                <a:latin typeface="Times New Roman" panose="02020603050405020304" pitchFamily="18" charset="0"/>
                <a:cs typeface="Times New Roman" panose="02020603050405020304" pitchFamily="18" charset="0"/>
              </a:rPr>
              <a:t>工质的吸热量为： </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12" name="对象 11"/>
          <p:cNvGraphicFramePr>
            <a:graphicFrameLocks noChangeAspect="1"/>
          </p:cNvGraphicFramePr>
          <p:nvPr>
            <p:extLst/>
          </p:nvPr>
        </p:nvGraphicFramePr>
        <p:xfrm>
          <a:off x="861081" y="2178071"/>
          <a:ext cx="2693670" cy="960120"/>
        </p:xfrm>
        <a:graphic>
          <a:graphicData uri="http://schemas.openxmlformats.org/presentationml/2006/ole">
            <mc:AlternateContent xmlns:mc="http://schemas.openxmlformats.org/markup-compatibility/2006">
              <mc:Choice xmlns:v="urn:schemas-microsoft-com:vml" Requires="v">
                <p:oleObj spid="_x0000_s45094" name="Equation" r:id="rId5" imgW="1282700" imgH="457200" progId="Equation.DSMT4">
                  <p:embed/>
                </p:oleObj>
              </mc:Choice>
              <mc:Fallback>
                <p:oleObj name="Equation" r:id="rId5" imgW="1282700" imgH="457200" progId="Equation.DSMT4">
                  <p:embed/>
                  <p:pic>
                    <p:nvPicPr>
                      <p:cNvPr id="12"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81" y="2178071"/>
                        <a:ext cx="2693670" cy="9601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nvPr>
        </p:nvGraphicFramePr>
        <p:xfrm>
          <a:off x="1362869" y="3272136"/>
          <a:ext cx="2133600" cy="986790"/>
        </p:xfrm>
        <a:graphic>
          <a:graphicData uri="http://schemas.openxmlformats.org/presentationml/2006/ole">
            <mc:AlternateContent xmlns:mc="http://schemas.openxmlformats.org/markup-compatibility/2006">
              <mc:Choice xmlns:v="urn:schemas-microsoft-com:vml" Requires="v">
                <p:oleObj spid="_x0000_s45095" name="Equation" r:id="rId7" imgW="1016000" imgH="469900" progId="Equation.DSMT4">
                  <p:embed/>
                </p:oleObj>
              </mc:Choice>
              <mc:Fallback>
                <p:oleObj name="Equation" r:id="rId7" imgW="1016000" imgH="469900" progId="Equation.DSMT4">
                  <p:embed/>
                  <p:pic>
                    <p:nvPicPr>
                      <p:cNvPr id="4"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2869" y="3272136"/>
                        <a:ext cx="2133600" cy="9867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图片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59338" y="2071022"/>
            <a:ext cx="3749365" cy="3176291"/>
          </a:xfrm>
          <a:prstGeom prst="rect">
            <a:avLst/>
          </a:prstGeom>
        </p:spPr>
      </p:pic>
    </p:spTree>
    <p:extLst>
      <p:ext uri="{BB962C8B-B14F-4D97-AF65-F5344CB8AC3E}">
        <p14:creationId xmlns:p14="http://schemas.microsoft.com/office/powerpoint/2010/main" val="3987037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矩形 30822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graphicFrame>
        <p:nvGraphicFramePr>
          <p:cNvPr id="102402" name="对象 308227"/>
          <p:cNvGraphicFramePr>
            <a:graphicFrameLocks/>
          </p:cNvGraphicFramePr>
          <p:nvPr/>
        </p:nvGraphicFramePr>
        <p:xfrm>
          <a:off x="611188" y="549275"/>
          <a:ext cx="4787900" cy="595313"/>
        </p:xfrm>
        <a:graphic>
          <a:graphicData uri="http://schemas.openxmlformats.org/presentationml/2006/ole">
            <mc:AlternateContent xmlns:mc="http://schemas.openxmlformats.org/markup-compatibility/2006">
              <mc:Choice xmlns:v="urn:schemas-microsoft-com:vml" Requires="v">
                <p:oleObj spid="_x0000_s46127" r:id="rId3" imgW="2070100" imgH="254000" progId="Equation.DSMT4">
                  <p:embed/>
                </p:oleObj>
              </mc:Choice>
              <mc:Fallback>
                <p:oleObj r:id="rId3" imgW="2070100" imgH="254000" progId="Equation.DSMT4">
                  <p:embed/>
                  <p:pic>
                    <p:nvPicPr>
                      <p:cNvPr id="102402" name="对象 3082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549275"/>
                        <a:ext cx="47879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3" name="矩形 308230"/>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graphicFrame>
        <p:nvGraphicFramePr>
          <p:cNvPr id="102404" name="对象 308229"/>
          <p:cNvGraphicFramePr>
            <a:graphicFrameLocks/>
          </p:cNvGraphicFramePr>
          <p:nvPr>
            <p:extLst/>
          </p:nvPr>
        </p:nvGraphicFramePr>
        <p:xfrm>
          <a:off x="698500" y="1455738"/>
          <a:ext cx="3930650" cy="1087437"/>
        </p:xfrm>
        <a:graphic>
          <a:graphicData uri="http://schemas.openxmlformats.org/presentationml/2006/ole">
            <mc:AlternateContent xmlns:mc="http://schemas.openxmlformats.org/markup-compatibility/2006">
              <mc:Choice xmlns:v="urn:schemas-microsoft-com:vml" Requires="v">
                <p:oleObj spid="_x0000_s46128" name="Equation" r:id="rId5" imgW="1714320" imgH="469800" progId="Equation.DSMT4">
                  <p:embed/>
                </p:oleObj>
              </mc:Choice>
              <mc:Fallback>
                <p:oleObj name="Equation" r:id="rId5" imgW="1714320" imgH="469800" progId="Equation.DSMT4">
                  <p:embed/>
                  <p:pic>
                    <p:nvPicPr>
                      <p:cNvPr id="102404" name="对象 308229"/>
                      <p:cNvPicPr>
                        <a:picLocks noChangeArrowheads="1"/>
                      </p:cNvPicPr>
                      <p:nvPr/>
                    </p:nvPicPr>
                    <p:blipFill>
                      <a:blip r:embed="rId6"/>
                      <a:srcRect/>
                      <a:stretch>
                        <a:fillRect/>
                      </a:stretch>
                    </p:blipFill>
                    <p:spPr bwMode="auto">
                      <a:xfrm>
                        <a:off x="698500" y="1455738"/>
                        <a:ext cx="393065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5" name="矩形 308232"/>
          <p:cNvSpPr>
            <a:spLocks noChangeArrowheads="1"/>
          </p:cNvSpPr>
          <p:nvPr/>
        </p:nvSpPr>
        <p:spPr bwMode="auto">
          <a:xfrm>
            <a:off x="0" y="2995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graphicFrame>
        <p:nvGraphicFramePr>
          <p:cNvPr id="102406" name="对象 308231"/>
          <p:cNvGraphicFramePr>
            <a:graphicFrameLocks/>
          </p:cNvGraphicFramePr>
          <p:nvPr>
            <p:extLst/>
          </p:nvPr>
        </p:nvGraphicFramePr>
        <p:xfrm>
          <a:off x="695325" y="2516188"/>
          <a:ext cx="6816725" cy="1809750"/>
        </p:xfrm>
        <a:graphic>
          <a:graphicData uri="http://schemas.openxmlformats.org/presentationml/2006/ole">
            <mc:AlternateContent xmlns:mc="http://schemas.openxmlformats.org/markup-compatibility/2006">
              <mc:Choice xmlns:v="urn:schemas-microsoft-com:vml" Requires="v">
                <p:oleObj spid="_x0000_s46129" name="Equation" r:id="rId7" imgW="3454200" imgH="914400" progId="Equation.DSMT4">
                  <p:embed/>
                </p:oleObj>
              </mc:Choice>
              <mc:Fallback>
                <p:oleObj name="Equation" r:id="rId7" imgW="3454200" imgH="914400" progId="Equation.DSMT4">
                  <p:embed/>
                  <p:pic>
                    <p:nvPicPr>
                      <p:cNvPr id="102406" name="对象 308231"/>
                      <p:cNvPicPr>
                        <a:picLocks noChangeArrowheads="1"/>
                      </p:cNvPicPr>
                      <p:nvPr/>
                    </p:nvPicPr>
                    <p:blipFill>
                      <a:blip r:embed="rId8"/>
                      <a:srcRect/>
                      <a:stretch>
                        <a:fillRect/>
                      </a:stretch>
                    </p:blipFill>
                    <p:spPr bwMode="auto">
                      <a:xfrm>
                        <a:off x="695325" y="2516188"/>
                        <a:ext cx="6816725"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7" name="矩形 308234"/>
          <p:cNvSpPr>
            <a:spLocks noChangeArrowheads="1"/>
          </p:cNvSpPr>
          <p:nvPr/>
        </p:nvSpPr>
        <p:spPr bwMode="auto">
          <a:xfrm>
            <a:off x="0" y="2933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graphicFrame>
        <p:nvGraphicFramePr>
          <p:cNvPr id="102408" name="对象 308233"/>
          <p:cNvGraphicFramePr>
            <a:graphicFrameLocks/>
          </p:cNvGraphicFramePr>
          <p:nvPr/>
        </p:nvGraphicFramePr>
        <p:xfrm>
          <a:off x="2365375" y="4400550"/>
          <a:ext cx="2547938" cy="2111375"/>
        </p:xfrm>
        <a:graphic>
          <a:graphicData uri="http://schemas.openxmlformats.org/presentationml/2006/ole">
            <mc:AlternateContent xmlns:mc="http://schemas.openxmlformats.org/markup-compatibility/2006">
              <mc:Choice xmlns:v="urn:schemas-microsoft-com:vml" Requires="v">
                <p:oleObj spid="_x0000_s46130" r:id="rId9" imgW="1168200" imgH="965160" progId="Equation.DSMT4">
                  <p:embed/>
                </p:oleObj>
              </mc:Choice>
              <mc:Fallback>
                <p:oleObj r:id="rId9" imgW="1168200" imgH="965160" progId="Equation.DSMT4">
                  <p:embed/>
                  <p:pic>
                    <p:nvPicPr>
                      <p:cNvPr id="102408" name="对象 30823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5375" y="4400550"/>
                        <a:ext cx="2547938"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9" name="矩形 308236"/>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102410" name="矩形 30823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102412" name="矩形 168988"/>
          <p:cNvSpPr>
            <a:spLocks noChangeArrowheads="1"/>
          </p:cNvSpPr>
          <p:nvPr/>
        </p:nvSpPr>
        <p:spPr bwMode="auto">
          <a:xfrm>
            <a:off x="1106488" y="5226050"/>
            <a:ext cx="7921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r>
              <a:rPr lang="zh-CN" altLang="en-US" sz="2400"/>
              <a:t>或： </a:t>
            </a:r>
          </a:p>
        </p:txBody>
      </p:sp>
      <p:pic>
        <p:nvPicPr>
          <p:cNvPr id="3" name="图片 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13458" y="34901"/>
            <a:ext cx="2932430" cy="2481287"/>
          </a:xfrm>
          <a:prstGeom prst="rect">
            <a:avLst/>
          </a:prstGeom>
        </p:spPr>
      </p:pic>
    </p:spTree>
    <p:extLst>
      <p:ext uri="{BB962C8B-B14F-4D97-AF65-F5344CB8AC3E}">
        <p14:creationId xmlns:p14="http://schemas.microsoft.com/office/powerpoint/2010/main" val="42880477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69987"/>
          <p:cNvSpPr>
            <a:spLocks noChangeArrowheads="1"/>
          </p:cNvSpPr>
          <p:nvPr/>
        </p:nvSpPr>
        <p:spPr bwMode="auto">
          <a:xfrm>
            <a:off x="387695" y="258848"/>
            <a:ext cx="1420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Tahoma" panose="020B0604030504040204" pitchFamily="34" charset="0"/>
              </a:rPr>
              <a:t>结论：</a:t>
            </a:r>
          </a:p>
        </p:txBody>
      </p:sp>
      <p:sp>
        <p:nvSpPr>
          <p:cNvPr id="2" name="文本框 1"/>
          <p:cNvSpPr txBox="1"/>
          <p:nvPr/>
        </p:nvSpPr>
        <p:spPr>
          <a:xfrm>
            <a:off x="490919" y="980660"/>
            <a:ext cx="4862960" cy="2677656"/>
          </a:xfrm>
          <a:prstGeom prst="rect">
            <a:avLst/>
          </a:prstGeom>
          <a:noFill/>
        </p:spPr>
        <p:txBody>
          <a:bodyPr wrap="square" rtlCol="0">
            <a:spAutoFit/>
          </a:bodyPr>
          <a:lstStyle/>
          <a:p>
            <a:r>
              <a:rPr lang="zh-CN" altLang="en-US" sz="2800" b="1" dirty="0" smtClean="0"/>
              <a:t>（</a:t>
            </a:r>
            <a:r>
              <a:rPr lang="en-US" altLang="zh-CN" sz="2800" b="1" dirty="0" smtClean="0"/>
              <a:t>1</a:t>
            </a:r>
            <a:r>
              <a:rPr lang="zh-CN" altLang="en-US" sz="2800" b="1" dirty="0" smtClean="0"/>
              <a:t>）循环</a:t>
            </a:r>
            <a:r>
              <a:rPr lang="zh-CN" altLang="en-US" sz="2800" b="1" dirty="0"/>
              <a:t>增温比越大，循环的热效率越高，但受材料限制，正因如此，找到耐热性能高的材料来取代金属材料也成为了人们的研究内容之一；</a:t>
            </a:r>
          </a:p>
          <a:p>
            <a:endParaRPr lang="zh-CN" altLang="en-US" sz="2800" dirty="0"/>
          </a:p>
        </p:txBody>
      </p:sp>
      <p:sp>
        <p:nvSpPr>
          <p:cNvPr id="3" name="矩形 2"/>
          <p:cNvSpPr/>
          <p:nvPr/>
        </p:nvSpPr>
        <p:spPr>
          <a:xfrm>
            <a:off x="357946" y="3366481"/>
            <a:ext cx="7709383" cy="1384995"/>
          </a:xfrm>
          <a:prstGeom prst="rect">
            <a:avLst/>
          </a:prstGeom>
        </p:spPr>
        <p:txBody>
          <a:bodyPr wrap="square">
            <a:spAutoFit/>
          </a:bodyPr>
          <a:lstStyle/>
          <a:p>
            <a:r>
              <a:rPr lang="zh-CN" altLang="en-US" sz="2800" b="1" dirty="0"/>
              <a:t>（</a:t>
            </a:r>
            <a:r>
              <a:rPr lang="en-US" altLang="zh-CN" sz="2800" b="1" dirty="0" smtClean="0"/>
              <a:t>2</a:t>
            </a:r>
            <a:r>
              <a:rPr lang="zh-CN" altLang="en-US" sz="2800" b="1" dirty="0" smtClean="0"/>
              <a:t>）提高压气机的绝热效率和燃气轮机的相对内效率，即减小压缩和膨胀过程的不可逆性，可提高实际循环的热效率。</a:t>
            </a:r>
            <a:endParaRPr lang="zh-CN" altLang="en-US" sz="2800" b="1" dirty="0"/>
          </a:p>
        </p:txBody>
      </p:sp>
      <p:sp>
        <p:nvSpPr>
          <p:cNvPr id="4" name="矩形 3"/>
          <p:cNvSpPr/>
          <p:nvPr/>
        </p:nvSpPr>
        <p:spPr>
          <a:xfrm>
            <a:off x="785260" y="5003364"/>
            <a:ext cx="7282069" cy="1569660"/>
          </a:xfrm>
          <a:prstGeom prst="rect">
            <a:avLst/>
          </a:prstGeom>
        </p:spPr>
        <p:txBody>
          <a:bodyPr wrap="square">
            <a:spAutoFit/>
          </a:bodyPr>
          <a:lstStyle/>
          <a:p>
            <a:pPr>
              <a:buFontTx/>
              <a:buNone/>
            </a:pP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压气机绝热效率和燃气轮机相对内效率由生产厂家根据大量实验结果提供。目前，一般压气机的绝热效率在</a:t>
            </a:r>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0.80~0.90</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之间，而燃气轮机的相对内效率在</a:t>
            </a:r>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0.85~0.92</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之间。 </a:t>
            </a:r>
          </a:p>
        </p:txBody>
      </p:sp>
      <p:graphicFrame>
        <p:nvGraphicFramePr>
          <p:cNvPr id="7" name="对象 308233"/>
          <p:cNvGraphicFramePr>
            <a:graphicFrameLocks/>
          </p:cNvGraphicFramePr>
          <p:nvPr>
            <p:extLst/>
          </p:nvPr>
        </p:nvGraphicFramePr>
        <p:xfrm>
          <a:off x="5751305" y="636535"/>
          <a:ext cx="2547938" cy="2111375"/>
        </p:xfrm>
        <a:graphic>
          <a:graphicData uri="http://schemas.openxmlformats.org/presentationml/2006/ole">
            <mc:AlternateContent xmlns:mc="http://schemas.openxmlformats.org/markup-compatibility/2006">
              <mc:Choice xmlns:v="urn:schemas-microsoft-com:vml" Requires="v">
                <p:oleObj spid="_x0000_s47116" r:id="rId3" imgW="1168200" imgH="965160" progId="Equation.DSMT4">
                  <p:embed/>
                </p:oleObj>
              </mc:Choice>
              <mc:Fallback>
                <p:oleObj r:id="rId3" imgW="1168200" imgH="965160" progId="Equation.DSMT4">
                  <p:embed/>
                  <p:pic>
                    <p:nvPicPr>
                      <p:cNvPr id="7" name="对象 3082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1305" y="636535"/>
                        <a:ext cx="2547938" cy="2111375"/>
                      </a:xfrm>
                      <a:prstGeom prst="rect">
                        <a:avLst/>
                      </a:prstGeom>
                      <a:noFill/>
                      <a:ln w="25400">
                        <a:solidFill>
                          <a:schemeClr val="accent1"/>
                        </a:solidFill>
                      </a:ln>
                      <a:extLst/>
                    </p:spPr>
                  </p:pic>
                </p:oleObj>
              </mc:Fallback>
            </mc:AlternateContent>
          </a:graphicData>
        </a:graphic>
      </p:graphicFrame>
    </p:spTree>
    <p:extLst>
      <p:ext uri="{BB962C8B-B14F-4D97-AF65-F5344CB8AC3E}">
        <p14:creationId xmlns:p14="http://schemas.microsoft.com/office/powerpoint/2010/main" val="3724749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269315"/>
          <p:cNvSpPr>
            <a:spLocks noGrp="1" noChangeArrowheads="1"/>
          </p:cNvSpPr>
          <p:nvPr>
            <p:ph type="ctrTitle"/>
          </p:nvPr>
        </p:nvSpPr>
        <p:spPr>
          <a:xfrm>
            <a:off x="697465" y="1517788"/>
            <a:ext cx="7772400" cy="1470025"/>
          </a:xfrm>
        </p:spPr>
        <p:txBody>
          <a:bodyPr anchor="ctr"/>
          <a:lstStyle/>
          <a:p>
            <a:r>
              <a:rPr lang="en-US" altLang="zh-CN" sz="4400" b="1" dirty="0" smtClean="0"/>
              <a:t>12-7</a:t>
            </a:r>
            <a:r>
              <a:rPr lang="zh-CN" altLang="en-US" sz="4400" b="1" dirty="0" smtClean="0"/>
              <a:t>具有回热的燃气轮机装置 </a:t>
            </a:r>
          </a:p>
        </p:txBody>
      </p:sp>
    </p:spTree>
    <p:extLst>
      <p:ext uri="{BB962C8B-B14F-4D97-AF65-F5344CB8AC3E}">
        <p14:creationId xmlns:p14="http://schemas.microsoft.com/office/powerpoint/2010/main" val="912055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69317"/>
          <p:cNvSpPr>
            <a:spLocks noChangeArrowheads="1"/>
          </p:cNvSpPr>
          <p:nvPr/>
        </p:nvSpPr>
        <p:spPr bwMode="auto">
          <a:xfrm>
            <a:off x="240266" y="1077874"/>
            <a:ext cx="8687834"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buFont typeface="Arial" panose="020B0604020202020204" pitchFamily="34" charset="0"/>
              <a:buChar char="•"/>
            </a:pPr>
            <a:r>
              <a:rPr lang="zh-CN" altLang="en-US" sz="2800" b="1" dirty="0" smtClean="0"/>
              <a:t>在上一节讲到的提高循环热效率</a:t>
            </a:r>
            <a:r>
              <a:rPr lang="zh-CN" altLang="en-US" sz="2800" b="1" dirty="0"/>
              <a:t>的方法是从</a:t>
            </a:r>
            <a:r>
              <a:rPr lang="zh-CN" altLang="en-US" sz="2800" b="1" dirty="0">
                <a:solidFill>
                  <a:srgbClr val="0070C0"/>
                </a:solidFill>
              </a:rPr>
              <a:t>改变循环特性参数</a:t>
            </a:r>
            <a:r>
              <a:rPr lang="zh-CN" altLang="en-US" sz="2800" b="1" dirty="0"/>
              <a:t>（如提高增温比</a:t>
            </a:r>
            <a:r>
              <a:rPr lang="zh-CN" altLang="en-US" sz="2800" b="1" dirty="0" smtClean="0"/>
              <a:t>）入手</a:t>
            </a:r>
            <a:endParaRPr lang="en-US" altLang="zh-CN" sz="2800" b="1" dirty="0" smtClean="0"/>
          </a:p>
          <a:p>
            <a:pPr marL="457200" indent="-457200">
              <a:buFont typeface="Arial" panose="020B0604020202020204" pitchFamily="34" charset="0"/>
              <a:buChar char="•"/>
            </a:pPr>
            <a:r>
              <a:rPr lang="zh-CN" altLang="en-US" sz="2800" b="1" dirty="0" smtClean="0"/>
              <a:t>此外</a:t>
            </a:r>
            <a:r>
              <a:rPr lang="zh-CN" altLang="en-US" sz="2800" b="1" dirty="0"/>
              <a:t>，</a:t>
            </a:r>
            <a:r>
              <a:rPr lang="zh-CN" altLang="en-US" sz="2800" b="1" dirty="0">
                <a:solidFill>
                  <a:srgbClr val="FF0000"/>
                </a:solidFill>
              </a:rPr>
              <a:t>还可以从改进循环入手来</a:t>
            </a:r>
            <a:r>
              <a:rPr lang="zh-CN" altLang="en-US" sz="2800" b="1" dirty="0" smtClean="0">
                <a:solidFill>
                  <a:srgbClr val="FF0000"/>
                </a:solidFill>
              </a:rPr>
              <a:t>提高热效率，</a:t>
            </a:r>
            <a:r>
              <a:rPr lang="zh-CN" altLang="en-US" sz="2800" b="1" dirty="0" smtClean="0"/>
              <a:t>比如：</a:t>
            </a:r>
            <a:endParaRPr lang="en-US" altLang="zh-CN" sz="2800" b="1" dirty="0"/>
          </a:p>
          <a:p>
            <a:pPr marL="914400" lvl="1" indent="-457200">
              <a:buFont typeface="Wingdings" panose="05000000000000000000" pitchFamily="2" charset="2"/>
              <a:buChar char="Ø"/>
            </a:pPr>
            <a:r>
              <a:rPr lang="zh-CN" altLang="en-US" sz="2800" b="1" dirty="0" smtClean="0"/>
              <a:t>采用</a:t>
            </a:r>
            <a:r>
              <a:rPr lang="zh-CN" altLang="en-US" sz="2800" b="1" dirty="0"/>
              <a:t>回</a:t>
            </a:r>
            <a:r>
              <a:rPr lang="zh-CN" altLang="en-US" sz="2800" b="1" dirty="0" smtClean="0"/>
              <a:t>热</a:t>
            </a:r>
            <a:endParaRPr lang="en-US" altLang="zh-CN" sz="2800" b="1" dirty="0" smtClean="0"/>
          </a:p>
          <a:p>
            <a:pPr marL="914400" lvl="1" indent="-457200">
              <a:buFont typeface="Wingdings" panose="05000000000000000000" pitchFamily="2" charset="2"/>
              <a:buChar char="Ø"/>
            </a:pPr>
            <a:r>
              <a:rPr lang="zh-CN" altLang="en-US" sz="2800" b="1" dirty="0" smtClean="0"/>
              <a:t>在</a:t>
            </a:r>
            <a:r>
              <a:rPr lang="zh-CN" altLang="en-US" sz="2800" b="1" dirty="0"/>
              <a:t>回热基础上采用多级压缩和级间冷却、多级膨胀和级间再热等</a:t>
            </a:r>
            <a:r>
              <a:rPr lang="zh-CN" altLang="en-US" sz="2800" b="1" dirty="0" smtClean="0"/>
              <a:t>措施</a:t>
            </a:r>
            <a:endParaRPr lang="en-US" altLang="zh-CN" sz="2800" b="1" dirty="0"/>
          </a:p>
          <a:p>
            <a:pPr marL="457200" indent="-457200">
              <a:buFont typeface="Arial" panose="020B0604020202020204" pitchFamily="34" charset="0"/>
              <a:buChar char="•"/>
            </a:pPr>
            <a:r>
              <a:rPr lang="zh-CN" altLang="en-US" sz="2800" b="1" dirty="0" smtClean="0"/>
              <a:t>本节讨论具有回热的燃气轮机装置</a:t>
            </a:r>
            <a:endParaRPr lang="zh-CN" altLang="en-US" sz="2800" b="1" dirty="0"/>
          </a:p>
        </p:txBody>
      </p:sp>
    </p:spTree>
    <p:extLst>
      <p:ext uri="{BB962C8B-B14F-4D97-AF65-F5344CB8AC3E}">
        <p14:creationId xmlns:p14="http://schemas.microsoft.com/office/powerpoint/2010/main" val="1851723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9490" y="1573198"/>
            <a:ext cx="2664183" cy="2554445"/>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131" y="1247581"/>
            <a:ext cx="3609145" cy="3670110"/>
          </a:xfrm>
          <a:prstGeom prst="rect">
            <a:avLst/>
          </a:prstGeom>
        </p:spPr>
      </p:pic>
      <p:sp>
        <p:nvSpPr>
          <p:cNvPr id="106497" name="标题 271361"/>
          <p:cNvSpPr>
            <a:spLocks noGrp="1" noChangeArrowheads="1"/>
          </p:cNvSpPr>
          <p:nvPr>
            <p:ph type="title" idx="4294967295"/>
          </p:nvPr>
        </p:nvSpPr>
        <p:spPr>
          <a:xfrm>
            <a:off x="371131" y="25400"/>
            <a:ext cx="5961062" cy="1143000"/>
          </a:xfrm>
        </p:spPr>
        <p:txBody>
          <a:bodyPr/>
          <a:lstStyle/>
          <a:p>
            <a:r>
              <a:rPr lang="zh-CN" altLang="en-US" sz="3600" b="1" dirty="0" smtClean="0"/>
              <a:t>一、回热</a:t>
            </a:r>
          </a:p>
        </p:txBody>
      </p:sp>
      <p:sp>
        <p:nvSpPr>
          <p:cNvPr id="106498" name="矩形 271364"/>
          <p:cNvSpPr>
            <a:spLocks noChangeArrowheads="1"/>
          </p:cNvSpPr>
          <p:nvPr/>
        </p:nvSpPr>
        <p:spPr bwMode="auto">
          <a:xfrm>
            <a:off x="0" y="2405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6500" name="矩形 271366"/>
          <p:cNvSpPr>
            <a:spLocks noChangeArrowheads="1"/>
          </p:cNvSpPr>
          <p:nvPr/>
        </p:nvSpPr>
        <p:spPr bwMode="auto">
          <a:xfrm>
            <a:off x="0" y="1666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6502" name="矩形 271368"/>
          <p:cNvSpPr>
            <a:spLocks noChangeArrowheads="1"/>
          </p:cNvSpPr>
          <p:nvPr/>
        </p:nvSpPr>
        <p:spPr bwMode="auto">
          <a:xfrm>
            <a:off x="0" y="2257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6505" name="椭圆 271371"/>
          <p:cNvSpPr>
            <a:spLocks noChangeArrowheads="1"/>
          </p:cNvSpPr>
          <p:nvPr/>
        </p:nvSpPr>
        <p:spPr bwMode="auto">
          <a:xfrm>
            <a:off x="6943380" y="2661272"/>
            <a:ext cx="720725" cy="504825"/>
          </a:xfrm>
          <a:prstGeom prst="ellipse">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106506" name="椭圆 271372"/>
          <p:cNvSpPr>
            <a:spLocks noChangeArrowheads="1"/>
          </p:cNvSpPr>
          <p:nvPr/>
        </p:nvSpPr>
        <p:spPr bwMode="auto">
          <a:xfrm>
            <a:off x="2630937" y="3667918"/>
            <a:ext cx="720725" cy="504825"/>
          </a:xfrm>
          <a:prstGeom prst="ellipse">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106507" name="矩形 271373"/>
          <p:cNvSpPr>
            <a:spLocks noChangeArrowheads="1"/>
          </p:cNvSpPr>
          <p:nvPr/>
        </p:nvSpPr>
        <p:spPr bwMode="auto">
          <a:xfrm>
            <a:off x="3198192" y="4718048"/>
            <a:ext cx="51117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rPr>
              <a:t>膨胀作功</a:t>
            </a:r>
            <a:r>
              <a:rPr lang="zh-CN" altLang="en-US" sz="2400" b="1" dirty="0" smtClean="0">
                <a:latin typeface="Times New Roman" panose="02020603050405020304" pitchFamily="18" charset="0"/>
              </a:rPr>
              <a:t>后，工质</a:t>
            </a:r>
            <a:r>
              <a:rPr lang="zh-CN" altLang="en-US" sz="2400" b="1" dirty="0">
                <a:latin typeface="Times New Roman" panose="02020603050405020304" pitchFamily="18" charset="0"/>
              </a:rPr>
              <a:t>仍然具有相当高的温度</a:t>
            </a:r>
            <a:r>
              <a:rPr lang="en-US" altLang="zh-CN" sz="2400" b="1" i="1" dirty="0">
                <a:latin typeface="Times New Roman" panose="02020603050405020304" pitchFamily="18" charset="0"/>
              </a:rPr>
              <a:t>T</a:t>
            </a:r>
            <a:r>
              <a:rPr lang="en-US" altLang="zh-CN" sz="2400" b="1" baseline="-25000" dirty="0">
                <a:latin typeface="Times New Roman" panose="02020603050405020304" pitchFamily="18" charset="0"/>
              </a:rPr>
              <a:t>4</a:t>
            </a:r>
            <a:r>
              <a:rPr lang="zh-CN" altLang="en-US" sz="2400" b="1" dirty="0">
                <a:latin typeface="Times New Roman" panose="02020603050405020304" pitchFamily="18" charset="0"/>
              </a:rPr>
              <a:t>，直接向环境放热会造成很大的热损失。如何将这部分热量有效利用起来呢？</a:t>
            </a:r>
            <a:endParaRPr lang="zh-CN" altLang="en-US" b="1" dirty="0">
              <a:latin typeface="Times New Roman" panose="02020603050405020304" pitchFamily="18" charset="0"/>
            </a:endParaRPr>
          </a:p>
        </p:txBody>
      </p:sp>
    </p:spTree>
    <p:extLst>
      <p:ext uri="{BB962C8B-B14F-4D97-AF65-F5344CB8AC3E}">
        <p14:creationId xmlns:p14="http://schemas.microsoft.com/office/powerpoint/2010/main" val="5498038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文本占位符 273412"/>
          <p:cNvSpPr>
            <a:spLocks noGrp="1" noChangeArrowheads="1"/>
          </p:cNvSpPr>
          <p:nvPr>
            <p:ph idx="1"/>
          </p:nvPr>
        </p:nvSpPr>
        <p:spPr>
          <a:xfrm>
            <a:off x="245165" y="1125538"/>
            <a:ext cx="4471298" cy="5170487"/>
          </a:xfrm>
        </p:spPr>
        <p:txBody>
          <a:bodyPr>
            <a:noAutofit/>
          </a:bodyPr>
          <a:lstStyle/>
          <a:p>
            <a:pPr>
              <a:lnSpc>
                <a:spcPct val="100000"/>
              </a:lnSpc>
            </a:pPr>
            <a:r>
              <a:rPr lang="zh-CN" altLang="en-US" sz="2800" b="1" dirty="0" smtClean="0">
                <a:latin typeface="Times New Roman" panose="02020603050405020304" pitchFamily="18" charset="0"/>
              </a:rPr>
              <a:t>人们注意到燃气轮机排气温度</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4</a:t>
            </a:r>
            <a:r>
              <a:rPr lang="zh-CN" altLang="en-US" sz="2800" b="1" dirty="0" smtClean="0">
                <a:latin typeface="Times New Roman" panose="02020603050405020304" pitchFamily="18" charset="0"/>
              </a:rPr>
              <a:t>通常高于压气机的出口温度</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2</a:t>
            </a:r>
            <a:endParaRPr lang="zh-CN" altLang="en-US" sz="2800" b="1" dirty="0" smtClean="0">
              <a:latin typeface="Times New Roman" panose="02020603050405020304" pitchFamily="18" charset="0"/>
            </a:endParaRPr>
          </a:p>
          <a:p>
            <a:pPr>
              <a:lnSpc>
                <a:spcPct val="100000"/>
              </a:lnSpc>
            </a:pPr>
            <a:r>
              <a:rPr lang="zh-CN" altLang="en-US" sz="2800" b="1" dirty="0" smtClean="0">
                <a:latin typeface="Times New Roman" panose="02020603050405020304" pitchFamily="18" charset="0"/>
              </a:rPr>
              <a:t>如果工质的比热容为定值，则放热过程段</a:t>
            </a:r>
            <a:r>
              <a:rPr lang="en-US" altLang="zh-CN" sz="2800" b="1" dirty="0" smtClean="0">
                <a:solidFill>
                  <a:srgbClr val="0000FF"/>
                </a:solidFill>
                <a:latin typeface="Times New Roman" panose="02020603050405020304" pitchFamily="18" charset="0"/>
              </a:rPr>
              <a:t>4-6</a:t>
            </a:r>
            <a:r>
              <a:rPr lang="zh-CN" altLang="en-US" sz="2800" b="1" dirty="0" smtClean="0">
                <a:latin typeface="Times New Roman" panose="02020603050405020304" pitchFamily="18" charset="0"/>
              </a:rPr>
              <a:t>放出的热量正好可用于</a:t>
            </a:r>
            <a:r>
              <a:rPr lang="en-US" altLang="zh-CN" sz="2800" b="1" dirty="0" smtClean="0">
                <a:solidFill>
                  <a:srgbClr val="0000FF"/>
                </a:solidFill>
                <a:latin typeface="Times New Roman" panose="02020603050405020304" pitchFamily="18" charset="0"/>
              </a:rPr>
              <a:t>2-5</a:t>
            </a:r>
            <a:r>
              <a:rPr lang="zh-CN" altLang="en-US" sz="2800" b="1" dirty="0" smtClean="0">
                <a:latin typeface="Times New Roman" panose="02020603050405020304" pitchFamily="18" charset="0"/>
              </a:rPr>
              <a:t>段的吸热过程（</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6</a:t>
            </a:r>
            <a:r>
              <a:rPr lang="en-US" altLang="zh-CN" sz="2800" b="1" dirty="0" smtClean="0">
                <a:latin typeface="Times New Roman" panose="02020603050405020304" pitchFamily="18" charset="0"/>
              </a:rPr>
              <a:t>=</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2</a:t>
            </a:r>
            <a:r>
              <a:rPr lang="zh-CN" altLang="en-US" sz="2800" b="1" dirty="0" smtClean="0">
                <a:latin typeface="Times New Roman" panose="02020603050405020304" pitchFamily="18" charset="0"/>
              </a:rPr>
              <a:t>，</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5</a:t>
            </a:r>
            <a:r>
              <a:rPr lang="en-US" altLang="zh-CN" sz="2800" b="1" dirty="0" smtClean="0">
                <a:latin typeface="Times New Roman" panose="02020603050405020304" pitchFamily="18" charset="0"/>
              </a:rPr>
              <a:t>=</a:t>
            </a:r>
            <a:r>
              <a:rPr lang="en-US" altLang="zh-CN" sz="2800" b="1" i="1" dirty="0" smtClean="0">
                <a:latin typeface="Times New Roman" panose="02020603050405020304" pitchFamily="18" charset="0"/>
              </a:rPr>
              <a:t>T</a:t>
            </a:r>
            <a:r>
              <a:rPr lang="en-US" altLang="zh-CN" sz="2800" b="1" baseline="-25000" dirty="0" smtClean="0">
                <a:latin typeface="Times New Roman" panose="02020603050405020304" pitchFamily="18" charset="0"/>
              </a:rPr>
              <a:t>4</a:t>
            </a:r>
            <a:r>
              <a:rPr lang="zh-CN" altLang="en-US" sz="2800" b="1" dirty="0" smtClean="0">
                <a:latin typeface="Times New Roman" panose="02020603050405020304" pitchFamily="18" charset="0"/>
              </a:rPr>
              <a:t>）</a:t>
            </a:r>
          </a:p>
          <a:p>
            <a:pPr>
              <a:lnSpc>
                <a:spcPct val="100000"/>
              </a:lnSpc>
            </a:pPr>
            <a:r>
              <a:rPr lang="zh-CN" altLang="en-US" sz="2800" b="1" dirty="0" smtClean="0">
                <a:latin typeface="Times New Roman" panose="02020603050405020304" pitchFamily="18" charset="0"/>
              </a:rPr>
              <a:t>这种工质内部的热量交换称为</a:t>
            </a:r>
            <a:r>
              <a:rPr lang="zh-CN" altLang="en-US" sz="2800" b="1" dirty="0" smtClean="0">
                <a:solidFill>
                  <a:srgbClr val="FF0000"/>
                </a:solidFill>
                <a:latin typeface="Times New Roman" panose="02020603050405020304" pitchFamily="18" charset="0"/>
              </a:rPr>
              <a:t>回热</a:t>
            </a:r>
            <a:r>
              <a:rPr lang="en-US" altLang="zh-CN" sz="2800" b="1" dirty="0" smtClean="0">
                <a:latin typeface="Times New Roman" panose="02020603050405020304" pitchFamily="18" charset="0"/>
              </a:rPr>
              <a:t>regeneration</a:t>
            </a:r>
            <a:r>
              <a:rPr lang="zh-CN" altLang="en-US" sz="2800" b="1" dirty="0" smtClean="0">
                <a:latin typeface="Times New Roman" panose="02020603050405020304" pitchFamily="18" charset="0"/>
              </a:rPr>
              <a:t>）</a:t>
            </a:r>
          </a:p>
        </p:txBody>
      </p:sp>
      <p:sp>
        <p:nvSpPr>
          <p:cNvPr id="107522" name="矩形 273414"/>
          <p:cNvSpPr>
            <a:spLocks noChangeArrowheads="1"/>
          </p:cNvSpPr>
          <p:nvPr/>
        </p:nvSpPr>
        <p:spPr bwMode="auto">
          <a:xfrm>
            <a:off x="0"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7523" name="矩形 273415"/>
          <p:cNvSpPr>
            <a:spLocks noChangeArrowheads="1"/>
          </p:cNvSpPr>
          <p:nvPr/>
        </p:nvSpPr>
        <p:spPr bwMode="auto">
          <a:xfrm>
            <a:off x="5724525" y="6395001"/>
            <a:ext cx="2646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dirty="0">
                <a:solidFill>
                  <a:srgbClr val="0000FF"/>
                </a:solidFill>
              </a:rPr>
              <a:t>极限回热</a:t>
            </a:r>
            <a:r>
              <a:rPr lang="zh-CN" altLang="en-US" sz="2000" dirty="0"/>
              <a:t>循环的</a:t>
            </a:r>
            <a:r>
              <a:rPr lang="en-US" altLang="zh-CN" sz="2000" i="1" dirty="0">
                <a:latin typeface="Times New Roman" panose="02020603050405020304" pitchFamily="18" charset="0"/>
                <a:cs typeface="Times New Roman" panose="02020603050405020304" pitchFamily="18" charset="0"/>
              </a:rPr>
              <a:t>T-s</a:t>
            </a:r>
            <a:r>
              <a:rPr lang="zh-CN" altLang="en-US" sz="2000" dirty="0"/>
              <a:t>图</a:t>
            </a:r>
            <a:r>
              <a:rPr lang="zh-CN" altLang="en-US" dirty="0"/>
              <a:t> </a:t>
            </a:r>
          </a:p>
        </p:txBody>
      </p:sp>
      <p:sp>
        <p:nvSpPr>
          <p:cNvPr id="107525" name="矩形 273421"/>
          <p:cNvSpPr>
            <a:spLocks noChangeArrowheads="1"/>
          </p:cNvSpPr>
          <p:nvPr/>
        </p:nvSpPr>
        <p:spPr bwMode="auto">
          <a:xfrm>
            <a:off x="0"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3675" y="158470"/>
            <a:ext cx="3158002" cy="3090940"/>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0889" y="3157854"/>
            <a:ext cx="3383573" cy="3328704"/>
          </a:xfrm>
          <a:prstGeom prst="rect">
            <a:avLst/>
          </a:prstGeom>
        </p:spPr>
      </p:pic>
    </p:spTree>
    <p:extLst>
      <p:ext uri="{BB962C8B-B14F-4D97-AF65-F5344CB8AC3E}">
        <p14:creationId xmlns:p14="http://schemas.microsoft.com/office/powerpoint/2010/main" val="2940476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文本占位符 275458"/>
          <p:cNvSpPr>
            <a:spLocks noGrp="1" noChangeArrowheads="1"/>
          </p:cNvSpPr>
          <p:nvPr>
            <p:ph idx="1"/>
          </p:nvPr>
        </p:nvSpPr>
        <p:spPr>
          <a:xfrm>
            <a:off x="468313" y="333375"/>
            <a:ext cx="8229600" cy="1181100"/>
          </a:xfrm>
        </p:spPr>
        <p:txBody>
          <a:bodyPr>
            <a:normAutofit/>
          </a:bodyPr>
          <a:lstStyle/>
          <a:p>
            <a:pPr marL="0" indent="0">
              <a:buNone/>
            </a:pPr>
            <a:r>
              <a:rPr lang="zh-CN" altLang="en-US" sz="2800" b="1" dirty="0" smtClean="0"/>
              <a:t>人们想到在简单循环装置的基础上增设一个回热器（实质上就是换热器）</a:t>
            </a:r>
          </a:p>
        </p:txBody>
      </p:sp>
      <p:sp>
        <p:nvSpPr>
          <p:cNvPr id="108546" name="矩形 275460"/>
          <p:cNvSpPr>
            <a:spLocks noChangeArrowheads="1"/>
          </p:cNvSpPr>
          <p:nvPr/>
        </p:nvSpPr>
        <p:spPr bwMode="auto">
          <a:xfrm>
            <a:off x="0" y="2033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08548" name="矩形 275461"/>
          <p:cNvSpPr>
            <a:spLocks noChangeArrowheads="1"/>
          </p:cNvSpPr>
          <p:nvPr/>
        </p:nvSpPr>
        <p:spPr bwMode="auto">
          <a:xfrm>
            <a:off x="827088" y="5357009"/>
            <a:ext cx="77708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solidFill>
                  <a:srgbClr val="FF0000"/>
                </a:solidFill>
              </a:rPr>
              <a:t>在回热器中，作功后的工质放热，放出的热量用来加热压缩后的空气。</a:t>
            </a:r>
            <a:r>
              <a:rPr lang="zh-CN" altLang="en-US" sz="2800" dirty="0"/>
              <a:t> </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421" y="1359228"/>
            <a:ext cx="7273158" cy="4139543"/>
          </a:xfrm>
          <a:prstGeom prst="rect">
            <a:avLst/>
          </a:prstGeom>
        </p:spPr>
      </p:pic>
    </p:spTree>
    <p:extLst>
      <p:ext uri="{BB962C8B-B14F-4D97-AF65-F5344CB8AC3E}">
        <p14:creationId xmlns:p14="http://schemas.microsoft.com/office/powerpoint/2010/main" val="273204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矩形 276486"/>
          <p:cNvSpPr>
            <a:spLocks noChangeArrowheads="1"/>
          </p:cNvSpPr>
          <p:nvPr/>
        </p:nvSpPr>
        <p:spPr bwMode="auto">
          <a:xfrm>
            <a:off x="5441950" y="3376613"/>
            <a:ext cx="331946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latin typeface="Times New Roman" panose="02020603050405020304" pitchFamily="18" charset="0"/>
              </a:rPr>
              <a:t>假设回热器的面积无限大，则在此极限情况下，可以把压缩后的空气加热到</a:t>
            </a:r>
            <a:r>
              <a:rPr lang="en-US" altLang="zh-CN" sz="2400" b="1" i="1">
                <a:latin typeface="Times New Roman" panose="02020603050405020304" pitchFamily="18" charset="0"/>
              </a:rPr>
              <a:t>T</a:t>
            </a:r>
            <a:r>
              <a:rPr lang="en-US" altLang="zh-CN" sz="2400" b="1" baseline="-25000">
                <a:latin typeface="Times New Roman" panose="02020603050405020304" pitchFamily="18" charset="0"/>
              </a:rPr>
              <a:t>5</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baseline="-25000">
                <a:latin typeface="Times New Roman" panose="02020603050405020304" pitchFamily="18" charset="0"/>
              </a:rPr>
              <a:t>4</a:t>
            </a:r>
            <a:r>
              <a:rPr lang="zh-CN" altLang="en-US" sz="2400" b="1">
                <a:latin typeface="Times New Roman" panose="02020603050405020304" pitchFamily="18" charset="0"/>
              </a:rPr>
              <a:t>，同时燃气轮机的排气冷却到</a:t>
            </a:r>
            <a:r>
              <a:rPr lang="en-US" altLang="zh-CN" sz="2400" b="1" i="1">
                <a:latin typeface="Times New Roman" panose="02020603050405020304" pitchFamily="18" charset="0"/>
              </a:rPr>
              <a:t>T</a:t>
            </a:r>
            <a:r>
              <a:rPr lang="en-US" altLang="zh-CN" sz="2400" b="1" baseline="-25000">
                <a:latin typeface="Times New Roman" panose="02020603050405020304" pitchFamily="18" charset="0"/>
              </a:rPr>
              <a:t>6</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baseline="-25000">
                <a:latin typeface="Times New Roman" panose="02020603050405020304" pitchFamily="18" charset="0"/>
              </a:rPr>
              <a:t>2</a:t>
            </a:r>
            <a:r>
              <a:rPr lang="zh-CN" altLang="en-US" sz="2400" b="1">
                <a:latin typeface="Times New Roman" panose="02020603050405020304" pitchFamily="18" charset="0"/>
              </a:rPr>
              <a:t>，此种情况称为</a:t>
            </a:r>
            <a:r>
              <a:rPr lang="zh-CN" altLang="en-US" sz="2400" b="1">
                <a:solidFill>
                  <a:srgbClr val="FF0000"/>
                </a:solidFill>
                <a:latin typeface="Times New Roman" panose="02020603050405020304" pitchFamily="18" charset="0"/>
              </a:rPr>
              <a:t>极限回热</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403" y="-123208"/>
            <a:ext cx="7273158" cy="4139543"/>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2882" y="3091079"/>
            <a:ext cx="3432345" cy="3377477"/>
          </a:xfrm>
          <a:prstGeom prst="rect">
            <a:avLst/>
          </a:prstGeom>
        </p:spPr>
      </p:pic>
    </p:spTree>
    <p:extLst>
      <p:ext uri="{BB962C8B-B14F-4D97-AF65-F5344CB8AC3E}">
        <p14:creationId xmlns:p14="http://schemas.microsoft.com/office/powerpoint/2010/main" val="11761126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277510"/>
          <p:cNvSpPr>
            <a:spLocks noChangeArrowheads="1"/>
          </p:cNvSpPr>
          <p:nvPr/>
        </p:nvSpPr>
        <p:spPr bwMode="auto">
          <a:xfrm>
            <a:off x="4890655" y="2983379"/>
            <a:ext cx="403744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dirty="0" smtClean="0">
                <a:latin typeface="Times New Roman" panose="02020603050405020304" pitchFamily="18" charset="0"/>
              </a:rPr>
              <a:t>如此</a:t>
            </a:r>
            <a:r>
              <a:rPr lang="zh-CN" altLang="en-US" sz="2400" b="1" dirty="0">
                <a:latin typeface="Times New Roman" panose="02020603050405020304" pitchFamily="18" charset="0"/>
              </a:rPr>
              <a:t>一来，工质从外部热源吸热的过程仅为</a:t>
            </a:r>
            <a:r>
              <a:rPr lang="en-US" altLang="zh-CN" sz="2400" b="1" dirty="0">
                <a:latin typeface="Times New Roman" panose="02020603050405020304" pitchFamily="18" charset="0"/>
              </a:rPr>
              <a:t>5-3</a:t>
            </a:r>
            <a:r>
              <a:rPr lang="zh-CN" altLang="en-US" sz="2400" b="1" dirty="0">
                <a:latin typeface="Times New Roman" panose="02020603050405020304" pitchFamily="18" charset="0"/>
              </a:rPr>
              <a:t>，吸热量为</a:t>
            </a:r>
            <a:r>
              <a:rPr lang="en-US" altLang="zh-CN" sz="2400" b="1" i="1" dirty="0">
                <a:latin typeface="Times New Roman" panose="02020603050405020304" pitchFamily="18" charset="0"/>
              </a:rPr>
              <a:t>q</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h</a:t>
            </a:r>
            <a:r>
              <a:rPr lang="en-US" altLang="zh-CN" sz="2400" b="1" baseline="-25000" dirty="0">
                <a:latin typeface="Times New Roman" panose="02020603050405020304" pitchFamily="18" charset="0"/>
              </a:rPr>
              <a:t>3</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h</a:t>
            </a:r>
            <a:r>
              <a:rPr lang="en-US" altLang="zh-CN" sz="2400" b="1" baseline="-25000" dirty="0">
                <a:latin typeface="Times New Roman" panose="02020603050405020304" pitchFamily="18" charset="0"/>
              </a:rPr>
              <a:t>5</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与没有回热的循环吸热过程</a:t>
            </a:r>
            <a:r>
              <a:rPr lang="en-US" altLang="zh-CN" sz="2400" b="1" dirty="0">
                <a:latin typeface="Times New Roman" panose="02020603050405020304" pitchFamily="18" charset="0"/>
              </a:rPr>
              <a:t>2-3</a:t>
            </a:r>
            <a:r>
              <a:rPr lang="zh-CN" altLang="en-US" sz="2400" b="1" dirty="0">
                <a:latin typeface="Times New Roman" panose="02020603050405020304" pitchFamily="18" charset="0"/>
              </a:rPr>
              <a:t>相比，从外部热源的吸热量减少了。</a:t>
            </a:r>
            <a:endParaRPr lang="zh-CN" altLang="en-US" sz="2400" b="1" dirty="0">
              <a:latin typeface="Times New Roman" panose="02020603050405020304" pitchFamily="18" charset="0"/>
              <a:cs typeface="Times New Roman" panose="02020603050405020304" pitchFamily="18" charset="0"/>
            </a:endParaRPr>
          </a:p>
        </p:txBody>
      </p:sp>
      <p:sp>
        <p:nvSpPr>
          <p:cNvPr id="110595" name="矩形 277512"/>
          <p:cNvSpPr>
            <a:spLocks noChangeArrowheads="1"/>
          </p:cNvSpPr>
          <p:nvPr/>
        </p:nvSpPr>
        <p:spPr bwMode="auto">
          <a:xfrm>
            <a:off x="4956464" y="5034591"/>
            <a:ext cx="39716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dirty="0" smtClean="0">
                <a:latin typeface="Times New Roman" panose="02020603050405020304" pitchFamily="18" charset="0"/>
              </a:rPr>
              <a:t>与此同时</a:t>
            </a:r>
            <a:r>
              <a:rPr lang="zh-CN" altLang="en-US" sz="2400" b="1" dirty="0">
                <a:latin typeface="Times New Roman" panose="02020603050405020304" pitchFamily="18" charset="0"/>
              </a:rPr>
              <a:t>，循环净功量不变，其大小仍等于面积</a:t>
            </a:r>
            <a:r>
              <a:rPr lang="en-US" altLang="zh-CN" sz="2400" b="1" dirty="0">
                <a:latin typeface="Times New Roman" panose="02020603050405020304" pitchFamily="18" charset="0"/>
              </a:rPr>
              <a:t>1-2-3-4-1</a:t>
            </a:r>
            <a:r>
              <a:rPr lang="zh-CN" altLang="en-US" sz="2400" b="1" dirty="0">
                <a:latin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p:sp>
        <p:nvSpPr>
          <p:cNvPr id="110596" name="矩形 277513"/>
          <p:cNvSpPr>
            <a:spLocks noChangeArrowheads="1"/>
          </p:cNvSpPr>
          <p:nvPr/>
        </p:nvSpPr>
        <p:spPr bwMode="auto">
          <a:xfrm>
            <a:off x="5905788" y="5977808"/>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solidFill>
                  <a:srgbClr val="FF0000"/>
                </a:solidFill>
                <a:latin typeface="Times New Roman" panose="02020603050405020304" pitchFamily="18" charset="0"/>
              </a:rPr>
              <a:t>热效率提高了！</a:t>
            </a:r>
            <a:r>
              <a:rPr lang="zh-CN" altLang="en-US" sz="2400" b="1" dirty="0">
                <a:latin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76" y="-186668"/>
            <a:ext cx="7273158" cy="4139543"/>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3336" y="3032993"/>
            <a:ext cx="3432345" cy="3377477"/>
          </a:xfrm>
          <a:prstGeom prst="rect">
            <a:avLst/>
          </a:prstGeom>
        </p:spPr>
      </p:pic>
    </p:spTree>
    <p:extLst>
      <p:ext uri="{BB962C8B-B14F-4D97-AF65-F5344CB8AC3E}">
        <p14:creationId xmlns:p14="http://schemas.microsoft.com/office/powerpoint/2010/main" val="2895392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文本占位符 278532"/>
          <p:cNvSpPr>
            <a:spLocks noGrp="1" noChangeArrowheads="1"/>
          </p:cNvSpPr>
          <p:nvPr>
            <p:ph type="body" sz="half" idx="1"/>
          </p:nvPr>
        </p:nvSpPr>
        <p:spPr>
          <a:xfrm>
            <a:off x="395288" y="1693718"/>
            <a:ext cx="4537075" cy="5256213"/>
          </a:xfrm>
        </p:spPr>
        <p:txBody>
          <a:bodyPr/>
          <a:lstStyle/>
          <a:p>
            <a:r>
              <a:rPr lang="zh-CN" altLang="en-US" sz="2800" b="1" dirty="0" smtClean="0">
                <a:latin typeface="Times New Roman" panose="02020603050405020304" pitchFamily="18" charset="0"/>
              </a:rPr>
              <a:t>如果不采用回热，外部热源（燃料燃烧）需要提供的热量为</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3</a:t>
            </a:r>
            <a:r>
              <a:rPr lang="en-US" altLang="zh-CN" sz="2800" b="1" dirty="0" smtClean="0">
                <a:solidFill>
                  <a:srgbClr val="0000FF"/>
                </a:solidFill>
                <a:latin typeface="Times New Roman" panose="02020603050405020304" pitchFamily="18" charset="0"/>
              </a:rPr>
              <a:t>-</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2</a:t>
            </a:r>
          </a:p>
          <a:p>
            <a:r>
              <a:rPr lang="zh-CN" altLang="en-US" sz="2800" b="1" dirty="0" smtClean="0">
                <a:latin typeface="Times New Roman" panose="02020603050405020304" pitchFamily="18" charset="0"/>
              </a:rPr>
              <a:t>采用回热措施后，工质完成循环所需要的热量并没有减少，仍然是</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3</a:t>
            </a:r>
            <a:r>
              <a:rPr lang="en-US" altLang="zh-CN" sz="2800" b="1" dirty="0" smtClean="0">
                <a:solidFill>
                  <a:srgbClr val="0000FF"/>
                </a:solidFill>
                <a:latin typeface="Times New Roman" panose="02020603050405020304" pitchFamily="18" charset="0"/>
              </a:rPr>
              <a:t>-</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2</a:t>
            </a:r>
          </a:p>
          <a:p>
            <a:r>
              <a:rPr lang="zh-CN" altLang="en-US" sz="2800" b="1" dirty="0" smtClean="0">
                <a:latin typeface="Times New Roman" panose="02020603050405020304" pitchFamily="18" charset="0"/>
              </a:rPr>
              <a:t>但这其中有一部分热量是工质自己提供的（属于“自给自足”），其余需要外部热源（燃料燃烧）提供的热量仅为</a:t>
            </a:r>
            <a:r>
              <a:rPr lang="en-US" altLang="zh-CN" sz="2800" b="1" i="1" dirty="0" smtClean="0">
                <a:solidFill>
                  <a:srgbClr val="0000FF"/>
                </a:solidFill>
                <a:latin typeface="Times New Roman" panose="02020603050405020304" pitchFamily="18" charset="0"/>
              </a:rPr>
              <a:t>q</a:t>
            </a:r>
            <a:r>
              <a:rPr lang="en-US" altLang="zh-CN" sz="2800" b="1" baseline="-25000" dirty="0" smtClean="0">
                <a:solidFill>
                  <a:srgbClr val="0000FF"/>
                </a:solidFill>
                <a:latin typeface="Times New Roman" panose="02020603050405020304" pitchFamily="18" charset="0"/>
              </a:rPr>
              <a:t>1</a:t>
            </a:r>
            <a:r>
              <a:rPr lang="en-US" altLang="zh-CN" sz="2800" b="1" dirty="0" smtClean="0">
                <a:solidFill>
                  <a:srgbClr val="0000FF"/>
                </a:solidFill>
                <a:latin typeface="Times New Roman" panose="02020603050405020304" pitchFamily="18" charset="0"/>
              </a:rPr>
              <a:t>=</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3</a:t>
            </a:r>
            <a:r>
              <a:rPr lang="en-US" altLang="zh-CN" sz="2800" b="1" dirty="0" smtClean="0">
                <a:solidFill>
                  <a:srgbClr val="0000FF"/>
                </a:solidFill>
                <a:latin typeface="Times New Roman" panose="02020603050405020304" pitchFamily="18" charset="0"/>
              </a:rPr>
              <a:t>-</a:t>
            </a:r>
            <a:r>
              <a:rPr lang="en-US" altLang="zh-CN" sz="2800" b="1" i="1" dirty="0" smtClean="0">
                <a:solidFill>
                  <a:srgbClr val="0000FF"/>
                </a:solidFill>
                <a:latin typeface="Times New Roman" panose="02020603050405020304" pitchFamily="18" charset="0"/>
              </a:rPr>
              <a:t>h</a:t>
            </a:r>
            <a:r>
              <a:rPr lang="en-US" altLang="zh-CN" sz="2800" b="1" baseline="-25000" dirty="0" smtClean="0">
                <a:solidFill>
                  <a:srgbClr val="0000FF"/>
                </a:solidFill>
                <a:latin typeface="Times New Roman" panose="02020603050405020304" pitchFamily="18" charset="0"/>
              </a:rPr>
              <a:t>5</a:t>
            </a:r>
            <a:endParaRPr lang="en-US" altLang="zh-CN" sz="2800" dirty="0" smtClean="0">
              <a:solidFill>
                <a:srgbClr val="0000FF"/>
              </a:solidFill>
              <a:latin typeface="Times New Roman" panose="02020603050405020304" pitchFamily="18" charset="0"/>
            </a:endParaRPr>
          </a:p>
        </p:txBody>
      </p:sp>
      <p:sp>
        <p:nvSpPr>
          <p:cNvPr id="111618" name="矩形 278536"/>
          <p:cNvSpPr>
            <a:spLocks noChangeArrowheads="1"/>
          </p:cNvSpPr>
          <p:nvPr/>
        </p:nvSpPr>
        <p:spPr bwMode="auto">
          <a:xfrm>
            <a:off x="755650" y="333375"/>
            <a:ext cx="7848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dirty="0">
                <a:latin typeface="Times New Roman" panose="02020603050405020304" pitchFamily="18" charset="0"/>
                <a:cs typeface="Times New Roman" panose="02020603050405020304" pitchFamily="18" charset="0"/>
              </a:rPr>
              <a:t>Q1</a:t>
            </a:r>
            <a:r>
              <a:rPr lang="zh-CN" altLang="en-US" sz="3200" b="1" dirty="0"/>
              <a:t>：回热是否意味着工质完成循环</a:t>
            </a:r>
            <a:r>
              <a:rPr lang="zh-CN" altLang="en-US" sz="3200" b="1" dirty="0">
                <a:solidFill>
                  <a:srgbClr val="0000FF"/>
                </a:solidFill>
              </a:rPr>
              <a:t>所需要的热量</a:t>
            </a:r>
            <a:r>
              <a:rPr lang="zh-CN" altLang="en-US" sz="3200" b="1" dirty="0"/>
              <a:t>减少了？</a:t>
            </a:r>
            <a:r>
              <a:rPr lang="zh-CN" altLang="en-US" sz="2400" b="1" dirty="0">
                <a:solidFill>
                  <a:srgbClr val="FF0000"/>
                </a:solidFill>
              </a:rPr>
              <a:t>（是外部热源提供的热量少了）</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363" y="2134829"/>
            <a:ext cx="3688400" cy="3627434"/>
          </a:xfrm>
          <a:prstGeom prst="rect">
            <a:avLst/>
          </a:prstGeom>
        </p:spPr>
      </p:pic>
    </p:spTree>
    <p:extLst>
      <p:ext uri="{BB962C8B-B14F-4D97-AF65-F5344CB8AC3E}">
        <p14:creationId xmlns:p14="http://schemas.microsoft.com/office/powerpoint/2010/main" val="2020027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文本占位符 281604"/>
          <p:cNvSpPr>
            <a:spLocks noGrp="1" noChangeArrowheads="1"/>
          </p:cNvSpPr>
          <p:nvPr>
            <p:ph type="body" sz="half" idx="1"/>
          </p:nvPr>
        </p:nvSpPr>
        <p:spPr>
          <a:xfrm>
            <a:off x="216189" y="1866467"/>
            <a:ext cx="4608513" cy="4525962"/>
          </a:xfrm>
        </p:spPr>
        <p:txBody>
          <a:bodyPr/>
          <a:lstStyle/>
          <a:p>
            <a:pPr>
              <a:lnSpc>
                <a:spcPct val="90000"/>
              </a:lnSpc>
            </a:pPr>
            <a:endParaRPr lang="en-US" altLang="zh-CN" sz="2800" dirty="0" smtClean="0"/>
          </a:p>
          <a:p>
            <a:pPr>
              <a:lnSpc>
                <a:spcPct val="90000"/>
              </a:lnSpc>
            </a:pPr>
            <a:r>
              <a:rPr lang="zh-CN" altLang="en-US" sz="2800" b="1" dirty="0" smtClean="0">
                <a:latin typeface="Times New Roman" panose="02020603050405020304" pitchFamily="18" charset="0"/>
              </a:rPr>
              <a:t>采用回热后，循环从外部热源的吸热过程为</a:t>
            </a:r>
            <a:r>
              <a:rPr lang="en-US" altLang="zh-CN" sz="2800" b="1" dirty="0" smtClean="0">
                <a:solidFill>
                  <a:srgbClr val="0000FF"/>
                </a:solidFill>
                <a:latin typeface="Times New Roman" panose="02020603050405020304" pitchFamily="18" charset="0"/>
              </a:rPr>
              <a:t>5-3</a:t>
            </a:r>
            <a:r>
              <a:rPr lang="zh-CN" altLang="en-US" sz="2800" b="1" dirty="0" smtClean="0">
                <a:latin typeface="Times New Roman" panose="02020603050405020304" pitchFamily="18" charset="0"/>
              </a:rPr>
              <a:t>，向外部冷源的放热过程为</a:t>
            </a:r>
            <a:r>
              <a:rPr lang="en-US" altLang="zh-CN" sz="2800" b="1" dirty="0" smtClean="0">
                <a:solidFill>
                  <a:srgbClr val="0000FF"/>
                </a:solidFill>
                <a:latin typeface="Times New Roman" panose="02020603050405020304" pitchFamily="18" charset="0"/>
              </a:rPr>
              <a:t>6-1</a:t>
            </a:r>
            <a:r>
              <a:rPr lang="zh-CN" altLang="en-US" sz="2800" b="1" dirty="0" smtClean="0">
                <a:latin typeface="Times New Roman" panose="02020603050405020304" pitchFamily="18" charset="0"/>
              </a:rPr>
              <a:t>，这使得平均吸热温度较原循环高，平均放热温度较原循环低</a:t>
            </a:r>
          </a:p>
          <a:p>
            <a:pPr>
              <a:lnSpc>
                <a:spcPct val="90000"/>
              </a:lnSpc>
            </a:pPr>
            <a:r>
              <a:rPr lang="zh-CN" altLang="en-US" sz="2800" b="1" dirty="0" smtClean="0">
                <a:latin typeface="Times New Roman" panose="02020603050405020304" pitchFamily="18" charset="0"/>
              </a:rPr>
              <a:t>循环的热效率提高</a:t>
            </a:r>
            <a:endParaRPr lang="zh-CN" altLang="en-US" sz="2800" dirty="0" smtClean="0">
              <a:latin typeface="Times New Roman" panose="02020603050405020304" pitchFamily="18" charset="0"/>
            </a:endParaRPr>
          </a:p>
        </p:txBody>
      </p:sp>
      <p:sp>
        <p:nvSpPr>
          <p:cNvPr id="112642" name="矩形 281607"/>
          <p:cNvSpPr>
            <a:spLocks noChangeArrowheads="1"/>
          </p:cNvSpPr>
          <p:nvPr/>
        </p:nvSpPr>
        <p:spPr bwMode="auto">
          <a:xfrm>
            <a:off x="0"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12643" name="矩形 281608"/>
          <p:cNvSpPr>
            <a:spLocks noChangeArrowheads="1"/>
          </p:cNvSpPr>
          <p:nvPr/>
        </p:nvSpPr>
        <p:spPr bwMode="auto">
          <a:xfrm>
            <a:off x="755650" y="333375"/>
            <a:ext cx="741160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3200" b="1" dirty="0">
                <a:latin typeface="Times New Roman" panose="02020603050405020304" pitchFamily="18" charset="0"/>
                <a:cs typeface="Times New Roman" panose="02020603050405020304" pitchFamily="18" charset="0"/>
              </a:rPr>
              <a:t>Q2</a:t>
            </a:r>
            <a:r>
              <a:rPr lang="zh-CN" altLang="en-US" sz="3200" b="1" dirty="0"/>
              <a:t>：如何从平均吸热温度和平均放热温度来</a:t>
            </a:r>
            <a:r>
              <a:rPr lang="zh-CN" altLang="en-US" sz="3200" b="1" dirty="0" smtClean="0"/>
              <a:t>判断</a:t>
            </a:r>
            <a:r>
              <a:rPr lang="zh-CN" altLang="en-US" sz="3200" b="1" dirty="0"/>
              <a:t>回</a:t>
            </a:r>
            <a:r>
              <a:rPr lang="zh-CN" altLang="en-US" sz="3200" b="1" dirty="0" smtClean="0"/>
              <a:t>热使得循环</a:t>
            </a:r>
            <a:r>
              <a:rPr lang="zh-CN" altLang="en-US" sz="3200" b="1" dirty="0"/>
              <a:t>热效率提高了？</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363" y="2134829"/>
            <a:ext cx="3688400" cy="3627434"/>
          </a:xfrm>
          <a:prstGeom prst="rect">
            <a:avLst/>
          </a:prstGeom>
        </p:spPr>
      </p:pic>
    </p:spTree>
    <p:extLst>
      <p:ext uri="{BB962C8B-B14F-4D97-AF65-F5344CB8AC3E}">
        <p14:creationId xmlns:p14="http://schemas.microsoft.com/office/powerpoint/2010/main" val="3582756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文本占位符 284673"/>
          <p:cNvSpPr>
            <a:spLocks noGrp="1" noChangeArrowheads="1"/>
          </p:cNvSpPr>
          <p:nvPr>
            <p:ph type="body" sz="half" idx="1"/>
          </p:nvPr>
        </p:nvSpPr>
        <p:spPr>
          <a:xfrm>
            <a:off x="507279" y="2281094"/>
            <a:ext cx="4175125" cy="4525963"/>
          </a:xfrm>
        </p:spPr>
        <p:txBody>
          <a:bodyPr/>
          <a:lstStyle/>
          <a:p>
            <a:pPr>
              <a:lnSpc>
                <a:spcPct val="90000"/>
              </a:lnSpc>
            </a:pPr>
            <a:r>
              <a:rPr lang="zh-CN" altLang="en-US" sz="2800" b="1" dirty="0" smtClean="0">
                <a:latin typeface="Times New Roman" panose="02020603050405020304" pitchFamily="18" charset="0"/>
              </a:rPr>
              <a:t>根据能量守恒原理，回热器中高温工质放出的热量（过程线</a:t>
            </a:r>
            <a:r>
              <a:rPr lang="en-US" altLang="zh-CN" sz="2800" b="1" dirty="0" smtClean="0">
                <a:latin typeface="Times New Roman" panose="02020603050405020304" pitchFamily="18" charset="0"/>
              </a:rPr>
              <a:t>4-6</a:t>
            </a:r>
            <a:r>
              <a:rPr lang="zh-CN" altLang="en-US" sz="2800" b="1" dirty="0" smtClean="0">
                <a:latin typeface="Times New Roman" panose="02020603050405020304" pitchFamily="18" charset="0"/>
              </a:rPr>
              <a:t>在横坐标轴上的投影）等于低温工质吸收的热量（过程线</a:t>
            </a:r>
            <a:r>
              <a:rPr lang="en-US" altLang="zh-CN" sz="2800" b="1" dirty="0" smtClean="0">
                <a:latin typeface="Times New Roman" panose="02020603050405020304" pitchFamily="18" charset="0"/>
              </a:rPr>
              <a:t>2-5</a:t>
            </a:r>
            <a:r>
              <a:rPr lang="zh-CN" altLang="en-US" sz="2800" b="1" dirty="0" smtClean="0">
                <a:latin typeface="Times New Roman" panose="02020603050405020304" pitchFamily="18" charset="0"/>
              </a:rPr>
              <a:t>在横坐标轴上的投影），也就是采用回热措施能够节省的热量。 </a:t>
            </a:r>
          </a:p>
        </p:txBody>
      </p:sp>
      <p:sp>
        <p:nvSpPr>
          <p:cNvPr id="113666" name="矩形 284676"/>
          <p:cNvSpPr>
            <a:spLocks noChangeArrowheads="1"/>
          </p:cNvSpPr>
          <p:nvPr/>
        </p:nvSpPr>
        <p:spPr bwMode="auto">
          <a:xfrm>
            <a:off x="971550" y="549275"/>
            <a:ext cx="7253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dirty="0">
                <a:latin typeface="Times New Roman" panose="02020603050405020304" pitchFamily="18" charset="0"/>
                <a:cs typeface="Times New Roman" panose="02020603050405020304" pitchFamily="18" charset="0"/>
              </a:rPr>
              <a:t>Q3</a:t>
            </a:r>
            <a:r>
              <a:rPr lang="zh-CN" altLang="en-US" sz="3200" b="1" dirty="0"/>
              <a:t>：采用回热措施能够节省多少热量？</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363" y="2134829"/>
            <a:ext cx="3688400" cy="3627434"/>
          </a:xfrm>
          <a:prstGeom prst="rect">
            <a:avLst/>
          </a:prstGeom>
        </p:spPr>
      </p:pic>
    </p:spTree>
    <p:extLst>
      <p:ext uri="{BB962C8B-B14F-4D97-AF65-F5344CB8AC3E}">
        <p14:creationId xmlns:p14="http://schemas.microsoft.com/office/powerpoint/2010/main" val="498180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285697"/>
          <p:cNvSpPr>
            <a:spLocks noGrp="1" noChangeArrowheads="1"/>
          </p:cNvSpPr>
          <p:nvPr>
            <p:ph type="title" idx="4294967295"/>
          </p:nvPr>
        </p:nvSpPr>
        <p:spPr>
          <a:xfrm>
            <a:off x="5003800" y="3068638"/>
            <a:ext cx="3887788" cy="1574800"/>
          </a:xfrm>
        </p:spPr>
        <p:txBody>
          <a:bodyPr>
            <a:normAutofit fontScale="90000"/>
          </a:bodyPr>
          <a:lstStyle/>
          <a:p>
            <a:pPr algn="l">
              <a:spcBef>
                <a:spcPct val="50000"/>
              </a:spcBef>
            </a:pPr>
            <a:r>
              <a:rPr lang="zh-CN" altLang="en-US" sz="2800" b="1" smtClean="0"/>
              <a:t>理想的极限回热的前提条件：换热器的面积无穷大</a:t>
            </a:r>
            <a:br>
              <a:rPr lang="zh-CN" altLang="en-US" sz="2800" b="1" smtClean="0"/>
            </a:br>
            <a:endParaRPr lang="zh-CN" altLang="en-US" sz="2800" b="1" smtClean="0">
              <a:solidFill>
                <a:srgbClr val="FF0000"/>
              </a:solidFill>
            </a:endParaRPr>
          </a:p>
        </p:txBody>
      </p:sp>
      <p:sp>
        <p:nvSpPr>
          <p:cNvPr id="114692" name="矩形 285702"/>
          <p:cNvSpPr>
            <a:spLocks noChangeArrowheads="1"/>
          </p:cNvSpPr>
          <p:nvPr/>
        </p:nvSpPr>
        <p:spPr bwMode="auto">
          <a:xfrm>
            <a:off x="5148263" y="4724400"/>
            <a:ext cx="33829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dirty="0"/>
              <a:t>实际的回热过程要考虑</a:t>
            </a:r>
            <a:r>
              <a:rPr lang="zh-CN" altLang="en-US" sz="2800" b="1" dirty="0">
                <a:solidFill>
                  <a:srgbClr val="FF0000"/>
                </a:solidFill>
              </a:rPr>
              <a:t>回热度</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244" y="3129107"/>
            <a:ext cx="3572566" cy="351160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135" y="-155594"/>
            <a:ext cx="5901439" cy="3359187"/>
          </a:xfrm>
          <a:prstGeom prst="rect">
            <a:avLst/>
          </a:prstGeom>
        </p:spPr>
      </p:pic>
    </p:spTree>
    <p:extLst>
      <p:ext uri="{BB962C8B-B14F-4D97-AF65-F5344CB8AC3E}">
        <p14:creationId xmlns:p14="http://schemas.microsoft.com/office/powerpoint/2010/main" val="2459620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矩形 286724"/>
          <p:cNvSpPr>
            <a:spLocks noChangeArrowheads="1"/>
          </p:cNvSpPr>
          <p:nvPr/>
        </p:nvSpPr>
        <p:spPr bwMode="auto">
          <a:xfrm>
            <a:off x="0" y="2138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15714" name="矩形 286726"/>
          <p:cNvSpPr>
            <a:spLocks noChangeArrowheads="1"/>
          </p:cNvSpPr>
          <p:nvPr/>
        </p:nvSpPr>
        <p:spPr bwMode="auto">
          <a:xfrm>
            <a:off x="5061528" y="5995988"/>
            <a:ext cx="293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a:solidFill>
                  <a:srgbClr val="FF0000"/>
                </a:solidFill>
              </a:rPr>
              <a:t>非极限回热</a:t>
            </a:r>
            <a:r>
              <a:rPr lang="zh-CN" altLang="en-US" sz="2000" b="1" dirty="0"/>
              <a:t>循环的</a:t>
            </a:r>
            <a:r>
              <a:rPr lang="en-US" altLang="zh-CN" sz="2000" b="1" i="1" dirty="0">
                <a:latin typeface="Times New Roman" panose="02020603050405020304" pitchFamily="18" charset="0"/>
                <a:cs typeface="Times New Roman" panose="02020603050405020304" pitchFamily="18" charset="0"/>
              </a:rPr>
              <a:t>T-s</a:t>
            </a:r>
            <a:r>
              <a:rPr lang="zh-CN" altLang="en-US" sz="2000" b="1" dirty="0"/>
              <a:t>图 </a:t>
            </a:r>
          </a:p>
        </p:txBody>
      </p:sp>
      <p:sp>
        <p:nvSpPr>
          <p:cNvPr id="115715" name="矩形 286728"/>
          <p:cNvSpPr>
            <a:spLocks noChangeArrowheads="1"/>
          </p:cNvSpPr>
          <p:nvPr/>
        </p:nvSpPr>
        <p:spPr bwMode="auto">
          <a:xfrm>
            <a:off x="1389641" y="5995988"/>
            <a:ext cx="2679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a:solidFill>
                  <a:srgbClr val="FF0000"/>
                </a:solidFill>
              </a:rPr>
              <a:t>极限回热</a:t>
            </a:r>
            <a:r>
              <a:rPr lang="zh-CN" altLang="en-US" sz="2000" b="1" dirty="0"/>
              <a:t>循环的</a:t>
            </a:r>
            <a:r>
              <a:rPr lang="en-US" altLang="zh-CN" sz="2000" b="1" i="1" dirty="0">
                <a:latin typeface="Times New Roman" panose="02020603050405020304" pitchFamily="18" charset="0"/>
                <a:cs typeface="Times New Roman" panose="02020603050405020304" pitchFamily="18" charset="0"/>
              </a:rPr>
              <a:t>T-s</a:t>
            </a:r>
            <a:r>
              <a:rPr lang="zh-CN" altLang="en-US" sz="2000" b="1" dirty="0"/>
              <a:t>图 </a:t>
            </a:r>
          </a:p>
        </p:txBody>
      </p:sp>
      <p:graphicFrame>
        <p:nvGraphicFramePr>
          <p:cNvPr id="115716" name="对象 286729"/>
          <p:cNvGraphicFramePr>
            <a:graphicFrameLocks/>
          </p:cNvGraphicFramePr>
          <p:nvPr/>
        </p:nvGraphicFramePr>
        <p:xfrm>
          <a:off x="765175" y="1354138"/>
          <a:ext cx="2987675" cy="784225"/>
        </p:xfrm>
        <a:graphic>
          <a:graphicData uri="http://schemas.openxmlformats.org/presentationml/2006/ole">
            <mc:AlternateContent xmlns:mc="http://schemas.openxmlformats.org/markup-compatibility/2006">
              <mc:Choice xmlns:v="urn:schemas-microsoft-com:vml" Requires="v">
                <p:oleObj spid="_x0000_s57376" r:id="rId3" imgW="1701800" imgH="444500" progId="Equation.DSMT4">
                  <p:embed/>
                </p:oleObj>
              </mc:Choice>
              <mc:Fallback>
                <p:oleObj r:id="rId3" imgW="1701800" imgH="444500" progId="Equation.DSMT4">
                  <p:embed/>
                  <p:pic>
                    <p:nvPicPr>
                      <p:cNvPr id="115716" name="对象 2867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75" y="1354138"/>
                        <a:ext cx="29876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17" name="矩形 286732"/>
          <p:cNvSpPr>
            <a:spLocks noChangeArrowheads="1"/>
          </p:cNvSpPr>
          <p:nvPr/>
        </p:nvSpPr>
        <p:spPr bwMode="auto">
          <a:xfrm>
            <a:off x="641350" y="400050"/>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rPr>
              <a:t>回热度</a:t>
            </a:r>
          </a:p>
        </p:txBody>
      </p:sp>
      <p:sp>
        <p:nvSpPr>
          <p:cNvPr id="115718" name="矩形 286734"/>
          <p:cNvSpPr>
            <a:spLocks noChangeArrowheads="1"/>
          </p:cNvSpPr>
          <p:nvPr/>
        </p:nvSpPr>
        <p:spPr bwMode="auto">
          <a:xfrm>
            <a:off x="0" y="2138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115721" name="矩形 286728"/>
          <p:cNvSpPr>
            <a:spLocks noChangeArrowheads="1"/>
          </p:cNvSpPr>
          <p:nvPr/>
        </p:nvSpPr>
        <p:spPr bwMode="auto">
          <a:xfrm>
            <a:off x="3954463" y="1516063"/>
            <a:ext cx="488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t>或</a:t>
            </a:r>
          </a:p>
        </p:txBody>
      </p:sp>
      <p:graphicFrame>
        <p:nvGraphicFramePr>
          <p:cNvPr id="115722" name="对象 2"/>
          <p:cNvGraphicFramePr>
            <a:graphicFrameLocks noChangeAspect="1"/>
          </p:cNvGraphicFramePr>
          <p:nvPr/>
        </p:nvGraphicFramePr>
        <p:xfrm>
          <a:off x="4843463" y="1354138"/>
          <a:ext cx="3225800" cy="793750"/>
        </p:xfrm>
        <a:graphic>
          <a:graphicData uri="http://schemas.openxmlformats.org/presentationml/2006/ole">
            <mc:AlternateContent xmlns:mc="http://schemas.openxmlformats.org/markup-compatibility/2006">
              <mc:Choice xmlns:v="urn:schemas-microsoft-com:vml" Requires="v">
                <p:oleObj spid="_x0000_s57377" r:id="rId5" imgW="1701720" imgH="444240" progId="Equation.DSMT4">
                  <p:embed/>
                </p:oleObj>
              </mc:Choice>
              <mc:Fallback>
                <p:oleObj r:id="rId5" imgW="1701720" imgH="444240" progId="Equation.DSMT4">
                  <p:embed/>
                  <p:pic>
                    <p:nvPicPr>
                      <p:cNvPr id="115722"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3463" y="1354138"/>
                        <a:ext cx="32258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2119" y="2739193"/>
            <a:ext cx="3145809" cy="3090940"/>
          </a:xfrm>
          <a:prstGeom prst="rect">
            <a:avLst/>
          </a:prstGeom>
        </p:spPr>
      </p:pic>
      <p:pic>
        <p:nvPicPr>
          <p:cNvPr id="3" name="图片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30262" y="2739193"/>
            <a:ext cx="3066554" cy="3090940"/>
          </a:xfrm>
          <a:prstGeom prst="rect">
            <a:avLst/>
          </a:prstGeom>
        </p:spPr>
      </p:pic>
    </p:spTree>
    <p:extLst>
      <p:ext uri="{BB962C8B-B14F-4D97-AF65-F5344CB8AC3E}">
        <p14:creationId xmlns:p14="http://schemas.microsoft.com/office/powerpoint/2010/main" val="3573030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矩形 28774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16738" name="矩形 287750"/>
          <p:cNvSpPr>
            <a:spLocks noChangeArrowheads="1"/>
          </p:cNvSpPr>
          <p:nvPr/>
        </p:nvSpPr>
        <p:spPr bwMode="auto">
          <a:xfrm>
            <a:off x="587375" y="478959"/>
            <a:ext cx="36118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t>若</a:t>
            </a:r>
            <a:r>
              <a:rPr lang="zh-CN" altLang="en-US" sz="2800" b="1" dirty="0" smtClean="0"/>
              <a:t>比热容近似</a:t>
            </a:r>
            <a:r>
              <a:rPr lang="zh-CN" altLang="en-US" sz="2800" b="1" dirty="0"/>
              <a:t>为定值 </a:t>
            </a:r>
          </a:p>
        </p:txBody>
      </p:sp>
      <p:sp>
        <p:nvSpPr>
          <p:cNvPr id="116739" name="矩形 28775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graphicFrame>
        <p:nvGraphicFramePr>
          <p:cNvPr id="116740" name="对象 287751"/>
          <p:cNvGraphicFramePr>
            <a:graphicFrameLocks/>
          </p:cNvGraphicFramePr>
          <p:nvPr/>
        </p:nvGraphicFramePr>
        <p:xfrm>
          <a:off x="800100" y="1239838"/>
          <a:ext cx="3168650" cy="990600"/>
        </p:xfrm>
        <a:graphic>
          <a:graphicData uri="http://schemas.openxmlformats.org/presentationml/2006/ole">
            <mc:AlternateContent xmlns:mc="http://schemas.openxmlformats.org/markup-compatibility/2006">
              <mc:Choice xmlns:v="urn:schemas-microsoft-com:vml" Requires="v">
                <p:oleObj spid="_x0000_s58390" r:id="rId3" imgW="1371600" imgH="431800" progId="Equation.DSMT4">
                  <p:embed/>
                </p:oleObj>
              </mc:Choice>
              <mc:Fallback>
                <p:oleObj r:id="rId3" imgW="1371600" imgH="431800" progId="Equation.DSMT4">
                  <p:embed/>
                  <p:pic>
                    <p:nvPicPr>
                      <p:cNvPr id="116740" name="对象 28775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 y="1239838"/>
                        <a:ext cx="31686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6741" name="文本占位符 287755"/>
          <p:cNvSpPr>
            <a:spLocks noGrp="1" noChangeArrowheads="1"/>
          </p:cNvSpPr>
          <p:nvPr>
            <p:ph idx="1"/>
          </p:nvPr>
        </p:nvSpPr>
        <p:spPr>
          <a:xfrm>
            <a:off x="393700" y="2895600"/>
            <a:ext cx="8229600" cy="3340100"/>
          </a:xfrm>
        </p:spPr>
        <p:txBody>
          <a:bodyPr>
            <a:noAutofit/>
          </a:bodyPr>
          <a:lstStyle/>
          <a:p>
            <a:r>
              <a:rPr lang="zh-CN" altLang="en-US" sz="2800" b="1" dirty="0" smtClean="0"/>
              <a:t>在极限回热情况下，回热度等于</a:t>
            </a:r>
            <a:r>
              <a:rPr lang="en-US" altLang="zh-CN" sz="2800" b="1" dirty="0" smtClean="0"/>
              <a:t>1</a:t>
            </a:r>
          </a:p>
          <a:p>
            <a:r>
              <a:rPr lang="zh-CN" altLang="en-US" sz="2800" b="1" dirty="0" smtClean="0">
                <a:solidFill>
                  <a:srgbClr val="FF0000"/>
                </a:solidFill>
              </a:rPr>
              <a:t>回热度越大</a:t>
            </a:r>
            <a:r>
              <a:rPr lang="zh-CN" altLang="en-US" sz="2800" b="1" dirty="0" smtClean="0"/>
              <a:t>，所需的外部加热量越少，而循环的净功不变，因此循环的</a:t>
            </a:r>
            <a:r>
              <a:rPr lang="zh-CN" altLang="en-US" sz="2800" b="1" dirty="0" smtClean="0">
                <a:solidFill>
                  <a:srgbClr val="FF0000"/>
                </a:solidFill>
              </a:rPr>
              <a:t>热效率越高 </a:t>
            </a:r>
          </a:p>
          <a:p>
            <a:r>
              <a:rPr lang="zh-CN" altLang="en-US" sz="2800" b="1" dirty="0" smtClean="0"/>
              <a:t>但回热度越大，需要的换热面积也就越大，即需要配备较大的回热器，这使得装置的投资费用、尺寸、重量增加</a:t>
            </a:r>
          </a:p>
          <a:p>
            <a:r>
              <a:rPr lang="zh-CN" altLang="en-US" sz="2800" b="1" dirty="0" smtClean="0"/>
              <a:t>因此实际应用中选择回热度的大小时</a:t>
            </a:r>
            <a:r>
              <a:rPr lang="zh-CN" altLang="en-US" sz="2800" b="1" dirty="0" smtClean="0">
                <a:solidFill>
                  <a:srgbClr val="0070C0"/>
                </a:solidFill>
              </a:rPr>
              <a:t>应权衡利弊  </a:t>
            </a:r>
          </a:p>
        </p:txBody>
      </p:sp>
      <p:sp>
        <p:nvSpPr>
          <p:cNvPr id="116742" name="矩形 286728"/>
          <p:cNvSpPr>
            <a:spLocks noChangeArrowheads="1"/>
          </p:cNvSpPr>
          <p:nvPr/>
        </p:nvSpPr>
        <p:spPr bwMode="auto">
          <a:xfrm>
            <a:off x="4025900" y="1516063"/>
            <a:ext cx="488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t>或</a:t>
            </a:r>
          </a:p>
        </p:txBody>
      </p:sp>
      <p:graphicFrame>
        <p:nvGraphicFramePr>
          <p:cNvPr id="116743" name="对象 2"/>
          <p:cNvGraphicFramePr>
            <a:graphicFrameLocks noChangeAspect="1"/>
          </p:cNvGraphicFramePr>
          <p:nvPr/>
        </p:nvGraphicFramePr>
        <p:xfrm>
          <a:off x="4919663" y="1196975"/>
          <a:ext cx="3381375" cy="1017588"/>
        </p:xfrm>
        <a:graphic>
          <a:graphicData uri="http://schemas.openxmlformats.org/presentationml/2006/ole">
            <mc:AlternateContent xmlns:mc="http://schemas.openxmlformats.org/markup-compatibility/2006">
              <mc:Choice xmlns:v="urn:schemas-microsoft-com:vml" Requires="v">
                <p:oleObj spid="_x0000_s58391" r:id="rId5" imgW="1371600" imgH="431640" progId="Equation.DSMT4">
                  <p:embed/>
                </p:oleObj>
              </mc:Choice>
              <mc:Fallback>
                <p:oleObj r:id="rId5" imgW="1371600" imgH="431640" progId="Equation.DSMT4">
                  <p:embed/>
                  <p:pic>
                    <p:nvPicPr>
                      <p:cNvPr id="11674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9663" y="1196975"/>
                        <a:ext cx="3381375"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457884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516" y="-100176"/>
            <a:ext cx="5901439" cy="3359187"/>
          </a:xfrm>
          <a:prstGeom prst="rect">
            <a:avLst/>
          </a:prstGeom>
        </p:spPr>
      </p:pic>
      <p:sp>
        <p:nvSpPr>
          <p:cNvPr id="117762" name="文本占位符 289797"/>
          <p:cNvSpPr>
            <a:spLocks noGrp="1" noChangeArrowheads="1"/>
          </p:cNvSpPr>
          <p:nvPr>
            <p:ph idx="1"/>
          </p:nvPr>
        </p:nvSpPr>
        <p:spPr>
          <a:xfrm>
            <a:off x="468312" y="3357563"/>
            <a:ext cx="8384139" cy="3168650"/>
          </a:xfrm>
        </p:spPr>
        <p:txBody>
          <a:bodyPr>
            <a:normAutofit/>
          </a:bodyPr>
          <a:lstStyle/>
          <a:p>
            <a:pPr>
              <a:lnSpc>
                <a:spcPct val="90000"/>
              </a:lnSpc>
            </a:pPr>
            <a:r>
              <a:rPr lang="zh-CN" altLang="en-US" sz="2800" b="1" dirty="0" smtClean="0"/>
              <a:t>由于热量传递的方向性，回热过程的温度范围：压气机出口温度（下限）和燃气轮机排气温度（上限），回热效果受这两个出口温度的限制</a:t>
            </a:r>
          </a:p>
          <a:p>
            <a:pPr>
              <a:lnSpc>
                <a:spcPct val="90000"/>
              </a:lnSpc>
            </a:pPr>
            <a:r>
              <a:rPr lang="zh-CN" altLang="en-US" sz="2800" b="1" dirty="0" smtClean="0"/>
              <a:t>如果能降低压气机的出口温度，提高燃气轮机的排气温度，则回热的温度范围更大，</a:t>
            </a:r>
            <a:r>
              <a:rPr lang="zh-CN" altLang="en-US" b="1" dirty="0"/>
              <a:t>回热</a:t>
            </a:r>
            <a:r>
              <a:rPr lang="zh-CN" altLang="en-US" sz="2800" b="1" dirty="0" smtClean="0"/>
              <a:t>效果更好</a:t>
            </a:r>
          </a:p>
          <a:p>
            <a:pPr>
              <a:lnSpc>
                <a:spcPct val="90000"/>
              </a:lnSpc>
            </a:pPr>
            <a:r>
              <a:rPr lang="zh-CN" altLang="en-US" sz="2800" b="1" dirty="0" smtClean="0"/>
              <a:t>可考虑在回热基础上的</a:t>
            </a:r>
            <a:r>
              <a:rPr lang="zh-CN" altLang="en-US" sz="2800" b="1" dirty="0" smtClean="0">
                <a:solidFill>
                  <a:srgbClr val="FF0000"/>
                </a:solidFill>
              </a:rPr>
              <a:t>多级压缩、级间冷却和多级膨胀、级间再热</a:t>
            </a:r>
            <a:r>
              <a:rPr lang="zh-CN" altLang="en-US" sz="2000" b="1" dirty="0" smtClean="0">
                <a:solidFill>
                  <a:srgbClr val="0070C0"/>
                </a:solidFill>
              </a:rPr>
              <a:t>（本节第二部分）</a:t>
            </a:r>
            <a:endParaRPr lang="zh-CN" altLang="en-US" sz="2000" dirty="0" smtClean="0">
              <a:solidFill>
                <a:srgbClr val="0070C0"/>
              </a:solidFill>
            </a:endParaRPr>
          </a:p>
        </p:txBody>
      </p:sp>
      <p:sp>
        <p:nvSpPr>
          <p:cNvPr id="117763" name="椭圆 289798"/>
          <p:cNvSpPr>
            <a:spLocks noChangeArrowheads="1"/>
          </p:cNvSpPr>
          <p:nvPr/>
        </p:nvSpPr>
        <p:spPr bwMode="auto">
          <a:xfrm>
            <a:off x="2268538" y="1268413"/>
            <a:ext cx="720725" cy="504825"/>
          </a:xfrm>
          <a:prstGeom prst="ellipse">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117764" name="椭圆 289799"/>
          <p:cNvSpPr>
            <a:spLocks noChangeArrowheads="1"/>
          </p:cNvSpPr>
          <p:nvPr/>
        </p:nvSpPr>
        <p:spPr bwMode="auto">
          <a:xfrm>
            <a:off x="6156325" y="908050"/>
            <a:ext cx="720725" cy="504825"/>
          </a:xfrm>
          <a:prstGeom prst="ellipse">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Tree>
    <p:extLst>
      <p:ext uri="{BB962C8B-B14F-4D97-AF65-F5344CB8AC3E}">
        <p14:creationId xmlns:p14="http://schemas.microsoft.com/office/powerpoint/2010/main" val="3685476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89797"/>
          <p:cNvSpPr>
            <a:spLocks noGrp="1" noChangeArrowheads="1"/>
          </p:cNvSpPr>
          <p:nvPr>
            <p:ph idx="1"/>
          </p:nvPr>
        </p:nvSpPr>
        <p:spPr>
          <a:xfrm>
            <a:off x="527947" y="4192450"/>
            <a:ext cx="8344383" cy="2168594"/>
          </a:xfrm>
        </p:spPr>
        <p:txBody>
          <a:bodyPr>
            <a:normAutofit/>
          </a:bodyPr>
          <a:lstStyle/>
          <a:p>
            <a:pPr marL="0" indent="0">
              <a:buNone/>
            </a:pPr>
            <a:r>
              <a:rPr lang="zh-CN" altLang="en-US" sz="2800" b="1" dirty="0" smtClean="0"/>
              <a:t>只有在压气机的增压比</a:t>
            </a:r>
            <a:r>
              <a:rPr lang="el-GR" altLang="zh-CN" sz="2800" b="1" i="1" dirty="0">
                <a:latin typeface="Times New Roman" panose="02020603050405020304" pitchFamily="18" charset="0"/>
                <a:cs typeface="Times New Roman" panose="02020603050405020304" pitchFamily="18" charset="0"/>
              </a:rPr>
              <a:t>π</a:t>
            </a:r>
            <a:r>
              <a:rPr lang="zh-CN" altLang="en-US" sz="2800" b="1" dirty="0" smtClean="0"/>
              <a:t>较小时回热措施对循环的热效率才会有比较明显的影响，</a:t>
            </a:r>
            <a:r>
              <a:rPr lang="zh-CN" altLang="en-US" sz="2800" b="1" dirty="0">
                <a:latin typeface="Times New Roman" panose="02020603050405020304" pitchFamily="18" charset="0"/>
                <a:cs typeface="Times New Roman" panose="02020603050405020304" pitchFamily="18" charset="0"/>
              </a:rPr>
              <a:t>这是因为在其他条件不变的情况下，随着</a:t>
            </a:r>
            <a:r>
              <a:rPr lang="el-GR" altLang="zh-CN" sz="2800" b="1" i="1" dirty="0">
                <a:latin typeface="Times New Roman" panose="02020603050405020304" pitchFamily="18" charset="0"/>
                <a:cs typeface="Times New Roman" panose="02020603050405020304" pitchFamily="18" charset="0"/>
              </a:rPr>
              <a:t>π</a:t>
            </a:r>
            <a:r>
              <a:rPr lang="zh-CN" altLang="en-US" sz="2800" b="1" dirty="0">
                <a:latin typeface="Times New Roman" panose="02020603050405020304" pitchFamily="18" charset="0"/>
                <a:cs typeface="Times New Roman" panose="02020603050405020304" pitchFamily="18" charset="0"/>
              </a:rPr>
              <a:t>的</a:t>
            </a:r>
            <a:r>
              <a:rPr lang="zh-CN" altLang="en-US" sz="2800" b="1" dirty="0" smtClean="0">
                <a:latin typeface="Times New Roman" panose="02020603050405020304" pitchFamily="18" charset="0"/>
                <a:cs typeface="Times New Roman" panose="02020603050405020304" pitchFamily="18" charset="0"/>
              </a:rPr>
              <a:t>提高</a:t>
            </a:r>
            <a:r>
              <a:rPr lang="en-US" altLang="zh-CN" sz="2800" b="1" i="1" dirty="0">
                <a:latin typeface="Times New Roman" panose="02020603050405020304" pitchFamily="18" charset="0"/>
                <a:cs typeface="Times New Roman" panose="02020603050405020304" pitchFamily="18" charset="0"/>
              </a:rPr>
              <a:t>T</a:t>
            </a:r>
            <a:r>
              <a:rPr lang="en-US" altLang="zh-CN" sz="2800" b="1" baseline="-25000" dirty="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将</a:t>
            </a:r>
            <a:r>
              <a:rPr lang="zh-CN" altLang="en-US" sz="2800" b="1" dirty="0">
                <a:latin typeface="Times New Roman" panose="02020603050405020304" pitchFamily="18" charset="0"/>
                <a:cs typeface="Times New Roman" panose="02020603050405020304" pitchFamily="18" charset="0"/>
              </a:rPr>
              <a:t>不断提高，回热的热量会越来越少，当</a:t>
            </a:r>
            <a:r>
              <a:rPr lang="zh-CN" altLang="en-US" sz="2800" b="1" dirty="0" smtClean="0">
                <a:latin typeface="Times New Roman" panose="02020603050405020304" pitchFamily="18" charset="0"/>
                <a:cs typeface="Times New Roman" panose="02020603050405020304" pitchFamily="18" charset="0"/>
              </a:rPr>
              <a:t>增压比</a:t>
            </a:r>
            <a:r>
              <a:rPr lang="el-GR" altLang="zh-CN" sz="2800" b="1" i="1" dirty="0">
                <a:latin typeface="Times New Roman" panose="02020603050405020304" pitchFamily="18" charset="0"/>
                <a:cs typeface="Times New Roman" panose="02020603050405020304" pitchFamily="18" charset="0"/>
              </a:rPr>
              <a:t>π</a:t>
            </a:r>
            <a:r>
              <a:rPr lang="zh-CN" altLang="en-US" sz="2800" b="1" dirty="0" smtClean="0">
                <a:latin typeface="Times New Roman" panose="02020603050405020304" pitchFamily="18" charset="0"/>
                <a:cs typeface="Times New Roman" panose="02020603050405020304" pitchFamily="18" charset="0"/>
              </a:rPr>
              <a:t>高</a:t>
            </a:r>
            <a:r>
              <a:rPr lang="zh-CN" altLang="en-US" sz="2800" b="1" dirty="0">
                <a:latin typeface="Times New Roman" panose="02020603050405020304" pitchFamily="18" charset="0"/>
                <a:cs typeface="Times New Roman" panose="02020603050405020304" pitchFamily="18" charset="0"/>
              </a:rPr>
              <a:t>至使</a:t>
            </a:r>
            <a:r>
              <a:rPr lang="en-US" altLang="zh-CN" sz="2800" b="1" i="1" dirty="0" smtClean="0">
                <a:latin typeface="Times New Roman" panose="02020603050405020304" pitchFamily="18" charset="0"/>
                <a:cs typeface="Times New Roman" panose="02020603050405020304" pitchFamily="18" charset="0"/>
              </a:rPr>
              <a:t>T</a:t>
            </a:r>
            <a:r>
              <a:rPr lang="en-US" altLang="zh-CN" sz="2800" b="1" baseline="-25000" dirty="0" smtClean="0">
                <a:latin typeface="Times New Roman" panose="02020603050405020304" pitchFamily="18" charset="0"/>
                <a:cs typeface="Times New Roman" panose="02020603050405020304" pitchFamily="18" charset="0"/>
              </a:rPr>
              <a:t>2</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T</a:t>
            </a:r>
            <a:r>
              <a:rPr lang="en-US" altLang="zh-CN" sz="2800" b="1" baseline="-25000" dirty="0" smtClean="0">
                <a:latin typeface="Times New Roman" panose="02020603050405020304" pitchFamily="18" charset="0"/>
                <a:cs typeface="Times New Roman" panose="02020603050405020304" pitchFamily="18" charset="0"/>
              </a:rPr>
              <a:t>4</a:t>
            </a:r>
            <a:r>
              <a:rPr lang="zh-CN" altLang="en-US" sz="2800" b="1" dirty="0" smtClean="0">
                <a:latin typeface="Times New Roman" panose="02020603050405020304" pitchFamily="18" charset="0"/>
                <a:cs typeface="Times New Roman" panose="02020603050405020304" pitchFamily="18" charset="0"/>
              </a:rPr>
              <a:t>时</a:t>
            </a:r>
            <a:r>
              <a:rPr lang="zh-CN" altLang="en-US" sz="2800" b="1" dirty="0">
                <a:latin typeface="Times New Roman" panose="02020603050405020304" pitchFamily="18" charset="0"/>
                <a:cs typeface="Times New Roman" panose="02020603050405020304" pitchFamily="18" charset="0"/>
              </a:rPr>
              <a:t>，已经不可能再有回热过程的存在。</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5449" y="529932"/>
            <a:ext cx="3365284" cy="3304318"/>
          </a:xfrm>
          <a:prstGeom prst="rect">
            <a:avLst/>
          </a:prstGeom>
        </p:spPr>
      </p:pic>
    </p:spTree>
    <p:extLst>
      <p:ext uri="{BB962C8B-B14F-4D97-AF65-F5344CB8AC3E}">
        <p14:creationId xmlns:p14="http://schemas.microsoft.com/office/powerpoint/2010/main" val="2471886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8041" y="4648339"/>
            <a:ext cx="7886700" cy="924201"/>
          </a:xfrm>
        </p:spPr>
        <p:txBody>
          <a:bodyPr>
            <a:normAutofit/>
          </a:bodyPr>
          <a:lstStyle/>
          <a:p>
            <a:pPr marL="0" indent="0">
              <a:buNone/>
            </a:pPr>
            <a:r>
              <a:rPr lang="zh-CN" altLang="en-US" sz="2800" b="1" dirty="0" smtClean="0"/>
              <a:t>对于考虑摩擦损失的燃气轮机实际循环，采用回热措施同样可以提高装置的热效率</a:t>
            </a:r>
            <a:endParaRPr lang="zh-CN" altLang="en-US" sz="2800" b="1"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245" y="677608"/>
            <a:ext cx="4243184" cy="3590855"/>
          </a:xfrm>
          <a:prstGeom prst="rect">
            <a:avLst/>
          </a:prstGeom>
        </p:spPr>
      </p:pic>
    </p:spTree>
    <p:extLst>
      <p:ext uri="{BB962C8B-B14F-4D97-AF65-F5344CB8AC3E}">
        <p14:creationId xmlns:p14="http://schemas.microsoft.com/office/powerpoint/2010/main" val="952103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292868"/>
          <p:cNvSpPr>
            <a:spLocks noGrp="1" noChangeArrowheads="1"/>
          </p:cNvSpPr>
          <p:nvPr>
            <p:ph type="title"/>
          </p:nvPr>
        </p:nvSpPr>
        <p:spPr>
          <a:xfrm>
            <a:off x="628649" y="1300577"/>
            <a:ext cx="7886700" cy="1325563"/>
          </a:xfrm>
        </p:spPr>
        <p:txBody>
          <a:bodyPr>
            <a:normAutofit/>
          </a:bodyPr>
          <a:lstStyle/>
          <a:p>
            <a:r>
              <a:rPr lang="zh-CN" altLang="en-US" sz="4000" b="1" dirty="0" smtClean="0">
                <a:solidFill>
                  <a:srgbClr val="0070C0"/>
                </a:solidFill>
              </a:rPr>
              <a:t>设计思路</a:t>
            </a:r>
          </a:p>
        </p:txBody>
      </p:sp>
      <p:sp>
        <p:nvSpPr>
          <p:cNvPr id="119810" name="文本占位符 292869"/>
          <p:cNvSpPr>
            <a:spLocks noGrp="1" noChangeArrowheads="1"/>
          </p:cNvSpPr>
          <p:nvPr>
            <p:ph idx="1"/>
          </p:nvPr>
        </p:nvSpPr>
        <p:spPr>
          <a:xfrm>
            <a:off x="628650" y="2527990"/>
            <a:ext cx="7886700" cy="3905940"/>
          </a:xfrm>
        </p:spPr>
        <p:txBody>
          <a:bodyPr/>
          <a:lstStyle/>
          <a:p>
            <a:r>
              <a:rPr lang="zh-CN" altLang="en-US" sz="2800" b="1" dirty="0" smtClean="0">
                <a:latin typeface="Times New Roman" panose="02020603050405020304" pitchFamily="18" charset="0"/>
              </a:rPr>
              <a:t>燃气轮机装置所作的净功量</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net</a:t>
            </a:r>
            <a:r>
              <a:rPr lang="zh-CN" altLang="en-US" sz="2800" b="1" dirty="0" smtClean="0">
                <a:latin typeface="Times New Roman" panose="02020603050405020304" pitchFamily="18" charset="0"/>
              </a:rPr>
              <a:t>等于燃气轮机输出的功量</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T</a:t>
            </a:r>
            <a:r>
              <a:rPr lang="zh-CN" altLang="en-US" sz="2800" b="1" dirty="0" smtClean="0">
                <a:latin typeface="Times New Roman" panose="02020603050405020304" pitchFamily="18" charset="0"/>
              </a:rPr>
              <a:t>与压气机的耗功量</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C</a:t>
            </a:r>
            <a:r>
              <a:rPr lang="zh-CN" altLang="en-US" sz="2800" b="1" dirty="0" smtClean="0">
                <a:latin typeface="Times New Roman" panose="02020603050405020304" pitchFamily="18" charset="0"/>
              </a:rPr>
              <a:t>（绝对值）之差。这说明，可以分别通过增加</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T</a:t>
            </a:r>
            <a:r>
              <a:rPr lang="zh-CN" altLang="en-US" sz="2800" b="1" dirty="0" smtClean="0">
                <a:latin typeface="Times New Roman" panose="02020603050405020304" pitchFamily="18" charset="0"/>
              </a:rPr>
              <a:t>和减小</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C</a:t>
            </a:r>
            <a:r>
              <a:rPr lang="zh-CN" altLang="en-US" sz="2800" b="1" dirty="0" smtClean="0">
                <a:latin typeface="Times New Roman" panose="02020603050405020304" pitchFamily="18" charset="0"/>
              </a:rPr>
              <a:t>来提高净功量</a:t>
            </a:r>
            <a:r>
              <a:rPr lang="en-US" altLang="zh-CN" sz="2800" b="1" i="1" dirty="0" err="1" smtClean="0">
                <a:latin typeface="Times New Roman" panose="02020603050405020304" pitchFamily="18" charset="0"/>
              </a:rPr>
              <a:t>w</a:t>
            </a:r>
            <a:r>
              <a:rPr lang="en-US" altLang="zh-CN" sz="2800" b="1" baseline="-25000" dirty="0" err="1" smtClean="0">
                <a:latin typeface="Times New Roman" panose="02020603050405020304" pitchFamily="18" charset="0"/>
              </a:rPr>
              <a:t>net</a:t>
            </a:r>
            <a:endParaRPr lang="zh-CN" altLang="en-US" sz="2800" b="1" dirty="0" smtClean="0">
              <a:latin typeface="Times New Roman" panose="02020603050405020304" pitchFamily="18" charset="0"/>
            </a:endParaRPr>
          </a:p>
          <a:p>
            <a:r>
              <a:rPr lang="zh-CN" altLang="en-US" sz="2800" b="1" dirty="0" smtClean="0">
                <a:latin typeface="Times New Roman" panose="02020603050405020304" pitchFamily="18" charset="0"/>
              </a:rPr>
              <a:t>在压气机的分析中指出，用压气机将气体从压力</a:t>
            </a:r>
            <a:r>
              <a:rPr lang="en-US" altLang="zh-CN" sz="2800" b="1" i="1" dirty="0" smtClean="0">
                <a:latin typeface="Times New Roman" panose="02020603050405020304" pitchFamily="18" charset="0"/>
              </a:rPr>
              <a:t>p</a:t>
            </a:r>
            <a:r>
              <a:rPr lang="en-US" altLang="zh-CN" sz="2800" b="1" baseline="-25000" dirty="0" smtClean="0">
                <a:latin typeface="Times New Roman" panose="02020603050405020304" pitchFamily="18" charset="0"/>
              </a:rPr>
              <a:t>1</a:t>
            </a:r>
            <a:r>
              <a:rPr lang="zh-CN" altLang="en-US" sz="2800" b="1" dirty="0" smtClean="0">
                <a:latin typeface="Times New Roman" panose="02020603050405020304" pitchFamily="18" charset="0"/>
              </a:rPr>
              <a:t>压缩至</a:t>
            </a:r>
            <a:r>
              <a:rPr lang="en-US" altLang="zh-CN" sz="2800" b="1" i="1" dirty="0" smtClean="0">
                <a:latin typeface="Times New Roman" panose="02020603050405020304" pitchFamily="18" charset="0"/>
              </a:rPr>
              <a:t>p</a:t>
            </a:r>
            <a:r>
              <a:rPr lang="en-US" altLang="zh-CN" sz="2800" b="1" baseline="-25000" dirty="0" smtClean="0">
                <a:latin typeface="Times New Roman" panose="02020603050405020304" pitchFamily="18" charset="0"/>
              </a:rPr>
              <a:t>2</a:t>
            </a:r>
            <a:r>
              <a:rPr lang="zh-CN" altLang="en-US" sz="2800" b="1" dirty="0" smtClean="0">
                <a:latin typeface="Times New Roman" panose="02020603050405020304" pitchFamily="18" charset="0"/>
              </a:rPr>
              <a:t>时，采用</a:t>
            </a:r>
            <a:r>
              <a:rPr lang="zh-CN" altLang="en-US" sz="2800" b="1" dirty="0" smtClean="0">
                <a:solidFill>
                  <a:srgbClr val="FF0000"/>
                </a:solidFill>
                <a:latin typeface="Times New Roman" panose="02020603050405020304" pitchFamily="18" charset="0"/>
              </a:rPr>
              <a:t>多级压缩、级间冷却</a:t>
            </a:r>
            <a:r>
              <a:rPr lang="zh-CN" altLang="en-US" sz="2800" b="1" dirty="0" smtClean="0">
                <a:latin typeface="Times New Roman" panose="02020603050405020304" pitchFamily="18" charset="0"/>
              </a:rPr>
              <a:t>的方式可以有效地减少压气机的耗功量，且级数越多，压缩过程越接近于定温过程，消耗的功也就越少</a:t>
            </a:r>
            <a:r>
              <a:rPr lang="zh-CN" altLang="en-US" sz="2800" b="1" dirty="0" smtClean="0"/>
              <a:t> </a:t>
            </a:r>
          </a:p>
        </p:txBody>
      </p:sp>
      <p:sp>
        <p:nvSpPr>
          <p:cNvPr id="4" name="矩形 291843"/>
          <p:cNvSpPr>
            <a:spLocks noChangeArrowheads="1"/>
          </p:cNvSpPr>
          <p:nvPr/>
        </p:nvSpPr>
        <p:spPr bwMode="auto">
          <a:xfrm>
            <a:off x="359223" y="275604"/>
            <a:ext cx="852636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dirty="0"/>
              <a:t>二、在回热基础上多级压缩、级间冷却和多级膨胀、级间再热</a:t>
            </a:r>
          </a:p>
        </p:txBody>
      </p:sp>
    </p:spTree>
    <p:extLst>
      <p:ext uri="{BB962C8B-B14F-4D97-AF65-F5344CB8AC3E}">
        <p14:creationId xmlns:p14="http://schemas.microsoft.com/office/powerpoint/2010/main" val="42363318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图片 2959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309215"/>
            <a:ext cx="3708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483" y="1020080"/>
            <a:ext cx="3627434" cy="3889585"/>
          </a:xfrm>
          <a:prstGeom prst="rect">
            <a:avLst/>
          </a:prstGeom>
        </p:spPr>
      </p:pic>
      <p:sp>
        <p:nvSpPr>
          <p:cNvPr id="6" name="标题 292868"/>
          <p:cNvSpPr txBox="1">
            <a:spLocks noChangeArrowheads="1"/>
          </p:cNvSpPr>
          <p:nvPr/>
        </p:nvSpPr>
        <p:spPr>
          <a:xfrm>
            <a:off x="1349088" y="5013325"/>
            <a:ext cx="1885950" cy="699297"/>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2800" b="1" dirty="0" smtClean="0">
                <a:solidFill>
                  <a:srgbClr val="FF0000"/>
                </a:solidFill>
              </a:rPr>
              <a:t>两级压缩</a:t>
            </a:r>
          </a:p>
        </p:txBody>
      </p:sp>
      <p:sp>
        <p:nvSpPr>
          <p:cNvPr id="5" name="矩形 4"/>
          <p:cNvSpPr/>
          <p:nvPr/>
        </p:nvSpPr>
        <p:spPr>
          <a:xfrm>
            <a:off x="5611714" y="4956383"/>
            <a:ext cx="1628972" cy="523220"/>
          </a:xfrm>
          <a:prstGeom prst="rect">
            <a:avLst/>
          </a:prstGeom>
        </p:spPr>
        <p:txBody>
          <a:bodyPr wrap="none">
            <a:spAutoFit/>
          </a:bodyPr>
          <a:lstStyle/>
          <a:p>
            <a:pPr lvl="0"/>
            <a:r>
              <a:rPr lang="zh-CN" altLang="en-US" sz="2800" b="1" dirty="0" smtClean="0">
                <a:solidFill>
                  <a:srgbClr val="FF0000"/>
                </a:solidFill>
              </a:rPr>
              <a:t>四级</a:t>
            </a:r>
            <a:r>
              <a:rPr lang="zh-CN" altLang="en-US" sz="2800" b="1" dirty="0">
                <a:solidFill>
                  <a:srgbClr val="FF0000"/>
                </a:solidFill>
              </a:rPr>
              <a:t>压缩</a:t>
            </a:r>
          </a:p>
        </p:txBody>
      </p:sp>
    </p:spTree>
    <p:extLst>
      <p:ext uri="{BB962C8B-B14F-4D97-AF65-F5344CB8AC3E}">
        <p14:creationId xmlns:p14="http://schemas.microsoft.com/office/powerpoint/2010/main" val="3934345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文本占位符 296962"/>
          <p:cNvSpPr>
            <a:spLocks noGrp="1" noChangeArrowheads="1"/>
          </p:cNvSpPr>
          <p:nvPr>
            <p:ph idx="1"/>
          </p:nvPr>
        </p:nvSpPr>
        <p:spPr>
          <a:xfrm>
            <a:off x="457200" y="2180258"/>
            <a:ext cx="8229600" cy="2692400"/>
          </a:xfrm>
        </p:spPr>
        <p:txBody>
          <a:bodyPr/>
          <a:lstStyle/>
          <a:p>
            <a:r>
              <a:rPr lang="zh-CN" altLang="en-US" sz="2800" b="1" dirty="0" smtClean="0">
                <a:latin typeface="Times New Roman" panose="02020603050405020304" pitchFamily="18" charset="0"/>
              </a:rPr>
              <a:t>类似地，当工质在燃机轮机中从压力</a:t>
            </a:r>
            <a:r>
              <a:rPr lang="en-US" altLang="zh-CN" sz="2800" b="1" i="1" dirty="0" smtClean="0">
                <a:latin typeface="Times New Roman" panose="02020603050405020304" pitchFamily="18" charset="0"/>
              </a:rPr>
              <a:t>p</a:t>
            </a:r>
            <a:r>
              <a:rPr lang="en-US" altLang="zh-CN" sz="2800" b="1" baseline="-25000" dirty="0" smtClean="0">
                <a:latin typeface="Times New Roman" panose="02020603050405020304" pitchFamily="18" charset="0"/>
              </a:rPr>
              <a:t>1</a:t>
            </a:r>
            <a:r>
              <a:rPr lang="zh-CN" altLang="en-US" sz="2800" b="1" dirty="0" smtClean="0">
                <a:latin typeface="Times New Roman" panose="02020603050405020304" pitchFamily="18" charset="0"/>
              </a:rPr>
              <a:t>膨胀至</a:t>
            </a:r>
            <a:r>
              <a:rPr lang="en-US" altLang="zh-CN" sz="2800" b="1" i="1" dirty="0" smtClean="0">
                <a:latin typeface="Times New Roman" panose="02020603050405020304" pitchFamily="18" charset="0"/>
              </a:rPr>
              <a:t>p</a:t>
            </a:r>
            <a:r>
              <a:rPr lang="en-US" altLang="zh-CN" sz="2800" b="1" baseline="-25000" dirty="0" smtClean="0">
                <a:latin typeface="Times New Roman" panose="02020603050405020304" pitchFamily="18" charset="0"/>
              </a:rPr>
              <a:t>2</a:t>
            </a:r>
            <a:r>
              <a:rPr lang="zh-CN" altLang="en-US" sz="2800" b="1" dirty="0" smtClean="0">
                <a:latin typeface="Times New Roman" panose="02020603050405020304" pitchFamily="18" charset="0"/>
              </a:rPr>
              <a:t>时，采用</a:t>
            </a:r>
            <a:r>
              <a:rPr lang="zh-CN" altLang="en-US" sz="2800" b="1" dirty="0" smtClean="0">
                <a:solidFill>
                  <a:srgbClr val="FF0000"/>
                </a:solidFill>
                <a:latin typeface="Times New Roman" panose="02020603050405020304" pitchFamily="18" charset="0"/>
              </a:rPr>
              <a:t>多级膨胀、级间再热</a:t>
            </a:r>
            <a:r>
              <a:rPr lang="zh-CN" altLang="en-US" sz="2800" b="1" dirty="0" smtClean="0">
                <a:latin typeface="Times New Roman" panose="02020603050405020304" pitchFamily="18" charset="0"/>
              </a:rPr>
              <a:t>（即再次加热）的方式可以增加燃气轮机输出的功量，且此种方法并不会增加循环中工质的最高温度。级数越多，膨胀过程越接近于定温过程，燃气轮机输出的功也就越多。</a:t>
            </a:r>
          </a:p>
        </p:txBody>
      </p:sp>
      <p:sp>
        <p:nvSpPr>
          <p:cNvPr id="121858" name="矩形 296964"/>
          <p:cNvSpPr>
            <a:spLocks noChangeArrowheads="1"/>
          </p:cNvSpPr>
          <p:nvPr/>
        </p:nvSpPr>
        <p:spPr bwMode="auto">
          <a:xfrm>
            <a:off x="0" y="1585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4" name="标题 292868"/>
          <p:cNvSpPr>
            <a:spLocks noGrp="1" noChangeArrowheads="1"/>
          </p:cNvSpPr>
          <p:nvPr>
            <p:ph type="title"/>
          </p:nvPr>
        </p:nvSpPr>
        <p:spPr>
          <a:xfrm>
            <a:off x="628650" y="644594"/>
            <a:ext cx="7886700" cy="1325563"/>
          </a:xfrm>
        </p:spPr>
        <p:txBody>
          <a:bodyPr>
            <a:normAutofit/>
          </a:bodyPr>
          <a:lstStyle/>
          <a:p>
            <a:r>
              <a:rPr lang="zh-CN" altLang="en-US" sz="4000" b="1" dirty="0" smtClean="0">
                <a:solidFill>
                  <a:srgbClr val="0070C0"/>
                </a:solidFill>
              </a:rPr>
              <a:t>设计思路</a:t>
            </a:r>
            <a:r>
              <a:rPr lang="en-US" altLang="zh-CN" sz="4000" b="1" dirty="0" smtClean="0">
                <a:solidFill>
                  <a:srgbClr val="0070C0"/>
                </a:solidFill>
              </a:rPr>
              <a:t>(</a:t>
            </a:r>
            <a:r>
              <a:rPr lang="zh-CN" altLang="en-US" sz="4000" b="1" dirty="0" smtClean="0">
                <a:solidFill>
                  <a:srgbClr val="0070C0"/>
                </a:solidFill>
              </a:rPr>
              <a:t>续</a:t>
            </a:r>
            <a:r>
              <a:rPr lang="en-US" altLang="zh-CN" sz="4000" b="1" dirty="0" smtClean="0">
                <a:solidFill>
                  <a:srgbClr val="0070C0"/>
                </a:solidFill>
              </a:rPr>
              <a:t>)</a:t>
            </a:r>
            <a:endParaRPr lang="zh-CN" altLang="en-US" sz="4000" b="1" dirty="0" smtClean="0">
              <a:solidFill>
                <a:srgbClr val="0070C0"/>
              </a:solidFill>
            </a:endParaRPr>
          </a:p>
        </p:txBody>
      </p:sp>
    </p:spTree>
    <p:extLst>
      <p:ext uri="{BB962C8B-B14F-4D97-AF65-F5344CB8AC3E}">
        <p14:creationId xmlns:p14="http://schemas.microsoft.com/office/powerpoint/2010/main" val="26852117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矩形 297988"/>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122883" name="矩形 297990"/>
          <p:cNvSpPr>
            <a:spLocks noChangeArrowheads="1"/>
          </p:cNvSpPr>
          <p:nvPr/>
        </p:nvSpPr>
        <p:spPr bwMode="auto">
          <a:xfrm>
            <a:off x="684213" y="4581525"/>
            <a:ext cx="345598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t>两级压缩、级间冷却和两级膨胀、级间再热的</a:t>
            </a:r>
            <a:r>
              <a:rPr lang="zh-CN" altLang="en-US" sz="2400" b="1">
                <a:solidFill>
                  <a:srgbClr val="FF0000"/>
                </a:solidFill>
              </a:rPr>
              <a:t>极限回热</a:t>
            </a:r>
            <a:r>
              <a:rPr lang="zh-CN" altLang="en-US" sz="2400" b="1"/>
              <a:t>燃气轮机循环 </a:t>
            </a:r>
          </a:p>
        </p:txBody>
      </p:sp>
      <p:sp>
        <p:nvSpPr>
          <p:cNvPr id="122884" name="矩形 297992"/>
          <p:cNvSpPr>
            <a:spLocks noChangeArrowheads="1"/>
          </p:cNvSpPr>
          <p:nvPr/>
        </p:nvSpPr>
        <p:spPr bwMode="auto">
          <a:xfrm>
            <a:off x="0" y="1666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45" y="141133"/>
            <a:ext cx="5761219" cy="4206605"/>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3056" y="3125709"/>
            <a:ext cx="3724979" cy="3529890"/>
          </a:xfrm>
          <a:prstGeom prst="rect">
            <a:avLst/>
          </a:prstGeom>
        </p:spPr>
      </p:pic>
    </p:spTree>
    <p:extLst>
      <p:ext uri="{BB962C8B-B14F-4D97-AF65-F5344CB8AC3E}">
        <p14:creationId xmlns:p14="http://schemas.microsoft.com/office/powerpoint/2010/main" val="4039328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299021"/>
          <p:cNvSpPr>
            <a:spLocks noChangeArrowheads="1"/>
          </p:cNvSpPr>
          <p:nvPr/>
        </p:nvSpPr>
        <p:spPr bwMode="auto">
          <a:xfrm>
            <a:off x="770572" y="4745534"/>
            <a:ext cx="734472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nchor="ctr">
            <a:spAutoFit/>
          </a:bodyPr>
          <a:lstStyle/>
          <a:p>
            <a:r>
              <a:rPr lang="en-US" altLang="zh-CN" sz="2400" b="1" dirty="0" smtClean="0"/>
              <a:t>(1)</a:t>
            </a:r>
            <a:r>
              <a:rPr lang="zh-CN" altLang="en-US" sz="2400" b="1" dirty="0" smtClean="0"/>
              <a:t>在</a:t>
            </a:r>
            <a:r>
              <a:rPr lang="zh-CN" altLang="en-US" sz="2400" b="1" dirty="0"/>
              <a:t>相同的压力范围内，多级压缩、级间冷却可以</a:t>
            </a:r>
            <a:r>
              <a:rPr lang="zh-CN" altLang="en-US" sz="2400" b="1" dirty="0">
                <a:solidFill>
                  <a:srgbClr val="FF0000"/>
                </a:solidFill>
              </a:rPr>
              <a:t>降低压气机的出口温度</a:t>
            </a:r>
            <a:r>
              <a:rPr lang="zh-CN" altLang="en-US" sz="2400" b="1" dirty="0"/>
              <a:t>，而多级膨胀、级间再热可以</a:t>
            </a:r>
            <a:r>
              <a:rPr lang="zh-CN" altLang="en-US" sz="2400" b="1" dirty="0">
                <a:solidFill>
                  <a:srgbClr val="FF0000"/>
                </a:solidFill>
              </a:rPr>
              <a:t>提高燃气轮机的排气温度</a:t>
            </a:r>
            <a:r>
              <a:rPr lang="zh-CN" altLang="en-US" sz="2400" b="1" dirty="0"/>
              <a:t>，这使得循环可以</a:t>
            </a:r>
            <a:r>
              <a:rPr lang="zh-CN" altLang="en-US" sz="2400" b="1" dirty="0">
                <a:solidFill>
                  <a:srgbClr val="0000FF"/>
                </a:solidFill>
              </a:rPr>
              <a:t>在较大的温度范围内进行回热</a:t>
            </a:r>
            <a:r>
              <a:rPr lang="zh-CN" altLang="en-US" sz="2400" b="1" dirty="0"/>
              <a:t> </a:t>
            </a:r>
          </a:p>
        </p:txBody>
      </p:sp>
      <p:sp>
        <p:nvSpPr>
          <p:cNvPr id="4" name="矩形 3"/>
          <p:cNvSpPr/>
          <p:nvPr/>
        </p:nvSpPr>
        <p:spPr>
          <a:xfrm>
            <a:off x="863611" y="4059477"/>
            <a:ext cx="2659702" cy="461665"/>
          </a:xfrm>
          <a:prstGeom prst="rect">
            <a:avLst/>
          </a:prstGeom>
        </p:spPr>
        <p:txBody>
          <a:bodyPr wrap="none">
            <a:spAutoFit/>
          </a:bodyPr>
          <a:lstStyle/>
          <a:p>
            <a:r>
              <a:rPr lang="zh-CN" altLang="en-US" sz="2400" b="1" dirty="0" smtClean="0">
                <a:solidFill>
                  <a:prstClr val="black"/>
                </a:solidFill>
              </a:rPr>
              <a:t>从图中可以看到：</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2584" y="305195"/>
            <a:ext cx="3724979" cy="3529890"/>
          </a:xfrm>
          <a:prstGeom prst="rect">
            <a:avLst/>
          </a:prstGeom>
        </p:spPr>
      </p:pic>
    </p:spTree>
    <p:extLst>
      <p:ext uri="{BB962C8B-B14F-4D97-AF65-F5344CB8AC3E}">
        <p14:creationId xmlns:p14="http://schemas.microsoft.com/office/powerpoint/2010/main" val="2581623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299021"/>
          <p:cNvSpPr>
            <a:spLocks noChangeArrowheads="1"/>
          </p:cNvSpPr>
          <p:nvPr/>
        </p:nvSpPr>
        <p:spPr bwMode="auto">
          <a:xfrm>
            <a:off x="605474" y="4375203"/>
            <a:ext cx="811942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nchor="ctr">
            <a:spAutoFit/>
          </a:bodyPr>
          <a:lstStyle/>
          <a:p>
            <a:r>
              <a:rPr lang="en-US" altLang="zh-CN" sz="2400" b="1" dirty="0" smtClean="0"/>
              <a:t>(2)</a:t>
            </a:r>
            <a:r>
              <a:rPr lang="zh-CN" altLang="zh-CN" sz="2400" b="1" dirty="0" smtClean="0"/>
              <a:t>这种</a:t>
            </a:r>
            <a:r>
              <a:rPr lang="zh-CN" altLang="zh-CN" sz="2400" b="1" dirty="0"/>
              <a:t>循环中从热源吸热的过程</a:t>
            </a:r>
            <a:r>
              <a:rPr lang="en-US" altLang="zh-CN" sz="2400" b="1" dirty="0"/>
              <a:t>5-6</a:t>
            </a:r>
            <a:r>
              <a:rPr lang="zh-CN" altLang="zh-CN" sz="2400" b="1" dirty="0"/>
              <a:t>和</a:t>
            </a:r>
            <a:r>
              <a:rPr lang="en-US" altLang="zh-CN" sz="2400" b="1" dirty="0"/>
              <a:t>7-8</a:t>
            </a:r>
            <a:r>
              <a:rPr lang="zh-CN" altLang="zh-CN" sz="2400" b="1" dirty="0"/>
              <a:t>都是在接近循环最高温度的一个较小温度范围内进行，</a:t>
            </a:r>
            <a:r>
              <a:rPr lang="zh-CN" altLang="zh-CN" sz="2400" b="1" dirty="0">
                <a:solidFill>
                  <a:srgbClr val="FF0000"/>
                </a:solidFill>
              </a:rPr>
              <a:t>所以循环的平均吸热温度较高</a:t>
            </a:r>
            <a:r>
              <a:rPr lang="zh-CN" altLang="zh-CN" sz="2400" b="1" dirty="0" smtClean="0"/>
              <a:t>；向</a:t>
            </a:r>
            <a:r>
              <a:rPr lang="zh-CN" altLang="zh-CN" sz="2400" b="1" dirty="0"/>
              <a:t>冷源放热的过程</a:t>
            </a:r>
            <a:r>
              <a:rPr lang="en-US" altLang="zh-CN" sz="2400" b="1" dirty="0"/>
              <a:t>10-1</a:t>
            </a:r>
            <a:r>
              <a:rPr lang="zh-CN" altLang="zh-CN" sz="2400" b="1" dirty="0"/>
              <a:t>和</a:t>
            </a:r>
            <a:r>
              <a:rPr lang="en-US" altLang="zh-CN" sz="2400" b="1" dirty="0"/>
              <a:t>2-3</a:t>
            </a:r>
            <a:r>
              <a:rPr lang="zh-CN" altLang="zh-CN" sz="2400" b="1" dirty="0"/>
              <a:t>都是在循环最低温度附近的一个较小温度范围内进行，所以</a:t>
            </a:r>
            <a:r>
              <a:rPr lang="zh-CN" altLang="zh-CN" sz="2400" b="1" dirty="0">
                <a:solidFill>
                  <a:srgbClr val="FF0000"/>
                </a:solidFill>
              </a:rPr>
              <a:t>循环的平均放热温度较低</a:t>
            </a:r>
            <a:r>
              <a:rPr lang="zh-CN" altLang="zh-CN" sz="2400" b="1" dirty="0"/>
              <a:t>，因此</a:t>
            </a:r>
            <a:r>
              <a:rPr lang="zh-CN" altLang="zh-CN" sz="2400" b="1" dirty="0">
                <a:solidFill>
                  <a:srgbClr val="0000FF"/>
                </a:solidFill>
              </a:rPr>
              <a:t>循环有较高的热效率。</a:t>
            </a:r>
            <a:endParaRPr lang="zh-CN" altLang="en-US" sz="2400" b="1" dirty="0">
              <a:solidFill>
                <a:srgbClr val="0000FF"/>
              </a:solidFill>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2697" y="465636"/>
            <a:ext cx="3724979" cy="3529890"/>
          </a:xfrm>
          <a:prstGeom prst="rect">
            <a:avLst/>
          </a:prstGeom>
        </p:spPr>
      </p:pic>
    </p:spTree>
    <p:extLst>
      <p:ext uri="{BB962C8B-B14F-4D97-AF65-F5344CB8AC3E}">
        <p14:creationId xmlns:p14="http://schemas.microsoft.com/office/powerpoint/2010/main" val="16383879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矩形 304132"/>
          <p:cNvSpPr>
            <a:spLocks noChangeArrowheads="1"/>
          </p:cNvSpPr>
          <p:nvPr/>
        </p:nvSpPr>
        <p:spPr bwMode="auto">
          <a:xfrm>
            <a:off x="0" y="2319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eaLnBrk="0" hangingPunct="0"/>
            <a:endParaRPr lang="zh-CN" altLang="en-US"/>
          </a:p>
        </p:txBody>
      </p:sp>
      <p:sp>
        <p:nvSpPr>
          <p:cNvPr id="7" name="矩形 299021"/>
          <p:cNvSpPr>
            <a:spLocks noChangeArrowheads="1"/>
          </p:cNvSpPr>
          <p:nvPr/>
        </p:nvSpPr>
        <p:spPr bwMode="auto">
          <a:xfrm>
            <a:off x="512287" y="3802670"/>
            <a:ext cx="811942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nchor="ctr">
            <a:spAutoFit/>
          </a:bodyPr>
          <a:lstStyle/>
          <a:p>
            <a:r>
              <a:rPr lang="en-US" altLang="zh-CN" sz="2400" b="1" dirty="0" smtClean="0"/>
              <a:t>(3)</a:t>
            </a:r>
            <a:r>
              <a:rPr lang="zh-CN" altLang="zh-CN" sz="2400" b="1" dirty="0"/>
              <a:t>随着压缩和膨胀级数的增多，回热的温度范围增大，平均吸热温度和平均放热温度各自向循环的最高温度和最低温度靠近，因而循环的热效率进一步提高。在极限情况下，当级数趋于无限多时，压缩和膨胀过程趋于定温，此时的循环由两个定温过程和两个定压过程组成，且两个定压过程是</a:t>
            </a:r>
            <a:r>
              <a:rPr lang="en-US" altLang="zh-CN" sz="2400" b="1" i="1" dirty="0" err="1">
                <a:latin typeface="Times New Roman" panose="02020603050405020304" pitchFamily="18" charset="0"/>
                <a:cs typeface="Times New Roman" panose="02020603050405020304" pitchFamily="18" charset="0"/>
              </a:rPr>
              <a:t>T</a:t>
            </a:r>
            <a:r>
              <a:rPr lang="en-US" altLang="zh-CN" sz="2400" b="1" baseline="-25000" dirty="0" err="1">
                <a:latin typeface="Times New Roman" panose="02020603050405020304" pitchFamily="18" charset="0"/>
                <a:cs typeface="Times New Roman" panose="02020603050405020304" pitchFamily="18" charset="0"/>
              </a:rPr>
              <a:t>max</a:t>
            </a:r>
            <a:r>
              <a:rPr lang="zh-CN" altLang="zh-CN" sz="2400" b="1" dirty="0" smtClean="0">
                <a:latin typeface="Times New Roman" panose="02020603050405020304" pitchFamily="18" charset="0"/>
                <a:cs typeface="Times New Roman" panose="02020603050405020304" pitchFamily="18" charset="0"/>
              </a:rPr>
              <a:t>和</a:t>
            </a:r>
            <a:r>
              <a:rPr lang="en-US" altLang="zh-CN" sz="2400" b="1" i="1" dirty="0" err="1" smtClean="0">
                <a:latin typeface="Times New Roman" panose="02020603050405020304" pitchFamily="18" charset="0"/>
                <a:cs typeface="Times New Roman" panose="02020603050405020304" pitchFamily="18" charset="0"/>
              </a:rPr>
              <a:t>T</a:t>
            </a:r>
            <a:r>
              <a:rPr lang="en-US" altLang="zh-CN" sz="2400" b="1" baseline="-25000" dirty="0" err="1" smtClean="0">
                <a:latin typeface="Times New Roman" panose="02020603050405020304" pitchFamily="18" charset="0"/>
                <a:cs typeface="Times New Roman" panose="02020603050405020304" pitchFamily="18" charset="0"/>
              </a:rPr>
              <a:t>min</a:t>
            </a:r>
            <a:r>
              <a:rPr lang="zh-CN" altLang="zh-CN" sz="2400" b="1" dirty="0" smtClean="0"/>
              <a:t>之间</a:t>
            </a:r>
            <a:r>
              <a:rPr lang="zh-CN" altLang="zh-CN" sz="2400" b="1" dirty="0"/>
              <a:t>的极限回热过程，称为埃尔逊</a:t>
            </a:r>
            <a:r>
              <a:rPr lang="zh-CN"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Ericsson</a:t>
            </a:r>
            <a:r>
              <a:rPr lang="zh-CN" altLang="zh-CN" sz="2400" b="1" dirty="0">
                <a:latin typeface="Times New Roman" panose="02020603050405020304" pitchFamily="18" charset="0"/>
                <a:cs typeface="Times New Roman" panose="02020603050405020304" pitchFamily="18" charset="0"/>
              </a:rPr>
              <a:t>）</a:t>
            </a:r>
            <a:r>
              <a:rPr lang="zh-CN" altLang="zh-CN" sz="2400" b="1" dirty="0"/>
              <a:t>循环。</a:t>
            </a:r>
            <a:endParaRPr lang="zh-CN" altLang="en-US" sz="2400" b="1" dirty="0">
              <a:solidFill>
                <a:srgbClr val="0000FF"/>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3932" y="577331"/>
            <a:ext cx="6480610" cy="2932430"/>
          </a:xfrm>
          <a:prstGeom prst="rect">
            <a:avLst/>
          </a:prstGeom>
        </p:spPr>
      </p:pic>
    </p:spTree>
    <p:extLst>
      <p:ext uri="{BB962C8B-B14F-4D97-AF65-F5344CB8AC3E}">
        <p14:creationId xmlns:p14="http://schemas.microsoft.com/office/powerpoint/2010/main" val="4183187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304133"/>
          <p:cNvGraphicFramePr>
            <a:graphicFrameLocks noChangeAspect="1"/>
          </p:cNvGraphicFramePr>
          <p:nvPr>
            <p:extLst/>
          </p:nvPr>
        </p:nvGraphicFramePr>
        <p:xfrm>
          <a:off x="2905866" y="4723783"/>
          <a:ext cx="2507163" cy="571253"/>
        </p:xfrm>
        <a:graphic>
          <a:graphicData uri="http://schemas.openxmlformats.org/presentationml/2006/ole">
            <mc:AlternateContent xmlns:mc="http://schemas.openxmlformats.org/markup-compatibility/2006">
              <mc:Choice xmlns:v="urn:schemas-microsoft-com:vml" Requires="v">
                <p:oleObj spid="_x0000_s67600" name="Equation" r:id="rId3" imgW="1002865" imgH="228501" progId="Equation.DSMT4">
                  <p:embed/>
                </p:oleObj>
              </mc:Choice>
              <mc:Fallback>
                <p:oleObj name="Equation" r:id="rId3" imgW="1002865" imgH="228501" progId="Equation.DSMT4">
                  <p:embed/>
                  <p:pic>
                    <p:nvPicPr>
                      <p:cNvPr id="2" name="对象 3041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866" y="4723783"/>
                        <a:ext cx="2507163" cy="57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304135"/>
          <p:cNvSpPr>
            <a:spLocks noChangeArrowheads="1"/>
          </p:cNvSpPr>
          <p:nvPr/>
        </p:nvSpPr>
        <p:spPr bwMode="auto">
          <a:xfrm>
            <a:off x="534353" y="3771679"/>
            <a:ext cx="82248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800" b="1" dirty="0" smtClean="0"/>
              <a:t>埃尔逊</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Ericsson</a:t>
            </a:r>
            <a:r>
              <a:rPr lang="zh-CN" altLang="en-US" sz="2800" b="1" dirty="0">
                <a:latin typeface="Times New Roman" panose="02020603050405020304" pitchFamily="18" charset="0"/>
                <a:cs typeface="Times New Roman" panose="02020603050405020304" pitchFamily="18" charset="0"/>
              </a:rPr>
              <a:t>）</a:t>
            </a:r>
            <a:r>
              <a:rPr lang="zh-CN" altLang="en-US" sz="2800" b="1" dirty="0" smtClean="0"/>
              <a:t>循环属于</a:t>
            </a:r>
            <a:r>
              <a:rPr lang="zh-CN" altLang="en-US" sz="2800" b="1" dirty="0">
                <a:solidFill>
                  <a:srgbClr val="FF0000"/>
                </a:solidFill>
              </a:rPr>
              <a:t>概括性卡诺循环</a:t>
            </a:r>
            <a:r>
              <a:rPr lang="zh-CN" altLang="en-US" sz="2800" b="1" dirty="0" smtClean="0"/>
              <a:t>，其热效率为</a:t>
            </a:r>
            <a:endParaRPr lang="zh-CN" altLang="en-US" dirty="0"/>
          </a:p>
        </p:txBody>
      </p:sp>
      <p:sp>
        <p:nvSpPr>
          <p:cNvPr id="5" name="矩形 304135"/>
          <p:cNvSpPr>
            <a:spLocks noChangeArrowheads="1"/>
          </p:cNvSpPr>
          <p:nvPr/>
        </p:nvSpPr>
        <p:spPr bwMode="auto">
          <a:xfrm>
            <a:off x="607590" y="5507302"/>
            <a:ext cx="82248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800" b="1" dirty="0" smtClean="0"/>
              <a:t>与</a:t>
            </a:r>
            <a:r>
              <a:rPr lang="zh-CN" altLang="en-US" sz="2800" b="1" dirty="0"/>
              <a:t>相同温度范围的卡诺循环的热效率相等</a:t>
            </a:r>
            <a:r>
              <a:rPr lang="zh-CN" altLang="en-US" dirty="0"/>
              <a:t> </a:t>
            </a:r>
          </a:p>
        </p:txBody>
      </p:sp>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3932" y="577331"/>
            <a:ext cx="6480610" cy="2932430"/>
          </a:xfrm>
          <a:prstGeom prst="rect">
            <a:avLst/>
          </a:prstGeom>
        </p:spPr>
      </p:pic>
    </p:spTree>
    <p:extLst>
      <p:ext uri="{BB962C8B-B14F-4D97-AF65-F5344CB8AC3E}">
        <p14:creationId xmlns:p14="http://schemas.microsoft.com/office/powerpoint/2010/main" val="11211135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文本占位符 305154"/>
          <p:cNvSpPr>
            <a:spLocks noGrp="1" noChangeArrowheads="1"/>
          </p:cNvSpPr>
          <p:nvPr>
            <p:ph idx="1"/>
          </p:nvPr>
        </p:nvSpPr>
        <p:spPr>
          <a:xfrm>
            <a:off x="514696" y="950568"/>
            <a:ext cx="8229600" cy="2309467"/>
          </a:xfrm>
        </p:spPr>
        <p:txBody>
          <a:bodyPr/>
          <a:lstStyle/>
          <a:p>
            <a:pPr marL="0" indent="0">
              <a:buNone/>
            </a:pPr>
            <a:r>
              <a:rPr lang="en-US" altLang="zh-CN" sz="2800" b="1" dirty="0" smtClean="0"/>
              <a:t>(4)</a:t>
            </a:r>
            <a:r>
              <a:rPr lang="zh-CN" altLang="en-US" sz="2800" b="1" dirty="0" smtClean="0"/>
              <a:t>虽然理论上级数越多，热效率越高（极限为卡诺循环的热效率），但实际应用中，级数太多设备过于复杂，机械摩擦损失和流动阻力等不可逆因素增加。且级数越多，每增加一级对热效率提高的作用会越来越小，一般为</a:t>
            </a:r>
            <a:r>
              <a:rPr lang="en-US" altLang="zh-CN" sz="2800" b="1" dirty="0" smtClean="0">
                <a:latin typeface="Times New Roman" panose="02020603050405020304" pitchFamily="18" charset="0"/>
                <a:cs typeface="Times New Roman" panose="02020603050405020304" pitchFamily="18" charset="0"/>
              </a:rPr>
              <a:t>2~4</a:t>
            </a:r>
            <a:r>
              <a:rPr lang="zh-CN" altLang="en-US" sz="2800" b="1" dirty="0" smtClean="0"/>
              <a:t>级。 </a:t>
            </a:r>
          </a:p>
          <a:p>
            <a:pPr marL="0" indent="0">
              <a:buNone/>
            </a:pPr>
            <a:endParaRPr lang="zh-CN" altLang="en-US" sz="2800" b="1" dirty="0" smtClean="0"/>
          </a:p>
        </p:txBody>
      </p:sp>
    </p:spTree>
    <p:extLst>
      <p:ext uri="{BB962C8B-B14F-4D97-AF65-F5344CB8AC3E}">
        <p14:creationId xmlns:p14="http://schemas.microsoft.com/office/powerpoint/2010/main" val="38867942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62000" y="2877165"/>
            <a:ext cx="7600122" cy="2547364"/>
          </a:xfrm>
          <a:prstGeom prst="rect">
            <a:avLst/>
          </a:prstGeom>
        </p:spPr>
        <p:txBody>
          <a:bodyPr wrap="square">
            <a:spAutoFit/>
          </a:bodyPr>
          <a:lstStyle/>
          <a:p>
            <a:pPr lvl="0">
              <a:lnSpc>
                <a:spcPct val="90000"/>
              </a:lnSpc>
              <a:spcBef>
                <a:spcPts val="1000"/>
              </a:spcBef>
            </a:pPr>
            <a:r>
              <a:rPr lang="zh-CN" altLang="en-US" sz="2800" b="1" dirty="0">
                <a:solidFill>
                  <a:srgbClr val="000000"/>
                </a:solidFill>
              </a:rPr>
              <a:t>多级压缩、级间冷却和多级膨胀、级间再热</a:t>
            </a:r>
            <a:r>
              <a:rPr lang="zh-CN" altLang="en-US" sz="2800" b="1" dirty="0">
                <a:solidFill>
                  <a:srgbClr val="FF0000"/>
                </a:solidFill>
              </a:rPr>
              <a:t>只有在回热的基础上</a:t>
            </a:r>
            <a:r>
              <a:rPr lang="zh-CN" altLang="en-US" sz="2800" b="1" dirty="0">
                <a:solidFill>
                  <a:srgbClr val="000000"/>
                </a:solidFill>
              </a:rPr>
              <a:t>进行才能提高装置的热效率，若不采用回热，循环的热效率反而降低</a:t>
            </a:r>
            <a:r>
              <a:rPr lang="zh-CN" altLang="en-US" sz="2800" b="1" dirty="0" smtClean="0">
                <a:solidFill>
                  <a:srgbClr val="000000"/>
                </a:solidFill>
              </a:rPr>
              <a:t>。</a:t>
            </a:r>
            <a:r>
              <a:rPr lang="zh-CN" altLang="zh-CN" sz="2800" b="1" dirty="0">
                <a:solidFill>
                  <a:srgbClr val="000000"/>
                </a:solidFill>
              </a:rPr>
              <a:t>正因如此，需要将多级压缩、级间冷却和多级膨胀、级间再热技术与回热技术结合起来应用。</a:t>
            </a:r>
            <a:endParaRPr lang="en-US" altLang="zh-CN" sz="2800" b="1" dirty="0">
              <a:solidFill>
                <a:srgbClr val="000000"/>
              </a:solidFill>
            </a:endParaRPr>
          </a:p>
          <a:p>
            <a:pPr lvl="0">
              <a:lnSpc>
                <a:spcPct val="90000"/>
              </a:lnSpc>
              <a:spcBef>
                <a:spcPts val="1000"/>
              </a:spcBef>
            </a:pPr>
            <a:r>
              <a:rPr lang="zh-CN" altLang="en-US" sz="2800" b="1" dirty="0">
                <a:solidFill>
                  <a:srgbClr val="000000"/>
                </a:solidFill>
              </a:rPr>
              <a:t> </a:t>
            </a:r>
          </a:p>
        </p:txBody>
      </p:sp>
      <p:sp>
        <p:nvSpPr>
          <p:cNvPr id="5" name="爆炸形 1 4"/>
          <p:cNvSpPr/>
          <p:nvPr/>
        </p:nvSpPr>
        <p:spPr>
          <a:xfrm>
            <a:off x="815008" y="1001260"/>
            <a:ext cx="3253409" cy="1384852"/>
          </a:xfrm>
          <a:prstGeom prst="irregularSeal1">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tx1"/>
                </a:solidFill>
              </a:rPr>
              <a:t>特别注意</a:t>
            </a:r>
          </a:p>
        </p:txBody>
      </p:sp>
    </p:spTree>
    <p:extLst>
      <p:ext uri="{BB962C8B-B14F-4D97-AF65-F5344CB8AC3E}">
        <p14:creationId xmlns:p14="http://schemas.microsoft.com/office/powerpoint/2010/main" val="730458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9624" y="401016"/>
            <a:ext cx="7886700" cy="599523"/>
          </a:xfrm>
        </p:spPr>
        <p:txBody>
          <a:bodyPr>
            <a:normAutofit/>
          </a:bodyPr>
          <a:lstStyle/>
          <a:p>
            <a:pPr marL="0" indent="0">
              <a:buNone/>
            </a:pPr>
            <a:r>
              <a:rPr lang="zh-CN" altLang="en-US" sz="3200" b="1" dirty="0" smtClean="0"/>
              <a:t>三、概括性卡诺循环</a:t>
            </a:r>
            <a:endParaRPr lang="zh-CN" altLang="en-US" sz="3200" b="1" dirty="0"/>
          </a:p>
        </p:txBody>
      </p:sp>
      <p:sp>
        <p:nvSpPr>
          <p:cNvPr id="4" name="内容占位符 2"/>
          <p:cNvSpPr txBox="1">
            <a:spLocks/>
          </p:cNvSpPr>
          <p:nvPr/>
        </p:nvSpPr>
        <p:spPr>
          <a:xfrm>
            <a:off x="469624" y="1242529"/>
            <a:ext cx="7886700" cy="17524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b="1" dirty="0" smtClean="0">
                <a:latin typeface="Times New Roman" panose="02020603050405020304" pitchFamily="18" charset="0"/>
                <a:cs typeface="Times New Roman" panose="02020603050405020304" pitchFamily="18" charset="0"/>
              </a:rPr>
              <a:t>由</a:t>
            </a:r>
            <a:r>
              <a:rPr lang="zh-CN" altLang="zh-CN" b="1" dirty="0">
                <a:latin typeface="Times New Roman" panose="02020603050405020304" pitchFamily="18" charset="0"/>
                <a:cs typeface="Times New Roman" panose="02020603050405020304" pitchFamily="18" charset="0"/>
              </a:rPr>
              <a:t>两个可逆定温过程</a:t>
            </a:r>
            <a:r>
              <a:rPr lang="en-US" altLang="zh-CN" b="1" dirty="0">
                <a:latin typeface="Times New Roman" panose="02020603050405020304" pitchFamily="18" charset="0"/>
                <a:cs typeface="Times New Roman" panose="02020603050405020304" pitchFamily="18" charset="0"/>
              </a:rPr>
              <a:t>1-2</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3-4</a:t>
            </a:r>
            <a:r>
              <a:rPr lang="zh-CN" altLang="zh-CN" b="1" dirty="0">
                <a:latin typeface="Times New Roman" panose="02020603050405020304" pitchFamily="18" charset="0"/>
                <a:cs typeface="Times New Roman" panose="02020603050405020304" pitchFamily="18" charset="0"/>
              </a:rPr>
              <a:t>以及两个同类型的其他可逆过程</a:t>
            </a:r>
            <a:r>
              <a:rPr lang="en-US" altLang="zh-CN" b="1" dirty="0">
                <a:latin typeface="Times New Roman" panose="02020603050405020304" pitchFamily="18" charset="0"/>
                <a:cs typeface="Times New Roman" panose="02020603050405020304" pitchFamily="18" charset="0"/>
              </a:rPr>
              <a:t>4-1</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2-3</a:t>
            </a:r>
            <a:r>
              <a:rPr lang="zh-CN" altLang="zh-CN" b="1" dirty="0">
                <a:latin typeface="Times New Roman" panose="02020603050405020304" pitchFamily="18" charset="0"/>
                <a:cs typeface="Times New Roman" panose="02020603050405020304" pitchFamily="18" charset="0"/>
              </a:rPr>
              <a:t>组成。工质是理想气体时，这两个过程为多变指数</a:t>
            </a:r>
            <a:r>
              <a:rPr lang="en-US" altLang="zh-CN" b="1" i="1" dirty="0">
                <a:latin typeface="Times New Roman" panose="02020603050405020304" pitchFamily="18" charset="0"/>
                <a:cs typeface="Times New Roman" panose="02020603050405020304" pitchFamily="18" charset="0"/>
              </a:rPr>
              <a:t>n</a:t>
            </a:r>
            <a:r>
              <a:rPr lang="zh-CN" altLang="zh-CN" b="1" dirty="0">
                <a:latin typeface="Times New Roman" panose="02020603050405020304" pitchFamily="18" charset="0"/>
                <a:cs typeface="Times New Roman" panose="02020603050405020304" pitchFamily="18" charset="0"/>
              </a:rPr>
              <a:t>相同的可逆多变过程</a:t>
            </a:r>
            <a:endParaRPr lang="zh-CN" altLang="en-US"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001" y="2994991"/>
            <a:ext cx="5219033" cy="3170746"/>
          </a:xfrm>
          <a:prstGeom prst="rect">
            <a:avLst/>
          </a:prstGeom>
        </p:spPr>
      </p:pic>
    </p:spTree>
    <p:extLst>
      <p:ext uri="{BB962C8B-B14F-4D97-AF65-F5344CB8AC3E}">
        <p14:creationId xmlns:p14="http://schemas.microsoft.com/office/powerpoint/2010/main" val="2311647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a:spLocks/>
          </p:cNvSpPr>
          <p:nvPr/>
        </p:nvSpPr>
        <p:spPr>
          <a:xfrm>
            <a:off x="4359137" y="228993"/>
            <a:ext cx="4168637" cy="54365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zh-CN" altLang="zh-CN" sz="2400" b="1" dirty="0" smtClean="0"/>
              <a:t>借助</a:t>
            </a:r>
            <a:r>
              <a:rPr lang="zh-CN" altLang="zh-CN" sz="2400" b="1" dirty="0"/>
              <a:t>温度</a:t>
            </a:r>
            <a:r>
              <a:rPr lang="zh-CN" altLang="zh-CN" sz="2400" b="1" dirty="0" smtClean="0"/>
              <a:t>由</a:t>
            </a:r>
            <a:r>
              <a:rPr lang="en-US" altLang="zh-CN" sz="2400" b="1" i="1" dirty="0" smtClean="0">
                <a:latin typeface="Times New Roman" panose="02020603050405020304" pitchFamily="18" charset="0"/>
                <a:cs typeface="Times New Roman" panose="02020603050405020304" pitchFamily="18" charset="0"/>
              </a:rPr>
              <a:t>T</a:t>
            </a:r>
            <a:r>
              <a:rPr lang="en-US" altLang="zh-CN" sz="2400" b="1" baseline="-25000" dirty="0" smtClean="0">
                <a:latin typeface="Times New Roman" panose="02020603050405020304" pitchFamily="18" charset="0"/>
                <a:cs typeface="Times New Roman" panose="02020603050405020304" pitchFamily="18" charset="0"/>
              </a:rPr>
              <a:t>H</a:t>
            </a:r>
            <a:r>
              <a:rPr lang="zh-CN" altLang="zh-CN" sz="2400" b="1" dirty="0" smtClean="0"/>
              <a:t>到</a:t>
            </a:r>
            <a:r>
              <a:rPr lang="en-US" altLang="zh-CN" sz="2400" b="1" i="1" dirty="0" smtClean="0">
                <a:latin typeface="Times New Roman" panose="02020603050405020304" pitchFamily="18" charset="0"/>
                <a:cs typeface="Times New Roman" panose="02020603050405020304" pitchFamily="18" charset="0"/>
              </a:rPr>
              <a:t>T</a:t>
            </a:r>
            <a:r>
              <a:rPr lang="en-US" altLang="zh-CN" sz="2400" b="1" baseline="-25000" dirty="0" smtClean="0">
                <a:latin typeface="Times New Roman" panose="02020603050405020304" pitchFamily="18" charset="0"/>
                <a:cs typeface="Times New Roman" panose="02020603050405020304" pitchFamily="18" charset="0"/>
              </a:rPr>
              <a:t>L</a:t>
            </a:r>
            <a:r>
              <a:rPr lang="zh-CN" altLang="zh-CN" sz="2400" b="1" dirty="0" smtClean="0"/>
              <a:t>连续</a:t>
            </a:r>
            <a:r>
              <a:rPr lang="zh-CN" altLang="zh-CN" sz="2400" b="1" dirty="0"/>
              <a:t>变化的无穷多个蓄热器，可以满足</a:t>
            </a:r>
            <a:r>
              <a:rPr lang="en-US" altLang="zh-CN" sz="2400" b="1" dirty="0"/>
              <a:t>2-3</a:t>
            </a:r>
            <a:r>
              <a:rPr lang="zh-CN" altLang="zh-CN" sz="2400" b="1" dirty="0"/>
              <a:t>和</a:t>
            </a:r>
            <a:r>
              <a:rPr lang="en-US" altLang="zh-CN" sz="2400" b="1" dirty="0"/>
              <a:t>4-1</a:t>
            </a:r>
            <a:r>
              <a:rPr lang="zh-CN" altLang="zh-CN" sz="2400" b="1" dirty="0"/>
              <a:t>过程中工质在与每个蓄热器之间按无温差（或温差无限小）</a:t>
            </a:r>
            <a:r>
              <a:rPr lang="zh-CN" altLang="zh-CN" sz="2400" b="1" dirty="0" smtClean="0"/>
              <a:t>传</a:t>
            </a:r>
            <a:r>
              <a:rPr lang="zh-CN" altLang="en-US" sz="2400" b="1" dirty="0" smtClean="0"/>
              <a:t>热</a:t>
            </a:r>
            <a:endParaRPr lang="en-US" altLang="zh-CN" sz="2400" b="1" dirty="0" smtClean="0"/>
          </a:p>
          <a:p>
            <a:pPr>
              <a:lnSpc>
                <a:spcPct val="100000"/>
              </a:lnSpc>
              <a:spcBef>
                <a:spcPts val="0"/>
              </a:spcBef>
            </a:pPr>
            <a:r>
              <a:rPr lang="zh-CN" altLang="zh-CN" sz="2400" b="1" dirty="0"/>
              <a:t>工质在可逆过程</a:t>
            </a:r>
            <a:r>
              <a:rPr lang="en-US" altLang="zh-CN" sz="2400" b="1" dirty="0"/>
              <a:t>2-3</a:t>
            </a:r>
            <a:r>
              <a:rPr lang="zh-CN" altLang="zh-CN" sz="2400" b="1" dirty="0"/>
              <a:t>中放给蓄热器的</a:t>
            </a:r>
            <a:r>
              <a:rPr lang="zh-CN" altLang="zh-CN" sz="2400" b="1" dirty="0" smtClean="0"/>
              <a:t>热量（过程线</a:t>
            </a:r>
            <a:r>
              <a:rPr lang="en-US" altLang="zh-CN" sz="2400" b="1" dirty="0" smtClean="0"/>
              <a:t>2-3</a:t>
            </a:r>
            <a:r>
              <a:rPr lang="zh-CN" altLang="zh-CN" sz="2400" b="1" dirty="0" smtClean="0"/>
              <a:t>在横坐标轴上的投影面积），在</a:t>
            </a:r>
            <a:r>
              <a:rPr lang="zh-CN" altLang="zh-CN" sz="2400" b="1" dirty="0"/>
              <a:t>可逆过程</a:t>
            </a:r>
            <a:r>
              <a:rPr lang="en-US" altLang="zh-CN" sz="2400" b="1" dirty="0"/>
              <a:t>4-1</a:t>
            </a:r>
            <a:r>
              <a:rPr lang="zh-CN" altLang="zh-CN" sz="2400" b="1" dirty="0"/>
              <a:t>中又从蓄热器中</a:t>
            </a:r>
            <a:r>
              <a:rPr lang="zh-CN" altLang="zh-CN" sz="2400" b="1" dirty="0" smtClean="0"/>
              <a:t>收回（过程线</a:t>
            </a:r>
            <a:r>
              <a:rPr lang="en-US" altLang="zh-CN" sz="2400" b="1" dirty="0" smtClean="0"/>
              <a:t>4-1</a:t>
            </a:r>
            <a:r>
              <a:rPr lang="zh-CN" altLang="zh-CN" sz="2400" b="1" dirty="0" smtClean="0"/>
              <a:t>在横坐标轴上的投影面积）</a:t>
            </a:r>
            <a:endParaRPr lang="en-US" altLang="zh-CN" sz="2400" b="1" dirty="0" smtClean="0"/>
          </a:p>
          <a:p>
            <a:pPr>
              <a:lnSpc>
                <a:spcPct val="100000"/>
              </a:lnSpc>
              <a:spcBef>
                <a:spcPts val="0"/>
              </a:spcBef>
            </a:pPr>
            <a:endParaRPr lang="zh-CN" altLang="en-US" sz="2400"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1401" y="4453587"/>
            <a:ext cx="3548180" cy="2176461"/>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139" y="569526"/>
            <a:ext cx="3938357" cy="3987130"/>
          </a:xfrm>
          <a:prstGeom prst="rect">
            <a:avLst/>
          </a:prstGeom>
        </p:spPr>
      </p:pic>
    </p:spTree>
    <p:extLst>
      <p:ext uri="{BB962C8B-B14F-4D97-AF65-F5344CB8AC3E}">
        <p14:creationId xmlns:p14="http://schemas.microsoft.com/office/powerpoint/2010/main" val="823191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4345884" y="679567"/>
            <a:ext cx="4168637" cy="54365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zh-CN" altLang="zh-CN" sz="2400" b="1" dirty="0" smtClean="0"/>
              <a:t>蓄热器</a:t>
            </a:r>
            <a:r>
              <a:rPr lang="zh-CN" altLang="zh-CN" sz="2400" b="1" dirty="0"/>
              <a:t>不是热源，经过一个循环，蓄热器无所得失。该循环仍然只有两个温度分别</a:t>
            </a:r>
            <a:r>
              <a:rPr lang="zh-CN" altLang="zh-CN" sz="2400" b="1" dirty="0" smtClean="0"/>
              <a:t>为</a:t>
            </a:r>
            <a:r>
              <a:rPr lang="en-US" altLang="zh-CN" sz="2400" b="1" i="1" dirty="0" smtClean="0">
                <a:latin typeface="Times New Roman" panose="02020603050405020304" pitchFamily="18" charset="0"/>
                <a:cs typeface="Times New Roman" panose="02020603050405020304" pitchFamily="18" charset="0"/>
              </a:rPr>
              <a:t>T</a:t>
            </a:r>
            <a:r>
              <a:rPr lang="en-US" altLang="zh-CN" sz="2400" b="1" baseline="-25000" dirty="0" smtClean="0">
                <a:latin typeface="Times New Roman" panose="02020603050405020304" pitchFamily="18" charset="0"/>
                <a:cs typeface="Times New Roman" panose="02020603050405020304" pitchFamily="18" charset="0"/>
              </a:rPr>
              <a:t>H</a:t>
            </a:r>
            <a:r>
              <a:rPr lang="zh-CN" altLang="en-US" sz="2400" b="1" dirty="0"/>
              <a:t>和</a:t>
            </a:r>
            <a:r>
              <a:rPr lang="en-US" altLang="zh-CN" sz="2400" b="1" i="1" dirty="0" smtClean="0">
                <a:latin typeface="Times New Roman" panose="02020603050405020304" pitchFamily="18" charset="0"/>
                <a:cs typeface="Times New Roman" panose="02020603050405020304" pitchFamily="18" charset="0"/>
              </a:rPr>
              <a:t>T</a:t>
            </a:r>
            <a:r>
              <a:rPr lang="en-US" altLang="zh-CN" sz="2400" b="1" baseline="-25000" dirty="0" smtClean="0">
                <a:latin typeface="Times New Roman" panose="02020603050405020304" pitchFamily="18" charset="0"/>
                <a:cs typeface="Times New Roman" panose="02020603050405020304" pitchFamily="18" charset="0"/>
              </a:rPr>
              <a:t>L</a:t>
            </a:r>
            <a:r>
              <a:rPr lang="zh-CN" altLang="zh-CN" sz="2400" b="1" dirty="0" smtClean="0"/>
              <a:t>的热源</a:t>
            </a:r>
            <a:endParaRPr lang="en-US" altLang="zh-CN" sz="2400" b="1" dirty="0" smtClean="0"/>
          </a:p>
          <a:p>
            <a:pPr>
              <a:lnSpc>
                <a:spcPct val="100000"/>
              </a:lnSpc>
              <a:spcBef>
                <a:spcPts val="0"/>
              </a:spcBef>
            </a:pPr>
            <a:r>
              <a:rPr lang="zh-CN" altLang="zh-CN" sz="2400" b="1" dirty="0" smtClean="0"/>
              <a:t>这</a:t>
            </a:r>
            <a:r>
              <a:rPr lang="zh-CN" altLang="zh-CN" sz="2400" b="1" dirty="0"/>
              <a:t>便解释了在</a:t>
            </a:r>
            <a:r>
              <a:rPr lang="en-US" altLang="zh-CN" sz="2400" b="1" dirty="0"/>
              <a:t>5-6</a:t>
            </a:r>
            <a:r>
              <a:rPr lang="zh-CN" altLang="zh-CN" sz="2400" b="1" dirty="0"/>
              <a:t>节中所指出的：工作在两个热源间的可逆循环，除了卡诺循环之外，还有概括性</a:t>
            </a:r>
            <a:r>
              <a:rPr lang="zh-CN" altLang="zh-CN" sz="2400" b="1" dirty="0" smtClean="0"/>
              <a:t>卡诺循环</a:t>
            </a:r>
            <a:endParaRPr lang="en-US" altLang="zh-CN" sz="2400" b="1" dirty="0" smtClean="0"/>
          </a:p>
          <a:p>
            <a:pPr>
              <a:lnSpc>
                <a:spcPct val="100000"/>
              </a:lnSpc>
              <a:spcBef>
                <a:spcPts val="0"/>
              </a:spcBef>
            </a:pPr>
            <a:r>
              <a:rPr lang="zh-CN" altLang="zh-CN" sz="2400" b="1" dirty="0" smtClean="0"/>
              <a:t>此外</a:t>
            </a:r>
            <a:r>
              <a:rPr lang="zh-CN" altLang="zh-CN" sz="2400" b="1" dirty="0"/>
              <a:t>，由于多变指数</a:t>
            </a:r>
            <a:r>
              <a:rPr lang="en-US" altLang="zh-CN" sz="2400" b="1" i="1" dirty="0">
                <a:latin typeface="Times New Roman" panose="02020603050405020304" pitchFamily="18" charset="0"/>
                <a:cs typeface="Times New Roman" panose="02020603050405020304" pitchFamily="18" charset="0"/>
              </a:rPr>
              <a:t>n</a:t>
            </a:r>
            <a:r>
              <a:rPr lang="zh-CN" altLang="zh-CN" sz="2400" b="1" dirty="0"/>
              <a:t>可以为任意自然数，这样的概括性卡诺循环有无穷多个。事实上，</a:t>
            </a:r>
            <a:r>
              <a:rPr lang="en-US" altLang="zh-CN" sz="2400" b="1" i="1" dirty="0" smtClean="0">
                <a:latin typeface="Times New Roman" panose="02020603050405020304" pitchFamily="18" charset="0"/>
                <a:cs typeface="Times New Roman" panose="02020603050405020304" pitchFamily="18" charset="0"/>
              </a:rPr>
              <a:t>n=</a:t>
            </a:r>
            <a:r>
              <a:rPr lang="el-GR" altLang="zh-CN" sz="2400" b="1" i="1" dirty="0" smtClean="0">
                <a:latin typeface="Times New Roman" panose="02020603050405020304" pitchFamily="18" charset="0"/>
                <a:ea typeface="微软雅黑" panose="020B0503020204020204" pitchFamily="34" charset="-122"/>
                <a:cs typeface="Times New Roman" panose="02020603050405020304" pitchFamily="18" charset="0"/>
              </a:rPr>
              <a:t>κ</a:t>
            </a:r>
            <a:r>
              <a:rPr lang="zh-CN" altLang="zh-CN" sz="2400" b="1" dirty="0" smtClean="0"/>
              <a:t>的</a:t>
            </a:r>
            <a:r>
              <a:rPr lang="zh-CN" altLang="zh-CN" sz="2400" b="1" dirty="0"/>
              <a:t>概括性卡诺循环就是</a:t>
            </a:r>
            <a:r>
              <a:rPr lang="zh-CN" altLang="zh-CN" sz="2400" b="1" dirty="0" smtClean="0"/>
              <a:t>卡诺循环</a:t>
            </a:r>
            <a:endParaRPr lang="en-US" altLang="zh-CN" sz="2400" b="1" dirty="0" smtClean="0"/>
          </a:p>
          <a:p>
            <a:pPr>
              <a:lnSpc>
                <a:spcPct val="100000"/>
              </a:lnSpc>
              <a:spcBef>
                <a:spcPts val="0"/>
              </a:spcBef>
            </a:pPr>
            <a:endParaRPr lang="zh-CN" altLang="en-US" sz="2400" b="1"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072" y="679567"/>
            <a:ext cx="3548180" cy="2176461"/>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582" y="3712161"/>
            <a:ext cx="4214302" cy="2473246"/>
          </a:xfrm>
          <a:prstGeom prst="rect">
            <a:avLst/>
          </a:prstGeom>
          <a:ln>
            <a:noFill/>
          </a:ln>
          <a:effectLst>
            <a:outerShdw blurRad="292100" dist="139700" dir="2700000" algn="tl" rotWithShape="0">
              <a:srgbClr val="333333">
                <a:alpha val="65000"/>
              </a:srgbClr>
            </a:outerShdw>
          </a:effectLst>
        </p:spPr>
      </p:pic>
      <p:sp>
        <p:nvSpPr>
          <p:cNvPr id="5" name="矩形 4"/>
          <p:cNvSpPr/>
          <p:nvPr/>
        </p:nvSpPr>
        <p:spPr>
          <a:xfrm>
            <a:off x="218651" y="3265116"/>
            <a:ext cx="1117614" cy="369332"/>
          </a:xfrm>
          <a:prstGeom prst="rect">
            <a:avLst/>
          </a:prstGeom>
        </p:spPr>
        <p:txBody>
          <a:bodyPr wrap="none">
            <a:spAutoFit/>
          </a:bodyPr>
          <a:lstStyle/>
          <a:p>
            <a:r>
              <a:rPr lang="zh-CN" altLang="en-US" b="1" dirty="0" smtClean="0">
                <a:latin typeface="Times New Roman" panose="02020603050405020304" pitchFamily="18" charset="0"/>
                <a:cs typeface="Times New Roman" panose="02020603050405020304" pitchFamily="18" charset="0"/>
              </a:rPr>
              <a:t>第</a:t>
            </a:r>
            <a:r>
              <a:rPr lang="en-US" altLang="zh-CN" b="1" dirty="0" smtClean="0">
                <a:latin typeface="Times New Roman" panose="02020603050405020304" pitchFamily="18" charset="0"/>
                <a:cs typeface="Times New Roman" panose="02020603050405020304" pitchFamily="18" charset="0"/>
              </a:rPr>
              <a:t>5</a:t>
            </a:r>
            <a:r>
              <a:rPr lang="zh-CN" altLang="en-US" b="1" dirty="0" smtClean="0">
                <a:latin typeface="Times New Roman" panose="02020603050405020304" pitchFamily="18" charset="0"/>
                <a:cs typeface="Times New Roman" panose="02020603050405020304" pitchFamily="18" charset="0"/>
              </a:rPr>
              <a:t>章</a:t>
            </a:r>
            <a:r>
              <a:rPr lang="en-US" altLang="zh-CN" b="1" dirty="0" err="1" smtClean="0">
                <a:latin typeface="Times New Roman" panose="02020603050405020304" pitchFamily="18" charset="0"/>
                <a:cs typeface="Times New Roman" panose="02020603050405020304" pitchFamily="18" charset="0"/>
              </a:rPr>
              <a:t>ppt</a:t>
            </a:r>
            <a:endParaRPr lang="zh-CN" altLang="en-US" dirty="0">
              <a:latin typeface="Times New Roman" panose="02020603050405020304" pitchFamily="18" charset="0"/>
              <a:cs typeface="Times New Roman" panose="02020603050405020304" pitchFamily="18" charset="0"/>
            </a:endParaRPr>
          </a:p>
        </p:txBody>
      </p:sp>
      <p:sp>
        <p:nvSpPr>
          <p:cNvPr id="8" name="下箭头 7"/>
          <p:cNvSpPr/>
          <p:nvPr/>
        </p:nvSpPr>
        <p:spPr>
          <a:xfrm>
            <a:off x="1336265" y="3347723"/>
            <a:ext cx="173182" cy="3255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0028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522632" y="666059"/>
            <a:ext cx="7886700" cy="1752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b="1" dirty="0" smtClean="0">
                <a:latin typeface="Times New Roman" panose="02020603050405020304" pitchFamily="18" charset="0"/>
                <a:cs typeface="Times New Roman" panose="02020603050405020304" pitchFamily="18" charset="0"/>
              </a:rPr>
              <a:t>根据</a:t>
            </a:r>
            <a:r>
              <a:rPr lang="zh-CN" altLang="zh-CN" b="1" dirty="0">
                <a:latin typeface="Times New Roman" panose="02020603050405020304" pitchFamily="18" charset="0"/>
                <a:cs typeface="Times New Roman" panose="02020603050405020304" pitchFamily="18" charset="0"/>
              </a:rPr>
              <a:t>卡诺定理一，在两个热源间工作的一切</a:t>
            </a:r>
            <a:r>
              <a:rPr lang="zh-CN" altLang="zh-CN" b="1" dirty="0" smtClean="0">
                <a:latin typeface="Times New Roman" panose="02020603050405020304" pitchFamily="18" charset="0"/>
                <a:cs typeface="Times New Roman" panose="02020603050405020304" pitchFamily="18" charset="0"/>
              </a:rPr>
              <a:t>可逆</a:t>
            </a:r>
            <a:r>
              <a:rPr lang="zh-CN" altLang="en-US" b="1" dirty="0" smtClean="0">
                <a:latin typeface="Times New Roman" panose="02020603050405020304" pitchFamily="18" charset="0"/>
                <a:cs typeface="Times New Roman" panose="02020603050405020304" pitchFamily="18" charset="0"/>
              </a:rPr>
              <a:t>循环</a:t>
            </a:r>
            <a:r>
              <a:rPr lang="zh-CN" altLang="zh-CN" b="1" dirty="0" smtClean="0">
                <a:latin typeface="Times New Roman" panose="02020603050405020304" pitchFamily="18" charset="0"/>
                <a:cs typeface="Times New Roman" panose="02020603050405020304" pitchFamily="18" charset="0"/>
              </a:rPr>
              <a:t>具有</a:t>
            </a:r>
            <a:r>
              <a:rPr lang="zh-CN" altLang="zh-CN" b="1" dirty="0">
                <a:latin typeface="Times New Roman" panose="02020603050405020304" pitchFamily="18" charset="0"/>
                <a:cs typeface="Times New Roman" panose="02020603050405020304" pitchFamily="18" charset="0"/>
              </a:rPr>
              <a:t>相同的热效率。因此，</a:t>
            </a:r>
            <a:r>
              <a:rPr lang="zh-CN" altLang="zh-CN" b="1" dirty="0" smtClean="0">
                <a:latin typeface="Times New Roman" panose="02020603050405020304" pitchFamily="18" charset="0"/>
                <a:cs typeface="Times New Roman" panose="02020603050405020304" pitchFamily="18" charset="0"/>
              </a:rPr>
              <a:t>图</a:t>
            </a:r>
            <a:r>
              <a:rPr lang="zh-CN" altLang="en-US" b="1" dirty="0" smtClean="0">
                <a:latin typeface="Times New Roman" panose="02020603050405020304" pitchFamily="18" charset="0"/>
                <a:cs typeface="Times New Roman" panose="02020603050405020304" pitchFamily="18" charset="0"/>
              </a:rPr>
              <a:t>中</a:t>
            </a:r>
            <a:r>
              <a:rPr lang="zh-CN" altLang="zh-CN" b="1" dirty="0" smtClean="0">
                <a:latin typeface="Times New Roman" panose="02020603050405020304" pitchFamily="18" charset="0"/>
                <a:cs typeface="Times New Roman" panose="02020603050405020304" pitchFamily="18" charset="0"/>
              </a:rPr>
              <a:t>所</a:t>
            </a:r>
            <a:r>
              <a:rPr lang="zh-CN" altLang="zh-CN" b="1" dirty="0">
                <a:latin typeface="Times New Roman" panose="02020603050405020304" pitchFamily="18" charset="0"/>
                <a:cs typeface="Times New Roman" panose="02020603050405020304" pitchFamily="18" charset="0"/>
              </a:rPr>
              <a:t>示的概括性卡诺循环的热效率与工作在温度分别</a:t>
            </a:r>
            <a:r>
              <a:rPr lang="zh-CN" altLang="zh-CN" b="1" dirty="0" smtClean="0">
                <a:latin typeface="Times New Roman" panose="02020603050405020304" pitchFamily="18" charset="0"/>
                <a:cs typeface="Times New Roman" panose="02020603050405020304" pitchFamily="18" charset="0"/>
              </a:rPr>
              <a:t>为</a:t>
            </a:r>
            <a:r>
              <a:rPr lang="en-US" altLang="zh-CN" b="1" i="1" dirty="0" smtClean="0">
                <a:latin typeface="Times New Roman" panose="02020603050405020304" pitchFamily="18" charset="0"/>
                <a:cs typeface="Times New Roman" panose="02020603050405020304" pitchFamily="18" charset="0"/>
              </a:rPr>
              <a:t>T</a:t>
            </a:r>
            <a:r>
              <a:rPr lang="en-US" altLang="zh-CN" b="1" baseline="-25000" dirty="0" smtClean="0">
                <a:latin typeface="Times New Roman" panose="02020603050405020304" pitchFamily="18" charset="0"/>
                <a:cs typeface="Times New Roman" panose="02020603050405020304" pitchFamily="18" charset="0"/>
              </a:rPr>
              <a:t>H</a:t>
            </a:r>
            <a:r>
              <a:rPr lang="zh-CN" altLang="en-US" b="1" dirty="0" smtClean="0">
                <a:latin typeface="Times New Roman" panose="02020603050405020304" pitchFamily="18" charset="0"/>
                <a:cs typeface="Times New Roman" panose="02020603050405020304" pitchFamily="18" charset="0"/>
              </a:rPr>
              <a:t>和</a:t>
            </a:r>
            <a:r>
              <a:rPr lang="en-US" altLang="zh-CN" b="1" i="1" dirty="0" smtClean="0">
                <a:latin typeface="Times New Roman" panose="02020603050405020304" pitchFamily="18" charset="0"/>
                <a:cs typeface="Times New Roman" panose="02020603050405020304" pitchFamily="18" charset="0"/>
              </a:rPr>
              <a:t>T</a:t>
            </a:r>
            <a:r>
              <a:rPr lang="en-US" altLang="zh-CN" b="1" baseline="-25000" dirty="0" smtClean="0">
                <a:latin typeface="Times New Roman" panose="02020603050405020304" pitchFamily="18" charset="0"/>
                <a:cs typeface="Times New Roman" panose="02020603050405020304" pitchFamily="18" charset="0"/>
              </a:rPr>
              <a:t>L</a:t>
            </a:r>
            <a:r>
              <a:rPr lang="zh-CN" altLang="zh-CN" b="1" dirty="0">
                <a:latin typeface="Times New Roman" panose="02020603050405020304" pitchFamily="18" charset="0"/>
                <a:cs typeface="Times New Roman" panose="02020603050405020304" pitchFamily="18" charset="0"/>
              </a:rPr>
              <a:t>的两个热源间的卡诺循环的热效率相等，均为</a:t>
            </a:r>
            <a:endParaRPr lang="zh-CN" altLang="en-US" b="1" dirty="0">
              <a:latin typeface="Times New Roman" panose="02020603050405020304" pitchFamily="18" charset="0"/>
              <a:cs typeface="Times New Roman" panose="02020603050405020304" pitchFamily="18" charset="0"/>
            </a:endParaRPr>
          </a:p>
        </p:txBody>
      </p:sp>
      <p:graphicFrame>
        <p:nvGraphicFramePr>
          <p:cNvPr id="10" name="对象 304133"/>
          <p:cNvGraphicFramePr>
            <a:graphicFrameLocks noChangeAspect="1"/>
          </p:cNvGraphicFramePr>
          <p:nvPr>
            <p:extLst/>
          </p:nvPr>
        </p:nvGraphicFramePr>
        <p:xfrm>
          <a:off x="3182317" y="2938634"/>
          <a:ext cx="2063750" cy="569913"/>
        </p:xfrm>
        <a:graphic>
          <a:graphicData uri="http://schemas.openxmlformats.org/presentationml/2006/ole">
            <mc:AlternateContent xmlns:mc="http://schemas.openxmlformats.org/markup-compatibility/2006">
              <mc:Choice xmlns:v="urn:schemas-microsoft-com:vml" Requires="v">
                <p:oleObj spid="_x0000_s71696" name="Equation" r:id="rId3" imgW="825480" imgH="228600" progId="Equation.DSMT4">
                  <p:embed/>
                </p:oleObj>
              </mc:Choice>
              <mc:Fallback>
                <p:oleObj name="Equation" r:id="rId3" imgW="825480" imgH="228600" progId="Equation.DSMT4">
                  <p:embed/>
                  <p:pic>
                    <p:nvPicPr>
                      <p:cNvPr id="10" name="对象 304133"/>
                      <p:cNvPicPr>
                        <a:picLocks noChangeArrowheads="1"/>
                      </p:cNvPicPr>
                      <p:nvPr/>
                    </p:nvPicPr>
                    <p:blipFill>
                      <a:blip r:embed="rId4"/>
                      <a:srcRect/>
                      <a:stretch>
                        <a:fillRect/>
                      </a:stretch>
                    </p:blipFill>
                    <p:spPr bwMode="auto">
                      <a:xfrm>
                        <a:off x="3182317" y="2938634"/>
                        <a:ext cx="206375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21546" y="3777200"/>
            <a:ext cx="4477895" cy="2727509"/>
          </a:xfrm>
          <a:prstGeom prst="rect">
            <a:avLst/>
          </a:prstGeom>
        </p:spPr>
      </p:pic>
    </p:spTree>
    <p:extLst>
      <p:ext uri="{BB962C8B-B14F-4D97-AF65-F5344CB8AC3E}">
        <p14:creationId xmlns:p14="http://schemas.microsoft.com/office/powerpoint/2010/main" val="192282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04135"/>
          <p:cNvSpPr>
            <a:spLocks noChangeArrowheads="1"/>
          </p:cNvSpPr>
          <p:nvPr/>
        </p:nvSpPr>
        <p:spPr bwMode="auto">
          <a:xfrm>
            <a:off x="501222" y="839540"/>
            <a:ext cx="822483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lang="zh-CN" altLang="en-US" sz="2800" b="1" dirty="0"/>
              <a:t>除</a:t>
            </a:r>
            <a:r>
              <a:rPr lang="zh-CN" altLang="en-US" sz="2800" b="1" dirty="0" smtClean="0"/>
              <a:t>埃尔逊</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Ericsson</a:t>
            </a:r>
            <a:r>
              <a:rPr lang="zh-CN" altLang="en-US" sz="2800" b="1" dirty="0">
                <a:latin typeface="Times New Roman" panose="02020603050405020304" pitchFamily="18" charset="0"/>
                <a:cs typeface="Times New Roman" panose="02020603050405020304" pitchFamily="18" charset="0"/>
              </a:rPr>
              <a:t>）</a:t>
            </a:r>
            <a:r>
              <a:rPr lang="zh-CN" altLang="en-US" sz="2800" b="1" dirty="0" smtClean="0"/>
              <a:t>循环之外，由两个定容过程和两个定温过程组成的斯特林（</a:t>
            </a:r>
            <a:r>
              <a:rPr lang="en-US" altLang="zh-CN" sz="2800" b="1" dirty="0" err="1" smtClean="0">
                <a:latin typeface="Times New Roman" panose="02020603050405020304" pitchFamily="18" charset="0"/>
                <a:cs typeface="Times New Roman" panose="02020603050405020304" pitchFamily="18" charset="0"/>
              </a:rPr>
              <a:t>Stirling</a:t>
            </a:r>
            <a:r>
              <a:rPr lang="zh-CN" altLang="en-US" sz="2800" b="1" dirty="0" smtClean="0"/>
              <a:t>）循环也属于</a:t>
            </a:r>
            <a:r>
              <a:rPr lang="zh-CN" altLang="en-US" sz="2800" b="1" dirty="0" smtClean="0">
                <a:solidFill>
                  <a:srgbClr val="FF0000"/>
                </a:solidFill>
              </a:rPr>
              <a:t>概括性卡诺循环</a:t>
            </a:r>
            <a:endParaRPr lang="zh-CN" altLang="en-US"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562" y="2579593"/>
            <a:ext cx="5197033" cy="3163116"/>
          </a:xfrm>
          <a:prstGeom prst="rect">
            <a:avLst/>
          </a:prstGeom>
        </p:spPr>
      </p:pic>
    </p:spTree>
    <p:extLst>
      <p:ext uri="{BB962C8B-B14F-4D97-AF65-F5344CB8AC3E}">
        <p14:creationId xmlns:p14="http://schemas.microsoft.com/office/powerpoint/2010/main" val="2996537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2.xml><?xml version="1.0" encoding="utf-8"?>
<p:tagLst xmlns:a="http://schemas.openxmlformats.org/drawingml/2006/main" xmlns:r="http://schemas.openxmlformats.org/officeDocument/2006/relationships" xmlns:p="http://schemas.openxmlformats.org/presentationml/2006/main">
  <p:tag name="TIMING" val="|9.7|2.5|1.1"/>
</p:tagLst>
</file>

<file path=ppt/tags/tag3.xml><?xml version="1.0" encoding="utf-8"?>
<p:tagLst xmlns:a="http://schemas.openxmlformats.org/drawingml/2006/main" xmlns:r="http://schemas.openxmlformats.org/officeDocument/2006/relationships" xmlns:p="http://schemas.openxmlformats.org/presentationml/2006/main">
  <p:tag name="TIMING" val="|6.3|1.7|35.7"/>
</p:tagLst>
</file>

<file path=ppt/tags/tag4.xml><?xml version="1.0" encoding="utf-8"?>
<p:tagLst xmlns:a="http://schemas.openxmlformats.org/drawingml/2006/main" xmlns:r="http://schemas.openxmlformats.org/officeDocument/2006/relationships" xmlns:p="http://schemas.openxmlformats.org/presentationml/2006/main">
  <p:tag name="TIMING" val="|10.8|19.6"/>
</p:tagLst>
</file>

<file path=ppt/tags/tag5.xml><?xml version="1.0" encoding="utf-8"?>
<p:tagLst xmlns:a="http://schemas.openxmlformats.org/drawingml/2006/main" xmlns:r="http://schemas.openxmlformats.org/officeDocument/2006/relationships" xmlns:p="http://schemas.openxmlformats.org/presentationml/2006/main">
  <p:tag name="TIMING" val="|60.4"/>
</p:tagLst>
</file>

<file path=ppt/tags/tag6.xml><?xml version="1.0" encoding="utf-8"?>
<p:tagLst xmlns:a="http://schemas.openxmlformats.org/drawingml/2006/main" xmlns:r="http://schemas.openxmlformats.org/officeDocument/2006/relationships" xmlns:p="http://schemas.openxmlformats.org/presentationml/2006/main">
  <p:tag name="TIMING" val="|33.8|13.6|9.6"/>
</p:tagLst>
</file>

<file path=ppt/tags/tag7.xml><?xml version="1.0" encoding="utf-8"?>
<p:tagLst xmlns:a="http://schemas.openxmlformats.org/drawingml/2006/main" xmlns:r="http://schemas.openxmlformats.org/officeDocument/2006/relationships" xmlns:p="http://schemas.openxmlformats.org/presentationml/2006/main">
  <p:tag name="TIMING" val="|3.2|4.8|5.2|-13.2|36.5"/>
</p:tagLst>
</file>

<file path=ppt/tags/tag8.xml><?xml version="1.0" encoding="utf-8"?>
<p:tagLst xmlns:a="http://schemas.openxmlformats.org/drawingml/2006/main" xmlns:r="http://schemas.openxmlformats.org/officeDocument/2006/relationships" xmlns:p="http://schemas.openxmlformats.org/presentationml/2006/main">
  <p:tag name="TIMING" val="|14.4|14.2"/>
</p:tagLst>
</file>

<file path=ppt/tags/tag9.xml><?xml version="1.0" encoding="utf-8"?>
<p:tagLst xmlns:a="http://schemas.openxmlformats.org/drawingml/2006/main" xmlns:r="http://schemas.openxmlformats.org/officeDocument/2006/relationships" xmlns:p="http://schemas.openxmlformats.org/presentationml/2006/main">
  <p:tag name="TIMING" val="|63.6|22.9|73.1|28"/>
</p:tagLst>
</file>

<file path=ppt/tags/tag10.xml><?xml version="1.0" encoding="utf-8"?>
<p:tagLst xmlns:a="http://schemas.openxmlformats.org/drawingml/2006/main" xmlns:r="http://schemas.openxmlformats.org/officeDocument/2006/relationships" xmlns:p="http://schemas.openxmlformats.org/presentationml/2006/main">
  <p:tag name="TIMING" val="|11.3|1.9"/>
</p:tagLst>
</file>

<file path=ppt/tags/tag11.xml><?xml version="1.0" encoding="utf-8"?>
<p:tagLst xmlns:a="http://schemas.openxmlformats.org/drawingml/2006/main" xmlns:r="http://schemas.openxmlformats.org/officeDocument/2006/relationships" xmlns:p="http://schemas.openxmlformats.org/presentationml/2006/main">
  <p:tag name="TIMING" val="|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5820</Words>
  <Application>Microsoft Office PowerPoint</Application>
  <PresentationFormat>全屏显示(4:3)</PresentationFormat>
  <Paragraphs>298</Paragraphs>
  <Slides>108</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108</vt:i4>
      </vt:variant>
    </vt:vector>
  </HeadingPairs>
  <TitlesOfParts>
    <vt:vector size="121" baseType="lpstr">
      <vt:lpstr>等线</vt:lpstr>
      <vt:lpstr>黑体</vt:lpstr>
      <vt:lpstr>楷体_GB2312</vt:lpstr>
      <vt:lpstr>宋体</vt:lpstr>
      <vt:lpstr>微软雅黑</vt:lpstr>
      <vt:lpstr>Arial</vt:lpstr>
      <vt:lpstr>Symbol</vt:lpstr>
      <vt:lpstr>Tahoma</vt:lpstr>
      <vt:lpstr>Times New Roman</vt:lpstr>
      <vt:lpstr>Wingdings</vt:lpstr>
      <vt:lpstr>Office 主题</vt:lpstr>
      <vt:lpstr>Equation</vt:lpstr>
      <vt:lpstr>MathType 5.0 Equation</vt:lpstr>
      <vt:lpstr>12　气体动力循环</vt:lpstr>
      <vt:lpstr>12－1　热力循环概述</vt:lpstr>
      <vt:lpstr>一、热力循环的分类</vt:lpstr>
      <vt:lpstr>一、热力循环的分类</vt:lpstr>
      <vt:lpstr>一、热力循环的分类</vt:lpstr>
      <vt:lpstr>二、分析循环时常用的简化</vt:lpstr>
      <vt:lpstr>常用简化</vt:lpstr>
      <vt:lpstr>三、第一和第二定律分析法</vt:lpstr>
      <vt:lpstr>PowerPoint 演示文稿</vt:lpstr>
      <vt:lpstr>PowerPoint 演示文稿</vt:lpstr>
      <vt:lpstr>PowerPoint 演示文稿</vt:lpstr>
      <vt:lpstr>一、为什么需要引入空气标准假设？</vt:lpstr>
      <vt:lpstr>PowerPoint 演示文稿</vt:lpstr>
      <vt:lpstr>PowerPoint 演示文稿</vt:lpstr>
      <vt:lpstr>PowerPoint 演示文稿</vt:lpstr>
      <vt:lpstr>PowerPoint 演示文稿</vt:lpstr>
      <vt:lpstr>12-3 往复活塞式内燃机的工作原理及实际循环的简化 </vt:lpstr>
      <vt:lpstr>一、活塞式内燃机分类</vt:lpstr>
      <vt:lpstr>PowerPoint 演示文稿</vt:lpstr>
      <vt:lpstr>二、活塞式内燃机工作原理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12-5 燃气轮机装置的定压加热理想循环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二、燃气轮机装置定压加热实际循环的热效率 </vt:lpstr>
      <vt:lpstr>PowerPoint 演示文稿</vt:lpstr>
      <vt:lpstr>PowerPoint 演示文稿</vt:lpstr>
      <vt:lpstr>12-7具有回热的燃气轮机装置 </vt:lpstr>
      <vt:lpstr>PowerPoint 演示文稿</vt:lpstr>
      <vt:lpstr>一、回热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理想的极限回热的前提条件：换热器的面积无穷大 </vt:lpstr>
      <vt:lpstr>PowerPoint 演示文稿</vt:lpstr>
      <vt:lpstr>PowerPoint 演示文稿</vt:lpstr>
      <vt:lpstr>PowerPoint 演示文稿</vt:lpstr>
      <vt:lpstr>PowerPoint 演示文稿</vt:lpstr>
      <vt:lpstr>PowerPoint 演示文稿</vt:lpstr>
      <vt:lpstr>设计思路</vt:lpstr>
      <vt:lpstr>PowerPoint 演示文稿</vt:lpstr>
      <vt:lpstr>设计思路(续)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气体动力循环</dc:title>
  <dc:creator>jing wu</dc:creator>
  <cp:lastModifiedBy>jingwu</cp:lastModifiedBy>
  <cp:revision>32</cp:revision>
  <dcterms:created xsi:type="dcterms:W3CDTF">2020-05-04T01:44:00Z</dcterms:created>
  <dcterms:modified xsi:type="dcterms:W3CDTF">2020-09-27T03:39:06Z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