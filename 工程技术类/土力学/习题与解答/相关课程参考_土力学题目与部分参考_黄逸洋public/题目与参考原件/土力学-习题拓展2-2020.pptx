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26"/>
  </p:notesMasterIdLst>
  <p:handoutMasterIdLst>
    <p:handoutMasterId r:id="rId27"/>
  </p:handoutMasterIdLst>
  <p:sldIdLst>
    <p:sldId id="1107" r:id="rId3"/>
    <p:sldId id="1108" r:id="rId4"/>
    <p:sldId id="1067" r:id="rId5"/>
    <p:sldId id="1068" r:id="rId6"/>
    <p:sldId id="1069" r:id="rId7"/>
    <p:sldId id="1105" r:id="rId8"/>
    <p:sldId id="1072" r:id="rId9"/>
    <p:sldId id="1073" r:id="rId10"/>
    <p:sldId id="1074" r:id="rId11"/>
    <p:sldId id="1076" r:id="rId12"/>
    <p:sldId id="1106" r:id="rId13"/>
    <p:sldId id="1077" r:id="rId14"/>
    <p:sldId id="1078" r:id="rId15"/>
    <p:sldId id="1110" r:id="rId16"/>
    <p:sldId id="1111" r:id="rId17"/>
    <p:sldId id="1112" r:id="rId18"/>
    <p:sldId id="1113" r:id="rId19"/>
    <p:sldId id="1114" r:id="rId20"/>
    <p:sldId id="1115" r:id="rId21"/>
    <p:sldId id="1116" r:id="rId22"/>
    <p:sldId id="1117" r:id="rId23"/>
    <p:sldId id="1118" r:id="rId24"/>
    <p:sldId id="1119" r:id="rId25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43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A50021"/>
    <a:srgbClr val="99CCFF"/>
    <a:srgbClr val="66CCFF"/>
    <a:srgbClr val="FFFFCC"/>
    <a:srgbClr val="FF0000"/>
    <a:srgbClr val="00006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04" autoAdjust="0"/>
    <p:restoredTop sz="97138" autoAdjust="0"/>
  </p:normalViewPr>
  <p:slideViewPr>
    <p:cSldViewPr snapToGrid="0" showGuides="1">
      <p:cViewPr varScale="1">
        <p:scale>
          <a:sx n="112" d="100"/>
          <a:sy n="112" d="100"/>
        </p:scale>
        <p:origin x="2022" y="78"/>
      </p:cViewPr>
      <p:guideLst>
        <p:guide orient="horz" pos="1933"/>
        <p:guide pos="4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3"/>
    </p:cViewPr>
  </p:sorterViewPr>
  <p:notesViewPr>
    <p:cSldViewPr snapToGrid="0" showGuides="1">
      <p:cViewPr>
        <p:scale>
          <a:sx n="75" d="100"/>
          <a:sy n="75" d="100"/>
        </p:scale>
        <p:origin x="-1027" y="264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339075F8-9FF0-4A6B-9E58-ABCA6ADD10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15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E94BE428-8424-49AF-A984-F0E6574F9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B34445-AC5B-4A45-92D7-7EB668A5D38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70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72692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7267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125163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99108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9340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756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6846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1705459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8553134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50387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23204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00952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56754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35183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90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66435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0219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20991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82105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47866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83718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912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26419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image" Target="../media/image4.tmp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1193800" y="1811338"/>
            <a:ext cx="694531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第三和</a:t>
            </a:r>
            <a:r>
              <a:rPr kumimoji="0"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四</a:t>
            </a: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章习题讨论</a:t>
            </a: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2519464" y="822480"/>
            <a:ext cx="35410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之习题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课</a:t>
            </a:r>
            <a:r>
              <a:rPr kumimoji="1" lang="en-US" altLang="zh-CN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</p:spTree>
    <p:extLst>
      <p:ext uri="{BB962C8B-B14F-4D97-AF65-F5344CB8AC3E}">
        <p14:creationId xmlns:p14="http://schemas.microsoft.com/office/powerpoint/2010/main" val="5526903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 txBox="1">
            <a:spLocks/>
          </p:cNvSpPr>
          <p:nvPr/>
        </p:nvSpPr>
        <p:spPr>
          <a:xfrm>
            <a:off x="6273518" y="578335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376363" y="631825"/>
            <a:ext cx="64373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36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第三、</a:t>
            </a:r>
            <a:r>
              <a:rPr kumimoji="0"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四</a:t>
            </a:r>
            <a:r>
              <a:rPr kumimoji="0" lang="zh-CN" altLang="en-US" sz="36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章</a:t>
            </a:r>
            <a:r>
              <a:rPr kumimoji="0"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：习题</a:t>
            </a:r>
            <a:r>
              <a:rPr kumimoji="0" lang="zh-CN" altLang="en-US" sz="36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讨论</a:t>
            </a:r>
            <a:endParaRPr kumimoji="0" lang="en-US" altLang="zh-CN" sz="36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085774" y="1977175"/>
            <a:ext cx="4336667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主要内容：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作业“云”云讲解</a:t>
            </a:r>
            <a:endParaRPr kumimoji="1" lang="zh-CN" altLang="en-US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方法讨论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概念及难点</a:t>
            </a:r>
            <a:endParaRPr kumimoji="1" lang="en-US" altLang="zh-CN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492673" y="3290603"/>
            <a:ext cx="3583593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有效应力计算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buFontTx/>
              <a:buChar char="•"/>
            </a:pP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附加应力计算</a:t>
            </a:r>
            <a:endParaRPr lang="en-US" altLang="zh-CN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buFontTx/>
              <a:buChar char="•"/>
            </a:pP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沉降计算</a:t>
            </a:r>
            <a:endParaRPr lang="en-US" altLang="zh-CN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固结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度计算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096878" y="4079629"/>
            <a:ext cx="1325563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520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有效应力计算与渗流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Freeform 37"/>
          <p:cNvSpPr>
            <a:spLocks/>
          </p:cNvSpPr>
          <p:nvPr/>
        </p:nvSpPr>
        <p:spPr bwMode="auto">
          <a:xfrm>
            <a:off x="328613" y="1874838"/>
            <a:ext cx="503237" cy="2392362"/>
          </a:xfrm>
          <a:custGeom>
            <a:avLst/>
            <a:gdLst>
              <a:gd name="T0" fmla="*/ 312 w 317"/>
              <a:gd name="T1" fmla="*/ 1459 h 1507"/>
              <a:gd name="T2" fmla="*/ 48 w 317"/>
              <a:gd name="T3" fmla="*/ 1459 h 1507"/>
              <a:gd name="T4" fmla="*/ 48 w 317"/>
              <a:gd name="T5" fmla="*/ 0 h 1507"/>
              <a:gd name="T6" fmla="*/ 0 w 317"/>
              <a:gd name="T7" fmla="*/ 0 h 1507"/>
              <a:gd name="T8" fmla="*/ 0 w 317"/>
              <a:gd name="T9" fmla="*/ 1507 h 1507"/>
              <a:gd name="T10" fmla="*/ 317 w 317"/>
              <a:gd name="T11" fmla="*/ 1507 h 1507"/>
              <a:gd name="T12" fmla="*/ 312 w 317"/>
              <a:gd name="T13" fmla="*/ 1459 h 150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7"/>
              <a:gd name="T22" fmla="*/ 0 h 1507"/>
              <a:gd name="T23" fmla="*/ 317 w 317"/>
              <a:gd name="T24" fmla="*/ 1507 h 150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7" h="1507">
                <a:moveTo>
                  <a:pt x="312" y="1459"/>
                </a:moveTo>
                <a:lnTo>
                  <a:pt x="48" y="1459"/>
                </a:lnTo>
                <a:lnTo>
                  <a:pt x="48" y="0"/>
                </a:lnTo>
                <a:lnTo>
                  <a:pt x="0" y="0"/>
                </a:lnTo>
                <a:lnTo>
                  <a:pt x="0" y="1507"/>
                </a:lnTo>
                <a:lnTo>
                  <a:pt x="317" y="1507"/>
                </a:lnTo>
                <a:lnTo>
                  <a:pt x="312" y="1459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Rectangle 36" descr="大纸屑"/>
          <p:cNvSpPr>
            <a:spLocks noChangeArrowheads="1"/>
          </p:cNvSpPr>
          <p:nvPr/>
        </p:nvSpPr>
        <p:spPr bwMode="auto">
          <a:xfrm>
            <a:off x="831850" y="4038600"/>
            <a:ext cx="2773363" cy="701675"/>
          </a:xfrm>
          <a:prstGeom prst="rect">
            <a:avLst/>
          </a:prstGeom>
          <a:pattFill prst="lg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35" descr="小纸屑"/>
          <p:cNvSpPr>
            <a:spLocks noChangeArrowheads="1"/>
          </p:cNvSpPr>
          <p:nvPr/>
        </p:nvSpPr>
        <p:spPr bwMode="auto">
          <a:xfrm>
            <a:off x="839788" y="2560638"/>
            <a:ext cx="2773362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34" descr="浅色上对角线"/>
          <p:cNvSpPr>
            <a:spLocks noChangeArrowheads="1"/>
          </p:cNvSpPr>
          <p:nvPr/>
        </p:nvSpPr>
        <p:spPr bwMode="auto">
          <a:xfrm>
            <a:off x="855663" y="4746625"/>
            <a:ext cx="2765425" cy="88900"/>
          </a:xfrm>
          <a:prstGeom prst="rect">
            <a:avLst/>
          </a:prstGeom>
          <a:pattFill prst="ltUpDiag">
            <a:fgClr>
              <a:srgbClr val="333399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1313" y="719138"/>
            <a:ext cx="6754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1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有效应力计算与渗流固结</a:t>
            </a: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830263" y="2576513"/>
            <a:ext cx="2789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830263" y="4037013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830263" y="4743450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404813" y="1685925"/>
            <a:ext cx="473075" cy="250507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331788" y="1682750"/>
            <a:ext cx="565150" cy="2584450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706563" y="2465388"/>
            <a:ext cx="315912" cy="285750"/>
            <a:chOff x="1122" y="1612"/>
            <a:chExt cx="222" cy="152"/>
          </a:xfrm>
        </p:grpSpPr>
        <p:sp>
          <p:nvSpPr>
            <p:cNvPr id="17" name="AutoShape 14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987425" y="1868488"/>
            <a:ext cx="0" cy="706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860425" y="1876425"/>
            <a:ext cx="277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31788" y="1878013"/>
            <a:ext cx="650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344488" y="19018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54013" y="19272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47663" y="19526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1933575" y="3016250"/>
            <a:ext cx="1541558" cy="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=20kN/cm</a:t>
            </a:r>
            <a:r>
              <a:rPr kumimoji="1" lang="de-DE" altLang="zh-CN" sz="1800" b="1" baseline="30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1947863" y="4068763"/>
            <a:ext cx="1527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=18kN/cm</a:t>
            </a:r>
            <a:r>
              <a:rPr kumimoji="1" lang="de-DE" altLang="zh-CN" sz="1800" b="1" baseline="30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984250" y="2587625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V="1">
            <a:off x="989013" y="4046538"/>
            <a:ext cx="0" cy="690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46163" y="2028825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1049338" y="315118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4m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1036638" y="42116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722438" y="4848225"/>
            <a:ext cx="13160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幼圆" pitchFamily="49" charset="-122"/>
              </a:rPr>
              <a:t>不透水岩石</a:t>
            </a:r>
            <a:endParaRPr kumimoji="1" lang="zh-CN" altLang="de-DE" sz="1800" b="1" baseline="3000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3849688" y="1492250"/>
            <a:ext cx="5018087" cy="5105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对如图所示的地层，地下水位与地面齐平，砂层中测压管的水位高出地面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2m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a)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画出地层中的总应力，孔隙水压力和有效应力分布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b)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让砂土中的测管水头迅速降低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1m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，画出水头降低后瞬间地层中的总应力，孔隙水压力和有效应力分布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讨论：砂土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中水头降低后，是否会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在黏土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层中发生渗流固结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现象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d)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如发生渗流固结现象，画出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时的超静孔隙水压力分布。</a:t>
            </a:r>
          </a:p>
        </p:txBody>
      </p:sp>
    </p:spTree>
    <p:extLst>
      <p:ext uri="{BB962C8B-B14F-4D97-AF65-F5344CB8AC3E}">
        <p14:creationId xmlns:p14="http://schemas.microsoft.com/office/powerpoint/2010/main" val="40193198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有效应力计算与渗流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328613" y="2370138"/>
            <a:ext cx="503237" cy="2392362"/>
          </a:xfrm>
          <a:custGeom>
            <a:avLst/>
            <a:gdLst>
              <a:gd name="T0" fmla="*/ 312 w 317"/>
              <a:gd name="T1" fmla="*/ 1459 h 1507"/>
              <a:gd name="T2" fmla="*/ 48 w 317"/>
              <a:gd name="T3" fmla="*/ 1459 h 1507"/>
              <a:gd name="T4" fmla="*/ 48 w 317"/>
              <a:gd name="T5" fmla="*/ 0 h 1507"/>
              <a:gd name="T6" fmla="*/ 0 w 317"/>
              <a:gd name="T7" fmla="*/ 0 h 1507"/>
              <a:gd name="T8" fmla="*/ 0 w 317"/>
              <a:gd name="T9" fmla="*/ 1507 h 1507"/>
              <a:gd name="T10" fmla="*/ 317 w 317"/>
              <a:gd name="T11" fmla="*/ 1507 h 1507"/>
              <a:gd name="T12" fmla="*/ 312 w 317"/>
              <a:gd name="T13" fmla="*/ 1459 h 150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7"/>
              <a:gd name="T22" fmla="*/ 0 h 1507"/>
              <a:gd name="T23" fmla="*/ 317 w 317"/>
              <a:gd name="T24" fmla="*/ 1507 h 150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7" h="1507">
                <a:moveTo>
                  <a:pt x="312" y="1459"/>
                </a:moveTo>
                <a:lnTo>
                  <a:pt x="48" y="1459"/>
                </a:lnTo>
                <a:lnTo>
                  <a:pt x="48" y="0"/>
                </a:lnTo>
                <a:lnTo>
                  <a:pt x="0" y="0"/>
                </a:lnTo>
                <a:lnTo>
                  <a:pt x="0" y="1507"/>
                </a:lnTo>
                <a:lnTo>
                  <a:pt x="317" y="1507"/>
                </a:lnTo>
                <a:lnTo>
                  <a:pt x="312" y="1459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Rectangle 5" descr="大纸屑"/>
          <p:cNvSpPr>
            <a:spLocks noChangeArrowheads="1"/>
          </p:cNvSpPr>
          <p:nvPr/>
        </p:nvSpPr>
        <p:spPr bwMode="auto">
          <a:xfrm>
            <a:off x="831850" y="4533900"/>
            <a:ext cx="2773363" cy="701675"/>
          </a:xfrm>
          <a:prstGeom prst="rect">
            <a:avLst/>
          </a:prstGeom>
          <a:pattFill prst="lg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6" descr="小纸屑"/>
          <p:cNvSpPr>
            <a:spLocks noChangeArrowheads="1"/>
          </p:cNvSpPr>
          <p:nvPr/>
        </p:nvSpPr>
        <p:spPr bwMode="auto">
          <a:xfrm>
            <a:off x="839788" y="3055938"/>
            <a:ext cx="2773362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7" descr="浅色上对角线"/>
          <p:cNvSpPr>
            <a:spLocks noChangeArrowheads="1"/>
          </p:cNvSpPr>
          <p:nvPr/>
        </p:nvSpPr>
        <p:spPr bwMode="auto">
          <a:xfrm>
            <a:off x="855663" y="5241925"/>
            <a:ext cx="2765425" cy="88900"/>
          </a:xfrm>
          <a:prstGeom prst="rect">
            <a:avLst/>
          </a:prstGeom>
          <a:pattFill prst="ltUpDiag">
            <a:fgClr>
              <a:srgbClr val="333399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830263" y="3071813"/>
            <a:ext cx="2789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830263" y="4532313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830263" y="5238750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404813" y="2181225"/>
            <a:ext cx="473075" cy="250507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31788" y="2178050"/>
            <a:ext cx="565150" cy="2584450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706563" y="2960688"/>
            <a:ext cx="315912" cy="285750"/>
            <a:chOff x="1122" y="1612"/>
            <a:chExt cx="222" cy="152"/>
          </a:xfrm>
        </p:grpSpPr>
        <p:sp>
          <p:nvSpPr>
            <p:cNvPr id="17" name="AutoShape 16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Line 21"/>
          <p:cNvSpPr>
            <a:spLocks noChangeShapeType="1"/>
          </p:cNvSpPr>
          <p:nvPr/>
        </p:nvSpPr>
        <p:spPr bwMode="auto">
          <a:xfrm flipV="1">
            <a:off x="987425" y="2363788"/>
            <a:ext cx="0" cy="706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860425" y="2371725"/>
            <a:ext cx="277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331788" y="2373313"/>
            <a:ext cx="650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344488" y="23971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54013" y="24225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347663" y="24479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1933575" y="3511550"/>
            <a:ext cx="1541558" cy="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=20kN/cm</a:t>
            </a:r>
            <a:r>
              <a:rPr kumimoji="1" lang="de-DE" altLang="zh-CN" sz="1800" b="1" baseline="30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1947863" y="4564063"/>
            <a:ext cx="1527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=18kN/cm</a:t>
            </a:r>
            <a:r>
              <a:rPr kumimoji="1" lang="de-DE" altLang="zh-CN" sz="1800" b="1" baseline="30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V="1">
            <a:off x="984250" y="3082925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V="1">
            <a:off x="989013" y="4541838"/>
            <a:ext cx="0" cy="690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1046163" y="2524125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1049338" y="364648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4m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1036638" y="47069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1722438" y="5343525"/>
            <a:ext cx="13160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幼圆" pitchFamily="49" charset="-122"/>
              </a:rPr>
              <a:t>不透水岩石</a:t>
            </a:r>
            <a:endParaRPr kumimoji="1" lang="zh-CN" altLang="de-DE" sz="1800" b="1" baseline="3000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97350" y="2971800"/>
            <a:ext cx="1324324" cy="2589057"/>
            <a:chOff x="4197350" y="2971800"/>
            <a:chExt cx="1324324" cy="2589057"/>
          </a:xfrm>
        </p:grpSpPr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4197350" y="3076575"/>
              <a:ext cx="995363" cy="2163763"/>
            </a:xfrm>
            <a:custGeom>
              <a:avLst/>
              <a:gdLst>
                <a:gd name="T0" fmla="*/ 0 w 397"/>
                <a:gd name="T1" fmla="*/ 0 h 1363"/>
                <a:gd name="T2" fmla="*/ 320 w 397"/>
                <a:gd name="T3" fmla="*/ 921 h 1363"/>
                <a:gd name="T4" fmla="*/ 397 w 397"/>
                <a:gd name="T5" fmla="*/ 1363 h 1363"/>
                <a:gd name="T6" fmla="*/ 0 60000 65536"/>
                <a:gd name="T7" fmla="*/ 0 60000 65536"/>
                <a:gd name="T8" fmla="*/ 0 60000 65536"/>
                <a:gd name="T9" fmla="*/ 0 w 397"/>
                <a:gd name="T10" fmla="*/ 0 h 1363"/>
                <a:gd name="T11" fmla="*/ 397 w 397"/>
                <a:gd name="T12" fmla="*/ 1363 h 1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363">
                  <a:moveTo>
                    <a:pt x="0" y="0"/>
                  </a:moveTo>
                  <a:lnTo>
                    <a:pt x="320" y="921"/>
                  </a:lnTo>
                  <a:lnTo>
                    <a:pt x="397" y="136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4922838" y="4202113"/>
              <a:ext cx="386942" cy="377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80</a:t>
              </a:r>
              <a:endParaRPr lang="en-US" altLang="zh-CN" sz="1600" b="1" dirty="0"/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5043488" y="5183188"/>
              <a:ext cx="478186" cy="377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116</a:t>
              </a:r>
              <a:endParaRPr lang="en-US" altLang="zh-CN" sz="1600" b="1" dirty="0"/>
            </a:p>
          </p:txBody>
        </p:sp>
        <p:sp>
          <p:nvSpPr>
            <p:cNvPr id="50" name="Text Box 52"/>
            <p:cNvSpPr txBox="1">
              <a:spLocks noChangeArrowheads="1"/>
            </p:cNvSpPr>
            <p:nvPr/>
          </p:nvSpPr>
          <p:spPr bwMode="auto">
            <a:xfrm>
              <a:off x="4306888" y="2971800"/>
              <a:ext cx="2825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772150" y="2957513"/>
            <a:ext cx="1062038" cy="2584450"/>
            <a:chOff x="5772150" y="2957513"/>
            <a:chExt cx="1062038" cy="2584450"/>
          </a:xfrm>
        </p:grpSpPr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5772150" y="3065463"/>
              <a:ext cx="0" cy="2166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Freeform 45"/>
            <p:cNvSpPr>
              <a:spLocks/>
            </p:cNvSpPr>
            <p:nvPr/>
          </p:nvSpPr>
          <p:spPr bwMode="auto">
            <a:xfrm>
              <a:off x="5786438" y="3082925"/>
              <a:ext cx="768350" cy="2146300"/>
            </a:xfrm>
            <a:custGeom>
              <a:avLst/>
              <a:gdLst>
                <a:gd name="T0" fmla="*/ 0 w 484"/>
                <a:gd name="T1" fmla="*/ 0 h 1352"/>
                <a:gd name="T2" fmla="*/ 375 w 484"/>
                <a:gd name="T3" fmla="*/ 923 h 1352"/>
                <a:gd name="T4" fmla="*/ 484 w 484"/>
                <a:gd name="T5" fmla="*/ 1352 h 1352"/>
                <a:gd name="T6" fmla="*/ 0 60000 65536"/>
                <a:gd name="T7" fmla="*/ 0 60000 65536"/>
                <a:gd name="T8" fmla="*/ 0 60000 65536"/>
                <a:gd name="T9" fmla="*/ 0 w 484"/>
                <a:gd name="T10" fmla="*/ 0 h 1352"/>
                <a:gd name="T11" fmla="*/ 484 w 484"/>
                <a:gd name="T12" fmla="*/ 1352 h 1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4" h="1352">
                  <a:moveTo>
                    <a:pt x="0" y="0"/>
                  </a:moveTo>
                  <a:lnTo>
                    <a:pt x="375" y="923"/>
                  </a:lnTo>
                  <a:lnTo>
                    <a:pt x="484" y="135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Text Box 53"/>
            <p:cNvSpPr txBox="1">
              <a:spLocks noChangeArrowheads="1"/>
            </p:cNvSpPr>
            <p:nvPr/>
          </p:nvSpPr>
          <p:spPr bwMode="auto">
            <a:xfrm>
              <a:off x="6329363" y="4187825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60</a:t>
              </a:r>
            </a:p>
          </p:txBody>
        </p:sp>
        <p:sp>
          <p:nvSpPr>
            <p:cNvPr id="52" name="Text Box 54"/>
            <p:cNvSpPr txBox="1">
              <a:spLocks noChangeArrowheads="1"/>
            </p:cNvSpPr>
            <p:nvPr/>
          </p:nvSpPr>
          <p:spPr bwMode="auto">
            <a:xfrm>
              <a:off x="6450013" y="5168900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80</a:t>
              </a: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5856288" y="2957513"/>
              <a:ext cx="2825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366000" y="2968625"/>
            <a:ext cx="1206092" cy="2556833"/>
            <a:chOff x="7366000" y="2968625"/>
            <a:chExt cx="1206092" cy="2556833"/>
          </a:xfrm>
        </p:grpSpPr>
        <p:sp>
          <p:nvSpPr>
            <p:cNvPr id="4" name="Freeform 60"/>
            <p:cNvSpPr>
              <a:spLocks/>
            </p:cNvSpPr>
            <p:nvPr/>
          </p:nvSpPr>
          <p:spPr bwMode="auto">
            <a:xfrm>
              <a:off x="7366000" y="3065463"/>
              <a:ext cx="995363" cy="2163762"/>
            </a:xfrm>
            <a:custGeom>
              <a:avLst/>
              <a:gdLst>
                <a:gd name="T0" fmla="*/ 627 w 627"/>
                <a:gd name="T1" fmla="*/ 1363 h 1363"/>
                <a:gd name="T2" fmla="*/ 509 w 627"/>
                <a:gd name="T3" fmla="*/ 928 h 1363"/>
                <a:gd name="T4" fmla="*/ 0 w 627"/>
                <a:gd name="T5" fmla="*/ 0 h 1363"/>
                <a:gd name="T6" fmla="*/ 371 w 627"/>
                <a:gd name="T7" fmla="*/ 928 h 1363"/>
                <a:gd name="T8" fmla="*/ 493 w 627"/>
                <a:gd name="T9" fmla="*/ 1363 h 1363"/>
                <a:gd name="T10" fmla="*/ 627 w 627"/>
                <a:gd name="T11" fmla="*/ 1363 h 13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7"/>
                <a:gd name="T19" fmla="*/ 0 h 1363"/>
                <a:gd name="T20" fmla="*/ 627 w 627"/>
                <a:gd name="T21" fmla="*/ 1363 h 13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7" h="1363">
                  <a:moveTo>
                    <a:pt x="627" y="1363"/>
                  </a:moveTo>
                  <a:lnTo>
                    <a:pt x="509" y="928"/>
                  </a:lnTo>
                  <a:lnTo>
                    <a:pt x="0" y="0"/>
                  </a:lnTo>
                  <a:lnTo>
                    <a:pt x="371" y="928"/>
                  </a:lnTo>
                  <a:lnTo>
                    <a:pt x="493" y="1363"/>
                  </a:lnTo>
                  <a:lnTo>
                    <a:pt x="627" y="136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7372350" y="3068638"/>
              <a:ext cx="0" cy="2166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7375525" y="3082925"/>
              <a:ext cx="995363" cy="2163763"/>
            </a:xfrm>
            <a:custGeom>
              <a:avLst/>
              <a:gdLst>
                <a:gd name="T0" fmla="*/ 0 w 397"/>
                <a:gd name="T1" fmla="*/ 0 h 1363"/>
                <a:gd name="T2" fmla="*/ 320 w 397"/>
                <a:gd name="T3" fmla="*/ 921 h 1363"/>
                <a:gd name="T4" fmla="*/ 397 w 397"/>
                <a:gd name="T5" fmla="*/ 1363 h 1363"/>
                <a:gd name="T6" fmla="*/ 0 60000 65536"/>
                <a:gd name="T7" fmla="*/ 0 60000 65536"/>
                <a:gd name="T8" fmla="*/ 0 60000 65536"/>
                <a:gd name="T9" fmla="*/ 0 w 397"/>
                <a:gd name="T10" fmla="*/ 0 h 1363"/>
                <a:gd name="T11" fmla="*/ 397 w 397"/>
                <a:gd name="T12" fmla="*/ 1363 h 1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363">
                  <a:moveTo>
                    <a:pt x="0" y="0"/>
                  </a:moveTo>
                  <a:lnTo>
                    <a:pt x="320" y="921"/>
                  </a:lnTo>
                  <a:lnTo>
                    <a:pt x="397" y="136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Freeform 48"/>
            <p:cNvSpPr>
              <a:spLocks/>
            </p:cNvSpPr>
            <p:nvPr/>
          </p:nvSpPr>
          <p:spPr bwMode="auto">
            <a:xfrm>
              <a:off x="7377113" y="3095625"/>
              <a:ext cx="768350" cy="2146300"/>
            </a:xfrm>
            <a:custGeom>
              <a:avLst/>
              <a:gdLst>
                <a:gd name="T0" fmla="*/ 0 w 484"/>
                <a:gd name="T1" fmla="*/ 0 h 1352"/>
                <a:gd name="T2" fmla="*/ 375 w 484"/>
                <a:gd name="T3" fmla="*/ 923 h 1352"/>
                <a:gd name="T4" fmla="*/ 484 w 484"/>
                <a:gd name="T5" fmla="*/ 1352 h 1352"/>
                <a:gd name="T6" fmla="*/ 0 60000 65536"/>
                <a:gd name="T7" fmla="*/ 0 60000 65536"/>
                <a:gd name="T8" fmla="*/ 0 60000 65536"/>
                <a:gd name="T9" fmla="*/ 0 w 484"/>
                <a:gd name="T10" fmla="*/ 0 h 1352"/>
                <a:gd name="T11" fmla="*/ 484 w 484"/>
                <a:gd name="T12" fmla="*/ 1352 h 1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4" h="1352">
                  <a:moveTo>
                    <a:pt x="0" y="0"/>
                  </a:moveTo>
                  <a:lnTo>
                    <a:pt x="375" y="923"/>
                  </a:lnTo>
                  <a:lnTo>
                    <a:pt x="484" y="135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8185150" y="4116388"/>
              <a:ext cx="386942" cy="354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20</a:t>
              </a:r>
              <a:endParaRPr lang="en-US" altLang="zh-CN" sz="1600" b="1" dirty="0"/>
            </a:p>
          </p:txBody>
        </p:sp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8088313" y="5170488"/>
              <a:ext cx="386942" cy="354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36</a:t>
              </a:r>
              <a:endParaRPr lang="en-US" altLang="zh-CN" sz="1600" b="1" dirty="0"/>
            </a:p>
          </p:txBody>
        </p:sp>
        <p:sp>
          <p:nvSpPr>
            <p:cNvPr id="56" name="Text Box 58"/>
            <p:cNvSpPr txBox="1">
              <a:spLocks noChangeArrowheads="1"/>
            </p:cNvSpPr>
            <p:nvPr/>
          </p:nvSpPr>
          <p:spPr bwMode="auto">
            <a:xfrm>
              <a:off x="7466013" y="2968625"/>
              <a:ext cx="2825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 flipV="1">
              <a:off x="8080375" y="4376738"/>
              <a:ext cx="1524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178300" y="3073400"/>
            <a:ext cx="4629150" cy="2974525"/>
            <a:chOff x="4178300" y="3073400"/>
            <a:chExt cx="4629150" cy="2974525"/>
          </a:xfrm>
        </p:grpSpPr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4178300" y="3073400"/>
              <a:ext cx="46291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4194175" y="4535488"/>
              <a:ext cx="4613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4194175" y="5238750"/>
              <a:ext cx="4613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4194175" y="3073400"/>
              <a:ext cx="0" cy="2166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Text Box 61"/>
            <p:cNvSpPr txBox="1">
              <a:spLocks noChangeArrowheads="1"/>
            </p:cNvSpPr>
            <p:nvPr/>
          </p:nvSpPr>
          <p:spPr bwMode="auto">
            <a:xfrm>
              <a:off x="4515375" y="5510213"/>
              <a:ext cx="4056717" cy="537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       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       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          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         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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Text Box 38"/>
          <p:cNvSpPr txBox="1">
            <a:spLocks noChangeArrowheads="1"/>
          </p:cNvSpPr>
          <p:nvPr/>
        </p:nvSpPr>
        <p:spPr bwMode="auto">
          <a:xfrm>
            <a:off x="1335088" y="692150"/>
            <a:ext cx="7085012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对如图所示的地层，地下水位与地面齐平，砂层中测压管的水位高出地面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2m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a)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画出地层中的总应力，孔隙水压力和有效应力分布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540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有效应力计算与渗流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auto">
          <a:xfrm>
            <a:off x="327025" y="2716213"/>
            <a:ext cx="504825" cy="2046287"/>
          </a:xfrm>
          <a:custGeom>
            <a:avLst/>
            <a:gdLst>
              <a:gd name="T0" fmla="*/ 313 w 318"/>
              <a:gd name="T1" fmla="*/ 1241 h 1289"/>
              <a:gd name="T2" fmla="*/ 49 w 318"/>
              <a:gd name="T3" fmla="*/ 1241 h 1289"/>
              <a:gd name="T4" fmla="*/ 46 w 318"/>
              <a:gd name="T5" fmla="*/ 0 h 1289"/>
              <a:gd name="T6" fmla="*/ 0 w 318"/>
              <a:gd name="T7" fmla="*/ 3 h 1289"/>
              <a:gd name="T8" fmla="*/ 1 w 318"/>
              <a:gd name="T9" fmla="*/ 1289 h 1289"/>
              <a:gd name="T10" fmla="*/ 318 w 318"/>
              <a:gd name="T11" fmla="*/ 1289 h 1289"/>
              <a:gd name="T12" fmla="*/ 313 w 318"/>
              <a:gd name="T13" fmla="*/ 1241 h 12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8"/>
              <a:gd name="T22" fmla="*/ 0 h 1289"/>
              <a:gd name="T23" fmla="*/ 318 w 318"/>
              <a:gd name="T24" fmla="*/ 1289 h 12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8" h="1289">
                <a:moveTo>
                  <a:pt x="313" y="1241"/>
                </a:moveTo>
                <a:lnTo>
                  <a:pt x="49" y="1241"/>
                </a:lnTo>
                <a:lnTo>
                  <a:pt x="46" y="0"/>
                </a:lnTo>
                <a:lnTo>
                  <a:pt x="0" y="3"/>
                </a:lnTo>
                <a:lnTo>
                  <a:pt x="1" y="1289"/>
                </a:lnTo>
                <a:lnTo>
                  <a:pt x="318" y="1289"/>
                </a:lnTo>
                <a:lnTo>
                  <a:pt x="313" y="1241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Rectangle 4" descr="大纸屑"/>
          <p:cNvSpPr>
            <a:spLocks noChangeArrowheads="1"/>
          </p:cNvSpPr>
          <p:nvPr/>
        </p:nvSpPr>
        <p:spPr bwMode="auto">
          <a:xfrm>
            <a:off x="831850" y="4533900"/>
            <a:ext cx="2773363" cy="701675"/>
          </a:xfrm>
          <a:prstGeom prst="rect">
            <a:avLst/>
          </a:prstGeom>
          <a:pattFill prst="lg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5" descr="小纸屑"/>
          <p:cNvSpPr>
            <a:spLocks noChangeArrowheads="1"/>
          </p:cNvSpPr>
          <p:nvPr/>
        </p:nvSpPr>
        <p:spPr bwMode="auto">
          <a:xfrm>
            <a:off x="839788" y="3055938"/>
            <a:ext cx="2773362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6" descr="浅色上对角线"/>
          <p:cNvSpPr>
            <a:spLocks noChangeArrowheads="1"/>
          </p:cNvSpPr>
          <p:nvPr/>
        </p:nvSpPr>
        <p:spPr bwMode="auto">
          <a:xfrm>
            <a:off x="855663" y="5241925"/>
            <a:ext cx="2765425" cy="88900"/>
          </a:xfrm>
          <a:prstGeom prst="rect">
            <a:avLst/>
          </a:prstGeom>
          <a:pattFill prst="ltUpDiag">
            <a:fgClr>
              <a:srgbClr val="333399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830263" y="3071813"/>
            <a:ext cx="2789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830263" y="4532313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830263" y="5238750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404813" y="2181225"/>
            <a:ext cx="473075" cy="250507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331788" y="2178050"/>
            <a:ext cx="565150" cy="2584450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1706563" y="2960688"/>
            <a:ext cx="315912" cy="285750"/>
            <a:chOff x="1122" y="1612"/>
            <a:chExt cx="222" cy="152"/>
          </a:xfrm>
        </p:grpSpPr>
        <p:sp>
          <p:nvSpPr>
            <p:cNvPr id="17" name="AutoShape 15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987425" y="2725738"/>
            <a:ext cx="0" cy="344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517525" y="2371725"/>
            <a:ext cx="6207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788" y="2716213"/>
            <a:ext cx="650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344488" y="27400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354013" y="27654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347663" y="27908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1933575" y="3511550"/>
            <a:ext cx="1541558" cy="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=20kN/cm</a:t>
            </a:r>
            <a:r>
              <a:rPr kumimoji="1" lang="de-DE" altLang="zh-CN" sz="1800" b="1" baseline="30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1947863" y="4564063"/>
            <a:ext cx="1527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=18kN/cm</a:t>
            </a:r>
            <a:r>
              <a:rPr kumimoji="1" lang="de-DE" altLang="zh-CN" sz="1800" b="1" baseline="30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984250" y="3082925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V="1">
            <a:off x="989013" y="4541838"/>
            <a:ext cx="0" cy="690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22350" y="26908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1049338" y="364648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4m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1036638" y="47069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722438" y="5343525"/>
            <a:ext cx="13160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幼圆" pitchFamily="49" charset="-122"/>
              </a:rPr>
              <a:t>不透水岩石</a:t>
            </a:r>
            <a:endParaRPr kumimoji="1" lang="zh-CN" altLang="de-DE" sz="1800" b="1" baseline="3000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97350" y="2971800"/>
            <a:ext cx="1324324" cy="2589057"/>
            <a:chOff x="4197350" y="2971800"/>
            <a:chExt cx="1324324" cy="2589057"/>
          </a:xfrm>
        </p:grpSpPr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4197350" y="3076575"/>
              <a:ext cx="995363" cy="2163763"/>
            </a:xfrm>
            <a:custGeom>
              <a:avLst/>
              <a:gdLst>
                <a:gd name="T0" fmla="*/ 0 w 397"/>
                <a:gd name="T1" fmla="*/ 0 h 1363"/>
                <a:gd name="T2" fmla="*/ 320 w 397"/>
                <a:gd name="T3" fmla="*/ 921 h 1363"/>
                <a:gd name="T4" fmla="*/ 397 w 397"/>
                <a:gd name="T5" fmla="*/ 1363 h 1363"/>
                <a:gd name="T6" fmla="*/ 0 60000 65536"/>
                <a:gd name="T7" fmla="*/ 0 60000 65536"/>
                <a:gd name="T8" fmla="*/ 0 60000 65536"/>
                <a:gd name="T9" fmla="*/ 0 w 397"/>
                <a:gd name="T10" fmla="*/ 0 h 1363"/>
                <a:gd name="T11" fmla="*/ 397 w 397"/>
                <a:gd name="T12" fmla="*/ 1363 h 1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363">
                  <a:moveTo>
                    <a:pt x="0" y="0"/>
                  </a:moveTo>
                  <a:lnTo>
                    <a:pt x="320" y="921"/>
                  </a:lnTo>
                  <a:lnTo>
                    <a:pt x="397" y="136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4922838" y="4202113"/>
              <a:ext cx="386942" cy="377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80</a:t>
              </a:r>
              <a:endParaRPr lang="en-US" altLang="zh-CN" sz="1600" b="1" dirty="0"/>
            </a:p>
          </p:txBody>
        </p:sp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5043488" y="5183188"/>
              <a:ext cx="478186" cy="377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116</a:t>
              </a:r>
              <a:endParaRPr lang="en-US" altLang="zh-CN" sz="1600" b="1" dirty="0"/>
            </a:p>
          </p:txBody>
        </p:sp>
        <p:sp>
          <p:nvSpPr>
            <p:cNvPr id="48" name="Text Box 48"/>
            <p:cNvSpPr txBox="1">
              <a:spLocks noChangeArrowheads="1"/>
            </p:cNvSpPr>
            <p:nvPr/>
          </p:nvSpPr>
          <p:spPr bwMode="auto">
            <a:xfrm>
              <a:off x="4306888" y="2971800"/>
              <a:ext cx="2825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178300" y="3073400"/>
            <a:ext cx="4629150" cy="3000150"/>
            <a:chOff x="4178300" y="3073400"/>
            <a:chExt cx="4629150" cy="3000150"/>
          </a:xfrm>
        </p:grpSpPr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4178300" y="3073400"/>
              <a:ext cx="46291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4194175" y="4535488"/>
              <a:ext cx="4613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4194175" y="5238750"/>
              <a:ext cx="4613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4194175" y="3073400"/>
              <a:ext cx="0" cy="2166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Text Box 56"/>
            <p:cNvSpPr txBox="1">
              <a:spLocks noChangeArrowheads="1"/>
            </p:cNvSpPr>
            <p:nvPr/>
          </p:nvSpPr>
          <p:spPr bwMode="auto">
            <a:xfrm>
              <a:off x="4495448" y="5535838"/>
              <a:ext cx="4013552" cy="537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       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       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     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           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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Line 58"/>
          <p:cNvSpPr>
            <a:spLocks noChangeShapeType="1"/>
          </p:cNvSpPr>
          <p:nvPr/>
        </p:nvSpPr>
        <p:spPr bwMode="auto">
          <a:xfrm flipH="1">
            <a:off x="942975" y="2716213"/>
            <a:ext cx="777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8" name="Line 59"/>
          <p:cNvSpPr>
            <a:spLocks noChangeShapeType="1"/>
          </p:cNvSpPr>
          <p:nvPr/>
        </p:nvSpPr>
        <p:spPr bwMode="auto">
          <a:xfrm>
            <a:off x="636588" y="2373313"/>
            <a:ext cx="0" cy="312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5772150" y="2957513"/>
            <a:ext cx="941388" cy="2593975"/>
            <a:chOff x="5772150" y="2957513"/>
            <a:chExt cx="941388" cy="2593975"/>
          </a:xfrm>
        </p:grpSpPr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5772150" y="3065463"/>
              <a:ext cx="0" cy="2166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6381750" y="4548188"/>
              <a:ext cx="173038" cy="681037"/>
            </a:xfrm>
            <a:custGeom>
              <a:avLst/>
              <a:gdLst>
                <a:gd name="T0" fmla="*/ 0 w 109"/>
                <a:gd name="T1" fmla="*/ 0 h 429"/>
                <a:gd name="T2" fmla="*/ 109 w 109"/>
                <a:gd name="T3" fmla="*/ 429 h 429"/>
                <a:gd name="T4" fmla="*/ 0 60000 65536"/>
                <a:gd name="T5" fmla="*/ 0 60000 65536"/>
                <a:gd name="T6" fmla="*/ 0 w 109"/>
                <a:gd name="T7" fmla="*/ 0 h 429"/>
                <a:gd name="T8" fmla="*/ 109 w 109"/>
                <a:gd name="T9" fmla="*/ 429 h 4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" h="429">
                  <a:moveTo>
                    <a:pt x="0" y="0"/>
                  </a:moveTo>
                  <a:lnTo>
                    <a:pt x="109" y="42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Text Box 49"/>
            <p:cNvSpPr txBox="1">
              <a:spLocks noChangeArrowheads="1"/>
            </p:cNvSpPr>
            <p:nvPr/>
          </p:nvSpPr>
          <p:spPr bwMode="auto">
            <a:xfrm>
              <a:off x="6329363" y="4187825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60</a:t>
              </a:r>
            </a:p>
          </p:txBody>
        </p:sp>
        <p:sp>
          <p:nvSpPr>
            <p:cNvPr id="50" name="Text Box 50"/>
            <p:cNvSpPr txBox="1">
              <a:spLocks noChangeArrowheads="1"/>
            </p:cNvSpPr>
            <p:nvPr/>
          </p:nvSpPr>
          <p:spPr bwMode="auto">
            <a:xfrm>
              <a:off x="6227763" y="5178425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70</a:t>
              </a:r>
            </a:p>
          </p:txBody>
        </p:sp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5856288" y="2957513"/>
              <a:ext cx="2825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6246813" y="4538663"/>
              <a:ext cx="182562" cy="70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61"/>
            <p:cNvSpPr>
              <a:spLocks noChangeShapeType="1"/>
            </p:cNvSpPr>
            <p:nvPr/>
          </p:nvSpPr>
          <p:spPr bwMode="auto">
            <a:xfrm>
              <a:off x="5775325" y="3070225"/>
              <a:ext cx="595313" cy="14589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5956300" y="4230688"/>
              <a:ext cx="3841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50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364413" y="2968625"/>
            <a:ext cx="1207679" cy="2577470"/>
            <a:chOff x="7364413" y="2968625"/>
            <a:chExt cx="1207679" cy="2577470"/>
          </a:xfrm>
        </p:grpSpPr>
        <p:sp>
          <p:nvSpPr>
            <p:cNvPr id="4" name="Freeform 2"/>
            <p:cNvSpPr>
              <a:spLocks/>
            </p:cNvSpPr>
            <p:nvPr/>
          </p:nvSpPr>
          <p:spPr bwMode="auto">
            <a:xfrm>
              <a:off x="7366000" y="3065463"/>
              <a:ext cx="995363" cy="2174875"/>
            </a:xfrm>
            <a:custGeom>
              <a:avLst/>
              <a:gdLst>
                <a:gd name="T0" fmla="*/ 627 w 627"/>
                <a:gd name="T1" fmla="*/ 1363 h 1370"/>
                <a:gd name="T2" fmla="*/ 509 w 627"/>
                <a:gd name="T3" fmla="*/ 928 h 1370"/>
                <a:gd name="T4" fmla="*/ 0 w 627"/>
                <a:gd name="T5" fmla="*/ 0 h 1370"/>
                <a:gd name="T6" fmla="*/ 371 w 627"/>
                <a:gd name="T7" fmla="*/ 928 h 1370"/>
                <a:gd name="T8" fmla="*/ 294 w 627"/>
                <a:gd name="T9" fmla="*/ 928 h 1370"/>
                <a:gd name="T10" fmla="*/ 410 w 627"/>
                <a:gd name="T11" fmla="*/ 1370 h 1370"/>
                <a:gd name="T12" fmla="*/ 627 w 627"/>
                <a:gd name="T13" fmla="*/ 1363 h 13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7"/>
                <a:gd name="T22" fmla="*/ 0 h 1370"/>
                <a:gd name="T23" fmla="*/ 627 w 627"/>
                <a:gd name="T24" fmla="*/ 1370 h 13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7" h="1370">
                  <a:moveTo>
                    <a:pt x="627" y="1363"/>
                  </a:moveTo>
                  <a:lnTo>
                    <a:pt x="509" y="928"/>
                  </a:lnTo>
                  <a:lnTo>
                    <a:pt x="0" y="0"/>
                  </a:lnTo>
                  <a:lnTo>
                    <a:pt x="371" y="928"/>
                  </a:lnTo>
                  <a:lnTo>
                    <a:pt x="294" y="928"/>
                  </a:lnTo>
                  <a:lnTo>
                    <a:pt x="410" y="1370"/>
                  </a:lnTo>
                  <a:lnTo>
                    <a:pt x="627" y="136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7372350" y="3068638"/>
              <a:ext cx="0" cy="2166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7375525" y="3082925"/>
              <a:ext cx="995363" cy="2163763"/>
            </a:xfrm>
            <a:custGeom>
              <a:avLst/>
              <a:gdLst>
                <a:gd name="T0" fmla="*/ 0 w 397"/>
                <a:gd name="T1" fmla="*/ 0 h 1363"/>
                <a:gd name="T2" fmla="*/ 320 w 397"/>
                <a:gd name="T3" fmla="*/ 921 h 1363"/>
                <a:gd name="T4" fmla="*/ 397 w 397"/>
                <a:gd name="T5" fmla="*/ 1363 h 1363"/>
                <a:gd name="T6" fmla="*/ 0 60000 65536"/>
                <a:gd name="T7" fmla="*/ 0 60000 65536"/>
                <a:gd name="T8" fmla="*/ 0 60000 65536"/>
                <a:gd name="T9" fmla="*/ 0 w 397"/>
                <a:gd name="T10" fmla="*/ 0 h 1363"/>
                <a:gd name="T11" fmla="*/ 397 w 397"/>
                <a:gd name="T12" fmla="*/ 1363 h 1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363">
                  <a:moveTo>
                    <a:pt x="0" y="0"/>
                  </a:moveTo>
                  <a:lnTo>
                    <a:pt x="320" y="921"/>
                  </a:lnTo>
                  <a:lnTo>
                    <a:pt x="397" y="136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Text Box 52"/>
            <p:cNvSpPr txBox="1">
              <a:spLocks noChangeArrowheads="1"/>
            </p:cNvSpPr>
            <p:nvPr/>
          </p:nvSpPr>
          <p:spPr bwMode="auto">
            <a:xfrm>
              <a:off x="8185150" y="4116388"/>
              <a:ext cx="386942" cy="354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20</a:t>
              </a:r>
              <a:endParaRPr lang="en-US" altLang="zh-CN" sz="1600" b="1" dirty="0"/>
            </a:p>
          </p:txBody>
        </p:sp>
        <p:sp>
          <p:nvSpPr>
            <p:cNvPr id="53" name="Text Box 53"/>
            <p:cNvSpPr txBox="1">
              <a:spLocks noChangeArrowheads="1"/>
            </p:cNvSpPr>
            <p:nvPr/>
          </p:nvSpPr>
          <p:spPr bwMode="auto">
            <a:xfrm>
              <a:off x="7996238" y="5191125"/>
              <a:ext cx="386942" cy="354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46</a:t>
              </a:r>
              <a:endParaRPr lang="en-US" altLang="zh-CN" sz="1600" b="1" dirty="0"/>
            </a:p>
          </p:txBody>
        </p:sp>
        <p:sp>
          <p:nvSpPr>
            <p:cNvPr id="54" name="Text Box 54"/>
            <p:cNvSpPr txBox="1">
              <a:spLocks noChangeArrowheads="1"/>
            </p:cNvSpPr>
            <p:nvPr/>
          </p:nvSpPr>
          <p:spPr bwMode="auto">
            <a:xfrm>
              <a:off x="7466013" y="2968625"/>
              <a:ext cx="2825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 flipV="1">
              <a:off x="8080375" y="4376738"/>
              <a:ext cx="1524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63"/>
            <p:cNvSpPr>
              <a:spLocks noChangeShapeType="1"/>
            </p:cNvSpPr>
            <p:nvPr/>
          </p:nvSpPr>
          <p:spPr bwMode="auto">
            <a:xfrm>
              <a:off x="7835900" y="4540250"/>
              <a:ext cx="182563" cy="70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7364413" y="3071813"/>
              <a:ext cx="595312" cy="1458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Text Box 65"/>
            <p:cNvSpPr txBox="1">
              <a:spLocks noChangeArrowheads="1"/>
            </p:cNvSpPr>
            <p:nvPr/>
          </p:nvSpPr>
          <p:spPr bwMode="auto">
            <a:xfrm>
              <a:off x="7426325" y="4606925"/>
              <a:ext cx="386942" cy="354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/>
                <a:t>30</a:t>
              </a:r>
              <a:endParaRPr lang="en-US" altLang="zh-CN" sz="1600" b="1" dirty="0"/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 flipH="1">
              <a:off x="7727950" y="4581525"/>
              <a:ext cx="192088" cy="184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6" name="Text Box 38"/>
          <p:cNvSpPr txBox="1">
            <a:spLocks noChangeArrowheads="1"/>
          </p:cNvSpPr>
          <p:nvPr/>
        </p:nvSpPr>
        <p:spPr bwMode="auto">
          <a:xfrm>
            <a:off x="1335088" y="692150"/>
            <a:ext cx="7085012" cy="185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对如图所示的地层，地下水位与地面齐平，砂层中测压管的水位高出地面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2m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b)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让砂土中的测管水头迅速降低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1m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，画出水头降低后瞬间地层中的总应力，孔隙水压力和有效应力分布</a:t>
            </a:r>
          </a:p>
        </p:txBody>
      </p:sp>
    </p:spTree>
    <p:extLst>
      <p:ext uri="{BB962C8B-B14F-4D97-AF65-F5344CB8AC3E}">
        <p14:creationId xmlns:p14="http://schemas.microsoft.com/office/powerpoint/2010/main" val="38704540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7651" y="3365084"/>
            <a:ext cx="8705850" cy="80085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400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）讨论：砂土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中水头降低后</a:t>
            </a:r>
            <a:r>
              <a:rPr lang="zh-CN" altLang="en-US" sz="2400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黏土</a:t>
            </a:r>
            <a:r>
              <a:rPr lang="zh-CN" altLang="en-US" sz="2400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层中是否发生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渗流固结现象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47850" y="4129605"/>
            <a:ext cx="69913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总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应力不变，无施加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附加应力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，不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发生渗流固结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47849" y="4753237"/>
            <a:ext cx="7090612" cy="71411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ea typeface="幼圆" panose="020105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ea typeface="幼圆" panose="020105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400" b="1" i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400" b="1" i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zh-CN" altLang="en-US" sz="2400" b="1" i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均无变化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</a:rPr>
              <a:t>，所以不存在渗流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固结</a:t>
            </a:r>
            <a:endParaRPr lang="zh-CN" altLang="en-US" sz="2400" b="1" dirty="0">
              <a:ea typeface="幼圆" panose="020105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47850" y="5516233"/>
            <a:ext cx="6400800" cy="59881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尽管</a:t>
            </a:r>
            <a:r>
              <a:rPr lang="zh-CN" altLang="en-US" sz="2400" b="1" i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400" b="1" i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400" b="1" dirty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zh-CN" altLang="en-US" sz="2400" b="1" i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sz="2400" b="1" dirty="0" smtClean="0">
                <a:ea typeface="幼圆" panose="02010509060101010101" pitchFamily="49" charset="-122"/>
                <a:cs typeface="Times New Roman" panose="02020603050405020304" pitchFamily="18" charset="0"/>
              </a:rPr>
              <a:t>均无变化，仍会发生渗流固结</a:t>
            </a:r>
            <a:endParaRPr lang="zh-CN" altLang="en-US" sz="2400" b="1" dirty="0">
              <a:ea typeface="幼圆" panose="020105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33475" y="4193898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33475" y="484962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33475" y="550332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Freeform 2"/>
          <p:cNvSpPr>
            <a:spLocks/>
          </p:cNvSpPr>
          <p:nvPr/>
        </p:nvSpPr>
        <p:spPr bwMode="auto">
          <a:xfrm>
            <a:off x="7771063" y="773949"/>
            <a:ext cx="995363" cy="2174875"/>
          </a:xfrm>
          <a:custGeom>
            <a:avLst/>
            <a:gdLst>
              <a:gd name="T0" fmla="*/ 627 w 627"/>
              <a:gd name="T1" fmla="*/ 1363 h 1370"/>
              <a:gd name="T2" fmla="*/ 509 w 627"/>
              <a:gd name="T3" fmla="*/ 928 h 1370"/>
              <a:gd name="T4" fmla="*/ 0 w 627"/>
              <a:gd name="T5" fmla="*/ 0 h 1370"/>
              <a:gd name="T6" fmla="*/ 371 w 627"/>
              <a:gd name="T7" fmla="*/ 928 h 1370"/>
              <a:gd name="T8" fmla="*/ 294 w 627"/>
              <a:gd name="T9" fmla="*/ 928 h 1370"/>
              <a:gd name="T10" fmla="*/ 410 w 627"/>
              <a:gd name="T11" fmla="*/ 1370 h 1370"/>
              <a:gd name="T12" fmla="*/ 627 w 627"/>
              <a:gd name="T13" fmla="*/ 1363 h 137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27"/>
              <a:gd name="T22" fmla="*/ 0 h 1370"/>
              <a:gd name="T23" fmla="*/ 627 w 627"/>
              <a:gd name="T24" fmla="*/ 1370 h 137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27" h="1370">
                <a:moveTo>
                  <a:pt x="627" y="1363"/>
                </a:moveTo>
                <a:lnTo>
                  <a:pt x="509" y="928"/>
                </a:lnTo>
                <a:lnTo>
                  <a:pt x="0" y="0"/>
                </a:lnTo>
                <a:lnTo>
                  <a:pt x="371" y="928"/>
                </a:lnTo>
                <a:lnTo>
                  <a:pt x="294" y="928"/>
                </a:lnTo>
                <a:lnTo>
                  <a:pt x="410" y="1370"/>
                </a:lnTo>
                <a:lnTo>
                  <a:pt x="627" y="13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4948488" y="781886"/>
            <a:ext cx="3990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1" name="Line 36"/>
          <p:cNvSpPr>
            <a:spLocks noChangeShapeType="1"/>
          </p:cNvSpPr>
          <p:nvPr/>
        </p:nvSpPr>
        <p:spPr bwMode="auto">
          <a:xfrm>
            <a:off x="4964363" y="2243974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2" name="Line 37"/>
          <p:cNvSpPr>
            <a:spLocks noChangeShapeType="1"/>
          </p:cNvSpPr>
          <p:nvPr/>
        </p:nvSpPr>
        <p:spPr bwMode="auto">
          <a:xfrm>
            <a:off x="4964363" y="2947236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38"/>
          <p:cNvSpPr>
            <a:spLocks noChangeShapeType="1"/>
          </p:cNvSpPr>
          <p:nvPr/>
        </p:nvSpPr>
        <p:spPr bwMode="auto">
          <a:xfrm>
            <a:off x="4964363" y="781886"/>
            <a:ext cx="0" cy="2166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Freeform 39"/>
          <p:cNvSpPr>
            <a:spLocks/>
          </p:cNvSpPr>
          <p:nvPr/>
        </p:nvSpPr>
        <p:spPr bwMode="auto">
          <a:xfrm>
            <a:off x="4967538" y="785061"/>
            <a:ext cx="995363" cy="2163763"/>
          </a:xfrm>
          <a:custGeom>
            <a:avLst/>
            <a:gdLst>
              <a:gd name="T0" fmla="*/ 0 w 397"/>
              <a:gd name="T1" fmla="*/ 0 h 1363"/>
              <a:gd name="T2" fmla="*/ 320 w 397"/>
              <a:gd name="T3" fmla="*/ 921 h 1363"/>
              <a:gd name="T4" fmla="*/ 397 w 397"/>
              <a:gd name="T5" fmla="*/ 1363 h 1363"/>
              <a:gd name="T6" fmla="*/ 0 60000 65536"/>
              <a:gd name="T7" fmla="*/ 0 60000 65536"/>
              <a:gd name="T8" fmla="*/ 0 60000 65536"/>
              <a:gd name="T9" fmla="*/ 0 w 397"/>
              <a:gd name="T10" fmla="*/ 0 h 1363"/>
              <a:gd name="T11" fmla="*/ 397 w 397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7" h="1363">
                <a:moveTo>
                  <a:pt x="0" y="0"/>
                </a:moveTo>
                <a:lnTo>
                  <a:pt x="320" y="921"/>
                </a:lnTo>
                <a:lnTo>
                  <a:pt x="397" y="136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40"/>
          <p:cNvSpPr>
            <a:spLocks noChangeShapeType="1"/>
          </p:cNvSpPr>
          <p:nvPr/>
        </p:nvSpPr>
        <p:spPr bwMode="auto">
          <a:xfrm>
            <a:off x="6431213" y="773949"/>
            <a:ext cx="0" cy="216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Freeform 41"/>
          <p:cNvSpPr>
            <a:spLocks/>
          </p:cNvSpPr>
          <p:nvPr/>
        </p:nvSpPr>
        <p:spPr bwMode="auto">
          <a:xfrm>
            <a:off x="7040813" y="2256674"/>
            <a:ext cx="173038" cy="681037"/>
          </a:xfrm>
          <a:custGeom>
            <a:avLst/>
            <a:gdLst>
              <a:gd name="T0" fmla="*/ 0 w 109"/>
              <a:gd name="T1" fmla="*/ 0 h 429"/>
              <a:gd name="T2" fmla="*/ 109 w 109"/>
              <a:gd name="T3" fmla="*/ 429 h 429"/>
              <a:gd name="T4" fmla="*/ 0 60000 65536"/>
              <a:gd name="T5" fmla="*/ 0 60000 65536"/>
              <a:gd name="T6" fmla="*/ 0 w 109"/>
              <a:gd name="T7" fmla="*/ 0 h 429"/>
              <a:gd name="T8" fmla="*/ 109 w 109"/>
              <a:gd name="T9" fmla="*/ 429 h 4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" h="429">
                <a:moveTo>
                  <a:pt x="0" y="0"/>
                </a:moveTo>
                <a:lnTo>
                  <a:pt x="109" y="42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Line 42"/>
          <p:cNvSpPr>
            <a:spLocks noChangeShapeType="1"/>
          </p:cNvSpPr>
          <p:nvPr/>
        </p:nvSpPr>
        <p:spPr bwMode="auto">
          <a:xfrm>
            <a:off x="7777413" y="777124"/>
            <a:ext cx="0" cy="216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8" name="Freeform 43"/>
          <p:cNvSpPr>
            <a:spLocks/>
          </p:cNvSpPr>
          <p:nvPr/>
        </p:nvSpPr>
        <p:spPr bwMode="auto">
          <a:xfrm>
            <a:off x="7780588" y="791411"/>
            <a:ext cx="995363" cy="2163763"/>
          </a:xfrm>
          <a:custGeom>
            <a:avLst/>
            <a:gdLst>
              <a:gd name="T0" fmla="*/ 0 w 397"/>
              <a:gd name="T1" fmla="*/ 0 h 1363"/>
              <a:gd name="T2" fmla="*/ 320 w 397"/>
              <a:gd name="T3" fmla="*/ 921 h 1363"/>
              <a:gd name="T4" fmla="*/ 397 w 397"/>
              <a:gd name="T5" fmla="*/ 1363 h 1363"/>
              <a:gd name="T6" fmla="*/ 0 60000 65536"/>
              <a:gd name="T7" fmla="*/ 0 60000 65536"/>
              <a:gd name="T8" fmla="*/ 0 60000 65536"/>
              <a:gd name="T9" fmla="*/ 0 w 397"/>
              <a:gd name="T10" fmla="*/ 0 h 1363"/>
              <a:gd name="T11" fmla="*/ 397 w 397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7" h="1363">
                <a:moveTo>
                  <a:pt x="0" y="0"/>
                </a:moveTo>
                <a:lnTo>
                  <a:pt x="320" y="921"/>
                </a:lnTo>
                <a:lnTo>
                  <a:pt x="397" y="136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5693026" y="1910599"/>
            <a:ext cx="386942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80</a:t>
            </a:r>
            <a:endParaRPr lang="en-US" altLang="zh-CN" sz="1600" b="1" dirty="0"/>
          </a:p>
        </p:txBody>
      </p:sp>
      <p:sp>
        <p:nvSpPr>
          <p:cNvPr id="30" name="Text Box 45"/>
          <p:cNvSpPr txBox="1">
            <a:spLocks noChangeArrowheads="1"/>
          </p:cNvSpPr>
          <p:nvPr/>
        </p:nvSpPr>
        <p:spPr bwMode="auto">
          <a:xfrm>
            <a:off x="5813676" y="2891674"/>
            <a:ext cx="478186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116</a:t>
            </a:r>
            <a:endParaRPr lang="en-US" altLang="zh-CN" sz="1600" b="1" dirty="0"/>
          </a:p>
        </p:txBody>
      </p:sp>
      <p:sp>
        <p:nvSpPr>
          <p:cNvPr id="31" name="Text Box 46"/>
          <p:cNvSpPr txBox="1">
            <a:spLocks noChangeArrowheads="1"/>
          </p:cNvSpPr>
          <p:nvPr/>
        </p:nvSpPr>
        <p:spPr bwMode="auto">
          <a:xfrm>
            <a:off x="5077076" y="680286"/>
            <a:ext cx="2825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32" name="Text Box 47"/>
          <p:cNvSpPr txBox="1">
            <a:spLocks noChangeArrowheads="1"/>
          </p:cNvSpPr>
          <p:nvPr/>
        </p:nvSpPr>
        <p:spPr bwMode="auto">
          <a:xfrm>
            <a:off x="6988426" y="1896311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60</a:t>
            </a:r>
          </a:p>
        </p:txBody>
      </p:sp>
      <p:sp>
        <p:nvSpPr>
          <p:cNvPr id="33" name="Text Box 48"/>
          <p:cNvSpPr txBox="1">
            <a:spLocks noChangeArrowheads="1"/>
          </p:cNvSpPr>
          <p:nvPr/>
        </p:nvSpPr>
        <p:spPr bwMode="auto">
          <a:xfrm>
            <a:off x="6886826" y="2886911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70</a:t>
            </a:r>
          </a:p>
        </p:txBody>
      </p:sp>
      <p:sp>
        <p:nvSpPr>
          <p:cNvPr id="34" name="Text Box 49"/>
          <p:cNvSpPr txBox="1">
            <a:spLocks noChangeArrowheads="1"/>
          </p:cNvSpPr>
          <p:nvPr/>
        </p:nvSpPr>
        <p:spPr bwMode="auto">
          <a:xfrm>
            <a:off x="6515351" y="665999"/>
            <a:ext cx="2825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35" name="Text Box 50"/>
          <p:cNvSpPr txBox="1">
            <a:spLocks noChangeArrowheads="1"/>
          </p:cNvSpPr>
          <p:nvPr/>
        </p:nvSpPr>
        <p:spPr bwMode="auto">
          <a:xfrm>
            <a:off x="8590213" y="1824874"/>
            <a:ext cx="386942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20</a:t>
            </a:r>
            <a:endParaRPr lang="en-US" altLang="zh-CN" sz="1600" b="1" dirty="0"/>
          </a:p>
        </p:txBody>
      </p:sp>
      <p:sp>
        <p:nvSpPr>
          <p:cNvPr id="36" name="Text Box 51"/>
          <p:cNvSpPr txBox="1">
            <a:spLocks noChangeArrowheads="1"/>
          </p:cNvSpPr>
          <p:nvPr/>
        </p:nvSpPr>
        <p:spPr bwMode="auto">
          <a:xfrm>
            <a:off x="8401301" y="2899611"/>
            <a:ext cx="386942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46</a:t>
            </a:r>
            <a:endParaRPr lang="en-US" altLang="zh-CN" sz="1600" b="1" dirty="0"/>
          </a:p>
        </p:txBody>
      </p:sp>
      <p:sp>
        <p:nvSpPr>
          <p:cNvPr id="37" name="Text Box 52"/>
          <p:cNvSpPr txBox="1">
            <a:spLocks noChangeArrowheads="1"/>
          </p:cNvSpPr>
          <p:nvPr/>
        </p:nvSpPr>
        <p:spPr bwMode="auto">
          <a:xfrm>
            <a:off x="7871076" y="677111"/>
            <a:ext cx="2825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38" name="Line 53"/>
          <p:cNvSpPr>
            <a:spLocks noChangeShapeType="1"/>
          </p:cNvSpPr>
          <p:nvPr/>
        </p:nvSpPr>
        <p:spPr bwMode="auto">
          <a:xfrm flipV="1">
            <a:off x="8485438" y="2085224"/>
            <a:ext cx="1524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9" name="Line 57"/>
          <p:cNvSpPr>
            <a:spLocks noChangeShapeType="1"/>
          </p:cNvSpPr>
          <p:nvPr/>
        </p:nvSpPr>
        <p:spPr bwMode="auto">
          <a:xfrm>
            <a:off x="6905876" y="2247149"/>
            <a:ext cx="182562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0" name="Line 58"/>
          <p:cNvSpPr>
            <a:spLocks noChangeShapeType="1"/>
          </p:cNvSpPr>
          <p:nvPr/>
        </p:nvSpPr>
        <p:spPr bwMode="auto">
          <a:xfrm>
            <a:off x="6434388" y="778711"/>
            <a:ext cx="595313" cy="145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1" name="Text Box 59"/>
          <p:cNvSpPr txBox="1">
            <a:spLocks noChangeArrowheads="1"/>
          </p:cNvSpPr>
          <p:nvPr/>
        </p:nvSpPr>
        <p:spPr bwMode="auto">
          <a:xfrm>
            <a:off x="6615363" y="1939174"/>
            <a:ext cx="3841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50</a:t>
            </a:r>
          </a:p>
        </p:txBody>
      </p:sp>
      <p:sp>
        <p:nvSpPr>
          <p:cNvPr id="42" name="Line 60"/>
          <p:cNvSpPr>
            <a:spLocks noChangeShapeType="1"/>
          </p:cNvSpPr>
          <p:nvPr/>
        </p:nvSpPr>
        <p:spPr bwMode="auto">
          <a:xfrm>
            <a:off x="8240963" y="2248736"/>
            <a:ext cx="182563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" name="Line 61"/>
          <p:cNvSpPr>
            <a:spLocks noChangeShapeType="1"/>
          </p:cNvSpPr>
          <p:nvPr/>
        </p:nvSpPr>
        <p:spPr bwMode="auto">
          <a:xfrm>
            <a:off x="7769476" y="780299"/>
            <a:ext cx="595312" cy="145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" name="Text Box 62"/>
          <p:cNvSpPr txBox="1">
            <a:spLocks noChangeArrowheads="1"/>
          </p:cNvSpPr>
          <p:nvPr/>
        </p:nvSpPr>
        <p:spPr bwMode="auto">
          <a:xfrm>
            <a:off x="7831388" y="2315411"/>
            <a:ext cx="386942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30</a:t>
            </a:r>
            <a:endParaRPr lang="en-US" altLang="zh-CN" sz="1600" b="1" dirty="0"/>
          </a:p>
        </p:txBody>
      </p:sp>
      <p:sp>
        <p:nvSpPr>
          <p:cNvPr id="45" name="Line 63"/>
          <p:cNvSpPr>
            <a:spLocks noChangeShapeType="1"/>
          </p:cNvSpPr>
          <p:nvPr/>
        </p:nvSpPr>
        <p:spPr bwMode="auto">
          <a:xfrm flipH="1">
            <a:off x="8133013" y="2290011"/>
            <a:ext cx="192088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6" name="Freeform 64"/>
          <p:cNvSpPr>
            <a:spLocks/>
          </p:cNvSpPr>
          <p:nvPr/>
        </p:nvSpPr>
        <p:spPr bwMode="auto">
          <a:xfrm>
            <a:off x="3072063" y="783474"/>
            <a:ext cx="995363" cy="2163762"/>
          </a:xfrm>
          <a:custGeom>
            <a:avLst/>
            <a:gdLst>
              <a:gd name="T0" fmla="*/ 627 w 627"/>
              <a:gd name="T1" fmla="*/ 1363 h 1363"/>
              <a:gd name="T2" fmla="*/ 509 w 627"/>
              <a:gd name="T3" fmla="*/ 928 h 1363"/>
              <a:gd name="T4" fmla="*/ 0 w 627"/>
              <a:gd name="T5" fmla="*/ 0 h 1363"/>
              <a:gd name="T6" fmla="*/ 371 w 627"/>
              <a:gd name="T7" fmla="*/ 928 h 1363"/>
              <a:gd name="T8" fmla="*/ 493 w 627"/>
              <a:gd name="T9" fmla="*/ 1363 h 1363"/>
              <a:gd name="T10" fmla="*/ 627 w 627"/>
              <a:gd name="T11" fmla="*/ 1363 h 13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27"/>
              <a:gd name="T19" fmla="*/ 0 h 1363"/>
              <a:gd name="T20" fmla="*/ 627 w 627"/>
              <a:gd name="T21" fmla="*/ 1363 h 13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27" h="1363">
                <a:moveTo>
                  <a:pt x="627" y="1363"/>
                </a:moveTo>
                <a:lnTo>
                  <a:pt x="509" y="928"/>
                </a:lnTo>
                <a:lnTo>
                  <a:pt x="0" y="0"/>
                </a:lnTo>
                <a:lnTo>
                  <a:pt x="371" y="928"/>
                </a:lnTo>
                <a:lnTo>
                  <a:pt x="493" y="1363"/>
                </a:lnTo>
                <a:lnTo>
                  <a:pt x="627" y="13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7" name="Line 65"/>
          <p:cNvSpPr>
            <a:spLocks noChangeShapeType="1"/>
          </p:cNvSpPr>
          <p:nvPr/>
        </p:nvSpPr>
        <p:spPr bwMode="auto">
          <a:xfrm>
            <a:off x="376488" y="791411"/>
            <a:ext cx="3992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8" name="Line 66"/>
          <p:cNvSpPr>
            <a:spLocks noChangeShapeType="1"/>
          </p:cNvSpPr>
          <p:nvPr/>
        </p:nvSpPr>
        <p:spPr bwMode="auto">
          <a:xfrm>
            <a:off x="392363" y="2253499"/>
            <a:ext cx="3976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9" name="Line 67"/>
          <p:cNvSpPr>
            <a:spLocks noChangeShapeType="1"/>
          </p:cNvSpPr>
          <p:nvPr/>
        </p:nvSpPr>
        <p:spPr bwMode="auto">
          <a:xfrm>
            <a:off x="392363" y="2956761"/>
            <a:ext cx="3976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0" name="Line 68"/>
          <p:cNvSpPr>
            <a:spLocks noChangeShapeType="1"/>
          </p:cNvSpPr>
          <p:nvPr/>
        </p:nvSpPr>
        <p:spPr bwMode="auto">
          <a:xfrm>
            <a:off x="392363" y="791411"/>
            <a:ext cx="0" cy="2166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1" name="Freeform 69"/>
          <p:cNvSpPr>
            <a:spLocks/>
          </p:cNvSpPr>
          <p:nvPr/>
        </p:nvSpPr>
        <p:spPr bwMode="auto">
          <a:xfrm>
            <a:off x="395538" y="794586"/>
            <a:ext cx="995363" cy="2163763"/>
          </a:xfrm>
          <a:custGeom>
            <a:avLst/>
            <a:gdLst>
              <a:gd name="T0" fmla="*/ 0 w 397"/>
              <a:gd name="T1" fmla="*/ 0 h 1363"/>
              <a:gd name="T2" fmla="*/ 320 w 397"/>
              <a:gd name="T3" fmla="*/ 921 h 1363"/>
              <a:gd name="T4" fmla="*/ 397 w 397"/>
              <a:gd name="T5" fmla="*/ 1363 h 1363"/>
              <a:gd name="T6" fmla="*/ 0 60000 65536"/>
              <a:gd name="T7" fmla="*/ 0 60000 65536"/>
              <a:gd name="T8" fmla="*/ 0 60000 65536"/>
              <a:gd name="T9" fmla="*/ 0 w 397"/>
              <a:gd name="T10" fmla="*/ 0 h 1363"/>
              <a:gd name="T11" fmla="*/ 397 w 397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7" h="1363">
                <a:moveTo>
                  <a:pt x="0" y="0"/>
                </a:moveTo>
                <a:lnTo>
                  <a:pt x="320" y="921"/>
                </a:lnTo>
                <a:lnTo>
                  <a:pt x="397" y="136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2" name="Line 70"/>
          <p:cNvSpPr>
            <a:spLocks noChangeShapeType="1"/>
          </p:cNvSpPr>
          <p:nvPr/>
        </p:nvSpPr>
        <p:spPr bwMode="auto">
          <a:xfrm>
            <a:off x="1795713" y="783474"/>
            <a:ext cx="0" cy="216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3" name="Freeform 71"/>
          <p:cNvSpPr>
            <a:spLocks/>
          </p:cNvSpPr>
          <p:nvPr/>
        </p:nvSpPr>
        <p:spPr bwMode="auto">
          <a:xfrm>
            <a:off x="1810001" y="800936"/>
            <a:ext cx="768350" cy="2146300"/>
          </a:xfrm>
          <a:custGeom>
            <a:avLst/>
            <a:gdLst>
              <a:gd name="T0" fmla="*/ 0 w 484"/>
              <a:gd name="T1" fmla="*/ 0 h 1352"/>
              <a:gd name="T2" fmla="*/ 375 w 484"/>
              <a:gd name="T3" fmla="*/ 923 h 1352"/>
              <a:gd name="T4" fmla="*/ 484 w 484"/>
              <a:gd name="T5" fmla="*/ 1352 h 1352"/>
              <a:gd name="T6" fmla="*/ 0 60000 65536"/>
              <a:gd name="T7" fmla="*/ 0 60000 65536"/>
              <a:gd name="T8" fmla="*/ 0 60000 65536"/>
              <a:gd name="T9" fmla="*/ 0 w 484"/>
              <a:gd name="T10" fmla="*/ 0 h 1352"/>
              <a:gd name="T11" fmla="*/ 484 w 484"/>
              <a:gd name="T12" fmla="*/ 1352 h 13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4" h="1352">
                <a:moveTo>
                  <a:pt x="0" y="0"/>
                </a:moveTo>
                <a:lnTo>
                  <a:pt x="375" y="923"/>
                </a:lnTo>
                <a:lnTo>
                  <a:pt x="484" y="1352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4" name="Line 72"/>
          <p:cNvSpPr>
            <a:spLocks noChangeShapeType="1"/>
          </p:cNvSpPr>
          <p:nvPr/>
        </p:nvSpPr>
        <p:spPr bwMode="auto">
          <a:xfrm>
            <a:off x="3078413" y="786649"/>
            <a:ext cx="0" cy="216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5" name="Freeform 73"/>
          <p:cNvSpPr>
            <a:spLocks/>
          </p:cNvSpPr>
          <p:nvPr/>
        </p:nvSpPr>
        <p:spPr bwMode="auto">
          <a:xfrm>
            <a:off x="3081588" y="800936"/>
            <a:ext cx="995363" cy="2163763"/>
          </a:xfrm>
          <a:custGeom>
            <a:avLst/>
            <a:gdLst>
              <a:gd name="T0" fmla="*/ 0 w 397"/>
              <a:gd name="T1" fmla="*/ 0 h 1363"/>
              <a:gd name="T2" fmla="*/ 320 w 397"/>
              <a:gd name="T3" fmla="*/ 921 h 1363"/>
              <a:gd name="T4" fmla="*/ 397 w 397"/>
              <a:gd name="T5" fmla="*/ 1363 h 1363"/>
              <a:gd name="T6" fmla="*/ 0 60000 65536"/>
              <a:gd name="T7" fmla="*/ 0 60000 65536"/>
              <a:gd name="T8" fmla="*/ 0 60000 65536"/>
              <a:gd name="T9" fmla="*/ 0 w 397"/>
              <a:gd name="T10" fmla="*/ 0 h 1363"/>
              <a:gd name="T11" fmla="*/ 397 w 397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7" h="1363">
                <a:moveTo>
                  <a:pt x="0" y="0"/>
                </a:moveTo>
                <a:lnTo>
                  <a:pt x="320" y="921"/>
                </a:lnTo>
                <a:lnTo>
                  <a:pt x="397" y="136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6" name="Freeform 74"/>
          <p:cNvSpPr>
            <a:spLocks/>
          </p:cNvSpPr>
          <p:nvPr/>
        </p:nvSpPr>
        <p:spPr bwMode="auto">
          <a:xfrm>
            <a:off x="3083176" y="813636"/>
            <a:ext cx="768350" cy="2146300"/>
          </a:xfrm>
          <a:custGeom>
            <a:avLst/>
            <a:gdLst>
              <a:gd name="T0" fmla="*/ 0 w 484"/>
              <a:gd name="T1" fmla="*/ 0 h 1352"/>
              <a:gd name="T2" fmla="*/ 375 w 484"/>
              <a:gd name="T3" fmla="*/ 923 h 1352"/>
              <a:gd name="T4" fmla="*/ 484 w 484"/>
              <a:gd name="T5" fmla="*/ 1352 h 1352"/>
              <a:gd name="T6" fmla="*/ 0 60000 65536"/>
              <a:gd name="T7" fmla="*/ 0 60000 65536"/>
              <a:gd name="T8" fmla="*/ 0 60000 65536"/>
              <a:gd name="T9" fmla="*/ 0 w 484"/>
              <a:gd name="T10" fmla="*/ 0 h 1352"/>
              <a:gd name="T11" fmla="*/ 484 w 484"/>
              <a:gd name="T12" fmla="*/ 1352 h 13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4" h="1352">
                <a:moveTo>
                  <a:pt x="0" y="0"/>
                </a:moveTo>
                <a:lnTo>
                  <a:pt x="375" y="923"/>
                </a:lnTo>
                <a:lnTo>
                  <a:pt x="484" y="1352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" name="Text Box 75"/>
          <p:cNvSpPr txBox="1">
            <a:spLocks noChangeArrowheads="1"/>
          </p:cNvSpPr>
          <p:nvPr/>
        </p:nvSpPr>
        <p:spPr bwMode="auto">
          <a:xfrm>
            <a:off x="1121026" y="1920124"/>
            <a:ext cx="386942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80</a:t>
            </a:r>
            <a:endParaRPr lang="en-US" altLang="zh-CN" sz="1600" b="1" dirty="0"/>
          </a:p>
        </p:txBody>
      </p:sp>
      <p:sp>
        <p:nvSpPr>
          <p:cNvPr id="58" name="Text Box 76"/>
          <p:cNvSpPr txBox="1">
            <a:spLocks noChangeArrowheads="1"/>
          </p:cNvSpPr>
          <p:nvPr/>
        </p:nvSpPr>
        <p:spPr bwMode="auto">
          <a:xfrm>
            <a:off x="1241676" y="2901199"/>
            <a:ext cx="478186" cy="37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116</a:t>
            </a:r>
            <a:endParaRPr lang="en-US" altLang="zh-CN" sz="1600" b="1" dirty="0"/>
          </a:p>
        </p:txBody>
      </p:sp>
      <p:sp>
        <p:nvSpPr>
          <p:cNvPr id="59" name="Text Box 78"/>
          <p:cNvSpPr txBox="1">
            <a:spLocks noChangeArrowheads="1"/>
          </p:cNvSpPr>
          <p:nvPr/>
        </p:nvSpPr>
        <p:spPr bwMode="auto">
          <a:xfrm>
            <a:off x="505076" y="689811"/>
            <a:ext cx="2825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60" name="Text Box 79"/>
          <p:cNvSpPr txBox="1">
            <a:spLocks noChangeArrowheads="1"/>
          </p:cNvSpPr>
          <p:nvPr/>
        </p:nvSpPr>
        <p:spPr bwMode="auto">
          <a:xfrm>
            <a:off x="2352926" y="1905836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60</a:t>
            </a:r>
          </a:p>
        </p:txBody>
      </p:sp>
      <p:sp>
        <p:nvSpPr>
          <p:cNvPr id="61" name="Text Box 80"/>
          <p:cNvSpPr txBox="1">
            <a:spLocks noChangeArrowheads="1"/>
          </p:cNvSpPr>
          <p:nvPr/>
        </p:nvSpPr>
        <p:spPr bwMode="auto">
          <a:xfrm>
            <a:off x="2473576" y="2886911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80</a:t>
            </a:r>
          </a:p>
        </p:txBody>
      </p:sp>
      <p:sp>
        <p:nvSpPr>
          <p:cNvPr id="62" name="Text Box 81"/>
          <p:cNvSpPr txBox="1">
            <a:spLocks noChangeArrowheads="1"/>
          </p:cNvSpPr>
          <p:nvPr/>
        </p:nvSpPr>
        <p:spPr bwMode="auto">
          <a:xfrm>
            <a:off x="1879851" y="675524"/>
            <a:ext cx="2825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63" name="Text Box 82"/>
          <p:cNvSpPr txBox="1">
            <a:spLocks noChangeArrowheads="1"/>
          </p:cNvSpPr>
          <p:nvPr/>
        </p:nvSpPr>
        <p:spPr bwMode="auto">
          <a:xfrm>
            <a:off x="3891213" y="1834399"/>
            <a:ext cx="386942" cy="354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20</a:t>
            </a:r>
            <a:endParaRPr lang="en-US" altLang="zh-CN" sz="1600" b="1" dirty="0"/>
          </a:p>
        </p:txBody>
      </p:sp>
      <p:sp>
        <p:nvSpPr>
          <p:cNvPr id="64" name="Text Box 83"/>
          <p:cNvSpPr txBox="1">
            <a:spLocks noChangeArrowheads="1"/>
          </p:cNvSpPr>
          <p:nvPr/>
        </p:nvSpPr>
        <p:spPr bwMode="auto">
          <a:xfrm>
            <a:off x="3794376" y="2888499"/>
            <a:ext cx="386942" cy="354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 smtClean="0"/>
              <a:t>36</a:t>
            </a:r>
            <a:endParaRPr lang="en-US" altLang="zh-CN" sz="1600" b="1" dirty="0"/>
          </a:p>
        </p:txBody>
      </p:sp>
      <p:sp>
        <p:nvSpPr>
          <p:cNvPr id="65" name="Text Box 84"/>
          <p:cNvSpPr txBox="1">
            <a:spLocks noChangeArrowheads="1"/>
          </p:cNvSpPr>
          <p:nvPr/>
        </p:nvSpPr>
        <p:spPr bwMode="auto">
          <a:xfrm>
            <a:off x="3172076" y="686636"/>
            <a:ext cx="2825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66" name="Line 85"/>
          <p:cNvSpPr>
            <a:spLocks noChangeShapeType="1"/>
          </p:cNvSpPr>
          <p:nvPr/>
        </p:nvSpPr>
        <p:spPr bwMode="auto">
          <a:xfrm flipV="1">
            <a:off x="3786438" y="2094749"/>
            <a:ext cx="1524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" name="Text Box 92"/>
          <p:cNvSpPr txBox="1">
            <a:spLocks noChangeArrowheads="1"/>
          </p:cNvSpPr>
          <p:nvPr/>
        </p:nvSpPr>
        <p:spPr bwMode="auto">
          <a:xfrm>
            <a:off x="1954463" y="1131136"/>
            <a:ext cx="113188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200" b="1">
                <a:solidFill>
                  <a:srgbClr val="A50021"/>
                </a:solidFill>
                <a:ea typeface="幼圆" pitchFamily="49" charset="-122"/>
              </a:rPr>
              <a:t>降低前</a:t>
            </a:r>
            <a:endParaRPr lang="en-US" altLang="zh-CN" sz="22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68" name="Text Box 93"/>
          <p:cNvSpPr txBox="1">
            <a:spLocks noChangeArrowheads="1"/>
          </p:cNvSpPr>
          <p:nvPr/>
        </p:nvSpPr>
        <p:spPr bwMode="auto">
          <a:xfrm>
            <a:off x="6472488" y="1121611"/>
            <a:ext cx="113188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200" b="1">
                <a:solidFill>
                  <a:srgbClr val="A50021"/>
                </a:solidFill>
                <a:ea typeface="幼圆" pitchFamily="49" charset="-122"/>
              </a:rPr>
              <a:t>降低后</a:t>
            </a:r>
          </a:p>
        </p:txBody>
      </p:sp>
      <p:sp>
        <p:nvSpPr>
          <p:cNvPr id="69" name="Text Box 27"/>
          <p:cNvSpPr txBox="1">
            <a:spLocks noChangeArrowheads="1"/>
          </p:cNvSpPr>
          <p:nvPr/>
        </p:nvSpPr>
        <p:spPr bwMode="auto">
          <a:xfrm>
            <a:off x="487547" y="1399215"/>
            <a:ext cx="627846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70" name="Text Box 28"/>
          <p:cNvSpPr txBox="1">
            <a:spLocks noChangeArrowheads="1"/>
          </p:cNvSpPr>
          <p:nvPr/>
        </p:nvSpPr>
        <p:spPr bwMode="auto">
          <a:xfrm>
            <a:off x="523100" y="2430462"/>
            <a:ext cx="627846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732040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有效应力计算与渗流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14325" y="557767"/>
            <a:ext cx="7699375" cy="50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dirty="0">
                <a:solidFill>
                  <a:srgbClr val="C00000"/>
                </a:solidFill>
                <a:ea typeface="幼圆" pitchFamily="49" charset="-122"/>
              </a:rPr>
              <a:t>d) </a:t>
            </a:r>
            <a:r>
              <a:rPr lang="zh-CN" altLang="en-US" sz="2200" b="1" dirty="0">
                <a:solidFill>
                  <a:srgbClr val="C00000"/>
                </a:solidFill>
                <a:ea typeface="幼圆" pitchFamily="49" charset="-122"/>
              </a:rPr>
              <a:t>如发生渗流固结现象，画出</a:t>
            </a:r>
            <a:r>
              <a:rPr lang="en-US" altLang="zh-CN" sz="2200" b="1" i="1" dirty="0">
                <a:solidFill>
                  <a:srgbClr val="C00000"/>
                </a:solidFill>
                <a:ea typeface="幼圆" pitchFamily="49" charset="-122"/>
              </a:rPr>
              <a:t>t</a:t>
            </a:r>
            <a:r>
              <a:rPr lang="en-US" altLang="zh-CN" sz="2200" b="1" dirty="0">
                <a:solidFill>
                  <a:srgbClr val="C00000"/>
                </a:solidFill>
                <a:ea typeface="幼圆" pitchFamily="49" charset="-122"/>
              </a:rPr>
              <a:t>=0</a:t>
            </a:r>
            <a:r>
              <a:rPr lang="zh-CN" altLang="en-US" sz="2200" b="1" dirty="0">
                <a:solidFill>
                  <a:srgbClr val="C00000"/>
                </a:solidFill>
                <a:ea typeface="幼圆" pitchFamily="49" charset="-122"/>
              </a:rPr>
              <a:t>时的超静孔隙水压力分布。</a:t>
            </a:r>
            <a:endParaRPr lang="en-US" altLang="zh-CN" sz="22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4308475" y="2098086"/>
            <a:ext cx="3976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4335463" y="3576049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4335463" y="4279311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25938" y="1388621"/>
            <a:ext cx="1157287" cy="3203428"/>
            <a:chOff x="4325938" y="1360269"/>
            <a:chExt cx="1157287" cy="3203428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325938" y="2077672"/>
              <a:ext cx="0" cy="2166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4935538" y="3560397"/>
              <a:ext cx="173037" cy="681037"/>
            </a:xfrm>
            <a:custGeom>
              <a:avLst/>
              <a:gdLst>
                <a:gd name="T0" fmla="*/ 0 w 109"/>
                <a:gd name="T1" fmla="*/ 0 h 429"/>
                <a:gd name="T2" fmla="*/ 109 w 109"/>
                <a:gd name="T3" fmla="*/ 429 h 429"/>
                <a:gd name="T4" fmla="*/ 0 60000 65536"/>
                <a:gd name="T5" fmla="*/ 0 60000 65536"/>
                <a:gd name="T6" fmla="*/ 0 w 109"/>
                <a:gd name="T7" fmla="*/ 0 h 429"/>
                <a:gd name="T8" fmla="*/ 109 w 109"/>
                <a:gd name="T9" fmla="*/ 429 h 4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" h="429">
                  <a:moveTo>
                    <a:pt x="0" y="0"/>
                  </a:moveTo>
                  <a:lnTo>
                    <a:pt x="109" y="42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4883150" y="3200034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60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4781550" y="4190634"/>
              <a:ext cx="3841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70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4410075" y="1969722"/>
              <a:ext cx="2825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4800600" y="3550872"/>
              <a:ext cx="182563" cy="70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>
              <a:off x="4344988" y="2082434"/>
              <a:ext cx="595312" cy="14589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4510088" y="3242897"/>
              <a:ext cx="3841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50</a:t>
              </a:r>
            </a:p>
          </p:txBody>
        </p:sp>
        <p:sp>
          <p:nvSpPr>
            <p:cNvPr id="18" name="Text Box 55"/>
            <p:cNvSpPr txBox="1">
              <a:spLocks noChangeArrowheads="1"/>
            </p:cNvSpPr>
            <p:nvPr/>
          </p:nvSpPr>
          <p:spPr bwMode="auto">
            <a:xfrm>
              <a:off x="4351338" y="1360269"/>
              <a:ext cx="1131887" cy="465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US" altLang="zh-CN" sz="2200" b="1" i="1" dirty="0" smtClean="0">
                  <a:solidFill>
                    <a:srgbClr val="A50021"/>
                  </a:solidFill>
                  <a:ea typeface="幼圆" pitchFamily="49" charset="-122"/>
                </a:rPr>
                <a:t>t</a:t>
              </a:r>
              <a:r>
                <a:rPr lang="en-US" altLang="zh-CN" sz="2200" b="1" dirty="0" smtClean="0">
                  <a:solidFill>
                    <a:srgbClr val="A50021"/>
                  </a:solidFill>
                  <a:ea typeface="幼圆" pitchFamily="49" charset="-122"/>
                </a:rPr>
                <a:t>=0</a:t>
              </a:r>
              <a:endParaRPr lang="en-US" altLang="zh-CN" sz="22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</p:grpSp>
      <p:sp>
        <p:nvSpPr>
          <p:cNvPr id="19" name="Freeform 58"/>
          <p:cNvSpPr>
            <a:spLocks/>
          </p:cNvSpPr>
          <p:nvPr/>
        </p:nvSpPr>
        <p:spPr bwMode="auto">
          <a:xfrm>
            <a:off x="327025" y="1759949"/>
            <a:ext cx="504825" cy="2046287"/>
          </a:xfrm>
          <a:custGeom>
            <a:avLst/>
            <a:gdLst>
              <a:gd name="T0" fmla="*/ 313 w 318"/>
              <a:gd name="T1" fmla="*/ 1241 h 1289"/>
              <a:gd name="T2" fmla="*/ 49 w 318"/>
              <a:gd name="T3" fmla="*/ 1241 h 1289"/>
              <a:gd name="T4" fmla="*/ 46 w 318"/>
              <a:gd name="T5" fmla="*/ 0 h 1289"/>
              <a:gd name="T6" fmla="*/ 0 w 318"/>
              <a:gd name="T7" fmla="*/ 3 h 1289"/>
              <a:gd name="T8" fmla="*/ 1 w 318"/>
              <a:gd name="T9" fmla="*/ 1289 h 1289"/>
              <a:gd name="T10" fmla="*/ 318 w 318"/>
              <a:gd name="T11" fmla="*/ 1289 h 1289"/>
              <a:gd name="T12" fmla="*/ 313 w 318"/>
              <a:gd name="T13" fmla="*/ 1241 h 12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8"/>
              <a:gd name="T22" fmla="*/ 0 h 1289"/>
              <a:gd name="T23" fmla="*/ 318 w 318"/>
              <a:gd name="T24" fmla="*/ 1289 h 12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8" h="1289">
                <a:moveTo>
                  <a:pt x="313" y="1241"/>
                </a:moveTo>
                <a:lnTo>
                  <a:pt x="49" y="1241"/>
                </a:lnTo>
                <a:lnTo>
                  <a:pt x="46" y="0"/>
                </a:lnTo>
                <a:lnTo>
                  <a:pt x="0" y="3"/>
                </a:lnTo>
                <a:lnTo>
                  <a:pt x="1" y="1289"/>
                </a:lnTo>
                <a:lnTo>
                  <a:pt x="318" y="1289"/>
                </a:lnTo>
                <a:lnTo>
                  <a:pt x="313" y="1241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Rectangle 59" descr="大纸屑"/>
          <p:cNvSpPr>
            <a:spLocks noChangeArrowheads="1"/>
          </p:cNvSpPr>
          <p:nvPr/>
        </p:nvSpPr>
        <p:spPr bwMode="auto">
          <a:xfrm>
            <a:off x="831850" y="3577636"/>
            <a:ext cx="2773363" cy="701675"/>
          </a:xfrm>
          <a:prstGeom prst="rect">
            <a:avLst/>
          </a:prstGeom>
          <a:pattFill prst="lg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60" descr="小纸屑"/>
          <p:cNvSpPr>
            <a:spLocks noChangeArrowheads="1"/>
          </p:cNvSpPr>
          <p:nvPr/>
        </p:nvSpPr>
        <p:spPr bwMode="auto">
          <a:xfrm>
            <a:off x="839788" y="2099674"/>
            <a:ext cx="2773362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61" descr="浅色上对角线"/>
          <p:cNvSpPr>
            <a:spLocks noChangeArrowheads="1"/>
          </p:cNvSpPr>
          <p:nvPr/>
        </p:nvSpPr>
        <p:spPr bwMode="auto">
          <a:xfrm>
            <a:off x="855663" y="4285661"/>
            <a:ext cx="2765425" cy="88900"/>
          </a:xfrm>
          <a:prstGeom prst="rect">
            <a:avLst/>
          </a:prstGeom>
          <a:pattFill prst="ltUpDiag">
            <a:fgClr>
              <a:srgbClr val="333399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62"/>
          <p:cNvSpPr>
            <a:spLocks noChangeShapeType="1"/>
          </p:cNvSpPr>
          <p:nvPr/>
        </p:nvSpPr>
        <p:spPr bwMode="auto">
          <a:xfrm>
            <a:off x="830263" y="2115549"/>
            <a:ext cx="2789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63"/>
          <p:cNvSpPr>
            <a:spLocks noChangeShapeType="1"/>
          </p:cNvSpPr>
          <p:nvPr/>
        </p:nvSpPr>
        <p:spPr bwMode="auto">
          <a:xfrm>
            <a:off x="830263" y="3576049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64"/>
          <p:cNvSpPr>
            <a:spLocks noChangeShapeType="1"/>
          </p:cNvSpPr>
          <p:nvPr/>
        </p:nvSpPr>
        <p:spPr bwMode="auto">
          <a:xfrm>
            <a:off x="830263" y="4282486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Freeform 65"/>
          <p:cNvSpPr>
            <a:spLocks/>
          </p:cNvSpPr>
          <p:nvPr/>
        </p:nvSpPr>
        <p:spPr bwMode="auto">
          <a:xfrm>
            <a:off x="404813" y="1224961"/>
            <a:ext cx="473075" cy="250507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Freeform 66"/>
          <p:cNvSpPr>
            <a:spLocks/>
          </p:cNvSpPr>
          <p:nvPr/>
        </p:nvSpPr>
        <p:spPr bwMode="auto">
          <a:xfrm>
            <a:off x="331788" y="1221786"/>
            <a:ext cx="565150" cy="2584450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1706563" y="2004424"/>
            <a:ext cx="315912" cy="285750"/>
            <a:chOff x="1122" y="1612"/>
            <a:chExt cx="222" cy="152"/>
          </a:xfrm>
        </p:grpSpPr>
        <p:sp>
          <p:nvSpPr>
            <p:cNvPr id="29" name="AutoShape 68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69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70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71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72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Line 73"/>
          <p:cNvSpPr>
            <a:spLocks noChangeShapeType="1"/>
          </p:cNvSpPr>
          <p:nvPr/>
        </p:nvSpPr>
        <p:spPr bwMode="auto">
          <a:xfrm flipV="1">
            <a:off x="987425" y="1769474"/>
            <a:ext cx="0" cy="344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" name="Line 74"/>
          <p:cNvSpPr>
            <a:spLocks noChangeShapeType="1"/>
          </p:cNvSpPr>
          <p:nvPr/>
        </p:nvSpPr>
        <p:spPr bwMode="auto">
          <a:xfrm>
            <a:off x="517525" y="1415461"/>
            <a:ext cx="6207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Line 75"/>
          <p:cNvSpPr>
            <a:spLocks noChangeShapeType="1"/>
          </p:cNvSpPr>
          <p:nvPr/>
        </p:nvSpPr>
        <p:spPr bwMode="auto">
          <a:xfrm>
            <a:off x="331788" y="1759949"/>
            <a:ext cx="650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" name="Line 76"/>
          <p:cNvSpPr>
            <a:spLocks noChangeShapeType="1"/>
          </p:cNvSpPr>
          <p:nvPr/>
        </p:nvSpPr>
        <p:spPr bwMode="auto">
          <a:xfrm>
            <a:off x="344488" y="1783761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8" name="Line 77"/>
          <p:cNvSpPr>
            <a:spLocks noChangeShapeType="1"/>
          </p:cNvSpPr>
          <p:nvPr/>
        </p:nvSpPr>
        <p:spPr bwMode="auto">
          <a:xfrm>
            <a:off x="354013" y="1809161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9" name="Line 78"/>
          <p:cNvSpPr>
            <a:spLocks noChangeShapeType="1"/>
          </p:cNvSpPr>
          <p:nvPr/>
        </p:nvSpPr>
        <p:spPr bwMode="auto">
          <a:xfrm>
            <a:off x="347663" y="1834561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0" name="Text Box 79"/>
          <p:cNvSpPr txBox="1">
            <a:spLocks noChangeArrowheads="1"/>
          </p:cNvSpPr>
          <p:nvPr/>
        </p:nvSpPr>
        <p:spPr bwMode="auto">
          <a:xfrm>
            <a:off x="1933575" y="2555286"/>
            <a:ext cx="1541558" cy="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=20kN/cm</a:t>
            </a:r>
            <a:r>
              <a:rPr kumimoji="1" lang="de-DE" altLang="zh-CN" sz="1800" b="1" baseline="30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1" name="Text Box 80"/>
          <p:cNvSpPr txBox="1">
            <a:spLocks noChangeArrowheads="1"/>
          </p:cNvSpPr>
          <p:nvPr/>
        </p:nvSpPr>
        <p:spPr bwMode="auto">
          <a:xfrm>
            <a:off x="1947863" y="3607799"/>
            <a:ext cx="1527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=18kN/cm</a:t>
            </a:r>
            <a:r>
              <a:rPr kumimoji="1" lang="de-DE" altLang="zh-CN" sz="1800" b="1" baseline="30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2" name="Line 81"/>
          <p:cNvSpPr>
            <a:spLocks noChangeShapeType="1"/>
          </p:cNvSpPr>
          <p:nvPr/>
        </p:nvSpPr>
        <p:spPr bwMode="auto">
          <a:xfrm flipV="1">
            <a:off x="984250" y="2126661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" name="Line 82"/>
          <p:cNvSpPr>
            <a:spLocks noChangeShapeType="1"/>
          </p:cNvSpPr>
          <p:nvPr/>
        </p:nvSpPr>
        <p:spPr bwMode="auto">
          <a:xfrm flipV="1">
            <a:off x="989013" y="3585574"/>
            <a:ext cx="0" cy="690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" name="Text Box 83"/>
          <p:cNvSpPr txBox="1">
            <a:spLocks noChangeArrowheads="1"/>
          </p:cNvSpPr>
          <p:nvPr/>
        </p:nvSpPr>
        <p:spPr bwMode="auto">
          <a:xfrm>
            <a:off x="1022350" y="1734549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45" name="Text Box 84"/>
          <p:cNvSpPr txBox="1">
            <a:spLocks noChangeArrowheads="1"/>
          </p:cNvSpPr>
          <p:nvPr/>
        </p:nvSpPr>
        <p:spPr bwMode="auto">
          <a:xfrm>
            <a:off x="1049338" y="2690224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4m</a:t>
            </a:r>
          </a:p>
        </p:txBody>
      </p:sp>
      <p:sp>
        <p:nvSpPr>
          <p:cNvPr id="46" name="Text Box 85"/>
          <p:cNvSpPr txBox="1">
            <a:spLocks noChangeArrowheads="1"/>
          </p:cNvSpPr>
          <p:nvPr/>
        </p:nvSpPr>
        <p:spPr bwMode="auto">
          <a:xfrm>
            <a:off x="1036638" y="3750674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47" name="Text Box 86"/>
          <p:cNvSpPr txBox="1">
            <a:spLocks noChangeArrowheads="1"/>
          </p:cNvSpPr>
          <p:nvPr/>
        </p:nvSpPr>
        <p:spPr bwMode="auto">
          <a:xfrm>
            <a:off x="1722438" y="4387261"/>
            <a:ext cx="13160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幼圆" pitchFamily="49" charset="-122"/>
              </a:rPr>
              <a:t>不透水岩石</a:t>
            </a:r>
            <a:endParaRPr kumimoji="1" lang="zh-CN" altLang="de-DE" sz="1800" b="1" baseline="3000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8" name="Line 87"/>
          <p:cNvSpPr>
            <a:spLocks noChangeShapeType="1"/>
          </p:cNvSpPr>
          <p:nvPr/>
        </p:nvSpPr>
        <p:spPr bwMode="auto">
          <a:xfrm flipH="1">
            <a:off x="942975" y="1759949"/>
            <a:ext cx="777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9" name="Line 88"/>
          <p:cNvSpPr>
            <a:spLocks noChangeShapeType="1"/>
          </p:cNvSpPr>
          <p:nvPr/>
        </p:nvSpPr>
        <p:spPr bwMode="auto">
          <a:xfrm>
            <a:off x="636588" y="1417049"/>
            <a:ext cx="0" cy="312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51" name="Group 110"/>
          <p:cNvGrpSpPr>
            <a:grpSpLocks/>
          </p:cNvGrpSpPr>
          <p:nvPr/>
        </p:nvGrpSpPr>
        <p:grpSpPr bwMode="auto">
          <a:xfrm>
            <a:off x="5272088" y="1209086"/>
            <a:ext cx="2000250" cy="3371850"/>
            <a:chOff x="3321" y="842"/>
            <a:chExt cx="1260" cy="2124"/>
          </a:xfrm>
        </p:grpSpPr>
        <p:sp>
          <p:nvSpPr>
            <p:cNvPr id="62" name="Text Box 89"/>
            <p:cNvSpPr txBox="1">
              <a:spLocks noChangeArrowheads="1"/>
            </p:cNvSpPr>
            <p:nvPr/>
          </p:nvSpPr>
          <p:spPr bwMode="auto">
            <a:xfrm>
              <a:off x="3321" y="842"/>
              <a:ext cx="1260" cy="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 smtClean="0">
                  <a:solidFill>
                    <a:srgbClr val="A50021"/>
                  </a:solidFill>
                  <a:ea typeface="幼圆" pitchFamily="49" charset="-122"/>
                </a:rPr>
                <a:t>t</a:t>
              </a:r>
              <a:r>
                <a:rPr lang="en-US" altLang="zh-CN" sz="2200" b="1" dirty="0" smtClean="0">
                  <a:solidFill>
                    <a:srgbClr val="A50021"/>
                  </a:solidFill>
                  <a:ea typeface="幼圆" pitchFamily="49" charset="-122"/>
                </a:rPr>
                <a:t>=</a:t>
              </a:r>
              <a:r>
                <a:rPr lang="en-US" altLang="zh-CN" sz="22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</a:t>
              </a:r>
              <a:br>
                <a:rPr lang="en-US" altLang="zh-CN" sz="22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</a:br>
              <a:r>
                <a:rPr lang="zh-CN" altLang="en-US" sz="22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（稳定渗流）</a:t>
              </a:r>
            </a:p>
          </p:txBody>
        </p:sp>
        <p:sp>
          <p:nvSpPr>
            <p:cNvPr id="63" name="Line 90"/>
            <p:cNvSpPr>
              <a:spLocks noChangeShapeType="1"/>
            </p:cNvSpPr>
            <p:nvPr/>
          </p:nvSpPr>
          <p:spPr bwMode="auto">
            <a:xfrm>
              <a:off x="3749" y="1400"/>
              <a:ext cx="0" cy="1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Text Box 93"/>
            <p:cNvSpPr txBox="1">
              <a:spLocks noChangeArrowheads="1"/>
            </p:cNvSpPr>
            <p:nvPr/>
          </p:nvSpPr>
          <p:spPr bwMode="auto">
            <a:xfrm>
              <a:off x="4036" y="2731"/>
              <a:ext cx="242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70</a:t>
              </a:r>
            </a:p>
          </p:txBody>
        </p:sp>
        <p:sp>
          <p:nvSpPr>
            <p:cNvPr id="65" name="Text Box 94"/>
            <p:cNvSpPr txBox="1">
              <a:spLocks noChangeArrowheads="1"/>
            </p:cNvSpPr>
            <p:nvPr/>
          </p:nvSpPr>
          <p:spPr bwMode="auto">
            <a:xfrm>
              <a:off x="3802" y="1332"/>
              <a:ext cx="17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</a:p>
          </p:txBody>
        </p:sp>
        <p:sp>
          <p:nvSpPr>
            <p:cNvPr id="66" name="Line 95"/>
            <p:cNvSpPr>
              <a:spLocks noChangeShapeType="1"/>
            </p:cNvSpPr>
            <p:nvPr/>
          </p:nvSpPr>
          <p:spPr bwMode="auto">
            <a:xfrm>
              <a:off x="4048" y="2328"/>
              <a:ext cx="115" cy="4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96"/>
            <p:cNvSpPr>
              <a:spLocks noChangeShapeType="1"/>
            </p:cNvSpPr>
            <p:nvPr/>
          </p:nvSpPr>
          <p:spPr bwMode="auto">
            <a:xfrm>
              <a:off x="3751" y="1403"/>
              <a:ext cx="297" cy="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Text Box 97"/>
            <p:cNvSpPr txBox="1">
              <a:spLocks noChangeArrowheads="1"/>
            </p:cNvSpPr>
            <p:nvPr/>
          </p:nvSpPr>
          <p:spPr bwMode="auto">
            <a:xfrm>
              <a:off x="4016" y="2126"/>
              <a:ext cx="242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50</a:t>
              </a:r>
            </a:p>
          </p:txBody>
        </p:sp>
      </p:grpSp>
      <p:grpSp>
        <p:nvGrpSpPr>
          <p:cNvPr id="52" name="Group 111"/>
          <p:cNvGrpSpPr>
            <a:grpSpLocks/>
          </p:cNvGrpSpPr>
          <p:nvPr/>
        </p:nvGrpSpPr>
        <p:grpSpPr bwMode="auto">
          <a:xfrm>
            <a:off x="7083425" y="1175749"/>
            <a:ext cx="1346200" cy="3113088"/>
            <a:chOff x="4462" y="821"/>
            <a:chExt cx="848" cy="1961"/>
          </a:xfrm>
        </p:grpSpPr>
        <p:sp>
          <p:nvSpPr>
            <p:cNvPr id="53" name="Freeform 103"/>
            <p:cNvSpPr>
              <a:spLocks/>
            </p:cNvSpPr>
            <p:nvPr/>
          </p:nvSpPr>
          <p:spPr bwMode="auto">
            <a:xfrm>
              <a:off x="4666" y="1398"/>
              <a:ext cx="394" cy="941"/>
            </a:xfrm>
            <a:custGeom>
              <a:avLst/>
              <a:gdLst>
                <a:gd name="T0" fmla="*/ 299 w 394"/>
                <a:gd name="T1" fmla="*/ 934 h 941"/>
                <a:gd name="T2" fmla="*/ 394 w 394"/>
                <a:gd name="T3" fmla="*/ 941 h 941"/>
                <a:gd name="T4" fmla="*/ 0 w 394"/>
                <a:gd name="T5" fmla="*/ 0 h 941"/>
                <a:gd name="T6" fmla="*/ 299 w 394"/>
                <a:gd name="T7" fmla="*/ 934 h 9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4"/>
                <a:gd name="T13" fmla="*/ 0 h 941"/>
                <a:gd name="T14" fmla="*/ 394 w 394"/>
                <a:gd name="T15" fmla="*/ 941 h 9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4" h="941">
                  <a:moveTo>
                    <a:pt x="299" y="934"/>
                  </a:moveTo>
                  <a:lnTo>
                    <a:pt x="394" y="941"/>
                  </a:lnTo>
                  <a:lnTo>
                    <a:pt x="0" y="0"/>
                  </a:lnTo>
                  <a:lnTo>
                    <a:pt x="299" y="9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57"/>
            <p:cNvSpPr txBox="1">
              <a:spLocks noChangeArrowheads="1"/>
            </p:cNvSpPr>
            <p:nvPr/>
          </p:nvSpPr>
          <p:spPr bwMode="auto">
            <a:xfrm>
              <a:off x="4462" y="821"/>
              <a:ext cx="848" cy="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zh-CN" altLang="en-US" sz="2200" b="1" dirty="0">
                  <a:solidFill>
                    <a:srgbClr val="A50021"/>
                  </a:solidFill>
                  <a:ea typeface="幼圆" pitchFamily="49" charset="-122"/>
                </a:rPr>
                <a:t>超静孔隙水压力</a:t>
              </a:r>
              <a:endParaRPr lang="en-US" altLang="zh-CN" sz="22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55" name="Line 98"/>
            <p:cNvSpPr>
              <a:spLocks noChangeShapeType="1"/>
            </p:cNvSpPr>
            <p:nvPr/>
          </p:nvSpPr>
          <p:spPr bwMode="auto">
            <a:xfrm>
              <a:off x="4961" y="2332"/>
              <a:ext cx="115" cy="4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99"/>
            <p:cNvSpPr>
              <a:spLocks noChangeShapeType="1"/>
            </p:cNvSpPr>
            <p:nvPr/>
          </p:nvSpPr>
          <p:spPr bwMode="auto">
            <a:xfrm>
              <a:off x="4674" y="1407"/>
              <a:ext cx="375" cy="9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100"/>
            <p:cNvSpPr>
              <a:spLocks noChangeShapeType="1"/>
            </p:cNvSpPr>
            <p:nvPr/>
          </p:nvSpPr>
          <p:spPr bwMode="auto">
            <a:xfrm>
              <a:off x="4669" y="1412"/>
              <a:ext cx="0" cy="1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101"/>
            <p:cNvSpPr>
              <a:spLocks noChangeShapeType="1"/>
            </p:cNvSpPr>
            <p:nvPr/>
          </p:nvSpPr>
          <p:spPr bwMode="auto">
            <a:xfrm>
              <a:off x="4668" y="1416"/>
              <a:ext cx="297" cy="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102"/>
            <p:cNvSpPr>
              <a:spLocks noChangeShapeType="1"/>
            </p:cNvSpPr>
            <p:nvPr/>
          </p:nvSpPr>
          <p:spPr bwMode="auto">
            <a:xfrm>
              <a:off x="4964" y="2340"/>
              <a:ext cx="115" cy="4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105"/>
            <p:cNvSpPr>
              <a:spLocks noChangeShapeType="1"/>
            </p:cNvSpPr>
            <p:nvPr/>
          </p:nvSpPr>
          <p:spPr bwMode="auto">
            <a:xfrm flipV="1">
              <a:off x="5002" y="2200"/>
              <a:ext cx="95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5064" y="2057"/>
              <a:ext cx="242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10</a:t>
              </a:r>
            </a:p>
          </p:txBody>
        </p:sp>
      </p:grpSp>
      <p:sp>
        <p:nvSpPr>
          <p:cNvPr id="69" name="Text Box 108"/>
          <p:cNvSpPr txBox="1">
            <a:spLocks noChangeArrowheads="1"/>
          </p:cNvSpPr>
          <p:nvPr/>
        </p:nvSpPr>
        <p:spPr bwMode="auto">
          <a:xfrm>
            <a:off x="1624456" y="4806580"/>
            <a:ext cx="7455749" cy="1753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200" b="1" baseline="-25000" dirty="0">
                <a:solidFill>
                  <a:srgbClr val="000066"/>
                </a:solidFill>
                <a:ea typeface="幼圆" pitchFamily="49" charset="-122"/>
              </a:rPr>
              <a:t>超静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200" b="1" baseline="-25000" dirty="0" smtClean="0">
                <a:solidFill>
                  <a:srgbClr val="000066"/>
                </a:solidFill>
                <a:ea typeface="幼圆" pitchFamily="49" charset="-122"/>
              </a:rPr>
              <a:t>静</a:t>
            </a:r>
            <a:endParaRPr lang="en-US" altLang="zh-CN" sz="2200" b="1" baseline="-25000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=0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时的总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孔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压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200" b="1" baseline="-25000" dirty="0">
                <a:solidFill>
                  <a:srgbClr val="000066"/>
                </a:solidFill>
                <a:ea typeface="幼圆" pitchFamily="49" charset="-122"/>
              </a:rPr>
              <a:t>静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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也即稳定渗流时的孔压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200" b="1" baseline="-25000" dirty="0" smtClean="0">
                <a:solidFill>
                  <a:srgbClr val="000066"/>
                </a:solidFill>
                <a:ea typeface="幼圆" pitchFamily="49" charset="-122"/>
              </a:rPr>
              <a:t>静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为需要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消散的超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静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孔压，土层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发生渗流固结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704540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 decel="1000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有效应力计算与渗流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32050" y="5180013"/>
            <a:ext cx="5794375" cy="1128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1082675" indent="-10826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思考：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当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0&lt;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&lt;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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层中的渗流方向如何确定？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4308475" y="2114550"/>
            <a:ext cx="3976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4335463" y="3592513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335463" y="4295775"/>
            <a:ext cx="397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4325938" y="2122488"/>
            <a:ext cx="0" cy="2166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4935538" y="3605213"/>
            <a:ext cx="173037" cy="681037"/>
          </a:xfrm>
          <a:custGeom>
            <a:avLst/>
            <a:gdLst>
              <a:gd name="T0" fmla="*/ 0 w 109"/>
              <a:gd name="T1" fmla="*/ 0 h 429"/>
              <a:gd name="T2" fmla="*/ 109 w 109"/>
              <a:gd name="T3" fmla="*/ 429 h 429"/>
              <a:gd name="T4" fmla="*/ 0 60000 65536"/>
              <a:gd name="T5" fmla="*/ 0 60000 65536"/>
              <a:gd name="T6" fmla="*/ 0 w 109"/>
              <a:gd name="T7" fmla="*/ 0 h 429"/>
              <a:gd name="T8" fmla="*/ 109 w 109"/>
              <a:gd name="T9" fmla="*/ 429 h 4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" h="429">
                <a:moveTo>
                  <a:pt x="0" y="0"/>
                </a:moveTo>
                <a:lnTo>
                  <a:pt x="109" y="42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4883150" y="3244850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60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781550" y="4235450"/>
            <a:ext cx="3841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70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4410075" y="2014538"/>
            <a:ext cx="2825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0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4800600" y="3595688"/>
            <a:ext cx="182563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344988" y="2127250"/>
            <a:ext cx="595312" cy="145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4510088" y="3287713"/>
            <a:ext cx="3841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/>
              <a:t>50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4351338" y="1220788"/>
            <a:ext cx="1131887" cy="46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200" b="1" i="1" dirty="0">
                <a:solidFill>
                  <a:srgbClr val="A50021"/>
                </a:solidFill>
                <a:ea typeface="幼圆" pitchFamily="49" charset="-122"/>
              </a:rPr>
              <a:t>t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</a:rPr>
              <a:t>=0</a:t>
            </a:r>
            <a:endParaRPr lang="en-US" altLang="zh-CN" sz="22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9" name="Freeform 15"/>
          <p:cNvSpPr>
            <a:spLocks/>
          </p:cNvSpPr>
          <p:nvPr/>
        </p:nvSpPr>
        <p:spPr bwMode="auto">
          <a:xfrm>
            <a:off x="327025" y="1776413"/>
            <a:ext cx="504825" cy="2046287"/>
          </a:xfrm>
          <a:custGeom>
            <a:avLst/>
            <a:gdLst>
              <a:gd name="T0" fmla="*/ 313 w 318"/>
              <a:gd name="T1" fmla="*/ 1241 h 1289"/>
              <a:gd name="T2" fmla="*/ 49 w 318"/>
              <a:gd name="T3" fmla="*/ 1241 h 1289"/>
              <a:gd name="T4" fmla="*/ 46 w 318"/>
              <a:gd name="T5" fmla="*/ 0 h 1289"/>
              <a:gd name="T6" fmla="*/ 0 w 318"/>
              <a:gd name="T7" fmla="*/ 3 h 1289"/>
              <a:gd name="T8" fmla="*/ 1 w 318"/>
              <a:gd name="T9" fmla="*/ 1289 h 1289"/>
              <a:gd name="T10" fmla="*/ 318 w 318"/>
              <a:gd name="T11" fmla="*/ 1289 h 1289"/>
              <a:gd name="T12" fmla="*/ 313 w 318"/>
              <a:gd name="T13" fmla="*/ 1241 h 12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8"/>
              <a:gd name="T22" fmla="*/ 0 h 1289"/>
              <a:gd name="T23" fmla="*/ 318 w 318"/>
              <a:gd name="T24" fmla="*/ 1289 h 12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8" h="1289">
                <a:moveTo>
                  <a:pt x="313" y="1241"/>
                </a:moveTo>
                <a:lnTo>
                  <a:pt x="49" y="1241"/>
                </a:lnTo>
                <a:lnTo>
                  <a:pt x="46" y="0"/>
                </a:lnTo>
                <a:lnTo>
                  <a:pt x="0" y="3"/>
                </a:lnTo>
                <a:lnTo>
                  <a:pt x="1" y="1289"/>
                </a:lnTo>
                <a:lnTo>
                  <a:pt x="318" y="1289"/>
                </a:lnTo>
                <a:lnTo>
                  <a:pt x="313" y="1241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Rectangle 16" descr="大纸屑"/>
          <p:cNvSpPr>
            <a:spLocks noChangeArrowheads="1"/>
          </p:cNvSpPr>
          <p:nvPr/>
        </p:nvSpPr>
        <p:spPr bwMode="auto">
          <a:xfrm>
            <a:off x="831850" y="3594100"/>
            <a:ext cx="2773363" cy="701675"/>
          </a:xfrm>
          <a:prstGeom prst="rect">
            <a:avLst/>
          </a:prstGeom>
          <a:pattFill prst="lg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17" descr="小纸屑"/>
          <p:cNvSpPr>
            <a:spLocks noChangeArrowheads="1"/>
          </p:cNvSpPr>
          <p:nvPr/>
        </p:nvSpPr>
        <p:spPr bwMode="auto">
          <a:xfrm>
            <a:off x="839788" y="2116138"/>
            <a:ext cx="2773362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18" descr="浅色上对角线"/>
          <p:cNvSpPr>
            <a:spLocks noChangeArrowheads="1"/>
          </p:cNvSpPr>
          <p:nvPr/>
        </p:nvSpPr>
        <p:spPr bwMode="auto">
          <a:xfrm>
            <a:off x="855663" y="4302125"/>
            <a:ext cx="2765425" cy="88900"/>
          </a:xfrm>
          <a:prstGeom prst="rect">
            <a:avLst/>
          </a:prstGeom>
          <a:pattFill prst="ltUpDiag">
            <a:fgClr>
              <a:srgbClr val="333399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830263" y="2132013"/>
            <a:ext cx="2789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830263" y="3592513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830263" y="4298950"/>
            <a:ext cx="279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>
            <a:off x="404813" y="1241425"/>
            <a:ext cx="473075" cy="250507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Freeform 23"/>
          <p:cNvSpPr>
            <a:spLocks/>
          </p:cNvSpPr>
          <p:nvPr/>
        </p:nvSpPr>
        <p:spPr bwMode="auto">
          <a:xfrm>
            <a:off x="331788" y="1238250"/>
            <a:ext cx="565150" cy="2584450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28" name="Group 24"/>
          <p:cNvGrpSpPr>
            <a:grpSpLocks/>
          </p:cNvGrpSpPr>
          <p:nvPr/>
        </p:nvGrpSpPr>
        <p:grpSpPr bwMode="auto">
          <a:xfrm>
            <a:off x="1706563" y="2020888"/>
            <a:ext cx="315912" cy="285750"/>
            <a:chOff x="1122" y="1612"/>
            <a:chExt cx="222" cy="152"/>
          </a:xfrm>
        </p:grpSpPr>
        <p:sp>
          <p:nvSpPr>
            <p:cNvPr id="29" name="AutoShape 25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Line 30"/>
          <p:cNvSpPr>
            <a:spLocks noChangeShapeType="1"/>
          </p:cNvSpPr>
          <p:nvPr/>
        </p:nvSpPr>
        <p:spPr bwMode="auto">
          <a:xfrm flipV="1">
            <a:off x="987425" y="1785938"/>
            <a:ext cx="0" cy="344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517525" y="1431925"/>
            <a:ext cx="6207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331788" y="1776413"/>
            <a:ext cx="650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344488" y="18002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354013" y="18256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347663" y="1851025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1933575" y="2571750"/>
            <a:ext cx="1541558" cy="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zh-CN" altLang="de-DE" sz="1800" b="1" dirty="0">
              <a:solidFill>
                <a:srgbClr val="000066"/>
              </a:solidFill>
              <a:ea typeface="仿宋体" pitchFamily="18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=20kN/cm</a:t>
            </a:r>
            <a:r>
              <a:rPr kumimoji="1" lang="de-DE" altLang="zh-CN" sz="1800" b="1" baseline="30000" dirty="0" smtClean="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1947863" y="3624263"/>
            <a:ext cx="1527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</a:t>
            </a:r>
            <a:r>
              <a:rPr kumimoji="1" lang="de-DE" altLang="zh-CN" sz="1800" b="1" baseline="-25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sat</a:t>
            </a:r>
            <a:r>
              <a:rPr kumimoji="1" lang="de-DE" altLang="zh-CN" sz="1800" b="1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=18kN/cm</a:t>
            </a:r>
            <a:r>
              <a:rPr kumimoji="1" lang="de-DE" altLang="zh-CN" sz="1800" b="1" baseline="30000">
                <a:solidFill>
                  <a:srgbClr val="000066"/>
                </a:solidFill>
                <a:ea typeface="仿宋体" pitchFamily="18" charset="-122"/>
                <a:sym typeface="Symbol" pitchFamily="18" charset="2"/>
              </a:rPr>
              <a:t>3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 flipV="1">
            <a:off x="984250" y="2143125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 flipV="1">
            <a:off x="989013" y="3602038"/>
            <a:ext cx="0" cy="690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" name="Text Box 40"/>
          <p:cNvSpPr txBox="1">
            <a:spLocks noChangeArrowheads="1"/>
          </p:cNvSpPr>
          <p:nvPr/>
        </p:nvSpPr>
        <p:spPr bwMode="auto">
          <a:xfrm>
            <a:off x="1022350" y="17510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1049338" y="270668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4m</a:t>
            </a:r>
          </a:p>
        </p:txBody>
      </p:sp>
      <p:sp>
        <p:nvSpPr>
          <p:cNvPr id="46" name="Text Box 42"/>
          <p:cNvSpPr txBox="1">
            <a:spLocks noChangeArrowheads="1"/>
          </p:cNvSpPr>
          <p:nvPr/>
        </p:nvSpPr>
        <p:spPr bwMode="auto">
          <a:xfrm>
            <a:off x="1036638" y="37671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2m</a:t>
            </a:r>
          </a:p>
        </p:txBody>
      </p:sp>
      <p:sp>
        <p:nvSpPr>
          <p:cNvPr id="47" name="Text Box 43"/>
          <p:cNvSpPr txBox="1">
            <a:spLocks noChangeArrowheads="1"/>
          </p:cNvSpPr>
          <p:nvPr/>
        </p:nvSpPr>
        <p:spPr bwMode="auto">
          <a:xfrm>
            <a:off x="1722438" y="4403725"/>
            <a:ext cx="13081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幼圆" pitchFamily="49" charset="-122"/>
              </a:rPr>
              <a:t>不透水岩石</a:t>
            </a:r>
            <a:endParaRPr kumimoji="1" lang="zh-CN" altLang="de-DE" sz="1800" b="1" baseline="3000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 flipH="1">
            <a:off x="942975" y="1776413"/>
            <a:ext cx="777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>
            <a:off x="636588" y="1433513"/>
            <a:ext cx="0" cy="312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50" name="Group 46"/>
          <p:cNvGrpSpPr>
            <a:grpSpLocks/>
          </p:cNvGrpSpPr>
          <p:nvPr/>
        </p:nvGrpSpPr>
        <p:grpSpPr bwMode="auto">
          <a:xfrm>
            <a:off x="5272088" y="1016000"/>
            <a:ext cx="3157537" cy="3581400"/>
            <a:chOff x="3321" y="710"/>
            <a:chExt cx="1989" cy="2256"/>
          </a:xfrm>
        </p:grpSpPr>
        <p:grpSp>
          <p:nvGrpSpPr>
            <p:cNvPr id="51" name="Group 47"/>
            <p:cNvGrpSpPr>
              <a:grpSpLocks/>
            </p:cNvGrpSpPr>
            <p:nvPr/>
          </p:nvGrpSpPr>
          <p:grpSpPr bwMode="auto">
            <a:xfrm>
              <a:off x="3321" y="761"/>
              <a:ext cx="1260" cy="2205"/>
              <a:chOff x="3321" y="761"/>
              <a:chExt cx="1260" cy="2205"/>
            </a:xfrm>
          </p:grpSpPr>
          <p:sp>
            <p:nvSpPr>
              <p:cNvPr id="62" name="Text Box 48"/>
              <p:cNvSpPr txBox="1">
                <a:spLocks noChangeArrowheads="1"/>
              </p:cNvSpPr>
              <p:nvPr/>
            </p:nvSpPr>
            <p:spPr bwMode="auto">
              <a:xfrm>
                <a:off x="3321" y="761"/>
                <a:ext cx="1260" cy="5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i="1" dirty="0" smtClean="0">
                    <a:solidFill>
                      <a:srgbClr val="A50021"/>
                    </a:solidFill>
                    <a:ea typeface="幼圆" pitchFamily="49" charset="-122"/>
                  </a:rPr>
                  <a:t>t</a:t>
                </a:r>
                <a:r>
                  <a:rPr lang="en-US" altLang="zh-CN" sz="2200" b="1" dirty="0" smtClean="0">
                    <a:solidFill>
                      <a:srgbClr val="A50021"/>
                    </a:solidFill>
                    <a:ea typeface="幼圆" pitchFamily="49" charset="-122"/>
                  </a:rPr>
                  <a:t>=</a:t>
                </a:r>
                <a:r>
                  <a:rPr lang="en-US" altLang="zh-CN" sz="2200" b="1" dirty="0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</a:t>
                </a:r>
                <a:br>
                  <a:rPr lang="en-US" altLang="zh-CN" sz="2200" b="1" dirty="0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</a:br>
                <a:r>
                  <a:rPr lang="zh-CN" altLang="en-US" sz="2200" b="1" dirty="0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（稳定渗流）</a:t>
                </a:r>
              </a:p>
            </p:txBody>
          </p:sp>
          <p:sp>
            <p:nvSpPr>
              <p:cNvPr id="63" name="Line 49"/>
              <p:cNvSpPr>
                <a:spLocks noChangeShapeType="1"/>
              </p:cNvSpPr>
              <p:nvPr/>
            </p:nvSpPr>
            <p:spPr bwMode="auto">
              <a:xfrm>
                <a:off x="3749" y="1400"/>
                <a:ext cx="0" cy="13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Text Box 50"/>
              <p:cNvSpPr txBox="1">
                <a:spLocks noChangeArrowheads="1"/>
              </p:cNvSpPr>
              <p:nvPr/>
            </p:nvSpPr>
            <p:spPr bwMode="auto">
              <a:xfrm>
                <a:off x="4036" y="2731"/>
                <a:ext cx="242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1600" b="1"/>
                  <a:t>70</a:t>
                </a:r>
              </a:p>
            </p:txBody>
          </p:sp>
          <p:sp>
            <p:nvSpPr>
              <p:cNvPr id="65" name="Text Box 51"/>
              <p:cNvSpPr txBox="1">
                <a:spLocks noChangeArrowheads="1"/>
              </p:cNvSpPr>
              <p:nvPr/>
            </p:nvSpPr>
            <p:spPr bwMode="auto">
              <a:xfrm>
                <a:off x="3802" y="1332"/>
                <a:ext cx="17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1600" b="1"/>
                  <a:t>0</a:t>
                </a:r>
              </a:p>
            </p:txBody>
          </p:sp>
          <p:sp>
            <p:nvSpPr>
              <p:cNvPr id="66" name="Line 52"/>
              <p:cNvSpPr>
                <a:spLocks noChangeShapeType="1"/>
              </p:cNvSpPr>
              <p:nvPr/>
            </p:nvSpPr>
            <p:spPr bwMode="auto">
              <a:xfrm>
                <a:off x="4048" y="2328"/>
                <a:ext cx="115" cy="4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53"/>
              <p:cNvSpPr>
                <a:spLocks noChangeShapeType="1"/>
              </p:cNvSpPr>
              <p:nvPr/>
            </p:nvSpPr>
            <p:spPr bwMode="auto">
              <a:xfrm>
                <a:off x="3751" y="1403"/>
                <a:ext cx="297" cy="9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Text Box 54"/>
              <p:cNvSpPr txBox="1">
                <a:spLocks noChangeArrowheads="1"/>
              </p:cNvSpPr>
              <p:nvPr/>
            </p:nvSpPr>
            <p:spPr bwMode="auto">
              <a:xfrm>
                <a:off x="4016" y="2126"/>
                <a:ext cx="242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1600" b="1"/>
                  <a:t>50</a:t>
                </a:r>
              </a:p>
            </p:txBody>
          </p:sp>
        </p:grpSp>
        <p:grpSp>
          <p:nvGrpSpPr>
            <p:cNvPr id="52" name="Group 55"/>
            <p:cNvGrpSpPr>
              <a:grpSpLocks/>
            </p:cNvGrpSpPr>
            <p:nvPr/>
          </p:nvGrpSpPr>
          <p:grpSpPr bwMode="auto">
            <a:xfrm>
              <a:off x="4462" y="710"/>
              <a:ext cx="848" cy="2072"/>
              <a:chOff x="4462" y="710"/>
              <a:chExt cx="848" cy="2072"/>
            </a:xfrm>
          </p:grpSpPr>
          <p:sp>
            <p:nvSpPr>
              <p:cNvPr id="53" name="Freeform 56"/>
              <p:cNvSpPr>
                <a:spLocks/>
              </p:cNvSpPr>
              <p:nvPr/>
            </p:nvSpPr>
            <p:spPr bwMode="auto">
              <a:xfrm>
                <a:off x="4666" y="1398"/>
                <a:ext cx="394" cy="941"/>
              </a:xfrm>
              <a:custGeom>
                <a:avLst/>
                <a:gdLst>
                  <a:gd name="T0" fmla="*/ 299 w 394"/>
                  <a:gd name="T1" fmla="*/ 934 h 941"/>
                  <a:gd name="T2" fmla="*/ 394 w 394"/>
                  <a:gd name="T3" fmla="*/ 941 h 941"/>
                  <a:gd name="T4" fmla="*/ 0 w 394"/>
                  <a:gd name="T5" fmla="*/ 0 h 941"/>
                  <a:gd name="T6" fmla="*/ 299 w 394"/>
                  <a:gd name="T7" fmla="*/ 934 h 9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4"/>
                  <a:gd name="T13" fmla="*/ 0 h 941"/>
                  <a:gd name="T14" fmla="*/ 394 w 394"/>
                  <a:gd name="T15" fmla="*/ 941 h 9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4" h="941">
                    <a:moveTo>
                      <a:pt x="299" y="934"/>
                    </a:moveTo>
                    <a:lnTo>
                      <a:pt x="394" y="941"/>
                    </a:lnTo>
                    <a:lnTo>
                      <a:pt x="0" y="0"/>
                    </a:lnTo>
                    <a:lnTo>
                      <a:pt x="299" y="9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" name="Text Box 57"/>
              <p:cNvSpPr txBox="1">
                <a:spLocks noChangeArrowheads="1"/>
              </p:cNvSpPr>
              <p:nvPr/>
            </p:nvSpPr>
            <p:spPr bwMode="auto">
              <a:xfrm>
                <a:off x="4462" y="710"/>
                <a:ext cx="848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ct val="20000"/>
                  </a:spcAft>
                </a:pPr>
                <a:r>
                  <a:rPr lang="zh-CN" altLang="en-US" sz="2200" b="1">
                    <a:solidFill>
                      <a:srgbClr val="A50021"/>
                    </a:solidFill>
                    <a:ea typeface="幼圆" pitchFamily="49" charset="-122"/>
                  </a:rPr>
                  <a:t>超静孔隙水压力</a:t>
                </a:r>
                <a:endParaRPr lang="en-US" altLang="zh-CN" sz="2200" b="1">
                  <a:solidFill>
                    <a:srgbClr val="A50021"/>
                  </a:solidFill>
                  <a:ea typeface="幼圆" pitchFamily="49" charset="-122"/>
                </a:endParaRPr>
              </a:p>
            </p:txBody>
          </p:sp>
          <p:sp>
            <p:nvSpPr>
              <p:cNvPr id="55" name="Line 58"/>
              <p:cNvSpPr>
                <a:spLocks noChangeShapeType="1"/>
              </p:cNvSpPr>
              <p:nvPr/>
            </p:nvSpPr>
            <p:spPr bwMode="auto">
              <a:xfrm>
                <a:off x="4961" y="2332"/>
                <a:ext cx="115" cy="4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Line 59"/>
              <p:cNvSpPr>
                <a:spLocks noChangeShapeType="1"/>
              </p:cNvSpPr>
              <p:nvPr/>
            </p:nvSpPr>
            <p:spPr bwMode="auto">
              <a:xfrm>
                <a:off x="4674" y="1407"/>
                <a:ext cx="375" cy="91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7" name="Line 60"/>
              <p:cNvSpPr>
                <a:spLocks noChangeShapeType="1"/>
              </p:cNvSpPr>
              <p:nvPr/>
            </p:nvSpPr>
            <p:spPr bwMode="auto">
              <a:xfrm>
                <a:off x="4669" y="1412"/>
                <a:ext cx="0" cy="13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Line 61"/>
              <p:cNvSpPr>
                <a:spLocks noChangeShapeType="1"/>
              </p:cNvSpPr>
              <p:nvPr/>
            </p:nvSpPr>
            <p:spPr bwMode="auto">
              <a:xfrm>
                <a:off x="4668" y="1416"/>
                <a:ext cx="297" cy="9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62"/>
              <p:cNvSpPr>
                <a:spLocks noChangeShapeType="1"/>
              </p:cNvSpPr>
              <p:nvPr/>
            </p:nvSpPr>
            <p:spPr bwMode="auto">
              <a:xfrm>
                <a:off x="4964" y="2340"/>
                <a:ext cx="115" cy="4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63"/>
              <p:cNvSpPr>
                <a:spLocks noChangeShapeType="1"/>
              </p:cNvSpPr>
              <p:nvPr/>
            </p:nvSpPr>
            <p:spPr bwMode="auto">
              <a:xfrm flipV="1">
                <a:off x="5002" y="2200"/>
                <a:ext cx="95" cy="1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" name="Text Box 64"/>
              <p:cNvSpPr txBox="1">
                <a:spLocks noChangeArrowheads="1"/>
              </p:cNvSpPr>
              <p:nvPr/>
            </p:nvSpPr>
            <p:spPr bwMode="auto">
              <a:xfrm>
                <a:off x="5064" y="2057"/>
                <a:ext cx="242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1600" b="1"/>
                  <a:t>10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04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142" descr="大纸屑"/>
          <p:cNvSpPr>
            <a:spLocks noChangeArrowheads="1"/>
          </p:cNvSpPr>
          <p:nvPr/>
        </p:nvSpPr>
        <p:spPr bwMode="auto">
          <a:xfrm>
            <a:off x="965200" y="4916488"/>
            <a:ext cx="2773363" cy="366712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" name="Rectangle 111"/>
          <p:cNvSpPr>
            <a:spLocks noChangeArrowheads="1"/>
          </p:cNvSpPr>
          <p:nvPr/>
        </p:nvSpPr>
        <p:spPr bwMode="auto">
          <a:xfrm>
            <a:off x="963613" y="3033713"/>
            <a:ext cx="2773362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112" descr="小纸屑"/>
          <p:cNvSpPr>
            <a:spLocks noChangeArrowheads="1"/>
          </p:cNvSpPr>
          <p:nvPr/>
        </p:nvSpPr>
        <p:spPr bwMode="auto">
          <a:xfrm>
            <a:off x="962025" y="3433763"/>
            <a:ext cx="2773363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114"/>
          <p:cNvSpPr>
            <a:spLocks noChangeArrowheads="1"/>
          </p:cNvSpPr>
          <p:nvPr/>
        </p:nvSpPr>
        <p:spPr bwMode="auto">
          <a:xfrm>
            <a:off x="301625" y="993775"/>
            <a:ext cx="6754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有效应力计算与渗流破坏</a:t>
            </a:r>
          </a:p>
        </p:txBody>
      </p:sp>
      <p:sp>
        <p:nvSpPr>
          <p:cNvPr id="9" name="Line 115"/>
          <p:cNvSpPr>
            <a:spLocks noChangeShapeType="1"/>
          </p:cNvSpPr>
          <p:nvPr/>
        </p:nvSpPr>
        <p:spPr bwMode="auto">
          <a:xfrm>
            <a:off x="952500" y="3449638"/>
            <a:ext cx="2789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" name="Line 116"/>
          <p:cNvSpPr>
            <a:spLocks noChangeShapeType="1"/>
          </p:cNvSpPr>
          <p:nvPr/>
        </p:nvSpPr>
        <p:spPr bwMode="auto">
          <a:xfrm>
            <a:off x="952500" y="4910138"/>
            <a:ext cx="279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2" name="Group 120"/>
          <p:cNvGrpSpPr>
            <a:grpSpLocks/>
          </p:cNvGrpSpPr>
          <p:nvPr/>
        </p:nvGrpSpPr>
        <p:grpSpPr bwMode="auto">
          <a:xfrm>
            <a:off x="1887538" y="2917825"/>
            <a:ext cx="315912" cy="285750"/>
            <a:chOff x="1122" y="1612"/>
            <a:chExt cx="222" cy="152"/>
          </a:xfrm>
        </p:grpSpPr>
        <p:sp>
          <p:nvSpPr>
            <p:cNvPr id="13" name="AutoShape 121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2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23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24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25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" name="Line 126"/>
          <p:cNvSpPr>
            <a:spLocks noChangeShapeType="1"/>
          </p:cNvSpPr>
          <p:nvPr/>
        </p:nvSpPr>
        <p:spPr bwMode="auto">
          <a:xfrm flipV="1">
            <a:off x="1109663" y="3019425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9" name="Line 127"/>
          <p:cNvSpPr>
            <a:spLocks noChangeShapeType="1"/>
          </p:cNvSpPr>
          <p:nvPr/>
        </p:nvSpPr>
        <p:spPr bwMode="auto">
          <a:xfrm>
            <a:off x="982663" y="214312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Freeform 110"/>
          <p:cNvSpPr>
            <a:spLocks/>
          </p:cNvSpPr>
          <p:nvPr/>
        </p:nvSpPr>
        <p:spPr bwMode="auto">
          <a:xfrm>
            <a:off x="450850" y="2144713"/>
            <a:ext cx="509588" cy="2995612"/>
          </a:xfrm>
          <a:custGeom>
            <a:avLst/>
            <a:gdLst>
              <a:gd name="T0" fmla="*/ 321 w 321"/>
              <a:gd name="T1" fmla="*/ 1842 h 1887"/>
              <a:gd name="T2" fmla="*/ 49 w 321"/>
              <a:gd name="T3" fmla="*/ 1839 h 1887"/>
              <a:gd name="T4" fmla="*/ 48 w 321"/>
              <a:gd name="T5" fmla="*/ 0 h 1887"/>
              <a:gd name="T6" fmla="*/ 0 w 321"/>
              <a:gd name="T7" fmla="*/ 0 h 1887"/>
              <a:gd name="T8" fmla="*/ 0 w 321"/>
              <a:gd name="T9" fmla="*/ 1887 h 1887"/>
              <a:gd name="T10" fmla="*/ 317 w 321"/>
              <a:gd name="T11" fmla="*/ 1887 h 1887"/>
              <a:gd name="T12" fmla="*/ 321 w 321"/>
              <a:gd name="T13" fmla="*/ 1842 h 18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1"/>
              <a:gd name="T22" fmla="*/ 0 h 1887"/>
              <a:gd name="T23" fmla="*/ 321 w 321"/>
              <a:gd name="T24" fmla="*/ 1887 h 18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1" h="1887">
                <a:moveTo>
                  <a:pt x="321" y="1842"/>
                </a:moveTo>
                <a:lnTo>
                  <a:pt x="49" y="1839"/>
                </a:lnTo>
                <a:lnTo>
                  <a:pt x="48" y="0"/>
                </a:lnTo>
                <a:lnTo>
                  <a:pt x="0" y="0"/>
                </a:lnTo>
                <a:lnTo>
                  <a:pt x="0" y="1887"/>
                </a:lnTo>
                <a:lnTo>
                  <a:pt x="317" y="1887"/>
                </a:lnTo>
                <a:lnTo>
                  <a:pt x="321" y="1842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1" name="Freeform 118"/>
          <p:cNvSpPr>
            <a:spLocks/>
          </p:cNvSpPr>
          <p:nvPr/>
        </p:nvSpPr>
        <p:spPr bwMode="auto">
          <a:xfrm>
            <a:off x="527050" y="1924050"/>
            <a:ext cx="473075" cy="3135313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2" name="Freeform 119"/>
          <p:cNvSpPr>
            <a:spLocks/>
          </p:cNvSpPr>
          <p:nvPr/>
        </p:nvSpPr>
        <p:spPr bwMode="auto">
          <a:xfrm>
            <a:off x="454025" y="1905000"/>
            <a:ext cx="565150" cy="323532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128"/>
          <p:cNvSpPr>
            <a:spLocks noChangeShapeType="1"/>
          </p:cNvSpPr>
          <p:nvPr/>
        </p:nvSpPr>
        <p:spPr bwMode="auto">
          <a:xfrm>
            <a:off x="454025" y="2149475"/>
            <a:ext cx="65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129"/>
          <p:cNvSpPr>
            <a:spLocks noChangeShapeType="1"/>
          </p:cNvSpPr>
          <p:nvPr/>
        </p:nvSpPr>
        <p:spPr bwMode="auto">
          <a:xfrm>
            <a:off x="466725" y="21796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130"/>
          <p:cNvSpPr>
            <a:spLocks noChangeShapeType="1"/>
          </p:cNvSpPr>
          <p:nvPr/>
        </p:nvSpPr>
        <p:spPr bwMode="auto">
          <a:xfrm>
            <a:off x="476250" y="221138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131"/>
          <p:cNvSpPr>
            <a:spLocks noChangeShapeType="1"/>
          </p:cNvSpPr>
          <p:nvPr/>
        </p:nvSpPr>
        <p:spPr bwMode="auto">
          <a:xfrm>
            <a:off x="469900" y="22431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Text Box 132"/>
          <p:cNvSpPr txBox="1">
            <a:spLocks noChangeArrowheads="1"/>
          </p:cNvSpPr>
          <p:nvPr/>
        </p:nvSpPr>
        <p:spPr bwMode="auto">
          <a:xfrm>
            <a:off x="2447925" y="3895725"/>
            <a:ext cx="890738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de-DE" altLang="zh-CN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8" name="Text Box 133"/>
          <p:cNvSpPr txBox="1">
            <a:spLocks noChangeArrowheads="1"/>
          </p:cNvSpPr>
          <p:nvPr/>
        </p:nvSpPr>
        <p:spPr bwMode="auto">
          <a:xfrm>
            <a:off x="2447925" y="3014663"/>
            <a:ext cx="8826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  <a:sym typeface="Wingdings" pitchFamily="2" charset="2"/>
              </a:rPr>
              <a:t> </a:t>
            </a: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lang="de-DE" altLang="zh-CN" sz="1800" b="1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Line 134"/>
          <p:cNvSpPr>
            <a:spLocks noChangeShapeType="1"/>
          </p:cNvSpPr>
          <p:nvPr/>
        </p:nvSpPr>
        <p:spPr bwMode="auto">
          <a:xfrm flipV="1">
            <a:off x="1106488" y="3460750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0" name="Line 135"/>
          <p:cNvSpPr>
            <a:spLocks noChangeShapeType="1"/>
          </p:cNvSpPr>
          <p:nvPr/>
        </p:nvSpPr>
        <p:spPr bwMode="auto">
          <a:xfrm flipV="1">
            <a:off x="1111250" y="2170113"/>
            <a:ext cx="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Text Box 136"/>
          <p:cNvSpPr txBox="1">
            <a:spLocks noChangeArrowheads="1"/>
          </p:cNvSpPr>
          <p:nvPr/>
        </p:nvSpPr>
        <p:spPr bwMode="auto">
          <a:xfrm>
            <a:off x="1103313" y="30432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32" name="Text Box 137"/>
          <p:cNvSpPr txBox="1">
            <a:spLocks noChangeArrowheads="1"/>
          </p:cNvSpPr>
          <p:nvPr/>
        </p:nvSpPr>
        <p:spPr bwMode="auto">
          <a:xfrm>
            <a:off x="1092200" y="40243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5m</a:t>
            </a:r>
          </a:p>
        </p:txBody>
      </p:sp>
      <p:sp>
        <p:nvSpPr>
          <p:cNvPr id="33" name="Text Box 140"/>
          <p:cNvSpPr txBox="1">
            <a:spLocks noChangeArrowheads="1"/>
          </p:cNvSpPr>
          <p:nvPr/>
        </p:nvSpPr>
        <p:spPr bwMode="auto">
          <a:xfrm>
            <a:off x="4154488" y="1935163"/>
            <a:ext cx="4660900" cy="3895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对如图所示承受承压水作用的地层，土层参数为：</a:t>
            </a:r>
          </a:p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 砂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土： 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=20kN/m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     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k=10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-3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</a:p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黏</a:t>
            </a:r>
            <a:r>
              <a:rPr kumimoji="1" lang="zh-CN" altLang="de-DE" sz="2000" b="1" dirty="0" smtClean="0">
                <a:solidFill>
                  <a:srgbClr val="000066"/>
                </a:solidFill>
                <a:ea typeface="幼圆" pitchFamily="49" charset="-122"/>
              </a:rPr>
              <a:t>土 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=18kN/m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     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k=10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-7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地下水位与地面齐平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，黏土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下部砂层中的测压管水位高出地面</a:t>
            </a:r>
            <a:r>
              <a:rPr lang="el-GR" altLang="zh-CN" sz="2000" b="1" dirty="0">
                <a:solidFill>
                  <a:srgbClr val="000066"/>
                </a:solidFill>
                <a:ea typeface="幼圆" pitchFamily="49" charset="-122"/>
              </a:rPr>
              <a:t>Δ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=3m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，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000" b="1" dirty="0">
                <a:solidFill>
                  <a:srgbClr val="A50021"/>
                </a:solidFill>
                <a:ea typeface="幼圆" pitchFamily="49" charset="-122"/>
              </a:rPr>
              <a:t>a)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画出地层中的总应力，孔隙水压力和有效应力分布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000" b="1" dirty="0">
                <a:solidFill>
                  <a:srgbClr val="A50021"/>
                </a:solidFill>
                <a:ea typeface="幼圆" pitchFamily="49" charset="-122"/>
              </a:rPr>
              <a:t>b)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计算土层发生流土破坏时的</a:t>
            </a:r>
            <a:r>
              <a:rPr lang="el-GR" altLang="zh-CN" sz="2000" b="1" dirty="0">
                <a:solidFill>
                  <a:srgbClr val="000066"/>
                </a:solidFill>
                <a:ea typeface="幼圆" pitchFamily="49" charset="-122"/>
              </a:rPr>
              <a:t>Δ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？</a:t>
            </a:r>
          </a:p>
        </p:txBody>
      </p:sp>
      <p:sp>
        <p:nvSpPr>
          <p:cNvPr id="34" name="Text Box 143"/>
          <p:cNvSpPr txBox="1">
            <a:spLocks noChangeArrowheads="1"/>
          </p:cNvSpPr>
          <p:nvPr/>
        </p:nvSpPr>
        <p:spPr bwMode="auto">
          <a:xfrm>
            <a:off x="2474913" y="4929188"/>
            <a:ext cx="6223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5" name="Line 144"/>
          <p:cNvSpPr>
            <a:spLocks noChangeShapeType="1"/>
          </p:cNvSpPr>
          <p:nvPr/>
        </p:nvSpPr>
        <p:spPr bwMode="auto">
          <a:xfrm>
            <a:off x="954088" y="3022600"/>
            <a:ext cx="279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Text Box 145"/>
          <p:cNvSpPr txBox="1">
            <a:spLocks noChangeArrowheads="1"/>
          </p:cNvSpPr>
          <p:nvPr/>
        </p:nvSpPr>
        <p:spPr bwMode="auto">
          <a:xfrm>
            <a:off x="1188072" y="2338388"/>
            <a:ext cx="3638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zh-CN" sz="2400" b="1" dirty="0">
                <a:solidFill>
                  <a:srgbClr val="000000"/>
                </a:solidFill>
                <a:ea typeface="华文新魏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>
                <a:solidFill>
                  <a:srgbClr val="000000"/>
                </a:solidFill>
                <a:ea typeface="华文新魏" pitchFamily="2" charset="-122"/>
                <a:cs typeface="Times New Roman" panose="02020603050405020304" pitchFamily="18" charset="0"/>
              </a:rPr>
              <a:t>h</a:t>
            </a:r>
            <a:endParaRPr lang="el-GR" altLang="zh-CN" sz="2400" b="1" i="1" dirty="0">
              <a:solidFill>
                <a:srgbClr val="000000"/>
              </a:solidFill>
              <a:ea typeface="华文新魏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540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 descr="大纸屑"/>
          <p:cNvSpPr>
            <a:spLocks noChangeArrowheads="1"/>
          </p:cNvSpPr>
          <p:nvPr/>
        </p:nvSpPr>
        <p:spPr bwMode="auto">
          <a:xfrm>
            <a:off x="965200" y="4916488"/>
            <a:ext cx="2773363" cy="366712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3613" y="3033713"/>
            <a:ext cx="2773362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 descr="小纸屑"/>
          <p:cNvSpPr>
            <a:spLocks noChangeArrowheads="1"/>
          </p:cNvSpPr>
          <p:nvPr/>
        </p:nvSpPr>
        <p:spPr bwMode="auto">
          <a:xfrm>
            <a:off x="962025" y="3433763"/>
            <a:ext cx="2773363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01625" y="784225"/>
            <a:ext cx="6754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     </a:t>
            </a:r>
            <a:r>
              <a:rPr kumimoji="1" lang="en-US" altLang="zh-CN" sz="2800" b="1" dirty="0">
                <a:solidFill>
                  <a:srgbClr val="CC0000"/>
                </a:solidFill>
                <a:ea typeface="幼圆" pitchFamily="49" charset="-122"/>
              </a:rPr>
              <a:t>a</a:t>
            </a:r>
            <a:r>
              <a:rPr kumimoji="1" lang="zh-CN" altLang="en-US" sz="2800" b="1" dirty="0">
                <a:solidFill>
                  <a:srgbClr val="CC0000"/>
                </a:solidFill>
                <a:ea typeface="幼圆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有效应力计算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952500" y="3449638"/>
            <a:ext cx="2789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952500" y="4910138"/>
            <a:ext cx="279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1887538" y="2917825"/>
            <a:ext cx="315912" cy="285750"/>
            <a:chOff x="1122" y="1612"/>
            <a:chExt cx="222" cy="152"/>
          </a:xfrm>
        </p:grpSpPr>
        <p:sp>
          <p:nvSpPr>
            <p:cNvPr id="13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" name="Line 15"/>
          <p:cNvSpPr>
            <a:spLocks noChangeShapeType="1"/>
          </p:cNvSpPr>
          <p:nvPr/>
        </p:nvSpPr>
        <p:spPr bwMode="auto">
          <a:xfrm flipV="1">
            <a:off x="1109663" y="3019425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982663" y="214312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Freeform 17"/>
          <p:cNvSpPr>
            <a:spLocks/>
          </p:cNvSpPr>
          <p:nvPr/>
        </p:nvSpPr>
        <p:spPr bwMode="auto">
          <a:xfrm>
            <a:off x="450850" y="2144713"/>
            <a:ext cx="509588" cy="2995612"/>
          </a:xfrm>
          <a:custGeom>
            <a:avLst/>
            <a:gdLst>
              <a:gd name="T0" fmla="*/ 321 w 321"/>
              <a:gd name="T1" fmla="*/ 1842 h 1887"/>
              <a:gd name="T2" fmla="*/ 49 w 321"/>
              <a:gd name="T3" fmla="*/ 1839 h 1887"/>
              <a:gd name="T4" fmla="*/ 48 w 321"/>
              <a:gd name="T5" fmla="*/ 0 h 1887"/>
              <a:gd name="T6" fmla="*/ 0 w 321"/>
              <a:gd name="T7" fmla="*/ 0 h 1887"/>
              <a:gd name="T8" fmla="*/ 0 w 321"/>
              <a:gd name="T9" fmla="*/ 1887 h 1887"/>
              <a:gd name="T10" fmla="*/ 317 w 321"/>
              <a:gd name="T11" fmla="*/ 1887 h 1887"/>
              <a:gd name="T12" fmla="*/ 321 w 321"/>
              <a:gd name="T13" fmla="*/ 1842 h 18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1"/>
              <a:gd name="T22" fmla="*/ 0 h 1887"/>
              <a:gd name="T23" fmla="*/ 321 w 321"/>
              <a:gd name="T24" fmla="*/ 1887 h 18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1" h="1887">
                <a:moveTo>
                  <a:pt x="321" y="1842"/>
                </a:moveTo>
                <a:lnTo>
                  <a:pt x="49" y="1839"/>
                </a:lnTo>
                <a:lnTo>
                  <a:pt x="48" y="0"/>
                </a:lnTo>
                <a:lnTo>
                  <a:pt x="0" y="0"/>
                </a:lnTo>
                <a:lnTo>
                  <a:pt x="0" y="1887"/>
                </a:lnTo>
                <a:lnTo>
                  <a:pt x="317" y="1887"/>
                </a:lnTo>
                <a:lnTo>
                  <a:pt x="321" y="1842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527050" y="1924050"/>
            <a:ext cx="473075" cy="3135313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454025" y="1905000"/>
            <a:ext cx="565150" cy="323532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454025" y="2149475"/>
            <a:ext cx="65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466725" y="21796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476250" y="221138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469900" y="22431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2447925" y="3895725"/>
            <a:ext cx="890738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de-DE" altLang="zh-CN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2447925" y="3014663"/>
            <a:ext cx="8826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  <a:sym typeface="Wingdings" pitchFamily="2" charset="2"/>
              </a:rPr>
              <a:t> </a:t>
            </a: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lang="de-DE" altLang="zh-CN" sz="1800" b="1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V="1">
            <a:off x="1106488" y="3460750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 flipV="1">
            <a:off x="1111250" y="2170113"/>
            <a:ext cx="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1103313" y="30432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092200" y="40243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5m</a:t>
            </a: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3557588" y="1422400"/>
            <a:ext cx="4660900" cy="89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 砂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土： 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=20kN/cm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-3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</a:p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黏</a:t>
            </a:r>
            <a:r>
              <a:rPr kumimoji="1" lang="zh-CN" altLang="de-DE" sz="2000" b="1" dirty="0" smtClean="0">
                <a:solidFill>
                  <a:srgbClr val="000066"/>
                </a:solidFill>
                <a:ea typeface="幼圆" pitchFamily="49" charset="-122"/>
              </a:rPr>
              <a:t>土 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=18kN/cm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-7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2474913" y="4929188"/>
            <a:ext cx="6223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954088" y="3022600"/>
            <a:ext cx="279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1268586" y="2338388"/>
            <a:ext cx="9489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zh-CN" sz="2400" b="1" dirty="0">
                <a:solidFill>
                  <a:srgbClr val="000000"/>
                </a:solidFill>
                <a:ea typeface="华文新魏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>
                <a:solidFill>
                  <a:srgbClr val="000000"/>
                </a:solidFill>
                <a:ea typeface="华文新魏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ea typeface="华文新魏" pitchFamily="2" charset="-122"/>
                <a:cs typeface="Times New Roman" panose="02020603050405020304" pitchFamily="18" charset="0"/>
              </a:rPr>
              <a:t>=3m</a:t>
            </a:r>
            <a:endParaRPr lang="el-GR" altLang="zh-CN" sz="2400" b="1" dirty="0">
              <a:solidFill>
                <a:srgbClr val="000000"/>
              </a:solidFill>
              <a:ea typeface="华文新魏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4394200" y="3036888"/>
            <a:ext cx="3790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4386263" y="3462338"/>
            <a:ext cx="3790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4381500" y="4922838"/>
            <a:ext cx="3790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4391025" y="3036888"/>
            <a:ext cx="0" cy="187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5689600" y="3040063"/>
            <a:ext cx="0" cy="187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7054850" y="3033713"/>
            <a:ext cx="0" cy="187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4221163" y="2424113"/>
            <a:ext cx="4587875" cy="53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kPa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Freeform 41"/>
          <p:cNvSpPr>
            <a:spLocks/>
          </p:cNvSpPr>
          <p:nvPr/>
        </p:nvSpPr>
        <p:spPr bwMode="auto">
          <a:xfrm>
            <a:off x="4398963" y="3027363"/>
            <a:ext cx="671512" cy="1890712"/>
          </a:xfrm>
          <a:custGeom>
            <a:avLst/>
            <a:gdLst>
              <a:gd name="T0" fmla="*/ 0 w 423"/>
              <a:gd name="T1" fmla="*/ 0 h 1191"/>
              <a:gd name="T2" fmla="*/ 160 w 423"/>
              <a:gd name="T3" fmla="*/ 269 h 1191"/>
              <a:gd name="T4" fmla="*/ 423 w 423"/>
              <a:gd name="T5" fmla="*/ 1191 h 1191"/>
              <a:gd name="T6" fmla="*/ 0 60000 65536"/>
              <a:gd name="T7" fmla="*/ 0 60000 65536"/>
              <a:gd name="T8" fmla="*/ 0 60000 65536"/>
              <a:gd name="T9" fmla="*/ 0 w 423"/>
              <a:gd name="T10" fmla="*/ 0 h 1191"/>
              <a:gd name="T11" fmla="*/ 423 w 423"/>
              <a:gd name="T12" fmla="*/ 1191 h 11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3" h="1191">
                <a:moveTo>
                  <a:pt x="0" y="0"/>
                </a:moveTo>
                <a:lnTo>
                  <a:pt x="160" y="269"/>
                </a:lnTo>
                <a:lnTo>
                  <a:pt x="423" y="119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4613275" y="3165475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20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5033963" y="4616450"/>
            <a:ext cx="447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110</a:t>
            </a:r>
          </a:p>
        </p:txBody>
      </p:sp>
      <p:sp>
        <p:nvSpPr>
          <p:cNvPr id="47" name="Freeform 45"/>
          <p:cNvSpPr>
            <a:spLocks/>
          </p:cNvSpPr>
          <p:nvPr/>
        </p:nvSpPr>
        <p:spPr bwMode="auto">
          <a:xfrm>
            <a:off x="5699125" y="3027363"/>
            <a:ext cx="630238" cy="1890712"/>
          </a:xfrm>
          <a:custGeom>
            <a:avLst/>
            <a:gdLst>
              <a:gd name="T0" fmla="*/ 0 w 525"/>
              <a:gd name="T1" fmla="*/ 0 h 1191"/>
              <a:gd name="T2" fmla="*/ 96 w 525"/>
              <a:gd name="T3" fmla="*/ 269 h 1191"/>
              <a:gd name="T4" fmla="*/ 525 w 525"/>
              <a:gd name="T5" fmla="*/ 1191 h 1191"/>
              <a:gd name="T6" fmla="*/ 0 60000 65536"/>
              <a:gd name="T7" fmla="*/ 0 60000 65536"/>
              <a:gd name="T8" fmla="*/ 0 60000 65536"/>
              <a:gd name="T9" fmla="*/ 0 w 525"/>
              <a:gd name="T10" fmla="*/ 0 h 1191"/>
              <a:gd name="T11" fmla="*/ 525 w 525"/>
              <a:gd name="T12" fmla="*/ 1191 h 11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5" h="1191">
                <a:moveTo>
                  <a:pt x="0" y="0"/>
                </a:moveTo>
                <a:lnTo>
                  <a:pt x="96" y="269"/>
                </a:lnTo>
                <a:lnTo>
                  <a:pt x="525" y="119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5783263" y="3165475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10</a:t>
            </a:r>
          </a:p>
        </p:txBody>
      </p: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6296025" y="4625975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90</a:t>
            </a:r>
          </a:p>
        </p:txBody>
      </p:sp>
      <p:sp>
        <p:nvSpPr>
          <p:cNvPr id="50" name="Freeform 48"/>
          <p:cNvSpPr>
            <a:spLocks/>
          </p:cNvSpPr>
          <p:nvPr/>
        </p:nvSpPr>
        <p:spPr bwMode="auto">
          <a:xfrm>
            <a:off x="7061200" y="3027363"/>
            <a:ext cx="254000" cy="1890712"/>
          </a:xfrm>
          <a:custGeom>
            <a:avLst/>
            <a:gdLst>
              <a:gd name="T0" fmla="*/ 0 w 160"/>
              <a:gd name="T1" fmla="*/ 0 h 1191"/>
              <a:gd name="T2" fmla="*/ 77 w 160"/>
              <a:gd name="T3" fmla="*/ 269 h 1191"/>
              <a:gd name="T4" fmla="*/ 160 w 160"/>
              <a:gd name="T5" fmla="*/ 1191 h 1191"/>
              <a:gd name="T6" fmla="*/ 0 60000 65536"/>
              <a:gd name="T7" fmla="*/ 0 60000 65536"/>
              <a:gd name="T8" fmla="*/ 0 60000 65536"/>
              <a:gd name="T9" fmla="*/ 0 w 160"/>
              <a:gd name="T10" fmla="*/ 0 h 1191"/>
              <a:gd name="T11" fmla="*/ 160 w 160"/>
              <a:gd name="T12" fmla="*/ 1191 h 11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0" h="1191">
                <a:moveTo>
                  <a:pt x="0" y="0"/>
                </a:moveTo>
                <a:lnTo>
                  <a:pt x="77" y="269"/>
                </a:lnTo>
                <a:lnTo>
                  <a:pt x="160" y="119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1" name="Text Box 49"/>
          <p:cNvSpPr txBox="1">
            <a:spLocks noChangeArrowheads="1"/>
          </p:cNvSpPr>
          <p:nvPr/>
        </p:nvSpPr>
        <p:spPr bwMode="auto">
          <a:xfrm>
            <a:off x="7159625" y="3159125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10</a:t>
            </a:r>
          </a:p>
        </p:txBody>
      </p:sp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7281863" y="4629150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20</a:t>
            </a:r>
          </a:p>
        </p:txBody>
      </p:sp>
      <p:sp>
        <p:nvSpPr>
          <p:cNvPr id="53" name="Text Box 51"/>
          <p:cNvSpPr txBox="1">
            <a:spLocks noChangeArrowheads="1"/>
          </p:cNvSpPr>
          <p:nvPr/>
        </p:nvSpPr>
        <p:spPr bwMode="auto">
          <a:xfrm>
            <a:off x="3957638" y="5627688"/>
            <a:ext cx="46609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893763" indent="-8937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de-DE" sz="24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思考：如果是渗透系数不同的两</a:t>
            </a:r>
            <a:r>
              <a:rPr lang="zh-CN" altLang="de-DE" sz="2400" b="1" dirty="0" smtClean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层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黏</a:t>
            </a:r>
            <a:r>
              <a:rPr lang="zh-CN" altLang="de-DE" sz="2400" b="1" dirty="0" smtClean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土</a:t>
            </a:r>
            <a:r>
              <a:rPr lang="zh-CN" altLang="de-DE" sz="24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怎么计算？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26168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23702" y="751378"/>
            <a:ext cx="7797338" cy="94441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关于土层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发生流土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破坏的条件，下面说法</a:t>
            </a:r>
            <a:r>
              <a:rPr lang="zh-CN" altLang="en-US" sz="2400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最准确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的是：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21971" y="1571105"/>
            <a:ext cx="4206240" cy="1039092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流土只会发生在表层砂土，判别条件为：</a:t>
            </a:r>
            <a:r>
              <a:rPr lang="en-US" altLang="zh-CN" sz="2400" b="1" i="1" dirty="0" err="1" smtClean="0">
                <a:ea typeface="幼圆" pitchFamily="49" charset="-122"/>
              </a:rPr>
              <a:t>i</a:t>
            </a:r>
            <a:r>
              <a:rPr lang="en-US" altLang="zh-CN" sz="2400" b="1" i="1" baseline="-25000" dirty="0" err="1" smtClean="0">
                <a:ea typeface="幼圆" pitchFamily="49" charset="-122"/>
              </a:rPr>
              <a:t>cr</a:t>
            </a:r>
            <a:r>
              <a:rPr lang="en-US" altLang="zh-CN" sz="2400" b="1" dirty="0" smtClean="0">
                <a:ea typeface="幼圆" pitchFamily="49" charset="-122"/>
              </a:rPr>
              <a:t> </a:t>
            </a:r>
            <a:r>
              <a:rPr lang="en-US" altLang="zh-CN" sz="2400" b="1" dirty="0">
                <a:ea typeface="幼圆" pitchFamily="49" charset="-122"/>
              </a:rPr>
              <a:t>= </a:t>
            </a:r>
            <a:r>
              <a:rPr kumimoji="1" lang="de-DE" altLang="zh-CN" sz="2400" b="1" i="1" dirty="0"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i="1" dirty="0">
                <a:ea typeface="幼圆" pitchFamily="49" charset="-122"/>
              </a:rPr>
              <a:t> </a:t>
            </a:r>
            <a:r>
              <a:rPr lang="el-GR" altLang="zh-CN" sz="2400" b="1" dirty="0" smtClean="0">
                <a:ea typeface="幼圆" pitchFamily="49" charset="-122"/>
                <a:sym typeface="Symbol" pitchFamily="18" charset="2"/>
              </a:rPr>
              <a:t></a:t>
            </a:r>
            <a:r>
              <a:rPr lang="zh-CN" altLang="en-US" sz="2400" b="1" baseline="-25000" dirty="0" smtClean="0">
                <a:ea typeface="幼圆" pitchFamily="49" charset="-122"/>
                <a:sym typeface="Symbol" pitchFamily="18" charset="2"/>
              </a:rPr>
              <a:t>砂</a:t>
            </a:r>
            <a:r>
              <a:rPr lang="en-US" altLang="zh-CN" sz="2400" b="1" dirty="0" smtClean="0">
                <a:ea typeface="幼圆" pitchFamily="49" charset="-122"/>
              </a:rPr>
              <a:t>/ </a:t>
            </a:r>
            <a:r>
              <a:rPr kumimoji="1" lang="de-DE" altLang="zh-CN" sz="2400" b="1" i="1" dirty="0"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dirty="0">
                <a:ea typeface="幼圆" pitchFamily="49" charset="-122"/>
              </a:rPr>
              <a:t> </a:t>
            </a:r>
            <a:r>
              <a:rPr lang="el-GR" altLang="zh-CN" sz="2400" b="1" baseline="-25000" dirty="0">
                <a:ea typeface="幼圆" pitchFamily="49" charset="-122"/>
              </a:rPr>
              <a:t>w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221971" y="2620844"/>
            <a:ext cx="4272742" cy="995191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流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土只会发生在黏土层中，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判别条件为：</a:t>
            </a:r>
            <a:r>
              <a:rPr lang="en-US" altLang="zh-CN" sz="2400" b="1" i="1" dirty="0" err="1">
                <a:ea typeface="幼圆" pitchFamily="49" charset="-122"/>
              </a:rPr>
              <a:t>i</a:t>
            </a:r>
            <a:r>
              <a:rPr lang="en-US" altLang="zh-CN" sz="2400" b="1" i="1" baseline="-25000" dirty="0" err="1">
                <a:ea typeface="幼圆" pitchFamily="49" charset="-122"/>
              </a:rPr>
              <a:t>cr</a:t>
            </a:r>
            <a:r>
              <a:rPr lang="en-US" altLang="zh-CN" sz="2400" b="1" dirty="0">
                <a:ea typeface="幼圆" pitchFamily="49" charset="-122"/>
              </a:rPr>
              <a:t> = </a:t>
            </a:r>
            <a:r>
              <a:rPr kumimoji="1" lang="de-DE" altLang="zh-CN" sz="2400" b="1" i="1" dirty="0"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i="1" dirty="0">
                <a:ea typeface="幼圆" pitchFamily="49" charset="-122"/>
              </a:rPr>
              <a:t> </a:t>
            </a:r>
            <a:r>
              <a:rPr lang="el-GR" altLang="zh-CN" sz="2400" b="1" dirty="0" smtClean="0">
                <a:ea typeface="幼圆" pitchFamily="49" charset="-122"/>
                <a:sym typeface="Symbol" pitchFamily="18" charset="2"/>
              </a:rPr>
              <a:t></a:t>
            </a:r>
            <a:r>
              <a:rPr lang="zh-CN" altLang="en-US" sz="2400" b="1" baseline="-25000" dirty="0" smtClean="0">
                <a:ea typeface="幼圆" pitchFamily="49" charset="-122"/>
                <a:sym typeface="Symbol" pitchFamily="18" charset="2"/>
              </a:rPr>
              <a:t>黏</a:t>
            </a:r>
            <a:r>
              <a:rPr lang="en-US" altLang="zh-CN" sz="2400" b="1" dirty="0" smtClean="0">
                <a:ea typeface="幼圆" pitchFamily="49" charset="-122"/>
              </a:rPr>
              <a:t>/ </a:t>
            </a:r>
            <a:r>
              <a:rPr kumimoji="1" lang="de-DE" altLang="zh-CN" sz="2400" b="1" i="1" dirty="0"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dirty="0">
                <a:ea typeface="幼圆" pitchFamily="49" charset="-122"/>
              </a:rPr>
              <a:t> </a:t>
            </a:r>
            <a:r>
              <a:rPr lang="el-GR" altLang="zh-CN" sz="2400" b="1" baseline="-25000" dirty="0">
                <a:ea typeface="幼圆" pitchFamily="49" charset="-122"/>
              </a:rPr>
              <a:t>w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21971" y="3660976"/>
            <a:ext cx="4256116" cy="100246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流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土在砂土和黏土中均可能发生，用</a:t>
            </a:r>
            <a:r>
              <a:rPr lang="zh-CN" altLang="en-US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'</a:t>
            </a:r>
            <a:r>
              <a:rPr lang="en-US" altLang="zh-CN" sz="2400" b="1" baseline="-250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lang="zh-CN" altLang="en-US" sz="24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zh-CN" altLang="en-US" sz="2400" b="1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'</a:t>
            </a:r>
            <a:r>
              <a:rPr lang="en-US" altLang="zh-CN" sz="2400" b="1" baseline="-250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lang="zh-CN" altLang="en-US" sz="24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联合</a:t>
            </a:r>
            <a:r>
              <a:rPr lang="zh-CN" altLang="en-US" sz="24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确定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21971" y="4609668"/>
            <a:ext cx="4114800" cy="1242492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流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土只会在黏土中发生，只用</a:t>
            </a:r>
            <a:r>
              <a:rPr lang="zh-CN" altLang="en-US" sz="2400" b="1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'</a:t>
            </a:r>
            <a:r>
              <a:rPr lang="en-US" altLang="zh-CN" sz="2400" b="1" baseline="-250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lang="zh-CN" altLang="en-US" sz="24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即可</a:t>
            </a:r>
            <a:r>
              <a:rPr lang="zh-CN" altLang="en-US" sz="24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确定。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07596" y="18112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07596" y="2685138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07596" y="374189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07596" y="4798651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Rectangle 2" descr="大纸屑"/>
          <p:cNvSpPr>
            <a:spLocks noChangeArrowheads="1"/>
          </p:cNvSpPr>
          <p:nvPr/>
        </p:nvSpPr>
        <p:spPr bwMode="auto">
          <a:xfrm>
            <a:off x="6277034" y="4933113"/>
            <a:ext cx="2773363" cy="366712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275447" y="3050338"/>
            <a:ext cx="2773362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5" descr="小纸屑"/>
          <p:cNvSpPr>
            <a:spLocks noChangeArrowheads="1"/>
          </p:cNvSpPr>
          <p:nvPr/>
        </p:nvSpPr>
        <p:spPr bwMode="auto">
          <a:xfrm>
            <a:off x="6273859" y="3450388"/>
            <a:ext cx="2773363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>
            <a:off x="6264334" y="3466263"/>
            <a:ext cx="2789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>
            <a:off x="6264334" y="4926763"/>
            <a:ext cx="279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24" name="Group 9"/>
          <p:cNvGrpSpPr>
            <a:grpSpLocks/>
          </p:cNvGrpSpPr>
          <p:nvPr/>
        </p:nvGrpSpPr>
        <p:grpSpPr bwMode="auto">
          <a:xfrm>
            <a:off x="7199372" y="2934450"/>
            <a:ext cx="315912" cy="285750"/>
            <a:chOff x="1122" y="1612"/>
            <a:chExt cx="222" cy="152"/>
          </a:xfrm>
        </p:grpSpPr>
        <p:sp>
          <p:nvSpPr>
            <p:cNvPr id="25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Line 15"/>
          <p:cNvSpPr>
            <a:spLocks noChangeShapeType="1"/>
          </p:cNvSpPr>
          <p:nvPr/>
        </p:nvSpPr>
        <p:spPr bwMode="auto">
          <a:xfrm flipV="1">
            <a:off x="6421497" y="3036050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Line 16"/>
          <p:cNvSpPr>
            <a:spLocks noChangeShapeType="1"/>
          </p:cNvSpPr>
          <p:nvPr/>
        </p:nvSpPr>
        <p:spPr bwMode="auto">
          <a:xfrm>
            <a:off x="6294497" y="2159750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2" name="Freeform 17"/>
          <p:cNvSpPr>
            <a:spLocks/>
          </p:cNvSpPr>
          <p:nvPr/>
        </p:nvSpPr>
        <p:spPr bwMode="auto">
          <a:xfrm>
            <a:off x="5762684" y="2161338"/>
            <a:ext cx="509588" cy="2995612"/>
          </a:xfrm>
          <a:custGeom>
            <a:avLst/>
            <a:gdLst>
              <a:gd name="T0" fmla="*/ 321 w 321"/>
              <a:gd name="T1" fmla="*/ 1842 h 1887"/>
              <a:gd name="T2" fmla="*/ 49 w 321"/>
              <a:gd name="T3" fmla="*/ 1839 h 1887"/>
              <a:gd name="T4" fmla="*/ 48 w 321"/>
              <a:gd name="T5" fmla="*/ 0 h 1887"/>
              <a:gd name="T6" fmla="*/ 0 w 321"/>
              <a:gd name="T7" fmla="*/ 0 h 1887"/>
              <a:gd name="T8" fmla="*/ 0 w 321"/>
              <a:gd name="T9" fmla="*/ 1887 h 1887"/>
              <a:gd name="T10" fmla="*/ 317 w 321"/>
              <a:gd name="T11" fmla="*/ 1887 h 1887"/>
              <a:gd name="T12" fmla="*/ 321 w 321"/>
              <a:gd name="T13" fmla="*/ 1842 h 18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1"/>
              <a:gd name="T22" fmla="*/ 0 h 1887"/>
              <a:gd name="T23" fmla="*/ 321 w 321"/>
              <a:gd name="T24" fmla="*/ 1887 h 18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1" h="1887">
                <a:moveTo>
                  <a:pt x="321" y="1842"/>
                </a:moveTo>
                <a:lnTo>
                  <a:pt x="49" y="1839"/>
                </a:lnTo>
                <a:lnTo>
                  <a:pt x="48" y="0"/>
                </a:lnTo>
                <a:lnTo>
                  <a:pt x="0" y="0"/>
                </a:lnTo>
                <a:lnTo>
                  <a:pt x="0" y="1887"/>
                </a:lnTo>
                <a:lnTo>
                  <a:pt x="317" y="1887"/>
                </a:lnTo>
                <a:lnTo>
                  <a:pt x="321" y="1842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3" name="Freeform 18"/>
          <p:cNvSpPr>
            <a:spLocks/>
          </p:cNvSpPr>
          <p:nvPr/>
        </p:nvSpPr>
        <p:spPr bwMode="auto">
          <a:xfrm>
            <a:off x="5838884" y="1940675"/>
            <a:ext cx="473075" cy="3135313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4" name="Freeform 19"/>
          <p:cNvSpPr>
            <a:spLocks/>
          </p:cNvSpPr>
          <p:nvPr/>
        </p:nvSpPr>
        <p:spPr bwMode="auto">
          <a:xfrm>
            <a:off x="5765859" y="1921625"/>
            <a:ext cx="565150" cy="323532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>
            <a:off x="5765859" y="2166100"/>
            <a:ext cx="65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Line 21"/>
          <p:cNvSpPr>
            <a:spLocks noChangeShapeType="1"/>
          </p:cNvSpPr>
          <p:nvPr/>
        </p:nvSpPr>
        <p:spPr bwMode="auto">
          <a:xfrm>
            <a:off x="5778559" y="2196263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5788084" y="2228013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8" name="Line 23"/>
          <p:cNvSpPr>
            <a:spLocks noChangeShapeType="1"/>
          </p:cNvSpPr>
          <p:nvPr/>
        </p:nvSpPr>
        <p:spPr bwMode="auto">
          <a:xfrm>
            <a:off x="5781734" y="2259763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9" name="Text Box 24"/>
          <p:cNvSpPr txBox="1">
            <a:spLocks noChangeArrowheads="1"/>
          </p:cNvSpPr>
          <p:nvPr/>
        </p:nvSpPr>
        <p:spPr bwMode="auto">
          <a:xfrm>
            <a:off x="7759759" y="3912350"/>
            <a:ext cx="890738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de-DE" altLang="zh-CN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7759759" y="3031288"/>
            <a:ext cx="8826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  <a:sym typeface="Wingdings" pitchFamily="2" charset="2"/>
              </a:rPr>
              <a:t> </a:t>
            </a: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lang="de-DE" altLang="zh-CN" sz="1800" b="1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1" name="Line 26"/>
          <p:cNvSpPr>
            <a:spLocks noChangeShapeType="1"/>
          </p:cNvSpPr>
          <p:nvPr/>
        </p:nvSpPr>
        <p:spPr bwMode="auto">
          <a:xfrm flipV="1">
            <a:off x="6418322" y="3477375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2" name="Line 27"/>
          <p:cNvSpPr>
            <a:spLocks noChangeShapeType="1"/>
          </p:cNvSpPr>
          <p:nvPr/>
        </p:nvSpPr>
        <p:spPr bwMode="auto">
          <a:xfrm flipV="1">
            <a:off x="6423084" y="2186738"/>
            <a:ext cx="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3" name="Text Box 28"/>
          <p:cNvSpPr txBox="1">
            <a:spLocks noChangeArrowheads="1"/>
          </p:cNvSpPr>
          <p:nvPr/>
        </p:nvSpPr>
        <p:spPr bwMode="auto">
          <a:xfrm>
            <a:off x="6415147" y="3059863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6404034" y="4040938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5m</a:t>
            </a:r>
          </a:p>
        </p:txBody>
      </p:sp>
      <p:sp>
        <p:nvSpPr>
          <p:cNvPr id="45" name="Text Box 31"/>
          <p:cNvSpPr txBox="1">
            <a:spLocks noChangeArrowheads="1"/>
          </p:cNvSpPr>
          <p:nvPr/>
        </p:nvSpPr>
        <p:spPr bwMode="auto">
          <a:xfrm>
            <a:off x="7786747" y="4945813"/>
            <a:ext cx="6223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46" name="Line 32"/>
          <p:cNvSpPr>
            <a:spLocks noChangeShapeType="1"/>
          </p:cNvSpPr>
          <p:nvPr/>
        </p:nvSpPr>
        <p:spPr bwMode="auto">
          <a:xfrm>
            <a:off x="6265922" y="3039225"/>
            <a:ext cx="279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7" name="Text Box 33"/>
          <p:cNvSpPr txBox="1">
            <a:spLocks noChangeArrowheads="1"/>
          </p:cNvSpPr>
          <p:nvPr/>
        </p:nvSpPr>
        <p:spPr bwMode="auto">
          <a:xfrm>
            <a:off x="6630129" y="2347075"/>
            <a:ext cx="846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zh-CN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？</a:t>
            </a:r>
            <a:endParaRPr lang="zh-CN" altLang="el-GR" sz="2400" b="1" dirty="0">
              <a:solidFill>
                <a:srgbClr val="CC0000"/>
              </a:solidFill>
              <a:ea typeface="华文新魏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7424797" y="4864850"/>
            <a:ext cx="112712" cy="112713"/>
          </a:xfrm>
          <a:prstGeom prst="ellipse">
            <a:avLst/>
          </a:prstGeom>
          <a:solidFill>
            <a:srgbClr val="A5002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9" name="Text Box 52"/>
          <p:cNvSpPr txBox="1">
            <a:spLocks noChangeArrowheads="1"/>
          </p:cNvSpPr>
          <p:nvPr/>
        </p:nvSpPr>
        <p:spPr bwMode="auto">
          <a:xfrm>
            <a:off x="7586722" y="4610850"/>
            <a:ext cx="320069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800" b="1" dirty="0">
                <a:solidFill>
                  <a:srgbClr val="000066"/>
                </a:solidFill>
                <a:ea typeface="仿宋体" pitchFamily="18" charset="-122"/>
              </a:rPr>
              <a:t>B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50" name="Oval 50"/>
          <p:cNvSpPr>
            <a:spLocks noChangeArrowheads="1"/>
          </p:cNvSpPr>
          <p:nvPr/>
        </p:nvSpPr>
        <p:spPr bwMode="auto">
          <a:xfrm>
            <a:off x="7377692" y="3404580"/>
            <a:ext cx="112712" cy="112713"/>
          </a:xfrm>
          <a:prstGeom prst="ellipse">
            <a:avLst/>
          </a:prstGeom>
          <a:solidFill>
            <a:srgbClr val="A5002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7539617" y="3150580"/>
            <a:ext cx="332893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 dirty="0" smtClean="0">
                <a:solidFill>
                  <a:srgbClr val="000066"/>
                </a:solidFill>
                <a:ea typeface="仿宋体" pitchFamily="18" charset="-122"/>
              </a:rPr>
              <a:t>A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4003474"/>
      </p:ext>
    </p:extLst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 descr="大纸屑"/>
          <p:cNvSpPr>
            <a:spLocks noChangeArrowheads="1"/>
          </p:cNvSpPr>
          <p:nvPr/>
        </p:nvSpPr>
        <p:spPr bwMode="auto">
          <a:xfrm>
            <a:off x="965200" y="4916488"/>
            <a:ext cx="2773363" cy="366712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3613" y="3033713"/>
            <a:ext cx="2773362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 descr="小纸屑"/>
          <p:cNvSpPr>
            <a:spLocks noChangeArrowheads="1"/>
          </p:cNvSpPr>
          <p:nvPr/>
        </p:nvSpPr>
        <p:spPr bwMode="auto">
          <a:xfrm>
            <a:off x="962025" y="3433763"/>
            <a:ext cx="2773363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01625" y="993775"/>
            <a:ext cx="7831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     </a:t>
            </a:r>
            <a:r>
              <a:rPr kumimoji="1" lang="en-US" altLang="zh-CN" sz="2800" b="1" dirty="0">
                <a:solidFill>
                  <a:srgbClr val="CC0000"/>
                </a:solidFill>
                <a:ea typeface="幼圆" pitchFamily="49" charset="-122"/>
              </a:rPr>
              <a:t>b</a:t>
            </a:r>
            <a:r>
              <a:rPr kumimoji="1" lang="zh-CN" altLang="en-US" sz="2800" b="1" dirty="0">
                <a:solidFill>
                  <a:srgbClr val="CC0000"/>
                </a:solidFill>
                <a:ea typeface="幼圆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土层发生流土破坏时的</a:t>
            </a:r>
            <a:r>
              <a:rPr kumimoji="1" lang="el-GR" altLang="zh-CN" sz="2800" b="1" dirty="0">
                <a:solidFill>
                  <a:srgbClr val="000066"/>
                </a:solidFill>
                <a:ea typeface="幼圆" pitchFamily="49" charset="-122"/>
              </a:rPr>
              <a:t>Δ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？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952500" y="3449638"/>
            <a:ext cx="2789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952500" y="4910138"/>
            <a:ext cx="279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1887538" y="2917825"/>
            <a:ext cx="315912" cy="285750"/>
            <a:chOff x="1122" y="1612"/>
            <a:chExt cx="222" cy="152"/>
          </a:xfrm>
        </p:grpSpPr>
        <p:sp>
          <p:nvSpPr>
            <p:cNvPr id="13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" name="Line 15"/>
          <p:cNvSpPr>
            <a:spLocks noChangeShapeType="1"/>
          </p:cNvSpPr>
          <p:nvPr/>
        </p:nvSpPr>
        <p:spPr bwMode="auto">
          <a:xfrm flipV="1">
            <a:off x="1109663" y="3019425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982663" y="214312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Freeform 17"/>
          <p:cNvSpPr>
            <a:spLocks/>
          </p:cNvSpPr>
          <p:nvPr/>
        </p:nvSpPr>
        <p:spPr bwMode="auto">
          <a:xfrm>
            <a:off x="450850" y="2144713"/>
            <a:ext cx="509588" cy="2995612"/>
          </a:xfrm>
          <a:custGeom>
            <a:avLst/>
            <a:gdLst>
              <a:gd name="T0" fmla="*/ 321 w 321"/>
              <a:gd name="T1" fmla="*/ 1842 h 1887"/>
              <a:gd name="T2" fmla="*/ 49 w 321"/>
              <a:gd name="T3" fmla="*/ 1839 h 1887"/>
              <a:gd name="T4" fmla="*/ 48 w 321"/>
              <a:gd name="T5" fmla="*/ 0 h 1887"/>
              <a:gd name="T6" fmla="*/ 0 w 321"/>
              <a:gd name="T7" fmla="*/ 0 h 1887"/>
              <a:gd name="T8" fmla="*/ 0 w 321"/>
              <a:gd name="T9" fmla="*/ 1887 h 1887"/>
              <a:gd name="T10" fmla="*/ 317 w 321"/>
              <a:gd name="T11" fmla="*/ 1887 h 1887"/>
              <a:gd name="T12" fmla="*/ 321 w 321"/>
              <a:gd name="T13" fmla="*/ 1842 h 18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1"/>
              <a:gd name="T22" fmla="*/ 0 h 1887"/>
              <a:gd name="T23" fmla="*/ 321 w 321"/>
              <a:gd name="T24" fmla="*/ 1887 h 18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1" h="1887">
                <a:moveTo>
                  <a:pt x="321" y="1842"/>
                </a:moveTo>
                <a:lnTo>
                  <a:pt x="49" y="1839"/>
                </a:lnTo>
                <a:lnTo>
                  <a:pt x="48" y="0"/>
                </a:lnTo>
                <a:lnTo>
                  <a:pt x="0" y="0"/>
                </a:lnTo>
                <a:lnTo>
                  <a:pt x="0" y="1887"/>
                </a:lnTo>
                <a:lnTo>
                  <a:pt x="317" y="1887"/>
                </a:lnTo>
                <a:lnTo>
                  <a:pt x="321" y="1842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527050" y="1924050"/>
            <a:ext cx="473075" cy="3135313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454025" y="1905000"/>
            <a:ext cx="565150" cy="323532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454025" y="2149475"/>
            <a:ext cx="65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466725" y="21796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476250" y="221138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469900" y="22431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2447925" y="3895725"/>
            <a:ext cx="890738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de-DE" altLang="zh-CN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2447925" y="3014663"/>
            <a:ext cx="8826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  <a:sym typeface="Wingdings" pitchFamily="2" charset="2"/>
              </a:rPr>
              <a:t> </a:t>
            </a: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lang="de-DE" altLang="zh-CN" sz="1800" b="1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V="1">
            <a:off x="1106488" y="3460750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 flipV="1">
            <a:off x="1111250" y="2170113"/>
            <a:ext cx="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1103313" y="30432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092200" y="40243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5m</a:t>
            </a: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4046538" y="1893888"/>
            <a:ext cx="4660900" cy="89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 砂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土： 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=20kN/cm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-3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</a:p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黏</a:t>
            </a:r>
            <a:r>
              <a:rPr kumimoji="1" lang="zh-CN" altLang="de-DE" sz="2000" b="1" dirty="0" smtClean="0">
                <a:solidFill>
                  <a:srgbClr val="000066"/>
                </a:solidFill>
                <a:ea typeface="幼圆" pitchFamily="49" charset="-122"/>
              </a:rPr>
              <a:t>土 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=18kN/cm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-7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2474913" y="4929188"/>
            <a:ext cx="6223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954088" y="3022600"/>
            <a:ext cx="279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1280145" y="2330450"/>
            <a:ext cx="6924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zh-CN" sz="2400" b="1" dirty="0">
                <a:solidFill>
                  <a:srgbClr val="CC0000"/>
                </a:solidFill>
                <a:ea typeface="华文新魏" pitchFamily="2" charset="-122"/>
              </a:rPr>
              <a:t>Δ</a:t>
            </a:r>
            <a:r>
              <a:rPr lang="en-US" altLang="zh-CN" sz="2400" b="1" i="1" dirty="0">
                <a:solidFill>
                  <a:srgbClr val="CC0000"/>
                </a:solidFill>
                <a:ea typeface="华文新魏" pitchFamily="2" charset="-122"/>
              </a:rPr>
              <a:t>h</a:t>
            </a:r>
            <a:r>
              <a:rPr lang="en-US" altLang="zh-CN" sz="2400" b="1" dirty="0">
                <a:solidFill>
                  <a:srgbClr val="CC0000"/>
                </a:solidFill>
                <a:ea typeface="华文新魏" pitchFamily="2" charset="-122"/>
              </a:rPr>
              <a:t>=?</a:t>
            </a:r>
            <a:endParaRPr lang="el-GR" altLang="zh-CN" sz="2400" b="1" dirty="0">
              <a:solidFill>
                <a:srgbClr val="CC0000"/>
              </a:solidFill>
              <a:ea typeface="华文新魏" pitchFamily="2" charset="-122"/>
            </a:endParaRPr>
          </a:p>
        </p:txBody>
      </p:sp>
      <p:sp>
        <p:nvSpPr>
          <p:cNvPr id="37" name="Text Box 50"/>
          <p:cNvSpPr txBox="1">
            <a:spLocks noChangeArrowheads="1"/>
          </p:cNvSpPr>
          <p:nvPr/>
        </p:nvSpPr>
        <p:spPr bwMode="auto">
          <a:xfrm>
            <a:off x="4308475" y="3059113"/>
            <a:ext cx="4484688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arabicParenR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发生在</a:t>
            </a:r>
            <a:r>
              <a:rPr kumimoji="1" lang="zh-CN" altLang="de-DE" sz="24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 </a:t>
            </a:r>
            <a:r>
              <a:rPr kumimoji="1" lang="zh-CN" altLang="de-DE" sz="2400" b="1" dirty="0">
                <a:solidFill>
                  <a:srgbClr val="A50021"/>
                </a:solidFill>
                <a:ea typeface="幼圆" pitchFamily="49" charset="-122"/>
              </a:rPr>
              <a:t>砂土</a:t>
            </a:r>
            <a:r>
              <a:rPr kumimoji="1" lang="zh-CN" altLang="de-DE" sz="24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</a:p>
          <a:p>
            <a:pPr eaLnBrk="1" hangingPunct="1"/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    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cr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= </a:t>
            </a:r>
            <a:r>
              <a:rPr kumimoji="1" lang="de-DE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/ </a:t>
            </a:r>
            <a:r>
              <a:rPr kumimoji="1" lang="de-DE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=1 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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很难达到</a:t>
            </a:r>
            <a:endParaRPr lang="en-US" altLang="zh-CN" sz="2400" b="1" baseline="-25000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38" name="Text Box 52"/>
          <p:cNvSpPr txBox="1">
            <a:spLocks noChangeArrowheads="1"/>
          </p:cNvSpPr>
          <p:nvPr/>
        </p:nvSpPr>
        <p:spPr bwMode="auto">
          <a:xfrm>
            <a:off x="4268788" y="4392613"/>
            <a:ext cx="4210050" cy="105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arabicParenR" startAt="2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发生在</a:t>
            </a:r>
            <a:r>
              <a:rPr kumimoji="1" lang="zh-CN" altLang="de-DE" sz="24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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黏</a:t>
            </a:r>
            <a:r>
              <a:rPr kumimoji="1" lang="zh-CN" altLang="de-DE" sz="2400" b="1" dirty="0" smtClean="0">
                <a:solidFill>
                  <a:srgbClr val="A50021"/>
                </a:solidFill>
                <a:ea typeface="幼圆" pitchFamily="49" charset="-122"/>
              </a:rPr>
              <a:t>土</a:t>
            </a:r>
            <a:r>
              <a:rPr kumimoji="1" lang="zh-CN" altLang="de-DE" sz="24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</a:p>
          <a:p>
            <a:pPr eaLnBrk="1" hangingPunct="1"/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    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cr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= </a:t>
            </a:r>
            <a:r>
              <a:rPr kumimoji="1" lang="de-DE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/ </a:t>
            </a:r>
            <a:r>
              <a:rPr kumimoji="1" lang="de-DE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=1 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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？？？</a:t>
            </a:r>
            <a:endParaRPr lang="zh-CN" altLang="en-US" sz="2400" b="1" baseline="-25000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39" name="Text Box 53"/>
          <p:cNvSpPr txBox="1">
            <a:spLocks noChangeArrowheads="1"/>
          </p:cNvSpPr>
          <p:nvPr/>
        </p:nvSpPr>
        <p:spPr bwMode="auto">
          <a:xfrm>
            <a:off x="4870450" y="5746750"/>
            <a:ext cx="32639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幼圆" pitchFamily="49" charset="-122"/>
                <a:ea typeface="幼圆" pitchFamily="49" charset="-122"/>
                <a:sym typeface="Symbol" pitchFamily="18" charset="2"/>
              </a:rPr>
              <a:t></a:t>
            </a:r>
            <a:r>
              <a:rPr lang="en-US" altLang="zh-CN" sz="2400" b="1">
                <a:solidFill>
                  <a:srgbClr val="CC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sz="2400" b="1">
                <a:solidFill>
                  <a:srgbClr val="CC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用有效应力计算</a:t>
            </a:r>
            <a:endParaRPr lang="zh-CN" altLang="en-US" sz="2400" b="1" baseline="-25000">
              <a:solidFill>
                <a:srgbClr val="CC0000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26168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6788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 descr="大纸屑"/>
          <p:cNvSpPr>
            <a:spLocks noChangeArrowheads="1"/>
          </p:cNvSpPr>
          <p:nvPr/>
        </p:nvSpPr>
        <p:spPr bwMode="auto">
          <a:xfrm>
            <a:off x="965200" y="4916488"/>
            <a:ext cx="2773363" cy="366712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3613" y="3033713"/>
            <a:ext cx="2773362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 descr="小纸屑"/>
          <p:cNvSpPr>
            <a:spLocks noChangeArrowheads="1"/>
          </p:cNvSpPr>
          <p:nvPr/>
        </p:nvSpPr>
        <p:spPr bwMode="auto">
          <a:xfrm>
            <a:off x="962025" y="3433763"/>
            <a:ext cx="2773363" cy="1477962"/>
          </a:xfrm>
          <a:prstGeom prst="rect">
            <a:avLst/>
          </a:prstGeom>
          <a:pattFill prst="smConfetti">
            <a:fgClr>
              <a:schemeClr val="accent2"/>
            </a:fgClr>
            <a:bgClr>
              <a:srgbClr val="99CC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952500" y="3449638"/>
            <a:ext cx="2789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952500" y="4910138"/>
            <a:ext cx="279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887538" y="2917825"/>
            <a:ext cx="315912" cy="285750"/>
            <a:chOff x="1122" y="1612"/>
            <a:chExt cx="222" cy="152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" name="Line 15"/>
          <p:cNvSpPr>
            <a:spLocks noChangeShapeType="1"/>
          </p:cNvSpPr>
          <p:nvPr/>
        </p:nvSpPr>
        <p:spPr bwMode="auto">
          <a:xfrm flipV="1">
            <a:off x="1109663" y="3019425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982663" y="214312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450850" y="2144713"/>
            <a:ext cx="509588" cy="2995612"/>
          </a:xfrm>
          <a:custGeom>
            <a:avLst/>
            <a:gdLst>
              <a:gd name="T0" fmla="*/ 321 w 321"/>
              <a:gd name="T1" fmla="*/ 1842 h 1887"/>
              <a:gd name="T2" fmla="*/ 49 w 321"/>
              <a:gd name="T3" fmla="*/ 1839 h 1887"/>
              <a:gd name="T4" fmla="*/ 48 w 321"/>
              <a:gd name="T5" fmla="*/ 0 h 1887"/>
              <a:gd name="T6" fmla="*/ 0 w 321"/>
              <a:gd name="T7" fmla="*/ 0 h 1887"/>
              <a:gd name="T8" fmla="*/ 0 w 321"/>
              <a:gd name="T9" fmla="*/ 1887 h 1887"/>
              <a:gd name="T10" fmla="*/ 317 w 321"/>
              <a:gd name="T11" fmla="*/ 1887 h 1887"/>
              <a:gd name="T12" fmla="*/ 321 w 321"/>
              <a:gd name="T13" fmla="*/ 1842 h 18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1"/>
              <a:gd name="T22" fmla="*/ 0 h 1887"/>
              <a:gd name="T23" fmla="*/ 321 w 321"/>
              <a:gd name="T24" fmla="*/ 1887 h 18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1" h="1887">
                <a:moveTo>
                  <a:pt x="321" y="1842"/>
                </a:moveTo>
                <a:lnTo>
                  <a:pt x="49" y="1839"/>
                </a:lnTo>
                <a:lnTo>
                  <a:pt x="48" y="0"/>
                </a:lnTo>
                <a:lnTo>
                  <a:pt x="0" y="0"/>
                </a:lnTo>
                <a:lnTo>
                  <a:pt x="0" y="1887"/>
                </a:lnTo>
                <a:lnTo>
                  <a:pt x="317" y="1887"/>
                </a:lnTo>
                <a:lnTo>
                  <a:pt x="321" y="1842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527050" y="1924050"/>
            <a:ext cx="473075" cy="3135313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454025" y="1905000"/>
            <a:ext cx="565150" cy="3235325"/>
          </a:xfrm>
          <a:custGeom>
            <a:avLst/>
            <a:gdLst>
              <a:gd name="T0" fmla="*/ 298 w 298"/>
              <a:gd name="T1" fmla="*/ 1565 h 1565"/>
              <a:gd name="T2" fmla="*/ 0 w 298"/>
              <a:gd name="T3" fmla="*/ 1565 h 1565"/>
              <a:gd name="T4" fmla="*/ 0 w 298"/>
              <a:gd name="T5" fmla="*/ 0 h 1565"/>
              <a:gd name="T6" fmla="*/ 0 60000 65536"/>
              <a:gd name="T7" fmla="*/ 0 60000 65536"/>
              <a:gd name="T8" fmla="*/ 0 60000 65536"/>
              <a:gd name="T9" fmla="*/ 0 w 298"/>
              <a:gd name="T10" fmla="*/ 0 h 1565"/>
              <a:gd name="T11" fmla="*/ 298 w 298"/>
              <a:gd name="T12" fmla="*/ 1565 h 1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8" h="1565">
                <a:moveTo>
                  <a:pt x="298" y="1565"/>
                </a:moveTo>
                <a:lnTo>
                  <a:pt x="0" y="156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454025" y="2149475"/>
            <a:ext cx="65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466725" y="21796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476250" y="221138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469900" y="2243138"/>
            <a:ext cx="3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447925" y="3895725"/>
            <a:ext cx="890738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 dirty="0">
                <a:solidFill>
                  <a:srgbClr val="000066"/>
                </a:solidFill>
                <a:sym typeface="Wingdings" pitchFamily="2" charset="2"/>
              </a:rPr>
              <a:t> </a:t>
            </a:r>
            <a:r>
              <a:rPr kumimoji="1" lang="zh-CN" altLang="en-US" sz="1800" b="1" dirty="0" smtClean="0">
                <a:solidFill>
                  <a:srgbClr val="000066"/>
                </a:solidFill>
                <a:ea typeface="仿宋体" pitchFamily="18" charset="-122"/>
              </a:rPr>
              <a:t>黏</a:t>
            </a:r>
            <a:r>
              <a:rPr kumimoji="1" lang="zh-CN" altLang="de-DE" sz="1800" b="1" dirty="0" smtClean="0">
                <a:solidFill>
                  <a:srgbClr val="000066"/>
                </a:solidFill>
                <a:ea typeface="仿宋体" pitchFamily="18" charset="-122"/>
              </a:rPr>
              <a:t>土</a:t>
            </a:r>
            <a:endParaRPr kumimoji="1" lang="de-DE" altLang="zh-CN" sz="1800" b="1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2447925" y="3014663"/>
            <a:ext cx="8826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  <a:sym typeface="Wingdings" pitchFamily="2" charset="2"/>
              </a:rPr>
              <a:t> </a:t>
            </a: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lang="de-DE" altLang="zh-CN" sz="1800" b="1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1106488" y="3460750"/>
            <a:ext cx="0" cy="1438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V="1">
            <a:off x="1111250" y="2170113"/>
            <a:ext cx="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1103313" y="3043238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1m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1092200" y="4024313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5m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4168775" y="1784350"/>
            <a:ext cx="4660900" cy="89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de-DE" sz="2000" b="1" dirty="0">
                <a:solidFill>
                  <a:srgbClr val="000066"/>
                </a:solidFill>
                <a:sym typeface="Wingdings" pitchFamily="2" charset="2"/>
              </a:rPr>
              <a:t> 砂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土： 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=20kN/cm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-3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</a:p>
          <a:p>
            <a:pPr eaLnBrk="1" hangingPunct="1"/>
            <a:r>
              <a:rPr kumimoji="1" lang="zh-CN" altLang="de-DE" sz="2000" b="1" dirty="0" smtClean="0">
                <a:solidFill>
                  <a:srgbClr val="000066"/>
                </a:solidFill>
                <a:sym typeface="Wingdings" pitchFamily="2" charset="2"/>
              </a:rPr>
              <a:t>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黏</a:t>
            </a:r>
            <a:r>
              <a:rPr kumimoji="1" lang="zh-CN" altLang="de-DE" sz="2000" b="1" dirty="0" smtClean="0">
                <a:solidFill>
                  <a:srgbClr val="000066"/>
                </a:solidFill>
                <a:ea typeface="幼圆" pitchFamily="49" charset="-122"/>
              </a:rPr>
              <a:t>土 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de-DE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de-DE" altLang="zh-CN" sz="20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sat</a:t>
            </a:r>
            <a:r>
              <a:rPr kumimoji="1" lang="de-DE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=18kN/cm</a:t>
            </a:r>
            <a:r>
              <a:rPr kumimoji="1" lang="de-DE" altLang="zh-CN" sz="20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de-DE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de-DE" altLang="zh-CN" sz="20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=10</a:t>
            </a:r>
            <a:r>
              <a:rPr lang="de-DE" altLang="zh-CN" sz="2000" b="1" baseline="30000" dirty="0">
                <a:solidFill>
                  <a:srgbClr val="000066"/>
                </a:solidFill>
                <a:ea typeface="幼圆" pitchFamily="49" charset="-122"/>
              </a:rPr>
              <a:t>-7</a:t>
            </a:r>
            <a:r>
              <a:rPr lang="de-DE" altLang="zh-CN" sz="2000" b="1" dirty="0">
                <a:solidFill>
                  <a:srgbClr val="000066"/>
                </a:solidFill>
                <a:ea typeface="幼圆" pitchFamily="49" charset="-122"/>
              </a:rPr>
              <a:t>m/s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2474913" y="4929188"/>
            <a:ext cx="6223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de-DE" sz="1800" b="1">
                <a:solidFill>
                  <a:srgbClr val="000066"/>
                </a:solidFill>
                <a:ea typeface="仿宋体" pitchFamily="18" charset="-122"/>
              </a:rPr>
              <a:t>砂土</a:t>
            </a:r>
            <a:endParaRPr kumimoji="1" lang="de-DE" altLang="zh-CN" sz="1800" b="1" baseline="3000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954088" y="3022600"/>
            <a:ext cx="279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318295" y="2330450"/>
            <a:ext cx="846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zh-CN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CC0000"/>
                </a:solidFill>
                <a:ea typeface="华文新魏" pitchFamily="2" charset="-122"/>
                <a:cs typeface="Times New Roman" panose="02020603050405020304" pitchFamily="18" charset="0"/>
              </a:rPr>
              <a:t>？</a:t>
            </a:r>
            <a:endParaRPr lang="zh-CN" altLang="el-GR" sz="2400" b="1" dirty="0">
              <a:solidFill>
                <a:srgbClr val="CC0000"/>
              </a:solidFill>
              <a:ea typeface="华文新魏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Oval 50"/>
          <p:cNvSpPr>
            <a:spLocks noChangeArrowheads="1"/>
          </p:cNvSpPr>
          <p:nvPr/>
        </p:nvSpPr>
        <p:spPr bwMode="auto">
          <a:xfrm>
            <a:off x="2112963" y="4848225"/>
            <a:ext cx="112712" cy="112713"/>
          </a:xfrm>
          <a:prstGeom prst="ellipse">
            <a:avLst/>
          </a:prstGeom>
          <a:solidFill>
            <a:srgbClr val="A5002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37" name="Rectangle 51"/>
          <p:cNvSpPr>
            <a:spLocks noChangeArrowheads="1"/>
          </p:cNvSpPr>
          <p:nvPr/>
        </p:nvSpPr>
        <p:spPr bwMode="auto">
          <a:xfrm>
            <a:off x="301625" y="993775"/>
            <a:ext cx="7831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     </a:t>
            </a:r>
            <a:r>
              <a:rPr kumimoji="1" lang="en-US" altLang="zh-CN" sz="2800" b="1" dirty="0">
                <a:solidFill>
                  <a:srgbClr val="CC0000"/>
                </a:solidFill>
                <a:ea typeface="幼圆" pitchFamily="49" charset="-122"/>
              </a:rPr>
              <a:t>b</a:t>
            </a:r>
            <a:r>
              <a:rPr kumimoji="1" lang="zh-CN" altLang="en-US" sz="2800" b="1" dirty="0">
                <a:solidFill>
                  <a:srgbClr val="CC0000"/>
                </a:solidFill>
                <a:ea typeface="幼圆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土层发生流土破坏时的</a:t>
            </a:r>
            <a:r>
              <a:rPr kumimoji="1" lang="el-GR" altLang="zh-CN" sz="2800" b="1" dirty="0">
                <a:solidFill>
                  <a:srgbClr val="000066"/>
                </a:solidFill>
                <a:ea typeface="幼圆" pitchFamily="49" charset="-122"/>
              </a:rPr>
              <a:t>Δ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？</a:t>
            </a:r>
          </a:p>
        </p:txBody>
      </p:sp>
      <p:sp>
        <p:nvSpPr>
          <p:cNvPr id="38" name="Text Box 52"/>
          <p:cNvSpPr txBox="1">
            <a:spLocks noChangeArrowheads="1"/>
          </p:cNvSpPr>
          <p:nvPr/>
        </p:nvSpPr>
        <p:spPr bwMode="auto">
          <a:xfrm>
            <a:off x="2274888" y="4594225"/>
            <a:ext cx="320069" cy="36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 dirty="0" smtClean="0">
                <a:solidFill>
                  <a:srgbClr val="000066"/>
                </a:solidFill>
                <a:ea typeface="仿宋体" pitchFamily="18" charset="-122"/>
              </a:rPr>
              <a:t>B</a:t>
            </a:r>
            <a:endParaRPr kumimoji="1" lang="de-DE" altLang="zh-CN" sz="1800" b="1" baseline="30000" dirty="0">
              <a:solidFill>
                <a:srgbClr val="000066"/>
              </a:solidFill>
              <a:ea typeface="仿宋体" pitchFamily="18" charset="-122"/>
            </a:endParaRPr>
          </a:p>
        </p:txBody>
      </p:sp>
      <p:sp>
        <p:nvSpPr>
          <p:cNvPr id="39" name="Text Box 53"/>
          <p:cNvSpPr txBox="1">
            <a:spLocks noChangeArrowheads="1"/>
          </p:cNvSpPr>
          <p:nvPr/>
        </p:nvSpPr>
        <p:spPr bwMode="auto">
          <a:xfrm>
            <a:off x="4664075" y="3100388"/>
            <a:ext cx="3500438" cy="132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b="1" dirty="0" smtClean="0">
                <a:solidFill>
                  <a:srgbClr val="CC0000"/>
                </a:solidFill>
                <a:ea typeface="幼圆" pitchFamily="49" charset="-122"/>
              </a:rPr>
              <a:t>B</a:t>
            </a:r>
            <a:r>
              <a:rPr lang="zh-CN" altLang="en-US" sz="2000" b="1" dirty="0" smtClean="0">
                <a:solidFill>
                  <a:srgbClr val="CC0000"/>
                </a:solidFill>
                <a:ea typeface="幼圆" pitchFamily="49" charset="-122"/>
              </a:rPr>
              <a:t>点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总应力：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B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=110kPa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/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孔隙水压力：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u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=60+10h </a:t>
            </a:r>
            <a:r>
              <a:rPr lang="en-US" altLang="zh-CN" sz="20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kPa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有效应力：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B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=50-10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h</a:t>
            </a:r>
          </a:p>
        </p:txBody>
      </p:sp>
      <p:sp>
        <p:nvSpPr>
          <p:cNvPr id="40" name="Text Box 54"/>
          <p:cNvSpPr txBox="1">
            <a:spLocks noChangeArrowheads="1"/>
          </p:cNvSpPr>
          <p:nvPr/>
        </p:nvSpPr>
        <p:spPr bwMode="auto">
          <a:xfrm>
            <a:off x="4340225" y="4848225"/>
            <a:ext cx="4343153" cy="89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黏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土层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发生流土： 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=50-10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</a:p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    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=5m </a:t>
            </a:r>
            <a:endParaRPr lang="zh-CN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26168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0" y="2824163"/>
            <a:ext cx="9144000" cy="3830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426815" y="1317862"/>
            <a:ext cx="84963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地表下有一厚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10m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饱和重度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sat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=18kN/m</a:t>
            </a:r>
            <a:r>
              <a:rPr kumimoji="1" lang="en-US" altLang="zh-CN" sz="24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，底面承受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15m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水头的承压水。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若地面瞬时施加一大面积均匀堆载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=50kPa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263525" y="595313"/>
            <a:ext cx="7745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3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有效应力和孔隙水压力计算</a:t>
            </a: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5573713" y="3036888"/>
            <a:ext cx="3522662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）定性画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出黏土层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中某时刻的总水头分布，并讨论渗流的方向？</a:t>
            </a:r>
          </a:p>
          <a:p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）计算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100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天内单位土层表面（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1m</a:t>
            </a:r>
            <a:r>
              <a:rPr lang="en-US" altLang="zh-CN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）排出的水量？</a:t>
            </a:r>
          </a:p>
          <a:p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</a:rPr>
              <a:t>求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</a:rPr>
              <a:t>100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</a:rPr>
              <a:t>天时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</a:rPr>
              <a:t>点的孔隙水压力和有效应力？</a:t>
            </a:r>
          </a:p>
        </p:txBody>
      </p: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528638" y="2992438"/>
            <a:ext cx="4964112" cy="3309937"/>
            <a:chOff x="333" y="1885"/>
            <a:chExt cx="3127" cy="2085"/>
          </a:xfrm>
        </p:grpSpPr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736" y="3474"/>
              <a:ext cx="2414" cy="4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735" y="2476"/>
              <a:ext cx="2420" cy="10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511" y="2511"/>
              <a:ext cx="38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15m</a:t>
              </a:r>
            </a:p>
          </p:txBody>
        </p:sp>
        <p:sp>
          <p:nvSpPr>
            <p:cNvPr id="46" name="Freeform 11"/>
            <p:cNvSpPr>
              <a:spLocks/>
            </p:cNvSpPr>
            <p:nvPr/>
          </p:nvSpPr>
          <p:spPr bwMode="auto">
            <a:xfrm>
              <a:off x="335" y="1983"/>
              <a:ext cx="418" cy="1711"/>
            </a:xfrm>
            <a:custGeom>
              <a:avLst/>
              <a:gdLst>
                <a:gd name="T0" fmla="*/ 415 w 418"/>
                <a:gd name="T1" fmla="*/ 1660 h 1711"/>
                <a:gd name="T2" fmla="*/ 51 w 418"/>
                <a:gd name="T3" fmla="*/ 1660 h 1711"/>
                <a:gd name="T4" fmla="*/ 51 w 418"/>
                <a:gd name="T5" fmla="*/ 0 h 1711"/>
                <a:gd name="T6" fmla="*/ 0 w 418"/>
                <a:gd name="T7" fmla="*/ 0 h 1711"/>
                <a:gd name="T8" fmla="*/ 0 w 418"/>
                <a:gd name="T9" fmla="*/ 1711 h 1711"/>
                <a:gd name="T10" fmla="*/ 418 w 418"/>
                <a:gd name="T11" fmla="*/ 1711 h 1711"/>
                <a:gd name="T12" fmla="*/ 415 w 418"/>
                <a:gd name="T13" fmla="*/ 1660 h 1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8" h="1711">
                  <a:moveTo>
                    <a:pt x="415" y="1660"/>
                  </a:moveTo>
                  <a:lnTo>
                    <a:pt x="51" y="1660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1711"/>
                  </a:lnTo>
                  <a:lnTo>
                    <a:pt x="418" y="1711"/>
                  </a:lnTo>
                  <a:lnTo>
                    <a:pt x="415" y="166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>
              <a:off x="3289" y="2484"/>
              <a:ext cx="170" cy="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 rot="16200000">
              <a:off x="3109" y="2885"/>
              <a:ext cx="29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10m</a:t>
              </a:r>
            </a:p>
          </p:txBody>
        </p:sp>
        <p:sp>
          <p:nvSpPr>
            <p:cNvPr id="49" name="Text Box 14"/>
            <p:cNvSpPr txBox="1">
              <a:spLocks noChangeArrowheads="1"/>
            </p:cNvSpPr>
            <p:nvPr/>
          </p:nvSpPr>
          <p:spPr bwMode="auto">
            <a:xfrm>
              <a:off x="1027" y="3578"/>
              <a:ext cx="53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砂层</a:t>
              </a:r>
            </a:p>
          </p:txBody>
        </p:sp>
        <p:sp>
          <p:nvSpPr>
            <p:cNvPr id="50" name="Line 15"/>
            <p:cNvSpPr>
              <a:spLocks noChangeShapeType="1"/>
            </p:cNvSpPr>
            <p:nvPr/>
          </p:nvSpPr>
          <p:spPr bwMode="auto">
            <a:xfrm>
              <a:off x="1569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1739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1908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18"/>
            <p:cNvSpPr>
              <a:spLocks noChangeShapeType="1"/>
            </p:cNvSpPr>
            <p:nvPr/>
          </p:nvSpPr>
          <p:spPr bwMode="auto">
            <a:xfrm>
              <a:off x="2079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19"/>
            <p:cNvSpPr>
              <a:spLocks noChangeShapeType="1"/>
            </p:cNvSpPr>
            <p:nvPr/>
          </p:nvSpPr>
          <p:spPr bwMode="auto">
            <a:xfrm>
              <a:off x="2247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Line 20"/>
            <p:cNvSpPr>
              <a:spLocks noChangeShapeType="1"/>
            </p:cNvSpPr>
            <p:nvPr/>
          </p:nvSpPr>
          <p:spPr bwMode="auto">
            <a:xfrm>
              <a:off x="2418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" name="Line 21"/>
            <p:cNvSpPr>
              <a:spLocks noChangeShapeType="1"/>
            </p:cNvSpPr>
            <p:nvPr/>
          </p:nvSpPr>
          <p:spPr bwMode="auto">
            <a:xfrm>
              <a:off x="2588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" name="Line 22"/>
            <p:cNvSpPr>
              <a:spLocks noChangeShapeType="1"/>
            </p:cNvSpPr>
            <p:nvPr/>
          </p:nvSpPr>
          <p:spPr bwMode="auto">
            <a:xfrm>
              <a:off x="2757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" name="Line 23"/>
            <p:cNvSpPr>
              <a:spLocks noChangeShapeType="1"/>
            </p:cNvSpPr>
            <p:nvPr/>
          </p:nvSpPr>
          <p:spPr bwMode="auto">
            <a:xfrm>
              <a:off x="2928" y="2279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1805" y="1972"/>
              <a:ext cx="9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50kPa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738" y="2478"/>
              <a:ext cx="24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26"/>
            <p:cNvSpPr txBox="1">
              <a:spLocks noChangeArrowheads="1"/>
            </p:cNvSpPr>
            <p:nvPr/>
          </p:nvSpPr>
          <p:spPr bwMode="auto">
            <a:xfrm>
              <a:off x="1293" y="2098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 flipH="1">
              <a:off x="1349" y="2369"/>
              <a:ext cx="1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28"/>
            <p:cNvSpPr txBox="1">
              <a:spLocks noChangeArrowheads="1"/>
            </p:cNvSpPr>
            <p:nvPr/>
          </p:nvSpPr>
          <p:spPr bwMode="auto">
            <a:xfrm flipH="1">
              <a:off x="2922" y="2096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2990" y="235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3290" y="3505"/>
              <a:ext cx="170" cy="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3374" y="2485"/>
              <a:ext cx="0" cy="1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32"/>
            <p:cNvSpPr txBox="1">
              <a:spLocks noChangeArrowheads="1"/>
            </p:cNvSpPr>
            <p:nvPr/>
          </p:nvSpPr>
          <p:spPr bwMode="auto">
            <a:xfrm>
              <a:off x="2132" y="2846"/>
              <a:ext cx="22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68" name="AutoShape 33"/>
            <p:cNvSpPr>
              <a:spLocks noChangeArrowheads="1"/>
            </p:cNvSpPr>
            <p:nvPr/>
          </p:nvSpPr>
          <p:spPr bwMode="auto">
            <a:xfrm flipV="1">
              <a:off x="1170" y="2388"/>
              <a:ext cx="103" cy="89"/>
            </a:xfrm>
            <a:prstGeom prst="triangle">
              <a:avLst>
                <a:gd name="adj" fmla="val 50000"/>
              </a:avLst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4"/>
            <p:cNvSpPr>
              <a:spLocks noChangeShapeType="1"/>
            </p:cNvSpPr>
            <p:nvPr/>
          </p:nvSpPr>
          <p:spPr bwMode="auto">
            <a:xfrm>
              <a:off x="1117" y="2509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1234" y="2508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36"/>
            <p:cNvSpPr>
              <a:spLocks noChangeShapeType="1"/>
            </p:cNvSpPr>
            <p:nvPr/>
          </p:nvSpPr>
          <p:spPr bwMode="auto">
            <a:xfrm>
              <a:off x="1159" y="2539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37"/>
            <p:cNvSpPr>
              <a:spLocks noChangeShapeType="1"/>
            </p:cNvSpPr>
            <p:nvPr/>
          </p:nvSpPr>
          <p:spPr bwMode="auto">
            <a:xfrm>
              <a:off x="1198" y="2567"/>
              <a:ext cx="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38"/>
            <p:cNvSpPr txBox="1">
              <a:spLocks noChangeArrowheads="1"/>
            </p:cNvSpPr>
            <p:nvPr/>
          </p:nvSpPr>
          <p:spPr bwMode="auto">
            <a:xfrm>
              <a:off x="750" y="2753"/>
              <a:ext cx="11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kumimoji="1"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</a:rPr>
                <a:t>v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=2.83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10</a:t>
              </a:r>
              <a:r>
                <a:rPr kumimoji="1" lang="en-US" altLang="zh-CN" sz="1800" b="1" baseline="30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-3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cm</a:t>
              </a:r>
              <a:r>
                <a:rPr kumimoji="1" lang="en-US" altLang="zh-CN" sz="1800" b="1" baseline="30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/s</a:t>
              </a:r>
              <a:endParaRPr kumimoji="1" lang="en-US" altLang="zh-CN" sz="18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=5.14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10</a:t>
              </a:r>
              <a:r>
                <a:rPr kumimoji="1" lang="en-US" altLang="zh-CN" sz="1800" b="1" baseline="30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-8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cm/s</a:t>
              </a:r>
              <a:endParaRPr kumimoji="1" lang="zh-CN" altLang="en-US" sz="1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74" name="Text Box 39"/>
            <p:cNvSpPr txBox="1">
              <a:spLocks noChangeArrowheads="1"/>
            </p:cNvSpPr>
            <p:nvPr/>
          </p:nvSpPr>
          <p:spPr bwMode="auto">
            <a:xfrm>
              <a:off x="761" y="2097"/>
              <a:ext cx="37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000066"/>
                  </a:solidFill>
                  <a:ea typeface="幼圆" pitchFamily="49" charset="-122"/>
                </a:rPr>
                <a:t>地下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000066"/>
                  </a:solidFill>
                  <a:ea typeface="幼圆" pitchFamily="49" charset="-122"/>
                </a:rPr>
                <a:t>水位</a:t>
              </a:r>
              <a:endParaRPr lang="en-US" altLang="zh-CN" sz="16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75" name="Oval 40"/>
            <p:cNvSpPr>
              <a:spLocks noChangeArrowheads="1"/>
            </p:cNvSpPr>
            <p:nvPr/>
          </p:nvSpPr>
          <p:spPr bwMode="auto">
            <a:xfrm>
              <a:off x="2076" y="2971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 flipV="1">
              <a:off x="2095" y="2482"/>
              <a:ext cx="0" cy="4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42"/>
            <p:cNvSpPr>
              <a:spLocks noChangeShapeType="1"/>
            </p:cNvSpPr>
            <p:nvPr/>
          </p:nvSpPr>
          <p:spPr bwMode="auto">
            <a:xfrm>
              <a:off x="729" y="3547"/>
              <a:ext cx="2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43"/>
            <p:cNvSpPr>
              <a:spLocks/>
            </p:cNvSpPr>
            <p:nvPr/>
          </p:nvSpPr>
          <p:spPr bwMode="auto">
            <a:xfrm>
              <a:off x="386" y="1885"/>
              <a:ext cx="358" cy="1757"/>
            </a:xfrm>
            <a:custGeom>
              <a:avLst/>
              <a:gdLst>
                <a:gd name="T0" fmla="*/ 358 w 358"/>
                <a:gd name="T1" fmla="*/ 1772 h 1772"/>
                <a:gd name="T2" fmla="*/ 0 w 358"/>
                <a:gd name="T3" fmla="*/ 1772 h 1772"/>
                <a:gd name="T4" fmla="*/ 0 w 358"/>
                <a:gd name="T5" fmla="*/ 0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8" h="1772">
                  <a:moveTo>
                    <a:pt x="358" y="1772"/>
                  </a:moveTo>
                  <a:lnTo>
                    <a:pt x="0" y="177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44"/>
            <p:cNvSpPr>
              <a:spLocks/>
            </p:cNvSpPr>
            <p:nvPr/>
          </p:nvSpPr>
          <p:spPr bwMode="auto">
            <a:xfrm>
              <a:off x="333" y="1885"/>
              <a:ext cx="416" cy="1809"/>
            </a:xfrm>
            <a:custGeom>
              <a:avLst/>
              <a:gdLst>
                <a:gd name="T0" fmla="*/ 358 w 358"/>
                <a:gd name="T1" fmla="*/ 1772 h 1772"/>
                <a:gd name="T2" fmla="*/ 0 w 358"/>
                <a:gd name="T3" fmla="*/ 1772 h 1772"/>
                <a:gd name="T4" fmla="*/ 0 w 358"/>
                <a:gd name="T5" fmla="*/ 0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8" h="1772">
                  <a:moveTo>
                    <a:pt x="358" y="1772"/>
                  </a:moveTo>
                  <a:lnTo>
                    <a:pt x="0" y="177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5"/>
            <p:cNvSpPr>
              <a:spLocks noChangeShapeType="1"/>
            </p:cNvSpPr>
            <p:nvPr/>
          </p:nvSpPr>
          <p:spPr bwMode="auto">
            <a:xfrm>
              <a:off x="333" y="1986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46"/>
            <p:cNvSpPr>
              <a:spLocks noChangeShapeType="1"/>
            </p:cNvSpPr>
            <p:nvPr/>
          </p:nvSpPr>
          <p:spPr bwMode="auto">
            <a:xfrm>
              <a:off x="355" y="2009"/>
              <a:ext cx="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47"/>
            <p:cNvSpPr>
              <a:spLocks noChangeShapeType="1"/>
            </p:cNvSpPr>
            <p:nvPr/>
          </p:nvSpPr>
          <p:spPr bwMode="auto">
            <a:xfrm flipV="1">
              <a:off x="527" y="1995"/>
              <a:ext cx="0" cy="1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48"/>
            <p:cNvSpPr>
              <a:spLocks noChangeShapeType="1"/>
            </p:cNvSpPr>
            <p:nvPr/>
          </p:nvSpPr>
          <p:spPr bwMode="auto">
            <a:xfrm>
              <a:off x="459" y="1987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49"/>
            <p:cNvSpPr>
              <a:spLocks noChangeShapeType="1"/>
            </p:cNvSpPr>
            <p:nvPr/>
          </p:nvSpPr>
          <p:spPr bwMode="auto">
            <a:xfrm flipH="1">
              <a:off x="459" y="3551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50"/>
            <p:cNvSpPr txBox="1">
              <a:spLocks noChangeArrowheads="1"/>
            </p:cNvSpPr>
            <p:nvPr/>
          </p:nvSpPr>
          <p:spPr bwMode="auto">
            <a:xfrm>
              <a:off x="2116" y="2599"/>
              <a:ext cx="308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5m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31156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 decel="1000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263525" y="742950"/>
            <a:ext cx="5516789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）黏土层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总水头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分布和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方向？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60" name="Group 4"/>
          <p:cNvGrpSpPr>
            <a:grpSpLocks/>
          </p:cNvGrpSpPr>
          <p:nvPr/>
        </p:nvGrpSpPr>
        <p:grpSpPr bwMode="auto">
          <a:xfrm>
            <a:off x="671513" y="1608138"/>
            <a:ext cx="7958137" cy="4237037"/>
            <a:chOff x="423" y="1013"/>
            <a:chExt cx="4994" cy="2669"/>
          </a:xfrm>
        </p:grpSpPr>
        <p:sp>
          <p:nvSpPr>
            <p:cNvPr id="61" name="Rectangle 5"/>
            <p:cNvSpPr>
              <a:spLocks noChangeArrowheads="1"/>
            </p:cNvSpPr>
            <p:nvPr/>
          </p:nvSpPr>
          <p:spPr bwMode="auto">
            <a:xfrm>
              <a:off x="423" y="1013"/>
              <a:ext cx="4994" cy="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2" name="Group 6"/>
            <p:cNvGrpSpPr>
              <a:grpSpLocks/>
            </p:cNvGrpSpPr>
            <p:nvPr/>
          </p:nvGrpSpPr>
          <p:grpSpPr bwMode="auto">
            <a:xfrm>
              <a:off x="532" y="1119"/>
              <a:ext cx="4745" cy="2085"/>
              <a:chOff x="532" y="1119"/>
              <a:chExt cx="4745" cy="2085"/>
            </a:xfrm>
          </p:grpSpPr>
          <p:grpSp>
            <p:nvGrpSpPr>
              <p:cNvPr id="63" name="Group 7"/>
              <p:cNvGrpSpPr>
                <a:grpSpLocks/>
              </p:cNvGrpSpPr>
              <p:nvPr/>
            </p:nvGrpSpPr>
            <p:grpSpPr bwMode="auto">
              <a:xfrm>
                <a:off x="1207" y="1710"/>
                <a:ext cx="4070" cy="1494"/>
                <a:chOff x="1207" y="1710"/>
                <a:chExt cx="4070" cy="1494"/>
              </a:xfrm>
            </p:grpSpPr>
            <p:sp>
              <p:nvSpPr>
                <p:cNvPr id="82" name="Rectangle 8"/>
                <p:cNvSpPr>
                  <a:spLocks noChangeArrowheads="1"/>
                </p:cNvSpPr>
                <p:nvPr/>
              </p:nvSpPr>
              <p:spPr bwMode="auto">
                <a:xfrm>
                  <a:off x="1399" y="2708"/>
                  <a:ext cx="3573" cy="49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9"/>
                <p:cNvSpPr>
                  <a:spLocks noChangeArrowheads="1"/>
                </p:cNvSpPr>
                <p:nvPr/>
              </p:nvSpPr>
              <p:spPr bwMode="auto">
                <a:xfrm>
                  <a:off x="1398" y="1710"/>
                  <a:ext cx="3580" cy="106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Line 10"/>
                <p:cNvSpPr>
                  <a:spLocks noChangeShapeType="1"/>
                </p:cNvSpPr>
                <p:nvPr/>
              </p:nvSpPr>
              <p:spPr bwMode="auto">
                <a:xfrm>
                  <a:off x="1401" y="1712"/>
                  <a:ext cx="35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85" name="Group 11"/>
                <p:cNvGrpSpPr>
                  <a:grpSpLocks/>
                </p:cNvGrpSpPr>
                <p:nvPr/>
              </p:nvGrpSpPr>
              <p:grpSpPr bwMode="auto">
                <a:xfrm>
                  <a:off x="1207" y="2771"/>
                  <a:ext cx="4070" cy="7"/>
                  <a:chOff x="1207" y="2771"/>
                  <a:chExt cx="4070" cy="7"/>
                </a:xfrm>
              </p:grpSpPr>
              <p:sp>
                <p:nvSpPr>
                  <p:cNvPr id="86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82" y="2771"/>
                    <a:ext cx="359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207" y="2778"/>
                    <a:ext cx="4057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4" name="Group 14"/>
              <p:cNvGrpSpPr>
                <a:grpSpLocks/>
              </p:cNvGrpSpPr>
              <p:nvPr/>
            </p:nvGrpSpPr>
            <p:grpSpPr bwMode="auto">
              <a:xfrm>
                <a:off x="1259" y="1331"/>
                <a:ext cx="550" cy="470"/>
                <a:chOff x="1259" y="1331"/>
                <a:chExt cx="550" cy="470"/>
              </a:xfrm>
            </p:grpSpPr>
            <p:grpSp>
              <p:nvGrpSpPr>
                <p:cNvPr id="75" name="Group 15"/>
                <p:cNvGrpSpPr>
                  <a:grpSpLocks/>
                </p:cNvGrpSpPr>
                <p:nvPr/>
              </p:nvGrpSpPr>
              <p:grpSpPr bwMode="auto">
                <a:xfrm>
                  <a:off x="1615" y="1622"/>
                  <a:ext cx="194" cy="179"/>
                  <a:chOff x="1615" y="1622"/>
                  <a:chExt cx="194" cy="179"/>
                </a:xfrm>
              </p:grpSpPr>
              <p:sp>
                <p:nvSpPr>
                  <p:cNvPr id="77" name="AutoShape 1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68" y="1622"/>
                    <a:ext cx="103" cy="89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3399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615" y="1743"/>
                    <a:ext cx="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732" y="1742"/>
                    <a:ext cx="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1657" y="1773"/>
                    <a:ext cx="11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1696" y="1801"/>
                    <a:ext cx="5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6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259" y="1331"/>
                  <a:ext cx="37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ea typeface="幼圆" pitchFamily="49" charset="-122"/>
                    </a:rPr>
                    <a:t>地下</a:t>
                  </a:r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ea typeface="幼圆" pitchFamily="49" charset="-122"/>
                    </a:rPr>
                    <a:t>水位</a:t>
                  </a:r>
                  <a:endParaRPr lang="en-US" altLang="zh-CN" sz="1600" b="1">
                    <a:ea typeface="幼圆" pitchFamily="49" charset="-122"/>
                  </a:endParaRPr>
                </a:p>
              </p:txBody>
            </p:sp>
          </p:grpSp>
          <p:grpSp>
            <p:nvGrpSpPr>
              <p:cNvPr id="65" name="Group 22"/>
              <p:cNvGrpSpPr>
                <a:grpSpLocks/>
              </p:cNvGrpSpPr>
              <p:nvPr/>
            </p:nvGrpSpPr>
            <p:grpSpPr bwMode="auto">
              <a:xfrm>
                <a:off x="532" y="1119"/>
                <a:ext cx="884" cy="1809"/>
                <a:chOff x="532" y="1119"/>
                <a:chExt cx="884" cy="1809"/>
              </a:xfrm>
            </p:grpSpPr>
            <p:sp>
              <p:nvSpPr>
                <p:cNvPr id="66" name="Freeform 23"/>
                <p:cNvSpPr>
                  <a:spLocks/>
                </p:cNvSpPr>
                <p:nvPr/>
              </p:nvSpPr>
              <p:spPr bwMode="auto">
                <a:xfrm>
                  <a:off x="998" y="1217"/>
                  <a:ext cx="418" cy="1711"/>
                </a:xfrm>
                <a:custGeom>
                  <a:avLst/>
                  <a:gdLst>
                    <a:gd name="T0" fmla="*/ 415 w 418"/>
                    <a:gd name="T1" fmla="*/ 1660 h 1711"/>
                    <a:gd name="T2" fmla="*/ 51 w 418"/>
                    <a:gd name="T3" fmla="*/ 1660 h 1711"/>
                    <a:gd name="T4" fmla="*/ 51 w 418"/>
                    <a:gd name="T5" fmla="*/ 0 h 1711"/>
                    <a:gd name="T6" fmla="*/ 0 w 418"/>
                    <a:gd name="T7" fmla="*/ 0 h 1711"/>
                    <a:gd name="T8" fmla="*/ 0 w 418"/>
                    <a:gd name="T9" fmla="*/ 1711 h 1711"/>
                    <a:gd name="T10" fmla="*/ 418 w 418"/>
                    <a:gd name="T11" fmla="*/ 1711 h 1711"/>
                    <a:gd name="T12" fmla="*/ 415 w 418"/>
                    <a:gd name="T13" fmla="*/ 1660 h 1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8" h="1711">
                      <a:moveTo>
                        <a:pt x="415" y="1660"/>
                      </a:moveTo>
                      <a:lnTo>
                        <a:pt x="51" y="1660"/>
                      </a:lnTo>
                      <a:lnTo>
                        <a:pt x="51" y="0"/>
                      </a:lnTo>
                      <a:lnTo>
                        <a:pt x="0" y="0"/>
                      </a:lnTo>
                      <a:lnTo>
                        <a:pt x="0" y="1711"/>
                      </a:lnTo>
                      <a:lnTo>
                        <a:pt x="418" y="1711"/>
                      </a:lnTo>
                      <a:lnTo>
                        <a:pt x="415" y="166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24"/>
                <p:cNvSpPr>
                  <a:spLocks/>
                </p:cNvSpPr>
                <p:nvPr/>
              </p:nvSpPr>
              <p:spPr bwMode="auto">
                <a:xfrm>
                  <a:off x="1049" y="1119"/>
                  <a:ext cx="358" cy="1757"/>
                </a:xfrm>
                <a:custGeom>
                  <a:avLst/>
                  <a:gdLst>
                    <a:gd name="T0" fmla="*/ 358 w 358"/>
                    <a:gd name="T1" fmla="*/ 1772 h 1772"/>
                    <a:gd name="T2" fmla="*/ 0 w 358"/>
                    <a:gd name="T3" fmla="*/ 1772 h 1772"/>
                    <a:gd name="T4" fmla="*/ 0 w 358"/>
                    <a:gd name="T5" fmla="*/ 0 h 1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8" h="1772">
                      <a:moveTo>
                        <a:pt x="358" y="1772"/>
                      </a:moveTo>
                      <a:lnTo>
                        <a:pt x="0" y="177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25"/>
                <p:cNvSpPr>
                  <a:spLocks/>
                </p:cNvSpPr>
                <p:nvPr/>
              </p:nvSpPr>
              <p:spPr bwMode="auto">
                <a:xfrm>
                  <a:off x="996" y="1119"/>
                  <a:ext cx="416" cy="1809"/>
                </a:xfrm>
                <a:custGeom>
                  <a:avLst/>
                  <a:gdLst>
                    <a:gd name="T0" fmla="*/ 358 w 358"/>
                    <a:gd name="T1" fmla="*/ 1772 h 1772"/>
                    <a:gd name="T2" fmla="*/ 0 w 358"/>
                    <a:gd name="T3" fmla="*/ 1772 h 1772"/>
                    <a:gd name="T4" fmla="*/ 0 w 358"/>
                    <a:gd name="T5" fmla="*/ 0 h 1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8" h="1772">
                      <a:moveTo>
                        <a:pt x="358" y="1772"/>
                      </a:moveTo>
                      <a:lnTo>
                        <a:pt x="0" y="177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9" name="Line 26"/>
                <p:cNvSpPr>
                  <a:spLocks noChangeShapeType="1"/>
                </p:cNvSpPr>
                <p:nvPr/>
              </p:nvSpPr>
              <p:spPr bwMode="auto">
                <a:xfrm>
                  <a:off x="996" y="1220"/>
                  <a:ext cx="5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" name="Line 27"/>
                <p:cNvSpPr>
                  <a:spLocks noChangeShapeType="1"/>
                </p:cNvSpPr>
                <p:nvPr/>
              </p:nvSpPr>
              <p:spPr bwMode="auto">
                <a:xfrm>
                  <a:off x="1018" y="1243"/>
                  <a:ext cx="1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610" y="1229"/>
                  <a:ext cx="0" cy="15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2" name="Line 29"/>
                <p:cNvSpPr>
                  <a:spLocks noChangeShapeType="1"/>
                </p:cNvSpPr>
                <p:nvPr/>
              </p:nvSpPr>
              <p:spPr bwMode="auto">
                <a:xfrm>
                  <a:off x="542" y="1221"/>
                  <a:ext cx="14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582" y="1812"/>
                  <a:ext cx="380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EC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1800" b="1">
                      <a:ea typeface="幼圆" pitchFamily="49" charset="-122"/>
                    </a:rPr>
                    <a:t>15m</a:t>
                  </a:r>
                </a:p>
              </p:txBody>
            </p:sp>
            <p:sp>
              <p:nvSpPr>
                <p:cNvPr id="74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532" y="2785"/>
                  <a:ext cx="2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8" name="Group 32"/>
          <p:cNvGrpSpPr>
            <a:grpSpLocks/>
          </p:cNvGrpSpPr>
          <p:nvPr/>
        </p:nvGrpSpPr>
        <p:grpSpPr bwMode="auto">
          <a:xfrm>
            <a:off x="2784475" y="2328863"/>
            <a:ext cx="1249363" cy="3211512"/>
            <a:chOff x="1783" y="1467"/>
            <a:chExt cx="758" cy="2023"/>
          </a:xfrm>
        </p:grpSpPr>
        <p:sp>
          <p:nvSpPr>
            <p:cNvPr id="89" name="Line 33"/>
            <p:cNvSpPr>
              <a:spLocks noChangeShapeType="1"/>
            </p:cNvSpPr>
            <p:nvPr/>
          </p:nvSpPr>
          <p:spPr bwMode="auto">
            <a:xfrm>
              <a:off x="1925" y="1717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0" name="Text Box 34"/>
            <p:cNvSpPr txBox="1">
              <a:spLocks noChangeArrowheads="1"/>
            </p:cNvSpPr>
            <p:nvPr/>
          </p:nvSpPr>
          <p:spPr bwMode="auto">
            <a:xfrm>
              <a:off x="1783" y="3240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ea typeface="幼圆" pitchFamily="49" charset="-122"/>
                </a:rPr>
                <a:t>静水头</a:t>
              </a:r>
              <a:endParaRPr lang="en-US" altLang="zh-CN" sz="2000" b="1">
                <a:ea typeface="幼圆" pitchFamily="49" charset="-122"/>
              </a:endParaRPr>
            </a:p>
          </p:txBody>
        </p:sp>
        <p:sp>
          <p:nvSpPr>
            <p:cNvPr id="91" name="Text Box 35"/>
            <p:cNvSpPr txBox="1">
              <a:spLocks noChangeArrowheads="1"/>
            </p:cNvSpPr>
            <p:nvPr/>
          </p:nvSpPr>
          <p:spPr bwMode="auto">
            <a:xfrm>
              <a:off x="2108" y="1467"/>
              <a:ext cx="38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10m</a:t>
              </a:r>
            </a:p>
          </p:txBody>
        </p:sp>
        <p:sp>
          <p:nvSpPr>
            <p:cNvPr id="92" name="Text Box 36"/>
            <p:cNvSpPr txBox="1">
              <a:spLocks noChangeArrowheads="1"/>
            </p:cNvSpPr>
            <p:nvPr/>
          </p:nvSpPr>
          <p:spPr bwMode="auto">
            <a:xfrm>
              <a:off x="2281" y="2523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93" name="Text Box 37"/>
            <p:cNvSpPr txBox="1">
              <a:spLocks noChangeArrowheads="1"/>
            </p:cNvSpPr>
            <p:nvPr/>
          </p:nvSpPr>
          <p:spPr bwMode="auto">
            <a:xfrm>
              <a:off x="2272" y="2817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94" name="Freeform 38"/>
            <p:cNvSpPr>
              <a:spLocks/>
            </p:cNvSpPr>
            <p:nvPr/>
          </p:nvSpPr>
          <p:spPr bwMode="auto">
            <a:xfrm>
              <a:off x="2170" y="1711"/>
              <a:ext cx="131" cy="1466"/>
            </a:xfrm>
            <a:custGeom>
              <a:avLst/>
              <a:gdLst>
                <a:gd name="T0" fmla="*/ 0 w 131"/>
                <a:gd name="T1" fmla="*/ 0 h 1466"/>
                <a:gd name="T2" fmla="*/ 131 w 131"/>
                <a:gd name="T3" fmla="*/ 1072 h 1466"/>
                <a:gd name="T4" fmla="*/ 131 w 13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1466">
                  <a:moveTo>
                    <a:pt x="0" y="0"/>
                  </a:moveTo>
                  <a:lnTo>
                    <a:pt x="131" y="1072"/>
                  </a:lnTo>
                  <a:lnTo>
                    <a:pt x="131" y="14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5" name="Group 39"/>
          <p:cNvGrpSpPr>
            <a:grpSpLocks/>
          </p:cNvGrpSpPr>
          <p:nvPr/>
        </p:nvGrpSpPr>
        <p:grpSpPr bwMode="auto">
          <a:xfrm>
            <a:off x="4005263" y="2460625"/>
            <a:ext cx="1236662" cy="3081338"/>
            <a:chOff x="2523" y="1550"/>
            <a:chExt cx="760" cy="1941"/>
          </a:xfrm>
        </p:grpSpPr>
        <p:grpSp>
          <p:nvGrpSpPr>
            <p:cNvPr id="96" name="Group 40"/>
            <p:cNvGrpSpPr>
              <a:grpSpLocks/>
            </p:cNvGrpSpPr>
            <p:nvPr/>
          </p:nvGrpSpPr>
          <p:grpSpPr bwMode="auto">
            <a:xfrm>
              <a:off x="2765" y="1550"/>
              <a:ext cx="316" cy="1612"/>
              <a:chOff x="2765" y="1550"/>
              <a:chExt cx="316" cy="1612"/>
            </a:xfrm>
          </p:grpSpPr>
          <p:sp>
            <p:nvSpPr>
              <p:cNvPr id="98" name="Line 41"/>
              <p:cNvSpPr>
                <a:spLocks noChangeShapeType="1"/>
              </p:cNvSpPr>
              <p:nvPr/>
            </p:nvSpPr>
            <p:spPr bwMode="auto">
              <a:xfrm>
                <a:off x="2767" y="1718"/>
                <a:ext cx="0" cy="14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9" name="Freeform 42"/>
              <p:cNvSpPr>
                <a:spLocks/>
              </p:cNvSpPr>
              <p:nvPr/>
            </p:nvSpPr>
            <p:spPr bwMode="auto">
              <a:xfrm>
                <a:off x="2765" y="1712"/>
                <a:ext cx="120" cy="1450"/>
              </a:xfrm>
              <a:custGeom>
                <a:avLst/>
                <a:gdLst>
                  <a:gd name="T0" fmla="*/ 120 w 120"/>
                  <a:gd name="T1" fmla="*/ 0 h 1450"/>
                  <a:gd name="T2" fmla="*/ 120 w 120"/>
                  <a:gd name="T3" fmla="*/ 1066 h 1450"/>
                  <a:gd name="T4" fmla="*/ 0 w 120"/>
                  <a:gd name="T5" fmla="*/ 1066 h 1450"/>
                  <a:gd name="T6" fmla="*/ 0 w 120"/>
                  <a:gd name="T7" fmla="*/ 1450 h 1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0" h="1450">
                    <a:moveTo>
                      <a:pt x="120" y="0"/>
                    </a:moveTo>
                    <a:lnTo>
                      <a:pt x="120" y="1066"/>
                    </a:lnTo>
                    <a:lnTo>
                      <a:pt x="0" y="1066"/>
                    </a:lnTo>
                    <a:lnTo>
                      <a:pt x="0" y="1450"/>
                    </a:lnTo>
                  </a:path>
                </a:pathLst>
              </a:custGeom>
              <a:noFill/>
              <a:ln w="19050" cmpd="sng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0" name="Text Box 43"/>
              <p:cNvSpPr txBox="1">
                <a:spLocks noChangeArrowheads="1"/>
              </p:cNvSpPr>
              <p:nvPr/>
            </p:nvSpPr>
            <p:spPr bwMode="auto">
              <a:xfrm>
                <a:off x="2868" y="1550"/>
                <a:ext cx="188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>
                    <a:solidFill>
                      <a:schemeClr val="folHlink"/>
                    </a:solidFill>
                    <a:ea typeface="幼圆" pitchFamily="49" charset="-122"/>
                  </a:rPr>
                  <a:t>5</a:t>
                </a:r>
              </a:p>
            </p:txBody>
          </p:sp>
          <p:sp>
            <p:nvSpPr>
              <p:cNvPr id="101" name="Text Box 44"/>
              <p:cNvSpPr txBox="1">
                <a:spLocks noChangeArrowheads="1"/>
              </p:cNvSpPr>
              <p:nvPr/>
            </p:nvSpPr>
            <p:spPr bwMode="auto">
              <a:xfrm>
                <a:off x="2893" y="2560"/>
                <a:ext cx="188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>
                    <a:solidFill>
                      <a:schemeClr val="folHlink"/>
                    </a:solidFill>
                    <a:ea typeface="幼圆" pitchFamily="49" charset="-122"/>
                  </a:rPr>
                  <a:t>5</a:t>
                </a:r>
              </a:p>
            </p:txBody>
          </p:sp>
        </p:grpSp>
        <p:sp>
          <p:nvSpPr>
            <p:cNvPr id="97" name="Text Box 45"/>
            <p:cNvSpPr txBox="1">
              <a:spLocks noChangeArrowheads="1"/>
            </p:cNvSpPr>
            <p:nvPr/>
          </p:nvSpPr>
          <p:spPr bwMode="auto">
            <a:xfrm>
              <a:off x="2523" y="3241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ea typeface="幼圆" pitchFamily="49" charset="-122"/>
                </a:rPr>
                <a:t>超静水头</a:t>
              </a:r>
            </a:p>
          </p:txBody>
        </p:sp>
      </p:grpSp>
      <p:sp>
        <p:nvSpPr>
          <p:cNvPr id="102" name="Line 46"/>
          <p:cNvSpPr>
            <a:spLocks noChangeShapeType="1"/>
          </p:cNvSpPr>
          <p:nvPr/>
        </p:nvSpPr>
        <p:spPr bwMode="auto">
          <a:xfrm flipV="1">
            <a:off x="3284538" y="3282950"/>
            <a:ext cx="0" cy="784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" name="Text Box 47"/>
          <p:cNvSpPr txBox="1">
            <a:spLocks noChangeArrowheads="1"/>
          </p:cNvSpPr>
          <p:nvPr/>
        </p:nvSpPr>
        <p:spPr bwMode="auto">
          <a:xfrm>
            <a:off x="6794500" y="3524250"/>
            <a:ext cx="115093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渗流方向</a:t>
            </a:r>
            <a:endParaRPr lang="en-US" altLang="zh-CN" sz="1800" b="1">
              <a:ea typeface="幼圆" pitchFamily="49" charset="-122"/>
            </a:endParaRPr>
          </a:p>
        </p:txBody>
      </p:sp>
      <p:sp>
        <p:nvSpPr>
          <p:cNvPr id="104" name="Line 48"/>
          <p:cNvSpPr>
            <a:spLocks noChangeShapeType="1"/>
          </p:cNvSpPr>
          <p:nvPr/>
        </p:nvSpPr>
        <p:spPr bwMode="auto">
          <a:xfrm flipV="1">
            <a:off x="4489450" y="2603500"/>
            <a:ext cx="0" cy="290513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" name="Line 49"/>
          <p:cNvSpPr>
            <a:spLocks noChangeShapeType="1"/>
          </p:cNvSpPr>
          <p:nvPr/>
        </p:nvSpPr>
        <p:spPr bwMode="auto">
          <a:xfrm>
            <a:off x="4484688" y="4283075"/>
            <a:ext cx="0" cy="290513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" name="Line 50"/>
          <p:cNvSpPr>
            <a:spLocks noChangeShapeType="1"/>
          </p:cNvSpPr>
          <p:nvPr/>
        </p:nvSpPr>
        <p:spPr bwMode="auto">
          <a:xfrm flipV="1">
            <a:off x="6065838" y="2916238"/>
            <a:ext cx="0" cy="74771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Line 51"/>
          <p:cNvSpPr>
            <a:spLocks noChangeShapeType="1"/>
          </p:cNvSpPr>
          <p:nvPr/>
        </p:nvSpPr>
        <p:spPr bwMode="auto">
          <a:xfrm>
            <a:off x="6061075" y="4283075"/>
            <a:ext cx="0" cy="312738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8" name="Group 52"/>
          <p:cNvGrpSpPr>
            <a:grpSpLocks/>
          </p:cNvGrpSpPr>
          <p:nvPr/>
        </p:nvGrpSpPr>
        <p:grpSpPr bwMode="auto">
          <a:xfrm>
            <a:off x="5653088" y="2292350"/>
            <a:ext cx="1354137" cy="3252788"/>
            <a:chOff x="3561" y="1444"/>
            <a:chExt cx="815" cy="2049"/>
          </a:xfrm>
        </p:grpSpPr>
        <p:sp>
          <p:nvSpPr>
            <p:cNvPr id="109" name="Line 53"/>
            <p:cNvSpPr>
              <a:spLocks noChangeShapeType="1"/>
            </p:cNvSpPr>
            <p:nvPr/>
          </p:nvSpPr>
          <p:spPr bwMode="auto">
            <a:xfrm>
              <a:off x="3561" y="1710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0" name="Group 54"/>
            <p:cNvGrpSpPr>
              <a:grpSpLocks/>
            </p:cNvGrpSpPr>
            <p:nvPr/>
          </p:nvGrpSpPr>
          <p:grpSpPr bwMode="auto">
            <a:xfrm>
              <a:off x="3685" y="1444"/>
              <a:ext cx="691" cy="2049"/>
              <a:chOff x="3685" y="1444"/>
              <a:chExt cx="691" cy="2049"/>
            </a:xfrm>
          </p:grpSpPr>
          <p:sp>
            <p:nvSpPr>
              <p:cNvPr id="112" name="Freeform 55"/>
              <p:cNvSpPr>
                <a:spLocks/>
              </p:cNvSpPr>
              <p:nvPr/>
            </p:nvSpPr>
            <p:spPr bwMode="auto">
              <a:xfrm>
                <a:off x="3813" y="1713"/>
                <a:ext cx="131" cy="1466"/>
              </a:xfrm>
              <a:custGeom>
                <a:avLst/>
                <a:gdLst>
                  <a:gd name="T0" fmla="*/ 0 w 131"/>
                  <a:gd name="T1" fmla="*/ 0 h 1466"/>
                  <a:gd name="T2" fmla="*/ 131 w 131"/>
                  <a:gd name="T3" fmla="*/ 1072 h 1466"/>
                  <a:gd name="T4" fmla="*/ 131 w 131"/>
                  <a:gd name="T5" fmla="*/ 1466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" h="1466">
                    <a:moveTo>
                      <a:pt x="0" y="0"/>
                    </a:moveTo>
                    <a:lnTo>
                      <a:pt x="131" y="1072"/>
                    </a:lnTo>
                    <a:lnTo>
                      <a:pt x="131" y="1466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" name="Freeform 56"/>
              <p:cNvSpPr>
                <a:spLocks/>
              </p:cNvSpPr>
              <p:nvPr/>
            </p:nvSpPr>
            <p:spPr bwMode="auto">
              <a:xfrm>
                <a:off x="3941" y="1712"/>
                <a:ext cx="144" cy="1460"/>
              </a:xfrm>
              <a:custGeom>
                <a:avLst/>
                <a:gdLst>
                  <a:gd name="T0" fmla="*/ 10 w 144"/>
                  <a:gd name="T1" fmla="*/ 0 h 1460"/>
                  <a:gd name="T2" fmla="*/ 144 w 144"/>
                  <a:gd name="T3" fmla="*/ 1071 h 1460"/>
                  <a:gd name="T4" fmla="*/ 0 w 144"/>
                  <a:gd name="T5" fmla="*/ 1071 h 1460"/>
                  <a:gd name="T6" fmla="*/ 0 w 144"/>
                  <a:gd name="T7" fmla="*/ 1460 h 14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1460">
                    <a:moveTo>
                      <a:pt x="10" y="0"/>
                    </a:moveTo>
                    <a:lnTo>
                      <a:pt x="144" y="1071"/>
                    </a:lnTo>
                    <a:lnTo>
                      <a:pt x="0" y="1071"/>
                    </a:lnTo>
                    <a:lnTo>
                      <a:pt x="0" y="1460"/>
                    </a:ln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4" name="Text Box 57"/>
              <p:cNvSpPr txBox="1">
                <a:spLocks noChangeArrowheads="1"/>
              </p:cNvSpPr>
              <p:nvPr/>
            </p:nvSpPr>
            <p:spPr bwMode="auto">
              <a:xfrm>
                <a:off x="3777" y="3243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ea typeface="幼圆" pitchFamily="49" charset="-122"/>
                  </a:rPr>
                  <a:t>总水头</a:t>
                </a:r>
              </a:p>
            </p:txBody>
          </p:sp>
          <p:sp>
            <p:nvSpPr>
              <p:cNvPr id="115" name="Text Box 58"/>
              <p:cNvSpPr txBox="1">
                <a:spLocks noChangeArrowheads="1"/>
              </p:cNvSpPr>
              <p:nvPr/>
            </p:nvSpPr>
            <p:spPr bwMode="auto">
              <a:xfrm>
                <a:off x="3685" y="1444"/>
                <a:ext cx="260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>
                    <a:ea typeface="幼圆" pitchFamily="49" charset="-122"/>
                  </a:rPr>
                  <a:t>10</a:t>
                </a:r>
              </a:p>
            </p:txBody>
          </p:sp>
          <p:sp>
            <p:nvSpPr>
              <p:cNvPr id="116" name="Text Box 59"/>
              <p:cNvSpPr txBox="1">
                <a:spLocks noChangeArrowheads="1"/>
              </p:cNvSpPr>
              <p:nvPr/>
            </p:nvSpPr>
            <p:spPr bwMode="auto">
              <a:xfrm>
                <a:off x="3942" y="1643"/>
                <a:ext cx="260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>
                    <a:ea typeface="幼圆" pitchFamily="49" charset="-122"/>
                  </a:rPr>
                  <a:t>15</a:t>
                </a:r>
              </a:p>
            </p:txBody>
          </p:sp>
          <p:sp>
            <p:nvSpPr>
              <p:cNvPr id="117" name="Text Box 60"/>
              <p:cNvSpPr txBox="1">
                <a:spLocks noChangeArrowheads="1"/>
              </p:cNvSpPr>
              <p:nvPr/>
            </p:nvSpPr>
            <p:spPr bwMode="auto">
              <a:xfrm>
                <a:off x="4057" y="2524"/>
                <a:ext cx="260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>
                    <a:ea typeface="幼圆" pitchFamily="49" charset="-122"/>
                  </a:rPr>
                  <a:t>20</a:t>
                </a:r>
              </a:p>
            </p:txBody>
          </p:sp>
        </p:grpSp>
        <p:sp>
          <p:nvSpPr>
            <p:cNvPr id="111" name="Text Box 61"/>
            <p:cNvSpPr txBox="1">
              <a:spLocks noChangeArrowheads="1"/>
            </p:cNvSpPr>
            <p:nvPr/>
          </p:nvSpPr>
          <p:spPr bwMode="auto">
            <a:xfrm>
              <a:off x="3934" y="2740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</p:grpSp>
      <p:sp>
        <p:nvSpPr>
          <p:cNvPr id="118" name="Text Box 62"/>
          <p:cNvSpPr txBox="1">
            <a:spLocks noChangeArrowheads="1"/>
          </p:cNvSpPr>
          <p:nvPr/>
        </p:nvSpPr>
        <p:spPr bwMode="auto">
          <a:xfrm>
            <a:off x="4449763" y="1849438"/>
            <a:ext cx="684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 smtClean="0">
                <a:solidFill>
                  <a:schemeClr val="folHlink"/>
                </a:solidFill>
                <a:ea typeface="幼圆" pitchFamily="49" charset="-122"/>
              </a:rPr>
              <a:t>t </a:t>
            </a:r>
            <a:r>
              <a:rPr lang="en-US" altLang="zh-CN" sz="2800" b="1" dirty="0" smtClean="0">
                <a:solidFill>
                  <a:schemeClr val="folHlink"/>
                </a:solidFill>
                <a:ea typeface="幼圆" pitchFamily="49" charset="-122"/>
              </a:rPr>
              <a:t>= 0</a:t>
            </a:r>
            <a:endParaRPr lang="zh-CN" altLang="en-US" sz="2800" b="1" dirty="0">
              <a:solidFill>
                <a:schemeClr val="folHlink"/>
              </a:solidFill>
              <a:ea typeface="幼圆" pitchFamily="49" charset="-122"/>
            </a:endParaRPr>
          </a:p>
        </p:txBody>
      </p:sp>
      <p:sp>
        <p:nvSpPr>
          <p:cNvPr id="119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</p:spTree>
    <p:extLst>
      <p:ext uri="{BB962C8B-B14F-4D97-AF65-F5344CB8AC3E}">
        <p14:creationId xmlns:p14="http://schemas.microsoft.com/office/powerpoint/2010/main" val="89195423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02" grpId="0" animBg="1"/>
      <p:bldP spid="103" grpId="0"/>
      <p:bldP spid="104" grpId="0" animBg="1"/>
      <p:bldP spid="105" grpId="0" animBg="1"/>
      <p:bldP spid="106" grpId="0" animBg="1"/>
      <p:bldP spid="107" grpId="0" animBg="1"/>
      <p:bldP spid="1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66" name="Group 2"/>
          <p:cNvGrpSpPr>
            <a:grpSpLocks/>
          </p:cNvGrpSpPr>
          <p:nvPr/>
        </p:nvGrpSpPr>
        <p:grpSpPr bwMode="auto">
          <a:xfrm>
            <a:off x="363538" y="1611313"/>
            <a:ext cx="8050212" cy="4237037"/>
            <a:chOff x="423" y="1013"/>
            <a:chExt cx="4994" cy="2669"/>
          </a:xfrm>
        </p:grpSpPr>
        <p:sp>
          <p:nvSpPr>
            <p:cNvPr id="67" name="Rectangle 3"/>
            <p:cNvSpPr>
              <a:spLocks noChangeArrowheads="1"/>
            </p:cNvSpPr>
            <p:nvPr/>
          </p:nvSpPr>
          <p:spPr bwMode="auto">
            <a:xfrm>
              <a:off x="423" y="1013"/>
              <a:ext cx="4994" cy="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" name="Group 4"/>
            <p:cNvGrpSpPr>
              <a:grpSpLocks/>
            </p:cNvGrpSpPr>
            <p:nvPr/>
          </p:nvGrpSpPr>
          <p:grpSpPr bwMode="auto">
            <a:xfrm>
              <a:off x="532" y="1119"/>
              <a:ext cx="4745" cy="2085"/>
              <a:chOff x="532" y="1119"/>
              <a:chExt cx="4745" cy="2085"/>
            </a:xfrm>
          </p:grpSpPr>
          <p:grpSp>
            <p:nvGrpSpPr>
              <p:cNvPr id="69" name="Group 5"/>
              <p:cNvGrpSpPr>
                <a:grpSpLocks/>
              </p:cNvGrpSpPr>
              <p:nvPr/>
            </p:nvGrpSpPr>
            <p:grpSpPr bwMode="auto">
              <a:xfrm>
                <a:off x="1207" y="1710"/>
                <a:ext cx="4070" cy="1494"/>
                <a:chOff x="1207" y="1710"/>
                <a:chExt cx="4070" cy="1494"/>
              </a:xfrm>
            </p:grpSpPr>
            <p:sp>
              <p:nvSpPr>
                <p:cNvPr id="88" name="Rectangle 6"/>
                <p:cNvSpPr>
                  <a:spLocks noChangeArrowheads="1"/>
                </p:cNvSpPr>
                <p:nvPr/>
              </p:nvSpPr>
              <p:spPr bwMode="auto">
                <a:xfrm>
                  <a:off x="1399" y="2708"/>
                  <a:ext cx="3573" cy="49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Rectangle 7"/>
                <p:cNvSpPr>
                  <a:spLocks noChangeArrowheads="1"/>
                </p:cNvSpPr>
                <p:nvPr/>
              </p:nvSpPr>
              <p:spPr bwMode="auto">
                <a:xfrm>
                  <a:off x="1398" y="1710"/>
                  <a:ext cx="3580" cy="106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Line 8"/>
                <p:cNvSpPr>
                  <a:spLocks noChangeShapeType="1"/>
                </p:cNvSpPr>
                <p:nvPr/>
              </p:nvSpPr>
              <p:spPr bwMode="auto">
                <a:xfrm>
                  <a:off x="1401" y="1712"/>
                  <a:ext cx="35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91" name="Group 9"/>
                <p:cNvGrpSpPr>
                  <a:grpSpLocks/>
                </p:cNvGrpSpPr>
                <p:nvPr/>
              </p:nvGrpSpPr>
              <p:grpSpPr bwMode="auto">
                <a:xfrm>
                  <a:off x="1207" y="2771"/>
                  <a:ext cx="4070" cy="7"/>
                  <a:chOff x="1207" y="2771"/>
                  <a:chExt cx="4070" cy="7"/>
                </a:xfrm>
              </p:grpSpPr>
              <p:sp>
                <p:nvSpPr>
                  <p:cNvPr id="92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82" y="2771"/>
                    <a:ext cx="359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207" y="2778"/>
                    <a:ext cx="4057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0" name="Group 12"/>
              <p:cNvGrpSpPr>
                <a:grpSpLocks/>
              </p:cNvGrpSpPr>
              <p:nvPr/>
            </p:nvGrpSpPr>
            <p:grpSpPr bwMode="auto">
              <a:xfrm>
                <a:off x="1259" y="1331"/>
                <a:ext cx="550" cy="470"/>
                <a:chOff x="1259" y="1331"/>
                <a:chExt cx="550" cy="470"/>
              </a:xfrm>
            </p:grpSpPr>
            <p:grpSp>
              <p:nvGrpSpPr>
                <p:cNvPr id="81" name="Group 13"/>
                <p:cNvGrpSpPr>
                  <a:grpSpLocks/>
                </p:cNvGrpSpPr>
                <p:nvPr/>
              </p:nvGrpSpPr>
              <p:grpSpPr bwMode="auto">
                <a:xfrm>
                  <a:off x="1615" y="1622"/>
                  <a:ext cx="194" cy="179"/>
                  <a:chOff x="1615" y="1622"/>
                  <a:chExt cx="194" cy="179"/>
                </a:xfrm>
              </p:grpSpPr>
              <p:sp>
                <p:nvSpPr>
                  <p:cNvPr id="83" name="AutoShape 14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68" y="1622"/>
                    <a:ext cx="103" cy="89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3399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1615" y="1743"/>
                    <a:ext cx="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1732" y="1742"/>
                    <a:ext cx="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657" y="1773"/>
                    <a:ext cx="11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696" y="1801"/>
                    <a:ext cx="5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259" y="1331"/>
                  <a:ext cx="37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ea typeface="幼圆" pitchFamily="49" charset="-122"/>
                    </a:rPr>
                    <a:t>地下</a:t>
                  </a:r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ea typeface="幼圆" pitchFamily="49" charset="-122"/>
                    </a:rPr>
                    <a:t>水位</a:t>
                  </a:r>
                  <a:endParaRPr lang="en-US" altLang="zh-CN" sz="1600" b="1">
                    <a:ea typeface="幼圆" pitchFamily="49" charset="-122"/>
                  </a:endParaRPr>
                </a:p>
              </p:txBody>
            </p:sp>
          </p:grpSp>
          <p:grpSp>
            <p:nvGrpSpPr>
              <p:cNvPr id="71" name="Group 20"/>
              <p:cNvGrpSpPr>
                <a:grpSpLocks/>
              </p:cNvGrpSpPr>
              <p:nvPr/>
            </p:nvGrpSpPr>
            <p:grpSpPr bwMode="auto">
              <a:xfrm>
                <a:off x="532" y="1119"/>
                <a:ext cx="884" cy="1809"/>
                <a:chOff x="532" y="1119"/>
                <a:chExt cx="884" cy="1809"/>
              </a:xfrm>
            </p:grpSpPr>
            <p:sp>
              <p:nvSpPr>
                <p:cNvPr id="72" name="Freeform 21"/>
                <p:cNvSpPr>
                  <a:spLocks/>
                </p:cNvSpPr>
                <p:nvPr/>
              </p:nvSpPr>
              <p:spPr bwMode="auto">
                <a:xfrm>
                  <a:off x="998" y="1217"/>
                  <a:ext cx="418" cy="1711"/>
                </a:xfrm>
                <a:custGeom>
                  <a:avLst/>
                  <a:gdLst>
                    <a:gd name="T0" fmla="*/ 415 w 418"/>
                    <a:gd name="T1" fmla="*/ 1660 h 1711"/>
                    <a:gd name="T2" fmla="*/ 51 w 418"/>
                    <a:gd name="T3" fmla="*/ 1660 h 1711"/>
                    <a:gd name="T4" fmla="*/ 51 w 418"/>
                    <a:gd name="T5" fmla="*/ 0 h 1711"/>
                    <a:gd name="T6" fmla="*/ 0 w 418"/>
                    <a:gd name="T7" fmla="*/ 0 h 1711"/>
                    <a:gd name="T8" fmla="*/ 0 w 418"/>
                    <a:gd name="T9" fmla="*/ 1711 h 1711"/>
                    <a:gd name="T10" fmla="*/ 418 w 418"/>
                    <a:gd name="T11" fmla="*/ 1711 h 1711"/>
                    <a:gd name="T12" fmla="*/ 415 w 418"/>
                    <a:gd name="T13" fmla="*/ 1660 h 1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8" h="1711">
                      <a:moveTo>
                        <a:pt x="415" y="1660"/>
                      </a:moveTo>
                      <a:lnTo>
                        <a:pt x="51" y="1660"/>
                      </a:lnTo>
                      <a:lnTo>
                        <a:pt x="51" y="0"/>
                      </a:lnTo>
                      <a:lnTo>
                        <a:pt x="0" y="0"/>
                      </a:lnTo>
                      <a:lnTo>
                        <a:pt x="0" y="1711"/>
                      </a:lnTo>
                      <a:lnTo>
                        <a:pt x="418" y="1711"/>
                      </a:lnTo>
                      <a:lnTo>
                        <a:pt x="415" y="166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3" name="Freeform 22"/>
                <p:cNvSpPr>
                  <a:spLocks/>
                </p:cNvSpPr>
                <p:nvPr/>
              </p:nvSpPr>
              <p:spPr bwMode="auto">
                <a:xfrm>
                  <a:off x="1049" y="1119"/>
                  <a:ext cx="358" cy="1757"/>
                </a:xfrm>
                <a:custGeom>
                  <a:avLst/>
                  <a:gdLst>
                    <a:gd name="T0" fmla="*/ 358 w 358"/>
                    <a:gd name="T1" fmla="*/ 1772 h 1772"/>
                    <a:gd name="T2" fmla="*/ 0 w 358"/>
                    <a:gd name="T3" fmla="*/ 1772 h 1772"/>
                    <a:gd name="T4" fmla="*/ 0 w 358"/>
                    <a:gd name="T5" fmla="*/ 0 h 1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8" h="1772">
                      <a:moveTo>
                        <a:pt x="358" y="1772"/>
                      </a:moveTo>
                      <a:lnTo>
                        <a:pt x="0" y="177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23"/>
                <p:cNvSpPr>
                  <a:spLocks/>
                </p:cNvSpPr>
                <p:nvPr/>
              </p:nvSpPr>
              <p:spPr bwMode="auto">
                <a:xfrm>
                  <a:off x="996" y="1119"/>
                  <a:ext cx="416" cy="1809"/>
                </a:xfrm>
                <a:custGeom>
                  <a:avLst/>
                  <a:gdLst>
                    <a:gd name="T0" fmla="*/ 358 w 358"/>
                    <a:gd name="T1" fmla="*/ 1772 h 1772"/>
                    <a:gd name="T2" fmla="*/ 0 w 358"/>
                    <a:gd name="T3" fmla="*/ 1772 h 1772"/>
                    <a:gd name="T4" fmla="*/ 0 w 358"/>
                    <a:gd name="T5" fmla="*/ 0 h 1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8" h="1772">
                      <a:moveTo>
                        <a:pt x="358" y="1772"/>
                      </a:moveTo>
                      <a:lnTo>
                        <a:pt x="0" y="177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5" name="Line 24"/>
                <p:cNvSpPr>
                  <a:spLocks noChangeShapeType="1"/>
                </p:cNvSpPr>
                <p:nvPr/>
              </p:nvSpPr>
              <p:spPr bwMode="auto">
                <a:xfrm>
                  <a:off x="996" y="1220"/>
                  <a:ext cx="5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6" name="Line 25"/>
                <p:cNvSpPr>
                  <a:spLocks noChangeShapeType="1"/>
                </p:cNvSpPr>
                <p:nvPr/>
              </p:nvSpPr>
              <p:spPr bwMode="auto">
                <a:xfrm>
                  <a:off x="1018" y="1243"/>
                  <a:ext cx="1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7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610" y="1229"/>
                  <a:ext cx="0" cy="15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8" name="Line 27"/>
                <p:cNvSpPr>
                  <a:spLocks noChangeShapeType="1"/>
                </p:cNvSpPr>
                <p:nvPr/>
              </p:nvSpPr>
              <p:spPr bwMode="auto">
                <a:xfrm>
                  <a:off x="542" y="1221"/>
                  <a:ext cx="14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582" y="1812"/>
                  <a:ext cx="380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EC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1800" b="1">
                      <a:ea typeface="幼圆" pitchFamily="49" charset="-122"/>
                    </a:rPr>
                    <a:t>15m</a:t>
                  </a:r>
                </a:p>
              </p:txBody>
            </p:sp>
            <p:sp>
              <p:nvSpPr>
                <p:cNvPr id="80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532" y="2785"/>
                  <a:ext cx="2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4" name="Text Box 30"/>
          <p:cNvSpPr txBox="1">
            <a:spLocks noChangeArrowheads="1"/>
          </p:cNvSpPr>
          <p:nvPr/>
        </p:nvSpPr>
        <p:spPr bwMode="auto">
          <a:xfrm>
            <a:off x="4308475" y="1665288"/>
            <a:ext cx="1377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folHlink"/>
                </a:solidFill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ea typeface="幼圆" pitchFamily="49" charset="-122"/>
                <a:sym typeface="Symbol" pitchFamily="18" charset="2"/>
              </a:rPr>
              <a:t></a:t>
            </a:r>
            <a:r>
              <a:rPr lang="en-US" altLang="zh-CN" sz="3200" b="1" dirty="0" smtClean="0">
                <a:solidFill>
                  <a:schemeClr val="folHlink"/>
                </a:solidFill>
                <a:ea typeface="幼圆" pitchFamily="49" charset="-122"/>
              </a:rPr>
              <a:t>&gt; </a:t>
            </a:r>
            <a:r>
              <a:rPr lang="en-US" altLang="zh-CN" sz="3200" b="1" i="1" dirty="0" smtClean="0">
                <a:solidFill>
                  <a:schemeClr val="folHlink"/>
                </a:solidFill>
                <a:ea typeface="幼圆" pitchFamily="49" charset="-122"/>
              </a:rPr>
              <a:t>t </a:t>
            </a:r>
            <a:r>
              <a:rPr lang="en-US" altLang="zh-CN" sz="3200" b="1" dirty="0" smtClean="0">
                <a:solidFill>
                  <a:schemeClr val="folHlink"/>
                </a:solidFill>
                <a:ea typeface="幼圆" pitchFamily="49" charset="-122"/>
              </a:rPr>
              <a:t>&gt;</a:t>
            </a:r>
            <a:r>
              <a:rPr lang="en-US" altLang="zh-CN" sz="3200" b="1" dirty="0">
                <a:solidFill>
                  <a:schemeClr val="folHlink"/>
                </a:solidFill>
                <a:ea typeface="幼圆" pitchFamily="49" charset="-122"/>
              </a:rPr>
              <a:t>0</a:t>
            </a:r>
            <a:endParaRPr lang="zh-CN" altLang="en-US" sz="3200" b="1" dirty="0">
              <a:solidFill>
                <a:schemeClr val="folHlink"/>
              </a:solidFill>
              <a:ea typeface="幼圆" pitchFamily="49" charset="-122"/>
            </a:endParaRPr>
          </a:p>
        </p:txBody>
      </p:sp>
      <p:grpSp>
        <p:nvGrpSpPr>
          <p:cNvPr id="96" name="Group 33"/>
          <p:cNvGrpSpPr>
            <a:grpSpLocks/>
          </p:cNvGrpSpPr>
          <p:nvPr/>
        </p:nvGrpSpPr>
        <p:grpSpPr bwMode="auto">
          <a:xfrm>
            <a:off x="2433638" y="2328863"/>
            <a:ext cx="1219200" cy="3219450"/>
            <a:chOff x="1543" y="1467"/>
            <a:chExt cx="758" cy="2028"/>
          </a:xfrm>
        </p:grpSpPr>
        <p:sp>
          <p:nvSpPr>
            <p:cNvPr id="97" name="Line 34"/>
            <p:cNvSpPr>
              <a:spLocks noChangeShapeType="1"/>
            </p:cNvSpPr>
            <p:nvPr/>
          </p:nvSpPr>
          <p:spPr bwMode="auto">
            <a:xfrm>
              <a:off x="1685" y="1717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" name="Text Box 35"/>
            <p:cNvSpPr txBox="1">
              <a:spLocks noChangeArrowheads="1"/>
            </p:cNvSpPr>
            <p:nvPr/>
          </p:nvSpPr>
          <p:spPr bwMode="auto">
            <a:xfrm>
              <a:off x="1543" y="320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静水头</a:t>
              </a:r>
              <a:endParaRPr lang="en-US" altLang="zh-CN" sz="2400" b="1">
                <a:ea typeface="幼圆" pitchFamily="49" charset="-122"/>
              </a:endParaRPr>
            </a:p>
          </p:txBody>
        </p:sp>
        <p:sp>
          <p:nvSpPr>
            <p:cNvPr id="99" name="Text Box 36"/>
            <p:cNvSpPr txBox="1">
              <a:spLocks noChangeArrowheads="1"/>
            </p:cNvSpPr>
            <p:nvPr/>
          </p:nvSpPr>
          <p:spPr bwMode="auto">
            <a:xfrm>
              <a:off x="1868" y="1467"/>
              <a:ext cx="38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10m</a:t>
              </a:r>
            </a:p>
          </p:txBody>
        </p:sp>
        <p:sp>
          <p:nvSpPr>
            <p:cNvPr id="100" name="Text Box 37"/>
            <p:cNvSpPr txBox="1">
              <a:spLocks noChangeArrowheads="1"/>
            </p:cNvSpPr>
            <p:nvPr/>
          </p:nvSpPr>
          <p:spPr bwMode="auto">
            <a:xfrm>
              <a:off x="2041" y="2523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101" name="Text Box 38"/>
            <p:cNvSpPr txBox="1">
              <a:spLocks noChangeArrowheads="1"/>
            </p:cNvSpPr>
            <p:nvPr/>
          </p:nvSpPr>
          <p:spPr bwMode="auto">
            <a:xfrm>
              <a:off x="2032" y="2817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102" name="Freeform 39"/>
            <p:cNvSpPr>
              <a:spLocks/>
            </p:cNvSpPr>
            <p:nvPr/>
          </p:nvSpPr>
          <p:spPr bwMode="auto">
            <a:xfrm>
              <a:off x="1930" y="1711"/>
              <a:ext cx="131" cy="1466"/>
            </a:xfrm>
            <a:custGeom>
              <a:avLst/>
              <a:gdLst>
                <a:gd name="T0" fmla="*/ 0 w 131"/>
                <a:gd name="T1" fmla="*/ 0 h 1466"/>
                <a:gd name="T2" fmla="*/ 131 w 131"/>
                <a:gd name="T3" fmla="*/ 1072 h 1466"/>
                <a:gd name="T4" fmla="*/ 131 w 13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1466">
                  <a:moveTo>
                    <a:pt x="0" y="0"/>
                  </a:moveTo>
                  <a:lnTo>
                    <a:pt x="131" y="1072"/>
                  </a:lnTo>
                  <a:lnTo>
                    <a:pt x="131" y="14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3" name="Line 40"/>
          <p:cNvSpPr>
            <a:spLocks noChangeShapeType="1"/>
          </p:cNvSpPr>
          <p:nvPr/>
        </p:nvSpPr>
        <p:spPr bwMode="auto">
          <a:xfrm flipV="1">
            <a:off x="2903538" y="3282950"/>
            <a:ext cx="0" cy="784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" name="Text Box 41"/>
          <p:cNvSpPr txBox="1">
            <a:spLocks noChangeArrowheads="1"/>
          </p:cNvSpPr>
          <p:nvPr/>
        </p:nvSpPr>
        <p:spPr bwMode="auto">
          <a:xfrm>
            <a:off x="6338888" y="3403600"/>
            <a:ext cx="1150937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渗流方向</a:t>
            </a:r>
            <a:endParaRPr lang="en-US" altLang="zh-CN" sz="1800" b="1">
              <a:ea typeface="幼圆" pitchFamily="49" charset="-122"/>
            </a:endParaRPr>
          </a:p>
        </p:txBody>
      </p:sp>
      <p:sp>
        <p:nvSpPr>
          <p:cNvPr id="105" name="Line 42"/>
          <p:cNvSpPr>
            <a:spLocks noChangeShapeType="1"/>
          </p:cNvSpPr>
          <p:nvPr/>
        </p:nvSpPr>
        <p:spPr bwMode="auto">
          <a:xfrm flipV="1">
            <a:off x="4064000" y="3074988"/>
            <a:ext cx="0" cy="29051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" name="Line 43"/>
          <p:cNvSpPr>
            <a:spLocks noChangeShapeType="1"/>
          </p:cNvSpPr>
          <p:nvPr/>
        </p:nvSpPr>
        <p:spPr bwMode="auto">
          <a:xfrm>
            <a:off x="4062413" y="3836988"/>
            <a:ext cx="0" cy="29051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Line 44"/>
          <p:cNvSpPr>
            <a:spLocks noChangeShapeType="1"/>
          </p:cNvSpPr>
          <p:nvPr/>
        </p:nvSpPr>
        <p:spPr bwMode="auto">
          <a:xfrm flipV="1">
            <a:off x="5553075" y="2824163"/>
            <a:ext cx="0" cy="74771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" name="Line 45"/>
          <p:cNvSpPr>
            <a:spLocks noChangeShapeType="1"/>
          </p:cNvSpPr>
          <p:nvPr/>
        </p:nvSpPr>
        <p:spPr bwMode="auto">
          <a:xfrm>
            <a:off x="5567363" y="4040188"/>
            <a:ext cx="0" cy="3127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9" name="Group 46"/>
          <p:cNvGrpSpPr>
            <a:grpSpLocks/>
          </p:cNvGrpSpPr>
          <p:nvPr/>
        </p:nvGrpSpPr>
        <p:grpSpPr bwMode="auto">
          <a:xfrm>
            <a:off x="3638550" y="2338388"/>
            <a:ext cx="1485900" cy="3216275"/>
            <a:chOff x="2283" y="1473"/>
            <a:chExt cx="936" cy="2026"/>
          </a:xfrm>
        </p:grpSpPr>
        <p:sp>
          <p:nvSpPr>
            <p:cNvPr id="110" name="Line 47"/>
            <p:cNvSpPr>
              <a:spLocks noChangeShapeType="1"/>
            </p:cNvSpPr>
            <p:nvPr/>
          </p:nvSpPr>
          <p:spPr bwMode="auto">
            <a:xfrm>
              <a:off x="2527" y="1718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1" name="Freeform 48"/>
            <p:cNvSpPr>
              <a:spLocks/>
            </p:cNvSpPr>
            <p:nvPr/>
          </p:nvSpPr>
          <p:spPr bwMode="auto">
            <a:xfrm>
              <a:off x="2525" y="1712"/>
              <a:ext cx="120" cy="1450"/>
            </a:xfrm>
            <a:custGeom>
              <a:avLst/>
              <a:gdLst>
                <a:gd name="T0" fmla="*/ 120 w 120"/>
                <a:gd name="T1" fmla="*/ 0 h 1450"/>
                <a:gd name="T2" fmla="*/ 120 w 120"/>
                <a:gd name="T3" fmla="*/ 1066 h 1450"/>
                <a:gd name="T4" fmla="*/ 0 w 120"/>
                <a:gd name="T5" fmla="*/ 1066 h 1450"/>
                <a:gd name="T6" fmla="*/ 0 w 120"/>
                <a:gd name="T7" fmla="*/ 145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" h="1450">
                  <a:moveTo>
                    <a:pt x="120" y="0"/>
                  </a:moveTo>
                  <a:lnTo>
                    <a:pt x="120" y="1066"/>
                  </a:lnTo>
                  <a:lnTo>
                    <a:pt x="0" y="1066"/>
                  </a:lnTo>
                  <a:lnTo>
                    <a:pt x="0" y="1450"/>
                  </a:lnTo>
                </a:path>
              </a:pathLst>
            </a:custGeom>
            <a:noFill/>
            <a:ln w="12700" cap="flat" cmpd="sng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" name="Text Box 49"/>
            <p:cNvSpPr txBox="1">
              <a:spLocks noChangeArrowheads="1"/>
            </p:cNvSpPr>
            <p:nvPr/>
          </p:nvSpPr>
          <p:spPr bwMode="auto">
            <a:xfrm>
              <a:off x="2450" y="1473"/>
              <a:ext cx="188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0</a:t>
              </a:r>
            </a:p>
          </p:txBody>
        </p:sp>
        <p:sp>
          <p:nvSpPr>
            <p:cNvPr id="113" name="Text Box 50"/>
            <p:cNvSpPr txBox="1">
              <a:spLocks noChangeArrowheads="1"/>
            </p:cNvSpPr>
            <p:nvPr/>
          </p:nvSpPr>
          <p:spPr bwMode="auto">
            <a:xfrm>
              <a:off x="2503" y="2740"/>
              <a:ext cx="188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0</a:t>
              </a:r>
            </a:p>
          </p:txBody>
        </p:sp>
        <p:sp>
          <p:nvSpPr>
            <p:cNvPr id="114" name="Text Box 51"/>
            <p:cNvSpPr txBox="1">
              <a:spLocks noChangeArrowheads="1"/>
            </p:cNvSpPr>
            <p:nvPr/>
          </p:nvSpPr>
          <p:spPr bwMode="auto">
            <a:xfrm>
              <a:off x="2283" y="3211"/>
              <a:ext cx="9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 超静水头</a:t>
              </a:r>
            </a:p>
          </p:txBody>
        </p:sp>
        <p:sp>
          <p:nvSpPr>
            <p:cNvPr id="115" name="Line 52"/>
            <p:cNvSpPr>
              <a:spLocks noChangeShapeType="1"/>
            </p:cNvSpPr>
            <p:nvPr/>
          </p:nvSpPr>
          <p:spPr bwMode="auto">
            <a:xfrm>
              <a:off x="2424" y="2246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" name="Freeform 53"/>
            <p:cNvSpPr>
              <a:spLocks/>
            </p:cNvSpPr>
            <p:nvPr/>
          </p:nvSpPr>
          <p:spPr bwMode="auto">
            <a:xfrm>
              <a:off x="2527" y="1716"/>
              <a:ext cx="87" cy="1075"/>
            </a:xfrm>
            <a:custGeom>
              <a:avLst/>
              <a:gdLst>
                <a:gd name="T0" fmla="*/ 0 w 87"/>
                <a:gd name="T1" fmla="*/ 0 h 1075"/>
                <a:gd name="T2" fmla="*/ 41 w 87"/>
                <a:gd name="T3" fmla="*/ 122 h 1075"/>
                <a:gd name="T4" fmla="*/ 75 w 87"/>
                <a:gd name="T5" fmla="*/ 312 h 1075"/>
                <a:gd name="T6" fmla="*/ 87 w 87"/>
                <a:gd name="T7" fmla="*/ 530 h 1075"/>
                <a:gd name="T8" fmla="*/ 77 w 87"/>
                <a:gd name="T9" fmla="*/ 763 h 1075"/>
                <a:gd name="T10" fmla="*/ 39 w 87"/>
                <a:gd name="T11" fmla="*/ 982 h 1075"/>
                <a:gd name="T12" fmla="*/ 5 w 87"/>
                <a:gd name="T13" fmla="*/ 1075 h 1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1075">
                  <a:moveTo>
                    <a:pt x="0" y="0"/>
                  </a:moveTo>
                  <a:cubicBezTo>
                    <a:pt x="7" y="20"/>
                    <a:pt x="29" y="70"/>
                    <a:pt x="41" y="122"/>
                  </a:cubicBezTo>
                  <a:cubicBezTo>
                    <a:pt x="53" y="174"/>
                    <a:pt x="67" y="244"/>
                    <a:pt x="75" y="312"/>
                  </a:cubicBezTo>
                  <a:cubicBezTo>
                    <a:pt x="83" y="380"/>
                    <a:pt x="87" y="455"/>
                    <a:pt x="87" y="530"/>
                  </a:cubicBezTo>
                  <a:cubicBezTo>
                    <a:pt x="87" y="605"/>
                    <a:pt x="85" y="688"/>
                    <a:pt x="77" y="763"/>
                  </a:cubicBezTo>
                  <a:cubicBezTo>
                    <a:pt x="69" y="838"/>
                    <a:pt x="51" y="930"/>
                    <a:pt x="39" y="982"/>
                  </a:cubicBezTo>
                  <a:cubicBezTo>
                    <a:pt x="27" y="1034"/>
                    <a:pt x="12" y="1056"/>
                    <a:pt x="5" y="1075"/>
                  </a:cubicBezTo>
                </a:path>
              </a:pathLst>
            </a:custGeom>
            <a:noFill/>
            <a:ln w="1905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7" name="Group 54"/>
          <p:cNvGrpSpPr>
            <a:grpSpLocks/>
          </p:cNvGrpSpPr>
          <p:nvPr/>
        </p:nvGrpSpPr>
        <p:grpSpPr bwMode="auto">
          <a:xfrm>
            <a:off x="5246688" y="2714625"/>
            <a:ext cx="1362075" cy="2832100"/>
            <a:chOff x="3305" y="1710"/>
            <a:chExt cx="839" cy="1784"/>
          </a:xfrm>
        </p:grpSpPr>
        <p:sp>
          <p:nvSpPr>
            <p:cNvPr id="118" name="Line 55"/>
            <p:cNvSpPr>
              <a:spLocks noChangeShapeType="1"/>
            </p:cNvSpPr>
            <p:nvPr/>
          </p:nvSpPr>
          <p:spPr bwMode="auto">
            <a:xfrm>
              <a:off x="3321" y="1710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" name="Freeform 56"/>
            <p:cNvSpPr>
              <a:spLocks/>
            </p:cNvSpPr>
            <p:nvPr/>
          </p:nvSpPr>
          <p:spPr bwMode="auto">
            <a:xfrm>
              <a:off x="3578" y="1713"/>
              <a:ext cx="131" cy="1466"/>
            </a:xfrm>
            <a:custGeom>
              <a:avLst/>
              <a:gdLst>
                <a:gd name="T0" fmla="*/ 0 w 131"/>
                <a:gd name="T1" fmla="*/ 0 h 1466"/>
                <a:gd name="T2" fmla="*/ 131 w 131"/>
                <a:gd name="T3" fmla="*/ 1072 h 1466"/>
                <a:gd name="T4" fmla="*/ 131 w 13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1466">
                  <a:moveTo>
                    <a:pt x="0" y="0"/>
                  </a:moveTo>
                  <a:lnTo>
                    <a:pt x="131" y="1072"/>
                  </a:lnTo>
                  <a:lnTo>
                    <a:pt x="131" y="146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0" name="Line 57"/>
            <p:cNvSpPr>
              <a:spLocks noChangeShapeType="1"/>
            </p:cNvSpPr>
            <p:nvPr/>
          </p:nvSpPr>
          <p:spPr bwMode="auto">
            <a:xfrm>
              <a:off x="3548" y="2242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3305" y="3206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   总水头</a:t>
              </a:r>
            </a:p>
          </p:txBody>
        </p:sp>
        <p:grpSp>
          <p:nvGrpSpPr>
            <p:cNvPr id="122" name="Group 59"/>
            <p:cNvGrpSpPr>
              <a:grpSpLocks/>
            </p:cNvGrpSpPr>
            <p:nvPr/>
          </p:nvGrpSpPr>
          <p:grpSpPr bwMode="auto">
            <a:xfrm>
              <a:off x="3578" y="1715"/>
              <a:ext cx="199" cy="1448"/>
              <a:chOff x="3578" y="1715"/>
              <a:chExt cx="199" cy="1448"/>
            </a:xfrm>
          </p:grpSpPr>
          <p:sp>
            <p:nvSpPr>
              <p:cNvPr id="123" name="Freeform 60"/>
              <p:cNvSpPr>
                <a:spLocks/>
              </p:cNvSpPr>
              <p:nvPr/>
            </p:nvSpPr>
            <p:spPr bwMode="auto">
              <a:xfrm>
                <a:off x="3578" y="1715"/>
                <a:ext cx="199" cy="1069"/>
              </a:xfrm>
              <a:custGeom>
                <a:avLst/>
                <a:gdLst>
                  <a:gd name="T0" fmla="*/ 0 w 199"/>
                  <a:gd name="T1" fmla="*/ 0 h 1069"/>
                  <a:gd name="T2" fmla="*/ 70 w 199"/>
                  <a:gd name="T3" fmla="*/ 125 h 1069"/>
                  <a:gd name="T4" fmla="*/ 134 w 199"/>
                  <a:gd name="T5" fmla="*/ 291 h 1069"/>
                  <a:gd name="T6" fmla="*/ 188 w 199"/>
                  <a:gd name="T7" fmla="*/ 525 h 1069"/>
                  <a:gd name="T8" fmla="*/ 195 w 199"/>
                  <a:gd name="T9" fmla="*/ 746 h 1069"/>
                  <a:gd name="T10" fmla="*/ 166 w 199"/>
                  <a:gd name="T11" fmla="*/ 970 h 1069"/>
                  <a:gd name="T12" fmla="*/ 137 w 199"/>
                  <a:gd name="T13" fmla="*/ 1069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9" h="1069">
                    <a:moveTo>
                      <a:pt x="0" y="0"/>
                    </a:moveTo>
                    <a:cubicBezTo>
                      <a:pt x="12" y="20"/>
                      <a:pt x="48" y="77"/>
                      <a:pt x="70" y="125"/>
                    </a:cubicBezTo>
                    <a:cubicBezTo>
                      <a:pt x="92" y="173"/>
                      <a:pt x="114" y="224"/>
                      <a:pt x="134" y="291"/>
                    </a:cubicBezTo>
                    <a:cubicBezTo>
                      <a:pt x="154" y="358"/>
                      <a:pt x="178" y="449"/>
                      <a:pt x="188" y="525"/>
                    </a:cubicBezTo>
                    <a:cubicBezTo>
                      <a:pt x="198" y="601"/>
                      <a:pt x="199" y="672"/>
                      <a:pt x="195" y="746"/>
                    </a:cubicBezTo>
                    <a:cubicBezTo>
                      <a:pt x="191" y="820"/>
                      <a:pt x="176" y="916"/>
                      <a:pt x="166" y="970"/>
                    </a:cubicBezTo>
                    <a:cubicBezTo>
                      <a:pt x="156" y="1024"/>
                      <a:pt x="146" y="1046"/>
                      <a:pt x="137" y="1069"/>
                    </a:cubicBez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4" name="Line 61"/>
              <p:cNvSpPr>
                <a:spLocks noChangeShapeType="1"/>
              </p:cNvSpPr>
              <p:nvPr/>
            </p:nvSpPr>
            <p:spPr bwMode="auto">
              <a:xfrm>
                <a:off x="3710" y="2779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25" name="Group 62"/>
          <p:cNvGrpSpPr>
            <a:grpSpLocks/>
          </p:cNvGrpSpPr>
          <p:nvPr/>
        </p:nvGrpSpPr>
        <p:grpSpPr bwMode="auto">
          <a:xfrm>
            <a:off x="5957888" y="2733675"/>
            <a:ext cx="88900" cy="1662113"/>
            <a:chOff x="3753" y="1722"/>
            <a:chExt cx="56" cy="1047"/>
          </a:xfrm>
        </p:grpSpPr>
        <p:sp>
          <p:nvSpPr>
            <p:cNvPr id="126" name="Line 63"/>
            <p:cNvSpPr>
              <a:spLocks noChangeShapeType="1"/>
            </p:cNvSpPr>
            <p:nvPr/>
          </p:nvSpPr>
          <p:spPr bwMode="auto">
            <a:xfrm flipV="1">
              <a:off x="3787" y="1722"/>
              <a:ext cx="0" cy="10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7" name="Oval 64"/>
            <p:cNvSpPr>
              <a:spLocks noChangeArrowheads="1"/>
            </p:cNvSpPr>
            <p:nvPr/>
          </p:nvSpPr>
          <p:spPr bwMode="auto">
            <a:xfrm>
              <a:off x="3753" y="2366"/>
              <a:ext cx="56" cy="56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8" name="Group 65"/>
          <p:cNvGrpSpPr>
            <a:grpSpLocks/>
          </p:cNvGrpSpPr>
          <p:nvPr/>
        </p:nvGrpSpPr>
        <p:grpSpPr bwMode="auto">
          <a:xfrm>
            <a:off x="5997575" y="3817938"/>
            <a:ext cx="1147763" cy="517525"/>
            <a:chOff x="3778" y="2405"/>
            <a:chExt cx="704" cy="326"/>
          </a:xfrm>
        </p:grpSpPr>
        <p:sp>
          <p:nvSpPr>
            <p:cNvPr id="129" name="Text Box 66"/>
            <p:cNvSpPr txBox="1">
              <a:spLocks noChangeArrowheads="1"/>
            </p:cNvSpPr>
            <p:nvPr/>
          </p:nvSpPr>
          <p:spPr bwMode="auto">
            <a:xfrm>
              <a:off x="3931" y="2500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chemeClr val="folHlink"/>
                  </a:solidFill>
                  <a:ea typeface="幼圆" pitchFamily="49" charset="-122"/>
                </a:rPr>
                <a:t>分界点</a:t>
              </a:r>
            </a:p>
          </p:txBody>
        </p:sp>
        <p:sp>
          <p:nvSpPr>
            <p:cNvPr id="130" name="Line 67"/>
            <p:cNvSpPr>
              <a:spLocks noChangeShapeType="1"/>
            </p:cNvSpPr>
            <p:nvPr/>
          </p:nvSpPr>
          <p:spPr bwMode="auto">
            <a:xfrm>
              <a:off x="3778" y="2405"/>
              <a:ext cx="139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1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  <p:sp>
        <p:nvSpPr>
          <p:cNvPr id="132" name="Rectangle 3"/>
          <p:cNvSpPr>
            <a:spLocks noChangeArrowheads="1"/>
          </p:cNvSpPr>
          <p:nvPr/>
        </p:nvSpPr>
        <p:spPr bwMode="auto">
          <a:xfrm>
            <a:off x="263525" y="742950"/>
            <a:ext cx="5516789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）黏土层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总水头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分布和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方向？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902122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 decel="100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800" decel="100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03" grpId="0" animBg="1"/>
      <p:bldP spid="104" grpId="0"/>
      <p:bldP spid="105" grpId="0" animBg="1"/>
      <p:bldP spid="106" grpId="0" animBg="1"/>
      <p:bldP spid="107" grpId="0" animBg="1"/>
      <p:bldP spid="108" grpId="0" animBg="1"/>
      <p:bldP spid="1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487363" y="1444625"/>
            <a:ext cx="8174037" cy="5162550"/>
            <a:chOff x="307" y="910"/>
            <a:chExt cx="5110" cy="3252"/>
          </a:xfrm>
        </p:grpSpPr>
        <p:sp>
          <p:nvSpPr>
            <p:cNvPr id="62" name="Rectangle 5"/>
            <p:cNvSpPr>
              <a:spLocks noChangeArrowheads="1"/>
            </p:cNvSpPr>
            <p:nvPr/>
          </p:nvSpPr>
          <p:spPr bwMode="auto">
            <a:xfrm>
              <a:off x="307" y="910"/>
              <a:ext cx="5110" cy="3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1098" y="1217"/>
              <a:ext cx="418" cy="1711"/>
            </a:xfrm>
            <a:custGeom>
              <a:avLst/>
              <a:gdLst>
                <a:gd name="T0" fmla="*/ 415 w 418"/>
                <a:gd name="T1" fmla="*/ 1660 h 1711"/>
                <a:gd name="T2" fmla="*/ 51 w 418"/>
                <a:gd name="T3" fmla="*/ 1660 h 1711"/>
                <a:gd name="T4" fmla="*/ 51 w 418"/>
                <a:gd name="T5" fmla="*/ 0 h 1711"/>
                <a:gd name="T6" fmla="*/ 0 w 418"/>
                <a:gd name="T7" fmla="*/ 0 h 1711"/>
                <a:gd name="T8" fmla="*/ 0 w 418"/>
                <a:gd name="T9" fmla="*/ 1711 h 1711"/>
                <a:gd name="T10" fmla="*/ 418 w 418"/>
                <a:gd name="T11" fmla="*/ 1711 h 1711"/>
                <a:gd name="T12" fmla="*/ 415 w 418"/>
                <a:gd name="T13" fmla="*/ 1660 h 1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8" h="1711">
                  <a:moveTo>
                    <a:pt x="415" y="1660"/>
                  </a:moveTo>
                  <a:lnTo>
                    <a:pt x="51" y="1660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1711"/>
                  </a:lnTo>
                  <a:lnTo>
                    <a:pt x="418" y="1711"/>
                  </a:lnTo>
                  <a:lnTo>
                    <a:pt x="415" y="166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" name="Rectangle 7"/>
            <p:cNvSpPr>
              <a:spLocks noChangeArrowheads="1"/>
            </p:cNvSpPr>
            <p:nvPr/>
          </p:nvSpPr>
          <p:spPr bwMode="auto">
            <a:xfrm>
              <a:off x="1499" y="2708"/>
              <a:ext cx="3573" cy="4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8"/>
            <p:cNvSpPr>
              <a:spLocks noChangeArrowheads="1"/>
            </p:cNvSpPr>
            <p:nvPr/>
          </p:nvSpPr>
          <p:spPr bwMode="auto">
            <a:xfrm>
              <a:off x="1498" y="1710"/>
              <a:ext cx="3580" cy="10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>
              <a:off x="1501" y="1712"/>
              <a:ext cx="3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" name="AutoShape 10"/>
            <p:cNvSpPr>
              <a:spLocks noChangeArrowheads="1"/>
            </p:cNvSpPr>
            <p:nvPr/>
          </p:nvSpPr>
          <p:spPr bwMode="auto">
            <a:xfrm flipV="1">
              <a:off x="1768" y="1622"/>
              <a:ext cx="103" cy="89"/>
            </a:xfrm>
            <a:prstGeom prst="triangle">
              <a:avLst>
                <a:gd name="adj" fmla="val 50000"/>
              </a:avLst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>
              <a:off x="1715" y="174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1832" y="174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13"/>
            <p:cNvSpPr>
              <a:spLocks noChangeShapeType="1"/>
            </p:cNvSpPr>
            <p:nvPr/>
          </p:nvSpPr>
          <p:spPr bwMode="auto">
            <a:xfrm>
              <a:off x="1757" y="1773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Line 14"/>
            <p:cNvSpPr>
              <a:spLocks noChangeShapeType="1"/>
            </p:cNvSpPr>
            <p:nvPr/>
          </p:nvSpPr>
          <p:spPr bwMode="auto">
            <a:xfrm>
              <a:off x="1796" y="1801"/>
              <a:ext cx="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1359" y="1331"/>
              <a:ext cx="37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ea typeface="幼圆" pitchFamily="49" charset="-122"/>
                </a:rPr>
                <a:t>地下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ea typeface="幼圆" pitchFamily="49" charset="-122"/>
                </a:rPr>
                <a:t>水位</a:t>
              </a:r>
              <a:endParaRPr lang="en-US" altLang="zh-CN" sz="1600" b="1">
                <a:ea typeface="幼圆" pitchFamily="49" charset="-122"/>
              </a:endParaRPr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1492" y="2781"/>
              <a:ext cx="35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Freeform 17"/>
            <p:cNvSpPr>
              <a:spLocks/>
            </p:cNvSpPr>
            <p:nvPr/>
          </p:nvSpPr>
          <p:spPr bwMode="auto">
            <a:xfrm>
              <a:off x="1149" y="1119"/>
              <a:ext cx="358" cy="1757"/>
            </a:xfrm>
            <a:custGeom>
              <a:avLst/>
              <a:gdLst>
                <a:gd name="T0" fmla="*/ 358 w 358"/>
                <a:gd name="T1" fmla="*/ 1772 h 1772"/>
                <a:gd name="T2" fmla="*/ 0 w 358"/>
                <a:gd name="T3" fmla="*/ 1772 h 1772"/>
                <a:gd name="T4" fmla="*/ 0 w 358"/>
                <a:gd name="T5" fmla="*/ 0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8" h="1772">
                  <a:moveTo>
                    <a:pt x="358" y="1772"/>
                  </a:moveTo>
                  <a:lnTo>
                    <a:pt x="0" y="177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1096" y="1119"/>
              <a:ext cx="416" cy="1809"/>
            </a:xfrm>
            <a:custGeom>
              <a:avLst/>
              <a:gdLst>
                <a:gd name="T0" fmla="*/ 358 w 358"/>
                <a:gd name="T1" fmla="*/ 1772 h 1772"/>
                <a:gd name="T2" fmla="*/ 0 w 358"/>
                <a:gd name="T3" fmla="*/ 1772 h 1772"/>
                <a:gd name="T4" fmla="*/ 0 w 358"/>
                <a:gd name="T5" fmla="*/ 0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8" h="1772">
                  <a:moveTo>
                    <a:pt x="358" y="1772"/>
                  </a:moveTo>
                  <a:lnTo>
                    <a:pt x="0" y="177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1096" y="122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>
              <a:off x="1118" y="1243"/>
              <a:ext cx="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 flipV="1">
              <a:off x="830" y="1229"/>
              <a:ext cx="0" cy="1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>
              <a:off x="762" y="1221"/>
              <a:ext cx="1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734" y="1745"/>
              <a:ext cx="38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15m</a:t>
              </a:r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 flipH="1">
              <a:off x="762" y="278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025" y="1717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" name="Line 26"/>
            <p:cNvSpPr>
              <a:spLocks noChangeShapeType="1"/>
            </p:cNvSpPr>
            <p:nvPr/>
          </p:nvSpPr>
          <p:spPr bwMode="auto">
            <a:xfrm>
              <a:off x="1017" y="2788"/>
              <a:ext cx="40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" name="Line 27"/>
            <p:cNvSpPr>
              <a:spLocks noChangeShapeType="1"/>
            </p:cNvSpPr>
            <p:nvPr/>
          </p:nvSpPr>
          <p:spPr bwMode="auto">
            <a:xfrm>
              <a:off x="2025" y="2778"/>
              <a:ext cx="37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2275" y="1712"/>
              <a:ext cx="124" cy="10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1843" y="318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静水头</a:t>
              </a:r>
              <a:endParaRPr lang="en-US" altLang="zh-CN" sz="2400" b="1">
                <a:ea typeface="幼圆" pitchFamily="49" charset="-122"/>
              </a:endParaRPr>
            </a:p>
          </p:txBody>
        </p:sp>
        <p:sp>
          <p:nvSpPr>
            <p:cNvPr id="87" name="Text Box 30"/>
            <p:cNvSpPr txBox="1">
              <a:spLocks noChangeArrowheads="1"/>
            </p:cNvSpPr>
            <p:nvPr/>
          </p:nvSpPr>
          <p:spPr bwMode="auto">
            <a:xfrm>
              <a:off x="2208" y="1467"/>
              <a:ext cx="38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10m</a:t>
              </a:r>
            </a:p>
          </p:txBody>
        </p:sp>
        <p:sp>
          <p:nvSpPr>
            <p:cNvPr id="88" name="Text Box 31"/>
            <p:cNvSpPr txBox="1">
              <a:spLocks noChangeArrowheads="1"/>
            </p:cNvSpPr>
            <p:nvPr/>
          </p:nvSpPr>
          <p:spPr bwMode="auto">
            <a:xfrm>
              <a:off x="2381" y="2523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2867" y="1718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0" name="Text Box 33"/>
            <p:cNvSpPr txBox="1">
              <a:spLocks noChangeArrowheads="1"/>
            </p:cNvSpPr>
            <p:nvPr/>
          </p:nvSpPr>
          <p:spPr bwMode="auto">
            <a:xfrm>
              <a:off x="2372" y="2817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91" name="Freeform 34"/>
            <p:cNvSpPr>
              <a:spLocks/>
            </p:cNvSpPr>
            <p:nvPr/>
          </p:nvSpPr>
          <p:spPr bwMode="auto">
            <a:xfrm>
              <a:off x="2270" y="1711"/>
              <a:ext cx="131" cy="1466"/>
            </a:xfrm>
            <a:custGeom>
              <a:avLst/>
              <a:gdLst>
                <a:gd name="T0" fmla="*/ 0 w 131"/>
                <a:gd name="T1" fmla="*/ 0 h 1466"/>
                <a:gd name="T2" fmla="*/ 131 w 131"/>
                <a:gd name="T3" fmla="*/ 1072 h 1466"/>
                <a:gd name="T4" fmla="*/ 131 w 13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1466">
                  <a:moveTo>
                    <a:pt x="0" y="0"/>
                  </a:moveTo>
                  <a:lnTo>
                    <a:pt x="131" y="1072"/>
                  </a:lnTo>
                  <a:lnTo>
                    <a:pt x="131" y="14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" name="Freeform 35"/>
            <p:cNvSpPr>
              <a:spLocks/>
            </p:cNvSpPr>
            <p:nvPr/>
          </p:nvSpPr>
          <p:spPr bwMode="auto">
            <a:xfrm>
              <a:off x="2865" y="1712"/>
              <a:ext cx="120" cy="1450"/>
            </a:xfrm>
            <a:custGeom>
              <a:avLst/>
              <a:gdLst>
                <a:gd name="T0" fmla="*/ 120 w 120"/>
                <a:gd name="T1" fmla="*/ 0 h 1450"/>
                <a:gd name="T2" fmla="*/ 120 w 120"/>
                <a:gd name="T3" fmla="*/ 1066 h 1450"/>
                <a:gd name="T4" fmla="*/ 0 w 120"/>
                <a:gd name="T5" fmla="*/ 1066 h 1450"/>
                <a:gd name="T6" fmla="*/ 0 w 120"/>
                <a:gd name="T7" fmla="*/ 145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" h="1450">
                  <a:moveTo>
                    <a:pt x="120" y="0"/>
                  </a:moveTo>
                  <a:lnTo>
                    <a:pt x="120" y="1066"/>
                  </a:lnTo>
                  <a:lnTo>
                    <a:pt x="0" y="1066"/>
                  </a:lnTo>
                  <a:lnTo>
                    <a:pt x="0" y="1450"/>
                  </a:lnTo>
                </a:path>
              </a:pathLst>
            </a:custGeom>
            <a:noFill/>
            <a:ln w="12700" cap="flat" cmpd="sng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" name="Text Box 36"/>
            <p:cNvSpPr txBox="1">
              <a:spLocks noChangeArrowheads="1"/>
            </p:cNvSpPr>
            <p:nvPr/>
          </p:nvSpPr>
          <p:spPr bwMode="auto">
            <a:xfrm>
              <a:off x="2821" y="1479"/>
              <a:ext cx="188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0</a:t>
              </a:r>
            </a:p>
          </p:txBody>
        </p:sp>
        <p:sp>
          <p:nvSpPr>
            <p:cNvPr id="94" name="Text Box 37"/>
            <p:cNvSpPr txBox="1">
              <a:spLocks noChangeArrowheads="1"/>
            </p:cNvSpPr>
            <p:nvPr/>
          </p:nvSpPr>
          <p:spPr bwMode="auto">
            <a:xfrm>
              <a:off x="2847" y="2562"/>
              <a:ext cx="188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0</a:t>
              </a:r>
            </a:p>
          </p:txBody>
        </p:sp>
        <p:sp>
          <p:nvSpPr>
            <p:cNvPr id="95" name="Text Box 38"/>
            <p:cNvSpPr txBox="1">
              <a:spLocks noChangeArrowheads="1"/>
            </p:cNvSpPr>
            <p:nvPr/>
          </p:nvSpPr>
          <p:spPr bwMode="auto">
            <a:xfrm>
              <a:off x="2623" y="3211"/>
              <a:ext cx="9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chemeClr val="folHlink"/>
                  </a:solidFill>
                  <a:ea typeface="幼圆" pitchFamily="49" charset="-122"/>
                </a:rPr>
                <a:t> 超静水头</a:t>
              </a:r>
            </a:p>
          </p:txBody>
        </p:sp>
        <p:sp>
          <p:nvSpPr>
            <p:cNvPr id="96" name="Line 39"/>
            <p:cNvSpPr>
              <a:spLocks noChangeShapeType="1"/>
            </p:cNvSpPr>
            <p:nvPr/>
          </p:nvSpPr>
          <p:spPr bwMode="auto">
            <a:xfrm>
              <a:off x="3661" y="1710"/>
              <a:ext cx="0" cy="1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" name="Freeform 40"/>
            <p:cNvSpPr>
              <a:spLocks/>
            </p:cNvSpPr>
            <p:nvPr/>
          </p:nvSpPr>
          <p:spPr bwMode="auto">
            <a:xfrm>
              <a:off x="3918" y="1713"/>
              <a:ext cx="131" cy="1466"/>
            </a:xfrm>
            <a:custGeom>
              <a:avLst/>
              <a:gdLst>
                <a:gd name="T0" fmla="*/ 0 w 131"/>
                <a:gd name="T1" fmla="*/ 0 h 1466"/>
                <a:gd name="T2" fmla="*/ 131 w 131"/>
                <a:gd name="T3" fmla="*/ 1072 h 1466"/>
                <a:gd name="T4" fmla="*/ 131 w 13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1466">
                  <a:moveTo>
                    <a:pt x="0" y="0"/>
                  </a:moveTo>
                  <a:lnTo>
                    <a:pt x="131" y="1072"/>
                  </a:lnTo>
                  <a:lnTo>
                    <a:pt x="131" y="1466"/>
                  </a:lnTo>
                </a:path>
              </a:pathLst>
            </a:custGeom>
            <a:noFill/>
            <a:ln w="1905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" name="Line 41"/>
            <p:cNvSpPr>
              <a:spLocks noChangeShapeType="1"/>
            </p:cNvSpPr>
            <p:nvPr/>
          </p:nvSpPr>
          <p:spPr bwMode="auto">
            <a:xfrm>
              <a:off x="4051" y="2782"/>
              <a:ext cx="122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" name="Freeform 42"/>
            <p:cNvSpPr>
              <a:spLocks/>
            </p:cNvSpPr>
            <p:nvPr/>
          </p:nvSpPr>
          <p:spPr bwMode="auto">
            <a:xfrm>
              <a:off x="4041" y="1712"/>
              <a:ext cx="144" cy="1460"/>
            </a:xfrm>
            <a:custGeom>
              <a:avLst/>
              <a:gdLst>
                <a:gd name="T0" fmla="*/ 10 w 144"/>
                <a:gd name="T1" fmla="*/ 0 h 1460"/>
                <a:gd name="T2" fmla="*/ 144 w 144"/>
                <a:gd name="T3" fmla="*/ 1071 h 1460"/>
                <a:gd name="T4" fmla="*/ 0 w 144"/>
                <a:gd name="T5" fmla="*/ 1071 h 1460"/>
                <a:gd name="T6" fmla="*/ 0 w 144"/>
                <a:gd name="T7" fmla="*/ 1460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460">
                  <a:moveTo>
                    <a:pt x="10" y="0"/>
                  </a:moveTo>
                  <a:lnTo>
                    <a:pt x="144" y="1071"/>
                  </a:lnTo>
                  <a:lnTo>
                    <a:pt x="0" y="1071"/>
                  </a:lnTo>
                  <a:lnTo>
                    <a:pt x="0" y="1460"/>
                  </a:lnTo>
                </a:path>
              </a:pathLst>
            </a:custGeom>
            <a:noFill/>
            <a:ln w="19050" cap="flat" cmpd="sng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 flipV="1">
              <a:off x="2169" y="2068"/>
              <a:ext cx="0" cy="4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Text Box 44"/>
            <p:cNvSpPr txBox="1">
              <a:spLocks noChangeArrowheads="1"/>
            </p:cNvSpPr>
            <p:nvPr/>
          </p:nvSpPr>
          <p:spPr bwMode="auto">
            <a:xfrm>
              <a:off x="4323" y="2183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ea typeface="幼圆" pitchFamily="49" charset="-122"/>
                </a:rPr>
                <a:t>渗流方向</a:t>
              </a:r>
              <a:endParaRPr lang="en-US" altLang="zh-CN" sz="1800" b="1">
                <a:ea typeface="幼圆" pitchFamily="49" charset="-122"/>
              </a:endParaRPr>
            </a:p>
          </p:txBody>
        </p:sp>
        <p:sp>
          <p:nvSpPr>
            <p:cNvPr id="102" name="Line 45"/>
            <p:cNvSpPr>
              <a:spLocks noChangeShapeType="1"/>
            </p:cNvSpPr>
            <p:nvPr/>
          </p:nvSpPr>
          <p:spPr bwMode="auto">
            <a:xfrm flipV="1">
              <a:off x="3812" y="2037"/>
              <a:ext cx="0" cy="5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Line 46"/>
            <p:cNvSpPr>
              <a:spLocks noChangeShapeType="1"/>
            </p:cNvSpPr>
            <p:nvPr/>
          </p:nvSpPr>
          <p:spPr bwMode="auto">
            <a:xfrm>
              <a:off x="2764" y="2246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4" name="Text Box 47"/>
            <p:cNvSpPr txBox="1">
              <a:spLocks noChangeArrowheads="1"/>
            </p:cNvSpPr>
            <p:nvPr/>
          </p:nvSpPr>
          <p:spPr bwMode="auto">
            <a:xfrm>
              <a:off x="3645" y="3206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  总水头</a:t>
              </a:r>
            </a:p>
          </p:txBody>
        </p:sp>
        <p:sp>
          <p:nvSpPr>
            <p:cNvPr id="105" name="Line 48"/>
            <p:cNvSpPr>
              <a:spLocks noChangeShapeType="1"/>
            </p:cNvSpPr>
            <p:nvPr/>
          </p:nvSpPr>
          <p:spPr bwMode="auto">
            <a:xfrm>
              <a:off x="2867" y="1709"/>
              <a:ext cx="0" cy="1069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6" name="Text Box 49"/>
            <p:cNvSpPr txBox="1">
              <a:spLocks noChangeArrowheads="1"/>
            </p:cNvSpPr>
            <p:nvPr/>
          </p:nvSpPr>
          <p:spPr bwMode="auto">
            <a:xfrm>
              <a:off x="3855" y="1467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10</a:t>
              </a:r>
            </a:p>
          </p:txBody>
        </p:sp>
        <p:sp>
          <p:nvSpPr>
            <p:cNvPr id="107" name="Text Box 50"/>
            <p:cNvSpPr txBox="1">
              <a:spLocks noChangeArrowheads="1"/>
            </p:cNvSpPr>
            <p:nvPr/>
          </p:nvSpPr>
          <p:spPr bwMode="auto">
            <a:xfrm>
              <a:off x="4028" y="2523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  <p:sp>
          <p:nvSpPr>
            <p:cNvPr id="108" name="Text Box 51"/>
            <p:cNvSpPr txBox="1">
              <a:spLocks noChangeArrowheads="1"/>
            </p:cNvSpPr>
            <p:nvPr/>
          </p:nvSpPr>
          <p:spPr bwMode="auto">
            <a:xfrm>
              <a:off x="4019" y="2817"/>
              <a:ext cx="2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15</a:t>
              </a:r>
            </a:p>
          </p:txBody>
        </p:sp>
      </p:grpSp>
      <p:sp>
        <p:nvSpPr>
          <p:cNvPr id="109" name="Text Box 52"/>
          <p:cNvSpPr txBox="1">
            <a:spLocks noChangeArrowheads="1"/>
          </p:cNvSpPr>
          <p:nvPr/>
        </p:nvSpPr>
        <p:spPr bwMode="auto">
          <a:xfrm>
            <a:off x="4151313" y="5972175"/>
            <a:ext cx="421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总渗流 </a:t>
            </a: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400" b="1">
                <a:solidFill>
                  <a:schemeClr val="tx2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ea typeface="幼圆" pitchFamily="49" charset="-122"/>
              </a:rPr>
              <a:t>稳定渗流</a:t>
            </a: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+</a:t>
            </a:r>
            <a:r>
              <a:rPr lang="en-US" altLang="zh-CN" sz="2400" b="1">
                <a:solidFill>
                  <a:schemeClr val="tx2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chemeClr val="folHlink"/>
                </a:solidFill>
                <a:ea typeface="幼圆" pitchFamily="49" charset="-122"/>
              </a:rPr>
              <a:t>固结渗流</a:t>
            </a:r>
            <a:endParaRPr lang="en-US" altLang="zh-CN" sz="2400" b="1">
              <a:solidFill>
                <a:schemeClr val="folHlink"/>
              </a:solidFill>
              <a:ea typeface="幼圆" pitchFamily="49" charset="-122"/>
            </a:endParaRPr>
          </a:p>
        </p:txBody>
      </p:sp>
      <p:sp>
        <p:nvSpPr>
          <p:cNvPr id="110" name="AutoShape 53"/>
          <p:cNvSpPr>
            <a:spLocks noChangeArrowheads="1"/>
          </p:cNvSpPr>
          <p:nvPr/>
        </p:nvSpPr>
        <p:spPr bwMode="auto">
          <a:xfrm>
            <a:off x="3438525" y="5999163"/>
            <a:ext cx="517525" cy="381000"/>
          </a:xfrm>
          <a:prstGeom prst="homePlate">
            <a:avLst>
              <a:gd name="adj" fmla="val 33958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Text Box 54"/>
          <p:cNvSpPr txBox="1">
            <a:spLocks noChangeArrowheads="1"/>
          </p:cNvSpPr>
          <p:nvPr/>
        </p:nvSpPr>
        <p:spPr bwMode="auto">
          <a:xfrm>
            <a:off x="4368800" y="1619250"/>
            <a:ext cx="1044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dirty="0">
                <a:solidFill>
                  <a:schemeClr val="folHlink"/>
                </a:solidFill>
                <a:ea typeface="幼圆" pitchFamily="49" charset="-122"/>
              </a:rPr>
              <a:t>t</a:t>
            </a:r>
            <a:r>
              <a:rPr lang="en-US" altLang="zh-CN" sz="3200" b="1" dirty="0">
                <a:solidFill>
                  <a:schemeClr val="folHlink"/>
                </a:solidFill>
                <a:ea typeface="幼圆" pitchFamily="49" charset="-122"/>
              </a:rPr>
              <a:t> = </a:t>
            </a:r>
            <a:r>
              <a:rPr lang="zh-CN" altLang="en-US" sz="3200" b="1" dirty="0">
                <a:solidFill>
                  <a:schemeClr val="folHlink"/>
                </a:solidFill>
                <a:ea typeface="幼圆" pitchFamily="49" charset="-122"/>
                <a:sym typeface="Symbol" pitchFamily="18" charset="2"/>
              </a:rPr>
              <a:t></a:t>
            </a:r>
          </a:p>
        </p:txBody>
      </p:sp>
      <p:sp>
        <p:nvSpPr>
          <p:cNvPr id="112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263525" y="742950"/>
            <a:ext cx="5516789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）黏土层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总水头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分布和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方向？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3114440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 animBg="1"/>
      <p:bldP spid="111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0" name="Rectangle 3"/>
          <p:cNvSpPr>
            <a:spLocks noChangeArrowheads="1"/>
          </p:cNvSpPr>
          <p:nvPr/>
        </p:nvSpPr>
        <p:spPr bwMode="auto">
          <a:xfrm>
            <a:off x="358775" y="629172"/>
            <a:ext cx="616426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）计算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天单位面积（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1m</a:t>
            </a:r>
            <a:r>
              <a:rPr kumimoji="1" lang="en-US" altLang="zh-CN" sz="24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）的渗流量？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1582738" y="1346200"/>
            <a:ext cx="675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总渗流量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稳定渗流量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稳定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+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固结渗流量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固结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2" name="AutoShape 5"/>
          <p:cNvSpPr>
            <a:spLocks noChangeArrowheads="1"/>
          </p:cNvSpPr>
          <p:nvPr/>
        </p:nvSpPr>
        <p:spPr bwMode="auto">
          <a:xfrm>
            <a:off x="901700" y="1357313"/>
            <a:ext cx="533400" cy="411162"/>
          </a:xfrm>
          <a:prstGeom prst="homePlate">
            <a:avLst>
              <a:gd name="adj" fmla="val 32432"/>
            </a:avLst>
          </a:prstGeom>
          <a:solidFill>
            <a:schemeClr val="accent2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311275" y="1914525"/>
            <a:ext cx="7500938" cy="48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稳定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 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v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i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t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= 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2220.5cm</a:t>
            </a:r>
            <a:r>
              <a:rPr kumimoji="1" lang="en-US" altLang="zh-CN" sz="2400" b="1" baseline="30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3991647" y="5061632"/>
            <a:ext cx="5030544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固结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 0.5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A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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t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 0.5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9.10.35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10000 = 15925cm</a:t>
            </a:r>
            <a:r>
              <a:rPr lang="en-US" altLang="zh-CN" sz="2400" b="1" baseline="30000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65" name="Object 8"/>
          <p:cNvGraphicFramePr>
            <a:graphicFrameLocks noChangeAspect="1"/>
          </p:cNvGraphicFramePr>
          <p:nvPr>
            <p:extLst/>
          </p:nvPr>
        </p:nvGraphicFramePr>
        <p:xfrm>
          <a:off x="4054469" y="2467202"/>
          <a:ext cx="27936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77" name="公式" r:id="rId3" imgW="1396800" imgH="393480" progId="Equation.3">
                  <p:embed/>
                </p:oleObj>
              </mc:Choice>
              <mc:Fallback>
                <p:oleObj name="公式" r:id="rId3" imgW="1396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69" y="2467202"/>
                        <a:ext cx="279360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9"/>
          <p:cNvGraphicFramePr>
            <a:graphicFrameLocks noChangeAspect="1"/>
          </p:cNvGraphicFramePr>
          <p:nvPr>
            <p:extLst/>
          </p:nvPr>
        </p:nvGraphicFramePr>
        <p:xfrm>
          <a:off x="4046989" y="4178527"/>
          <a:ext cx="426672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78" name="公式" r:id="rId5" imgW="2133360" imgH="393480" progId="Equation.3">
                  <p:embed/>
                </p:oleObj>
              </mc:Choice>
              <mc:Fallback>
                <p:oleObj name="公式" r:id="rId5" imgW="2133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989" y="4178527"/>
                        <a:ext cx="426672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10"/>
          <p:cNvGraphicFramePr>
            <a:graphicFrameLocks noChangeAspect="1"/>
          </p:cNvGraphicFramePr>
          <p:nvPr>
            <p:extLst/>
          </p:nvPr>
        </p:nvGraphicFramePr>
        <p:xfrm>
          <a:off x="4042679" y="3255055"/>
          <a:ext cx="398736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79" name="公式" r:id="rId7" imgW="1993680" imgH="431640" progId="Equation.3">
                  <p:embed/>
                </p:oleObj>
              </mc:Choice>
              <mc:Fallback>
                <p:oleObj name="公式" r:id="rId7" imgW="1993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2679" y="3255055"/>
                        <a:ext cx="398736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2322513" y="6107113"/>
            <a:ext cx="582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总渗流量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Q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 2220.5+15925 = 18145.5cm</a:t>
            </a:r>
            <a:r>
              <a:rPr lang="en-US" altLang="zh-CN" sz="2400" b="1" baseline="30000" dirty="0" smtClean="0">
                <a:solidFill>
                  <a:srgbClr val="000066"/>
                </a:solidFill>
                <a:ea typeface="幼圆" pitchFamily="49" charset="-122"/>
              </a:rPr>
              <a:t>3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9" name="Text Box 12"/>
          <p:cNvSpPr txBox="1">
            <a:spLocks noChangeArrowheads="1"/>
          </p:cNvSpPr>
          <p:nvPr/>
        </p:nvSpPr>
        <p:spPr bwMode="auto">
          <a:xfrm>
            <a:off x="611188" y="3589338"/>
            <a:ext cx="244792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固结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黏土层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孔隙压缩的一半</a:t>
            </a:r>
          </a:p>
        </p:txBody>
      </p:sp>
      <p:sp>
        <p:nvSpPr>
          <p:cNvPr id="70" name="AutoShape 13"/>
          <p:cNvSpPr>
            <a:spLocks noChangeArrowheads="1"/>
          </p:cNvSpPr>
          <p:nvPr/>
        </p:nvSpPr>
        <p:spPr bwMode="auto">
          <a:xfrm>
            <a:off x="3205163" y="3859213"/>
            <a:ext cx="533400" cy="411162"/>
          </a:xfrm>
          <a:prstGeom prst="homePlate">
            <a:avLst>
              <a:gd name="adj" fmla="val 32432"/>
            </a:avLst>
          </a:prstGeom>
          <a:solidFill>
            <a:schemeClr val="accent2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</p:spTree>
    <p:extLst>
      <p:ext uri="{BB962C8B-B14F-4D97-AF65-F5344CB8AC3E}">
        <p14:creationId xmlns:p14="http://schemas.microsoft.com/office/powerpoint/2010/main" val="42309683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 decel="100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 animBg="1"/>
      <p:bldP spid="63" grpId="0"/>
      <p:bldP spid="64" grpId="0"/>
      <p:bldP spid="68" grpId="0"/>
      <p:bldP spid="69" grpId="0"/>
      <p:bldP spid="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0" name="Rectangle 3"/>
          <p:cNvSpPr>
            <a:spLocks noChangeArrowheads="1"/>
          </p:cNvSpPr>
          <p:nvPr/>
        </p:nvSpPr>
        <p:spPr bwMode="auto">
          <a:xfrm>
            <a:off x="358775" y="708547"/>
            <a:ext cx="67437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）计算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天时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点的孔隙水压力和有效应力？</a:t>
            </a:r>
          </a:p>
        </p:txBody>
      </p:sp>
      <p:sp>
        <p:nvSpPr>
          <p:cNvPr id="71" name="Text Box 4"/>
          <p:cNvSpPr txBox="1">
            <a:spLocks noChangeArrowheads="1"/>
          </p:cNvSpPr>
          <p:nvPr/>
        </p:nvSpPr>
        <p:spPr bwMode="auto">
          <a:xfrm>
            <a:off x="2919413" y="5210175"/>
            <a:ext cx="5190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总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静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+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超静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75+47.7 = 122.7kPa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2" name="AutoShape 5"/>
          <p:cNvSpPr>
            <a:spLocks noChangeArrowheads="1"/>
          </p:cNvSpPr>
          <p:nvPr/>
        </p:nvSpPr>
        <p:spPr bwMode="auto">
          <a:xfrm>
            <a:off x="2144713" y="5270500"/>
            <a:ext cx="533400" cy="411163"/>
          </a:xfrm>
          <a:prstGeom prst="homePlate">
            <a:avLst>
              <a:gd name="adj" fmla="val 32432"/>
            </a:avLst>
          </a:prstGeom>
          <a:solidFill>
            <a:schemeClr val="accent2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3" name="Object 6"/>
          <p:cNvGraphicFramePr>
            <a:graphicFrameLocks noChangeAspect="1"/>
          </p:cNvGraphicFramePr>
          <p:nvPr>
            <p:extLst/>
          </p:nvPr>
        </p:nvGraphicFramePr>
        <p:xfrm>
          <a:off x="2106613" y="3101975"/>
          <a:ext cx="239077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00" name="公式" r:id="rId3" imgW="1066680" imgH="393480" progId="Equation.3">
                  <p:embed/>
                </p:oleObj>
              </mc:Choice>
              <mc:Fallback>
                <p:oleObj name="公式" r:id="rId3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3101975"/>
                        <a:ext cx="2390775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2093913" y="2379663"/>
            <a:ext cx="3195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静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=(12.5-5)10=75kPa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aphicFrame>
        <p:nvGraphicFramePr>
          <p:cNvPr id="75" name="Object 8"/>
          <p:cNvGraphicFramePr>
            <a:graphicFrameLocks noChangeAspect="1"/>
          </p:cNvGraphicFramePr>
          <p:nvPr>
            <p:extLst/>
          </p:nvPr>
        </p:nvGraphicFramePr>
        <p:xfrm>
          <a:off x="2089150" y="3962400"/>
          <a:ext cx="56911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01" name="公式" r:id="rId5" imgW="2539800" imgH="444240" progId="Equation.3">
                  <p:embed/>
                </p:oleObj>
              </mc:Choice>
              <mc:Fallback>
                <p:oleObj name="公式" r:id="rId5" imgW="2539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962400"/>
                        <a:ext cx="569118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2441574" y="6040438"/>
            <a:ext cx="63867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50+18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5-122.7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17.3kPa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2038350" y="1519238"/>
            <a:ext cx="2043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总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静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+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超静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8" name="AutoShape 11"/>
          <p:cNvSpPr>
            <a:spLocks noChangeArrowheads="1"/>
          </p:cNvSpPr>
          <p:nvPr/>
        </p:nvSpPr>
        <p:spPr bwMode="auto">
          <a:xfrm>
            <a:off x="1295400" y="1597025"/>
            <a:ext cx="533400" cy="411163"/>
          </a:xfrm>
          <a:prstGeom prst="homePlate">
            <a:avLst>
              <a:gd name="adj" fmla="val 32432"/>
            </a:avLst>
          </a:prstGeom>
          <a:solidFill>
            <a:schemeClr val="accent2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-1" y="0"/>
            <a:ext cx="46402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有效应力、孔隙水压力计算</a:t>
            </a:r>
          </a:p>
        </p:txBody>
      </p:sp>
    </p:spTree>
    <p:extLst>
      <p:ext uri="{BB962C8B-B14F-4D97-AF65-F5344CB8AC3E}">
        <p14:creationId xmlns:p14="http://schemas.microsoft.com/office/powerpoint/2010/main" val="38442576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 decel="100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 animBg="1"/>
      <p:bldP spid="74" grpId="0"/>
      <p:bldP spid="76" grpId="0"/>
      <p:bldP spid="77" grpId="0"/>
      <p:bldP spid="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263525" y="1181337"/>
            <a:ext cx="84963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在如图所示的厚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10m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表面瞬时大面积均匀堆载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，若干年后用测压管分别测得土层中的孔隙水压力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=51.6kPa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=94.2kPa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=133.8kPa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=170.4kPa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=198.0kPa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5" name="Rectangle 38"/>
          <p:cNvSpPr>
            <a:spLocks noChangeArrowheads="1"/>
          </p:cNvSpPr>
          <p:nvPr/>
        </p:nvSpPr>
        <p:spPr bwMode="auto">
          <a:xfrm>
            <a:off x="263525" y="595313"/>
            <a:ext cx="5002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4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固结计算</a:t>
            </a: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185738" y="2716213"/>
            <a:ext cx="4764087" cy="2911475"/>
            <a:chOff x="102" y="2056"/>
            <a:chExt cx="3001" cy="1834"/>
          </a:xfrm>
        </p:grpSpPr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2932" y="2568"/>
              <a:ext cx="170" cy="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 rot="16200000">
              <a:off x="2752" y="2969"/>
              <a:ext cx="29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10m</a:t>
              </a:r>
            </a:p>
          </p:txBody>
        </p: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793" y="3698"/>
              <a:ext cx="9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不透水岩层</a:t>
              </a:r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378" y="2560"/>
              <a:ext cx="2420" cy="10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Rectangle 44" descr="深色上对角线"/>
            <p:cNvSpPr>
              <a:spLocks noChangeArrowheads="1"/>
            </p:cNvSpPr>
            <p:nvPr/>
          </p:nvSpPr>
          <p:spPr bwMode="auto">
            <a:xfrm>
              <a:off x="378" y="3593"/>
              <a:ext cx="2438" cy="65"/>
            </a:xfrm>
            <a:prstGeom prst="rect">
              <a:avLst/>
            </a:prstGeom>
            <a:pattFill prst="dkUpDiag">
              <a:fgClr>
                <a:schemeClr val="accent2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" name="Group 45"/>
            <p:cNvGrpSpPr>
              <a:grpSpLocks/>
            </p:cNvGrpSpPr>
            <p:nvPr/>
          </p:nvGrpSpPr>
          <p:grpSpPr bwMode="auto">
            <a:xfrm>
              <a:off x="1041" y="2361"/>
              <a:ext cx="1530" cy="201"/>
              <a:chOff x="3544" y="1083"/>
              <a:chExt cx="1067" cy="165"/>
            </a:xfrm>
          </p:grpSpPr>
          <p:sp>
            <p:nvSpPr>
              <p:cNvPr id="83" name="Line 46"/>
              <p:cNvSpPr>
                <a:spLocks noChangeShapeType="1"/>
              </p:cNvSpPr>
              <p:nvPr/>
            </p:nvSpPr>
            <p:spPr bwMode="auto">
              <a:xfrm>
                <a:off x="3544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4" name="Line 47"/>
              <p:cNvSpPr>
                <a:spLocks noChangeShapeType="1"/>
              </p:cNvSpPr>
              <p:nvPr/>
            </p:nvSpPr>
            <p:spPr bwMode="auto">
              <a:xfrm>
                <a:off x="3663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" name="Line 48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6" name="Line 49"/>
              <p:cNvSpPr>
                <a:spLocks noChangeShapeType="1"/>
              </p:cNvSpPr>
              <p:nvPr/>
            </p:nvSpPr>
            <p:spPr bwMode="auto">
              <a:xfrm>
                <a:off x="3900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7" name="Line 50"/>
              <p:cNvSpPr>
                <a:spLocks noChangeShapeType="1"/>
              </p:cNvSpPr>
              <p:nvPr/>
            </p:nvSpPr>
            <p:spPr bwMode="auto">
              <a:xfrm>
                <a:off x="4019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8" name="Line 51"/>
              <p:cNvSpPr>
                <a:spLocks noChangeShapeType="1"/>
              </p:cNvSpPr>
              <p:nvPr/>
            </p:nvSpPr>
            <p:spPr bwMode="auto">
              <a:xfrm>
                <a:off x="4136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9" name="Line 52"/>
              <p:cNvSpPr>
                <a:spLocks noChangeShapeType="1"/>
              </p:cNvSpPr>
              <p:nvPr/>
            </p:nvSpPr>
            <p:spPr bwMode="auto">
              <a:xfrm>
                <a:off x="4255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0" name="Line 53"/>
              <p:cNvSpPr>
                <a:spLocks noChangeShapeType="1"/>
              </p:cNvSpPr>
              <p:nvPr/>
            </p:nvSpPr>
            <p:spPr bwMode="auto">
              <a:xfrm>
                <a:off x="4374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1" name="Line 54"/>
              <p:cNvSpPr>
                <a:spLocks noChangeShapeType="1"/>
              </p:cNvSpPr>
              <p:nvPr/>
            </p:nvSpPr>
            <p:spPr bwMode="auto">
              <a:xfrm>
                <a:off x="4492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" name="Line 55"/>
              <p:cNvSpPr>
                <a:spLocks noChangeShapeType="1"/>
              </p:cNvSpPr>
              <p:nvPr/>
            </p:nvSpPr>
            <p:spPr bwMode="auto">
              <a:xfrm>
                <a:off x="4611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3" name="Rectangle 56"/>
            <p:cNvSpPr>
              <a:spLocks noChangeArrowheads="1"/>
            </p:cNvSpPr>
            <p:nvPr/>
          </p:nvSpPr>
          <p:spPr bwMode="auto">
            <a:xfrm>
              <a:off x="1448" y="2056"/>
              <a:ext cx="9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=150kPa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57"/>
            <p:cNvSpPr>
              <a:spLocks noChangeShapeType="1"/>
            </p:cNvSpPr>
            <p:nvPr/>
          </p:nvSpPr>
          <p:spPr bwMode="auto">
            <a:xfrm>
              <a:off x="381" y="2562"/>
              <a:ext cx="24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58"/>
            <p:cNvSpPr txBox="1">
              <a:spLocks noChangeArrowheads="1"/>
            </p:cNvSpPr>
            <p:nvPr/>
          </p:nvSpPr>
          <p:spPr bwMode="auto">
            <a:xfrm>
              <a:off x="750" y="2182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46" name="Line 59"/>
            <p:cNvSpPr>
              <a:spLocks noChangeShapeType="1"/>
            </p:cNvSpPr>
            <p:nvPr/>
          </p:nvSpPr>
          <p:spPr bwMode="auto">
            <a:xfrm flipH="1">
              <a:off x="806" y="2443"/>
              <a:ext cx="1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60"/>
            <p:cNvSpPr txBox="1">
              <a:spLocks noChangeArrowheads="1"/>
            </p:cNvSpPr>
            <p:nvPr/>
          </p:nvSpPr>
          <p:spPr bwMode="auto">
            <a:xfrm flipH="1">
              <a:off x="2565" y="2180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48" name="Line 61"/>
            <p:cNvSpPr>
              <a:spLocks noChangeShapeType="1"/>
            </p:cNvSpPr>
            <p:nvPr/>
          </p:nvSpPr>
          <p:spPr bwMode="auto">
            <a:xfrm>
              <a:off x="2633" y="2433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62"/>
            <p:cNvSpPr>
              <a:spLocks noChangeShapeType="1"/>
            </p:cNvSpPr>
            <p:nvPr/>
          </p:nvSpPr>
          <p:spPr bwMode="auto">
            <a:xfrm>
              <a:off x="378" y="3595"/>
              <a:ext cx="2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63"/>
            <p:cNvSpPr>
              <a:spLocks noChangeShapeType="1"/>
            </p:cNvSpPr>
            <p:nvPr/>
          </p:nvSpPr>
          <p:spPr bwMode="auto">
            <a:xfrm>
              <a:off x="2933" y="3589"/>
              <a:ext cx="170" cy="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64"/>
            <p:cNvSpPr>
              <a:spLocks noChangeShapeType="1"/>
            </p:cNvSpPr>
            <p:nvPr/>
          </p:nvSpPr>
          <p:spPr bwMode="auto">
            <a:xfrm>
              <a:off x="3017" y="2569"/>
              <a:ext cx="0" cy="1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Oval 65"/>
            <p:cNvSpPr>
              <a:spLocks noChangeArrowheads="1"/>
            </p:cNvSpPr>
            <p:nvPr/>
          </p:nvSpPr>
          <p:spPr bwMode="auto">
            <a:xfrm>
              <a:off x="1716" y="2747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66"/>
            <p:cNvSpPr>
              <a:spLocks noChangeArrowheads="1"/>
            </p:cNvSpPr>
            <p:nvPr/>
          </p:nvSpPr>
          <p:spPr bwMode="auto">
            <a:xfrm>
              <a:off x="1716" y="2951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67"/>
            <p:cNvSpPr>
              <a:spLocks noChangeArrowheads="1"/>
            </p:cNvSpPr>
            <p:nvPr/>
          </p:nvSpPr>
          <p:spPr bwMode="auto">
            <a:xfrm>
              <a:off x="1716" y="3155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Oval 68"/>
            <p:cNvSpPr>
              <a:spLocks noChangeArrowheads="1"/>
            </p:cNvSpPr>
            <p:nvPr/>
          </p:nvSpPr>
          <p:spPr bwMode="auto">
            <a:xfrm>
              <a:off x="1716" y="3359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Oval 69"/>
            <p:cNvSpPr>
              <a:spLocks noChangeArrowheads="1"/>
            </p:cNvSpPr>
            <p:nvPr/>
          </p:nvSpPr>
          <p:spPr bwMode="auto">
            <a:xfrm>
              <a:off x="1716" y="3563"/>
              <a:ext cx="39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Text Box 70"/>
            <p:cNvSpPr txBox="1">
              <a:spLocks noChangeArrowheads="1"/>
            </p:cNvSpPr>
            <p:nvPr/>
          </p:nvSpPr>
          <p:spPr bwMode="auto">
            <a:xfrm>
              <a:off x="1516" y="2590"/>
              <a:ext cx="220" cy="1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B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D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E</a:t>
              </a: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1911" y="2766"/>
              <a:ext cx="1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72"/>
            <p:cNvSpPr>
              <a:spLocks noChangeShapeType="1"/>
            </p:cNvSpPr>
            <p:nvPr/>
          </p:nvSpPr>
          <p:spPr bwMode="auto">
            <a:xfrm>
              <a:off x="1914" y="2969"/>
              <a:ext cx="1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73"/>
            <p:cNvSpPr>
              <a:spLocks noChangeShapeType="1"/>
            </p:cNvSpPr>
            <p:nvPr/>
          </p:nvSpPr>
          <p:spPr bwMode="auto">
            <a:xfrm>
              <a:off x="1917" y="3177"/>
              <a:ext cx="1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4"/>
            <p:cNvSpPr>
              <a:spLocks noChangeShapeType="1"/>
            </p:cNvSpPr>
            <p:nvPr/>
          </p:nvSpPr>
          <p:spPr bwMode="auto">
            <a:xfrm>
              <a:off x="1915" y="3380"/>
              <a:ext cx="1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5"/>
            <p:cNvSpPr>
              <a:spLocks noChangeShapeType="1"/>
            </p:cNvSpPr>
            <p:nvPr/>
          </p:nvSpPr>
          <p:spPr bwMode="auto">
            <a:xfrm>
              <a:off x="1977" y="2564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6"/>
            <p:cNvSpPr>
              <a:spLocks noChangeShapeType="1"/>
            </p:cNvSpPr>
            <p:nvPr/>
          </p:nvSpPr>
          <p:spPr bwMode="auto">
            <a:xfrm>
              <a:off x="1976" y="2771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7"/>
            <p:cNvSpPr>
              <a:spLocks noChangeShapeType="1"/>
            </p:cNvSpPr>
            <p:nvPr/>
          </p:nvSpPr>
          <p:spPr bwMode="auto">
            <a:xfrm>
              <a:off x="1972" y="2975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8"/>
            <p:cNvSpPr>
              <a:spLocks noChangeShapeType="1"/>
            </p:cNvSpPr>
            <p:nvPr/>
          </p:nvSpPr>
          <p:spPr bwMode="auto">
            <a:xfrm>
              <a:off x="1977" y="3179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9"/>
            <p:cNvSpPr>
              <a:spLocks noChangeShapeType="1"/>
            </p:cNvSpPr>
            <p:nvPr/>
          </p:nvSpPr>
          <p:spPr bwMode="auto">
            <a:xfrm>
              <a:off x="1976" y="3386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80"/>
            <p:cNvSpPr txBox="1">
              <a:spLocks noChangeArrowheads="1"/>
            </p:cNvSpPr>
            <p:nvPr/>
          </p:nvSpPr>
          <p:spPr bwMode="auto">
            <a:xfrm>
              <a:off x="2015" y="2509"/>
              <a:ext cx="308" cy="10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2m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2m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2m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2m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2m</a:t>
              </a:r>
            </a:p>
          </p:txBody>
        </p:sp>
        <p:sp>
          <p:nvSpPr>
            <p:cNvPr id="76" name="AutoShape 81"/>
            <p:cNvSpPr>
              <a:spLocks noChangeArrowheads="1"/>
            </p:cNvSpPr>
            <p:nvPr/>
          </p:nvSpPr>
          <p:spPr bwMode="auto">
            <a:xfrm flipV="1">
              <a:off x="549" y="2472"/>
              <a:ext cx="103" cy="89"/>
            </a:xfrm>
            <a:prstGeom prst="triangle">
              <a:avLst>
                <a:gd name="adj" fmla="val 50000"/>
              </a:avLst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82"/>
            <p:cNvSpPr>
              <a:spLocks noChangeShapeType="1"/>
            </p:cNvSpPr>
            <p:nvPr/>
          </p:nvSpPr>
          <p:spPr bwMode="auto">
            <a:xfrm>
              <a:off x="496" y="25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83"/>
            <p:cNvSpPr>
              <a:spLocks noChangeShapeType="1"/>
            </p:cNvSpPr>
            <p:nvPr/>
          </p:nvSpPr>
          <p:spPr bwMode="auto">
            <a:xfrm>
              <a:off x="613" y="259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84"/>
            <p:cNvSpPr>
              <a:spLocks noChangeShapeType="1"/>
            </p:cNvSpPr>
            <p:nvPr/>
          </p:nvSpPr>
          <p:spPr bwMode="auto">
            <a:xfrm>
              <a:off x="538" y="2623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85"/>
            <p:cNvSpPr>
              <a:spLocks noChangeShapeType="1"/>
            </p:cNvSpPr>
            <p:nvPr/>
          </p:nvSpPr>
          <p:spPr bwMode="auto">
            <a:xfrm>
              <a:off x="577" y="2651"/>
              <a:ext cx="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86"/>
            <p:cNvSpPr txBox="1">
              <a:spLocks noChangeArrowheads="1"/>
            </p:cNvSpPr>
            <p:nvPr/>
          </p:nvSpPr>
          <p:spPr bwMode="auto">
            <a:xfrm>
              <a:off x="393" y="2840"/>
              <a:ext cx="111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000066"/>
                  </a:solidFill>
                  <a:ea typeface="幼圆" pitchFamily="49" charset="-122"/>
                </a:rPr>
                <a:t>E</a:t>
              </a:r>
              <a:r>
                <a:rPr kumimoji="1" lang="en-US" altLang="zh-CN" sz="1800" b="1" i="1" baseline="-25000" dirty="0" err="1">
                  <a:solidFill>
                    <a:srgbClr val="000066"/>
                  </a:solidFill>
                  <a:ea typeface="幼圆" pitchFamily="49" charset="-122"/>
                </a:rPr>
                <a:t>s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=5.5MPa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</a:rPr>
                <a:t>=5.14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10</a:t>
              </a:r>
              <a:r>
                <a:rPr kumimoji="1" lang="en-US" altLang="zh-CN" sz="1800" b="1" baseline="30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-8</a:t>
              </a:r>
              <a:r>
                <a:rPr kumimoji="1" lang="en-US" altLang="zh-CN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cm/s</a:t>
              </a:r>
              <a:endParaRPr kumimoji="1" lang="zh-CN" altLang="en-US" sz="1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2" name="Text Box 87"/>
            <p:cNvSpPr txBox="1">
              <a:spLocks noChangeArrowheads="1"/>
            </p:cNvSpPr>
            <p:nvPr/>
          </p:nvSpPr>
          <p:spPr bwMode="auto">
            <a:xfrm>
              <a:off x="102" y="2196"/>
              <a:ext cx="42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000066"/>
                  </a:solidFill>
                  <a:ea typeface="幼圆" pitchFamily="49" charset="-122"/>
                </a:rPr>
                <a:t>地下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000066"/>
                  </a:solidFill>
                  <a:ea typeface="幼圆" pitchFamily="49" charset="-122"/>
                </a:rPr>
                <a:t>水位</a:t>
              </a:r>
              <a:endParaRPr lang="en-US" altLang="zh-CN" sz="16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93" name="Text Box 88"/>
          <p:cNvSpPr txBox="1">
            <a:spLocks noChangeArrowheads="1"/>
          </p:cNvSpPr>
          <p:nvPr/>
        </p:nvSpPr>
        <p:spPr bwMode="auto">
          <a:xfrm>
            <a:off x="5327650" y="3263900"/>
            <a:ext cx="3467100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）试估算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此时黏土层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的固结度，并计算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此黏土层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已固结了几年？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2)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再经过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5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年，则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该黏土层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的固结度将达到多少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？黏土层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在该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5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年内产生了多大的压缩量？</a:t>
            </a:r>
          </a:p>
        </p:txBody>
      </p:sp>
    </p:spTree>
    <p:extLst>
      <p:ext uri="{BB962C8B-B14F-4D97-AF65-F5344CB8AC3E}">
        <p14:creationId xmlns:p14="http://schemas.microsoft.com/office/powerpoint/2010/main" val="40317803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9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86"/>
          <p:cNvGrpSpPr>
            <a:grpSpLocks/>
          </p:cNvGrpSpPr>
          <p:nvPr/>
        </p:nvGrpSpPr>
        <p:grpSpPr bwMode="auto">
          <a:xfrm>
            <a:off x="257175" y="2168525"/>
            <a:ext cx="8636000" cy="4302125"/>
            <a:chOff x="166" y="1030"/>
            <a:chExt cx="5440" cy="2710"/>
          </a:xfrm>
        </p:grpSpPr>
        <p:sp>
          <p:nvSpPr>
            <p:cNvPr id="38" name="Rectangle 87"/>
            <p:cNvSpPr>
              <a:spLocks noChangeArrowheads="1"/>
            </p:cNvSpPr>
            <p:nvPr/>
          </p:nvSpPr>
          <p:spPr bwMode="auto">
            <a:xfrm>
              <a:off x="166" y="1030"/>
              <a:ext cx="5440" cy="27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88"/>
            <p:cNvSpPr txBox="1">
              <a:spLocks noChangeArrowheads="1"/>
            </p:cNvSpPr>
            <p:nvPr/>
          </p:nvSpPr>
          <p:spPr bwMode="auto">
            <a:xfrm>
              <a:off x="983" y="1182"/>
              <a:ext cx="9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单位：</a:t>
              </a: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kPa</a:t>
              </a:r>
            </a:p>
          </p:txBody>
        </p:sp>
      </p:grpSp>
      <p:grpSp>
        <p:nvGrpSpPr>
          <p:cNvPr id="40" name="Group 89"/>
          <p:cNvGrpSpPr>
            <a:grpSpLocks/>
          </p:cNvGrpSpPr>
          <p:nvPr/>
        </p:nvGrpSpPr>
        <p:grpSpPr bwMode="auto">
          <a:xfrm>
            <a:off x="385763" y="2755900"/>
            <a:ext cx="5529262" cy="2292350"/>
            <a:chOff x="247" y="1400"/>
            <a:chExt cx="3483" cy="1444"/>
          </a:xfrm>
        </p:grpSpPr>
        <p:sp>
          <p:nvSpPr>
            <p:cNvPr id="41" name="Rectangle 90"/>
            <p:cNvSpPr>
              <a:spLocks noChangeArrowheads="1"/>
            </p:cNvSpPr>
            <p:nvPr/>
          </p:nvSpPr>
          <p:spPr bwMode="auto">
            <a:xfrm>
              <a:off x="247" y="1513"/>
              <a:ext cx="3448" cy="1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42" name="Line 91"/>
            <p:cNvSpPr>
              <a:spLocks noChangeShapeType="1"/>
            </p:cNvSpPr>
            <p:nvPr/>
          </p:nvSpPr>
          <p:spPr bwMode="auto">
            <a:xfrm>
              <a:off x="251" y="1515"/>
              <a:ext cx="347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3" name="Line 92"/>
            <p:cNvSpPr>
              <a:spLocks noChangeShapeType="1"/>
            </p:cNvSpPr>
            <p:nvPr/>
          </p:nvSpPr>
          <p:spPr bwMode="auto">
            <a:xfrm>
              <a:off x="247" y="2843"/>
              <a:ext cx="348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pSp>
          <p:nvGrpSpPr>
            <p:cNvPr id="44" name="Group 93"/>
            <p:cNvGrpSpPr>
              <a:grpSpLocks/>
            </p:cNvGrpSpPr>
            <p:nvPr/>
          </p:nvGrpSpPr>
          <p:grpSpPr bwMode="auto">
            <a:xfrm>
              <a:off x="398" y="1400"/>
              <a:ext cx="250" cy="230"/>
              <a:chOff x="398" y="1400"/>
              <a:chExt cx="250" cy="230"/>
            </a:xfrm>
          </p:grpSpPr>
          <p:sp>
            <p:nvSpPr>
              <p:cNvPr id="45" name="AutoShape 94"/>
              <p:cNvSpPr>
                <a:spLocks noChangeArrowheads="1"/>
              </p:cNvSpPr>
              <p:nvPr/>
            </p:nvSpPr>
            <p:spPr bwMode="auto">
              <a:xfrm flipV="1">
                <a:off x="467" y="1400"/>
                <a:ext cx="132" cy="114"/>
              </a:xfrm>
              <a:prstGeom prst="triangle">
                <a:avLst>
                  <a:gd name="adj" fmla="val 50000"/>
                </a:avLst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46" name="Line 95"/>
              <p:cNvSpPr>
                <a:spLocks noChangeShapeType="1"/>
              </p:cNvSpPr>
              <p:nvPr/>
            </p:nvSpPr>
            <p:spPr bwMode="auto">
              <a:xfrm>
                <a:off x="398" y="1555"/>
                <a:ext cx="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47" name="Line 96"/>
              <p:cNvSpPr>
                <a:spLocks noChangeShapeType="1"/>
              </p:cNvSpPr>
              <p:nvPr/>
            </p:nvSpPr>
            <p:spPr bwMode="auto">
              <a:xfrm>
                <a:off x="549" y="1554"/>
                <a:ext cx="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48" name="Line 97"/>
              <p:cNvSpPr>
                <a:spLocks noChangeShapeType="1"/>
              </p:cNvSpPr>
              <p:nvPr/>
            </p:nvSpPr>
            <p:spPr bwMode="auto">
              <a:xfrm>
                <a:off x="452" y="1594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49" name="Line 98"/>
              <p:cNvSpPr>
                <a:spLocks noChangeShapeType="1"/>
              </p:cNvSpPr>
              <p:nvPr/>
            </p:nvSpPr>
            <p:spPr bwMode="auto">
              <a:xfrm>
                <a:off x="502" y="1630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</p:grpSp>
      <p:sp>
        <p:nvSpPr>
          <p:cNvPr id="50" name="Text Box 99"/>
          <p:cNvSpPr txBox="1">
            <a:spLocks noChangeArrowheads="1"/>
          </p:cNvSpPr>
          <p:nvPr/>
        </p:nvSpPr>
        <p:spPr bwMode="auto">
          <a:xfrm>
            <a:off x="779463" y="927100"/>
            <a:ext cx="2538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）固结度计算：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graphicFrame>
        <p:nvGraphicFramePr>
          <p:cNvPr id="51" name="Object 100"/>
          <p:cNvGraphicFramePr>
            <a:graphicFrameLocks noChangeAspect="1"/>
          </p:cNvGraphicFramePr>
          <p:nvPr>
            <p:extLst/>
          </p:nvPr>
        </p:nvGraphicFramePr>
        <p:xfrm>
          <a:off x="3562350" y="781050"/>
          <a:ext cx="37099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23" name="公式" r:id="rId3" imgW="2044440" imgH="558720" progId="Equation.3">
                  <p:embed/>
                </p:oleObj>
              </mc:Choice>
              <mc:Fallback>
                <p:oleObj name="公式" r:id="rId3" imgW="204444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781050"/>
                        <a:ext cx="3709988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101"/>
          <p:cNvGrpSpPr>
            <a:grpSpLocks/>
          </p:cNvGrpSpPr>
          <p:nvPr/>
        </p:nvGrpSpPr>
        <p:grpSpPr bwMode="auto">
          <a:xfrm>
            <a:off x="4583113" y="2579688"/>
            <a:ext cx="1184275" cy="2465387"/>
            <a:chOff x="2891" y="1289"/>
            <a:chExt cx="746" cy="1553"/>
          </a:xfrm>
        </p:grpSpPr>
        <p:sp>
          <p:nvSpPr>
            <p:cNvPr id="53" name="Rectangle 102"/>
            <p:cNvSpPr>
              <a:spLocks noChangeArrowheads="1"/>
            </p:cNvSpPr>
            <p:nvPr/>
          </p:nvSpPr>
          <p:spPr bwMode="auto">
            <a:xfrm>
              <a:off x="2891" y="1514"/>
              <a:ext cx="489" cy="13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Text Box 103"/>
            <p:cNvSpPr txBox="1">
              <a:spLocks noChangeArrowheads="1"/>
            </p:cNvSpPr>
            <p:nvPr/>
          </p:nvSpPr>
          <p:spPr bwMode="auto">
            <a:xfrm>
              <a:off x="3197" y="1289"/>
              <a:ext cx="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150.0</a:t>
              </a:r>
            </a:p>
          </p:txBody>
        </p:sp>
      </p:grpSp>
      <p:sp>
        <p:nvSpPr>
          <p:cNvPr id="55" name="Text Box 104"/>
          <p:cNvSpPr txBox="1">
            <a:spLocks noChangeArrowheads="1"/>
          </p:cNvSpPr>
          <p:nvPr/>
        </p:nvSpPr>
        <p:spPr bwMode="auto">
          <a:xfrm>
            <a:off x="6061075" y="2346325"/>
            <a:ext cx="27241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超静孔压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=2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(31.6+54.2+73.8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+90.4+98/2)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=598</a:t>
            </a:r>
          </a:p>
        </p:txBody>
      </p:sp>
      <p:sp>
        <p:nvSpPr>
          <p:cNvPr id="56" name="Text Box 105"/>
          <p:cNvSpPr txBox="1">
            <a:spLocks noChangeArrowheads="1"/>
          </p:cNvSpPr>
          <p:nvPr/>
        </p:nvSpPr>
        <p:spPr bwMode="auto">
          <a:xfrm>
            <a:off x="6051550" y="4270375"/>
            <a:ext cx="2265363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</a:rPr>
              <a:t>初始超静孔压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=1500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57" name="Group 106"/>
          <p:cNvGrpSpPr>
            <a:grpSpLocks/>
          </p:cNvGrpSpPr>
          <p:nvPr/>
        </p:nvGrpSpPr>
        <p:grpSpPr bwMode="auto">
          <a:xfrm>
            <a:off x="4484688" y="2941638"/>
            <a:ext cx="1195387" cy="2735262"/>
            <a:chOff x="2829" y="1517"/>
            <a:chExt cx="753" cy="1723"/>
          </a:xfrm>
        </p:grpSpPr>
        <p:sp>
          <p:nvSpPr>
            <p:cNvPr id="58" name="Freeform 107"/>
            <p:cNvSpPr>
              <a:spLocks/>
            </p:cNvSpPr>
            <p:nvPr/>
          </p:nvSpPr>
          <p:spPr bwMode="auto">
            <a:xfrm>
              <a:off x="2892" y="1517"/>
              <a:ext cx="322" cy="1327"/>
            </a:xfrm>
            <a:custGeom>
              <a:avLst/>
              <a:gdLst>
                <a:gd name="T0" fmla="*/ 0 w 322"/>
                <a:gd name="T1" fmla="*/ 0 h 1327"/>
                <a:gd name="T2" fmla="*/ 108 w 322"/>
                <a:gd name="T3" fmla="*/ 261 h 1327"/>
                <a:gd name="T4" fmla="*/ 175 w 322"/>
                <a:gd name="T5" fmla="*/ 528 h 1327"/>
                <a:gd name="T6" fmla="*/ 245 w 322"/>
                <a:gd name="T7" fmla="*/ 789 h 1327"/>
                <a:gd name="T8" fmla="*/ 303 w 322"/>
                <a:gd name="T9" fmla="*/ 1051 h 1327"/>
                <a:gd name="T10" fmla="*/ 322 w 322"/>
                <a:gd name="T11" fmla="*/ 1327 h 1327"/>
                <a:gd name="T12" fmla="*/ 1 w 322"/>
                <a:gd name="T13" fmla="*/ 1325 h 1327"/>
                <a:gd name="T14" fmla="*/ 0 w 322"/>
                <a:gd name="T15" fmla="*/ 0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2" h="1327">
                  <a:moveTo>
                    <a:pt x="0" y="0"/>
                  </a:moveTo>
                  <a:lnTo>
                    <a:pt x="108" y="261"/>
                  </a:lnTo>
                  <a:lnTo>
                    <a:pt x="175" y="528"/>
                  </a:lnTo>
                  <a:lnTo>
                    <a:pt x="245" y="789"/>
                  </a:lnTo>
                  <a:lnTo>
                    <a:pt x="303" y="1051"/>
                  </a:lnTo>
                  <a:lnTo>
                    <a:pt x="322" y="1327"/>
                  </a:lnTo>
                  <a:lnTo>
                    <a:pt x="1" y="1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08"/>
            <p:cNvSpPr>
              <a:spLocks noChangeShapeType="1"/>
            </p:cNvSpPr>
            <p:nvPr/>
          </p:nvSpPr>
          <p:spPr bwMode="auto">
            <a:xfrm>
              <a:off x="2893" y="1522"/>
              <a:ext cx="0" cy="1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09"/>
            <p:cNvSpPr>
              <a:spLocks noChangeShapeType="1"/>
            </p:cNvSpPr>
            <p:nvPr/>
          </p:nvSpPr>
          <p:spPr bwMode="auto">
            <a:xfrm>
              <a:off x="2890" y="2844"/>
              <a:ext cx="315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10"/>
            <p:cNvSpPr>
              <a:spLocks noChangeShapeType="1"/>
            </p:cNvSpPr>
            <p:nvPr/>
          </p:nvSpPr>
          <p:spPr bwMode="auto">
            <a:xfrm>
              <a:off x="2893" y="2566"/>
              <a:ext cx="297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11"/>
            <p:cNvSpPr>
              <a:spLocks noChangeShapeType="1"/>
            </p:cNvSpPr>
            <p:nvPr/>
          </p:nvSpPr>
          <p:spPr bwMode="auto">
            <a:xfrm>
              <a:off x="2892" y="2308"/>
              <a:ext cx="244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12"/>
            <p:cNvSpPr>
              <a:spLocks noChangeShapeType="1"/>
            </p:cNvSpPr>
            <p:nvPr/>
          </p:nvSpPr>
          <p:spPr bwMode="auto">
            <a:xfrm>
              <a:off x="2891" y="2044"/>
              <a:ext cx="175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13"/>
            <p:cNvSpPr>
              <a:spLocks noChangeShapeType="1"/>
            </p:cNvSpPr>
            <p:nvPr/>
          </p:nvSpPr>
          <p:spPr bwMode="auto">
            <a:xfrm>
              <a:off x="2892" y="1777"/>
              <a:ext cx="106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14"/>
            <p:cNvSpPr txBox="1">
              <a:spLocks noChangeArrowheads="1"/>
            </p:cNvSpPr>
            <p:nvPr/>
          </p:nvSpPr>
          <p:spPr bwMode="auto">
            <a:xfrm>
              <a:off x="2971" y="1632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31.6</a:t>
              </a:r>
            </a:p>
          </p:txBody>
        </p:sp>
        <p:sp>
          <p:nvSpPr>
            <p:cNvPr id="66" name="Text Box 115"/>
            <p:cNvSpPr txBox="1">
              <a:spLocks noChangeArrowheads="1"/>
            </p:cNvSpPr>
            <p:nvPr/>
          </p:nvSpPr>
          <p:spPr bwMode="auto">
            <a:xfrm>
              <a:off x="3037" y="1915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54.2</a:t>
              </a:r>
            </a:p>
          </p:txBody>
        </p:sp>
        <p:sp>
          <p:nvSpPr>
            <p:cNvPr id="67" name="Text Box 116"/>
            <p:cNvSpPr txBox="1">
              <a:spLocks noChangeArrowheads="1"/>
            </p:cNvSpPr>
            <p:nvPr/>
          </p:nvSpPr>
          <p:spPr bwMode="auto">
            <a:xfrm>
              <a:off x="3089" y="2177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73.8</a:t>
              </a:r>
            </a:p>
          </p:txBody>
        </p:sp>
        <p:sp>
          <p:nvSpPr>
            <p:cNvPr id="68" name="Text Box 117"/>
            <p:cNvSpPr txBox="1">
              <a:spLocks noChangeArrowheads="1"/>
            </p:cNvSpPr>
            <p:nvPr/>
          </p:nvSpPr>
          <p:spPr bwMode="auto">
            <a:xfrm>
              <a:off x="3173" y="2434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90.4</a:t>
              </a:r>
            </a:p>
          </p:txBody>
        </p:sp>
        <p:sp>
          <p:nvSpPr>
            <p:cNvPr id="69" name="Text Box 118"/>
            <p:cNvSpPr txBox="1">
              <a:spLocks noChangeArrowheads="1"/>
            </p:cNvSpPr>
            <p:nvPr/>
          </p:nvSpPr>
          <p:spPr bwMode="auto">
            <a:xfrm>
              <a:off x="3214" y="2671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98.0</a:t>
              </a:r>
            </a:p>
          </p:txBody>
        </p:sp>
        <p:sp>
          <p:nvSpPr>
            <p:cNvPr id="70" name="Text Box 119"/>
            <p:cNvSpPr txBox="1">
              <a:spLocks noChangeArrowheads="1"/>
            </p:cNvSpPr>
            <p:nvPr/>
          </p:nvSpPr>
          <p:spPr bwMode="auto">
            <a:xfrm>
              <a:off x="2829" y="3009"/>
              <a:ext cx="74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超静孔压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71" name="Oval 120"/>
            <p:cNvSpPr>
              <a:spLocks noChangeArrowheads="1"/>
            </p:cNvSpPr>
            <p:nvPr/>
          </p:nvSpPr>
          <p:spPr bwMode="auto">
            <a:xfrm>
              <a:off x="2869" y="1755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Oval 121"/>
            <p:cNvSpPr>
              <a:spLocks noChangeArrowheads="1"/>
            </p:cNvSpPr>
            <p:nvPr/>
          </p:nvSpPr>
          <p:spPr bwMode="auto">
            <a:xfrm>
              <a:off x="2869" y="2017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Oval 122"/>
            <p:cNvSpPr>
              <a:spLocks noChangeArrowheads="1"/>
            </p:cNvSpPr>
            <p:nvPr/>
          </p:nvSpPr>
          <p:spPr bwMode="auto">
            <a:xfrm>
              <a:off x="2869" y="2279"/>
              <a:ext cx="50" cy="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Oval 123"/>
            <p:cNvSpPr>
              <a:spLocks noChangeArrowheads="1"/>
            </p:cNvSpPr>
            <p:nvPr/>
          </p:nvSpPr>
          <p:spPr bwMode="auto">
            <a:xfrm>
              <a:off x="2869" y="2542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Oval 124"/>
            <p:cNvSpPr>
              <a:spLocks noChangeArrowheads="1"/>
            </p:cNvSpPr>
            <p:nvPr/>
          </p:nvSpPr>
          <p:spPr bwMode="auto">
            <a:xfrm>
              <a:off x="2869" y="2804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6" name="Group 125"/>
          <p:cNvGrpSpPr>
            <a:grpSpLocks/>
          </p:cNvGrpSpPr>
          <p:nvPr/>
        </p:nvGrpSpPr>
        <p:grpSpPr bwMode="auto">
          <a:xfrm>
            <a:off x="3506788" y="2282825"/>
            <a:ext cx="1700212" cy="831850"/>
            <a:chOff x="2213" y="1102"/>
            <a:chExt cx="1071" cy="524"/>
          </a:xfrm>
        </p:grpSpPr>
        <p:sp>
          <p:nvSpPr>
            <p:cNvPr id="77" name="Text Box 126"/>
            <p:cNvSpPr txBox="1">
              <a:spLocks noChangeArrowheads="1"/>
            </p:cNvSpPr>
            <p:nvPr/>
          </p:nvSpPr>
          <p:spPr bwMode="auto">
            <a:xfrm>
              <a:off x="2213" y="1102"/>
              <a:ext cx="10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初始超静孔压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78" name="Line 127"/>
            <p:cNvSpPr>
              <a:spLocks noChangeShapeType="1"/>
            </p:cNvSpPr>
            <p:nvPr/>
          </p:nvSpPr>
          <p:spPr bwMode="auto">
            <a:xfrm flipH="1" flipV="1">
              <a:off x="2997" y="1356"/>
              <a:ext cx="204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128"/>
          <p:cNvGrpSpPr>
            <a:grpSpLocks/>
          </p:cNvGrpSpPr>
          <p:nvPr/>
        </p:nvGrpSpPr>
        <p:grpSpPr bwMode="auto">
          <a:xfrm>
            <a:off x="3195638" y="2944813"/>
            <a:ext cx="1079500" cy="2713037"/>
            <a:chOff x="2017" y="1519"/>
            <a:chExt cx="680" cy="1709"/>
          </a:xfrm>
        </p:grpSpPr>
        <p:sp>
          <p:nvSpPr>
            <p:cNvPr id="80" name="Line 129"/>
            <p:cNvSpPr>
              <a:spLocks noChangeShapeType="1"/>
            </p:cNvSpPr>
            <p:nvPr/>
          </p:nvSpPr>
          <p:spPr bwMode="auto">
            <a:xfrm>
              <a:off x="2076" y="2565"/>
              <a:ext cx="249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30"/>
            <p:cNvSpPr>
              <a:spLocks noChangeShapeType="1"/>
            </p:cNvSpPr>
            <p:nvPr/>
          </p:nvSpPr>
          <p:spPr bwMode="auto">
            <a:xfrm>
              <a:off x="2076" y="2307"/>
              <a:ext cx="185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31"/>
            <p:cNvSpPr>
              <a:spLocks noChangeShapeType="1"/>
            </p:cNvSpPr>
            <p:nvPr/>
          </p:nvSpPr>
          <p:spPr bwMode="auto">
            <a:xfrm>
              <a:off x="2071" y="2043"/>
              <a:ext cx="133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32"/>
            <p:cNvSpPr>
              <a:spLocks noChangeShapeType="1"/>
            </p:cNvSpPr>
            <p:nvPr/>
          </p:nvSpPr>
          <p:spPr bwMode="auto">
            <a:xfrm>
              <a:off x="2080" y="2841"/>
              <a:ext cx="32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33"/>
            <p:cNvSpPr>
              <a:spLocks noChangeShapeType="1"/>
            </p:cNvSpPr>
            <p:nvPr/>
          </p:nvSpPr>
          <p:spPr bwMode="auto">
            <a:xfrm>
              <a:off x="2078" y="1519"/>
              <a:ext cx="324" cy="13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134"/>
            <p:cNvSpPr txBox="1">
              <a:spLocks noChangeArrowheads="1"/>
            </p:cNvSpPr>
            <p:nvPr/>
          </p:nvSpPr>
          <p:spPr bwMode="auto">
            <a:xfrm>
              <a:off x="2143" y="1619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20</a:t>
              </a:r>
            </a:p>
          </p:txBody>
        </p:sp>
        <p:sp>
          <p:nvSpPr>
            <p:cNvPr id="86" name="Text Box 135"/>
            <p:cNvSpPr txBox="1">
              <a:spLocks noChangeArrowheads="1"/>
            </p:cNvSpPr>
            <p:nvPr/>
          </p:nvSpPr>
          <p:spPr bwMode="auto">
            <a:xfrm>
              <a:off x="2202" y="1909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40</a:t>
              </a:r>
            </a:p>
          </p:txBody>
        </p:sp>
        <p:sp>
          <p:nvSpPr>
            <p:cNvPr id="87" name="Text Box 136"/>
            <p:cNvSpPr txBox="1">
              <a:spLocks noChangeArrowheads="1"/>
            </p:cNvSpPr>
            <p:nvPr/>
          </p:nvSpPr>
          <p:spPr bwMode="auto">
            <a:xfrm>
              <a:off x="2268" y="2171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60</a:t>
              </a:r>
            </a:p>
          </p:txBody>
        </p:sp>
        <p:sp>
          <p:nvSpPr>
            <p:cNvPr id="88" name="Text Box 137"/>
            <p:cNvSpPr txBox="1">
              <a:spLocks noChangeArrowheads="1"/>
            </p:cNvSpPr>
            <p:nvPr/>
          </p:nvSpPr>
          <p:spPr bwMode="auto">
            <a:xfrm>
              <a:off x="2324" y="2435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80</a:t>
              </a:r>
            </a:p>
          </p:txBody>
        </p:sp>
        <p:sp>
          <p:nvSpPr>
            <p:cNvPr id="89" name="Text Box 138"/>
            <p:cNvSpPr txBox="1">
              <a:spLocks noChangeArrowheads="1"/>
            </p:cNvSpPr>
            <p:nvPr/>
          </p:nvSpPr>
          <p:spPr bwMode="auto">
            <a:xfrm>
              <a:off x="2365" y="265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100</a:t>
              </a:r>
            </a:p>
          </p:txBody>
        </p:sp>
        <p:sp>
          <p:nvSpPr>
            <p:cNvPr id="90" name="Text Box 139"/>
            <p:cNvSpPr txBox="1">
              <a:spLocks noChangeArrowheads="1"/>
            </p:cNvSpPr>
            <p:nvPr/>
          </p:nvSpPr>
          <p:spPr bwMode="auto">
            <a:xfrm>
              <a:off x="2017" y="2997"/>
              <a:ext cx="5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静水压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91" name="Line 140"/>
            <p:cNvSpPr>
              <a:spLocks noChangeShapeType="1"/>
            </p:cNvSpPr>
            <p:nvPr/>
          </p:nvSpPr>
          <p:spPr bwMode="auto">
            <a:xfrm>
              <a:off x="2077" y="1521"/>
              <a:ext cx="0" cy="1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41"/>
            <p:cNvSpPr>
              <a:spLocks noChangeShapeType="1"/>
            </p:cNvSpPr>
            <p:nvPr/>
          </p:nvSpPr>
          <p:spPr bwMode="auto">
            <a:xfrm>
              <a:off x="2076" y="1776"/>
              <a:ext cx="55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Oval 142"/>
            <p:cNvSpPr>
              <a:spLocks noChangeArrowheads="1"/>
            </p:cNvSpPr>
            <p:nvPr/>
          </p:nvSpPr>
          <p:spPr bwMode="auto">
            <a:xfrm>
              <a:off x="2053" y="1754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Oval 143"/>
            <p:cNvSpPr>
              <a:spLocks noChangeArrowheads="1"/>
            </p:cNvSpPr>
            <p:nvPr/>
          </p:nvSpPr>
          <p:spPr bwMode="auto">
            <a:xfrm>
              <a:off x="2053" y="2016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Oval 144"/>
            <p:cNvSpPr>
              <a:spLocks noChangeArrowheads="1"/>
            </p:cNvSpPr>
            <p:nvPr/>
          </p:nvSpPr>
          <p:spPr bwMode="auto">
            <a:xfrm>
              <a:off x="2053" y="2278"/>
              <a:ext cx="50" cy="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Oval 145"/>
            <p:cNvSpPr>
              <a:spLocks noChangeArrowheads="1"/>
            </p:cNvSpPr>
            <p:nvPr/>
          </p:nvSpPr>
          <p:spPr bwMode="auto">
            <a:xfrm>
              <a:off x="2053" y="2541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Oval 146"/>
            <p:cNvSpPr>
              <a:spLocks noChangeArrowheads="1"/>
            </p:cNvSpPr>
            <p:nvPr/>
          </p:nvSpPr>
          <p:spPr bwMode="auto">
            <a:xfrm>
              <a:off x="2053" y="2803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8" name="Group 147"/>
          <p:cNvGrpSpPr>
            <a:grpSpLocks/>
          </p:cNvGrpSpPr>
          <p:nvPr/>
        </p:nvGrpSpPr>
        <p:grpSpPr bwMode="auto">
          <a:xfrm>
            <a:off x="525463" y="2946400"/>
            <a:ext cx="2427287" cy="2863850"/>
            <a:chOff x="335" y="1520"/>
            <a:chExt cx="1529" cy="1804"/>
          </a:xfrm>
        </p:grpSpPr>
        <p:sp>
          <p:nvSpPr>
            <p:cNvPr id="99" name="Text Box 148"/>
            <p:cNvSpPr txBox="1">
              <a:spLocks noChangeArrowheads="1"/>
            </p:cNvSpPr>
            <p:nvPr/>
          </p:nvSpPr>
          <p:spPr bwMode="auto">
            <a:xfrm>
              <a:off x="547" y="1551"/>
              <a:ext cx="220" cy="1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ea typeface="幼圆" pitchFamily="49" charset="-122"/>
                </a:rPr>
                <a:t>A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ea typeface="幼圆" pitchFamily="49" charset="-122"/>
                </a:rPr>
                <a:t>B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ea typeface="幼圆" pitchFamily="49" charset="-122"/>
                </a:rPr>
                <a:t>C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ea typeface="幼圆" pitchFamily="49" charset="-122"/>
                </a:rPr>
                <a:t>D</a:t>
              </a:r>
            </a:p>
            <a:p>
              <a:pPr>
                <a:spcBef>
                  <a:spcPct val="5000"/>
                </a:spcBef>
                <a:spcAft>
                  <a:spcPct val="5000"/>
                </a:spcAft>
              </a:pPr>
              <a:r>
                <a:rPr lang="en-US" altLang="zh-CN" sz="1800" b="1">
                  <a:ea typeface="幼圆" pitchFamily="49" charset="-122"/>
                </a:rPr>
                <a:t>E</a:t>
              </a:r>
            </a:p>
          </p:txBody>
        </p:sp>
        <p:sp>
          <p:nvSpPr>
            <p:cNvPr id="100" name="Line 149"/>
            <p:cNvSpPr>
              <a:spLocks noChangeShapeType="1"/>
            </p:cNvSpPr>
            <p:nvPr/>
          </p:nvSpPr>
          <p:spPr bwMode="auto">
            <a:xfrm>
              <a:off x="828" y="1520"/>
              <a:ext cx="0" cy="1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50"/>
            <p:cNvSpPr>
              <a:spLocks noChangeShapeType="1"/>
            </p:cNvSpPr>
            <p:nvPr/>
          </p:nvSpPr>
          <p:spPr bwMode="auto">
            <a:xfrm>
              <a:off x="828" y="2842"/>
              <a:ext cx="642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51"/>
            <p:cNvSpPr>
              <a:spLocks noChangeShapeType="1"/>
            </p:cNvSpPr>
            <p:nvPr/>
          </p:nvSpPr>
          <p:spPr bwMode="auto">
            <a:xfrm>
              <a:off x="827" y="2564"/>
              <a:ext cx="5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52"/>
            <p:cNvSpPr>
              <a:spLocks noChangeShapeType="1"/>
            </p:cNvSpPr>
            <p:nvPr/>
          </p:nvSpPr>
          <p:spPr bwMode="auto">
            <a:xfrm>
              <a:off x="827" y="2306"/>
              <a:ext cx="432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53"/>
            <p:cNvSpPr>
              <a:spLocks noChangeShapeType="1"/>
            </p:cNvSpPr>
            <p:nvPr/>
          </p:nvSpPr>
          <p:spPr bwMode="auto">
            <a:xfrm>
              <a:off x="822" y="2042"/>
              <a:ext cx="303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54"/>
            <p:cNvSpPr>
              <a:spLocks noChangeShapeType="1"/>
            </p:cNvSpPr>
            <p:nvPr/>
          </p:nvSpPr>
          <p:spPr bwMode="auto">
            <a:xfrm>
              <a:off x="827" y="1775"/>
              <a:ext cx="166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5"/>
            <p:cNvSpPr>
              <a:spLocks/>
            </p:cNvSpPr>
            <p:nvPr/>
          </p:nvSpPr>
          <p:spPr bwMode="auto">
            <a:xfrm>
              <a:off x="824" y="1520"/>
              <a:ext cx="649" cy="1322"/>
            </a:xfrm>
            <a:custGeom>
              <a:avLst/>
              <a:gdLst>
                <a:gd name="T0" fmla="*/ 0 w 505"/>
                <a:gd name="T1" fmla="*/ 0 h 1028"/>
                <a:gd name="T2" fmla="*/ 131 w 505"/>
                <a:gd name="T3" fmla="*/ 199 h 1028"/>
                <a:gd name="T4" fmla="*/ 233 w 505"/>
                <a:gd name="T5" fmla="*/ 407 h 1028"/>
                <a:gd name="T6" fmla="*/ 336 w 505"/>
                <a:gd name="T7" fmla="*/ 612 h 1028"/>
                <a:gd name="T8" fmla="*/ 425 w 505"/>
                <a:gd name="T9" fmla="*/ 810 h 1028"/>
                <a:gd name="T10" fmla="*/ 505 w 505"/>
                <a:gd name="T11" fmla="*/ 1028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5" h="1028">
                  <a:moveTo>
                    <a:pt x="0" y="0"/>
                  </a:moveTo>
                  <a:lnTo>
                    <a:pt x="131" y="199"/>
                  </a:lnTo>
                  <a:lnTo>
                    <a:pt x="233" y="407"/>
                  </a:lnTo>
                  <a:lnTo>
                    <a:pt x="336" y="612"/>
                  </a:lnTo>
                  <a:lnTo>
                    <a:pt x="425" y="810"/>
                  </a:lnTo>
                  <a:lnTo>
                    <a:pt x="505" y="10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56"/>
            <p:cNvSpPr txBox="1">
              <a:spLocks noChangeArrowheads="1"/>
            </p:cNvSpPr>
            <p:nvPr/>
          </p:nvSpPr>
          <p:spPr bwMode="auto">
            <a:xfrm>
              <a:off x="335" y="2920"/>
              <a:ext cx="129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测管压力</a:t>
              </a: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=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静水压</a:t>
              </a: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+</a:t>
              </a: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超静孔压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08" name="Text Box 157"/>
            <p:cNvSpPr txBox="1">
              <a:spLocks noChangeArrowheads="1"/>
            </p:cNvSpPr>
            <p:nvPr/>
          </p:nvSpPr>
          <p:spPr bwMode="auto">
            <a:xfrm>
              <a:off x="1020" y="1643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51.6</a:t>
              </a:r>
            </a:p>
          </p:txBody>
        </p:sp>
        <p:sp>
          <p:nvSpPr>
            <p:cNvPr id="109" name="Text Box 158"/>
            <p:cNvSpPr txBox="1">
              <a:spLocks noChangeArrowheads="1"/>
            </p:cNvSpPr>
            <p:nvPr/>
          </p:nvSpPr>
          <p:spPr bwMode="auto">
            <a:xfrm>
              <a:off x="1121" y="1912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94.2</a:t>
              </a:r>
            </a:p>
          </p:txBody>
        </p:sp>
        <p:sp>
          <p:nvSpPr>
            <p:cNvPr id="110" name="Text Box 159"/>
            <p:cNvSpPr txBox="1">
              <a:spLocks noChangeArrowheads="1"/>
            </p:cNvSpPr>
            <p:nvPr/>
          </p:nvSpPr>
          <p:spPr bwMode="auto">
            <a:xfrm>
              <a:off x="1250" y="2167"/>
              <a:ext cx="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133.8</a:t>
              </a:r>
            </a:p>
          </p:txBody>
        </p:sp>
        <p:sp>
          <p:nvSpPr>
            <p:cNvPr id="111" name="Text Box 160"/>
            <p:cNvSpPr txBox="1">
              <a:spLocks noChangeArrowheads="1"/>
            </p:cNvSpPr>
            <p:nvPr/>
          </p:nvSpPr>
          <p:spPr bwMode="auto">
            <a:xfrm>
              <a:off x="1383" y="2438"/>
              <a:ext cx="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170.4</a:t>
              </a:r>
            </a:p>
          </p:txBody>
        </p:sp>
        <p:sp>
          <p:nvSpPr>
            <p:cNvPr id="112" name="Text Box 161"/>
            <p:cNvSpPr txBox="1">
              <a:spLocks noChangeArrowheads="1"/>
            </p:cNvSpPr>
            <p:nvPr/>
          </p:nvSpPr>
          <p:spPr bwMode="auto">
            <a:xfrm>
              <a:off x="1424" y="2668"/>
              <a:ext cx="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a typeface="幼圆" pitchFamily="49" charset="-122"/>
                </a:rPr>
                <a:t>198.0</a:t>
              </a:r>
            </a:p>
          </p:txBody>
        </p:sp>
        <p:sp>
          <p:nvSpPr>
            <p:cNvPr id="113" name="Oval 162"/>
            <p:cNvSpPr>
              <a:spLocks noChangeArrowheads="1"/>
            </p:cNvSpPr>
            <p:nvPr/>
          </p:nvSpPr>
          <p:spPr bwMode="auto">
            <a:xfrm>
              <a:off x="804" y="1753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Oval 163"/>
            <p:cNvSpPr>
              <a:spLocks noChangeArrowheads="1"/>
            </p:cNvSpPr>
            <p:nvPr/>
          </p:nvSpPr>
          <p:spPr bwMode="auto">
            <a:xfrm>
              <a:off x="804" y="2015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Oval 164"/>
            <p:cNvSpPr>
              <a:spLocks noChangeArrowheads="1"/>
            </p:cNvSpPr>
            <p:nvPr/>
          </p:nvSpPr>
          <p:spPr bwMode="auto">
            <a:xfrm>
              <a:off x="804" y="2277"/>
              <a:ext cx="50" cy="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Oval 165"/>
            <p:cNvSpPr>
              <a:spLocks noChangeArrowheads="1"/>
            </p:cNvSpPr>
            <p:nvPr/>
          </p:nvSpPr>
          <p:spPr bwMode="auto">
            <a:xfrm>
              <a:off x="804" y="2540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Oval 166"/>
            <p:cNvSpPr>
              <a:spLocks noChangeArrowheads="1"/>
            </p:cNvSpPr>
            <p:nvPr/>
          </p:nvSpPr>
          <p:spPr bwMode="auto">
            <a:xfrm>
              <a:off x="804" y="2802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" name="Text Box 167"/>
          <p:cNvSpPr txBox="1">
            <a:spLocks noChangeArrowheads="1"/>
          </p:cNvSpPr>
          <p:nvPr/>
        </p:nvSpPr>
        <p:spPr bwMode="auto">
          <a:xfrm>
            <a:off x="5911850" y="5400675"/>
            <a:ext cx="2943225" cy="469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=1-598/1500=0.601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1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0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4330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1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Box 2"/>
          <p:cNvSpPr txBox="1">
            <a:spLocks noChangeArrowheads="1"/>
          </p:cNvSpPr>
          <p:nvPr/>
        </p:nvSpPr>
        <p:spPr bwMode="auto">
          <a:xfrm>
            <a:off x="563563" y="711200"/>
            <a:ext cx="296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）固结年限计算：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97" name="Text Box 3"/>
          <p:cNvSpPr txBox="1">
            <a:spLocks noChangeArrowheads="1"/>
          </p:cNvSpPr>
          <p:nvPr/>
        </p:nvSpPr>
        <p:spPr bwMode="auto">
          <a:xfrm>
            <a:off x="1757363" y="1585680"/>
            <a:ext cx="1449387" cy="469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=0.601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98" name="Text Box 4"/>
          <p:cNvSpPr txBox="1">
            <a:spLocks noChangeArrowheads="1"/>
          </p:cNvSpPr>
          <p:nvPr/>
        </p:nvSpPr>
        <p:spPr bwMode="auto">
          <a:xfrm>
            <a:off x="3554413" y="660400"/>
            <a:ext cx="2943225" cy="46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思路：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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T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v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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t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99" name="AutoShape 5"/>
          <p:cNvSpPr>
            <a:spLocks noChangeArrowheads="1"/>
          </p:cNvSpPr>
          <p:nvPr/>
        </p:nvSpPr>
        <p:spPr bwMode="auto">
          <a:xfrm>
            <a:off x="3246438" y="1655530"/>
            <a:ext cx="517525" cy="381000"/>
          </a:xfrm>
          <a:prstGeom prst="homePlate">
            <a:avLst>
              <a:gd name="adj" fmla="val 3395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Text Box 6"/>
          <p:cNvSpPr txBox="1">
            <a:spLocks noChangeArrowheads="1"/>
          </p:cNvSpPr>
          <p:nvPr/>
        </p:nvSpPr>
        <p:spPr bwMode="auto">
          <a:xfrm>
            <a:off x="4076700" y="1603143"/>
            <a:ext cx="2424113" cy="46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查表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v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=0.29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01" name="Object 7"/>
          <p:cNvGraphicFramePr>
            <a:graphicFrameLocks noChangeAspect="1"/>
          </p:cNvGraphicFramePr>
          <p:nvPr>
            <p:extLst/>
          </p:nvPr>
        </p:nvGraphicFramePr>
        <p:xfrm>
          <a:off x="2289176" y="2385988"/>
          <a:ext cx="5537654" cy="18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48" name="公式" r:id="rId3" imgW="2603160" imgH="863280" progId="Equation.3">
                  <p:embed/>
                </p:oleObj>
              </mc:Choice>
              <mc:Fallback>
                <p:oleObj name="公式" r:id="rId3" imgW="26031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6" y="2385988"/>
                        <a:ext cx="5537654" cy="18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8"/>
          <p:cNvGraphicFramePr>
            <a:graphicFrameLocks noChangeAspect="1"/>
          </p:cNvGraphicFramePr>
          <p:nvPr>
            <p:extLst/>
          </p:nvPr>
        </p:nvGraphicFramePr>
        <p:xfrm>
          <a:off x="2460625" y="4386156"/>
          <a:ext cx="4909004" cy="94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49" name="公式" r:id="rId5" imgW="2311200" imgH="444240" progId="Equation.3">
                  <p:embed/>
                </p:oleObj>
              </mc:Choice>
              <mc:Fallback>
                <p:oleObj name="公式" r:id="rId5" imgW="2311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4386156"/>
                        <a:ext cx="4909004" cy="94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4491038" y="5694363"/>
            <a:ext cx="1404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=3.25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</a:t>
            </a:r>
          </a:p>
        </p:txBody>
      </p:sp>
      <p:sp>
        <p:nvSpPr>
          <p:cNvPr id="104" name="AutoShape 10"/>
          <p:cNvSpPr>
            <a:spLocks noChangeArrowheads="1"/>
          </p:cNvSpPr>
          <p:nvPr/>
        </p:nvSpPr>
        <p:spPr bwMode="auto">
          <a:xfrm>
            <a:off x="3721100" y="5757863"/>
            <a:ext cx="517525" cy="381000"/>
          </a:xfrm>
          <a:prstGeom prst="homePlate">
            <a:avLst>
              <a:gd name="adj" fmla="val 3395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6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03636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 animBg="1"/>
      <p:bldP spid="100" grpId="0"/>
      <p:bldP spid="103" grpId="0"/>
      <p:bldP spid="10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2"/>
          <p:cNvSpPr txBox="1">
            <a:spLocks noChangeArrowheads="1"/>
          </p:cNvSpPr>
          <p:nvPr/>
        </p:nvSpPr>
        <p:spPr bwMode="auto">
          <a:xfrm>
            <a:off x="563563" y="711200"/>
            <a:ext cx="343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）后续沉降量计算：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85" name="Text Box 3"/>
          <p:cNvSpPr txBox="1">
            <a:spLocks noChangeArrowheads="1"/>
          </p:cNvSpPr>
          <p:nvPr/>
        </p:nvSpPr>
        <p:spPr bwMode="auto">
          <a:xfrm>
            <a:off x="4073525" y="660400"/>
            <a:ext cx="4286704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思路：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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T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v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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           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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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S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t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sym typeface="Wingdings" pitchFamily="2" charset="2"/>
            </a:endParaRPr>
          </a:p>
        </p:txBody>
      </p:sp>
      <p:sp>
        <p:nvSpPr>
          <p:cNvPr id="86" name="AutoShape 4"/>
          <p:cNvSpPr>
            <a:spLocks noChangeArrowheads="1"/>
          </p:cNvSpPr>
          <p:nvPr/>
        </p:nvSpPr>
        <p:spPr bwMode="auto">
          <a:xfrm>
            <a:off x="1661419" y="4924650"/>
            <a:ext cx="517525" cy="381000"/>
          </a:xfrm>
          <a:prstGeom prst="homePlate">
            <a:avLst>
              <a:gd name="adj" fmla="val 3395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Text Box 5"/>
          <p:cNvSpPr txBox="1">
            <a:spLocks noChangeArrowheads="1"/>
          </p:cNvSpPr>
          <p:nvPr/>
        </p:nvSpPr>
        <p:spPr bwMode="auto">
          <a:xfrm>
            <a:off x="6288305" y="2558516"/>
            <a:ext cx="2424113" cy="46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查表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=0.861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88" name="Object 6"/>
          <p:cNvGraphicFramePr>
            <a:graphicFrameLocks noChangeAspect="1"/>
          </p:cNvGraphicFramePr>
          <p:nvPr>
            <p:extLst/>
          </p:nvPr>
        </p:nvGraphicFramePr>
        <p:xfrm>
          <a:off x="1626999" y="2480812"/>
          <a:ext cx="386064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72" name="公式" r:id="rId3" imgW="1930320" imgH="393480" progId="Equation.3">
                  <p:embed/>
                </p:oleObj>
              </mc:Choice>
              <mc:Fallback>
                <p:oleObj name="公式" r:id="rId3" imgW="1930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999" y="2480812"/>
                        <a:ext cx="386064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Text Box 7"/>
          <p:cNvSpPr txBox="1">
            <a:spLocks noChangeArrowheads="1"/>
          </p:cNvSpPr>
          <p:nvPr/>
        </p:nvSpPr>
        <p:spPr bwMode="auto">
          <a:xfrm>
            <a:off x="1603824" y="1729471"/>
            <a:ext cx="314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t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3.25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+5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=8.25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</a:t>
            </a: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auto">
          <a:xfrm>
            <a:off x="5691652" y="2642964"/>
            <a:ext cx="517525" cy="381000"/>
          </a:xfrm>
          <a:prstGeom prst="homePlate">
            <a:avLst>
              <a:gd name="adj" fmla="val 3395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1" name="Object 9"/>
          <p:cNvGraphicFramePr>
            <a:graphicFrameLocks noChangeAspect="1"/>
          </p:cNvGraphicFramePr>
          <p:nvPr>
            <p:extLst/>
          </p:nvPr>
        </p:nvGraphicFramePr>
        <p:xfrm>
          <a:off x="1661922" y="3758974"/>
          <a:ext cx="426672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73" name="公式" r:id="rId5" imgW="2133360" imgH="431640" progId="Equation.3">
                  <p:embed/>
                </p:oleObj>
              </mc:Choice>
              <mc:Fallback>
                <p:oleObj name="公式" r:id="rId5" imgW="2133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922" y="3758974"/>
                        <a:ext cx="426672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2367630" y="4887686"/>
            <a:ext cx="591343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后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年产生的沉降量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S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= (0.861-0.601)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27.3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                          =7.1cm                                      </a:t>
            </a:r>
          </a:p>
        </p:txBody>
      </p:sp>
      <p:sp>
        <p:nvSpPr>
          <p:cNvPr id="9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07085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 animBg="1"/>
      <p:bldP spid="87" grpId="0"/>
      <p:bldP spid="89" grpId="0"/>
      <p:bldP spid="90" grpId="0" animBg="1"/>
      <p:bldP spid="9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32362</TotalTime>
  <Words>1757</Words>
  <Application>Microsoft Office PowerPoint</Application>
  <PresentationFormat>全屏显示(4:3)</PresentationFormat>
  <Paragraphs>416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Microsoft Yahei</vt:lpstr>
      <vt:lpstr>仿宋体</vt:lpstr>
      <vt:lpstr>黑体</vt:lpstr>
      <vt:lpstr>华文新魏</vt:lpstr>
      <vt:lpstr>宋体</vt:lpstr>
      <vt:lpstr>幼圆</vt:lpstr>
      <vt:lpstr>Arial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yinwj18</cp:lastModifiedBy>
  <cp:revision>2463</cp:revision>
  <dcterms:created xsi:type="dcterms:W3CDTF">1601-01-01T00:00:00Z</dcterms:created>
  <dcterms:modified xsi:type="dcterms:W3CDTF">2020-10-29T10:18:06Z</dcterms:modified>
</cp:coreProperties>
</file>