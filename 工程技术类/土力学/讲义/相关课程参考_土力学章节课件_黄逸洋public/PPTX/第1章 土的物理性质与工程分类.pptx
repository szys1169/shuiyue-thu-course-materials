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0" r:id="rId1"/>
    <p:sldMasterId id="2147483768" r:id="rId2"/>
  </p:sldMasterIdLst>
  <p:notesMasterIdLst>
    <p:notesMasterId r:id="rId120"/>
  </p:notesMasterIdLst>
  <p:handoutMasterIdLst>
    <p:handoutMasterId r:id="rId121"/>
  </p:handoutMasterIdLst>
  <p:sldIdLst>
    <p:sldId id="256" r:id="rId3"/>
    <p:sldId id="766" r:id="rId4"/>
    <p:sldId id="712" r:id="rId5"/>
    <p:sldId id="701" r:id="rId6"/>
    <p:sldId id="711" r:id="rId7"/>
    <p:sldId id="816" r:id="rId8"/>
    <p:sldId id="817" r:id="rId9"/>
    <p:sldId id="818" r:id="rId10"/>
    <p:sldId id="819" r:id="rId11"/>
    <p:sldId id="820" r:id="rId12"/>
    <p:sldId id="821" r:id="rId13"/>
    <p:sldId id="822" r:id="rId14"/>
    <p:sldId id="823" r:id="rId15"/>
    <p:sldId id="720" r:id="rId16"/>
    <p:sldId id="824" r:id="rId17"/>
    <p:sldId id="804" r:id="rId18"/>
    <p:sldId id="721" r:id="rId19"/>
    <p:sldId id="825" r:id="rId20"/>
    <p:sldId id="826" r:id="rId21"/>
    <p:sldId id="827" r:id="rId22"/>
    <p:sldId id="828" r:id="rId23"/>
    <p:sldId id="829" r:id="rId24"/>
    <p:sldId id="830" r:id="rId25"/>
    <p:sldId id="831" r:id="rId26"/>
    <p:sldId id="832" r:id="rId27"/>
    <p:sldId id="833" r:id="rId28"/>
    <p:sldId id="834" r:id="rId29"/>
    <p:sldId id="835" r:id="rId30"/>
    <p:sldId id="836" r:id="rId31"/>
    <p:sldId id="837" r:id="rId32"/>
    <p:sldId id="838" r:id="rId33"/>
    <p:sldId id="839" r:id="rId34"/>
    <p:sldId id="840" r:id="rId35"/>
    <p:sldId id="841" r:id="rId36"/>
    <p:sldId id="842" r:id="rId37"/>
    <p:sldId id="843" r:id="rId38"/>
    <p:sldId id="844" r:id="rId39"/>
    <p:sldId id="845" r:id="rId40"/>
    <p:sldId id="846" r:id="rId41"/>
    <p:sldId id="847" r:id="rId42"/>
    <p:sldId id="848" r:id="rId43"/>
    <p:sldId id="849" r:id="rId44"/>
    <p:sldId id="850" r:id="rId45"/>
    <p:sldId id="851" r:id="rId46"/>
    <p:sldId id="852" r:id="rId47"/>
    <p:sldId id="744" r:id="rId48"/>
    <p:sldId id="745" r:id="rId49"/>
    <p:sldId id="853" r:id="rId50"/>
    <p:sldId id="854" r:id="rId51"/>
    <p:sldId id="855" r:id="rId52"/>
    <p:sldId id="856" r:id="rId53"/>
    <p:sldId id="857" r:id="rId54"/>
    <p:sldId id="858" r:id="rId55"/>
    <p:sldId id="859" r:id="rId56"/>
    <p:sldId id="860" r:id="rId57"/>
    <p:sldId id="861" r:id="rId58"/>
    <p:sldId id="862" r:id="rId59"/>
    <p:sldId id="863" r:id="rId60"/>
    <p:sldId id="864" r:id="rId61"/>
    <p:sldId id="865" r:id="rId62"/>
    <p:sldId id="866" r:id="rId63"/>
    <p:sldId id="867" r:id="rId64"/>
    <p:sldId id="868" r:id="rId65"/>
    <p:sldId id="869" r:id="rId66"/>
    <p:sldId id="870" r:id="rId67"/>
    <p:sldId id="871" r:id="rId68"/>
    <p:sldId id="872" r:id="rId69"/>
    <p:sldId id="873" r:id="rId70"/>
    <p:sldId id="874" r:id="rId71"/>
    <p:sldId id="875" r:id="rId72"/>
    <p:sldId id="876" r:id="rId73"/>
    <p:sldId id="877" r:id="rId74"/>
    <p:sldId id="878" r:id="rId75"/>
    <p:sldId id="879" r:id="rId76"/>
    <p:sldId id="880" r:id="rId77"/>
    <p:sldId id="881" r:id="rId78"/>
    <p:sldId id="770" r:id="rId79"/>
    <p:sldId id="882" r:id="rId80"/>
    <p:sldId id="883" r:id="rId81"/>
    <p:sldId id="884" r:id="rId82"/>
    <p:sldId id="885" r:id="rId83"/>
    <p:sldId id="886" r:id="rId84"/>
    <p:sldId id="887" r:id="rId85"/>
    <p:sldId id="888" r:id="rId86"/>
    <p:sldId id="889" r:id="rId87"/>
    <p:sldId id="890" r:id="rId88"/>
    <p:sldId id="891" r:id="rId89"/>
    <p:sldId id="892" r:id="rId90"/>
    <p:sldId id="893" r:id="rId91"/>
    <p:sldId id="894" r:id="rId92"/>
    <p:sldId id="895" r:id="rId93"/>
    <p:sldId id="896" r:id="rId94"/>
    <p:sldId id="897" r:id="rId95"/>
    <p:sldId id="898" r:id="rId96"/>
    <p:sldId id="899" r:id="rId97"/>
    <p:sldId id="900" r:id="rId98"/>
    <p:sldId id="901" r:id="rId99"/>
    <p:sldId id="920" r:id="rId100"/>
    <p:sldId id="903" r:id="rId101"/>
    <p:sldId id="904" r:id="rId102"/>
    <p:sldId id="905" r:id="rId103"/>
    <p:sldId id="906" r:id="rId104"/>
    <p:sldId id="919" r:id="rId105"/>
    <p:sldId id="907" r:id="rId106"/>
    <p:sldId id="908" r:id="rId107"/>
    <p:sldId id="909" r:id="rId108"/>
    <p:sldId id="910" r:id="rId109"/>
    <p:sldId id="794" r:id="rId110"/>
    <p:sldId id="911" r:id="rId111"/>
    <p:sldId id="912" r:id="rId112"/>
    <p:sldId id="913" r:id="rId113"/>
    <p:sldId id="914" r:id="rId114"/>
    <p:sldId id="915" r:id="rId115"/>
    <p:sldId id="916" r:id="rId116"/>
    <p:sldId id="917" r:id="rId117"/>
    <p:sldId id="918" r:id="rId118"/>
    <p:sldId id="815" r:id="rId119"/>
  </p:sldIdLst>
  <p:sldSz cx="9144000" cy="6858000" type="screen4x3"/>
  <p:notesSz cx="6761163" cy="9942513"/>
  <p:defaultTex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 orient="horz" pos="2500" userDrawn="1">
          <p15:clr>
            <a:srgbClr val="A4A3A4"/>
          </p15:clr>
        </p15:guide>
        <p15:guide id="2" orient="horz" pos="1393">
          <p15:clr>
            <a:srgbClr val="A4A3A4"/>
          </p15:clr>
        </p15:guide>
        <p15:guide id="3" pos="1756">
          <p15:clr>
            <a:srgbClr val="A4A3A4"/>
          </p15:clr>
        </p15:guide>
      </p15:sldGuideLst>
    </p:ext>
    <p:ext uri="{2D200454-40CA-4A62-9FC3-DE9A4176ACB9}">
      <p15:notesGuideLst xmlns:p15="http://schemas.microsoft.com/office/powerpoint/2012/main">
        <p15:guide id="1" orient="horz" pos="2145">
          <p15:clr>
            <a:srgbClr val="A4A3A4"/>
          </p15:clr>
        </p15:guide>
        <p15:guide id="2" pos="892">
          <p15:clr>
            <a:srgbClr val="A4A3A4"/>
          </p15:clr>
        </p15:guide>
        <p15:guide id="3" orient="horz" pos="2332">
          <p15:clr>
            <a:srgbClr val="A4A3A4"/>
          </p15:clr>
        </p15:guide>
        <p15:guide id="4" pos="87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FFFF99"/>
    <a:srgbClr val="FF9900"/>
    <a:srgbClr val="CC0000"/>
    <a:srgbClr val="FFFFFF"/>
    <a:srgbClr val="FFCC00"/>
    <a:srgbClr val="3366FF"/>
    <a:srgbClr val="0033CC"/>
    <a:srgbClr val="FAC09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04" autoAdjust="0"/>
    <p:restoredTop sz="90495" autoAdjust="0"/>
  </p:normalViewPr>
  <p:slideViewPr>
    <p:cSldViewPr snapToGrid="0" showGuides="1">
      <p:cViewPr>
        <p:scale>
          <a:sx n="70" d="100"/>
          <a:sy n="70" d="100"/>
        </p:scale>
        <p:origin x="1072" y="120"/>
      </p:cViewPr>
      <p:guideLst>
        <p:guide orient="horz" pos="2500"/>
        <p:guide orient="horz" pos="1393"/>
        <p:guide pos="17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454"/>
    </p:cViewPr>
  </p:sorterViewPr>
  <p:notesViewPr>
    <p:cSldViewPr snapToGrid="0" showGuides="1">
      <p:cViewPr>
        <p:scale>
          <a:sx n="100" d="100"/>
          <a:sy n="100" d="100"/>
        </p:scale>
        <p:origin x="-1160" y="-48"/>
      </p:cViewPr>
      <p:guideLst>
        <p:guide orient="horz" pos="2145"/>
        <p:guide pos="892"/>
        <p:guide orient="horz" pos="2332"/>
        <p:guide pos="87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theme" Target="theme/theme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notesMaster" Target="notesMasters/notesMaster1.xml"/><Relationship Id="rId125"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handoutMaster" Target="handoutMasters/handout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4" Type="http://schemas.openxmlformats.org/officeDocument/2006/relationships/image" Target="../media/image3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4" Type="http://schemas.openxmlformats.org/officeDocument/2006/relationships/image" Target="../media/image42.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5" Type="http://schemas.openxmlformats.org/officeDocument/2006/relationships/image" Target="../media/image49.wmf"/><Relationship Id="rId4" Type="http://schemas.openxmlformats.org/officeDocument/2006/relationships/image" Target="../media/image48.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29837" cy="49712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spcAft>
                <a:spcPct val="0"/>
              </a:spcAft>
              <a:defRPr kumimoji="1" sz="1200">
                <a:ea typeface="宋体" pitchFamily="2" charset="-122"/>
              </a:defRPr>
            </a:lvl1pPr>
          </a:lstStyle>
          <a:p>
            <a:pPr>
              <a:defRPr/>
            </a:pPr>
            <a:endParaRPr lang="zh-CN" altLang="en-US"/>
          </a:p>
        </p:txBody>
      </p:sp>
      <p:sp>
        <p:nvSpPr>
          <p:cNvPr id="26627" name="Rectangle 3"/>
          <p:cNvSpPr>
            <a:spLocks noGrp="1" noChangeArrowheads="1"/>
          </p:cNvSpPr>
          <p:nvPr>
            <p:ph type="dt" sz="quarter" idx="1"/>
          </p:nvPr>
        </p:nvSpPr>
        <p:spPr bwMode="auto">
          <a:xfrm>
            <a:off x="3831326" y="0"/>
            <a:ext cx="2929837" cy="49712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spcAft>
                <a:spcPct val="0"/>
              </a:spcAft>
              <a:defRPr kumimoji="1" sz="1200">
                <a:ea typeface="宋体" pitchFamily="2" charset="-122"/>
              </a:defRPr>
            </a:lvl1pPr>
          </a:lstStyle>
          <a:p>
            <a:pPr>
              <a:defRPr/>
            </a:pPr>
            <a:endParaRPr lang="en-US" altLang="zh-CN"/>
          </a:p>
        </p:txBody>
      </p:sp>
      <p:sp>
        <p:nvSpPr>
          <p:cNvPr id="26628" name="Rectangle 4"/>
          <p:cNvSpPr>
            <a:spLocks noGrp="1" noChangeArrowheads="1"/>
          </p:cNvSpPr>
          <p:nvPr>
            <p:ph type="ftr" sz="quarter" idx="2"/>
          </p:nvPr>
        </p:nvSpPr>
        <p:spPr bwMode="auto">
          <a:xfrm>
            <a:off x="0" y="9445387"/>
            <a:ext cx="2929837" cy="49712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spcAft>
                <a:spcPct val="0"/>
              </a:spcAft>
              <a:defRPr kumimoji="1" sz="1200">
                <a:ea typeface="宋体" pitchFamily="2" charset="-122"/>
              </a:defRPr>
            </a:lvl1pPr>
          </a:lstStyle>
          <a:p>
            <a:pPr>
              <a:defRPr/>
            </a:pPr>
            <a:endParaRPr lang="en-US" altLang="zh-CN"/>
          </a:p>
        </p:txBody>
      </p:sp>
      <p:sp>
        <p:nvSpPr>
          <p:cNvPr id="26629" name="Rectangle 5"/>
          <p:cNvSpPr>
            <a:spLocks noGrp="1" noChangeArrowheads="1"/>
          </p:cNvSpPr>
          <p:nvPr>
            <p:ph type="sldNum" sz="quarter" idx="3"/>
          </p:nvPr>
        </p:nvSpPr>
        <p:spPr bwMode="auto">
          <a:xfrm>
            <a:off x="3831326" y="9445387"/>
            <a:ext cx="2929837" cy="49712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spcAft>
                <a:spcPct val="0"/>
              </a:spcAft>
              <a:defRPr kumimoji="1" sz="1200">
                <a:ea typeface="宋体" pitchFamily="2" charset="-122"/>
              </a:defRPr>
            </a:lvl1pPr>
          </a:lstStyle>
          <a:p>
            <a:pPr>
              <a:defRPr/>
            </a:pPr>
            <a:fld id="{0AEE1E11-75BE-4250-851F-1FEEAA51AB72}" type="slidenum">
              <a:rPr lang="zh-CN" altLang="en-US"/>
              <a:pPr>
                <a:defRPr/>
              </a:pPr>
              <a:t>‹#›</a:t>
            </a:fld>
            <a:endParaRPr lang="en-US" altLang="zh-CN"/>
          </a:p>
        </p:txBody>
      </p:sp>
    </p:spTree>
    <p:extLst>
      <p:ext uri="{BB962C8B-B14F-4D97-AF65-F5344CB8AC3E}">
        <p14:creationId xmlns:p14="http://schemas.microsoft.com/office/powerpoint/2010/main" val="29563722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5154" name="Rectangle 2"/>
          <p:cNvSpPr>
            <a:spLocks noGrp="1" noChangeArrowheads="1"/>
          </p:cNvSpPr>
          <p:nvPr>
            <p:ph type="hdr" sz="quarter"/>
          </p:nvPr>
        </p:nvSpPr>
        <p:spPr bwMode="auto">
          <a:xfrm>
            <a:off x="0" y="0"/>
            <a:ext cx="2929837" cy="49712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spcAft>
                <a:spcPct val="0"/>
              </a:spcAft>
              <a:defRPr kumimoji="1" sz="1200">
                <a:ea typeface="宋体" pitchFamily="2" charset="-122"/>
              </a:defRPr>
            </a:lvl1pPr>
          </a:lstStyle>
          <a:p>
            <a:pPr>
              <a:defRPr/>
            </a:pPr>
            <a:endParaRPr lang="zh-CN" altLang="en-US"/>
          </a:p>
        </p:txBody>
      </p:sp>
      <p:sp>
        <p:nvSpPr>
          <p:cNvPr id="945155" name="Rectangle 3"/>
          <p:cNvSpPr>
            <a:spLocks noGrp="1" noChangeArrowheads="1"/>
          </p:cNvSpPr>
          <p:nvPr>
            <p:ph type="dt" idx="1"/>
          </p:nvPr>
        </p:nvSpPr>
        <p:spPr bwMode="auto">
          <a:xfrm>
            <a:off x="3829761" y="0"/>
            <a:ext cx="2929837" cy="49712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spcAft>
                <a:spcPct val="0"/>
              </a:spcAft>
              <a:defRPr kumimoji="1" sz="1200">
                <a:ea typeface="宋体" pitchFamily="2" charset="-122"/>
              </a:defRPr>
            </a:lvl1pPr>
          </a:lstStyle>
          <a:p>
            <a:pPr>
              <a:defRPr/>
            </a:pPr>
            <a:endParaRPr lang="en-US" altLang="zh-CN"/>
          </a:p>
        </p:txBody>
      </p:sp>
      <p:sp>
        <p:nvSpPr>
          <p:cNvPr id="102404" name="Rectangle 4"/>
          <p:cNvSpPr>
            <a:spLocks noGrp="1" noRot="1" noChangeAspect="1" noChangeArrowheads="1" noTextEdit="1"/>
          </p:cNvSpPr>
          <p:nvPr>
            <p:ph type="sldImg" idx="2"/>
          </p:nvPr>
        </p:nvSpPr>
        <p:spPr bwMode="auto">
          <a:xfrm>
            <a:off x="896938" y="746125"/>
            <a:ext cx="4967287"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5157" name="Rectangle 5"/>
          <p:cNvSpPr>
            <a:spLocks noGrp="1" noChangeArrowheads="1"/>
          </p:cNvSpPr>
          <p:nvPr>
            <p:ph type="body" sz="quarter" idx="3"/>
          </p:nvPr>
        </p:nvSpPr>
        <p:spPr bwMode="auto">
          <a:xfrm>
            <a:off x="676117" y="4722694"/>
            <a:ext cx="5408930" cy="4474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945158" name="Rectangle 6"/>
          <p:cNvSpPr>
            <a:spLocks noGrp="1" noChangeArrowheads="1"/>
          </p:cNvSpPr>
          <p:nvPr>
            <p:ph type="ftr" sz="quarter" idx="4"/>
          </p:nvPr>
        </p:nvSpPr>
        <p:spPr bwMode="auto">
          <a:xfrm>
            <a:off x="0" y="9443662"/>
            <a:ext cx="2929837" cy="49712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spcAft>
                <a:spcPct val="0"/>
              </a:spcAft>
              <a:defRPr kumimoji="1" sz="1200">
                <a:ea typeface="宋体" pitchFamily="2" charset="-122"/>
              </a:defRPr>
            </a:lvl1pPr>
          </a:lstStyle>
          <a:p>
            <a:pPr>
              <a:defRPr/>
            </a:pPr>
            <a:endParaRPr lang="en-US" altLang="zh-CN"/>
          </a:p>
        </p:txBody>
      </p:sp>
      <p:sp>
        <p:nvSpPr>
          <p:cNvPr id="945159" name="Rectangle 7"/>
          <p:cNvSpPr>
            <a:spLocks noGrp="1" noChangeArrowheads="1"/>
          </p:cNvSpPr>
          <p:nvPr>
            <p:ph type="sldNum" sz="quarter" idx="5"/>
          </p:nvPr>
        </p:nvSpPr>
        <p:spPr bwMode="auto">
          <a:xfrm>
            <a:off x="3829761" y="9443662"/>
            <a:ext cx="2929837" cy="49712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spcAft>
                <a:spcPct val="0"/>
              </a:spcAft>
              <a:defRPr kumimoji="1" sz="1200">
                <a:ea typeface="宋体" pitchFamily="2" charset="-122"/>
              </a:defRPr>
            </a:lvl1pPr>
          </a:lstStyle>
          <a:p>
            <a:pPr>
              <a:defRPr/>
            </a:pPr>
            <a:fld id="{8D6F3B87-4B13-45F1-8CF0-EFC998FC43CE}" type="slidenum">
              <a:rPr lang="zh-CN" altLang="en-US"/>
              <a:pPr>
                <a:defRPr/>
              </a:pPr>
              <a:t>‹#›</a:t>
            </a:fld>
            <a:endParaRPr lang="en-US" altLang="zh-CN"/>
          </a:p>
        </p:txBody>
      </p:sp>
    </p:spTree>
    <p:extLst>
      <p:ext uri="{BB962C8B-B14F-4D97-AF65-F5344CB8AC3E}">
        <p14:creationId xmlns:p14="http://schemas.microsoft.com/office/powerpoint/2010/main" val="35531974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vmlDrawing" Target="../drawings/vmlDrawing2.vml"/><Relationship Id="rId5" Type="http://schemas.openxmlformats.org/officeDocument/2006/relationships/image" Target="../media/image14.wmf"/><Relationship Id="rId4" Type="http://schemas.openxmlformats.org/officeDocument/2006/relationships/oleObject" Target="../embeddings/oleObject2.bin"/></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slide" Target="../slides/slide43.xml"/><Relationship Id="rId2" Type="http://schemas.openxmlformats.org/officeDocument/2006/relationships/notesMaster" Target="../notesMasters/notesMaster1.xml"/><Relationship Id="rId1" Type="http://schemas.openxmlformats.org/officeDocument/2006/relationships/vmlDrawing" Target="../drawings/vmlDrawing5.vml"/><Relationship Id="rId5" Type="http://schemas.openxmlformats.org/officeDocument/2006/relationships/image" Target="../media/image20.wmf"/><Relationship Id="rId4" Type="http://schemas.openxmlformats.org/officeDocument/2006/relationships/oleObject" Target="../embeddings/oleObject6.bin"/></Relationships>
</file>

<file path=ppt/notesSlides/_rels/notesSlide44.xml.rels><?xml version="1.0" encoding="UTF-8" standalone="yes"?>
<Relationships xmlns="http://schemas.openxmlformats.org/package/2006/relationships"><Relationship Id="rId3" Type="http://schemas.openxmlformats.org/officeDocument/2006/relationships/slide" Target="../slides/slide44.xml"/><Relationship Id="rId2" Type="http://schemas.openxmlformats.org/officeDocument/2006/relationships/notesMaster" Target="../notesMasters/notesMaster1.xml"/><Relationship Id="rId1" Type="http://schemas.openxmlformats.org/officeDocument/2006/relationships/vmlDrawing" Target="../drawings/vmlDrawing7.vml"/><Relationship Id="rId5" Type="http://schemas.openxmlformats.org/officeDocument/2006/relationships/image" Target="../media/image21.wmf"/><Relationship Id="rId4" Type="http://schemas.openxmlformats.org/officeDocument/2006/relationships/oleObject" Target="../embeddings/oleObject8.bin"/></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slide" Target="../slides/slide53.xml"/><Relationship Id="rId2" Type="http://schemas.openxmlformats.org/officeDocument/2006/relationships/notesMaster" Target="../notesMasters/notesMaster1.xml"/><Relationship Id="rId1" Type="http://schemas.openxmlformats.org/officeDocument/2006/relationships/vmlDrawing" Target="../drawings/vmlDrawing10.vml"/><Relationship Id="rId5" Type="http://schemas.openxmlformats.org/officeDocument/2006/relationships/image" Target="../media/image25.wmf"/><Relationship Id="rId4" Type="http://schemas.openxmlformats.org/officeDocument/2006/relationships/oleObject" Target="../embeddings/oleObject11.bin"/></Relationships>
</file>

<file path=ppt/notesSlides/_rels/notesSlide54.xml.rels><?xml version="1.0" encoding="UTF-8" standalone="yes"?>
<Relationships xmlns="http://schemas.openxmlformats.org/package/2006/relationships"><Relationship Id="rId3" Type="http://schemas.openxmlformats.org/officeDocument/2006/relationships/slide" Target="../slides/slide54.xml"/><Relationship Id="rId2" Type="http://schemas.openxmlformats.org/officeDocument/2006/relationships/notesMaster" Target="../notesMasters/notesMaster1.xml"/><Relationship Id="rId1" Type="http://schemas.openxmlformats.org/officeDocument/2006/relationships/vmlDrawing" Target="../drawings/vmlDrawing12.vml"/><Relationship Id="rId5" Type="http://schemas.openxmlformats.org/officeDocument/2006/relationships/image" Target="../media/image27.wmf"/><Relationship Id="rId4" Type="http://schemas.openxmlformats.org/officeDocument/2006/relationships/oleObject" Target="../embeddings/oleObject13.bin"/></Relationships>
</file>

<file path=ppt/notesSlides/_rels/notesSlide55.xml.rels><?xml version="1.0" encoding="UTF-8" standalone="yes"?>
<Relationships xmlns="http://schemas.openxmlformats.org/package/2006/relationships"><Relationship Id="rId3" Type="http://schemas.openxmlformats.org/officeDocument/2006/relationships/slide" Target="../slides/slide55.xml"/><Relationship Id="rId2" Type="http://schemas.openxmlformats.org/officeDocument/2006/relationships/notesMaster" Target="../notesMasters/notesMaster1.xml"/><Relationship Id="rId1" Type="http://schemas.openxmlformats.org/officeDocument/2006/relationships/vmlDrawing" Target="../drawings/vmlDrawing14.vml"/><Relationship Id="rId5" Type="http://schemas.openxmlformats.org/officeDocument/2006/relationships/image" Target="../media/image29.wmf"/><Relationship Id="rId4" Type="http://schemas.openxmlformats.org/officeDocument/2006/relationships/oleObject" Target="../embeddings/oleObject15.bin"/></Relationships>
</file>

<file path=ppt/notesSlides/_rels/notesSlide56.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slide" Target="../slides/slide56.xml"/><Relationship Id="rId7" Type="http://schemas.openxmlformats.org/officeDocument/2006/relationships/image" Target="../media/image35.wmf"/><Relationship Id="rId2" Type="http://schemas.openxmlformats.org/officeDocument/2006/relationships/notesMaster" Target="../notesMasters/notesMaster1.xml"/><Relationship Id="rId1" Type="http://schemas.openxmlformats.org/officeDocument/2006/relationships/vmlDrawing" Target="../drawings/vmlDrawing16.vml"/><Relationship Id="rId6" Type="http://schemas.openxmlformats.org/officeDocument/2006/relationships/oleObject" Target="../embeddings/oleObject21.bin"/><Relationship Id="rId5" Type="http://schemas.openxmlformats.org/officeDocument/2006/relationships/image" Target="../media/image34.wmf"/><Relationship Id="rId4" Type="http://schemas.openxmlformats.org/officeDocument/2006/relationships/oleObject" Target="../embeddings/oleObject20.bin"/><Relationship Id="rId9" Type="http://schemas.openxmlformats.org/officeDocument/2006/relationships/image" Target="../media/image36.wmf"/></Relationships>
</file>

<file path=ppt/notesSlides/_rels/notesSlide57.xml.rels><?xml version="1.0" encoding="UTF-8" standalone="yes"?>
<Relationships xmlns="http://schemas.openxmlformats.org/package/2006/relationships"><Relationship Id="rId3" Type="http://schemas.openxmlformats.org/officeDocument/2006/relationships/slide" Target="../slides/slide57.xml"/><Relationship Id="rId2" Type="http://schemas.openxmlformats.org/officeDocument/2006/relationships/notesMaster" Target="../notesMasters/notesMaster1.xml"/><Relationship Id="rId1" Type="http://schemas.openxmlformats.org/officeDocument/2006/relationships/vmlDrawing" Target="../drawings/vmlDrawing18.vml"/><Relationship Id="rId5" Type="http://schemas.openxmlformats.org/officeDocument/2006/relationships/image" Target="../media/image38.wmf"/><Relationship Id="rId4" Type="http://schemas.openxmlformats.org/officeDocument/2006/relationships/oleObject" Target="../embeddings/oleObject25.bin"/></Relationships>
</file>

<file path=ppt/notesSlides/_rels/notesSlide58.xml.rels><?xml version="1.0" encoding="UTF-8" standalone="yes"?>
<Relationships xmlns="http://schemas.openxmlformats.org/package/2006/relationships"><Relationship Id="rId3" Type="http://schemas.openxmlformats.org/officeDocument/2006/relationships/slide" Target="../slides/slide58.xml"/><Relationship Id="rId7" Type="http://schemas.openxmlformats.org/officeDocument/2006/relationships/image" Target="../media/image44.wmf"/><Relationship Id="rId2" Type="http://schemas.openxmlformats.org/officeDocument/2006/relationships/notesMaster" Target="../notesMasters/notesMaster1.xml"/><Relationship Id="rId1" Type="http://schemas.openxmlformats.org/officeDocument/2006/relationships/vmlDrawing" Target="../drawings/vmlDrawing20.vml"/><Relationship Id="rId6" Type="http://schemas.openxmlformats.org/officeDocument/2006/relationships/oleObject" Target="../embeddings/oleObject31.bin"/><Relationship Id="rId5" Type="http://schemas.openxmlformats.org/officeDocument/2006/relationships/image" Target="../media/image43.wmf"/><Relationship Id="rId4" Type="http://schemas.openxmlformats.org/officeDocument/2006/relationships/oleObject" Target="../embeddings/oleObject30.bin"/></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3" Type="http://schemas.openxmlformats.org/officeDocument/2006/relationships/slide" Target="../slides/slide63.xml"/><Relationship Id="rId2" Type="http://schemas.openxmlformats.org/officeDocument/2006/relationships/notesMaster" Target="../notesMasters/notesMaster1.xml"/><Relationship Id="rId1" Type="http://schemas.openxmlformats.org/officeDocument/2006/relationships/vmlDrawing" Target="../drawings/vmlDrawing23.vml"/><Relationship Id="rId5" Type="http://schemas.openxmlformats.org/officeDocument/2006/relationships/image" Target="../media/image51.wmf"/><Relationship Id="rId4" Type="http://schemas.openxmlformats.org/officeDocument/2006/relationships/oleObject" Target="../embeddings/oleObject38.bin"/></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slide" Target="../slides/slide65.xml"/><Relationship Id="rId2" Type="http://schemas.openxmlformats.org/officeDocument/2006/relationships/notesMaster" Target="../notesMasters/notesMaster1.xml"/><Relationship Id="rId1" Type="http://schemas.openxmlformats.org/officeDocument/2006/relationships/vmlDrawing" Target="../drawings/vmlDrawing25.vml"/><Relationship Id="rId5" Type="http://schemas.openxmlformats.org/officeDocument/2006/relationships/image" Target="../media/image53.wmf"/><Relationship Id="rId4" Type="http://schemas.openxmlformats.org/officeDocument/2006/relationships/oleObject" Target="../embeddings/oleObject41.bin"/></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3" Type="http://schemas.openxmlformats.org/officeDocument/2006/relationships/slide" Target="../slides/slide72.xml"/><Relationship Id="rId2" Type="http://schemas.openxmlformats.org/officeDocument/2006/relationships/notesMaster" Target="../notesMasters/notesMaster1.xml"/><Relationship Id="rId1" Type="http://schemas.openxmlformats.org/officeDocument/2006/relationships/vmlDrawing" Target="../drawings/vmlDrawing27.vml"/><Relationship Id="rId5" Type="http://schemas.openxmlformats.org/officeDocument/2006/relationships/image" Target="../media/image55.wmf"/><Relationship Id="rId4" Type="http://schemas.openxmlformats.org/officeDocument/2006/relationships/oleObject" Target="../embeddings/oleObject43.bin"/></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3" Type="http://schemas.openxmlformats.org/officeDocument/2006/relationships/slide" Target="../slides/slide75.xml"/><Relationship Id="rId2" Type="http://schemas.openxmlformats.org/officeDocument/2006/relationships/notesMaster" Target="../notesMasters/notesMaster1.xml"/><Relationship Id="rId1" Type="http://schemas.openxmlformats.org/officeDocument/2006/relationships/vmlDrawing" Target="../drawings/vmlDrawing30.vml"/><Relationship Id="rId5" Type="http://schemas.openxmlformats.org/officeDocument/2006/relationships/image" Target="../media/image58.wmf"/><Relationship Id="rId4" Type="http://schemas.openxmlformats.org/officeDocument/2006/relationships/oleObject" Target="../embeddings/oleObject46.bin"/></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3" Type="http://schemas.openxmlformats.org/officeDocument/2006/relationships/slide" Target="../slides/slide98.xml"/><Relationship Id="rId2" Type="http://schemas.openxmlformats.org/officeDocument/2006/relationships/notesMaster" Target="../notesMasters/notesMaster1.xml"/><Relationship Id="rId1" Type="http://schemas.openxmlformats.org/officeDocument/2006/relationships/vmlDrawing" Target="../drawings/vmlDrawing33.vml"/><Relationship Id="rId5" Type="http://schemas.openxmlformats.org/officeDocument/2006/relationships/image" Target="../media/image65.wmf"/><Relationship Id="rId4" Type="http://schemas.openxmlformats.org/officeDocument/2006/relationships/oleObject" Target="../embeddings/oleObject50.bin"/></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3" Type="http://schemas.openxmlformats.org/officeDocument/2006/relationships/slide" Target="../slides/slide101.xml"/><Relationship Id="rId2" Type="http://schemas.openxmlformats.org/officeDocument/2006/relationships/notesMaster" Target="../notesMasters/notesMaster1.xml"/><Relationship Id="rId1" Type="http://schemas.openxmlformats.org/officeDocument/2006/relationships/vmlDrawing" Target="../drawings/vmlDrawing35.vml"/><Relationship Id="rId5" Type="http://schemas.openxmlformats.org/officeDocument/2006/relationships/image" Target="../media/image66.wmf"/><Relationship Id="rId4" Type="http://schemas.openxmlformats.org/officeDocument/2006/relationships/oleObject" Target="../embeddings/oleObject52.bin"/></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3" Type="http://schemas.openxmlformats.org/officeDocument/2006/relationships/slide" Target="../slides/slide106.xml"/><Relationship Id="rId2" Type="http://schemas.openxmlformats.org/officeDocument/2006/relationships/notesMaster" Target="../notesMasters/notesMaster1.xml"/><Relationship Id="rId1" Type="http://schemas.openxmlformats.org/officeDocument/2006/relationships/vmlDrawing" Target="../drawings/vmlDrawing38.vml"/><Relationship Id="rId5" Type="http://schemas.openxmlformats.org/officeDocument/2006/relationships/image" Target="../media/image69.wmf"/><Relationship Id="rId4" Type="http://schemas.openxmlformats.org/officeDocument/2006/relationships/oleObject" Target="../embeddings/oleObject55.bin"/></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fld id="{784EF9CE-D498-4114-A6BE-F1DA6D2B0D4D}" type="slidenum">
              <a:rPr lang="zh-CN" altLang="en-US" sz="1200" smtClean="0"/>
              <a:pPr eaLnBrk="1" hangingPunct="1"/>
              <a:t>1</a:t>
            </a:fld>
            <a:endParaRPr lang="en-US" altLang="zh-CN" sz="1200"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smtClean="0">
              <a:ea typeface="宋体" charset="-122"/>
            </a:endParaRPr>
          </a:p>
        </p:txBody>
      </p:sp>
    </p:spTree>
    <p:extLst>
      <p:ext uri="{BB962C8B-B14F-4D97-AF65-F5344CB8AC3E}">
        <p14:creationId xmlns:p14="http://schemas.microsoft.com/office/powerpoint/2010/main" val="2575863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a:t>
            </a:fld>
            <a:endParaRPr lang="en-US" altLang="zh-CN"/>
          </a:p>
        </p:txBody>
      </p:sp>
    </p:spTree>
    <p:extLst>
      <p:ext uri="{BB962C8B-B14F-4D97-AF65-F5344CB8AC3E}">
        <p14:creationId xmlns:p14="http://schemas.microsoft.com/office/powerpoint/2010/main" val="142008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a:t>
            </a:fld>
            <a:endParaRPr lang="en-US" altLang="zh-CN"/>
          </a:p>
        </p:txBody>
      </p:sp>
    </p:spTree>
    <p:extLst>
      <p:ext uri="{BB962C8B-B14F-4D97-AF65-F5344CB8AC3E}">
        <p14:creationId xmlns:p14="http://schemas.microsoft.com/office/powerpoint/2010/main" val="2761287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a:t>
            </a:fld>
            <a:endParaRPr lang="en-US" altLang="zh-CN"/>
          </a:p>
        </p:txBody>
      </p:sp>
    </p:spTree>
    <p:extLst>
      <p:ext uri="{BB962C8B-B14F-4D97-AF65-F5344CB8AC3E}">
        <p14:creationId xmlns:p14="http://schemas.microsoft.com/office/powerpoint/2010/main" val="3386305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a:t>
            </a:fld>
            <a:endParaRPr lang="en-US" altLang="zh-CN"/>
          </a:p>
        </p:txBody>
      </p:sp>
    </p:spTree>
    <p:extLst>
      <p:ext uri="{BB962C8B-B14F-4D97-AF65-F5344CB8AC3E}">
        <p14:creationId xmlns:p14="http://schemas.microsoft.com/office/powerpoint/2010/main" val="3010394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a:t>
            </a:fld>
            <a:endParaRPr lang="en-US" altLang="zh-CN"/>
          </a:p>
        </p:txBody>
      </p:sp>
    </p:spTree>
    <p:extLst>
      <p:ext uri="{BB962C8B-B14F-4D97-AF65-F5344CB8AC3E}">
        <p14:creationId xmlns:p14="http://schemas.microsoft.com/office/powerpoint/2010/main" val="2457661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6117" y="4722693"/>
            <a:ext cx="5408930" cy="4630633"/>
          </a:xfrm>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a:t>
            </a:fld>
            <a:endParaRPr lang="en-US" altLang="zh-CN"/>
          </a:p>
        </p:txBody>
      </p:sp>
    </p:spTree>
    <p:extLst>
      <p:ext uri="{BB962C8B-B14F-4D97-AF65-F5344CB8AC3E}">
        <p14:creationId xmlns:p14="http://schemas.microsoft.com/office/powerpoint/2010/main" val="3155910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25000"/>
              </a:lnSpc>
              <a:spcBef>
                <a:spcPct val="30000"/>
              </a:spcBef>
              <a:spcAft>
                <a:spcPct val="0"/>
              </a:spcAft>
              <a:buClrTx/>
              <a:buSzTx/>
              <a:buFontTx/>
              <a:buNone/>
              <a:tabLst/>
              <a:defRPr/>
            </a:pPr>
            <a:endParaRPr kumimoji="1" lang="zh-CN" altLang="en-US" sz="1400" b="1" dirty="0" smtClean="0">
              <a:solidFill>
                <a:srgbClr val="A50021"/>
              </a:solidFill>
              <a:latin typeface="幼圆" pitchFamily="49" charset="-122"/>
              <a:ea typeface="幼圆" pitchFamily="49" charset="-122"/>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a:t>
            </a:fld>
            <a:endParaRPr lang="en-US" altLang="zh-CN"/>
          </a:p>
        </p:txBody>
      </p:sp>
    </p:spTree>
    <p:extLst>
      <p:ext uri="{BB962C8B-B14F-4D97-AF65-F5344CB8AC3E}">
        <p14:creationId xmlns:p14="http://schemas.microsoft.com/office/powerpoint/2010/main" val="2472455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a:t>
            </a:fld>
            <a:endParaRPr lang="en-US" altLang="zh-CN"/>
          </a:p>
        </p:txBody>
      </p:sp>
    </p:spTree>
    <p:extLst>
      <p:ext uri="{BB962C8B-B14F-4D97-AF65-F5344CB8AC3E}">
        <p14:creationId xmlns:p14="http://schemas.microsoft.com/office/powerpoint/2010/main" val="1302268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sz="1400" dirty="0">
              <a:latin typeface="+mn-ea"/>
              <a:ea typeface="+mn-ea"/>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a:t>
            </a:fld>
            <a:endParaRPr lang="en-US" altLang="zh-CN"/>
          </a:p>
        </p:txBody>
      </p:sp>
    </p:spTree>
    <p:extLst>
      <p:ext uri="{BB962C8B-B14F-4D97-AF65-F5344CB8AC3E}">
        <p14:creationId xmlns:p14="http://schemas.microsoft.com/office/powerpoint/2010/main" val="3547042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en-US" altLang="zh-CN" sz="1400" dirty="0">
              <a:latin typeface="+mn-ea"/>
              <a:ea typeface="+mn-ea"/>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11</a:t>
            </a:fld>
            <a:endParaRPr lang="en-US" altLang="zh-CN"/>
          </a:p>
        </p:txBody>
      </p:sp>
    </p:spTree>
    <p:extLst>
      <p:ext uri="{BB962C8B-B14F-4D97-AF65-F5344CB8AC3E}">
        <p14:creationId xmlns:p14="http://schemas.microsoft.com/office/powerpoint/2010/main" val="1378658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25000"/>
              </a:lnSpc>
              <a:spcBef>
                <a:spcPct val="30000"/>
              </a:spcBef>
              <a:spcAft>
                <a:spcPct val="0"/>
              </a:spcAft>
              <a:buClrTx/>
              <a:buSzTx/>
              <a:buFontTx/>
              <a:buNone/>
              <a:tabLst/>
              <a:defRPr/>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12</a:t>
            </a:fld>
            <a:endParaRPr lang="en-US" altLang="zh-CN"/>
          </a:p>
        </p:txBody>
      </p:sp>
    </p:spTree>
    <p:extLst>
      <p:ext uri="{BB962C8B-B14F-4D97-AF65-F5344CB8AC3E}">
        <p14:creationId xmlns:p14="http://schemas.microsoft.com/office/powerpoint/2010/main" val="1967607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13</a:t>
            </a:fld>
            <a:endParaRPr lang="en-US" altLang="zh-CN"/>
          </a:p>
        </p:txBody>
      </p:sp>
    </p:spTree>
    <p:extLst>
      <p:ext uri="{BB962C8B-B14F-4D97-AF65-F5344CB8AC3E}">
        <p14:creationId xmlns:p14="http://schemas.microsoft.com/office/powerpoint/2010/main" val="3449411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14</a:t>
            </a:fld>
            <a:endParaRPr lang="en-US" altLang="zh-CN"/>
          </a:p>
        </p:txBody>
      </p:sp>
    </p:spTree>
    <p:extLst>
      <p:ext uri="{BB962C8B-B14F-4D97-AF65-F5344CB8AC3E}">
        <p14:creationId xmlns:p14="http://schemas.microsoft.com/office/powerpoint/2010/main" val="469470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15</a:t>
            </a:fld>
            <a:endParaRPr lang="en-US" altLang="zh-CN"/>
          </a:p>
        </p:txBody>
      </p:sp>
    </p:spTree>
    <p:extLst>
      <p:ext uri="{BB962C8B-B14F-4D97-AF65-F5344CB8AC3E}">
        <p14:creationId xmlns:p14="http://schemas.microsoft.com/office/powerpoint/2010/main" val="2879182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16</a:t>
            </a:fld>
            <a:endParaRPr lang="en-US" altLang="zh-CN"/>
          </a:p>
        </p:txBody>
      </p:sp>
    </p:spTree>
    <p:extLst>
      <p:ext uri="{BB962C8B-B14F-4D97-AF65-F5344CB8AC3E}">
        <p14:creationId xmlns:p14="http://schemas.microsoft.com/office/powerpoint/2010/main" val="5472929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17</a:t>
            </a:fld>
            <a:endParaRPr lang="en-US" altLang="zh-CN"/>
          </a:p>
        </p:txBody>
      </p:sp>
    </p:spTree>
    <p:extLst>
      <p:ext uri="{BB962C8B-B14F-4D97-AF65-F5344CB8AC3E}">
        <p14:creationId xmlns:p14="http://schemas.microsoft.com/office/powerpoint/2010/main" val="1887410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6116" y="4722694"/>
            <a:ext cx="5826286" cy="4474131"/>
          </a:xfrm>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18</a:t>
            </a:fld>
            <a:endParaRPr lang="en-US" altLang="zh-CN"/>
          </a:p>
        </p:txBody>
      </p:sp>
    </p:spTree>
    <p:extLst>
      <p:ext uri="{BB962C8B-B14F-4D97-AF65-F5344CB8AC3E}">
        <p14:creationId xmlns:p14="http://schemas.microsoft.com/office/powerpoint/2010/main" val="14515431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6116" y="4722694"/>
            <a:ext cx="5477033" cy="4474131"/>
          </a:xfrm>
        </p:spPr>
        <p:txBody>
          <a:bodyPr/>
          <a:lstStyle/>
          <a:p>
            <a:pPr lvl="0">
              <a:lnSpc>
                <a:spcPct val="125000"/>
              </a:lnSpc>
            </a:pPr>
            <a:endParaRPr lang="en-US" altLang="zh-CN"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19</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011083015"/>
              </p:ext>
            </p:extLst>
          </p:nvPr>
        </p:nvGraphicFramePr>
        <p:xfrm>
          <a:off x="1924792" y="7717479"/>
          <a:ext cx="2468660" cy="480295"/>
        </p:xfrm>
        <a:graphic>
          <a:graphicData uri="http://schemas.openxmlformats.org/presentationml/2006/ole">
            <mc:AlternateContent xmlns:mc="http://schemas.openxmlformats.org/markup-compatibility/2006">
              <mc:Choice xmlns:v="urn:schemas-microsoft-com:vml" Requires="v">
                <p:oleObj spid="_x0000_s46197" name="公式" r:id="rId4" imgW="2374560" imgH="419040" progId="Equation.3">
                  <p:embed/>
                </p:oleObj>
              </mc:Choice>
              <mc:Fallback>
                <p:oleObj name="公式" r:id="rId4" imgW="2374560" imgH="419040" progId="Equation.3">
                  <p:embed/>
                  <p:pic>
                    <p:nvPicPr>
                      <p:cNvPr id="0" name=""/>
                      <p:cNvPicPr>
                        <a:picLocks noChangeAspect="1" noChangeArrowheads="1"/>
                      </p:cNvPicPr>
                      <p:nvPr/>
                    </p:nvPicPr>
                    <p:blipFill>
                      <a:blip r:embed="rId5"/>
                      <a:srcRect/>
                      <a:stretch>
                        <a:fillRect/>
                      </a:stretch>
                    </p:blipFill>
                    <p:spPr bwMode="auto">
                      <a:xfrm>
                        <a:off x="1924792" y="7717479"/>
                        <a:ext cx="2468660" cy="48029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4186113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20</a:t>
            </a:fld>
            <a:endParaRPr lang="en-US" altLang="zh-CN"/>
          </a:p>
        </p:txBody>
      </p:sp>
    </p:spTree>
    <p:extLst>
      <p:ext uri="{BB962C8B-B14F-4D97-AF65-F5344CB8AC3E}">
        <p14:creationId xmlns:p14="http://schemas.microsoft.com/office/powerpoint/2010/main" val="2418611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21</a:t>
            </a:fld>
            <a:endParaRPr lang="en-US" altLang="zh-CN"/>
          </a:p>
        </p:txBody>
      </p:sp>
    </p:spTree>
    <p:extLst>
      <p:ext uri="{BB962C8B-B14F-4D97-AF65-F5344CB8AC3E}">
        <p14:creationId xmlns:p14="http://schemas.microsoft.com/office/powerpoint/2010/main" val="2418611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r>
              <a:rPr lang="zh-CN" altLang="en-US" sz="1400" dirty="0">
                <a:solidFill>
                  <a:srgbClr val="000000"/>
                </a:solidFill>
              </a:rPr>
              <a:t>土的粒径级配累积曲线描述了一种土体当中，它的颗粒粒径的大小及分布的情况。</a:t>
            </a:r>
          </a:p>
          <a:p>
            <a:pPr lvl="0">
              <a:lnSpc>
                <a:spcPct val="125000"/>
              </a:lnSpc>
            </a:pPr>
            <a:r>
              <a:rPr lang="zh-CN" altLang="en-US" sz="1400" dirty="0">
                <a:solidFill>
                  <a:srgbClr val="000000"/>
                </a:solidFill>
              </a:rPr>
              <a:t>曲线上的两个点表示的是相应粒径范围内土颗粒所占的质量百分数。</a:t>
            </a:r>
          </a:p>
          <a:p>
            <a:pPr lvl="0">
              <a:lnSpc>
                <a:spcPct val="125000"/>
              </a:lnSpc>
            </a:pPr>
            <a:r>
              <a:rPr lang="zh-CN" altLang="en-US" sz="1400" dirty="0">
                <a:solidFill>
                  <a:srgbClr val="000000"/>
                </a:solidFill>
              </a:rPr>
              <a:t>图中该曲线的斜率具有明显的物理意义，其大小反映的是某粒径范围内颗粒含量的多少。</a:t>
            </a:r>
          </a:p>
          <a:p>
            <a:pPr lvl="0">
              <a:lnSpc>
                <a:spcPct val="125000"/>
              </a:lnSpc>
            </a:pPr>
            <a:r>
              <a:rPr lang="zh-CN" altLang="en-US" sz="1400" dirty="0">
                <a:solidFill>
                  <a:srgbClr val="000000"/>
                </a:solidFill>
              </a:rPr>
              <a:t>当曲线较陡时，表明相应粒组的含量较多。反之当曲线较缓时，表明相应粒组的含量较少，如果在级配累积曲线上出现了一个水平的平台，则表明在该种土中缺乏相应大小的粒组。</a:t>
            </a: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smtClean="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22</a:t>
            </a:fld>
            <a:endParaRPr lang="en-US" altLang="zh-CN"/>
          </a:p>
        </p:txBody>
      </p:sp>
    </p:spTree>
    <p:extLst>
      <p:ext uri="{BB962C8B-B14F-4D97-AF65-F5344CB8AC3E}">
        <p14:creationId xmlns:p14="http://schemas.microsoft.com/office/powerpoint/2010/main" val="35690044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23</a:t>
            </a:fld>
            <a:endParaRPr lang="en-US" altLang="zh-CN"/>
          </a:p>
        </p:txBody>
      </p:sp>
    </p:spTree>
    <p:extLst>
      <p:ext uri="{BB962C8B-B14F-4D97-AF65-F5344CB8AC3E}">
        <p14:creationId xmlns:p14="http://schemas.microsoft.com/office/powerpoint/2010/main" val="35690044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442397" y="4722693"/>
            <a:ext cx="6026618" cy="5017286"/>
          </a:xfrm>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24</a:t>
            </a:fld>
            <a:endParaRPr lang="en-US" altLang="zh-CN"/>
          </a:p>
        </p:txBody>
      </p:sp>
    </p:spTree>
    <p:extLst>
      <p:ext uri="{BB962C8B-B14F-4D97-AF65-F5344CB8AC3E}">
        <p14:creationId xmlns:p14="http://schemas.microsoft.com/office/powerpoint/2010/main" val="21424628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25</a:t>
            </a:fld>
            <a:endParaRPr lang="en-US" altLang="zh-CN"/>
          </a:p>
        </p:txBody>
      </p:sp>
    </p:spTree>
    <p:extLst>
      <p:ext uri="{BB962C8B-B14F-4D97-AF65-F5344CB8AC3E}">
        <p14:creationId xmlns:p14="http://schemas.microsoft.com/office/powerpoint/2010/main" val="32325008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sz="1200" b="1"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sz="1200" b="1" dirty="0" smtClean="0"/>
          </a:p>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26</a:t>
            </a:fld>
            <a:endParaRPr lang="en-US" altLang="zh-CN"/>
          </a:p>
        </p:txBody>
      </p:sp>
    </p:spTree>
    <p:extLst>
      <p:ext uri="{BB962C8B-B14F-4D97-AF65-F5344CB8AC3E}">
        <p14:creationId xmlns:p14="http://schemas.microsoft.com/office/powerpoint/2010/main" val="32325008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27</a:t>
            </a:fld>
            <a:endParaRPr lang="en-US" altLang="zh-CN"/>
          </a:p>
        </p:txBody>
      </p:sp>
    </p:spTree>
    <p:extLst>
      <p:ext uri="{BB962C8B-B14F-4D97-AF65-F5344CB8AC3E}">
        <p14:creationId xmlns:p14="http://schemas.microsoft.com/office/powerpoint/2010/main" val="38223127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28</a:t>
            </a:fld>
            <a:endParaRPr lang="en-US" altLang="zh-CN"/>
          </a:p>
        </p:txBody>
      </p:sp>
    </p:spTree>
    <p:extLst>
      <p:ext uri="{BB962C8B-B14F-4D97-AF65-F5344CB8AC3E}">
        <p14:creationId xmlns:p14="http://schemas.microsoft.com/office/powerpoint/2010/main" val="29780704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29</a:t>
            </a:fld>
            <a:endParaRPr lang="en-US" altLang="zh-CN"/>
          </a:p>
        </p:txBody>
      </p:sp>
    </p:spTree>
    <p:extLst>
      <p:ext uri="{BB962C8B-B14F-4D97-AF65-F5344CB8AC3E}">
        <p14:creationId xmlns:p14="http://schemas.microsoft.com/office/powerpoint/2010/main" val="15184219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30</a:t>
            </a:fld>
            <a:endParaRPr lang="en-US" altLang="zh-CN"/>
          </a:p>
        </p:txBody>
      </p:sp>
    </p:spTree>
    <p:extLst>
      <p:ext uri="{BB962C8B-B14F-4D97-AF65-F5344CB8AC3E}">
        <p14:creationId xmlns:p14="http://schemas.microsoft.com/office/powerpoint/2010/main" val="11618719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31</a:t>
            </a:fld>
            <a:endParaRPr lang="en-US" altLang="zh-CN"/>
          </a:p>
        </p:txBody>
      </p:sp>
    </p:spTree>
    <p:extLst>
      <p:ext uri="{BB962C8B-B14F-4D97-AF65-F5344CB8AC3E}">
        <p14:creationId xmlns:p14="http://schemas.microsoft.com/office/powerpoint/2010/main" val="29941542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32</a:t>
            </a:fld>
            <a:endParaRPr lang="en-US" altLang="zh-CN"/>
          </a:p>
        </p:txBody>
      </p:sp>
    </p:spTree>
    <p:extLst>
      <p:ext uri="{BB962C8B-B14F-4D97-AF65-F5344CB8AC3E}">
        <p14:creationId xmlns:p14="http://schemas.microsoft.com/office/powerpoint/2010/main" val="13685767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33</a:t>
            </a:fld>
            <a:endParaRPr lang="en-US" altLang="zh-CN"/>
          </a:p>
        </p:txBody>
      </p:sp>
    </p:spTree>
    <p:extLst>
      <p:ext uri="{BB962C8B-B14F-4D97-AF65-F5344CB8AC3E}">
        <p14:creationId xmlns:p14="http://schemas.microsoft.com/office/powerpoint/2010/main" val="25213665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34</a:t>
            </a:fld>
            <a:endParaRPr lang="en-US" altLang="zh-CN"/>
          </a:p>
        </p:txBody>
      </p:sp>
    </p:spTree>
    <p:extLst>
      <p:ext uri="{BB962C8B-B14F-4D97-AF65-F5344CB8AC3E}">
        <p14:creationId xmlns:p14="http://schemas.microsoft.com/office/powerpoint/2010/main" val="5984117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35</a:t>
            </a:fld>
            <a:endParaRPr lang="en-US" altLang="zh-CN"/>
          </a:p>
        </p:txBody>
      </p:sp>
    </p:spTree>
    <p:extLst>
      <p:ext uri="{BB962C8B-B14F-4D97-AF65-F5344CB8AC3E}">
        <p14:creationId xmlns:p14="http://schemas.microsoft.com/office/powerpoint/2010/main" val="37079550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36</a:t>
            </a:fld>
            <a:endParaRPr lang="en-US" altLang="zh-CN"/>
          </a:p>
        </p:txBody>
      </p:sp>
    </p:spTree>
    <p:extLst>
      <p:ext uri="{BB962C8B-B14F-4D97-AF65-F5344CB8AC3E}">
        <p14:creationId xmlns:p14="http://schemas.microsoft.com/office/powerpoint/2010/main" val="37079550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37</a:t>
            </a:fld>
            <a:endParaRPr lang="en-US" altLang="zh-CN"/>
          </a:p>
        </p:txBody>
      </p:sp>
    </p:spTree>
    <p:extLst>
      <p:ext uri="{BB962C8B-B14F-4D97-AF65-F5344CB8AC3E}">
        <p14:creationId xmlns:p14="http://schemas.microsoft.com/office/powerpoint/2010/main" val="15373679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38</a:t>
            </a:fld>
            <a:endParaRPr lang="en-US" altLang="zh-CN"/>
          </a:p>
        </p:txBody>
      </p:sp>
    </p:spTree>
    <p:extLst>
      <p:ext uri="{BB962C8B-B14F-4D97-AF65-F5344CB8AC3E}">
        <p14:creationId xmlns:p14="http://schemas.microsoft.com/office/powerpoint/2010/main" val="23723360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39</a:t>
            </a:fld>
            <a:endParaRPr lang="en-US" altLang="zh-CN"/>
          </a:p>
        </p:txBody>
      </p:sp>
    </p:spTree>
    <p:extLst>
      <p:ext uri="{BB962C8B-B14F-4D97-AF65-F5344CB8AC3E}">
        <p14:creationId xmlns:p14="http://schemas.microsoft.com/office/powerpoint/2010/main" val="25344857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40</a:t>
            </a:fld>
            <a:endParaRPr lang="en-US" altLang="zh-CN"/>
          </a:p>
        </p:txBody>
      </p:sp>
    </p:spTree>
    <p:extLst>
      <p:ext uri="{BB962C8B-B14F-4D97-AF65-F5344CB8AC3E}">
        <p14:creationId xmlns:p14="http://schemas.microsoft.com/office/powerpoint/2010/main" val="25344857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41</a:t>
            </a:fld>
            <a:endParaRPr lang="en-US" altLang="zh-CN"/>
          </a:p>
        </p:txBody>
      </p:sp>
    </p:spTree>
    <p:extLst>
      <p:ext uri="{BB962C8B-B14F-4D97-AF65-F5344CB8AC3E}">
        <p14:creationId xmlns:p14="http://schemas.microsoft.com/office/powerpoint/2010/main" val="38793466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321323" y="4722694"/>
            <a:ext cx="6176534" cy="4834056"/>
          </a:xfrm>
        </p:spPr>
        <p:txBody>
          <a:bodyPr/>
          <a:lstStyle/>
          <a:p>
            <a:endParaRPr lang="zh-CN" altLang="en-US" dirty="0" smtClean="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42</a:t>
            </a:fld>
            <a:endParaRPr lang="en-US" altLang="zh-CN"/>
          </a:p>
        </p:txBody>
      </p:sp>
    </p:spTree>
    <p:extLst>
      <p:ext uri="{BB962C8B-B14F-4D97-AF65-F5344CB8AC3E}">
        <p14:creationId xmlns:p14="http://schemas.microsoft.com/office/powerpoint/2010/main" val="30605187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210348" y="4722693"/>
            <a:ext cx="6453153" cy="4987828"/>
          </a:xfrm>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43</a:t>
            </a:fld>
            <a:endParaRPr lang="en-US" altLang="zh-CN"/>
          </a:p>
        </p:txBody>
      </p:sp>
      <p:graphicFrame>
        <p:nvGraphicFramePr>
          <p:cNvPr id="5" name="Object 61"/>
          <p:cNvGraphicFramePr>
            <a:graphicFrameLocks noChangeAspect="1"/>
          </p:cNvGraphicFramePr>
          <p:nvPr>
            <p:extLst>
              <p:ext uri="{D42A27DB-BD31-4B8C-83A1-F6EECF244321}">
                <p14:modId xmlns:p14="http://schemas.microsoft.com/office/powerpoint/2010/main" val="2508613976"/>
              </p:ext>
            </p:extLst>
          </p:nvPr>
        </p:nvGraphicFramePr>
        <p:xfrm>
          <a:off x="4274871" y="7348783"/>
          <a:ext cx="923712" cy="557242"/>
        </p:xfrm>
        <a:graphic>
          <a:graphicData uri="http://schemas.openxmlformats.org/presentationml/2006/ole">
            <mc:AlternateContent xmlns:mc="http://schemas.openxmlformats.org/markup-compatibility/2006">
              <mc:Choice xmlns:v="urn:schemas-microsoft-com:vml" Requires="v">
                <p:oleObj spid="_x0000_s86046" name="公式" r:id="rId4" imgW="812520" imgH="444240" progId="Equation.3">
                  <p:embed/>
                </p:oleObj>
              </mc:Choice>
              <mc:Fallback>
                <p:oleObj name="公式" r:id="rId4" imgW="812520" imgH="444240" progId="Equation.3">
                  <p:embed/>
                  <p:pic>
                    <p:nvPicPr>
                      <p:cNvPr id="0" name=""/>
                      <p:cNvPicPr>
                        <a:picLocks noChangeAspect="1" noChangeArrowheads="1"/>
                      </p:cNvPicPr>
                      <p:nvPr/>
                    </p:nvPicPr>
                    <p:blipFill>
                      <a:blip r:embed="rId5"/>
                      <a:srcRect/>
                      <a:stretch>
                        <a:fillRect/>
                      </a:stretch>
                    </p:blipFill>
                    <p:spPr bwMode="auto">
                      <a:xfrm>
                        <a:off x="4274871" y="7348783"/>
                        <a:ext cx="923712" cy="557242"/>
                      </a:xfrm>
                      <a:prstGeom prst="rect">
                        <a:avLst/>
                      </a:prstGeom>
                      <a:noFill/>
                      <a:ln>
                        <a:noFill/>
                      </a:ln>
                      <a:effectLst/>
                      <a:extLst/>
                    </p:spPr>
                  </p:pic>
                </p:oleObj>
              </mc:Fallback>
            </mc:AlternateContent>
          </a:graphicData>
        </a:graphic>
      </p:graphicFrame>
      <p:sp>
        <p:nvSpPr>
          <p:cNvPr id="6" name="Text Box 63"/>
          <p:cNvSpPr txBox="1">
            <a:spLocks noChangeArrowheads="1"/>
          </p:cNvSpPr>
          <p:nvPr/>
        </p:nvSpPr>
        <p:spPr bwMode="auto">
          <a:xfrm>
            <a:off x="4475202" y="6711196"/>
            <a:ext cx="151969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l-GR" altLang="zh-CN" b="1" dirty="0">
                <a:solidFill>
                  <a:srgbClr val="000066"/>
                </a:solidFill>
                <a:ea typeface="华文新魏" pitchFamily="2" charset="-122"/>
                <a:sym typeface="Symbol" pitchFamily="18" charset="2"/>
              </a:rPr>
              <a:t></a:t>
            </a:r>
            <a:r>
              <a:rPr kumimoji="1" lang="en-US" altLang="zh-CN" b="1" i="1" dirty="0">
                <a:solidFill>
                  <a:srgbClr val="000066"/>
                </a:solidFill>
                <a:ea typeface="华文新魏" pitchFamily="2" charset="-122"/>
                <a:cs typeface="Arial" charset="0"/>
              </a:rPr>
              <a:t>r</a:t>
            </a:r>
            <a:r>
              <a:rPr kumimoji="1" lang="en-US" altLang="zh-CN" b="1" baseline="30000" dirty="0">
                <a:solidFill>
                  <a:srgbClr val="000066"/>
                </a:solidFill>
                <a:ea typeface="华文新魏" pitchFamily="2" charset="-122"/>
                <a:cs typeface="Arial" charset="0"/>
              </a:rPr>
              <a:t>2</a:t>
            </a:r>
            <a:r>
              <a:rPr kumimoji="1" lang="en-US" altLang="zh-CN" b="1" i="1" dirty="0">
                <a:solidFill>
                  <a:srgbClr val="000066"/>
                </a:solidFill>
                <a:ea typeface="华文新魏" pitchFamily="2" charset="-122"/>
                <a:cs typeface="Arial" charset="0"/>
              </a:rPr>
              <a:t>h</a:t>
            </a:r>
            <a:r>
              <a:rPr kumimoji="1" lang="en-US" altLang="zh-CN" b="1" baseline="-25000" dirty="0">
                <a:solidFill>
                  <a:srgbClr val="000066"/>
                </a:solidFill>
                <a:ea typeface="华文新魏" pitchFamily="2" charset="-122"/>
                <a:cs typeface="Arial" charset="0"/>
              </a:rPr>
              <a:t>c</a:t>
            </a:r>
            <a:r>
              <a:rPr kumimoji="1" lang="el-GR" altLang="zh-CN" b="1" i="1" dirty="0">
                <a:solidFill>
                  <a:srgbClr val="000066"/>
                </a:solidFill>
                <a:ea typeface="华文新魏" pitchFamily="2" charset="-122"/>
                <a:cs typeface="Arial" charset="0"/>
                <a:sym typeface="Symbol" pitchFamily="18" charset="2"/>
              </a:rPr>
              <a:t></a:t>
            </a:r>
            <a:r>
              <a:rPr kumimoji="1" lang="en-US" altLang="zh-CN" b="1" baseline="-25000" dirty="0">
                <a:solidFill>
                  <a:srgbClr val="000066"/>
                </a:solidFill>
                <a:ea typeface="华文新魏" pitchFamily="2" charset="-122"/>
                <a:cs typeface="Arial" charset="0"/>
              </a:rPr>
              <a:t>w</a:t>
            </a:r>
            <a:r>
              <a:rPr kumimoji="1" lang="en-US" altLang="zh-CN" b="1" dirty="0">
                <a:solidFill>
                  <a:srgbClr val="000066"/>
                </a:solidFill>
                <a:ea typeface="华文新魏" pitchFamily="2" charset="-122"/>
                <a:cs typeface="Arial" charset="0"/>
              </a:rPr>
              <a:t>=2</a:t>
            </a:r>
            <a:r>
              <a:rPr kumimoji="1" lang="en-US" altLang="zh-CN" b="1" dirty="0">
                <a:solidFill>
                  <a:srgbClr val="000066"/>
                </a:solidFill>
                <a:ea typeface="华文新魏" pitchFamily="2" charset="-122"/>
                <a:cs typeface="Arial" charset="0"/>
                <a:sym typeface="Symbol" pitchFamily="18" charset="2"/>
              </a:rPr>
              <a:t></a:t>
            </a:r>
            <a:r>
              <a:rPr kumimoji="1" lang="en-US" altLang="zh-CN" b="1" i="1" dirty="0">
                <a:solidFill>
                  <a:srgbClr val="000066"/>
                </a:solidFill>
                <a:ea typeface="华文新魏" pitchFamily="2" charset="-122"/>
                <a:cs typeface="Arial" charset="0"/>
              </a:rPr>
              <a:t>rT</a:t>
            </a:r>
            <a:r>
              <a:rPr kumimoji="1" lang="en-US" altLang="zh-CN" b="1" dirty="0">
                <a:solidFill>
                  <a:srgbClr val="000066"/>
                </a:solidFill>
                <a:ea typeface="华文新魏" pitchFamily="2" charset="-122"/>
                <a:cs typeface="Arial" charset="0"/>
              </a:rPr>
              <a:t>cos</a:t>
            </a:r>
            <a:r>
              <a:rPr kumimoji="1" lang="en-US" altLang="zh-CN" b="1" i="1" dirty="0">
                <a:solidFill>
                  <a:srgbClr val="000066"/>
                </a:solidFill>
                <a:ea typeface="华文新魏" pitchFamily="2" charset="-122"/>
                <a:cs typeface="Arial" charset="0"/>
                <a:sym typeface="Symbol" pitchFamily="18" charset="2"/>
              </a:rPr>
              <a:t></a:t>
            </a:r>
            <a:endParaRPr kumimoji="1" lang="el-GR" altLang="zh-CN" b="1" i="1" dirty="0">
              <a:solidFill>
                <a:srgbClr val="000066"/>
              </a:solidFill>
              <a:ea typeface="华文新魏" pitchFamily="2" charset="-122"/>
              <a:cs typeface="Arial" charset="0"/>
            </a:endParaRPr>
          </a:p>
        </p:txBody>
      </p:sp>
    </p:spTree>
    <p:extLst>
      <p:ext uri="{BB962C8B-B14F-4D97-AF65-F5344CB8AC3E}">
        <p14:creationId xmlns:p14="http://schemas.microsoft.com/office/powerpoint/2010/main" val="42234148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44</a:t>
            </a:fld>
            <a:endParaRPr lang="en-US" altLang="zh-CN"/>
          </a:p>
        </p:txBody>
      </p:sp>
      <p:sp>
        <p:nvSpPr>
          <p:cNvPr id="5" name="Text Box 75"/>
          <p:cNvSpPr txBox="1">
            <a:spLocks noChangeArrowheads="1"/>
          </p:cNvSpPr>
          <p:nvPr/>
        </p:nvSpPr>
        <p:spPr bwMode="auto">
          <a:xfrm>
            <a:off x="1614646" y="6235935"/>
            <a:ext cx="148758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b="1" dirty="0">
                <a:ea typeface="华文新魏" pitchFamily="2" charset="-122"/>
                <a:cs typeface="Arial" charset="0"/>
              </a:rPr>
              <a:t>2</a:t>
            </a:r>
            <a:r>
              <a:rPr kumimoji="1" lang="el-GR" altLang="zh-CN" b="1" dirty="0">
                <a:ea typeface="华文新魏" pitchFamily="2" charset="-122"/>
                <a:cs typeface="Arial" charset="0"/>
              </a:rPr>
              <a:t>π</a:t>
            </a:r>
            <a:r>
              <a:rPr kumimoji="1" lang="en-US" altLang="zh-CN" b="1" i="1" dirty="0" err="1">
                <a:ea typeface="华文新魏" pitchFamily="2" charset="-122"/>
                <a:cs typeface="Arial" charset="0"/>
              </a:rPr>
              <a:t>rT</a:t>
            </a:r>
            <a:r>
              <a:rPr kumimoji="1" lang="en-US" altLang="zh-CN" b="1" dirty="0" err="1">
                <a:ea typeface="华文新魏" pitchFamily="2" charset="-122"/>
                <a:cs typeface="Arial" charset="0"/>
              </a:rPr>
              <a:t>cos</a:t>
            </a:r>
            <a:r>
              <a:rPr kumimoji="1" lang="el-GR" altLang="zh-CN" b="1" i="1" dirty="0">
                <a:ea typeface="华文新魏" pitchFamily="2" charset="-122"/>
                <a:cs typeface="Arial" charset="0"/>
              </a:rPr>
              <a:t>α</a:t>
            </a:r>
            <a:r>
              <a:rPr kumimoji="1" lang="en-US" altLang="zh-CN" b="1" dirty="0">
                <a:ea typeface="华文新魏" pitchFamily="2" charset="-122"/>
                <a:cs typeface="Arial" charset="0"/>
              </a:rPr>
              <a:t>+</a:t>
            </a:r>
            <a:r>
              <a:rPr kumimoji="1" lang="en-US" altLang="zh-CN" b="1" i="1" dirty="0" err="1">
                <a:ea typeface="华文新魏" pitchFamily="2" charset="-122"/>
                <a:cs typeface="Arial" charset="0"/>
              </a:rPr>
              <a:t>u</a:t>
            </a:r>
            <a:r>
              <a:rPr kumimoji="1" lang="en-US" altLang="zh-CN" b="1" i="1" baseline="-25000" dirty="0" err="1">
                <a:ea typeface="华文新魏" pitchFamily="2" charset="-122"/>
                <a:cs typeface="Arial" charset="0"/>
              </a:rPr>
              <a:t>c</a:t>
            </a:r>
            <a:r>
              <a:rPr kumimoji="1" lang="el-GR" altLang="zh-CN" b="1" dirty="0">
                <a:ea typeface="华文新魏" pitchFamily="2" charset="-122"/>
                <a:cs typeface="Arial" charset="0"/>
              </a:rPr>
              <a:t>π</a:t>
            </a:r>
            <a:r>
              <a:rPr kumimoji="1" lang="en-US" altLang="zh-CN" b="1" i="1" dirty="0">
                <a:ea typeface="华文新魏" pitchFamily="2" charset="-122"/>
                <a:cs typeface="Arial" charset="0"/>
              </a:rPr>
              <a:t>r</a:t>
            </a:r>
            <a:r>
              <a:rPr kumimoji="1" lang="en-US" altLang="zh-CN" b="1" baseline="30000" dirty="0">
                <a:ea typeface="华文新魏" pitchFamily="2" charset="-122"/>
                <a:cs typeface="Arial" charset="0"/>
              </a:rPr>
              <a:t>2  </a:t>
            </a:r>
            <a:r>
              <a:rPr kumimoji="1" lang="en-US" altLang="zh-CN" b="1" dirty="0">
                <a:ea typeface="华文新魏" pitchFamily="2" charset="-122"/>
                <a:cs typeface="Arial" charset="0"/>
              </a:rPr>
              <a:t>= 0</a:t>
            </a:r>
            <a:endParaRPr kumimoji="1" lang="el-GR" altLang="zh-CN" b="1" dirty="0">
              <a:ea typeface="华文新魏" pitchFamily="2" charset="-122"/>
              <a:cs typeface="Arial"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887037715"/>
              </p:ext>
            </p:extLst>
          </p:nvPr>
        </p:nvGraphicFramePr>
        <p:xfrm>
          <a:off x="2130601" y="7266107"/>
          <a:ext cx="807583" cy="286291"/>
        </p:xfrm>
        <a:graphic>
          <a:graphicData uri="http://schemas.openxmlformats.org/presentationml/2006/ole">
            <mc:AlternateContent xmlns:mc="http://schemas.openxmlformats.org/markup-compatibility/2006">
              <mc:Choice xmlns:v="urn:schemas-microsoft-com:vml" Requires="v">
                <p:oleObj spid="_x0000_s80929" name="公式" r:id="rId4" imgW="711000" imgH="228600" progId="Equation.3">
                  <p:embed/>
                </p:oleObj>
              </mc:Choice>
              <mc:Fallback>
                <p:oleObj name="公式" r:id="rId4" imgW="711000" imgH="228600" progId="Equation.3">
                  <p:embed/>
                  <p:pic>
                    <p:nvPicPr>
                      <p:cNvPr id="0" name=""/>
                      <p:cNvPicPr/>
                      <p:nvPr/>
                    </p:nvPicPr>
                    <p:blipFill>
                      <a:blip r:embed="rId5"/>
                      <a:stretch>
                        <a:fillRect/>
                      </a:stretch>
                    </p:blipFill>
                    <p:spPr>
                      <a:xfrm>
                        <a:off x="2130601" y="7266107"/>
                        <a:ext cx="807583" cy="286291"/>
                      </a:xfrm>
                      <a:prstGeom prst="rect">
                        <a:avLst/>
                      </a:prstGeom>
                    </p:spPr>
                  </p:pic>
                </p:oleObj>
              </mc:Fallback>
            </mc:AlternateContent>
          </a:graphicData>
        </a:graphic>
      </p:graphicFrame>
    </p:spTree>
    <p:extLst>
      <p:ext uri="{BB962C8B-B14F-4D97-AF65-F5344CB8AC3E}">
        <p14:creationId xmlns:p14="http://schemas.microsoft.com/office/powerpoint/2010/main" val="30060214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45</a:t>
            </a:fld>
            <a:endParaRPr lang="en-US" altLang="zh-CN"/>
          </a:p>
        </p:txBody>
      </p:sp>
    </p:spTree>
    <p:extLst>
      <p:ext uri="{BB962C8B-B14F-4D97-AF65-F5344CB8AC3E}">
        <p14:creationId xmlns:p14="http://schemas.microsoft.com/office/powerpoint/2010/main" val="21171808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598018" y="4722694"/>
            <a:ext cx="5721326" cy="4474131"/>
          </a:xfrm>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46</a:t>
            </a:fld>
            <a:endParaRPr lang="en-US" altLang="zh-CN"/>
          </a:p>
        </p:txBody>
      </p:sp>
    </p:spTree>
    <p:extLst>
      <p:ext uri="{BB962C8B-B14F-4D97-AF65-F5344CB8AC3E}">
        <p14:creationId xmlns:p14="http://schemas.microsoft.com/office/powerpoint/2010/main" val="4062948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47</a:t>
            </a:fld>
            <a:endParaRPr lang="en-US" altLang="zh-CN"/>
          </a:p>
        </p:txBody>
      </p:sp>
    </p:spTree>
    <p:extLst>
      <p:ext uri="{BB962C8B-B14F-4D97-AF65-F5344CB8AC3E}">
        <p14:creationId xmlns:p14="http://schemas.microsoft.com/office/powerpoint/2010/main" val="37357914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48</a:t>
            </a:fld>
            <a:endParaRPr lang="en-US" altLang="zh-CN"/>
          </a:p>
        </p:txBody>
      </p:sp>
    </p:spTree>
    <p:extLst>
      <p:ext uri="{BB962C8B-B14F-4D97-AF65-F5344CB8AC3E}">
        <p14:creationId xmlns:p14="http://schemas.microsoft.com/office/powerpoint/2010/main" val="34494119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49</a:t>
            </a:fld>
            <a:endParaRPr lang="en-US" altLang="zh-CN"/>
          </a:p>
        </p:txBody>
      </p:sp>
    </p:spTree>
    <p:extLst>
      <p:ext uri="{BB962C8B-B14F-4D97-AF65-F5344CB8AC3E}">
        <p14:creationId xmlns:p14="http://schemas.microsoft.com/office/powerpoint/2010/main" val="34255148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50</a:t>
            </a:fld>
            <a:endParaRPr lang="en-US" altLang="zh-CN"/>
          </a:p>
        </p:txBody>
      </p:sp>
    </p:spTree>
    <p:extLst>
      <p:ext uri="{BB962C8B-B14F-4D97-AF65-F5344CB8AC3E}">
        <p14:creationId xmlns:p14="http://schemas.microsoft.com/office/powerpoint/2010/main" val="31173304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51</a:t>
            </a:fld>
            <a:endParaRPr lang="en-US" altLang="zh-CN"/>
          </a:p>
        </p:txBody>
      </p:sp>
    </p:spTree>
    <p:extLst>
      <p:ext uri="{BB962C8B-B14F-4D97-AF65-F5344CB8AC3E}">
        <p14:creationId xmlns:p14="http://schemas.microsoft.com/office/powerpoint/2010/main" val="17390253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52</a:t>
            </a:fld>
            <a:endParaRPr lang="en-US" altLang="zh-CN"/>
          </a:p>
        </p:txBody>
      </p:sp>
    </p:spTree>
    <p:extLst>
      <p:ext uri="{BB962C8B-B14F-4D97-AF65-F5344CB8AC3E}">
        <p14:creationId xmlns:p14="http://schemas.microsoft.com/office/powerpoint/2010/main" val="24037284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53</a:t>
            </a:fld>
            <a:endParaRPr lang="en-US" altLang="zh-CN"/>
          </a:p>
        </p:txBody>
      </p:sp>
      <p:graphicFrame>
        <p:nvGraphicFramePr>
          <p:cNvPr id="5" name="Object 8"/>
          <p:cNvGraphicFramePr>
            <a:graphicFrameLocks noChangeAspect="1"/>
          </p:cNvGraphicFramePr>
          <p:nvPr>
            <p:extLst>
              <p:ext uri="{D42A27DB-BD31-4B8C-83A1-F6EECF244321}">
                <p14:modId xmlns:p14="http://schemas.microsoft.com/office/powerpoint/2010/main" val="815441572"/>
              </p:ext>
            </p:extLst>
          </p:nvPr>
        </p:nvGraphicFramePr>
        <p:xfrm>
          <a:off x="2894655" y="5417184"/>
          <a:ext cx="1505530" cy="527948"/>
        </p:xfrm>
        <a:graphic>
          <a:graphicData uri="http://schemas.openxmlformats.org/presentationml/2006/ole">
            <mc:AlternateContent xmlns:mc="http://schemas.openxmlformats.org/markup-compatibility/2006">
              <mc:Choice xmlns:v="urn:schemas-microsoft-com:vml" Requires="v">
                <p:oleObj spid="_x0000_s81953" name="公式" r:id="rId4" imgW="1358640" imgH="431640" progId="Equation.3">
                  <p:embed/>
                </p:oleObj>
              </mc:Choice>
              <mc:Fallback>
                <p:oleObj name="公式" r:id="rId4" imgW="1358640" imgH="431640" progId="Equation.3">
                  <p:embed/>
                  <p:pic>
                    <p:nvPicPr>
                      <p:cNvPr id="0" name=""/>
                      <p:cNvPicPr>
                        <a:picLocks noChangeAspect="1" noChangeArrowheads="1"/>
                      </p:cNvPicPr>
                      <p:nvPr/>
                    </p:nvPicPr>
                    <p:blipFill>
                      <a:blip r:embed="rId5"/>
                      <a:srcRect/>
                      <a:stretch>
                        <a:fillRect/>
                      </a:stretch>
                    </p:blipFill>
                    <p:spPr bwMode="auto">
                      <a:xfrm>
                        <a:off x="2894655" y="5417184"/>
                        <a:ext cx="1505530" cy="527948"/>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1387190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54</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637187610"/>
              </p:ext>
            </p:extLst>
          </p:nvPr>
        </p:nvGraphicFramePr>
        <p:xfrm>
          <a:off x="2183069" y="5550143"/>
          <a:ext cx="1216506" cy="464295"/>
        </p:xfrm>
        <a:graphic>
          <a:graphicData uri="http://schemas.openxmlformats.org/presentationml/2006/ole">
            <mc:AlternateContent xmlns:mc="http://schemas.openxmlformats.org/markup-compatibility/2006">
              <mc:Choice xmlns:v="urn:schemas-microsoft-com:vml" Requires="v">
                <p:oleObj spid="_x0000_s66672" name="公式" r:id="rId4" imgW="1282680" imgH="444240" progId="Equation.3">
                  <p:embed/>
                </p:oleObj>
              </mc:Choice>
              <mc:Fallback>
                <p:oleObj name="公式" r:id="rId4" imgW="1282680" imgH="44424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3069" y="5550143"/>
                        <a:ext cx="1216506" cy="46429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186176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55</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2372507469"/>
              </p:ext>
            </p:extLst>
          </p:nvPr>
        </p:nvGraphicFramePr>
        <p:xfrm>
          <a:off x="1471530" y="5812237"/>
          <a:ext cx="1251456" cy="471713"/>
        </p:xfrm>
        <a:graphic>
          <a:graphicData uri="http://schemas.openxmlformats.org/presentationml/2006/ole">
            <mc:AlternateContent xmlns:mc="http://schemas.openxmlformats.org/markup-compatibility/2006">
              <mc:Choice xmlns:v="urn:schemas-microsoft-com:vml" Requires="v">
                <p:oleObj spid="_x0000_s67695" name="公式" r:id="rId4" imgW="1295280" imgH="444240" progId="Equation.3">
                  <p:embed/>
                </p:oleObj>
              </mc:Choice>
              <mc:Fallback>
                <p:oleObj name="公式" r:id="rId4" imgW="1295280" imgH="444240"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1530" y="5812237"/>
                        <a:ext cx="1251456" cy="47171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634835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558800" y="4722694"/>
            <a:ext cx="5772149" cy="4757856"/>
          </a:xfrm>
        </p:spPr>
        <p:txBody>
          <a:bodyPr/>
          <a:lstStyle/>
          <a:p>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56</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758750827"/>
              </p:ext>
            </p:extLst>
          </p:nvPr>
        </p:nvGraphicFramePr>
        <p:xfrm>
          <a:off x="1395413" y="7437792"/>
          <a:ext cx="1059591" cy="392701"/>
        </p:xfrm>
        <a:graphic>
          <a:graphicData uri="http://schemas.openxmlformats.org/presentationml/2006/ole">
            <mc:AlternateContent xmlns:mc="http://schemas.openxmlformats.org/markup-compatibility/2006">
              <mc:Choice xmlns:v="urn:schemas-microsoft-com:vml" Requires="v">
                <p:oleObj spid="_x0000_s68936" name="公式" r:id="rId4" imgW="1206360" imgH="406080" progId="Equation.3">
                  <p:embed/>
                </p:oleObj>
              </mc:Choice>
              <mc:Fallback>
                <p:oleObj name="公式" r:id="rId4" imgW="1206360" imgH="406080" progId="Equation.3">
                  <p:embed/>
                  <p:pic>
                    <p:nvPicPr>
                      <p:cNvPr id="0" name="Object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5413" y="7437792"/>
                        <a:ext cx="1059591" cy="392701"/>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210364643"/>
              </p:ext>
            </p:extLst>
          </p:nvPr>
        </p:nvGraphicFramePr>
        <p:xfrm>
          <a:off x="3523305" y="8832991"/>
          <a:ext cx="1665157" cy="525167"/>
        </p:xfrm>
        <a:graphic>
          <a:graphicData uri="http://schemas.openxmlformats.org/presentationml/2006/ole">
            <mc:AlternateContent xmlns:mc="http://schemas.openxmlformats.org/markup-compatibility/2006">
              <mc:Choice xmlns:v="urn:schemas-microsoft-com:vml" Requires="v">
                <p:oleObj spid="_x0000_s68937" name="公式" r:id="rId6" imgW="1422360" imgH="406080" progId="Equation.3">
                  <p:embed/>
                </p:oleObj>
              </mc:Choice>
              <mc:Fallback>
                <p:oleObj name="公式" r:id="rId6" imgW="1422360" imgH="406080" progId="Equation.3">
                  <p:embed/>
                  <p:pic>
                    <p:nvPicPr>
                      <p:cNvPr id="0" name="对象 3"/>
                      <p:cNvPicPr>
                        <a:picLocks noChangeAspect="1" noChangeArrowheads="1"/>
                      </p:cNvPicPr>
                      <p:nvPr/>
                    </p:nvPicPr>
                    <p:blipFill>
                      <a:blip r:embed="rId7"/>
                      <a:srcRect/>
                      <a:stretch>
                        <a:fillRect/>
                      </a:stretch>
                    </p:blipFill>
                    <p:spPr bwMode="auto">
                      <a:xfrm>
                        <a:off x="3523305" y="8832991"/>
                        <a:ext cx="1665157" cy="525167"/>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799744608"/>
              </p:ext>
            </p:extLst>
          </p:nvPr>
        </p:nvGraphicFramePr>
        <p:xfrm>
          <a:off x="1453205" y="6782815"/>
          <a:ext cx="402226" cy="429806"/>
        </p:xfrm>
        <a:graphic>
          <a:graphicData uri="http://schemas.openxmlformats.org/presentationml/2006/ole">
            <mc:AlternateContent xmlns:mc="http://schemas.openxmlformats.org/markup-compatibility/2006">
              <mc:Choice xmlns:v="urn:schemas-microsoft-com:vml" Requires="v">
                <p:oleObj spid="_x0000_s68938" name="公式" r:id="rId8" imgW="457200" imgH="444240" progId="Equation.3">
                  <p:embed/>
                </p:oleObj>
              </mc:Choice>
              <mc:Fallback>
                <p:oleObj name="公式" r:id="rId8" imgW="457200" imgH="444240" progId="Equation.3">
                  <p:embed/>
                  <p:pic>
                    <p:nvPicPr>
                      <p:cNvPr id="0" name=""/>
                      <p:cNvPicPr>
                        <a:picLocks noChangeAspect="1" noChangeArrowheads="1"/>
                      </p:cNvPicPr>
                      <p:nvPr/>
                    </p:nvPicPr>
                    <p:blipFill>
                      <a:blip r:embed="rId9"/>
                      <a:srcRect/>
                      <a:stretch>
                        <a:fillRect/>
                      </a:stretch>
                    </p:blipFill>
                    <p:spPr bwMode="auto">
                      <a:xfrm>
                        <a:off x="1453205" y="6782815"/>
                        <a:ext cx="402226" cy="42980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21672447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57</a:t>
            </a:fld>
            <a:endParaRPr lang="en-US" altLang="zh-CN"/>
          </a:p>
        </p:txBody>
      </p:sp>
      <p:graphicFrame>
        <p:nvGraphicFramePr>
          <p:cNvPr id="5" name="Object 51"/>
          <p:cNvGraphicFramePr>
            <a:graphicFrameLocks noChangeAspect="1"/>
          </p:cNvGraphicFramePr>
          <p:nvPr>
            <p:extLst>
              <p:ext uri="{D42A27DB-BD31-4B8C-83A1-F6EECF244321}">
                <p14:modId xmlns:p14="http://schemas.microsoft.com/office/powerpoint/2010/main" val="2488948095"/>
              </p:ext>
            </p:extLst>
          </p:nvPr>
        </p:nvGraphicFramePr>
        <p:xfrm>
          <a:off x="1788200" y="5719257"/>
          <a:ext cx="558213" cy="490278"/>
        </p:xfrm>
        <a:graphic>
          <a:graphicData uri="http://schemas.openxmlformats.org/presentationml/2006/ole">
            <mc:AlternateContent xmlns:mc="http://schemas.openxmlformats.org/markup-compatibility/2006">
              <mc:Choice xmlns:v="urn:schemas-microsoft-com:vml" Requires="v">
                <p:oleObj spid="_x0000_s82977" name="公式" r:id="rId4" imgW="558720" imgH="444240" progId="Equation.3">
                  <p:embed/>
                </p:oleObj>
              </mc:Choice>
              <mc:Fallback>
                <p:oleObj name="公式" r:id="rId4" imgW="558720" imgH="444240" progId="Equation.3">
                  <p:embed/>
                  <p:pic>
                    <p:nvPicPr>
                      <p:cNvPr id="0" name=""/>
                      <p:cNvPicPr>
                        <a:picLocks noChangeAspect="1" noChangeArrowheads="1"/>
                      </p:cNvPicPr>
                      <p:nvPr/>
                    </p:nvPicPr>
                    <p:blipFill>
                      <a:blip r:embed="rId5"/>
                      <a:srcRect/>
                      <a:stretch>
                        <a:fillRect/>
                      </a:stretch>
                    </p:blipFill>
                    <p:spPr bwMode="auto">
                      <a:xfrm>
                        <a:off x="1788200" y="5719257"/>
                        <a:ext cx="558213" cy="490278"/>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4511779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en-US" altLang="zh-CN"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58</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2778220915"/>
              </p:ext>
            </p:extLst>
          </p:nvPr>
        </p:nvGraphicFramePr>
        <p:xfrm>
          <a:off x="3213692" y="6068568"/>
          <a:ext cx="972769" cy="395506"/>
        </p:xfrm>
        <a:graphic>
          <a:graphicData uri="http://schemas.openxmlformats.org/presentationml/2006/ole">
            <mc:AlternateContent xmlns:mc="http://schemas.openxmlformats.org/markup-compatibility/2006">
              <mc:Choice xmlns:v="urn:schemas-microsoft-com:vml" Requires="v">
                <p:oleObj spid="_x0000_s69854" name="公式" r:id="rId4" imgW="1066680" imgH="393480" progId="Equation.3">
                  <p:embed/>
                </p:oleObj>
              </mc:Choice>
              <mc:Fallback>
                <p:oleObj name="公式" r:id="rId4" imgW="1066680" imgH="393480" progId="Equation.3">
                  <p:embed/>
                  <p:pic>
                    <p:nvPicPr>
                      <p:cNvPr id="0" name="Object 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3692" y="6068568"/>
                        <a:ext cx="972769" cy="395506"/>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798543927"/>
              </p:ext>
            </p:extLst>
          </p:nvPr>
        </p:nvGraphicFramePr>
        <p:xfrm>
          <a:off x="3296243" y="7229859"/>
          <a:ext cx="566350" cy="413691"/>
        </p:xfrm>
        <a:graphic>
          <a:graphicData uri="http://schemas.openxmlformats.org/presentationml/2006/ole">
            <mc:AlternateContent xmlns:mc="http://schemas.openxmlformats.org/markup-compatibility/2006">
              <mc:Choice xmlns:v="urn:schemas-microsoft-com:vml" Requires="v">
                <p:oleObj spid="_x0000_s69855" name="公式" r:id="rId6" imgW="545760" imgH="393480" progId="Equation.3">
                  <p:embed/>
                </p:oleObj>
              </mc:Choice>
              <mc:Fallback>
                <p:oleObj name="公式" r:id="rId6" imgW="545760" imgH="393480" progId="Equation.3">
                  <p:embed/>
                  <p:pic>
                    <p:nvPicPr>
                      <p:cNvPr id="0" name="Object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6243" y="7229859"/>
                        <a:ext cx="566350" cy="41369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333713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59</a:t>
            </a:fld>
            <a:endParaRPr lang="en-US" altLang="zh-CN"/>
          </a:p>
        </p:txBody>
      </p:sp>
    </p:spTree>
    <p:extLst>
      <p:ext uri="{BB962C8B-B14F-4D97-AF65-F5344CB8AC3E}">
        <p14:creationId xmlns:p14="http://schemas.microsoft.com/office/powerpoint/2010/main" val="31534585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60</a:t>
            </a:fld>
            <a:endParaRPr lang="en-US" altLang="zh-CN"/>
          </a:p>
        </p:txBody>
      </p:sp>
    </p:spTree>
    <p:extLst>
      <p:ext uri="{BB962C8B-B14F-4D97-AF65-F5344CB8AC3E}">
        <p14:creationId xmlns:p14="http://schemas.microsoft.com/office/powerpoint/2010/main" val="2806359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61</a:t>
            </a:fld>
            <a:endParaRPr lang="en-US" altLang="zh-CN"/>
          </a:p>
        </p:txBody>
      </p:sp>
    </p:spTree>
    <p:extLst>
      <p:ext uri="{BB962C8B-B14F-4D97-AF65-F5344CB8AC3E}">
        <p14:creationId xmlns:p14="http://schemas.microsoft.com/office/powerpoint/2010/main" val="319829804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6117" y="4722694"/>
            <a:ext cx="5408930" cy="4884856"/>
          </a:xfrm>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62</a:t>
            </a:fld>
            <a:endParaRPr lang="en-US" altLang="zh-CN"/>
          </a:p>
        </p:txBody>
      </p:sp>
    </p:spTree>
    <p:extLst>
      <p:ext uri="{BB962C8B-B14F-4D97-AF65-F5344CB8AC3E}">
        <p14:creationId xmlns:p14="http://schemas.microsoft.com/office/powerpoint/2010/main" val="4947529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63</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486562125"/>
              </p:ext>
            </p:extLst>
          </p:nvPr>
        </p:nvGraphicFramePr>
        <p:xfrm>
          <a:off x="1985393" y="5410852"/>
          <a:ext cx="1221357" cy="589372"/>
        </p:xfrm>
        <a:graphic>
          <a:graphicData uri="http://schemas.openxmlformats.org/presentationml/2006/ole">
            <mc:AlternateContent xmlns:mc="http://schemas.openxmlformats.org/markup-compatibility/2006">
              <mc:Choice xmlns:v="urn:schemas-microsoft-com:vml" Requires="v">
                <p:oleObj spid="_x0000_s70767" name="公式" r:id="rId4" imgW="1015559" imgH="444307" progId="Equation.3">
                  <p:embed/>
                </p:oleObj>
              </mc:Choice>
              <mc:Fallback>
                <p:oleObj name="公式" r:id="rId4" imgW="1015559" imgH="444307" progId="Equation.3">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5393" y="5410852"/>
                        <a:ext cx="1221357" cy="58937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9475290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6117" y="4722694"/>
            <a:ext cx="5318283" cy="4474131"/>
          </a:xfrm>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64</a:t>
            </a:fld>
            <a:endParaRPr lang="en-US" altLang="zh-CN"/>
          </a:p>
        </p:txBody>
      </p:sp>
    </p:spTree>
    <p:extLst>
      <p:ext uri="{BB962C8B-B14F-4D97-AF65-F5344CB8AC3E}">
        <p14:creationId xmlns:p14="http://schemas.microsoft.com/office/powerpoint/2010/main" val="38033598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65</a:t>
            </a:fld>
            <a:endParaRPr lang="en-US" altLang="zh-CN"/>
          </a:p>
        </p:txBody>
      </p:sp>
      <p:graphicFrame>
        <p:nvGraphicFramePr>
          <p:cNvPr id="5" name="Object 10"/>
          <p:cNvGraphicFramePr>
            <a:graphicFrameLocks noChangeAspect="1"/>
          </p:cNvGraphicFramePr>
          <p:nvPr>
            <p:extLst>
              <p:ext uri="{D42A27DB-BD31-4B8C-83A1-F6EECF244321}">
                <p14:modId xmlns:p14="http://schemas.microsoft.com/office/powerpoint/2010/main" val="3616420369"/>
              </p:ext>
            </p:extLst>
          </p:nvPr>
        </p:nvGraphicFramePr>
        <p:xfrm>
          <a:off x="1395413" y="5094670"/>
          <a:ext cx="1686007" cy="582311"/>
        </p:xfrm>
        <a:graphic>
          <a:graphicData uri="http://schemas.openxmlformats.org/presentationml/2006/ole">
            <mc:AlternateContent xmlns:mc="http://schemas.openxmlformats.org/markup-compatibility/2006">
              <mc:Choice xmlns:v="urn:schemas-microsoft-com:vml" Requires="v">
                <p:oleObj spid="_x0000_s84001" name="公式" r:id="rId4" imgW="1422360" imgH="444240" progId="Equation.3">
                  <p:embed/>
                </p:oleObj>
              </mc:Choice>
              <mc:Fallback>
                <p:oleObj name="公式" r:id="rId4" imgW="1422360" imgH="444240" progId="Equation.3">
                  <p:embed/>
                  <p:pic>
                    <p:nvPicPr>
                      <p:cNvPr id="0" name=""/>
                      <p:cNvPicPr>
                        <a:picLocks noChangeAspect="1" noChangeArrowheads="1"/>
                      </p:cNvPicPr>
                      <p:nvPr/>
                    </p:nvPicPr>
                    <p:blipFill>
                      <a:blip r:embed="rId5"/>
                      <a:srcRect/>
                      <a:stretch>
                        <a:fillRect/>
                      </a:stretch>
                    </p:blipFill>
                    <p:spPr bwMode="auto">
                      <a:xfrm>
                        <a:off x="1395413" y="5094670"/>
                        <a:ext cx="1686007" cy="582311"/>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1223363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464977" y="4722693"/>
            <a:ext cx="5929473" cy="5003251"/>
          </a:xfrm>
        </p:spPr>
        <p:txBody>
          <a:bodyPr/>
          <a:lstStyle/>
          <a:p>
            <a:pPr>
              <a:lnSpc>
                <a:spcPct val="120000"/>
              </a:lnSpc>
              <a:spcBef>
                <a:spcPts val="300"/>
              </a:spcBef>
            </a:pPr>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66</a:t>
            </a:fld>
            <a:endParaRPr lang="en-US" altLang="zh-CN"/>
          </a:p>
        </p:txBody>
      </p:sp>
    </p:spTree>
    <p:extLst>
      <p:ext uri="{BB962C8B-B14F-4D97-AF65-F5344CB8AC3E}">
        <p14:creationId xmlns:p14="http://schemas.microsoft.com/office/powerpoint/2010/main" val="11223363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67</a:t>
            </a:fld>
            <a:endParaRPr lang="en-US" altLang="zh-CN"/>
          </a:p>
        </p:txBody>
      </p:sp>
    </p:spTree>
    <p:extLst>
      <p:ext uri="{BB962C8B-B14F-4D97-AF65-F5344CB8AC3E}">
        <p14:creationId xmlns:p14="http://schemas.microsoft.com/office/powerpoint/2010/main" val="7110748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330249" y="4722694"/>
            <a:ext cx="6033724" cy="4816212"/>
          </a:xfrm>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68</a:t>
            </a:fld>
            <a:endParaRPr lang="en-US" altLang="zh-CN"/>
          </a:p>
        </p:txBody>
      </p:sp>
    </p:spTree>
    <p:extLst>
      <p:ext uri="{BB962C8B-B14F-4D97-AF65-F5344CB8AC3E}">
        <p14:creationId xmlns:p14="http://schemas.microsoft.com/office/powerpoint/2010/main" val="394318916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69</a:t>
            </a:fld>
            <a:endParaRPr lang="en-US" altLang="zh-CN"/>
          </a:p>
        </p:txBody>
      </p:sp>
    </p:spTree>
    <p:extLst>
      <p:ext uri="{BB962C8B-B14F-4D97-AF65-F5344CB8AC3E}">
        <p14:creationId xmlns:p14="http://schemas.microsoft.com/office/powerpoint/2010/main" val="7110748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70</a:t>
            </a:fld>
            <a:endParaRPr lang="en-US" altLang="zh-CN"/>
          </a:p>
        </p:txBody>
      </p:sp>
    </p:spTree>
    <p:extLst>
      <p:ext uri="{BB962C8B-B14F-4D97-AF65-F5344CB8AC3E}">
        <p14:creationId xmlns:p14="http://schemas.microsoft.com/office/powerpoint/2010/main" val="394318916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71</a:t>
            </a:fld>
            <a:endParaRPr lang="en-US" altLang="zh-CN"/>
          </a:p>
        </p:txBody>
      </p:sp>
    </p:spTree>
    <p:extLst>
      <p:ext uri="{BB962C8B-B14F-4D97-AF65-F5344CB8AC3E}">
        <p14:creationId xmlns:p14="http://schemas.microsoft.com/office/powerpoint/2010/main" val="394318916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6116" y="4722694"/>
            <a:ext cx="5661080" cy="4688006"/>
          </a:xfrm>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72</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875667910"/>
              </p:ext>
            </p:extLst>
          </p:nvPr>
        </p:nvGraphicFramePr>
        <p:xfrm>
          <a:off x="1775833" y="6649831"/>
          <a:ext cx="1030867" cy="617737"/>
        </p:xfrm>
        <a:graphic>
          <a:graphicData uri="http://schemas.openxmlformats.org/presentationml/2006/ole">
            <mc:AlternateContent xmlns:mc="http://schemas.openxmlformats.org/markup-compatibility/2006">
              <mc:Choice xmlns:v="urn:schemas-microsoft-com:vml" Requires="v">
                <p:oleObj spid="_x0000_s71791" name="公式" r:id="rId4" imgW="863225" imgH="469696" progId="Equation.3">
                  <p:embed/>
                </p:oleObj>
              </mc:Choice>
              <mc:Fallback>
                <p:oleObj name="公式" r:id="rId4" imgW="863225" imgH="469696" progId="Equation.3">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5833" y="6649831"/>
                        <a:ext cx="1030867" cy="61773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1731246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73</a:t>
            </a:fld>
            <a:endParaRPr lang="en-US" altLang="zh-CN"/>
          </a:p>
        </p:txBody>
      </p:sp>
    </p:spTree>
    <p:extLst>
      <p:ext uri="{BB962C8B-B14F-4D97-AF65-F5344CB8AC3E}">
        <p14:creationId xmlns:p14="http://schemas.microsoft.com/office/powerpoint/2010/main" val="29401316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74</a:t>
            </a:fld>
            <a:endParaRPr lang="en-US" altLang="zh-CN"/>
          </a:p>
        </p:txBody>
      </p:sp>
    </p:spTree>
    <p:extLst>
      <p:ext uri="{BB962C8B-B14F-4D97-AF65-F5344CB8AC3E}">
        <p14:creationId xmlns:p14="http://schemas.microsoft.com/office/powerpoint/2010/main" val="218886669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6116" y="4722694"/>
            <a:ext cx="5732484" cy="4474131"/>
          </a:xfrm>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75</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769352079"/>
              </p:ext>
            </p:extLst>
          </p:nvPr>
        </p:nvGraphicFramePr>
        <p:xfrm>
          <a:off x="2437028" y="6425447"/>
          <a:ext cx="875347" cy="681712"/>
        </p:xfrm>
        <a:graphic>
          <a:graphicData uri="http://schemas.openxmlformats.org/presentationml/2006/ole">
            <mc:AlternateContent xmlns:mc="http://schemas.openxmlformats.org/markup-compatibility/2006">
              <mc:Choice xmlns:v="urn:schemas-microsoft-com:vml" Requires="v">
                <p:oleObj spid="_x0000_s72816" name="公式" r:id="rId4" imgW="647700" imgH="457200" progId="Equation.3">
                  <p:embed/>
                </p:oleObj>
              </mc:Choice>
              <mc:Fallback>
                <p:oleObj name="公式" r:id="rId4" imgW="647700" imgH="457200" progId="Equation.3">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7028" y="6425447"/>
                        <a:ext cx="875347" cy="68171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78844863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76</a:t>
            </a:fld>
            <a:endParaRPr lang="en-US" altLang="zh-CN"/>
          </a:p>
        </p:txBody>
      </p:sp>
    </p:spTree>
    <p:extLst>
      <p:ext uri="{BB962C8B-B14F-4D97-AF65-F5344CB8AC3E}">
        <p14:creationId xmlns:p14="http://schemas.microsoft.com/office/powerpoint/2010/main" val="173280890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77</a:t>
            </a:fld>
            <a:endParaRPr lang="en-US" altLang="zh-CN"/>
          </a:p>
        </p:txBody>
      </p:sp>
    </p:spTree>
    <p:extLst>
      <p:ext uri="{BB962C8B-B14F-4D97-AF65-F5344CB8AC3E}">
        <p14:creationId xmlns:p14="http://schemas.microsoft.com/office/powerpoint/2010/main" val="16373012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78</a:t>
            </a:fld>
            <a:endParaRPr lang="en-US" altLang="zh-CN"/>
          </a:p>
        </p:txBody>
      </p:sp>
    </p:spTree>
    <p:extLst>
      <p:ext uri="{BB962C8B-B14F-4D97-AF65-F5344CB8AC3E}">
        <p14:creationId xmlns:p14="http://schemas.microsoft.com/office/powerpoint/2010/main" val="344941191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383802" y="4722693"/>
            <a:ext cx="6114055" cy="4835901"/>
          </a:xfrm>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79</a:t>
            </a:fld>
            <a:endParaRPr lang="en-US" altLang="zh-CN"/>
          </a:p>
        </p:txBody>
      </p:sp>
    </p:spTree>
    <p:extLst>
      <p:ext uri="{BB962C8B-B14F-4D97-AF65-F5344CB8AC3E}">
        <p14:creationId xmlns:p14="http://schemas.microsoft.com/office/powerpoint/2010/main" val="257447123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80</a:t>
            </a:fld>
            <a:endParaRPr lang="en-US" altLang="zh-CN"/>
          </a:p>
        </p:txBody>
      </p:sp>
    </p:spTree>
    <p:extLst>
      <p:ext uri="{BB962C8B-B14F-4D97-AF65-F5344CB8AC3E}">
        <p14:creationId xmlns:p14="http://schemas.microsoft.com/office/powerpoint/2010/main" val="257447123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81</a:t>
            </a:fld>
            <a:endParaRPr lang="en-US" altLang="zh-CN"/>
          </a:p>
        </p:txBody>
      </p:sp>
    </p:spTree>
    <p:extLst>
      <p:ext uri="{BB962C8B-B14F-4D97-AF65-F5344CB8AC3E}">
        <p14:creationId xmlns:p14="http://schemas.microsoft.com/office/powerpoint/2010/main" val="137054398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82</a:t>
            </a:fld>
            <a:endParaRPr lang="en-US" altLang="zh-CN"/>
          </a:p>
        </p:txBody>
      </p:sp>
    </p:spTree>
    <p:extLst>
      <p:ext uri="{BB962C8B-B14F-4D97-AF65-F5344CB8AC3E}">
        <p14:creationId xmlns:p14="http://schemas.microsoft.com/office/powerpoint/2010/main" val="321349181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83</a:t>
            </a:fld>
            <a:endParaRPr lang="en-US" altLang="zh-CN"/>
          </a:p>
        </p:txBody>
      </p:sp>
    </p:spTree>
    <p:extLst>
      <p:ext uri="{BB962C8B-B14F-4D97-AF65-F5344CB8AC3E}">
        <p14:creationId xmlns:p14="http://schemas.microsoft.com/office/powerpoint/2010/main" val="297496769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6117" y="4722694"/>
            <a:ext cx="5408930" cy="4845744"/>
          </a:xfrm>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84</a:t>
            </a:fld>
            <a:endParaRPr lang="en-US" altLang="zh-CN"/>
          </a:p>
        </p:txBody>
      </p:sp>
    </p:spTree>
    <p:extLst>
      <p:ext uri="{BB962C8B-B14F-4D97-AF65-F5344CB8AC3E}">
        <p14:creationId xmlns:p14="http://schemas.microsoft.com/office/powerpoint/2010/main" val="166140561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85</a:t>
            </a:fld>
            <a:endParaRPr lang="en-US" altLang="zh-CN"/>
          </a:p>
        </p:txBody>
      </p:sp>
    </p:spTree>
    <p:extLst>
      <p:ext uri="{BB962C8B-B14F-4D97-AF65-F5344CB8AC3E}">
        <p14:creationId xmlns:p14="http://schemas.microsoft.com/office/powerpoint/2010/main" val="156422156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86</a:t>
            </a:fld>
            <a:endParaRPr lang="en-US" altLang="zh-CN"/>
          </a:p>
        </p:txBody>
      </p:sp>
    </p:spTree>
    <p:extLst>
      <p:ext uri="{BB962C8B-B14F-4D97-AF65-F5344CB8AC3E}">
        <p14:creationId xmlns:p14="http://schemas.microsoft.com/office/powerpoint/2010/main" val="418651042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87</a:t>
            </a:fld>
            <a:endParaRPr lang="en-US" altLang="zh-CN"/>
          </a:p>
        </p:txBody>
      </p:sp>
    </p:spTree>
    <p:extLst>
      <p:ext uri="{BB962C8B-B14F-4D97-AF65-F5344CB8AC3E}">
        <p14:creationId xmlns:p14="http://schemas.microsoft.com/office/powerpoint/2010/main" val="293007624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88</a:t>
            </a:fld>
            <a:endParaRPr lang="en-US" altLang="zh-CN"/>
          </a:p>
        </p:txBody>
      </p:sp>
    </p:spTree>
    <p:extLst>
      <p:ext uri="{BB962C8B-B14F-4D97-AF65-F5344CB8AC3E}">
        <p14:creationId xmlns:p14="http://schemas.microsoft.com/office/powerpoint/2010/main" val="249991975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89</a:t>
            </a:fld>
            <a:endParaRPr lang="en-US" altLang="zh-CN"/>
          </a:p>
        </p:txBody>
      </p:sp>
    </p:spTree>
    <p:extLst>
      <p:ext uri="{BB962C8B-B14F-4D97-AF65-F5344CB8AC3E}">
        <p14:creationId xmlns:p14="http://schemas.microsoft.com/office/powerpoint/2010/main" val="344941191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smtClean="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90</a:t>
            </a:fld>
            <a:endParaRPr lang="en-US" altLang="zh-CN"/>
          </a:p>
        </p:txBody>
      </p:sp>
    </p:spTree>
    <p:extLst>
      <p:ext uri="{BB962C8B-B14F-4D97-AF65-F5344CB8AC3E}">
        <p14:creationId xmlns:p14="http://schemas.microsoft.com/office/powerpoint/2010/main" val="51590516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330249" y="4646494"/>
            <a:ext cx="6158683" cy="5069006"/>
          </a:xfrm>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91</a:t>
            </a:fld>
            <a:endParaRPr lang="en-US" altLang="zh-CN"/>
          </a:p>
        </p:txBody>
      </p:sp>
    </p:spTree>
    <p:extLst>
      <p:ext uri="{BB962C8B-B14F-4D97-AF65-F5344CB8AC3E}">
        <p14:creationId xmlns:p14="http://schemas.microsoft.com/office/powerpoint/2010/main" val="51590516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92</a:t>
            </a:fld>
            <a:endParaRPr lang="en-US" altLang="zh-CN"/>
          </a:p>
        </p:txBody>
      </p:sp>
    </p:spTree>
    <p:extLst>
      <p:ext uri="{BB962C8B-B14F-4D97-AF65-F5344CB8AC3E}">
        <p14:creationId xmlns:p14="http://schemas.microsoft.com/office/powerpoint/2010/main" val="4443821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93</a:t>
            </a:fld>
            <a:endParaRPr lang="en-US" altLang="zh-CN"/>
          </a:p>
        </p:txBody>
      </p:sp>
    </p:spTree>
    <p:extLst>
      <p:ext uri="{BB962C8B-B14F-4D97-AF65-F5344CB8AC3E}">
        <p14:creationId xmlns:p14="http://schemas.microsoft.com/office/powerpoint/2010/main" val="74966093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490910" y="4722694"/>
            <a:ext cx="6042649" cy="4629175"/>
          </a:xfrm>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94</a:t>
            </a:fld>
            <a:endParaRPr lang="en-US" altLang="zh-CN"/>
          </a:p>
        </p:txBody>
      </p:sp>
    </p:spTree>
    <p:extLst>
      <p:ext uri="{BB962C8B-B14F-4D97-AF65-F5344CB8AC3E}">
        <p14:creationId xmlns:p14="http://schemas.microsoft.com/office/powerpoint/2010/main" val="17350458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95</a:t>
            </a:fld>
            <a:endParaRPr lang="en-US" altLang="zh-CN"/>
          </a:p>
        </p:txBody>
      </p:sp>
    </p:spTree>
    <p:extLst>
      <p:ext uri="{BB962C8B-B14F-4D97-AF65-F5344CB8AC3E}">
        <p14:creationId xmlns:p14="http://schemas.microsoft.com/office/powerpoint/2010/main" val="344941191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96</a:t>
            </a:fld>
            <a:endParaRPr lang="en-US" altLang="zh-CN"/>
          </a:p>
        </p:txBody>
      </p:sp>
    </p:spTree>
    <p:extLst>
      <p:ext uri="{BB962C8B-B14F-4D97-AF65-F5344CB8AC3E}">
        <p14:creationId xmlns:p14="http://schemas.microsoft.com/office/powerpoint/2010/main" val="261911356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97</a:t>
            </a:fld>
            <a:endParaRPr lang="en-US" altLang="zh-CN"/>
          </a:p>
        </p:txBody>
      </p:sp>
    </p:spTree>
    <p:extLst>
      <p:ext uri="{BB962C8B-B14F-4D97-AF65-F5344CB8AC3E}">
        <p14:creationId xmlns:p14="http://schemas.microsoft.com/office/powerpoint/2010/main" val="173609109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98</a:t>
            </a:fld>
            <a:endParaRPr lang="en-US" altLang="zh-CN"/>
          </a:p>
        </p:txBody>
      </p:sp>
      <p:graphicFrame>
        <p:nvGraphicFramePr>
          <p:cNvPr id="6" name="Object 5"/>
          <p:cNvGraphicFramePr>
            <a:graphicFrameLocks noChangeAspect="1"/>
          </p:cNvGraphicFramePr>
          <p:nvPr>
            <p:extLst/>
          </p:nvPr>
        </p:nvGraphicFramePr>
        <p:xfrm>
          <a:off x="1132349" y="6881799"/>
          <a:ext cx="2148068" cy="472164"/>
        </p:xfrm>
        <a:graphic>
          <a:graphicData uri="http://schemas.openxmlformats.org/presentationml/2006/ole">
            <mc:AlternateContent xmlns:mc="http://schemas.openxmlformats.org/markup-compatibility/2006">
              <mc:Choice xmlns:v="urn:schemas-microsoft-com:vml" Requires="v">
                <p:oleObj spid="_x0000_s88069" name="公式" r:id="rId4" imgW="1955520" imgH="406080" progId="Equation.3">
                  <p:embed/>
                </p:oleObj>
              </mc:Choice>
              <mc:Fallback>
                <p:oleObj name="公式" r:id="rId4" imgW="1955520" imgH="406080" progId="Equation.3">
                  <p:embed/>
                  <p:pic>
                    <p:nvPicPr>
                      <p:cNvPr id="6" name="Object 5"/>
                      <p:cNvPicPr>
                        <a:picLocks noChangeAspect="1" noChangeArrowheads="1"/>
                      </p:cNvPicPr>
                      <p:nvPr/>
                    </p:nvPicPr>
                    <p:blipFill>
                      <a:blip r:embed="rId5"/>
                      <a:srcRect/>
                      <a:stretch>
                        <a:fillRect/>
                      </a:stretch>
                    </p:blipFill>
                    <p:spPr bwMode="auto">
                      <a:xfrm>
                        <a:off x="1132349" y="6881799"/>
                        <a:ext cx="2148068" cy="472164"/>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30772445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99</a:t>
            </a:fld>
            <a:endParaRPr lang="en-US" altLang="zh-CN"/>
          </a:p>
        </p:txBody>
      </p:sp>
    </p:spTree>
    <p:extLst>
      <p:ext uri="{BB962C8B-B14F-4D97-AF65-F5344CB8AC3E}">
        <p14:creationId xmlns:p14="http://schemas.microsoft.com/office/powerpoint/2010/main" val="85615540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100</a:t>
            </a:fld>
            <a:endParaRPr lang="en-US" altLang="zh-CN"/>
          </a:p>
        </p:txBody>
      </p:sp>
    </p:spTree>
    <p:extLst>
      <p:ext uri="{BB962C8B-B14F-4D97-AF65-F5344CB8AC3E}">
        <p14:creationId xmlns:p14="http://schemas.microsoft.com/office/powerpoint/2010/main" val="130913752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6117" y="4722694"/>
            <a:ext cx="5408930" cy="5005506"/>
          </a:xfrm>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101</a:t>
            </a:fld>
            <a:endParaRPr lang="en-US" altLang="zh-CN"/>
          </a:p>
        </p:txBody>
      </p:sp>
      <p:graphicFrame>
        <p:nvGraphicFramePr>
          <p:cNvPr id="5" name="Object 96"/>
          <p:cNvGraphicFramePr>
            <a:graphicFrameLocks noChangeAspect="1"/>
          </p:cNvGraphicFramePr>
          <p:nvPr>
            <p:extLst>
              <p:ext uri="{D42A27DB-BD31-4B8C-83A1-F6EECF244321}">
                <p14:modId xmlns:p14="http://schemas.microsoft.com/office/powerpoint/2010/main" val="757918028"/>
              </p:ext>
            </p:extLst>
          </p:nvPr>
        </p:nvGraphicFramePr>
        <p:xfrm>
          <a:off x="4404126" y="5555878"/>
          <a:ext cx="1069574" cy="486541"/>
        </p:xfrm>
        <a:graphic>
          <a:graphicData uri="http://schemas.openxmlformats.org/presentationml/2006/ole">
            <mc:AlternateContent xmlns:mc="http://schemas.openxmlformats.org/markup-compatibility/2006">
              <mc:Choice xmlns:v="urn:schemas-microsoft-com:vml" Requires="v">
                <p:oleObj spid="_x0000_s85025" name="公式" r:id="rId4" imgW="1079280" imgH="444240" progId="Equation.3">
                  <p:embed/>
                </p:oleObj>
              </mc:Choice>
              <mc:Fallback>
                <p:oleObj name="公式" r:id="rId4" imgW="1079280" imgH="444240" progId="Equation.3">
                  <p:embed/>
                  <p:pic>
                    <p:nvPicPr>
                      <p:cNvPr id="0" name=""/>
                      <p:cNvPicPr>
                        <a:picLocks noChangeAspect="1" noChangeArrowheads="1"/>
                      </p:cNvPicPr>
                      <p:nvPr/>
                    </p:nvPicPr>
                    <p:blipFill>
                      <a:blip r:embed="rId5"/>
                      <a:srcRect/>
                      <a:stretch>
                        <a:fillRect/>
                      </a:stretch>
                    </p:blipFill>
                    <p:spPr bwMode="auto">
                      <a:xfrm>
                        <a:off x="4404126" y="5555878"/>
                        <a:ext cx="1069574" cy="486541"/>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47432763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469900" y="4696230"/>
            <a:ext cx="5715000" cy="4866869"/>
          </a:xfrm>
        </p:spPr>
        <p:txBody>
          <a:bodyPr/>
          <a:lstStyle/>
          <a:p>
            <a:pPr lvl="0">
              <a:lnSpc>
                <a:spcPct val="120000"/>
              </a:lnSpc>
              <a:spcBef>
                <a:spcPts val="200"/>
              </a:spcBef>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102</a:t>
            </a:fld>
            <a:endParaRPr lang="en-US" altLang="zh-CN"/>
          </a:p>
        </p:txBody>
      </p:sp>
    </p:spTree>
    <p:extLst>
      <p:ext uri="{BB962C8B-B14F-4D97-AF65-F5344CB8AC3E}">
        <p14:creationId xmlns:p14="http://schemas.microsoft.com/office/powerpoint/2010/main" val="202376050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419100" y="4518431"/>
            <a:ext cx="5899150" cy="5146270"/>
          </a:xfrm>
        </p:spPr>
        <p:txBody>
          <a:bodyPr/>
          <a:lstStyle/>
          <a:p>
            <a:pPr lvl="0">
              <a:lnSpc>
                <a:spcPct val="120000"/>
              </a:lnSpc>
              <a:spcBef>
                <a:spcPts val="200"/>
              </a:spcBef>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103</a:t>
            </a:fld>
            <a:endParaRPr lang="en-US" altLang="zh-CN"/>
          </a:p>
        </p:txBody>
      </p:sp>
    </p:spTree>
    <p:extLst>
      <p:ext uri="{BB962C8B-B14F-4D97-AF65-F5344CB8AC3E}">
        <p14:creationId xmlns:p14="http://schemas.microsoft.com/office/powerpoint/2010/main" val="202376050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spcBef>
                <a:spcPts val="300"/>
              </a:spcBef>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104</a:t>
            </a:fld>
            <a:endParaRPr lang="en-US" altLang="zh-CN"/>
          </a:p>
        </p:txBody>
      </p:sp>
    </p:spTree>
    <p:extLst>
      <p:ext uri="{BB962C8B-B14F-4D97-AF65-F5344CB8AC3E}">
        <p14:creationId xmlns:p14="http://schemas.microsoft.com/office/powerpoint/2010/main" val="197124056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105</a:t>
            </a:fld>
            <a:endParaRPr lang="en-US" altLang="zh-CN"/>
          </a:p>
        </p:txBody>
      </p:sp>
    </p:spTree>
    <p:extLst>
      <p:ext uri="{BB962C8B-B14F-4D97-AF65-F5344CB8AC3E}">
        <p14:creationId xmlns:p14="http://schemas.microsoft.com/office/powerpoint/2010/main" val="123953084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106</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264861296"/>
              </p:ext>
            </p:extLst>
          </p:nvPr>
        </p:nvGraphicFramePr>
        <p:xfrm>
          <a:off x="1052249" y="5538966"/>
          <a:ext cx="2768633" cy="493673"/>
        </p:xfrm>
        <a:graphic>
          <a:graphicData uri="http://schemas.openxmlformats.org/presentationml/2006/ole">
            <mc:AlternateContent xmlns:mc="http://schemas.openxmlformats.org/markup-compatibility/2006">
              <mc:Choice xmlns:v="urn:schemas-microsoft-com:vml" Requires="v">
                <p:oleObj spid="_x0000_s78952" name="公式" r:id="rId4" imgW="2755800" imgH="457200" progId="Equation.3">
                  <p:embed/>
                </p:oleObj>
              </mc:Choice>
              <mc:Fallback>
                <p:oleObj name="公式" r:id="rId4" imgW="2755800" imgH="457200" progId="Equation.3">
                  <p:embed/>
                  <p:pic>
                    <p:nvPicPr>
                      <p:cNvPr id="0" name="Object 3"/>
                      <p:cNvPicPr>
                        <a:picLocks noChangeAspect="1" noChangeArrowheads="1"/>
                      </p:cNvPicPr>
                      <p:nvPr/>
                    </p:nvPicPr>
                    <p:blipFill>
                      <a:blip r:embed="rId5"/>
                      <a:srcRect/>
                      <a:stretch>
                        <a:fillRect/>
                      </a:stretch>
                    </p:blipFill>
                    <p:spPr bwMode="auto">
                      <a:xfrm>
                        <a:off x="1052249" y="5538966"/>
                        <a:ext cx="2768633" cy="49367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94236486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107</a:t>
            </a:fld>
            <a:endParaRPr lang="en-US" altLang="zh-CN"/>
          </a:p>
        </p:txBody>
      </p:sp>
    </p:spTree>
    <p:extLst>
      <p:ext uri="{BB962C8B-B14F-4D97-AF65-F5344CB8AC3E}">
        <p14:creationId xmlns:p14="http://schemas.microsoft.com/office/powerpoint/2010/main" val="80749175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108</a:t>
            </a:fld>
            <a:endParaRPr lang="en-US" altLang="zh-CN"/>
          </a:p>
        </p:txBody>
      </p:sp>
    </p:spTree>
    <p:extLst>
      <p:ext uri="{BB962C8B-B14F-4D97-AF65-F5344CB8AC3E}">
        <p14:creationId xmlns:p14="http://schemas.microsoft.com/office/powerpoint/2010/main" val="78210183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109</a:t>
            </a:fld>
            <a:endParaRPr lang="en-US" altLang="zh-CN"/>
          </a:p>
        </p:txBody>
      </p:sp>
    </p:spTree>
    <p:extLst>
      <p:ext uri="{BB962C8B-B14F-4D97-AF65-F5344CB8AC3E}">
        <p14:creationId xmlns:p14="http://schemas.microsoft.com/office/powerpoint/2010/main" val="344941191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110</a:t>
            </a:fld>
            <a:endParaRPr lang="en-US" altLang="zh-CN"/>
          </a:p>
        </p:txBody>
      </p:sp>
    </p:spTree>
    <p:extLst>
      <p:ext uri="{BB962C8B-B14F-4D97-AF65-F5344CB8AC3E}">
        <p14:creationId xmlns:p14="http://schemas.microsoft.com/office/powerpoint/2010/main" val="294069775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6116" y="4722694"/>
            <a:ext cx="5571823" cy="4474131"/>
          </a:xfrm>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111</a:t>
            </a:fld>
            <a:endParaRPr lang="en-US" altLang="zh-CN"/>
          </a:p>
        </p:txBody>
      </p:sp>
    </p:spTree>
    <p:extLst>
      <p:ext uri="{BB962C8B-B14F-4D97-AF65-F5344CB8AC3E}">
        <p14:creationId xmlns:p14="http://schemas.microsoft.com/office/powerpoint/2010/main" val="177721420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112</a:t>
            </a:fld>
            <a:endParaRPr lang="en-US" altLang="zh-CN"/>
          </a:p>
        </p:txBody>
      </p:sp>
    </p:spTree>
    <p:extLst>
      <p:ext uri="{BB962C8B-B14F-4D97-AF65-F5344CB8AC3E}">
        <p14:creationId xmlns:p14="http://schemas.microsoft.com/office/powerpoint/2010/main" val="293360693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113</a:t>
            </a:fld>
            <a:endParaRPr lang="en-US" altLang="zh-CN"/>
          </a:p>
        </p:txBody>
      </p:sp>
    </p:spTree>
    <p:extLst>
      <p:ext uri="{BB962C8B-B14F-4D97-AF65-F5344CB8AC3E}">
        <p14:creationId xmlns:p14="http://schemas.microsoft.com/office/powerpoint/2010/main" val="101964608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114</a:t>
            </a:fld>
            <a:endParaRPr lang="en-US" altLang="zh-CN"/>
          </a:p>
        </p:txBody>
      </p:sp>
    </p:spTree>
    <p:extLst>
      <p:ext uri="{BB962C8B-B14F-4D97-AF65-F5344CB8AC3E}">
        <p14:creationId xmlns:p14="http://schemas.microsoft.com/office/powerpoint/2010/main" val="249991975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115</a:t>
            </a:fld>
            <a:endParaRPr lang="en-US" altLang="zh-CN"/>
          </a:p>
        </p:txBody>
      </p:sp>
    </p:spTree>
    <p:extLst>
      <p:ext uri="{BB962C8B-B14F-4D97-AF65-F5344CB8AC3E}">
        <p14:creationId xmlns:p14="http://schemas.microsoft.com/office/powerpoint/2010/main" val="328726098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25000"/>
              </a:lnSpc>
            </a:pPr>
            <a:endParaRPr lang="zh-CN" altLang="en-US" sz="1400" dirty="0">
              <a:solidFill>
                <a:srgbClr val="000000"/>
              </a:solidFill>
            </a:endParaRPr>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116</a:t>
            </a:fld>
            <a:endParaRPr lang="en-US" altLang="zh-CN"/>
          </a:p>
        </p:txBody>
      </p:sp>
    </p:spTree>
    <p:extLst>
      <p:ext uri="{BB962C8B-B14F-4D97-AF65-F5344CB8AC3E}">
        <p14:creationId xmlns:p14="http://schemas.microsoft.com/office/powerpoint/2010/main" val="96183309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D6F3B87-4B13-45F1-8CF0-EFC998FC43CE}" type="slidenum">
              <a:rPr lang="zh-CN" altLang="en-US" smtClean="0"/>
              <a:pPr>
                <a:defRPr/>
              </a:pPr>
              <a:t>117</a:t>
            </a:fld>
            <a:endParaRPr lang="en-US" altLang="zh-CN"/>
          </a:p>
        </p:txBody>
      </p:sp>
    </p:spTree>
    <p:extLst>
      <p:ext uri="{BB962C8B-B14F-4D97-AF65-F5344CB8AC3E}">
        <p14:creationId xmlns:p14="http://schemas.microsoft.com/office/powerpoint/2010/main" val="11238192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2" name="Picture 13" descr="xbhs"/>
          <p:cNvPicPr>
            <a:picLocks noChangeAspect="1" noChangeArrowheads="1"/>
          </p:cNvPicPr>
          <p:nvPr userDrawn="1"/>
        </p:nvPicPr>
        <p:blipFill>
          <a:blip r:embed="rId2">
            <a:extLst>
              <a:ext uri="{28A0092B-C50C-407E-A947-70E740481C1C}">
                <a14:useLocalDpi xmlns:a14="http://schemas.microsoft.com/office/drawing/2010/main" val="0"/>
              </a:ext>
            </a:extLst>
          </a:blip>
          <a:srcRect r="53241" b="57249"/>
          <a:stretch>
            <a:fillRect/>
          </a:stretch>
        </p:blipFill>
        <p:spPr bwMode="auto">
          <a:xfrm>
            <a:off x="1158760" y="4278004"/>
            <a:ext cx="1557808" cy="15671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教学2012\清华校徽2.gif"/>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264561" y="776294"/>
            <a:ext cx="1343025"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236816"/>
      </p:ext>
    </p:extLst>
  </p:cSld>
  <p:clrMapOvr>
    <a:masterClrMapping/>
  </p:clrMapOvr>
  <p:transition spd="med">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426173161"/>
      </p:ext>
    </p:extLst>
  </p:cSld>
  <p:clrMapOvr>
    <a:masterClrMapping/>
  </p:clrMapOvr>
  <p:transition spd="med">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624893844"/>
      </p:ext>
    </p:extLst>
  </p:cSld>
  <p:clrMapOvr>
    <a:masterClrMapping/>
  </p:clrMapOvr>
  <p:transition spd="med">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93325196"/>
      </p:ext>
    </p:extLst>
  </p:cSld>
  <p:clrMapOvr>
    <a:masterClrMapping/>
  </p:clrMapOvr>
  <p:transition spd="med">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0041973"/>
      </p:ext>
    </p:extLst>
  </p:cSld>
  <p:clrMapOvr>
    <a:masterClrMapping/>
  </p:clrMapOvr>
  <p:transition spd="med">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19756984"/>
      </p:ext>
    </p:extLst>
  </p:cSld>
  <p:clrMapOvr>
    <a:masterClrMapping/>
  </p:clrMapOvr>
  <p:transition spd="med">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24488675"/>
      </p:ext>
    </p:extLst>
  </p:cSld>
  <p:clrMapOvr>
    <a:masterClrMapping/>
  </p:clrMapOvr>
  <p:transition spd="med">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9637111"/>
      </p:ext>
    </p:extLst>
  </p:cSld>
  <p:clrMapOvr>
    <a:masterClrMapping/>
  </p:clrMapOvr>
  <p:transition spd="med">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24244505"/>
      </p:ext>
    </p:extLst>
  </p:cSld>
  <p:clrMapOvr>
    <a:masterClrMapping/>
  </p:clrMapOvr>
  <p:transition spd="med">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70709539"/>
      </p:ext>
    </p:extLst>
  </p:cSld>
  <p:clrMapOvr>
    <a:masterClrMapping/>
  </p:clrMapOvr>
  <p:transition spd="med">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489789019"/>
      </p:ext>
    </p:extLst>
  </p:cSld>
  <p:clrMapOvr>
    <a:masterClrMapping/>
  </p:clrMapOvr>
  <p:transition spd="med">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587007"/>
      </p:ext>
    </p:extLst>
  </p:cSld>
  <p:clrMapOvr>
    <a:masterClrMapping/>
  </p:clrMapOvr>
  <p:transition spd="med">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1"/>
          <p:cNvSpPr txBox="1">
            <a:spLocks/>
          </p:cNvSpPr>
          <p:nvPr userDrawn="1"/>
        </p:nvSpPr>
        <p:spPr>
          <a:xfrm>
            <a:off x="6660545"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a:t>
            </a:fld>
            <a:endParaRPr lang="zh-CN" altLang="en-US" dirty="0">
              <a:solidFill>
                <a:srgbClr val="C00000"/>
              </a:solidFill>
            </a:endParaRPr>
          </a:p>
        </p:txBody>
      </p:sp>
    </p:spTree>
    <p:extLst>
      <p:ext uri="{BB962C8B-B14F-4D97-AF65-F5344CB8AC3E}">
        <p14:creationId xmlns:p14="http://schemas.microsoft.com/office/powerpoint/2010/main" val="170982158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506" name="Group 148"/>
          <p:cNvGrpSpPr>
            <a:grpSpLocks/>
          </p:cNvGrpSpPr>
          <p:nvPr userDrawn="1"/>
        </p:nvGrpSpPr>
        <p:grpSpPr bwMode="auto">
          <a:xfrm>
            <a:off x="8031163" y="5454650"/>
            <a:ext cx="533400" cy="492125"/>
            <a:chOff x="96" y="2784"/>
            <a:chExt cx="1062" cy="981"/>
          </a:xfrm>
        </p:grpSpPr>
        <p:sp>
          <p:nvSpPr>
            <p:cNvPr id="594069" name="Freeform 149"/>
            <p:cNvSpPr>
              <a:spLocks/>
            </p:cNvSpPr>
            <p:nvPr userDrawn="1"/>
          </p:nvSpPr>
          <p:spPr bwMode="auto">
            <a:xfrm>
              <a:off x="121" y="2784"/>
              <a:ext cx="205" cy="82"/>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70" name="Freeform 150"/>
            <p:cNvSpPr>
              <a:spLocks noEditPoints="1"/>
            </p:cNvSpPr>
            <p:nvPr userDrawn="1"/>
          </p:nvSpPr>
          <p:spPr bwMode="auto">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71" name="Freeform 151"/>
            <p:cNvSpPr>
              <a:spLocks/>
            </p:cNvSpPr>
            <p:nvPr userDrawn="1"/>
          </p:nvSpPr>
          <p:spPr bwMode="auto">
            <a:xfrm>
              <a:off x="349" y="3256"/>
              <a:ext cx="85" cy="101"/>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72" name="Freeform 152"/>
            <p:cNvSpPr>
              <a:spLocks/>
            </p:cNvSpPr>
            <p:nvPr userDrawn="1"/>
          </p:nvSpPr>
          <p:spPr bwMode="auto">
            <a:xfrm>
              <a:off x="267" y="3293"/>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73" name="Freeform 153"/>
            <p:cNvSpPr>
              <a:spLocks/>
            </p:cNvSpPr>
            <p:nvPr userDrawn="1"/>
          </p:nvSpPr>
          <p:spPr bwMode="auto">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74" name="Freeform 154"/>
            <p:cNvSpPr>
              <a:spLocks/>
            </p:cNvSpPr>
            <p:nvPr userDrawn="1"/>
          </p:nvSpPr>
          <p:spPr bwMode="auto">
            <a:xfrm>
              <a:off x="501" y="3344"/>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75" name="Freeform 155"/>
            <p:cNvSpPr>
              <a:spLocks/>
            </p:cNvSpPr>
            <p:nvPr userDrawn="1"/>
          </p:nvSpPr>
          <p:spPr bwMode="auto">
            <a:xfrm>
              <a:off x="905" y="3157"/>
              <a:ext cx="177" cy="38"/>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76" name="Freeform 156"/>
            <p:cNvSpPr>
              <a:spLocks/>
            </p:cNvSpPr>
            <p:nvPr userDrawn="1"/>
          </p:nvSpPr>
          <p:spPr bwMode="auto">
            <a:xfrm>
              <a:off x="965" y="3154"/>
              <a:ext cx="136" cy="79"/>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77" name="Freeform 157"/>
            <p:cNvSpPr>
              <a:spLocks/>
            </p:cNvSpPr>
            <p:nvPr userDrawn="1"/>
          </p:nvSpPr>
          <p:spPr bwMode="auto">
            <a:xfrm>
              <a:off x="959" y="3205"/>
              <a:ext cx="177" cy="85"/>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78" name="Freeform 158"/>
            <p:cNvSpPr>
              <a:spLocks/>
            </p:cNvSpPr>
            <p:nvPr userDrawn="1"/>
          </p:nvSpPr>
          <p:spPr bwMode="auto">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79" name="Freeform 159"/>
            <p:cNvSpPr>
              <a:spLocks/>
            </p:cNvSpPr>
            <p:nvPr userDrawn="1"/>
          </p:nvSpPr>
          <p:spPr bwMode="auto">
            <a:xfrm>
              <a:off x="870" y="3341"/>
              <a:ext cx="202" cy="54"/>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80" name="Freeform 160"/>
            <p:cNvSpPr>
              <a:spLocks/>
            </p:cNvSpPr>
            <p:nvPr userDrawn="1"/>
          </p:nvSpPr>
          <p:spPr bwMode="auto">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sp>
          <p:nvSpPr>
            <p:cNvPr id="594081" name="Freeform 161"/>
            <p:cNvSpPr>
              <a:spLocks/>
            </p:cNvSpPr>
            <p:nvPr userDrawn="1"/>
          </p:nvSpPr>
          <p:spPr bwMode="auto">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99CCFF"/>
            </a:solidFill>
            <a:ln w="0">
              <a:noFill/>
              <a:prstDash val="solid"/>
              <a:round/>
              <a:headEnd/>
              <a:tailEnd/>
            </a:ln>
          </p:spPr>
          <p:txBody>
            <a:bodyPr/>
            <a:lstStyle/>
            <a:p>
              <a:pPr>
                <a:defRPr/>
              </a:pPr>
              <a:endParaRPr lang="zh-CN" altLang="en-US">
                <a:ea typeface="宋体" pitchFamily="2" charset="-122"/>
              </a:endParaRPr>
            </a:p>
          </p:txBody>
        </p:sp>
      </p:grpSp>
      <p:grpSp>
        <p:nvGrpSpPr>
          <p:cNvPr id="21507" name="Group 162"/>
          <p:cNvGrpSpPr>
            <a:grpSpLocks/>
          </p:cNvGrpSpPr>
          <p:nvPr userDrawn="1"/>
        </p:nvGrpSpPr>
        <p:grpSpPr bwMode="auto">
          <a:xfrm>
            <a:off x="5805488" y="2881313"/>
            <a:ext cx="533400" cy="492125"/>
            <a:chOff x="96" y="2784"/>
            <a:chExt cx="1062" cy="981"/>
          </a:xfrm>
        </p:grpSpPr>
        <p:sp>
          <p:nvSpPr>
            <p:cNvPr id="594083" name="Freeform 163"/>
            <p:cNvSpPr>
              <a:spLocks/>
            </p:cNvSpPr>
            <p:nvPr userDrawn="1"/>
          </p:nvSpPr>
          <p:spPr bwMode="auto">
            <a:xfrm>
              <a:off x="121" y="2784"/>
              <a:ext cx="205" cy="82"/>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84" name="Freeform 164"/>
            <p:cNvSpPr>
              <a:spLocks noEditPoints="1"/>
            </p:cNvSpPr>
            <p:nvPr userDrawn="1"/>
          </p:nvSpPr>
          <p:spPr bwMode="auto">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85" name="Freeform 165"/>
            <p:cNvSpPr>
              <a:spLocks/>
            </p:cNvSpPr>
            <p:nvPr userDrawn="1"/>
          </p:nvSpPr>
          <p:spPr bwMode="auto">
            <a:xfrm>
              <a:off x="349" y="3256"/>
              <a:ext cx="85" cy="101"/>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86" name="Freeform 166"/>
            <p:cNvSpPr>
              <a:spLocks/>
            </p:cNvSpPr>
            <p:nvPr userDrawn="1"/>
          </p:nvSpPr>
          <p:spPr bwMode="auto">
            <a:xfrm>
              <a:off x="267" y="3293"/>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87" name="Freeform 167"/>
            <p:cNvSpPr>
              <a:spLocks/>
            </p:cNvSpPr>
            <p:nvPr userDrawn="1"/>
          </p:nvSpPr>
          <p:spPr bwMode="auto">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88" name="Freeform 168"/>
            <p:cNvSpPr>
              <a:spLocks/>
            </p:cNvSpPr>
            <p:nvPr userDrawn="1"/>
          </p:nvSpPr>
          <p:spPr bwMode="auto">
            <a:xfrm>
              <a:off x="501" y="3344"/>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89" name="Freeform 169"/>
            <p:cNvSpPr>
              <a:spLocks/>
            </p:cNvSpPr>
            <p:nvPr userDrawn="1"/>
          </p:nvSpPr>
          <p:spPr bwMode="auto">
            <a:xfrm>
              <a:off x="905" y="3157"/>
              <a:ext cx="177" cy="38"/>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90" name="Freeform 170"/>
            <p:cNvSpPr>
              <a:spLocks/>
            </p:cNvSpPr>
            <p:nvPr userDrawn="1"/>
          </p:nvSpPr>
          <p:spPr bwMode="auto">
            <a:xfrm>
              <a:off x="965" y="3154"/>
              <a:ext cx="136" cy="79"/>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91" name="Freeform 171"/>
            <p:cNvSpPr>
              <a:spLocks/>
            </p:cNvSpPr>
            <p:nvPr userDrawn="1"/>
          </p:nvSpPr>
          <p:spPr bwMode="auto">
            <a:xfrm>
              <a:off x="959" y="3205"/>
              <a:ext cx="177" cy="85"/>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92" name="Freeform 172"/>
            <p:cNvSpPr>
              <a:spLocks/>
            </p:cNvSpPr>
            <p:nvPr userDrawn="1"/>
          </p:nvSpPr>
          <p:spPr bwMode="auto">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93" name="Freeform 173"/>
            <p:cNvSpPr>
              <a:spLocks/>
            </p:cNvSpPr>
            <p:nvPr userDrawn="1"/>
          </p:nvSpPr>
          <p:spPr bwMode="auto">
            <a:xfrm>
              <a:off x="870" y="3341"/>
              <a:ext cx="202" cy="54"/>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94" name="Freeform 174"/>
            <p:cNvSpPr>
              <a:spLocks/>
            </p:cNvSpPr>
            <p:nvPr userDrawn="1"/>
          </p:nvSpPr>
          <p:spPr bwMode="auto">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sp>
          <p:nvSpPr>
            <p:cNvPr id="594095" name="Freeform 175"/>
            <p:cNvSpPr>
              <a:spLocks/>
            </p:cNvSpPr>
            <p:nvPr userDrawn="1"/>
          </p:nvSpPr>
          <p:spPr bwMode="auto">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pPr>
                <a:defRPr/>
              </a:pPr>
              <a:endParaRPr lang="zh-CN" altLang="en-US">
                <a:ea typeface="宋体" pitchFamily="2" charset="-122"/>
              </a:endParaRPr>
            </a:p>
          </p:txBody>
        </p:sp>
      </p:grpSp>
      <p:grpSp>
        <p:nvGrpSpPr>
          <p:cNvPr id="21508" name="Group 176"/>
          <p:cNvGrpSpPr>
            <a:grpSpLocks/>
          </p:cNvGrpSpPr>
          <p:nvPr userDrawn="1"/>
        </p:nvGrpSpPr>
        <p:grpSpPr bwMode="auto">
          <a:xfrm>
            <a:off x="1646238" y="4876800"/>
            <a:ext cx="533400" cy="492125"/>
            <a:chOff x="96" y="2784"/>
            <a:chExt cx="1062" cy="981"/>
          </a:xfrm>
        </p:grpSpPr>
        <p:sp>
          <p:nvSpPr>
            <p:cNvPr id="594097" name="Freeform 177"/>
            <p:cNvSpPr>
              <a:spLocks/>
            </p:cNvSpPr>
            <p:nvPr userDrawn="1"/>
          </p:nvSpPr>
          <p:spPr bwMode="auto">
            <a:xfrm>
              <a:off x="121" y="2784"/>
              <a:ext cx="205" cy="82"/>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098" name="Freeform 178"/>
            <p:cNvSpPr>
              <a:spLocks noEditPoints="1"/>
            </p:cNvSpPr>
            <p:nvPr userDrawn="1"/>
          </p:nvSpPr>
          <p:spPr bwMode="auto">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099" name="Freeform 179"/>
            <p:cNvSpPr>
              <a:spLocks/>
            </p:cNvSpPr>
            <p:nvPr userDrawn="1"/>
          </p:nvSpPr>
          <p:spPr bwMode="auto">
            <a:xfrm>
              <a:off x="349" y="3256"/>
              <a:ext cx="85" cy="101"/>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100" name="Freeform 180"/>
            <p:cNvSpPr>
              <a:spLocks/>
            </p:cNvSpPr>
            <p:nvPr userDrawn="1"/>
          </p:nvSpPr>
          <p:spPr bwMode="auto">
            <a:xfrm>
              <a:off x="267" y="3293"/>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101" name="Freeform 181"/>
            <p:cNvSpPr>
              <a:spLocks/>
            </p:cNvSpPr>
            <p:nvPr userDrawn="1"/>
          </p:nvSpPr>
          <p:spPr bwMode="auto">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102" name="Freeform 182"/>
            <p:cNvSpPr>
              <a:spLocks/>
            </p:cNvSpPr>
            <p:nvPr userDrawn="1"/>
          </p:nvSpPr>
          <p:spPr bwMode="auto">
            <a:xfrm>
              <a:off x="501" y="3344"/>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103" name="Freeform 183"/>
            <p:cNvSpPr>
              <a:spLocks/>
            </p:cNvSpPr>
            <p:nvPr userDrawn="1"/>
          </p:nvSpPr>
          <p:spPr bwMode="auto">
            <a:xfrm>
              <a:off x="905" y="3157"/>
              <a:ext cx="177" cy="38"/>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104" name="Freeform 184"/>
            <p:cNvSpPr>
              <a:spLocks/>
            </p:cNvSpPr>
            <p:nvPr userDrawn="1"/>
          </p:nvSpPr>
          <p:spPr bwMode="auto">
            <a:xfrm>
              <a:off x="965" y="3154"/>
              <a:ext cx="136" cy="79"/>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105" name="Freeform 185"/>
            <p:cNvSpPr>
              <a:spLocks/>
            </p:cNvSpPr>
            <p:nvPr userDrawn="1"/>
          </p:nvSpPr>
          <p:spPr bwMode="auto">
            <a:xfrm>
              <a:off x="959" y="3205"/>
              <a:ext cx="177" cy="85"/>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106" name="Freeform 186"/>
            <p:cNvSpPr>
              <a:spLocks/>
            </p:cNvSpPr>
            <p:nvPr userDrawn="1"/>
          </p:nvSpPr>
          <p:spPr bwMode="auto">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107" name="Freeform 187"/>
            <p:cNvSpPr>
              <a:spLocks/>
            </p:cNvSpPr>
            <p:nvPr userDrawn="1"/>
          </p:nvSpPr>
          <p:spPr bwMode="auto">
            <a:xfrm>
              <a:off x="870" y="3341"/>
              <a:ext cx="202" cy="54"/>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108" name="Freeform 188"/>
            <p:cNvSpPr>
              <a:spLocks/>
            </p:cNvSpPr>
            <p:nvPr userDrawn="1"/>
          </p:nvSpPr>
          <p:spPr bwMode="auto">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sp>
          <p:nvSpPr>
            <p:cNvPr id="594109" name="Freeform 189"/>
            <p:cNvSpPr>
              <a:spLocks/>
            </p:cNvSpPr>
            <p:nvPr userDrawn="1"/>
          </p:nvSpPr>
          <p:spPr bwMode="auto">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FFCCCC"/>
            </a:solidFill>
            <a:ln w="0">
              <a:noFill/>
              <a:prstDash val="solid"/>
              <a:round/>
              <a:headEnd/>
              <a:tailEnd/>
            </a:ln>
          </p:spPr>
          <p:txBody>
            <a:bodyPr/>
            <a:lstStyle/>
            <a:p>
              <a:pPr>
                <a:defRPr/>
              </a:pPr>
              <a:endParaRPr lang="zh-CN" altLang="en-US">
                <a:ea typeface="宋体" pitchFamily="2" charset="-122"/>
              </a:endParaRPr>
            </a:p>
          </p:txBody>
        </p:sp>
      </p:grpSp>
      <p:grpSp>
        <p:nvGrpSpPr>
          <p:cNvPr id="21509" name="Group 190"/>
          <p:cNvGrpSpPr>
            <a:grpSpLocks/>
          </p:cNvGrpSpPr>
          <p:nvPr userDrawn="1"/>
        </p:nvGrpSpPr>
        <p:grpSpPr bwMode="auto">
          <a:xfrm>
            <a:off x="5046663" y="4525963"/>
            <a:ext cx="533400" cy="492125"/>
            <a:chOff x="96" y="2784"/>
            <a:chExt cx="1062" cy="981"/>
          </a:xfrm>
        </p:grpSpPr>
        <p:sp>
          <p:nvSpPr>
            <p:cNvPr id="594111" name="Freeform 191"/>
            <p:cNvSpPr>
              <a:spLocks/>
            </p:cNvSpPr>
            <p:nvPr userDrawn="1"/>
          </p:nvSpPr>
          <p:spPr bwMode="auto">
            <a:xfrm>
              <a:off x="121" y="2784"/>
              <a:ext cx="205" cy="82"/>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12" name="Freeform 192"/>
            <p:cNvSpPr>
              <a:spLocks noEditPoints="1"/>
            </p:cNvSpPr>
            <p:nvPr userDrawn="1"/>
          </p:nvSpPr>
          <p:spPr bwMode="auto">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13" name="Freeform 193"/>
            <p:cNvSpPr>
              <a:spLocks/>
            </p:cNvSpPr>
            <p:nvPr userDrawn="1"/>
          </p:nvSpPr>
          <p:spPr bwMode="auto">
            <a:xfrm>
              <a:off x="349" y="3256"/>
              <a:ext cx="85" cy="101"/>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14" name="Freeform 194"/>
            <p:cNvSpPr>
              <a:spLocks/>
            </p:cNvSpPr>
            <p:nvPr userDrawn="1"/>
          </p:nvSpPr>
          <p:spPr bwMode="auto">
            <a:xfrm>
              <a:off x="267" y="3293"/>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15" name="Freeform 195"/>
            <p:cNvSpPr>
              <a:spLocks/>
            </p:cNvSpPr>
            <p:nvPr userDrawn="1"/>
          </p:nvSpPr>
          <p:spPr bwMode="auto">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16" name="Freeform 196"/>
            <p:cNvSpPr>
              <a:spLocks/>
            </p:cNvSpPr>
            <p:nvPr userDrawn="1"/>
          </p:nvSpPr>
          <p:spPr bwMode="auto">
            <a:xfrm>
              <a:off x="501" y="3344"/>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17" name="Freeform 197"/>
            <p:cNvSpPr>
              <a:spLocks/>
            </p:cNvSpPr>
            <p:nvPr userDrawn="1"/>
          </p:nvSpPr>
          <p:spPr bwMode="auto">
            <a:xfrm>
              <a:off x="905" y="3157"/>
              <a:ext cx="177" cy="38"/>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18" name="Freeform 198"/>
            <p:cNvSpPr>
              <a:spLocks/>
            </p:cNvSpPr>
            <p:nvPr userDrawn="1"/>
          </p:nvSpPr>
          <p:spPr bwMode="auto">
            <a:xfrm>
              <a:off x="965" y="3154"/>
              <a:ext cx="136" cy="79"/>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19" name="Freeform 199"/>
            <p:cNvSpPr>
              <a:spLocks/>
            </p:cNvSpPr>
            <p:nvPr userDrawn="1"/>
          </p:nvSpPr>
          <p:spPr bwMode="auto">
            <a:xfrm>
              <a:off x="959" y="3205"/>
              <a:ext cx="177" cy="85"/>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20" name="Freeform 200"/>
            <p:cNvSpPr>
              <a:spLocks/>
            </p:cNvSpPr>
            <p:nvPr userDrawn="1"/>
          </p:nvSpPr>
          <p:spPr bwMode="auto">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21" name="Freeform 201"/>
            <p:cNvSpPr>
              <a:spLocks/>
            </p:cNvSpPr>
            <p:nvPr userDrawn="1"/>
          </p:nvSpPr>
          <p:spPr bwMode="auto">
            <a:xfrm>
              <a:off x="870" y="3341"/>
              <a:ext cx="202" cy="54"/>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22" name="Freeform 202"/>
            <p:cNvSpPr>
              <a:spLocks/>
            </p:cNvSpPr>
            <p:nvPr userDrawn="1"/>
          </p:nvSpPr>
          <p:spPr bwMode="auto">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sp>
          <p:nvSpPr>
            <p:cNvPr id="594123" name="Freeform 203"/>
            <p:cNvSpPr>
              <a:spLocks/>
            </p:cNvSpPr>
            <p:nvPr userDrawn="1"/>
          </p:nvSpPr>
          <p:spPr bwMode="auto">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CCFFCC"/>
            </a:solidFill>
            <a:ln w="0">
              <a:noFill/>
              <a:prstDash val="solid"/>
              <a:round/>
              <a:headEnd/>
              <a:tailEnd/>
            </a:ln>
          </p:spPr>
          <p:txBody>
            <a:bodyPr/>
            <a:lstStyle/>
            <a:p>
              <a:pPr>
                <a:defRPr/>
              </a:pPr>
              <a:endParaRPr lang="zh-CN" altLang="en-US">
                <a:ea typeface="宋体" pitchFamily="2" charset="-122"/>
              </a:endParaRPr>
            </a:p>
          </p:txBody>
        </p:sp>
      </p:grpSp>
      <p:grpSp>
        <p:nvGrpSpPr>
          <p:cNvPr id="21510" name="Group 204"/>
          <p:cNvGrpSpPr>
            <a:grpSpLocks/>
          </p:cNvGrpSpPr>
          <p:nvPr userDrawn="1"/>
        </p:nvGrpSpPr>
        <p:grpSpPr bwMode="auto">
          <a:xfrm>
            <a:off x="1096963" y="2486025"/>
            <a:ext cx="533400" cy="492125"/>
            <a:chOff x="96" y="2784"/>
            <a:chExt cx="1062" cy="981"/>
          </a:xfrm>
        </p:grpSpPr>
        <p:sp>
          <p:nvSpPr>
            <p:cNvPr id="594125" name="Freeform 205"/>
            <p:cNvSpPr>
              <a:spLocks/>
            </p:cNvSpPr>
            <p:nvPr userDrawn="1"/>
          </p:nvSpPr>
          <p:spPr bwMode="auto">
            <a:xfrm>
              <a:off x="121" y="2784"/>
              <a:ext cx="205" cy="82"/>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26" name="Freeform 206"/>
            <p:cNvSpPr>
              <a:spLocks noEditPoints="1"/>
            </p:cNvSpPr>
            <p:nvPr userDrawn="1"/>
          </p:nvSpPr>
          <p:spPr bwMode="auto">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27" name="Freeform 207"/>
            <p:cNvSpPr>
              <a:spLocks/>
            </p:cNvSpPr>
            <p:nvPr userDrawn="1"/>
          </p:nvSpPr>
          <p:spPr bwMode="auto">
            <a:xfrm>
              <a:off x="349" y="3256"/>
              <a:ext cx="85" cy="101"/>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28" name="Freeform 208"/>
            <p:cNvSpPr>
              <a:spLocks/>
            </p:cNvSpPr>
            <p:nvPr userDrawn="1"/>
          </p:nvSpPr>
          <p:spPr bwMode="auto">
            <a:xfrm>
              <a:off x="267" y="3293"/>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29" name="Freeform 209"/>
            <p:cNvSpPr>
              <a:spLocks/>
            </p:cNvSpPr>
            <p:nvPr userDrawn="1"/>
          </p:nvSpPr>
          <p:spPr bwMode="auto">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30" name="Freeform 210"/>
            <p:cNvSpPr>
              <a:spLocks/>
            </p:cNvSpPr>
            <p:nvPr userDrawn="1"/>
          </p:nvSpPr>
          <p:spPr bwMode="auto">
            <a:xfrm>
              <a:off x="501" y="3344"/>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31" name="Freeform 211"/>
            <p:cNvSpPr>
              <a:spLocks/>
            </p:cNvSpPr>
            <p:nvPr userDrawn="1"/>
          </p:nvSpPr>
          <p:spPr bwMode="auto">
            <a:xfrm>
              <a:off x="905" y="3157"/>
              <a:ext cx="177" cy="38"/>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32" name="Freeform 212"/>
            <p:cNvSpPr>
              <a:spLocks/>
            </p:cNvSpPr>
            <p:nvPr userDrawn="1"/>
          </p:nvSpPr>
          <p:spPr bwMode="auto">
            <a:xfrm>
              <a:off x="965" y="3154"/>
              <a:ext cx="136" cy="79"/>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33" name="Freeform 213"/>
            <p:cNvSpPr>
              <a:spLocks/>
            </p:cNvSpPr>
            <p:nvPr userDrawn="1"/>
          </p:nvSpPr>
          <p:spPr bwMode="auto">
            <a:xfrm>
              <a:off x="959" y="3205"/>
              <a:ext cx="177" cy="85"/>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34" name="Freeform 214"/>
            <p:cNvSpPr>
              <a:spLocks/>
            </p:cNvSpPr>
            <p:nvPr userDrawn="1"/>
          </p:nvSpPr>
          <p:spPr bwMode="auto">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35" name="Freeform 215"/>
            <p:cNvSpPr>
              <a:spLocks/>
            </p:cNvSpPr>
            <p:nvPr userDrawn="1"/>
          </p:nvSpPr>
          <p:spPr bwMode="auto">
            <a:xfrm>
              <a:off x="870" y="3341"/>
              <a:ext cx="202" cy="54"/>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36" name="Freeform 216"/>
            <p:cNvSpPr>
              <a:spLocks/>
            </p:cNvSpPr>
            <p:nvPr userDrawn="1"/>
          </p:nvSpPr>
          <p:spPr bwMode="auto">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sp>
          <p:nvSpPr>
            <p:cNvPr id="594137" name="Freeform 217"/>
            <p:cNvSpPr>
              <a:spLocks/>
            </p:cNvSpPr>
            <p:nvPr userDrawn="1"/>
          </p:nvSpPr>
          <p:spPr bwMode="auto">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FFFF99"/>
            </a:solidFill>
            <a:ln w="0">
              <a:noFill/>
              <a:prstDash val="solid"/>
              <a:round/>
              <a:headEnd/>
              <a:tailEnd/>
            </a:ln>
          </p:spPr>
          <p:txBody>
            <a:bodyPr/>
            <a:lstStyle/>
            <a:p>
              <a:pPr>
                <a:defRPr/>
              </a:pPr>
              <a:endParaRPr lang="zh-CN" altLang="en-US">
                <a:ea typeface="宋体" pitchFamily="2" charset="-122"/>
              </a:endParaRPr>
            </a:p>
          </p:txBody>
        </p:sp>
      </p:grpSp>
      <p:pic>
        <p:nvPicPr>
          <p:cNvPr id="21511" name="Picture 273" descr="校徽blue2"/>
          <p:cNvPicPr>
            <a:picLocks noChangeAspect="1" noChangeArrowheads="1"/>
          </p:cNvPicPr>
          <p:nvPr userDrawn="1"/>
        </p:nvPicPr>
        <p:blipFill>
          <a:blip r:embed="rId14">
            <a:lum bright="90000" contrast="-6000"/>
            <a:extLst>
              <a:ext uri="{28A0092B-C50C-407E-A947-70E740481C1C}">
                <a14:useLocalDpi xmlns:a14="http://schemas.microsoft.com/office/drawing/2010/main" val="0"/>
              </a:ext>
            </a:extLst>
          </a:blip>
          <a:srcRect/>
          <a:stretch>
            <a:fillRect/>
          </a:stretch>
        </p:blipFill>
        <p:spPr bwMode="auto">
          <a:xfrm>
            <a:off x="5505450" y="280988"/>
            <a:ext cx="3387725" cy="339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71"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Lst>
  <p:transition spd="med">
    <p:wipe dir="d"/>
  </p:transition>
  <p:timing>
    <p:tnLst>
      <p:par>
        <p:cTn id="1" dur="indefinite" restart="never" nodeType="tmRoot"/>
      </p:par>
    </p:tnLst>
  </p:timing>
  <p:txStyles>
    <p:title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1"/>
          </a:solidFill>
          <a:latin typeface="Arial" charset="0"/>
          <a:ea typeface="华文新魏" pitchFamily="2" charset="-122"/>
        </a:defRPr>
      </a:lvl2pPr>
      <a:lvl3pPr algn="ctr" rtl="0" eaLnBrk="0" fontAlgn="base" hangingPunct="0">
        <a:spcBef>
          <a:spcPct val="0"/>
        </a:spcBef>
        <a:spcAft>
          <a:spcPct val="0"/>
        </a:spcAft>
        <a:defRPr sz="4000">
          <a:solidFill>
            <a:schemeClr val="tx1"/>
          </a:solidFill>
          <a:latin typeface="Arial" charset="0"/>
          <a:ea typeface="华文新魏" pitchFamily="2" charset="-122"/>
        </a:defRPr>
      </a:lvl3pPr>
      <a:lvl4pPr algn="ctr" rtl="0" eaLnBrk="0" fontAlgn="base" hangingPunct="0">
        <a:spcBef>
          <a:spcPct val="0"/>
        </a:spcBef>
        <a:spcAft>
          <a:spcPct val="0"/>
        </a:spcAft>
        <a:defRPr sz="4000">
          <a:solidFill>
            <a:schemeClr val="tx1"/>
          </a:solidFill>
          <a:latin typeface="Arial" charset="0"/>
          <a:ea typeface="华文新魏" pitchFamily="2" charset="-122"/>
        </a:defRPr>
      </a:lvl4pPr>
      <a:lvl5pPr algn="ctr" rtl="0" eaLnBrk="0" fontAlgn="base" hangingPunct="0">
        <a:spcBef>
          <a:spcPct val="0"/>
        </a:spcBef>
        <a:spcAft>
          <a:spcPct val="0"/>
        </a:spcAft>
        <a:defRPr sz="4000">
          <a:solidFill>
            <a:schemeClr val="tx1"/>
          </a:solidFill>
          <a:latin typeface="Arial" charset="0"/>
          <a:ea typeface="华文新魏" pitchFamily="2" charset="-122"/>
        </a:defRPr>
      </a:lvl5pPr>
      <a:lvl6pPr marL="457200" algn="ctr" rtl="0" fontAlgn="base">
        <a:spcBef>
          <a:spcPct val="0"/>
        </a:spcBef>
        <a:spcAft>
          <a:spcPct val="0"/>
        </a:spcAft>
        <a:defRPr sz="4000">
          <a:solidFill>
            <a:schemeClr val="tx1"/>
          </a:solidFill>
          <a:latin typeface="Arial" charset="0"/>
          <a:ea typeface="华文新魏" pitchFamily="2" charset="-122"/>
        </a:defRPr>
      </a:lvl6pPr>
      <a:lvl7pPr marL="914400" algn="ctr" rtl="0" fontAlgn="base">
        <a:spcBef>
          <a:spcPct val="0"/>
        </a:spcBef>
        <a:spcAft>
          <a:spcPct val="0"/>
        </a:spcAft>
        <a:defRPr sz="4000">
          <a:solidFill>
            <a:schemeClr val="tx1"/>
          </a:solidFill>
          <a:latin typeface="Arial" charset="0"/>
          <a:ea typeface="华文新魏" pitchFamily="2" charset="-122"/>
        </a:defRPr>
      </a:lvl7pPr>
      <a:lvl8pPr marL="1371600" algn="ctr" rtl="0" fontAlgn="base">
        <a:spcBef>
          <a:spcPct val="0"/>
        </a:spcBef>
        <a:spcAft>
          <a:spcPct val="0"/>
        </a:spcAft>
        <a:defRPr sz="4000">
          <a:solidFill>
            <a:schemeClr val="tx1"/>
          </a:solidFill>
          <a:latin typeface="Arial" charset="0"/>
          <a:ea typeface="华文新魏" pitchFamily="2" charset="-122"/>
        </a:defRPr>
      </a:lvl8pPr>
      <a:lvl9pPr marL="1828800" algn="ctr" rtl="0" fontAlgn="base">
        <a:spcBef>
          <a:spcPct val="0"/>
        </a:spcBef>
        <a:spcAft>
          <a:spcPct val="0"/>
        </a:spcAft>
        <a:defRPr sz="4000">
          <a:solidFill>
            <a:schemeClr val="tx1"/>
          </a:solidFill>
          <a:latin typeface="Arial" charset="0"/>
          <a:ea typeface="华文新魏"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B3B741-5216-414E-B74B-795A24EA3A0B}" type="slidenum">
              <a:rPr lang="zh-CN" altLang="en-US" smtClean="0"/>
              <a:t>‹#›</a:t>
            </a:fld>
            <a:endParaRPr lang="zh-CN" altLang="en-US" dirty="0"/>
          </a:p>
        </p:txBody>
      </p:sp>
      <p:pic>
        <p:nvPicPr>
          <p:cNvPr id="7" name="Picture 13" descr="xbhs"/>
          <p:cNvPicPr>
            <a:picLocks noChangeAspect="1" noChangeArrowheads="1"/>
          </p:cNvPicPr>
          <p:nvPr userDrawn="1"/>
        </p:nvPicPr>
        <p:blipFill>
          <a:blip r:embed="rId3">
            <a:extLst>
              <a:ext uri="{28A0092B-C50C-407E-A947-70E740481C1C}">
                <a14:useLocalDpi xmlns:a14="http://schemas.microsoft.com/office/drawing/2010/main" val="0"/>
              </a:ext>
            </a:extLst>
          </a:blip>
          <a:srcRect r="53241" b="57249"/>
          <a:stretch>
            <a:fillRect/>
          </a:stretch>
        </p:blipFill>
        <p:spPr bwMode="auto">
          <a:xfrm>
            <a:off x="423817" y="5489135"/>
            <a:ext cx="1174241" cy="118124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userDrawn="1"/>
        </p:nvSpPr>
        <p:spPr>
          <a:xfrm>
            <a:off x="7101555" y="491380"/>
            <a:ext cx="2042446" cy="115368"/>
          </a:xfrm>
          <a:prstGeom prst="rect">
            <a:avLst/>
          </a:prstGeom>
          <a:solidFill>
            <a:srgbClr val="A74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userDrawn="1"/>
        </p:nvSpPr>
        <p:spPr>
          <a:xfrm>
            <a:off x="7007545" y="59819"/>
            <a:ext cx="2159566" cy="446276"/>
          </a:xfrm>
          <a:prstGeom prst="rect">
            <a:avLst/>
          </a:prstGeom>
          <a:noFill/>
        </p:spPr>
        <p:txBody>
          <a:bodyPr wrap="none" rtlCol="0">
            <a:spAutoFit/>
          </a:bodyPr>
          <a:lstStyle/>
          <a:p>
            <a:r>
              <a:rPr lang="zh-CN" altLang="en-US" sz="2000" b="1" kern="1000" spc="-170" baseline="0" dirty="0" smtClean="0">
                <a:solidFill>
                  <a:srgbClr val="C00000"/>
                </a:solidFill>
              </a:rPr>
              <a:t>智者乐水  仁者乐山</a:t>
            </a:r>
            <a:endParaRPr lang="zh-CN" altLang="en-US" sz="2000" b="1" kern="1000" spc="-170" baseline="0" dirty="0">
              <a:solidFill>
                <a:srgbClr val="C00000"/>
              </a:solidFill>
            </a:endParaRPr>
          </a:p>
        </p:txBody>
      </p:sp>
    </p:spTree>
    <p:extLst>
      <p:ext uri="{BB962C8B-B14F-4D97-AF65-F5344CB8AC3E}">
        <p14:creationId xmlns:p14="http://schemas.microsoft.com/office/powerpoint/2010/main" val="1288836965"/>
      </p:ext>
    </p:extLst>
  </p:cSld>
  <p:clrMap bg1="lt1" tx1="dk1" bg2="lt2" tx2="dk2" accent1="accent1" accent2="accent2" accent3="accent3" accent4="accent4" accent5="accent5" accent6="accent6" hlink="hlink" folHlink="folHlink"/>
  <p:sldLayoutIdLst>
    <p:sldLayoutId id="214748376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notesSlide" Target="../notesSlides/notesSlide19.xml"/><Relationship Id="rId7"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13.jpeg"/><Relationship Id="rId4" Type="http://schemas.openxmlformats.org/officeDocument/2006/relationships/image" Target="../media/image12.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16.wmf"/><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15.w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18.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hyperlink" Target="file:///D:\&#25945;&#23398;2013\&#22303;&#21147;&#23398;\02-&#31532;1&#31456;\&#28595;&#27954;&#34597;&#34612;-&#27611;&#32454;&#21560;&#27700;.avi" TargetMode="External"/><Relationship Id="rId5" Type="http://schemas.openxmlformats.org/officeDocument/2006/relationships/image" Target="../media/image20.wmf"/><Relationship Id="rId4" Type="http://schemas.openxmlformats.org/officeDocument/2006/relationships/oleObject" Target="../embeddings/oleObject5.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vmlDrawing" Target="../drawings/vmlDrawing6.vml"/><Relationship Id="rId5" Type="http://schemas.openxmlformats.org/officeDocument/2006/relationships/image" Target="../media/image21.wmf"/><Relationship Id="rId4" Type="http://schemas.openxmlformats.org/officeDocument/2006/relationships/oleObject" Target="../embeddings/oleObject7.bin"/></Relationships>
</file>

<file path=ppt/slides/_rels/slide4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vmlDrawing" Target="../drawings/vmlDrawing8.vml"/><Relationship Id="rId5" Type="http://schemas.openxmlformats.org/officeDocument/2006/relationships/image" Target="../media/image24.wmf"/><Relationship Id="rId4" Type="http://schemas.openxmlformats.org/officeDocument/2006/relationships/oleObject" Target="../embeddings/oleObject9.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vmlDrawing" Target="../drawings/vmlDrawing9.vml"/><Relationship Id="rId6" Type="http://schemas.openxmlformats.org/officeDocument/2006/relationships/image" Target="../media/image23.jpeg"/><Relationship Id="rId5" Type="http://schemas.openxmlformats.org/officeDocument/2006/relationships/image" Target="../media/image25.wmf"/><Relationship Id="rId4" Type="http://schemas.openxmlformats.org/officeDocument/2006/relationships/oleObject" Target="../embeddings/oleObject10.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vmlDrawing" Target="../drawings/vmlDrawing11.vml"/><Relationship Id="rId6" Type="http://schemas.openxmlformats.org/officeDocument/2006/relationships/image" Target="../media/image23.jpeg"/><Relationship Id="rId5" Type="http://schemas.openxmlformats.org/officeDocument/2006/relationships/image" Target="../media/image26.wmf"/><Relationship Id="rId4" Type="http://schemas.openxmlformats.org/officeDocument/2006/relationships/oleObject" Target="../embeddings/oleObject12.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vmlDrawing" Target="../drawings/vmlDrawing13.vml"/><Relationship Id="rId6" Type="http://schemas.openxmlformats.org/officeDocument/2006/relationships/image" Target="../media/image23.jpeg"/><Relationship Id="rId5" Type="http://schemas.openxmlformats.org/officeDocument/2006/relationships/image" Target="../media/image28.wmf"/><Relationship Id="rId4" Type="http://schemas.openxmlformats.org/officeDocument/2006/relationships/oleObject" Target="../embeddings/oleObject14.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notesSlide" Target="../notesSlides/notesSlide56.xml"/><Relationship Id="rId7" Type="http://schemas.openxmlformats.org/officeDocument/2006/relationships/image" Target="../media/image31.wmf"/><Relationship Id="rId12" Type="http://schemas.openxmlformats.org/officeDocument/2006/relationships/image" Target="../media/image23.jpeg"/><Relationship Id="rId2" Type="http://schemas.openxmlformats.org/officeDocument/2006/relationships/slideLayout" Target="../slideLayouts/slideLayout13.xml"/><Relationship Id="rId1" Type="http://schemas.openxmlformats.org/officeDocument/2006/relationships/vmlDrawing" Target="../drawings/vmlDrawing15.vml"/><Relationship Id="rId6" Type="http://schemas.openxmlformats.org/officeDocument/2006/relationships/oleObject" Target="../embeddings/oleObject17.bin"/><Relationship Id="rId11" Type="http://schemas.openxmlformats.org/officeDocument/2006/relationships/image" Target="../media/image33.wmf"/><Relationship Id="rId5" Type="http://schemas.openxmlformats.org/officeDocument/2006/relationships/image" Target="../media/image30.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32.wmf"/></Relationships>
</file>

<file path=ppt/slides/_rels/slide57.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notesSlide" Target="../notesSlides/notesSlide57.xml"/><Relationship Id="rId7" Type="http://schemas.openxmlformats.org/officeDocument/2006/relationships/image" Target="../media/image38.wmf"/><Relationship Id="rId2" Type="http://schemas.openxmlformats.org/officeDocument/2006/relationships/slideLayout" Target="../slideLayouts/slideLayout13.xml"/><Relationship Id="rId1" Type="http://schemas.openxmlformats.org/officeDocument/2006/relationships/vmlDrawing" Target="../drawings/vmlDrawing17.vml"/><Relationship Id="rId6" Type="http://schemas.openxmlformats.org/officeDocument/2006/relationships/oleObject" Target="../embeddings/oleObject24.bin"/><Relationship Id="rId5" Type="http://schemas.openxmlformats.org/officeDocument/2006/relationships/image" Target="../media/image37.wmf"/><Relationship Id="rId4" Type="http://schemas.openxmlformats.org/officeDocument/2006/relationships/oleObject" Target="../embeddings/oleObject23.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notesSlide" Target="../notesSlides/notesSlide58.xml"/><Relationship Id="rId7" Type="http://schemas.openxmlformats.org/officeDocument/2006/relationships/image" Target="../media/image40.wmf"/><Relationship Id="rId12" Type="http://schemas.openxmlformats.org/officeDocument/2006/relationships/image" Target="../media/image42.wmf"/><Relationship Id="rId2" Type="http://schemas.openxmlformats.org/officeDocument/2006/relationships/slideLayout" Target="../slideLayouts/slideLayout13.xml"/><Relationship Id="rId1" Type="http://schemas.openxmlformats.org/officeDocument/2006/relationships/vmlDrawing" Target="../drawings/vmlDrawing19.vml"/><Relationship Id="rId6" Type="http://schemas.openxmlformats.org/officeDocument/2006/relationships/oleObject" Target="../embeddings/oleObject27.bin"/><Relationship Id="rId11" Type="http://schemas.openxmlformats.org/officeDocument/2006/relationships/oleObject" Target="../embeddings/oleObject29.bin"/><Relationship Id="rId5" Type="http://schemas.openxmlformats.org/officeDocument/2006/relationships/image" Target="../media/image39.wmf"/><Relationship Id="rId10" Type="http://schemas.openxmlformats.org/officeDocument/2006/relationships/image" Target="../media/image23.jpeg"/><Relationship Id="rId4" Type="http://schemas.openxmlformats.org/officeDocument/2006/relationships/oleObject" Target="../embeddings/oleObject26.bin"/><Relationship Id="rId9" Type="http://schemas.openxmlformats.org/officeDocument/2006/relationships/image" Target="../media/image41.w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49.wmf"/><Relationship Id="rId3" Type="http://schemas.openxmlformats.org/officeDocument/2006/relationships/notesSlide" Target="../notesSlides/notesSlide59.xml"/><Relationship Id="rId7" Type="http://schemas.openxmlformats.org/officeDocument/2006/relationships/image" Target="../media/image46.wmf"/><Relationship Id="rId12" Type="http://schemas.openxmlformats.org/officeDocument/2006/relationships/oleObject" Target="../embeddings/oleObject36.bin"/><Relationship Id="rId2" Type="http://schemas.openxmlformats.org/officeDocument/2006/relationships/slideLayout" Target="../slideLayouts/slideLayout13.xml"/><Relationship Id="rId1" Type="http://schemas.openxmlformats.org/officeDocument/2006/relationships/vmlDrawing" Target="../drawings/vmlDrawing21.vml"/><Relationship Id="rId6" Type="http://schemas.openxmlformats.org/officeDocument/2006/relationships/oleObject" Target="../embeddings/oleObject33.bin"/><Relationship Id="rId11" Type="http://schemas.openxmlformats.org/officeDocument/2006/relationships/image" Target="../media/image48.wmf"/><Relationship Id="rId5" Type="http://schemas.openxmlformats.org/officeDocument/2006/relationships/image" Target="../media/image45.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47.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vmlDrawing" Target="../drawings/vmlDrawing22.vml"/><Relationship Id="rId5" Type="http://schemas.openxmlformats.org/officeDocument/2006/relationships/image" Target="../media/image50.wmf"/><Relationship Id="rId4" Type="http://schemas.openxmlformats.org/officeDocument/2006/relationships/oleObject" Target="../embeddings/oleObject37.bin"/></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7" Type="http://schemas.openxmlformats.org/officeDocument/2006/relationships/image" Target="../media/image53.wmf"/><Relationship Id="rId2" Type="http://schemas.openxmlformats.org/officeDocument/2006/relationships/slideLayout" Target="../slideLayouts/slideLayout13.xml"/><Relationship Id="rId1" Type="http://schemas.openxmlformats.org/officeDocument/2006/relationships/vmlDrawing" Target="../drawings/vmlDrawing24.vml"/><Relationship Id="rId6" Type="http://schemas.openxmlformats.org/officeDocument/2006/relationships/oleObject" Target="../embeddings/oleObject40.bin"/><Relationship Id="rId5" Type="http://schemas.openxmlformats.org/officeDocument/2006/relationships/image" Target="../media/image52.wmf"/><Relationship Id="rId4" Type="http://schemas.openxmlformats.org/officeDocument/2006/relationships/oleObject" Target="../embeddings/oleObject39.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3.xml"/><Relationship Id="rId1" Type="http://schemas.openxmlformats.org/officeDocument/2006/relationships/vmlDrawing" Target="../drawings/vmlDrawing26.vml"/><Relationship Id="rId5" Type="http://schemas.openxmlformats.org/officeDocument/2006/relationships/image" Target="../media/image54.wmf"/><Relationship Id="rId4" Type="http://schemas.openxmlformats.org/officeDocument/2006/relationships/oleObject" Target="../embeddings/oleObject42.bin"/></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3.xml"/><Relationship Id="rId1" Type="http://schemas.openxmlformats.org/officeDocument/2006/relationships/vmlDrawing" Target="../drawings/vmlDrawing28.vml"/><Relationship Id="rId5" Type="http://schemas.openxmlformats.org/officeDocument/2006/relationships/image" Target="../media/image56.wmf"/><Relationship Id="rId4" Type="http://schemas.openxmlformats.org/officeDocument/2006/relationships/oleObject" Target="../embeddings/oleObject44.bin"/></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3.xml"/><Relationship Id="rId1" Type="http://schemas.openxmlformats.org/officeDocument/2006/relationships/vmlDrawing" Target="../drawings/vmlDrawing29.vml"/><Relationship Id="rId5" Type="http://schemas.openxmlformats.org/officeDocument/2006/relationships/image" Target="../media/image57.wmf"/><Relationship Id="rId4" Type="http://schemas.openxmlformats.org/officeDocument/2006/relationships/oleObject" Target="../embeddings/oleObject45.bin"/></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7" Type="http://schemas.openxmlformats.org/officeDocument/2006/relationships/image" Target="../media/image60.wmf"/><Relationship Id="rId2" Type="http://schemas.openxmlformats.org/officeDocument/2006/relationships/slideLayout" Target="../slideLayouts/slideLayout13.xml"/><Relationship Id="rId1" Type="http://schemas.openxmlformats.org/officeDocument/2006/relationships/vmlDrawing" Target="../drawings/vmlDrawing31.vml"/><Relationship Id="rId6" Type="http://schemas.openxmlformats.org/officeDocument/2006/relationships/oleObject" Target="../embeddings/oleObject48.bin"/><Relationship Id="rId5" Type="http://schemas.openxmlformats.org/officeDocument/2006/relationships/image" Target="../media/image59.wmf"/><Relationship Id="rId4" Type="http://schemas.openxmlformats.org/officeDocument/2006/relationships/oleObject" Target="../embeddings/oleObject47.bin"/></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80.xml"/><Relationship Id="rId1" Type="http://schemas.openxmlformats.org/officeDocument/2006/relationships/slideLayout" Target="../slideLayouts/slideLayout13.xml"/><Relationship Id="rId4" Type="http://schemas.openxmlformats.org/officeDocument/2006/relationships/image" Target="../media/image63.jpe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13.xml"/><Relationship Id="rId1" Type="http://schemas.openxmlformats.org/officeDocument/2006/relationships/vmlDrawing" Target="../drawings/vmlDrawing32.vml"/><Relationship Id="rId5" Type="http://schemas.openxmlformats.org/officeDocument/2006/relationships/image" Target="../media/image64.wmf"/><Relationship Id="rId4" Type="http://schemas.openxmlformats.org/officeDocument/2006/relationships/oleObject" Target="../embeddings/oleObject49.bin"/></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13.xml"/><Relationship Id="rId1" Type="http://schemas.openxmlformats.org/officeDocument/2006/relationships/vmlDrawing" Target="../drawings/vmlDrawing34.vml"/><Relationship Id="rId5" Type="http://schemas.openxmlformats.org/officeDocument/2006/relationships/image" Target="../media/image66.wmf"/><Relationship Id="rId4" Type="http://schemas.openxmlformats.org/officeDocument/2006/relationships/oleObject" Target="../embeddings/oleObject51.bin"/></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13.xml"/><Relationship Id="rId1" Type="http://schemas.openxmlformats.org/officeDocument/2006/relationships/vmlDrawing" Target="../drawings/vmlDrawing36.vml"/><Relationship Id="rId5" Type="http://schemas.openxmlformats.org/officeDocument/2006/relationships/image" Target="../media/image67.wmf"/><Relationship Id="rId4" Type="http://schemas.openxmlformats.org/officeDocument/2006/relationships/oleObject" Target="../embeddings/oleObject53.bin"/></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13.xml"/><Relationship Id="rId1" Type="http://schemas.openxmlformats.org/officeDocument/2006/relationships/vmlDrawing" Target="../drawings/vmlDrawing37.vml"/><Relationship Id="rId5" Type="http://schemas.openxmlformats.org/officeDocument/2006/relationships/image" Target="../media/image68.wmf"/><Relationship Id="rId4" Type="http://schemas.openxmlformats.org/officeDocument/2006/relationships/oleObject" Target="../embeddings/oleObject54.bin"/></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0.xml"/><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3.xml"/><Relationship Id="rId7" Type="http://schemas.openxmlformats.org/officeDocument/2006/relationships/image" Target="../media/image71.wmf"/><Relationship Id="rId2" Type="http://schemas.openxmlformats.org/officeDocument/2006/relationships/slideLayout" Target="../slideLayouts/slideLayout13.xml"/><Relationship Id="rId1" Type="http://schemas.openxmlformats.org/officeDocument/2006/relationships/vmlDrawing" Target="../drawings/vmlDrawing39.vml"/><Relationship Id="rId6" Type="http://schemas.openxmlformats.org/officeDocument/2006/relationships/oleObject" Target="../embeddings/oleObject57.bin"/><Relationship Id="rId5" Type="http://schemas.openxmlformats.org/officeDocument/2006/relationships/image" Target="../media/image70.wmf"/><Relationship Id="rId4" Type="http://schemas.openxmlformats.org/officeDocument/2006/relationships/oleObject" Target="../embeddings/oleObject56.bin"/></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ext Box 6"/>
          <p:cNvSpPr txBox="1">
            <a:spLocks noChangeArrowheads="1"/>
          </p:cNvSpPr>
          <p:nvPr/>
        </p:nvSpPr>
        <p:spPr bwMode="auto">
          <a:xfrm>
            <a:off x="3849688" y="3218503"/>
            <a:ext cx="2117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3200" b="1">
                <a:solidFill>
                  <a:srgbClr val="000066"/>
                </a:solidFill>
                <a:latin typeface="幼圆" pitchFamily="49" charset="-122"/>
                <a:ea typeface="幼圆" pitchFamily="49" charset="-122"/>
              </a:rPr>
              <a:t>张 丙 印</a:t>
            </a:r>
          </a:p>
        </p:txBody>
      </p:sp>
      <p:sp>
        <p:nvSpPr>
          <p:cNvPr id="23557" name="Text Box 59"/>
          <p:cNvSpPr txBox="1">
            <a:spLocks noChangeArrowheads="1"/>
          </p:cNvSpPr>
          <p:nvPr/>
        </p:nvSpPr>
        <p:spPr bwMode="auto">
          <a:xfrm>
            <a:off x="2557565" y="832005"/>
            <a:ext cx="318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400" b="1" dirty="0" smtClean="0">
                <a:solidFill>
                  <a:srgbClr val="990000"/>
                </a:solidFill>
                <a:latin typeface="黑体" pitchFamily="2" charset="-122"/>
                <a:ea typeface="黑体" pitchFamily="2" charset="-122"/>
              </a:rPr>
              <a:t>《</a:t>
            </a:r>
            <a:r>
              <a:rPr kumimoji="1" lang="zh-CN" altLang="en-US" sz="2400" b="1" dirty="0" smtClean="0">
                <a:solidFill>
                  <a:srgbClr val="990000"/>
                </a:solidFill>
                <a:latin typeface="黑体" pitchFamily="2" charset="-122"/>
                <a:ea typeface="黑体" pitchFamily="2" charset="-122"/>
              </a:rPr>
              <a:t>土力学</a:t>
            </a:r>
            <a:r>
              <a:rPr kumimoji="1" lang="en-US" altLang="zh-CN" sz="2400" b="1" dirty="0" smtClean="0">
                <a:solidFill>
                  <a:srgbClr val="990000"/>
                </a:solidFill>
                <a:latin typeface="黑体" pitchFamily="2" charset="-122"/>
                <a:ea typeface="黑体" pitchFamily="2" charset="-122"/>
              </a:rPr>
              <a:t>》</a:t>
            </a:r>
            <a:r>
              <a:rPr kumimoji="1" lang="zh-CN" altLang="en-US" sz="2400" b="1" dirty="0">
                <a:solidFill>
                  <a:srgbClr val="990000"/>
                </a:solidFill>
                <a:latin typeface="黑体" pitchFamily="2" charset="-122"/>
                <a:ea typeface="黑体" pitchFamily="2" charset="-122"/>
              </a:rPr>
              <a:t>之第一章</a:t>
            </a:r>
          </a:p>
        </p:txBody>
      </p:sp>
      <p:sp>
        <p:nvSpPr>
          <p:cNvPr id="23558" name="Text Box 61"/>
          <p:cNvSpPr txBox="1">
            <a:spLocks noChangeArrowheads="1"/>
          </p:cNvSpPr>
          <p:nvPr/>
        </p:nvSpPr>
        <p:spPr bwMode="auto">
          <a:xfrm>
            <a:off x="1506243" y="1718362"/>
            <a:ext cx="65944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400" b="1" dirty="0">
                <a:solidFill>
                  <a:srgbClr val="000066"/>
                </a:solidFill>
                <a:latin typeface="黑体" pitchFamily="2" charset="-122"/>
                <a:ea typeface="黑体" pitchFamily="2" charset="-122"/>
              </a:rPr>
              <a:t>土的物理性质与工程分类</a:t>
            </a:r>
            <a:endParaRPr lang="en-US" altLang="zh-CN" sz="4400" b="1" dirty="0">
              <a:solidFill>
                <a:srgbClr val="000066"/>
              </a:solidFill>
              <a:latin typeface="黑体" pitchFamily="2" charset="-122"/>
              <a:ea typeface="黑体" pitchFamily="2" charset="-122"/>
            </a:endParaRPr>
          </a:p>
        </p:txBody>
      </p:sp>
      <p:sp>
        <p:nvSpPr>
          <p:cNvPr id="17" name="Rectangle 2"/>
          <p:cNvSpPr>
            <a:spLocks noChangeArrowheads="1"/>
          </p:cNvSpPr>
          <p:nvPr/>
        </p:nvSpPr>
        <p:spPr bwMode="auto">
          <a:xfrm>
            <a:off x="1580955" y="4390958"/>
            <a:ext cx="642461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spcBef>
                <a:spcPct val="0"/>
              </a:spcBef>
              <a:spcAft>
                <a:spcPct val="0"/>
              </a:spcAft>
              <a:tabLst>
                <a:tab pos="1620838" algn="l"/>
              </a:tabLst>
            </a:pPr>
            <a:r>
              <a:rPr kumimoji="1" lang="zh-CN" altLang="en-US" sz="2400" b="1" dirty="0">
                <a:solidFill>
                  <a:srgbClr val="660066"/>
                </a:solidFill>
                <a:latin typeface="幼圆" pitchFamily="49" charset="-122"/>
                <a:ea typeface="幼圆" pitchFamily="49" charset="-122"/>
              </a:rPr>
              <a:t>	</a:t>
            </a:r>
            <a:r>
              <a:rPr kumimoji="1" lang="zh-CN" altLang="en-US" sz="3200" b="1" dirty="0">
                <a:solidFill>
                  <a:srgbClr val="660066"/>
                </a:solidFill>
                <a:latin typeface="黑体" pitchFamily="2" charset="-122"/>
                <a:ea typeface="黑体" pitchFamily="2" charset="-122"/>
              </a:rPr>
              <a:t>清华大学土木水利学院      </a:t>
            </a:r>
          </a:p>
          <a:p>
            <a:pPr>
              <a:lnSpc>
                <a:spcPct val="125000"/>
              </a:lnSpc>
              <a:spcBef>
                <a:spcPct val="0"/>
              </a:spcBef>
              <a:spcAft>
                <a:spcPct val="0"/>
              </a:spcAft>
              <a:tabLst>
                <a:tab pos="1620838" algn="l"/>
              </a:tabLst>
            </a:pPr>
            <a:r>
              <a:rPr kumimoji="1" lang="zh-CN" altLang="en-US" sz="3200" b="1" dirty="0">
                <a:solidFill>
                  <a:srgbClr val="660066"/>
                </a:solidFill>
                <a:latin typeface="黑体" pitchFamily="2" charset="-122"/>
                <a:ea typeface="黑体" pitchFamily="2" charset="-122"/>
              </a:rPr>
              <a:t>      	岩 土 工 程 研 究 所</a:t>
            </a:r>
          </a:p>
        </p:txBody>
      </p:sp>
    </p:spTree>
  </p:cSld>
  <p:clrMapOvr>
    <a:masterClrMapping/>
  </p:clrMapOvr>
  <p:transition spd="med">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a:spLocks noChangeArrowheads="1"/>
          </p:cNvSpPr>
          <p:nvPr/>
        </p:nvSpPr>
        <p:spPr bwMode="auto">
          <a:xfrm>
            <a:off x="1033463" y="2127250"/>
            <a:ext cx="2651125" cy="283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Font typeface="Wingdings" pitchFamily="2" charset="2"/>
              <a:buChar char="²"/>
            </a:pPr>
            <a:r>
              <a:rPr lang="zh-CN" altLang="en-US" sz="2800" b="1">
                <a:solidFill>
                  <a:srgbClr val="A50021"/>
                </a:solidFill>
                <a:latin typeface="幼圆" pitchFamily="49" charset="-122"/>
                <a:ea typeface="幼圆" pitchFamily="49" charset="-122"/>
              </a:rPr>
              <a:t> 本章提要</a:t>
            </a:r>
          </a:p>
          <a:p>
            <a:pPr eaLnBrk="1" hangingPunct="1">
              <a:lnSpc>
                <a:spcPct val="120000"/>
              </a:lnSpc>
              <a:spcBef>
                <a:spcPct val="45000"/>
              </a:spcBef>
              <a:spcAft>
                <a:spcPct val="45000"/>
              </a:spcAft>
              <a:buFont typeface="Wingdings" pitchFamily="2" charset="2"/>
              <a:buChar char="²"/>
            </a:pPr>
            <a:endParaRPr lang="zh-CN" altLang="en-US" sz="2400" b="1">
              <a:solidFill>
                <a:srgbClr val="A50021"/>
              </a:solidFill>
              <a:latin typeface="幼圆" pitchFamily="49" charset="-122"/>
              <a:ea typeface="幼圆" pitchFamily="49" charset="-122"/>
              <a:sym typeface="Wingdings" pitchFamily="2" charset="2"/>
            </a:endParaRPr>
          </a:p>
          <a:p>
            <a:pPr eaLnBrk="1" hangingPunct="1">
              <a:lnSpc>
                <a:spcPct val="120000"/>
              </a:lnSpc>
              <a:spcBef>
                <a:spcPct val="0"/>
              </a:spcBef>
              <a:spcAft>
                <a:spcPct val="0"/>
              </a:spcAft>
              <a:buFont typeface="Wingdings" pitchFamily="2" charset="2"/>
              <a:buChar char="²"/>
            </a:pPr>
            <a:r>
              <a:rPr lang="zh-CN" altLang="en-US" sz="2800" b="1">
                <a:solidFill>
                  <a:srgbClr val="A50021"/>
                </a:solidFill>
                <a:latin typeface="幼圆" pitchFamily="49" charset="-122"/>
                <a:ea typeface="幼圆" pitchFamily="49" charset="-122"/>
              </a:rPr>
              <a:t> 本章特点</a:t>
            </a:r>
          </a:p>
          <a:p>
            <a:pPr eaLnBrk="1" hangingPunct="1">
              <a:lnSpc>
                <a:spcPct val="120000"/>
              </a:lnSpc>
              <a:spcBef>
                <a:spcPct val="0"/>
              </a:spcBef>
              <a:spcAft>
                <a:spcPct val="0"/>
              </a:spcAft>
              <a:buFont typeface="Wingdings" pitchFamily="2" charset="2"/>
              <a:buChar char="²"/>
            </a:pPr>
            <a:endParaRPr lang="zh-CN" altLang="en-US" sz="2400" b="1">
              <a:solidFill>
                <a:srgbClr val="A50021"/>
              </a:solidFill>
              <a:latin typeface="幼圆" pitchFamily="49" charset="-122"/>
              <a:ea typeface="幼圆" pitchFamily="49" charset="-122"/>
            </a:endParaRPr>
          </a:p>
          <a:p>
            <a:pPr eaLnBrk="1" hangingPunct="1">
              <a:lnSpc>
                <a:spcPct val="120000"/>
              </a:lnSpc>
              <a:spcBef>
                <a:spcPct val="0"/>
              </a:spcBef>
              <a:spcAft>
                <a:spcPct val="0"/>
              </a:spcAft>
              <a:buFont typeface="Wingdings" pitchFamily="2" charset="2"/>
              <a:buChar char="²"/>
            </a:pPr>
            <a:r>
              <a:rPr lang="zh-CN" altLang="en-US" sz="2800" b="1">
                <a:solidFill>
                  <a:srgbClr val="A50021"/>
                </a:solidFill>
                <a:latin typeface="幼圆" pitchFamily="49" charset="-122"/>
                <a:ea typeface="幼圆" pitchFamily="49" charset="-122"/>
              </a:rPr>
              <a:t> 学习要点</a:t>
            </a:r>
            <a:endParaRPr lang="en-US" altLang="zh-CN" sz="2400" b="1">
              <a:solidFill>
                <a:srgbClr val="A50021"/>
              </a:solidFill>
              <a:latin typeface="幼圆" pitchFamily="49" charset="-122"/>
              <a:ea typeface="幼圆" pitchFamily="49" charset="-122"/>
            </a:endParaRPr>
          </a:p>
        </p:txBody>
      </p:sp>
      <p:sp>
        <p:nvSpPr>
          <p:cNvPr id="24579" name="Text Box 5"/>
          <p:cNvSpPr txBox="1">
            <a:spLocks noChangeArrowheads="1"/>
          </p:cNvSpPr>
          <p:nvPr/>
        </p:nvSpPr>
        <p:spPr bwMode="auto">
          <a:xfrm>
            <a:off x="1223963" y="1046163"/>
            <a:ext cx="64373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200" b="1">
                <a:solidFill>
                  <a:srgbClr val="000066"/>
                </a:solidFill>
                <a:latin typeface="黑体" pitchFamily="2" charset="-122"/>
                <a:ea typeface="黑体" pitchFamily="2" charset="-122"/>
              </a:rPr>
              <a:t>第一章：土的物理性质与工程分类</a:t>
            </a:r>
            <a:endParaRPr lang="en-US" altLang="zh-CN" sz="3200" b="1">
              <a:solidFill>
                <a:srgbClr val="000066"/>
              </a:solidFill>
              <a:latin typeface="黑体" pitchFamily="2" charset="-122"/>
              <a:ea typeface="黑体" pitchFamily="2" charset="-122"/>
            </a:endParaRPr>
          </a:p>
        </p:txBody>
      </p:sp>
      <p:sp>
        <p:nvSpPr>
          <p:cNvPr id="24580" name="Text Box 6"/>
          <p:cNvSpPr txBox="1">
            <a:spLocks noChangeArrowheads="1"/>
          </p:cNvSpPr>
          <p:nvPr/>
        </p:nvSpPr>
        <p:spPr bwMode="auto">
          <a:xfrm>
            <a:off x="3584575" y="2120900"/>
            <a:ext cx="5087938"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FontTx/>
              <a:buChar char="•"/>
            </a:pPr>
            <a:r>
              <a:rPr lang="zh-CN" altLang="en-US" sz="2400" b="1" dirty="0">
                <a:solidFill>
                  <a:srgbClr val="000066"/>
                </a:solidFill>
                <a:latin typeface="幼圆" pitchFamily="49" charset="-122"/>
                <a:ea typeface="幼圆" pitchFamily="49" charset="-122"/>
              </a:rPr>
              <a:t> 对土的特点进行详细解释</a:t>
            </a:r>
          </a:p>
          <a:p>
            <a:pPr eaLnBrk="1" hangingPunct="1">
              <a:lnSpc>
                <a:spcPct val="120000"/>
              </a:lnSpc>
              <a:spcBef>
                <a:spcPct val="0"/>
              </a:spcBef>
              <a:spcAft>
                <a:spcPct val="0"/>
              </a:spcAft>
              <a:buFontTx/>
              <a:buChar char="•"/>
            </a:pPr>
            <a:r>
              <a:rPr lang="zh-CN" altLang="en-US" sz="2400" b="1" dirty="0">
                <a:solidFill>
                  <a:srgbClr val="000066"/>
                </a:solidFill>
                <a:latin typeface="幼圆" pitchFamily="49" charset="-122"/>
                <a:ea typeface="幼圆" pitchFamily="49" charset="-122"/>
              </a:rPr>
              <a:t> 对土的组成和状态进行定量描述</a:t>
            </a:r>
          </a:p>
          <a:p>
            <a:pPr eaLnBrk="1" hangingPunct="1">
              <a:lnSpc>
                <a:spcPct val="120000"/>
              </a:lnSpc>
              <a:spcBef>
                <a:spcPct val="0"/>
              </a:spcBef>
              <a:spcAft>
                <a:spcPct val="0"/>
              </a:spcAft>
            </a:pPr>
            <a:r>
              <a:rPr lang="zh-CN" altLang="en-US" sz="2400" b="1" dirty="0">
                <a:solidFill>
                  <a:srgbClr val="000066"/>
                </a:solidFill>
                <a:latin typeface="幼圆" pitchFamily="49" charset="-122"/>
                <a:ea typeface="幼圆" pitchFamily="49" charset="-122"/>
              </a:rPr>
              <a:t>    </a:t>
            </a:r>
            <a:endParaRPr lang="zh-CN" altLang="en-US" sz="2400" b="1" dirty="0">
              <a:solidFill>
                <a:srgbClr val="000066"/>
              </a:solidFill>
              <a:latin typeface="幼圆" pitchFamily="49" charset="-122"/>
              <a:ea typeface="幼圆" pitchFamily="49" charset="-122"/>
              <a:sym typeface="Wingdings" pitchFamily="2" charset="2"/>
            </a:endParaRPr>
          </a:p>
          <a:p>
            <a:pPr eaLnBrk="1" hangingPunct="1">
              <a:lnSpc>
                <a:spcPct val="120000"/>
              </a:lnSpc>
              <a:spcBef>
                <a:spcPct val="0"/>
              </a:spcBef>
              <a:spcAft>
                <a:spcPct val="0"/>
              </a:spcAft>
              <a:buFontTx/>
              <a:buChar char="•"/>
            </a:pPr>
            <a:r>
              <a:rPr lang="zh-CN" altLang="en-US" sz="2400" b="1" dirty="0">
                <a:solidFill>
                  <a:srgbClr val="000066"/>
                </a:solidFill>
                <a:latin typeface="幼圆" pitchFamily="49" charset="-122"/>
                <a:ea typeface="幼圆" pitchFamily="49" charset="-122"/>
              </a:rPr>
              <a:t> 内容琐碎、零散</a:t>
            </a:r>
          </a:p>
          <a:p>
            <a:pPr eaLnBrk="1" hangingPunct="1">
              <a:lnSpc>
                <a:spcPct val="120000"/>
              </a:lnSpc>
              <a:buFontTx/>
              <a:buChar char="•"/>
            </a:pPr>
            <a:endParaRPr lang="zh-CN" altLang="en-US" sz="2400" b="1" dirty="0">
              <a:solidFill>
                <a:srgbClr val="000066"/>
              </a:solidFill>
              <a:latin typeface="幼圆" pitchFamily="49" charset="-122"/>
              <a:ea typeface="幼圆" pitchFamily="49" charset="-122"/>
            </a:endParaRPr>
          </a:p>
          <a:p>
            <a:pPr eaLnBrk="1" hangingPunct="1">
              <a:lnSpc>
                <a:spcPct val="120000"/>
              </a:lnSpc>
              <a:spcBef>
                <a:spcPct val="0"/>
              </a:spcBef>
              <a:spcAft>
                <a:spcPct val="0"/>
              </a:spcAft>
              <a:buFontTx/>
              <a:buChar char="•"/>
            </a:pPr>
            <a:r>
              <a:rPr lang="zh-CN" altLang="en-US" sz="2400" b="1" dirty="0">
                <a:solidFill>
                  <a:srgbClr val="000066"/>
                </a:solidFill>
                <a:latin typeface="幼圆" pitchFamily="49" charset="-122"/>
                <a:ea typeface="幼圆" pitchFamily="49" charset="-122"/>
              </a:rPr>
              <a:t> 理清各节间联系</a:t>
            </a:r>
          </a:p>
          <a:p>
            <a:pPr eaLnBrk="1" hangingPunct="1">
              <a:lnSpc>
                <a:spcPct val="120000"/>
              </a:lnSpc>
              <a:spcBef>
                <a:spcPct val="0"/>
              </a:spcBef>
              <a:spcAft>
                <a:spcPct val="0"/>
              </a:spcAft>
              <a:buFontTx/>
              <a:buChar char="•"/>
            </a:pPr>
            <a:r>
              <a:rPr lang="zh-CN" altLang="en-US" sz="2400" b="1" dirty="0">
                <a:solidFill>
                  <a:srgbClr val="000066"/>
                </a:solidFill>
                <a:latin typeface="幼圆" pitchFamily="49" charset="-122"/>
                <a:ea typeface="幼圆" pitchFamily="49" charset="-122"/>
              </a:rPr>
              <a:t> 理清各节内层次</a:t>
            </a:r>
          </a:p>
          <a:p>
            <a:pPr eaLnBrk="1" hangingPunct="1">
              <a:lnSpc>
                <a:spcPct val="120000"/>
              </a:lnSpc>
              <a:spcBef>
                <a:spcPct val="0"/>
              </a:spcBef>
              <a:spcAft>
                <a:spcPct val="0"/>
              </a:spcAft>
              <a:buFontTx/>
              <a:buChar char="•"/>
            </a:pPr>
            <a:r>
              <a:rPr lang="zh-CN" altLang="en-US" sz="2400" b="1" dirty="0">
                <a:solidFill>
                  <a:srgbClr val="000066"/>
                </a:solidFill>
                <a:latin typeface="幼圆" pitchFamily="49" charset="-122"/>
                <a:ea typeface="幼圆" pitchFamily="49" charset="-122"/>
              </a:rPr>
              <a:t> 注意物理概念的把握</a:t>
            </a:r>
            <a:endParaRPr lang="en-US" altLang="zh-CN" sz="2400" b="1" dirty="0">
              <a:solidFill>
                <a:srgbClr val="000066"/>
              </a:solidFill>
              <a:latin typeface="幼圆" pitchFamily="49" charset="-122"/>
              <a:ea typeface="幼圆" pitchFamily="49" charset="-122"/>
            </a:endParaRPr>
          </a:p>
        </p:txBody>
      </p:sp>
      <p:sp>
        <p:nvSpPr>
          <p:cNvPr id="6"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zh-CN" altLang="en-US" sz="2000" b="1" kern="900" spc="-140" dirty="0" smtClean="0">
                <a:solidFill>
                  <a:srgbClr val="C00000"/>
                </a:solidFill>
                <a:latin typeface="宋体" pitchFamily="2" charset="-122"/>
              </a:rPr>
              <a:t>第一章：本章概要</a:t>
            </a:r>
            <a:r>
              <a:rPr lang="zh-CN" altLang="en-US" sz="2000" kern="900" spc="-140" dirty="0" smtClean="0">
                <a:solidFill>
                  <a:srgbClr val="C00000"/>
                </a:solidFill>
                <a:latin typeface="宋体" pitchFamily="2" charset="-122"/>
              </a:rPr>
              <a:t> </a:t>
            </a:r>
            <a:endParaRPr lang="zh-CN" altLang="en-US" sz="2000" kern="900" spc="-140" dirty="0">
              <a:solidFill>
                <a:srgbClr val="C00000"/>
              </a:solidFill>
              <a:latin typeface="宋体" pitchFamily="2" charset="-122"/>
            </a:endParaRPr>
          </a:p>
        </p:txBody>
      </p:sp>
    </p:spTree>
  </p:cSld>
  <p:clrMapOvr>
    <a:masterClrMapping/>
  </p:clrMapOvr>
  <p:transition spd="med">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4"/>
          <p:cNvSpPr txBox="1">
            <a:spLocks noChangeArrowheads="1"/>
          </p:cNvSpPr>
          <p:nvPr/>
        </p:nvSpPr>
        <p:spPr bwMode="auto">
          <a:xfrm>
            <a:off x="1163638" y="968375"/>
            <a:ext cx="715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a:solidFill>
                  <a:srgbClr val="000066"/>
                </a:solidFill>
                <a:latin typeface="黑体" pitchFamily="2" charset="-122"/>
                <a:ea typeface="黑体" pitchFamily="2" charset="-122"/>
              </a:rPr>
              <a:t>第一章：土的物理性质与工程分类</a:t>
            </a:r>
            <a:endParaRPr lang="en-US" altLang="zh-CN" sz="3600" b="1">
              <a:solidFill>
                <a:srgbClr val="000066"/>
              </a:solidFill>
              <a:latin typeface="黑体" pitchFamily="2" charset="-122"/>
              <a:ea typeface="黑体" pitchFamily="2" charset="-122"/>
            </a:endParaRPr>
          </a:p>
        </p:txBody>
      </p:sp>
      <p:sp>
        <p:nvSpPr>
          <p:cNvPr id="1344537" name="Text Box 25"/>
          <p:cNvSpPr txBox="1">
            <a:spLocks noChangeArrowheads="1"/>
          </p:cNvSpPr>
          <p:nvPr/>
        </p:nvSpPr>
        <p:spPr bwMode="auto">
          <a:xfrm>
            <a:off x="2413000" y="1892300"/>
            <a:ext cx="451961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§1.1  </a:t>
            </a:r>
            <a:r>
              <a:rPr kumimoji="1" lang="zh-CN" altLang="en-US" sz="3200" b="1" dirty="0">
                <a:solidFill>
                  <a:srgbClr val="000066"/>
                </a:solidFill>
                <a:latin typeface="黑体" panose="02010609060101010101" pitchFamily="49" charset="-122"/>
                <a:ea typeface="黑体" panose="02010609060101010101" pitchFamily="49" charset="-122"/>
              </a:rPr>
              <a:t>土的形成</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§1.2  </a:t>
            </a:r>
            <a:r>
              <a:rPr kumimoji="1" lang="zh-CN" altLang="en-US" sz="3200" b="1" dirty="0">
                <a:solidFill>
                  <a:srgbClr val="000066"/>
                </a:solidFill>
                <a:latin typeface="黑体" panose="02010609060101010101" pitchFamily="49" charset="-122"/>
                <a:ea typeface="黑体" panose="02010609060101010101" pitchFamily="49" charset="-122"/>
              </a:rPr>
              <a:t>土的三相组成</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§1.3  </a:t>
            </a:r>
            <a:r>
              <a:rPr kumimoji="1" lang="zh-CN" altLang="en-US" sz="3200" b="1" dirty="0">
                <a:solidFill>
                  <a:srgbClr val="000066"/>
                </a:solidFill>
                <a:latin typeface="黑体" panose="02010609060101010101" pitchFamily="49" charset="-122"/>
                <a:ea typeface="黑体" panose="02010609060101010101" pitchFamily="49" charset="-122"/>
              </a:rPr>
              <a:t>土的物理状态</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§1.4  </a:t>
            </a:r>
            <a:r>
              <a:rPr kumimoji="1" lang="zh-CN" altLang="en-US" sz="3200" b="1" dirty="0">
                <a:solidFill>
                  <a:srgbClr val="000066"/>
                </a:solidFill>
                <a:latin typeface="黑体" panose="02010609060101010101" pitchFamily="49" charset="-122"/>
                <a:ea typeface="黑体" panose="02010609060101010101" pitchFamily="49" charset="-122"/>
              </a:rPr>
              <a:t>土的结构</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§1.5  </a:t>
            </a:r>
            <a:r>
              <a:rPr kumimoji="1" lang="zh-CN" altLang="en-US" sz="3200" b="1" dirty="0">
                <a:solidFill>
                  <a:srgbClr val="000066"/>
                </a:solidFill>
                <a:latin typeface="黑体" panose="02010609060101010101" pitchFamily="49" charset="-122"/>
                <a:ea typeface="黑体" panose="02010609060101010101" pitchFamily="49" charset="-122"/>
              </a:rPr>
              <a:t>土的工程分类</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§1.6  </a:t>
            </a:r>
            <a:r>
              <a:rPr kumimoji="1" lang="zh-CN" altLang="en-US" sz="3200" b="1" dirty="0">
                <a:solidFill>
                  <a:srgbClr val="000066"/>
                </a:solidFill>
                <a:latin typeface="黑体" panose="02010609060101010101" pitchFamily="49" charset="-122"/>
                <a:ea typeface="黑体" panose="02010609060101010101" pitchFamily="49" charset="-122"/>
              </a:rPr>
              <a:t>土的压实性 </a:t>
            </a:r>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1344537">
                                            <p:txEl>
                                              <p:pRg st="0" end="0"/>
                                            </p:txEl>
                                          </p:spTgt>
                                        </p:tgtEl>
                                        <p:attrNameLst>
                                          <p:attrName>style.visibility</p:attrName>
                                        </p:attrNameLst>
                                      </p:cBhvr>
                                      <p:to>
                                        <p:strVal val="visible"/>
                                      </p:to>
                                    </p:set>
                                    <p:anim calcmode="lin" valueType="num">
                                      <p:cBhvr additive="base">
                                        <p:cTn id="7" dur="500" fill="hold"/>
                                        <p:tgtEl>
                                          <p:spTgt spid="134453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44537">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500"/>
                                  </p:stCondLst>
                                  <p:childTnLst>
                                    <p:set>
                                      <p:cBhvr>
                                        <p:cTn id="11" dur="1" fill="hold">
                                          <p:stCondLst>
                                            <p:cond delay="0"/>
                                          </p:stCondLst>
                                        </p:cTn>
                                        <p:tgtEl>
                                          <p:spTgt spid="1344537">
                                            <p:txEl>
                                              <p:pRg st="1" end="1"/>
                                            </p:txEl>
                                          </p:spTgt>
                                        </p:tgtEl>
                                        <p:attrNameLst>
                                          <p:attrName>style.visibility</p:attrName>
                                        </p:attrNameLst>
                                      </p:cBhvr>
                                      <p:to>
                                        <p:strVal val="visible"/>
                                      </p:to>
                                    </p:set>
                                    <p:anim calcmode="lin" valueType="num">
                                      <p:cBhvr additive="base">
                                        <p:cTn id="12" dur="500" fill="hold"/>
                                        <p:tgtEl>
                                          <p:spTgt spid="1344537">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344537">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500"/>
                            </p:stCondLst>
                            <p:childTnLst>
                              <p:par>
                                <p:cTn id="15" presetID="2" presetClass="entr" presetSubtype="8" fill="hold" nodeType="afterEffect">
                                  <p:stCondLst>
                                    <p:cond delay="500"/>
                                  </p:stCondLst>
                                  <p:childTnLst>
                                    <p:set>
                                      <p:cBhvr>
                                        <p:cTn id="16" dur="1" fill="hold">
                                          <p:stCondLst>
                                            <p:cond delay="0"/>
                                          </p:stCondLst>
                                        </p:cTn>
                                        <p:tgtEl>
                                          <p:spTgt spid="1344537">
                                            <p:txEl>
                                              <p:pRg st="2" end="2"/>
                                            </p:txEl>
                                          </p:spTgt>
                                        </p:tgtEl>
                                        <p:attrNameLst>
                                          <p:attrName>style.visibility</p:attrName>
                                        </p:attrNameLst>
                                      </p:cBhvr>
                                      <p:to>
                                        <p:strVal val="visible"/>
                                      </p:to>
                                    </p:set>
                                    <p:anim calcmode="lin" valueType="num">
                                      <p:cBhvr additive="base">
                                        <p:cTn id="17" dur="500" fill="hold"/>
                                        <p:tgtEl>
                                          <p:spTgt spid="134453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344537">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2500"/>
                            </p:stCondLst>
                            <p:childTnLst>
                              <p:par>
                                <p:cTn id="20" presetID="2" presetClass="entr" presetSubtype="8" fill="hold" nodeType="afterEffect">
                                  <p:stCondLst>
                                    <p:cond delay="500"/>
                                  </p:stCondLst>
                                  <p:childTnLst>
                                    <p:set>
                                      <p:cBhvr>
                                        <p:cTn id="21" dur="1" fill="hold">
                                          <p:stCondLst>
                                            <p:cond delay="0"/>
                                          </p:stCondLst>
                                        </p:cTn>
                                        <p:tgtEl>
                                          <p:spTgt spid="1344537">
                                            <p:txEl>
                                              <p:pRg st="3" end="3"/>
                                            </p:txEl>
                                          </p:spTgt>
                                        </p:tgtEl>
                                        <p:attrNameLst>
                                          <p:attrName>style.visibility</p:attrName>
                                        </p:attrNameLst>
                                      </p:cBhvr>
                                      <p:to>
                                        <p:strVal val="visible"/>
                                      </p:to>
                                    </p:set>
                                    <p:anim calcmode="lin" valueType="num">
                                      <p:cBhvr additive="base">
                                        <p:cTn id="22" dur="500" fill="hold"/>
                                        <p:tgtEl>
                                          <p:spTgt spid="1344537">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344537">
                                            <p:txEl>
                                              <p:pRg st="3" end="3"/>
                                            </p:txEl>
                                          </p:spTgt>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3500"/>
                            </p:stCondLst>
                            <p:childTnLst>
                              <p:par>
                                <p:cTn id="25" presetID="2" presetClass="entr" presetSubtype="8" fill="hold" nodeType="afterEffect">
                                  <p:stCondLst>
                                    <p:cond delay="500"/>
                                  </p:stCondLst>
                                  <p:childTnLst>
                                    <p:set>
                                      <p:cBhvr>
                                        <p:cTn id="26" dur="1" fill="hold">
                                          <p:stCondLst>
                                            <p:cond delay="0"/>
                                          </p:stCondLst>
                                        </p:cTn>
                                        <p:tgtEl>
                                          <p:spTgt spid="1344537">
                                            <p:txEl>
                                              <p:pRg st="4" end="4"/>
                                            </p:txEl>
                                          </p:spTgt>
                                        </p:tgtEl>
                                        <p:attrNameLst>
                                          <p:attrName>style.visibility</p:attrName>
                                        </p:attrNameLst>
                                      </p:cBhvr>
                                      <p:to>
                                        <p:strVal val="visible"/>
                                      </p:to>
                                    </p:set>
                                    <p:anim calcmode="lin" valueType="num">
                                      <p:cBhvr additive="base">
                                        <p:cTn id="27" dur="500" fill="hold"/>
                                        <p:tgtEl>
                                          <p:spTgt spid="1344537">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344537">
                                            <p:txEl>
                                              <p:pRg st="4" end="4"/>
                                            </p:txEl>
                                          </p:spTgt>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4500"/>
                            </p:stCondLst>
                            <p:childTnLst>
                              <p:par>
                                <p:cTn id="30" presetID="2" presetClass="entr" presetSubtype="4" fill="hold" nodeType="afterEffect">
                                  <p:stCondLst>
                                    <p:cond delay="500"/>
                                  </p:stCondLst>
                                  <p:childTnLst>
                                    <p:set>
                                      <p:cBhvr>
                                        <p:cTn id="31" dur="1" fill="hold">
                                          <p:stCondLst>
                                            <p:cond delay="0"/>
                                          </p:stCondLst>
                                        </p:cTn>
                                        <p:tgtEl>
                                          <p:spTgt spid="1344537">
                                            <p:txEl>
                                              <p:pRg st="5" end="5"/>
                                            </p:txEl>
                                          </p:spTgt>
                                        </p:tgtEl>
                                        <p:attrNameLst>
                                          <p:attrName>style.visibility</p:attrName>
                                        </p:attrNameLst>
                                      </p:cBhvr>
                                      <p:to>
                                        <p:strVal val="visible"/>
                                      </p:to>
                                    </p:set>
                                    <p:anim calcmode="lin" valueType="num">
                                      <p:cBhvr additive="base">
                                        <p:cTn id="32" dur="500" fill="hold"/>
                                        <p:tgtEl>
                                          <p:spTgt spid="1344537">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34453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9401" name="Oval 9"/>
          <p:cNvSpPr>
            <a:spLocks noChangeArrowheads="1"/>
          </p:cNvSpPr>
          <p:nvPr/>
        </p:nvSpPr>
        <p:spPr bwMode="auto">
          <a:xfrm>
            <a:off x="6180191" y="2165110"/>
            <a:ext cx="2378075" cy="2232025"/>
          </a:xfrm>
          <a:prstGeom prst="ellipse">
            <a:avLst/>
          </a:prstGeom>
          <a:noFill/>
          <a:ln w="57150">
            <a:solidFill>
              <a:srgbClr val="A50021"/>
            </a:solidFill>
            <a:prstDash val="sysDot"/>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lnSpc>
                <a:spcPct val="100000"/>
              </a:lnSpc>
              <a:spcBef>
                <a:spcPct val="0"/>
              </a:spcBef>
              <a:spcAft>
                <a:spcPct val="0"/>
              </a:spcAft>
              <a:buFont typeface="Wingdings" pitchFamily="2" charset="2"/>
              <a:buNone/>
            </a:pPr>
            <a:r>
              <a:rPr kumimoji="1" lang="zh-CN" altLang="en-US" sz="3200">
                <a:solidFill>
                  <a:srgbClr val="000066"/>
                </a:solidFill>
                <a:latin typeface="黑体" pitchFamily="2" charset="-122"/>
                <a:ea typeface="黑体" pitchFamily="2" charset="-122"/>
              </a:rPr>
              <a:t>渗透特性</a:t>
            </a:r>
          </a:p>
          <a:p>
            <a:pPr algn="ctr">
              <a:lnSpc>
                <a:spcPct val="100000"/>
              </a:lnSpc>
              <a:spcBef>
                <a:spcPct val="0"/>
              </a:spcBef>
              <a:spcAft>
                <a:spcPct val="0"/>
              </a:spcAft>
              <a:buFont typeface="Wingdings" pitchFamily="2" charset="2"/>
              <a:buNone/>
            </a:pPr>
            <a:r>
              <a:rPr kumimoji="1" lang="zh-CN" altLang="en-US" sz="3200">
                <a:solidFill>
                  <a:srgbClr val="000066"/>
                </a:solidFill>
                <a:latin typeface="黑体" pitchFamily="2" charset="-122"/>
                <a:ea typeface="黑体" pitchFamily="2" charset="-122"/>
              </a:rPr>
              <a:t>变形特性</a:t>
            </a:r>
          </a:p>
          <a:p>
            <a:pPr algn="ctr">
              <a:lnSpc>
                <a:spcPct val="100000"/>
              </a:lnSpc>
              <a:spcBef>
                <a:spcPct val="0"/>
              </a:spcBef>
              <a:spcAft>
                <a:spcPct val="0"/>
              </a:spcAft>
              <a:buFont typeface="Wingdings" pitchFamily="2" charset="2"/>
              <a:buNone/>
            </a:pPr>
            <a:r>
              <a:rPr kumimoji="1" lang="zh-CN" altLang="en-US" sz="3200">
                <a:solidFill>
                  <a:srgbClr val="000066"/>
                </a:solidFill>
                <a:latin typeface="黑体" pitchFamily="2" charset="-122"/>
                <a:ea typeface="黑体" pitchFamily="2" charset="-122"/>
              </a:rPr>
              <a:t>强度特性</a:t>
            </a:r>
          </a:p>
        </p:txBody>
      </p:sp>
      <p:sp>
        <p:nvSpPr>
          <p:cNvPr id="25603" name="AutoShape 10"/>
          <p:cNvSpPr>
            <a:spLocks noChangeArrowheads="1"/>
          </p:cNvSpPr>
          <p:nvPr/>
        </p:nvSpPr>
        <p:spPr bwMode="auto">
          <a:xfrm>
            <a:off x="1279579" y="2436573"/>
            <a:ext cx="3163887" cy="1630362"/>
          </a:xfrm>
          <a:prstGeom prst="roundRect">
            <a:avLst>
              <a:gd name="adj" fmla="val 16667"/>
            </a:avLst>
          </a:prstGeom>
          <a:solidFill>
            <a:srgbClr val="FFFF99"/>
          </a:solidFill>
          <a:ln w="9525" algn="ctr">
            <a:solidFill>
              <a:srgbClr val="A50021"/>
            </a:solidFill>
            <a:round/>
            <a:headEnd/>
            <a:tailEnd/>
          </a:ln>
        </p:spPr>
        <p:txBody>
          <a:bodyPr lIns="0" tIns="0" rIns="0" bIns="0">
            <a:spAutoFit/>
          </a:bodyPr>
          <a:lstStyle/>
          <a:p>
            <a:pPr marL="514350" indent="-514350">
              <a:lnSpc>
                <a:spcPct val="100000"/>
              </a:lnSpc>
              <a:spcBef>
                <a:spcPct val="0"/>
              </a:spcBef>
              <a:spcAft>
                <a:spcPct val="0"/>
              </a:spcAft>
              <a:buFont typeface="+mj-lt"/>
              <a:buAutoNum type="arabicPeriod" startAt="2"/>
            </a:pPr>
            <a:r>
              <a:rPr kumimoji="1" lang="zh-CN" altLang="en-US" sz="3200" b="1" dirty="0">
                <a:solidFill>
                  <a:srgbClr val="A50021"/>
                </a:solidFill>
                <a:latin typeface="幼圆" pitchFamily="49" charset="-122"/>
                <a:ea typeface="幼圆" pitchFamily="49" charset="-122"/>
              </a:rPr>
              <a:t>土的三相组成</a:t>
            </a:r>
          </a:p>
          <a:p>
            <a:pPr marL="514350" indent="-514350">
              <a:lnSpc>
                <a:spcPct val="100000"/>
              </a:lnSpc>
              <a:spcBef>
                <a:spcPct val="0"/>
              </a:spcBef>
              <a:spcAft>
                <a:spcPct val="0"/>
              </a:spcAft>
              <a:buFont typeface="+mj-lt"/>
              <a:buAutoNum type="arabicPeriod" startAt="2"/>
            </a:pPr>
            <a:r>
              <a:rPr kumimoji="1" lang="zh-CN" altLang="en-US" sz="3200" b="1" dirty="0">
                <a:solidFill>
                  <a:srgbClr val="A50021"/>
                </a:solidFill>
                <a:latin typeface="幼圆" pitchFamily="49" charset="-122"/>
                <a:ea typeface="幼圆" pitchFamily="49" charset="-122"/>
              </a:rPr>
              <a:t>土的物理状态</a:t>
            </a:r>
          </a:p>
          <a:p>
            <a:pPr marL="514350" indent="-514350">
              <a:lnSpc>
                <a:spcPct val="100000"/>
              </a:lnSpc>
              <a:spcBef>
                <a:spcPct val="0"/>
              </a:spcBef>
              <a:spcAft>
                <a:spcPct val="0"/>
              </a:spcAft>
              <a:buFont typeface="+mj-lt"/>
              <a:buAutoNum type="arabicPeriod" startAt="2"/>
            </a:pPr>
            <a:r>
              <a:rPr kumimoji="1" lang="zh-CN" altLang="en-US" sz="3200" b="1" dirty="0">
                <a:solidFill>
                  <a:srgbClr val="A50021"/>
                </a:solidFill>
                <a:latin typeface="幼圆" pitchFamily="49" charset="-122"/>
                <a:ea typeface="幼圆" pitchFamily="49" charset="-122"/>
              </a:rPr>
              <a:t>土的结构</a:t>
            </a:r>
          </a:p>
        </p:txBody>
      </p:sp>
      <p:sp>
        <p:nvSpPr>
          <p:cNvPr id="25604" name="AutoShape 12"/>
          <p:cNvSpPr>
            <a:spLocks noChangeArrowheads="1"/>
          </p:cNvSpPr>
          <p:nvPr/>
        </p:nvSpPr>
        <p:spPr bwMode="auto">
          <a:xfrm rot="5400000">
            <a:off x="2446391" y="1798398"/>
            <a:ext cx="595313" cy="471487"/>
          </a:xfrm>
          <a:prstGeom prst="homePlate">
            <a:avLst>
              <a:gd name="adj" fmla="val 31566"/>
            </a:avLst>
          </a:prstGeom>
          <a:solidFill>
            <a:srgbClr val="CCECFF"/>
          </a:solidFill>
          <a:ln w="9525">
            <a:solidFill>
              <a:schemeClr val="tx1"/>
            </a:solidFill>
            <a:miter lim="800000"/>
            <a:headEnd/>
            <a:tailEnd/>
          </a:ln>
        </p:spPr>
        <p:txBody>
          <a:bodyPr wrap="none" anchor="ctr"/>
          <a:lstStyle/>
          <a:p>
            <a:endParaRPr lang="zh-CN" altLang="en-US"/>
          </a:p>
        </p:txBody>
      </p:sp>
      <p:sp>
        <p:nvSpPr>
          <p:cNvPr id="25605" name="Text Box 13"/>
          <p:cNvSpPr txBox="1">
            <a:spLocks noChangeArrowheads="1"/>
          </p:cNvSpPr>
          <p:nvPr/>
        </p:nvSpPr>
        <p:spPr bwMode="auto">
          <a:xfrm>
            <a:off x="1487541" y="953848"/>
            <a:ext cx="3212050" cy="584775"/>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00000"/>
              </a:lnSpc>
              <a:spcBef>
                <a:spcPct val="0"/>
              </a:spcBef>
              <a:spcAft>
                <a:spcPct val="0"/>
              </a:spcAft>
              <a:buFont typeface="+mj-lt"/>
              <a:buAutoNum type="arabicPeriod"/>
            </a:pPr>
            <a:r>
              <a:rPr kumimoji="1" lang="zh-CN" altLang="en-US" sz="3200" b="1" dirty="0">
                <a:solidFill>
                  <a:srgbClr val="000066"/>
                </a:solidFill>
                <a:ea typeface="幼圆" pitchFamily="49" charset="-122"/>
              </a:rPr>
              <a:t>土的形成过程</a:t>
            </a:r>
          </a:p>
        </p:txBody>
      </p:sp>
      <p:sp>
        <p:nvSpPr>
          <p:cNvPr id="25606" name="Text Box 14"/>
          <p:cNvSpPr txBox="1">
            <a:spLocks noChangeArrowheads="1"/>
          </p:cNvSpPr>
          <p:nvPr/>
        </p:nvSpPr>
        <p:spPr bwMode="auto">
          <a:xfrm>
            <a:off x="2768654" y="4824173"/>
            <a:ext cx="5737393" cy="954107"/>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00000"/>
              </a:lnSpc>
              <a:spcBef>
                <a:spcPct val="0"/>
              </a:spcBef>
              <a:spcAft>
                <a:spcPct val="0"/>
              </a:spcAft>
              <a:buFont typeface="+mj-lt"/>
              <a:buAutoNum type="arabicPeriod" startAt="5"/>
            </a:pPr>
            <a:r>
              <a:rPr kumimoji="1" lang="zh-CN" altLang="en-US" sz="2800" b="1" dirty="0">
                <a:solidFill>
                  <a:srgbClr val="000066"/>
                </a:solidFill>
                <a:ea typeface="幼圆" pitchFamily="49" charset="-122"/>
              </a:rPr>
              <a:t>土的工程分类：便于研究和应用</a:t>
            </a:r>
          </a:p>
          <a:p>
            <a:pPr marL="514350" indent="-514350" eaLnBrk="1" hangingPunct="1">
              <a:lnSpc>
                <a:spcPct val="100000"/>
              </a:lnSpc>
              <a:spcBef>
                <a:spcPct val="0"/>
              </a:spcBef>
              <a:spcAft>
                <a:spcPct val="0"/>
              </a:spcAft>
              <a:buFont typeface="+mj-lt"/>
              <a:buAutoNum type="arabicPeriod" startAt="5"/>
            </a:pPr>
            <a:r>
              <a:rPr kumimoji="1" lang="zh-CN" altLang="en-US" sz="2800" b="1" dirty="0">
                <a:solidFill>
                  <a:srgbClr val="000066"/>
                </a:solidFill>
                <a:ea typeface="幼圆" pitchFamily="49" charset="-122"/>
              </a:rPr>
              <a:t>土的压实性：如何获得较好的土</a:t>
            </a:r>
          </a:p>
        </p:txBody>
      </p:sp>
      <p:sp>
        <p:nvSpPr>
          <p:cNvPr id="25607" name="AutoShape 15"/>
          <p:cNvSpPr>
            <a:spLocks noChangeArrowheads="1"/>
          </p:cNvSpPr>
          <p:nvPr/>
        </p:nvSpPr>
        <p:spPr bwMode="auto">
          <a:xfrm rot="5400000">
            <a:off x="3059167" y="4238385"/>
            <a:ext cx="595312" cy="471487"/>
          </a:xfrm>
          <a:prstGeom prst="homePlate">
            <a:avLst>
              <a:gd name="adj" fmla="val 31566"/>
            </a:avLst>
          </a:prstGeom>
          <a:solidFill>
            <a:srgbClr val="CCECFF"/>
          </a:solidFill>
          <a:ln w="9525">
            <a:solidFill>
              <a:schemeClr val="tx1"/>
            </a:solidFill>
            <a:miter lim="800000"/>
            <a:headEnd/>
            <a:tailEnd/>
          </a:ln>
        </p:spPr>
        <p:txBody>
          <a:bodyPr wrap="none" anchor="ctr"/>
          <a:lstStyle/>
          <a:p>
            <a:endParaRPr lang="zh-CN" altLang="en-US"/>
          </a:p>
        </p:txBody>
      </p:sp>
      <p:grpSp>
        <p:nvGrpSpPr>
          <p:cNvPr id="25608" name="Group 16"/>
          <p:cNvGrpSpPr>
            <a:grpSpLocks/>
          </p:cNvGrpSpPr>
          <p:nvPr/>
        </p:nvGrpSpPr>
        <p:grpSpPr bwMode="auto">
          <a:xfrm>
            <a:off x="4854629" y="3004898"/>
            <a:ext cx="979487" cy="501650"/>
            <a:chOff x="2620" y="1691"/>
            <a:chExt cx="578" cy="316"/>
          </a:xfrm>
        </p:grpSpPr>
        <p:sp>
          <p:nvSpPr>
            <p:cNvPr id="25609" name="AutoShape 17"/>
            <p:cNvSpPr>
              <a:spLocks noChangeArrowheads="1"/>
            </p:cNvSpPr>
            <p:nvPr/>
          </p:nvSpPr>
          <p:spPr bwMode="auto">
            <a:xfrm>
              <a:off x="2650" y="1710"/>
              <a:ext cx="548" cy="297"/>
            </a:xfrm>
            <a:prstGeom prst="homePlate">
              <a:avLst>
                <a:gd name="adj" fmla="val 46128"/>
              </a:avLst>
            </a:prstGeom>
            <a:solidFill>
              <a:srgbClr val="CCECFF"/>
            </a:solidFill>
            <a:ln w="9525">
              <a:solidFill>
                <a:schemeClr val="tx1"/>
              </a:solidFill>
              <a:miter lim="800000"/>
              <a:headEnd/>
              <a:tailEnd/>
            </a:ln>
          </p:spPr>
          <p:txBody>
            <a:bodyPr wrap="none" anchor="ctr"/>
            <a:lstStyle/>
            <a:p>
              <a:endParaRPr lang="zh-CN" altLang="en-US"/>
            </a:p>
          </p:txBody>
        </p:sp>
        <p:sp>
          <p:nvSpPr>
            <p:cNvPr id="25610" name="Text Box 18"/>
            <p:cNvSpPr txBox="1">
              <a:spLocks noChangeArrowheads="1"/>
            </p:cNvSpPr>
            <p:nvPr/>
          </p:nvSpPr>
          <p:spPr bwMode="auto">
            <a:xfrm>
              <a:off x="2620" y="1691"/>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a:solidFill>
                    <a:srgbClr val="000066"/>
                  </a:solidFill>
                  <a:ea typeface="幼圆" pitchFamily="49" charset="-122"/>
                </a:rPr>
                <a:t>决定</a:t>
              </a:r>
            </a:p>
          </p:txBody>
        </p:sp>
      </p:grpSp>
      <p:sp>
        <p:nvSpPr>
          <p:cNvPr id="13"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zh-CN" altLang="en-US" sz="2000" b="1" kern="900" spc="-140" dirty="0" smtClean="0">
                <a:solidFill>
                  <a:srgbClr val="C00000"/>
                </a:solidFill>
                <a:latin typeface="宋体" pitchFamily="2" charset="-122"/>
              </a:rPr>
              <a:t>第一章：本章概要</a:t>
            </a:r>
            <a:r>
              <a:rPr lang="zh-CN" altLang="en-US" sz="2000" kern="900" spc="-140" dirty="0" smtClean="0">
                <a:solidFill>
                  <a:srgbClr val="C00000"/>
                </a:solidFill>
                <a:latin typeface="宋体" pitchFamily="2" charset="-122"/>
              </a:rPr>
              <a:t> </a:t>
            </a:r>
            <a:endParaRPr lang="zh-CN" altLang="en-US" sz="2000" kern="900" spc="-140" dirty="0">
              <a:solidFill>
                <a:srgbClr val="C00000"/>
              </a:solidFill>
              <a:latin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9" presetClass="entr" presetSubtype="10" fill="hold" grpId="0" nodeType="withEffect">
                                  <p:stCondLst>
                                    <p:cond delay="0"/>
                                  </p:stCondLst>
                                  <p:childTnLst>
                                    <p:set>
                                      <p:cBhvr>
                                        <p:cTn id="6" dur="1" fill="hold">
                                          <p:stCondLst>
                                            <p:cond delay="0"/>
                                          </p:stCondLst>
                                        </p:cTn>
                                        <p:tgtEl>
                                          <p:spTgt spid="1339401"/>
                                        </p:tgtEl>
                                        <p:attrNameLst>
                                          <p:attrName>style.visibility</p:attrName>
                                        </p:attrNameLst>
                                      </p:cBhvr>
                                      <p:to>
                                        <p:strVal val="visible"/>
                                      </p:to>
                                    </p:set>
                                    <p:anim calcmode="lin" valueType="num">
                                      <p:cBhvr>
                                        <p:cTn id="7" dur="5000" fill="hold"/>
                                        <p:tgtEl>
                                          <p:spTgt spid="1339401"/>
                                        </p:tgtEl>
                                        <p:attrNameLst>
                                          <p:attrName>ppt_w</p:attrName>
                                        </p:attrNameLst>
                                      </p:cBhvr>
                                      <p:tavLst>
                                        <p:tav tm="0" fmla="#ppt_w*sin(2.5*pi*$)">
                                          <p:val>
                                            <p:fltVal val="0"/>
                                          </p:val>
                                        </p:tav>
                                        <p:tav tm="100000">
                                          <p:val>
                                            <p:fltVal val="1"/>
                                          </p:val>
                                        </p:tav>
                                      </p:tavLst>
                                    </p:anim>
                                    <p:anim calcmode="lin" valueType="num">
                                      <p:cBhvr>
                                        <p:cTn id="8" dur="5000" fill="hold"/>
                                        <p:tgtEl>
                                          <p:spTgt spid="133940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9401"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AutoShape 38"/>
          <p:cNvSpPr>
            <a:spLocks noChangeArrowheads="1"/>
          </p:cNvSpPr>
          <p:nvPr/>
        </p:nvSpPr>
        <p:spPr bwMode="auto">
          <a:xfrm>
            <a:off x="1283476" y="1797451"/>
            <a:ext cx="371475" cy="849313"/>
          </a:xfrm>
          <a:prstGeom prst="cube">
            <a:avLst>
              <a:gd name="adj" fmla="val 25000"/>
            </a:avLst>
          </a:prstGeom>
          <a:solidFill>
            <a:srgbClr val="FFFF66"/>
          </a:solidFill>
          <a:ln w="9525">
            <a:solidFill>
              <a:schemeClr val="tx1"/>
            </a:solidFill>
            <a:miter lim="800000"/>
            <a:headEnd/>
            <a:tailEnd/>
          </a:ln>
        </p:spPr>
        <p:txBody>
          <a:bodyPr wrap="none" anchor="ctr"/>
          <a:lstStyle/>
          <a:p>
            <a:endParaRPr lang="zh-CN" altLang="en-US"/>
          </a:p>
        </p:txBody>
      </p:sp>
      <p:sp>
        <p:nvSpPr>
          <p:cNvPr id="26628" name="Freeform 39"/>
          <p:cNvSpPr>
            <a:spLocks/>
          </p:cNvSpPr>
          <p:nvPr/>
        </p:nvSpPr>
        <p:spPr bwMode="auto">
          <a:xfrm flipH="1">
            <a:off x="777063" y="1130701"/>
            <a:ext cx="1423988" cy="950913"/>
          </a:xfrm>
          <a:custGeom>
            <a:avLst/>
            <a:gdLst>
              <a:gd name="T0" fmla="*/ 2147483647 w 783"/>
              <a:gd name="T1" fmla="*/ 2147483647 h 551"/>
              <a:gd name="T2" fmla="*/ 2147483647 w 783"/>
              <a:gd name="T3" fmla="*/ 2147483647 h 551"/>
              <a:gd name="T4" fmla="*/ 2147483647 w 783"/>
              <a:gd name="T5" fmla="*/ 2147483647 h 551"/>
              <a:gd name="T6" fmla="*/ 2147483647 w 783"/>
              <a:gd name="T7" fmla="*/ 2147483647 h 551"/>
              <a:gd name="T8" fmla="*/ 2147483647 w 783"/>
              <a:gd name="T9" fmla="*/ 2147483647 h 551"/>
              <a:gd name="T10" fmla="*/ 2147483647 w 783"/>
              <a:gd name="T11" fmla="*/ 2147483647 h 551"/>
              <a:gd name="T12" fmla="*/ 2147483647 w 783"/>
              <a:gd name="T13" fmla="*/ 2147483647 h 551"/>
              <a:gd name="T14" fmla="*/ 2147483647 w 783"/>
              <a:gd name="T15" fmla="*/ 2147483647 h 551"/>
              <a:gd name="T16" fmla="*/ 2147483647 w 783"/>
              <a:gd name="T17" fmla="*/ 2147483647 h 551"/>
              <a:gd name="T18" fmla="*/ 2147483647 w 783"/>
              <a:gd name="T19" fmla="*/ 2147483647 h 551"/>
              <a:gd name="T20" fmla="*/ 2147483647 w 783"/>
              <a:gd name="T21" fmla="*/ 2147483647 h 551"/>
              <a:gd name="T22" fmla="*/ 2147483647 w 783"/>
              <a:gd name="T23" fmla="*/ 2147483647 h 551"/>
              <a:gd name="T24" fmla="*/ 2147483647 w 783"/>
              <a:gd name="T25" fmla="*/ 2147483647 h 5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83"/>
              <a:gd name="T40" fmla="*/ 0 h 551"/>
              <a:gd name="T41" fmla="*/ 783 w 783"/>
              <a:gd name="T42" fmla="*/ 551 h 5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83" h="551">
                <a:moveTo>
                  <a:pt x="130" y="133"/>
                </a:moveTo>
                <a:cubicBezTo>
                  <a:pt x="171" y="121"/>
                  <a:pt x="228" y="121"/>
                  <a:pt x="293" y="108"/>
                </a:cubicBezTo>
                <a:cubicBezTo>
                  <a:pt x="358" y="95"/>
                  <a:pt x="455" y="72"/>
                  <a:pt x="520" y="56"/>
                </a:cubicBezTo>
                <a:cubicBezTo>
                  <a:pt x="585" y="40"/>
                  <a:pt x="646" y="0"/>
                  <a:pt x="686" y="12"/>
                </a:cubicBezTo>
                <a:cubicBezTo>
                  <a:pt x="726" y="24"/>
                  <a:pt x="748" y="76"/>
                  <a:pt x="763" y="130"/>
                </a:cubicBezTo>
                <a:cubicBezTo>
                  <a:pt x="778" y="184"/>
                  <a:pt x="783" y="276"/>
                  <a:pt x="779" y="338"/>
                </a:cubicBezTo>
                <a:cubicBezTo>
                  <a:pt x="775" y="400"/>
                  <a:pt x="783" y="469"/>
                  <a:pt x="738" y="504"/>
                </a:cubicBezTo>
                <a:cubicBezTo>
                  <a:pt x="693" y="539"/>
                  <a:pt x="590" y="541"/>
                  <a:pt x="507" y="546"/>
                </a:cubicBezTo>
                <a:cubicBezTo>
                  <a:pt x="424" y="551"/>
                  <a:pt x="316" y="546"/>
                  <a:pt x="238" y="533"/>
                </a:cubicBezTo>
                <a:cubicBezTo>
                  <a:pt x="160" y="520"/>
                  <a:pt x="74" y="508"/>
                  <a:pt x="37" y="469"/>
                </a:cubicBezTo>
                <a:cubicBezTo>
                  <a:pt x="0" y="430"/>
                  <a:pt x="13" y="344"/>
                  <a:pt x="14" y="296"/>
                </a:cubicBezTo>
                <a:cubicBezTo>
                  <a:pt x="15" y="248"/>
                  <a:pt x="27" y="205"/>
                  <a:pt x="46" y="178"/>
                </a:cubicBezTo>
                <a:cubicBezTo>
                  <a:pt x="65" y="151"/>
                  <a:pt x="89" y="145"/>
                  <a:pt x="130" y="133"/>
                </a:cubicBezTo>
                <a:close/>
              </a:path>
            </a:pathLst>
          </a:custGeom>
          <a:solidFill>
            <a:srgbClr val="DBC9FF"/>
          </a:solidFill>
          <a:ln w="28575">
            <a:solidFill>
              <a:schemeClr val="tx1"/>
            </a:solidFill>
            <a:round/>
            <a:headEnd/>
            <a:tailEnd/>
          </a:ln>
        </p:spPr>
        <p:txBody>
          <a:bodyPr wrap="none"/>
          <a:lstStyle/>
          <a:p>
            <a:endParaRPr lang="zh-CN" altLang="en-US"/>
          </a:p>
        </p:txBody>
      </p:sp>
      <p:sp>
        <p:nvSpPr>
          <p:cNvPr id="26629" name="WordArt 40"/>
          <p:cNvSpPr>
            <a:spLocks noChangeArrowheads="1" noChangeShapeType="1" noTextEdit="1"/>
          </p:cNvSpPr>
          <p:nvPr/>
        </p:nvSpPr>
        <p:spPr bwMode="auto">
          <a:xfrm>
            <a:off x="921526" y="1151339"/>
            <a:ext cx="1065212" cy="822325"/>
          </a:xfrm>
          <a:prstGeom prst="rect">
            <a:avLst/>
          </a:prstGeom>
        </p:spPr>
        <p:txBody>
          <a:bodyPr wrap="none" fromWordArt="1">
            <a:prstTxWarp prst="textCurveDown">
              <a:avLst>
                <a:gd name="adj" fmla="val 43477"/>
              </a:avLst>
            </a:prstTxWarp>
          </a:bodyPr>
          <a:lstStyle/>
          <a:p>
            <a:pPr algn="ctr"/>
            <a:r>
              <a:rPr lang="zh-CN" altLang="en-US" sz="3600" kern="10">
                <a:ln w="12700">
                  <a:solidFill>
                    <a:srgbClr val="000000"/>
                  </a:solidFill>
                  <a:round/>
                  <a:headEnd/>
                  <a:tailEnd/>
                </a:ln>
                <a:solidFill>
                  <a:srgbClr val="FFCC00"/>
                </a:solidFill>
                <a:effectLst>
                  <a:outerShdw dist="45791" dir="2021404" algn="ctr" rotWithShape="0">
                    <a:srgbClr val="808080">
                      <a:alpha val="79999"/>
                    </a:srgbClr>
                  </a:outerShdw>
                </a:effectLst>
                <a:latin typeface="华文新魏"/>
                <a:ea typeface="华文新魏"/>
              </a:rPr>
              <a:t>作业</a:t>
            </a:r>
          </a:p>
        </p:txBody>
      </p:sp>
      <p:sp>
        <p:nvSpPr>
          <p:cNvPr id="26630" name="Text Box 41"/>
          <p:cNvSpPr txBox="1">
            <a:spLocks noChangeArrowheads="1"/>
          </p:cNvSpPr>
          <p:nvPr/>
        </p:nvSpPr>
        <p:spPr bwMode="auto">
          <a:xfrm>
            <a:off x="2868319" y="1199108"/>
            <a:ext cx="5228115"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400" b="1" dirty="0" smtClean="0">
                <a:solidFill>
                  <a:srgbClr val="000066"/>
                </a:solidFill>
                <a:ea typeface="幼圆" pitchFamily="49" charset="-122"/>
              </a:rPr>
              <a:t>1-1</a:t>
            </a:r>
            <a:br>
              <a:rPr lang="en-US" altLang="zh-CN" sz="2400" b="1" dirty="0" smtClean="0">
                <a:solidFill>
                  <a:srgbClr val="000066"/>
                </a:solidFill>
                <a:ea typeface="幼圆" pitchFamily="49" charset="-122"/>
              </a:rPr>
            </a:br>
            <a:r>
              <a:rPr lang="en-US" altLang="zh-CN" sz="2400" b="1" dirty="0" smtClean="0">
                <a:solidFill>
                  <a:srgbClr val="000066"/>
                </a:solidFill>
                <a:ea typeface="幼圆" pitchFamily="49" charset="-122"/>
              </a:rPr>
              <a:t>1-2</a:t>
            </a:r>
          </a:p>
          <a:p>
            <a:pPr eaLnBrk="1" hangingPunct="1">
              <a:lnSpc>
                <a:spcPct val="100000"/>
              </a:lnSpc>
              <a:spcBef>
                <a:spcPct val="0"/>
              </a:spcBef>
              <a:spcAft>
                <a:spcPct val="0"/>
              </a:spcAft>
            </a:pPr>
            <a:r>
              <a:rPr lang="en-US" altLang="zh-CN" sz="2400" b="1" dirty="0" smtClean="0">
                <a:solidFill>
                  <a:srgbClr val="000066"/>
                </a:solidFill>
                <a:ea typeface="幼圆" pitchFamily="49" charset="-122"/>
              </a:rPr>
              <a:t>1-3</a:t>
            </a:r>
            <a:br>
              <a:rPr lang="en-US" altLang="zh-CN" sz="2400" b="1" dirty="0" smtClean="0">
                <a:solidFill>
                  <a:srgbClr val="000066"/>
                </a:solidFill>
                <a:ea typeface="幼圆" pitchFamily="49" charset="-122"/>
              </a:rPr>
            </a:br>
            <a:r>
              <a:rPr lang="en-US" altLang="zh-CN" sz="2400" b="1" dirty="0" smtClean="0">
                <a:solidFill>
                  <a:srgbClr val="000066"/>
                </a:solidFill>
                <a:ea typeface="幼圆" pitchFamily="49" charset="-122"/>
              </a:rPr>
              <a:t>1-5</a:t>
            </a:r>
          </a:p>
          <a:p>
            <a:pPr eaLnBrk="1" hangingPunct="1">
              <a:lnSpc>
                <a:spcPct val="100000"/>
              </a:lnSpc>
              <a:spcBef>
                <a:spcPct val="0"/>
              </a:spcBef>
              <a:spcAft>
                <a:spcPct val="0"/>
              </a:spcAft>
            </a:pPr>
            <a:r>
              <a:rPr lang="en-US" altLang="zh-CN" sz="2400" b="1" dirty="0" smtClean="0">
                <a:solidFill>
                  <a:srgbClr val="000066"/>
                </a:solidFill>
                <a:ea typeface="幼圆" pitchFamily="49" charset="-122"/>
              </a:rPr>
              <a:t>1-6</a:t>
            </a:r>
            <a:endParaRPr lang="en-US" altLang="zh-CN" sz="2400" b="1" dirty="0">
              <a:solidFill>
                <a:srgbClr val="000066"/>
              </a:solidFill>
              <a:ea typeface="幼圆" pitchFamily="49" charset="-122"/>
            </a:endParaRPr>
          </a:p>
          <a:p>
            <a:pPr eaLnBrk="1" hangingPunct="1">
              <a:lnSpc>
                <a:spcPct val="100000"/>
              </a:lnSpc>
              <a:spcBef>
                <a:spcPct val="0"/>
              </a:spcBef>
              <a:spcAft>
                <a:spcPct val="0"/>
              </a:spcAft>
            </a:pPr>
            <a:endParaRPr lang="en-US" altLang="zh-CN" sz="2400" b="1" dirty="0">
              <a:solidFill>
                <a:srgbClr val="000066"/>
              </a:solidFill>
              <a:ea typeface="幼圆" pitchFamily="49" charset="-122"/>
            </a:endParaRPr>
          </a:p>
          <a:p>
            <a:pPr eaLnBrk="1" hangingPunct="1">
              <a:lnSpc>
                <a:spcPct val="100000"/>
              </a:lnSpc>
              <a:spcBef>
                <a:spcPct val="0"/>
              </a:spcBef>
              <a:spcAft>
                <a:spcPct val="0"/>
              </a:spcAft>
            </a:pPr>
            <a:r>
              <a:rPr lang="en-US" altLang="zh-CN" sz="2400" b="1">
                <a:solidFill>
                  <a:srgbClr val="000066"/>
                </a:solidFill>
                <a:ea typeface="幼圆" pitchFamily="49" charset="-122"/>
              </a:rPr>
              <a:t>1-4 </a:t>
            </a:r>
            <a:endParaRPr lang="en-US" altLang="zh-CN" sz="2400" b="1" smtClean="0">
              <a:solidFill>
                <a:srgbClr val="000066"/>
              </a:solidFill>
              <a:ea typeface="幼圆" pitchFamily="49" charset="-122"/>
            </a:endParaRPr>
          </a:p>
          <a:p>
            <a:pPr eaLnBrk="1" hangingPunct="1">
              <a:lnSpc>
                <a:spcPct val="100000"/>
              </a:lnSpc>
              <a:spcBef>
                <a:spcPct val="0"/>
              </a:spcBef>
              <a:spcAft>
                <a:spcPct val="0"/>
              </a:spcAft>
            </a:pPr>
            <a:r>
              <a:rPr lang="en-US" altLang="zh-CN" sz="2400" b="1" smtClean="0">
                <a:solidFill>
                  <a:srgbClr val="000066"/>
                </a:solidFill>
                <a:ea typeface="幼圆" pitchFamily="49" charset="-122"/>
              </a:rPr>
              <a:t>1-8</a:t>
            </a:r>
            <a:r>
              <a:rPr lang="en-US" altLang="zh-CN" sz="2400" b="1" dirty="0" smtClean="0">
                <a:solidFill>
                  <a:srgbClr val="000066"/>
                </a:solidFill>
                <a:ea typeface="幼圆" pitchFamily="49" charset="-122"/>
              </a:rPr>
              <a:t/>
            </a:r>
            <a:br>
              <a:rPr lang="en-US" altLang="zh-CN" sz="2400" b="1" dirty="0" smtClean="0">
                <a:solidFill>
                  <a:srgbClr val="000066"/>
                </a:solidFill>
                <a:ea typeface="幼圆" pitchFamily="49" charset="-122"/>
              </a:rPr>
            </a:br>
            <a:r>
              <a:rPr lang="en-US" altLang="zh-CN" sz="2400" b="1" dirty="0" smtClean="0">
                <a:solidFill>
                  <a:srgbClr val="000066"/>
                </a:solidFill>
                <a:ea typeface="幼圆" pitchFamily="49" charset="-122"/>
              </a:rPr>
              <a:t>1-9</a:t>
            </a:r>
            <a:br>
              <a:rPr lang="en-US" altLang="zh-CN" sz="2400" b="1" dirty="0" smtClean="0">
                <a:solidFill>
                  <a:srgbClr val="000066"/>
                </a:solidFill>
                <a:ea typeface="幼圆" pitchFamily="49" charset="-122"/>
              </a:rPr>
            </a:br>
            <a:r>
              <a:rPr lang="en-US" altLang="zh-CN" sz="2400" b="1" dirty="0" smtClean="0">
                <a:solidFill>
                  <a:srgbClr val="000066"/>
                </a:solidFill>
                <a:ea typeface="幼圆" pitchFamily="49" charset="-122"/>
              </a:rPr>
              <a:t>1-10</a:t>
            </a:r>
          </a:p>
          <a:p>
            <a:pPr eaLnBrk="1" hangingPunct="1">
              <a:lnSpc>
                <a:spcPct val="100000"/>
              </a:lnSpc>
              <a:spcBef>
                <a:spcPct val="0"/>
              </a:spcBef>
              <a:spcAft>
                <a:spcPct val="0"/>
              </a:spcAft>
            </a:pPr>
            <a:r>
              <a:rPr lang="en-US" altLang="zh-CN" sz="2400" b="1" dirty="0" smtClean="0">
                <a:solidFill>
                  <a:srgbClr val="000066"/>
                </a:solidFill>
                <a:ea typeface="幼圆" pitchFamily="49" charset="-122"/>
              </a:rPr>
              <a:t>1-12</a:t>
            </a:r>
            <a:endParaRPr lang="zh-CN" altLang="en-US" sz="2400" b="1" dirty="0">
              <a:solidFill>
                <a:srgbClr val="000066"/>
              </a:solidFill>
              <a:ea typeface="幼圆" pitchFamily="49" charset="-122"/>
            </a:endParaRPr>
          </a:p>
        </p:txBody>
      </p:sp>
      <p:sp>
        <p:nvSpPr>
          <p:cNvPr id="9"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zh-CN" altLang="en-US" sz="2000" b="1" kern="900" spc="-140" dirty="0" smtClean="0">
                <a:solidFill>
                  <a:srgbClr val="C00000"/>
                </a:solidFill>
                <a:latin typeface="宋体" pitchFamily="2" charset="-122"/>
              </a:rPr>
              <a:t>第一章：本章概要</a:t>
            </a:r>
            <a:r>
              <a:rPr lang="zh-CN" altLang="en-US" sz="2000" kern="900" spc="-140" dirty="0" smtClean="0">
                <a:solidFill>
                  <a:srgbClr val="C00000"/>
                </a:solidFill>
                <a:latin typeface="宋体" pitchFamily="2" charset="-122"/>
              </a:rPr>
              <a:t> </a:t>
            </a:r>
            <a:endParaRPr lang="zh-CN" altLang="en-US" sz="2000" kern="900" spc="-140" dirty="0">
              <a:solidFill>
                <a:srgbClr val="C00000"/>
              </a:solidFill>
              <a:latin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8019" y="1935124"/>
            <a:ext cx="3264195" cy="53162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50" name="Text Box 24"/>
          <p:cNvSpPr txBox="1">
            <a:spLocks noChangeArrowheads="1"/>
          </p:cNvSpPr>
          <p:nvPr/>
        </p:nvSpPr>
        <p:spPr bwMode="auto">
          <a:xfrm>
            <a:off x="1163638" y="968375"/>
            <a:ext cx="715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a:solidFill>
                  <a:srgbClr val="000066"/>
                </a:solidFill>
                <a:latin typeface="黑体" pitchFamily="2" charset="-122"/>
                <a:ea typeface="黑体" pitchFamily="2" charset="-122"/>
              </a:rPr>
              <a:t>第一章：土的物理性质与工程分类</a:t>
            </a:r>
            <a:endParaRPr lang="en-US" altLang="zh-CN" sz="3600" b="1">
              <a:solidFill>
                <a:srgbClr val="000066"/>
              </a:solidFill>
              <a:latin typeface="黑体" pitchFamily="2" charset="-122"/>
              <a:ea typeface="黑体" pitchFamily="2" charset="-122"/>
            </a:endParaRPr>
          </a:p>
        </p:txBody>
      </p:sp>
      <p:sp>
        <p:nvSpPr>
          <p:cNvPr id="1344537" name="Text Box 25"/>
          <p:cNvSpPr txBox="1">
            <a:spLocks noChangeArrowheads="1"/>
          </p:cNvSpPr>
          <p:nvPr/>
        </p:nvSpPr>
        <p:spPr bwMode="auto">
          <a:xfrm>
            <a:off x="2413000" y="1892300"/>
            <a:ext cx="451961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§1.1  </a:t>
            </a:r>
            <a:r>
              <a:rPr kumimoji="1" lang="zh-CN" altLang="en-US" sz="3200" b="1" dirty="0">
                <a:solidFill>
                  <a:srgbClr val="000066"/>
                </a:solidFill>
                <a:latin typeface="黑体" panose="02010609060101010101" pitchFamily="49" charset="-122"/>
                <a:ea typeface="黑体" panose="02010609060101010101" pitchFamily="49" charset="-122"/>
              </a:rPr>
              <a:t>土的形成</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§1.2  </a:t>
            </a:r>
            <a:r>
              <a:rPr kumimoji="1" lang="zh-CN" altLang="en-US" sz="3200" b="1" dirty="0">
                <a:solidFill>
                  <a:srgbClr val="000066"/>
                </a:solidFill>
                <a:latin typeface="黑体" panose="02010609060101010101" pitchFamily="49" charset="-122"/>
                <a:ea typeface="黑体" panose="02010609060101010101" pitchFamily="49" charset="-122"/>
              </a:rPr>
              <a:t>土的三相组成</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§1.3  </a:t>
            </a:r>
            <a:r>
              <a:rPr kumimoji="1" lang="zh-CN" altLang="en-US" sz="3200" b="1" dirty="0">
                <a:solidFill>
                  <a:srgbClr val="000066"/>
                </a:solidFill>
                <a:latin typeface="黑体" panose="02010609060101010101" pitchFamily="49" charset="-122"/>
                <a:ea typeface="黑体" panose="02010609060101010101" pitchFamily="49" charset="-122"/>
              </a:rPr>
              <a:t>土的物理状态</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§1.4  </a:t>
            </a:r>
            <a:r>
              <a:rPr kumimoji="1" lang="zh-CN" altLang="en-US" sz="3200" b="1" dirty="0">
                <a:solidFill>
                  <a:srgbClr val="000066"/>
                </a:solidFill>
                <a:latin typeface="黑体" panose="02010609060101010101" pitchFamily="49" charset="-122"/>
                <a:ea typeface="黑体" panose="02010609060101010101" pitchFamily="49" charset="-122"/>
              </a:rPr>
              <a:t>土的结构</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§1.5  </a:t>
            </a:r>
            <a:r>
              <a:rPr kumimoji="1" lang="zh-CN" altLang="en-US" sz="3200" b="1" dirty="0">
                <a:solidFill>
                  <a:srgbClr val="000066"/>
                </a:solidFill>
                <a:latin typeface="黑体" panose="02010609060101010101" pitchFamily="49" charset="-122"/>
                <a:ea typeface="黑体" panose="02010609060101010101" pitchFamily="49" charset="-122"/>
              </a:rPr>
              <a:t>土的工程分类</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§1.6  </a:t>
            </a:r>
            <a:r>
              <a:rPr kumimoji="1" lang="zh-CN" altLang="en-US" sz="3200" b="1" dirty="0">
                <a:solidFill>
                  <a:srgbClr val="000066"/>
                </a:solidFill>
                <a:latin typeface="黑体" panose="02010609060101010101" pitchFamily="49" charset="-122"/>
                <a:ea typeface="黑体" panose="02010609060101010101" pitchFamily="49" charset="-122"/>
              </a:rPr>
              <a:t>土的压实性 </a:t>
            </a:r>
          </a:p>
        </p:txBody>
      </p:sp>
    </p:spTree>
    <p:extLst>
      <p:ext uri="{BB962C8B-B14F-4D97-AF65-F5344CB8AC3E}">
        <p14:creationId xmlns:p14="http://schemas.microsoft.com/office/powerpoint/2010/main" val="14523131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14"/>
          <p:cNvSpPr txBox="1">
            <a:spLocks noChangeArrowheads="1"/>
          </p:cNvSpPr>
          <p:nvPr/>
        </p:nvSpPr>
        <p:spPr bwMode="auto">
          <a:xfrm>
            <a:off x="3071932" y="5699789"/>
            <a:ext cx="286484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土的形成</a:t>
            </a:r>
            <a:endParaRPr kumimoji="1" lang="zh-CN" altLang="en-US" sz="4000" b="1" dirty="0">
              <a:solidFill>
                <a:srgbClr val="000066"/>
              </a:solidFill>
              <a:latin typeface="黑体" pitchFamily="2" charset="-122"/>
              <a:ea typeface="黑体" pitchFamily="2" charset="-122"/>
            </a:endParaRPr>
          </a:p>
        </p:txBody>
      </p:sp>
      <p:grpSp>
        <p:nvGrpSpPr>
          <p:cNvPr id="28675" name="Group 15"/>
          <p:cNvGrpSpPr>
            <a:grpSpLocks/>
          </p:cNvGrpSpPr>
          <p:nvPr/>
        </p:nvGrpSpPr>
        <p:grpSpPr bwMode="auto">
          <a:xfrm>
            <a:off x="887586" y="3143295"/>
            <a:ext cx="2047875" cy="1265238"/>
            <a:chOff x="556" y="600"/>
            <a:chExt cx="1290" cy="797"/>
          </a:xfrm>
        </p:grpSpPr>
        <p:sp>
          <p:nvSpPr>
            <p:cNvPr id="28690" name="Freeform 16" descr="新闻纸"/>
            <p:cNvSpPr>
              <a:spLocks/>
            </p:cNvSpPr>
            <p:nvPr/>
          </p:nvSpPr>
          <p:spPr bwMode="auto">
            <a:xfrm>
              <a:off x="557" y="601"/>
              <a:ext cx="1289" cy="795"/>
            </a:xfrm>
            <a:custGeom>
              <a:avLst/>
              <a:gdLst>
                <a:gd name="T0" fmla="*/ 0 w 2661"/>
                <a:gd name="T1" fmla="*/ 143 h 1639"/>
                <a:gd name="T2" fmla="*/ 28 w 2661"/>
                <a:gd name="T3" fmla="*/ 152 h 1639"/>
                <a:gd name="T4" fmla="*/ 57 w 2661"/>
                <a:gd name="T5" fmla="*/ 164 h 1639"/>
                <a:gd name="T6" fmla="*/ 77 w 2661"/>
                <a:gd name="T7" fmla="*/ 172 h 1639"/>
                <a:gd name="T8" fmla="*/ 96 w 2661"/>
                <a:gd name="T9" fmla="*/ 178 h 1639"/>
                <a:gd name="T10" fmla="*/ 105 w 2661"/>
                <a:gd name="T11" fmla="*/ 183 h 1639"/>
                <a:gd name="T12" fmla="*/ 127 w 2661"/>
                <a:gd name="T13" fmla="*/ 187 h 1639"/>
                <a:gd name="T14" fmla="*/ 141 w 2661"/>
                <a:gd name="T15" fmla="*/ 181 h 1639"/>
                <a:gd name="T16" fmla="*/ 157 w 2661"/>
                <a:gd name="T17" fmla="*/ 173 h 1639"/>
                <a:gd name="T18" fmla="*/ 179 w 2661"/>
                <a:gd name="T19" fmla="*/ 178 h 1639"/>
                <a:gd name="T20" fmla="*/ 206 w 2661"/>
                <a:gd name="T21" fmla="*/ 164 h 1639"/>
                <a:gd name="T22" fmla="*/ 211 w 2661"/>
                <a:gd name="T23" fmla="*/ 162 h 1639"/>
                <a:gd name="T24" fmla="*/ 221 w 2661"/>
                <a:gd name="T25" fmla="*/ 158 h 1639"/>
                <a:gd name="T26" fmla="*/ 233 w 2661"/>
                <a:gd name="T27" fmla="*/ 155 h 1639"/>
                <a:gd name="T28" fmla="*/ 241 w 2661"/>
                <a:gd name="T29" fmla="*/ 151 h 1639"/>
                <a:gd name="T30" fmla="*/ 256 w 2661"/>
                <a:gd name="T31" fmla="*/ 154 h 1639"/>
                <a:gd name="T32" fmla="*/ 260 w 2661"/>
                <a:gd name="T33" fmla="*/ 153 h 1639"/>
                <a:gd name="T34" fmla="*/ 266 w 2661"/>
                <a:gd name="T35" fmla="*/ 152 h 1639"/>
                <a:gd name="T36" fmla="*/ 273 w 2661"/>
                <a:gd name="T37" fmla="*/ 147 h 1639"/>
                <a:gd name="T38" fmla="*/ 287 w 2661"/>
                <a:gd name="T39" fmla="*/ 143 h 1639"/>
                <a:gd name="T40" fmla="*/ 295 w 2661"/>
                <a:gd name="T41" fmla="*/ 140 h 1639"/>
                <a:gd name="T42" fmla="*/ 302 w 2661"/>
                <a:gd name="T43" fmla="*/ 135 h 1639"/>
                <a:gd name="T44" fmla="*/ 291 w 2661"/>
                <a:gd name="T45" fmla="*/ 117 h 1639"/>
                <a:gd name="T46" fmla="*/ 291 w 2661"/>
                <a:gd name="T47" fmla="*/ 113 h 1639"/>
                <a:gd name="T48" fmla="*/ 288 w 2661"/>
                <a:gd name="T49" fmla="*/ 109 h 1639"/>
                <a:gd name="T50" fmla="*/ 270 w 2661"/>
                <a:gd name="T51" fmla="*/ 83 h 1639"/>
                <a:gd name="T52" fmla="*/ 255 w 2661"/>
                <a:gd name="T53" fmla="*/ 76 h 1639"/>
                <a:gd name="T54" fmla="*/ 235 w 2661"/>
                <a:gd name="T55" fmla="*/ 47 h 1639"/>
                <a:gd name="T56" fmla="*/ 220 w 2661"/>
                <a:gd name="T57" fmla="*/ 43 h 1639"/>
                <a:gd name="T58" fmla="*/ 206 w 2661"/>
                <a:gd name="T59" fmla="*/ 37 h 1639"/>
                <a:gd name="T60" fmla="*/ 196 w 2661"/>
                <a:gd name="T61" fmla="*/ 33 h 1639"/>
                <a:gd name="T62" fmla="*/ 181 w 2661"/>
                <a:gd name="T63" fmla="*/ 29 h 1639"/>
                <a:gd name="T64" fmla="*/ 163 w 2661"/>
                <a:gd name="T65" fmla="*/ 21 h 1639"/>
                <a:gd name="T66" fmla="*/ 162 w 2661"/>
                <a:gd name="T67" fmla="*/ 8 h 1639"/>
                <a:gd name="T68" fmla="*/ 148 w 2661"/>
                <a:gd name="T69" fmla="*/ 1 h 1639"/>
                <a:gd name="T70" fmla="*/ 144 w 2661"/>
                <a:gd name="T71" fmla="*/ 0 h 1639"/>
                <a:gd name="T72" fmla="*/ 130 w 2661"/>
                <a:gd name="T73" fmla="*/ 5 h 1639"/>
                <a:gd name="T74" fmla="*/ 126 w 2661"/>
                <a:gd name="T75" fmla="*/ 5 h 1639"/>
                <a:gd name="T76" fmla="*/ 119 w 2661"/>
                <a:gd name="T77" fmla="*/ 11 h 1639"/>
                <a:gd name="T78" fmla="*/ 102 w 2661"/>
                <a:gd name="T79" fmla="*/ 18 h 1639"/>
                <a:gd name="T80" fmla="*/ 86 w 2661"/>
                <a:gd name="T81" fmla="*/ 23 h 1639"/>
                <a:gd name="T82" fmla="*/ 74 w 2661"/>
                <a:gd name="T83" fmla="*/ 29 h 1639"/>
                <a:gd name="T84" fmla="*/ 61 w 2661"/>
                <a:gd name="T85" fmla="*/ 35 h 1639"/>
                <a:gd name="T86" fmla="*/ 58 w 2661"/>
                <a:gd name="T87" fmla="*/ 37 h 1639"/>
                <a:gd name="T88" fmla="*/ 55 w 2661"/>
                <a:gd name="T89" fmla="*/ 55 h 1639"/>
                <a:gd name="T90" fmla="*/ 34 w 2661"/>
                <a:gd name="T91" fmla="*/ 63 h 1639"/>
                <a:gd name="T92" fmla="*/ 0 w 2661"/>
                <a:gd name="T93" fmla="*/ 78 h 1639"/>
                <a:gd name="T94" fmla="*/ 1 w 2661"/>
                <a:gd name="T95" fmla="*/ 96 h 1639"/>
                <a:gd name="T96" fmla="*/ 0 w 2661"/>
                <a:gd name="T97" fmla="*/ 111 h 1639"/>
                <a:gd name="T98" fmla="*/ 0 w 2661"/>
                <a:gd name="T99" fmla="*/ 134 h 1639"/>
                <a:gd name="T100" fmla="*/ 0 w 2661"/>
                <a:gd name="T101" fmla="*/ 143 h 163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661"/>
                <a:gd name="T154" fmla="*/ 0 h 1639"/>
                <a:gd name="T155" fmla="*/ 2661 w 2661"/>
                <a:gd name="T156" fmla="*/ 1639 h 163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661" h="1639">
                  <a:moveTo>
                    <a:pt x="5" y="1253"/>
                  </a:moveTo>
                  <a:lnTo>
                    <a:pt x="242" y="1335"/>
                  </a:lnTo>
                  <a:lnTo>
                    <a:pt x="497" y="1440"/>
                  </a:lnTo>
                  <a:lnTo>
                    <a:pt x="679" y="1507"/>
                  </a:lnTo>
                  <a:lnTo>
                    <a:pt x="847" y="1565"/>
                  </a:lnTo>
                  <a:lnTo>
                    <a:pt x="924" y="1603"/>
                  </a:lnTo>
                  <a:lnTo>
                    <a:pt x="1118" y="1639"/>
                  </a:lnTo>
                  <a:lnTo>
                    <a:pt x="1243" y="1589"/>
                  </a:lnTo>
                  <a:lnTo>
                    <a:pt x="1380" y="1515"/>
                  </a:lnTo>
                  <a:lnTo>
                    <a:pt x="1572" y="1560"/>
                  </a:lnTo>
                  <a:lnTo>
                    <a:pt x="1817" y="1440"/>
                  </a:lnTo>
                  <a:lnTo>
                    <a:pt x="1855" y="1416"/>
                  </a:lnTo>
                  <a:lnTo>
                    <a:pt x="1946" y="1383"/>
                  </a:lnTo>
                  <a:lnTo>
                    <a:pt x="2047" y="1354"/>
                  </a:lnTo>
                  <a:lnTo>
                    <a:pt x="2124" y="1325"/>
                  </a:lnTo>
                  <a:lnTo>
                    <a:pt x="2249" y="1349"/>
                  </a:lnTo>
                  <a:lnTo>
                    <a:pt x="2287" y="1339"/>
                  </a:lnTo>
                  <a:lnTo>
                    <a:pt x="2345" y="1335"/>
                  </a:lnTo>
                  <a:lnTo>
                    <a:pt x="2402" y="1287"/>
                  </a:lnTo>
                  <a:lnTo>
                    <a:pt x="2527" y="1253"/>
                  </a:lnTo>
                  <a:lnTo>
                    <a:pt x="2594" y="1229"/>
                  </a:lnTo>
                  <a:lnTo>
                    <a:pt x="2661" y="1186"/>
                  </a:lnTo>
                  <a:lnTo>
                    <a:pt x="2561" y="1027"/>
                  </a:lnTo>
                  <a:lnTo>
                    <a:pt x="2561" y="989"/>
                  </a:lnTo>
                  <a:lnTo>
                    <a:pt x="2532" y="955"/>
                  </a:lnTo>
                  <a:lnTo>
                    <a:pt x="2373" y="730"/>
                  </a:lnTo>
                  <a:lnTo>
                    <a:pt x="2244" y="663"/>
                  </a:lnTo>
                  <a:lnTo>
                    <a:pt x="2066" y="408"/>
                  </a:lnTo>
                  <a:lnTo>
                    <a:pt x="1941" y="379"/>
                  </a:lnTo>
                  <a:lnTo>
                    <a:pt x="1812" y="327"/>
                  </a:lnTo>
                  <a:lnTo>
                    <a:pt x="1725" y="288"/>
                  </a:lnTo>
                  <a:lnTo>
                    <a:pt x="1591" y="255"/>
                  </a:lnTo>
                  <a:lnTo>
                    <a:pt x="1433" y="183"/>
                  </a:lnTo>
                  <a:lnTo>
                    <a:pt x="1423" y="72"/>
                  </a:lnTo>
                  <a:lnTo>
                    <a:pt x="1298" y="10"/>
                  </a:lnTo>
                  <a:lnTo>
                    <a:pt x="1265" y="0"/>
                  </a:lnTo>
                  <a:lnTo>
                    <a:pt x="1145" y="43"/>
                  </a:lnTo>
                  <a:lnTo>
                    <a:pt x="1111" y="43"/>
                  </a:lnTo>
                  <a:lnTo>
                    <a:pt x="1044" y="96"/>
                  </a:lnTo>
                  <a:lnTo>
                    <a:pt x="900" y="159"/>
                  </a:lnTo>
                  <a:lnTo>
                    <a:pt x="756" y="202"/>
                  </a:lnTo>
                  <a:lnTo>
                    <a:pt x="650" y="250"/>
                  </a:lnTo>
                  <a:lnTo>
                    <a:pt x="535" y="312"/>
                  </a:lnTo>
                  <a:lnTo>
                    <a:pt x="506" y="327"/>
                  </a:lnTo>
                  <a:lnTo>
                    <a:pt x="487" y="483"/>
                  </a:lnTo>
                  <a:lnTo>
                    <a:pt x="300" y="547"/>
                  </a:lnTo>
                  <a:lnTo>
                    <a:pt x="0" y="682"/>
                  </a:lnTo>
                  <a:lnTo>
                    <a:pt x="12" y="838"/>
                  </a:lnTo>
                  <a:lnTo>
                    <a:pt x="2" y="970"/>
                  </a:lnTo>
                  <a:lnTo>
                    <a:pt x="2" y="1174"/>
                  </a:lnTo>
                  <a:lnTo>
                    <a:pt x="5" y="1253"/>
                  </a:lnTo>
                  <a:close/>
                </a:path>
              </a:pathLst>
            </a:custGeom>
            <a:blipFill dpi="0" rotWithShape="1">
              <a:blip r:embed="rId3"/>
              <a:srcRect/>
              <a:tile tx="0" ty="0" sx="100000" sy="100000" flip="none" algn="tl"/>
            </a:blipFill>
            <a:ln w="6350">
              <a:solidFill>
                <a:schemeClr val="tx1"/>
              </a:solidFill>
              <a:round/>
              <a:headEnd/>
              <a:tailEnd/>
            </a:ln>
          </p:spPr>
          <p:txBody>
            <a:bodyPr/>
            <a:lstStyle/>
            <a:p>
              <a:endParaRPr lang="zh-CN" altLang="en-US"/>
            </a:p>
          </p:txBody>
        </p:sp>
        <p:sp>
          <p:nvSpPr>
            <p:cNvPr id="28691" name="Freeform 17" descr="Großes Konfetti"/>
            <p:cNvSpPr>
              <a:spLocks/>
            </p:cNvSpPr>
            <p:nvPr/>
          </p:nvSpPr>
          <p:spPr bwMode="auto">
            <a:xfrm>
              <a:off x="763" y="929"/>
              <a:ext cx="216" cy="236"/>
            </a:xfrm>
            <a:custGeom>
              <a:avLst/>
              <a:gdLst>
                <a:gd name="T0" fmla="*/ 0 w 639"/>
                <a:gd name="T1" fmla="*/ 8 h 696"/>
                <a:gd name="T2" fmla="*/ 2 w 639"/>
                <a:gd name="T3" fmla="*/ 6 h 696"/>
                <a:gd name="T4" fmla="*/ 5 w 639"/>
                <a:gd name="T5" fmla="*/ 5 h 696"/>
                <a:gd name="T6" fmla="*/ 6 w 639"/>
                <a:gd name="T7" fmla="*/ 4 h 696"/>
                <a:gd name="T8" fmla="*/ 8 w 639"/>
                <a:gd name="T9" fmla="*/ 3 h 696"/>
                <a:gd name="T10" fmla="*/ 11 w 639"/>
                <a:gd name="T11" fmla="*/ 2 h 696"/>
                <a:gd name="T12" fmla="*/ 12 w 639"/>
                <a:gd name="T13" fmla="*/ 1 h 696"/>
                <a:gd name="T14" fmla="*/ 14 w 639"/>
                <a:gd name="T15" fmla="*/ 1 h 696"/>
                <a:gd name="T16" fmla="*/ 15 w 639"/>
                <a:gd name="T17" fmla="*/ 0 h 696"/>
                <a:gd name="T18" fmla="*/ 17 w 639"/>
                <a:gd name="T19" fmla="*/ 3 h 696"/>
                <a:gd name="T20" fmla="*/ 18 w 639"/>
                <a:gd name="T21" fmla="*/ 6 h 696"/>
                <a:gd name="T22" fmla="*/ 20 w 639"/>
                <a:gd name="T23" fmla="*/ 12 h 696"/>
                <a:gd name="T24" fmla="*/ 22 w 639"/>
                <a:gd name="T25" fmla="*/ 15 h 696"/>
                <a:gd name="T26" fmla="*/ 24 w 639"/>
                <a:gd name="T27" fmla="*/ 19 h 696"/>
                <a:gd name="T28" fmla="*/ 25 w 639"/>
                <a:gd name="T29" fmla="*/ 20 h 696"/>
                <a:gd name="T30" fmla="*/ 22 w 639"/>
                <a:gd name="T31" fmla="*/ 22 h 696"/>
                <a:gd name="T32" fmla="*/ 20 w 639"/>
                <a:gd name="T33" fmla="*/ 23 h 696"/>
                <a:gd name="T34" fmla="*/ 17 w 639"/>
                <a:gd name="T35" fmla="*/ 25 h 696"/>
                <a:gd name="T36" fmla="*/ 14 w 639"/>
                <a:gd name="T37" fmla="*/ 26 h 696"/>
                <a:gd name="T38" fmla="*/ 13 w 639"/>
                <a:gd name="T39" fmla="*/ 27 h 696"/>
                <a:gd name="T40" fmla="*/ 10 w 639"/>
                <a:gd name="T41" fmla="*/ 25 h 696"/>
                <a:gd name="T42" fmla="*/ 9 w 639"/>
                <a:gd name="T43" fmla="*/ 22 h 696"/>
                <a:gd name="T44" fmla="*/ 8 w 639"/>
                <a:gd name="T45" fmla="*/ 20 h 696"/>
                <a:gd name="T46" fmla="*/ 7 w 639"/>
                <a:gd name="T47" fmla="*/ 18 h 696"/>
                <a:gd name="T48" fmla="*/ 6 w 639"/>
                <a:gd name="T49" fmla="*/ 16 h 696"/>
                <a:gd name="T50" fmla="*/ 4 w 639"/>
                <a:gd name="T51" fmla="*/ 14 h 696"/>
                <a:gd name="T52" fmla="*/ 3 w 639"/>
                <a:gd name="T53" fmla="*/ 12 h 696"/>
                <a:gd name="T54" fmla="*/ 2 w 639"/>
                <a:gd name="T55" fmla="*/ 10 h 696"/>
                <a:gd name="T56" fmla="*/ 0 w 639"/>
                <a:gd name="T57" fmla="*/ 8 h 69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9"/>
                <a:gd name="T88" fmla="*/ 0 h 696"/>
                <a:gd name="T89" fmla="*/ 639 w 639"/>
                <a:gd name="T90" fmla="*/ 696 h 69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9" h="696">
                  <a:moveTo>
                    <a:pt x="0" y="200"/>
                  </a:moveTo>
                  <a:lnTo>
                    <a:pt x="62" y="151"/>
                  </a:lnTo>
                  <a:lnTo>
                    <a:pt x="124" y="123"/>
                  </a:lnTo>
                  <a:lnTo>
                    <a:pt x="165" y="99"/>
                  </a:lnTo>
                  <a:lnTo>
                    <a:pt x="222" y="67"/>
                  </a:lnTo>
                  <a:lnTo>
                    <a:pt x="280" y="61"/>
                  </a:lnTo>
                  <a:lnTo>
                    <a:pt x="318" y="35"/>
                  </a:lnTo>
                  <a:lnTo>
                    <a:pt x="357" y="23"/>
                  </a:lnTo>
                  <a:lnTo>
                    <a:pt x="395" y="0"/>
                  </a:lnTo>
                  <a:lnTo>
                    <a:pt x="432" y="67"/>
                  </a:lnTo>
                  <a:lnTo>
                    <a:pt x="466" y="163"/>
                  </a:lnTo>
                  <a:lnTo>
                    <a:pt x="517" y="291"/>
                  </a:lnTo>
                  <a:lnTo>
                    <a:pt x="581" y="394"/>
                  </a:lnTo>
                  <a:lnTo>
                    <a:pt x="632" y="483"/>
                  </a:lnTo>
                  <a:lnTo>
                    <a:pt x="638" y="515"/>
                  </a:lnTo>
                  <a:lnTo>
                    <a:pt x="562" y="560"/>
                  </a:lnTo>
                  <a:lnTo>
                    <a:pt x="517" y="586"/>
                  </a:lnTo>
                  <a:lnTo>
                    <a:pt x="440" y="637"/>
                  </a:lnTo>
                  <a:lnTo>
                    <a:pt x="363" y="669"/>
                  </a:lnTo>
                  <a:lnTo>
                    <a:pt x="325" y="695"/>
                  </a:lnTo>
                  <a:lnTo>
                    <a:pt x="274" y="631"/>
                  </a:lnTo>
                  <a:lnTo>
                    <a:pt x="242" y="567"/>
                  </a:lnTo>
                  <a:lnTo>
                    <a:pt x="203" y="515"/>
                  </a:lnTo>
                  <a:lnTo>
                    <a:pt x="178" y="464"/>
                  </a:lnTo>
                  <a:lnTo>
                    <a:pt x="146" y="419"/>
                  </a:lnTo>
                  <a:lnTo>
                    <a:pt x="114" y="362"/>
                  </a:lnTo>
                  <a:lnTo>
                    <a:pt x="75" y="291"/>
                  </a:lnTo>
                  <a:lnTo>
                    <a:pt x="48" y="254"/>
                  </a:lnTo>
                  <a:lnTo>
                    <a:pt x="0" y="200"/>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8692" name="Freeform 18" descr="Großes Konfetti"/>
            <p:cNvSpPr>
              <a:spLocks/>
            </p:cNvSpPr>
            <p:nvPr/>
          </p:nvSpPr>
          <p:spPr bwMode="auto">
            <a:xfrm>
              <a:off x="1018" y="926"/>
              <a:ext cx="248" cy="230"/>
            </a:xfrm>
            <a:custGeom>
              <a:avLst/>
              <a:gdLst>
                <a:gd name="T0" fmla="*/ 0 w 730"/>
                <a:gd name="T1" fmla="*/ 7 h 679"/>
                <a:gd name="T2" fmla="*/ 2 w 730"/>
                <a:gd name="T3" fmla="*/ 5 h 679"/>
                <a:gd name="T4" fmla="*/ 4 w 730"/>
                <a:gd name="T5" fmla="*/ 4 h 679"/>
                <a:gd name="T6" fmla="*/ 6 w 730"/>
                <a:gd name="T7" fmla="*/ 3 h 679"/>
                <a:gd name="T8" fmla="*/ 8 w 730"/>
                <a:gd name="T9" fmla="*/ 3 h 679"/>
                <a:gd name="T10" fmla="*/ 14 w 730"/>
                <a:gd name="T11" fmla="*/ 1 h 679"/>
                <a:gd name="T12" fmla="*/ 15 w 730"/>
                <a:gd name="T13" fmla="*/ 0 h 679"/>
                <a:gd name="T14" fmla="*/ 16 w 730"/>
                <a:gd name="T15" fmla="*/ 0 h 679"/>
                <a:gd name="T16" fmla="*/ 16 w 730"/>
                <a:gd name="T17" fmla="*/ 1 h 679"/>
                <a:gd name="T18" fmla="*/ 18 w 730"/>
                <a:gd name="T19" fmla="*/ 2 h 679"/>
                <a:gd name="T20" fmla="*/ 18 w 730"/>
                <a:gd name="T21" fmla="*/ 4 h 679"/>
                <a:gd name="T22" fmla="*/ 20 w 730"/>
                <a:gd name="T23" fmla="*/ 5 h 679"/>
                <a:gd name="T24" fmla="*/ 21 w 730"/>
                <a:gd name="T25" fmla="*/ 7 h 679"/>
                <a:gd name="T26" fmla="*/ 23 w 730"/>
                <a:gd name="T27" fmla="*/ 9 h 679"/>
                <a:gd name="T28" fmla="*/ 23 w 730"/>
                <a:gd name="T29" fmla="*/ 12 h 679"/>
                <a:gd name="T30" fmla="*/ 25 w 730"/>
                <a:gd name="T31" fmla="*/ 15 h 679"/>
                <a:gd name="T32" fmla="*/ 26 w 730"/>
                <a:gd name="T33" fmla="*/ 16 h 679"/>
                <a:gd name="T34" fmla="*/ 28 w 730"/>
                <a:gd name="T35" fmla="*/ 18 h 679"/>
                <a:gd name="T36" fmla="*/ 29 w 730"/>
                <a:gd name="T37" fmla="*/ 19 h 679"/>
                <a:gd name="T38" fmla="*/ 26 w 730"/>
                <a:gd name="T39" fmla="*/ 20 h 679"/>
                <a:gd name="T40" fmla="*/ 24 w 730"/>
                <a:gd name="T41" fmla="*/ 20 h 679"/>
                <a:gd name="T42" fmla="*/ 22 w 730"/>
                <a:gd name="T43" fmla="*/ 22 h 679"/>
                <a:gd name="T44" fmla="*/ 18 w 730"/>
                <a:gd name="T45" fmla="*/ 24 h 679"/>
                <a:gd name="T46" fmla="*/ 15 w 730"/>
                <a:gd name="T47" fmla="*/ 25 h 679"/>
                <a:gd name="T48" fmla="*/ 12 w 730"/>
                <a:gd name="T49" fmla="*/ 26 h 679"/>
                <a:gd name="T50" fmla="*/ 11 w 730"/>
                <a:gd name="T51" fmla="*/ 24 h 679"/>
                <a:gd name="T52" fmla="*/ 10 w 730"/>
                <a:gd name="T53" fmla="*/ 22 h 679"/>
                <a:gd name="T54" fmla="*/ 8 w 730"/>
                <a:gd name="T55" fmla="*/ 20 h 679"/>
                <a:gd name="T56" fmla="*/ 6 w 730"/>
                <a:gd name="T57" fmla="*/ 18 h 679"/>
                <a:gd name="T58" fmla="*/ 5 w 730"/>
                <a:gd name="T59" fmla="*/ 16 h 679"/>
                <a:gd name="T60" fmla="*/ 4 w 730"/>
                <a:gd name="T61" fmla="*/ 15 h 679"/>
                <a:gd name="T62" fmla="*/ 3 w 730"/>
                <a:gd name="T63" fmla="*/ 12 h 679"/>
                <a:gd name="T64" fmla="*/ 2 w 730"/>
                <a:gd name="T65" fmla="*/ 9 h 679"/>
                <a:gd name="T66" fmla="*/ 0 w 730"/>
                <a:gd name="T67" fmla="*/ 7 h 67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30"/>
                <a:gd name="T103" fmla="*/ 0 h 679"/>
                <a:gd name="T104" fmla="*/ 730 w 730"/>
                <a:gd name="T105" fmla="*/ 679 h 67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30" h="679">
                  <a:moveTo>
                    <a:pt x="0" y="172"/>
                  </a:moveTo>
                  <a:lnTo>
                    <a:pt x="51" y="128"/>
                  </a:lnTo>
                  <a:lnTo>
                    <a:pt x="102" y="108"/>
                  </a:lnTo>
                  <a:lnTo>
                    <a:pt x="147" y="89"/>
                  </a:lnTo>
                  <a:lnTo>
                    <a:pt x="211" y="70"/>
                  </a:lnTo>
                  <a:lnTo>
                    <a:pt x="345" y="25"/>
                  </a:lnTo>
                  <a:lnTo>
                    <a:pt x="371" y="12"/>
                  </a:lnTo>
                  <a:lnTo>
                    <a:pt x="396" y="0"/>
                  </a:lnTo>
                  <a:lnTo>
                    <a:pt x="416" y="25"/>
                  </a:lnTo>
                  <a:lnTo>
                    <a:pt x="456" y="61"/>
                  </a:lnTo>
                  <a:lnTo>
                    <a:pt x="467" y="102"/>
                  </a:lnTo>
                  <a:lnTo>
                    <a:pt x="505" y="128"/>
                  </a:lnTo>
                  <a:lnTo>
                    <a:pt x="537" y="185"/>
                  </a:lnTo>
                  <a:lnTo>
                    <a:pt x="576" y="243"/>
                  </a:lnTo>
                  <a:lnTo>
                    <a:pt x="601" y="300"/>
                  </a:lnTo>
                  <a:lnTo>
                    <a:pt x="633" y="371"/>
                  </a:lnTo>
                  <a:lnTo>
                    <a:pt x="672" y="409"/>
                  </a:lnTo>
                  <a:lnTo>
                    <a:pt x="710" y="460"/>
                  </a:lnTo>
                  <a:lnTo>
                    <a:pt x="729" y="492"/>
                  </a:lnTo>
                  <a:lnTo>
                    <a:pt x="665" y="512"/>
                  </a:lnTo>
                  <a:lnTo>
                    <a:pt x="614" y="524"/>
                  </a:lnTo>
                  <a:lnTo>
                    <a:pt x="556" y="576"/>
                  </a:lnTo>
                  <a:lnTo>
                    <a:pt x="460" y="620"/>
                  </a:lnTo>
                  <a:lnTo>
                    <a:pt x="377" y="652"/>
                  </a:lnTo>
                  <a:lnTo>
                    <a:pt x="313" y="678"/>
                  </a:lnTo>
                  <a:lnTo>
                    <a:pt x="275" y="633"/>
                  </a:lnTo>
                  <a:lnTo>
                    <a:pt x="249" y="576"/>
                  </a:lnTo>
                  <a:lnTo>
                    <a:pt x="217" y="512"/>
                  </a:lnTo>
                  <a:lnTo>
                    <a:pt x="166" y="460"/>
                  </a:lnTo>
                  <a:lnTo>
                    <a:pt x="134" y="422"/>
                  </a:lnTo>
                  <a:lnTo>
                    <a:pt x="102" y="384"/>
                  </a:lnTo>
                  <a:lnTo>
                    <a:pt x="76" y="307"/>
                  </a:lnTo>
                  <a:lnTo>
                    <a:pt x="64" y="249"/>
                  </a:lnTo>
                  <a:lnTo>
                    <a:pt x="0" y="172"/>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8693" name="Freeform 19" descr="Großes Konfetti"/>
            <p:cNvSpPr>
              <a:spLocks/>
            </p:cNvSpPr>
            <p:nvPr/>
          </p:nvSpPr>
          <p:spPr bwMode="auto">
            <a:xfrm>
              <a:off x="1163" y="869"/>
              <a:ext cx="220" cy="218"/>
            </a:xfrm>
            <a:custGeom>
              <a:avLst/>
              <a:gdLst>
                <a:gd name="T0" fmla="*/ 0 w 648"/>
                <a:gd name="T1" fmla="*/ 5 h 641"/>
                <a:gd name="T2" fmla="*/ 3 w 648"/>
                <a:gd name="T3" fmla="*/ 5 h 641"/>
                <a:gd name="T4" fmla="*/ 5 w 648"/>
                <a:gd name="T5" fmla="*/ 4 h 641"/>
                <a:gd name="T6" fmla="*/ 7 w 648"/>
                <a:gd name="T7" fmla="*/ 2 h 641"/>
                <a:gd name="T8" fmla="*/ 9 w 648"/>
                <a:gd name="T9" fmla="*/ 1 h 641"/>
                <a:gd name="T10" fmla="*/ 12 w 648"/>
                <a:gd name="T11" fmla="*/ 1 h 641"/>
                <a:gd name="T12" fmla="*/ 13 w 648"/>
                <a:gd name="T13" fmla="*/ 0 h 641"/>
                <a:gd name="T14" fmla="*/ 14 w 648"/>
                <a:gd name="T15" fmla="*/ 1 h 641"/>
                <a:gd name="T16" fmla="*/ 16 w 648"/>
                <a:gd name="T17" fmla="*/ 3 h 641"/>
                <a:gd name="T18" fmla="*/ 17 w 648"/>
                <a:gd name="T19" fmla="*/ 6 h 641"/>
                <a:gd name="T20" fmla="*/ 18 w 648"/>
                <a:gd name="T21" fmla="*/ 8 h 641"/>
                <a:gd name="T22" fmla="*/ 19 w 648"/>
                <a:gd name="T23" fmla="*/ 11 h 641"/>
                <a:gd name="T24" fmla="*/ 20 w 648"/>
                <a:gd name="T25" fmla="*/ 12 h 641"/>
                <a:gd name="T26" fmla="*/ 21 w 648"/>
                <a:gd name="T27" fmla="*/ 15 h 641"/>
                <a:gd name="T28" fmla="*/ 23 w 648"/>
                <a:gd name="T29" fmla="*/ 17 h 641"/>
                <a:gd name="T30" fmla="*/ 25 w 648"/>
                <a:gd name="T31" fmla="*/ 19 h 641"/>
                <a:gd name="T32" fmla="*/ 25 w 648"/>
                <a:gd name="T33" fmla="*/ 19 h 641"/>
                <a:gd name="T34" fmla="*/ 22 w 648"/>
                <a:gd name="T35" fmla="*/ 21 h 641"/>
                <a:gd name="T36" fmla="*/ 19 w 648"/>
                <a:gd name="T37" fmla="*/ 22 h 641"/>
                <a:gd name="T38" fmla="*/ 16 w 648"/>
                <a:gd name="T39" fmla="*/ 23 h 641"/>
                <a:gd name="T40" fmla="*/ 13 w 648"/>
                <a:gd name="T41" fmla="*/ 24 h 641"/>
                <a:gd name="T42" fmla="*/ 12 w 648"/>
                <a:gd name="T43" fmla="*/ 25 h 641"/>
                <a:gd name="T44" fmla="*/ 11 w 648"/>
                <a:gd name="T45" fmla="*/ 24 h 641"/>
                <a:gd name="T46" fmla="*/ 10 w 648"/>
                <a:gd name="T47" fmla="*/ 22 h 641"/>
                <a:gd name="T48" fmla="*/ 9 w 648"/>
                <a:gd name="T49" fmla="*/ 20 h 641"/>
                <a:gd name="T50" fmla="*/ 8 w 648"/>
                <a:gd name="T51" fmla="*/ 19 h 641"/>
                <a:gd name="T52" fmla="*/ 6 w 648"/>
                <a:gd name="T53" fmla="*/ 17 h 641"/>
                <a:gd name="T54" fmla="*/ 5 w 648"/>
                <a:gd name="T55" fmla="*/ 15 h 641"/>
                <a:gd name="T56" fmla="*/ 4 w 648"/>
                <a:gd name="T57" fmla="*/ 13 h 641"/>
                <a:gd name="T58" fmla="*/ 2 w 648"/>
                <a:gd name="T59" fmla="*/ 10 h 641"/>
                <a:gd name="T60" fmla="*/ 2 w 648"/>
                <a:gd name="T61" fmla="*/ 9 h 641"/>
                <a:gd name="T62" fmla="*/ 0 w 648"/>
                <a:gd name="T63" fmla="*/ 5 h 6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48"/>
                <a:gd name="T97" fmla="*/ 0 h 641"/>
                <a:gd name="T98" fmla="*/ 648 w 648"/>
                <a:gd name="T99" fmla="*/ 641 h 6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48" h="641">
                  <a:moveTo>
                    <a:pt x="0" y="141"/>
                  </a:moveTo>
                  <a:lnTo>
                    <a:pt x="84" y="122"/>
                  </a:lnTo>
                  <a:lnTo>
                    <a:pt x="128" y="90"/>
                  </a:lnTo>
                  <a:lnTo>
                    <a:pt x="192" y="64"/>
                  </a:lnTo>
                  <a:lnTo>
                    <a:pt x="231" y="32"/>
                  </a:lnTo>
                  <a:lnTo>
                    <a:pt x="314" y="26"/>
                  </a:lnTo>
                  <a:lnTo>
                    <a:pt x="327" y="0"/>
                  </a:lnTo>
                  <a:lnTo>
                    <a:pt x="359" y="39"/>
                  </a:lnTo>
                  <a:lnTo>
                    <a:pt x="404" y="83"/>
                  </a:lnTo>
                  <a:lnTo>
                    <a:pt x="436" y="154"/>
                  </a:lnTo>
                  <a:lnTo>
                    <a:pt x="455" y="199"/>
                  </a:lnTo>
                  <a:lnTo>
                    <a:pt x="487" y="269"/>
                  </a:lnTo>
                  <a:lnTo>
                    <a:pt x="519" y="307"/>
                  </a:lnTo>
                  <a:lnTo>
                    <a:pt x="544" y="371"/>
                  </a:lnTo>
                  <a:lnTo>
                    <a:pt x="596" y="429"/>
                  </a:lnTo>
                  <a:lnTo>
                    <a:pt x="634" y="474"/>
                  </a:lnTo>
                  <a:lnTo>
                    <a:pt x="647" y="493"/>
                  </a:lnTo>
                  <a:lnTo>
                    <a:pt x="570" y="525"/>
                  </a:lnTo>
                  <a:lnTo>
                    <a:pt x="487" y="563"/>
                  </a:lnTo>
                  <a:lnTo>
                    <a:pt x="416" y="583"/>
                  </a:lnTo>
                  <a:lnTo>
                    <a:pt x="333" y="627"/>
                  </a:lnTo>
                  <a:lnTo>
                    <a:pt x="308" y="640"/>
                  </a:lnTo>
                  <a:lnTo>
                    <a:pt x="269" y="615"/>
                  </a:lnTo>
                  <a:lnTo>
                    <a:pt x="244" y="551"/>
                  </a:lnTo>
                  <a:lnTo>
                    <a:pt x="231" y="506"/>
                  </a:lnTo>
                  <a:lnTo>
                    <a:pt x="205" y="474"/>
                  </a:lnTo>
                  <a:lnTo>
                    <a:pt x="167" y="435"/>
                  </a:lnTo>
                  <a:lnTo>
                    <a:pt x="135" y="378"/>
                  </a:lnTo>
                  <a:lnTo>
                    <a:pt x="90" y="320"/>
                  </a:lnTo>
                  <a:lnTo>
                    <a:pt x="58" y="263"/>
                  </a:lnTo>
                  <a:lnTo>
                    <a:pt x="52" y="218"/>
                  </a:lnTo>
                  <a:lnTo>
                    <a:pt x="0" y="141"/>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8694" name="Freeform 20" descr="Großes Konfetti"/>
            <p:cNvSpPr>
              <a:spLocks/>
            </p:cNvSpPr>
            <p:nvPr/>
          </p:nvSpPr>
          <p:spPr bwMode="auto">
            <a:xfrm>
              <a:off x="1368" y="800"/>
              <a:ext cx="282" cy="209"/>
            </a:xfrm>
            <a:custGeom>
              <a:avLst/>
              <a:gdLst>
                <a:gd name="T0" fmla="*/ 8 w 833"/>
                <a:gd name="T1" fmla="*/ 24 h 616"/>
                <a:gd name="T2" fmla="*/ 7 w 833"/>
                <a:gd name="T3" fmla="*/ 22 h 616"/>
                <a:gd name="T4" fmla="*/ 6 w 833"/>
                <a:gd name="T5" fmla="*/ 20 h 616"/>
                <a:gd name="T6" fmla="*/ 6 w 833"/>
                <a:gd name="T7" fmla="*/ 18 h 616"/>
                <a:gd name="T8" fmla="*/ 5 w 833"/>
                <a:gd name="T9" fmla="*/ 16 h 616"/>
                <a:gd name="T10" fmla="*/ 4 w 833"/>
                <a:gd name="T11" fmla="*/ 14 h 616"/>
                <a:gd name="T12" fmla="*/ 2 w 833"/>
                <a:gd name="T13" fmla="*/ 11 h 616"/>
                <a:gd name="T14" fmla="*/ 0 w 833"/>
                <a:gd name="T15" fmla="*/ 10 h 616"/>
                <a:gd name="T16" fmla="*/ 2 w 833"/>
                <a:gd name="T17" fmla="*/ 9 h 616"/>
                <a:gd name="T18" fmla="*/ 4 w 833"/>
                <a:gd name="T19" fmla="*/ 8 h 616"/>
                <a:gd name="T20" fmla="*/ 7 w 833"/>
                <a:gd name="T21" fmla="*/ 6 h 616"/>
                <a:gd name="T22" fmla="*/ 9 w 833"/>
                <a:gd name="T23" fmla="*/ 6 h 616"/>
                <a:gd name="T24" fmla="*/ 12 w 833"/>
                <a:gd name="T25" fmla="*/ 5 h 616"/>
                <a:gd name="T26" fmla="*/ 14 w 833"/>
                <a:gd name="T27" fmla="*/ 4 h 616"/>
                <a:gd name="T28" fmla="*/ 17 w 833"/>
                <a:gd name="T29" fmla="*/ 3 h 616"/>
                <a:gd name="T30" fmla="*/ 18 w 833"/>
                <a:gd name="T31" fmla="*/ 2 h 616"/>
                <a:gd name="T32" fmla="*/ 21 w 833"/>
                <a:gd name="T33" fmla="*/ 1 h 616"/>
                <a:gd name="T34" fmla="*/ 22 w 833"/>
                <a:gd name="T35" fmla="*/ 0 h 616"/>
                <a:gd name="T36" fmla="*/ 24 w 833"/>
                <a:gd name="T37" fmla="*/ 2 h 616"/>
                <a:gd name="T38" fmla="*/ 26 w 833"/>
                <a:gd name="T39" fmla="*/ 5 h 616"/>
                <a:gd name="T40" fmla="*/ 28 w 833"/>
                <a:gd name="T41" fmla="*/ 8 h 616"/>
                <a:gd name="T42" fmla="*/ 30 w 833"/>
                <a:gd name="T43" fmla="*/ 11 h 616"/>
                <a:gd name="T44" fmla="*/ 31 w 833"/>
                <a:gd name="T45" fmla="*/ 14 h 616"/>
                <a:gd name="T46" fmla="*/ 32 w 833"/>
                <a:gd name="T47" fmla="*/ 15 h 616"/>
                <a:gd name="T48" fmla="*/ 28 w 833"/>
                <a:gd name="T49" fmla="*/ 16 h 616"/>
                <a:gd name="T50" fmla="*/ 24 w 833"/>
                <a:gd name="T51" fmla="*/ 18 h 616"/>
                <a:gd name="T52" fmla="*/ 23 w 833"/>
                <a:gd name="T53" fmla="*/ 18 h 616"/>
                <a:gd name="T54" fmla="*/ 21 w 833"/>
                <a:gd name="T55" fmla="*/ 17 h 616"/>
                <a:gd name="T56" fmla="*/ 18 w 833"/>
                <a:gd name="T57" fmla="*/ 15 h 616"/>
                <a:gd name="T58" fmla="*/ 17 w 833"/>
                <a:gd name="T59" fmla="*/ 13 h 616"/>
                <a:gd name="T60" fmla="*/ 16 w 833"/>
                <a:gd name="T61" fmla="*/ 11 h 616"/>
                <a:gd name="T62" fmla="*/ 14 w 833"/>
                <a:gd name="T63" fmla="*/ 10 h 616"/>
                <a:gd name="T64" fmla="*/ 13 w 833"/>
                <a:gd name="T65" fmla="*/ 10 h 616"/>
                <a:gd name="T66" fmla="*/ 14 w 833"/>
                <a:gd name="T67" fmla="*/ 12 h 616"/>
                <a:gd name="T68" fmla="*/ 15 w 833"/>
                <a:gd name="T69" fmla="*/ 12 h 616"/>
                <a:gd name="T70" fmla="*/ 16 w 833"/>
                <a:gd name="T71" fmla="*/ 13 h 616"/>
                <a:gd name="T72" fmla="*/ 16 w 833"/>
                <a:gd name="T73" fmla="*/ 14 h 616"/>
                <a:gd name="T74" fmla="*/ 18 w 833"/>
                <a:gd name="T75" fmla="*/ 16 h 616"/>
                <a:gd name="T76" fmla="*/ 20 w 833"/>
                <a:gd name="T77" fmla="*/ 17 h 616"/>
                <a:gd name="T78" fmla="*/ 21 w 833"/>
                <a:gd name="T79" fmla="*/ 19 h 616"/>
                <a:gd name="T80" fmla="*/ 18 w 833"/>
                <a:gd name="T81" fmla="*/ 20 h 616"/>
                <a:gd name="T82" fmla="*/ 15 w 833"/>
                <a:gd name="T83" fmla="*/ 21 h 616"/>
                <a:gd name="T84" fmla="*/ 13 w 833"/>
                <a:gd name="T85" fmla="*/ 23 h 616"/>
                <a:gd name="T86" fmla="*/ 8 w 833"/>
                <a:gd name="T87" fmla="*/ 24 h 6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33"/>
                <a:gd name="T133" fmla="*/ 0 h 616"/>
                <a:gd name="T134" fmla="*/ 833 w 833"/>
                <a:gd name="T135" fmla="*/ 616 h 6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33" h="616">
                  <a:moveTo>
                    <a:pt x="216" y="615"/>
                  </a:moveTo>
                  <a:lnTo>
                    <a:pt x="177" y="557"/>
                  </a:lnTo>
                  <a:lnTo>
                    <a:pt x="164" y="500"/>
                  </a:lnTo>
                  <a:lnTo>
                    <a:pt x="145" y="461"/>
                  </a:lnTo>
                  <a:lnTo>
                    <a:pt x="139" y="416"/>
                  </a:lnTo>
                  <a:lnTo>
                    <a:pt x="107" y="365"/>
                  </a:lnTo>
                  <a:lnTo>
                    <a:pt x="43" y="288"/>
                  </a:lnTo>
                  <a:lnTo>
                    <a:pt x="0" y="251"/>
                  </a:lnTo>
                  <a:lnTo>
                    <a:pt x="56" y="231"/>
                  </a:lnTo>
                  <a:lnTo>
                    <a:pt x="107" y="205"/>
                  </a:lnTo>
                  <a:lnTo>
                    <a:pt x="171" y="167"/>
                  </a:lnTo>
                  <a:lnTo>
                    <a:pt x="248" y="154"/>
                  </a:lnTo>
                  <a:lnTo>
                    <a:pt x="312" y="122"/>
                  </a:lnTo>
                  <a:lnTo>
                    <a:pt x="369" y="96"/>
                  </a:lnTo>
                  <a:lnTo>
                    <a:pt x="427" y="77"/>
                  </a:lnTo>
                  <a:lnTo>
                    <a:pt x="472" y="51"/>
                  </a:lnTo>
                  <a:lnTo>
                    <a:pt x="528" y="19"/>
                  </a:lnTo>
                  <a:lnTo>
                    <a:pt x="561" y="0"/>
                  </a:lnTo>
                  <a:lnTo>
                    <a:pt x="632" y="64"/>
                  </a:lnTo>
                  <a:lnTo>
                    <a:pt x="676" y="141"/>
                  </a:lnTo>
                  <a:lnTo>
                    <a:pt x="728" y="199"/>
                  </a:lnTo>
                  <a:lnTo>
                    <a:pt x="766" y="269"/>
                  </a:lnTo>
                  <a:lnTo>
                    <a:pt x="816" y="349"/>
                  </a:lnTo>
                  <a:lnTo>
                    <a:pt x="832" y="377"/>
                  </a:lnTo>
                  <a:lnTo>
                    <a:pt x="734" y="410"/>
                  </a:lnTo>
                  <a:lnTo>
                    <a:pt x="625" y="461"/>
                  </a:lnTo>
                  <a:lnTo>
                    <a:pt x="587" y="465"/>
                  </a:lnTo>
                  <a:lnTo>
                    <a:pt x="542" y="442"/>
                  </a:lnTo>
                  <a:lnTo>
                    <a:pt x="472" y="384"/>
                  </a:lnTo>
                  <a:lnTo>
                    <a:pt x="438" y="339"/>
                  </a:lnTo>
                  <a:lnTo>
                    <a:pt x="408" y="288"/>
                  </a:lnTo>
                  <a:lnTo>
                    <a:pt x="363" y="256"/>
                  </a:lnTo>
                  <a:lnTo>
                    <a:pt x="337" y="256"/>
                  </a:lnTo>
                  <a:lnTo>
                    <a:pt x="369" y="295"/>
                  </a:lnTo>
                  <a:lnTo>
                    <a:pt x="390" y="312"/>
                  </a:lnTo>
                  <a:lnTo>
                    <a:pt x="398" y="328"/>
                  </a:lnTo>
                  <a:lnTo>
                    <a:pt x="413" y="361"/>
                  </a:lnTo>
                  <a:lnTo>
                    <a:pt x="452" y="397"/>
                  </a:lnTo>
                  <a:lnTo>
                    <a:pt x="510" y="442"/>
                  </a:lnTo>
                  <a:lnTo>
                    <a:pt x="548" y="474"/>
                  </a:lnTo>
                  <a:lnTo>
                    <a:pt x="472" y="512"/>
                  </a:lnTo>
                  <a:lnTo>
                    <a:pt x="388" y="551"/>
                  </a:lnTo>
                  <a:lnTo>
                    <a:pt x="324" y="596"/>
                  </a:lnTo>
                  <a:lnTo>
                    <a:pt x="216" y="615"/>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8695" name="Freeform 21" descr="Großes Konfetti"/>
            <p:cNvSpPr>
              <a:spLocks/>
            </p:cNvSpPr>
            <p:nvPr/>
          </p:nvSpPr>
          <p:spPr bwMode="auto">
            <a:xfrm>
              <a:off x="1531" y="956"/>
              <a:ext cx="313" cy="298"/>
            </a:xfrm>
            <a:custGeom>
              <a:avLst/>
              <a:gdLst>
                <a:gd name="T0" fmla="*/ 0 w 923"/>
                <a:gd name="T1" fmla="*/ 9 h 878"/>
                <a:gd name="T2" fmla="*/ 3 w 923"/>
                <a:gd name="T3" fmla="*/ 8 h 878"/>
                <a:gd name="T4" fmla="*/ 7 w 923"/>
                <a:gd name="T5" fmla="*/ 6 h 878"/>
                <a:gd name="T6" fmla="*/ 8 w 923"/>
                <a:gd name="T7" fmla="*/ 5 h 878"/>
                <a:gd name="T8" fmla="*/ 9 w 923"/>
                <a:gd name="T9" fmla="*/ 5 h 878"/>
                <a:gd name="T10" fmla="*/ 11 w 923"/>
                <a:gd name="T11" fmla="*/ 6 h 878"/>
                <a:gd name="T12" fmla="*/ 13 w 923"/>
                <a:gd name="T13" fmla="*/ 9 h 878"/>
                <a:gd name="T14" fmla="*/ 14 w 923"/>
                <a:gd name="T15" fmla="*/ 11 h 878"/>
                <a:gd name="T16" fmla="*/ 13 w 923"/>
                <a:gd name="T17" fmla="*/ 9 h 878"/>
                <a:gd name="T18" fmla="*/ 13 w 923"/>
                <a:gd name="T19" fmla="*/ 8 h 878"/>
                <a:gd name="T20" fmla="*/ 12 w 923"/>
                <a:gd name="T21" fmla="*/ 7 h 878"/>
                <a:gd name="T22" fmla="*/ 12 w 923"/>
                <a:gd name="T23" fmla="*/ 6 h 878"/>
                <a:gd name="T24" fmla="*/ 10 w 923"/>
                <a:gd name="T25" fmla="*/ 4 h 878"/>
                <a:gd name="T26" fmla="*/ 13 w 923"/>
                <a:gd name="T27" fmla="*/ 3 h 878"/>
                <a:gd name="T28" fmla="*/ 15 w 923"/>
                <a:gd name="T29" fmla="*/ 2 h 878"/>
                <a:gd name="T30" fmla="*/ 19 w 923"/>
                <a:gd name="T31" fmla="*/ 1 h 878"/>
                <a:gd name="T32" fmla="*/ 20 w 923"/>
                <a:gd name="T33" fmla="*/ 0 h 878"/>
                <a:gd name="T34" fmla="*/ 21 w 923"/>
                <a:gd name="T35" fmla="*/ 0 h 878"/>
                <a:gd name="T36" fmla="*/ 23 w 923"/>
                <a:gd name="T37" fmla="*/ 3 h 878"/>
                <a:gd name="T38" fmla="*/ 25 w 923"/>
                <a:gd name="T39" fmla="*/ 5 h 878"/>
                <a:gd name="T40" fmla="*/ 26 w 923"/>
                <a:gd name="T41" fmla="*/ 8 h 878"/>
                <a:gd name="T42" fmla="*/ 28 w 923"/>
                <a:gd name="T43" fmla="*/ 11 h 878"/>
                <a:gd name="T44" fmla="*/ 29 w 923"/>
                <a:gd name="T45" fmla="*/ 13 h 878"/>
                <a:gd name="T46" fmla="*/ 31 w 923"/>
                <a:gd name="T47" fmla="*/ 15 h 878"/>
                <a:gd name="T48" fmla="*/ 31 w 923"/>
                <a:gd name="T49" fmla="*/ 17 h 878"/>
                <a:gd name="T50" fmla="*/ 33 w 923"/>
                <a:gd name="T51" fmla="*/ 19 h 878"/>
                <a:gd name="T52" fmla="*/ 34 w 923"/>
                <a:gd name="T53" fmla="*/ 22 h 878"/>
                <a:gd name="T54" fmla="*/ 36 w 923"/>
                <a:gd name="T55" fmla="*/ 25 h 878"/>
                <a:gd name="T56" fmla="*/ 36 w 923"/>
                <a:gd name="T57" fmla="*/ 26 h 878"/>
                <a:gd name="T58" fmla="*/ 32 w 923"/>
                <a:gd name="T59" fmla="*/ 27 h 878"/>
                <a:gd name="T60" fmla="*/ 29 w 923"/>
                <a:gd name="T61" fmla="*/ 29 h 878"/>
                <a:gd name="T62" fmla="*/ 26 w 923"/>
                <a:gd name="T63" fmla="*/ 30 h 878"/>
                <a:gd name="T64" fmla="*/ 23 w 923"/>
                <a:gd name="T65" fmla="*/ 31 h 878"/>
                <a:gd name="T66" fmla="*/ 21 w 923"/>
                <a:gd name="T67" fmla="*/ 32 h 878"/>
                <a:gd name="T68" fmla="*/ 18 w 923"/>
                <a:gd name="T69" fmla="*/ 34 h 878"/>
                <a:gd name="T70" fmla="*/ 15 w 923"/>
                <a:gd name="T71" fmla="*/ 34 h 878"/>
                <a:gd name="T72" fmla="*/ 14 w 923"/>
                <a:gd name="T73" fmla="*/ 31 h 878"/>
                <a:gd name="T74" fmla="*/ 12 w 923"/>
                <a:gd name="T75" fmla="*/ 29 h 878"/>
                <a:gd name="T76" fmla="*/ 10 w 923"/>
                <a:gd name="T77" fmla="*/ 25 h 878"/>
                <a:gd name="T78" fmla="*/ 8 w 923"/>
                <a:gd name="T79" fmla="*/ 23 h 878"/>
                <a:gd name="T80" fmla="*/ 6 w 923"/>
                <a:gd name="T81" fmla="*/ 20 h 878"/>
                <a:gd name="T82" fmla="*/ 5 w 923"/>
                <a:gd name="T83" fmla="*/ 18 h 878"/>
                <a:gd name="T84" fmla="*/ 4 w 923"/>
                <a:gd name="T85" fmla="*/ 15 h 878"/>
                <a:gd name="T86" fmla="*/ 0 w 923"/>
                <a:gd name="T87" fmla="*/ 9 h 8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923"/>
                <a:gd name="T133" fmla="*/ 0 h 878"/>
                <a:gd name="T134" fmla="*/ 923 w 923"/>
                <a:gd name="T135" fmla="*/ 878 h 8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923" h="878">
                  <a:moveTo>
                    <a:pt x="0" y="237"/>
                  </a:moveTo>
                  <a:lnTo>
                    <a:pt x="77" y="199"/>
                  </a:lnTo>
                  <a:lnTo>
                    <a:pt x="173" y="160"/>
                  </a:lnTo>
                  <a:lnTo>
                    <a:pt x="211" y="135"/>
                  </a:lnTo>
                  <a:lnTo>
                    <a:pt x="224" y="122"/>
                  </a:lnTo>
                  <a:lnTo>
                    <a:pt x="275" y="167"/>
                  </a:lnTo>
                  <a:lnTo>
                    <a:pt x="320" y="237"/>
                  </a:lnTo>
                  <a:lnTo>
                    <a:pt x="352" y="269"/>
                  </a:lnTo>
                  <a:lnTo>
                    <a:pt x="339" y="237"/>
                  </a:lnTo>
                  <a:lnTo>
                    <a:pt x="326" y="205"/>
                  </a:lnTo>
                  <a:lnTo>
                    <a:pt x="313" y="177"/>
                  </a:lnTo>
                  <a:lnTo>
                    <a:pt x="299" y="145"/>
                  </a:lnTo>
                  <a:lnTo>
                    <a:pt x="259" y="108"/>
                  </a:lnTo>
                  <a:lnTo>
                    <a:pt x="320" y="71"/>
                  </a:lnTo>
                  <a:lnTo>
                    <a:pt x="390" y="51"/>
                  </a:lnTo>
                  <a:lnTo>
                    <a:pt x="493" y="32"/>
                  </a:lnTo>
                  <a:lnTo>
                    <a:pt x="525" y="0"/>
                  </a:lnTo>
                  <a:lnTo>
                    <a:pt x="538" y="0"/>
                  </a:lnTo>
                  <a:lnTo>
                    <a:pt x="595" y="71"/>
                  </a:lnTo>
                  <a:lnTo>
                    <a:pt x="640" y="141"/>
                  </a:lnTo>
                  <a:lnTo>
                    <a:pt x="672" y="211"/>
                  </a:lnTo>
                  <a:lnTo>
                    <a:pt x="710" y="269"/>
                  </a:lnTo>
                  <a:lnTo>
                    <a:pt x="742" y="333"/>
                  </a:lnTo>
                  <a:lnTo>
                    <a:pt x="794" y="378"/>
                  </a:lnTo>
                  <a:lnTo>
                    <a:pt x="800" y="429"/>
                  </a:lnTo>
                  <a:lnTo>
                    <a:pt x="838" y="499"/>
                  </a:lnTo>
                  <a:lnTo>
                    <a:pt x="877" y="576"/>
                  </a:lnTo>
                  <a:lnTo>
                    <a:pt x="915" y="634"/>
                  </a:lnTo>
                  <a:lnTo>
                    <a:pt x="922" y="666"/>
                  </a:lnTo>
                  <a:lnTo>
                    <a:pt x="819" y="704"/>
                  </a:lnTo>
                  <a:lnTo>
                    <a:pt x="736" y="749"/>
                  </a:lnTo>
                  <a:lnTo>
                    <a:pt x="672" y="775"/>
                  </a:lnTo>
                  <a:lnTo>
                    <a:pt x="595" y="794"/>
                  </a:lnTo>
                  <a:lnTo>
                    <a:pt x="538" y="813"/>
                  </a:lnTo>
                  <a:lnTo>
                    <a:pt x="467" y="871"/>
                  </a:lnTo>
                  <a:lnTo>
                    <a:pt x="390" y="877"/>
                  </a:lnTo>
                  <a:lnTo>
                    <a:pt x="352" y="794"/>
                  </a:lnTo>
                  <a:lnTo>
                    <a:pt x="307" y="749"/>
                  </a:lnTo>
                  <a:lnTo>
                    <a:pt x="256" y="653"/>
                  </a:lnTo>
                  <a:lnTo>
                    <a:pt x="218" y="589"/>
                  </a:lnTo>
                  <a:lnTo>
                    <a:pt x="166" y="519"/>
                  </a:lnTo>
                  <a:lnTo>
                    <a:pt x="141" y="455"/>
                  </a:lnTo>
                  <a:lnTo>
                    <a:pt x="90" y="378"/>
                  </a:lnTo>
                  <a:lnTo>
                    <a:pt x="0" y="237"/>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8696" name="Freeform 22" descr="Großes Konfetti"/>
            <p:cNvSpPr>
              <a:spLocks/>
            </p:cNvSpPr>
            <p:nvPr/>
          </p:nvSpPr>
          <p:spPr bwMode="auto">
            <a:xfrm>
              <a:off x="1217" y="1127"/>
              <a:ext cx="231" cy="233"/>
            </a:xfrm>
            <a:custGeom>
              <a:avLst/>
              <a:gdLst>
                <a:gd name="T0" fmla="*/ 0 w 680"/>
                <a:gd name="T1" fmla="*/ 6 h 686"/>
                <a:gd name="T2" fmla="*/ 2 w 680"/>
                <a:gd name="T3" fmla="*/ 5 h 686"/>
                <a:gd name="T4" fmla="*/ 4 w 680"/>
                <a:gd name="T5" fmla="*/ 4 h 686"/>
                <a:gd name="T6" fmla="*/ 8 w 680"/>
                <a:gd name="T7" fmla="*/ 3 h 686"/>
                <a:gd name="T8" fmla="*/ 11 w 680"/>
                <a:gd name="T9" fmla="*/ 1 h 686"/>
                <a:gd name="T10" fmla="*/ 12 w 680"/>
                <a:gd name="T11" fmla="*/ 1 h 686"/>
                <a:gd name="T12" fmla="*/ 13 w 680"/>
                <a:gd name="T13" fmla="*/ 0 h 686"/>
                <a:gd name="T14" fmla="*/ 14 w 680"/>
                <a:gd name="T15" fmla="*/ 0 h 686"/>
                <a:gd name="T16" fmla="*/ 15 w 680"/>
                <a:gd name="T17" fmla="*/ 2 h 686"/>
                <a:gd name="T18" fmla="*/ 16 w 680"/>
                <a:gd name="T19" fmla="*/ 3 h 686"/>
                <a:gd name="T20" fmla="*/ 17 w 680"/>
                <a:gd name="T21" fmla="*/ 5 h 686"/>
                <a:gd name="T22" fmla="*/ 15 w 680"/>
                <a:gd name="T23" fmla="*/ 2 h 686"/>
                <a:gd name="T24" fmla="*/ 14 w 680"/>
                <a:gd name="T25" fmla="*/ 2 h 686"/>
                <a:gd name="T26" fmla="*/ 15 w 680"/>
                <a:gd name="T27" fmla="*/ 3 h 686"/>
                <a:gd name="T28" fmla="*/ 16 w 680"/>
                <a:gd name="T29" fmla="*/ 4 h 686"/>
                <a:gd name="T30" fmla="*/ 17 w 680"/>
                <a:gd name="T31" fmla="*/ 6 h 686"/>
                <a:gd name="T32" fmla="*/ 19 w 680"/>
                <a:gd name="T33" fmla="*/ 9 h 686"/>
                <a:gd name="T34" fmla="*/ 20 w 680"/>
                <a:gd name="T35" fmla="*/ 11 h 686"/>
                <a:gd name="T36" fmla="*/ 22 w 680"/>
                <a:gd name="T37" fmla="*/ 13 h 686"/>
                <a:gd name="T38" fmla="*/ 24 w 680"/>
                <a:gd name="T39" fmla="*/ 17 h 686"/>
                <a:gd name="T40" fmla="*/ 25 w 680"/>
                <a:gd name="T41" fmla="*/ 19 h 686"/>
                <a:gd name="T42" fmla="*/ 26 w 680"/>
                <a:gd name="T43" fmla="*/ 20 h 686"/>
                <a:gd name="T44" fmla="*/ 24 w 680"/>
                <a:gd name="T45" fmla="*/ 20 h 686"/>
                <a:gd name="T46" fmla="*/ 20 w 680"/>
                <a:gd name="T47" fmla="*/ 22 h 686"/>
                <a:gd name="T48" fmla="*/ 18 w 680"/>
                <a:gd name="T49" fmla="*/ 23 h 686"/>
                <a:gd name="T50" fmla="*/ 16 w 680"/>
                <a:gd name="T51" fmla="*/ 24 h 686"/>
                <a:gd name="T52" fmla="*/ 14 w 680"/>
                <a:gd name="T53" fmla="*/ 26 h 686"/>
                <a:gd name="T54" fmla="*/ 12 w 680"/>
                <a:gd name="T55" fmla="*/ 27 h 686"/>
                <a:gd name="T56" fmla="*/ 11 w 680"/>
                <a:gd name="T57" fmla="*/ 25 h 686"/>
                <a:gd name="T58" fmla="*/ 7 w 680"/>
                <a:gd name="T59" fmla="*/ 21 h 686"/>
                <a:gd name="T60" fmla="*/ 6 w 680"/>
                <a:gd name="T61" fmla="*/ 18 h 686"/>
                <a:gd name="T62" fmla="*/ 5 w 680"/>
                <a:gd name="T63" fmla="*/ 16 h 686"/>
                <a:gd name="T64" fmla="*/ 3 w 680"/>
                <a:gd name="T65" fmla="*/ 13 h 686"/>
                <a:gd name="T66" fmla="*/ 1 w 680"/>
                <a:gd name="T67" fmla="*/ 10 h 686"/>
                <a:gd name="T68" fmla="*/ 0 w 680"/>
                <a:gd name="T69" fmla="*/ 6 h 6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80"/>
                <a:gd name="T106" fmla="*/ 0 h 686"/>
                <a:gd name="T107" fmla="*/ 680 w 680"/>
                <a:gd name="T108" fmla="*/ 686 h 68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80" h="686">
                  <a:moveTo>
                    <a:pt x="0" y="160"/>
                  </a:moveTo>
                  <a:lnTo>
                    <a:pt x="58" y="121"/>
                  </a:lnTo>
                  <a:lnTo>
                    <a:pt x="116" y="102"/>
                  </a:lnTo>
                  <a:lnTo>
                    <a:pt x="205" y="70"/>
                  </a:lnTo>
                  <a:lnTo>
                    <a:pt x="271" y="39"/>
                  </a:lnTo>
                  <a:lnTo>
                    <a:pt x="308" y="20"/>
                  </a:lnTo>
                  <a:lnTo>
                    <a:pt x="333" y="0"/>
                  </a:lnTo>
                  <a:lnTo>
                    <a:pt x="354" y="11"/>
                  </a:lnTo>
                  <a:lnTo>
                    <a:pt x="384" y="43"/>
                  </a:lnTo>
                  <a:lnTo>
                    <a:pt x="410" y="77"/>
                  </a:lnTo>
                  <a:lnTo>
                    <a:pt x="428" y="121"/>
                  </a:lnTo>
                  <a:lnTo>
                    <a:pt x="375" y="41"/>
                  </a:lnTo>
                  <a:lnTo>
                    <a:pt x="357" y="42"/>
                  </a:lnTo>
                  <a:lnTo>
                    <a:pt x="388" y="82"/>
                  </a:lnTo>
                  <a:lnTo>
                    <a:pt x="410" y="115"/>
                  </a:lnTo>
                  <a:lnTo>
                    <a:pt x="442" y="160"/>
                  </a:lnTo>
                  <a:lnTo>
                    <a:pt x="480" y="224"/>
                  </a:lnTo>
                  <a:lnTo>
                    <a:pt x="512" y="269"/>
                  </a:lnTo>
                  <a:lnTo>
                    <a:pt x="557" y="326"/>
                  </a:lnTo>
                  <a:lnTo>
                    <a:pt x="608" y="422"/>
                  </a:lnTo>
                  <a:lnTo>
                    <a:pt x="653" y="473"/>
                  </a:lnTo>
                  <a:lnTo>
                    <a:pt x="679" y="512"/>
                  </a:lnTo>
                  <a:lnTo>
                    <a:pt x="621" y="518"/>
                  </a:lnTo>
                  <a:lnTo>
                    <a:pt x="525" y="569"/>
                  </a:lnTo>
                  <a:lnTo>
                    <a:pt x="468" y="595"/>
                  </a:lnTo>
                  <a:lnTo>
                    <a:pt x="410" y="627"/>
                  </a:lnTo>
                  <a:lnTo>
                    <a:pt x="346" y="659"/>
                  </a:lnTo>
                  <a:lnTo>
                    <a:pt x="295" y="685"/>
                  </a:lnTo>
                  <a:lnTo>
                    <a:pt x="269" y="640"/>
                  </a:lnTo>
                  <a:lnTo>
                    <a:pt x="192" y="537"/>
                  </a:lnTo>
                  <a:lnTo>
                    <a:pt x="167" y="454"/>
                  </a:lnTo>
                  <a:lnTo>
                    <a:pt x="128" y="403"/>
                  </a:lnTo>
                  <a:lnTo>
                    <a:pt x="77" y="320"/>
                  </a:lnTo>
                  <a:lnTo>
                    <a:pt x="39" y="256"/>
                  </a:lnTo>
                  <a:lnTo>
                    <a:pt x="0" y="160"/>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8697" name="Freeform 23" descr="Großes Konfetti"/>
            <p:cNvSpPr>
              <a:spLocks/>
            </p:cNvSpPr>
            <p:nvPr/>
          </p:nvSpPr>
          <p:spPr bwMode="auto">
            <a:xfrm>
              <a:off x="1340" y="1060"/>
              <a:ext cx="245" cy="235"/>
            </a:xfrm>
            <a:custGeom>
              <a:avLst/>
              <a:gdLst>
                <a:gd name="T0" fmla="*/ 0 w 721"/>
                <a:gd name="T1" fmla="*/ 7 h 693"/>
                <a:gd name="T2" fmla="*/ 2 w 721"/>
                <a:gd name="T3" fmla="*/ 6 h 693"/>
                <a:gd name="T4" fmla="*/ 4 w 721"/>
                <a:gd name="T5" fmla="*/ 5 h 693"/>
                <a:gd name="T6" fmla="*/ 6 w 721"/>
                <a:gd name="T7" fmla="*/ 4 h 693"/>
                <a:gd name="T8" fmla="*/ 8 w 721"/>
                <a:gd name="T9" fmla="*/ 3 h 693"/>
                <a:gd name="T10" fmla="*/ 11 w 721"/>
                <a:gd name="T11" fmla="*/ 2 h 693"/>
                <a:gd name="T12" fmla="*/ 13 w 721"/>
                <a:gd name="T13" fmla="*/ 1 h 693"/>
                <a:gd name="T14" fmla="*/ 15 w 721"/>
                <a:gd name="T15" fmla="*/ 1 h 693"/>
                <a:gd name="T16" fmla="*/ 15 w 721"/>
                <a:gd name="T17" fmla="*/ 0 h 693"/>
                <a:gd name="T18" fmla="*/ 18 w 721"/>
                <a:gd name="T19" fmla="*/ 3 h 693"/>
                <a:gd name="T20" fmla="*/ 18 w 721"/>
                <a:gd name="T21" fmla="*/ 4 h 693"/>
                <a:gd name="T22" fmla="*/ 19 w 721"/>
                <a:gd name="T23" fmla="*/ 7 h 693"/>
                <a:gd name="T24" fmla="*/ 20 w 721"/>
                <a:gd name="T25" fmla="*/ 8 h 693"/>
                <a:gd name="T26" fmla="*/ 22 w 721"/>
                <a:gd name="T27" fmla="*/ 10 h 693"/>
                <a:gd name="T28" fmla="*/ 25 w 721"/>
                <a:gd name="T29" fmla="*/ 13 h 693"/>
                <a:gd name="T30" fmla="*/ 26 w 721"/>
                <a:gd name="T31" fmla="*/ 16 h 693"/>
                <a:gd name="T32" fmla="*/ 27 w 721"/>
                <a:gd name="T33" fmla="*/ 18 h 693"/>
                <a:gd name="T34" fmla="*/ 28 w 721"/>
                <a:gd name="T35" fmla="*/ 19 h 693"/>
                <a:gd name="T36" fmla="*/ 28 w 721"/>
                <a:gd name="T37" fmla="*/ 20 h 693"/>
                <a:gd name="T38" fmla="*/ 28 w 721"/>
                <a:gd name="T39" fmla="*/ 21 h 693"/>
                <a:gd name="T40" fmla="*/ 26 w 721"/>
                <a:gd name="T41" fmla="*/ 22 h 693"/>
                <a:gd name="T42" fmla="*/ 22 w 721"/>
                <a:gd name="T43" fmla="*/ 24 h 693"/>
                <a:gd name="T44" fmla="*/ 19 w 721"/>
                <a:gd name="T45" fmla="*/ 24 h 693"/>
                <a:gd name="T46" fmla="*/ 15 w 721"/>
                <a:gd name="T47" fmla="*/ 25 h 693"/>
                <a:gd name="T48" fmla="*/ 13 w 721"/>
                <a:gd name="T49" fmla="*/ 26 h 693"/>
                <a:gd name="T50" fmla="*/ 13 w 721"/>
                <a:gd name="T51" fmla="*/ 27 h 693"/>
                <a:gd name="T52" fmla="*/ 11 w 721"/>
                <a:gd name="T53" fmla="*/ 24 h 693"/>
                <a:gd name="T54" fmla="*/ 10 w 721"/>
                <a:gd name="T55" fmla="*/ 22 h 693"/>
                <a:gd name="T56" fmla="*/ 8 w 721"/>
                <a:gd name="T57" fmla="*/ 19 h 693"/>
                <a:gd name="T58" fmla="*/ 7 w 721"/>
                <a:gd name="T59" fmla="*/ 17 h 693"/>
                <a:gd name="T60" fmla="*/ 6 w 721"/>
                <a:gd name="T61" fmla="*/ 15 h 693"/>
                <a:gd name="T62" fmla="*/ 4 w 721"/>
                <a:gd name="T63" fmla="*/ 13 h 693"/>
                <a:gd name="T64" fmla="*/ 3 w 721"/>
                <a:gd name="T65" fmla="*/ 10 h 693"/>
                <a:gd name="T66" fmla="*/ 0 w 721"/>
                <a:gd name="T67" fmla="*/ 7 h 69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21"/>
                <a:gd name="T103" fmla="*/ 0 h 693"/>
                <a:gd name="T104" fmla="*/ 721 w 721"/>
                <a:gd name="T105" fmla="*/ 693 h 69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21" h="693">
                  <a:moveTo>
                    <a:pt x="0" y="173"/>
                  </a:moveTo>
                  <a:lnTo>
                    <a:pt x="53" y="145"/>
                  </a:lnTo>
                  <a:lnTo>
                    <a:pt x="99" y="121"/>
                  </a:lnTo>
                  <a:lnTo>
                    <a:pt x="154" y="109"/>
                  </a:lnTo>
                  <a:lnTo>
                    <a:pt x="208" y="77"/>
                  </a:lnTo>
                  <a:lnTo>
                    <a:pt x="278" y="64"/>
                  </a:lnTo>
                  <a:lnTo>
                    <a:pt x="323" y="39"/>
                  </a:lnTo>
                  <a:lnTo>
                    <a:pt x="374" y="20"/>
                  </a:lnTo>
                  <a:lnTo>
                    <a:pt x="387" y="0"/>
                  </a:lnTo>
                  <a:lnTo>
                    <a:pt x="451" y="77"/>
                  </a:lnTo>
                  <a:lnTo>
                    <a:pt x="458" y="116"/>
                  </a:lnTo>
                  <a:lnTo>
                    <a:pt x="490" y="173"/>
                  </a:lnTo>
                  <a:lnTo>
                    <a:pt x="515" y="212"/>
                  </a:lnTo>
                  <a:lnTo>
                    <a:pt x="554" y="250"/>
                  </a:lnTo>
                  <a:lnTo>
                    <a:pt x="630" y="340"/>
                  </a:lnTo>
                  <a:lnTo>
                    <a:pt x="662" y="404"/>
                  </a:lnTo>
                  <a:lnTo>
                    <a:pt x="694" y="468"/>
                  </a:lnTo>
                  <a:lnTo>
                    <a:pt x="701" y="487"/>
                  </a:lnTo>
                  <a:lnTo>
                    <a:pt x="714" y="525"/>
                  </a:lnTo>
                  <a:lnTo>
                    <a:pt x="720" y="544"/>
                  </a:lnTo>
                  <a:lnTo>
                    <a:pt x="662" y="570"/>
                  </a:lnTo>
                  <a:lnTo>
                    <a:pt x="554" y="615"/>
                  </a:lnTo>
                  <a:lnTo>
                    <a:pt x="477" y="628"/>
                  </a:lnTo>
                  <a:lnTo>
                    <a:pt x="374" y="653"/>
                  </a:lnTo>
                  <a:lnTo>
                    <a:pt x="330" y="679"/>
                  </a:lnTo>
                  <a:lnTo>
                    <a:pt x="317" y="692"/>
                  </a:lnTo>
                  <a:lnTo>
                    <a:pt x="278" y="628"/>
                  </a:lnTo>
                  <a:lnTo>
                    <a:pt x="246" y="564"/>
                  </a:lnTo>
                  <a:lnTo>
                    <a:pt x="208" y="493"/>
                  </a:lnTo>
                  <a:lnTo>
                    <a:pt x="176" y="429"/>
                  </a:lnTo>
                  <a:lnTo>
                    <a:pt x="144" y="378"/>
                  </a:lnTo>
                  <a:lnTo>
                    <a:pt x="99" y="320"/>
                  </a:lnTo>
                  <a:lnTo>
                    <a:pt x="74" y="256"/>
                  </a:lnTo>
                  <a:lnTo>
                    <a:pt x="0" y="173"/>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8698" name="Freeform 24" descr="Großes Konfetti"/>
            <p:cNvSpPr>
              <a:spLocks/>
            </p:cNvSpPr>
            <p:nvPr/>
          </p:nvSpPr>
          <p:spPr bwMode="auto">
            <a:xfrm>
              <a:off x="998" y="1158"/>
              <a:ext cx="224" cy="239"/>
            </a:xfrm>
            <a:custGeom>
              <a:avLst/>
              <a:gdLst>
                <a:gd name="T0" fmla="*/ 0 w 660"/>
                <a:gd name="T1" fmla="*/ 7 h 705"/>
                <a:gd name="T2" fmla="*/ 2 w 660"/>
                <a:gd name="T3" fmla="*/ 6 h 705"/>
                <a:gd name="T4" fmla="*/ 4 w 660"/>
                <a:gd name="T5" fmla="*/ 5 h 705"/>
                <a:gd name="T6" fmla="*/ 6 w 660"/>
                <a:gd name="T7" fmla="*/ 4 h 705"/>
                <a:gd name="T8" fmla="*/ 7 w 660"/>
                <a:gd name="T9" fmla="*/ 4 h 705"/>
                <a:gd name="T10" fmla="*/ 8 w 660"/>
                <a:gd name="T11" fmla="*/ 5 h 705"/>
                <a:gd name="T12" fmla="*/ 10 w 660"/>
                <a:gd name="T13" fmla="*/ 7 h 705"/>
                <a:gd name="T14" fmla="*/ 11 w 660"/>
                <a:gd name="T15" fmla="*/ 8 h 705"/>
                <a:gd name="T16" fmla="*/ 11 w 660"/>
                <a:gd name="T17" fmla="*/ 9 h 705"/>
                <a:gd name="T18" fmla="*/ 11 w 660"/>
                <a:gd name="T19" fmla="*/ 8 h 705"/>
                <a:gd name="T20" fmla="*/ 10 w 660"/>
                <a:gd name="T21" fmla="*/ 7 h 705"/>
                <a:gd name="T22" fmla="*/ 10 w 660"/>
                <a:gd name="T23" fmla="*/ 5 h 705"/>
                <a:gd name="T24" fmla="*/ 8 w 660"/>
                <a:gd name="T25" fmla="*/ 4 h 705"/>
                <a:gd name="T26" fmla="*/ 8 w 660"/>
                <a:gd name="T27" fmla="*/ 3 h 705"/>
                <a:gd name="T28" fmla="*/ 10 w 660"/>
                <a:gd name="T29" fmla="*/ 2 h 705"/>
                <a:gd name="T30" fmla="*/ 12 w 660"/>
                <a:gd name="T31" fmla="*/ 1 h 705"/>
                <a:gd name="T32" fmla="*/ 13 w 660"/>
                <a:gd name="T33" fmla="*/ 1 h 705"/>
                <a:gd name="T34" fmla="*/ 15 w 660"/>
                <a:gd name="T35" fmla="*/ 0 h 705"/>
                <a:gd name="T36" fmla="*/ 15 w 660"/>
                <a:gd name="T37" fmla="*/ 2 h 705"/>
                <a:gd name="T38" fmla="*/ 16 w 660"/>
                <a:gd name="T39" fmla="*/ 4 h 705"/>
                <a:gd name="T40" fmla="*/ 17 w 660"/>
                <a:gd name="T41" fmla="*/ 7 h 705"/>
                <a:gd name="T42" fmla="*/ 19 w 660"/>
                <a:gd name="T43" fmla="*/ 9 h 705"/>
                <a:gd name="T44" fmla="*/ 20 w 660"/>
                <a:gd name="T45" fmla="*/ 12 h 705"/>
                <a:gd name="T46" fmla="*/ 22 w 660"/>
                <a:gd name="T47" fmla="*/ 14 h 705"/>
                <a:gd name="T48" fmla="*/ 23 w 660"/>
                <a:gd name="T49" fmla="*/ 17 h 705"/>
                <a:gd name="T50" fmla="*/ 25 w 660"/>
                <a:gd name="T51" fmla="*/ 19 h 705"/>
                <a:gd name="T52" fmla="*/ 26 w 660"/>
                <a:gd name="T53" fmla="*/ 20 h 705"/>
                <a:gd name="T54" fmla="*/ 25 w 660"/>
                <a:gd name="T55" fmla="*/ 21 h 705"/>
                <a:gd name="T56" fmla="*/ 23 w 660"/>
                <a:gd name="T57" fmla="*/ 23 h 705"/>
                <a:gd name="T58" fmla="*/ 21 w 660"/>
                <a:gd name="T59" fmla="*/ 23 h 705"/>
                <a:gd name="T60" fmla="*/ 20 w 660"/>
                <a:gd name="T61" fmla="*/ 23 h 705"/>
                <a:gd name="T62" fmla="*/ 19 w 660"/>
                <a:gd name="T63" fmla="*/ 21 h 705"/>
                <a:gd name="T64" fmla="*/ 17 w 660"/>
                <a:gd name="T65" fmla="*/ 20 h 705"/>
                <a:gd name="T66" fmla="*/ 16 w 660"/>
                <a:gd name="T67" fmla="*/ 18 h 705"/>
                <a:gd name="T68" fmla="*/ 15 w 660"/>
                <a:gd name="T69" fmla="*/ 16 h 705"/>
                <a:gd name="T70" fmla="*/ 16 w 660"/>
                <a:gd name="T71" fmla="*/ 19 h 705"/>
                <a:gd name="T72" fmla="*/ 17 w 660"/>
                <a:gd name="T73" fmla="*/ 20 h 705"/>
                <a:gd name="T74" fmla="*/ 19 w 660"/>
                <a:gd name="T75" fmla="*/ 23 h 705"/>
                <a:gd name="T76" fmla="*/ 19 w 660"/>
                <a:gd name="T77" fmla="*/ 25 h 705"/>
                <a:gd name="T78" fmla="*/ 14 w 660"/>
                <a:gd name="T79" fmla="*/ 26 h 705"/>
                <a:gd name="T80" fmla="*/ 12 w 660"/>
                <a:gd name="T81" fmla="*/ 27 h 705"/>
                <a:gd name="T82" fmla="*/ 11 w 660"/>
                <a:gd name="T83" fmla="*/ 27 h 705"/>
                <a:gd name="T84" fmla="*/ 10 w 660"/>
                <a:gd name="T85" fmla="*/ 25 h 705"/>
                <a:gd name="T86" fmla="*/ 8 w 660"/>
                <a:gd name="T87" fmla="*/ 23 h 705"/>
                <a:gd name="T88" fmla="*/ 7 w 660"/>
                <a:gd name="T89" fmla="*/ 20 h 705"/>
                <a:gd name="T90" fmla="*/ 7 w 660"/>
                <a:gd name="T91" fmla="*/ 19 h 705"/>
                <a:gd name="T92" fmla="*/ 6 w 660"/>
                <a:gd name="T93" fmla="*/ 15 h 705"/>
                <a:gd name="T94" fmla="*/ 4 w 660"/>
                <a:gd name="T95" fmla="*/ 13 h 705"/>
                <a:gd name="T96" fmla="*/ 1 w 660"/>
                <a:gd name="T97" fmla="*/ 10 h 705"/>
                <a:gd name="T98" fmla="*/ 0 w 660"/>
                <a:gd name="T99" fmla="*/ 7 h 7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60"/>
                <a:gd name="T151" fmla="*/ 0 h 705"/>
                <a:gd name="T152" fmla="*/ 660 w 660"/>
                <a:gd name="T153" fmla="*/ 705 h 70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60" h="705">
                  <a:moveTo>
                    <a:pt x="0" y="189"/>
                  </a:moveTo>
                  <a:lnTo>
                    <a:pt x="51" y="167"/>
                  </a:lnTo>
                  <a:lnTo>
                    <a:pt x="97" y="134"/>
                  </a:lnTo>
                  <a:lnTo>
                    <a:pt x="156" y="112"/>
                  </a:lnTo>
                  <a:lnTo>
                    <a:pt x="187" y="107"/>
                  </a:lnTo>
                  <a:lnTo>
                    <a:pt x="217" y="129"/>
                  </a:lnTo>
                  <a:lnTo>
                    <a:pt x="256" y="192"/>
                  </a:lnTo>
                  <a:lnTo>
                    <a:pt x="275" y="218"/>
                  </a:lnTo>
                  <a:lnTo>
                    <a:pt x="288" y="244"/>
                  </a:lnTo>
                  <a:lnTo>
                    <a:pt x="281" y="212"/>
                  </a:lnTo>
                  <a:lnTo>
                    <a:pt x="262" y="180"/>
                  </a:lnTo>
                  <a:lnTo>
                    <a:pt x="243" y="141"/>
                  </a:lnTo>
                  <a:lnTo>
                    <a:pt x="217" y="105"/>
                  </a:lnTo>
                  <a:lnTo>
                    <a:pt x="203" y="83"/>
                  </a:lnTo>
                  <a:lnTo>
                    <a:pt x="249" y="45"/>
                  </a:lnTo>
                  <a:lnTo>
                    <a:pt x="294" y="32"/>
                  </a:lnTo>
                  <a:lnTo>
                    <a:pt x="326" y="26"/>
                  </a:lnTo>
                  <a:lnTo>
                    <a:pt x="372" y="0"/>
                  </a:lnTo>
                  <a:lnTo>
                    <a:pt x="396" y="58"/>
                  </a:lnTo>
                  <a:lnTo>
                    <a:pt x="409" y="116"/>
                  </a:lnTo>
                  <a:lnTo>
                    <a:pt x="435" y="180"/>
                  </a:lnTo>
                  <a:lnTo>
                    <a:pt x="480" y="244"/>
                  </a:lnTo>
                  <a:lnTo>
                    <a:pt x="524" y="295"/>
                  </a:lnTo>
                  <a:lnTo>
                    <a:pt x="576" y="352"/>
                  </a:lnTo>
                  <a:lnTo>
                    <a:pt x="595" y="429"/>
                  </a:lnTo>
                  <a:lnTo>
                    <a:pt x="640" y="487"/>
                  </a:lnTo>
                  <a:lnTo>
                    <a:pt x="659" y="512"/>
                  </a:lnTo>
                  <a:lnTo>
                    <a:pt x="652" y="538"/>
                  </a:lnTo>
                  <a:lnTo>
                    <a:pt x="582" y="583"/>
                  </a:lnTo>
                  <a:lnTo>
                    <a:pt x="531" y="602"/>
                  </a:lnTo>
                  <a:lnTo>
                    <a:pt x="512" y="602"/>
                  </a:lnTo>
                  <a:lnTo>
                    <a:pt x="480" y="551"/>
                  </a:lnTo>
                  <a:lnTo>
                    <a:pt x="441" y="506"/>
                  </a:lnTo>
                  <a:lnTo>
                    <a:pt x="416" y="455"/>
                  </a:lnTo>
                  <a:lnTo>
                    <a:pt x="371" y="416"/>
                  </a:lnTo>
                  <a:lnTo>
                    <a:pt x="409" y="474"/>
                  </a:lnTo>
                  <a:lnTo>
                    <a:pt x="441" y="525"/>
                  </a:lnTo>
                  <a:lnTo>
                    <a:pt x="473" y="589"/>
                  </a:lnTo>
                  <a:lnTo>
                    <a:pt x="480" y="634"/>
                  </a:lnTo>
                  <a:lnTo>
                    <a:pt x="345" y="679"/>
                  </a:lnTo>
                  <a:lnTo>
                    <a:pt x="300" y="698"/>
                  </a:lnTo>
                  <a:lnTo>
                    <a:pt x="288" y="704"/>
                  </a:lnTo>
                  <a:lnTo>
                    <a:pt x="256" y="653"/>
                  </a:lnTo>
                  <a:lnTo>
                    <a:pt x="217" y="583"/>
                  </a:lnTo>
                  <a:lnTo>
                    <a:pt x="185" y="512"/>
                  </a:lnTo>
                  <a:lnTo>
                    <a:pt x="179" y="474"/>
                  </a:lnTo>
                  <a:lnTo>
                    <a:pt x="147" y="391"/>
                  </a:lnTo>
                  <a:lnTo>
                    <a:pt x="96" y="327"/>
                  </a:lnTo>
                  <a:lnTo>
                    <a:pt x="19" y="256"/>
                  </a:lnTo>
                  <a:lnTo>
                    <a:pt x="0" y="189"/>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8699" name="Freeform 25" descr="5%"/>
            <p:cNvSpPr>
              <a:spLocks/>
            </p:cNvSpPr>
            <p:nvPr/>
          </p:nvSpPr>
          <p:spPr bwMode="auto">
            <a:xfrm>
              <a:off x="799" y="600"/>
              <a:ext cx="451" cy="186"/>
            </a:xfrm>
            <a:custGeom>
              <a:avLst/>
              <a:gdLst>
                <a:gd name="T0" fmla="*/ 0 w 1332"/>
                <a:gd name="T1" fmla="*/ 18 h 547"/>
                <a:gd name="T2" fmla="*/ 3 w 1332"/>
                <a:gd name="T3" fmla="*/ 17 h 547"/>
                <a:gd name="T4" fmla="*/ 8 w 1332"/>
                <a:gd name="T5" fmla="*/ 14 h 547"/>
                <a:gd name="T6" fmla="*/ 10 w 1332"/>
                <a:gd name="T7" fmla="*/ 14 h 547"/>
                <a:gd name="T8" fmla="*/ 13 w 1332"/>
                <a:gd name="T9" fmla="*/ 12 h 547"/>
                <a:gd name="T10" fmla="*/ 17 w 1332"/>
                <a:gd name="T11" fmla="*/ 11 h 547"/>
                <a:gd name="T12" fmla="*/ 22 w 1332"/>
                <a:gd name="T13" fmla="*/ 9 h 547"/>
                <a:gd name="T14" fmla="*/ 25 w 1332"/>
                <a:gd name="T15" fmla="*/ 8 h 547"/>
                <a:gd name="T16" fmla="*/ 30 w 1332"/>
                <a:gd name="T17" fmla="*/ 5 h 547"/>
                <a:gd name="T18" fmla="*/ 32 w 1332"/>
                <a:gd name="T19" fmla="*/ 6 h 547"/>
                <a:gd name="T20" fmla="*/ 33 w 1332"/>
                <a:gd name="T21" fmla="*/ 7 h 547"/>
                <a:gd name="T22" fmla="*/ 34 w 1332"/>
                <a:gd name="T23" fmla="*/ 7 h 547"/>
                <a:gd name="T24" fmla="*/ 36 w 1332"/>
                <a:gd name="T25" fmla="*/ 8 h 547"/>
                <a:gd name="T26" fmla="*/ 35 w 1332"/>
                <a:gd name="T27" fmla="*/ 7 h 547"/>
                <a:gd name="T28" fmla="*/ 34 w 1332"/>
                <a:gd name="T29" fmla="*/ 6 h 547"/>
                <a:gd name="T30" fmla="*/ 32 w 1332"/>
                <a:gd name="T31" fmla="*/ 6 h 547"/>
                <a:gd name="T32" fmla="*/ 30 w 1332"/>
                <a:gd name="T33" fmla="*/ 5 h 547"/>
                <a:gd name="T34" fmla="*/ 33 w 1332"/>
                <a:gd name="T35" fmla="*/ 4 h 547"/>
                <a:gd name="T36" fmla="*/ 35 w 1332"/>
                <a:gd name="T37" fmla="*/ 2 h 547"/>
                <a:gd name="T38" fmla="*/ 37 w 1332"/>
                <a:gd name="T39" fmla="*/ 2 h 547"/>
                <a:gd name="T40" fmla="*/ 39 w 1332"/>
                <a:gd name="T41" fmla="*/ 1 h 547"/>
                <a:gd name="T42" fmla="*/ 41 w 1332"/>
                <a:gd name="T43" fmla="*/ 0 h 547"/>
                <a:gd name="T44" fmla="*/ 42 w 1332"/>
                <a:gd name="T45" fmla="*/ 0 h 547"/>
                <a:gd name="T46" fmla="*/ 45 w 1332"/>
                <a:gd name="T47" fmla="*/ 1 h 547"/>
                <a:gd name="T48" fmla="*/ 49 w 1332"/>
                <a:gd name="T49" fmla="*/ 3 h 547"/>
                <a:gd name="T50" fmla="*/ 52 w 1332"/>
                <a:gd name="T51" fmla="*/ 4 h 547"/>
                <a:gd name="T52" fmla="*/ 50 w 1332"/>
                <a:gd name="T53" fmla="*/ 5 h 547"/>
                <a:gd name="T54" fmla="*/ 47 w 1332"/>
                <a:gd name="T55" fmla="*/ 6 h 547"/>
                <a:gd name="T56" fmla="*/ 43 w 1332"/>
                <a:gd name="T57" fmla="*/ 8 h 547"/>
                <a:gd name="T58" fmla="*/ 42 w 1332"/>
                <a:gd name="T59" fmla="*/ 9 h 547"/>
                <a:gd name="T60" fmla="*/ 40 w 1332"/>
                <a:gd name="T61" fmla="*/ 10 h 547"/>
                <a:gd name="T62" fmla="*/ 39 w 1332"/>
                <a:gd name="T63" fmla="*/ 9 h 547"/>
                <a:gd name="T64" fmla="*/ 37 w 1332"/>
                <a:gd name="T65" fmla="*/ 9 h 547"/>
                <a:gd name="T66" fmla="*/ 36 w 1332"/>
                <a:gd name="T67" fmla="*/ 8 h 547"/>
                <a:gd name="T68" fmla="*/ 38 w 1332"/>
                <a:gd name="T69" fmla="*/ 9 h 547"/>
                <a:gd name="T70" fmla="*/ 39 w 1332"/>
                <a:gd name="T71" fmla="*/ 10 h 547"/>
                <a:gd name="T72" fmla="*/ 37 w 1332"/>
                <a:gd name="T73" fmla="*/ 11 h 547"/>
                <a:gd name="T74" fmla="*/ 32 w 1332"/>
                <a:gd name="T75" fmla="*/ 13 h 547"/>
                <a:gd name="T76" fmla="*/ 30 w 1332"/>
                <a:gd name="T77" fmla="*/ 14 h 547"/>
                <a:gd name="T78" fmla="*/ 27 w 1332"/>
                <a:gd name="T79" fmla="*/ 15 h 547"/>
                <a:gd name="T80" fmla="*/ 25 w 1332"/>
                <a:gd name="T81" fmla="*/ 16 h 547"/>
                <a:gd name="T82" fmla="*/ 23 w 1332"/>
                <a:gd name="T83" fmla="*/ 14 h 547"/>
                <a:gd name="T84" fmla="*/ 21 w 1332"/>
                <a:gd name="T85" fmla="*/ 13 h 547"/>
                <a:gd name="T86" fmla="*/ 20 w 1332"/>
                <a:gd name="T87" fmla="*/ 13 h 547"/>
                <a:gd name="T88" fmla="*/ 18 w 1332"/>
                <a:gd name="T89" fmla="*/ 12 h 547"/>
                <a:gd name="T90" fmla="*/ 16 w 1332"/>
                <a:gd name="T91" fmla="*/ 12 h 547"/>
                <a:gd name="T92" fmla="*/ 17 w 1332"/>
                <a:gd name="T93" fmla="*/ 13 h 547"/>
                <a:gd name="T94" fmla="*/ 19 w 1332"/>
                <a:gd name="T95" fmla="*/ 13 h 547"/>
                <a:gd name="T96" fmla="*/ 20 w 1332"/>
                <a:gd name="T97" fmla="*/ 14 h 547"/>
                <a:gd name="T98" fmla="*/ 22 w 1332"/>
                <a:gd name="T99" fmla="*/ 15 h 547"/>
                <a:gd name="T100" fmla="*/ 23 w 1332"/>
                <a:gd name="T101" fmla="*/ 15 h 547"/>
                <a:gd name="T102" fmla="*/ 24 w 1332"/>
                <a:gd name="T103" fmla="*/ 16 h 547"/>
                <a:gd name="T104" fmla="*/ 22 w 1332"/>
                <a:gd name="T105" fmla="*/ 17 h 547"/>
                <a:gd name="T106" fmla="*/ 18 w 1332"/>
                <a:gd name="T107" fmla="*/ 18 h 547"/>
                <a:gd name="T108" fmla="*/ 15 w 1332"/>
                <a:gd name="T109" fmla="*/ 19 h 547"/>
                <a:gd name="T110" fmla="*/ 12 w 1332"/>
                <a:gd name="T111" fmla="*/ 21 h 547"/>
                <a:gd name="T112" fmla="*/ 9 w 1332"/>
                <a:gd name="T113" fmla="*/ 21 h 547"/>
                <a:gd name="T114" fmla="*/ 7 w 1332"/>
                <a:gd name="T115" fmla="*/ 20 h 547"/>
                <a:gd name="T116" fmla="*/ 4 w 1332"/>
                <a:gd name="T117" fmla="*/ 20 h 547"/>
                <a:gd name="T118" fmla="*/ 0 w 1332"/>
                <a:gd name="T119" fmla="*/ 18 h 54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332"/>
                <a:gd name="T181" fmla="*/ 0 h 547"/>
                <a:gd name="T182" fmla="*/ 1332 w 1332"/>
                <a:gd name="T183" fmla="*/ 547 h 54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332" h="547">
                  <a:moveTo>
                    <a:pt x="0" y="467"/>
                  </a:moveTo>
                  <a:lnTo>
                    <a:pt x="90" y="435"/>
                  </a:lnTo>
                  <a:lnTo>
                    <a:pt x="199" y="364"/>
                  </a:lnTo>
                  <a:lnTo>
                    <a:pt x="250" y="345"/>
                  </a:lnTo>
                  <a:lnTo>
                    <a:pt x="339" y="307"/>
                  </a:lnTo>
                  <a:lnTo>
                    <a:pt x="435" y="275"/>
                  </a:lnTo>
                  <a:lnTo>
                    <a:pt x="576" y="230"/>
                  </a:lnTo>
                  <a:lnTo>
                    <a:pt x="653" y="198"/>
                  </a:lnTo>
                  <a:lnTo>
                    <a:pt x="768" y="140"/>
                  </a:lnTo>
                  <a:lnTo>
                    <a:pt x="817" y="152"/>
                  </a:lnTo>
                  <a:lnTo>
                    <a:pt x="855" y="186"/>
                  </a:lnTo>
                  <a:lnTo>
                    <a:pt x="877" y="195"/>
                  </a:lnTo>
                  <a:lnTo>
                    <a:pt x="923" y="209"/>
                  </a:lnTo>
                  <a:lnTo>
                    <a:pt x="896" y="185"/>
                  </a:lnTo>
                  <a:lnTo>
                    <a:pt x="858" y="166"/>
                  </a:lnTo>
                  <a:lnTo>
                    <a:pt x="826" y="147"/>
                  </a:lnTo>
                  <a:lnTo>
                    <a:pt x="788" y="128"/>
                  </a:lnTo>
                  <a:lnTo>
                    <a:pt x="839" y="102"/>
                  </a:lnTo>
                  <a:lnTo>
                    <a:pt x="896" y="64"/>
                  </a:lnTo>
                  <a:lnTo>
                    <a:pt x="954" y="57"/>
                  </a:lnTo>
                  <a:lnTo>
                    <a:pt x="1011" y="32"/>
                  </a:lnTo>
                  <a:lnTo>
                    <a:pt x="1063" y="12"/>
                  </a:lnTo>
                  <a:lnTo>
                    <a:pt x="1088" y="0"/>
                  </a:lnTo>
                  <a:lnTo>
                    <a:pt x="1165" y="25"/>
                  </a:lnTo>
                  <a:lnTo>
                    <a:pt x="1267" y="70"/>
                  </a:lnTo>
                  <a:lnTo>
                    <a:pt x="1331" y="102"/>
                  </a:lnTo>
                  <a:lnTo>
                    <a:pt x="1287" y="140"/>
                  </a:lnTo>
                  <a:lnTo>
                    <a:pt x="1216" y="160"/>
                  </a:lnTo>
                  <a:lnTo>
                    <a:pt x="1107" y="211"/>
                  </a:lnTo>
                  <a:lnTo>
                    <a:pt x="1082" y="236"/>
                  </a:lnTo>
                  <a:lnTo>
                    <a:pt x="1040" y="251"/>
                  </a:lnTo>
                  <a:lnTo>
                    <a:pt x="1010" y="235"/>
                  </a:lnTo>
                  <a:lnTo>
                    <a:pt x="954" y="220"/>
                  </a:lnTo>
                  <a:lnTo>
                    <a:pt x="920" y="211"/>
                  </a:lnTo>
                  <a:lnTo>
                    <a:pt x="967" y="236"/>
                  </a:lnTo>
                  <a:lnTo>
                    <a:pt x="1011" y="256"/>
                  </a:lnTo>
                  <a:lnTo>
                    <a:pt x="960" y="275"/>
                  </a:lnTo>
                  <a:lnTo>
                    <a:pt x="832" y="320"/>
                  </a:lnTo>
                  <a:lnTo>
                    <a:pt x="775" y="352"/>
                  </a:lnTo>
                  <a:lnTo>
                    <a:pt x="691" y="390"/>
                  </a:lnTo>
                  <a:lnTo>
                    <a:pt x="656" y="397"/>
                  </a:lnTo>
                  <a:lnTo>
                    <a:pt x="583" y="352"/>
                  </a:lnTo>
                  <a:lnTo>
                    <a:pt x="551" y="339"/>
                  </a:lnTo>
                  <a:lnTo>
                    <a:pt x="512" y="332"/>
                  </a:lnTo>
                  <a:lnTo>
                    <a:pt x="467" y="313"/>
                  </a:lnTo>
                  <a:lnTo>
                    <a:pt x="405" y="296"/>
                  </a:lnTo>
                  <a:lnTo>
                    <a:pt x="429" y="318"/>
                  </a:lnTo>
                  <a:lnTo>
                    <a:pt x="480" y="339"/>
                  </a:lnTo>
                  <a:lnTo>
                    <a:pt x="525" y="352"/>
                  </a:lnTo>
                  <a:lnTo>
                    <a:pt x="557" y="371"/>
                  </a:lnTo>
                  <a:lnTo>
                    <a:pt x="592" y="380"/>
                  </a:lnTo>
                  <a:lnTo>
                    <a:pt x="630" y="409"/>
                  </a:lnTo>
                  <a:lnTo>
                    <a:pt x="557" y="441"/>
                  </a:lnTo>
                  <a:lnTo>
                    <a:pt x="461" y="460"/>
                  </a:lnTo>
                  <a:lnTo>
                    <a:pt x="371" y="492"/>
                  </a:lnTo>
                  <a:lnTo>
                    <a:pt x="307" y="531"/>
                  </a:lnTo>
                  <a:lnTo>
                    <a:pt x="248" y="546"/>
                  </a:lnTo>
                  <a:lnTo>
                    <a:pt x="173" y="512"/>
                  </a:lnTo>
                  <a:lnTo>
                    <a:pt x="109" y="505"/>
                  </a:lnTo>
                  <a:lnTo>
                    <a:pt x="0" y="467"/>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00" name="Freeform 26" descr="25%"/>
            <p:cNvSpPr>
              <a:spLocks/>
            </p:cNvSpPr>
            <p:nvPr/>
          </p:nvSpPr>
          <p:spPr bwMode="auto">
            <a:xfrm>
              <a:off x="634" y="693"/>
              <a:ext cx="656" cy="561"/>
            </a:xfrm>
            <a:custGeom>
              <a:avLst/>
              <a:gdLst>
                <a:gd name="T0" fmla="*/ 72 w 1934"/>
                <a:gd name="T1" fmla="*/ 0 h 1652"/>
                <a:gd name="T2" fmla="*/ 65 w 1934"/>
                <a:gd name="T3" fmla="*/ 2 h 1652"/>
                <a:gd name="T4" fmla="*/ 63 w 1934"/>
                <a:gd name="T5" fmla="*/ 3 h 1652"/>
                <a:gd name="T6" fmla="*/ 61 w 1934"/>
                <a:gd name="T7" fmla="*/ 4 h 1652"/>
                <a:gd name="T8" fmla="*/ 58 w 1934"/>
                <a:gd name="T9" fmla="*/ 6 h 1652"/>
                <a:gd name="T10" fmla="*/ 54 w 1934"/>
                <a:gd name="T11" fmla="*/ 7 h 1652"/>
                <a:gd name="T12" fmla="*/ 50 w 1934"/>
                <a:gd name="T13" fmla="*/ 10 h 1652"/>
                <a:gd name="T14" fmla="*/ 47 w 1934"/>
                <a:gd name="T15" fmla="*/ 11 h 1652"/>
                <a:gd name="T16" fmla="*/ 46 w 1934"/>
                <a:gd name="T17" fmla="*/ 11 h 1652"/>
                <a:gd name="T18" fmla="*/ 43 w 1934"/>
                <a:gd name="T19" fmla="*/ 12 h 1652"/>
                <a:gd name="T20" fmla="*/ 39 w 1934"/>
                <a:gd name="T21" fmla="*/ 14 h 1652"/>
                <a:gd name="T22" fmla="*/ 34 w 1934"/>
                <a:gd name="T23" fmla="*/ 17 h 1652"/>
                <a:gd name="T24" fmla="*/ 28 w 1934"/>
                <a:gd name="T25" fmla="*/ 19 h 1652"/>
                <a:gd name="T26" fmla="*/ 16 w 1934"/>
                <a:gd name="T27" fmla="*/ 23 h 1652"/>
                <a:gd name="T28" fmla="*/ 11 w 1934"/>
                <a:gd name="T29" fmla="*/ 25 h 1652"/>
                <a:gd name="T30" fmla="*/ 4 w 1934"/>
                <a:gd name="T31" fmla="*/ 29 h 1652"/>
                <a:gd name="T32" fmla="*/ 0 w 1934"/>
                <a:gd name="T33" fmla="*/ 30 h 1652"/>
                <a:gd name="T34" fmla="*/ 1 w 1934"/>
                <a:gd name="T35" fmla="*/ 35 h 1652"/>
                <a:gd name="T36" fmla="*/ 0 w 1934"/>
                <a:gd name="T37" fmla="*/ 41 h 1652"/>
                <a:gd name="T38" fmla="*/ 1 w 1934"/>
                <a:gd name="T39" fmla="*/ 50 h 1652"/>
                <a:gd name="T40" fmla="*/ 1 w 1934"/>
                <a:gd name="T41" fmla="*/ 57 h 1652"/>
                <a:gd name="T42" fmla="*/ 2 w 1934"/>
                <a:gd name="T43" fmla="*/ 60 h 1652"/>
                <a:gd name="T44" fmla="*/ 1 w 1934"/>
                <a:gd name="T45" fmla="*/ 63 h 1652"/>
                <a:gd name="T46" fmla="*/ 6 w 1934"/>
                <a:gd name="T47" fmla="*/ 65 h 1652"/>
                <a:gd name="T48" fmla="*/ 5 w 1934"/>
                <a:gd name="T49" fmla="*/ 59 h 1652"/>
                <a:gd name="T50" fmla="*/ 6 w 1934"/>
                <a:gd name="T51" fmla="*/ 54 h 1652"/>
                <a:gd name="T52" fmla="*/ 6 w 1934"/>
                <a:gd name="T53" fmla="*/ 48 h 1652"/>
                <a:gd name="T54" fmla="*/ 6 w 1934"/>
                <a:gd name="T55" fmla="*/ 44 h 1652"/>
                <a:gd name="T56" fmla="*/ 6 w 1934"/>
                <a:gd name="T57" fmla="*/ 41 h 1652"/>
                <a:gd name="T58" fmla="*/ 6 w 1934"/>
                <a:gd name="T59" fmla="*/ 37 h 1652"/>
                <a:gd name="T60" fmla="*/ 6 w 1934"/>
                <a:gd name="T61" fmla="*/ 32 h 1652"/>
                <a:gd name="T62" fmla="*/ 7 w 1934"/>
                <a:gd name="T63" fmla="*/ 30 h 1652"/>
                <a:gd name="T64" fmla="*/ 13 w 1934"/>
                <a:gd name="T65" fmla="*/ 28 h 1652"/>
                <a:gd name="T66" fmla="*/ 21 w 1934"/>
                <a:gd name="T67" fmla="*/ 24 h 1652"/>
                <a:gd name="T68" fmla="*/ 27 w 1934"/>
                <a:gd name="T69" fmla="*/ 23 h 1652"/>
                <a:gd name="T70" fmla="*/ 34 w 1934"/>
                <a:gd name="T71" fmla="*/ 20 h 1652"/>
                <a:gd name="T72" fmla="*/ 39 w 1934"/>
                <a:gd name="T73" fmla="*/ 17 h 1652"/>
                <a:gd name="T74" fmla="*/ 43 w 1934"/>
                <a:gd name="T75" fmla="*/ 15 h 1652"/>
                <a:gd name="T76" fmla="*/ 47 w 1934"/>
                <a:gd name="T77" fmla="*/ 14 h 1652"/>
                <a:gd name="T78" fmla="*/ 53 w 1934"/>
                <a:gd name="T79" fmla="*/ 11 h 1652"/>
                <a:gd name="T80" fmla="*/ 60 w 1934"/>
                <a:gd name="T81" fmla="*/ 8 h 1652"/>
                <a:gd name="T82" fmla="*/ 70 w 1934"/>
                <a:gd name="T83" fmla="*/ 4 h 1652"/>
                <a:gd name="T84" fmla="*/ 76 w 1934"/>
                <a:gd name="T85" fmla="*/ 1 h 1652"/>
                <a:gd name="T86" fmla="*/ 72 w 1934"/>
                <a:gd name="T87" fmla="*/ 0 h 165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652"/>
                <a:gd name="T134" fmla="*/ 1934 w 1934"/>
                <a:gd name="T135" fmla="*/ 1652 h 165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652">
                  <a:moveTo>
                    <a:pt x="1837" y="0"/>
                  </a:moveTo>
                  <a:lnTo>
                    <a:pt x="1677" y="45"/>
                  </a:lnTo>
                  <a:lnTo>
                    <a:pt x="1625" y="89"/>
                  </a:lnTo>
                  <a:lnTo>
                    <a:pt x="1568" y="109"/>
                  </a:lnTo>
                  <a:lnTo>
                    <a:pt x="1478" y="153"/>
                  </a:lnTo>
                  <a:lnTo>
                    <a:pt x="1382" y="185"/>
                  </a:lnTo>
                  <a:lnTo>
                    <a:pt x="1280" y="256"/>
                  </a:lnTo>
                  <a:lnTo>
                    <a:pt x="1216" y="269"/>
                  </a:lnTo>
                  <a:lnTo>
                    <a:pt x="1177" y="281"/>
                  </a:lnTo>
                  <a:lnTo>
                    <a:pt x="1113" y="313"/>
                  </a:lnTo>
                  <a:lnTo>
                    <a:pt x="998" y="365"/>
                  </a:lnTo>
                  <a:lnTo>
                    <a:pt x="877" y="422"/>
                  </a:lnTo>
                  <a:lnTo>
                    <a:pt x="717" y="493"/>
                  </a:lnTo>
                  <a:lnTo>
                    <a:pt x="409" y="595"/>
                  </a:lnTo>
                  <a:lnTo>
                    <a:pt x="281" y="653"/>
                  </a:lnTo>
                  <a:lnTo>
                    <a:pt x="102" y="723"/>
                  </a:lnTo>
                  <a:lnTo>
                    <a:pt x="13" y="768"/>
                  </a:lnTo>
                  <a:lnTo>
                    <a:pt x="25" y="896"/>
                  </a:lnTo>
                  <a:lnTo>
                    <a:pt x="0" y="1049"/>
                  </a:lnTo>
                  <a:lnTo>
                    <a:pt x="25" y="1273"/>
                  </a:lnTo>
                  <a:lnTo>
                    <a:pt x="38" y="1465"/>
                  </a:lnTo>
                  <a:lnTo>
                    <a:pt x="45" y="1542"/>
                  </a:lnTo>
                  <a:lnTo>
                    <a:pt x="38" y="1606"/>
                  </a:lnTo>
                  <a:lnTo>
                    <a:pt x="147" y="1651"/>
                  </a:lnTo>
                  <a:lnTo>
                    <a:pt x="141" y="1510"/>
                  </a:lnTo>
                  <a:lnTo>
                    <a:pt x="153" y="1389"/>
                  </a:lnTo>
                  <a:lnTo>
                    <a:pt x="153" y="1229"/>
                  </a:lnTo>
                  <a:lnTo>
                    <a:pt x="147" y="1133"/>
                  </a:lnTo>
                  <a:lnTo>
                    <a:pt x="147" y="1043"/>
                  </a:lnTo>
                  <a:lnTo>
                    <a:pt x="147" y="934"/>
                  </a:lnTo>
                  <a:lnTo>
                    <a:pt x="147" y="813"/>
                  </a:lnTo>
                  <a:lnTo>
                    <a:pt x="195" y="761"/>
                  </a:lnTo>
                  <a:lnTo>
                    <a:pt x="339" y="710"/>
                  </a:lnTo>
                  <a:lnTo>
                    <a:pt x="550" y="627"/>
                  </a:lnTo>
                  <a:lnTo>
                    <a:pt x="704" y="576"/>
                  </a:lnTo>
                  <a:lnTo>
                    <a:pt x="877" y="505"/>
                  </a:lnTo>
                  <a:lnTo>
                    <a:pt x="992" y="441"/>
                  </a:lnTo>
                  <a:lnTo>
                    <a:pt x="1113" y="390"/>
                  </a:lnTo>
                  <a:lnTo>
                    <a:pt x="1222" y="345"/>
                  </a:lnTo>
                  <a:lnTo>
                    <a:pt x="1363" y="281"/>
                  </a:lnTo>
                  <a:lnTo>
                    <a:pt x="1549" y="217"/>
                  </a:lnTo>
                  <a:lnTo>
                    <a:pt x="1783" y="93"/>
                  </a:lnTo>
                  <a:lnTo>
                    <a:pt x="1933" y="38"/>
                  </a:lnTo>
                  <a:lnTo>
                    <a:pt x="1837" y="0"/>
                  </a:lnTo>
                </a:path>
              </a:pathLst>
            </a:custGeom>
            <a:pattFill prst="pct25">
              <a:fgClr>
                <a:schemeClr val="tx1"/>
              </a:fgClr>
              <a:bgClr>
                <a:schemeClr val="bg1"/>
              </a:bgClr>
            </a:pattFill>
            <a:ln w="6350" cap="rnd">
              <a:solidFill>
                <a:schemeClr val="tx1"/>
              </a:solidFill>
              <a:round/>
              <a:headEnd/>
              <a:tailEnd/>
            </a:ln>
          </p:spPr>
          <p:txBody>
            <a:bodyPr/>
            <a:lstStyle/>
            <a:p>
              <a:endParaRPr lang="zh-CN" altLang="en-US"/>
            </a:p>
          </p:txBody>
        </p:sp>
        <p:sp>
          <p:nvSpPr>
            <p:cNvPr id="28701" name="Freeform 27" descr="5%"/>
            <p:cNvSpPr>
              <a:spLocks/>
            </p:cNvSpPr>
            <p:nvPr/>
          </p:nvSpPr>
          <p:spPr bwMode="auto">
            <a:xfrm>
              <a:off x="558" y="832"/>
              <a:ext cx="326" cy="120"/>
            </a:xfrm>
            <a:custGeom>
              <a:avLst/>
              <a:gdLst>
                <a:gd name="T0" fmla="*/ 27 w 961"/>
                <a:gd name="T1" fmla="*/ 0 h 353"/>
                <a:gd name="T2" fmla="*/ 31 w 961"/>
                <a:gd name="T3" fmla="*/ 1 h 353"/>
                <a:gd name="T4" fmla="*/ 35 w 961"/>
                <a:gd name="T5" fmla="*/ 2 h 353"/>
                <a:gd name="T6" fmla="*/ 38 w 961"/>
                <a:gd name="T7" fmla="*/ 2 h 353"/>
                <a:gd name="T8" fmla="*/ 28 w 961"/>
                <a:gd name="T9" fmla="*/ 6 h 353"/>
                <a:gd name="T10" fmla="*/ 24 w 961"/>
                <a:gd name="T11" fmla="*/ 7 h 353"/>
                <a:gd name="T12" fmla="*/ 19 w 961"/>
                <a:gd name="T13" fmla="*/ 10 h 353"/>
                <a:gd name="T14" fmla="*/ 13 w 961"/>
                <a:gd name="T15" fmla="*/ 12 h 353"/>
                <a:gd name="T16" fmla="*/ 9 w 961"/>
                <a:gd name="T17" fmla="*/ 14 h 353"/>
                <a:gd name="T18" fmla="*/ 3 w 961"/>
                <a:gd name="T19" fmla="*/ 13 h 353"/>
                <a:gd name="T20" fmla="*/ 0 w 961"/>
                <a:gd name="T21" fmla="*/ 12 h 353"/>
                <a:gd name="T22" fmla="*/ 3 w 961"/>
                <a:gd name="T23" fmla="*/ 10 h 353"/>
                <a:gd name="T24" fmla="*/ 7 w 961"/>
                <a:gd name="T25" fmla="*/ 8 h 353"/>
                <a:gd name="T26" fmla="*/ 12 w 961"/>
                <a:gd name="T27" fmla="*/ 6 h 353"/>
                <a:gd name="T28" fmla="*/ 15 w 961"/>
                <a:gd name="T29" fmla="*/ 5 h 353"/>
                <a:gd name="T30" fmla="*/ 18 w 961"/>
                <a:gd name="T31" fmla="*/ 3 h 353"/>
                <a:gd name="T32" fmla="*/ 22 w 961"/>
                <a:gd name="T33" fmla="*/ 2 h 353"/>
                <a:gd name="T34" fmla="*/ 27 w 961"/>
                <a:gd name="T35" fmla="*/ 0 h 3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61"/>
                <a:gd name="T55" fmla="*/ 0 h 353"/>
                <a:gd name="T56" fmla="*/ 961 w 961"/>
                <a:gd name="T57" fmla="*/ 353 h 35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61" h="353">
                  <a:moveTo>
                    <a:pt x="697" y="0"/>
                  </a:moveTo>
                  <a:lnTo>
                    <a:pt x="787" y="26"/>
                  </a:lnTo>
                  <a:lnTo>
                    <a:pt x="909" y="52"/>
                  </a:lnTo>
                  <a:lnTo>
                    <a:pt x="960" y="64"/>
                  </a:lnTo>
                  <a:lnTo>
                    <a:pt x="710" y="160"/>
                  </a:lnTo>
                  <a:lnTo>
                    <a:pt x="608" y="192"/>
                  </a:lnTo>
                  <a:lnTo>
                    <a:pt x="493" y="244"/>
                  </a:lnTo>
                  <a:lnTo>
                    <a:pt x="333" y="308"/>
                  </a:lnTo>
                  <a:lnTo>
                    <a:pt x="230" y="352"/>
                  </a:lnTo>
                  <a:lnTo>
                    <a:pt x="77" y="327"/>
                  </a:lnTo>
                  <a:lnTo>
                    <a:pt x="0" y="295"/>
                  </a:lnTo>
                  <a:lnTo>
                    <a:pt x="83" y="237"/>
                  </a:lnTo>
                  <a:lnTo>
                    <a:pt x="192" y="205"/>
                  </a:lnTo>
                  <a:lnTo>
                    <a:pt x="294" y="160"/>
                  </a:lnTo>
                  <a:lnTo>
                    <a:pt x="371" y="128"/>
                  </a:lnTo>
                  <a:lnTo>
                    <a:pt x="454" y="84"/>
                  </a:lnTo>
                  <a:lnTo>
                    <a:pt x="576" y="45"/>
                  </a:lnTo>
                  <a:lnTo>
                    <a:pt x="697" y="0"/>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02" name="Freeform 28" descr="5%"/>
            <p:cNvSpPr>
              <a:spLocks/>
            </p:cNvSpPr>
            <p:nvPr/>
          </p:nvSpPr>
          <p:spPr bwMode="auto">
            <a:xfrm>
              <a:off x="685" y="897"/>
              <a:ext cx="210" cy="101"/>
            </a:xfrm>
            <a:custGeom>
              <a:avLst/>
              <a:gdLst>
                <a:gd name="T0" fmla="*/ 9 w 622"/>
                <a:gd name="T1" fmla="*/ 12 h 297"/>
                <a:gd name="T2" fmla="*/ 11 w 622"/>
                <a:gd name="T3" fmla="*/ 10 h 297"/>
                <a:gd name="T4" fmla="*/ 13 w 622"/>
                <a:gd name="T5" fmla="*/ 9 h 297"/>
                <a:gd name="T6" fmla="*/ 15 w 622"/>
                <a:gd name="T7" fmla="*/ 8 h 297"/>
                <a:gd name="T8" fmla="*/ 14 w 622"/>
                <a:gd name="T9" fmla="*/ 7 h 297"/>
                <a:gd name="T10" fmla="*/ 13 w 622"/>
                <a:gd name="T11" fmla="*/ 5 h 297"/>
                <a:gd name="T12" fmla="*/ 12 w 622"/>
                <a:gd name="T13" fmla="*/ 4 h 297"/>
                <a:gd name="T14" fmla="*/ 14 w 622"/>
                <a:gd name="T15" fmla="*/ 6 h 297"/>
                <a:gd name="T16" fmla="*/ 15 w 622"/>
                <a:gd name="T17" fmla="*/ 7 h 297"/>
                <a:gd name="T18" fmla="*/ 15 w 622"/>
                <a:gd name="T19" fmla="*/ 7 h 297"/>
                <a:gd name="T20" fmla="*/ 18 w 622"/>
                <a:gd name="T21" fmla="*/ 6 h 297"/>
                <a:gd name="T22" fmla="*/ 20 w 622"/>
                <a:gd name="T23" fmla="*/ 6 h 297"/>
                <a:gd name="T24" fmla="*/ 22 w 622"/>
                <a:gd name="T25" fmla="*/ 4 h 297"/>
                <a:gd name="T26" fmla="*/ 24 w 622"/>
                <a:gd name="T27" fmla="*/ 3 h 297"/>
                <a:gd name="T28" fmla="*/ 23 w 622"/>
                <a:gd name="T29" fmla="*/ 3 h 297"/>
                <a:gd name="T30" fmla="*/ 22 w 622"/>
                <a:gd name="T31" fmla="*/ 2 h 297"/>
                <a:gd name="T32" fmla="*/ 20 w 622"/>
                <a:gd name="T33" fmla="*/ 1 h 297"/>
                <a:gd name="T34" fmla="*/ 19 w 622"/>
                <a:gd name="T35" fmla="*/ 1 h 297"/>
                <a:gd name="T36" fmla="*/ 19 w 622"/>
                <a:gd name="T37" fmla="*/ 0 h 297"/>
                <a:gd name="T38" fmla="*/ 13 w 622"/>
                <a:gd name="T39" fmla="*/ 2 h 297"/>
                <a:gd name="T40" fmla="*/ 8 w 622"/>
                <a:gd name="T41" fmla="*/ 3 h 297"/>
                <a:gd name="T42" fmla="*/ 5 w 622"/>
                <a:gd name="T43" fmla="*/ 5 h 297"/>
                <a:gd name="T44" fmla="*/ 2 w 622"/>
                <a:gd name="T45" fmla="*/ 6 h 297"/>
                <a:gd name="T46" fmla="*/ 0 w 622"/>
                <a:gd name="T47" fmla="*/ 8 h 297"/>
                <a:gd name="T48" fmla="*/ 2 w 622"/>
                <a:gd name="T49" fmla="*/ 9 h 297"/>
                <a:gd name="T50" fmla="*/ 5 w 622"/>
                <a:gd name="T51" fmla="*/ 11 h 297"/>
                <a:gd name="T52" fmla="*/ 9 w 622"/>
                <a:gd name="T53" fmla="*/ 12 h 29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22"/>
                <a:gd name="T82" fmla="*/ 0 h 297"/>
                <a:gd name="T83" fmla="*/ 622 w 622"/>
                <a:gd name="T84" fmla="*/ 297 h 29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22" h="297">
                  <a:moveTo>
                    <a:pt x="224" y="296"/>
                  </a:moveTo>
                  <a:lnTo>
                    <a:pt x="286" y="246"/>
                  </a:lnTo>
                  <a:lnTo>
                    <a:pt x="331" y="220"/>
                  </a:lnTo>
                  <a:lnTo>
                    <a:pt x="382" y="201"/>
                  </a:lnTo>
                  <a:lnTo>
                    <a:pt x="356" y="175"/>
                  </a:lnTo>
                  <a:lnTo>
                    <a:pt x="332" y="142"/>
                  </a:lnTo>
                  <a:lnTo>
                    <a:pt x="304" y="111"/>
                  </a:lnTo>
                  <a:lnTo>
                    <a:pt x="350" y="150"/>
                  </a:lnTo>
                  <a:lnTo>
                    <a:pt x="381" y="172"/>
                  </a:lnTo>
                  <a:lnTo>
                    <a:pt x="396" y="184"/>
                  </a:lnTo>
                  <a:lnTo>
                    <a:pt x="459" y="162"/>
                  </a:lnTo>
                  <a:lnTo>
                    <a:pt x="523" y="143"/>
                  </a:lnTo>
                  <a:lnTo>
                    <a:pt x="574" y="111"/>
                  </a:lnTo>
                  <a:lnTo>
                    <a:pt x="621" y="87"/>
                  </a:lnTo>
                  <a:lnTo>
                    <a:pt x="597" y="74"/>
                  </a:lnTo>
                  <a:lnTo>
                    <a:pt x="569" y="55"/>
                  </a:lnTo>
                  <a:lnTo>
                    <a:pt x="518" y="31"/>
                  </a:lnTo>
                  <a:lnTo>
                    <a:pt x="497" y="19"/>
                  </a:lnTo>
                  <a:lnTo>
                    <a:pt x="481" y="0"/>
                  </a:lnTo>
                  <a:lnTo>
                    <a:pt x="344" y="41"/>
                  </a:lnTo>
                  <a:lnTo>
                    <a:pt x="222" y="79"/>
                  </a:lnTo>
                  <a:lnTo>
                    <a:pt x="139" y="130"/>
                  </a:lnTo>
                  <a:lnTo>
                    <a:pt x="56" y="169"/>
                  </a:lnTo>
                  <a:lnTo>
                    <a:pt x="0" y="213"/>
                  </a:lnTo>
                  <a:lnTo>
                    <a:pt x="43" y="233"/>
                  </a:lnTo>
                  <a:lnTo>
                    <a:pt x="128" y="264"/>
                  </a:lnTo>
                  <a:lnTo>
                    <a:pt x="224" y="296"/>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03" name="Freeform 29" descr="5%"/>
            <p:cNvSpPr>
              <a:spLocks/>
            </p:cNvSpPr>
            <p:nvPr/>
          </p:nvSpPr>
          <p:spPr bwMode="auto">
            <a:xfrm>
              <a:off x="853" y="838"/>
              <a:ext cx="300" cy="143"/>
            </a:xfrm>
            <a:custGeom>
              <a:avLst/>
              <a:gdLst>
                <a:gd name="T0" fmla="*/ 0 w 885"/>
                <a:gd name="T1" fmla="*/ 7 h 421"/>
                <a:gd name="T2" fmla="*/ 4 w 885"/>
                <a:gd name="T3" fmla="*/ 8 h 421"/>
                <a:gd name="T4" fmla="*/ 8 w 885"/>
                <a:gd name="T5" fmla="*/ 10 h 421"/>
                <a:gd name="T6" fmla="*/ 11 w 885"/>
                <a:gd name="T7" fmla="*/ 11 h 421"/>
                <a:gd name="T8" fmla="*/ 14 w 885"/>
                <a:gd name="T9" fmla="*/ 14 h 421"/>
                <a:gd name="T10" fmla="*/ 17 w 885"/>
                <a:gd name="T11" fmla="*/ 15 h 421"/>
                <a:gd name="T12" fmla="*/ 19 w 885"/>
                <a:gd name="T13" fmla="*/ 17 h 421"/>
                <a:gd name="T14" fmla="*/ 21 w 885"/>
                <a:gd name="T15" fmla="*/ 15 h 421"/>
                <a:gd name="T16" fmla="*/ 27 w 885"/>
                <a:gd name="T17" fmla="*/ 13 h 421"/>
                <a:gd name="T18" fmla="*/ 31 w 885"/>
                <a:gd name="T19" fmla="*/ 12 h 421"/>
                <a:gd name="T20" fmla="*/ 34 w 885"/>
                <a:gd name="T21" fmla="*/ 11 h 421"/>
                <a:gd name="T22" fmla="*/ 35 w 885"/>
                <a:gd name="T23" fmla="*/ 10 h 421"/>
                <a:gd name="T24" fmla="*/ 33 w 885"/>
                <a:gd name="T25" fmla="*/ 8 h 421"/>
                <a:gd name="T26" fmla="*/ 28 w 885"/>
                <a:gd name="T27" fmla="*/ 7 h 421"/>
                <a:gd name="T28" fmla="*/ 26 w 885"/>
                <a:gd name="T29" fmla="*/ 6 h 421"/>
                <a:gd name="T30" fmla="*/ 24 w 885"/>
                <a:gd name="T31" fmla="*/ 4 h 421"/>
                <a:gd name="T32" fmla="*/ 20 w 885"/>
                <a:gd name="T33" fmla="*/ 2 h 421"/>
                <a:gd name="T34" fmla="*/ 17 w 885"/>
                <a:gd name="T35" fmla="*/ 1 h 421"/>
                <a:gd name="T36" fmla="*/ 15 w 885"/>
                <a:gd name="T37" fmla="*/ 0 h 421"/>
                <a:gd name="T38" fmla="*/ 12 w 885"/>
                <a:gd name="T39" fmla="*/ 1 h 421"/>
                <a:gd name="T40" fmla="*/ 10 w 885"/>
                <a:gd name="T41" fmla="*/ 3 h 421"/>
                <a:gd name="T42" fmla="*/ 5 w 885"/>
                <a:gd name="T43" fmla="*/ 5 h 421"/>
                <a:gd name="T44" fmla="*/ 0 w 885"/>
                <a:gd name="T45" fmla="*/ 7 h 42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85"/>
                <a:gd name="T70" fmla="*/ 0 h 421"/>
                <a:gd name="T71" fmla="*/ 885 w 885"/>
                <a:gd name="T72" fmla="*/ 421 h 42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85" h="421">
                  <a:moveTo>
                    <a:pt x="0" y="170"/>
                  </a:moveTo>
                  <a:lnTo>
                    <a:pt x="96" y="215"/>
                  </a:lnTo>
                  <a:lnTo>
                    <a:pt x="199" y="253"/>
                  </a:lnTo>
                  <a:lnTo>
                    <a:pt x="269" y="285"/>
                  </a:lnTo>
                  <a:lnTo>
                    <a:pt x="359" y="343"/>
                  </a:lnTo>
                  <a:lnTo>
                    <a:pt x="442" y="375"/>
                  </a:lnTo>
                  <a:lnTo>
                    <a:pt x="487" y="420"/>
                  </a:lnTo>
                  <a:lnTo>
                    <a:pt x="551" y="375"/>
                  </a:lnTo>
                  <a:lnTo>
                    <a:pt x="691" y="336"/>
                  </a:lnTo>
                  <a:lnTo>
                    <a:pt x="781" y="298"/>
                  </a:lnTo>
                  <a:lnTo>
                    <a:pt x="858" y="272"/>
                  </a:lnTo>
                  <a:lnTo>
                    <a:pt x="884" y="253"/>
                  </a:lnTo>
                  <a:lnTo>
                    <a:pt x="831" y="200"/>
                  </a:lnTo>
                  <a:lnTo>
                    <a:pt x="730" y="183"/>
                  </a:lnTo>
                  <a:lnTo>
                    <a:pt x="672" y="144"/>
                  </a:lnTo>
                  <a:lnTo>
                    <a:pt x="615" y="106"/>
                  </a:lnTo>
                  <a:lnTo>
                    <a:pt x="522" y="57"/>
                  </a:lnTo>
                  <a:lnTo>
                    <a:pt x="440" y="25"/>
                  </a:lnTo>
                  <a:lnTo>
                    <a:pt x="396" y="0"/>
                  </a:lnTo>
                  <a:lnTo>
                    <a:pt x="314" y="36"/>
                  </a:lnTo>
                  <a:lnTo>
                    <a:pt x="256" y="80"/>
                  </a:lnTo>
                  <a:lnTo>
                    <a:pt x="141" y="119"/>
                  </a:lnTo>
                  <a:lnTo>
                    <a:pt x="0" y="170"/>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04" name="Freeform 30" descr="5%"/>
            <p:cNvSpPr>
              <a:spLocks/>
            </p:cNvSpPr>
            <p:nvPr/>
          </p:nvSpPr>
          <p:spPr bwMode="auto">
            <a:xfrm>
              <a:off x="999" y="778"/>
              <a:ext cx="278" cy="143"/>
            </a:xfrm>
            <a:custGeom>
              <a:avLst/>
              <a:gdLst>
                <a:gd name="T0" fmla="*/ 32 w 820"/>
                <a:gd name="T1" fmla="*/ 10 h 424"/>
                <a:gd name="T2" fmla="*/ 31 w 820"/>
                <a:gd name="T3" fmla="*/ 8 h 424"/>
                <a:gd name="T4" fmla="*/ 30 w 820"/>
                <a:gd name="T5" fmla="*/ 7 h 424"/>
                <a:gd name="T6" fmla="*/ 28 w 820"/>
                <a:gd name="T7" fmla="*/ 7 h 424"/>
                <a:gd name="T8" fmla="*/ 26 w 820"/>
                <a:gd name="T9" fmla="*/ 6 h 424"/>
                <a:gd name="T10" fmla="*/ 24 w 820"/>
                <a:gd name="T11" fmla="*/ 5 h 424"/>
                <a:gd name="T12" fmla="*/ 21 w 820"/>
                <a:gd name="T13" fmla="*/ 4 h 424"/>
                <a:gd name="T14" fmla="*/ 16 w 820"/>
                <a:gd name="T15" fmla="*/ 2 h 424"/>
                <a:gd name="T16" fmla="*/ 16 w 820"/>
                <a:gd name="T17" fmla="*/ 1 h 424"/>
                <a:gd name="T18" fmla="*/ 14 w 820"/>
                <a:gd name="T19" fmla="*/ 0 h 424"/>
                <a:gd name="T20" fmla="*/ 11 w 820"/>
                <a:gd name="T21" fmla="*/ 1 h 424"/>
                <a:gd name="T22" fmla="*/ 7 w 820"/>
                <a:gd name="T23" fmla="*/ 3 h 424"/>
                <a:gd name="T24" fmla="*/ 4 w 820"/>
                <a:gd name="T25" fmla="*/ 4 h 424"/>
                <a:gd name="T26" fmla="*/ 1 w 820"/>
                <a:gd name="T27" fmla="*/ 5 h 424"/>
                <a:gd name="T28" fmla="*/ 0 w 820"/>
                <a:gd name="T29" fmla="*/ 6 h 424"/>
                <a:gd name="T30" fmla="*/ 2 w 820"/>
                <a:gd name="T31" fmla="*/ 7 h 424"/>
                <a:gd name="T32" fmla="*/ 4 w 820"/>
                <a:gd name="T33" fmla="*/ 8 h 424"/>
                <a:gd name="T34" fmla="*/ 7 w 820"/>
                <a:gd name="T35" fmla="*/ 9 h 424"/>
                <a:gd name="T36" fmla="*/ 8 w 820"/>
                <a:gd name="T37" fmla="*/ 10 h 424"/>
                <a:gd name="T38" fmla="*/ 10 w 820"/>
                <a:gd name="T39" fmla="*/ 11 h 424"/>
                <a:gd name="T40" fmla="*/ 12 w 820"/>
                <a:gd name="T41" fmla="*/ 12 h 424"/>
                <a:gd name="T42" fmla="*/ 15 w 820"/>
                <a:gd name="T43" fmla="*/ 13 h 424"/>
                <a:gd name="T44" fmla="*/ 17 w 820"/>
                <a:gd name="T45" fmla="*/ 14 h 424"/>
                <a:gd name="T46" fmla="*/ 19 w 820"/>
                <a:gd name="T47" fmla="*/ 15 h 424"/>
                <a:gd name="T48" fmla="*/ 19 w 820"/>
                <a:gd name="T49" fmla="*/ 16 h 424"/>
                <a:gd name="T50" fmla="*/ 22 w 820"/>
                <a:gd name="T51" fmla="*/ 15 h 424"/>
                <a:gd name="T52" fmla="*/ 25 w 820"/>
                <a:gd name="T53" fmla="*/ 13 h 424"/>
                <a:gd name="T54" fmla="*/ 26 w 820"/>
                <a:gd name="T55" fmla="*/ 13 h 424"/>
                <a:gd name="T56" fmla="*/ 27 w 820"/>
                <a:gd name="T57" fmla="*/ 12 h 424"/>
                <a:gd name="T58" fmla="*/ 28 w 820"/>
                <a:gd name="T59" fmla="*/ 11 h 424"/>
                <a:gd name="T60" fmla="*/ 32 w 820"/>
                <a:gd name="T61" fmla="*/ 10 h 42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20"/>
                <a:gd name="T94" fmla="*/ 0 h 424"/>
                <a:gd name="T95" fmla="*/ 820 w 820"/>
                <a:gd name="T96" fmla="*/ 424 h 42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20" h="424">
                  <a:moveTo>
                    <a:pt x="819" y="276"/>
                  </a:moveTo>
                  <a:lnTo>
                    <a:pt x="800" y="218"/>
                  </a:lnTo>
                  <a:lnTo>
                    <a:pt x="768" y="192"/>
                  </a:lnTo>
                  <a:lnTo>
                    <a:pt x="717" y="173"/>
                  </a:lnTo>
                  <a:lnTo>
                    <a:pt x="678" y="160"/>
                  </a:lnTo>
                  <a:lnTo>
                    <a:pt x="612" y="123"/>
                  </a:lnTo>
                  <a:lnTo>
                    <a:pt x="540" y="96"/>
                  </a:lnTo>
                  <a:lnTo>
                    <a:pt x="422" y="45"/>
                  </a:lnTo>
                  <a:lnTo>
                    <a:pt x="397" y="20"/>
                  </a:lnTo>
                  <a:lnTo>
                    <a:pt x="358" y="0"/>
                  </a:lnTo>
                  <a:lnTo>
                    <a:pt x="275" y="26"/>
                  </a:lnTo>
                  <a:lnTo>
                    <a:pt x="179" y="71"/>
                  </a:lnTo>
                  <a:lnTo>
                    <a:pt x="96" y="109"/>
                  </a:lnTo>
                  <a:lnTo>
                    <a:pt x="32" y="141"/>
                  </a:lnTo>
                  <a:lnTo>
                    <a:pt x="0" y="152"/>
                  </a:lnTo>
                  <a:lnTo>
                    <a:pt x="45" y="186"/>
                  </a:lnTo>
                  <a:lnTo>
                    <a:pt x="98" y="217"/>
                  </a:lnTo>
                  <a:lnTo>
                    <a:pt x="173" y="244"/>
                  </a:lnTo>
                  <a:lnTo>
                    <a:pt x="218" y="276"/>
                  </a:lnTo>
                  <a:lnTo>
                    <a:pt x="262" y="282"/>
                  </a:lnTo>
                  <a:lnTo>
                    <a:pt x="298" y="326"/>
                  </a:lnTo>
                  <a:lnTo>
                    <a:pt x="371" y="340"/>
                  </a:lnTo>
                  <a:lnTo>
                    <a:pt x="435" y="359"/>
                  </a:lnTo>
                  <a:lnTo>
                    <a:pt x="475" y="392"/>
                  </a:lnTo>
                  <a:lnTo>
                    <a:pt x="499" y="423"/>
                  </a:lnTo>
                  <a:lnTo>
                    <a:pt x="557" y="384"/>
                  </a:lnTo>
                  <a:lnTo>
                    <a:pt x="640" y="352"/>
                  </a:lnTo>
                  <a:lnTo>
                    <a:pt x="678" y="340"/>
                  </a:lnTo>
                  <a:lnTo>
                    <a:pt x="704" y="308"/>
                  </a:lnTo>
                  <a:lnTo>
                    <a:pt x="730" y="301"/>
                  </a:lnTo>
                  <a:lnTo>
                    <a:pt x="819" y="276"/>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05" name="Freeform 31" descr="5%"/>
            <p:cNvSpPr>
              <a:spLocks/>
            </p:cNvSpPr>
            <p:nvPr/>
          </p:nvSpPr>
          <p:spPr bwMode="auto">
            <a:xfrm>
              <a:off x="1129" y="707"/>
              <a:ext cx="428" cy="180"/>
            </a:xfrm>
            <a:custGeom>
              <a:avLst/>
              <a:gdLst>
                <a:gd name="T0" fmla="*/ 0 w 1264"/>
                <a:gd name="T1" fmla="*/ 8 h 529"/>
                <a:gd name="T2" fmla="*/ 2 w 1264"/>
                <a:gd name="T3" fmla="*/ 7 h 529"/>
                <a:gd name="T4" fmla="*/ 5 w 1264"/>
                <a:gd name="T5" fmla="*/ 6 h 529"/>
                <a:gd name="T6" fmla="*/ 8 w 1264"/>
                <a:gd name="T7" fmla="*/ 4 h 529"/>
                <a:gd name="T8" fmla="*/ 10 w 1264"/>
                <a:gd name="T9" fmla="*/ 3 h 529"/>
                <a:gd name="T10" fmla="*/ 14 w 1264"/>
                <a:gd name="T11" fmla="*/ 2 h 529"/>
                <a:gd name="T12" fmla="*/ 17 w 1264"/>
                <a:gd name="T13" fmla="*/ 1 h 529"/>
                <a:gd name="T14" fmla="*/ 19 w 1264"/>
                <a:gd name="T15" fmla="*/ 0 h 529"/>
                <a:gd name="T16" fmla="*/ 21 w 1264"/>
                <a:gd name="T17" fmla="*/ 1 h 529"/>
                <a:gd name="T18" fmla="*/ 24 w 1264"/>
                <a:gd name="T19" fmla="*/ 2 h 529"/>
                <a:gd name="T20" fmla="*/ 26 w 1264"/>
                <a:gd name="T21" fmla="*/ 3 h 529"/>
                <a:gd name="T22" fmla="*/ 31 w 1264"/>
                <a:gd name="T23" fmla="*/ 4 h 529"/>
                <a:gd name="T24" fmla="*/ 37 w 1264"/>
                <a:gd name="T25" fmla="*/ 7 h 529"/>
                <a:gd name="T26" fmla="*/ 42 w 1264"/>
                <a:gd name="T27" fmla="*/ 9 h 529"/>
                <a:gd name="T28" fmla="*/ 46 w 1264"/>
                <a:gd name="T29" fmla="*/ 10 h 529"/>
                <a:gd name="T30" fmla="*/ 49 w 1264"/>
                <a:gd name="T31" fmla="*/ 11 h 529"/>
                <a:gd name="T32" fmla="*/ 47 w 1264"/>
                <a:gd name="T33" fmla="*/ 12 h 529"/>
                <a:gd name="T34" fmla="*/ 43 w 1264"/>
                <a:gd name="T35" fmla="*/ 14 h 529"/>
                <a:gd name="T36" fmla="*/ 39 w 1264"/>
                <a:gd name="T37" fmla="*/ 15 h 529"/>
                <a:gd name="T38" fmla="*/ 37 w 1264"/>
                <a:gd name="T39" fmla="*/ 17 h 529"/>
                <a:gd name="T40" fmla="*/ 36 w 1264"/>
                <a:gd name="T41" fmla="*/ 17 h 529"/>
                <a:gd name="T42" fmla="*/ 35 w 1264"/>
                <a:gd name="T43" fmla="*/ 17 h 529"/>
                <a:gd name="T44" fmla="*/ 34 w 1264"/>
                <a:gd name="T45" fmla="*/ 17 h 529"/>
                <a:gd name="T46" fmla="*/ 31 w 1264"/>
                <a:gd name="T47" fmla="*/ 19 h 529"/>
                <a:gd name="T48" fmla="*/ 27 w 1264"/>
                <a:gd name="T49" fmla="*/ 21 h 529"/>
                <a:gd name="T50" fmla="*/ 25 w 1264"/>
                <a:gd name="T51" fmla="*/ 21 h 529"/>
                <a:gd name="T52" fmla="*/ 22 w 1264"/>
                <a:gd name="T53" fmla="*/ 20 h 529"/>
                <a:gd name="T54" fmla="*/ 21 w 1264"/>
                <a:gd name="T55" fmla="*/ 18 h 529"/>
                <a:gd name="T56" fmla="*/ 18 w 1264"/>
                <a:gd name="T57" fmla="*/ 18 h 529"/>
                <a:gd name="T58" fmla="*/ 16 w 1264"/>
                <a:gd name="T59" fmla="*/ 16 h 529"/>
                <a:gd name="T60" fmla="*/ 14 w 1264"/>
                <a:gd name="T61" fmla="*/ 14 h 529"/>
                <a:gd name="T62" fmla="*/ 11 w 1264"/>
                <a:gd name="T63" fmla="*/ 14 h 529"/>
                <a:gd name="T64" fmla="*/ 10 w 1264"/>
                <a:gd name="T65" fmla="*/ 13 h 529"/>
                <a:gd name="T66" fmla="*/ 8 w 1264"/>
                <a:gd name="T67" fmla="*/ 12 h 529"/>
                <a:gd name="T68" fmla="*/ 6 w 1264"/>
                <a:gd name="T69" fmla="*/ 11 h 529"/>
                <a:gd name="T70" fmla="*/ 3 w 1264"/>
                <a:gd name="T71" fmla="*/ 11 h 529"/>
                <a:gd name="T72" fmla="*/ 0 w 1264"/>
                <a:gd name="T73" fmla="*/ 8 h 52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64"/>
                <a:gd name="T112" fmla="*/ 0 h 529"/>
                <a:gd name="T113" fmla="*/ 1264 w 1264"/>
                <a:gd name="T114" fmla="*/ 529 h 52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64" h="529">
                  <a:moveTo>
                    <a:pt x="0" y="208"/>
                  </a:moveTo>
                  <a:lnTo>
                    <a:pt x="64" y="183"/>
                  </a:lnTo>
                  <a:lnTo>
                    <a:pt x="134" y="157"/>
                  </a:lnTo>
                  <a:lnTo>
                    <a:pt x="198" y="106"/>
                  </a:lnTo>
                  <a:lnTo>
                    <a:pt x="262" y="80"/>
                  </a:lnTo>
                  <a:lnTo>
                    <a:pt x="353" y="50"/>
                  </a:lnTo>
                  <a:lnTo>
                    <a:pt x="435" y="16"/>
                  </a:lnTo>
                  <a:lnTo>
                    <a:pt x="477" y="0"/>
                  </a:lnTo>
                  <a:lnTo>
                    <a:pt x="550" y="36"/>
                  </a:lnTo>
                  <a:lnTo>
                    <a:pt x="614" y="61"/>
                  </a:lnTo>
                  <a:lnTo>
                    <a:pt x="678" y="80"/>
                  </a:lnTo>
                  <a:lnTo>
                    <a:pt x="806" y="106"/>
                  </a:lnTo>
                  <a:lnTo>
                    <a:pt x="947" y="170"/>
                  </a:lnTo>
                  <a:lnTo>
                    <a:pt x="1069" y="221"/>
                  </a:lnTo>
                  <a:lnTo>
                    <a:pt x="1184" y="253"/>
                  </a:lnTo>
                  <a:lnTo>
                    <a:pt x="1263" y="272"/>
                  </a:lnTo>
                  <a:lnTo>
                    <a:pt x="1210" y="298"/>
                  </a:lnTo>
                  <a:lnTo>
                    <a:pt x="1114" y="343"/>
                  </a:lnTo>
                  <a:lnTo>
                    <a:pt x="1011" y="388"/>
                  </a:lnTo>
                  <a:lnTo>
                    <a:pt x="941" y="432"/>
                  </a:lnTo>
                  <a:lnTo>
                    <a:pt x="922" y="432"/>
                  </a:lnTo>
                  <a:lnTo>
                    <a:pt x="902" y="432"/>
                  </a:lnTo>
                  <a:lnTo>
                    <a:pt x="870" y="432"/>
                  </a:lnTo>
                  <a:lnTo>
                    <a:pt x="806" y="477"/>
                  </a:lnTo>
                  <a:lnTo>
                    <a:pt x="698" y="522"/>
                  </a:lnTo>
                  <a:lnTo>
                    <a:pt x="634" y="528"/>
                  </a:lnTo>
                  <a:lnTo>
                    <a:pt x="570" y="503"/>
                  </a:lnTo>
                  <a:lnTo>
                    <a:pt x="538" y="471"/>
                  </a:lnTo>
                  <a:lnTo>
                    <a:pt x="474" y="452"/>
                  </a:lnTo>
                  <a:lnTo>
                    <a:pt x="410" y="400"/>
                  </a:lnTo>
                  <a:lnTo>
                    <a:pt x="352" y="362"/>
                  </a:lnTo>
                  <a:lnTo>
                    <a:pt x="288" y="343"/>
                  </a:lnTo>
                  <a:lnTo>
                    <a:pt x="250" y="330"/>
                  </a:lnTo>
                  <a:lnTo>
                    <a:pt x="202" y="304"/>
                  </a:lnTo>
                  <a:lnTo>
                    <a:pt x="151" y="288"/>
                  </a:lnTo>
                  <a:lnTo>
                    <a:pt x="91" y="268"/>
                  </a:lnTo>
                  <a:lnTo>
                    <a:pt x="0" y="208"/>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06" name="Freeform 32" descr="5%"/>
            <p:cNvSpPr>
              <a:spLocks/>
            </p:cNvSpPr>
            <p:nvPr/>
          </p:nvSpPr>
          <p:spPr bwMode="auto">
            <a:xfrm>
              <a:off x="873" y="1131"/>
              <a:ext cx="187" cy="90"/>
            </a:xfrm>
            <a:custGeom>
              <a:avLst/>
              <a:gdLst>
                <a:gd name="T0" fmla="*/ 0 w 551"/>
                <a:gd name="T1" fmla="*/ 4 h 267"/>
                <a:gd name="T2" fmla="*/ 3 w 551"/>
                <a:gd name="T3" fmla="*/ 2 h 267"/>
                <a:gd name="T4" fmla="*/ 6 w 551"/>
                <a:gd name="T5" fmla="*/ 1 h 267"/>
                <a:gd name="T6" fmla="*/ 8 w 551"/>
                <a:gd name="T7" fmla="*/ 0 h 267"/>
                <a:gd name="T8" fmla="*/ 10 w 551"/>
                <a:gd name="T9" fmla="*/ 1 h 267"/>
                <a:gd name="T10" fmla="*/ 12 w 551"/>
                <a:gd name="T11" fmla="*/ 2 h 267"/>
                <a:gd name="T12" fmla="*/ 15 w 551"/>
                <a:gd name="T13" fmla="*/ 4 h 267"/>
                <a:gd name="T14" fmla="*/ 20 w 551"/>
                <a:gd name="T15" fmla="*/ 6 h 267"/>
                <a:gd name="T16" fmla="*/ 21 w 551"/>
                <a:gd name="T17" fmla="*/ 7 h 267"/>
                <a:gd name="T18" fmla="*/ 18 w 551"/>
                <a:gd name="T19" fmla="*/ 8 h 267"/>
                <a:gd name="T20" fmla="*/ 15 w 551"/>
                <a:gd name="T21" fmla="*/ 10 h 267"/>
                <a:gd name="T22" fmla="*/ 14 w 551"/>
                <a:gd name="T23" fmla="*/ 10 h 267"/>
                <a:gd name="T24" fmla="*/ 12 w 551"/>
                <a:gd name="T25" fmla="*/ 9 h 267"/>
                <a:gd name="T26" fmla="*/ 7 w 551"/>
                <a:gd name="T27" fmla="*/ 7 h 267"/>
                <a:gd name="T28" fmla="*/ 4 w 551"/>
                <a:gd name="T29" fmla="*/ 6 h 267"/>
                <a:gd name="T30" fmla="*/ 0 w 551"/>
                <a:gd name="T31" fmla="*/ 4 h 2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1"/>
                <a:gd name="T49" fmla="*/ 0 h 267"/>
                <a:gd name="T50" fmla="*/ 551 w 551"/>
                <a:gd name="T51" fmla="*/ 267 h 2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1" h="267">
                  <a:moveTo>
                    <a:pt x="0" y="100"/>
                  </a:moveTo>
                  <a:lnTo>
                    <a:pt x="89" y="61"/>
                  </a:lnTo>
                  <a:lnTo>
                    <a:pt x="147" y="16"/>
                  </a:lnTo>
                  <a:lnTo>
                    <a:pt x="198" y="0"/>
                  </a:lnTo>
                  <a:lnTo>
                    <a:pt x="246" y="32"/>
                  </a:lnTo>
                  <a:lnTo>
                    <a:pt x="304" y="62"/>
                  </a:lnTo>
                  <a:lnTo>
                    <a:pt x="392" y="99"/>
                  </a:lnTo>
                  <a:lnTo>
                    <a:pt x="504" y="150"/>
                  </a:lnTo>
                  <a:lnTo>
                    <a:pt x="550" y="181"/>
                  </a:lnTo>
                  <a:lnTo>
                    <a:pt x="454" y="221"/>
                  </a:lnTo>
                  <a:lnTo>
                    <a:pt x="377" y="253"/>
                  </a:lnTo>
                  <a:lnTo>
                    <a:pt x="358" y="266"/>
                  </a:lnTo>
                  <a:lnTo>
                    <a:pt x="307" y="247"/>
                  </a:lnTo>
                  <a:lnTo>
                    <a:pt x="173" y="196"/>
                  </a:lnTo>
                  <a:lnTo>
                    <a:pt x="115" y="164"/>
                  </a:lnTo>
                  <a:lnTo>
                    <a:pt x="0" y="100"/>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07" name="Freeform 33" descr="5%"/>
            <p:cNvSpPr>
              <a:spLocks/>
            </p:cNvSpPr>
            <p:nvPr/>
          </p:nvSpPr>
          <p:spPr bwMode="auto">
            <a:xfrm>
              <a:off x="944" y="1105"/>
              <a:ext cx="176" cy="80"/>
            </a:xfrm>
            <a:custGeom>
              <a:avLst/>
              <a:gdLst>
                <a:gd name="T0" fmla="*/ 14 w 520"/>
                <a:gd name="T1" fmla="*/ 9 h 236"/>
                <a:gd name="T2" fmla="*/ 17 w 520"/>
                <a:gd name="T3" fmla="*/ 7 h 236"/>
                <a:gd name="T4" fmla="*/ 20 w 520"/>
                <a:gd name="T5" fmla="*/ 6 h 236"/>
                <a:gd name="T6" fmla="*/ 19 w 520"/>
                <a:gd name="T7" fmla="*/ 5 h 236"/>
                <a:gd name="T8" fmla="*/ 16 w 520"/>
                <a:gd name="T9" fmla="*/ 5 h 236"/>
                <a:gd name="T10" fmla="*/ 14 w 520"/>
                <a:gd name="T11" fmla="*/ 5 h 236"/>
                <a:gd name="T12" fmla="*/ 12 w 520"/>
                <a:gd name="T13" fmla="*/ 3 h 236"/>
                <a:gd name="T14" fmla="*/ 8 w 520"/>
                <a:gd name="T15" fmla="*/ 2 h 236"/>
                <a:gd name="T16" fmla="*/ 5 w 520"/>
                <a:gd name="T17" fmla="*/ 1 h 236"/>
                <a:gd name="T18" fmla="*/ 4 w 520"/>
                <a:gd name="T19" fmla="*/ 0 h 236"/>
                <a:gd name="T20" fmla="*/ 3 w 520"/>
                <a:gd name="T21" fmla="*/ 1 h 236"/>
                <a:gd name="T22" fmla="*/ 1 w 520"/>
                <a:gd name="T23" fmla="*/ 2 h 236"/>
                <a:gd name="T24" fmla="*/ 0 w 520"/>
                <a:gd name="T25" fmla="*/ 2 h 236"/>
                <a:gd name="T26" fmla="*/ 3 w 520"/>
                <a:gd name="T27" fmla="*/ 4 h 236"/>
                <a:gd name="T28" fmla="*/ 5 w 520"/>
                <a:gd name="T29" fmla="*/ 5 h 236"/>
                <a:gd name="T30" fmla="*/ 6 w 520"/>
                <a:gd name="T31" fmla="*/ 7 h 236"/>
                <a:gd name="T32" fmla="*/ 9 w 520"/>
                <a:gd name="T33" fmla="*/ 7 h 236"/>
                <a:gd name="T34" fmla="*/ 12 w 520"/>
                <a:gd name="T35" fmla="*/ 8 h 236"/>
                <a:gd name="T36" fmla="*/ 14 w 520"/>
                <a:gd name="T37" fmla="*/ 9 h 2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20"/>
                <a:gd name="T58" fmla="*/ 0 h 236"/>
                <a:gd name="T59" fmla="*/ 520 w 520"/>
                <a:gd name="T60" fmla="*/ 236 h 2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20" h="236">
                  <a:moveTo>
                    <a:pt x="354" y="235"/>
                  </a:moveTo>
                  <a:lnTo>
                    <a:pt x="431" y="181"/>
                  </a:lnTo>
                  <a:lnTo>
                    <a:pt x="519" y="156"/>
                  </a:lnTo>
                  <a:lnTo>
                    <a:pt x="482" y="140"/>
                  </a:lnTo>
                  <a:lnTo>
                    <a:pt x="405" y="143"/>
                  </a:lnTo>
                  <a:lnTo>
                    <a:pt x="348" y="123"/>
                  </a:lnTo>
                  <a:lnTo>
                    <a:pt x="296" y="85"/>
                  </a:lnTo>
                  <a:lnTo>
                    <a:pt x="220" y="53"/>
                  </a:lnTo>
                  <a:lnTo>
                    <a:pt x="143" y="27"/>
                  </a:lnTo>
                  <a:lnTo>
                    <a:pt x="108" y="0"/>
                  </a:lnTo>
                  <a:lnTo>
                    <a:pt x="79" y="15"/>
                  </a:lnTo>
                  <a:lnTo>
                    <a:pt x="26" y="50"/>
                  </a:lnTo>
                  <a:lnTo>
                    <a:pt x="0" y="61"/>
                  </a:lnTo>
                  <a:lnTo>
                    <a:pt x="79" y="111"/>
                  </a:lnTo>
                  <a:lnTo>
                    <a:pt x="117" y="136"/>
                  </a:lnTo>
                  <a:lnTo>
                    <a:pt x="167" y="176"/>
                  </a:lnTo>
                  <a:lnTo>
                    <a:pt x="241" y="185"/>
                  </a:lnTo>
                  <a:lnTo>
                    <a:pt x="297" y="214"/>
                  </a:lnTo>
                  <a:lnTo>
                    <a:pt x="354" y="235"/>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08" name="Freeform 34" descr="5%"/>
            <p:cNvSpPr>
              <a:spLocks/>
            </p:cNvSpPr>
            <p:nvPr/>
          </p:nvSpPr>
          <p:spPr bwMode="auto">
            <a:xfrm>
              <a:off x="1127" y="1093"/>
              <a:ext cx="204" cy="91"/>
            </a:xfrm>
            <a:custGeom>
              <a:avLst/>
              <a:gdLst>
                <a:gd name="T0" fmla="*/ 0 w 601"/>
                <a:gd name="T1" fmla="*/ 7 h 270"/>
                <a:gd name="T2" fmla="*/ 4 w 601"/>
                <a:gd name="T3" fmla="*/ 5 h 270"/>
                <a:gd name="T4" fmla="*/ 7 w 601"/>
                <a:gd name="T5" fmla="*/ 4 h 270"/>
                <a:gd name="T6" fmla="*/ 9 w 601"/>
                <a:gd name="T7" fmla="*/ 4 h 270"/>
                <a:gd name="T8" fmla="*/ 10 w 601"/>
                <a:gd name="T9" fmla="*/ 2 h 270"/>
                <a:gd name="T10" fmla="*/ 12 w 601"/>
                <a:gd name="T11" fmla="*/ 1 h 270"/>
                <a:gd name="T12" fmla="*/ 14 w 601"/>
                <a:gd name="T13" fmla="*/ 1 h 270"/>
                <a:gd name="T14" fmla="*/ 16 w 601"/>
                <a:gd name="T15" fmla="*/ 0 h 270"/>
                <a:gd name="T16" fmla="*/ 19 w 601"/>
                <a:gd name="T17" fmla="*/ 1 h 270"/>
                <a:gd name="T18" fmla="*/ 21 w 601"/>
                <a:gd name="T19" fmla="*/ 3 h 270"/>
                <a:gd name="T20" fmla="*/ 23 w 601"/>
                <a:gd name="T21" fmla="*/ 4 h 270"/>
                <a:gd name="T22" fmla="*/ 21 w 601"/>
                <a:gd name="T23" fmla="*/ 5 h 270"/>
                <a:gd name="T24" fmla="*/ 18 w 601"/>
                <a:gd name="T25" fmla="*/ 6 h 270"/>
                <a:gd name="T26" fmla="*/ 14 w 601"/>
                <a:gd name="T27" fmla="*/ 8 h 270"/>
                <a:gd name="T28" fmla="*/ 11 w 601"/>
                <a:gd name="T29" fmla="*/ 9 h 270"/>
                <a:gd name="T30" fmla="*/ 10 w 601"/>
                <a:gd name="T31" fmla="*/ 10 h 270"/>
                <a:gd name="T32" fmla="*/ 7 w 601"/>
                <a:gd name="T33" fmla="*/ 9 h 270"/>
                <a:gd name="T34" fmla="*/ 4 w 601"/>
                <a:gd name="T35" fmla="*/ 8 h 270"/>
                <a:gd name="T36" fmla="*/ 0 w 601"/>
                <a:gd name="T37" fmla="*/ 7 h 2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1"/>
                <a:gd name="T58" fmla="*/ 0 h 270"/>
                <a:gd name="T59" fmla="*/ 601 w 601"/>
                <a:gd name="T60" fmla="*/ 270 h 2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1" h="270">
                  <a:moveTo>
                    <a:pt x="0" y="185"/>
                  </a:moveTo>
                  <a:lnTo>
                    <a:pt x="107" y="141"/>
                  </a:lnTo>
                  <a:lnTo>
                    <a:pt x="171" y="116"/>
                  </a:lnTo>
                  <a:lnTo>
                    <a:pt x="229" y="96"/>
                  </a:lnTo>
                  <a:lnTo>
                    <a:pt x="261" y="64"/>
                  </a:lnTo>
                  <a:lnTo>
                    <a:pt x="299" y="32"/>
                  </a:lnTo>
                  <a:lnTo>
                    <a:pt x="363" y="20"/>
                  </a:lnTo>
                  <a:lnTo>
                    <a:pt x="408" y="0"/>
                  </a:lnTo>
                  <a:lnTo>
                    <a:pt x="479" y="32"/>
                  </a:lnTo>
                  <a:lnTo>
                    <a:pt x="549" y="71"/>
                  </a:lnTo>
                  <a:lnTo>
                    <a:pt x="600" y="96"/>
                  </a:lnTo>
                  <a:lnTo>
                    <a:pt x="536" y="135"/>
                  </a:lnTo>
                  <a:lnTo>
                    <a:pt x="461" y="166"/>
                  </a:lnTo>
                  <a:lnTo>
                    <a:pt x="351" y="205"/>
                  </a:lnTo>
                  <a:lnTo>
                    <a:pt x="274" y="244"/>
                  </a:lnTo>
                  <a:lnTo>
                    <a:pt x="261" y="269"/>
                  </a:lnTo>
                  <a:lnTo>
                    <a:pt x="189" y="249"/>
                  </a:lnTo>
                  <a:lnTo>
                    <a:pt x="92" y="209"/>
                  </a:lnTo>
                  <a:lnTo>
                    <a:pt x="0" y="185"/>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09" name="Freeform 35" descr="5%"/>
            <p:cNvSpPr>
              <a:spLocks/>
            </p:cNvSpPr>
            <p:nvPr/>
          </p:nvSpPr>
          <p:spPr bwMode="auto">
            <a:xfrm>
              <a:off x="1274" y="1034"/>
              <a:ext cx="193" cy="85"/>
            </a:xfrm>
            <a:custGeom>
              <a:avLst/>
              <a:gdLst>
                <a:gd name="T0" fmla="*/ 0 w 570"/>
                <a:gd name="T1" fmla="*/ 6 h 250"/>
                <a:gd name="T2" fmla="*/ 3 w 570"/>
                <a:gd name="T3" fmla="*/ 4 h 250"/>
                <a:gd name="T4" fmla="*/ 6 w 570"/>
                <a:gd name="T5" fmla="*/ 3 h 250"/>
                <a:gd name="T6" fmla="*/ 9 w 570"/>
                <a:gd name="T7" fmla="*/ 2 h 250"/>
                <a:gd name="T8" fmla="*/ 10 w 570"/>
                <a:gd name="T9" fmla="*/ 1 h 250"/>
                <a:gd name="T10" fmla="*/ 13 w 570"/>
                <a:gd name="T11" fmla="*/ 0 h 250"/>
                <a:gd name="T12" fmla="*/ 15 w 570"/>
                <a:gd name="T13" fmla="*/ 1 h 250"/>
                <a:gd name="T14" fmla="*/ 19 w 570"/>
                <a:gd name="T15" fmla="*/ 2 h 250"/>
                <a:gd name="T16" fmla="*/ 22 w 570"/>
                <a:gd name="T17" fmla="*/ 3 h 250"/>
                <a:gd name="T18" fmla="*/ 21 w 570"/>
                <a:gd name="T19" fmla="*/ 3 h 250"/>
                <a:gd name="T20" fmla="*/ 19 w 570"/>
                <a:gd name="T21" fmla="*/ 5 h 250"/>
                <a:gd name="T22" fmla="*/ 15 w 570"/>
                <a:gd name="T23" fmla="*/ 6 h 250"/>
                <a:gd name="T24" fmla="*/ 12 w 570"/>
                <a:gd name="T25" fmla="*/ 7 h 250"/>
                <a:gd name="T26" fmla="*/ 8 w 570"/>
                <a:gd name="T27" fmla="*/ 9 h 250"/>
                <a:gd name="T28" fmla="*/ 7 w 570"/>
                <a:gd name="T29" fmla="*/ 10 h 250"/>
                <a:gd name="T30" fmla="*/ 6 w 570"/>
                <a:gd name="T31" fmla="*/ 8 h 250"/>
                <a:gd name="T32" fmla="*/ 5 w 570"/>
                <a:gd name="T33" fmla="*/ 7 h 250"/>
                <a:gd name="T34" fmla="*/ 2 w 570"/>
                <a:gd name="T35" fmla="*/ 7 h 250"/>
                <a:gd name="T36" fmla="*/ 0 w 570"/>
                <a:gd name="T37" fmla="*/ 6 h 2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0"/>
                <a:gd name="T58" fmla="*/ 0 h 250"/>
                <a:gd name="T59" fmla="*/ 570 w 570"/>
                <a:gd name="T60" fmla="*/ 250 h 2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0" h="250">
                  <a:moveTo>
                    <a:pt x="0" y="147"/>
                  </a:moveTo>
                  <a:lnTo>
                    <a:pt x="77" y="102"/>
                  </a:lnTo>
                  <a:lnTo>
                    <a:pt x="160" y="83"/>
                  </a:lnTo>
                  <a:lnTo>
                    <a:pt x="237" y="57"/>
                  </a:lnTo>
                  <a:lnTo>
                    <a:pt x="275" y="32"/>
                  </a:lnTo>
                  <a:lnTo>
                    <a:pt x="320" y="0"/>
                  </a:lnTo>
                  <a:lnTo>
                    <a:pt x="384" y="32"/>
                  </a:lnTo>
                  <a:lnTo>
                    <a:pt x="480" y="44"/>
                  </a:lnTo>
                  <a:lnTo>
                    <a:pt x="569" y="70"/>
                  </a:lnTo>
                  <a:lnTo>
                    <a:pt x="550" y="89"/>
                  </a:lnTo>
                  <a:lnTo>
                    <a:pt x="480" y="128"/>
                  </a:lnTo>
                  <a:lnTo>
                    <a:pt x="390" y="160"/>
                  </a:lnTo>
                  <a:lnTo>
                    <a:pt x="301" y="185"/>
                  </a:lnTo>
                  <a:lnTo>
                    <a:pt x="217" y="224"/>
                  </a:lnTo>
                  <a:lnTo>
                    <a:pt x="185" y="249"/>
                  </a:lnTo>
                  <a:lnTo>
                    <a:pt x="153" y="204"/>
                  </a:lnTo>
                  <a:lnTo>
                    <a:pt x="128" y="192"/>
                  </a:lnTo>
                  <a:lnTo>
                    <a:pt x="57" y="172"/>
                  </a:lnTo>
                  <a:lnTo>
                    <a:pt x="0" y="147"/>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10" name="Freeform 36" descr="5%"/>
            <p:cNvSpPr>
              <a:spLocks/>
            </p:cNvSpPr>
            <p:nvPr/>
          </p:nvSpPr>
          <p:spPr bwMode="auto">
            <a:xfrm>
              <a:off x="1444" y="963"/>
              <a:ext cx="161" cy="74"/>
            </a:xfrm>
            <a:custGeom>
              <a:avLst/>
              <a:gdLst>
                <a:gd name="T0" fmla="*/ 10 w 474"/>
                <a:gd name="T1" fmla="*/ 8 h 218"/>
                <a:gd name="T2" fmla="*/ 7 w 474"/>
                <a:gd name="T3" fmla="*/ 7 h 218"/>
                <a:gd name="T4" fmla="*/ 5 w 474"/>
                <a:gd name="T5" fmla="*/ 7 h 218"/>
                <a:gd name="T6" fmla="*/ 1 w 474"/>
                <a:gd name="T7" fmla="*/ 6 h 218"/>
                <a:gd name="T8" fmla="*/ 0 w 474"/>
                <a:gd name="T9" fmla="*/ 6 h 218"/>
                <a:gd name="T10" fmla="*/ 2 w 474"/>
                <a:gd name="T11" fmla="*/ 4 h 218"/>
                <a:gd name="T12" fmla="*/ 4 w 474"/>
                <a:gd name="T13" fmla="*/ 4 h 218"/>
                <a:gd name="T14" fmla="*/ 6 w 474"/>
                <a:gd name="T15" fmla="*/ 3 h 218"/>
                <a:gd name="T16" fmla="*/ 8 w 474"/>
                <a:gd name="T17" fmla="*/ 2 h 218"/>
                <a:gd name="T18" fmla="*/ 10 w 474"/>
                <a:gd name="T19" fmla="*/ 1 h 218"/>
                <a:gd name="T20" fmla="*/ 13 w 474"/>
                <a:gd name="T21" fmla="*/ 0 h 218"/>
                <a:gd name="T22" fmla="*/ 14 w 474"/>
                <a:gd name="T23" fmla="*/ 1 h 218"/>
                <a:gd name="T24" fmla="*/ 16 w 474"/>
                <a:gd name="T25" fmla="*/ 2 h 218"/>
                <a:gd name="T26" fmla="*/ 17 w 474"/>
                <a:gd name="T27" fmla="*/ 3 h 218"/>
                <a:gd name="T28" fmla="*/ 19 w 474"/>
                <a:gd name="T29" fmla="*/ 4 h 218"/>
                <a:gd name="T30" fmla="*/ 16 w 474"/>
                <a:gd name="T31" fmla="*/ 6 h 218"/>
                <a:gd name="T32" fmla="*/ 10 w 474"/>
                <a:gd name="T33" fmla="*/ 8 h 2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4"/>
                <a:gd name="T52" fmla="*/ 0 h 218"/>
                <a:gd name="T53" fmla="*/ 474 w 474"/>
                <a:gd name="T54" fmla="*/ 218 h 21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4" h="218">
                  <a:moveTo>
                    <a:pt x="241" y="217"/>
                  </a:moveTo>
                  <a:lnTo>
                    <a:pt x="184" y="191"/>
                  </a:lnTo>
                  <a:lnTo>
                    <a:pt x="126" y="172"/>
                  </a:lnTo>
                  <a:lnTo>
                    <a:pt x="33" y="162"/>
                  </a:lnTo>
                  <a:lnTo>
                    <a:pt x="0" y="146"/>
                  </a:lnTo>
                  <a:lnTo>
                    <a:pt x="43" y="115"/>
                  </a:lnTo>
                  <a:lnTo>
                    <a:pt x="100" y="95"/>
                  </a:lnTo>
                  <a:lnTo>
                    <a:pt x="164" y="70"/>
                  </a:lnTo>
                  <a:lnTo>
                    <a:pt x="209" y="44"/>
                  </a:lnTo>
                  <a:lnTo>
                    <a:pt x="254" y="25"/>
                  </a:lnTo>
                  <a:lnTo>
                    <a:pt x="328" y="0"/>
                  </a:lnTo>
                  <a:lnTo>
                    <a:pt x="357" y="21"/>
                  </a:lnTo>
                  <a:lnTo>
                    <a:pt x="401" y="57"/>
                  </a:lnTo>
                  <a:lnTo>
                    <a:pt x="441" y="87"/>
                  </a:lnTo>
                  <a:lnTo>
                    <a:pt x="473" y="100"/>
                  </a:lnTo>
                  <a:lnTo>
                    <a:pt x="408" y="147"/>
                  </a:lnTo>
                  <a:lnTo>
                    <a:pt x="241" y="217"/>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11" name="Freeform 37" descr="5%"/>
            <p:cNvSpPr>
              <a:spLocks/>
            </p:cNvSpPr>
            <p:nvPr/>
          </p:nvSpPr>
          <p:spPr bwMode="auto">
            <a:xfrm>
              <a:off x="1569" y="926"/>
              <a:ext cx="139" cy="67"/>
            </a:xfrm>
            <a:custGeom>
              <a:avLst/>
              <a:gdLst>
                <a:gd name="T0" fmla="*/ 0 w 412"/>
                <a:gd name="T1" fmla="*/ 4 h 197"/>
                <a:gd name="T2" fmla="*/ 2 w 412"/>
                <a:gd name="T3" fmla="*/ 3 h 197"/>
                <a:gd name="T4" fmla="*/ 4 w 412"/>
                <a:gd name="T5" fmla="*/ 2 h 197"/>
                <a:gd name="T6" fmla="*/ 7 w 412"/>
                <a:gd name="T7" fmla="*/ 1 h 197"/>
                <a:gd name="T8" fmla="*/ 9 w 412"/>
                <a:gd name="T9" fmla="*/ 0 h 197"/>
                <a:gd name="T10" fmla="*/ 12 w 412"/>
                <a:gd name="T11" fmla="*/ 1 h 197"/>
                <a:gd name="T12" fmla="*/ 15 w 412"/>
                <a:gd name="T13" fmla="*/ 3 h 197"/>
                <a:gd name="T14" fmla="*/ 16 w 412"/>
                <a:gd name="T15" fmla="*/ 4 h 197"/>
                <a:gd name="T16" fmla="*/ 15 w 412"/>
                <a:gd name="T17" fmla="*/ 5 h 197"/>
                <a:gd name="T18" fmla="*/ 11 w 412"/>
                <a:gd name="T19" fmla="*/ 5 h 197"/>
                <a:gd name="T20" fmla="*/ 8 w 412"/>
                <a:gd name="T21" fmla="*/ 6 h 197"/>
                <a:gd name="T22" fmla="*/ 6 w 412"/>
                <a:gd name="T23" fmla="*/ 7 h 197"/>
                <a:gd name="T24" fmla="*/ 5 w 412"/>
                <a:gd name="T25" fmla="*/ 8 h 197"/>
                <a:gd name="T26" fmla="*/ 4 w 412"/>
                <a:gd name="T27" fmla="*/ 7 h 197"/>
                <a:gd name="T28" fmla="*/ 2 w 412"/>
                <a:gd name="T29" fmla="*/ 6 h 197"/>
                <a:gd name="T30" fmla="*/ 0 w 412"/>
                <a:gd name="T31" fmla="*/ 4 h 19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12"/>
                <a:gd name="T49" fmla="*/ 0 h 197"/>
                <a:gd name="T50" fmla="*/ 412 w 412"/>
                <a:gd name="T51" fmla="*/ 197 h 19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12" h="197">
                  <a:moveTo>
                    <a:pt x="0" y="95"/>
                  </a:moveTo>
                  <a:lnTo>
                    <a:pt x="59" y="83"/>
                  </a:lnTo>
                  <a:lnTo>
                    <a:pt x="116" y="51"/>
                  </a:lnTo>
                  <a:lnTo>
                    <a:pt x="180" y="32"/>
                  </a:lnTo>
                  <a:lnTo>
                    <a:pt x="244" y="0"/>
                  </a:lnTo>
                  <a:lnTo>
                    <a:pt x="315" y="25"/>
                  </a:lnTo>
                  <a:lnTo>
                    <a:pt x="384" y="73"/>
                  </a:lnTo>
                  <a:lnTo>
                    <a:pt x="411" y="90"/>
                  </a:lnTo>
                  <a:lnTo>
                    <a:pt x="372" y="128"/>
                  </a:lnTo>
                  <a:lnTo>
                    <a:pt x="289" y="140"/>
                  </a:lnTo>
                  <a:lnTo>
                    <a:pt x="219" y="147"/>
                  </a:lnTo>
                  <a:lnTo>
                    <a:pt x="168" y="185"/>
                  </a:lnTo>
                  <a:lnTo>
                    <a:pt x="137" y="196"/>
                  </a:lnTo>
                  <a:lnTo>
                    <a:pt x="115" y="188"/>
                  </a:lnTo>
                  <a:lnTo>
                    <a:pt x="54" y="146"/>
                  </a:lnTo>
                  <a:lnTo>
                    <a:pt x="0" y="95"/>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712" name="Freeform 38"/>
            <p:cNvSpPr>
              <a:spLocks/>
            </p:cNvSpPr>
            <p:nvPr/>
          </p:nvSpPr>
          <p:spPr bwMode="auto">
            <a:xfrm>
              <a:off x="732" y="1045"/>
              <a:ext cx="65" cy="20"/>
            </a:xfrm>
            <a:custGeom>
              <a:avLst/>
              <a:gdLst>
                <a:gd name="T0" fmla="*/ 0 w 193"/>
                <a:gd name="T1" fmla="*/ 0 h 58"/>
                <a:gd name="T2" fmla="*/ 2 w 193"/>
                <a:gd name="T3" fmla="*/ 0 h 58"/>
                <a:gd name="T4" fmla="*/ 3 w 193"/>
                <a:gd name="T5" fmla="*/ 0 h 58"/>
                <a:gd name="T6" fmla="*/ 6 w 193"/>
                <a:gd name="T7" fmla="*/ 2 h 58"/>
                <a:gd name="T8" fmla="*/ 7 w 193"/>
                <a:gd name="T9" fmla="*/ 2 h 58"/>
                <a:gd name="T10" fmla="*/ 0 60000 65536"/>
                <a:gd name="T11" fmla="*/ 0 60000 65536"/>
                <a:gd name="T12" fmla="*/ 0 60000 65536"/>
                <a:gd name="T13" fmla="*/ 0 60000 65536"/>
                <a:gd name="T14" fmla="*/ 0 60000 65536"/>
                <a:gd name="T15" fmla="*/ 0 w 193"/>
                <a:gd name="T16" fmla="*/ 0 h 58"/>
                <a:gd name="T17" fmla="*/ 193 w 193"/>
                <a:gd name="T18" fmla="*/ 58 h 58"/>
              </a:gdLst>
              <a:ahLst/>
              <a:cxnLst>
                <a:cxn ang="T10">
                  <a:pos x="T0" y="T1"/>
                </a:cxn>
                <a:cxn ang="T11">
                  <a:pos x="T2" y="T3"/>
                </a:cxn>
                <a:cxn ang="T12">
                  <a:pos x="T4" y="T5"/>
                </a:cxn>
                <a:cxn ang="T13">
                  <a:pos x="T6" y="T7"/>
                </a:cxn>
                <a:cxn ang="T14">
                  <a:pos x="T8" y="T9"/>
                </a:cxn>
              </a:cxnLst>
              <a:rect l="T15" t="T16" r="T17" b="T18"/>
              <a:pathLst>
                <a:path w="193" h="58">
                  <a:moveTo>
                    <a:pt x="0" y="12"/>
                  </a:moveTo>
                  <a:lnTo>
                    <a:pt x="45" y="0"/>
                  </a:lnTo>
                  <a:lnTo>
                    <a:pt x="83" y="12"/>
                  </a:lnTo>
                  <a:lnTo>
                    <a:pt x="153" y="57"/>
                  </a:lnTo>
                  <a:lnTo>
                    <a:pt x="192" y="5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13" name="Freeform 39"/>
            <p:cNvSpPr>
              <a:spLocks/>
            </p:cNvSpPr>
            <p:nvPr/>
          </p:nvSpPr>
          <p:spPr bwMode="auto">
            <a:xfrm>
              <a:off x="686" y="1021"/>
              <a:ext cx="42" cy="74"/>
            </a:xfrm>
            <a:custGeom>
              <a:avLst/>
              <a:gdLst>
                <a:gd name="T0" fmla="*/ 0 w 123"/>
                <a:gd name="T1" fmla="*/ 0 h 219"/>
                <a:gd name="T2" fmla="*/ 1 w 123"/>
                <a:gd name="T3" fmla="*/ 2 h 219"/>
                <a:gd name="T4" fmla="*/ 2 w 123"/>
                <a:gd name="T5" fmla="*/ 4 h 219"/>
                <a:gd name="T6" fmla="*/ 4 w 123"/>
                <a:gd name="T7" fmla="*/ 6 h 219"/>
                <a:gd name="T8" fmla="*/ 5 w 123"/>
                <a:gd name="T9" fmla="*/ 8 h 219"/>
                <a:gd name="T10" fmla="*/ 0 60000 65536"/>
                <a:gd name="T11" fmla="*/ 0 60000 65536"/>
                <a:gd name="T12" fmla="*/ 0 60000 65536"/>
                <a:gd name="T13" fmla="*/ 0 60000 65536"/>
                <a:gd name="T14" fmla="*/ 0 60000 65536"/>
                <a:gd name="T15" fmla="*/ 0 w 123"/>
                <a:gd name="T16" fmla="*/ 0 h 219"/>
                <a:gd name="T17" fmla="*/ 123 w 123"/>
                <a:gd name="T18" fmla="*/ 219 h 219"/>
              </a:gdLst>
              <a:ahLst/>
              <a:cxnLst>
                <a:cxn ang="T10">
                  <a:pos x="T0" y="T1"/>
                </a:cxn>
                <a:cxn ang="T11">
                  <a:pos x="T2" y="T3"/>
                </a:cxn>
                <a:cxn ang="T12">
                  <a:pos x="T4" y="T5"/>
                </a:cxn>
                <a:cxn ang="T13">
                  <a:pos x="T6" y="T7"/>
                </a:cxn>
                <a:cxn ang="T14">
                  <a:pos x="T8" y="T9"/>
                </a:cxn>
              </a:cxnLst>
              <a:rect l="T15" t="T16" r="T17" b="T18"/>
              <a:pathLst>
                <a:path w="123" h="219">
                  <a:moveTo>
                    <a:pt x="0" y="0"/>
                  </a:moveTo>
                  <a:lnTo>
                    <a:pt x="32" y="58"/>
                  </a:lnTo>
                  <a:lnTo>
                    <a:pt x="58" y="103"/>
                  </a:lnTo>
                  <a:lnTo>
                    <a:pt x="90" y="160"/>
                  </a:lnTo>
                  <a:lnTo>
                    <a:pt x="122" y="21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14" name="Freeform 40"/>
            <p:cNvSpPr>
              <a:spLocks/>
            </p:cNvSpPr>
            <p:nvPr/>
          </p:nvSpPr>
          <p:spPr bwMode="auto">
            <a:xfrm>
              <a:off x="684" y="1084"/>
              <a:ext cx="68" cy="9"/>
            </a:xfrm>
            <a:custGeom>
              <a:avLst/>
              <a:gdLst>
                <a:gd name="T0" fmla="*/ 0 w 199"/>
                <a:gd name="T1" fmla="*/ 0 h 26"/>
                <a:gd name="T2" fmla="*/ 2 w 199"/>
                <a:gd name="T3" fmla="*/ 1 h 26"/>
                <a:gd name="T4" fmla="*/ 4 w 199"/>
                <a:gd name="T5" fmla="*/ 1 h 26"/>
                <a:gd name="T6" fmla="*/ 6 w 199"/>
                <a:gd name="T7" fmla="*/ 0 h 26"/>
                <a:gd name="T8" fmla="*/ 8 w 199"/>
                <a:gd name="T9" fmla="*/ 1 h 26"/>
                <a:gd name="T10" fmla="*/ 0 60000 65536"/>
                <a:gd name="T11" fmla="*/ 0 60000 65536"/>
                <a:gd name="T12" fmla="*/ 0 60000 65536"/>
                <a:gd name="T13" fmla="*/ 0 60000 65536"/>
                <a:gd name="T14" fmla="*/ 0 60000 65536"/>
                <a:gd name="T15" fmla="*/ 0 w 199"/>
                <a:gd name="T16" fmla="*/ 0 h 26"/>
                <a:gd name="T17" fmla="*/ 199 w 199"/>
                <a:gd name="T18" fmla="*/ 26 h 26"/>
              </a:gdLst>
              <a:ahLst/>
              <a:cxnLst>
                <a:cxn ang="T10">
                  <a:pos x="T0" y="T1"/>
                </a:cxn>
                <a:cxn ang="T11">
                  <a:pos x="T2" y="T3"/>
                </a:cxn>
                <a:cxn ang="T12">
                  <a:pos x="T4" y="T5"/>
                </a:cxn>
                <a:cxn ang="T13">
                  <a:pos x="T6" y="T7"/>
                </a:cxn>
                <a:cxn ang="T14">
                  <a:pos x="T8" y="T9"/>
                </a:cxn>
              </a:cxnLst>
              <a:rect l="T15" t="T16" r="T17" b="T18"/>
              <a:pathLst>
                <a:path w="199" h="26">
                  <a:moveTo>
                    <a:pt x="0" y="0"/>
                  </a:moveTo>
                  <a:lnTo>
                    <a:pt x="51" y="13"/>
                  </a:lnTo>
                  <a:lnTo>
                    <a:pt x="109" y="19"/>
                  </a:lnTo>
                  <a:lnTo>
                    <a:pt x="154" y="6"/>
                  </a:lnTo>
                  <a:lnTo>
                    <a:pt x="198" y="2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15" name="Freeform 41"/>
            <p:cNvSpPr>
              <a:spLocks/>
            </p:cNvSpPr>
            <p:nvPr/>
          </p:nvSpPr>
          <p:spPr bwMode="auto">
            <a:xfrm>
              <a:off x="699" y="1112"/>
              <a:ext cx="1" cy="50"/>
            </a:xfrm>
            <a:custGeom>
              <a:avLst/>
              <a:gdLst>
                <a:gd name="T0" fmla="*/ 0 w 1"/>
                <a:gd name="T1" fmla="*/ 0 h 148"/>
                <a:gd name="T2" fmla="*/ 0 w 1"/>
                <a:gd name="T3" fmla="*/ 3 h 148"/>
                <a:gd name="T4" fmla="*/ 0 w 1"/>
                <a:gd name="T5" fmla="*/ 6 h 148"/>
                <a:gd name="T6" fmla="*/ 0 60000 65536"/>
                <a:gd name="T7" fmla="*/ 0 60000 65536"/>
                <a:gd name="T8" fmla="*/ 0 60000 65536"/>
                <a:gd name="T9" fmla="*/ 0 w 1"/>
                <a:gd name="T10" fmla="*/ 0 h 148"/>
                <a:gd name="T11" fmla="*/ 1 w 1"/>
                <a:gd name="T12" fmla="*/ 148 h 148"/>
              </a:gdLst>
              <a:ahLst/>
              <a:cxnLst>
                <a:cxn ang="T6">
                  <a:pos x="T0" y="T1"/>
                </a:cxn>
                <a:cxn ang="T7">
                  <a:pos x="T2" y="T3"/>
                </a:cxn>
                <a:cxn ang="T8">
                  <a:pos x="T4" y="T5"/>
                </a:cxn>
              </a:cxnLst>
              <a:rect l="T9" t="T10" r="T11" b="T12"/>
              <a:pathLst>
                <a:path w="1" h="148">
                  <a:moveTo>
                    <a:pt x="0" y="0"/>
                  </a:moveTo>
                  <a:lnTo>
                    <a:pt x="0" y="70"/>
                  </a:lnTo>
                  <a:lnTo>
                    <a:pt x="0" y="14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16" name="Freeform 42"/>
            <p:cNvSpPr>
              <a:spLocks/>
            </p:cNvSpPr>
            <p:nvPr/>
          </p:nvSpPr>
          <p:spPr bwMode="auto">
            <a:xfrm>
              <a:off x="684" y="1158"/>
              <a:ext cx="55" cy="111"/>
            </a:xfrm>
            <a:custGeom>
              <a:avLst/>
              <a:gdLst>
                <a:gd name="T0" fmla="*/ 0 w 161"/>
                <a:gd name="T1" fmla="*/ 0 h 328"/>
                <a:gd name="T2" fmla="*/ 1 w 161"/>
                <a:gd name="T3" fmla="*/ 1 h 328"/>
                <a:gd name="T4" fmla="*/ 2 w 161"/>
                <a:gd name="T5" fmla="*/ 3 h 328"/>
                <a:gd name="T6" fmla="*/ 3 w 161"/>
                <a:gd name="T7" fmla="*/ 6 h 328"/>
                <a:gd name="T8" fmla="*/ 4 w 161"/>
                <a:gd name="T9" fmla="*/ 8 h 328"/>
                <a:gd name="T10" fmla="*/ 5 w 161"/>
                <a:gd name="T11" fmla="*/ 10 h 328"/>
                <a:gd name="T12" fmla="*/ 6 w 161"/>
                <a:gd name="T13" fmla="*/ 13 h 328"/>
                <a:gd name="T14" fmla="*/ 0 60000 65536"/>
                <a:gd name="T15" fmla="*/ 0 60000 65536"/>
                <a:gd name="T16" fmla="*/ 0 60000 65536"/>
                <a:gd name="T17" fmla="*/ 0 60000 65536"/>
                <a:gd name="T18" fmla="*/ 0 60000 65536"/>
                <a:gd name="T19" fmla="*/ 0 60000 65536"/>
                <a:gd name="T20" fmla="*/ 0 60000 65536"/>
                <a:gd name="T21" fmla="*/ 0 w 161"/>
                <a:gd name="T22" fmla="*/ 0 h 328"/>
                <a:gd name="T23" fmla="*/ 161 w 161"/>
                <a:gd name="T24" fmla="*/ 328 h 3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1" h="328">
                  <a:moveTo>
                    <a:pt x="0" y="0"/>
                  </a:moveTo>
                  <a:lnTo>
                    <a:pt x="38" y="32"/>
                  </a:lnTo>
                  <a:lnTo>
                    <a:pt x="45" y="90"/>
                  </a:lnTo>
                  <a:lnTo>
                    <a:pt x="83" y="148"/>
                  </a:lnTo>
                  <a:lnTo>
                    <a:pt x="102" y="218"/>
                  </a:lnTo>
                  <a:lnTo>
                    <a:pt x="141" y="276"/>
                  </a:lnTo>
                  <a:lnTo>
                    <a:pt x="160" y="32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17" name="Freeform 43"/>
            <p:cNvSpPr>
              <a:spLocks/>
            </p:cNvSpPr>
            <p:nvPr/>
          </p:nvSpPr>
          <p:spPr bwMode="auto">
            <a:xfrm>
              <a:off x="697" y="1227"/>
              <a:ext cx="7" cy="11"/>
            </a:xfrm>
            <a:custGeom>
              <a:avLst/>
              <a:gdLst>
                <a:gd name="T0" fmla="*/ 0 w 21"/>
                <a:gd name="T1" fmla="*/ 0 h 33"/>
                <a:gd name="T2" fmla="*/ 1 w 21"/>
                <a:gd name="T3" fmla="*/ 1 h 33"/>
                <a:gd name="T4" fmla="*/ 0 60000 65536"/>
                <a:gd name="T5" fmla="*/ 0 60000 65536"/>
                <a:gd name="T6" fmla="*/ 0 w 21"/>
                <a:gd name="T7" fmla="*/ 0 h 33"/>
                <a:gd name="T8" fmla="*/ 21 w 21"/>
                <a:gd name="T9" fmla="*/ 33 h 33"/>
              </a:gdLst>
              <a:ahLst/>
              <a:cxnLst>
                <a:cxn ang="T4">
                  <a:pos x="T0" y="T1"/>
                </a:cxn>
                <a:cxn ang="T5">
                  <a:pos x="T2" y="T3"/>
                </a:cxn>
              </a:cxnLst>
              <a:rect l="T6" t="T7" r="T8" b="T9"/>
              <a:pathLst>
                <a:path w="21" h="33">
                  <a:moveTo>
                    <a:pt x="0" y="0"/>
                  </a:moveTo>
                  <a:lnTo>
                    <a:pt x="20"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18" name="Freeform 44"/>
            <p:cNvSpPr>
              <a:spLocks/>
            </p:cNvSpPr>
            <p:nvPr/>
          </p:nvSpPr>
          <p:spPr bwMode="auto">
            <a:xfrm>
              <a:off x="556" y="934"/>
              <a:ext cx="534" cy="463"/>
            </a:xfrm>
            <a:custGeom>
              <a:avLst/>
              <a:gdLst>
                <a:gd name="T0" fmla="*/ 0 w 1576"/>
                <a:gd name="T1" fmla="*/ 0 h 1364"/>
                <a:gd name="T2" fmla="*/ 0 w 1576"/>
                <a:gd name="T3" fmla="*/ 5 h 1364"/>
                <a:gd name="T4" fmla="*/ 1 w 1576"/>
                <a:gd name="T5" fmla="*/ 8 h 1364"/>
                <a:gd name="T6" fmla="*/ 0 w 1576"/>
                <a:gd name="T7" fmla="*/ 13 h 1364"/>
                <a:gd name="T8" fmla="*/ 0 w 1576"/>
                <a:gd name="T9" fmla="*/ 18 h 1364"/>
                <a:gd name="T10" fmla="*/ 0 w 1576"/>
                <a:gd name="T11" fmla="*/ 22 h 1364"/>
                <a:gd name="T12" fmla="*/ 0 w 1576"/>
                <a:gd name="T13" fmla="*/ 27 h 1364"/>
                <a:gd name="T14" fmla="*/ 0 w 1576"/>
                <a:gd name="T15" fmla="*/ 31 h 1364"/>
                <a:gd name="T16" fmla="*/ 0 w 1576"/>
                <a:gd name="T17" fmla="*/ 32 h 1364"/>
                <a:gd name="T18" fmla="*/ 3 w 1576"/>
                <a:gd name="T19" fmla="*/ 33 h 1364"/>
                <a:gd name="T20" fmla="*/ 7 w 1576"/>
                <a:gd name="T21" fmla="*/ 34 h 1364"/>
                <a:gd name="T22" fmla="*/ 13 w 1576"/>
                <a:gd name="T23" fmla="*/ 36 h 1364"/>
                <a:gd name="T24" fmla="*/ 18 w 1576"/>
                <a:gd name="T25" fmla="*/ 38 h 1364"/>
                <a:gd name="T26" fmla="*/ 25 w 1576"/>
                <a:gd name="T27" fmla="*/ 41 h 1364"/>
                <a:gd name="T28" fmla="*/ 30 w 1576"/>
                <a:gd name="T29" fmla="*/ 43 h 1364"/>
                <a:gd name="T30" fmla="*/ 34 w 1576"/>
                <a:gd name="T31" fmla="*/ 44 h 1364"/>
                <a:gd name="T32" fmla="*/ 39 w 1576"/>
                <a:gd name="T33" fmla="*/ 46 h 1364"/>
                <a:gd name="T34" fmla="*/ 44 w 1576"/>
                <a:gd name="T35" fmla="*/ 48 h 1364"/>
                <a:gd name="T36" fmla="*/ 48 w 1576"/>
                <a:gd name="T37" fmla="*/ 49 h 1364"/>
                <a:gd name="T38" fmla="*/ 52 w 1576"/>
                <a:gd name="T39" fmla="*/ 51 h 1364"/>
                <a:gd name="T40" fmla="*/ 58 w 1576"/>
                <a:gd name="T41" fmla="*/ 52 h 1364"/>
                <a:gd name="T42" fmla="*/ 61 w 1576"/>
                <a:gd name="T43" fmla="*/ 53 h 13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76"/>
                <a:gd name="T67" fmla="*/ 0 h 1364"/>
                <a:gd name="T68" fmla="*/ 1576 w 1576"/>
                <a:gd name="T69" fmla="*/ 1364 h 13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76" h="1364">
                  <a:moveTo>
                    <a:pt x="0" y="0"/>
                  </a:moveTo>
                  <a:lnTo>
                    <a:pt x="13" y="135"/>
                  </a:lnTo>
                  <a:lnTo>
                    <a:pt x="20" y="218"/>
                  </a:lnTo>
                  <a:lnTo>
                    <a:pt x="13" y="327"/>
                  </a:lnTo>
                  <a:lnTo>
                    <a:pt x="7" y="448"/>
                  </a:lnTo>
                  <a:lnTo>
                    <a:pt x="7" y="570"/>
                  </a:lnTo>
                  <a:lnTo>
                    <a:pt x="13" y="691"/>
                  </a:lnTo>
                  <a:lnTo>
                    <a:pt x="13" y="787"/>
                  </a:lnTo>
                  <a:lnTo>
                    <a:pt x="13" y="819"/>
                  </a:lnTo>
                  <a:lnTo>
                    <a:pt x="84" y="845"/>
                  </a:lnTo>
                  <a:lnTo>
                    <a:pt x="180" y="877"/>
                  </a:lnTo>
                  <a:lnTo>
                    <a:pt x="320" y="922"/>
                  </a:lnTo>
                  <a:lnTo>
                    <a:pt x="448" y="960"/>
                  </a:lnTo>
                  <a:lnTo>
                    <a:pt x="647" y="1050"/>
                  </a:lnTo>
                  <a:lnTo>
                    <a:pt x="768" y="1095"/>
                  </a:lnTo>
                  <a:lnTo>
                    <a:pt x="858" y="1133"/>
                  </a:lnTo>
                  <a:lnTo>
                    <a:pt x="999" y="1178"/>
                  </a:lnTo>
                  <a:lnTo>
                    <a:pt x="1133" y="1223"/>
                  </a:lnTo>
                  <a:lnTo>
                    <a:pt x="1229" y="1261"/>
                  </a:lnTo>
                  <a:lnTo>
                    <a:pt x="1338" y="1312"/>
                  </a:lnTo>
                  <a:lnTo>
                    <a:pt x="1485" y="1338"/>
                  </a:lnTo>
                  <a:lnTo>
                    <a:pt x="1575" y="1363"/>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19" name="Freeform 45"/>
            <p:cNvSpPr>
              <a:spLocks/>
            </p:cNvSpPr>
            <p:nvPr/>
          </p:nvSpPr>
          <p:spPr bwMode="auto">
            <a:xfrm>
              <a:off x="727" y="1108"/>
              <a:ext cx="107" cy="187"/>
            </a:xfrm>
            <a:custGeom>
              <a:avLst/>
              <a:gdLst>
                <a:gd name="T0" fmla="*/ 0 w 315"/>
                <a:gd name="T1" fmla="*/ 0 h 552"/>
                <a:gd name="T2" fmla="*/ 2 w 315"/>
                <a:gd name="T3" fmla="*/ 3 h 552"/>
                <a:gd name="T4" fmla="*/ 3 w 315"/>
                <a:gd name="T5" fmla="*/ 5 h 552"/>
                <a:gd name="T6" fmla="*/ 4 w 315"/>
                <a:gd name="T7" fmla="*/ 7 h 552"/>
                <a:gd name="T8" fmla="*/ 6 w 315"/>
                <a:gd name="T9" fmla="*/ 9 h 552"/>
                <a:gd name="T10" fmla="*/ 7 w 315"/>
                <a:gd name="T11" fmla="*/ 12 h 552"/>
                <a:gd name="T12" fmla="*/ 8 w 315"/>
                <a:gd name="T13" fmla="*/ 15 h 552"/>
                <a:gd name="T14" fmla="*/ 10 w 315"/>
                <a:gd name="T15" fmla="*/ 18 h 552"/>
                <a:gd name="T16" fmla="*/ 11 w 315"/>
                <a:gd name="T17" fmla="*/ 20 h 552"/>
                <a:gd name="T18" fmla="*/ 12 w 315"/>
                <a:gd name="T19" fmla="*/ 21 h 5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5"/>
                <a:gd name="T31" fmla="*/ 0 h 552"/>
                <a:gd name="T32" fmla="*/ 315 w 315"/>
                <a:gd name="T33" fmla="*/ 552 h 5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5" h="552">
                  <a:moveTo>
                    <a:pt x="0" y="0"/>
                  </a:moveTo>
                  <a:lnTo>
                    <a:pt x="58" y="83"/>
                  </a:lnTo>
                  <a:lnTo>
                    <a:pt x="77" y="135"/>
                  </a:lnTo>
                  <a:lnTo>
                    <a:pt x="115" y="192"/>
                  </a:lnTo>
                  <a:lnTo>
                    <a:pt x="154" y="231"/>
                  </a:lnTo>
                  <a:lnTo>
                    <a:pt x="179" y="295"/>
                  </a:lnTo>
                  <a:lnTo>
                    <a:pt x="205" y="384"/>
                  </a:lnTo>
                  <a:lnTo>
                    <a:pt x="243" y="461"/>
                  </a:lnTo>
                  <a:lnTo>
                    <a:pt x="288" y="512"/>
                  </a:lnTo>
                  <a:lnTo>
                    <a:pt x="314" y="551"/>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0" name="Freeform 46"/>
            <p:cNvSpPr>
              <a:spLocks/>
            </p:cNvSpPr>
            <p:nvPr/>
          </p:nvSpPr>
          <p:spPr bwMode="auto">
            <a:xfrm>
              <a:off x="764" y="1227"/>
              <a:ext cx="77" cy="20"/>
            </a:xfrm>
            <a:custGeom>
              <a:avLst/>
              <a:gdLst>
                <a:gd name="T0" fmla="*/ 0 w 225"/>
                <a:gd name="T1" fmla="*/ 0 h 59"/>
                <a:gd name="T2" fmla="*/ 3 w 225"/>
                <a:gd name="T3" fmla="*/ 0 h 59"/>
                <a:gd name="T4" fmla="*/ 5 w 225"/>
                <a:gd name="T5" fmla="*/ 2 h 59"/>
                <a:gd name="T6" fmla="*/ 7 w 225"/>
                <a:gd name="T7" fmla="*/ 2 h 59"/>
                <a:gd name="T8" fmla="*/ 9 w 225"/>
                <a:gd name="T9" fmla="*/ 2 h 59"/>
                <a:gd name="T10" fmla="*/ 0 60000 65536"/>
                <a:gd name="T11" fmla="*/ 0 60000 65536"/>
                <a:gd name="T12" fmla="*/ 0 60000 65536"/>
                <a:gd name="T13" fmla="*/ 0 60000 65536"/>
                <a:gd name="T14" fmla="*/ 0 60000 65536"/>
                <a:gd name="T15" fmla="*/ 0 w 225"/>
                <a:gd name="T16" fmla="*/ 0 h 59"/>
                <a:gd name="T17" fmla="*/ 225 w 225"/>
                <a:gd name="T18" fmla="*/ 59 h 59"/>
              </a:gdLst>
              <a:ahLst/>
              <a:cxnLst>
                <a:cxn ang="T10">
                  <a:pos x="T0" y="T1"/>
                </a:cxn>
                <a:cxn ang="T11">
                  <a:pos x="T2" y="T3"/>
                </a:cxn>
                <a:cxn ang="T12">
                  <a:pos x="T4" y="T5"/>
                </a:cxn>
                <a:cxn ang="T13">
                  <a:pos x="T6" y="T7"/>
                </a:cxn>
                <a:cxn ang="T14">
                  <a:pos x="T8" y="T9"/>
                </a:cxn>
              </a:cxnLst>
              <a:rect l="T15" t="T16" r="T17" b="T18"/>
              <a:pathLst>
                <a:path w="225" h="59">
                  <a:moveTo>
                    <a:pt x="0" y="0"/>
                  </a:moveTo>
                  <a:lnTo>
                    <a:pt x="70" y="0"/>
                  </a:lnTo>
                  <a:lnTo>
                    <a:pt x="134" y="45"/>
                  </a:lnTo>
                  <a:lnTo>
                    <a:pt x="173" y="45"/>
                  </a:lnTo>
                  <a:lnTo>
                    <a:pt x="224" y="5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1" name="Freeform 47"/>
            <p:cNvSpPr>
              <a:spLocks/>
            </p:cNvSpPr>
            <p:nvPr/>
          </p:nvSpPr>
          <p:spPr bwMode="auto">
            <a:xfrm>
              <a:off x="732" y="1045"/>
              <a:ext cx="63" cy="20"/>
            </a:xfrm>
            <a:custGeom>
              <a:avLst/>
              <a:gdLst>
                <a:gd name="T0" fmla="*/ 0 w 186"/>
                <a:gd name="T1" fmla="*/ 0 h 58"/>
                <a:gd name="T2" fmla="*/ 1 w 186"/>
                <a:gd name="T3" fmla="*/ 0 h 58"/>
                <a:gd name="T4" fmla="*/ 3 w 186"/>
                <a:gd name="T5" fmla="*/ 1 h 58"/>
                <a:gd name="T6" fmla="*/ 6 w 186"/>
                <a:gd name="T7" fmla="*/ 2 h 58"/>
                <a:gd name="T8" fmla="*/ 7 w 186"/>
                <a:gd name="T9" fmla="*/ 2 h 58"/>
                <a:gd name="T10" fmla="*/ 0 60000 65536"/>
                <a:gd name="T11" fmla="*/ 0 60000 65536"/>
                <a:gd name="T12" fmla="*/ 0 60000 65536"/>
                <a:gd name="T13" fmla="*/ 0 60000 65536"/>
                <a:gd name="T14" fmla="*/ 0 60000 65536"/>
                <a:gd name="T15" fmla="*/ 0 w 186"/>
                <a:gd name="T16" fmla="*/ 0 h 58"/>
                <a:gd name="T17" fmla="*/ 186 w 186"/>
                <a:gd name="T18" fmla="*/ 58 h 58"/>
              </a:gdLst>
              <a:ahLst/>
              <a:cxnLst>
                <a:cxn ang="T10">
                  <a:pos x="T0" y="T1"/>
                </a:cxn>
                <a:cxn ang="T11">
                  <a:pos x="T2" y="T3"/>
                </a:cxn>
                <a:cxn ang="T12">
                  <a:pos x="T4" y="T5"/>
                </a:cxn>
                <a:cxn ang="T13">
                  <a:pos x="T6" y="T7"/>
                </a:cxn>
                <a:cxn ang="T14">
                  <a:pos x="T8" y="T9"/>
                </a:cxn>
              </a:cxnLst>
              <a:rect l="T15" t="T16" r="T17" b="T18"/>
              <a:pathLst>
                <a:path w="186" h="58">
                  <a:moveTo>
                    <a:pt x="0" y="0"/>
                  </a:moveTo>
                  <a:lnTo>
                    <a:pt x="38" y="0"/>
                  </a:lnTo>
                  <a:lnTo>
                    <a:pt x="89" y="19"/>
                  </a:lnTo>
                  <a:lnTo>
                    <a:pt x="147" y="57"/>
                  </a:lnTo>
                  <a:lnTo>
                    <a:pt x="185" y="5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2" name="Freeform 48"/>
            <p:cNvSpPr>
              <a:spLocks/>
            </p:cNvSpPr>
            <p:nvPr/>
          </p:nvSpPr>
          <p:spPr bwMode="auto">
            <a:xfrm>
              <a:off x="818" y="1089"/>
              <a:ext cx="29" cy="87"/>
            </a:xfrm>
            <a:custGeom>
              <a:avLst/>
              <a:gdLst>
                <a:gd name="T0" fmla="*/ 0 w 84"/>
                <a:gd name="T1" fmla="*/ 0 h 257"/>
                <a:gd name="T2" fmla="*/ 1 w 84"/>
                <a:gd name="T3" fmla="*/ 2 h 257"/>
                <a:gd name="T4" fmla="*/ 2 w 84"/>
                <a:gd name="T5" fmla="*/ 5 h 257"/>
                <a:gd name="T6" fmla="*/ 3 w 84"/>
                <a:gd name="T7" fmla="*/ 7 h 257"/>
                <a:gd name="T8" fmla="*/ 3 w 84"/>
                <a:gd name="T9" fmla="*/ 8 h 257"/>
                <a:gd name="T10" fmla="*/ 3 w 84"/>
                <a:gd name="T11" fmla="*/ 10 h 257"/>
                <a:gd name="T12" fmla="*/ 0 60000 65536"/>
                <a:gd name="T13" fmla="*/ 0 60000 65536"/>
                <a:gd name="T14" fmla="*/ 0 60000 65536"/>
                <a:gd name="T15" fmla="*/ 0 60000 65536"/>
                <a:gd name="T16" fmla="*/ 0 60000 65536"/>
                <a:gd name="T17" fmla="*/ 0 60000 65536"/>
                <a:gd name="T18" fmla="*/ 0 w 84"/>
                <a:gd name="T19" fmla="*/ 0 h 257"/>
                <a:gd name="T20" fmla="*/ 84 w 84"/>
                <a:gd name="T21" fmla="*/ 257 h 257"/>
              </a:gdLst>
              <a:ahLst/>
              <a:cxnLst>
                <a:cxn ang="T12">
                  <a:pos x="T0" y="T1"/>
                </a:cxn>
                <a:cxn ang="T13">
                  <a:pos x="T2" y="T3"/>
                </a:cxn>
                <a:cxn ang="T14">
                  <a:pos x="T4" y="T5"/>
                </a:cxn>
                <a:cxn ang="T15">
                  <a:pos x="T6" y="T7"/>
                </a:cxn>
                <a:cxn ang="T16">
                  <a:pos x="T8" y="T9"/>
                </a:cxn>
                <a:cxn ang="T17">
                  <a:pos x="T10" y="T11"/>
                </a:cxn>
              </a:cxnLst>
              <a:rect l="T18" t="T19" r="T20" b="T21"/>
              <a:pathLst>
                <a:path w="84" h="257">
                  <a:moveTo>
                    <a:pt x="0" y="0"/>
                  </a:moveTo>
                  <a:lnTo>
                    <a:pt x="38" y="57"/>
                  </a:lnTo>
                  <a:lnTo>
                    <a:pt x="51" y="140"/>
                  </a:lnTo>
                  <a:lnTo>
                    <a:pt x="77" y="192"/>
                  </a:lnTo>
                  <a:lnTo>
                    <a:pt x="77" y="211"/>
                  </a:lnTo>
                  <a:lnTo>
                    <a:pt x="83" y="25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3" name="Freeform 49"/>
            <p:cNvSpPr>
              <a:spLocks/>
            </p:cNvSpPr>
            <p:nvPr/>
          </p:nvSpPr>
          <p:spPr bwMode="auto">
            <a:xfrm>
              <a:off x="812" y="1104"/>
              <a:ext cx="9" cy="9"/>
            </a:xfrm>
            <a:custGeom>
              <a:avLst/>
              <a:gdLst>
                <a:gd name="T0" fmla="*/ 0 w 26"/>
                <a:gd name="T1" fmla="*/ 0 h 27"/>
                <a:gd name="T2" fmla="*/ 1 w 26"/>
                <a:gd name="T3" fmla="*/ 1 h 27"/>
                <a:gd name="T4" fmla="*/ 0 60000 65536"/>
                <a:gd name="T5" fmla="*/ 0 60000 65536"/>
                <a:gd name="T6" fmla="*/ 0 w 26"/>
                <a:gd name="T7" fmla="*/ 0 h 27"/>
                <a:gd name="T8" fmla="*/ 26 w 26"/>
                <a:gd name="T9" fmla="*/ 27 h 27"/>
              </a:gdLst>
              <a:ahLst/>
              <a:cxnLst>
                <a:cxn ang="T4">
                  <a:pos x="T0" y="T1"/>
                </a:cxn>
                <a:cxn ang="T5">
                  <a:pos x="T2" y="T3"/>
                </a:cxn>
              </a:cxnLst>
              <a:rect l="T6" t="T7" r="T8" b="T9"/>
              <a:pathLst>
                <a:path w="26" h="27">
                  <a:moveTo>
                    <a:pt x="0" y="0"/>
                  </a:moveTo>
                  <a:lnTo>
                    <a:pt x="25" y="2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4" name="Freeform 50"/>
            <p:cNvSpPr>
              <a:spLocks/>
            </p:cNvSpPr>
            <p:nvPr/>
          </p:nvSpPr>
          <p:spPr bwMode="auto">
            <a:xfrm>
              <a:off x="810" y="1147"/>
              <a:ext cx="83" cy="61"/>
            </a:xfrm>
            <a:custGeom>
              <a:avLst/>
              <a:gdLst>
                <a:gd name="T0" fmla="*/ 0 w 244"/>
                <a:gd name="T1" fmla="*/ 0 h 181"/>
                <a:gd name="T2" fmla="*/ 2 w 244"/>
                <a:gd name="T3" fmla="*/ 0 h 181"/>
                <a:gd name="T4" fmla="*/ 4 w 244"/>
                <a:gd name="T5" fmla="*/ 0 h 181"/>
                <a:gd name="T6" fmla="*/ 6 w 244"/>
                <a:gd name="T7" fmla="*/ 1 h 181"/>
                <a:gd name="T8" fmla="*/ 6 w 244"/>
                <a:gd name="T9" fmla="*/ 1 h 181"/>
                <a:gd name="T10" fmla="*/ 7 w 244"/>
                <a:gd name="T11" fmla="*/ 3 h 181"/>
                <a:gd name="T12" fmla="*/ 8 w 244"/>
                <a:gd name="T13" fmla="*/ 5 h 181"/>
                <a:gd name="T14" fmla="*/ 10 w 244"/>
                <a:gd name="T15" fmla="*/ 7 h 181"/>
                <a:gd name="T16" fmla="*/ 0 60000 65536"/>
                <a:gd name="T17" fmla="*/ 0 60000 65536"/>
                <a:gd name="T18" fmla="*/ 0 60000 65536"/>
                <a:gd name="T19" fmla="*/ 0 60000 65536"/>
                <a:gd name="T20" fmla="*/ 0 60000 65536"/>
                <a:gd name="T21" fmla="*/ 0 60000 65536"/>
                <a:gd name="T22" fmla="*/ 0 60000 65536"/>
                <a:gd name="T23" fmla="*/ 0 60000 65536"/>
                <a:gd name="T24" fmla="*/ 0 w 244"/>
                <a:gd name="T25" fmla="*/ 0 h 181"/>
                <a:gd name="T26" fmla="*/ 244 w 244"/>
                <a:gd name="T27" fmla="*/ 181 h 1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4" h="181">
                  <a:moveTo>
                    <a:pt x="0" y="0"/>
                  </a:moveTo>
                  <a:lnTo>
                    <a:pt x="64" y="7"/>
                  </a:lnTo>
                  <a:lnTo>
                    <a:pt x="109" y="13"/>
                  </a:lnTo>
                  <a:lnTo>
                    <a:pt x="147" y="32"/>
                  </a:lnTo>
                  <a:lnTo>
                    <a:pt x="167" y="39"/>
                  </a:lnTo>
                  <a:lnTo>
                    <a:pt x="186" y="84"/>
                  </a:lnTo>
                  <a:lnTo>
                    <a:pt x="211" y="135"/>
                  </a:lnTo>
                  <a:lnTo>
                    <a:pt x="243" y="18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5" name="Freeform 51"/>
            <p:cNvSpPr>
              <a:spLocks/>
            </p:cNvSpPr>
            <p:nvPr/>
          </p:nvSpPr>
          <p:spPr bwMode="auto">
            <a:xfrm>
              <a:off x="949" y="1210"/>
              <a:ext cx="11" cy="33"/>
            </a:xfrm>
            <a:custGeom>
              <a:avLst/>
              <a:gdLst>
                <a:gd name="T0" fmla="*/ 0 w 33"/>
                <a:gd name="T1" fmla="*/ 0 h 97"/>
                <a:gd name="T2" fmla="*/ 1 w 33"/>
                <a:gd name="T3" fmla="*/ 2 h 97"/>
                <a:gd name="T4" fmla="*/ 1 w 33"/>
                <a:gd name="T5" fmla="*/ 4 h 97"/>
                <a:gd name="T6" fmla="*/ 0 60000 65536"/>
                <a:gd name="T7" fmla="*/ 0 60000 65536"/>
                <a:gd name="T8" fmla="*/ 0 60000 65536"/>
                <a:gd name="T9" fmla="*/ 0 w 33"/>
                <a:gd name="T10" fmla="*/ 0 h 97"/>
                <a:gd name="T11" fmla="*/ 33 w 33"/>
                <a:gd name="T12" fmla="*/ 97 h 97"/>
              </a:gdLst>
              <a:ahLst/>
              <a:cxnLst>
                <a:cxn ang="T6">
                  <a:pos x="T0" y="T1"/>
                </a:cxn>
                <a:cxn ang="T7">
                  <a:pos x="T2" y="T3"/>
                </a:cxn>
                <a:cxn ang="T8">
                  <a:pos x="T4" y="T5"/>
                </a:cxn>
              </a:cxnLst>
              <a:rect l="T9" t="T10" r="T11" b="T12"/>
              <a:pathLst>
                <a:path w="33" h="97">
                  <a:moveTo>
                    <a:pt x="0" y="0"/>
                  </a:moveTo>
                  <a:lnTo>
                    <a:pt x="25" y="58"/>
                  </a:lnTo>
                  <a:lnTo>
                    <a:pt x="32" y="9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6" name="Freeform 52"/>
            <p:cNvSpPr>
              <a:spLocks/>
            </p:cNvSpPr>
            <p:nvPr/>
          </p:nvSpPr>
          <p:spPr bwMode="auto">
            <a:xfrm>
              <a:off x="932" y="1260"/>
              <a:ext cx="39" cy="85"/>
            </a:xfrm>
            <a:custGeom>
              <a:avLst/>
              <a:gdLst>
                <a:gd name="T0" fmla="*/ 0 w 116"/>
                <a:gd name="T1" fmla="*/ 0 h 251"/>
                <a:gd name="T2" fmla="*/ 2 w 116"/>
                <a:gd name="T3" fmla="*/ 5 h 251"/>
                <a:gd name="T4" fmla="*/ 4 w 116"/>
                <a:gd name="T5" fmla="*/ 8 h 251"/>
                <a:gd name="T6" fmla="*/ 4 w 116"/>
                <a:gd name="T7" fmla="*/ 10 h 251"/>
                <a:gd name="T8" fmla="*/ 0 60000 65536"/>
                <a:gd name="T9" fmla="*/ 0 60000 65536"/>
                <a:gd name="T10" fmla="*/ 0 60000 65536"/>
                <a:gd name="T11" fmla="*/ 0 60000 65536"/>
                <a:gd name="T12" fmla="*/ 0 w 116"/>
                <a:gd name="T13" fmla="*/ 0 h 251"/>
                <a:gd name="T14" fmla="*/ 116 w 116"/>
                <a:gd name="T15" fmla="*/ 251 h 251"/>
              </a:gdLst>
              <a:ahLst/>
              <a:cxnLst>
                <a:cxn ang="T8">
                  <a:pos x="T0" y="T1"/>
                </a:cxn>
                <a:cxn ang="T9">
                  <a:pos x="T2" y="T3"/>
                </a:cxn>
                <a:cxn ang="T10">
                  <a:pos x="T4" y="T5"/>
                </a:cxn>
                <a:cxn ang="T11">
                  <a:pos x="T6" y="T7"/>
                </a:cxn>
              </a:cxnLst>
              <a:rect l="T12" t="T13" r="T14" b="T15"/>
              <a:pathLst>
                <a:path w="116" h="251">
                  <a:moveTo>
                    <a:pt x="0" y="0"/>
                  </a:moveTo>
                  <a:lnTo>
                    <a:pt x="44" y="122"/>
                  </a:lnTo>
                  <a:lnTo>
                    <a:pt x="96" y="199"/>
                  </a:lnTo>
                  <a:lnTo>
                    <a:pt x="115" y="25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7" name="Freeform 53"/>
            <p:cNvSpPr>
              <a:spLocks/>
            </p:cNvSpPr>
            <p:nvPr/>
          </p:nvSpPr>
          <p:spPr bwMode="auto">
            <a:xfrm>
              <a:off x="916" y="1286"/>
              <a:ext cx="55" cy="11"/>
            </a:xfrm>
            <a:custGeom>
              <a:avLst/>
              <a:gdLst>
                <a:gd name="T0" fmla="*/ 0 w 161"/>
                <a:gd name="T1" fmla="*/ 0 h 33"/>
                <a:gd name="T2" fmla="*/ 3 w 161"/>
                <a:gd name="T3" fmla="*/ 0 h 33"/>
                <a:gd name="T4" fmla="*/ 6 w 161"/>
                <a:gd name="T5" fmla="*/ 1 h 33"/>
                <a:gd name="T6" fmla="*/ 0 60000 65536"/>
                <a:gd name="T7" fmla="*/ 0 60000 65536"/>
                <a:gd name="T8" fmla="*/ 0 60000 65536"/>
                <a:gd name="T9" fmla="*/ 0 w 161"/>
                <a:gd name="T10" fmla="*/ 0 h 33"/>
                <a:gd name="T11" fmla="*/ 161 w 161"/>
                <a:gd name="T12" fmla="*/ 33 h 33"/>
              </a:gdLst>
              <a:ahLst/>
              <a:cxnLst>
                <a:cxn ang="T6">
                  <a:pos x="T0" y="T1"/>
                </a:cxn>
                <a:cxn ang="T7">
                  <a:pos x="T2" y="T3"/>
                </a:cxn>
                <a:cxn ang="T8">
                  <a:pos x="T4" y="T5"/>
                </a:cxn>
              </a:cxnLst>
              <a:rect l="T9" t="T10" r="T11" b="T12"/>
              <a:pathLst>
                <a:path w="161" h="33">
                  <a:moveTo>
                    <a:pt x="0" y="0"/>
                  </a:moveTo>
                  <a:lnTo>
                    <a:pt x="64" y="6"/>
                  </a:lnTo>
                  <a:lnTo>
                    <a:pt x="160"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8" name="Freeform 54"/>
            <p:cNvSpPr>
              <a:spLocks/>
            </p:cNvSpPr>
            <p:nvPr/>
          </p:nvSpPr>
          <p:spPr bwMode="auto">
            <a:xfrm>
              <a:off x="944" y="1208"/>
              <a:ext cx="23" cy="33"/>
            </a:xfrm>
            <a:custGeom>
              <a:avLst/>
              <a:gdLst>
                <a:gd name="T0" fmla="*/ 0 w 65"/>
                <a:gd name="T1" fmla="*/ 0 h 97"/>
                <a:gd name="T2" fmla="*/ 2 w 65"/>
                <a:gd name="T3" fmla="*/ 2 h 97"/>
                <a:gd name="T4" fmla="*/ 3 w 65"/>
                <a:gd name="T5" fmla="*/ 4 h 97"/>
                <a:gd name="T6" fmla="*/ 0 60000 65536"/>
                <a:gd name="T7" fmla="*/ 0 60000 65536"/>
                <a:gd name="T8" fmla="*/ 0 60000 65536"/>
                <a:gd name="T9" fmla="*/ 0 w 65"/>
                <a:gd name="T10" fmla="*/ 0 h 97"/>
                <a:gd name="T11" fmla="*/ 65 w 65"/>
                <a:gd name="T12" fmla="*/ 97 h 97"/>
              </a:gdLst>
              <a:ahLst/>
              <a:cxnLst>
                <a:cxn ang="T6">
                  <a:pos x="T0" y="T1"/>
                </a:cxn>
                <a:cxn ang="T7">
                  <a:pos x="T2" y="T3"/>
                </a:cxn>
                <a:cxn ang="T8">
                  <a:pos x="T4" y="T5"/>
                </a:cxn>
              </a:cxnLst>
              <a:rect l="T9" t="T10" r="T11" b="T12"/>
              <a:pathLst>
                <a:path w="65" h="97">
                  <a:moveTo>
                    <a:pt x="0" y="0"/>
                  </a:moveTo>
                  <a:lnTo>
                    <a:pt x="38" y="51"/>
                  </a:lnTo>
                  <a:lnTo>
                    <a:pt x="64" y="9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9" name="Freeform 55"/>
            <p:cNvSpPr>
              <a:spLocks/>
            </p:cNvSpPr>
            <p:nvPr/>
          </p:nvSpPr>
          <p:spPr bwMode="auto">
            <a:xfrm>
              <a:off x="1003" y="1310"/>
              <a:ext cx="30" cy="61"/>
            </a:xfrm>
            <a:custGeom>
              <a:avLst/>
              <a:gdLst>
                <a:gd name="T0" fmla="*/ 0 w 90"/>
                <a:gd name="T1" fmla="*/ 0 h 181"/>
                <a:gd name="T2" fmla="*/ 2 w 90"/>
                <a:gd name="T3" fmla="*/ 3 h 181"/>
                <a:gd name="T4" fmla="*/ 2 w 90"/>
                <a:gd name="T5" fmla="*/ 5 h 181"/>
                <a:gd name="T6" fmla="*/ 3 w 90"/>
                <a:gd name="T7" fmla="*/ 7 h 181"/>
                <a:gd name="T8" fmla="*/ 0 60000 65536"/>
                <a:gd name="T9" fmla="*/ 0 60000 65536"/>
                <a:gd name="T10" fmla="*/ 0 60000 65536"/>
                <a:gd name="T11" fmla="*/ 0 60000 65536"/>
                <a:gd name="T12" fmla="*/ 0 w 90"/>
                <a:gd name="T13" fmla="*/ 0 h 181"/>
                <a:gd name="T14" fmla="*/ 90 w 90"/>
                <a:gd name="T15" fmla="*/ 181 h 181"/>
              </a:gdLst>
              <a:ahLst/>
              <a:cxnLst>
                <a:cxn ang="T8">
                  <a:pos x="T0" y="T1"/>
                </a:cxn>
                <a:cxn ang="T9">
                  <a:pos x="T2" y="T3"/>
                </a:cxn>
                <a:cxn ang="T10">
                  <a:pos x="T4" y="T5"/>
                </a:cxn>
                <a:cxn ang="T11">
                  <a:pos x="T6" y="T7"/>
                </a:cxn>
              </a:cxnLst>
              <a:rect l="T12" t="T13" r="T14" b="T15"/>
              <a:pathLst>
                <a:path w="90" h="181">
                  <a:moveTo>
                    <a:pt x="0" y="0"/>
                  </a:moveTo>
                  <a:lnTo>
                    <a:pt x="45" y="71"/>
                  </a:lnTo>
                  <a:lnTo>
                    <a:pt x="64" y="128"/>
                  </a:lnTo>
                  <a:lnTo>
                    <a:pt x="89" y="18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30" name="Freeform 56"/>
            <p:cNvSpPr>
              <a:spLocks/>
            </p:cNvSpPr>
            <p:nvPr/>
          </p:nvSpPr>
          <p:spPr bwMode="auto">
            <a:xfrm>
              <a:off x="1025" y="1303"/>
              <a:ext cx="24" cy="12"/>
            </a:xfrm>
            <a:custGeom>
              <a:avLst/>
              <a:gdLst>
                <a:gd name="T0" fmla="*/ 0 w 71"/>
                <a:gd name="T1" fmla="*/ 0 h 33"/>
                <a:gd name="T2" fmla="*/ 2 w 71"/>
                <a:gd name="T3" fmla="*/ 1 h 33"/>
                <a:gd name="T4" fmla="*/ 3 w 71"/>
                <a:gd name="T5" fmla="*/ 1 h 33"/>
                <a:gd name="T6" fmla="*/ 0 60000 65536"/>
                <a:gd name="T7" fmla="*/ 0 60000 65536"/>
                <a:gd name="T8" fmla="*/ 0 60000 65536"/>
                <a:gd name="T9" fmla="*/ 0 w 71"/>
                <a:gd name="T10" fmla="*/ 0 h 33"/>
                <a:gd name="T11" fmla="*/ 71 w 71"/>
                <a:gd name="T12" fmla="*/ 33 h 33"/>
              </a:gdLst>
              <a:ahLst/>
              <a:cxnLst>
                <a:cxn ang="T6">
                  <a:pos x="T0" y="T1"/>
                </a:cxn>
                <a:cxn ang="T7">
                  <a:pos x="T2" y="T3"/>
                </a:cxn>
                <a:cxn ang="T8">
                  <a:pos x="T4" y="T5"/>
                </a:cxn>
              </a:cxnLst>
              <a:rect l="T9" t="T10" r="T11" b="T12"/>
              <a:pathLst>
                <a:path w="71" h="33">
                  <a:moveTo>
                    <a:pt x="0" y="0"/>
                  </a:moveTo>
                  <a:lnTo>
                    <a:pt x="45" y="13"/>
                  </a:lnTo>
                  <a:lnTo>
                    <a:pt x="70"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31" name="Freeform 57"/>
            <p:cNvSpPr>
              <a:spLocks/>
            </p:cNvSpPr>
            <p:nvPr/>
          </p:nvSpPr>
          <p:spPr bwMode="auto">
            <a:xfrm>
              <a:off x="699" y="1110"/>
              <a:ext cx="6" cy="74"/>
            </a:xfrm>
            <a:custGeom>
              <a:avLst/>
              <a:gdLst>
                <a:gd name="T0" fmla="*/ 0 w 17"/>
                <a:gd name="T1" fmla="*/ 0 h 218"/>
                <a:gd name="T2" fmla="*/ 1 w 17"/>
                <a:gd name="T3" fmla="*/ 2 h 218"/>
                <a:gd name="T4" fmla="*/ 0 w 17"/>
                <a:gd name="T5" fmla="*/ 6 h 218"/>
                <a:gd name="T6" fmla="*/ 0 w 17"/>
                <a:gd name="T7" fmla="*/ 8 h 218"/>
                <a:gd name="T8" fmla="*/ 0 60000 65536"/>
                <a:gd name="T9" fmla="*/ 0 60000 65536"/>
                <a:gd name="T10" fmla="*/ 0 60000 65536"/>
                <a:gd name="T11" fmla="*/ 0 60000 65536"/>
                <a:gd name="T12" fmla="*/ 0 w 17"/>
                <a:gd name="T13" fmla="*/ 0 h 218"/>
                <a:gd name="T14" fmla="*/ 17 w 17"/>
                <a:gd name="T15" fmla="*/ 218 h 218"/>
              </a:gdLst>
              <a:ahLst/>
              <a:cxnLst>
                <a:cxn ang="T8">
                  <a:pos x="T0" y="T1"/>
                </a:cxn>
                <a:cxn ang="T9">
                  <a:pos x="T2" y="T3"/>
                </a:cxn>
                <a:cxn ang="T10">
                  <a:pos x="T4" y="T5"/>
                </a:cxn>
                <a:cxn ang="T11">
                  <a:pos x="T6" y="T7"/>
                </a:cxn>
              </a:cxnLst>
              <a:rect l="T12" t="T13" r="T14" b="T15"/>
              <a:pathLst>
                <a:path w="17" h="218">
                  <a:moveTo>
                    <a:pt x="0" y="0"/>
                  </a:moveTo>
                  <a:lnTo>
                    <a:pt x="16" y="57"/>
                  </a:lnTo>
                  <a:lnTo>
                    <a:pt x="0" y="147"/>
                  </a:lnTo>
                  <a:lnTo>
                    <a:pt x="0" y="21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32" name="Freeform 58"/>
            <p:cNvSpPr>
              <a:spLocks/>
            </p:cNvSpPr>
            <p:nvPr/>
          </p:nvSpPr>
          <p:spPr bwMode="auto">
            <a:xfrm>
              <a:off x="602" y="948"/>
              <a:ext cx="32" cy="98"/>
            </a:xfrm>
            <a:custGeom>
              <a:avLst/>
              <a:gdLst>
                <a:gd name="T0" fmla="*/ 0 w 97"/>
                <a:gd name="T1" fmla="*/ 0 h 289"/>
                <a:gd name="T2" fmla="*/ 1 w 97"/>
                <a:gd name="T3" fmla="*/ 3 h 289"/>
                <a:gd name="T4" fmla="*/ 2 w 97"/>
                <a:gd name="T5" fmla="*/ 6 h 289"/>
                <a:gd name="T6" fmla="*/ 3 w 97"/>
                <a:gd name="T7" fmla="*/ 9 h 289"/>
                <a:gd name="T8" fmla="*/ 4 w 97"/>
                <a:gd name="T9" fmla="*/ 11 h 289"/>
                <a:gd name="T10" fmla="*/ 0 60000 65536"/>
                <a:gd name="T11" fmla="*/ 0 60000 65536"/>
                <a:gd name="T12" fmla="*/ 0 60000 65536"/>
                <a:gd name="T13" fmla="*/ 0 60000 65536"/>
                <a:gd name="T14" fmla="*/ 0 60000 65536"/>
                <a:gd name="T15" fmla="*/ 0 w 97"/>
                <a:gd name="T16" fmla="*/ 0 h 289"/>
                <a:gd name="T17" fmla="*/ 97 w 97"/>
                <a:gd name="T18" fmla="*/ 289 h 289"/>
              </a:gdLst>
              <a:ahLst/>
              <a:cxnLst>
                <a:cxn ang="T10">
                  <a:pos x="T0" y="T1"/>
                </a:cxn>
                <a:cxn ang="T11">
                  <a:pos x="T2" y="T3"/>
                </a:cxn>
                <a:cxn ang="T12">
                  <a:pos x="T4" y="T5"/>
                </a:cxn>
                <a:cxn ang="T13">
                  <a:pos x="T6" y="T7"/>
                </a:cxn>
                <a:cxn ang="T14">
                  <a:pos x="T8" y="T9"/>
                </a:cxn>
              </a:cxnLst>
              <a:rect l="T15" t="T16" r="T17" b="T18"/>
              <a:pathLst>
                <a:path w="97" h="289">
                  <a:moveTo>
                    <a:pt x="0" y="0"/>
                  </a:moveTo>
                  <a:lnTo>
                    <a:pt x="38" y="76"/>
                  </a:lnTo>
                  <a:lnTo>
                    <a:pt x="51" y="160"/>
                  </a:lnTo>
                  <a:lnTo>
                    <a:pt x="77" y="230"/>
                  </a:lnTo>
                  <a:lnTo>
                    <a:pt x="96" y="28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33" name="Freeform 59"/>
            <p:cNvSpPr>
              <a:spLocks/>
            </p:cNvSpPr>
            <p:nvPr/>
          </p:nvSpPr>
          <p:spPr bwMode="auto">
            <a:xfrm>
              <a:off x="595" y="988"/>
              <a:ext cx="37" cy="14"/>
            </a:xfrm>
            <a:custGeom>
              <a:avLst/>
              <a:gdLst>
                <a:gd name="T0" fmla="*/ 0 w 109"/>
                <a:gd name="T1" fmla="*/ 0 h 40"/>
                <a:gd name="T2" fmla="*/ 3 w 109"/>
                <a:gd name="T3" fmla="*/ 1 h 40"/>
                <a:gd name="T4" fmla="*/ 4 w 109"/>
                <a:gd name="T5" fmla="*/ 2 h 40"/>
                <a:gd name="T6" fmla="*/ 0 60000 65536"/>
                <a:gd name="T7" fmla="*/ 0 60000 65536"/>
                <a:gd name="T8" fmla="*/ 0 60000 65536"/>
                <a:gd name="T9" fmla="*/ 0 w 109"/>
                <a:gd name="T10" fmla="*/ 0 h 40"/>
                <a:gd name="T11" fmla="*/ 109 w 109"/>
                <a:gd name="T12" fmla="*/ 40 h 40"/>
              </a:gdLst>
              <a:ahLst/>
              <a:cxnLst>
                <a:cxn ang="T6">
                  <a:pos x="T0" y="T1"/>
                </a:cxn>
                <a:cxn ang="T7">
                  <a:pos x="T2" y="T3"/>
                </a:cxn>
                <a:cxn ang="T8">
                  <a:pos x="T4" y="T5"/>
                </a:cxn>
              </a:cxnLst>
              <a:rect l="T9" t="T10" r="T11" b="T12"/>
              <a:pathLst>
                <a:path w="109" h="40">
                  <a:moveTo>
                    <a:pt x="0" y="0"/>
                  </a:moveTo>
                  <a:lnTo>
                    <a:pt x="76" y="13"/>
                  </a:lnTo>
                  <a:lnTo>
                    <a:pt x="108" y="39"/>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34" name="Freeform 60"/>
            <p:cNvSpPr>
              <a:spLocks/>
            </p:cNvSpPr>
            <p:nvPr/>
          </p:nvSpPr>
          <p:spPr bwMode="auto">
            <a:xfrm>
              <a:off x="560" y="1064"/>
              <a:ext cx="53" cy="155"/>
            </a:xfrm>
            <a:custGeom>
              <a:avLst/>
              <a:gdLst>
                <a:gd name="T0" fmla="*/ 0 w 155"/>
                <a:gd name="T1" fmla="*/ 0 h 456"/>
                <a:gd name="T2" fmla="*/ 2 w 155"/>
                <a:gd name="T3" fmla="*/ 4 h 456"/>
                <a:gd name="T4" fmla="*/ 3 w 155"/>
                <a:gd name="T5" fmla="*/ 9 h 456"/>
                <a:gd name="T6" fmla="*/ 4 w 155"/>
                <a:gd name="T7" fmla="*/ 13 h 456"/>
                <a:gd name="T8" fmla="*/ 6 w 155"/>
                <a:gd name="T9" fmla="*/ 18 h 456"/>
                <a:gd name="T10" fmla="*/ 0 60000 65536"/>
                <a:gd name="T11" fmla="*/ 0 60000 65536"/>
                <a:gd name="T12" fmla="*/ 0 60000 65536"/>
                <a:gd name="T13" fmla="*/ 0 60000 65536"/>
                <a:gd name="T14" fmla="*/ 0 60000 65536"/>
                <a:gd name="T15" fmla="*/ 0 w 155"/>
                <a:gd name="T16" fmla="*/ 0 h 456"/>
                <a:gd name="T17" fmla="*/ 155 w 155"/>
                <a:gd name="T18" fmla="*/ 456 h 456"/>
              </a:gdLst>
              <a:ahLst/>
              <a:cxnLst>
                <a:cxn ang="T10">
                  <a:pos x="T0" y="T1"/>
                </a:cxn>
                <a:cxn ang="T11">
                  <a:pos x="T2" y="T3"/>
                </a:cxn>
                <a:cxn ang="T12">
                  <a:pos x="T4" y="T5"/>
                </a:cxn>
                <a:cxn ang="T13">
                  <a:pos x="T6" y="T7"/>
                </a:cxn>
                <a:cxn ang="T14">
                  <a:pos x="T8" y="T9"/>
                </a:cxn>
              </a:cxnLst>
              <a:rect l="T15" t="T16" r="T17" b="T18"/>
              <a:pathLst>
                <a:path w="155" h="456">
                  <a:moveTo>
                    <a:pt x="0" y="0"/>
                  </a:moveTo>
                  <a:lnTo>
                    <a:pt x="51" y="103"/>
                  </a:lnTo>
                  <a:lnTo>
                    <a:pt x="77" y="231"/>
                  </a:lnTo>
                  <a:lnTo>
                    <a:pt x="109" y="339"/>
                  </a:lnTo>
                  <a:lnTo>
                    <a:pt x="154" y="45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35" name="Freeform 61"/>
            <p:cNvSpPr>
              <a:spLocks/>
            </p:cNvSpPr>
            <p:nvPr/>
          </p:nvSpPr>
          <p:spPr bwMode="auto">
            <a:xfrm>
              <a:off x="582" y="1101"/>
              <a:ext cx="48" cy="21"/>
            </a:xfrm>
            <a:custGeom>
              <a:avLst/>
              <a:gdLst>
                <a:gd name="T0" fmla="*/ 0 w 142"/>
                <a:gd name="T1" fmla="*/ 0 h 59"/>
                <a:gd name="T2" fmla="*/ 1 w 142"/>
                <a:gd name="T3" fmla="*/ 1 h 59"/>
                <a:gd name="T4" fmla="*/ 2 w 142"/>
                <a:gd name="T5" fmla="*/ 1 h 59"/>
                <a:gd name="T6" fmla="*/ 4 w 142"/>
                <a:gd name="T7" fmla="*/ 2 h 59"/>
                <a:gd name="T8" fmla="*/ 5 w 142"/>
                <a:gd name="T9" fmla="*/ 1 h 59"/>
                <a:gd name="T10" fmla="*/ 0 60000 65536"/>
                <a:gd name="T11" fmla="*/ 0 60000 65536"/>
                <a:gd name="T12" fmla="*/ 0 60000 65536"/>
                <a:gd name="T13" fmla="*/ 0 60000 65536"/>
                <a:gd name="T14" fmla="*/ 0 60000 65536"/>
                <a:gd name="T15" fmla="*/ 0 w 142"/>
                <a:gd name="T16" fmla="*/ 0 h 59"/>
                <a:gd name="T17" fmla="*/ 142 w 142"/>
                <a:gd name="T18" fmla="*/ 59 h 59"/>
              </a:gdLst>
              <a:ahLst/>
              <a:cxnLst>
                <a:cxn ang="T10">
                  <a:pos x="T0" y="T1"/>
                </a:cxn>
                <a:cxn ang="T11">
                  <a:pos x="T2" y="T3"/>
                </a:cxn>
                <a:cxn ang="T12">
                  <a:pos x="T4" y="T5"/>
                </a:cxn>
                <a:cxn ang="T13">
                  <a:pos x="T6" y="T7"/>
                </a:cxn>
                <a:cxn ang="T14">
                  <a:pos x="T8" y="T9"/>
                </a:cxn>
              </a:cxnLst>
              <a:rect l="T15" t="T16" r="T17" b="T18"/>
              <a:pathLst>
                <a:path w="142" h="59">
                  <a:moveTo>
                    <a:pt x="0" y="0"/>
                  </a:moveTo>
                  <a:lnTo>
                    <a:pt x="26" y="13"/>
                  </a:lnTo>
                  <a:lnTo>
                    <a:pt x="64" y="19"/>
                  </a:lnTo>
                  <a:lnTo>
                    <a:pt x="103" y="58"/>
                  </a:lnTo>
                  <a:lnTo>
                    <a:pt x="141"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36" name="Freeform 62"/>
            <p:cNvSpPr>
              <a:spLocks/>
            </p:cNvSpPr>
            <p:nvPr/>
          </p:nvSpPr>
          <p:spPr bwMode="auto">
            <a:xfrm>
              <a:off x="558" y="1167"/>
              <a:ext cx="61" cy="26"/>
            </a:xfrm>
            <a:custGeom>
              <a:avLst/>
              <a:gdLst>
                <a:gd name="T0" fmla="*/ 0 w 180"/>
                <a:gd name="T1" fmla="*/ 0 h 78"/>
                <a:gd name="T2" fmla="*/ 3 w 180"/>
                <a:gd name="T3" fmla="*/ 1 h 78"/>
                <a:gd name="T4" fmla="*/ 5 w 180"/>
                <a:gd name="T5" fmla="*/ 2 h 78"/>
                <a:gd name="T6" fmla="*/ 7 w 180"/>
                <a:gd name="T7" fmla="*/ 3 h 78"/>
                <a:gd name="T8" fmla="*/ 0 60000 65536"/>
                <a:gd name="T9" fmla="*/ 0 60000 65536"/>
                <a:gd name="T10" fmla="*/ 0 60000 65536"/>
                <a:gd name="T11" fmla="*/ 0 60000 65536"/>
                <a:gd name="T12" fmla="*/ 0 w 180"/>
                <a:gd name="T13" fmla="*/ 0 h 78"/>
                <a:gd name="T14" fmla="*/ 180 w 180"/>
                <a:gd name="T15" fmla="*/ 78 h 78"/>
              </a:gdLst>
              <a:ahLst/>
              <a:cxnLst>
                <a:cxn ang="T8">
                  <a:pos x="T0" y="T1"/>
                </a:cxn>
                <a:cxn ang="T9">
                  <a:pos x="T2" y="T3"/>
                </a:cxn>
                <a:cxn ang="T10">
                  <a:pos x="T4" y="T5"/>
                </a:cxn>
                <a:cxn ang="T11">
                  <a:pos x="T6" y="T7"/>
                </a:cxn>
              </a:cxnLst>
              <a:rect l="T12" t="T13" r="T14" b="T15"/>
              <a:pathLst>
                <a:path w="180" h="78">
                  <a:moveTo>
                    <a:pt x="0" y="0"/>
                  </a:moveTo>
                  <a:lnTo>
                    <a:pt x="77" y="26"/>
                  </a:lnTo>
                  <a:lnTo>
                    <a:pt x="134" y="64"/>
                  </a:lnTo>
                  <a:lnTo>
                    <a:pt x="179" y="7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37" name="Freeform 63"/>
            <p:cNvSpPr>
              <a:spLocks/>
            </p:cNvSpPr>
            <p:nvPr/>
          </p:nvSpPr>
          <p:spPr bwMode="auto">
            <a:xfrm>
              <a:off x="955" y="967"/>
              <a:ext cx="37" cy="70"/>
            </a:xfrm>
            <a:custGeom>
              <a:avLst/>
              <a:gdLst>
                <a:gd name="T0" fmla="*/ 0 w 110"/>
                <a:gd name="T1" fmla="*/ 0 h 206"/>
                <a:gd name="T2" fmla="*/ 3 w 110"/>
                <a:gd name="T3" fmla="*/ 4 h 206"/>
                <a:gd name="T4" fmla="*/ 3 w 110"/>
                <a:gd name="T5" fmla="*/ 6 h 206"/>
                <a:gd name="T6" fmla="*/ 4 w 110"/>
                <a:gd name="T7" fmla="*/ 8 h 206"/>
                <a:gd name="T8" fmla="*/ 0 60000 65536"/>
                <a:gd name="T9" fmla="*/ 0 60000 65536"/>
                <a:gd name="T10" fmla="*/ 0 60000 65536"/>
                <a:gd name="T11" fmla="*/ 0 60000 65536"/>
                <a:gd name="T12" fmla="*/ 0 w 110"/>
                <a:gd name="T13" fmla="*/ 0 h 206"/>
                <a:gd name="T14" fmla="*/ 110 w 110"/>
                <a:gd name="T15" fmla="*/ 206 h 206"/>
              </a:gdLst>
              <a:ahLst/>
              <a:cxnLst>
                <a:cxn ang="T8">
                  <a:pos x="T0" y="T1"/>
                </a:cxn>
                <a:cxn ang="T9">
                  <a:pos x="T2" y="T3"/>
                </a:cxn>
                <a:cxn ang="T10">
                  <a:pos x="T4" y="T5"/>
                </a:cxn>
                <a:cxn ang="T11">
                  <a:pos x="T6" y="T7"/>
                </a:cxn>
              </a:cxnLst>
              <a:rect l="T12" t="T13" r="T14" b="T15"/>
              <a:pathLst>
                <a:path w="110" h="206">
                  <a:moveTo>
                    <a:pt x="0" y="0"/>
                  </a:moveTo>
                  <a:lnTo>
                    <a:pt x="70" y="90"/>
                  </a:lnTo>
                  <a:lnTo>
                    <a:pt x="90" y="147"/>
                  </a:lnTo>
                  <a:lnTo>
                    <a:pt x="109" y="20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38" name="Freeform 64"/>
            <p:cNvSpPr>
              <a:spLocks/>
            </p:cNvSpPr>
            <p:nvPr/>
          </p:nvSpPr>
          <p:spPr bwMode="auto">
            <a:xfrm>
              <a:off x="927" y="988"/>
              <a:ext cx="42" cy="38"/>
            </a:xfrm>
            <a:custGeom>
              <a:avLst/>
              <a:gdLst>
                <a:gd name="T0" fmla="*/ 0 w 122"/>
                <a:gd name="T1" fmla="*/ 0 h 110"/>
                <a:gd name="T2" fmla="*/ 2 w 122"/>
                <a:gd name="T3" fmla="*/ 3 h 110"/>
                <a:gd name="T4" fmla="*/ 3 w 122"/>
                <a:gd name="T5" fmla="*/ 4 h 110"/>
                <a:gd name="T6" fmla="*/ 5 w 122"/>
                <a:gd name="T7" fmla="*/ 4 h 110"/>
                <a:gd name="T8" fmla="*/ 0 60000 65536"/>
                <a:gd name="T9" fmla="*/ 0 60000 65536"/>
                <a:gd name="T10" fmla="*/ 0 60000 65536"/>
                <a:gd name="T11" fmla="*/ 0 60000 65536"/>
                <a:gd name="T12" fmla="*/ 0 w 122"/>
                <a:gd name="T13" fmla="*/ 0 h 110"/>
                <a:gd name="T14" fmla="*/ 122 w 122"/>
                <a:gd name="T15" fmla="*/ 110 h 110"/>
              </a:gdLst>
              <a:ahLst/>
              <a:cxnLst>
                <a:cxn ang="T8">
                  <a:pos x="T0" y="T1"/>
                </a:cxn>
                <a:cxn ang="T9">
                  <a:pos x="T2" y="T3"/>
                </a:cxn>
                <a:cxn ang="T10">
                  <a:pos x="T4" y="T5"/>
                </a:cxn>
                <a:cxn ang="T11">
                  <a:pos x="T6" y="T7"/>
                </a:cxn>
              </a:cxnLst>
              <a:rect l="T12" t="T13" r="T14" b="T15"/>
              <a:pathLst>
                <a:path w="122" h="110">
                  <a:moveTo>
                    <a:pt x="0" y="0"/>
                  </a:moveTo>
                  <a:lnTo>
                    <a:pt x="45" y="64"/>
                  </a:lnTo>
                  <a:lnTo>
                    <a:pt x="64" y="103"/>
                  </a:lnTo>
                  <a:lnTo>
                    <a:pt x="121" y="109"/>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39" name="Freeform 65"/>
            <p:cNvSpPr>
              <a:spLocks/>
            </p:cNvSpPr>
            <p:nvPr/>
          </p:nvSpPr>
          <p:spPr bwMode="auto">
            <a:xfrm>
              <a:off x="1014" y="1043"/>
              <a:ext cx="28" cy="16"/>
            </a:xfrm>
            <a:custGeom>
              <a:avLst/>
              <a:gdLst>
                <a:gd name="T0" fmla="*/ 0 w 84"/>
                <a:gd name="T1" fmla="*/ 0 h 46"/>
                <a:gd name="T2" fmla="*/ 2 w 84"/>
                <a:gd name="T3" fmla="*/ 1 h 46"/>
                <a:gd name="T4" fmla="*/ 3 w 84"/>
                <a:gd name="T5" fmla="*/ 2 h 46"/>
                <a:gd name="T6" fmla="*/ 0 60000 65536"/>
                <a:gd name="T7" fmla="*/ 0 60000 65536"/>
                <a:gd name="T8" fmla="*/ 0 60000 65536"/>
                <a:gd name="T9" fmla="*/ 0 w 84"/>
                <a:gd name="T10" fmla="*/ 0 h 46"/>
                <a:gd name="T11" fmla="*/ 84 w 84"/>
                <a:gd name="T12" fmla="*/ 46 h 46"/>
              </a:gdLst>
              <a:ahLst/>
              <a:cxnLst>
                <a:cxn ang="T6">
                  <a:pos x="T0" y="T1"/>
                </a:cxn>
                <a:cxn ang="T7">
                  <a:pos x="T2" y="T3"/>
                </a:cxn>
                <a:cxn ang="T8">
                  <a:pos x="T4" y="T5"/>
                </a:cxn>
              </a:cxnLst>
              <a:rect l="T9" t="T10" r="T11" b="T12"/>
              <a:pathLst>
                <a:path w="84" h="46">
                  <a:moveTo>
                    <a:pt x="0" y="0"/>
                  </a:moveTo>
                  <a:lnTo>
                    <a:pt x="45" y="26"/>
                  </a:lnTo>
                  <a:lnTo>
                    <a:pt x="83" y="4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40" name="Freeform 66"/>
            <p:cNvSpPr>
              <a:spLocks/>
            </p:cNvSpPr>
            <p:nvPr/>
          </p:nvSpPr>
          <p:spPr bwMode="auto">
            <a:xfrm>
              <a:off x="966" y="1073"/>
              <a:ext cx="42" cy="9"/>
            </a:xfrm>
            <a:custGeom>
              <a:avLst/>
              <a:gdLst>
                <a:gd name="T0" fmla="*/ 0 w 123"/>
                <a:gd name="T1" fmla="*/ 0 h 26"/>
                <a:gd name="T2" fmla="*/ 3 w 123"/>
                <a:gd name="T3" fmla="*/ 1 h 26"/>
                <a:gd name="T4" fmla="*/ 5 w 123"/>
                <a:gd name="T5" fmla="*/ 1 h 26"/>
                <a:gd name="T6" fmla="*/ 0 60000 65536"/>
                <a:gd name="T7" fmla="*/ 0 60000 65536"/>
                <a:gd name="T8" fmla="*/ 0 60000 65536"/>
                <a:gd name="T9" fmla="*/ 0 w 123"/>
                <a:gd name="T10" fmla="*/ 0 h 26"/>
                <a:gd name="T11" fmla="*/ 123 w 123"/>
                <a:gd name="T12" fmla="*/ 26 h 26"/>
              </a:gdLst>
              <a:ahLst/>
              <a:cxnLst>
                <a:cxn ang="T6">
                  <a:pos x="T0" y="T1"/>
                </a:cxn>
                <a:cxn ang="T7">
                  <a:pos x="T2" y="T3"/>
                </a:cxn>
                <a:cxn ang="T8">
                  <a:pos x="T4" y="T5"/>
                </a:cxn>
              </a:cxnLst>
              <a:rect l="T9" t="T10" r="T11" b="T12"/>
              <a:pathLst>
                <a:path w="123" h="26">
                  <a:moveTo>
                    <a:pt x="0" y="0"/>
                  </a:moveTo>
                  <a:lnTo>
                    <a:pt x="70" y="25"/>
                  </a:lnTo>
                  <a:lnTo>
                    <a:pt x="122" y="2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41" name="Freeform 67"/>
            <p:cNvSpPr>
              <a:spLocks/>
            </p:cNvSpPr>
            <p:nvPr/>
          </p:nvSpPr>
          <p:spPr bwMode="auto">
            <a:xfrm>
              <a:off x="1031" y="1099"/>
              <a:ext cx="39" cy="11"/>
            </a:xfrm>
            <a:custGeom>
              <a:avLst/>
              <a:gdLst>
                <a:gd name="T0" fmla="*/ 0 w 116"/>
                <a:gd name="T1" fmla="*/ 0 h 33"/>
                <a:gd name="T2" fmla="*/ 2 w 116"/>
                <a:gd name="T3" fmla="*/ 0 h 33"/>
                <a:gd name="T4" fmla="*/ 4 w 116"/>
                <a:gd name="T5" fmla="*/ 1 h 33"/>
                <a:gd name="T6" fmla="*/ 0 60000 65536"/>
                <a:gd name="T7" fmla="*/ 0 60000 65536"/>
                <a:gd name="T8" fmla="*/ 0 60000 65536"/>
                <a:gd name="T9" fmla="*/ 0 w 116"/>
                <a:gd name="T10" fmla="*/ 0 h 33"/>
                <a:gd name="T11" fmla="*/ 116 w 116"/>
                <a:gd name="T12" fmla="*/ 33 h 33"/>
              </a:gdLst>
              <a:ahLst/>
              <a:cxnLst>
                <a:cxn ang="T6">
                  <a:pos x="T0" y="T1"/>
                </a:cxn>
                <a:cxn ang="T7">
                  <a:pos x="T2" y="T3"/>
                </a:cxn>
                <a:cxn ang="T8">
                  <a:pos x="T4" y="T5"/>
                </a:cxn>
              </a:cxnLst>
              <a:rect l="T9" t="T10" r="T11" b="T12"/>
              <a:pathLst>
                <a:path w="116" h="33">
                  <a:moveTo>
                    <a:pt x="0" y="0"/>
                  </a:moveTo>
                  <a:lnTo>
                    <a:pt x="58" y="12"/>
                  </a:lnTo>
                  <a:lnTo>
                    <a:pt x="115"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42" name="Freeform 68"/>
            <p:cNvSpPr>
              <a:spLocks/>
            </p:cNvSpPr>
            <p:nvPr/>
          </p:nvSpPr>
          <p:spPr bwMode="auto">
            <a:xfrm>
              <a:off x="1022" y="1073"/>
              <a:ext cx="31" cy="53"/>
            </a:xfrm>
            <a:custGeom>
              <a:avLst/>
              <a:gdLst>
                <a:gd name="T0" fmla="*/ 0 w 91"/>
                <a:gd name="T1" fmla="*/ 0 h 154"/>
                <a:gd name="T2" fmla="*/ 2 w 91"/>
                <a:gd name="T3" fmla="*/ 4 h 154"/>
                <a:gd name="T4" fmla="*/ 4 w 91"/>
                <a:gd name="T5" fmla="*/ 6 h 154"/>
                <a:gd name="T6" fmla="*/ 0 60000 65536"/>
                <a:gd name="T7" fmla="*/ 0 60000 65536"/>
                <a:gd name="T8" fmla="*/ 0 60000 65536"/>
                <a:gd name="T9" fmla="*/ 0 w 91"/>
                <a:gd name="T10" fmla="*/ 0 h 154"/>
                <a:gd name="T11" fmla="*/ 91 w 91"/>
                <a:gd name="T12" fmla="*/ 154 h 154"/>
              </a:gdLst>
              <a:ahLst/>
              <a:cxnLst>
                <a:cxn ang="T6">
                  <a:pos x="T0" y="T1"/>
                </a:cxn>
                <a:cxn ang="T7">
                  <a:pos x="T2" y="T3"/>
                </a:cxn>
                <a:cxn ang="T8">
                  <a:pos x="T4" y="T5"/>
                </a:cxn>
              </a:cxnLst>
              <a:rect l="T9" t="T10" r="T11" b="T12"/>
              <a:pathLst>
                <a:path w="91" h="154">
                  <a:moveTo>
                    <a:pt x="0" y="0"/>
                  </a:moveTo>
                  <a:lnTo>
                    <a:pt x="58" y="89"/>
                  </a:lnTo>
                  <a:lnTo>
                    <a:pt x="90" y="153"/>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43" name="Freeform 69"/>
            <p:cNvSpPr>
              <a:spLocks/>
            </p:cNvSpPr>
            <p:nvPr/>
          </p:nvSpPr>
          <p:spPr bwMode="auto">
            <a:xfrm>
              <a:off x="803" y="791"/>
              <a:ext cx="27" cy="39"/>
            </a:xfrm>
            <a:custGeom>
              <a:avLst/>
              <a:gdLst>
                <a:gd name="T0" fmla="*/ 0 w 78"/>
                <a:gd name="T1" fmla="*/ 0 h 116"/>
                <a:gd name="T2" fmla="*/ 1 w 78"/>
                <a:gd name="T3" fmla="*/ 3 h 116"/>
                <a:gd name="T4" fmla="*/ 3 w 78"/>
                <a:gd name="T5" fmla="*/ 4 h 116"/>
                <a:gd name="T6" fmla="*/ 0 60000 65536"/>
                <a:gd name="T7" fmla="*/ 0 60000 65536"/>
                <a:gd name="T8" fmla="*/ 0 60000 65536"/>
                <a:gd name="T9" fmla="*/ 0 w 78"/>
                <a:gd name="T10" fmla="*/ 0 h 116"/>
                <a:gd name="T11" fmla="*/ 78 w 78"/>
                <a:gd name="T12" fmla="*/ 116 h 116"/>
              </a:gdLst>
              <a:ahLst/>
              <a:cxnLst>
                <a:cxn ang="T6">
                  <a:pos x="T0" y="T1"/>
                </a:cxn>
                <a:cxn ang="T7">
                  <a:pos x="T2" y="T3"/>
                </a:cxn>
                <a:cxn ang="T8">
                  <a:pos x="T4" y="T5"/>
                </a:cxn>
              </a:cxnLst>
              <a:rect l="T9" t="T10" r="T11" b="T12"/>
              <a:pathLst>
                <a:path w="78" h="116">
                  <a:moveTo>
                    <a:pt x="0" y="0"/>
                  </a:moveTo>
                  <a:lnTo>
                    <a:pt x="38" y="70"/>
                  </a:lnTo>
                  <a:lnTo>
                    <a:pt x="77" y="11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44" name="Freeform 70"/>
            <p:cNvSpPr>
              <a:spLocks/>
            </p:cNvSpPr>
            <p:nvPr/>
          </p:nvSpPr>
          <p:spPr bwMode="auto">
            <a:xfrm>
              <a:off x="849" y="778"/>
              <a:ext cx="20" cy="50"/>
            </a:xfrm>
            <a:custGeom>
              <a:avLst/>
              <a:gdLst>
                <a:gd name="T0" fmla="*/ 0 w 59"/>
                <a:gd name="T1" fmla="*/ 0 h 149"/>
                <a:gd name="T2" fmla="*/ 1 w 59"/>
                <a:gd name="T3" fmla="*/ 2 h 149"/>
                <a:gd name="T4" fmla="*/ 2 w 59"/>
                <a:gd name="T5" fmla="*/ 6 h 149"/>
                <a:gd name="T6" fmla="*/ 0 60000 65536"/>
                <a:gd name="T7" fmla="*/ 0 60000 65536"/>
                <a:gd name="T8" fmla="*/ 0 60000 65536"/>
                <a:gd name="T9" fmla="*/ 0 w 59"/>
                <a:gd name="T10" fmla="*/ 0 h 149"/>
                <a:gd name="T11" fmla="*/ 59 w 59"/>
                <a:gd name="T12" fmla="*/ 149 h 149"/>
              </a:gdLst>
              <a:ahLst/>
              <a:cxnLst>
                <a:cxn ang="T6">
                  <a:pos x="T0" y="T1"/>
                </a:cxn>
                <a:cxn ang="T7">
                  <a:pos x="T2" y="T3"/>
                </a:cxn>
                <a:cxn ang="T8">
                  <a:pos x="T4" y="T5"/>
                </a:cxn>
              </a:cxnLst>
              <a:rect l="T9" t="T10" r="T11" b="T12"/>
              <a:pathLst>
                <a:path w="59" h="149">
                  <a:moveTo>
                    <a:pt x="0" y="0"/>
                  </a:moveTo>
                  <a:lnTo>
                    <a:pt x="26" y="64"/>
                  </a:lnTo>
                  <a:lnTo>
                    <a:pt x="58" y="14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45" name="Freeform 71"/>
            <p:cNvSpPr>
              <a:spLocks/>
            </p:cNvSpPr>
            <p:nvPr/>
          </p:nvSpPr>
          <p:spPr bwMode="auto">
            <a:xfrm>
              <a:off x="918" y="767"/>
              <a:ext cx="57" cy="13"/>
            </a:xfrm>
            <a:custGeom>
              <a:avLst/>
              <a:gdLst>
                <a:gd name="T0" fmla="*/ 6 w 168"/>
                <a:gd name="T1" fmla="*/ 0 h 40"/>
                <a:gd name="T2" fmla="*/ 5 w 168"/>
                <a:gd name="T3" fmla="*/ 1 h 40"/>
                <a:gd name="T4" fmla="*/ 2 w 168"/>
                <a:gd name="T5" fmla="*/ 1 h 40"/>
                <a:gd name="T6" fmla="*/ 0 w 168"/>
                <a:gd name="T7" fmla="*/ 1 h 40"/>
                <a:gd name="T8" fmla="*/ 0 60000 65536"/>
                <a:gd name="T9" fmla="*/ 0 60000 65536"/>
                <a:gd name="T10" fmla="*/ 0 60000 65536"/>
                <a:gd name="T11" fmla="*/ 0 60000 65536"/>
                <a:gd name="T12" fmla="*/ 0 w 168"/>
                <a:gd name="T13" fmla="*/ 0 h 40"/>
                <a:gd name="T14" fmla="*/ 168 w 168"/>
                <a:gd name="T15" fmla="*/ 40 h 40"/>
              </a:gdLst>
              <a:ahLst/>
              <a:cxnLst>
                <a:cxn ang="T8">
                  <a:pos x="T0" y="T1"/>
                </a:cxn>
                <a:cxn ang="T9">
                  <a:pos x="T2" y="T3"/>
                </a:cxn>
                <a:cxn ang="T10">
                  <a:pos x="T4" y="T5"/>
                </a:cxn>
                <a:cxn ang="T11">
                  <a:pos x="T6" y="T7"/>
                </a:cxn>
              </a:cxnLst>
              <a:rect l="T12" t="T13" r="T14" b="T15"/>
              <a:pathLst>
                <a:path w="168" h="40">
                  <a:moveTo>
                    <a:pt x="167" y="0"/>
                  </a:moveTo>
                  <a:lnTo>
                    <a:pt x="122" y="26"/>
                  </a:lnTo>
                  <a:lnTo>
                    <a:pt x="51" y="32"/>
                  </a:lnTo>
                  <a:lnTo>
                    <a:pt x="0" y="39"/>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46" name="Freeform 72"/>
            <p:cNvSpPr>
              <a:spLocks/>
            </p:cNvSpPr>
            <p:nvPr/>
          </p:nvSpPr>
          <p:spPr bwMode="auto">
            <a:xfrm>
              <a:off x="910" y="778"/>
              <a:ext cx="0" cy="18"/>
            </a:xfrm>
            <a:custGeom>
              <a:avLst/>
              <a:gdLst>
                <a:gd name="T0" fmla="*/ 0 w 1"/>
                <a:gd name="T1" fmla="*/ 0 h 53"/>
                <a:gd name="T2" fmla="*/ 0 w 1"/>
                <a:gd name="T3" fmla="*/ 2 h 53"/>
                <a:gd name="T4" fmla="*/ 0 60000 65536"/>
                <a:gd name="T5" fmla="*/ 0 60000 65536"/>
                <a:gd name="T6" fmla="*/ 0 w 1"/>
                <a:gd name="T7" fmla="*/ 0 h 53"/>
                <a:gd name="T8" fmla="*/ 0 w 1"/>
                <a:gd name="T9" fmla="*/ 53 h 53"/>
              </a:gdLst>
              <a:ahLst/>
              <a:cxnLst>
                <a:cxn ang="T4">
                  <a:pos x="T0" y="T1"/>
                </a:cxn>
                <a:cxn ang="T5">
                  <a:pos x="T2" y="T3"/>
                </a:cxn>
              </a:cxnLst>
              <a:rect l="T6" t="T7" r="T8" b="T9"/>
              <a:pathLst>
                <a:path w="1" h="53">
                  <a:moveTo>
                    <a:pt x="0" y="0"/>
                  </a:moveTo>
                  <a:lnTo>
                    <a:pt x="0" y="5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47" name="Freeform 73"/>
            <p:cNvSpPr>
              <a:spLocks/>
            </p:cNvSpPr>
            <p:nvPr/>
          </p:nvSpPr>
          <p:spPr bwMode="auto">
            <a:xfrm>
              <a:off x="1290" y="865"/>
              <a:ext cx="123" cy="113"/>
            </a:xfrm>
            <a:custGeom>
              <a:avLst/>
              <a:gdLst>
                <a:gd name="T0" fmla="*/ 0 w 365"/>
                <a:gd name="T1" fmla="*/ 0 h 334"/>
                <a:gd name="T2" fmla="*/ 2 w 365"/>
                <a:gd name="T3" fmla="*/ 2 h 334"/>
                <a:gd name="T4" fmla="*/ 3 w 365"/>
                <a:gd name="T5" fmla="*/ 5 h 334"/>
                <a:gd name="T6" fmla="*/ 4 w 365"/>
                <a:gd name="T7" fmla="*/ 8 h 334"/>
                <a:gd name="T8" fmla="*/ 6 w 365"/>
                <a:gd name="T9" fmla="*/ 10 h 334"/>
                <a:gd name="T10" fmla="*/ 9 w 365"/>
                <a:gd name="T11" fmla="*/ 11 h 334"/>
                <a:gd name="T12" fmla="*/ 10 w 365"/>
                <a:gd name="T13" fmla="*/ 12 h 334"/>
                <a:gd name="T14" fmla="*/ 12 w 365"/>
                <a:gd name="T15" fmla="*/ 13 h 334"/>
                <a:gd name="T16" fmla="*/ 14 w 365"/>
                <a:gd name="T17" fmla="*/ 13 h 3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5"/>
                <a:gd name="T28" fmla="*/ 0 h 334"/>
                <a:gd name="T29" fmla="*/ 365 w 365"/>
                <a:gd name="T30" fmla="*/ 334 h 3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5" h="334">
                  <a:moveTo>
                    <a:pt x="0" y="0"/>
                  </a:moveTo>
                  <a:lnTo>
                    <a:pt x="44" y="64"/>
                  </a:lnTo>
                  <a:lnTo>
                    <a:pt x="76" y="135"/>
                  </a:lnTo>
                  <a:lnTo>
                    <a:pt x="108" y="212"/>
                  </a:lnTo>
                  <a:lnTo>
                    <a:pt x="147" y="263"/>
                  </a:lnTo>
                  <a:lnTo>
                    <a:pt x="243" y="288"/>
                  </a:lnTo>
                  <a:lnTo>
                    <a:pt x="275" y="308"/>
                  </a:lnTo>
                  <a:lnTo>
                    <a:pt x="313" y="320"/>
                  </a:lnTo>
                  <a:lnTo>
                    <a:pt x="364" y="333"/>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48" name="Freeform 74"/>
            <p:cNvSpPr>
              <a:spLocks/>
            </p:cNvSpPr>
            <p:nvPr/>
          </p:nvSpPr>
          <p:spPr bwMode="auto">
            <a:xfrm>
              <a:off x="1226" y="1336"/>
              <a:ext cx="97" cy="20"/>
            </a:xfrm>
            <a:custGeom>
              <a:avLst/>
              <a:gdLst>
                <a:gd name="T0" fmla="*/ 0 w 283"/>
                <a:gd name="T1" fmla="*/ 0 h 58"/>
                <a:gd name="T2" fmla="*/ 2 w 283"/>
                <a:gd name="T3" fmla="*/ 0 h 58"/>
                <a:gd name="T4" fmla="*/ 4 w 283"/>
                <a:gd name="T5" fmla="*/ 1 h 58"/>
                <a:gd name="T6" fmla="*/ 7 w 283"/>
                <a:gd name="T7" fmla="*/ 2 h 58"/>
                <a:gd name="T8" fmla="*/ 11 w 283"/>
                <a:gd name="T9" fmla="*/ 2 h 58"/>
                <a:gd name="T10" fmla="*/ 0 60000 65536"/>
                <a:gd name="T11" fmla="*/ 0 60000 65536"/>
                <a:gd name="T12" fmla="*/ 0 60000 65536"/>
                <a:gd name="T13" fmla="*/ 0 60000 65536"/>
                <a:gd name="T14" fmla="*/ 0 60000 65536"/>
                <a:gd name="T15" fmla="*/ 0 w 283"/>
                <a:gd name="T16" fmla="*/ 0 h 58"/>
                <a:gd name="T17" fmla="*/ 283 w 283"/>
                <a:gd name="T18" fmla="*/ 58 h 58"/>
              </a:gdLst>
              <a:ahLst/>
              <a:cxnLst>
                <a:cxn ang="T10">
                  <a:pos x="T0" y="T1"/>
                </a:cxn>
                <a:cxn ang="T11">
                  <a:pos x="T2" y="T3"/>
                </a:cxn>
                <a:cxn ang="T12">
                  <a:pos x="T4" y="T5"/>
                </a:cxn>
                <a:cxn ang="T13">
                  <a:pos x="T6" y="T7"/>
                </a:cxn>
                <a:cxn ang="T14">
                  <a:pos x="T8" y="T9"/>
                </a:cxn>
              </a:cxnLst>
              <a:rect l="T15" t="T16" r="T17" b="T18"/>
              <a:pathLst>
                <a:path w="283" h="58">
                  <a:moveTo>
                    <a:pt x="0" y="0"/>
                  </a:moveTo>
                  <a:lnTo>
                    <a:pt x="45" y="7"/>
                  </a:lnTo>
                  <a:lnTo>
                    <a:pt x="102" y="26"/>
                  </a:lnTo>
                  <a:lnTo>
                    <a:pt x="179" y="45"/>
                  </a:lnTo>
                  <a:lnTo>
                    <a:pt x="282" y="5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49" name="Freeform 75"/>
            <p:cNvSpPr>
              <a:spLocks/>
            </p:cNvSpPr>
            <p:nvPr/>
          </p:nvSpPr>
          <p:spPr bwMode="auto">
            <a:xfrm>
              <a:off x="1339" y="954"/>
              <a:ext cx="77" cy="24"/>
            </a:xfrm>
            <a:custGeom>
              <a:avLst/>
              <a:gdLst>
                <a:gd name="T0" fmla="*/ 0 w 225"/>
                <a:gd name="T1" fmla="*/ 0 h 71"/>
                <a:gd name="T2" fmla="*/ 3 w 225"/>
                <a:gd name="T3" fmla="*/ 0 h 71"/>
                <a:gd name="T4" fmla="*/ 6 w 225"/>
                <a:gd name="T5" fmla="*/ 2 h 71"/>
                <a:gd name="T6" fmla="*/ 9 w 225"/>
                <a:gd name="T7" fmla="*/ 3 h 71"/>
                <a:gd name="T8" fmla="*/ 0 60000 65536"/>
                <a:gd name="T9" fmla="*/ 0 60000 65536"/>
                <a:gd name="T10" fmla="*/ 0 60000 65536"/>
                <a:gd name="T11" fmla="*/ 0 60000 65536"/>
                <a:gd name="T12" fmla="*/ 0 w 225"/>
                <a:gd name="T13" fmla="*/ 0 h 71"/>
                <a:gd name="T14" fmla="*/ 225 w 225"/>
                <a:gd name="T15" fmla="*/ 71 h 71"/>
              </a:gdLst>
              <a:ahLst/>
              <a:cxnLst>
                <a:cxn ang="T8">
                  <a:pos x="T0" y="T1"/>
                </a:cxn>
                <a:cxn ang="T9">
                  <a:pos x="T2" y="T3"/>
                </a:cxn>
                <a:cxn ang="T10">
                  <a:pos x="T4" y="T5"/>
                </a:cxn>
                <a:cxn ang="T11">
                  <a:pos x="T6" y="T7"/>
                </a:cxn>
              </a:cxnLst>
              <a:rect l="T12" t="T13" r="T14" b="T15"/>
              <a:pathLst>
                <a:path w="225" h="71">
                  <a:moveTo>
                    <a:pt x="0" y="0"/>
                  </a:moveTo>
                  <a:lnTo>
                    <a:pt x="89" y="13"/>
                  </a:lnTo>
                  <a:lnTo>
                    <a:pt x="147" y="51"/>
                  </a:lnTo>
                  <a:lnTo>
                    <a:pt x="224" y="7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50" name="Freeform 76"/>
            <p:cNvSpPr>
              <a:spLocks/>
            </p:cNvSpPr>
            <p:nvPr/>
          </p:nvSpPr>
          <p:spPr bwMode="auto">
            <a:xfrm>
              <a:off x="1394" y="995"/>
              <a:ext cx="43" cy="11"/>
            </a:xfrm>
            <a:custGeom>
              <a:avLst/>
              <a:gdLst>
                <a:gd name="T0" fmla="*/ 0 w 129"/>
                <a:gd name="T1" fmla="*/ 0 h 33"/>
                <a:gd name="T2" fmla="*/ 3 w 129"/>
                <a:gd name="T3" fmla="*/ 0 h 33"/>
                <a:gd name="T4" fmla="*/ 5 w 129"/>
                <a:gd name="T5" fmla="*/ 1 h 33"/>
                <a:gd name="T6" fmla="*/ 0 60000 65536"/>
                <a:gd name="T7" fmla="*/ 0 60000 65536"/>
                <a:gd name="T8" fmla="*/ 0 60000 65536"/>
                <a:gd name="T9" fmla="*/ 0 w 129"/>
                <a:gd name="T10" fmla="*/ 0 h 33"/>
                <a:gd name="T11" fmla="*/ 129 w 129"/>
                <a:gd name="T12" fmla="*/ 33 h 33"/>
              </a:gdLst>
              <a:ahLst/>
              <a:cxnLst>
                <a:cxn ang="T6">
                  <a:pos x="T0" y="T1"/>
                </a:cxn>
                <a:cxn ang="T7">
                  <a:pos x="T2" y="T3"/>
                </a:cxn>
                <a:cxn ang="T8">
                  <a:pos x="T4" y="T5"/>
                </a:cxn>
              </a:cxnLst>
              <a:rect l="T9" t="T10" r="T11" b="T12"/>
              <a:pathLst>
                <a:path w="129" h="33">
                  <a:moveTo>
                    <a:pt x="0" y="0"/>
                  </a:moveTo>
                  <a:lnTo>
                    <a:pt x="83" y="13"/>
                  </a:lnTo>
                  <a:lnTo>
                    <a:pt x="128"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51" name="Freeform 77"/>
            <p:cNvSpPr>
              <a:spLocks/>
            </p:cNvSpPr>
            <p:nvPr/>
          </p:nvSpPr>
          <p:spPr bwMode="auto">
            <a:xfrm>
              <a:off x="1424" y="1008"/>
              <a:ext cx="13" cy="7"/>
            </a:xfrm>
            <a:custGeom>
              <a:avLst/>
              <a:gdLst>
                <a:gd name="T0" fmla="*/ 0 w 40"/>
                <a:gd name="T1" fmla="*/ 0 h 20"/>
                <a:gd name="T2" fmla="*/ 1 w 40"/>
                <a:gd name="T3" fmla="*/ 1 h 20"/>
                <a:gd name="T4" fmla="*/ 1 w 40"/>
                <a:gd name="T5" fmla="*/ 0 h 20"/>
                <a:gd name="T6" fmla="*/ 0 60000 65536"/>
                <a:gd name="T7" fmla="*/ 0 60000 65536"/>
                <a:gd name="T8" fmla="*/ 0 60000 65536"/>
                <a:gd name="T9" fmla="*/ 0 w 40"/>
                <a:gd name="T10" fmla="*/ 0 h 20"/>
                <a:gd name="T11" fmla="*/ 40 w 40"/>
                <a:gd name="T12" fmla="*/ 20 h 20"/>
              </a:gdLst>
              <a:ahLst/>
              <a:cxnLst>
                <a:cxn ang="T6">
                  <a:pos x="T0" y="T1"/>
                </a:cxn>
                <a:cxn ang="T7">
                  <a:pos x="T2" y="T3"/>
                </a:cxn>
                <a:cxn ang="T8">
                  <a:pos x="T4" y="T5"/>
                </a:cxn>
              </a:cxnLst>
              <a:rect l="T9" t="T10" r="T11" b="T12"/>
              <a:pathLst>
                <a:path w="40" h="20">
                  <a:moveTo>
                    <a:pt x="0" y="6"/>
                  </a:moveTo>
                  <a:lnTo>
                    <a:pt x="32" y="19"/>
                  </a:lnTo>
                  <a:lnTo>
                    <a:pt x="39"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52" name="Freeform 78"/>
            <p:cNvSpPr>
              <a:spLocks/>
            </p:cNvSpPr>
            <p:nvPr/>
          </p:nvSpPr>
          <p:spPr bwMode="auto">
            <a:xfrm>
              <a:off x="1459" y="1054"/>
              <a:ext cx="102" cy="54"/>
            </a:xfrm>
            <a:custGeom>
              <a:avLst/>
              <a:gdLst>
                <a:gd name="T0" fmla="*/ 0 w 302"/>
                <a:gd name="T1" fmla="*/ 0 h 161"/>
                <a:gd name="T2" fmla="*/ 2 w 302"/>
                <a:gd name="T3" fmla="*/ 1 h 161"/>
                <a:gd name="T4" fmla="*/ 4 w 302"/>
                <a:gd name="T5" fmla="*/ 1 h 161"/>
                <a:gd name="T6" fmla="*/ 6 w 302"/>
                <a:gd name="T7" fmla="*/ 1 h 161"/>
                <a:gd name="T8" fmla="*/ 8 w 302"/>
                <a:gd name="T9" fmla="*/ 2 h 161"/>
                <a:gd name="T10" fmla="*/ 9 w 302"/>
                <a:gd name="T11" fmla="*/ 3 h 161"/>
                <a:gd name="T12" fmla="*/ 10 w 302"/>
                <a:gd name="T13" fmla="*/ 5 h 161"/>
                <a:gd name="T14" fmla="*/ 11 w 302"/>
                <a:gd name="T15" fmla="*/ 6 h 161"/>
                <a:gd name="T16" fmla="*/ 0 60000 65536"/>
                <a:gd name="T17" fmla="*/ 0 60000 65536"/>
                <a:gd name="T18" fmla="*/ 0 60000 65536"/>
                <a:gd name="T19" fmla="*/ 0 60000 65536"/>
                <a:gd name="T20" fmla="*/ 0 60000 65536"/>
                <a:gd name="T21" fmla="*/ 0 60000 65536"/>
                <a:gd name="T22" fmla="*/ 0 60000 65536"/>
                <a:gd name="T23" fmla="*/ 0 60000 65536"/>
                <a:gd name="T24" fmla="*/ 0 w 302"/>
                <a:gd name="T25" fmla="*/ 0 h 161"/>
                <a:gd name="T26" fmla="*/ 302 w 302"/>
                <a:gd name="T27" fmla="*/ 161 h 16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2" h="161">
                  <a:moveTo>
                    <a:pt x="0" y="0"/>
                  </a:moveTo>
                  <a:lnTo>
                    <a:pt x="57" y="19"/>
                  </a:lnTo>
                  <a:lnTo>
                    <a:pt x="102" y="19"/>
                  </a:lnTo>
                  <a:lnTo>
                    <a:pt x="160" y="32"/>
                  </a:lnTo>
                  <a:lnTo>
                    <a:pt x="198" y="51"/>
                  </a:lnTo>
                  <a:lnTo>
                    <a:pt x="243" y="83"/>
                  </a:lnTo>
                  <a:lnTo>
                    <a:pt x="262" y="128"/>
                  </a:lnTo>
                  <a:lnTo>
                    <a:pt x="301" y="16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53" name="Freeform 79"/>
            <p:cNvSpPr>
              <a:spLocks/>
            </p:cNvSpPr>
            <p:nvPr/>
          </p:nvSpPr>
          <p:spPr bwMode="auto">
            <a:xfrm>
              <a:off x="1482" y="1071"/>
              <a:ext cx="53" cy="22"/>
            </a:xfrm>
            <a:custGeom>
              <a:avLst/>
              <a:gdLst>
                <a:gd name="T0" fmla="*/ 0 w 155"/>
                <a:gd name="T1" fmla="*/ 0 h 65"/>
                <a:gd name="T2" fmla="*/ 2 w 155"/>
                <a:gd name="T3" fmla="*/ 0 h 65"/>
                <a:gd name="T4" fmla="*/ 4 w 155"/>
                <a:gd name="T5" fmla="*/ 1 h 65"/>
                <a:gd name="T6" fmla="*/ 6 w 155"/>
                <a:gd name="T7" fmla="*/ 2 h 65"/>
                <a:gd name="T8" fmla="*/ 0 60000 65536"/>
                <a:gd name="T9" fmla="*/ 0 60000 65536"/>
                <a:gd name="T10" fmla="*/ 0 60000 65536"/>
                <a:gd name="T11" fmla="*/ 0 60000 65536"/>
                <a:gd name="T12" fmla="*/ 0 w 155"/>
                <a:gd name="T13" fmla="*/ 0 h 65"/>
                <a:gd name="T14" fmla="*/ 155 w 155"/>
                <a:gd name="T15" fmla="*/ 65 h 65"/>
              </a:gdLst>
              <a:ahLst/>
              <a:cxnLst>
                <a:cxn ang="T8">
                  <a:pos x="T0" y="T1"/>
                </a:cxn>
                <a:cxn ang="T9">
                  <a:pos x="T2" y="T3"/>
                </a:cxn>
                <a:cxn ang="T10">
                  <a:pos x="T4" y="T5"/>
                </a:cxn>
                <a:cxn ang="T11">
                  <a:pos x="T6" y="T7"/>
                </a:cxn>
              </a:cxnLst>
              <a:rect l="T12" t="T13" r="T14" b="T15"/>
              <a:pathLst>
                <a:path w="155" h="65">
                  <a:moveTo>
                    <a:pt x="0" y="0"/>
                  </a:moveTo>
                  <a:lnTo>
                    <a:pt x="51" y="13"/>
                  </a:lnTo>
                  <a:lnTo>
                    <a:pt x="96" y="32"/>
                  </a:lnTo>
                  <a:lnTo>
                    <a:pt x="154" y="64"/>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54" name="Freeform 80"/>
            <p:cNvSpPr>
              <a:spLocks/>
            </p:cNvSpPr>
            <p:nvPr/>
          </p:nvSpPr>
          <p:spPr bwMode="auto">
            <a:xfrm>
              <a:off x="1528" y="1139"/>
              <a:ext cx="61" cy="21"/>
            </a:xfrm>
            <a:custGeom>
              <a:avLst/>
              <a:gdLst>
                <a:gd name="T0" fmla="*/ 0 w 180"/>
                <a:gd name="T1" fmla="*/ 0 h 65"/>
                <a:gd name="T2" fmla="*/ 2 w 180"/>
                <a:gd name="T3" fmla="*/ 1 h 65"/>
                <a:gd name="T4" fmla="*/ 7 w 180"/>
                <a:gd name="T5" fmla="*/ 2 h 65"/>
                <a:gd name="T6" fmla="*/ 0 60000 65536"/>
                <a:gd name="T7" fmla="*/ 0 60000 65536"/>
                <a:gd name="T8" fmla="*/ 0 60000 65536"/>
                <a:gd name="T9" fmla="*/ 0 w 180"/>
                <a:gd name="T10" fmla="*/ 0 h 65"/>
                <a:gd name="T11" fmla="*/ 180 w 180"/>
                <a:gd name="T12" fmla="*/ 65 h 65"/>
              </a:gdLst>
              <a:ahLst/>
              <a:cxnLst>
                <a:cxn ang="T6">
                  <a:pos x="T0" y="T1"/>
                </a:cxn>
                <a:cxn ang="T7">
                  <a:pos x="T2" y="T3"/>
                </a:cxn>
                <a:cxn ang="T8">
                  <a:pos x="T4" y="T5"/>
                </a:cxn>
              </a:cxnLst>
              <a:rect l="T9" t="T10" r="T11" b="T12"/>
              <a:pathLst>
                <a:path w="180" h="65">
                  <a:moveTo>
                    <a:pt x="0" y="0"/>
                  </a:moveTo>
                  <a:lnTo>
                    <a:pt x="64" y="25"/>
                  </a:lnTo>
                  <a:lnTo>
                    <a:pt x="179" y="64"/>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55" name="Freeform 81"/>
            <p:cNvSpPr>
              <a:spLocks/>
            </p:cNvSpPr>
            <p:nvPr/>
          </p:nvSpPr>
          <p:spPr bwMode="auto">
            <a:xfrm>
              <a:off x="1589" y="1243"/>
              <a:ext cx="82" cy="13"/>
            </a:xfrm>
            <a:custGeom>
              <a:avLst/>
              <a:gdLst>
                <a:gd name="T0" fmla="*/ 0 w 243"/>
                <a:gd name="T1" fmla="*/ 0 h 39"/>
                <a:gd name="T2" fmla="*/ 6 w 243"/>
                <a:gd name="T3" fmla="*/ 1 h 39"/>
                <a:gd name="T4" fmla="*/ 9 w 243"/>
                <a:gd name="T5" fmla="*/ 1 h 39"/>
                <a:gd name="T6" fmla="*/ 0 60000 65536"/>
                <a:gd name="T7" fmla="*/ 0 60000 65536"/>
                <a:gd name="T8" fmla="*/ 0 60000 65536"/>
                <a:gd name="T9" fmla="*/ 0 w 243"/>
                <a:gd name="T10" fmla="*/ 0 h 39"/>
                <a:gd name="T11" fmla="*/ 243 w 243"/>
                <a:gd name="T12" fmla="*/ 39 h 39"/>
              </a:gdLst>
              <a:ahLst/>
              <a:cxnLst>
                <a:cxn ang="T6">
                  <a:pos x="T0" y="T1"/>
                </a:cxn>
                <a:cxn ang="T7">
                  <a:pos x="T2" y="T3"/>
                </a:cxn>
                <a:cxn ang="T8">
                  <a:pos x="T4" y="T5"/>
                </a:cxn>
              </a:cxnLst>
              <a:rect l="T9" t="T10" r="T11" b="T12"/>
              <a:pathLst>
                <a:path w="243" h="39">
                  <a:moveTo>
                    <a:pt x="0" y="0"/>
                  </a:moveTo>
                  <a:lnTo>
                    <a:pt x="153" y="38"/>
                  </a:lnTo>
                  <a:lnTo>
                    <a:pt x="242" y="3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56" name="Freeform 82"/>
            <p:cNvSpPr>
              <a:spLocks/>
            </p:cNvSpPr>
            <p:nvPr/>
          </p:nvSpPr>
          <p:spPr bwMode="auto">
            <a:xfrm>
              <a:off x="1010" y="740"/>
              <a:ext cx="11" cy="53"/>
            </a:xfrm>
            <a:custGeom>
              <a:avLst/>
              <a:gdLst>
                <a:gd name="T0" fmla="*/ 0 w 31"/>
                <a:gd name="T1" fmla="*/ 0 h 158"/>
                <a:gd name="T2" fmla="*/ 1 w 31"/>
                <a:gd name="T3" fmla="*/ 2 h 158"/>
                <a:gd name="T4" fmla="*/ 1 w 31"/>
                <a:gd name="T5" fmla="*/ 4 h 158"/>
                <a:gd name="T6" fmla="*/ 1 w 31"/>
                <a:gd name="T7" fmla="*/ 6 h 158"/>
                <a:gd name="T8" fmla="*/ 0 60000 65536"/>
                <a:gd name="T9" fmla="*/ 0 60000 65536"/>
                <a:gd name="T10" fmla="*/ 0 60000 65536"/>
                <a:gd name="T11" fmla="*/ 0 60000 65536"/>
                <a:gd name="T12" fmla="*/ 0 w 31"/>
                <a:gd name="T13" fmla="*/ 0 h 158"/>
                <a:gd name="T14" fmla="*/ 31 w 31"/>
                <a:gd name="T15" fmla="*/ 158 h 158"/>
              </a:gdLst>
              <a:ahLst/>
              <a:cxnLst>
                <a:cxn ang="T8">
                  <a:pos x="T0" y="T1"/>
                </a:cxn>
                <a:cxn ang="T9">
                  <a:pos x="T2" y="T3"/>
                </a:cxn>
                <a:cxn ang="T10">
                  <a:pos x="T4" y="T5"/>
                </a:cxn>
                <a:cxn ang="T11">
                  <a:pos x="T6" y="T7"/>
                </a:cxn>
              </a:cxnLst>
              <a:rect l="T12" t="T13" r="T14" b="T15"/>
              <a:pathLst>
                <a:path w="31" h="158">
                  <a:moveTo>
                    <a:pt x="0" y="0"/>
                  </a:moveTo>
                  <a:lnTo>
                    <a:pt x="19" y="45"/>
                  </a:lnTo>
                  <a:lnTo>
                    <a:pt x="17" y="100"/>
                  </a:lnTo>
                  <a:lnTo>
                    <a:pt x="30" y="15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57" name="Freeform 83"/>
            <p:cNvSpPr>
              <a:spLocks/>
            </p:cNvSpPr>
            <p:nvPr/>
          </p:nvSpPr>
          <p:spPr bwMode="auto">
            <a:xfrm>
              <a:off x="1021" y="736"/>
              <a:ext cx="6" cy="53"/>
            </a:xfrm>
            <a:custGeom>
              <a:avLst/>
              <a:gdLst>
                <a:gd name="T0" fmla="*/ 0 w 19"/>
                <a:gd name="T1" fmla="*/ 0 h 157"/>
                <a:gd name="T2" fmla="*/ 0 w 19"/>
                <a:gd name="T3" fmla="*/ 2 h 157"/>
                <a:gd name="T4" fmla="*/ 0 w 19"/>
                <a:gd name="T5" fmla="*/ 4 h 157"/>
                <a:gd name="T6" fmla="*/ 1 w 19"/>
                <a:gd name="T7" fmla="*/ 6 h 157"/>
                <a:gd name="T8" fmla="*/ 0 60000 65536"/>
                <a:gd name="T9" fmla="*/ 0 60000 65536"/>
                <a:gd name="T10" fmla="*/ 0 60000 65536"/>
                <a:gd name="T11" fmla="*/ 0 60000 65536"/>
                <a:gd name="T12" fmla="*/ 0 w 19"/>
                <a:gd name="T13" fmla="*/ 0 h 157"/>
                <a:gd name="T14" fmla="*/ 19 w 19"/>
                <a:gd name="T15" fmla="*/ 157 h 157"/>
              </a:gdLst>
              <a:ahLst/>
              <a:cxnLst>
                <a:cxn ang="T8">
                  <a:pos x="T0" y="T1"/>
                </a:cxn>
                <a:cxn ang="T9">
                  <a:pos x="T2" y="T3"/>
                </a:cxn>
                <a:cxn ang="T10">
                  <a:pos x="T4" y="T5"/>
                </a:cxn>
                <a:cxn ang="T11">
                  <a:pos x="T6" y="T7"/>
                </a:cxn>
              </a:cxnLst>
              <a:rect l="T12" t="T13" r="T14" b="T15"/>
              <a:pathLst>
                <a:path w="19" h="157">
                  <a:moveTo>
                    <a:pt x="0" y="0"/>
                  </a:moveTo>
                  <a:lnTo>
                    <a:pt x="0" y="52"/>
                  </a:lnTo>
                  <a:lnTo>
                    <a:pt x="14" y="103"/>
                  </a:lnTo>
                  <a:lnTo>
                    <a:pt x="18" y="15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58" name="Freeform 84"/>
            <p:cNvSpPr>
              <a:spLocks/>
            </p:cNvSpPr>
            <p:nvPr/>
          </p:nvSpPr>
          <p:spPr bwMode="auto">
            <a:xfrm>
              <a:off x="1141" y="685"/>
              <a:ext cx="25" cy="48"/>
            </a:xfrm>
            <a:custGeom>
              <a:avLst/>
              <a:gdLst>
                <a:gd name="T0" fmla="*/ 0 w 72"/>
                <a:gd name="T1" fmla="*/ 0 h 140"/>
                <a:gd name="T2" fmla="*/ 1 w 72"/>
                <a:gd name="T3" fmla="*/ 1 h 140"/>
                <a:gd name="T4" fmla="*/ 2 w 72"/>
                <a:gd name="T5" fmla="*/ 3 h 140"/>
                <a:gd name="T6" fmla="*/ 2 w 72"/>
                <a:gd name="T7" fmla="*/ 4 h 140"/>
                <a:gd name="T8" fmla="*/ 2 w 72"/>
                <a:gd name="T9" fmla="*/ 5 h 140"/>
                <a:gd name="T10" fmla="*/ 3 w 72"/>
                <a:gd name="T11" fmla="*/ 5 h 140"/>
                <a:gd name="T12" fmla="*/ 3 w 72"/>
                <a:gd name="T13" fmla="*/ 3 h 140"/>
                <a:gd name="T14" fmla="*/ 2 w 72"/>
                <a:gd name="T15" fmla="*/ 1 h 140"/>
                <a:gd name="T16" fmla="*/ 1 w 72"/>
                <a:gd name="T17" fmla="*/ 0 h 1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140"/>
                <a:gd name="T29" fmla="*/ 72 w 72"/>
                <a:gd name="T30" fmla="*/ 140 h 1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140">
                  <a:moveTo>
                    <a:pt x="0" y="5"/>
                  </a:moveTo>
                  <a:lnTo>
                    <a:pt x="32" y="37"/>
                  </a:lnTo>
                  <a:lnTo>
                    <a:pt x="39" y="75"/>
                  </a:lnTo>
                  <a:lnTo>
                    <a:pt x="52" y="113"/>
                  </a:lnTo>
                  <a:lnTo>
                    <a:pt x="52" y="139"/>
                  </a:lnTo>
                  <a:lnTo>
                    <a:pt x="71" y="126"/>
                  </a:lnTo>
                  <a:lnTo>
                    <a:pt x="64" y="69"/>
                  </a:lnTo>
                  <a:lnTo>
                    <a:pt x="51" y="29"/>
                  </a:lnTo>
                  <a:lnTo>
                    <a:pt x="3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59" name="Freeform 85"/>
            <p:cNvSpPr>
              <a:spLocks/>
            </p:cNvSpPr>
            <p:nvPr/>
          </p:nvSpPr>
          <p:spPr bwMode="auto">
            <a:xfrm>
              <a:off x="1251" y="637"/>
              <a:ext cx="6" cy="57"/>
            </a:xfrm>
            <a:custGeom>
              <a:avLst/>
              <a:gdLst>
                <a:gd name="T0" fmla="*/ 0 w 17"/>
                <a:gd name="T1" fmla="*/ 0 h 167"/>
                <a:gd name="T2" fmla="*/ 0 w 17"/>
                <a:gd name="T3" fmla="*/ 3 h 167"/>
                <a:gd name="T4" fmla="*/ 0 w 17"/>
                <a:gd name="T5" fmla="*/ 4 h 167"/>
                <a:gd name="T6" fmla="*/ 1 w 17"/>
                <a:gd name="T7" fmla="*/ 6 h 167"/>
                <a:gd name="T8" fmla="*/ 0 60000 65536"/>
                <a:gd name="T9" fmla="*/ 0 60000 65536"/>
                <a:gd name="T10" fmla="*/ 0 60000 65536"/>
                <a:gd name="T11" fmla="*/ 0 60000 65536"/>
                <a:gd name="T12" fmla="*/ 0 w 17"/>
                <a:gd name="T13" fmla="*/ 0 h 167"/>
                <a:gd name="T14" fmla="*/ 17 w 17"/>
                <a:gd name="T15" fmla="*/ 167 h 167"/>
              </a:gdLst>
              <a:ahLst/>
              <a:cxnLst>
                <a:cxn ang="T8">
                  <a:pos x="T0" y="T1"/>
                </a:cxn>
                <a:cxn ang="T9">
                  <a:pos x="T2" y="T3"/>
                </a:cxn>
                <a:cxn ang="T10">
                  <a:pos x="T4" y="T5"/>
                </a:cxn>
                <a:cxn ang="T11">
                  <a:pos x="T6" y="T7"/>
                </a:cxn>
              </a:cxnLst>
              <a:rect l="T12" t="T13" r="T14" b="T15"/>
              <a:pathLst>
                <a:path w="17" h="167">
                  <a:moveTo>
                    <a:pt x="0" y="0"/>
                  </a:moveTo>
                  <a:lnTo>
                    <a:pt x="0" y="65"/>
                  </a:lnTo>
                  <a:lnTo>
                    <a:pt x="8" y="115"/>
                  </a:lnTo>
                  <a:lnTo>
                    <a:pt x="16" y="16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60" name="Freeform 86"/>
            <p:cNvSpPr>
              <a:spLocks/>
            </p:cNvSpPr>
            <p:nvPr/>
          </p:nvSpPr>
          <p:spPr bwMode="auto">
            <a:xfrm>
              <a:off x="636" y="951"/>
              <a:ext cx="49" cy="18"/>
            </a:xfrm>
            <a:custGeom>
              <a:avLst/>
              <a:gdLst>
                <a:gd name="T0" fmla="*/ 0 w 145"/>
                <a:gd name="T1" fmla="*/ 0 h 52"/>
                <a:gd name="T2" fmla="*/ 2 w 145"/>
                <a:gd name="T3" fmla="*/ 1 h 52"/>
                <a:gd name="T4" fmla="*/ 4 w 145"/>
                <a:gd name="T5" fmla="*/ 1 h 52"/>
                <a:gd name="T6" fmla="*/ 6 w 145"/>
                <a:gd name="T7" fmla="*/ 2 h 52"/>
                <a:gd name="T8" fmla="*/ 0 60000 65536"/>
                <a:gd name="T9" fmla="*/ 0 60000 65536"/>
                <a:gd name="T10" fmla="*/ 0 60000 65536"/>
                <a:gd name="T11" fmla="*/ 0 60000 65536"/>
                <a:gd name="T12" fmla="*/ 0 w 145"/>
                <a:gd name="T13" fmla="*/ 0 h 52"/>
                <a:gd name="T14" fmla="*/ 145 w 145"/>
                <a:gd name="T15" fmla="*/ 52 h 52"/>
              </a:gdLst>
              <a:ahLst/>
              <a:cxnLst>
                <a:cxn ang="T8">
                  <a:pos x="T0" y="T1"/>
                </a:cxn>
                <a:cxn ang="T9">
                  <a:pos x="T2" y="T3"/>
                </a:cxn>
                <a:cxn ang="T10">
                  <a:pos x="T4" y="T5"/>
                </a:cxn>
                <a:cxn ang="T11">
                  <a:pos x="T6" y="T7"/>
                </a:cxn>
              </a:cxnLst>
              <a:rect l="T12" t="T13" r="T14" b="T15"/>
              <a:pathLst>
                <a:path w="145" h="52">
                  <a:moveTo>
                    <a:pt x="0" y="0"/>
                  </a:moveTo>
                  <a:lnTo>
                    <a:pt x="51" y="32"/>
                  </a:lnTo>
                  <a:lnTo>
                    <a:pt x="103" y="35"/>
                  </a:lnTo>
                  <a:lnTo>
                    <a:pt x="144" y="51"/>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61" name="Freeform 87"/>
            <p:cNvSpPr>
              <a:spLocks/>
            </p:cNvSpPr>
            <p:nvPr/>
          </p:nvSpPr>
          <p:spPr bwMode="auto">
            <a:xfrm>
              <a:off x="795" y="759"/>
              <a:ext cx="6" cy="76"/>
            </a:xfrm>
            <a:custGeom>
              <a:avLst/>
              <a:gdLst>
                <a:gd name="T0" fmla="*/ 1 w 17"/>
                <a:gd name="T1" fmla="*/ 0 h 225"/>
                <a:gd name="T2" fmla="*/ 1 w 17"/>
                <a:gd name="T3" fmla="*/ 3 h 225"/>
                <a:gd name="T4" fmla="*/ 0 w 17"/>
                <a:gd name="T5" fmla="*/ 5 h 225"/>
                <a:gd name="T6" fmla="*/ 0 w 17"/>
                <a:gd name="T7" fmla="*/ 9 h 225"/>
                <a:gd name="T8" fmla="*/ 0 60000 65536"/>
                <a:gd name="T9" fmla="*/ 0 60000 65536"/>
                <a:gd name="T10" fmla="*/ 0 60000 65536"/>
                <a:gd name="T11" fmla="*/ 0 60000 65536"/>
                <a:gd name="T12" fmla="*/ 0 w 17"/>
                <a:gd name="T13" fmla="*/ 0 h 225"/>
                <a:gd name="T14" fmla="*/ 17 w 17"/>
                <a:gd name="T15" fmla="*/ 225 h 225"/>
              </a:gdLst>
              <a:ahLst/>
              <a:cxnLst>
                <a:cxn ang="T8">
                  <a:pos x="T0" y="T1"/>
                </a:cxn>
                <a:cxn ang="T9">
                  <a:pos x="T2" y="T3"/>
                </a:cxn>
                <a:cxn ang="T10">
                  <a:pos x="T4" y="T5"/>
                </a:cxn>
                <a:cxn ang="T11">
                  <a:pos x="T6" y="T7"/>
                </a:cxn>
              </a:cxnLst>
              <a:rect l="T12" t="T13" r="T14" b="T15"/>
              <a:pathLst>
                <a:path w="17" h="225">
                  <a:moveTo>
                    <a:pt x="16" y="0"/>
                  </a:moveTo>
                  <a:lnTo>
                    <a:pt x="16" y="70"/>
                  </a:lnTo>
                  <a:lnTo>
                    <a:pt x="8" y="128"/>
                  </a:lnTo>
                  <a:lnTo>
                    <a:pt x="0" y="224"/>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62" name="Freeform 88"/>
            <p:cNvSpPr>
              <a:spLocks/>
            </p:cNvSpPr>
            <p:nvPr/>
          </p:nvSpPr>
          <p:spPr bwMode="auto">
            <a:xfrm>
              <a:off x="1055" y="1295"/>
              <a:ext cx="35" cy="22"/>
            </a:xfrm>
            <a:custGeom>
              <a:avLst/>
              <a:gdLst>
                <a:gd name="T0" fmla="*/ 0 w 104"/>
                <a:gd name="T1" fmla="*/ 2 h 65"/>
                <a:gd name="T2" fmla="*/ 2 w 104"/>
                <a:gd name="T3" fmla="*/ 1 h 65"/>
                <a:gd name="T4" fmla="*/ 3 w 104"/>
                <a:gd name="T5" fmla="*/ 0 h 65"/>
                <a:gd name="T6" fmla="*/ 4 w 104"/>
                <a:gd name="T7" fmla="*/ 0 h 65"/>
                <a:gd name="T8" fmla="*/ 0 60000 65536"/>
                <a:gd name="T9" fmla="*/ 0 60000 65536"/>
                <a:gd name="T10" fmla="*/ 0 60000 65536"/>
                <a:gd name="T11" fmla="*/ 0 60000 65536"/>
                <a:gd name="T12" fmla="*/ 0 w 104"/>
                <a:gd name="T13" fmla="*/ 0 h 65"/>
                <a:gd name="T14" fmla="*/ 104 w 104"/>
                <a:gd name="T15" fmla="*/ 65 h 65"/>
              </a:gdLst>
              <a:ahLst/>
              <a:cxnLst>
                <a:cxn ang="T8">
                  <a:pos x="T0" y="T1"/>
                </a:cxn>
                <a:cxn ang="T9">
                  <a:pos x="T2" y="T3"/>
                </a:cxn>
                <a:cxn ang="T10">
                  <a:pos x="T4" y="T5"/>
                </a:cxn>
                <a:cxn ang="T11">
                  <a:pos x="T6" y="T7"/>
                </a:cxn>
              </a:cxnLst>
              <a:rect l="T12" t="T13" r="T14" b="T15"/>
              <a:pathLst>
                <a:path w="104" h="65">
                  <a:moveTo>
                    <a:pt x="0" y="64"/>
                  </a:moveTo>
                  <a:lnTo>
                    <a:pt x="52" y="32"/>
                  </a:lnTo>
                  <a:lnTo>
                    <a:pt x="84" y="6"/>
                  </a:lnTo>
                  <a:lnTo>
                    <a:pt x="103"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63" name="Freeform 89"/>
            <p:cNvSpPr>
              <a:spLocks/>
            </p:cNvSpPr>
            <p:nvPr/>
          </p:nvSpPr>
          <p:spPr bwMode="auto">
            <a:xfrm>
              <a:off x="1118" y="1255"/>
              <a:ext cx="46" cy="20"/>
            </a:xfrm>
            <a:custGeom>
              <a:avLst/>
              <a:gdLst>
                <a:gd name="T0" fmla="*/ 0 w 135"/>
                <a:gd name="T1" fmla="*/ 2 h 59"/>
                <a:gd name="T2" fmla="*/ 3 w 135"/>
                <a:gd name="T3" fmla="*/ 1 h 59"/>
                <a:gd name="T4" fmla="*/ 4 w 135"/>
                <a:gd name="T5" fmla="*/ 0 h 59"/>
                <a:gd name="T6" fmla="*/ 5 w 135"/>
                <a:gd name="T7" fmla="*/ 0 h 59"/>
                <a:gd name="T8" fmla="*/ 0 60000 65536"/>
                <a:gd name="T9" fmla="*/ 0 60000 65536"/>
                <a:gd name="T10" fmla="*/ 0 60000 65536"/>
                <a:gd name="T11" fmla="*/ 0 60000 65536"/>
                <a:gd name="T12" fmla="*/ 0 w 135"/>
                <a:gd name="T13" fmla="*/ 0 h 59"/>
                <a:gd name="T14" fmla="*/ 135 w 135"/>
                <a:gd name="T15" fmla="*/ 59 h 59"/>
              </a:gdLst>
              <a:ahLst/>
              <a:cxnLst>
                <a:cxn ang="T8">
                  <a:pos x="T0" y="T1"/>
                </a:cxn>
                <a:cxn ang="T9">
                  <a:pos x="T2" y="T3"/>
                </a:cxn>
                <a:cxn ang="T10">
                  <a:pos x="T4" y="T5"/>
                </a:cxn>
                <a:cxn ang="T11">
                  <a:pos x="T6" y="T7"/>
                </a:cxn>
              </a:cxnLst>
              <a:rect l="T12" t="T13" r="T14" b="T15"/>
              <a:pathLst>
                <a:path w="135" h="59">
                  <a:moveTo>
                    <a:pt x="0" y="58"/>
                  </a:moveTo>
                  <a:lnTo>
                    <a:pt x="70" y="32"/>
                  </a:lnTo>
                  <a:lnTo>
                    <a:pt x="109" y="13"/>
                  </a:lnTo>
                  <a:lnTo>
                    <a:pt x="13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64" name="Freeform 90"/>
            <p:cNvSpPr>
              <a:spLocks/>
            </p:cNvSpPr>
            <p:nvPr/>
          </p:nvSpPr>
          <p:spPr bwMode="auto">
            <a:xfrm>
              <a:off x="817" y="1038"/>
              <a:ext cx="34" cy="18"/>
            </a:xfrm>
            <a:custGeom>
              <a:avLst/>
              <a:gdLst>
                <a:gd name="T0" fmla="*/ 0 w 104"/>
                <a:gd name="T1" fmla="*/ 2 h 53"/>
                <a:gd name="T2" fmla="*/ 2 w 104"/>
                <a:gd name="T3" fmla="*/ 1 h 53"/>
                <a:gd name="T4" fmla="*/ 3 w 104"/>
                <a:gd name="T5" fmla="*/ 0 h 53"/>
                <a:gd name="T6" fmla="*/ 4 w 104"/>
                <a:gd name="T7" fmla="*/ 0 h 53"/>
                <a:gd name="T8" fmla="*/ 0 60000 65536"/>
                <a:gd name="T9" fmla="*/ 0 60000 65536"/>
                <a:gd name="T10" fmla="*/ 0 60000 65536"/>
                <a:gd name="T11" fmla="*/ 0 60000 65536"/>
                <a:gd name="T12" fmla="*/ 0 w 104"/>
                <a:gd name="T13" fmla="*/ 0 h 53"/>
                <a:gd name="T14" fmla="*/ 104 w 104"/>
                <a:gd name="T15" fmla="*/ 53 h 53"/>
              </a:gdLst>
              <a:ahLst/>
              <a:cxnLst>
                <a:cxn ang="T8">
                  <a:pos x="T0" y="T1"/>
                </a:cxn>
                <a:cxn ang="T9">
                  <a:pos x="T2" y="T3"/>
                </a:cxn>
                <a:cxn ang="T10">
                  <a:pos x="T4" y="T5"/>
                </a:cxn>
                <a:cxn ang="T11">
                  <a:pos x="T6" y="T7"/>
                </a:cxn>
              </a:cxnLst>
              <a:rect l="T12" t="T13" r="T14" b="T15"/>
              <a:pathLst>
                <a:path w="104" h="53">
                  <a:moveTo>
                    <a:pt x="0" y="52"/>
                  </a:moveTo>
                  <a:lnTo>
                    <a:pt x="58" y="32"/>
                  </a:lnTo>
                  <a:lnTo>
                    <a:pt x="77" y="13"/>
                  </a:lnTo>
                  <a:lnTo>
                    <a:pt x="103"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65" name="Freeform 91"/>
            <p:cNvSpPr>
              <a:spLocks/>
            </p:cNvSpPr>
            <p:nvPr/>
          </p:nvSpPr>
          <p:spPr bwMode="auto">
            <a:xfrm>
              <a:off x="849" y="1110"/>
              <a:ext cx="11" cy="6"/>
            </a:xfrm>
            <a:custGeom>
              <a:avLst/>
              <a:gdLst>
                <a:gd name="T0" fmla="*/ 0 w 33"/>
                <a:gd name="T1" fmla="*/ 1 h 17"/>
                <a:gd name="T2" fmla="*/ 1 w 33"/>
                <a:gd name="T3" fmla="*/ 0 h 17"/>
                <a:gd name="T4" fmla="*/ 0 60000 65536"/>
                <a:gd name="T5" fmla="*/ 0 60000 65536"/>
                <a:gd name="T6" fmla="*/ 0 w 33"/>
                <a:gd name="T7" fmla="*/ 0 h 17"/>
                <a:gd name="T8" fmla="*/ 33 w 33"/>
                <a:gd name="T9" fmla="*/ 17 h 17"/>
              </a:gdLst>
              <a:ahLst/>
              <a:cxnLst>
                <a:cxn ang="T4">
                  <a:pos x="T0" y="T1"/>
                </a:cxn>
                <a:cxn ang="T5">
                  <a:pos x="T2" y="T3"/>
                </a:cxn>
              </a:cxnLst>
              <a:rect l="T6" t="T7" r="T8" b="T9"/>
              <a:pathLst>
                <a:path w="33" h="17">
                  <a:moveTo>
                    <a:pt x="0" y="16"/>
                  </a:moveTo>
                  <a:lnTo>
                    <a:pt x="3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66" name="Freeform 92"/>
            <p:cNvSpPr>
              <a:spLocks/>
            </p:cNvSpPr>
            <p:nvPr/>
          </p:nvSpPr>
          <p:spPr bwMode="auto">
            <a:xfrm>
              <a:off x="892" y="1003"/>
              <a:ext cx="24" cy="15"/>
            </a:xfrm>
            <a:custGeom>
              <a:avLst/>
              <a:gdLst>
                <a:gd name="T0" fmla="*/ 0 w 70"/>
                <a:gd name="T1" fmla="*/ 2 h 45"/>
                <a:gd name="T2" fmla="*/ 1 w 70"/>
                <a:gd name="T3" fmla="*/ 1 h 45"/>
                <a:gd name="T4" fmla="*/ 2 w 70"/>
                <a:gd name="T5" fmla="*/ 1 h 45"/>
                <a:gd name="T6" fmla="*/ 3 w 70"/>
                <a:gd name="T7" fmla="*/ 0 h 45"/>
                <a:gd name="T8" fmla="*/ 0 60000 65536"/>
                <a:gd name="T9" fmla="*/ 0 60000 65536"/>
                <a:gd name="T10" fmla="*/ 0 60000 65536"/>
                <a:gd name="T11" fmla="*/ 0 60000 65536"/>
                <a:gd name="T12" fmla="*/ 0 w 70"/>
                <a:gd name="T13" fmla="*/ 0 h 45"/>
                <a:gd name="T14" fmla="*/ 70 w 70"/>
                <a:gd name="T15" fmla="*/ 45 h 45"/>
              </a:gdLst>
              <a:ahLst/>
              <a:cxnLst>
                <a:cxn ang="T8">
                  <a:pos x="T0" y="T1"/>
                </a:cxn>
                <a:cxn ang="T9">
                  <a:pos x="T2" y="T3"/>
                </a:cxn>
                <a:cxn ang="T10">
                  <a:pos x="T4" y="T5"/>
                </a:cxn>
                <a:cxn ang="T11">
                  <a:pos x="T6" y="T7"/>
                </a:cxn>
              </a:cxnLst>
              <a:rect l="T12" t="T13" r="T14" b="T15"/>
              <a:pathLst>
                <a:path w="70" h="45">
                  <a:moveTo>
                    <a:pt x="0" y="44"/>
                  </a:moveTo>
                  <a:lnTo>
                    <a:pt x="32" y="29"/>
                  </a:lnTo>
                  <a:lnTo>
                    <a:pt x="53" y="15"/>
                  </a:lnTo>
                  <a:lnTo>
                    <a:pt x="69"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67" name="Freeform 93"/>
            <p:cNvSpPr>
              <a:spLocks/>
            </p:cNvSpPr>
            <p:nvPr/>
          </p:nvSpPr>
          <p:spPr bwMode="auto">
            <a:xfrm>
              <a:off x="924" y="1069"/>
              <a:ext cx="23" cy="15"/>
            </a:xfrm>
            <a:custGeom>
              <a:avLst/>
              <a:gdLst>
                <a:gd name="T0" fmla="*/ 0 w 69"/>
                <a:gd name="T1" fmla="*/ 2 h 46"/>
                <a:gd name="T2" fmla="*/ 1 w 69"/>
                <a:gd name="T3" fmla="*/ 1 h 46"/>
                <a:gd name="T4" fmla="*/ 1 w 69"/>
                <a:gd name="T5" fmla="*/ 1 h 46"/>
                <a:gd name="T6" fmla="*/ 2 w 69"/>
                <a:gd name="T7" fmla="*/ 0 h 46"/>
                <a:gd name="T8" fmla="*/ 3 w 69"/>
                <a:gd name="T9" fmla="*/ 0 h 46"/>
                <a:gd name="T10" fmla="*/ 0 60000 65536"/>
                <a:gd name="T11" fmla="*/ 0 60000 65536"/>
                <a:gd name="T12" fmla="*/ 0 60000 65536"/>
                <a:gd name="T13" fmla="*/ 0 60000 65536"/>
                <a:gd name="T14" fmla="*/ 0 60000 65536"/>
                <a:gd name="T15" fmla="*/ 0 w 69"/>
                <a:gd name="T16" fmla="*/ 0 h 46"/>
                <a:gd name="T17" fmla="*/ 69 w 69"/>
                <a:gd name="T18" fmla="*/ 46 h 46"/>
              </a:gdLst>
              <a:ahLst/>
              <a:cxnLst>
                <a:cxn ang="T10">
                  <a:pos x="T0" y="T1"/>
                </a:cxn>
                <a:cxn ang="T11">
                  <a:pos x="T2" y="T3"/>
                </a:cxn>
                <a:cxn ang="T12">
                  <a:pos x="T4" y="T5"/>
                </a:cxn>
                <a:cxn ang="T13">
                  <a:pos x="T6" y="T7"/>
                </a:cxn>
                <a:cxn ang="T14">
                  <a:pos x="T8" y="T9"/>
                </a:cxn>
              </a:cxnLst>
              <a:rect l="T15" t="T16" r="T17" b="T18"/>
              <a:pathLst>
                <a:path w="69" h="46">
                  <a:moveTo>
                    <a:pt x="0" y="45"/>
                  </a:moveTo>
                  <a:lnTo>
                    <a:pt x="22" y="30"/>
                  </a:lnTo>
                  <a:lnTo>
                    <a:pt x="35" y="21"/>
                  </a:lnTo>
                  <a:lnTo>
                    <a:pt x="49" y="8"/>
                  </a:lnTo>
                  <a:lnTo>
                    <a:pt x="68"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68" name="Freeform 94"/>
            <p:cNvSpPr>
              <a:spLocks/>
            </p:cNvSpPr>
            <p:nvPr/>
          </p:nvSpPr>
          <p:spPr bwMode="auto">
            <a:xfrm>
              <a:off x="883" y="785"/>
              <a:ext cx="6" cy="71"/>
            </a:xfrm>
            <a:custGeom>
              <a:avLst/>
              <a:gdLst>
                <a:gd name="T0" fmla="*/ 1 w 17"/>
                <a:gd name="T1" fmla="*/ 0 h 211"/>
                <a:gd name="T2" fmla="*/ 0 w 17"/>
                <a:gd name="T3" fmla="*/ 2 h 211"/>
                <a:gd name="T4" fmla="*/ 0 w 17"/>
                <a:gd name="T5" fmla="*/ 4 h 211"/>
                <a:gd name="T6" fmla="*/ 0 w 17"/>
                <a:gd name="T7" fmla="*/ 5 h 211"/>
                <a:gd name="T8" fmla="*/ 0 w 17"/>
                <a:gd name="T9" fmla="*/ 7 h 211"/>
                <a:gd name="T10" fmla="*/ 0 w 17"/>
                <a:gd name="T11" fmla="*/ 8 h 211"/>
                <a:gd name="T12" fmla="*/ 0 60000 65536"/>
                <a:gd name="T13" fmla="*/ 0 60000 65536"/>
                <a:gd name="T14" fmla="*/ 0 60000 65536"/>
                <a:gd name="T15" fmla="*/ 0 60000 65536"/>
                <a:gd name="T16" fmla="*/ 0 60000 65536"/>
                <a:gd name="T17" fmla="*/ 0 60000 65536"/>
                <a:gd name="T18" fmla="*/ 0 w 17"/>
                <a:gd name="T19" fmla="*/ 0 h 211"/>
                <a:gd name="T20" fmla="*/ 17 w 17"/>
                <a:gd name="T21" fmla="*/ 211 h 211"/>
              </a:gdLst>
              <a:ahLst/>
              <a:cxnLst>
                <a:cxn ang="T12">
                  <a:pos x="T0" y="T1"/>
                </a:cxn>
                <a:cxn ang="T13">
                  <a:pos x="T2" y="T3"/>
                </a:cxn>
                <a:cxn ang="T14">
                  <a:pos x="T4" y="T5"/>
                </a:cxn>
                <a:cxn ang="T15">
                  <a:pos x="T6" y="T7"/>
                </a:cxn>
                <a:cxn ang="T16">
                  <a:pos x="T8" y="T9"/>
                </a:cxn>
                <a:cxn ang="T17">
                  <a:pos x="T10" y="T11"/>
                </a:cxn>
              </a:cxnLst>
              <a:rect l="T18" t="T19" r="T20" b="T21"/>
              <a:pathLst>
                <a:path w="17" h="211">
                  <a:moveTo>
                    <a:pt x="16" y="0"/>
                  </a:moveTo>
                  <a:lnTo>
                    <a:pt x="0" y="58"/>
                  </a:lnTo>
                  <a:lnTo>
                    <a:pt x="0" y="96"/>
                  </a:lnTo>
                  <a:lnTo>
                    <a:pt x="0" y="139"/>
                  </a:lnTo>
                  <a:lnTo>
                    <a:pt x="12" y="171"/>
                  </a:lnTo>
                  <a:lnTo>
                    <a:pt x="6" y="21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69" name="Freeform 95"/>
            <p:cNvSpPr>
              <a:spLocks/>
            </p:cNvSpPr>
            <p:nvPr/>
          </p:nvSpPr>
          <p:spPr bwMode="auto">
            <a:xfrm>
              <a:off x="1062" y="712"/>
              <a:ext cx="56" cy="39"/>
            </a:xfrm>
            <a:custGeom>
              <a:avLst/>
              <a:gdLst>
                <a:gd name="T0" fmla="*/ 0 w 164"/>
                <a:gd name="T1" fmla="*/ 4 h 116"/>
                <a:gd name="T2" fmla="*/ 2 w 164"/>
                <a:gd name="T3" fmla="*/ 3 h 116"/>
                <a:gd name="T4" fmla="*/ 4 w 164"/>
                <a:gd name="T5" fmla="*/ 2 h 116"/>
                <a:gd name="T6" fmla="*/ 5 w 164"/>
                <a:gd name="T7" fmla="*/ 0 h 116"/>
                <a:gd name="T8" fmla="*/ 6 w 164"/>
                <a:gd name="T9" fmla="*/ 0 h 116"/>
                <a:gd name="T10" fmla="*/ 0 60000 65536"/>
                <a:gd name="T11" fmla="*/ 0 60000 65536"/>
                <a:gd name="T12" fmla="*/ 0 60000 65536"/>
                <a:gd name="T13" fmla="*/ 0 60000 65536"/>
                <a:gd name="T14" fmla="*/ 0 60000 65536"/>
                <a:gd name="T15" fmla="*/ 0 w 164"/>
                <a:gd name="T16" fmla="*/ 0 h 116"/>
                <a:gd name="T17" fmla="*/ 164 w 164"/>
                <a:gd name="T18" fmla="*/ 116 h 116"/>
              </a:gdLst>
              <a:ahLst/>
              <a:cxnLst>
                <a:cxn ang="T10">
                  <a:pos x="T0" y="T1"/>
                </a:cxn>
                <a:cxn ang="T11">
                  <a:pos x="T2" y="T3"/>
                </a:cxn>
                <a:cxn ang="T12">
                  <a:pos x="T4" y="T5"/>
                </a:cxn>
                <a:cxn ang="T13">
                  <a:pos x="T6" y="T7"/>
                </a:cxn>
                <a:cxn ang="T14">
                  <a:pos x="T8" y="T9"/>
                </a:cxn>
              </a:cxnLst>
              <a:rect l="T15" t="T16" r="T17" b="T18"/>
              <a:pathLst>
                <a:path w="164" h="116">
                  <a:moveTo>
                    <a:pt x="0" y="115"/>
                  </a:moveTo>
                  <a:lnTo>
                    <a:pt x="58" y="91"/>
                  </a:lnTo>
                  <a:lnTo>
                    <a:pt x="91" y="63"/>
                  </a:lnTo>
                  <a:lnTo>
                    <a:pt x="120" y="10"/>
                  </a:lnTo>
                  <a:lnTo>
                    <a:pt x="163"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0" name="Freeform 96"/>
            <p:cNvSpPr>
              <a:spLocks/>
            </p:cNvSpPr>
            <p:nvPr/>
          </p:nvSpPr>
          <p:spPr bwMode="auto">
            <a:xfrm>
              <a:off x="1208" y="668"/>
              <a:ext cx="6" cy="10"/>
            </a:xfrm>
            <a:custGeom>
              <a:avLst/>
              <a:gdLst>
                <a:gd name="T0" fmla="*/ 0 w 17"/>
                <a:gd name="T1" fmla="*/ 0 h 29"/>
                <a:gd name="T2" fmla="*/ 1 w 17"/>
                <a:gd name="T3" fmla="*/ 1 h 29"/>
                <a:gd name="T4" fmla="*/ 0 60000 65536"/>
                <a:gd name="T5" fmla="*/ 0 60000 65536"/>
                <a:gd name="T6" fmla="*/ 0 w 17"/>
                <a:gd name="T7" fmla="*/ 0 h 29"/>
                <a:gd name="T8" fmla="*/ 17 w 17"/>
                <a:gd name="T9" fmla="*/ 29 h 29"/>
              </a:gdLst>
              <a:ahLst/>
              <a:cxnLst>
                <a:cxn ang="T4">
                  <a:pos x="T0" y="T1"/>
                </a:cxn>
                <a:cxn ang="T5">
                  <a:pos x="T2" y="T3"/>
                </a:cxn>
              </a:cxnLst>
              <a:rect l="T6" t="T7" r="T8" b="T9"/>
              <a:pathLst>
                <a:path w="17" h="29">
                  <a:moveTo>
                    <a:pt x="0" y="0"/>
                  </a:moveTo>
                  <a:lnTo>
                    <a:pt x="16" y="2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1" name="Freeform 97" descr="5%"/>
            <p:cNvSpPr>
              <a:spLocks/>
            </p:cNvSpPr>
            <p:nvPr/>
          </p:nvSpPr>
          <p:spPr bwMode="auto">
            <a:xfrm>
              <a:off x="986" y="669"/>
              <a:ext cx="109" cy="43"/>
            </a:xfrm>
            <a:custGeom>
              <a:avLst/>
              <a:gdLst>
                <a:gd name="T0" fmla="*/ 0 w 322"/>
                <a:gd name="T1" fmla="*/ 5 h 126"/>
                <a:gd name="T2" fmla="*/ 4 w 322"/>
                <a:gd name="T3" fmla="*/ 4 h 126"/>
                <a:gd name="T4" fmla="*/ 4 w 322"/>
                <a:gd name="T5" fmla="*/ 3 h 126"/>
                <a:gd name="T6" fmla="*/ 6 w 322"/>
                <a:gd name="T7" fmla="*/ 3 h 126"/>
                <a:gd name="T8" fmla="*/ 8 w 322"/>
                <a:gd name="T9" fmla="*/ 2 h 126"/>
                <a:gd name="T10" fmla="*/ 10 w 322"/>
                <a:gd name="T11" fmla="*/ 1 h 126"/>
                <a:gd name="T12" fmla="*/ 13 w 322"/>
                <a:gd name="T13" fmla="*/ 0 h 126"/>
                <a:gd name="T14" fmla="*/ 0 60000 65536"/>
                <a:gd name="T15" fmla="*/ 0 60000 65536"/>
                <a:gd name="T16" fmla="*/ 0 60000 65536"/>
                <a:gd name="T17" fmla="*/ 0 60000 65536"/>
                <a:gd name="T18" fmla="*/ 0 60000 65536"/>
                <a:gd name="T19" fmla="*/ 0 60000 65536"/>
                <a:gd name="T20" fmla="*/ 0 60000 65536"/>
                <a:gd name="T21" fmla="*/ 0 w 322"/>
                <a:gd name="T22" fmla="*/ 0 h 126"/>
                <a:gd name="T23" fmla="*/ 322 w 322"/>
                <a:gd name="T24" fmla="*/ 126 h 1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2" h="126">
                  <a:moveTo>
                    <a:pt x="0" y="125"/>
                  </a:moveTo>
                  <a:lnTo>
                    <a:pt x="100" y="101"/>
                  </a:lnTo>
                  <a:lnTo>
                    <a:pt x="110" y="72"/>
                  </a:lnTo>
                  <a:lnTo>
                    <a:pt x="163" y="68"/>
                  </a:lnTo>
                  <a:lnTo>
                    <a:pt x="201" y="48"/>
                  </a:lnTo>
                  <a:lnTo>
                    <a:pt x="273" y="29"/>
                  </a:lnTo>
                  <a:lnTo>
                    <a:pt x="321" y="0"/>
                  </a:lnTo>
                </a:path>
              </a:pathLst>
            </a:custGeom>
            <a:pattFill prst="pct5">
              <a:fgClr>
                <a:srgbClr val="3399FF"/>
              </a:fgClr>
              <a:bgClr>
                <a:schemeClr val="bg1"/>
              </a:bgClr>
            </a:pattFill>
            <a:ln w="6350" cap="rnd">
              <a:solidFill>
                <a:schemeClr val="tx1"/>
              </a:solidFill>
              <a:round/>
              <a:headEnd type="none" w="sm" len="sm"/>
              <a:tailEnd type="none" w="sm" len="sm"/>
            </a:ln>
          </p:spPr>
          <p:txBody>
            <a:bodyPr/>
            <a:lstStyle/>
            <a:p>
              <a:endParaRPr lang="zh-CN" altLang="en-US"/>
            </a:p>
          </p:txBody>
        </p:sp>
        <p:sp>
          <p:nvSpPr>
            <p:cNvPr id="28772" name="Freeform 98"/>
            <p:cNvSpPr>
              <a:spLocks/>
            </p:cNvSpPr>
            <p:nvPr/>
          </p:nvSpPr>
          <p:spPr bwMode="auto">
            <a:xfrm>
              <a:off x="1109" y="660"/>
              <a:ext cx="9" cy="6"/>
            </a:xfrm>
            <a:custGeom>
              <a:avLst/>
              <a:gdLst>
                <a:gd name="T0" fmla="*/ 0 w 25"/>
                <a:gd name="T1" fmla="*/ 1 h 20"/>
                <a:gd name="T2" fmla="*/ 1 w 25"/>
                <a:gd name="T3" fmla="*/ 0 h 20"/>
                <a:gd name="T4" fmla="*/ 0 60000 65536"/>
                <a:gd name="T5" fmla="*/ 0 60000 65536"/>
                <a:gd name="T6" fmla="*/ 0 w 25"/>
                <a:gd name="T7" fmla="*/ 0 h 20"/>
                <a:gd name="T8" fmla="*/ 25 w 25"/>
                <a:gd name="T9" fmla="*/ 20 h 20"/>
              </a:gdLst>
              <a:ahLst/>
              <a:cxnLst>
                <a:cxn ang="T4">
                  <a:pos x="T0" y="T1"/>
                </a:cxn>
                <a:cxn ang="T5">
                  <a:pos x="T2" y="T3"/>
                </a:cxn>
              </a:cxnLst>
              <a:rect l="T6" t="T7" r="T8" b="T9"/>
              <a:pathLst>
                <a:path w="25" h="20">
                  <a:moveTo>
                    <a:pt x="0" y="19"/>
                  </a:moveTo>
                  <a:lnTo>
                    <a:pt x="2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3" name="Freeform 99"/>
            <p:cNvSpPr>
              <a:spLocks/>
            </p:cNvSpPr>
            <p:nvPr/>
          </p:nvSpPr>
          <p:spPr bwMode="auto">
            <a:xfrm>
              <a:off x="848" y="759"/>
              <a:ext cx="19" cy="12"/>
            </a:xfrm>
            <a:custGeom>
              <a:avLst/>
              <a:gdLst>
                <a:gd name="T0" fmla="*/ 0 w 58"/>
                <a:gd name="T1" fmla="*/ 1 h 35"/>
                <a:gd name="T2" fmla="*/ 1 w 58"/>
                <a:gd name="T3" fmla="*/ 0 h 35"/>
                <a:gd name="T4" fmla="*/ 2 w 58"/>
                <a:gd name="T5" fmla="*/ 0 h 35"/>
                <a:gd name="T6" fmla="*/ 0 60000 65536"/>
                <a:gd name="T7" fmla="*/ 0 60000 65536"/>
                <a:gd name="T8" fmla="*/ 0 60000 65536"/>
                <a:gd name="T9" fmla="*/ 0 w 58"/>
                <a:gd name="T10" fmla="*/ 0 h 35"/>
                <a:gd name="T11" fmla="*/ 58 w 58"/>
                <a:gd name="T12" fmla="*/ 35 h 35"/>
              </a:gdLst>
              <a:ahLst/>
              <a:cxnLst>
                <a:cxn ang="T6">
                  <a:pos x="T0" y="T1"/>
                </a:cxn>
                <a:cxn ang="T7">
                  <a:pos x="T2" y="T3"/>
                </a:cxn>
                <a:cxn ang="T8">
                  <a:pos x="T4" y="T5"/>
                </a:cxn>
              </a:cxnLst>
              <a:rect l="T9" t="T10" r="T11" b="T12"/>
              <a:pathLst>
                <a:path w="58" h="35">
                  <a:moveTo>
                    <a:pt x="0" y="34"/>
                  </a:moveTo>
                  <a:lnTo>
                    <a:pt x="28" y="10"/>
                  </a:lnTo>
                  <a:lnTo>
                    <a:pt x="57"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4" name="Freeform 100"/>
            <p:cNvSpPr>
              <a:spLocks/>
            </p:cNvSpPr>
            <p:nvPr/>
          </p:nvSpPr>
          <p:spPr bwMode="auto">
            <a:xfrm>
              <a:off x="600" y="917"/>
              <a:ext cx="65" cy="30"/>
            </a:xfrm>
            <a:custGeom>
              <a:avLst/>
              <a:gdLst>
                <a:gd name="T0" fmla="*/ 0 w 193"/>
                <a:gd name="T1" fmla="*/ 3 h 87"/>
                <a:gd name="T2" fmla="*/ 2 w 193"/>
                <a:gd name="T3" fmla="*/ 2 h 87"/>
                <a:gd name="T4" fmla="*/ 3 w 193"/>
                <a:gd name="T5" fmla="*/ 2 h 87"/>
                <a:gd name="T6" fmla="*/ 4 w 193"/>
                <a:gd name="T7" fmla="*/ 1 h 87"/>
                <a:gd name="T8" fmla="*/ 6 w 193"/>
                <a:gd name="T9" fmla="*/ 0 h 87"/>
                <a:gd name="T10" fmla="*/ 7 w 193"/>
                <a:gd name="T11" fmla="*/ 0 h 87"/>
                <a:gd name="T12" fmla="*/ 0 60000 65536"/>
                <a:gd name="T13" fmla="*/ 0 60000 65536"/>
                <a:gd name="T14" fmla="*/ 0 60000 65536"/>
                <a:gd name="T15" fmla="*/ 0 60000 65536"/>
                <a:gd name="T16" fmla="*/ 0 60000 65536"/>
                <a:gd name="T17" fmla="*/ 0 60000 65536"/>
                <a:gd name="T18" fmla="*/ 0 w 193"/>
                <a:gd name="T19" fmla="*/ 0 h 87"/>
                <a:gd name="T20" fmla="*/ 193 w 193"/>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193" h="87">
                  <a:moveTo>
                    <a:pt x="0" y="86"/>
                  </a:moveTo>
                  <a:lnTo>
                    <a:pt x="62" y="58"/>
                  </a:lnTo>
                  <a:lnTo>
                    <a:pt x="86" y="48"/>
                  </a:lnTo>
                  <a:lnTo>
                    <a:pt x="115" y="24"/>
                  </a:lnTo>
                  <a:lnTo>
                    <a:pt x="154" y="10"/>
                  </a:lnTo>
                  <a:lnTo>
                    <a:pt x="19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5" name="Freeform 101"/>
            <p:cNvSpPr>
              <a:spLocks/>
            </p:cNvSpPr>
            <p:nvPr/>
          </p:nvSpPr>
          <p:spPr bwMode="auto">
            <a:xfrm>
              <a:off x="743" y="850"/>
              <a:ext cx="65" cy="31"/>
            </a:xfrm>
            <a:custGeom>
              <a:avLst/>
              <a:gdLst>
                <a:gd name="T0" fmla="*/ 0 w 193"/>
                <a:gd name="T1" fmla="*/ 3 h 92"/>
                <a:gd name="T2" fmla="*/ 1 w 193"/>
                <a:gd name="T3" fmla="*/ 3 h 92"/>
                <a:gd name="T4" fmla="*/ 3 w 193"/>
                <a:gd name="T5" fmla="*/ 2 h 92"/>
                <a:gd name="T6" fmla="*/ 4 w 193"/>
                <a:gd name="T7" fmla="*/ 1 h 92"/>
                <a:gd name="T8" fmla="*/ 6 w 193"/>
                <a:gd name="T9" fmla="*/ 0 h 92"/>
                <a:gd name="T10" fmla="*/ 7 w 193"/>
                <a:gd name="T11" fmla="*/ 0 h 92"/>
                <a:gd name="T12" fmla="*/ 0 60000 65536"/>
                <a:gd name="T13" fmla="*/ 0 60000 65536"/>
                <a:gd name="T14" fmla="*/ 0 60000 65536"/>
                <a:gd name="T15" fmla="*/ 0 60000 65536"/>
                <a:gd name="T16" fmla="*/ 0 60000 65536"/>
                <a:gd name="T17" fmla="*/ 0 60000 65536"/>
                <a:gd name="T18" fmla="*/ 0 w 193"/>
                <a:gd name="T19" fmla="*/ 0 h 92"/>
                <a:gd name="T20" fmla="*/ 193 w 193"/>
                <a:gd name="T21" fmla="*/ 92 h 92"/>
              </a:gdLst>
              <a:ahLst/>
              <a:cxnLst>
                <a:cxn ang="T12">
                  <a:pos x="T0" y="T1"/>
                </a:cxn>
                <a:cxn ang="T13">
                  <a:pos x="T2" y="T3"/>
                </a:cxn>
                <a:cxn ang="T14">
                  <a:pos x="T4" y="T5"/>
                </a:cxn>
                <a:cxn ang="T15">
                  <a:pos x="T6" y="T7"/>
                </a:cxn>
                <a:cxn ang="T16">
                  <a:pos x="T8" y="T9"/>
                </a:cxn>
                <a:cxn ang="T17">
                  <a:pos x="T10" y="T11"/>
                </a:cxn>
              </a:cxnLst>
              <a:rect l="T18" t="T19" r="T20" b="T21"/>
              <a:pathLst>
                <a:path w="193" h="92">
                  <a:moveTo>
                    <a:pt x="0" y="91"/>
                  </a:moveTo>
                  <a:lnTo>
                    <a:pt x="34" y="72"/>
                  </a:lnTo>
                  <a:lnTo>
                    <a:pt x="72" y="48"/>
                  </a:lnTo>
                  <a:lnTo>
                    <a:pt x="120" y="34"/>
                  </a:lnTo>
                  <a:lnTo>
                    <a:pt x="159" y="10"/>
                  </a:lnTo>
                  <a:lnTo>
                    <a:pt x="19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6" name="Freeform 102"/>
            <p:cNvSpPr>
              <a:spLocks/>
            </p:cNvSpPr>
            <p:nvPr/>
          </p:nvSpPr>
          <p:spPr bwMode="auto">
            <a:xfrm>
              <a:off x="698" y="871"/>
              <a:ext cx="21" cy="16"/>
            </a:xfrm>
            <a:custGeom>
              <a:avLst/>
              <a:gdLst>
                <a:gd name="T0" fmla="*/ 0 w 63"/>
                <a:gd name="T1" fmla="*/ 0 h 44"/>
                <a:gd name="T2" fmla="*/ 1 w 63"/>
                <a:gd name="T3" fmla="*/ 1 h 44"/>
                <a:gd name="T4" fmla="*/ 2 w 63"/>
                <a:gd name="T5" fmla="*/ 2 h 44"/>
                <a:gd name="T6" fmla="*/ 0 60000 65536"/>
                <a:gd name="T7" fmla="*/ 0 60000 65536"/>
                <a:gd name="T8" fmla="*/ 0 60000 65536"/>
                <a:gd name="T9" fmla="*/ 0 w 63"/>
                <a:gd name="T10" fmla="*/ 0 h 44"/>
                <a:gd name="T11" fmla="*/ 63 w 63"/>
                <a:gd name="T12" fmla="*/ 44 h 44"/>
              </a:gdLst>
              <a:ahLst/>
              <a:cxnLst>
                <a:cxn ang="T6">
                  <a:pos x="T0" y="T1"/>
                </a:cxn>
                <a:cxn ang="T7">
                  <a:pos x="T2" y="T3"/>
                </a:cxn>
                <a:cxn ang="T8">
                  <a:pos x="T4" y="T5"/>
                </a:cxn>
              </a:cxnLst>
              <a:rect l="T9" t="T10" r="T11" b="T12"/>
              <a:pathLst>
                <a:path w="63" h="44">
                  <a:moveTo>
                    <a:pt x="0" y="0"/>
                  </a:moveTo>
                  <a:lnTo>
                    <a:pt x="38" y="14"/>
                  </a:lnTo>
                  <a:lnTo>
                    <a:pt x="62" y="43"/>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7" name="Freeform 103"/>
            <p:cNvSpPr>
              <a:spLocks/>
            </p:cNvSpPr>
            <p:nvPr/>
          </p:nvSpPr>
          <p:spPr bwMode="auto">
            <a:xfrm>
              <a:off x="914" y="897"/>
              <a:ext cx="46" cy="20"/>
            </a:xfrm>
            <a:custGeom>
              <a:avLst/>
              <a:gdLst>
                <a:gd name="T0" fmla="*/ 0 w 136"/>
                <a:gd name="T1" fmla="*/ 2 h 59"/>
                <a:gd name="T2" fmla="*/ 2 w 136"/>
                <a:gd name="T3" fmla="*/ 1 h 59"/>
                <a:gd name="T4" fmla="*/ 3 w 136"/>
                <a:gd name="T5" fmla="*/ 1 h 59"/>
                <a:gd name="T6" fmla="*/ 5 w 136"/>
                <a:gd name="T7" fmla="*/ 0 h 59"/>
                <a:gd name="T8" fmla="*/ 0 60000 65536"/>
                <a:gd name="T9" fmla="*/ 0 60000 65536"/>
                <a:gd name="T10" fmla="*/ 0 60000 65536"/>
                <a:gd name="T11" fmla="*/ 0 60000 65536"/>
                <a:gd name="T12" fmla="*/ 0 w 136"/>
                <a:gd name="T13" fmla="*/ 0 h 59"/>
                <a:gd name="T14" fmla="*/ 136 w 136"/>
                <a:gd name="T15" fmla="*/ 59 h 59"/>
              </a:gdLst>
              <a:ahLst/>
              <a:cxnLst>
                <a:cxn ang="T8">
                  <a:pos x="T0" y="T1"/>
                </a:cxn>
                <a:cxn ang="T9">
                  <a:pos x="T2" y="T3"/>
                </a:cxn>
                <a:cxn ang="T10">
                  <a:pos x="T4" y="T5"/>
                </a:cxn>
                <a:cxn ang="T11">
                  <a:pos x="T6" y="T7"/>
                </a:cxn>
              </a:cxnLst>
              <a:rect l="T12" t="T13" r="T14" b="T15"/>
              <a:pathLst>
                <a:path w="136" h="59">
                  <a:moveTo>
                    <a:pt x="0" y="58"/>
                  </a:moveTo>
                  <a:lnTo>
                    <a:pt x="48" y="39"/>
                  </a:lnTo>
                  <a:lnTo>
                    <a:pt x="82" y="15"/>
                  </a:lnTo>
                  <a:lnTo>
                    <a:pt x="135"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8" name="Freeform 104"/>
            <p:cNvSpPr>
              <a:spLocks/>
            </p:cNvSpPr>
            <p:nvPr/>
          </p:nvSpPr>
          <p:spPr bwMode="auto">
            <a:xfrm>
              <a:off x="1030" y="887"/>
              <a:ext cx="57" cy="35"/>
            </a:xfrm>
            <a:custGeom>
              <a:avLst/>
              <a:gdLst>
                <a:gd name="T0" fmla="*/ 0 w 169"/>
                <a:gd name="T1" fmla="*/ 4 h 101"/>
                <a:gd name="T2" fmla="*/ 3 w 169"/>
                <a:gd name="T3" fmla="*/ 3 h 101"/>
                <a:gd name="T4" fmla="*/ 4 w 169"/>
                <a:gd name="T5" fmla="*/ 2 h 101"/>
                <a:gd name="T6" fmla="*/ 5 w 169"/>
                <a:gd name="T7" fmla="*/ 1 h 101"/>
                <a:gd name="T8" fmla="*/ 6 w 169"/>
                <a:gd name="T9" fmla="*/ 1 h 101"/>
                <a:gd name="T10" fmla="*/ 6 w 169"/>
                <a:gd name="T11" fmla="*/ 0 h 101"/>
                <a:gd name="T12" fmla="*/ 0 60000 65536"/>
                <a:gd name="T13" fmla="*/ 0 60000 65536"/>
                <a:gd name="T14" fmla="*/ 0 60000 65536"/>
                <a:gd name="T15" fmla="*/ 0 60000 65536"/>
                <a:gd name="T16" fmla="*/ 0 60000 65536"/>
                <a:gd name="T17" fmla="*/ 0 60000 65536"/>
                <a:gd name="T18" fmla="*/ 0 w 169"/>
                <a:gd name="T19" fmla="*/ 0 h 101"/>
                <a:gd name="T20" fmla="*/ 169 w 169"/>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169" h="101">
                  <a:moveTo>
                    <a:pt x="0" y="100"/>
                  </a:moveTo>
                  <a:lnTo>
                    <a:pt x="72" y="76"/>
                  </a:lnTo>
                  <a:lnTo>
                    <a:pt x="106" y="57"/>
                  </a:lnTo>
                  <a:lnTo>
                    <a:pt x="135" y="33"/>
                  </a:lnTo>
                  <a:lnTo>
                    <a:pt x="149" y="14"/>
                  </a:lnTo>
                  <a:lnTo>
                    <a:pt x="168"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79" name="Freeform 105"/>
            <p:cNvSpPr>
              <a:spLocks/>
            </p:cNvSpPr>
            <p:nvPr/>
          </p:nvSpPr>
          <p:spPr bwMode="auto">
            <a:xfrm>
              <a:off x="1100" y="858"/>
              <a:ext cx="27" cy="17"/>
            </a:xfrm>
            <a:custGeom>
              <a:avLst/>
              <a:gdLst>
                <a:gd name="T0" fmla="*/ 0 w 82"/>
                <a:gd name="T1" fmla="*/ 2 h 49"/>
                <a:gd name="T2" fmla="*/ 1 w 82"/>
                <a:gd name="T3" fmla="*/ 2 h 49"/>
                <a:gd name="T4" fmla="*/ 2 w 82"/>
                <a:gd name="T5" fmla="*/ 1 h 49"/>
                <a:gd name="T6" fmla="*/ 3 w 82"/>
                <a:gd name="T7" fmla="*/ 0 h 49"/>
                <a:gd name="T8" fmla="*/ 0 60000 65536"/>
                <a:gd name="T9" fmla="*/ 0 60000 65536"/>
                <a:gd name="T10" fmla="*/ 0 60000 65536"/>
                <a:gd name="T11" fmla="*/ 0 60000 65536"/>
                <a:gd name="T12" fmla="*/ 0 w 82"/>
                <a:gd name="T13" fmla="*/ 0 h 49"/>
                <a:gd name="T14" fmla="*/ 82 w 82"/>
                <a:gd name="T15" fmla="*/ 49 h 49"/>
              </a:gdLst>
              <a:ahLst/>
              <a:cxnLst>
                <a:cxn ang="T8">
                  <a:pos x="T0" y="T1"/>
                </a:cxn>
                <a:cxn ang="T9">
                  <a:pos x="T2" y="T3"/>
                </a:cxn>
                <a:cxn ang="T10">
                  <a:pos x="T4" y="T5"/>
                </a:cxn>
                <a:cxn ang="T11">
                  <a:pos x="T6" y="T7"/>
                </a:cxn>
              </a:cxnLst>
              <a:rect l="T12" t="T13" r="T14" b="T15"/>
              <a:pathLst>
                <a:path w="82" h="49">
                  <a:moveTo>
                    <a:pt x="0" y="48"/>
                  </a:moveTo>
                  <a:lnTo>
                    <a:pt x="24" y="39"/>
                  </a:lnTo>
                  <a:lnTo>
                    <a:pt x="52" y="19"/>
                  </a:lnTo>
                  <a:lnTo>
                    <a:pt x="81"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80" name="Freeform 106"/>
            <p:cNvSpPr>
              <a:spLocks/>
            </p:cNvSpPr>
            <p:nvPr/>
          </p:nvSpPr>
          <p:spPr bwMode="auto">
            <a:xfrm>
              <a:off x="1101" y="811"/>
              <a:ext cx="56" cy="28"/>
            </a:xfrm>
            <a:custGeom>
              <a:avLst/>
              <a:gdLst>
                <a:gd name="T0" fmla="*/ 0 w 165"/>
                <a:gd name="T1" fmla="*/ 3 h 83"/>
                <a:gd name="T2" fmla="*/ 3 w 165"/>
                <a:gd name="T3" fmla="*/ 3 h 83"/>
                <a:gd name="T4" fmla="*/ 4 w 165"/>
                <a:gd name="T5" fmla="*/ 2 h 83"/>
                <a:gd name="T6" fmla="*/ 5 w 165"/>
                <a:gd name="T7" fmla="*/ 1 h 83"/>
                <a:gd name="T8" fmla="*/ 6 w 165"/>
                <a:gd name="T9" fmla="*/ 1 h 83"/>
                <a:gd name="T10" fmla="*/ 6 w 165"/>
                <a:gd name="T11" fmla="*/ 0 h 83"/>
                <a:gd name="T12" fmla="*/ 0 60000 65536"/>
                <a:gd name="T13" fmla="*/ 0 60000 65536"/>
                <a:gd name="T14" fmla="*/ 0 60000 65536"/>
                <a:gd name="T15" fmla="*/ 0 60000 65536"/>
                <a:gd name="T16" fmla="*/ 0 60000 65536"/>
                <a:gd name="T17" fmla="*/ 0 60000 65536"/>
                <a:gd name="T18" fmla="*/ 0 w 165"/>
                <a:gd name="T19" fmla="*/ 0 h 83"/>
                <a:gd name="T20" fmla="*/ 165 w 165"/>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165" h="83">
                  <a:moveTo>
                    <a:pt x="0" y="82"/>
                  </a:moveTo>
                  <a:lnTo>
                    <a:pt x="82" y="72"/>
                  </a:lnTo>
                  <a:lnTo>
                    <a:pt x="101" y="43"/>
                  </a:lnTo>
                  <a:lnTo>
                    <a:pt x="120" y="34"/>
                  </a:lnTo>
                  <a:lnTo>
                    <a:pt x="149" y="14"/>
                  </a:lnTo>
                  <a:lnTo>
                    <a:pt x="16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81" name="Freeform 107"/>
            <p:cNvSpPr>
              <a:spLocks/>
            </p:cNvSpPr>
            <p:nvPr/>
          </p:nvSpPr>
          <p:spPr bwMode="auto">
            <a:xfrm>
              <a:off x="1259" y="731"/>
              <a:ext cx="65" cy="44"/>
            </a:xfrm>
            <a:custGeom>
              <a:avLst/>
              <a:gdLst>
                <a:gd name="T0" fmla="*/ 0 w 193"/>
                <a:gd name="T1" fmla="*/ 5 h 130"/>
                <a:gd name="T2" fmla="*/ 3 w 193"/>
                <a:gd name="T3" fmla="*/ 4 h 130"/>
                <a:gd name="T4" fmla="*/ 4 w 193"/>
                <a:gd name="T5" fmla="*/ 3 h 130"/>
                <a:gd name="T6" fmla="*/ 5 w 193"/>
                <a:gd name="T7" fmla="*/ 1 h 130"/>
                <a:gd name="T8" fmla="*/ 7 w 193"/>
                <a:gd name="T9" fmla="*/ 1 h 130"/>
                <a:gd name="T10" fmla="*/ 7 w 193"/>
                <a:gd name="T11" fmla="*/ 0 h 130"/>
                <a:gd name="T12" fmla="*/ 0 60000 65536"/>
                <a:gd name="T13" fmla="*/ 0 60000 65536"/>
                <a:gd name="T14" fmla="*/ 0 60000 65536"/>
                <a:gd name="T15" fmla="*/ 0 60000 65536"/>
                <a:gd name="T16" fmla="*/ 0 60000 65536"/>
                <a:gd name="T17" fmla="*/ 0 60000 65536"/>
                <a:gd name="T18" fmla="*/ 0 w 193"/>
                <a:gd name="T19" fmla="*/ 0 h 130"/>
                <a:gd name="T20" fmla="*/ 193 w 193"/>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193" h="130">
                  <a:moveTo>
                    <a:pt x="0" y="129"/>
                  </a:moveTo>
                  <a:lnTo>
                    <a:pt x="72" y="110"/>
                  </a:lnTo>
                  <a:lnTo>
                    <a:pt x="120" y="72"/>
                  </a:lnTo>
                  <a:lnTo>
                    <a:pt x="144" y="29"/>
                  </a:lnTo>
                  <a:lnTo>
                    <a:pt x="173" y="14"/>
                  </a:lnTo>
                  <a:lnTo>
                    <a:pt x="19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82" name="Freeform 108"/>
            <p:cNvSpPr>
              <a:spLocks/>
            </p:cNvSpPr>
            <p:nvPr/>
          </p:nvSpPr>
          <p:spPr bwMode="auto">
            <a:xfrm>
              <a:off x="1288" y="768"/>
              <a:ext cx="128" cy="61"/>
            </a:xfrm>
            <a:custGeom>
              <a:avLst/>
              <a:gdLst>
                <a:gd name="T0" fmla="*/ 0 w 377"/>
                <a:gd name="T1" fmla="*/ 0 h 180"/>
                <a:gd name="T2" fmla="*/ 0 w 377"/>
                <a:gd name="T3" fmla="*/ 1 h 180"/>
                <a:gd name="T4" fmla="*/ 1 w 377"/>
                <a:gd name="T5" fmla="*/ 1 h 180"/>
                <a:gd name="T6" fmla="*/ 3 w 377"/>
                <a:gd name="T7" fmla="*/ 1 h 180"/>
                <a:gd name="T8" fmla="*/ 4 w 377"/>
                <a:gd name="T9" fmla="*/ 2 h 180"/>
                <a:gd name="T10" fmla="*/ 4 w 377"/>
                <a:gd name="T11" fmla="*/ 2 h 180"/>
                <a:gd name="T12" fmla="*/ 6 w 377"/>
                <a:gd name="T13" fmla="*/ 3 h 180"/>
                <a:gd name="T14" fmla="*/ 7 w 377"/>
                <a:gd name="T15" fmla="*/ 3 h 180"/>
                <a:gd name="T16" fmla="*/ 8 w 377"/>
                <a:gd name="T17" fmla="*/ 4 h 180"/>
                <a:gd name="T18" fmla="*/ 10 w 377"/>
                <a:gd name="T19" fmla="*/ 5 h 180"/>
                <a:gd name="T20" fmla="*/ 11 w 377"/>
                <a:gd name="T21" fmla="*/ 5 h 180"/>
                <a:gd name="T22" fmla="*/ 13 w 377"/>
                <a:gd name="T23" fmla="*/ 6 h 180"/>
                <a:gd name="T24" fmla="*/ 14 w 377"/>
                <a:gd name="T25" fmla="*/ 6 h 180"/>
                <a:gd name="T26" fmla="*/ 14 w 377"/>
                <a:gd name="T27" fmla="*/ 7 h 180"/>
                <a:gd name="T28" fmla="*/ 15 w 377"/>
                <a:gd name="T29" fmla="*/ 7 h 180"/>
                <a:gd name="T30" fmla="*/ 15 w 377"/>
                <a:gd name="T31" fmla="*/ 7 h 180"/>
                <a:gd name="T32" fmla="*/ 14 w 377"/>
                <a:gd name="T33" fmla="*/ 6 h 180"/>
                <a:gd name="T34" fmla="*/ 13 w 377"/>
                <a:gd name="T35" fmla="*/ 6 h 180"/>
                <a:gd name="T36" fmla="*/ 13 w 377"/>
                <a:gd name="T37" fmla="*/ 6 h 180"/>
                <a:gd name="T38" fmla="*/ 12 w 377"/>
                <a:gd name="T39" fmla="*/ 5 h 180"/>
                <a:gd name="T40" fmla="*/ 11 w 377"/>
                <a:gd name="T41" fmla="*/ 5 h 180"/>
                <a:gd name="T42" fmla="*/ 10 w 377"/>
                <a:gd name="T43" fmla="*/ 5 h 180"/>
                <a:gd name="T44" fmla="*/ 10 w 377"/>
                <a:gd name="T45" fmla="*/ 4 h 180"/>
                <a:gd name="T46" fmla="*/ 9 w 377"/>
                <a:gd name="T47" fmla="*/ 4 h 180"/>
                <a:gd name="T48" fmla="*/ 8 w 377"/>
                <a:gd name="T49" fmla="*/ 4 h 180"/>
                <a:gd name="T50" fmla="*/ 7 w 377"/>
                <a:gd name="T51" fmla="*/ 3 h 180"/>
                <a:gd name="T52" fmla="*/ 7 w 377"/>
                <a:gd name="T53" fmla="*/ 3 h 180"/>
                <a:gd name="T54" fmla="*/ 6 w 377"/>
                <a:gd name="T55" fmla="*/ 3 h 180"/>
                <a:gd name="T56" fmla="*/ 5 w 377"/>
                <a:gd name="T57" fmla="*/ 2 h 180"/>
                <a:gd name="T58" fmla="*/ 5 w 377"/>
                <a:gd name="T59" fmla="*/ 2 h 180"/>
                <a:gd name="T60" fmla="*/ 4 w 377"/>
                <a:gd name="T61" fmla="*/ 2 h 180"/>
                <a:gd name="T62" fmla="*/ 3 w 377"/>
                <a:gd name="T63" fmla="*/ 1 h 180"/>
                <a:gd name="T64" fmla="*/ 3 w 377"/>
                <a:gd name="T65" fmla="*/ 1 h 180"/>
                <a:gd name="T66" fmla="*/ 2 w 377"/>
                <a:gd name="T67" fmla="*/ 1 h 180"/>
                <a:gd name="T68" fmla="*/ 2 w 377"/>
                <a:gd name="T69" fmla="*/ 1 h 180"/>
                <a:gd name="T70" fmla="*/ 0 w 377"/>
                <a:gd name="T71" fmla="*/ 1 h 180"/>
                <a:gd name="T72" fmla="*/ 0 w 377"/>
                <a:gd name="T73" fmla="*/ 0 h 18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77"/>
                <a:gd name="T112" fmla="*/ 0 h 180"/>
                <a:gd name="T113" fmla="*/ 377 w 377"/>
                <a:gd name="T114" fmla="*/ 180 h 18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77" h="180">
                  <a:moveTo>
                    <a:pt x="0" y="0"/>
                  </a:moveTo>
                  <a:lnTo>
                    <a:pt x="13" y="18"/>
                  </a:lnTo>
                  <a:lnTo>
                    <a:pt x="35" y="26"/>
                  </a:lnTo>
                  <a:lnTo>
                    <a:pt x="75" y="35"/>
                  </a:lnTo>
                  <a:lnTo>
                    <a:pt x="97" y="48"/>
                  </a:lnTo>
                  <a:lnTo>
                    <a:pt x="112" y="56"/>
                  </a:lnTo>
                  <a:lnTo>
                    <a:pt x="149" y="72"/>
                  </a:lnTo>
                  <a:lnTo>
                    <a:pt x="177" y="85"/>
                  </a:lnTo>
                  <a:lnTo>
                    <a:pt x="219" y="104"/>
                  </a:lnTo>
                  <a:lnTo>
                    <a:pt x="240" y="125"/>
                  </a:lnTo>
                  <a:lnTo>
                    <a:pt x="280" y="138"/>
                  </a:lnTo>
                  <a:lnTo>
                    <a:pt x="328" y="155"/>
                  </a:lnTo>
                  <a:lnTo>
                    <a:pt x="345" y="163"/>
                  </a:lnTo>
                  <a:lnTo>
                    <a:pt x="357" y="170"/>
                  </a:lnTo>
                  <a:lnTo>
                    <a:pt x="376" y="179"/>
                  </a:lnTo>
                  <a:lnTo>
                    <a:pt x="371" y="173"/>
                  </a:lnTo>
                  <a:lnTo>
                    <a:pt x="361" y="166"/>
                  </a:lnTo>
                  <a:lnTo>
                    <a:pt x="342" y="157"/>
                  </a:lnTo>
                  <a:lnTo>
                    <a:pt x="321" y="147"/>
                  </a:lnTo>
                  <a:lnTo>
                    <a:pt x="310" y="142"/>
                  </a:lnTo>
                  <a:lnTo>
                    <a:pt x="272" y="133"/>
                  </a:lnTo>
                  <a:lnTo>
                    <a:pt x="251" y="125"/>
                  </a:lnTo>
                  <a:lnTo>
                    <a:pt x="248" y="114"/>
                  </a:lnTo>
                  <a:lnTo>
                    <a:pt x="235" y="104"/>
                  </a:lnTo>
                  <a:lnTo>
                    <a:pt x="206" y="93"/>
                  </a:lnTo>
                  <a:lnTo>
                    <a:pt x="195" y="85"/>
                  </a:lnTo>
                  <a:lnTo>
                    <a:pt x="182" y="82"/>
                  </a:lnTo>
                  <a:lnTo>
                    <a:pt x="152" y="69"/>
                  </a:lnTo>
                  <a:lnTo>
                    <a:pt x="121" y="62"/>
                  </a:lnTo>
                  <a:lnTo>
                    <a:pt x="118" y="59"/>
                  </a:lnTo>
                  <a:lnTo>
                    <a:pt x="107" y="46"/>
                  </a:lnTo>
                  <a:lnTo>
                    <a:pt x="80" y="38"/>
                  </a:lnTo>
                  <a:lnTo>
                    <a:pt x="67" y="30"/>
                  </a:lnTo>
                  <a:lnTo>
                    <a:pt x="56" y="29"/>
                  </a:lnTo>
                  <a:lnTo>
                    <a:pt x="40" y="24"/>
                  </a:lnTo>
                  <a:lnTo>
                    <a:pt x="13" y="18"/>
                  </a:lnTo>
                  <a:lnTo>
                    <a:pt x="0" y="0"/>
                  </a:lnTo>
                </a:path>
              </a:pathLst>
            </a:custGeom>
            <a:solidFill>
              <a:schemeClr val="bg1"/>
            </a:solidFill>
            <a:ln w="6350" cap="rnd">
              <a:solidFill>
                <a:schemeClr val="tx1"/>
              </a:solidFill>
              <a:round/>
              <a:headEnd/>
              <a:tailEnd/>
            </a:ln>
          </p:spPr>
          <p:txBody>
            <a:bodyPr/>
            <a:lstStyle/>
            <a:p>
              <a:endParaRPr lang="zh-CN" altLang="en-US"/>
            </a:p>
          </p:txBody>
        </p:sp>
        <p:sp>
          <p:nvSpPr>
            <p:cNvPr id="28783" name="Freeform 109"/>
            <p:cNvSpPr>
              <a:spLocks/>
            </p:cNvSpPr>
            <p:nvPr/>
          </p:nvSpPr>
          <p:spPr bwMode="auto">
            <a:xfrm>
              <a:off x="1293" y="772"/>
              <a:ext cx="90" cy="49"/>
            </a:xfrm>
            <a:custGeom>
              <a:avLst/>
              <a:gdLst>
                <a:gd name="T0" fmla="*/ 0 w 265"/>
                <a:gd name="T1" fmla="*/ 6 h 145"/>
                <a:gd name="T2" fmla="*/ 2 w 265"/>
                <a:gd name="T3" fmla="*/ 5 h 145"/>
                <a:gd name="T4" fmla="*/ 3 w 265"/>
                <a:gd name="T5" fmla="*/ 4 h 145"/>
                <a:gd name="T6" fmla="*/ 4 w 265"/>
                <a:gd name="T7" fmla="*/ 3 h 145"/>
                <a:gd name="T8" fmla="*/ 7 w 265"/>
                <a:gd name="T9" fmla="*/ 2 h 145"/>
                <a:gd name="T10" fmla="*/ 8 w 265"/>
                <a:gd name="T11" fmla="*/ 1 h 145"/>
                <a:gd name="T12" fmla="*/ 11 w 265"/>
                <a:gd name="T13" fmla="*/ 0 h 145"/>
                <a:gd name="T14" fmla="*/ 0 60000 65536"/>
                <a:gd name="T15" fmla="*/ 0 60000 65536"/>
                <a:gd name="T16" fmla="*/ 0 60000 65536"/>
                <a:gd name="T17" fmla="*/ 0 60000 65536"/>
                <a:gd name="T18" fmla="*/ 0 60000 65536"/>
                <a:gd name="T19" fmla="*/ 0 60000 65536"/>
                <a:gd name="T20" fmla="*/ 0 60000 65536"/>
                <a:gd name="T21" fmla="*/ 0 w 265"/>
                <a:gd name="T22" fmla="*/ 0 h 145"/>
                <a:gd name="T23" fmla="*/ 265 w 265"/>
                <a:gd name="T24" fmla="*/ 145 h 1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5" h="145">
                  <a:moveTo>
                    <a:pt x="0" y="144"/>
                  </a:moveTo>
                  <a:lnTo>
                    <a:pt x="48" y="134"/>
                  </a:lnTo>
                  <a:lnTo>
                    <a:pt x="81" y="110"/>
                  </a:lnTo>
                  <a:lnTo>
                    <a:pt x="115" y="91"/>
                  </a:lnTo>
                  <a:lnTo>
                    <a:pt x="182" y="62"/>
                  </a:lnTo>
                  <a:lnTo>
                    <a:pt x="216" y="24"/>
                  </a:lnTo>
                  <a:lnTo>
                    <a:pt x="26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84" name="Freeform 110"/>
            <p:cNvSpPr>
              <a:spLocks/>
            </p:cNvSpPr>
            <p:nvPr/>
          </p:nvSpPr>
          <p:spPr bwMode="auto">
            <a:xfrm>
              <a:off x="1428" y="943"/>
              <a:ext cx="72" cy="25"/>
            </a:xfrm>
            <a:custGeom>
              <a:avLst/>
              <a:gdLst>
                <a:gd name="T0" fmla="*/ 0 w 212"/>
                <a:gd name="T1" fmla="*/ 3 h 73"/>
                <a:gd name="T2" fmla="*/ 2 w 212"/>
                <a:gd name="T3" fmla="*/ 2 h 73"/>
                <a:gd name="T4" fmla="*/ 5 w 212"/>
                <a:gd name="T5" fmla="*/ 1 h 73"/>
                <a:gd name="T6" fmla="*/ 7 w 212"/>
                <a:gd name="T7" fmla="*/ 1 h 73"/>
                <a:gd name="T8" fmla="*/ 8 w 212"/>
                <a:gd name="T9" fmla="*/ 0 h 73"/>
                <a:gd name="T10" fmla="*/ 0 60000 65536"/>
                <a:gd name="T11" fmla="*/ 0 60000 65536"/>
                <a:gd name="T12" fmla="*/ 0 60000 65536"/>
                <a:gd name="T13" fmla="*/ 0 60000 65536"/>
                <a:gd name="T14" fmla="*/ 0 60000 65536"/>
                <a:gd name="T15" fmla="*/ 0 w 212"/>
                <a:gd name="T16" fmla="*/ 0 h 73"/>
                <a:gd name="T17" fmla="*/ 212 w 212"/>
                <a:gd name="T18" fmla="*/ 73 h 73"/>
              </a:gdLst>
              <a:ahLst/>
              <a:cxnLst>
                <a:cxn ang="T10">
                  <a:pos x="T0" y="T1"/>
                </a:cxn>
                <a:cxn ang="T11">
                  <a:pos x="T2" y="T3"/>
                </a:cxn>
                <a:cxn ang="T12">
                  <a:pos x="T4" y="T5"/>
                </a:cxn>
                <a:cxn ang="T13">
                  <a:pos x="T6" y="T7"/>
                </a:cxn>
                <a:cxn ang="T14">
                  <a:pos x="T8" y="T9"/>
                </a:cxn>
              </a:cxnLst>
              <a:rect l="T15" t="T16" r="T17" b="T18"/>
              <a:pathLst>
                <a:path w="212" h="73">
                  <a:moveTo>
                    <a:pt x="0" y="72"/>
                  </a:moveTo>
                  <a:lnTo>
                    <a:pt x="48" y="53"/>
                  </a:lnTo>
                  <a:lnTo>
                    <a:pt x="120" y="38"/>
                  </a:lnTo>
                  <a:lnTo>
                    <a:pt x="192" y="19"/>
                  </a:lnTo>
                  <a:lnTo>
                    <a:pt x="211"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85" name="Freeform 111"/>
            <p:cNvSpPr>
              <a:spLocks/>
            </p:cNvSpPr>
            <p:nvPr/>
          </p:nvSpPr>
          <p:spPr bwMode="auto">
            <a:xfrm>
              <a:off x="1540" y="878"/>
              <a:ext cx="55" cy="42"/>
            </a:xfrm>
            <a:custGeom>
              <a:avLst/>
              <a:gdLst>
                <a:gd name="T0" fmla="*/ 0 w 160"/>
                <a:gd name="T1" fmla="*/ 5 h 126"/>
                <a:gd name="T2" fmla="*/ 3 w 160"/>
                <a:gd name="T3" fmla="*/ 3 h 126"/>
                <a:gd name="T4" fmla="*/ 3 w 160"/>
                <a:gd name="T5" fmla="*/ 2 h 126"/>
                <a:gd name="T6" fmla="*/ 6 w 160"/>
                <a:gd name="T7" fmla="*/ 1 h 126"/>
                <a:gd name="T8" fmla="*/ 7 w 160"/>
                <a:gd name="T9" fmla="*/ 0 h 126"/>
                <a:gd name="T10" fmla="*/ 0 60000 65536"/>
                <a:gd name="T11" fmla="*/ 0 60000 65536"/>
                <a:gd name="T12" fmla="*/ 0 60000 65536"/>
                <a:gd name="T13" fmla="*/ 0 60000 65536"/>
                <a:gd name="T14" fmla="*/ 0 60000 65536"/>
                <a:gd name="T15" fmla="*/ 0 w 160"/>
                <a:gd name="T16" fmla="*/ 0 h 126"/>
                <a:gd name="T17" fmla="*/ 160 w 160"/>
                <a:gd name="T18" fmla="*/ 126 h 126"/>
              </a:gdLst>
              <a:ahLst/>
              <a:cxnLst>
                <a:cxn ang="T10">
                  <a:pos x="T0" y="T1"/>
                </a:cxn>
                <a:cxn ang="T11">
                  <a:pos x="T2" y="T3"/>
                </a:cxn>
                <a:cxn ang="T12">
                  <a:pos x="T4" y="T5"/>
                </a:cxn>
                <a:cxn ang="T13">
                  <a:pos x="T6" y="T7"/>
                </a:cxn>
                <a:cxn ang="T14">
                  <a:pos x="T8" y="T9"/>
                </a:cxn>
              </a:cxnLst>
              <a:rect l="T15" t="T16" r="T17" b="T18"/>
              <a:pathLst>
                <a:path w="160" h="126">
                  <a:moveTo>
                    <a:pt x="0" y="125"/>
                  </a:moveTo>
                  <a:lnTo>
                    <a:pt x="63" y="77"/>
                  </a:lnTo>
                  <a:lnTo>
                    <a:pt x="87" y="57"/>
                  </a:lnTo>
                  <a:lnTo>
                    <a:pt x="135" y="29"/>
                  </a:lnTo>
                  <a:lnTo>
                    <a:pt x="159"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86" name="Freeform 112"/>
            <p:cNvSpPr>
              <a:spLocks/>
            </p:cNvSpPr>
            <p:nvPr/>
          </p:nvSpPr>
          <p:spPr bwMode="auto">
            <a:xfrm>
              <a:off x="1059" y="1023"/>
              <a:ext cx="93" cy="38"/>
            </a:xfrm>
            <a:custGeom>
              <a:avLst/>
              <a:gdLst>
                <a:gd name="T0" fmla="*/ 0 w 274"/>
                <a:gd name="T1" fmla="*/ 4 h 111"/>
                <a:gd name="T2" fmla="*/ 2 w 274"/>
                <a:gd name="T3" fmla="*/ 3 h 111"/>
                <a:gd name="T4" fmla="*/ 3 w 274"/>
                <a:gd name="T5" fmla="*/ 3 h 111"/>
                <a:gd name="T6" fmla="*/ 5 w 274"/>
                <a:gd name="T7" fmla="*/ 2 h 111"/>
                <a:gd name="T8" fmla="*/ 6 w 274"/>
                <a:gd name="T9" fmla="*/ 2 h 111"/>
                <a:gd name="T10" fmla="*/ 7 w 274"/>
                <a:gd name="T11" fmla="*/ 1 h 111"/>
                <a:gd name="T12" fmla="*/ 9 w 274"/>
                <a:gd name="T13" fmla="*/ 1 h 111"/>
                <a:gd name="T14" fmla="*/ 11 w 274"/>
                <a:gd name="T15" fmla="*/ 0 h 111"/>
                <a:gd name="T16" fmla="*/ 0 60000 65536"/>
                <a:gd name="T17" fmla="*/ 0 60000 65536"/>
                <a:gd name="T18" fmla="*/ 0 60000 65536"/>
                <a:gd name="T19" fmla="*/ 0 60000 65536"/>
                <a:gd name="T20" fmla="*/ 0 60000 65536"/>
                <a:gd name="T21" fmla="*/ 0 60000 65536"/>
                <a:gd name="T22" fmla="*/ 0 60000 65536"/>
                <a:gd name="T23" fmla="*/ 0 60000 65536"/>
                <a:gd name="T24" fmla="*/ 0 w 274"/>
                <a:gd name="T25" fmla="*/ 0 h 111"/>
                <a:gd name="T26" fmla="*/ 274 w 274"/>
                <a:gd name="T27" fmla="*/ 111 h 1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4" h="111">
                  <a:moveTo>
                    <a:pt x="0" y="110"/>
                  </a:moveTo>
                  <a:lnTo>
                    <a:pt x="52" y="86"/>
                  </a:lnTo>
                  <a:lnTo>
                    <a:pt x="81" y="72"/>
                  </a:lnTo>
                  <a:lnTo>
                    <a:pt x="120" y="62"/>
                  </a:lnTo>
                  <a:lnTo>
                    <a:pt x="168" y="58"/>
                  </a:lnTo>
                  <a:lnTo>
                    <a:pt x="187" y="38"/>
                  </a:lnTo>
                  <a:lnTo>
                    <a:pt x="225" y="19"/>
                  </a:lnTo>
                  <a:lnTo>
                    <a:pt x="273"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87" name="Freeform 113"/>
            <p:cNvSpPr>
              <a:spLocks/>
            </p:cNvSpPr>
            <p:nvPr/>
          </p:nvSpPr>
          <p:spPr bwMode="auto">
            <a:xfrm>
              <a:off x="1249" y="951"/>
              <a:ext cx="51" cy="28"/>
            </a:xfrm>
            <a:custGeom>
              <a:avLst/>
              <a:gdLst>
                <a:gd name="T0" fmla="*/ 0 w 150"/>
                <a:gd name="T1" fmla="*/ 3 h 82"/>
                <a:gd name="T2" fmla="*/ 1 w 150"/>
                <a:gd name="T3" fmla="*/ 2 h 82"/>
                <a:gd name="T4" fmla="*/ 3 w 150"/>
                <a:gd name="T5" fmla="*/ 2 h 82"/>
                <a:gd name="T6" fmla="*/ 4 w 150"/>
                <a:gd name="T7" fmla="*/ 1 h 82"/>
                <a:gd name="T8" fmla="*/ 6 w 150"/>
                <a:gd name="T9" fmla="*/ 0 h 82"/>
                <a:gd name="T10" fmla="*/ 0 60000 65536"/>
                <a:gd name="T11" fmla="*/ 0 60000 65536"/>
                <a:gd name="T12" fmla="*/ 0 60000 65536"/>
                <a:gd name="T13" fmla="*/ 0 60000 65536"/>
                <a:gd name="T14" fmla="*/ 0 60000 65536"/>
                <a:gd name="T15" fmla="*/ 0 w 150"/>
                <a:gd name="T16" fmla="*/ 0 h 82"/>
                <a:gd name="T17" fmla="*/ 150 w 150"/>
                <a:gd name="T18" fmla="*/ 82 h 82"/>
              </a:gdLst>
              <a:ahLst/>
              <a:cxnLst>
                <a:cxn ang="T10">
                  <a:pos x="T0" y="T1"/>
                </a:cxn>
                <a:cxn ang="T11">
                  <a:pos x="T2" y="T3"/>
                </a:cxn>
                <a:cxn ang="T12">
                  <a:pos x="T4" y="T5"/>
                </a:cxn>
                <a:cxn ang="T13">
                  <a:pos x="T6" y="T7"/>
                </a:cxn>
                <a:cxn ang="T14">
                  <a:pos x="T8" y="T9"/>
                </a:cxn>
              </a:cxnLst>
              <a:rect l="T15" t="T16" r="T17" b="T18"/>
              <a:pathLst>
                <a:path w="150" h="82">
                  <a:moveTo>
                    <a:pt x="0" y="81"/>
                  </a:moveTo>
                  <a:lnTo>
                    <a:pt x="39" y="57"/>
                  </a:lnTo>
                  <a:lnTo>
                    <a:pt x="72" y="43"/>
                  </a:lnTo>
                  <a:lnTo>
                    <a:pt x="115" y="14"/>
                  </a:lnTo>
                  <a:lnTo>
                    <a:pt x="149"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88" name="Freeform 114"/>
            <p:cNvSpPr>
              <a:spLocks/>
            </p:cNvSpPr>
            <p:nvPr/>
          </p:nvSpPr>
          <p:spPr bwMode="auto">
            <a:xfrm>
              <a:off x="1129" y="1055"/>
              <a:ext cx="75" cy="30"/>
            </a:xfrm>
            <a:custGeom>
              <a:avLst/>
              <a:gdLst>
                <a:gd name="T0" fmla="*/ 0 w 222"/>
                <a:gd name="T1" fmla="*/ 3 h 87"/>
                <a:gd name="T2" fmla="*/ 3 w 222"/>
                <a:gd name="T3" fmla="*/ 3 h 87"/>
                <a:gd name="T4" fmla="*/ 4 w 222"/>
                <a:gd name="T5" fmla="*/ 2 h 87"/>
                <a:gd name="T6" fmla="*/ 7 w 222"/>
                <a:gd name="T7" fmla="*/ 1 h 87"/>
                <a:gd name="T8" fmla="*/ 8 w 222"/>
                <a:gd name="T9" fmla="*/ 0 h 87"/>
                <a:gd name="T10" fmla="*/ 0 60000 65536"/>
                <a:gd name="T11" fmla="*/ 0 60000 65536"/>
                <a:gd name="T12" fmla="*/ 0 60000 65536"/>
                <a:gd name="T13" fmla="*/ 0 60000 65536"/>
                <a:gd name="T14" fmla="*/ 0 60000 65536"/>
                <a:gd name="T15" fmla="*/ 0 w 222"/>
                <a:gd name="T16" fmla="*/ 0 h 87"/>
                <a:gd name="T17" fmla="*/ 222 w 222"/>
                <a:gd name="T18" fmla="*/ 87 h 87"/>
              </a:gdLst>
              <a:ahLst/>
              <a:cxnLst>
                <a:cxn ang="T10">
                  <a:pos x="T0" y="T1"/>
                </a:cxn>
                <a:cxn ang="T11">
                  <a:pos x="T2" y="T3"/>
                </a:cxn>
                <a:cxn ang="T12">
                  <a:pos x="T4" y="T5"/>
                </a:cxn>
                <a:cxn ang="T13">
                  <a:pos x="T6" y="T7"/>
                </a:cxn>
                <a:cxn ang="T14">
                  <a:pos x="T8" y="T9"/>
                </a:cxn>
              </a:cxnLst>
              <a:rect l="T15" t="T16" r="T17" b="T18"/>
              <a:pathLst>
                <a:path w="222" h="87">
                  <a:moveTo>
                    <a:pt x="0" y="86"/>
                  </a:moveTo>
                  <a:lnTo>
                    <a:pt x="82" y="77"/>
                  </a:lnTo>
                  <a:lnTo>
                    <a:pt x="115" y="48"/>
                  </a:lnTo>
                  <a:lnTo>
                    <a:pt x="178" y="24"/>
                  </a:lnTo>
                  <a:lnTo>
                    <a:pt x="221"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89" name="Freeform 115"/>
            <p:cNvSpPr>
              <a:spLocks/>
            </p:cNvSpPr>
            <p:nvPr/>
          </p:nvSpPr>
          <p:spPr bwMode="auto">
            <a:xfrm>
              <a:off x="1246" y="994"/>
              <a:ext cx="90" cy="41"/>
            </a:xfrm>
            <a:custGeom>
              <a:avLst/>
              <a:gdLst>
                <a:gd name="T0" fmla="*/ 0 w 265"/>
                <a:gd name="T1" fmla="*/ 5 h 121"/>
                <a:gd name="T2" fmla="*/ 2 w 265"/>
                <a:gd name="T3" fmla="*/ 5 h 121"/>
                <a:gd name="T4" fmla="*/ 4 w 265"/>
                <a:gd name="T5" fmla="*/ 4 h 121"/>
                <a:gd name="T6" fmla="*/ 6 w 265"/>
                <a:gd name="T7" fmla="*/ 2 h 121"/>
                <a:gd name="T8" fmla="*/ 6 w 265"/>
                <a:gd name="T9" fmla="*/ 2 h 121"/>
                <a:gd name="T10" fmla="*/ 7 w 265"/>
                <a:gd name="T11" fmla="*/ 1 h 121"/>
                <a:gd name="T12" fmla="*/ 8 w 265"/>
                <a:gd name="T13" fmla="*/ 1 h 121"/>
                <a:gd name="T14" fmla="*/ 10 w 265"/>
                <a:gd name="T15" fmla="*/ 1 h 121"/>
                <a:gd name="T16" fmla="*/ 11 w 265"/>
                <a:gd name="T17" fmla="*/ 0 h 1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5"/>
                <a:gd name="T28" fmla="*/ 0 h 121"/>
                <a:gd name="T29" fmla="*/ 265 w 265"/>
                <a:gd name="T30" fmla="*/ 121 h 1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5" h="121">
                  <a:moveTo>
                    <a:pt x="0" y="120"/>
                  </a:moveTo>
                  <a:lnTo>
                    <a:pt x="48" y="120"/>
                  </a:lnTo>
                  <a:lnTo>
                    <a:pt x="115" y="110"/>
                  </a:lnTo>
                  <a:lnTo>
                    <a:pt x="144" y="57"/>
                  </a:lnTo>
                  <a:lnTo>
                    <a:pt x="168" y="43"/>
                  </a:lnTo>
                  <a:lnTo>
                    <a:pt x="192" y="38"/>
                  </a:lnTo>
                  <a:lnTo>
                    <a:pt x="220" y="19"/>
                  </a:lnTo>
                  <a:lnTo>
                    <a:pt x="244" y="14"/>
                  </a:lnTo>
                  <a:lnTo>
                    <a:pt x="26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90" name="Freeform 116"/>
            <p:cNvSpPr>
              <a:spLocks/>
            </p:cNvSpPr>
            <p:nvPr/>
          </p:nvSpPr>
          <p:spPr bwMode="auto">
            <a:xfrm>
              <a:off x="1290" y="1222"/>
              <a:ext cx="95" cy="42"/>
            </a:xfrm>
            <a:custGeom>
              <a:avLst/>
              <a:gdLst>
                <a:gd name="T0" fmla="*/ 0 w 280"/>
                <a:gd name="T1" fmla="*/ 5 h 125"/>
                <a:gd name="T2" fmla="*/ 2 w 280"/>
                <a:gd name="T3" fmla="*/ 4 h 125"/>
                <a:gd name="T4" fmla="*/ 5 w 280"/>
                <a:gd name="T5" fmla="*/ 3 h 125"/>
                <a:gd name="T6" fmla="*/ 7 w 280"/>
                <a:gd name="T7" fmla="*/ 2 h 125"/>
                <a:gd name="T8" fmla="*/ 8 w 280"/>
                <a:gd name="T9" fmla="*/ 1 h 125"/>
                <a:gd name="T10" fmla="*/ 9 w 280"/>
                <a:gd name="T11" fmla="*/ 1 h 125"/>
                <a:gd name="T12" fmla="*/ 11 w 280"/>
                <a:gd name="T13" fmla="*/ 0 h 125"/>
                <a:gd name="T14" fmla="*/ 0 60000 65536"/>
                <a:gd name="T15" fmla="*/ 0 60000 65536"/>
                <a:gd name="T16" fmla="*/ 0 60000 65536"/>
                <a:gd name="T17" fmla="*/ 0 60000 65536"/>
                <a:gd name="T18" fmla="*/ 0 60000 65536"/>
                <a:gd name="T19" fmla="*/ 0 60000 65536"/>
                <a:gd name="T20" fmla="*/ 0 60000 65536"/>
                <a:gd name="T21" fmla="*/ 0 w 280"/>
                <a:gd name="T22" fmla="*/ 0 h 125"/>
                <a:gd name="T23" fmla="*/ 280 w 280"/>
                <a:gd name="T24" fmla="*/ 125 h 1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0" h="125">
                  <a:moveTo>
                    <a:pt x="0" y="124"/>
                  </a:moveTo>
                  <a:lnTo>
                    <a:pt x="53" y="110"/>
                  </a:lnTo>
                  <a:lnTo>
                    <a:pt x="135" y="86"/>
                  </a:lnTo>
                  <a:lnTo>
                    <a:pt x="183" y="57"/>
                  </a:lnTo>
                  <a:lnTo>
                    <a:pt x="221" y="33"/>
                  </a:lnTo>
                  <a:lnTo>
                    <a:pt x="245" y="14"/>
                  </a:lnTo>
                  <a:lnTo>
                    <a:pt x="279"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91" name="Freeform 117"/>
            <p:cNvSpPr>
              <a:spLocks/>
            </p:cNvSpPr>
            <p:nvPr/>
          </p:nvSpPr>
          <p:spPr bwMode="auto">
            <a:xfrm>
              <a:off x="1407" y="1202"/>
              <a:ext cx="22" cy="8"/>
            </a:xfrm>
            <a:custGeom>
              <a:avLst/>
              <a:gdLst>
                <a:gd name="T0" fmla="*/ 0 w 63"/>
                <a:gd name="T1" fmla="*/ 1 h 25"/>
                <a:gd name="T2" fmla="*/ 2 w 63"/>
                <a:gd name="T3" fmla="*/ 1 h 25"/>
                <a:gd name="T4" fmla="*/ 3 w 63"/>
                <a:gd name="T5" fmla="*/ 0 h 25"/>
                <a:gd name="T6" fmla="*/ 0 60000 65536"/>
                <a:gd name="T7" fmla="*/ 0 60000 65536"/>
                <a:gd name="T8" fmla="*/ 0 60000 65536"/>
                <a:gd name="T9" fmla="*/ 0 w 63"/>
                <a:gd name="T10" fmla="*/ 0 h 25"/>
                <a:gd name="T11" fmla="*/ 63 w 63"/>
                <a:gd name="T12" fmla="*/ 25 h 25"/>
              </a:gdLst>
              <a:ahLst/>
              <a:cxnLst>
                <a:cxn ang="T6">
                  <a:pos x="T0" y="T1"/>
                </a:cxn>
                <a:cxn ang="T7">
                  <a:pos x="T2" y="T3"/>
                </a:cxn>
                <a:cxn ang="T8">
                  <a:pos x="T4" y="T5"/>
                </a:cxn>
              </a:cxnLst>
              <a:rect l="T9" t="T10" r="T11" b="T12"/>
              <a:pathLst>
                <a:path w="63" h="25">
                  <a:moveTo>
                    <a:pt x="0" y="24"/>
                  </a:moveTo>
                  <a:lnTo>
                    <a:pt x="38" y="19"/>
                  </a:lnTo>
                  <a:lnTo>
                    <a:pt x="6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92" name="Freeform 118"/>
            <p:cNvSpPr>
              <a:spLocks/>
            </p:cNvSpPr>
            <p:nvPr/>
          </p:nvSpPr>
          <p:spPr bwMode="auto">
            <a:xfrm>
              <a:off x="1459" y="1163"/>
              <a:ext cx="75" cy="25"/>
            </a:xfrm>
            <a:custGeom>
              <a:avLst/>
              <a:gdLst>
                <a:gd name="T0" fmla="*/ 0 w 222"/>
                <a:gd name="T1" fmla="*/ 3 h 73"/>
                <a:gd name="T2" fmla="*/ 1 w 222"/>
                <a:gd name="T3" fmla="*/ 3 h 73"/>
                <a:gd name="T4" fmla="*/ 3 w 222"/>
                <a:gd name="T5" fmla="*/ 2 h 73"/>
                <a:gd name="T6" fmla="*/ 5 w 222"/>
                <a:gd name="T7" fmla="*/ 1 h 73"/>
                <a:gd name="T8" fmla="*/ 6 w 222"/>
                <a:gd name="T9" fmla="*/ 0 h 73"/>
                <a:gd name="T10" fmla="*/ 8 w 222"/>
                <a:gd name="T11" fmla="*/ 0 h 73"/>
                <a:gd name="T12" fmla="*/ 0 60000 65536"/>
                <a:gd name="T13" fmla="*/ 0 60000 65536"/>
                <a:gd name="T14" fmla="*/ 0 60000 65536"/>
                <a:gd name="T15" fmla="*/ 0 60000 65536"/>
                <a:gd name="T16" fmla="*/ 0 60000 65536"/>
                <a:gd name="T17" fmla="*/ 0 60000 65536"/>
                <a:gd name="T18" fmla="*/ 0 w 222"/>
                <a:gd name="T19" fmla="*/ 0 h 73"/>
                <a:gd name="T20" fmla="*/ 222 w 222"/>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222" h="73">
                  <a:moveTo>
                    <a:pt x="0" y="72"/>
                  </a:moveTo>
                  <a:lnTo>
                    <a:pt x="39" y="67"/>
                  </a:lnTo>
                  <a:lnTo>
                    <a:pt x="77" y="53"/>
                  </a:lnTo>
                  <a:lnTo>
                    <a:pt x="120" y="24"/>
                  </a:lnTo>
                  <a:lnTo>
                    <a:pt x="149" y="9"/>
                  </a:lnTo>
                  <a:lnTo>
                    <a:pt x="221"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93" name="Freeform 119"/>
            <p:cNvSpPr>
              <a:spLocks/>
            </p:cNvSpPr>
            <p:nvPr/>
          </p:nvSpPr>
          <p:spPr bwMode="auto">
            <a:xfrm>
              <a:off x="1493" y="1166"/>
              <a:ext cx="28" cy="53"/>
            </a:xfrm>
            <a:custGeom>
              <a:avLst/>
              <a:gdLst>
                <a:gd name="T0" fmla="*/ 0 w 83"/>
                <a:gd name="T1" fmla="*/ 0 h 155"/>
                <a:gd name="T2" fmla="*/ 1 w 83"/>
                <a:gd name="T3" fmla="*/ 2 h 155"/>
                <a:gd name="T4" fmla="*/ 2 w 83"/>
                <a:gd name="T5" fmla="*/ 3 h 155"/>
                <a:gd name="T6" fmla="*/ 2 w 83"/>
                <a:gd name="T7" fmla="*/ 5 h 155"/>
                <a:gd name="T8" fmla="*/ 3 w 83"/>
                <a:gd name="T9" fmla="*/ 6 h 155"/>
                <a:gd name="T10" fmla="*/ 0 60000 65536"/>
                <a:gd name="T11" fmla="*/ 0 60000 65536"/>
                <a:gd name="T12" fmla="*/ 0 60000 65536"/>
                <a:gd name="T13" fmla="*/ 0 60000 65536"/>
                <a:gd name="T14" fmla="*/ 0 60000 65536"/>
                <a:gd name="T15" fmla="*/ 0 w 83"/>
                <a:gd name="T16" fmla="*/ 0 h 155"/>
                <a:gd name="T17" fmla="*/ 83 w 83"/>
                <a:gd name="T18" fmla="*/ 155 h 155"/>
              </a:gdLst>
              <a:ahLst/>
              <a:cxnLst>
                <a:cxn ang="T10">
                  <a:pos x="T0" y="T1"/>
                </a:cxn>
                <a:cxn ang="T11">
                  <a:pos x="T2" y="T3"/>
                </a:cxn>
                <a:cxn ang="T12">
                  <a:pos x="T4" y="T5"/>
                </a:cxn>
                <a:cxn ang="T13">
                  <a:pos x="T6" y="T7"/>
                </a:cxn>
                <a:cxn ang="T14">
                  <a:pos x="T8" y="T9"/>
                </a:cxn>
              </a:cxnLst>
              <a:rect l="T15" t="T16" r="T17" b="T18"/>
              <a:pathLst>
                <a:path w="83" h="155">
                  <a:moveTo>
                    <a:pt x="0" y="0"/>
                  </a:moveTo>
                  <a:lnTo>
                    <a:pt x="29" y="48"/>
                  </a:lnTo>
                  <a:lnTo>
                    <a:pt x="43" y="87"/>
                  </a:lnTo>
                  <a:lnTo>
                    <a:pt x="63" y="116"/>
                  </a:lnTo>
                  <a:lnTo>
                    <a:pt x="82" y="154"/>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94" name="Freeform 120"/>
            <p:cNvSpPr>
              <a:spLocks/>
            </p:cNvSpPr>
            <p:nvPr/>
          </p:nvSpPr>
          <p:spPr bwMode="auto">
            <a:xfrm>
              <a:off x="1583" y="1088"/>
              <a:ext cx="65" cy="26"/>
            </a:xfrm>
            <a:custGeom>
              <a:avLst/>
              <a:gdLst>
                <a:gd name="T0" fmla="*/ 0 w 193"/>
                <a:gd name="T1" fmla="*/ 3 h 78"/>
                <a:gd name="T2" fmla="*/ 4 w 193"/>
                <a:gd name="T3" fmla="*/ 2 h 78"/>
                <a:gd name="T4" fmla="*/ 4 w 193"/>
                <a:gd name="T5" fmla="*/ 2 h 78"/>
                <a:gd name="T6" fmla="*/ 5 w 193"/>
                <a:gd name="T7" fmla="*/ 1 h 78"/>
                <a:gd name="T8" fmla="*/ 7 w 193"/>
                <a:gd name="T9" fmla="*/ 0 h 78"/>
                <a:gd name="T10" fmla="*/ 0 60000 65536"/>
                <a:gd name="T11" fmla="*/ 0 60000 65536"/>
                <a:gd name="T12" fmla="*/ 0 60000 65536"/>
                <a:gd name="T13" fmla="*/ 0 60000 65536"/>
                <a:gd name="T14" fmla="*/ 0 60000 65536"/>
                <a:gd name="T15" fmla="*/ 0 w 193"/>
                <a:gd name="T16" fmla="*/ 0 h 78"/>
                <a:gd name="T17" fmla="*/ 193 w 193"/>
                <a:gd name="T18" fmla="*/ 78 h 78"/>
              </a:gdLst>
              <a:ahLst/>
              <a:cxnLst>
                <a:cxn ang="T10">
                  <a:pos x="T0" y="T1"/>
                </a:cxn>
                <a:cxn ang="T11">
                  <a:pos x="T2" y="T3"/>
                </a:cxn>
                <a:cxn ang="T12">
                  <a:pos x="T4" y="T5"/>
                </a:cxn>
                <a:cxn ang="T13">
                  <a:pos x="T6" y="T7"/>
                </a:cxn>
                <a:cxn ang="T14">
                  <a:pos x="T8" y="T9"/>
                </a:cxn>
              </a:cxnLst>
              <a:rect l="T15" t="T16" r="T17" b="T18"/>
              <a:pathLst>
                <a:path w="193" h="78">
                  <a:moveTo>
                    <a:pt x="0" y="77"/>
                  </a:moveTo>
                  <a:lnTo>
                    <a:pt x="96" y="62"/>
                  </a:lnTo>
                  <a:lnTo>
                    <a:pt x="115" y="43"/>
                  </a:lnTo>
                  <a:lnTo>
                    <a:pt x="144" y="24"/>
                  </a:lnTo>
                  <a:lnTo>
                    <a:pt x="19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95" name="Freeform 121"/>
            <p:cNvSpPr>
              <a:spLocks/>
            </p:cNvSpPr>
            <p:nvPr/>
          </p:nvSpPr>
          <p:spPr bwMode="auto">
            <a:xfrm>
              <a:off x="1596" y="1159"/>
              <a:ext cx="95" cy="42"/>
            </a:xfrm>
            <a:custGeom>
              <a:avLst/>
              <a:gdLst>
                <a:gd name="T0" fmla="*/ 0 w 279"/>
                <a:gd name="T1" fmla="*/ 3 h 123"/>
                <a:gd name="T2" fmla="*/ 1 w 279"/>
                <a:gd name="T3" fmla="*/ 4 h 123"/>
                <a:gd name="T4" fmla="*/ 3 w 279"/>
                <a:gd name="T5" fmla="*/ 5 h 123"/>
                <a:gd name="T6" fmla="*/ 4 w 279"/>
                <a:gd name="T7" fmla="*/ 5 h 123"/>
                <a:gd name="T8" fmla="*/ 6 w 279"/>
                <a:gd name="T9" fmla="*/ 4 h 123"/>
                <a:gd name="T10" fmla="*/ 7 w 279"/>
                <a:gd name="T11" fmla="*/ 3 h 123"/>
                <a:gd name="T12" fmla="*/ 10 w 279"/>
                <a:gd name="T13" fmla="*/ 1 h 123"/>
                <a:gd name="T14" fmla="*/ 11 w 279"/>
                <a:gd name="T15" fmla="*/ 0 h 123"/>
                <a:gd name="T16" fmla="*/ 0 60000 65536"/>
                <a:gd name="T17" fmla="*/ 0 60000 65536"/>
                <a:gd name="T18" fmla="*/ 0 60000 65536"/>
                <a:gd name="T19" fmla="*/ 0 60000 65536"/>
                <a:gd name="T20" fmla="*/ 0 60000 65536"/>
                <a:gd name="T21" fmla="*/ 0 60000 65536"/>
                <a:gd name="T22" fmla="*/ 0 60000 65536"/>
                <a:gd name="T23" fmla="*/ 0 60000 65536"/>
                <a:gd name="T24" fmla="*/ 0 w 279"/>
                <a:gd name="T25" fmla="*/ 0 h 123"/>
                <a:gd name="T26" fmla="*/ 279 w 279"/>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9" h="123">
                  <a:moveTo>
                    <a:pt x="0" y="77"/>
                  </a:moveTo>
                  <a:lnTo>
                    <a:pt x="38" y="101"/>
                  </a:lnTo>
                  <a:lnTo>
                    <a:pt x="80" y="117"/>
                  </a:lnTo>
                  <a:lnTo>
                    <a:pt x="100" y="122"/>
                  </a:lnTo>
                  <a:lnTo>
                    <a:pt x="153" y="90"/>
                  </a:lnTo>
                  <a:lnTo>
                    <a:pt x="187" y="74"/>
                  </a:lnTo>
                  <a:lnTo>
                    <a:pt x="254" y="34"/>
                  </a:lnTo>
                  <a:lnTo>
                    <a:pt x="278"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96" name="Freeform 122"/>
            <p:cNvSpPr>
              <a:spLocks/>
            </p:cNvSpPr>
            <p:nvPr/>
          </p:nvSpPr>
          <p:spPr bwMode="auto">
            <a:xfrm>
              <a:off x="1705" y="1049"/>
              <a:ext cx="55" cy="28"/>
            </a:xfrm>
            <a:custGeom>
              <a:avLst/>
              <a:gdLst>
                <a:gd name="T0" fmla="*/ 0 w 164"/>
                <a:gd name="T1" fmla="*/ 3 h 82"/>
                <a:gd name="T2" fmla="*/ 2 w 164"/>
                <a:gd name="T3" fmla="*/ 2 h 82"/>
                <a:gd name="T4" fmla="*/ 3 w 164"/>
                <a:gd name="T5" fmla="*/ 2 h 82"/>
                <a:gd name="T6" fmla="*/ 4 w 164"/>
                <a:gd name="T7" fmla="*/ 1 h 82"/>
                <a:gd name="T8" fmla="*/ 6 w 164"/>
                <a:gd name="T9" fmla="*/ 0 h 82"/>
                <a:gd name="T10" fmla="*/ 0 60000 65536"/>
                <a:gd name="T11" fmla="*/ 0 60000 65536"/>
                <a:gd name="T12" fmla="*/ 0 60000 65536"/>
                <a:gd name="T13" fmla="*/ 0 60000 65536"/>
                <a:gd name="T14" fmla="*/ 0 60000 65536"/>
                <a:gd name="T15" fmla="*/ 0 w 164"/>
                <a:gd name="T16" fmla="*/ 0 h 82"/>
                <a:gd name="T17" fmla="*/ 164 w 164"/>
                <a:gd name="T18" fmla="*/ 82 h 82"/>
              </a:gdLst>
              <a:ahLst/>
              <a:cxnLst>
                <a:cxn ang="T10">
                  <a:pos x="T0" y="T1"/>
                </a:cxn>
                <a:cxn ang="T11">
                  <a:pos x="T2" y="T3"/>
                </a:cxn>
                <a:cxn ang="T12">
                  <a:pos x="T4" y="T5"/>
                </a:cxn>
                <a:cxn ang="T13">
                  <a:pos x="T6" y="T7"/>
                </a:cxn>
                <a:cxn ang="T14">
                  <a:pos x="T8" y="T9"/>
                </a:cxn>
              </a:cxnLst>
              <a:rect l="T15" t="T16" r="T17" b="T18"/>
              <a:pathLst>
                <a:path w="164" h="82">
                  <a:moveTo>
                    <a:pt x="0" y="81"/>
                  </a:moveTo>
                  <a:lnTo>
                    <a:pt x="43" y="62"/>
                  </a:lnTo>
                  <a:lnTo>
                    <a:pt x="91" y="43"/>
                  </a:lnTo>
                  <a:lnTo>
                    <a:pt x="120" y="24"/>
                  </a:lnTo>
                  <a:lnTo>
                    <a:pt x="163"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97" name="Freeform 123"/>
            <p:cNvSpPr>
              <a:spLocks/>
            </p:cNvSpPr>
            <p:nvPr/>
          </p:nvSpPr>
          <p:spPr bwMode="auto">
            <a:xfrm>
              <a:off x="1740" y="1127"/>
              <a:ext cx="69" cy="25"/>
            </a:xfrm>
            <a:custGeom>
              <a:avLst/>
              <a:gdLst>
                <a:gd name="T0" fmla="*/ 0 w 202"/>
                <a:gd name="T1" fmla="*/ 3 h 73"/>
                <a:gd name="T2" fmla="*/ 4 w 202"/>
                <a:gd name="T3" fmla="*/ 2 h 73"/>
                <a:gd name="T4" fmla="*/ 5 w 202"/>
                <a:gd name="T5" fmla="*/ 1 h 73"/>
                <a:gd name="T6" fmla="*/ 7 w 202"/>
                <a:gd name="T7" fmla="*/ 1 h 73"/>
                <a:gd name="T8" fmla="*/ 8 w 202"/>
                <a:gd name="T9" fmla="*/ 0 h 73"/>
                <a:gd name="T10" fmla="*/ 0 60000 65536"/>
                <a:gd name="T11" fmla="*/ 0 60000 65536"/>
                <a:gd name="T12" fmla="*/ 0 60000 65536"/>
                <a:gd name="T13" fmla="*/ 0 60000 65536"/>
                <a:gd name="T14" fmla="*/ 0 60000 65536"/>
                <a:gd name="T15" fmla="*/ 0 w 202"/>
                <a:gd name="T16" fmla="*/ 0 h 73"/>
                <a:gd name="T17" fmla="*/ 202 w 202"/>
                <a:gd name="T18" fmla="*/ 73 h 73"/>
              </a:gdLst>
              <a:ahLst/>
              <a:cxnLst>
                <a:cxn ang="T10">
                  <a:pos x="T0" y="T1"/>
                </a:cxn>
                <a:cxn ang="T11">
                  <a:pos x="T2" y="T3"/>
                </a:cxn>
                <a:cxn ang="T12">
                  <a:pos x="T4" y="T5"/>
                </a:cxn>
                <a:cxn ang="T13">
                  <a:pos x="T6" y="T7"/>
                </a:cxn>
                <a:cxn ang="T14">
                  <a:pos x="T8" y="T9"/>
                </a:cxn>
              </a:cxnLst>
              <a:rect l="T15" t="T16" r="T17" b="T18"/>
              <a:pathLst>
                <a:path w="202" h="73">
                  <a:moveTo>
                    <a:pt x="0" y="72"/>
                  </a:moveTo>
                  <a:lnTo>
                    <a:pt x="91" y="53"/>
                  </a:lnTo>
                  <a:lnTo>
                    <a:pt x="134" y="29"/>
                  </a:lnTo>
                  <a:lnTo>
                    <a:pt x="177" y="19"/>
                  </a:lnTo>
                  <a:lnTo>
                    <a:pt x="201"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98" name="Freeform 124"/>
            <p:cNvSpPr>
              <a:spLocks/>
            </p:cNvSpPr>
            <p:nvPr/>
          </p:nvSpPr>
          <p:spPr bwMode="auto">
            <a:xfrm>
              <a:off x="1670" y="1083"/>
              <a:ext cx="63" cy="134"/>
            </a:xfrm>
            <a:custGeom>
              <a:avLst/>
              <a:gdLst>
                <a:gd name="T0" fmla="*/ 0 w 186"/>
                <a:gd name="T1" fmla="*/ 0 h 394"/>
                <a:gd name="T2" fmla="*/ 0 w 186"/>
                <a:gd name="T3" fmla="*/ 1 h 394"/>
                <a:gd name="T4" fmla="*/ 1 w 186"/>
                <a:gd name="T5" fmla="*/ 2 h 394"/>
                <a:gd name="T6" fmla="*/ 1 w 186"/>
                <a:gd name="T7" fmla="*/ 3 h 394"/>
                <a:gd name="T8" fmla="*/ 3 w 186"/>
                <a:gd name="T9" fmla="*/ 4 h 394"/>
                <a:gd name="T10" fmla="*/ 3 w 186"/>
                <a:gd name="T11" fmla="*/ 6 h 394"/>
                <a:gd name="T12" fmla="*/ 4 w 186"/>
                <a:gd name="T13" fmla="*/ 8 h 394"/>
                <a:gd name="T14" fmla="*/ 4 w 186"/>
                <a:gd name="T15" fmla="*/ 9 h 394"/>
                <a:gd name="T16" fmla="*/ 5 w 186"/>
                <a:gd name="T17" fmla="*/ 11 h 394"/>
                <a:gd name="T18" fmla="*/ 6 w 186"/>
                <a:gd name="T19" fmla="*/ 13 h 394"/>
                <a:gd name="T20" fmla="*/ 6 w 186"/>
                <a:gd name="T21" fmla="*/ 13 h 394"/>
                <a:gd name="T22" fmla="*/ 6 w 186"/>
                <a:gd name="T23" fmla="*/ 14 h 394"/>
                <a:gd name="T24" fmla="*/ 7 w 186"/>
                <a:gd name="T25" fmla="*/ 16 h 394"/>
                <a:gd name="T26" fmla="*/ 7 w 186"/>
                <a:gd name="T27" fmla="*/ 16 h 394"/>
                <a:gd name="T28" fmla="*/ 7 w 186"/>
                <a:gd name="T29" fmla="*/ 15 h 394"/>
                <a:gd name="T30" fmla="*/ 7 w 186"/>
                <a:gd name="T31" fmla="*/ 15 h 394"/>
                <a:gd name="T32" fmla="*/ 7 w 186"/>
                <a:gd name="T33" fmla="*/ 14 h 394"/>
                <a:gd name="T34" fmla="*/ 7 w 186"/>
                <a:gd name="T35" fmla="*/ 14 h 394"/>
                <a:gd name="T36" fmla="*/ 6 w 186"/>
                <a:gd name="T37" fmla="*/ 13 h 394"/>
                <a:gd name="T38" fmla="*/ 6 w 186"/>
                <a:gd name="T39" fmla="*/ 12 h 394"/>
                <a:gd name="T40" fmla="*/ 6 w 186"/>
                <a:gd name="T41" fmla="*/ 12 h 394"/>
                <a:gd name="T42" fmla="*/ 5 w 186"/>
                <a:gd name="T43" fmla="*/ 11 h 394"/>
                <a:gd name="T44" fmla="*/ 5 w 186"/>
                <a:gd name="T45" fmla="*/ 10 h 394"/>
                <a:gd name="T46" fmla="*/ 4 w 186"/>
                <a:gd name="T47" fmla="*/ 9 h 394"/>
                <a:gd name="T48" fmla="*/ 4 w 186"/>
                <a:gd name="T49" fmla="*/ 8 h 394"/>
                <a:gd name="T50" fmla="*/ 4 w 186"/>
                <a:gd name="T51" fmla="*/ 7 h 394"/>
                <a:gd name="T52" fmla="*/ 3 w 186"/>
                <a:gd name="T53" fmla="*/ 6 h 394"/>
                <a:gd name="T54" fmla="*/ 3 w 186"/>
                <a:gd name="T55" fmla="*/ 6 h 394"/>
                <a:gd name="T56" fmla="*/ 3 w 186"/>
                <a:gd name="T57" fmla="*/ 5 h 394"/>
                <a:gd name="T58" fmla="*/ 3 w 186"/>
                <a:gd name="T59" fmla="*/ 4 h 394"/>
                <a:gd name="T60" fmla="*/ 2 w 186"/>
                <a:gd name="T61" fmla="*/ 4 h 394"/>
                <a:gd name="T62" fmla="*/ 2 w 186"/>
                <a:gd name="T63" fmla="*/ 3 h 394"/>
                <a:gd name="T64" fmla="*/ 2 w 186"/>
                <a:gd name="T65" fmla="*/ 3 h 394"/>
                <a:gd name="T66" fmla="*/ 1 w 186"/>
                <a:gd name="T67" fmla="*/ 2 h 394"/>
                <a:gd name="T68" fmla="*/ 1 w 186"/>
                <a:gd name="T69" fmla="*/ 2 h 394"/>
                <a:gd name="T70" fmla="*/ 0 w 186"/>
                <a:gd name="T71" fmla="*/ 1 h 39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86"/>
                <a:gd name="T109" fmla="*/ 0 h 394"/>
                <a:gd name="T110" fmla="*/ 186 w 186"/>
                <a:gd name="T111" fmla="*/ 394 h 39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86" h="394">
                  <a:moveTo>
                    <a:pt x="0" y="0"/>
                  </a:moveTo>
                  <a:lnTo>
                    <a:pt x="13" y="22"/>
                  </a:lnTo>
                  <a:lnTo>
                    <a:pt x="24" y="44"/>
                  </a:lnTo>
                  <a:lnTo>
                    <a:pt x="37" y="83"/>
                  </a:lnTo>
                  <a:lnTo>
                    <a:pt x="69" y="110"/>
                  </a:lnTo>
                  <a:lnTo>
                    <a:pt x="78" y="155"/>
                  </a:lnTo>
                  <a:lnTo>
                    <a:pt x="94" y="209"/>
                  </a:lnTo>
                  <a:lnTo>
                    <a:pt x="107" y="236"/>
                  </a:lnTo>
                  <a:lnTo>
                    <a:pt x="133" y="280"/>
                  </a:lnTo>
                  <a:lnTo>
                    <a:pt x="153" y="320"/>
                  </a:lnTo>
                  <a:lnTo>
                    <a:pt x="161" y="336"/>
                  </a:lnTo>
                  <a:lnTo>
                    <a:pt x="168" y="356"/>
                  </a:lnTo>
                  <a:lnTo>
                    <a:pt x="185" y="393"/>
                  </a:lnTo>
                  <a:lnTo>
                    <a:pt x="184" y="393"/>
                  </a:lnTo>
                  <a:lnTo>
                    <a:pt x="184" y="385"/>
                  </a:lnTo>
                  <a:lnTo>
                    <a:pt x="181" y="372"/>
                  </a:lnTo>
                  <a:lnTo>
                    <a:pt x="177" y="361"/>
                  </a:lnTo>
                  <a:lnTo>
                    <a:pt x="174" y="347"/>
                  </a:lnTo>
                  <a:lnTo>
                    <a:pt x="169" y="332"/>
                  </a:lnTo>
                  <a:lnTo>
                    <a:pt x="163" y="316"/>
                  </a:lnTo>
                  <a:lnTo>
                    <a:pt x="153" y="294"/>
                  </a:lnTo>
                  <a:lnTo>
                    <a:pt x="142" y="275"/>
                  </a:lnTo>
                  <a:lnTo>
                    <a:pt x="131" y="248"/>
                  </a:lnTo>
                  <a:lnTo>
                    <a:pt x="112" y="224"/>
                  </a:lnTo>
                  <a:lnTo>
                    <a:pt x="104" y="208"/>
                  </a:lnTo>
                  <a:lnTo>
                    <a:pt x="96" y="188"/>
                  </a:lnTo>
                  <a:lnTo>
                    <a:pt x="91" y="169"/>
                  </a:lnTo>
                  <a:lnTo>
                    <a:pt x="83" y="153"/>
                  </a:lnTo>
                  <a:lnTo>
                    <a:pt x="80" y="139"/>
                  </a:lnTo>
                  <a:lnTo>
                    <a:pt x="70" y="112"/>
                  </a:lnTo>
                  <a:lnTo>
                    <a:pt x="62" y="100"/>
                  </a:lnTo>
                  <a:lnTo>
                    <a:pt x="48" y="89"/>
                  </a:lnTo>
                  <a:lnTo>
                    <a:pt x="41" y="83"/>
                  </a:lnTo>
                  <a:lnTo>
                    <a:pt x="32" y="64"/>
                  </a:lnTo>
                  <a:lnTo>
                    <a:pt x="22" y="43"/>
                  </a:lnTo>
                  <a:lnTo>
                    <a:pt x="13" y="2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99" name="Freeform 125"/>
            <p:cNvSpPr>
              <a:spLocks/>
            </p:cNvSpPr>
            <p:nvPr/>
          </p:nvSpPr>
          <p:spPr bwMode="auto">
            <a:xfrm>
              <a:off x="1183" y="1252"/>
              <a:ext cx="57" cy="13"/>
            </a:xfrm>
            <a:custGeom>
              <a:avLst/>
              <a:gdLst>
                <a:gd name="T0" fmla="*/ 0 w 167"/>
                <a:gd name="T1" fmla="*/ 0 h 39"/>
                <a:gd name="T2" fmla="*/ 3 w 167"/>
                <a:gd name="T3" fmla="*/ 1 h 39"/>
                <a:gd name="T4" fmla="*/ 5 w 167"/>
                <a:gd name="T5" fmla="*/ 1 h 39"/>
                <a:gd name="T6" fmla="*/ 6 w 167"/>
                <a:gd name="T7" fmla="*/ 1 h 39"/>
                <a:gd name="T8" fmla="*/ 0 60000 65536"/>
                <a:gd name="T9" fmla="*/ 0 60000 65536"/>
                <a:gd name="T10" fmla="*/ 0 60000 65536"/>
                <a:gd name="T11" fmla="*/ 0 60000 65536"/>
                <a:gd name="T12" fmla="*/ 0 w 167"/>
                <a:gd name="T13" fmla="*/ 0 h 39"/>
                <a:gd name="T14" fmla="*/ 167 w 167"/>
                <a:gd name="T15" fmla="*/ 39 h 39"/>
              </a:gdLst>
              <a:ahLst/>
              <a:cxnLst>
                <a:cxn ang="T8">
                  <a:pos x="T0" y="T1"/>
                </a:cxn>
                <a:cxn ang="T9">
                  <a:pos x="T2" y="T3"/>
                </a:cxn>
                <a:cxn ang="T10">
                  <a:pos x="T4" y="T5"/>
                </a:cxn>
                <a:cxn ang="T11">
                  <a:pos x="T6" y="T7"/>
                </a:cxn>
              </a:cxnLst>
              <a:rect l="T12" t="T13" r="T14" b="T15"/>
              <a:pathLst>
                <a:path w="167" h="39">
                  <a:moveTo>
                    <a:pt x="0" y="0"/>
                  </a:moveTo>
                  <a:lnTo>
                    <a:pt x="83" y="32"/>
                  </a:lnTo>
                  <a:lnTo>
                    <a:pt x="122" y="38"/>
                  </a:lnTo>
                  <a:lnTo>
                    <a:pt x="166" y="3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800" name="Freeform 126"/>
            <p:cNvSpPr>
              <a:spLocks/>
            </p:cNvSpPr>
            <p:nvPr/>
          </p:nvSpPr>
          <p:spPr bwMode="auto">
            <a:xfrm>
              <a:off x="917" y="1092"/>
              <a:ext cx="28" cy="37"/>
            </a:xfrm>
            <a:custGeom>
              <a:avLst/>
              <a:gdLst>
                <a:gd name="T0" fmla="*/ 3 w 82"/>
                <a:gd name="T1" fmla="*/ 4 h 111"/>
                <a:gd name="T2" fmla="*/ 2 w 82"/>
                <a:gd name="T3" fmla="*/ 4 h 111"/>
                <a:gd name="T4" fmla="*/ 2 w 82"/>
                <a:gd name="T5" fmla="*/ 3 h 111"/>
                <a:gd name="T6" fmla="*/ 1 w 82"/>
                <a:gd name="T7" fmla="*/ 3 h 111"/>
                <a:gd name="T8" fmla="*/ 1 w 82"/>
                <a:gd name="T9" fmla="*/ 2 h 111"/>
                <a:gd name="T10" fmla="*/ 0 w 82"/>
                <a:gd name="T11" fmla="*/ 1 h 111"/>
                <a:gd name="T12" fmla="*/ 0 w 82"/>
                <a:gd name="T13" fmla="*/ 0 h 111"/>
                <a:gd name="T14" fmla="*/ 0 w 82"/>
                <a:gd name="T15" fmla="*/ 0 h 111"/>
                <a:gd name="T16" fmla="*/ 0 w 82"/>
                <a:gd name="T17" fmla="*/ 1 h 111"/>
                <a:gd name="T18" fmla="*/ 1 w 82"/>
                <a:gd name="T19" fmla="*/ 1 h 111"/>
                <a:gd name="T20" fmla="*/ 1 w 82"/>
                <a:gd name="T21" fmla="*/ 2 h 111"/>
                <a:gd name="T22" fmla="*/ 2 w 82"/>
                <a:gd name="T23" fmla="*/ 2 h 111"/>
                <a:gd name="T24" fmla="*/ 2 w 82"/>
                <a:gd name="T25" fmla="*/ 3 h 111"/>
                <a:gd name="T26" fmla="*/ 3 w 82"/>
                <a:gd name="T27" fmla="*/ 3 h 111"/>
                <a:gd name="T28" fmla="*/ 3 w 82"/>
                <a:gd name="T29" fmla="*/ 3 h 111"/>
                <a:gd name="T30" fmla="*/ 3 w 82"/>
                <a:gd name="T31" fmla="*/ 4 h 111"/>
                <a:gd name="T32" fmla="*/ 3 w 82"/>
                <a:gd name="T33" fmla="*/ 4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111"/>
                <a:gd name="T53" fmla="*/ 82 w 82"/>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111">
                  <a:moveTo>
                    <a:pt x="64" y="110"/>
                  </a:moveTo>
                  <a:lnTo>
                    <a:pt x="52" y="100"/>
                  </a:lnTo>
                  <a:lnTo>
                    <a:pt x="46" y="88"/>
                  </a:lnTo>
                  <a:lnTo>
                    <a:pt x="36" y="75"/>
                  </a:lnTo>
                  <a:lnTo>
                    <a:pt x="24" y="43"/>
                  </a:lnTo>
                  <a:lnTo>
                    <a:pt x="8" y="17"/>
                  </a:lnTo>
                  <a:lnTo>
                    <a:pt x="0" y="0"/>
                  </a:lnTo>
                  <a:lnTo>
                    <a:pt x="9" y="12"/>
                  </a:lnTo>
                  <a:lnTo>
                    <a:pt x="12" y="22"/>
                  </a:lnTo>
                  <a:lnTo>
                    <a:pt x="22" y="36"/>
                  </a:lnTo>
                  <a:lnTo>
                    <a:pt x="30" y="51"/>
                  </a:lnTo>
                  <a:lnTo>
                    <a:pt x="40" y="64"/>
                  </a:lnTo>
                  <a:lnTo>
                    <a:pt x="49" y="76"/>
                  </a:lnTo>
                  <a:lnTo>
                    <a:pt x="64" y="88"/>
                  </a:lnTo>
                  <a:lnTo>
                    <a:pt x="75" y="92"/>
                  </a:lnTo>
                  <a:lnTo>
                    <a:pt x="81" y="99"/>
                  </a:lnTo>
                  <a:lnTo>
                    <a:pt x="64" y="110"/>
                  </a:lnTo>
                </a:path>
              </a:pathLst>
            </a:custGeom>
            <a:solidFill>
              <a:schemeClr val="bg1"/>
            </a:solidFill>
            <a:ln w="6350" cap="rnd">
              <a:solidFill>
                <a:schemeClr val="tx1"/>
              </a:solidFill>
              <a:round/>
              <a:headEnd/>
              <a:tailEnd/>
            </a:ln>
          </p:spPr>
          <p:txBody>
            <a:bodyPr/>
            <a:lstStyle/>
            <a:p>
              <a:endParaRPr lang="zh-CN" altLang="en-US"/>
            </a:p>
          </p:txBody>
        </p:sp>
        <p:sp>
          <p:nvSpPr>
            <p:cNvPr id="28801" name="Freeform 127"/>
            <p:cNvSpPr>
              <a:spLocks/>
            </p:cNvSpPr>
            <p:nvPr/>
          </p:nvSpPr>
          <p:spPr bwMode="auto">
            <a:xfrm>
              <a:off x="814" y="961"/>
              <a:ext cx="38" cy="60"/>
            </a:xfrm>
            <a:custGeom>
              <a:avLst/>
              <a:gdLst>
                <a:gd name="T0" fmla="*/ 0 w 114"/>
                <a:gd name="T1" fmla="*/ 0 h 177"/>
                <a:gd name="T2" fmla="*/ 1 w 114"/>
                <a:gd name="T3" fmla="*/ 2 h 177"/>
                <a:gd name="T4" fmla="*/ 2 w 114"/>
                <a:gd name="T5" fmla="*/ 2 h 177"/>
                <a:gd name="T6" fmla="*/ 2 w 114"/>
                <a:gd name="T7" fmla="*/ 3 h 177"/>
                <a:gd name="T8" fmla="*/ 3 w 114"/>
                <a:gd name="T9" fmla="*/ 4 h 177"/>
                <a:gd name="T10" fmla="*/ 4 w 114"/>
                <a:gd name="T11" fmla="*/ 6 h 177"/>
                <a:gd name="T12" fmla="*/ 4 w 114"/>
                <a:gd name="T13" fmla="*/ 6 h 177"/>
                <a:gd name="T14" fmla="*/ 4 w 114"/>
                <a:gd name="T15" fmla="*/ 7 h 177"/>
                <a:gd name="T16" fmla="*/ 4 w 114"/>
                <a:gd name="T17" fmla="*/ 6 h 177"/>
                <a:gd name="T18" fmla="*/ 4 w 114"/>
                <a:gd name="T19" fmla="*/ 6 h 177"/>
                <a:gd name="T20" fmla="*/ 4 w 114"/>
                <a:gd name="T21" fmla="*/ 5 h 177"/>
                <a:gd name="T22" fmla="*/ 3 w 114"/>
                <a:gd name="T23" fmla="*/ 5 h 177"/>
                <a:gd name="T24" fmla="*/ 3 w 114"/>
                <a:gd name="T25" fmla="*/ 4 h 177"/>
                <a:gd name="T26" fmla="*/ 3 w 114"/>
                <a:gd name="T27" fmla="*/ 4 h 177"/>
                <a:gd name="T28" fmla="*/ 2 w 114"/>
                <a:gd name="T29" fmla="*/ 3 h 177"/>
                <a:gd name="T30" fmla="*/ 2 w 114"/>
                <a:gd name="T31" fmla="*/ 2 h 177"/>
                <a:gd name="T32" fmla="*/ 2 w 114"/>
                <a:gd name="T33" fmla="*/ 1 h 177"/>
                <a:gd name="T34" fmla="*/ 1 w 114"/>
                <a:gd name="T35" fmla="*/ 0 h 177"/>
                <a:gd name="T36" fmla="*/ 1 w 114"/>
                <a:gd name="T37" fmla="*/ 0 h 177"/>
                <a:gd name="T38" fmla="*/ 1 w 114"/>
                <a:gd name="T39" fmla="*/ 0 h 177"/>
                <a:gd name="T40" fmla="*/ 1 w 114"/>
                <a:gd name="T41" fmla="*/ 0 h 177"/>
                <a:gd name="T42" fmla="*/ 0 w 114"/>
                <a:gd name="T43" fmla="*/ 0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
                <a:gd name="T67" fmla="*/ 0 h 177"/>
                <a:gd name="T68" fmla="*/ 114 w 114"/>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 h="177">
                  <a:moveTo>
                    <a:pt x="0" y="10"/>
                  </a:moveTo>
                  <a:lnTo>
                    <a:pt x="40" y="41"/>
                  </a:lnTo>
                  <a:lnTo>
                    <a:pt x="45" y="57"/>
                  </a:lnTo>
                  <a:lnTo>
                    <a:pt x="58" y="82"/>
                  </a:lnTo>
                  <a:lnTo>
                    <a:pt x="79" y="101"/>
                  </a:lnTo>
                  <a:lnTo>
                    <a:pt x="95" y="146"/>
                  </a:lnTo>
                  <a:lnTo>
                    <a:pt x="102" y="164"/>
                  </a:lnTo>
                  <a:lnTo>
                    <a:pt x="113" y="176"/>
                  </a:lnTo>
                  <a:lnTo>
                    <a:pt x="106" y="161"/>
                  </a:lnTo>
                  <a:lnTo>
                    <a:pt x="101" y="146"/>
                  </a:lnTo>
                  <a:lnTo>
                    <a:pt x="96" y="130"/>
                  </a:lnTo>
                  <a:lnTo>
                    <a:pt x="87" y="118"/>
                  </a:lnTo>
                  <a:lnTo>
                    <a:pt x="79" y="103"/>
                  </a:lnTo>
                  <a:lnTo>
                    <a:pt x="72" y="93"/>
                  </a:lnTo>
                  <a:lnTo>
                    <a:pt x="57" y="77"/>
                  </a:lnTo>
                  <a:lnTo>
                    <a:pt x="52" y="51"/>
                  </a:lnTo>
                  <a:lnTo>
                    <a:pt x="43" y="37"/>
                  </a:lnTo>
                  <a:lnTo>
                    <a:pt x="35" y="12"/>
                  </a:lnTo>
                  <a:lnTo>
                    <a:pt x="28" y="4"/>
                  </a:lnTo>
                  <a:lnTo>
                    <a:pt x="25" y="0"/>
                  </a:lnTo>
                  <a:lnTo>
                    <a:pt x="19" y="0"/>
                  </a:lnTo>
                  <a:lnTo>
                    <a:pt x="0" y="10"/>
                  </a:lnTo>
                </a:path>
              </a:pathLst>
            </a:custGeom>
            <a:solidFill>
              <a:schemeClr val="bg1"/>
            </a:solidFill>
            <a:ln w="6350" cap="rnd">
              <a:solidFill>
                <a:schemeClr val="tx1"/>
              </a:solidFill>
              <a:round/>
              <a:headEnd/>
              <a:tailEnd/>
            </a:ln>
          </p:spPr>
          <p:txBody>
            <a:bodyPr/>
            <a:lstStyle/>
            <a:p>
              <a:endParaRPr lang="zh-CN" altLang="en-US"/>
            </a:p>
          </p:txBody>
        </p:sp>
      </p:grpSp>
      <p:grpSp>
        <p:nvGrpSpPr>
          <p:cNvPr id="28676" name="Group 128"/>
          <p:cNvGrpSpPr>
            <a:grpSpLocks/>
          </p:cNvGrpSpPr>
          <p:nvPr/>
        </p:nvGrpSpPr>
        <p:grpSpPr bwMode="auto">
          <a:xfrm>
            <a:off x="5770736" y="3454445"/>
            <a:ext cx="2093913" cy="766763"/>
            <a:chOff x="3472" y="796"/>
            <a:chExt cx="1319" cy="483"/>
          </a:xfrm>
        </p:grpSpPr>
        <p:sp>
          <p:nvSpPr>
            <p:cNvPr id="28688" name="Freeform 129" descr="沙滩"/>
            <p:cNvSpPr>
              <a:spLocks/>
            </p:cNvSpPr>
            <p:nvPr/>
          </p:nvSpPr>
          <p:spPr bwMode="auto">
            <a:xfrm>
              <a:off x="3657" y="796"/>
              <a:ext cx="909" cy="483"/>
            </a:xfrm>
            <a:custGeom>
              <a:avLst/>
              <a:gdLst>
                <a:gd name="T0" fmla="*/ 0 w 909"/>
                <a:gd name="T1" fmla="*/ 476 h 483"/>
                <a:gd name="T2" fmla="*/ 64 w 909"/>
                <a:gd name="T3" fmla="*/ 374 h 483"/>
                <a:gd name="T4" fmla="*/ 141 w 909"/>
                <a:gd name="T5" fmla="*/ 252 h 483"/>
                <a:gd name="T6" fmla="*/ 249 w 909"/>
                <a:gd name="T7" fmla="*/ 144 h 483"/>
                <a:gd name="T8" fmla="*/ 326 w 909"/>
                <a:gd name="T9" fmla="*/ 48 h 483"/>
                <a:gd name="T10" fmla="*/ 461 w 909"/>
                <a:gd name="T11" fmla="*/ 3 h 483"/>
                <a:gd name="T12" fmla="*/ 550 w 909"/>
                <a:gd name="T13" fmla="*/ 67 h 483"/>
                <a:gd name="T14" fmla="*/ 659 w 909"/>
                <a:gd name="T15" fmla="*/ 188 h 483"/>
                <a:gd name="T16" fmla="*/ 736 w 909"/>
                <a:gd name="T17" fmla="*/ 297 h 483"/>
                <a:gd name="T18" fmla="*/ 800 w 909"/>
                <a:gd name="T19" fmla="*/ 355 h 483"/>
                <a:gd name="T20" fmla="*/ 832 w 909"/>
                <a:gd name="T21" fmla="*/ 412 h 483"/>
                <a:gd name="T22" fmla="*/ 909 w 909"/>
                <a:gd name="T23" fmla="*/ 483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09"/>
                <a:gd name="T37" fmla="*/ 0 h 483"/>
                <a:gd name="T38" fmla="*/ 909 w 909"/>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09" h="483">
                  <a:moveTo>
                    <a:pt x="0" y="476"/>
                  </a:moveTo>
                  <a:cubicBezTo>
                    <a:pt x="20" y="443"/>
                    <a:pt x="41" y="411"/>
                    <a:pt x="64" y="374"/>
                  </a:cubicBezTo>
                  <a:cubicBezTo>
                    <a:pt x="87" y="337"/>
                    <a:pt x="110" y="290"/>
                    <a:pt x="141" y="252"/>
                  </a:cubicBezTo>
                  <a:cubicBezTo>
                    <a:pt x="172" y="214"/>
                    <a:pt x="218" y="178"/>
                    <a:pt x="249" y="144"/>
                  </a:cubicBezTo>
                  <a:cubicBezTo>
                    <a:pt x="280" y="110"/>
                    <a:pt x="291" y="71"/>
                    <a:pt x="326" y="48"/>
                  </a:cubicBezTo>
                  <a:cubicBezTo>
                    <a:pt x="361" y="25"/>
                    <a:pt x="424" y="0"/>
                    <a:pt x="461" y="3"/>
                  </a:cubicBezTo>
                  <a:cubicBezTo>
                    <a:pt x="498" y="6"/>
                    <a:pt x="517" y="36"/>
                    <a:pt x="550" y="67"/>
                  </a:cubicBezTo>
                  <a:cubicBezTo>
                    <a:pt x="583" y="98"/>
                    <a:pt x="628" y="150"/>
                    <a:pt x="659" y="188"/>
                  </a:cubicBezTo>
                  <a:cubicBezTo>
                    <a:pt x="690" y="226"/>
                    <a:pt x="713" y="269"/>
                    <a:pt x="736" y="297"/>
                  </a:cubicBezTo>
                  <a:cubicBezTo>
                    <a:pt x="759" y="325"/>
                    <a:pt x="784" y="336"/>
                    <a:pt x="800" y="355"/>
                  </a:cubicBezTo>
                  <a:cubicBezTo>
                    <a:pt x="816" y="374"/>
                    <a:pt x="814" y="391"/>
                    <a:pt x="832" y="412"/>
                  </a:cubicBezTo>
                  <a:cubicBezTo>
                    <a:pt x="850" y="433"/>
                    <a:pt x="879" y="458"/>
                    <a:pt x="909" y="483"/>
                  </a:cubicBezTo>
                </a:path>
              </a:pathLst>
            </a:custGeom>
            <a:blipFill dpi="0" rotWithShape="1">
              <a:blip r:embed="rId4"/>
              <a:srcRect/>
              <a:tile tx="0" ty="0" sx="100000" sy="100000" flip="none" algn="tl"/>
            </a:blipFill>
            <a:ln w="9525">
              <a:noFill/>
              <a:round/>
              <a:headEnd/>
              <a:tailEnd/>
            </a:ln>
          </p:spPr>
          <p:txBody>
            <a:bodyPr/>
            <a:lstStyle/>
            <a:p>
              <a:endParaRPr lang="zh-CN" altLang="en-US"/>
            </a:p>
          </p:txBody>
        </p:sp>
        <p:sp>
          <p:nvSpPr>
            <p:cNvPr id="28689" name="Line 130"/>
            <p:cNvSpPr>
              <a:spLocks noChangeShapeType="1"/>
            </p:cNvSpPr>
            <p:nvPr/>
          </p:nvSpPr>
          <p:spPr bwMode="auto">
            <a:xfrm>
              <a:off x="3472" y="1271"/>
              <a:ext cx="1319" cy="0"/>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8677" name="Text Box 131"/>
          <p:cNvSpPr txBox="1">
            <a:spLocks noChangeArrowheads="1"/>
          </p:cNvSpPr>
          <p:nvPr/>
        </p:nvSpPr>
        <p:spPr bwMode="auto">
          <a:xfrm>
            <a:off x="6505749" y="4443458"/>
            <a:ext cx="5921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200" b="1">
                <a:solidFill>
                  <a:srgbClr val="000066"/>
                </a:solidFill>
                <a:latin typeface="幼圆" pitchFamily="49" charset="-122"/>
                <a:ea typeface="幼圆" pitchFamily="49" charset="-122"/>
              </a:rPr>
              <a:t>土</a:t>
            </a:r>
          </a:p>
        </p:txBody>
      </p:sp>
      <p:sp>
        <p:nvSpPr>
          <p:cNvPr id="28678" name="Text Box 132"/>
          <p:cNvSpPr txBox="1">
            <a:spLocks noChangeArrowheads="1"/>
          </p:cNvSpPr>
          <p:nvPr/>
        </p:nvSpPr>
        <p:spPr bwMode="auto">
          <a:xfrm>
            <a:off x="1287636" y="4449808"/>
            <a:ext cx="1138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200" b="1">
                <a:solidFill>
                  <a:srgbClr val="000066"/>
                </a:solidFill>
                <a:latin typeface="幼圆" pitchFamily="49" charset="-122"/>
                <a:ea typeface="幼圆" pitchFamily="49" charset="-122"/>
              </a:rPr>
              <a:t>岩石</a:t>
            </a:r>
          </a:p>
        </p:txBody>
      </p:sp>
      <p:sp>
        <p:nvSpPr>
          <p:cNvPr id="28679" name="Text Box 133"/>
          <p:cNvSpPr txBox="1">
            <a:spLocks noChangeArrowheads="1"/>
          </p:cNvSpPr>
          <p:nvPr/>
        </p:nvSpPr>
        <p:spPr bwMode="auto">
          <a:xfrm>
            <a:off x="3076749" y="3162345"/>
            <a:ext cx="2695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a:solidFill>
                  <a:srgbClr val="000066"/>
                </a:solidFill>
                <a:latin typeface="幼圆" pitchFamily="49" charset="-122"/>
                <a:ea typeface="幼圆" pitchFamily="49" charset="-122"/>
              </a:rPr>
              <a:t>风化、搬运、沉积</a:t>
            </a:r>
          </a:p>
        </p:txBody>
      </p:sp>
      <p:sp>
        <p:nvSpPr>
          <p:cNvPr id="28680" name="Line 134"/>
          <p:cNvSpPr>
            <a:spLocks noChangeShapeType="1"/>
          </p:cNvSpPr>
          <p:nvPr/>
        </p:nvSpPr>
        <p:spPr bwMode="auto">
          <a:xfrm>
            <a:off x="3335511" y="3848145"/>
            <a:ext cx="2211388" cy="0"/>
          </a:xfrm>
          <a:prstGeom prst="line">
            <a:avLst/>
          </a:prstGeom>
          <a:noFill/>
          <a:ln w="28575">
            <a:solidFill>
              <a:srgbClr val="A5002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8681" name="Text Box 135"/>
          <p:cNvSpPr txBox="1">
            <a:spLocks noChangeArrowheads="1"/>
          </p:cNvSpPr>
          <p:nvPr/>
        </p:nvSpPr>
        <p:spPr bwMode="auto">
          <a:xfrm>
            <a:off x="3160886" y="4306933"/>
            <a:ext cx="2144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a:solidFill>
                  <a:srgbClr val="000066"/>
                </a:solidFill>
                <a:latin typeface="幼圆" pitchFamily="49" charset="-122"/>
                <a:ea typeface="幼圆" pitchFamily="49" charset="-122"/>
              </a:rPr>
              <a:t>地质成岩作用</a:t>
            </a:r>
            <a:endParaRPr lang="en-US" altLang="zh-CN" sz="2400" b="1">
              <a:solidFill>
                <a:srgbClr val="000066"/>
              </a:solidFill>
              <a:latin typeface="幼圆" pitchFamily="49" charset="-122"/>
              <a:ea typeface="幼圆" pitchFamily="49" charset="-122"/>
            </a:endParaRPr>
          </a:p>
        </p:txBody>
      </p:sp>
      <p:sp>
        <p:nvSpPr>
          <p:cNvPr id="28682" name="Line 136"/>
          <p:cNvSpPr>
            <a:spLocks noChangeShapeType="1"/>
          </p:cNvSpPr>
          <p:nvPr/>
        </p:nvSpPr>
        <p:spPr bwMode="auto">
          <a:xfrm flipH="1">
            <a:off x="3276774" y="4140245"/>
            <a:ext cx="2211387" cy="0"/>
          </a:xfrm>
          <a:prstGeom prst="line">
            <a:avLst/>
          </a:prstGeom>
          <a:noFill/>
          <a:ln w="28575">
            <a:solidFill>
              <a:srgbClr val="A5002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8683" name="Text Box 137"/>
          <p:cNvSpPr txBox="1">
            <a:spLocks noChangeArrowheads="1"/>
          </p:cNvSpPr>
          <p:nvPr/>
        </p:nvSpPr>
        <p:spPr bwMode="auto">
          <a:xfrm>
            <a:off x="6116811" y="1302081"/>
            <a:ext cx="2724150" cy="955675"/>
          </a:xfrm>
          <a:prstGeom prst="rect">
            <a:avLst/>
          </a:prstGeom>
          <a:solidFill>
            <a:srgbClr val="FFCC66"/>
          </a:solidFill>
          <a:ln w="9525">
            <a:solidFill>
              <a:schemeClr val="tx1"/>
            </a:solidFill>
            <a:miter lim="800000"/>
            <a:headEnd/>
            <a:tailEnd/>
          </a:ln>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800" b="1">
                <a:ea typeface="幼圆" pitchFamily="49" charset="-122"/>
              </a:rPr>
              <a:t>土的组成、结构</a:t>
            </a:r>
          </a:p>
          <a:p>
            <a:pPr eaLnBrk="1" hangingPunct="1">
              <a:lnSpc>
                <a:spcPct val="100000"/>
              </a:lnSpc>
              <a:spcBef>
                <a:spcPct val="0"/>
              </a:spcBef>
              <a:spcAft>
                <a:spcPct val="0"/>
              </a:spcAft>
            </a:pPr>
            <a:r>
              <a:rPr kumimoji="1" lang="zh-CN" altLang="en-US" sz="2800" b="1">
                <a:ea typeface="幼圆" pitchFamily="49" charset="-122"/>
              </a:rPr>
              <a:t>和物理力学性质</a:t>
            </a:r>
          </a:p>
        </p:txBody>
      </p:sp>
      <p:sp>
        <p:nvSpPr>
          <p:cNvPr id="28684" name="Text Box 138"/>
          <p:cNvSpPr txBox="1">
            <a:spLocks noChangeArrowheads="1"/>
          </p:cNvSpPr>
          <p:nvPr/>
        </p:nvSpPr>
        <p:spPr bwMode="auto">
          <a:xfrm>
            <a:off x="3806999" y="944894"/>
            <a:ext cx="2046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800" b="1">
                <a:solidFill>
                  <a:srgbClr val="000066"/>
                </a:solidFill>
                <a:ea typeface="幼圆" pitchFamily="49" charset="-122"/>
              </a:rPr>
              <a:t>过程、条件</a:t>
            </a:r>
          </a:p>
        </p:txBody>
      </p:sp>
      <p:sp>
        <p:nvSpPr>
          <p:cNvPr id="28685" name="AutoShape 139"/>
          <p:cNvSpPr>
            <a:spLocks/>
          </p:cNvSpPr>
          <p:nvPr/>
        </p:nvSpPr>
        <p:spPr bwMode="auto">
          <a:xfrm rot="5400000">
            <a:off x="4233242" y="1896315"/>
            <a:ext cx="307975" cy="2011362"/>
          </a:xfrm>
          <a:prstGeom prst="leftBrace">
            <a:avLst>
              <a:gd name="adj1" fmla="val 54424"/>
              <a:gd name="adj2" fmla="val 50000"/>
            </a:avLst>
          </a:prstGeom>
          <a:noFill/>
          <a:ln w="28575">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86" name="Freeform 140"/>
          <p:cNvSpPr>
            <a:spLocks/>
          </p:cNvSpPr>
          <p:nvPr/>
        </p:nvSpPr>
        <p:spPr bwMode="auto">
          <a:xfrm>
            <a:off x="4364211" y="1757694"/>
            <a:ext cx="1539875" cy="898525"/>
          </a:xfrm>
          <a:custGeom>
            <a:avLst/>
            <a:gdLst>
              <a:gd name="T0" fmla="*/ 0 w 653"/>
              <a:gd name="T1" fmla="*/ 2147483647 h 489"/>
              <a:gd name="T2" fmla="*/ 0 w 653"/>
              <a:gd name="T3" fmla="*/ 0 h 489"/>
              <a:gd name="T4" fmla="*/ 2147483647 w 653"/>
              <a:gd name="T5" fmla="*/ 0 h 489"/>
              <a:gd name="T6" fmla="*/ 0 60000 65536"/>
              <a:gd name="T7" fmla="*/ 0 60000 65536"/>
              <a:gd name="T8" fmla="*/ 0 60000 65536"/>
              <a:gd name="T9" fmla="*/ 0 w 653"/>
              <a:gd name="T10" fmla="*/ 0 h 489"/>
              <a:gd name="T11" fmla="*/ 653 w 653"/>
              <a:gd name="T12" fmla="*/ 489 h 489"/>
            </a:gdLst>
            <a:ahLst/>
            <a:cxnLst>
              <a:cxn ang="T6">
                <a:pos x="T0" y="T1"/>
              </a:cxn>
              <a:cxn ang="T7">
                <a:pos x="T2" y="T3"/>
              </a:cxn>
              <a:cxn ang="T8">
                <a:pos x="T4" y="T5"/>
              </a:cxn>
            </a:cxnLst>
            <a:rect l="T9" t="T10" r="T11" b="T12"/>
            <a:pathLst>
              <a:path w="653" h="489">
                <a:moveTo>
                  <a:pt x="0" y="489"/>
                </a:moveTo>
                <a:lnTo>
                  <a:pt x="0" y="0"/>
                </a:lnTo>
                <a:lnTo>
                  <a:pt x="653" y="0"/>
                </a:lnTo>
              </a:path>
            </a:pathLst>
          </a:custGeom>
          <a:noFill/>
          <a:ln w="76200">
            <a:solidFill>
              <a:srgbClr val="A5002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§1.1  </a:t>
            </a:r>
            <a:r>
              <a:rPr lang="zh-CN" altLang="en-US" sz="2000" b="1" kern="900" spc="-140" dirty="0">
                <a:solidFill>
                  <a:srgbClr val="C00000"/>
                </a:solidFill>
                <a:latin typeface="宋体" pitchFamily="2" charset="-122"/>
              </a:rPr>
              <a:t>土的形成</a:t>
            </a:r>
          </a:p>
        </p:txBody>
      </p:sp>
    </p:spTree>
    <p:extLst>
      <p:ext uri="{BB962C8B-B14F-4D97-AF65-F5344CB8AC3E}">
        <p14:creationId xmlns:p14="http://schemas.microsoft.com/office/powerpoint/2010/main" val="20073077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4"/>
          <p:cNvSpPr>
            <a:spLocks noChangeArrowheads="1"/>
          </p:cNvSpPr>
          <p:nvPr/>
        </p:nvSpPr>
        <p:spPr bwMode="auto">
          <a:xfrm>
            <a:off x="518245" y="1112264"/>
            <a:ext cx="2529433" cy="484684"/>
          </a:xfrm>
          <a:prstGeom prst="rect">
            <a:avLst/>
          </a:prstGeom>
          <a:solidFill>
            <a:schemeClr val="accent6">
              <a:lumMod val="60000"/>
              <a:lumOff val="40000"/>
            </a:schemeClr>
          </a:solidFill>
          <a:ln>
            <a:noFill/>
          </a:ln>
        </p:spPr>
        <p:txBody>
          <a:bodyPr wrap="none" anchor="ctr"/>
          <a:lstStyle/>
          <a:p>
            <a:endParaRPr lang="zh-CN" altLang="en-US"/>
          </a:p>
        </p:txBody>
      </p:sp>
      <p:sp>
        <p:nvSpPr>
          <p:cNvPr id="29699" name="Text Box 13"/>
          <p:cNvSpPr txBox="1">
            <a:spLocks noChangeArrowheads="1"/>
          </p:cNvSpPr>
          <p:nvPr/>
        </p:nvSpPr>
        <p:spPr bwMode="auto">
          <a:xfrm>
            <a:off x="2312817" y="5687110"/>
            <a:ext cx="48387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土的形成与风化作用</a:t>
            </a:r>
            <a:endParaRPr kumimoji="1" lang="en-US" altLang="zh-CN" sz="4000" b="1" dirty="0">
              <a:solidFill>
                <a:srgbClr val="000066"/>
              </a:solidFill>
              <a:latin typeface="黑体" pitchFamily="2" charset="-122"/>
              <a:ea typeface="黑体" pitchFamily="2" charset="-122"/>
            </a:endParaRPr>
          </a:p>
        </p:txBody>
      </p:sp>
      <p:sp>
        <p:nvSpPr>
          <p:cNvPr id="1346577" name="AutoShape 17"/>
          <p:cNvSpPr>
            <a:spLocks noChangeArrowheads="1"/>
          </p:cNvSpPr>
          <p:nvPr/>
        </p:nvSpPr>
        <p:spPr bwMode="auto">
          <a:xfrm>
            <a:off x="3249358" y="1206463"/>
            <a:ext cx="442913" cy="350837"/>
          </a:xfrm>
          <a:prstGeom prst="homePlate">
            <a:avLst>
              <a:gd name="adj" fmla="val 31561"/>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1346583" name="Text Box 23"/>
          <p:cNvSpPr txBox="1">
            <a:spLocks noChangeArrowheads="1"/>
          </p:cNvSpPr>
          <p:nvPr/>
        </p:nvSpPr>
        <p:spPr bwMode="auto">
          <a:xfrm>
            <a:off x="3848982" y="942381"/>
            <a:ext cx="4986669" cy="3693319"/>
          </a:xfrm>
          <a:prstGeom prst="rect">
            <a:avLst/>
          </a:prstGeom>
          <a:noFill/>
          <a:ln>
            <a:noFill/>
          </a:ln>
        </p:spPr>
        <p:txBody>
          <a:bodyPr wrap="square">
            <a:spAutoFit/>
          </a:bodyPr>
          <a:lstStyle>
            <a:lvl1pPr marL="274638" indent="-2746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25000"/>
              </a:spcBef>
              <a:spcAft>
                <a:spcPct val="25000"/>
              </a:spcAft>
              <a:buClr>
                <a:srgbClr val="A50021"/>
              </a:buClr>
              <a:buSzPct val="120000"/>
              <a:buFontTx/>
              <a:buChar char="•"/>
            </a:pPr>
            <a:r>
              <a:rPr kumimoji="1" lang="zh-CN" altLang="en-US" sz="2400" b="1" dirty="0">
                <a:solidFill>
                  <a:srgbClr val="000066"/>
                </a:solidFill>
                <a:latin typeface="幼圆" pitchFamily="49" charset="-122"/>
                <a:ea typeface="幼圆" pitchFamily="49" charset="-122"/>
              </a:rPr>
              <a:t>岩石和土的粗颗粒受各种气候等物理因素的影响产生胀</a:t>
            </a:r>
            <a:r>
              <a:rPr kumimoji="1" lang="zh-CN" altLang="en-US" sz="2400" b="1" dirty="0" smtClean="0">
                <a:solidFill>
                  <a:srgbClr val="000066"/>
                </a:solidFill>
                <a:latin typeface="幼圆" pitchFamily="49" charset="-122"/>
                <a:ea typeface="幼圆" pitchFamily="49" charset="-122"/>
              </a:rPr>
              <a:t>缩、裂缝</a:t>
            </a:r>
            <a:r>
              <a:rPr kumimoji="1" lang="en-US" altLang="zh-CN" sz="2400" b="1" dirty="0" smtClean="0">
                <a:solidFill>
                  <a:srgbClr val="000066"/>
                </a:solidFill>
                <a:latin typeface="幼圆" pitchFamily="49" charset="-122"/>
                <a:ea typeface="幼圆" pitchFamily="49" charset="-122"/>
              </a:rPr>
              <a:t>,</a:t>
            </a:r>
            <a:r>
              <a:rPr kumimoji="1" lang="zh-CN" altLang="en-US" sz="2400" b="1" dirty="0" smtClean="0">
                <a:solidFill>
                  <a:srgbClr val="000066"/>
                </a:solidFill>
                <a:latin typeface="幼圆" pitchFamily="49" charset="-122"/>
                <a:ea typeface="幼圆" pitchFamily="49" charset="-122"/>
              </a:rPr>
              <a:t>或</a:t>
            </a:r>
            <a:r>
              <a:rPr kumimoji="1" lang="zh-CN" altLang="en-US" sz="2400" b="1" dirty="0">
                <a:solidFill>
                  <a:srgbClr val="000066"/>
                </a:solidFill>
                <a:latin typeface="幼圆" pitchFamily="49" charset="-122"/>
                <a:ea typeface="幼圆" pitchFamily="49" charset="-122"/>
              </a:rPr>
              <a:t>在运动过程中因碰撞和摩擦而破碎</a:t>
            </a:r>
          </a:p>
          <a:p>
            <a:pPr eaLnBrk="1" hangingPunct="1">
              <a:lnSpc>
                <a:spcPct val="125000"/>
              </a:lnSpc>
              <a:spcBef>
                <a:spcPct val="25000"/>
              </a:spcBef>
              <a:spcAft>
                <a:spcPct val="25000"/>
              </a:spcAft>
              <a:buClr>
                <a:srgbClr val="A50021"/>
              </a:buClr>
              <a:buSzPct val="120000"/>
              <a:buFontTx/>
              <a:buChar char="•"/>
            </a:pPr>
            <a:r>
              <a:rPr kumimoji="1" lang="zh-CN" altLang="en-US" sz="2400" b="1" dirty="0">
                <a:solidFill>
                  <a:srgbClr val="000066"/>
                </a:solidFill>
                <a:latin typeface="幼圆" pitchFamily="49" charset="-122"/>
                <a:ea typeface="幼圆" pitchFamily="49" charset="-122"/>
              </a:rPr>
              <a:t>使</a:t>
            </a:r>
            <a:r>
              <a:rPr kumimoji="1" lang="zh-CN" altLang="en-US" sz="2400" b="1" dirty="0" smtClean="0">
                <a:solidFill>
                  <a:srgbClr val="000066"/>
                </a:solidFill>
                <a:latin typeface="幼圆" pitchFamily="49" charset="-122"/>
                <a:ea typeface="幼圆" pitchFamily="49" charset="-122"/>
              </a:rPr>
              <a:t>颗粒</a:t>
            </a:r>
            <a:r>
              <a:rPr kumimoji="1" lang="zh-CN" altLang="en-US" sz="2400" b="1" dirty="0">
                <a:solidFill>
                  <a:srgbClr val="000066"/>
                </a:solidFill>
                <a:latin typeface="幼圆" pitchFamily="49" charset="-122"/>
                <a:ea typeface="幼圆" pitchFamily="49" charset="-122"/>
              </a:rPr>
              <a:t>大小发生量的</a:t>
            </a:r>
            <a:r>
              <a:rPr kumimoji="1" lang="zh-CN" altLang="en-US" sz="2400" b="1" dirty="0" smtClean="0">
                <a:solidFill>
                  <a:srgbClr val="000066"/>
                </a:solidFill>
                <a:latin typeface="幼圆" pitchFamily="49" charset="-122"/>
                <a:ea typeface="幼圆" pitchFamily="49" charset="-122"/>
              </a:rPr>
              <a:t>变化，矿物成分与母岩相同，称</a:t>
            </a:r>
            <a:r>
              <a:rPr kumimoji="1" lang="zh-CN" altLang="en-US" sz="2400" b="1" dirty="0" smtClean="0">
                <a:solidFill>
                  <a:srgbClr val="A50021"/>
                </a:solidFill>
                <a:latin typeface="幼圆" pitchFamily="49" charset="-122"/>
                <a:ea typeface="幼圆" pitchFamily="49" charset="-122"/>
              </a:rPr>
              <a:t>原生矿物</a:t>
            </a:r>
          </a:p>
          <a:p>
            <a:pPr eaLnBrk="1" hangingPunct="1">
              <a:lnSpc>
                <a:spcPct val="125000"/>
              </a:lnSpc>
              <a:spcBef>
                <a:spcPct val="25000"/>
              </a:spcBef>
              <a:spcAft>
                <a:spcPct val="25000"/>
              </a:spcAft>
              <a:buClr>
                <a:srgbClr val="A50021"/>
              </a:buClr>
              <a:buSzPct val="120000"/>
              <a:buFontTx/>
              <a:buChar char="•"/>
            </a:pPr>
            <a:r>
              <a:rPr kumimoji="1" lang="zh-CN" altLang="en-US" sz="2400" b="1" dirty="0" smtClean="0">
                <a:solidFill>
                  <a:srgbClr val="000066"/>
                </a:solidFill>
                <a:latin typeface="幼圆" pitchFamily="49" charset="-122"/>
                <a:ea typeface="幼圆" pitchFamily="49" charset="-122"/>
              </a:rPr>
              <a:t>产生无黏性</a:t>
            </a:r>
            <a:r>
              <a:rPr kumimoji="1" lang="zh-CN" altLang="en-US" sz="2400" b="1" dirty="0">
                <a:solidFill>
                  <a:srgbClr val="000066"/>
                </a:solidFill>
                <a:latin typeface="幼圆" pitchFamily="49" charset="-122"/>
                <a:ea typeface="幼圆" pitchFamily="49" charset="-122"/>
              </a:rPr>
              <a:t>土</a:t>
            </a:r>
          </a:p>
        </p:txBody>
      </p:sp>
      <p:sp>
        <p:nvSpPr>
          <p:cNvPr id="12"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§1.1  </a:t>
            </a:r>
            <a:r>
              <a:rPr lang="zh-CN" altLang="en-US" sz="2000" b="1" kern="900" spc="-140" dirty="0">
                <a:solidFill>
                  <a:srgbClr val="C00000"/>
                </a:solidFill>
                <a:latin typeface="宋体" pitchFamily="2" charset="-122"/>
              </a:rPr>
              <a:t>土的形成</a:t>
            </a:r>
          </a:p>
        </p:txBody>
      </p:sp>
      <p:sp>
        <p:nvSpPr>
          <p:cNvPr id="11" name="Rectangle 17"/>
          <p:cNvSpPr>
            <a:spLocks noChangeArrowheads="1"/>
          </p:cNvSpPr>
          <p:nvPr/>
        </p:nvSpPr>
        <p:spPr bwMode="auto">
          <a:xfrm>
            <a:off x="517283" y="849330"/>
            <a:ext cx="2555875" cy="3641725"/>
          </a:xfrm>
          <a:prstGeom prst="rect">
            <a:avLst/>
          </a:prstGeom>
          <a:noFill/>
          <a:ln w="38100" cmpd="dbl">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Text Box 18"/>
          <p:cNvSpPr txBox="1">
            <a:spLocks noChangeArrowheads="1"/>
          </p:cNvSpPr>
          <p:nvPr/>
        </p:nvSpPr>
        <p:spPr bwMode="auto">
          <a:xfrm>
            <a:off x="653808" y="1081105"/>
            <a:ext cx="207962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物理风化</a:t>
            </a: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化学风化</a:t>
            </a: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a:t>
            </a:r>
            <a:r>
              <a:rPr lang="zh-CN" altLang="en-US" sz="2800" b="1" dirty="0" smtClean="0">
                <a:solidFill>
                  <a:srgbClr val="000066"/>
                </a:solidFill>
                <a:ea typeface="幼圆" pitchFamily="49" charset="-122"/>
              </a:rPr>
              <a:t>生物风化</a:t>
            </a:r>
            <a:endParaRPr lang="zh-CN" altLang="en-US" sz="2800" b="1" dirty="0">
              <a:solidFill>
                <a:srgbClr val="000066"/>
              </a:solidFill>
              <a:ea typeface="幼圆" pitchFamily="49" charset="-122"/>
            </a:endParaRPr>
          </a:p>
        </p:txBody>
      </p:sp>
    </p:spTree>
    <p:extLst>
      <p:ext uri="{BB962C8B-B14F-4D97-AF65-F5344CB8AC3E}">
        <p14:creationId xmlns:p14="http://schemas.microsoft.com/office/powerpoint/2010/main" val="23584461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46577"/>
                                        </p:tgtEl>
                                        <p:attrNameLst>
                                          <p:attrName>style.visibility</p:attrName>
                                        </p:attrNameLst>
                                      </p:cBhvr>
                                      <p:to>
                                        <p:strVal val="visible"/>
                                      </p:to>
                                    </p:set>
                                    <p:animEffect transition="in" filter="wipe(left)">
                                      <p:cBhvr>
                                        <p:cTn id="11" dur="500"/>
                                        <p:tgtEl>
                                          <p:spTgt spid="1346577"/>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346583"/>
                                        </p:tgtEl>
                                        <p:attrNameLst>
                                          <p:attrName>style.visibility</p:attrName>
                                        </p:attrNameLst>
                                      </p:cBhvr>
                                      <p:to>
                                        <p:strVal val="visible"/>
                                      </p:to>
                                    </p:set>
                                    <p:animEffect transition="in" filter="wipe(up)">
                                      <p:cBhvr>
                                        <p:cTn id="15" dur="3000"/>
                                        <p:tgtEl>
                                          <p:spTgt spid="1346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46577" grpId="0" animBg="1"/>
      <p:bldP spid="134658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4"/>
          <p:cNvSpPr>
            <a:spLocks noChangeArrowheads="1"/>
          </p:cNvSpPr>
          <p:nvPr/>
        </p:nvSpPr>
        <p:spPr bwMode="auto">
          <a:xfrm>
            <a:off x="530894" y="1971124"/>
            <a:ext cx="2529433" cy="484684"/>
          </a:xfrm>
          <a:prstGeom prst="rect">
            <a:avLst/>
          </a:prstGeom>
          <a:solidFill>
            <a:schemeClr val="accent6">
              <a:lumMod val="60000"/>
              <a:lumOff val="40000"/>
            </a:schemeClr>
          </a:solidFill>
          <a:ln>
            <a:noFill/>
          </a:ln>
        </p:spPr>
        <p:txBody>
          <a:bodyPr wrap="none" anchor="ctr"/>
          <a:lstStyle/>
          <a:p>
            <a:endParaRPr lang="zh-CN" altLang="en-US"/>
          </a:p>
        </p:txBody>
      </p:sp>
      <p:sp>
        <p:nvSpPr>
          <p:cNvPr id="1347588" name="Text Box 4"/>
          <p:cNvSpPr txBox="1">
            <a:spLocks noChangeArrowheads="1"/>
          </p:cNvSpPr>
          <p:nvPr/>
        </p:nvSpPr>
        <p:spPr bwMode="auto">
          <a:xfrm>
            <a:off x="4156268" y="925513"/>
            <a:ext cx="4138613" cy="4302125"/>
          </a:xfrm>
          <a:prstGeom prst="rect">
            <a:avLst/>
          </a:prstGeom>
          <a:noFill/>
          <a:ln>
            <a:noFill/>
          </a:ln>
        </p:spPr>
        <p:txBody>
          <a:bodyPr>
            <a:spAutoFit/>
          </a:bodyPr>
          <a:lstStyle>
            <a:lvl1pPr marL="274638" indent="-2746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25000"/>
              </a:spcBef>
              <a:spcAft>
                <a:spcPct val="25000"/>
              </a:spcAft>
              <a:buClr>
                <a:srgbClr val="A50021"/>
              </a:buClr>
              <a:buSzPct val="120000"/>
              <a:buFontTx/>
              <a:buChar char="•"/>
            </a:pPr>
            <a:r>
              <a:rPr kumimoji="1" lang="zh-CN" altLang="en-US" sz="2400" b="1" dirty="0">
                <a:solidFill>
                  <a:srgbClr val="000066"/>
                </a:solidFill>
                <a:latin typeface="幼圆" pitchFamily="49" charset="-122"/>
                <a:ea typeface="幼圆" pitchFamily="49" charset="-122"/>
              </a:rPr>
              <a:t>母岩表面和碎散的颗粒受环境因素的作用而改变其矿物的化学成分，形成新的矿物</a:t>
            </a:r>
          </a:p>
          <a:p>
            <a:pPr eaLnBrk="1" hangingPunct="1">
              <a:lnSpc>
                <a:spcPct val="125000"/>
              </a:lnSpc>
              <a:spcBef>
                <a:spcPct val="25000"/>
              </a:spcBef>
              <a:spcAft>
                <a:spcPct val="25000"/>
              </a:spcAft>
              <a:buClr>
                <a:srgbClr val="A50021"/>
              </a:buClr>
              <a:buSzPct val="120000"/>
              <a:buFontTx/>
              <a:buChar char="•"/>
            </a:pPr>
            <a:r>
              <a:rPr kumimoji="1" lang="zh-CN" altLang="en-US" sz="2400" b="1" dirty="0">
                <a:solidFill>
                  <a:srgbClr val="000066"/>
                </a:solidFill>
                <a:latin typeface="幼圆" pitchFamily="49" charset="-122"/>
                <a:ea typeface="幼圆" pitchFamily="49" charset="-122"/>
              </a:rPr>
              <a:t>颗粒成分发生质的</a:t>
            </a:r>
            <a:r>
              <a:rPr kumimoji="1" lang="zh-CN" altLang="en-US" sz="2400" b="1" dirty="0" smtClean="0">
                <a:solidFill>
                  <a:srgbClr val="000066"/>
                </a:solidFill>
                <a:latin typeface="幼圆" pitchFamily="49" charset="-122"/>
                <a:ea typeface="幼圆" pitchFamily="49" charset="-122"/>
              </a:rPr>
              <a:t>变化，矿物</a:t>
            </a:r>
            <a:r>
              <a:rPr kumimoji="1" lang="zh-CN" altLang="en-US" sz="2400" b="1" dirty="0">
                <a:solidFill>
                  <a:srgbClr val="000066"/>
                </a:solidFill>
                <a:latin typeface="幼圆" pitchFamily="49" charset="-122"/>
                <a:ea typeface="幼圆" pitchFamily="49" charset="-122"/>
              </a:rPr>
              <a:t>成分与母岩不同</a:t>
            </a:r>
            <a:r>
              <a:rPr kumimoji="1" lang="zh-CN" altLang="en-US" sz="2400" b="1" dirty="0" smtClean="0">
                <a:solidFill>
                  <a:srgbClr val="000066"/>
                </a:solidFill>
                <a:latin typeface="幼圆" pitchFamily="49" charset="-122"/>
                <a:ea typeface="幼圆" pitchFamily="49" charset="-122"/>
              </a:rPr>
              <a:t>，也称</a:t>
            </a:r>
            <a:r>
              <a:rPr kumimoji="1" lang="zh-CN" altLang="en-US" sz="2400" b="1" dirty="0">
                <a:solidFill>
                  <a:srgbClr val="000066"/>
                </a:solidFill>
                <a:latin typeface="幼圆" pitchFamily="49" charset="-122"/>
                <a:ea typeface="幼圆" pitchFamily="49" charset="-122"/>
              </a:rPr>
              <a:t/>
            </a:r>
            <a:br>
              <a:rPr kumimoji="1" lang="zh-CN" altLang="en-US" sz="2400" b="1" dirty="0">
                <a:solidFill>
                  <a:srgbClr val="000066"/>
                </a:solidFill>
                <a:latin typeface="幼圆" pitchFamily="49" charset="-122"/>
                <a:ea typeface="幼圆" pitchFamily="49" charset="-122"/>
              </a:rPr>
            </a:br>
            <a:r>
              <a:rPr kumimoji="1" lang="zh-CN" altLang="en-US" sz="2400" b="1" dirty="0">
                <a:solidFill>
                  <a:srgbClr val="A50021"/>
                </a:solidFill>
                <a:latin typeface="幼圆" pitchFamily="49" charset="-122"/>
                <a:ea typeface="幼圆" pitchFamily="49" charset="-122"/>
              </a:rPr>
              <a:t>次生矿物</a:t>
            </a:r>
          </a:p>
          <a:p>
            <a:pPr eaLnBrk="1" hangingPunct="1">
              <a:lnSpc>
                <a:spcPct val="125000"/>
              </a:lnSpc>
              <a:spcBef>
                <a:spcPct val="25000"/>
              </a:spcBef>
              <a:spcAft>
                <a:spcPct val="25000"/>
              </a:spcAft>
              <a:buClr>
                <a:srgbClr val="A50021"/>
              </a:buClr>
              <a:buSzPct val="120000"/>
              <a:buFontTx/>
              <a:buChar char="•"/>
            </a:pPr>
            <a:r>
              <a:rPr kumimoji="1" lang="zh-CN" altLang="en-US" sz="2400" b="1" dirty="0">
                <a:solidFill>
                  <a:srgbClr val="000066"/>
                </a:solidFill>
                <a:latin typeface="幼圆" pitchFamily="49" charset="-122"/>
                <a:ea typeface="幼圆" pitchFamily="49" charset="-122"/>
              </a:rPr>
              <a:t>形成十分细微的土颗粒，最主要</a:t>
            </a:r>
            <a:r>
              <a:rPr kumimoji="1" lang="zh-CN" altLang="en-US" sz="2400" b="1" dirty="0" smtClean="0">
                <a:solidFill>
                  <a:srgbClr val="000066"/>
                </a:solidFill>
                <a:latin typeface="幼圆" pitchFamily="49" charset="-122"/>
                <a:ea typeface="幼圆" pitchFamily="49" charset="-122"/>
              </a:rPr>
              <a:t>为黏性</a:t>
            </a:r>
            <a:r>
              <a:rPr kumimoji="1" lang="zh-CN" altLang="en-US" sz="2400" b="1" dirty="0">
                <a:solidFill>
                  <a:srgbClr val="000066"/>
                </a:solidFill>
                <a:latin typeface="幼圆" pitchFamily="49" charset="-122"/>
                <a:ea typeface="幼圆" pitchFamily="49" charset="-122"/>
              </a:rPr>
              <a:t>颗粒及可溶盐类</a:t>
            </a:r>
            <a:endParaRPr kumimoji="1" lang="en-US" altLang="zh-CN" sz="2400" b="1" dirty="0">
              <a:solidFill>
                <a:srgbClr val="000066"/>
              </a:solidFill>
              <a:latin typeface="幼圆" pitchFamily="49" charset="-122"/>
              <a:ea typeface="幼圆" pitchFamily="49" charset="-122"/>
            </a:endParaRPr>
          </a:p>
        </p:txBody>
      </p:sp>
      <p:sp>
        <p:nvSpPr>
          <p:cNvPr id="30723" name="Text Box 7"/>
          <p:cNvSpPr txBox="1">
            <a:spLocks noChangeArrowheads="1"/>
          </p:cNvSpPr>
          <p:nvPr/>
        </p:nvSpPr>
        <p:spPr bwMode="auto">
          <a:xfrm>
            <a:off x="2182003" y="5664710"/>
            <a:ext cx="48387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土的形成与风化作用</a:t>
            </a:r>
            <a:endParaRPr kumimoji="1" lang="en-US" altLang="zh-CN" sz="4000" b="1" dirty="0">
              <a:solidFill>
                <a:srgbClr val="000066"/>
              </a:solidFill>
              <a:latin typeface="黑体" pitchFamily="2" charset="-122"/>
              <a:ea typeface="黑体" pitchFamily="2" charset="-122"/>
            </a:endParaRPr>
          </a:p>
        </p:txBody>
      </p:sp>
      <p:sp>
        <p:nvSpPr>
          <p:cNvPr id="1347603" name="AutoShape 19"/>
          <p:cNvSpPr>
            <a:spLocks noChangeArrowheads="1"/>
          </p:cNvSpPr>
          <p:nvPr/>
        </p:nvSpPr>
        <p:spPr bwMode="auto">
          <a:xfrm>
            <a:off x="3284452" y="2027255"/>
            <a:ext cx="442913" cy="350837"/>
          </a:xfrm>
          <a:prstGeom prst="homePlate">
            <a:avLst>
              <a:gd name="adj" fmla="val 31561"/>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10"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§1.1  </a:t>
            </a:r>
            <a:r>
              <a:rPr lang="zh-CN" altLang="en-US" sz="2000" b="1" kern="900" spc="-140" dirty="0">
                <a:solidFill>
                  <a:srgbClr val="C00000"/>
                </a:solidFill>
                <a:latin typeface="宋体" pitchFamily="2" charset="-122"/>
              </a:rPr>
              <a:t>土的形成</a:t>
            </a:r>
          </a:p>
        </p:txBody>
      </p:sp>
      <p:sp>
        <p:nvSpPr>
          <p:cNvPr id="9" name="Rectangle 17"/>
          <p:cNvSpPr>
            <a:spLocks noChangeArrowheads="1"/>
          </p:cNvSpPr>
          <p:nvPr/>
        </p:nvSpPr>
        <p:spPr bwMode="auto">
          <a:xfrm>
            <a:off x="517283" y="849330"/>
            <a:ext cx="2555875" cy="3641725"/>
          </a:xfrm>
          <a:prstGeom prst="rect">
            <a:avLst/>
          </a:prstGeom>
          <a:noFill/>
          <a:ln w="38100" cmpd="dbl">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Text Box 18"/>
          <p:cNvSpPr txBox="1">
            <a:spLocks noChangeArrowheads="1"/>
          </p:cNvSpPr>
          <p:nvPr/>
        </p:nvSpPr>
        <p:spPr bwMode="auto">
          <a:xfrm>
            <a:off x="653808" y="1081105"/>
            <a:ext cx="207962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物理风化</a:t>
            </a: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化学风化</a:t>
            </a: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a:t>
            </a:r>
            <a:r>
              <a:rPr lang="zh-CN" altLang="en-US" sz="2800" b="1" dirty="0" smtClean="0">
                <a:solidFill>
                  <a:srgbClr val="000066"/>
                </a:solidFill>
                <a:ea typeface="幼圆" pitchFamily="49" charset="-122"/>
              </a:rPr>
              <a:t>生物风化</a:t>
            </a:r>
            <a:endParaRPr lang="zh-CN" altLang="en-US" sz="2800" b="1" dirty="0">
              <a:solidFill>
                <a:srgbClr val="000066"/>
              </a:solidFill>
              <a:ea typeface="幼圆" pitchFamily="49" charset="-122"/>
            </a:endParaRPr>
          </a:p>
        </p:txBody>
      </p:sp>
    </p:spTree>
    <p:extLst>
      <p:ext uri="{BB962C8B-B14F-4D97-AF65-F5344CB8AC3E}">
        <p14:creationId xmlns:p14="http://schemas.microsoft.com/office/powerpoint/2010/main" val="40746201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47603"/>
                                        </p:tgtEl>
                                        <p:attrNameLst>
                                          <p:attrName>style.visibility</p:attrName>
                                        </p:attrNameLst>
                                      </p:cBhvr>
                                      <p:to>
                                        <p:strVal val="visible"/>
                                      </p:to>
                                    </p:set>
                                    <p:animEffect transition="in" filter="wipe(left)">
                                      <p:cBhvr>
                                        <p:cTn id="11" dur="500"/>
                                        <p:tgtEl>
                                          <p:spTgt spid="1347603"/>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347588"/>
                                        </p:tgtEl>
                                        <p:attrNameLst>
                                          <p:attrName>style.visibility</p:attrName>
                                        </p:attrNameLst>
                                      </p:cBhvr>
                                      <p:to>
                                        <p:strVal val="visible"/>
                                      </p:to>
                                    </p:set>
                                    <p:animEffect transition="in" filter="wipe(up)">
                                      <p:cBhvr>
                                        <p:cTn id="15" dur="3000"/>
                                        <p:tgtEl>
                                          <p:spTgt spid="1347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47588" grpId="0"/>
      <p:bldP spid="134760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4"/>
          <p:cNvSpPr>
            <a:spLocks noChangeArrowheads="1"/>
          </p:cNvSpPr>
          <p:nvPr/>
        </p:nvSpPr>
        <p:spPr bwMode="auto">
          <a:xfrm>
            <a:off x="522891" y="2819267"/>
            <a:ext cx="2529433" cy="484684"/>
          </a:xfrm>
          <a:prstGeom prst="rect">
            <a:avLst/>
          </a:prstGeom>
          <a:solidFill>
            <a:schemeClr val="accent6">
              <a:lumMod val="60000"/>
              <a:lumOff val="40000"/>
            </a:schemeClr>
          </a:solidFill>
          <a:ln>
            <a:noFill/>
          </a:ln>
        </p:spPr>
        <p:txBody>
          <a:bodyPr wrap="none" anchor="ctr"/>
          <a:lstStyle/>
          <a:p>
            <a:endParaRPr lang="zh-CN" altLang="en-US"/>
          </a:p>
        </p:txBody>
      </p:sp>
      <p:sp>
        <p:nvSpPr>
          <p:cNvPr id="1348628" name="Text Box 20"/>
          <p:cNvSpPr txBox="1">
            <a:spLocks noChangeArrowheads="1"/>
          </p:cNvSpPr>
          <p:nvPr/>
        </p:nvSpPr>
        <p:spPr bwMode="auto">
          <a:xfrm>
            <a:off x="4117084" y="985662"/>
            <a:ext cx="3910013" cy="3877985"/>
          </a:xfrm>
          <a:prstGeom prst="rect">
            <a:avLst/>
          </a:prstGeom>
          <a:noFill/>
          <a:ln>
            <a:noFill/>
          </a:ln>
        </p:spPr>
        <p:txBody>
          <a:bodyPr>
            <a:spAutoFit/>
          </a:bodyPr>
          <a:lstStyle>
            <a:lvl1pPr marL="274638" indent="-2746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25000"/>
              </a:spcBef>
              <a:spcAft>
                <a:spcPct val="25000"/>
              </a:spcAft>
              <a:buClr>
                <a:srgbClr val="A50021"/>
              </a:buClr>
              <a:buSzPct val="120000"/>
              <a:buFontTx/>
              <a:buChar char="•"/>
            </a:pPr>
            <a:r>
              <a:rPr kumimoji="1" lang="zh-CN" altLang="en-US" sz="2400" b="1" dirty="0">
                <a:solidFill>
                  <a:srgbClr val="000066"/>
                </a:solidFill>
                <a:latin typeface="幼圆" pitchFamily="49" charset="-122"/>
                <a:ea typeface="幼圆" pitchFamily="49" charset="-122"/>
              </a:rPr>
              <a:t>包括植物、动物和土壤微生物的作用</a:t>
            </a:r>
          </a:p>
          <a:p>
            <a:pPr eaLnBrk="1" hangingPunct="1">
              <a:lnSpc>
                <a:spcPct val="125000"/>
              </a:lnSpc>
              <a:spcBef>
                <a:spcPct val="25000"/>
              </a:spcBef>
              <a:spcAft>
                <a:spcPct val="25000"/>
              </a:spcAft>
              <a:buClr>
                <a:srgbClr val="A50021"/>
              </a:buClr>
              <a:buSzPct val="120000"/>
              <a:buFontTx/>
              <a:buChar char="•"/>
            </a:pPr>
            <a:r>
              <a:rPr kumimoji="1" lang="zh-CN" altLang="en-US" sz="2400" b="1" dirty="0" smtClean="0">
                <a:solidFill>
                  <a:srgbClr val="000066"/>
                </a:solidFill>
                <a:latin typeface="幼圆" pitchFamily="49" charset="-122"/>
                <a:ea typeface="幼圆" pitchFamily="49" charset="-122"/>
              </a:rPr>
              <a:t>可归入物理</a:t>
            </a:r>
            <a:r>
              <a:rPr kumimoji="1" lang="zh-CN" altLang="en-US" sz="2400" b="1" dirty="0">
                <a:solidFill>
                  <a:srgbClr val="000066"/>
                </a:solidFill>
                <a:latin typeface="幼圆" pitchFamily="49" charset="-122"/>
                <a:ea typeface="幼圆" pitchFamily="49" charset="-122"/>
              </a:rPr>
              <a:t>和化学风化</a:t>
            </a:r>
          </a:p>
          <a:p>
            <a:pPr eaLnBrk="1" hangingPunct="1">
              <a:lnSpc>
                <a:spcPct val="125000"/>
              </a:lnSpc>
              <a:spcBef>
                <a:spcPct val="25000"/>
              </a:spcBef>
              <a:spcAft>
                <a:spcPct val="25000"/>
              </a:spcAft>
              <a:buClr>
                <a:srgbClr val="A50021"/>
              </a:buClr>
              <a:buSzPct val="120000"/>
              <a:buFontTx/>
              <a:buChar char="•"/>
            </a:pPr>
            <a:r>
              <a:rPr kumimoji="1" lang="zh-CN" altLang="en-US" sz="2400" b="1" dirty="0">
                <a:solidFill>
                  <a:srgbClr val="000066"/>
                </a:solidFill>
                <a:latin typeface="幼圆" pitchFamily="49" charset="-122"/>
                <a:ea typeface="幼圆" pitchFamily="49" charset="-122"/>
              </a:rPr>
              <a:t>构成土中有机质和营养物质的生物循环</a:t>
            </a:r>
          </a:p>
          <a:p>
            <a:pPr eaLnBrk="1" hangingPunct="1">
              <a:lnSpc>
                <a:spcPct val="125000"/>
              </a:lnSpc>
              <a:spcBef>
                <a:spcPct val="25000"/>
              </a:spcBef>
              <a:spcAft>
                <a:spcPct val="25000"/>
              </a:spcAft>
              <a:buClr>
                <a:srgbClr val="A50021"/>
              </a:buClr>
              <a:buSzPct val="120000"/>
              <a:buFontTx/>
              <a:buChar char="•"/>
            </a:pPr>
            <a:r>
              <a:rPr kumimoji="1" lang="zh-CN" altLang="en-US" sz="2400" b="1" dirty="0">
                <a:solidFill>
                  <a:srgbClr val="000066"/>
                </a:solidFill>
                <a:latin typeface="幼圆" pitchFamily="49" charset="-122"/>
                <a:ea typeface="幼圆" pitchFamily="49" charset="-122"/>
              </a:rPr>
              <a:t>导致腐殖质的形成，改变土壤的结构</a:t>
            </a:r>
            <a:endParaRPr kumimoji="1" lang="en-US" altLang="zh-CN" sz="2400" b="1" dirty="0">
              <a:solidFill>
                <a:srgbClr val="000066"/>
              </a:solidFill>
              <a:latin typeface="幼圆" pitchFamily="49" charset="-122"/>
              <a:ea typeface="幼圆" pitchFamily="49" charset="-122"/>
            </a:endParaRPr>
          </a:p>
        </p:txBody>
      </p:sp>
      <p:sp>
        <p:nvSpPr>
          <p:cNvPr id="31747" name="Text Box 22"/>
          <p:cNvSpPr txBox="1">
            <a:spLocks noChangeArrowheads="1"/>
          </p:cNvSpPr>
          <p:nvPr/>
        </p:nvSpPr>
        <p:spPr bwMode="auto">
          <a:xfrm>
            <a:off x="2285520" y="5673336"/>
            <a:ext cx="48387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土的形成与风化作用</a:t>
            </a:r>
            <a:endParaRPr kumimoji="1" lang="en-US" altLang="zh-CN" sz="4000" b="1" dirty="0">
              <a:solidFill>
                <a:srgbClr val="000066"/>
              </a:solidFill>
              <a:latin typeface="黑体" pitchFamily="2" charset="-122"/>
              <a:ea typeface="黑体" pitchFamily="2" charset="-122"/>
            </a:endParaRPr>
          </a:p>
        </p:txBody>
      </p:sp>
      <p:sp>
        <p:nvSpPr>
          <p:cNvPr id="1348642" name="AutoShape 34"/>
          <p:cNvSpPr>
            <a:spLocks noChangeArrowheads="1"/>
          </p:cNvSpPr>
          <p:nvPr/>
        </p:nvSpPr>
        <p:spPr bwMode="auto">
          <a:xfrm>
            <a:off x="3314942" y="2893481"/>
            <a:ext cx="442913" cy="350838"/>
          </a:xfrm>
          <a:prstGeom prst="homePlate">
            <a:avLst>
              <a:gd name="adj" fmla="val 31561"/>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12"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§1.1  </a:t>
            </a:r>
            <a:r>
              <a:rPr lang="zh-CN" altLang="en-US" sz="2000" b="1" kern="900" spc="-140" dirty="0">
                <a:solidFill>
                  <a:srgbClr val="C00000"/>
                </a:solidFill>
                <a:latin typeface="宋体" pitchFamily="2" charset="-122"/>
              </a:rPr>
              <a:t>土的形成</a:t>
            </a:r>
          </a:p>
        </p:txBody>
      </p:sp>
      <p:sp>
        <p:nvSpPr>
          <p:cNvPr id="10" name="Rectangle 17"/>
          <p:cNvSpPr>
            <a:spLocks noChangeArrowheads="1"/>
          </p:cNvSpPr>
          <p:nvPr/>
        </p:nvSpPr>
        <p:spPr bwMode="auto">
          <a:xfrm>
            <a:off x="517283" y="849330"/>
            <a:ext cx="2555875" cy="3641725"/>
          </a:xfrm>
          <a:prstGeom prst="rect">
            <a:avLst/>
          </a:prstGeom>
          <a:noFill/>
          <a:ln w="38100" cmpd="dbl">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Text Box 18"/>
          <p:cNvSpPr txBox="1">
            <a:spLocks noChangeArrowheads="1"/>
          </p:cNvSpPr>
          <p:nvPr/>
        </p:nvSpPr>
        <p:spPr bwMode="auto">
          <a:xfrm>
            <a:off x="653808" y="1081105"/>
            <a:ext cx="207962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物理风化</a:t>
            </a: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化学风化</a:t>
            </a: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a:t>
            </a:r>
            <a:r>
              <a:rPr lang="zh-CN" altLang="en-US" sz="2800" b="1" dirty="0" smtClean="0">
                <a:solidFill>
                  <a:srgbClr val="000066"/>
                </a:solidFill>
                <a:ea typeface="幼圆" pitchFamily="49" charset="-122"/>
              </a:rPr>
              <a:t>生物风化</a:t>
            </a:r>
            <a:endParaRPr lang="zh-CN" altLang="en-US" sz="2800" b="1" dirty="0">
              <a:solidFill>
                <a:srgbClr val="000066"/>
              </a:solidFill>
              <a:ea typeface="幼圆" pitchFamily="49" charset="-122"/>
            </a:endParaRPr>
          </a:p>
        </p:txBody>
      </p:sp>
    </p:spTree>
    <p:extLst>
      <p:ext uri="{BB962C8B-B14F-4D97-AF65-F5344CB8AC3E}">
        <p14:creationId xmlns:p14="http://schemas.microsoft.com/office/powerpoint/2010/main" val="40110619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48642"/>
                                        </p:tgtEl>
                                        <p:attrNameLst>
                                          <p:attrName>style.visibility</p:attrName>
                                        </p:attrNameLst>
                                      </p:cBhvr>
                                      <p:to>
                                        <p:strVal val="visible"/>
                                      </p:to>
                                    </p:set>
                                    <p:animEffect transition="in" filter="wipe(left)">
                                      <p:cBhvr>
                                        <p:cTn id="11" dur="2000"/>
                                        <p:tgtEl>
                                          <p:spTgt spid="1348642"/>
                                        </p:tgtEl>
                                      </p:cBhvr>
                                    </p:animEffect>
                                  </p:childTnLst>
                                </p:cTn>
                              </p:par>
                            </p:childTnLst>
                          </p:cTn>
                        </p:par>
                        <p:par>
                          <p:cTn id="12" fill="hold" nodeType="afterGroup">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1348628"/>
                                        </p:tgtEl>
                                        <p:attrNameLst>
                                          <p:attrName>style.visibility</p:attrName>
                                        </p:attrNameLst>
                                      </p:cBhvr>
                                      <p:to>
                                        <p:strVal val="visible"/>
                                      </p:to>
                                    </p:set>
                                    <p:animEffect transition="in" filter="wipe(up)">
                                      <p:cBhvr>
                                        <p:cTn id="15" dur="3000"/>
                                        <p:tgtEl>
                                          <p:spTgt spid="1348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48628" grpId="0"/>
      <p:bldP spid="134864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F:\图片1.jpg"/>
          <p:cNvPicPr>
            <a:picLocks noChangeAspect="1" noChangeArrowheads="1"/>
          </p:cNvPicPr>
          <p:nvPr/>
        </p:nvPicPr>
        <p:blipFill rotWithShape="1">
          <a:blip r:embed="rId3">
            <a:extLst>
              <a:ext uri="{28A0092B-C50C-407E-A947-70E740481C1C}">
                <a14:useLocalDpi xmlns:a14="http://schemas.microsoft.com/office/drawing/2010/main" val="0"/>
              </a:ext>
            </a:extLst>
          </a:blip>
          <a:srcRect l="1408" t="6356" r="5239" b="11871"/>
          <a:stretch/>
        </p:blipFill>
        <p:spPr bwMode="auto">
          <a:xfrm>
            <a:off x="2697933" y="3223032"/>
            <a:ext cx="4526732" cy="218282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24"/>
          <p:cNvSpPr>
            <a:spLocks noChangeArrowheads="1"/>
          </p:cNvSpPr>
          <p:nvPr/>
        </p:nvSpPr>
        <p:spPr bwMode="auto">
          <a:xfrm>
            <a:off x="401914" y="1531566"/>
            <a:ext cx="1986382" cy="857949"/>
          </a:xfrm>
          <a:prstGeom prst="rect">
            <a:avLst/>
          </a:prstGeom>
          <a:solidFill>
            <a:schemeClr val="accent6">
              <a:lumMod val="60000"/>
              <a:lumOff val="40000"/>
            </a:schemeClr>
          </a:solidFill>
          <a:ln>
            <a:noFill/>
          </a:ln>
        </p:spPr>
        <p:txBody>
          <a:bodyPr wrap="none" anchor="ctr"/>
          <a:lstStyle/>
          <a:p>
            <a:endParaRPr lang="zh-CN" altLang="en-US"/>
          </a:p>
        </p:txBody>
      </p:sp>
      <p:sp>
        <p:nvSpPr>
          <p:cNvPr id="32770" name="Text Box 15"/>
          <p:cNvSpPr txBox="1">
            <a:spLocks noChangeArrowheads="1"/>
          </p:cNvSpPr>
          <p:nvPr/>
        </p:nvSpPr>
        <p:spPr bwMode="auto">
          <a:xfrm>
            <a:off x="475645" y="1469701"/>
            <a:ext cx="170815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残积土</a:t>
            </a:r>
            <a:br>
              <a:rPr lang="zh-CN" altLang="en-US" sz="2800" b="1" dirty="0">
                <a:solidFill>
                  <a:srgbClr val="000066"/>
                </a:solidFill>
                <a:ea typeface="幼圆" pitchFamily="49" charset="-122"/>
              </a:rPr>
            </a:br>
            <a:r>
              <a:rPr lang="zh-CN" altLang="en-US" sz="2800" b="1" dirty="0">
                <a:solidFill>
                  <a:srgbClr val="000066"/>
                </a:solidFill>
                <a:ea typeface="幼圆" pitchFamily="49" charset="-122"/>
              </a:rPr>
              <a:t>    </a:t>
            </a:r>
            <a:r>
              <a:rPr lang="zh-CN" altLang="en-US" sz="2400" b="1" dirty="0">
                <a:solidFill>
                  <a:srgbClr val="000066"/>
                </a:solidFill>
                <a:ea typeface="幼圆" pitchFamily="49" charset="-122"/>
              </a:rPr>
              <a:t>无搬运</a:t>
            </a: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运积土</a:t>
            </a:r>
            <a:br>
              <a:rPr lang="zh-CN" altLang="en-US" sz="2800" b="1" dirty="0">
                <a:solidFill>
                  <a:srgbClr val="000066"/>
                </a:solidFill>
                <a:ea typeface="幼圆" pitchFamily="49" charset="-122"/>
              </a:rPr>
            </a:br>
            <a:r>
              <a:rPr lang="zh-CN" altLang="en-US" sz="2800" b="1" dirty="0">
                <a:solidFill>
                  <a:srgbClr val="000066"/>
                </a:solidFill>
                <a:ea typeface="幼圆" pitchFamily="49" charset="-122"/>
              </a:rPr>
              <a:t>    </a:t>
            </a:r>
            <a:r>
              <a:rPr lang="zh-CN" altLang="en-US" sz="2400" b="1" dirty="0">
                <a:solidFill>
                  <a:srgbClr val="000066"/>
                </a:solidFill>
                <a:ea typeface="幼圆" pitchFamily="49" charset="-122"/>
              </a:rPr>
              <a:t>有搬运</a:t>
            </a: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p:txBody>
      </p:sp>
      <p:sp>
        <p:nvSpPr>
          <p:cNvPr id="32771" name="Text Box 16"/>
          <p:cNvSpPr txBox="1">
            <a:spLocks noChangeArrowheads="1"/>
          </p:cNvSpPr>
          <p:nvPr/>
        </p:nvSpPr>
        <p:spPr bwMode="auto">
          <a:xfrm>
            <a:off x="3032754" y="5794447"/>
            <a:ext cx="31686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4000" b="1" dirty="0">
                <a:solidFill>
                  <a:srgbClr val="000066"/>
                </a:solidFill>
                <a:ea typeface="黑体" pitchFamily="2" charset="-122"/>
              </a:rPr>
              <a:t>搬运与沉积</a:t>
            </a:r>
          </a:p>
        </p:txBody>
      </p:sp>
      <p:sp>
        <p:nvSpPr>
          <p:cNvPr id="1349651" name="AutoShape 19"/>
          <p:cNvSpPr>
            <a:spLocks noChangeArrowheads="1"/>
          </p:cNvSpPr>
          <p:nvPr/>
        </p:nvSpPr>
        <p:spPr bwMode="auto">
          <a:xfrm>
            <a:off x="2558804" y="1779922"/>
            <a:ext cx="442912" cy="350838"/>
          </a:xfrm>
          <a:prstGeom prst="homePlate">
            <a:avLst>
              <a:gd name="adj" fmla="val 31561"/>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32776" name="Text Box 21"/>
          <p:cNvSpPr txBox="1">
            <a:spLocks noChangeArrowheads="1"/>
          </p:cNvSpPr>
          <p:nvPr/>
        </p:nvSpPr>
        <p:spPr bwMode="auto">
          <a:xfrm>
            <a:off x="3199745" y="776237"/>
            <a:ext cx="5266337" cy="15922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25000"/>
              </a:spcBef>
              <a:spcAft>
                <a:spcPct val="25000"/>
              </a:spcAft>
            </a:pPr>
            <a:r>
              <a:rPr kumimoji="1" lang="zh-CN" altLang="en-US" sz="2600" b="1" dirty="0">
                <a:solidFill>
                  <a:srgbClr val="000066"/>
                </a:solidFill>
                <a:latin typeface="幼圆" pitchFamily="49" charset="-122"/>
                <a:ea typeface="幼圆" pitchFamily="49" charset="-122"/>
              </a:rPr>
              <a:t>母岩表层经风化作用破碎成岩屑或细小颗粒后，未经搬运残留在原地的堆积物</a:t>
            </a:r>
          </a:p>
        </p:txBody>
      </p:sp>
      <p:sp>
        <p:nvSpPr>
          <p:cNvPr id="32779" name="AutoShape 24"/>
          <p:cNvSpPr>
            <a:spLocks noChangeArrowheads="1"/>
          </p:cNvSpPr>
          <p:nvPr/>
        </p:nvSpPr>
        <p:spPr bwMode="auto">
          <a:xfrm>
            <a:off x="6335268" y="2055764"/>
            <a:ext cx="2565283" cy="1635127"/>
          </a:xfrm>
          <a:prstGeom prst="roundRect">
            <a:avLst>
              <a:gd name="adj" fmla="val 16667"/>
            </a:avLst>
          </a:prstGeom>
          <a:solidFill>
            <a:schemeClr val="accent6">
              <a:lumMod val="40000"/>
              <a:lumOff val="60000"/>
            </a:schemeClr>
          </a:solidFill>
          <a:ln>
            <a:noFill/>
          </a:ln>
          <a:extLs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p>
            <a:pPr>
              <a:lnSpc>
                <a:spcPct val="100000"/>
              </a:lnSpc>
              <a:spcBef>
                <a:spcPct val="0"/>
              </a:spcBef>
              <a:spcAft>
                <a:spcPct val="0"/>
              </a:spcAft>
              <a:buClr>
                <a:srgbClr val="A50021"/>
              </a:buClr>
              <a:buFontTx/>
              <a:buChar char="•"/>
            </a:pPr>
            <a:r>
              <a:rPr kumimoji="1" lang="zh-CN" altLang="en-US" sz="2400" b="1" dirty="0">
                <a:solidFill>
                  <a:srgbClr val="000066"/>
                </a:solidFill>
                <a:latin typeface="Arial" charset="0"/>
                <a:ea typeface="幼圆" pitchFamily="49" charset="-122"/>
              </a:rPr>
              <a:t> 颗粒表面粗糙</a:t>
            </a:r>
          </a:p>
          <a:p>
            <a:pPr>
              <a:lnSpc>
                <a:spcPct val="100000"/>
              </a:lnSpc>
              <a:spcBef>
                <a:spcPct val="0"/>
              </a:spcBef>
              <a:spcAft>
                <a:spcPct val="0"/>
              </a:spcAft>
              <a:buClr>
                <a:srgbClr val="A50021"/>
              </a:buClr>
              <a:buFontTx/>
              <a:buChar char="•"/>
            </a:pPr>
            <a:r>
              <a:rPr kumimoji="1" lang="zh-CN" altLang="en-US" sz="2400" b="1" dirty="0">
                <a:solidFill>
                  <a:srgbClr val="000066"/>
                </a:solidFill>
                <a:latin typeface="Arial" charset="0"/>
                <a:ea typeface="幼圆" pitchFamily="49" charset="-122"/>
              </a:rPr>
              <a:t> 多棱角</a:t>
            </a:r>
          </a:p>
          <a:p>
            <a:pPr>
              <a:lnSpc>
                <a:spcPct val="100000"/>
              </a:lnSpc>
              <a:spcBef>
                <a:spcPct val="0"/>
              </a:spcBef>
              <a:spcAft>
                <a:spcPct val="0"/>
              </a:spcAft>
              <a:buClr>
                <a:srgbClr val="A50021"/>
              </a:buClr>
              <a:buFontTx/>
              <a:buChar char="•"/>
            </a:pPr>
            <a:r>
              <a:rPr kumimoji="1" lang="zh-CN" altLang="en-US" sz="2400" b="1" dirty="0">
                <a:solidFill>
                  <a:srgbClr val="000066"/>
                </a:solidFill>
                <a:latin typeface="Arial" charset="0"/>
                <a:ea typeface="幼圆" pitchFamily="49" charset="-122"/>
              </a:rPr>
              <a:t> 粗细不均</a:t>
            </a:r>
          </a:p>
          <a:p>
            <a:pPr>
              <a:lnSpc>
                <a:spcPct val="100000"/>
              </a:lnSpc>
              <a:spcBef>
                <a:spcPct val="0"/>
              </a:spcBef>
              <a:spcAft>
                <a:spcPct val="0"/>
              </a:spcAft>
              <a:buClr>
                <a:srgbClr val="A50021"/>
              </a:buClr>
              <a:buFontTx/>
              <a:buChar char="•"/>
            </a:pPr>
            <a:r>
              <a:rPr kumimoji="1" lang="zh-CN" altLang="en-US" sz="2400" b="1" dirty="0">
                <a:solidFill>
                  <a:srgbClr val="000066"/>
                </a:solidFill>
                <a:latin typeface="Arial" charset="0"/>
                <a:ea typeface="幼圆" pitchFamily="49" charset="-122"/>
              </a:rPr>
              <a:t> 无明显层理</a:t>
            </a:r>
          </a:p>
        </p:txBody>
      </p:sp>
      <p:sp>
        <p:nvSpPr>
          <p:cNvPr id="32774" name="Rectangle 28"/>
          <p:cNvSpPr>
            <a:spLocks noChangeArrowheads="1"/>
          </p:cNvSpPr>
          <p:nvPr/>
        </p:nvSpPr>
        <p:spPr bwMode="auto">
          <a:xfrm>
            <a:off x="378807" y="1237926"/>
            <a:ext cx="2012950" cy="3298825"/>
          </a:xfrm>
          <a:prstGeom prst="rect">
            <a:avLst/>
          </a:prstGeom>
          <a:noFill/>
          <a:ln w="38100" cmpd="dbl">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§1.1  </a:t>
            </a:r>
            <a:r>
              <a:rPr lang="zh-CN" altLang="en-US" sz="2000" b="1" kern="900" spc="-140" dirty="0">
                <a:solidFill>
                  <a:srgbClr val="C00000"/>
                </a:solidFill>
                <a:latin typeface="宋体" pitchFamily="2" charset="-122"/>
              </a:rPr>
              <a:t>土的形成</a:t>
            </a:r>
          </a:p>
        </p:txBody>
      </p:sp>
      <p:sp>
        <p:nvSpPr>
          <p:cNvPr id="3" name="TextBox 2"/>
          <p:cNvSpPr txBox="1"/>
          <p:nvPr/>
        </p:nvSpPr>
        <p:spPr>
          <a:xfrm>
            <a:off x="5232945" y="5099446"/>
            <a:ext cx="1112805" cy="517065"/>
          </a:xfrm>
          <a:prstGeom prst="rect">
            <a:avLst/>
          </a:prstGeom>
          <a:noFill/>
        </p:spPr>
        <p:txBody>
          <a:bodyPr wrap="none" rtlCol="0">
            <a:spAutoFit/>
          </a:bodyPr>
          <a:lstStyle/>
          <a:p>
            <a:r>
              <a:rPr lang="zh-CN" altLang="en-US" sz="2400" b="1" dirty="0" smtClean="0">
                <a:latin typeface="幼圆" panose="02010509060101010101" pitchFamily="49" charset="-122"/>
                <a:ea typeface="幼圆" panose="02010509060101010101" pitchFamily="49" charset="-122"/>
              </a:rPr>
              <a:t>基岩层</a:t>
            </a:r>
            <a:endParaRPr lang="zh-CN" altLang="en-US" sz="2400" b="1" dirty="0">
              <a:latin typeface="幼圆" panose="02010509060101010101" pitchFamily="49" charset="-122"/>
              <a:ea typeface="幼圆" panose="02010509060101010101" pitchFamily="49" charset="-122"/>
            </a:endParaRPr>
          </a:p>
        </p:txBody>
      </p:sp>
      <p:grpSp>
        <p:nvGrpSpPr>
          <p:cNvPr id="4" name="组合 3"/>
          <p:cNvGrpSpPr/>
          <p:nvPr/>
        </p:nvGrpSpPr>
        <p:grpSpPr>
          <a:xfrm>
            <a:off x="7143184" y="5216904"/>
            <a:ext cx="1492257" cy="517065"/>
            <a:chOff x="7143184" y="5216904"/>
            <a:chExt cx="1492257" cy="517065"/>
          </a:xfrm>
        </p:grpSpPr>
        <p:sp>
          <p:nvSpPr>
            <p:cNvPr id="20" name="TextBox 19"/>
            <p:cNvSpPr txBox="1"/>
            <p:nvPr/>
          </p:nvSpPr>
          <p:spPr>
            <a:xfrm>
              <a:off x="7522636" y="5216904"/>
              <a:ext cx="1112805" cy="517065"/>
            </a:xfrm>
            <a:prstGeom prst="rect">
              <a:avLst/>
            </a:prstGeom>
            <a:solidFill>
              <a:schemeClr val="bg1"/>
            </a:solidFill>
          </p:spPr>
          <p:txBody>
            <a:bodyPr wrap="none" rtlCol="0">
              <a:spAutoFit/>
            </a:bodyPr>
            <a:lstStyle/>
            <a:p>
              <a:r>
                <a:rPr lang="zh-CN" altLang="en-US" sz="2400" b="1" dirty="0" smtClean="0">
                  <a:latin typeface="幼圆" panose="02010509060101010101" pitchFamily="49" charset="-122"/>
                  <a:ea typeface="幼圆" panose="02010509060101010101" pitchFamily="49" charset="-122"/>
                </a:rPr>
                <a:t>风化层</a:t>
              </a:r>
              <a:endParaRPr lang="zh-CN" altLang="en-US" sz="2400" b="1" dirty="0">
                <a:latin typeface="幼圆" panose="02010509060101010101" pitchFamily="49" charset="-122"/>
                <a:ea typeface="幼圆" panose="02010509060101010101" pitchFamily="49" charset="-122"/>
              </a:endParaRPr>
            </a:p>
          </p:txBody>
        </p:sp>
        <p:cxnSp>
          <p:nvCxnSpPr>
            <p:cNvPr id="5" name="直接连接符 4"/>
            <p:cNvCxnSpPr/>
            <p:nvPr/>
          </p:nvCxnSpPr>
          <p:spPr>
            <a:xfrm>
              <a:off x="7143184" y="5260062"/>
              <a:ext cx="379452" cy="21459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4662529" y="2477636"/>
            <a:ext cx="1673372" cy="1134693"/>
            <a:chOff x="4662529" y="2477636"/>
            <a:chExt cx="1673372" cy="1134693"/>
          </a:xfrm>
        </p:grpSpPr>
        <p:sp>
          <p:nvSpPr>
            <p:cNvPr id="21" name="TextBox 20"/>
            <p:cNvSpPr txBox="1"/>
            <p:nvPr/>
          </p:nvSpPr>
          <p:spPr>
            <a:xfrm>
              <a:off x="4913717" y="2477636"/>
              <a:ext cx="1422184" cy="517065"/>
            </a:xfrm>
            <a:prstGeom prst="rect">
              <a:avLst/>
            </a:prstGeom>
            <a:noFill/>
          </p:spPr>
          <p:txBody>
            <a:bodyPr wrap="none" rtlCol="0">
              <a:spAutoFit/>
            </a:bodyPr>
            <a:lstStyle/>
            <a:p>
              <a:r>
                <a:rPr lang="zh-CN" altLang="en-US" sz="2400" b="1" dirty="0" smtClean="0">
                  <a:solidFill>
                    <a:srgbClr val="C00000"/>
                  </a:solidFill>
                  <a:latin typeface="黑体" panose="02010609060101010101" pitchFamily="49" charset="-122"/>
                  <a:ea typeface="黑体" panose="02010609060101010101" pitchFamily="49" charset="-122"/>
                </a:rPr>
                <a:t>残积土层</a:t>
              </a:r>
              <a:endParaRPr lang="zh-CN" altLang="en-US" sz="2400" b="1" dirty="0">
                <a:solidFill>
                  <a:srgbClr val="C00000"/>
                </a:solidFill>
                <a:latin typeface="黑体" panose="02010609060101010101" pitchFamily="49" charset="-122"/>
                <a:ea typeface="黑体" panose="02010609060101010101" pitchFamily="49" charset="-122"/>
              </a:endParaRPr>
            </a:p>
          </p:txBody>
        </p:sp>
        <p:cxnSp>
          <p:nvCxnSpPr>
            <p:cNvPr id="24" name="直接连接符 23"/>
            <p:cNvCxnSpPr/>
            <p:nvPr/>
          </p:nvCxnSpPr>
          <p:spPr>
            <a:xfrm flipV="1">
              <a:off x="4662529" y="2987640"/>
              <a:ext cx="398353" cy="6246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690611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49651"/>
                                        </p:tgtEl>
                                        <p:attrNameLst>
                                          <p:attrName>style.visibility</p:attrName>
                                        </p:attrNameLst>
                                      </p:cBhvr>
                                      <p:to>
                                        <p:strVal val="visible"/>
                                      </p:to>
                                    </p:set>
                                    <p:animEffect transition="in" filter="wipe(left)">
                                      <p:cBhvr>
                                        <p:cTn id="11" dur="500"/>
                                        <p:tgtEl>
                                          <p:spTgt spid="134965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2776"/>
                                        </p:tgtEl>
                                        <p:attrNameLst>
                                          <p:attrName>style.visibility</p:attrName>
                                        </p:attrNameLst>
                                      </p:cBhvr>
                                      <p:to>
                                        <p:strVal val="visible"/>
                                      </p:to>
                                    </p:set>
                                    <p:animEffect transition="in" filter="wipe(left)">
                                      <p:cBhvr>
                                        <p:cTn id="15" dur="1000"/>
                                        <p:tgtEl>
                                          <p:spTgt spid="3277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32"/>
                                        </p:tgtEl>
                                        <p:attrNameLst>
                                          <p:attrName>style.visibility</p:attrName>
                                        </p:attrNameLst>
                                      </p:cBhvr>
                                      <p:to>
                                        <p:strVal val="visible"/>
                                      </p:to>
                                    </p:set>
                                  </p:childTnLst>
                                </p:cTn>
                              </p:par>
                            </p:childTnLst>
                          </p:cTn>
                        </p:par>
                        <p:par>
                          <p:cTn id="20" fill="hold">
                            <p:stCondLst>
                              <p:cond delay="0"/>
                            </p:stCondLst>
                            <p:childTnLst>
                              <p:par>
                                <p:cTn id="21" presetID="22" presetClass="entr" presetSubtype="4"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par>
                                <p:cTn id="24" presetID="22" presetClass="entr" presetSubtype="4"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down)">
                                      <p:cBhvr>
                                        <p:cTn id="26" dur="500"/>
                                        <p:tgtEl>
                                          <p:spTgt spid="4"/>
                                        </p:tgtEl>
                                      </p:cBhvr>
                                    </p:animEffect>
                                  </p:childTnLst>
                                </p:cTn>
                              </p:par>
                              <p:par>
                                <p:cTn id="27" presetID="22" presetClass="entr" presetSubtype="4"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00"/>
                                        <p:tgtEl>
                                          <p:spTgt spid="6"/>
                                        </p:tgtEl>
                                      </p:cBhvr>
                                    </p:animEffect>
                                  </p:childTnLst>
                                </p:cTn>
                              </p:par>
                            </p:childTnLst>
                          </p:cTn>
                        </p:par>
                        <p:par>
                          <p:cTn id="30" fill="hold">
                            <p:stCondLst>
                              <p:cond delay="500"/>
                            </p:stCondLst>
                            <p:childTnLst>
                              <p:par>
                                <p:cTn id="31" presetID="31" presetClass="entr" presetSubtype="0" fill="hold" grpId="0" nodeType="afterEffect">
                                  <p:stCondLst>
                                    <p:cond delay="0"/>
                                  </p:stCondLst>
                                  <p:childTnLst>
                                    <p:set>
                                      <p:cBhvr>
                                        <p:cTn id="32" dur="1" fill="hold">
                                          <p:stCondLst>
                                            <p:cond delay="0"/>
                                          </p:stCondLst>
                                        </p:cTn>
                                        <p:tgtEl>
                                          <p:spTgt spid="32779"/>
                                        </p:tgtEl>
                                        <p:attrNameLst>
                                          <p:attrName>style.visibility</p:attrName>
                                        </p:attrNameLst>
                                      </p:cBhvr>
                                      <p:to>
                                        <p:strVal val="visible"/>
                                      </p:to>
                                    </p:set>
                                    <p:anim calcmode="lin" valueType="num">
                                      <p:cBhvr>
                                        <p:cTn id="33" dur="1000" fill="hold"/>
                                        <p:tgtEl>
                                          <p:spTgt spid="32779"/>
                                        </p:tgtEl>
                                        <p:attrNameLst>
                                          <p:attrName>ppt_w</p:attrName>
                                        </p:attrNameLst>
                                      </p:cBhvr>
                                      <p:tavLst>
                                        <p:tav tm="0">
                                          <p:val>
                                            <p:fltVal val="0"/>
                                          </p:val>
                                        </p:tav>
                                        <p:tav tm="100000">
                                          <p:val>
                                            <p:strVal val="#ppt_w"/>
                                          </p:val>
                                        </p:tav>
                                      </p:tavLst>
                                    </p:anim>
                                    <p:anim calcmode="lin" valueType="num">
                                      <p:cBhvr>
                                        <p:cTn id="34" dur="1000" fill="hold"/>
                                        <p:tgtEl>
                                          <p:spTgt spid="32779"/>
                                        </p:tgtEl>
                                        <p:attrNameLst>
                                          <p:attrName>ppt_h</p:attrName>
                                        </p:attrNameLst>
                                      </p:cBhvr>
                                      <p:tavLst>
                                        <p:tav tm="0">
                                          <p:val>
                                            <p:fltVal val="0"/>
                                          </p:val>
                                        </p:tav>
                                        <p:tav tm="100000">
                                          <p:val>
                                            <p:strVal val="#ppt_h"/>
                                          </p:val>
                                        </p:tav>
                                      </p:tavLst>
                                    </p:anim>
                                    <p:anim calcmode="lin" valueType="num">
                                      <p:cBhvr>
                                        <p:cTn id="35" dur="1000" fill="hold"/>
                                        <p:tgtEl>
                                          <p:spTgt spid="32779"/>
                                        </p:tgtEl>
                                        <p:attrNameLst>
                                          <p:attrName>style.rotation</p:attrName>
                                        </p:attrNameLst>
                                      </p:cBhvr>
                                      <p:tavLst>
                                        <p:tav tm="0">
                                          <p:val>
                                            <p:fltVal val="90"/>
                                          </p:val>
                                        </p:tav>
                                        <p:tav tm="100000">
                                          <p:val>
                                            <p:fltVal val="0"/>
                                          </p:val>
                                        </p:tav>
                                      </p:tavLst>
                                    </p:anim>
                                    <p:animEffect transition="in" filter="fade">
                                      <p:cBhvr>
                                        <p:cTn id="36" dur="1000"/>
                                        <p:tgtEl>
                                          <p:spTgt spid="32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49651" grpId="0" animBg="1"/>
      <p:bldP spid="32776" grpId="0"/>
      <p:bldP spid="32779" grpId="0" animBg="1"/>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4"/>
          <p:cNvSpPr>
            <a:spLocks noChangeArrowheads="1"/>
          </p:cNvSpPr>
          <p:nvPr/>
        </p:nvSpPr>
        <p:spPr bwMode="auto">
          <a:xfrm>
            <a:off x="748192" y="3205090"/>
            <a:ext cx="1986382" cy="857949"/>
          </a:xfrm>
          <a:prstGeom prst="rect">
            <a:avLst/>
          </a:prstGeom>
          <a:solidFill>
            <a:schemeClr val="accent6">
              <a:lumMod val="60000"/>
              <a:lumOff val="40000"/>
            </a:schemeClr>
          </a:solidFill>
          <a:ln>
            <a:noFill/>
          </a:ln>
        </p:spPr>
        <p:txBody>
          <a:bodyPr wrap="none" anchor="ctr"/>
          <a:lstStyle/>
          <a:p>
            <a:endParaRPr lang="zh-CN" altLang="en-US"/>
          </a:p>
        </p:txBody>
      </p:sp>
      <p:sp>
        <p:nvSpPr>
          <p:cNvPr id="33795" name="Text Box 13"/>
          <p:cNvSpPr txBox="1">
            <a:spLocks noChangeArrowheads="1"/>
          </p:cNvSpPr>
          <p:nvPr/>
        </p:nvSpPr>
        <p:spPr bwMode="auto">
          <a:xfrm>
            <a:off x="3136271" y="5772929"/>
            <a:ext cx="31686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4000" b="1" dirty="0">
                <a:solidFill>
                  <a:srgbClr val="000066"/>
                </a:solidFill>
                <a:ea typeface="黑体" pitchFamily="2" charset="-122"/>
              </a:rPr>
              <a:t>搬运与沉积</a:t>
            </a:r>
          </a:p>
        </p:txBody>
      </p:sp>
      <p:sp>
        <p:nvSpPr>
          <p:cNvPr id="33796" name="Rectangle 14"/>
          <p:cNvSpPr>
            <a:spLocks noChangeArrowheads="1"/>
          </p:cNvSpPr>
          <p:nvPr/>
        </p:nvSpPr>
        <p:spPr bwMode="auto">
          <a:xfrm>
            <a:off x="592423" y="1160349"/>
            <a:ext cx="2413000" cy="3641725"/>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50680" name="AutoShape 24"/>
          <p:cNvSpPr>
            <a:spLocks noChangeArrowheads="1"/>
          </p:cNvSpPr>
          <p:nvPr/>
        </p:nvSpPr>
        <p:spPr bwMode="auto">
          <a:xfrm>
            <a:off x="2992723" y="3238386"/>
            <a:ext cx="442912" cy="350838"/>
          </a:xfrm>
          <a:prstGeom prst="homePlate">
            <a:avLst>
              <a:gd name="adj" fmla="val 31561"/>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33798" name="Text Box 25"/>
          <p:cNvSpPr txBox="1">
            <a:spLocks noChangeArrowheads="1"/>
          </p:cNvSpPr>
          <p:nvPr/>
        </p:nvSpPr>
        <p:spPr bwMode="auto">
          <a:xfrm>
            <a:off x="830548" y="1452449"/>
            <a:ext cx="170815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²"/>
            </a:pPr>
            <a:r>
              <a:rPr lang="zh-CN" altLang="en-US" sz="2800" b="1">
                <a:solidFill>
                  <a:srgbClr val="000066"/>
                </a:solidFill>
                <a:ea typeface="幼圆" pitchFamily="49" charset="-122"/>
              </a:rPr>
              <a:t> 残积土</a:t>
            </a:r>
            <a:br>
              <a:rPr lang="zh-CN" altLang="en-US" sz="2800" b="1">
                <a:solidFill>
                  <a:srgbClr val="000066"/>
                </a:solidFill>
                <a:ea typeface="幼圆" pitchFamily="49" charset="-122"/>
              </a:rPr>
            </a:br>
            <a:r>
              <a:rPr lang="zh-CN" altLang="en-US" sz="2800" b="1">
                <a:solidFill>
                  <a:srgbClr val="000066"/>
                </a:solidFill>
                <a:ea typeface="幼圆" pitchFamily="49" charset="-122"/>
              </a:rPr>
              <a:t>    </a:t>
            </a:r>
            <a:r>
              <a:rPr lang="zh-CN" altLang="en-US" sz="2400" b="1">
                <a:solidFill>
                  <a:srgbClr val="000066"/>
                </a:solidFill>
                <a:ea typeface="幼圆" pitchFamily="49" charset="-122"/>
              </a:rPr>
              <a:t>无搬运</a:t>
            </a:r>
          </a:p>
          <a:p>
            <a:pPr eaLnBrk="1" hangingPunct="1">
              <a:lnSpc>
                <a:spcPct val="100000"/>
              </a:lnSpc>
              <a:spcBef>
                <a:spcPct val="0"/>
              </a:spcBef>
              <a:spcAft>
                <a:spcPct val="0"/>
              </a:spcAft>
              <a:buFont typeface="Wingdings" pitchFamily="2" charset="2"/>
              <a:buChar char="²"/>
            </a:pPr>
            <a:endParaRPr lang="zh-CN" altLang="en-US" sz="2800" b="1">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endParaRPr lang="zh-CN" altLang="en-US" sz="2800" b="1">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r>
              <a:rPr lang="zh-CN" altLang="en-US" sz="2800" b="1">
                <a:solidFill>
                  <a:srgbClr val="000066"/>
                </a:solidFill>
                <a:ea typeface="幼圆" pitchFamily="49" charset="-122"/>
              </a:rPr>
              <a:t> 运积土</a:t>
            </a:r>
            <a:br>
              <a:rPr lang="zh-CN" altLang="en-US" sz="2800" b="1">
                <a:solidFill>
                  <a:srgbClr val="000066"/>
                </a:solidFill>
                <a:ea typeface="幼圆" pitchFamily="49" charset="-122"/>
              </a:rPr>
            </a:br>
            <a:r>
              <a:rPr lang="zh-CN" altLang="en-US" sz="2800" b="1">
                <a:solidFill>
                  <a:srgbClr val="000066"/>
                </a:solidFill>
                <a:ea typeface="幼圆" pitchFamily="49" charset="-122"/>
              </a:rPr>
              <a:t>    </a:t>
            </a:r>
            <a:r>
              <a:rPr lang="zh-CN" altLang="en-US" sz="2400" b="1">
                <a:solidFill>
                  <a:srgbClr val="000066"/>
                </a:solidFill>
                <a:ea typeface="幼圆" pitchFamily="49" charset="-122"/>
              </a:rPr>
              <a:t>有搬运</a:t>
            </a:r>
          </a:p>
          <a:p>
            <a:pPr eaLnBrk="1" hangingPunct="1">
              <a:lnSpc>
                <a:spcPct val="100000"/>
              </a:lnSpc>
              <a:spcBef>
                <a:spcPct val="0"/>
              </a:spcBef>
              <a:spcAft>
                <a:spcPct val="0"/>
              </a:spcAft>
              <a:buFont typeface="Wingdings" pitchFamily="2" charset="2"/>
              <a:buChar char="²"/>
            </a:pPr>
            <a:endParaRPr lang="zh-CN" altLang="en-US" sz="2800" b="1">
              <a:solidFill>
                <a:srgbClr val="000066"/>
              </a:solidFill>
              <a:ea typeface="幼圆" pitchFamily="49" charset="-122"/>
            </a:endParaRPr>
          </a:p>
        </p:txBody>
      </p:sp>
      <p:sp>
        <p:nvSpPr>
          <p:cNvPr id="33799" name="Rectangle 27"/>
          <p:cNvSpPr>
            <a:spLocks noChangeArrowheads="1"/>
          </p:cNvSpPr>
          <p:nvPr/>
        </p:nvSpPr>
        <p:spPr bwMode="auto">
          <a:xfrm>
            <a:off x="733710" y="1220674"/>
            <a:ext cx="2012950" cy="3298825"/>
          </a:xfrm>
          <a:prstGeom prst="rect">
            <a:avLst/>
          </a:prstGeom>
          <a:noFill/>
          <a:ln w="38100" cmpd="dbl">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50684" name="Text Box 28"/>
          <p:cNvSpPr txBox="1">
            <a:spLocks noChangeArrowheads="1"/>
          </p:cNvSpPr>
          <p:nvPr/>
        </p:nvSpPr>
        <p:spPr bwMode="auto">
          <a:xfrm>
            <a:off x="3460062" y="896645"/>
            <a:ext cx="5520036" cy="1615827"/>
          </a:xfrm>
          <a:prstGeom prst="rect">
            <a:avLst/>
          </a:prstGeom>
          <a:noFill/>
          <a:ln>
            <a:noFill/>
          </a:ln>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55000"/>
              </a:spcAft>
            </a:pPr>
            <a:r>
              <a:rPr kumimoji="1" lang="zh-CN" altLang="en-US" sz="2800" b="1" dirty="0">
                <a:solidFill>
                  <a:srgbClr val="000066"/>
                </a:solidFill>
                <a:ea typeface="幼圆" pitchFamily="49" charset="-122"/>
              </a:rPr>
              <a:t>风化所形成的土颗粒，受自然力的作用搬运到远近不同的地点所沉积的</a:t>
            </a:r>
            <a:r>
              <a:rPr kumimoji="1" lang="zh-CN" altLang="en-US" sz="2800" b="1" dirty="0" smtClean="0">
                <a:solidFill>
                  <a:srgbClr val="000066"/>
                </a:solidFill>
                <a:ea typeface="幼圆" pitchFamily="49" charset="-122"/>
              </a:rPr>
              <a:t>堆积物</a:t>
            </a:r>
            <a:endParaRPr kumimoji="1" lang="zh-CN" altLang="en-US" sz="2800" b="1" dirty="0">
              <a:solidFill>
                <a:srgbClr val="000066"/>
              </a:solidFill>
              <a:latin typeface="幼圆" pitchFamily="49" charset="-122"/>
              <a:ea typeface="幼圆" pitchFamily="49" charset="-122"/>
            </a:endParaRPr>
          </a:p>
        </p:txBody>
      </p:sp>
      <p:sp>
        <p:nvSpPr>
          <p:cNvPr id="11" name="Text Box 28"/>
          <p:cNvSpPr txBox="1">
            <a:spLocks noChangeArrowheads="1"/>
          </p:cNvSpPr>
          <p:nvPr/>
        </p:nvSpPr>
        <p:spPr bwMode="auto">
          <a:xfrm>
            <a:off x="3614468" y="2593174"/>
            <a:ext cx="5348376" cy="2843855"/>
          </a:xfrm>
          <a:prstGeom prst="rect">
            <a:avLst/>
          </a:prstGeom>
          <a:noFill/>
          <a:ln>
            <a:noFill/>
          </a:ln>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ts val="0"/>
              </a:spcAft>
              <a:buClr>
                <a:srgbClr val="C00000"/>
              </a:buClr>
              <a:buSzPct val="140000"/>
              <a:buFont typeface="Arial" pitchFamily="34" charset="0"/>
              <a:buChar char="•"/>
            </a:pPr>
            <a:r>
              <a:rPr kumimoji="1" lang="zh-CN" altLang="en-US" sz="2200" b="1" spc="-110" dirty="0" smtClean="0">
                <a:solidFill>
                  <a:srgbClr val="A50021"/>
                </a:solidFill>
                <a:latin typeface="幼圆" pitchFamily="49" charset="-122"/>
                <a:ea typeface="幼圆" pitchFamily="49" charset="-122"/>
              </a:rPr>
              <a:t>坡积土</a:t>
            </a:r>
            <a:r>
              <a:rPr kumimoji="1" lang="zh-CN" altLang="en-US" sz="2200" b="1" spc="-110" dirty="0">
                <a:solidFill>
                  <a:srgbClr val="A50021"/>
                </a:solidFill>
                <a:latin typeface="幼圆" pitchFamily="49" charset="-122"/>
                <a:ea typeface="幼圆" pitchFamily="49" charset="-122"/>
              </a:rPr>
              <a:t>：</a:t>
            </a:r>
            <a:r>
              <a:rPr kumimoji="1" lang="zh-CN" altLang="en-US" sz="2200" b="1" spc="-110" dirty="0">
                <a:solidFill>
                  <a:srgbClr val="000066"/>
                </a:solidFill>
                <a:latin typeface="幼圆" pitchFamily="49" charset="-122"/>
                <a:ea typeface="幼圆" pitchFamily="49" charset="-122"/>
              </a:rPr>
              <a:t>土粒粗细不同，性质不均</a:t>
            </a:r>
          </a:p>
          <a:p>
            <a:pPr marL="342900" indent="-342900" eaLnBrk="1" hangingPunct="1">
              <a:lnSpc>
                <a:spcPct val="120000"/>
              </a:lnSpc>
              <a:spcBef>
                <a:spcPct val="0"/>
              </a:spcBef>
              <a:spcAft>
                <a:spcPts val="0"/>
              </a:spcAft>
              <a:buClr>
                <a:srgbClr val="C00000"/>
              </a:buClr>
              <a:buSzPct val="140000"/>
              <a:buFont typeface="Arial" pitchFamily="34" charset="0"/>
              <a:buChar char="•"/>
            </a:pPr>
            <a:r>
              <a:rPr kumimoji="1" lang="zh-CN" altLang="en-US" sz="2200" b="1" spc="-110" dirty="0" smtClean="0">
                <a:solidFill>
                  <a:srgbClr val="A50021"/>
                </a:solidFill>
                <a:latin typeface="幼圆" pitchFamily="49" charset="-122"/>
                <a:ea typeface="幼圆" pitchFamily="49" charset="-122"/>
              </a:rPr>
              <a:t>洪积土</a:t>
            </a:r>
            <a:r>
              <a:rPr kumimoji="1" lang="zh-CN" altLang="en-US" sz="2200" b="1" spc="-110" dirty="0">
                <a:solidFill>
                  <a:srgbClr val="A50021"/>
                </a:solidFill>
                <a:latin typeface="幼圆" pitchFamily="49" charset="-122"/>
                <a:ea typeface="幼圆" pitchFamily="49" charset="-122"/>
              </a:rPr>
              <a:t>：</a:t>
            </a:r>
            <a:r>
              <a:rPr kumimoji="1" lang="zh-CN" altLang="en-US" sz="2200" b="1" spc="-110" dirty="0">
                <a:solidFill>
                  <a:srgbClr val="000066"/>
                </a:solidFill>
                <a:latin typeface="幼圆" pitchFamily="49" charset="-122"/>
                <a:ea typeface="幼圆" pitchFamily="49" charset="-122"/>
              </a:rPr>
              <a:t>有分选性，近粗远细</a:t>
            </a:r>
          </a:p>
          <a:p>
            <a:pPr marL="342900" indent="-342900" eaLnBrk="1" hangingPunct="1">
              <a:lnSpc>
                <a:spcPct val="120000"/>
              </a:lnSpc>
              <a:spcBef>
                <a:spcPct val="0"/>
              </a:spcBef>
              <a:spcAft>
                <a:spcPts val="0"/>
              </a:spcAft>
              <a:buClr>
                <a:srgbClr val="C00000"/>
              </a:buClr>
              <a:buSzPct val="140000"/>
              <a:buFont typeface="Arial" pitchFamily="34" charset="0"/>
              <a:buChar char="•"/>
            </a:pPr>
            <a:r>
              <a:rPr kumimoji="1" lang="zh-CN" altLang="en-US" sz="2200" b="1" spc="-110" dirty="0" smtClean="0">
                <a:solidFill>
                  <a:srgbClr val="A50021"/>
                </a:solidFill>
                <a:latin typeface="幼圆" pitchFamily="49" charset="-122"/>
                <a:ea typeface="幼圆" pitchFamily="49" charset="-122"/>
              </a:rPr>
              <a:t>冲积土</a:t>
            </a:r>
            <a:r>
              <a:rPr kumimoji="1" lang="zh-CN" altLang="en-US" sz="2200" b="1" spc="-110" dirty="0">
                <a:solidFill>
                  <a:srgbClr val="A50021"/>
                </a:solidFill>
                <a:latin typeface="幼圆" pitchFamily="49" charset="-122"/>
                <a:ea typeface="幼圆" pitchFamily="49" charset="-122"/>
              </a:rPr>
              <a:t>：</a:t>
            </a:r>
            <a:r>
              <a:rPr kumimoji="1" lang="zh-CN" altLang="en-US" sz="2200" b="1" spc="-110" dirty="0">
                <a:solidFill>
                  <a:srgbClr val="000066"/>
                </a:solidFill>
                <a:latin typeface="幼圆" pitchFamily="49" charset="-122"/>
                <a:ea typeface="幼圆" pitchFamily="49" charset="-122"/>
              </a:rPr>
              <a:t>浑圆度分选性明显，土层交迭</a:t>
            </a:r>
          </a:p>
          <a:p>
            <a:pPr marL="342900" indent="-342900" eaLnBrk="1" hangingPunct="1">
              <a:lnSpc>
                <a:spcPct val="120000"/>
              </a:lnSpc>
              <a:spcBef>
                <a:spcPct val="0"/>
              </a:spcBef>
              <a:spcAft>
                <a:spcPts val="0"/>
              </a:spcAft>
              <a:buClr>
                <a:srgbClr val="C00000"/>
              </a:buClr>
              <a:buSzPct val="140000"/>
              <a:buFont typeface="Arial" pitchFamily="34" charset="0"/>
              <a:buChar char="•"/>
            </a:pPr>
            <a:r>
              <a:rPr kumimoji="1" lang="zh-CN" altLang="en-US" sz="2200" b="1" spc="-110" dirty="0" smtClean="0">
                <a:solidFill>
                  <a:srgbClr val="A50021"/>
                </a:solidFill>
                <a:latin typeface="幼圆" pitchFamily="49" charset="-122"/>
                <a:ea typeface="幼圆" pitchFamily="49" charset="-122"/>
              </a:rPr>
              <a:t>湖泊</a:t>
            </a:r>
            <a:r>
              <a:rPr kumimoji="1" lang="zh-CN" altLang="en-US" sz="2200" b="1" spc="-110" dirty="0">
                <a:solidFill>
                  <a:srgbClr val="A50021"/>
                </a:solidFill>
                <a:latin typeface="幼圆" pitchFamily="49" charset="-122"/>
                <a:ea typeface="幼圆" pitchFamily="49" charset="-122"/>
              </a:rPr>
              <a:t>沼泽沉积土：</a:t>
            </a:r>
            <a:r>
              <a:rPr kumimoji="1" lang="zh-CN" altLang="en-US" sz="2200" b="1" spc="-110" dirty="0">
                <a:solidFill>
                  <a:srgbClr val="000066"/>
                </a:solidFill>
                <a:latin typeface="幼圆" pitchFamily="49" charset="-122"/>
                <a:ea typeface="幼圆" pitchFamily="49" charset="-122"/>
              </a:rPr>
              <a:t>含有机物淤泥，土性差</a:t>
            </a:r>
          </a:p>
          <a:p>
            <a:pPr marL="342900" indent="-342900" eaLnBrk="1" hangingPunct="1">
              <a:lnSpc>
                <a:spcPct val="120000"/>
              </a:lnSpc>
              <a:spcBef>
                <a:spcPct val="0"/>
              </a:spcBef>
              <a:spcAft>
                <a:spcPts val="0"/>
              </a:spcAft>
              <a:buClr>
                <a:srgbClr val="C00000"/>
              </a:buClr>
              <a:buSzPct val="140000"/>
              <a:buFont typeface="Arial" pitchFamily="34" charset="0"/>
              <a:buChar char="•"/>
            </a:pPr>
            <a:r>
              <a:rPr kumimoji="1" lang="zh-CN" altLang="en-US" sz="2200" b="1" spc="-110" dirty="0" smtClean="0">
                <a:solidFill>
                  <a:srgbClr val="A50021"/>
                </a:solidFill>
                <a:latin typeface="幼圆" pitchFamily="49" charset="-122"/>
                <a:ea typeface="幼圆" pitchFamily="49" charset="-122"/>
              </a:rPr>
              <a:t>海相沉积</a:t>
            </a:r>
            <a:r>
              <a:rPr kumimoji="1" lang="zh-CN" altLang="en-US" sz="2200" b="1" spc="-110" dirty="0">
                <a:solidFill>
                  <a:srgbClr val="A50021"/>
                </a:solidFill>
                <a:latin typeface="幼圆" pitchFamily="49" charset="-122"/>
                <a:ea typeface="幼圆" pitchFamily="49" charset="-122"/>
              </a:rPr>
              <a:t>物：</a:t>
            </a:r>
            <a:r>
              <a:rPr kumimoji="1" lang="zh-CN" altLang="en-US" sz="2200" b="1" spc="-110" dirty="0">
                <a:solidFill>
                  <a:srgbClr val="000066"/>
                </a:solidFill>
                <a:latin typeface="幼圆" pitchFamily="49" charset="-122"/>
                <a:ea typeface="幼圆" pitchFamily="49" charset="-122"/>
              </a:rPr>
              <a:t>颗粒细，表层松软，土性差</a:t>
            </a:r>
          </a:p>
          <a:p>
            <a:pPr marL="342900" indent="-342900" eaLnBrk="1" hangingPunct="1">
              <a:lnSpc>
                <a:spcPct val="120000"/>
              </a:lnSpc>
              <a:spcBef>
                <a:spcPct val="0"/>
              </a:spcBef>
              <a:spcAft>
                <a:spcPts val="0"/>
              </a:spcAft>
              <a:buClr>
                <a:srgbClr val="C00000"/>
              </a:buClr>
              <a:buSzPct val="140000"/>
              <a:buFont typeface="Arial" pitchFamily="34" charset="0"/>
              <a:buChar char="•"/>
            </a:pPr>
            <a:r>
              <a:rPr kumimoji="1" lang="zh-CN" altLang="en-US" sz="2200" b="1" spc="-110" dirty="0" smtClean="0">
                <a:solidFill>
                  <a:srgbClr val="A50021"/>
                </a:solidFill>
                <a:latin typeface="幼圆" pitchFamily="49" charset="-122"/>
                <a:ea typeface="幼圆" pitchFamily="49" charset="-122"/>
              </a:rPr>
              <a:t>冰</a:t>
            </a:r>
            <a:r>
              <a:rPr kumimoji="1" lang="zh-CN" altLang="en-US" sz="2200" b="1" spc="-110" dirty="0">
                <a:solidFill>
                  <a:srgbClr val="A50021"/>
                </a:solidFill>
                <a:latin typeface="幼圆" pitchFamily="49" charset="-122"/>
                <a:ea typeface="幼圆" pitchFamily="49" charset="-122"/>
              </a:rPr>
              <a:t>积土：</a:t>
            </a:r>
            <a:r>
              <a:rPr kumimoji="1" lang="zh-CN" altLang="en-US" sz="2200" b="1" spc="-110" dirty="0">
                <a:solidFill>
                  <a:srgbClr val="000066"/>
                </a:solidFill>
                <a:latin typeface="幼圆" pitchFamily="49" charset="-122"/>
                <a:ea typeface="幼圆" pitchFamily="49" charset="-122"/>
              </a:rPr>
              <a:t>土粒粗细变化较大，性质不均匀</a:t>
            </a:r>
          </a:p>
          <a:p>
            <a:pPr marL="342900" indent="-342900" eaLnBrk="1" hangingPunct="1">
              <a:lnSpc>
                <a:spcPct val="120000"/>
              </a:lnSpc>
              <a:spcBef>
                <a:spcPct val="0"/>
              </a:spcBef>
              <a:spcAft>
                <a:spcPts val="0"/>
              </a:spcAft>
              <a:buClr>
                <a:srgbClr val="C00000"/>
              </a:buClr>
              <a:buSzPct val="140000"/>
              <a:buFont typeface="Arial" pitchFamily="34" charset="0"/>
              <a:buChar char="•"/>
            </a:pPr>
            <a:r>
              <a:rPr kumimoji="1" lang="zh-CN" altLang="en-US" sz="2200" b="1" spc="-110" dirty="0" smtClean="0">
                <a:solidFill>
                  <a:srgbClr val="A50021"/>
                </a:solidFill>
                <a:latin typeface="幼圆" pitchFamily="49" charset="-122"/>
                <a:ea typeface="幼圆" pitchFamily="49" charset="-122"/>
              </a:rPr>
              <a:t>风积土</a:t>
            </a:r>
            <a:r>
              <a:rPr kumimoji="1" lang="zh-CN" altLang="en-US" sz="2200" b="1" spc="-110" dirty="0">
                <a:solidFill>
                  <a:srgbClr val="A50021"/>
                </a:solidFill>
                <a:latin typeface="幼圆" pitchFamily="49" charset="-122"/>
                <a:ea typeface="幼圆" pitchFamily="49" charset="-122"/>
              </a:rPr>
              <a:t>：</a:t>
            </a:r>
            <a:r>
              <a:rPr kumimoji="1" lang="zh-CN" altLang="en-US" sz="2200" b="1" spc="-110" dirty="0">
                <a:solidFill>
                  <a:srgbClr val="000066"/>
                </a:solidFill>
                <a:latin typeface="幼圆" pitchFamily="49" charset="-122"/>
                <a:ea typeface="幼圆" pitchFamily="49" charset="-122"/>
              </a:rPr>
              <a:t>颗粒均匀，层厚而不具层理</a:t>
            </a:r>
          </a:p>
        </p:txBody>
      </p:sp>
      <p:sp>
        <p:nvSpPr>
          <p:cNvPr id="14"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§1.1 </a:t>
            </a:r>
            <a:r>
              <a:rPr lang="zh-CN" altLang="en-US" sz="2000" b="1" kern="900" spc="-140" dirty="0">
                <a:solidFill>
                  <a:srgbClr val="C00000"/>
                </a:solidFill>
                <a:latin typeface="宋体" pitchFamily="2" charset="-122"/>
              </a:rPr>
              <a:t>土的形成</a:t>
            </a:r>
          </a:p>
        </p:txBody>
      </p:sp>
    </p:spTree>
    <p:extLst>
      <p:ext uri="{BB962C8B-B14F-4D97-AF65-F5344CB8AC3E}">
        <p14:creationId xmlns:p14="http://schemas.microsoft.com/office/powerpoint/2010/main" val="8286232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50680"/>
                                        </p:tgtEl>
                                        <p:attrNameLst>
                                          <p:attrName>style.visibility</p:attrName>
                                        </p:attrNameLst>
                                      </p:cBhvr>
                                      <p:to>
                                        <p:strVal val="visible"/>
                                      </p:to>
                                    </p:set>
                                    <p:animEffect transition="in" filter="wipe(left)">
                                      <p:cBhvr>
                                        <p:cTn id="11" dur="500"/>
                                        <p:tgtEl>
                                          <p:spTgt spid="1350680"/>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350684"/>
                                        </p:tgtEl>
                                        <p:attrNameLst>
                                          <p:attrName>style.visibility</p:attrName>
                                        </p:attrNameLst>
                                      </p:cBhvr>
                                      <p:to>
                                        <p:strVal val="visible"/>
                                      </p:to>
                                    </p:set>
                                    <p:animEffect transition="in" filter="wipe(up)">
                                      <p:cBhvr>
                                        <p:cTn id="15" dur="500"/>
                                        <p:tgtEl>
                                          <p:spTgt spid="135068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50680" grpId="0" animBg="1"/>
      <p:bldP spid="1350684"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8019" y="2530572"/>
            <a:ext cx="4125432" cy="53162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50" name="Text Box 24"/>
          <p:cNvSpPr txBox="1">
            <a:spLocks noChangeArrowheads="1"/>
          </p:cNvSpPr>
          <p:nvPr/>
        </p:nvSpPr>
        <p:spPr bwMode="auto">
          <a:xfrm>
            <a:off x="1163638" y="968375"/>
            <a:ext cx="715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a:solidFill>
                  <a:srgbClr val="000066"/>
                </a:solidFill>
                <a:latin typeface="黑体" pitchFamily="2" charset="-122"/>
                <a:ea typeface="黑体" pitchFamily="2" charset="-122"/>
              </a:rPr>
              <a:t>第一章：土的物理性质与工程分类</a:t>
            </a:r>
            <a:endParaRPr lang="en-US" altLang="zh-CN" sz="3600" b="1">
              <a:solidFill>
                <a:srgbClr val="000066"/>
              </a:solidFill>
              <a:latin typeface="黑体" pitchFamily="2" charset="-122"/>
              <a:ea typeface="黑体" pitchFamily="2" charset="-122"/>
            </a:endParaRPr>
          </a:p>
        </p:txBody>
      </p:sp>
      <p:sp>
        <p:nvSpPr>
          <p:cNvPr id="1344537" name="Text Box 25"/>
          <p:cNvSpPr txBox="1">
            <a:spLocks noChangeArrowheads="1"/>
          </p:cNvSpPr>
          <p:nvPr/>
        </p:nvSpPr>
        <p:spPr bwMode="auto">
          <a:xfrm>
            <a:off x="2413000" y="1892300"/>
            <a:ext cx="451961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§1.1  </a:t>
            </a:r>
            <a:r>
              <a:rPr kumimoji="1" lang="zh-CN" altLang="en-US" sz="3200" b="1" dirty="0">
                <a:solidFill>
                  <a:srgbClr val="000066"/>
                </a:solidFill>
                <a:latin typeface="黑体" panose="02010609060101010101" pitchFamily="49" charset="-122"/>
                <a:ea typeface="黑体" panose="02010609060101010101" pitchFamily="49" charset="-122"/>
              </a:rPr>
              <a:t>土的</a:t>
            </a:r>
            <a:r>
              <a:rPr kumimoji="1" lang="zh-CN" altLang="en-US" sz="3200" b="1" dirty="0" smtClean="0">
                <a:solidFill>
                  <a:srgbClr val="000066"/>
                </a:solidFill>
                <a:latin typeface="黑体" panose="02010609060101010101" pitchFamily="49" charset="-122"/>
                <a:ea typeface="黑体" panose="02010609060101010101" pitchFamily="49" charset="-122"/>
              </a:rPr>
              <a:t>形成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§1.2  </a:t>
            </a:r>
            <a:r>
              <a:rPr kumimoji="1" lang="zh-CN" altLang="en-US" sz="3200" b="1" dirty="0">
                <a:solidFill>
                  <a:srgbClr val="000066"/>
                </a:solidFill>
                <a:latin typeface="黑体" panose="02010609060101010101" pitchFamily="49" charset="-122"/>
                <a:ea typeface="黑体" panose="02010609060101010101" pitchFamily="49" charset="-122"/>
              </a:rPr>
              <a:t>土的三相组成</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§1.3  </a:t>
            </a:r>
            <a:r>
              <a:rPr kumimoji="1" lang="zh-CN" altLang="en-US" sz="3200" b="1" dirty="0">
                <a:solidFill>
                  <a:srgbClr val="000066"/>
                </a:solidFill>
                <a:latin typeface="黑体" panose="02010609060101010101" pitchFamily="49" charset="-122"/>
                <a:ea typeface="黑体" panose="02010609060101010101" pitchFamily="49" charset="-122"/>
              </a:rPr>
              <a:t>土的物理状态</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§1.4  </a:t>
            </a:r>
            <a:r>
              <a:rPr kumimoji="1" lang="zh-CN" altLang="en-US" sz="3200" b="1" dirty="0">
                <a:solidFill>
                  <a:srgbClr val="000066"/>
                </a:solidFill>
                <a:latin typeface="黑体" panose="02010609060101010101" pitchFamily="49" charset="-122"/>
                <a:ea typeface="黑体" panose="02010609060101010101" pitchFamily="49" charset="-122"/>
              </a:rPr>
              <a:t>土的结构</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§1.5  </a:t>
            </a:r>
            <a:r>
              <a:rPr kumimoji="1" lang="zh-CN" altLang="en-US" sz="3200" b="1" dirty="0">
                <a:solidFill>
                  <a:srgbClr val="000066"/>
                </a:solidFill>
                <a:latin typeface="黑体" panose="02010609060101010101" pitchFamily="49" charset="-122"/>
                <a:ea typeface="黑体" panose="02010609060101010101" pitchFamily="49" charset="-122"/>
              </a:rPr>
              <a:t>土的工程分类</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§1.6  </a:t>
            </a:r>
            <a:r>
              <a:rPr kumimoji="1" lang="zh-CN" altLang="en-US" sz="3200" b="1" dirty="0">
                <a:solidFill>
                  <a:srgbClr val="000066"/>
                </a:solidFill>
                <a:latin typeface="黑体" panose="02010609060101010101" pitchFamily="49" charset="-122"/>
                <a:ea typeface="黑体" panose="02010609060101010101" pitchFamily="49" charset="-122"/>
              </a:rPr>
              <a:t>土的压实性 </a:t>
            </a:r>
          </a:p>
        </p:txBody>
      </p:sp>
    </p:spTree>
    <p:extLst>
      <p:ext uri="{BB962C8B-B14F-4D97-AF65-F5344CB8AC3E}">
        <p14:creationId xmlns:p14="http://schemas.microsoft.com/office/powerpoint/2010/main" val="5105674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9" name="Text Box 41"/>
          <p:cNvSpPr txBox="1">
            <a:spLocks noChangeArrowheads="1"/>
          </p:cNvSpPr>
          <p:nvPr/>
        </p:nvSpPr>
        <p:spPr bwMode="auto">
          <a:xfrm>
            <a:off x="2845207" y="5720751"/>
            <a:ext cx="39766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buFont typeface="Wingdings" pitchFamily="2" charset="2"/>
              <a:buNone/>
            </a:pPr>
            <a:r>
              <a:rPr kumimoji="1" lang="zh-CN" altLang="en-US" sz="4000" b="1" dirty="0">
                <a:solidFill>
                  <a:srgbClr val="000066"/>
                </a:solidFill>
                <a:ea typeface="黑体" pitchFamily="2" charset="-122"/>
              </a:rPr>
              <a:t>土体的三相构成</a:t>
            </a:r>
            <a:endParaRPr kumimoji="1" lang="en-US" altLang="zh-CN" sz="4000" b="1" dirty="0">
              <a:solidFill>
                <a:srgbClr val="000066"/>
              </a:solidFill>
              <a:ea typeface="黑体" pitchFamily="2" charset="-122"/>
            </a:endParaRPr>
          </a:p>
        </p:txBody>
      </p:sp>
      <p:sp>
        <p:nvSpPr>
          <p:cNvPr id="28"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p>
        </p:txBody>
      </p:sp>
      <p:sp>
        <p:nvSpPr>
          <p:cNvPr id="27" name="Text Box 21"/>
          <p:cNvSpPr txBox="1">
            <a:spLocks noChangeArrowheads="1"/>
          </p:cNvSpPr>
          <p:nvPr/>
        </p:nvSpPr>
        <p:spPr bwMode="auto">
          <a:xfrm>
            <a:off x="3688424" y="3288058"/>
            <a:ext cx="512596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ct val="10000"/>
              </a:spcBef>
              <a:spcAft>
                <a:spcPct val="10000"/>
              </a:spcAft>
              <a:buSzPct val="80000"/>
              <a:buFont typeface="Wingdings" panose="05000000000000000000" pitchFamily="2" charset="2"/>
              <a:buChar char="l"/>
            </a:pPr>
            <a:r>
              <a:rPr kumimoji="1" lang="zh-CN" altLang="en-US" sz="2400" b="1" dirty="0" smtClean="0">
                <a:solidFill>
                  <a:srgbClr val="C00000"/>
                </a:solidFill>
                <a:latin typeface="幼圆" pitchFamily="49" charset="-122"/>
                <a:ea typeface="幼圆" pitchFamily="49" charset="-122"/>
              </a:rPr>
              <a:t>气相：</a:t>
            </a:r>
            <a:r>
              <a:rPr kumimoji="1" lang="zh-CN" altLang="en-US" sz="2400" b="1" dirty="0" smtClean="0">
                <a:solidFill>
                  <a:srgbClr val="000066"/>
                </a:solidFill>
                <a:latin typeface="幼圆" pitchFamily="49" charset="-122"/>
                <a:ea typeface="幼圆" pitchFamily="49" charset="-122"/>
              </a:rPr>
              <a:t>土</a:t>
            </a:r>
            <a:r>
              <a:rPr kumimoji="1" lang="zh-CN" altLang="en-US" sz="2400" b="1" dirty="0">
                <a:solidFill>
                  <a:srgbClr val="000066"/>
                </a:solidFill>
                <a:latin typeface="幼圆" pitchFamily="49" charset="-122"/>
                <a:ea typeface="幼圆" pitchFamily="49" charset="-122"/>
              </a:rPr>
              <a:t>中</a:t>
            </a:r>
            <a:r>
              <a:rPr kumimoji="1" lang="zh-CN" altLang="en-US" sz="2400" b="1" dirty="0" smtClean="0">
                <a:solidFill>
                  <a:srgbClr val="000066"/>
                </a:solidFill>
                <a:latin typeface="幼圆" pitchFamily="49" charset="-122"/>
                <a:ea typeface="幼圆" pitchFamily="49" charset="-122"/>
              </a:rPr>
              <a:t>气体部分，占据土</a:t>
            </a:r>
            <a:r>
              <a:rPr kumimoji="1" lang="zh-CN" altLang="en-US" sz="2400" b="1" dirty="0">
                <a:solidFill>
                  <a:srgbClr val="000066"/>
                </a:solidFill>
                <a:latin typeface="幼圆" pitchFamily="49" charset="-122"/>
                <a:ea typeface="幼圆" pitchFamily="49" charset="-122"/>
              </a:rPr>
              <a:t>体</a:t>
            </a:r>
            <a:r>
              <a:rPr kumimoji="1" lang="zh-CN" altLang="en-US" sz="2400" b="1" dirty="0" smtClean="0">
                <a:solidFill>
                  <a:srgbClr val="000066"/>
                </a:solidFill>
                <a:latin typeface="幼圆" pitchFamily="49" charset="-122"/>
                <a:ea typeface="幼圆" pitchFamily="49" charset="-122"/>
              </a:rPr>
              <a:t>骨架孔隙的其余部分，</a:t>
            </a:r>
            <a:r>
              <a:rPr kumimoji="1" lang="zh-CN" altLang="en-US" sz="2400" b="1" dirty="0">
                <a:solidFill>
                  <a:srgbClr val="000066"/>
                </a:solidFill>
                <a:latin typeface="幼圆" pitchFamily="49" charset="-122"/>
                <a:ea typeface="幼圆" pitchFamily="49" charset="-122"/>
              </a:rPr>
              <a:t>对土的性质</a:t>
            </a:r>
            <a:r>
              <a:rPr kumimoji="1" lang="zh-CN" altLang="en-US" sz="2400" b="1" dirty="0" smtClean="0">
                <a:solidFill>
                  <a:srgbClr val="000066"/>
                </a:solidFill>
                <a:latin typeface="幼圆" pitchFamily="49" charset="-122"/>
                <a:ea typeface="幼圆" pitchFamily="49" charset="-122"/>
              </a:rPr>
              <a:t>次要</a:t>
            </a:r>
            <a:r>
              <a:rPr kumimoji="1" lang="zh-CN" altLang="en-US" sz="2400" b="1" dirty="0">
                <a:solidFill>
                  <a:srgbClr val="000066"/>
                </a:solidFill>
                <a:latin typeface="幼圆" pitchFamily="49" charset="-122"/>
                <a:ea typeface="幼圆" pitchFamily="49" charset="-122"/>
              </a:rPr>
              <a:t>作用</a:t>
            </a:r>
          </a:p>
        </p:txBody>
      </p:sp>
      <p:grpSp>
        <p:nvGrpSpPr>
          <p:cNvPr id="29" name="Group 22"/>
          <p:cNvGrpSpPr>
            <a:grpSpLocks/>
          </p:cNvGrpSpPr>
          <p:nvPr/>
        </p:nvGrpSpPr>
        <p:grpSpPr bwMode="auto">
          <a:xfrm>
            <a:off x="338916" y="1091428"/>
            <a:ext cx="2749550" cy="3121025"/>
            <a:chOff x="307" y="1163"/>
            <a:chExt cx="1732" cy="1966"/>
          </a:xfrm>
        </p:grpSpPr>
        <p:sp>
          <p:nvSpPr>
            <p:cNvPr id="30" name="Rectangle 23"/>
            <p:cNvSpPr>
              <a:spLocks noChangeArrowheads="1"/>
            </p:cNvSpPr>
            <p:nvPr/>
          </p:nvSpPr>
          <p:spPr bwMode="auto">
            <a:xfrm>
              <a:off x="642" y="1496"/>
              <a:ext cx="1116" cy="1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1" name="Freeform 24"/>
            <p:cNvSpPr>
              <a:spLocks/>
            </p:cNvSpPr>
            <p:nvPr/>
          </p:nvSpPr>
          <p:spPr bwMode="auto">
            <a:xfrm>
              <a:off x="1089" y="1292"/>
              <a:ext cx="851" cy="1059"/>
            </a:xfrm>
            <a:custGeom>
              <a:avLst/>
              <a:gdLst>
                <a:gd name="T0" fmla="*/ 668 w 851"/>
                <a:gd name="T1" fmla="*/ 1031 h 1059"/>
                <a:gd name="T2" fmla="*/ 600 w 851"/>
                <a:gd name="T3" fmla="*/ 942 h 1059"/>
                <a:gd name="T4" fmla="*/ 505 w 851"/>
                <a:gd name="T5" fmla="*/ 901 h 1059"/>
                <a:gd name="T6" fmla="*/ 441 w 851"/>
                <a:gd name="T7" fmla="*/ 723 h 1059"/>
                <a:gd name="T8" fmla="*/ 360 w 851"/>
                <a:gd name="T9" fmla="*/ 572 h 1059"/>
                <a:gd name="T10" fmla="*/ 219 w 851"/>
                <a:gd name="T11" fmla="*/ 410 h 1059"/>
                <a:gd name="T12" fmla="*/ 128 w 851"/>
                <a:gd name="T13" fmla="*/ 384 h 1059"/>
                <a:gd name="T14" fmla="*/ 15 w 851"/>
                <a:gd name="T15" fmla="*/ 363 h 1059"/>
                <a:gd name="T16" fmla="*/ 38 w 851"/>
                <a:gd name="T17" fmla="*/ 290 h 1059"/>
                <a:gd name="T18" fmla="*/ 42 w 851"/>
                <a:gd name="T19" fmla="*/ 223 h 1059"/>
                <a:gd name="T20" fmla="*/ 38 w 851"/>
                <a:gd name="T21" fmla="*/ 155 h 1059"/>
                <a:gd name="T22" fmla="*/ 6 w 851"/>
                <a:gd name="T23" fmla="*/ 87 h 1059"/>
                <a:gd name="T24" fmla="*/ 79 w 851"/>
                <a:gd name="T25" fmla="*/ 61 h 1059"/>
                <a:gd name="T26" fmla="*/ 292 w 851"/>
                <a:gd name="T27" fmla="*/ 40 h 1059"/>
                <a:gd name="T28" fmla="*/ 500 w 851"/>
                <a:gd name="T29" fmla="*/ 9 h 1059"/>
                <a:gd name="T30" fmla="*/ 595 w 851"/>
                <a:gd name="T31" fmla="*/ 3 h 1059"/>
                <a:gd name="T32" fmla="*/ 641 w 851"/>
                <a:gd name="T33" fmla="*/ 30 h 1059"/>
                <a:gd name="T34" fmla="*/ 654 w 851"/>
                <a:gd name="T35" fmla="*/ 71 h 1059"/>
                <a:gd name="T36" fmla="*/ 661 w 851"/>
                <a:gd name="T37" fmla="*/ 135 h 1059"/>
                <a:gd name="T38" fmla="*/ 703 w 851"/>
                <a:gd name="T39" fmla="*/ 199 h 1059"/>
                <a:gd name="T40" fmla="*/ 805 w 851"/>
                <a:gd name="T41" fmla="*/ 253 h 1059"/>
                <a:gd name="T42" fmla="*/ 844 w 851"/>
                <a:gd name="T43" fmla="*/ 327 h 1059"/>
                <a:gd name="T44" fmla="*/ 763 w 851"/>
                <a:gd name="T45" fmla="*/ 770 h 1059"/>
                <a:gd name="T46" fmla="*/ 668 w 851"/>
                <a:gd name="T47" fmla="*/ 1031 h 10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1"/>
                <a:gd name="T73" fmla="*/ 0 h 1059"/>
                <a:gd name="T74" fmla="*/ 851 w 851"/>
                <a:gd name="T75" fmla="*/ 1059 h 10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1" h="1059">
                  <a:moveTo>
                    <a:pt x="668" y="1031"/>
                  </a:moveTo>
                  <a:cubicBezTo>
                    <a:pt x="641" y="1059"/>
                    <a:pt x="627" y="963"/>
                    <a:pt x="600" y="942"/>
                  </a:cubicBezTo>
                  <a:cubicBezTo>
                    <a:pt x="573" y="922"/>
                    <a:pt x="530" y="937"/>
                    <a:pt x="505" y="901"/>
                  </a:cubicBezTo>
                  <a:cubicBezTo>
                    <a:pt x="479" y="864"/>
                    <a:pt x="465" y="777"/>
                    <a:pt x="441" y="723"/>
                  </a:cubicBezTo>
                  <a:cubicBezTo>
                    <a:pt x="417" y="669"/>
                    <a:pt x="396" y="624"/>
                    <a:pt x="360" y="572"/>
                  </a:cubicBezTo>
                  <a:cubicBezTo>
                    <a:pt x="323" y="520"/>
                    <a:pt x="257" y="442"/>
                    <a:pt x="219" y="410"/>
                  </a:cubicBezTo>
                  <a:cubicBezTo>
                    <a:pt x="181" y="379"/>
                    <a:pt x="162" y="391"/>
                    <a:pt x="128" y="384"/>
                  </a:cubicBezTo>
                  <a:cubicBezTo>
                    <a:pt x="95" y="377"/>
                    <a:pt x="30" y="379"/>
                    <a:pt x="15" y="363"/>
                  </a:cubicBezTo>
                  <a:cubicBezTo>
                    <a:pt x="0" y="348"/>
                    <a:pt x="33" y="313"/>
                    <a:pt x="38" y="290"/>
                  </a:cubicBezTo>
                  <a:cubicBezTo>
                    <a:pt x="42" y="268"/>
                    <a:pt x="42" y="245"/>
                    <a:pt x="42" y="223"/>
                  </a:cubicBezTo>
                  <a:cubicBezTo>
                    <a:pt x="42" y="200"/>
                    <a:pt x="44" y="177"/>
                    <a:pt x="38" y="155"/>
                  </a:cubicBezTo>
                  <a:cubicBezTo>
                    <a:pt x="32" y="132"/>
                    <a:pt x="0" y="103"/>
                    <a:pt x="6" y="87"/>
                  </a:cubicBezTo>
                  <a:cubicBezTo>
                    <a:pt x="12" y="71"/>
                    <a:pt x="32" y="68"/>
                    <a:pt x="79" y="61"/>
                  </a:cubicBezTo>
                  <a:cubicBezTo>
                    <a:pt x="125" y="54"/>
                    <a:pt x="222" y="49"/>
                    <a:pt x="292" y="40"/>
                  </a:cubicBezTo>
                  <a:cubicBezTo>
                    <a:pt x="361" y="31"/>
                    <a:pt x="450" y="14"/>
                    <a:pt x="500" y="9"/>
                  </a:cubicBezTo>
                  <a:cubicBezTo>
                    <a:pt x="550" y="3"/>
                    <a:pt x="571" y="0"/>
                    <a:pt x="595" y="3"/>
                  </a:cubicBezTo>
                  <a:cubicBezTo>
                    <a:pt x="620" y="7"/>
                    <a:pt x="632" y="19"/>
                    <a:pt x="641" y="30"/>
                  </a:cubicBezTo>
                  <a:cubicBezTo>
                    <a:pt x="650" y="40"/>
                    <a:pt x="651" y="54"/>
                    <a:pt x="654" y="71"/>
                  </a:cubicBezTo>
                  <a:cubicBezTo>
                    <a:pt x="657" y="88"/>
                    <a:pt x="653" y="114"/>
                    <a:pt x="661" y="135"/>
                  </a:cubicBezTo>
                  <a:cubicBezTo>
                    <a:pt x="669" y="156"/>
                    <a:pt x="679" y="179"/>
                    <a:pt x="703" y="199"/>
                  </a:cubicBezTo>
                  <a:cubicBezTo>
                    <a:pt x="727" y="219"/>
                    <a:pt x="782" y="232"/>
                    <a:pt x="805" y="253"/>
                  </a:cubicBezTo>
                  <a:cubicBezTo>
                    <a:pt x="828" y="274"/>
                    <a:pt x="851" y="241"/>
                    <a:pt x="844" y="327"/>
                  </a:cubicBezTo>
                  <a:cubicBezTo>
                    <a:pt x="837" y="413"/>
                    <a:pt x="792" y="653"/>
                    <a:pt x="763" y="770"/>
                  </a:cubicBezTo>
                  <a:cubicBezTo>
                    <a:pt x="734" y="887"/>
                    <a:pt x="695" y="1003"/>
                    <a:pt x="668" y="1031"/>
                  </a:cubicBezTo>
                  <a:close/>
                </a:path>
              </a:pathLst>
            </a:custGeom>
            <a:solidFill>
              <a:schemeClr val="hlink"/>
            </a:solidFill>
            <a:ln w="9525">
              <a:solidFill>
                <a:schemeClr val="tx1"/>
              </a:solidFill>
              <a:round/>
              <a:headEnd/>
              <a:tailEnd/>
            </a:ln>
          </p:spPr>
          <p:txBody>
            <a:bodyPr/>
            <a:lstStyle/>
            <a:p>
              <a:endParaRPr lang="zh-CN" altLang="en-US"/>
            </a:p>
          </p:txBody>
        </p:sp>
        <p:sp>
          <p:nvSpPr>
            <p:cNvPr id="32" name="Freeform 25"/>
            <p:cNvSpPr>
              <a:spLocks/>
            </p:cNvSpPr>
            <p:nvPr/>
          </p:nvSpPr>
          <p:spPr bwMode="auto">
            <a:xfrm>
              <a:off x="307" y="1163"/>
              <a:ext cx="943" cy="1684"/>
            </a:xfrm>
            <a:custGeom>
              <a:avLst/>
              <a:gdLst>
                <a:gd name="T0" fmla="*/ 919 w 943"/>
                <a:gd name="T1" fmla="*/ 1448 h 1684"/>
                <a:gd name="T2" fmla="*/ 787 w 943"/>
                <a:gd name="T3" fmla="*/ 1441 h 1684"/>
                <a:gd name="T4" fmla="*/ 691 w 943"/>
                <a:gd name="T5" fmla="*/ 1521 h 1684"/>
                <a:gd name="T6" fmla="*/ 672 w 943"/>
                <a:gd name="T7" fmla="*/ 1537 h 1684"/>
                <a:gd name="T8" fmla="*/ 682 w 943"/>
                <a:gd name="T9" fmla="*/ 1579 h 1684"/>
                <a:gd name="T10" fmla="*/ 547 w 943"/>
                <a:gd name="T11" fmla="*/ 1579 h 1684"/>
                <a:gd name="T12" fmla="*/ 467 w 943"/>
                <a:gd name="T13" fmla="*/ 1665 h 1684"/>
                <a:gd name="T14" fmla="*/ 416 w 943"/>
                <a:gd name="T15" fmla="*/ 1681 h 1684"/>
                <a:gd name="T16" fmla="*/ 352 w 943"/>
                <a:gd name="T17" fmla="*/ 1649 h 1684"/>
                <a:gd name="T18" fmla="*/ 263 w 943"/>
                <a:gd name="T19" fmla="*/ 1608 h 1684"/>
                <a:gd name="T20" fmla="*/ 208 w 943"/>
                <a:gd name="T21" fmla="*/ 1461 h 1684"/>
                <a:gd name="T22" fmla="*/ 172 w 943"/>
                <a:gd name="T23" fmla="*/ 1354 h 1684"/>
                <a:gd name="T24" fmla="*/ 104 w 943"/>
                <a:gd name="T25" fmla="*/ 1187 h 1684"/>
                <a:gd name="T26" fmla="*/ 95 w 943"/>
                <a:gd name="T27" fmla="*/ 1119 h 1684"/>
                <a:gd name="T28" fmla="*/ 95 w 943"/>
                <a:gd name="T29" fmla="*/ 1010 h 1684"/>
                <a:gd name="T30" fmla="*/ 50 w 943"/>
                <a:gd name="T31" fmla="*/ 905 h 1684"/>
                <a:gd name="T32" fmla="*/ 0 w 943"/>
                <a:gd name="T33" fmla="*/ 811 h 1684"/>
                <a:gd name="T34" fmla="*/ 50 w 943"/>
                <a:gd name="T35" fmla="*/ 696 h 1684"/>
                <a:gd name="T36" fmla="*/ 32 w 943"/>
                <a:gd name="T37" fmla="*/ 550 h 1684"/>
                <a:gd name="T38" fmla="*/ 159 w 943"/>
                <a:gd name="T39" fmla="*/ 231 h 1684"/>
                <a:gd name="T40" fmla="*/ 236 w 943"/>
                <a:gd name="T41" fmla="*/ 111 h 1684"/>
                <a:gd name="T42" fmla="*/ 281 w 943"/>
                <a:gd name="T43" fmla="*/ 43 h 1684"/>
                <a:gd name="T44" fmla="*/ 381 w 943"/>
                <a:gd name="T45" fmla="*/ 12 h 1684"/>
                <a:gd name="T46" fmla="*/ 471 w 943"/>
                <a:gd name="T47" fmla="*/ 17 h 1684"/>
                <a:gd name="T48" fmla="*/ 553 w 943"/>
                <a:gd name="T49" fmla="*/ 7 h 1684"/>
                <a:gd name="T50" fmla="*/ 589 w 943"/>
                <a:gd name="T51" fmla="*/ 59 h 1684"/>
                <a:gd name="T52" fmla="*/ 759 w 943"/>
                <a:gd name="T53" fmla="*/ 241 h 1684"/>
                <a:gd name="T54" fmla="*/ 682 w 943"/>
                <a:gd name="T55" fmla="*/ 411 h 1684"/>
                <a:gd name="T56" fmla="*/ 599 w 943"/>
                <a:gd name="T57" fmla="*/ 424 h 1684"/>
                <a:gd name="T58" fmla="*/ 525 w 943"/>
                <a:gd name="T59" fmla="*/ 462 h 1684"/>
                <a:gd name="T60" fmla="*/ 426 w 943"/>
                <a:gd name="T61" fmla="*/ 494 h 1684"/>
                <a:gd name="T62" fmla="*/ 367 w 943"/>
                <a:gd name="T63" fmla="*/ 315 h 1684"/>
                <a:gd name="T64" fmla="*/ 227 w 943"/>
                <a:gd name="T65" fmla="*/ 477 h 1684"/>
                <a:gd name="T66" fmla="*/ 163 w 943"/>
                <a:gd name="T67" fmla="*/ 660 h 1684"/>
                <a:gd name="T68" fmla="*/ 213 w 943"/>
                <a:gd name="T69" fmla="*/ 769 h 1684"/>
                <a:gd name="T70" fmla="*/ 419 w 943"/>
                <a:gd name="T71" fmla="*/ 619 h 1684"/>
                <a:gd name="T72" fmla="*/ 506 w 943"/>
                <a:gd name="T73" fmla="*/ 753 h 1684"/>
                <a:gd name="T74" fmla="*/ 725 w 943"/>
                <a:gd name="T75" fmla="*/ 822 h 1684"/>
                <a:gd name="T76" fmla="*/ 778 w 943"/>
                <a:gd name="T77" fmla="*/ 869 h 1684"/>
                <a:gd name="T78" fmla="*/ 775 w 943"/>
                <a:gd name="T79" fmla="*/ 933 h 1684"/>
                <a:gd name="T80" fmla="*/ 823 w 943"/>
                <a:gd name="T81" fmla="*/ 1006 h 1684"/>
                <a:gd name="T82" fmla="*/ 813 w 943"/>
                <a:gd name="T83" fmla="*/ 1160 h 1684"/>
                <a:gd name="T84" fmla="*/ 925 w 943"/>
                <a:gd name="T85" fmla="*/ 1275 h 1684"/>
                <a:gd name="T86" fmla="*/ 919 w 943"/>
                <a:gd name="T87" fmla="*/ 1448 h 16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943"/>
                <a:gd name="T133" fmla="*/ 0 h 1684"/>
                <a:gd name="T134" fmla="*/ 943 w 943"/>
                <a:gd name="T135" fmla="*/ 1684 h 16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943" h="1684">
                  <a:moveTo>
                    <a:pt x="919" y="1448"/>
                  </a:moveTo>
                  <a:cubicBezTo>
                    <a:pt x="896" y="1467"/>
                    <a:pt x="825" y="1429"/>
                    <a:pt x="787" y="1441"/>
                  </a:cubicBezTo>
                  <a:cubicBezTo>
                    <a:pt x="749" y="1453"/>
                    <a:pt x="710" y="1505"/>
                    <a:pt x="691" y="1521"/>
                  </a:cubicBezTo>
                  <a:cubicBezTo>
                    <a:pt x="672" y="1537"/>
                    <a:pt x="673" y="1527"/>
                    <a:pt x="672" y="1537"/>
                  </a:cubicBezTo>
                  <a:cubicBezTo>
                    <a:pt x="671" y="1547"/>
                    <a:pt x="703" y="1572"/>
                    <a:pt x="682" y="1579"/>
                  </a:cubicBezTo>
                  <a:cubicBezTo>
                    <a:pt x="661" y="1586"/>
                    <a:pt x="583" y="1565"/>
                    <a:pt x="547" y="1579"/>
                  </a:cubicBezTo>
                  <a:cubicBezTo>
                    <a:pt x="511" y="1593"/>
                    <a:pt x="489" y="1648"/>
                    <a:pt x="467" y="1665"/>
                  </a:cubicBezTo>
                  <a:cubicBezTo>
                    <a:pt x="445" y="1682"/>
                    <a:pt x="435" y="1684"/>
                    <a:pt x="416" y="1681"/>
                  </a:cubicBezTo>
                  <a:cubicBezTo>
                    <a:pt x="397" y="1678"/>
                    <a:pt x="377" y="1661"/>
                    <a:pt x="352" y="1649"/>
                  </a:cubicBezTo>
                  <a:cubicBezTo>
                    <a:pt x="327" y="1637"/>
                    <a:pt x="287" y="1639"/>
                    <a:pt x="263" y="1608"/>
                  </a:cubicBezTo>
                  <a:cubicBezTo>
                    <a:pt x="239" y="1577"/>
                    <a:pt x="223" y="1503"/>
                    <a:pt x="208" y="1461"/>
                  </a:cubicBezTo>
                  <a:cubicBezTo>
                    <a:pt x="193" y="1419"/>
                    <a:pt x="189" y="1400"/>
                    <a:pt x="172" y="1354"/>
                  </a:cubicBezTo>
                  <a:cubicBezTo>
                    <a:pt x="155" y="1308"/>
                    <a:pt x="116" y="1225"/>
                    <a:pt x="104" y="1187"/>
                  </a:cubicBezTo>
                  <a:cubicBezTo>
                    <a:pt x="92" y="1149"/>
                    <a:pt x="97" y="1149"/>
                    <a:pt x="95" y="1119"/>
                  </a:cubicBezTo>
                  <a:cubicBezTo>
                    <a:pt x="94" y="1090"/>
                    <a:pt x="103" y="1044"/>
                    <a:pt x="95" y="1010"/>
                  </a:cubicBezTo>
                  <a:cubicBezTo>
                    <a:pt x="88" y="975"/>
                    <a:pt x="65" y="938"/>
                    <a:pt x="50" y="905"/>
                  </a:cubicBezTo>
                  <a:cubicBezTo>
                    <a:pt x="35" y="872"/>
                    <a:pt x="0" y="846"/>
                    <a:pt x="0" y="811"/>
                  </a:cubicBezTo>
                  <a:cubicBezTo>
                    <a:pt x="0" y="776"/>
                    <a:pt x="45" y="740"/>
                    <a:pt x="50" y="696"/>
                  </a:cubicBezTo>
                  <a:cubicBezTo>
                    <a:pt x="54" y="653"/>
                    <a:pt x="14" y="627"/>
                    <a:pt x="32" y="550"/>
                  </a:cubicBezTo>
                  <a:cubicBezTo>
                    <a:pt x="50" y="473"/>
                    <a:pt x="125" y="305"/>
                    <a:pt x="159" y="231"/>
                  </a:cubicBezTo>
                  <a:cubicBezTo>
                    <a:pt x="192" y="158"/>
                    <a:pt x="214" y="143"/>
                    <a:pt x="236" y="111"/>
                  </a:cubicBezTo>
                  <a:cubicBezTo>
                    <a:pt x="257" y="80"/>
                    <a:pt x="257" y="59"/>
                    <a:pt x="281" y="43"/>
                  </a:cubicBezTo>
                  <a:cubicBezTo>
                    <a:pt x="305" y="27"/>
                    <a:pt x="349" y="16"/>
                    <a:pt x="381" y="12"/>
                  </a:cubicBezTo>
                  <a:cubicBezTo>
                    <a:pt x="413" y="8"/>
                    <a:pt x="443" y="19"/>
                    <a:pt x="471" y="17"/>
                  </a:cubicBezTo>
                  <a:cubicBezTo>
                    <a:pt x="500" y="16"/>
                    <a:pt x="533" y="0"/>
                    <a:pt x="553" y="7"/>
                  </a:cubicBezTo>
                  <a:cubicBezTo>
                    <a:pt x="572" y="14"/>
                    <a:pt x="555" y="20"/>
                    <a:pt x="589" y="59"/>
                  </a:cubicBezTo>
                  <a:cubicBezTo>
                    <a:pt x="623" y="98"/>
                    <a:pt x="743" y="182"/>
                    <a:pt x="759" y="241"/>
                  </a:cubicBezTo>
                  <a:cubicBezTo>
                    <a:pt x="775" y="300"/>
                    <a:pt x="709" y="381"/>
                    <a:pt x="682" y="411"/>
                  </a:cubicBezTo>
                  <a:cubicBezTo>
                    <a:pt x="655" y="441"/>
                    <a:pt x="625" y="416"/>
                    <a:pt x="599" y="424"/>
                  </a:cubicBezTo>
                  <a:cubicBezTo>
                    <a:pt x="573" y="432"/>
                    <a:pt x="554" y="450"/>
                    <a:pt x="525" y="462"/>
                  </a:cubicBezTo>
                  <a:cubicBezTo>
                    <a:pt x="496" y="474"/>
                    <a:pt x="452" y="519"/>
                    <a:pt x="426" y="494"/>
                  </a:cubicBezTo>
                  <a:cubicBezTo>
                    <a:pt x="400" y="469"/>
                    <a:pt x="400" y="318"/>
                    <a:pt x="367" y="315"/>
                  </a:cubicBezTo>
                  <a:cubicBezTo>
                    <a:pt x="334" y="312"/>
                    <a:pt x="260" y="419"/>
                    <a:pt x="227" y="477"/>
                  </a:cubicBezTo>
                  <a:cubicBezTo>
                    <a:pt x="193" y="534"/>
                    <a:pt x="166" y="611"/>
                    <a:pt x="163" y="660"/>
                  </a:cubicBezTo>
                  <a:cubicBezTo>
                    <a:pt x="160" y="708"/>
                    <a:pt x="170" y="776"/>
                    <a:pt x="213" y="769"/>
                  </a:cubicBezTo>
                  <a:cubicBezTo>
                    <a:pt x="256" y="762"/>
                    <a:pt x="370" y="622"/>
                    <a:pt x="419" y="619"/>
                  </a:cubicBezTo>
                  <a:cubicBezTo>
                    <a:pt x="468" y="616"/>
                    <a:pt x="455" y="719"/>
                    <a:pt x="506" y="753"/>
                  </a:cubicBezTo>
                  <a:cubicBezTo>
                    <a:pt x="557" y="787"/>
                    <a:pt x="680" y="803"/>
                    <a:pt x="725" y="822"/>
                  </a:cubicBezTo>
                  <a:cubicBezTo>
                    <a:pt x="770" y="841"/>
                    <a:pt x="770" y="851"/>
                    <a:pt x="778" y="869"/>
                  </a:cubicBezTo>
                  <a:cubicBezTo>
                    <a:pt x="786" y="887"/>
                    <a:pt x="768" y="910"/>
                    <a:pt x="775" y="933"/>
                  </a:cubicBezTo>
                  <a:cubicBezTo>
                    <a:pt x="782" y="956"/>
                    <a:pt x="817" y="968"/>
                    <a:pt x="823" y="1006"/>
                  </a:cubicBezTo>
                  <a:cubicBezTo>
                    <a:pt x="829" y="1044"/>
                    <a:pt x="796" y="1115"/>
                    <a:pt x="813" y="1160"/>
                  </a:cubicBezTo>
                  <a:cubicBezTo>
                    <a:pt x="830" y="1205"/>
                    <a:pt x="907" y="1227"/>
                    <a:pt x="925" y="1275"/>
                  </a:cubicBezTo>
                  <a:cubicBezTo>
                    <a:pt x="943" y="1323"/>
                    <a:pt x="920" y="1412"/>
                    <a:pt x="919" y="1448"/>
                  </a:cubicBezTo>
                  <a:close/>
                </a:path>
              </a:pathLst>
            </a:custGeom>
            <a:solidFill>
              <a:schemeClr val="hlink"/>
            </a:solidFill>
            <a:ln w="9525">
              <a:solidFill>
                <a:schemeClr val="tx1"/>
              </a:solidFill>
              <a:round/>
              <a:headEnd/>
              <a:tailEnd/>
            </a:ln>
          </p:spPr>
          <p:txBody>
            <a:bodyPr/>
            <a:lstStyle/>
            <a:p>
              <a:endParaRPr lang="zh-CN" altLang="en-US"/>
            </a:p>
          </p:txBody>
        </p:sp>
        <p:sp>
          <p:nvSpPr>
            <p:cNvPr id="33" name="Freeform 26" descr="宽上对角线"/>
            <p:cNvSpPr>
              <a:spLocks/>
            </p:cNvSpPr>
            <p:nvPr/>
          </p:nvSpPr>
          <p:spPr bwMode="auto">
            <a:xfrm flipH="1">
              <a:off x="1713" y="1502"/>
              <a:ext cx="326" cy="1094"/>
            </a:xfrm>
            <a:custGeom>
              <a:avLst/>
              <a:gdLst>
                <a:gd name="T0" fmla="*/ 367 w 216"/>
                <a:gd name="T1" fmla="*/ 3292 h 628"/>
                <a:gd name="T2" fmla="*/ 684 w 216"/>
                <a:gd name="T3" fmla="*/ 3125 h 628"/>
                <a:gd name="T4" fmla="*/ 711 w 216"/>
                <a:gd name="T5" fmla="*/ 2594 h 628"/>
                <a:gd name="T6" fmla="*/ 643 w 216"/>
                <a:gd name="T7" fmla="*/ 2131 h 628"/>
                <a:gd name="T8" fmla="*/ 546 w 216"/>
                <a:gd name="T9" fmla="*/ 1432 h 628"/>
                <a:gd name="T10" fmla="*/ 546 w 216"/>
                <a:gd name="T11" fmla="*/ 989 h 628"/>
                <a:gd name="T12" fmla="*/ 574 w 216"/>
                <a:gd name="T13" fmla="*/ 334 h 628"/>
                <a:gd name="T14" fmla="*/ 492 w 216"/>
                <a:gd name="T15" fmla="*/ 78 h 628"/>
                <a:gd name="T16" fmla="*/ 299 w 216"/>
                <a:gd name="T17" fmla="*/ 78 h 628"/>
                <a:gd name="T18" fmla="*/ 107 w 216"/>
                <a:gd name="T19" fmla="*/ 544 h 628"/>
                <a:gd name="T20" fmla="*/ 12 w 216"/>
                <a:gd name="T21" fmla="*/ 1284 h 628"/>
                <a:gd name="T22" fmla="*/ 53 w 216"/>
                <a:gd name="T23" fmla="*/ 2131 h 628"/>
                <a:gd name="T24" fmla="*/ 161 w 216"/>
                <a:gd name="T25" fmla="*/ 2977 h 628"/>
                <a:gd name="T26" fmla="*/ 367 w 216"/>
                <a:gd name="T27" fmla="*/ 3292 h 6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6"/>
                <a:gd name="T43" fmla="*/ 0 h 628"/>
                <a:gd name="T44" fmla="*/ 216 w 216"/>
                <a:gd name="T45" fmla="*/ 628 h 6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 h="628">
                  <a:moveTo>
                    <a:pt x="107" y="623"/>
                  </a:moveTo>
                  <a:cubicBezTo>
                    <a:pt x="132" y="628"/>
                    <a:pt x="182" y="613"/>
                    <a:pt x="199" y="591"/>
                  </a:cubicBezTo>
                  <a:cubicBezTo>
                    <a:pt x="216" y="569"/>
                    <a:pt x="209" y="522"/>
                    <a:pt x="207" y="491"/>
                  </a:cubicBezTo>
                  <a:cubicBezTo>
                    <a:pt x="205" y="460"/>
                    <a:pt x="195" y="440"/>
                    <a:pt x="187" y="403"/>
                  </a:cubicBezTo>
                  <a:cubicBezTo>
                    <a:pt x="179" y="366"/>
                    <a:pt x="164" y="307"/>
                    <a:pt x="159" y="271"/>
                  </a:cubicBezTo>
                  <a:cubicBezTo>
                    <a:pt x="154" y="235"/>
                    <a:pt x="158" y="222"/>
                    <a:pt x="159" y="187"/>
                  </a:cubicBezTo>
                  <a:cubicBezTo>
                    <a:pt x="160" y="152"/>
                    <a:pt x="170" y="92"/>
                    <a:pt x="167" y="63"/>
                  </a:cubicBezTo>
                  <a:cubicBezTo>
                    <a:pt x="164" y="34"/>
                    <a:pt x="156" y="23"/>
                    <a:pt x="143" y="15"/>
                  </a:cubicBezTo>
                  <a:cubicBezTo>
                    <a:pt x="130" y="7"/>
                    <a:pt x="106" y="0"/>
                    <a:pt x="87" y="15"/>
                  </a:cubicBezTo>
                  <a:cubicBezTo>
                    <a:pt x="68" y="30"/>
                    <a:pt x="45" y="65"/>
                    <a:pt x="31" y="103"/>
                  </a:cubicBezTo>
                  <a:cubicBezTo>
                    <a:pt x="17" y="141"/>
                    <a:pt x="6" y="193"/>
                    <a:pt x="3" y="243"/>
                  </a:cubicBezTo>
                  <a:cubicBezTo>
                    <a:pt x="0" y="293"/>
                    <a:pt x="8" y="350"/>
                    <a:pt x="15" y="403"/>
                  </a:cubicBezTo>
                  <a:cubicBezTo>
                    <a:pt x="22" y="456"/>
                    <a:pt x="33" y="525"/>
                    <a:pt x="47" y="563"/>
                  </a:cubicBezTo>
                  <a:cubicBezTo>
                    <a:pt x="61" y="601"/>
                    <a:pt x="82" y="618"/>
                    <a:pt x="107" y="623"/>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4" name="Freeform 27" descr="宽上对角线"/>
            <p:cNvSpPr>
              <a:spLocks/>
            </p:cNvSpPr>
            <p:nvPr/>
          </p:nvSpPr>
          <p:spPr bwMode="auto">
            <a:xfrm flipH="1">
              <a:off x="826" y="1164"/>
              <a:ext cx="930" cy="359"/>
            </a:xfrm>
            <a:custGeom>
              <a:avLst/>
              <a:gdLst>
                <a:gd name="T0" fmla="*/ 1005 w 616"/>
                <a:gd name="T1" fmla="*/ 1021 h 206"/>
                <a:gd name="T2" fmla="*/ 1555 w 616"/>
                <a:gd name="T3" fmla="*/ 1063 h 206"/>
                <a:gd name="T4" fmla="*/ 2038 w 616"/>
                <a:gd name="T5" fmla="*/ 875 h 206"/>
                <a:gd name="T6" fmla="*/ 2052 w 616"/>
                <a:gd name="T7" fmla="*/ 429 h 206"/>
                <a:gd name="T8" fmla="*/ 1886 w 616"/>
                <a:gd name="T9" fmla="*/ 70 h 206"/>
                <a:gd name="T10" fmla="*/ 1528 w 616"/>
                <a:gd name="T11" fmla="*/ 5 h 206"/>
                <a:gd name="T12" fmla="*/ 978 w 616"/>
                <a:gd name="T13" fmla="*/ 49 h 206"/>
                <a:gd name="T14" fmla="*/ 439 w 616"/>
                <a:gd name="T15" fmla="*/ 195 h 206"/>
                <a:gd name="T16" fmla="*/ 95 w 616"/>
                <a:gd name="T17" fmla="*/ 429 h 206"/>
                <a:gd name="T18" fmla="*/ 151 w 616"/>
                <a:gd name="T19" fmla="*/ 875 h 206"/>
                <a:gd name="T20" fmla="*/ 1005 w 616"/>
                <a:gd name="T21" fmla="*/ 1021 h 2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16"/>
                <a:gd name="T34" fmla="*/ 0 h 206"/>
                <a:gd name="T35" fmla="*/ 616 w 616"/>
                <a:gd name="T36" fmla="*/ 206 h 2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16" h="206">
                  <a:moveTo>
                    <a:pt x="292" y="193"/>
                  </a:moveTo>
                  <a:cubicBezTo>
                    <a:pt x="360" y="199"/>
                    <a:pt x="402" y="206"/>
                    <a:pt x="452" y="201"/>
                  </a:cubicBezTo>
                  <a:cubicBezTo>
                    <a:pt x="502" y="196"/>
                    <a:pt x="568" y="185"/>
                    <a:pt x="592" y="165"/>
                  </a:cubicBezTo>
                  <a:cubicBezTo>
                    <a:pt x="616" y="145"/>
                    <a:pt x="603" y="106"/>
                    <a:pt x="596" y="81"/>
                  </a:cubicBezTo>
                  <a:cubicBezTo>
                    <a:pt x="589" y="56"/>
                    <a:pt x="573" y="26"/>
                    <a:pt x="548" y="13"/>
                  </a:cubicBezTo>
                  <a:cubicBezTo>
                    <a:pt x="523" y="0"/>
                    <a:pt x="488" y="2"/>
                    <a:pt x="444" y="1"/>
                  </a:cubicBezTo>
                  <a:cubicBezTo>
                    <a:pt x="400" y="0"/>
                    <a:pt x="337" y="3"/>
                    <a:pt x="284" y="9"/>
                  </a:cubicBezTo>
                  <a:cubicBezTo>
                    <a:pt x="231" y="15"/>
                    <a:pt x="171" y="25"/>
                    <a:pt x="128" y="37"/>
                  </a:cubicBezTo>
                  <a:cubicBezTo>
                    <a:pt x="85" y="49"/>
                    <a:pt x="42" y="60"/>
                    <a:pt x="28" y="81"/>
                  </a:cubicBezTo>
                  <a:cubicBezTo>
                    <a:pt x="14" y="102"/>
                    <a:pt x="0" y="146"/>
                    <a:pt x="44" y="165"/>
                  </a:cubicBezTo>
                  <a:cubicBezTo>
                    <a:pt x="88" y="184"/>
                    <a:pt x="224" y="187"/>
                    <a:pt x="292" y="193"/>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5" name="Freeform 28" descr="宽上对角线"/>
            <p:cNvSpPr>
              <a:spLocks/>
            </p:cNvSpPr>
            <p:nvPr/>
          </p:nvSpPr>
          <p:spPr bwMode="auto">
            <a:xfrm flipH="1">
              <a:off x="956" y="1514"/>
              <a:ext cx="795" cy="842"/>
            </a:xfrm>
            <a:custGeom>
              <a:avLst/>
              <a:gdLst>
                <a:gd name="T0" fmla="*/ 814 w 386"/>
                <a:gd name="T1" fmla="*/ 1346 h 406"/>
                <a:gd name="T2" fmla="*/ 255 w 386"/>
                <a:gd name="T3" fmla="*/ 1954 h 406"/>
                <a:gd name="T4" fmla="*/ 8 w 386"/>
                <a:gd name="T5" fmla="*/ 2740 h 406"/>
                <a:gd name="T6" fmla="*/ 216 w 386"/>
                <a:gd name="T7" fmla="*/ 3524 h 406"/>
                <a:gd name="T8" fmla="*/ 1129 w 386"/>
                <a:gd name="T9" fmla="*/ 3345 h 406"/>
                <a:gd name="T10" fmla="*/ 2558 w 386"/>
                <a:gd name="T11" fmla="*/ 1954 h 406"/>
                <a:gd name="T12" fmla="*/ 3258 w 386"/>
                <a:gd name="T13" fmla="*/ 848 h 406"/>
                <a:gd name="T14" fmla="*/ 3258 w 386"/>
                <a:gd name="T15" fmla="*/ 168 h 406"/>
                <a:gd name="T16" fmla="*/ 2663 w 386"/>
                <a:gd name="T17" fmla="*/ 64 h 406"/>
                <a:gd name="T18" fmla="*/ 1549 w 386"/>
                <a:gd name="T19" fmla="*/ 525 h 406"/>
                <a:gd name="T20" fmla="*/ 814 w 386"/>
                <a:gd name="T21" fmla="*/ 1346 h 4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6"/>
                <a:gd name="T34" fmla="*/ 0 h 406"/>
                <a:gd name="T35" fmla="*/ 386 w 386"/>
                <a:gd name="T36" fmla="*/ 406 h 4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6" h="406">
                  <a:moveTo>
                    <a:pt x="93" y="151"/>
                  </a:moveTo>
                  <a:cubicBezTo>
                    <a:pt x="68" y="178"/>
                    <a:pt x="44" y="193"/>
                    <a:pt x="29" y="219"/>
                  </a:cubicBezTo>
                  <a:cubicBezTo>
                    <a:pt x="14" y="245"/>
                    <a:pt x="2" y="278"/>
                    <a:pt x="1" y="307"/>
                  </a:cubicBezTo>
                  <a:cubicBezTo>
                    <a:pt x="0" y="336"/>
                    <a:pt x="4" y="384"/>
                    <a:pt x="25" y="395"/>
                  </a:cubicBezTo>
                  <a:cubicBezTo>
                    <a:pt x="46" y="406"/>
                    <a:pt x="84" y="404"/>
                    <a:pt x="129" y="375"/>
                  </a:cubicBezTo>
                  <a:cubicBezTo>
                    <a:pt x="174" y="346"/>
                    <a:pt x="252" y="266"/>
                    <a:pt x="293" y="219"/>
                  </a:cubicBezTo>
                  <a:cubicBezTo>
                    <a:pt x="334" y="172"/>
                    <a:pt x="360" y="128"/>
                    <a:pt x="373" y="95"/>
                  </a:cubicBezTo>
                  <a:cubicBezTo>
                    <a:pt x="386" y="62"/>
                    <a:pt x="384" y="34"/>
                    <a:pt x="373" y="19"/>
                  </a:cubicBezTo>
                  <a:cubicBezTo>
                    <a:pt x="362" y="4"/>
                    <a:pt x="338" y="0"/>
                    <a:pt x="305" y="7"/>
                  </a:cubicBezTo>
                  <a:cubicBezTo>
                    <a:pt x="272" y="14"/>
                    <a:pt x="212" y="34"/>
                    <a:pt x="177" y="59"/>
                  </a:cubicBezTo>
                  <a:cubicBezTo>
                    <a:pt x="142" y="84"/>
                    <a:pt x="118" y="124"/>
                    <a:pt x="93" y="151"/>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6" name="Freeform 29" descr="宽上对角线"/>
            <p:cNvSpPr>
              <a:spLocks/>
            </p:cNvSpPr>
            <p:nvPr/>
          </p:nvSpPr>
          <p:spPr bwMode="auto">
            <a:xfrm flipH="1">
              <a:off x="384" y="1325"/>
              <a:ext cx="481" cy="785"/>
            </a:xfrm>
            <a:custGeom>
              <a:avLst/>
              <a:gdLst>
                <a:gd name="T0" fmla="*/ 721 w 319"/>
                <a:gd name="T1" fmla="*/ 408 h 450"/>
                <a:gd name="T2" fmla="*/ 446 w 319"/>
                <a:gd name="T3" fmla="*/ 49 h 450"/>
                <a:gd name="T4" fmla="*/ 184 w 319"/>
                <a:gd name="T5" fmla="*/ 113 h 450"/>
                <a:gd name="T6" fmla="*/ 35 w 319"/>
                <a:gd name="T7" fmla="*/ 387 h 450"/>
                <a:gd name="T8" fmla="*/ 21 w 319"/>
                <a:gd name="T9" fmla="*/ 834 h 450"/>
                <a:gd name="T10" fmla="*/ 157 w 319"/>
                <a:gd name="T11" fmla="*/ 1471 h 450"/>
                <a:gd name="T12" fmla="*/ 418 w 319"/>
                <a:gd name="T13" fmla="*/ 1982 h 450"/>
                <a:gd name="T14" fmla="*/ 748 w 319"/>
                <a:gd name="T15" fmla="*/ 2297 h 450"/>
                <a:gd name="T16" fmla="*/ 1021 w 319"/>
                <a:gd name="T17" fmla="*/ 2318 h 450"/>
                <a:gd name="T18" fmla="*/ 1089 w 319"/>
                <a:gd name="T19" fmla="*/ 1875 h 450"/>
                <a:gd name="T20" fmla="*/ 1034 w 319"/>
                <a:gd name="T21" fmla="*/ 1279 h 450"/>
                <a:gd name="T22" fmla="*/ 885 w 319"/>
                <a:gd name="T23" fmla="*/ 707 h 450"/>
                <a:gd name="T24" fmla="*/ 721 w 319"/>
                <a:gd name="T25" fmla="*/ 408 h 4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9"/>
                <a:gd name="T40" fmla="*/ 0 h 450"/>
                <a:gd name="T41" fmla="*/ 319 w 319"/>
                <a:gd name="T42" fmla="*/ 450 h 4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9" h="450">
                  <a:moveTo>
                    <a:pt x="210" y="77"/>
                  </a:moveTo>
                  <a:cubicBezTo>
                    <a:pt x="189" y="56"/>
                    <a:pt x="156" y="18"/>
                    <a:pt x="130" y="9"/>
                  </a:cubicBezTo>
                  <a:cubicBezTo>
                    <a:pt x="104" y="0"/>
                    <a:pt x="74" y="10"/>
                    <a:pt x="54" y="21"/>
                  </a:cubicBezTo>
                  <a:cubicBezTo>
                    <a:pt x="34" y="32"/>
                    <a:pt x="18" y="50"/>
                    <a:pt x="10" y="73"/>
                  </a:cubicBezTo>
                  <a:cubicBezTo>
                    <a:pt x="2" y="96"/>
                    <a:pt x="0" y="123"/>
                    <a:pt x="6" y="157"/>
                  </a:cubicBezTo>
                  <a:cubicBezTo>
                    <a:pt x="12" y="191"/>
                    <a:pt x="27" y="241"/>
                    <a:pt x="46" y="277"/>
                  </a:cubicBezTo>
                  <a:cubicBezTo>
                    <a:pt x="65" y="313"/>
                    <a:pt x="93" y="347"/>
                    <a:pt x="122" y="373"/>
                  </a:cubicBezTo>
                  <a:cubicBezTo>
                    <a:pt x="151" y="399"/>
                    <a:pt x="189" y="422"/>
                    <a:pt x="218" y="433"/>
                  </a:cubicBezTo>
                  <a:cubicBezTo>
                    <a:pt x="247" y="444"/>
                    <a:pt x="281" y="450"/>
                    <a:pt x="298" y="437"/>
                  </a:cubicBezTo>
                  <a:cubicBezTo>
                    <a:pt x="315" y="424"/>
                    <a:pt x="317" y="386"/>
                    <a:pt x="318" y="353"/>
                  </a:cubicBezTo>
                  <a:cubicBezTo>
                    <a:pt x="319" y="320"/>
                    <a:pt x="312" y="278"/>
                    <a:pt x="302" y="241"/>
                  </a:cubicBezTo>
                  <a:cubicBezTo>
                    <a:pt x="292" y="204"/>
                    <a:pt x="272" y="160"/>
                    <a:pt x="258" y="133"/>
                  </a:cubicBezTo>
                  <a:cubicBezTo>
                    <a:pt x="244" y="106"/>
                    <a:pt x="231" y="98"/>
                    <a:pt x="210" y="77"/>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7" name="Freeform 30" descr="宽上对角线"/>
            <p:cNvSpPr>
              <a:spLocks/>
            </p:cNvSpPr>
            <p:nvPr/>
          </p:nvSpPr>
          <p:spPr bwMode="auto">
            <a:xfrm flipH="1">
              <a:off x="752" y="2295"/>
              <a:ext cx="699" cy="499"/>
            </a:xfrm>
            <a:custGeom>
              <a:avLst/>
              <a:gdLst>
                <a:gd name="T0" fmla="*/ 586 w 463"/>
                <a:gd name="T1" fmla="*/ 191 h 287"/>
                <a:gd name="T2" fmla="*/ 143 w 463"/>
                <a:gd name="T3" fmla="*/ 504 h 287"/>
                <a:gd name="T4" fmla="*/ 35 w 463"/>
                <a:gd name="T5" fmla="*/ 1094 h 287"/>
                <a:gd name="T6" fmla="*/ 350 w 463"/>
                <a:gd name="T7" fmla="*/ 1429 h 287"/>
                <a:gd name="T8" fmla="*/ 916 w 463"/>
                <a:gd name="T9" fmla="*/ 1452 h 287"/>
                <a:gd name="T10" fmla="*/ 1480 w 463"/>
                <a:gd name="T11" fmla="*/ 1094 h 287"/>
                <a:gd name="T12" fmla="*/ 1588 w 463"/>
                <a:gd name="T13" fmla="*/ 527 h 287"/>
                <a:gd name="T14" fmla="*/ 1466 w 463"/>
                <a:gd name="T15" fmla="*/ 106 h 287"/>
                <a:gd name="T16" fmla="*/ 1162 w 463"/>
                <a:gd name="T17" fmla="*/ 0 h 287"/>
                <a:gd name="T18" fmla="*/ 764 w 463"/>
                <a:gd name="T19" fmla="*/ 106 h 287"/>
                <a:gd name="T20" fmla="*/ 586 w 463"/>
                <a:gd name="T21" fmla="*/ 191 h 2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63"/>
                <a:gd name="T34" fmla="*/ 0 h 287"/>
                <a:gd name="T35" fmla="*/ 463 w 463"/>
                <a:gd name="T36" fmla="*/ 287 h 2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63" h="287">
                  <a:moveTo>
                    <a:pt x="170" y="36"/>
                  </a:moveTo>
                  <a:cubicBezTo>
                    <a:pt x="140" y="49"/>
                    <a:pt x="69" y="67"/>
                    <a:pt x="42" y="96"/>
                  </a:cubicBezTo>
                  <a:cubicBezTo>
                    <a:pt x="15" y="125"/>
                    <a:pt x="0" y="179"/>
                    <a:pt x="10" y="208"/>
                  </a:cubicBezTo>
                  <a:cubicBezTo>
                    <a:pt x="20" y="237"/>
                    <a:pt x="60" y="261"/>
                    <a:pt x="102" y="272"/>
                  </a:cubicBezTo>
                  <a:cubicBezTo>
                    <a:pt x="144" y="283"/>
                    <a:pt x="211" y="287"/>
                    <a:pt x="266" y="276"/>
                  </a:cubicBezTo>
                  <a:cubicBezTo>
                    <a:pt x="321" y="265"/>
                    <a:pt x="397" y="237"/>
                    <a:pt x="430" y="208"/>
                  </a:cubicBezTo>
                  <a:cubicBezTo>
                    <a:pt x="463" y="179"/>
                    <a:pt x="463" y="131"/>
                    <a:pt x="462" y="100"/>
                  </a:cubicBezTo>
                  <a:cubicBezTo>
                    <a:pt x="461" y="69"/>
                    <a:pt x="447" y="37"/>
                    <a:pt x="426" y="20"/>
                  </a:cubicBezTo>
                  <a:cubicBezTo>
                    <a:pt x="405" y="3"/>
                    <a:pt x="372" y="0"/>
                    <a:pt x="338" y="0"/>
                  </a:cubicBezTo>
                  <a:cubicBezTo>
                    <a:pt x="304" y="0"/>
                    <a:pt x="252" y="13"/>
                    <a:pt x="222" y="20"/>
                  </a:cubicBezTo>
                  <a:cubicBezTo>
                    <a:pt x="192" y="27"/>
                    <a:pt x="200" y="23"/>
                    <a:pt x="170" y="36"/>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8" name="Freeform 31" descr="宽上对角线"/>
            <p:cNvSpPr>
              <a:spLocks/>
            </p:cNvSpPr>
            <p:nvPr/>
          </p:nvSpPr>
          <p:spPr bwMode="auto">
            <a:xfrm rot="7616966" flipH="1">
              <a:off x="1232" y="2523"/>
              <a:ext cx="686" cy="526"/>
            </a:xfrm>
            <a:custGeom>
              <a:avLst/>
              <a:gdLst>
                <a:gd name="T0" fmla="*/ 835 w 443"/>
                <a:gd name="T1" fmla="*/ 322 h 310"/>
                <a:gd name="T2" fmla="*/ 285 w 443"/>
                <a:gd name="T3" fmla="*/ 575 h 310"/>
                <a:gd name="T4" fmla="*/ 19 w 443"/>
                <a:gd name="T5" fmla="*/ 947 h 310"/>
                <a:gd name="T6" fmla="*/ 167 w 443"/>
                <a:gd name="T7" fmla="*/ 1458 h 310"/>
                <a:gd name="T8" fmla="*/ 582 w 443"/>
                <a:gd name="T9" fmla="*/ 1298 h 310"/>
                <a:gd name="T10" fmla="*/ 1206 w 443"/>
                <a:gd name="T11" fmla="*/ 1008 h 310"/>
                <a:gd name="T12" fmla="*/ 1592 w 443"/>
                <a:gd name="T13" fmla="*/ 458 h 310"/>
                <a:gd name="T14" fmla="*/ 1518 w 443"/>
                <a:gd name="T15" fmla="*/ 70 h 310"/>
                <a:gd name="T16" fmla="*/ 1341 w 443"/>
                <a:gd name="T17" fmla="*/ 49 h 310"/>
                <a:gd name="T18" fmla="*/ 983 w 443"/>
                <a:gd name="T19" fmla="*/ 224 h 310"/>
                <a:gd name="T20" fmla="*/ 835 w 443"/>
                <a:gd name="T21" fmla="*/ 322 h 3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3"/>
                <a:gd name="T34" fmla="*/ 0 h 310"/>
                <a:gd name="T35" fmla="*/ 443 w 443"/>
                <a:gd name="T36" fmla="*/ 310 h 31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3" h="310">
                  <a:moveTo>
                    <a:pt x="225" y="66"/>
                  </a:moveTo>
                  <a:cubicBezTo>
                    <a:pt x="194" y="78"/>
                    <a:pt x="114" y="97"/>
                    <a:pt x="77" y="118"/>
                  </a:cubicBezTo>
                  <a:cubicBezTo>
                    <a:pt x="40" y="139"/>
                    <a:pt x="10" y="164"/>
                    <a:pt x="5" y="194"/>
                  </a:cubicBezTo>
                  <a:cubicBezTo>
                    <a:pt x="0" y="224"/>
                    <a:pt x="20" y="286"/>
                    <a:pt x="45" y="298"/>
                  </a:cubicBezTo>
                  <a:cubicBezTo>
                    <a:pt x="70" y="310"/>
                    <a:pt x="110" y="281"/>
                    <a:pt x="157" y="266"/>
                  </a:cubicBezTo>
                  <a:cubicBezTo>
                    <a:pt x="204" y="251"/>
                    <a:pt x="280" y="235"/>
                    <a:pt x="325" y="206"/>
                  </a:cubicBezTo>
                  <a:cubicBezTo>
                    <a:pt x="370" y="177"/>
                    <a:pt x="415" y="126"/>
                    <a:pt x="429" y="94"/>
                  </a:cubicBezTo>
                  <a:cubicBezTo>
                    <a:pt x="443" y="62"/>
                    <a:pt x="420" y="28"/>
                    <a:pt x="409" y="14"/>
                  </a:cubicBezTo>
                  <a:cubicBezTo>
                    <a:pt x="398" y="0"/>
                    <a:pt x="385" y="5"/>
                    <a:pt x="361" y="10"/>
                  </a:cubicBezTo>
                  <a:cubicBezTo>
                    <a:pt x="337" y="15"/>
                    <a:pt x="290" y="34"/>
                    <a:pt x="265" y="46"/>
                  </a:cubicBezTo>
                  <a:cubicBezTo>
                    <a:pt x="240" y="58"/>
                    <a:pt x="256" y="54"/>
                    <a:pt x="225" y="66"/>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9" name="Freeform 32" descr="宽上对角线"/>
            <p:cNvSpPr>
              <a:spLocks/>
            </p:cNvSpPr>
            <p:nvPr/>
          </p:nvSpPr>
          <p:spPr bwMode="auto">
            <a:xfrm flipH="1">
              <a:off x="451" y="1914"/>
              <a:ext cx="737" cy="451"/>
            </a:xfrm>
            <a:custGeom>
              <a:avLst/>
              <a:gdLst>
                <a:gd name="T0" fmla="*/ 2169 w 367"/>
                <a:gd name="T1" fmla="*/ 475 h 221"/>
                <a:gd name="T2" fmla="*/ 1197 w 367"/>
                <a:gd name="T3" fmla="*/ 100 h 221"/>
                <a:gd name="T4" fmla="*/ 388 w 367"/>
                <a:gd name="T5" fmla="*/ 100 h 221"/>
                <a:gd name="T6" fmla="*/ 0 w 367"/>
                <a:gd name="T7" fmla="*/ 712 h 221"/>
                <a:gd name="T8" fmla="*/ 388 w 367"/>
                <a:gd name="T9" fmla="*/ 1496 h 221"/>
                <a:gd name="T10" fmla="*/ 1360 w 367"/>
                <a:gd name="T11" fmla="*/ 1600 h 221"/>
                <a:gd name="T12" fmla="*/ 2235 w 367"/>
                <a:gd name="T13" fmla="*/ 1804 h 221"/>
                <a:gd name="T14" fmla="*/ 2787 w 367"/>
                <a:gd name="T15" fmla="*/ 1765 h 221"/>
                <a:gd name="T16" fmla="*/ 2948 w 367"/>
                <a:gd name="T17" fmla="*/ 1120 h 221"/>
                <a:gd name="T18" fmla="*/ 2625 w 367"/>
                <a:gd name="T19" fmla="*/ 645 h 221"/>
                <a:gd name="T20" fmla="*/ 2169 w 367"/>
                <a:gd name="T21" fmla="*/ 475 h 2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7"/>
                <a:gd name="T34" fmla="*/ 0 h 221"/>
                <a:gd name="T35" fmla="*/ 367 w 367"/>
                <a:gd name="T36" fmla="*/ 221 h 2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7" h="221">
                  <a:moveTo>
                    <a:pt x="268" y="56"/>
                  </a:moveTo>
                  <a:cubicBezTo>
                    <a:pt x="239" y="45"/>
                    <a:pt x="185" y="19"/>
                    <a:pt x="148" y="12"/>
                  </a:cubicBezTo>
                  <a:cubicBezTo>
                    <a:pt x="111" y="5"/>
                    <a:pt x="73" y="0"/>
                    <a:pt x="48" y="12"/>
                  </a:cubicBezTo>
                  <a:cubicBezTo>
                    <a:pt x="23" y="24"/>
                    <a:pt x="0" y="57"/>
                    <a:pt x="0" y="84"/>
                  </a:cubicBezTo>
                  <a:cubicBezTo>
                    <a:pt x="0" y="111"/>
                    <a:pt x="20" y="159"/>
                    <a:pt x="48" y="176"/>
                  </a:cubicBezTo>
                  <a:cubicBezTo>
                    <a:pt x="76" y="193"/>
                    <a:pt x="130" y="182"/>
                    <a:pt x="168" y="188"/>
                  </a:cubicBezTo>
                  <a:cubicBezTo>
                    <a:pt x="206" y="194"/>
                    <a:pt x="247" y="209"/>
                    <a:pt x="276" y="212"/>
                  </a:cubicBezTo>
                  <a:cubicBezTo>
                    <a:pt x="305" y="215"/>
                    <a:pt x="329" y="221"/>
                    <a:pt x="344" y="208"/>
                  </a:cubicBezTo>
                  <a:cubicBezTo>
                    <a:pt x="359" y="195"/>
                    <a:pt x="367" y="154"/>
                    <a:pt x="364" y="132"/>
                  </a:cubicBezTo>
                  <a:cubicBezTo>
                    <a:pt x="361" y="110"/>
                    <a:pt x="341" y="88"/>
                    <a:pt x="324" y="76"/>
                  </a:cubicBezTo>
                  <a:cubicBezTo>
                    <a:pt x="307" y="64"/>
                    <a:pt x="297" y="67"/>
                    <a:pt x="268" y="56"/>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40" name="Freeform 33" descr="宽上对角线"/>
            <p:cNvSpPr>
              <a:spLocks/>
            </p:cNvSpPr>
            <p:nvPr/>
          </p:nvSpPr>
          <p:spPr bwMode="auto">
            <a:xfrm flipH="1">
              <a:off x="384" y="2347"/>
              <a:ext cx="418" cy="564"/>
            </a:xfrm>
            <a:custGeom>
              <a:avLst/>
              <a:gdLst>
                <a:gd name="T0" fmla="*/ 948 w 277"/>
                <a:gd name="T1" fmla="*/ 205 h 324"/>
                <a:gd name="T2" fmla="*/ 770 w 277"/>
                <a:gd name="T3" fmla="*/ 16 h 324"/>
                <a:gd name="T4" fmla="*/ 412 w 277"/>
                <a:gd name="T5" fmla="*/ 99 h 324"/>
                <a:gd name="T6" fmla="*/ 122 w 277"/>
                <a:gd name="T7" fmla="*/ 332 h 324"/>
                <a:gd name="T8" fmla="*/ 0 w 277"/>
                <a:gd name="T9" fmla="*/ 1198 h 324"/>
                <a:gd name="T10" fmla="*/ 122 w 277"/>
                <a:gd name="T11" fmla="*/ 1661 h 324"/>
                <a:gd name="T12" fmla="*/ 493 w 277"/>
                <a:gd name="T13" fmla="*/ 1494 h 324"/>
                <a:gd name="T14" fmla="*/ 742 w 277"/>
                <a:gd name="T15" fmla="*/ 733 h 324"/>
                <a:gd name="T16" fmla="*/ 948 w 277"/>
                <a:gd name="T17" fmla="*/ 205 h 3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7"/>
                <a:gd name="T28" fmla="*/ 0 h 324"/>
                <a:gd name="T29" fmla="*/ 277 w 277"/>
                <a:gd name="T30" fmla="*/ 324 h 3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7" h="324">
                  <a:moveTo>
                    <a:pt x="276" y="39"/>
                  </a:moveTo>
                  <a:cubicBezTo>
                    <a:pt x="277" y="16"/>
                    <a:pt x="250" y="6"/>
                    <a:pt x="224" y="3"/>
                  </a:cubicBezTo>
                  <a:cubicBezTo>
                    <a:pt x="198" y="0"/>
                    <a:pt x="151" y="9"/>
                    <a:pt x="120" y="19"/>
                  </a:cubicBezTo>
                  <a:cubicBezTo>
                    <a:pt x="89" y="29"/>
                    <a:pt x="56" y="28"/>
                    <a:pt x="36" y="63"/>
                  </a:cubicBezTo>
                  <a:cubicBezTo>
                    <a:pt x="16" y="98"/>
                    <a:pt x="0" y="185"/>
                    <a:pt x="0" y="227"/>
                  </a:cubicBezTo>
                  <a:cubicBezTo>
                    <a:pt x="0" y="269"/>
                    <a:pt x="12" y="306"/>
                    <a:pt x="36" y="315"/>
                  </a:cubicBezTo>
                  <a:cubicBezTo>
                    <a:pt x="60" y="324"/>
                    <a:pt x="114" y="312"/>
                    <a:pt x="144" y="283"/>
                  </a:cubicBezTo>
                  <a:cubicBezTo>
                    <a:pt x="174" y="254"/>
                    <a:pt x="193" y="180"/>
                    <a:pt x="216" y="139"/>
                  </a:cubicBezTo>
                  <a:cubicBezTo>
                    <a:pt x="239" y="98"/>
                    <a:pt x="275" y="62"/>
                    <a:pt x="276" y="39"/>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41" name="Freeform 34"/>
            <p:cNvSpPr>
              <a:spLocks/>
            </p:cNvSpPr>
            <p:nvPr/>
          </p:nvSpPr>
          <p:spPr bwMode="auto">
            <a:xfrm flipH="1">
              <a:off x="1524" y="1535"/>
              <a:ext cx="163" cy="349"/>
            </a:xfrm>
            <a:custGeom>
              <a:avLst/>
              <a:gdLst>
                <a:gd name="T0" fmla="*/ 358 w 108"/>
                <a:gd name="T1" fmla="*/ 414 h 200"/>
                <a:gd name="T2" fmla="*/ 305 w 108"/>
                <a:gd name="T3" fmla="*/ 94 h 200"/>
                <a:gd name="T4" fmla="*/ 142 w 108"/>
                <a:gd name="T5" fmla="*/ 16 h 200"/>
                <a:gd name="T6" fmla="*/ 18 w 108"/>
                <a:gd name="T7" fmla="*/ 192 h 200"/>
                <a:gd name="T8" fmla="*/ 39 w 108"/>
                <a:gd name="T9" fmla="*/ 592 h 200"/>
                <a:gd name="T10" fmla="*/ 89 w 108"/>
                <a:gd name="T11" fmla="*/ 941 h 200"/>
                <a:gd name="T12" fmla="*/ 214 w 108"/>
                <a:gd name="T13" fmla="*/ 1005 h 200"/>
                <a:gd name="T14" fmla="*/ 346 w 108"/>
                <a:gd name="T15" fmla="*/ 606 h 200"/>
                <a:gd name="T16" fmla="*/ 358 w 108"/>
                <a:gd name="T17" fmla="*/ 414 h 2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8"/>
                <a:gd name="T28" fmla="*/ 0 h 200"/>
                <a:gd name="T29" fmla="*/ 108 w 108"/>
                <a:gd name="T30" fmla="*/ 200 h 2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8" h="200">
                  <a:moveTo>
                    <a:pt x="104" y="78"/>
                  </a:moveTo>
                  <a:cubicBezTo>
                    <a:pt x="102" y="62"/>
                    <a:pt x="100" y="31"/>
                    <a:pt x="89" y="18"/>
                  </a:cubicBezTo>
                  <a:cubicBezTo>
                    <a:pt x="78" y="5"/>
                    <a:pt x="55" y="0"/>
                    <a:pt x="41" y="3"/>
                  </a:cubicBezTo>
                  <a:cubicBezTo>
                    <a:pt x="27" y="6"/>
                    <a:pt x="10" y="18"/>
                    <a:pt x="5" y="36"/>
                  </a:cubicBezTo>
                  <a:cubicBezTo>
                    <a:pt x="0" y="54"/>
                    <a:pt x="8" y="88"/>
                    <a:pt x="11" y="111"/>
                  </a:cubicBezTo>
                  <a:cubicBezTo>
                    <a:pt x="14" y="134"/>
                    <a:pt x="17" y="164"/>
                    <a:pt x="26" y="177"/>
                  </a:cubicBezTo>
                  <a:cubicBezTo>
                    <a:pt x="35" y="190"/>
                    <a:pt x="49" y="200"/>
                    <a:pt x="62" y="189"/>
                  </a:cubicBezTo>
                  <a:cubicBezTo>
                    <a:pt x="75" y="178"/>
                    <a:pt x="94" y="134"/>
                    <a:pt x="101" y="114"/>
                  </a:cubicBezTo>
                  <a:cubicBezTo>
                    <a:pt x="108" y="94"/>
                    <a:pt x="106" y="94"/>
                    <a:pt x="104" y="78"/>
                  </a:cubicBezTo>
                  <a:close/>
                </a:path>
              </a:pathLst>
            </a:custGeom>
            <a:solidFill>
              <a:schemeClr val="bg1"/>
            </a:solidFill>
            <a:ln w="9525">
              <a:solidFill>
                <a:schemeClr val="tx1"/>
              </a:solidFill>
              <a:round/>
              <a:headEnd/>
              <a:tailEnd/>
            </a:ln>
          </p:spPr>
          <p:txBody>
            <a:bodyPr/>
            <a:lstStyle/>
            <a:p>
              <a:endParaRPr lang="zh-CN" altLang="en-US"/>
            </a:p>
          </p:txBody>
        </p:sp>
        <p:sp>
          <p:nvSpPr>
            <p:cNvPr id="42" name="Freeform 35"/>
            <p:cNvSpPr>
              <a:spLocks/>
            </p:cNvSpPr>
            <p:nvPr/>
          </p:nvSpPr>
          <p:spPr bwMode="auto">
            <a:xfrm flipH="1">
              <a:off x="754" y="1232"/>
              <a:ext cx="113" cy="184"/>
            </a:xfrm>
            <a:custGeom>
              <a:avLst/>
              <a:gdLst>
                <a:gd name="T0" fmla="*/ 35 w 75"/>
                <a:gd name="T1" fmla="*/ 549 h 106"/>
                <a:gd name="T2" fmla="*/ 229 w 75"/>
                <a:gd name="T3" fmla="*/ 328 h 106"/>
                <a:gd name="T4" fmla="*/ 197 w 75"/>
                <a:gd name="T5" fmla="*/ 49 h 106"/>
                <a:gd name="T6" fmla="*/ 75 w 75"/>
                <a:gd name="T7" fmla="*/ 49 h 106"/>
                <a:gd name="T8" fmla="*/ 26 w 75"/>
                <a:gd name="T9" fmla="*/ 205 h 106"/>
                <a:gd name="T10" fmla="*/ 14 w 75"/>
                <a:gd name="T11" fmla="*/ 361 h 106"/>
                <a:gd name="T12" fmla="*/ 35 w 75"/>
                <a:gd name="T13" fmla="*/ 549 h 106"/>
                <a:gd name="T14" fmla="*/ 0 60000 65536"/>
                <a:gd name="T15" fmla="*/ 0 60000 65536"/>
                <a:gd name="T16" fmla="*/ 0 60000 65536"/>
                <a:gd name="T17" fmla="*/ 0 60000 65536"/>
                <a:gd name="T18" fmla="*/ 0 60000 65536"/>
                <a:gd name="T19" fmla="*/ 0 60000 65536"/>
                <a:gd name="T20" fmla="*/ 0 60000 65536"/>
                <a:gd name="T21" fmla="*/ 0 w 75"/>
                <a:gd name="T22" fmla="*/ 0 h 106"/>
                <a:gd name="T23" fmla="*/ 75 w 75"/>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 h="106">
                  <a:moveTo>
                    <a:pt x="10" y="105"/>
                  </a:moveTo>
                  <a:cubicBezTo>
                    <a:pt x="20" y="104"/>
                    <a:pt x="59" y="79"/>
                    <a:pt x="67" y="63"/>
                  </a:cubicBezTo>
                  <a:cubicBezTo>
                    <a:pt x="75" y="47"/>
                    <a:pt x="66" y="18"/>
                    <a:pt x="58" y="9"/>
                  </a:cubicBezTo>
                  <a:cubicBezTo>
                    <a:pt x="50" y="0"/>
                    <a:pt x="30" y="4"/>
                    <a:pt x="22" y="9"/>
                  </a:cubicBezTo>
                  <a:cubicBezTo>
                    <a:pt x="14" y="14"/>
                    <a:pt x="10" y="29"/>
                    <a:pt x="7" y="39"/>
                  </a:cubicBezTo>
                  <a:cubicBezTo>
                    <a:pt x="4" y="49"/>
                    <a:pt x="5" y="58"/>
                    <a:pt x="4" y="69"/>
                  </a:cubicBezTo>
                  <a:cubicBezTo>
                    <a:pt x="3" y="80"/>
                    <a:pt x="0" y="106"/>
                    <a:pt x="10" y="105"/>
                  </a:cubicBezTo>
                  <a:close/>
                </a:path>
              </a:pathLst>
            </a:custGeom>
            <a:solidFill>
              <a:schemeClr val="bg1"/>
            </a:solidFill>
            <a:ln w="9525">
              <a:solidFill>
                <a:schemeClr val="tx1"/>
              </a:solidFill>
              <a:round/>
              <a:headEnd/>
              <a:tailEnd/>
            </a:ln>
          </p:spPr>
          <p:txBody>
            <a:bodyPr/>
            <a:lstStyle/>
            <a:p>
              <a:endParaRPr lang="zh-CN" altLang="en-US"/>
            </a:p>
          </p:txBody>
        </p:sp>
      </p:grpSp>
      <p:sp>
        <p:nvSpPr>
          <p:cNvPr id="43" name="Text Box 36"/>
          <p:cNvSpPr txBox="1">
            <a:spLocks noChangeArrowheads="1"/>
          </p:cNvSpPr>
          <p:nvPr/>
        </p:nvSpPr>
        <p:spPr bwMode="auto">
          <a:xfrm>
            <a:off x="3702830" y="993538"/>
            <a:ext cx="51530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00000"/>
              </a:lnSpc>
              <a:spcBef>
                <a:spcPct val="0"/>
              </a:spcBef>
              <a:spcAft>
                <a:spcPct val="0"/>
              </a:spcAft>
              <a:buSzPct val="80000"/>
              <a:buFont typeface="Wingdings" panose="05000000000000000000" pitchFamily="2" charset="2"/>
              <a:buChar char="l"/>
            </a:pPr>
            <a:r>
              <a:rPr kumimoji="1" lang="zh-CN" altLang="en-US" sz="2400" b="1" dirty="0" smtClean="0">
                <a:solidFill>
                  <a:srgbClr val="C00000"/>
                </a:solidFill>
                <a:latin typeface="幼圆" pitchFamily="49" charset="-122"/>
                <a:ea typeface="幼圆" pitchFamily="49" charset="-122"/>
              </a:rPr>
              <a:t>固相：</a:t>
            </a:r>
            <a:r>
              <a:rPr kumimoji="1" lang="zh-CN" altLang="en-US" sz="2400" b="1" dirty="0" smtClean="0">
                <a:solidFill>
                  <a:srgbClr val="000066"/>
                </a:solidFill>
                <a:latin typeface="幼圆" pitchFamily="49" charset="-122"/>
                <a:ea typeface="幼圆" pitchFamily="49" charset="-122"/>
              </a:rPr>
              <a:t>固体颗粒部分，构成</a:t>
            </a:r>
            <a:r>
              <a:rPr kumimoji="1" lang="zh-CN" altLang="en-US" sz="2400" b="1" dirty="0">
                <a:solidFill>
                  <a:srgbClr val="000066"/>
                </a:solidFill>
                <a:latin typeface="幼圆" pitchFamily="49" charset="-122"/>
                <a:ea typeface="幼圆" pitchFamily="49" charset="-122"/>
              </a:rPr>
              <a:t>土体</a:t>
            </a:r>
            <a:r>
              <a:rPr kumimoji="1" lang="zh-CN" altLang="en-US" sz="2400" b="1" dirty="0" smtClean="0">
                <a:solidFill>
                  <a:srgbClr val="000066"/>
                </a:solidFill>
                <a:latin typeface="幼圆" pitchFamily="49" charset="-122"/>
                <a:ea typeface="幼圆" pitchFamily="49" charset="-122"/>
              </a:rPr>
              <a:t>骨架，对土的性质起</a:t>
            </a:r>
            <a:r>
              <a:rPr kumimoji="1" lang="zh-CN" altLang="en-US" sz="2400" b="1" dirty="0">
                <a:solidFill>
                  <a:srgbClr val="000066"/>
                </a:solidFill>
                <a:latin typeface="幼圆" pitchFamily="49" charset="-122"/>
                <a:ea typeface="幼圆" pitchFamily="49" charset="-122"/>
              </a:rPr>
              <a:t>决定</a:t>
            </a:r>
            <a:r>
              <a:rPr kumimoji="1" lang="zh-CN" altLang="en-US" sz="2400" b="1" dirty="0" smtClean="0">
                <a:solidFill>
                  <a:srgbClr val="000066"/>
                </a:solidFill>
                <a:latin typeface="幼圆" pitchFamily="49" charset="-122"/>
                <a:ea typeface="幼圆" pitchFamily="49" charset="-122"/>
              </a:rPr>
              <a:t>作用</a:t>
            </a:r>
            <a:endParaRPr kumimoji="1" lang="zh-CN" altLang="en-US" sz="2400" b="1" dirty="0">
              <a:solidFill>
                <a:srgbClr val="000066"/>
              </a:solidFill>
              <a:latin typeface="幼圆" pitchFamily="49" charset="-122"/>
              <a:ea typeface="幼圆" pitchFamily="49" charset="-122"/>
            </a:endParaRPr>
          </a:p>
        </p:txBody>
      </p:sp>
      <p:sp>
        <p:nvSpPr>
          <p:cNvPr id="44" name="Text Box 37"/>
          <p:cNvSpPr txBox="1">
            <a:spLocks noChangeArrowheads="1"/>
          </p:cNvSpPr>
          <p:nvPr/>
        </p:nvSpPr>
        <p:spPr bwMode="auto">
          <a:xfrm>
            <a:off x="3670332" y="1996330"/>
            <a:ext cx="520784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00000"/>
              </a:lnSpc>
              <a:spcBef>
                <a:spcPct val="0"/>
              </a:spcBef>
              <a:spcAft>
                <a:spcPct val="0"/>
              </a:spcAft>
              <a:buClr>
                <a:srgbClr val="C00000"/>
              </a:buClr>
              <a:buSzPct val="80000"/>
              <a:buFont typeface="Wingdings" panose="05000000000000000000" pitchFamily="2" charset="2"/>
              <a:buChar char="l"/>
            </a:pPr>
            <a:r>
              <a:rPr kumimoji="1" lang="zh-CN" altLang="en-US" sz="2400" b="1" dirty="0">
                <a:solidFill>
                  <a:srgbClr val="C00000"/>
                </a:solidFill>
                <a:latin typeface="幼圆" pitchFamily="49" charset="-122"/>
                <a:ea typeface="幼圆" pitchFamily="49" charset="-122"/>
              </a:rPr>
              <a:t>液</a:t>
            </a:r>
            <a:r>
              <a:rPr kumimoji="1" lang="zh-CN" altLang="en-US" sz="2400" b="1" dirty="0" smtClean="0">
                <a:solidFill>
                  <a:srgbClr val="C00000"/>
                </a:solidFill>
                <a:latin typeface="幼圆" pitchFamily="49" charset="-122"/>
                <a:ea typeface="幼圆" pitchFamily="49" charset="-122"/>
              </a:rPr>
              <a:t>相：</a:t>
            </a:r>
            <a:r>
              <a:rPr kumimoji="1" lang="zh-CN" altLang="en-US" sz="2400" b="1" dirty="0" smtClean="0">
                <a:solidFill>
                  <a:srgbClr val="000066"/>
                </a:solidFill>
                <a:latin typeface="幼圆" pitchFamily="49" charset="-122"/>
                <a:ea typeface="幼圆" pitchFamily="49" charset="-122"/>
              </a:rPr>
              <a:t>土</a:t>
            </a:r>
            <a:r>
              <a:rPr kumimoji="1" lang="zh-CN" altLang="en-US" sz="2400" b="1" dirty="0">
                <a:solidFill>
                  <a:srgbClr val="000066"/>
                </a:solidFill>
                <a:latin typeface="幼圆" pitchFamily="49" charset="-122"/>
                <a:ea typeface="幼圆" pitchFamily="49" charset="-122"/>
              </a:rPr>
              <a:t>中</a:t>
            </a:r>
            <a:r>
              <a:rPr kumimoji="1" lang="zh-CN" altLang="en-US" sz="2400" b="1" dirty="0" smtClean="0">
                <a:solidFill>
                  <a:srgbClr val="000066"/>
                </a:solidFill>
                <a:latin typeface="幼圆" pitchFamily="49" charset="-122"/>
                <a:ea typeface="幼圆" pitchFamily="49" charset="-122"/>
              </a:rPr>
              <a:t>水部分，存在于土体骨架的孔隙之中，对土的性质会发生重要</a:t>
            </a:r>
            <a:r>
              <a:rPr kumimoji="1" lang="zh-CN" altLang="en-US" sz="2400" b="1" dirty="0">
                <a:solidFill>
                  <a:srgbClr val="000066"/>
                </a:solidFill>
                <a:latin typeface="幼圆" pitchFamily="49" charset="-122"/>
                <a:ea typeface="幼圆" pitchFamily="49" charset="-122"/>
              </a:rPr>
              <a:t>影响</a:t>
            </a:r>
          </a:p>
        </p:txBody>
      </p:sp>
      <p:sp>
        <p:nvSpPr>
          <p:cNvPr id="45" name="Line 38"/>
          <p:cNvSpPr>
            <a:spLocks noChangeShapeType="1"/>
          </p:cNvSpPr>
          <p:nvPr/>
        </p:nvSpPr>
        <p:spPr bwMode="auto">
          <a:xfrm flipV="1">
            <a:off x="2294716" y="1282317"/>
            <a:ext cx="1360068" cy="136136"/>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6" name="Line 39"/>
          <p:cNvSpPr>
            <a:spLocks noChangeShapeType="1"/>
          </p:cNvSpPr>
          <p:nvPr/>
        </p:nvSpPr>
        <p:spPr bwMode="auto">
          <a:xfrm flipV="1">
            <a:off x="2583971" y="2238649"/>
            <a:ext cx="1054160" cy="1893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 name="Line 40"/>
          <p:cNvSpPr>
            <a:spLocks noChangeShapeType="1"/>
          </p:cNvSpPr>
          <p:nvPr/>
        </p:nvSpPr>
        <p:spPr bwMode="auto">
          <a:xfrm>
            <a:off x="2285997" y="3157876"/>
            <a:ext cx="1233376" cy="265818"/>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2000"/>
                                        <p:tgtEl>
                                          <p:spTgt spid="43"/>
                                        </p:tgtEl>
                                      </p:cBhvr>
                                    </p:animEffect>
                                  </p:childTnLst>
                                </p:cTn>
                              </p:par>
                            </p:childTnLst>
                          </p:cTn>
                        </p:par>
                        <p:par>
                          <p:cTn id="12" fill="hold">
                            <p:stCondLst>
                              <p:cond delay="3000"/>
                            </p:stCondLst>
                            <p:childTnLst>
                              <p:par>
                                <p:cTn id="13" presetID="22" presetClass="entr" presetSubtype="8" fill="hold" grpId="0" nodeType="afterEffect">
                                  <p:stCondLst>
                                    <p:cond delay="2000"/>
                                  </p:stCondLst>
                                  <p:childTnLst>
                                    <p:set>
                                      <p:cBhvr>
                                        <p:cTn id="14" dur="1" fill="hold">
                                          <p:stCondLst>
                                            <p:cond delay="0"/>
                                          </p:stCondLst>
                                        </p:cTn>
                                        <p:tgtEl>
                                          <p:spTgt spid="46"/>
                                        </p:tgtEl>
                                        <p:attrNameLst>
                                          <p:attrName>style.visibility</p:attrName>
                                        </p:attrNameLst>
                                      </p:cBhvr>
                                      <p:to>
                                        <p:strVal val="visible"/>
                                      </p:to>
                                    </p:set>
                                    <p:animEffect transition="in" filter="wipe(left)">
                                      <p:cBhvr>
                                        <p:cTn id="15" dur="1000"/>
                                        <p:tgtEl>
                                          <p:spTgt spid="46"/>
                                        </p:tgtEl>
                                      </p:cBhvr>
                                    </p:animEffect>
                                  </p:childTnLst>
                                </p:cTn>
                              </p:par>
                            </p:childTnLst>
                          </p:cTn>
                        </p:par>
                        <p:par>
                          <p:cTn id="16" fill="hold">
                            <p:stCondLst>
                              <p:cond delay="6000"/>
                            </p:stCondLst>
                            <p:childTnLst>
                              <p:par>
                                <p:cTn id="17" presetID="22" presetClass="entr" presetSubtype="8" fill="hold" grpId="0"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wipe(left)">
                                      <p:cBhvr>
                                        <p:cTn id="19" dur="2000"/>
                                        <p:tgtEl>
                                          <p:spTgt spid="44"/>
                                        </p:tgtEl>
                                      </p:cBhvr>
                                    </p:animEffect>
                                  </p:childTnLst>
                                </p:cTn>
                              </p:par>
                            </p:childTnLst>
                          </p:cTn>
                        </p:par>
                        <p:par>
                          <p:cTn id="20" fill="hold">
                            <p:stCondLst>
                              <p:cond delay="8000"/>
                            </p:stCondLst>
                            <p:childTnLst>
                              <p:par>
                                <p:cTn id="21" presetID="22" presetClass="entr" presetSubtype="8" fill="hold" grpId="0" nodeType="afterEffect">
                                  <p:stCondLst>
                                    <p:cond delay="2000"/>
                                  </p:stCondLst>
                                  <p:childTnLst>
                                    <p:set>
                                      <p:cBhvr>
                                        <p:cTn id="22" dur="1" fill="hold">
                                          <p:stCondLst>
                                            <p:cond delay="0"/>
                                          </p:stCondLst>
                                        </p:cTn>
                                        <p:tgtEl>
                                          <p:spTgt spid="47"/>
                                        </p:tgtEl>
                                        <p:attrNameLst>
                                          <p:attrName>style.visibility</p:attrName>
                                        </p:attrNameLst>
                                      </p:cBhvr>
                                      <p:to>
                                        <p:strVal val="visible"/>
                                      </p:to>
                                    </p:set>
                                    <p:animEffect transition="in" filter="wipe(left)">
                                      <p:cBhvr>
                                        <p:cTn id="23" dur="1000"/>
                                        <p:tgtEl>
                                          <p:spTgt spid="47"/>
                                        </p:tgtEl>
                                      </p:cBhvr>
                                    </p:animEffect>
                                  </p:childTnLst>
                                </p:cTn>
                              </p:par>
                            </p:childTnLst>
                          </p:cTn>
                        </p:par>
                        <p:par>
                          <p:cTn id="24" fill="hold">
                            <p:stCondLst>
                              <p:cond delay="11000"/>
                            </p:stCondLst>
                            <p:childTnLst>
                              <p:par>
                                <p:cTn id="25" presetID="22" presetClass="entr" presetSubtype="8"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3" grpId="0"/>
      <p:bldP spid="44" grpId="0"/>
      <p:bldP spid="45" grpId="0" animBg="1"/>
      <p:bldP spid="46" grpId="0" animBg="1"/>
      <p:bldP spid="4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9" name="Text Box 41"/>
          <p:cNvSpPr txBox="1">
            <a:spLocks noChangeArrowheads="1"/>
          </p:cNvSpPr>
          <p:nvPr/>
        </p:nvSpPr>
        <p:spPr bwMode="auto">
          <a:xfrm>
            <a:off x="2845207" y="5720751"/>
            <a:ext cx="39766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buFont typeface="Wingdings" pitchFamily="2" charset="2"/>
              <a:buNone/>
            </a:pPr>
            <a:r>
              <a:rPr kumimoji="1" lang="zh-CN" altLang="en-US" sz="4000" b="1" dirty="0">
                <a:solidFill>
                  <a:srgbClr val="000066"/>
                </a:solidFill>
                <a:ea typeface="黑体" pitchFamily="2" charset="-122"/>
              </a:rPr>
              <a:t>土体的三相构成</a:t>
            </a:r>
            <a:endParaRPr kumimoji="1" lang="en-US" altLang="zh-CN" sz="4000" b="1" dirty="0">
              <a:solidFill>
                <a:srgbClr val="000066"/>
              </a:solidFill>
              <a:ea typeface="黑体" pitchFamily="2" charset="-122"/>
            </a:endParaRPr>
          </a:p>
        </p:txBody>
      </p:sp>
      <p:sp>
        <p:nvSpPr>
          <p:cNvPr id="28"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p>
        </p:txBody>
      </p:sp>
      <p:grpSp>
        <p:nvGrpSpPr>
          <p:cNvPr id="29" name="Group 22"/>
          <p:cNvGrpSpPr>
            <a:grpSpLocks/>
          </p:cNvGrpSpPr>
          <p:nvPr/>
        </p:nvGrpSpPr>
        <p:grpSpPr bwMode="auto">
          <a:xfrm>
            <a:off x="338916" y="1091428"/>
            <a:ext cx="2749550" cy="3121025"/>
            <a:chOff x="307" y="1163"/>
            <a:chExt cx="1732" cy="1966"/>
          </a:xfrm>
        </p:grpSpPr>
        <p:sp>
          <p:nvSpPr>
            <p:cNvPr id="30" name="Rectangle 23"/>
            <p:cNvSpPr>
              <a:spLocks noChangeArrowheads="1"/>
            </p:cNvSpPr>
            <p:nvPr/>
          </p:nvSpPr>
          <p:spPr bwMode="auto">
            <a:xfrm>
              <a:off x="642" y="1496"/>
              <a:ext cx="1116" cy="1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1" name="Freeform 24"/>
            <p:cNvSpPr>
              <a:spLocks/>
            </p:cNvSpPr>
            <p:nvPr/>
          </p:nvSpPr>
          <p:spPr bwMode="auto">
            <a:xfrm>
              <a:off x="1089" y="1292"/>
              <a:ext cx="851" cy="1059"/>
            </a:xfrm>
            <a:custGeom>
              <a:avLst/>
              <a:gdLst>
                <a:gd name="T0" fmla="*/ 668 w 851"/>
                <a:gd name="T1" fmla="*/ 1031 h 1059"/>
                <a:gd name="T2" fmla="*/ 600 w 851"/>
                <a:gd name="T3" fmla="*/ 942 h 1059"/>
                <a:gd name="T4" fmla="*/ 505 w 851"/>
                <a:gd name="T5" fmla="*/ 901 h 1059"/>
                <a:gd name="T6" fmla="*/ 441 w 851"/>
                <a:gd name="T7" fmla="*/ 723 h 1059"/>
                <a:gd name="T8" fmla="*/ 360 w 851"/>
                <a:gd name="T9" fmla="*/ 572 h 1059"/>
                <a:gd name="T10" fmla="*/ 219 w 851"/>
                <a:gd name="T11" fmla="*/ 410 h 1059"/>
                <a:gd name="T12" fmla="*/ 128 w 851"/>
                <a:gd name="T13" fmla="*/ 384 h 1059"/>
                <a:gd name="T14" fmla="*/ 15 w 851"/>
                <a:gd name="T15" fmla="*/ 363 h 1059"/>
                <a:gd name="T16" fmla="*/ 38 w 851"/>
                <a:gd name="T17" fmla="*/ 290 h 1059"/>
                <a:gd name="T18" fmla="*/ 42 w 851"/>
                <a:gd name="T19" fmla="*/ 223 h 1059"/>
                <a:gd name="T20" fmla="*/ 38 w 851"/>
                <a:gd name="T21" fmla="*/ 155 h 1059"/>
                <a:gd name="T22" fmla="*/ 6 w 851"/>
                <a:gd name="T23" fmla="*/ 87 h 1059"/>
                <a:gd name="T24" fmla="*/ 79 w 851"/>
                <a:gd name="T25" fmla="*/ 61 h 1059"/>
                <a:gd name="T26" fmla="*/ 292 w 851"/>
                <a:gd name="T27" fmla="*/ 40 h 1059"/>
                <a:gd name="T28" fmla="*/ 500 w 851"/>
                <a:gd name="T29" fmla="*/ 9 h 1059"/>
                <a:gd name="T30" fmla="*/ 595 w 851"/>
                <a:gd name="T31" fmla="*/ 3 h 1059"/>
                <a:gd name="T32" fmla="*/ 641 w 851"/>
                <a:gd name="T33" fmla="*/ 30 h 1059"/>
                <a:gd name="T34" fmla="*/ 654 w 851"/>
                <a:gd name="T35" fmla="*/ 71 h 1059"/>
                <a:gd name="T36" fmla="*/ 661 w 851"/>
                <a:gd name="T37" fmla="*/ 135 h 1059"/>
                <a:gd name="T38" fmla="*/ 703 w 851"/>
                <a:gd name="T39" fmla="*/ 199 h 1059"/>
                <a:gd name="T40" fmla="*/ 805 w 851"/>
                <a:gd name="T41" fmla="*/ 253 h 1059"/>
                <a:gd name="T42" fmla="*/ 844 w 851"/>
                <a:gd name="T43" fmla="*/ 327 h 1059"/>
                <a:gd name="T44" fmla="*/ 763 w 851"/>
                <a:gd name="T45" fmla="*/ 770 h 1059"/>
                <a:gd name="T46" fmla="*/ 668 w 851"/>
                <a:gd name="T47" fmla="*/ 1031 h 10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1"/>
                <a:gd name="T73" fmla="*/ 0 h 1059"/>
                <a:gd name="T74" fmla="*/ 851 w 851"/>
                <a:gd name="T75" fmla="*/ 1059 h 10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1" h="1059">
                  <a:moveTo>
                    <a:pt x="668" y="1031"/>
                  </a:moveTo>
                  <a:cubicBezTo>
                    <a:pt x="641" y="1059"/>
                    <a:pt x="627" y="963"/>
                    <a:pt x="600" y="942"/>
                  </a:cubicBezTo>
                  <a:cubicBezTo>
                    <a:pt x="573" y="922"/>
                    <a:pt x="530" y="937"/>
                    <a:pt x="505" y="901"/>
                  </a:cubicBezTo>
                  <a:cubicBezTo>
                    <a:pt x="479" y="864"/>
                    <a:pt x="465" y="777"/>
                    <a:pt x="441" y="723"/>
                  </a:cubicBezTo>
                  <a:cubicBezTo>
                    <a:pt x="417" y="669"/>
                    <a:pt x="396" y="624"/>
                    <a:pt x="360" y="572"/>
                  </a:cubicBezTo>
                  <a:cubicBezTo>
                    <a:pt x="323" y="520"/>
                    <a:pt x="257" y="442"/>
                    <a:pt x="219" y="410"/>
                  </a:cubicBezTo>
                  <a:cubicBezTo>
                    <a:pt x="181" y="379"/>
                    <a:pt x="162" y="391"/>
                    <a:pt x="128" y="384"/>
                  </a:cubicBezTo>
                  <a:cubicBezTo>
                    <a:pt x="95" y="377"/>
                    <a:pt x="30" y="379"/>
                    <a:pt x="15" y="363"/>
                  </a:cubicBezTo>
                  <a:cubicBezTo>
                    <a:pt x="0" y="348"/>
                    <a:pt x="33" y="313"/>
                    <a:pt x="38" y="290"/>
                  </a:cubicBezTo>
                  <a:cubicBezTo>
                    <a:pt x="42" y="268"/>
                    <a:pt x="42" y="245"/>
                    <a:pt x="42" y="223"/>
                  </a:cubicBezTo>
                  <a:cubicBezTo>
                    <a:pt x="42" y="200"/>
                    <a:pt x="44" y="177"/>
                    <a:pt x="38" y="155"/>
                  </a:cubicBezTo>
                  <a:cubicBezTo>
                    <a:pt x="32" y="132"/>
                    <a:pt x="0" y="103"/>
                    <a:pt x="6" y="87"/>
                  </a:cubicBezTo>
                  <a:cubicBezTo>
                    <a:pt x="12" y="71"/>
                    <a:pt x="32" y="68"/>
                    <a:pt x="79" y="61"/>
                  </a:cubicBezTo>
                  <a:cubicBezTo>
                    <a:pt x="125" y="54"/>
                    <a:pt x="222" y="49"/>
                    <a:pt x="292" y="40"/>
                  </a:cubicBezTo>
                  <a:cubicBezTo>
                    <a:pt x="361" y="31"/>
                    <a:pt x="450" y="14"/>
                    <a:pt x="500" y="9"/>
                  </a:cubicBezTo>
                  <a:cubicBezTo>
                    <a:pt x="550" y="3"/>
                    <a:pt x="571" y="0"/>
                    <a:pt x="595" y="3"/>
                  </a:cubicBezTo>
                  <a:cubicBezTo>
                    <a:pt x="620" y="7"/>
                    <a:pt x="632" y="19"/>
                    <a:pt x="641" y="30"/>
                  </a:cubicBezTo>
                  <a:cubicBezTo>
                    <a:pt x="650" y="40"/>
                    <a:pt x="651" y="54"/>
                    <a:pt x="654" y="71"/>
                  </a:cubicBezTo>
                  <a:cubicBezTo>
                    <a:pt x="657" y="88"/>
                    <a:pt x="653" y="114"/>
                    <a:pt x="661" y="135"/>
                  </a:cubicBezTo>
                  <a:cubicBezTo>
                    <a:pt x="669" y="156"/>
                    <a:pt x="679" y="179"/>
                    <a:pt x="703" y="199"/>
                  </a:cubicBezTo>
                  <a:cubicBezTo>
                    <a:pt x="727" y="219"/>
                    <a:pt x="782" y="232"/>
                    <a:pt x="805" y="253"/>
                  </a:cubicBezTo>
                  <a:cubicBezTo>
                    <a:pt x="828" y="274"/>
                    <a:pt x="851" y="241"/>
                    <a:pt x="844" y="327"/>
                  </a:cubicBezTo>
                  <a:cubicBezTo>
                    <a:pt x="837" y="413"/>
                    <a:pt x="792" y="653"/>
                    <a:pt x="763" y="770"/>
                  </a:cubicBezTo>
                  <a:cubicBezTo>
                    <a:pt x="734" y="887"/>
                    <a:pt x="695" y="1003"/>
                    <a:pt x="668" y="1031"/>
                  </a:cubicBezTo>
                  <a:close/>
                </a:path>
              </a:pathLst>
            </a:custGeom>
            <a:solidFill>
              <a:schemeClr val="hlink"/>
            </a:solidFill>
            <a:ln w="9525">
              <a:solidFill>
                <a:schemeClr val="tx1"/>
              </a:solidFill>
              <a:round/>
              <a:headEnd/>
              <a:tailEnd/>
            </a:ln>
          </p:spPr>
          <p:txBody>
            <a:bodyPr/>
            <a:lstStyle/>
            <a:p>
              <a:endParaRPr lang="zh-CN" altLang="en-US"/>
            </a:p>
          </p:txBody>
        </p:sp>
        <p:sp>
          <p:nvSpPr>
            <p:cNvPr id="32" name="Freeform 25"/>
            <p:cNvSpPr>
              <a:spLocks/>
            </p:cNvSpPr>
            <p:nvPr/>
          </p:nvSpPr>
          <p:spPr bwMode="auto">
            <a:xfrm>
              <a:off x="307" y="1163"/>
              <a:ext cx="943" cy="1684"/>
            </a:xfrm>
            <a:custGeom>
              <a:avLst/>
              <a:gdLst>
                <a:gd name="T0" fmla="*/ 919 w 943"/>
                <a:gd name="T1" fmla="*/ 1448 h 1684"/>
                <a:gd name="T2" fmla="*/ 787 w 943"/>
                <a:gd name="T3" fmla="*/ 1441 h 1684"/>
                <a:gd name="T4" fmla="*/ 691 w 943"/>
                <a:gd name="T5" fmla="*/ 1521 h 1684"/>
                <a:gd name="T6" fmla="*/ 672 w 943"/>
                <a:gd name="T7" fmla="*/ 1537 h 1684"/>
                <a:gd name="T8" fmla="*/ 682 w 943"/>
                <a:gd name="T9" fmla="*/ 1579 h 1684"/>
                <a:gd name="T10" fmla="*/ 547 w 943"/>
                <a:gd name="T11" fmla="*/ 1579 h 1684"/>
                <a:gd name="T12" fmla="*/ 467 w 943"/>
                <a:gd name="T13" fmla="*/ 1665 h 1684"/>
                <a:gd name="T14" fmla="*/ 416 w 943"/>
                <a:gd name="T15" fmla="*/ 1681 h 1684"/>
                <a:gd name="T16" fmla="*/ 352 w 943"/>
                <a:gd name="T17" fmla="*/ 1649 h 1684"/>
                <a:gd name="T18" fmla="*/ 263 w 943"/>
                <a:gd name="T19" fmla="*/ 1608 h 1684"/>
                <a:gd name="T20" fmla="*/ 208 w 943"/>
                <a:gd name="T21" fmla="*/ 1461 h 1684"/>
                <a:gd name="T22" fmla="*/ 172 w 943"/>
                <a:gd name="T23" fmla="*/ 1354 h 1684"/>
                <a:gd name="T24" fmla="*/ 104 w 943"/>
                <a:gd name="T25" fmla="*/ 1187 h 1684"/>
                <a:gd name="T26" fmla="*/ 95 w 943"/>
                <a:gd name="T27" fmla="*/ 1119 h 1684"/>
                <a:gd name="T28" fmla="*/ 95 w 943"/>
                <a:gd name="T29" fmla="*/ 1010 h 1684"/>
                <a:gd name="T30" fmla="*/ 50 w 943"/>
                <a:gd name="T31" fmla="*/ 905 h 1684"/>
                <a:gd name="T32" fmla="*/ 0 w 943"/>
                <a:gd name="T33" fmla="*/ 811 h 1684"/>
                <a:gd name="T34" fmla="*/ 50 w 943"/>
                <a:gd name="T35" fmla="*/ 696 h 1684"/>
                <a:gd name="T36" fmla="*/ 32 w 943"/>
                <a:gd name="T37" fmla="*/ 550 h 1684"/>
                <a:gd name="T38" fmla="*/ 159 w 943"/>
                <a:gd name="T39" fmla="*/ 231 h 1684"/>
                <a:gd name="T40" fmla="*/ 236 w 943"/>
                <a:gd name="T41" fmla="*/ 111 h 1684"/>
                <a:gd name="T42" fmla="*/ 281 w 943"/>
                <a:gd name="T43" fmla="*/ 43 h 1684"/>
                <a:gd name="T44" fmla="*/ 381 w 943"/>
                <a:gd name="T45" fmla="*/ 12 h 1684"/>
                <a:gd name="T46" fmla="*/ 471 w 943"/>
                <a:gd name="T47" fmla="*/ 17 h 1684"/>
                <a:gd name="T48" fmla="*/ 553 w 943"/>
                <a:gd name="T49" fmla="*/ 7 h 1684"/>
                <a:gd name="T50" fmla="*/ 589 w 943"/>
                <a:gd name="T51" fmla="*/ 59 h 1684"/>
                <a:gd name="T52" fmla="*/ 759 w 943"/>
                <a:gd name="T53" fmla="*/ 241 h 1684"/>
                <a:gd name="T54" fmla="*/ 682 w 943"/>
                <a:gd name="T55" fmla="*/ 411 h 1684"/>
                <a:gd name="T56" fmla="*/ 599 w 943"/>
                <a:gd name="T57" fmla="*/ 424 h 1684"/>
                <a:gd name="T58" fmla="*/ 525 w 943"/>
                <a:gd name="T59" fmla="*/ 462 h 1684"/>
                <a:gd name="T60" fmla="*/ 426 w 943"/>
                <a:gd name="T61" fmla="*/ 494 h 1684"/>
                <a:gd name="T62" fmla="*/ 367 w 943"/>
                <a:gd name="T63" fmla="*/ 315 h 1684"/>
                <a:gd name="T64" fmla="*/ 227 w 943"/>
                <a:gd name="T65" fmla="*/ 477 h 1684"/>
                <a:gd name="T66" fmla="*/ 163 w 943"/>
                <a:gd name="T67" fmla="*/ 660 h 1684"/>
                <a:gd name="T68" fmla="*/ 213 w 943"/>
                <a:gd name="T69" fmla="*/ 769 h 1684"/>
                <a:gd name="T70" fmla="*/ 419 w 943"/>
                <a:gd name="T71" fmla="*/ 619 h 1684"/>
                <a:gd name="T72" fmla="*/ 506 w 943"/>
                <a:gd name="T73" fmla="*/ 753 h 1684"/>
                <a:gd name="T74" fmla="*/ 725 w 943"/>
                <a:gd name="T75" fmla="*/ 822 h 1684"/>
                <a:gd name="T76" fmla="*/ 778 w 943"/>
                <a:gd name="T77" fmla="*/ 869 h 1684"/>
                <a:gd name="T78" fmla="*/ 775 w 943"/>
                <a:gd name="T79" fmla="*/ 933 h 1684"/>
                <a:gd name="T80" fmla="*/ 823 w 943"/>
                <a:gd name="T81" fmla="*/ 1006 h 1684"/>
                <a:gd name="T82" fmla="*/ 813 w 943"/>
                <a:gd name="T83" fmla="*/ 1160 h 1684"/>
                <a:gd name="T84" fmla="*/ 925 w 943"/>
                <a:gd name="T85" fmla="*/ 1275 h 1684"/>
                <a:gd name="T86" fmla="*/ 919 w 943"/>
                <a:gd name="T87" fmla="*/ 1448 h 16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943"/>
                <a:gd name="T133" fmla="*/ 0 h 1684"/>
                <a:gd name="T134" fmla="*/ 943 w 943"/>
                <a:gd name="T135" fmla="*/ 1684 h 16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943" h="1684">
                  <a:moveTo>
                    <a:pt x="919" y="1448"/>
                  </a:moveTo>
                  <a:cubicBezTo>
                    <a:pt x="896" y="1467"/>
                    <a:pt x="825" y="1429"/>
                    <a:pt x="787" y="1441"/>
                  </a:cubicBezTo>
                  <a:cubicBezTo>
                    <a:pt x="749" y="1453"/>
                    <a:pt x="710" y="1505"/>
                    <a:pt x="691" y="1521"/>
                  </a:cubicBezTo>
                  <a:cubicBezTo>
                    <a:pt x="672" y="1537"/>
                    <a:pt x="673" y="1527"/>
                    <a:pt x="672" y="1537"/>
                  </a:cubicBezTo>
                  <a:cubicBezTo>
                    <a:pt x="671" y="1547"/>
                    <a:pt x="703" y="1572"/>
                    <a:pt x="682" y="1579"/>
                  </a:cubicBezTo>
                  <a:cubicBezTo>
                    <a:pt x="661" y="1586"/>
                    <a:pt x="583" y="1565"/>
                    <a:pt x="547" y="1579"/>
                  </a:cubicBezTo>
                  <a:cubicBezTo>
                    <a:pt x="511" y="1593"/>
                    <a:pt x="489" y="1648"/>
                    <a:pt x="467" y="1665"/>
                  </a:cubicBezTo>
                  <a:cubicBezTo>
                    <a:pt x="445" y="1682"/>
                    <a:pt x="435" y="1684"/>
                    <a:pt x="416" y="1681"/>
                  </a:cubicBezTo>
                  <a:cubicBezTo>
                    <a:pt x="397" y="1678"/>
                    <a:pt x="377" y="1661"/>
                    <a:pt x="352" y="1649"/>
                  </a:cubicBezTo>
                  <a:cubicBezTo>
                    <a:pt x="327" y="1637"/>
                    <a:pt x="287" y="1639"/>
                    <a:pt x="263" y="1608"/>
                  </a:cubicBezTo>
                  <a:cubicBezTo>
                    <a:pt x="239" y="1577"/>
                    <a:pt x="223" y="1503"/>
                    <a:pt x="208" y="1461"/>
                  </a:cubicBezTo>
                  <a:cubicBezTo>
                    <a:pt x="193" y="1419"/>
                    <a:pt x="189" y="1400"/>
                    <a:pt x="172" y="1354"/>
                  </a:cubicBezTo>
                  <a:cubicBezTo>
                    <a:pt x="155" y="1308"/>
                    <a:pt x="116" y="1225"/>
                    <a:pt x="104" y="1187"/>
                  </a:cubicBezTo>
                  <a:cubicBezTo>
                    <a:pt x="92" y="1149"/>
                    <a:pt x="97" y="1149"/>
                    <a:pt x="95" y="1119"/>
                  </a:cubicBezTo>
                  <a:cubicBezTo>
                    <a:pt x="94" y="1090"/>
                    <a:pt x="103" y="1044"/>
                    <a:pt x="95" y="1010"/>
                  </a:cubicBezTo>
                  <a:cubicBezTo>
                    <a:pt x="88" y="975"/>
                    <a:pt x="65" y="938"/>
                    <a:pt x="50" y="905"/>
                  </a:cubicBezTo>
                  <a:cubicBezTo>
                    <a:pt x="35" y="872"/>
                    <a:pt x="0" y="846"/>
                    <a:pt x="0" y="811"/>
                  </a:cubicBezTo>
                  <a:cubicBezTo>
                    <a:pt x="0" y="776"/>
                    <a:pt x="45" y="740"/>
                    <a:pt x="50" y="696"/>
                  </a:cubicBezTo>
                  <a:cubicBezTo>
                    <a:pt x="54" y="653"/>
                    <a:pt x="14" y="627"/>
                    <a:pt x="32" y="550"/>
                  </a:cubicBezTo>
                  <a:cubicBezTo>
                    <a:pt x="50" y="473"/>
                    <a:pt x="125" y="305"/>
                    <a:pt x="159" y="231"/>
                  </a:cubicBezTo>
                  <a:cubicBezTo>
                    <a:pt x="192" y="158"/>
                    <a:pt x="214" y="143"/>
                    <a:pt x="236" y="111"/>
                  </a:cubicBezTo>
                  <a:cubicBezTo>
                    <a:pt x="257" y="80"/>
                    <a:pt x="257" y="59"/>
                    <a:pt x="281" y="43"/>
                  </a:cubicBezTo>
                  <a:cubicBezTo>
                    <a:pt x="305" y="27"/>
                    <a:pt x="349" y="16"/>
                    <a:pt x="381" y="12"/>
                  </a:cubicBezTo>
                  <a:cubicBezTo>
                    <a:pt x="413" y="8"/>
                    <a:pt x="443" y="19"/>
                    <a:pt x="471" y="17"/>
                  </a:cubicBezTo>
                  <a:cubicBezTo>
                    <a:pt x="500" y="16"/>
                    <a:pt x="533" y="0"/>
                    <a:pt x="553" y="7"/>
                  </a:cubicBezTo>
                  <a:cubicBezTo>
                    <a:pt x="572" y="14"/>
                    <a:pt x="555" y="20"/>
                    <a:pt x="589" y="59"/>
                  </a:cubicBezTo>
                  <a:cubicBezTo>
                    <a:pt x="623" y="98"/>
                    <a:pt x="743" y="182"/>
                    <a:pt x="759" y="241"/>
                  </a:cubicBezTo>
                  <a:cubicBezTo>
                    <a:pt x="775" y="300"/>
                    <a:pt x="709" y="381"/>
                    <a:pt x="682" y="411"/>
                  </a:cubicBezTo>
                  <a:cubicBezTo>
                    <a:pt x="655" y="441"/>
                    <a:pt x="625" y="416"/>
                    <a:pt x="599" y="424"/>
                  </a:cubicBezTo>
                  <a:cubicBezTo>
                    <a:pt x="573" y="432"/>
                    <a:pt x="554" y="450"/>
                    <a:pt x="525" y="462"/>
                  </a:cubicBezTo>
                  <a:cubicBezTo>
                    <a:pt x="496" y="474"/>
                    <a:pt x="452" y="519"/>
                    <a:pt x="426" y="494"/>
                  </a:cubicBezTo>
                  <a:cubicBezTo>
                    <a:pt x="400" y="469"/>
                    <a:pt x="400" y="318"/>
                    <a:pt x="367" y="315"/>
                  </a:cubicBezTo>
                  <a:cubicBezTo>
                    <a:pt x="334" y="312"/>
                    <a:pt x="260" y="419"/>
                    <a:pt x="227" y="477"/>
                  </a:cubicBezTo>
                  <a:cubicBezTo>
                    <a:pt x="193" y="534"/>
                    <a:pt x="166" y="611"/>
                    <a:pt x="163" y="660"/>
                  </a:cubicBezTo>
                  <a:cubicBezTo>
                    <a:pt x="160" y="708"/>
                    <a:pt x="170" y="776"/>
                    <a:pt x="213" y="769"/>
                  </a:cubicBezTo>
                  <a:cubicBezTo>
                    <a:pt x="256" y="762"/>
                    <a:pt x="370" y="622"/>
                    <a:pt x="419" y="619"/>
                  </a:cubicBezTo>
                  <a:cubicBezTo>
                    <a:pt x="468" y="616"/>
                    <a:pt x="455" y="719"/>
                    <a:pt x="506" y="753"/>
                  </a:cubicBezTo>
                  <a:cubicBezTo>
                    <a:pt x="557" y="787"/>
                    <a:pt x="680" y="803"/>
                    <a:pt x="725" y="822"/>
                  </a:cubicBezTo>
                  <a:cubicBezTo>
                    <a:pt x="770" y="841"/>
                    <a:pt x="770" y="851"/>
                    <a:pt x="778" y="869"/>
                  </a:cubicBezTo>
                  <a:cubicBezTo>
                    <a:pt x="786" y="887"/>
                    <a:pt x="768" y="910"/>
                    <a:pt x="775" y="933"/>
                  </a:cubicBezTo>
                  <a:cubicBezTo>
                    <a:pt x="782" y="956"/>
                    <a:pt x="817" y="968"/>
                    <a:pt x="823" y="1006"/>
                  </a:cubicBezTo>
                  <a:cubicBezTo>
                    <a:pt x="829" y="1044"/>
                    <a:pt x="796" y="1115"/>
                    <a:pt x="813" y="1160"/>
                  </a:cubicBezTo>
                  <a:cubicBezTo>
                    <a:pt x="830" y="1205"/>
                    <a:pt x="907" y="1227"/>
                    <a:pt x="925" y="1275"/>
                  </a:cubicBezTo>
                  <a:cubicBezTo>
                    <a:pt x="943" y="1323"/>
                    <a:pt x="920" y="1412"/>
                    <a:pt x="919" y="1448"/>
                  </a:cubicBezTo>
                  <a:close/>
                </a:path>
              </a:pathLst>
            </a:custGeom>
            <a:solidFill>
              <a:schemeClr val="hlink"/>
            </a:solidFill>
            <a:ln w="9525">
              <a:solidFill>
                <a:schemeClr val="tx1"/>
              </a:solidFill>
              <a:round/>
              <a:headEnd/>
              <a:tailEnd/>
            </a:ln>
          </p:spPr>
          <p:txBody>
            <a:bodyPr/>
            <a:lstStyle/>
            <a:p>
              <a:endParaRPr lang="zh-CN" altLang="en-US"/>
            </a:p>
          </p:txBody>
        </p:sp>
        <p:sp>
          <p:nvSpPr>
            <p:cNvPr id="33" name="Freeform 26" descr="宽上对角线"/>
            <p:cNvSpPr>
              <a:spLocks/>
            </p:cNvSpPr>
            <p:nvPr/>
          </p:nvSpPr>
          <p:spPr bwMode="auto">
            <a:xfrm flipH="1">
              <a:off x="1713" y="1502"/>
              <a:ext cx="326" cy="1094"/>
            </a:xfrm>
            <a:custGeom>
              <a:avLst/>
              <a:gdLst>
                <a:gd name="T0" fmla="*/ 367 w 216"/>
                <a:gd name="T1" fmla="*/ 3292 h 628"/>
                <a:gd name="T2" fmla="*/ 684 w 216"/>
                <a:gd name="T3" fmla="*/ 3125 h 628"/>
                <a:gd name="T4" fmla="*/ 711 w 216"/>
                <a:gd name="T5" fmla="*/ 2594 h 628"/>
                <a:gd name="T6" fmla="*/ 643 w 216"/>
                <a:gd name="T7" fmla="*/ 2131 h 628"/>
                <a:gd name="T8" fmla="*/ 546 w 216"/>
                <a:gd name="T9" fmla="*/ 1432 h 628"/>
                <a:gd name="T10" fmla="*/ 546 w 216"/>
                <a:gd name="T11" fmla="*/ 989 h 628"/>
                <a:gd name="T12" fmla="*/ 574 w 216"/>
                <a:gd name="T13" fmla="*/ 334 h 628"/>
                <a:gd name="T14" fmla="*/ 492 w 216"/>
                <a:gd name="T15" fmla="*/ 78 h 628"/>
                <a:gd name="T16" fmla="*/ 299 w 216"/>
                <a:gd name="T17" fmla="*/ 78 h 628"/>
                <a:gd name="T18" fmla="*/ 107 w 216"/>
                <a:gd name="T19" fmla="*/ 544 h 628"/>
                <a:gd name="T20" fmla="*/ 12 w 216"/>
                <a:gd name="T21" fmla="*/ 1284 h 628"/>
                <a:gd name="T22" fmla="*/ 53 w 216"/>
                <a:gd name="T23" fmla="*/ 2131 h 628"/>
                <a:gd name="T24" fmla="*/ 161 w 216"/>
                <a:gd name="T25" fmla="*/ 2977 h 628"/>
                <a:gd name="T26" fmla="*/ 367 w 216"/>
                <a:gd name="T27" fmla="*/ 3292 h 6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6"/>
                <a:gd name="T43" fmla="*/ 0 h 628"/>
                <a:gd name="T44" fmla="*/ 216 w 216"/>
                <a:gd name="T45" fmla="*/ 628 h 6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 h="628">
                  <a:moveTo>
                    <a:pt x="107" y="623"/>
                  </a:moveTo>
                  <a:cubicBezTo>
                    <a:pt x="132" y="628"/>
                    <a:pt x="182" y="613"/>
                    <a:pt x="199" y="591"/>
                  </a:cubicBezTo>
                  <a:cubicBezTo>
                    <a:pt x="216" y="569"/>
                    <a:pt x="209" y="522"/>
                    <a:pt x="207" y="491"/>
                  </a:cubicBezTo>
                  <a:cubicBezTo>
                    <a:pt x="205" y="460"/>
                    <a:pt x="195" y="440"/>
                    <a:pt x="187" y="403"/>
                  </a:cubicBezTo>
                  <a:cubicBezTo>
                    <a:pt x="179" y="366"/>
                    <a:pt x="164" y="307"/>
                    <a:pt x="159" y="271"/>
                  </a:cubicBezTo>
                  <a:cubicBezTo>
                    <a:pt x="154" y="235"/>
                    <a:pt x="158" y="222"/>
                    <a:pt x="159" y="187"/>
                  </a:cubicBezTo>
                  <a:cubicBezTo>
                    <a:pt x="160" y="152"/>
                    <a:pt x="170" y="92"/>
                    <a:pt x="167" y="63"/>
                  </a:cubicBezTo>
                  <a:cubicBezTo>
                    <a:pt x="164" y="34"/>
                    <a:pt x="156" y="23"/>
                    <a:pt x="143" y="15"/>
                  </a:cubicBezTo>
                  <a:cubicBezTo>
                    <a:pt x="130" y="7"/>
                    <a:pt x="106" y="0"/>
                    <a:pt x="87" y="15"/>
                  </a:cubicBezTo>
                  <a:cubicBezTo>
                    <a:pt x="68" y="30"/>
                    <a:pt x="45" y="65"/>
                    <a:pt x="31" y="103"/>
                  </a:cubicBezTo>
                  <a:cubicBezTo>
                    <a:pt x="17" y="141"/>
                    <a:pt x="6" y="193"/>
                    <a:pt x="3" y="243"/>
                  </a:cubicBezTo>
                  <a:cubicBezTo>
                    <a:pt x="0" y="293"/>
                    <a:pt x="8" y="350"/>
                    <a:pt x="15" y="403"/>
                  </a:cubicBezTo>
                  <a:cubicBezTo>
                    <a:pt x="22" y="456"/>
                    <a:pt x="33" y="525"/>
                    <a:pt x="47" y="563"/>
                  </a:cubicBezTo>
                  <a:cubicBezTo>
                    <a:pt x="61" y="601"/>
                    <a:pt x="82" y="618"/>
                    <a:pt x="107" y="623"/>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4" name="Freeform 27" descr="宽上对角线"/>
            <p:cNvSpPr>
              <a:spLocks/>
            </p:cNvSpPr>
            <p:nvPr/>
          </p:nvSpPr>
          <p:spPr bwMode="auto">
            <a:xfrm flipH="1">
              <a:off x="826" y="1164"/>
              <a:ext cx="930" cy="359"/>
            </a:xfrm>
            <a:custGeom>
              <a:avLst/>
              <a:gdLst>
                <a:gd name="T0" fmla="*/ 1005 w 616"/>
                <a:gd name="T1" fmla="*/ 1021 h 206"/>
                <a:gd name="T2" fmla="*/ 1555 w 616"/>
                <a:gd name="T3" fmla="*/ 1063 h 206"/>
                <a:gd name="T4" fmla="*/ 2038 w 616"/>
                <a:gd name="T5" fmla="*/ 875 h 206"/>
                <a:gd name="T6" fmla="*/ 2052 w 616"/>
                <a:gd name="T7" fmla="*/ 429 h 206"/>
                <a:gd name="T8" fmla="*/ 1886 w 616"/>
                <a:gd name="T9" fmla="*/ 70 h 206"/>
                <a:gd name="T10" fmla="*/ 1528 w 616"/>
                <a:gd name="T11" fmla="*/ 5 h 206"/>
                <a:gd name="T12" fmla="*/ 978 w 616"/>
                <a:gd name="T13" fmla="*/ 49 h 206"/>
                <a:gd name="T14" fmla="*/ 439 w 616"/>
                <a:gd name="T15" fmla="*/ 195 h 206"/>
                <a:gd name="T16" fmla="*/ 95 w 616"/>
                <a:gd name="T17" fmla="*/ 429 h 206"/>
                <a:gd name="T18" fmla="*/ 151 w 616"/>
                <a:gd name="T19" fmla="*/ 875 h 206"/>
                <a:gd name="T20" fmla="*/ 1005 w 616"/>
                <a:gd name="T21" fmla="*/ 1021 h 2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16"/>
                <a:gd name="T34" fmla="*/ 0 h 206"/>
                <a:gd name="T35" fmla="*/ 616 w 616"/>
                <a:gd name="T36" fmla="*/ 206 h 2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16" h="206">
                  <a:moveTo>
                    <a:pt x="292" y="193"/>
                  </a:moveTo>
                  <a:cubicBezTo>
                    <a:pt x="360" y="199"/>
                    <a:pt x="402" y="206"/>
                    <a:pt x="452" y="201"/>
                  </a:cubicBezTo>
                  <a:cubicBezTo>
                    <a:pt x="502" y="196"/>
                    <a:pt x="568" y="185"/>
                    <a:pt x="592" y="165"/>
                  </a:cubicBezTo>
                  <a:cubicBezTo>
                    <a:pt x="616" y="145"/>
                    <a:pt x="603" y="106"/>
                    <a:pt x="596" y="81"/>
                  </a:cubicBezTo>
                  <a:cubicBezTo>
                    <a:pt x="589" y="56"/>
                    <a:pt x="573" y="26"/>
                    <a:pt x="548" y="13"/>
                  </a:cubicBezTo>
                  <a:cubicBezTo>
                    <a:pt x="523" y="0"/>
                    <a:pt x="488" y="2"/>
                    <a:pt x="444" y="1"/>
                  </a:cubicBezTo>
                  <a:cubicBezTo>
                    <a:pt x="400" y="0"/>
                    <a:pt x="337" y="3"/>
                    <a:pt x="284" y="9"/>
                  </a:cubicBezTo>
                  <a:cubicBezTo>
                    <a:pt x="231" y="15"/>
                    <a:pt x="171" y="25"/>
                    <a:pt x="128" y="37"/>
                  </a:cubicBezTo>
                  <a:cubicBezTo>
                    <a:pt x="85" y="49"/>
                    <a:pt x="42" y="60"/>
                    <a:pt x="28" y="81"/>
                  </a:cubicBezTo>
                  <a:cubicBezTo>
                    <a:pt x="14" y="102"/>
                    <a:pt x="0" y="146"/>
                    <a:pt x="44" y="165"/>
                  </a:cubicBezTo>
                  <a:cubicBezTo>
                    <a:pt x="88" y="184"/>
                    <a:pt x="224" y="187"/>
                    <a:pt x="292" y="193"/>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5" name="Freeform 28" descr="宽上对角线"/>
            <p:cNvSpPr>
              <a:spLocks/>
            </p:cNvSpPr>
            <p:nvPr/>
          </p:nvSpPr>
          <p:spPr bwMode="auto">
            <a:xfrm flipH="1">
              <a:off x="956" y="1514"/>
              <a:ext cx="795" cy="842"/>
            </a:xfrm>
            <a:custGeom>
              <a:avLst/>
              <a:gdLst>
                <a:gd name="T0" fmla="*/ 814 w 386"/>
                <a:gd name="T1" fmla="*/ 1346 h 406"/>
                <a:gd name="T2" fmla="*/ 255 w 386"/>
                <a:gd name="T3" fmla="*/ 1954 h 406"/>
                <a:gd name="T4" fmla="*/ 8 w 386"/>
                <a:gd name="T5" fmla="*/ 2740 h 406"/>
                <a:gd name="T6" fmla="*/ 216 w 386"/>
                <a:gd name="T7" fmla="*/ 3524 h 406"/>
                <a:gd name="T8" fmla="*/ 1129 w 386"/>
                <a:gd name="T9" fmla="*/ 3345 h 406"/>
                <a:gd name="T10" fmla="*/ 2558 w 386"/>
                <a:gd name="T11" fmla="*/ 1954 h 406"/>
                <a:gd name="T12" fmla="*/ 3258 w 386"/>
                <a:gd name="T13" fmla="*/ 848 h 406"/>
                <a:gd name="T14" fmla="*/ 3258 w 386"/>
                <a:gd name="T15" fmla="*/ 168 h 406"/>
                <a:gd name="T16" fmla="*/ 2663 w 386"/>
                <a:gd name="T17" fmla="*/ 64 h 406"/>
                <a:gd name="T18" fmla="*/ 1549 w 386"/>
                <a:gd name="T19" fmla="*/ 525 h 406"/>
                <a:gd name="T20" fmla="*/ 814 w 386"/>
                <a:gd name="T21" fmla="*/ 1346 h 4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6"/>
                <a:gd name="T34" fmla="*/ 0 h 406"/>
                <a:gd name="T35" fmla="*/ 386 w 386"/>
                <a:gd name="T36" fmla="*/ 406 h 4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6" h="406">
                  <a:moveTo>
                    <a:pt x="93" y="151"/>
                  </a:moveTo>
                  <a:cubicBezTo>
                    <a:pt x="68" y="178"/>
                    <a:pt x="44" y="193"/>
                    <a:pt x="29" y="219"/>
                  </a:cubicBezTo>
                  <a:cubicBezTo>
                    <a:pt x="14" y="245"/>
                    <a:pt x="2" y="278"/>
                    <a:pt x="1" y="307"/>
                  </a:cubicBezTo>
                  <a:cubicBezTo>
                    <a:pt x="0" y="336"/>
                    <a:pt x="4" y="384"/>
                    <a:pt x="25" y="395"/>
                  </a:cubicBezTo>
                  <a:cubicBezTo>
                    <a:pt x="46" y="406"/>
                    <a:pt x="84" y="404"/>
                    <a:pt x="129" y="375"/>
                  </a:cubicBezTo>
                  <a:cubicBezTo>
                    <a:pt x="174" y="346"/>
                    <a:pt x="252" y="266"/>
                    <a:pt x="293" y="219"/>
                  </a:cubicBezTo>
                  <a:cubicBezTo>
                    <a:pt x="334" y="172"/>
                    <a:pt x="360" y="128"/>
                    <a:pt x="373" y="95"/>
                  </a:cubicBezTo>
                  <a:cubicBezTo>
                    <a:pt x="386" y="62"/>
                    <a:pt x="384" y="34"/>
                    <a:pt x="373" y="19"/>
                  </a:cubicBezTo>
                  <a:cubicBezTo>
                    <a:pt x="362" y="4"/>
                    <a:pt x="338" y="0"/>
                    <a:pt x="305" y="7"/>
                  </a:cubicBezTo>
                  <a:cubicBezTo>
                    <a:pt x="272" y="14"/>
                    <a:pt x="212" y="34"/>
                    <a:pt x="177" y="59"/>
                  </a:cubicBezTo>
                  <a:cubicBezTo>
                    <a:pt x="142" y="84"/>
                    <a:pt x="118" y="124"/>
                    <a:pt x="93" y="151"/>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6" name="Freeform 29" descr="宽上对角线"/>
            <p:cNvSpPr>
              <a:spLocks/>
            </p:cNvSpPr>
            <p:nvPr/>
          </p:nvSpPr>
          <p:spPr bwMode="auto">
            <a:xfrm flipH="1">
              <a:off x="384" y="1325"/>
              <a:ext cx="481" cy="785"/>
            </a:xfrm>
            <a:custGeom>
              <a:avLst/>
              <a:gdLst>
                <a:gd name="T0" fmla="*/ 721 w 319"/>
                <a:gd name="T1" fmla="*/ 408 h 450"/>
                <a:gd name="T2" fmla="*/ 446 w 319"/>
                <a:gd name="T3" fmla="*/ 49 h 450"/>
                <a:gd name="T4" fmla="*/ 184 w 319"/>
                <a:gd name="T5" fmla="*/ 113 h 450"/>
                <a:gd name="T6" fmla="*/ 35 w 319"/>
                <a:gd name="T7" fmla="*/ 387 h 450"/>
                <a:gd name="T8" fmla="*/ 21 w 319"/>
                <a:gd name="T9" fmla="*/ 834 h 450"/>
                <a:gd name="T10" fmla="*/ 157 w 319"/>
                <a:gd name="T11" fmla="*/ 1471 h 450"/>
                <a:gd name="T12" fmla="*/ 418 w 319"/>
                <a:gd name="T13" fmla="*/ 1982 h 450"/>
                <a:gd name="T14" fmla="*/ 748 w 319"/>
                <a:gd name="T15" fmla="*/ 2297 h 450"/>
                <a:gd name="T16" fmla="*/ 1021 w 319"/>
                <a:gd name="T17" fmla="*/ 2318 h 450"/>
                <a:gd name="T18" fmla="*/ 1089 w 319"/>
                <a:gd name="T19" fmla="*/ 1875 h 450"/>
                <a:gd name="T20" fmla="*/ 1034 w 319"/>
                <a:gd name="T21" fmla="*/ 1279 h 450"/>
                <a:gd name="T22" fmla="*/ 885 w 319"/>
                <a:gd name="T23" fmla="*/ 707 h 450"/>
                <a:gd name="T24" fmla="*/ 721 w 319"/>
                <a:gd name="T25" fmla="*/ 408 h 4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9"/>
                <a:gd name="T40" fmla="*/ 0 h 450"/>
                <a:gd name="T41" fmla="*/ 319 w 319"/>
                <a:gd name="T42" fmla="*/ 450 h 4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9" h="450">
                  <a:moveTo>
                    <a:pt x="210" y="77"/>
                  </a:moveTo>
                  <a:cubicBezTo>
                    <a:pt x="189" y="56"/>
                    <a:pt x="156" y="18"/>
                    <a:pt x="130" y="9"/>
                  </a:cubicBezTo>
                  <a:cubicBezTo>
                    <a:pt x="104" y="0"/>
                    <a:pt x="74" y="10"/>
                    <a:pt x="54" y="21"/>
                  </a:cubicBezTo>
                  <a:cubicBezTo>
                    <a:pt x="34" y="32"/>
                    <a:pt x="18" y="50"/>
                    <a:pt x="10" y="73"/>
                  </a:cubicBezTo>
                  <a:cubicBezTo>
                    <a:pt x="2" y="96"/>
                    <a:pt x="0" y="123"/>
                    <a:pt x="6" y="157"/>
                  </a:cubicBezTo>
                  <a:cubicBezTo>
                    <a:pt x="12" y="191"/>
                    <a:pt x="27" y="241"/>
                    <a:pt x="46" y="277"/>
                  </a:cubicBezTo>
                  <a:cubicBezTo>
                    <a:pt x="65" y="313"/>
                    <a:pt x="93" y="347"/>
                    <a:pt x="122" y="373"/>
                  </a:cubicBezTo>
                  <a:cubicBezTo>
                    <a:pt x="151" y="399"/>
                    <a:pt x="189" y="422"/>
                    <a:pt x="218" y="433"/>
                  </a:cubicBezTo>
                  <a:cubicBezTo>
                    <a:pt x="247" y="444"/>
                    <a:pt x="281" y="450"/>
                    <a:pt x="298" y="437"/>
                  </a:cubicBezTo>
                  <a:cubicBezTo>
                    <a:pt x="315" y="424"/>
                    <a:pt x="317" y="386"/>
                    <a:pt x="318" y="353"/>
                  </a:cubicBezTo>
                  <a:cubicBezTo>
                    <a:pt x="319" y="320"/>
                    <a:pt x="312" y="278"/>
                    <a:pt x="302" y="241"/>
                  </a:cubicBezTo>
                  <a:cubicBezTo>
                    <a:pt x="292" y="204"/>
                    <a:pt x="272" y="160"/>
                    <a:pt x="258" y="133"/>
                  </a:cubicBezTo>
                  <a:cubicBezTo>
                    <a:pt x="244" y="106"/>
                    <a:pt x="231" y="98"/>
                    <a:pt x="210" y="77"/>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7" name="Freeform 30" descr="宽上对角线"/>
            <p:cNvSpPr>
              <a:spLocks/>
            </p:cNvSpPr>
            <p:nvPr/>
          </p:nvSpPr>
          <p:spPr bwMode="auto">
            <a:xfrm flipH="1">
              <a:off x="752" y="2295"/>
              <a:ext cx="699" cy="499"/>
            </a:xfrm>
            <a:custGeom>
              <a:avLst/>
              <a:gdLst>
                <a:gd name="T0" fmla="*/ 586 w 463"/>
                <a:gd name="T1" fmla="*/ 191 h 287"/>
                <a:gd name="T2" fmla="*/ 143 w 463"/>
                <a:gd name="T3" fmla="*/ 504 h 287"/>
                <a:gd name="T4" fmla="*/ 35 w 463"/>
                <a:gd name="T5" fmla="*/ 1094 h 287"/>
                <a:gd name="T6" fmla="*/ 350 w 463"/>
                <a:gd name="T7" fmla="*/ 1429 h 287"/>
                <a:gd name="T8" fmla="*/ 916 w 463"/>
                <a:gd name="T9" fmla="*/ 1452 h 287"/>
                <a:gd name="T10" fmla="*/ 1480 w 463"/>
                <a:gd name="T11" fmla="*/ 1094 h 287"/>
                <a:gd name="T12" fmla="*/ 1588 w 463"/>
                <a:gd name="T13" fmla="*/ 527 h 287"/>
                <a:gd name="T14" fmla="*/ 1466 w 463"/>
                <a:gd name="T15" fmla="*/ 106 h 287"/>
                <a:gd name="T16" fmla="*/ 1162 w 463"/>
                <a:gd name="T17" fmla="*/ 0 h 287"/>
                <a:gd name="T18" fmla="*/ 764 w 463"/>
                <a:gd name="T19" fmla="*/ 106 h 287"/>
                <a:gd name="T20" fmla="*/ 586 w 463"/>
                <a:gd name="T21" fmla="*/ 191 h 2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63"/>
                <a:gd name="T34" fmla="*/ 0 h 287"/>
                <a:gd name="T35" fmla="*/ 463 w 463"/>
                <a:gd name="T36" fmla="*/ 287 h 2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63" h="287">
                  <a:moveTo>
                    <a:pt x="170" y="36"/>
                  </a:moveTo>
                  <a:cubicBezTo>
                    <a:pt x="140" y="49"/>
                    <a:pt x="69" y="67"/>
                    <a:pt x="42" y="96"/>
                  </a:cubicBezTo>
                  <a:cubicBezTo>
                    <a:pt x="15" y="125"/>
                    <a:pt x="0" y="179"/>
                    <a:pt x="10" y="208"/>
                  </a:cubicBezTo>
                  <a:cubicBezTo>
                    <a:pt x="20" y="237"/>
                    <a:pt x="60" y="261"/>
                    <a:pt x="102" y="272"/>
                  </a:cubicBezTo>
                  <a:cubicBezTo>
                    <a:pt x="144" y="283"/>
                    <a:pt x="211" y="287"/>
                    <a:pt x="266" y="276"/>
                  </a:cubicBezTo>
                  <a:cubicBezTo>
                    <a:pt x="321" y="265"/>
                    <a:pt x="397" y="237"/>
                    <a:pt x="430" y="208"/>
                  </a:cubicBezTo>
                  <a:cubicBezTo>
                    <a:pt x="463" y="179"/>
                    <a:pt x="463" y="131"/>
                    <a:pt x="462" y="100"/>
                  </a:cubicBezTo>
                  <a:cubicBezTo>
                    <a:pt x="461" y="69"/>
                    <a:pt x="447" y="37"/>
                    <a:pt x="426" y="20"/>
                  </a:cubicBezTo>
                  <a:cubicBezTo>
                    <a:pt x="405" y="3"/>
                    <a:pt x="372" y="0"/>
                    <a:pt x="338" y="0"/>
                  </a:cubicBezTo>
                  <a:cubicBezTo>
                    <a:pt x="304" y="0"/>
                    <a:pt x="252" y="13"/>
                    <a:pt x="222" y="20"/>
                  </a:cubicBezTo>
                  <a:cubicBezTo>
                    <a:pt x="192" y="27"/>
                    <a:pt x="200" y="23"/>
                    <a:pt x="170" y="36"/>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8" name="Freeform 31" descr="宽上对角线"/>
            <p:cNvSpPr>
              <a:spLocks/>
            </p:cNvSpPr>
            <p:nvPr/>
          </p:nvSpPr>
          <p:spPr bwMode="auto">
            <a:xfrm rot="7616966" flipH="1">
              <a:off x="1232" y="2523"/>
              <a:ext cx="686" cy="526"/>
            </a:xfrm>
            <a:custGeom>
              <a:avLst/>
              <a:gdLst>
                <a:gd name="T0" fmla="*/ 835 w 443"/>
                <a:gd name="T1" fmla="*/ 322 h 310"/>
                <a:gd name="T2" fmla="*/ 285 w 443"/>
                <a:gd name="T3" fmla="*/ 575 h 310"/>
                <a:gd name="T4" fmla="*/ 19 w 443"/>
                <a:gd name="T5" fmla="*/ 947 h 310"/>
                <a:gd name="T6" fmla="*/ 167 w 443"/>
                <a:gd name="T7" fmla="*/ 1458 h 310"/>
                <a:gd name="T8" fmla="*/ 582 w 443"/>
                <a:gd name="T9" fmla="*/ 1298 h 310"/>
                <a:gd name="T10" fmla="*/ 1206 w 443"/>
                <a:gd name="T11" fmla="*/ 1008 h 310"/>
                <a:gd name="T12" fmla="*/ 1592 w 443"/>
                <a:gd name="T13" fmla="*/ 458 h 310"/>
                <a:gd name="T14" fmla="*/ 1518 w 443"/>
                <a:gd name="T15" fmla="*/ 70 h 310"/>
                <a:gd name="T16" fmla="*/ 1341 w 443"/>
                <a:gd name="T17" fmla="*/ 49 h 310"/>
                <a:gd name="T18" fmla="*/ 983 w 443"/>
                <a:gd name="T19" fmla="*/ 224 h 310"/>
                <a:gd name="T20" fmla="*/ 835 w 443"/>
                <a:gd name="T21" fmla="*/ 322 h 3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3"/>
                <a:gd name="T34" fmla="*/ 0 h 310"/>
                <a:gd name="T35" fmla="*/ 443 w 443"/>
                <a:gd name="T36" fmla="*/ 310 h 31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3" h="310">
                  <a:moveTo>
                    <a:pt x="225" y="66"/>
                  </a:moveTo>
                  <a:cubicBezTo>
                    <a:pt x="194" y="78"/>
                    <a:pt x="114" y="97"/>
                    <a:pt x="77" y="118"/>
                  </a:cubicBezTo>
                  <a:cubicBezTo>
                    <a:pt x="40" y="139"/>
                    <a:pt x="10" y="164"/>
                    <a:pt x="5" y="194"/>
                  </a:cubicBezTo>
                  <a:cubicBezTo>
                    <a:pt x="0" y="224"/>
                    <a:pt x="20" y="286"/>
                    <a:pt x="45" y="298"/>
                  </a:cubicBezTo>
                  <a:cubicBezTo>
                    <a:pt x="70" y="310"/>
                    <a:pt x="110" y="281"/>
                    <a:pt x="157" y="266"/>
                  </a:cubicBezTo>
                  <a:cubicBezTo>
                    <a:pt x="204" y="251"/>
                    <a:pt x="280" y="235"/>
                    <a:pt x="325" y="206"/>
                  </a:cubicBezTo>
                  <a:cubicBezTo>
                    <a:pt x="370" y="177"/>
                    <a:pt x="415" y="126"/>
                    <a:pt x="429" y="94"/>
                  </a:cubicBezTo>
                  <a:cubicBezTo>
                    <a:pt x="443" y="62"/>
                    <a:pt x="420" y="28"/>
                    <a:pt x="409" y="14"/>
                  </a:cubicBezTo>
                  <a:cubicBezTo>
                    <a:pt x="398" y="0"/>
                    <a:pt x="385" y="5"/>
                    <a:pt x="361" y="10"/>
                  </a:cubicBezTo>
                  <a:cubicBezTo>
                    <a:pt x="337" y="15"/>
                    <a:pt x="290" y="34"/>
                    <a:pt x="265" y="46"/>
                  </a:cubicBezTo>
                  <a:cubicBezTo>
                    <a:pt x="240" y="58"/>
                    <a:pt x="256" y="54"/>
                    <a:pt x="225" y="66"/>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39" name="Freeform 32" descr="宽上对角线"/>
            <p:cNvSpPr>
              <a:spLocks/>
            </p:cNvSpPr>
            <p:nvPr/>
          </p:nvSpPr>
          <p:spPr bwMode="auto">
            <a:xfrm flipH="1">
              <a:off x="451" y="1914"/>
              <a:ext cx="737" cy="451"/>
            </a:xfrm>
            <a:custGeom>
              <a:avLst/>
              <a:gdLst>
                <a:gd name="T0" fmla="*/ 2169 w 367"/>
                <a:gd name="T1" fmla="*/ 475 h 221"/>
                <a:gd name="T2" fmla="*/ 1197 w 367"/>
                <a:gd name="T3" fmla="*/ 100 h 221"/>
                <a:gd name="T4" fmla="*/ 388 w 367"/>
                <a:gd name="T5" fmla="*/ 100 h 221"/>
                <a:gd name="T6" fmla="*/ 0 w 367"/>
                <a:gd name="T7" fmla="*/ 712 h 221"/>
                <a:gd name="T8" fmla="*/ 388 w 367"/>
                <a:gd name="T9" fmla="*/ 1496 h 221"/>
                <a:gd name="T10" fmla="*/ 1360 w 367"/>
                <a:gd name="T11" fmla="*/ 1600 h 221"/>
                <a:gd name="T12" fmla="*/ 2235 w 367"/>
                <a:gd name="T13" fmla="*/ 1804 h 221"/>
                <a:gd name="T14" fmla="*/ 2787 w 367"/>
                <a:gd name="T15" fmla="*/ 1765 h 221"/>
                <a:gd name="T16" fmla="*/ 2948 w 367"/>
                <a:gd name="T17" fmla="*/ 1120 h 221"/>
                <a:gd name="T18" fmla="*/ 2625 w 367"/>
                <a:gd name="T19" fmla="*/ 645 h 221"/>
                <a:gd name="T20" fmla="*/ 2169 w 367"/>
                <a:gd name="T21" fmla="*/ 475 h 2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7"/>
                <a:gd name="T34" fmla="*/ 0 h 221"/>
                <a:gd name="T35" fmla="*/ 367 w 367"/>
                <a:gd name="T36" fmla="*/ 221 h 2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7" h="221">
                  <a:moveTo>
                    <a:pt x="268" y="56"/>
                  </a:moveTo>
                  <a:cubicBezTo>
                    <a:pt x="239" y="45"/>
                    <a:pt x="185" y="19"/>
                    <a:pt x="148" y="12"/>
                  </a:cubicBezTo>
                  <a:cubicBezTo>
                    <a:pt x="111" y="5"/>
                    <a:pt x="73" y="0"/>
                    <a:pt x="48" y="12"/>
                  </a:cubicBezTo>
                  <a:cubicBezTo>
                    <a:pt x="23" y="24"/>
                    <a:pt x="0" y="57"/>
                    <a:pt x="0" y="84"/>
                  </a:cubicBezTo>
                  <a:cubicBezTo>
                    <a:pt x="0" y="111"/>
                    <a:pt x="20" y="159"/>
                    <a:pt x="48" y="176"/>
                  </a:cubicBezTo>
                  <a:cubicBezTo>
                    <a:pt x="76" y="193"/>
                    <a:pt x="130" y="182"/>
                    <a:pt x="168" y="188"/>
                  </a:cubicBezTo>
                  <a:cubicBezTo>
                    <a:pt x="206" y="194"/>
                    <a:pt x="247" y="209"/>
                    <a:pt x="276" y="212"/>
                  </a:cubicBezTo>
                  <a:cubicBezTo>
                    <a:pt x="305" y="215"/>
                    <a:pt x="329" y="221"/>
                    <a:pt x="344" y="208"/>
                  </a:cubicBezTo>
                  <a:cubicBezTo>
                    <a:pt x="359" y="195"/>
                    <a:pt x="367" y="154"/>
                    <a:pt x="364" y="132"/>
                  </a:cubicBezTo>
                  <a:cubicBezTo>
                    <a:pt x="361" y="110"/>
                    <a:pt x="341" y="88"/>
                    <a:pt x="324" y="76"/>
                  </a:cubicBezTo>
                  <a:cubicBezTo>
                    <a:pt x="307" y="64"/>
                    <a:pt x="297" y="67"/>
                    <a:pt x="268" y="56"/>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40" name="Freeform 33" descr="宽上对角线"/>
            <p:cNvSpPr>
              <a:spLocks/>
            </p:cNvSpPr>
            <p:nvPr/>
          </p:nvSpPr>
          <p:spPr bwMode="auto">
            <a:xfrm flipH="1">
              <a:off x="384" y="2347"/>
              <a:ext cx="418" cy="564"/>
            </a:xfrm>
            <a:custGeom>
              <a:avLst/>
              <a:gdLst>
                <a:gd name="T0" fmla="*/ 948 w 277"/>
                <a:gd name="T1" fmla="*/ 205 h 324"/>
                <a:gd name="T2" fmla="*/ 770 w 277"/>
                <a:gd name="T3" fmla="*/ 16 h 324"/>
                <a:gd name="T4" fmla="*/ 412 w 277"/>
                <a:gd name="T5" fmla="*/ 99 h 324"/>
                <a:gd name="T6" fmla="*/ 122 w 277"/>
                <a:gd name="T7" fmla="*/ 332 h 324"/>
                <a:gd name="T8" fmla="*/ 0 w 277"/>
                <a:gd name="T9" fmla="*/ 1198 h 324"/>
                <a:gd name="T10" fmla="*/ 122 w 277"/>
                <a:gd name="T11" fmla="*/ 1661 h 324"/>
                <a:gd name="T12" fmla="*/ 493 w 277"/>
                <a:gd name="T13" fmla="*/ 1494 h 324"/>
                <a:gd name="T14" fmla="*/ 742 w 277"/>
                <a:gd name="T15" fmla="*/ 733 h 324"/>
                <a:gd name="T16" fmla="*/ 948 w 277"/>
                <a:gd name="T17" fmla="*/ 205 h 3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7"/>
                <a:gd name="T28" fmla="*/ 0 h 324"/>
                <a:gd name="T29" fmla="*/ 277 w 277"/>
                <a:gd name="T30" fmla="*/ 324 h 3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7" h="324">
                  <a:moveTo>
                    <a:pt x="276" y="39"/>
                  </a:moveTo>
                  <a:cubicBezTo>
                    <a:pt x="277" y="16"/>
                    <a:pt x="250" y="6"/>
                    <a:pt x="224" y="3"/>
                  </a:cubicBezTo>
                  <a:cubicBezTo>
                    <a:pt x="198" y="0"/>
                    <a:pt x="151" y="9"/>
                    <a:pt x="120" y="19"/>
                  </a:cubicBezTo>
                  <a:cubicBezTo>
                    <a:pt x="89" y="29"/>
                    <a:pt x="56" y="28"/>
                    <a:pt x="36" y="63"/>
                  </a:cubicBezTo>
                  <a:cubicBezTo>
                    <a:pt x="16" y="98"/>
                    <a:pt x="0" y="185"/>
                    <a:pt x="0" y="227"/>
                  </a:cubicBezTo>
                  <a:cubicBezTo>
                    <a:pt x="0" y="269"/>
                    <a:pt x="12" y="306"/>
                    <a:pt x="36" y="315"/>
                  </a:cubicBezTo>
                  <a:cubicBezTo>
                    <a:pt x="60" y="324"/>
                    <a:pt x="114" y="312"/>
                    <a:pt x="144" y="283"/>
                  </a:cubicBezTo>
                  <a:cubicBezTo>
                    <a:pt x="174" y="254"/>
                    <a:pt x="193" y="180"/>
                    <a:pt x="216" y="139"/>
                  </a:cubicBezTo>
                  <a:cubicBezTo>
                    <a:pt x="239" y="98"/>
                    <a:pt x="275" y="62"/>
                    <a:pt x="276" y="39"/>
                  </a:cubicBezTo>
                  <a:close/>
                </a:path>
              </a:pathLst>
            </a:custGeom>
            <a:pattFill prst="wdUpDiag">
              <a:fgClr>
                <a:schemeClr val="tx1"/>
              </a:fgClr>
              <a:bgClr>
                <a:srgbClr val="C89058"/>
              </a:bgClr>
            </a:pattFill>
            <a:ln w="19050">
              <a:solidFill>
                <a:schemeClr val="tx1"/>
              </a:solidFill>
              <a:round/>
              <a:headEnd/>
              <a:tailEnd/>
            </a:ln>
          </p:spPr>
          <p:txBody>
            <a:bodyPr/>
            <a:lstStyle/>
            <a:p>
              <a:endParaRPr lang="zh-CN" altLang="en-US"/>
            </a:p>
          </p:txBody>
        </p:sp>
        <p:sp>
          <p:nvSpPr>
            <p:cNvPr id="41" name="Freeform 34"/>
            <p:cNvSpPr>
              <a:spLocks/>
            </p:cNvSpPr>
            <p:nvPr/>
          </p:nvSpPr>
          <p:spPr bwMode="auto">
            <a:xfrm flipH="1">
              <a:off x="1524" y="1535"/>
              <a:ext cx="163" cy="349"/>
            </a:xfrm>
            <a:custGeom>
              <a:avLst/>
              <a:gdLst>
                <a:gd name="T0" fmla="*/ 358 w 108"/>
                <a:gd name="T1" fmla="*/ 414 h 200"/>
                <a:gd name="T2" fmla="*/ 305 w 108"/>
                <a:gd name="T3" fmla="*/ 94 h 200"/>
                <a:gd name="T4" fmla="*/ 142 w 108"/>
                <a:gd name="T5" fmla="*/ 16 h 200"/>
                <a:gd name="T6" fmla="*/ 18 w 108"/>
                <a:gd name="T7" fmla="*/ 192 h 200"/>
                <a:gd name="T8" fmla="*/ 39 w 108"/>
                <a:gd name="T9" fmla="*/ 592 h 200"/>
                <a:gd name="T10" fmla="*/ 89 w 108"/>
                <a:gd name="T11" fmla="*/ 941 h 200"/>
                <a:gd name="T12" fmla="*/ 214 w 108"/>
                <a:gd name="T13" fmla="*/ 1005 h 200"/>
                <a:gd name="T14" fmla="*/ 346 w 108"/>
                <a:gd name="T15" fmla="*/ 606 h 200"/>
                <a:gd name="T16" fmla="*/ 358 w 108"/>
                <a:gd name="T17" fmla="*/ 414 h 2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8"/>
                <a:gd name="T28" fmla="*/ 0 h 200"/>
                <a:gd name="T29" fmla="*/ 108 w 108"/>
                <a:gd name="T30" fmla="*/ 200 h 2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8" h="200">
                  <a:moveTo>
                    <a:pt x="104" y="78"/>
                  </a:moveTo>
                  <a:cubicBezTo>
                    <a:pt x="102" y="62"/>
                    <a:pt x="100" y="31"/>
                    <a:pt x="89" y="18"/>
                  </a:cubicBezTo>
                  <a:cubicBezTo>
                    <a:pt x="78" y="5"/>
                    <a:pt x="55" y="0"/>
                    <a:pt x="41" y="3"/>
                  </a:cubicBezTo>
                  <a:cubicBezTo>
                    <a:pt x="27" y="6"/>
                    <a:pt x="10" y="18"/>
                    <a:pt x="5" y="36"/>
                  </a:cubicBezTo>
                  <a:cubicBezTo>
                    <a:pt x="0" y="54"/>
                    <a:pt x="8" y="88"/>
                    <a:pt x="11" y="111"/>
                  </a:cubicBezTo>
                  <a:cubicBezTo>
                    <a:pt x="14" y="134"/>
                    <a:pt x="17" y="164"/>
                    <a:pt x="26" y="177"/>
                  </a:cubicBezTo>
                  <a:cubicBezTo>
                    <a:pt x="35" y="190"/>
                    <a:pt x="49" y="200"/>
                    <a:pt x="62" y="189"/>
                  </a:cubicBezTo>
                  <a:cubicBezTo>
                    <a:pt x="75" y="178"/>
                    <a:pt x="94" y="134"/>
                    <a:pt x="101" y="114"/>
                  </a:cubicBezTo>
                  <a:cubicBezTo>
                    <a:pt x="108" y="94"/>
                    <a:pt x="106" y="94"/>
                    <a:pt x="104" y="78"/>
                  </a:cubicBezTo>
                  <a:close/>
                </a:path>
              </a:pathLst>
            </a:custGeom>
            <a:solidFill>
              <a:schemeClr val="bg1"/>
            </a:solidFill>
            <a:ln w="9525">
              <a:solidFill>
                <a:schemeClr val="tx1"/>
              </a:solidFill>
              <a:round/>
              <a:headEnd/>
              <a:tailEnd/>
            </a:ln>
          </p:spPr>
          <p:txBody>
            <a:bodyPr/>
            <a:lstStyle/>
            <a:p>
              <a:endParaRPr lang="zh-CN" altLang="en-US"/>
            </a:p>
          </p:txBody>
        </p:sp>
        <p:sp>
          <p:nvSpPr>
            <p:cNvPr id="42" name="Freeform 35"/>
            <p:cNvSpPr>
              <a:spLocks/>
            </p:cNvSpPr>
            <p:nvPr/>
          </p:nvSpPr>
          <p:spPr bwMode="auto">
            <a:xfrm flipH="1">
              <a:off x="754" y="1232"/>
              <a:ext cx="113" cy="184"/>
            </a:xfrm>
            <a:custGeom>
              <a:avLst/>
              <a:gdLst>
                <a:gd name="T0" fmla="*/ 35 w 75"/>
                <a:gd name="T1" fmla="*/ 549 h 106"/>
                <a:gd name="T2" fmla="*/ 229 w 75"/>
                <a:gd name="T3" fmla="*/ 328 h 106"/>
                <a:gd name="T4" fmla="*/ 197 w 75"/>
                <a:gd name="T5" fmla="*/ 49 h 106"/>
                <a:gd name="T6" fmla="*/ 75 w 75"/>
                <a:gd name="T7" fmla="*/ 49 h 106"/>
                <a:gd name="T8" fmla="*/ 26 w 75"/>
                <a:gd name="T9" fmla="*/ 205 h 106"/>
                <a:gd name="T10" fmla="*/ 14 w 75"/>
                <a:gd name="T11" fmla="*/ 361 h 106"/>
                <a:gd name="T12" fmla="*/ 35 w 75"/>
                <a:gd name="T13" fmla="*/ 549 h 106"/>
                <a:gd name="T14" fmla="*/ 0 60000 65536"/>
                <a:gd name="T15" fmla="*/ 0 60000 65536"/>
                <a:gd name="T16" fmla="*/ 0 60000 65536"/>
                <a:gd name="T17" fmla="*/ 0 60000 65536"/>
                <a:gd name="T18" fmla="*/ 0 60000 65536"/>
                <a:gd name="T19" fmla="*/ 0 60000 65536"/>
                <a:gd name="T20" fmla="*/ 0 60000 65536"/>
                <a:gd name="T21" fmla="*/ 0 w 75"/>
                <a:gd name="T22" fmla="*/ 0 h 106"/>
                <a:gd name="T23" fmla="*/ 75 w 75"/>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 h="106">
                  <a:moveTo>
                    <a:pt x="10" y="105"/>
                  </a:moveTo>
                  <a:cubicBezTo>
                    <a:pt x="20" y="104"/>
                    <a:pt x="59" y="79"/>
                    <a:pt x="67" y="63"/>
                  </a:cubicBezTo>
                  <a:cubicBezTo>
                    <a:pt x="75" y="47"/>
                    <a:pt x="66" y="18"/>
                    <a:pt x="58" y="9"/>
                  </a:cubicBezTo>
                  <a:cubicBezTo>
                    <a:pt x="50" y="0"/>
                    <a:pt x="30" y="4"/>
                    <a:pt x="22" y="9"/>
                  </a:cubicBezTo>
                  <a:cubicBezTo>
                    <a:pt x="14" y="14"/>
                    <a:pt x="10" y="29"/>
                    <a:pt x="7" y="39"/>
                  </a:cubicBezTo>
                  <a:cubicBezTo>
                    <a:pt x="4" y="49"/>
                    <a:pt x="5" y="58"/>
                    <a:pt x="4" y="69"/>
                  </a:cubicBezTo>
                  <a:cubicBezTo>
                    <a:pt x="3" y="80"/>
                    <a:pt x="0" y="106"/>
                    <a:pt x="10" y="105"/>
                  </a:cubicBezTo>
                  <a:close/>
                </a:path>
              </a:pathLst>
            </a:custGeom>
            <a:solidFill>
              <a:schemeClr val="bg1"/>
            </a:solidFill>
            <a:ln w="9525">
              <a:solidFill>
                <a:schemeClr val="tx1"/>
              </a:solidFill>
              <a:round/>
              <a:headEnd/>
              <a:tailEnd/>
            </a:ln>
          </p:spPr>
          <p:txBody>
            <a:bodyPr/>
            <a:lstStyle/>
            <a:p>
              <a:endParaRPr lang="zh-CN" altLang="en-US"/>
            </a:p>
          </p:txBody>
        </p:sp>
      </p:grpSp>
      <p:sp>
        <p:nvSpPr>
          <p:cNvPr id="24" name="Text Box 43"/>
          <p:cNvSpPr txBox="1">
            <a:spLocks noChangeArrowheads="1"/>
          </p:cNvSpPr>
          <p:nvPr/>
        </p:nvSpPr>
        <p:spPr bwMode="auto">
          <a:xfrm>
            <a:off x="3434316" y="1435487"/>
            <a:ext cx="5265306" cy="2308324"/>
          </a:xfrm>
          <a:prstGeom prst="rect">
            <a:avLst/>
          </a:prstGeom>
          <a:noFill/>
          <a:ln>
            <a:noFill/>
          </a:ln>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6088" indent="-446088" eaLnBrk="1" hangingPunct="1">
              <a:lnSpc>
                <a:spcPct val="200000"/>
              </a:lnSpc>
              <a:spcBef>
                <a:spcPct val="0"/>
              </a:spcBef>
              <a:spcAft>
                <a:spcPct val="0"/>
              </a:spcAft>
              <a:buClr>
                <a:srgbClr val="C00000"/>
              </a:buClr>
              <a:buSzPct val="130000"/>
              <a:buFont typeface="Wingdings" panose="05000000000000000000" pitchFamily="2" charset="2"/>
              <a:buChar char="F"/>
            </a:pPr>
            <a:r>
              <a:rPr lang="zh-CN" altLang="en-US" sz="2400" b="1" dirty="0">
                <a:solidFill>
                  <a:srgbClr val="C00000"/>
                </a:solidFill>
                <a:latin typeface="幼圆" pitchFamily="49" charset="-122"/>
                <a:ea typeface="幼圆" pitchFamily="49" charset="-122"/>
              </a:rPr>
              <a:t>饱和</a:t>
            </a:r>
            <a:r>
              <a:rPr lang="zh-CN" altLang="en-US" sz="2400" b="1" dirty="0" smtClean="0">
                <a:solidFill>
                  <a:srgbClr val="C00000"/>
                </a:solidFill>
                <a:latin typeface="幼圆" pitchFamily="49" charset="-122"/>
                <a:ea typeface="幼圆" pitchFamily="49" charset="-122"/>
              </a:rPr>
              <a:t>土</a:t>
            </a:r>
            <a:r>
              <a:rPr lang="zh-CN" altLang="en-US" sz="2400" b="1" dirty="0">
                <a:solidFill>
                  <a:srgbClr val="000066"/>
                </a:solidFill>
                <a:latin typeface="幼圆" pitchFamily="49" charset="-122"/>
                <a:ea typeface="幼圆" pitchFamily="49" charset="-122"/>
              </a:rPr>
              <a:t>：土体孔隙完全被水充满</a:t>
            </a:r>
          </a:p>
          <a:p>
            <a:pPr marL="446088" indent="-446088" eaLnBrk="1" hangingPunct="1">
              <a:lnSpc>
                <a:spcPct val="200000"/>
              </a:lnSpc>
              <a:spcBef>
                <a:spcPct val="0"/>
              </a:spcBef>
              <a:spcAft>
                <a:spcPct val="0"/>
              </a:spcAft>
              <a:buClr>
                <a:srgbClr val="C00000"/>
              </a:buClr>
              <a:buSzPct val="130000"/>
              <a:buFont typeface="Wingdings" panose="05000000000000000000" pitchFamily="2" charset="2"/>
              <a:buChar char="F"/>
            </a:pPr>
            <a:r>
              <a:rPr lang="zh-CN" altLang="en-US" sz="2400" b="1" dirty="0">
                <a:solidFill>
                  <a:srgbClr val="C00000"/>
                </a:solidFill>
                <a:latin typeface="幼圆" pitchFamily="49" charset="-122"/>
                <a:ea typeface="幼圆" pitchFamily="49" charset="-122"/>
              </a:rPr>
              <a:t>非饱和土</a:t>
            </a:r>
            <a:r>
              <a:rPr lang="zh-CN" altLang="en-US" sz="2400" b="1" dirty="0">
                <a:solidFill>
                  <a:srgbClr val="000066"/>
                </a:solidFill>
                <a:latin typeface="幼圆" pitchFamily="49" charset="-122"/>
                <a:ea typeface="幼圆" pitchFamily="49" charset="-122"/>
              </a:rPr>
              <a:t>：孔隙中水和气均存在</a:t>
            </a:r>
          </a:p>
          <a:p>
            <a:pPr marL="446088" indent="-446088" eaLnBrk="1" hangingPunct="1">
              <a:lnSpc>
                <a:spcPct val="200000"/>
              </a:lnSpc>
              <a:spcBef>
                <a:spcPct val="0"/>
              </a:spcBef>
              <a:spcAft>
                <a:spcPct val="0"/>
              </a:spcAft>
              <a:buClr>
                <a:srgbClr val="C00000"/>
              </a:buClr>
              <a:buSzPct val="130000"/>
              <a:buFont typeface="Wingdings" panose="05000000000000000000" pitchFamily="2" charset="2"/>
              <a:buChar char="F"/>
            </a:pPr>
            <a:r>
              <a:rPr lang="zh-CN" altLang="en-US" sz="2400" b="1" dirty="0" smtClean="0">
                <a:solidFill>
                  <a:srgbClr val="C00000"/>
                </a:solidFill>
                <a:latin typeface="幼圆" pitchFamily="49" charset="-122"/>
                <a:ea typeface="幼圆" pitchFamily="49" charset="-122"/>
              </a:rPr>
              <a:t>干土</a:t>
            </a:r>
            <a:r>
              <a:rPr lang="zh-CN" altLang="en-US" sz="2400" b="1" dirty="0" smtClean="0">
                <a:solidFill>
                  <a:srgbClr val="000066"/>
                </a:solidFill>
                <a:latin typeface="幼圆" pitchFamily="49" charset="-122"/>
                <a:ea typeface="幼圆" pitchFamily="49" charset="-122"/>
              </a:rPr>
              <a:t>：</a:t>
            </a:r>
            <a:r>
              <a:rPr lang="zh-CN" altLang="en-US" sz="2400" b="1" dirty="0">
                <a:solidFill>
                  <a:srgbClr val="000066"/>
                </a:solidFill>
                <a:latin typeface="幼圆" pitchFamily="49" charset="-122"/>
                <a:ea typeface="幼圆" pitchFamily="49" charset="-122"/>
              </a:rPr>
              <a:t>土体孔隙完全被气</a:t>
            </a:r>
            <a:r>
              <a:rPr lang="zh-CN" altLang="en-US" sz="2400" b="1" dirty="0" smtClean="0">
                <a:solidFill>
                  <a:srgbClr val="000066"/>
                </a:solidFill>
                <a:latin typeface="幼圆" pitchFamily="49" charset="-122"/>
                <a:ea typeface="幼圆" pitchFamily="49" charset="-122"/>
              </a:rPr>
              <a:t>充满</a:t>
            </a:r>
            <a:endParaRPr lang="zh-CN" altLang="en-US" sz="2400" b="1" dirty="0">
              <a:solidFill>
                <a:srgbClr val="000066"/>
              </a:solidFill>
              <a:latin typeface="幼圆" pitchFamily="49" charset="-122"/>
              <a:ea typeface="幼圆" pitchFamily="49" charset="-122"/>
            </a:endParaRPr>
          </a:p>
        </p:txBody>
      </p:sp>
    </p:spTree>
    <p:extLst>
      <p:ext uri="{BB962C8B-B14F-4D97-AF65-F5344CB8AC3E}">
        <p14:creationId xmlns:p14="http://schemas.microsoft.com/office/powerpoint/2010/main" val="33374892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left)">
                                      <p:cBhvr>
                                        <p:cTn id="7" dur="1000"/>
                                        <p:tgtEl>
                                          <p:spTgt spid="24">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animEffect transition="in" filter="wipe(left)">
                                      <p:cBhvr>
                                        <p:cTn id="11" dur="1000"/>
                                        <p:tgtEl>
                                          <p:spTgt spid="24">
                                            <p:txEl>
                                              <p:pRg st="1" end="1"/>
                                            </p:txEl>
                                          </p:spTgt>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24">
                                            <p:txEl>
                                              <p:pRg st="2" end="2"/>
                                            </p:txEl>
                                          </p:spTgt>
                                        </p:tgtEl>
                                        <p:attrNameLst>
                                          <p:attrName>style.visibility</p:attrName>
                                        </p:attrNameLst>
                                      </p:cBhvr>
                                      <p:to>
                                        <p:strVal val="visible"/>
                                      </p:to>
                                    </p:set>
                                    <p:animEffect transition="in" filter="wipe(left)">
                                      <p:cBhvr>
                                        <p:cTn id="15" dur="1000"/>
                                        <p:tgtEl>
                                          <p:spTgt spid="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41"/>
          <p:cNvSpPr txBox="1">
            <a:spLocks noChangeArrowheads="1"/>
          </p:cNvSpPr>
          <p:nvPr/>
        </p:nvSpPr>
        <p:spPr bwMode="auto">
          <a:xfrm>
            <a:off x="2726457" y="5720751"/>
            <a:ext cx="39766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4000" b="1" dirty="0" smtClean="0">
                <a:solidFill>
                  <a:srgbClr val="000066"/>
                </a:solidFill>
                <a:ea typeface="黑体" pitchFamily="2" charset="-122"/>
              </a:rPr>
              <a:t>固体颗粒三要素</a:t>
            </a:r>
            <a:endParaRPr kumimoji="1" lang="en-US" altLang="zh-CN" sz="4000" b="1" dirty="0">
              <a:solidFill>
                <a:srgbClr val="000066"/>
              </a:solidFill>
              <a:ea typeface="黑体" pitchFamily="2" charset="-122"/>
            </a:endParaRPr>
          </a:p>
        </p:txBody>
      </p:sp>
      <p:sp>
        <p:nvSpPr>
          <p:cNvPr id="15"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6" name="Text Box 4"/>
          <p:cNvSpPr txBox="1">
            <a:spLocks noChangeArrowheads="1"/>
          </p:cNvSpPr>
          <p:nvPr/>
        </p:nvSpPr>
        <p:spPr bwMode="auto">
          <a:xfrm>
            <a:off x="1659715" y="2615604"/>
            <a:ext cx="12922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3200" b="1">
                <a:solidFill>
                  <a:srgbClr val="000066"/>
                </a:solidFill>
                <a:latin typeface="黑体" pitchFamily="2" charset="-122"/>
                <a:ea typeface="黑体" pitchFamily="2" charset="-122"/>
              </a:rPr>
              <a:t>固体</a:t>
            </a:r>
            <a:br>
              <a:rPr kumimoji="1" lang="zh-CN" altLang="en-US" sz="3200" b="1">
                <a:solidFill>
                  <a:srgbClr val="000066"/>
                </a:solidFill>
                <a:latin typeface="黑体" pitchFamily="2" charset="-122"/>
                <a:ea typeface="黑体" pitchFamily="2" charset="-122"/>
              </a:rPr>
            </a:br>
            <a:r>
              <a:rPr kumimoji="1" lang="zh-CN" altLang="en-US" sz="3200" b="1">
                <a:solidFill>
                  <a:srgbClr val="000066"/>
                </a:solidFill>
                <a:latin typeface="黑体" pitchFamily="2" charset="-122"/>
                <a:ea typeface="黑体" pitchFamily="2" charset="-122"/>
              </a:rPr>
              <a:t>颗粒</a:t>
            </a:r>
            <a:endParaRPr kumimoji="1" lang="en-US" altLang="zh-CN" sz="3200" b="1">
              <a:solidFill>
                <a:srgbClr val="000066"/>
              </a:solidFill>
              <a:latin typeface="黑体" pitchFamily="2" charset="-122"/>
              <a:ea typeface="黑体" pitchFamily="2" charset="-122"/>
            </a:endParaRPr>
          </a:p>
        </p:txBody>
      </p:sp>
      <p:sp>
        <p:nvSpPr>
          <p:cNvPr id="17" name="Arc 20"/>
          <p:cNvSpPr>
            <a:spLocks/>
          </p:cNvSpPr>
          <p:nvPr/>
        </p:nvSpPr>
        <p:spPr bwMode="auto">
          <a:xfrm>
            <a:off x="1826403" y="1451967"/>
            <a:ext cx="1568450" cy="3227387"/>
          </a:xfrm>
          <a:custGeom>
            <a:avLst/>
            <a:gdLst>
              <a:gd name="T0" fmla="*/ 2147483647 w 22460"/>
              <a:gd name="T1" fmla="*/ 0 h 43200"/>
              <a:gd name="T2" fmla="*/ 0 w 22460"/>
              <a:gd name="T3" fmla="*/ 2147483647 h 43200"/>
              <a:gd name="T4" fmla="*/ 2147483647 w 22460"/>
              <a:gd name="T5" fmla="*/ 2147483647 h 43200"/>
              <a:gd name="T6" fmla="*/ 0 60000 65536"/>
              <a:gd name="T7" fmla="*/ 0 60000 65536"/>
              <a:gd name="T8" fmla="*/ 0 60000 65536"/>
              <a:gd name="T9" fmla="*/ 0 w 22460"/>
              <a:gd name="T10" fmla="*/ 0 h 43200"/>
              <a:gd name="T11" fmla="*/ 22460 w 22460"/>
              <a:gd name="T12" fmla="*/ 43200 h 43200"/>
            </a:gdLst>
            <a:ahLst/>
            <a:cxnLst>
              <a:cxn ang="T6">
                <a:pos x="T0" y="T1"/>
              </a:cxn>
              <a:cxn ang="T7">
                <a:pos x="T2" y="T3"/>
              </a:cxn>
              <a:cxn ang="T8">
                <a:pos x="T4" y="T5"/>
              </a:cxn>
            </a:cxnLst>
            <a:rect l="T9" t="T10" r="T11" b="T12"/>
            <a:pathLst>
              <a:path w="22460" h="43200" fill="none" extrusionOk="0">
                <a:moveTo>
                  <a:pt x="859" y="0"/>
                </a:moveTo>
                <a:cubicBezTo>
                  <a:pt x="12789" y="0"/>
                  <a:pt x="22460" y="9670"/>
                  <a:pt x="22460" y="21600"/>
                </a:cubicBezTo>
                <a:cubicBezTo>
                  <a:pt x="22460" y="33529"/>
                  <a:pt x="12789" y="43200"/>
                  <a:pt x="860" y="43200"/>
                </a:cubicBezTo>
                <a:cubicBezTo>
                  <a:pt x="573" y="43200"/>
                  <a:pt x="286" y="43194"/>
                  <a:pt x="0" y="43182"/>
                </a:cubicBezTo>
              </a:path>
              <a:path w="22460" h="43200" stroke="0" extrusionOk="0">
                <a:moveTo>
                  <a:pt x="859" y="0"/>
                </a:moveTo>
                <a:cubicBezTo>
                  <a:pt x="12789" y="0"/>
                  <a:pt x="22460" y="9670"/>
                  <a:pt x="22460" y="21600"/>
                </a:cubicBezTo>
                <a:cubicBezTo>
                  <a:pt x="22460" y="33529"/>
                  <a:pt x="12789" y="43200"/>
                  <a:pt x="860" y="43200"/>
                </a:cubicBezTo>
                <a:cubicBezTo>
                  <a:pt x="573" y="43200"/>
                  <a:pt x="286" y="43194"/>
                  <a:pt x="0" y="43182"/>
                </a:cubicBezTo>
                <a:lnTo>
                  <a:pt x="86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18" name="Text Box 6"/>
          <p:cNvSpPr txBox="1">
            <a:spLocks noChangeArrowheads="1"/>
          </p:cNvSpPr>
          <p:nvPr/>
        </p:nvSpPr>
        <p:spPr bwMode="auto">
          <a:xfrm>
            <a:off x="2973937" y="1155441"/>
            <a:ext cx="4660237" cy="104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61950" indent="-361950" eaLnBrk="1" hangingPunct="1">
              <a:lnSpc>
                <a:spcPct val="125000"/>
              </a:lnSpc>
              <a:spcBef>
                <a:spcPct val="10000"/>
              </a:spcBef>
              <a:spcAft>
                <a:spcPct val="10000"/>
              </a:spcAft>
              <a:buClr>
                <a:srgbClr val="A50021"/>
              </a:buClr>
              <a:buSzPct val="100000"/>
              <a:buFont typeface="+mj-lt"/>
              <a:buAutoNum type="arabicPeriod"/>
            </a:pPr>
            <a:r>
              <a:rPr lang="zh-CN" altLang="en-US" sz="2600" b="1" dirty="0">
                <a:solidFill>
                  <a:srgbClr val="C00000"/>
                </a:solidFill>
                <a:ea typeface="幼圆" pitchFamily="49" charset="-122"/>
              </a:rPr>
              <a:t>粒径级配</a:t>
            </a:r>
            <a:r>
              <a:rPr lang="zh-CN" altLang="en-US" sz="2600" b="1" dirty="0" smtClean="0">
                <a:solidFill>
                  <a:srgbClr val="000066"/>
                </a:solidFill>
                <a:ea typeface="幼圆" pitchFamily="49" charset="-122"/>
              </a:rPr>
              <a:t>：颗粒</a:t>
            </a:r>
            <a:r>
              <a:rPr lang="zh-CN" altLang="en-US" sz="2600" b="1" dirty="0">
                <a:solidFill>
                  <a:srgbClr val="000066"/>
                </a:solidFill>
                <a:ea typeface="幼圆" pitchFamily="49" charset="-122"/>
              </a:rPr>
              <a:t>粒径的大小</a:t>
            </a:r>
            <a:r>
              <a:rPr lang="zh-CN" altLang="en-US" sz="2600" b="1" dirty="0" smtClean="0">
                <a:solidFill>
                  <a:srgbClr val="000066"/>
                </a:solidFill>
                <a:ea typeface="幼圆" pitchFamily="49" charset="-122"/>
              </a:rPr>
              <a:t>及在</a:t>
            </a:r>
            <a:r>
              <a:rPr lang="zh-CN" altLang="en-US" sz="2600" b="1" dirty="0">
                <a:solidFill>
                  <a:srgbClr val="000066"/>
                </a:solidFill>
                <a:ea typeface="幼圆" pitchFamily="49" charset="-122"/>
              </a:rPr>
              <a:t>土中所占的质量</a:t>
            </a:r>
            <a:r>
              <a:rPr lang="zh-CN" altLang="en-US" sz="2600" b="1" dirty="0" smtClean="0">
                <a:solidFill>
                  <a:srgbClr val="000066"/>
                </a:solidFill>
                <a:ea typeface="幼圆" pitchFamily="49" charset="-122"/>
              </a:rPr>
              <a:t>百分比</a:t>
            </a:r>
            <a:endParaRPr lang="en-US" altLang="zh-CN" sz="2600" b="1" dirty="0" smtClean="0">
              <a:solidFill>
                <a:srgbClr val="000066"/>
              </a:solidFill>
              <a:ea typeface="幼圆" pitchFamily="49" charset="-122"/>
            </a:endParaRPr>
          </a:p>
        </p:txBody>
      </p:sp>
      <p:sp>
        <p:nvSpPr>
          <p:cNvPr id="19" name="Text Box 6"/>
          <p:cNvSpPr txBox="1">
            <a:spLocks noChangeArrowheads="1"/>
          </p:cNvSpPr>
          <p:nvPr/>
        </p:nvSpPr>
        <p:spPr bwMode="auto">
          <a:xfrm>
            <a:off x="3105075" y="4327338"/>
            <a:ext cx="4837446" cy="592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25000"/>
              </a:lnSpc>
              <a:spcBef>
                <a:spcPct val="10000"/>
              </a:spcBef>
              <a:spcAft>
                <a:spcPct val="10000"/>
              </a:spcAft>
              <a:buClr>
                <a:srgbClr val="A50021"/>
              </a:buClr>
              <a:buSzPct val="100000"/>
              <a:buFont typeface="+mj-lt"/>
              <a:buAutoNum type="arabicPeriod" startAt="3"/>
            </a:pPr>
            <a:r>
              <a:rPr lang="zh-CN" altLang="en-US" sz="2600" b="1" dirty="0" smtClean="0">
                <a:solidFill>
                  <a:srgbClr val="C00000"/>
                </a:solidFill>
                <a:ea typeface="幼圆" pitchFamily="49" charset="-122"/>
              </a:rPr>
              <a:t>颗粒形状</a:t>
            </a:r>
            <a:r>
              <a:rPr lang="zh-CN" altLang="en-US" sz="2600" b="1" dirty="0">
                <a:solidFill>
                  <a:srgbClr val="000066"/>
                </a:solidFill>
                <a:ea typeface="幼圆" pitchFamily="49" charset="-122"/>
              </a:rPr>
              <a:t>：固体颗粒</a:t>
            </a:r>
            <a:r>
              <a:rPr lang="zh-CN" altLang="en-US" sz="2600" b="1" dirty="0" smtClean="0">
                <a:solidFill>
                  <a:srgbClr val="000066"/>
                </a:solidFill>
                <a:ea typeface="幼圆" pitchFamily="49" charset="-122"/>
              </a:rPr>
              <a:t>的</a:t>
            </a:r>
            <a:r>
              <a:rPr lang="zh-CN" altLang="en-US" sz="2600" b="1" dirty="0">
                <a:solidFill>
                  <a:srgbClr val="000066"/>
                </a:solidFill>
                <a:ea typeface="幼圆" pitchFamily="49" charset="-122"/>
              </a:rPr>
              <a:t>形状</a:t>
            </a:r>
          </a:p>
        </p:txBody>
      </p:sp>
      <p:sp>
        <p:nvSpPr>
          <p:cNvPr id="20" name="Text Box 6"/>
          <p:cNvSpPr txBox="1">
            <a:spLocks noChangeArrowheads="1"/>
          </p:cNvSpPr>
          <p:nvPr/>
        </p:nvSpPr>
        <p:spPr bwMode="auto">
          <a:xfrm>
            <a:off x="3502024" y="2746634"/>
            <a:ext cx="4660237" cy="104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25000"/>
              </a:lnSpc>
              <a:spcBef>
                <a:spcPct val="10000"/>
              </a:spcBef>
              <a:spcAft>
                <a:spcPct val="10000"/>
              </a:spcAft>
              <a:buClr>
                <a:srgbClr val="A50021"/>
              </a:buClr>
              <a:buSzPct val="100000"/>
              <a:buFont typeface="+mj-lt"/>
              <a:buAutoNum type="arabicPeriod" startAt="2"/>
            </a:pPr>
            <a:r>
              <a:rPr lang="zh-CN" altLang="en-US" sz="2600" b="1" dirty="0" smtClean="0">
                <a:solidFill>
                  <a:srgbClr val="C00000"/>
                </a:solidFill>
                <a:ea typeface="幼圆" pitchFamily="49" charset="-122"/>
              </a:rPr>
              <a:t>矿物</a:t>
            </a:r>
            <a:r>
              <a:rPr lang="zh-CN" altLang="en-US" sz="2600" b="1" dirty="0">
                <a:solidFill>
                  <a:srgbClr val="C00000"/>
                </a:solidFill>
                <a:ea typeface="幼圆" pitchFamily="49" charset="-122"/>
              </a:rPr>
              <a:t>成分</a:t>
            </a:r>
            <a:r>
              <a:rPr lang="zh-CN" altLang="en-US" sz="2600" b="1" dirty="0" smtClean="0">
                <a:solidFill>
                  <a:srgbClr val="000066"/>
                </a:solidFill>
                <a:ea typeface="幼圆" pitchFamily="49" charset="-122"/>
              </a:rPr>
              <a:t>：固体颗粒的矿物组成和成分</a:t>
            </a:r>
            <a:endParaRPr lang="en-US" altLang="zh-CN" sz="2600" b="1" dirty="0">
              <a:solidFill>
                <a:srgbClr val="000066"/>
              </a:solidFill>
              <a:ea typeface="幼圆"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1000"/>
                                  </p:stCondLst>
                                  <p:childTnLst>
                                    <p:set>
                                      <p:cBhvr>
                                        <p:cTn id="10" dur="1" fill="hold">
                                          <p:stCondLst>
                                            <p:cond delay="0"/>
                                          </p:stCondLst>
                                        </p:cTn>
                                        <p:tgtEl>
                                          <p:spTgt spid="19">
                                            <p:txEl>
                                              <p:pRg st="0" end="0"/>
                                            </p:txEl>
                                          </p:spTgt>
                                        </p:tgtEl>
                                        <p:attrNameLst>
                                          <p:attrName>style.visibility</p:attrName>
                                        </p:attrNameLst>
                                      </p:cBhvr>
                                      <p:to>
                                        <p:strVal val="visible"/>
                                      </p:to>
                                    </p:set>
                                    <p:anim calcmode="lin" valueType="num">
                                      <p:cBhvr additive="base">
                                        <p:cTn id="11" dur="500" fill="hold"/>
                                        <p:tgtEl>
                                          <p:spTgt spid="19">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9">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500"/>
                                  </p:stCondLst>
                                  <p:childTnLst>
                                    <p:set>
                                      <p:cBhvr>
                                        <p:cTn id="14" dur="1" fill="hold">
                                          <p:stCondLst>
                                            <p:cond delay="0"/>
                                          </p:stCondLst>
                                        </p:cTn>
                                        <p:tgtEl>
                                          <p:spTgt spid="20">
                                            <p:txEl>
                                              <p:pRg st="0" end="0"/>
                                            </p:txEl>
                                          </p:spTgt>
                                        </p:tgtEl>
                                        <p:attrNameLst>
                                          <p:attrName>style.visibility</p:attrName>
                                        </p:attrNameLst>
                                      </p:cBhvr>
                                      <p:to>
                                        <p:strVal val="visible"/>
                                      </p:to>
                                    </p:set>
                                    <p:anim calcmode="lin" valueType="num">
                                      <p:cBhvr additive="base">
                                        <p:cTn id="15" dur="500" fill="hold"/>
                                        <p:tgtEl>
                                          <p:spTgt spid="20">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dvAuto="500"/>
      <p:bldP spid="19" grpId="0" build="p" advAuto="500"/>
      <p:bldP spid="20" grpId="0" build="p" advAuto="50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Text Box 18"/>
          <p:cNvSpPr txBox="1">
            <a:spLocks noChangeArrowheads="1"/>
          </p:cNvSpPr>
          <p:nvPr/>
        </p:nvSpPr>
        <p:spPr bwMode="auto">
          <a:xfrm>
            <a:off x="2481206" y="5730546"/>
            <a:ext cx="54181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固体颗粒 </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颗粒大小</a:t>
            </a:r>
            <a:endParaRPr kumimoji="1" lang="en-US" altLang="zh-CN" sz="4000" b="1" dirty="0">
              <a:solidFill>
                <a:srgbClr val="000066"/>
              </a:solidFill>
              <a:latin typeface="黑体" pitchFamily="2" charset="-122"/>
              <a:ea typeface="黑体" pitchFamily="2" charset="-122"/>
            </a:endParaRPr>
          </a:p>
        </p:txBody>
      </p:sp>
      <p:sp>
        <p:nvSpPr>
          <p:cNvPr id="50"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51" name="Rectangle 15"/>
          <p:cNvSpPr>
            <a:spLocks noChangeArrowheads="1"/>
          </p:cNvSpPr>
          <p:nvPr/>
        </p:nvSpPr>
        <p:spPr bwMode="auto">
          <a:xfrm>
            <a:off x="1221687" y="2173959"/>
            <a:ext cx="1398587" cy="1909762"/>
          </a:xfrm>
          <a:prstGeom prst="rect">
            <a:avLst/>
          </a:prstGeom>
          <a:solidFill>
            <a:srgbClr val="C87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2" name="Rectangle 16"/>
          <p:cNvSpPr>
            <a:spLocks noChangeArrowheads="1"/>
          </p:cNvSpPr>
          <p:nvPr/>
        </p:nvSpPr>
        <p:spPr bwMode="auto">
          <a:xfrm>
            <a:off x="5663512" y="2169196"/>
            <a:ext cx="3101975" cy="1909763"/>
          </a:xfrm>
          <a:prstGeom prst="rect">
            <a:avLst/>
          </a:prstGeom>
          <a:solidFill>
            <a:srgbClr val="99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3" name="Rectangle 17"/>
          <p:cNvSpPr>
            <a:spLocks noChangeArrowheads="1"/>
          </p:cNvSpPr>
          <p:nvPr/>
        </p:nvSpPr>
        <p:spPr bwMode="auto">
          <a:xfrm>
            <a:off x="2612337" y="2169196"/>
            <a:ext cx="3054350" cy="1909763"/>
          </a:xfrm>
          <a:prstGeom prst="rect">
            <a:avLst/>
          </a:prstGeom>
          <a:solidFill>
            <a:srgbClr val="0066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4" name="Text Box 19"/>
          <p:cNvSpPr txBox="1">
            <a:spLocks noChangeArrowheads="1"/>
          </p:cNvSpPr>
          <p:nvPr/>
        </p:nvSpPr>
        <p:spPr bwMode="auto">
          <a:xfrm>
            <a:off x="681487" y="610677"/>
            <a:ext cx="8220973" cy="1126462"/>
          </a:xfrm>
          <a:prstGeom prst="rect">
            <a:avLst/>
          </a:prstGeom>
          <a:noFill/>
          <a:ln>
            <a:noFill/>
          </a:ln>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Clr>
                <a:schemeClr val="bg1"/>
              </a:buClr>
            </a:pPr>
            <a:r>
              <a:rPr kumimoji="1" lang="zh-CN" altLang="en-US" sz="2800" b="1" dirty="0" smtClean="0">
                <a:solidFill>
                  <a:srgbClr val="C00000"/>
                </a:solidFill>
                <a:latin typeface="幼圆" pitchFamily="49" charset="-122"/>
                <a:ea typeface="幼圆" pitchFamily="49" charset="-122"/>
              </a:rPr>
              <a:t>粒组：</a:t>
            </a:r>
            <a:r>
              <a:rPr kumimoji="1" lang="zh-CN" altLang="en-US" sz="2400" b="1" dirty="0" smtClean="0">
                <a:solidFill>
                  <a:srgbClr val="000066"/>
                </a:solidFill>
                <a:latin typeface="幼圆" pitchFamily="49" charset="-122"/>
                <a:ea typeface="幼圆" pitchFamily="49" charset="-122"/>
              </a:rPr>
              <a:t>按</a:t>
            </a:r>
            <a:r>
              <a:rPr kumimoji="1" lang="zh-CN" altLang="en-US" sz="2400" b="1" dirty="0">
                <a:solidFill>
                  <a:srgbClr val="000066"/>
                </a:solidFill>
                <a:latin typeface="幼圆" pitchFamily="49" charset="-122"/>
                <a:ea typeface="幼圆" pitchFamily="49" charset="-122"/>
              </a:rPr>
              <a:t>粗细进行分组，将粒径接近的归成</a:t>
            </a:r>
            <a:r>
              <a:rPr kumimoji="1" lang="zh-CN" altLang="en-US" sz="2400" b="1" dirty="0" smtClean="0">
                <a:solidFill>
                  <a:srgbClr val="000066"/>
                </a:solidFill>
                <a:latin typeface="幼圆" pitchFamily="49" charset="-122"/>
                <a:ea typeface="幼圆" pitchFamily="49" charset="-122"/>
              </a:rPr>
              <a:t>一类</a:t>
            </a:r>
            <a:endParaRPr kumimoji="1" lang="en-US" altLang="zh-CN" sz="2400" b="1" dirty="0" smtClean="0">
              <a:solidFill>
                <a:srgbClr val="000066"/>
              </a:solidFill>
              <a:latin typeface="幼圆" pitchFamily="49" charset="-122"/>
              <a:ea typeface="幼圆" pitchFamily="49" charset="-122"/>
            </a:endParaRPr>
          </a:p>
          <a:p>
            <a:pPr eaLnBrk="1" hangingPunct="1">
              <a:lnSpc>
                <a:spcPct val="120000"/>
              </a:lnSpc>
              <a:spcBef>
                <a:spcPct val="0"/>
              </a:spcBef>
              <a:spcAft>
                <a:spcPct val="0"/>
              </a:spcAft>
              <a:buClr>
                <a:schemeClr val="bg1"/>
              </a:buClr>
            </a:pPr>
            <a:r>
              <a:rPr kumimoji="1" lang="zh-CN" altLang="en-US" sz="2800" b="1" dirty="0">
                <a:solidFill>
                  <a:srgbClr val="C00000"/>
                </a:solidFill>
                <a:latin typeface="幼圆" pitchFamily="49" charset="-122"/>
                <a:ea typeface="幼圆" pitchFamily="49" charset="-122"/>
              </a:rPr>
              <a:t>界限</a:t>
            </a:r>
            <a:r>
              <a:rPr kumimoji="1" lang="zh-CN" altLang="en-US" sz="2800" b="1" dirty="0" smtClean="0">
                <a:solidFill>
                  <a:srgbClr val="C00000"/>
                </a:solidFill>
                <a:latin typeface="幼圆" pitchFamily="49" charset="-122"/>
                <a:ea typeface="幼圆" pitchFamily="49" charset="-122"/>
              </a:rPr>
              <a:t>粒径</a:t>
            </a:r>
            <a:r>
              <a:rPr kumimoji="1" lang="en-US" altLang="zh-CN" sz="2800" b="1" dirty="0" smtClean="0">
                <a:solidFill>
                  <a:srgbClr val="C00000"/>
                </a:solidFill>
                <a:latin typeface="幼圆" pitchFamily="49" charset="-122"/>
                <a:ea typeface="幼圆" pitchFamily="49" charset="-122"/>
              </a:rPr>
              <a:t>:</a:t>
            </a:r>
            <a:endParaRPr kumimoji="1" lang="zh-CN" altLang="en-US" sz="2800" b="1" dirty="0">
              <a:solidFill>
                <a:srgbClr val="C00000"/>
              </a:solidFill>
              <a:latin typeface="幼圆" pitchFamily="49" charset="-122"/>
              <a:ea typeface="幼圆" pitchFamily="49" charset="-122"/>
            </a:endParaRPr>
          </a:p>
        </p:txBody>
      </p:sp>
      <p:sp>
        <p:nvSpPr>
          <p:cNvPr id="55" name="Line 20"/>
          <p:cNvSpPr>
            <a:spLocks noChangeShapeType="1"/>
          </p:cNvSpPr>
          <p:nvPr/>
        </p:nvSpPr>
        <p:spPr bwMode="auto">
          <a:xfrm flipV="1">
            <a:off x="1196287" y="3234409"/>
            <a:ext cx="7550150" cy="1587"/>
          </a:xfrm>
          <a:prstGeom prst="line">
            <a:avLst/>
          </a:prstGeom>
          <a:noFill/>
          <a:ln w="38100">
            <a:solidFill>
              <a:schemeClr val="bg1"/>
            </a:solidFill>
            <a:miter lim="800000"/>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 name="Text Box 21"/>
          <p:cNvSpPr txBox="1">
            <a:spLocks noChangeArrowheads="1"/>
          </p:cNvSpPr>
          <p:nvPr/>
        </p:nvSpPr>
        <p:spPr bwMode="auto">
          <a:xfrm>
            <a:off x="446987" y="2902621"/>
            <a:ext cx="8953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80000"/>
              </a:lnSpc>
              <a:spcBef>
                <a:spcPct val="0"/>
              </a:spcBef>
              <a:spcAft>
                <a:spcPct val="0"/>
              </a:spcAft>
            </a:pPr>
            <a:r>
              <a:rPr kumimoji="1" lang="en-US" altLang="zh-CN" sz="2800" b="1">
                <a:solidFill>
                  <a:srgbClr val="000066"/>
                </a:solidFill>
                <a:ea typeface="幼圆" pitchFamily="49" charset="-122"/>
              </a:rPr>
              <a:t>d</a:t>
            </a:r>
          </a:p>
          <a:p>
            <a:pPr algn="ctr" eaLnBrk="1" hangingPunct="1">
              <a:lnSpc>
                <a:spcPct val="80000"/>
              </a:lnSpc>
              <a:spcBef>
                <a:spcPct val="0"/>
              </a:spcBef>
              <a:spcAft>
                <a:spcPct val="0"/>
              </a:spcAft>
            </a:pPr>
            <a:r>
              <a:rPr kumimoji="1" lang="en-US" altLang="zh-CN" sz="2400" b="1">
                <a:solidFill>
                  <a:srgbClr val="000066"/>
                </a:solidFill>
              </a:rPr>
              <a:t>(mm)</a:t>
            </a:r>
          </a:p>
        </p:txBody>
      </p:sp>
      <p:sp>
        <p:nvSpPr>
          <p:cNvPr id="57" name="Text Box 22"/>
          <p:cNvSpPr txBox="1">
            <a:spLocks noChangeArrowheads="1"/>
          </p:cNvSpPr>
          <p:nvPr/>
        </p:nvSpPr>
        <p:spPr bwMode="auto">
          <a:xfrm>
            <a:off x="2933012" y="2618459"/>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chemeClr val="bg1"/>
                </a:solidFill>
                <a:ea typeface="幼圆" pitchFamily="49" charset="-122"/>
              </a:rPr>
              <a:t>砾石</a:t>
            </a:r>
          </a:p>
        </p:txBody>
      </p:sp>
      <p:sp>
        <p:nvSpPr>
          <p:cNvPr id="58" name="Text Box 23"/>
          <p:cNvSpPr txBox="1">
            <a:spLocks noChangeArrowheads="1"/>
          </p:cNvSpPr>
          <p:nvPr/>
        </p:nvSpPr>
        <p:spPr bwMode="auto">
          <a:xfrm>
            <a:off x="4457012" y="2618459"/>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chemeClr val="bg1"/>
                </a:solidFill>
                <a:ea typeface="幼圆" pitchFamily="49" charset="-122"/>
              </a:rPr>
              <a:t>砂粒</a:t>
            </a:r>
          </a:p>
        </p:txBody>
      </p:sp>
      <p:sp>
        <p:nvSpPr>
          <p:cNvPr id="59" name="Text Box 24"/>
          <p:cNvSpPr txBox="1">
            <a:spLocks noChangeArrowheads="1"/>
          </p:cNvSpPr>
          <p:nvPr/>
        </p:nvSpPr>
        <p:spPr bwMode="auto">
          <a:xfrm>
            <a:off x="5787337" y="2618459"/>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chemeClr val="bg1"/>
                </a:solidFill>
                <a:ea typeface="幼圆" pitchFamily="49" charset="-122"/>
              </a:rPr>
              <a:t>粉粒</a:t>
            </a:r>
          </a:p>
        </p:txBody>
      </p:sp>
      <p:sp>
        <p:nvSpPr>
          <p:cNvPr id="60" name="Text Box 25"/>
          <p:cNvSpPr txBox="1">
            <a:spLocks noChangeArrowheads="1"/>
          </p:cNvSpPr>
          <p:nvPr/>
        </p:nvSpPr>
        <p:spPr bwMode="auto">
          <a:xfrm>
            <a:off x="6977962" y="2632746"/>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dirty="0" smtClean="0">
                <a:solidFill>
                  <a:schemeClr val="bg1"/>
                </a:solidFill>
                <a:ea typeface="幼圆" pitchFamily="49" charset="-122"/>
              </a:rPr>
              <a:t>黏粒</a:t>
            </a:r>
            <a:endParaRPr kumimoji="1" lang="zh-CN" altLang="en-US" sz="2400" b="1" dirty="0">
              <a:solidFill>
                <a:schemeClr val="bg1"/>
              </a:solidFill>
              <a:ea typeface="幼圆" pitchFamily="49" charset="-122"/>
            </a:endParaRPr>
          </a:p>
        </p:txBody>
      </p:sp>
      <p:sp>
        <p:nvSpPr>
          <p:cNvPr id="61" name="Text Box 26"/>
          <p:cNvSpPr txBox="1">
            <a:spLocks noChangeArrowheads="1"/>
          </p:cNvSpPr>
          <p:nvPr/>
        </p:nvSpPr>
        <p:spPr bwMode="auto">
          <a:xfrm>
            <a:off x="7987612" y="2618459"/>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chemeClr val="bg1"/>
                </a:solidFill>
                <a:ea typeface="幼圆" pitchFamily="49" charset="-122"/>
              </a:rPr>
              <a:t>胶粒</a:t>
            </a:r>
          </a:p>
        </p:txBody>
      </p:sp>
      <p:sp>
        <p:nvSpPr>
          <p:cNvPr id="62" name="Line 27"/>
          <p:cNvSpPr>
            <a:spLocks noChangeShapeType="1"/>
          </p:cNvSpPr>
          <p:nvPr/>
        </p:nvSpPr>
        <p:spPr bwMode="auto">
          <a:xfrm>
            <a:off x="4152212" y="2962946"/>
            <a:ext cx="0" cy="609600"/>
          </a:xfrm>
          <a:prstGeom prst="line">
            <a:avLst/>
          </a:prstGeom>
          <a:noFill/>
          <a:ln w="38100">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 name="Line 28"/>
          <p:cNvSpPr>
            <a:spLocks noChangeShapeType="1"/>
          </p:cNvSpPr>
          <p:nvPr/>
        </p:nvSpPr>
        <p:spPr bwMode="auto">
          <a:xfrm>
            <a:off x="6781112" y="2940721"/>
            <a:ext cx="0" cy="609600"/>
          </a:xfrm>
          <a:prstGeom prst="line">
            <a:avLst/>
          </a:prstGeom>
          <a:noFill/>
          <a:ln w="38100">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4" name="Line 29"/>
          <p:cNvSpPr>
            <a:spLocks noChangeShapeType="1"/>
          </p:cNvSpPr>
          <p:nvPr/>
        </p:nvSpPr>
        <p:spPr bwMode="auto">
          <a:xfrm>
            <a:off x="7943162" y="2940721"/>
            <a:ext cx="0" cy="609600"/>
          </a:xfrm>
          <a:prstGeom prst="line">
            <a:avLst/>
          </a:prstGeom>
          <a:noFill/>
          <a:ln w="38100">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5" name="Text Box 30"/>
          <p:cNvSpPr txBox="1">
            <a:spLocks noChangeArrowheads="1"/>
          </p:cNvSpPr>
          <p:nvPr/>
        </p:nvSpPr>
        <p:spPr bwMode="auto">
          <a:xfrm>
            <a:off x="2313887" y="3715421"/>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chemeClr val="bg1"/>
                </a:solidFill>
                <a:ea typeface="幼圆" pitchFamily="49" charset="-122"/>
              </a:rPr>
              <a:t>60</a:t>
            </a:r>
          </a:p>
        </p:txBody>
      </p:sp>
      <p:sp>
        <p:nvSpPr>
          <p:cNvPr id="66" name="Text Box 31"/>
          <p:cNvSpPr txBox="1">
            <a:spLocks noChangeArrowheads="1"/>
          </p:cNvSpPr>
          <p:nvPr/>
        </p:nvSpPr>
        <p:spPr bwMode="auto">
          <a:xfrm>
            <a:off x="3985524" y="3620171"/>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chemeClr val="bg1"/>
                </a:solidFill>
                <a:ea typeface="幼圆" pitchFamily="49" charset="-122"/>
              </a:rPr>
              <a:t>2</a:t>
            </a:r>
          </a:p>
        </p:txBody>
      </p:sp>
      <p:sp>
        <p:nvSpPr>
          <p:cNvPr id="67" name="Text Box 32"/>
          <p:cNvSpPr txBox="1">
            <a:spLocks noChangeArrowheads="1"/>
          </p:cNvSpPr>
          <p:nvPr/>
        </p:nvSpPr>
        <p:spPr bwMode="auto">
          <a:xfrm>
            <a:off x="5372999" y="3701134"/>
            <a:ext cx="86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chemeClr val="bg1"/>
                </a:solidFill>
                <a:ea typeface="幼圆" pitchFamily="49" charset="-122"/>
              </a:rPr>
              <a:t>0.0</a:t>
            </a:r>
            <a:r>
              <a:rPr kumimoji="1" lang="en-US" altLang="zh-CN" sz="2400" b="1">
                <a:solidFill>
                  <a:schemeClr val="bg1"/>
                </a:solidFill>
                <a:ea typeface="幼圆" pitchFamily="49" charset="-122"/>
              </a:rPr>
              <a:t>75</a:t>
            </a:r>
          </a:p>
        </p:txBody>
      </p:sp>
      <p:sp>
        <p:nvSpPr>
          <p:cNvPr id="68" name="Text Box 33"/>
          <p:cNvSpPr txBox="1">
            <a:spLocks noChangeArrowheads="1"/>
          </p:cNvSpPr>
          <p:nvPr/>
        </p:nvSpPr>
        <p:spPr bwMode="auto">
          <a:xfrm>
            <a:off x="6457262" y="3596359"/>
            <a:ext cx="86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chemeClr val="bg1"/>
                </a:solidFill>
                <a:ea typeface="幼圆" pitchFamily="49" charset="-122"/>
              </a:rPr>
              <a:t>0.005</a:t>
            </a:r>
          </a:p>
        </p:txBody>
      </p:sp>
      <p:sp>
        <p:nvSpPr>
          <p:cNvPr id="69" name="Text Box 34"/>
          <p:cNvSpPr txBox="1">
            <a:spLocks noChangeArrowheads="1"/>
          </p:cNvSpPr>
          <p:nvPr/>
        </p:nvSpPr>
        <p:spPr bwMode="auto">
          <a:xfrm>
            <a:off x="7628837" y="3610646"/>
            <a:ext cx="86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chemeClr val="bg1"/>
                </a:solidFill>
                <a:ea typeface="幼圆" pitchFamily="49" charset="-122"/>
              </a:rPr>
              <a:t>0.002</a:t>
            </a:r>
          </a:p>
        </p:txBody>
      </p:sp>
      <p:sp>
        <p:nvSpPr>
          <p:cNvPr id="70" name="Line 35"/>
          <p:cNvSpPr>
            <a:spLocks noChangeShapeType="1"/>
          </p:cNvSpPr>
          <p:nvPr/>
        </p:nvSpPr>
        <p:spPr bwMode="auto">
          <a:xfrm>
            <a:off x="5660337" y="2178721"/>
            <a:ext cx="0" cy="1574800"/>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 name="Line 36"/>
          <p:cNvSpPr>
            <a:spLocks noChangeShapeType="1"/>
          </p:cNvSpPr>
          <p:nvPr/>
        </p:nvSpPr>
        <p:spPr bwMode="auto">
          <a:xfrm>
            <a:off x="5123762" y="3093121"/>
            <a:ext cx="0" cy="457200"/>
          </a:xfrm>
          <a:prstGeom prst="line">
            <a:avLst/>
          </a:prstGeom>
          <a:noFill/>
          <a:ln w="2222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2" name="Line 37"/>
          <p:cNvSpPr>
            <a:spLocks noChangeShapeType="1"/>
          </p:cNvSpPr>
          <p:nvPr/>
        </p:nvSpPr>
        <p:spPr bwMode="auto">
          <a:xfrm>
            <a:off x="4657037" y="3093121"/>
            <a:ext cx="0" cy="457200"/>
          </a:xfrm>
          <a:prstGeom prst="line">
            <a:avLst/>
          </a:prstGeom>
          <a:noFill/>
          <a:ln w="2222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3" name="Line 38"/>
          <p:cNvSpPr>
            <a:spLocks noChangeShapeType="1"/>
          </p:cNvSpPr>
          <p:nvPr/>
        </p:nvSpPr>
        <p:spPr bwMode="auto">
          <a:xfrm>
            <a:off x="3599762" y="3093121"/>
            <a:ext cx="0" cy="457200"/>
          </a:xfrm>
          <a:prstGeom prst="line">
            <a:avLst/>
          </a:prstGeom>
          <a:noFill/>
          <a:ln w="2222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4" name="Line 39"/>
          <p:cNvSpPr>
            <a:spLocks noChangeShapeType="1"/>
          </p:cNvSpPr>
          <p:nvPr/>
        </p:nvSpPr>
        <p:spPr bwMode="auto">
          <a:xfrm>
            <a:off x="3088587" y="3093121"/>
            <a:ext cx="0" cy="457200"/>
          </a:xfrm>
          <a:prstGeom prst="line">
            <a:avLst/>
          </a:prstGeom>
          <a:noFill/>
          <a:ln w="2222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5" name="Text Box 40"/>
          <p:cNvSpPr txBox="1">
            <a:spLocks noChangeArrowheads="1"/>
          </p:cNvSpPr>
          <p:nvPr/>
        </p:nvSpPr>
        <p:spPr bwMode="auto">
          <a:xfrm>
            <a:off x="4863412" y="3486821"/>
            <a:ext cx="58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a:solidFill>
                  <a:schemeClr val="bg1"/>
                </a:solidFill>
                <a:ea typeface="幼圆" pitchFamily="49" charset="-122"/>
              </a:rPr>
              <a:t>0.25</a:t>
            </a:r>
          </a:p>
        </p:txBody>
      </p:sp>
      <p:sp>
        <p:nvSpPr>
          <p:cNvPr id="76" name="Text Box 41"/>
          <p:cNvSpPr txBox="1">
            <a:spLocks noChangeArrowheads="1"/>
          </p:cNvSpPr>
          <p:nvPr/>
        </p:nvSpPr>
        <p:spPr bwMode="auto">
          <a:xfrm>
            <a:off x="4396687" y="3486821"/>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a:solidFill>
                  <a:schemeClr val="bg1"/>
                </a:solidFill>
                <a:ea typeface="幼圆" pitchFamily="49" charset="-122"/>
              </a:rPr>
              <a:t>0.5</a:t>
            </a:r>
          </a:p>
        </p:txBody>
      </p:sp>
      <p:sp>
        <p:nvSpPr>
          <p:cNvPr id="77" name="Text Box 42"/>
          <p:cNvSpPr txBox="1">
            <a:spLocks noChangeArrowheads="1"/>
          </p:cNvSpPr>
          <p:nvPr/>
        </p:nvSpPr>
        <p:spPr bwMode="auto">
          <a:xfrm>
            <a:off x="3453712" y="3472534"/>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a:solidFill>
                  <a:schemeClr val="bg1"/>
                </a:solidFill>
                <a:ea typeface="幼圆" pitchFamily="49" charset="-122"/>
              </a:rPr>
              <a:t>5</a:t>
            </a:r>
          </a:p>
        </p:txBody>
      </p:sp>
      <p:sp>
        <p:nvSpPr>
          <p:cNvPr id="78" name="Text Box 43"/>
          <p:cNvSpPr txBox="1">
            <a:spLocks noChangeArrowheads="1"/>
          </p:cNvSpPr>
          <p:nvPr/>
        </p:nvSpPr>
        <p:spPr bwMode="auto">
          <a:xfrm>
            <a:off x="2837762" y="3472534"/>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a:solidFill>
                  <a:schemeClr val="bg1"/>
                </a:solidFill>
                <a:ea typeface="幼圆" pitchFamily="49" charset="-122"/>
              </a:rPr>
              <a:t>20</a:t>
            </a:r>
          </a:p>
        </p:txBody>
      </p:sp>
      <p:sp>
        <p:nvSpPr>
          <p:cNvPr id="79" name="Text Box 44"/>
          <p:cNvSpPr txBox="1">
            <a:spLocks noChangeArrowheads="1"/>
          </p:cNvSpPr>
          <p:nvPr/>
        </p:nvSpPr>
        <p:spPr bwMode="auto">
          <a:xfrm>
            <a:off x="2609162" y="322012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a:solidFill>
                  <a:schemeClr val="bg1"/>
                </a:solidFill>
                <a:ea typeface="幼圆" pitchFamily="49" charset="-122"/>
              </a:rPr>
              <a:t>粗</a:t>
            </a:r>
          </a:p>
        </p:txBody>
      </p:sp>
      <p:sp>
        <p:nvSpPr>
          <p:cNvPr id="80" name="Text Box 45"/>
          <p:cNvSpPr txBox="1">
            <a:spLocks noChangeArrowheads="1"/>
          </p:cNvSpPr>
          <p:nvPr/>
        </p:nvSpPr>
        <p:spPr bwMode="auto">
          <a:xfrm>
            <a:off x="3047312" y="3228059"/>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a:solidFill>
                  <a:schemeClr val="bg1"/>
                </a:solidFill>
                <a:ea typeface="幼圆" pitchFamily="49" charset="-122"/>
              </a:rPr>
              <a:t> </a:t>
            </a:r>
            <a:r>
              <a:rPr kumimoji="1" lang="zh-CN" altLang="en-US" sz="2000">
                <a:solidFill>
                  <a:schemeClr val="bg1"/>
                </a:solidFill>
                <a:ea typeface="幼圆" pitchFamily="49" charset="-122"/>
              </a:rPr>
              <a:t>中</a:t>
            </a:r>
          </a:p>
        </p:txBody>
      </p:sp>
      <p:sp>
        <p:nvSpPr>
          <p:cNvPr id="81" name="Text Box 46"/>
          <p:cNvSpPr txBox="1">
            <a:spLocks noChangeArrowheads="1"/>
          </p:cNvSpPr>
          <p:nvPr/>
        </p:nvSpPr>
        <p:spPr bwMode="auto">
          <a:xfrm>
            <a:off x="3590237" y="3228059"/>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a:solidFill>
                  <a:schemeClr val="bg1"/>
                </a:solidFill>
                <a:ea typeface="幼圆" pitchFamily="49" charset="-122"/>
              </a:rPr>
              <a:t> </a:t>
            </a:r>
            <a:r>
              <a:rPr kumimoji="1" lang="zh-CN" altLang="en-US" sz="2000">
                <a:solidFill>
                  <a:schemeClr val="bg1"/>
                </a:solidFill>
                <a:ea typeface="幼圆" pitchFamily="49" charset="-122"/>
              </a:rPr>
              <a:t>细</a:t>
            </a:r>
          </a:p>
        </p:txBody>
      </p:sp>
      <p:sp>
        <p:nvSpPr>
          <p:cNvPr id="82" name="Text Box 47"/>
          <p:cNvSpPr txBox="1">
            <a:spLocks noChangeArrowheads="1"/>
          </p:cNvSpPr>
          <p:nvPr/>
        </p:nvSpPr>
        <p:spPr bwMode="auto">
          <a:xfrm>
            <a:off x="4158562" y="322012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a:solidFill>
                  <a:schemeClr val="bg1"/>
                </a:solidFill>
                <a:ea typeface="幼圆" pitchFamily="49" charset="-122"/>
              </a:rPr>
              <a:t>粗</a:t>
            </a:r>
          </a:p>
        </p:txBody>
      </p:sp>
      <p:sp>
        <p:nvSpPr>
          <p:cNvPr id="83" name="Text Box 48"/>
          <p:cNvSpPr txBox="1">
            <a:spLocks noChangeArrowheads="1"/>
          </p:cNvSpPr>
          <p:nvPr/>
        </p:nvSpPr>
        <p:spPr bwMode="auto">
          <a:xfrm>
            <a:off x="4609412" y="3228059"/>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a:solidFill>
                  <a:schemeClr val="bg1"/>
                </a:solidFill>
                <a:ea typeface="幼圆" pitchFamily="49" charset="-122"/>
              </a:rPr>
              <a:t> </a:t>
            </a:r>
            <a:r>
              <a:rPr kumimoji="1" lang="zh-CN" altLang="en-US" sz="2000">
                <a:solidFill>
                  <a:schemeClr val="bg1"/>
                </a:solidFill>
                <a:ea typeface="幼圆" pitchFamily="49" charset="-122"/>
              </a:rPr>
              <a:t>中</a:t>
            </a:r>
          </a:p>
        </p:txBody>
      </p:sp>
      <p:sp>
        <p:nvSpPr>
          <p:cNvPr id="84" name="Text Box 49"/>
          <p:cNvSpPr txBox="1">
            <a:spLocks noChangeArrowheads="1"/>
          </p:cNvSpPr>
          <p:nvPr/>
        </p:nvSpPr>
        <p:spPr bwMode="auto">
          <a:xfrm>
            <a:off x="5082487" y="3228059"/>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a:solidFill>
                  <a:schemeClr val="bg1"/>
                </a:solidFill>
                <a:ea typeface="幼圆" pitchFamily="49" charset="-122"/>
              </a:rPr>
              <a:t> </a:t>
            </a:r>
            <a:r>
              <a:rPr kumimoji="1" lang="zh-CN" altLang="en-US" sz="2000">
                <a:solidFill>
                  <a:schemeClr val="bg1"/>
                </a:solidFill>
                <a:ea typeface="幼圆" pitchFamily="49" charset="-122"/>
              </a:rPr>
              <a:t>细</a:t>
            </a:r>
          </a:p>
        </p:txBody>
      </p:sp>
      <p:sp>
        <p:nvSpPr>
          <p:cNvPr id="85" name="Text Box 50"/>
          <p:cNvSpPr txBox="1">
            <a:spLocks noChangeArrowheads="1"/>
          </p:cNvSpPr>
          <p:nvPr/>
        </p:nvSpPr>
        <p:spPr bwMode="auto">
          <a:xfrm>
            <a:off x="5228537" y="1664371"/>
            <a:ext cx="984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a:solidFill>
                  <a:srgbClr val="A50021"/>
                </a:solidFill>
                <a:ea typeface="MS Mincho" pitchFamily="49" charset="-128"/>
              </a:rPr>
              <a:t>0.</a:t>
            </a:r>
            <a:r>
              <a:rPr kumimoji="1" lang="en-US" altLang="zh-CN" sz="2800" b="1">
                <a:solidFill>
                  <a:srgbClr val="A50021"/>
                </a:solidFill>
              </a:rPr>
              <a:t>075</a:t>
            </a:r>
          </a:p>
        </p:txBody>
      </p:sp>
      <p:sp>
        <p:nvSpPr>
          <p:cNvPr id="86" name="Line 51"/>
          <p:cNvSpPr>
            <a:spLocks noChangeShapeType="1"/>
          </p:cNvSpPr>
          <p:nvPr/>
        </p:nvSpPr>
        <p:spPr bwMode="auto">
          <a:xfrm>
            <a:off x="5723837" y="2431134"/>
            <a:ext cx="381000" cy="0"/>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7" name="Line 52"/>
          <p:cNvSpPr>
            <a:spLocks noChangeShapeType="1"/>
          </p:cNvSpPr>
          <p:nvPr/>
        </p:nvSpPr>
        <p:spPr bwMode="auto">
          <a:xfrm flipH="1">
            <a:off x="5190437" y="2431134"/>
            <a:ext cx="533400" cy="0"/>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 name="Text Box 53"/>
          <p:cNvSpPr txBox="1">
            <a:spLocks noChangeArrowheads="1"/>
          </p:cNvSpPr>
          <p:nvPr/>
        </p:nvSpPr>
        <p:spPr bwMode="auto">
          <a:xfrm>
            <a:off x="3675962" y="2158084"/>
            <a:ext cx="8445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600" b="1">
                <a:solidFill>
                  <a:schemeClr val="bg1"/>
                </a:solidFill>
                <a:ea typeface="幼圆" pitchFamily="49" charset="-122"/>
              </a:rPr>
              <a:t>粗粒</a:t>
            </a:r>
          </a:p>
        </p:txBody>
      </p:sp>
      <p:sp>
        <p:nvSpPr>
          <p:cNvPr id="89" name="Text Box 54"/>
          <p:cNvSpPr txBox="1">
            <a:spLocks noChangeArrowheads="1"/>
          </p:cNvSpPr>
          <p:nvPr/>
        </p:nvSpPr>
        <p:spPr bwMode="auto">
          <a:xfrm>
            <a:off x="6496949" y="2158084"/>
            <a:ext cx="8445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600" b="1">
                <a:solidFill>
                  <a:schemeClr val="bg1"/>
                </a:solidFill>
                <a:ea typeface="幼圆" pitchFamily="49" charset="-122"/>
              </a:rPr>
              <a:t>细粒</a:t>
            </a:r>
          </a:p>
        </p:txBody>
      </p:sp>
      <p:sp>
        <p:nvSpPr>
          <p:cNvPr id="90" name="Text Box 55"/>
          <p:cNvSpPr txBox="1">
            <a:spLocks noChangeArrowheads="1"/>
          </p:cNvSpPr>
          <p:nvPr/>
        </p:nvSpPr>
        <p:spPr bwMode="auto">
          <a:xfrm>
            <a:off x="1207701" y="4181152"/>
            <a:ext cx="787591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65000"/>
              </a:lnSpc>
              <a:spcBef>
                <a:spcPct val="0"/>
              </a:spcBef>
              <a:spcAft>
                <a:spcPct val="0"/>
              </a:spcAft>
            </a:pPr>
            <a:r>
              <a:rPr lang="zh-CN" altLang="en-US" sz="2400" b="1" spc="-130" dirty="0">
                <a:solidFill>
                  <a:srgbClr val="A50021"/>
                </a:solidFill>
                <a:ea typeface="幼圆" pitchFamily="49" charset="-122"/>
              </a:rPr>
              <a:t>粗粒土：</a:t>
            </a:r>
            <a:r>
              <a:rPr lang="zh-CN" altLang="en-US" sz="2400" b="1" spc="-130" dirty="0">
                <a:solidFill>
                  <a:srgbClr val="000066"/>
                </a:solidFill>
                <a:ea typeface="幼圆" pitchFamily="49" charset="-122"/>
              </a:rPr>
              <a:t>以砾石和砂粒为主要组成的土，也称</a:t>
            </a:r>
            <a:r>
              <a:rPr lang="zh-CN" altLang="en-US" sz="2400" b="1" spc="-130" dirty="0" smtClean="0">
                <a:solidFill>
                  <a:srgbClr val="A50021"/>
                </a:solidFill>
                <a:ea typeface="幼圆" pitchFamily="49" charset="-122"/>
              </a:rPr>
              <a:t>无黏性土</a:t>
            </a:r>
            <a:endParaRPr lang="zh-CN" altLang="en-US" sz="2400" b="1" spc="-130" dirty="0">
              <a:solidFill>
                <a:srgbClr val="000066"/>
              </a:solidFill>
              <a:ea typeface="幼圆" pitchFamily="49" charset="-122"/>
            </a:endParaRPr>
          </a:p>
          <a:p>
            <a:pPr eaLnBrk="1" hangingPunct="1">
              <a:lnSpc>
                <a:spcPct val="165000"/>
              </a:lnSpc>
              <a:spcBef>
                <a:spcPct val="0"/>
              </a:spcBef>
              <a:spcAft>
                <a:spcPct val="0"/>
              </a:spcAft>
            </a:pPr>
            <a:r>
              <a:rPr lang="zh-CN" altLang="en-US" sz="2400" b="1" spc="-130" dirty="0">
                <a:solidFill>
                  <a:srgbClr val="A50021"/>
                </a:solidFill>
                <a:ea typeface="幼圆" pitchFamily="49" charset="-122"/>
              </a:rPr>
              <a:t>细粒土：</a:t>
            </a:r>
            <a:r>
              <a:rPr lang="zh-CN" altLang="en-US" sz="2400" b="1" spc="-130" dirty="0">
                <a:solidFill>
                  <a:srgbClr val="000066"/>
                </a:solidFill>
                <a:ea typeface="幼圆" pitchFamily="49" charset="-122"/>
              </a:rPr>
              <a:t>以粉粒</a:t>
            </a:r>
            <a:r>
              <a:rPr lang="zh-CN" altLang="en-US" sz="2400" b="1" spc="-130" dirty="0" smtClean="0">
                <a:solidFill>
                  <a:srgbClr val="000066"/>
                </a:solidFill>
                <a:ea typeface="幼圆" pitchFamily="49" charset="-122"/>
              </a:rPr>
              <a:t>、黏粒</a:t>
            </a:r>
            <a:r>
              <a:rPr lang="zh-CN" altLang="en-US" sz="2400" b="1" spc="-130" dirty="0">
                <a:solidFill>
                  <a:srgbClr val="000066"/>
                </a:solidFill>
                <a:ea typeface="幼圆" pitchFamily="49" charset="-122"/>
              </a:rPr>
              <a:t>和胶粒为主要组成的土，也</a:t>
            </a:r>
            <a:r>
              <a:rPr lang="zh-CN" altLang="en-US" sz="2400" b="1" spc="-130" dirty="0" smtClean="0">
                <a:solidFill>
                  <a:srgbClr val="000066"/>
                </a:solidFill>
                <a:ea typeface="幼圆" pitchFamily="49" charset="-122"/>
              </a:rPr>
              <a:t>称</a:t>
            </a:r>
            <a:r>
              <a:rPr lang="zh-CN" altLang="en-US" sz="2400" b="1" spc="-130" dirty="0" smtClean="0">
                <a:solidFill>
                  <a:srgbClr val="A50021"/>
                </a:solidFill>
                <a:ea typeface="幼圆" pitchFamily="49" charset="-122"/>
              </a:rPr>
              <a:t>黏性土</a:t>
            </a:r>
            <a:endParaRPr lang="zh-CN" altLang="en-US" sz="2400" b="1" spc="-130" dirty="0">
              <a:solidFill>
                <a:srgbClr val="000066"/>
              </a:solidFill>
              <a:ea typeface="幼圆" pitchFamily="49" charset="-122"/>
            </a:endParaRPr>
          </a:p>
        </p:txBody>
      </p:sp>
      <p:sp>
        <p:nvSpPr>
          <p:cNvPr id="91" name="AutoShape 56"/>
          <p:cNvSpPr>
            <a:spLocks noChangeArrowheads="1"/>
          </p:cNvSpPr>
          <p:nvPr/>
        </p:nvSpPr>
        <p:spPr bwMode="auto">
          <a:xfrm>
            <a:off x="667439" y="4364579"/>
            <a:ext cx="520700" cy="404812"/>
          </a:xfrm>
          <a:prstGeom prst="homePlate">
            <a:avLst>
              <a:gd name="adj" fmla="val 32157"/>
            </a:avLst>
          </a:prstGeom>
          <a:solidFill>
            <a:schemeClr val="accent2"/>
          </a:solidFill>
          <a:ln w="9525">
            <a:solidFill>
              <a:schemeClr val="tx1"/>
            </a:solidFill>
            <a:miter lim="800000"/>
            <a:headEnd/>
            <a:tailEnd/>
          </a:ln>
        </p:spPr>
        <p:txBody>
          <a:bodyPr wrap="none" anchor="ctr"/>
          <a:lstStyle/>
          <a:p>
            <a:endParaRPr lang="zh-CN" altLang="en-US"/>
          </a:p>
        </p:txBody>
      </p:sp>
      <p:sp>
        <p:nvSpPr>
          <p:cNvPr id="92" name="Text Box 57"/>
          <p:cNvSpPr txBox="1">
            <a:spLocks noChangeArrowheads="1"/>
          </p:cNvSpPr>
          <p:nvPr/>
        </p:nvSpPr>
        <p:spPr bwMode="auto">
          <a:xfrm>
            <a:off x="1313762" y="2161259"/>
            <a:ext cx="8445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600" b="1">
                <a:solidFill>
                  <a:schemeClr val="bg1"/>
                </a:solidFill>
                <a:ea typeface="幼圆" pitchFamily="49" charset="-122"/>
              </a:rPr>
              <a:t>巨粒</a:t>
            </a:r>
          </a:p>
        </p:txBody>
      </p:sp>
      <p:sp>
        <p:nvSpPr>
          <p:cNvPr id="93" name="Line 58"/>
          <p:cNvSpPr>
            <a:spLocks noChangeShapeType="1"/>
          </p:cNvSpPr>
          <p:nvPr/>
        </p:nvSpPr>
        <p:spPr bwMode="auto">
          <a:xfrm>
            <a:off x="2691712" y="2383509"/>
            <a:ext cx="381000" cy="0"/>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 name="Line 59"/>
          <p:cNvSpPr>
            <a:spLocks noChangeShapeType="1"/>
          </p:cNvSpPr>
          <p:nvPr/>
        </p:nvSpPr>
        <p:spPr bwMode="auto">
          <a:xfrm flipH="1">
            <a:off x="2158312" y="2383509"/>
            <a:ext cx="533400" cy="0"/>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5" name="Line 60"/>
          <p:cNvSpPr>
            <a:spLocks noChangeShapeType="1"/>
          </p:cNvSpPr>
          <p:nvPr/>
        </p:nvSpPr>
        <p:spPr bwMode="auto">
          <a:xfrm>
            <a:off x="2594874" y="2175546"/>
            <a:ext cx="0" cy="1574800"/>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6" name="Text Box 61"/>
          <p:cNvSpPr txBox="1">
            <a:spLocks noChangeArrowheads="1"/>
          </p:cNvSpPr>
          <p:nvPr/>
        </p:nvSpPr>
        <p:spPr bwMode="auto">
          <a:xfrm>
            <a:off x="2294837" y="1672309"/>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a:solidFill>
                  <a:srgbClr val="A50021"/>
                </a:solidFill>
              </a:rPr>
              <a:t>6</a:t>
            </a:r>
            <a:r>
              <a:rPr kumimoji="1" lang="en-US" altLang="zh-CN" sz="2800" b="1">
                <a:solidFill>
                  <a:srgbClr val="A50021"/>
                </a:solidFill>
                <a:ea typeface="MS Mincho" pitchFamily="49" charset="-128"/>
              </a:rPr>
              <a:t>0</a:t>
            </a:r>
            <a:endParaRPr kumimoji="1" lang="en-US" altLang="zh-CN" sz="2800" b="1">
              <a:solidFill>
                <a:srgbClr val="A5002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left)">
                                      <p:cBhvr>
                                        <p:cTn id="7" dur="1000"/>
                                        <p:tgtEl>
                                          <p:spTgt spid="91"/>
                                        </p:tgtEl>
                                      </p:cBhvr>
                                    </p:animEffect>
                                  </p:childTnLst>
                                </p:cTn>
                              </p:par>
                            </p:childTnLst>
                          </p:cTn>
                        </p:par>
                        <p:par>
                          <p:cTn id="8" fill="hold">
                            <p:stCondLst>
                              <p:cond delay="1000"/>
                            </p:stCondLst>
                            <p:childTnLst>
                              <p:par>
                                <p:cTn id="9" presetID="2" presetClass="entr" presetSubtype="2" fill="hold" grpId="0" nodeType="afterEffect">
                                  <p:stCondLst>
                                    <p:cond delay="0"/>
                                  </p:stCondLst>
                                  <p:childTnLst>
                                    <p:set>
                                      <p:cBhvr>
                                        <p:cTn id="10" dur="1" fill="hold">
                                          <p:stCondLst>
                                            <p:cond delay="0"/>
                                          </p:stCondLst>
                                        </p:cTn>
                                        <p:tgtEl>
                                          <p:spTgt spid="90"/>
                                        </p:tgtEl>
                                        <p:attrNameLst>
                                          <p:attrName>style.visibility</p:attrName>
                                        </p:attrNameLst>
                                      </p:cBhvr>
                                      <p:to>
                                        <p:strVal val="visible"/>
                                      </p:to>
                                    </p:set>
                                    <p:anim calcmode="lin" valueType="num">
                                      <p:cBhvr additive="base">
                                        <p:cTn id="11" dur="1000" fill="hold"/>
                                        <p:tgtEl>
                                          <p:spTgt spid="90"/>
                                        </p:tgtEl>
                                        <p:attrNameLst>
                                          <p:attrName>ppt_x</p:attrName>
                                        </p:attrNameLst>
                                      </p:cBhvr>
                                      <p:tavLst>
                                        <p:tav tm="0">
                                          <p:val>
                                            <p:strVal val="1+#ppt_w/2"/>
                                          </p:val>
                                        </p:tav>
                                        <p:tav tm="100000">
                                          <p:val>
                                            <p:strVal val="#ppt_x"/>
                                          </p:val>
                                        </p:tav>
                                      </p:tavLst>
                                    </p:anim>
                                    <p:anim calcmode="lin" valueType="num">
                                      <p:cBhvr additive="base">
                                        <p:cTn id="12" dur="1000" fill="hold"/>
                                        <p:tgtEl>
                                          <p:spTgt spid="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5"/>
          <p:cNvSpPr txBox="1">
            <a:spLocks noChangeArrowheads="1"/>
          </p:cNvSpPr>
          <p:nvPr/>
        </p:nvSpPr>
        <p:spPr bwMode="auto">
          <a:xfrm>
            <a:off x="2114849" y="5584436"/>
            <a:ext cx="54181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固体颗粒 </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粒径级配</a:t>
            </a:r>
            <a:endParaRPr kumimoji="1" lang="en-US" altLang="zh-CN" sz="4000" b="1" dirty="0">
              <a:solidFill>
                <a:srgbClr val="000066"/>
              </a:solidFill>
              <a:latin typeface="黑体" pitchFamily="2" charset="-122"/>
              <a:ea typeface="黑体" pitchFamily="2" charset="-122"/>
            </a:endParaRPr>
          </a:p>
        </p:txBody>
      </p:sp>
      <p:sp>
        <p:nvSpPr>
          <p:cNvPr id="1354758" name="Text Box 6"/>
          <p:cNvSpPr txBox="1">
            <a:spLocks noChangeArrowheads="1"/>
          </p:cNvSpPr>
          <p:nvPr/>
        </p:nvSpPr>
        <p:spPr bwMode="auto">
          <a:xfrm>
            <a:off x="212653" y="739035"/>
            <a:ext cx="8878186" cy="58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61950" indent="-361950" eaLnBrk="1" hangingPunct="1">
              <a:spcBef>
                <a:spcPct val="25000"/>
              </a:spcBef>
              <a:spcAft>
                <a:spcPct val="25000"/>
              </a:spcAft>
              <a:buClr>
                <a:srgbClr val="A50021"/>
              </a:buClr>
              <a:buSzPct val="100000"/>
              <a:buFont typeface="Wingdings" panose="05000000000000000000" pitchFamily="2" charset="2"/>
              <a:buChar char="n"/>
            </a:pPr>
            <a:r>
              <a:rPr kumimoji="1" lang="zh-CN" altLang="en-US" sz="2800" b="1" dirty="0" smtClean="0">
                <a:solidFill>
                  <a:srgbClr val="A50021"/>
                </a:solidFill>
                <a:latin typeface="幼圆" pitchFamily="49" charset="-122"/>
                <a:ea typeface="幼圆" pitchFamily="49" charset="-122"/>
              </a:rPr>
              <a:t>粒径</a:t>
            </a:r>
            <a:r>
              <a:rPr kumimoji="1" lang="zh-CN" altLang="en-US" sz="2800" b="1" dirty="0">
                <a:solidFill>
                  <a:srgbClr val="A50021"/>
                </a:solidFill>
                <a:latin typeface="幼圆" pitchFamily="49" charset="-122"/>
                <a:ea typeface="幼圆" pitchFamily="49" charset="-122"/>
              </a:rPr>
              <a:t>级配：</a:t>
            </a:r>
            <a:r>
              <a:rPr kumimoji="1" lang="zh-CN" altLang="en-US" sz="2800" b="1" dirty="0">
                <a:solidFill>
                  <a:srgbClr val="000066"/>
                </a:solidFill>
                <a:latin typeface="幼圆" pitchFamily="49" charset="-122"/>
                <a:ea typeface="幼圆" pitchFamily="49" charset="-122"/>
              </a:rPr>
              <a:t>各粒组的相对含量，用质量</a:t>
            </a:r>
            <a:r>
              <a:rPr kumimoji="1" lang="zh-CN" altLang="en-US" sz="2800" b="1" dirty="0" smtClean="0">
                <a:solidFill>
                  <a:srgbClr val="000066"/>
                </a:solidFill>
                <a:latin typeface="幼圆" pitchFamily="49" charset="-122"/>
                <a:ea typeface="幼圆" pitchFamily="49" charset="-122"/>
              </a:rPr>
              <a:t>百分数</a:t>
            </a:r>
            <a:r>
              <a:rPr kumimoji="1" lang="zh-CN" altLang="en-US" sz="2800" b="1" dirty="0">
                <a:solidFill>
                  <a:srgbClr val="000066"/>
                </a:solidFill>
                <a:latin typeface="幼圆" pitchFamily="49" charset="-122"/>
                <a:ea typeface="幼圆" pitchFamily="49" charset="-122"/>
              </a:rPr>
              <a:t>来</a:t>
            </a:r>
            <a:r>
              <a:rPr kumimoji="1" lang="zh-CN" altLang="en-US" sz="2800" b="1" dirty="0" smtClean="0">
                <a:solidFill>
                  <a:srgbClr val="000066"/>
                </a:solidFill>
                <a:latin typeface="幼圆" pitchFamily="49" charset="-122"/>
                <a:ea typeface="幼圆" pitchFamily="49" charset="-122"/>
              </a:rPr>
              <a:t>表示</a:t>
            </a:r>
            <a:endParaRPr kumimoji="1" lang="zh-CN" altLang="en-US" sz="2800" b="1" dirty="0">
              <a:solidFill>
                <a:srgbClr val="000066"/>
              </a:solidFill>
              <a:latin typeface="幼圆" pitchFamily="49" charset="-122"/>
              <a:ea typeface="幼圆" pitchFamily="49" charset="-122"/>
            </a:endParaRPr>
          </a:p>
        </p:txBody>
      </p:sp>
      <p:sp>
        <p:nvSpPr>
          <p:cNvPr id="5"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6" name="Text Box 6"/>
          <p:cNvSpPr txBox="1">
            <a:spLocks noChangeArrowheads="1"/>
          </p:cNvSpPr>
          <p:nvPr/>
        </p:nvSpPr>
        <p:spPr bwMode="auto">
          <a:xfrm>
            <a:off x="1277237" y="4872014"/>
            <a:ext cx="7048056"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buFont typeface="Wingdings" pitchFamily="2" charset="2"/>
              <a:buChar char="F"/>
            </a:pPr>
            <a:r>
              <a:rPr kumimoji="1" lang="zh-CN" altLang="en-US" sz="2400" b="1" dirty="0">
                <a:solidFill>
                  <a:srgbClr val="000066"/>
                </a:solidFill>
                <a:latin typeface="幼圆" pitchFamily="49" charset="-122"/>
                <a:ea typeface="幼圆" pitchFamily="49" charset="-122"/>
              </a:rPr>
              <a:t>分析结果表述方法</a:t>
            </a:r>
            <a:r>
              <a:rPr kumimoji="1" lang="en-US" altLang="zh-CN" sz="2400" b="1" dirty="0">
                <a:solidFill>
                  <a:srgbClr val="000066"/>
                </a:solidFill>
                <a:latin typeface="幼圆" pitchFamily="49" charset="-122"/>
                <a:ea typeface="幼圆" pitchFamily="49" charset="-122"/>
              </a:rPr>
              <a:t>: </a:t>
            </a:r>
            <a:r>
              <a:rPr kumimoji="1" lang="zh-CN" altLang="en-US" sz="2400" b="1" dirty="0">
                <a:solidFill>
                  <a:srgbClr val="000066"/>
                </a:solidFill>
                <a:latin typeface="幼圆" pitchFamily="49" charset="-122"/>
                <a:ea typeface="幼圆" pitchFamily="49" charset="-122"/>
              </a:rPr>
              <a:t> 粒径级配累积曲线</a:t>
            </a:r>
          </a:p>
        </p:txBody>
      </p:sp>
      <p:grpSp>
        <p:nvGrpSpPr>
          <p:cNvPr id="2" name="组合 1"/>
          <p:cNvGrpSpPr/>
          <p:nvPr/>
        </p:nvGrpSpPr>
        <p:grpSpPr>
          <a:xfrm>
            <a:off x="723010" y="1509817"/>
            <a:ext cx="4061110" cy="3083442"/>
            <a:chOff x="723010" y="1509817"/>
            <a:chExt cx="4061110" cy="3083442"/>
          </a:xfrm>
        </p:grpSpPr>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t="65881" r="10477"/>
            <a:stretch>
              <a:fillRect/>
            </a:stretch>
          </p:blipFill>
          <p:spPr bwMode="auto">
            <a:xfrm>
              <a:off x="723010" y="3083431"/>
              <a:ext cx="2394417" cy="1506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14722" t="2258" r="11978" b="4187"/>
            <a:stretch/>
          </p:blipFill>
          <p:spPr bwMode="auto">
            <a:xfrm>
              <a:off x="3182687" y="1509817"/>
              <a:ext cx="1601433" cy="3083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9" name="Rectangle 4"/>
            <p:cNvSpPr>
              <a:spLocks noChangeArrowheads="1"/>
            </p:cNvSpPr>
            <p:nvPr/>
          </p:nvSpPr>
          <p:spPr bwMode="auto">
            <a:xfrm>
              <a:off x="728739" y="1522103"/>
              <a:ext cx="2355132" cy="1477328"/>
            </a:xfrm>
            <a:prstGeom prst="rect">
              <a:avLst/>
            </a:prstGeom>
            <a:solidFill>
              <a:schemeClr val="accent5">
                <a:lumMod val="60000"/>
                <a:lumOff val="40000"/>
              </a:schemeClr>
            </a:solidFill>
            <a:ln>
              <a:noFill/>
            </a:ln>
          </p:spPr>
          <p:txBody>
            <a:bodyPr wrap="none">
              <a:spAutoFit/>
            </a:bodyPr>
            <a:lstStyle/>
            <a:p>
              <a:pPr marL="342900" indent="-342900" algn="ctr" eaLnBrk="0" hangingPunct="0">
                <a:buFont typeface="Wingdings" panose="05000000000000000000" pitchFamily="2" charset="2"/>
                <a:buChar char="l"/>
              </a:pPr>
              <a:r>
                <a:rPr lang="zh-CN" altLang="en-US" sz="2400" b="1" dirty="0">
                  <a:solidFill>
                    <a:srgbClr val="C00000"/>
                  </a:solidFill>
                  <a:latin typeface="黑体" panose="02010609060101010101" pitchFamily="49" charset="-122"/>
                  <a:ea typeface="黑体" panose="02010609060101010101" pitchFamily="49" charset="-122"/>
                </a:rPr>
                <a:t>筛分法</a:t>
              </a:r>
              <a:r>
                <a:rPr lang="zh-CN" altLang="en-US" sz="2400" b="1" dirty="0" smtClean="0">
                  <a:solidFill>
                    <a:srgbClr val="000066"/>
                  </a:solidFill>
                  <a:latin typeface="幼圆" panose="02010509060101010101" pitchFamily="49" charset="-122"/>
                  <a:ea typeface="幼圆" panose="02010509060101010101" pitchFamily="49" charset="-122"/>
                </a:rPr>
                <a:t>适合</a:t>
              </a:r>
              <a:r>
                <a:rPr lang="en-US" altLang="zh-CN" sz="2400" b="1" dirty="0" smtClean="0">
                  <a:solidFill>
                    <a:srgbClr val="000066"/>
                  </a:solidFill>
                  <a:latin typeface="幼圆" panose="02010509060101010101" pitchFamily="49" charset="-122"/>
                  <a:ea typeface="幼圆" panose="02010509060101010101" pitchFamily="49" charset="-122"/>
                </a:rPr>
                <a:t/>
              </a:r>
              <a:br>
                <a:rPr lang="en-US" altLang="zh-CN" sz="2400" b="1" dirty="0" smtClean="0">
                  <a:solidFill>
                    <a:srgbClr val="000066"/>
                  </a:solidFill>
                  <a:latin typeface="幼圆" panose="02010509060101010101" pitchFamily="49" charset="-122"/>
                  <a:ea typeface="幼圆" panose="02010509060101010101" pitchFamily="49" charset="-122"/>
                </a:rPr>
              </a:br>
              <a:r>
                <a:rPr lang="zh-CN" altLang="en-US" sz="2400" b="1" dirty="0" smtClean="0">
                  <a:solidFill>
                    <a:srgbClr val="000066"/>
                  </a:solidFill>
                  <a:latin typeface="幼圆" panose="02010509060101010101" pitchFamily="49" charset="-122"/>
                  <a:ea typeface="幼圆" panose="02010509060101010101" pitchFamily="49" charset="-122"/>
                </a:rPr>
                <a:t>于</a:t>
              </a:r>
              <a:r>
                <a:rPr lang="zh-CN" altLang="en-US" sz="2400" b="1" dirty="0">
                  <a:solidFill>
                    <a:srgbClr val="000066"/>
                  </a:solidFill>
                  <a:latin typeface="幼圆" panose="02010509060101010101" pitchFamily="49" charset="-122"/>
                  <a:ea typeface="幼圆" panose="02010509060101010101" pitchFamily="49" charset="-122"/>
                </a:rPr>
                <a:t>粗粒径</a:t>
              </a:r>
              <a:endParaRPr lang="en-US" altLang="zh-CN" sz="2400" b="1" dirty="0">
                <a:solidFill>
                  <a:srgbClr val="000066"/>
                </a:solidFill>
                <a:latin typeface="幼圆" panose="02010509060101010101" pitchFamily="49" charset="-122"/>
                <a:ea typeface="幼圆" panose="02010509060101010101" pitchFamily="49" charset="-122"/>
              </a:endParaRPr>
            </a:p>
            <a:p>
              <a:pPr algn="ctr" eaLnBrk="0" hangingPunct="0"/>
              <a:r>
                <a:rPr lang="zh-CN" altLang="en-US" sz="2400" b="1" dirty="0">
                  <a:solidFill>
                    <a:srgbClr val="000066"/>
                  </a:solidFill>
                  <a:ea typeface="楷体_GB2312" pitchFamily="49" charset="-122"/>
                </a:rPr>
                <a:t>（</a:t>
              </a:r>
              <a:r>
                <a:rPr lang="en-US" altLang="zh-CN" sz="2400" b="1" dirty="0">
                  <a:solidFill>
                    <a:srgbClr val="000066"/>
                  </a:solidFill>
                  <a:ea typeface="楷体_GB2312" pitchFamily="49" charset="-122"/>
                </a:rPr>
                <a:t>d&gt;0.075mm</a:t>
              </a:r>
              <a:r>
                <a:rPr lang="zh-CN" altLang="en-US" sz="2400" b="1" dirty="0">
                  <a:solidFill>
                    <a:srgbClr val="000066"/>
                  </a:solidFill>
                  <a:ea typeface="楷体_GB2312" pitchFamily="49" charset="-122"/>
                </a:rPr>
                <a:t>）</a:t>
              </a:r>
            </a:p>
          </p:txBody>
        </p:sp>
      </p:grpSp>
      <p:grpSp>
        <p:nvGrpSpPr>
          <p:cNvPr id="3" name="组合 2"/>
          <p:cNvGrpSpPr/>
          <p:nvPr/>
        </p:nvGrpSpPr>
        <p:grpSpPr>
          <a:xfrm>
            <a:off x="5150327" y="1286534"/>
            <a:ext cx="3731061" cy="3364520"/>
            <a:chOff x="5150327" y="1286534"/>
            <a:chExt cx="3731061" cy="3364520"/>
          </a:xfrm>
        </p:grpSpPr>
        <p:pic>
          <p:nvPicPr>
            <p:cNvPr id="12" name="Picture 2" descr="t6"/>
            <p:cNvPicPr>
              <a:picLocks noChangeAspect="1" noChangeArrowheads="1"/>
            </p:cNvPicPr>
            <p:nvPr/>
          </p:nvPicPr>
          <p:blipFill>
            <a:blip r:embed="rId5">
              <a:extLst>
                <a:ext uri="{28A0092B-C50C-407E-A947-70E740481C1C}">
                  <a14:useLocalDpi xmlns:a14="http://schemas.microsoft.com/office/drawing/2010/main" val="0"/>
                </a:ext>
              </a:extLst>
            </a:blip>
            <a:srcRect l="35910" t="44296" r="31693"/>
            <a:stretch>
              <a:fillRect/>
            </a:stretch>
          </p:blipFill>
          <p:spPr bwMode="auto">
            <a:xfrm>
              <a:off x="7959665" y="1286534"/>
              <a:ext cx="681174" cy="2306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descr="t6"/>
            <p:cNvPicPr>
              <a:picLocks noChangeAspect="1" noChangeArrowheads="1"/>
            </p:cNvPicPr>
            <p:nvPr/>
          </p:nvPicPr>
          <p:blipFill rotWithShape="1">
            <a:blip r:embed="rId5">
              <a:extLst>
                <a:ext uri="{28A0092B-C50C-407E-A947-70E740481C1C}">
                  <a14:useLocalDpi xmlns:a14="http://schemas.microsoft.com/office/drawing/2010/main" val="0"/>
                </a:ext>
              </a:extLst>
            </a:blip>
            <a:srcRect t="2383" b="60422"/>
            <a:stretch/>
          </p:blipFill>
          <p:spPr bwMode="auto">
            <a:xfrm>
              <a:off x="5150327" y="1392856"/>
              <a:ext cx="2688416" cy="2245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4"/>
            <p:cNvSpPr>
              <a:spLocks noChangeArrowheads="1"/>
            </p:cNvSpPr>
            <p:nvPr/>
          </p:nvSpPr>
          <p:spPr bwMode="auto">
            <a:xfrm>
              <a:off x="5256678" y="3598458"/>
              <a:ext cx="3624710" cy="1052596"/>
            </a:xfrm>
            <a:prstGeom prst="rect">
              <a:avLst/>
            </a:prstGeom>
            <a:solidFill>
              <a:schemeClr val="accent6">
                <a:lumMod val="60000"/>
                <a:lumOff val="40000"/>
              </a:schemeClr>
            </a:solidFill>
            <a:ln>
              <a:noFill/>
            </a:ln>
          </p:spPr>
          <p:txBody>
            <a:bodyPr wrap="none">
              <a:spAutoFit/>
            </a:bodyPr>
            <a:lstStyle/>
            <a:p>
              <a:pPr marL="342900" indent="-342900" algn="ctr" eaLnBrk="0" hangingPunct="0">
                <a:buFont typeface="Wingdings" panose="05000000000000000000" pitchFamily="2" charset="2"/>
                <a:buChar char="l"/>
              </a:pPr>
              <a:r>
                <a:rPr lang="zh-CN" altLang="en-US" sz="2400" b="1" dirty="0">
                  <a:solidFill>
                    <a:srgbClr val="C00000"/>
                  </a:solidFill>
                  <a:latin typeface="黑体" panose="02010609060101010101" pitchFamily="49" charset="-122"/>
                  <a:ea typeface="黑体" panose="02010609060101010101" pitchFamily="49" charset="-122"/>
                </a:rPr>
                <a:t>密度计法</a:t>
              </a:r>
              <a:r>
                <a:rPr lang="zh-CN" altLang="en-US" sz="2400" b="1" dirty="0">
                  <a:solidFill>
                    <a:srgbClr val="000066"/>
                  </a:solidFill>
                  <a:latin typeface="幼圆" panose="02010509060101010101" pitchFamily="49" charset="-122"/>
                  <a:ea typeface="幼圆" panose="02010509060101010101" pitchFamily="49" charset="-122"/>
                </a:rPr>
                <a:t>适合于细粒径</a:t>
              </a:r>
              <a:endParaRPr lang="en-US" altLang="zh-CN" sz="2400" b="1" dirty="0">
                <a:solidFill>
                  <a:srgbClr val="000066"/>
                </a:solidFill>
                <a:latin typeface="幼圆" panose="02010509060101010101" pitchFamily="49" charset="-122"/>
                <a:ea typeface="幼圆" panose="02010509060101010101" pitchFamily="49" charset="-122"/>
              </a:endParaRPr>
            </a:p>
            <a:p>
              <a:pPr algn="ctr" eaLnBrk="0" hangingPunct="0"/>
              <a:r>
                <a:rPr lang="zh-CN" altLang="en-US" sz="2400" b="1" dirty="0">
                  <a:solidFill>
                    <a:srgbClr val="000066"/>
                  </a:solidFill>
                  <a:ea typeface="楷体_GB2312" pitchFamily="49" charset="-122"/>
                </a:rPr>
                <a:t>（</a:t>
              </a:r>
              <a:r>
                <a:rPr lang="en-US" altLang="zh-CN" sz="2400" b="1" i="1" dirty="0">
                  <a:solidFill>
                    <a:srgbClr val="000066"/>
                  </a:solidFill>
                  <a:ea typeface="楷体_GB2312" pitchFamily="49" charset="-122"/>
                </a:rPr>
                <a:t>d</a:t>
              </a:r>
              <a:r>
                <a:rPr lang="en-US" altLang="zh-CN" sz="2400" b="1" dirty="0">
                  <a:solidFill>
                    <a:srgbClr val="000066"/>
                  </a:solidFill>
                  <a:ea typeface="楷体_GB2312" pitchFamily="49" charset="-122"/>
                </a:rPr>
                <a:t>&lt;0.075mm</a:t>
              </a:r>
              <a:r>
                <a:rPr lang="zh-CN" altLang="en-US" sz="2400" b="1" dirty="0">
                  <a:solidFill>
                    <a:srgbClr val="000066"/>
                  </a:solidFill>
                  <a:ea typeface="楷体_GB2312" pitchFamily="49" charset="-122"/>
                </a:rPr>
                <a:t>）</a:t>
              </a:r>
            </a:p>
          </p:txBody>
        </p:sp>
      </p:grpSp>
    </p:spTree>
    <p:extLst>
      <p:ext uri="{BB962C8B-B14F-4D97-AF65-F5344CB8AC3E}">
        <p14:creationId xmlns:p14="http://schemas.microsoft.com/office/powerpoint/2010/main" val="34698942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354758">
                                            <p:txEl>
                                              <p:pRg st="0" end="0"/>
                                            </p:txEl>
                                          </p:spTgt>
                                        </p:tgtEl>
                                        <p:attrNameLst>
                                          <p:attrName>style.visibility</p:attrName>
                                        </p:attrNameLst>
                                      </p:cBhvr>
                                      <p:to>
                                        <p:strVal val="visible"/>
                                      </p:to>
                                    </p:set>
                                    <p:animEffect transition="in" filter="wipe(up)">
                                      <p:cBhvr>
                                        <p:cTn id="7" dur="1000"/>
                                        <p:tgtEl>
                                          <p:spTgt spid="13547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1000" fill="hold"/>
                                        <p:tgtEl>
                                          <p:spTgt spid="3"/>
                                        </p:tgtEl>
                                        <p:attrNameLst>
                                          <p:attrName>ppt_w</p:attrName>
                                        </p:attrNameLst>
                                      </p:cBhvr>
                                      <p:tavLst>
                                        <p:tav tm="0">
                                          <p:val>
                                            <p:fltVal val="0"/>
                                          </p:val>
                                        </p:tav>
                                        <p:tav tm="100000">
                                          <p:val>
                                            <p:strVal val="#ppt_w"/>
                                          </p:val>
                                        </p:tav>
                                      </p:tavLst>
                                    </p:anim>
                                    <p:anim calcmode="lin" valueType="num">
                                      <p:cBhvr>
                                        <p:cTn id="21" dur="1000" fill="hold"/>
                                        <p:tgtEl>
                                          <p:spTgt spid="3"/>
                                        </p:tgtEl>
                                        <p:attrNameLst>
                                          <p:attrName>ppt_h</p:attrName>
                                        </p:attrNameLst>
                                      </p:cBhvr>
                                      <p:tavLst>
                                        <p:tav tm="0">
                                          <p:val>
                                            <p:fltVal val="0"/>
                                          </p:val>
                                        </p:tav>
                                        <p:tav tm="100000">
                                          <p:val>
                                            <p:strVal val="#ppt_h"/>
                                          </p:val>
                                        </p:tav>
                                      </p:tavLst>
                                    </p:anim>
                                    <p:anim calcmode="lin" valueType="num">
                                      <p:cBhvr>
                                        <p:cTn id="22" dur="1000" fill="hold"/>
                                        <p:tgtEl>
                                          <p:spTgt spid="3"/>
                                        </p:tgtEl>
                                        <p:attrNameLst>
                                          <p:attrName>style.rotation</p:attrName>
                                        </p:attrNameLst>
                                      </p:cBhvr>
                                      <p:tavLst>
                                        <p:tav tm="0">
                                          <p:val>
                                            <p:fltVal val="90"/>
                                          </p:val>
                                        </p:tav>
                                        <p:tav tm="100000">
                                          <p:val>
                                            <p:fltVal val="0"/>
                                          </p:val>
                                        </p:tav>
                                      </p:tavLst>
                                    </p:anim>
                                    <p:animEffect transition="in" filter="fade">
                                      <p:cBhvr>
                                        <p:cTn id="23" dur="10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4758" grpId="0" build="p" autoUpdateAnimBg="0"/>
      <p:bldP spid="6"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7"/>
          <p:cNvSpPr txBox="1">
            <a:spLocks noChangeArrowheads="1"/>
          </p:cNvSpPr>
          <p:nvPr/>
        </p:nvSpPr>
        <p:spPr bwMode="auto">
          <a:xfrm>
            <a:off x="2541588" y="5855482"/>
            <a:ext cx="54181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固体颗粒 </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粒径级配</a:t>
            </a:r>
            <a:endParaRPr kumimoji="1" lang="en-US" altLang="zh-CN" sz="4000" b="1" dirty="0">
              <a:solidFill>
                <a:srgbClr val="000066"/>
              </a:solidFill>
              <a:latin typeface="黑体" pitchFamily="2" charset="-122"/>
              <a:ea typeface="黑体" pitchFamily="2" charset="-122"/>
            </a:endParaRPr>
          </a:p>
        </p:txBody>
      </p:sp>
      <p:grpSp>
        <p:nvGrpSpPr>
          <p:cNvPr id="2" name="Group 8"/>
          <p:cNvGrpSpPr>
            <a:grpSpLocks/>
          </p:cNvGrpSpPr>
          <p:nvPr/>
        </p:nvGrpSpPr>
        <p:grpSpPr bwMode="auto">
          <a:xfrm>
            <a:off x="6705790" y="1619325"/>
            <a:ext cx="1730375" cy="476250"/>
            <a:chOff x="565" y="1117"/>
            <a:chExt cx="1090" cy="300"/>
          </a:xfrm>
        </p:grpSpPr>
        <p:sp>
          <p:nvSpPr>
            <p:cNvPr id="41122" name="Freeform 9"/>
            <p:cNvSpPr>
              <a:spLocks/>
            </p:cNvSpPr>
            <p:nvPr/>
          </p:nvSpPr>
          <p:spPr bwMode="auto">
            <a:xfrm>
              <a:off x="565" y="1117"/>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23" name="Line 10"/>
            <p:cNvSpPr>
              <a:spLocks noChangeShapeType="1"/>
            </p:cNvSpPr>
            <p:nvPr/>
          </p:nvSpPr>
          <p:spPr bwMode="auto">
            <a:xfrm>
              <a:off x="566" y="1417"/>
              <a:ext cx="1089" cy="0"/>
            </a:xfrm>
            <a:prstGeom prst="line">
              <a:avLst/>
            </a:prstGeom>
            <a:noFill/>
            <a:ln w="28575">
              <a:solidFill>
                <a:schemeClr val="tx1"/>
              </a:solidFill>
              <a:prstDash val="lgDashDot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24" name="Freeform 11"/>
            <p:cNvSpPr>
              <a:spLocks/>
            </p:cNvSpPr>
            <p:nvPr/>
          </p:nvSpPr>
          <p:spPr bwMode="auto">
            <a:xfrm>
              <a:off x="1653" y="1117"/>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3" name="Group 12"/>
          <p:cNvGrpSpPr>
            <a:grpSpLocks/>
          </p:cNvGrpSpPr>
          <p:nvPr/>
        </p:nvGrpSpPr>
        <p:grpSpPr bwMode="auto">
          <a:xfrm>
            <a:off x="6705790" y="2122563"/>
            <a:ext cx="1730375" cy="476250"/>
            <a:chOff x="339" y="1542"/>
            <a:chExt cx="1090" cy="300"/>
          </a:xfrm>
        </p:grpSpPr>
        <p:sp>
          <p:nvSpPr>
            <p:cNvPr id="41119" name="Freeform 13"/>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20" name="Line 14"/>
            <p:cNvSpPr>
              <a:spLocks noChangeShapeType="1"/>
            </p:cNvSpPr>
            <p:nvPr/>
          </p:nvSpPr>
          <p:spPr bwMode="auto">
            <a:xfrm>
              <a:off x="340" y="1842"/>
              <a:ext cx="1089" cy="0"/>
            </a:xfrm>
            <a:prstGeom prst="line">
              <a:avLst/>
            </a:prstGeom>
            <a:noFill/>
            <a:ln w="38100">
              <a:solidFill>
                <a:schemeClr val="tx1"/>
              </a:solidFill>
              <a:prstDash val="lgDash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21" name="Freeform 15"/>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4" name="Group 16"/>
          <p:cNvGrpSpPr>
            <a:grpSpLocks/>
          </p:cNvGrpSpPr>
          <p:nvPr/>
        </p:nvGrpSpPr>
        <p:grpSpPr bwMode="auto">
          <a:xfrm>
            <a:off x="6708965" y="2627388"/>
            <a:ext cx="1730375" cy="476250"/>
            <a:chOff x="339" y="1542"/>
            <a:chExt cx="1090" cy="300"/>
          </a:xfrm>
        </p:grpSpPr>
        <p:sp>
          <p:nvSpPr>
            <p:cNvPr id="41116" name="Freeform 17"/>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17" name="Line 18"/>
            <p:cNvSpPr>
              <a:spLocks noChangeShapeType="1"/>
            </p:cNvSpPr>
            <p:nvPr/>
          </p:nvSpPr>
          <p:spPr bwMode="auto">
            <a:xfrm>
              <a:off x="340" y="1842"/>
              <a:ext cx="1089"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18" name="Freeform 19"/>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5" name="Group 20"/>
          <p:cNvGrpSpPr>
            <a:grpSpLocks/>
          </p:cNvGrpSpPr>
          <p:nvPr/>
        </p:nvGrpSpPr>
        <p:grpSpPr bwMode="auto">
          <a:xfrm>
            <a:off x="6708965" y="3130625"/>
            <a:ext cx="1730375" cy="476250"/>
            <a:chOff x="339" y="1542"/>
            <a:chExt cx="1090" cy="300"/>
          </a:xfrm>
        </p:grpSpPr>
        <p:sp>
          <p:nvSpPr>
            <p:cNvPr id="41113" name="Freeform 21"/>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14" name="Line 22"/>
            <p:cNvSpPr>
              <a:spLocks noChangeShapeType="1"/>
            </p:cNvSpPr>
            <p:nvPr/>
          </p:nvSpPr>
          <p:spPr bwMode="auto">
            <a:xfrm>
              <a:off x="340" y="1842"/>
              <a:ext cx="1089"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15" name="Freeform 23"/>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6" name="Group 24"/>
          <p:cNvGrpSpPr>
            <a:grpSpLocks/>
          </p:cNvGrpSpPr>
          <p:nvPr/>
        </p:nvGrpSpPr>
        <p:grpSpPr bwMode="auto">
          <a:xfrm>
            <a:off x="6708965" y="5146750"/>
            <a:ext cx="1730375" cy="476250"/>
            <a:chOff x="339" y="1542"/>
            <a:chExt cx="1090" cy="300"/>
          </a:xfrm>
        </p:grpSpPr>
        <p:sp>
          <p:nvSpPr>
            <p:cNvPr id="41110" name="Freeform 25"/>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11" name="Line 26"/>
            <p:cNvSpPr>
              <a:spLocks noChangeShapeType="1"/>
            </p:cNvSpPr>
            <p:nvPr/>
          </p:nvSpPr>
          <p:spPr bwMode="auto">
            <a:xfrm>
              <a:off x="340" y="1842"/>
              <a:ext cx="10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12" name="Freeform 27"/>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7" name="Group 28"/>
          <p:cNvGrpSpPr>
            <a:grpSpLocks/>
          </p:cNvGrpSpPr>
          <p:nvPr/>
        </p:nvGrpSpPr>
        <p:grpSpPr bwMode="auto">
          <a:xfrm>
            <a:off x="6708965" y="3635450"/>
            <a:ext cx="1730375" cy="476250"/>
            <a:chOff x="339" y="1542"/>
            <a:chExt cx="1090" cy="300"/>
          </a:xfrm>
        </p:grpSpPr>
        <p:sp>
          <p:nvSpPr>
            <p:cNvPr id="41107" name="Freeform 29"/>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08" name="Line 30"/>
            <p:cNvSpPr>
              <a:spLocks noChangeShapeType="1"/>
            </p:cNvSpPr>
            <p:nvPr/>
          </p:nvSpPr>
          <p:spPr bwMode="auto">
            <a:xfrm>
              <a:off x="340" y="1842"/>
              <a:ext cx="1089"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09" name="Freeform 31"/>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8" name="Group 32"/>
          <p:cNvGrpSpPr>
            <a:grpSpLocks/>
          </p:cNvGrpSpPr>
          <p:nvPr/>
        </p:nvGrpSpPr>
        <p:grpSpPr bwMode="auto">
          <a:xfrm>
            <a:off x="6708965" y="4138688"/>
            <a:ext cx="1730375" cy="476250"/>
            <a:chOff x="339" y="1542"/>
            <a:chExt cx="1090" cy="300"/>
          </a:xfrm>
        </p:grpSpPr>
        <p:sp>
          <p:nvSpPr>
            <p:cNvPr id="41104" name="Freeform 33"/>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05" name="Line 34"/>
            <p:cNvSpPr>
              <a:spLocks noChangeShapeType="1"/>
            </p:cNvSpPr>
            <p:nvPr/>
          </p:nvSpPr>
          <p:spPr bwMode="auto">
            <a:xfrm>
              <a:off x="340" y="1842"/>
              <a:ext cx="1089" cy="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06" name="Freeform 35"/>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9" name="Group 36"/>
          <p:cNvGrpSpPr>
            <a:grpSpLocks/>
          </p:cNvGrpSpPr>
          <p:nvPr/>
        </p:nvGrpSpPr>
        <p:grpSpPr bwMode="auto">
          <a:xfrm>
            <a:off x="6708965" y="4643513"/>
            <a:ext cx="1730375" cy="476250"/>
            <a:chOff x="339" y="1542"/>
            <a:chExt cx="1090" cy="300"/>
          </a:xfrm>
        </p:grpSpPr>
        <p:sp>
          <p:nvSpPr>
            <p:cNvPr id="41101" name="Freeform 37"/>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02" name="Line 38"/>
            <p:cNvSpPr>
              <a:spLocks noChangeShapeType="1"/>
            </p:cNvSpPr>
            <p:nvPr/>
          </p:nvSpPr>
          <p:spPr bwMode="auto">
            <a:xfrm>
              <a:off x="340" y="1842"/>
              <a:ext cx="1089" cy="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03" name="Freeform 39"/>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sp>
        <p:nvSpPr>
          <p:cNvPr id="1355816" name="Text Box 40"/>
          <p:cNvSpPr txBox="1">
            <a:spLocks noChangeArrowheads="1"/>
          </p:cNvSpPr>
          <p:nvPr/>
        </p:nvSpPr>
        <p:spPr bwMode="auto">
          <a:xfrm>
            <a:off x="5945589" y="1360563"/>
            <a:ext cx="634789" cy="3865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r" eaLnBrk="1" hangingPunct="1">
              <a:lnSpc>
                <a:spcPct val="110000"/>
              </a:lnSpc>
              <a:spcBef>
                <a:spcPct val="20000"/>
              </a:spcBef>
              <a:spcAft>
                <a:spcPct val="20000"/>
              </a:spcAft>
            </a:pPr>
            <a:r>
              <a:rPr lang="zh-CN" altLang="en-US" sz="2400" b="1" dirty="0">
                <a:ea typeface="幼圆" pitchFamily="49" charset="-122"/>
                <a:cs typeface="Times New Roman" pitchFamily="18" charset="0"/>
              </a:rPr>
              <a:t>孔径</a:t>
            </a:r>
            <a:endParaRPr kumimoji="1" lang="en-US" altLang="zh-CN" sz="2200" b="1" dirty="0">
              <a:ea typeface="幼圆" pitchFamily="49" charset="-122"/>
              <a:cs typeface="Times New Roman" pitchFamily="18" charset="0"/>
            </a:endParaRP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10</a:t>
            </a: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5.0</a:t>
            </a: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2.0</a:t>
            </a: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1.0</a:t>
            </a: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0.5</a:t>
            </a: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0.25</a:t>
            </a:r>
          </a:p>
          <a:p>
            <a:pPr algn="r" eaLnBrk="1" hangingPunct="1">
              <a:lnSpc>
                <a:spcPct val="100000"/>
              </a:lnSpc>
              <a:spcBef>
                <a:spcPct val="0"/>
              </a:spcBef>
              <a:spcAft>
                <a:spcPct val="0"/>
              </a:spcAft>
            </a:pPr>
            <a:r>
              <a:rPr kumimoji="1" lang="en-US" altLang="zh-CN" sz="2200" b="1" dirty="0" smtClean="0">
                <a:ea typeface="幼圆" pitchFamily="49" charset="-122"/>
                <a:cs typeface="Times New Roman" pitchFamily="18" charset="0"/>
              </a:rPr>
              <a:t>0.075</a:t>
            </a:r>
            <a:endParaRPr kumimoji="1" lang="zh-CN" altLang="en-US" sz="2200" b="1" dirty="0">
              <a:ea typeface="幼圆" pitchFamily="49" charset="-122"/>
              <a:cs typeface="Times New Roman" pitchFamily="18" charset="0"/>
            </a:endParaRPr>
          </a:p>
        </p:txBody>
      </p:sp>
      <p:grpSp>
        <p:nvGrpSpPr>
          <p:cNvPr id="10" name="Group 41"/>
          <p:cNvGrpSpPr>
            <a:grpSpLocks/>
          </p:cNvGrpSpPr>
          <p:nvPr/>
        </p:nvGrpSpPr>
        <p:grpSpPr bwMode="auto">
          <a:xfrm>
            <a:off x="6780403" y="2436888"/>
            <a:ext cx="1655762" cy="3189287"/>
            <a:chOff x="656" y="1632"/>
            <a:chExt cx="1043" cy="2009"/>
          </a:xfrm>
        </p:grpSpPr>
        <p:sp>
          <p:nvSpPr>
            <p:cNvPr id="41094" name="Freeform 42" descr="纸袋"/>
            <p:cNvSpPr>
              <a:spLocks/>
            </p:cNvSpPr>
            <p:nvPr/>
          </p:nvSpPr>
          <p:spPr bwMode="auto">
            <a:xfrm>
              <a:off x="747" y="1632"/>
              <a:ext cx="816" cy="90"/>
            </a:xfrm>
            <a:custGeom>
              <a:avLst/>
              <a:gdLst>
                <a:gd name="T0" fmla="*/ 0 w 952"/>
                <a:gd name="T1" fmla="*/ 16 h 212"/>
                <a:gd name="T2" fmla="*/ 171 w 952"/>
                <a:gd name="T3" fmla="*/ 3 h 212"/>
                <a:gd name="T4" fmla="*/ 342 w 952"/>
                <a:gd name="T5" fmla="*/ 3 h 212"/>
                <a:gd name="T6" fmla="*/ 486 w 952"/>
                <a:gd name="T7" fmla="*/ 9 h 212"/>
                <a:gd name="T8" fmla="*/ 599 w 952"/>
                <a:gd name="T9" fmla="*/ 16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blipFill dpi="0" rotWithShape="1">
              <a:blip r:embed="rId4"/>
              <a:srcRect/>
              <a:tile tx="0" ty="0" sx="100000" sy="100000" flip="none" algn="tl"/>
            </a:blipFill>
            <a:ln w="9525">
              <a:solidFill>
                <a:schemeClr val="tx1"/>
              </a:solidFill>
              <a:round/>
              <a:headEnd/>
              <a:tailEnd/>
            </a:ln>
          </p:spPr>
          <p:txBody>
            <a:bodyPr lIns="0" tIns="0" rIns="0" bIns="0">
              <a:spAutoFit/>
            </a:bodyPr>
            <a:lstStyle/>
            <a:p>
              <a:endParaRPr lang="zh-CN" altLang="en-US"/>
            </a:p>
          </p:txBody>
        </p:sp>
        <p:sp>
          <p:nvSpPr>
            <p:cNvPr id="41095" name="Freeform 43" descr="瓦形"/>
            <p:cNvSpPr>
              <a:spLocks/>
            </p:cNvSpPr>
            <p:nvPr/>
          </p:nvSpPr>
          <p:spPr bwMode="auto">
            <a:xfrm>
              <a:off x="747" y="1888"/>
              <a:ext cx="816" cy="152"/>
            </a:xfrm>
            <a:custGeom>
              <a:avLst/>
              <a:gdLst>
                <a:gd name="T0" fmla="*/ 0 w 952"/>
                <a:gd name="T1" fmla="*/ 78 h 212"/>
                <a:gd name="T2" fmla="*/ 171 w 952"/>
                <a:gd name="T3" fmla="*/ 11 h 212"/>
                <a:gd name="T4" fmla="*/ 342 w 952"/>
                <a:gd name="T5" fmla="*/ 11 h 212"/>
                <a:gd name="T6" fmla="*/ 486 w 952"/>
                <a:gd name="T7" fmla="*/ 44 h 212"/>
                <a:gd name="T8" fmla="*/ 599 w 952"/>
                <a:gd name="T9" fmla="*/ 78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pattFill prst="shingle">
              <a:fgClr>
                <a:srgbClr val="996633"/>
              </a:fgClr>
              <a:bgClr>
                <a:srgbClr val="FFFFFF"/>
              </a:bgClr>
            </a:pattFill>
            <a:ln w="9525">
              <a:solidFill>
                <a:schemeClr val="tx1"/>
              </a:solidFill>
              <a:round/>
              <a:headEnd/>
              <a:tailEnd/>
            </a:ln>
          </p:spPr>
          <p:txBody>
            <a:bodyPr lIns="0" tIns="0" rIns="0" bIns="0">
              <a:spAutoFit/>
            </a:bodyPr>
            <a:lstStyle/>
            <a:p>
              <a:endParaRPr lang="zh-CN" altLang="en-US"/>
            </a:p>
          </p:txBody>
        </p:sp>
        <p:sp>
          <p:nvSpPr>
            <p:cNvPr id="41096" name="Freeform 44" descr="实心菱形"/>
            <p:cNvSpPr>
              <a:spLocks/>
            </p:cNvSpPr>
            <p:nvPr/>
          </p:nvSpPr>
          <p:spPr bwMode="auto">
            <a:xfrm>
              <a:off x="748" y="2160"/>
              <a:ext cx="771" cy="197"/>
            </a:xfrm>
            <a:custGeom>
              <a:avLst/>
              <a:gdLst>
                <a:gd name="T0" fmla="*/ 0 w 952"/>
                <a:gd name="T1" fmla="*/ 170 h 212"/>
                <a:gd name="T2" fmla="*/ 144 w 952"/>
                <a:gd name="T3" fmla="*/ 24 h 212"/>
                <a:gd name="T4" fmla="*/ 289 w 952"/>
                <a:gd name="T5" fmla="*/ 24 h 212"/>
                <a:gd name="T6" fmla="*/ 409 w 952"/>
                <a:gd name="T7" fmla="*/ 97 h 212"/>
                <a:gd name="T8" fmla="*/ 505 w 952"/>
                <a:gd name="T9" fmla="*/ 170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pattFill prst="solidDmnd">
              <a:fgClr>
                <a:srgbClr val="0066FF"/>
              </a:fgClr>
              <a:bgClr>
                <a:srgbClr val="FFFFFF"/>
              </a:bgClr>
            </a:pattFill>
            <a:ln w="9525">
              <a:solidFill>
                <a:schemeClr val="tx1"/>
              </a:solidFill>
              <a:round/>
              <a:headEnd/>
              <a:tailEnd/>
            </a:ln>
          </p:spPr>
          <p:txBody>
            <a:bodyPr lIns="0" tIns="0" rIns="0" bIns="0">
              <a:spAutoFit/>
            </a:bodyPr>
            <a:lstStyle/>
            <a:p>
              <a:endParaRPr lang="zh-CN" altLang="en-US"/>
            </a:p>
          </p:txBody>
        </p:sp>
        <p:sp>
          <p:nvSpPr>
            <p:cNvPr id="41097" name="Freeform 45" descr="大棋盘"/>
            <p:cNvSpPr>
              <a:spLocks/>
            </p:cNvSpPr>
            <p:nvPr/>
          </p:nvSpPr>
          <p:spPr bwMode="auto">
            <a:xfrm>
              <a:off x="748" y="2478"/>
              <a:ext cx="860" cy="210"/>
            </a:xfrm>
            <a:custGeom>
              <a:avLst/>
              <a:gdLst>
                <a:gd name="T0" fmla="*/ 0 w 952"/>
                <a:gd name="T1" fmla="*/ 206 h 212"/>
                <a:gd name="T2" fmla="*/ 201 w 952"/>
                <a:gd name="T3" fmla="*/ 30 h 212"/>
                <a:gd name="T4" fmla="*/ 401 w 952"/>
                <a:gd name="T5" fmla="*/ 30 h 212"/>
                <a:gd name="T6" fmla="*/ 568 w 952"/>
                <a:gd name="T7" fmla="*/ 118 h 212"/>
                <a:gd name="T8" fmla="*/ 702 w 952"/>
                <a:gd name="T9" fmla="*/ 206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pattFill prst="lgCheck">
              <a:fgClr>
                <a:srgbClr val="0066FF"/>
              </a:fgClr>
              <a:bgClr>
                <a:srgbClr val="FFFFFF"/>
              </a:bgClr>
            </a:pattFill>
            <a:ln w="9525">
              <a:solidFill>
                <a:schemeClr val="tx1"/>
              </a:solidFill>
              <a:round/>
              <a:headEnd/>
              <a:tailEnd/>
            </a:ln>
          </p:spPr>
          <p:txBody>
            <a:bodyPr lIns="0" tIns="0" rIns="0" bIns="0">
              <a:spAutoFit/>
            </a:bodyPr>
            <a:lstStyle/>
            <a:p>
              <a:endParaRPr lang="zh-CN" altLang="en-US"/>
            </a:p>
          </p:txBody>
        </p:sp>
        <p:sp>
          <p:nvSpPr>
            <p:cNvPr id="41098" name="Freeform 46" descr="草皮"/>
            <p:cNvSpPr>
              <a:spLocks/>
            </p:cNvSpPr>
            <p:nvPr/>
          </p:nvSpPr>
          <p:spPr bwMode="auto">
            <a:xfrm>
              <a:off x="748" y="2795"/>
              <a:ext cx="861" cy="205"/>
            </a:xfrm>
            <a:custGeom>
              <a:avLst/>
              <a:gdLst>
                <a:gd name="T0" fmla="*/ 0 w 952"/>
                <a:gd name="T1" fmla="*/ 191 h 212"/>
                <a:gd name="T2" fmla="*/ 201 w 952"/>
                <a:gd name="T3" fmla="*/ 27 h 212"/>
                <a:gd name="T4" fmla="*/ 402 w 952"/>
                <a:gd name="T5" fmla="*/ 27 h 212"/>
                <a:gd name="T6" fmla="*/ 570 w 952"/>
                <a:gd name="T7" fmla="*/ 109 h 212"/>
                <a:gd name="T8" fmla="*/ 705 w 952"/>
                <a:gd name="T9" fmla="*/ 191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pattFill prst="divot">
              <a:fgClr>
                <a:srgbClr val="9966FF"/>
              </a:fgClr>
              <a:bgClr>
                <a:srgbClr val="FFFFFF"/>
              </a:bgClr>
            </a:pattFill>
            <a:ln w="9525">
              <a:solidFill>
                <a:schemeClr val="tx1"/>
              </a:solidFill>
              <a:round/>
              <a:headEnd/>
              <a:tailEnd/>
            </a:ln>
          </p:spPr>
          <p:txBody>
            <a:bodyPr lIns="0" tIns="0" rIns="0" bIns="0">
              <a:spAutoFit/>
            </a:bodyPr>
            <a:lstStyle/>
            <a:p>
              <a:endParaRPr lang="zh-CN" altLang="en-US"/>
            </a:p>
          </p:txBody>
        </p:sp>
        <p:sp>
          <p:nvSpPr>
            <p:cNvPr id="41099" name="Freeform 47" descr="画布"/>
            <p:cNvSpPr>
              <a:spLocks/>
            </p:cNvSpPr>
            <p:nvPr/>
          </p:nvSpPr>
          <p:spPr bwMode="auto">
            <a:xfrm>
              <a:off x="701" y="3067"/>
              <a:ext cx="907" cy="251"/>
            </a:xfrm>
            <a:custGeom>
              <a:avLst/>
              <a:gdLst>
                <a:gd name="T0" fmla="*/ 0 w 952"/>
                <a:gd name="T1" fmla="*/ 352 h 212"/>
                <a:gd name="T2" fmla="*/ 235 w 952"/>
                <a:gd name="T3" fmla="*/ 51 h 212"/>
                <a:gd name="T4" fmla="*/ 471 w 952"/>
                <a:gd name="T5" fmla="*/ 51 h 212"/>
                <a:gd name="T6" fmla="*/ 667 w 952"/>
                <a:gd name="T7" fmla="*/ 200 h 212"/>
                <a:gd name="T8" fmla="*/ 823 w 952"/>
                <a:gd name="T9" fmla="*/ 352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blipFill dpi="0" rotWithShape="1">
              <a:blip r:embed="rId5"/>
              <a:srcRect/>
              <a:tile tx="0" ty="0" sx="100000" sy="100000" flip="none" algn="tl"/>
            </a:blipFill>
            <a:ln w="9525">
              <a:solidFill>
                <a:schemeClr val="tx1"/>
              </a:solidFill>
              <a:round/>
              <a:headEnd/>
              <a:tailEnd/>
            </a:ln>
          </p:spPr>
          <p:txBody>
            <a:bodyPr lIns="0" tIns="0" rIns="0" bIns="0">
              <a:spAutoFit/>
            </a:bodyPr>
            <a:lstStyle/>
            <a:p>
              <a:endParaRPr lang="zh-CN" altLang="en-US"/>
            </a:p>
          </p:txBody>
        </p:sp>
        <p:sp>
          <p:nvSpPr>
            <p:cNvPr id="41100" name="Freeform 48" descr="粉色面巾纸"/>
            <p:cNvSpPr>
              <a:spLocks/>
            </p:cNvSpPr>
            <p:nvPr/>
          </p:nvSpPr>
          <p:spPr bwMode="auto">
            <a:xfrm>
              <a:off x="656" y="3362"/>
              <a:ext cx="1043" cy="279"/>
            </a:xfrm>
            <a:custGeom>
              <a:avLst/>
              <a:gdLst>
                <a:gd name="T0" fmla="*/ 0 w 1043"/>
                <a:gd name="T1" fmla="*/ 279 h 279"/>
                <a:gd name="T2" fmla="*/ 159 w 1043"/>
                <a:gd name="T3" fmla="*/ 94 h 279"/>
                <a:gd name="T4" fmla="*/ 591 w 1043"/>
                <a:gd name="T5" fmla="*/ 1 h 279"/>
                <a:gd name="T6" fmla="*/ 896 w 1043"/>
                <a:gd name="T7" fmla="*/ 102 h 279"/>
                <a:gd name="T8" fmla="*/ 1043 w 1043"/>
                <a:gd name="T9" fmla="*/ 279 h 279"/>
                <a:gd name="T10" fmla="*/ 0 60000 65536"/>
                <a:gd name="T11" fmla="*/ 0 60000 65536"/>
                <a:gd name="T12" fmla="*/ 0 60000 65536"/>
                <a:gd name="T13" fmla="*/ 0 60000 65536"/>
                <a:gd name="T14" fmla="*/ 0 60000 65536"/>
                <a:gd name="T15" fmla="*/ 0 w 1043"/>
                <a:gd name="T16" fmla="*/ 0 h 279"/>
                <a:gd name="T17" fmla="*/ 1043 w 1043"/>
                <a:gd name="T18" fmla="*/ 279 h 279"/>
              </a:gdLst>
              <a:ahLst/>
              <a:cxnLst>
                <a:cxn ang="T10">
                  <a:pos x="T0" y="T1"/>
                </a:cxn>
                <a:cxn ang="T11">
                  <a:pos x="T2" y="T3"/>
                </a:cxn>
                <a:cxn ang="T12">
                  <a:pos x="T4" y="T5"/>
                </a:cxn>
                <a:cxn ang="T13">
                  <a:pos x="T6" y="T7"/>
                </a:cxn>
                <a:cxn ang="T14">
                  <a:pos x="T8" y="T9"/>
                </a:cxn>
              </a:cxnLst>
              <a:rect l="T15" t="T16" r="T17" b="T18"/>
              <a:pathLst>
                <a:path w="1043" h="279">
                  <a:moveTo>
                    <a:pt x="0" y="279"/>
                  </a:moveTo>
                  <a:cubicBezTo>
                    <a:pt x="26" y="248"/>
                    <a:pt x="61" y="140"/>
                    <a:pt x="159" y="94"/>
                  </a:cubicBezTo>
                  <a:cubicBezTo>
                    <a:pt x="257" y="48"/>
                    <a:pt x="468" y="0"/>
                    <a:pt x="591" y="1"/>
                  </a:cubicBezTo>
                  <a:cubicBezTo>
                    <a:pt x="714" y="2"/>
                    <a:pt x="821" y="56"/>
                    <a:pt x="896" y="102"/>
                  </a:cubicBezTo>
                  <a:cubicBezTo>
                    <a:pt x="971" y="148"/>
                    <a:pt x="1013" y="242"/>
                    <a:pt x="1043" y="279"/>
                  </a:cubicBezTo>
                </a:path>
              </a:pathLst>
            </a:custGeom>
            <a:blipFill dpi="0" rotWithShape="1">
              <a:blip r:embed="rId6"/>
              <a:srcRect/>
              <a:tile tx="0" ty="0" sx="100000" sy="100000" flip="none" algn="tl"/>
            </a:blipFill>
            <a:ln w="9525">
              <a:solidFill>
                <a:schemeClr val="tx1"/>
              </a:solidFill>
              <a:round/>
              <a:headEnd/>
              <a:tailEnd/>
            </a:ln>
          </p:spPr>
          <p:txBody>
            <a:bodyPr lIns="0" tIns="0" rIns="0" bIns="0">
              <a:spAutoFit/>
            </a:bodyPr>
            <a:lstStyle/>
            <a:p>
              <a:endParaRPr lang="zh-CN" altLang="en-US"/>
            </a:p>
          </p:txBody>
        </p:sp>
      </p:grpSp>
      <p:sp>
        <p:nvSpPr>
          <p:cNvPr id="1355825" name="AutoShape 49"/>
          <p:cNvSpPr>
            <a:spLocks noChangeArrowheads="1"/>
          </p:cNvSpPr>
          <p:nvPr/>
        </p:nvSpPr>
        <p:spPr bwMode="auto">
          <a:xfrm>
            <a:off x="7031228" y="1314525"/>
            <a:ext cx="1239837" cy="643414"/>
          </a:xfrm>
          <a:prstGeom prst="downArrowCallout">
            <a:avLst>
              <a:gd name="adj1" fmla="val 48449"/>
              <a:gd name="adj2" fmla="val 48449"/>
              <a:gd name="adj3" fmla="val 16667"/>
              <a:gd name="adj4" fmla="val 66667"/>
            </a:avLst>
          </a:prstGeom>
          <a:solidFill>
            <a:schemeClr val="accent6">
              <a:lumMod val="75000"/>
            </a:schemeClr>
          </a:solidFill>
          <a:ln>
            <a:noFill/>
          </a:ln>
        </p:spPr>
        <p:txBody>
          <a:bodyPr lIns="0" tIns="0" rIns="0" bIns="0">
            <a:spAutoFit/>
          </a:bodyPr>
          <a:lstStyle/>
          <a:p>
            <a:pPr algn="ctr">
              <a:lnSpc>
                <a:spcPct val="100000"/>
              </a:lnSpc>
              <a:spcBef>
                <a:spcPct val="0"/>
              </a:spcBef>
              <a:spcAft>
                <a:spcPct val="0"/>
              </a:spcAft>
            </a:pPr>
            <a:r>
              <a:rPr kumimoji="1" lang="en-US" altLang="zh-CN" sz="2800" b="1" dirty="0">
                <a:solidFill>
                  <a:srgbClr val="6600CC"/>
                </a:solidFill>
                <a:ea typeface="华文新魏" pitchFamily="2" charset="-122"/>
                <a:cs typeface="Times New Roman" pitchFamily="18" charset="0"/>
              </a:rPr>
              <a:t>200g</a:t>
            </a:r>
            <a:r>
              <a:rPr kumimoji="1" lang="zh-CN" altLang="en-US" sz="2800" b="1" dirty="0">
                <a:solidFill>
                  <a:srgbClr val="6600CC"/>
                </a:solidFill>
                <a:ea typeface="华文新魏" pitchFamily="2" charset="-122"/>
                <a:cs typeface="Times New Roman" pitchFamily="18" charset="0"/>
              </a:rPr>
              <a:t>土</a:t>
            </a:r>
          </a:p>
        </p:txBody>
      </p:sp>
      <p:sp>
        <p:nvSpPr>
          <p:cNvPr id="1355826" name="Text Box 50"/>
          <p:cNvSpPr txBox="1">
            <a:spLocks noChangeArrowheads="1"/>
          </p:cNvSpPr>
          <p:nvPr/>
        </p:nvSpPr>
        <p:spPr bwMode="auto">
          <a:xfrm>
            <a:off x="7696756" y="1174825"/>
            <a:ext cx="618759" cy="4505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r" eaLnBrk="1" hangingPunct="1">
              <a:lnSpc>
                <a:spcPct val="100000"/>
              </a:lnSpc>
              <a:spcBef>
                <a:spcPct val="20000"/>
              </a:spcBef>
              <a:spcAft>
                <a:spcPct val="20000"/>
              </a:spcAft>
            </a:pPr>
            <a:r>
              <a:rPr kumimoji="1" lang="zh-CN" altLang="en-US" sz="2400" b="1" dirty="0">
                <a:solidFill>
                  <a:srgbClr val="008000"/>
                </a:solidFill>
                <a:ea typeface="幼圆" pitchFamily="49" charset="-122"/>
                <a:cs typeface="Times New Roman" pitchFamily="18" charset="0"/>
              </a:rPr>
              <a:t>筛余</a:t>
            </a:r>
            <a:endParaRPr kumimoji="1" lang="en-US" altLang="zh-CN" sz="2400" b="1" dirty="0">
              <a:solidFill>
                <a:srgbClr val="008000"/>
              </a:solidFill>
              <a:ea typeface="幼圆" pitchFamily="49" charset="-122"/>
              <a:cs typeface="Times New Roman" pitchFamily="18" charset="0"/>
            </a:endParaRP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0</a:t>
            </a: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10</a:t>
            </a: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16</a:t>
            </a: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18</a:t>
            </a: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24</a:t>
            </a: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22</a:t>
            </a:r>
          </a:p>
          <a:p>
            <a:pPr algn="r" eaLnBrk="1" hangingPunct="1">
              <a:lnSpc>
                <a:spcPct val="100000"/>
              </a:lnSpc>
              <a:spcBef>
                <a:spcPct val="20000"/>
              </a:spcBef>
              <a:spcAft>
                <a:spcPct val="20000"/>
              </a:spcAft>
            </a:pPr>
            <a:r>
              <a:rPr kumimoji="1" lang="en-US" altLang="zh-CN" sz="2400" b="1" dirty="0" smtClean="0">
                <a:solidFill>
                  <a:srgbClr val="008000"/>
                </a:solidFill>
                <a:ea typeface="幼圆" pitchFamily="49" charset="-122"/>
                <a:cs typeface="Times New Roman" pitchFamily="18" charset="0"/>
              </a:rPr>
              <a:t>46</a:t>
            </a:r>
            <a:endParaRPr kumimoji="1" lang="en-US" altLang="zh-CN" sz="2400" b="1" dirty="0">
              <a:solidFill>
                <a:srgbClr val="008000"/>
              </a:solidFill>
              <a:ea typeface="幼圆" pitchFamily="49" charset="-122"/>
              <a:cs typeface="Times New Roman" pitchFamily="18" charset="0"/>
            </a:endParaRPr>
          </a:p>
          <a:p>
            <a:pPr algn="r" eaLnBrk="1" hangingPunct="1">
              <a:lnSpc>
                <a:spcPct val="100000"/>
              </a:lnSpc>
              <a:spcBef>
                <a:spcPct val="20000"/>
              </a:spcBef>
              <a:spcAft>
                <a:spcPct val="20000"/>
              </a:spcAft>
            </a:pPr>
            <a:r>
              <a:rPr kumimoji="1" lang="en-US" altLang="zh-CN" sz="2400" b="1" dirty="0" smtClean="0">
                <a:solidFill>
                  <a:srgbClr val="008000"/>
                </a:solidFill>
                <a:ea typeface="幼圆" pitchFamily="49" charset="-122"/>
                <a:cs typeface="Times New Roman" pitchFamily="18" charset="0"/>
              </a:rPr>
              <a:t>64</a:t>
            </a:r>
            <a:endParaRPr kumimoji="1" lang="en-US" altLang="zh-CN" sz="2400" b="1" dirty="0">
              <a:solidFill>
                <a:srgbClr val="008000"/>
              </a:solidFill>
              <a:ea typeface="幼圆" pitchFamily="49" charset="-122"/>
              <a:cs typeface="Times New Roman" pitchFamily="18" charset="0"/>
            </a:endParaRPr>
          </a:p>
        </p:txBody>
      </p:sp>
      <p:sp>
        <p:nvSpPr>
          <p:cNvPr id="1355911" name="Text Box 135"/>
          <p:cNvSpPr txBox="1">
            <a:spLocks noChangeArrowheads="1"/>
          </p:cNvSpPr>
          <p:nvPr/>
        </p:nvSpPr>
        <p:spPr bwMode="auto">
          <a:xfrm>
            <a:off x="8558605" y="1405013"/>
            <a:ext cx="423193" cy="3927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ct val="20000"/>
              </a:spcBef>
              <a:spcAft>
                <a:spcPct val="20000"/>
              </a:spcAft>
            </a:pPr>
            <a:r>
              <a:rPr kumimoji="1" lang="en-US" altLang="zh-CN" sz="2200" b="1" i="1" dirty="0">
                <a:solidFill>
                  <a:srgbClr val="C00000"/>
                </a:solidFill>
                <a:ea typeface="华文新魏" pitchFamily="2" charset="-122"/>
              </a:rPr>
              <a:t>P</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100</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95</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87</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78</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66</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55</a:t>
            </a:r>
          </a:p>
          <a:p>
            <a:pPr eaLnBrk="1" hangingPunct="1">
              <a:lnSpc>
                <a:spcPct val="110000"/>
              </a:lnSpc>
              <a:spcBef>
                <a:spcPct val="20000"/>
              </a:spcBef>
              <a:spcAft>
                <a:spcPct val="20000"/>
              </a:spcAft>
            </a:pPr>
            <a:r>
              <a:rPr kumimoji="1" lang="en-US" altLang="zh-CN" sz="2200" b="1" dirty="0" smtClean="0">
                <a:solidFill>
                  <a:srgbClr val="C00000"/>
                </a:solidFill>
                <a:ea typeface="华文新魏" pitchFamily="2" charset="-122"/>
              </a:rPr>
              <a:t>32</a:t>
            </a:r>
            <a:endParaRPr kumimoji="1" lang="en-US" altLang="zh-CN" sz="2200" b="1" dirty="0">
              <a:solidFill>
                <a:srgbClr val="C00000"/>
              </a:solidFill>
              <a:ea typeface="华文新魏" pitchFamily="2" charset="-122"/>
            </a:endParaRPr>
          </a:p>
        </p:txBody>
      </p:sp>
      <p:sp>
        <p:nvSpPr>
          <p:cNvPr id="147"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48" name="Text Box 6"/>
          <p:cNvSpPr txBox="1">
            <a:spLocks noChangeArrowheads="1"/>
          </p:cNvSpPr>
          <p:nvPr/>
        </p:nvSpPr>
        <p:spPr bwMode="auto">
          <a:xfrm>
            <a:off x="105030" y="572012"/>
            <a:ext cx="6935847"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en-US" altLang="zh-CN" sz="2400" b="1" dirty="0" smtClean="0">
                <a:solidFill>
                  <a:srgbClr val="C00000"/>
                </a:solidFill>
                <a:ea typeface="幼圆" pitchFamily="49" charset="-122"/>
                <a:cs typeface="Times New Roman" panose="02020603050405020304" pitchFamily="18" charset="0"/>
              </a:rPr>
              <a:t>【</a:t>
            </a:r>
            <a:r>
              <a:rPr kumimoji="1" lang="zh-CN" altLang="en-US" sz="2400" b="1" dirty="0">
                <a:solidFill>
                  <a:srgbClr val="C00000"/>
                </a:solidFill>
                <a:ea typeface="幼圆" pitchFamily="49" charset="-122"/>
                <a:cs typeface="Times New Roman" panose="02020603050405020304" pitchFamily="18" charset="0"/>
              </a:rPr>
              <a:t>例题</a:t>
            </a:r>
            <a:r>
              <a:rPr kumimoji="1" lang="en-US" altLang="zh-CN" sz="2400" b="1" dirty="0" smtClean="0">
                <a:solidFill>
                  <a:srgbClr val="C00000"/>
                </a:solidFill>
                <a:ea typeface="幼圆" pitchFamily="49" charset="-122"/>
                <a:cs typeface="Times New Roman" panose="02020603050405020304" pitchFamily="18" charset="0"/>
              </a:rPr>
              <a:t>】</a:t>
            </a:r>
            <a:r>
              <a:rPr kumimoji="1" lang="zh-CN" altLang="en-US" sz="2400" b="1" dirty="0" smtClean="0">
                <a:solidFill>
                  <a:srgbClr val="C00000"/>
                </a:solidFill>
                <a:ea typeface="幼圆" pitchFamily="49" charset="-122"/>
                <a:cs typeface="Times New Roman" panose="02020603050405020304" pitchFamily="18" charset="0"/>
              </a:rPr>
              <a:t>：</a:t>
            </a:r>
            <a:r>
              <a:rPr kumimoji="1" lang="zh-CN" altLang="en-US" sz="2400" b="1" dirty="0" smtClean="0">
                <a:solidFill>
                  <a:srgbClr val="000066"/>
                </a:solidFill>
                <a:ea typeface="幼圆" pitchFamily="49" charset="-122"/>
                <a:cs typeface="Times New Roman" panose="02020603050405020304" pitchFamily="18" charset="0"/>
              </a:rPr>
              <a:t>分析</a:t>
            </a:r>
            <a:r>
              <a:rPr kumimoji="1" lang="en-US" altLang="zh-CN" sz="2400" b="1" dirty="0" smtClean="0">
                <a:solidFill>
                  <a:srgbClr val="000066"/>
                </a:solidFill>
                <a:ea typeface="幼圆" pitchFamily="49" charset="-122"/>
                <a:cs typeface="Times New Roman" panose="02020603050405020304" pitchFamily="18" charset="0"/>
              </a:rPr>
              <a:t>200g</a:t>
            </a:r>
            <a:r>
              <a:rPr kumimoji="1" lang="zh-CN" altLang="en-US" sz="2400" b="1" dirty="0" smtClean="0">
                <a:solidFill>
                  <a:srgbClr val="000066"/>
                </a:solidFill>
                <a:ea typeface="幼圆" pitchFamily="49" charset="-122"/>
                <a:cs typeface="Times New Roman" panose="02020603050405020304" pitchFamily="18" charset="0"/>
              </a:rPr>
              <a:t>某种干土的粒径</a:t>
            </a:r>
            <a:r>
              <a:rPr kumimoji="1" lang="zh-CN" altLang="en-US" sz="2400" b="1" dirty="0">
                <a:solidFill>
                  <a:srgbClr val="000066"/>
                </a:solidFill>
                <a:ea typeface="幼圆" pitchFamily="49" charset="-122"/>
                <a:cs typeface="Times New Roman" panose="02020603050405020304" pitchFamily="18" charset="0"/>
              </a:rPr>
              <a:t>级配累积</a:t>
            </a:r>
            <a:r>
              <a:rPr kumimoji="1" lang="zh-CN" altLang="en-US" sz="2400" b="1" dirty="0" smtClean="0">
                <a:solidFill>
                  <a:srgbClr val="000066"/>
                </a:solidFill>
                <a:ea typeface="幼圆" pitchFamily="49" charset="-122"/>
                <a:cs typeface="Times New Roman" panose="02020603050405020304" pitchFamily="18" charset="0"/>
              </a:rPr>
              <a:t>曲线。</a:t>
            </a:r>
            <a:endParaRPr kumimoji="1" lang="zh-CN" altLang="en-US" sz="2400" b="1" dirty="0">
              <a:solidFill>
                <a:srgbClr val="000066"/>
              </a:solidFill>
              <a:ea typeface="幼圆" pitchFamily="49" charset="-122"/>
              <a:cs typeface="Times New Roman" panose="02020603050405020304" pitchFamily="18" charset="0"/>
            </a:endParaRPr>
          </a:p>
        </p:txBody>
      </p:sp>
      <p:sp>
        <p:nvSpPr>
          <p:cNvPr id="149" name="Text Box 6"/>
          <p:cNvSpPr txBox="1">
            <a:spLocks noChangeArrowheads="1"/>
          </p:cNvSpPr>
          <p:nvPr/>
        </p:nvSpPr>
        <p:spPr bwMode="auto">
          <a:xfrm>
            <a:off x="270684" y="1402756"/>
            <a:ext cx="235555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zh-CN" altLang="en-US" sz="2400" b="1" dirty="0" smtClean="0">
                <a:solidFill>
                  <a:srgbClr val="C00000"/>
                </a:solidFill>
                <a:latin typeface="幼圆" pitchFamily="49" charset="-122"/>
                <a:ea typeface="幼圆" pitchFamily="49" charset="-122"/>
              </a:rPr>
              <a:t>（</a:t>
            </a:r>
            <a:r>
              <a:rPr kumimoji="1" lang="en-US" altLang="zh-CN" sz="2400" b="1" dirty="0" smtClean="0">
                <a:solidFill>
                  <a:srgbClr val="C00000"/>
                </a:solidFill>
                <a:latin typeface="幼圆" pitchFamily="49" charset="-122"/>
                <a:ea typeface="幼圆" pitchFamily="49" charset="-122"/>
              </a:rPr>
              <a:t>1</a:t>
            </a:r>
            <a:r>
              <a:rPr kumimoji="1" lang="zh-CN" altLang="en-US" sz="2400" b="1" dirty="0" smtClean="0">
                <a:solidFill>
                  <a:srgbClr val="C00000"/>
                </a:solidFill>
                <a:latin typeface="幼圆" pitchFamily="49" charset="-122"/>
                <a:ea typeface="幼圆" pitchFamily="49" charset="-122"/>
              </a:rPr>
              <a:t>）筛分：</a:t>
            </a:r>
            <a:endParaRPr kumimoji="1" lang="zh-CN" altLang="en-US" sz="2400" b="1" dirty="0">
              <a:solidFill>
                <a:srgbClr val="000066"/>
              </a:solidFill>
              <a:latin typeface="幼圆" pitchFamily="49" charset="-122"/>
              <a:ea typeface="幼圆" pitchFamily="49" charset="-122"/>
            </a:endParaRPr>
          </a:p>
        </p:txBody>
      </p:sp>
      <p:sp>
        <p:nvSpPr>
          <p:cNvPr id="16" name="矩形 15"/>
          <p:cNvSpPr/>
          <p:nvPr/>
        </p:nvSpPr>
        <p:spPr>
          <a:xfrm>
            <a:off x="744274" y="1998190"/>
            <a:ext cx="4433776" cy="1154162"/>
          </a:xfrm>
          <a:prstGeom prst="rect">
            <a:avLst/>
          </a:prstGeom>
        </p:spPr>
        <p:txBody>
          <a:bodyPr wrap="square">
            <a:spAutoFit/>
          </a:bodyPr>
          <a:lstStyle/>
          <a:p>
            <a:pPr marL="265113" indent="-265113">
              <a:buSzPct val="130000"/>
              <a:buFont typeface="Arial" panose="020B0604020202020204" pitchFamily="34" charset="0"/>
              <a:buChar char="•"/>
            </a:pPr>
            <a:r>
              <a:rPr lang="zh-CN" altLang="en-US" sz="2000" b="1" dirty="0">
                <a:solidFill>
                  <a:srgbClr val="C00000"/>
                </a:solidFill>
                <a:latin typeface="幼圆" panose="02010509060101010101" pitchFamily="49" charset="-122"/>
                <a:ea typeface="幼圆" panose="02010509060101010101" pitchFamily="49" charset="-122"/>
              </a:rPr>
              <a:t>筛</a:t>
            </a:r>
            <a:r>
              <a:rPr lang="zh-CN" altLang="en-US" sz="2000" b="1" dirty="0" smtClean="0">
                <a:solidFill>
                  <a:srgbClr val="C00000"/>
                </a:solidFill>
                <a:latin typeface="幼圆" panose="02010509060101010101" pitchFamily="49" charset="-122"/>
                <a:ea typeface="幼圆" panose="02010509060101010101" pitchFamily="49" charset="-122"/>
              </a:rPr>
              <a:t>余：</a:t>
            </a:r>
            <a:r>
              <a:rPr lang="zh-CN" altLang="en-US" sz="2000" b="1" dirty="0" smtClean="0">
                <a:solidFill>
                  <a:srgbClr val="000066"/>
                </a:solidFill>
                <a:latin typeface="幼圆" panose="02010509060101010101" pitchFamily="49" charset="-122"/>
                <a:ea typeface="幼圆" panose="02010509060101010101" pitchFamily="49" charset="-122"/>
              </a:rPr>
              <a:t>每</a:t>
            </a:r>
            <a:r>
              <a:rPr lang="zh-CN" altLang="en-US" sz="2000" b="1" dirty="0">
                <a:solidFill>
                  <a:srgbClr val="000066"/>
                </a:solidFill>
                <a:latin typeface="幼圆" panose="02010509060101010101" pitchFamily="49" charset="-122"/>
                <a:ea typeface="幼圆" panose="02010509060101010101" pitchFamily="49" charset="-122"/>
              </a:rPr>
              <a:t>级筛子上残留的土的</a:t>
            </a:r>
            <a:r>
              <a:rPr lang="zh-CN" altLang="en-US" sz="2000" b="1" dirty="0" smtClean="0">
                <a:solidFill>
                  <a:srgbClr val="000066"/>
                </a:solidFill>
                <a:latin typeface="幼圆" panose="02010509060101010101" pitchFamily="49" charset="-122"/>
                <a:ea typeface="幼圆" panose="02010509060101010101" pitchFamily="49" charset="-122"/>
              </a:rPr>
              <a:t>质量。其粒径大于本级筛子的筛孔孔径，小于上一级筛子</a:t>
            </a:r>
            <a:r>
              <a:rPr lang="zh-CN" altLang="en-US" sz="2000" b="1" dirty="0">
                <a:solidFill>
                  <a:srgbClr val="000066"/>
                </a:solidFill>
                <a:latin typeface="幼圆" panose="02010509060101010101" pitchFamily="49" charset="-122"/>
                <a:ea typeface="幼圆" panose="02010509060101010101" pitchFamily="49" charset="-122"/>
              </a:rPr>
              <a:t>的</a:t>
            </a:r>
            <a:r>
              <a:rPr lang="zh-CN" altLang="en-US" sz="2000" b="1" dirty="0" smtClean="0">
                <a:solidFill>
                  <a:srgbClr val="000066"/>
                </a:solidFill>
                <a:latin typeface="幼圆" panose="02010509060101010101" pitchFamily="49" charset="-122"/>
                <a:ea typeface="幼圆" panose="02010509060101010101" pitchFamily="49" charset="-122"/>
              </a:rPr>
              <a:t>筛孔孔径。</a:t>
            </a:r>
            <a:endParaRPr lang="zh-CN" altLang="en-US" sz="2000" b="1" dirty="0">
              <a:solidFill>
                <a:srgbClr val="000066"/>
              </a:solidFill>
              <a:latin typeface="幼圆" panose="02010509060101010101" pitchFamily="49" charset="-122"/>
              <a:ea typeface="幼圆" panose="02010509060101010101" pitchFamily="49" charset="-122"/>
            </a:endParaRPr>
          </a:p>
        </p:txBody>
      </p:sp>
      <p:sp>
        <p:nvSpPr>
          <p:cNvPr id="150" name="矩形 149"/>
          <p:cNvSpPr/>
          <p:nvPr/>
        </p:nvSpPr>
        <p:spPr>
          <a:xfrm>
            <a:off x="758453" y="3288282"/>
            <a:ext cx="4653511" cy="446276"/>
          </a:xfrm>
          <a:prstGeom prst="rect">
            <a:avLst/>
          </a:prstGeom>
        </p:spPr>
        <p:txBody>
          <a:bodyPr wrap="square">
            <a:spAutoFit/>
          </a:bodyPr>
          <a:lstStyle/>
          <a:p>
            <a:pPr marL="265113" indent="-265113">
              <a:buClr>
                <a:srgbClr val="C00000"/>
              </a:buClr>
              <a:buSzPct val="130000"/>
              <a:buFont typeface="Arial" panose="020B0604020202020204" pitchFamily="34" charset="0"/>
              <a:buChar char="•"/>
            </a:pPr>
            <a:r>
              <a:rPr lang="zh-CN" altLang="en-US" sz="2000" b="1" dirty="0">
                <a:solidFill>
                  <a:srgbClr val="C00000"/>
                </a:solidFill>
                <a:latin typeface="幼圆" panose="02010509060101010101" pitchFamily="49" charset="-122"/>
                <a:ea typeface="幼圆" panose="02010509060101010101" pitchFamily="49" charset="-122"/>
              </a:rPr>
              <a:t>小于某粒径之土质量</a:t>
            </a:r>
            <a:r>
              <a:rPr lang="en-US" altLang="zh-CN" sz="2000" b="1" dirty="0" err="1">
                <a:solidFill>
                  <a:srgbClr val="C00000"/>
                </a:solidFill>
                <a:latin typeface="幼圆" panose="02010509060101010101" pitchFamily="49" charset="-122"/>
                <a:ea typeface="幼圆" panose="02010509060101010101" pitchFamily="49" charset="-122"/>
              </a:rPr>
              <a:t>百分数</a:t>
            </a:r>
            <a:r>
              <a:rPr lang="en-US" altLang="zh-CN" sz="2000" b="1" i="1" dirty="0" err="1">
                <a:solidFill>
                  <a:srgbClr val="C00000"/>
                </a:solidFill>
                <a:latin typeface="幼圆" panose="02010509060101010101" pitchFamily="49" charset="-122"/>
                <a:ea typeface="幼圆" panose="02010509060101010101" pitchFamily="49" charset="-122"/>
              </a:rPr>
              <a:t>P</a:t>
            </a:r>
            <a:r>
              <a:rPr lang="zh-CN" altLang="en-US" sz="2000" b="1" dirty="0">
                <a:solidFill>
                  <a:srgbClr val="C00000"/>
                </a:solidFill>
                <a:latin typeface="幼圆" panose="02010509060101010101" pitchFamily="49" charset="-122"/>
                <a:ea typeface="幼圆" panose="02010509060101010101" pitchFamily="49" charset="-122"/>
              </a:rPr>
              <a:t>（</a:t>
            </a:r>
            <a:r>
              <a:rPr lang="en-US" altLang="zh-CN" sz="2000" b="1" dirty="0">
                <a:solidFill>
                  <a:srgbClr val="C00000"/>
                </a:solidFill>
                <a:latin typeface="幼圆" panose="02010509060101010101" pitchFamily="49" charset="-122"/>
                <a:ea typeface="幼圆" panose="02010509060101010101" pitchFamily="49" charset="-122"/>
              </a:rPr>
              <a:t>%</a:t>
            </a:r>
            <a:r>
              <a:rPr lang="zh-CN" altLang="en-US" sz="2000" b="1" dirty="0">
                <a:solidFill>
                  <a:srgbClr val="C00000"/>
                </a:solidFill>
                <a:latin typeface="幼圆" panose="02010509060101010101" pitchFamily="49" charset="-122"/>
                <a:ea typeface="幼圆" panose="02010509060101010101" pitchFamily="49" charset="-122"/>
              </a:rPr>
              <a:t>）</a:t>
            </a:r>
            <a:r>
              <a:rPr lang="zh-CN" altLang="en-US" sz="2000" b="1" dirty="0" smtClean="0">
                <a:solidFill>
                  <a:srgbClr val="000066"/>
                </a:solidFill>
                <a:latin typeface="幼圆" panose="02010509060101010101" pitchFamily="49" charset="-122"/>
                <a:ea typeface="幼圆" panose="02010509060101010101" pitchFamily="49" charset="-122"/>
              </a:rPr>
              <a:t>：</a:t>
            </a:r>
            <a:endParaRPr lang="zh-CN" altLang="en-US" sz="2000" b="1" dirty="0">
              <a:solidFill>
                <a:srgbClr val="000066"/>
              </a:solidFill>
              <a:latin typeface="幼圆" panose="02010509060101010101" pitchFamily="49" charset="-122"/>
              <a:ea typeface="幼圆" panose="02010509060101010101" pitchFamily="49" charset="-122"/>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3228681333"/>
              </p:ext>
            </p:extLst>
          </p:nvPr>
        </p:nvGraphicFramePr>
        <p:xfrm>
          <a:off x="1060450" y="3924300"/>
          <a:ext cx="4235450" cy="703263"/>
        </p:xfrm>
        <a:graphic>
          <a:graphicData uri="http://schemas.openxmlformats.org/presentationml/2006/ole">
            <mc:AlternateContent xmlns:mc="http://schemas.openxmlformats.org/markup-compatibility/2006">
              <mc:Choice xmlns:v="urn:schemas-microsoft-com:vml" Requires="v">
                <p:oleObj spid="_x0000_s45173" name="公式" r:id="rId7" imgW="2527200" imgH="419040" progId="Equation.3">
                  <p:embed/>
                </p:oleObj>
              </mc:Choice>
              <mc:Fallback>
                <p:oleObj name="公式" r:id="rId7" imgW="2527200" imgH="419040" progId="Equation.3">
                  <p:embed/>
                  <p:pic>
                    <p:nvPicPr>
                      <p:cNvPr id="0" name=""/>
                      <p:cNvPicPr>
                        <a:picLocks noChangeAspect="1" noChangeArrowheads="1"/>
                      </p:cNvPicPr>
                      <p:nvPr/>
                    </p:nvPicPr>
                    <p:blipFill>
                      <a:blip r:embed="rId8"/>
                      <a:srcRect/>
                      <a:stretch>
                        <a:fillRect/>
                      </a:stretch>
                    </p:blipFill>
                    <p:spPr bwMode="auto">
                      <a:xfrm>
                        <a:off x="1060450" y="3924300"/>
                        <a:ext cx="4235450" cy="70326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5701762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wipe(left)">
                                      <p:cBhvr>
                                        <p:cTn id="7" dur="1000"/>
                                        <p:tgtEl>
                                          <p:spTgt spid="149"/>
                                        </p:tgtEl>
                                      </p:cBhvr>
                                    </p:animEffect>
                                  </p:childTnLst>
                                </p:cTn>
                              </p:par>
                            </p:childTnLst>
                          </p:cTn>
                        </p:par>
                        <p:par>
                          <p:cTn id="8" fill="hold">
                            <p:stCondLst>
                              <p:cond delay="1000"/>
                            </p:stCondLst>
                            <p:childTnLst>
                              <p:par>
                                <p:cTn id="9" presetID="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1500"/>
                            </p:stCondLst>
                            <p:childTnLst>
                              <p:par>
                                <p:cTn id="14" presetID="2" presetClass="entr" presetSubtype="1"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2000"/>
                            </p:stCondLst>
                            <p:childTnLst>
                              <p:par>
                                <p:cTn id="19" presetID="2"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0-#ppt_h/2"/>
                                          </p:val>
                                        </p:tav>
                                        <p:tav tm="100000">
                                          <p:val>
                                            <p:strVal val="#ppt_y"/>
                                          </p:val>
                                        </p:tav>
                                      </p:tavLst>
                                    </p:anim>
                                  </p:childTnLst>
                                </p:cTn>
                              </p:par>
                            </p:childTnLst>
                          </p:cTn>
                        </p:par>
                        <p:par>
                          <p:cTn id="23" fill="hold" nodeType="afterGroup">
                            <p:stCondLst>
                              <p:cond delay="2500"/>
                            </p:stCondLst>
                            <p:childTnLst>
                              <p:par>
                                <p:cTn id="24" presetID="2" presetClass="entr" presetSubtype="1"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0-#ppt_h/2"/>
                                          </p:val>
                                        </p:tav>
                                        <p:tav tm="100000">
                                          <p:val>
                                            <p:strVal val="#ppt_y"/>
                                          </p:val>
                                        </p:tav>
                                      </p:tavLst>
                                    </p:anim>
                                  </p:childTnLst>
                                </p:cTn>
                              </p:par>
                            </p:childTnLst>
                          </p:cTn>
                        </p:par>
                        <p:par>
                          <p:cTn id="28" fill="hold" nodeType="afterGroup">
                            <p:stCondLst>
                              <p:cond delay="3000"/>
                            </p:stCondLst>
                            <p:childTnLst>
                              <p:par>
                                <p:cTn id="29" presetID="2" presetClass="entr" presetSubtype="1"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0-#ppt_h/2"/>
                                          </p:val>
                                        </p:tav>
                                        <p:tav tm="100000">
                                          <p:val>
                                            <p:strVal val="#ppt_y"/>
                                          </p:val>
                                        </p:tav>
                                      </p:tavLst>
                                    </p:anim>
                                  </p:childTnLst>
                                </p:cTn>
                              </p:par>
                            </p:childTnLst>
                          </p:cTn>
                        </p:par>
                        <p:par>
                          <p:cTn id="33" fill="hold" nodeType="afterGroup">
                            <p:stCondLst>
                              <p:cond delay="3500"/>
                            </p:stCondLst>
                            <p:childTnLst>
                              <p:par>
                                <p:cTn id="34" presetID="2" presetClass="entr" presetSubtype="1" fill="hold" nodeType="after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additive="base">
                                        <p:cTn id="36" dur="500" fill="hold"/>
                                        <p:tgtEl>
                                          <p:spTgt spid="4"/>
                                        </p:tgtEl>
                                        <p:attrNameLst>
                                          <p:attrName>ppt_x</p:attrName>
                                        </p:attrNameLst>
                                      </p:cBhvr>
                                      <p:tavLst>
                                        <p:tav tm="0">
                                          <p:val>
                                            <p:strVal val="#ppt_x"/>
                                          </p:val>
                                        </p:tav>
                                        <p:tav tm="100000">
                                          <p:val>
                                            <p:strVal val="#ppt_x"/>
                                          </p:val>
                                        </p:tav>
                                      </p:tavLst>
                                    </p:anim>
                                    <p:anim calcmode="lin" valueType="num">
                                      <p:cBhvr additive="base">
                                        <p:cTn id="37" dur="500" fill="hold"/>
                                        <p:tgtEl>
                                          <p:spTgt spid="4"/>
                                        </p:tgtEl>
                                        <p:attrNameLst>
                                          <p:attrName>ppt_y</p:attrName>
                                        </p:attrNameLst>
                                      </p:cBhvr>
                                      <p:tavLst>
                                        <p:tav tm="0">
                                          <p:val>
                                            <p:strVal val="0-#ppt_h/2"/>
                                          </p:val>
                                        </p:tav>
                                        <p:tav tm="100000">
                                          <p:val>
                                            <p:strVal val="#ppt_y"/>
                                          </p:val>
                                        </p:tav>
                                      </p:tavLst>
                                    </p:anim>
                                  </p:childTnLst>
                                </p:cTn>
                              </p:par>
                            </p:childTnLst>
                          </p:cTn>
                        </p:par>
                        <p:par>
                          <p:cTn id="38" fill="hold" nodeType="afterGroup">
                            <p:stCondLst>
                              <p:cond delay="4000"/>
                            </p:stCondLst>
                            <p:childTnLst>
                              <p:par>
                                <p:cTn id="39" presetID="2" presetClass="entr" presetSubtype="1" fill="hold" nodeType="after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ppt_x"/>
                                          </p:val>
                                        </p:tav>
                                        <p:tav tm="100000">
                                          <p:val>
                                            <p:strVal val="#ppt_x"/>
                                          </p:val>
                                        </p:tav>
                                      </p:tavLst>
                                    </p:anim>
                                    <p:anim calcmode="lin" valueType="num">
                                      <p:cBhvr additive="base">
                                        <p:cTn id="42" dur="500" fill="hold"/>
                                        <p:tgtEl>
                                          <p:spTgt spid="3"/>
                                        </p:tgtEl>
                                        <p:attrNameLst>
                                          <p:attrName>ppt_y</p:attrName>
                                        </p:attrNameLst>
                                      </p:cBhvr>
                                      <p:tavLst>
                                        <p:tav tm="0">
                                          <p:val>
                                            <p:strVal val="0-#ppt_h/2"/>
                                          </p:val>
                                        </p:tav>
                                        <p:tav tm="100000">
                                          <p:val>
                                            <p:strVal val="#ppt_y"/>
                                          </p:val>
                                        </p:tav>
                                      </p:tavLst>
                                    </p:anim>
                                  </p:childTnLst>
                                </p:cTn>
                              </p:par>
                            </p:childTnLst>
                          </p:cTn>
                        </p:par>
                        <p:par>
                          <p:cTn id="43" fill="hold" nodeType="afterGroup">
                            <p:stCondLst>
                              <p:cond delay="4500"/>
                            </p:stCondLst>
                            <p:childTnLst>
                              <p:par>
                                <p:cTn id="44" presetID="2" presetClass="entr" presetSubtype="1" fill="hold" nodeType="afterEffect">
                                  <p:stCondLst>
                                    <p:cond delay="0"/>
                                  </p:stCondLst>
                                  <p:childTnLst>
                                    <p:set>
                                      <p:cBhvr>
                                        <p:cTn id="45" dur="1" fill="hold">
                                          <p:stCondLst>
                                            <p:cond delay="0"/>
                                          </p:stCondLst>
                                        </p:cTn>
                                        <p:tgtEl>
                                          <p:spTgt spid="2"/>
                                        </p:tgtEl>
                                        <p:attrNameLst>
                                          <p:attrName>style.visibility</p:attrName>
                                        </p:attrNameLst>
                                      </p:cBhvr>
                                      <p:to>
                                        <p:strVal val="visible"/>
                                      </p:to>
                                    </p:set>
                                    <p:anim calcmode="lin" valueType="num">
                                      <p:cBhvr additive="base">
                                        <p:cTn id="46" dur="500" fill="hold"/>
                                        <p:tgtEl>
                                          <p:spTgt spid="2"/>
                                        </p:tgtEl>
                                        <p:attrNameLst>
                                          <p:attrName>ppt_x</p:attrName>
                                        </p:attrNameLst>
                                      </p:cBhvr>
                                      <p:tavLst>
                                        <p:tav tm="0">
                                          <p:val>
                                            <p:strVal val="#ppt_x"/>
                                          </p:val>
                                        </p:tav>
                                        <p:tav tm="100000">
                                          <p:val>
                                            <p:strVal val="#ppt_x"/>
                                          </p:val>
                                        </p:tav>
                                      </p:tavLst>
                                    </p:anim>
                                    <p:anim calcmode="lin" valueType="num">
                                      <p:cBhvr additive="base">
                                        <p:cTn id="47" dur="500" fill="hold"/>
                                        <p:tgtEl>
                                          <p:spTgt spid="2"/>
                                        </p:tgtEl>
                                        <p:attrNameLst>
                                          <p:attrName>ppt_y</p:attrName>
                                        </p:attrNameLst>
                                      </p:cBhvr>
                                      <p:tavLst>
                                        <p:tav tm="0">
                                          <p:val>
                                            <p:strVal val="0-#ppt_h/2"/>
                                          </p:val>
                                        </p:tav>
                                        <p:tav tm="100000">
                                          <p:val>
                                            <p:strVal val="#ppt_y"/>
                                          </p:val>
                                        </p:tav>
                                      </p:tavLst>
                                    </p:anim>
                                  </p:childTnLst>
                                </p:cTn>
                              </p:par>
                            </p:childTnLst>
                          </p:cTn>
                        </p:par>
                        <p:par>
                          <p:cTn id="48" fill="hold" nodeType="afterGroup">
                            <p:stCondLst>
                              <p:cond delay="5000"/>
                            </p:stCondLst>
                            <p:childTnLst>
                              <p:par>
                                <p:cTn id="49" presetID="2" presetClass="entr" presetSubtype="8" fill="hold" grpId="0" nodeType="afterEffect">
                                  <p:stCondLst>
                                    <p:cond delay="1000"/>
                                  </p:stCondLst>
                                  <p:childTnLst>
                                    <p:set>
                                      <p:cBhvr>
                                        <p:cTn id="50" dur="1" fill="hold">
                                          <p:stCondLst>
                                            <p:cond delay="0"/>
                                          </p:stCondLst>
                                        </p:cTn>
                                        <p:tgtEl>
                                          <p:spTgt spid="1355816"/>
                                        </p:tgtEl>
                                        <p:attrNameLst>
                                          <p:attrName>style.visibility</p:attrName>
                                        </p:attrNameLst>
                                      </p:cBhvr>
                                      <p:to>
                                        <p:strVal val="visible"/>
                                      </p:to>
                                    </p:set>
                                    <p:anim calcmode="lin" valueType="num">
                                      <p:cBhvr additive="base">
                                        <p:cTn id="51" dur="500" fill="hold"/>
                                        <p:tgtEl>
                                          <p:spTgt spid="1355816"/>
                                        </p:tgtEl>
                                        <p:attrNameLst>
                                          <p:attrName>ppt_x</p:attrName>
                                        </p:attrNameLst>
                                      </p:cBhvr>
                                      <p:tavLst>
                                        <p:tav tm="0">
                                          <p:val>
                                            <p:strVal val="0-#ppt_w/2"/>
                                          </p:val>
                                        </p:tav>
                                        <p:tav tm="100000">
                                          <p:val>
                                            <p:strVal val="#ppt_x"/>
                                          </p:val>
                                        </p:tav>
                                      </p:tavLst>
                                    </p:anim>
                                    <p:anim calcmode="lin" valueType="num">
                                      <p:cBhvr additive="base">
                                        <p:cTn id="52" dur="500" fill="hold"/>
                                        <p:tgtEl>
                                          <p:spTgt spid="1355816"/>
                                        </p:tgtEl>
                                        <p:attrNameLst>
                                          <p:attrName>ppt_y</p:attrName>
                                        </p:attrNameLst>
                                      </p:cBhvr>
                                      <p:tavLst>
                                        <p:tav tm="0">
                                          <p:val>
                                            <p:strVal val="#ppt_y"/>
                                          </p:val>
                                        </p:tav>
                                        <p:tav tm="100000">
                                          <p:val>
                                            <p:strVal val="#ppt_y"/>
                                          </p:val>
                                        </p:tav>
                                      </p:tavLst>
                                    </p:anim>
                                  </p:childTnLst>
                                </p:cTn>
                              </p:par>
                            </p:childTnLst>
                          </p:cTn>
                        </p:par>
                        <p:par>
                          <p:cTn id="53" fill="hold" nodeType="afterGroup">
                            <p:stCondLst>
                              <p:cond delay="6500"/>
                            </p:stCondLst>
                            <p:childTnLst>
                              <p:par>
                                <p:cTn id="54" presetID="2" presetClass="entr" presetSubtype="1" fill="hold" grpId="0" nodeType="afterEffect">
                                  <p:stCondLst>
                                    <p:cond delay="1500"/>
                                  </p:stCondLst>
                                  <p:childTnLst>
                                    <p:set>
                                      <p:cBhvr>
                                        <p:cTn id="55" dur="1" fill="hold">
                                          <p:stCondLst>
                                            <p:cond delay="0"/>
                                          </p:stCondLst>
                                        </p:cTn>
                                        <p:tgtEl>
                                          <p:spTgt spid="1355825"/>
                                        </p:tgtEl>
                                        <p:attrNameLst>
                                          <p:attrName>style.visibility</p:attrName>
                                        </p:attrNameLst>
                                      </p:cBhvr>
                                      <p:to>
                                        <p:strVal val="visible"/>
                                      </p:to>
                                    </p:set>
                                    <p:anim calcmode="lin" valueType="num">
                                      <p:cBhvr additive="base">
                                        <p:cTn id="56" dur="500" fill="hold"/>
                                        <p:tgtEl>
                                          <p:spTgt spid="1355825"/>
                                        </p:tgtEl>
                                        <p:attrNameLst>
                                          <p:attrName>ppt_x</p:attrName>
                                        </p:attrNameLst>
                                      </p:cBhvr>
                                      <p:tavLst>
                                        <p:tav tm="0">
                                          <p:val>
                                            <p:strVal val="#ppt_x"/>
                                          </p:val>
                                        </p:tav>
                                        <p:tav tm="100000">
                                          <p:val>
                                            <p:strVal val="#ppt_x"/>
                                          </p:val>
                                        </p:tav>
                                      </p:tavLst>
                                    </p:anim>
                                    <p:anim calcmode="lin" valueType="num">
                                      <p:cBhvr additive="base">
                                        <p:cTn id="57" dur="500" fill="hold"/>
                                        <p:tgtEl>
                                          <p:spTgt spid="1355825"/>
                                        </p:tgtEl>
                                        <p:attrNameLst>
                                          <p:attrName>ppt_y</p:attrName>
                                        </p:attrNameLst>
                                      </p:cBhvr>
                                      <p:tavLst>
                                        <p:tav tm="0">
                                          <p:val>
                                            <p:strVal val="0-#ppt_h/2"/>
                                          </p:val>
                                        </p:tav>
                                        <p:tav tm="100000">
                                          <p:val>
                                            <p:strVal val="#ppt_y"/>
                                          </p:val>
                                        </p:tav>
                                      </p:tavLst>
                                    </p:anim>
                                  </p:childTnLst>
                                </p:cTn>
                              </p:par>
                            </p:childTnLst>
                          </p:cTn>
                        </p:par>
                        <p:par>
                          <p:cTn id="58" fill="hold" nodeType="afterGroup">
                            <p:stCondLst>
                              <p:cond delay="8500"/>
                            </p:stCondLst>
                            <p:childTnLst>
                              <p:par>
                                <p:cTn id="59" presetID="32" presetClass="emph" presetSubtype="0" fill="hold" nodeType="afterEffect">
                                  <p:stCondLst>
                                    <p:cond delay="2000"/>
                                  </p:stCondLst>
                                  <p:childTnLst>
                                    <p:animClr clrSpc="rgb" dir="cw">
                                      <p:cBhvr override="childStyle">
                                        <p:cTn id="60" dur="100" fill="hold"/>
                                        <p:tgtEl>
                                          <p:spTgt spid="2"/>
                                        </p:tgtEl>
                                        <p:attrNameLst>
                                          <p:attrName>style.color</p:attrName>
                                        </p:attrNameLst>
                                      </p:cBhvr>
                                      <p:to>
                                        <a:schemeClr val="accent2"/>
                                      </p:to>
                                    </p:animClr>
                                    <p:animClr clrSpc="rgb" dir="cw">
                                      <p:cBhvr>
                                        <p:cTn id="61" dur="100" fill="hold"/>
                                        <p:tgtEl>
                                          <p:spTgt spid="2"/>
                                        </p:tgtEl>
                                        <p:attrNameLst>
                                          <p:attrName>fillcolor</p:attrName>
                                        </p:attrNameLst>
                                      </p:cBhvr>
                                      <p:to>
                                        <a:schemeClr val="accent2"/>
                                      </p:to>
                                    </p:animClr>
                                    <p:set>
                                      <p:cBhvr>
                                        <p:cTn id="62" dur="100" fill="hold"/>
                                        <p:tgtEl>
                                          <p:spTgt spid="2"/>
                                        </p:tgtEl>
                                        <p:attrNameLst>
                                          <p:attrName>fill.type</p:attrName>
                                        </p:attrNameLst>
                                      </p:cBhvr>
                                      <p:to>
                                        <p:strVal val="solid"/>
                                      </p:to>
                                    </p:set>
                                    <p:set>
                                      <p:cBhvr>
                                        <p:cTn id="63" dur="100" fill="hold"/>
                                        <p:tgtEl>
                                          <p:spTgt spid="2"/>
                                        </p:tgtEl>
                                        <p:attrNameLst>
                                          <p:attrName>fill.on</p:attrName>
                                        </p:attrNameLst>
                                      </p:cBhvr>
                                      <p:to>
                                        <p:strVal val="true"/>
                                      </p:to>
                                    </p:set>
                                    <p:animRot by="120000">
                                      <p:cBhvr>
                                        <p:cTn id="64" dur="100" fill="hold">
                                          <p:stCondLst>
                                            <p:cond delay="0"/>
                                          </p:stCondLst>
                                        </p:cTn>
                                        <p:tgtEl>
                                          <p:spTgt spid="2"/>
                                        </p:tgtEl>
                                        <p:attrNameLst>
                                          <p:attrName>r</p:attrName>
                                        </p:attrNameLst>
                                      </p:cBhvr>
                                    </p:animRot>
                                    <p:animRot by="-240000">
                                      <p:cBhvr>
                                        <p:cTn id="65" dur="200" fill="hold">
                                          <p:stCondLst>
                                            <p:cond delay="200"/>
                                          </p:stCondLst>
                                        </p:cTn>
                                        <p:tgtEl>
                                          <p:spTgt spid="2"/>
                                        </p:tgtEl>
                                        <p:attrNameLst>
                                          <p:attrName>r</p:attrName>
                                        </p:attrNameLst>
                                      </p:cBhvr>
                                    </p:animRot>
                                    <p:animRot by="240000">
                                      <p:cBhvr>
                                        <p:cTn id="66" dur="200" fill="hold">
                                          <p:stCondLst>
                                            <p:cond delay="400"/>
                                          </p:stCondLst>
                                        </p:cTn>
                                        <p:tgtEl>
                                          <p:spTgt spid="2"/>
                                        </p:tgtEl>
                                        <p:attrNameLst>
                                          <p:attrName>r</p:attrName>
                                        </p:attrNameLst>
                                      </p:cBhvr>
                                    </p:animRot>
                                    <p:animRot by="-240000">
                                      <p:cBhvr>
                                        <p:cTn id="67" dur="200" fill="hold">
                                          <p:stCondLst>
                                            <p:cond delay="600"/>
                                          </p:stCondLst>
                                        </p:cTn>
                                        <p:tgtEl>
                                          <p:spTgt spid="2"/>
                                        </p:tgtEl>
                                        <p:attrNameLst>
                                          <p:attrName>r</p:attrName>
                                        </p:attrNameLst>
                                      </p:cBhvr>
                                    </p:animRot>
                                    <p:animRot by="120000">
                                      <p:cBhvr>
                                        <p:cTn id="68" dur="200" fill="hold">
                                          <p:stCondLst>
                                            <p:cond delay="800"/>
                                          </p:stCondLst>
                                        </p:cTn>
                                        <p:tgtEl>
                                          <p:spTgt spid="2"/>
                                        </p:tgtEl>
                                        <p:attrNameLst>
                                          <p:attrName>r</p:attrName>
                                        </p:attrNameLst>
                                      </p:cBhvr>
                                    </p:animRot>
                                  </p:childTnLst>
                                </p:cTn>
                              </p:par>
                              <p:par>
                                <p:cTn id="69" presetID="32" presetClass="emph" presetSubtype="0" fill="hold" nodeType="withEffect">
                                  <p:stCondLst>
                                    <p:cond delay="0"/>
                                  </p:stCondLst>
                                  <p:childTnLst>
                                    <p:animClr clrSpc="rgb" dir="cw">
                                      <p:cBhvr override="childStyle">
                                        <p:cTn id="70" dur="100" fill="hold"/>
                                        <p:tgtEl>
                                          <p:spTgt spid="3"/>
                                        </p:tgtEl>
                                        <p:attrNameLst>
                                          <p:attrName>style.color</p:attrName>
                                        </p:attrNameLst>
                                      </p:cBhvr>
                                      <p:to>
                                        <a:schemeClr val="accent2"/>
                                      </p:to>
                                    </p:animClr>
                                    <p:animClr clrSpc="rgb" dir="cw">
                                      <p:cBhvr>
                                        <p:cTn id="71" dur="100" fill="hold"/>
                                        <p:tgtEl>
                                          <p:spTgt spid="3"/>
                                        </p:tgtEl>
                                        <p:attrNameLst>
                                          <p:attrName>fillcolor</p:attrName>
                                        </p:attrNameLst>
                                      </p:cBhvr>
                                      <p:to>
                                        <a:schemeClr val="accent2"/>
                                      </p:to>
                                    </p:animClr>
                                    <p:set>
                                      <p:cBhvr>
                                        <p:cTn id="72" dur="100" fill="hold"/>
                                        <p:tgtEl>
                                          <p:spTgt spid="3"/>
                                        </p:tgtEl>
                                        <p:attrNameLst>
                                          <p:attrName>fill.type</p:attrName>
                                        </p:attrNameLst>
                                      </p:cBhvr>
                                      <p:to>
                                        <p:strVal val="solid"/>
                                      </p:to>
                                    </p:set>
                                    <p:set>
                                      <p:cBhvr>
                                        <p:cTn id="73" dur="100" fill="hold"/>
                                        <p:tgtEl>
                                          <p:spTgt spid="3"/>
                                        </p:tgtEl>
                                        <p:attrNameLst>
                                          <p:attrName>fill.on</p:attrName>
                                        </p:attrNameLst>
                                      </p:cBhvr>
                                      <p:to>
                                        <p:strVal val="true"/>
                                      </p:to>
                                    </p:set>
                                    <p:animRot by="120000">
                                      <p:cBhvr>
                                        <p:cTn id="74" dur="100" fill="hold">
                                          <p:stCondLst>
                                            <p:cond delay="0"/>
                                          </p:stCondLst>
                                        </p:cTn>
                                        <p:tgtEl>
                                          <p:spTgt spid="3"/>
                                        </p:tgtEl>
                                        <p:attrNameLst>
                                          <p:attrName>r</p:attrName>
                                        </p:attrNameLst>
                                      </p:cBhvr>
                                    </p:animRot>
                                    <p:animRot by="-240000">
                                      <p:cBhvr>
                                        <p:cTn id="75" dur="200" fill="hold">
                                          <p:stCondLst>
                                            <p:cond delay="200"/>
                                          </p:stCondLst>
                                        </p:cTn>
                                        <p:tgtEl>
                                          <p:spTgt spid="3"/>
                                        </p:tgtEl>
                                        <p:attrNameLst>
                                          <p:attrName>r</p:attrName>
                                        </p:attrNameLst>
                                      </p:cBhvr>
                                    </p:animRot>
                                    <p:animRot by="240000">
                                      <p:cBhvr>
                                        <p:cTn id="76" dur="200" fill="hold">
                                          <p:stCondLst>
                                            <p:cond delay="400"/>
                                          </p:stCondLst>
                                        </p:cTn>
                                        <p:tgtEl>
                                          <p:spTgt spid="3"/>
                                        </p:tgtEl>
                                        <p:attrNameLst>
                                          <p:attrName>r</p:attrName>
                                        </p:attrNameLst>
                                      </p:cBhvr>
                                    </p:animRot>
                                    <p:animRot by="-240000">
                                      <p:cBhvr>
                                        <p:cTn id="77" dur="200" fill="hold">
                                          <p:stCondLst>
                                            <p:cond delay="600"/>
                                          </p:stCondLst>
                                        </p:cTn>
                                        <p:tgtEl>
                                          <p:spTgt spid="3"/>
                                        </p:tgtEl>
                                        <p:attrNameLst>
                                          <p:attrName>r</p:attrName>
                                        </p:attrNameLst>
                                      </p:cBhvr>
                                    </p:animRot>
                                    <p:animRot by="120000">
                                      <p:cBhvr>
                                        <p:cTn id="78" dur="200" fill="hold">
                                          <p:stCondLst>
                                            <p:cond delay="800"/>
                                          </p:stCondLst>
                                        </p:cTn>
                                        <p:tgtEl>
                                          <p:spTgt spid="3"/>
                                        </p:tgtEl>
                                        <p:attrNameLst>
                                          <p:attrName>r</p:attrName>
                                        </p:attrNameLst>
                                      </p:cBhvr>
                                    </p:animRot>
                                  </p:childTnLst>
                                </p:cTn>
                              </p:par>
                              <p:par>
                                <p:cTn id="79" presetID="32" presetClass="emph" presetSubtype="0" fill="hold" nodeType="withEffect">
                                  <p:stCondLst>
                                    <p:cond delay="0"/>
                                  </p:stCondLst>
                                  <p:childTnLst>
                                    <p:animClr clrSpc="rgb" dir="cw">
                                      <p:cBhvr override="childStyle">
                                        <p:cTn id="80" dur="100" fill="hold"/>
                                        <p:tgtEl>
                                          <p:spTgt spid="4"/>
                                        </p:tgtEl>
                                        <p:attrNameLst>
                                          <p:attrName>style.color</p:attrName>
                                        </p:attrNameLst>
                                      </p:cBhvr>
                                      <p:to>
                                        <a:schemeClr val="accent2"/>
                                      </p:to>
                                    </p:animClr>
                                    <p:animClr clrSpc="rgb" dir="cw">
                                      <p:cBhvr>
                                        <p:cTn id="81" dur="100" fill="hold"/>
                                        <p:tgtEl>
                                          <p:spTgt spid="4"/>
                                        </p:tgtEl>
                                        <p:attrNameLst>
                                          <p:attrName>fillcolor</p:attrName>
                                        </p:attrNameLst>
                                      </p:cBhvr>
                                      <p:to>
                                        <a:schemeClr val="accent2"/>
                                      </p:to>
                                    </p:animClr>
                                    <p:set>
                                      <p:cBhvr>
                                        <p:cTn id="82" dur="100" fill="hold"/>
                                        <p:tgtEl>
                                          <p:spTgt spid="4"/>
                                        </p:tgtEl>
                                        <p:attrNameLst>
                                          <p:attrName>fill.type</p:attrName>
                                        </p:attrNameLst>
                                      </p:cBhvr>
                                      <p:to>
                                        <p:strVal val="solid"/>
                                      </p:to>
                                    </p:set>
                                    <p:set>
                                      <p:cBhvr>
                                        <p:cTn id="83" dur="100" fill="hold"/>
                                        <p:tgtEl>
                                          <p:spTgt spid="4"/>
                                        </p:tgtEl>
                                        <p:attrNameLst>
                                          <p:attrName>fill.on</p:attrName>
                                        </p:attrNameLst>
                                      </p:cBhvr>
                                      <p:to>
                                        <p:strVal val="true"/>
                                      </p:to>
                                    </p:set>
                                    <p:animRot by="120000">
                                      <p:cBhvr>
                                        <p:cTn id="84" dur="100" fill="hold">
                                          <p:stCondLst>
                                            <p:cond delay="0"/>
                                          </p:stCondLst>
                                        </p:cTn>
                                        <p:tgtEl>
                                          <p:spTgt spid="4"/>
                                        </p:tgtEl>
                                        <p:attrNameLst>
                                          <p:attrName>r</p:attrName>
                                        </p:attrNameLst>
                                      </p:cBhvr>
                                    </p:animRot>
                                    <p:animRot by="-240000">
                                      <p:cBhvr>
                                        <p:cTn id="85" dur="200" fill="hold">
                                          <p:stCondLst>
                                            <p:cond delay="200"/>
                                          </p:stCondLst>
                                        </p:cTn>
                                        <p:tgtEl>
                                          <p:spTgt spid="4"/>
                                        </p:tgtEl>
                                        <p:attrNameLst>
                                          <p:attrName>r</p:attrName>
                                        </p:attrNameLst>
                                      </p:cBhvr>
                                    </p:animRot>
                                    <p:animRot by="240000">
                                      <p:cBhvr>
                                        <p:cTn id="86" dur="200" fill="hold">
                                          <p:stCondLst>
                                            <p:cond delay="400"/>
                                          </p:stCondLst>
                                        </p:cTn>
                                        <p:tgtEl>
                                          <p:spTgt spid="4"/>
                                        </p:tgtEl>
                                        <p:attrNameLst>
                                          <p:attrName>r</p:attrName>
                                        </p:attrNameLst>
                                      </p:cBhvr>
                                    </p:animRot>
                                    <p:animRot by="-240000">
                                      <p:cBhvr>
                                        <p:cTn id="87" dur="200" fill="hold">
                                          <p:stCondLst>
                                            <p:cond delay="600"/>
                                          </p:stCondLst>
                                        </p:cTn>
                                        <p:tgtEl>
                                          <p:spTgt spid="4"/>
                                        </p:tgtEl>
                                        <p:attrNameLst>
                                          <p:attrName>r</p:attrName>
                                        </p:attrNameLst>
                                      </p:cBhvr>
                                    </p:animRot>
                                    <p:animRot by="120000">
                                      <p:cBhvr>
                                        <p:cTn id="88" dur="200" fill="hold">
                                          <p:stCondLst>
                                            <p:cond delay="800"/>
                                          </p:stCondLst>
                                        </p:cTn>
                                        <p:tgtEl>
                                          <p:spTgt spid="4"/>
                                        </p:tgtEl>
                                        <p:attrNameLst>
                                          <p:attrName>r</p:attrName>
                                        </p:attrNameLst>
                                      </p:cBhvr>
                                    </p:animRot>
                                  </p:childTnLst>
                                </p:cTn>
                              </p:par>
                              <p:par>
                                <p:cTn id="89" presetID="32" presetClass="emph" presetSubtype="0" fill="hold" nodeType="withEffect">
                                  <p:stCondLst>
                                    <p:cond delay="0"/>
                                  </p:stCondLst>
                                  <p:childTnLst>
                                    <p:animClr clrSpc="rgb" dir="cw">
                                      <p:cBhvr override="childStyle">
                                        <p:cTn id="90" dur="100" fill="hold"/>
                                        <p:tgtEl>
                                          <p:spTgt spid="5"/>
                                        </p:tgtEl>
                                        <p:attrNameLst>
                                          <p:attrName>style.color</p:attrName>
                                        </p:attrNameLst>
                                      </p:cBhvr>
                                      <p:to>
                                        <a:schemeClr val="accent2"/>
                                      </p:to>
                                    </p:animClr>
                                    <p:animClr clrSpc="rgb" dir="cw">
                                      <p:cBhvr>
                                        <p:cTn id="91" dur="100" fill="hold"/>
                                        <p:tgtEl>
                                          <p:spTgt spid="5"/>
                                        </p:tgtEl>
                                        <p:attrNameLst>
                                          <p:attrName>fillcolor</p:attrName>
                                        </p:attrNameLst>
                                      </p:cBhvr>
                                      <p:to>
                                        <a:schemeClr val="accent2"/>
                                      </p:to>
                                    </p:animClr>
                                    <p:set>
                                      <p:cBhvr>
                                        <p:cTn id="92" dur="100" fill="hold"/>
                                        <p:tgtEl>
                                          <p:spTgt spid="5"/>
                                        </p:tgtEl>
                                        <p:attrNameLst>
                                          <p:attrName>fill.type</p:attrName>
                                        </p:attrNameLst>
                                      </p:cBhvr>
                                      <p:to>
                                        <p:strVal val="solid"/>
                                      </p:to>
                                    </p:set>
                                    <p:set>
                                      <p:cBhvr>
                                        <p:cTn id="93" dur="100" fill="hold"/>
                                        <p:tgtEl>
                                          <p:spTgt spid="5"/>
                                        </p:tgtEl>
                                        <p:attrNameLst>
                                          <p:attrName>fill.on</p:attrName>
                                        </p:attrNameLst>
                                      </p:cBhvr>
                                      <p:to>
                                        <p:strVal val="true"/>
                                      </p:to>
                                    </p:set>
                                    <p:animRot by="120000">
                                      <p:cBhvr>
                                        <p:cTn id="94" dur="100" fill="hold">
                                          <p:stCondLst>
                                            <p:cond delay="0"/>
                                          </p:stCondLst>
                                        </p:cTn>
                                        <p:tgtEl>
                                          <p:spTgt spid="5"/>
                                        </p:tgtEl>
                                        <p:attrNameLst>
                                          <p:attrName>r</p:attrName>
                                        </p:attrNameLst>
                                      </p:cBhvr>
                                    </p:animRot>
                                    <p:animRot by="-240000">
                                      <p:cBhvr>
                                        <p:cTn id="95" dur="200" fill="hold">
                                          <p:stCondLst>
                                            <p:cond delay="200"/>
                                          </p:stCondLst>
                                        </p:cTn>
                                        <p:tgtEl>
                                          <p:spTgt spid="5"/>
                                        </p:tgtEl>
                                        <p:attrNameLst>
                                          <p:attrName>r</p:attrName>
                                        </p:attrNameLst>
                                      </p:cBhvr>
                                    </p:animRot>
                                    <p:animRot by="240000">
                                      <p:cBhvr>
                                        <p:cTn id="96" dur="200" fill="hold">
                                          <p:stCondLst>
                                            <p:cond delay="400"/>
                                          </p:stCondLst>
                                        </p:cTn>
                                        <p:tgtEl>
                                          <p:spTgt spid="5"/>
                                        </p:tgtEl>
                                        <p:attrNameLst>
                                          <p:attrName>r</p:attrName>
                                        </p:attrNameLst>
                                      </p:cBhvr>
                                    </p:animRot>
                                    <p:animRot by="-240000">
                                      <p:cBhvr>
                                        <p:cTn id="97" dur="200" fill="hold">
                                          <p:stCondLst>
                                            <p:cond delay="600"/>
                                          </p:stCondLst>
                                        </p:cTn>
                                        <p:tgtEl>
                                          <p:spTgt spid="5"/>
                                        </p:tgtEl>
                                        <p:attrNameLst>
                                          <p:attrName>r</p:attrName>
                                        </p:attrNameLst>
                                      </p:cBhvr>
                                    </p:animRot>
                                    <p:animRot by="120000">
                                      <p:cBhvr>
                                        <p:cTn id="98" dur="200" fill="hold">
                                          <p:stCondLst>
                                            <p:cond delay="800"/>
                                          </p:stCondLst>
                                        </p:cTn>
                                        <p:tgtEl>
                                          <p:spTgt spid="5"/>
                                        </p:tgtEl>
                                        <p:attrNameLst>
                                          <p:attrName>r</p:attrName>
                                        </p:attrNameLst>
                                      </p:cBhvr>
                                    </p:animRot>
                                  </p:childTnLst>
                                </p:cTn>
                              </p:par>
                              <p:par>
                                <p:cTn id="99" presetID="32" presetClass="emph" presetSubtype="0" fill="hold" nodeType="withEffect">
                                  <p:stCondLst>
                                    <p:cond delay="0"/>
                                  </p:stCondLst>
                                  <p:childTnLst>
                                    <p:animClr clrSpc="rgb" dir="cw">
                                      <p:cBhvr override="childStyle">
                                        <p:cTn id="100" dur="100" fill="hold"/>
                                        <p:tgtEl>
                                          <p:spTgt spid="7"/>
                                        </p:tgtEl>
                                        <p:attrNameLst>
                                          <p:attrName>style.color</p:attrName>
                                        </p:attrNameLst>
                                      </p:cBhvr>
                                      <p:to>
                                        <a:schemeClr val="accent2"/>
                                      </p:to>
                                    </p:animClr>
                                    <p:animClr clrSpc="rgb" dir="cw">
                                      <p:cBhvr>
                                        <p:cTn id="101" dur="100" fill="hold"/>
                                        <p:tgtEl>
                                          <p:spTgt spid="7"/>
                                        </p:tgtEl>
                                        <p:attrNameLst>
                                          <p:attrName>fillcolor</p:attrName>
                                        </p:attrNameLst>
                                      </p:cBhvr>
                                      <p:to>
                                        <a:schemeClr val="accent2"/>
                                      </p:to>
                                    </p:animClr>
                                    <p:set>
                                      <p:cBhvr>
                                        <p:cTn id="102" dur="100" fill="hold"/>
                                        <p:tgtEl>
                                          <p:spTgt spid="7"/>
                                        </p:tgtEl>
                                        <p:attrNameLst>
                                          <p:attrName>fill.type</p:attrName>
                                        </p:attrNameLst>
                                      </p:cBhvr>
                                      <p:to>
                                        <p:strVal val="solid"/>
                                      </p:to>
                                    </p:set>
                                    <p:set>
                                      <p:cBhvr>
                                        <p:cTn id="103" dur="100" fill="hold"/>
                                        <p:tgtEl>
                                          <p:spTgt spid="7"/>
                                        </p:tgtEl>
                                        <p:attrNameLst>
                                          <p:attrName>fill.on</p:attrName>
                                        </p:attrNameLst>
                                      </p:cBhvr>
                                      <p:to>
                                        <p:strVal val="true"/>
                                      </p:to>
                                    </p:set>
                                    <p:animRot by="120000">
                                      <p:cBhvr>
                                        <p:cTn id="104" dur="100" fill="hold">
                                          <p:stCondLst>
                                            <p:cond delay="0"/>
                                          </p:stCondLst>
                                        </p:cTn>
                                        <p:tgtEl>
                                          <p:spTgt spid="7"/>
                                        </p:tgtEl>
                                        <p:attrNameLst>
                                          <p:attrName>r</p:attrName>
                                        </p:attrNameLst>
                                      </p:cBhvr>
                                    </p:animRot>
                                    <p:animRot by="-240000">
                                      <p:cBhvr>
                                        <p:cTn id="105" dur="200" fill="hold">
                                          <p:stCondLst>
                                            <p:cond delay="200"/>
                                          </p:stCondLst>
                                        </p:cTn>
                                        <p:tgtEl>
                                          <p:spTgt spid="7"/>
                                        </p:tgtEl>
                                        <p:attrNameLst>
                                          <p:attrName>r</p:attrName>
                                        </p:attrNameLst>
                                      </p:cBhvr>
                                    </p:animRot>
                                    <p:animRot by="240000">
                                      <p:cBhvr>
                                        <p:cTn id="106" dur="200" fill="hold">
                                          <p:stCondLst>
                                            <p:cond delay="400"/>
                                          </p:stCondLst>
                                        </p:cTn>
                                        <p:tgtEl>
                                          <p:spTgt spid="7"/>
                                        </p:tgtEl>
                                        <p:attrNameLst>
                                          <p:attrName>r</p:attrName>
                                        </p:attrNameLst>
                                      </p:cBhvr>
                                    </p:animRot>
                                    <p:animRot by="-240000">
                                      <p:cBhvr>
                                        <p:cTn id="107" dur="200" fill="hold">
                                          <p:stCondLst>
                                            <p:cond delay="600"/>
                                          </p:stCondLst>
                                        </p:cTn>
                                        <p:tgtEl>
                                          <p:spTgt spid="7"/>
                                        </p:tgtEl>
                                        <p:attrNameLst>
                                          <p:attrName>r</p:attrName>
                                        </p:attrNameLst>
                                      </p:cBhvr>
                                    </p:animRot>
                                    <p:animRot by="120000">
                                      <p:cBhvr>
                                        <p:cTn id="108" dur="200" fill="hold">
                                          <p:stCondLst>
                                            <p:cond delay="800"/>
                                          </p:stCondLst>
                                        </p:cTn>
                                        <p:tgtEl>
                                          <p:spTgt spid="7"/>
                                        </p:tgtEl>
                                        <p:attrNameLst>
                                          <p:attrName>r</p:attrName>
                                        </p:attrNameLst>
                                      </p:cBhvr>
                                    </p:animRot>
                                  </p:childTnLst>
                                </p:cTn>
                              </p:par>
                              <p:par>
                                <p:cTn id="109" presetID="32" presetClass="emph" presetSubtype="0" fill="hold" nodeType="withEffect">
                                  <p:stCondLst>
                                    <p:cond delay="0"/>
                                  </p:stCondLst>
                                  <p:childTnLst>
                                    <p:animClr clrSpc="rgb" dir="cw">
                                      <p:cBhvr override="childStyle">
                                        <p:cTn id="110" dur="100" fill="hold"/>
                                        <p:tgtEl>
                                          <p:spTgt spid="8"/>
                                        </p:tgtEl>
                                        <p:attrNameLst>
                                          <p:attrName>style.color</p:attrName>
                                        </p:attrNameLst>
                                      </p:cBhvr>
                                      <p:to>
                                        <a:schemeClr val="accent2"/>
                                      </p:to>
                                    </p:animClr>
                                    <p:animClr clrSpc="rgb" dir="cw">
                                      <p:cBhvr>
                                        <p:cTn id="111" dur="100" fill="hold"/>
                                        <p:tgtEl>
                                          <p:spTgt spid="8"/>
                                        </p:tgtEl>
                                        <p:attrNameLst>
                                          <p:attrName>fillcolor</p:attrName>
                                        </p:attrNameLst>
                                      </p:cBhvr>
                                      <p:to>
                                        <a:schemeClr val="accent2"/>
                                      </p:to>
                                    </p:animClr>
                                    <p:set>
                                      <p:cBhvr>
                                        <p:cTn id="112" dur="100" fill="hold"/>
                                        <p:tgtEl>
                                          <p:spTgt spid="8"/>
                                        </p:tgtEl>
                                        <p:attrNameLst>
                                          <p:attrName>fill.type</p:attrName>
                                        </p:attrNameLst>
                                      </p:cBhvr>
                                      <p:to>
                                        <p:strVal val="solid"/>
                                      </p:to>
                                    </p:set>
                                    <p:set>
                                      <p:cBhvr>
                                        <p:cTn id="113" dur="100" fill="hold"/>
                                        <p:tgtEl>
                                          <p:spTgt spid="8"/>
                                        </p:tgtEl>
                                        <p:attrNameLst>
                                          <p:attrName>fill.on</p:attrName>
                                        </p:attrNameLst>
                                      </p:cBhvr>
                                      <p:to>
                                        <p:strVal val="true"/>
                                      </p:to>
                                    </p:set>
                                    <p:animRot by="120000">
                                      <p:cBhvr>
                                        <p:cTn id="114" dur="100" fill="hold">
                                          <p:stCondLst>
                                            <p:cond delay="0"/>
                                          </p:stCondLst>
                                        </p:cTn>
                                        <p:tgtEl>
                                          <p:spTgt spid="8"/>
                                        </p:tgtEl>
                                        <p:attrNameLst>
                                          <p:attrName>r</p:attrName>
                                        </p:attrNameLst>
                                      </p:cBhvr>
                                    </p:animRot>
                                    <p:animRot by="-240000">
                                      <p:cBhvr>
                                        <p:cTn id="115" dur="200" fill="hold">
                                          <p:stCondLst>
                                            <p:cond delay="200"/>
                                          </p:stCondLst>
                                        </p:cTn>
                                        <p:tgtEl>
                                          <p:spTgt spid="8"/>
                                        </p:tgtEl>
                                        <p:attrNameLst>
                                          <p:attrName>r</p:attrName>
                                        </p:attrNameLst>
                                      </p:cBhvr>
                                    </p:animRot>
                                    <p:animRot by="240000">
                                      <p:cBhvr>
                                        <p:cTn id="116" dur="200" fill="hold">
                                          <p:stCondLst>
                                            <p:cond delay="400"/>
                                          </p:stCondLst>
                                        </p:cTn>
                                        <p:tgtEl>
                                          <p:spTgt spid="8"/>
                                        </p:tgtEl>
                                        <p:attrNameLst>
                                          <p:attrName>r</p:attrName>
                                        </p:attrNameLst>
                                      </p:cBhvr>
                                    </p:animRot>
                                    <p:animRot by="-240000">
                                      <p:cBhvr>
                                        <p:cTn id="117" dur="200" fill="hold">
                                          <p:stCondLst>
                                            <p:cond delay="600"/>
                                          </p:stCondLst>
                                        </p:cTn>
                                        <p:tgtEl>
                                          <p:spTgt spid="8"/>
                                        </p:tgtEl>
                                        <p:attrNameLst>
                                          <p:attrName>r</p:attrName>
                                        </p:attrNameLst>
                                      </p:cBhvr>
                                    </p:animRot>
                                    <p:animRot by="120000">
                                      <p:cBhvr>
                                        <p:cTn id="118" dur="200" fill="hold">
                                          <p:stCondLst>
                                            <p:cond delay="800"/>
                                          </p:stCondLst>
                                        </p:cTn>
                                        <p:tgtEl>
                                          <p:spTgt spid="8"/>
                                        </p:tgtEl>
                                        <p:attrNameLst>
                                          <p:attrName>r</p:attrName>
                                        </p:attrNameLst>
                                      </p:cBhvr>
                                    </p:animRot>
                                  </p:childTnLst>
                                </p:cTn>
                              </p:par>
                              <p:par>
                                <p:cTn id="119" presetID="32" presetClass="emph" presetSubtype="0" fill="hold" nodeType="withEffect">
                                  <p:stCondLst>
                                    <p:cond delay="0"/>
                                  </p:stCondLst>
                                  <p:childTnLst>
                                    <p:animClr clrSpc="rgb" dir="cw">
                                      <p:cBhvr override="childStyle">
                                        <p:cTn id="120" dur="100" fill="hold"/>
                                        <p:tgtEl>
                                          <p:spTgt spid="9"/>
                                        </p:tgtEl>
                                        <p:attrNameLst>
                                          <p:attrName>style.color</p:attrName>
                                        </p:attrNameLst>
                                      </p:cBhvr>
                                      <p:to>
                                        <a:schemeClr val="accent2"/>
                                      </p:to>
                                    </p:animClr>
                                    <p:animClr clrSpc="rgb" dir="cw">
                                      <p:cBhvr>
                                        <p:cTn id="121" dur="100" fill="hold"/>
                                        <p:tgtEl>
                                          <p:spTgt spid="9"/>
                                        </p:tgtEl>
                                        <p:attrNameLst>
                                          <p:attrName>fillcolor</p:attrName>
                                        </p:attrNameLst>
                                      </p:cBhvr>
                                      <p:to>
                                        <a:schemeClr val="accent2"/>
                                      </p:to>
                                    </p:animClr>
                                    <p:set>
                                      <p:cBhvr>
                                        <p:cTn id="122" dur="100" fill="hold"/>
                                        <p:tgtEl>
                                          <p:spTgt spid="9"/>
                                        </p:tgtEl>
                                        <p:attrNameLst>
                                          <p:attrName>fill.type</p:attrName>
                                        </p:attrNameLst>
                                      </p:cBhvr>
                                      <p:to>
                                        <p:strVal val="solid"/>
                                      </p:to>
                                    </p:set>
                                    <p:set>
                                      <p:cBhvr>
                                        <p:cTn id="123" dur="100" fill="hold"/>
                                        <p:tgtEl>
                                          <p:spTgt spid="9"/>
                                        </p:tgtEl>
                                        <p:attrNameLst>
                                          <p:attrName>fill.on</p:attrName>
                                        </p:attrNameLst>
                                      </p:cBhvr>
                                      <p:to>
                                        <p:strVal val="true"/>
                                      </p:to>
                                    </p:set>
                                    <p:animRot by="120000">
                                      <p:cBhvr>
                                        <p:cTn id="124" dur="100" fill="hold">
                                          <p:stCondLst>
                                            <p:cond delay="0"/>
                                          </p:stCondLst>
                                        </p:cTn>
                                        <p:tgtEl>
                                          <p:spTgt spid="9"/>
                                        </p:tgtEl>
                                        <p:attrNameLst>
                                          <p:attrName>r</p:attrName>
                                        </p:attrNameLst>
                                      </p:cBhvr>
                                    </p:animRot>
                                    <p:animRot by="-240000">
                                      <p:cBhvr>
                                        <p:cTn id="125" dur="200" fill="hold">
                                          <p:stCondLst>
                                            <p:cond delay="200"/>
                                          </p:stCondLst>
                                        </p:cTn>
                                        <p:tgtEl>
                                          <p:spTgt spid="9"/>
                                        </p:tgtEl>
                                        <p:attrNameLst>
                                          <p:attrName>r</p:attrName>
                                        </p:attrNameLst>
                                      </p:cBhvr>
                                    </p:animRot>
                                    <p:animRot by="240000">
                                      <p:cBhvr>
                                        <p:cTn id="126" dur="200" fill="hold">
                                          <p:stCondLst>
                                            <p:cond delay="400"/>
                                          </p:stCondLst>
                                        </p:cTn>
                                        <p:tgtEl>
                                          <p:spTgt spid="9"/>
                                        </p:tgtEl>
                                        <p:attrNameLst>
                                          <p:attrName>r</p:attrName>
                                        </p:attrNameLst>
                                      </p:cBhvr>
                                    </p:animRot>
                                    <p:animRot by="-240000">
                                      <p:cBhvr>
                                        <p:cTn id="127" dur="200" fill="hold">
                                          <p:stCondLst>
                                            <p:cond delay="600"/>
                                          </p:stCondLst>
                                        </p:cTn>
                                        <p:tgtEl>
                                          <p:spTgt spid="9"/>
                                        </p:tgtEl>
                                        <p:attrNameLst>
                                          <p:attrName>r</p:attrName>
                                        </p:attrNameLst>
                                      </p:cBhvr>
                                    </p:animRot>
                                    <p:animRot by="120000">
                                      <p:cBhvr>
                                        <p:cTn id="128" dur="200" fill="hold">
                                          <p:stCondLst>
                                            <p:cond delay="800"/>
                                          </p:stCondLst>
                                        </p:cTn>
                                        <p:tgtEl>
                                          <p:spTgt spid="9"/>
                                        </p:tgtEl>
                                        <p:attrNameLst>
                                          <p:attrName>r</p:attrName>
                                        </p:attrNameLst>
                                      </p:cBhvr>
                                    </p:animRot>
                                  </p:childTnLst>
                                </p:cTn>
                              </p:par>
                              <p:par>
                                <p:cTn id="129" presetID="32" presetClass="emph" presetSubtype="0" fill="hold" nodeType="withEffect">
                                  <p:stCondLst>
                                    <p:cond delay="0"/>
                                  </p:stCondLst>
                                  <p:childTnLst>
                                    <p:animClr clrSpc="rgb" dir="cw">
                                      <p:cBhvr override="childStyle">
                                        <p:cTn id="130" dur="100" fill="hold"/>
                                        <p:tgtEl>
                                          <p:spTgt spid="6"/>
                                        </p:tgtEl>
                                        <p:attrNameLst>
                                          <p:attrName>style.color</p:attrName>
                                        </p:attrNameLst>
                                      </p:cBhvr>
                                      <p:to>
                                        <a:schemeClr val="accent2"/>
                                      </p:to>
                                    </p:animClr>
                                    <p:animClr clrSpc="rgb" dir="cw">
                                      <p:cBhvr>
                                        <p:cTn id="131" dur="100" fill="hold"/>
                                        <p:tgtEl>
                                          <p:spTgt spid="6"/>
                                        </p:tgtEl>
                                        <p:attrNameLst>
                                          <p:attrName>fillcolor</p:attrName>
                                        </p:attrNameLst>
                                      </p:cBhvr>
                                      <p:to>
                                        <a:schemeClr val="accent2"/>
                                      </p:to>
                                    </p:animClr>
                                    <p:set>
                                      <p:cBhvr>
                                        <p:cTn id="132" dur="100" fill="hold"/>
                                        <p:tgtEl>
                                          <p:spTgt spid="6"/>
                                        </p:tgtEl>
                                        <p:attrNameLst>
                                          <p:attrName>fill.type</p:attrName>
                                        </p:attrNameLst>
                                      </p:cBhvr>
                                      <p:to>
                                        <p:strVal val="solid"/>
                                      </p:to>
                                    </p:set>
                                    <p:set>
                                      <p:cBhvr>
                                        <p:cTn id="133" dur="100" fill="hold"/>
                                        <p:tgtEl>
                                          <p:spTgt spid="6"/>
                                        </p:tgtEl>
                                        <p:attrNameLst>
                                          <p:attrName>fill.on</p:attrName>
                                        </p:attrNameLst>
                                      </p:cBhvr>
                                      <p:to>
                                        <p:strVal val="true"/>
                                      </p:to>
                                    </p:set>
                                    <p:animRot by="120000">
                                      <p:cBhvr>
                                        <p:cTn id="134" dur="100" fill="hold">
                                          <p:stCondLst>
                                            <p:cond delay="0"/>
                                          </p:stCondLst>
                                        </p:cTn>
                                        <p:tgtEl>
                                          <p:spTgt spid="6"/>
                                        </p:tgtEl>
                                        <p:attrNameLst>
                                          <p:attrName>r</p:attrName>
                                        </p:attrNameLst>
                                      </p:cBhvr>
                                    </p:animRot>
                                    <p:animRot by="-240000">
                                      <p:cBhvr>
                                        <p:cTn id="135" dur="200" fill="hold">
                                          <p:stCondLst>
                                            <p:cond delay="200"/>
                                          </p:stCondLst>
                                        </p:cTn>
                                        <p:tgtEl>
                                          <p:spTgt spid="6"/>
                                        </p:tgtEl>
                                        <p:attrNameLst>
                                          <p:attrName>r</p:attrName>
                                        </p:attrNameLst>
                                      </p:cBhvr>
                                    </p:animRot>
                                    <p:animRot by="240000">
                                      <p:cBhvr>
                                        <p:cTn id="136" dur="200" fill="hold">
                                          <p:stCondLst>
                                            <p:cond delay="400"/>
                                          </p:stCondLst>
                                        </p:cTn>
                                        <p:tgtEl>
                                          <p:spTgt spid="6"/>
                                        </p:tgtEl>
                                        <p:attrNameLst>
                                          <p:attrName>r</p:attrName>
                                        </p:attrNameLst>
                                      </p:cBhvr>
                                    </p:animRot>
                                    <p:animRot by="-240000">
                                      <p:cBhvr>
                                        <p:cTn id="137" dur="200" fill="hold">
                                          <p:stCondLst>
                                            <p:cond delay="600"/>
                                          </p:stCondLst>
                                        </p:cTn>
                                        <p:tgtEl>
                                          <p:spTgt spid="6"/>
                                        </p:tgtEl>
                                        <p:attrNameLst>
                                          <p:attrName>r</p:attrName>
                                        </p:attrNameLst>
                                      </p:cBhvr>
                                    </p:animRot>
                                    <p:animRot by="120000">
                                      <p:cBhvr>
                                        <p:cTn id="138" dur="200" fill="hold">
                                          <p:stCondLst>
                                            <p:cond delay="800"/>
                                          </p:stCondLst>
                                        </p:cTn>
                                        <p:tgtEl>
                                          <p:spTgt spid="6"/>
                                        </p:tgtEl>
                                        <p:attrNameLst>
                                          <p:attrName>r</p:attrName>
                                        </p:attrNameLst>
                                      </p:cBhvr>
                                    </p:animRot>
                                  </p:childTnLst>
                                </p:cTn>
                              </p:par>
                            </p:childTnLst>
                          </p:cTn>
                        </p:par>
                        <p:par>
                          <p:cTn id="139" fill="hold" nodeType="afterGroup">
                            <p:stCondLst>
                              <p:cond delay="11500"/>
                            </p:stCondLst>
                            <p:childTnLst>
                              <p:par>
                                <p:cTn id="140" presetID="37" presetClass="exit" presetSubtype="0" fill="hold" grpId="1" nodeType="afterEffect">
                                  <p:stCondLst>
                                    <p:cond delay="0"/>
                                  </p:stCondLst>
                                  <p:childTnLst>
                                    <p:animEffect transition="out" filter="fade">
                                      <p:cBhvr>
                                        <p:cTn id="141" dur="1000"/>
                                        <p:tgtEl>
                                          <p:spTgt spid="1355825"/>
                                        </p:tgtEl>
                                      </p:cBhvr>
                                    </p:animEffect>
                                    <p:anim calcmode="lin" valueType="num">
                                      <p:cBhvr>
                                        <p:cTn id="142" dur="1000"/>
                                        <p:tgtEl>
                                          <p:spTgt spid="1355825"/>
                                        </p:tgtEl>
                                        <p:attrNameLst>
                                          <p:attrName>ppt_x</p:attrName>
                                        </p:attrNameLst>
                                      </p:cBhvr>
                                      <p:tavLst>
                                        <p:tav tm="0">
                                          <p:val>
                                            <p:strVal val="ppt_x"/>
                                          </p:val>
                                        </p:tav>
                                        <p:tav tm="100000">
                                          <p:val>
                                            <p:strVal val="ppt_x"/>
                                          </p:val>
                                        </p:tav>
                                      </p:tavLst>
                                    </p:anim>
                                    <p:anim calcmode="lin" valueType="num">
                                      <p:cBhvr>
                                        <p:cTn id="143" dur="100" decel="100000"/>
                                        <p:tgtEl>
                                          <p:spTgt spid="1355825"/>
                                        </p:tgtEl>
                                        <p:attrNameLst>
                                          <p:attrName>ppt_y</p:attrName>
                                        </p:attrNameLst>
                                      </p:cBhvr>
                                      <p:tavLst>
                                        <p:tav tm="0">
                                          <p:val>
                                            <p:strVal val="ppt_y"/>
                                          </p:val>
                                        </p:tav>
                                        <p:tav tm="100000">
                                          <p:val>
                                            <p:strVal val="ppt_y-.03"/>
                                          </p:val>
                                        </p:tav>
                                      </p:tavLst>
                                    </p:anim>
                                    <p:anim calcmode="lin" valueType="num">
                                      <p:cBhvr>
                                        <p:cTn id="144" dur="900" accel="100000">
                                          <p:stCondLst>
                                            <p:cond delay="100"/>
                                          </p:stCondLst>
                                        </p:cTn>
                                        <p:tgtEl>
                                          <p:spTgt spid="1355825"/>
                                        </p:tgtEl>
                                        <p:attrNameLst>
                                          <p:attrName>ppt_y</p:attrName>
                                        </p:attrNameLst>
                                      </p:cBhvr>
                                      <p:tavLst>
                                        <p:tav tm="0">
                                          <p:val>
                                            <p:strVal val="ppt_y"/>
                                          </p:val>
                                        </p:tav>
                                        <p:tav tm="100000">
                                          <p:val>
                                            <p:strVal val="ppt_y+1"/>
                                          </p:val>
                                        </p:tav>
                                      </p:tavLst>
                                    </p:anim>
                                    <p:set>
                                      <p:cBhvr>
                                        <p:cTn id="145" dur="1" fill="hold">
                                          <p:stCondLst>
                                            <p:cond delay="999"/>
                                          </p:stCondLst>
                                        </p:cTn>
                                        <p:tgtEl>
                                          <p:spTgt spid="1355825"/>
                                        </p:tgtEl>
                                        <p:attrNameLst>
                                          <p:attrName>style.visibility</p:attrName>
                                        </p:attrNameLst>
                                      </p:cBhvr>
                                      <p:to>
                                        <p:strVal val="hidden"/>
                                      </p:to>
                                    </p:set>
                                  </p:childTnLst>
                                </p:cTn>
                              </p:par>
                            </p:childTnLst>
                          </p:cTn>
                        </p:par>
                        <p:par>
                          <p:cTn id="146" fill="hold" nodeType="afterGroup">
                            <p:stCondLst>
                              <p:cond delay="12500"/>
                            </p:stCondLst>
                            <p:childTnLst>
                              <p:par>
                                <p:cTn id="147" presetID="1" presetClass="entr" presetSubtype="0" fill="hold" nodeType="afterEffect">
                                  <p:stCondLst>
                                    <p:cond delay="0"/>
                                  </p:stCondLst>
                                  <p:childTnLst>
                                    <p:set>
                                      <p:cBhvr>
                                        <p:cTn id="148" dur="1" fill="hold">
                                          <p:stCondLst>
                                            <p:cond delay="0"/>
                                          </p:stCondLst>
                                        </p:cTn>
                                        <p:tgtEl>
                                          <p:spTgt spid="10"/>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16"/>
                                        </p:tgtEl>
                                        <p:attrNameLst>
                                          <p:attrName>style.visibility</p:attrName>
                                        </p:attrNameLst>
                                      </p:cBhvr>
                                      <p:to>
                                        <p:strVal val="visible"/>
                                      </p:to>
                                    </p:set>
                                    <p:animEffect transition="in" filter="wipe(left)">
                                      <p:cBhvr>
                                        <p:cTn id="153" dur="1000"/>
                                        <p:tgtEl>
                                          <p:spTgt spid="16"/>
                                        </p:tgtEl>
                                      </p:cBhvr>
                                    </p:animEffect>
                                  </p:childTnLst>
                                </p:cTn>
                              </p:par>
                            </p:childTnLst>
                          </p:cTn>
                        </p:par>
                        <p:par>
                          <p:cTn id="154" fill="hold" nodeType="afterGroup">
                            <p:stCondLst>
                              <p:cond delay="1000"/>
                            </p:stCondLst>
                            <p:childTnLst>
                              <p:par>
                                <p:cTn id="155" presetID="16" presetClass="entr" presetSubtype="26" fill="hold" grpId="0" nodeType="afterEffect">
                                  <p:stCondLst>
                                    <p:cond delay="2000"/>
                                  </p:stCondLst>
                                  <p:childTnLst>
                                    <p:set>
                                      <p:cBhvr>
                                        <p:cTn id="156" dur="1" fill="hold">
                                          <p:stCondLst>
                                            <p:cond delay="0"/>
                                          </p:stCondLst>
                                        </p:cTn>
                                        <p:tgtEl>
                                          <p:spTgt spid="1355826"/>
                                        </p:tgtEl>
                                        <p:attrNameLst>
                                          <p:attrName>style.visibility</p:attrName>
                                        </p:attrNameLst>
                                      </p:cBhvr>
                                      <p:to>
                                        <p:strVal val="visible"/>
                                      </p:to>
                                    </p:set>
                                    <p:animEffect transition="in" filter="barn(inHorizontal)">
                                      <p:cBhvr>
                                        <p:cTn id="157" dur="500"/>
                                        <p:tgtEl>
                                          <p:spTgt spid="1355826"/>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150"/>
                                        </p:tgtEl>
                                        <p:attrNameLst>
                                          <p:attrName>style.visibility</p:attrName>
                                        </p:attrNameLst>
                                      </p:cBhvr>
                                      <p:to>
                                        <p:strVal val="visible"/>
                                      </p:to>
                                    </p:set>
                                    <p:animEffect transition="in" filter="wipe(left)">
                                      <p:cBhvr>
                                        <p:cTn id="162" dur="1000"/>
                                        <p:tgtEl>
                                          <p:spTgt spid="150"/>
                                        </p:tgtEl>
                                      </p:cBhvr>
                                    </p:animEffect>
                                  </p:childTnLst>
                                </p:cTn>
                              </p:par>
                              <p:par>
                                <p:cTn id="163" presetID="22" presetClass="entr" presetSubtype="8" fill="hold" nodeType="withEffect">
                                  <p:stCondLst>
                                    <p:cond delay="0"/>
                                  </p:stCondLst>
                                  <p:childTnLst>
                                    <p:set>
                                      <p:cBhvr>
                                        <p:cTn id="164" dur="1" fill="hold">
                                          <p:stCondLst>
                                            <p:cond delay="0"/>
                                          </p:stCondLst>
                                        </p:cTn>
                                        <p:tgtEl>
                                          <p:spTgt spid="18"/>
                                        </p:tgtEl>
                                        <p:attrNameLst>
                                          <p:attrName>style.visibility</p:attrName>
                                        </p:attrNameLst>
                                      </p:cBhvr>
                                      <p:to>
                                        <p:strVal val="visible"/>
                                      </p:to>
                                    </p:set>
                                    <p:animEffect transition="in" filter="wipe(left)">
                                      <p:cBhvr>
                                        <p:cTn id="165" dur="1000"/>
                                        <p:tgtEl>
                                          <p:spTgt spid="18"/>
                                        </p:tgtEl>
                                      </p:cBhvr>
                                    </p:animEffect>
                                  </p:childTnLst>
                                </p:cTn>
                              </p:par>
                            </p:childTnLst>
                          </p:cTn>
                        </p:par>
                        <p:par>
                          <p:cTn id="166" fill="hold">
                            <p:stCondLst>
                              <p:cond delay="1000"/>
                            </p:stCondLst>
                            <p:childTnLst>
                              <p:par>
                                <p:cTn id="167" presetID="2" presetClass="entr" presetSubtype="8" fill="hold" grpId="0" nodeType="afterEffect">
                                  <p:stCondLst>
                                    <p:cond delay="0"/>
                                  </p:stCondLst>
                                  <p:childTnLst>
                                    <p:set>
                                      <p:cBhvr>
                                        <p:cTn id="168" dur="1" fill="hold">
                                          <p:stCondLst>
                                            <p:cond delay="0"/>
                                          </p:stCondLst>
                                        </p:cTn>
                                        <p:tgtEl>
                                          <p:spTgt spid="1355911"/>
                                        </p:tgtEl>
                                        <p:attrNameLst>
                                          <p:attrName>style.visibility</p:attrName>
                                        </p:attrNameLst>
                                      </p:cBhvr>
                                      <p:to>
                                        <p:strVal val="visible"/>
                                      </p:to>
                                    </p:set>
                                    <p:anim calcmode="lin" valueType="num">
                                      <p:cBhvr additive="base">
                                        <p:cTn id="169" dur="500" fill="hold"/>
                                        <p:tgtEl>
                                          <p:spTgt spid="1355911"/>
                                        </p:tgtEl>
                                        <p:attrNameLst>
                                          <p:attrName>ppt_x</p:attrName>
                                        </p:attrNameLst>
                                      </p:cBhvr>
                                      <p:tavLst>
                                        <p:tav tm="0">
                                          <p:val>
                                            <p:strVal val="0-#ppt_w/2"/>
                                          </p:val>
                                        </p:tav>
                                        <p:tav tm="100000">
                                          <p:val>
                                            <p:strVal val="#ppt_x"/>
                                          </p:val>
                                        </p:tav>
                                      </p:tavLst>
                                    </p:anim>
                                    <p:anim calcmode="lin" valueType="num">
                                      <p:cBhvr additive="base">
                                        <p:cTn id="170" dur="500" fill="hold"/>
                                        <p:tgtEl>
                                          <p:spTgt spid="13559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5816" grpId="0"/>
      <p:bldP spid="1355825" grpId="0" animBg="1"/>
      <p:bldP spid="1355825" grpId="1" animBg="1"/>
      <p:bldP spid="1355826" grpId="0"/>
      <p:bldP spid="1355911" grpId="0"/>
      <p:bldP spid="149" grpId="0"/>
      <p:bldP spid="16" grpId="0"/>
      <p:bldP spid="15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7"/>
          <p:cNvSpPr txBox="1">
            <a:spLocks noChangeArrowheads="1"/>
          </p:cNvSpPr>
          <p:nvPr/>
        </p:nvSpPr>
        <p:spPr bwMode="auto">
          <a:xfrm>
            <a:off x="2541588" y="5855482"/>
            <a:ext cx="54181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固体颗粒 </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粒径级配</a:t>
            </a:r>
            <a:endParaRPr kumimoji="1" lang="en-US" altLang="zh-CN" sz="4000" b="1" dirty="0">
              <a:solidFill>
                <a:srgbClr val="000066"/>
              </a:solidFill>
              <a:latin typeface="黑体" pitchFamily="2" charset="-122"/>
              <a:ea typeface="黑体" pitchFamily="2" charset="-122"/>
            </a:endParaRPr>
          </a:p>
        </p:txBody>
      </p:sp>
      <p:grpSp>
        <p:nvGrpSpPr>
          <p:cNvPr id="2" name="Group 8"/>
          <p:cNvGrpSpPr>
            <a:grpSpLocks/>
          </p:cNvGrpSpPr>
          <p:nvPr/>
        </p:nvGrpSpPr>
        <p:grpSpPr bwMode="auto">
          <a:xfrm>
            <a:off x="6705790" y="1619325"/>
            <a:ext cx="1730375" cy="476250"/>
            <a:chOff x="565" y="1117"/>
            <a:chExt cx="1090" cy="300"/>
          </a:xfrm>
        </p:grpSpPr>
        <p:sp>
          <p:nvSpPr>
            <p:cNvPr id="41122" name="Freeform 9"/>
            <p:cNvSpPr>
              <a:spLocks/>
            </p:cNvSpPr>
            <p:nvPr/>
          </p:nvSpPr>
          <p:spPr bwMode="auto">
            <a:xfrm>
              <a:off x="565" y="1117"/>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23" name="Line 10"/>
            <p:cNvSpPr>
              <a:spLocks noChangeShapeType="1"/>
            </p:cNvSpPr>
            <p:nvPr/>
          </p:nvSpPr>
          <p:spPr bwMode="auto">
            <a:xfrm>
              <a:off x="566" y="1417"/>
              <a:ext cx="1089" cy="0"/>
            </a:xfrm>
            <a:prstGeom prst="line">
              <a:avLst/>
            </a:prstGeom>
            <a:noFill/>
            <a:ln w="28575">
              <a:solidFill>
                <a:schemeClr val="tx1"/>
              </a:solidFill>
              <a:prstDash val="lgDashDot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24" name="Freeform 11"/>
            <p:cNvSpPr>
              <a:spLocks/>
            </p:cNvSpPr>
            <p:nvPr/>
          </p:nvSpPr>
          <p:spPr bwMode="auto">
            <a:xfrm>
              <a:off x="1653" y="1117"/>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3" name="Group 12"/>
          <p:cNvGrpSpPr>
            <a:grpSpLocks/>
          </p:cNvGrpSpPr>
          <p:nvPr/>
        </p:nvGrpSpPr>
        <p:grpSpPr bwMode="auto">
          <a:xfrm>
            <a:off x="6705790" y="2122563"/>
            <a:ext cx="1730375" cy="476250"/>
            <a:chOff x="339" y="1542"/>
            <a:chExt cx="1090" cy="300"/>
          </a:xfrm>
        </p:grpSpPr>
        <p:sp>
          <p:nvSpPr>
            <p:cNvPr id="41119" name="Freeform 13"/>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20" name="Line 14"/>
            <p:cNvSpPr>
              <a:spLocks noChangeShapeType="1"/>
            </p:cNvSpPr>
            <p:nvPr/>
          </p:nvSpPr>
          <p:spPr bwMode="auto">
            <a:xfrm>
              <a:off x="340" y="1842"/>
              <a:ext cx="1089" cy="0"/>
            </a:xfrm>
            <a:prstGeom prst="line">
              <a:avLst/>
            </a:prstGeom>
            <a:noFill/>
            <a:ln w="38100">
              <a:solidFill>
                <a:schemeClr val="tx1"/>
              </a:solidFill>
              <a:prstDash val="lgDash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21" name="Freeform 15"/>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4" name="Group 16"/>
          <p:cNvGrpSpPr>
            <a:grpSpLocks/>
          </p:cNvGrpSpPr>
          <p:nvPr/>
        </p:nvGrpSpPr>
        <p:grpSpPr bwMode="auto">
          <a:xfrm>
            <a:off x="6708965" y="2627388"/>
            <a:ext cx="1730375" cy="476250"/>
            <a:chOff x="339" y="1542"/>
            <a:chExt cx="1090" cy="300"/>
          </a:xfrm>
        </p:grpSpPr>
        <p:sp>
          <p:nvSpPr>
            <p:cNvPr id="41116" name="Freeform 17"/>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17" name="Line 18"/>
            <p:cNvSpPr>
              <a:spLocks noChangeShapeType="1"/>
            </p:cNvSpPr>
            <p:nvPr/>
          </p:nvSpPr>
          <p:spPr bwMode="auto">
            <a:xfrm>
              <a:off x="340" y="1842"/>
              <a:ext cx="1089"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18" name="Freeform 19"/>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5" name="Group 20"/>
          <p:cNvGrpSpPr>
            <a:grpSpLocks/>
          </p:cNvGrpSpPr>
          <p:nvPr/>
        </p:nvGrpSpPr>
        <p:grpSpPr bwMode="auto">
          <a:xfrm>
            <a:off x="6708965" y="3130625"/>
            <a:ext cx="1730375" cy="476250"/>
            <a:chOff x="339" y="1542"/>
            <a:chExt cx="1090" cy="300"/>
          </a:xfrm>
        </p:grpSpPr>
        <p:sp>
          <p:nvSpPr>
            <p:cNvPr id="41113" name="Freeform 21"/>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14" name="Line 22"/>
            <p:cNvSpPr>
              <a:spLocks noChangeShapeType="1"/>
            </p:cNvSpPr>
            <p:nvPr/>
          </p:nvSpPr>
          <p:spPr bwMode="auto">
            <a:xfrm>
              <a:off x="340" y="1842"/>
              <a:ext cx="1089"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15" name="Freeform 23"/>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6" name="Group 24"/>
          <p:cNvGrpSpPr>
            <a:grpSpLocks/>
          </p:cNvGrpSpPr>
          <p:nvPr/>
        </p:nvGrpSpPr>
        <p:grpSpPr bwMode="auto">
          <a:xfrm>
            <a:off x="6708965" y="5146750"/>
            <a:ext cx="1730375" cy="476250"/>
            <a:chOff x="339" y="1542"/>
            <a:chExt cx="1090" cy="300"/>
          </a:xfrm>
        </p:grpSpPr>
        <p:sp>
          <p:nvSpPr>
            <p:cNvPr id="41110" name="Freeform 25"/>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11" name="Line 26"/>
            <p:cNvSpPr>
              <a:spLocks noChangeShapeType="1"/>
            </p:cNvSpPr>
            <p:nvPr/>
          </p:nvSpPr>
          <p:spPr bwMode="auto">
            <a:xfrm>
              <a:off x="340" y="1842"/>
              <a:ext cx="10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12" name="Freeform 27"/>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7" name="Group 28"/>
          <p:cNvGrpSpPr>
            <a:grpSpLocks/>
          </p:cNvGrpSpPr>
          <p:nvPr/>
        </p:nvGrpSpPr>
        <p:grpSpPr bwMode="auto">
          <a:xfrm>
            <a:off x="6708965" y="3635450"/>
            <a:ext cx="1730375" cy="476250"/>
            <a:chOff x="339" y="1542"/>
            <a:chExt cx="1090" cy="300"/>
          </a:xfrm>
        </p:grpSpPr>
        <p:sp>
          <p:nvSpPr>
            <p:cNvPr id="41107" name="Freeform 29"/>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08" name="Line 30"/>
            <p:cNvSpPr>
              <a:spLocks noChangeShapeType="1"/>
            </p:cNvSpPr>
            <p:nvPr/>
          </p:nvSpPr>
          <p:spPr bwMode="auto">
            <a:xfrm>
              <a:off x="340" y="1842"/>
              <a:ext cx="1089"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09" name="Freeform 31"/>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8" name="Group 32"/>
          <p:cNvGrpSpPr>
            <a:grpSpLocks/>
          </p:cNvGrpSpPr>
          <p:nvPr/>
        </p:nvGrpSpPr>
        <p:grpSpPr bwMode="auto">
          <a:xfrm>
            <a:off x="6708965" y="4138688"/>
            <a:ext cx="1730375" cy="476250"/>
            <a:chOff x="339" y="1542"/>
            <a:chExt cx="1090" cy="300"/>
          </a:xfrm>
        </p:grpSpPr>
        <p:sp>
          <p:nvSpPr>
            <p:cNvPr id="41104" name="Freeform 33"/>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05" name="Line 34"/>
            <p:cNvSpPr>
              <a:spLocks noChangeShapeType="1"/>
            </p:cNvSpPr>
            <p:nvPr/>
          </p:nvSpPr>
          <p:spPr bwMode="auto">
            <a:xfrm>
              <a:off x="340" y="1842"/>
              <a:ext cx="1089" cy="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06" name="Freeform 35"/>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grpSp>
        <p:nvGrpSpPr>
          <p:cNvPr id="9" name="Group 36"/>
          <p:cNvGrpSpPr>
            <a:grpSpLocks/>
          </p:cNvGrpSpPr>
          <p:nvPr/>
        </p:nvGrpSpPr>
        <p:grpSpPr bwMode="auto">
          <a:xfrm>
            <a:off x="6708965" y="4643513"/>
            <a:ext cx="1730375" cy="476250"/>
            <a:chOff x="339" y="1542"/>
            <a:chExt cx="1090" cy="300"/>
          </a:xfrm>
        </p:grpSpPr>
        <p:sp>
          <p:nvSpPr>
            <p:cNvPr id="41101" name="Freeform 37"/>
            <p:cNvSpPr>
              <a:spLocks/>
            </p:cNvSpPr>
            <p:nvPr/>
          </p:nvSpPr>
          <p:spPr bwMode="auto">
            <a:xfrm>
              <a:off x="339"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1102" name="Line 38"/>
            <p:cNvSpPr>
              <a:spLocks noChangeShapeType="1"/>
            </p:cNvSpPr>
            <p:nvPr/>
          </p:nvSpPr>
          <p:spPr bwMode="auto">
            <a:xfrm>
              <a:off x="340" y="1842"/>
              <a:ext cx="1089" cy="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103" name="Freeform 39"/>
            <p:cNvSpPr>
              <a:spLocks/>
            </p:cNvSpPr>
            <p:nvPr/>
          </p:nvSpPr>
          <p:spPr bwMode="auto">
            <a:xfrm>
              <a:off x="1427" y="1542"/>
              <a:ext cx="2" cy="300"/>
            </a:xfrm>
            <a:custGeom>
              <a:avLst/>
              <a:gdLst>
                <a:gd name="T0" fmla="*/ 0 w 2"/>
                <a:gd name="T1" fmla="*/ 0 h 300"/>
                <a:gd name="T2" fmla="*/ 2 w 2"/>
                <a:gd name="T3" fmla="*/ 300 h 300"/>
                <a:gd name="T4" fmla="*/ 0 60000 65536"/>
                <a:gd name="T5" fmla="*/ 0 60000 65536"/>
                <a:gd name="T6" fmla="*/ 0 w 2"/>
                <a:gd name="T7" fmla="*/ 0 h 300"/>
                <a:gd name="T8" fmla="*/ 2 w 2"/>
                <a:gd name="T9" fmla="*/ 300 h 300"/>
              </a:gdLst>
              <a:ahLst/>
              <a:cxnLst>
                <a:cxn ang="T4">
                  <a:pos x="T0" y="T1"/>
                </a:cxn>
                <a:cxn ang="T5">
                  <a:pos x="T2" y="T3"/>
                </a:cxn>
              </a:cxnLst>
              <a:rect l="T6" t="T7" r="T8" b="T9"/>
              <a:pathLst>
                <a:path w="2" h="300">
                  <a:moveTo>
                    <a:pt x="0" y="0"/>
                  </a:moveTo>
                  <a:lnTo>
                    <a:pt x="2" y="3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sp>
        <p:nvSpPr>
          <p:cNvPr id="1355816" name="Text Box 40"/>
          <p:cNvSpPr txBox="1">
            <a:spLocks noChangeArrowheads="1"/>
          </p:cNvSpPr>
          <p:nvPr/>
        </p:nvSpPr>
        <p:spPr bwMode="auto">
          <a:xfrm>
            <a:off x="5945589" y="1360563"/>
            <a:ext cx="634789" cy="3865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r" eaLnBrk="1" hangingPunct="1">
              <a:lnSpc>
                <a:spcPct val="110000"/>
              </a:lnSpc>
              <a:spcBef>
                <a:spcPct val="20000"/>
              </a:spcBef>
              <a:spcAft>
                <a:spcPct val="20000"/>
              </a:spcAft>
            </a:pPr>
            <a:r>
              <a:rPr lang="zh-CN" altLang="en-US" sz="2400" b="1" dirty="0">
                <a:ea typeface="幼圆" pitchFamily="49" charset="-122"/>
                <a:cs typeface="Times New Roman" pitchFamily="18" charset="0"/>
              </a:rPr>
              <a:t>孔径</a:t>
            </a:r>
            <a:endParaRPr kumimoji="1" lang="en-US" altLang="zh-CN" sz="2200" b="1" dirty="0">
              <a:ea typeface="幼圆" pitchFamily="49" charset="-122"/>
              <a:cs typeface="Times New Roman" pitchFamily="18" charset="0"/>
            </a:endParaRP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10</a:t>
            </a: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5.0</a:t>
            </a: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2.0</a:t>
            </a: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1.0</a:t>
            </a: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0.5</a:t>
            </a:r>
          </a:p>
          <a:p>
            <a:pPr algn="r" eaLnBrk="1" hangingPunct="1">
              <a:lnSpc>
                <a:spcPct val="110000"/>
              </a:lnSpc>
              <a:spcBef>
                <a:spcPct val="20000"/>
              </a:spcBef>
              <a:spcAft>
                <a:spcPct val="20000"/>
              </a:spcAft>
            </a:pPr>
            <a:r>
              <a:rPr kumimoji="1" lang="en-US" altLang="zh-CN" sz="2200" b="1" dirty="0">
                <a:ea typeface="幼圆" pitchFamily="49" charset="-122"/>
                <a:cs typeface="Times New Roman" pitchFamily="18" charset="0"/>
              </a:rPr>
              <a:t>0.25</a:t>
            </a:r>
          </a:p>
          <a:p>
            <a:pPr algn="r" eaLnBrk="1" hangingPunct="1">
              <a:lnSpc>
                <a:spcPct val="100000"/>
              </a:lnSpc>
              <a:spcBef>
                <a:spcPct val="0"/>
              </a:spcBef>
              <a:spcAft>
                <a:spcPct val="0"/>
              </a:spcAft>
            </a:pPr>
            <a:r>
              <a:rPr kumimoji="1" lang="en-US" altLang="zh-CN" sz="2200" b="1" dirty="0" smtClean="0">
                <a:ea typeface="幼圆" pitchFamily="49" charset="-122"/>
                <a:cs typeface="Times New Roman" pitchFamily="18" charset="0"/>
              </a:rPr>
              <a:t>0.075</a:t>
            </a:r>
            <a:endParaRPr kumimoji="1" lang="zh-CN" altLang="en-US" sz="2200" b="1" dirty="0">
              <a:ea typeface="幼圆" pitchFamily="49" charset="-122"/>
              <a:cs typeface="Times New Roman" pitchFamily="18" charset="0"/>
            </a:endParaRPr>
          </a:p>
        </p:txBody>
      </p:sp>
      <p:grpSp>
        <p:nvGrpSpPr>
          <p:cNvPr id="10" name="Group 41"/>
          <p:cNvGrpSpPr>
            <a:grpSpLocks/>
          </p:cNvGrpSpPr>
          <p:nvPr/>
        </p:nvGrpSpPr>
        <p:grpSpPr bwMode="auto">
          <a:xfrm>
            <a:off x="6780403" y="2436888"/>
            <a:ext cx="1655762" cy="3189287"/>
            <a:chOff x="656" y="1632"/>
            <a:chExt cx="1043" cy="2009"/>
          </a:xfrm>
        </p:grpSpPr>
        <p:sp>
          <p:nvSpPr>
            <p:cNvPr id="41094" name="Freeform 42" descr="纸袋"/>
            <p:cNvSpPr>
              <a:spLocks/>
            </p:cNvSpPr>
            <p:nvPr/>
          </p:nvSpPr>
          <p:spPr bwMode="auto">
            <a:xfrm>
              <a:off x="747" y="1632"/>
              <a:ext cx="816" cy="90"/>
            </a:xfrm>
            <a:custGeom>
              <a:avLst/>
              <a:gdLst>
                <a:gd name="T0" fmla="*/ 0 w 952"/>
                <a:gd name="T1" fmla="*/ 16 h 212"/>
                <a:gd name="T2" fmla="*/ 171 w 952"/>
                <a:gd name="T3" fmla="*/ 3 h 212"/>
                <a:gd name="T4" fmla="*/ 342 w 952"/>
                <a:gd name="T5" fmla="*/ 3 h 212"/>
                <a:gd name="T6" fmla="*/ 486 w 952"/>
                <a:gd name="T7" fmla="*/ 9 h 212"/>
                <a:gd name="T8" fmla="*/ 599 w 952"/>
                <a:gd name="T9" fmla="*/ 16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blipFill dpi="0" rotWithShape="1">
              <a:blip r:embed="rId3"/>
              <a:srcRect/>
              <a:tile tx="0" ty="0" sx="100000" sy="100000" flip="none" algn="tl"/>
            </a:blipFill>
            <a:ln w="9525">
              <a:solidFill>
                <a:schemeClr val="tx1"/>
              </a:solidFill>
              <a:round/>
              <a:headEnd/>
              <a:tailEnd/>
            </a:ln>
          </p:spPr>
          <p:txBody>
            <a:bodyPr lIns="0" tIns="0" rIns="0" bIns="0">
              <a:spAutoFit/>
            </a:bodyPr>
            <a:lstStyle/>
            <a:p>
              <a:endParaRPr lang="zh-CN" altLang="en-US"/>
            </a:p>
          </p:txBody>
        </p:sp>
        <p:sp>
          <p:nvSpPr>
            <p:cNvPr id="41095" name="Freeform 43" descr="瓦形"/>
            <p:cNvSpPr>
              <a:spLocks/>
            </p:cNvSpPr>
            <p:nvPr/>
          </p:nvSpPr>
          <p:spPr bwMode="auto">
            <a:xfrm>
              <a:off x="747" y="1888"/>
              <a:ext cx="816" cy="152"/>
            </a:xfrm>
            <a:custGeom>
              <a:avLst/>
              <a:gdLst>
                <a:gd name="T0" fmla="*/ 0 w 952"/>
                <a:gd name="T1" fmla="*/ 78 h 212"/>
                <a:gd name="T2" fmla="*/ 171 w 952"/>
                <a:gd name="T3" fmla="*/ 11 h 212"/>
                <a:gd name="T4" fmla="*/ 342 w 952"/>
                <a:gd name="T5" fmla="*/ 11 h 212"/>
                <a:gd name="T6" fmla="*/ 486 w 952"/>
                <a:gd name="T7" fmla="*/ 44 h 212"/>
                <a:gd name="T8" fmla="*/ 599 w 952"/>
                <a:gd name="T9" fmla="*/ 78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pattFill prst="shingle">
              <a:fgClr>
                <a:srgbClr val="996633"/>
              </a:fgClr>
              <a:bgClr>
                <a:srgbClr val="FFFFFF"/>
              </a:bgClr>
            </a:pattFill>
            <a:ln w="9525">
              <a:solidFill>
                <a:schemeClr val="tx1"/>
              </a:solidFill>
              <a:round/>
              <a:headEnd/>
              <a:tailEnd/>
            </a:ln>
          </p:spPr>
          <p:txBody>
            <a:bodyPr lIns="0" tIns="0" rIns="0" bIns="0">
              <a:spAutoFit/>
            </a:bodyPr>
            <a:lstStyle/>
            <a:p>
              <a:endParaRPr lang="zh-CN" altLang="en-US"/>
            </a:p>
          </p:txBody>
        </p:sp>
        <p:sp>
          <p:nvSpPr>
            <p:cNvPr id="41096" name="Freeform 44" descr="实心菱形"/>
            <p:cNvSpPr>
              <a:spLocks/>
            </p:cNvSpPr>
            <p:nvPr/>
          </p:nvSpPr>
          <p:spPr bwMode="auto">
            <a:xfrm>
              <a:off x="748" y="2160"/>
              <a:ext cx="771" cy="197"/>
            </a:xfrm>
            <a:custGeom>
              <a:avLst/>
              <a:gdLst>
                <a:gd name="T0" fmla="*/ 0 w 952"/>
                <a:gd name="T1" fmla="*/ 170 h 212"/>
                <a:gd name="T2" fmla="*/ 144 w 952"/>
                <a:gd name="T3" fmla="*/ 24 h 212"/>
                <a:gd name="T4" fmla="*/ 289 w 952"/>
                <a:gd name="T5" fmla="*/ 24 h 212"/>
                <a:gd name="T6" fmla="*/ 409 w 952"/>
                <a:gd name="T7" fmla="*/ 97 h 212"/>
                <a:gd name="T8" fmla="*/ 505 w 952"/>
                <a:gd name="T9" fmla="*/ 170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pattFill prst="solidDmnd">
              <a:fgClr>
                <a:srgbClr val="0066FF"/>
              </a:fgClr>
              <a:bgClr>
                <a:srgbClr val="FFFFFF"/>
              </a:bgClr>
            </a:pattFill>
            <a:ln w="9525">
              <a:solidFill>
                <a:schemeClr val="tx1"/>
              </a:solidFill>
              <a:round/>
              <a:headEnd/>
              <a:tailEnd/>
            </a:ln>
          </p:spPr>
          <p:txBody>
            <a:bodyPr lIns="0" tIns="0" rIns="0" bIns="0">
              <a:spAutoFit/>
            </a:bodyPr>
            <a:lstStyle/>
            <a:p>
              <a:endParaRPr lang="zh-CN" altLang="en-US"/>
            </a:p>
          </p:txBody>
        </p:sp>
        <p:sp>
          <p:nvSpPr>
            <p:cNvPr id="41097" name="Freeform 45" descr="大棋盘"/>
            <p:cNvSpPr>
              <a:spLocks/>
            </p:cNvSpPr>
            <p:nvPr/>
          </p:nvSpPr>
          <p:spPr bwMode="auto">
            <a:xfrm>
              <a:off x="748" y="2478"/>
              <a:ext cx="860" cy="210"/>
            </a:xfrm>
            <a:custGeom>
              <a:avLst/>
              <a:gdLst>
                <a:gd name="T0" fmla="*/ 0 w 952"/>
                <a:gd name="T1" fmla="*/ 206 h 212"/>
                <a:gd name="T2" fmla="*/ 201 w 952"/>
                <a:gd name="T3" fmla="*/ 30 h 212"/>
                <a:gd name="T4" fmla="*/ 401 w 952"/>
                <a:gd name="T5" fmla="*/ 30 h 212"/>
                <a:gd name="T6" fmla="*/ 568 w 952"/>
                <a:gd name="T7" fmla="*/ 118 h 212"/>
                <a:gd name="T8" fmla="*/ 702 w 952"/>
                <a:gd name="T9" fmla="*/ 206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pattFill prst="lgCheck">
              <a:fgClr>
                <a:srgbClr val="0066FF"/>
              </a:fgClr>
              <a:bgClr>
                <a:srgbClr val="FFFFFF"/>
              </a:bgClr>
            </a:pattFill>
            <a:ln w="9525">
              <a:solidFill>
                <a:schemeClr val="tx1"/>
              </a:solidFill>
              <a:round/>
              <a:headEnd/>
              <a:tailEnd/>
            </a:ln>
          </p:spPr>
          <p:txBody>
            <a:bodyPr lIns="0" tIns="0" rIns="0" bIns="0">
              <a:spAutoFit/>
            </a:bodyPr>
            <a:lstStyle/>
            <a:p>
              <a:endParaRPr lang="zh-CN" altLang="en-US"/>
            </a:p>
          </p:txBody>
        </p:sp>
        <p:sp>
          <p:nvSpPr>
            <p:cNvPr id="41098" name="Freeform 46" descr="草皮"/>
            <p:cNvSpPr>
              <a:spLocks/>
            </p:cNvSpPr>
            <p:nvPr/>
          </p:nvSpPr>
          <p:spPr bwMode="auto">
            <a:xfrm>
              <a:off x="748" y="2795"/>
              <a:ext cx="861" cy="205"/>
            </a:xfrm>
            <a:custGeom>
              <a:avLst/>
              <a:gdLst>
                <a:gd name="T0" fmla="*/ 0 w 952"/>
                <a:gd name="T1" fmla="*/ 191 h 212"/>
                <a:gd name="T2" fmla="*/ 201 w 952"/>
                <a:gd name="T3" fmla="*/ 27 h 212"/>
                <a:gd name="T4" fmla="*/ 402 w 952"/>
                <a:gd name="T5" fmla="*/ 27 h 212"/>
                <a:gd name="T6" fmla="*/ 570 w 952"/>
                <a:gd name="T7" fmla="*/ 109 h 212"/>
                <a:gd name="T8" fmla="*/ 705 w 952"/>
                <a:gd name="T9" fmla="*/ 191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pattFill prst="divot">
              <a:fgClr>
                <a:srgbClr val="9966FF"/>
              </a:fgClr>
              <a:bgClr>
                <a:srgbClr val="FFFFFF"/>
              </a:bgClr>
            </a:pattFill>
            <a:ln w="9525">
              <a:solidFill>
                <a:schemeClr val="tx1"/>
              </a:solidFill>
              <a:round/>
              <a:headEnd/>
              <a:tailEnd/>
            </a:ln>
          </p:spPr>
          <p:txBody>
            <a:bodyPr lIns="0" tIns="0" rIns="0" bIns="0">
              <a:spAutoFit/>
            </a:bodyPr>
            <a:lstStyle/>
            <a:p>
              <a:endParaRPr lang="zh-CN" altLang="en-US"/>
            </a:p>
          </p:txBody>
        </p:sp>
        <p:sp>
          <p:nvSpPr>
            <p:cNvPr id="41099" name="Freeform 47" descr="画布"/>
            <p:cNvSpPr>
              <a:spLocks/>
            </p:cNvSpPr>
            <p:nvPr/>
          </p:nvSpPr>
          <p:spPr bwMode="auto">
            <a:xfrm>
              <a:off x="701" y="3067"/>
              <a:ext cx="907" cy="251"/>
            </a:xfrm>
            <a:custGeom>
              <a:avLst/>
              <a:gdLst>
                <a:gd name="T0" fmla="*/ 0 w 952"/>
                <a:gd name="T1" fmla="*/ 352 h 212"/>
                <a:gd name="T2" fmla="*/ 235 w 952"/>
                <a:gd name="T3" fmla="*/ 51 h 212"/>
                <a:gd name="T4" fmla="*/ 471 w 952"/>
                <a:gd name="T5" fmla="*/ 51 h 212"/>
                <a:gd name="T6" fmla="*/ 667 w 952"/>
                <a:gd name="T7" fmla="*/ 200 h 212"/>
                <a:gd name="T8" fmla="*/ 823 w 952"/>
                <a:gd name="T9" fmla="*/ 352 h 212"/>
                <a:gd name="T10" fmla="*/ 0 60000 65536"/>
                <a:gd name="T11" fmla="*/ 0 60000 65536"/>
                <a:gd name="T12" fmla="*/ 0 60000 65536"/>
                <a:gd name="T13" fmla="*/ 0 60000 65536"/>
                <a:gd name="T14" fmla="*/ 0 60000 65536"/>
                <a:gd name="T15" fmla="*/ 0 w 952"/>
                <a:gd name="T16" fmla="*/ 0 h 212"/>
                <a:gd name="T17" fmla="*/ 952 w 952"/>
                <a:gd name="T18" fmla="*/ 212 h 212"/>
              </a:gdLst>
              <a:ahLst/>
              <a:cxnLst>
                <a:cxn ang="T10">
                  <a:pos x="T0" y="T1"/>
                </a:cxn>
                <a:cxn ang="T11">
                  <a:pos x="T2" y="T3"/>
                </a:cxn>
                <a:cxn ang="T12">
                  <a:pos x="T4" y="T5"/>
                </a:cxn>
                <a:cxn ang="T13">
                  <a:pos x="T6" y="T7"/>
                </a:cxn>
                <a:cxn ang="T14">
                  <a:pos x="T8" y="T9"/>
                </a:cxn>
              </a:cxnLst>
              <a:rect l="T15" t="T16" r="T17" b="T18"/>
              <a:pathLst>
                <a:path w="952" h="212">
                  <a:moveTo>
                    <a:pt x="0" y="212"/>
                  </a:moveTo>
                  <a:cubicBezTo>
                    <a:pt x="90" y="136"/>
                    <a:pt x="181" y="60"/>
                    <a:pt x="272" y="30"/>
                  </a:cubicBezTo>
                  <a:cubicBezTo>
                    <a:pt x="363" y="0"/>
                    <a:pt x="461" y="15"/>
                    <a:pt x="544" y="30"/>
                  </a:cubicBezTo>
                  <a:cubicBezTo>
                    <a:pt x="627" y="45"/>
                    <a:pt x="703" y="91"/>
                    <a:pt x="771" y="121"/>
                  </a:cubicBezTo>
                  <a:cubicBezTo>
                    <a:pt x="839" y="151"/>
                    <a:pt x="895" y="181"/>
                    <a:pt x="952" y="212"/>
                  </a:cubicBezTo>
                </a:path>
              </a:pathLst>
            </a:custGeom>
            <a:blipFill dpi="0" rotWithShape="1">
              <a:blip r:embed="rId4"/>
              <a:srcRect/>
              <a:tile tx="0" ty="0" sx="100000" sy="100000" flip="none" algn="tl"/>
            </a:blipFill>
            <a:ln w="9525">
              <a:solidFill>
                <a:schemeClr val="tx1"/>
              </a:solidFill>
              <a:round/>
              <a:headEnd/>
              <a:tailEnd/>
            </a:ln>
          </p:spPr>
          <p:txBody>
            <a:bodyPr lIns="0" tIns="0" rIns="0" bIns="0">
              <a:spAutoFit/>
            </a:bodyPr>
            <a:lstStyle/>
            <a:p>
              <a:endParaRPr lang="zh-CN" altLang="en-US"/>
            </a:p>
          </p:txBody>
        </p:sp>
        <p:sp>
          <p:nvSpPr>
            <p:cNvPr id="41100" name="Freeform 48" descr="粉色面巾纸"/>
            <p:cNvSpPr>
              <a:spLocks/>
            </p:cNvSpPr>
            <p:nvPr/>
          </p:nvSpPr>
          <p:spPr bwMode="auto">
            <a:xfrm>
              <a:off x="656" y="3362"/>
              <a:ext cx="1043" cy="279"/>
            </a:xfrm>
            <a:custGeom>
              <a:avLst/>
              <a:gdLst>
                <a:gd name="T0" fmla="*/ 0 w 1043"/>
                <a:gd name="T1" fmla="*/ 279 h 279"/>
                <a:gd name="T2" fmla="*/ 159 w 1043"/>
                <a:gd name="T3" fmla="*/ 94 h 279"/>
                <a:gd name="T4" fmla="*/ 591 w 1043"/>
                <a:gd name="T5" fmla="*/ 1 h 279"/>
                <a:gd name="T6" fmla="*/ 896 w 1043"/>
                <a:gd name="T7" fmla="*/ 102 h 279"/>
                <a:gd name="T8" fmla="*/ 1043 w 1043"/>
                <a:gd name="T9" fmla="*/ 279 h 279"/>
                <a:gd name="T10" fmla="*/ 0 60000 65536"/>
                <a:gd name="T11" fmla="*/ 0 60000 65536"/>
                <a:gd name="T12" fmla="*/ 0 60000 65536"/>
                <a:gd name="T13" fmla="*/ 0 60000 65536"/>
                <a:gd name="T14" fmla="*/ 0 60000 65536"/>
                <a:gd name="T15" fmla="*/ 0 w 1043"/>
                <a:gd name="T16" fmla="*/ 0 h 279"/>
                <a:gd name="T17" fmla="*/ 1043 w 1043"/>
                <a:gd name="T18" fmla="*/ 279 h 279"/>
              </a:gdLst>
              <a:ahLst/>
              <a:cxnLst>
                <a:cxn ang="T10">
                  <a:pos x="T0" y="T1"/>
                </a:cxn>
                <a:cxn ang="T11">
                  <a:pos x="T2" y="T3"/>
                </a:cxn>
                <a:cxn ang="T12">
                  <a:pos x="T4" y="T5"/>
                </a:cxn>
                <a:cxn ang="T13">
                  <a:pos x="T6" y="T7"/>
                </a:cxn>
                <a:cxn ang="T14">
                  <a:pos x="T8" y="T9"/>
                </a:cxn>
              </a:cxnLst>
              <a:rect l="T15" t="T16" r="T17" b="T18"/>
              <a:pathLst>
                <a:path w="1043" h="279">
                  <a:moveTo>
                    <a:pt x="0" y="279"/>
                  </a:moveTo>
                  <a:cubicBezTo>
                    <a:pt x="26" y="248"/>
                    <a:pt x="61" y="140"/>
                    <a:pt x="159" y="94"/>
                  </a:cubicBezTo>
                  <a:cubicBezTo>
                    <a:pt x="257" y="48"/>
                    <a:pt x="468" y="0"/>
                    <a:pt x="591" y="1"/>
                  </a:cubicBezTo>
                  <a:cubicBezTo>
                    <a:pt x="714" y="2"/>
                    <a:pt x="821" y="56"/>
                    <a:pt x="896" y="102"/>
                  </a:cubicBezTo>
                  <a:cubicBezTo>
                    <a:pt x="971" y="148"/>
                    <a:pt x="1013" y="242"/>
                    <a:pt x="1043" y="279"/>
                  </a:cubicBezTo>
                </a:path>
              </a:pathLst>
            </a:custGeom>
            <a:blipFill dpi="0" rotWithShape="1">
              <a:blip r:embed="rId5"/>
              <a:srcRect/>
              <a:tile tx="0" ty="0" sx="100000" sy="100000" flip="none" algn="tl"/>
            </a:blipFill>
            <a:ln w="9525">
              <a:solidFill>
                <a:schemeClr val="tx1"/>
              </a:solidFill>
              <a:round/>
              <a:headEnd/>
              <a:tailEnd/>
            </a:ln>
          </p:spPr>
          <p:txBody>
            <a:bodyPr lIns="0" tIns="0" rIns="0" bIns="0">
              <a:spAutoFit/>
            </a:bodyPr>
            <a:lstStyle/>
            <a:p>
              <a:endParaRPr lang="zh-CN" altLang="en-US"/>
            </a:p>
          </p:txBody>
        </p:sp>
      </p:grpSp>
      <p:sp>
        <p:nvSpPr>
          <p:cNvPr id="1355826" name="Text Box 50"/>
          <p:cNvSpPr txBox="1">
            <a:spLocks noChangeArrowheads="1"/>
          </p:cNvSpPr>
          <p:nvPr/>
        </p:nvSpPr>
        <p:spPr bwMode="auto">
          <a:xfrm>
            <a:off x="7696756" y="1174825"/>
            <a:ext cx="618759" cy="4505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r" eaLnBrk="1" hangingPunct="1">
              <a:lnSpc>
                <a:spcPct val="100000"/>
              </a:lnSpc>
              <a:spcBef>
                <a:spcPct val="20000"/>
              </a:spcBef>
              <a:spcAft>
                <a:spcPct val="20000"/>
              </a:spcAft>
            </a:pPr>
            <a:r>
              <a:rPr kumimoji="1" lang="zh-CN" altLang="en-US" sz="2400" b="1" dirty="0">
                <a:solidFill>
                  <a:srgbClr val="008000"/>
                </a:solidFill>
                <a:ea typeface="幼圆" pitchFamily="49" charset="-122"/>
                <a:cs typeface="Times New Roman" pitchFamily="18" charset="0"/>
              </a:rPr>
              <a:t>筛余</a:t>
            </a:r>
            <a:endParaRPr kumimoji="1" lang="en-US" altLang="zh-CN" sz="2400" b="1" dirty="0">
              <a:solidFill>
                <a:srgbClr val="008000"/>
              </a:solidFill>
              <a:ea typeface="幼圆" pitchFamily="49" charset="-122"/>
              <a:cs typeface="Times New Roman" pitchFamily="18" charset="0"/>
            </a:endParaRP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0</a:t>
            </a: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10</a:t>
            </a: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16</a:t>
            </a: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18</a:t>
            </a: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24</a:t>
            </a:r>
          </a:p>
          <a:p>
            <a:pPr algn="r" eaLnBrk="1" hangingPunct="1">
              <a:lnSpc>
                <a:spcPct val="100000"/>
              </a:lnSpc>
              <a:spcBef>
                <a:spcPct val="20000"/>
              </a:spcBef>
              <a:spcAft>
                <a:spcPct val="20000"/>
              </a:spcAft>
            </a:pPr>
            <a:r>
              <a:rPr kumimoji="1" lang="en-US" altLang="zh-CN" sz="2400" b="1" dirty="0">
                <a:solidFill>
                  <a:srgbClr val="008000"/>
                </a:solidFill>
                <a:ea typeface="幼圆" pitchFamily="49" charset="-122"/>
                <a:cs typeface="Times New Roman" pitchFamily="18" charset="0"/>
              </a:rPr>
              <a:t>22</a:t>
            </a:r>
          </a:p>
          <a:p>
            <a:pPr algn="r" eaLnBrk="1" hangingPunct="1">
              <a:lnSpc>
                <a:spcPct val="100000"/>
              </a:lnSpc>
              <a:spcBef>
                <a:spcPct val="20000"/>
              </a:spcBef>
              <a:spcAft>
                <a:spcPct val="20000"/>
              </a:spcAft>
            </a:pPr>
            <a:r>
              <a:rPr kumimoji="1" lang="en-US" altLang="zh-CN" sz="2400" b="1" dirty="0" smtClean="0">
                <a:solidFill>
                  <a:srgbClr val="008000"/>
                </a:solidFill>
                <a:ea typeface="幼圆" pitchFamily="49" charset="-122"/>
                <a:cs typeface="Times New Roman" pitchFamily="18" charset="0"/>
              </a:rPr>
              <a:t>46</a:t>
            </a:r>
            <a:endParaRPr kumimoji="1" lang="en-US" altLang="zh-CN" sz="2400" b="1" dirty="0">
              <a:solidFill>
                <a:srgbClr val="008000"/>
              </a:solidFill>
              <a:ea typeface="幼圆" pitchFamily="49" charset="-122"/>
              <a:cs typeface="Times New Roman" pitchFamily="18" charset="0"/>
            </a:endParaRPr>
          </a:p>
          <a:p>
            <a:pPr algn="r" eaLnBrk="1" hangingPunct="1">
              <a:lnSpc>
                <a:spcPct val="100000"/>
              </a:lnSpc>
              <a:spcBef>
                <a:spcPct val="20000"/>
              </a:spcBef>
              <a:spcAft>
                <a:spcPct val="20000"/>
              </a:spcAft>
            </a:pPr>
            <a:r>
              <a:rPr kumimoji="1" lang="en-US" altLang="zh-CN" sz="2400" b="1" dirty="0" smtClean="0">
                <a:solidFill>
                  <a:srgbClr val="008000"/>
                </a:solidFill>
                <a:ea typeface="幼圆" pitchFamily="49" charset="-122"/>
                <a:cs typeface="Times New Roman" pitchFamily="18" charset="0"/>
              </a:rPr>
              <a:t>64</a:t>
            </a:r>
            <a:endParaRPr kumimoji="1" lang="en-US" altLang="zh-CN" sz="2400" b="1" dirty="0">
              <a:solidFill>
                <a:srgbClr val="008000"/>
              </a:solidFill>
              <a:ea typeface="幼圆" pitchFamily="49" charset="-122"/>
              <a:cs typeface="Times New Roman" pitchFamily="18" charset="0"/>
            </a:endParaRPr>
          </a:p>
        </p:txBody>
      </p:sp>
      <p:sp>
        <p:nvSpPr>
          <p:cNvPr id="1355911" name="Text Box 135"/>
          <p:cNvSpPr txBox="1">
            <a:spLocks noChangeArrowheads="1"/>
          </p:cNvSpPr>
          <p:nvPr/>
        </p:nvSpPr>
        <p:spPr bwMode="auto">
          <a:xfrm>
            <a:off x="8558605" y="1405013"/>
            <a:ext cx="423193" cy="3927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ct val="20000"/>
              </a:spcBef>
              <a:spcAft>
                <a:spcPct val="20000"/>
              </a:spcAft>
            </a:pPr>
            <a:r>
              <a:rPr kumimoji="1" lang="en-US" altLang="zh-CN" sz="2200" b="1" i="1" dirty="0">
                <a:solidFill>
                  <a:srgbClr val="C00000"/>
                </a:solidFill>
                <a:ea typeface="华文新魏" pitchFamily="2" charset="-122"/>
              </a:rPr>
              <a:t>P</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100</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95</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87</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78</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66</a:t>
            </a:r>
          </a:p>
          <a:p>
            <a:pPr eaLnBrk="1" hangingPunct="1">
              <a:lnSpc>
                <a:spcPct val="110000"/>
              </a:lnSpc>
              <a:spcBef>
                <a:spcPct val="20000"/>
              </a:spcBef>
              <a:spcAft>
                <a:spcPct val="20000"/>
              </a:spcAft>
            </a:pPr>
            <a:r>
              <a:rPr kumimoji="1" lang="en-US" altLang="zh-CN" sz="2200" b="1" dirty="0">
                <a:solidFill>
                  <a:srgbClr val="C00000"/>
                </a:solidFill>
                <a:ea typeface="华文新魏" pitchFamily="2" charset="-122"/>
              </a:rPr>
              <a:t>55</a:t>
            </a:r>
          </a:p>
          <a:p>
            <a:pPr eaLnBrk="1" hangingPunct="1">
              <a:lnSpc>
                <a:spcPct val="110000"/>
              </a:lnSpc>
              <a:spcBef>
                <a:spcPct val="20000"/>
              </a:spcBef>
              <a:spcAft>
                <a:spcPct val="20000"/>
              </a:spcAft>
            </a:pPr>
            <a:r>
              <a:rPr kumimoji="1" lang="en-US" altLang="zh-CN" sz="2200" b="1" dirty="0" smtClean="0">
                <a:solidFill>
                  <a:srgbClr val="C00000"/>
                </a:solidFill>
                <a:ea typeface="华文新魏" pitchFamily="2" charset="-122"/>
              </a:rPr>
              <a:t>32</a:t>
            </a:r>
            <a:endParaRPr kumimoji="1" lang="en-US" altLang="zh-CN" sz="2200" b="1" dirty="0">
              <a:solidFill>
                <a:srgbClr val="C00000"/>
              </a:solidFill>
              <a:ea typeface="华文新魏" pitchFamily="2" charset="-122"/>
            </a:endParaRPr>
          </a:p>
        </p:txBody>
      </p:sp>
      <p:graphicFrame>
        <p:nvGraphicFramePr>
          <p:cNvPr id="1355914" name="Group 138"/>
          <p:cNvGraphicFramePr>
            <a:graphicFrameLocks noGrp="1"/>
          </p:cNvGraphicFramePr>
          <p:nvPr>
            <p:extLst>
              <p:ext uri="{D42A27DB-BD31-4B8C-83A1-F6EECF244321}">
                <p14:modId xmlns:p14="http://schemas.microsoft.com/office/powerpoint/2010/main" val="2108586875"/>
              </p:ext>
            </p:extLst>
          </p:nvPr>
        </p:nvGraphicFramePr>
        <p:xfrm>
          <a:off x="1002041" y="2832618"/>
          <a:ext cx="4253947" cy="670560"/>
        </p:xfrm>
        <a:graphic>
          <a:graphicData uri="http://schemas.openxmlformats.org/drawingml/2006/table">
            <a:tbl>
              <a:tblPr/>
              <a:tblGrid>
                <a:gridCol w="1741335">
                  <a:extLst>
                    <a:ext uri="{9D8B030D-6E8A-4147-A177-3AD203B41FA5}">
                      <a16:colId xmlns:a16="http://schemas.microsoft.com/office/drawing/2014/main" val="20000"/>
                    </a:ext>
                  </a:extLst>
                </a:gridCol>
                <a:gridCol w="691764">
                  <a:extLst>
                    <a:ext uri="{9D8B030D-6E8A-4147-A177-3AD203B41FA5}">
                      <a16:colId xmlns:a16="http://schemas.microsoft.com/office/drawing/2014/main" val="20001"/>
                    </a:ext>
                  </a:extLst>
                </a:gridCol>
                <a:gridCol w="866692">
                  <a:extLst>
                    <a:ext uri="{9D8B030D-6E8A-4147-A177-3AD203B41FA5}">
                      <a16:colId xmlns:a16="http://schemas.microsoft.com/office/drawing/2014/main" val="20002"/>
                    </a:ext>
                  </a:extLst>
                </a:gridCol>
                <a:gridCol w="954156">
                  <a:extLst>
                    <a:ext uri="{9D8B030D-6E8A-4147-A177-3AD203B41FA5}">
                      <a16:colId xmlns:a16="http://schemas.microsoft.com/office/drawing/2014/main" val="20003"/>
                    </a:ext>
                  </a:extLst>
                </a:gridCol>
              </a:tblGrid>
              <a:tr h="3286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1" lang="zh-CN" altLang="en-US" sz="2200" b="1" i="0" u="none" strike="noStrike" cap="none" normalizeH="0" baseline="0" dirty="0" smtClean="0">
                          <a:ln>
                            <a:noFill/>
                          </a:ln>
                          <a:solidFill>
                            <a:schemeClr val="tx1"/>
                          </a:solidFill>
                          <a:effectLst/>
                          <a:latin typeface="幼圆" pitchFamily="49" charset="-122"/>
                          <a:ea typeface="幼圆" pitchFamily="49" charset="-122"/>
                          <a:cs typeface="Times New Roman" pitchFamily="18" charset="0"/>
                        </a:rPr>
                        <a:t>粒径 </a:t>
                      </a:r>
                      <a:r>
                        <a:rPr kumimoji="1" lang="en-US" altLang="zh-CN"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(mm)</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0.05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0.005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86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200" b="1" i="1" u="none" strike="noStrike" cap="none" normalizeH="0" baseline="0" dirty="0" smtClean="0">
                          <a:ln>
                            <a:noFill/>
                          </a:ln>
                          <a:solidFill>
                            <a:srgbClr val="C00000"/>
                          </a:solidFill>
                          <a:effectLst/>
                          <a:latin typeface="Times New Roman" pitchFamily="18" charset="0"/>
                          <a:ea typeface="宋体" pitchFamily="2" charset="-122"/>
                          <a:cs typeface="Times New Roman" pitchFamily="18" charset="0"/>
                        </a:rPr>
                        <a:t>P</a:t>
                      </a:r>
                      <a:r>
                        <a:rPr kumimoji="0" lang="en-US" altLang="zh-CN" sz="2200" b="1" i="0" u="none" strike="noStrike" cap="none" normalizeH="0" baseline="0" dirty="0" smtClean="0">
                          <a:ln>
                            <a:noFill/>
                          </a:ln>
                          <a:solidFill>
                            <a:srgbClr val="C00000"/>
                          </a:solidFill>
                          <a:effectLst/>
                          <a:latin typeface="Times New Roman" pitchFamily="18" charset="0"/>
                          <a:ea typeface="宋体" pitchFamily="2" charset="-122"/>
                          <a:cs typeface="Times New Roman" pitchFamily="18" charset="0"/>
                        </a:rPr>
                        <a:t> (%)</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200" b="1" i="0" u="none" strike="noStrike" cap="none" normalizeH="0" baseline="0" dirty="0" smtClean="0">
                          <a:ln>
                            <a:noFill/>
                          </a:ln>
                          <a:solidFill>
                            <a:srgbClr val="C00000"/>
                          </a:solidFill>
                          <a:effectLst/>
                          <a:latin typeface="Times New Roman" pitchFamily="18" charset="0"/>
                          <a:ea typeface="宋体" pitchFamily="2" charset="-122"/>
                          <a:cs typeface="Times New Roman" pitchFamily="18" charset="0"/>
                        </a:rPr>
                        <a:t>26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200" b="1" i="0" u="none" strike="noStrike" cap="none" normalizeH="0" baseline="0" dirty="0" smtClean="0">
                          <a:ln>
                            <a:noFill/>
                          </a:ln>
                          <a:solidFill>
                            <a:srgbClr val="C00000"/>
                          </a:solidFill>
                          <a:effectLst/>
                          <a:latin typeface="Times New Roman" pitchFamily="18" charset="0"/>
                          <a:ea typeface="宋体" pitchFamily="2" charset="-122"/>
                          <a:cs typeface="Times New Roman" pitchFamily="18" charset="0"/>
                        </a:rPr>
                        <a:t>13.5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200" b="1" i="0" u="none" strike="noStrike" cap="none" normalizeH="0" baseline="0" dirty="0" smtClean="0">
                          <a:ln>
                            <a:noFill/>
                          </a:ln>
                          <a:solidFill>
                            <a:srgbClr val="C00000"/>
                          </a:solidFill>
                          <a:effectLst/>
                          <a:latin typeface="Times New Roman" pitchFamily="18" charset="0"/>
                          <a:ea typeface="宋体" pitchFamily="2" charset="-122"/>
                          <a:cs typeface="Times New Roman" pitchFamily="18" charset="0"/>
                        </a:rPr>
                        <a:t>10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7"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49" name="Text Box 6"/>
          <p:cNvSpPr txBox="1">
            <a:spLocks noChangeArrowheads="1"/>
          </p:cNvSpPr>
          <p:nvPr/>
        </p:nvSpPr>
        <p:spPr bwMode="auto">
          <a:xfrm>
            <a:off x="270684" y="1402756"/>
            <a:ext cx="235555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zh-CN" altLang="en-US" sz="2400" b="1" dirty="0" smtClean="0">
                <a:solidFill>
                  <a:srgbClr val="C00000"/>
                </a:solidFill>
                <a:latin typeface="幼圆" pitchFamily="49" charset="-122"/>
                <a:ea typeface="幼圆" pitchFamily="49" charset="-122"/>
              </a:rPr>
              <a:t>（</a:t>
            </a:r>
            <a:r>
              <a:rPr kumimoji="1" lang="en-US" altLang="zh-CN" sz="2400" b="1" dirty="0" smtClean="0">
                <a:solidFill>
                  <a:srgbClr val="C00000"/>
                </a:solidFill>
                <a:latin typeface="幼圆" pitchFamily="49" charset="-122"/>
                <a:ea typeface="幼圆" pitchFamily="49" charset="-122"/>
              </a:rPr>
              <a:t>1</a:t>
            </a:r>
            <a:r>
              <a:rPr kumimoji="1" lang="zh-CN" altLang="en-US" sz="2400" b="1" dirty="0" smtClean="0">
                <a:solidFill>
                  <a:srgbClr val="C00000"/>
                </a:solidFill>
                <a:latin typeface="幼圆" pitchFamily="49" charset="-122"/>
                <a:ea typeface="幼圆" pitchFamily="49" charset="-122"/>
              </a:rPr>
              <a:t>）筛分：</a:t>
            </a:r>
            <a:endParaRPr kumimoji="1" lang="zh-CN" altLang="en-US" sz="2400" b="1" dirty="0">
              <a:solidFill>
                <a:srgbClr val="000066"/>
              </a:solidFill>
              <a:latin typeface="幼圆" pitchFamily="49" charset="-122"/>
              <a:ea typeface="幼圆" pitchFamily="49" charset="-122"/>
            </a:endParaRPr>
          </a:p>
        </p:txBody>
      </p:sp>
      <p:sp>
        <p:nvSpPr>
          <p:cNvPr id="56" name="Text Box 6"/>
          <p:cNvSpPr txBox="1">
            <a:spLocks noChangeArrowheads="1"/>
          </p:cNvSpPr>
          <p:nvPr/>
        </p:nvSpPr>
        <p:spPr bwMode="auto">
          <a:xfrm>
            <a:off x="274222" y="2037381"/>
            <a:ext cx="3606662"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zh-CN" altLang="en-US" sz="2400" b="1" dirty="0" smtClean="0">
                <a:solidFill>
                  <a:srgbClr val="C00000"/>
                </a:solidFill>
                <a:latin typeface="幼圆" pitchFamily="49" charset="-122"/>
                <a:ea typeface="幼圆" pitchFamily="49" charset="-122"/>
              </a:rPr>
              <a:t>（</a:t>
            </a:r>
            <a:r>
              <a:rPr kumimoji="1" lang="en-US" altLang="zh-CN" sz="2400" b="1" dirty="0">
                <a:solidFill>
                  <a:srgbClr val="C00000"/>
                </a:solidFill>
                <a:latin typeface="幼圆" pitchFamily="49" charset="-122"/>
                <a:ea typeface="幼圆" pitchFamily="49" charset="-122"/>
              </a:rPr>
              <a:t>2</a:t>
            </a:r>
            <a:r>
              <a:rPr kumimoji="1" lang="zh-CN" altLang="en-US" sz="2400" b="1" dirty="0" smtClean="0">
                <a:solidFill>
                  <a:srgbClr val="C00000"/>
                </a:solidFill>
                <a:latin typeface="幼圆" pitchFamily="49" charset="-122"/>
                <a:ea typeface="幼圆" pitchFamily="49" charset="-122"/>
              </a:rPr>
              <a:t>）水分</a:t>
            </a:r>
            <a:r>
              <a:rPr kumimoji="1" lang="zh-CN" altLang="en-US" sz="2400" b="1" dirty="0">
                <a:solidFill>
                  <a:srgbClr val="C00000"/>
                </a:solidFill>
                <a:latin typeface="幼圆" pitchFamily="49" charset="-122"/>
                <a:ea typeface="幼圆" pitchFamily="49" charset="-122"/>
              </a:rPr>
              <a:t>：</a:t>
            </a:r>
            <a:r>
              <a:rPr kumimoji="1" lang="zh-CN" altLang="en-US" sz="2400" b="1" dirty="0">
                <a:solidFill>
                  <a:srgbClr val="000066"/>
                </a:solidFill>
                <a:latin typeface="幼圆" pitchFamily="49" charset="-122"/>
                <a:ea typeface="幼圆" pitchFamily="49" charset="-122"/>
              </a:rPr>
              <a:t>密度计法</a:t>
            </a:r>
          </a:p>
        </p:txBody>
      </p:sp>
      <p:sp>
        <p:nvSpPr>
          <p:cNvPr id="57" name="Text Box 6"/>
          <p:cNvSpPr txBox="1">
            <a:spLocks noChangeArrowheads="1"/>
          </p:cNvSpPr>
          <p:nvPr/>
        </p:nvSpPr>
        <p:spPr bwMode="auto">
          <a:xfrm>
            <a:off x="105030" y="572012"/>
            <a:ext cx="6935847"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en-US" altLang="zh-CN" sz="2400" b="1" dirty="0" smtClean="0">
                <a:solidFill>
                  <a:srgbClr val="C00000"/>
                </a:solidFill>
                <a:ea typeface="幼圆" pitchFamily="49" charset="-122"/>
                <a:cs typeface="Times New Roman" panose="02020603050405020304" pitchFamily="18" charset="0"/>
              </a:rPr>
              <a:t>【</a:t>
            </a:r>
            <a:r>
              <a:rPr kumimoji="1" lang="zh-CN" altLang="en-US" sz="2400" b="1" dirty="0">
                <a:solidFill>
                  <a:srgbClr val="C00000"/>
                </a:solidFill>
                <a:ea typeface="幼圆" pitchFamily="49" charset="-122"/>
                <a:cs typeface="Times New Roman" panose="02020603050405020304" pitchFamily="18" charset="0"/>
              </a:rPr>
              <a:t>例题</a:t>
            </a:r>
            <a:r>
              <a:rPr kumimoji="1" lang="en-US" altLang="zh-CN" sz="2400" b="1" dirty="0" smtClean="0">
                <a:solidFill>
                  <a:srgbClr val="C00000"/>
                </a:solidFill>
                <a:ea typeface="幼圆" pitchFamily="49" charset="-122"/>
                <a:cs typeface="Times New Roman" panose="02020603050405020304" pitchFamily="18" charset="0"/>
              </a:rPr>
              <a:t>】</a:t>
            </a:r>
            <a:r>
              <a:rPr kumimoji="1" lang="zh-CN" altLang="en-US" sz="2400" b="1" dirty="0" smtClean="0">
                <a:solidFill>
                  <a:srgbClr val="C00000"/>
                </a:solidFill>
                <a:ea typeface="幼圆" pitchFamily="49" charset="-122"/>
                <a:cs typeface="Times New Roman" panose="02020603050405020304" pitchFamily="18" charset="0"/>
              </a:rPr>
              <a:t>：</a:t>
            </a:r>
            <a:r>
              <a:rPr kumimoji="1" lang="zh-CN" altLang="en-US" sz="2400" b="1" dirty="0" smtClean="0">
                <a:solidFill>
                  <a:srgbClr val="000066"/>
                </a:solidFill>
                <a:ea typeface="幼圆" pitchFamily="49" charset="-122"/>
                <a:cs typeface="Times New Roman" panose="02020603050405020304" pitchFamily="18" charset="0"/>
              </a:rPr>
              <a:t>分析</a:t>
            </a:r>
            <a:r>
              <a:rPr kumimoji="1" lang="en-US" altLang="zh-CN" sz="2400" b="1" dirty="0" smtClean="0">
                <a:solidFill>
                  <a:srgbClr val="000066"/>
                </a:solidFill>
                <a:ea typeface="幼圆" pitchFamily="49" charset="-122"/>
                <a:cs typeface="Times New Roman" panose="02020603050405020304" pitchFamily="18" charset="0"/>
              </a:rPr>
              <a:t>200g</a:t>
            </a:r>
            <a:r>
              <a:rPr kumimoji="1" lang="zh-CN" altLang="en-US" sz="2400" b="1" dirty="0" smtClean="0">
                <a:solidFill>
                  <a:srgbClr val="000066"/>
                </a:solidFill>
                <a:ea typeface="幼圆" pitchFamily="49" charset="-122"/>
                <a:cs typeface="Times New Roman" panose="02020603050405020304" pitchFamily="18" charset="0"/>
              </a:rPr>
              <a:t>某种干土的粒径</a:t>
            </a:r>
            <a:r>
              <a:rPr kumimoji="1" lang="zh-CN" altLang="en-US" sz="2400" b="1" dirty="0">
                <a:solidFill>
                  <a:srgbClr val="000066"/>
                </a:solidFill>
                <a:ea typeface="幼圆" pitchFamily="49" charset="-122"/>
                <a:cs typeface="Times New Roman" panose="02020603050405020304" pitchFamily="18" charset="0"/>
              </a:rPr>
              <a:t>级配累积</a:t>
            </a:r>
            <a:r>
              <a:rPr kumimoji="1" lang="zh-CN" altLang="en-US" sz="2400" b="1" dirty="0" smtClean="0">
                <a:solidFill>
                  <a:srgbClr val="000066"/>
                </a:solidFill>
                <a:ea typeface="幼圆" pitchFamily="49" charset="-122"/>
                <a:cs typeface="Times New Roman" panose="02020603050405020304" pitchFamily="18" charset="0"/>
              </a:rPr>
              <a:t>曲线。</a:t>
            </a:r>
            <a:endParaRPr kumimoji="1" lang="zh-CN" altLang="en-US" sz="2400" b="1" dirty="0">
              <a:solidFill>
                <a:srgbClr val="000066"/>
              </a:solidFill>
              <a:ea typeface="幼圆" pitchFamily="49" charset="-122"/>
              <a:cs typeface="Times New Roman" panose="02020603050405020304" pitchFamily="18" charset="0"/>
            </a:endParaRPr>
          </a:p>
        </p:txBody>
      </p:sp>
    </p:spTree>
    <p:extLst>
      <p:ext uri="{BB962C8B-B14F-4D97-AF65-F5344CB8AC3E}">
        <p14:creationId xmlns:p14="http://schemas.microsoft.com/office/powerpoint/2010/main" val="31399841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nodeType="afterEffect">
                                  <p:stCondLst>
                                    <p:cond delay="0"/>
                                  </p:stCondLst>
                                  <p:childTnLst>
                                    <p:set>
                                      <p:cBhvr>
                                        <p:cTn id="6" dur="1" fill="hold">
                                          <p:stCondLst>
                                            <p:cond delay="0"/>
                                          </p:stCondLst>
                                        </p:cTn>
                                        <p:tgtEl>
                                          <p:spTgt spid="1355914"/>
                                        </p:tgtEl>
                                        <p:attrNameLst>
                                          <p:attrName>style.visibility</p:attrName>
                                        </p:attrNameLst>
                                      </p:cBhvr>
                                      <p:to>
                                        <p:strVal val="visible"/>
                                      </p:to>
                                    </p:set>
                                    <p:anim calcmode="lin" valueType="num">
                                      <p:cBhvr additive="base">
                                        <p:cTn id="7" dur="500" fill="hold"/>
                                        <p:tgtEl>
                                          <p:spTgt spid="1355914"/>
                                        </p:tgtEl>
                                        <p:attrNameLst>
                                          <p:attrName>ppt_x</p:attrName>
                                        </p:attrNameLst>
                                      </p:cBhvr>
                                      <p:tavLst>
                                        <p:tav tm="0">
                                          <p:val>
                                            <p:strVal val="0-#ppt_w/2"/>
                                          </p:val>
                                        </p:tav>
                                        <p:tav tm="100000">
                                          <p:val>
                                            <p:strVal val="#ppt_x"/>
                                          </p:val>
                                        </p:tav>
                                      </p:tavLst>
                                    </p:anim>
                                    <p:anim calcmode="lin" valueType="num">
                                      <p:cBhvr additive="base">
                                        <p:cTn id="8" dur="500" fill="hold"/>
                                        <p:tgtEl>
                                          <p:spTgt spid="1355914"/>
                                        </p:tgtEl>
                                        <p:attrNameLst>
                                          <p:attrName>ppt_y</p:attrName>
                                        </p:attrNameLst>
                                      </p:cBhvr>
                                      <p:tavLst>
                                        <p:tav tm="0">
                                          <p:val>
                                            <p:strVal val="#ppt_y"/>
                                          </p:val>
                                        </p:tav>
                                        <p:tav tm="100000">
                                          <p:val>
                                            <p:strVal val="#ppt_y"/>
                                          </p:val>
                                        </p:tav>
                                      </p:tavLst>
                                    </p:anim>
                                  </p:childTnLst>
                                </p:cTn>
                              </p:par>
                              <p:par>
                                <p:cTn id="9" presetID="22" presetClass="entr" presetSubtype="1" fill="hold" grpId="0" nodeType="withEffect">
                                  <p:stCondLst>
                                    <p:cond delay="0"/>
                                  </p:stCondLst>
                                  <p:childTnLst>
                                    <p:set>
                                      <p:cBhvr>
                                        <p:cTn id="10" dur="1" fill="hold">
                                          <p:stCondLst>
                                            <p:cond delay="0"/>
                                          </p:stCondLst>
                                        </p:cTn>
                                        <p:tgtEl>
                                          <p:spTgt spid="56">
                                            <p:txEl>
                                              <p:pRg st="0" end="0"/>
                                            </p:txEl>
                                          </p:spTgt>
                                        </p:tgtEl>
                                        <p:attrNameLst>
                                          <p:attrName>style.visibility</p:attrName>
                                        </p:attrNameLst>
                                      </p:cBhvr>
                                      <p:to>
                                        <p:strVal val="visible"/>
                                      </p:to>
                                    </p:set>
                                    <p:animEffect transition="in" filter="wipe(up)">
                                      <p:cBhvr>
                                        <p:cTn id="11" dur="1000"/>
                                        <p:tgtEl>
                                          <p:spTgt spid="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7"/>
          <p:cNvSpPr txBox="1">
            <a:spLocks noChangeArrowheads="1"/>
          </p:cNvSpPr>
          <p:nvPr/>
        </p:nvSpPr>
        <p:spPr bwMode="auto">
          <a:xfrm>
            <a:off x="2541588" y="5855482"/>
            <a:ext cx="54181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固体颗粒 </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粒径级配</a:t>
            </a:r>
            <a:endParaRPr kumimoji="1" lang="en-US" altLang="zh-CN" sz="4000" b="1" dirty="0">
              <a:solidFill>
                <a:srgbClr val="000066"/>
              </a:solidFill>
              <a:latin typeface="黑体" pitchFamily="2" charset="-122"/>
              <a:ea typeface="黑体" pitchFamily="2" charset="-122"/>
            </a:endParaRPr>
          </a:p>
        </p:txBody>
      </p:sp>
      <p:sp>
        <p:nvSpPr>
          <p:cNvPr id="147"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48" name="Text Box 6"/>
          <p:cNvSpPr txBox="1">
            <a:spLocks noChangeArrowheads="1"/>
          </p:cNvSpPr>
          <p:nvPr/>
        </p:nvSpPr>
        <p:spPr bwMode="auto">
          <a:xfrm>
            <a:off x="224608" y="726760"/>
            <a:ext cx="7505261"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en-US" altLang="zh-CN" sz="2400" b="1" dirty="0" smtClean="0">
                <a:solidFill>
                  <a:srgbClr val="C00000"/>
                </a:solidFill>
                <a:ea typeface="幼圆" pitchFamily="49" charset="-122"/>
                <a:cs typeface="Times New Roman" panose="02020603050405020304" pitchFamily="18" charset="0"/>
              </a:rPr>
              <a:t>【</a:t>
            </a:r>
            <a:r>
              <a:rPr kumimoji="1" lang="zh-CN" altLang="en-US" sz="2400" b="1" dirty="0">
                <a:solidFill>
                  <a:srgbClr val="C00000"/>
                </a:solidFill>
                <a:ea typeface="幼圆" pitchFamily="49" charset="-122"/>
                <a:cs typeface="Times New Roman" panose="02020603050405020304" pitchFamily="18" charset="0"/>
              </a:rPr>
              <a:t>例题</a:t>
            </a:r>
            <a:r>
              <a:rPr kumimoji="1" lang="en-US" altLang="zh-CN" sz="2400" b="1" dirty="0" smtClean="0">
                <a:solidFill>
                  <a:srgbClr val="C00000"/>
                </a:solidFill>
                <a:ea typeface="幼圆" pitchFamily="49" charset="-122"/>
                <a:cs typeface="Times New Roman" panose="02020603050405020304" pitchFamily="18" charset="0"/>
              </a:rPr>
              <a:t>】</a:t>
            </a:r>
            <a:r>
              <a:rPr kumimoji="1" lang="zh-CN" altLang="en-US" sz="2400" b="1" dirty="0" smtClean="0">
                <a:solidFill>
                  <a:srgbClr val="C00000"/>
                </a:solidFill>
                <a:ea typeface="幼圆" pitchFamily="49" charset="-122"/>
                <a:cs typeface="Times New Roman" panose="02020603050405020304" pitchFamily="18" charset="0"/>
              </a:rPr>
              <a:t>：</a:t>
            </a:r>
            <a:r>
              <a:rPr kumimoji="1" lang="zh-CN" altLang="en-US" sz="2400" b="1" dirty="0" smtClean="0">
                <a:solidFill>
                  <a:srgbClr val="000066"/>
                </a:solidFill>
                <a:ea typeface="幼圆" pitchFamily="49" charset="-122"/>
                <a:cs typeface="Times New Roman" panose="02020603050405020304" pitchFamily="18" charset="0"/>
              </a:rPr>
              <a:t>分析</a:t>
            </a:r>
            <a:r>
              <a:rPr kumimoji="1" lang="en-US" altLang="zh-CN" sz="2400" b="1" dirty="0" smtClean="0">
                <a:solidFill>
                  <a:srgbClr val="000066"/>
                </a:solidFill>
                <a:ea typeface="幼圆" pitchFamily="49" charset="-122"/>
                <a:cs typeface="Times New Roman" panose="02020603050405020304" pitchFamily="18" charset="0"/>
              </a:rPr>
              <a:t>200g</a:t>
            </a:r>
            <a:r>
              <a:rPr kumimoji="1" lang="zh-CN" altLang="en-US" sz="2400" b="1" dirty="0" smtClean="0">
                <a:solidFill>
                  <a:srgbClr val="000066"/>
                </a:solidFill>
                <a:ea typeface="幼圆" pitchFamily="49" charset="-122"/>
                <a:cs typeface="Times New Roman" panose="02020603050405020304" pitchFamily="18" charset="0"/>
              </a:rPr>
              <a:t>某种干土的粒径</a:t>
            </a:r>
            <a:r>
              <a:rPr kumimoji="1" lang="zh-CN" altLang="en-US" sz="2400" b="1" dirty="0">
                <a:solidFill>
                  <a:srgbClr val="000066"/>
                </a:solidFill>
                <a:ea typeface="幼圆" pitchFamily="49" charset="-122"/>
                <a:cs typeface="Times New Roman" panose="02020603050405020304" pitchFamily="18" charset="0"/>
              </a:rPr>
              <a:t>级配累积</a:t>
            </a:r>
            <a:r>
              <a:rPr kumimoji="1" lang="zh-CN" altLang="en-US" sz="2400" b="1" dirty="0" smtClean="0">
                <a:solidFill>
                  <a:srgbClr val="000066"/>
                </a:solidFill>
                <a:ea typeface="幼圆" pitchFamily="49" charset="-122"/>
                <a:cs typeface="Times New Roman" panose="02020603050405020304" pitchFamily="18" charset="0"/>
              </a:rPr>
              <a:t>曲线。</a:t>
            </a:r>
            <a:endParaRPr kumimoji="1" lang="zh-CN" altLang="en-US" sz="2400" b="1" dirty="0">
              <a:solidFill>
                <a:srgbClr val="000066"/>
              </a:solidFill>
              <a:ea typeface="幼圆" pitchFamily="49" charset="-122"/>
              <a:cs typeface="Times New Roman" panose="02020603050405020304" pitchFamily="18" charset="0"/>
            </a:endParaRPr>
          </a:p>
        </p:txBody>
      </p:sp>
      <p:sp>
        <p:nvSpPr>
          <p:cNvPr id="149" name="Text Box 6"/>
          <p:cNvSpPr txBox="1">
            <a:spLocks noChangeArrowheads="1"/>
          </p:cNvSpPr>
          <p:nvPr/>
        </p:nvSpPr>
        <p:spPr bwMode="auto">
          <a:xfrm>
            <a:off x="270684" y="1402756"/>
            <a:ext cx="235555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zh-CN" altLang="en-US" sz="2400" b="1" dirty="0" smtClean="0">
                <a:solidFill>
                  <a:srgbClr val="C00000"/>
                </a:solidFill>
                <a:latin typeface="幼圆" pitchFamily="49" charset="-122"/>
                <a:ea typeface="幼圆" pitchFamily="49" charset="-122"/>
              </a:rPr>
              <a:t>（</a:t>
            </a:r>
            <a:r>
              <a:rPr kumimoji="1" lang="en-US" altLang="zh-CN" sz="2400" b="1" dirty="0" smtClean="0">
                <a:solidFill>
                  <a:srgbClr val="C00000"/>
                </a:solidFill>
                <a:latin typeface="幼圆" pitchFamily="49" charset="-122"/>
                <a:ea typeface="幼圆" pitchFamily="49" charset="-122"/>
              </a:rPr>
              <a:t>1</a:t>
            </a:r>
            <a:r>
              <a:rPr kumimoji="1" lang="zh-CN" altLang="en-US" sz="2400" b="1" dirty="0" smtClean="0">
                <a:solidFill>
                  <a:srgbClr val="C00000"/>
                </a:solidFill>
                <a:latin typeface="幼圆" pitchFamily="49" charset="-122"/>
                <a:ea typeface="幼圆" pitchFamily="49" charset="-122"/>
              </a:rPr>
              <a:t>）筛分：</a:t>
            </a:r>
            <a:endParaRPr kumimoji="1" lang="zh-CN" altLang="en-US" sz="2400" b="1" dirty="0">
              <a:solidFill>
                <a:srgbClr val="000066"/>
              </a:solidFill>
              <a:latin typeface="幼圆" pitchFamily="49" charset="-122"/>
              <a:ea typeface="幼圆" pitchFamily="49" charset="-122"/>
            </a:endParaRPr>
          </a:p>
        </p:txBody>
      </p:sp>
      <p:sp>
        <p:nvSpPr>
          <p:cNvPr id="56" name="Text Box 6"/>
          <p:cNvSpPr txBox="1">
            <a:spLocks noChangeArrowheads="1"/>
          </p:cNvSpPr>
          <p:nvPr/>
        </p:nvSpPr>
        <p:spPr bwMode="auto">
          <a:xfrm>
            <a:off x="274222" y="2128823"/>
            <a:ext cx="1906270"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zh-CN" altLang="en-US" sz="2400" b="1" dirty="0" smtClean="0">
                <a:solidFill>
                  <a:srgbClr val="C00000"/>
                </a:solidFill>
                <a:latin typeface="幼圆" pitchFamily="49" charset="-122"/>
                <a:ea typeface="幼圆" pitchFamily="49" charset="-122"/>
              </a:rPr>
              <a:t>（</a:t>
            </a:r>
            <a:r>
              <a:rPr kumimoji="1" lang="en-US" altLang="zh-CN" sz="2400" b="1" dirty="0">
                <a:solidFill>
                  <a:srgbClr val="C00000"/>
                </a:solidFill>
                <a:latin typeface="幼圆" pitchFamily="49" charset="-122"/>
                <a:ea typeface="幼圆" pitchFamily="49" charset="-122"/>
              </a:rPr>
              <a:t>2</a:t>
            </a:r>
            <a:r>
              <a:rPr kumimoji="1" lang="zh-CN" altLang="en-US" sz="2400" b="1" dirty="0" smtClean="0">
                <a:solidFill>
                  <a:srgbClr val="C00000"/>
                </a:solidFill>
                <a:latin typeface="幼圆" pitchFamily="49" charset="-122"/>
                <a:ea typeface="幼圆" pitchFamily="49" charset="-122"/>
              </a:rPr>
              <a:t>）水分：</a:t>
            </a:r>
            <a:endParaRPr kumimoji="1" lang="zh-CN" altLang="en-US" sz="2400" b="1" dirty="0">
              <a:solidFill>
                <a:srgbClr val="000066"/>
              </a:solidFill>
              <a:latin typeface="幼圆" pitchFamily="49" charset="-122"/>
              <a:ea typeface="幼圆" pitchFamily="49" charset="-122"/>
            </a:endParaRPr>
          </a:p>
        </p:txBody>
      </p:sp>
      <p:sp>
        <p:nvSpPr>
          <p:cNvPr id="51" name="Text Box 6"/>
          <p:cNvSpPr txBox="1">
            <a:spLocks noChangeArrowheads="1"/>
          </p:cNvSpPr>
          <p:nvPr/>
        </p:nvSpPr>
        <p:spPr bwMode="auto">
          <a:xfrm>
            <a:off x="277762" y="2770323"/>
            <a:ext cx="1973069"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zh-CN" altLang="en-US" sz="2400" b="1" dirty="0" smtClean="0">
                <a:solidFill>
                  <a:srgbClr val="C00000"/>
                </a:solidFill>
                <a:latin typeface="幼圆" pitchFamily="49" charset="-122"/>
                <a:ea typeface="幼圆" pitchFamily="49" charset="-122"/>
              </a:rPr>
              <a:t>（</a:t>
            </a:r>
            <a:r>
              <a:rPr kumimoji="1" lang="en-US" altLang="zh-CN" sz="2400" b="1" dirty="0" smtClean="0">
                <a:solidFill>
                  <a:srgbClr val="C00000"/>
                </a:solidFill>
                <a:latin typeface="幼圆" pitchFamily="49" charset="-122"/>
                <a:ea typeface="幼圆" pitchFamily="49" charset="-122"/>
              </a:rPr>
              <a:t>3</a:t>
            </a:r>
            <a:r>
              <a:rPr kumimoji="1" lang="zh-CN" altLang="en-US" sz="2400" b="1" dirty="0" smtClean="0">
                <a:solidFill>
                  <a:srgbClr val="C00000"/>
                </a:solidFill>
                <a:latin typeface="幼圆" pitchFamily="49" charset="-122"/>
                <a:ea typeface="幼圆" pitchFamily="49" charset="-122"/>
              </a:rPr>
              <a:t>）绘图：</a:t>
            </a:r>
            <a:endParaRPr kumimoji="1" lang="zh-CN" altLang="en-US" sz="2400" b="1" dirty="0">
              <a:solidFill>
                <a:srgbClr val="000066"/>
              </a:solidFill>
              <a:latin typeface="幼圆" pitchFamily="49" charset="-122"/>
              <a:ea typeface="幼圆" pitchFamily="49" charset="-122"/>
            </a:endParaRPr>
          </a:p>
        </p:txBody>
      </p:sp>
      <p:grpSp>
        <p:nvGrpSpPr>
          <p:cNvPr id="53" name="Group 51"/>
          <p:cNvGrpSpPr>
            <a:grpSpLocks/>
          </p:cNvGrpSpPr>
          <p:nvPr/>
        </p:nvGrpSpPr>
        <p:grpSpPr bwMode="auto">
          <a:xfrm>
            <a:off x="4550202" y="1763635"/>
            <a:ext cx="4116388" cy="3182938"/>
            <a:chOff x="3025" y="961"/>
            <a:chExt cx="2593" cy="2005"/>
          </a:xfrm>
        </p:grpSpPr>
        <p:sp>
          <p:nvSpPr>
            <p:cNvPr id="54" name="Freeform 52"/>
            <p:cNvSpPr>
              <a:spLocks/>
            </p:cNvSpPr>
            <p:nvPr/>
          </p:nvSpPr>
          <p:spPr bwMode="auto">
            <a:xfrm>
              <a:off x="3029" y="967"/>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55" name="Freeform 53"/>
            <p:cNvSpPr>
              <a:spLocks/>
            </p:cNvSpPr>
            <p:nvPr/>
          </p:nvSpPr>
          <p:spPr bwMode="auto">
            <a:xfrm>
              <a:off x="3059" y="963"/>
              <a:ext cx="2" cy="2001"/>
            </a:xfrm>
            <a:custGeom>
              <a:avLst/>
              <a:gdLst>
                <a:gd name="T0" fmla="*/ 0 w 2"/>
                <a:gd name="T1" fmla="*/ 0 h 2001"/>
                <a:gd name="T2" fmla="*/ 2 w 2"/>
                <a:gd name="T3" fmla="*/ 2001 h 2001"/>
                <a:gd name="T4" fmla="*/ 0 60000 65536"/>
                <a:gd name="T5" fmla="*/ 0 60000 65536"/>
                <a:gd name="T6" fmla="*/ 0 w 2"/>
                <a:gd name="T7" fmla="*/ 0 h 2001"/>
                <a:gd name="T8" fmla="*/ 2 w 2"/>
                <a:gd name="T9" fmla="*/ 2001 h 2001"/>
              </a:gdLst>
              <a:ahLst/>
              <a:cxnLst>
                <a:cxn ang="T4">
                  <a:pos x="T0" y="T1"/>
                </a:cxn>
                <a:cxn ang="T5">
                  <a:pos x="T2" y="T3"/>
                </a:cxn>
              </a:cxnLst>
              <a:rect l="T6" t="T7" r="T8" b="T9"/>
              <a:pathLst>
                <a:path w="2" h="2001">
                  <a:moveTo>
                    <a:pt x="0" y="0"/>
                  </a:moveTo>
                  <a:lnTo>
                    <a:pt x="2"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57" name="Freeform 54"/>
            <p:cNvSpPr>
              <a:spLocks/>
            </p:cNvSpPr>
            <p:nvPr/>
          </p:nvSpPr>
          <p:spPr bwMode="auto">
            <a:xfrm>
              <a:off x="3096" y="962"/>
              <a:ext cx="1" cy="2004"/>
            </a:xfrm>
            <a:custGeom>
              <a:avLst/>
              <a:gdLst>
                <a:gd name="T0" fmla="*/ 0 w 1"/>
                <a:gd name="T1" fmla="*/ 0 h 2004"/>
                <a:gd name="T2" fmla="*/ 1 w 1"/>
                <a:gd name="T3" fmla="*/ 2004 h 2004"/>
                <a:gd name="T4" fmla="*/ 0 60000 65536"/>
                <a:gd name="T5" fmla="*/ 0 60000 65536"/>
                <a:gd name="T6" fmla="*/ 0 w 1"/>
                <a:gd name="T7" fmla="*/ 0 h 2004"/>
                <a:gd name="T8" fmla="*/ 1 w 1"/>
                <a:gd name="T9" fmla="*/ 2004 h 2004"/>
              </a:gdLst>
              <a:ahLst/>
              <a:cxnLst>
                <a:cxn ang="T4">
                  <a:pos x="T0" y="T1"/>
                </a:cxn>
                <a:cxn ang="T5">
                  <a:pos x="T2" y="T3"/>
                </a:cxn>
              </a:cxnLst>
              <a:rect l="T6" t="T7" r="T8" b="T9"/>
              <a:pathLst>
                <a:path w="1" h="2004">
                  <a:moveTo>
                    <a:pt x="0" y="0"/>
                  </a:moveTo>
                  <a:lnTo>
                    <a:pt x="1" y="2004"/>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58" name="Freeform 55"/>
            <p:cNvSpPr>
              <a:spLocks/>
            </p:cNvSpPr>
            <p:nvPr/>
          </p:nvSpPr>
          <p:spPr bwMode="auto">
            <a:xfrm>
              <a:off x="3136" y="965"/>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59" name="Freeform 56"/>
            <p:cNvSpPr>
              <a:spLocks/>
            </p:cNvSpPr>
            <p:nvPr/>
          </p:nvSpPr>
          <p:spPr bwMode="auto">
            <a:xfrm>
              <a:off x="3189" y="965"/>
              <a:ext cx="1" cy="1998"/>
            </a:xfrm>
            <a:custGeom>
              <a:avLst/>
              <a:gdLst>
                <a:gd name="T0" fmla="*/ 0 w 1"/>
                <a:gd name="T1" fmla="*/ 0 h 1998"/>
                <a:gd name="T2" fmla="*/ 1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1"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0" name="Freeform 57"/>
            <p:cNvSpPr>
              <a:spLocks/>
            </p:cNvSpPr>
            <p:nvPr/>
          </p:nvSpPr>
          <p:spPr bwMode="auto">
            <a:xfrm>
              <a:off x="3242" y="962"/>
              <a:ext cx="1" cy="2000"/>
            </a:xfrm>
            <a:custGeom>
              <a:avLst/>
              <a:gdLst>
                <a:gd name="T0" fmla="*/ 0 w 1"/>
                <a:gd name="T1" fmla="*/ 0 h 2000"/>
                <a:gd name="T2" fmla="*/ 1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0" y="0"/>
                  </a:moveTo>
                  <a:lnTo>
                    <a:pt x="1"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1" name="Freeform 58"/>
            <p:cNvSpPr>
              <a:spLocks/>
            </p:cNvSpPr>
            <p:nvPr/>
          </p:nvSpPr>
          <p:spPr bwMode="auto">
            <a:xfrm>
              <a:off x="3306" y="963"/>
              <a:ext cx="2" cy="2000"/>
            </a:xfrm>
            <a:custGeom>
              <a:avLst/>
              <a:gdLst>
                <a:gd name="T0" fmla="*/ 0 w 2"/>
                <a:gd name="T1" fmla="*/ 0 h 2000"/>
                <a:gd name="T2" fmla="*/ 2 w 2"/>
                <a:gd name="T3" fmla="*/ 2000 h 2000"/>
                <a:gd name="T4" fmla="*/ 0 60000 65536"/>
                <a:gd name="T5" fmla="*/ 0 60000 65536"/>
                <a:gd name="T6" fmla="*/ 0 w 2"/>
                <a:gd name="T7" fmla="*/ 0 h 2000"/>
                <a:gd name="T8" fmla="*/ 2 w 2"/>
                <a:gd name="T9" fmla="*/ 2000 h 2000"/>
              </a:gdLst>
              <a:ahLst/>
              <a:cxnLst>
                <a:cxn ang="T4">
                  <a:pos x="T0" y="T1"/>
                </a:cxn>
                <a:cxn ang="T5">
                  <a:pos x="T2" y="T3"/>
                </a:cxn>
              </a:cxnLst>
              <a:rect l="T6" t="T7" r="T8" b="T9"/>
              <a:pathLst>
                <a:path w="2" h="2000">
                  <a:moveTo>
                    <a:pt x="0" y="0"/>
                  </a:moveTo>
                  <a:lnTo>
                    <a:pt x="2"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2" name="Freeform 59"/>
            <p:cNvSpPr>
              <a:spLocks/>
            </p:cNvSpPr>
            <p:nvPr/>
          </p:nvSpPr>
          <p:spPr bwMode="auto">
            <a:xfrm>
              <a:off x="3379"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3" name="Freeform 60"/>
            <p:cNvSpPr>
              <a:spLocks/>
            </p:cNvSpPr>
            <p:nvPr/>
          </p:nvSpPr>
          <p:spPr bwMode="auto">
            <a:xfrm>
              <a:off x="3495" y="963"/>
              <a:ext cx="1" cy="2001"/>
            </a:xfrm>
            <a:custGeom>
              <a:avLst/>
              <a:gdLst>
                <a:gd name="T0" fmla="*/ 0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0"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4" name="Freeform 61"/>
            <p:cNvSpPr>
              <a:spLocks/>
            </p:cNvSpPr>
            <p:nvPr/>
          </p:nvSpPr>
          <p:spPr bwMode="auto">
            <a:xfrm>
              <a:off x="3682" y="966"/>
              <a:ext cx="1" cy="1997"/>
            </a:xfrm>
            <a:custGeom>
              <a:avLst/>
              <a:gdLst>
                <a:gd name="T0" fmla="*/ 1 w 1"/>
                <a:gd name="T1" fmla="*/ 0 h 1997"/>
                <a:gd name="T2" fmla="*/ 0 w 1"/>
                <a:gd name="T3" fmla="*/ 1997 h 1997"/>
                <a:gd name="T4" fmla="*/ 0 60000 65536"/>
                <a:gd name="T5" fmla="*/ 0 60000 65536"/>
                <a:gd name="T6" fmla="*/ 0 w 1"/>
                <a:gd name="T7" fmla="*/ 0 h 1997"/>
                <a:gd name="T8" fmla="*/ 1 w 1"/>
                <a:gd name="T9" fmla="*/ 1997 h 1997"/>
              </a:gdLst>
              <a:ahLst/>
              <a:cxnLst>
                <a:cxn ang="T4">
                  <a:pos x="T0" y="T1"/>
                </a:cxn>
                <a:cxn ang="T5">
                  <a:pos x="T2" y="T3"/>
                </a:cxn>
              </a:cxnLst>
              <a:rect l="T6" t="T7" r="T8" b="T9"/>
              <a:pathLst>
                <a:path w="1" h="1997">
                  <a:moveTo>
                    <a:pt x="1"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5" name="Freeform 62"/>
            <p:cNvSpPr>
              <a:spLocks/>
            </p:cNvSpPr>
            <p:nvPr/>
          </p:nvSpPr>
          <p:spPr bwMode="auto">
            <a:xfrm>
              <a:off x="3711" y="962"/>
              <a:ext cx="2" cy="2002"/>
            </a:xfrm>
            <a:custGeom>
              <a:avLst/>
              <a:gdLst>
                <a:gd name="T0" fmla="*/ 2 w 2"/>
                <a:gd name="T1" fmla="*/ 0 h 2002"/>
                <a:gd name="T2" fmla="*/ 0 w 2"/>
                <a:gd name="T3" fmla="*/ 2002 h 2002"/>
                <a:gd name="T4" fmla="*/ 0 60000 65536"/>
                <a:gd name="T5" fmla="*/ 0 60000 65536"/>
                <a:gd name="T6" fmla="*/ 0 w 2"/>
                <a:gd name="T7" fmla="*/ 0 h 2002"/>
                <a:gd name="T8" fmla="*/ 2 w 2"/>
                <a:gd name="T9" fmla="*/ 2002 h 2002"/>
              </a:gdLst>
              <a:ahLst/>
              <a:cxnLst>
                <a:cxn ang="T4">
                  <a:pos x="T0" y="T1"/>
                </a:cxn>
                <a:cxn ang="T5">
                  <a:pos x="T2" y="T3"/>
                </a:cxn>
              </a:cxnLst>
              <a:rect l="T6" t="T7" r="T8" b="T9"/>
              <a:pathLst>
                <a:path w="2" h="2002">
                  <a:moveTo>
                    <a:pt x="2"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6" name="Freeform 63"/>
            <p:cNvSpPr>
              <a:spLocks/>
            </p:cNvSpPr>
            <p:nvPr/>
          </p:nvSpPr>
          <p:spPr bwMode="auto">
            <a:xfrm>
              <a:off x="3747"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7" name="Freeform 64"/>
            <p:cNvSpPr>
              <a:spLocks/>
            </p:cNvSpPr>
            <p:nvPr/>
          </p:nvSpPr>
          <p:spPr bwMode="auto">
            <a:xfrm>
              <a:off x="3786"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8" name="Freeform 65"/>
            <p:cNvSpPr>
              <a:spLocks/>
            </p:cNvSpPr>
            <p:nvPr/>
          </p:nvSpPr>
          <p:spPr bwMode="auto">
            <a:xfrm>
              <a:off x="3840" y="963"/>
              <a:ext cx="1" cy="1997"/>
            </a:xfrm>
            <a:custGeom>
              <a:avLst/>
              <a:gdLst>
                <a:gd name="T0" fmla="*/ 0 w 1"/>
                <a:gd name="T1" fmla="*/ 0 h 1997"/>
                <a:gd name="T2" fmla="*/ 0 w 1"/>
                <a:gd name="T3" fmla="*/ 1997 h 1997"/>
                <a:gd name="T4" fmla="*/ 0 60000 65536"/>
                <a:gd name="T5" fmla="*/ 0 60000 65536"/>
                <a:gd name="T6" fmla="*/ 0 w 1"/>
                <a:gd name="T7" fmla="*/ 0 h 1997"/>
                <a:gd name="T8" fmla="*/ 1 w 1"/>
                <a:gd name="T9" fmla="*/ 1997 h 1997"/>
              </a:gdLst>
              <a:ahLst/>
              <a:cxnLst>
                <a:cxn ang="T4">
                  <a:pos x="T0" y="T1"/>
                </a:cxn>
                <a:cxn ang="T5">
                  <a:pos x="T2" y="T3"/>
                </a:cxn>
              </a:cxnLst>
              <a:rect l="T6" t="T7" r="T8" b="T9"/>
              <a:pathLst>
                <a:path w="1" h="1997">
                  <a:moveTo>
                    <a:pt x="0"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9" name="Freeform 66"/>
            <p:cNvSpPr>
              <a:spLocks/>
            </p:cNvSpPr>
            <p:nvPr/>
          </p:nvSpPr>
          <p:spPr bwMode="auto">
            <a:xfrm>
              <a:off x="3893" y="963"/>
              <a:ext cx="1" cy="1999"/>
            </a:xfrm>
            <a:custGeom>
              <a:avLst/>
              <a:gdLst>
                <a:gd name="T0" fmla="*/ 1 w 1"/>
                <a:gd name="T1" fmla="*/ 0 h 1999"/>
                <a:gd name="T2" fmla="*/ 0 w 1"/>
                <a:gd name="T3" fmla="*/ 1999 h 1999"/>
                <a:gd name="T4" fmla="*/ 0 60000 65536"/>
                <a:gd name="T5" fmla="*/ 0 60000 65536"/>
                <a:gd name="T6" fmla="*/ 0 w 1"/>
                <a:gd name="T7" fmla="*/ 0 h 1999"/>
                <a:gd name="T8" fmla="*/ 1 w 1"/>
                <a:gd name="T9" fmla="*/ 1999 h 1999"/>
              </a:gdLst>
              <a:ahLst/>
              <a:cxnLst>
                <a:cxn ang="T4">
                  <a:pos x="T0" y="T1"/>
                </a:cxn>
                <a:cxn ang="T5">
                  <a:pos x="T2" y="T3"/>
                </a:cxn>
              </a:cxnLst>
              <a:rect l="T6" t="T7" r="T8" b="T9"/>
              <a:pathLst>
                <a:path w="1" h="1999">
                  <a:moveTo>
                    <a:pt x="1"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0" name="Freeform 67"/>
            <p:cNvSpPr>
              <a:spLocks/>
            </p:cNvSpPr>
            <p:nvPr/>
          </p:nvSpPr>
          <p:spPr bwMode="auto">
            <a:xfrm>
              <a:off x="3958" y="971"/>
              <a:ext cx="1" cy="1992"/>
            </a:xfrm>
            <a:custGeom>
              <a:avLst/>
              <a:gdLst>
                <a:gd name="T0" fmla="*/ 1 w 1"/>
                <a:gd name="T1" fmla="*/ 0 h 1992"/>
                <a:gd name="T2" fmla="*/ 0 w 1"/>
                <a:gd name="T3" fmla="*/ 1992 h 1992"/>
                <a:gd name="T4" fmla="*/ 0 60000 65536"/>
                <a:gd name="T5" fmla="*/ 0 60000 65536"/>
                <a:gd name="T6" fmla="*/ 0 w 1"/>
                <a:gd name="T7" fmla="*/ 0 h 1992"/>
                <a:gd name="T8" fmla="*/ 1 w 1"/>
                <a:gd name="T9" fmla="*/ 1992 h 1992"/>
              </a:gdLst>
              <a:ahLst/>
              <a:cxnLst>
                <a:cxn ang="T4">
                  <a:pos x="T0" y="T1"/>
                </a:cxn>
                <a:cxn ang="T5">
                  <a:pos x="T2" y="T3"/>
                </a:cxn>
              </a:cxnLst>
              <a:rect l="T6" t="T7" r="T8" b="T9"/>
              <a:pathLst>
                <a:path w="1" h="1992">
                  <a:moveTo>
                    <a:pt x="1" y="0"/>
                  </a:moveTo>
                  <a:lnTo>
                    <a:pt x="0" y="199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1" name="Freeform 68"/>
            <p:cNvSpPr>
              <a:spLocks/>
            </p:cNvSpPr>
            <p:nvPr/>
          </p:nvSpPr>
          <p:spPr bwMode="auto">
            <a:xfrm>
              <a:off x="4029"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2" name="Freeform 69"/>
            <p:cNvSpPr>
              <a:spLocks/>
            </p:cNvSpPr>
            <p:nvPr/>
          </p:nvSpPr>
          <p:spPr bwMode="auto">
            <a:xfrm>
              <a:off x="4145" y="965"/>
              <a:ext cx="1" cy="1998"/>
            </a:xfrm>
            <a:custGeom>
              <a:avLst/>
              <a:gdLst>
                <a:gd name="T0" fmla="*/ 1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1"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3" name="Freeform 70"/>
            <p:cNvSpPr>
              <a:spLocks/>
            </p:cNvSpPr>
            <p:nvPr/>
          </p:nvSpPr>
          <p:spPr bwMode="auto">
            <a:xfrm>
              <a:off x="4317" y="962"/>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4" name="Freeform 71"/>
            <p:cNvSpPr>
              <a:spLocks/>
            </p:cNvSpPr>
            <p:nvPr/>
          </p:nvSpPr>
          <p:spPr bwMode="auto">
            <a:xfrm>
              <a:off x="4346"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5" name="Freeform 72"/>
            <p:cNvSpPr>
              <a:spLocks/>
            </p:cNvSpPr>
            <p:nvPr/>
          </p:nvSpPr>
          <p:spPr bwMode="auto">
            <a:xfrm>
              <a:off x="4381" y="963"/>
              <a:ext cx="1" cy="2003"/>
            </a:xfrm>
            <a:custGeom>
              <a:avLst/>
              <a:gdLst>
                <a:gd name="T0" fmla="*/ 0 w 1"/>
                <a:gd name="T1" fmla="*/ 0 h 2003"/>
                <a:gd name="T2" fmla="*/ 0 w 1"/>
                <a:gd name="T3" fmla="*/ 2003 h 2003"/>
                <a:gd name="T4" fmla="*/ 0 60000 65536"/>
                <a:gd name="T5" fmla="*/ 0 60000 65536"/>
                <a:gd name="T6" fmla="*/ 0 w 1"/>
                <a:gd name="T7" fmla="*/ 0 h 2003"/>
                <a:gd name="T8" fmla="*/ 1 w 1"/>
                <a:gd name="T9" fmla="*/ 2003 h 2003"/>
              </a:gdLst>
              <a:ahLst/>
              <a:cxnLst>
                <a:cxn ang="T4">
                  <a:pos x="T0" y="T1"/>
                </a:cxn>
                <a:cxn ang="T5">
                  <a:pos x="T2" y="T3"/>
                </a:cxn>
              </a:cxnLst>
              <a:rect l="T6" t="T7" r="T8" b="T9"/>
              <a:pathLst>
                <a:path w="1" h="2003">
                  <a:moveTo>
                    <a:pt x="0" y="0"/>
                  </a:moveTo>
                  <a:lnTo>
                    <a:pt x="0" y="2003"/>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6" name="Freeform 73"/>
            <p:cNvSpPr>
              <a:spLocks/>
            </p:cNvSpPr>
            <p:nvPr/>
          </p:nvSpPr>
          <p:spPr bwMode="auto">
            <a:xfrm>
              <a:off x="4421" y="965"/>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7" name="Freeform 74"/>
            <p:cNvSpPr>
              <a:spLocks/>
            </p:cNvSpPr>
            <p:nvPr/>
          </p:nvSpPr>
          <p:spPr bwMode="auto">
            <a:xfrm>
              <a:off x="4475" y="968"/>
              <a:ext cx="1" cy="1995"/>
            </a:xfrm>
            <a:custGeom>
              <a:avLst/>
              <a:gdLst>
                <a:gd name="T0" fmla="*/ 1 w 1"/>
                <a:gd name="T1" fmla="*/ 0 h 1995"/>
                <a:gd name="T2" fmla="*/ 0 w 1"/>
                <a:gd name="T3" fmla="*/ 1995 h 1995"/>
                <a:gd name="T4" fmla="*/ 0 60000 65536"/>
                <a:gd name="T5" fmla="*/ 0 60000 65536"/>
                <a:gd name="T6" fmla="*/ 0 w 1"/>
                <a:gd name="T7" fmla="*/ 0 h 1995"/>
                <a:gd name="T8" fmla="*/ 1 w 1"/>
                <a:gd name="T9" fmla="*/ 1995 h 1995"/>
              </a:gdLst>
              <a:ahLst/>
              <a:cxnLst>
                <a:cxn ang="T4">
                  <a:pos x="T0" y="T1"/>
                </a:cxn>
                <a:cxn ang="T5">
                  <a:pos x="T2" y="T3"/>
                </a:cxn>
              </a:cxnLst>
              <a:rect l="T6" t="T7" r="T8" b="T9"/>
              <a:pathLst>
                <a:path w="1" h="1995">
                  <a:moveTo>
                    <a:pt x="1" y="0"/>
                  </a:moveTo>
                  <a:lnTo>
                    <a:pt x="0" y="199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8" name="Freeform 75"/>
            <p:cNvSpPr>
              <a:spLocks/>
            </p:cNvSpPr>
            <p:nvPr/>
          </p:nvSpPr>
          <p:spPr bwMode="auto">
            <a:xfrm>
              <a:off x="4528" y="963"/>
              <a:ext cx="2" cy="1999"/>
            </a:xfrm>
            <a:custGeom>
              <a:avLst/>
              <a:gdLst>
                <a:gd name="T0" fmla="*/ 2 w 2"/>
                <a:gd name="T1" fmla="*/ 0 h 1999"/>
                <a:gd name="T2" fmla="*/ 0 w 2"/>
                <a:gd name="T3" fmla="*/ 1999 h 1999"/>
                <a:gd name="T4" fmla="*/ 0 60000 65536"/>
                <a:gd name="T5" fmla="*/ 0 60000 65536"/>
                <a:gd name="T6" fmla="*/ 0 w 2"/>
                <a:gd name="T7" fmla="*/ 0 h 1999"/>
                <a:gd name="T8" fmla="*/ 2 w 2"/>
                <a:gd name="T9" fmla="*/ 1999 h 1999"/>
              </a:gdLst>
              <a:ahLst/>
              <a:cxnLst>
                <a:cxn ang="T4">
                  <a:pos x="T0" y="T1"/>
                </a:cxn>
                <a:cxn ang="T5">
                  <a:pos x="T2" y="T3"/>
                </a:cxn>
              </a:cxnLst>
              <a:rect l="T6" t="T7" r="T8" b="T9"/>
              <a:pathLst>
                <a:path w="2" h="1999">
                  <a:moveTo>
                    <a:pt x="2"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9" name="Freeform 76"/>
            <p:cNvSpPr>
              <a:spLocks/>
            </p:cNvSpPr>
            <p:nvPr/>
          </p:nvSpPr>
          <p:spPr bwMode="auto">
            <a:xfrm>
              <a:off x="4593" y="968"/>
              <a:ext cx="1" cy="1995"/>
            </a:xfrm>
            <a:custGeom>
              <a:avLst/>
              <a:gdLst>
                <a:gd name="T0" fmla="*/ 0 w 1"/>
                <a:gd name="T1" fmla="*/ 0 h 1995"/>
                <a:gd name="T2" fmla="*/ 0 w 1"/>
                <a:gd name="T3" fmla="*/ 1995 h 1995"/>
                <a:gd name="T4" fmla="*/ 0 60000 65536"/>
                <a:gd name="T5" fmla="*/ 0 60000 65536"/>
                <a:gd name="T6" fmla="*/ 0 w 1"/>
                <a:gd name="T7" fmla="*/ 0 h 1995"/>
                <a:gd name="T8" fmla="*/ 1 w 1"/>
                <a:gd name="T9" fmla="*/ 1995 h 1995"/>
              </a:gdLst>
              <a:ahLst/>
              <a:cxnLst>
                <a:cxn ang="T4">
                  <a:pos x="T0" y="T1"/>
                </a:cxn>
                <a:cxn ang="T5">
                  <a:pos x="T2" y="T3"/>
                </a:cxn>
              </a:cxnLst>
              <a:rect l="T6" t="T7" r="T8" b="T9"/>
              <a:pathLst>
                <a:path w="1" h="1995">
                  <a:moveTo>
                    <a:pt x="0" y="0"/>
                  </a:moveTo>
                  <a:lnTo>
                    <a:pt x="0" y="199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0" name="Freeform 77"/>
            <p:cNvSpPr>
              <a:spLocks/>
            </p:cNvSpPr>
            <p:nvPr/>
          </p:nvSpPr>
          <p:spPr bwMode="auto">
            <a:xfrm>
              <a:off x="4664" y="966"/>
              <a:ext cx="1" cy="2000"/>
            </a:xfrm>
            <a:custGeom>
              <a:avLst/>
              <a:gdLst>
                <a:gd name="T0" fmla="*/ 0 w 1"/>
                <a:gd name="T1" fmla="*/ 0 h 2000"/>
                <a:gd name="T2" fmla="*/ 0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0" y="0"/>
                  </a:moveTo>
                  <a:lnTo>
                    <a:pt x="0"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1" name="Freeform 78"/>
            <p:cNvSpPr>
              <a:spLocks/>
            </p:cNvSpPr>
            <p:nvPr/>
          </p:nvSpPr>
          <p:spPr bwMode="auto">
            <a:xfrm>
              <a:off x="4780" y="965"/>
              <a:ext cx="1" cy="1999"/>
            </a:xfrm>
            <a:custGeom>
              <a:avLst/>
              <a:gdLst>
                <a:gd name="T0" fmla="*/ 1 w 1"/>
                <a:gd name="T1" fmla="*/ 0 h 1999"/>
                <a:gd name="T2" fmla="*/ 0 w 1"/>
                <a:gd name="T3" fmla="*/ 1999 h 1999"/>
                <a:gd name="T4" fmla="*/ 0 60000 65536"/>
                <a:gd name="T5" fmla="*/ 0 60000 65536"/>
                <a:gd name="T6" fmla="*/ 0 w 1"/>
                <a:gd name="T7" fmla="*/ 0 h 1999"/>
                <a:gd name="T8" fmla="*/ 1 w 1"/>
                <a:gd name="T9" fmla="*/ 1999 h 1999"/>
              </a:gdLst>
              <a:ahLst/>
              <a:cxnLst>
                <a:cxn ang="T4">
                  <a:pos x="T0" y="T1"/>
                </a:cxn>
                <a:cxn ang="T5">
                  <a:pos x="T2" y="T3"/>
                </a:cxn>
              </a:cxnLst>
              <a:rect l="T6" t="T7" r="T8" b="T9"/>
              <a:pathLst>
                <a:path w="1" h="1999">
                  <a:moveTo>
                    <a:pt x="1"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2" name="Freeform 79"/>
            <p:cNvSpPr>
              <a:spLocks/>
            </p:cNvSpPr>
            <p:nvPr/>
          </p:nvSpPr>
          <p:spPr bwMode="auto">
            <a:xfrm>
              <a:off x="4959" y="966"/>
              <a:ext cx="2" cy="1997"/>
            </a:xfrm>
            <a:custGeom>
              <a:avLst/>
              <a:gdLst>
                <a:gd name="T0" fmla="*/ 2 w 2"/>
                <a:gd name="T1" fmla="*/ 0 h 1997"/>
                <a:gd name="T2" fmla="*/ 0 w 2"/>
                <a:gd name="T3" fmla="*/ 1997 h 1997"/>
                <a:gd name="T4" fmla="*/ 0 60000 65536"/>
                <a:gd name="T5" fmla="*/ 0 60000 65536"/>
                <a:gd name="T6" fmla="*/ 0 w 2"/>
                <a:gd name="T7" fmla="*/ 0 h 1997"/>
                <a:gd name="T8" fmla="*/ 2 w 2"/>
                <a:gd name="T9" fmla="*/ 1997 h 1997"/>
              </a:gdLst>
              <a:ahLst/>
              <a:cxnLst>
                <a:cxn ang="T4">
                  <a:pos x="T0" y="T1"/>
                </a:cxn>
                <a:cxn ang="T5">
                  <a:pos x="T2" y="T3"/>
                </a:cxn>
              </a:cxnLst>
              <a:rect l="T6" t="T7" r="T8" b="T9"/>
              <a:pathLst>
                <a:path w="2" h="1997">
                  <a:moveTo>
                    <a:pt x="2"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3" name="Freeform 80"/>
            <p:cNvSpPr>
              <a:spLocks/>
            </p:cNvSpPr>
            <p:nvPr/>
          </p:nvSpPr>
          <p:spPr bwMode="auto">
            <a:xfrm>
              <a:off x="4988"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4" name="Freeform 81"/>
            <p:cNvSpPr>
              <a:spLocks/>
            </p:cNvSpPr>
            <p:nvPr/>
          </p:nvSpPr>
          <p:spPr bwMode="auto">
            <a:xfrm>
              <a:off x="5024"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5" name="Freeform 82"/>
            <p:cNvSpPr>
              <a:spLocks/>
            </p:cNvSpPr>
            <p:nvPr/>
          </p:nvSpPr>
          <p:spPr bwMode="auto">
            <a:xfrm>
              <a:off x="5063"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6" name="Freeform 83"/>
            <p:cNvSpPr>
              <a:spLocks/>
            </p:cNvSpPr>
            <p:nvPr/>
          </p:nvSpPr>
          <p:spPr bwMode="auto">
            <a:xfrm>
              <a:off x="5117" y="965"/>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7" name="Freeform 84"/>
            <p:cNvSpPr>
              <a:spLocks/>
            </p:cNvSpPr>
            <p:nvPr/>
          </p:nvSpPr>
          <p:spPr bwMode="auto">
            <a:xfrm>
              <a:off x="5170" y="962"/>
              <a:ext cx="1" cy="2000"/>
            </a:xfrm>
            <a:custGeom>
              <a:avLst/>
              <a:gdLst>
                <a:gd name="T0" fmla="*/ 1 w 1"/>
                <a:gd name="T1" fmla="*/ 0 h 2000"/>
                <a:gd name="T2" fmla="*/ 0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1" y="0"/>
                  </a:moveTo>
                  <a:lnTo>
                    <a:pt x="0"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8" name="Freeform 85"/>
            <p:cNvSpPr>
              <a:spLocks/>
            </p:cNvSpPr>
            <p:nvPr/>
          </p:nvSpPr>
          <p:spPr bwMode="auto">
            <a:xfrm>
              <a:off x="5235" y="962"/>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9" name="Freeform 86"/>
            <p:cNvSpPr>
              <a:spLocks/>
            </p:cNvSpPr>
            <p:nvPr/>
          </p:nvSpPr>
          <p:spPr bwMode="auto">
            <a:xfrm>
              <a:off x="5306"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0" name="Freeform 87"/>
            <p:cNvSpPr>
              <a:spLocks/>
            </p:cNvSpPr>
            <p:nvPr/>
          </p:nvSpPr>
          <p:spPr bwMode="auto">
            <a:xfrm>
              <a:off x="5422" y="963"/>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1" name="Freeform 88"/>
            <p:cNvSpPr>
              <a:spLocks/>
            </p:cNvSpPr>
            <p:nvPr/>
          </p:nvSpPr>
          <p:spPr bwMode="auto">
            <a:xfrm>
              <a:off x="5613"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2" name="Line 89"/>
            <p:cNvSpPr>
              <a:spLocks noChangeShapeType="1"/>
            </p:cNvSpPr>
            <p:nvPr/>
          </p:nvSpPr>
          <p:spPr bwMode="auto">
            <a:xfrm>
              <a:off x="3028" y="963"/>
              <a:ext cx="258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3" name="Line 90"/>
            <p:cNvSpPr>
              <a:spLocks noChangeShapeType="1"/>
            </p:cNvSpPr>
            <p:nvPr/>
          </p:nvSpPr>
          <p:spPr bwMode="auto">
            <a:xfrm>
              <a:off x="3029" y="2964"/>
              <a:ext cx="258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4" name="Line 91"/>
            <p:cNvSpPr>
              <a:spLocks noChangeShapeType="1"/>
            </p:cNvSpPr>
            <p:nvPr/>
          </p:nvSpPr>
          <p:spPr bwMode="auto">
            <a:xfrm>
              <a:off x="3025" y="105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5" name="Line 92"/>
            <p:cNvSpPr>
              <a:spLocks noChangeShapeType="1"/>
            </p:cNvSpPr>
            <p:nvPr/>
          </p:nvSpPr>
          <p:spPr bwMode="auto">
            <a:xfrm>
              <a:off x="3028" y="115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6" name="Line 93"/>
            <p:cNvSpPr>
              <a:spLocks noChangeShapeType="1"/>
            </p:cNvSpPr>
            <p:nvPr/>
          </p:nvSpPr>
          <p:spPr bwMode="auto">
            <a:xfrm>
              <a:off x="3027" y="1253"/>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7" name="Line 94"/>
            <p:cNvSpPr>
              <a:spLocks noChangeShapeType="1"/>
            </p:cNvSpPr>
            <p:nvPr/>
          </p:nvSpPr>
          <p:spPr bwMode="auto">
            <a:xfrm>
              <a:off x="3032" y="13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8" name="Line 95"/>
            <p:cNvSpPr>
              <a:spLocks noChangeShapeType="1"/>
            </p:cNvSpPr>
            <p:nvPr/>
          </p:nvSpPr>
          <p:spPr bwMode="auto">
            <a:xfrm>
              <a:off x="3028" y="145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9" name="Line 96"/>
            <p:cNvSpPr>
              <a:spLocks noChangeShapeType="1"/>
            </p:cNvSpPr>
            <p:nvPr/>
          </p:nvSpPr>
          <p:spPr bwMode="auto">
            <a:xfrm>
              <a:off x="3028" y="155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0" name="Line 97"/>
            <p:cNvSpPr>
              <a:spLocks noChangeShapeType="1"/>
            </p:cNvSpPr>
            <p:nvPr/>
          </p:nvSpPr>
          <p:spPr bwMode="auto">
            <a:xfrm>
              <a:off x="3025" y="1655"/>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1" name="Line 98"/>
            <p:cNvSpPr>
              <a:spLocks noChangeShapeType="1"/>
            </p:cNvSpPr>
            <p:nvPr/>
          </p:nvSpPr>
          <p:spPr bwMode="auto">
            <a:xfrm>
              <a:off x="3028" y="175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2" name="Line 99"/>
            <p:cNvSpPr>
              <a:spLocks noChangeShapeType="1"/>
            </p:cNvSpPr>
            <p:nvPr/>
          </p:nvSpPr>
          <p:spPr bwMode="auto">
            <a:xfrm>
              <a:off x="3025" y="18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3" name="Line 100"/>
            <p:cNvSpPr>
              <a:spLocks noChangeShapeType="1"/>
            </p:cNvSpPr>
            <p:nvPr/>
          </p:nvSpPr>
          <p:spPr bwMode="auto">
            <a:xfrm>
              <a:off x="3025" y="1964"/>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4" name="Line 101"/>
            <p:cNvSpPr>
              <a:spLocks noChangeShapeType="1"/>
            </p:cNvSpPr>
            <p:nvPr/>
          </p:nvSpPr>
          <p:spPr bwMode="auto">
            <a:xfrm>
              <a:off x="3025" y="20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5" name="Line 102"/>
            <p:cNvSpPr>
              <a:spLocks noChangeShapeType="1"/>
            </p:cNvSpPr>
            <p:nvPr/>
          </p:nvSpPr>
          <p:spPr bwMode="auto">
            <a:xfrm>
              <a:off x="3025" y="2157"/>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6" name="Line 103"/>
            <p:cNvSpPr>
              <a:spLocks noChangeShapeType="1"/>
            </p:cNvSpPr>
            <p:nvPr/>
          </p:nvSpPr>
          <p:spPr bwMode="auto">
            <a:xfrm>
              <a:off x="3025" y="22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7" name="Line 104"/>
            <p:cNvSpPr>
              <a:spLocks noChangeShapeType="1"/>
            </p:cNvSpPr>
            <p:nvPr/>
          </p:nvSpPr>
          <p:spPr bwMode="auto">
            <a:xfrm>
              <a:off x="3025" y="23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8" name="Line 105"/>
            <p:cNvSpPr>
              <a:spLocks noChangeShapeType="1"/>
            </p:cNvSpPr>
            <p:nvPr/>
          </p:nvSpPr>
          <p:spPr bwMode="auto">
            <a:xfrm>
              <a:off x="3026" y="246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9" name="Line 106"/>
            <p:cNvSpPr>
              <a:spLocks noChangeShapeType="1"/>
            </p:cNvSpPr>
            <p:nvPr/>
          </p:nvSpPr>
          <p:spPr bwMode="auto">
            <a:xfrm>
              <a:off x="3031" y="25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0" name="Line 107"/>
            <p:cNvSpPr>
              <a:spLocks noChangeShapeType="1"/>
            </p:cNvSpPr>
            <p:nvPr/>
          </p:nvSpPr>
          <p:spPr bwMode="auto">
            <a:xfrm>
              <a:off x="3025" y="26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1" name="Line 108"/>
            <p:cNvSpPr>
              <a:spLocks noChangeShapeType="1"/>
            </p:cNvSpPr>
            <p:nvPr/>
          </p:nvSpPr>
          <p:spPr bwMode="auto">
            <a:xfrm>
              <a:off x="3025" y="276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2" name="Line 109"/>
            <p:cNvSpPr>
              <a:spLocks noChangeShapeType="1"/>
            </p:cNvSpPr>
            <p:nvPr/>
          </p:nvSpPr>
          <p:spPr bwMode="auto">
            <a:xfrm>
              <a:off x="3025" y="286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sp>
        <p:nvSpPr>
          <p:cNvPr id="113" name="Freeform 110"/>
          <p:cNvSpPr>
            <a:spLocks/>
          </p:cNvSpPr>
          <p:nvPr/>
        </p:nvSpPr>
        <p:spPr bwMode="auto">
          <a:xfrm>
            <a:off x="4574014" y="1769984"/>
            <a:ext cx="3778250" cy="2916238"/>
          </a:xfrm>
          <a:custGeom>
            <a:avLst/>
            <a:gdLst>
              <a:gd name="T0" fmla="*/ 0 w 2380"/>
              <a:gd name="T1" fmla="*/ 0 h 1837"/>
              <a:gd name="T2" fmla="*/ 2147483647 w 2380"/>
              <a:gd name="T3" fmla="*/ 2147483647 h 1837"/>
              <a:gd name="T4" fmla="*/ 2147483647 w 2380"/>
              <a:gd name="T5" fmla="*/ 2147483647 h 1837"/>
              <a:gd name="T6" fmla="*/ 2147483647 w 2380"/>
              <a:gd name="T7" fmla="*/ 2147483647 h 1837"/>
              <a:gd name="T8" fmla="*/ 2147483647 w 2380"/>
              <a:gd name="T9" fmla="*/ 2147483647 h 1837"/>
              <a:gd name="T10" fmla="*/ 2147483647 w 2380"/>
              <a:gd name="T11" fmla="*/ 2147483647 h 1837"/>
              <a:gd name="T12" fmla="*/ 2147483647 w 2380"/>
              <a:gd name="T13" fmla="*/ 2147483647 h 1837"/>
              <a:gd name="T14" fmla="*/ 2147483647 w 2380"/>
              <a:gd name="T15" fmla="*/ 2147483647 h 1837"/>
              <a:gd name="T16" fmla="*/ 2147483647 w 2380"/>
              <a:gd name="T17" fmla="*/ 2147483647 h 1837"/>
              <a:gd name="T18" fmla="*/ 2147483647 w 2380"/>
              <a:gd name="T19" fmla="*/ 2147483647 h 1837"/>
              <a:gd name="T20" fmla="*/ 2147483647 w 2380"/>
              <a:gd name="T21" fmla="*/ 2147483647 h 1837"/>
              <a:gd name="T22" fmla="*/ 2147483647 w 2380"/>
              <a:gd name="T23" fmla="*/ 2147483647 h 1837"/>
              <a:gd name="T24" fmla="*/ 2147483647 w 2380"/>
              <a:gd name="T25" fmla="*/ 2147483647 h 1837"/>
              <a:gd name="T26" fmla="*/ 2147483647 w 2380"/>
              <a:gd name="T27" fmla="*/ 2147483647 h 1837"/>
              <a:gd name="T28" fmla="*/ 2147483647 w 2380"/>
              <a:gd name="T29" fmla="*/ 2147483647 h 1837"/>
              <a:gd name="T30" fmla="*/ 2147483647 w 2380"/>
              <a:gd name="T31" fmla="*/ 2147483647 h 1837"/>
              <a:gd name="T32" fmla="*/ 2147483647 w 2380"/>
              <a:gd name="T33" fmla="*/ 2147483647 h 1837"/>
              <a:gd name="T34" fmla="*/ 2147483647 w 2380"/>
              <a:gd name="T35" fmla="*/ 2147483647 h 1837"/>
              <a:gd name="T36" fmla="*/ 2147483647 w 2380"/>
              <a:gd name="T37" fmla="*/ 2147483647 h 1837"/>
              <a:gd name="T38" fmla="*/ 2147483647 w 2380"/>
              <a:gd name="T39" fmla="*/ 2147483647 h 1837"/>
              <a:gd name="T40" fmla="*/ 2147483647 w 2380"/>
              <a:gd name="T41" fmla="*/ 2147483647 h 1837"/>
              <a:gd name="T42" fmla="*/ 2147483647 w 2380"/>
              <a:gd name="T43" fmla="*/ 2147483647 h 1837"/>
              <a:gd name="T44" fmla="*/ 2147483647 w 2380"/>
              <a:gd name="T45" fmla="*/ 2147483647 h 1837"/>
              <a:gd name="T46" fmla="*/ 2147483647 w 2380"/>
              <a:gd name="T47" fmla="*/ 2147483647 h 1837"/>
              <a:gd name="T48" fmla="*/ 2147483647 w 2380"/>
              <a:gd name="T49" fmla="*/ 2147483647 h 1837"/>
              <a:gd name="T50" fmla="*/ 2147483647 w 2380"/>
              <a:gd name="T51" fmla="*/ 2147483647 h 183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380"/>
              <a:gd name="T79" fmla="*/ 0 h 1837"/>
              <a:gd name="T80" fmla="*/ 2380 w 2380"/>
              <a:gd name="T81" fmla="*/ 1837 h 1837"/>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1794 w 10000"/>
              <a:gd name="connsiteY4" fmla="*/ 1257 h 10000"/>
              <a:gd name="connsiteX5" fmla="*/ 2227 w 10000"/>
              <a:gd name="connsiteY5" fmla="*/ 1720 h 10000"/>
              <a:gd name="connsiteX6" fmla="*/ 2752 w 10000"/>
              <a:gd name="connsiteY6" fmla="*/ 2341 h 10000"/>
              <a:gd name="connsiteX7" fmla="*/ 3130 w 10000"/>
              <a:gd name="connsiteY7" fmla="*/ 2847 h 10000"/>
              <a:gd name="connsiteX8" fmla="*/ 3513 w 10000"/>
              <a:gd name="connsiteY8" fmla="*/ 3419 h 10000"/>
              <a:gd name="connsiteX9" fmla="*/ 3727 w 10000"/>
              <a:gd name="connsiteY9" fmla="*/ 3762 h 10000"/>
              <a:gd name="connsiteX10" fmla="*/ 4092 w 10000"/>
              <a:gd name="connsiteY10" fmla="*/ 4371 h 10000"/>
              <a:gd name="connsiteX11" fmla="*/ 4256 w 10000"/>
              <a:gd name="connsiteY11" fmla="*/ 4709 h 10000"/>
              <a:gd name="connsiteX12" fmla="*/ 4668 w 10000"/>
              <a:gd name="connsiteY12" fmla="*/ 5580 h 10000"/>
              <a:gd name="connsiteX13" fmla="*/ 5034 w 10000"/>
              <a:gd name="connsiteY13" fmla="*/ 6228 h 10000"/>
              <a:gd name="connsiteX14" fmla="*/ 5315 w 10000"/>
              <a:gd name="connsiteY14" fmla="*/ 6701 h 10000"/>
              <a:gd name="connsiteX15" fmla="*/ 5828 w 10000"/>
              <a:gd name="connsiteY15" fmla="*/ 7392 h 10000"/>
              <a:gd name="connsiteX16" fmla="*/ 6311 w 10000"/>
              <a:gd name="connsiteY16" fmla="*/ 7942 h 10000"/>
              <a:gd name="connsiteX17" fmla="*/ 6550 w 10000"/>
              <a:gd name="connsiteY17" fmla="*/ 8209 h 10000"/>
              <a:gd name="connsiteX18" fmla="*/ 6866 w 10000"/>
              <a:gd name="connsiteY18" fmla="*/ 8536 h 10000"/>
              <a:gd name="connsiteX19" fmla="*/ 7353 w 10000"/>
              <a:gd name="connsiteY19" fmla="*/ 8944 h 10000"/>
              <a:gd name="connsiteX20" fmla="*/ 7874 w 10000"/>
              <a:gd name="connsiteY20" fmla="*/ 9303 h 10000"/>
              <a:gd name="connsiteX21" fmla="*/ 8504 w 10000"/>
              <a:gd name="connsiteY21" fmla="*/ 9614 h 10000"/>
              <a:gd name="connsiteX22" fmla="*/ 9122 w 10000"/>
              <a:gd name="connsiteY22" fmla="*/ 9820 h 10000"/>
              <a:gd name="connsiteX23" fmla="*/ 9462 w 10000"/>
              <a:gd name="connsiteY23" fmla="*/ 9902 h 10000"/>
              <a:gd name="connsiteX24" fmla="*/ 10000 w 10000"/>
              <a:gd name="connsiteY24" fmla="*/ 10000 h 10000"/>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1794 w 10000"/>
              <a:gd name="connsiteY4" fmla="*/ 1257 h 10000"/>
              <a:gd name="connsiteX5" fmla="*/ 2227 w 10000"/>
              <a:gd name="connsiteY5" fmla="*/ 1720 h 10000"/>
              <a:gd name="connsiteX6" fmla="*/ 2752 w 10000"/>
              <a:gd name="connsiteY6" fmla="*/ 2341 h 10000"/>
              <a:gd name="connsiteX7" fmla="*/ 3130 w 10000"/>
              <a:gd name="connsiteY7" fmla="*/ 2847 h 10000"/>
              <a:gd name="connsiteX8" fmla="*/ 3513 w 10000"/>
              <a:gd name="connsiteY8" fmla="*/ 3419 h 10000"/>
              <a:gd name="connsiteX9" fmla="*/ 3727 w 10000"/>
              <a:gd name="connsiteY9" fmla="*/ 3762 h 10000"/>
              <a:gd name="connsiteX10" fmla="*/ 4092 w 10000"/>
              <a:gd name="connsiteY10" fmla="*/ 4371 h 10000"/>
              <a:gd name="connsiteX11" fmla="*/ 4375 w 10000"/>
              <a:gd name="connsiteY11" fmla="*/ 4921 h 10000"/>
              <a:gd name="connsiteX12" fmla="*/ 4668 w 10000"/>
              <a:gd name="connsiteY12" fmla="*/ 5580 h 10000"/>
              <a:gd name="connsiteX13" fmla="*/ 5034 w 10000"/>
              <a:gd name="connsiteY13" fmla="*/ 6228 h 10000"/>
              <a:gd name="connsiteX14" fmla="*/ 5315 w 10000"/>
              <a:gd name="connsiteY14" fmla="*/ 6701 h 10000"/>
              <a:gd name="connsiteX15" fmla="*/ 5828 w 10000"/>
              <a:gd name="connsiteY15" fmla="*/ 7392 h 10000"/>
              <a:gd name="connsiteX16" fmla="*/ 6311 w 10000"/>
              <a:gd name="connsiteY16" fmla="*/ 7942 h 10000"/>
              <a:gd name="connsiteX17" fmla="*/ 6550 w 10000"/>
              <a:gd name="connsiteY17" fmla="*/ 8209 h 10000"/>
              <a:gd name="connsiteX18" fmla="*/ 6866 w 10000"/>
              <a:gd name="connsiteY18" fmla="*/ 8536 h 10000"/>
              <a:gd name="connsiteX19" fmla="*/ 7353 w 10000"/>
              <a:gd name="connsiteY19" fmla="*/ 8944 h 10000"/>
              <a:gd name="connsiteX20" fmla="*/ 7874 w 10000"/>
              <a:gd name="connsiteY20" fmla="*/ 9303 h 10000"/>
              <a:gd name="connsiteX21" fmla="*/ 8504 w 10000"/>
              <a:gd name="connsiteY21" fmla="*/ 9614 h 10000"/>
              <a:gd name="connsiteX22" fmla="*/ 9122 w 10000"/>
              <a:gd name="connsiteY22" fmla="*/ 9820 h 10000"/>
              <a:gd name="connsiteX23" fmla="*/ 9462 w 10000"/>
              <a:gd name="connsiteY23" fmla="*/ 9902 h 10000"/>
              <a:gd name="connsiteX24" fmla="*/ 10000 w 10000"/>
              <a:gd name="connsiteY24" fmla="*/ 10000 h 10000"/>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1794 w 10000"/>
              <a:gd name="connsiteY4" fmla="*/ 1257 h 10000"/>
              <a:gd name="connsiteX5" fmla="*/ 2227 w 10000"/>
              <a:gd name="connsiteY5" fmla="*/ 1720 h 10000"/>
              <a:gd name="connsiteX6" fmla="*/ 2752 w 10000"/>
              <a:gd name="connsiteY6" fmla="*/ 2341 h 10000"/>
              <a:gd name="connsiteX7" fmla="*/ 3130 w 10000"/>
              <a:gd name="connsiteY7" fmla="*/ 2847 h 10000"/>
              <a:gd name="connsiteX8" fmla="*/ 3513 w 10000"/>
              <a:gd name="connsiteY8" fmla="*/ 3419 h 10000"/>
              <a:gd name="connsiteX9" fmla="*/ 3727 w 10000"/>
              <a:gd name="connsiteY9" fmla="*/ 3762 h 10000"/>
              <a:gd name="connsiteX10" fmla="*/ 4092 w 10000"/>
              <a:gd name="connsiteY10" fmla="*/ 4371 h 10000"/>
              <a:gd name="connsiteX11" fmla="*/ 4375 w 10000"/>
              <a:gd name="connsiteY11" fmla="*/ 4921 h 10000"/>
              <a:gd name="connsiteX12" fmla="*/ 4668 w 10000"/>
              <a:gd name="connsiteY12" fmla="*/ 5580 h 10000"/>
              <a:gd name="connsiteX13" fmla="*/ 5034 w 10000"/>
              <a:gd name="connsiteY13" fmla="*/ 6228 h 10000"/>
              <a:gd name="connsiteX14" fmla="*/ 5315 w 10000"/>
              <a:gd name="connsiteY14" fmla="*/ 6701 h 10000"/>
              <a:gd name="connsiteX15" fmla="*/ 5828 w 10000"/>
              <a:gd name="connsiteY15" fmla="*/ 7392 h 10000"/>
              <a:gd name="connsiteX16" fmla="*/ 6311 w 10000"/>
              <a:gd name="connsiteY16" fmla="*/ 7942 h 10000"/>
              <a:gd name="connsiteX17" fmla="*/ 6550 w 10000"/>
              <a:gd name="connsiteY17" fmla="*/ 8209 h 10000"/>
              <a:gd name="connsiteX18" fmla="*/ 6866 w 10000"/>
              <a:gd name="connsiteY18" fmla="*/ 8536 h 10000"/>
              <a:gd name="connsiteX19" fmla="*/ 7353 w 10000"/>
              <a:gd name="connsiteY19" fmla="*/ 8944 h 10000"/>
              <a:gd name="connsiteX20" fmla="*/ 7874 w 10000"/>
              <a:gd name="connsiteY20" fmla="*/ 9303 h 10000"/>
              <a:gd name="connsiteX21" fmla="*/ 8504 w 10000"/>
              <a:gd name="connsiteY21" fmla="*/ 9614 h 10000"/>
              <a:gd name="connsiteX22" fmla="*/ 9122 w 10000"/>
              <a:gd name="connsiteY22" fmla="*/ 9820 h 10000"/>
              <a:gd name="connsiteX23" fmla="*/ 9462 w 10000"/>
              <a:gd name="connsiteY23" fmla="*/ 9902 h 10000"/>
              <a:gd name="connsiteX24" fmla="*/ 10000 w 10000"/>
              <a:gd name="connsiteY24" fmla="*/ 10000 h 10000"/>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2227 w 10000"/>
              <a:gd name="connsiteY4" fmla="*/ 1720 h 10000"/>
              <a:gd name="connsiteX5" fmla="*/ 2752 w 10000"/>
              <a:gd name="connsiteY5" fmla="*/ 2341 h 10000"/>
              <a:gd name="connsiteX6" fmla="*/ 3130 w 10000"/>
              <a:gd name="connsiteY6" fmla="*/ 2847 h 10000"/>
              <a:gd name="connsiteX7" fmla="*/ 3513 w 10000"/>
              <a:gd name="connsiteY7" fmla="*/ 3419 h 10000"/>
              <a:gd name="connsiteX8" fmla="*/ 3727 w 10000"/>
              <a:gd name="connsiteY8" fmla="*/ 3762 h 10000"/>
              <a:gd name="connsiteX9" fmla="*/ 4092 w 10000"/>
              <a:gd name="connsiteY9" fmla="*/ 4371 h 10000"/>
              <a:gd name="connsiteX10" fmla="*/ 4375 w 10000"/>
              <a:gd name="connsiteY10" fmla="*/ 4921 h 10000"/>
              <a:gd name="connsiteX11" fmla="*/ 4668 w 10000"/>
              <a:gd name="connsiteY11" fmla="*/ 5580 h 10000"/>
              <a:gd name="connsiteX12" fmla="*/ 5034 w 10000"/>
              <a:gd name="connsiteY12" fmla="*/ 6228 h 10000"/>
              <a:gd name="connsiteX13" fmla="*/ 5315 w 10000"/>
              <a:gd name="connsiteY13" fmla="*/ 6701 h 10000"/>
              <a:gd name="connsiteX14" fmla="*/ 5828 w 10000"/>
              <a:gd name="connsiteY14" fmla="*/ 7392 h 10000"/>
              <a:gd name="connsiteX15" fmla="*/ 6311 w 10000"/>
              <a:gd name="connsiteY15" fmla="*/ 7942 h 10000"/>
              <a:gd name="connsiteX16" fmla="*/ 6550 w 10000"/>
              <a:gd name="connsiteY16" fmla="*/ 8209 h 10000"/>
              <a:gd name="connsiteX17" fmla="*/ 6866 w 10000"/>
              <a:gd name="connsiteY17" fmla="*/ 8536 h 10000"/>
              <a:gd name="connsiteX18" fmla="*/ 7353 w 10000"/>
              <a:gd name="connsiteY18" fmla="*/ 8944 h 10000"/>
              <a:gd name="connsiteX19" fmla="*/ 7874 w 10000"/>
              <a:gd name="connsiteY19" fmla="*/ 9303 h 10000"/>
              <a:gd name="connsiteX20" fmla="*/ 8504 w 10000"/>
              <a:gd name="connsiteY20" fmla="*/ 9614 h 10000"/>
              <a:gd name="connsiteX21" fmla="*/ 9122 w 10000"/>
              <a:gd name="connsiteY21" fmla="*/ 9820 h 10000"/>
              <a:gd name="connsiteX22" fmla="*/ 9462 w 10000"/>
              <a:gd name="connsiteY22" fmla="*/ 9902 h 10000"/>
              <a:gd name="connsiteX23" fmla="*/ 10000 w 10000"/>
              <a:gd name="connsiteY23"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668 w 10000"/>
              <a:gd name="connsiteY10" fmla="*/ 5580 h 10000"/>
              <a:gd name="connsiteX11" fmla="*/ 5034 w 10000"/>
              <a:gd name="connsiteY11" fmla="*/ 6228 h 10000"/>
              <a:gd name="connsiteX12" fmla="*/ 5315 w 10000"/>
              <a:gd name="connsiteY12" fmla="*/ 6701 h 10000"/>
              <a:gd name="connsiteX13" fmla="*/ 5828 w 10000"/>
              <a:gd name="connsiteY13" fmla="*/ 7392 h 10000"/>
              <a:gd name="connsiteX14" fmla="*/ 6311 w 10000"/>
              <a:gd name="connsiteY14" fmla="*/ 7942 h 10000"/>
              <a:gd name="connsiteX15" fmla="*/ 6550 w 10000"/>
              <a:gd name="connsiteY15" fmla="*/ 8209 h 10000"/>
              <a:gd name="connsiteX16" fmla="*/ 6866 w 10000"/>
              <a:gd name="connsiteY16" fmla="*/ 8536 h 10000"/>
              <a:gd name="connsiteX17" fmla="*/ 7353 w 10000"/>
              <a:gd name="connsiteY17" fmla="*/ 8944 h 10000"/>
              <a:gd name="connsiteX18" fmla="*/ 7874 w 10000"/>
              <a:gd name="connsiteY18" fmla="*/ 9303 h 10000"/>
              <a:gd name="connsiteX19" fmla="*/ 8504 w 10000"/>
              <a:gd name="connsiteY19" fmla="*/ 9614 h 10000"/>
              <a:gd name="connsiteX20" fmla="*/ 9122 w 10000"/>
              <a:gd name="connsiteY20" fmla="*/ 9820 h 10000"/>
              <a:gd name="connsiteX21" fmla="*/ 9462 w 10000"/>
              <a:gd name="connsiteY21" fmla="*/ 9902 h 10000"/>
              <a:gd name="connsiteX22" fmla="*/ 10000 w 10000"/>
              <a:gd name="connsiteY22"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668 w 10000"/>
              <a:gd name="connsiteY10" fmla="*/ 5580 h 10000"/>
              <a:gd name="connsiteX11" fmla="*/ 5034 w 10000"/>
              <a:gd name="connsiteY11" fmla="*/ 6228 h 10000"/>
              <a:gd name="connsiteX12" fmla="*/ 5315 w 10000"/>
              <a:gd name="connsiteY12" fmla="*/ 6701 h 10000"/>
              <a:gd name="connsiteX13" fmla="*/ 5828 w 10000"/>
              <a:gd name="connsiteY13" fmla="*/ 7392 h 10000"/>
              <a:gd name="connsiteX14" fmla="*/ 6311 w 10000"/>
              <a:gd name="connsiteY14" fmla="*/ 7942 h 10000"/>
              <a:gd name="connsiteX15" fmla="*/ 6866 w 10000"/>
              <a:gd name="connsiteY15" fmla="*/ 8536 h 10000"/>
              <a:gd name="connsiteX16" fmla="*/ 7353 w 10000"/>
              <a:gd name="connsiteY16" fmla="*/ 8944 h 10000"/>
              <a:gd name="connsiteX17" fmla="*/ 7874 w 10000"/>
              <a:gd name="connsiteY17" fmla="*/ 9303 h 10000"/>
              <a:gd name="connsiteX18" fmla="*/ 8504 w 10000"/>
              <a:gd name="connsiteY18" fmla="*/ 9614 h 10000"/>
              <a:gd name="connsiteX19" fmla="*/ 9122 w 10000"/>
              <a:gd name="connsiteY19" fmla="*/ 9820 h 10000"/>
              <a:gd name="connsiteX20" fmla="*/ 9462 w 10000"/>
              <a:gd name="connsiteY20" fmla="*/ 9902 h 10000"/>
              <a:gd name="connsiteX21" fmla="*/ 10000 w 10000"/>
              <a:gd name="connsiteY21"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727 w 10000"/>
              <a:gd name="connsiteY10" fmla="*/ 5618 h 10000"/>
              <a:gd name="connsiteX11" fmla="*/ 5034 w 10000"/>
              <a:gd name="connsiteY11" fmla="*/ 6228 h 10000"/>
              <a:gd name="connsiteX12" fmla="*/ 5315 w 10000"/>
              <a:gd name="connsiteY12" fmla="*/ 6701 h 10000"/>
              <a:gd name="connsiteX13" fmla="*/ 5828 w 10000"/>
              <a:gd name="connsiteY13" fmla="*/ 7392 h 10000"/>
              <a:gd name="connsiteX14" fmla="*/ 6311 w 10000"/>
              <a:gd name="connsiteY14" fmla="*/ 7942 h 10000"/>
              <a:gd name="connsiteX15" fmla="*/ 6866 w 10000"/>
              <a:gd name="connsiteY15" fmla="*/ 8536 h 10000"/>
              <a:gd name="connsiteX16" fmla="*/ 7353 w 10000"/>
              <a:gd name="connsiteY16" fmla="*/ 8944 h 10000"/>
              <a:gd name="connsiteX17" fmla="*/ 7874 w 10000"/>
              <a:gd name="connsiteY17" fmla="*/ 9303 h 10000"/>
              <a:gd name="connsiteX18" fmla="*/ 8504 w 10000"/>
              <a:gd name="connsiteY18" fmla="*/ 9614 h 10000"/>
              <a:gd name="connsiteX19" fmla="*/ 9122 w 10000"/>
              <a:gd name="connsiteY19" fmla="*/ 9820 h 10000"/>
              <a:gd name="connsiteX20" fmla="*/ 9462 w 10000"/>
              <a:gd name="connsiteY20" fmla="*/ 9902 h 10000"/>
              <a:gd name="connsiteX21" fmla="*/ 10000 w 10000"/>
              <a:gd name="connsiteY21"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727 w 10000"/>
              <a:gd name="connsiteY10" fmla="*/ 5618 h 10000"/>
              <a:gd name="connsiteX11" fmla="*/ 5034 w 10000"/>
              <a:gd name="connsiteY11" fmla="*/ 6228 h 10000"/>
              <a:gd name="connsiteX12" fmla="*/ 5315 w 10000"/>
              <a:gd name="connsiteY12" fmla="*/ 6701 h 10000"/>
              <a:gd name="connsiteX13" fmla="*/ 5828 w 10000"/>
              <a:gd name="connsiteY13" fmla="*/ 7392 h 10000"/>
              <a:gd name="connsiteX14" fmla="*/ 6281 w 10000"/>
              <a:gd name="connsiteY14" fmla="*/ 8000 h 10000"/>
              <a:gd name="connsiteX15" fmla="*/ 6866 w 10000"/>
              <a:gd name="connsiteY15" fmla="*/ 8536 h 10000"/>
              <a:gd name="connsiteX16" fmla="*/ 7353 w 10000"/>
              <a:gd name="connsiteY16" fmla="*/ 8944 h 10000"/>
              <a:gd name="connsiteX17" fmla="*/ 7874 w 10000"/>
              <a:gd name="connsiteY17" fmla="*/ 9303 h 10000"/>
              <a:gd name="connsiteX18" fmla="*/ 8504 w 10000"/>
              <a:gd name="connsiteY18" fmla="*/ 9614 h 10000"/>
              <a:gd name="connsiteX19" fmla="*/ 9122 w 10000"/>
              <a:gd name="connsiteY19" fmla="*/ 9820 h 10000"/>
              <a:gd name="connsiteX20" fmla="*/ 9462 w 10000"/>
              <a:gd name="connsiteY20" fmla="*/ 9902 h 10000"/>
              <a:gd name="connsiteX21" fmla="*/ 10000 w 10000"/>
              <a:gd name="connsiteY21"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727 w 10000"/>
              <a:gd name="connsiteY10" fmla="*/ 5618 h 10000"/>
              <a:gd name="connsiteX11" fmla="*/ 5315 w 10000"/>
              <a:gd name="connsiteY11" fmla="*/ 6701 h 10000"/>
              <a:gd name="connsiteX12" fmla="*/ 5828 w 10000"/>
              <a:gd name="connsiteY12" fmla="*/ 7392 h 10000"/>
              <a:gd name="connsiteX13" fmla="*/ 6281 w 10000"/>
              <a:gd name="connsiteY13" fmla="*/ 8000 h 10000"/>
              <a:gd name="connsiteX14" fmla="*/ 6866 w 10000"/>
              <a:gd name="connsiteY14" fmla="*/ 8536 h 10000"/>
              <a:gd name="connsiteX15" fmla="*/ 7353 w 10000"/>
              <a:gd name="connsiteY15" fmla="*/ 8944 h 10000"/>
              <a:gd name="connsiteX16" fmla="*/ 7874 w 10000"/>
              <a:gd name="connsiteY16" fmla="*/ 9303 h 10000"/>
              <a:gd name="connsiteX17" fmla="*/ 8504 w 10000"/>
              <a:gd name="connsiteY17" fmla="*/ 9614 h 10000"/>
              <a:gd name="connsiteX18" fmla="*/ 9122 w 10000"/>
              <a:gd name="connsiteY18" fmla="*/ 9820 h 10000"/>
              <a:gd name="connsiteX19" fmla="*/ 9462 w 10000"/>
              <a:gd name="connsiteY19" fmla="*/ 9902 h 10000"/>
              <a:gd name="connsiteX20" fmla="*/ 10000 w 10000"/>
              <a:gd name="connsiteY20"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15 w 10000"/>
              <a:gd name="connsiteY10" fmla="*/ 6701 h 10000"/>
              <a:gd name="connsiteX11" fmla="*/ 5828 w 10000"/>
              <a:gd name="connsiteY11" fmla="*/ 7392 h 10000"/>
              <a:gd name="connsiteX12" fmla="*/ 6281 w 10000"/>
              <a:gd name="connsiteY12" fmla="*/ 8000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9462 w 10000"/>
              <a:gd name="connsiteY18" fmla="*/ 9902 h 10000"/>
              <a:gd name="connsiteX19" fmla="*/ 10000 w 10000"/>
              <a:gd name="connsiteY19"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15 w 10000"/>
              <a:gd name="connsiteY10" fmla="*/ 6701 h 10000"/>
              <a:gd name="connsiteX11" fmla="*/ 5828 w 10000"/>
              <a:gd name="connsiteY11" fmla="*/ 7392 h 10000"/>
              <a:gd name="connsiteX12" fmla="*/ 6281 w 10000"/>
              <a:gd name="connsiteY12" fmla="*/ 8000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15 w 10000"/>
              <a:gd name="connsiteY10" fmla="*/ 6701 h 10000"/>
              <a:gd name="connsiteX11" fmla="*/ 5828 w 10000"/>
              <a:gd name="connsiteY11" fmla="*/ 7392 h 10000"/>
              <a:gd name="connsiteX12" fmla="*/ 6326 w 10000"/>
              <a:gd name="connsiteY12" fmla="*/ 7962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30 w 10000"/>
              <a:gd name="connsiteY10" fmla="*/ 6643 h 10000"/>
              <a:gd name="connsiteX11" fmla="*/ 5828 w 10000"/>
              <a:gd name="connsiteY11" fmla="*/ 7392 h 10000"/>
              <a:gd name="connsiteX12" fmla="*/ 6326 w 10000"/>
              <a:gd name="connsiteY12" fmla="*/ 7962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30 w 10000"/>
              <a:gd name="connsiteY10" fmla="*/ 6643 h 10000"/>
              <a:gd name="connsiteX11" fmla="*/ 5828 w 10000"/>
              <a:gd name="connsiteY11" fmla="*/ 7392 h 10000"/>
              <a:gd name="connsiteX12" fmla="*/ 6311 w 10000"/>
              <a:gd name="connsiteY12" fmla="*/ 8000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375 w 10000"/>
              <a:gd name="connsiteY7" fmla="*/ 4921 h 10000"/>
              <a:gd name="connsiteX8" fmla="*/ 4727 w 10000"/>
              <a:gd name="connsiteY8" fmla="*/ 5618 h 10000"/>
              <a:gd name="connsiteX9" fmla="*/ 5330 w 10000"/>
              <a:gd name="connsiteY9" fmla="*/ 6643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27 w 10000"/>
              <a:gd name="connsiteY8" fmla="*/ 5618 h 10000"/>
              <a:gd name="connsiteX9" fmla="*/ 5330 w 10000"/>
              <a:gd name="connsiteY9" fmla="*/ 6643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86 w 10000"/>
              <a:gd name="connsiteY8" fmla="*/ 5676 h 10000"/>
              <a:gd name="connsiteX9" fmla="*/ 5330 w 10000"/>
              <a:gd name="connsiteY9" fmla="*/ 6643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86 w 10000"/>
              <a:gd name="connsiteY8" fmla="*/ 5676 h 10000"/>
              <a:gd name="connsiteX9" fmla="*/ 5330 w 10000"/>
              <a:gd name="connsiteY9" fmla="*/ 6701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41 w 10000"/>
              <a:gd name="connsiteY8" fmla="*/ 5714 h 10000"/>
              <a:gd name="connsiteX9" fmla="*/ 5330 w 10000"/>
              <a:gd name="connsiteY9" fmla="*/ 6701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000" h="10000">
                <a:moveTo>
                  <a:pt x="0" y="0"/>
                </a:moveTo>
                <a:lnTo>
                  <a:pt x="870" y="501"/>
                </a:lnTo>
                <a:cubicBezTo>
                  <a:pt x="1133" y="678"/>
                  <a:pt x="1354" y="859"/>
                  <a:pt x="1580" y="1062"/>
                </a:cubicBezTo>
                <a:cubicBezTo>
                  <a:pt x="1806" y="1265"/>
                  <a:pt x="2032" y="1507"/>
                  <a:pt x="2227" y="1720"/>
                </a:cubicBezTo>
                <a:cubicBezTo>
                  <a:pt x="2422" y="1933"/>
                  <a:pt x="2601" y="2156"/>
                  <a:pt x="2752" y="2341"/>
                </a:cubicBezTo>
                <a:cubicBezTo>
                  <a:pt x="2903" y="2526"/>
                  <a:pt x="2968" y="2610"/>
                  <a:pt x="3130" y="2847"/>
                </a:cubicBezTo>
                <a:cubicBezTo>
                  <a:pt x="3293" y="3084"/>
                  <a:pt x="3549" y="3465"/>
                  <a:pt x="3727" y="3762"/>
                </a:cubicBezTo>
                <a:cubicBezTo>
                  <a:pt x="3905" y="4059"/>
                  <a:pt x="4028" y="4307"/>
                  <a:pt x="4197" y="4632"/>
                </a:cubicBezTo>
                <a:cubicBezTo>
                  <a:pt x="4366" y="4957"/>
                  <a:pt x="4552" y="5369"/>
                  <a:pt x="4741" y="5714"/>
                </a:cubicBezTo>
                <a:cubicBezTo>
                  <a:pt x="4930" y="6059"/>
                  <a:pt x="5149" y="6421"/>
                  <a:pt x="5330" y="6701"/>
                </a:cubicBezTo>
                <a:cubicBezTo>
                  <a:pt x="5511" y="6981"/>
                  <a:pt x="5664" y="7175"/>
                  <a:pt x="5828" y="7392"/>
                </a:cubicBezTo>
                <a:cubicBezTo>
                  <a:pt x="5992" y="7609"/>
                  <a:pt x="6138" y="7809"/>
                  <a:pt x="6311" y="8000"/>
                </a:cubicBezTo>
                <a:cubicBezTo>
                  <a:pt x="6484" y="8191"/>
                  <a:pt x="6692" y="8379"/>
                  <a:pt x="6866" y="8536"/>
                </a:cubicBezTo>
                <a:cubicBezTo>
                  <a:pt x="7040" y="8693"/>
                  <a:pt x="7185" y="8819"/>
                  <a:pt x="7353" y="8944"/>
                </a:cubicBezTo>
                <a:cubicBezTo>
                  <a:pt x="7521" y="9069"/>
                  <a:pt x="7681" y="9194"/>
                  <a:pt x="7874" y="9303"/>
                </a:cubicBezTo>
                <a:cubicBezTo>
                  <a:pt x="8067" y="9412"/>
                  <a:pt x="8298" y="9526"/>
                  <a:pt x="8504" y="9614"/>
                </a:cubicBezTo>
                <a:cubicBezTo>
                  <a:pt x="8710" y="9701"/>
                  <a:pt x="8873" y="9756"/>
                  <a:pt x="9122" y="9820"/>
                </a:cubicBezTo>
                <a:cubicBezTo>
                  <a:pt x="9371" y="9884"/>
                  <a:pt x="9817" y="9963"/>
                  <a:pt x="10000" y="10000"/>
                </a:cubicBezTo>
              </a:path>
            </a:pathLst>
          </a:custGeom>
          <a:noFill/>
          <a:ln w="28575">
            <a:solidFill>
              <a:srgbClr val="A5002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nvGrpSpPr>
          <p:cNvPr id="114" name="Group 111"/>
          <p:cNvGrpSpPr>
            <a:grpSpLocks/>
          </p:cNvGrpSpPr>
          <p:nvPr/>
        </p:nvGrpSpPr>
        <p:grpSpPr bwMode="auto">
          <a:xfrm>
            <a:off x="4012048" y="1593772"/>
            <a:ext cx="415926" cy="3467100"/>
            <a:chOff x="2408" y="648"/>
            <a:chExt cx="262" cy="2184"/>
          </a:xfrm>
        </p:grpSpPr>
        <p:sp>
          <p:nvSpPr>
            <p:cNvPr id="115" name="Text Box 112"/>
            <p:cNvSpPr txBox="1">
              <a:spLocks noChangeArrowheads="1"/>
            </p:cNvSpPr>
            <p:nvPr/>
          </p:nvSpPr>
          <p:spPr bwMode="auto">
            <a:xfrm>
              <a:off x="2408" y="648"/>
              <a:ext cx="24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100</a:t>
              </a:r>
            </a:p>
          </p:txBody>
        </p:sp>
        <p:sp>
          <p:nvSpPr>
            <p:cNvPr id="116" name="Text Box 113"/>
            <p:cNvSpPr txBox="1">
              <a:spLocks noChangeArrowheads="1"/>
            </p:cNvSpPr>
            <p:nvPr/>
          </p:nvSpPr>
          <p:spPr bwMode="auto">
            <a:xfrm>
              <a:off x="2483" y="854"/>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90</a:t>
              </a:r>
            </a:p>
          </p:txBody>
        </p:sp>
        <p:sp>
          <p:nvSpPr>
            <p:cNvPr id="117" name="Text Box 114"/>
            <p:cNvSpPr txBox="1">
              <a:spLocks noChangeArrowheads="1"/>
            </p:cNvSpPr>
            <p:nvPr/>
          </p:nvSpPr>
          <p:spPr bwMode="auto">
            <a:xfrm>
              <a:off x="2481" y="1061"/>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80</a:t>
              </a:r>
            </a:p>
          </p:txBody>
        </p:sp>
        <p:sp>
          <p:nvSpPr>
            <p:cNvPr id="118" name="Text Box 115"/>
            <p:cNvSpPr txBox="1">
              <a:spLocks noChangeArrowheads="1"/>
            </p:cNvSpPr>
            <p:nvPr/>
          </p:nvSpPr>
          <p:spPr bwMode="auto">
            <a:xfrm>
              <a:off x="2483" y="1247"/>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70</a:t>
              </a:r>
            </a:p>
          </p:txBody>
        </p:sp>
        <p:sp>
          <p:nvSpPr>
            <p:cNvPr id="119" name="Text Box 116"/>
            <p:cNvSpPr txBox="1">
              <a:spLocks noChangeArrowheads="1"/>
            </p:cNvSpPr>
            <p:nvPr/>
          </p:nvSpPr>
          <p:spPr bwMode="auto">
            <a:xfrm>
              <a:off x="2492" y="1450"/>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60</a:t>
              </a:r>
            </a:p>
          </p:txBody>
        </p:sp>
        <p:sp>
          <p:nvSpPr>
            <p:cNvPr id="120" name="Text Box 117"/>
            <p:cNvSpPr txBox="1">
              <a:spLocks noChangeArrowheads="1"/>
            </p:cNvSpPr>
            <p:nvPr/>
          </p:nvSpPr>
          <p:spPr bwMode="auto">
            <a:xfrm>
              <a:off x="2493" y="1661"/>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50</a:t>
              </a:r>
            </a:p>
          </p:txBody>
        </p:sp>
        <p:sp>
          <p:nvSpPr>
            <p:cNvPr id="121" name="Text Box 118"/>
            <p:cNvSpPr txBox="1">
              <a:spLocks noChangeArrowheads="1"/>
            </p:cNvSpPr>
            <p:nvPr/>
          </p:nvSpPr>
          <p:spPr bwMode="auto">
            <a:xfrm>
              <a:off x="2496" y="1855"/>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40</a:t>
              </a:r>
            </a:p>
          </p:txBody>
        </p:sp>
        <p:sp>
          <p:nvSpPr>
            <p:cNvPr id="122" name="Text Box 119"/>
            <p:cNvSpPr txBox="1">
              <a:spLocks noChangeArrowheads="1"/>
            </p:cNvSpPr>
            <p:nvPr/>
          </p:nvSpPr>
          <p:spPr bwMode="auto">
            <a:xfrm>
              <a:off x="2498" y="2057"/>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30</a:t>
              </a:r>
            </a:p>
          </p:txBody>
        </p:sp>
        <p:sp>
          <p:nvSpPr>
            <p:cNvPr id="123" name="Text Box 120"/>
            <p:cNvSpPr txBox="1">
              <a:spLocks noChangeArrowheads="1"/>
            </p:cNvSpPr>
            <p:nvPr/>
          </p:nvSpPr>
          <p:spPr bwMode="auto">
            <a:xfrm>
              <a:off x="2501" y="2260"/>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20</a:t>
              </a:r>
            </a:p>
          </p:txBody>
        </p:sp>
        <p:sp>
          <p:nvSpPr>
            <p:cNvPr id="124" name="Text Box 121"/>
            <p:cNvSpPr txBox="1">
              <a:spLocks noChangeArrowheads="1"/>
            </p:cNvSpPr>
            <p:nvPr/>
          </p:nvSpPr>
          <p:spPr bwMode="auto">
            <a:xfrm>
              <a:off x="2508" y="2463"/>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a:t>
              </a:r>
            </a:p>
          </p:txBody>
        </p:sp>
        <p:sp>
          <p:nvSpPr>
            <p:cNvPr id="125" name="Text Box 122"/>
            <p:cNvSpPr txBox="1">
              <a:spLocks noChangeArrowheads="1"/>
            </p:cNvSpPr>
            <p:nvPr/>
          </p:nvSpPr>
          <p:spPr bwMode="auto">
            <a:xfrm>
              <a:off x="2583" y="2638"/>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a:t>
              </a:r>
            </a:p>
          </p:txBody>
        </p:sp>
      </p:grpSp>
      <p:sp>
        <p:nvSpPr>
          <p:cNvPr id="126" name="Text Box 123"/>
          <p:cNvSpPr txBox="1">
            <a:spLocks noChangeArrowheads="1"/>
          </p:cNvSpPr>
          <p:nvPr/>
        </p:nvSpPr>
        <p:spPr bwMode="auto">
          <a:xfrm rot="16200000">
            <a:off x="1828433" y="3164603"/>
            <a:ext cx="39893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a:solidFill>
                  <a:srgbClr val="000066"/>
                </a:solidFill>
                <a:ea typeface="幼圆" pitchFamily="49" charset="-122"/>
                <a:cs typeface="Times New Roman" panose="02020603050405020304" pitchFamily="18" charset="0"/>
              </a:rPr>
              <a:t>小于某粒径之土质量百分数</a:t>
            </a:r>
            <a:r>
              <a:rPr kumimoji="1" lang="en-US" altLang="zh-CN" sz="2000" b="1" i="1" dirty="0">
                <a:solidFill>
                  <a:srgbClr val="000066"/>
                </a:solidFill>
                <a:ea typeface="幼圆" pitchFamily="49" charset="-122"/>
                <a:cs typeface="Times New Roman" panose="02020603050405020304" pitchFamily="18" charset="0"/>
              </a:rPr>
              <a:t>P</a:t>
            </a:r>
            <a:r>
              <a:rPr kumimoji="1" lang="zh-CN" altLang="en-US" sz="2000" b="1" dirty="0">
                <a:solidFill>
                  <a:srgbClr val="000066"/>
                </a:solidFill>
                <a:ea typeface="幼圆" pitchFamily="49" charset="-122"/>
                <a:cs typeface="Times New Roman" panose="02020603050405020304" pitchFamily="18" charset="0"/>
              </a:rPr>
              <a:t>（％）</a:t>
            </a:r>
          </a:p>
        </p:txBody>
      </p:sp>
      <p:grpSp>
        <p:nvGrpSpPr>
          <p:cNvPr id="127" name="Group 124"/>
          <p:cNvGrpSpPr>
            <a:grpSpLocks/>
          </p:cNvGrpSpPr>
          <p:nvPr/>
        </p:nvGrpSpPr>
        <p:grpSpPr bwMode="auto">
          <a:xfrm>
            <a:off x="4399389" y="4975147"/>
            <a:ext cx="3376611" cy="473075"/>
            <a:chOff x="2652" y="2826"/>
            <a:chExt cx="2127" cy="298"/>
          </a:xfrm>
        </p:grpSpPr>
        <p:sp>
          <p:nvSpPr>
            <p:cNvPr id="128" name="Text Box 125"/>
            <p:cNvSpPr txBox="1">
              <a:spLocks noChangeArrowheads="1"/>
            </p:cNvSpPr>
            <p:nvPr/>
          </p:nvSpPr>
          <p:spPr bwMode="auto">
            <a:xfrm rot="16200000">
              <a:off x="2668" y="2838"/>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10</a:t>
              </a:r>
            </a:p>
          </p:txBody>
        </p:sp>
        <p:sp>
          <p:nvSpPr>
            <p:cNvPr id="129" name="Text Box 126"/>
            <p:cNvSpPr txBox="1">
              <a:spLocks noChangeArrowheads="1"/>
            </p:cNvSpPr>
            <p:nvPr/>
          </p:nvSpPr>
          <p:spPr bwMode="auto">
            <a:xfrm rot="16200000">
              <a:off x="2869" y="2855"/>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5.0</a:t>
              </a:r>
            </a:p>
          </p:txBody>
        </p:sp>
        <p:sp>
          <p:nvSpPr>
            <p:cNvPr id="130" name="Text Box 127"/>
            <p:cNvSpPr txBox="1">
              <a:spLocks noChangeArrowheads="1"/>
            </p:cNvSpPr>
            <p:nvPr/>
          </p:nvSpPr>
          <p:spPr bwMode="auto">
            <a:xfrm rot="16200000">
              <a:off x="3300" y="2856"/>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a:t>
              </a:r>
            </a:p>
          </p:txBody>
        </p:sp>
        <p:sp>
          <p:nvSpPr>
            <p:cNvPr id="131" name="Text Box 128"/>
            <p:cNvSpPr txBox="1">
              <a:spLocks noChangeArrowheads="1"/>
            </p:cNvSpPr>
            <p:nvPr/>
          </p:nvSpPr>
          <p:spPr bwMode="auto">
            <a:xfrm rot="16200000">
              <a:off x="3510" y="2846"/>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0.5</a:t>
              </a:r>
            </a:p>
          </p:txBody>
        </p:sp>
        <p:sp>
          <p:nvSpPr>
            <p:cNvPr id="132" name="Text Box 129"/>
            <p:cNvSpPr txBox="1">
              <a:spLocks noChangeArrowheads="1"/>
            </p:cNvSpPr>
            <p:nvPr/>
          </p:nvSpPr>
          <p:spPr bwMode="auto">
            <a:xfrm rot="16200000">
              <a:off x="3895" y="2886"/>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0.10</a:t>
              </a:r>
            </a:p>
          </p:txBody>
        </p:sp>
        <p:sp>
          <p:nvSpPr>
            <p:cNvPr id="133" name="Text Box 130"/>
            <p:cNvSpPr txBox="1">
              <a:spLocks noChangeArrowheads="1"/>
            </p:cNvSpPr>
            <p:nvPr/>
          </p:nvSpPr>
          <p:spPr bwMode="auto">
            <a:xfrm rot="16200000">
              <a:off x="4110" y="2881"/>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0.05</a:t>
              </a:r>
            </a:p>
          </p:txBody>
        </p:sp>
        <p:sp>
          <p:nvSpPr>
            <p:cNvPr id="134" name="Text Box 131"/>
            <p:cNvSpPr txBox="1">
              <a:spLocks noChangeArrowheads="1"/>
            </p:cNvSpPr>
            <p:nvPr/>
          </p:nvSpPr>
          <p:spPr bwMode="auto">
            <a:xfrm rot="16200000">
              <a:off x="4540" y="2871"/>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0.01</a:t>
              </a:r>
            </a:p>
          </p:txBody>
        </p:sp>
      </p:grpSp>
      <p:sp>
        <p:nvSpPr>
          <p:cNvPr id="135" name="Text Box 134"/>
          <p:cNvSpPr txBox="1">
            <a:spLocks noChangeArrowheads="1"/>
          </p:cNvSpPr>
          <p:nvPr/>
        </p:nvSpPr>
        <p:spPr bwMode="auto">
          <a:xfrm>
            <a:off x="8014216" y="5007856"/>
            <a:ext cx="59631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smtClean="0">
                <a:solidFill>
                  <a:srgbClr val="000066"/>
                </a:solidFill>
                <a:ea typeface="幼圆" pitchFamily="49" charset="-122"/>
                <a:cs typeface="Times New Roman" panose="02020603050405020304" pitchFamily="18" charset="0"/>
              </a:rPr>
              <a:t>粒径</a:t>
            </a:r>
            <a:r>
              <a:rPr kumimoji="1" lang="en-US" altLang="zh-CN" sz="2000" b="1" dirty="0" smtClean="0">
                <a:solidFill>
                  <a:srgbClr val="000066"/>
                </a:solidFill>
                <a:ea typeface="幼圆" pitchFamily="49" charset="-122"/>
                <a:cs typeface="Times New Roman" panose="02020603050405020304" pitchFamily="18" charset="0"/>
              </a:rPr>
              <a:t/>
            </a:r>
            <a:br>
              <a:rPr kumimoji="1" lang="en-US" altLang="zh-CN" sz="2000" b="1" dirty="0" smtClean="0">
                <a:solidFill>
                  <a:srgbClr val="000066"/>
                </a:solidFill>
                <a:ea typeface="幼圆" pitchFamily="49" charset="-122"/>
                <a:cs typeface="Times New Roman" panose="02020603050405020304" pitchFamily="18" charset="0"/>
              </a:rPr>
            </a:br>
            <a:r>
              <a:rPr kumimoji="1" lang="en-US" altLang="zh-CN" sz="2000" b="1" dirty="0" smtClean="0">
                <a:solidFill>
                  <a:srgbClr val="000066"/>
                </a:solidFill>
                <a:ea typeface="幼圆" pitchFamily="49" charset="-122"/>
                <a:cs typeface="Times New Roman" panose="02020603050405020304" pitchFamily="18" charset="0"/>
              </a:rPr>
              <a:t>(</a:t>
            </a:r>
            <a:r>
              <a:rPr kumimoji="1" lang="en-US" altLang="zh-CN" sz="2000" b="1" dirty="0">
                <a:solidFill>
                  <a:srgbClr val="000066"/>
                </a:solidFill>
                <a:ea typeface="幼圆" pitchFamily="49" charset="-122"/>
                <a:cs typeface="Times New Roman" panose="02020603050405020304" pitchFamily="18" charset="0"/>
              </a:rPr>
              <a:t>mm)</a:t>
            </a:r>
          </a:p>
        </p:txBody>
      </p:sp>
      <p:sp>
        <p:nvSpPr>
          <p:cNvPr id="136" name="Text Box 136"/>
          <p:cNvSpPr txBox="1">
            <a:spLocks noChangeArrowheads="1"/>
          </p:cNvSpPr>
          <p:nvPr/>
        </p:nvSpPr>
        <p:spPr bwMode="auto">
          <a:xfrm>
            <a:off x="1116419" y="3363961"/>
            <a:ext cx="1860697" cy="923330"/>
          </a:xfrm>
          <a:prstGeom prst="rect">
            <a:avLst/>
          </a:prstGeom>
          <a:noFill/>
          <a:ln>
            <a:noFill/>
          </a:ln>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25000"/>
              </a:lnSpc>
              <a:spcBef>
                <a:spcPct val="0"/>
              </a:spcBef>
              <a:spcAft>
                <a:spcPct val="0"/>
              </a:spcAft>
            </a:pPr>
            <a:r>
              <a:rPr kumimoji="1" lang="zh-CN" altLang="en-US" sz="2400" b="1" dirty="0">
                <a:solidFill>
                  <a:srgbClr val="000066"/>
                </a:solidFill>
                <a:latin typeface="Arial" charset="0"/>
                <a:ea typeface="幼圆" pitchFamily="49" charset="-122"/>
              </a:rPr>
              <a:t>土的粒径级配累积曲线</a:t>
            </a:r>
          </a:p>
        </p:txBody>
      </p:sp>
      <p:grpSp>
        <p:nvGrpSpPr>
          <p:cNvPr id="160" name="组合 159"/>
          <p:cNvGrpSpPr/>
          <p:nvPr/>
        </p:nvGrpSpPr>
        <p:grpSpPr>
          <a:xfrm>
            <a:off x="4522573" y="1729779"/>
            <a:ext cx="3465229" cy="2935609"/>
            <a:chOff x="4522573" y="1729779"/>
            <a:chExt cx="3465229" cy="2935609"/>
          </a:xfrm>
        </p:grpSpPr>
        <p:sp>
          <p:nvSpPr>
            <p:cNvPr id="161" name="椭圆 160"/>
            <p:cNvSpPr/>
            <p:nvPr/>
          </p:nvSpPr>
          <p:spPr>
            <a:xfrm>
              <a:off x="4522573" y="1729779"/>
              <a:ext cx="74141" cy="74141"/>
            </a:xfrm>
            <a:prstGeom prst="ellipse">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椭圆 161"/>
            <p:cNvSpPr/>
            <p:nvPr/>
          </p:nvSpPr>
          <p:spPr>
            <a:xfrm>
              <a:off x="4851523" y="1871586"/>
              <a:ext cx="74141" cy="74141"/>
            </a:xfrm>
            <a:prstGeom prst="ellipse">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椭圆 162"/>
            <p:cNvSpPr/>
            <p:nvPr/>
          </p:nvSpPr>
          <p:spPr>
            <a:xfrm>
              <a:off x="5261648" y="2133430"/>
              <a:ext cx="74141" cy="74141"/>
            </a:xfrm>
            <a:prstGeom prst="ellipse">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p:cNvSpPr/>
            <p:nvPr/>
          </p:nvSpPr>
          <p:spPr>
            <a:xfrm>
              <a:off x="5558781" y="2398805"/>
              <a:ext cx="74141" cy="74141"/>
            </a:xfrm>
            <a:prstGeom prst="ellipse">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椭圆 164"/>
            <p:cNvSpPr/>
            <p:nvPr/>
          </p:nvSpPr>
          <p:spPr>
            <a:xfrm>
              <a:off x="5891238" y="2773627"/>
              <a:ext cx="74141" cy="74141"/>
            </a:xfrm>
            <a:prstGeom prst="ellipse">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nvSpPr>
          <p:spPr>
            <a:xfrm>
              <a:off x="6174266" y="3148446"/>
              <a:ext cx="74141" cy="74141"/>
            </a:xfrm>
            <a:prstGeom prst="ellipse">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椭圆 166"/>
            <p:cNvSpPr/>
            <p:nvPr/>
          </p:nvSpPr>
          <p:spPr>
            <a:xfrm>
              <a:off x="6693839" y="3841013"/>
              <a:ext cx="74141" cy="74141"/>
            </a:xfrm>
            <a:prstGeom prst="ellipse">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椭圆 167"/>
            <p:cNvSpPr/>
            <p:nvPr/>
          </p:nvSpPr>
          <p:spPr>
            <a:xfrm>
              <a:off x="6902735" y="4049909"/>
              <a:ext cx="74141" cy="74141"/>
            </a:xfrm>
            <a:prstGeom prst="ellipse">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椭圆 168"/>
            <p:cNvSpPr/>
            <p:nvPr/>
          </p:nvSpPr>
          <p:spPr>
            <a:xfrm>
              <a:off x="7581180" y="4474157"/>
              <a:ext cx="74141" cy="74141"/>
            </a:xfrm>
            <a:prstGeom prst="ellipse">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椭圆 169"/>
            <p:cNvSpPr/>
            <p:nvPr/>
          </p:nvSpPr>
          <p:spPr>
            <a:xfrm>
              <a:off x="7913661" y="4591247"/>
              <a:ext cx="74141" cy="74141"/>
            </a:xfrm>
            <a:prstGeom prst="ellipse">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1158009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animEffect transition="in" filter="wipe(up)">
                                      <p:cBhvr>
                                        <p:cTn id="7" dur="1000"/>
                                        <p:tgtEl>
                                          <p:spTgt spid="51">
                                            <p:txEl>
                                              <p:pRg st="0" end="0"/>
                                            </p:txEl>
                                          </p:spTgt>
                                        </p:tgtEl>
                                      </p:cBhvr>
                                    </p:animEffect>
                                  </p:childTnLst>
                                </p:cTn>
                              </p:par>
                            </p:childTnLst>
                          </p:cTn>
                        </p:par>
                        <p:par>
                          <p:cTn id="8" fill="hold">
                            <p:stCondLst>
                              <p:cond delay="1000"/>
                            </p:stCondLst>
                            <p:childTnLst>
                              <p:par>
                                <p:cTn id="9" presetID="37" presetClass="entr" presetSubtype="0" fill="hold" grpId="0" nodeType="afterEffect">
                                  <p:stCondLst>
                                    <p:cond delay="0"/>
                                  </p:stCondLst>
                                  <p:childTnLst>
                                    <p:set>
                                      <p:cBhvr>
                                        <p:cTn id="10" dur="1" fill="hold">
                                          <p:stCondLst>
                                            <p:cond delay="0"/>
                                          </p:stCondLst>
                                        </p:cTn>
                                        <p:tgtEl>
                                          <p:spTgt spid="136"/>
                                        </p:tgtEl>
                                        <p:attrNameLst>
                                          <p:attrName>style.visibility</p:attrName>
                                        </p:attrNameLst>
                                      </p:cBhvr>
                                      <p:to>
                                        <p:strVal val="visible"/>
                                      </p:to>
                                    </p:set>
                                    <p:animEffect transition="in" filter="fade">
                                      <p:cBhvr>
                                        <p:cTn id="11" dur="1000"/>
                                        <p:tgtEl>
                                          <p:spTgt spid="136"/>
                                        </p:tgtEl>
                                      </p:cBhvr>
                                    </p:animEffect>
                                    <p:anim calcmode="lin" valueType="num">
                                      <p:cBhvr>
                                        <p:cTn id="12" dur="1000" fill="hold"/>
                                        <p:tgtEl>
                                          <p:spTgt spid="136"/>
                                        </p:tgtEl>
                                        <p:attrNameLst>
                                          <p:attrName>ppt_x</p:attrName>
                                        </p:attrNameLst>
                                      </p:cBhvr>
                                      <p:tavLst>
                                        <p:tav tm="0">
                                          <p:val>
                                            <p:strVal val="#ppt_x"/>
                                          </p:val>
                                        </p:tav>
                                        <p:tav tm="100000">
                                          <p:val>
                                            <p:strVal val="#ppt_x"/>
                                          </p:val>
                                        </p:tav>
                                      </p:tavLst>
                                    </p:anim>
                                    <p:anim calcmode="lin" valueType="num">
                                      <p:cBhvr>
                                        <p:cTn id="13" dur="900" decel="100000" fill="hold"/>
                                        <p:tgtEl>
                                          <p:spTgt spid="136"/>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136"/>
                                        </p:tgtEl>
                                        <p:attrNameLst>
                                          <p:attrName>ppt_y</p:attrName>
                                        </p:attrNameLst>
                                      </p:cBhvr>
                                      <p:tavLst>
                                        <p:tav tm="0">
                                          <p:val>
                                            <p:strVal val="#ppt_y-.03"/>
                                          </p:val>
                                        </p:tav>
                                        <p:tav tm="100000">
                                          <p:val>
                                            <p:strVal val="#ppt_y"/>
                                          </p:val>
                                        </p:tav>
                                      </p:tavLst>
                                    </p:anim>
                                  </p:childTnLst>
                                </p:cTn>
                              </p:par>
                            </p:childTnLst>
                          </p:cTn>
                        </p:par>
                        <p:par>
                          <p:cTn id="15" fill="hold">
                            <p:stCondLst>
                              <p:cond delay="2000"/>
                            </p:stCondLst>
                            <p:childTnLst>
                              <p:par>
                                <p:cTn id="16" presetID="13" presetClass="entr" presetSubtype="32" fill="hold" nodeType="after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plus(out)">
                                      <p:cBhvr>
                                        <p:cTn id="18" dur="2000"/>
                                        <p:tgtEl>
                                          <p:spTgt spid="53"/>
                                        </p:tgtEl>
                                      </p:cBhvr>
                                    </p:animEffect>
                                  </p:childTnLst>
                                </p:cTn>
                              </p:par>
                            </p:childTnLst>
                          </p:cTn>
                        </p:par>
                        <p:par>
                          <p:cTn id="19" fill="hold">
                            <p:stCondLst>
                              <p:cond delay="4000"/>
                            </p:stCondLst>
                            <p:childTnLst>
                              <p:par>
                                <p:cTn id="20" presetID="2" presetClass="entr" presetSubtype="8" fill="hold" nodeType="afterEffect">
                                  <p:stCondLst>
                                    <p:cond delay="0"/>
                                  </p:stCondLst>
                                  <p:childTnLst>
                                    <p:set>
                                      <p:cBhvr>
                                        <p:cTn id="21" dur="1" fill="hold">
                                          <p:stCondLst>
                                            <p:cond delay="0"/>
                                          </p:stCondLst>
                                        </p:cTn>
                                        <p:tgtEl>
                                          <p:spTgt spid="127"/>
                                        </p:tgtEl>
                                        <p:attrNameLst>
                                          <p:attrName>style.visibility</p:attrName>
                                        </p:attrNameLst>
                                      </p:cBhvr>
                                      <p:to>
                                        <p:strVal val="visible"/>
                                      </p:to>
                                    </p:set>
                                    <p:anim calcmode="lin" valueType="num">
                                      <p:cBhvr additive="base">
                                        <p:cTn id="22" dur="500" fill="hold"/>
                                        <p:tgtEl>
                                          <p:spTgt spid="127"/>
                                        </p:tgtEl>
                                        <p:attrNameLst>
                                          <p:attrName>ppt_x</p:attrName>
                                        </p:attrNameLst>
                                      </p:cBhvr>
                                      <p:tavLst>
                                        <p:tav tm="0">
                                          <p:val>
                                            <p:strVal val="0-#ppt_w/2"/>
                                          </p:val>
                                        </p:tav>
                                        <p:tav tm="100000">
                                          <p:val>
                                            <p:strVal val="#ppt_x"/>
                                          </p:val>
                                        </p:tav>
                                      </p:tavLst>
                                    </p:anim>
                                    <p:anim calcmode="lin" valueType="num">
                                      <p:cBhvr additive="base">
                                        <p:cTn id="23" dur="500" fill="hold"/>
                                        <p:tgtEl>
                                          <p:spTgt spid="127"/>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135"/>
                                        </p:tgtEl>
                                        <p:attrNameLst>
                                          <p:attrName>style.visibility</p:attrName>
                                        </p:attrNameLst>
                                      </p:cBhvr>
                                      <p:to>
                                        <p:strVal val="visible"/>
                                      </p:to>
                                    </p:set>
                                    <p:anim calcmode="lin" valueType="num">
                                      <p:cBhvr additive="base">
                                        <p:cTn id="26" dur="500" fill="hold"/>
                                        <p:tgtEl>
                                          <p:spTgt spid="135"/>
                                        </p:tgtEl>
                                        <p:attrNameLst>
                                          <p:attrName>ppt_x</p:attrName>
                                        </p:attrNameLst>
                                      </p:cBhvr>
                                      <p:tavLst>
                                        <p:tav tm="0">
                                          <p:val>
                                            <p:strVal val="0-#ppt_w/2"/>
                                          </p:val>
                                        </p:tav>
                                        <p:tav tm="100000">
                                          <p:val>
                                            <p:strVal val="#ppt_x"/>
                                          </p:val>
                                        </p:tav>
                                      </p:tavLst>
                                    </p:anim>
                                    <p:anim calcmode="lin" valueType="num">
                                      <p:cBhvr additive="base">
                                        <p:cTn id="27" dur="500" fill="hold"/>
                                        <p:tgtEl>
                                          <p:spTgt spid="135"/>
                                        </p:tgtEl>
                                        <p:attrNameLst>
                                          <p:attrName>ppt_y</p:attrName>
                                        </p:attrNameLst>
                                      </p:cBhvr>
                                      <p:tavLst>
                                        <p:tav tm="0">
                                          <p:val>
                                            <p:strVal val="#ppt_y"/>
                                          </p:val>
                                        </p:tav>
                                        <p:tav tm="100000">
                                          <p:val>
                                            <p:strVal val="#ppt_y"/>
                                          </p:val>
                                        </p:tav>
                                      </p:tavLst>
                                    </p:anim>
                                  </p:childTnLst>
                                </p:cTn>
                              </p:par>
                            </p:childTnLst>
                          </p:cTn>
                        </p:par>
                        <p:par>
                          <p:cTn id="28" fill="hold">
                            <p:stCondLst>
                              <p:cond delay="4500"/>
                            </p:stCondLst>
                            <p:childTnLst>
                              <p:par>
                                <p:cTn id="29" presetID="2" presetClass="entr" presetSubtype="8" fill="hold" nodeType="afterEffect">
                                  <p:stCondLst>
                                    <p:cond delay="0"/>
                                  </p:stCondLst>
                                  <p:childTnLst>
                                    <p:set>
                                      <p:cBhvr>
                                        <p:cTn id="30" dur="1" fill="hold">
                                          <p:stCondLst>
                                            <p:cond delay="0"/>
                                          </p:stCondLst>
                                        </p:cTn>
                                        <p:tgtEl>
                                          <p:spTgt spid="114"/>
                                        </p:tgtEl>
                                        <p:attrNameLst>
                                          <p:attrName>style.visibility</p:attrName>
                                        </p:attrNameLst>
                                      </p:cBhvr>
                                      <p:to>
                                        <p:strVal val="visible"/>
                                      </p:to>
                                    </p:set>
                                    <p:anim calcmode="lin" valueType="num">
                                      <p:cBhvr additive="base">
                                        <p:cTn id="31" dur="500" fill="hold"/>
                                        <p:tgtEl>
                                          <p:spTgt spid="114"/>
                                        </p:tgtEl>
                                        <p:attrNameLst>
                                          <p:attrName>ppt_x</p:attrName>
                                        </p:attrNameLst>
                                      </p:cBhvr>
                                      <p:tavLst>
                                        <p:tav tm="0">
                                          <p:val>
                                            <p:strVal val="0-#ppt_w/2"/>
                                          </p:val>
                                        </p:tav>
                                        <p:tav tm="100000">
                                          <p:val>
                                            <p:strVal val="#ppt_x"/>
                                          </p:val>
                                        </p:tav>
                                      </p:tavLst>
                                    </p:anim>
                                    <p:anim calcmode="lin" valueType="num">
                                      <p:cBhvr additive="base">
                                        <p:cTn id="32" dur="500" fill="hold"/>
                                        <p:tgtEl>
                                          <p:spTgt spid="114"/>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26"/>
                                        </p:tgtEl>
                                        <p:attrNameLst>
                                          <p:attrName>style.visibility</p:attrName>
                                        </p:attrNameLst>
                                      </p:cBhvr>
                                      <p:to>
                                        <p:strVal val="visible"/>
                                      </p:to>
                                    </p:set>
                                    <p:anim calcmode="lin" valueType="num">
                                      <p:cBhvr additive="base">
                                        <p:cTn id="35" dur="500" fill="hold"/>
                                        <p:tgtEl>
                                          <p:spTgt spid="126"/>
                                        </p:tgtEl>
                                        <p:attrNameLst>
                                          <p:attrName>ppt_x</p:attrName>
                                        </p:attrNameLst>
                                      </p:cBhvr>
                                      <p:tavLst>
                                        <p:tav tm="0">
                                          <p:val>
                                            <p:strVal val="0-#ppt_w/2"/>
                                          </p:val>
                                        </p:tav>
                                        <p:tav tm="100000">
                                          <p:val>
                                            <p:strVal val="#ppt_x"/>
                                          </p:val>
                                        </p:tav>
                                      </p:tavLst>
                                    </p:anim>
                                    <p:anim calcmode="lin" valueType="num">
                                      <p:cBhvr additive="base">
                                        <p:cTn id="36" dur="500" fill="hold"/>
                                        <p:tgtEl>
                                          <p:spTgt spid="126"/>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60"/>
                                        </p:tgtEl>
                                        <p:attrNameLst>
                                          <p:attrName>style.visibility</p:attrName>
                                        </p:attrNameLst>
                                      </p:cBhvr>
                                      <p:to>
                                        <p:strVal val="visible"/>
                                      </p:to>
                                    </p:set>
                                    <p:animEffect transition="in" filter="wipe(up)">
                                      <p:cBhvr>
                                        <p:cTn id="41" dur="1000"/>
                                        <p:tgtEl>
                                          <p:spTgt spid="160"/>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113"/>
                                        </p:tgtEl>
                                        <p:attrNameLst>
                                          <p:attrName>style.visibility</p:attrName>
                                        </p:attrNameLst>
                                      </p:cBhvr>
                                      <p:to>
                                        <p:strVal val="visible"/>
                                      </p:to>
                                    </p:set>
                                    <p:animEffect transition="in" filter="wipe(left)">
                                      <p:cBhvr>
                                        <p:cTn id="45" dur="30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autoUpdateAnimBg="0"/>
      <p:bldP spid="113" grpId="0" animBg="1"/>
      <p:bldP spid="126" grpId="0"/>
      <p:bldP spid="135" grpId="0"/>
      <p:bldP spid="13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0" name="Text Box 209"/>
          <p:cNvSpPr txBox="1">
            <a:spLocks noChangeArrowheads="1"/>
          </p:cNvSpPr>
          <p:nvPr/>
        </p:nvSpPr>
        <p:spPr bwMode="auto">
          <a:xfrm>
            <a:off x="4732338" y="874016"/>
            <a:ext cx="38671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800" b="1" dirty="0">
                <a:solidFill>
                  <a:srgbClr val="000066"/>
                </a:solidFill>
                <a:latin typeface="幼圆" pitchFamily="49" charset="-122"/>
                <a:ea typeface="幼圆" pitchFamily="49" charset="-122"/>
              </a:rPr>
              <a:t> 土的粒径级配累积曲线</a:t>
            </a:r>
          </a:p>
        </p:txBody>
      </p:sp>
      <p:sp>
        <p:nvSpPr>
          <p:cNvPr id="41987" name="Text Box 210"/>
          <p:cNvSpPr txBox="1">
            <a:spLocks noChangeArrowheads="1"/>
          </p:cNvSpPr>
          <p:nvPr/>
        </p:nvSpPr>
        <p:spPr bwMode="auto">
          <a:xfrm>
            <a:off x="2541588" y="5781675"/>
            <a:ext cx="54181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固体颗粒 </a:t>
            </a:r>
            <a:r>
              <a:rPr kumimoji="1" lang="en-US" altLang="zh-CN" sz="4000" b="1" dirty="0">
                <a:solidFill>
                  <a:srgbClr val="000066"/>
                </a:solidFill>
                <a:ea typeface="黑体" pitchFamily="2" charset="-122"/>
              </a:rPr>
              <a:t>–</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级配曲线</a:t>
            </a:r>
            <a:endParaRPr kumimoji="1" lang="en-US" altLang="zh-CN" sz="4000" b="1" dirty="0">
              <a:solidFill>
                <a:srgbClr val="000066"/>
              </a:solidFill>
              <a:latin typeface="黑体" pitchFamily="2" charset="-122"/>
              <a:ea typeface="黑体" pitchFamily="2" charset="-122"/>
            </a:endParaRPr>
          </a:p>
        </p:txBody>
      </p:sp>
      <p:sp>
        <p:nvSpPr>
          <p:cNvPr id="121"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pSp>
        <p:nvGrpSpPr>
          <p:cNvPr id="5" name="组合 4"/>
          <p:cNvGrpSpPr/>
          <p:nvPr/>
        </p:nvGrpSpPr>
        <p:grpSpPr>
          <a:xfrm>
            <a:off x="3978529" y="1313256"/>
            <a:ext cx="4995863" cy="4301100"/>
            <a:chOff x="3670727" y="1322309"/>
            <a:chExt cx="4995863" cy="4301100"/>
          </a:xfrm>
        </p:grpSpPr>
        <p:grpSp>
          <p:nvGrpSpPr>
            <p:cNvPr id="122" name="Group 51"/>
            <p:cNvGrpSpPr>
              <a:grpSpLocks/>
            </p:cNvGrpSpPr>
            <p:nvPr/>
          </p:nvGrpSpPr>
          <p:grpSpPr bwMode="auto">
            <a:xfrm>
              <a:off x="4550202" y="1763635"/>
              <a:ext cx="4116388" cy="3182938"/>
              <a:chOff x="3025" y="961"/>
              <a:chExt cx="2593" cy="2005"/>
            </a:xfrm>
          </p:grpSpPr>
          <p:sp>
            <p:nvSpPr>
              <p:cNvPr id="123" name="Freeform 52"/>
              <p:cNvSpPr>
                <a:spLocks/>
              </p:cNvSpPr>
              <p:nvPr/>
            </p:nvSpPr>
            <p:spPr bwMode="auto">
              <a:xfrm>
                <a:off x="3029" y="967"/>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4" name="Freeform 53"/>
              <p:cNvSpPr>
                <a:spLocks/>
              </p:cNvSpPr>
              <p:nvPr/>
            </p:nvSpPr>
            <p:spPr bwMode="auto">
              <a:xfrm>
                <a:off x="3059" y="963"/>
                <a:ext cx="2" cy="2001"/>
              </a:xfrm>
              <a:custGeom>
                <a:avLst/>
                <a:gdLst>
                  <a:gd name="T0" fmla="*/ 0 w 2"/>
                  <a:gd name="T1" fmla="*/ 0 h 2001"/>
                  <a:gd name="T2" fmla="*/ 2 w 2"/>
                  <a:gd name="T3" fmla="*/ 2001 h 2001"/>
                  <a:gd name="T4" fmla="*/ 0 60000 65536"/>
                  <a:gd name="T5" fmla="*/ 0 60000 65536"/>
                  <a:gd name="T6" fmla="*/ 0 w 2"/>
                  <a:gd name="T7" fmla="*/ 0 h 2001"/>
                  <a:gd name="T8" fmla="*/ 2 w 2"/>
                  <a:gd name="T9" fmla="*/ 2001 h 2001"/>
                </a:gdLst>
                <a:ahLst/>
                <a:cxnLst>
                  <a:cxn ang="T4">
                    <a:pos x="T0" y="T1"/>
                  </a:cxn>
                  <a:cxn ang="T5">
                    <a:pos x="T2" y="T3"/>
                  </a:cxn>
                </a:cxnLst>
                <a:rect l="T6" t="T7" r="T8" b="T9"/>
                <a:pathLst>
                  <a:path w="2" h="2001">
                    <a:moveTo>
                      <a:pt x="0" y="0"/>
                    </a:moveTo>
                    <a:lnTo>
                      <a:pt x="2"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5" name="Freeform 54"/>
              <p:cNvSpPr>
                <a:spLocks/>
              </p:cNvSpPr>
              <p:nvPr/>
            </p:nvSpPr>
            <p:spPr bwMode="auto">
              <a:xfrm>
                <a:off x="3096" y="962"/>
                <a:ext cx="1" cy="2004"/>
              </a:xfrm>
              <a:custGeom>
                <a:avLst/>
                <a:gdLst>
                  <a:gd name="T0" fmla="*/ 0 w 1"/>
                  <a:gd name="T1" fmla="*/ 0 h 2004"/>
                  <a:gd name="T2" fmla="*/ 1 w 1"/>
                  <a:gd name="T3" fmla="*/ 2004 h 2004"/>
                  <a:gd name="T4" fmla="*/ 0 60000 65536"/>
                  <a:gd name="T5" fmla="*/ 0 60000 65536"/>
                  <a:gd name="T6" fmla="*/ 0 w 1"/>
                  <a:gd name="T7" fmla="*/ 0 h 2004"/>
                  <a:gd name="T8" fmla="*/ 1 w 1"/>
                  <a:gd name="T9" fmla="*/ 2004 h 2004"/>
                </a:gdLst>
                <a:ahLst/>
                <a:cxnLst>
                  <a:cxn ang="T4">
                    <a:pos x="T0" y="T1"/>
                  </a:cxn>
                  <a:cxn ang="T5">
                    <a:pos x="T2" y="T3"/>
                  </a:cxn>
                </a:cxnLst>
                <a:rect l="T6" t="T7" r="T8" b="T9"/>
                <a:pathLst>
                  <a:path w="1" h="2004">
                    <a:moveTo>
                      <a:pt x="0" y="0"/>
                    </a:moveTo>
                    <a:lnTo>
                      <a:pt x="1" y="2004"/>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6" name="Freeform 55"/>
              <p:cNvSpPr>
                <a:spLocks/>
              </p:cNvSpPr>
              <p:nvPr/>
            </p:nvSpPr>
            <p:spPr bwMode="auto">
              <a:xfrm>
                <a:off x="3136" y="965"/>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8" name="Freeform 56"/>
              <p:cNvSpPr>
                <a:spLocks/>
              </p:cNvSpPr>
              <p:nvPr/>
            </p:nvSpPr>
            <p:spPr bwMode="auto">
              <a:xfrm>
                <a:off x="3189" y="965"/>
                <a:ext cx="1" cy="1998"/>
              </a:xfrm>
              <a:custGeom>
                <a:avLst/>
                <a:gdLst>
                  <a:gd name="T0" fmla="*/ 0 w 1"/>
                  <a:gd name="T1" fmla="*/ 0 h 1998"/>
                  <a:gd name="T2" fmla="*/ 1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1"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9" name="Freeform 57"/>
              <p:cNvSpPr>
                <a:spLocks/>
              </p:cNvSpPr>
              <p:nvPr/>
            </p:nvSpPr>
            <p:spPr bwMode="auto">
              <a:xfrm>
                <a:off x="3242" y="962"/>
                <a:ext cx="1" cy="2000"/>
              </a:xfrm>
              <a:custGeom>
                <a:avLst/>
                <a:gdLst>
                  <a:gd name="T0" fmla="*/ 0 w 1"/>
                  <a:gd name="T1" fmla="*/ 0 h 2000"/>
                  <a:gd name="T2" fmla="*/ 1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0" y="0"/>
                    </a:moveTo>
                    <a:lnTo>
                      <a:pt x="1"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0" name="Freeform 58"/>
              <p:cNvSpPr>
                <a:spLocks/>
              </p:cNvSpPr>
              <p:nvPr/>
            </p:nvSpPr>
            <p:spPr bwMode="auto">
              <a:xfrm>
                <a:off x="3306" y="963"/>
                <a:ext cx="2" cy="2000"/>
              </a:xfrm>
              <a:custGeom>
                <a:avLst/>
                <a:gdLst>
                  <a:gd name="T0" fmla="*/ 0 w 2"/>
                  <a:gd name="T1" fmla="*/ 0 h 2000"/>
                  <a:gd name="T2" fmla="*/ 2 w 2"/>
                  <a:gd name="T3" fmla="*/ 2000 h 2000"/>
                  <a:gd name="T4" fmla="*/ 0 60000 65536"/>
                  <a:gd name="T5" fmla="*/ 0 60000 65536"/>
                  <a:gd name="T6" fmla="*/ 0 w 2"/>
                  <a:gd name="T7" fmla="*/ 0 h 2000"/>
                  <a:gd name="T8" fmla="*/ 2 w 2"/>
                  <a:gd name="T9" fmla="*/ 2000 h 2000"/>
                </a:gdLst>
                <a:ahLst/>
                <a:cxnLst>
                  <a:cxn ang="T4">
                    <a:pos x="T0" y="T1"/>
                  </a:cxn>
                  <a:cxn ang="T5">
                    <a:pos x="T2" y="T3"/>
                  </a:cxn>
                </a:cxnLst>
                <a:rect l="T6" t="T7" r="T8" b="T9"/>
                <a:pathLst>
                  <a:path w="2" h="2000">
                    <a:moveTo>
                      <a:pt x="0" y="0"/>
                    </a:moveTo>
                    <a:lnTo>
                      <a:pt x="2"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1" name="Freeform 59"/>
              <p:cNvSpPr>
                <a:spLocks/>
              </p:cNvSpPr>
              <p:nvPr/>
            </p:nvSpPr>
            <p:spPr bwMode="auto">
              <a:xfrm>
                <a:off x="3379"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2" name="Freeform 60"/>
              <p:cNvSpPr>
                <a:spLocks/>
              </p:cNvSpPr>
              <p:nvPr/>
            </p:nvSpPr>
            <p:spPr bwMode="auto">
              <a:xfrm>
                <a:off x="3495" y="963"/>
                <a:ext cx="1" cy="2001"/>
              </a:xfrm>
              <a:custGeom>
                <a:avLst/>
                <a:gdLst>
                  <a:gd name="T0" fmla="*/ 0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0"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3" name="Freeform 61"/>
              <p:cNvSpPr>
                <a:spLocks/>
              </p:cNvSpPr>
              <p:nvPr/>
            </p:nvSpPr>
            <p:spPr bwMode="auto">
              <a:xfrm>
                <a:off x="3682" y="966"/>
                <a:ext cx="1" cy="1997"/>
              </a:xfrm>
              <a:custGeom>
                <a:avLst/>
                <a:gdLst>
                  <a:gd name="T0" fmla="*/ 1 w 1"/>
                  <a:gd name="T1" fmla="*/ 0 h 1997"/>
                  <a:gd name="T2" fmla="*/ 0 w 1"/>
                  <a:gd name="T3" fmla="*/ 1997 h 1997"/>
                  <a:gd name="T4" fmla="*/ 0 60000 65536"/>
                  <a:gd name="T5" fmla="*/ 0 60000 65536"/>
                  <a:gd name="T6" fmla="*/ 0 w 1"/>
                  <a:gd name="T7" fmla="*/ 0 h 1997"/>
                  <a:gd name="T8" fmla="*/ 1 w 1"/>
                  <a:gd name="T9" fmla="*/ 1997 h 1997"/>
                </a:gdLst>
                <a:ahLst/>
                <a:cxnLst>
                  <a:cxn ang="T4">
                    <a:pos x="T0" y="T1"/>
                  </a:cxn>
                  <a:cxn ang="T5">
                    <a:pos x="T2" y="T3"/>
                  </a:cxn>
                </a:cxnLst>
                <a:rect l="T6" t="T7" r="T8" b="T9"/>
                <a:pathLst>
                  <a:path w="1" h="1997">
                    <a:moveTo>
                      <a:pt x="1"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4" name="Freeform 62"/>
              <p:cNvSpPr>
                <a:spLocks/>
              </p:cNvSpPr>
              <p:nvPr/>
            </p:nvSpPr>
            <p:spPr bwMode="auto">
              <a:xfrm>
                <a:off x="3711" y="962"/>
                <a:ext cx="2" cy="2002"/>
              </a:xfrm>
              <a:custGeom>
                <a:avLst/>
                <a:gdLst>
                  <a:gd name="T0" fmla="*/ 2 w 2"/>
                  <a:gd name="T1" fmla="*/ 0 h 2002"/>
                  <a:gd name="T2" fmla="*/ 0 w 2"/>
                  <a:gd name="T3" fmla="*/ 2002 h 2002"/>
                  <a:gd name="T4" fmla="*/ 0 60000 65536"/>
                  <a:gd name="T5" fmla="*/ 0 60000 65536"/>
                  <a:gd name="T6" fmla="*/ 0 w 2"/>
                  <a:gd name="T7" fmla="*/ 0 h 2002"/>
                  <a:gd name="T8" fmla="*/ 2 w 2"/>
                  <a:gd name="T9" fmla="*/ 2002 h 2002"/>
                </a:gdLst>
                <a:ahLst/>
                <a:cxnLst>
                  <a:cxn ang="T4">
                    <a:pos x="T0" y="T1"/>
                  </a:cxn>
                  <a:cxn ang="T5">
                    <a:pos x="T2" y="T3"/>
                  </a:cxn>
                </a:cxnLst>
                <a:rect l="T6" t="T7" r="T8" b="T9"/>
                <a:pathLst>
                  <a:path w="2" h="2002">
                    <a:moveTo>
                      <a:pt x="2"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5" name="Freeform 63"/>
              <p:cNvSpPr>
                <a:spLocks/>
              </p:cNvSpPr>
              <p:nvPr/>
            </p:nvSpPr>
            <p:spPr bwMode="auto">
              <a:xfrm>
                <a:off x="3747"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6" name="Freeform 64"/>
              <p:cNvSpPr>
                <a:spLocks/>
              </p:cNvSpPr>
              <p:nvPr/>
            </p:nvSpPr>
            <p:spPr bwMode="auto">
              <a:xfrm>
                <a:off x="3786"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7" name="Freeform 65"/>
              <p:cNvSpPr>
                <a:spLocks/>
              </p:cNvSpPr>
              <p:nvPr/>
            </p:nvSpPr>
            <p:spPr bwMode="auto">
              <a:xfrm>
                <a:off x="3840" y="966"/>
                <a:ext cx="1" cy="1997"/>
              </a:xfrm>
              <a:custGeom>
                <a:avLst/>
                <a:gdLst>
                  <a:gd name="T0" fmla="*/ 0 w 1"/>
                  <a:gd name="T1" fmla="*/ 0 h 1997"/>
                  <a:gd name="T2" fmla="*/ 0 w 1"/>
                  <a:gd name="T3" fmla="*/ 1997 h 1997"/>
                  <a:gd name="T4" fmla="*/ 0 60000 65536"/>
                  <a:gd name="T5" fmla="*/ 0 60000 65536"/>
                  <a:gd name="T6" fmla="*/ 0 w 1"/>
                  <a:gd name="T7" fmla="*/ 0 h 1997"/>
                  <a:gd name="T8" fmla="*/ 1 w 1"/>
                  <a:gd name="T9" fmla="*/ 1997 h 1997"/>
                </a:gdLst>
                <a:ahLst/>
                <a:cxnLst>
                  <a:cxn ang="T4">
                    <a:pos x="T0" y="T1"/>
                  </a:cxn>
                  <a:cxn ang="T5">
                    <a:pos x="T2" y="T3"/>
                  </a:cxn>
                </a:cxnLst>
                <a:rect l="T6" t="T7" r="T8" b="T9"/>
                <a:pathLst>
                  <a:path w="1" h="1997">
                    <a:moveTo>
                      <a:pt x="0"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8" name="Freeform 66"/>
              <p:cNvSpPr>
                <a:spLocks/>
              </p:cNvSpPr>
              <p:nvPr/>
            </p:nvSpPr>
            <p:spPr bwMode="auto">
              <a:xfrm>
                <a:off x="3893" y="963"/>
                <a:ext cx="1" cy="1999"/>
              </a:xfrm>
              <a:custGeom>
                <a:avLst/>
                <a:gdLst>
                  <a:gd name="T0" fmla="*/ 1 w 1"/>
                  <a:gd name="T1" fmla="*/ 0 h 1999"/>
                  <a:gd name="T2" fmla="*/ 0 w 1"/>
                  <a:gd name="T3" fmla="*/ 1999 h 1999"/>
                  <a:gd name="T4" fmla="*/ 0 60000 65536"/>
                  <a:gd name="T5" fmla="*/ 0 60000 65536"/>
                  <a:gd name="T6" fmla="*/ 0 w 1"/>
                  <a:gd name="T7" fmla="*/ 0 h 1999"/>
                  <a:gd name="T8" fmla="*/ 1 w 1"/>
                  <a:gd name="T9" fmla="*/ 1999 h 1999"/>
                </a:gdLst>
                <a:ahLst/>
                <a:cxnLst>
                  <a:cxn ang="T4">
                    <a:pos x="T0" y="T1"/>
                  </a:cxn>
                  <a:cxn ang="T5">
                    <a:pos x="T2" y="T3"/>
                  </a:cxn>
                </a:cxnLst>
                <a:rect l="T6" t="T7" r="T8" b="T9"/>
                <a:pathLst>
                  <a:path w="1" h="1999">
                    <a:moveTo>
                      <a:pt x="1"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9" name="Freeform 67"/>
              <p:cNvSpPr>
                <a:spLocks/>
              </p:cNvSpPr>
              <p:nvPr/>
            </p:nvSpPr>
            <p:spPr bwMode="auto">
              <a:xfrm>
                <a:off x="3958" y="971"/>
                <a:ext cx="1" cy="1992"/>
              </a:xfrm>
              <a:custGeom>
                <a:avLst/>
                <a:gdLst>
                  <a:gd name="T0" fmla="*/ 1 w 1"/>
                  <a:gd name="T1" fmla="*/ 0 h 1992"/>
                  <a:gd name="T2" fmla="*/ 0 w 1"/>
                  <a:gd name="T3" fmla="*/ 1992 h 1992"/>
                  <a:gd name="T4" fmla="*/ 0 60000 65536"/>
                  <a:gd name="T5" fmla="*/ 0 60000 65536"/>
                  <a:gd name="T6" fmla="*/ 0 w 1"/>
                  <a:gd name="T7" fmla="*/ 0 h 1992"/>
                  <a:gd name="T8" fmla="*/ 1 w 1"/>
                  <a:gd name="T9" fmla="*/ 1992 h 1992"/>
                </a:gdLst>
                <a:ahLst/>
                <a:cxnLst>
                  <a:cxn ang="T4">
                    <a:pos x="T0" y="T1"/>
                  </a:cxn>
                  <a:cxn ang="T5">
                    <a:pos x="T2" y="T3"/>
                  </a:cxn>
                </a:cxnLst>
                <a:rect l="T6" t="T7" r="T8" b="T9"/>
                <a:pathLst>
                  <a:path w="1" h="1992">
                    <a:moveTo>
                      <a:pt x="1" y="0"/>
                    </a:moveTo>
                    <a:lnTo>
                      <a:pt x="0" y="199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0" name="Freeform 68"/>
              <p:cNvSpPr>
                <a:spLocks/>
              </p:cNvSpPr>
              <p:nvPr/>
            </p:nvSpPr>
            <p:spPr bwMode="auto">
              <a:xfrm>
                <a:off x="4029"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1" name="Freeform 69"/>
              <p:cNvSpPr>
                <a:spLocks/>
              </p:cNvSpPr>
              <p:nvPr/>
            </p:nvSpPr>
            <p:spPr bwMode="auto">
              <a:xfrm>
                <a:off x="4145" y="965"/>
                <a:ext cx="1" cy="1998"/>
              </a:xfrm>
              <a:custGeom>
                <a:avLst/>
                <a:gdLst>
                  <a:gd name="T0" fmla="*/ 1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1"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2" name="Freeform 70"/>
              <p:cNvSpPr>
                <a:spLocks/>
              </p:cNvSpPr>
              <p:nvPr/>
            </p:nvSpPr>
            <p:spPr bwMode="auto">
              <a:xfrm>
                <a:off x="4317" y="965"/>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3" name="Freeform 71"/>
              <p:cNvSpPr>
                <a:spLocks/>
              </p:cNvSpPr>
              <p:nvPr/>
            </p:nvSpPr>
            <p:spPr bwMode="auto">
              <a:xfrm>
                <a:off x="4346"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4" name="Freeform 72"/>
              <p:cNvSpPr>
                <a:spLocks/>
              </p:cNvSpPr>
              <p:nvPr/>
            </p:nvSpPr>
            <p:spPr bwMode="auto">
              <a:xfrm>
                <a:off x="4381" y="963"/>
                <a:ext cx="1" cy="2003"/>
              </a:xfrm>
              <a:custGeom>
                <a:avLst/>
                <a:gdLst>
                  <a:gd name="T0" fmla="*/ 0 w 1"/>
                  <a:gd name="T1" fmla="*/ 0 h 2003"/>
                  <a:gd name="T2" fmla="*/ 0 w 1"/>
                  <a:gd name="T3" fmla="*/ 2003 h 2003"/>
                  <a:gd name="T4" fmla="*/ 0 60000 65536"/>
                  <a:gd name="T5" fmla="*/ 0 60000 65536"/>
                  <a:gd name="T6" fmla="*/ 0 w 1"/>
                  <a:gd name="T7" fmla="*/ 0 h 2003"/>
                  <a:gd name="T8" fmla="*/ 1 w 1"/>
                  <a:gd name="T9" fmla="*/ 2003 h 2003"/>
                </a:gdLst>
                <a:ahLst/>
                <a:cxnLst>
                  <a:cxn ang="T4">
                    <a:pos x="T0" y="T1"/>
                  </a:cxn>
                  <a:cxn ang="T5">
                    <a:pos x="T2" y="T3"/>
                  </a:cxn>
                </a:cxnLst>
                <a:rect l="T6" t="T7" r="T8" b="T9"/>
                <a:pathLst>
                  <a:path w="1" h="2003">
                    <a:moveTo>
                      <a:pt x="0" y="0"/>
                    </a:moveTo>
                    <a:lnTo>
                      <a:pt x="0" y="2003"/>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5" name="Freeform 73"/>
              <p:cNvSpPr>
                <a:spLocks/>
              </p:cNvSpPr>
              <p:nvPr/>
            </p:nvSpPr>
            <p:spPr bwMode="auto">
              <a:xfrm>
                <a:off x="4421" y="965"/>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6" name="Freeform 74"/>
              <p:cNvSpPr>
                <a:spLocks/>
              </p:cNvSpPr>
              <p:nvPr/>
            </p:nvSpPr>
            <p:spPr bwMode="auto">
              <a:xfrm>
                <a:off x="4475" y="968"/>
                <a:ext cx="1" cy="1995"/>
              </a:xfrm>
              <a:custGeom>
                <a:avLst/>
                <a:gdLst>
                  <a:gd name="T0" fmla="*/ 1 w 1"/>
                  <a:gd name="T1" fmla="*/ 0 h 1995"/>
                  <a:gd name="T2" fmla="*/ 0 w 1"/>
                  <a:gd name="T3" fmla="*/ 1995 h 1995"/>
                  <a:gd name="T4" fmla="*/ 0 60000 65536"/>
                  <a:gd name="T5" fmla="*/ 0 60000 65536"/>
                  <a:gd name="T6" fmla="*/ 0 w 1"/>
                  <a:gd name="T7" fmla="*/ 0 h 1995"/>
                  <a:gd name="T8" fmla="*/ 1 w 1"/>
                  <a:gd name="T9" fmla="*/ 1995 h 1995"/>
                </a:gdLst>
                <a:ahLst/>
                <a:cxnLst>
                  <a:cxn ang="T4">
                    <a:pos x="T0" y="T1"/>
                  </a:cxn>
                  <a:cxn ang="T5">
                    <a:pos x="T2" y="T3"/>
                  </a:cxn>
                </a:cxnLst>
                <a:rect l="T6" t="T7" r="T8" b="T9"/>
                <a:pathLst>
                  <a:path w="1" h="1995">
                    <a:moveTo>
                      <a:pt x="1" y="0"/>
                    </a:moveTo>
                    <a:lnTo>
                      <a:pt x="0" y="199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7" name="Freeform 75"/>
              <p:cNvSpPr>
                <a:spLocks/>
              </p:cNvSpPr>
              <p:nvPr/>
            </p:nvSpPr>
            <p:spPr bwMode="auto">
              <a:xfrm>
                <a:off x="4528" y="963"/>
                <a:ext cx="2" cy="1999"/>
              </a:xfrm>
              <a:custGeom>
                <a:avLst/>
                <a:gdLst>
                  <a:gd name="T0" fmla="*/ 2 w 2"/>
                  <a:gd name="T1" fmla="*/ 0 h 1999"/>
                  <a:gd name="T2" fmla="*/ 0 w 2"/>
                  <a:gd name="T3" fmla="*/ 1999 h 1999"/>
                  <a:gd name="T4" fmla="*/ 0 60000 65536"/>
                  <a:gd name="T5" fmla="*/ 0 60000 65536"/>
                  <a:gd name="T6" fmla="*/ 0 w 2"/>
                  <a:gd name="T7" fmla="*/ 0 h 1999"/>
                  <a:gd name="T8" fmla="*/ 2 w 2"/>
                  <a:gd name="T9" fmla="*/ 1999 h 1999"/>
                </a:gdLst>
                <a:ahLst/>
                <a:cxnLst>
                  <a:cxn ang="T4">
                    <a:pos x="T0" y="T1"/>
                  </a:cxn>
                  <a:cxn ang="T5">
                    <a:pos x="T2" y="T3"/>
                  </a:cxn>
                </a:cxnLst>
                <a:rect l="T6" t="T7" r="T8" b="T9"/>
                <a:pathLst>
                  <a:path w="2" h="1999">
                    <a:moveTo>
                      <a:pt x="2"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8" name="Freeform 76"/>
              <p:cNvSpPr>
                <a:spLocks/>
              </p:cNvSpPr>
              <p:nvPr/>
            </p:nvSpPr>
            <p:spPr bwMode="auto">
              <a:xfrm>
                <a:off x="4593" y="968"/>
                <a:ext cx="1" cy="1995"/>
              </a:xfrm>
              <a:custGeom>
                <a:avLst/>
                <a:gdLst>
                  <a:gd name="T0" fmla="*/ 0 w 1"/>
                  <a:gd name="T1" fmla="*/ 0 h 1995"/>
                  <a:gd name="T2" fmla="*/ 0 w 1"/>
                  <a:gd name="T3" fmla="*/ 1995 h 1995"/>
                  <a:gd name="T4" fmla="*/ 0 60000 65536"/>
                  <a:gd name="T5" fmla="*/ 0 60000 65536"/>
                  <a:gd name="T6" fmla="*/ 0 w 1"/>
                  <a:gd name="T7" fmla="*/ 0 h 1995"/>
                  <a:gd name="T8" fmla="*/ 1 w 1"/>
                  <a:gd name="T9" fmla="*/ 1995 h 1995"/>
                </a:gdLst>
                <a:ahLst/>
                <a:cxnLst>
                  <a:cxn ang="T4">
                    <a:pos x="T0" y="T1"/>
                  </a:cxn>
                  <a:cxn ang="T5">
                    <a:pos x="T2" y="T3"/>
                  </a:cxn>
                </a:cxnLst>
                <a:rect l="T6" t="T7" r="T8" b="T9"/>
                <a:pathLst>
                  <a:path w="1" h="1995">
                    <a:moveTo>
                      <a:pt x="0" y="0"/>
                    </a:moveTo>
                    <a:lnTo>
                      <a:pt x="0" y="199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9" name="Freeform 77"/>
              <p:cNvSpPr>
                <a:spLocks/>
              </p:cNvSpPr>
              <p:nvPr/>
            </p:nvSpPr>
            <p:spPr bwMode="auto">
              <a:xfrm>
                <a:off x="4664" y="966"/>
                <a:ext cx="1" cy="2000"/>
              </a:xfrm>
              <a:custGeom>
                <a:avLst/>
                <a:gdLst>
                  <a:gd name="T0" fmla="*/ 0 w 1"/>
                  <a:gd name="T1" fmla="*/ 0 h 2000"/>
                  <a:gd name="T2" fmla="*/ 0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0" y="0"/>
                    </a:moveTo>
                    <a:lnTo>
                      <a:pt x="0"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0" name="Freeform 78"/>
              <p:cNvSpPr>
                <a:spLocks/>
              </p:cNvSpPr>
              <p:nvPr/>
            </p:nvSpPr>
            <p:spPr bwMode="auto">
              <a:xfrm>
                <a:off x="4780" y="965"/>
                <a:ext cx="1" cy="1999"/>
              </a:xfrm>
              <a:custGeom>
                <a:avLst/>
                <a:gdLst>
                  <a:gd name="T0" fmla="*/ 1 w 1"/>
                  <a:gd name="T1" fmla="*/ 0 h 1999"/>
                  <a:gd name="T2" fmla="*/ 0 w 1"/>
                  <a:gd name="T3" fmla="*/ 1999 h 1999"/>
                  <a:gd name="T4" fmla="*/ 0 60000 65536"/>
                  <a:gd name="T5" fmla="*/ 0 60000 65536"/>
                  <a:gd name="T6" fmla="*/ 0 w 1"/>
                  <a:gd name="T7" fmla="*/ 0 h 1999"/>
                  <a:gd name="T8" fmla="*/ 1 w 1"/>
                  <a:gd name="T9" fmla="*/ 1999 h 1999"/>
                </a:gdLst>
                <a:ahLst/>
                <a:cxnLst>
                  <a:cxn ang="T4">
                    <a:pos x="T0" y="T1"/>
                  </a:cxn>
                  <a:cxn ang="T5">
                    <a:pos x="T2" y="T3"/>
                  </a:cxn>
                </a:cxnLst>
                <a:rect l="T6" t="T7" r="T8" b="T9"/>
                <a:pathLst>
                  <a:path w="1" h="1999">
                    <a:moveTo>
                      <a:pt x="1"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1" name="Freeform 79"/>
              <p:cNvSpPr>
                <a:spLocks/>
              </p:cNvSpPr>
              <p:nvPr/>
            </p:nvSpPr>
            <p:spPr bwMode="auto">
              <a:xfrm>
                <a:off x="4959" y="966"/>
                <a:ext cx="2" cy="1997"/>
              </a:xfrm>
              <a:custGeom>
                <a:avLst/>
                <a:gdLst>
                  <a:gd name="T0" fmla="*/ 2 w 2"/>
                  <a:gd name="T1" fmla="*/ 0 h 1997"/>
                  <a:gd name="T2" fmla="*/ 0 w 2"/>
                  <a:gd name="T3" fmla="*/ 1997 h 1997"/>
                  <a:gd name="T4" fmla="*/ 0 60000 65536"/>
                  <a:gd name="T5" fmla="*/ 0 60000 65536"/>
                  <a:gd name="T6" fmla="*/ 0 w 2"/>
                  <a:gd name="T7" fmla="*/ 0 h 1997"/>
                  <a:gd name="T8" fmla="*/ 2 w 2"/>
                  <a:gd name="T9" fmla="*/ 1997 h 1997"/>
                </a:gdLst>
                <a:ahLst/>
                <a:cxnLst>
                  <a:cxn ang="T4">
                    <a:pos x="T0" y="T1"/>
                  </a:cxn>
                  <a:cxn ang="T5">
                    <a:pos x="T2" y="T3"/>
                  </a:cxn>
                </a:cxnLst>
                <a:rect l="T6" t="T7" r="T8" b="T9"/>
                <a:pathLst>
                  <a:path w="2" h="1997">
                    <a:moveTo>
                      <a:pt x="2"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2" name="Freeform 80"/>
              <p:cNvSpPr>
                <a:spLocks/>
              </p:cNvSpPr>
              <p:nvPr/>
            </p:nvSpPr>
            <p:spPr bwMode="auto">
              <a:xfrm>
                <a:off x="4988"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3" name="Freeform 81"/>
              <p:cNvSpPr>
                <a:spLocks/>
              </p:cNvSpPr>
              <p:nvPr/>
            </p:nvSpPr>
            <p:spPr bwMode="auto">
              <a:xfrm>
                <a:off x="5024"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4" name="Freeform 82"/>
              <p:cNvSpPr>
                <a:spLocks/>
              </p:cNvSpPr>
              <p:nvPr/>
            </p:nvSpPr>
            <p:spPr bwMode="auto">
              <a:xfrm>
                <a:off x="5063"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5" name="Freeform 83"/>
              <p:cNvSpPr>
                <a:spLocks/>
              </p:cNvSpPr>
              <p:nvPr/>
            </p:nvSpPr>
            <p:spPr bwMode="auto">
              <a:xfrm>
                <a:off x="5117" y="965"/>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6" name="Freeform 84"/>
              <p:cNvSpPr>
                <a:spLocks/>
              </p:cNvSpPr>
              <p:nvPr/>
            </p:nvSpPr>
            <p:spPr bwMode="auto">
              <a:xfrm>
                <a:off x="5170" y="962"/>
                <a:ext cx="1" cy="2000"/>
              </a:xfrm>
              <a:custGeom>
                <a:avLst/>
                <a:gdLst>
                  <a:gd name="T0" fmla="*/ 1 w 1"/>
                  <a:gd name="T1" fmla="*/ 0 h 2000"/>
                  <a:gd name="T2" fmla="*/ 0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1" y="0"/>
                    </a:moveTo>
                    <a:lnTo>
                      <a:pt x="0"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7" name="Freeform 85"/>
              <p:cNvSpPr>
                <a:spLocks/>
              </p:cNvSpPr>
              <p:nvPr/>
            </p:nvSpPr>
            <p:spPr bwMode="auto">
              <a:xfrm>
                <a:off x="5235" y="965"/>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8" name="Freeform 86"/>
              <p:cNvSpPr>
                <a:spLocks/>
              </p:cNvSpPr>
              <p:nvPr/>
            </p:nvSpPr>
            <p:spPr bwMode="auto">
              <a:xfrm>
                <a:off x="5306"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9" name="Freeform 87"/>
              <p:cNvSpPr>
                <a:spLocks/>
              </p:cNvSpPr>
              <p:nvPr/>
            </p:nvSpPr>
            <p:spPr bwMode="auto">
              <a:xfrm>
                <a:off x="5422" y="963"/>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0" name="Freeform 88"/>
              <p:cNvSpPr>
                <a:spLocks/>
              </p:cNvSpPr>
              <p:nvPr/>
            </p:nvSpPr>
            <p:spPr bwMode="auto">
              <a:xfrm>
                <a:off x="5613"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1" name="Line 89"/>
              <p:cNvSpPr>
                <a:spLocks noChangeShapeType="1"/>
              </p:cNvSpPr>
              <p:nvPr/>
            </p:nvSpPr>
            <p:spPr bwMode="auto">
              <a:xfrm>
                <a:off x="3028" y="963"/>
                <a:ext cx="258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2" name="Line 90"/>
              <p:cNvSpPr>
                <a:spLocks noChangeShapeType="1"/>
              </p:cNvSpPr>
              <p:nvPr/>
            </p:nvSpPr>
            <p:spPr bwMode="auto">
              <a:xfrm>
                <a:off x="3029" y="2964"/>
                <a:ext cx="258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3" name="Line 91"/>
              <p:cNvSpPr>
                <a:spLocks noChangeShapeType="1"/>
              </p:cNvSpPr>
              <p:nvPr/>
            </p:nvSpPr>
            <p:spPr bwMode="auto">
              <a:xfrm>
                <a:off x="3025" y="105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4" name="Line 92"/>
              <p:cNvSpPr>
                <a:spLocks noChangeShapeType="1"/>
              </p:cNvSpPr>
              <p:nvPr/>
            </p:nvSpPr>
            <p:spPr bwMode="auto">
              <a:xfrm>
                <a:off x="3028" y="115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5" name="Line 93"/>
              <p:cNvSpPr>
                <a:spLocks noChangeShapeType="1"/>
              </p:cNvSpPr>
              <p:nvPr/>
            </p:nvSpPr>
            <p:spPr bwMode="auto">
              <a:xfrm>
                <a:off x="3027" y="1253"/>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6" name="Line 94"/>
              <p:cNvSpPr>
                <a:spLocks noChangeShapeType="1"/>
              </p:cNvSpPr>
              <p:nvPr/>
            </p:nvSpPr>
            <p:spPr bwMode="auto">
              <a:xfrm>
                <a:off x="3032" y="13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7" name="Line 95"/>
              <p:cNvSpPr>
                <a:spLocks noChangeShapeType="1"/>
              </p:cNvSpPr>
              <p:nvPr/>
            </p:nvSpPr>
            <p:spPr bwMode="auto">
              <a:xfrm>
                <a:off x="3028" y="145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8" name="Line 96"/>
              <p:cNvSpPr>
                <a:spLocks noChangeShapeType="1"/>
              </p:cNvSpPr>
              <p:nvPr/>
            </p:nvSpPr>
            <p:spPr bwMode="auto">
              <a:xfrm>
                <a:off x="3028" y="155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9" name="Line 97"/>
              <p:cNvSpPr>
                <a:spLocks noChangeShapeType="1"/>
              </p:cNvSpPr>
              <p:nvPr/>
            </p:nvSpPr>
            <p:spPr bwMode="auto">
              <a:xfrm>
                <a:off x="3025" y="1655"/>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0" name="Line 98"/>
              <p:cNvSpPr>
                <a:spLocks noChangeShapeType="1"/>
              </p:cNvSpPr>
              <p:nvPr/>
            </p:nvSpPr>
            <p:spPr bwMode="auto">
              <a:xfrm>
                <a:off x="3028" y="175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1" name="Line 99"/>
              <p:cNvSpPr>
                <a:spLocks noChangeShapeType="1"/>
              </p:cNvSpPr>
              <p:nvPr/>
            </p:nvSpPr>
            <p:spPr bwMode="auto">
              <a:xfrm>
                <a:off x="3025" y="18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2" name="Line 100"/>
              <p:cNvSpPr>
                <a:spLocks noChangeShapeType="1"/>
              </p:cNvSpPr>
              <p:nvPr/>
            </p:nvSpPr>
            <p:spPr bwMode="auto">
              <a:xfrm>
                <a:off x="3025" y="1964"/>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3" name="Line 101"/>
              <p:cNvSpPr>
                <a:spLocks noChangeShapeType="1"/>
              </p:cNvSpPr>
              <p:nvPr/>
            </p:nvSpPr>
            <p:spPr bwMode="auto">
              <a:xfrm>
                <a:off x="3025" y="20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4" name="Line 102"/>
              <p:cNvSpPr>
                <a:spLocks noChangeShapeType="1"/>
              </p:cNvSpPr>
              <p:nvPr/>
            </p:nvSpPr>
            <p:spPr bwMode="auto">
              <a:xfrm>
                <a:off x="3025" y="2157"/>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5" name="Line 103"/>
              <p:cNvSpPr>
                <a:spLocks noChangeShapeType="1"/>
              </p:cNvSpPr>
              <p:nvPr/>
            </p:nvSpPr>
            <p:spPr bwMode="auto">
              <a:xfrm>
                <a:off x="3025" y="22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6" name="Line 104"/>
              <p:cNvSpPr>
                <a:spLocks noChangeShapeType="1"/>
              </p:cNvSpPr>
              <p:nvPr/>
            </p:nvSpPr>
            <p:spPr bwMode="auto">
              <a:xfrm>
                <a:off x="3025" y="23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7" name="Line 105"/>
              <p:cNvSpPr>
                <a:spLocks noChangeShapeType="1"/>
              </p:cNvSpPr>
              <p:nvPr/>
            </p:nvSpPr>
            <p:spPr bwMode="auto">
              <a:xfrm>
                <a:off x="3026" y="246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8" name="Line 106"/>
              <p:cNvSpPr>
                <a:spLocks noChangeShapeType="1"/>
              </p:cNvSpPr>
              <p:nvPr/>
            </p:nvSpPr>
            <p:spPr bwMode="auto">
              <a:xfrm>
                <a:off x="3031" y="25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9" name="Line 107"/>
              <p:cNvSpPr>
                <a:spLocks noChangeShapeType="1"/>
              </p:cNvSpPr>
              <p:nvPr/>
            </p:nvSpPr>
            <p:spPr bwMode="auto">
              <a:xfrm>
                <a:off x="3025" y="26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0" name="Line 108"/>
              <p:cNvSpPr>
                <a:spLocks noChangeShapeType="1"/>
              </p:cNvSpPr>
              <p:nvPr/>
            </p:nvSpPr>
            <p:spPr bwMode="auto">
              <a:xfrm>
                <a:off x="3025" y="276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1" name="Line 109"/>
              <p:cNvSpPr>
                <a:spLocks noChangeShapeType="1"/>
              </p:cNvSpPr>
              <p:nvPr/>
            </p:nvSpPr>
            <p:spPr bwMode="auto">
              <a:xfrm>
                <a:off x="3025" y="286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sp>
          <p:nvSpPr>
            <p:cNvPr id="232" name="Freeform 110"/>
            <p:cNvSpPr>
              <a:spLocks/>
            </p:cNvSpPr>
            <p:nvPr/>
          </p:nvSpPr>
          <p:spPr bwMode="auto">
            <a:xfrm>
              <a:off x="4574014" y="1769984"/>
              <a:ext cx="3778250" cy="2916238"/>
            </a:xfrm>
            <a:custGeom>
              <a:avLst/>
              <a:gdLst>
                <a:gd name="T0" fmla="*/ 0 w 2380"/>
                <a:gd name="T1" fmla="*/ 0 h 1837"/>
                <a:gd name="T2" fmla="*/ 2147483647 w 2380"/>
                <a:gd name="T3" fmla="*/ 2147483647 h 1837"/>
                <a:gd name="T4" fmla="*/ 2147483647 w 2380"/>
                <a:gd name="T5" fmla="*/ 2147483647 h 1837"/>
                <a:gd name="T6" fmla="*/ 2147483647 w 2380"/>
                <a:gd name="T7" fmla="*/ 2147483647 h 1837"/>
                <a:gd name="T8" fmla="*/ 2147483647 w 2380"/>
                <a:gd name="T9" fmla="*/ 2147483647 h 1837"/>
                <a:gd name="T10" fmla="*/ 2147483647 w 2380"/>
                <a:gd name="T11" fmla="*/ 2147483647 h 1837"/>
                <a:gd name="T12" fmla="*/ 2147483647 w 2380"/>
                <a:gd name="T13" fmla="*/ 2147483647 h 1837"/>
                <a:gd name="T14" fmla="*/ 2147483647 w 2380"/>
                <a:gd name="T15" fmla="*/ 2147483647 h 1837"/>
                <a:gd name="T16" fmla="*/ 2147483647 w 2380"/>
                <a:gd name="T17" fmla="*/ 2147483647 h 1837"/>
                <a:gd name="T18" fmla="*/ 2147483647 w 2380"/>
                <a:gd name="T19" fmla="*/ 2147483647 h 1837"/>
                <a:gd name="T20" fmla="*/ 2147483647 w 2380"/>
                <a:gd name="T21" fmla="*/ 2147483647 h 1837"/>
                <a:gd name="T22" fmla="*/ 2147483647 w 2380"/>
                <a:gd name="T23" fmla="*/ 2147483647 h 1837"/>
                <a:gd name="T24" fmla="*/ 2147483647 w 2380"/>
                <a:gd name="T25" fmla="*/ 2147483647 h 1837"/>
                <a:gd name="T26" fmla="*/ 2147483647 w 2380"/>
                <a:gd name="T27" fmla="*/ 2147483647 h 1837"/>
                <a:gd name="T28" fmla="*/ 2147483647 w 2380"/>
                <a:gd name="T29" fmla="*/ 2147483647 h 1837"/>
                <a:gd name="T30" fmla="*/ 2147483647 w 2380"/>
                <a:gd name="T31" fmla="*/ 2147483647 h 1837"/>
                <a:gd name="T32" fmla="*/ 2147483647 w 2380"/>
                <a:gd name="T33" fmla="*/ 2147483647 h 1837"/>
                <a:gd name="T34" fmla="*/ 2147483647 w 2380"/>
                <a:gd name="T35" fmla="*/ 2147483647 h 1837"/>
                <a:gd name="T36" fmla="*/ 2147483647 w 2380"/>
                <a:gd name="T37" fmla="*/ 2147483647 h 1837"/>
                <a:gd name="T38" fmla="*/ 2147483647 w 2380"/>
                <a:gd name="T39" fmla="*/ 2147483647 h 1837"/>
                <a:gd name="T40" fmla="*/ 2147483647 w 2380"/>
                <a:gd name="T41" fmla="*/ 2147483647 h 1837"/>
                <a:gd name="T42" fmla="*/ 2147483647 w 2380"/>
                <a:gd name="T43" fmla="*/ 2147483647 h 1837"/>
                <a:gd name="T44" fmla="*/ 2147483647 w 2380"/>
                <a:gd name="T45" fmla="*/ 2147483647 h 1837"/>
                <a:gd name="T46" fmla="*/ 2147483647 w 2380"/>
                <a:gd name="T47" fmla="*/ 2147483647 h 1837"/>
                <a:gd name="T48" fmla="*/ 2147483647 w 2380"/>
                <a:gd name="T49" fmla="*/ 2147483647 h 1837"/>
                <a:gd name="T50" fmla="*/ 2147483647 w 2380"/>
                <a:gd name="T51" fmla="*/ 2147483647 h 183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380"/>
                <a:gd name="T79" fmla="*/ 0 h 1837"/>
                <a:gd name="T80" fmla="*/ 2380 w 2380"/>
                <a:gd name="T81" fmla="*/ 1837 h 1837"/>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1794 w 10000"/>
                <a:gd name="connsiteY4" fmla="*/ 1257 h 10000"/>
                <a:gd name="connsiteX5" fmla="*/ 2227 w 10000"/>
                <a:gd name="connsiteY5" fmla="*/ 1720 h 10000"/>
                <a:gd name="connsiteX6" fmla="*/ 2752 w 10000"/>
                <a:gd name="connsiteY6" fmla="*/ 2341 h 10000"/>
                <a:gd name="connsiteX7" fmla="*/ 3130 w 10000"/>
                <a:gd name="connsiteY7" fmla="*/ 2847 h 10000"/>
                <a:gd name="connsiteX8" fmla="*/ 3513 w 10000"/>
                <a:gd name="connsiteY8" fmla="*/ 3419 h 10000"/>
                <a:gd name="connsiteX9" fmla="*/ 3727 w 10000"/>
                <a:gd name="connsiteY9" fmla="*/ 3762 h 10000"/>
                <a:gd name="connsiteX10" fmla="*/ 4092 w 10000"/>
                <a:gd name="connsiteY10" fmla="*/ 4371 h 10000"/>
                <a:gd name="connsiteX11" fmla="*/ 4256 w 10000"/>
                <a:gd name="connsiteY11" fmla="*/ 4709 h 10000"/>
                <a:gd name="connsiteX12" fmla="*/ 4668 w 10000"/>
                <a:gd name="connsiteY12" fmla="*/ 5580 h 10000"/>
                <a:gd name="connsiteX13" fmla="*/ 5034 w 10000"/>
                <a:gd name="connsiteY13" fmla="*/ 6228 h 10000"/>
                <a:gd name="connsiteX14" fmla="*/ 5315 w 10000"/>
                <a:gd name="connsiteY14" fmla="*/ 6701 h 10000"/>
                <a:gd name="connsiteX15" fmla="*/ 5828 w 10000"/>
                <a:gd name="connsiteY15" fmla="*/ 7392 h 10000"/>
                <a:gd name="connsiteX16" fmla="*/ 6311 w 10000"/>
                <a:gd name="connsiteY16" fmla="*/ 7942 h 10000"/>
                <a:gd name="connsiteX17" fmla="*/ 6550 w 10000"/>
                <a:gd name="connsiteY17" fmla="*/ 8209 h 10000"/>
                <a:gd name="connsiteX18" fmla="*/ 6866 w 10000"/>
                <a:gd name="connsiteY18" fmla="*/ 8536 h 10000"/>
                <a:gd name="connsiteX19" fmla="*/ 7353 w 10000"/>
                <a:gd name="connsiteY19" fmla="*/ 8944 h 10000"/>
                <a:gd name="connsiteX20" fmla="*/ 7874 w 10000"/>
                <a:gd name="connsiteY20" fmla="*/ 9303 h 10000"/>
                <a:gd name="connsiteX21" fmla="*/ 8504 w 10000"/>
                <a:gd name="connsiteY21" fmla="*/ 9614 h 10000"/>
                <a:gd name="connsiteX22" fmla="*/ 9122 w 10000"/>
                <a:gd name="connsiteY22" fmla="*/ 9820 h 10000"/>
                <a:gd name="connsiteX23" fmla="*/ 9462 w 10000"/>
                <a:gd name="connsiteY23" fmla="*/ 9902 h 10000"/>
                <a:gd name="connsiteX24" fmla="*/ 10000 w 10000"/>
                <a:gd name="connsiteY24" fmla="*/ 10000 h 10000"/>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1794 w 10000"/>
                <a:gd name="connsiteY4" fmla="*/ 1257 h 10000"/>
                <a:gd name="connsiteX5" fmla="*/ 2227 w 10000"/>
                <a:gd name="connsiteY5" fmla="*/ 1720 h 10000"/>
                <a:gd name="connsiteX6" fmla="*/ 2752 w 10000"/>
                <a:gd name="connsiteY6" fmla="*/ 2341 h 10000"/>
                <a:gd name="connsiteX7" fmla="*/ 3130 w 10000"/>
                <a:gd name="connsiteY7" fmla="*/ 2847 h 10000"/>
                <a:gd name="connsiteX8" fmla="*/ 3513 w 10000"/>
                <a:gd name="connsiteY8" fmla="*/ 3419 h 10000"/>
                <a:gd name="connsiteX9" fmla="*/ 3727 w 10000"/>
                <a:gd name="connsiteY9" fmla="*/ 3762 h 10000"/>
                <a:gd name="connsiteX10" fmla="*/ 4092 w 10000"/>
                <a:gd name="connsiteY10" fmla="*/ 4371 h 10000"/>
                <a:gd name="connsiteX11" fmla="*/ 4375 w 10000"/>
                <a:gd name="connsiteY11" fmla="*/ 4921 h 10000"/>
                <a:gd name="connsiteX12" fmla="*/ 4668 w 10000"/>
                <a:gd name="connsiteY12" fmla="*/ 5580 h 10000"/>
                <a:gd name="connsiteX13" fmla="*/ 5034 w 10000"/>
                <a:gd name="connsiteY13" fmla="*/ 6228 h 10000"/>
                <a:gd name="connsiteX14" fmla="*/ 5315 w 10000"/>
                <a:gd name="connsiteY14" fmla="*/ 6701 h 10000"/>
                <a:gd name="connsiteX15" fmla="*/ 5828 w 10000"/>
                <a:gd name="connsiteY15" fmla="*/ 7392 h 10000"/>
                <a:gd name="connsiteX16" fmla="*/ 6311 w 10000"/>
                <a:gd name="connsiteY16" fmla="*/ 7942 h 10000"/>
                <a:gd name="connsiteX17" fmla="*/ 6550 w 10000"/>
                <a:gd name="connsiteY17" fmla="*/ 8209 h 10000"/>
                <a:gd name="connsiteX18" fmla="*/ 6866 w 10000"/>
                <a:gd name="connsiteY18" fmla="*/ 8536 h 10000"/>
                <a:gd name="connsiteX19" fmla="*/ 7353 w 10000"/>
                <a:gd name="connsiteY19" fmla="*/ 8944 h 10000"/>
                <a:gd name="connsiteX20" fmla="*/ 7874 w 10000"/>
                <a:gd name="connsiteY20" fmla="*/ 9303 h 10000"/>
                <a:gd name="connsiteX21" fmla="*/ 8504 w 10000"/>
                <a:gd name="connsiteY21" fmla="*/ 9614 h 10000"/>
                <a:gd name="connsiteX22" fmla="*/ 9122 w 10000"/>
                <a:gd name="connsiteY22" fmla="*/ 9820 h 10000"/>
                <a:gd name="connsiteX23" fmla="*/ 9462 w 10000"/>
                <a:gd name="connsiteY23" fmla="*/ 9902 h 10000"/>
                <a:gd name="connsiteX24" fmla="*/ 10000 w 10000"/>
                <a:gd name="connsiteY24" fmla="*/ 10000 h 10000"/>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1794 w 10000"/>
                <a:gd name="connsiteY4" fmla="*/ 1257 h 10000"/>
                <a:gd name="connsiteX5" fmla="*/ 2227 w 10000"/>
                <a:gd name="connsiteY5" fmla="*/ 1720 h 10000"/>
                <a:gd name="connsiteX6" fmla="*/ 2752 w 10000"/>
                <a:gd name="connsiteY6" fmla="*/ 2341 h 10000"/>
                <a:gd name="connsiteX7" fmla="*/ 3130 w 10000"/>
                <a:gd name="connsiteY7" fmla="*/ 2847 h 10000"/>
                <a:gd name="connsiteX8" fmla="*/ 3513 w 10000"/>
                <a:gd name="connsiteY8" fmla="*/ 3419 h 10000"/>
                <a:gd name="connsiteX9" fmla="*/ 3727 w 10000"/>
                <a:gd name="connsiteY9" fmla="*/ 3762 h 10000"/>
                <a:gd name="connsiteX10" fmla="*/ 4092 w 10000"/>
                <a:gd name="connsiteY10" fmla="*/ 4371 h 10000"/>
                <a:gd name="connsiteX11" fmla="*/ 4375 w 10000"/>
                <a:gd name="connsiteY11" fmla="*/ 4921 h 10000"/>
                <a:gd name="connsiteX12" fmla="*/ 4668 w 10000"/>
                <a:gd name="connsiteY12" fmla="*/ 5580 h 10000"/>
                <a:gd name="connsiteX13" fmla="*/ 5034 w 10000"/>
                <a:gd name="connsiteY13" fmla="*/ 6228 h 10000"/>
                <a:gd name="connsiteX14" fmla="*/ 5315 w 10000"/>
                <a:gd name="connsiteY14" fmla="*/ 6701 h 10000"/>
                <a:gd name="connsiteX15" fmla="*/ 5828 w 10000"/>
                <a:gd name="connsiteY15" fmla="*/ 7392 h 10000"/>
                <a:gd name="connsiteX16" fmla="*/ 6311 w 10000"/>
                <a:gd name="connsiteY16" fmla="*/ 7942 h 10000"/>
                <a:gd name="connsiteX17" fmla="*/ 6550 w 10000"/>
                <a:gd name="connsiteY17" fmla="*/ 8209 h 10000"/>
                <a:gd name="connsiteX18" fmla="*/ 6866 w 10000"/>
                <a:gd name="connsiteY18" fmla="*/ 8536 h 10000"/>
                <a:gd name="connsiteX19" fmla="*/ 7353 w 10000"/>
                <a:gd name="connsiteY19" fmla="*/ 8944 h 10000"/>
                <a:gd name="connsiteX20" fmla="*/ 7874 w 10000"/>
                <a:gd name="connsiteY20" fmla="*/ 9303 h 10000"/>
                <a:gd name="connsiteX21" fmla="*/ 8504 w 10000"/>
                <a:gd name="connsiteY21" fmla="*/ 9614 h 10000"/>
                <a:gd name="connsiteX22" fmla="*/ 9122 w 10000"/>
                <a:gd name="connsiteY22" fmla="*/ 9820 h 10000"/>
                <a:gd name="connsiteX23" fmla="*/ 9462 w 10000"/>
                <a:gd name="connsiteY23" fmla="*/ 9902 h 10000"/>
                <a:gd name="connsiteX24" fmla="*/ 10000 w 10000"/>
                <a:gd name="connsiteY24" fmla="*/ 10000 h 10000"/>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2227 w 10000"/>
                <a:gd name="connsiteY4" fmla="*/ 1720 h 10000"/>
                <a:gd name="connsiteX5" fmla="*/ 2752 w 10000"/>
                <a:gd name="connsiteY5" fmla="*/ 2341 h 10000"/>
                <a:gd name="connsiteX6" fmla="*/ 3130 w 10000"/>
                <a:gd name="connsiteY6" fmla="*/ 2847 h 10000"/>
                <a:gd name="connsiteX7" fmla="*/ 3513 w 10000"/>
                <a:gd name="connsiteY7" fmla="*/ 3419 h 10000"/>
                <a:gd name="connsiteX8" fmla="*/ 3727 w 10000"/>
                <a:gd name="connsiteY8" fmla="*/ 3762 h 10000"/>
                <a:gd name="connsiteX9" fmla="*/ 4092 w 10000"/>
                <a:gd name="connsiteY9" fmla="*/ 4371 h 10000"/>
                <a:gd name="connsiteX10" fmla="*/ 4375 w 10000"/>
                <a:gd name="connsiteY10" fmla="*/ 4921 h 10000"/>
                <a:gd name="connsiteX11" fmla="*/ 4668 w 10000"/>
                <a:gd name="connsiteY11" fmla="*/ 5580 h 10000"/>
                <a:gd name="connsiteX12" fmla="*/ 5034 w 10000"/>
                <a:gd name="connsiteY12" fmla="*/ 6228 h 10000"/>
                <a:gd name="connsiteX13" fmla="*/ 5315 w 10000"/>
                <a:gd name="connsiteY13" fmla="*/ 6701 h 10000"/>
                <a:gd name="connsiteX14" fmla="*/ 5828 w 10000"/>
                <a:gd name="connsiteY14" fmla="*/ 7392 h 10000"/>
                <a:gd name="connsiteX15" fmla="*/ 6311 w 10000"/>
                <a:gd name="connsiteY15" fmla="*/ 7942 h 10000"/>
                <a:gd name="connsiteX16" fmla="*/ 6550 w 10000"/>
                <a:gd name="connsiteY16" fmla="*/ 8209 h 10000"/>
                <a:gd name="connsiteX17" fmla="*/ 6866 w 10000"/>
                <a:gd name="connsiteY17" fmla="*/ 8536 h 10000"/>
                <a:gd name="connsiteX18" fmla="*/ 7353 w 10000"/>
                <a:gd name="connsiteY18" fmla="*/ 8944 h 10000"/>
                <a:gd name="connsiteX19" fmla="*/ 7874 w 10000"/>
                <a:gd name="connsiteY19" fmla="*/ 9303 h 10000"/>
                <a:gd name="connsiteX20" fmla="*/ 8504 w 10000"/>
                <a:gd name="connsiteY20" fmla="*/ 9614 h 10000"/>
                <a:gd name="connsiteX21" fmla="*/ 9122 w 10000"/>
                <a:gd name="connsiteY21" fmla="*/ 9820 h 10000"/>
                <a:gd name="connsiteX22" fmla="*/ 9462 w 10000"/>
                <a:gd name="connsiteY22" fmla="*/ 9902 h 10000"/>
                <a:gd name="connsiteX23" fmla="*/ 10000 w 10000"/>
                <a:gd name="connsiteY23"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668 w 10000"/>
                <a:gd name="connsiteY10" fmla="*/ 5580 h 10000"/>
                <a:gd name="connsiteX11" fmla="*/ 5034 w 10000"/>
                <a:gd name="connsiteY11" fmla="*/ 6228 h 10000"/>
                <a:gd name="connsiteX12" fmla="*/ 5315 w 10000"/>
                <a:gd name="connsiteY12" fmla="*/ 6701 h 10000"/>
                <a:gd name="connsiteX13" fmla="*/ 5828 w 10000"/>
                <a:gd name="connsiteY13" fmla="*/ 7392 h 10000"/>
                <a:gd name="connsiteX14" fmla="*/ 6311 w 10000"/>
                <a:gd name="connsiteY14" fmla="*/ 7942 h 10000"/>
                <a:gd name="connsiteX15" fmla="*/ 6550 w 10000"/>
                <a:gd name="connsiteY15" fmla="*/ 8209 h 10000"/>
                <a:gd name="connsiteX16" fmla="*/ 6866 w 10000"/>
                <a:gd name="connsiteY16" fmla="*/ 8536 h 10000"/>
                <a:gd name="connsiteX17" fmla="*/ 7353 w 10000"/>
                <a:gd name="connsiteY17" fmla="*/ 8944 h 10000"/>
                <a:gd name="connsiteX18" fmla="*/ 7874 w 10000"/>
                <a:gd name="connsiteY18" fmla="*/ 9303 h 10000"/>
                <a:gd name="connsiteX19" fmla="*/ 8504 w 10000"/>
                <a:gd name="connsiteY19" fmla="*/ 9614 h 10000"/>
                <a:gd name="connsiteX20" fmla="*/ 9122 w 10000"/>
                <a:gd name="connsiteY20" fmla="*/ 9820 h 10000"/>
                <a:gd name="connsiteX21" fmla="*/ 9462 w 10000"/>
                <a:gd name="connsiteY21" fmla="*/ 9902 h 10000"/>
                <a:gd name="connsiteX22" fmla="*/ 10000 w 10000"/>
                <a:gd name="connsiteY22"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668 w 10000"/>
                <a:gd name="connsiteY10" fmla="*/ 5580 h 10000"/>
                <a:gd name="connsiteX11" fmla="*/ 5034 w 10000"/>
                <a:gd name="connsiteY11" fmla="*/ 6228 h 10000"/>
                <a:gd name="connsiteX12" fmla="*/ 5315 w 10000"/>
                <a:gd name="connsiteY12" fmla="*/ 6701 h 10000"/>
                <a:gd name="connsiteX13" fmla="*/ 5828 w 10000"/>
                <a:gd name="connsiteY13" fmla="*/ 7392 h 10000"/>
                <a:gd name="connsiteX14" fmla="*/ 6311 w 10000"/>
                <a:gd name="connsiteY14" fmla="*/ 7942 h 10000"/>
                <a:gd name="connsiteX15" fmla="*/ 6866 w 10000"/>
                <a:gd name="connsiteY15" fmla="*/ 8536 h 10000"/>
                <a:gd name="connsiteX16" fmla="*/ 7353 w 10000"/>
                <a:gd name="connsiteY16" fmla="*/ 8944 h 10000"/>
                <a:gd name="connsiteX17" fmla="*/ 7874 w 10000"/>
                <a:gd name="connsiteY17" fmla="*/ 9303 h 10000"/>
                <a:gd name="connsiteX18" fmla="*/ 8504 w 10000"/>
                <a:gd name="connsiteY18" fmla="*/ 9614 h 10000"/>
                <a:gd name="connsiteX19" fmla="*/ 9122 w 10000"/>
                <a:gd name="connsiteY19" fmla="*/ 9820 h 10000"/>
                <a:gd name="connsiteX20" fmla="*/ 9462 w 10000"/>
                <a:gd name="connsiteY20" fmla="*/ 9902 h 10000"/>
                <a:gd name="connsiteX21" fmla="*/ 10000 w 10000"/>
                <a:gd name="connsiteY21"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727 w 10000"/>
                <a:gd name="connsiteY10" fmla="*/ 5618 h 10000"/>
                <a:gd name="connsiteX11" fmla="*/ 5034 w 10000"/>
                <a:gd name="connsiteY11" fmla="*/ 6228 h 10000"/>
                <a:gd name="connsiteX12" fmla="*/ 5315 w 10000"/>
                <a:gd name="connsiteY12" fmla="*/ 6701 h 10000"/>
                <a:gd name="connsiteX13" fmla="*/ 5828 w 10000"/>
                <a:gd name="connsiteY13" fmla="*/ 7392 h 10000"/>
                <a:gd name="connsiteX14" fmla="*/ 6311 w 10000"/>
                <a:gd name="connsiteY14" fmla="*/ 7942 h 10000"/>
                <a:gd name="connsiteX15" fmla="*/ 6866 w 10000"/>
                <a:gd name="connsiteY15" fmla="*/ 8536 h 10000"/>
                <a:gd name="connsiteX16" fmla="*/ 7353 w 10000"/>
                <a:gd name="connsiteY16" fmla="*/ 8944 h 10000"/>
                <a:gd name="connsiteX17" fmla="*/ 7874 w 10000"/>
                <a:gd name="connsiteY17" fmla="*/ 9303 h 10000"/>
                <a:gd name="connsiteX18" fmla="*/ 8504 w 10000"/>
                <a:gd name="connsiteY18" fmla="*/ 9614 h 10000"/>
                <a:gd name="connsiteX19" fmla="*/ 9122 w 10000"/>
                <a:gd name="connsiteY19" fmla="*/ 9820 h 10000"/>
                <a:gd name="connsiteX20" fmla="*/ 9462 w 10000"/>
                <a:gd name="connsiteY20" fmla="*/ 9902 h 10000"/>
                <a:gd name="connsiteX21" fmla="*/ 10000 w 10000"/>
                <a:gd name="connsiteY21"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727 w 10000"/>
                <a:gd name="connsiteY10" fmla="*/ 5618 h 10000"/>
                <a:gd name="connsiteX11" fmla="*/ 5034 w 10000"/>
                <a:gd name="connsiteY11" fmla="*/ 6228 h 10000"/>
                <a:gd name="connsiteX12" fmla="*/ 5315 w 10000"/>
                <a:gd name="connsiteY12" fmla="*/ 6701 h 10000"/>
                <a:gd name="connsiteX13" fmla="*/ 5828 w 10000"/>
                <a:gd name="connsiteY13" fmla="*/ 7392 h 10000"/>
                <a:gd name="connsiteX14" fmla="*/ 6281 w 10000"/>
                <a:gd name="connsiteY14" fmla="*/ 8000 h 10000"/>
                <a:gd name="connsiteX15" fmla="*/ 6866 w 10000"/>
                <a:gd name="connsiteY15" fmla="*/ 8536 h 10000"/>
                <a:gd name="connsiteX16" fmla="*/ 7353 w 10000"/>
                <a:gd name="connsiteY16" fmla="*/ 8944 h 10000"/>
                <a:gd name="connsiteX17" fmla="*/ 7874 w 10000"/>
                <a:gd name="connsiteY17" fmla="*/ 9303 h 10000"/>
                <a:gd name="connsiteX18" fmla="*/ 8504 w 10000"/>
                <a:gd name="connsiteY18" fmla="*/ 9614 h 10000"/>
                <a:gd name="connsiteX19" fmla="*/ 9122 w 10000"/>
                <a:gd name="connsiteY19" fmla="*/ 9820 h 10000"/>
                <a:gd name="connsiteX20" fmla="*/ 9462 w 10000"/>
                <a:gd name="connsiteY20" fmla="*/ 9902 h 10000"/>
                <a:gd name="connsiteX21" fmla="*/ 10000 w 10000"/>
                <a:gd name="connsiteY21"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727 w 10000"/>
                <a:gd name="connsiteY10" fmla="*/ 5618 h 10000"/>
                <a:gd name="connsiteX11" fmla="*/ 5315 w 10000"/>
                <a:gd name="connsiteY11" fmla="*/ 6701 h 10000"/>
                <a:gd name="connsiteX12" fmla="*/ 5828 w 10000"/>
                <a:gd name="connsiteY12" fmla="*/ 7392 h 10000"/>
                <a:gd name="connsiteX13" fmla="*/ 6281 w 10000"/>
                <a:gd name="connsiteY13" fmla="*/ 8000 h 10000"/>
                <a:gd name="connsiteX14" fmla="*/ 6866 w 10000"/>
                <a:gd name="connsiteY14" fmla="*/ 8536 h 10000"/>
                <a:gd name="connsiteX15" fmla="*/ 7353 w 10000"/>
                <a:gd name="connsiteY15" fmla="*/ 8944 h 10000"/>
                <a:gd name="connsiteX16" fmla="*/ 7874 w 10000"/>
                <a:gd name="connsiteY16" fmla="*/ 9303 h 10000"/>
                <a:gd name="connsiteX17" fmla="*/ 8504 w 10000"/>
                <a:gd name="connsiteY17" fmla="*/ 9614 h 10000"/>
                <a:gd name="connsiteX18" fmla="*/ 9122 w 10000"/>
                <a:gd name="connsiteY18" fmla="*/ 9820 h 10000"/>
                <a:gd name="connsiteX19" fmla="*/ 9462 w 10000"/>
                <a:gd name="connsiteY19" fmla="*/ 9902 h 10000"/>
                <a:gd name="connsiteX20" fmla="*/ 10000 w 10000"/>
                <a:gd name="connsiteY20"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15 w 10000"/>
                <a:gd name="connsiteY10" fmla="*/ 6701 h 10000"/>
                <a:gd name="connsiteX11" fmla="*/ 5828 w 10000"/>
                <a:gd name="connsiteY11" fmla="*/ 7392 h 10000"/>
                <a:gd name="connsiteX12" fmla="*/ 6281 w 10000"/>
                <a:gd name="connsiteY12" fmla="*/ 8000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9462 w 10000"/>
                <a:gd name="connsiteY18" fmla="*/ 9902 h 10000"/>
                <a:gd name="connsiteX19" fmla="*/ 10000 w 10000"/>
                <a:gd name="connsiteY19"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15 w 10000"/>
                <a:gd name="connsiteY10" fmla="*/ 6701 h 10000"/>
                <a:gd name="connsiteX11" fmla="*/ 5828 w 10000"/>
                <a:gd name="connsiteY11" fmla="*/ 7392 h 10000"/>
                <a:gd name="connsiteX12" fmla="*/ 6281 w 10000"/>
                <a:gd name="connsiteY12" fmla="*/ 8000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15 w 10000"/>
                <a:gd name="connsiteY10" fmla="*/ 6701 h 10000"/>
                <a:gd name="connsiteX11" fmla="*/ 5828 w 10000"/>
                <a:gd name="connsiteY11" fmla="*/ 7392 h 10000"/>
                <a:gd name="connsiteX12" fmla="*/ 6326 w 10000"/>
                <a:gd name="connsiteY12" fmla="*/ 7962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30 w 10000"/>
                <a:gd name="connsiteY10" fmla="*/ 6643 h 10000"/>
                <a:gd name="connsiteX11" fmla="*/ 5828 w 10000"/>
                <a:gd name="connsiteY11" fmla="*/ 7392 h 10000"/>
                <a:gd name="connsiteX12" fmla="*/ 6326 w 10000"/>
                <a:gd name="connsiteY12" fmla="*/ 7962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30 w 10000"/>
                <a:gd name="connsiteY10" fmla="*/ 6643 h 10000"/>
                <a:gd name="connsiteX11" fmla="*/ 5828 w 10000"/>
                <a:gd name="connsiteY11" fmla="*/ 7392 h 10000"/>
                <a:gd name="connsiteX12" fmla="*/ 6311 w 10000"/>
                <a:gd name="connsiteY12" fmla="*/ 8000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375 w 10000"/>
                <a:gd name="connsiteY7" fmla="*/ 4921 h 10000"/>
                <a:gd name="connsiteX8" fmla="*/ 4727 w 10000"/>
                <a:gd name="connsiteY8" fmla="*/ 5618 h 10000"/>
                <a:gd name="connsiteX9" fmla="*/ 5330 w 10000"/>
                <a:gd name="connsiteY9" fmla="*/ 6643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27 w 10000"/>
                <a:gd name="connsiteY8" fmla="*/ 5618 h 10000"/>
                <a:gd name="connsiteX9" fmla="*/ 5330 w 10000"/>
                <a:gd name="connsiteY9" fmla="*/ 6643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86 w 10000"/>
                <a:gd name="connsiteY8" fmla="*/ 5676 h 10000"/>
                <a:gd name="connsiteX9" fmla="*/ 5330 w 10000"/>
                <a:gd name="connsiteY9" fmla="*/ 6643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86 w 10000"/>
                <a:gd name="connsiteY8" fmla="*/ 5676 h 10000"/>
                <a:gd name="connsiteX9" fmla="*/ 5330 w 10000"/>
                <a:gd name="connsiteY9" fmla="*/ 6701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41 w 10000"/>
                <a:gd name="connsiteY8" fmla="*/ 5714 h 10000"/>
                <a:gd name="connsiteX9" fmla="*/ 5330 w 10000"/>
                <a:gd name="connsiteY9" fmla="*/ 6701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000" h="10000">
                  <a:moveTo>
                    <a:pt x="0" y="0"/>
                  </a:moveTo>
                  <a:lnTo>
                    <a:pt x="870" y="501"/>
                  </a:lnTo>
                  <a:cubicBezTo>
                    <a:pt x="1133" y="678"/>
                    <a:pt x="1354" y="859"/>
                    <a:pt x="1580" y="1062"/>
                  </a:cubicBezTo>
                  <a:cubicBezTo>
                    <a:pt x="1806" y="1265"/>
                    <a:pt x="2032" y="1507"/>
                    <a:pt x="2227" y="1720"/>
                  </a:cubicBezTo>
                  <a:cubicBezTo>
                    <a:pt x="2422" y="1933"/>
                    <a:pt x="2601" y="2156"/>
                    <a:pt x="2752" y="2341"/>
                  </a:cubicBezTo>
                  <a:cubicBezTo>
                    <a:pt x="2903" y="2526"/>
                    <a:pt x="2968" y="2610"/>
                    <a:pt x="3130" y="2847"/>
                  </a:cubicBezTo>
                  <a:cubicBezTo>
                    <a:pt x="3293" y="3084"/>
                    <a:pt x="3549" y="3465"/>
                    <a:pt x="3727" y="3762"/>
                  </a:cubicBezTo>
                  <a:cubicBezTo>
                    <a:pt x="3905" y="4059"/>
                    <a:pt x="4028" y="4307"/>
                    <a:pt x="4197" y="4632"/>
                  </a:cubicBezTo>
                  <a:cubicBezTo>
                    <a:pt x="4366" y="4957"/>
                    <a:pt x="4552" y="5369"/>
                    <a:pt x="4741" y="5714"/>
                  </a:cubicBezTo>
                  <a:cubicBezTo>
                    <a:pt x="4930" y="6059"/>
                    <a:pt x="5149" y="6421"/>
                    <a:pt x="5330" y="6701"/>
                  </a:cubicBezTo>
                  <a:cubicBezTo>
                    <a:pt x="5511" y="6981"/>
                    <a:pt x="5664" y="7175"/>
                    <a:pt x="5828" y="7392"/>
                  </a:cubicBezTo>
                  <a:cubicBezTo>
                    <a:pt x="5992" y="7609"/>
                    <a:pt x="6138" y="7809"/>
                    <a:pt x="6311" y="8000"/>
                  </a:cubicBezTo>
                  <a:cubicBezTo>
                    <a:pt x="6484" y="8191"/>
                    <a:pt x="6692" y="8379"/>
                    <a:pt x="6866" y="8536"/>
                  </a:cubicBezTo>
                  <a:cubicBezTo>
                    <a:pt x="7040" y="8693"/>
                    <a:pt x="7185" y="8819"/>
                    <a:pt x="7353" y="8944"/>
                  </a:cubicBezTo>
                  <a:cubicBezTo>
                    <a:pt x="7521" y="9069"/>
                    <a:pt x="7681" y="9194"/>
                    <a:pt x="7874" y="9303"/>
                  </a:cubicBezTo>
                  <a:cubicBezTo>
                    <a:pt x="8067" y="9412"/>
                    <a:pt x="8298" y="9526"/>
                    <a:pt x="8504" y="9614"/>
                  </a:cubicBezTo>
                  <a:cubicBezTo>
                    <a:pt x="8710" y="9701"/>
                    <a:pt x="8873" y="9756"/>
                    <a:pt x="9122" y="9820"/>
                  </a:cubicBezTo>
                  <a:cubicBezTo>
                    <a:pt x="9371" y="9884"/>
                    <a:pt x="9817" y="9963"/>
                    <a:pt x="10000" y="10000"/>
                  </a:cubicBezTo>
                </a:path>
              </a:pathLst>
            </a:custGeom>
            <a:noFill/>
            <a:ln w="28575">
              <a:solidFill>
                <a:srgbClr val="A5002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nvGrpSpPr>
            <p:cNvPr id="233" name="Group 111"/>
            <p:cNvGrpSpPr>
              <a:grpSpLocks/>
            </p:cNvGrpSpPr>
            <p:nvPr/>
          </p:nvGrpSpPr>
          <p:grpSpPr bwMode="auto">
            <a:xfrm>
              <a:off x="4012048" y="1593772"/>
              <a:ext cx="415926" cy="3467100"/>
              <a:chOff x="2408" y="648"/>
              <a:chExt cx="262" cy="2184"/>
            </a:xfrm>
          </p:grpSpPr>
          <p:sp>
            <p:nvSpPr>
              <p:cNvPr id="234" name="Text Box 112"/>
              <p:cNvSpPr txBox="1">
                <a:spLocks noChangeArrowheads="1"/>
              </p:cNvSpPr>
              <p:nvPr/>
            </p:nvSpPr>
            <p:spPr bwMode="auto">
              <a:xfrm>
                <a:off x="2408" y="648"/>
                <a:ext cx="24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100</a:t>
                </a:r>
              </a:p>
            </p:txBody>
          </p:sp>
          <p:sp>
            <p:nvSpPr>
              <p:cNvPr id="235" name="Text Box 113"/>
              <p:cNvSpPr txBox="1">
                <a:spLocks noChangeArrowheads="1"/>
              </p:cNvSpPr>
              <p:nvPr/>
            </p:nvSpPr>
            <p:spPr bwMode="auto">
              <a:xfrm>
                <a:off x="2483" y="854"/>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90</a:t>
                </a:r>
              </a:p>
            </p:txBody>
          </p:sp>
          <p:sp>
            <p:nvSpPr>
              <p:cNvPr id="236" name="Text Box 114"/>
              <p:cNvSpPr txBox="1">
                <a:spLocks noChangeArrowheads="1"/>
              </p:cNvSpPr>
              <p:nvPr/>
            </p:nvSpPr>
            <p:spPr bwMode="auto">
              <a:xfrm>
                <a:off x="2481" y="1061"/>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80</a:t>
                </a:r>
              </a:p>
            </p:txBody>
          </p:sp>
          <p:sp>
            <p:nvSpPr>
              <p:cNvPr id="237" name="Text Box 115"/>
              <p:cNvSpPr txBox="1">
                <a:spLocks noChangeArrowheads="1"/>
              </p:cNvSpPr>
              <p:nvPr/>
            </p:nvSpPr>
            <p:spPr bwMode="auto">
              <a:xfrm>
                <a:off x="2483" y="1247"/>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70</a:t>
                </a:r>
              </a:p>
            </p:txBody>
          </p:sp>
          <p:sp>
            <p:nvSpPr>
              <p:cNvPr id="238" name="Text Box 116"/>
              <p:cNvSpPr txBox="1">
                <a:spLocks noChangeArrowheads="1"/>
              </p:cNvSpPr>
              <p:nvPr/>
            </p:nvSpPr>
            <p:spPr bwMode="auto">
              <a:xfrm>
                <a:off x="2492" y="1450"/>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60</a:t>
                </a:r>
              </a:p>
            </p:txBody>
          </p:sp>
          <p:sp>
            <p:nvSpPr>
              <p:cNvPr id="239" name="Text Box 117"/>
              <p:cNvSpPr txBox="1">
                <a:spLocks noChangeArrowheads="1"/>
              </p:cNvSpPr>
              <p:nvPr/>
            </p:nvSpPr>
            <p:spPr bwMode="auto">
              <a:xfrm>
                <a:off x="2493" y="1661"/>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50</a:t>
                </a:r>
              </a:p>
            </p:txBody>
          </p:sp>
          <p:sp>
            <p:nvSpPr>
              <p:cNvPr id="240" name="Text Box 118"/>
              <p:cNvSpPr txBox="1">
                <a:spLocks noChangeArrowheads="1"/>
              </p:cNvSpPr>
              <p:nvPr/>
            </p:nvSpPr>
            <p:spPr bwMode="auto">
              <a:xfrm>
                <a:off x="2496" y="1855"/>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40</a:t>
                </a:r>
              </a:p>
            </p:txBody>
          </p:sp>
          <p:sp>
            <p:nvSpPr>
              <p:cNvPr id="241" name="Text Box 119"/>
              <p:cNvSpPr txBox="1">
                <a:spLocks noChangeArrowheads="1"/>
              </p:cNvSpPr>
              <p:nvPr/>
            </p:nvSpPr>
            <p:spPr bwMode="auto">
              <a:xfrm>
                <a:off x="2498" y="2057"/>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30</a:t>
                </a:r>
              </a:p>
            </p:txBody>
          </p:sp>
          <p:sp>
            <p:nvSpPr>
              <p:cNvPr id="242" name="Text Box 120"/>
              <p:cNvSpPr txBox="1">
                <a:spLocks noChangeArrowheads="1"/>
              </p:cNvSpPr>
              <p:nvPr/>
            </p:nvSpPr>
            <p:spPr bwMode="auto">
              <a:xfrm>
                <a:off x="2501" y="2260"/>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20</a:t>
                </a:r>
              </a:p>
            </p:txBody>
          </p:sp>
          <p:sp>
            <p:nvSpPr>
              <p:cNvPr id="243" name="Text Box 121"/>
              <p:cNvSpPr txBox="1">
                <a:spLocks noChangeArrowheads="1"/>
              </p:cNvSpPr>
              <p:nvPr/>
            </p:nvSpPr>
            <p:spPr bwMode="auto">
              <a:xfrm>
                <a:off x="2508" y="2463"/>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a:t>
                </a:r>
              </a:p>
            </p:txBody>
          </p:sp>
          <p:sp>
            <p:nvSpPr>
              <p:cNvPr id="244" name="Text Box 122"/>
              <p:cNvSpPr txBox="1">
                <a:spLocks noChangeArrowheads="1"/>
              </p:cNvSpPr>
              <p:nvPr/>
            </p:nvSpPr>
            <p:spPr bwMode="auto">
              <a:xfrm>
                <a:off x="2583" y="2638"/>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a:t>
                </a:r>
              </a:p>
            </p:txBody>
          </p:sp>
        </p:grpSp>
        <p:sp>
          <p:nvSpPr>
            <p:cNvPr id="245" name="Text Box 123"/>
            <p:cNvSpPr txBox="1">
              <a:spLocks noChangeArrowheads="1"/>
            </p:cNvSpPr>
            <p:nvPr/>
          </p:nvSpPr>
          <p:spPr bwMode="auto">
            <a:xfrm rot="16200000">
              <a:off x="1828433" y="3164603"/>
              <a:ext cx="39893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a:solidFill>
                    <a:srgbClr val="000066"/>
                  </a:solidFill>
                  <a:ea typeface="幼圆" pitchFamily="49" charset="-122"/>
                  <a:cs typeface="Times New Roman" panose="02020603050405020304" pitchFamily="18" charset="0"/>
                </a:rPr>
                <a:t>小于某粒径之土质量百分数</a:t>
              </a:r>
              <a:r>
                <a:rPr kumimoji="1" lang="en-US" altLang="zh-CN" sz="2000" b="1" i="1" dirty="0">
                  <a:solidFill>
                    <a:srgbClr val="000066"/>
                  </a:solidFill>
                  <a:ea typeface="幼圆" pitchFamily="49" charset="-122"/>
                  <a:cs typeface="Times New Roman" panose="02020603050405020304" pitchFamily="18" charset="0"/>
                </a:rPr>
                <a:t>P</a:t>
              </a:r>
              <a:r>
                <a:rPr kumimoji="1" lang="zh-CN" altLang="en-US" sz="2000" b="1" dirty="0">
                  <a:solidFill>
                    <a:srgbClr val="000066"/>
                  </a:solidFill>
                  <a:ea typeface="幼圆" pitchFamily="49" charset="-122"/>
                  <a:cs typeface="Times New Roman" panose="02020603050405020304" pitchFamily="18" charset="0"/>
                </a:rPr>
                <a:t>（％）</a:t>
              </a:r>
            </a:p>
          </p:txBody>
        </p:sp>
        <p:grpSp>
          <p:nvGrpSpPr>
            <p:cNvPr id="246" name="Group 124"/>
            <p:cNvGrpSpPr>
              <a:grpSpLocks/>
            </p:cNvGrpSpPr>
            <p:nvPr/>
          </p:nvGrpSpPr>
          <p:grpSpPr bwMode="auto">
            <a:xfrm>
              <a:off x="4399389" y="4975147"/>
              <a:ext cx="3376611" cy="473075"/>
              <a:chOff x="2652" y="2826"/>
              <a:chExt cx="2127" cy="298"/>
            </a:xfrm>
          </p:grpSpPr>
          <p:sp>
            <p:nvSpPr>
              <p:cNvPr id="247" name="Text Box 125"/>
              <p:cNvSpPr txBox="1">
                <a:spLocks noChangeArrowheads="1"/>
              </p:cNvSpPr>
              <p:nvPr/>
            </p:nvSpPr>
            <p:spPr bwMode="auto">
              <a:xfrm rot="16200000">
                <a:off x="2668" y="2838"/>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10</a:t>
                </a:r>
              </a:p>
            </p:txBody>
          </p:sp>
          <p:sp>
            <p:nvSpPr>
              <p:cNvPr id="248" name="Text Box 126"/>
              <p:cNvSpPr txBox="1">
                <a:spLocks noChangeArrowheads="1"/>
              </p:cNvSpPr>
              <p:nvPr/>
            </p:nvSpPr>
            <p:spPr bwMode="auto">
              <a:xfrm rot="16200000">
                <a:off x="2869" y="2855"/>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5.0</a:t>
                </a:r>
              </a:p>
            </p:txBody>
          </p:sp>
          <p:sp>
            <p:nvSpPr>
              <p:cNvPr id="249" name="Text Box 127"/>
              <p:cNvSpPr txBox="1">
                <a:spLocks noChangeArrowheads="1"/>
              </p:cNvSpPr>
              <p:nvPr/>
            </p:nvSpPr>
            <p:spPr bwMode="auto">
              <a:xfrm rot="16200000">
                <a:off x="3300" y="2856"/>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a:t>
                </a:r>
              </a:p>
            </p:txBody>
          </p:sp>
          <p:sp>
            <p:nvSpPr>
              <p:cNvPr id="250" name="Text Box 128"/>
              <p:cNvSpPr txBox="1">
                <a:spLocks noChangeArrowheads="1"/>
              </p:cNvSpPr>
              <p:nvPr/>
            </p:nvSpPr>
            <p:spPr bwMode="auto">
              <a:xfrm rot="16200000">
                <a:off x="3510" y="2846"/>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0.5</a:t>
                </a:r>
              </a:p>
            </p:txBody>
          </p:sp>
          <p:sp>
            <p:nvSpPr>
              <p:cNvPr id="251" name="Text Box 129"/>
              <p:cNvSpPr txBox="1">
                <a:spLocks noChangeArrowheads="1"/>
              </p:cNvSpPr>
              <p:nvPr/>
            </p:nvSpPr>
            <p:spPr bwMode="auto">
              <a:xfrm rot="16200000">
                <a:off x="3895" y="2886"/>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0.10</a:t>
                </a:r>
              </a:p>
            </p:txBody>
          </p:sp>
          <p:sp>
            <p:nvSpPr>
              <p:cNvPr id="252" name="Text Box 130"/>
              <p:cNvSpPr txBox="1">
                <a:spLocks noChangeArrowheads="1"/>
              </p:cNvSpPr>
              <p:nvPr/>
            </p:nvSpPr>
            <p:spPr bwMode="auto">
              <a:xfrm rot="16200000">
                <a:off x="4110" y="2881"/>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0.05</a:t>
                </a:r>
              </a:p>
            </p:txBody>
          </p:sp>
          <p:sp>
            <p:nvSpPr>
              <p:cNvPr id="253" name="Text Box 131"/>
              <p:cNvSpPr txBox="1">
                <a:spLocks noChangeArrowheads="1"/>
              </p:cNvSpPr>
              <p:nvPr/>
            </p:nvSpPr>
            <p:spPr bwMode="auto">
              <a:xfrm rot="16200000">
                <a:off x="4540" y="2871"/>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0.01</a:t>
                </a:r>
              </a:p>
            </p:txBody>
          </p:sp>
        </p:grpSp>
        <p:sp>
          <p:nvSpPr>
            <p:cNvPr id="254" name="Text Box 134"/>
            <p:cNvSpPr txBox="1">
              <a:spLocks noChangeArrowheads="1"/>
            </p:cNvSpPr>
            <p:nvPr/>
          </p:nvSpPr>
          <p:spPr bwMode="auto">
            <a:xfrm>
              <a:off x="8014216" y="5007856"/>
              <a:ext cx="59631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smtClean="0">
                  <a:solidFill>
                    <a:srgbClr val="000066"/>
                  </a:solidFill>
                  <a:ea typeface="幼圆" pitchFamily="49" charset="-122"/>
                  <a:cs typeface="Times New Roman" panose="02020603050405020304" pitchFamily="18" charset="0"/>
                </a:rPr>
                <a:t>粒径</a:t>
              </a:r>
              <a:r>
                <a:rPr kumimoji="1" lang="en-US" altLang="zh-CN" sz="2000" b="1" dirty="0" smtClean="0">
                  <a:solidFill>
                    <a:srgbClr val="000066"/>
                  </a:solidFill>
                  <a:ea typeface="幼圆" pitchFamily="49" charset="-122"/>
                  <a:cs typeface="Times New Roman" panose="02020603050405020304" pitchFamily="18" charset="0"/>
                </a:rPr>
                <a:t/>
              </a:r>
              <a:br>
                <a:rPr kumimoji="1" lang="en-US" altLang="zh-CN" sz="2000" b="1" dirty="0" smtClean="0">
                  <a:solidFill>
                    <a:srgbClr val="000066"/>
                  </a:solidFill>
                  <a:ea typeface="幼圆" pitchFamily="49" charset="-122"/>
                  <a:cs typeface="Times New Roman" panose="02020603050405020304" pitchFamily="18" charset="0"/>
                </a:rPr>
              </a:br>
              <a:r>
                <a:rPr kumimoji="1" lang="en-US" altLang="zh-CN" sz="2000" b="1" dirty="0" smtClean="0">
                  <a:solidFill>
                    <a:srgbClr val="000066"/>
                  </a:solidFill>
                  <a:ea typeface="幼圆" pitchFamily="49" charset="-122"/>
                  <a:cs typeface="Times New Roman" panose="02020603050405020304" pitchFamily="18" charset="0"/>
                </a:rPr>
                <a:t>(</a:t>
              </a:r>
              <a:r>
                <a:rPr kumimoji="1" lang="en-US" altLang="zh-CN" sz="2000" b="1" dirty="0">
                  <a:solidFill>
                    <a:srgbClr val="000066"/>
                  </a:solidFill>
                  <a:ea typeface="幼圆" pitchFamily="49" charset="-122"/>
                  <a:cs typeface="Times New Roman" panose="02020603050405020304" pitchFamily="18" charset="0"/>
                </a:rPr>
                <a:t>mm)</a:t>
              </a:r>
            </a:p>
          </p:txBody>
        </p:sp>
      </p:grpSp>
      <p:cxnSp>
        <p:nvCxnSpPr>
          <p:cNvPr id="269" name="直接连接符 268"/>
          <p:cNvCxnSpPr/>
          <p:nvPr/>
        </p:nvCxnSpPr>
        <p:spPr>
          <a:xfrm>
            <a:off x="6688372" y="3349927"/>
            <a:ext cx="3048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70" name="矩形 269"/>
          <p:cNvSpPr/>
          <p:nvPr/>
        </p:nvSpPr>
        <p:spPr>
          <a:xfrm>
            <a:off x="399619" y="1467756"/>
            <a:ext cx="3363493" cy="800219"/>
          </a:xfrm>
          <a:prstGeom prst="rect">
            <a:avLst/>
          </a:prstGeom>
        </p:spPr>
        <p:txBody>
          <a:bodyPr wrap="square">
            <a:spAutoFit/>
          </a:bodyPr>
          <a:lstStyle/>
          <a:p>
            <a:pPr marL="265113" indent="-265113">
              <a:buSzPct val="130000"/>
              <a:buFont typeface="Arial" panose="020B0604020202020204" pitchFamily="34" charset="0"/>
              <a:buChar char="•"/>
            </a:pPr>
            <a:r>
              <a:rPr lang="zh-CN" altLang="en-US" sz="2000" b="1" dirty="0" smtClean="0">
                <a:solidFill>
                  <a:srgbClr val="C00000"/>
                </a:solidFill>
                <a:latin typeface="幼圆" panose="02010509060101010101" pitchFamily="49" charset="-122"/>
                <a:ea typeface="幼圆" panose="02010509060101010101" pitchFamily="49" charset="-122"/>
              </a:rPr>
              <a:t>两点：</a:t>
            </a:r>
            <a:r>
              <a:rPr lang="zh-CN" altLang="en-US" sz="2000" b="1" dirty="0" smtClean="0">
                <a:solidFill>
                  <a:srgbClr val="000066"/>
                </a:solidFill>
                <a:latin typeface="幼圆" panose="02010509060101010101" pitchFamily="49" charset="-122"/>
                <a:ea typeface="幼圆" panose="02010509060101010101" pitchFamily="49" charset="-122"/>
              </a:rPr>
              <a:t>某粒径范围内土颗粒所占的质量百分数</a:t>
            </a:r>
            <a:endParaRPr lang="zh-CN" altLang="en-US" sz="2000" b="1" dirty="0">
              <a:solidFill>
                <a:srgbClr val="000066"/>
              </a:solidFill>
              <a:latin typeface="幼圆" panose="02010509060101010101" pitchFamily="49" charset="-122"/>
              <a:ea typeface="幼圆" panose="02010509060101010101" pitchFamily="49" charset="-122"/>
            </a:endParaRPr>
          </a:p>
        </p:txBody>
      </p:sp>
      <p:sp>
        <p:nvSpPr>
          <p:cNvPr id="271" name="矩形 270"/>
          <p:cNvSpPr/>
          <p:nvPr/>
        </p:nvSpPr>
        <p:spPr>
          <a:xfrm>
            <a:off x="418372" y="2367497"/>
            <a:ext cx="3363493" cy="2139047"/>
          </a:xfrm>
          <a:prstGeom prst="rect">
            <a:avLst/>
          </a:prstGeom>
        </p:spPr>
        <p:txBody>
          <a:bodyPr wrap="square">
            <a:spAutoFit/>
          </a:bodyPr>
          <a:lstStyle/>
          <a:p>
            <a:pPr marL="265113" indent="-265113">
              <a:buSzPct val="130000"/>
              <a:buFont typeface="Arial" panose="020B0604020202020204" pitchFamily="34" charset="0"/>
              <a:buChar char="•"/>
            </a:pPr>
            <a:r>
              <a:rPr lang="zh-CN" altLang="en-US" sz="2000" b="1" dirty="0" smtClean="0">
                <a:solidFill>
                  <a:srgbClr val="C00000"/>
                </a:solidFill>
                <a:latin typeface="幼圆" panose="02010509060101010101" pitchFamily="49" charset="-122"/>
                <a:ea typeface="幼圆" panose="02010509060101010101" pitchFamily="49" charset="-122"/>
              </a:rPr>
              <a:t>斜率：</a:t>
            </a:r>
            <a:r>
              <a:rPr lang="zh-CN" altLang="en-US" sz="2000" b="1" dirty="0">
                <a:solidFill>
                  <a:srgbClr val="000066"/>
                </a:solidFill>
                <a:latin typeface="幼圆" panose="02010509060101010101" pitchFamily="49" charset="-122"/>
                <a:ea typeface="幼圆" panose="02010509060101010101" pitchFamily="49" charset="-122"/>
              </a:rPr>
              <a:t>某粒径范围内</a:t>
            </a:r>
            <a:r>
              <a:rPr lang="zh-CN" altLang="en-US" sz="2000" b="1" dirty="0" smtClean="0">
                <a:solidFill>
                  <a:srgbClr val="000066"/>
                </a:solidFill>
                <a:latin typeface="幼圆" panose="02010509060101010101" pitchFamily="49" charset="-122"/>
                <a:ea typeface="幼圆" panose="02010509060101010101" pitchFamily="49" charset="-122"/>
              </a:rPr>
              <a:t>颗      粒含量的多少</a:t>
            </a:r>
            <a:endParaRPr lang="en-US" altLang="zh-CN" sz="2000" b="1" dirty="0">
              <a:solidFill>
                <a:srgbClr val="000066"/>
              </a:solidFill>
              <a:latin typeface="幼圆" panose="02010509060101010101" pitchFamily="49" charset="-122"/>
              <a:ea typeface="幼圆" panose="02010509060101010101" pitchFamily="49" charset="-122"/>
            </a:endParaRPr>
          </a:p>
          <a:p>
            <a:pPr>
              <a:buSzPct val="130000"/>
            </a:pPr>
            <a:r>
              <a:rPr lang="zh-CN" altLang="en-US" sz="2000" b="1" dirty="0">
                <a:solidFill>
                  <a:srgbClr val="000066"/>
                </a:solidFill>
                <a:latin typeface="幼圆" panose="02010509060101010101" pitchFamily="49" charset="-122"/>
                <a:ea typeface="幼圆" panose="02010509060101010101" pitchFamily="49" charset="-122"/>
              </a:rPr>
              <a:t> </a:t>
            </a:r>
            <a:r>
              <a:rPr lang="zh-CN" altLang="en-US" sz="2000" b="1" dirty="0" smtClean="0">
                <a:solidFill>
                  <a:srgbClr val="000066"/>
                </a:solidFill>
                <a:latin typeface="幼圆" panose="02010509060101010101" pitchFamily="49" charset="-122"/>
                <a:ea typeface="幼圆" panose="02010509060101010101" pitchFamily="49" charset="-122"/>
              </a:rPr>
              <a:t>  </a:t>
            </a:r>
            <a:r>
              <a:rPr lang="zh-CN" altLang="en-US" sz="2000" b="1" dirty="0" smtClean="0">
                <a:solidFill>
                  <a:srgbClr val="C00000"/>
                </a:solidFill>
                <a:latin typeface="幼圆" panose="02010509060101010101" pitchFamily="49" charset="-122"/>
                <a:ea typeface="幼圆" panose="02010509060101010101" pitchFamily="49" charset="-122"/>
              </a:rPr>
              <a:t>陡 </a:t>
            </a:r>
            <a:r>
              <a:rPr lang="en-US" altLang="zh-CN" sz="2000" b="1" dirty="0" smtClean="0">
                <a:solidFill>
                  <a:srgbClr val="000066"/>
                </a:solidFill>
                <a:latin typeface="幼圆" panose="02010509060101010101" pitchFamily="49" charset="-122"/>
                <a:ea typeface="幼圆" panose="02010509060101010101" pitchFamily="49" charset="-122"/>
              </a:rPr>
              <a:t>- </a:t>
            </a:r>
            <a:r>
              <a:rPr lang="zh-CN" altLang="en-US" sz="2000" b="1" dirty="0" smtClean="0">
                <a:solidFill>
                  <a:srgbClr val="000066"/>
                </a:solidFill>
                <a:latin typeface="幼圆" panose="02010509060101010101" pitchFamily="49" charset="-122"/>
                <a:ea typeface="幼圆" panose="02010509060101010101" pitchFamily="49" charset="-122"/>
              </a:rPr>
              <a:t>相应</a:t>
            </a:r>
            <a:r>
              <a:rPr lang="zh-CN" altLang="en-US" sz="2000" b="1" dirty="0">
                <a:solidFill>
                  <a:srgbClr val="000066"/>
                </a:solidFill>
                <a:latin typeface="幼圆" panose="02010509060101010101" pitchFamily="49" charset="-122"/>
                <a:ea typeface="幼圆" panose="02010509060101010101" pitchFamily="49" charset="-122"/>
              </a:rPr>
              <a:t>粒组含量</a:t>
            </a:r>
            <a:r>
              <a:rPr lang="zh-CN" altLang="en-US" sz="2000" b="1" dirty="0" smtClean="0">
                <a:solidFill>
                  <a:srgbClr val="000066"/>
                </a:solidFill>
                <a:latin typeface="幼圆" panose="02010509060101010101" pitchFamily="49" charset="-122"/>
                <a:ea typeface="幼圆" panose="02010509060101010101" pitchFamily="49" charset="-122"/>
              </a:rPr>
              <a:t>多</a:t>
            </a:r>
            <a:endParaRPr lang="zh-CN" altLang="en-US" sz="2000" b="1" dirty="0">
              <a:solidFill>
                <a:srgbClr val="000066"/>
              </a:solidFill>
              <a:latin typeface="幼圆" panose="02010509060101010101" pitchFamily="49" charset="-122"/>
              <a:ea typeface="幼圆" panose="02010509060101010101" pitchFamily="49" charset="-122"/>
            </a:endParaRPr>
          </a:p>
          <a:p>
            <a:pPr>
              <a:buSzPct val="130000"/>
            </a:pPr>
            <a:r>
              <a:rPr lang="zh-CN" altLang="en-US" sz="2000" b="1" dirty="0">
                <a:solidFill>
                  <a:srgbClr val="000066"/>
                </a:solidFill>
                <a:latin typeface="幼圆" panose="02010509060101010101" pitchFamily="49" charset="-122"/>
                <a:ea typeface="幼圆" panose="02010509060101010101" pitchFamily="49" charset="-122"/>
              </a:rPr>
              <a:t>  </a:t>
            </a:r>
            <a:r>
              <a:rPr lang="zh-CN" altLang="en-US" sz="2000" b="1" dirty="0" smtClean="0">
                <a:solidFill>
                  <a:srgbClr val="000066"/>
                </a:solidFill>
                <a:latin typeface="幼圆" panose="02010509060101010101" pitchFamily="49" charset="-122"/>
                <a:ea typeface="幼圆" panose="02010509060101010101" pitchFamily="49" charset="-122"/>
              </a:rPr>
              <a:t> </a:t>
            </a:r>
            <a:r>
              <a:rPr lang="zh-CN" altLang="en-US" sz="2000" b="1" dirty="0" smtClean="0">
                <a:solidFill>
                  <a:srgbClr val="C00000"/>
                </a:solidFill>
                <a:latin typeface="幼圆" panose="02010509060101010101" pitchFamily="49" charset="-122"/>
                <a:ea typeface="幼圆" panose="02010509060101010101" pitchFamily="49" charset="-122"/>
              </a:rPr>
              <a:t>缓 </a:t>
            </a:r>
            <a:r>
              <a:rPr lang="en-US" altLang="zh-CN" sz="2000" b="1" dirty="0" smtClean="0">
                <a:solidFill>
                  <a:srgbClr val="000066"/>
                </a:solidFill>
                <a:latin typeface="幼圆" panose="02010509060101010101" pitchFamily="49" charset="-122"/>
                <a:ea typeface="幼圆" panose="02010509060101010101" pitchFamily="49" charset="-122"/>
              </a:rPr>
              <a:t>- </a:t>
            </a:r>
            <a:r>
              <a:rPr lang="zh-CN" altLang="en-US" sz="2000" b="1" dirty="0" smtClean="0">
                <a:solidFill>
                  <a:srgbClr val="000066"/>
                </a:solidFill>
                <a:latin typeface="幼圆" panose="02010509060101010101" pitchFamily="49" charset="-122"/>
                <a:ea typeface="幼圆" panose="02010509060101010101" pitchFamily="49" charset="-122"/>
              </a:rPr>
              <a:t>相应</a:t>
            </a:r>
            <a:r>
              <a:rPr lang="zh-CN" altLang="en-US" sz="2000" b="1" dirty="0">
                <a:solidFill>
                  <a:srgbClr val="000066"/>
                </a:solidFill>
                <a:latin typeface="幼圆" panose="02010509060101010101" pitchFamily="49" charset="-122"/>
                <a:ea typeface="幼圆" panose="02010509060101010101" pitchFamily="49" charset="-122"/>
              </a:rPr>
              <a:t>粒组含量</a:t>
            </a:r>
            <a:r>
              <a:rPr lang="zh-CN" altLang="en-US" sz="2000" b="1" dirty="0" smtClean="0">
                <a:solidFill>
                  <a:srgbClr val="000066"/>
                </a:solidFill>
                <a:latin typeface="幼圆" panose="02010509060101010101" pitchFamily="49" charset="-122"/>
                <a:ea typeface="幼圆" panose="02010509060101010101" pitchFamily="49" charset="-122"/>
              </a:rPr>
              <a:t>少</a:t>
            </a:r>
            <a:endParaRPr lang="zh-CN" altLang="en-US" sz="2000" b="1" dirty="0">
              <a:solidFill>
                <a:srgbClr val="000066"/>
              </a:solidFill>
              <a:latin typeface="幼圆" panose="02010509060101010101" pitchFamily="49" charset="-122"/>
              <a:ea typeface="幼圆" panose="02010509060101010101" pitchFamily="49" charset="-122"/>
            </a:endParaRPr>
          </a:p>
          <a:p>
            <a:pPr>
              <a:buSzPct val="130000"/>
            </a:pPr>
            <a:r>
              <a:rPr lang="zh-CN" altLang="en-US" sz="2000" b="1" dirty="0">
                <a:solidFill>
                  <a:srgbClr val="000066"/>
                </a:solidFill>
                <a:latin typeface="幼圆" panose="02010509060101010101" pitchFamily="49" charset="-122"/>
                <a:ea typeface="幼圆" panose="02010509060101010101" pitchFamily="49" charset="-122"/>
              </a:rPr>
              <a:t> </a:t>
            </a:r>
            <a:r>
              <a:rPr lang="zh-CN" altLang="en-US" sz="2000" b="1" dirty="0" smtClean="0">
                <a:solidFill>
                  <a:srgbClr val="000066"/>
                </a:solidFill>
                <a:latin typeface="幼圆" panose="02010509060101010101" pitchFamily="49" charset="-122"/>
                <a:ea typeface="幼圆" panose="02010509060101010101" pitchFamily="49" charset="-122"/>
              </a:rPr>
              <a:t>  </a:t>
            </a:r>
            <a:r>
              <a:rPr lang="zh-CN" altLang="en-US" sz="2000" b="1" dirty="0" smtClean="0">
                <a:solidFill>
                  <a:srgbClr val="C00000"/>
                </a:solidFill>
                <a:latin typeface="幼圆" panose="02010509060101010101" pitchFamily="49" charset="-122"/>
                <a:ea typeface="幼圆" panose="02010509060101010101" pitchFamily="49" charset="-122"/>
              </a:rPr>
              <a:t>平台 </a:t>
            </a:r>
            <a:r>
              <a:rPr lang="en-US" altLang="zh-CN" sz="2000" b="1" dirty="0" smtClean="0">
                <a:solidFill>
                  <a:srgbClr val="000066"/>
                </a:solidFill>
                <a:latin typeface="幼圆" panose="02010509060101010101" pitchFamily="49" charset="-122"/>
                <a:ea typeface="幼圆" panose="02010509060101010101" pitchFamily="49" charset="-122"/>
              </a:rPr>
              <a:t>- </a:t>
            </a:r>
            <a:r>
              <a:rPr lang="zh-CN" altLang="en-US" sz="2000" b="1" dirty="0" smtClean="0">
                <a:solidFill>
                  <a:srgbClr val="000066"/>
                </a:solidFill>
                <a:latin typeface="幼圆" panose="02010509060101010101" pitchFamily="49" charset="-122"/>
                <a:ea typeface="幼圆" panose="02010509060101010101" pitchFamily="49" charset="-122"/>
              </a:rPr>
              <a:t>相应</a:t>
            </a:r>
            <a:r>
              <a:rPr lang="zh-CN" altLang="en-US" sz="2000" b="1" dirty="0">
                <a:solidFill>
                  <a:srgbClr val="000066"/>
                </a:solidFill>
                <a:latin typeface="幼圆" panose="02010509060101010101" pitchFamily="49" charset="-122"/>
                <a:ea typeface="幼圆" panose="02010509060101010101" pitchFamily="49" charset="-122"/>
              </a:rPr>
              <a:t>粒组</a:t>
            </a:r>
            <a:r>
              <a:rPr lang="zh-CN" altLang="en-US" sz="2000" b="1" dirty="0" smtClean="0">
                <a:solidFill>
                  <a:srgbClr val="000066"/>
                </a:solidFill>
                <a:latin typeface="幼圆" panose="02010509060101010101" pitchFamily="49" charset="-122"/>
                <a:ea typeface="幼圆" panose="02010509060101010101" pitchFamily="49" charset="-122"/>
              </a:rPr>
              <a:t>缺乏</a:t>
            </a:r>
            <a:endParaRPr lang="zh-CN" altLang="en-US" sz="2000" b="1" dirty="0">
              <a:solidFill>
                <a:srgbClr val="000066"/>
              </a:solidFill>
              <a:latin typeface="幼圆" panose="02010509060101010101" pitchFamily="49" charset="-122"/>
              <a:ea typeface="幼圆" panose="02010509060101010101" pitchFamily="49" charset="-122"/>
            </a:endParaRPr>
          </a:p>
        </p:txBody>
      </p:sp>
      <p:sp>
        <p:nvSpPr>
          <p:cNvPr id="272" name="Text Box 6"/>
          <p:cNvSpPr txBox="1">
            <a:spLocks noChangeArrowheads="1"/>
          </p:cNvSpPr>
          <p:nvPr/>
        </p:nvSpPr>
        <p:spPr bwMode="auto">
          <a:xfrm>
            <a:off x="212653" y="750609"/>
            <a:ext cx="3492655"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61950" indent="-361950" eaLnBrk="1" hangingPunct="1">
              <a:spcBef>
                <a:spcPct val="25000"/>
              </a:spcBef>
              <a:spcAft>
                <a:spcPct val="25000"/>
              </a:spcAft>
              <a:buClr>
                <a:srgbClr val="A50021"/>
              </a:buClr>
              <a:buSzPct val="100000"/>
              <a:buFont typeface="Wingdings" panose="05000000000000000000" pitchFamily="2" charset="2"/>
              <a:buChar char="n"/>
            </a:pPr>
            <a:r>
              <a:rPr kumimoji="1" lang="zh-CN" altLang="en-US" sz="2400" b="1" dirty="0" smtClean="0">
                <a:solidFill>
                  <a:srgbClr val="A50021"/>
                </a:solidFill>
                <a:latin typeface="幼圆" pitchFamily="49" charset="-122"/>
                <a:ea typeface="幼圆" pitchFamily="49" charset="-122"/>
              </a:rPr>
              <a:t>级配曲线的物理意义</a:t>
            </a:r>
            <a:endParaRPr kumimoji="1" lang="zh-CN" altLang="en-US" sz="2400" b="1" dirty="0">
              <a:solidFill>
                <a:srgbClr val="000066"/>
              </a:solidFill>
              <a:latin typeface="幼圆" pitchFamily="49" charset="-122"/>
              <a:ea typeface="幼圆" pitchFamily="49" charset="-122"/>
            </a:endParaRPr>
          </a:p>
        </p:txBody>
      </p:sp>
    </p:spTree>
    <p:extLst>
      <p:ext uri="{BB962C8B-B14F-4D97-AF65-F5344CB8AC3E}">
        <p14:creationId xmlns:p14="http://schemas.microsoft.com/office/powerpoint/2010/main" val="11039005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0"/>
                                        </p:tgtEl>
                                        <p:attrNameLst>
                                          <p:attrName>style.visibility</p:attrName>
                                        </p:attrNameLst>
                                      </p:cBhvr>
                                      <p:to>
                                        <p:strVal val="visible"/>
                                      </p:to>
                                    </p:set>
                                    <p:animEffect transition="in" filter="wipe(left)">
                                      <p:cBhvr>
                                        <p:cTn id="7" dur="1000"/>
                                        <p:tgtEl>
                                          <p:spTgt spid="2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1"/>
                                        </p:tgtEl>
                                        <p:attrNameLst>
                                          <p:attrName>style.visibility</p:attrName>
                                        </p:attrNameLst>
                                      </p:cBhvr>
                                      <p:to>
                                        <p:strVal val="visible"/>
                                      </p:to>
                                    </p:set>
                                    <p:animEffect transition="in" filter="wipe(left)">
                                      <p:cBhvr>
                                        <p:cTn id="12" dur="1000"/>
                                        <p:tgtEl>
                                          <p:spTgt spid="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 grpId="0"/>
      <p:bldP spid="27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Text Box 210"/>
          <p:cNvSpPr txBox="1">
            <a:spLocks noChangeArrowheads="1"/>
          </p:cNvSpPr>
          <p:nvPr/>
        </p:nvSpPr>
        <p:spPr bwMode="auto">
          <a:xfrm>
            <a:off x="2541588" y="5781675"/>
            <a:ext cx="54181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固体颗粒 </a:t>
            </a:r>
            <a:r>
              <a:rPr kumimoji="1" lang="en-US" altLang="zh-CN" sz="4000" b="1" dirty="0">
                <a:solidFill>
                  <a:srgbClr val="000066"/>
                </a:solidFill>
                <a:ea typeface="黑体" pitchFamily="2" charset="-122"/>
              </a:rPr>
              <a:t>–</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级配曲线</a:t>
            </a:r>
            <a:endParaRPr kumimoji="1" lang="en-US" altLang="zh-CN" sz="4000" b="1" dirty="0">
              <a:solidFill>
                <a:srgbClr val="000066"/>
              </a:solidFill>
              <a:latin typeface="黑体" pitchFamily="2" charset="-122"/>
              <a:ea typeface="黑体" pitchFamily="2" charset="-122"/>
            </a:endParaRPr>
          </a:p>
        </p:txBody>
      </p:sp>
      <p:sp>
        <p:nvSpPr>
          <p:cNvPr id="121"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pSp>
        <p:nvGrpSpPr>
          <p:cNvPr id="122" name="组合 121"/>
          <p:cNvGrpSpPr/>
          <p:nvPr/>
        </p:nvGrpSpPr>
        <p:grpSpPr>
          <a:xfrm>
            <a:off x="3978529" y="1312402"/>
            <a:ext cx="4995863" cy="4301100"/>
            <a:chOff x="3670727" y="1322309"/>
            <a:chExt cx="4995863" cy="4301100"/>
          </a:xfrm>
        </p:grpSpPr>
        <p:grpSp>
          <p:nvGrpSpPr>
            <p:cNvPr id="123" name="Group 51"/>
            <p:cNvGrpSpPr>
              <a:grpSpLocks/>
            </p:cNvGrpSpPr>
            <p:nvPr/>
          </p:nvGrpSpPr>
          <p:grpSpPr bwMode="auto">
            <a:xfrm>
              <a:off x="4550202" y="1763635"/>
              <a:ext cx="4116388" cy="3182938"/>
              <a:chOff x="3025" y="961"/>
              <a:chExt cx="2593" cy="2005"/>
            </a:xfrm>
          </p:grpSpPr>
          <p:sp>
            <p:nvSpPr>
              <p:cNvPr id="198" name="Freeform 52"/>
              <p:cNvSpPr>
                <a:spLocks/>
              </p:cNvSpPr>
              <p:nvPr/>
            </p:nvSpPr>
            <p:spPr bwMode="auto">
              <a:xfrm>
                <a:off x="3029" y="967"/>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9" name="Freeform 53"/>
              <p:cNvSpPr>
                <a:spLocks/>
              </p:cNvSpPr>
              <p:nvPr/>
            </p:nvSpPr>
            <p:spPr bwMode="auto">
              <a:xfrm>
                <a:off x="3059" y="963"/>
                <a:ext cx="2" cy="2001"/>
              </a:xfrm>
              <a:custGeom>
                <a:avLst/>
                <a:gdLst>
                  <a:gd name="T0" fmla="*/ 0 w 2"/>
                  <a:gd name="T1" fmla="*/ 0 h 2001"/>
                  <a:gd name="T2" fmla="*/ 2 w 2"/>
                  <a:gd name="T3" fmla="*/ 2001 h 2001"/>
                  <a:gd name="T4" fmla="*/ 0 60000 65536"/>
                  <a:gd name="T5" fmla="*/ 0 60000 65536"/>
                  <a:gd name="T6" fmla="*/ 0 w 2"/>
                  <a:gd name="T7" fmla="*/ 0 h 2001"/>
                  <a:gd name="T8" fmla="*/ 2 w 2"/>
                  <a:gd name="T9" fmla="*/ 2001 h 2001"/>
                </a:gdLst>
                <a:ahLst/>
                <a:cxnLst>
                  <a:cxn ang="T4">
                    <a:pos x="T0" y="T1"/>
                  </a:cxn>
                  <a:cxn ang="T5">
                    <a:pos x="T2" y="T3"/>
                  </a:cxn>
                </a:cxnLst>
                <a:rect l="T6" t="T7" r="T8" b="T9"/>
                <a:pathLst>
                  <a:path w="2" h="2001">
                    <a:moveTo>
                      <a:pt x="0" y="0"/>
                    </a:moveTo>
                    <a:lnTo>
                      <a:pt x="2"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0" name="Freeform 54"/>
              <p:cNvSpPr>
                <a:spLocks/>
              </p:cNvSpPr>
              <p:nvPr/>
            </p:nvSpPr>
            <p:spPr bwMode="auto">
              <a:xfrm>
                <a:off x="3096" y="962"/>
                <a:ext cx="1" cy="2004"/>
              </a:xfrm>
              <a:custGeom>
                <a:avLst/>
                <a:gdLst>
                  <a:gd name="T0" fmla="*/ 0 w 1"/>
                  <a:gd name="T1" fmla="*/ 0 h 2004"/>
                  <a:gd name="T2" fmla="*/ 1 w 1"/>
                  <a:gd name="T3" fmla="*/ 2004 h 2004"/>
                  <a:gd name="T4" fmla="*/ 0 60000 65536"/>
                  <a:gd name="T5" fmla="*/ 0 60000 65536"/>
                  <a:gd name="T6" fmla="*/ 0 w 1"/>
                  <a:gd name="T7" fmla="*/ 0 h 2004"/>
                  <a:gd name="T8" fmla="*/ 1 w 1"/>
                  <a:gd name="T9" fmla="*/ 2004 h 2004"/>
                </a:gdLst>
                <a:ahLst/>
                <a:cxnLst>
                  <a:cxn ang="T4">
                    <a:pos x="T0" y="T1"/>
                  </a:cxn>
                  <a:cxn ang="T5">
                    <a:pos x="T2" y="T3"/>
                  </a:cxn>
                </a:cxnLst>
                <a:rect l="T6" t="T7" r="T8" b="T9"/>
                <a:pathLst>
                  <a:path w="1" h="2004">
                    <a:moveTo>
                      <a:pt x="0" y="0"/>
                    </a:moveTo>
                    <a:lnTo>
                      <a:pt x="1" y="2004"/>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1" name="Freeform 55"/>
              <p:cNvSpPr>
                <a:spLocks/>
              </p:cNvSpPr>
              <p:nvPr/>
            </p:nvSpPr>
            <p:spPr bwMode="auto">
              <a:xfrm>
                <a:off x="3136" y="965"/>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2" name="Freeform 56"/>
              <p:cNvSpPr>
                <a:spLocks/>
              </p:cNvSpPr>
              <p:nvPr/>
            </p:nvSpPr>
            <p:spPr bwMode="auto">
              <a:xfrm>
                <a:off x="3189" y="965"/>
                <a:ext cx="1" cy="1998"/>
              </a:xfrm>
              <a:custGeom>
                <a:avLst/>
                <a:gdLst>
                  <a:gd name="T0" fmla="*/ 0 w 1"/>
                  <a:gd name="T1" fmla="*/ 0 h 1998"/>
                  <a:gd name="T2" fmla="*/ 1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1"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3" name="Freeform 57"/>
              <p:cNvSpPr>
                <a:spLocks/>
              </p:cNvSpPr>
              <p:nvPr/>
            </p:nvSpPr>
            <p:spPr bwMode="auto">
              <a:xfrm>
                <a:off x="3242" y="962"/>
                <a:ext cx="1" cy="2000"/>
              </a:xfrm>
              <a:custGeom>
                <a:avLst/>
                <a:gdLst>
                  <a:gd name="T0" fmla="*/ 0 w 1"/>
                  <a:gd name="T1" fmla="*/ 0 h 2000"/>
                  <a:gd name="T2" fmla="*/ 1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0" y="0"/>
                    </a:moveTo>
                    <a:lnTo>
                      <a:pt x="1"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4" name="Freeform 58"/>
              <p:cNvSpPr>
                <a:spLocks/>
              </p:cNvSpPr>
              <p:nvPr/>
            </p:nvSpPr>
            <p:spPr bwMode="auto">
              <a:xfrm>
                <a:off x="3306" y="963"/>
                <a:ext cx="2" cy="2000"/>
              </a:xfrm>
              <a:custGeom>
                <a:avLst/>
                <a:gdLst>
                  <a:gd name="T0" fmla="*/ 0 w 2"/>
                  <a:gd name="T1" fmla="*/ 0 h 2000"/>
                  <a:gd name="T2" fmla="*/ 2 w 2"/>
                  <a:gd name="T3" fmla="*/ 2000 h 2000"/>
                  <a:gd name="T4" fmla="*/ 0 60000 65536"/>
                  <a:gd name="T5" fmla="*/ 0 60000 65536"/>
                  <a:gd name="T6" fmla="*/ 0 w 2"/>
                  <a:gd name="T7" fmla="*/ 0 h 2000"/>
                  <a:gd name="T8" fmla="*/ 2 w 2"/>
                  <a:gd name="T9" fmla="*/ 2000 h 2000"/>
                </a:gdLst>
                <a:ahLst/>
                <a:cxnLst>
                  <a:cxn ang="T4">
                    <a:pos x="T0" y="T1"/>
                  </a:cxn>
                  <a:cxn ang="T5">
                    <a:pos x="T2" y="T3"/>
                  </a:cxn>
                </a:cxnLst>
                <a:rect l="T6" t="T7" r="T8" b="T9"/>
                <a:pathLst>
                  <a:path w="2" h="2000">
                    <a:moveTo>
                      <a:pt x="0" y="0"/>
                    </a:moveTo>
                    <a:lnTo>
                      <a:pt x="2"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5" name="Freeform 59"/>
              <p:cNvSpPr>
                <a:spLocks/>
              </p:cNvSpPr>
              <p:nvPr/>
            </p:nvSpPr>
            <p:spPr bwMode="auto">
              <a:xfrm>
                <a:off x="3379"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6" name="Freeform 60"/>
              <p:cNvSpPr>
                <a:spLocks/>
              </p:cNvSpPr>
              <p:nvPr/>
            </p:nvSpPr>
            <p:spPr bwMode="auto">
              <a:xfrm>
                <a:off x="3495" y="963"/>
                <a:ext cx="1" cy="2001"/>
              </a:xfrm>
              <a:custGeom>
                <a:avLst/>
                <a:gdLst>
                  <a:gd name="T0" fmla="*/ 0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0"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7" name="Freeform 61"/>
              <p:cNvSpPr>
                <a:spLocks/>
              </p:cNvSpPr>
              <p:nvPr/>
            </p:nvSpPr>
            <p:spPr bwMode="auto">
              <a:xfrm>
                <a:off x="3682" y="966"/>
                <a:ext cx="1" cy="1997"/>
              </a:xfrm>
              <a:custGeom>
                <a:avLst/>
                <a:gdLst>
                  <a:gd name="T0" fmla="*/ 1 w 1"/>
                  <a:gd name="T1" fmla="*/ 0 h 1997"/>
                  <a:gd name="T2" fmla="*/ 0 w 1"/>
                  <a:gd name="T3" fmla="*/ 1997 h 1997"/>
                  <a:gd name="T4" fmla="*/ 0 60000 65536"/>
                  <a:gd name="T5" fmla="*/ 0 60000 65536"/>
                  <a:gd name="T6" fmla="*/ 0 w 1"/>
                  <a:gd name="T7" fmla="*/ 0 h 1997"/>
                  <a:gd name="T8" fmla="*/ 1 w 1"/>
                  <a:gd name="T9" fmla="*/ 1997 h 1997"/>
                </a:gdLst>
                <a:ahLst/>
                <a:cxnLst>
                  <a:cxn ang="T4">
                    <a:pos x="T0" y="T1"/>
                  </a:cxn>
                  <a:cxn ang="T5">
                    <a:pos x="T2" y="T3"/>
                  </a:cxn>
                </a:cxnLst>
                <a:rect l="T6" t="T7" r="T8" b="T9"/>
                <a:pathLst>
                  <a:path w="1" h="1997">
                    <a:moveTo>
                      <a:pt x="1"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8" name="Freeform 62"/>
              <p:cNvSpPr>
                <a:spLocks/>
              </p:cNvSpPr>
              <p:nvPr/>
            </p:nvSpPr>
            <p:spPr bwMode="auto">
              <a:xfrm>
                <a:off x="3711" y="962"/>
                <a:ext cx="2" cy="2002"/>
              </a:xfrm>
              <a:custGeom>
                <a:avLst/>
                <a:gdLst>
                  <a:gd name="T0" fmla="*/ 2 w 2"/>
                  <a:gd name="T1" fmla="*/ 0 h 2002"/>
                  <a:gd name="T2" fmla="*/ 0 w 2"/>
                  <a:gd name="T3" fmla="*/ 2002 h 2002"/>
                  <a:gd name="T4" fmla="*/ 0 60000 65536"/>
                  <a:gd name="T5" fmla="*/ 0 60000 65536"/>
                  <a:gd name="T6" fmla="*/ 0 w 2"/>
                  <a:gd name="T7" fmla="*/ 0 h 2002"/>
                  <a:gd name="T8" fmla="*/ 2 w 2"/>
                  <a:gd name="T9" fmla="*/ 2002 h 2002"/>
                </a:gdLst>
                <a:ahLst/>
                <a:cxnLst>
                  <a:cxn ang="T4">
                    <a:pos x="T0" y="T1"/>
                  </a:cxn>
                  <a:cxn ang="T5">
                    <a:pos x="T2" y="T3"/>
                  </a:cxn>
                </a:cxnLst>
                <a:rect l="T6" t="T7" r="T8" b="T9"/>
                <a:pathLst>
                  <a:path w="2" h="2002">
                    <a:moveTo>
                      <a:pt x="2"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9" name="Freeform 63"/>
              <p:cNvSpPr>
                <a:spLocks/>
              </p:cNvSpPr>
              <p:nvPr/>
            </p:nvSpPr>
            <p:spPr bwMode="auto">
              <a:xfrm>
                <a:off x="3747"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0" name="Freeform 64"/>
              <p:cNvSpPr>
                <a:spLocks/>
              </p:cNvSpPr>
              <p:nvPr/>
            </p:nvSpPr>
            <p:spPr bwMode="auto">
              <a:xfrm>
                <a:off x="3786"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1" name="Freeform 65"/>
              <p:cNvSpPr>
                <a:spLocks/>
              </p:cNvSpPr>
              <p:nvPr/>
            </p:nvSpPr>
            <p:spPr bwMode="auto">
              <a:xfrm>
                <a:off x="3840" y="966"/>
                <a:ext cx="1" cy="1997"/>
              </a:xfrm>
              <a:custGeom>
                <a:avLst/>
                <a:gdLst>
                  <a:gd name="T0" fmla="*/ 0 w 1"/>
                  <a:gd name="T1" fmla="*/ 0 h 1997"/>
                  <a:gd name="T2" fmla="*/ 0 w 1"/>
                  <a:gd name="T3" fmla="*/ 1997 h 1997"/>
                  <a:gd name="T4" fmla="*/ 0 60000 65536"/>
                  <a:gd name="T5" fmla="*/ 0 60000 65536"/>
                  <a:gd name="T6" fmla="*/ 0 w 1"/>
                  <a:gd name="T7" fmla="*/ 0 h 1997"/>
                  <a:gd name="T8" fmla="*/ 1 w 1"/>
                  <a:gd name="T9" fmla="*/ 1997 h 1997"/>
                </a:gdLst>
                <a:ahLst/>
                <a:cxnLst>
                  <a:cxn ang="T4">
                    <a:pos x="T0" y="T1"/>
                  </a:cxn>
                  <a:cxn ang="T5">
                    <a:pos x="T2" y="T3"/>
                  </a:cxn>
                </a:cxnLst>
                <a:rect l="T6" t="T7" r="T8" b="T9"/>
                <a:pathLst>
                  <a:path w="1" h="1997">
                    <a:moveTo>
                      <a:pt x="0"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2" name="Freeform 66"/>
              <p:cNvSpPr>
                <a:spLocks/>
              </p:cNvSpPr>
              <p:nvPr/>
            </p:nvSpPr>
            <p:spPr bwMode="auto">
              <a:xfrm>
                <a:off x="3893" y="963"/>
                <a:ext cx="1" cy="1999"/>
              </a:xfrm>
              <a:custGeom>
                <a:avLst/>
                <a:gdLst>
                  <a:gd name="T0" fmla="*/ 1 w 1"/>
                  <a:gd name="T1" fmla="*/ 0 h 1999"/>
                  <a:gd name="T2" fmla="*/ 0 w 1"/>
                  <a:gd name="T3" fmla="*/ 1999 h 1999"/>
                  <a:gd name="T4" fmla="*/ 0 60000 65536"/>
                  <a:gd name="T5" fmla="*/ 0 60000 65536"/>
                  <a:gd name="T6" fmla="*/ 0 w 1"/>
                  <a:gd name="T7" fmla="*/ 0 h 1999"/>
                  <a:gd name="T8" fmla="*/ 1 w 1"/>
                  <a:gd name="T9" fmla="*/ 1999 h 1999"/>
                </a:gdLst>
                <a:ahLst/>
                <a:cxnLst>
                  <a:cxn ang="T4">
                    <a:pos x="T0" y="T1"/>
                  </a:cxn>
                  <a:cxn ang="T5">
                    <a:pos x="T2" y="T3"/>
                  </a:cxn>
                </a:cxnLst>
                <a:rect l="T6" t="T7" r="T8" b="T9"/>
                <a:pathLst>
                  <a:path w="1" h="1999">
                    <a:moveTo>
                      <a:pt x="1"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3" name="Freeform 67"/>
              <p:cNvSpPr>
                <a:spLocks/>
              </p:cNvSpPr>
              <p:nvPr/>
            </p:nvSpPr>
            <p:spPr bwMode="auto">
              <a:xfrm>
                <a:off x="3958" y="971"/>
                <a:ext cx="1" cy="1992"/>
              </a:xfrm>
              <a:custGeom>
                <a:avLst/>
                <a:gdLst>
                  <a:gd name="T0" fmla="*/ 1 w 1"/>
                  <a:gd name="T1" fmla="*/ 0 h 1992"/>
                  <a:gd name="T2" fmla="*/ 0 w 1"/>
                  <a:gd name="T3" fmla="*/ 1992 h 1992"/>
                  <a:gd name="T4" fmla="*/ 0 60000 65536"/>
                  <a:gd name="T5" fmla="*/ 0 60000 65536"/>
                  <a:gd name="T6" fmla="*/ 0 w 1"/>
                  <a:gd name="T7" fmla="*/ 0 h 1992"/>
                  <a:gd name="T8" fmla="*/ 1 w 1"/>
                  <a:gd name="T9" fmla="*/ 1992 h 1992"/>
                </a:gdLst>
                <a:ahLst/>
                <a:cxnLst>
                  <a:cxn ang="T4">
                    <a:pos x="T0" y="T1"/>
                  </a:cxn>
                  <a:cxn ang="T5">
                    <a:pos x="T2" y="T3"/>
                  </a:cxn>
                </a:cxnLst>
                <a:rect l="T6" t="T7" r="T8" b="T9"/>
                <a:pathLst>
                  <a:path w="1" h="1992">
                    <a:moveTo>
                      <a:pt x="1" y="0"/>
                    </a:moveTo>
                    <a:lnTo>
                      <a:pt x="0" y="199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4" name="Freeform 68"/>
              <p:cNvSpPr>
                <a:spLocks/>
              </p:cNvSpPr>
              <p:nvPr/>
            </p:nvSpPr>
            <p:spPr bwMode="auto">
              <a:xfrm>
                <a:off x="4029"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5" name="Freeform 69"/>
              <p:cNvSpPr>
                <a:spLocks/>
              </p:cNvSpPr>
              <p:nvPr/>
            </p:nvSpPr>
            <p:spPr bwMode="auto">
              <a:xfrm>
                <a:off x="4145" y="965"/>
                <a:ext cx="1" cy="1998"/>
              </a:xfrm>
              <a:custGeom>
                <a:avLst/>
                <a:gdLst>
                  <a:gd name="T0" fmla="*/ 1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1"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6" name="Freeform 70"/>
              <p:cNvSpPr>
                <a:spLocks/>
              </p:cNvSpPr>
              <p:nvPr/>
            </p:nvSpPr>
            <p:spPr bwMode="auto">
              <a:xfrm>
                <a:off x="4317" y="965"/>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7" name="Freeform 71"/>
              <p:cNvSpPr>
                <a:spLocks/>
              </p:cNvSpPr>
              <p:nvPr/>
            </p:nvSpPr>
            <p:spPr bwMode="auto">
              <a:xfrm>
                <a:off x="4346"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8" name="Freeform 72"/>
              <p:cNvSpPr>
                <a:spLocks/>
              </p:cNvSpPr>
              <p:nvPr/>
            </p:nvSpPr>
            <p:spPr bwMode="auto">
              <a:xfrm>
                <a:off x="4381" y="963"/>
                <a:ext cx="1" cy="2003"/>
              </a:xfrm>
              <a:custGeom>
                <a:avLst/>
                <a:gdLst>
                  <a:gd name="T0" fmla="*/ 0 w 1"/>
                  <a:gd name="T1" fmla="*/ 0 h 2003"/>
                  <a:gd name="T2" fmla="*/ 0 w 1"/>
                  <a:gd name="T3" fmla="*/ 2003 h 2003"/>
                  <a:gd name="T4" fmla="*/ 0 60000 65536"/>
                  <a:gd name="T5" fmla="*/ 0 60000 65536"/>
                  <a:gd name="T6" fmla="*/ 0 w 1"/>
                  <a:gd name="T7" fmla="*/ 0 h 2003"/>
                  <a:gd name="T8" fmla="*/ 1 w 1"/>
                  <a:gd name="T9" fmla="*/ 2003 h 2003"/>
                </a:gdLst>
                <a:ahLst/>
                <a:cxnLst>
                  <a:cxn ang="T4">
                    <a:pos x="T0" y="T1"/>
                  </a:cxn>
                  <a:cxn ang="T5">
                    <a:pos x="T2" y="T3"/>
                  </a:cxn>
                </a:cxnLst>
                <a:rect l="T6" t="T7" r="T8" b="T9"/>
                <a:pathLst>
                  <a:path w="1" h="2003">
                    <a:moveTo>
                      <a:pt x="0" y="0"/>
                    </a:moveTo>
                    <a:lnTo>
                      <a:pt x="0" y="2003"/>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9" name="Freeform 73"/>
              <p:cNvSpPr>
                <a:spLocks/>
              </p:cNvSpPr>
              <p:nvPr/>
            </p:nvSpPr>
            <p:spPr bwMode="auto">
              <a:xfrm>
                <a:off x="4421" y="965"/>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0" name="Freeform 74"/>
              <p:cNvSpPr>
                <a:spLocks/>
              </p:cNvSpPr>
              <p:nvPr/>
            </p:nvSpPr>
            <p:spPr bwMode="auto">
              <a:xfrm>
                <a:off x="4475" y="968"/>
                <a:ext cx="1" cy="1995"/>
              </a:xfrm>
              <a:custGeom>
                <a:avLst/>
                <a:gdLst>
                  <a:gd name="T0" fmla="*/ 1 w 1"/>
                  <a:gd name="T1" fmla="*/ 0 h 1995"/>
                  <a:gd name="T2" fmla="*/ 0 w 1"/>
                  <a:gd name="T3" fmla="*/ 1995 h 1995"/>
                  <a:gd name="T4" fmla="*/ 0 60000 65536"/>
                  <a:gd name="T5" fmla="*/ 0 60000 65536"/>
                  <a:gd name="T6" fmla="*/ 0 w 1"/>
                  <a:gd name="T7" fmla="*/ 0 h 1995"/>
                  <a:gd name="T8" fmla="*/ 1 w 1"/>
                  <a:gd name="T9" fmla="*/ 1995 h 1995"/>
                </a:gdLst>
                <a:ahLst/>
                <a:cxnLst>
                  <a:cxn ang="T4">
                    <a:pos x="T0" y="T1"/>
                  </a:cxn>
                  <a:cxn ang="T5">
                    <a:pos x="T2" y="T3"/>
                  </a:cxn>
                </a:cxnLst>
                <a:rect l="T6" t="T7" r="T8" b="T9"/>
                <a:pathLst>
                  <a:path w="1" h="1995">
                    <a:moveTo>
                      <a:pt x="1" y="0"/>
                    </a:moveTo>
                    <a:lnTo>
                      <a:pt x="0" y="199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1" name="Freeform 75"/>
              <p:cNvSpPr>
                <a:spLocks/>
              </p:cNvSpPr>
              <p:nvPr/>
            </p:nvSpPr>
            <p:spPr bwMode="auto">
              <a:xfrm>
                <a:off x="4528" y="963"/>
                <a:ext cx="2" cy="1999"/>
              </a:xfrm>
              <a:custGeom>
                <a:avLst/>
                <a:gdLst>
                  <a:gd name="T0" fmla="*/ 2 w 2"/>
                  <a:gd name="T1" fmla="*/ 0 h 1999"/>
                  <a:gd name="T2" fmla="*/ 0 w 2"/>
                  <a:gd name="T3" fmla="*/ 1999 h 1999"/>
                  <a:gd name="T4" fmla="*/ 0 60000 65536"/>
                  <a:gd name="T5" fmla="*/ 0 60000 65536"/>
                  <a:gd name="T6" fmla="*/ 0 w 2"/>
                  <a:gd name="T7" fmla="*/ 0 h 1999"/>
                  <a:gd name="T8" fmla="*/ 2 w 2"/>
                  <a:gd name="T9" fmla="*/ 1999 h 1999"/>
                </a:gdLst>
                <a:ahLst/>
                <a:cxnLst>
                  <a:cxn ang="T4">
                    <a:pos x="T0" y="T1"/>
                  </a:cxn>
                  <a:cxn ang="T5">
                    <a:pos x="T2" y="T3"/>
                  </a:cxn>
                </a:cxnLst>
                <a:rect l="T6" t="T7" r="T8" b="T9"/>
                <a:pathLst>
                  <a:path w="2" h="1999">
                    <a:moveTo>
                      <a:pt x="2"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2" name="Freeform 76"/>
              <p:cNvSpPr>
                <a:spLocks/>
              </p:cNvSpPr>
              <p:nvPr/>
            </p:nvSpPr>
            <p:spPr bwMode="auto">
              <a:xfrm>
                <a:off x="4593" y="968"/>
                <a:ext cx="1" cy="1995"/>
              </a:xfrm>
              <a:custGeom>
                <a:avLst/>
                <a:gdLst>
                  <a:gd name="T0" fmla="*/ 0 w 1"/>
                  <a:gd name="T1" fmla="*/ 0 h 1995"/>
                  <a:gd name="T2" fmla="*/ 0 w 1"/>
                  <a:gd name="T3" fmla="*/ 1995 h 1995"/>
                  <a:gd name="T4" fmla="*/ 0 60000 65536"/>
                  <a:gd name="T5" fmla="*/ 0 60000 65536"/>
                  <a:gd name="T6" fmla="*/ 0 w 1"/>
                  <a:gd name="T7" fmla="*/ 0 h 1995"/>
                  <a:gd name="T8" fmla="*/ 1 w 1"/>
                  <a:gd name="T9" fmla="*/ 1995 h 1995"/>
                </a:gdLst>
                <a:ahLst/>
                <a:cxnLst>
                  <a:cxn ang="T4">
                    <a:pos x="T0" y="T1"/>
                  </a:cxn>
                  <a:cxn ang="T5">
                    <a:pos x="T2" y="T3"/>
                  </a:cxn>
                </a:cxnLst>
                <a:rect l="T6" t="T7" r="T8" b="T9"/>
                <a:pathLst>
                  <a:path w="1" h="1995">
                    <a:moveTo>
                      <a:pt x="0" y="0"/>
                    </a:moveTo>
                    <a:lnTo>
                      <a:pt x="0" y="199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3" name="Freeform 77"/>
              <p:cNvSpPr>
                <a:spLocks/>
              </p:cNvSpPr>
              <p:nvPr/>
            </p:nvSpPr>
            <p:spPr bwMode="auto">
              <a:xfrm>
                <a:off x="4664" y="966"/>
                <a:ext cx="1" cy="2000"/>
              </a:xfrm>
              <a:custGeom>
                <a:avLst/>
                <a:gdLst>
                  <a:gd name="T0" fmla="*/ 0 w 1"/>
                  <a:gd name="T1" fmla="*/ 0 h 2000"/>
                  <a:gd name="T2" fmla="*/ 0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0" y="0"/>
                    </a:moveTo>
                    <a:lnTo>
                      <a:pt x="0"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4" name="Freeform 78"/>
              <p:cNvSpPr>
                <a:spLocks/>
              </p:cNvSpPr>
              <p:nvPr/>
            </p:nvSpPr>
            <p:spPr bwMode="auto">
              <a:xfrm>
                <a:off x="4780" y="965"/>
                <a:ext cx="1" cy="1999"/>
              </a:xfrm>
              <a:custGeom>
                <a:avLst/>
                <a:gdLst>
                  <a:gd name="T0" fmla="*/ 1 w 1"/>
                  <a:gd name="T1" fmla="*/ 0 h 1999"/>
                  <a:gd name="T2" fmla="*/ 0 w 1"/>
                  <a:gd name="T3" fmla="*/ 1999 h 1999"/>
                  <a:gd name="T4" fmla="*/ 0 60000 65536"/>
                  <a:gd name="T5" fmla="*/ 0 60000 65536"/>
                  <a:gd name="T6" fmla="*/ 0 w 1"/>
                  <a:gd name="T7" fmla="*/ 0 h 1999"/>
                  <a:gd name="T8" fmla="*/ 1 w 1"/>
                  <a:gd name="T9" fmla="*/ 1999 h 1999"/>
                </a:gdLst>
                <a:ahLst/>
                <a:cxnLst>
                  <a:cxn ang="T4">
                    <a:pos x="T0" y="T1"/>
                  </a:cxn>
                  <a:cxn ang="T5">
                    <a:pos x="T2" y="T3"/>
                  </a:cxn>
                </a:cxnLst>
                <a:rect l="T6" t="T7" r="T8" b="T9"/>
                <a:pathLst>
                  <a:path w="1" h="1999">
                    <a:moveTo>
                      <a:pt x="1"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5" name="Freeform 79"/>
              <p:cNvSpPr>
                <a:spLocks/>
              </p:cNvSpPr>
              <p:nvPr/>
            </p:nvSpPr>
            <p:spPr bwMode="auto">
              <a:xfrm>
                <a:off x="4959" y="966"/>
                <a:ext cx="2" cy="1997"/>
              </a:xfrm>
              <a:custGeom>
                <a:avLst/>
                <a:gdLst>
                  <a:gd name="T0" fmla="*/ 2 w 2"/>
                  <a:gd name="T1" fmla="*/ 0 h 1997"/>
                  <a:gd name="T2" fmla="*/ 0 w 2"/>
                  <a:gd name="T3" fmla="*/ 1997 h 1997"/>
                  <a:gd name="T4" fmla="*/ 0 60000 65536"/>
                  <a:gd name="T5" fmla="*/ 0 60000 65536"/>
                  <a:gd name="T6" fmla="*/ 0 w 2"/>
                  <a:gd name="T7" fmla="*/ 0 h 1997"/>
                  <a:gd name="T8" fmla="*/ 2 w 2"/>
                  <a:gd name="T9" fmla="*/ 1997 h 1997"/>
                </a:gdLst>
                <a:ahLst/>
                <a:cxnLst>
                  <a:cxn ang="T4">
                    <a:pos x="T0" y="T1"/>
                  </a:cxn>
                  <a:cxn ang="T5">
                    <a:pos x="T2" y="T3"/>
                  </a:cxn>
                </a:cxnLst>
                <a:rect l="T6" t="T7" r="T8" b="T9"/>
                <a:pathLst>
                  <a:path w="2" h="1997">
                    <a:moveTo>
                      <a:pt x="2"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6" name="Freeform 80"/>
              <p:cNvSpPr>
                <a:spLocks/>
              </p:cNvSpPr>
              <p:nvPr/>
            </p:nvSpPr>
            <p:spPr bwMode="auto">
              <a:xfrm>
                <a:off x="4988"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7" name="Freeform 81"/>
              <p:cNvSpPr>
                <a:spLocks/>
              </p:cNvSpPr>
              <p:nvPr/>
            </p:nvSpPr>
            <p:spPr bwMode="auto">
              <a:xfrm>
                <a:off x="5024"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8" name="Freeform 82"/>
              <p:cNvSpPr>
                <a:spLocks/>
              </p:cNvSpPr>
              <p:nvPr/>
            </p:nvSpPr>
            <p:spPr bwMode="auto">
              <a:xfrm>
                <a:off x="5063"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9" name="Freeform 83"/>
              <p:cNvSpPr>
                <a:spLocks/>
              </p:cNvSpPr>
              <p:nvPr/>
            </p:nvSpPr>
            <p:spPr bwMode="auto">
              <a:xfrm>
                <a:off x="5117" y="965"/>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30" name="Freeform 84"/>
              <p:cNvSpPr>
                <a:spLocks/>
              </p:cNvSpPr>
              <p:nvPr/>
            </p:nvSpPr>
            <p:spPr bwMode="auto">
              <a:xfrm>
                <a:off x="5170" y="962"/>
                <a:ext cx="1" cy="2000"/>
              </a:xfrm>
              <a:custGeom>
                <a:avLst/>
                <a:gdLst>
                  <a:gd name="T0" fmla="*/ 1 w 1"/>
                  <a:gd name="T1" fmla="*/ 0 h 2000"/>
                  <a:gd name="T2" fmla="*/ 0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1" y="0"/>
                    </a:moveTo>
                    <a:lnTo>
                      <a:pt x="0"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31" name="Freeform 85"/>
              <p:cNvSpPr>
                <a:spLocks/>
              </p:cNvSpPr>
              <p:nvPr/>
            </p:nvSpPr>
            <p:spPr bwMode="auto">
              <a:xfrm>
                <a:off x="5235" y="965"/>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32" name="Freeform 86"/>
              <p:cNvSpPr>
                <a:spLocks/>
              </p:cNvSpPr>
              <p:nvPr/>
            </p:nvSpPr>
            <p:spPr bwMode="auto">
              <a:xfrm>
                <a:off x="5306"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33" name="Freeform 87"/>
              <p:cNvSpPr>
                <a:spLocks/>
              </p:cNvSpPr>
              <p:nvPr/>
            </p:nvSpPr>
            <p:spPr bwMode="auto">
              <a:xfrm>
                <a:off x="5422" y="963"/>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34" name="Freeform 88"/>
              <p:cNvSpPr>
                <a:spLocks/>
              </p:cNvSpPr>
              <p:nvPr/>
            </p:nvSpPr>
            <p:spPr bwMode="auto">
              <a:xfrm>
                <a:off x="5613"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35" name="Line 89"/>
              <p:cNvSpPr>
                <a:spLocks noChangeShapeType="1"/>
              </p:cNvSpPr>
              <p:nvPr/>
            </p:nvSpPr>
            <p:spPr bwMode="auto">
              <a:xfrm>
                <a:off x="3028" y="963"/>
                <a:ext cx="258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6" name="Line 90"/>
              <p:cNvSpPr>
                <a:spLocks noChangeShapeType="1"/>
              </p:cNvSpPr>
              <p:nvPr/>
            </p:nvSpPr>
            <p:spPr bwMode="auto">
              <a:xfrm>
                <a:off x="3029" y="2964"/>
                <a:ext cx="258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7" name="Line 91"/>
              <p:cNvSpPr>
                <a:spLocks noChangeShapeType="1"/>
              </p:cNvSpPr>
              <p:nvPr/>
            </p:nvSpPr>
            <p:spPr bwMode="auto">
              <a:xfrm>
                <a:off x="3025" y="105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 name="Line 92"/>
              <p:cNvSpPr>
                <a:spLocks noChangeShapeType="1"/>
              </p:cNvSpPr>
              <p:nvPr/>
            </p:nvSpPr>
            <p:spPr bwMode="auto">
              <a:xfrm>
                <a:off x="3028" y="115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9" name="Line 93"/>
              <p:cNvSpPr>
                <a:spLocks noChangeShapeType="1"/>
              </p:cNvSpPr>
              <p:nvPr/>
            </p:nvSpPr>
            <p:spPr bwMode="auto">
              <a:xfrm>
                <a:off x="3027" y="1253"/>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0" name="Line 94"/>
              <p:cNvSpPr>
                <a:spLocks noChangeShapeType="1"/>
              </p:cNvSpPr>
              <p:nvPr/>
            </p:nvSpPr>
            <p:spPr bwMode="auto">
              <a:xfrm>
                <a:off x="3032" y="13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1" name="Line 95"/>
              <p:cNvSpPr>
                <a:spLocks noChangeShapeType="1"/>
              </p:cNvSpPr>
              <p:nvPr/>
            </p:nvSpPr>
            <p:spPr bwMode="auto">
              <a:xfrm>
                <a:off x="3028" y="145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2" name="Line 96"/>
              <p:cNvSpPr>
                <a:spLocks noChangeShapeType="1"/>
              </p:cNvSpPr>
              <p:nvPr/>
            </p:nvSpPr>
            <p:spPr bwMode="auto">
              <a:xfrm>
                <a:off x="3028" y="155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3" name="Line 97"/>
              <p:cNvSpPr>
                <a:spLocks noChangeShapeType="1"/>
              </p:cNvSpPr>
              <p:nvPr/>
            </p:nvSpPr>
            <p:spPr bwMode="auto">
              <a:xfrm>
                <a:off x="3025" y="1655"/>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4" name="Line 98"/>
              <p:cNvSpPr>
                <a:spLocks noChangeShapeType="1"/>
              </p:cNvSpPr>
              <p:nvPr/>
            </p:nvSpPr>
            <p:spPr bwMode="auto">
              <a:xfrm>
                <a:off x="3028" y="175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5" name="Line 99"/>
              <p:cNvSpPr>
                <a:spLocks noChangeShapeType="1"/>
              </p:cNvSpPr>
              <p:nvPr/>
            </p:nvSpPr>
            <p:spPr bwMode="auto">
              <a:xfrm>
                <a:off x="3025" y="18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6" name="Line 100"/>
              <p:cNvSpPr>
                <a:spLocks noChangeShapeType="1"/>
              </p:cNvSpPr>
              <p:nvPr/>
            </p:nvSpPr>
            <p:spPr bwMode="auto">
              <a:xfrm>
                <a:off x="3025" y="1964"/>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7" name="Line 101"/>
              <p:cNvSpPr>
                <a:spLocks noChangeShapeType="1"/>
              </p:cNvSpPr>
              <p:nvPr/>
            </p:nvSpPr>
            <p:spPr bwMode="auto">
              <a:xfrm>
                <a:off x="3025" y="20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8" name="Line 102"/>
              <p:cNvSpPr>
                <a:spLocks noChangeShapeType="1"/>
              </p:cNvSpPr>
              <p:nvPr/>
            </p:nvSpPr>
            <p:spPr bwMode="auto">
              <a:xfrm>
                <a:off x="3025" y="2157"/>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9" name="Line 103"/>
              <p:cNvSpPr>
                <a:spLocks noChangeShapeType="1"/>
              </p:cNvSpPr>
              <p:nvPr/>
            </p:nvSpPr>
            <p:spPr bwMode="auto">
              <a:xfrm>
                <a:off x="3025" y="22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0" name="Line 104"/>
              <p:cNvSpPr>
                <a:spLocks noChangeShapeType="1"/>
              </p:cNvSpPr>
              <p:nvPr/>
            </p:nvSpPr>
            <p:spPr bwMode="auto">
              <a:xfrm>
                <a:off x="3025" y="23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1" name="Line 105"/>
              <p:cNvSpPr>
                <a:spLocks noChangeShapeType="1"/>
              </p:cNvSpPr>
              <p:nvPr/>
            </p:nvSpPr>
            <p:spPr bwMode="auto">
              <a:xfrm>
                <a:off x="3026" y="246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2" name="Line 106"/>
              <p:cNvSpPr>
                <a:spLocks noChangeShapeType="1"/>
              </p:cNvSpPr>
              <p:nvPr/>
            </p:nvSpPr>
            <p:spPr bwMode="auto">
              <a:xfrm>
                <a:off x="3031" y="25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3" name="Line 107"/>
              <p:cNvSpPr>
                <a:spLocks noChangeShapeType="1"/>
              </p:cNvSpPr>
              <p:nvPr/>
            </p:nvSpPr>
            <p:spPr bwMode="auto">
              <a:xfrm>
                <a:off x="3025" y="26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4" name="Line 108"/>
              <p:cNvSpPr>
                <a:spLocks noChangeShapeType="1"/>
              </p:cNvSpPr>
              <p:nvPr/>
            </p:nvSpPr>
            <p:spPr bwMode="auto">
              <a:xfrm>
                <a:off x="3025" y="276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5" name="Line 109"/>
              <p:cNvSpPr>
                <a:spLocks noChangeShapeType="1"/>
              </p:cNvSpPr>
              <p:nvPr/>
            </p:nvSpPr>
            <p:spPr bwMode="auto">
              <a:xfrm>
                <a:off x="3025" y="286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sp>
          <p:nvSpPr>
            <p:cNvPr id="124" name="Freeform 110"/>
            <p:cNvSpPr>
              <a:spLocks/>
            </p:cNvSpPr>
            <p:nvPr/>
          </p:nvSpPr>
          <p:spPr bwMode="auto">
            <a:xfrm>
              <a:off x="4574014" y="1769984"/>
              <a:ext cx="3778250" cy="2916238"/>
            </a:xfrm>
            <a:custGeom>
              <a:avLst/>
              <a:gdLst>
                <a:gd name="T0" fmla="*/ 0 w 2380"/>
                <a:gd name="T1" fmla="*/ 0 h 1837"/>
                <a:gd name="T2" fmla="*/ 2147483647 w 2380"/>
                <a:gd name="T3" fmla="*/ 2147483647 h 1837"/>
                <a:gd name="T4" fmla="*/ 2147483647 w 2380"/>
                <a:gd name="T5" fmla="*/ 2147483647 h 1837"/>
                <a:gd name="T6" fmla="*/ 2147483647 w 2380"/>
                <a:gd name="T7" fmla="*/ 2147483647 h 1837"/>
                <a:gd name="T8" fmla="*/ 2147483647 w 2380"/>
                <a:gd name="T9" fmla="*/ 2147483647 h 1837"/>
                <a:gd name="T10" fmla="*/ 2147483647 w 2380"/>
                <a:gd name="T11" fmla="*/ 2147483647 h 1837"/>
                <a:gd name="T12" fmla="*/ 2147483647 w 2380"/>
                <a:gd name="T13" fmla="*/ 2147483647 h 1837"/>
                <a:gd name="T14" fmla="*/ 2147483647 w 2380"/>
                <a:gd name="T15" fmla="*/ 2147483647 h 1837"/>
                <a:gd name="T16" fmla="*/ 2147483647 w 2380"/>
                <a:gd name="T17" fmla="*/ 2147483647 h 1837"/>
                <a:gd name="T18" fmla="*/ 2147483647 w 2380"/>
                <a:gd name="T19" fmla="*/ 2147483647 h 1837"/>
                <a:gd name="T20" fmla="*/ 2147483647 w 2380"/>
                <a:gd name="T21" fmla="*/ 2147483647 h 1837"/>
                <a:gd name="T22" fmla="*/ 2147483647 w 2380"/>
                <a:gd name="T23" fmla="*/ 2147483647 h 1837"/>
                <a:gd name="T24" fmla="*/ 2147483647 w 2380"/>
                <a:gd name="T25" fmla="*/ 2147483647 h 1837"/>
                <a:gd name="T26" fmla="*/ 2147483647 w 2380"/>
                <a:gd name="T27" fmla="*/ 2147483647 h 1837"/>
                <a:gd name="T28" fmla="*/ 2147483647 w 2380"/>
                <a:gd name="T29" fmla="*/ 2147483647 h 1837"/>
                <a:gd name="T30" fmla="*/ 2147483647 w 2380"/>
                <a:gd name="T31" fmla="*/ 2147483647 h 1837"/>
                <a:gd name="T32" fmla="*/ 2147483647 w 2380"/>
                <a:gd name="T33" fmla="*/ 2147483647 h 1837"/>
                <a:gd name="T34" fmla="*/ 2147483647 w 2380"/>
                <a:gd name="T35" fmla="*/ 2147483647 h 1837"/>
                <a:gd name="T36" fmla="*/ 2147483647 w 2380"/>
                <a:gd name="T37" fmla="*/ 2147483647 h 1837"/>
                <a:gd name="T38" fmla="*/ 2147483647 w 2380"/>
                <a:gd name="T39" fmla="*/ 2147483647 h 1837"/>
                <a:gd name="T40" fmla="*/ 2147483647 w 2380"/>
                <a:gd name="T41" fmla="*/ 2147483647 h 1837"/>
                <a:gd name="T42" fmla="*/ 2147483647 w 2380"/>
                <a:gd name="T43" fmla="*/ 2147483647 h 1837"/>
                <a:gd name="T44" fmla="*/ 2147483647 w 2380"/>
                <a:gd name="T45" fmla="*/ 2147483647 h 1837"/>
                <a:gd name="T46" fmla="*/ 2147483647 w 2380"/>
                <a:gd name="T47" fmla="*/ 2147483647 h 1837"/>
                <a:gd name="T48" fmla="*/ 2147483647 w 2380"/>
                <a:gd name="T49" fmla="*/ 2147483647 h 1837"/>
                <a:gd name="T50" fmla="*/ 2147483647 w 2380"/>
                <a:gd name="T51" fmla="*/ 2147483647 h 183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380"/>
                <a:gd name="T79" fmla="*/ 0 h 1837"/>
                <a:gd name="T80" fmla="*/ 2380 w 2380"/>
                <a:gd name="T81" fmla="*/ 1837 h 1837"/>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1794 w 10000"/>
                <a:gd name="connsiteY4" fmla="*/ 1257 h 10000"/>
                <a:gd name="connsiteX5" fmla="*/ 2227 w 10000"/>
                <a:gd name="connsiteY5" fmla="*/ 1720 h 10000"/>
                <a:gd name="connsiteX6" fmla="*/ 2752 w 10000"/>
                <a:gd name="connsiteY6" fmla="*/ 2341 h 10000"/>
                <a:gd name="connsiteX7" fmla="*/ 3130 w 10000"/>
                <a:gd name="connsiteY7" fmla="*/ 2847 h 10000"/>
                <a:gd name="connsiteX8" fmla="*/ 3513 w 10000"/>
                <a:gd name="connsiteY8" fmla="*/ 3419 h 10000"/>
                <a:gd name="connsiteX9" fmla="*/ 3727 w 10000"/>
                <a:gd name="connsiteY9" fmla="*/ 3762 h 10000"/>
                <a:gd name="connsiteX10" fmla="*/ 4092 w 10000"/>
                <a:gd name="connsiteY10" fmla="*/ 4371 h 10000"/>
                <a:gd name="connsiteX11" fmla="*/ 4256 w 10000"/>
                <a:gd name="connsiteY11" fmla="*/ 4709 h 10000"/>
                <a:gd name="connsiteX12" fmla="*/ 4668 w 10000"/>
                <a:gd name="connsiteY12" fmla="*/ 5580 h 10000"/>
                <a:gd name="connsiteX13" fmla="*/ 5034 w 10000"/>
                <a:gd name="connsiteY13" fmla="*/ 6228 h 10000"/>
                <a:gd name="connsiteX14" fmla="*/ 5315 w 10000"/>
                <a:gd name="connsiteY14" fmla="*/ 6701 h 10000"/>
                <a:gd name="connsiteX15" fmla="*/ 5828 w 10000"/>
                <a:gd name="connsiteY15" fmla="*/ 7392 h 10000"/>
                <a:gd name="connsiteX16" fmla="*/ 6311 w 10000"/>
                <a:gd name="connsiteY16" fmla="*/ 7942 h 10000"/>
                <a:gd name="connsiteX17" fmla="*/ 6550 w 10000"/>
                <a:gd name="connsiteY17" fmla="*/ 8209 h 10000"/>
                <a:gd name="connsiteX18" fmla="*/ 6866 w 10000"/>
                <a:gd name="connsiteY18" fmla="*/ 8536 h 10000"/>
                <a:gd name="connsiteX19" fmla="*/ 7353 w 10000"/>
                <a:gd name="connsiteY19" fmla="*/ 8944 h 10000"/>
                <a:gd name="connsiteX20" fmla="*/ 7874 w 10000"/>
                <a:gd name="connsiteY20" fmla="*/ 9303 h 10000"/>
                <a:gd name="connsiteX21" fmla="*/ 8504 w 10000"/>
                <a:gd name="connsiteY21" fmla="*/ 9614 h 10000"/>
                <a:gd name="connsiteX22" fmla="*/ 9122 w 10000"/>
                <a:gd name="connsiteY22" fmla="*/ 9820 h 10000"/>
                <a:gd name="connsiteX23" fmla="*/ 9462 w 10000"/>
                <a:gd name="connsiteY23" fmla="*/ 9902 h 10000"/>
                <a:gd name="connsiteX24" fmla="*/ 10000 w 10000"/>
                <a:gd name="connsiteY24" fmla="*/ 10000 h 10000"/>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1794 w 10000"/>
                <a:gd name="connsiteY4" fmla="*/ 1257 h 10000"/>
                <a:gd name="connsiteX5" fmla="*/ 2227 w 10000"/>
                <a:gd name="connsiteY5" fmla="*/ 1720 h 10000"/>
                <a:gd name="connsiteX6" fmla="*/ 2752 w 10000"/>
                <a:gd name="connsiteY6" fmla="*/ 2341 h 10000"/>
                <a:gd name="connsiteX7" fmla="*/ 3130 w 10000"/>
                <a:gd name="connsiteY7" fmla="*/ 2847 h 10000"/>
                <a:gd name="connsiteX8" fmla="*/ 3513 w 10000"/>
                <a:gd name="connsiteY8" fmla="*/ 3419 h 10000"/>
                <a:gd name="connsiteX9" fmla="*/ 3727 w 10000"/>
                <a:gd name="connsiteY9" fmla="*/ 3762 h 10000"/>
                <a:gd name="connsiteX10" fmla="*/ 4092 w 10000"/>
                <a:gd name="connsiteY10" fmla="*/ 4371 h 10000"/>
                <a:gd name="connsiteX11" fmla="*/ 4375 w 10000"/>
                <a:gd name="connsiteY11" fmla="*/ 4921 h 10000"/>
                <a:gd name="connsiteX12" fmla="*/ 4668 w 10000"/>
                <a:gd name="connsiteY12" fmla="*/ 5580 h 10000"/>
                <a:gd name="connsiteX13" fmla="*/ 5034 w 10000"/>
                <a:gd name="connsiteY13" fmla="*/ 6228 h 10000"/>
                <a:gd name="connsiteX14" fmla="*/ 5315 w 10000"/>
                <a:gd name="connsiteY14" fmla="*/ 6701 h 10000"/>
                <a:gd name="connsiteX15" fmla="*/ 5828 w 10000"/>
                <a:gd name="connsiteY15" fmla="*/ 7392 h 10000"/>
                <a:gd name="connsiteX16" fmla="*/ 6311 w 10000"/>
                <a:gd name="connsiteY16" fmla="*/ 7942 h 10000"/>
                <a:gd name="connsiteX17" fmla="*/ 6550 w 10000"/>
                <a:gd name="connsiteY17" fmla="*/ 8209 h 10000"/>
                <a:gd name="connsiteX18" fmla="*/ 6866 w 10000"/>
                <a:gd name="connsiteY18" fmla="*/ 8536 h 10000"/>
                <a:gd name="connsiteX19" fmla="*/ 7353 w 10000"/>
                <a:gd name="connsiteY19" fmla="*/ 8944 h 10000"/>
                <a:gd name="connsiteX20" fmla="*/ 7874 w 10000"/>
                <a:gd name="connsiteY20" fmla="*/ 9303 h 10000"/>
                <a:gd name="connsiteX21" fmla="*/ 8504 w 10000"/>
                <a:gd name="connsiteY21" fmla="*/ 9614 h 10000"/>
                <a:gd name="connsiteX22" fmla="*/ 9122 w 10000"/>
                <a:gd name="connsiteY22" fmla="*/ 9820 h 10000"/>
                <a:gd name="connsiteX23" fmla="*/ 9462 w 10000"/>
                <a:gd name="connsiteY23" fmla="*/ 9902 h 10000"/>
                <a:gd name="connsiteX24" fmla="*/ 10000 w 10000"/>
                <a:gd name="connsiteY24" fmla="*/ 10000 h 10000"/>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1794 w 10000"/>
                <a:gd name="connsiteY4" fmla="*/ 1257 h 10000"/>
                <a:gd name="connsiteX5" fmla="*/ 2227 w 10000"/>
                <a:gd name="connsiteY5" fmla="*/ 1720 h 10000"/>
                <a:gd name="connsiteX6" fmla="*/ 2752 w 10000"/>
                <a:gd name="connsiteY6" fmla="*/ 2341 h 10000"/>
                <a:gd name="connsiteX7" fmla="*/ 3130 w 10000"/>
                <a:gd name="connsiteY7" fmla="*/ 2847 h 10000"/>
                <a:gd name="connsiteX8" fmla="*/ 3513 w 10000"/>
                <a:gd name="connsiteY8" fmla="*/ 3419 h 10000"/>
                <a:gd name="connsiteX9" fmla="*/ 3727 w 10000"/>
                <a:gd name="connsiteY9" fmla="*/ 3762 h 10000"/>
                <a:gd name="connsiteX10" fmla="*/ 4092 w 10000"/>
                <a:gd name="connsiteY10" fmla="*/ 4371 h 10000"/>
                <a:gd name="connsiteX11" fmla="*/ 4375 w 10000"/>
                <a:gd name="connsiteY11" fmla="*/ 4921 h 10000"/>
                <a:gd name="connsiteX12" fmla="*/ 4668 w 10000"/>
                <a:gd name="connsiteY12" fmla="*/ 5580 h 10000"/>
                <a:gd name="connsiteX13" fmla="*/ 5034 w 10000"/>
                <a:gd name="connsiteY13" fmla="*/ 6228 h 10000"/>
                <a:gd name="connsiteX14" fmla="*/ 5315 w 10000"/>
                <a:gd name="connsiteY14" fmla="*/ 6701 h 10000"/>
                <a:gd name="connsiteX15" fmla="*/ 5828 w 10000"/>
                <a:gd name="connsiteY15" fmla="*/ 7392 h 10000"/>
                <a:gd name="connsiteX16" fmla="*/ 6311 w 10000"/>
                <a:gd name="connsiteY16" fmla="*/ 7942 h 10000"/>
                <a:gd name="connsiteX17" fmla="*/ 6550 w 10000"/>
                <a:gd name="connsiteY17" fmla="*/ 8209 h 10000"/>
                <a:gd name="connsiteX18" fmla="*/ 6866 w 10000"/>
                <a:gd name="connsiteY18" fmla="*/ 8536 h 10000"/>
                <a:gd name="connsiteX19" fmla="*/ 7353 w 10000"/>
                <a:gd name="connsiteY19" fmla="*/ 8944 h 10000"/>
                <a:gd name="connsiteX20" fmla="*/ 7874 w 10000"/>
                <a:gd name="connsiteY20" fmla="*/ 9303 h 10000"/>
                <a:gd name="connsiteX21" fmla="*/ 8504 w 10000"/>
                <a:gd name="connsiteY21" fmla="*/ 9614 h 10000"/>
                <a:gd name="connsiteX22" fmla="*/ 9122 w 10000"/>
                <a:gd name="connsiteY22" fmla="*/ 9820 h 10000"/>
                <a:gd name="connsiteX23" fmla="*/ 9462 w 10000"/>
                <a:gd name="connsiteY23" fmla="*/ 9902 h 10000"/>
                <a:gd name="connsiteX24" fmla="*/ 10000 w 10000"/>
                <a:gd name="connsiteY24" fmla="*/ 10000 h 10000"/>
                <a:gd name="connsiteX0" fmla="*/ 0 w 10000"/>
                <a:gd name="connsiteY0" fmla="*/ 0 h 10000"/>
                <a:gd name="connsiteX1" fmla="*/ 870 w 10000"/>
                <a:gd name="connsiteY1" fmla="*/ 501 h 10000"/>
                <a:gd name="connsiteX2" fmla="*/ 1239 w 10000"/>
                <a:gd name="connsiteY2" fmla="*/ 768 h 10000"/>
                <a:gd name="connsiteX3" fmla="*/ 1580 w 10000"/>
                <a:gd name="connsiteY3" fmla="*/ 1062 h 10000"/>
                <a:gd name="connsiteX4" fmla="*/ 2227 w 10000"/>
                <a:gd name="connsiteY4" fmla="*/ 1720 h 10000"/>
                <a:gd name="connsiteX5" fmla="*/ 2752 w 10000"/>
                <a:gd name="connsiteY5" fmla="*/ 2341 h 10000"/>
                <a:gd name="connsiteX6" fmla="*/ 3130 w 10000"/>
                <a:gd name="connsiteY6" fmla="*/ 2847 h 10000"/>
                <a:gd name="connsiteX7" fmla="*/ 3513 w 10000"/>
                <a:gd name="connsiteY7" fmla="*/ 3419 h 10000"/>
                <a:gd name="connsiteX8" fmla="*/ 3727 w 10000"/>
                <a:gd name="connsiteY8" fmla="*/ 3762 h 10000"/>
                <a:gd name="connsiteX9" fmla="*/ 4092 w 10000"/>
                <a:gd name="connsiteY9" fmla="*/ 4371 h 10000"/>
                <a:gd name="connsiteX10" fmla="*/ 4375 w 10000"/>
                <a:gd name="connsiteY10" fmla="*/ 4921 h 10000"/>
                <a:gd name="connsiteX11" fmla="*/ 4668 w 10000"/>
                <a:gd name="connsiteY11" fmla="*/ 5580 h 10000"/>
                <a:gd name="connsiteX12" fmla="*/ 5034 w 10000"/>
                <a:gd name="connsiteY12" fmla="*/ 6228 h 10000"/>
                <a:gd name="connsiteX13" fmla="*/ 5315 w 10000"/>
                <a:gd name="connsiteY13" fmla="*/ 6701 h 10000"/>
                <a:gd name="connsiteX14" fmla="*/ 5828 w 10000"/>
                <a:gd name="connsiteY14" fmla="*/ 7392 h 10000"/>
                <a:gd name="connsiteX15" fmla="*/ 6311 w 10000"/>
                <a:gd name="connsiteY15" fmla="*/ 7942 h 10000"/>
                <a:gd name="connsiteX16" fmla="*/ 6550 w 10000"/>
                <a:gd name="connsiteY16" fmla="*/ 8209 h 10000"/>
                <a:gd name="connsiteX17" fmla="*/ 6866 w 10000"/>
                <a:gd name="connsiteY17" fmla="*/ 8536 h 10000"/>
                <a:gd name="connsiteX18" fmla="*/ 7353 w 10000"/>
                <a:gd name="connsiteY18" fmla="*/ 8944 h 10000"/>
                <a:gd name="connsiteX19" fmla="*/ 7874 w 10000"/>
                <a:gd name="connsiteY19" fmla="*/ 9303 h 10000"/>
                <a:gd name="connsiteX20" fmla="*/ 8504 w 10000"/>
                <a:gd name="connsiteY20" fmla="*/ 9614 h 10000"/>
                <a:gd name="connsiteX21" fmla="*/ 9122 w 10000"/>
                <a:gd name="connsiteY21" fmla="*/ 9820 h 10000"/>
                <a:gd name="connsiteX22" fmla="*/ 9462 w 10000"/>
                <a:gd name="connsiteY22" fmla="*/ 9902 h 10000"/>
                <a:gd name="connsiteX23" fmla="*/ 10000 w 10000"/>
                <a:gd name="connsiteY23"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668 w 10000"/>
                <a:gd name="connsiteY10" fmla="*/ 5580 h 10000"/>
                <a:gd name="connsiteX11" fmla="*/ 5034 w 10000"/>
                <a:gd name="connsiteY11" fmla="*/ 6228 h 10000"/>
                <a:gd name="connsiteX12" fmla="*/ 5315 w 10000"/>
                <a:gd name="connsiteY12" fmla="*/ 6701 h 10000"/>
                <a:gd name="connsiteX13" fmla="*/ 5828 w 10000"/>
                <a:gd name="connsiteY13" fmla="*/ 7392 h 10000"/>
                <a:gd name="connsiteX14" fmla="*/ 6311 w 10000"/>
                <a:gd name="connsiteY14" fmla="*/ 7942 h 10000"/>
                <a:gd name="connsiteX15" fmla="*/ 6550 w 10000"/>
                <a:gd name="connsiteY15" fmla="*/ 8209 h 10000"/>
                <a:gd name="connsiteX16" fmla="*/ 6866 w 10000"/>
                <a:gd name="connsiteY16" fmla="*/ 8536 h 10000"/>
                <a:gd name="connsiteX17" fmla="*/ 7353 w 10000"/>
                <a:gd name="connsiteY17" fmla="*/ 8944 h 10000"/>
                <a:gd name="connsiteX18" fmla="*/ 7874 w 10000"/>
                <a:gd name="connsiteY18" fmla="*/ 9303 h 10000"/>
                <a:gd name="connsiteX19" fmla="*/ 8504 w 10000"/>
                <a:gd name="connsiteY19" fmla="*/ 9614 h 10000"/>
                <a:gd name="connsiteX20" fmla="*/ 9122 w 10000"/>
                <a:gd name="connsiteY20" fmla="*/ 9820 h 10000"/>
                <a:gd name="connsiteX21" fmla="*/ 9462 w 10000"/>
                <a:gd name="connsiteY21" fmla="*/ 9902 h 10000"/>
                <a:gd name="connsiteX22" fmla="*/ 10000 w 10000"/>
                <a:gd name="connsiteY22"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668 w 10000"/>
                <a:gd name="connsiteY10" fmla="*/ 5580 h 10000"/>
                <a:gd name="connsiteX11" fmla="*/ 5034 w 10000"/>
                <a:gd name="connsiteY11" fmla="*/ 6228 h 10000"/>
                <a:gd name="connsiteX12" fmla="*/ 5315 w 10000"/>
                <a:gd name="connsiteY12" fmla="*/ 6701 h 10000"/>
                <a:gd name="connsiteX13" fmla="*/ 5828 w 10000"/>
                <a:gd name="connsiteY13" fmla="*/ 7392 h 10000"/>
                <a:gd name="connsiteX14" fmla="*/ 6311 w 10000"/>
                <a:gd name="connsiteY14" fmla="*/ 7942 h 10000"/>
                <a:gd name="connsiteX15" fmla="*/ 6866 w 10000"/>
                <a:gd name="connsiteY15" fmla="*/ 8536 h 10000"/>
                <a:gd name="connsiteX16" fmla="*/ 7353 w 10000"/>
                <a:gd name="connsiteY16" fmla="*/ 8944 h 10000"/>
                <a:gd name="connsiteX17" fmla="*/ 7874 w 10000"/>
                <a:gd name="connsiteY17" fmla="*/ 9303 h 10000"/>
                <a:gd name="connsiteX18" fmla="*/ 8504 w 10000"/>
                <a:gd name="connsiteY18" fmla="*/ 9614 h 10000"/>
                <a:gd name="connsiteX19" fmla="*/ 9122 w 10000"/>
                <a:gd name="connsiteY19" fmla="*/ 9820 h 10000"/>
                <a:gd name="connsiteX20" fmla="*/ 9462 w 10000"/>
                <a:gd name="connsiteY20" fmla="*/ 9902 h 10000"/>
                <a:gd name="connsiteX21" fmla="*/ 10000 w 10000"/>
                <a:gd name="connsiteY21"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727 w 10000"/>
                <a:gd name="connsiteY10" fmla="*/ 5618 h 10000"/>
                <a:gd name="connsiteX11" fmla="*/ 5034 w 10000"/>
                <a:gd name="connsiteY11" fmla="*/ 6228 h 10000"/>
                <a:gd name="connsiteX12" fmla="*/ 5315 w 10000"/>
                <a:gd name="connsiteY12" fmla="*/ 6701 h 10000"/>
                <a:gd name="connsiteX13" fmla="*/ 5828 w 10000"/>
                <a:gd name="connsiteY13" fmla="*/ 7392 h 10000"/>
                <a:gd name="connsiteX14" fmla="*/ 6311 w 10000"/>
                <a:gd name="connsiteY14" fmla="*/ 7942 h 10000"/>
                <a:gd name="connsiteX15" fmla="*/ 6866 w 10000"/>
                <a:gd name="connsiteY15" fmla="*/ 8536 h 10000"/>
                <a:gd name="connsiteX16" fmla="*/ 7353 w 10000"/>
                <a:gd name="connsiteY16" fmla="*/ 8944 h 10000"/>
                <a:gd name="connsiteX17" fmla="*/ 7874 w 10000"/>
                <a:gd name="connsiteY17" fmla="*/ 9303 h 10000"/>
                <a:gd name="connsiteX18" fmla="*/ 8504 w 10000"/>
                <a:gd name="connsiteY18" fmla="*/ 9614 h 10000"/>
                <a:gd name="connsiteX19" fmla="*/ 9122 w 10000"/>
                <a:gd name="connsiteY19" fmla="*/ 9820 h 10000"/>
                <a:gd name="connsiteX20" fmla="*/ 9462 w 10000"/>
                <a:gd name="connsiteY20" fmla="*/ 9902 h 10000"/>
                <a:gd name="connsiteX21" fmla="*/ 10000 w 10000"/>
                <a:gd name="connsiteY21"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727 w 10000"/>
                <a:gd name="connsiteY10" fmla="*/ 5618 h 10000"/>
                <a:gd name="connsiteX11" fmla="*/ 5034 w 10000"/>
                <a:gd name="connsiteY11" fmla="*/ 6228 h 10000"/>
                <a:gd name="connsiteX12" fmla="*/ 5315 w 10000"/>
                <a:gd name="connsiteY12" fmla="*/ 6701 h 10000"/>
                <a:gd name="connsiteX13" fmla="*/ 5828 w 10000"/>
                <a:gd name="connsiteY13" fmla="*/ 7392 h 10000"/>
                <a:gd name="connsiteX14" fmla="*/ 6281 w 10000"/>
                <a:gd name="connsiteY14" fmla="*/ 8000 h 10000"/>
                <a:gd name="connsiteX15" fmla="*/ 6866 w 10000"/>
                <a:gd name="connsiteY15" fmla="*/ 8536 h 10000"/>
                <a:gd name="connsiteX16" fmla="*/ 7353 w 10000"/>
                <a:gd name="connsiteY16" fmla="*/ 8944 h 10000"/>
                <a:gd name="connsiteX17" fmla="*/ 7874 w 10000"/>
                <a:gd name="connsiteY17" fmla="*/ 9303 h 10000"/>
                <a:gd name="connsiteX18" fmla="*/ 8504 w 10000"/>
                <a:gd name="connsiteY18" fmla="*/ 9614 h 10000"/>
                <a:gd name="connsiteX19" fmla="*/ 9122 w 10000"/>
                <a:gd name="connsiteY19" fmla="*/ 9820 h 10000"/>
                <a:gd name="connsiteX20" fmla="*/ 9462 w 10000"/>
                <a:gd name="connsiteY20" fmla="*/ 9902 h 10000"/>
                <a:gd name="connsiteX21" fmla="*/ 10000 w 10000"/>
                <a:gd name="connsiteY21"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513 w 10000"/>
                <a:gd name="connsiteY6" fmla="*/ 3419 h 10000"/>
                <a:gd name="connsiteX7" fmla="*/ 3727 w 10000"/>
                <a:gd name="connsiteY7" fmla="*/ 3762 h 10000"/>
                <a:gd name="connsiteX8" fmla="*/ 4092 w 10000"/>
                <a:gd name="connsiteY8" fmla="*/ 4371 h 10000"/>
                <a:gd name="connsiteX9" fmla="*/ 4375 w 10000"/>
                <a:gd name="connsiteY9" fmla="*/ 4921 h 10000"/>
                <a:gd name="connsiteX10" fmla="*/ 4727 w 10000"/>
                <a:gd name="connsiteY10" fmla="*/ 5618 h 10000"/>
                <a:gd name="connsiteX11" fmla="*/ 5315 w 10000"/>
                <a:gd name="connsiteY11" fmla="*/ 6701 h 10000"/>
                <a:gd name="connsiteX12" fmla="*/ 5828 w 10000"/>
                <a:gd name="connsiteY12" fmla="*/ 7392 h 10000"/>
                <a:gd name="connsiteX13" fmla="*/ 6281 w 10000"/>
                <a:gd name="connsiteY13" fmla="*/ 8000 h 10000"/>
                <a:gd name="connsiteX14" fmla="*/ 6866 w 10000"/>
                <a:gd name="connsiteY14" fmla="*/ 8536 h 10000"/>
                <a:gd name="connsiteX15" fmla="*/ 7353 w 10000"/>
                <a:gd name="connsiteY15" fmla="*/ 8944 h 10000"/>
                <a:gd name="connsiteX16" fmla="*/ 7874 w 10000"/>
                <a:gd name="connsiteY16" fmla="*/ 9303 h 10000"/>
                <a:gd name="connsiteX17" fmla="*/ 8504 w 10000"/>
                <a:gd name="connsiteY17" fmla="*/ 9614 h 10000"/>
                <a:gd name="connsiteX18" fmla="*/ 9122 w 10000"/>
                <a:gd name="connsiteY18" fmla="*/ 9820 h 10000"/>
                <a:gd name="connsiteX19" fmla="*/ 9462 w 10000"/>
                <a:gd name="connsiteY19" fmla="*/ 9902 h 10000"/>
                <a:gd name="connsiteX20" fmla="*/ 10000 w 10000"/>
                <a:gd name="connsiteY20"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15 w 10000"/>
                <a:gd name="connsiteY10" fmla="*/ 6701 h 10000"/>
                <a:gd name="connsiteX11" fmla="*/ 5828 w 10000"/>
                <a:gd name="connsiteY11" fmla="*/ 7392 h 10000"/>
                <a:gd name="connsiteX12" fmla="*/ 6281 w 10000"/>
                <a:gd name="connsiteY12" fmla="*/ 8000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9462 w 10000"/>
                <a:gd name="connsiteY18" fmla="*/ 9902 h 10000"/>
                <a:gd name="connsiteX19" fmla="*/ 10000 w 10000"/>
                <a:gd name="connsiteY19"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15 w 10000"/>
                <a:gd name="connsiteY10" fmla="*/ 6701 h 10000"/>
                <a:gd name="connsiteX11" fmla="*/ 5828 w 10000"/>
                <a:gd name="connsiteY11" fmla="*/ 7392 h 10000"/>
                <a:gd name="connsiteX12" fmla="*/ 6281 w 10000"/>
                <a:gd name="connsiteY12" fmla="*/ 8000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15 w 10000"/>
                <a:gd name="connsiteY10" fmla="*/ 6701 h 10000"/>
                <a:gd name="connsiteX11" fmla="*/ 5828 w 10000"/>
                <a:gd name="connsiteY11" fmla="*/ 7392 h 10000"/>
                <a:gd name="connsiteX12" fmla="*/ 6326 w 10000"/>
                <a:gd name="connsiteY12" fmla="*/ 7962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30 w 10000"/>
                <a:gd name="connsiteY10" fmla="*/ 6643 h 10000"/>
                <a:gd name="connsiteX11" fmla="*/ 5828 w 10000"/>
                <a:gd name="connsiteY11" fmla="*/ 7392 h 10000"/>
                <a:gd name="connsiteX12" fmla="*/ 6326 w 10000"/>
                <a:gd name="connsiteY12" fmla="*/ 7962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092 w 10000"/>
                <a:gd name="connsiteY7" fmla="*/ 4371 h 10000"/>
                <a:gd name="connsiteX8" fmla="*/ 4375 w 10000"/>
                <a:gd name="connsiteY8" fmla="*/ 4921 h 10000"/>
                <a:gd name="connsiteX9" fmla="*/ 4727 w 10000"/>
                <a:gd name="connsiteY9" fmla="*/ 5618 h 10000"/>
                <a:gd name="connsiteX10" fmla="*/ 5330 w 10000"/>
                <a:gd name="connsiteY10" fmla="*/ 6643 h 10000"/>
                <a:gd name="connsiteX11" fmla="*/ 5828 w 10000"/>
                <a:gd name="connsiteY11" fmla="*/ 7392 h 10000"/>
                <a:gd name="connsiteX12" fmla="*/ 6311 w 10000"/>
                <a:gd name="connsiteY12" fmla="*/ 8000 h 10000"/>
                <a:gd name="connsiteX13" fmla="*/ 6866 w 10000"/>
                <a:gd name="connsiteY13" fmla="*/ 8536 h 10000"/>
                <a:gd name="connsiteX14" fmla="*/ 7353 w 10000"/>
                <a:gd name="connsiteY14" fmla="*/ 8944 h 10000"/>
                <a:gd name="connsiteX15" fmla="*/ 7874 w 10000"/>
                <a:gd name="connsiteY15" fmla="*/ 9303 h 10000"/>
                <a:gd name="connsiteX16" fmla="*/ 8504 w 10000"/>
                <a:gd name="connsiteY16" fmla="*/ 9614 h 10000"/>
                <a:gd name="connsiteX17" fmla="*/ 9122 w 10000"/>
                <a:gd name="connsiteY17" fmla="*/ 9820 h 10000"/>
                <a:gd name="connsiteX18" fmla="*/ 10000 w 10000"/>
                <a:gd name="connsiteY18"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375 w 10000"/>
                <a:gd name="connsiteY7" fmla="*/ 4921 h 10000"/>
                <a:gd name="connsiteX8" fmla="*/ 4727 w 10000"/>
                <a:gd name="connsiteY8" fmla="*/ 5618 h 10000"/>
                <a:gd name="connsiteX9" fmla="*/ 5330 w 10000"/>
                <a:gd name="connsiteY9" fmla="*/ 6643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27 w 10000"/>
                <a:gd name="connsiteY8" fmla="*/ 5618 h 10000"/>
                <a:gd name="connsiteX9" fmla="*/ 5330 w 10000"/>
                <a:gd name="connsiteY9" fmla="*/ 6643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86 w 10000"/>
                <a:gd name="connsiteY8" fmla="*/ 5676 h 10000"/>
                <a:gd name="connsiteX9" fmla="*/ 5330 w 10000"/>
                <a:gd name="connsiteY9" fmla="*/ 6643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86 w 10000"/>
                <a:gd name="connsiteY8" fmla="*/ 5676 h 10000"/>
                <a:gd name="connsiteX9" fmla="*/ 5330 w 10000"/>
                <a:gd name="connsiteY9" fmla="*/ 6701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 name="connsiteX0" fmla="*/ 0 w 10000"/>
                <a:gd name="connsiteY0" fmla="*/ 0 h 10000"/>
                <a:gd name="connsiteX1" fmla="*/ 870 w 10000"/>
                <a:gd name="connsiteY1" fmla="*/ 501 h 10000"/>
                <a:gd name="connsiteX2" fmla="*/ 1580 w 10000"/>
                <a:gd name="connsiteY2" fmla="*/ 1062 h 10000"/>
                <a:gd name="connsiteX3" fmla="*/ 2227 w 10000"/>
                <a:gd name="connsiteY3" fmla="*/ 1720 h 10000"/>
                <a:gd name="connsiteX4" fmla="*/ 2752 w 10000"/>
                <a:gd name="connsiteY4" fmla="*/ 2341 h 10000"/>
                <a:gd name="connsiteX5" fmla="*/ 3130 w 10000"/>
                <a:gd name="connsiteY5" fmla="*/ 2847 h 10000"/>
                <a:gd name="connsiteX6" fmla="*/ 3727 w 10000"/>
                <a:gd name="connsiteY6" fmla="*/ 3762 h 10000"/>
                <a:gd name="connsiteX7" fmla="*/ 4197 w 10000"/>
                <a:gd name="connsiteY7" fmla="*/ 4632 h 10000"/>
                <a:gd name="connsiteX8" fmla="*/ 4741 w 10000"/>
                <a:gd name="connsiteY8" fmla="*/ 5714 h 10000"/>
                <a:gd name="connsiteX9" fmla="*/ 5330 w 10000"/>
                <a:gd name="connsiteY9" fmla="*/ 6701 h 10000"/>
                <a:gd name="connsiteX10" fmla="*/ 5828 w 10000"/>
                <a:gd name="connsiteY10" fmla="*/ 7392 h 10000"/>
                <a:gd name="connsiteX11" fmla="*/ 6311 w 10000"/>
                <a:gd name="connsiteY11" fmla="*/ 8000 h 10000"/>
                <a:gd name="connsiteX12" fmla="*/ 6866 w 10000"/>
                <a:gd name="connsiteY12" fmla="*/ 8536 h 10000"/>
                <a:gd name="connsiteX13" fmla="*/ 7353 w 10000"/>
                <a:gd name="connsiteY13" fmla="*/ 8944 h 10000"/>
                <a:gd name="connsiteX14" fmla="*/ 7874 w 10000"/>
                <a:gd name="connsiteY14" fmla="*/ 9303 h 10000"/>
                <a:gd name="connsiteX15" fmla="*/ 8504 w 10000"/>
                <a:gd name="connsiteY15" fmla="*/ 9614 h 10000"/>
                <a:gd name="connsiteX16" fmla="*/ 9122 w 10000"/>
                <a:gd name="connsiteY16" fmla="*/ 9820 h 10000"/>
                <a:gd name="connsiteX17" fmla="*/ 10000 w 10000"/>
                <a:gd name="connsiteY17"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000" h="10000">
                  <a:moveTo>
                    <a:pt x="0" y="0"/>
                  </a:moveTo>
                  <a:lnTo>
                    <a:pt x="870" y="501"/>
                  </a:lnTo>
                  <a:cubicBezTo>
                    <a:pt x="1133" y="678"/>
                    <a:pt x="1354" y="859"/>
                    <a:pt x="1580" y="1062"/>
                  </a:cubicBezTo>
                  <a:cubicBezTo>
                    <a:pt x="1806" y="1265"/>
                    <a:pt x="2032" y="1507"/>
                    <a:pt x="2227" y="1720"/>
                  </a:cubicBezTo>
                  <a:cubicBezTo>
                    <a:pt x="2422" y="1933"/>
                    <a:pt x="2601" y="2156"/>
                    <a:pt x="2752" y="2341"/>
                  </a:cubicBezTo>
                  <a:cubicBezTo>
                    <a:pt x="2903" y="2526"/>
                    <a:pt x="2968" y="2610"/>
                    <a:pt x="3130" y="2847"/>
                  </a:cubicBezTo>
                  <a:cubicBezTo>
                    <a:pt x="3293" y="3084"/>
                    <a:pt x="3549" y="3465"/>
                    <a:pt x="3727" y="3762"/>
                  </a:cubicBezTo>
                  <a:cubicBezTo>
                    <a:pt x="3905" y="4059"/>
                    <a:pt x="4028" y="4307"/>
                    <a:pt x="4197" y="4632"/>
                  </a:cubicBezTo>
                  <a:cubicBezTo>
                    <a:pt x="4366" y="4957"/>
                    <a:pt x="4552" y="5369"/>
                    <a:pt x="4741" y="5714"/>
                  </a:cubicBezTo>
                  <a:cubicBezTo>
                    <a:pt x="4930" y="6059"/>
                    <a:pt x="5149" y="6421"/>
                    <a:pt x="5330" y="6701"/>
                  </a:cubicBezTo>
                  <a:cubicBezTo>
                    <a:pt x="5511" y="6981"/>
                    <a:pt x="5664" y="7175"/>
                    <a:pt x="5828" y="7392"/>
                  </a:cubicBezTo>
                  <a:cubicBezTo>
                    <a:pt x="5992" y="7609"/>
                    <a:pt x="6138" y="7809"/>
                    <a:pt x="6311" y="8000"/>
                  </a:cubicBezTo>
                  <a:cubicBezTo>
                    <a:pt x="6484" y="8191"/>
                    <a:pt x="6692" y="8379"/>
                    <a:pt x="6866" y="8536"/>
                  </a:cubicBezTo>
                  <a:cubicBezTo>
                    <a:pt x="7040" y="8693"/>
                    <a:pt x="7185" y="8819"/>
                    <a:pt x="7353" y="8944"/>
                  </a:cubicBezTo>
                  <a:cubicBezTo>
                    <a:pt x="7521" y="9069"/>
                    <a:pt x="7681" y="9194"/>
                    <a:pt x="7874" y="9303"/>
                  </a:cubicBezTo>
                  <a:cubicBezTo>
                    <a:pt x="8067" y="9412"/>
                    <a:pt x="8298" y="9526"/>
                    <a:pt x="8504" y="9614"/>
                  </a:cubicBezTo>
                  <a:cubicBezTo>
                    <a:pt x="8710" y="9701"/>
                    <a:pt x="8873" y="9756"/>
                    <a:pt x="9122" y="9820"/>
                  </a:cubicBezTo>
                  <a:cubicBezTo>
                    <a:pt x="9371" y="9884"/>
                    <a:pt x="9817" y="9963"/>
                    <a:pt x="10000" y="10000"/>
                  </a:cubicBezTo>
                </a:path>
              </a:pathLst>
            </a:custGeom>
            <a:noFill/>
            <a:ln w="28575">
              <a:solidFill>
                <a:srgbClr val="A5002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nvGrpSpPr>
            <p:cNvPr id="125" name="Group 111"/>
            <p:cNvGrpSpPr>
              <a:grpSpLocks/>
            </p:cNvGrpSpPr>
            <p:nvPr/>
          </p:nvGrpSpPr>
          <p:grpSpPr bwMode="auto">
            <a:xfrm>
              <a:off x="4012048" y="1593772"/>
              <a:ext cx="415926" cy="3467100"/>
              <a:chOff x="2408" y="648"/>
              <a:chExt cx="262" cy="2184"/>
            </a:xfrm>
          </p:grpSpPr>
          <p:sp>
            <p:nvSpPr>
              <p:cNvPr id="187" name="Text Box 112"/>
              <p:cNvSpPr txBox="1">
                <a:spLocks noChangeArrowheads="1"/>
              </p:cNvSpPr>
              <p:nvPr/>
            </p:nvSpPr>
            <p:spPr bwMode="auto">
              <a:xfrm>
                <a:off x="2408" y="648"/>
                <a:ext cx="24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100</a:t>
                </a:r>
              </a:p>
            </p:txBody>
          </p:sp>
          <p:sp>
            <p:nvSpPr>
              <p:cNvPr id="188" name="Text Box 113"/>
              <p:cNvSpPr txBox="1">
                <a:spLocks noChangeArrowheads="1"/>
              </p:cNvSpPr>
              <p:nvPr/>
            </p:nvSpPr>
            <p:spPr bwMode="auto">
              <a:xfrm>
                <a:off x="2483" y="854"/>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90</a:t>
                </a:r>
              </a:p>
            </p:txBody>
          </p:sp>
          <p:sp>
            <p:nvSpPr>
              <p:cNvPr id="189" name="Text Box 114"/>
              <p:cNvSpPr txBox="1">
                <a:spLocks noChangeArrowheads="1"/>
              </p:cNvSpPr>
              <p:nvPr/>
            </p:nvSpPr>
            <p:spPr bwMode="auto">
              <a:xfrm>
                <a:off x="2481" y="1061"/>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80</a:t>
                </a:r>
              </a:p>
            </p:txBody>
          </p:sp>
          <p:sp>
            <p:nvSpPr>
              <p:cNvPr id="190" name="Text Box 115"/>
              <p:cNvSpPr txBox="1">
                <a:spLocks noChangeArrowheads="1"/>
              </p:cNvSpPr>
              <p:nvPr/>
            </p:nvSpPr>
            <p:spPr bwMode="auto">
              <a:xfrm>
                <a:off x="2483" y="1247"/>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70</a:t>
                </a:r>
              </a:p>
            </p:txBody>
          </p:sp>
          <p:sp>
            <p:nvSpPr>
              <p:cNvPr id="191" name="Text Box 116"/>
              <p:cNvSpPr txBox="1">
                <a:spLocks noChangeArrowheads="1"/>
              </p:cNvSpPr>
              <p:nvPr/>
            </p:nvSpPr>
            <p:spPr bwMode="auto">
              <a:xfrm>
                <a:off x="2492" y="1450"/>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60</a:t>
                </a:r>
              </a:p>
            </p:txBody>
          </p:sp>
          <p:sp>
            <p:nvSpPr>
              <p:cNvPr id="192" name="Text Box 117"/>
              <p:cNvSpPr txBox="1">
                <a:spLocks noChangeArrowheads="1"/>
              </p:cNvSpPr>
              <p:nvPr/>
            </p:nvSpPr>
            <p:spPr bwMode="auto">
              <a:xfrm>
                <a:off x="2493" y="1661"/>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50</a:t>
                </a:r>
              </a:p>
            </p:txBody>
          </p:sp>
          <p:sp>
            <p:nvSpPr>
              <p:cNvPr id="193" name="Text Box 118"/>
              <p:cNvSpPr txBox="1">
                <a:spLocks noChangeArrowheads="1"/>
              </p:cNvSpPr>
              <p:nvPr/>
            </p:nvSpPr>
            <p:spPr bwMode="auto">
              <a:xfrm>
                <a:off x="2496" y="1855"/>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40</a:t>
                </a:r>
              </a:p>
            </p:txBody>
          </p:sp>
          <p:sp>
            <p:nvSpPr>
              <p:cNvPr id="194" name="Text Box 119"/>
              <p:cNvSpPr txBox="1">
                <a:spLocks noChangeArrowheads="1"/>
              </p:cNvSpPr>
              <p:nvPr/>
            </p:nvSpPr>
            <p:spPr bwMode="auto">
              <a:xfrm>
                <a:off x="2498" y="2057"/>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30</a:t>
                </a:r>
              </a:p>
            </p:txBody>
          </p:sp>
          <p:sp>
            <p:nvSpPr>
              <p:cNvPr id="195" name="Text Box 120"/>
              <p:cNvSpPr txBox="1">
                <a:spLocks noChangeArrowheads="1"/>
              </p:cNvSpPr>
              <p:nvPr/>
            </p:nvSpPr>
            <p:spPr bwMode="auto">
              <a:xfrm>
                <a:off x="2501" y="2260"/>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20</a:t>
                </a:r>
              </a:p>
            </p:txBody>
          </p:sp>
          <p:sp>
            <p:nvSpPr>
              <p:cNvPr id="196" name="Text Box 121"/>
              <p:cNvSpPr txBox="1">
                <a:spLocks noChangeArrowheads="1"/>
              </p:cNvSpPr>
              <p:nvPr/>
            </p:nvSpPr>
            <p:spPr bwMode="auto">
              <a:xfrm>
                <a:off x="2508" y="2463"/>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a:t>
                </a:r>
              </a:p>
            </p:txBody>
          </p:sp>
          <p:sp>
            <p:nvSpPr>
              <p:cNvPr id="197" name="Text Box 122"/>
              <p:cNvSpPr txBox="1">
                <a:spLocks noChangeArrowheads="1"/>
              </p:cNvSpPr>
              <p:nvPr/>
            </p:nvSpPr>
            <p:spPr bwMode="auto">
              <a:xfrm>
                <a:off x="2583" y="2638"/>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a:t>
                </a:r>
              </a:p>
            </p:txBody>
          </p:sp>
        </p:grpSp>
        <p:sp>
          <p:nvSpPr>
            <p:cNvPr id="126" name="Text Box 123"/>
            <p:cNvSpPr txBox="1">
              <a:spLocks noChangeArrowheads="1"/>
            </p:cNvSpPr>
            <p:nvPr/>
          </p:nvSpPr>
          <p:spPr bwMode="auto">
            <a:xfrm rot="16200000">
              <a:off x="1828433" y="3164603"/>
              <a:ext cx="39893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a:solidFill>
                    <a:srgbClr val="000066"/>
                  </a:solidFill>
                  <a:ea typeface="幼圆" pitchFamily="49" charset="-122"/>
                  <a:cs typeface="Times New Roman" panose="02020603050405020304" pitchFamily="18" charset="0"/>
                </a:rPr>
                <a:t>小于某粒径之土质量百分数</a:t>
              </a:r>
              <a:r>
                <a:rPr kumimoji="1" lang="en-US" altLang="zh-CN" sz="2000" b="1" i="1" dirty="0">
                  <a:solidFill>
                    <a:srgbClr val="000066"/>
                  </a:solidFill>
                  <a:ea typeface="幼圆" pitchFamily="49" charset="-122"/>
                  <a:cs typeface="Times New Roman" panose="02020603050405020304" pitchFamily="18" charset="0"/>
                </a:rPr>
                <a:t>P</a:t>
              </a:r>
              <a:r>
                <a:rPr kumimoji="1" lang="zh-CN" altLang="en-US" sz="2000" b="1" dirty="0">
                  <a:solidFill>
                    <a:srgbClr val="000066"/>
                  </a:solidFill>
                  <a:ea typeface="幼圆" pitchFamily="49" charset="-122"/>
                  <a:cs typeface="Times New Roman" panose="02020603050405020304" pitchFamily="18" charset="0"/>
                </a:rPr>
                <a:t>（％）</a:t>
              </a:r>
            </a:p>
          </p:txBody>
        </p:sp>
        <p:grpSp>
          <p:nvGrpSpPr>
            <p:cNvPr id="178" name="Group 124"/>
            <p:cNvGrpSpPr>
              <a:grpSpLocks/>
            </p:cNvGrpSpPr>
            <p:nvPr/>
          </p:nvGrpSpPr>
          <p:grpSpPr bwMode="auto">
            <a:xfrm>
              <a:off x="4399389" y="4975147"/>
              <a:ext cx="3376611" cy="473075"/>
              <a:chOff x="2652" y="2826"/>
              <a:chExt cx="2127" cy="298"/>
            </a:xfrm>
          </p:grpSpPr>
          <p:sp>
            <p:nvSpPr>
              <p:cNvPr id="180" name="Text Box 125"/>
              <p:cNvSpPr txBox="1">
                <a:spLocks noChangeArrowheads="1"/>
              </p:cNvSpPr>
              <p:nvPr/>
            </p:nvSpPr>
            <p:spPr bwMode="auto">
              <a:xfrm rot="16200000">
                <a:off x="2668" y="2838"/>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10</a:t>
                </a:r>
              </a:p>
            </p:txBody>
          </p:sp>
          <p:sp>
            <p:nvSpPr>
              <p:cNvPr id="181" name="Text Box 126"/>
              <p:cNvSpPr txBox="1">
                <a:spLocks noChangeArrowheads="1"/>
              </p:cNvSpPr>
              <p:nvPr/>
            </p:nvSpPr>
            <p:spPr bwMode="auto">
              <a:xfrm rot="16200000">
                <a:off x="2869" y="2855"/>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5.0</a:t>
                </a:r>
              </a:p>
            </p:txBody>
          </p:sp>
          <p:sp>
            <p:nvSpPr>
              <p:cNvPr id="182" name="Text Box 127"/>
              <p:cNvSpPr txBox="1">
                <a:spLocks noChangeArrowheads="1"/>
              </p:cNvSpPr>
              <p:nvPr/>
            </p:nvSpPr>
            <p:spPr bwMode="auto">
              <a:xfrm rot="16200000">
                <a:off x="3300" y="2856"/>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a:t>
                </a:r>
              </a:p>
            </p:txBody>
          </p:sp>
          <p:sp>
            <p:nvSpPr>
              <p:cNvPr id="183" name="Text Box 128"/>
              <p:cNvSpPr txBox="1">
                <a:spLocks noChangeArrowheads="1"/>
              </p:cNvSpPr>
              <p:nvPr/>
            </p:nvSpPr>
            <p:spPr bwMode="auto">
              <a:xfrm rot="16200000">
                <a:off x="3510" y="2846"/>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0.5</a:t>
                </a:r>
              </a:p>
            </p:txBody>
          </p:sp>
          <p:sp>
            <p:nvSpPr>
              <p:cNvPr id="184" name="Text Box 129"/>
              <p:cNvSpPr txBox="1">
                <a:spLocks noChangeArrowheads="1"/>
              </p:cNvSpPr>
              <p:nvPr/>
            </p:nvSpPr>
            <p:spPr bwMode="auto">
              <a:xfrm rot="16200000">
                <a:off x="3895" y="2886"/>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0.10</a:t>
                </a:r>
              </a:p>
            </p:txBody>
          </p:sp>
          <p:sp>
            <p:nvSpPr>
              <p:cNvPr id="185" name="Text Box 130"/>
              <p:cNvSpPr txBox="1">
                <a:spLocks noChangeArrowheads="1"/>
              </p:cNvSpPr>
              <p:nvPr/>
            </p:nvSpPr>
            <p:spPr bwMode="auto">
              <a:xfrm rot="16200000">
                <a:off x="4110" y="2881"/>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0.05</a:t>
                </a:r>
              </a:p>
            </p:txBody>
          </p:sp>
          <p:sp>
            <p:nvSpPr>
              <p:cNvPr id="186" name="Text Box 131"/>
              <p:cNvSpPr txBox="1">
                <a:spLocks noChangeArrowheads="1"/>
              </p:cNvSpPr>
              <p:nvPr/>
            </p:nvSpPr>
            <p:spPr bwMode="auto">
              <a:xfrm rot="16200000">
                <a:off x="4540" y="2871"/>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0.01</a:t>
                </a:r>
              </a:p>
            </p:txBody>
          </p:sp>
        </p:grpSp>
        <p:sp>
          <p:nvSpPr>
            <p:cNvPr id="179" name="Text Box 134"/>
            <p:cNvSpPr txBox="1">
              <a:spLocks noChangeArrowheads="1"/>
            </p:cNvSpPr>
            <p:nvPr/>
          </p:nvSpPr>
          <p:spPr bwMode="auto">
            <a:xfrm>
              <a:off x="8014216" y="5007856"/>
              <a:ext cx="59631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smtClean="0">
                  <a:solidFill>
                    <a:srgbClr val="000066"/>
                  </a:solidFill>
                  <a:ea typeface="幼圆" pitchFamily="49" charset="-122"/>
                  <a:cs typeface="Times New Roman" panose="02020603050405020304" pitchFamily="18" charset="0"/>
                </a:rPr>
                <a:t>粒径</a:t>
              </a:r>
              <a:r>
                <a:rPr kumimoji="1" lang="en-US" altLang="zh-CN" sz="2000" b="1" dirty="0" smtClean="0">
                  <a:solidFill>
                    <a:srgbClr val="000066"/>
                  </a:solidFill>
                  <a:ea typeface="幼圆" pitchFamily="49" charset="-122"/>
                  <a:cs typeface="Times New Roman" panose="02020603050405020304" pitchFamily="18" charset="0"/>
                </a:rPr>
                <a:t/>
              </a:r>
              <a:br>
                <a:rPr kumimoji="1" lang="en-US" altLang="zh-CN" sz="2000" b="1" dirty="0" smtClean="0">
                  <a:solidFill>
                    <a:srgbClr val="000066"/>
                  </a:solidFill>
                  <a:ea typeface="幼圆" pitchFamily="49" charset="-122"/>
                  <a:cs typeface="Times New Roman" panose="02020603050405020304" pitchFamily="18" charset="0"/>
                </a:rPr>
              </a:br>
              <a:r>
                <a:rPr kumimoji="1" lang="en-US" altLang="zh-CN" sz="2000" b="1" dirty="0" smtClean="0">
                  <a:solidFill>
                    <a:srgbClr val="000066"/>
                  </a:solidFill>
                  <a:ea typeface="幼圆" pitchFamily="49" charset="-122"/>
                  <a:cs typeface="Times New Roman" panose="02020603050405020304" pitchFamily="18" charset="0"/>
                </a:rPr>
                <a:t>(</a:t>
              </a:r>
              <a:r>
                <a:rPr kumimoji="1" lang="en-US" altLang="zh-CN" sz="2000" b="1" dirty="0">
                  <a:solidFill>
                    <a:srgbClr val="000066"/>
                  </a:solidFill>
                  <a:ea typeface="幼圆" pitchFamily="49" charset="-122"/>
                  <a:cs typeface="Times New Roman" panose="02020603050405020304" pitchFamily="18" charset="0"/>
                </a:rPr>
                <a:t>mm)</a:t>
              </a:r>
            </a:p>
          </p:txBody>
        </p:sp>
      </p:grpSp>
      <p:grpSp>
        <p:nvGrpSpPr>
          <p:cNvPr id="153" name="组合 152"/>
          <p:cNvGrpSpPr/>
          <p:nvPr/>
        </p:nvGrpSpPr>
        <p:grpSpPr>
          <a:xfrm>
            <a:off x="4860113" y="2971634"/>
            <a:ext cx="1577975" cy="2037437"/>
            <a:chOff x="4740275" y="2682608"/>
            <a:chExt cx="1577975" cy="2037437"/>
          </a:xfrm>
        </p:grpSpPr>
        <p:sp>
          <p:nvSpPr>
            <p:cNvPr id="154" name="Freeform 211"/>
            <p:cNvSpPr>
              <a:spLocks/>
            </p:cNvSpPr>
            <p:nvPr/>
          </p:nvSpPr>
          <p:spPr bwMode="auto">
            <a:xfrm>
              <a:off x="6286500" y="2723883"/>
              <a:ext cx="3175" cy="1924050"/>
            </a:xfrm>
            <a:custGeom>
              <a:avLst/>
              <a:gdLst>
                <a:gd name="T0" fmla="*/ 0 w 2"/>
                <a:gd name="T1" fmla="*/ 0 h 1212"/>
                <a:gd name="T2" fmla="*/ 2147483647 w 2"/>
                <a:gd name="T3" fmla="*/ 2147483647 h 1212"/>
                <a:gd name="T4" fmla="*/ 0 60000 65536"/>
                <a:gd name="T5" fmla="*/ 0 60000 65536"/>
                <a:gd name="T6" fmla="*/ 0 w 2"/>
                <a:gd name="T7" fmla="*/ 0 h 1212"/>
                <a:gd name="T8" fmla="*/ 2 w 2"/>
                <a:gd name="T9" fmla="*/ 1212 h 1212"/>
              </a:gdLst>
              <a:ahLst/>
              <a:cxnLst>
                <a:cxn ang="T4">
                  <a:pos x="T0" y="T1"/>
                </a:cxn>
                <a:cxn ang="T5">
                  <a:pos x="T2" y="T3"/>
                </a:cxn>
              </a:cxnLst>
              <a:rect l="T6" t="T7" r="T8" b="T9"/>
              <a:pathLst>
                <a:path w="2" h="1212">
                  <a:moveTo>
                    <a:pt x="0" y="0"/>
                  </a:moveTo>
                  <a:lnTo>
                    <a:pt x="2" y="1212"/>
                  </a:lnTo>
                </a:path>
              </a:pathLst>
            </a:custGeom>
            <a:noFill/>
            <a:ln w="190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55" name="Text Box 215"/>
            <p:cNvSpPr txBox="1">
              <a:spLocks noChangeArrowheads="1"/>
            </p:cNvSpPr>
            <p:nvPr/>
          </p:nvSpPr>
          <p:spPr bwMode="auto">
            <a:xfrm>
              <a:off x="5873750" y="4289158"/>
              <a:ext cx="4199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a:solidFill>
                    <a:srgbClr val="990000"/>
                  </a:solidFill>
                  <a:ea typeface="华文新魏" pitchFamily="2" charset="-122"/>
                  <a:cs typeface="Times New Roman" panose="02020603050405020304" pitchFamily="18" charset="0"/>
                </a:rPr>
                <a:t>d</a:t>
              </a:r>
              <a:r>
                <a:rPr kumimoji="1" lang="en-US" altLang="zh-CN" sz="2800" b="1" baseline="-25000" dirty="0">
                  <a:solidFill>
                    <a:srgbClr val="990000"/>
                  </a:solidFill>
                  <a:ea typeface="华文新魏" pitchFamily="2" charset="-122"/>
                  <a:cs typeface="Times New Roman" panose="02020603050405020304" pitchFamily="18" charset="0"/>
                </a:rPr>
                <a:t>60</a:t>
              </a:r>
            </a:p>
          </p:txBody>
        </p:sp>
        <p:grpSp>
          <p:nvGrpSpPr>
            <p:cNvPr id="156" name="Group 220"/>
            <p:cNvGrpSpPr>
              <a:grpSpLocks/>
            </p:cNvGrpSpPr>
            <p:nvPr/>
          </p:nvGrpSpPr>
          <p:grpSpPr bwMode="auto">
            <a:xfrm>
              <a:off x="4740275" y="2682608"/>
              <a:ext cx="1577975" cy="71437"/>
              <a:chOff x="3058" y="1761"/>
              <a:chExt cx="994" cy="45"/>
            </a:xfrm>
          </p:grpSpPr>
          <p:sp>
            <p:nvSpPr>
              <p:cNvPr id="157" name="Freeform 221"/>
              <p:cNvSpPr>
                <a:spLocks/>
              </p:cNvSpPr>
              <p:nvPr/>
            </p:nvSpPr>
            <p:spPr bwMode="auto">
              <a:xfrm>
                <a:off x="3058" y="1787"/>
                <a:ext cx="974" cy="1"/>
              </a:xfrm>
              <a:custGeom>
                <a:avLst/>
                <a:gdLst>
                  <a:gd name="T0" fmla="*/ 0 w 974"/>
                  <a:gd name="T1" fmla="*/ 0 h 1"/>
                  <a:gd name="T2" fmla="*/ 974 w 974"/>
                  <a:gd name="T3" fmla="*/ 1 h 1"/>
                  <a:gd name="T4" fmla="*/ 0 60000 65536"/>
                  <a:gd name="T5" fmla="*/ 0 60000 65536"/>
                  <a:gd name="T6" fmla="*/ 0 w 974"/>
                  <a:gd name="T7" fmla="*/ 0 h 1"/>
                  <a:gd name="T8" fmla="*/ 974 w 974"/>
                  <a:gd name="T9" fmla="*/ 1 h 1"/>
                </a:gdLst>
                <a:ahLst/>
                <a:cxnLst>
                  <a:cxn ang="T4">
                    <a:pos x="T0" y="T1"/>
                  </a:cxn>
                  <a:cxn ang="T5">
                    <a:pos x="T2" y="T3"/>
                  </a:cxn>
                </a:cxnLst>
                <a:rect l="T6" t="T7" r="T8" b="T9"/>
                <a:pathLst>
                  <a:path w="974" h="1">
                    <a:moveTo>
                      <a:pt x="0" y="0"/>
                    </a:moveTo>
                    <a:lnTo>
                      <a:pt x="974" y="1"/>
                    </a:lnTo>
                  </a:path>
                </a:pathLst>
              </a:custGeom>
              <a:noFill/>
              <a:ln w="190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58" name="Oval 222"/>
              <p:cNvSpPr>
                <a:spLocks noChangeArrowheads="1"/>
              </p:cNvSpPr>
              <p:nvPr/>
            </p:nvSpPr>
            <p:spPr bwMode="auto">
              <a:xfrm>
                <a:off x="4007" y="1761"/>
                <a:ext cx="45" cy="45"/>
              </a:xfrm>
              <a:prstGeom prst="ellipse">
                <a:avLst/>
              </a:prstGeom>
              <a:solidFill>
                <a:schemeClr val="bg1"/>
              </a:solidFill>
              <a:ln w="12700" algn="ctr">
                <a:solidFill>
                  <a:schemeClr val="folHlink"/>
                </a:solidFill>
                <a:round/>
                <a:headEnd/>
                <a:tailEnd/>
              </a:ln>
            </p:spPr>
            <p:txBody>
              <a:bodyPr lIns="0" tIns="0" rIns="0" bIns="0" anchor="ctr">
                <a:spAutoFit/>
              </a:bodyPr>
              <a:lstStyle/>
              <a:p>
                <a:endParaRPr lang="zh-CN" altLang="en-US"/>
              </a:p>
            </p:txBody>
          </p:sp>
        </p:grpSp>
      </p:grpSp>
      <p:grpSp>
        <p:nvGrpSpPr>
          <p:cNvPr id="159" name="组合 158"/>
          <p:cNvGrpSpPr/>
          <p:nvPr/>
        </p:nvGrpSpPr>
        <p:grpSpPr>
          <a:xfrm>
            <a:off x="4853763" y="3303421"/>
            <a:ext cx="2190050" cy="1705650"/>
            <a:chOff x="4733925" y="3014395"/>
            <a:chExt cx="2190050" cy="1705650"/>
          </a:xfrm>
        </p:grpSpPr>
        <p:sp>
          <p:nvSpPr>
            <p:cNvPr id="160" name="Freeform 213"/>
            <p:cNvSpPr>
              <a:spLocks/>
            </p:cNvSpPr>
            <p:nvPr/>
          </p:nvSpPr>
          <p:spPr bwMode="auto">
            <a:xfrm>
              <a:off x="6486525" y="3058845"/>
              <a:ext cx="7938" cy="1589088"/>
            </a:xfrm>
            <a:custGeom>
              <a:avLst/>
              <a:gdLst>
                <a:gd name="T0" fmla="*/ 2147483647 w 5"/>
                <a:gd name="T1" fmla="*/ 0 h 1001"/>
                <a:gd name="T2" fmla="*/ 0 w 5"/>
                <a:gd name="T3" fmla="*/ 2147483647 h 1001"/>
                <a:gd name="T4" fmla="*/ 0 60000 65536"/>
                <a:gd name="T5" fmla="*/ 0 60000 65536"/>
                <a:gd name="T6" fmla="*/ 0 w 5"/>
                <a:gd name="T7" fmla="*/ 0 h 1001"/>
                <a:gd name="T8" fmla="*/ 5 w 5"/>
                <a:gd name="T9" fmla="*/ 1001 h 1001"/>
              </a:gdLst>
              <a:ahLst/>
              <a:cxnLst>
                <a:cxn ang="T4">
                  <a:pos x="T0" y="T1"/>
                </a:cxn>
                <a:cxn ang="T5">
                  <a:pos x="T2" y="T3"/>
                </a:cxn>
              </a:cxnLst>
              <a:rect l="T6" t="T7" r="T8" b="T9"/>
              <a:pathLst>
                <a:path w="5" h="1001">
                  <a:moveTo>
                    <a:pt x="5" y="0"/>
                  </a:moveTo>
                  <a:lnTo>
                    <a:pt x="0" y="1001"/>
                  </a:lnTo>
                </a:path>
              </a:pathLst>
            </a:custGeom>
            <a:noFill/>
            <a:ln w="190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61" name="Text Box 216"/>
            <p:cNvSpPr txBox="1">
              <a:spLocks noChangeArrowheads="1"/>
            </p:cNvSpPr>
            <p:nvPr/>
          </p:nvSpPr>
          <p:spPr bwMode="auto">
            <a:xfrm>
              <a:off x="6503988" y="4289158"/>
              <a:ext cx="4199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a:solidFill>
                    <a:srgbClr val="990000"/>
                  </a:solidFill>
                  <a:ea typeface="华文新魏" pitchFamily="2" charset="-122"/>
                  <a:cs typeface="Times New Roman" panose="02020603050405020304" pitchFamily="18" charset="0"/>
                </a:rPr>
                <a:t>d</a:t>
              </a:r>
              <a:r>
                <a:rPr kumimoji="1" lang="en-US" altLang="zh-CN" sz="2800" b="1" baseline="-25000" dirty="0">
                  <a:solidFill>
                    <a:srgbClr val="990000"/>
                  </a:solidFill>
                  <a:ea typeface="华文新魏" pitchFamily="2" charset="-122"/>
                  <a:cs typeface="Times New Roman" panose="02020603050405020304" pitchFamily="18" charset="0"/>
                </a:rPr>
                <a:t>50</a:t>
              </a:r>
            </a:p>
          </p:txBody>
        </p:sp>
        <p:grpSp>
          <p:nvGrpSpPr>
            <p:cNvPr id="162" name="Group 223"/>
            <p:cNvGrpSpPr>
              <a:grpSpLocks/>
            </p:cNvGrpSpPr>
            <p:nvPr/>
          </p:nvGrpSpPr>
          <p:grpSpPr bwMode="auto">
            <a:xfrm>
              <a:off x="4733925" y="3014395"/>
              <a:ext cx="1800225" cy="71438"/>
              <a:chOff x="3054" y="1970"/>
              <a:chExt cx="1134" cy="45"/>
            </a:xfrm>
          </p:grpSpPr>
          <p:sp>
            <p:nvSpPr>
              <p:cNvPr id="163" name="Freeform 224"/>
              <p:cNvSpPr>
                <a:spLocks/>
              </p:cNvSpPr>
              <p:nvPr/>
            </p:nvSpPr>
            <p:spPr bwMode="auto">
              <a:xfrm>
                <a:off x="3054" y="1999"/>
                <a:ext cx="1109" cy="1"/>
              </a:xfrm>
              <a:custGeom>
                <a:avLst/>
                <a:gdLst>
                  <a:gd name="T0" fmla="*/ 0 w 1109"/>
                  <a:gd name="T1" fmla="*/ 0 h 1"/>
                  <a:gd name="T2" fmla="*/ 1109 w 1109"/>
                  <a:gd name="T3" fmla="*/ 0 h 1"/>
                  <a:gd name="T4" fmla="*/ 0 60000 65536"/>
                  <a:gd name="T5" fmla="*/ 0 60000 65536"/>
                  <a:gd name="T6" fmla="*/ 0 w 1109"/>
                  <a:gd name="T7" fmla="*/ 0 h 1"/>
                  <a:gd name="T8" fmla="*/ 1109 w 1109"/>
                  <a:gd name="T9" fmla="*/ 1 h 1"/>
                </a:gdLst>
                <a:ahLst/>
                <a:cxnLst>
                  <a:cxn ang="T4">
                    <a:pos x="T0" y="T1"/>
                  </a:cxn>
                  <a:cxn ang="T5">
                    <a:pos x="T2" y="T3"/>
                  </a:cxn>
                </a:cxnLst>
                <a:rect l="T6" t="T7" r="T8" b="T9"/>
                <a:pathLst>
                  <a:path w="1109" h="1">
                    <a:moveTo>
                      <a:pt x="0" y="0"/>
                    </a:moveTo>
                    <a:lnTo>
                      <a:pt x="1109" y="0"/>
                    </a:lnTo>
                  </a:path>
                </a:pathLst>
              </a:custGeom>
              <a:noFill/>
              <a:ln w="190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64" name="Oval 225"/>
              <p:cNvSpPr>
                <a:spLocks noChangeArrowheads="1"/>
              </p:cNvSpPr>
              <p:nvPr/>
            </p:nvSpPr>
            <p:spPr bwMode="auto">
              <a:xfrm>
                <a:off x="4143" y="1970"/>
                <a:ext cx="45" cy="45"/>
              </a:xfrm>
              <a:prstGeom prst="ellipse">
                <a:avLst/>
              </a:prstGeom>
              <a:solidFill>
                <a:schemeClr val="bg1"/>
              </a:solidFill>
              <a:ln w="12700" algn="ctr">
                <a:solidFill>
                  <a:schemeClr val="folHlink"/>
                </a:solidFill>
                <a:round/>
                <a:headEnd/>
                <a:tailEnd/>
              </a:ln>
            </p:spPr>
            <p:txBody>
              <a:bodyPr lIns="0" tIns="0" rIns="0" bIns="0" anchor="ctr">
                <a:spAutoFit/>
              </a:bodyPr>
              <a:lstStyle/>
              <a:p>
                <a:endParaRPr lang="zh-CN" altLang="en-US"/>
              </a:p>
            </p:txBody>
          </p:sp>
        </p:grpSp>
      </p:grpSp>
      <p:grpSp>
        <p:nvGrpSpPr>
          <p:cNvPr id="165" name="组合 164"/>
          <p:cNvGrpSpPr/>
          <p:nvPr/>
        </p:nvGrpSpPr>
        <p:grpSpPr>
          <a:xfrm>
            <a:off x="4898213" y="3935246"/>
            <a:ext cx="2691700" cy="1067475"/>
            <a:chOff x="4778375" y="3652570"/>
            <a:chExt cx="2691700" cy="1067475"/>
          </a:xfrm>
        </p:grpSpPr>
        <p:sp>
          <p:nvSpPr>
            <p:cNvPr id="166" name="Freeform 214"/>
            <p:cNvSpPr>
              <a:spLocks/>
            </p:cNvSpPr>
            <p:nvPr/>
          </p:nvSpPr>
          <p:spPr bwMode="auto">
            <a:xfrm>
              <a:off x="7011988" y="3693845"/>
              <a:ext cx="1587" cy="947738"/>
            </a:xfrm>
            <a:custGeom>
              <a:avLst/>
              <a:gdLst>
                <a:gd name="T0" fmla="*/ 0 w 1"/>
                <a:gd name="T1" fmla="*/ 0 h 597"/>
                <a:gd name="T2" fmla="*/ 2147483647 w 1"/>
                <a:gd name="T3" fmla="*/ 2147483647 h 597"/>
                <a:gd name="T4" fmla="*/ 0 60000 65536"/>
                <a:gd name="T5" fmla="*/ 0 60000 65536"/>
                <a:gd name="T6" fmla="*/ 0 w 1"/>
                <a:gd name="T7" fmla="*/ 0 h 597"/>
                <a:gd name="T8" fmla="*/ 1 w 1"/>
                <a:gd name="T9" fmla="*/ 597 h 597"/>
              </a:gdLst>
              <a:ahLst/>
              <a:cxnLst>
                <a:cxn ang="T4">
                  <a:pos x="T0" y="T1"/>
                </a:cxn>
                <a:cxn ang="T5">
                  <a:pos x="T2" y="T3"/>
                </a:cxn>
              </a:cxnLst>
              <a:rect l="T6" t="T7" r="T8" b="T9"/>
              <a:pathLst>
                <a:path w="1" h="597">
                  <a:moveTo>
                    <a:pt x="0" y="0"/>
                  </a:moveTo>
                  <a:lnTo>
                    <a:pt x="1" y="597"/>
                  </a:lnTo>
                </a:path>
              </a:pathLst>
            </a:custGeom>
            <a:noFill/>
            <a:ln w="190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67" name="Text Box 218"/>
            <p:cNvSpPr txBox="1">
              <a:spLocks noChangeArrowheads="1"/>
            </p:cNvSpPr>
            <p:nvPr/>
          </p:nvSpPr>
          <p:spPr bwMode="auto">
            <a:xfrm>
              <a:off x="7050088" y="4289158"/>
              <a:ext cx="4199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a:solidFill>
                    <a:srgbClr val="990000"/>
                  </a:solidFill>
                  <a:ea typeface="华文新魏" pitchFamily="2" charset="-122"/>
                  <a:cs typeface="Times New Roman" panose="02020603050405020304" pitchFamily="18" charset="0"/>
                </a:rPr>
                <a:t>d</a:t>
              </a:r>
              <a:r>
                <a:rPr kumimoji="1" lang="en-US" altLang="zh-CN" sz="2800" b="1" baseline="-25000" dirty="0">
                  <a:solidFill>
                    <a:srgbClr val="990000"/>
                  </a:solidFill>
                  <a:ea typeface="华文新魏" pitchFamily="2" charset="-122"/>
                  <a:cs typeface="Times New Roman" panose="02020603050405020304" pitchFamily="18" charset="0"/>
                </a:rPr>
                <a:t>30</a:t>
              </a:r>
            </a:p>
          </p:txBody>
        </p:sp>
        <p:grpSp>
          <p:nvGrpSpPr>
            <p:cNvPr id="168" name="Group 226"/>
            <p:cNvGrpSpPr>
              <a:grpSpLocks/>
            </p:cNvGrpSpPr>
            <p:nvPr/>
          </p:nvGrpSpPr>
          <p:grpSpPr bwMode="auto">
            <a:xfrm>
              <a:off x="4778375" y="3652570"/>
              <a:ext cx="2278063" cy="71438"/>
              <a:chOff x="3082" y="2372"/>
              <a:chExt cx="1435" cy="45"/>
            </a:xfrm>
          </p:grpSpPr>
          <p:sp>
            <p:nvSpPr>
              <p:cNvPr id="169" name="Freeform 227"/>
              <p:cNvSpPr>
                <a:spLocks/>
              </p:cNvSpPr>
              <p:nvPr/>
            </p:nvSpPr>
            <p:spPr bwMode="auto">
              <a:xfrm>
                <a:off x="3082" y="2398"/>
                <a:ext cx="1407" cy="5"/>
              </a:xfrm>
              <a:custGeom>
                <a:avLst/>
                <a:gdLst>
                  <a:gd name="T0" fmla="*/ 0 w 1407"/>
                  <a:gd name="T1" fmla="*/ 5 h 5"/>
                  <a:gd name="T2" fmla="*/ 1407 w 1407"/>
                  <a:gd name="T3" fmla="*/ 0 h 5"/>
                  <a:gd name="T4" fmla="*/ 0 60000 65536"/>
                  <a:gd name="T5" fmla="*/ 0 60000 65536"/>
                  <a:gd name="T6" fmla="*/ 0 w 1407"/>
                  <a:gd name="T7" fmla="*/ 0 h 5"/>
                  <a:gd name="T8" fmla="*/ 1407 w 1407"/>
                  <a:gd name="T9" fmla="*/ 5 h 5"/>
                </a:gdLst>
                <a:ahLst/>
                <a:cxnLst>
                  <a:cxn ang="T4">
                    <a:pos x="T0" y="T1"/>
                  </a:cxn>
                  <a:cxn ang="T5">
                    <a:pos x="T2" y="T3"/>
                  </a:cxn>
                </a:cxnLst>
                <a:rect l="T6" t="T7" r="T8" b="T9"/>
                <a:pathLst>
                  <a:path w="1407" h="5">
                    <a:moveTo>
                      <a:pt x="0" y="5"/>
                    </a:moveTo>
                    <a:lnTo>
                      <a:pt x="1407" y="0"/>
                    </a:lnTo>
                  </a:path>
                </a:pathLst>
              </a:custGeom>
              <a:noFill/>
              <a:ln w="190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0" name="Oval 228"/>
              <p:cNvSpPr>
                <a:spLocks noChangeArrowheads="1"/>
              </p:cNvSpPr>
              <p:nvPr/>
            </p:nvSpPr>
            <p:spPr bwMode="auto">
              <a:xfrm>
                <a:off x="4472" y="2372"/>
                <a:ext cx="45" cy="45"/>
              </a:xfrm>
              <a:prstGeom prst="ellipse">
                <a:avLst/>
              </a:prstGeom>
              <a:solidFill>
                <a:schemeClr val="bg1"/>
              </a:solidFill>
              <a:ln w="12700" algn="ctr">
                <a:solidFill>
                  <a:schemeClr val="folHlink"/>
                </a:solidFill>
                <a:round/>
                <a:headEnd/>
                <a:tailEnd/>
              </a:ln>
            </p:spPr>
            <p:txBody>
              <a:bodyPr lIns="0" tIns="0" rIns="0" bIns="0" anchor="ctr">
                <a:spAutoFit/>
              </a:bodyPr>
              <a:lstStyle/>
              <a:p>
                <a:endParaRPr lang="zh-CN" altLang="en-US"/>
              </a:p>
            </p:txBody>
          </p:sp>
        </p:grpSp>
      </p:grpSp>
      <p:grpSp>
        <p:nvGrpSpPr>
          <p:cNvPr id="171" name="组合 170"/>
          <p:cNvGrpSpPr/>
          <p:nvPr/>
        </p:nvGrpSpPr>
        <p:grpSpPr>
          <a:xfrm>
            <a:off x="4908661" y="4581922"/>
            <a:ext cx="3866450" cy="511849"/>
            <a:chOff x="4765675" y="4298683"/>
            <a:chExt cx="3866450" cy="511849"/>
          </a:xfrm>
        </p:grpSpPr>
        <p:sp>
          <p:nvSpPr>
            <p:cNvPr id="172" name="Freeform 212"/>
            <p:cNvSpPr>
              <a:spLocks/>
            </p:cNvSpPr>
            <p:nvPr/>
          </p:nvSpPr>
          <p:spPr bwMode="auto">
            <a:xfrm>
              <a:off x="8143875" y="4335195"/>
              <a:ext cx="6350" cy="312738"/>
            </a:xfrm>
            <a:custGeom>
              <a:avLst/>
              <a:gdLst>
                <a:gd name="T0" fmla="*/ 2147483647 w 4"/>
                <a:gd name="T1" fmla="*/ 0 h 197"/>
                <a:gd name="T2" fmla="*/ 0 w 4"/>
                <a:gd name="T3" fmla="*/ 2147483647 h 197"/>
                <a:gd name="T4" fmla="*/ 0 60000 65536"/>
                <a:gd name="T5" fmla="*/ 0 60000 65536"/>
                <a:gd name="T6" fmla="*/ 0 w 4"/>
                <a:gd name="T7" fmla="*/ 0 h 197"/>
                <a:gd name="T8" fmla="*/ 4 w 4"/>
                <a:gd name="T9" fmla="*/ 197 h 197"/>
              </a:gdLst>
              <a:ahLst/>
              <a:cxnLst>
                <a:cxn ang="T4">
                  <a:pos x="T0" y="T1"/>
                </a:cxn>
                <a:cxn ang="T5">
                  <a:pos x="T2" y="T3"/>
                </a:cxn>
              </a:cxnLst>
              <a:rect l="T6" t="T7" r="T8" b="T9"/>
              <a:pathLst>
                <a:path w="4" h="197">
                  <a:moveTo>
                    <a:pt x="4" y="0"/>
                  </a:moveTo>
                  <a:lnTo>
                    <a:pt x="0" y="197"/>
                  </a:lnTo>
                </a:path>
              </a:pathLst>
            </a:custGeom>
            <a:noFill/>
            <a:ln w="28575">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nvGrpSpPr>
            <p:cNvPr id="174" name="Group 229"/>
            <p:cNvGrpSpPr>
              <a:grpSpLocks/>
            </p:cNvGrpSpPr>
            <p:nvPr/>
          </p:nvGrpSpPr>
          <p:grpSpPr bwMode="auto">
            <a:xfrm>
              <a:off x="4765675" y="4298683"/>
              <a:ext cx="3424238" cy="71437"/>
              <a:chOff x="3074" y="2779"/>
              <a:chExt cx="2157" cy="45"/>
            </a:xfrm>
          </p:grpSpPr>
          <p:sp>
            <p:nvSpPr>
              <p:cNvPr id="175" name="Freeform 230"/>
              <p:cNvSpPr>
                <a:spLocks/>
              </p:cNvSpPr>
              <p:nvPr/>
            </p:nvSpPr>
            <p:spPr bwMode="auto">
              <a:xfrm>
                <a:off x="3074" y="2803"/>
                <a:ext cx="2132" cy="1"/>
              </a:xfrm>
              <a:custGeom>
                <a:avLst/>
                <a:gdLst>
                  <a:gd name="T0" fmla="*/ 0 w 2132"/>
                  <a:gd name="T1" fmla="*/ 0 h 1"/>
                  <a:gd name="T2" fmla="*/ 2132 w 2132"/>
                  <a:gd name="T3" fmla="*/ 0 h 1"/>
                  <a:gd name="T4" fmla="*/ 0 60000 65536"/>
                  <a:gd name="T5" fmla="*/ 0 60000 65536"/>
                  <a:gd name="T6" fmla="*/ 0 w 2132"/>
                  <a:gd name="T7" fmla="*/ 0 h 1"/>
                  <a:gd name="T8" fmla="*/ 2132 w 2132"/>
                  <a:gd name="T9" fmla="*/ 1 h 1"/>
                </a:gdLst>
                <a:ahLst/>
                <a:cxnLst>
                  <a:cxn ang="T4">
                    <a:pos x="T0" y="T1"/>
                  </a:cxn>
                  <a:cxn ang="T5">
                    <a:pos x="T2" y="T3"/>
                  </a:cxn>
                </a:cxnLst>
                <a:rect l="T6" t="T7" r="T8" b="T9"/>
                <a:pathLst>
                  <a:path w="2132" h="1">
                    <a:moveTo>
                      <a:pt x="0" y="0"/>
                    </a:moveTo>
                    <a:lnTo>
                      <a:pt x="2132" y="0"/>
                    </a:lnTo>
                  </a:path>
                </a:pathLst>
              </a:custGeom>
              <a:noFill/>
              <a:ln w="190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6" name="Oval 231"/>
              <p:cNvSpPr>
                <a:spLocks noChangeArrowheads="1"/>
              </p:cNvSpPr>
              <p:nvPr/>
            </p:nvSpPr>
            <p:spPr bwMode="auto">
              <a:xfrm>
                <a:off x="5186" y="2779"/>
                <a:ext cx="45" cy="45"/>
              </a:xfrm>
              <a:prstGeom prst="ellipse">
                <a:avLst/>
              </a:prstGeom>
              <a:solidFill>
                <a:schemeClr val="bg1"/>
              </a:solidFill>
              <a:ln w="12700" algn="ctr">
                <a:solidFill>
                  <a:schemeClr val="folHlink"/>
                </a:solidFill>
                <a:round/>
                <a:headEnd/>
                <a:tailEnd/>
              </a:ln>
            </p:spPr>
            <p:txBody>
              <a:bodyPr lIns="0" tIns="0" rIns="0" bIns="0" anchor="ctr">
                <a:spAutoFit/>
              </a:bodyPr>
              <a:lstStyle/>
              <a:p>
                <a:endParaRPr lang="zh-CN" altLang="en-US"/>
              </a:p>
            </p:txBody>
          </p:sp>
        </p:grpSp>
        <p:sp>
          <p:nvSpPr>
            <p:cNvPr id="173" name="Text Box 217"/>
            <p:cNvSpPr txBox="1">
              <a:spLocks noChangeArrowheads="1"/>
            </p:cNvSpPr>
            <p:nvPr/>
          </p:nvSpPr>
          <p:spPr bwMode="auto">
            <a:xfrm>
              <a:off x="8212138" y="4379645"/>
              <a:ext cx="4199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a:solidFill>
                    <a:srgbClr val="990000"/>
                  </a:solidFill>
                  <a:ea typeface="华文新魏" pitchFamily="2" charset="-122"/>
                  <a:cs typeface="Times New Roman" panose="02020603050405020304" pitchFamily="18" charset="0"/>
                </a:rPr>
                <a:t>d</a:t>
              </a:r>
              <a:r>
                <a:rPr kumimoji="1" lang="en-US" altLang="zh-CN" sz="2800" b="1" baseline="-25000" dirty="0">
                  <a:solidFill>
                    <a:srgbClr val="990000"/>
                  </a:solidFill>
                  <a:ea typeface="华文新魏" pitchFamily="2" charset="-122"/>
                  <a:cs typeface="Times New Roman" panose="02020603050405020304" pitchFamily="18" charset="0"/>
                </a:rPr>
                <a:t>10</a:t>
              </a:r>
            </a:p>
          </p:txBody>
        </p:sp>
      </p:grpSp>
      <p:sp>
        <p:nvSpPr>
          <p:cNvPr id="256" name="Text Box 209"/>
          <p:cNvSpPr txBox="1">
            <a:spLocks noChangeArrowheads="1"/>
          </p:cNvSpPr>
          <p:nvPr/>
        </p:nvSpPr>
        <p:spPr bwMode="auto">
          <a:xfrm>
            <a:off x="4840974" y="874016"/>
            <a:ext cx="38671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800" b="1" dirty="0">
                <a:solidFill>
                  <a:srgbClr val="000066"/>
                </a:solidFill>
                <a:latin typeface="幼圆" pitchFamily="49" charset="-122"/>
                <a:ea typeface="幼圆" pitchFamily="49" charset="-122"/>
              </a:rPr>
              <a:t> 土的粒径级配累积曲线</a:t>
            </a:r>
          </a:p>
        </p:txBody>
      </p:sp>
      <p:sp>
        <p:nvSpPr>
          <p:cNvPr id="257" name="Text Box 6"/>
          <p:cNvSpPr txBox="1">
            <a:spLocks noChangeArrowheads="1"/>
          </p:cNvSpPr>
          <p:nvPr/>
        </p:nvSpPr>
        <p:spPr bwMode="auto">
          <a:xfrm>
            <a:off x="276261" y="758560"/>
            <a:ext cx="2478461"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61950" indent="-361950" eaLnBrk="1" hangingPunct="1">
              <a:spcBef>
                <a:spcPct val="25000"/>
              </a:spcBef>
              <a:spcAft>
                <a:spcPct val="25000"/>
              </a:spcAft>
              <a:buClr>
                <a:srgbClr val="A50021"/>
              </a:buClr>
              <a:buSzPct val="100000"/>
              <a:buFont typeface="Wingdings" panose="05000000000000000000" pitchFamily="2" charset="2"/>
              <a:buChar char="n"/>
            </a:pPr>
            <a:r>
              <a:rPr kumimoji="1" lang="zh-CN" altLang="en-US" sz="2400" b="1" dirty="0" smtClean="0">
                <a:solidFill>
                  <a:srgbClr val="A50021"/>
                </a:solidFill>
                <a:latin typeface="幼圆" pitchFamily="49" charset="-122"/>
                <a:ea typeface="幼圆" pitchFamily="49" charset="-122"/>
              </a:rPr>
              <a:t>特征粒径</a:t>
            </a:r>
            <a:endParaRPr kumimoji="1" lang="zh-CN" altLang="en-US" sz="2400" b="1" dirty="0">
              <a:solidFill>
                <a:srgbClr val="000066"/>
              </a:solidFill>
              <a:latin typeface="幼圆" pitchFamily="49" charset="-122"/>
              <a:ea typeface="幼圆" pitchFamily="49" charset="-122"/>
            </a:endParaRPr>
          </a:p>
        </p:txBody>
      </p:sp>
      <p:sp>
        <p:nvSpPr>
          <p:cNvPr id="258" name="矩形 257"/>
          <p:cNvSpPr/>
          <p:nvPr/>
        </p:nvSpPr>
        <p:spPr>
          <a:xfrm>
            <a:off x="341905" y="1404148"/>
            <a:ext cx="3468914" cy="1154162"/>
          </a:xfrm>
          <a:prstGeom prst="rect">
            <a:avLst/>
          </a:prstGeom>
        </p:spPr>
        <p:txBody>
          <a:bodyPr wrap="square">
            <a:spAutoFit/>
          </a:bodyPr>
          <a:lstStyle/>
          <a:p>
            <a:pPr>
              <a:spcBef>
                <a:spcPts val="0"/>
              </a:spcBef>
              <a:spcAft>
                <a:spcPts val="0"/>
              </a:spcAft>
              <a:buSzPct val="110000"/>
            </a:pPr>
            <a:r>
              <a:rPr lang="zh-CN" altLang="en-US" sz="2000" b="1" dirty="0" smtClean="0">
                <a:solidFill>
                  <a:srgbClr val="C00000"/>
                </a:solidFill>
                <a:ea typeface="幼圆" panose="02010509060101010101" pitchFamily="49" charset="-122"/>
                <a:cs typeface="Times New Roman" panose="02020603050405020304" pitchFamily="18" charset="0"/>
              </a:rPr>
              <a:t>（</a:t>
            </a:r>
            <a:r>
              <a:rPr lang="en-US" altLang="zh-CN" sz="2000" b="1" dirty="0" smtClean="0">
                <a:solidFill>
                  <a:srgbClr val="C00000"/>
                </a:solidFill>
                <a:ea typeface="幼圆" panose="02010509060101010101" pitchFamily="49" charset="-122"/>
                <a:cs typeface="Times New Roman" panose="02020603050405020304" pitchFamily="18" charset="0"/>
              </a:rPr>
              <a:t>1</a:t>
            </a:r>
            <a:r>
              <a:rPr lang="zh-CN" altLang="en-US" sz="2000" b="1" dirty="0" smtClean="0">
                <a:solidFill>
                  <a:srgbClr val="C00000"/>
                </a:solidFill>
                <a:ea typeface="幼圆" panose="02010509060101010101" pitchFamily="49" charset="-122"/>
                <a:cs typeface="Times New Roman" panose="02020603050405020304" pitchFamily="18" charset="0"/>
              </a:rPr>
              <a:t>）平均粒径</a:t>
            </a:r>
            <a:r>
              <a:rPr lang="en-US" altLang="zh-CN" sz="2000" b="1" i="1" dirty="0" smtClean="0">
                <a:solidFill>
                  <a:srgbClr val="C00000"/>
                </a:solidFill>
                <a:ea typeface="幼圆" panose="02010509060101010101" pitchFamily="49" charset="-122"/>
                <a:cs typeface="Times New Roman" panose="02020603050405020304" pitchFamily="18" charset="0"/>
              </a:rPr>
              <a:t>d</a:t>
            </a:r>
            <a:r>
              <a:rPr lang="en-US" altLang="zh-CN" sz="2000" b="1" baseline="-25000" dirty="0" smtClean="0">
                <a:solidFill>
                  <a:srgbClr val="C00000"/>
                </a:solidFill>
                <a:ea typeface="幼圆" panose="02010509060101010101" pitchFamily="49" charset="-122"/>
                <a:cs typeface="Times New Roman" panose="02020603050405020304" pitchFamily="18" charset="0"/>
              </a:rPr>
              <a:t>50</a:t>
            </a:r>
          </a:p>
          <a:p>
            <a:pPr>
              <a:spcBef>
                <a:spcPts val="0"/>
              </a:spcBef>
              <a:spcAft>
                <a:spcPts val="0"/>
              </a:spcAft>
              <a:buSzPct val="110000"/>
            </a:pPr>
            <a:r>
              <a:rPr lang="zh-CN" altLang="en-US" sz="2000" b="1" dirty="0" smtClean="0">
                <a:solidFill>
                  <a:srgbClr val="000066"/>
                </a:solidFill>
                <a:ea typeface="幼圆" panose="02010509060101010101" pitchFamily="49" charset="-122"/>
                <a:cs typeface="Times New Roman" panose="02020603050405020304" pitchFamily="18" charset="0"/>
              </a:rPr>
              <a:t>土</a:t>
            </a:r>
            <a:r>
              <a:rPr lang="zh-CN" altLang="en-US" sz="2000" b="1" dirty="0">
                <a:solidFill>
                  <a:srgbClr val="000066"/>
                </a:solidFill>
                <a:ea typeface="幼圆" panose="02010509060101010101" pitchFamily="49" charset="-122"/>
                <a:cs typeface="Times New Roman" panose="02020603050405020304" pitchFamily="18" charset="0"/>
              </a:rPr>
              <a:t>中大于此粒径和小于此粒径的土的含量均占</a:t>
            </a:r>
            <a:r>
              <a:rPr lang="en-US" altLang="zh-CN" sz="2000" b="1" dirty="0">
                <a:solidFill>
                  <a:srgbClr val="000066"/>
                </a:solidFill>
                <a:ea typeface="幼圆" panose="02010509060101010101" pitchFamily="49" charset="-122"/>
                <a:cs typeface="Times New Roman" panose="02020603050405020304" pitchFamily="18" charset="0"/>
              </a:rPr>
              <a:t>50</a:t>
            </a:r>
            <a:r>
              <a:rPr lang="en-US" altLang="zh-CN" sz="2000" b="1" dirty="0" smtClean="0">
                <a:solidFill>
                  <a:srgbClr val="000066"/>
                </a:solidFill>
                <a:ea typeface="幼圆" panose="02010509060101010101" pitchFamily="49" charset="-122"/>
                <a:cs typeface="Times New Roman" panose="02020603050405020304" pitchFamily="18" charset="0"/>
              </a:rPr>
              <a:t>%</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259" name="矩形 258"/>
          <p:cNvSpPr/>
          <p:nvPr/>
        </p:nvSpPr>
        <p:spPr>
          <a:xfrm>
            <a:off x="343230" y="2606118"/>
            <a:ext cx="3468914" cy="800219"/>
          </a:xfrm>
          <a:prstGeom prst="rect">
            <a:avLst/>
          </a:prstGeom>
        </p:spPr>
        <p:txBody>
          <a:bodyPr wrap="square">
            <a:spAutoFit/>
          </a:bodyPr>
          <a:lstStyle/>
          <a:p>
            <a:pPr>
              <a:spcBef>
                <a:spcPts val="0"/>
              </a:spcBef>
              <a:spcAft>
                <a:spcPts val="0"/>
              </a:spcAft>
              <a:buSzPct val="110000"/>
            </a:pPr>
            <a:r>
              <a:rPr lang="zh-CN" altLang="en-US" sz="2000" b="1" dirty="0" smtClean="0">
                <a:solidFill>
                  <a:srgbClr val="C00000"/>
                </a:solidFill>
                <a:ea typeface="幼圆" panose="02010509060101010101" pitchFamily="49" charset="-122"/>
                <a:cs typeface="Times New Roman" panose="02020603050405020304" pitchFamily="18" charset="0"/>
              </a:rPr>
              <a:t>（</a:t>
            </a:r>
            <a:r>
              <a:rPr lang="en-US" altLang="zh-CN" sz="2000" b="1" dirty="0">
                <a:solidFill>
                  <a:srgbClr val="C00000"/>
                </a:solidFill>
                <a:ea typeface="幼圆" panose="02010509060101010101" pitchFamily="49" charset="-122"/>
                <a:cs typeface="Times New Roman" panose="02020603050405020304" pitchFamily="18" charset="0"/>
              </a:rPr>
              <a:t>2</a:t>
            </a:r>
            <a:r>
              <a:rPr lang="zh-CN" altLang="en-US" sz="2000" b="1" dirty="0">
                <a:solidFill>
                  <a:srgbClr val="C00000"/>
                </a:solidFill>
                <a:ea typeface="幼圆" panose="02010509060101010101" pitchFamily="49" charset="-122"/>
                <a:cs typeface="Times New Roman" panose="02020603050405020304" pitchFamily="18" charset="0"/>
              </a:rPr>
              <a:t>）</a:t>
            </a:r>
            <a:r>
              <a:rPr lang="zh-CN" altLang="en-US" sz="2000" b="1" dirty="0" smtClean="0">
                <a:solidFill>
                  <a:srgbClr val="C00000"/>
                </a:solidFill>
                <a:ea typeface="幼圆" panose="02010509060101010101" pitchFamily="49" charset="-122"/>
                <a:cs typeface="Times New Roman" panose="02020603050405020304" pitchFamily="18" charset="0"/>
              </a:rPr>
              <a:t>控制（限制）粒径</a:t>
            </a:r>
            <a:r>
              <a:rPr lang="en-US" altLang="zh-CN" sz="2000" b="1" i="1" dirty="0" smtClean="0">
                <a:solidFill>
                  <a:srgbClr val="C00000"/>
                </a:solidFill>
                <a:ea typeface="幼圆" panose="02010509060101010101" pitchFamily="49" charset="-122"/>
                <a:cs typeface="Times New Roman" panose="02020603050405020304" pitchFamily="18" charset="0"/>
              </a:rPr>
              <a:t>d</a:t>
            </a:r>
            <a:r>
              <a:rPr lang="en-US" altLang="zh-CN" sz="2000" b="1" baseline="-25000" dirty="0" smtClean="0">
                <a:solidFill>
                  <a:srgbClr val="C00000"/>
                </a:solidFill>
                <a:ea typeface="幼圆" panose="02010509060101010101" pitchFamily="49" charset="-122"/>
                <a:cs typeface="Times New Roman" panose="02020603050405020304" pitchFamily="18" charset="0"/>
              </a:rPr>
              <a:t>60</a:t>
            </a:r>
          </a:p>
          <a:p>
            <a:pPr>
              <a:spcBef>
                <a:spcPts val="0"/>
              </a:spcBef>
              <a:spcAft>
                <a:spcPts val="0"/>
              </a:spcAft>
              <a:buSzPct val="110000"/>
            </a:pPr>
            <a:r>
              <a:rPr lang="zh-CN" altLang="en-US" sz="2000" b="1" dirty="0" smtClean="0">
                <a:solidFill>
                  <a:srgbClr val="000066"/>
                </a:solidFill>
                <a:ea typeface="幼圆" panose="02010509060101010101" pitchFamily="49" charset="-122"/>
                <a:cs typeface="Times New Roman" panose="02020603050405020304" pitchFamily="18" charset="0"/>
              </a:rPr>
              <a:t>土中粗颗粒的代表粒径</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260" name="矩形 259"/>
          <p:cNvSpPr/>
          <p:nvPr/>
        </p:nvSpPr>
        <p:spPr>
          <a:xfrm>
            <a:off x="352509" y="3497983"/>
            <a:ext cx="3468914" cy="800219"/>
          </a:xfrm>
          <a:prstGeom prst="rect">
            <a:avLst/>
          </a:prstGeom>
        </p:spPr>
        <p:txBody>
          <a:bodyPr wrap="square">
            <a:spAutoFit/>
          </a:bodyPr>
          <a:lstStyle/>
          <a:p>
            <a:pPr>
              <a:spcBef>
                <a:spcPts val="0"/>
              </a:spcBef>
              <a:spcAft>
                <a:spcPts val="0"/>
              </a:spcAft>
              <a:buSzPct val="110000"/>
            </a:pPr>
            <a:r>
              <a:rPr lang="zh-CN" altLang="en-US" sz="2000" b="1" dirty="0" smtClean="0">
                <a:solidFill>
                  <a:srgbClr val="C00000"/>
                </a:solidFill>
                <a:ea typeface="幼圆" panose="02010509060101010101" pitchFamily="49" charset="-122"/>
                <a:cs typeface="Times New Roman" panose="02020603050405020304" pitchFamily="18" charset="0"/>
              </a:rPr>
              <a:t>（</a:t>
            </a:r>
            <a:r>
              <a:rPr lang="en-US" altLang="zh-CN" sz="2000" b="1" dirty="0" smtClean="0">
                <a:solidFill>
                  <a:srgbClr val="C00000"/>
                </a:solidFill>
                <a:ea typeface="幼圆" panose="02010509060101010101" pitchFamily="49" charset="-122"/>
                <a:cs typeface="Times New Roman" panose="02020603050405020304" pitchFamily="18" charset="0"/>
              </a:rPr>
              <a:t>3</a:t>
            </a:r>
            <a:r>
              <a:rPr lang="zh-CN" altLang="en-US" sz="2000" b="1" dirty="0" smtClean="0">
                <a:solidFill>
                  <a:srgbClr val="C00000"/>
                </a:solidFill>
                <a:ea typeface="幼圆" panose="02010509060101010101" pitchFamily="49" charset="-122"/>
                <a:cs typeface="Times New Roman" panose="02020603050405020304" pitchFamily="18" charset="0"/>
              </a:rPr>
              <a:t>）有效粒径</a:t>
            </a:r>
            <a:r>
              <a:rPr lang="en-US" altLang="zh-CN" sz="2000" b="1" i="1" dirty="0" smtClean="0">
                <a:solidFill>
                  <a:srgbClr val="C00000"/>
                </a:solidFill>
                <a:ea typeface="幼圆" panose="02010509060101010101" pitchFamily="49" charset="-122"/>
                <a:cs typeface="Times New Roman" panose="02020603050405020304" pitchFamily="18" charset="0"/>
              </a:rPr>
              <a:t>d</a:t>
            </a:r>
            <a:r>
              <a:rPr lang="en-US" altLang="zh-CN" sz="2000" b="1" baseline="-25000" dirty="0" smtClean="0">
                <a:solidFill>
                  <a:srgbClr val="C00000"/>
                </a:solidFill>
                <a:ea typeface="幼圆" panose="02010509060101010101" pitchFamily="49" charset="-122"/>
                <a:cs typeface="Times New Roman" panose="02020603050405020304" pitchFamily="18" charset="0"/>
              </a:rPr>
              <a:t>10</a:t>
            </a:r>
          </a:p>
          <a:p>
            <a:pPr>
              <a:spcBef>
                <a:spcPts val="0"/>
              </a:spcBef>
              <a:spcAft>
                <a:spcPts val="0"/>
              </a:spcAft>
              <a:buSzPct val="110000"/>
            </a:pPr>
            <a:r>
              <a:rPr lang="zh-CN" altLang="en-US" sz="2000" b="1" dirty="0" smtClean="0">
                <a:solidFill>
                  <a:srgbClr val="000066"/>
                </a:solidFill>
                <a:ea typeface="幼圆" panose="02010509060101010101" pitchFamily="49" charset="-122"/>
                <a:cs typeface="Times New Roman" panose="02020603050405020304" pitchFamily="18" charset="0"/>
              </a:rPr>
              <a:t>土中细颗粒的代表粒径</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261" name="矩形 260"/>
          <p:cNvSpPr/>
          <p:nvPr/>
        </p:nvSpPr>
        <p:spPr>
          <a:xfrm>
            <a:off x="361789" y="4397803"/>
            <a:ext cx="3224247" cy="800219"/>
          </a:xfrm>
          <a:prstGeom prst="rect">
            <a:avLst/>
          </a:prstGeom>
        </p:spPr>
        <p:txBody>
          <a:bodyPr wrap="square">
            <a:spAutoFit/>
          </a:bodyPr>
          <a:lstStyle/>
          <a:p>
            <a:pPr>
              <a:spcBef>
                <a:spcPts val="0"/>
              </a:spcBef>
              <a:spcAft>
                <a:spcPts val="0"/>
              </a:spcAft>
              <a:buSzPct val="110000"/>
            </a:pPr>
            <a:r>
              <a:rPr lang="zh-CN" altLang="en-US" sz="2000" b="1" dirty="0" smtClean="0">
                <a:solidFill>
                  <a:srgbClr val="C00000"/>
                </a:solidFill>
                <a:ea typeface="幼圆" panose="02010509060101010101" pitchFamily="49" charset="-122"/>
                <a:cs typeface="Times New Roman" panose="02020603050405020304" pitchFamily="18" charset="0"/>
              </a:rPr>
              <a:t>（</a:t>
            </a:r>
            <a:r>
              <a:rPr lang="en-US" altLang="zh-CN" sz="2000" b="1" dirty="0">
                <a:solidFill>
                  <a:srgbClr val="C00000"/>
                </a:solidFill>
                <a:ea typeface="幼圆" panose="02010509060101010101" pitchFamily="49" charset="-122"/>
                <a:cs typeface="Times New Roman" panose="02020603050405020304" pitchFamily="18" charset="0"/>
              </a:rPr>
              <a:t>4</a:t>
            </a:r>
            <a:r>
              <a:rPr lang="zh-CN" altLang="en-US" sz="2000" b="1" dirty="0" smtClean="0">
                <a:solidFill>
                  <a:srgbClr val="C00000"/>
                </a:solidFill>
                <a:ea typeface="幼圆" panose="02010509060101010101" pitchFamily="49" charset="-122"/>
                <a:cs typeface="Times New Roman" panose="02020603050405020304" pitchFamily="18" charset="0"/>
              </a:rPr>
              <a:t>）连续粒径</a:t>
            </a:r>
            <a:r>
              <a:rPr lang="en-US" altLang="zh-CN" sz="2000" b="1" i="1" dirty="0" smtClean="0">
                <a:solidFill>
                  <a:srgbClr val="C00000"/>
                </a:solidFill>
                <a:ea typeface="幼圆" panose="02010509060101010101" pitchFamily="49" charset="-122"/>
                <a:cs typeface="Times New Roman" panose="02020603050405020304" pitchFamily="18" charset="0"/>
              </a:rPr>
              <a:t>d</a:t>
            </a:r>
            <a:r>
              <a:rPr lang="en-US" altLang="zh-CN" sz="2000" b="1" baseline="-25000" dirty="0" smtClean="0">
                <a:solidFill>
                  <a:srgbClr val="C00000"/>
                </a:solidFill>
                <a:ea typeface="幼圆" panose="02010509060101010101" pitchFamily="49" charset="-122"/>
                <a:cs typeface="Times New Roman" panose="02020603050405020304" pitchFamily="18" charset="0"/>
              </a:rPr>
              <a:t>30</a:t>
            </a:r>
          </a:p>
          <a:p>
            <a:pPr>
              <a:spcBef>
                <a:spcPts val="0"/>
              </a:spcBef>
              <a:spcAft>
                <a:spcPts val="0"/>
              </a:spcAft>
              <a:buSzPct val="110000"/>
            </a:pPr>
            <a:r>
              <a:rPr lang="zh-CN" altLang="en-US" sz="2000" b="1" dirty="0" smtClean="0">
                <a:solidFill>
                  <a:srgbClr val="000066"/>
                </a:solidFill>
                <a:ea typeface="幼圆" panose="02010509060101010101" pitchFamily="49" charset="-122"/>
                <a:cs typeface="Times New Roman" panose="02020603050405020304" pitchFamily="18" charset="0"/>
              </a:rPr>
              <a:t>衡量级配的连续性的粒径</a:t>
            </a:r>
            <a:endParaRPr lang="zh-CN" altLang="en-US" sz="2000" b="1" dirty="0">
              <a:solidFill>
                <a:srgbClr val="000066"/>
              </a:solidFill>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3177341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8"/>
                                        </p:tgtEl>
                                        <p:attrNameLst>
                                          <p:attrName>style.visibility</p:attrName>
                                        </p:attrNameLst>
                                      </p:cBhvr>
                                      <p:to>
                                        <p:strVal val="visible"/>
                                      </p:to>
                                    </p:set>
                                    <p:animEffect transition="in" filter="wipe(left)">
                                      <p:cBhvr>
                                        <p:cTn id="7" dur="1000"/>
                                        <p:tgtEl>
                                          <p:spTgt spid="258"/>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159"/>
                                        </p:tgtEl>
                                        <p:attrNameLst>
                                          <p:attrName>style.visibility</p:attrName>
                                        </p:attrNameLst>
                                      </p:cBhvr>
                                      <p:to>
                                        <p:strVal val="visible"/>
                                      </p:to>
                                    </p:set>
                                    <p:animEffect transition="in" filter="wipe(down)">
                                      <p:cBhvr>
                                        <p:cTn id="11" dur="500"/>
                                        <p:tgtEl>
                                          <p:spTgt spid="15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9"/>
                                        </p:tgtEl>
                                        <p:attrNameLst>
                                          <p:attrName>style.visibility</p:attrName>
                                        </p:attrNameLst>
                                      </p:cBhvr>
                                      <p:to>
                                        <p:strVal val="visible"/>
                                      </p:to>
                                    </p:set>
                                    <p:animEffect transition="in" filter="wipe(left)">
                                      <p:cBhvr>
                                        <p:cTn id="16" dur="1000"/>
                                        <p:tgtEl>
                                          <p:spTgt spid="259"/>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153"/>
                                        </p:tgtEl>
                                        <p:attrNameLst>
                                          <p:attrName>style.visibility</p:attrName>
                                        </p:attrNameLst>
                                      </p:cBhvr>
                                      <p:to>
                                        <p:strVal val="visible"/>
                                      </p:to>
                                    </p:set>
                                    <p:animEffect transition="in" filter="wipe(down)">
                                      <p:cBhvr>
                                        <p:cTn id="20" dur="500"/>
                                        <p:tgtEl>
                                          <p:spTgt spid="15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60"/>
                                        </p:tgtEl>
                                        <p:attrNameLst>
                                          <p:attrName>style.visibility</p:attrName>
                                        </p:attrNameLst>
                                      </p:cBhvr>
                                      <p:to>
                                        <p:strVal val="visible"/>
                                      </p:to>
                                    </p:set>
                                    <p:animEffect transition="in" filter="wipe(left)">
                                      <p:cBhvr>
                                        <p:cTn id="25" dur="1000"/>
                                        <p:tgtEl>
                                          <p:spTgt spid="260"/>
                                        </p:tgtEl>
                                      </p:cBhvr>
                                    </p:animEffect>
                                  </p:childTnLst>
                                </p:cTn>
                              </p:par>
                            </p:childTnLst>
                          </p:cTn>
                        </p:par>
                        <p:par>
                          <p:cTn id="26" fill="hold">
                            <p:stCondLst>
                              <p:cond delay="1000"/>
                            </p:stCondLst>
                            <p:childTnLst>
                              <p:par>
                                <p:cTn id="27" presetID="22" presetClass="entr" presetSubtype="4" fill="hold" nodeType="afterEffect">
                                  <p:stCondLst>
                                    <p:cond delay="0"/>
                                  </p:stCondLst>
                                  <p:childTnLst>
                                    <p:set>
                                      <p:cBhvr>
                                        <p:cTn id="28" dur="1" fill="hold">
                                          <p:stCondLst>
                                            <p:cond delay="0"/>
                                          </p:stCondLst>
                                        </p:cTn>
                                        <p:tgtEl>
                                          <p:spTgt spid="171"/>
                                        </p:tgtEl>
                                        <p:attrNameLst>
                                          <p:attrName>style.visibility</p:attrName>
                                        </p:attrNameLst>
                                      </p:cBhvr>
                                      <p:to>
                                        <p:strVal val="visible"/>
                                      </p:to>
                                    </p:set>
                                    <p:animEffect transition="in" filter="wipe(down)">
                                      <p:cBhvr>
                                        <p:cTn id="29" dur="500"/>
                                        <p:tgtEl>
                                          <p:spTgt spid="17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61"/>
                                        </p:tgtEl>
                                        <p:attrNameLst>
                                          <p:attrName>style.visibility</p:attrName>
                                        </p:attrNameLst>
                                      </p:cBhvr>
                                      <p:to>
                                        <p:strVal val="visible"/>
                                      </p:to>
                                    </p:set>
                                    <p:animEffect transition="in" filter="wipe(left)">
                                      <p:cBhvr>
                                        <p:cTn id="34" dur="1000"/>
                                        <p:tgtEl>
                                          <p:spTgt spid="261"/>
                                        </p:tgtEl>
                                      </p:cBhvr>
                                    </p:animEffect>
                                  </p:childTnLst>
                                </p:cTn>
                              </p:par>
                            </p:childTnLst>
                          </p:cTn>
                        </p:par>
                        <p:par>
                          <p:cTn id="35" fill="hold">
                            <p:stCondLst>
                              <p:cond delay="1000"/>
                            </p:stCondLst>
                            <p:childTnLst>
                              <p:par>
                                <p:cTn id="36" presetID="22" presetClass="entr" presetSubtype="4" fill="hold" nodeType="afterEffect">
                                  <p:stCondLst>
                                    <p:cond delay="0"/>
                                  </p:stCondLst>
                                  <p:childTnLst>
                                    <p:set>
                                      <p:cBhvr>
                                        <p:cTn id="37" dur="1" fill="hold">
                                          <p:stCondLst>
                                            <p:cond delay="0"/>
                                          </p:stCondLst>
                                        </p:cTn>
                                        <p:tgtEl>
                                          <p:spTgt spid="165"/>
                                        </p:tgtEl>
                                        <p:attrNameLst>
                                          <p:attrName>style.visibility</p:attrName>
                                        </p:attrNameLst>
                                      </p:cBhvr>
                                      <p:to>
                                        <p:strVal val="visible"/>
                                      </p:to>
                                    </p:set>
                                    <p:animEffect transition="in" filter="wipe(down)">
                                      <p:cBhvr>
                                        <p:cTn id="38"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 grpId="0"/>
      <p:bldP spid="259" grpId="0"/>
      <p:bldP spid="260" grpId="0"/>
      <p:bldP spid="26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ext Box 123"/>
          <p:cNvSpPr txBox="1">
            <a:spLocks noChangeArrowheads="1"/>
          </p:cNvSpPr>
          <p:nvPr/>
        </p:nvSpPr>
        <p:spPr bwMode="auto">
          <a:xfrm>
            <a:off x="2271713" y="5765800"/>
            <a:ext cx="54181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固体颗粒 </a:t>
            </a:r>
            <a:r>
              <a:rPr kumimoji="1" lang="en-US" altLang="zh-CN" sz="4000" b="1" dirty="0">
                <a:solidFill>
                  <a:srgbClr val="000066"/>
                </a:solidFill>
                <a:ea typeface="黑体" pitchFamily="2" charset="-122"/>
              </a:rPr>
              <a:t>–</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级配曲线</a:t>
            </a:r>
            <a:endParaRPr kumimoji="1" lang="en-US" altLang="zh-CN" sz="4000" b="1" dirty="0">
              <a:solidFill>
                <a:srgbClr val="000066"/>
              </a:solidFill>
              <a:latin typeface="黑体" pitchFamily="2" charset="-122"/>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5823932"/>
              </p:ext>
            </p:extLst>
          </p:nvPr>
        </p:nvGraphicFramePr>
        <p:xfrm>
          <a:off x="1484826" y="4233863"/>
          <a:ext cx="1790700" cy="1008062"/>
        </p:xfrm>
        <a:graphic>
          <a:graphicData uri="http://schemas.openxmlformats.org/presentationml/2006/ole">
            <mc:AlternateContent xmlns:mc="http://schemas.openxmlformats.org/markup-compatibility/2006">
              <mc:Choice xmlns:v="urn:schemas-microsoft-com:vml" Requires="v">
                <p:oleObj spid="_x0000_s49386" name="公式" r:id="rId4" imgW="812520" imgH="457200" progId="Equation.3">
                  <p:embed/>
                </p:oleObj>
              </mc:Choice>
              <mc:Fallback>
                <p:oleObj name="公式" r:id="rId4" imgW="812520" imgH="457200" progId="Equation.3">
                  <p:embed/>
                  <p:pic>
                    <p:nvPicPr>
                      <p:cNvPr id="0" name=""/>
                      <p:cNvPicPr/>
                      <p:nvPr/>
                    </p:nvPicPr>
                    <p:blipFill>
                      <a:blip r:embed="rId5"/>
                      <a:stretch>
                        <a:fillRect/>
                      </a:stretch>
                    </p:blipFill>
                    <p:spPr>
                      <a:xfrm>
                        <a:off x="1484826" y="4233863"/>
                        <a:ext cx="1790700" cy="1008062"/>
                      </a:xfrm>
                      <a:prstGeom prst="rect">
                        <a:avLst/>
                      </a:prstGeom>
                    </p:spPr>
                  </p:pic>
                </p:oleObj>
              </mc:Fallback>
            </mc:AlternateContent>
          </a:graphicData>
        </a:graphic>
      </p:graphicFrame>
      <p:sp>
        <p:nvSpPr>
          <p:cNvPr id="222"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339" name="Text Box 6"/>
          <p:cNvSpPr txBox="1">
            <a:spLocks noChangeArrowheads="1"/>
          </p:cNvSpPr>
          <p:nvPr/>
        </p:nvSpPr>
        <p:spPr bwMode="auto">
          <a:xfrm>
            <a:off x="323967" y="655197"/>
            <a:ext cx="3969735"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61950" indent="-361950" eaLnBrk="1" hangingPunct="1">
              <a:spcBef>
                <a:spcPct val="25000"/>
              </a:spcBef>
              <a:spcAft>
                <a:spcPct val="25000"/>
              </a:spcAft>
              <a:buClr>
                <a:srgbClr val="A50021"/>
              </a:buClr>
              <a:buSzPct val="100000"/>
              <a:buFont typeface="Wingdings" panose="05000000000000000000" pitchFamily="2" charset="2"/>
              <a:buChar char="n"/>
            </a:pPr>
            <a:r>
              <a:rPr kumimoji="1" lang="zh-CN" altLang="en-US" sz="2400" b="1" dirty="0" smtClean="0">
                <a:solidFill>
                  <a:srgbClr val="A50021"/>
                </a:solidFill>
                <a:latin typeface="幼圆" pitchFamily="49" charset="-122"/>
                <a:ea typeface="幼圆" pitchFamily="49" charset="-122"/>
              </a:rPr>
              <a:t>判别级配优劣的相关指标</a:t>
            </a:r>
            <a:endParaRPr kumimoji="1" lang="zh-CN" altLang="en-US" sz="2400" b="1" dirty="0">
              <a:solidFill>
                <a:srgbClr val="000066"/>
              </a:solidFill>
              <a:latin typeface="幼圆" pitchFamily="49" charset="-122"/>
              <a:ea typeface="幼圆" pitchFamily="49" charset="-122"/>
            </a:endParaRPr>
          </a:p>
        </p:txBody>
      </p:sp>
      <p:sp>
        <p:nvSpPr>
          <p:cNvPr id="340" name="矩形 339"/>
          <p:cNvSpPr/>
          <p:nvPr/>
        </p:nvSpPr>
        <p:spPr>
          <a:xfrm>
            <a:off x="588386" y="1324638"/>
            <a:ext cx="5064980" cy="481670"/>
          </a:xfrm>
          <a:prstGeom prst="rect">
            <a:avLst/>
          </a:prstGeom>
        </p:spPr>
        <p:txBody>
          <a:bodyPr wrap="square">
            <a:spAutoFit/>
          </a:bodyPr>
          <a:lstStyle/>
          <a:p>
            <a:pPr>
              <a:spcBef>
                <a:spcPts val="0"/>
              </a:spcBef>
              <a:spcAft>
                <a:spcPts val="0"/>
              </a:spcAft>
              <a:buSzPct val="110000"/>
            </a:pPr>
            <a:r>
              <a:rPr lang="zh-CN" altLang="en-US" sz="2200" b="1" dirty="0" smtClean="0">
                <a:solidFill>
                  <a:srgbClr val="C00000"/>
                </a:solidFill>
                <a:ea typeface="幼圆" panose="02010509060101010101" pitchFamily="49" charset="-122"/>
                <a:cs typeface="Times New Roman" panose="02020603050405020304" pitchFamily="18" charset="0"/>
              </a:rPr>
              <a:t>（</a:t>
            </a:r>
            <a:r>
              <a:rPr lang="en-US" altLang="zh-CN" sz="2200" b="1" dirty="0" smtClean="0">
                <a:solidFill>
                  <a:srgbClr val="C00000"/>
                </a:solidFill>
                <a:ea typeface="幼圆" panose="02010509060101010101" pitchFamily="49" charset="-122"/>
                <a:cs typeface="Times New Roman" panose="02020603050405020304" pitchFamily="18" charset="0"/>
              </a:rPr>
              <a:t>1</a:t>
            </a:r>
            <a:r>
              <a:rPr lang="zh-CN" altLang="en-US" sz="2200" b="1" dirty="0">
                <a:solidFill>
                  <a:srgbClr val="C00000"/>
                </a:solidFill>
                <a:ea typeface="幼圆" panose="02010509060101010101" pitchFamily="49" charset="-122"/>
                <a:cs typeface="Times New Roman" panose="02020603050405020304" pitchFamily="18" charset="0"/>
              </a:rPr>
              <a:t>）土的粗细</a:t>
            </a:r>
            <a:r>
              <a:rPr lang="zh-CN" altLang="en-US" sz="2200" b="1" dirty="0" smtClean="0">
                <a:solidFill>
                  <a:srgbClr val="C00000"/>
                </a:solidFill>
                <a:ea typeface="幼圆" panose="02010509060101010101" pitchFamily="49" charset="-122"/>
                <a:cs typeface="Times New Roman" panose="02020603050405020304" pitchFamily="18" charset="0"/>
              </a:rPr>
              <a:t>度：</a:t>
            </a:r>
            <a:r>
              <a:rPr lang="zh-CN" altLang="en-US" sz="2200" b="1" dirty="0">
                <a:solidFill>
                  <a:srgbClr val="000066"/>
                </a:solidFill>
                <a:ea typeface="幼圆" panose="02010509060101010101" pitchFamily="49" charset="-122"/>
                <a:cs typeface="Times New Roman" panose="02020603050405020304" pitchFamily="18" charset="0"/>
              </a:rPr>
              <a:t>用平均粒径</a:t>
            </a:r>
            <a:r>
              <a:rPr lang="en-US" altLang="zh-CN" sz="2200" b="1" i="1" dirty="0" smtClean="0">
                <a:solidFill>
                  <a:srgbClr val="000066"/>
                </a:solidFill>
                <a:ea typeface="幼圆" panose="02010509060101010101" pitchFamily="49" charset="-122"/>
                <a:cs typeface="Times New Roman" panose="02020603050405020304" pitchFamily="18" charset="0"/>
              </a:rPr>
              <a:t>d</a:t>
            </a:r>
            <a:r>
              <a:rPr lang="en-US" altLang="zh-CN" sz="2200" b="1" baseline="-25000" dirty="0" smtClean="0">
                <a:solidFill>
                  <a:srgbClr val="000066"/>
                </a:solidFill>
                <a:ea typeface="幼圆" panose="02010509060101010101" pitchFamily="49" charset="-122"/>
                <a:cs typeface="Times New Roman" panose="02020603050405020304" pitchFamily="18" charset="0"/>
              </a:rPr>
              <a:t>50</a:t>
            </a:r>
            <a:r>
              <a:rPr lang="zh-CN" altLang="en-US" sz="2200" b="1" dirty="0" smtClean="0">
                <a:solidFill>
                  <a:srgbClr val="000066"/>
                </a:solidFill>
                <a:ea typeface="幼圆" panose="02010509060101010101" pitchFamily="49" charset="-122"/>
                <a:cs typeface="Times New Roman" panose="02020603050405020304" pitchFamily="18" charset="0"/>
              </a:rPr>
              <a:t>表示</a:t>
            </a:r>
            <a:endParaRPr lang="zh-CN" altLang="en-US" sz="2200" b="1" dirty="0">
              <a:solidFill>
                <a:srgbClr val="000066"/>
              </a:solidFill>
              <a:ea typeface="幼圆" panose="02010509060101010101" pitchFamily="49" charset="-122"/>
              <a:cs typeface="Times New Roman" panose="02020603050405020304" pitchFamily="18" charset="0"/>
            </a:endParaRPr>
          </a:p>
        </p:txBody>
      </p:sp>
      <p:sp>
        <p:nvSpPr>
          <p:cNvPr id="341" name="矩形 340"/>
          <p:cNvSpPr/>
          <p:nvPr/>
        </p:nvSpPr>
        <p:spPr>
          <a:xfrm>
            <a:off x="589710" y="1938234"/>
            <a:ext cx="6236391" cy="481670"/>
          </a:xfrm>
          <a:prstGeom prst="rect">
            <a:avLst/>
          </a:prstGeom>
        </p:spPr>
        <p:txBody>
          <a:bodyPr wrap="square">
            <a:spAutoFit/>
          </a:bodyPr>
          <a:lstStyle/>
          <a:p>
            <a:pPr>
              <a:spcBef>
                <a:spcPts val="0"/>
              </a:spcBef>
              <a:spcAft>
                <a:spcPts val="0"/>
              </a:spcAft>
              <a:buSzPct val="110000"/>
            </a:pPr>
            <a:r>
              <a:rPr lang="zh-CN" altLang="en-US" sz="2200" b="1" dirty="0" smtClean="0">
                <a:solidFill>
                  <a:srgbClr val="C00000"/>
                </a:solidFill>
                <a:ea typeface="幼圆" panose="02010509060101010101" pitchFamily="49" charset="-122"/>
                <a:cs typeface="Times New Roman" panose="02020603050405020304" pitchFamily="18" charset="0"/>
              </a:rPr>
              <a:t>（</a:t>
            </a:r>
            <a:r>
              <a:rPr lang="en-US" altLang="zh-CN" sz="2200" b="1" dirty="0">
                <a:solidFill>
                  <a:srgbClr val="C00000"/>
                </a:solidFill>
                <a:ea typeface="幼圆" panose="02010509060101010101" pitchFamily="49" charset="-122"/>
                <a:cs typeface="Times New Roman" panose="02020603050405020304" pitchFamily="18" charset="0"/>
              </a:rPr>
              <a:t>2</a:t>
            </a:r>
            <a:r>
              <a:rPr lang="zh-CN" altLang="en-US" sz="2200" b="1" dirty="0">
                <a:solidFill>
                  <a:srgbClr val="C00000"/>
                </a:solidFill>
                <a:ea typeface="幼圆" panose="02010509060101010101" pitchFamily="49" charset="-122"/>
                <a:cs typeface="Times New Roman" panose="02020603050405020304" pitchFamily="18" charset="0"/>
              </a:rPr>
              <a:t>）土的不均匀</a:t>
            </a:r>
            <a:r>
              <a:rPr lang="zh-CN" altLang="en-US" sz="2200" b="1" dirty="0" smtClean="0">
                <a:solidFill>
                  <a:srgbClr val="C00000"/>
                </a:solidFill>
                <a:ea typeface="幼圆" panose="02010509060101010101" pitchFamily="49" charset="-122"/>
                <a:cs typeface="Times New Roman" panose="02020603050405020304" pitchFamily="18" charset="0"/>
              </a:rPr>
              <a:t>程度：</a:t>
            </a:r>
            <a:r>
              <a:rPr lang="zh-CN" altLang="en-US" sz="2200" b="1" dirty="0">
                <a:solidFill>
                  <a:srgbClr val="000066"/>
                </a:solidFill>
                <a:ea typeface="幼圆" panose="02010509060101010101" pitchFamily="49" charset="-122"/>
                <a:cs typeface="Times New Roman" panose="02020603050405020304" pitchFamily="18" charset="0"/>
              </a:rPr>
              <a:t>用不均匀系数</a:t>
            </a:r>
            <a:r>
              <a:rPr lang="en-US" altLang="zh-CN" sz="2200" b="1" i="1" dirty="0" smtClean="0">
                <a:solidFill>
                  <a:srgbClr val="000066"/>
                </a:solidFill>
                <a:ea typeface="幼圆" panose="02010509060101010101" pitchFamily="49" charset="-122"/>
                <a:cs typeface="Times New Roman" panose="02020603050405020304" pitchFamily="18" charset="0"/>
              </a:rPr>
              <a:t>C</a:t>
            </a:r>
            <a:r>
              <a:rPr lang="en-US" altLang="zh-CN" sz="2200" b="1" baseline="-25000" dirty="0" smtClean="0">
                <a:solidFill>
                  <a:srgbClr val="000066"/>
                </a:solidFill>
                <a:ea typeface="幼圆" panose="02010509060101010101" pitchFamily="49" charset="-122"/>
                <a:cs typeface="Times New Roman" panose="02020603050405020304" pitchFamily="18" charset="0"/>
              </a:rPr>
              <a:t>u</a:t>
            </a:r>
            <a:r>
              <a:rPr lang="zh-CN" altLang="en-US" sz="2200" b="1" dirty="0" smtClean="0">
                <a:solidFill>
                  <a:srgbClr val="000066"/>
                </a:solidFill>
                <a:ea typeface="幼圆" panose="02010509060101010101" pitchFamily="49" charset="-122"/>
                <a:cs typeface="Times New Roman" panose="02020603050405020304" pitchFamily="18" charset="0"/>
              </a:rPr>
              <a:t>来衡量</a:t>
            </a:r>
            <a:r>
              <a:rPr lang="en-US" altLang="zh-CN" sz="2200" b="1" dirty="0" smtClean="0">
                <a:solidFill>
                  <a:srgbClr val="000066"/>
                </a:solidFill>
                <a:ea typeface="幼圆" panose="02010509060101010101" pitchFamily="49" charset="-122"/>
                <a:cs typeface="Times New Roman" panose="02020603050405020304" pitchFamily="18" charset="0"/>
              </a:rPr>
              <a:t> </a:t>
            </a:r>
          </a:p>
        </p:txBody>
      </p:sp>
      <p:sp>
        <p:nvSpPr>
          <p:cNvPr id="342" name="矩形 341"/>
          <p:cNvSpPr/>
          <p:nvPr/>
        </p:nvSpPr>
        <p:spPr>
          <a:xfrm>
            <a:off x="598990" y="3641101"/>
            <a:ext cx="5459892" cy="481670"/>
          </a:xfrm>
          <a:prstGeom prst="rect">
            <a:avLst/>
          </a:prstGeom>
        </p:spPr>
        <p:txBody>
          <a:bodyPr wrap="square">
            <a:spAutoFit/>
          </a:bodyPr>
          <a:lstStyle/>
          <a:p>
            <a:pPr>
              <a:spcBef>
                <a:spcPts val="0"/>
              </a:spcBef>
              <a:spcAft>
                <a:spcPts val="0"/>
              </a:spcAft>
              <a:buSzPct val="110000"/>
            </a:pPr>
            <a:r>
              <a:rPr lang="zh-CN" altLang="en-US" sz="2200" b="1" dirty="0" smtClean="0">
                <a:solidFill>
                  <a:srgbClr val="C00000"/>
                </a:solidFill>
                <a:ea typeface="幼圆" panose="02010509060101010101" pitchFamily="49" charset="-122"/>
                <a:cs typeface="Times New Roman" panose="02020603050405020304" pitchFamily="18" charset="0"/>
              </a:rPr>
              <a:t>（</a:t>
            </a:r>
            <a:r>
              <a:rPr lang="en-US" altLang="zh-CN" sz="2200" b="1" dirty="0" smtClean="0">
                <a:solidFill>
                  <a:srgbClr val="C00000"/>
                </a:solidFill>
                <a:ea typeface="幼圆" panose="02010509060101010101" pitchFamily="49" charset="-122"/>
                <a:cs typeface="Times New Roman" panose="02020603050405020304" pitchFamily="18" charset="0"/>
              </a:rPr>
              <a:t>3</a:t>
            </a:r>
            <a:r>
              <a:rPr lang="zh-CN" altLang="en-US" sz="2200" b="1" dirty="0" smtClean="0">
                <a:solidFill>
                  <a:srgbClr val="C00000"/>
                </a:solidFill>
                <a:ea typeface="幼圆" panose="02010509060101010101" pitchFamily="49" charset="-122"/>
                <a:cs typeface="Times New Roman" panose="02020603050405020304" pitchFamily="18" charset="0"/>
              </a:rPr>
              <a:t>）级配连续程度：</a:t>
            </a:r>
            <a:r>
              <a:rPr lang="zh-CN" altLang="en-US" sz="2200" b="1" dirty="0" smtClean="0">
                <a:solidFill>
                  <a:srgbClr val="000066"/>
                </a:solidFill>
                <a:ea typeface="幼圆" panose="02010509060101010101" pitchFamily="49" charset="-122"/>
                <a:cs typeface="Times New Roman" panose="02020603050405020304" pitchFamily="18" charset="0"/>
              </a:rPr>
              <a:t>用</a:t>
            </a:r>
            <a:r>
              <a:rPr lang="zh-CN" altLang="en-US" sz="2200" b="1" dirty="0">
                <a:solidFill>
                  <a:srgbClr val="000066"/>
                </a:solidFill>
                <a:ea typeface="幼圆" panose="02010509060101010101" pitchFamily="49" charset="-122"/>
                <a:cs typeface="Times New Roman" panose="02020603050405020304" pitchFamily="18" charset="0"/>
              </a:rPr>
              <a:t>曲率</a:t>
            </a:r>
            <a:r>
              <a:rPr lang="zh-CN" altLang="en-US" sz="2200" b="1" dirty="0" smtClean="0">
                <a:solidFill>
                  <a:srgbClr val="000066"/>
                </a:solidFill>
                <a:ea typeface="幼圆" panose="02010509060101010101" pitchFamily="49" charset="-122"/>
                <a:cs typeface="Times New Roman" panose="02020603050405020304" pitchFamily="18" charset="0"/>
              </a:rPr>
              <a:t>系数</a:t>
            </a:r>
            <a:r>
              <a:rPr lang="en-US" altLang="zh-CN" sz="2200" b="1" i="1" dirty="0" smtClean="0">
                <a:solidFill>
                  <a:srgbClr val="000066"/>
                </a:solidFill>
                <a:ea typeface="幼圆" panose="02010509060101010101" pitchFamily="49" charset="-122"/>
                <a:cs typeface="Times New Roman" panose="02020603050405020304" pitchFamily="18" charset="0"/>
              </a:rPr>
              <a:t>C</a:t>
            </a:r>
            <a:r>
              <a:rPr lang="en-US" altLang="zh-CN" sz="2200" b="1" baseline="-25000" dirty="0" smtClean="0">
                <a:solidFill>
                  <a:srgbClr val="000066"/>
                </a:solidFill>
                <a:ea typeface="幼圆" panose="02010509060101010101" pitchFamily="49" charset="-122"/>
                <a:cs typeface="Times New Roman" panose="02020603050405020304" pitchFamily="18" charset="0"/>
              </a:rPr>
              <a:t>c</a:t>
            </a:r>
            <a:r>
              <a:rPr lang="zh-CN" altLang="en-US" sz="2200" b="1" dirty="0" smtClean="0">
                <a:solidFill>
                  <a:srgbClr val="000066"/>
                </a:solidFill>
                <a:ea typeface="幼圆" panose="02010509060101010101" pitchFamily="49" charset="-122"/>
                <a:cs typeface="Times New Roman" panose="02020603050405020304" pitchFamily="18" charset="0"/>
              </a:rPr>
              <a:t>来</a:t>
            </a:r>
            <a:r>
              <a:rPr lang="zh-CN" altLang="en-US" sz="2200" b="1" dirty="0">
                <a:solidFill>
                  <a:srgbClr val="000066"/>
                </a:solidFill>
                <a:ea typeface="幼圆" panose="02010509060101010101" pitchFamily="49" charset="-122"/>
                <a:cs typeface="Times New Roman" panose="02020603050405020304" pitchFamily="18" charset="0"/>
              </a:rPr>
              <a:t>衡量</a:t>
            </a:r>
            <a:r>
              <a:rPr lang="en-US" altLang="zh-CN" sz="2200" b="1" dirty="0">
                <a:solidFill>
                  <a:srgbClr val="000066"/>
                </a:solidFill>
                <a:ea typeface="幼圆" panose="02010509060101010101" pitchFamily="49" charset="-122"/>
                <a:cs typeface="Times New Roman" panose="02020603050405020304" pitchFamily="18" charset="0"/>
              </a:rPr>
              <a:t> </a:t>
            </a:r>
            <a:endParaRPr lang="en-US" altLang="zh-CN" sz="2200" b="1" baseline="-25000" dirty="0" smtClean="0">
              <a:solidFill>
                <a:srgbClr val="C00000"/>
              </a:solidFill>
              <a:ea typeface="幼圆" panose="02010509060101010101" pitchFamily="49"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092542841"/>
              </p:ext>
            </p:extLst>
          </p:nvPr>
        </p:nvGraphicFramePr>
        <p:xfrm>
          <a:off x="1677783" y="2517115"/>
          <a:ext cx="1224430" cy="974805"/>
        </p:xfrm>
        <a:graphic>
          <a:graphicData uri="http://schemas.openxmlformats.org/presentationml/2006/ole">
            <mc:AlternateContent xmlns:mc="http://schemas.openxmlformats.org/markup-compatibility/2006">
              <mc:Choice xmlns:v="urn:schemas-microsoft-com:vml" Requires="v">
                <p:oleObj spid="_x0000_s49387" name="公式" r:id="rId6" imgW="558720" imgH="444240" progId="Equation.3">
                  <p:embed/>
                </p:oleObj>
              </mc:Choice>
              <mc:Fallback>
                <p:oleObj name="公式" r:id="rId6" imgW="558720" imgH="444240" progId="Equation.3">
                  <p:embed/>
                  <p:pic>
                    <p:nvPicPr>
                      <p:cNvPr id="0" name=""/>
                      <p:cNvPicPr>
                        <a:picLocks noChangeAspect="1" noChangeArrowheads="1"/>
                      </p:cNvPicPr>
                      <p:nvPr/>
                    </p:nvPicPr>
                    <p:blipFill>
                      <a:blip r:embed="rId7"/>
                      <a:srcRect/>
                      <a:stretch>
                        <a:fillRect/>
                      </a:stretch>
                    </p:blipFill>
                    <p:spPr bwMode="auto">
                      <a:xfrm>
                        <a:off x="1677783" y="2517115"/>
                        <a:ext cx="1224430" cy="974805"/>
                      </a:xfrm>
                      <a:prstGeom prst="rect">
                        <a:avLst/>
                      </a:prstGeom>
                      <a:noFill/>
                      <a:ln>
                        <a:noFill/>
                      </a:ln>
                      <a:extLst/>
                    </p:spPr>
                  </p:pic>
                </p:oleObj>
              </mc:Fallback>
            </mc:AlternateContent>
          </a:graphicData>
        </a:graphic>
      </p:graphicFrame>
      <p:sp>
        <p:nvSpPr>
          <p:cNvPr id="224" name="矩形 223"/>
          <p:cNvSpPr/>
          <p:nvPr/>
        </p:nvSpPr>
        <p:spPr>
          <a:xfrm>
            <a:off x="3572759" y="2497128"/>
            <a:ext cx="2732598" cy="1043747"/>
          </a:xfrm>
          <a:prstGeom prst="rect">
            <a:avLst/>
          </a:prstGeom>
        </p:spPr>
        <p:txBody>
          <a:bodyPr wrap="square">
            <a:spAutoFit/>
          </a:bodyPr>
          <a:lstStyle/>
          <a:p>
            <a:pPr marL="269875" lvl="2" indent="-269875" eaLnBrk="1" hangingPunct="1">
              <a:lnSpc>
                <a:spcPct val="150000"/>
              </a:lnSpc>
              <a:spcBef>
                <a:spcPts val="0"/>
              </a:spcBef>
              <a:spcAft>
                <a:spcPts val="0"/>
              </a:spcAft>
              <a:buClr>
                <a:srgbClr val="C00000"/>
              </a:buClr>
              <a:buSzPct val="130000"/>
              <a:buFont typeface="Arial" panose="020B0604020202020204" pitchFamily="34" charset="0"/>
              <a:buChar char="•"/>
            </a:pPr>
            <a:r>
              <a:rPr lang="en-US" altLang="zh-CN" sz="2200" b="1" i="1" dirty="0" smtClean="0">
                <a:solidFill>
                  <a:srgbClr val="000066"/>
                </a:solidFill>
                <a:ea typeface="幼圆" panose="02010509060101010101" pitchFamily="49" charset="-122"/>
                <a:cs typeface="Times New Roman" panose="02020603050405020304" pitchFamily="18" charset="0"/>
              </a:rPr>
              <a:t>C</a:t>
            </a:r>
            <a:r>
              <a:rPr lang="en-US" altLang="zh-CN" sz="2200" b="1" baseline="-25000" dirty="0" smtClean="0">
                <a:solidFill>
                  <a:srgbClr val="000066"/>
                </a:solidFill>
                <a:ea typeface="幼圆" panose="02010509060101010101" pitchFamily="49" charset="-122"/>
                <a:cs typeface="Times New Roman" panose="02020603050405020304" pitchFamily="18" charset="0"/>
              </a:rPr>
              <a:t>u</a:t>
            </a:r>
            <a:r>
              <a:rPr lang="en-US" altLang="zh-CN" sz="2200" b="1" dirty="0" smtClean="0">
                <a:solidFill>
                  <a:srgbClr val="000066"/>
                </a:solidFill>
                <a:ea typeface="幼圆" panose="02010509060101010101" pitchFamily="49" charset="-122"/>
                <a:cs typeface="Times New Roman" panose="02020603050405020304" pitchFamily="18" charset="0"/>
              </a:rPr>
              <a:t> </a:t>
            </a:r>
            <a:r>
              <a:rPr lang="en-US" altLang="zh-CN" sz="2200" b="1" dirty="0">
                <a:solidFill>
                  <a:srgbClr val="000066"/>
                </a:solidFill>
                <a:ea typeface="幼圆" panose="02010509060101010101" pitchFamily="49" charset="-122"/>
                <a:cs typeface="Times New Roman" panose="02020603050405020304" pitchFamily="18" charset="0"/>
                <a:sym typeface="Symbol" pitchFamily="18" charset="2"/>
              </a:rPr>
              <a:t></a:t>
            </a:r>
            <a:r>
              <a:rPr lang="en-US" altLang="zh-CN" sz="2200" b="1" dirty="0">
                <a:solidFill>
                  <a:srgbClr val="000066"/>
                </a:solidFill>
                <a:ea typeface="幼圆" panose="02010509060101010101" pitchFamily="49" charset="-122"/>
                <a:cs typeface="Times New Roman" panose="02020603050405020304" pitchFamily="18" charset="0"/>
              </a:rPr>
              <a:t>5 </a:t>
            </a:r>
            <a:r>
              <a:rPr lang="zh-CN" altLang="en-US" sz="2200" b="1" dirty="0">
                <a:solidFill>
                  <a:srgbClr val="000066"/>
                </a:solidFill>
                <a:ea typeface="幼圆" panose="02010509060101010101" pitchFamily="49" charset="-122"/>
                <a:cs typeface="Times New Roman" panose="02020603050405020304" pitchFamily="18" charset="0"/>
              </a:rPr>
              <a:t>为不均匀</a:t>
            </a:r>
            <a:r>
              <a:rPr lang="zh-CN" altLang="en-US" sz="2200" b="1" dirty="0" smtClean="0">
                <a:solidFill>
                  <a:srgbClr val="000066"/>
                </a:solidFill>
                <a:ea typeface="幼圆" panose="02010509060101010101" pitchFamily="49" charset="-122"/>
                <a:cs typeface="Times New Roman" panose="02020603050405020304" pitchFamily="18" charset="0"/>
              </a:rPr>
              <a:t>土</a:t>
            </a:r>
            <a:endParaRPr lang="en-US" altLang="zh-CN" sz="2200" b="1" dirty="0" smtClean="0">
              <a:solidFill>
                <a:srgbClr val="000066"/>
              </a:solidFill>
              <a:ea typeface="幼圆" panose="02010509060101010101" pitchFamily="49" charset="-122"/>
              <a:cs typeface="Times New Roman" panose="02020603050405020304" pitchFamily="18" charset="0"/>
            </a:endParaRPr>
          </a:p>
          <a:p>
            <a:pPr marL="269875" lvl="2" indent="-269875" eaLnBrk="1" hangingPunct="1">
              <a:lnSpc>
                <a:spcPct val="150000"/>
              </a:lnSpc>
              <a:spcBef>
                <a:spcPts val="0"/>
              </a:spcBef>
              <a:spcAft>
                <a:spcPts val="0"/>
              </a:spcAft>
              <a:buClr>
                <a:srgbClr val="C00000"/>
              </a:buClr>
              <a:buSzPct val="130000"/>
              <a:buFont typeface="Arial" panose="020B0604020202020204" pitchFamily="34" charset="0"/>
              <a:buChar char="•"/>
            </a:pPr>
            <a:r>
              <a:rPr lang="zh-CN" altLang="en-US" sz="2200" b="1" dirty="0" smtClean="0">
                <a:solidFill>
                  <a:srgbClr val="000066"/>
                </a:solidFill>
                <a:ea typeface="幼圆" panose="02010509060101010101" pitchFamily="49" charset="-122"/>
                <a:cs typeface="Times New Roman" panose="02020603050405020304" pitchFamily="18" charset="0"/>
              </a:rPr>
              <a:t>反之为</a:t>
            </a:r>
            <a:r>
              <a:rPr lang="zh-CN" altLang="en-US" sz="2200" b="1" dirty="0">
                <a:solidFill>
                  <a:srgbClr val="000066"/>
                </a:solidFill>
                <a:ea typeface="幼圆" panose="02010509060101010101" pitchFamily="49" charset="-122"/>
                <a:cs typeface="Times New Roman" panose="02020603050405020304" pitchFamily="18" charset="0"/>
              </a:rPr>
              <a:t>均匀土</a:t>
            </a:r>
          </a:p>
        </p:txBody>
      </p:sp>
      <p:sp>
        <p:nvSpPr>
          <p:cNvPr id="225" name="矩形 224"/>
          <p:cNvSpPr/>
          <p:nvPr/>
        </p:nvSpPr>
        <p:spPr>
          <a:xfrm>
            <a:off x="3582045" y="4287505"/>
            <a:ext cx="2732598" cy="1043747"/>
          </a:xfrm>
          <a:prstGeom prst="rect">
            <a:avLst/>
          </a:prstGeom>
        </p:spPr>
        <p:txBody>
          <a:bodyPr wrap="square">
            <a:spAutoFit/>
          </a:bodyPr>
          <a:lstStyle/>
          <a:p>
            <a:pPr marL="269875" lvl="2" indent="-269875" eaLnBrk="1" hangingPunct="1">
              <a:lnSpc>
                <a:spcPct val="150000"/>
              </a:lnSpc>
              <a:spcBef>
                <a:spcPts val="0"/>
              </a:spcBef>
              <a:spcAft>
                <a:spcPts val="0"/>
              </a:spcAft>
              <a:buClr>
                <a:srgbClr val="C00000"/>
              </a:buClr>
              <a:buSzPct val="130000"/>
              <a:buFont typeface="Arial" panose="020B0604020202020204" pitchFamily="34" charset="0"/>
              <a:buChar char="•"/>
            </a:pPr>
            <a:r>
              <a:rPr lang="en-US" altLang="zh-CN" sz="2200" b="1" i="1" dirty="0" smtClean="0">
                <a:solidFill>
                  <a:srgbClr val="000066"/>
                </a:solidFill>
                <a:ea typeface="幼圆" panose="02010509060101010101" pitchFamily="49" charset="-122"/>
                <a:cs typeface="Times New Roman" panose="02020603050405020304" pitchFamily="18" charset="0"/>
              </a:rPr>
              <a:t>C</a:t>
            </a:r>
            <a:r>
              <a:rPr lang="en-US" altLang="zh-CN" sz="2200" b="1" baseline="-25000" dirty="0" smtClean="0">
                <a:solidFill>
                  <a:srgbClr val="000066"/>
                </a:solidFill>
                <a:ea typeface="幼圆" panose="02010509060101010101" pitchFamily="49" charset="-122"/>
                <a:cs typeface="Times New Roman" panose="02020603050405020304" pitchFamily="18" charset="0"/>
              </a:rPr>
              <a:t>c</a:t>
            </a:r>
            <a:r>
              <a:rPr lang="en-US" altLang="zh-CN" sz="2200" b="1" dirty="0" smtClean="0">
                <a:solidFill>
                  <a:srgbClr val="000066"/>
                </a:solidFill>
                <a:ea typeface="幼圆" panose="02010509060101010101" pitchFamily="49" charset="-122"/>
                <a:cs typeface="Times New Roman" panose="02020603050405020304" pitchFamily="18" charset="0"/>
              </a:rPr>
              <a:t>=1~3</a:t>
            </a:r>
            <a:r>
              <a:rPr lang="zh-CN" altLang="en-US" sz="2200" b="1" dirty="0">
                <a:solidFill>
                  <a:srgbClr val="000066"/>
                </a:solidFill>
                <a:ea typeface="幼圆" panose="02010509060101010101" pitchFamily="49" charset="-122"/>
                <a:cs typeface="Times New Roman" panose="02020603050405020304" pitchFamily="18" charset="0"/>
              </a:rPr>
              <a:t>为连续</a:t>
            </a:r>
            <a:r>
              <a:rPr lang="zh-CN" altLang="en-US" sz="2200" b="1" dirty="0" smtClean="0">
                <a:solidFill>
                  <a:srgbClr val="000066"/>
                </a:solidFill>
                <a:ea typeface="幼圆" panose="02010509060101010101" pitchFamily="49" charset="-122"/>
                <a:cs typeface="Times New Roman" panose="02020603050405020304" pitchFamily="18" charset="0"/>
              </a:rPr>
              <a:t>级配</a:t>
            </a:r>
            <a:endParaRPr lang="en-US" altLang="zh-CN" sz="2200" b="1" dirty="0" smtClean="0">
              <a:solidFill>
                <a:srgbClr val="000066"/>
              </a:solidFill>
              <a:ea typeface="幼圆" panose="02010509060101010101" pitchFamily="49" charset="-122"/>
              <a:cs typeface="Times New Roman" panose="02020603050405020304" pitchFamily="18" charset="0"/>
            </a:endParaRPr>
          </a:p>
          <a:p>
            <a:pPr marL="269875" lvl="2" indent="-269875" eaLnBrk="1" hangingPunct="1">
              <a:lnSpc>
                <a:spcPct val="150000"/>
              </a:lnSpc>
              <a:spcBef>
                <a:spcPts val="0"/>
              </a:spcBef>
              <a:spcAft>
                <a:spcPts val="0"/>
              </a:spcAft>
              <a:buClr>
                <a:srgbClr val="C00000"/>
              </a:buClr>
              <a:buSzPct val="130000"/>
              <a:buFont typeface="Arial" panose="020B0604020202020204" pitchFamily="34" charset="0"/>
              <a:buChar char="•"/>
            </a:pPr>
            <a:r>
              <a:rPr lang="zh-CN" altLang="en-US" sz="2200" b="1" dirty="0" smtClean="0">
                <a:solidFill>
                  <a:srgbClr val="000066"/>
                </a:solidFill>
                <a:ea typeface="幼圆" panose="02010509060101010101" pitchFamily="49" charset="-122"/>
                <a:cs typeface="Times New Roman" panose="02020603050405020304" pitchFamily="18" charset="0"/>
              </a:rPr>
              <a:t>反之为</a:t>
            </a:r>
            <a:r>
              <a:rPr lang="zh-CN" altLang="en-US" sz="2200" b="1" dirty="0">
                <a:solidFill>
                  <a:srgbClr val="000066"/>
                </a:solidFill>
                <a:ea typeface="幼圆" panose="02010509060101010101" pitchFamily="49" charset="-122"/>
                <a:cs typeface="Times New Roman" panose="02020603050405020304" pitchFamily="18" charset="0"/>
              </a:rPr>
              <a:t>不连续级配</a:t>
            </a:r>
          </a:p>
        </p:txBody>
      </p:sp>
    </p:spTree>
    <p:extLst>
      <p:ext uri="{BB962C8B-B14F-4D97-AF65-F5344CB8AC3E}">
        <p14:creationId xmlns:p14="http://schemas.microsoft.com/office/powerpoint/2010/main" val="39070557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0"/>
                                        </p:tgtEl>
                                        <p:attrNameLst>
                                          <p:attrName>style.visibility</p:attrName>
                                        </p:attrNameLst>
                                      </p:cBhvr>
                                      <p:to>
                                        <p:strVal val="visible"/>
                                      </p:to>
                                    </p:set>
                                    <p:animEffect transition="in" filter="wipe(left)">
                                      <p:cBhvr>
                                        <p:cTn id="7" dur="1000"/>
                                        <p:tgtEl>
                                          <p:spTgt spid="3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1"/>
                                        </p:tgtEl>
                                        <p:attrNameLst>
                                          <p:attrName>style.visibility</p:attrName>
                                        </p:attrNameLst>
                                      </p:cBhvr>
                                      <p:to>
                                        <p:strVal val="visible"/>
                                      </p:to>
                                    </p:set>
                                    <p:animEffect transition="in" filter="wipe(left)">
                                      <p:cBhvr>
                                        <p:cTn id="12" dur="1000"/>
                                        <p:tgtEl>
                                          <p:spTgt spid="341"/>
                                        </p:tgtEl>
                                      </p:cBhvr>
                                    </p:animEffect>
                                  </p:childTnLst>
                                </p:cTn>
                              </p:par>
                            </p:childTnLst>
                          </p:cTn>
                        </p:par>
                        <p:par>
                          <p:cTn id="13" fill="hold">
                            <p:stCondLst>
                              <p:cond delay="1000"/>
                            </p:stCondLst>
                            <p:childTnLst>
                              <p:par>
                                <p:cTn id="14" presetID="31"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1000" fill="hold"/>
                                        <p:tgtEl>
                                          <p:spTgt spid="3"/>
                                        </p:tgtEl>
                                        <p:attrNameLst>
                                          <p:attrName>ppt_w</p:attrName>
                                        </p:attrNameLst>
                                      </p:cBhvr>
                                      <p:tavLst>
                                        <p:tav tm="0">
                                          <p:val>
                                            <p:fltVal val="0"/>
                                          </p:val>
                                        </p:tav>
                                        <p:tav tm="100000">
                                          <p:val>
                                            <p:strVal val="#ppt_w"/>
                                          </p:val>
                                        </p:tav>
                                      </p:tavLst>
                                    </p:anim>
                                    <p:anim calcmode="lin" valueType="num">
                                      <p:cBhvr>
                                        <p:cTn id="17" dur="1000" fill="hold"/>
                                        <p:tgtEl>
                                          <p:spTgt spid="3"/>
                                        </p:tgtEl>
                                        <p:attrNameLst>
                                          <p:attrName>ppt_h</p:attrName>
                                        </p:attrNameLst>
                                      </p:cBhvr>
                                      <p:tavLst>
                                        <p:tav tm="0">
                                          <p:val>
                                            <p:fltVal val="0"/>
                                          </p:val>
                                        </p:tav>
                                        <p:tav tm="100000">
                                          <p:val>
                                            <p:strVal val="#ppt_h"/>
                                          </p:val>
                                        </p:tav>
                                      </p:tavLst>
                                    </p:anim>
                                    <p:anim calcmode="lin" valueType="num">
                                      <p:cBhvr>
                                        <p:cTn id="18" dur="1000" fill="hold"/>
                                        <p:tgtEl>
                                          <p:spTgt spid="3"/>
                                        </p:tgtEl>
                                        <p:attrNameLst>
                                          <p:attrName>style.rotation</p:attrName>
                                        </p:attrNameLst>
                                      </p:cBhvr>
                                      <p:tavLst>
                                        <p:tav tm="0">
                                          <p:val>
                                            <p:fltVal val="90"/>
                                          </p:val>
                                        </p:tav>
                                        <p:tav tm="100000">
                                          <p:val>
                                            <p:fltVal val="0"/>
                                          </p:val>
                                        </p:tav>
                                      </p:tavLst>
                                    </p:anim>
                                    <p:animEffect transition="in" filter="fade">
                                      <p:cBhvr>
                                        <p:cTn id="19" dur="1000"/>
                                        <p:tgtEl>
                                          <p:spTgt spid="3"/>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24"/>
                                        </p:tgtEl>
                                        <p:attrNameLst>
                                          <p:attrName>style.visibility</p:attrName>
                                        </p:attrNameLst>
                                      </p:cBhvr>
                                      <p:to>
                                        <p:strVal val="visible"/>
                                      </p:to>
                                    </p:set>
                                    <p:animEffect transition="in" filter="wipe(left)">
                                      <p:cBhvr>
                                        <p:cTn id="23" dur="1000"/>
                                        <p:tgtEl>
                                          <p:spTgt spid="22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42"/>
                                        </p:tgtEl>
                                        <p:attrNameLst>
                                          <p:attrName>style.visibility</p:attrName>
                                        </p:attrNameLst>
                                      </p:cBhvr>
                                      <p:to>
                                        <p:strVal val="visible"/>
                                      </p:to>
                                    </p:set>
                                    <p:animEffect transition="in" filter="wipe(left)">
                                      <p:cBhvr>
                                        <p:cTn id="28" dur="1000"/>
                                        <p:tgtEl>
                                          <p:spTgt spid="342"/>
                                        </p:tgtEl>
                                      </p:cBhvr>
                                    </p:animEffect>
                                  </p:childTnLst>
                                </p:cTn>
                              </p:par>
                            </p:childTnLst>
                          </p:cTn>
                        </p:par>
                        <p:par>
                          <p:cTn id="29" fill="hold">
                            <p:stCondLst>
                              <p:cond delay="1000"/>
                            </p:stCondLst>
                            <p:childTnLst>
                              <p:par>
                                <p:cTn id="30" presetID="31" presetClass="entr" presetSubtype="0"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1000" fill="hold"/>
                                        <p:tgtEl>
                                          <p:spTgt spid="2"/>
                                        </p:tgtEl>
                                        <p:attrNameLst>
                                          <p:attrName>ppt_w</p:attrName>
                                        </p:attrNameLst>
                                      </p:cBhvr>
                                      <p:tavLst>
                                        <p:tav tm="0">
                                          <p:val>
                                            <p:fltVal val="0"/>
                                          </p:val>
                                        </p:tav>
                                        <p:tav tm="100000">
                                          <p:val>
                                            <p:strVal val="#ppt_w"/>
                                          </p:val>
                                        </p:tav>
                                      </p:tavLst>
                                    </p:anim>
                                    <p:anim calcmode="lin" valueType="num">
                                      <p:cBhvr>
                                        <p:cTn id="33" dur="1000" fill="hold"/>
                                        <p:tgtEl>
                                          <p:spTgt spid="2"/>
                                        </p:tgtEl>
                                        <p:attrNameLst>
                                          <p:attrName>ppt_h</p:attrName>
                                        </p:attrNameLst>
                                      </p:cBhvr>
                                      <p:tavLst>
                                        <p:tav tm="0">
                                          <p:val>
                                            <p:fltVal val="0"/>
                                          </p:val>
                                        </p:tav>
                                        <p:tav tm="100000">
                                          <p:val>
                                            <p:strVal val="#ppt_h"/>
                                          </p:val>
                                        </p:tav>
                                      </p:tavLst>
                                    </p:anim>
                                    <p:anim calcmode="lin" valueType="num">
                                      <p:cBhvr>
                                        <p:cTn id="34" dur="1000" fill="hold"/>
                                        <p:tgtEl>
                                          <p:spTgt spid="2"/>
                                        </p:tgtEl>
                                        <p:attrNameLst>
                                          <p:attrName>style.rotation</p:attrName>
                                        </p:attrNameLst>
                                      </p:cBhvr>
                                      <p:tavLst>
                                        <p:tav tm="0">
                                          <p:val>
                                            <p:fltVal val="90"/>
                                          </p:val>
                                        </p:tav>
                                        <p:tav tm="100000">
                                          <p:val>
                                            <p:fltVal val="0"/>
                                          </p:val>
                                        </p:tav>
                                      </p:tavLst>
                                    </p:anim>
                                    <p:animEffect transition="in" filter="fade">
                                      <p:cBhvr>
                                        <p:cTn id="35" dur="1000"/>
                                        <p:tgtEl>
                                          <p:spTgt spid="2"/>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225"/>
                                        </p:tgtEl>
                                        <p:attrNameLst>
                                          <p:attrName>style.visibility</p:attrName>
                                        </p:attrNameLst>
                                      </p:cBhvr>
                                      <p:to>
                                        <p:strVal val="visible"/>
                                      </p:to>
                                    </p:set>
                                    <p:animEffect transition="in" filter="wipe(left)">
                                      <p:cBhvr>
                                        <p:cTn id="39" dur="100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 grpId="0"/>
      <p:bldP spid="341" grpId="0"/>
      <p:bldP spid="342" grpId="0"/>
      <p:bldP spid="224" grpId="0"/>
      <p:bldP spid="2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5" name="Group 9"/>
          <p:cNvGrpSpPr>
            <a:grpSpLocks/>
          </p:cNvGrpSpPr>
          <p:nvPr/>
        </p:nvGrpSpPr>
        <p:grpSpPr bwMode="auto">
          <a:xfrm>
            <a:off x="4846624" y="1433169"/>
            <a:ext cx="4117975" cy="3184525"/>
            <a:chOff x="3024" y="960"/>
            <a:chExt cx="2594" cy="2006"/>
          </a:xfrm>
        </p:grpSpPr>
        <p:sp>
          <p:nvSpPr>
            <p:cNvPr id="44118" name="Freeform 10"/>
            <p:cNvSpPr>
              <a:spLocks/>
            </p:cNvSpPr>
            <p:nvPr/>
          </p:nvSpPr>
          <p:spPr bwMode="auto">
            <a:xfrm>
              <a:off x="3028" y="964"/>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19" name="Freeform 11"/>
            <p:cNvSpPr>
              <a:spLocks/>
            </p:cNvSpPr>
            <p:nvPr/>
          </p:nvSpPr>
          <p:spPr bwMode="auto">
            <a:xfrm>
              <a:off x="3057" y="963"/>
              <a:ext cx="2" cy="2001"/>
            </a:xfrm>
            <a:custGeom>
              <a:avLst/>
              <a:gdLst>
                <a:gd name="T0" fmla="*/ 0 w 2"/>
                <a:gd name="T1" fmla="*/ 0 h 2001"/>
                <a:gd name="T2" fmla="*/ 2 w 2"/>
                <a:gd name="T3" fmla="*/ 2001 h 2001"/>
                <a:gd name="T4" fmla="*/ 0 60000 65536"/>
                <a:gd name="T5" fmla="*/ 0 60000 65536"/>
                <a:gd name="T6" fmla="*/ 0 w 2"/>
                <a:gd name="T7" fmla="*/ 0 h 2001"/>
                <a:gd name="T8" fmla="*/ 2 w 2"/>
                <a:gd name="T9" fmla="*/ 2001 h 2001"/>
              </a:gdLst>
              <a:ahLst/>
              <a:cxnLst>
                <a:cxn ang="T4">
                  <a:pos x="T0" y="T1"/>
                </a:cxn>
                <a:cxn ang="T5">
                  <a:pos x="T2" y="T3"/>
                </a:cxn>
              </a:cxnLst>
              <a:rect l="T6" t="T7" r="T8" b="T9"/>
              <a:pathLst>
                <a:path w="2" h="2001">
                  <a:moveTo>
                    <a:pt x="0" y="0"/>
                  </a:moveTo>
                  <a:lnTo>
                    <a:pt x="2"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20" name="Freeform 12"/>
            <p:cNvSpPr>
              <a:spLocks/>
            </p:cNvSpPr>
            <p:nvPr/>
          </p:nvSpPr>
          <p:spPr bwMode="auto">
            <a:xfrm>
              <a:off x="3094" y="962"/>
              <a:ext cx="1" cy="2004"/>
            </a:xfrm>
            <a:custGeom>
              <a:avLst/>
              <a:gdLst>
                <a:gd name="T0" fmla="*/ 0 w 1"/>
                <a:gd name="T1" fmla="*/ 0 h 2004"/>
                <a:gd name="T2" fmla="*/ 1 w 1"/>
                <a:gd name="T3" fmla="*/ 2004 h 2004"/>
                <a:gd name="T4" fmla="*/ 0 60000 65536"/>
                <a:gd name="T5" fmla="*/ 0 60000 65536"/>
                <a:gd name="T6" fmla="*/ 0 w 1"/>
                <a:gd name="T7" fmla="*/ 0 h 2004"/>
                <a:gd name="T8" fmla="*/ 1 w 1"/>
                <a:gd name="T9" fmla="*/ 2004 h 2004"/>
              </a:gdLst>
              <a:ahLst/>
              <a:cxnLst>
                <a:cxn ang="T4">
                  <a:pos x="T0" y="T1"/>
                </a:cxn>
                <a:cxn ang="T5">
                  <a:pos x="T2" y="T3"/>
                </a:cxn>
              </a:cxnLst>
              <a:rect l="T6" t="T7" r="T8" b="T9"/>
              <a:pathLst>
                <a:path w="1" h="2004">
                  <a:moveTo>
                    <a:pt x="0" y="0"/>
                  </a:moveTo>
                  <a:lnTo>
                    <a:pt x="1" y="2004"/>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21" name="Freeform 13"/>
            <p:cNvSpPr>
              <a:spLocks/>
            </p:cNvSpPr>
            <p:nvPr/>
          </p:nvSpPr>
          <p:spPr bwMode="auto">
            <a:xfrm>
              <a:off x="3136" y="965"/>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22" name="Freeform 14"/>
            <p:cNvSpPr>
              <a:spLocks/>
            </p:cNvSpPr>
            <p:nvPr/>
          </p:nvSpPr>
          <p:spPr bwMode="auto">
            <a:xfrm>
              <a:off x="3189" y="962"/>
              <a:ext cx="1" cy="1998"/>
            </a:xfrm>
            <a:custGeom>
              <a:avLst/>
              <a:gdLst>
                <a:gd name="T0" fmla="*/ 0 w 1"/>
                <a:gd name="T1" fmla="*/ 0 h 1998"/>
                <a:gd name="T2" fmla="*/ 1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1"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23" name="Freeform 15"/>
            <p:cNvSpPr>
              <a:spLocks/>
            </p:cNvSpPr>
            <p:nvPr/>
          </p:nvSpPr>
          <p:spPr bwMode="auto">
            <a:xfrm>
              <a:off x="3242" y="962"/>
              <a:ext cx="1" cy="2000"/>
            </a:xfrm>
            <a:custGeom>
              <a:avLst/>
              <a:gdLst>
                <a:gd name="T0" fmla="*/ 0 w 1"/>
                <a:gd name="T1" fmla="*/ 0 h 2000"/>
                <a:gd name="T2" fmla="*/ 1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0" y="0"/>
                  </a:moveTo>
                  <a:lnTo>
                    <a:pt x="1"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24" name="Freeform 16"/>
            <p:cNvSpPr>
              <a:spLocks/>
            </p:cNvSpPr>
            <p:nvPr/>
          </p:nvSpPr>
          <p:spPr bwMode="auto">
            <a:xfrm>
              <a:off x="3306" y="960"/>
              <a:ext cx="2" cy="2000"/>
            </a:xfrm>
            <a:custGeom>
              <a:avLst/>
              <a:gdLst>
                <a:gd name="T0" fmla="*/ 0 w 2"/>
                <a:gd name="T1" fmla="*/ 0 h 2000"/>
                <a:gd name="T2" fmla="*/ 2 w 2"/>
                <a:gd name="T3" fmla="*/ 2000 h 2000"/>
                <a:gd name="T4" fmla="*/ 0 60000 65536"/>
                <a:gd name="T5" fmla="*/ 0 60000 65536"/>
                <a:gd name="T6" fmla="*/ 0 w 2"/>
                <a:gd name="T7" fmla="*/ 0 h 2000"/>
                <a:gd name="T8" fmla="*/ 2 w 2"/>
                <a:gd name="T9" fmla="*/ 2000 h 2000"/>
              </a:gdLst>
              <a:ahLst/>
              <a:cxnLst>
                <a:cxn ang="T4">
                  <a:pos x="T0" y="T1"/>
                </a:cxn>
                <a:cxn ang="T5">
                  <a:pos x="T2" y="T3"/>
                </a:cxn>
              </a:cxnLst>
              <a:rect l="T6" t="T7" r="T8" b="T9"/>
              <a:pathLst>
                <a:path w="2" h="2000">
                  <a:moveTo>
                    <a:pt x="0" y="0"/>
                  </a:moveTo>
                  <a:lnTo>
                    <a:pt x="2"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25" name="Freeform 17"/>
            <p:cNvSpPr>
              <a:spLocks/>
            </p:cNvSpPr>
            <p:nvPr/>
          </p:nvSpPr>
          <p:spPr bwMode="auto">
            <a:xfrm>
              <a:off x="3379"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26" name="Freeform 18"/>
            <p:cNvSpPr>
              <a:spLocks/>
            </p:cNvSpPr>
            <p:nvPr/>
          </p:nvSpPr>
          <p:spPr bwMode="auto">
            <a:xfrm>
              <a:off x="3495" y="963"/>
              <a:ext cx="1" cy="2001"/>
            </a:xfrm>
            <a:custGeom>
              <a:avLst/>
              <a:gdLst>
                <a:gd name="T0" fmla="*/ 0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0"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27" name="Freeform 19"/>
            <p:cNvSpPr>
              <a:spLocks/>
            </p:cNvSpPr>
            <p:nvPr/>
          </p:nvSpPr>
          <p:spPr bwMode="auto">
            <a:xfrm>
              <a:off x="3682" y="963"/>
              <a:ext cx="1" cy="1997"/>
            </a:xfrm>
            <a:custGeom>
              <a:avLst/>
              <a:gdLst>
                <a:gd name="T0" fmla="*/ 1 w 1"/>
                <a:gd name="T1" fmla="*/ 0 h 1997"/>
                <a:gd name="T2" fmla="*/ 0 w 1"/>
                <a:gd name="T3" fmla="*/ 1997 h 1997"/>
                <a:gd name="T4" fmla="*/ 0 60000 65536"/>
                <a:gd name="T5" fmla="*/ 0 60000 65536"/>
                <a:gd name="T6" fmla="*/ 0 w 1"/>
                <a:gd name="T7" fmla="*/ 0 h 1997"/>
                <a:gd name="T8" fmla="*/ 1 w 1"/>
                <a:gd name="T9" fmla="*/ 1997 h 1997"/>
              </a:gdLst>
              <a:ahLst/>
              <a:cxnLst>
                <a:cxn ang="T4">
                  <a:pos x="T0" y="T1"/>
                </a:cxn>
                <a:cxn ang="T5">
                  <a:pos x="T2" y="T3"/>
                </a:cxn>
              </a:cxnLst>
              <a:rect l="T6" t="T7" r="T8" b="T9"/>
              <a:pathLst>
                <a:path w="1" h="1997">
                  <a:moveTo>
                    <a:pt x="1"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28" name="Freeform 20"/>
            <p:cNvSpPr>
              <a:spLocks/>
            </p:cNvSpPr>
            <p:nvPr/>
          </p:nvSpPr>
          <p:spPr bwMode="auto">
            <a:xfrm>
              <a:off x="3711" y="962"/>
              <a:ext cx="2" cy="2002"/>
            </a:xfrm>
            <a:custGeom>
              <a:avLst/>
              <a:gdLst>
                <a:gd name="T0" fmla="*/ 2 w 2"/>
                <a:gd name="T1" fmla="*/ 0 h 2002"/>
                <a:gd name="T2" fmla="*/ 0 w 2"/>
                <a:gd name="T3" fmla="*/ 2002 h 2002"/>
                <a:gd name="T4" fmla="*/ 0 60000 65536"/>
                <a:gd name="T5" fmla="*/ 0 60000 65536"/>
                <a:gd name="T6" fmla="*/ 0 w 2"/>
                <a:gd name="T7" fmla="*/ 0 h 2002"/>
                <a:gd name="T8" fmla="*/ 2 w 2"/>
                <a:gd name="T9" fmla="*/ 2002 h 2002"/>
              </a:gdLst>
              <a:ahLst/>
              <a:cxnLst>
                <a:cxn ang="T4">
                  <a:pos x="T0" y="T1"/>
                </a:cxn>
                <a:cxn ang="T5">
                  <a:pos x="T2" y="T3"/>
                </a:cxn>
              </a:cxnLst>
              <a:rect l="T6" t="T7" r="T8" b="T9"/>
              <a:pathLst>
                <a:path w="2" h="2002">
                  <a:moveTo>
                    <a:pt x="2"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29" name="Freeform 21"/>
            <p:cNvSpPr>
              <a:spLocks/>
            </p:cNvSpPr>
            <p:nvPr/>
          </p:nvSpPr>
          <p:spPr bwMode="auto">
            <a:xfrm>
              <a:off x="3747"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30" name="Freeform 22"/>
            <p:cNvSpPr>
              <a:spLocks/>
            </p:cNvSpPr>
            <p:nvPr/>
          </p:nvSpPr>
          <p:spPr bwMode="auto">
            <a:xfrm>
              <a:off x="3786"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31" name="Freeform 23"/>
            <p:cNvSpPr>
              <a:spLocks/>
            </p:cNvSpPr>
            <p:nvPr/>
          </p:nvSpPr>
          <p:spPr bwMode="auto">
            <a:xfrm>
              <a:off x="3840" y="963"/>
              <a:ext cx="1" cy="1997"/>
            </a:xfrm>
            <a:custGeom>
              <a:avLst/>
              <a:gdLst>
                <a:gd name="T0" fmla="*/ 0 w 1"/>
                <a:gd name="T1" fmla="*/ 0 h 1997"/>
                <a:gd name="T2" fmla="*/ 0 w 1"/>
                <a:gd name="T3" fmla="*/ 1997 h 1997"/>
                <a:gd name="T4" fmla="*/ 0 60000 65536"/>
                <a:gd name="T5" fmla="*/ 0 60000 65536"/>
                <a:gd name="T6" fmla="*/ 0 w 1"/>
                <a:gd name="T7" fmla="*/ 0 h 1997"/>
                <a:gd name="T8" fmla="*/ 1 w 1"/>
                <a:gd name="T9" fmla="*/ 1997 h 1997"/>
              </a:gdLst>
              <a:ahLst/>
              <a:cxnLst>
                <a:cxn ang="T4">
                  <a:pos x="T0" y="T1"/>
                </a:cxn>
                <a:cxn ang="T5">
                  <a:pos x="T2" y="T3"/>
                </a:cxn>
              </a:cxnLst>
              <a:rect l="T6" t="T7" r="T8" b="T9"/>
              <a:pathLst>
                <a:path w="1" h="1997">
                  <a:moveTo>
                    <a:pt x="0"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32" name="Freeform 24"/>
            <p:cNvSpPr>
              <a:spLocks/>
            </p:cNvSpPr>
            <p:nvPr/>
          </p:nvSpPr>
          <p:spPr bwMode="auto">
            <a:xfrm>
              <a:off x="3893" y="963"/>
              <a:ext cx="1" cy="1999"/>
            </a:xfrm>
            <a:custGeom>
              <a:avLst/>
              <a:gdLst>
                <a:gd name="T0" fmla="*/ 1 w 1"/>
                <a:gd name="T1" fmla="*/ 0 h 1999"/>
                <a:gd name="T2" fmla="*/ 0 w 1"/>
                <a:gd name="T3" fmla="*/ 1999 h 1999"/>
                <a:gd name="T4" fmla="*/ 0 60000 65536"/>
                <a:gd name="T5" fmla="*/ 0 60000 65536"/>
                <a:gd name="T6" fmla="*/ 0 w 1"/>
                <a:gd name="T7" fmla="*/ 0 h 1999"/>
                <a:gd name="T8" fmla="*/ 1 w 1"/>
                <a:gd name="T9" fmla="*/ 1999 h 1999"/>
              </a:gdLst>
              <a:ahLst/>
              <a:cxnLst>
                <a:cxn ang="T4">
                  <a:pos x="T0" y="T1"/>
                </a:cxn>
                <a:cxn ang="T5">
                  <a:pos x="T2" y="T3"/>
                </a:cxn>
              </a:cxnLst>
              <a:rect l="T6" t="T7" r="T8" b="T9"/>
              <a:pathLst>
                <a:path w="1" h="1999">
                  <a:moveTo>
                    <a:pt x="1"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33" name="Freeform 25"/>
            <p:cNvSpPr>
              <a:spLocks/>
            </p:cNvSpPr>
            <p:nvPr/>
          </p:nvSpPr>
          <p:spPr bwMode="auto">
            <a:xfrm>
              <a:off x="3958" y="968"/>
              <a:ext cx="1" cy="1992"/>
            </a:xfrm>
            <a:custGeom>
              <a:avLst/>
              <a:gdLst>
                <a:gd name="T0" fmla="*/ 1 w 1"/>
                <a:gd name="T1" fmla="*/ 0 h 1992"/>
                <a:gd name="T2" fmla="*/ 0 w 1"/>
                <a:gd name="T3" fmla="*/ 1992 h 1992"/>
                <a:gd name="T4" fmla="*/ 0 60000 65536"/>
                <a:gd name="T5" fmla="*/ 0 60000 65536"/>
                <a:gd name="T6" fmla="*/ 0 w 1"/>
                <a:gd name="T7" fmla="*/ 0 h 1992"/>
                <a:gd name="T8" fmla="*/ 1 w 1"/>
                <a:gd name="T9" fmla="*/ 1992 h 1992"/>
              </a:gdLst>
              <a:ahLst/>
              <a:cxnLst>
                <a:cxn ang="T4">
                  <a:pos x="T0" y="T1"/>
                </a:cxn>
                <a:cxn ang="T5">
                  <a:pos x="T2" y="T3"/>
                </a:cxn>
              </a:cxnLst>
              <a:rect l="T6" t="T7" r="T8" b="T9"/>
              <a:pathLst>
                <a:path w="1" h="1992">
                  <a:moveTo>
                    <a:pt x="1" y="0"/>
                  </a:moveTo>
                  <a:lnTo>
                    <a:pt x="0" y="199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34" name="Freeform 26"/>
            <p:cNvSpPr>
              <a:spLocks/>
            </p:cNvSpPr>
            <p:nvPr/>
          </p:nvSpPr>
          <p:spPr bwMode="auto">
            <a:xfrm>
              <a:off x="4029"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35" name="Freeform 27"/>
            <p:cNvSpPr>
              <a:spLocks/>
            </p:cNvSpPr>
            <p:nvPr/>
          </p:nvSpPr>
          <p:spPr bwMode="auto">
            <a:xfrm>
              <a:off x="4145" y="962"/>
              <a:ext cx="1" cy="1998"/>
            </a:xfrm>
            <a:custGeom>
              <a:avLst/>
              <a:gdLst>
                <a:gd name="T0" fmla="*/ 1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1"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36" name="Freeform 28"/>
            <p:cNvSpPr>
              <a:spLocks/>
            </p:cNvSpPr>
            <p:nvPr/>
          </p:nvSpPr>
          <p:spPr bwMode="auto">
            <a:xfrm>
              <a:off x="4317" y="962"/>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37" name="Freeform 29"/>
            <p:cNvSpPr>
              <a:spLocks/>
            </p:cNvSpPr>
            <p:nvPr/>
          </p:nvSpPr>
          <p:spPr bwMode="auto">
            <a:xfrm>
              <a:off x="4346"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38" name="Freeform 30"/>
            <p:cNvSpPr>
              <a:spLocks/>
            </p:cNvSpPr>
            <p:nvPr/>
          </p:nvSpPr>
          <p:spPr bwMode="auto">
            <a:xfrm>
              <a:off x="4382" y="963"/>
              <a:ext cx="1" cy="2003"/>
            </a:xfrm>
            <a:custGeom>
              <a:avLst/>
              <a:gdLst>
                <a:gd name="T0" fmla="*/ 0 w 1"/>
                <a:gd name="T1" fmla="*/ 0 h 2003"/>
                <a:gd name="T2" fmla="*/ 0 w 1"/>
                <a:gd name="T3" fmla="*/ 2003 h 2003"/>
                <a:gd name="T4" fmla="*/ 0 60000 65536"/>
                <a:gd name="T5" fmla="*/ 0 60000 65536"/>
                <a:gd name="T6" fmla="*/ 0 w 1"/>
                <a:gd name="T7" fmla="*/ 0 h 2003"/>
                <a:gd name="T8" fmla="*/ 1 w 1"/>
                <a:gd name="T9" fmla="*/ 2003 h 2003"/>
              </a:gdLst>
              <a:ahLst/>
              <a:cxnLst>
                <a:cxn ang="T4">
                  <a:pos x="T0" y="T1"/>
                </a:cxn>
                <a:cxn ang="T5">
                  <a:pos x="T2" y="T3"/>
                </a:cxn>
              </a:cxnLst>
              <a:rect l="T6" t="T7" r="T8" b="T9"/>
              <a:pathLst>
                <a:path w="1" h="2003">
                  <a:moveTo>
                    <a:pt x="0" y="0"/>
                  </a:moveTo>
                  <a:lnTo>
                    <a:pt x="0" y="2003"/>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39" name="Freeform 31"/>
            <p:cNvSpPr>
              <a:spLocks/>
            </p:cNvSpPr>
            <p:nvPr/>
          </p:nvSpPr>
          <p:spPr bwMode="auto">
            <a:xfrm>
              <a:off x="4421" y="965"/>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40" name="Freeform 32"/>
            <p:cNvSpPr>
              <a:spLocks/>
            </p:cNvSpPr>
            <p:nvPr/>
          </p:nvSpPr>
          <p:spPr bwMode="auto">
            <a:xfrm>
              <a:off x="4475" y="965"/>
              <a:ext cx="1" cy="1995"/>
            </a:xfrm>
            <a:custGeom>
              <a:avLst/>
              <a:gdLst>
                <a:gd name="T0" fmla="*/ 1 w 1"/>
                <a:gd name="T1" fmla="*/ 0 h 1995"/>
                <a:gd name="T2" fmla="*/ 0 w 1"/>
                <a:gd name="T3" fmla="*/ 1995 h 1995"/>
                <a:gd name="T4" fmla="*/ 0 60000 65536"/>
                <a:gd name="T5" fmla="*/ 0 60000 65536"/>
                <a:gd name="T6" fmla="*/ 0 w 1"/>
                <a:gd name="T7" fmla="*/ 0 h 1995"/>
                <a:gd name="T8" fmla="*/ 1 w 1"/>
                <a:gd name="T9" fmla="*/ 1995 h 1995"/>
              </a:gdLst>
              <a:ahLst/>
              <a:cxnLst>
                <a:cxn ang="T4">
                  <a:pos x="T0" y="T1"/>
                </a:cxn>
                <a:cxn ang="T5">
                  <a:pos x="T2" y="T3"/>
                </a:cxn>
              </a:cxnLst>
              <a:rect l="T6" t="T7" r="T8" b="T9"/>
              <a:pathLst>
                <a:path w="1" h="1995">
                  <a:moveTo>
                    <a:pt x="1" y="0"/>
                  </a:moveTo>
                  <a:lnTo>
                    <a:pt x="0" y="199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41" name="Freeform 33"/>
            <p:cNvSpPr>
              <a:spLocks/>
            </p:cNvSpPr>
            <p:nvPr/>
          </p:nvSpPr>
          <p:spPr bwMode="auto">
            <a:xfrm>
              <a:off x="4528" y="963"/>
              <a:ext cx="2" cy="1999"/>
            </a:xfrm>
            <a:custGeom>
              <a:avLst/>
              <a:gdLst>
                <a:gd name="T0" fmla="*/ 2 w 2"/>
                <a:gd name="T1" fmla="*/ 0 h 1999"/>
                <a:gd name="T2" fmla="*/ 0 w 2"/>
                <a:gd name="T3" fmla="*/ 1999 h 1999"/>
                <a:gd name="T4" fmla="*/ 0 60000 65536"/>
                <a:gd name="T5" fmla="*/ 0 60000 65536"/>
                <a:gd name="T6" fmla="*/ 0 w 2"/>
                <a:gd name="T7" fmla="*/ 0 h 1999"/>
                <a:gd name="T8" fmla="*/ 2 w 2"/>
                <a:gd name="T9" fmla="*/ 1999 h 1999"/>
              </a:gdLst>
              <a:ahLst/>
              <a:cxnLst>
                <a:cxn ang="T4">
                  <a:pos x="T0" y="T1"/>
                </a:cxn>
                <a:cxn ang="T5">
                  <a:pos x="T2" y="T3"/>
                </a:cxn>
              </a:cxnLst>
              <a:rect l="T6" t="T7" r="T8" b="T9"/>
              <a:pathLst>
                <a:path w="2" h="1999">
                  <a:moveTo>
                    <a:pt x="2"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42" name="Freeform 34"/>
            <p:cNvSpPr>
              <a:spLocks/>
            </p:cNvSpPr>
            <p:nvPr/>
          </p:nvSpPr>
          <p:spPr bwMode="auto">
            <a:xfrm>
              <a:off x="4593" y="965"/>
              <a:ext cx="1" cy="1995"/>
            </a:xfrm>
            <a:custGeom>
              <a:avLst/>
              <a:gdLst>
                <a:gd name="T0" fmla="*/ 0 w 1"/>
                <a:gd name="T1" fmla="*/ 0 h 1995"/>
                <a:gd name="T2" fmla="*/ 0 w 1"/>
                <a:gd name="T3" fmla="*/ 1995 h 1995"/>
                <a:gd name="T4" fmla="*/ 0 60000 65536"/>
                <a:gd name="T5" fmla="*/ 0 60000 65536"/>
                <a:gd name="T6" fmla="*/ 0 w 1"/>
                <a:gd name="T7" fmla="*/ 0 h 1995"/>
                <a:gd name="T8" fmla="*/ 1 w 1"/>
                <a:gd name="T9" fmla="*/ 1995 h 1995"/>
              </a:gdLst>
              <a:ahLst/>
              <a:cxnLst>
                <a:cxn ang="T4">
                  <a:pos x="T0" y="T1"/>
                </a:cxn>
                <a:cxn ang="T5">
                  <a:pos x="T2" y="T3"/>
                </a:cxn>
              </a:cxnLst>
              <a:rect l="T6" t="T7" r="T8" b="T9"/>
              <a:pathLst>
                <a:path w="1" h="1995">
                  <a:moveTo>
                    <a:pt x="0" y="0"/>
                  </a:moveTo>
                  <a:lnTo>
                    <a:pt x="0" y="199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43" name="Freeform 35"/>
            <p:cNvSpPr>
              <a:spLocks/>
            </p:cNvSpPr>
            <p:nvPr/>
          </p:nvSpPr>
          <p:spPr bwMode="auto">
            <a:xfrm>
              <a:off x="4664" y="966"/>
              <a:ext cx="1" cy="2000"/>
            </a:xfrm>
            <a:custGeom>
              <a:avLst/>
              <a:gdLst>
                <a:gd name="T0" fmla="*/ 0 w 1"/>
                <a:gd name="T1" fmla="*/ 0 h 2000"/>
                <a:gd name="T2" fmla="*/ 0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0" y="0"/>
                  </a:moveTo>
                  <a:lnTo>
                    <a:pt x="0"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44" name="Freeform 36"/>
            <p:cNvSpPr>
              <a:spLocks/>
            </p:cNvSpPr>
            <p:nvPr/>
          </p:nvSpPr>
          <p:spPr bwMode="auto">
            <a:xfrm>
              <a:off x="4780" y="965"/>
              <a:ext cx="1" cy="1999"/>
            </a:xfrm>
            <a:custGeom>
              <a:avLst/>
              <a:gdLst>
                <a:gd name="T0" fmla="*/ 1 w 1"/>
                <a:gd name="T1" fmla="*/ 0 h 1999"/>
                <a:gd name="T2" fmla="*/ 0 w 1"/>
                <a:gd name="T3" fmla="*/ 1999 h 1999"/>
                <a:gd name="T4" fmla="*/ 0 60000 65536"/>
                <a:gd name="T5" fmla="*/ 0 60000 65536"/>
                <a:gd name="T6" fmla="*/ 0 w 1"/>
                <a:gd name="T7" fmla="*/ 0 h 1999"/>
                <a:gd name="T8" fmla="*/ 1 w 1"/>
                <a:gd name="T9" fmla="*/ 1999 h 1999"/>
              </a:gdLst>
              <a:ahLst/>
              <a:cxnLst>
                <a:cxn ang="T4">
                  <a:pos x="T0" y="T1"/>
                </a:cxn>
                <a:cxn ang="T5">
                  <a:pos x="T2" y="T3"/>
                </a:cxn>
              </a:cxnLst>
              <a:rect l="T6" t="T7" r="T8" b="T9"/>
              <a:pathLst>
                <a:path w="1" h="1999">
                  <a:moveTo>
                    <a:pt x="1"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45" name="Freeform 37"/>
            <p:cNvSpPr>
              <a:spLocks/>
            </p:cNvSpPr>
            <p:nvPr/>
          </p:nvSpPr>
          <p:spPr bwMode="auto">
            <a:xfrm>
              <a:off x="4959" y="963"/>
              <a:ext cx="2" cy="1997"/>
            </a:xfrm>
            <a:custGeom>
              <a:avLst/>
              <a:gdLst>
                <a:gd name="T0" fmla="*/ 2 w 2"/>
                <a:gd name="T1" fmla="*/ 0 h 1997"/>
                <a:gd name="T2" fmla="*/ 0 w 2"/>
                <a:gd name="T3" fmla="*/ 1997 h 1997"/>
                <a:gd name="T4" fmla="*/ 0 60000 65536"/>
                <a:gd name="T5" fmla="*/ 0 60000 65536"/>
                <a:gd name="T6" fmla="*/ 0 w 2"/>
                <a:gd name="T7" fmla="*/ 0 h 1997"/>
                <a:gd name="T8" fmla="*/ 2 w 2"/>
                <a:gd name="T9" fmla="*/ 1997 h 1997"/>
              </a:gdLst>
              <a:ahLst/>
              <a:cxnLst>
                <a:cxn ang="T4">
                  <a:pos x="T0" y="T1"/>
                </a:cxn>
                <a:cxn ang="T5">
                  <a:pos x="T2" y="T3"/>
                </a:cxn>
              </a:cxnLst>
              <a:rect l="T6" t="T7" r="T8" b="T9"/>
              <a:pathLst>
                <a:path w="2" h="1997">
                  <a:moveTo>
                    <a:pt x="2"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46" name="Freeform 38"/>
            <p:cNvSpPr>
              <a:spLocks/>
            </p:cNvSpPr>
            <p:nvPr/>
          </p:nvSpPr>
          <p:spPr bwMode="auto">
            <a:xfrm>
              <a:off x="4988"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47" name="Freeform 39"/>
            <p:cNvSpPr>
              <a:spLocks/>
            </p:cNvSpPr>
            <p:nvPr/>
          </p:nvSpPr>
          <p:spPr bwMode="auto">
            <a:xfrm>
              <a:off x="5024"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48" name="Freeform 40"/>
            <p:cNvSpPr>
              <a:spLocks/>
            </p:cNvSpPr>
            <p:nvPr/>
          </p:nvSpPr>
          <p:spPr bwMode="auto">
            <a:xfrm>
              <a:off x="5063"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49" name="Freeform 41"/>
            <p:cNvSpPr>
              <a:spLocks/>
            </p:cNvSpPr>
            <p:nvPr/>
          </p:nvSpPr>
          <p:spPr bwMode="auto">
            <a:xfrm>
              <a:off x="5117" y="962"/>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50" name="Freeform 42"/>
            <p:cNvSpPr>
              <a:spLocks/>
            </p:cNvSpPr>
            <p:nvPr/>
          </p:nvSpPr>
          <p:spPr bwMode="auto">
            <a:xfrm>
              <a:off x="5170" y="962"/>
              <a:ext cx="1" cy="2000"/>
            </a:xfrm>
            <a:custGeom>
              <a:avLst/>
              <a:gdLst>
                <a:gd name="T0" fmla="*/ 1 w 1"/>
                <a:gd name="T1" fmla="*/ 0 h 2000"/>
                <a:gd name="T2" fmla="*/ 0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1" y="0"/>
                  </a:moveTo>
                  <a:lnTo>
                    <a:pt x="0"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51" name="Freeform 43"/>
            <p:cNvSpPr>
              <a:spLocks/>
            </p:cNvSpPr>
            <p:nvPr/>
          </p:nvSpPr>
          <p:spPr bwMode="auto">
            <a:xfrm>
              <a:off x="5235" y="962"/>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52" name="Freeform 44"/>
            <p:cNvSpPr>
              <a:spLocks/>
            </p:cNvSpPr>
            <p:nvPr/>
          </p:nvSpPr>
          <p:spPr bwMode="auto">
            <a:xfrm>
              <a:off x="5306"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53" name="Freeform 45"/>
            <p:cNvSpPr>
              <a:spLocks/>
            </p:cNvSpPr>
            <p:nvPr/>
          </p:nvSpPr>
          <p:spPr bwMode="auto">
            <a:xfrm>
              <a:off x="5422" y="963"/>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54" name="Freeform 46"/>
            <p:cNvSpPr>
              <a:spLocks/>
            </p:cNvSpPr>
            <p:nvPr/>
          </p:nvSpPr>
          <p:spPr bwMode="auto">
            <a:xfrm>
              <a:off x="5613"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155" name="Line 47"/>
            <p:cNvSpPr>
              <a:spLocks noChangeShapeType="1"/>
            </p:cNvSpPr>
            <p:nvPr/>
          </p:nvSpPr>
          <p:spPr bwMode="auto">
            <a:xfrm>
              <a:off x="3028" y="963"/>
              <a:ext cx="258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56" name="Line 48"/>
            <p:cNvSpPr>
              <a:spLocks noChangeShapeType="1"/>
            </p:cNvSpPr>
            <p:nvPr/>
          </p:nvSpPr>
          <p:spPr bwMode="auto">
            <a:xfrm>
              <a:off x="3032" y="2964"/>
              <a:ext cx="258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57" name="Line 49"/>
            <p:cNvSpPr>
              <a:spLocks noChangeShapeType="1"/>
            </p:cNvSpPr>
            <p:nvPr/>
          </p:nvSpPr>
          <p:spPr bwMode="auto">
            <a:xfrm>
              <a:off x="3024" y="105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58" name="Line 50"/>
            <p:cNvSpPr>
              <a:spLocks noChangeShapeType="1"/>
            </p:cNvSpPr>
            <p:nvPr/>
          </p:nvSpPr>
          <p:spPr bwMode="auto">
            <a:xfrm>
              <a:off x="3028" y="115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59" name="Line 51"/>
            <p:cNvSpPr>
              <a:spLocks noChangeShapeType="1"/>
            </p:cNvSpPr>
            <p:nvPr/>
          </p:nvSpPr>
          <p:spPr bwMode="auto">
            <a:xfrm>
              <a:off x="3024" y="1253"/>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60" name="Line 52"/>
            <p:cNvSpPr>
              <a:spLocks noChangeShapeType="1"/>
            </p:cNvSpPr>
            <p:nvPr/>
          </p:nvSpPr>
          <p:spPr bwMode="auto">
            <a:xfrm>
              <a:off x="3032" y="13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61" name="Line 53"/>
            <p:cNvSpPr>
              <a:spLocks noChangeShapeType="1"/>
            </p:cNvSpPr>
            <p:nvPr/>
          </p:nvSpPr>
          <p:spPr bwMode="auto">
            <a:xfrm>
              <a:off x="3028" y="145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62" name="Line 54"/>
            <p:cNvSpPr>
              <a:spLocks noChangeShapeType="1"/>
            </p:cNvSpPr>
            <p:nvPr/>
          </p:nvSpPr>
          <p:spPr bwMode="auto">
            <a:xfrm>
              <a:off x="3028" y="155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63" name="Line 55"/>
            <p:cNvSpPr>
              <a:spLocks noChangeShapeType="1"/>
            </p:cNvSpPr>
            <p:nvPr/>
          </p:nvSpPr>
          <p:spPr bwMode="auto">
            <a:xfrm>
              <a:off x="3025" y="1655"/>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64" name="Line 56"/>
            <p:cNvSpPr>
              <a:spLocks noChangeShapeType="1"/>
            </p:cNvSpPr>
            <p:nvPr/>
          </p:nvSpPr>
          <p:spPr bwMode="auto">
            <a:xfrm>
              <a:off x="3028" y="175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65" name="Line 57"/>
            <p:cNvSpPr>
              <a:spLocks noChangeShapeType="1"/>
            </p:cNvSpPr>
            <p:nvPr/>
          </p:nvSpPr>
          <p:spPr bwMode="auto">
            <a:xfrm>
              <a:off x="3025" y="18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66" name="Line 58"/>
            <p:cNvSpPr>
              <a:spLocks noChangeShapeType="1"/>
            </p:cNvSpPr>
            <p:nvPr/>
          </p:nvSpPr>
          <p:spPr bwMode="auto">
            <a:xfrm>
              <a:off x="3024" y="1964"/>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67" name="Line 59"/>
            <p:cNvSpPr>
              <a:spLocks noChangeShapeType="1"/>
            </p:cNvSpPr>
            <p:nvPr/>
          </p:nvSpPr>
          <p:spPr bwMode="auto">
            <a:xfrm>
              <a:off x="3024" y="20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68" name="Line 60"/>
            <p:cNvSpPr>
              <a:spLocks noChangeShapeType="1"/>
            </p:cNvSpPr>
            <p:nvPr/>
          </p:nvSpPr>
          <p:spPr bwMode="auto">
            <a:xfrm>
              <a:off x="3025" y="2157"/>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69" name="Line 61"/>
            <p:cNvSpPr>
              <a:spLocks noChangeShapeType="1"/>
            </p:cNvSpPr>
            <p:nvPr/>
          </p:nvSpPr>
          <p:spPr bwMode="auto">
            <a:xfrm>
              <a:off x="3025" y="22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70" name="Line 62"/>
            <p:cNvSpPr>
              <a:spLocks noChangeShapeType="1"/>
            </p:cNvSpPr>
            <p:nvPr/>
          </p:nvSpPr>
          <p:spPr bwMode="auto">
            <a:xfrm>
              <a:off x="3024" y="23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71" name="Line 63"/>
            <p:cNvSpPr>
              <a:spLocks noChangeShapeType="1"/>
            </p:cNvSpPr>
            <p:nvPr/>
          </p:nvSpPr>
          <p:spPr bwMode="auto">
            <a:xfrm>
              <a:off x="3024" y="246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72" name="Line 64"/>
            <p:cNvSpPr>
              <a:spLocks noChangeShapeType="1"/>
            </p:cNvSpPr>
            <p:nvPr/>
          </p:nvSpPr>
          <p:spPr bwMode="auto">
            <a:xfrm>
              <a:off x="3031" y="25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73" name="Line 65"/>
            <p:cNvSpPr>
              <a:spLocks noChangeShapeType="1"/>
            </p:cNvSpPr>
            <p:nvPr/>
          </p:nvSpPr>
          <p:spPr bwMode="auto">
            <a:xfrm>
              <a:off x="3024" y="26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74" name="Line 66"/>
            <p:cNvSpPr>
              <a:spLocks noChangeShapeType="1"/>
            </p:cNvSpPr>
            <p:nvPr/>
          </p:nvSpPr>
          <p:spPr bwMode="auto">
            <a:xfrm>
              <a:off x="3026" y="276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4175" name="Line 67"/>
            <p:cNvSpPr>
              <a:spLocks noChangeShapeType="1"/>
            </p:cNvSpPr>
            <p:nvPr/>
          </p:nvSpPr>
          <p:spPr bwMode="auto">
            <a:xfrm>
              <a:off x="3026" y="286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grpSp>
        <p:nvGrpSpPr>
          <p:cNvPr id="44037" name="Group 69"/>
          <p:cNvGrpSpPr>
            <a:grpSpLocks/>
          </p:cNvGrpSpPr>
          <p:nvPr/>
        </p:nvGrpSpPr>
        <p:grpSpPr bwMode="auto">
          <a:xfrm>
            <a:off x="4310058" y="1264894"/>
            <a:ext cx="415926" cy="3467100"/>
            <a:chOff x="2408" y="648"/>
            <a:chExt cx="262" cy="2184"/>
          </a:xfrm>
        </p:grpSpPr>
        <p:sp>
          <p:nvSpPr>
            <p:cNvPr id="44107" name="Text Box 70"/>
            <p:cNvSpPr txBox="1">
              <a:spLocks noChangeArrowheads="1"/>
            </p:cNvSpPr>
            <p:nvPr/>
          </p:nvSpPr>
          <p:spPr bwMode="auto">
            <a:xfrm>
              <a:off x="2408" y="648"/>
              <a:ext cx="24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100</a:t>
              </a:r>
            </a:p>
          </p:txBody>
        </p:sp>
        <p:sp>
          <p:nvSpPr>
            <p:cNvPr id="44108" name="Text Box 71"/>
            <p:cNvSpPr txBox="1">
              <a:spLocks noChangeArrowheads="1"/>
            </p:cNvSpPr>
            <p:nvPr/>
          </p:nvSpPr>
          <p:spPr bwMode="auto">
            <a:xfrm>
              <a:off x="2483" y="854"/>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90</a:t>
              </a:r>
            </a:p>
          </p:txBody>
        </p:sp>
        <p:sp>
          <p:nvSpPr>
            <p:cNvPr id="44109" name="Text Box 72"/>
            <p:cNvSpPr txBox="1">
              <a:spLocks noChangeArrowheads="1"/>
            </p:cNvSpPr>
            <p:nvPr/>
          </p:nvSpPr>
          <p:spPr bwMode="auto">
            <a:xfrm>
              <a:off x="2481" y="1061"/>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80</a:t>
              </a:r>
            </a:p>
          </p:txBody>
        </p:sp>
        <p:sp>
          <p:nvSpPr>
            <p:cNvPr id="44110" name="Text Box 73"/>
            <p:cNvSpPr txBox="1">
              <a:spLocks noChangeArrowheads="1"/>
            </p:cNvSpPr>
            <p:nvPr/>
          </p:nvSpPr>
          <p:spPr bwMode="auto">
            <a:xfrm>
              <a:off x="2483" y="1247"/>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70</a:t>
              </a:r>
            </a:p>
          </p:txBody>
        </p:sp>
        <p:sp>
          <p:nvSpPr>
            <p:cNvPr id="44111" name="Text Box 74"/>
            <p:cNvSpPr txBox="1">
              <a:spLocks noChangeArrowheads="1"/>
            </p:cNvSpPr>
            <p:nvPr/>
          </p:nvSpPr>
          <p:spPr bwMode="auto">
            <a:xfrm>
              <a:off x="2492" y="1450"/>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60</a:t>
              </a:r>
            </a:p>
          </p:txBody>
        </p:sp>
        <p:sp>
          <p:nvSpPr>
            <p:cNvPr id="44112" name="Text Box 75"/>
            <p:cNvSpPr txBox="1">
              <a:spLocks noChangeArrowheads="1"/>
            </p:cNvSpPr>
            <p:nvPr/>
          </p:nvSpPr>
          <p:spPr bwMode="auto">
            <a:xfrm>
              <a:off x="2493" y="1661"/>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50</a:t>
              </a:r>
            </a:p>
          </p:txBody>
        </p:sp>
        <p:sp>
          <p:nvSpPr>
            <p:cNvPr id="44113" name="Text Box 76"/>
            <p:cNvSpPr txBox="1">
              <a:spLocks noChangeArrowheads="1"/>
            </p:cNvSpPr>
            <p:nvPr/>
          </p:nvSpPr>
          <p:spPr bwMode="auto">
            <a:xfrm>
              <a:off x="2496" y="1855"/>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40</a:t>
              </a:r>
            </a:p>
          </p:txBody>
        </p:sp>
        <p:sp>
          <p:nvSpPr>
            <p:cNvPr id="44114" name="Text Box 77"/>
            <p:cNvSpPr txBox="1">
              <a:spLocks noChangeArrowheads="1"/>
            </p:cNvSpPr>
            <p:nvPr/>
          </p:nvSpPr>
          <p:spPr bwMode="auto">
            <a:xfrm>
              <a:off x="2498" y="2057"/>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30</a:t>
              </a:r>
            </a:p>
          </p:txBody>
        </p:sp>
        <p:sp>
          <p:nvSpPr>
            <p:cNvPr id="44115" name="Text Box 78"/>
            <p:cNvSpPr txBox="1">
              <a:spLocks noChangeArrowheads="1"/>
            </p:cNvSpPr>
            <p:nvPr/>
          </p:nvSpPr>
          <p:spPr bwMode="auto">
            <a:xfrm>
              <a:off x="2501" y="2260"/>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20</a:t>
              </a:r>
            </a:p>
          </p:txBody>
        </p:sp>
        <p:sp>
          <p:nvSpPr>
            <p:cNvPr id="44116" name="Text Box 79"/>
            <p:cNvSpPr txBox="1">
              <a:spLocks noChangeArrowheads="1"/>
            </p:cNvSpPr>
            <p:nvPr/>
          </p:nvSpPr>
          <p:spPr bwMode="auto">
            <a:xfrm>
              <a:off x="2508" y="2463"/>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a:t>
              </a:r>
            </a:p>
          </p:txBody>
        </p:sp>
        <p:sp>
          <p:nvSpPr>
            <p:cNvPr id="44117" name="Text Box 80"/>
            <p:cNvSpPr txBox="1">
              <a:spLocks noChangeArrowheads="1"/>
            </p:cNvSpPr>
            <p:nvPr/>
          </p:nvSpPr>
          <p:spPr bwMode="auto">
            <a:xfrm>
              <a:off x="2583" y="2638"/>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a:t>
              </a:r>
            </a:p>
          </p:txBody>
        </p:sp>
      </p:grpSp>
      <p:sp>
        <p:nvSpPr>
          <p:cNvPr id="44038" name="Text Box 81"/>
          <p:cNvSpPr txBox="1">
            <a:spLocks noChangeArrowheads="1"/>
          </p:cNvSpPr>
          <p:nvPr/>
        </p:nvSpPr>
        <p:spPr bwMode="auto">
          <a:xfrm rot="16200000">
            <a:off x="2239486" y="2959650"/>
            <a:ext cx="38712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a:solidFill>
                  <a:srgbClr val="000066"/>
                </a:solidFill>
                <a:ea typeface="幼圆" pitchFamily="49" charset="-122"/>
                <a:cs typeface="Times New Roman" pitchFamily="18" charset="0"/>
              </a:rPr>
              <a:t>小于某粒径之土质量百分数（％）</a:t>
            </a:r>
            <a:endParaRPr kumimoji="1" lang="en-US" altLang="zh-CN" sz="2000" b="1" dirty="0">
              <a:solidFill>
                <a:srgbClr val="000066"/>
              </a:solidFill>
              <a:ea typeface="幼圆" pitchFamily="49" charset="-122"/>
              <a:cs typeface="Times New Roman" pitchFamily="18" charset="0"/>
            </a:endParaRPr>
          </a:p>
        </p:txBody>
      </p:sp>
      <p:grpSp>
        <p:nvGrpSpPr>
          <p:cNvPr id="44039" name="Group 82"/>
          <p:cNvGrpSpPr>
            <a:grpSpLocks/>
          </p:cNvGrpSpPr>
          <p:nvPr/>
        </p:nvGrpSpPr>
        <p:grpSpPr bwMode="auto">
          <a:xfrm>
            <a:off x="4689448" y="4716119"/>
            <a:ext cx="4414836" cy="596900"/>
            <a:chOff x="2652" y="2822"/>
            <a:chExt cx="2781" cy="376"/>
          </a:xfrm>
        </p:grpSpPr>
        <p:sp>
          <p:nvSpPr>
            <p:cNvPr id="44098" name="Text Box 83"/>
            <p:cNvSpPr txBox="1">
              <a:spLocks noChangeArrowheads="1"/>
            </p:cNvSpPr>
            <p:nvPr/>
          </p:nvSpPr>
          <p:spPr bwMode="auto">
            <a:xfrm rot="16200000">
              <a:off x="2668" y="2838"/>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10</a:t>
              </a:r>
            </a:p>
          </p:txBody>
        </p:sp>
        <p:sp>
          <p:nvSpPr>
            <p:cNvPr id="44099" name="Text Box 84"/>
            <p:cNvSpPr txBox="1">
              <a:spLocks noChangeArrowheads="1"/>
            </p:cNvSpPr>
            <p:nvPr/>
          </p:nvSpPr>
          <p:spPr bwMode="auto">
            <a:xfrm rot="16200000">
              <a:off x="2869" y="2855"/>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5.0</a:t>
              </a:r>
            </a:p>
          </p:txBody>
        </p:sp>
        <p:sp>
          <p:nvSpPr>
            <p:cNvPr id="44100" name="Text Box 85"/>
            <p:cNvSpPr txBox="1">
              <a:spLocks noChangeArrowheads="1"/>
            </p:cNvSpPr>
            <p:nvPr/>
          </p:nvSpPr>
          <p:spPr bwMode="auto">
            <a:xfrm rot="16200000">
              <a:off x="3300" y="2856"/>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1.0</a:t>
              </a:r>
            </a:p>
          </p:txBody>
        </p:sp>
        <p:sp>
          <p:nvSpPr>
            <p:cNvPr id="44101" name="Text Box 86"/>
            <p:cNvSpPr txBox="1">
              <a:spLocks noChangeArrowheads="1"/>
            </p:cNvSpPr>
            <p:nvPr/>
          </p:nvSpPr>
          <p:spPr bwMode="auto">
            <a:xfrm rot="16200000">
              <a:off x="3510" y="2846"/>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0.5</a:t>
              </a:r>
            </a:p>
          </p:txBody>
        </p:sp>
        <p:sp>
          <p:nvSpPr>
            <p:cNvPr id="44102" name="Text Box 87"/>
            <p:cNvSpPr txBox="1">
              <a:spLocks noChangeArrowheads="1"/>
            </p:cNvSpPr>
            <p:nvPr/>
          </p:nvSpPr>
          <p:spPr bwMode="auto">
            <a:xfrm rot="16200000">
              <a:off x="3895" y="2886"/>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0.10</a:t>
              </a:r>
            </a:p>
          </p:txBody>
        </p:sp>
        <p:sp>
          <p:nvSpPr>
            <p:cNvPr id="44103" name="Text Box 88"/>
            <p:cNvSpPr txBox="1">
              <a:spLocks noChangeArrowheads="1"/>
            </p:cNvSpPr>
            <p:nvPr/>
          </p:nvSpPr>
          <p:spPr bwMode="auto">
            <a:xfrm rot="16200000">
              <a:off x="4110" y="2881"/>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0.05</a:t>
              </a:r>
            </a:p>
          </p:txBody>
        </p:sp>
        <p:sp>
          <p:nvSpPr>
            <p:cNvPr id="44104" name="Text Box 89"/>
            <p:cNvSpPr txBox="1">
              <a:spLocks noChangeArrowheads="1"/>
            </p:cNvSpPr>
            <p:nvPr/>
          </p:nvSpPr>
          <p:spPr bwMode="auto">
            <a:xfrm rot="16200000">
              <a:off x="4540" y="2871"/>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0.01</a:t>
              </a:r>
            </a:p>
          </p:txBody>
        </p:sp>
        <p:sp>
          <p:nvSpPr>
            <p:cNvPr id="44105" name="Text Box 90"/>
            <p:cNvSpPr txBox="1">
              <a:spLocks noChangeArrowheads="1"/>
            </p:cNvSpPr>
            <p:nvPr/>
          </p:nvSpPr>
          <p:spPr bwMode="auto">
            <a:xfrm rot="16200000">
              <a:off x="4716" y="2919"/>
              <a:ext cx="36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anose="02020603050405020304" pitchFamily="18" charset="0"/>
                </a:rPr>
                <a:t>0.005</a:t>
              </a:r>
            </a:p>
          </p:txBody>
        </p:sp>
        <p:sp>
          <p:nvSpPr>
            <p:cNvPr id="44106" name="Text Box 91"/>
            <p:cNvSpPr txBox="1">
              <a:spLocks noChangeArrowheads="1"/>
            </p:cNvSpPr>
            <p:nvPr/>
          </p:nvSpPr>
          <p:spPr bwMode="auto">
            <a:xfrm rot="16200000">
              <a:off x="5154" y="2907"/>
              <a:ext cx="36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0.001</a:t>
              </a:r>
            </a:p>
          </p:txBody>
        </p:sp>
      </p:grpSp>
      <p:sp>
        <p:nvSpPr>
          <p:cNvPr id="44040" name="Text Box 92"/>
          <p:cNvSpPr txBox="1">
            <a:spLocks noChangeArrowheads="1"/>
          </p:cNvSpPr>
          <p:nvPr/>
        </p:nvSpPr>
        <p:spPr bwMode="auto">
          <a:xfrm>
            <a:off x="6164249" y="5211500"/>
            <a:ext cx="11124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a:solidFill>
                  <a:srgbClr val="000066"/>
                </a:solidFill>
                <a:ea typeface="幼圆" pitchFamily="49" charset="-122"/>
                <a:cs typeface="Times New Roman" panose="02020603050405020304" pitchFamily="18" charset="0"/>
              </a:rPr>
              <a:t>粒径</a:t>
            </a:r>
            <a:r>
              <a:rPr kumimoji="1" lang="en-US" altLang="zh-CN" sz="2000" b="1" dirty="0">
                <a:solidFill>
                  <a:srgbClr val="000066"/>
                </a:solidFill>
                <a:ea typeface="幼圆" pitchFamily="49" charset="-122"/>
                <a:cs typeface="Times New Roman" panose="02020603050405020304" pitchFamily="18" charset="0"/>
              </a:rPr>
              <a:t>(mm)</a:t>
            </a:r>
          </a:p>
        </p:txBody>
      </p:sp>
      <p:grpSp>
        <p:nvGrpSpPr>
          <p:cNvPr id="15" name="组合 14"/>
          <p:cNvGrpSpPr/>
          <p:nvPr/>
        </p:nvGrpSpPr>
        <p:grpSpPr>
          <a:xfrm>
            <a:off x="4843449" y="2693644"/>
            <a:ext cx="3409950" cy="1614488"/>
            <a:chOff x="4843449" y="2693644"/>
            <a:chExt cx="3409950" cy="1614488"/>
          </a:xfrm>
        </p:grpSpPr>
        <p:sp>
          <p:nvSpPr>
            <p:cNvPr id="44045" name="Freeform 97"/>
            <p:cNvSpPr>
              <a:spLocks/>
            </p:cNvSpPr>
            <p:nvPr/>
          </p:nvSpPr>
          <p:spPr bwMode="auto">
            <a:xfrm>
              <a:off x="4843449" y="2693644"/>
              <a:ext cx="1546225" cy="1588"/>
            </a:xfrm>
            <a:custGeom>
              <a:avLst/>
              <a:gdLst>
                <a:gd name="T0" fmla="*/ 0 w 974"/>
                <a:gd name="T1" fmla="*/ 0 h 1"/>
                <a:gd name="T2" fmla="*/ 2147483647 w 974"/>
                <a:gd name="T3" fmla="*/ 2147483647 h 1"/>
                <a:gd name="T4" fmla="*/ 0 60000 65536"/>
                <a:gd name="T5" fmla="*/ 0 60000 65536"/>
                <a:gd name="T6" fmla="*/ 0 w 974"/>
                <a:gd name="T7" fmla="*/ 0 h 1"/>
                <a:gd name="T8" fmla="*/ 974 w 974"/>
                <a:gd name="T9" fmla="*/ 1 h 1"/>
              </a:gdLst>
              <a:ahLst/>
              <a:cxnLst>
                <a:cxn ang="T4">
                  <a:pos x="T0" y="T1"/>
                </a:cxn>
                <a:cxn ang="T5">
                  <a:pos x="T2" y="T3"/>
                </a:cxn>
              </a:cxnLst>
              <a:rect l="T6" t="T7" r="T8" b="T9"/>
              <a:pathLst>
                <a:path w="974" h="1">
                  <a:moveTo>
                    <a:pt x="0" y="0"/>
                  </a:moveTo>
                  <a:lnTo>
                    <a:pt x="974" y="1"/>
                  </a:lnTo>
                </a:path>
              </a:pathLst>
            </a:custGeom>
            <a:noFill/>
            <a:ln w="25400">
              <a:solidFill>
                <a:srgbClr val="9900CC"/>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047" name="Freeform 99"/>
            <p:cNvSpPr>
              <a:spLocks/>
            </p:cNvSpPr>
            <p:nvPr/>
          </p:nvSpPr>
          <p:spPr bwMode="auto">
            <a:xfrm>
              <a:off x="4868849" y="4306544"/>
              <a:ext cx="3384550" cy="1588"/>
            </a:xfrm>
            <a:custGeom>
              <a:avLst/>
              <a:gdLst>
                <a:gd name="T0" fmla="*/ 0 w 2132"/>
                <a:gd name="T1" fmla="*/ 0 h 1"/>
                <a:gd name="T2" fmla="*/ 2147483647 w 2132"/>
                <a:gd name="T3" fmla="*/ 0 h 1"/>
                <a:gd name="T4" fmla="*/ 0 60000 65536"/>
                <a:gd name="T5" fmla="*/ 0 60000 65536"/>
                <a:gd name="T6" fmla="*/ 0 w 2132"/>
                <a:gd name="T7" fmla="*/ 0 h 1"/>
                <a:gd name="T8" fmla="*/ 2132 w 2132"/>
                <a:gd name="T9" fmla="*/ 1 h 1"/>
              </a:gdLst>
              <a:ahLst/>
              <a:cxnLst>
                <a:cxn ang="T4">
                  <a:pos x="T0" y="T1"/>
                </a:cxn>
                <a:cxn ang="T5">
                  <a:pos x="T2" y="T3"/>
                </a:cxn>
              </a:cxnLst>
              <a:rect l="T6" t="T7" r="T8" b="T9"/>
              <a:pathLst>
                <a:path w="2132" h="1">
                  <a:moveTo>
                    <a:pt x="0" y="0"/>
                  </a:moveTo>
                  <a:lnTo>
                    <a:pt x="2132" y="0"/>
                  </a:lnTo>
                </a:path>
              </a:pathLst>
            </a:custGeom>
            <a:noFill/>
            <a:ln w="25400">
              <a:solidFill>
                <a:srgbClr val="9900CC"/>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sp>
        <p:nvSpPr>
          <p:cNvPr id="44051" name="Text Box 103"/>
          <p:cNvSpPr txBox="1">
            <a:spLocks noChangeArrowheads="1"/>
          </p:cNvSpPr>
          <p:nvPr/>
        </p:nvSpPr>
        <p:spPr bwMode="auto">
          <a:xfrm>
            <a:off x="5976924" y="4214469"/>
            <a:ext cx="40876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a:solidFill>
                  <a:srgbClr val="0000CC"/>
                </a:solidFill>
                <a:ea typeface="华文新魏" pitchFamily="2" charset="-122"/>
                <a:cs typeface="Times New Roman" panose="02020603050405020304" pitchFamily="18" charset="0"/>
              </a:rPr>
              <a:t>d</a:t>
            </a:r>
            <a:r>
              <a:rPr kumimoji="1" lang="en-US" altLang="zh-CN" sz="2800" b="1" i="1" baseline="-25000" dirty="0">
                <a:solidFill>
                  <a:srgbClr val="0000CC"/>
                </a:solidFill>
                <a:ea typeface="华文新魏" pitchFamily="2" charset="-122"/>
                <a:cs typeface="Times New Roman" panose="02020603050405020304" pitchFamily="18" charset="0"/>
              </a:rPr>
              <a:t>6</a:t>
            </a:r>
            <a:r>
              <a:rPr kumimoji="1" lang="en-US" altLang="zh-CN" sz="2800" b="1" baseline="-25000" dirty="0">
                <a:solidFill>
                  <a:srgbClr val="0000CC"/>
                </a:solidFill>
                <a:latin typeface="Arial Narrow" pitchFamily="34" charset="0"/>
                <a:ea typeface="华文新魏" pitchFamily="2" charset="-122"/>
              </a:rPr>
              <a:t>0</a:t>
            </a:r>
          </a:p>
        </p:txBody>
      </p:sp>
      <p:sp>
        <p:nvSpPr>
          <p:cNvPr id="44052" name="Text Box 104"/>
          <p:cNvSpPr txBox="1">
            <a:spLocks noChangeArrowheads="1"/>
          </p:cNvSpPr>
          <p:nvPr/>
        </p:nvSpPr>
        <p:spPr bwMode="auto">
          <a:xfrm>
            <a:off x="8262924" y="4223994"/>
            <a:ext cx="4199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a:solidFill>
                  <a:srgbClr val="0000CC"/>
                </a:solidFill>
                <a:ea typeface="华文新魏" pitchFamily="2" charset="-122"/>
                <a:cs typeface="Times New Roman" panose="02020603050405020304" pitchFamily="18" charset="0"/>
              </a:rPr>
              <a:t>d</a:t>
            </a:r>
            <a:r>
              <a:rPr kumimoji="1" lang="en-US" altLang="zh-CN" sz="2800" b="1" i="1" baseline="-25000" dirty="0">
                <a:solidFill>
                  <a:srgbClr val="0000CC"/>
                </a:solidFill>
                <a:ea typeface="华文新魏" pitchFamily="2" charset="-122"/>
                <a:cs typeface="Times New Roman" panose="02020603050405020304" pitchFamily="18" charset="0"/>
              </a:rPr>
              <a:t>10</a:t>
            </a:r>
          </a:p>
        </p:txBody>
      </p:sp>
      <p:sp>
        <p:nvSpPr>
          <p:cNvPr id="44053" name="Text Box 105"/>
          <p:cNvSpPr txBox="1">
            <a:spLocks noChangeArrowheads="1"/>
          </p:cNvSpPr>
          <p:nvPr/>
        </p:nvSpPr>
        <p:spPr bwMode="auto">
          <a:xfrm>
            <a:off x="7124687" y="4223994"/>
            <a:ext cx="4199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a:solidFill>
                  <a:srgbClr val="0000CC"/>
                </a:solidFill>
                <a:ea typeface="华文新魏" pitchFamily="2" charset="-122"/>
                <a:cs typeface="Times New Roman" panose="02020603050405020304" pitchFamily="18" charset="0"/>
              </a:rPr>
              <a:t>d</a:t>
            </a:r>
            <a:r>
              <a:rPr kumimoji="1" lang="en-US" altLang="zh-CN" sz="2800" b="1" i="1" baseline="-25000" dirty="0">
                <a:solidFill>
                  <a:srgbClr val="0000CC"/>
                </a:solidFill>
                <a:ea typeface="华文新魏" pitchFamily="2" charset="-122"/>
                <a:cs typeface="Times New Roman" panose="02020603050405020304" pitchFamily="18" charset="0"/>
              </a:rPr>
              <a:t>30</a:t>
            </a:r>
          </a:p>
        </p:txBody>
      </p:sp>
      <p:grpSp>
        <p:nvGrpSpPr>
          <p:cNvPr id="19" name="组合 18"/>
          <p:cNvGrpSpPr/>
          <p:nvPr/>
        </p:nvGrpSpPr>
        <p:grpSpPr>
          <a:xfrm>
            <a:off x="4881549" y="3660076"/>
            <a:ext cx="2574925" cy="7937"/>
            <a:chOff x="4881549" y="3660076"/>
            <a:chExt cx="2574925" cy="7937"/>
          </a:xfrm>
        </p:grpSpPr>
        <p:sp>
          <p:nvSpPr>
            <p:cNvPr id="44049" name="Freeform 101"/>
            <p:cNvSpPr>
              <a:spLocks/>
            </p:cNvSpPr>
            <p:nvPr/>
          </p:nvSpPr>
          <p:spPr bwMode="auto">
            <a:xfrm>
              <a:off x="4881549" y="3660076"/>
              <a:ext cx="2233613" cy="7937"/>
            </a:xfrm>
            <a:custGeom>
              <a:avLst/>
              <a:gdLst>
                <a:gd name="T0" fmla="*/ 0 w 1407"/>
                <a:gd name="T1" fmla="*/ 2147483647 h 5"/>
                <a:gd name="T2" fmla="*/ 2147483647 w 1407"/>
                <a:gd name="T3" fmla="*/ 0 h 5"/>
                <a:gd name="T4" fmla="*/ 0 60000 65536"/>
                <a:gd name="T5" fmla="*/ 0 60000 65536"/>
                <a:gd name="T6" fmla="*/ 0 w 1407"/>
                <a:gd name="T7" fmla="*/ 0 h 5"/>
                <a:gd name="T8" fmla="*/ 1407 w 1407"/>
                <a:gd name="T9" fmla="*/ 5 h 5"/>
              </a:gdLst>
              <a:ahLst/>
              <a:cxnLst>
                <a:cxn ang="T4">
                  <a:pos x="T0" y="T1"/>
                </a:cxn>
                <a:cxn ang="T5">
                  <a:pos x="T2" y="T3"/>
                </a:cxn>
              </a:cxnLst>
              <a:rect l="T6" t="T7" r="T8" b="T9"/>
              <a:pathLst>
                <a:path w="1407" h="5">
                  <a:moveTo>
                    <a:pt x="0" y="5"/>
                  </a:moveTo>
                  <a:lnTo>
                    <a:pt x="1407" y="0"/>
                  </a:lnTo>
                </a:path>
              </a:pathLst>
            </a:custGeom>
            <a:noFill/>
            <a:ln w="25400">
              <a:solidFill>
                <a:srgbClr val="9900CC"/>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056" name="Line 108"/>
            <p:cNvSpPr>
              <a:spLocks noChangeShapeType="1"/>
            </p:cNvSpPr>
            <p:nvPr/>
          </p:nvSpPr>
          <p:spPr bwMode="auto">
            <a:xfrm>
              <a:off x="7024674" y="3663607"/>
              <a:ext cx="431800" cy="0"/>
            </a:xfrm>
            <a:prstGeom prst="line">
              <a:avLst/>
            </a:prstGeom>
            <a:noFill/>
            <a:ln w="28575">
              <a:solidFill>
                <a:srgbClr val="9900CC"/>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sp>
        <p:nvSpPr>
          <p:cNvPr id="110" name="Text Box 123"/>
          <p:cNvSpPr txBox="1">
            <a:spLocks noChangeArrowheads="1"/>
          </p:cNvSpPr>
          <p:nvPr/>
        </p:nvSpPr>
        <p:spPr bwMode="auto">
          <a:xfrm>
            <a:off x="2100263" y="5689600"/>
            <a:ext cx="61198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49" charset="-122"/>
                <a:ea typeface="黑体" pitchFamily="49" charset="-122"/>
              </a:rPr>
              <a:t>固体</a:t>
            </a:r>
            <a:r>
              <a:rPr kumimoji="1" lang="zh-CN" altLang="en-US" sz="4000" b="1" dirty="0" smtClean="0">
                <a:solidFill>
                  <a:srgbClr val="000066"/>
                </a:solidFill>
                <a:latin typeface="黑体" pitchFamily="49" charset="-122"/>
                <a:ea typeface="黑体" pitchFamily="49" charset="-122"/>
              </a:rPr>
              <a:t>颗粒</a:t>
            </a:r>
            <a:r>
              <a:rPr kumimoji="1" lang="en-US" altLang="zh-CN" sz="4000" b="1" dirty="0" smtClean="0">
                <a:solidFill>
                  <a:srgbClr val="000066"/>
                </a:solidFill>
                <a:latin typeface="黑体" pitchFamily="49" charset="-122"/>
                <a:ea typeface="黑体" pitchFamily="49" charset="-122"/>
              </a:rPr>
              <a:t>–</a:t>
            </a:r>
            <a:r>
              <a:rPr kumimoji="1" lang="zh-CN" altLang="en-US" sz="4000" b="1" dirty="0" smtClean="0">
                <a:solidFill>
                  <a:srgbClr val="000066"/>
                </a:solidFill>
                <a:latin typeface="黑体" pitchFamily="49" charset="-122"/>
                <a:ea typeface="黑体" pitchFamily="49" charset="-122"/>
              </a:rPr>
              <a:t>曲率系数举例</a:t>
            </a:r>
            <a:endParaRPr kumimoji="1" lang="zh-CN" altLang="en-US" sz="4000" b="1" dirty="0">
              <a:solidFill>
                <a:srgbClr val="000066"/>
              </a:solidFill>
              <a:latin typeface="黑体" pitchFamily="49" charset="-122"/>
              <a:ea typeface="黑体" pitchFamily="49" charset="-122"/>
            </a:endParaRPr>
          </a:p>
        </p:txBody>
      </p:sp>
      <p:sp>
        <p:nvSpPr>
          <p:cNvPr id="109"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11" name="Text Box 6"/>
          <p:cNvSpPr txBox="1">
            <a:spLocks noChangeArrowheads="1"/>
          </p:cNvSpPr>
          <p:nvPr/>
        </p:nvSpPr>
        <p:spPr bwMode="auto">
          <a:xfrm>
            <a:off x="224608" y="609797"/>
            <a:ext cx="7505261"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en-US" altLang="zh-CN" sz="2400" b="1" dirty="0" smtClean="0">
                <a:solidFill>
                  <a:srgbClr val="C00000"/>
                </a:solidFill>
                <a:ea typeface="幼圆" pitchFamily="49" charset="-122"/>
                <a:cs typeface="Times New Roman" panose="02020603050405020304" pitchFamily="18" charset="0"/>
              </a:rPr>
              <a:t>【</a:t>
            </a:r>
            <a:r>
              <a:rPr kumimoji="1" lang="zh-CN" altLang="en-US" sz="2400" b="1" dirty="0">
                <a:solidFill>
                  <a:srgbClr val="C00000"/>
                </a:solidFill>
                <a:ea typeface="幼圆" pitchFamily="49" charset="-122"/>
                <a:cs typeface="Times New Roman" panose="02020603050405020304" pitchFamily="18" charset="0"/>
              </a:rPr>
              <a:t>例题</a:t>
            </a:r>
            <a:r>
              <a:rPr kumimoji="1" lang="en-US" altLang="zh-CN" sz="2400" b="1" dirty="0" smtClean="0">
                <a:solidFill>
                  <a:srgbClr val="C00000"/>
                </a:solidFill>
                <a:ea typeface="幼圆" pitchFamily="49" charset="-122"/>
                <a:cs typeface="Times New Roman" panose="02020603050405020304" pitchFamily="18" charset="0"/>
              </a:rPr>
              <a:t>】</a:t>
            </a:r>
            <a:r>
              <a:rPr kumimoji="1" lang="zh-CN" altLang="en-US" sz="2400" b="1" dirty="0" smtClean="0">
                <a:solidFill>
                  <a:srgbClr val="C00000"/>
                </a:solidFill>
                <a:ea typeface="幼圆" pitchFamily="49" charset="-122"/>
                <a:cs typeface="Times New Roman" panose="02020603050405020304" pitchFamily="18" charset="0"/>
              </a:rPr>
              <a:t>：</a:t>
            </a:r>
            <a:r>
              <a:rPr kumimoji="1" lang="zh-CN" altLang="en-US" sz="2400" b="1" dirty="0" smtClean="0">
                <a:solidFill>
                  <a:srgbClr val="000066"/>
                </a:solidFill>
                <a:ea typeface="幼圆" pitchFamily="49" charset="-122"/>
                <a:cs typeface="Times New Roman" panose="02020603050405020304" pitchFamily="18" charset="0"/>
              </a:rPr>
              <a:t>分析</a:t>
            </a:r>
            <a:r>
              <a:rPr kumimoji="1" lang="zh-CN" altLang="en-US" sz="2400" b="1" dirty="0">
                <a:solidFill>
                  <a:srgbClr val="000066"/>
                </a:solidFill>
                <a:ea typeface="幼圆" pitchFamily="49" charset="-122"/>
                <a:cs typeface="Times New Roman" panose="02020603050405020304" pitchFamily="18" charset="0"/>
              </a:rPr>
              <a:t>对比</a:t>
            </a:r>
            <a:r>
              <a:rPr kumimoji="1" lang="zh-CN" altLang="en-US" sz="2400" b="1" dirty="0" smtClean="0">
                <a:solidFill>
                  <a:srgbClr val="000066"/>
                </a:solidFill>
                <a:ea typeface="幼圆" pitchFamily="49" charset="-122"/>
                <a:cs typeface="Times New Roman" panose="02020603050405020304" pitchFamily="18" charset="0"/>
              </a:rPr>
              <a:t>图中三种土级配曲线的连续性。</a:t>
            </a:r>
            <a:endParaRPr kumimoji="1" lang="zh-CN" altLang="en-US" sz="2400" b="1" dirty="0">
              <a:solidFill>
                <a:srgbClr val="000066"/>
              </a:solidFill>
              <a:ea typeface="幼圆" pitchFamily="49" charset="-122"/>
              <a:cs typeface="Times New Roman" panose="02020603050405020304" pitchFamily="18" charset="0"/>
            </a:endParaRPr>
          </a:p>
        </p:txBody>
      </p:sp>
      <p:sp>
        <p:nvSpPr>
          <p:cNvPr id="112" name="Text Box 6"/>
          <p:cNvSpPr txBox="1">
            <a:spLocks noChangeArrowheads="1"/>
          </p:cNvSpPr>
          <p:nvPr/>
        </p:nvSpPr>
        <p:spPr bwMode="auto">
          <a:xfrm>
            <a:off x="355744" y="1275171"/>
            <a:ext cx="235555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zh-CN" altLang="en-US" sz="2400" b="1" dirty="0" smtClean="0">
                <a:solidFill>
                  <a:srgbClr val="C00000"/>
                </a:solidFill>
                <a:latin typeface="幼圆" pitchFamily="49" charset="-122"/>
                <a:ea typeface="幼圆" pitchFamily="49" charset="-122"/>
              </a:rPr>
              <a:t>（</a:t>
            </a:r>
            <a:r>
              <a:rPr kumimoji="1" lang="en-US" altLang="zh-CN" sz="2400" b="1" dirty="0" smtClean="0">
                <a:solidFill>
                  <a:srgbClr val="C00000"/>
                </a:solidFill>
                <a:latin typeface="幼圆" pitchFamily="49" charset="-122"/>
                <a:ea typeface="幼圆" pitchFamily="49" charset="-122"/>
              </a:rPr>
              <a:t>1</a:t>
            </a:r>
            <a:r>
              <a:rPr kumimoji="1" lang="zh-CN" altLang="en-US" sz="2400" b="1" dirty="0" smtClean="0">
                <a:solidFill>
                  <a:srgbClr val="C00000"/>
                </a:solidFill>
                <a:latin typeface="幼圆" pitchFamily="49" charset="-122"/>
                <a:ea typeface="幼圆" pitchFamily="49" charset="-122"/>
              </a:rPr>
              <a:t>）特征粒径：</a:t>
            </a:r>
            <a:endParaRPr kumimoji="1" lang="zh-CN" altLang="en-US" sz="2400" b="1" dirty="0">
              <a:solidFill>
                <a:srgbClr val="000066"/>
              </a:solidFill>
              <a:latin typeface="幼圆" pitchFamily="49" charset="-122"/>
              <a:ea typeface="幼圆" pitchFamily="49" charset="-122"/>
            </a:endParaRPr>
          </a:p>
        </p:txBody>
      </p:sp>
      <p:sp>
        <p:nvSpPr>
          <p:cNvPr id="114" name="Text Box 6"/>
          <p:cNvSpPr txBox="1">
            <a:spLocks noChangeArrowheads="1"/>
          </p:cNvSpPr>
          <p:nvPr/>
        </p:nvSpPr>
        <p:spPr bwMode="auto">
          <a:xfrm>
            <a:off x="345490" y="1768475"/>
            <a:ext cx="235555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zh-CN" altLang="en-US" sz="2400" b="1" dirty="0" smtClean="0">
                <a:solidFill>
                  <a:srgbClr val="C00000"/>
                </a:solidFill>
                <a:latin typeface="幼圆" pitchFamily="49" charset="-122"/>
                <a:ea typeface="幼圆" pitchFamily="49" charset="-122"/>
              </a:rPr>
              <a:t>（</a:t>
            </a:r>
            <a:r>
              <a:rPr kumimoji="1" lang="en-US" altLang="zh-CN" sz="2400" b="1" dirty="0">
                <a:solidFill>
                  <a:srgbClr val="C00000"/>
                </a:solidFill>
                <a:latin typeface="幼圆" pitchFamily="49" charset="-122"/>
                <a:ea typeface="幼圆" pitchFamily="49" charset="-122"/>
              </a:rPr>
              <a:t>2</a:t>
            </a:r>
            <a:r>
              <a:rPr kumimoji="1" lang="zh-CN" altLang="en-US" sz="2400" b="1" dirty="0" smtClean="0">
                <a:solidFill>
                  <a:srgbClr val="C00000"/>
                </a:solidFill>
                <a:latin typeface="幼圆" pitchFamily="49" charset="-122"/>
                <a:ea typeface="幼圆" pitchFamily="49" charset="-122"/>
              </a:rPr>
              <a:t>）指标计算：</a:t>
            </a:r>
            <a:endParaRPr kumimoji="1" lang="zh-CN" altLang="en-US" sz="2400" b="1" dirty="0">
              <a:solidFill>
                <a:srgbClr val="000066"/>
              </a:solidFill>
              <a:latin typeface="幼圆" pitchFamily="49" charset="-122"/>
              <a:ea typeface="幼圆" pitchFamily="49" charset="-122"/>
            </a:endParaRPr>
          </a:p>
        </p:txBody>
      </p:sp>
      <p:grpSp>
        <p:nvGrpSpPr>
          <p:cNvPr id="9" name="组合 8"/>
          <p:cNvGrpSpPr/>
          <p:nvPr/>
        </p:nvGrpSpPr>
        <p:grpSpPr>
          <a:xfrm>
            <a:off x="5187937" y="1569694"/>
            <a:ext cx="3462337" cy="2787650"/>
            <a:chOff x="5187937" y="1569694"/>
            <a:chExt cx="3462337" cy="2787650"/>
          </a:xfrm>
        </p:grpSpPr>
        <p:sp>
          <p:nvSpPr>
            <p:cNvPr id="1358954" name="Freeform 106"/>
            <p:cNvSpPr>
              <a:spLocks/>
            </p:cNvSpPr>
            <p:nvPr/>
          </p:nvSpPr>
          <p:spPr bwMode="auto">
            <a:xfrm>
              <a:off x="6399007" y="2708758"/>
              <a:ext cx="1852721" cy="1573075"/>
            </a:xfrm>
            <a:custGeom>
              <a:avLst/>
              <a:gdLst>
                <a:gd name="T0" fmla="*/ 0 w 1214"/>
                <a:gd name="T1" fmla="*/ 0 h 984"/>
                <a:gd name="T2" fmla="*/ 2147483647 w 1214"/>
                <a:gd name="T3" fmla="*/ 2147483647 h 984"/>
                <a:gd name="T4" fmla="*/ 2147483647 w 1214"/>
                <a:gd name="T5" fmla="*/ 2147483647 h 984"/>
                <a:gd name="T6" fmla="*/ 2147483647 w 1214"/>
                <a:gd name="T7" fmla="*/ 2147483647 h 984"/>
                <a:gd name="T8" fmla="*/ 2147483647 w 1214"/>
                <a:gd name="T9" fmla="*/ 2147483647 h 984"/>
                <a:gd name="T10" fmla="*/ 2147483647 w 1214"/>
                <a:gd name="T11" fmla="*/ 2147483647 h 984"/>
                <a:gd name="T12" fmla="*/ 2147483647 w 1214"/>
                <a:gd name="T13" fmla="*/ 2147483647 h 984"/>
                <a:gd name="T14" fmla="*/ 2147483647 w 1214"/>
                <a:gd name="T15" fmla="*/ 2147483647 h 984"/>
                <a:gd name="T16" fmla="*/ 2147483647 w 1214"/>
                <a:gd name="T17" fmla="*/ 2147483647 h 984"/>
                <a:gd name="T18" fmla="*/ 2147483647 w 1214"/>
                <a:gd name="T19" fmla="*/ 2147483647 h 984"/>
                <a:gd name="T20" fmla="*/ 2147483647 w 1214"/>
                <a:gd name="T21" fmla="*/ 2147483647 h 984"/>
                <a:gd name="T22" fmla="*/ 2147483647 w 1214"/>
                <a:gd name="T23" fmla="*/ 2147483647 h 984"/>
                <a:gd name="T24" fmla="*/ 2147483647 w 1214"/>
                <a:gd name="T25" fmla="*/ 2147483647 h 984"/>
                <a:gd name="T26" fmla="*/ 2147483647 w 1214"/>
                <a:gd name="T27" fmla="*/ 2147483647 h 984"/>
                <a:gd name="T28" fmla="*/ 2147483647 w 1214"/>
                <a:gd name="T29" fmla="*/ 2147483647 h 984"/>
                <a:gd name="T30" fmla="*/ 2147483647 w 1214"/>
                <a:gd name="T31" fmla="*/ 2147483647 h 9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14"/>
                <a:gd name="T49" fmla="*/ 0 h 984"/>
                <a:gd name="T50" fmla="*/ 1214 w 1214"/>
                <a:gd name="T51" fmla="*/ 984 h 984"/>
                <a:gd name="connsiteX0" fmla="*/ 0 w 9522"/>
                <a:gd name="connsiteY0" fmla="*/ 0 h 9776"/>
                <a:gd name="connsiteX1" fmla="*/ 544 w 9522"/>
                <a:gd name="connsiteY1" fmla="*/ 772 h 9776"/>
                <a:gd name="connsiteX2" fmla="*/ 1005 w 9522"/>
                <a:gd name="connsiteY2" fmla="*/ 1301 h 9776"/>
                <a:gd name="connsiteX3" fmla="*/ 1516 w 9522"/>
                <a:gd name="connsiteY3" fmla="*/ 1545 h 9776"/>
                <a:gd name="connsiteX4" fmla="*/ 2479 w 9522"/>
                <a:gd name="connsiteY4" fmla="*/ 1555 h 9776"/>
                <a:gd name="connsiteX5" fmla="*/ 2900 w 9522"/>
                <a:gd name="connsiteY5" fmla="*/ 1911 h 9776"/>
                <a:gd name="connsiteX6" fmla="*/ 3600 w 9522"/>
                <a:gd name="connsiteY6" fmla="*/ 2937 h 9776"/>
                <a:gd name="connsiteX7" fmla="*/ 4341 w 9522"/>
                <a:gd name="connsiteY7" fmla="*/ 4319 h 9776"/>
                <a:gd name="connsiteX8" fmla="*/ 5189 w 9522"/>
                <a:gd name="connsiteY8" fmla="*/ 5711 h 9776"/>
                <a:gd name="connsiteX9" fmla="*/ 6211 w 9522"/>
                <a:gd name="connsiteY9" fmla="*/ 7083 h 9776"/>
                <a:gd name="connsiteX10" fmla="*/ 6820 w 9522"/>
                <a:gd name="connsiteY10" fmla="*/ 7866 h 9776"/>
                <a:gd name="connsiteX11" fmla="*/ 7364 w 9522"/>
                <a:gd name="connsiteY11" fmla="*/ 8415 h 9776"/>
                <a:gd name="connsiteX12" fmla="*/ 8081 w 9522"/>
                <a:gd name="connsiteY12" fmla="*/ 8923 h 9776"/>
                <a:gd name="connsiteX13" fmla="*/ 9209 w 9522"/>
                <a:gd name="connsiteY13" fmla="*/ 9675 h 9776"/>
                <a:gd name="connsiteX14" fmla="*/ 9522 w 9522"/>
                <a:gd name="connsiteY14" fmla="*/ 9776 h 9776"/>
                <a:gd name="connsiteX0" fmla="*/ 0 w 10096"/>
                <a:gd name="connsiteY0" fmla="*/ 0 h 10185"/>
                <a:gd name="connsiteX1" fmla="*/ 571 w 10096"/>
                <a:gd name="connsiteY1" fmla="*/ 790 h 10185"/>
                <a:gd name="connsiteX2" fmla="*/ 1055 w 10096"/>
                <a:gd name="connsiteY2" fmla="*/ 1331 h 10185"/>
                <a:gd name="connsiteX3" fmla="*/ 1592 w 10096"/>
                <a:gd name="connsiteY3" fmla="*/ 1580 h 10185"/>
                <a:gd name="connsiteX4" fmla="*/ 2603 w 10096"/>
                <a:gd name="connsiteY4" fmla="*/ 1591 h 10185"/>
                <a:gd name="connsiteX5" fmla="*/ 3046 w 10096"/>
                <a:gd name="connsiteY5" fmla="*/ 1955 h 10185"/>
                <a:gd name="connsiteX6" fmla="*/ 3781 w 10096"/>
                <a:gd name="connsiteY6" fmla="*/ 3004 h 10185"/>
                <a:gd name="connsiteX7" fmla="*/ 4559 w 10096"/>
                <a:gd name="connsiteY7" fmla="*/ 4418 h 10185"/>
                <a:gd name="connsiteX8" fmla="*/ 5449 w 10096"/>
                <a:gd name="connsiteY8" fmla="*/ 5842 h 10185"/>
                <a:gd name="connsiteX9" fmla="*/ 6523 w 10096"/>
                <a:gd name="connsiteY9" fmla="*/ 7245 h 10185"/>
                <a:gd name="connsiteX10" fmla="*/ 7162 w 10096"/>
                <a:gd name="connsiteY10" fmla="*/ 8046 h 10185"/>
                <a:gd name="connsiteX11" fmla="*/ 7734 w 10096"/>
                <a:gd name="connsiteY11" fmla="*/ 8608 h 10185"/>
                <a:gd name="connsiteX12" fmla="*/ 8487 w 10096"/>
                <a:gd name="connsiteY12" fmla="*/ 9127 h 10185"/>
                <a:gd name="connsiteX13" fmla="*/ 9671 w 10096"/>
                <a:gd name="connsiteY13" fmla="*/ 9897 h 10185"/>
                <a:gd name="connsiteX14" fmla="*/ 10096 w 10096"/>
                <a:gd name="connsiteY14" fmla="*/ 10185 h 10185"/>
                <a:gd name="connsiteX0" fmla="*/ 0 w 10096"/>
                <a:gd name="connsiteY0" fmla="*/ 0 h 10185"/>
                <a:gd name="connsiteX1" fmla="*/ 571 w 10096"/>
                <a:gd name="connsiteY1" fmla="*/ 790 h 10185"/>
                <a:gd name="connsiteX2" fmla="*/ 1055 w 10096"/>
                <a:gd name="connsiteY2" fmla="*/ 1331 h 10185"/>
                <a:gd name="connsiteX3" fmla="*/ 1592 w 10096"/>
                <a:gd name="connsiteY3" fmla="*/ 1580 h 10185"/>
                <a:gd name="connsiteX4" fmla="*/ 2603 w 10096"/>
                <a:gd name="connsiteY4" fmla="*/ 1591 h 10185"/>
                <a:gd name="connsiteX5" fmla="*/ 3046 w 10096"/>
                <a:gd name="connsiteY5" fmla="*/ 1955 h 10185"/>
                <a:gd name="connsiteX6" fmla="*/ 3781 w 10096"/>
                <a:gd name="connsiteY6" fmla="*/ 3004 h 10185"/>
                <a:gd name="connsiteX7" fmla="*/ 4559 w 10096"/>
                <a:gd name="connsiteY7" fmla="*/ 4418 h 10185"/>
                <a:gd name="connsiteX8" fmla="*/ 5449 w 10096"/>
                <a:gd name="connsiteY8" fmla="*/ 5842 h 10185"/>
                <a:gd name="connsiteX9" fmla="*/ 6523 w 10096"/>
                <a:gd name="connsiteY9" fmla="*/ 7245 h 10185"/>
                <a:gd name="connsiteX10" fmla="*/ 7162 w 10096"/>
                <a:gd name="connsiteY10" fmla="*/ 8046 h 10185"/>
                <a:gd name="connsiteX11" fmla="*/ 7734 w 10096"/>
                <a:gd name="connsiteY11" fmla="*/ 8608 h 10185"/>
                <a:gd name="connsiteX12" fmla="*/ 8487 w 10096"/>
                <a:gd name="connsiteY12" fmla="*/ 9127 h 10185"/>
                <a:gd name="connsiteX13" fmla="*/ 9613 w 10096"/>
                <a:gd name="connsiteY13" fmla="*/ 9920 h 10185"/>
                <a:gd name="connsiteX14" fmla="*/ 10096 w 10096"/>
                <a:gd name="connsiteY14" fmla="*/ 10185 h 10185"/>
                <a:gd name="connsiteX0" fmla="*/ 0 w 10096"/>
                <a:gd name="connsiteY0" fmla="*/ 0 h 10185"/>
                <a:gd name="connsiteX1" fmla="*/ 571 w 10096"/>
                <a:gd name="connsiteY1" fmla="*/ 790 h 10185"/>
                <a:gd name="connsiteX2" fmla="*/ 1055 w 10096"/>
                <a:gd name="connsiteY2" fmla="*/ 1331 h 10185"/>
                <a:gd name="connsiteX3" fmla="*/ 1592 w 10096"/>
                <a:gd name="connsiteY3" fmla="*/ 1580 h 10185"/>
                <a:gd name="connsiteX4" fmla="*/ 2603 w 10096"/>
                <a:gd name="connsiteY4" fmla="*/ 1591 h 10185"/>
                <a:gd name="connsiteX5" fmla="*/ 3046 w 10096"/>
                <a:gd name="connsiteY5" fmla="*/ 1955 h 10185"/>
                <a:gd name="connsiteX6" fmla="*/ 3781 w 10096"/>
                <a:gd name="connsiteY6" fmla="*/ 3004 h 10185"/>
                <a:gd name="connsiteX7" fmla="*/ 4559 w 10096"/>
                <a:gd name="connsiteY7" fmla="*/ 4418 h 10185"/>
                <a:gd name="connsiteX8" fmla="*/ 5449 w 10096"/>
                <a:gd name="connsiteY8" fmla="*/ 5842 h 10185"/>
                <a:gd name="connsiteX9" fmla="*/ 6523 w 10096"/>
                <a:gd name="connsiteY9" fmla="*/ 7245 h 10185"/>
                <a:gd name="connsiteX10" fmla="*/ 7162 w 10096"/>
                <a:gd name="connsiteY10" fmla="*/ 8046 h 10185"/>
                <a:gd name="connsiteX11" fmla="*/ 7734 w 10096"/>
                <a:gd name="connsiteY11" fmla="*/ 8608 h 10185"/>
                <a:gd name="connsiteX12" fmla="*/ 8429 w 10096"/>
                <a:gd name="connsiteY12" fmla="*/ 9219 h 10185"/>
                <a:gd name="connsiteX13" fmla="*/ 9613 w 10096"/>
                <a:gd name="connsiteY13" fmla="*/ 9920 h 10185"/>
                <a:gd name="connsiteX14" fmla="*/ 10096 w 10096"/>
                <a:gd name="connsiteY14" fmla="*/ 10185 h 10185"/>
                <a:gd name="connsiteX0" fmla="*/ 0 w 10096"/>
                <a:gd name="connsiteY0" fmla="*/ 0 h 10301"/>
                <a:gd name="connsiteX1" fmla="*/ 571 w 10096"/>
                <a:gd name="connsiteY1" fmla="*/ 906 h 10301"/>
                <a:gd name="connsiteX2" fmla="*/ 1055 w 10096"/>
                <a:gd name="connsiteY2" fmla="*/ 1447 h 10301"/>
                <a:gd name="connsiteX3" fmla="*/ 1592 w 10096"/>
                <a:gd name="connsiteY3" fmla="*/ 1696 h 10301"/>
                <a:gd name="connsiteX4" fmla="*/ 2603 w 10096"/>
                <a:gd name="connsiteY4" fmla="*/ 1707 h 10301"/>
                <a:gd name="connsiteX5" fmla="*/ 3046 w 10096"/>
                <a:gd name="connsiteY5" fmla="*/ 2071 h 10301"/>
                <a:gd name="connsiteX6" fmla="*/ 3781 w 10096"/>
                <a:gd name="connsiteY6" fmla="*/ 3120 h 10301"/>
                <a:gd name="connsiteX7" fmla="*/ 4559 w 10096"/>
                <a:gd name="connsiteY7" fmla="*/ 4534 h 10301"/>
                <a:gd name="connsiteX8" fmla="*/ 5449 w 10096"/>
                <a:gd name="connsiteY8" fmla="*/ 5958 h 10301"/>
                <a:gd name="connsiteX9" fmla="*/ 6523 w 10096"/>
                <a:gd name="connsiteY9" fmla="*/ 7361 h 10301"/>
                <a:gd name="connsiteX10" fmla="*/ 7162 w 10096"/>
                <a:gd name="connsiteY10" fmla="*/ 8162 h 10301"/>
                <a:gd name="connsiteX11" fmla="*/ 7734 w 10096"/>
                <a:gd name="connsiteY11" fmla="*/ 8724 h 10301"/>
                <a:gd name="connsiteX12" fmla="*/ 8429 w 10096"/>
                <a:gd name="connsiteY12" fmla="*/ 9335 h 10301"/>
                <a:gd name="connsiteX13" fmla="*/ 9613 w 10096"/>
                <a:gd name="connsiteY13" fmla="*/ 10036 h 10301"/>
                <a:gd name="connsiteX14" fmla="*/ 10096 w 10096"/>
                <a:gd name="connsiteY14" fmla="*/ 10301 h 10301"/>
                <a:gd name="connsiteX0" fmla="*/ 0 w 10096"/>
                <a:gd name="connsiteY0" fmla="*/ 0 h 10301"/>
                <a:gd name="connsiteX1" fmla="*/ 571 w 10096"/>
                <a:gd name="connsiteY1" fmla="*/ 906 h 10301"/>
                <a:gd name="connsiteX2" fmla="*/ 1055 w 10096"/>
                <a:gd name="connsiteY2" fmla="*/ 1447 h 10301"/>
                <a:gd name="connsiteX3" fmla="*/ 1592 w 10096"/>
                <a:gd name="connsiteY3" fmla="*/ 1696 h 10301"/>
                <a:gd name="connsiteX4" fmla="*/ 2603 w 10096"/>
                <a:gd name="connsiteY4" fmla="*/ 1707 h 10301"/>
                <a:gd name="connsiteX5" fmla="*/ 3046 w 10096"/>
                <a:gd name="connsiteY5" fmla="*/ 2071 h 10301"/>
                <a:gd name="connsiteX6" fmla="*/ 3781 w 10096"/>
                <a:gd name="connsiteY6" fmla="*/ 3120 h 10301"/>
                <a:gd name="connsiteX7" fmla="*/ 4559 w 10096"/>
                <a:gd name="connsiteY7" fmla="*/ 4534 h 10301"/>
                <a:gd name="connsiteX8" fmla="*/ 5449 w 10096"/>
                <a:gd name="connsiteY8" fmla="*/ 5958 h 10301"/>
                <a:gd name="connsiteX9" fmla="*/ 6218 w 10096"/>
                <a:gd name="connsiteY9" fmla="*/ 7028 h 10301"/>
                <a:gd name="connsiteX10" fmla="*/ 7162 w 10096"/>
                <a:gd name="connsiteY10" fmla="*/ 8162 h 10301"/>
                <a:gd name="connsiteX11" fmla="*/ 7734 w 10096"/>
                <a:gd name="connsiteY11" fmla="*/ 8724 h 10301"/>
                <a:gd name="connsiteX12" fmla="*/ 8429 w 10096"/>
                <a:gd name="connsiteY12" fmla="*/ 9335 h 10301"/>
                <a:gd name="connsiteX13" fmla="*/ 9613 w 10096"/>
                <a:gd name="connsiteY13" fmla="*/ 10036 h 10301"/>
                <a:gd name="connsiteX14" fmla="*/ 10096 w 10096"/>
                <a:gd name="connsiteY14" fmla="*/ 10301 h 10301"/>
                <a:gd name="connsiteX0" fmla="*/ 0 w 10096"/>
                <a:gd name="connsiteY0" fmla="*/ 0 h 10301"/>
                <a:gd name="connsiteX1" fmla="*/ 571 w 10096"/>
                <a:gd name="connsiteY1" fmla="*/ 906 h 10301"/>
                <a:gd name="connsiteX2" fmla="*/ 1055 w 10096"/>
                <a:gd name="connsiteY2" fmla="*/ 1447 h 10301"/>
                <a:gd name="connsiteX3" fmla="*/ 1592 w 10096"/>
                <a:gd name="connsiteY3" fmla="*/ 1696 h 10301"/>
                <a:gd name="connsiteX4" fmla="*/ 2603 w 10096"/>
                <a:gd name="connsiteY4" fmla="*/ 1707 h 10301"/>
                <a:gd name="connsiteX5" fmla="*/ 3046 w 10096"/>
                <a:gd name="connsiteY5" fmla="*/ 2071 h 10301"/>
                <a:gd name="connsiteX6" fmla="*/ 3781 w 10096"/>
                <a:gd name="connsiteY6" fmla="*/ 3120 h 10301"/>
                <a:gd name="connsiteX7" fmla="*/ 4559 w 10096"/>
                <a:gd name="connsiteY7" fmla="*/ 4534 h 10301"/>
                <a:gd name="connsiteX8" fmla="*/ 5449 w 10096"/>
                <a:gd name="connsiteY8" fmla="*/ 5958 h 10301"/>
                <a:gd name="connsiteX9" fmla="*/ 6218 w 10096"/>
                <a:gd name="connsiteY9" fmla="*/ 7028 h 10301"/>
                <a:gd name="connsiteX10" fmla="*/ 7162 w 10096"/>
                <a:gd name="connsiteY10" fmla="*/ 8162 h 10301"/>
                <a:gd name="connsiteX11" fmla="*/ 8429 w 10096"/>
                <a:gd name="connsiteY11" fmla="*/ 9335 h 10301"/>
                <a:gd name="connsiteX12" fmla="*/ 9613 w 10096"/>
                <a:gd name="connsiteY12" fmla="*/ 10036 h 10301"/>
                <a:gd name="connsiteX13" fmla="*/ 10096 w 10096"/>
                <a:gd name="connsiteY13" fmla="*/ 10301 h 1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96" h="10301">
                  <a:moveTo>
                    <a:pt x="0" y="0"/>
                  </a:moveTo>
                  <a:cubicBezTo>
                    <a:pt x="96" y="135"/>
                    <a:pt x="395" y="665"/>
                    <a:pt x="571" y="906"/>
                  </a:cubicBezTo>
                  <a:cubicBezTo>
                    <a:pt x="747" y="1147"/>
                    <a:pt x="882" y="1312"/>
                    <a:pt x="1055" y="1447"/>
                  </a:cubicBezTo>
                  <a:cubicBezTo>
                    <a:pt x="1229" y="1582"/>
                    <a:pt x="1333" y="1654"/>
                    <a:pt x="1592" y="1696"/>
                  </a:cubicBezTo>
                  <a:cubicBezTo>
                    <a:pt x="1852" y="1737"/>
                    <a:pt x="2362" y="1644"/>
                    <a:pt x="2603" y="1707"/>
                  </a:cubicBezTo>
                  <a:cubicBezTo>
                    <a:pt x="2846" y="1769"/>
                    <a:pt x="2846" y="1831"/>
                    <a:pt x="3046" y="2071"/>
                  </a:cubicBezTo>
                  <a:cubicBezTo>
                    <a:pt x="3244" y="2309"/>
                    <a:pt x="3530" y="2715"/>
                    <a:pt x="3781" y="3120"/>
                  </a:cubicBezTo>
                  <a:cubicBezTo>
                    <a:pt x="4032" y="3525"/>
                    <a:pt x="4282" y="4066"/>
                    <a:pt x="4559" y="4534"/>
                  </a:cubicBezTo>
                  <a:cubicBezTo>
                    <a:pt x="4836" y="5001"/>
                    <a:pt x="5172" y="5542"/>
                    <a:pt x="5449" y="5958"/>
                  </a:cubicBezTo>
                  <a:cubicBezTo>
                    <a:pt x="5726" y="6374"/>
                    <a:pt x="5932" y="6665"/>
                    <a:pt x="6218" y="7028"/>
                  </a:cubicBezTo>
                  <a:cubicBezTo>
                    <a:pt x="6503" y="7392"/>
                    <a:pt x="6794" y="7778"/>
                    <a:pt x="7162" y="8162"/>
                  </a:cubicBezTo>
                  <a:cubicBezTo>
                    <a:pt x="7530" y="8546"/>
                    <a:pt x="8021" y="9023"/>
                    <a:pt x="8429" y="9335"/>
                  </a:cubicBezTo>
                  <a:cubicBezTo>
                    <a:pt x="8742" y="9554"/>
                    <a:pt x="9335" y="9875"/>
                    <a:pt x="9613" y="10036"/>
                  </a:cubicBezTo>
                  <a:cubicBezTo>
                    <a:pt x="9891" y="10197"/>
                    <a:pt x="9957" y="10250"/>
                    <a:pt x="10096" y="10301"/>
                  </a:cubicBezTo>
                </a:path>
              </a:pathLst>
            </a:custGeom>
            <a:noFill/>
            <a:ln w="19050">
              <a:solidFill>
                <a:srgbClr val="FF0066"/>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58955" name="Freeform 107"/>
            <p:cNvSpPr>
              <a:spLocks/>
            </p:cNvSpPr>
            <p:nvPr/>
          </p:nvSpPr>
          <p:spPr bwMode="auto">
            <a:xfrm>
              <a:off x="6389940" y="2684716"/>
              <a:ext cx="1868222" cy="1603980"/>
            </a:xfrm>
            <a:custGeom>
              <a:avLst/>
              <a:gdLst>
                <a:gd name="T0" fmla="*/ 0 w 1188"/>
                <a:gd name="T1" fmla="*/ 0 h 1012"/>
                <a:gd name="T2" fmla="*/ 2147483647 w 1188"/>
                <a:gd name="T3" fmla="*/ 2147483647 h 1012"/>
                <a:gd name="T4" fmla="*/ 2147483647 w 1188"/>
                <a:gd name="T5" fmla="*/ 2147483647 h 1012"/>
                <a:gd name="T6" fmla="*/ 2147483647 w 1188"/>
                <a:gd name="T7" fmla="*/ 2147483647 h 1012"/>
                <a:gd name="T8" fmla="*/ 2147483647 w 1188"/>
                <a:gd name="T9" fmla="*/ 2147483647 h 1012"/>
                <a:gd name="T10" fmla="*/ 2147483647 w 1188"/>
                <a:gd name="T11" fmla="*/ 2147483647 h 1012"/>
                <a:gd name="T12" fmla="*/ 2147483647 w 1188"/>
                <a:gd name="T13" fmla="*/ 2147483647 h 1012"/>
                <a:gd name="T14" fmla="*/ 2147483647 w 1188"/>
                <a:gd name="T15" fmla="*/ 2147483647 h 1012"/>
                <a:gd name="T16" fmla="*/ 2147483647 w 1188"/>
                <a:gd name="T17" fmla="*/ 2147483647 h 1012"/>
                <a:gd name="T18" fmla="*/ 2147483647 w 1188"/>
                <a:gd name="T19" fmla="*/ 2147483647 h 1012"/>
                <a:gd name="T20" fmla="*/ 2147483647 w 1188"/>
                <a:gd name="T21" fmla="*/ 2147483647 h 1012"/>
                <a:gd name="T22" fmla="*/ 2147483647 w 1188"/>
                <a:gd name="T23" fmla="*/ 2147483647 h 1012"/>
                <a:gd name="T24" fmla="*/ 2147483647 w 1188"/>
                <a:gd name="T25" fmla="*/ 2147483647 h 1012"/>
                <a:gd name="T26" fmla="*/ 2147483647 w 1188"/>
                <a:gd name="T27" fmla="*/ 2147483647 h 1012"/>
                <a:gd name="T28" fmla="*/ 2147483647 w 1188"/>
                <a:gd name="T29" fmla="*/ 2147483647 h 1012"/>
                <a:gd name="T30" fmla="*/ 2147483647 w 1188"/>
                <a:gd name="T31" fmla="*/ 2147483647 h 1012"/>
                <a:gd name="T32" fmla="*/ 2147483647 w 1188"/>
                <a:gd name="T33" fmla="*/ 2147483647 h 1012"/>
                <a:gd name="T34" fmla="*/ 2147483647 w 1188"/>
                <a:gd name="T35" fmla="*/ 2147483647 h 1012"/>
                <a:gd name="T36" fmla="*/ 2147483647 w 1188"/>
                <a:gd name="T37" fmla="*/ 2147483647 h 1012"/>
                <a:gd name="T38" fmla="*/ 2147483647 w 1188"/>
                <a:gd name="T39" fmla="*/ 2147483647 h 1012"/>
                <a:gd name="T40" fmla="*/ 2147483647 w 1188"/>
                <a:gd name="T41" fmla="*/ 2147483647 h 1012"/>
                <a:gd name="T42" fmla="*/ 2147483647 w 1188"/>
                <a:gd name="T43" fmla="*/ 2147483647 h 10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88"/>
                <a:gd name="T67" fmla="*/ 0 h 1012"/>
                <a:gd name="T68" fmla="*/ 1188 w 1188"/>
                <a:gd name="T69" fmla="*/ 1012 h 1012"/>
                <a:gd name="connsiteX0" fmla="*/ 0 w 10000"/>
                <a:gd name="connsiteY0" fmla="*/ 0 h 10000"/>
                <a:gd name="connsiteX1" fmla="*/ 774 w 10000"/>
                <a:gd name="connsiteY1" fmla="*/ 1383 h 10000"/>
                <a:gd name="connsiteX2" fmla="*/ 1077 w 10000"/>
                <a:gd name="connsiteY2" fmla="*/ 1897 h 10000"/>
                <a:gd name="connsiteX3" fmla="*/ 1313 w 10000"/>
                <a:gd name="connsiteY3" fmla="*/ 2431 h 10000"/>
                <a:gd name="connsiteX4" fmla="*/ 1801 w 10000"/>
                <a:gd name="connsiteY4" fmla="*/ 3399 h 10000"/>
                <a:gd name="connsiteX5" fmla="*/ 2003 w 10000"/>
                <a:gd name="connsiteY5" fmla="*/ 3755 h 10000"/>
                <a:gd name="connsiteX6" fmla="*/ 2323 w 10000"/>
                <a:gd name="connsiteY6" fmla="*/ 4447 h 10000"/>
                <a:gd name="connsiteX7" fmla="*/ 2761 w 10000"/>
                <a:gd name="connsiteY7" fmla="*/ 5257 h 10000"/>
                <a:gd name="connsiteX8" fmla="*/ 3215 w 10000"/>
                <a:gd name="connsiteY8" fmla="*/ 6008 h 10000"/>
                <a:gd name="connsiteX9" fmla="*/ 3468 w 10000"/>
                <a:gd name="connsiteY9" fmla="*/ 6443 h 10000"/>
                <a:gd name="connsiteX10" fmla="*/ 3914 w 10000"/>
                <a:gd name="connsiteY10" fmla="*/ 6897 h 10000"/>
                <a:gd name="connsiteX11" fmla="*/ 4343 w 10000"/>
                <a:gd name="connsiteY11" fmla="*/ 7055 h 10000"/>
                <a:gd name="connsiteX12" fmla="*/ 4663 w 10000"/>
                <a:gd name="connsiteY12" fmla="*/ 7036 h 10000"/>
                <a:gd name="connsiteX13" fmla="*/ 5084 w 10000"/>
                <a:gd name="connsiteY13" fmla="*/ 7055 h 10000"/>
                <a:gd name="connsiteX14" fmla="*/ 5758 w 10000"/>
                <a:gd name="connsiteY14" fmla="*/ 7312 h 10000"/>
                <a:gd name="connsiteX15" fmla="*/ 6263 w 10000"/>
                <a:gd name="connsiteY15" fmla="*/ 7767 h 10000"/>
                <a:gd name="connsiteX16" fmla="*/ 7348 w 10000"/>
                <a:gd name="connsiteY16" fmla="*/ 8686 h 10000"/>
                <a:gd name="connsiteX17" fmla="*/ 8114 w 10000"/>
                <a:gd name="connsiteY17" fmla="*/ 9130 h 10000"/>
                <a:gd name="connsiteX18" fmla="*/ 8889 w 10000"/>
                <a:gd name="connsiteY18" fmla="*/ 9545 h 10000"/>
                <a:gd name="connsiteX19" fmla="*/ 9293 w 10000"/>
                <a:gd name="connsiteY19" fmla="*/ 9723 h 10000"/>
                <a:gd name="connsiteX20" fmla="*/ 10000 w 10000"/>
                <a:gd name="connsiteY20" fmla="*/ 10000 h 10000"/>
                <a:gd name="connsiteX0" fmla="*/ 0 w 10000"/>
                <a:gd name="connsiteY0" fmla="*/ 0 h 10000"/>
                <a:gd name="connsiteX1" fmla="*/ 774 w 10000"/>
                <a:gd name="connsiteY1" fmla="*/ 1383 h 10000"/>
                <a:gd name="connsiteX2" fmla="*/ 1077 w 10000"/>
                <a:gd name="connsiteY2" fmla="*/ 1897 h 10000"/>
                <a:gd name="connsiteX3" fmla="*/ 1313 w 10000"/>
                <a:gd name="connsiteY3" fmla="*/ 2431 h 10000"/>
                <a:gd name="connsiteX4" fmla="*/ 1801 w 10000"/>
                <a:gd name="connsiteY4" fmla="*/ 3399 h 10000"/>
                <a:gd name="connsiteX5" fmla="*/ 2003 w 10000"/>
                <a:gd name="connsiteY5" fmla="*/ 3755 h 10000"/>
                <a:gd name="connsiteX6" fmla="*/ 2323 w 10000"/>
                <a:gd name="connsiteY6" fmla="*/ 4447 h 10000"/>
                <a:gd name="connsiteX7" fmla="*/ 2761 w 10000"/>
                <a:gd name="connsiteY7" fmla="*/ 5257 h 10000"/>
                <a:gd name="connsiteX8" fmla="*/ 3215 w 10000"/>
                <a:gd name="connsiteY8" fmla="*/ 6008 h 10000"/>
                <a:gd name="connsiteX9" fmla="*/ 3468 w 10000"/>
                <a:gd name="connsiteY9" fmla="*/ 6443 h 10000"/>
                <a:gd name="connsiteX10" fmla="*/ 3914 w 10000"/>
                <a:gd name="connsiteY10" fmla="*/ 6897 h 10000"/>
                <a:gd name="connsiteX11" fmla="*/ 4343 w 10000"/>
                <a:gd name="connsiteY11" fmla="*/ 7055 h 10000"/>
                <a:gd name="connsiteX12" fmla="*/ 4663 w 10000"/>
                <a:gd name="connsiteY12" fmla="*/ 7036 h 10000"/>
                <a:gd name="connsiteX13" fmla="*/ 5084 w 10000"/>
                <a:gd name="connsiteY13" fmla="*/ 7055 h 10000"/>
                <a:gd name="connsiteX14" fmla="*/ 5758 w 10000"/>
                <a:gd name="connsiteY14" fmla="*/ 7312 h 10000"/>
                <a:gd name="connsiteX15" fmla="*/ 6263 w 10000"/>
                <a:gd name="connsiteY15" fmla="*/ 7767 h 10000"/>
                <a:gd name="connsiteX16" fmla="*/ 7348 w 10000"/>
                <a:gd name="connsiteY16" fmla="*/ 8686 h 10000"/>
                <a:gd name="connsiteX17" fmla="*/ 8058 w 10000"/>
                <a:gd name="connsiteY17" fmla="*/ 9130 h 10000"/>
                <a:gd name="connsiteX18" fmla="*/ 8889 w 10000"/>
                <a:gd name="connsiteY18" fmla="*/ 9545 h 10000"/>
                <a:gd name="connsiteX19" fmla="*/ 9293 w 10000"/>
                <a:gd name="connsiteY19" fmla="*/ 9723 h 10000"/>
                <a:gd name="connsiteX20" fmla="*/ 10000 w 10000"/>
                <a:gd name="connsiteY20" fmla="*/ 10000 h 10000"/>
                <a:gd name="connsiteX0" fmla="*/ 0 w 10000"/>
                <a:gd name="connsiteY0" fmla="*/ 0 h 10000"/>
                <a:gd name="connsiteX1" fmla="*/ 774 w 10000"/>
                <a:gd name="connsiteY1" fmla="*/ 1383 h 10000"/>
                <a:gd name="connsiteX2" fmla="*/ 1077 w 10000"/>
                <a:gd name="connsiteY2" fmla="*/ 1897 h 10000"/>
                <a:gd name="connsiteX3" fmla="*/ 1313 w 10000"/>
                <a:gd name="connsiteY3" fmla="*/ 2431 h 10000"/>
                <a:gd name="connsiteX4" fmla="*/ 1801 w 10000"/>
                <a:gd name="connsiteY4" fmla="*/ 3399 h 10000"/>
                <a:gd name="connsiteX5" fmla="*/ 2003 w 10000"/>
                <a:gd name="connsiteY5" fmla="*/ 3755 h 10000"/>
                <a:gd name="connsiteX6" fmla="*/ 2323 w 10000"/>
                <a:gd name="connsiteY6" fmla="*/ 4447 h 10000"/>
                <a:gd name="connsiteX7" fmla="*/ 2761 w 10000"/>
                <a:gd name="connsiteY7" fmla="*/ 5257 h 10000"/>
                <a:gd name="connsiteX8" fmla="*/ 3215 w 10000"/>
                <a:gd name="connsiteY8" fmla="*/ 6008 h 10000"/>
                <a:gd name="connsiteX9" fmla="*/ 3468 w 10000"/>
                <a:gd name="connsiteY9" fmla="*/ 6443 h 10000"/>
                <a:gd name="connsiteX10" fmla="*/ 3914 w 10000"/>
                <a:gd name="connsiteY10" fmla="*/ 6897 h 10000"/>
                <a:gd name="connsiteX11" fmla="*/ 4343 w 10000"/>
                <a:gd name="connsiteY11" fmla="*/ 7055 h 10000"/>
                <a:gd name="connsiteX12" fmla="*/ 4663 w 10000"/>
                <a:gd name="connsiteY12" fmla="*/ 7036 h 10000"/>
                <a:gd name="connsiteX13" fmla="*/ 5084 w 10000"/>
                <a:gd name="connsiteY13" fmla="*/ 7055 h 10000"/>
                <a:gd name="connsiteX14" fmla="*/ 5758 w 10000"/>
                <a:gd name="connsiteY14" fmla="*/ 7312 h 10000"/>
                <a:gd name="connsiteX15" fmla="*/ 6263 w 10000"/>
                <a:gd name="connsiteY15" fmla="*/ 7767 h 10000"/>
                <a:gd name="connsiteX16" fmla="*/ 7348 w 10000"/>
                <a:gd name="connsiteY16" fmla="*/ 8686 h 10000"/>
                <a:gd name="connsiteX17" fmla="*/ 8058 w 10000"/>
                <a:gd name="connsiteY17" fmla="*/ 9130 h 10000"/>
                <a:gd name="connsiteX18" fmla="*/ 8889 w 10000"/>
                <a:gd name="connsiteY18" fmla="*/ 9545 h 10000"/>
                <a:gd name="connsiteX19" fmla="*/ 9293 w 10000"/>
                <a:gd name="connsiteY19" fmla="*/ 9723 h 10000"/>
                <a:gd name="connsiteX20" fmla="*/ 9530 w 10000"/>
                <a:gd name="connsiteY20" fmla="*/ 9880 h 10000"/>
                <a:gd name="connsiteX21" fmla="*/ 10000 w 10000"/>
                <a:gd name="connsiteY21" fmla="*/ 10000 h 10000"/>
                <a:gd name="connsiteX0" fmla="*/ 0 w 10000"/>
                <a:gd name="connsiteY0" fmla="*/ 0 h 10000"/>
                <a:gd name="connsiteX1" fmla="*/ 774 w 10000"/>
                <a:gd name="connsiteY1" fmla="*/ 1383 h 10000"/>
                <a:gd name="connsiteX2" fmla="*/ 1077 w 10000"/>
                <a:gd name="connsiteY2" fmla="*/ 1897 h 10000"/>
                <a:gd name="connsiteX3" fmla="*/ 1313 w 10000"/>
                <a:gd name="connsiteY3" fmla="*/ 2431 h 10000"/>
                <a:gd name="connsiteX4" fmla="*/ 1801 w 10000"/>
                <a:gd name="connsiteY4" fmla="*/ 3399 h 10000"/>
                <a:gd name="connsiteX5" fmla="*/ 2003 w 10000"/>
                <a:gd name="connsiteY5" fmla="*/ 3755 h 10000"/>
                <a:gd name="connsiteX6" fmla="*/ 2323 w 10000"/>
                <a:gd name="connsiteY6" fmla="*/ 4447 h 10000"/>
                <a:gd name="connsiteX7" fmla="*/ 2761 w 10000"/>
                <a:gd name="connsiteY7" fmla="*/ 5257 h 10000"/>
                <a:gd name="connsiteX8" fmla="*/ 3215 w 10000"/>
                <a:gd name="connsiteY8" fmla="*/ 6008 h 10000"/>
                <a:gd name="connsiteX9" fmla="*/ 3468 w 10000"/>
                <a:gd name="connsiteY9" fmla="*/ 6443 h 10000"/>
                <a:gd name="connsiteX10" fmla="*/ 3914 w 10000"/>
                <a:gd name="connsiteY10" fmla="*/ 6897 h 10000"/>
                <a:gd name="connsiteX11" fmla="*/ 4343 w 10000"/>
                <a:gd name="connsiteY11" fmla="*/ 7055 h 10000"/>
                <a:gd name="connsiteX12" fmla="*/ 4663 w 10000"/>
                <a:gd name="connsiteY12" fmla="*/ 7036 h 10000"/>
                <a:gd name="connsiteX13" fmla="*/ 5084 w 10000"/>
                <a:gd name="connsiteY13" fmla="*/ 7055 h 10000"/>
                <a:gd name="connsiteX14" fmla="*/ 5758 w 10000"/>
                <a:gd name="connsiteY14" fmla="*/ 7312 h 10000"/>
                <a:gd name="connsiteX15" fmla="*/ 6263 w 10000"/>
                <a:gd name="connsiteY15" fmla="*/ 7767 h 10000"/>
                <a:gd name="connsiteX16" fmla="*/ 7348 w 10000"/>
                <a:gd name="connsiteY16" fmla="*/ 8686 h 10000"/>
                <a:gd name="connsiteX17" fmla="*/ 8058 w 10000"/>
                <a:gd name="connsiteY17" fmla="*/ 9130 h 10000"/>
                <a:gd name="connsiteX18" fmla="*/ 8889 w 10000"/>
                <a:gd name="connsiteY18" fmla="*/ 9545 h 10000"/>
                <a:gd name="connsiteX19" fmla="*/ 9293 w 10000"/>
                <a:gd name="connsiteY19" fmla="*/ 9723 h 10000"/>
                <a:gd name="connsiteX20" fmla="*/ 10000 w 10000"/>
                <a:gd name="connsiteY20" fmla="*/ 10000 h 10000"/>
                <a:gd name="connsiteX0" fmla="*/ 0 w 10000"/>
                <a:gd name="connsiteY0" fmla="*/ 0 h 10000"/>
                <a:gd name="connsiteX1" fmla="*/ 774 w 10000"/>
                <a:gd name="connsiteY1" fmla="*/ 1383 h 10000"/>
                <a:gd name="connsiteX2" fmla="*/ 1077 w 10000"/>
                <a:gd name="connsiteY2" fmla="*/ 1897 h 10000"/>
                <a:gd name="connsiteX3" fmla="*/ 1313 w 10000"/>
                <a:gd name="connsiteY3" fmla="*/ 2431 h 10000"/>
                <a:gd name="connsiteX4" fmla="*/ 1801 w 10000"/>
                <a:gd name="connsiteY4" fmla="*/ 3399 h 10000"/>
                <a:gd name="connsiteX5" fmla="*/ 2003 w 10000"/>
                <a:gd name="connsiteY5" fmla="*/ 3755 h 10000"/>
                <a:gd name="connsiteX6" fmla="*/ 2323 w 10000"/>
                <a:gd name="connsiteY6" fmla="*/ 4447 h 10000"/>
                <a:gd name="connsiteX7" fmla="*/ 2761 w 10000"/>
                <a:gd name="connsiteY7" fmla="*/ 5257 h 10000"/>
                <a:gd name="connsiteX8" fmla="*/ 3215 w 10000"/>
                <a:gd name="connsiteY8" fmla="*/ 6008 h 10000"/>
                <a:gd name="connsiteX9" fmla="*/ 3468 w 10000"/>
                <a:gd name="connsiteY9" fmla="*/ 6443 h 10000"/>
                <a:gd name="connsiteX10" fmla="*/ 3914 w 10000"/>
                <a:gd name="connsiteY10" fmla="*/ 6897 h 10000"/>
                <a:gd name="connsiteX11" fmla="*/ 4343 w 10000"/>
                <a:gd name="connsiteY11" fmla="*/ 7055 h 10000"/>
                <a:gd name="connsiteX12" fmla="*/ 4663 w 10000"/>
                <a:gd name="connsiteY12" fmla="*/ 7036 h 10000"/>
                <a:gd name="connsiteX13" fmla="*/ 5084 w 10000"/>
                <a:gd name="connsiteY13" fmla="*/ 7055 h 10000"/>
                <a:gd name="connsiteX14" fmla="*/ 5758 w 10000"/>
                <a:gd name="connsiteY14" fmla="*/ 7312 h 10000"/>
                <a:gd name="connsiteX15" fmla="*/ 6263 w 10000"/>
                <a:gd name="connsiteY15" fmla="*/ 7767 h 10000"/>
                <a:gd name="connsiteX16" fmla="*/ 7348 w 10000"/>
                <a:gd name="connsiteY16" fmla="*/ 8686 h 10000"/>
                <a:gd name="connsiteX17" fmla="*/ 8058 w 10000"/>
                <a:gd name="connsiteY17" fmla="*/ 9130 h 10000"/>
                <a:gd name="connsiteX18" fmla="*/ 8889 w 10000"/>
                <a:gd name="connsiteY18" fmla="*/ 9545 h 10000"/>
                <a:gd name="connsiteX19" fmla="*/ 9306 w 10000"/>
                <a:gd name="connsiteY19" fmla="*/ 9802 h 10000"/>
                <a:gd name="connsiteX20" fmla="*/ 10000 w 10000"/>
                <a:gd name="connsiteY20" fmla="*/ 10000 h 10000"/>
                <a:gd name="connsiteX0" fmla="*/ 0 w 10000"/>
                <a:gd name="connsiteY0" fmla="*/ 0 h 10047"/>
                <a:gd name="connsiteX1" fmla="*/ 774 w 10000"/>
                <a:gd name="connsiteY1" fmla="*/ 1383 h 10047"/>
                <a:gd name="connsiteX2" fmla="*/ 1077 w 10000"/>
                <a:gd name="connsiteY2" fmla="*/ 1897 h 10047"/>
                <a:gd name="connsiteX3" fmla="*/ 1313 w 10000"/>
                <a:gd name="connsiteY3" fmla="*/ 2431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58 w 10000"/>
                <a:gd name="connsiteY14" fmla="*/ 7312 h 10047"/>
                <a:gd name="connsiteX15" fmla="*/ 6263 w 10000"/>
                <a:gd name="connsiteY15" fmla="*/ 7767 h 10047"/>
                <a:gd name="connsiteX16" fmla="*/ 7348 w 10000"/>
                <a:gd name="connsiteY16" fmla="*/ 8686 h 10047"/>
                <a:gd name="connsiteX17" fmla="*/ 8058 w 10000"/>
                <a:gd name="connsiteY17" fmla="*/ 9130 h 10047"/>
                <a:gd name="connsiteX18" fmla="*/ 8889 w 10000"/>
                <a:gd name="connsiteY18" fmla="*/ 9545 h 10047"/>
                <a:gd name="connsiteX19" fmla="*/ 9306 w 10000"/>
                <a:gd name="connsiteY19" fmla="*/ 9802 h 10047"/>
                <a:gd name="connsiteX20" fmla="*/ 10000 w 10000"/>
                <a:gd name="connsiteY20" fmla="*/ 10047 h 10047"/>
                <a:gd name="connsiteX0" fmla="*/ 0 w 10000"/>
                <a:gd name="connsiteY0" fmla="*/ 0 h 10047"/>
                <a:gd name="connsiteX1" fmla="*/ 774 w 10000"/>
                <a:gd name="connsiteY1" fmla="*/ 1383 h 10047"/>
                <a:gd name="connsiteX2" fmla="*/ 1077 w 10000"/>
                <a:gd name="connsiteY2" fmla="*/ 1897 h 10047"/>
                <a:gd name="connsiteX3" fmla="*/ 1313 w 10000"/>
                <a:gd name="connsiteY3" fmla="*/ 2431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58 w 10000"/>
                <a:gd name="connsiteY14" fmla="*/ 7312 h 10047"/>
                <a:gd name="connsiteX15" fmla="*/ 6263 w 10000"/>
                <a:gd name="connsiteY15" fmla="*/ 7767 h 10047"/>
                <a:gd name="connsiteX16" fmla="*/ 7348 w 10000"/>
                <a:gd name="connsiteY16" fmla="*/ 8686 h 10047"/>
                <a:gd name="connsiteX17" fmla="*/ 8058 w 10000"/>
                <a:gd name="connsiteY17" fmla="*/ 9130 h 10047"/>
                <a:gd name="connsiteX18" fmla="*/ 9306 w 10000"/>
                <a:gd name="connsiteY18" fmla="*/ 9802 h 10047"/>
                <a:gd name="connsiteX19" fmla="*/ 10000 w 10000"/>
                <a:gd name="connsiteY19" fmla="*/ 10047 h 10047"/>
                <a:gd name="connsiteX0" fmla="*/ 0 w 10000"/>
                <a:gd name="connsiteY0" fmla="*/ 0 h 10047"/>
                <a:gd name="connsiteX1" fmla="*/ 774 w 10000"/>
                <a:gd name="connsiteY1" fmla="*/ 1383 h 10047"/>
                <a:gd name="connsiteX2" fmla="*/ 1077 w 10000"/>
                <a:gd name="connsiteY2" fmla="*/ 1897 h 10047"/>
                <a:gd name="connsiteX3" fmla="*/ 1313 w 10000"/>
                <a:gd name="connsiteY3" fmla="*/ 2431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58 w 10000"/>
                <a:gd name="connsiteY14" fmla="*/ 7312 h 10047"/>
                <a:gd name="connsiteX15" fmla="*/ 6263 w 10000"/>
                <a:gd name="connsiteY15" fmla="*/ 7767 h 10047"/>
                <a:gd name="connsiteX16" fmla="*/ 7200 w 10000"/>
                <a:gd name="connsiteY16" fmla="*/ 8528 h 10047"/>
                <a:gd name="connsiteX17" fmla="*/ 8058 w 10000"/>
                <a:gd name="connsiteY17" fmla="*/ 9130 h 10047"/>
                <a:gd name="connsiteX18" fmla="*/ 9306 w 10000"/>
                <a:gd name="connsiteY18" fmla="*/ 9802 h 10047"/>
                <a:gd name="connsiteX19" fmla="*/ 10000 w 10000"/>
                <a:gd name="connsiteY19" fmla="*/ 10047 h 10047"/>
                <a:gd name="connsiteX0" fmla="*/ 0 w 10000"/>
                <a:gd name="connsiteY0" fmla="*/ 0 h 10047"/>
                <a:gd name="connsiteX1" fmla="*/ 774 w 10000"/>
                <a:gd name="connsiteY1" fmla="*/ 1383 h 10047"/>
                <a:gd name="connsiteX2" fmla="*/ 1077 w 10000"/>
                <a:gd name="connsiteY2" fmla="*/ 1897 h 10047"/>
                <a:gd name="connsiteX3" fmla="*/ 1313 w 10000"/>
                <a:gd name="connsiteY3" fmla="*/ 2431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58 w 10000"/>
                <a:gd name="connsiteY14" fmla="*/ 7312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774 w 10000"/>
                <a:gd name="connsiteY1" fmla="*/ 1383 h 10047"/>
                <a:gd name="connsiteX2" fmla="*/ 1077 w 10000"/>
                <a:gd name="connsiteY2" fmla="*/ 1897 h 10047"/>
                <a:gd name="connsiteX3" fmla="*/ 1313 w 10000"/>
                <a:gd name="connsiteY3" fmla="*/ 2431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04 w 10000"/>
                <a:gd name="connsiteY14" fmla="*/ 7233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774 w 10000"/>
                <a:gd name="connsiteY1" fmla="*/ 1383 h 10047"/>
                <a:gd name="connsiteX2" fmla="*/ 1077 w 10000"/>
                <a:gd name="connsiteY2" fmla="*/ 1897 h 10047"/>
                <a:gd name="connsiteX3" fmla="*/ 1394 w 10000"/>
                <a:gd name="connsiteY3" fmla="*/ 2557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04 w 10000"/>
                <a:gd name="connsiteY14" fmla="*/ 7233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478 w 10000"/>
                <a:gd name="connsiteY1" fmla="*/ 893 h 10047"/>
                <a:gd name="connsiteX2" fmla="*/ 1077 w 10000"/>
                <a:gd name="connsiteY2" fmla="*/ 1897 h 10047"/>
                <a:gd name="connsiteX3" fmla="*/ 1394 w 10000"/>
                <a:gd name="connsiteY3" fmla="*/ 2557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04 w 10000"/>
                <a:gd name="connsiteY14" fmla="*/ 7233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478 w 10000"/>
                <a:gd name="connsiteY1" fmla="*/ 893 h 10047"/>
                <a:gd name="connsiteX2" fmla="*/ 996 w 10000"/>
                <a:gd name="connsiteY2" fmla="*/ 1897 h 10047"/>
                <a:gd name="connsiteX3" fmla="*/ 1394 w 10000"/>
                <a:gd name="connsiteY3" fmla="*/ 2557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04 w 10000"/>
                <a:gd name="connsiteY14" fmla="*/ 7233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478 w 10000"/>
                <a:gd name="connsiteY1" fmla="*/ 893 h 10047"/>
                <a:gd name="connsiteX2" fmla="*/ 996 w 10000"/>
                <a:gd name="connsiteY2" fmla="*/ 1897 h 10047"/>
                <a:gd name="connsiteX3" fmla="*/ 1381 w 10000"/>
                <a:gd name="connsiteY3" fmla="*/ 2620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04 w 10000"/>
                <a:gd name="connsiteY14" fmla="*/ 7233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478 w 10000"/>
                <a:gd name="connsiteY1" fmla="*/ 893 h 10047"/>
                <a:gd name="connsiteX2" fmla="*/ 996 w 10000"/>
                <a:gd name="connsiteY2" fmla="*/ 1897 h 10047"/>
                <a:gd name="connsiteX3" fmla="*/ 1381 w 10000"/>
                <a:gd name="connsiteY3" fmla="*/ 2620 h 10047"/>
                <a:gd name="connsiteX4" fmla="*/ 2003 w 10000"/>
                <a:gd name="connsiteY4" fmla="*/ 3755 h 10047"/>
                <a:gd name="connsiteX5" fmla="*/ 2323 w 10000"/>
                <a:gd name="connsiteY5" fmla="*/ 4447 h 10047"/>
                <a:gd name="connsiteX6" fmla="*/ 2761 w 10000"/>
                <a:gd name="connsiteY6" fmla="*/ 5257 h 10047"/>
                <a:gd name="connsiteX7" fmla="*/ 3215 w 10000"/>
                <a:gd name="connsiteY7" fmla="*/ 6008 h 10047"/>
                <a:gd name="connsiteX8" fmla="*/ 3468 w 10000"/>
                <a:gd name="connsiteY8" fmla="*/ 6443 h 10047"/>
                <a:gd name="connsiteX9" fmla="*/ 3914 w 10000"/>
                <a:gd name="connsiteY9" fmla="*/ 6897 h 10047"/>
                <a:gd name="connsiteX10" fmla="*/ 4343 w 10000"/>
                <a:gd name="connsiteY10" fmla="*/ 7055 h 10047"/>
                <a:gd name="connsiteX11" fmla="*/ 4663 w 10000"/>
                <a:gd name="connsiteY11" fmla="*/ 7036 h 10047"/>
                <a:gd name="connsiteX12" fmla="*/ 5084 w 10000"/>
                <a:gd name="connsiteY12" fmla="*/ 7055 h 10047"/>
                <a:gd name="connsiteX13" fmla="*/ 5704 w 10000"/>
                <a:gd name="connsiteY13" fmla="*/ 7233 h 10047"/>
                <a:gd name="connsiteX14" fmla="*/ 6263 w 10000"/>
                <a:gd name="connsiteY14" fmla="*/ 7767 h 10047"/>
                <a:gd name="connsiteX15" fmla="*/ 7200 w 10000"/>
                <a:gd name="connsiteY15" fmla="*/ 8528 h 10047"/>
                <a:gd name="connsiteX16" fmla="*/ 8058 w 10000"/>
                <a:gd name="connsiteY16" fmla="*/ 9130 h 10047"/>
                <a:gd name="connsiteX17" fmla="*/ 9171 w 10000"/>
                <a:gd name="connsiteY17" fmla="*/ 9707 h 10047"/>
                <a:gd name="connsiteX18" fmla="*/ 10000 w 10000"/>
                <a:gd name="connsiteY18" fmla="*/ 10047 h 10047"/>
                <a:gd name="connsiteX0" fmla="*/ 0 w 10000"/>
                <a:gd name="connsiteY0" fmla="*/ 0 h 10047"/>
                <a:gd name="connsiteX1" fmla="*/ 478 w 10000"/>
                <a:gd name="connsiteY1" fmla="*/ 893 h 10047"/>
                <a:gd name="connsiteX2" fmla="*/ 996 w 10000"/>
                <a:gd name="connsiteY2" fmla="*/ 1897 h 10047"/>
                <a:gd name="connsiteX3" fmla="*/ 1381 w 10000"/>
                <a:gd name="connsiteY3" fmla="*/ 2620 h 10047"/>
                <a:gd name="connsiteX4" fmla="*/ 1828 w 10000"/>
                <a:gd name="connsiteY4" fmla="*/ 3549 h 10047"/>
                <a:gd name="connsiteX5" fmla="*/ 2323 w 10000"/>
                <a:gd name="connsiteY5" fmla="*/ 4447 h 10047"/>
                <a:gd name="connsiteX6" fmla="*/ 2761 w 10000"/>
                <a:gd name="connsiteY6" fmla="*/ 5257 h 10047"/>
                <a:gd name="connsiteX7" fmla="*/ 3215 w 10000"/>
                <a:gd name="connsiteY7" fmla="*/ 6008 h 10047"/>
                <a:gd name="connsiteX8" fmla="*/ 3468 w 10000"/>
                <a:gd name="connsiteY8" fmla="*/ 6443 h 10047"/>
                <a:gd name="connsiteX9" fmla="*/ 3914 w 10000"/>
                <a:gd name="connsiteY9" fmla="*/ 6897 h 10047"/>
                <a:gd name="connsiteX10" fmla="*/ 4343 w 10000"/>
                <a:gd name="connsiteY10" fmla="*/ 7055 h 10047"/>
                <a:gd name="connsiteX11" fmla="*/ 4663 w 10000"/>
                <a:gd name="connsiteY11" fmla="*/ 7036 h 10047"/>
                <a:gd name="connsiteX12" fmla="*/ 5084 w 10000"/>
                <a:gd name="connsiteY12" fmla="*/ 7055 h 10047"/>
                <a:gd name="connsiteX13" fmla="*/ 5704 w 10000"/>
                <a:gd name="connsiteY13" fmla="*/ 7233 h 10047"/>
                <a:gd name="connsiteX14" fmla="*/ 6263 w 10000"/>
                <a:gd name="connsiteY14" fmla="*/ 7767 h 10047"/>
                <a:gd name="connsiteX15" fmla="*/ 7200 w 10000"/>
                <a:gd name="connsiteY15" fmla="*/ 8528 h 10047"/>
                <a:gd name="connsiteX16" fmla="*/ 8058 w 10000"/>
                <a:gd name="connsiteY16" fmla="*/ 9130 h 10047"/>
                <a:gd name="connsiteX17" fmla="*/ 9171 w 10000"/>
                <a:gd name="connsiteY17" fmla="*/ 9707 h 10047"/>
                <a:gd name="connsiteX18" fmla="*/ 10000 w 10000"/>
                <a:gd name="connsiteY18" fmla="*/ 10047 h 10047"/>
                <a:gd name="connsiteX0" fmla="*/ 0 w 9906"/>
                <a:gd name="connsiteY0" fmla="*/ 0 h 9984"/>
                <a:gd name="connsiteX1" fmla="*/ 384 w 9906"/>
                <a:gd name="connsiteY1" fmla="*/ 830 h 9984"/>
                <a:gd name="connsiteX2" fmla="*/ 902 w 9906"/>
                <a:gd name="connsiteY2" fmla="*/ 1834 h 9984"/>
                <a:gd name="connsiteX3" fmla="*/ 1287 w 9906"/>
                <a:gd name="connsiteY3" fmla="*/ 2557 h 9984"/>
                <a:gd name="connsiteX4" fmla="*/ 1734 w 9906"/>
                <a:gd name="connsiteY4" fmla="*/ 3486 h 9984"/>
                <a:gd name="connsiteX5" fmla="*/ 2229 w 9906"/>
                <a:gd name="connsiteY5" fmla="*/ 4384 h 9984"/>
                <a:gd name="connsiteX6" fmla="*/ 2667 w 9906"/>
                <a:gd name="connsiteY6" fmla="*/ 5194 h 9984"/>
                <a:gd name="connsiteX7" fmla="*/ 3121 w 9906"/>
                <a:gd name="connsiteY7" fmla="*/ 5945 h 9984"/>
                <a:gd name="connsiteX8" fmla="*/ 3374 w 9906"/>
                <a:gd name="connsiteY8" fmla="*/ 6380 h 9984"/>
                <a:gd name="connsiteX9" fmla="*/ 3820 w 9906"/>
                <a:gd name="connsiteY9" fmla="*/ 6834 h 9984"/>
                <a:gd name="connsiteX10" fmla="*/ 4249 w 9906"/>
                <a:gd name="connsiteY10" fmla="*/ 6992 h 9984"/>
                <a:gd name="connsiteX11" fmla="*/ 4569 w 9906"/>
                <a:gd name="connsiteY11" fmla="*/ 6973 h 9984"/>
                <a:gd name="connsiteX12" fmla="*/ 4990 w 9906"/>
                <a:gd name="connsiteY12" fmla="*/ 6992 h 9984"/>
                <a:gd name="connsiteX13" fmla="*/ 5610 w 9906"/>
                <a:gd name="connsiteY13" fmla="*/ 7170 h 9984"/>
                <a:gd name="connsiteX14" fmla="*/ 6169 w 9906"/>
                <a:gd name="connsiteY14" fmla="*/ 7704 h 9984"/>
                <a:gd name="connsiteX15" fmla="*/ 7106 w 9906"/>
                <a:gd name="connsiteY15" fmla="*/ 8465 h 9984"/>
                <a:gd name="connsiteX16" fmla="*/ 7964 w 9906"/>
                <a:gd name="connsiteY16" fmla="*/ 9067 h 9984"/>
                <a:gd name="connsiteX17" fmla="*/ 9077 w 9906"/>
                <a:gd name="connsiteY17" fmla="*/ 9644 h 9984"/>
                <a:gd name="connsiteX18" fmla="*/ 9906 w 9906"/>
                <a:gd name="connsiteY18" fmla="*/ 9984 h 9984"/>
                <a:gd name="connsiteX0" fmla="*/ 0 w 10000"/>
                <a:gd name="connsiteY0" fmla="*/ 0 h 10000"/>
                <a:gd name="connsiteX1" fmla="*/ 388 w 10000"/>
                <a:gd name="connsiteY1" fmla="*/ 831 h 10000"/>
                <a:gd name="connsiteX2" fmla="*/ 911 w 10000"/>
                <a:gd name="connsiteY2" fmla="*/ 1837 h 10000"/>
                <a:gd name="connsiteX3" fmla="*/ 1299 w 10000"/>
                <a:gd name="connsiteY3" fmla="*/ 2561 h 10000"/>
                <a:gd name="connsiteX4" fmla="*/ 1750 w 10000"/>
                <a:gd name="connsiteY4" fmla="*/ 3492 h 10000"/>
                <a:gd name="connsiteX5" fmla="*/ 2250 w 10000"/>
                <a:gd name="connsiteY5" fmla="*/ 4391 h 10000"/>
                <a:gd name="connsiteX6" fmla="*/ 2692 w 10000"/>
                <a:gd name="connsiteY6" fmla="*/ 5202 h 10000"/>
                <a:gd name="connsiteX7" fmla="*/ 3151 w 10000"/>
                <a:gd name="connsiteY7" fmla="*/ 5955 h 10000"/>
                <a:gd name="connsiteX8" fmla="*/ 3406 w 10000"/>
                <a:gd name="connsiteY8" fmla="*/ 6390 h 10000"/>
                <a:gd name="connsiteX9" fmla="*/ 3856 w 10000"/>
                <a:gd name="connsiteY9" fmla="*/ 6845 h 10000"/>
                <a:gd name="connsiteX10" fmla="*/ 4289 w 10000"/>
                <a:gd name="connsiteY10" fmla="*/ 7003 h 10000"/>
                <a:gd name="connsiteX11" fmla="*/ 4612 w 10000"/>
                <a:gd name="connsiteY11" fmla="*/ 6984 h 10000"/>
                <a:gd name="connsiteX12" fmla="*/ 5037 w 10000"/>
                <a:gd name="connsiteY12" fmla="*/ 7003 h 10000"/>
                <a:gd name="connsiteX13" fmla="*/ 5663 w 10000"/>
                <a:gd name="connsiteY13" fmla="*/ 7181 h 10000"/>
                <a:gd name="connsiteX14" fmla="*/ 6269 w 10000"/>
                <a:gd name="connsiteY14" fmla="*/ 7668 h 10000"/>
                <a:gd name="connsiteX15" fmla="*/ 7173 w 10000"/>
                <a:gd name="connsiteY15" fmla="*/ 8479 h 10000"/>
                <a:gd name="connsiteX16" fmla="*/ 8040 w 10000"/>
                <a:gd name="connsiteY16" fmla="*/ 9082 h 10000"/>
                <a:gd name="connsiteX17" fmla="*/ 9163 w 10000"/>
                <a:gd name="connsiteY17" fmla="*/ 9659 h 10000"/>
                <a:gd name="connsiteX18" fmla="*/ 10000 w 10000"/>
                <a:gd name="connsiteY18"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00" h="10000">
                  <a:moveTo>
                    <a:pt x="0" y="0"/>
                  </a:moveTo>
                  <a:cubicBezTo>
                    <a:pt x="127" y="227"/>
                    <a:pt x="236" y="525"/>
                    <a:pt x="388" y="831"/>
                  </a:cubicBezTo>
                  <a:cubicBezTo>
                    <a:pt x="539" y="1138"/>
                    <a:pt x="758" y="1548"/>
                    <a:pt x="911" y="1837"/>
                  </a:cubicBezTo>
                  <a:cubicBezTo>
                    <a:pt x="1063" y="2125"/>
                    <a:pt x="1159" y="2286"/>
                    <a:pt x="1299" y="2561"/>
                  </a:cubicBezTo>
                  <a:cubicBezTo>
                    <a:pt x="1440" y="2837"/>
                    <a:pt x="1592" y="3187"/>
                    <a:pt x="1750" y="3492"/>
                  </a:cubicBezTo>
                  <a:cubicBezTo>
                    <a:pt x="1909" y="3796"/>
                    <a:pt x="2094" y="4106"/>
                    <a:pt x="2250" y="4391"/>
                  </a:cubicBezTo>
                  <a:cubicBezTo>
                    <a:pt x="2407" y="4676"/>
                    <a:pt x="2539" y="4945"/>
                    <a:pt x="2692" y="5202"/>
                  </a:cubicBezTo>
                  <a:cubicBezTo>
                    <a:pt x="2845" y="5460"/>
                    <a:pt x="3033" y="5756"/>
                    <a:pt x="3151" y="5955"/>
                  </a:cubicBezTo>
                  <a:cubicBezTo>
                    <a:pt x="3270" y="6153"/>
                    <a:pt x="3287" y="6241"/>
                    <a:pt x="3406" y="6390"/>
                  </a:cubicBezTo>
                  <a:cubicBezTo>
                    <a:pt x="3525" y="6538"/>
                    <a:pt x="3712" y="6746"/>
                    <a:pt x="3856" y="6845"/>
                  </a:cubicBezTo>
                  <a:cubicBezTo>
                    <a:pt x="4001" y="6944"/>
                    <a:pt x="4162" y="6984"/>
                    <a:pt x="4289" y="7003"/>
                  </a:cubicBezTo>
                  <a:cubicBezTo>
                    <a:pt x="4418" y="7023"/>
                    <a:pt x="4485" y="6984"/>
                    <a:pt x="4612" y="6984"/>
                  </a:cubicBezTo>
                  <a:cubicBezTo>
                    <a:pt x="4741" y="6984"/>
                    <a:pt x="4863" y="6970"/>
                    <a:pt x="5037" y="7003"/>
                  </a:cubicBezTo>
                  <a:cubicBezTo>
                    <a:pt x="5212" y="7036"/>
                    <a:pt x="5458" y="7070"/>
                    <a:pt x="5663" y="7181"/>
                  </a:cubicBezTo>
                  <a:cubicBezTo>
                    <a:pt x="5868" y="7292"/>
                    <a:pt x="6017" y="7452"/>
                    <a:pt x="6269" y="7668"/>
                  </a:cubicBezTo>
                  <a:cubicBezTo>
                    <a:pt x="6520" y="7885"/>
                    <a:pt x="6878" y="8243"/>
                    <a:pt x="7173" y="8479"/>
                  </a:cubicBezTo>
                  <a:cubicBezTo>
                    <a:pt x="7468" y="8715"/>
                    <a:pt x="7708" y="8885"/>
                    <a:pt x="8040" y="9082"/>
                  </a:cubicBezTo>
                  <a:cubicBezTo>
                    <a:pt x="8371" y="9278"/>
                    <a:pt x="8836" y="9506"/>
                    <a:pt x="9163" y="9659"/>
                  </a:cubicBezTo>
                  <a:lnTo>
                    <a:pt x="10000" y="10000"/>
                  </a:lnTo>
                </a:path>
              </a:pathLst>
            </a:custGeom>
            <a:noFill/>
            <a:ln w="19050">
              <a:solidFill>
                <a:srgbClr val="0066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5" name="矩形 4"/>
            <p:cNvSpPr/>
            <p:nvPr/>
          </p:nvSpPr>
          <p:spPr>
            <a:xfrm>
              <a:off x="6420717" y="3312117"/>
              <a:ext cx="468398" cy="447045"/>
            </a:xfrm>
            <a:prstGeom prst="rect">
              <a:avLst/>
            </a:prstGeom>
          </p:spPr>
          <p:txBody>
            <a:bodyPr wrap="none">
              <a:spAutoFit/>
            </a:bodyPr>
            <a:lstStyle/>
            <a:p>
              <a:r>
                <a:rPr lang="zh-CN" altLang="en-US" sz="2200" b="1" dirty="0">
                  <a:solidFill>
                    <a:srgbClr val="006600"/>
                  </a:solidFill>
                </a:rPr>
                <a:t>①</a:t>
              </a:r>
            </a:p>
          </p:txBody>
        </p:sp>
        <p:grpSp>
          <p:nvGrpSpPr>
            <p:cNvPr id="8" name="组合 7"/>
            <p:cNvGrpSpPr/>
            <p:nvPr/>
          </p:nvGrpSpPr>
          <p:grpSpPr>
            <a:xfrm>
              <a:off x="5187937" y="1569694"/>
              <a:ext cx="3462337" cy="2787650"/>
              <a:chOff x="5187937" y="1569694"/>
              <a:chExt cx="3462337" cy="2787650"/>
            </a:xfrm>
          </p:grpSpPr>
          <p:sp>
            <p:nvSpPr>
              <p:cNvPr id="44036" name="Freeform 68"/>
              <p:cNvSpPr>
                <a:spLocks/>
              </p:cNvSpPr>
              <p:nvPr/>
            </p:nvSpPr>
            <p:spPr bwMode="auto">
              <a:xfrm>
                <a:off x="5187937" y="1569694"/>
                <a:ext cx="3462337" cy="2787650"/>
              </a:xfrm>
              <a:custGeom>
                <a:avLst/>
                <a:gdLst>
                  <a:gd name="T0" fmla="*/ 0 w 2181"/>
                  <a:gd name="T1" fmla="*/ 0 h 1756"/>
                  <a:gd name="T2" fmla="*/ 2147483647 w 2181"/>
                  <a:gd name="T3" fmla="*/ 2147483647 h 1756"/>
                  <a:gd name="T4" fmla="*/ 2147483647 w 2181"/>
                  <a:gd name="T5" fmla="*/ 2147483647 h 1756"/>
                  <a:gd name="T6" fmla="*/ 2147483647 w 2181"/>
                  <a:gd name="T7" fmla="*/ 2147483647 h 1756"/>
                  <a:gd name="T8" fmla="*/ 2147483647 w 2181"/>
                  <a:gd name="T9" fmla="*/ 2147483647 h 1756"/>
                  <a:gd name="T10" fmla="*/ 2147483647 w 2181"/>
                  <a:gd name="T11" fmla="*/ 2147483647 h 1756"/>
                  <a:gd name="T12" fmla="*/ 2147483647 w 2181"/>
                  <a:gd name="T13" fmla="*/ 2147483647 h 1756"/>
                  <a:gd name="T14" fmla="*/ 2147483647 w 2181"/>
                  <a:gd name="T15" fmla="*/ 2147483647 h 1756"/>
                  <a:gd name="T16" fmla="*/ 2147483647 w 2181"/>
                  <a:gd name="T17" fmla="*/ 2147483647 h 1756"/>
                  <a:gd name="T18" fmla="*/ 2147483647 w 2181"/>
                  <a:gd name="T19" fmla="*/ 2147483647 h 1756"/>
                  <a:gd name="T20" fmla="*/ 2147483647 w 2181"/>
                  <a:gd name="T21" fmla="*/ 2147483647 h 1756"/>
                  <a:gd name="T22" fmla="*/ 2147483647 w 2181"/>
                  <a:gd name="T23" fmla="*/ 2147483647 h 1756"/>
                  <a:gd name="T24" fmla="*/ 2147483647 w 2181"/>
                  <a:gd name="T25" fmla="*/ 2147483647 h 1756"/>
                  <a:gd name="T26" fmla="*/ 2147483647 w 2181"/>
                  <a:gd name="T27" fmla="*/ 2147483647 h 1756"/>
                  <a:gd name="T28" fmla="*/ 2147483647 w 2181"/>
                  <a:gd name="T29" fmla="*/ 2147483647 h 1756"/>
                  <a:gd name="T30" fmla="*/ 2147483647 w 2181"/>
                  <a:gd name="T31" fmla="*/ 2147483647 h 1756"/>
                  <a:gd name="T32" fmla="*/ 2147483647 w 2181"/>
                  <a:gd name="T33" fmla="*/ 2147483647 h 1756"/>
                  <a:gd name="T34" fmla="*/ 2147483647 w 2181"/>
                  <a:gd name="T35" fmla="*/ 2147483647 h 1756"/>
                  <a:gd name="T36" fmla="*/ 2147483647 w 2181"/>
                  <a:gd name="T37" fmla="*/ 2147483647 h 1756"/>
                  <a:gd name="T38" fmla="*/ 2147483647 w 2181"/>
                  <a:gd name="T39" fmla="*/ 2147483647 h 1756"/>
                  <a:gd name="T40" fmla="*/ 2147483647 w 2181"/>
                  <a:gd name="T41" fmla="*/ 2147483647 h 1756"/>
                  <a:gd name="T42" fmla="*/ 2147483647 w 2181"/>
                  <a:gd name="T43" fmla="*/ 2147483647 h 1756"/>
                  <a:gd name="T44" fmla="*/ 2147483647 w 2181"/>
                  <a:gd name="T45" fmla="*/ 2147483647 h 1756"/>
                  <a:gd name="T46" fmla="*/ 2147483647 w 2181"/>
                  <a:gd name="T47" fmla="*/ 2147483647 h 1756"/>
                  <a:gd name="T48" fmla="*/ 2147483647 w 2181"/>
                  <a:gd name="T49" fmla="*/ 2147483647 h 17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181"/>
                  <a:gd name="T76" fmla="*/ 0 h 1756"/>
                  <a:gd name="T77" fmla="*/ 2181 w 2181"/>
                  <a:gd name="T78" fmla="*/ 1756 h 17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181" h="1756">
                    <a:moveTo>
                      <a:pt x="0" y="0"/>
                    </a:moveTo>
                    <a:cubicBezTo>
                      <a:pt x="16" y="10"/>
                      <a:pt x="67" y="41"/>
                      <a:pt x="96" y="60"/>
                    </a:cubicBezTo>
                    <a:cubicBezTo>
                      <a:pt x="125" y="79"/>
                      <a:pt x="155" y="99"/>
                      <a:pt x="177" y="114"/>
                    </a:cubicBezTo>
                    <a:cubicBezTo>
                      <a:pt x="199" y="129"/>
                      <a:pt x="202" y="130"/>
                      <a:pt x="228" y="150"/>
                    </a:cubicBezTo>
                    <a:cubicBezTo>
                      <a:pt x="254" y="170"/>
                      <a:pt x="293" y="202"/>
                      <a:pt x="331" y="235"/>
                    </a:cubicBezTo>
                    <a:cubicBezTo>
                      <a:pt x="369" y="268"/>
                      <a:pt x="420" y="315"/>
                      <a:pt x="456" y="349"/>
                    </a:cubicBezTo>
                    <a:cubicBezTo>
                      <a:pt x="492" y="383"/>
                      <a:pt x="516" y="409"/>
                      <a:pt x="546" y="442"/>
                    </a:cubicBezTo>
                    <a:cubicBezTo>
                      <a:pt x="576" y="475"/>
                      <a:pt x="613" y="519"/>
                      <a:pt x="637" y="547"/>
                    </a:cubicBezTo>
                    <a:cubicBezTo>
                      <a:pt x="661" y="575"/>
                      <a:pt x="665" y="581"/>
                      <a:pt x="688" y="610"/>
                    </a:cubicBezTo>
                    <a:cubicBezTo>
                      <a:pt x="711" y="639"/>
                      <a:pt x="754" y="693"/>
                      <a:pt x="775" y="722"/>
                    </a:cubicBezTo>
                    <a:cubicBezTo>
                      <a:pt x="796" y="751"/>
                      <a:pt x="804" y="767"/>
                      <a:pt x="814" y="784"/>
                    </a:cubicBezTo>
                    <a:cubicBezTo>
                      <a:pt x="824" y="801"/>
                      <a:pt x="822" y="800"/>
                      <a:pt x="838" y="827"/>
                    </a:cubicBezTo>
                    <a:cubicBezTo>
                      <a:pt x="854" y="854"/>
                      <a:pt x="885" y="905"/>
                      <a:pt x="912" y="944"/>
                    </a:cubicBezTo>
                    <a:cubicBezTo>
                      <a:pt x="939" y="983"/>
                      <a:pt x="973" y="1029"/>
                      <a:pt x="999" y="1063"/>
                    </a:cubicBezTo>
                    <a:cubicBezTo>
                      <a:pt x="1025" y="1097"/>
                      <a:pt x="1035" y="1114"/>
                      <a:pt x="1066" y="1150"/>
                    </a:cubicBezTo>
                    <a:cubicBezTo>
                      <a:pt x="1097" y="1186"/>
                      <a:pt x="1149" y="1239"/>
                      <a:pt x="1188" y="1277"/>
                    </a:cubicBezTo>
                    <a:cubicBezTo>
                      <a:pt x="1227" y="1315"/>
                      <a:pt x="1274" y="1353"/>
                      <a:pt x="1303" y="1378"/>
                    </a:cubicBezTo>
                    <a:cubicBezTo>
                      <a:pt x="1332" y="1403"/>
                      <a:pt x="1338" y="1409"/>
                      <a:pt x="1360" y="1427"/>
                    </a:cubicBezTo>
                    <a:cubicBezTo>
                      <a:pt x="1382" y="1445"/>
                      <a:pt x="1403" y="1465"/>
                      <a:pt x="1435" y="1487"/>
                    </a:cubicBezTo>
                    <a:cubicBezTo>
                      <a:pt x="1467" y="1509"/>
                      <a:pt x="1511" y="1539"/>
                      <a:pt x="1551" y="1562"/>
                    </a:cubicBezTo>
                    <a:cubicBezTo>
                      <a:pt x="1591" y="1585"/>
                      <a:pt x="1629" y="1608"/>
                      <a:pt x="1675" y="1628"/>
                    </a:cubicBezTo>
                    <a:cubicBezTo>
                      <a:pt x="1721" y="1648"/>
                      <a:pt x="1776" y="1669"/>
                      <a:pt x="1825" y="1685"/>
                    </a:cubicBezTo>
                    <a:cubicBezTo>
                      <a:pt x="1874" y="1701"/>
                      <a:pt x="1934" y="1714"/>
                      <a:pt x="1972" y="1723"/>
                    </a:cubicBezTo>
                    <a:cubicBezTo>
                      <a:pt x="2010" y="1732"/>
                      <a:pt x="2018" y="1733"/>
                      <a:pt x="2053" y="1738"/>
                    </a:cubicBezTo>
                    <a:cubicBezTo>
                      <a:pt x="2088" y="1743"/>
                      <a:pt x="2154" y="1752"/>
                      <a:pt x="2181" y="1756"/>
                    </a:cubicBezTo>
                  </a:path>
                </a:pathLst>
              </a:custGeom>
              <a:noFill/>
              <a:ln w="19050">
                <a:solidFill>
                  <a:srgbClr val="0000CC"/>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 name="矩形 5"/>
              <p:cNvSpPr/>
              <p:nvPr/>
            </p:nvSpPr>
            <p:spPr>
              <a:xfrm>
                <a:off x="6815189" y="3168784"/>
                <a:ext cx="468397" cy="430887"/>
              </a:xfrm>
              <a:prstGeom prst="rect">
                <a:avLst/>
              </a:prstGeom>
            </p:spPr>
            <p:txBody>
              <a:bodyPr wrap="none">
                <a:spAutoFit/>
              </a:bodyPr>
              <a:lstStyle/>
              <a:p>
                <a:pPr algn="ctr" fontAlgn="auto">
                  <a:lnSpc>
                    <a:spcPct val="100000"/>
                  </a:lnSpc>
                  <a:spcBef>
                    <a:spcPts val="0"/>
                  </a:spcBef>
                  <a:spcAft>
                    <a:spcPts val="0"/>
                  </a:spcAft>
                  <a:defRPr/>
                </a:pPr>
                <a:r>
                  <a:rPr lang="zh-CN" altLang="en-US" sz="2200" b="1" dirty="0">
                    <a:latin typeface="宋体"/>
                  </a:rPr>
                  <a:t>②</a:t>
                </a:r>
                <a:endParaRPr lang="zh-CN" altLang="en-US" sz="2200" b="1" dirty="0"/>
              </a:p>
            </p:txBody>
          </p:sp>
        </p:grpSp>
        <p:sp>
          <p:nvSpPr>
            <p:cNvPr id="7" name="矩形 6"/>
            <p:cNvSpPr/>
            <p:nvPr/>
          </p:nvSpPr>
          <p:spPr>
            <a:xfrm>
              <a:off x="7027839" y="2865550"/>
              <a:ext cx="468397" cy="481670"/>
            </a:xfrm>
            <a:prstGeom prst="rect">
              <a:avLst/>
            </a:prstGeom>
          </p:spPr>
          <p:txBody>
            <a:bodyPr wrap="none">
              <a:spAutoFit/>
            </a:bodyPr>
            <a:lstStyle/>
            <a:p>
              <a:pPr algn="ctr"/>
              <a:r>
                <a:rPr lang="zh-CN" altLang="en-US" sz="2200" b="1" dirty="0">
                  <a:solidFill>
                    <a:srgbClr val="C00000"/>
                  </a:solidFill>
                  <a:latin typeface="宋体"/>
                </a:rPr>
                <a:t>③</a:t>
              </a:r>
              <a:endParaRPr lang="zh-CN" altLang="en-US" sz="2200" b="1" dirty="0">
                <a:solidFill>
                  <a:srgbClr val="C00000"/>
                </a:solidFill>
              </a:endParaRPr>
            </a:p>
          </p:txBody>
        </p:sp>
      </p:grpSp>
      <p:grpSp>
        <p:nvGrpSpPr>
          <p:cNvPr id="13" name="组合 12"/>
          <p:cNvGrpSpPr/>
          <p:nvPr/>
        </p:nvGrpSpPr>
        <p:grpSpPr>
          <a:xfrm>
            <a:off x="6356337" y="2649194"/>
            <a:ext cx="71437" cy="1968500"/>
            <a:chOff x="6356337" y="2649194"/>
            <a:chExt cx="71437" cy="1968500"/>
          </a:xfrm>
        </p:grpSpPr>
        <p:sp>
          <p:nvSpPr>
            <p:cNvPr id="44046" name="Freeform 98"/>
            <p:cNvSpPr>
              <a:spLocks/>
            </p:cNvSpPr>
            <p:nvPr/>
          </p:nvSpPr>
          <p:spPr bwMode="auto">
            <a:xfrm>
              <a:off x="6389674" y="2693644"/>
              <a:ext cx="3175" cy="1924050"/>
            </a:xfrm>
            <a:custGeom>
              <a:avLst/>
              <a:gdLst>
                <a:gd name="T0" fmla="*/ 0 w 2"/>
                <a:gd name="T1" fmla="*/ 0 h 1212"/>
                <a:gd name="T2" fmla="*/ 2147483647 w 2"/>
                <a:gd name="T3" fmla="*/ 2147483647 h 1212"/>
                <a:gd name="T4" fmla="*/ 0 60000 65536"/>
                <a:gd name="T5" fmla="*/ 0 60000 65536"/>
                <a:gd name="T6" fmla="*/ 0 w 2"/>
                <a:gd name="T7" fmla="*/ 0 h 1212"/>
                <a:gd name="T8" fmla="*/ 2 w 2"/>
                <a:gd name="T9" fmla="*/ 1212 h 1212"/>
              </a:gdLst>
              <a:ahLst/>
              <a:cxnLst>
                <a:cxn ang="T4">
                  <a:pos x="T0" y="T1"/>
                </a:cxn>
                <a:cxn ang="T5">
                  <a:pos x="T2" y="T3"/>
                </a:cxn>
              </a:cxnLst>
              <a:rect l="T6" t="T7" r="T8" b="T9"/>
              <a:pathLst>
                <a:path w="2" h="1212">
                  <a:moveTo>
                    <a:pt x="0" y="0"/>
                  </a:moveTo>
                  <a:lnTo>
                    <a:pt x="2" y="1212"/>
                  </a:lnTo>
                </a:path>
              </a:pathLst>
            </a:custGeom>
            <a:noFill/>
            <a:ln w="25400">
              <a:solidFill>
                <a:srgbClr val="9900CC"/>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042" name="Oval 94"/>
            <p:cNvSpPr>
              <a:spLocks noChangeArrowheads="1"/>
            </p:cNvSpPr>
            <p:nvPr/>
          </p:nvSpPr>
          <p:spPr bwMode="auto">
            <a:xfrm>
              <a:off x="6356337" y="2649194"/>
              <a:ext cx="71437" cy="71438"/>
            </a:xfrm>
            <a:prstGeom prst="ellipse">
              <a:avLst/>
            </a:prstGeom>
            <a:solidFill>
              <a:schemeClr val="bg1"/>
            </a:solidFill>
            <a:ln w="12700" algn="ctr">
              <a:solidFill>
                <a:srgbClr val="9900CC"/>
              </a:solidFill>
              <a:round/>
              <a:headEnd/>
              <a:tailEnd/>
            </a:ln>
          </p:spPr>
          <p:txBody>
            <a:bodyPr lIns="0" tIns="0" rIns="0" bIns="0" anchor="ctr">
              <a:spAutoFit/>
            </a:bodyPr>
            <a:lstStyle/>
            <a:p>
              <a:endParaRPr lang="zh-CN" altLang="en-US"/>
            </a:p>
          </p:txBody>
        </p:sp>
      </p:grpSp>
      <p:grpSp>
        <p:nvGrpSpPr>
          <p:cNvPr id="17" name="组合 16"/>
          <p:cNvGrpSpPr/>
          <p:nvPr/>
        </p:nvGrpSpPr>
        <p:grpSpPr>
          <a:xfrm>
            <a:off x="7095904" y="3623035"/>
            <a:ext cx="71438" cy="988309"/>
            <a:chOff x="7095904" y="3623035"/>
            <a:chExt cx="71438" cy="988309"/>
          </a:xfrm>
        </p:grpSpPr>
        <p:sp>
          <p:nvSpPr>
            <p:cNvPr id="44050" name="Freeform 102"/>
            <p:cNvSpPr>
              <a:spLocks/>
            </p:cNvSpPr>
            <p:nvPr/>
          </p:nvSpPr>
          <p:spPr bwMode="auto">
            <a:xfrm>
              <a:off x="7122892" y="3663607"/>
              <a:ext cx="1587" cy="947737"/>
            </a:xfrm>
            <a:custGeom>
              <a:avLst/>
              <a:gdLst>
                <a:gd name="T0" fmla="*/ 0 w 1"/>
                <a:gd name="T1" fmla="*/ 0 h 597"/>
                <a:gd name="T2" fmla="*/ 2147483647 w 1"/>
                <a:gd name="T3" fmla="*/ 2147483647 h 597"/>
                <a:gd name="T4" fmla="*/ 0 60000 65536"/>
                <a:gd name="T5" fmla="*/ 0 60000 65536"/>
                <a:gd name="T6" fmla="*/ 0 w 1"/>
                <a:gd name="T7" fmla="*/ 0 h 597"/>
                <a:gd name="T8" fmla="*/ 1 w 1"/>
                <a:gd name="T9" fmla="*/ 597 h 597"/>
              </a:gdLst>
              <a:ahLst/>
              <a:cxnLst>
                <a:cxn ang="T4">
                  <a:pos x="T0" y="T1"/>
                </a:cxn>
                <a:cxn ang="T5">
                  <a:pos x="T2" y="T3"/>
                </a:cxn>
              </a:cxnLst>
              <a:rect l="T6" t="T7" r="T8" b="T9"/>
              <a:pathLst>
                <a:path w="1" h="597">
                  <a:moveTo>
                    <a:pt x="0" y="0"/>
                  </a:moveTo>
                  <a:lnTo>
                    <a:pt x="1" y="597"/>
                  </a:lnTo>
                </a:path>
              </a:pathLst>
            </a:custGeom>
            <a:noFill/>
            <a:ln w="25400">
              <a:solidFill>
                <a:srgbClr val="0033CC"/>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043" name="Oval 95"/>
            <p:cNvSpPr>
              <a:spLocks noChangeArrowheads="1"/>
            </p:cNvSpPr>
            <p:nvPr/>
          </p:nvSpPr>
          <p:spPr bwMode="auto">
            <a:xfrm>
              <a:off x="7095904" y="3623035"/>
              <a:ext cx="71438" cy="71437"/>
            </a:xfrm>
            <a:prstGeom prst="ellipse">
              <a:avLst/>
            </a:prstGeom>
            <a:solidFill>
              <a:schemeClr val="bg1"/>
            </a:solidFill>
            <a:ln w="12700" algn="ctr">
              <a:solidFill>
                <a:srgbClr val="0033CC"/>
              </a:solidFill>
              <a:round/>
              <a:headEnd/>
              <a:tailEnd/>
            </a:ln>
          </p:spPr>
          <p:txBody>
            <a:bodyPr lIns="0" tIns="0" rIns="0" bIns="0" anchor="ctr">
              <a:spAutoFit/>
            </a:bodyPr>
            <a:lstStyle/>
            <a:p>
              <a:endParaRPr lang="zh-CN" altLang="en-US"/>
            </a:p>
          </p:txBody>
        </p:sp>
      </p:grpSp>
      <p:grpSp>
        <p:nvGrpSpPr>
          <p:cNvPr id="16" name="组合 15"/>
          <p:cNvGrpSpPr/>
          <p:nvPr/>
        </p:nvGrpSpPr>
        <p:grpSpPr>
          <a:xfrm>
            <a:off x="6949095" y="3620290"/>
            <a:ext cx="71438" cy="991054"/>
            <a:chOff x="6949095" y="3620290"/>
            <a:chExt cx="71438" cy="991054"/>
          </a:xfrm>
        </p:grpSpPr>
        <p:sp>
          <p:nvSpPr>
            <p:cNvPr id="1358957" name="Freeform 109"/>
            <p:cNvSpPr>
              <a:spLocks/>
            </p:cNvSpPr>
            <p:nvPr/>
          </p:nvSpPr>
          <p:spPr bwMode="auto">
            <a:xfrm>
              <a:off x="6984987" y="3663607"/>
              <a:ext cx="1587" cy="947737"/>
            </a:xfrm>
            <a:custGeom>
              <a:avLst/>
              <a:gdLst>
                <a:gd name="T0" fmla="*/ 0 w 1"/>
                <a:gd name="T1" fmla="*/ 0 h 597"/>
                <a:gd name="T2" fmla="*/ 2147483647 w 1"/>
                <a:gd name="T3" fmla="*/ 2147483647 h 597"/>
                <a:gd name="T4" fmla="*/ 0 60000 65536"/>
                <a:gd name="T5" fmla="*/ 0 60000 65536"/>
                <a:gd name="T6" fmla="*/ 0 w 1"/>
                <a:gd name="T7" fmla="*/ 0 h 597"/>
                <a:gd name="T8" fmla="*/ 1 w 1"/>
                <a:gd name="T9" fmla="*/ 597 h 597"/>
              </a:gdLst>
              <a:ahLst/>
              <a:cxnLst>
                <a:cxn ang="T4">
                  <a:pos x="T0" y="T1"/>
                </a:cxn>
                <a:cxn ang="T5">
                  <a:pos x="T2" y="T3"/>
                </a:cxn>
              </a:cxnLst>
              <a:rect l="T6" t="T7" r="T8" b="T9"/>
              <a:pathLst>
                <a:path w="1" h="597">
                  <a:moveTo>
                    <a:pt x="0" y="0"/>
                  </a:moveTo>
                  <a:lnTo>
                    <a:pt x="1" y="597"/>
                  </a:lnTo>
                </a:path>
              </a:pathLst>
            </a:custGeom>
            <a:noFill/>
            <a:ln w="25400">
              <a:solidFill>
                <a:srgbClr val="0066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1" name="Oval 95"/>
            <p:cNvSpPr>
              <a:spLocks noChangeArrowheads="1"/>
            </p:cNvSpPr>
            <p:nvPr/>
          </p:nvSpPr>
          <p:spPr bwMode="auto">
            <a:xfrm>
              <a:off x="6949095" y="3620290"/>
              <a:ext cx="71438" cy="71437"/>
            </a:xfrm>
            <a:prstGeom prst="ellipse">
              <a:avLst/>
            </a:prstGeom>
            <a:solidFill>
              <a:schemeClr val="bg1"/>
            </a:solidFill>
            <a:ln w="12700" algn="ctr">
              <a:solidFill>
                <a:srgbClr val="006600"/>
              </a:solidFill>
              <a:round/>
              <a:headEnd/>
              <a:tailEnd/>
            </a:ln>
          </p:spPr>
          <p:txBody>
            <a:bodyPr lIns="0" tIns="0" rIns="0" bIns="0" anchor="ctr">
              <a:spAutoFit/>
            </a:bodyPr>
            <a:lstStyle/>
            <a:p>
              <a:endParaRPr lang="zh-CN" altLang="en-US"/>
            </a:p>
          </p:txBody>
        </p:sp>
      </p:grpSp>
      <p:grpSp>
        <p:nvGrpSpPr>
          <p:cNvPr id="18" name="组合 17"/>
          <p:cNvGrpSpPr/>
          <p:nvPr/>
        </p:nvGrpSpPr>
        <p:grpSpPr>
          <a:xfrm>
            <a:off x="7407469" y="3629694"/>
            <a:ext cx="71438" cy="981650"/>
            <a:chOff x="7407469" y="3629694"/>
            <a:chExt cx="71438" cy="981650"/>
          </a:xfrm>
        </p:grpSpPr>
        <p:sp>
          <p:nvSpPr>
            <p:cNvPr id="1358958" name="Freeform 110"/>
            <p:cNvSpPr>
              <a:spLocks/>
            </p:cNvSpPr>
            <p:nvPr/>
          </p:nvSpPr>
          <p:spPr bwMode="auto">
            <a:xfrm>
              <a:off x="7447243" y="3663607"/>
              <a:ext cx="1588" cy="947737"/>
            </a:xfrm>
            <a:custGeom>
              <a:avLst/>
              <a:gdLst>
                <a:gd name="T0" fmla="*/ 0 w 1"/>
                <a:gd name="T1" fmla="*/ 0 h 597"/>
                <a:gd name="T2" fmla="*/ 2147483647 w 1"/>
                <a:gd name="T3" fmla="*/ 2147483647 h 597"/>
                <a:gd name="T4" fmla="*/ 0 60000 65536"/>
                <a:gd name="T5" fmla="*/ 0 60000 65536"/>
                <a:gd name="T6" fmla="*/ 0 w 1"/>
                <a:gd name="T7" fmla="*/ 0 h 597"/>
                <a:gd name="T8" fmla="*/ 1 w 1"/>
                <a:gd name="T9" fmla="*/ 597 h 597"/>
              </a:gdLst>
              <a:ahLst/>
              <a:cxnLst>
                <a:cxn ang="T4">
                  <a:pos x="T0" y="T1"/>
                </a:cxn>
                <a:cxn ang="T5">
                  <a:pos x="T2" y="T3"/>
                </a:cxn>
              </a:cxnLst>
              <a:rect l="T6" t="T7" r="T8" b="T9"/>
              <a:pathLst>
                <a:path w="1" h="597">
                  <a:moveTo>
                    <a:pt x="0" y="0"/>
                  </a:moveTo>
                  <a:lnTo>
                    <a:pt x="1" y="597"/>
                  </a:lnTo>
                </a:path>
              </a:pathLst>
            </a:custGeom>
            <a:noFill/>
            <a:ln w="25400">
              <a:solidFill>
                <a:srgbClr val="FF0066"/>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3" name="Oval 95"/>
            <p:cNvSpPr>
              <a:spLocks noChangeArrowheads="1"/>
            </p:cNvSpPr>
            <p:nvPr/>
          </p:nvSpPr>
          <p:spPr bwMode="auto">
            <a:xfrm>
              <a:off x="7407469" y="3629694"/>
              <a:ext cx="71438" cy="71437"/>
            </a:xfrm>
            <a:prstGeom prst="ellipse">
              <a:avLst/>
            </a:prstGeom>
            <a:solidFill>
              <a:schemeClr val="bg1"/>
            </a:solidFill>
            <a:ln w="12700" algn="ctr">
              <a:solidFill>
                <a:srgbClr val="FF0000"/>
              </a:solidFill>
              <a:round/>
              <a:headEnd/>
              <a:tailEnd/>
            </a:ln>
          </p:spPr>
          <p:txBody>
            <a:bodyPr lIns="0" tIns="0" rIns="0" bIns="0" anchor="ctr">
              <a:spAutoFit/>
            </a:bodyPr>
            <a:lstStyle/>
            <a:p>
              <a:endParaRPr lang="zh-CN" altLang="en-US"/>
            </a:p>
          </p:txBody>
        </p:sp>
      </p:grpSp>
      <p:grpSp>
        <p:nvGrpSpPr>
          <p:cNvPr id="14" name="组合 13"/>
          <p:cNvGrpSpPr/>
          <p:nvPr/>
        </p:nvGrpSpPr>
        <p:grpSpPr>
          <a:xfrm>
            <a:off x="8221649" y="4258919"/>
            <a:ext cx="71438" cy="358775"/>
            <a:chOff x="8221649" y="4258919"/>
            <a:chExt cx="71438" cy="358775"/>
          </a:xfrm>
        </p:grpSpPr>
        <p:sp>
          <p:nvSpPr>
            <p:cNvPr id="44048" name="Freeform 100"/>
            <p:cNvSpPr>
              <a:spLocks/>
            </p:cNvSpPr>
            <p:nvPr/>
          </p:nvSpPr>
          <p:spPr bwMode="auto">
            <a:xfrm>
              <a:off x="8247049" y="4304957"/>
              <a:ext cx="6350" cy="312737"/>
            </a:xfrm>
            <a:custGeom>
              <a:avLst/>
              <a:gdLst>
                <a:gd name="T0" fmla="*/ 2147483647 w 4"/>
                <a:gd name="T1" fmla="*/ 0 h 197"/>
                <a:gd name="T2" fmla="*/ 0 w 4"/>
                <a:gd name="T3" fmla="*/ 2147483647 h 197"/>
                <a:gd name="T4" fmla="*/ 0 60000 65536"/>
                <a:gd name="T5" fmla="*/ 0 60000 65536"/>
                <a:gd name="T6" fmla="*/ 0 w 4"/>
                <a:gd name="T7" fmla="*/ 0 h 197"/>
                <a:gd name="T8" fmla="*/ 4 w 4"/>
                <a:gd name="T9" fmla="*/ 197 h 197"/>
              </a:gdLst>
              <a:ahLst/>
              <a:cxnLst>
                <a:cxn ang="T4">
                  <a:pos x="T0" y="T1"/>
                </a:cxn>
                <a:cxn ang="T5">
                  <a:pos x="T2" y="T3"/>
                </a:cxn>
              </a:cxnLst>
              <a:rect l="T6" t="T7" r="T8" b="T9"/>
              <a:pathLst>
                <a:path w="4" h="197">
                  <a:moveTo>
                    <a:pt x="4" y="0"/>
                  </a:moveTo>
                  <a:lnTo>
                    <a:pt x="0" y="197"/>
                  </a:lnTo>
                </a:path>
              </a:pathLst>
            </a:custGeom>
            <a:noFill/>
            <a:ln w="25400">
              <a:solidFill>
                <a:srgbClr val="9900CC"/>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44044" name="Oval 96"/>
            <p:cNvSpPr>
              <a:spLocks noChangeArrowheads="1"/>
            </p:cNvSpPr>
            <p:nvPr/>
          </p:nvSpPr>
          <p:spPr bwMode="auto">
            <a:xfrm>
              <a:off x="8221649" y="4258919"/>
              <a:ext cx="71438" cy="71438"/>
            </a:xfrm>
            <a:prstGeom prst="ellipse">
              <a:avLst/>
            </a:prstGeom>
            <a:solidFill>
              <a:schemeClr val="bg1"/>
            </a:solidFill>
            <a:ln w="12700" algn="ctr">
              <a:solidFill>
                <a:srgbClr val="9900CC"/>
              </a:solidFill>
              <a:round/>
              <a:headEnd/>
              <a:tailEnd/>
            </a:ln>
          </p:spPr>
          <p:txBody>
            <a:bodyPr lIns="0" tIns="0" rIns="0" bIns="0" anchor="ctr">
              <a:spAutoFit/>
            </a:bodyPr>
            <a:lstStyle/>
            <a:p>
              <a:endParaRPr lang="zh-CN" altLang="en-US"/>
            </a:p>
          </p:txBody>
        </p:sp>
      </p:grpSp>
      <p:graphicFrame>
        <p:nvGraphicFramePr>
          <p:cNvPr id="24" name="表格 23"/>
          <p:cNvGraphicFramePr>
            <a:graphicFrameLocks noGrp="1"/>
          </p:cNvGraphicFramePr>
          <p:nvPr>
            <p:extLst>
              <p:ext uri="{D42A27DB-BD31-4B8C-83A1-F6EECF244321}">
                <p14:modId xmlns:p14="http://schemas.microsoft.com/office/powerpoint/2010/main" val="2699459767"/>
              </p:ext>
            </p:extLst>
          </p:nvPr>
        </p:nvGraphicFramePr>
        <p:xfrm>
          <a:off x="415925" y="2360690"/>
          <a:ext cx="3444949" cy="1280160"/>
        </p:xfrm>
        <a:graphic>
          <a:graphicData uri="http://schemas.openxmlformats.org/drawingml/2006/table">
            <a:tbl>
              <a:tblPr firstRow="1" bandRow="1">
                <a:tableStyleId>{5C22544A-7EE6-4342-B048-85BDC9FD1C3A}</a:tableStyleId>
              </a:tblPr>
              <a:tblGrid>
                <a:gridCol w="834716">
                  <a:extLst>
                    <a:ext uri="{9D8B030D-6E8A-4147-A177-3AD203B41FA5}">
                      <a16:colId xmlns:a16="http://schemas.microsoft.com/office/drawing/2014/main" val="20000"/>
                    </a:ext>
                  </a:extLst>
                </a:gridCol>
                <a:gridCol w="855076">
                  <a:extLst>
                    <a:ext uri="{9D8B030D-6E8A-4147-A177-3AD203B41FA5}">
                      <a16:colId xmlns:a16="http://schemas.microsoft.com/office/drawing/2014/main" val="20001"/>
                    </a:ext>
                  </a:extLst>
                </a:gridCol>
                <a:gridCol w="830124">
                  <a:extLst>
                    <a:ext uri="{9D8B030D-6E8A-4147-A177-3AD203B41FA5}">
                      <a16:colId xmlns:a16="http://schemas.microsoft.com/office/drawing/2014/main" val="20002"/>
                    </a:ext>
                  </a:extLst>
                </a:gridCol>
                <a:gridCol w="925033">
                  <a:extLst>
                    <a:ext uri="{9D8B030D-6E8A-4147-A177-3AD203B41FA5}">
                      <a16:colId xmlns:a16="http://schemas.microsoft.com/office/drawing/2014/main" val="20003"/>
                    </a:ext>
                  </a:extLst>
                </a:gridCol>
              </a:tblGrid>
              <a:tr h="370840">
                <a:tc>
                  <a:txBody>
                    <a:bodyPr/>
                    <a:lstStyle/>
                    <a:p>
                      <a:r>
                        <a:rPr lang="zh-CN" altLang="en-US" sz="2200" b="1" dirty="0" smtClean="0"/>
                        <a:t>土体</a:t>
                      </a:r>
                      <a:endParaRPr lang="zh-CN" altLang="en-US" sz="2200" b="1" dirty="0"/>
                    </a:p>
                  </a:txBody>
                  <a:tcPr>
                    <a:solidFill>
                      <a:srgbClr val="4F81BD"/>
                    </a:solidFill>
                  </a:tcPr>
                </a:tc>
                <a:tc>
                  <a:txBody>
                    <a:bodyPr/>
                    <a:lstStyle/>
                    <a:p>
                      <a:pPr algn="ctr"/>
                      <a:r>
                        <a:rPr lang="zh-CN" altLang="en-US" sz="2200" b="1" dirty="0" smtClean="0">
                          <a:latin typeface="宋体"/>
                          <a:ea typeface="宋体"/>
                        </a:rPr>
                        <a:t>①</a:t>
                      </a:r>
                      <a:endParaRPr lang="zh-CN" altLang="en-US" sz="2200" b="1" dirty="0"/>
                    </a:p>
                  </a:txBody>
                  <a:tcPr>
                    <a:solidFill>
                      <a:srgbClr val="4F81B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200" b="1" dirty="0" smtClean="0">
                          <a:latin typeface="宋体"/>
                          <a:ea typeface="+mn-ea"/>
                        </a:rPr>
                        <a:t>②</a:t>
                      </a:r>
                      <a:endParaRPr lang="zh-CN" altLang="en-US" sz="2200" b="1" dirty="0"/>
                    </a:p>
                  </a:txBody>
                  <a:tcPr>
                    <a:solidFill>
                      <a:srgbClr val="4F81BD"/>
                    </a:solidFill>
                  </a:tcPr>
                </a:tc>
                <a:tc>
                  <a:txBody>
                    <a:bodyPr/>
                    <a:lstStyle/>
                    <a:p>
                      <a:pPr algn="ctr"/>
                      <a:r>
                        <a:rPr lang="zh-CN" altLang="en-US" sz="2200" b="1" dirty="0" smtClean="0">
                          <a:latin typeface="宋体"/>
                          <a:ea typeface="+mn-ea"/>
                        </a:rPr>
                        <a:t>③</a:t>
                      </a:r>
                      <a:endParaRPr lang="zh-CN" altLang="en-US" sz="2200" b="1" dirty="0"/>
                    </a:p>
                  </a:txBody>
                  <a:tcPr>
                    <a:solidFill>
                      <a:srgbClr val="4F81BD"/>
                    </a:solidFill>
                  </a:tcP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1" u="none" strike="noStrike" cap="none" normalizeH="0" baseline="0" dirty="0" smtClean="0">
                          <a:ln>
                            <a:noFill/>
                          </a:ln>
                          <a:solidFill>
                            <a:srgbClr val="000066"/>
                          </a:solidFill>
                          <a:effectLst/>
                          <a:latin typeface="Times New Roman" pitchFamily="18" charset="0"/>
                          <a:ea typeface="宋体" charset="-122"/>
                          <a:cs typeface="Times New Roman" pitchFamily="18" charset="0"/>
                        </a:rPr>
                        <a:t>d</a:t>
                      </a:r>
                      <a:r>
                        <a:rPr kumimoji="0" lang="en-US" altLang="zh-CN" sz="2200" b="1" i="0" u="none" strike="noStrike" cap="none" normalizeH="0" baseline="-25000" dirty="0" smtClean="0">
                          <a:ln>
                            <a:noFill/>
                          </a:ln>
                          <a:solidFill>
                            <a:srgbClr val="000066"/>
                          </a:solidFill>
                          <a:effectLst/>
                          <a:latin typeface="Times New Roman" pitchFamily="18" charset="0"/>
                          <a:ea typeface="宋体" charset="-122"/>
                          <a:cs typeface="Times New Roman" pitchFamily="18" charset="0"/>
                        </a:rPr>
                        <a:t>60</a:t>
                      </a:r>
                      <a:endParaRPr lang="zh-CN" altLang="en-US" sz="2200" b="1" i="0" dirty="0">
                        <a:solidFill>
                          <a:srgbClr val="000066"/>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8000"/>
                          </a:solidFill>
                          <a:effectLst/>
                          <a:latin typeface="Times New Roman" pitchFamily="18" charset="0"/>
                          <a:ea typeface="宋体" charset="-122"/>
                          <a:cs typeface="Times New Roman" pitchFamily="18" charset="0"/>
                        </a:rPr>
                        <a:t>0.33</a:t>
                      </a:r>
                      <a:endParaRPr kumimoji="0" lang="zh-CN" altLang="en-US" sz="2200" b="1" i="0" u="none" strike="noStrike" kern="1200" cap="none" normalizeH="0" baseline="0" dirty="0">
                        <a:ln>
                          <a:noFill/>
                        </a:ln>
                        <a:solidFill>
                          <a:srgbClr val="008000"/>
                        </a:solidFill>
                        <a:effectLst/>
                        <a:latin typeface="Times New Roman" pitchFamily="18" charset="0"/>
                        <a:ea typeface="宋体" charset="-122"/>
                        <a:cs typeface="Times New Roman" pitchFamily="18" charset="0"/>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00CC"/>
                          </a:solidFill>
                          <a:effectLst/>
                          <a:latin typeface="Times New Roman" pitchFamily="18" charset="0"/>
                          <a:ea typeface="宋体" charset="-122"/>
                          <a:cs typeface="Times New Roman" pitchFamily="18" charset="0"/>
                        </a:rPr>
                        <a:t>0.33</a:t>
                      </a:r>
                      <a:endParaRPr kumimoji="0" lang="zh-CN" altLang="en-US" sz="2200" b="1" i="0" u="none" strike="noStrike" kern="1200" cap="none" normalizeH="0" baseline="0" dirty="0">
                        <a:ln>
                          <a:noFill/>
                        </a:ln>
                        <a:solidFill>
                          <a:srgbClr val="0000CC"/>
                        </a:solidFill>
                        <a:effectLst/>
                        <a:latin typeface="Times New Roman" pitchFamily="18" charset="0"/>
                        <a:ea typeface="宋体" charset="-122"/>
                        <a:cs typeface="Times New Roman" pitchFamily="18" charset="0"/>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C00000"/>
                          </a:solidFill>
                          <a:effectLst/>
                          <a:latin typeface="Times New Roman" pitchFamily="18" charset="0"/>
                          <a:ea typeface="宋体" charset="-122"/>
                          <a:cs typeface="Times New Roman" pitchFamily="18" charset="0"/>
                        </a:rPr>
                        <a:t>0.33</a:t>
                      </a:r>
                      <a:endParaRPr kumimoji="0" lang="zh-CN" altLang="en-US" sz="2200" b="1" i="0" u="none" strike="noStrike" kern="1200" cap="none" normalizeH="0" baseline="0" dirty="0">
                        <a:ln>
                          <a:noFill/>
                        </a:ln>
                        <a:solidFill>
                          <a:srgbClr val="C00000"/>
                        </a:solidFill>
                        <a:effectLst/>
                        <a:latin typeface="Times New Roman" pitchFamily="18" charset="0"/>
                        <a:ea typeface="宋体" charset="-122"/>
                        <a:cs typeface="Times New Roman" pitchFamily="18" charset="0"/>
                      </a:endParaRPr>
                    </a:p>
                  </a:txBody>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1" u="none" strike="noStrike" cap="none" normalizeH="0" baseline="0" dirty="0" smtClean="0">
                          <a:ln>
                            <a:noFill/>
                          </a:ln>
                          <a:solidFill>
                            <a:srgbClr val="000066"/>
                          </a:solidFill>
                          <a:effectLst/>
                          <a:latin typeface="Times New Roman" pitchFamily="18" charset="0"/>
                          <a:ea typeface="宋体" charset="-122"/>
                          <a:cs typeface="Times New Roman" pitchFamily="18" charset="0"/>
                        </a:rPr>
                        <a:t>d</a:t>
                      </a:r>
                      <a:r>
                        <a:rPr kumimoji="0" lang="en-US" altLang="zh-CN" sz="2200" b="1" i="0" u="none" strike="noStrike" cap="none" normalizeH="0" baseline="-25000" dirty="0" smtClean="0">
                          <a:ln>
                            <a:noFill/>
                          </a:ln>
                          <a:solidFill>
                            <a:srgbClr val="000066"/>
                          </a:solidFill>
                          <a:effectLst/>
                          <a:latin typeface="Times New Roman" pitchFamily="18" charset="0"/>
                          <a:ea typeface="宋体" charset="-122"/>
                          <a:cs typeface="Times New Roman" pitchFamily="18" charset="0"/>
                        </a:rPr>
                        <a:t>10</a:t>
                      </a:r>
                      <a:endParaRPr lang="zh-CN" altLang="en-US" sz="2200" b="1" i="0" dirty="0">
                        <a:solidFill>
                          <a:srgbClr val="000066"/>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8000"/>
                          </a:solidFill>
                          <a:effectLst/>
                          <a:latin typeface="Times New Roman" pitchFamily="18" charset="0"/>
                          <a:ea typeface="宋体" charset="-122"/>
                          <a:cs typeface="Times New Roman" pitchFamily="18" charset="0"/>
                        </a:rPr>
                        <a:t>0.005</a:t>
                      </a:r>
                      <a:endParaRPr kumimoji="0" lang="zh-CN" altLang="en-US" sz="2200" b="1" i="0" u="none" strike="noStrike" kern="1200" cap="none" normalizeH="0" baseline="0" dirty="0">
                        <a:ln>
                          <a:noFill/>
                        </a:ln>
                        <a:solidFill>
                          <a:srgbClr val="008000"/>
                        </a:solidFill>
                        <a:effectLst/>
                        <a:latin typeface="Times New Roman" pitchFamily="18" charset="0"/>
                        <a:ea typeface="宋体" charset="-122"/>
                        <a:cs typeface="Times New Roman" pitchFamily="18" charset="0"/>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00CC"/>
                          </a:solidFill>
                          <a:effectLst/>
                          <a:latin typeface="Times New Roman" pitchFamily="18" charset="0"/>
                          <a:ea typeface="宋体" charset="-122"/>
                          <a:cs typeface="Times New Roman" pitchFamily="18" charset="0"/>
                        </a:rPr>
                        <a:t>0.005</a:t>
                      </a:r>
                      <a:endParaRPr kumimoji="0" lang="zh-CN" altLang="en-US" sz="2200" b="1" i="0" u="none" strike="noStrike" kern="1200" cap="none" normalizeH="0" baseline="0" dirty="0">
                        <a:ln>
                          <a:noFill/>
                        </a:ln>
                        <a:solidFill>
                          <a:srgbClr val="0000CC"/>
                        </a:solidFill>
                        <a:effectLst/>
                        <a:latin typeface="Times New Roman" pitchFamily="18" charset="0"/>
                        <a:ea typeface="宋体" charset="-122"/>
                        <a:cs typeface="Times New Roman" pitchFamily="18" charset="0"/>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C00000"/>
                          </a:solidFill>
                          <a:effectLst/>
                          <a:latin typeface="Times New Roman" pitchFamily="18" charset="0"/>
                          <a:ea typeface="宋体" charset="-122"/>
                          <a:cs typeface="Times New Roman" pitchFamily="18" charset="0"/>
                        </a:rPr>
                        <a:t>0.005</a:t>
                      </a:r>
                      <a:endParaRPr kumimoji="0" lang="zh-CN" altLang="en-US" sz="2200" b="1" i="0" u="none" strike="noStrike" kern="1200" cap="none" normalizeH="0" baseline="0" dirty="0">
                        <a:ln>
                          <a:noFill/>
                        </a:ln>
                        <a:solidFill>
                          <a:srgbClr val="C00000"/>
                        </a:solidFill>
                        <a:effectLst/>
                        <a:latin typeface="Times New Roman" pitchFamily="18" charset="0"/>
                        <a:ea typeface="宋体" charset="-122"/>
                        <a:cs typeface="Times New Roman" pitchFamily="18" charset="0"/>
                      </a:endParaRPr>
                    </a:p>
                  </a:txBody>
                  <a:tcPr/>
                </a:tc>
                <a:extLst>
                  <a:ext uri="{0D108BD9-81ED-4DB2-BD59-A6C34878D82A}">
                    <a16:rowId xmlns:a16="http://schemas.microsoft.com/office/drawing/2014/main" val="10002"/>
                  </a:ext>
                </a:extLst>
              </a:tr>
            </a:tbl>
          </a:graphicData>
        </a:graphic>
      </p:graphicFrame>
      <p:graphicFrame>
        <p:nvGraphicFramePr>
          <p:cNvPr id="27" name="表格 26"/>
          <p:cNvGraphicFramePr>
            <a:graphicFrameLocks noGrp="1"/>
          </p:cNvGraphicFramePr>
          <p:nvPr>
            <p:extLst>
              <p:ext uri="{D42A27DB-BD31-4B8C-83A1-F6EECF244321}">
                <p14:modId xmlns:p14="http://schemas.microsoft.com/office/powerpoint/2010/main" val="741903860"/>
              </p:ext>
            </p:extLst>
          </p:nvPr>
        </p:nvGraphicFramePr>
        <p:xfrm>
          <a:off x="415925" y="3646284"/>
          <a:ext cx="3444949" cy="426720"/>
        </p:xfrm>
        <a:graphic>
          <a:graphicData uri="http://schemas.openxmlformats.org/drawingml/2006/table">
            <a:tbl>
              <a:tblPr firstRow="1" bandRow="1">
                <a:tableStyleId>{5C22544A-7EE6-4342-B048-85BDC9FD1C3A}</a:tableStyleId>
              </a:tblPr>
              <a:tblGrid>
                <a:gridCol w="834716">
                  <a:extLst>
                    <a:ext uri="{9D8B030D-6E8A-4147-A177-3AD203B41FA5}">
                      <a16:colId xmlns:a16="http://schemas.microsoft.com/office/drawing/2014/main" val="20000"/>
                    </a:ext>
                  </a:extLst>
                </a:gridCol>
                <a:gridCol w="855076">
                  <a:extLst>
                    <a:ext uri="{9D8B030D-6E8A-4147-A177-3AD203B41FA5}">
                      <a16:colId xmlns:a16="http://schemas.microsoft.com/office/drawing/2014/main" val="20001"/>
                    </a:ext>
                  </a:extLst>
                </a:gridCol>
                <a:gridCol w="830124">
                  <a:extLst>
                    <a:ext uri="{9D8B030D-6E8A-4147-A177-3AD203B41FA5}">
                      <a16:colId xmlns:a16="http://schemas.microsoft.com/office/drawing/2014/main" val="20002"/>
                    </a:ext>
                  </a:extLst>
                </a:gridCol>
                <a:gridCol w="925033">
                  <a:extLst>
                    <a:ext uri="{9D8B030D-6E8A-4147-A177-3AD203B41FA5}">
                      <a16:colId xmlns:a16="http://schemas.microsoft.com/office/drawing/2014/main" val="2000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1" u="none" strike="noStrike" cap="none" normalizeH="0" baseline="0" dirty="0" smtClean="0">
                          <a:ln>
                            <a:noFill/>
                          </a:ln>
                          <a:solidFill>
                            <a:srgbClr val="000066"/>
                          </a:solidFill>
                          <a:effectLst/>
                          <a:latin typeface="Times New Roman" pitchFamily="18" charset="0"/>
                          <a:ea typeface="宋体" charset="-122"/>
                          <a:cs typeface="Times New Roman" pitchFamily="18" charset="0"/>
                        </a:rPr>
                        <a:t>d</a:t>
                      </a:r>
                      <a:r>
                        <a:rPr kumimoji="0" lang="en-US" altLang="zh-CN" sz="2200" b="1" i="0" u="none" strike="noStrike" cap="none" normalizeH="0" baseline="-25000" dirty="0" smtClean="0">
                          <a:ln>
                            <a:noFill/>
                          </a:ln>
                          <a:solidFill>
                            <a:srgbClr val="000066"/>
                          </a:solidFill>
                          <a:effectLst/>
                          <a:latin typeface="Times New Roman" pitchFamily="18" charset="0"/>
                          <a:ea typeface="宋体" charset="-122"/>
                          <a:cs typeface="Times New Roman" pitchFamily="18" charset="0"/>
                        </a:rPr>
                        <a:t>30</a:t>
                      </a:r>
                      <a:endParaRPr lang="zh-CN" altLang="en-US" sz="2200" b="1" i="0" dirty="0">
                        <a:solidFill>
                          <a:srgbClr val="000066"/>
                        </a:solidFill>
                      </a:endParaRPr>
                    </a:p>
                  </a:txBody>
                  <a:tcPr>
                    <a:lnT w="9525" cap="flat" cmpd="sng" algn="ctr">
                      <a:solidFill>
                        <a:schemeClr val="bg1"/>
                      </a:solidFill>
                      <a:prstDash val="solid"/>
                      <a:round/>
                      <a:headEnd type="none" w="med" len="med"/>
                      <a:tailEnd type="none" w="med" len="med"/>
                    </a:lnT>
                    <a:solidFill>
                      <a:srgbClr val="D0D8E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8000"/>
                          </a:solidFill>
                          <a:effectLst/>
                          <a:latin typeface="Times New Roman" pitchFamily="18" charset="0"/>
                          <a:ea typeface="宋体" charset="-122"/>
                          <a:cs typeface="Times New Roman" pitchFamily="18" charset="0"/>
                        </a:rPr>
                        <a:t>0.081</a:t>
                      </a:r>
                      <a:endParaRPr kumimoji="0" lang="zh-CN" altLang="en-US" sz="2200" b="1" i="0" u="none" strike="noStrike" kern="1200" cap="none" normalizeH="0" baseline="0" dirty="0">
                        <a:ln>
                          <a:noFill/>
                        </a:ln>
                        <a:solidFill>
                          <a:srgbClr val="008000"/>
                        </a:solidFill>
                        <a:effectLst/>
                        <a:latin typeface="Times New Roman" pitchFamily="18" charset="0"/>
                        <a:ea typeface="宋体" charset="-122"/>
                        <a:cs typeface="Times New Roman" pitchFamily="18" charset="0"/>
                      </a:endParaRPr>
                    </a:p>
                  </a:txBody>
                  <a:tcPr>
                    <a:lnT w="9525" cap="flat" cmpd="sng" algn="ctr">
                      <a:solidFill>
                        <a:schemeClr val="bg1"/>
                      </a:solidFill>
                      <a:prstDash val="solid"/>
                      <a:round/>
                      <a:headEnd type="none" w="med" len="med"/>
                      <a:tailEnd type="none" w="med" len="med"/>
                    </a:lnT>
                    <a:solidFill>
                      <a:srgbClr val="D0D8E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00CC"/>
                          </a:solidFill>
                          <a:effectLst/>
                          <a:latin typeface="Times New Roman" pitchFamily="18" charset="0"/>
                          <a:ea typeface="宋体" charset="-122"/>
                          <a:cs typeface="Times New Roman" pitchFamily="18" charset="0"/>
                        </a:rPr>
                        <a:t>0.063</a:t>
                      </a:r>
                      <a:endParaRPr kumimoji="0" lang="zh-CN" altLang="en-US" sz="2200" b="1" i="0" u="none" strike="noStrike" kern="1200" cap="none" normalizeH="0" baseline="0" dirty="0">
                        <a:ln>
                          <a:noFill/>
                        </a:ln>
                        <a:solidFill>
                          <a:srgbClr val="0000CC"/>
                        </a:solidFill>
                        <a:effectLst/>
                        <a:latin typeface="Times New Roman" pitchFamily="18" charset="0"/>
                        <a:ea typeface="宋体" charset="-122"/>
                        <a:cs typeface="Times New Roman" pitchFamily="18" charset="0"/>
                      </a:endParaRPr>
                    </a:p>
                  </a:txBody>
                  <a:tcPr>
                    <a:lnT w="9525" cap="flat" cmpd="sng" algn="ctr">
                      <a:solidFill>
                        <a:schemeClr val="bg1"/>
                      </a:solidFill>
                      <a:prstDash val="solid"/>
                      <a:round/>
                      <a:headEnd type="none" w="med" len="med"/>
                      <a:tailEnd type="none" w="med" len="med"/>
                    </a:lnT>
                    <a:solidFill>
                      <a:srgbClr val="D0D8E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C00000"/>
                          </a:solidFill>
                          <a:effectLst/>
                          <a:latin typeface="Times New Roman" pitchFamily="18" charset="0"/>
                          <a:ea typeface="宋体" charset="-122"/>
                          <a:cs typeface="Times New Roman" pitchFamily="18" charset="0"/>
                        </a:rPr>
                        <a:t>0.030</a:t>
                      </a:r>
                      <a:endParaRPr kumimoji="0" lang="zh-CN" altLang="en-US" sz="2200" b="1" i="0" u="none" strike="noStrike" kern="1200" cap="none" normalizeH="0" baseline="0" dirty="0">
                        <a:ln>
                          <a:noFill/>
                        </a:ln>
                        <a:solidFill>
                          <a:srgbClr val="C00000"/>
                        </a:solidFill>
                        <a:effectLst/>
                        <a:latin typeface="Times New Roman" pitchFamily="18" charset="0"/>
                        <a:ea typeface="宋体" charset="-122"/>
                        <a:cs typeface="Times New Roman" pitchFamily="18" charset="0"/>
                      </a:endParaRPr>
                    </a:p>
                  </a:txBody>
                  <a:tcPr>
                    <a:lnT w="9525" cap="flat" cmpd="sng" algn="ctr">
                      <a:solidFill>
                        <a:schemeClr val="bg1"/>
                      </a:solidFill>
                      <a:prstDash val="solid"/>
                      <a:round/>
                      <a:headEnd type="none" w="med" len="med"/>
                      <a:tailEnd type="none" w="med" len="med"/>
                    </a:lnT>
                    <a:solidFill>
                      <a:srgbClr val="D0D8E8"/>
                    </a:solidFill>
                  </a:tcPr>
                </a:tc>
                <a:extLst>
                  <a:ext uri="{0D108BD9-81ED-4DB2-BD59-A6C34878D82A}">
                    <a16:rowId xmlns:a16="http://schemas.microsoft.com/office/drawing/2014/main" val="10000"/>
                  </a:ext>
                </a:extLst>
              </a:tr>
            </a:tbl>
          </a:graphicData>
        </a:graphic>
      </p:graphicFrame>
      <p:graphicFrame>
        <p:nvGraphicFramePr>
          <p:cNvPr id="28" name="表格 27"/>
          <p:cNvGraphicFramePr>
            <a:graphicFrameLocks noGrp="1"/>
          </p:cNvGraphicFramePr>
          <p:nvPr>
            <p:extLst>
              <p:ext uri="{D42A27DB-BD31-4B8C-83A1-F6EECF244321}">
                <p14:modId xmlns:p14="http://schemas.microsoft.com/office/powerpoint/2010/main" val="343595491"/>
              </p:ext>
            </p:extLst>
          </p:nvPr>
        </p:nvGraphicFramePr>
        <p:xfrm>
          <a:off x="415925" y="4071800"/>
          <a:ext cx="3444949" cy="853440"/>
        </p:xfrm>
        <a:graphic>
          <a:graphicData uri="http://schemas.openxmlformats.org/drawingml/2006/table">
            <a:tbl>
              <a:tblPr firstRow="1" bandRow="1">
                <a:tableStyleId>{5C22544A-7EE6-4342-B048-85BDC9FD1C3A}</a:tableStyleId>
              </a:tblPr>
              <a:tblGrid>
                <a:gridCol w="834716">
                  <a:extLst>
                    <a:ext uri="{9D8B030D-6E8A-4147-A177-3AD203B41FA5}">
                      <a16:colId xmlns:a16="http://schemas.microsoft.com/office/drawing/2014/main" val="20000"/>
                    </a:ext>
                  </a:extLst>
                </a:gridCol>
                <a:gridCol w="855076">
                  <a:extLst>
                    <a:ext uri="{9D8B030D-6E8A-4147-A177-3AD203B41FA5}">
                      <a16:colId xmlns:a16="http://schemas.microsoft.com/office/drawing/2014/main" val="20001"/>
                    </a:ext>
                  </a:extLst>
                </a:gridCol>
                <a:gridCol w="830124">
                  <a:extLst>
                    <a:ext uri="{9D8B030D-6E8A-4147-A177-3AD203B41FA5}">
                      <a16:colId xmlns:a16="http://schemas.microsoft.com/office/drawing/2014/main" val="20002"/>
                    </a:ext>
                  </a:extLst>
                </a:gridCol>
                <a:gridCol w="925033">
                  <a:extLst>
                    <a:ext uri="{9D8B030D-6E8A-4147-A177-3AD203B41FA5}">
                      <a16:colId xmlns:a16="http://schemas.microsoft.com/office/drawing/2014/main" val="2000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1" u="none" strike="noStrike" cap="none" normalizeH="0" baseline="0" dirty="0" smtClean="0">
                          <a:ln>
                            <a:noFill/>
                          </a:ln>
                          <a:solidFill>
                            <a:srgbClr val="000066"/>
                          </a:solidFill>
                          <a:effectLst/>
                          <a:latin typeface="Times New Roman" pitchFamily="18" charset="0"/>
                          <a:ea typeface="宋体" charset="-122"/>
                          <a:cs typeface="Times New Roman" pitchFamily="18" charset="0"/>
                        </a:rPr>
                        <a:t>C</a:t>
                      </a:r>
                      <a:r>
                        <a:rPr kumimoji="0" lang="en-US" altLang="zh-CN" sz="2200" b="1" i="0" u="none" strike="noStrike" cap="none" normalizeH="0" baseline="-25000" dirty="0" smtClean="0">
                          <a:ln>
                            <a:noFill/>
                          </a:ln>
                          <a:solidFill>
                            <a:srgbClr val="000066"/>
                          </a:solidFill>
                          <a:effectLst/>
                          <a:latin typeface="Times New Roman" pitchFamily="18" charset="0"/>
                          <a:ea typeface="宋体" charset="-122"/>
                          <a:cs typeface="Times New Roman" pitchFamily="18" charset="0"/>
                        </a:rPr>
                        <a:t>u</a:t>
                      </a:r>
                      <a:endParaRPr lang="zh-CN" altLang="en-US" sz="2200" b="1" i="0" dirty="0">
                        <a:solidFill>
                          <a:srgbClr val="000066"/>
                        </a:solidFill>
                      </a:endParaRPr>
                    </a:p>
                  </a:txBody>
                  <a:tcP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9EDF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8000"/>
                          </a:solidFill>
                          <a:effectLst/>
                          <a:latin typeface="Times New Roman" pitchFamily="18" charset="0"/>
                          <a:ea typeface="宋体" charset="-122"/>
                          <a:cs typeface="Times New Roman" pitchFamily="18" charset="0"/>
                        </a:rPr>
                        <a:t>66</a:t>
                      </a:r>
                      <a:endParaRPr kumimoji="0" lang="zh-CN" altLang="en-US" sz="2200" b="1" i="0" u="none" strike="noStrike" kern="1200" cap="none" normalizeH="0" baseline="0" dirty="0">
                        <a:ln>
                          <a:noFill/>
                        </a:ln>
                        <a:solidFill>
                          <a:srgbClr val="008000"/>
                        </a:solidFill>
                        <a:effectLst/>
                        <a:latin typeface="Times New Roman" pitchFamily="18" charset="0"/>
                        <a:ea typeface="宋体" charset="-122"/>
                        <a:cs typeface="Times New Roman" pitchFamily="18" charset="0"/>
                      </a:endParaRPr>
                    </a:p>
                  </a:txBody>
                  <a:tcP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9EDF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00CC"/>
                          </a:solidFill>
                          <a:effectLst/>
                          <a:latin typeface="Times New Roman" pitchFamily="18" charset="0"/>
                          <a:ea typeface="宋体" charset="-122"/>
                          <a:cs typeface="Times New Roman" pitchFamily="18" charset="0"/>
                        </a:rPr>
                        <a:t>66</a:t>
                      </a:r>
                      <a:endParaRPr kumimoji="0" lang="zh-CN" altLang="en-US" sz="2200" b="1" i="0" u="none" strike="noStrike" kern="1200" cap="none" normalizeH="0" baseline="0" dirty="0">
                        <a:ln>
                          <a:noFill/>
                        </a:ln>
                        <a:solidFill>
                          <a:srgbClr val="0000CC"/>
                        </a:solidFill>
                        <a:effectLst/>
                        <a:latin typeface="Times New Roman" pitchFamily="18" charset="0"/>
                        <a:ea typeface="宋体" charset="-122"/>
                        <a:cs typeface="Times New Roman" pitchFamily="18" charset="0"/>
                      </a:endParaRPr>
                    </a:p>
                  </a:txBody>
                  <a:tcP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9EDF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C00000"/>
                          </a:solidFill>
                          <a:effectLst/>
                          <a:latin typeface="Times New Roman" pitchFamily="18" charset="0"/>
                          <a:ea typeface="宋体" charset="-122"/>
                          <a:cs typeface="Times New Roman" pitchFamily="18" charset="0"/>
                        </a:rPr>
                        <a:t>66</a:t>
                      </a:r>
                      <a:endParaRPr kumimoji="0" lang="zh-CN" altLang="en-US" sz="2200" b="1" i="0" u="none" strike="noStrike" kern="1200" cap="none" normalizeH="0" baseline="0" dirty="0">
                        <a:ln>
                          <a:noFill/>
                        </a:ln>
                        <a:solidFill>
                          <a:srgbClr val="C00000"/>
                        </a:solidFill>
                        <a:effectLst/>
                        <a:latin typeface="Times New Roman" pitchFamily="18" charset="0"/>
                        <a:ea typeface="宋体" charset="-122"/>
                        <a:cs typeface="Times New Roman" pitchFamily="18" charset="0"/>
                      </a:endParaRPr>
                    </a:p>
                  </a:txBody>
                  <a:tcP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9EDF4"/>
                    </a:solidFill>
                  </a:tcP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1" u="none" strike="noStrike" cap="none" normalizeH="0" baseline="0" dirty="0" smtClean="0">
                          <a:ln>
                            <a:noFill/>
                          </a:ln>
                          <a:solidFill>
                            <a:srgbClr val="000066"/>
                          </a:solidFill>
                          <a:effectLst/>
                          <a:latin typeface="Times New Roman" pitchFamily="18" charset="0"/>
                          <a:ea typeface="宋体" charset="-122"/>
                          <a:cs typeface="Times New Roman" pitchFamily="18" charset="0"/>
                        </a:rPr>
                        <a:t>C</a:t>
                      </a:r>
                      <a:r>
                        <a:rPr kumimoji="0" lang="en-US" altLang="zh-CN" sz="2200" b="1" i="0" u="none" strike="noStrike" cap="none" normalizeH="0" baseline="-25000" dirty="0" smtClean="0">
                          <a:ln>
                            <a:noFill/>
                          </a:ln>
                          <a:solidFill>
                            <a:srgbClr val="000066"/>
                          </a:solidFill>
                          <a:effectLst/>
                          <a:latin typeface="Times New Roman" pitchFamily="18" charset="0"/>
                          <a:ea typeface="宋体" charset="-122"/>
                          <a:cs typeface="Times New Roman" pitchFamily="18" charset="0"/>
                        </a:rPr>
                        <a:t>c</a:t>
                      </a:r>
                      <a:endParaRPr lang="zh-CN" altLang="en-US" sz="2200" b="1" i="0" dirty="0">
                        <a:solidFill>
                          <a:srgbClr val="000066"/>
                        </a:solidFill>
                      </a:endParaRPr>
                    </a:p>
                  </a:txBody>
                  <a:tcP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8000"/>
                          </a:solidFill>
                          <a:effectLst/>
                          <a:latin typeface="Times New Roman" pitchFamily="18" charset="0"/>
                          <a:ea typeface="宋体" charset="-122"/>
                          <a:cs typeface="Times New Roman" pitchFamily="18" charset="0"/>
                        </a:rPr>
                        <a:t>3.98</a:t>
                      </a:r>
                      <a:endParaRPr kumimoji="0" lang="zh-CN" altLang="en-US" sz="2200" b="1" i="0" u="none" strike="noStrike" kern="1200" cap="none" normalizeH="0" baseline="0" dirty="0">
                        <a:ln>
                          <a:noFill/>
                        </a:ln>
                        <a:solidFill>
                          <a:srgbClr val="008000"/>
                        </a:solidFill>
                        <a:effectLst/>
                        <a:latin typeface="Times New Roman" pitchFamily="18" charset="0"/>
                        <a:ea typeface="宋体" charset="-122"/>
                        <a:cs typeface="Times New Roman" pitchFamily="18" charset="0"/>
                      </a:endParaRPr>
                    </a:p>
                  </a:txBody>
                  <a:tcP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00CC"/>
                          </a:solidFill>
                          <a:effectLst/>
                          <a:latin typeface="Times New Roman" pitchFamily="18" charset="0"/>
                          <a:ea typeface="宋体" charset="-122"/>
                          <a:cs typeface="Times New Roman" pitchFamily="18" charset="0"/>
                        </a:rPr>
                        <a:t>2.41</a:t>
                      </a:r>
                      <a:endParaRPr kumimoji="0" lang="zh-CN" altLang="en-US" sz="2200" b="1" i="0" u="none" strike="noStrike" kern="1200" cap="none" normalizeH="0" baseline="0" dirty="0">
                        <a:ln>
                          <a:noFill/>
                        </a:ln>
                        <a:solidFill>
                          <a:srgbClr val="0000CC"/>
                        </a:solidFill>
                        <a:effectLst/>
                        <a:latin typeface="Times New Roman" pitchFamily="18" charset="0"/>
                        <a:ea typeface="宋体" charset="-122"/>
                        <a:cs typeface="Times New Roman" pitchFamily="18" charset="0"/>
                      </a:endParaRPr>
                    </a:p>
                  </a:txBody>
                  <a:tcP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C00000"/>
                          </a:solidFill>
                          <a:effectLst/>
                          <a:latin typeface="Times New Roman" pitchFamily="18" charset="0"/>
                          <a:ea typeface="宋体" charset="-122"/>
                          <a:cs typeface="Times New Roman" pitchFamily="18" charset="0"/>
                        </a:rPr>
                        <a:t>0.545</a:t>
                      </a:r>
                      <a:endParaRPr kumimoji="0" lang="zh-CN" altLang="en-US" sz="2200" b="1" i="0" u="none" strike="noStrike" kern="1200" cap="none" normalizeH="0" baseline="0" dirty="0">
                        <a:ln>
                          <a:noFill/>
                        </a:ln>
                        <a:solidFill>
                          <a:srgbClr val="C00000"/>
                        </a:solidFill>
                        <a:effectLst/>
                        <a:latin typeface="Times New Roman" pitchFamily="18" charset="0"/>
                        <a:ea typeface="宋体" charset="-122"/>
                        <a:cs typeface="Times New Roman" pitchFamily="18" charset="0"/>
                      </a:endParaRPr>
                    </a:p>
                  </a:txBody>
                  <a:tcP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520658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112"/>
                                        </p:tgtEl>
                                        <p:attrNameLst>
                                          <p:attrName>style.visibility</p:attrName>
                                        </p:attrNameLst>
                                      </p:cBhvr>
                                      <p:to>
                                        <p:strVal val="visible"/>
                                      </p:to>
                                    </p:set>
                                    <p:anim calcmode="lin" valueType="num">
                                      <p:cBhvr>
                                        <p:cTn id="12" dur="1000" fill="hold"/>
                                        <p:tgtEl>
                                          <p:spTgt spid="112"/>
                                        </p:tgtEl>
                                        <p:attrNameLst>
                                          <p:attrName>ppt_w</p:attrName>
                                        </p:attrNameLst>
                                      </p:cBhvr>
                                      <p:tavLst>
                                        <p:tav tm="0">
                                          <p:val>
                                            <p:fltVal val="0"/>
                                          </p:val>
                                        </p:tav>
                                        <p:tav tm="100000">
                                          <p:val>
                                            <p:strVal val="#ppt_w"/>
                                          </p:val>
                                        </p:tav>
                                      </p:tavLst>
                                    </p:anim>
                                    <p:anim calcmode="lin" valueType="num">
                                      <p:cBhvr>
                                        <p:cTn id="13" dur="1000" fill="hold"/>
                                        <p:tgtEl>
                                          <p:spTgt spid="112"/>
                                        </p:tgtEl>
                                        <p:attrNameLst>
                                          <p:attrName>ppt_h</p:attrName>
                                        </p:attrNameLst>
                                      </p:cBhvr>
                                      <p:tavLst>
                                        <p:tav tm="0">
                                          <p:val>
                                            <p:fltVal val="0"/>
                                          </p:val>
                                        </p:tav>
                                        <p:tav tm="100000">
                                          <p:val>
                                            <p:strVal val="#ppt_h"/>
                                          </p:val>
                                        </p:tav>
                                      </p:tavLst>
                                    </p:anim>
                                    <p:anim calcmode="lin" valueType="num">
                                      <p:cBhvr>
                                        <p:cTn id="14" dur="1000" fill="hold"/>
                                        <p:tgtEl>
                                          <p:spTgt spid="112"/>
                                        </p:tgtEl>
                                        <p:attrNameLst>
                                          <p:attrName>style.rotation</p:attrName>
                                        </p:attrNameLst>
                                      </p:cBhvr>
                                      <p:tavLst>
                                        <p:tav tm="0">
                                          <p:val>
                                            <p:fltVal val="90"/>
                                          </p:val>
                                        </p:tav>
                                        <p:tav tm="100000">
                                          <p:val>
                                            <p:fltVal val="0"/>
                                          </p:val>
                                        </p:tav>
                                      </p:tavLst>
                                    </p:anim>
                                    <p:animEffect transition="in" filter="fade">
                                      <p:cBhvr>
                                        <p:cTn id="15" dur="1000"/>
                                        <p:tgtEl>
                                          <p:spTgt spid="112"/>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1000"/>
                                        <p:tgtEl>
                                          <p:spTgt spid="15"/>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1000"/>
                                        <p:tgtEl>
                                          <p:spTgt spid="13"/>
                                        </p:tgtEl>
                                      </p:cBhvr>
                                    </p:animEffect>
                                  </p:childTnLst>
                                </p:cTn>
                              </p:par>
                            </p:childTnLst>
                          </p:cTn>
                        </p:par>
                        <p:par>
                          <p:cTn id="24" fill="hold">
                            <p:stCondLst>
                              <p:cond delay="3000"/>
                            </p:stCondLst>
                            <p:childTnLst>
                              <p:par>
                                <p:cTn id="25" presetID="22" presetClass="entr" presetSubtype="1"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1000"/>
                                        <p:tgtEl>
                                          <p:spTgt spid="14"/>
                                        </p:tgtEl>
                                      </p:cBhvr>
                                    </p:animEffect>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44051"/>
                                        </p:tgtEl>
                                        <p:attrNameLst>
                                          <p:attrName>style.visibility</p:attrName>
                                        </p:attrNameLst>
                                      </p:cBhvr>
                                      <p:to>
                                        <p:strVal val="visible"/>
                                      </p:to>
                                    </p:set>
                                    <p:animEffect transition="in" filter="fade">
                                      <p:cBhvr>
                                        <p:cTn id="31" dur="1000"/>
                                        <p:tgtEl>
                                          <p:spTgt spid="44051"/>
                                        </p:tgtEl>
                                      </p:cBhvr>
                                    </p:animEffect>
                                    <p:anim calcmode="lin" valueType="num">
                                      <p:cBhvr>
                                        <p:cTn id="32" dur="1000" fill="hold"/>
                                        <p:tgtEl>
                                          <p:spTgt spid="44051"/>
                                        </p:tgtEl>
                                        <p:attrNameLst>
                                          <p:attrName>ppt_x</p:attrName>
                                        </p:attrNameLst>
                                      </p:cBhvr>
                                      <p:tavLst>
                                        <p:tav tm="0">
                                          <p:val>
                                            <p:strVal val="#ppt_x"/>
                                          </p:val>
                                        </p:tav>
                                        <p:tav tm="100000">
                                          <p:val>
                                            <p:strVal val="#ppt_x"/>
                                          </p:val>
                                        </p:tav>
                                      </p:tavLst>
                                    </p:anim>
                                    <p:anim calcmode="lin" valueType="num">
                                      <p:cBhvr>
                                        <p:cTn id="33" dur="1000" fill="hold"/>
                                        <p:tgtEl>
                                          <p:spTgt spid="44051"/>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44052"/>
                                        </p:tgtEl>
                                        <p:attrNameLst>
                                          <p:attrName>style.visibility</p:attrName>
                                        </p:attrNameLst>
                                      </p:cBhvr>
                                      <p:to>
                                        <p:strVal val="visible"/>
                                      </p:to>
                                    </p:set>
                                    <p:animEffect transition="in" filter="fade">
                                      <p:cBhvr>
                                        <p:cTn id="37" dur="1000"/>
                                        <p:tgtEl>
                                          <p:spTgt spid="44052"/>
                                        </p:tgtEl>
                                      </p:cBhvr>
                                    </p:animEffect>
                                    <p:anim calcmode="lin" valueType="num">
                                      <p:cBhvr>
                                        <p:cTn id="38" dur="1000" fill="hold"/>
                                        <p:tgtEl>
                                          <p:spTgt spid="44052"/>
                                        </p:tgtEl>
                                        <p:attrNameLst>
                                          <p:attrName>ppt_x</p:attrName>
                                        </p:attrNameLst>
                                      </p:cBhvr>
                                      <p:tavLst>
                                        <p:tav tm="0">
                                          <p:val>
                                            <p:strVal val="#ppt_x"/>
                                          </p:val>
                                        </p:tav>
                                        <p:tav tm="100000">
                                          <p:val>
                                            <p:strVal val="#ppt_x"/>
                                          </p:val>
                                        </p:tav>
                                      </p:tavLst>
                                    </p:anim>
                                    <p:anim calcmode="lin" valueType="num">
                                      <p:cBhvr>
                                        <p:cTn id="39" dur="1000" fill="hold"/>
                                        <p:tgtEl>
                                          <p:spTgt spid="44052"/>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16" presetClass="entr" presetSubtype="21" fill="hold"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barn(inVertical)">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1000"/>
                                        <p:tgtEl>
                                          <p:spTgt spid="19"/>
                                        </p:tgtEl>
                                      </p:cBhvr>
                                    </p:animEffect>
                                  </p:childTnLst>
                                </p:cTn>
                              </p:par>
                            </p:childTnLst>
                          </p:cTn>
                        </p:par>
                        <p:par>
                          <p:cTn id="49" fill="hold">
                            <p:stCondLst>
                              <p:cond delay="1000"/>
                            </p:stCondLst>
                            <p:childTnLst>
                              <p:par>
                                <p:cTn id="50" presetID="22" presetClass="entr" presetSubtype="1" fill="hold"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up)">
                                      <p:cBhvr>
                                        <p:cTn id="52" dur="1000"/>
                                        <p:tgtEl>
                                          <p:spTgt spid="16"/>
                                        </p:tgtEl>
                                      </p:cBhvr>
                                    </p:animEffect>
                                  </p:childTnLst>
                                </p:cTn>
                              </p:par>
                            </p:childTnLst>
                          </p:cTn>
                        </p:par>
                        <p:par>
                          <p:cTn id="53" fill="hold">
                            <p:stCondLst>
                              <p:cond delay="2000"/>
                            </p:stCondLst>
                            <p:childTnLst>
                              <p:par>
                                <p:cTn id="54" presetID="22" presetClass="entr" presetSubtype="1" fill="hold"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ipe(up)">
                                      <p:cBhvr>
                                        <p:cTn id="56" dur="1000"/>
                                        <p:tgtEl>
                                          <p:spTgt spid="17"/>
                                        </p:tgtEl>
                                      </p:cBhvr>
                                    </p:animEffect>
                                  </p:childTnLst>
                                </p:cTn>
                              </p:par>
                            </p:childTnLst>
                          </p:cTn>
                        </p:par>
                        <p:par>
                          <p:cTn id="57" fill="hold">
                            <p:stCondLst>
                              <p:cond delay="3000"/>
                            </p:stCondLst>
                            <p:childTnLst>
                              <p:par>
                                <p:cTn id="58" presetID="22" presetClass="entr" presetSubtype="1" fill="hold" nodeType="after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wipe(up)">
                                      <p:cBhvr>
                                        <p:cTn id="60" dur="1000"/>
                                        <p:tgtEl>
                                          <p:spTgt spid="18"/>
                                        </p:tgtEl>
                                      </p:cBhvr>
                                    </p:animEffect>
                                  </p:childTnLst>
                                </p:cTn>
                              </p:par>
                            </p:childTnLst>
                          </p:cTn>
                        </p:par>
                        <p:par>
                          <p:cTn id="61" fill="hold">
                            <p:stCondLst>
                              <p:cond delay="4000"/>
                            </p:stCondLst>
                            <p:childTnLst>
                              <p:par>
                                <p:cTn id="62" presetID="42" presetClass="entr" presetSubtype="0" fill="hold" grpId="0" nodeType="afterEffect">
                                  <p:stCondLst>
                                    <p:cond delay="0"/>
                                  </p:stCondLst>
                                  <p:childTnLst>
                                    <p:set>
                                      <p:cBhvr>
                                        <p:cTn id="63" dur="1" fill="hold">
                                          <p:stCondLst>
                                            <p:cond delay="0"/>
                                          </p:stCondLst>
                                        </p:cTn>
                                        <p:tgtEl>
                                          <p:spTgt spid="44053"/>
                                        </p:tgtEl>
                                        <p:attrNameLst>
                                          <p:attrName>style.visibility</p:attrName>
                                        </p:attrNameLst>
                                      </p:cBhvr>
                                      <p:to>
                                        <p:strVal val="visible"/>
                                      </p:to>
                                    </p:set>
                                    <p:animEffect transition="in" filter="fade">
                                      <p:cBhvr>
                                        <p:cTn id="64" dur="1000"/>
                                        <p:tgtEl>
                                          <p:spTgt spid="44053"/>
                                        </p:tgtEl>
                                      </p:cBhvr>
                                    </p:animEffect>
                                    <p:anim calcmode="lin" valueType="num">
                                      <p:cBhvr>
                                        <p:cTn id="65" dur="1000" fill="hold"/>
                                        <p:tgtEl>
                                          <p:spTgt spid="44053"/>
                                        </p:tgtEl>
                                        <p:attrNameLst>
                                          <p:attrName>ppt_x</p:attrName>
                                        </p:attrNameLst>
                                      </p:cBhvr>
                                      <p:tavLst>
                                        <p:tav tm="0">
                                          <p:val>
                                            <p:strVal val="#ppt_x"/>
                                          </p:val>
                                        </p:tav>
                                        <p:tav tm="100000">
                                          <p:val>
                                            <p:strVal val="#ppt_x"/>
                                          </p:val>
                                        </p:tav>
                                      </p:tavLst>
                                    </p:anim>
                                    <p:anim calcmode="lin" valueType="num">
                                      <p:cBhvr>
                                        <p:cTn id="66" dur="1000" fill="hold"/>
                                        <p:tgtEl>
                                          <p:spTgt spid="44053"/>
                                        </p:tgtEl>
                                        <p:attrNameLst>
                                          <p:attrName>ppt_y</p:attrName>
                                        </p:attrNameLst>
                                      </p:cBhvr>
                                      <p:tavLst>
                                        <p:tav tm="0">
                                          <p:val>
                                            <p:strVal val="#ppt_y+.1"/>
                                          </p:val>
                                        </p:tav>
                                        <p:tav tm="100000">
                                          <p:val>
                                            <p:strVal val="#ppt_y"/>
                                          </p:val>
                                        </p:tav>
                                      </p:tavLst>
                                    </p:anim>
                                  </p:childTnLst>
                                </p:cTn>
                              </p:par>
                            </p:childTnLst>
                          </p:cTn>
                        </p:par>
                        <p:par>
                          <p:cTn id="67" fill="hold">
                            <p:stCondLst>
                              <p:cond delay="5000"/>
                            </p:stCondLst>
                            <p:childTnLst>
                              <p:par>
                                <p:cTn id="68" presetID="16" presetClass="entr" presetSubtype="21" fill="hold" nodeType="after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barn(inVertical)">
                                      <p:cBhvr>
                                        <p:cTn id="70" dur="50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31" presetClass="entr" presetSubtype="0" fill="hold" grpId="0" nodeType="clickEffect">
                                  <p:stCondLst>
                                    <p:cond delay="0"/>
                                  </p:stCondLst>
                                  <p:childTnLst>
                                    <p:set>
                                      <p:cBhvr>
                                        <p:cTn id="74" dur="1" fill="hold">
                                          <p:stCondLst>
                                            <p:cond delay="0"/>
                                          </p:stCondLst>
                                        </p:cTn>
                                        <p:tgtEl>
                                          <p:spTgt spid="114"/>
                                        </p:tgtEl>
                                        <p:attrNameLst>
                                          <p:attrName>style.visibility</p:attrName>
                                        </p:attrNameLst>
                                      </p:cBhvr>
                                      <p:to>
                                        <p:strVal val="visible"/>
                                      </p:to>
                                    </p:set>
                                    <p:anim calcmode="lin" valueType="num">
                                      <p:cBhvr>
                                        <p:cTn id="75" dur="1000" fill="hold"/>
                                        <p:tgtEl>
                                          <p:spTgt spid="114"/>
                                        </p:tgtEl>
                                        <p:attrNameLst>
                                          <p:attrName>ppt_w</p:attrName>
                                        </p:attrNameLst>
                                      </p:cBhvr>
                                      <p:tavLst>
                                        <p:tav tm="0">
                                          <p:val>
                                            <p:fltVal val="0"/>
                                          </p:val>
                                        </p:tav>
                                        <p:tav tm="100000">
                                          <p:val>
                                            <p:strVal val="#ppt_w"/>
                                          </p:val>
                                        </p:tav>
                                      </p:tavLst>
                                    </p:anim>
                                    <p:anim calcmode="lin" valueType="num">
                                      <p:cBhvr>
                                        <p:cTn id="76" dur="1000" fill="hold"/>
                                        <p:tgtEl>
                                          <p:spTgt spid="114"/>
                                        </p:tgtEl>
                                        <p:attrNameLst>
                                          <p:attrName>ppt_h</p:attrName>
                                        </p:attrNameLst>
                                      </p:cBhvr>
                                      <p:tavLst>
                                        <p:tav tm="0">
                                          <p:val>
                                            <p:fltVal val="0"/>
                                          </p:val>
                                        </p:tav>
                                        <p:tav tm="100000">
                                          <p:val>
                                            <p:strVal val="#ppt_h"/>
                                          </p:val>
                                        </p:tav>
                                      </p:tavLst>
                                    </p:anim>
                                    <p:anim calcmode="lin" valueType="num">
                                      <p:cBhvr>
                                        <p:cTn id="77" dur="1000" fill="hold"/>
                                        <p:tgtEl>
                                          <p:spTgt spid="114"/>
                                        </p:tgtEl>
                                        <p:attrNameLst>
                                          <p:attrName>style.rotation</p:attrName>
                                        </p:attrNameLst>
                                      </p:cBhvr>
                                      <p:tavLst>
                                        <p:tav tm="0">
                                          <p:val>
                                            <p:fltVal val="90"/>
                                          </p:val>
                                        </p:tav>
                                        <p:tav tm="100000">
                                          <p:val>
                                            <p:fltVal val="0"/>
                                          </p:val>
                                        </p:tav>
                                      </p:tavLst>
                                    </p:anim>
                                    <p:animEffect transition="in" filter="fade">
                                      <p:cBhvr>
                                        <p:cTn id="78" dur="1000"/>
                                        <p:tgtEl>
                                          <p:spTgt spid="114"/>
                                        </p:tgtEl>
                                      </p:cBhvr>
                                    </p:animEffect>
                                  </p:childTnLst>
                                </p:cTn>
                              </p:par>
                            </p:childTnLst>
                          </p:cTn>
                        </p:par>
                        <p:par>
                          <p:cTn id="79" fill="hold">
                            <p:stCondLst>
                              <p:cond delay="1000"/>
                            </p:stCondLst>
                            <p:childTnLst>
                              <p:par>
                                <p:cTn id="80" presetID="16" presetClass="entr" presetSubtype="21" fill="hold" nodeType="after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barn(inVertical)">
                                      <p:cBhvr>
                                        <p:cTn id="8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51" grpId="0"/>
      <p:bldP spid="44052" grpId="0"/>
      <p:bldP spid="44053" grpId="0"/>
      <p:bldP spid="112" grpId="0"/>
      <p:bldP spid="1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8994" name="Text Box 146"/>
          <p:cNvSpPr txBox="1">
            <a:spLocks noChangeArrowheads="1"/>
          </p:cNvSpPr>
          <p:nvPr/>
        </p:nvSpPr>
        <p:spPr bwMode="auto">
          <a:xfrm>
            <a:off x="441378" y="3704952"/>
            <a:ext cx="309236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10000"/>
              </a:spcBef>
              <a:spcAft>
                <a:spcPct val="10000"/>
              </a:spcAft>
              <a:buClr>
                <a:srgbClr val="C00000"/>
              </a:buClr>
              <a:buSzPct val="140000"/>
              <a:buFont typeface="Wingdings" pitchFamily="2" charset="2"/>
              <a:buChar char="F"/>
            </a:pPr>
            <a:r>
              <a:rPr kumimoji="1" lang="en-US" altLang="zh-CN" sz="2400" b="1" i="1" dirty="0" smtClean="0">
                <a:solidFill>
                  <a:srgbClr val="000066"/>
                </a:solidFill>
                <a:ea typeface="幼圆" pitchFamily="49" charset="-122"/>
                <a:cs typeface="Times New Roman" panose="02020603050405020304" pitchFamily="18" charset="0"/>
              </a:rPr>
              <a:t> C</a:t>
            </a:r>
            <a:r>
              <a:rPr kumimoji="1" lang="en-US" altLang="zh-CN" sz="2400" b="1" baseline="-25000" dirty="0" smtClean="0">
                <a:solidFill>
                  <a:srgbClr val="000066"/>
                </a:solidFill>
                <a:ea typeface="幼圆" pitchFamily="49" charset="-122"/>
                <a:cs typeface="Times New Roman" panose="02020603050405020304" pitchFamily="18" charset="0"/>
              </a:rPr>
              <a:t>c</a:t>
            </a:r>
            <a:r>
              <a:rPr kumimoji="1" lang="en-US" altLang="zh-CN" sz="2400" b="1" i="1" dirty="0" smtClean="0">
                <a:solidFill>
                  <a:srgbClr val="000066"/>
                </a:solidFill>
                <a:ea typeface="幼圆" pitchFamily="49" charset="-122"/>
                <a:cs typeface="Times New Roman" panose="02020603050405020304" pitchFamily="18" charset="0"/>
              </a:rPr>
              <a:t>=</a:t>
            </a:r>
            <a:r>
              <a:rPr kumimoji="1" lang="en-US" altLang="zh-CN" sz="2400" dirty="0" smtClean="0">
                <a:solidFill>
                  <a:srgbClr val="000066"/>
                </a:solidFill>
                <a:ea typeface="幼圆" pitchFamily="49" charset="-122"/>
                <a:cs typeface="Times New Roman" panose="02020603050405020304" pitchFamily="18" charset="0"/>
              </a:rPr>
              <a:t>1</a:t>
            </a:r>
            <a:r>
              <a:rPr kumimoji="1" lang="en-US" altLang="zh-CN" sz="2400" b="1" dirty="0" smtClean="0">
                <a:solidFill>
                  <a:srgbClr val="000066"/>
                </a:solidFill>
                <a:ea typeface="幼圆" pitchFamily="49" charset="-122"/>
                <a:cs typeface="Times New Roman" panose="02020603050405020304" pitchFamily="18" charset="0"/>
                <a:sym typeface="Symbol" pitchFamily="18" charset="2"/>
              </a:rPr>
              <a:t></a:t>
            </a:r>
            <a:r>
              <a:rPr kumimoji="1" lang="en-US" altLang="zh-CN" sz="2400" dirty="0" smtClean="0">
                <a:solidFill>
                  <a:srgbClr val="000066"/>
                </a:solidFill>
                <a:ea typeface="幼圆" pitchFamily="49" charset="-122"/>
                <a:cs typeface="Times New Roman" panose="02020603050405020304" pitchFamily="18" charset="0"/>
              </a:rPr>
              <a:t>3, </a:t>
            </a:r>
            <a:r>
              <a:rPr kumimoji="1" lang="zh-CN" altLang="en-US" sz="2400" b="1" dirty="0" smtClean="0">
                <a:solidFill>
                  <a:srgbClr val="000066"/>
                </a:solidFill>
                <a:ea typeface="幼圆" pitchFamily="49" charset="-122"/>
                <a:cs typeface="Times New Roman" panose="02020603050405020304" pitchFamily="18" charset="0"/>
              </a:rPr>
              <a:t>级配连续</a:t>
            </a:r>
            <a:endParaRPr kumimoji="1" lang="en-US" altLang="zh-CN" sz="2400" b="1" dirty="0" smtClean="0">
              <a:solidFill>
                <a:srgbClr val="000066"/>
              </a:solidFill>
              <a:ea typeface="幼圆" pitchFamily="49" charset="-122"/>
              <a:cs typeface="Times New Roman" panose="02020603050405020304" pitchFamily="18" charset="0"/>
            </a:endParaRPr>
          </a:p>
          <a:p>
            <a:pPr lvl="1" eaLnBrk="1" hangingPunct="1">
              <a:lnSpc>
                <a:spcPct val="120000"/>
              </a:lnSpc>
              <a:spcBef>
                <a:spcPct val="10000"/>
              </a:spcBef>
              <a:spcAft>
                <a:spcPct val="10000"/>
              </a:spcAft>
              <a:buClr>
                <a:srgbClr val="C00000"/>
              </a:buClr>
              <a:buSzPct val="140000"/>
            </a:pPr>
            <a:r>
              <a:rPr kumimoji="1" lang="zh-CN" altLang="en-US" sz="2400" b="1" dirty="0" smtClean="0">
                <a:solidFill>
                  <a:srgbClr val="000066"/>
                </a:solidFill>
                <a:ea typeface="幼圆" pitchFamily="49" charset="-122"/>
                <a:cs typeface="Times New Roman" panose="02020603050405020304" pitchFamily="18" charset="0"/>
              </a:rPr>
              <a:t>缺少</a:t>
            </a:r>
            <a:r>
              <a:rPr kumimoji="1" lang="zh-CN" altLang="en-US" sz="2400" b="1" dirty="0">
                <a:solidFill>
                  <a:srgbClr val="000066"/>
                </a:solidFill>
                <a:ea typeface="幼圆" pitchFamily="49" charset="-122"/>
                <a:cs typeface="Times New Roman" panose="02020603050405020304" pitchFamily="18" charset="0"/>
              </a:rPr>
              <a:t>小颗粒，</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c</a:t>
            </a:r>
            <a:r>
              <a:rPr kumimoji="1" lang="en-US" altLang="zh-CN" sz="2400" b="1" dirty="0">
                <a:solidFill>
                  <a:srgbClr val="000066"/>
                </a:solidFill>
                <a:ea typeface="幼圆" pitchFamily="49" charset="-122"/>
                <a:cs typeface="Times New Roman" panose="02020603050405020304" pitchFamily="18" charset="0"/>
                <a:sym typeface="Symbol" pitchFamily="18" charset="2"/>
              </a:rPr>
              <a:t></a:t>
            </a:r>
          </a:p>
          <a:p>
            <a:pPr lvl="1" eaLnBrk="1" hangingPunct="1">
              <a:lnSpc>
                <a:spcPct val="120000"/>
              </a:lnSpc>
              <a:spcBef>
                <a:spcPct val="10000"/>
              </a:spcBef>
              <a:spcAft>
                <a:spcPct val="10000"/>
              </a:spcAft>
              <a:buClr>
                <a:srgbClr val="C00000"/>
              </a:buClr>
              <a:buSzPct val="140000"/>
            </a:pPr>
            <a:r>
              <a:rPr kumimoji="1" lang="zh-CN" altLang="en-US" sz="2400" b="1" dirty="0">
                <a:solidFill>
                  <a:srgbClr val="000066"/>
                </a:solidFill>
                <a:cs typeface="Times New Roman" panose="02020603050405020304" pitchFamily="18" charset="0"/>
              </a:rPr>
              <a:t>缺少大颗粒，</a:t>
            </a:r>
            <a:r>
              <a:rPr kumimoji="1" lang="en-US" altLang="zh-CN" sz="2400" b="1" i="1" dirty="0">
                <a:solidFill>
                  <a:srgbClr val="000066"/>
                </a:solidFill>
                <a:cs typeface="Times New Roman" panose="02020603050405020304" pitchFamily="18" charset="0"/>
              </a:rPr>
              <a:t>C</a:t>
            </a:r>
            <a:r>
              <a:rPr kumimoji="1" lang="en-US" altLang="zh-CN" sz="2400" b="1" baseline="-25000" dirty="0">
                <a:solidFill>
                  <a:srgbClr val="000066"/>
                </a:solidFill>
                <a:cs typeface="Times New Roman" panose="02020603050405020304" pitchFamily="18" charset="0"/>
              </a:rPr>
              <a:t>c</a:t>
            </a:r>
            <a:r>
              <a:rPr kumimoji="1" lang="en-US" altLang="zh-CN" sz="2400" b="1" dirty="0">
                <a:solidFill>
                  <a:srgbClr val="000066"/>
                </a:solidFill>
                <a:ea typeface="幼圆" pitchFamily="49" charset="-122"/>
                <a:cs typeface="Times New Roman" panose="02020603050405020304" pitchFamily="18" charset="0"/>
                <a:sym typeface="Symbol" pitchFamily="18" charset="2"/>
              </a:rPr>
              <a:t></a:t>
            </a:r>
          </a:p>
        </p:txBody>
      </p:sp>
      <p:sp>
        <p:nvSpPr>
          <p:cNvPr id="110" name="Text Box 123"/>
          <p:cNvSpPr txBox="1">
            <a:spLocks noChangeArrowheads="1"/>
          </p:cNvSpPr>
          <p:nvPr/>
        </p:nvSpPr>
        <p:spPr bwMode="auto">
          <a:xfrm>
            <a:off x="2100263" y="5689600"/>
            <a:ext cx="61198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49" charset="-122"/>
                <a:ea typeface="黑体" pitchFamily="49" charset="-122"/>
              </a:rPr>
              <a:t>固体</a:t>
            </a:r>
            <a:r>
              <a:rPr kumimoji="1" lang="zh-CN" altLang="en-US" sz="4000" b="1" dirty="0" smtClean="0">
                <a:solidFill>
                  <a:srgbClr val="000066"/>
                </a:solidFill>
                <a:latin typeface="黑体" pitchFamily="49" charset="-122"/>
                <a:ea typeface="黑体" pitchFamily="49" charset="-122"/>
              </a:rPr>
              <a:t>颗粒</a:t>
            </a:r>
            <a:r>
              <a:rPr kumimoji="1" lang="en-US" altLang="zh-CN" sz="4000" b="1" dirty="0" smtClean="0">
                <a:solidFill>
                  <a:srgbClr val="000066"/>
                </a:solidFill>
                <a:latin typeface="黑体" pitchFamily="49" charset="-122"/>
                <a:ea typeface="黑体" pitchFamily="49" charset="-122"/>
              </a:rPr>
              <a:t>–</a:t>
            </a:r>
            <a:r>
              <a:rPr kumimoji="1" lang="zh-CN" altLang="en-US" sz="4000" b="1" dirty="0" smtClean="0">
                <a:solidFill>
                  <a:srgbClr val="000066"/>
                </a:solidFill>
                <a:latin typeface="黑体" pitchFamily="49" charset="-122"/>
                <a:ea typeface="黑体" pitchFamily="49" charset="-122"/>
              </a:rPr>
              <a:t>曲率系数举例</a:t>
            </a:r>
            <a:endParaRPr kumimoji="1" lang="zh-CN" altLang="en-US" sz="4000" b="1" dirty="0">
              <a:solidFill>
                <a:srgbClr val="000066"/>
              </a:solidFill>
              <a:latin typeface="黑体" pitchFamily="49" charset="-122"/>
              <a:ea typeface="黑体" pitchFamily="49" charset="-122"/>
            </a:endParaRPr>
          </a:p>
        </p:txBody>
      </p:sp>
      <p:sp>
        <p:nvSpPr>
          <p:cNvPr id="109"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11" name="Text Box 6"/>
          <p:cNvSpPr txBox="1">
            <a:spLocks noChangeArrowheads="1"/>
          </p:cNvSpPr>
          <p:nvPr/>
        </p:nvSpPr>
        <p:spPr bwMode="auto">
          <a:xfrm>
            <a:off x="224608" y="609797"/>
            <a:ext cx="7505261"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en-US" altLang="zh-CN" sz="2400" b="1" dirty="0" smtClean="0">
                <a:solidFill>
                  <a:srgbClr val="C00000"/>
                </a:solidFill>
                <a:ea typeface="幼圆" pitchFamily="49" charset="-122"/>
                <a:cs typeface="Times New Roman" panose="02020603050405020304" pitchFamily="18" charset="0"/>
              </a:rPr>
              <a:t>【</a:t>
            </a:r>
            <a:r>
              <a:rPr kumimoji="1" lang="zh-CN" altLang="en-US" sz="2400" b="1" dirty="0">
                <a:solidFill>
                  <a:srgbClr val="C00000"/>
                </a:solidFill>
                <a:ea typeface="幼圆" pitchFamily="49" charset="-122"/>
                <a:cs typeface="Times New Roman" panose="02020603050405020304" pitchFamily="18" charset="0"/>
              </a:rPr>
              <a:t>例题</a:t>
            </a:r>
            <a:r>
              <a:rPr kumimoji="1" lang="en-US" altLang="zh-CN" sz="2400" b="1" dirty="0" smtClean="0">
                <a:solidFill>
                  <a:srgbClr val="C00000"/>
                </a:solidFill>
                <a:ea typeface="幼圆" pitchFamily="49" charset="-122"/>
                <a:cs typeface="Times New Roman" panose="02020603050405020304" pitchFamily="18" charset="0"/>
              </a:rPr>
              <a:t>】</a:t>
            </a:r>
            <a:r>
              <a:rPr kumimoji="1" lang="zh-CN" altLang="en-US" sz="2400" b="1" dirty="0" smtClean="0">
                <a:solidFill>
                  <a:srgbClr val="C00000"/>
                </a:solidFill>
                <a:ea typeface="幼圆" pitchFamily="49" charset="-122"/>
                <a:cs typeface="Times New Roman" panose="02020603050405020304" pitchFamily="18" charset="0"/>
              </a:rPr>
              <a:t>：</a:t>
            </a:r>
            <a:r>
              <a:rPr kumimoji="1" lang="zh-CN" altLang="en-US" sz="2400" b="1" dirty="0" smtClean="0">
                <a:solidFill>
                  <a:srgbClr val="000066"/>
                </a:solidFill>
                <a:ea typeface="幼圆" pitchFamily="49" charset="-122"/>
                <a:cs typeface="Times New Roman" panose="02020603050405020304" pitchFamily="18" charset="0"/>
              </a:rPr>
              <a:t>分析图中三种土级配曲线的连续性和特点。</a:t>
            </a:r>
            <a:endParaRPr kumimoji="1" lang="zh-CN" altLang="en-US" sz="2400" b="1" dirty="0">
              <a:solidFill>
                <a:srgbClr val="000066"/>
              </a:solidFill>
              <a:ea typeface="幼圆" pitchFamily="49" charset="-122"/>
              <a:cs typeface="Times New Roman" panose="02020603050405020304"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148786763"/>
              </p:ext>
            </p:extLst>
          </p:nvPr>
        </p:nvGraphicFramePr>
        <p:xfrm>
          <a:off x="372143" y="2072570"/>
          <a:ext cx="3444949" cy="1280160"/>
        </p:xfrm>
        <a:graphic>
          <a:graphicData uri="http://schemas.openxmlformats.org/drawingml/2006/table">
            <a:tbl>
              <a:tblPr firstRow="1" bandRow="1">
                <a:tableStyleId>{5C22544A-7EE6-4342-B048-85BDC9FD1C3A}</a:tableStyleId>
              </a:tblPr>
              <a:tblGrid>
                <a:gridCol w="834716">
                  <a:extLst>
                    <a:ext uri="{9D8B030D-6E8A-4147-A177-3AD203B41FA5}">
                      <a16:colId xmlns:a16="http://schemas.microsoft.com/office/drawing/2014/main" val="20000"/>
                    </a:ext>
                  </a:extLst>
                </a:gridCol>
                <a:gridCol w="855076">
                  <a:extLst>
                    <a:ext uri="{9D8B030D-6E8A-4147-A177-3AD203B41FA5}">
                      <a16:colId xmlns:a16="http://schemas.microsoft.com/office/drawing/2014/main" val="20001"/>
                    </a:ext>
                  </a:extLst>
                </a:gridCol>
                <a:gridCol w="830124">
                  <a:extLst>
                    <a:ext uri="{9D8B030D-6E8A-4147-A177-3AD203B41FA5}">
                      <a16:colId xmlns:a16="http://schemas.microsoft.com/office/drawing/2014/main" val="20002"/>
                    </a:ext>
                  </a:extLst>
                </a:gridCol>
                <a:gridCol w="925033">
                  <a:extLst>
                    <a:ext uri="{9D8B030D-6E8A-4147-A177-3AD203B41FA5}">
                      <a16:colId xmlns:a16="http://schemas.microsoft.com/office/drawing/2014/main" val="20003"/>
                    </a:ext>
                  </a:extLst>
                </a:gridCol>
              </a:tblGrid>
              <a:tr h="370840">
                <a:tc>
                  <a:txBody>
                    <a:bodyPr/>
                    <a:lstStyle/>
                    <a:p>
                      <a:r>
                        <a:rPr lang="zh-CN" altLang="en-US" sz="2200" b="1" dirty="0" smtClean="0"/>
                        <a:t>土体</a:t>
                      </a:r>
                      <a:endParaRPr lang="zh-CN" altLang="en-US" sz="2200" b="1" dirty="0"/>
                    </a:p>
                  </a:txBody>
                  <a:tcPr>
                    <a:solidFill>
                      <a:srgbClr val="4F81BD"/>
                    </a:solidFill>
                  </a:tcPr>
                </a:tc>
                <a:tc>
                  <a:txBody>
                    <a:bodyPr/>
                    <a:lstStyle/>
                    <a:p>
                      <a:pPr algn="ctr"/>
                      <a:r>
                        <a:rPr lang="zh-CN" altLang="en-US" sz="2200" b="1" dirty="0" smtClean="0">
                          <a:latin typeface="宋体"/>
                          <a:ea typeface="宋体"/>
                        </a:rPr>
                        <a:t>①</a:t>
                      </a:r>
                      <a:endParaRPr lang="zh-CN" altLang="en-US" sz="2200" b="1" dirty="0"/>
                    </a:p>
                  </a:txBody>
                  <a:tcPr>
                    <a:solidFill>
                      <a:srgbClr val="4F81B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200" b="1" dirty="0" smtClean="0">
                          <a:latin typeface="宋体"/>
                          <a:ea typeface="+mn-ea"/>
                        </a:rPr>
                        <a:t>②</a:t>
                      </a:r>
                      <a:endParaRPr lang="zh-CN" altLang="en-US" sz="2200" b="1" dirty="0"/>
                    </a:p>
                  </a:txBody>
                  <a:tcPr>
                    <a:solidFill>
                      <a:srgbClr val="4F81BD"/>
                    </a:solidFill>
                  </a:tcPr>
                </a:tc>
                <a:tc>
                  <a:txBody>
                    <a:bodyPr/>
                    <a:lstStyle/>
                    <a:p>
                      <a:pPr algn="ctr"/>
                      <a:r>
                        <a:rPr lang="zh-CN" altLang="en-US" sz="2200" b="1" dirty="0" smtClean="0">
                          <a:latin typeface="宋体"/>
                          <a:ea typeface="+mn-ea"/>
                        </a:rPr>
                        <a:t>③</a:t>
                      </a:r>
                      <a:endParaRPr lang="zh-CN" altLang="en-US" sz="2200" b="1" dirty="0"/>
                    </a:p>
                  </a:txBody>
                  <a:tcPr>
                    <a:solidFill>
                      <a:srgbClr val="4F81BD"/>
                    </a:solidFill>
                  </a:tcP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1" u="none" strike="noStrike" cap="none" normalizeH="0" baseline="0" dirty="0" smtClean="0">
                          <a:ln>
                            <a:noFill/>
                          </a:ln>
                          <a:solidFill>
                            <a:srgbClr val="000066"/>
                          </a:solidFill>
                          <a:effectLst/>
                          <a:latin typeface="Times New Roman" pitchFamily="18" charset="0"/>
                          <a:ea typeface="宋体" charset="-122"/>
                          <a:cs typeface="Times New Roman" pitchFamily="18" charset="0"/>
                        </a:rPr>
                        <a:t>C</a:t>
                      </a:r>
                      <a:r>
                        <a:rPr kumimoji="0" lang="en-US" altLang="zh-CN" sz="2200" b="1" i="0" u="none" strike="noStrike" cap="none" normalizeH="0" baseline="-25000" dirty="0" smtClean="0">
                          <a:ln>
                            <a:noFill/>
                          </a:ln>
                          <a:solidFill>
                            <a:srgbClr val="000066"/>
                          </a:solidFill>
                          <a:effectLst/>
                          <a:latin typeface="Times New Roman" pitchFamily="18" charset="0"/>
                          <a:ea typeface="宋体" charset="-122"/>
                          <a:cs typeface="Times New Roman" pitchFamily="18" charset="0"/>
                        </a:rPr>
                        <a:t>u</a:t>
                      </a:r>
                      <a:endParaRPr lang="zh-CN" altLang="en-US" sz="2200" b="1" i="0" dirty="0">
                        <a:solidFill>
                          <a:srgbClr val="000066"/>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8000"/>
                          </a:solidFill>
                          <a:effectLst/>
                          <a:latin typeface="Times New Roman" pitchFamily="18" charset="0"/>
                          <a:ea typeface="宋体" charset="-122"/>
                          <a:cs typeface="Times New Roman" pitchFamily="18" charset="0"/>
                        </a:rPr>
                        <a:t>66</a:t>
                      </a:r>
                      <a:endParaRPr kumimoji="0" lang="zh-CN" altLang="en-US" sz="2200" b="1" i="0" u="none" strike="noStrike" kern="1200" cap="none" normalizeH="0" baseline="0" dirty="0">
                        <a:ln>
                          <a:noFill/>
                        </a:ln>
                        <a:solidFill>
                          <a:srgbClr val="008000"/>
                        </a:solidFill>
                        <a:effectLst/>
                        <a:latin typeface="Times New Roman" pitchFamily="18" charset="0"/>
                        <a:ea typeface="宋体" charset="-122"/>
                        <a:cs typeface="Times New Roman" pitchFamily="18" charset="0"/>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00CC"/>
                          </a:solidFill>
                          <a:effectLst/>
                          <a:latin typeface="Times New Roman" pitchFamily="18" charset="0"/>
                          <a:ea typeface="宋体" charset="-122"/>
                          <a:cs typeface="Times New Roman" pitchFamily="18" charset="0"/>
                        </a:rPr>
                        <a:t>66</a:t>
                      </a:r>
                      <a:endParaRPr kumimoji="0" lang="zh-CN" altLang="en-US" sz="2200" b="1" i="0" u="none" strike="noStrike" kern="1200" cap="none" normalizeH="0" baseline="0" dirty="0">
                        <a:ln>
                          <a:noFill/>
                        </a:ln>
                        <a:solidFill>
                          <a:srgbClr val="0000CC"/>
                        </a:solidFill>
                        <a:effectLst/>
                        <a:latin typeface="Times New Roman" pitchFamily="18" charset="0"/>
                        <a:ea typeface="宋体" charset="-122"/>
                        <a:cs typeface="Times New Roman" pitchFamily="18" charset="0"/>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C00000"/>
                          </a:solidFill>
                          <a:effectLst/>
                          <a:latin typeface="Times New Roman" pitchFamily="18" charset="0"/>
                          <a:ea typeface="宋体" charset="-122"/>
                          <a:cs typeface="Times New Roman" pitchFamily="18" charset="0"/>
                        </a:rPr>
                        <a:t>66</a:t>
                      </a:r>
                      <a:endParaRPr kumimoji="0" lang="zh-CN" altLang="en-US" sz="2200" b="1" i="0" u="none" strike="noStrike" kern="1200" cap="none" normalizeH="0" baseline="0" dirty="0">
                        <a:ln>
                          <a:noFill/>
                        </a:ln>
                        <a:solidFill>
                          <a:srgbClr val="C00000"/>
                        </a:solidFill>
                        <a:effectLst/>
                        <a:latin typeface="Times New Roman" pitchFamily="18" charset="0"/>
                        <a:ea typeface="宋体" charset="-122"/>
                        <a:cs typeface="Times New Roman" pitchFamily="18" charset="0"/>
                      </a:endParaRPr>
                    </a:p>
                  </a:txBody>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1" u="none" strike="noStrike" cap="none" normalizeH="0" baseline="0" dirty="0" smtClean="0">
                          <a:ln>
                            <a:noFill/>
                          </a:ln>
                          <a:solidFill>
                            <a:srgbClr val="000066"/>
                          </a:solidFill>
                          <a:effectLst/>
                          <a:latin typeface="Times New Roman" pitchFamily="18" charset="0"/>
                          <a:ea typeface="宋体" charset="-122"/>
                          <a:cs typeface="Times New Roman" pitchFamily="18" charset="0"/>
                        </a:rPr>
                        <a:t>C</a:t>
                      </a:r>
                      <a:r>
                        <a:rPr kumimoji="0" lang="en-US" altLang="zh-CN" sz="2200" b="1" i="0" u="none" strike="noStrike" cap="none" normalizeH="0" baseline="-25000" dirty="0" smtClean="0">
                          <a:ln>
                            <a:noFill/>
                          </a:ln>
                          <a:solidFill>
                            <a:srgbClr val="000066"/>
                          </a:solidFill>
                          <a:effectLst/>
                          <a:latin typeface="Times New Roman" pitchFamily="18" charset="0"/>
                          <a:ea typeface="宋体" charset="-122"/>
                          <a:cs typeface="Times New Roman" pitchFamily="18" charset="0"/>
                        </a:rPr>
                        <a:t>c</a:t>
                      </a:r>
                      <a:endParaRPr lang="zh-CN" altLang="en-US" sz="2200" b="1" i="0" dirty="0">
                        <a:solidFill>
                          <a:srgbClr val="000066"/>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8000"/>
                          </a:solidFill>
                          <a:effectLst/>
                          <a:latin typeface="Times New Roman" pitchFamily="18" charset="0"/>
                          <a:ea typeface="宋体" charset="-122"/>
                          <a:cs typeface="Times New Roman" pitchFamily="18" charset="0"/>
                        </a:rPr>
                        <a:t>3.98</a:t>
                      </a:r>
                      <a:endParaRPr kumimoji="0" lang="zh-CN" altLang="en-US" sz="2200" b="1" i="0" u="none" strike="noStrike" kern="1200" cap="none" normalizeH="0" baseline="0" dirty="0">
                        <a:ln>
                          <a:noFill/>
                        </a:ln>
                        <a:solidFill>
                          <a:srgbClr val="008000"/>
                        </a:solidFill>
                        <a:effectLst/>
                        <a:latin typeface="Times New Roman" pitchFamily="18" charset="0"/>
                        <a:ea typeface="宋体" charset="-122"/>
                        <a:cs typeface="Times New Roman" pitchFamily="18" charset="0"/>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0000CC"/>
                          </a:solidFill>
                          <a:effectLst/>
                          <a:latin typeface="Times New Roman" pitchFamily="18" charset="0"/>
                          <a:ea typeface="宋体" charset="-122"/>
                          <a:cs typeface="Times New Roman" pitchFamily="18" charset="0"/>
                        </a:rPr>
                        <a:t>2.41</a:t>
                      </a:r>
                      <a:endParaRPr kumimoji="0" lang="zh-CN" altLang="en-US" sz="2200" b="1" i="0" u="none" strike="noStrike" kern="1200" cap="none" normalizeH="0" baseline="0" dirty="0">
                        <a:ln>
                          <a:noFill/>
                        </a:ln>
                        <a:solidFill>
                          <a:srgbClr val="0000CC"/>
                        </a:solidFill>
                        <a:effectLst/>
                        <a:latin typeface="Times New Roman" pitchFamily="18" charset="0"/>
                        <a:ea typeface="宋体" charset="-122"/>
                        <a:cs typeface="Times New Roman" pitchFamily="18" charset="0"/>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normalizeH="0" baseline="0" dirty="0" smtClean="0">
                          <a:ln>
                            <a:noFill/>
                          </a:ln>
                          <a:solidFill>
                            <a:srgbClr val="C00000"/>
                          </a:solidFill>
                          <a:effectLst/>
                          <a:latin typeface="Times New Roman" pitchFamily="18" charset="0"/>
                          <a:ea typeface="宋体" charset="-122"/>
                          <a:cs typeface="Times New Roman" pitchFamily="18" charset="0"/>
                        </a:rPr>
                        <a:t>0.545</a:t>
                      </a:r>
                      <a:endParaRPr kumimoji="0" lang="zh-CN" altLang="en-US" sz="2200" b="1" i="0" u="none" strike="noStrike" kern="1200" cap="none" normalizeH="0" baseline="0" dirty="0">
                        <a:ln>
                          <a:noFill/>
                        </a:ln>
                        <a:solidFill>
                          <a:srgbClr val="C00000"/>
                        </a:solidFill>
                        <a:effectLst/>
                        <a:latin typeface="Times New Roman" pitchFamily="18" charset="0"/>
                        <a:ea typeface="宋体" charset="-122"/>
                        <a:cs typeface="Times New Roman" pitchFamily="18" charset="0"/>
                      </a:endParaRPr>
                    </a:p>
                  </a:txBody>
                  <a:tcPr/>
                </a:tc>
                <a:extLst>
                  <a:ext uri="{0D108BD9-81ED-4DB2-BD59-A6C34878D82A}">
                    <a16:rowId xmlns:a16="http://schemas.microsoft.com/office/drawing/2014/main" val="10002"/>
                  </a:ext>
                </a:extLst>
              </a:tr>
            </a:tbl>
          </a:graphicData>
        </a:graphic>
      </p:graphicFrame>
      <p:sp>
        <p:nvSpPr>
          <p:cNvPr id="113" name="Text Box 6"/>
          <p:cNvSpPr txBox="1">
            <a:spLocks noChangeArrowheads="1"/>
          </p:cNvSpPr>
          <p:nvPr/>
        </p:nvSpPr>
        <p:spPr bwMode="auto">
          <a:xfrm>
            <a:off x="309658" y="1325413"/>
            <a:ext cx="235555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25000"/>
              </a:spcBef>
              <a:spcAft>
                <a:spcPct val="25000"/>
              </a:spcAft>
              <a:buClr>
                <a:srgbClr val="A50021"/>
              </a:buClr>
              <a:buSzPct val="130000"/>
            </a:pPr>
            <a:r>
              <a:rPr kumimoji="1" lang="zh-CN" altLang="en-US" sz="2400" b="1" dirty="0" smtClean="0">
                <a:solidFill>
                  <a:srgbClr val="C00000"/>
                </a:solidFill>
                <a:latin typeface="幼圆" pitchFamily="49" charset="-122"/>
                <a:ea typeface="幼圆" pitchFamily="49" charset="-122"/>
              </a:rPr>
              <a:t>（</a:t>
            </a:r>
            <a:r>
              <a:rPr kumimoji="1" lang="en-US" altLang="zh-CN" sz="2400" b="1" dirty="0" smtClean="0">
                <a:solidFill>
                  <a:srgbClr val="C00000"/>
                </a:solidFill>
                <a:latin typeface="幼圆" pitchFamily="49" charset="-122"/>
                <a:ea typeface="幼圆" pitchFamily="49" charset="-122"/>
              </a:rPr>
              <a:t>3</a:t>
            </a:r>
            <a:r>
              <a:rPr kumimoji="1" lang="zh-CN" altLang="en-US" sz="2400" b="1" dirty="0" smtClean="0">
                <a:solidFill>
                  <a:srgbClr val="C00000"/>
                </a:solidFill>
                <a:latin typeface="幼圆" pitchFamily="49" charset="-122"/>
                <a:ea typeface="幼圆" pitchFamily="49" charset="-122"/>
              </a:rPr>
              <a:t>）级配特点：</a:t>
            </a:r>
            <a:endParaRPr kumimoji="1" lang="zh-CN" altLang="en-US" sz="2400" b="1" dirty="0">
              <a:solidFill>
                <a:srgbClr val="000066"/>
              </a:solidFill>
              <a:latin typeface="幼圆" pitchFamily="49" charset="-122"/>
              <a:ea typeface="幼圆" pitchFamily="49" charset="-122"/>
            </a:endParaRPr>
          </a:p>
        </p:txBody>
      </p:sp>
      <p:grpSp>
        <p:nvGrpSpPr>
          <p:cNvPr id="115" name="Group 9"/>
          <p:cNvGrpSpPr>
            <a:grpSpLocks/>
          </p:cNvGrpSpPr>
          <p:nvPr/>
        </p:nvGrpSpPr>
        <p:grpSpPr bwMode="auto">
          <a:xfrm>
            <a:off x="4846624" y="1433169"/>
            <a:ext cx="4117975" cy="3184525"/>
            <a:chOff x="3024" y="960"/>
            <a:chExt cx="2594" cy="2006"/>
          </a:xfrm>
        </p:grpSpPr>
        <p:sp>
          <p:nvSpPr>
            <p:cNvPr id="116" name="Freeform 10"/>
            <p:cNvSpPr>
              <a:spLocks/>
            </p:cNvSpPr>
            <p:nvPr/>
          </p:nvSpPr>
          <p:spPr bwMode="auto">
            <a:xfrm>
              <a:off x="3028" y="964"/>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17" name="Freeform 11"/>
            <p:cNvSpPr>
              <a:spLocks/>
            </p:cNvSpPr>
            <p:nvPr/>
          </p:nvSpPr>
          <p:spPr bwMode="auto">
            <a:xfrm>
              <a:off x="3057" y="963"/>
              <a:ext cx="2" cy="2001"/>
            </a:xfrm>
            <a:custGeom>
              <a:avLst/>
              <a:gdLst>
                <a:gd name="T0" fmla="*/ 0 w 2"/>
                <a:gd name="T1" fmla="*/ 0 h 2001"/>
                <a:gd name="T2" fmla="*/ 2 w 2"/>
                <a:gd name="T3" fmla="*/ 2001 h 2001"/>
                <a:gd name="T4" fmla="*/ 0 60000 65536"/>
                <a:gd name="T5" fmla="*/ 0 60000 65536"/>
                <a:gd name="T6" fmla="*/ 0 w 2"/>
                <a:gd name="T7" fmla="*/ 0 h 2001"/>
                <a:gd name="T8" fmla="*/ 2 w 2"/>
                <a:gd name="T9" fmla="*/ 2001 h 2001"/>
              </a:gdLst>
              <a:ahLst/>
              <a:cxnLst>
                <a:cxn ang="T4">
                  <a:pos x="T0" y="T1"/>
                </a:cxn>
                <a:cxn ang="T5">
                  <a:pos x="T2" y="T3"/>
                </a:cxn>
              </a:cxnLst>
              <a:rect l="T6" t="T7" r="T8" b="T9"/>
              <a:pathLst>
                <a:path w="2" h="2001">
                  <a:moveTo>
                    <a:pt x="0" y="0"/>
                  </a:moveTo>
                  <a:lnTo>
                    <a:pt x="2"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18" name="Freeform 12"/>
            <p:cNvSpPr>
              <a:spLocks/>
            </p:cNvSpPr>
            <p:nvPr/>
          </p:nvSpPr>
          <p:spPr bwMode="auto">
            <a:xfrm>
              <a:off x="3094" y="962"/>
              <a:ext cx="1" cy="2004"/>
            </a:xfrm>
            <a:custGeom>
              <a:avLst/>
              <a:gdLst>
                <a:gd name="T0" fmla="*/ 0 w 1"/>
                <a:gd name="T1" fmla="*/ 0 h 2004"/>
                <a:gd name="T2" fmla="*/ 1 w 1"/>
                <a:gd name="T3" fmla="*/ 2004 h 2004"/>
                <a:gd name="T4" fmla="*/ 0 60000 65536"/>
                <a:gd name="T5" fmla="*/ 0 60000 65536"/>
                <a:gd name="T6" fmla="*/ 0 w 1"/>
                <a:gd name="T7" fmla="*/ 0 h 2004"/>
                <a:gd name="T8" fmla="*/ 1 w 1"/>
                <a:gd name="T9" fmla="*/ 2004 h 2004"/>
              </a:gdLst>
              <a:ahLst/>
              <a:cxnLst>
                <a:cxn ang="T4">
                  <a:pos x="T0" y="T1"/>
                </a:cxn>
                <a:cxn ang="T5">
                  <a:pos x="T2" y="T3"/>
                </a:cxn>
              </a:cxnLst>
              <a:rect l="T6" t="T7" r="T8" b="T9"/>
              <a:pathLst>
                <a:path w="1" h="2004">
                  <a:moveTo>
                    <a:pt x="0" y="0"/>
                  </a:moveTo>
                  <a:lnTo>
                    <a:pt x="1" y="2004"/>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19" name="Freeform 13"/>
            <p:cNvSpPr>
              <a:spLocks/>
            </p:cNvSpPr>
            <p:nvPr/>
          </p:nvSpPr>
          <p:spPr bwMode="auto">
            <a:xfrm>
              <a:off x="3136" y="965"/>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0" name="Freeform 14"/>
            <p:cNvSpPr>
              <a:spLocks/>
            </p:cNvSpPr>
            <p:nvPr/>
          </p:nvSpPr>
          <p:spPr bwMode="auto">
            <a:xfrm>
              <a:off x="3189" y="962"/>
              <a:ext cx="1" cy="1998"/>
            </a:xfrm>
            <a:custGeom>
              <a:avLst/>
              <a:gdLst>
                <a:gd name="T0" fmla="*/ 0 w 1"/>
                <a:gd name="T1" fmla="*/ 0 h 1998"/>
                <a:gd name="T2" fmla="*/ 1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1"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1" name="Freeform 15"/>
            <p:cNvSpPr>
              <a:spLocks/>
            </p:cNvSpPr>
            <p:nvPr/>
          </p:nvSpPr>
          <p:spPr bwMode="auto">
            <a:xfrm>
              <a:off x="3242" y="962"/>
              <a:ext cx="1" cy="2000"/>
            </a:xfrm>
            <a:custGeom>
              <a:avLst/>
              <a:gdLst>
                <a:gd name="T0" fmla="*/ 0 w 1"/>
                <a:gd name="T1" fmla="*/ 0 h 2000"/>
                <a:gd name="T2" fmla="*/ 1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0" y="0"/>
                  </a:moveTo>
                  <a:lnTo>
                    <a:pt x="1"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2" name="Freeform 16"/>
            <p:cNvSpPr>
              <a:spLocks/>
            </p:cNvSpPr>
            <p:nvPr/>
          </p:nvSpPr>
          <p:spPr bwMode="auto">
            <a:xfrm>
              <a:off x="3306" y="960"/>
              <a:ext cx="2" cy="2000"/>
            </a:xfrm>
            <a:custGeom>
              <a:avLst/>
              <a:gdLst>
                <a:gd name="T0" fmla="*/ 0 w 2"/>
                <a:gd name="T1" fmla="*/ 0 h 2000"/>
                <a:gd name="T2" fmla="*/ 2 w 2"/>
                <a:gd name="T3" fmla="*/ 2000 h 2000"/>
                <a:gd name="T4" fmla="*/ 0 60000 65536"/>
                <a:gd name="T5" fmla="*/ 0 60000 65536"/>
                <a:gd name="T6" fmla="*/ 0 w 2"/>
                <a:gd name="T7" fmla="*/ 0 h 2000"/>
                <a:gd name="T8" fmla="*/ 2 w 2"/>
                <a:gd name="T9" fmla="*/ 2000 h 2000"/>
              </a:gdLst>
              <a:ahLst/>
              <a:cxnLst>
                <a:cxn ang="T4">
                  <a:pos x="T0" y="T1"/>
                </a:cxn>
                <a:cxn ang="T5">
                  <a:pos x="T2" y="T3"/>
                </a:cxn>
              </a:cxnLst>
              <a:rect l="T6" t="T7" r="T8" b="T9"/>
              <a:pathLst>
                <a:path w="2" h="2000">
                  <a:moveTo>
                    <a:pt x="0" y="0"/>
                  </a:moveTo>
                  <a:lnTo>
                    <a:pt x="2"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3" name="Freeform 17"/>
            <p:cNvSpPr>
              <a:spLocks/>
            </p:cNvSpPr>
            <p:nvPr/>
          </p:nvSpPr>
          <p:spPr bwMode="auto">
            <a:xfrm>
              <a:off x="3379"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4" name="Freeform 18"/>
            <p:cNvSpPr>
              <a:spLocks/>
            </p:cNvSpPr>
            <p:nvPr/>
          </p:nvSpPr>
          <p:spPr bwMode="auto">
            <a:xfrm>
              <a:off x="3495" y="963"/>
              <a:ext cx="1" cy="2001"/>
            </a:xfrm>
            <a:custGeom>
              <a:avLst/>
              <a:gdLst>
                <a:gd name="T0" fmla="*/ 0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0"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5" name="Freeform 19"/>
            <p:cNvSpPr>
              <a:spLocks/>
            </p:cNvSpPr>
            <p:nvPr/>
          </p:nvSpPr>
          <p:spPr bwMode="auto">
            <a:xfrm>
              <a:off x="3682" y="963"/>
              <a:ext cx="1" cy="1997"/>
            </a:xfrm>
            <a:custGeom>
              <a:avLst/>
              <a:gdLst>
                <a:gd name="T0" fmla="*/ 1 w 1"/>
                <a:gd name="T1" fmla="*/ 0 h 1997"/>
                <a:gd name="T2" fmla="*/ 0 w 1"/>
                <a:gd name="T3" fmla="*/ 1997 h 1997"/>
                <a:gd name="T4" fmla="*/ 0 60000 65536"/>
                <a:gd name="T5" fmla="*/ 0 60000 65536"/>
                <a:gd name="T6" fmla="*/ 0 w 1"/>
                <a:gd name="T7" fmla="*/ 0 h 1997"/>
                <a:gd name="T8" fmla="*/ 1 w 1"/>
                <a:gd name="T9" fmla="*/ 1997 h 1997"/>
              </a:gdLst>
              <a:ahLst/>
              <a:cxnLst>
                <a:cxn ang="T4">
                  <a:pos x="T0" y="T1"/>
                </a:cxn>
                <a:cxn ang="T5">
                  <a:pos x="T2" y="T3"/>
                </a:cxn>
              </a:cxnLst>
              <a:rect l="T6" t="T7" r="T8" b="T9"/>
              <a:pathLst>
                <a:path w="1" h="1997">
                  <a:moveTo>
                    <a:pt x="1"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6" name="Freeform 20"/>
            <p:cNvSpPr>
              <a:spLocks/>
            </p:cNvSpPr>
            <p:nvPr/>
          </p:nvSpPr>
          <p:spPr bwMode="auto">
            <a:xfrm>
              <a:off x="3711" y="962"/>
              <a:ext cx="2" cy="2002"/>
            </a:xfrm>
            <a:custGeom>
              <a:avLst/>
              <a:gdLst>
                <a:gd name="T0" fmla="*/ 2 w 2"/>
                <a:gd name="T1" fmla="*/ 0 h 2002"/>
                <a:gd name="T2" fmla="*/ 0 w 2"/>
                <a:gd name="T3" fmla="*/ 2002 h 2002"/>
                <a:gd name="T4" fmla="*/ 0 60000 65536"/>
                <a:gd name="T5" fmla="*/ 0 60000 65536"/>
                <a:gd name="T6" fmla="*/ 0 w 2"/>
                <a:gd name="T7" fmla="*/ 0 h 2002"/>
                <a:gd name="T8" fmla="*/ 2 w 2"/>
                <a:gd name="T9" fmla="*/ 2002 h 2002"/>
              </a:gdLst>
              <a:ahLst/>
              <a:cxnLst>
                <a:cxn ang="T4">
                  <a:pos x="T0" y="T1"/>
                </a:cxn>
                <a:cxn ang="T5">
                  <a:pos x="T2" y="T3"/>
                </a:cxn>
              </a:cxnLst>
              <a:rect l="T6" t="T7" r="T8" b="T9"/>
              <a:pathLst>
                <a:path w="2" h="2002">
                  <a:moveTo>
                    <a:pt x="2"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7" name="Freeform 21"/>
            <p:cNvSpPr>
              <a:spLocks/>
            </p:cNvSpPr>
            <p:nvPr/>
          </p:nvSpPr>
          <p:spPr bwMode="auto">
            <a:xfrm>
              <a:off x="3747"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8" name="Freeform 22"/>
            <p:cNvSpPr>
              <a:spLocks/>
            </p:cNvSpPr>
            <p:nvPr/>
          </p:nvSpPr>
          <p:spPr bwMode="auto">
            <a:xfrm>
              <a:off x="3786"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9" name="Freeform 23"/>
            <p:cNvSpPr>
              <a:spLocks/>
            </p:cNvSpPr>
            <p:nvPr/>
          </p:nvSpPr>
          <p:spPr bwMode="auto">
            <a:xfrm>
              <a:off x="3840" y="963"/>
              <a:ext cx="1" cy="1997"/>
            </a:xfrm>
            <a:custGeom>
              <a:avLst/>
              <a:gdLst>
                <a:gd name="T0" fmla="*/ 0 w 1"/>
                <a:gd name="T1" fmla="*/ 0 h 1997"/>
                <a:gd name="T2" fmla="*/ 0 w 1"/>
                <a:gd name="T3" fmla="*/ 1997 h 1997"/>
                <a:gd name="T4" fmla="*/ 0 60000 65536"/>
                <a:gd name="T5" fmla="*/ 0 60000 65536"/>
                <a:gd name="T6" fmla="*/ 0 w 1"/>
                <a:gd name="T7" fmla="*/ 0 h 1997"/>
                <a:gd name="T8" fmla="*/ 1 w 1"/>
                <a:gd name="T9" fmla="*/ 1997 h 1997"/>
              </a:gdLst>
              <a:ahLst/>
              <a:cxnLst>
                <a:cxn ang="T4">
                  <a:pos x="T0" y="T1"/>
                </a:cxn>
                <a:cxn ang="T5">
                  <a:pos x="T2" y="T3"/>
                </a:cxn>
              </a:cxnLst>
              <a:rect l="T6" t="T7" r="T8" b="T9"/>
              <a:pathLst>
                <a:path w="1" h="1997">
                  <a:moveTo>
                    <a:pt x="0"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0" name="Freeform 24"/>
            <p:cNvSpPr>
              <a:spLocks/>
            </p:cNvSpPr>
            <p:nvPr/>
          </p:nvSpPr>
          <p:spPr bwMode="auto">
            <a:xfrm>
              <a:off x="3893" y="963"/>
              <a:ext cx="1" cy="1999"/>
            </a:xfrm>
            <a:custGeom>
              <a:avLst/>
              <a:gdLst>
                <a:gd name="T0" fmla="*/ 1 w 1"/>
                <a:gd name="T1" fmla="*/ 0 h 1999"/>
                <a:gd name="T2" fmla="*/ 0 w 1"/>
                <a:gd name="T3" fmla="*/ 1999 h 1999"/>
                <a:gd name="T4" fmla="*/ 0 60000 65536"/>
                <a:gd name="T5" fmla="*/ 0 60000 65536"/>
                <a:gd name="T6" fmla="*/ 0 w 1"/>
                <a:gd name="T7" fmla="*/ 0 h 1999"/>
                <a:gd name="T8" fmla="*/ 1 w 1"/>
                <a:gd name="T9" fmla="*/ 1999 h 1999"/>
              </a:gdLst>
              <a:ahLst/>
              <a:cxnLst>
                <a:cxn ang="T4">
                  <a:pos x="T0" y="T1"/>
                </a:cxn>
                <a:cxn ang="T5">
                  <a:pos x="T2" y="T3"/>
                </a:cxn>
              </a:cxnLst>
              <a:rect l="T6" t="T7" r="T8" b="T9"/>
              <a:pathLst>
                <a:path w="1" h="1999">
                  <a:moveTo>
                    <a:pt x="1"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1" name="Freeform 25"/>
            <p:cNvSpPr>
              <a:spLocks/>
            </p:cNvSpPr>
            <p:nvPr/>
          </p:nvSpPr>
          <p:spPr bwMode="auto">
            <a:xfrm>
              <a:off x="3958" y="968"/>
              <a:ext cx="1" cy="1992"/>
            </a:xfrm>
            <a:custGeom>
              <a:avLst/>
              <a:gdLst>
                <a:gd name="T0" fmla="*/ 1 w 1"/>
                <a:gd name="T1" fmla="*/ 0 h 1992"/>
                <a:gd name="T2" fmla="*/ 0 w 1"/>
                <a:gd name="T3" fmla="*/ 1992 h 1992"/>
                <a:gd name="T4" fmla="*/ 0 60000 65536"/>
                <a:gd name="T5" fmla="*/ 0 60000 65536"/>
                <a:gd name="T6" fmla="*/ 0 w 1"/>
                <a:gd name="T7" fmla="*/ 0 h 1992"/>
                <a:gd name="T8" fmla="*/ 1 w 1"/>
                <a:gd name="T9" fmla="*/ 1992 h 1992"/>
              </a:gdLst>
              <a:ahLst/>
              <a:cxnLst>
                <a:cxn ang="T4">
                  <a:pos x="T0" y="T1"/>
                </a:cxn>
                <a:cxn ang="T5">
                  <a:pos x="T2" y="T3"/>
                </a:cxn>
              </a:cxnLst>
              <a:rect l="T6" t="T7" r="T8" b="T9"/>
              <a:pathLst>
                <a:path w="1" h="1992">
                  <a:moveTo>
                    <a:pt x="1" y="0"/>
                  </a:moveTo>
                  <a:lnTo>
                    <a:pt x="0" y="199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2" name="Freeform 26"/>
            <p:cNvSpPr>
              <a:spLocks/>
            </p:cNvSpPr>
            <p:nvPr/>
          </p:nvSpPr>
          <p:spPr bwMode="auto">
            <a:xfrm>
              <a:off x="4029"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3" name="Freeform 27"/>
            <p:cNvSpPr>
              <a:spLocks/>
            </p:cNvSpPr>
            <p:nvPr/>
          </p:nvSpPr>
          <p:spPr bwMode="auto">
            <a:xfrm>
              <a:off x="4145" y="962"/>
              <a:ext cx="1" cy="1998"/>
            </a:xfrm>
            <a:custGeom>
              <a:avLst/>
              <a:gdLst>
                <a:gd name="T0" fmla="*/ 1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1"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4" name="Freeform 28"/>
            <p:cNvSpPr>
              <a:spLocks/>
            </p:cNvSpPr>
            <p:nvPr/>
          </p:nvSpPr>
          <p:spPr bwMode="auto">
            <a:xfrm>
              <a:off x="4317" y="962"/>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5" name="Freeform 29"/>
            <p:cNvSpPr>
              <a:spLocks/>
            </p:cNvSpPr>
            <p:nvPr/>
          </p:nvSpPr>
          <p:spPr bwMode="auto">
            <a:xfrm>
              <a:off x="4346"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6" name="Freeform 30"/>
            <p:cNvSpPr>
              <a:spLocks/>
            </p:cNvSpPr>
            <p:nvPr/>
          </p:nvSpPr>
          <p:spPr bwMode="auto">
            <a:xfrm>
              <a:off x="4382" y="963"/>
              <a:ext cx="1" cy="2003"/>
            </a:xfrm>
            <a:custGeom>
              <a:avLst/>
              <a:gdLst>
                <a:gd name="T0" fmla="*/ 0 w 1"/>
                <a:gd name="T1" fmla="*/ 0 h 2003"/>
                <a:gd name="T2" fmla="*/ 0 w 1"/>
                <a:gd name="T3" fmla="*/ 2003 h 2003"/>
                <a:gd name="T4" fmla="*/ 0 60000 65536"/>
                <a:gd name="T5" fmla="*/ 0 60000 65536"/>
                <a:gd name="T6" fmla="*/ 0 w 1"/>
                <a:gd name="T7" fmla="*/ 0 h 2003"/>
                <a:gd name="T8" fmla="*/ 1 w 1"/>
                <a:gd name="T9" fmla="*/ 2003 h 2003"/>
              </a:gdLst>
              <a:ahLst/>
              <a:cxnLst>
                <a:cxn ang="T4">
                  <a:pos x="T0" y="T1"/>
                </a:cxn>
                <a:cxn ang="T5">
                  <a:pos x="T2" y="T3"/>
                </a:cxn>
              </a:cxnLst>
              <a:rect l="T6" t="T7" r="T8" b="T9"/>
              <a:pathLst>
                <a:path w="1" h="2003">
                  <a:moveTo>
                    <a:pt x="0" y="0"/>
                  </a:moveTo>
                  <a:lnTo>
                    <a:pt x="0" y="2003"/>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7" name="Freeform 31"/>
            <p:cNvSpPr>
              <a:spLocks/>
            </p:cNvSpPr>
            <p:nvPr/>
          </p:nvSpPr>
          <p:spPr bwMode="auto">
            <a:xfrm>
              <a:off x="4421" y="965"/>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8" name="Freeform 32"/>
            <p:cNvSpPr>
              <a:spLocks/>
            </p:cNvSpPr>
            <p:nvPr/>
          </p:nvSpPr>
          <p:spPr bwMode="auto">
            <a:xfrm>
              <a:off x="4475" y="965"/>
              <a:ext cx="1" cy="1995"/>
            </a:xfrm>
            <a:custGeom>
              <a:avLst/>
              <a:gdLst>
                <a:gd name="T0" fmla="*/ 1 w 1"/>
                <a:gd name="T1" fmla="*/ 0 h 1995"/>
                <a:gd name="T2" fmla="*/ 0 w 1"/>
                <a:gd name="T3" fmla="*/ 1995 h 1995"/>
                <a:gd name="T4" fmla="*/ 0 60000 65536"/>
                <a:gd name="T5" fmla="*/ 0 60000 65536"/>
                <a:gd name="T6" fmla="*/ 0 w 1"/>
                <a:gd name="T7" fmla="*/ 0 h 1995"/>
                <a:gd name="T8" fmla="*/ 1 w 1"/>
                <a:gd name="T9" fmla="*/ 1995 h 1995"/>
              </a:gdLst>
              <a:ahLst/>
              <a:cxnLst>
                <a:cxn ang="T4">
                  <a:pos x="T0" y="T1"/>
                </a:cxn>
                <a:cxn ang="T5">
                  <a:pos x="T2" y="T3"/>
                </a:cxn>
              </a:cxnLst>
              <a:rect l="T6" t="T7" r="T8" b="T9"/>
              <a:pathLst>
                <a:path w="1" h="1995">
                  <a:moveTo>
                    <a:pt x="1" y="0"/>
                  </a:moveTo>
                  <a:lnTo>
                    <a:pt x="0" y="199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39" name="Freeform 33"/>
            <p:cNvSpPr>
              <a:spLocks/>
            </p:cNvSpPr>
            <p:nvPr/>
          </p:nvSpPr>
          <p:spPr bwMode="auto">
            <a:xfrm>
              <a:off x="4528" y="963"/>
              <a:ext cx="2" cy="1999"/>
            </a:xfrm>
            <a:custGeom>
              <a:avLst/>
              <a:gdLst>
                <a:gd name="T0" fmla="*/ 2 w 2"/>
                <a:gd name="T1" fmla="*/ 0 h 1999"/>
                <a:gd name="T2" fmla="*/ 0 w 2"/>
                <a:gd name="T3" fmla="*/ 1999 h 1999"/>
                <a:gd name="T4" fmla="*/ 0 60000 65536"/>
                <a:gd name="T5" fmla="*/ 0 60000 65536"/>
                <a:gd name="T6" fmla="*/ 0 w 2"/>
                <a:gd name="T7" fmla="*/ 0 h 1999"/>
                <a:gd name="T8" fmla="*/ 2 w 2"/>
                <a:gd name="T9" fmla="*/ 1999 h 1999"/>
              </a:gdLst>
              <a:ahLst/>
              <a:cxnLst>
                <a:cxn ang="T4">
                  <a:pos x="T0" y="T1"/>
                </a:cxn>
                <a:cxn ang="T5">
                  <a:pos x="T2" y="T3"/>
                </a:cxn>
              </a:cxnLst>
              <a:rect l="T6" t="T7" r="T8" b="T9"/>
              <a:pathLst>
                <a:path w="2" h="1999">
                  <a:moveTo>
                    <a:pt x="2"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40" name="Freeform 34"/>
            <p:cNvSpPr>
              <a:spLocks/>
            </p:cNvSpPr>
            <p:nvPr/>
          </p:nvSpPr>
          <p:spPr bwMode="auto">
            <a:xfrm>
              <a:off x="4593" y="965"/>
              <a:ext cx="1" cy="1995"/>
            </a:xfrm>
            <a:custGeom>
              <a:avLst/>
              <a:gdLst>
                <a:gd name="T0" fmla="*/ 0 w 1"/>
                <a:gd name="T1" fmla="*/ 0 h 1995"/>
                <a:gd name="T2" fmla="*/ 0 w 1"/>
                <a:gd name="T3" fmla="*/ 1995 h 1995"/>
                <a:gd name="T4" fmla="*/ 0 60000 65536"/>
                <a:gd name="T5" fmla="*/ 0 60000 65536"/>
                <a:gd name="T6" fmla="*/ 0 w 1"/>
                <a:gd name="T7" fmla="*/ 0 h 1995"/>
                <a:gd name="T8" fmla="*/ 1 w 1"/>
                <a:gd name="T9" fmla="*/ 1995 h 1995"/>
              </a:gdLst>
              <a:ahLst/>
              <a:cxnLst>
                <a:cxn ang="T4">
                  <a:pos x="T0" y="T1"/>
                </a:cxn>
                <a:cxn ang="T5">
                  <a:pos x="T2" y="T3"/>
                </a:cxn>
              </a:cxnLst>
              <a:rect l="T6" t="T7" r="T8" b="T9"/>
              <a:pathLst>
                <a:path w="1" h="1995">
                  <a:moveTo>
                    <a:pt x="0" y="0"/>
                  </a:moveTo>
                  <a:lnTo>
                    <a:pt x="0" y="199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41" name="Freeform 35"/>
            <p:cNvSpPr>
              <a:spLocks/>
            </p:cNvSpPr>
            <p:nvPr/>
          </p:nvSpPr>
          <p:spPr bwMode="auto">
            <a:xfrm>
              <a:off x="4664" y="966"/>
              <a:ext cx="1" cy="2000"/>
            </a:xfrm>
            <a:custGeom>
              <a:avLst/>
              <a:gdLst>
                <a:gd name="T0" fmla="*/ 0 w 1"/>
                <a:gd name="T1" fmla="*/ 0 h 2000"/>
                <a:gd name="T2" fmla="*/ 0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0" y="0"/>
                  </a:moveTo>
                  <a:lnTo>
                    <a:pt x="0"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42" name="Freeform 36"/>
            <p:cNvSpPr>
              <a:spLocks/>
            </p:cNvSpPr>
            <p:nvPr/>
          </p:nvSpPr>
          <p:spPr bwMode="auto">
            <a:xfrm>
              <a:off x="4780" y="965"/>
              <a:ext cx="1" cy="1999"/>
            </a:xfrm>
            <a:custGeom>
              <a:avLst/>
              <a:gdLst>
                <a:gd name="T0" fmla="*/ 1 w 1"/>
                <a:gd name="T1" fmla="*/ 0 h 1999"/>
                <a:gd name="T2" fmla="*/ 0 w 1"/>
                <a:gd name="T3" fmla="*/ 1999 h 1999"/>
                <a:gd name="T4" fmla="*/ 0 60000 65536"/>
                <a:gd name="T5" fmla="*/ 0 60000 65536"/>
                <a:gd name="T6" fmla="*/ 0 w 1"/>
                <a:gd name="T7" fmla="*/ 0 h 1999"/>
                <a:gd name="T8" fmla="*/ 1 w 1"/>
                <a:gd name="T9" fmla="*/ 1999 h 1999"/>
              </a:gdLst>
              <a:ahLst/>
              <a:cxnLst>
                <a:cxn ang="T4">
                  <a:pos x="T0" y="T1"/>
                </a:cxn>
                <a:cxn ang="T5">
                  <a:pos x="T2" y="T3"/>
                </a:cxn>
              </a:cxnLst>
              <a:rect l="T6" t="T7" r="T8" b="T9"/>
              <a:pathLst>
                <a:path w="1" h="1999">
                  <a:moveTo>
                    <a:pt x="1" y="0"/>
                  </a:moveTo>
                  <a:lnTo>
                    <a:pt x="0" y="1999"/>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43" name="Freeform 37"/>
            <p:cNvSpPr>
              <a:spLocks/>
            </p:cNvSpPr>
            <p:nvPr/>
          </p:nvSpPr>
          <p:spPr bwMode="auto">
            <a:xfrm>
              <a:off x="4959" y="963"/>
              <a:ext cx="2" cy="1997"/>
            </a:xfrm>
            <a:custGeom>
              <a:avLst/>
              <a:gdLst>
                <a:gd name="T0" fmla="*/ 2 w 2"/>
                <a:gd name="T1" fmla="*/ 0 h 1997"/>
                <a:gd name="T2" fmla="*/ 0 w 2"/>
                <a:gd name="T3" fmla="*/ 1997 h 1997"/>
                <a:gd name="T4" fmla="*/ 0 60000 65536"/>
                <a:gd name="T5" fmla="*/ 0 60000 65536"/>
                <a:gd name="T6" fmla="*/ 0 w 2"/>
                <a:gd name="T7" fmla="*/ 0 h 1997"/>
                <a:gd name="T8" fmla="*/ 2 w 2"/>
                <a:gd name="T9" fmla="*/ 1997 h 1997"/>
              </a:gdLst>
              <a:ahLst/>
              <a:cxnLst>
                <a:cxn ang="T4">
                  <a:pos x="T0" y="T1"/>
                </a:cxn>
                <a:cxn ang="T5">
                  <a:pos x="T2" y="T3"/>
                </a:cxn>
              </a:cxnLst>
              <a:rect l="T6" t="T7" r="T8" b="T9"/>
              <a:pathLst>
                <a:path w="2" h="1997">
                  <a:moveTo>
                    <a:pt x="2" y="0"/>
                  </a:moveTo>
                  <a:lnTo>
                    <a:pt x="0" y="1997"/>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44" name="Freeform 38"/>
            <p:cNvSpPr>
              <a:spLocks/>
            </p:cNvSpPr>
            <p:nvPr/>
          </p:nvSpPr>
          <p:spPr bwMode="auto">
            <a:xfrm>
              <a:off x="4988"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45" name="Freeform 39"/>
            <p:cNvSpPr>
              <a:spLocks/>
            </p:cNvSpPr>
            <p:nvPr/>
          </p:nvSpPr>
          <p:spPr bwMode="auto">
            <a:xfrm>
              <a:off x="5024"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46" name="Freeform 40"/>
            <p:cNvSpPr>
              <a:spLocks/>
            </p:cNvSpPr>
            <p:nvPr/>
          </p:nvSpPr>
          <p:spPr bwMode="auto">
            <a:xfrm>
              <a:off x="5063"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47" name="Freeform 41"/>
            <p:cNvSpPr>
              <a:spLocks/>
            </p:cNvSpPr>
            <p:nvPr/>
          </p:nvSpPr>
          <p:spPr bwMode="auto">
            <a:xfrm>
              <a:off x="5117" y="962"/>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48" name="Freeform 42"/>
            <p:cNvSpPr>
              <a:spLocks/>
            </p:cNvSpPr>
            <p:nvPr/>
          </p:nvSpPr>
          <p:spPr bwMode="auto">
            <a:xfrm>
              <a:off x="5170" y="962"/>
              <a:ext cx="1" cy="2000"/>
            </a:xfrm>
            <a:custGeom>
              <a:avLst/>
              <a:gdLst>
                <a:gd name="T0" fmla="*/ 1 w 1"/>
                <a:gd name="T1" fmla="*/ 0 h 2000"/>
                <a:gd name="T2" fmla="*/ 0 w 1"/>
                <a:gd name="T3" fmla="*/ 2000 h 2000"/>
                <a:gd name="T4" fmla="*/ 0 60000 65536"/>
                <a:gd name="T5" fmla="*/ 0 60000 65536"/>
                <a:gd name="T6" fmla="*/ 0 w 1"/>
                <a:gd name="T7" fmla="*/ 0 h 2000"/>
                <a:gd name="T8" fmla="*/ 1 w 1"/>
                <a:gd name="T9" fmla="*/ 2000 h 2000"/>
              </a:gdLst>
              <a:ahLst/>
              <a:cxnLst>
                <a:cxn ang="T4">
                  <a:pos x="T0" y="T1"/>
                </a:cxn>
                <a:cxn ang="T5">
                  <a:pos x="T2" y="T3"/>
                </a:cxn>
              </a:cxnLst>
              <a:rect l="T6" t="T7" r="T8" b="T9"/>
              <a:pathLst>
                <a:path w="1" h="2000">
                  <a:moveTo>
                    <a:pt x="1" y="0"/>
                  </a:moveTo>
                  <a:lnTo>
                    <a:pt x="0" y="2000"/>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49" name="Freeform 43"/>
            <p:cNvSpPr>
              <a:spLocks/>
            </p:cNvSpPr>
            <p:nvPr/>
          </p:nvSpPr>
          <p:spPr bwMode="auto">
            <a:xfrm>
              <a:off x="5235" y="962"/>
              <a:ext cx="1" cy="1998"/>
            </a:xfrm>
            <a:custGeom>
              <a:avLst/>
              <a:gdLst>
                <a:gd name="T0" fmla="*/ 0 w 1"/>
                <a:gd name="T1" fmla="*/ 0 h 1998"/>
                <a:gd name="T2" fmla="*/ 0 w 1"/>
                <a:gd name="T3" fmla="*/ 1998 h 1998"/>
                <a:gd name="T4" fmla="*/ 0 60000 65536"/>
                <a:gd name="T5" fmla="*/ 0 60000 65536"/>
                <a:gd name="T6" fmla="*/ 0 w 1"/>
                <a:gd name="T7" fmla="*/ 0 h 1998"/>
                <a:gd name="T8" fmla="*/ 1 w 1"/>
                <a:gd name="T9" fmla="*/ 1998 h 1998"/>
              </a:gdLst>
              <a:ahLst/>
              <a:cxnLst>
                <a:cxn ang="T4">
                  <a:pos x="T0" y="T1"/>
                </a:cxn>
                <a:cxn ang="T5">
                  <a:pos x="T2" y="T3"/>
                </a:cxn>
              </a:cxnLst>
              <a:rect l="T6" t="T7" r="T8" b="T9"/>
              <a:pathLst>
                <a:path w="1" h="1998">
                  <a:moveTo>
                    <a:pt x="0" y="0"/>
                  </a:moveTo>
                  <a:lnTo>
                    <a:pt x="0" y="1998"/>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50" name="Freeform 44"/>
            <p:cNvSpPr>
              <a:spLocks/>
            </p:cNvSpPr>
            <p:nvPr/>
          </p:nvSpPr>
          <p:spPr bwMode="auto">
            <a:xfrm>
              <a:off x="5306" y="961"/>
              <a:ext cx="1" cy="2005"/>
            </a:xfrm>
            <a:custGeom>
              <a:avLst/>
              <a:gdLst>
                <a:gd name="T0" fmla="*/ 0 w 1"/>
                <a:gd name="T1" fmla="*/ 0 h 2005"/>
                <a:gd name="T2" fmla="*/ 0 w 1"/>
                <a:gd name="T3" fmla="*/ 2005 h 2005"/>
                <a:gd name="T4" fmla="*/ 0 60000 65536"/>
                <a:gd name="T5" fmla="*/ 0 60000 65536"/>
                <a:gd name="T6" fmla="*/ 0 w 1"/>
                <a:gd name="T7" fmla="*/ 0 h 2005"/>
                <a:gd name="T8" fmla="*/ 1 w 1"/>
                <a:gd name="T9" fmla="*/ 2005 h 2005"/>
              </a:gdLst>
              <a:ahLst/>
              <a:cxnLst>
                <a:cxn ang="T4">
                  <a:pos x="T0" y="T1"/>
                </a:cxn>
                <a:cxn ang="T5">
                  <a:pos x="T2" y="T3"/>
                </a:cxn>
              </a:cxnLst>
              <a:rect l="T6" t="T7" r="T8" b="T9"/>
              <a:pathLst>
                <a:path w="1" h="2005">
                  <a:moveTo>
                    <a:pt x="0" y="0"/>
                  </a:moveTo>
                  <a:lnTo>
                    <a:pt x="0" y="2005"/>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51" name="Freeform 45"/>
            <p:cNvSpPr>
              <a:spLocks/>
            </p:cNvSpPr>
            <p:nvPr/>
          </p:nvSpPr>
          <p:spPr bwMode="auto">
            <a:xfrm>
              <a:off x="5422" y="963"/>
              <a:ext cx="1" cy="2001"/>
            </a:xfrm>
            <a:custGeom>
              <a:avLst/>
              <a:gdLst>
                <a:gd name="T0" fmla="*/ 1 w 1"/>
                <a:gd name="T1" fmla="*/ 0 h 2001"/>
                <a:gd name="T2" fmla="*/ 0 w 1"/>
                <a:gd name="T3" fmla="*/ 2001 h 2001"/>
                <a:gd name="T4" fmla="*/ 0 60000 65536"/>
                <a:gd name="T5" fmla="*/ 0 60000 65536"/>
                <a:gd name="T6" fmla="*/ 0 w 1"/>
                <a:gd name="T7" fmla="*/ 0 h 2001"/>
                <a:gd name="T8" fmla="*/ 1 w 1"/>
                <a:gd name="T9" fmla="*/ 2001 h 2001"/>
              </a:gdLst>
              <a:ahLst/>
              <a:cxnLst>
                <a:cxn ang="T4">
                  <a:pos x="T0" y="T1"/>
                </a:cxn>
                <a:cxn ang="T5">
                  <a:pos x="T2" y="T3"/>
                </a:cxn>
              </a:cxnLst>
              <a:rect l="T6" t="T7" r="T8" b="T9"/>
              <a:pathLst>
                <a:path w="1" h="2001">
                  <a:moveTo>
                    <a:pt x="1" y="0"/>
                  </a:moveTo>
                  <a:lnTo>
                    <a:pt x="0" y="2001"/>
                  </a:ln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52" name="Freeform 46"/>
            <p:cNvSpPr>
              <a:spLocks/>
            </p:cNvSpPr>
            <p:nvPr/>
          </p:nvSpPr>
          <p:spPr bwMode="auto">
            <a:xfrm>
              <a:off x="5613" y="962"/>
              <a:ext cx="1" cy="2002"/>
            </a:xfrm>
            <a:custGeom>
              <a:avLst/>
              <a:gdLst>
                <a:gd name="T0" fmla="*/ 0 w 1"/>
                <a:gd name="T1" fmla="*/ 0 h 2002"/>
                <a:gd name="T2" fmla="*/ 0 w 1"/>
                <a:gd name="T3" fmla="*/ 2002 h 2002"/>
                <a:gd name="T4" fmla="*/ 0 60000 65536"/>
                <a:gd name="T5" fmla="*/ 0 60000 65536"/>
                <a:gd name="T6" fmla="*/ 0 w 1"/>
                <a:gd name="T7" fmla="*/ 0 h 2002"/>
                <a:gd name="T8" fmla="*/ 1 w 1"/>
                <a:gd name="T9" fmla="*/ 2002 h 2002"/>
              </a:gdLst>
              <a:ahLst/>
              <a:cxnLst>
                <a:cxn ang="T4">
                  <a:pos x="T0" y="T1"/>
                </a:cxn>
                <a:cxn ang="T5">
                  <a:pos x="T2" y="T3"/>
                </a:cxn>
              </a:cxnLst>
              <a:rect l="T6" t="T7" r="T8" b="T9"/>
              <a:pathLst>
                <a:path w="1" h="2002">
                  <a:moveTo>
                    <a:pt x="0" y="0"/>
                  </a:moveTo>
                  <a:lnTo>
                    <a:pt x="0" y="200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53" name="Line 47"/>
            <p:cNvSpPr>
              <a:spLocks noChangeShapeType="1"/>
            </p:cNvSpPr>
            <p:nvPr/>
          </p:nvSpPr>
          <p:spPr bwMode="auto">
            <a:xfrm>
              <a:off x="3028" y="963"/>
              <a:ext cx="258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4" name="Line 48"/>
            <p:cNvSpPr>
              <a:spLocks noChangeShapeType="1"/>
            </p:cNvSpPr>
            <p:nvPr/>
          </p:nvSpPr>
          <p:spPr bwMode="auto">
            <a:xfrm>
              <a:off x="3032" y="2964"/>
              <a:ext cx="258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5" name="Line 49"/>
            <p:cNvSpPr>
              <a:spLocks noChangeShapeType="1"/>
            </p:cNvSpPr>
            <p:nvPr/>
          </p:nvSpPr>
          <p:spPr bwMode="auto">
            <a:xfrm>
              <a:off x="3024" y="105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6" name="Line 50"/>
            <p:cNvSpPr>
              <a:spLocks noChangeShapeType="1"/>
            </p:cNvSpPr>
            <p:nvPr/>
          </p:nvSpPr>
          <p:spPr bwMode="auto">
            <a:xfrm>
              <a:off x="3028" y="115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7" name="Line 51"/>
            <p:cNvSpPr>
              <a:spLocks noChangeShapeType="1"/>
            </p:cNvSpPr>
            <p:nvPr/>
          </p:nvSpPr>
          <p:spPr bwMode="auto">
            <a:xfrm>
              <a:off x="3024" y="1253"/>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8" name="Line 52"/>
            <p:cNvSpPr>
              <a:spLocks noChangeShapeType="1"/>
            </p:cNvSpPr>
            <p:nvPr/>
          </p:nvSpPr>
          <p:spPr bwMode="auto">
            <a:xfrm>
              <a:off x="3032" y="13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9" name="Line 53"/>
            <p:cNvSpPr>
              <a:spLocks noChangeShapeType="1"/>
            </p:cNvSpPr>
            <p:nvPr/>
          </p:nvSpPr>
          <p:spPr bwMode="auto">
            <a:xfrm>
              <a:off x="3028" y="145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0" name="Line 54"/>
            <p:cNvSpPr>
              <a:spLocks noChangeShapeType="1"/>
            </p:cNvSpPr>
            <p:nvPr/>
          </p:nvSpPr>
          <p:spPr bwMode="auto">
            <a:xfrm>
              <a:off x="3028" y="155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1" name="Line 55"/>
            <p:cNvSpPr>
              <a:spLocks noChangeShapeType="1"/>
            </p:cNvSpPr>
            <p:nvPr/>
          </p:nvSpPr>
          <p:spPr bwMode="auto">
            <a:xfrm>
              <a:off x="3025" y="1655"/>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2" name="Line 56"/>
            <p:cNvSpPr>
              <a:spLocks noChangeShapeType="1"/>
            </p:cNvSpPr>
            <p:nvPr/>
          </p:nvSpPr>
          <p:spPr bwMode="auto">
            <a:xfrm>
              <a:off x="3028" y="175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3" name="Line 57"/>
            <p:cNvSpPr>
              <a:spLocks noChangeShapeType="1"/>
            </p:cNvSpPr>
            <p:nvPr/>
          </p:nvSpPr>
          <p:spPr bwMode="auto">
            <a:xfrm>
              <a:off x="3025" y="18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4" name="Line 58"/>
            <p:cNvSpPr>
              <a:spLocks noChangeShapeType="1"/>
            </p:cNvSpPr>
            <p:nvPr/>
          </p:nvSpPr>
          <p:spPr bwMode="auto">
            <a:xfrm>
              <a:off x="3024" y="1964"/>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5" name="Line 59"/>
            <p:cNvSpPr>
              <a:spLocks noChangeShapeType="1"/>
            </p:cNvSpPr>
            <p:nvPr/>
          </p:nvSpPr>
          <p:spPr bwMode="auto">
            <a:xfrm>
              <a:off x="3024" y="20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6" name="Line 60"/>
            <p:cNvSpPr>
              <a:spLocks noChangeShapeType="1"/>
            </p:cNvSpPr>
            <p:nvPr/>
          </p:nvSpPr>
          <p:spPr bwMode="auto">
            <a:xfrm>
              <a:off x="3025" y="2157"/>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7" name="Line 61"/>
            <p:cNvSpPr>
              <a:spLocks noChangeShapeType="1"/>
            </p:cNvSpPr>
            <p:nvPr/>
          </p:nvSpPr>
          <p:spPr bwMode="auto">
            <a:xfrm>
              <a:off x="3025" y="2260"/>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8" name="Line 62"/>
            <p:cNvSpPr>
              <a:spLocks noChangeShapeType="1"/>
            </p:cNvSpPr>
            <p:nvPr/>
          </p:nvSpPr>
          <p:spPr bwMode="auto">
            <a:xfrm>
              <a:off x="3024" y="23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9" name="Line 63"/>
            <p:cNvSpPr>
              <a:spLocks noChangeShapeType="1"/>
            </p:cNvSpPr>
            <p:nvPr/>
          </p:nvSpPr>
          <p:spPr bwMode="auto">
            <a:xfrm>
              <a:off x="3024" y="2466"/>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0" name="Line 64"/>
            <p:cNvSpPr>
              <a:spLocks noChangeShapeType="1"/>
            </p:cNvSpPr>
            <p:nvPr/>
          </p:nvSpPr>
          <p:spPr bwMode="auto">
            <a:xfrm>
              <a:off x="3031" y="25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1" name="Line 65"/>
            <p:cNvSpPr>
              <a:spLocks noChangeShapeType="1"/>
            </p:cNvSpPr>
            <p:nvPr/>
          </p:nvSpPr>
          <p:spPr bwMode="auto">
            <a:xfrm>
              <a:off x="3024" y="2662"/>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2" name="Line 66"/>
            <p:cNvSpPr>
              <a:spLocks noChangeShapeType="1"/>
            </p:cNvSpPr>
            <p:nvPr/>
          </p:nvSpPr>
          <p:spPr bwMode="auto">
            <a:xfrm>
              <a:off x="3026" y="276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3" name="Line 67"/>
            <p:cNvSpPr>
              <a:spLocks noChangeShapeType="1"/>
            </p:cNvSpPr>
            <p:nvPr/>
          </p:nvSpPr>
          <p:spPr bwMode="auto">
            <a:xfrm>
              <a:off x="3026" y="2868"/>
              <a:ext cx="258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grpSp>
        <p:nvGrpSpPr>
          <p:cNvPr id="174" name="Group 69"/>
          <p:cNvGrpSpPr>
            <a:grpSpLocks/>
          </p:cNvGrpSpPr>
          <p:nvPr/>
        </p:nvGrpSpPr>
        <p:grpSpPr bwMode="auto">
          <a:xfrm>
            <a:off x="4310058" y="1264894"/>
            <a:ext cx="415926" cy="3467100"/>
            <a:chOff x="2408" y="648"/>
            <a:chExt cx="262" cy="2184"/>
          </a:xfrm>
        </p:grpSpPr>
        <p:sp>
          <p:nvSpPr>
            <p:cNvPr id="175" name="Text Box 70"/>
            <p:cNvSpPr txBox="1">
              <a:spLocks noChangeArrowheads="1"/>
            </p:cNvSpPr>
            <p:nvPr/>
          </p:nvSpPr>
          <p:spPr bwMode="auto">
            <a:xfrm>
              <a:off x="2408" y="648"/>
              <a:ext cx="24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100</a:t>
              </a:r>
            </a:p>
          </p:txBody>
        </p:sp>
        <p:sp>
          <p:nvSpPr>
            <p:cNvPr id="176" name="Text Box 71"/>
            <p:cNvSpPr txBox="1">
              <a:spLocks noChangeArrowheads="1"/>
            </p:cNvSpPr>
            <p:nvPr/>
          </p:nvSpPr>
          <p:spPr bwMode="auto">
            <a:xfrm>
              <a:off x="2483" y="854"/>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90</a:t>
              </a:r>
            </a:p>
          </p:txBody>
        </p:sp>
        <p:sp>
          <p:nvSpPr>
            <p:cNvPr id="177" name="Text Box 72"/>
            <p:cNvSpPr txBox="1">
              <a:spLocks noChangeArrowheads="1"/>
            </p:cNvSpPr>
            <p:nvPr/>
          </p:nvSpPr>
          <p:spPr bwMode="auto">
            <a:xfrm>
              <a:off x="2481" y="1061"/>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80</a:t>
              </a:r>
            </a:p>
          </p:txBody>
        </p:sp>
        <p:sp>
          <p:nvSpPr>
            <p:cNvPr id="178" name="Text Box 73"/>
            <p:cNvSpPr txBox="1">
              <a:spLocks noChangeArrowheads="1"/>
            </p:cNvSpPr>
            <p:nvPr/>
          </p:nvSpPr>
          <p:spPr bwMode="auto">
            <a:xfrm>
              <a:off x="2483" y="1247"/>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70</a:t>
              </a:r>
            </a:p>
          </p:txBody>
        </p:sp>
        <p:sp>
          <p:nvSpPr>
            <p:cNvPr id="179" name="Text Box 74"/>
            <p:cNvSpPr txBox="1">
              <a:spLocks noChangeArrowheads="1"/>
            </p:cNvSpPr>
            <p:nvPr/>
          </p:nvSpPr>
          <p:spPr bwMode="auto">
            <a:xfrm>
              <a:off x="2492" y="1450"/>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60</a:t>
              </a:r>
            </a:p>
          </p:txBody>
        </p:sp>
        <p:sp>
          <p:nvSpPr>
            <p:cNvPr id="180" name="Text Box 75"/>
            <p:cNvSpPr txBox="1">
              <a:spLocks noChangeArrowheads="1"/>
            </p:cNvSpPr>
            <p:nvPr/>
          </p:nvSpPr>
          <p:spPr bwMode="auto">
            <a:xfrm>
              <a:off x="2493" y="1661"/>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50</a:t>
              </a:r>
            </a:p>
          </p:txBody>
        </p:sp>
        <p:sp>
          <p:nvSpPr>
            <p:cNvPr id="181" name="Text Box 76"/>
            <p:cNvSpPr txBox="1">
              <a:spLocks noChangeArrowheads="1"/>
            </p:cNvSpPr>
            <p:nvPr/>
          </p:nvSpPr>
          <p:spPr bwMode="auto">
            <a:xfrm>
              <a:off x="2496" y="1855"/>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40</a:t>
              </a:r>
            </a:p>
          </p:txBody>
        </p:sp>
        <p:sp>
          <p:nvSpPr>
            <p:cNvPr id="182" name="Text Box 77"/>
            <p:cNvSpPr txBox="1">
              <a:spLocks noChangeArrowheads="1"/>
            </p:cNvSpPr>
            <p:nvPr/>
          </p:nvSpPr>
          <p:spPr bwMode="auto">
            <a:xfrm>
              <a:off x="2498" y="2057"/>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30</a:t>
              </a:r>
            </a:p>
          </p:txBody>
        </p:sp>
        <p:sp>
          <p:nvSpPr>
            <p:cNvPr id="183" name="Text Box 78"/>
            <p:cNvSpPr txBox="1">
              <a:spLocks noChangeArrowheads="1"/>
            </p:cNvSpPr>
            <p:nvPr/>
          </p:nvSpPr>
          <p:spPr bwMode="auto">
            <a:xfrm>
              <a:off x="2501" y="2260"/>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20</a:t>
              </a:r>
            </a:p>
          </p:txBody>
        </p:sp>
        <p:sp>
          <p:nvSpPr>
            <p:cNvPr id="184" name="Text Box 79"/>
            <p:cNvSpPr txBox="1">
              <a:spLocks noChangeArrowheads="1"/>
            </p:cNvSpPr>
            <p:nvPr/>
          </p:nvSpPr>
          <p:spPr bwMode="auto">
            <a:xfrm>
              <a:off x="2508" y="2463"/>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10</a:t>
              </a:r>
            </a:p>
          </p:txBody>
        </p:sp>
        <p:sp>
          <p:nvSpPr>
            <p:cNvPr id="185" name="Text Box 80"/>
            <p:cNvSpPr txBox="1">
              <a:spLocks noChangeArrowheads="1"/>
            </p:cNvSpPr>
            <p:nvPr/>
          </p:nvSpPr>
          <p:spPr bwMode="auto">
            <a:xfrm>
              <a:off x="2583" y="2638"/>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itchFamily="18" charset="0"/>
                </a:rPr>
                <a:t>0</a:t>
              </a:r>
            </a:p>
          </p:txBody>
        </p:sp>
      </p:grpSp>
      <p:sp>
        <p:nvSpPr>
          <p:cNvPr id="186" name="Text Box 81"/>
          <p:cNvSpPr txBox="1">
            <a:spLocks noChangeArrowheads="1"/>
          </p:cNvSpPr>
          <p:nvPr/>
        </p:nvSpPr>
        <p:spPr bwMode="auto">
          <a:xfrm rot="16200000">
            <a:off x="2239486" y="2959650"/>
            <a:ext cx="38712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a:solidFill>
                  <a:srgbClr val="000066"/>
                </a:solidFill>
                <a:ea typeface="幼圆" pitchFamily="49" charset="-122"/>
                <a:cs typeface="Times New Roman" pitchFamily="18" charset="0"/>
              </a:rPr>
              <a:t>小于某粒径之土质量百分数（％）</a:t>
            </a:r>
            <a:endParaRPr kumimoji="1" lang="en-US" altLang="zh-CN" sz="2000" b="1" dirty="0">
              <a:solidFill>
                <a:srgbClr val="000066"/>
              </a:solidFill>
              <a:ea typeface="幼圆" pitchFamily="49" charset="-122"/>
              <a:cs typeface="Times New Roman" pitchFamily="18" charset="0"/>
            </a:endParaRPr>
          </a:p>
        </p:txBody>
      </p:sp>
      <p:grpSp>
        <p:nvGrpSpPr>
          <p:cNvPr id="187" name="Group 82"/>
          <p:cNvGrpSpPr>
            <a:grpSpLocks/>
          </p:cNvGrpSpPr>
          <p:nvPr/>
        </p:nvGrpSpPr>
        <p:grpSpPr bwMode="auto">
          <a:xfrm>
            <a:off x="4689448" y="4716119"/>
            <a:ext cx="4414836" cy="596900"/>
            <a:chOff x="2652" y="2822"/>
            <a:chExt cx="2781" cy="376"/>
          </a:xfrm>
        </p:grpSpPr>
        <p:sp>
          <p:nvSpPr>
            <p:cNvPr id="188" name="Text Box 83"/>
            <p:cNvSpPr txBox="1">
              <a:spLocks noChangeArrowheads="1"/>
            </p:cNvSpPr>
            <p:nvPr/>
          </p:nvSpPr>
          <p:spPr bwMode="auto">
            <a:xfrm rot="16200000">
              <a:off x="2668" y="2838"/>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10</a:t>
              </a:r>
            </a:p>
          </p:txBody>
        </p:sp>
        <p:sp>
          <p:nvSpPr>
            <p:cNvPr id="189" name="Text Box 84"/>
            <p:cNvSpPr txBox="1">
              <a:spLocks noChangeArrowheads="1"/>
            </p:cNvSpPr>
            <p:nvPr/>
          </p:nvSpPr>
          <p:spPr bwMode="auto">
            <a:xfrm rot="16200000">
              <a:off x="2869" y="2855"/>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5.0</a:t>
              </a:r>
            </a:p>
          </p:txBody>
        </p:sp>
        <p:sp>
          <p:nvSpPr>
            <p:cNvPr id="190" name="Text Box 85"/>
            <p:cNvSpPr txBox="1">
              <a:spLocks noChangeArrowheads="1"/>
            </p:cNvSpPr>
            <p:nvPr/>
          </p:nvSpPr>
          <p:spPr bwMode="auto">
            <a:xfrm rot="16200000">
              <a:off x="3300" y="2856"/>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1.0</a:t>
              </a:r>
            </a:p>
          </p:txBody>
        </p:sp>
        <p:sp>
          <p:nvSpPr>
            <p:cNvPr id="191" name="Text Box 86"/>
            <p:cNvSpPr txBox="1">
              <a:spLocks noChangeArrowheads="1"/>
            </p:cNvSpPr>
            <p:nvPr/>
          </p:nvSpPr>
          <p:spPr bwMode="auto">
            <a:xfrm rot="16200000">
              <a:off x="3510" y="2846"/>
              <a:ext cx="2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0.5</a:t>
              </a:r>
            </a:p>
          </p:txBody>
        </p:sp>
        <p:sp>
          <p:nvSpPr>
            <p:cNvPr id="192" name="Text Box 87"/>
            <p:cNvSpPr txBox="1">
              <a:spLocks noChangeArrowheads="1"/>
            </p:cNvSpPr>
            <p:nvPr/>
          </p:nvSpPr>
          <p:spPr bwMode="auto">
            <a:xfrm rot="16200000">
              <a:off x="3895" y="2886"/>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0.10</a:t>
              </a:r>
            </a:p>
          </p:txBody>
        </p:sp>
        <p:sp>
          <p:nvSpPr>
            <p:cNvPr id="193" name="Text Box 88"/>
            <p:cNvSpPr txBox="1">
              <a:spLocks noChangeArrowheads="1"/>
            </p:cNvSpPr>
            <p:nvPr/>
          </p:nvSpPr>
          <p:spPr bwMode="auto">
            <a:xfrm rot="16200000">
              <a:off x="4110" y="2881"/>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0.05</a:t>
              </a:r>
            </a:p>
          </p:txBody>
        </p:sp>
        <p:sp>
          <p:nvSpPr>
            <p:cNvPr id="194" name="Text Box 89"/>
            <p:cNvSpPr txBox="1">
              <a:spLocks noChangeArrowheads="1"/>
            </p:cNvSpPr>
            <p:nvPr/>
          </p:nvSpPr>
          <p:spPr bwMode="auto">
            <a:xfrm rot="16200000">
              <a:off x="4540" y="2871"/>
              <a:ext cx="2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0.01</a:t>
              </a:r>
            </a:p>
          </p:txBody>
        </p:sp>
        <p:sp>
          <p:nvSpPr>
            <p:cNvPr id="195" name="Text Box 90"/>
            <p:cNvSpPr txBox="1">
              <a:spLocks noChangeArrowheads="1"/>
            </p:cNvSpPr>
            <p:nvPr/>
          </p:nvSpPr>
          <p:spPr bwMode="auto">
            <a:xfrm rot="16200000">
              <a:off x="4716" y="2919"/>
              <a:ext cx="36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anose="02020603050405020304" pitchFamily="18" charset="0"/>
                </a:rPr>
                <a:t>0.005</a:t>
              </a:r>
            </a:p>
          </p:txBody>
        </p:sp>
        <p:sp>
          <p:nvSpPr>
            <p:cNvPr id="196" name="Text Box 91"/>
            <p:cNvSpPr txBox="1">
              <a:spLocks noChangeArrowheads="1"/>
            </p:cNvSpPr>
            <p:nvPr/>
          </p:nvSpPr>
          <p:spPr bwMode="auto">
            <a:xfrm rot="16200000">
              <a:off x="5154" y="2907"/>
              <a:ext cx="36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a:solidFill>
                    <a:srgbClr val="000066"/>
                  </a:solidFill>
                  <a:ea typeface="华文新魏" pitchFamily="2" charset="-122"/>
                  <a:cs typeface="Times New Roman" panose="02020603050405020304" pitchFamily="18" charset="0"/>
                </a:rPr>
                <a:t>0.001</a:t>
              </a:r>
            </a:p>
          </p:txBody>
        </p:sp>
      </p:grpSp>
      <p:sp>
        <p:nvSpPr>
          <p:cNvPr id="197" name="Text Box 92"/>
          <p:cNvSpPr txBox="1">
            <a:spLocks noChangeArrowheads="1"/>
          </p:cNvSpPr>
          <p:nvPr/>
        </p:nvSpPr>
        <p:spPr bwMode="auto">
          <a:xfrm>
            <a:off x="6164249" y="5211500"/>
            <a:ext cx="11124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a:solidFill>
                  <a:srgbClr val="000066"/>
                </a:solidFill>
                <a:ea typeface="幼圆" pitchFamily="49" charset="-122"/>
                <a:cs typeface="Times New Roman" panose="02020603050405020304" pitchFamily="18" charset="0"/>
              </a:rPr>
              <a:t>粒径</a:t>
            </a:r>
            <a:r>
              <a:rPr kumimoji="1" lang="en-US" altLang="zh-CN" sz="2000" b="1" dirty="0">
                <a:solidFill>
                  <a:srgbClr val="000066"/>
                </a:solidFill>
                <a:ea typeface="幼圆" pitchFamily="49" charset="-122"/>
                <a:cs typeface="Times New Roman" panose="02020603050405020304" pitchFamily="18" charset="0"/>
              </a:rPr>
              <a:t>(mm)</a:t>
            </a:r>
          </a:p>
        </p:txBody>
      </p:sp>
      <p:grpSp>
        <p:nvGrpSpPr>
          <p:cNvPr id="208" name="组合 207"/>
          <p:cNvGrpSpPr/>
          <p:nvPr/>
        </p:nvGrpSpPr>
        <p:grpSpPr>
          <a:xfrm>
            <a:off x="5187937" y="1569694"/>
            <a:ext cx="3462337" cy="2787650"/>
            <a:chOff x="5187937" y="1569694"/>
            <a:chExt cx="3462337" cy="2787650"/>
          </a:xfrm>
        </p:grpSpPr>
        <p:sp>
          <p:nvSpPr>
            <p:cNvPr id="209" name="Freeform 106"/>
            <p:cNvSpPr>
              <a:spLocks/>
            </p:cNvSpPr>
            <p:nvPr/>
          </p:nvSpPr>
          <p:spPr bwMode="auto">
            <a:xfrm>
              <a:off x="6399007" y="2708758"/>
              <a:ext cx="1852721" cy="1573075"/>
            </a:xfrm>
            <a:custGeom>
              <a:avLst/>
              <a:gdLst>
                <a:gd name="T0" fmla="*/ 0 w 1214"/>
                <a:gd name="T1" fmla="*/ 0 h 984"/>
                <a:gd name="T2" fmla="*/ 2147483647 w 1214"/>
                <a:gd name="T3" fmla="*/ 2147483647 h 984"/>
                <a:gd name="T4" fmla="*/ 2147483647 w 1214"/>
                <a:gd name="T5" fmla="*/ 2147483647 h 984"/>
                <a:gd name="T6" fmla="*/ 2147483647 w 1214"/>
                <a:gd name="T7" fmla="*/ 2147483647 h 984"/>
                <a:gd name="T8" fmla="*/ 2147483647 w 1214"/>
                <a:gd name="T9" fmla="*/ 2147483647 h 984"/>
                <a:gd name="T10" fmla="*/ 2147483647 w 1214"/>
                <a:gd name="T11" fmla="*/ 2147483647 h 984"/>
                <a:gd name="T12" fmla="*/ 2147483647 w 1214"/>
                <a:gd name="T13" fmla="*/ 2147483647 h 984"/>
                <a:gd name="T14" fmla="*/ 2147483647 w 1214"/>
                <a:gd name="T15" fmla="*/ 2147483647 h 984"/>
                <a:gd name="T16" fmla="*/ 2147483647 w 1214"/>
                <a:gd name="T17" fmla="*/ 2147483647 h 984"/>
                <a:gd name="T18" fmla="*/ 2147483647 w 1214"/>
                <a:gd name="T19" fmla="*/ 2147483647 h 984"/>
                <a:gd name="T20" fmla="*/ 2147483647 w 1214"/>
                <a:gd name="T21" fmla="*/ 2147483647 h 984"/>
                <a:gd name="T22" fmla="*/ 2147483647 w 1214"/>
                <a:gd name="T23" fmla="*/ 2147483647 h 984"/>
                <a:gd name="T24" fmla="*/ 2147483647 w 1214"/>
                <a:gd name="T25" fmla="*/ 2147483647 h 984"/>
                <a:gd name="T26" fmla="*/ 2147483647 w 1214"/>
                <a:gd name="T27" fmla="*/ 2147483647 h 984"/>
                <a:gd name="T28" fmla="*/ 2147483647 w 1214"/>
                <a:gd name="T29" fmla="*/ 2147483647 h 984"/>
                <a:gd name="T30" fmla="*/ 2147483647 w 1214"/>
                <a:gd name="T31" fmla="*/ 2147483647 h 9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14"/>
                <a:gd name="T49" fmla="*/ 0 h 984"/>
                <a:gd name="T50" fmla="*/ 1214 w 1214"/>
                <a:gd name="T51" fmla="*/ 984 h 984"/>
                <a:gd name="connsiteX0" fmla="*/ 0 w 9522"/>
                <a:gd name="connsiteY0" fmla="*/ 0 h 9776"/>
                <a:gd name="connsiteX1" fmla="*/ 544 w 9522"/>
                <a:gd name="connsiteY1" fmla="*/ 772 h 9776"/>
                <a:gd name="connsiteX2" fmla="*/ 1005 w 9522"/>
                <a:gd name="connsiteY2" fmla="*/ 1301 h 9776"/>
                <a:gd name="connsiteX3" fmla="*/ 1516 w 9522"/>
                <a:gd name="connsiteY3" fmla="*/ 1545 h 9776"/>
                <a:gd name="connsiteX4" fmla="*/ 2479 w 9522"/>
                <a:gd name="connsiteY4" fmla="*/ 1555 h 9776"/>
                <a:gd name="connsiteX5" fmla="*/ 2900 w 9522"/>
                <a:gd name="connsiteY5" fmla="*/ 1911 h 9776"/>
                <a:gd name="connsiteX6" fmla="*/ 3600 w 9522"/>
                <a:gd name="connsiteY6" fmla="*/ 2937 h 9776"/>
                <a:gd name="connsiteX7" fmla="*/ 4341 w 9522"/>
                <a:gd name="connsiteY7" fmla="*/ 4319 h 9776"/>
                <a:gd name="connsiteX8" fmla="*/ 5189 w 9522"/>
                <a:gd name="connsiteY8" fmla="*/ 5711 h 9776"/>
                <a:gd name="connsiteX9" fmla="*/ 6211 w 9522"/>
                <a:gd name="connsiteY9" fmla="*/ 7083 h 9776"/>
                <a:gd name="connsiteX10" fmla="*/ 6820 w 9522"/>
                <a:gd name="connsiteY10" fmla="*/ 7866 h 9776"/>
                <a:gd name="connsiteX11" fmla="*/ 7364 w 9522"/>
                <a:gd name="connsiteY11" fmla="*/ 8415 h 9776"/>
                <a:gd name="connsiteX12" fmla="*/ 8081 w 9522"/>
                <a:gd name="connsiteY12" fmla="*/ 8923 h 9776"/>
                <a:gd name="connsiteX13" fmla="*/ 9209 w 9522"/>
                <a:gd name="connsiteY13" fmla="*/ 9675 h 9776"/>
                <a:gd name="connsiteX14" fmla="*/ 9522 w 9522"/>
                <a:gd name="connsiteY14" fmla="*/ 9776 h 9776"/>
                <a:gd name="connsiteX0" fmla="*/ 0 w 10096"/>
                <a:gd name="connsiteY0" fmla="*/ 0 h 10185"/>
                <a:gd name="connsiteX1" fmla="*/ 571 w 10096"/>
                <a:gd name="connsiteY1" fmla="*/ 790 h 10185"/>
                <a:gd name="connsiteX2" fmla="*/ 1055 w 10096"/>
                <a:gd name="connsiteY2" fmla="*/ 1331 h 10185"/>
                <a:gd name="connsiteX3" fmla="*/ 1592 w 10096"/>
                <a:gd name="connsiteY3" fmla="*/ 1580 h 10185"/>
                <a:gd name="connsiteX4" fmla="*/ 2603 w 10096"/>
                <a:gd name="connsiteY4" fmla="*/ 1591 h 10185"/>
                <a:gd name="connsiteX5" fmla="*/ 3046 w 10096"/>
                <a:gd name="connsiteY5" fmla="*/ 1955 h 10185"/>
                <a:gd name="connsiteX6" fmla="*/ 3781 w 10096"/>
                <a:gd name="connsiteY6" fmla="*/ 3004 h 10185"/>
                <a:gd name="connsiteX7" fmla="*/ 4559 w 10096"/>
                <a:gd name="connsiteY7" fmla="*/ 4418 h 10185"/>
                <a:gd name="connsiteX8" fmla="*/ 5449 w 10096"/>
                <a:gd name="connsiteY8" fmla="*/ 5842 h 10185"/>
                <a:gd name="connsiteX9" fmla="*/ 6523 w 10096"/>
                <a:gd name="connsiteY9" fmla="*/ 7245 h 10185"/>
                <a:gd name="connsiteX10" fmla="*/ 7162 w 10096"/>
                <a:gd name="connsiteY10" fmla="*/ 8046 h 10185"/>
                <a:gd name="connsiteX11" fmla="*/ 7734 w 10096"/>
                <a:gd name="connsiteY11" fmla="*/ 8608 h 10185"/>
                <a:gd name="connsiteX12" fmla="*/ 8487 w 10096"/>
                <a:gd name="connsiteY12" fmla="*/ 9127 h 10185"/>
                <a:gd name="connsiteX13" fmla="*/ 9671 w 10096"/>
                <a:gd name="connsiteY13" fmla="*/ 9897 h 10185"/>
                <a:gd name="connsiteX14" fmla="*/ 10096 w 10096"/>
                <a:gd name="connsiteY14" fmla="*/ 10185 h 10185"/>
                <a:gd name="connsiteX0" fmla="*/ 0 w 10096"/>
                <a:gd name="connsiteY0" fmla="*/ 0 h 10185"/>
                <a:gd name="connsiteX1" fmla="*/ 571 w 10096"/>
                <a:gd name="connsiteY1" fmla="*/ 790 h 10185"/>
                <a:gd name="connsiteX2" fmla="*/ 1055 w 10096"/>
                <a:gd name="connsiteY2" fmla="*/ 1331 h 10185"/>
                <a:gd name="connsiteX3" fmla="*/ 1592 w 10096"/>
                <a:gd name="connsiteY3" fmla="*/ 1580 h 10185"/>
                <a:gd name="connsiteX4" fmla="*/ 2603 w 10096"/>
                <a:gd name="connsiteY4" fmla="*/ 1591 h 10185"/>
                <a:gd name="connsiteX5" fmla="*/ 3046 w 10096"/>
                <a:gd name="connsiteY5" fmla="*/ 1955 h 10185"/>
                <a:gd name="connsiteX6" fmla="*/ 3781 w 10096"/>
                <a:gd name="connsiteY6" fmla="*/ 3004 h 10185"/>
                <a:gd name="connsiteX7" fmla="*/ 4559 w 10096"/>
                <a:gd name="connsiteY7" fmla="*/ 4418 h 10185"/>
                <a:gd name="connsiteX8" fmla="*/ 5449 w 10096"/>
                <a:gd name="connsiteY8" fmla="*/ 5842 h 10185"/>
                <a:gd name="connsiteX9" fmla="*/ 6523 w 10096"/>
                <a:gd name="connsiteY9" fmla="*/ 7245 h 10185"/>
                <a:gd name="connsiteX10" fmla="*/ 7162 w 10096"/>
                <a:gd name="connsiteY10" fmla="*/ 8046 h 10185"/>
                <a:gd name="connsiteX11" fmla="*/ 7734 w 10096"/>
                <a:gd name="connsiteY11" fmla="*/ 8608 h 10185"/>
                <a:gd name="connsiteX12" fmla="*/ 8487 w 10096"/>
                <a:gd name="connsiteY12" fmla="*/ 9127 h 10185"/>
                <a:gd name="connsiteX13" fmla="*/ 9613 w 10096"/>
                <a:gd name="connsiteY13" fmla="*/ 9920 h 10185"/>
                <a:gd name="connsiteX14" fmla="*/ 10096 w 10096"/>
                <a:gd name="connsiteY14" fmla="*/ 10185 h 10185"/>
                <a:gd name="connsiteX0" fmla="*/ 0 w 10096"/>
                <a:gd name="connsiteY0" fmla="*/ 0 h 10185"/>
                <a:gd name="connsiteX1" fmla="*/ 571 w 10096"/>
                <a:gd name="connsiteY1" fmla="*/ 790 h 10185"/>
                <a:gd name="connsiteX2" fmla="*/ 1055 w 10096"/>
                <a:gd name="connsiteY2" fmla="*/ 1331 h 10185"/>
                <a:gd name="connsiteX3" fmla="*/ 1592 w 10096"/>
                <a:gd name="connsiteY3" fmla="*/ 1580 h 10185"/>
                <a:gd name="connsiteX4" fmla="*/ 2603 w 10096"/>
                <a:gd name="connsiteY4" fmla="*/ 1591 h 10185"/>
                <a:gd name="connsiteX5" fmla="*/ 3046 w 10096"/>
                <a:gd name="connsiteY5" fmla="*/ 1955 h 10185"/>
                <a:gd name="connsiteX6" fmla="*/ 3781 w 10096"/>
                <a:gd name="connsiteY6" fmla="*/ 3004 h 10185"/>
                <a:gd name="connsiteX7" fmla="*/ 4559 w 10096"/>
                <a:gd name="connsiteY7" fmla="*/ 4418 h 10185"/>
                <a:gd name="connsiteX8" fmla="*/ 5449 w 10096"/>
                <a:gd name="connsiteY8" fmla="*/ 5842 h 10185"/>
                <a:gd name="connsiteX9" fmla="*/ 6523 w 10096"/>
                <a:gd name="connsiteY9" fmla="*/ 7245 h 10185"/>
                <a:gd name="connsiteX10" fmla="*/ 7162 w 10096"/>
                <a:gd name="connsiteY10" fmla="*/ 8046 h 10185"/>
                <a:gd name="connsiteX11" fmla="*/ 7734 w 10096"/>
                <a:gd name="connsiteY11" fmla="*/ 8608 h 10185"/>
                <a:gd name="connsiteX12" fmla="*/ 8429 w 10096"/>
                <a:gd name="connsiteY12" fmla="*/ 9219 h 10185"/>
                <a:gd name="connsiteX13" fmla="*/ 9613 w 10096"/>
                <a:gd name="connsiteY13" fmla="*/ 9920 h 10185"/>
                <a:gd name="connsiteX14" fmla="*/ 10096 w 10096"/>
                <a:gd name="connsiteY14" fmla="*/ 10185 h 10185"/>
                <a:gd name="connsiteX0" fmla="*/ 0 w 10096"/>
                <a:gd name="connsiteY0" fmla="*/ 0 h 10301"/>
                <a:gd name="connsiteX1" fmla="*/ 571 w 10096"/>
                <a:gd name="connsiteY1" fmla="*/ 906 h 10301"/>
                <a:gd name="connsiteX2" fmla="*/ 1055 w 10096"/>
                <a:gd name="connsiteY2" fmla="*/ 1447 h 10301"/>
                <a:gd name="connsiteX3" fmla="*/ 1592 w 10096"/>
                <a:gd name="connsiteY3" fmla="*/ 1696 h 10301"/>
                <a:gd name="connsiteX4" fmla="*/ 2603 w 10096"/>
                <a:gd name="connsiteY4" fmla="*/ 1707 h 10301"/>
                <a:gd name="connsiteX5" fmla="*/ 3046 w 10096"/>
                <a:gd name="connsiteY5" fmla="*/ 2071 h 10301"/>
                <a:gd name="connsiteX6" fmla="*/ 3781 w 10096"/>
                <a:gd name="connsiteY6" fmla="*/ 3120 h 10301"/>
                <a:gd name="connsiteX7" fmla="*/ 4559 w 10096"/>
                <a:gd name="connsiteY7" fmla="*/ 4534 h 10301"/>
                <a:gd name="connsiteX8" fmla="*/ 5449 w 10096"/>
                <a:gd name="connsiteY8" fmla="*/ 5958 h 10301"/>
                <a:gd name="connsiteX9" fmla="*/ 6523 w 10096"/>
                <a:gd name="connsiteY9" fmla="*/ 7361 h 10301"/>
                <a:gd name="connsiteX10" fmla="*/ 7162 w 10096"/>
                <a:gd name="connsiteY10" fmla="*/ 8162 h 10301"/>
                <a:gd name="connsiteX11" fmla="*/ 7734 w 10096"/>
                <a:gd name="connsiteY11" fmla="*/ 8724 h 10301"/>
                <a:gd name="connsiteX12" fmla="*/ 8429 w 10096"/>
                <a:gd name="connsiteY12" fmla="*/ 9335 h 10301"/>
                <a:gd name="connsiteX13" fmla="*/ 9613 w 10096"/>
                <a:gd name="connsiteY13" fmla="*/ 10036 h 10301"/>
                <a:gd name="connsiteX14" fmla="*/ 10096 w 10096"/>
                <a:gd name="connsiteY14" fmla="*/ 10301 h 10301"/>
                <a:gd name="connsiteX0" fmla="*/ 0 w 10096"/>
                <a:gd name="connsiteY0" fmla="*/ 0 h 10301"/>
                <a:gd name="connsiteX1" fmla="*/ 571 w 10096"/>
                <a:gd name="connsiteY1" fmla="*/ 906 h 10301"/>
                <a:gd name="connsiteX2" fmla="*/ 1055 w 10096"/>
                <a:gd name="connsiteY2" fmla="*/ 1447 h 10301"/>
                <a:gd name="connsiteX3" fmla="*/ 1592 w 10096"/>
                <a:gd name="connsiteY3" fmla="*/ 1696 h 10301"/>
                <a:gd name="connsiteX4" fmla="*/ 2603 w 10096"/>
                <a:gd name="connsiteY4" fmla="*/ 1707 h 10301"/>
                <a:gd name="connsiteX5" fmla="*/ 3046 w 10096"/>
                <a:gd name="connsiteY5" fmla="*/ 2071 h 10301"/>
                <a:gd name="connsiteX6" fmla="*/ 3781 w 10096"/>
                <a:gd name="connsiteY6" fmla="*/ 3120 h 10301"/>
                <a:gd name="connsiteX7" fmla="*/ 4559 w 10096"/>
                <a:gd name="connsiteY7" fmla="*/ 4534 h 10301"/>
                <a:gd name="connsiteX8" fmla="*/ 5449 w 10096"/>
                <a:gd name="connsiteY8" fmla="*/ 5958 h 10301"/>
                <a:gd name="connsiteX9" fmla="*/ 6218 w 10096"/>
                <a:gd name="connsiteY9" fmla="*/ 7028 h 10301"/>
                <a:gd name="connsiteX10" fmla="*/ 7162 w 10096"/>
                <a:gd name="connsiteY10" fmla="*/ 8162 h 10301"/>
                <a:gd name="connsiteX11" fmla="*/ 7734 w 10096"/>
                <a:gd name="connsiteY11" fmla="*/ 8724 h 10301"/>
                <a:gd name="connsiteX12" fmla="*/ 8429 w 10096"/>
                <a:gd name="connsiteY12" fmla="*/ 9335 h 10301"/>
                <a:gd name="connsiteX13" fmla="*/ 9613 w 10096"/>
                <a:gd name="connsiteY13" fmla="*/ 10036 h 10301"/>
                <a:gd name="connsiteX14" fmla="*/ 10096 w 10096"/>
                <a:gd name="connsiteY14" fmla="*/ 10301 h 10301"/>
                <a:gd name="connsiteX0" fmla="*/ 0 w 10096"/>
                <a:gd name="connsiteY0" fmla="*/ 0 h 10301"/>
                <a:gd name="connsiteX1" fmla="*/ 571 w 10096"/>
                <a:gd name="connsiteY1" fmla="*/ 906 h 10301"/>
                <a:gd name="connsiteX2" fmla="*/ 1055 w 10096"/>
                <a:gd name="connsiteY2" fmla="*/ 1447 h 10301"/>
                <a:gd name="connsiteX3" fmla="*/ 1592 w 10096"/>
                <a:gd name="connsiteY3" fmla="*/ 1696 h 10301"/>
                <a:gd name="connsiteX4" fmla="*/ 2603 w 10096"/>
                <a:gd name="connsiteY4" fmla="*/ 1707 h 10301"/>
                <a:gd name="connsiteX5" fmla="*/ 3046 w 10096"/>
                <a:gd name="connsiteY5" fmla="*/ 2071 h 10301"/>
                <a:gd name="connsiteX6" fmla="*/ 3781 w 10096"/>
                <a:gd name="connsiteY6" fmla="*/ 3120 h 10301"/>
                <a:gd name="connsiteX7" fmla="*/ 4559 w 10096"/>
                <a:gd name="connsiteY7" fmla="*/ 4534 h 10301"/>
                <a:gd name="connsiteX8" fmla="*/ 5449 w 10096"/>
                <a:gd name="connsiteY8" fmla="*/ 5958 h 10301"/>
                <a:gd name="connsiteX9" fmla="*/ 6218 w 10096"/>
                <a:gd name="connsiteY9" fmla="*/ 7028 h 10301"/>
                <a:gd name="connsiteX10" fmla="*/ 7162 w 10096"/>
                <a:gd name="connsiteY10" fmla="*/ 8162 h 10301"/>
                <a:gd name="connsiteX11" fmla="*/ 8429 w 10096"/>
                <a:gd name="connsiteY11" fmla="*/ 9335 h 10301"/>
                <a:gd name="connsiteX12" fmla="*/ 9613 w 10096"/>
                <a:gd name="connsiteY12" fmla="*/ 10036 h 10301"/>
                <a:gd name="connsiteX13" fmla="*/ 10096 w 10096"/>
                <a:gd name="connsiteY13" fmla="*/ 10301 h 1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96" h="10301">
                  <a:moveTo>
                    <a:pt x="0" y="0"/>
                  </a:moveTo>
                  <a:cubicBezTo>
                    <a:pt x="96" y="135"/>
                    <a:pt x="395" y="665"/>
                    <a:pt x="571" y="906"/>
                  </a:cubicBezTo>
                  <a:cubicBezTo>
                    <a:pt x="747" y="1147"/>
                    <a:pt x="882" y="1312"/>
                    <a:pt x="1055" y="1447"/>
                  </a:cubicBezTo>
                  <a:cubicBezTo>
                    <a:pt x="1229" y="1582"/>
                    <a:pt x="1333" y="1654"/>
                    <a:pt x="1592" y="1696"/>
                  </a:cubicBezTo>
                  <a:cubicBezTo>
                    <a:pt x="1852" y="1737"/>
                    <a:pt x="2362" y="1644"/>
                    <a:pt x="2603" y="1707"/>
                  </a:cubicBezTo>
                  <a:cubicBezTo>
                    <a:pt x="2846" y="1769"/>
                    <a:pt x="2846" y="1831"/>
                    <a:pt x="3046" y="2071"/>
                  </a:cubicBezTo>
                  <a:cubicBezTo>
                    <a:pt x="3244" y="2309"/>
                    <a:pt x="3530" y="2715"/>
                    <a:pt x="3781" y="3120"/>
                  </a:cubicBezTo>
                  <a:cubicBezTo>
                    <a:pt x="4032" y="3525"/>
                    <a:pt x="4282" y="4066"/>
                    <a:pt x="4559" y="4534"/>
                  </a:cubicBezTo>
                  <a:cubicBezTo>
                    <a:pt x="4836" y="5001"/>
                    <a:pt x="5172" y="5542"/>
                    <a:pt x="5449" y="5958"/>
                  </a:cubicBezTo>
                  <a:cubicBezTo>
                    <a:pt x="5726" y="6374"/>
                    <a:pt x="5932" y="6665"/>
                    <a:pt x="6218" y="7028"/>
                  </a:cubicBezTo>
                  <a:cubicBezTo>
                    <a:pt x="6503" y="7392"/>
                    <a:pt x="6794" y="7778"/>
                    <a:pt x="7162" y="8162"/>
                  </a:cubicBezTo>
                  <a:cubicBezTo>
                    <a:pt x="7530" y="8546"/>
                    <a:pt x="8021" y="9023"/>
                    <a:pt x="8429" y="9335"/>
                  </a:cubicBezTo>
                  <a:cubicBezTo>
                    <a:pt x="8742" y="9554"/>
                    <a:pt x="9335" y="9875"/>
                    <a:pt x="9613" y="10036"/>
                  </a:cubicBezTo>
                  <a:cubicBezTo>
                    <a:pt x="9891" y="10197"/>
                    <a:pt x="9957" y="10250"/>
                    <a:pt x="10096" y="10301"/>
                  </a:cubicBezTo>
                </a:path>
              </a:pathLst>
            </a:custGeom>
            <a:noFill/>
            <a:ln w="19050">
              <a:solidFill>
                <a:srgbClr val="FF0066"/>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0" name="Freeform 107"/>
            <p:cNvSpPr>
              <a:spLocks/>
            </p:cNvSpPr>
            <p:nvPr/>
          </p:nvSpPr>
          <p:spPr bwMode="auto">
            <a:xfrm>
              <a:off x="6389940" y="2684716"/>
              <a:ext cx="1868222" cy="1603980"/>
            </a:xfrm>
            <a:custGeom>
              <a:avLst/>
              <a:gdLst>
                <a:gd name="T0" fmla="*/ 0 w 1188"/>
                <a:gd name="T1" fmla="*/ 0 h 1012"/>
                <a:gd name="T2" fmla="*/ 2147483647 w 1188"/>
                <a:gd name="T3" fmla="*/ 2147483647 h 1012"/>
                <a:gd name="T4" fmla="*/ 2147483647 w 1188"/>
                <a:gd name="T5" fmla="*/ 2147483647 h 1012"/>
                <a:gd name="T6" fmla="*/ 2147483647 w 1188"/>
                <a:gd name="T7" fmla="*/ 2147483647 h 1012"/>
                <a:gd name="T8" fmla="*/ 2147483647 w 1188"/>
                <a:gd name="T9" fmla="*/ 2147483647 h 1012"/>
                <a:gd name="T10" fmla="*/ 2147483647 w 1188"/>
                <a:gd name="T11" fmla="*/ 2147483647 h 1012"/>
                <a:gd name="T12" fmla="*/ 2147483647 w 1188"/>
                <a:gd name="T13" fmla="*/ 2147483647 h 1012"/>
                <a:gd name="T14" fmla="*/ 2147483647 w 1188"/>
                <a:gd name="T15" fmla="*/ 2147483647 h 1012"/>
                <a:gd name="T16" fmla="*/ 2147483647 w 1188"/>
                <a:gd name="T17" fmla="*/ 2147483647 h 1012"/>
                <a:gd name="T18" fmla="*/ 2147483647 w 1188"/>
                <a:gd name="T19" fmla="*/ 2147483647 h 1012"/>
                <a:gd name="T20" fmla="*/ 2147483647 w 1188"/>
                <a:gd name="T21" fmla="*/ 2147483647 h 1012"/>
                <a:gd name="T22" fmla="*/ 2147483647 w 1188"/>
                <a:gd name="T23" fmla="*/ 2147483647 h 1012"/>
                <a:gd name="T24" fmla="*/ 2147483647 w 1188"/>
                <a:gd name="T25" fmla="*/ 2147483647 h 1012"/>
                <a:gd name="T26" fmla="*/ 2147483647 w 1188"/>
                <a:gd name="T27" fmla="*/ 2147483647 h 1012"/>
                <a:gd name="T28" fmla="*/ 2147483647 w 1188"/>
                <a:gd name="T29" fmla="*/ 2147483647 h 1012"/>
                <a:gd name="T30" fmla="*/ 2147483647 w 1188"/>
                <a:gd name="T31" fmla="*/ 2147483647 h 1012"/>
                <a:gd name="T32" fmla="*/ 2147483647 w 1188"/>
                <a:gd name="T33" fmla="*/ 2147483647 h 1012"/>
                <a:gd name="T34" fmla="*/ 2147483647 w 1188"/>
                <a:gd name="T35" fmla="*/ 2147483647 h 1012"/>
                <a:gd name="T36" fmla="*/ 2147483647 w 1188"/>
                <a:gd name="T37" fmla="*/ 2147483647 h 1012"/>
                <a:gd name="T38" fmla="*/ 2147483647 w 1188"/>
                <a:gd name="T39" fmla="*/ 2147483647 h 1012"/>
                <a:gd name="T40" fmla="*/ 2147483647 w 1188"/>
                <a:gd name="T41" fmla="*/ 2147483647 h 1012"/>
                <a:gd name="T42" fmla="*/ 2147483647 w 1188"/>
                <a:gd name="T43" fmla="*/ 2147483647 h 10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88"/>
                <a:gd name="T67" fmla="*/ 0 h 1012"/>
                <a:gd name="T68" fmla="*/ 1188 w 1188"/>
                <a:gd name="T69" fmla="*/ 1012 h 1012"/>
                <a:gd name="connsiteX0" fmla="*/ 0 w 10000"/>
                <a:gd name="connsiteY0" fmla="*/ 0 h 10000"/>
                <a:gd name="connsiteX1" fmla="*/ 774 w 10000"/>
                <a:gd name="connsiteY1" fmla="*/ 1383 h 10000"/>
                <a:gd name="connsiteX2" fmla="*/ 1077 w 10000"/>
                <a:gd name="connsiteY2" fmla="*/ 1897 h 10000"/>
                <a:gd name="connsiteX3" fmla="*/ 1313 w 10000"/>
                <a:gd name="connsiteY3" fmla="*/ 2431 h 10000"/>
                <a:gd name="connsiteX4" fmla="*/ 1801 w 10000"/>
                <a:gd name="connsiteY4" fmla="*/ 3399 h 10000"/>
                <a:gd name="connsiteX5" fmla="*/ 2003 w 10000"/>
                <a:gd name="connsiteY5" fmla="*/ 3755 h 10000"/>
                <a:gd name="connsiteX6" fmla="*/ 2323 w 10000"/>
                <a:gd name="connsiteY6" fmla="*/ 4447 h 10000"/>
                <a:gd name="connsiteX7" fmla="*/ 2761 w 10000"/>
                <a:gd name="connsiteY7" fmla="*/ 5257 h 10000"/>
                <a:gd name="connsiteX8" fmla="*/ 3215 w 10000"/>
                <a:gd name="connsiteY8" fmla="*/ 6008 h 10000"/>
                <a:gd name="connsiteX9" fmla="*/ 3468 w 10000"/>
                <a:gd name="connsiteY9" fmla="*/ 6443 h 10000"/>
                <a:gd name="connsiteX10" fmla="*/ 3914 w 10000"/>
                <a:gd name="connsiteY10" fmla="*/ 6897 h 10000"/>
                <a:gd name="connsiteX11" fmla="*/ 4343 w 10000"/>
                <a:gd name="connsiteY11" fmla="*/ 7055 h 10000"/>
                <a:gd name="connsiteX12" fmla="*/ 4663 w 10000"/>
                <a:gd name="connsiteY12" fmla="*/ 7036 h 10000"/>
                <a:gd name="connsiteX13" fmla="*/ 5084 w 10000"/>
                <a:gd name="connsiteY13" fmla="*/ 7055 h 10000"/>
                <a:gd name="connsiteX14" fmla="*/ 5758 w 10000"/>
                <a:gd name="connsiteY14" fmla="*/ 7312 h 10000"/>
                <a:gd name="connsiteX15" fmla="*/ 6263 w 10000"/>
                <a:gd name="connsiteY15" fmla="*/ 7767 h 10000"/>
                <a:gd name="connsiteX16" fmla="*/ 7348 w 10000"/>
                <a:gd name="connsiteY16" fmla="*/ 8686 h 10000"/>
                <a:gd name="connsiteX17" fmla="*/ 8114 w 10000"/>
                <a:gd name="connsiteY17" fmla="*/ 9130 h 10000"/>
                <a:gd name="connsiteX18" fmla="*/ 8889 w 10000"/>
                <a:gd name="connsiteY18" fmla="*/ 9545 h 10000"/>
                <a:gd name="connsiteX19" fmla="*/ 9293 w 10000"/>
                <a:gd name="connsiteY19" fmla="*/ 9723 h 10000"/>
                <a:gd name="connsiteX20" fmla="*/ 10000 w 10000"/>
                <a:gd name="connsiteY20" fmla="*/ 10000 h 10000"/>
                <a:gd name="connsiteX0" fmla="*/ 0 w 10000"/>
                <a:gd name="connsiteY0" fmla="*/ 0 h 10000"/>
                <a:gd name="connsiteX1" fmla="*/ 774 w 10000"/>
                <a:gd name="connsiteY1" fmla="*/ 1383 h 10000"/>
                <a:gd name="connsiteX2" fmla="*/ 1077 w 10000"/>
                <a:gd name="connsiteY2" fmla="*/ 1897 h 10000"/>
                <a:gd name="connsiteX3" fmla="*/ 1313 w 10000"/>
                <a:gd name="connsiteY3" fmla="*/ 2431 h 10000"/>
                <a:gd name="connsiteX4" fmla="*/ 1801 w 10000"/>
                <a:gd name="connsiteY4" fmla="*/ 3399 h 10000"/>
                <a:gd name="connsiteX5" fmla="*/ 2003 w 10000"/>
                <a:gd name="connsiteY5" fmla="*/ 3755 h 10000"/>
                <a:gd name="connsiteX6" fmla="*/ 2323 w 10000"/>
                <a:gd name="connsiteY6" fmla="*/ 4447 h 10000"/>
                <a:gd name="connsiteX7" fmla="*/ 2761 w 10000"/>
                <a:gd name="connsiteY7" fmla="*/ 5257 h 10000"/>
                <a:gd name="connsiteX8" fmla="*/ 3215 w 10000"/>
                <a:gd name="connsiteY8" fmla="*/ 6008 h 10000"/>
                <a:gd name="connsiteX9" fmla="*/ 3468 w 10000"/>
                <a:gd name="connsiteY9" fmla="*/ 6443 h 10000"/>
                <a:gd name="connsiteX10" fmla="*/ 3914 w 10000"/>
                <a:gd name="connsiteY10" fmla="*/ 6897 h 10000"/>
                <a:gd name="connsiteX11" fmla="*/ 4343 w 10000"/>
                <a:gd name="connsiteY11" fmla="*/ 7055 h 10000"/>
                <a:gd name="connsiteX12" fmla="*/ 4663 w 10000"/>
                <a:gd name="connsiteY12" fmla="*/ 7036 h 10000"/>
                <a:gd name="connsiteX13" fmla="*/ 5084 w 10000"/>
                <a:gd name="connsiteY13" fmla="*/ 7055 h 10000"/>
                <a:gd name="connsiteX14" fmla="*/ 5758 w 10000"/>
                <a:gd name="connsiteY14" fmla="*/ 7312 h 10000"/>
                <a:gd name="connsiteX15" fmla="*/ 6263 w 10000"/>
                <a:gd name="connsiteY15" fmla="*/ 7767 h 10000"/>
                <a:gd name="connsiteX16" fmla="*/ 7348 w 10000"/>
                <a:gd name="connsiteY16" fmla="*/ 8686 h 10000"/>
                <a:gd name="connsiteX17" fmla="*/ 8058 w 10000"/>
                <a:gd name="connsiteY17" fmla="*/ 9130 h 10000"/>
                <a:gd name="connsiteX18" fmla="*/ 8889 w 10000"/>
                <a:gd name="connsiteY18" fmla="*/ 9545 h 10000"/>
                <a:gd name="connsiteX19" fmla="*/ 9293 w 10000"/>
                <a:gd name="connsiteY19" fmla="*/ 9723 h 10000"/>
                <a:gd name="connsiteX20" fmla="*/ 10000 w 10000"/>
                <a:gd name="connsiteY20" fmla="*/ 10000 h 10000"/>
                <a:gd name="connsiteX0" fmla="*/ 0 w 10000"/>
                <a:gd name="connsiteY0" fmla="*/ 0 h 10000"/>
                <a:gd name="connsiteX1" fmla="*/ 774 w 10000"/>
                <a:gd name="connsiteY1" fmla="*/ 1383 h 10000"/>
                <a:gd name="connsiteX2" fmla="*/ 1077 w 10000"/>
                <a:gd name="connsiteY2" fmla="*/ 1897 h 10000"/>
                <a:gd name="connsiteX3" fmla="*/ 1313 w 10000"/>
                <a:gd name="connsiteY3" fmla="*/ 2431 h 10000"/>
                <a:gd name="connsiteX4" fmla="*/ 1801 w 10000"/>
                <a:gd name="connsiteY4" fmla="*/ 3399 h 10000"/>
                <a:gd name="connsiteX5" fmla="*/ 2003 w 10000"/>
                <a:gd name="connsiteY5" fmla="*/ 3755 h 10000"/>
                <a:gd name="connsiteX6" fmla="*/ 2323 w 10000"/>
                <a:gd name="connsiteY6" fmla="*/ 4447 h 10000"/>
                <a:gd name="connsiteX7" fmla="*/ 2761 w 10000"/>
                <a:gd name="connsiteY7" fmla="*/ 5257 h 10000"/>
                <a:gd name="connsiteX8" fmla="*/ 3215 w 10000"/>
                <a:gd name="connsiteY8" fmla="*/ 6008 h 10000"/>
                <a:gd name="connsiteX9" fmla="*/ 3468 w 10000"/>
                <a:gd name="connsiteY9" fmla="*/ 6443 h 10000"/>
                <a:gd name="connsiteX10" fmla="*/ 3914 w 10000"/>
                <a:gd name="connsiteY10" fmla="*/ 6897 h 10000"/>
                <a:gd name="connsiteX11" fmla="*/ 4343 w 10000"/>
                <a:gd name="connsiteY11" fmla="*/ 7055 h 10000"/>
                <a:gd name="connsiteX12" fmla="*/ 4663 w 10000"/>
                <a:gd name="connsiteY12" fmla="*/ 7036 h 10000"/>
                <a:gd name="connsiteX13" fmla="*/ 5084 w 10000"/>
                <a:gd name="connsiteY13" fmla="*/ 7055 h 10000"/>
                <a:gd name="connsiteX14" fmla="*/ 5758 w 10000"/>
                <a:gd name="connsiteY14" fmla="*/ 7312 h 10000"/>
                <a:gd name="connsiteX15" fmla="*/ 6263 w 10000"/>
                <a:gd name="connsiteY15" fmla="*/ 7767 h 10000"/>
                <a:gd name="connsiteX16" fmla="*/ 7348 w 10000"/>
                <a:gd name="connsiteY16" fmla="*/ 8686 h 10000"/>
                <a:gd name="connsiteX17" fmla="*/ 8058 w 10000"/>
                <a:gd name="connsiteY17" fmla="*/ 9130 h 10000"/>
                <a:gd name="connsiteX18" fmla="*/ 8889 w 10000"/>
                <a:gd name="connsiteY18" fmla="*/ 9545 h 10000"/>
                <a:gd name="connsiteX19" fmla="*/ 9293 w 10000"/>
                <a:gd name="connsiteY19" fmla="*/ 9723 h 10000"/>
                <a:gd name="connsiteX20" fmla="*/ 9530 w 10000"/>
                <a:gd name="connsiteY20" fmla="*/ 9880 h 10000"/>
                <a:gd name="connsiteX21" fmla="*/ 10000 w 10000"/>
                <a:gd name="connsiteY21" fmla="*/ 10000 h 10000"/>
                <a:gd name="connsiteX0" fmla="*/ 0 w 10000"/>
                <a:gd name="connsiteY0" fmla="*/ 0 h 10000"/>
                <a:gd name="connsiteX1" fmla="*/ 774 w 10000"/>
                <a:gd name="connsiteY1" fmla="*/ 1383 h 10000"/>
                <a:gd name="connsiteX2" fmla="*/ 1077 w 10000"/>
                <a:gd name="connsiteY2" fmla="*/ 1897 h 10000"/>
                <a:gd name="connsiteX3" fmla="*/ 1313 w 10000"/>
                <a:gd name="connsiteY3" fmla="*/ 2431 h 10000"/>
                <a:gd name="connsiteX4" fmla="*/ 1801 w 10000"/>
                <a:gd name="connsiteY4" fmla="*/ 3399 h 10000"/>
                <a:gd name="connsiteX5" fmla="*/ 2003 w 10000"/>
                <a:gd name="connsiteY5" fmla="*/ 3755 h 10000"/>
                <a:gd name="connsiteX6" fmla="*/ 2323 w 10000"/>
                <a:gd name="connsiteY6" fmla="*/ 4447 h 10000"/>
                <a:gd name="connsiteX7" fmla="*/ 2761 w 10000"/>
                <a:gd name="connsiteY7" fmla="*/ 5257 h 10000"/>
                <a:gd name="connsiteX8" fmla="*/ 3215 w 10000"/>
                <a:gd name="connsiteY8" fmla="*/ 6008 h 10000"/>
                <a:gd name="connsiteX9" fmla="*/ 3468 w 10000"/>
                <a:gd name="connsiteY9" fmla="*/ 6443 h 10000"/>
                <a:gd name="connsiteX10" fmla="*/ 3914 w 10000"/>
                <a:gd name="connsiteY10" fmla="*/ 6897 h 10000"/>
                <a:gd name="connsiteX11" fmla="*/ 4343 w 10000"/>
                <a:gd name="connsiteY11" fmla="*/ 7055 h 10000"/>
                <a:gd name="connsiteX12" fmla="*/ 4663 w 10000"/>
                <a:gd name="connsiteY12" fmla="*/ 7036 h 10000"/>
                <a:gd name="connsiteX13" fmla="*/ 5084 w 10000"/>
                <a:gd name="connsiteY13" fmla="*/ 7055 h 10000"/>
                <a:gd name="connsiteX14" fmla="*/ 5758 w 10000"/>
                <a:gd name="connsiteY14" fmla="*/ 7312 h 10000"/>
                <a:gd name="connsiteX15" fmla="*/ 6263 w 10000"/>
                <a:gd name="connsiteY15" fmla="*/ 7767 h 10000"/>
                <a:gd name="connsiteX16" fmla="*/ 7348 w 10000"/>
                <a:gd name="connsiteY16" fmla="*/ 8686 h 10000"/>
                <a:gd name="connsiteX17" fmla="*/ 8058 w 10000"/>
                <a:gd name="connsiteY17" fmla="*/ 9130 h 10000"/>
                <a:gd name="connsiteX18" fmla="*/ 8889 w 10000"/>
                <a:gd name="connsiteY18" fmla="*/ 9545 h 10000"/>
                <a:gd name="connsiteX19" fmla="*/ 9293 w 10000"/>
                <a:gd name="connsiteY19" fmla="*/ 9723 h 10000"/>
                <a:gd name="connsiteX20" fmla="*/ 10000 w 10000"/>
                <a:gd name="connsiteY20" fmla="*/ 10000 h 10000"/>
                <a:gd name="connsiteX0" fmla="*/ 0 w 10000"/>
                <a:gd name="connsiteY0" fmla="*/ 0 h 10000"/>
                <a:gd name="connsiteX1" fmla="*/ 774 w 10000"/>
                <a:gd name="connsiteY1" fmla="*/ 1383 h 10000"/>
                <a:gd name="connsiteX2" fmla="*/ 1077 w 10000"/>
                <a:gd name="connsiteY2" fmla="*/ 1897 h 10000"/>
                <a:gd name="connsiteX3" fmla="*/ 1313 w 10000"/>
                <a:gd name="connsiteY3" fmla="*/ 2431 h 10000"/>
                <a:gd name="connsiteX4" fmla="*/ 1801 w 10000"/>
                <a:gd name="connsiteY4" fmla="*/ 3399 h 10000"/>
                <a:gd name="connsiteX5" fmla="*/ 2003 w 10000"/>
                <a:gd name="connsiteY5" fmla="*/ 3755 h 10000"/>
                <a:gd name="connsiteX6" fmla="*/ 2323 w 10000"/>
                <a:gd name="connsiteY6" fmla="*/ 4447 h 10000"/>
                <a:gd name="connsiteX7" fmla="*/ 2761 w 10000"/>
                <a:gd name="connsiteY7" fmla="*/ 5257 h 10000"/>
                <a:gd name="connsiteX8" fmla="*/ 3215 w 10000"/>
                <a:gd name="connsiteY8" fmla="*/ 6008 h 10000"/>
                <a:gd name="connsiteX9" fmla="*/ 3468 w 10000"/>
                <a:gd name="connsiteY9" fmla="*/ 6443 h 10000"/>
                <a:gd name="connsiteX10" fmla="*/ 3914 w 10000"/>
                <a:gd name="connsiteY10" fmla="*/ 6897 h 10000"/>
                <a:gd name="connsiteX11" fmla="*/ 4343 w 10000"/>
                <a:gd name="connsiteY11" fmla="*/ 7055 h 10000"/>
                <a:gd name="connsiteX12" fmla="*/ 4663 w 10000"/>
                <a:gd name="connsiteY12" fmla="*/ 7036 h 10000"/>
                <a:gd name="connsiteX13" fmla="*/ 5084 w 10000"/>
                <a:gd name="connsiteY13" fmla="*/ 7055 h 10000"/>
                <a:gd name="connsiteX14" fmla="*/ 5758 w 10000"/>
                <a:gd name="connsiteY14" fmla="*/ 7312 h 10000"/>
                <a:gd name="connsiteX15" fmla="*/ 6263 w 10000"/>
                <a:gd name="connsiteY15" fmla="*/ 7767 h 10000"/>
                <a:gd name="connsiteX16" fmla="*/ 7348 w 10000"/>
                <a:gd name="connsiteY16" fmla="*/ 8686 h 10000"/>
                <a:gd name="connsiteX17" fmla="*/ 8058 w 10000"/>
                <a:gd name="connsiteY17" fmla="*/ 9130 h 10000"/>
                <a:gd name="connsiteX18" fmla="*/ 8889 w 10000"/>
                <a:gd name="connsiteY18" fmla="*/ 9545 h 10000"/>
                <a:gd name="connsiteX19" fmla="*/ 9306 w 10000"/>
                <a:gd name="connsiteY19" fmla="*/ 9802 h 10000"/>
                <a:gd name="connsiteX20" fmla="*/ 10000 w 10000"/>
                <a:gd name="connsiteY20" fmla="*/ 10000 h 10000"/>
                <a:gd name="connsiteX0" fmla="*/ 0 w 10000"/>
                <a:gd name="connsiteY0" fmla="*/ 0 h 10047"/>
                <a:gd name="connsiteX1" fmla="*/ 774 w 10000"/>
                <a:gd name="connsiteY1" fmla="*/ 1383 h 10047"/>
                <a:gd name="connsiteX2" fmla="*/ 1077 w 10000"/>
                <a:gd name="connsiteY2" fmla="*/ 1897 h 10047"/>
                <a:gd name="connsiteX3" fmla="*/ 1313 w 10000"/>
                <a:gd name="connsiteY3" fmla="*/ 2431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58 w 10000"/>
                <a:gd name="connsiteY14" fmla="*/ 7312 h 10047"/>
                <a:gd name="connsiteX15" fmla="*/ 6263 w 10000"/>
                <a:gd name="connsiteY15" fmla="*/ 7767 h 10047"/>
                <a:gd name="connsiteX16" fmla="*/ 7348 w 10000"/>
                <a:gd name="connsiteY16" fmla="*/ 8686 h 10047"/>
                <a:gd name="connsiteX17" fmla="*/ 8058 w 10000"/>
                <a:gd name="connsiteY17" fmla="*/ 9130 h 10047"/>
                <a:gd name="connsiteX18" fmla="*/ 8889 w 10000"/>
                <a:gd name="connsiteY18" fmla="*/ 9545 h 10047"/>
                <a:gd name="connsiteX19" fmla="*/ 9306 w 10000"/>
                <a:gd name="connsiteY19" fmla="*/ 9802 h 10047"/>
                <a:gd name="connsiteX20" fmla="*/ 10000 w 10000"/>
                <a:gd name="connsiteY20" fmla="*/ 10047 h 10047"/>
                <a:gd name="connsiteX0" fmla="*/ 0 w 10000"/>
                <a:gd name="connsiteY0" fmla="*/ 0 h 10047"/>
                <a:gd name="connsiteX1" fmla="*/ 774 w 10000"/>
                <a:gd name="connsiteY1" fmla="*/ 1383 h 10047"/>
                <a:gd name="connsiteX2" fmla="*/ 1077 w 10000"/>
                <a:gd name="connsiteY2" fmla="*/ 1897 h 10047"/>
                <a:gd name="connsiteX3" fmla="*/ 1313 w 10000"/>
                <a:gd name="connsiteY3" fmla="*/ 2431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58 w 10000"/>
                <a:gd name="connsiteY14" fmla="*/ 7312 h 10047"/>
                <a:gd name="connsiteX15" fmla="*/ 6263 w 10000"/>
                <a:gd name="connsiteY15" fmla="*/ 7767 h 10047"/>
                <a:gd name="connsiteX16" fmla="*/ 7348 w 10000"/>
                <a:gd name="connsiteY16" fmla="*/ 8686 h 10047"/>
                <a:gd name="connsiteX17" fmla="*/ 8058 w 10000"/>
                <a:gd name="connsiteY17" fmla="*/ 9130 h 10047"/>
                <a:gd name="connsiteX18" fmla="*/ 9306 w 10000"/>
                <a:gd name="connsiteY18" fmla="*/ 9802 h 10047"/>
                <a:gd name="connsiteX19" fmla="*/ 10000 w 10000"/>
                <a:gd name="connsiteY19" fmla="*/ 10047 h 10047"/>
                <a:gd name="connsiteX0" fmla="*/ 0 w 10000"/>
                <a:gd name="connsiteY0" fmla="*/ 0 h 10047"/>
                <a:gd name="connsiteX1" fmla="*/ 774 w 10000"/>
                <a:gd name="connsiteY1" fmla="*/ 1383 h 10047"/>
                <a:gd name="connsiteX2" fmla="*/ 1077 w 10000"/>
                <a:gd name="connsiteY2" fmla="*/ 1897 h 10047"/>
                <a:gd name="connsiteX3" fmla="*/ 1313 w 10000"/>
                <a:gd name="connsiteY3" fmla="*/ 2431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58 w 10000"/>
                <a:gd name="connsiteY14" fmla="*/ 7312 h 10047"/>
                <a:gd name="connsiteX15" fmla="*/ 6263 w 10000"/>
                <a:gd name="connsiteY15" fmla="*/ 7767 h 10047"/>
                <a:gd name="connsiteX16" fmla="*/ 7200 w 10000"/>
                <a:gd name="connsiteY16" fmla="*/ 8528 h 10047"/>
                <a:gd name="connsiteX17" fmla="*/ 8058 w 10000"/>
                <a:gd name="connsiteY17" fmla="*/ 9130 h 10047"/>
                <a:gd name="connsiteX18" fmla="*/ 9306 w 10000"/>
                <a:gd name="connsiteY18" fmla="*/ 9802 h 10047"/>
                <a:gd name="connsiteX19" fmla="*/ 10000 w 10000"/>
                <a:gd name="connsiteY19" fmla="*/ 10047 h 10047"/>
                <a:gd name="connsiteX0" fmla="*/ 0 w 10000"/>
                <a:gd name="connsiteY0" fmla="*/ 0 h 10047"/>
                <a:gd name="connsiteX1" fmla="*/ 774 w 10000"/>
                <a:gd name="connsiteY1" fmla="*/ 1383 h 10047"/>
                <a:gd name="connsiteX2" fmla="*/ 1077 w 10000"/>
                <a:gd name="connsiteY2" fmla="*/ 1897 h 10047"/>
                <a:gd name="connsiteX3" fmla="*/ 1313 w 10000"/>
                <a:gd name="connsiteY3" fmla="*/ 2431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58 w 10000"/>
                <a:gd name="connsiteY14" fmla="*/ 7312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774 w 10000"/>
                <a:gd name="connsiteY1" fmla="*/ 1383 h 10047"/>
                <a:gd name="connsiteX2" fmla="*/ 1077 w 10000"/>
                <a:gd name="connsiteY2" fmla="*/ 1897 h 10047"/>
                <a:gd name="connsiteX3" fmla="*/ 1313 w 10000"/>
                <a:gd name="connsiteY3" fmla="*/ 2431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04 w 10000"/>
                <a:gd name="connsiteY14" fmla="*/ 7233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774 w 10000"/>
                <a:gd name="connsiteY1" fmla="*/ 1383 h 10047"/>
                <a:gd name="connsiteX2" fmla="*/ 1077 w 10000"/>
                <a:gd name="connsiteY2" fmla="*/ 1897 h 10047"/>
                <a:gd name="connsiteX3" fmla="*/ 1394 w 10000"/>
                <a:gd name="connsiteY3" fmla="*/ 2557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04 w 10000"/>
                <a:gd name="connsiteY14" fmla="*/ 7233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478 w 10000"/>
                <a:gd name="connsiteY1" fmla="*/ 893 h 10047"/>
                <a:gd name="connsiteX2" fmla="*/ 1077 w 10000"/>
                <a:gd name="connsiteY2" fmla="*/ 1897 h 10047"/>
                <a:gd name="connsiteX3" fmla="*/ 1394 w 10000"/>
                <a:gd name="connsiteY3" fmla="*/ 2557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04 w 10000"/>
                <a:gd name="connsiteY14" fmla="*/ 7233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478 w 10000"/>
                <a:gd name="connsiteY1" fmla="*/ 893 h 10047"/>
                <a:gd name="connsiteX2" fmla="*/ 996 w 10000"/>
                <a:gd name="connsiteY2" fmla="*/ 1897 h 10047"/>
                <a:gd name="connsiteX3" fmla="*/ 1394 w 10000"/>
                <a:gd name="connsiteY3" fmla="*/ 2557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04 w 10000"/>
                <a:gd name="connsiteY14" fmla="*/ 7233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478 w 10000"/>
                <a:gd name="connsiteY1" fmla="*/ 893 h 10047"/>
                <a:gd name="connsiteX2" fmla="*/ 996 w 10000"/>
                <a:gd name="connsiteY2" fmla="*/ 1897 h 10047"/>
                <a:gd name="connsiteX3" fmla="*/ 1381 w 10000"/>
                <a:gd name="connsiteY3" fmla="*/ 2620 h 10047"/>
                <a:gd name="connsiteX4" fmla="*/ 1801 w 10000"/>
                <a:gd name="connsiteY4" fmla="*/ 3399 h 10047"/>
                <a:gd name="connsiteX5" fmla="*/ 2003 w 10000"/>
                <a:gd name="connsiteY5" fmla="*/ 3755 h 10047"/>
                <a:gd name="connsiteX6" fmla="*/ 2323 w 10000"/>
                <a:gd name="connsiteY6" fmla="*/ 4447 h 10047"/>
                <a:gd name="connsiteX7" fmla="*/ 2761 w 10000"/>
                <a:gd name="connsiteY7" fmla="*/ 5257 h 10047"/>
                <a:gd name="connsiteX8" fmla="*/ 3215 w 10000"/>
                <a:gd name="connsiteY8" fmla="*/ 6008 h 10047"/>
                <a:gd name="connsiteX9" fmla="*/ 3468 w 10000"/>
                <a:gd name="connsiteY9" fmla="*/ 6443 h 10047"/>
                <a:gd name="connsiteX10" fmla="*/ 3914 w 10000"/>
                <a:gd name="connsiteY10" fmla="*/ 6897 h 10047"/>
                <a:gd name="connsiteX11" fmla="*/ 4343 w 10000"/>
                <a:gd name="connsiteY11" fmla="*/ 7055 h 10047"/>
                <a:gd name="connsiteX12" fmla="*/ 4663 w 10000"/>
                <a:gd name="connsiteY12" fmla="*/ 7036 h 10047"/>
                <a:gd name="connsiteX13" fmla="*/ 5084 w 10000"/>
                <a:gd name="connsiteY13" fmla="*/ 7055 h 10047"/>
                <a:gd name="connsiteX14" fmla="*/ 5704 w 10000"/>
                <a:gd name="connsiteY14" fmla="*/ 7233 h 10047"/>
                <a:gd name="connsiteX15" fmla="*/ 6263 w 10000"/>
                <a:gd name="connsiteY15" fmla="*/ 7767 h 10047"/>
                <a:gd name="connsiteX16" fmla="*/ 7200 w 10000"/>
                <a:gd name="connsiteY16" fmla="*/ 8528 h 10047"/>
                <a:gd name="connsiteX17" fmla="*/ 8058 w 10000"/>
                <a:gd name="connsiteY17" fmla="*/ 9130 h 10047"/>
                <a:gd name="connsiteX18" fmla="*/ 9171 w 10000"/>
                <a:gd name="connsiteY18" fmla="*/ 9707 h 10047"/>
                <a:gd name="connsiteX19" fmla="*/ 10000 w 10000"/>
                <a:gd name="connsiteY19" fmla="*/ 10047 h 10047"/>
                <a:gd name="connsiteX0" fmla="*/ 0 w 10000"/>
                <a:gd name="connsiteY0" fmla="*/ 0 h 10047"/>
                <a:gd name="connsiteX1" fmla="*/ 478 w 10000"/>
                <a:gd name="connsiteY1" fmla="*/ 893 h 10047"/>
                <a:gd name="connsiteX2" fmla="*/ 996 w 10000"/>
                <a:gd name="connsiteY2" fmla="*/ 1897 h 10047"/>
                <a:gd name="connsiteX3" fmla="*/ 1381 w 10000"/>
                <a:gd name="connsiteY3" fmla="*/ 2620 h 10047"/>
                <a:gd name="connsiteX4" fmla="*/ 2003 w 10000"/>
                <a:gd name="connsiteY4" fmla="*/ 3755 h 10047"/>
                <a:gd name="connsiteX5" fmla="*/ 2323 w 10000"/>
                <a:gd name="connsiteY5" fmla="*/ 4447 h 10047"/>
                <a:gd name="connsiteX6" fmla="*/ 2761 w 10000"/>
                <a:gd name="connsiteY6" fmla="*/ 5257 h 10047"/>
                <a:gd name="connsiteX7" fmla="*/ 3215 w 10000"/>
                <a:gd name="connsiteY7" fmla="*/ 6008 h 10047"/>
                <a:gd name="connsiteX8" fmla="*/ 3468 w 10000"/>
                <a:gd name="connsiteY8" fmla="*/ 6443 h 10047"/>
                <a:gd name="connsiteX9" fmla="*/ 3914 w 10000"/>
                <a:gd name="connsiteY9" fmla="*/ 6897 h 10047"/>
                <a:gd name="connsiteX10" fmla="*/ 4343 w 10000"/>
                <a:gd name="connsiteY10" fmla="*/ 7055 h 10047"/>
                <a:gd name="connsiteX11" fmla="*/ 4663 w 10000"/>
                <a:gd name="connsiteY11" fmla="*/ 7036 h 10047"/>
                <a:gd name="connsiteX12" fmla="*/ 5084 w 10000"/>
                <a:gd name="connsiteY12" fmla="*/ 7055 h 10047"/>
                <a:gd name="connsiteX13" fmla="*/ 5704 w 10000"/>
                <a:gd name="connsiteY13" fmla="*/ 7233 h 10047"/>
                <a:gd name="connsiteX14" fmla="*/ 6263 w 10000"/>
                <a:gd name="connsiteY14" fmla="*/ 7767 h 10047"/>
                <a:gd name="connsiteX15" fmla="*/ 7200 w 10000"/>
                <a:gd name="connsiteY15" fmla="*/ 8528 h 10047"/>
                <a:gd name="connsiteX16" fmla="*/ 8058 w 10000"/>
                <a:gd name="connsiteY16" fmla="*/ 9130 h 10047"/>
                <a:gd name="connsiteX17" fmla="*/ 9171 w 10000"/>
                <a:gd name="connsiteY17" fmla="*/ 9707 h 10047"/>
                <a:gd name="connsiteX18" fmla="*/ 10000 w 10000"/>
                <a:gd name="connsiteY18" fmla="*/ 10047 h 10047"/>
                <a:gd name="connsiteX0" fmla="*/ 0 w 10000"/>
                <a:gd name="connsiteY0" fmla="*/ 0 h 10047"/>
                <a:gd name="connsiteX1" fmla="*/ 478 w 10000"/>
                <a:gd name="connsiteY1" fmla="*/ 893 h 10047"/>
                <a:gd name="connsiteX2" fmla="*/ 996 w 10000"/>
                <a:gd name="connsiteY2" fmla="*/ 1897 h 10047"/>
                <a:gd name="connsiteX3" fmla="*/ 1381 w 10000"/>
                <a:gd name="connsiteY3" fmla="*/ 2620 h 10047"/>
                <a:gd name="connsiteX4" fmla="*/ 1828 w 10000"/>
                <a:gd name="connsiteY4" fmla="*/ 3549 h 10047"/>
                <a:gd name="connsiteX5" fmla="*/ 2323 w 10000"/>
                <a:gd name="connsiteY5" fmla="*/ 4447 h 10047"/>
                <a:gd name="connsiteX6" fmla="*/ 2761 w 10000"/>
                <a:gd name="connsiteY6" fmla="*/ 5257 h 10047"/>
                <a:gd name="connsiteX7" fmla="*/ 3215 w 10000"/>
                <a:gd name="connsiteY7" fmla="*/ 6008 h 10047"/>
                <a:gd name="connsiteX8" fmla="*/ 3468 w 10000"/>
                <a:gd name="connsiteY8" fmla="*/ 6443 h 10047"/>
                <a:gd name="connsiteX9" fmla="*/ 3914 w 10000"/>
                <a:gd name="connsiteY9" fmla="*/ 6897 h 10047"/>
                <a:gd name="connsiteX10" fmla="*/ 4343 w 10000"/>
                <a:gd name="connsiteY10" fmla="*/ 7055 h 10047"/>
                <a:gd name="connsiteX11" fmla="*/ 4663 w 10000"/>
                <a:gd name="connsiteY11" fmla="*/ 7036 h 10047"/>
                <a:gd name="connsiteX12" fmla="*/ 5084 w 10000"/>
                <a:gd name="connsiteY12" fmla="*/ 7055 h 10047"/>
                <a:gd name="connsiteX13" fmla="*/ 5704 w 10000"/>
                <a:gd name="connsiteY13" fmla="*/ 7233 h 10047"/>
                <a:gd name="connsiteX14" fmla="*/ 6263 w 10000"/>
                <a:gd name="connsiteY14" fmla="*/ 7767 h 10047"/>
                <a:gd name="connsiteX15" fmla="*/ 7200 w 10000"/>
                <a:gd name="connsiteY15" fmla="*/ 8528 h 10047"/>
                <a:gd name="connsiteX16" fmla="*/ 8058 w 10000"/>
                <a:gd name="connsiteY16" fmla="*/ 9130 h 10047"/>
                <a:gd name="connsiteX17" fmla="*/ 9171 w 10000"/>
                <a:gd name="connsiteY17" fmla="*/ 9707 h 10047"/>
                <a:gd name="connsiteX18" fmla="*/ 10000 w 10000"/>
                <a:gd name="connsiteY18" fmla="*/ 10047 h 10047"/>
                <a:gd name="connsiteX0" fmla="*/ 0 w 9906"/>
                <a:gd name="connsiteY0" fmla="*/ 0 h 9984"/>
                <a:gd name="connsiteX1" fmla="*/ 384 w 9906"/>
                <a:gd name="connsiteY1" fmla="*/ 830 h 9984"/>
                <a:gd name="connsiteX2" fmla="*/ 902 w 9906"/>
                <a:gd name="connsiteY2" fmla="*/ 1834 h 9984"/>
                <a:gd name="connsiteX3" fmla="*/ 1287 w 9906"/>
                <a:gd name="connsiteY3" fmla="*/ 2557 h 9984"/>
                <a:gd name="connsiteX4" fmla="*/ 1734 w 9906"/>
                <a:gd name="connsiteY4" fmla="*/ 3486 h 9984"/>
                <a:gd name="connsiteX5" fmla="*/ 2229 w 9906"/>
                <a:gd name="connsiteY5" fmla="*/ 4384 h 9984"/>
                <a:gd name="connsiteX6" fmla="*/ 2667 w 9906"/>
                <a:gd name="connsiteY6" fmla="*/ 5194 h 9984"/>
                <a:gd name="connsiteX7" fmla="*/ 3121 w 9906"/>
                <a:gd name="connsiteY7" fmla="*/ 5945 h 9984"/>
                <a:gd name="connsiteX8" fmla="*/ 3374 w 9906"/>
                <a:gd name="connsiteY8" fmla="*/ 6380 h 9984"/>
                <a:gd name="connsiteX9" fmla="*/ 3820 w 9906"/>
                <a:gd name="connsiteY9" fmla="*/ 6834 h 9984"/>
                <a:gd name="connsiteX10" fmla="*/ 4249 w 9906"/>
                <a:gd name="connsiteY10" fmla="*/ 6992 h 9984"/>
                <a:gd name="connsiteX11" fmla="*/ 4569 w 9906"/>
                <a:gd name="connsiteY11" fmla="*/ 6973 h 9984"/>
                <a:gd name="connsiteX12" fmla="*/ 4990 w 9906"/>
                <a:gd name="connsiteY12" fmla="*/ 6992 h 9984"/>
                <a:gd name="connsiteX13" fmla="*/ 5610 w 9906"/>
                <a:gd name="connsiteY13" fmla="*/ 7170 h 9984"/>
                <a:gd name="connsiteX14" fmla="*/ 6169 w 9906"/>
                <a:gd name="connsiteY14" fmla="*/ 7704 h 9984"/>
                <a:gd name="connsiteX15" fmla="*/ 7106 w 9906"/>
                <a:gd name="connsiteY15" fmla="*/ 8465 h 9984"/>
                <a:gd name="connsiteX16" fmla="*/ 7964 w 9906"/>
                <a:gd name="connsiteY16" fmla="*/ 9067 h 9984"/>
                <a:gd name="connsiteX17" fmla="*/ 9077 w 9906"/>
                <a:gd name="connsiteY17" fmla="*/ 9644 h 9984"/>
                <a:gd name="connsiteX18" fmla="*/ 9906 w 9906"/>
                <a:gd name="connsiteY18" fmla="*/ 9984 h 9984"/>
                <a:gd name="connsiteX0" fmla="*/ 0 w 10000"/>
                <a:gd name="connsiteY0" fmla="*/ 0 h 10000"/>
                <a:gd name="connsiteX1" fmla="*/ 388 w 10000"/>
                <a:gd name="connsiteY1" fmla="*/ 831 h 10000"/>
                <a:gd name="connsiteX2" fmla="*/ 911 w 10000"/>
                <a:gd name="connsiteY2" fmla="*/ 1837 h 10000"/>
                <a:gd name="connsiteX3" fmla="*/ 1299 w 10000"/>
                <a:gd name="connsiteY3" fmla="*/ 2561 h 10000"/>
                <a:gd name="connsiteX4" fmla="*/ 1750 w 10000"/>
                <a:gd name="connsiteY4" fmla="*/ 3492 h 10000"/>
                <a:gd name="connsiteX5" fmla="*/ 2250 w 10000"/>
                <a:gd name="connsiteY5" fmla="*/ 4391 h 10000"/>
                <a:gd name="connsiteX6" fmla="*/ 2692 w 10000"/>
                <a:gd name="connsiteY6" fmla="*/ 5202 h 10000"/>
                <a:gd name="connsiteX7" fmla="*/ 3151 w 10000"/>
                <a:gd name="connsiteY7" fmla="*/ 5955 h 10000"/>
                <a:gd name="connsiteX8" fmla="*/ 3406 w 10000"/>
                <a:gd name="connsiteY8" fmla="*/ 6390 h 10000"/>
                <a:gd name="connsiteX9" fmla="*/ 3856 w 10000"/>
                <a:gd name="connsiteY9" fmla="*/ 6845 h 10000"/>
                <a:gd name="connsiteX10" fmla="*/ 4289 w 10000"/>
                <a:gd name="connsiteY10" fmla="*/ 7003 h 10000"/>
                <a:gd name="connsiteX11" fmla="*/ 4612 w 10000"/>
                <a:gd name="connsiteY11" fmla="*/ 6984 h 10000"/>
                <a:gd name="connsiteX12" fmla="*/ 5037 w 10000"/>
                <a:gd name="connsiteY12" fmla="*/ 7003 h 10000"/>
                <a:gd name="connsiteX13" fmla="*/ 5663 w 10000"/>
                <a:gd name="connsiteY13" fmla="*/ 7181 h 10000"/>
                <a:gd name="connsiteX14" fmla="*/ 6269 w 10000"/>
                <a:gd name="connsiteY14" fmla="*/ 7668 h 10000"/>
                <a:gd name="connsiteX15" fmla="*/ 7173 w 10000"/>
                <a:gd name="connsiteY15" fmla="*/ 8479 h 10000"/>
                <a:gd name="connsiteX16" fmla="*/ 8040 w 10000"/>
                <a:gd name="connsiteY16" fmla="*/ 9082 h 10000"/>
                <a:gd name="connsiteX17" fmla="*/ 9163 w 10000"/>
                <a:gd name="connsiteY17" fmla="*/ 9659 h 10000"/>
                <a:gd name="connsiteX18" fmla="*/ 10000 w 10000"/>
                <a:gd name="connsiteY18"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00" h="10000">
                  <a:moveTo>
                    <a:pt x="0" y="0"/>
                  </a:moveTo>
                  <a:cubicBezTo>
                    <a:pt x="127" y="227"/>
                    <a:pt x="236" y="525"/>
                    <a:pt x="388" y="831"/>
                  </a:cubicBezTo>
                  <a:cubicBezTo>
                    <a:pt x="539" y="1138"/>
                    <a:pt x="758" y="1548"/>
                    <a:pt x="911" y="1837"/>
                  </a:cubicBezTo>
                  <a:cubicBezTo>
                    <a:pt x="1063" y="2125"/>
                    <a:pt x="1159" y="2286"/>
                    <a:pt x="1299" y="2561"/>
                  </a:cubicBezTo>
                  <a:cubicBezTo>
                    <a:pt x="1440" y="2837"/>
                    <a:pt x="1592" y="3187"/>
                    <a:pt x="1750" y="3492"/>
                  </a:cubicBezTo>
                  <a:cubicBezTo>
                    <a:pt x="1909" y="3796"/>
                    <a:pt x="2094" y="4106"/>
                    <a:pt x="2250" y="4391"/>
                  </a:cubicBezTo>
                  <a:cubicBezTo>
                    <a:pt x="2407" y="4676"/>
                    <a:pt x="2539" y="4945"/>
                    <a:pt x="2692" y="5202"/>
                  </a:cubicBezTo>
                  <a:cubicBezTo>
                    <a:pt x="2845" y="5460"/>
                    <a:pt x="3033" y="5756"/>
                    <a:pt x="3151" y="5955"/>
                  </a:cubicBezTo>
                  <a:cubicBezTo>
                    <a:pt x="3270" y="6153"/>
                    <a:pt x="3287" y="6241"/>
                    <a:pt x="3406" y="6390"/>
                  </a:cubicBezTo>
                  <a:cubicBezTo>
                    <a:pt x="3525" y="6538"/>
                    <a:pt x="3712" y="6746"/>
                    <a:pt x="3856" y="6845"/>
                  </a:cubicBezTo>
                  <a:cubicBezTo>
                    <a:pt x="4001" y="6944"/>
                    <a:pt x="4162" y="6984"/>
                    <a:pt x="4289" y="7003"/>
                  </a:cubicBezTo>
                  <a:cubicBezTo>
                    <a:pt x="4418" y="7023"/>
                    <a:pt x="4485" y="6984"/>
                    <a:pt x="4612" y="6984"/>
                  </a:cubicBezTo>
                  <a:cubicBezTo>
                    <a:pt x="4741" y="6984"/>
                    <a:pt x="4863" y="6970"/>
                    <a:pt x="5037" y="7003"/>
                  </a:cubicBezTo>
                  <a:cubicBezTo>
                    <a:pt x="5212" y="7036"/>
                    <a:pt x="5458" y="7070"/>
                    <a:pt x="5663" y="7181"/>
                  </a:cubicBezTo>
                  <a:cubicBezTo>
                    <a:pt x="5868" y="7292"/>
                    <a:pt x="6017" y="7452"/>
                    <a:pt x="6269" y="7668"/>
                  </a:cubicBezTo>
                  <a:cubicBezTo>
                    <a:pt x="6520" y="7885"/>
                    <a:pt x="6878" y="8243"/>
                    <a:pt x="7173" y="8479"/>
                  </a:cubicBezTo>
                  <a:cubicBezTo>
                    <a:pt x="7468" y="8715"/>
                    <a:pt x="7708" y="8885"/>
                    <a:pt x="8040" y="9082"/>
                  </a:cubicBezTo>
                  <a:cubicBezTo>
                    <a:pt x="8371" y="9278"/>
                    <a:pt x="8836" y="9506"/>
                    <a:pt x="9163" y="9659"/>
                  </a:cubicBezTo>
                  <a:lnTo>
                    <a:pt x="10000" y="10000"/>
                  </a:lnTo>
                </a:path>
              </a:pathLst>
            </a:custGeom>
            <a:noFill/>
            <a:ln w="19050">
              <a:solidFill>
                <a:srgbClr val="0066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1" name="矩形 210"/>
            <p:cNvSpPr/>
            <p:nvPr/>
          </p:nvSpPr>
          <p:spPr>
            <a:xfrm>
              <a:off x="6420717" y="3312117"/>
              <a:ext cx="468398" cy="447045"/>
            </a:xfrm>
            <a:prstGeom prst="rect">
              <a:avLst/>
            </a:prstGeom>
          </p:spPr>
          <p:txBody>
            <a:bodyPr wrap="none">
              <a:spAutoFit/>
            </a:bodyPr>
            <a:lstStyle/>
            <a:p>
              <a:r>
                <a:rPr lang="zh-CN" altLang="en-US" sz="2200" b="1" dirty="0">
                  <a:solidFill>
                    <a:srgbClr val="006600"/>
                  </a:solidFill>
                </a:rPr>
                <a:t>①</a:t>
              </a:r>
            </a:p>
          </p:txBody>
        </p:sp>
        <p:grpSp>
          <p:nvGrpSpPr>
            <p:cNvPr id="212" name="组合 211"/>
            <p:cNvGrpSpPr/>
            <p:nvPr/>
          </p:nvGrpSpPr>
          <p:grpSpPr>
            <a:xfrm>
              <a:off x="5187937" y="1569694"/>
              <a:ext cx="3462337" cy="2787650"/>
              <a:chOff x="5187937" y="1569694"/>
              <a:chExt cx="3462337" cy="2787650"/>
            </a:xfrm>
          </p:grpSpPr>
          <p:sp>
            <p:nvSpPr>
              <p:cNvPr id="214" name="Freeform 68"/>
              <p:cNvSpPr>
                <a:spLocks/>
              </p:cNvSpPr>
              <p:nvPr/>
            </p:nvSpPr>
            <p:spPr bwMode="auto">
              <a:xfrm>
                <a:off x="5187937" y="1569694"/>
                <a:ext cx="3462337" cy="2787650"/>
              </a:xfrm>
              <a:custGeom>
                <a:avLst/>
                <a:gdLst>
                  <a:gd name="T0" fmla="*/ 0 w 2181"/>
                  <a:gd name="T1" fmla="*/ 0 h 1756"/>
                  <a:gd name="T2" fmla="*/ 2147483647 w 2181"/>
                  <a:gd name="T3" fmla="*/ 2147483647 h 1756"/>
                  <a:gd name="T4" fmla="*/ 2147483647 w 2181"/>
                  <a:gd name="T5" fmla="*/ 2147483647 h 1756"/>
                  <a:gd name="T6" fmla="*/ 2147483647 w 2181"/>
                  <a:gd name="T7" fmla="*/ 2147483647 h 1756"/>
                  <a:gd name="T8" fmla="*/ 2147483647 w 2181"/>
                  <a:gd name="T9" fmla="*/ 2147483647 h 1756"/>
                  <a:gd name="T10" fmla="*/ 2147483647 w 2181"/>
                  <a:gd name="T11" fmla="*/ 2147483647 h 1756"/>
                  <a:gd name="T12" fmla="*/ 2147483647 w 2181"/>
                  <a:gd name="T13" fmla="*/ 2147483647 h 1756"/>
                  <a:gd name="T14" fmla="*/ 2147483647 w 2181"/>
                  <a:gd name="T15" fmla="*/ 2147483647 h 1756"/>
                  <a:gd name="T16" fmla="*/ 2147483647 w 2181"/>
                  <a:gd name="T17" fmla="*/ 2147483647 h 1756"/>
                  <a:gd name="T18" fmla="*/ 2147483647 w 2181"/>
                  <a:gd name="T19" fmla="*/ 2147483647 h 1756"/>
                  <a:gd name="T20" fmla="*/ 2147483647 w 2181"/>
                  <a:gd name="T21" fmla="*/ 2147483647 h 1756"/>
                  <a:gd name="T22" fmla="*/ 2147483647 w 2181"/>
                  <a:gd name="T23" fmla="*/ 2147483647 h 1756"/>
                  <a:gd name="T24" fmla="*/ 2147483647 w 2181"/>
                  <a:gd name="T25" fmla="*/ 2147483647 h 1756"/>
                  <a:gd name="T26" fmla="*/ 2147483647 w 2181"/>
                  <a:gd name="T27" fmla="*/ 2147483647 h 1756"/>
                  <a:gd name="T28" fmla="*/ 2147483647 w 2181"/>
                  <a:gd name="T29" fmla="*/ 2147483647 h 1756"/>
                  <a:gd name="T30" fmla="*/ 2147483647 w 2181"/>
                  <a:gd name="T31" fmla="*/ 2147483647 h 1756"/>
                  <a:gd name="T32" fmla="*/ 2147483647 w 2181"/>
                  <a:gd name="T33" fmla="*/ 2147483647 h 1756"/>
                  <a:gd name="T34" fmla="*/ 2147483647 w 2181"/>
                  <a:gd name="T35" fmla="*/ 2147483647 h 1756"/>
                  <a:gd name="T36" fmla="*/ 2147483647 w 2181"/>
                  <a:gd name="T37" fmla="*/ 2147483647 h 1756"/>
                  <a:gd name="T38" fmla="*/ 2147483647 w 2181"/>
                  <a:gd name="T39" fmla="*/ 2147483647 h 1756"/>
                  <a:gd name="T40" fmla="*/ 2147483647 w 2181"/>
                  <a:gd name="T41" fmla="*/ 2147483647 h 1756"/>
                  <a:gd name="T42" fmla="*/ 2147483647 w 2181"/>
                  <a:gd name="T43" fmla="*/ 2147483647 h 1756"/>
                  <a:gd name="T44" fmla="*/ 2147483647 w 2181"/>
                  <a:gd name="T45" fmla="*/ 2147483647 h 1756"/>
                  <a:gd name="T46" fmla="*/ 2147483647 w 2181"/>
                  <a:gd name="T47" fmla="*/ 2147483647 h 1756"/>
                  <a:gd name="T48" fmla="*/ 2147483647 w 2181"/>
                  <a:gd name="T49" fmla="*/ 2147483647 h 17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181"/>
                  <a:gd name="T76" fmla="*/ 0 h 1756"/>
                  <a:gd name="T77" fmla="*/ 2181 w 2181"/>
                  <a:gd name="T78" fmla="*/ 1756 h 17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181" h="1756">
                    <a:moveTo>
                      <a:pt x="0" y="0"/>
                    </a:moveTo>
                    <a:cubicBezTo>
                      <a:pt x="16" y="10"/>
                      <a:pt x="67" y="41"/>
                      <a:pt x="96" y="60"/>
                    </a:cubicBezTo>
                    <a:cubicBezTo>
                      <a:pt x="125" y="79"/>
                      <a:pt x="155" y="99"/>
                      <a:pt x="177" y="114"/>
                    </a:cubicBezTo>
                    <a:cubicBezTo>
                      <a:pt x="199" y="129"/>
                      <a:pt x="202" y="130"/>
                      <a:pt x="228" y="150"/>
                    </a:cubicBezTo>
                    <a:cubicBezTo>
                      <a:pt x="254" y="170"/>
                      <a:pt x="293" y="202"/>
                      <a:pt x="331" y="235"/>
                    </a:cubicBezTo>
                    <a:cubicBezTo>
                      <a:pt x="369" y="268"/>
                      <a:pt x="420" y="315"/>
                      <a:pt x="456" y="349"/>
                    </a:cubicBezTo>
                    <a:cubicBezTo>
                      <a:pt x="492" y="383"/>
                      <a:pt x="516" y="409"/>
                      <a:pt x="546" y="442"/>
                    </a:cubicBezTo>
                    <a:cubicBezTo>
                      <a:pt x="576" y="475"/>
                      <a:pt x="613" y="519"/>
                      <a:pt x="637" y="547"/>
                    </a:cubicBezTo>
                    <a:cubicBezTo>
                      <a:pt x="661" y="575"/>
                      <a:pt x="665" y="581"/>
                      <a:pt x="688" y="610"/>
                    </a:cubicBezTo>
                    <a:cubicBezTo>
                      <a:pt x="711" y="639"/>
                      <a:pt x="754" y="693"/>
                      <a:pt x="775" y="722"/>
                    </a:cubicBezTo>
                    <a:cubicBezTo>
                      <a:pt x="796" y="751"/>
                      <a:pt x="804" y="767"/>
                      <a:pt x="814" y="784"/>
                    </a:cubicBezTo>
                    <a:cubicBezTo>
                      <a:pt x="824" y="801"/>
                      <a:pt x="822" y="800"/>
                      <a:pt x="838" y="827"/>
                    </a:cubicBezTo>
                    <a:cubicBezTo>
                      <a:pt x="854" y="854"/>
                      <a:pt x="885" y="905"/>
                      <a:pt x="912" y="944"/>
                    </a:cubicBezTo>
                    <a:cubicBezTo>
                      <a:pt x="939" y="983"/>
                      <a:pt x="973" y="1029"/>
                      <a:pt x="999" y="1063"/>
                    </a:cubicBezTo>
                    <a:cubicBezTo>
                      <a:pt x="1025" y="1097"/>
                      <a:pt x="1035" y="1114"/>
                      <a:pt x="1066" y="1150"/>
                    </a:cubicBezTo>
                    <a:cubicBezTo>
                      <a:pt x="1097" y="1186"/>
                      <a:pt x="1149" y="1239"/>
                      <a:pt x="1188" y="1277"/>
                    </a:cubicBezTo>
                    <a:cubicBezTo>
                      <a:pt x="1227" y="1315"/>
                      <a:pt x="1274" y="1353"/>
                      <a:pt x="1303" y="1378"/>
                    </a:cubicBezTo>
                    <a:cubicBezTo>
                      <a:pt x="1332" y="1403"/>
                      <a:pt x="1338" y="1409"/>
                      <a:pt x="1360" y="1427"/>
                    </a:cubicBezTo>
                    <a:cubicBezTo>
                      <a:pt x="1382" y="1445"/>
                      <a:pt x="1403" y="1465"/>
                      <a:pt x="1435" y="1487"/>
                    </a:cubicBezTo>
                    <a:cubicBezTo>
                      <a:pt x="1467" y="1509"/>
                      <a:pt x="1511" y="1539"/>
                      <a:pt x="1551" y="1562"/>
                    </a:cubicBezTo>
                    <a:cubicBezTo>
                      <a:pt x="1591" y="1585"/>
                      <a:pt x="1629" y="1608"/>
                      <a:pt x="1675" y="1628"/>
                    </a:cubicBezTo>
                    <a:cubicBezTo>
                      <a:pt x="1721" y="1648"/>
                      <a:pt x="1776" y="1669"/>
                      <a:pt x="1825" y="1685"/>
                    </a:cubicBezTo>
                    <a:cubicBezTo>
                      <a:pt x="1874" y="1701"/>
                      <a:pt x="1934" y="1714"/>
                      <a:pt x="1972" y="1723"/>
                    </a:cubicBezTo>
                    <a:cubicBezTo>
                      <a:pt x="2010" y="1732"/>
                      <a:pt x="2018" y="1733"/>
                      <a:pt x="2053" y="1738"/>
                    </a:cubicBezTo>
                    <a:cubicBezTo>
                      <a:pt x="2088" y="1743"/>
                      <a:pt x="2154" y="1752"/>
                      <a:pt x="2181" y="1756"/>
                    </a:cubicBezTo>
                  </a:path>
                </a:pathLst>
              </a:custGeom>
              <a:noFill/>
              <a:ln w="19050">
                <a:solidFill>
                  <a:srgbClr val="0000CC"/>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15" name="矩形 214"/>
              <p:cNvSpPr/>
              <p:nvPr/>
            </p:nvSpPr>
            <p:spPr>
              <a:xfrm>
                <a:off x="6815189" y="3168784"/>
                <a:ext cx="468397" cy="430887"/>
              </a:xfrm>
              <a:prstGeom prst="rect">
                <a:avLst/>
              </a:prstGeom>
            </p:spPr>
            <p:txBody>
              <a:bodyPr wrap="none">
                <a:spAutoFit/>
              </a:bodyPr>
              <a:lstStyle/>
              <a:p>
                <a:pPr algn="ctr" fontAlgn="auto">
                  <a:lnSpc>
                    <a:spcPct val="100000"/>
                  </a:lnSpc>
                  <a:spcBef>
                    <a:spcPts val="0"/>
                  </a:spcBef>
                  <a:spcAft>
                    <a:spcPts val="0"/>
                  </a:spcAft>
                  <a:defRPr/>
                </a:pPr>
                <a:r>
                  <a:rPr lang="zh-CN" altLang="en-US" sz="2200" b="1" dirty="0">
                    <a:latin typeface="宋体"/>
                  </a:rPr>
                  <a:t>②</a:t>
                </a:r>
                <a:endParaRPr lang="zh-CN" altLang="en-US" sz="2200" b="1" dirty="0"/>
              </a:p>
            </p:txBody>
          </p:sp>
        </p:grpSp>
        <p:sp>
          <p:nvSpPr>
            <p:cNvPr id="213" name="矩形 212"/>
            <p:cNvSpPr/>
            <p:nvPr/>
          </p:nvSpPr>
          <p:spPr>
            <a:xfrm>
              <a:off x="7027839" y="2865550"/>
              <a:ext cx="468397" cy="481670"/>
            </a:xfrm>
            <a:prstGeom prst="rect">
              <a:avLst/>
            </a:prstGeom>
          </p:spPr>
          <p:txBody>
            <a:bodyPr wrap="none">
              <a:spAutoFit/>
            </a:bodyPr>
            <a:lstStyle/>
            <a:p>
              <a:pPr algn="ctr"/>
              <a:r>
                <a:rPr lang="zh-CN" altLang="en-US" sz="2200" b="1" dirty="0">
                  <a:solidFill>
                    <a:srgbClr val="C00000"/>
                  </a:solidFill>
                  <a:latin typeface="宋体"/>
                </a:rPr>
                <a:t>③</a:t>
              </a:r>
              <a:endParaRPr lang="zh-CN" altLang="en-US" sz="2200" b="1" dirty="0">
                <a:solidFill>
                  <a:srgbClr val="C00000"/>
                </a:solidFill>
              </a:endParaRPr>
            </a:p>
          </p:txBody>
        </p:sp>
      </p:grpSp>
      <p:grpSp>
        <p:nvGrpSpPr>
          <p:cNvPr id="7" name="组合 6"/>
          <p:cNvGrpSpPr/>
          <p:nvPr/>
        </p:nvGrpSpPr>
        <p:grpSpPr>
          <a:xfrm>
            <a:off x="6629044" y="2747963"/>
            <a:ext cx="260350" cy="112712"/>
            <a:chOff x="6632575" y="2747963"/>
            <a:chExt cx="260350" cy="112712"/>
          </a:xfrm>
        </p:grpSpPr>
        <p:sp>
          <p:nvSpPr>
            <p:cNvPr id="4" name="左右箭头 3"/>
            <p:cNvSpPr/>
            <p:nvPr/>
          </p:nvSpPr>
          <p:spPr>
            <a:xfrm>
              <a:off x="6638871" y="2781301"/>
              <a:ext cx="246185" cy="55776"/>
            </a:xfrm>
            <a:prstGeom prst="leftRightArrow">
              <a:avLst>
                <a:gd name="adj1" fmla="val 50000"/>
                <a:gd name="adj2" fmla="val 105558"/>
              </a:avLst>
            </a:prstGeom>
            <a:solidFill>
              <a:srgbClr val="FF0000"/>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632575" y="2747963"/>
              <a:ext cx="0" cy="11112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a:off x="6892925" y="2749550"/>
              <a:ext cx="0" cy="11112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36" name="组合 235"/>
          <p:cNvGrpSpPr/>
          <p:nvPr/>
        </p:nvGrpSpPr>
        <p:grpSpPr>
          <a:xfrm>
            <a:off x="7156450" y="3914775"/>
            <a:ext cx="287338" cy="112712"/>
            <a:chOff x="6632575" y="2747963"/>
            <a:chExt cx="260350" cy="112712"/>
          </a:xfrm>
        </p:grpSpPr>
        <p:sp>
          <p:nvSpPr>
            <p:cNvPr id="237" name="左右箭头 236"/>
            <p:cNvSpPr/>
            <p:nvPr/>
          </p:nvSpPr>
          <p:spPr>
            <a:xfrm>
              <a:off x="6638871" y="2781301"/>
              <a:ext cx="246185" cy="55776"/>
            </a:xfrm>
            <a:prstGeom prst="leftRightArrow">
              <a:avLst>
                <a:gd name="adj1" fmla="val 50000"/>
                <a:gd name="adj2" fmla="val 105558"/>
              </a:avLst>
            </a:prstGeom>
            <a:solidFill>
              <a:srgbClr val="006600"/>
            </a:solidFill>
            <a:ln w="635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8" name="直接连接符 237"/>
            <p:cNvCxnSpPr/>
            <p:nvPr/>
          </p:nvCxnSpPr>
          <p:spPr>
            <a:xfrm>
              <a:off x="6632575" y="2747963"/>
              <a:ext cx="0" cy="111125"/>
            </a:xfrm>
            <a:prstGeom prst="line">
              <a:avLst/>
            </a:prstGeom>
            <a:ln>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892925" y="2749550"/>
              <a:ext cx="0" cy="111125"/>
            </a:xfrm>
            <a:prstGeom prst="line">
              <a:avLst/>
            </a:prstGeom>
            <a:ln>
              <a:solidFill>
                <a:srgbClr val="006600"/>
              </a:solidFill>
            </a:ln>
          </p:spPr>
          <p:style>
            <a:lnRef idx="1">
              <a:schemeClr val="accent1"/>
            </a:lnRef>
            <a:fillRef idx="0">
              <a:schemeClr val="accent1"/>
            </a:fillRef>
            <a:effectRef idx="0">
              <a:schemeClr val="accent1"/>
            </a:effectRef>
            <a:fontRef idx="minor">
              <a:schemeClr val="tx1"/>
            </a:fontRef>
          </p:style>
        </p:cxnSp>
      </p:grpSp>
      <p:sp>
        <p:nvSpPr>
          <p:cNvPr id="11" name="矩形 10"/>
          <p:cNvSpPr/>
          <p:nvPr/>
        </p:nvSpPr>
        <p:spPr>
          <a:xfrm>
            <a:off x="7213815" y="2035761"/>
            <a:ext cx="1269004" cy="755015"/>
          </a:xfrm>
          <a:prstGeom prst="rect">
            <a:avLst/>
          </a:prstGeom>
          <a:solidFill>
            <a:schemeClr val="bg1"/>
          </a:solidFill>
        </p:spPr>
        <p:txBody>
          <a:bodyPr wrap="square">
            <a:spAutoFit/>
          </a:bodyPr>
          <a:lstStyle/>
          <a:p>
            <a:r>
              <a:rPr lang="zh-CN" altLang="en-US" sz="2000" b="1" dirty="0">
                <a:solidFill>
                  <a:srgbClr val="C00000"/>
                </a:solidFill>
                <a:latin typeface="幼圆" panose="02010509060101010101" pitchFamily="49" charset="-122"/>
                <a:ea typeface="幼圆" panose="02010509060101010101" pitchFamily="49" charset="-122"/>
              </a:rPr>
              <a:t>土体</a:t>
            </a:r>
            <a:r>
              <a:rPr lang="zh-CN" altLang="en-US" sz="2000" b="1" dirty="0" smtClean="0">
                <a:solidFill>
                  <a:srgbClr val="C00000"/>
                </a:solidFill>
                <a:latin typeface="幼圆" panose="02010509060101010101" pitchFamily="49" charset="-122"/>
                <a:ea typeface="幼圆" panose="02010509060101010101" pitchFamily="49" charset="-122"/>
              </a:rPr>
              <a:t>③缺少</a:t>
            </a:r>
            <a:r>
              <a:rPr lang="zh-CN" altLang="en-US" sz="2000" b="1" dirty="0">
                <a:solidFill>
                  <a:srgbClr val="C00000"/>
                </a:solidFill>
                <a:latin typeface="幼圆" panose="02010509060101010101" pitchFamily="49" charset="-122"/>
                <a:ea typeface="幼圆" panose="02010509060101010101" pitchFamily="49" charset="-122"/>
              </a:rPr>
              <a:t>的</a:t>
            </a:r>
            <a:r>
              <a:rPr lang="zh-CN" altLang="en-US" sz="2000" b="1" dirty="0" smtClean="0">
                <a:solidFill>
                  <a:srgbClr val="C00000"/>
                </a:solidFill>
                <a:latin typeface="幼圆" panose="02010509060101010101" pitchFamily="49" charset="-122"/>
                <a:ea typeface="幼圆" panose="02010509060101010101" pitchFamily="49" charset="-122"/>
              </a:rPr>
              <a:t>粒径</a:t>
            </a:r>
            <a:endParaRPr lang="zh-CN" altLang="en-US" sz="2000" b="1" dirty="0">
              <a:solidFill>
                <a:srgbClr val="C00000"/>
              </a:solidFill>
              <a:latin typeface="幼圆" panose="02010509060101010101" pitchFamily="49" charset="-122"/>
              <a:ea typeface="幼圆" panose="02010509060101010101" pitchFamily="49" charset="-122"/>
            </a:endParaRPr>
          </a:p>
        </p:txBody>
      </p:sp>
      <p:sp>
        <p:nvSpPr>
          <p:cNvPr id="244" name="矩形 243"/>
          <p:cNvSpPr/>
          <p:nvPr/>
        </p:nvSpPr>
        <p:spPr>
          <a:xfrm>
            <a:off x="5249028" y="3734908"/>
            <a:ext cx="1269004" cy="800219"/>
          </a:xfrm>
          <a:prstGeom prst="rect">
            <a:avLst/>
          </a:prstGeom>
          <a:solidFill>
            <a:schemeClr val="bg1"/>
          </a:solidFill>
        </p:spPr>
        <p:txBody>
          <a:bodyPr wrap="square">
            <a:spAutoFit/>
          </a:bodyPr>
          <a:lstStyle/>
          <a:p>
            <a:r>
              <a:rPr lang="zh-CN" altLang="en-US" sz="2000" b="1" dirty="0">
                <a:solidFill>
                  <a:srgbClr val="006600"/>
                </a:solidFill>
                <a:latin typeface="幼圆" panose="02010509060101010101" pitchFamily="49" charset="-122"/>
                <a:ea typeface="幼圆" panose="02010509060101010101" pitchFamily="49" charset="-122"/>
              </a:rPr>
              <a:t>土体①</a:t>
            </a:r>
            <a:r>
              <a:rPr lang="zh-CN" altLang="en-US" sz="2000" b="1" dirty="0" smtClean="0">
                <a:solidFill>
                  <a:srgbClr val="006600"/>
                </a:solidFill>
                <a:latin typeface="幼圆" panose="02010509060101010101" pitchFamily="49" charset="-122"/>
                <a:ea typeface="幼圆" panose="02010509060101010101" pitchFamily="49" charset="-122"/>
              </a:rPr>
              <a:t>缺少</a:t>
            </a:r>
            <a:r>
              <a:rPr lang="zh-CN" altLang="en-US" sz="2000" b="1" dirty="0">
                <a:solidFill>
                  <a:srgbClr val="006600"/>
                </a:solidFill>
                <a:latin typeface="幼圆" panose="02010509060101010101" pitchFamily="49" charset="-122"/>
                <a:ea typeface="幼圆" panose="02010509060101010101" pitchFamily="49" charset="-122"/>
              </a:rPr>
              <a:t>的</a:t>
            </a:r>
            <a:r>
              <a:rPr lang="zh-CN" altLang="en-US" sz="2000" b="1" dirty="0" smtClean="0">
                <a:solidFill>
                  <a:srgbClr val="006600"/>
                </a:solidFill>
                <a:latin typeface="幼圆" panose="02010509060101010101" pitchFamily="49" charset="-122"/>
                <a:ea typeface="幼圆" panose="02010509060101010101" pitchFamily="49" charset="-122"/>
              </a:rPr>
              <a:t>粒径</a:t>
            </a:r>
            <a:endParaRPr lang="zh-CN" altLang="en-US" sz="2000" b="1" dirty="0">
              <a:solidFill>
                <a:srgbClr val="006600"/>
              </a:solidFill>
              <a:latin typeface="幼圆" panose="02010509060101010101" pitchFamily="49" charset="-122"/>
              <a:ea typeface="幼圆" panose="02010509060101010101" pitchFamily="49" charset="-122"/>
            </a:endParaRPr>
          </a:p>
        </p:txBody>
      </p:sp>
      <p:sp>
        <p:nvSpPr>
          <p:cNvPr id="12" name="任意多边形 11"/>
          <p:cNvSpPr/>
          <p:nvPr/>
        </p:nvSpPr>
        <p:spPr>
          <a:xfrm>
            <a:off x="6541477" y="4037428"/>
            <a:ext cx="787791" cy="196947"/>
          </a:xfrm>
          <a:custGeom>
            <a:avLst/>
            <a:gdLst>
              <a:gd name="connsiteX0" fmla="*/ 787791 w 787791"/>
              <a:gd name="connsiteY0" fmla="*/ 0 h 196947"/>
              <a:gd name="connsiteX1" fmla="*/ 548640 w 787791"/>
              <a:gd name="connsiteY1" fmla="*/ 196947 h 196947"/>
              <a:gd name="connsiteX2" fmla="*/ 0 w 787791"/>
              <a:gd name="connsiteY2" fmla="*/ 196947 h 196947"/>
            </a:gdLst>
            <a:ahLst/>
            <a:cxnLst>
              <a:cxn ang="0">
                <a:pos x="connsiteX0" y="connsiteY0"/>
              </a:cxn>
              <a:cxn ang="0">
                <a:pos x="connsiteX1" y="connsiteY1"/>
              </a:cxn>
              <a:cxn ang="0">
                <a:pos x="connsiteX2" y="connsiteY2"/>
              </a:cxn>
            </a:cxnLst>
            <a:rect l="l" t="t" r="r" b="b"/>
            <a:pathLst>
              <a:path w="787791" h="196947">
                <a:moveTo>
                  <a:pt x="787791" y="0"/>
                </a:moveTo>
                <a:lnTo>
                  <a:pt x="548640" y="196947"/>
                </a:lnTo>
                <a:lnTo>
                  <a:pt x="0" y="196947"/>
                </a:ln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6759526" y="2497016"/>
            <a:ext cx="457200" cy="239150"/>
          </a:xfrm>
          <a:custGeom>
            <a:avLst/>
            <a:gdLst>
              <a:gd name="connsiteX0" fmla="*/ 0 w 457200"/>
              <a:gd name="connsiteY0" fmla="*/ 239150 h 239150"/>
              <a:gd name="connsiteX1" fmla="*/ 196948 w 457200"/>
              <a:gd name="connsiteY1" fmla="*/ 0 h 239150"/>
              <a:gd name="connsiteX2" fmla="*/ 457200 w 457200"/>
              <a:gd name="connsiteY2" fmla="*/ 0 h 239150"/>
            </a:gdLst>
            <a:ahLst/>
            <a:cxnLst>
              <a:cxn ang="0">
                <a:pos x="connsiteX0" y="connsiteY0"/>
              </a:cxn>
              <a:cxn ang="0">
                <a:pos x="connsiteX1" y="connsiteY1"/>
              </a:cxn>
              <a:cxn ang="0">
                <a:pos x="connsiteX2" y="connsiteY2"/>
              </a:cxn>
            </a:cxnLst>
            <a:rect l="l" t="t" r="r" b="b"/>
            <a:pathLst>
              <a:path w="457200" h="239150">
                <a:moveTo>
                  <a:pt x="0" y="239150"/>
                </a:moveTo>
                <a:lnTo>
                  <a:pt x="196948" y="0"/>
                </a:lnTo>
                <a:lnTo>
                  <a:pt x="457200" y="0"/>
                </a:ln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837923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13"/>
                                        </p:tgtEl>
                                        <p:attrNameLst>
                                          <p:attrName>style.visibility</p:attrName>
                                        </p:attrNameLst>
                                      </p:cBhvr>
                                      <p:to>
                                        <p:strVal val="visible"/>
                                      </p:to>
                                    </p:set>
                                    <p:anim calcmode="lin" valueType="num">
                                      <p:cBhvr>
                                        <p:cTn id="7" dur="1000" fill="hold"/>
                                        <p:tgtEl>
                                          <p:spTgt spid="113"/>
                                        </p:tgtEl>
                                        <p:attrNameLst>
                                          <p:attrName>ppt_w</p:attrName>
                                        </p:attrNameLst>
                                      </p:cBhvr>
                                      <p:tavLst>
                                        <p:tav tm="0">
                                          <p:val>
                                            <p:fltVal val="0"/>
                                          </p:val>
                                        </p:tav>
                                        <p:tav tm="100000">
                                          <p:val>
                                            <p:strVal val="#ppt_w"/>
                                          </p:val>
                                        </p:tav>
                                      </p:tavLst>
                                    </p:anim>
                                    <p:anim calcmode="lin" valueType="num">
                                      <p:cBhvr>
                                        <p:cTn id="8" dur="1000" fill="hold"/>
                                        <p:tgtEl>
                                          <p:spTgt spid="113"/>
                                        </p:tgtEl>
                                        <p:attrNameLst>
                                          <p:attrName>ppt_h</p:attrName>
                                        </p:attrNameLst>
                                      </p:cBhvr>
                                      <p:tavLst>
                                        <p:tav tm="0">
                                          <p:val>
                                            <p:fltVal val="0"/>
                                          </p:val>
                                        </p:tav>
                                        <p:tav tm="100000">
                                          <p:val>
                                            <p:strVal val="#ppt_h"/>
                                          </p:val>
                                        </p:tav>
                                      </p:tavLst>
                                    </p:anim>
                                    <p:anim calcmode="lin" valueType="num">
                                      <p:cBhvr>
                                        <p:cTn id="9" dur="1000" fill="hold"/>
                                        <p:tgtEl>
                                          <p:spTgt spid="113"/>
                                        </p:tgtEl>
                                        <p:attrNameLst>
                                          <p:attrName>style.rotation</p:attrName>
                                        </p:attrNameLst>
                                      </p:cBhvr>
                                      <p:tavLst>
                                        <p:tav tm="0">
                                          <p:val>
                                            <p:fltVal val="90"/>
                                          </p:val>
                                        </p:tav>
                                        <p:tav tm="100000">
                                          <p:val>
                                            <p:fltVal val="0"/>
                                          </p:val>
                                        </p:tav>
                                      </p:tavLst>
                                    </p:anim>
                                    <p:animEffect transition="in" filter="fade">
                                      <p:cBhvr>
                                        <p:cTn id="10" dur="1000"/>
                                        <p:tgtEl>
                                          <p:spTgt spid="113"/>
                                        </p:tgtEl>
                                      </p:cBhvr>
                                    </p:animEffect>
                                  </p:childTnLst>
                                </p:cTn>
                              </p:par>
                            </p:childTnLst>
                          </p:cTn>
                        </p:par>
                        <p:par>
                          <p:cTn id="11" fill="hold">
                            <p:stCondLst>
                              <p:cond delay="1000"/>
                            </p:stCondLst>
                            <p:childTnLst>
                              <p:par>
                                <p:cTn id="12" presetID="16" presetClass="entr" presetSubtype="21"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36"/>
                                        </p:tgtEl>
                                        <p:attrNameLst>
                                          <p:attrName>style.visibility</p:attrName>
                                        </p:attrNameLst>
                                      </p:cBhvr>
                                      <p:to>
                                        <p:strVal val="visible"/>
                                      </p:to>
                                    </p:set>
                                    <p:animEffect transition="in" filter="fade">
                                      <p:cBhvr>
                                        <p:cTn id="19" dur="1000"/>
                                        <p:tgtEl>
                                          <p:spTgt spid="236"/>
                                        </p:tgtEl>
                                      </p:cBhvr>
                                    </p:animEffect>
                                    <p:anim calcmode="lin" valueType="num">
                                      <p:cBhvr>
                                        <p:cTn id="20" dur="1000" fill="hold"/>
                                        <p:tgtEl>
                                          <p:spTgt spid="236"/>
                                        </p:tgtEl>
                                        <p:attrNameLst>
                                          <p:attrName>ppt_x</p:attrName>
                                        </p:attrNameLst>
                                      </p:cBhvr>
                                      <p:tavLst>
                                        <p:tav tm="0">
                                          <p:val>
                                            <p:strVal val="#ppt_x"/>
                                          </p:val>
                                        </p:tav>
                                        <p:tav tm="100000">
                                          <p:val>
                                            <p:strVal val="#ppt_x"/>
                                          </p:val>
                                        </p:tav>
                                      </p:tavLst>
                                    </p:anim>
                                    <p:anim calcmode="lin" valueType="num">
                                      <p:cBhvr>
                                        <p:cTn id="21" dur="1000" fill="hold"/>
                                        <p:tgtEl>
                                          <p:spTgt spid="236"/>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22" presetClass="entr" presetSubtype="2"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1000"/>
                                        <p:tgtEl>
                                          <p:spTgt spid="12"/>
                                        </p:tgtEl>
                                      </p:cBhvr>
                                    </p:animEffect>
                                  </p:childTnLst>
                                </p:cTn>
                              </p:par>
                            </p:childTnLst>
                          </p:cTn>
                        </p:par>
                        <p:par>
                          <p:cTn id="26" fill="hold">
                            <p:stCondLst>
                              <p:cond delay="2000"/>
                            </p:stCondLst>
                            <p:childTnLst>
                              <p:par>
                                <p:cTn id="27" presetID="22" presetClass="entr" presetSubtype="2" fill="hold" grpId="0" nodeType="afterEffect">
                                  <p:stCondLst>
                                    <p:cond delay="0"/>
                                  </p:stCondLst>
                                  <p:childTnLst>
                                    <p:set>
                                      <p:cBhvr>
                                        <p:cTn id="28" dur="1" fill="hold">
                                          <p:stCondLst>
                                            <p:cond delay="0"/>
                                          </p:stCondLst>
                                        </p:cTn>
                                        <p:tgtEl>
                                          <p:spTgt spid="244"/>
                                        </p:tgtEl>
                                        <p:attrNameLst>
                                          <p:attrName>style.visibility</p:attrName>
                                        </p:attrNameLst>
                                      </p:cBhvr>
                                      <p:to>
                                        <p:strVal val="visible"/>
                                      </p:to>
                                    </p:set>
                                    <p:animEffect transition="in" filter="wipe(right)">
                                      <p:cBhvr>
                                        <p:cTn id="29" dur="1000"/>
                                        <p:tgtEl>
                                          <p:spTgt spid="244"/>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1000"/>
                                        <p:tgtEl>
                                          <p:spTgt spid="14"/>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10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58994"/>
                                        </p:tgtEl>
                                        <p:attrNameLst>
                                          <p:attrName>style.visibility</p:attrName>
                                        </p:attrNameLst>
                                      </p:cBhvr>
                                      <p:to>
                                        <p:strVal val="visible"/>
                                      </p:to>
                                    </p:set>
                                    <p:animEffect transition="in" filter="fade">
                                      <p:cBhvr>
                                        <p:cTn id="49" dur="1000"/>
                                        <p:tgtEl>
                                          <p:spTgt spid="1358994"/>
                                        </p:tgtEl>
                                      </p:cBhvr>
                                    </p:animEffect>
                                    <p:anim calcmode="lin" valueType="num">
                                      <p:cBhvr>
                                        <p:cTn id="50" dur="1000" fill="hold"/>
                                        <p:tgtEl>
                                          <p:spTgt spid="1358994"/>
                                        </p:tgtEl>
                                        <p:attrNameLst>
                                          <p:attrName>ppt_x</p:attrName>
                                        </p:attrNameLst>
                                      </p:cBhvr>
                                      <p:tavLst>
                                        <p:tav tm="0">
                                          <p:val>
                                            <p:strVal val="#ppt_x"/>
                                          </p:val>
                                        </p:tav>
                                        <p:tav tm="100000">
                                          <p:val>
                                            <p:strVal val="#ppt_x"/>
                                          </p:val>
                                        </p:tav>
                                      </p:tavLst>
                                    </p:anim>
                                    <p:anim calcmode="lin" valueType="num">
                                      <p:cBhvr>
                                        <p:cTn id="51" dur="1000" fill="hold"/>
                                        <p:tgtEl>
                                          <p:spTgt spid="13589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8994" grpId="0"/>
      <p:bldP spid="113" grpId="0"/>
      <p:bldP spid="11" grpId="0" animBg="1"/>
      <p:bldP spid="244" grpId="0" animBg="1"/>
      <p:bldP spid="12"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10"/>
          <p:cNvSpPr>
            <a:spLocks noChangeArrowheads="1"/>
          </p:cNvSpPr>
          <p:nvPr/>
        </p:nvSpPr>
        <p:spPr bwMode="auto">
          <a:xfrm>
            <a:off x="850900" y="918567"/>
            <a:ext cx="7908925" cy="4339650"/>
          </a:xfrm>
          <a:prstGeom prst="rect">
            <a:avLst/>
          </a:prstGeom>
          <a:noFill/>
          <a:ln>
            <a:noFill/>
          </a:ln>
        </p:spPr>
        <p:txBody>
          <a:bodyPr>
            <a:spAutoFit/>
          </a:bodyPr>
          <a:lstStyle/>
          <a:p>
            <a:pPr marL="457200" indent="-457200">
              <a:lnSpc>
                <a:spcPct val="125000"/>
              </a:lnSpc>
              <a:spcBef>
                <a:spcPct val="25000"/>
              </a:spcBef>
              <a:spcAft>
                <a:spcPct val="25000"/>
              </a:spcAft>
              <a:buClr>
                <a:srgbClr val="A50021"/>
              </a:buClr>
              <a:buSzPct val="130000"/>
              <a:buFont typeface="+mj-lt"/>
              <a:buAutoNum type="arabicPeriod"/>
            </a:pPr>
            <a:r>
              <a:rPr kumimoji="1" lang="zh-CN" altLang="en-US" sz="2400" b="1" dirty="0">
                <a:solidFill>
                  <a:srgbClr val="000066"/>
                </a:solidFill>
                <a:ea typeface="幼圆" pitchFamily="49" charset="-122"/>
                <a:cs typeface="Times New Roman" panose="02020603050405020304" pitchFamily="18" charset="0"/>
              </a:rPr>
              <a:t> 粒组含量用于土的</a:t>
            </a:r>
            <a:r>
              <a:rPr kumimoji="1" lang="zh-CN" altLang="en-US" sz="2400" b="1" dirty="0">
                <a:solidFill>
                  <a:srgbClr val="800000"/>
                </a:solidFill>
                <a:latin typeface="黑体" panose="02010609060101010101" pitchFamily="49" charset="-122"/>
                <a:ea typeface="黑体" panose="02010609060101010101" pitchFamily="49" charset="-122"/>
                <a:cs typeface="Times New Roman" panose="02020603050405020304" pitchFamily="18" charset="0"/>
              </a:rPr>
              <a:t>分类定名</a:t>
            </a:r>
            <a:r>
              <a:rPr kumimoji="1" lang="zh-CN" altLang="en-US" sz="2400" b="1" dirty="0">
                <a:solidFill>
                  <a:srgbClr val="000066"/>
                </a:solidFill>
                <a:ea typeface="幼圆" pitchFamily="49" charset="-122"/>
                <a:cs typeface="Times New Roman" panose="02020603050405020304" pitchFamily="18" charset="0"/>
              </a:rPr>
              <a:t>；</a:t>
            </a:r>
          </a:p>
          <a:p>
            <a:pPr marL="457200" indent="-457200">
              <a:lnSpc>
                <a:spcPct val="125000"/>
              </a:lnSpc>
              <a:spcBef>
                <a:spcPct val="25000"/>
              </a:spcBef>
              <a:spcAft>
                <a:spcPct val="25000"/>
              </a:spcAft>
              <a:buClr>
                <a:srgbClr val="A50021"/>
              </a:buClr>
              <a:buSzPct val="130000"/>
              <a:buFont typeface="+mj-lt"/>
              <a:buAutoNum type="arabicPeriod"/>
            </a:pPr>
            <a:r>
              <a:rPr kumimoji="1" lang="zh-CN" altLang="en-US" sz="2400" b="1" dirty="0">
                <a:solidFill>
                  <a:srgbClr val="000066"/>
                </a:solidFill>
                <a:ea typeface="幼圆" pitchFamily="49" charset="-122"/>
                <a:cs typeface="Times New Roman" panose="02020603050405020304" pitchFamily="18" charset="0"/>
              </a:rPr>
              <a:t> 不均匀系数</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u</a:t>
            </a:r>
            <a:r>
              <a:rPr kumimoji="1" lang="zh-CN" altLang="en-US" sz="2400" b="1" dirty="0">
                <a:solidFill>
                  <a:srgbClr val="000066"/>
                </a:solidFill>
                <a:ea typeface="幼圆" pitchFamily="49" charset="-122"/>
                <a:cs typeface="Times New Roman" panose="02020603050405020304" pitchFamily="18" charset="0"/>
              </a:rPr>
              <a:t>用于判定土的</a:t>
            </a:r>
            <a:r>
              <a:rPr kumimoji="1" lang="zh-CN" altLang="en-US" sz="2400" b="1" dirty="0">
                <a:solidFill>
                  <a:srgbClr val="800000"/>
                </a:solidFill>
                <a:latin typeface="黑体" panose="02010609060101010101" pitchFamily="49" charset="-122"/>
                <a:ea typeface="黑体" panose="02010609060101010101" pitchFamily="49" charset="-122"/>
                <a:cs typeface="Times New Roman" panose="02020603050405020304" pitchFamily="18" charset="0"/>
              </a:rPr>
              <a:t>不均匀程度</a:t>
            </a:r>
            <a:r>
              <a:rPr kumimoji="1" lang="zh-CN" altLang="en-US" sz="2400" b="1" dirty="0">
                <a:solidFill>
                  <a:srgbClr val="000066"/>
                </a:solidFill>
                <a:ea typeface="幼圆" pitchFamily="49" charset="-122"/>
                <a:cs typeface="Times New Roman" panose="02020603050405020304" pitchFamily="18" charset="0"/>
              </a:rPr>
              <a:t>：</a:t>
            </a:r>
            <a:br>
              <a:rPr kumimoji="1" lang="zh-CN" altLang="en-US" sz="2400" b="1" dirty="0">
                <a:solidFill>
                  <a:srgbClr val="000066"/>
                </a:solidFill>
                <a:ea typeface="幼圆" pitchFamily="49" charset="-122"/>
                <a:cs typeface="Times New Roman" panose="02020603050405020304" pitchFamily="18" charset="0"/>
              </a:rPr>
            </a:br>
            <a:r>
              <a:rPr kumimoji="1" lang="en-US" altLang="zh-CN" sz="2400" b="1" i="1" dirty="0">
                <a:solidFill>
                  <a:srgbClr val="000066"/>
                </a:solidFill>
                <a:ea typeface="幼圆" pitchFamily="49" charset="-122"/>
                <a:cs typeface="Times New Roman" panose="02020603050405020304" pitchFamily="18" charset="0"/>
              </a:rPr>
              <a:t>  C</a:t>
            </a:r>
            <a:r>
              <a:rPr kumimoji="1" lang="en-US" altLang="zh-CN" sz="2400" b="1" baseline="-25000" dirty="0">
                <a:solidFill>
                  <a:srgbClr val="000066"/>
                </a:solidFill>
                <a:ea typeface="幼圆" pitchFamily="49" charset="-122"/>
                <a:cs typeface="Times New Roman" panose="02020603050405020304" pitchFamily="18" charset="0"/>
              </a:rPr>
              <a:t>u</a:t>
            </a:r>
            <a:r>
              <a:rPr kumimoji="1" lang="en-US" altLang="zh-CN" sz="2400" b="1" i="1" dirty="0">
                <a:solidFill>
                  <a:srgbClr val="000066"/>
                </a:solidFill>
                <a:ea typeface="幼圆" pitchFamily="49" charset="-122"/>
                <a:cs typeface="Times New Roman" panose="02020603050405020304" pitchFamily="18" charset="0"/>
              </a:rPr>
              <a:t> </a:t>
            </a:r>
            <a:r>
              <a:rPr kumimoji="1" lang="en-US" altLang="zh-CN" sz="2400" b="1" i="1" dirty="0">
                <a:solidFill>
                  <a:srgbClr val="000066"/>
                </a:solidFill>
                <a:ea typeface="幼圆" pitchFamily="49" charset="-122"/>
                <a:cs typeface="Times New Roman" panose="02020603050405020304" pitchFamily="18" charset="0"/>
                <a:sym typeface="Symbol" pitchFamily="18" charset="2"/>
              </a:rPr>
              <a:t></a:t>
            </a:r>
            <a:r>
              <a:rPr kumimoji="1" lang="en-US" altLang="zh-CN" sz="2400" b="1" dirty="0">
                <a:solidFill>
                  <a:srgbClr val="000066"/>
                </a:solidFill>
                <a:ea typeface="幼圆" pitchFamily="49" charset="-122"/>
                <a:cs typeface="Times New Roman" panose="02020603050405020304" pitchFamily="18" charset="0"/>
              </a:rPr>
              <a:t> 5</a:t>
            </a:r>
            <a:r>
              <a:rPr kumimoji="1" lang="zh-CN" altLang="en-US" sz="2400" b="1" dirty="0">
                <a:solidFill>
                  <a:srgbClr val="000066"/>
                </a:solidFill>
                <a:ea typeface="幼圆" pitchFamily="49" charset="-122"/>
                <a:cs typeface="Times New Roman" panose="02020603050405020304" pitchFamily="18" charset="0"/>
              </a:rPr>
              <a:t>为不均匀土； </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u</a:t>
            </a:r>
            <a:r>
              <a:rPr kumimoji="1" lang="en-US" altLang="zh-CN" sz="2400" b="1" i="1" dirty="0">
                <a:solidFill>
                  <a:srgbClr val="000066"/>
                </a:solidFill>
                <a:ea typeface="幼圆" pitchFamily="49" charset="-122"/>
                <a:cs typeface="Times New Roman" panose="02020603050405020304" pitchFamily="18" charset="0"/>
              </a:rPr>
              <a:t> </a:t>
            </a:r>
            <a:r>
              <a:rPr kumimoji="1" lang="en-US" altLang="zh-CN" sz="2400" b="1" i="1" dirty="0">
                <a:solidFill>
                  <a:srgbClr val="000066"/>
                </a:solidFill>
                <a:ea typeface="幼圆" pitchFamily="49" charset="-122"/>
                <a:cs typeface="Times New Roman" panose="02020603050405020304" pitchFamily="18" charset="0"/>
                <a:sym typeface="Symbol" pitchFamily="18" charset="2"/>
              </a:rPr>
              <a:t></a:t>
            </a:r>
            <a:r>
              <a:rPr kumimoji="1" lang="en-US" altLang="zh-CN" sz="2400" b="1" dirty="0">
                <a:solidFill>
                  <a:srgbClr val="000066"/>
                </a:solidFill>
                <a:ea typeface="幼圆" pitchFamily="49" charset="-122"/>
                <a:cs typeface="Times New Roman" panose="02020603050405020304" pitchFamily="18" charset="0"/>
              </a:rPr>
              <a:t> 5</a:t>
            </a:r>
            <a:r>
              <a:rPr kumimoji="1" lang="zh-CN" altLang="en-US" sz="2400" b="1" dirty="0" smtClean="0">
                <a:solidFill>
                  <a:srgbClr val="000066"/>
                </a:solidFill>
                <a:ea typeface="幼圆" pitchFamily="49" charset="-122"/>
                <a:cs typeface="Times New Roman" panose="02020603050405020304" pitchFamily="18" charset="0"/>
              </a:rPr>
              <a:t>为均匀</a:t>
            </a:r>
            <a:r>
              <a:rPr kumimoji="1" lang="zh-CN" altLang="en-US" sz="2400" b="1" dirty="0">
                <a:solidFill>
                  <a:srgbClr val="000066"/>
                </a:solidFill>
                <a:ea typeface="幼圆" pitchFamily="49" charset="-122"/>
                <a:cs typeface="Times New Roman" panose="02020603050405020304" pitchFamily="18" charset="0"/>
              </a:rPr>
              <a:t>土</a:t>
            </a:r>
          </a:p>
          <a:p>
            <a:pPr marL="457200" indent="-457200">
              <a:lnSpc>
                <a:spcPct val="125000"/>
              </a:lnSpc>
              <a:spcBef>
                <a:spcPct val="25000"/>
              </a:spcBef>
              <a:spcAft>
                <a:spcPct val="25000"/>
              </a:spcAft>
              <a:buClr>
                <a:srgbClr val="A50021"/>
              </a:buClr>
              <a:buSzPct val="130000"/>
              <a:buFont typeface="+mj-lt"/>
              <a:buAutoNum type="arabicPeriod"/>
            </a:pPr>
            <a:r>
              <a:rPr kumimoji="1" lang="en-US" altLang="zh-CN" sz="2400" b="1" dirty="0">
                <a:solidFill>
                  <a:srgbClr val="000066"/>
                </a:solidFill>
                <a:ea typeface="幼圆" pitchFamily="49" charset="-122"/>
                <a:cs typeface="Times New Roman" panose="02020603050405020304" pitchFamily="18" charset="0"/>
              </a:rPr>
              <a:t> </a:t>
            </a:r>
            <a:r>
              <a:rPr kumimoji="1" lang="zh-CN" altLang="en-US" sz="2400" b="1" dirty="0">
                <a:solidFill>
                  <a:srgbClr val="000066"/>
                </a:solidFill>
                <a:ea typeface="幼圆" pitchFamily="49" charset="-122"/>
                <a:cs typeface="Times New Roman" panose="02020603050405020304" pitchFamily="18" charset="0"/>
              </a:rPr>
              <a:t>曲率系数</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c</a:t>
            </a:r>
            <a:r>
              <a:rPr kumimoji="1" lang="zh-CN" altLang="en-US" sz="2400" b="1" dirty="0">
                <a:solidFill>
                  <a:srgbClr val="000066"/>
                </a:solidFill>
                <a:ea typeface="幼圆" pitchFamily="49" charset="-122"/>
                <a:cs typeface="Times New Roman" panose="02020603050405020304" pitchFamily="18" charset="0"/>
              </a:rPr>
              <a:t>用于判定土的</a:t>
            </a:r>
            <a:r>
              <a:rPr kumimoji="1" lang="zh-CN" altLang="en-US" sz="2400" b="1" dirty="0">
                <a:solidFill>
                  <a:srgbClr val="800000"/>
                </a:solidFill>
                <a:latin typeface="黑体" panose="02010609060101010101" pitchFamily="49" charset="-122"/>
                <a:ea typeface="黑体" panose="02010609060101010101" pitchFamily="49" charset="-122"/>
                <a:cs typeface="Times New Roman" panose="02020603050405020304" pitchFamily="18" charset="0"/>
              </a:rPr>
              <a:t>连续程度</a:t>
            </a:r>
            <a:r>
              <a:rPr kumimoji="1" lang="zh-CN" altLang="en-US" sz="2400" b="1" dirty="0">
                <a:solidFill>
                  <a:srgbClr val="000066"/>
                </a:solidFill>
                <a:ea typeface="幼圆" pitchFamily="49" charset="-122"/>
                <a:cs typeface="Times New Roman" panose="02020603050405020304" pitchFamily="18" charset="0"/>
              </a:rPr>
              <a:t>：</a:t>
            </a:r>
            <a:br>
              <a:rPr kumimoji="1" lang="zh-CN" altLang="en-US" sz="2400" b="1" dirty="0">
                <a:solidFill>
                  <a:srgbClr val="000066"/>
                </a:solidFill>
                <a:ea typeface="幼圆" pitchFamily="49" charset="-122"/>
                <a:cs typeface="Times New Roman" panose="02020603050405020304" pitchFamily="18" charset="0"/>
              </a:rPr>
            </a:br>
            <a:r>
              <a:rPr kumimoji="1" lang="zh-CN" altLang="en-US" sz="2400" b="1" dirty="0">
                <a:solidFill>
                  <a:srgbClr val="000066"/>
                </a:solidFill>
                <a:ea typeface="幼圆" pitchFamily="49" charset="-122"/>
                <a:cs typeface="Times New Roman" panose="02020603050405020304" pitchFamily="18" charset="0"/>
              </a:rPr>
              <a:t>  </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c</a:t>
            </a:r>
            <a:r>
              <a:rPr kumimoji="1" lang="zh-CN" altLang="en-US" sz="2400" b="1" dirty="0">
                <a:solidFill>
                  <a:srgbClr val="000066"/>
                </a:solidFill>
                <a:ea typeface="幼圆" pitchFamily="49" charset="-122"/>
                <a:cs typeface="Times New Roman" panose="02020603050405020304" pitchFamily="18" charset="0"/>
              </a:rPr>
              <a:t> </a:t>
            </a:r>
            <a:r>
              <a:rPr kumimoji="1" lang="zh-CN" altLang="en-US" sz="2400" b="1" i="1" dirty="0">
                <a:solidFill>
                  <a:srgbClr val="000066"/>
                </a:solidFill>
                <a:ea typeface="幼圆" pitchFamily="49" charset="-122"/>
                <a:cs typeface="Times New Roman" panose="02020603050405020304" pitchFamily="18" charset="0"/>
              </a:rPr>
              <a:t>=</a:t>
            </a:r>
            <a:r>
              <a:rPr kumimoji="1" lang="zh-CN" altLang="en-US" sz="2400" b="1" dirty="0">
                <a:solidFill>
                  <a:srgbClr val="000066"/>
                </a:solidFill>
                <a:ea typeface="幼圆" pitchFamily="49" charset="-122"/>
                <a:cs typeface="Times New Roman" panose="02020603050405020304" pitchFamily="18" charset="0"/>
              </a:rPr>
              <a:t>1~3为级配连续土；</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c</a:t>
            </a:r>
            <a:r>
              <a:rPr kumimoji="1" lang="en-US" altLang="zh-CN" sz="2400" b="1" dirty="0">
                <a:solidFill>
                  <a:srgbClr val="000066"/>
                </a:solidFill>
                <a:ea typeface="幼圆" pitchFamily="49" charset="-122"/>
                <a:cs typeface="Times New Roman" panose="02020603050405020304" pitchFamily="18" charset="0"/>
              </a:rPr>
              <a:t>&gt;3 </a:t>
            </a:r>
            <a:r>
              <a:rPr kumimoji="1" lang="zh-CN" altLang="en-US" sz="2400" b="1" dirty="0">
                <a:solidFill>
                  <a:srgbClr val="000066"/>
                </a:solidFill>
                <a:ea typeface="幼圆" pitchFamily="49" charset="-122"/>
                <a:cs typeface="Times New Roman" panose="02020603050405020304" pitchFamily="18" charset="0"/>
              </a:rPr>
              <a:t>或 </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c</a:t>
            </a:r>
            <a:r>
              <a:rPr kumimoji="1" lang="en-US" altLang="zh-CN" sz="2400" b="1" dirty="0">
                <a:solidFill>
                  <a:srgbClr val="000066"/>
                </a:solidFill>
                <a:ea typeface="幼圆" pitchFamily="49" charset="-122"/>
                <a:cs typeface="Times New Roman" panose="02020603050405020304" pitchFamily="18" charset="0"/>
              </a:rPr>
              <a:t>&lt;1</a:t>
            </a:r>
            <a:r>
              <a:rPr kumimoji="1" lang="zh-CN" altLang="en-US" sz="2400" b="1" dirty="0">
                <a:solidFill>
                  <a:srgbClr val="000066"/>
                </a:solidFill>
                <a:ea typeface="幼圆" pitchFamily="49" charset="-122"/>
                <a:cs typeface="Times New Roman" panose="02020603050405020304" pitchFamily="18" charset="0"/>
              </a:rPr>
              <a:t>为级配不连续土</a:t>
            </a:r>
          </a:p>
          <a:p>
            <a:pPr marL="457200" indent="-457200">
              <a:lnSpc>
                <a:spcPct val="125000"/>
              </a:lnSpc>
              <a:spcBef>
                <a:spcPct val="25000"/>
              </a:spcBef>
              <a:spcAft>
                <a:spcPct val="25000"/>
              </a:spcAft>
              <a:buClr>
                <a:srgbClr val="A50021"/>
              </a:buClr>
              <a:buSzPct val="130000"/>
              <a:buFont typeface="+mj-lt"/>
              <a:buAutoNum type="arabicPeriod"/>
            </a:pPr>
            <a:r>
              <a:rPr kumimoji="1" lang="zh-CN" altLang="en-US" sz="2400" b="1" dirty="0">
                <a:solidFill>
                  <a:srgbClr val="000066"/>
                </a:solidFill>
                <a:ea typeface="幼圆" pitchFamily="49" charset="-122"/>
                <a:cs typeface="Times New Roman" panose="02020603050405020304" pitchFamily="18" charset="0"/>
              </a:rPr>
              <a:t> 不均匀系数</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u</a:t>
            </a:r>
            <a:r>
              <a:rPr kumimoji="1" lang="zh-CN" altLang="en-US" sz="2400" b="1" dirty="0">
                <a:solidFill>
                  <a:srgbClr val="000066"/>
                </a:solidFill>
                <a:ea typeface="幼圆" pitchFamily="49" charset="-122"/>
                <a:cs typeface="Times New Roman" panose="02020603050405020304" pitchFamily="18" charset="0"/>
              </a:rPr>
              <a:t>和曲率系数</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c</a:t>
            </a:r>
            <a:r>
              <a:rPr kumimoji="1" lang="en-US" altLang="zh-CN" sz="2400" b="1" i="1" baseline="-25000" dirty="0">
                <a:solidFill>
                  <a:srgbClr val="000066"/>
                </a:solidFill>
                <a:ea typeface="幼圆" pitchFamily="49" charset="-122"/>
                <a:cs typeface="Times New Roman" panose="02020603050405020304" pitchFamily="18" charset="0"/>
              </a:rPr>
              <a:t> </a:t>
            </a:r>
            <a:r>
              <a:rPr kumimoji="1" lang="zh-CN" altLang="en-US" sz="2400" b="1" dirty="0">
                <a:solidFill>
                  <a:srgbClr val="000066"/>
                </a:solidFill>
                <a:ea typeface="幼圆" pitchFamily="49" charset="-122"/>
                <a:cs typeface="Times New Roman" panose="02020603050405020304" pitchFamily="18" charset="0"/>
              </a:rPr>
              <a:t>用于判定土的</a:t>
            </a:r>
            <a:r>
              <a:rPr kumimoji="1" lang="zh-CN" altLang="en-US" sz="2400" b="1" dirty="0">
                <a:solidFill>
                  <a:srgbClr val="800000"/>
                </a:solidFill>
                <a:latin typeface="黑体" panose="02010609060101010101" pitchFamily="49" charset="-122"/>
                <a:ea typeface="黑体" panose="02010609060101010101" pitchFamily="49" charset="-122"/>
                <a:cs typeface="Times New Roman" panose="02020603050405020304" pitchFamily="18" charset="0"/>
              </a:rPr>
              <a:t>级配优劣</a:t>
            </a:r>
            <a:r>
              <a:rPr kumimoji="1" lang="zh-CN" altLang="en-US" sz="2400" b="1" dirty="0">
                <a:solidFill>
                  <a:srgbClr val="000066"/>
                </a:solidFill>
                <a:ea typeface="幼圆" pitchFamily="49" charset="-122"/>
                <a:cs typeface="Times New Roman" panose="02020603050405020304" pitchFamily="18" charset="0"/>
              </a:rPr>
              <a:t>：</a:t>
            </a:r>
            <a:br>
              <a:rPr kumimoji="1" lang="zh-CN" altLang="en-US" sz="2400" b="1" dirty="0">
                <a:solidFill>
                  <a:srgbClr val="000066"/>
                </a:solidFill>
                <a:ea typeface="幼圆" pitchFamily="49" charset="-122"/>
                <a:cs typeface="Times New Roman" panose="02020603050405020304" pitchFamily="18" charset="0"/>
              </a:rPr>
            </a:br>
            <a:r>
              <a:rPr kumimoji="1" lang="zh-CN" altLang="en-US" sz="2400" b="1" dirty="0">
                <a:solidFill>
                  <a:srgbClr val="000066"/>
                </a:solidFill>
                <a:ea typeface="幼圆" pitchFamily="49" charset="-122"/>
                <a:cs typeface="Times New Roman" panose="02020603050405020304" pitchFamily="18" charset="0"/>
              </a:rPr>
              <a:t>  </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u</a:t>
            </a:r>
            <a:r>
              <a:rPr kumimoji="1" lang="en-US" altLang="zh-CN" sz="2400" b="1" i="1" dirty="0">
                <a:solidFill>
                  <a:srgbClr val="000066"/>
                </a:solidFill>
                <a:ea typeface="幼圆" pitchFamily="49" charset="-122"/>
                <a:cs typeface="Times New Roman" panose="02020603050405020304" pitchFamily="18" charset="0"/>
              </a:rPr>
              <a:t> </a:t>
            </a:r>
            <a:r>
              <a:rPr kumimoji="1" lang="en-US" altLang="zh-CN" sz="2400" b="1" i="1" dirty="0">
                <a:solidFill>
                  <a:srgbClr val="000066"/>
                </a:solidFill>
                <a:cs typeface="Times New Roman" panose="02020603050405020304" pitchFamily="18" charset="0"/>
                <a:sym typeface="Symbol" pitchFamily="18" charset="2"/>
              </a:rPr>
              <a:t></a:t>
            </a:r>
            <a:r>
              <a:rPr kumimoji="1" lang="en-US" altLang="zh-CN" sz="2400" b="1" dirty="0">
                <a:solidFill>
                  <a:srgbClr val="000066"/>
                </a:solidFill>
                <a:ea typeface="幼圆" pitchFamily="49" charset="-122"/>
                <a:cs typeface="Times New Roman" panose="02020603050405020304" pitchFamily="18" charset="0"/>
              </a:rPr>
              <a:t> 5</a:t>
            </a:r>
            <a:r>
              <a:rPr kumimoji="1" lang="zh-CN" altLang="en-US" sz="2400" b="1" dirty="0">
                <a:solidFill>
                  <a:srgbClr val="000066"/>
                </a:solidFill>
                <a:ea typeface="幼圆" pitchFamily="49" charset="-122"/>
                <a:cs typeface="Times New Roman" panose="02020603050405020304" pitchFamily="18" charset="0"/>
              </a:rPr>
              <a:t>且 </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c</a:t>
            </a:r>
            <a:r>
              <a:rPr kumimoji="1" lang="zh-CN" altLang="en-US" sz="2400" b="1" i="1" dirty="0">
                <a:solidFill>
                  <a:srgbClr val="000066"/>
                </a:solidFill>
                <a:ea typeface="幼圆" pitchFamily="49" charset="-122"/>
                <a:cs typeface="Times New Roman" panose="02020603050405020304" pitchFamily="18" charset="0"/>
              </a:rPr>
              <a:t>=</a:t>
            </a:r>
            <a:r>
              <a:rPr kumimoji="1" lang="zh-CN" altLang="en-US" sz="2400" b="1" dirty="0">
                <a:solidFill>
                  <a:srgbClr val="000066"/>
                </a:solidFill>
                <a:ea typeface="幼圆" pitchFamily="49" charset="-122"/>
                <a:cs typeface="Times New Roman" panose="02020603050405020304" pitchFamily="18" charset="0"/>
              </a:rPr>
              <a:t>1~3为级配良好的土；如果</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u</a:t>
            </a:r>
            <a:r>
              <a:rPr kumimoji="1" lang="en-US" altLang="zh-CN" sz="2400" b="1" dirty="0">
                <a:solidFill>
                  <a:srgbClr val="000066"/>
                </a:solidFill>
                <a:ea typeface="幼圆" pitchFamily="49" charset="-122"/>
                <a:cs typeface="Times New Roman" panose="02020603050405020304" pitchFamily="18" charset="0"/>
              </a:rPr>
              <a:t>&lt; 5 </a:t>
            </a:r>
            <a:r>
              <a:rPr kumimoji="1" lang="zh-CN" altLang="en-US" sz="2400" b="1" dirty="0">
                <a:solidFill>
                  <a:srgbClr val="000066"/>
                </a:solidFill>
                <a:ea typeface="幼圆" pitchFamily="49" charset="-122"/>
                <a:cs typeface="Times New Roman" panose="02020603050405020304" pitchFamily="18" charset="0"/>
              </a:rPr>
              <a:t>或</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c</a:t>
            </a:r>
            <a:r>
              <a:rPr kumimoji="1" lang="en-US" altLang="zh-CN" sz="2400" b="1" dirty="0">
                <a:solidFill>
                  <a:srgbClr val="000066"/>
                </a:solidFill>
                <a:ea typeface="幼圆" pitchFamily="49" charset="-122"/>
                <a:cs typeface="Times New Roman" panose="02020603050405020304" pitchFamily="18" charset="0"/>
              </a:rPr>
              <a:t>&gt;3 </a:t>
            </a:r>
            <a:br>
              <a:rPr kumimoji="1" lang="en-US" altLang="zh-CN" sz="2400" b="1" dirty="0">
                <a:solidFill>
                  <a:srgbClr val="000066"/>
                </a:solidFill>
                <a:ea typeface="幼圆" pitchFamily="49" charset="-122"/>
                <a:cs typeface="Times New Roman" panose="02020603050405020304" pitchFamily="18" charset="0"/>
              </a:rPr>
            </a:br>
            <a:r>
              <a:rPr kumimoji="1" lang="en-US" altLang="zh-CN" sz="2400" b="1" dirty="0">
                <a:solidFill>
                  <a:srgbClr val="000066"/>
                </a:solidFill>
                <a:ea typeface="幼圆" pitchFamily="49" charset="-122"/>
                <a:cs typeface="Times New Roman" panose="02020603050405020304" pitchFamily="18" charset="0"/>
              </a:rPr>
              <a:t>  </a:t>
            </a:r>
            <a:r>
              <a:rPr kumimoji="1" lang="zh-CN" altLang="en-US" sz="2400" b="1" dirty="0">
                <a:solidFill>
                  <a:srgbClr val="000066"/>
                </a:solidFill>
                <a:ea typeface="幼圆" pitchFamily="49" charset="-122"/>
                <a:cs typeface="Times New Roman" panose="02020603050405020304" pitchFamily="18" charset="0"/>
              </a:rPr>
              <a:t>或</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c</a:t>
            </a:r>
            <a:r>
              <a:rPr kumimoji="1" lang="en-US" altLang="zh-CN" sz="2400" b="1" dirty="0">
                <a:solidFill>
                  <a:srgbClr val="000066"/>
                </a:solidFill>
                <a:ea typeface="幼圆" pitchFamily="49" charset="-122"/>
                <a:cs typeface="Times New Roman" panose="02020603050405020304" pitchFamily="18" charset="0"/>
              </a:rPr>
              <a:t>&lt;1</a:t>
            </a:r>
            <a:r>
              <a:rPr kumimoji="1" lang="zh-CN" altLang="en-US" sz="2400" b="1" dirty="0">
                <a:solidFill>
                  <a:srgbClr val="000066"/>
                </a:solidFill>
                <a:ea typeface="幼圆" pitchFamily="49" charset="-122"/>
                <a:cs typeface="Times New Roman" panose="02020603050405020304" pitchFamily="18" charset="0"/>
              </a:rPr>
              <a:t>为</a:t>
            </a:r>
            <a:r>
              <a:rPr kumimoji="1" lang="en-US" altLang="zh-CN" sz="2400" b="1" dirty="0">
                <a:solidFill>
                  <a:srgbClr val="000066"/>
                </a:solidFill>
                <a:ea typeface="幼圆" pitchFamily="49" charset="-122"/>
                <a:cs typeface="Times New Roman" panose="02020603050405020304" pitchFamily="18" charset="0"/>
              </a:rPr>
              <a:t> </a:t>
            </a:r>
            <a:r>
              <a:rPr kumimoji="1" lang="zh-CN" altLang="en-US" sz="2400" b="1" dirty="0">
                <a:solidFill>
                  <a:srgbClr val="000066"/>
                </a:solidFill>
                <a:ea typeface="幼圆" pitchFamily="49" charset="-122"/>
                <a:cs typeface="Times New Roman" panose="02020603050405020304" pitchFamily="18" charset="0"/>
              </a:rPr>
              <a:t>级配不良的土</a:t>
            </a:r>
            <a:endParaRPr kumimoji="1" lang="en-US" altLang="zh-CN" sz="2400" b="1" dirty="0">
              <a:solidFill>
                <a:srgbClr val="000066"/>
              </a:solidFill>
              <a:ea typeface="幼圆" pitchFamily="49" charset="-122"/>
              <a:cs typeface="Times New Roman" panose="02020603050405020304" pitchFamily="18" charset="0"/>
            </a:endParaRPr>
          </a:p>
        </p:txBody>
      </p:sp>
      <p:sp>
        <p:nvSpPr>
          <p:cNvPr id="45060" name="Text Box 11"/>
          <p:cNvSpPr txBox="1">
            <a:spLocks noChangeArrowheads="1"/>
          </p:cNvSpPr>
          <p:nvPr/>
        </p:nvSpPr>
        <p:spPr bwMode="auto">
          <a:xfrm>
            <a:off x="1971675" y="5627688"/>
            <a:ext cx="64579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粒径级配曲线和指标的应用</a:t>
            </a:r>
          </a:p>
        </p:txBody>
      </p:sp>
      <p:sp>
        <p:nvSpPr>
          <p:cNvPr id="5"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15396442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wipe(left)">
                                      <p:cBhvr>
                                        <p:cTn id="7" dur="500"/>
                                        <p:tgtEl>
                                          <p:spTgt spid="45059">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animEffect transition="in" filter="wipe(left)">
                                      <p:cBhvr>
                                        <p:cTn id="11" dur="500"/>
                                        <p:tgtEl>
                                          <p:spTgt spid="45059">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animEffect transition="in" filter="wipe(left)">
                                      <p:cBhvr>
                                        <p:cTn id="15" dur="500"/>
                                        <p:tgtEl>
                                          <p:spTgt spid="45059">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5059">
                                            <p:txEl>
                                              <p:pRg st="3" end="3"/>
                                            </p:txEl>
                                          </p:spTgt>
                                        </p:tgtEl>
                                        <p:attrNameLst>
                                          <p:attrName>style.visibility</p:attrName>
                                        </p:attrNameLst>
                                      </p:cBhvr>
                                      <p:to>
                                        <p:strVal val="visible"/>
                                      </p:to>
                                    </p:set>
                                    <p:animEffect transition="in" filter="wipe(left)">
                                      <p:cBhvr>
                                        <p:cTn id="19" dur="500"/>
                                        <p:tgtEl>
                                          <p:spTgt spid="450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12"/>
          <p:cNvSpPr txBox="1">
            <a:spLocks noChangeArrowheads="1"/>
          </p:cNvSpPr>
          <p:nvPr/>
        </p:nvSpPr>
        <p:spPr bwMode="auto">
          <a:xfrm>
            <a:off x="2466975" y="5643563"/>
            <a:ext cx="58594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固体颗粒 </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矿物成分</a:t>
            </a:r>
          </a:p>
        </p:txBody>
      </p:sp>
      <p:sp>
        <p:nvSpPr>
          <p:cNvPr id="46084" name="Text Box 13"/>
          <p:cNvSpPr txBox="1">
            <a:spLocks noChangeArrowheads="1"/>
          </p:cNvSpPr>
          <p:nvPr/>
        </p:nvSpPr>
        <p:spPr bwMode="auto">
          <a:xfrm>
            <a:off x="230188" y="2744788"/>
            <a:ext cx="16271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a:solidFill>
                  <a:srgbClr val="000066"/>
                </a:solidFill>
                <a:latin typeface="幼圆" pitchFamily="49" charset="-122"/>
                <a:ea typeface="幼圆" pitchFamily="49" charset="-122"/>
              </a:rPr>
              <a:t>固体成分</a:t>
            </a:r>
            <a:endParaRPr lang="en-US" altLang="zh-CN" sz="2800" b="1">
              <a:solidFill>
                <a:srgbClr val="000066"/>
              </a:solidFill>
              <a:latin typeface="幼圆" pitchFamily="49" charset="-122"/>
              <a:ea typeface="幼圆" pitchFamily="49" charset="-122"/>
            </a:endParaRPr>
          </a:p>
        </p:txBody>
      </p:sp>
      <p:sp>
        <p:nvSpPr>
          <p:cNvPr id="46085" name="Text Box 14"/>
          <p:cNvSpPr txBox="1">
            <a:spLocks noChangeArrowheads="1"/>
          </p:cNvSpPr>
          <p:nvPr/>
        </p:nvSpPr>
        <p:spPr bwMode="auto">
          <a:xfrm>
            <a:off x="3668713" y="1077913"/>
            <a:ext cx="523412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800" b="1" dirty="0" smtClean="0">
                <a:solidFill>
                  <a:srgbClr val="000066"/>
                </a:solidFill>
                <a:latin typeface="幼圆" pitchFamily="49" charset="-122"/>
                <a:ea typeface="幼圆" pitchFamily="49" charset="-122"/>
              </a:rPr>
              <a:t>原生矿物：石英</a:t>
            </a:r>
            <a:r>
              <a:rPr kumimoji="1" lang="zh-CN" altLang="en-US" sz="2800" b="1" dirty="0">
                <a:solidFill>
                  <a:srgbClr val="000066"/>
                </a:solidFill>
                <a:latin typeface="幼圆" pitchFamily="49" charset="-122"/>
                <a:ea typeface="幼圆" pitchFamily="49" charset="-122"/>
              </a:rPr>
              <a:t>、长石、云母等</a:t>
            </a:r>
          </a:p>
          <a:p>
            <a:pPr eaLnBrk="1" hangingPunct="1">
              <a:lnSpc>
                <a:spcPct val="100000"/>
              </a:lnSpc>
              <a:spcBef>
                <a:spcPct val="0"/>
              </a:spcBef>
              <a:spcAft>
                <a:spcPct val="0"/>
              </a:spcAft>
            </a:pPr>
            <a:endParaRPr kumimoji="1" lang="zh-CN" altLang="en-US" sz="2800" b="1" dirty="0">
              <a:solidFill>
                <a:srgbClr val="000066"/>
              </a:solidFill>
              <a:latin typeface="幼圆" pitchFamily="49" charset="-122"/>
              <a:ea typeface="幼圆" pitchFamily="49" charset="-122"/>
            </a:endParaRPr>
          </a:p>
          <a:p>
            <a:pPr eaLnBrk="1" hangingPunct="1">
              <a:lnSpc>
                <a:spcPct val="100000"/>
              </a:lnSpc>
              <a:spcBef>
                <a:spcPct val="0"/>
              </a:spcBef>
              <a:spcAft>
                <a:spcPct val="0"/>
              </a:spcAft>
            </a:pPr>
            <a:endParaRPr kumimoji="1" lang="zh-CN" altLang="en-US" sz="2800" b="1" dirty="0">
              <a:solidFill>
                <a:srgbClr val="000066"/>
              </a:solidFill>
              <a:latin typeface="幼圆" pitchFamily="49" charset="-122"/>
              <a:ea typeface="幼圆" pitchFamily="49" charset="-122"/>
            </a:endParaRPr>
          </a:p>
          <a:p>
            <a:pPr eaLnBrk="1" hangingPunct="1">
              <a:lnSpc>
                <a:spcPct val="100000"/>
              </a:lnSpc>
              <a:spcBef>
                <a:spcPct val="0"/>
              </a:spcBef>
              <a:spcAft>
                <a:spcPct val="0"/>
              </a:spcAft>
            </a:pPr>
            <a:endParaRPr kumimoji="1" lang="zh-CN" altLang="en-US" sz="2800" b="1" dirty="0">
              <a:solidFill>
                <a:srgbClr val="000066"/>
              </a:solidFill>
              <a:latin typeface="幼圆" pitchFamily="49" charset="-122"/>
              <a:ea typeface="幼圆" pitchFamily="49" charset="-122"/>
            </a:endParaRPr>
          </a:p>
          <a:p>
            <a:pPr eaLnBrk="1" hangingPunct="1">
              <a:lnSpc>
                <a:spcPct val="100000"/>
              </a:lnSpc>
              <a:spcBef>
                <a:spcPct val="0"/>
              </a:spcBef>
              <a:spcAft>
                <a:spcPct val="0"/>
              </a:spcAft>
            </a:pPr>
            <a:r>
              <a:rPr kumimoji="1" lang="zh-CN" altLang="en-US" sz="2800" b="1" dirty="0">
                <a:solidFill>
                  <a:srgbClr val="000066"/>
                </a:solidFill>
                <a:latin typeface="幼圆" pitchFamily="49" charset="-122"/>
                <a:ea typeface="幼圆" pitchFamily="49" charset="-122"/>
              </a:rPr>
              <a:t>次生矿物</a:t>
            </a:r>
          </a:p>
        </p:txBody>
      </p:sp>
      <p:sp>
        <p:nvSpPr>
          <p:cNvPr id="46086" name="Text Box 15"/>
          <p:cNvSpPr txBox="1">
            <a:spLocks noChangeArrowheads="1"/>
          </p:cNvSpPr>
          <p:nvPr/>
        </p:nvSpPr>
        <p:spPr bwMode="auto">
          <a:xfrm>
            <a:off x="2217738" y="1884363"/>
            <a:ext cx="130175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a:solidFill>
                  <a:srgbClr val="000066"/>
                </a:solidFill>
                <a:latin typeface="幼圆" pitchFamily="49" charset="-122"/>
                <a:ea typeface="幼圆" pitchFamily="49" charset="-122"/>
              </a:rPr>
              <a:t>矿物质</a:t>
            </a:r>
          </a:p>
          <a:p>
            <a:pPr eaLnBrk="1" hangingPunct="1">
              <a:lnSpc>
                <a:spcPct val="100000"/>
              </a:lnSpc>
              <a:spcBef>
                <a:spcPct val="0"/>
              </a:spcBef>
              <a:spcAft>
                <a:spcPct val="0"/>
              </a:spcAft>
            </a:pPr>
            <a:endParaRPr lang="zh-CN" altLang="en-US" sz="2800" b="1">
              <a:solidFill>
                <a:srgbClr val="000066"/>
              </a:solidFill>
              <a:latin typeface="幼圆" pitchFamily="49" charset="-122"/>
              <a:ea typeface="幼圆" pitchFamily="49" charset="-122"/>
            </a:endParaRPr>
          </a:p>
          <a:p>
            <a:pPr eaLnBrk="1" hangingPunct="1">
              <a:lnSpc>
                <a:spcPct val="100000"/>
              </a:lnSpc>
              <a:spcBef>
                <a:spcPct val="0"/>
              </a:spcBef>
              <a:spcAft>
                <a:spcPct val="0"/>
              </a:spcAft>
            </a:pPr>
            <a:endParaRPr lang="zh-CN" altLang="en-US" sz="2800" b="1">
              <a:solidFill>
                <a:srgbClr val="000066"/>
              </a:solidFill>
              <a:latin typeface="幼圆" pitchFamily="49" charset="-122"/>
              <a:ea typeface="幼圆" pitchFamily="49" charset="-122"/>
            </a:endParaRPr>
          </a:p>
          <a:p>
            <a:pPr eaLnBrk="1" hangingPunct="1">
              <a:lnSpc>
                <a:spcPct val="100000"/>
              </a:lnSpc>
              <a:spcBef>
                <a:spcPct val="0"/>
              </a:spcBef>
              <a:spcAft>
                <a:spcPct val="0"/>
              </a:spcAft>
            </a:pPr>
            <a:endParaRPr lang="zh-CN" altLang="en-US" sz="2800" b="1">
              <a:solidFill>
                <a:srgbClr val="000066"/>
              </a:solidFill>
              <a:latin typeface="幼圆" pitchFamily="49" charset="-122"/>
              <a:ea typeface="幼圆" pitchFamily="49" charset="-122"/>
            </a:endParaRPr>
          </a:p>
          <a:p>
            <a:pPr eaLnBrk="1" hangingPunct="1">
              <a:lnSpc>
                <a:spcPct val="100000"/>
              </a:lnSpc>
              <a:spcBef>
                <a:spcPct val="0"/>
              </a:spcBef>
              <a:spcAft>
                <a:spcPct val="0"/>
              </a:spcAft>
            </a:pPr>
            <a:r>
              <a:rPr lang="zh-CN" altLang="en-US" sz="2800" b="1">
                <a:solidFill>
                  <a:srgbClr val="000066"/>
                </a:solidFill>
                <a:latin typeface="幼圆" pitchFamily="49" charset="-122"/>
                <a:ea typeface="幼圆" pitchFamily="49" charset="-122"/>
              </a:rPr>
              <a:t>有机质</a:t>
            </a:r>
          </a:p>
        </p:txBody>
      </p:sp>
      <p:sp>
        <p:nvSpPr>
          <p:cNvPr id="46087" name="Text Box 16"/>
          <p:cNvSpPr txBox="1">
            <a:spLocks noChangeArrowheads="1"/>
          </p:cNvSpPr>
          <p:nvPr/>
        </p:nvSpPr>
        <p:spPr bwMode="auto">
          <a:xfrm>
            <a:off x="5635625" y="2124075"/>
            <a:ext cx="3087688"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0"/>
              </a:spcBef>
              <a:spcAft>
                <a:spcPct val="0"/>
              </a:spcAft>
            </a:pPr>
            <a:r>
              <a:rPr kumimoji="1" lang="zh-CN" altLang="en-US" sz="2800" b="1" dirty="0">
                <a:solidFill>
                  <a:srgbClr val="000066"/>
                </a:solidFill>
                <a:latin typeface="幼圆" pitchFamily="49" charset="-122"/>
                <a:ea typeface="幼圆" pitchFamily="49" charset="-122"/>
              </a:rPr>
              <a:t>无定形氧化物胶体</a:t>
            </a:r>
          </a:p>
          <a:p>
            <a:pPr eaLnBrk="1" hangingPunct="1">
              <a:lnSpc>
                <a:spcPct val="130000"/>
              </a:lnSpc>
              <a:spcBef>
                <a:spcPct val="0"/>
              </a:spcBef>
              <a:spcAft>
                <a:spcPct val="0"/>
              </a:spcAft>
            </a:pPr>
            <a:r>
              <a:rPr kumimoji="1" lang="zh-CN" altLang="en-US" sz="2800" b="1" dirty="0">
                <a:solidFill>
                  <a:srgbClr val="000066"/>
                </a:solidFill>
                <a:latin typeface="幼圆" pitchFamily="49" charset="-122"/>
                <a:ea typeface="幼圆" pitchFamily="49" charset="-122"/>
              </a:rPr>
              <a:t>可溶盐</a:t>
            </a:r>
          </a:p>
          <a:p>
            <a:pPr eaLnBrk="1" hangingPunct="1">
              <a:lnSpc>
                <a:spcPct val="130000"/>
              </a:lnSpc>
              <a:spcBef>
                <a:spcPct val="0"/>
              </a:spcBef>
              <a:spcAft>
                <a:spcPct val="0"/>
              </a:spcAft>
            </a:pPr>
            <a:r>
              <a:rPr kumimoji="1" lang="zh-CN" altLang="en-US" sz="2800" b="1" dirty="0" smtClean="0">
                <a:solidFill>
                  <a:srgbClr val="000066"/>
                </a:solidFill>
                <a:latin typeface="幼圆" pitchFamily="49" charset="-122"/>
                <a:ea typeface="幼圆" pitchFamily="49" charset="-122"/>
              </a:rPr>
              <a:t>黏土矿物</a:t>
            </a:r>
            <a:endParaRPr kumimoji="1" lang="zh-CN" altLang="en-US" sz="2800" b="1" dirty="0">
              <a:solidFill>
                <a:srgbClr val="000066"/>
              </a:solidFill>
              <a:latin typeface="幼圆" pitchFamily="49" charset="-122"/>
              <a:ea typeface="幼圆" pitchFamily="49" charset="-122"/>
            </a:endParaRPr>
          </a:p>
        </p:txBody>
      </p:sp>
      <p:sp>
        <p:nvSpPr>
          <p:cNvPr id="46088" name="AutoShape 17"/>
          <p:cNvSpPr>
            <a:spLocks/>
          </p:cNvSpPr>
          <p:nvPr/>
        </p:nvSpPr>
        <p:spPr bwMode="auto">
          <a:xfrm>
            <a:off x="1866900" y="2187575"/>
            <a:ext cx="381000" cy="1768475"/>
          </a:xfrm>
          <a:prstGeom prst="leftBrace">
            <a:avLst>
              <a:gd name="adj1" fmla="val 38681"/>
              <a:gd name="adj2" fmla="val 50000"/>
            </a:avLst>
          </a:prstGeom>
          <a:noFill/>
          <a:ln w="28575">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幼圆" pitchFamily="49" charset="-122"/>
              <a:ea typeface="幼圆" pitchFamily="49" charset="-122"/>
            </a:endParaRPr>
          </a:p>
        </p:txBody>
      </p:sp>
      <p:sp>
        <p:nvSpPr>
          <p:cNvPr id="46089" name="AutoShape 18"/>
          <p:cNvSpPr>
            <a:spLocks/>
          </p:cNvSpPr>
          <p:nvPr/>
        </p:nvSpPr>
        <p:spPr bwMode="auto">
          <a:xfrm>
            <a:off x="3457575" y="1287463"/>
            <a:ext cx="250825" cy="1814512"/>
          </a:xfrm>
          <a:prstGeom prst="leftBrace">
            <a:avLst>
              <a:gd name="adj1" fmla="val 60285"/>
              <a:gd name="adj2" fmla="val 50000"/>
            </a:avLst>
          </a:prstGeom>
          <a:noFill/>
          <a:ln w="28575">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幼圆" pitchFamily="49" charset="-122"/>
              <a:ea typeface="幼圆" pitchFamily="49" charset="-122"/>
            </a:endParaRPr>
          </a:p>
        </p:txBody>
      </p:sp>
      <p:sp>
        <p:nvSpPr>
          <p:cNvPr id="46090" name="AutoShape 19"/>
          <p:cNvSpPr>
            <a:spLocks/>
          </p:cNvSpPr>
          <p:nvPr/>
        </p:nvSpPr>
        <p:spPr bwMode="auto">
          <a:xfrm>
            <a:off x="5241925" y="2463800"/>
            <a:ext cx="282575" cy="1206500"/>
          </a:xfrm>
          <a:prstGeom prst="leftBrace">
            <a:avLst>
              <a:gd name="adj1" fmla="val 35581"/>
              <a:gd name="adj2" fmla="val 50000"/>
            </a:avLst>
          </a:prstGeom>
          <a:noFill/>
          <a:ln w="28575">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幼圆" pitchFamily="49" charset="-122"/>
              <a:ea typeface="幼圆" pitchFamily="49" charset="-122"/>
            </a:endParaRPr>
          </a:p>
        </p:txBody>
      </p:sp>
      <p:sp>
        <p:nvSpPr>
          <p:cNvPr id="1360916" name="Rectangle 20"/>
          <p:cNvSpPr>
            <a:spLocks noChangeArrowheads="1"/>
          </p:cNvSpPr>
          <p:nvPr/>
        </p:nvSpPr>
        <p:spPr bwMode="auto">
          <a:xfrm>
            <a:off x="5637213" y="3298825"/>
            <a:ext cx="1646237" cy="579438"/>
          </a:xfrm>
          <a:prstGeom prst="rect">
            <a:avLst/>
          </a:prstGeom>
          <a:noFill/>
          <a:ln w="28575">
            <a:solidFill>
              <a:srgbClr val="8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幼圆" pitchFamily="49" charset="-122"/>
              <a:ea typeface="幼圆" pitchFamily="49" charset="-122"/>
            </a:endParaRPr>
          </a:p>
        </p:txBody>
      </p:sp>
      <p:sp>
        <p:nvSpPr>
          <p:cNvPr id="1360917" name="Line 21"/>
          <p:cNvSpPr>
            <a:spLocks noChangeShapeType="1"/>
          </p:cNvSpPr>
          <p:nvPr/>
        </p:nvSpPr>
        <p:spPr bwMode="auto">
          <a:xfrm>
            <a:off x="6289675" y="3890963"/>
            <a:ext cx="0" cy="334962"/>
          </a:xfrm>
          <a:prstGeom prst="line">
            <a:avLst/>
          </a:prstGeom>
          <a:noFill/>
          <a:ln w="28575">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幼圆" pitchFamily="49" charset="-122"/>
              <a:ea typeface="幼圆" pitchFamily="49" charset="-122"/>
            </a:endParaRPr>
          </a:p>
        </p:txBody>
      </p:sp>
      <p:sp>
        <p:nvSpPr>
          <p:cNvPr id="1360918" name="Text Box 22"/>
          <p:cNvSpPr txBox="1">
            <a:spLocks noChangeArrowheads="1"/>
          </p:cNvSpPr>
          <p:nvPr/>
        </p:nvSpPr>
        <p:spPr bwMode="auto">
          <a:xfrm>
            <a:off x="4251325" y="4281488"/>
            <a:ext cx="4535488" cy="1015663"/>
          </a:xfrm>
          <a:prstGeom prst="rect">
            <a:avLst/>
          </a:prstGeom>
          <a:solidFill>
            <a:schemeClr val="accent6">
              <a:lumMod val="60000"/>
              <a:lumOff val="40000"/>
            </a:schemeClr>
          </a:solidFill>
          <a:ln>
            <a:noFill/>
          </a:ln>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lang="zh-CN" altLang="en-US" sz="2400" b="1" dirty="0">
                <a:solidFill>
                  <a:srgbClr val="000066"/>
                </a:solidFill>
                <a:latin typeface="幼圆" pitchFamily="49" charset="-122"/>
                <a:ea typeface="幼圆" pitchFamily="49" charset="-122"/>
              </a:rPr>
              <a:t>具有和原生矿物很不相同的特性</a:t>
            </a:r>
          </a:p>
          <a:p>
            <a:pPr eaLnBrk="1" hangingPunct="1">
              <a:lnSpc>
                <a:spcPct val="125000"/>
              </a:lnSpc>
              <a:spcBef>
                <a:spcPct val="0"/>
              </a:spcBef>
              <a:spcAft>
                <a:spcPct val="0"/>
              </a:spcAft>
            </a:pPr>
            <a:r>
              <a:rPr lang="zh-CN" altLang="en-US" sz="2400" b="1" dirty="0" smtClean="0">
                <a:solidFill>
                  <a:srgbClr val="000066"/>
                </a:solidFill>
                <a:latin typeface="幼圆" pitchFamily="49" charset="-122"/>
                <a:ea typeface="幼圆" pitchFamily="49" charset="-122"/>
              </a:rPr>
              <a:t>对黏土</a:t>
            </a:r>
            <a:r>
              <a:rPr lang="zh-CN" altLang="en-US" sz="2400" b="1" dirty="0">
                <a:solidFill>
                  <a:srgbClr val="000066"/>
                </a:solidFill>
                <a:latin typeface="幼圆" pitchFamily="49" charset="-122"/>
                <a:ea typeface="幼圆" pitchFamily="49" charset="-122"/>
              </a:rPr>
              <a:t>性质的影响很大</a:t>
            </a:r>
          </a:p>
        </p:txBody>
      </p:sp>
      <p:sp>
        <p:nvSpPr>
          <p:cNvPr id="14"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2829552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0916"/>
                                        </p:tgtEl>
                                        <p:attrNameLst>
                                          <p:attrName>style.visibility</p:attrName>
                                        </p:attrNameLst>
                                      </p:cBhvr>
                                      <p:to>
                                        <p:strVal val="visible"/>
                                      </p:to>
                                    </p:set>
                                    <p:animEffect transition="in" filter="wipe(left)">
                                      <p:cBhvr>
                                        <p:cTn id="7" dur="1000"/>
                                        <p:tgtEl>
                                          <p:spTgt spid="1360916"/>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360917"/>
                                        </p:tgtEl>
                                        <p:attrNameLst>
                                          <p:attrName>style.visibility</p:attrName>
                                        </p:attrNameLst>
                                      </p:cBhvr>
                                      <p:to>
                                        <p:strVal val="visible"/>
                                      </p:to>
                                    </p:set>
                                    <p:animEffect transition="in" filter="wipe(up)">
                                      <p:cBhvr>
                                        <p:cTn id="11" dur="1000"/>
                                        <p:tgtEl>
                                          <p:spTgt spid="1360917"/>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360918"/>
                                        </p:tgtEl>
                                        <p:attrNameLst>
                                          <p:attrName>style.visibility</p:attrName>
                                        </p:attrNameLst>
                                      </p:cBhvr>
                                      <p:to>
                                        <p:strVal val="visible"/>
                                      </p:to>
                                    </p:set>
                                    <p:animEffect transition="in" filter="wipe(left)">
                                      <p:cBhvr>
                                        <p:cTn id="15" dur="1000"/>
                                        <p:tgtEl>
                                          <p:spTgt spid="1360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0916" grpId="0" animBg="1"/>
      <p:bldP spid="1360917" grpId="0" animBg="1"/>
      <p:bldP spid="136091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24"/>
          <p:cNvSpPr>
            <a:spLocks noChangeArrowheads="1"/>
          </p:cNvSpPr>
          <p:nvPr/>
        </p:nvSpPr>
        <p:spPr bwMode="auto">
          <a:xfrm>
            <a:off x="564796" y="2876232"/>
            <a:ext cx="1502130" cy="484684"/>
          </a:xfrm>
          <a:prstGeom prst="rect">
            <a:avLst/>
          </a:prstGeom>
          <a:solidFill>
            <a:schemeClr val="accent6">
              <a:lumMod val="60000"/>
              <a:lumOff val="40000"/>
            </a:schemeClr>
          </a:solidFill>
          <a:ln>
            <a:noFill/>
          </a:ln>
        </p:spPr>
        <p:txBody>
          <a:bodyPr wrap="none" anchor="ctr"/>
          <a:lstStyle/>
          <a:p>
            <a:endParaRPr lang="zh-CN" altLang="en-US"/>
          </a:p>
        </p:txBody>
      </p:sp>
      <p:sp>
        <p:nvSpPr>
          <p:cNvPr id="1362083" name="Rectangle 163"/>
          <p:cNvSpPr>
            <a:spLocks noChangeArrowheads="1"/>
          </p:cNvSpPr>
          <p:nvPr/>
        </p:nvSpPr>
        <p:spPr bwMode="auto">
          <a:xfrm>
            <a:off x="2714625" y="2514600"/>
            <a:ext cx="6215063" cy="2671763"/>
          </a:xfrm>
          <a:prstGeom prst="rect">
            <a:avLst/>
          </a:prstGeom>
          <a:solidFill>
            <a:srgbClr val="3333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nchor="ctr">
            <a:spAutoFit/>
          </a:bodyPr>
          <a:lstStyle/>
          <a:p>
            <a:endParaRPr lang="zh-CN" altLang="en-US"/>
          </a:p>
        </p:txBody>
      </p:sp>
      <p:sp>
        <p:nvSpPr>
          <p:cNvPr id="47108" name="Text Box 9"/>
          <p:cNvSpPr txBox="1">
            <a:spLocks noChangeArrowheads="1"/>
          </p:cNvSpPr>
          <p:nvPr/>
        </p:nvSpPr>
        <p:spPr bwMode="auto">
          <a:xfrm>
            <a:off x="3541713" y="5818188"/>
            <a:ext cx="3360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黏 </a:t>
            </a:r>
            <a:r>
              <a:rPr kumimoji="1" lang="zh-CN" altLang="en-US" sz="4000" b="1" dirty="0">
                <a:solidFill>
                  <a:srgbClr val="000066"/>
                </a:solidFill>
                <a:latin typeface="黑体" pitchFamily="2" charset="-122"/>
                <a:ea typeface="黑体" pitchFamily="2" charset="-122"/>
              </a:rPr>
              <a:t>土 矿 物</a:t>
            </a:r>
          </a:p>
        </p:txBody>
      </p:sp>
      <p:sp>
        <p:nvSpPr>
          <p:cNvPr id="47109" name="Text Box 10"/>
          <p:cNvSpPr txBox="1">
            <a:spLocks noChangeArrowheads="1"/>
          </p:cNvSpPr>
          <p:nvPr/>
        </p:nvSpPr>
        <p:spPr bwMode="auto">
          <a:xfrm>
            <a:off x="527050" y="842963"/>
            <a:ext cx="82327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ct val="0"/>
              </a:spcBef>
              <a:spcAft>
                <a:spcPct val="0"/>
              </a:spcAft>
              <a:buClr>
                <a:srgbClr val="A50021"/>
              </a:buClr>
              <a:buFont typeface="Wingdings" panose="05000000000000000000" pitchFamily="2" charset="2"/>
              <a:buChar char="n"/>
            </a:pPr>
            <a:r>
              <a:rPr kumimoji="1" lang="zh-CN" altLang="en-US" sz="2400" b="1" dirty="0" smtClean="0">
                <a:solidFill>
                  <a:srgbClr val="000066"/>
                </a:solidFill>
                <a:latin typeface="幼圆" pitchFamily="49" charset="-122"/>
                <a:ea typeface="幼圆" pitchFamily="49" charset="-122"/>
              </a:rPr>
              <a:t>黏土矿物</a:t>
            </a:r>
            <a:r>
              <a:rPr kumimoji="1" lang="zh-CN" altLang="en-US" sz="2400" b="1" dirty="0">
                <a:solidFill>
                  <a:srgbClr val="000066"/>
                </a:solidFill>
                <a:latin typeface="幼圆" pitchFamily="49" charset="-122"/>
                <a:ea typeface="幼圆" pitchFamily="49" charset="-122"/>
              </a:rPr>
              <a:t>是一种复合的铝</a:t>
            </a:r>
            <a:r>
              <a:rPr kumimoji="1" lang="en-US" altLang="zh-CN" sz="2400" b="1" dirty="0">
                <a:solidFill>
                  <a:srgbClr val="000066"/>
                </a:solidFill>
                <a:latin typeface="幼圆" pitchFamily="49" charset="-122"/>
                <a:ea typeface="幼圆" pitchFamily="49" charset="-122"/>
              </a:rPr>
              <a:t>-</a:t>
            </a:r>
            <a:r>
              <a:rPr kumimoji="1" lang="zh-CN" altLang="en-US" sz="2400" b="1" dirty="0">
                <a:solidFill>
                  <a:srgbClr val="000066"/>
                </a:solidFill>
                <a:latin typeface="幼圆" pitchFamily="49" charset="-122"/>
                <a:ea typeface="幼圆" pitchFamily="49" charset="-122"/>
              </a:rPr>
              <a:t>硅盐晶体，颗粒呈片状，是由硅片和铝片构成的晶包所组叠而</a:t>
            </a:r>
            <a:r>
              <a:rPr kumimoji="1" lang="zh-CN" altLang="en-US" sz="2400" b="1" dirty="0" smtClean="0">
                <a:solidFill>
                  <a:srgbClr val="000066"/>
                </a:solidFill>
                <a:latin typeface="幼圆" pitchFamily="49" charset="-122"/>
                <a:ea typeface="幼圆" pitchFamily="49" charset="-122"/>
              </a:rPr>
              <a:t>成。</a:t>
            </a:r>
            <a:endParaRPr kumimoji="1" lang="en-US" altLang="zh-CN" sz="2400" b="1" dirty="0">
              <a:solidFill>
                <a:srgbClr val="000066"/>
              </a:solidFill>
              <a:latin typeface="幼圆" pitchFamily="49" charset="-122"/>
              <a:ea typeface="幼圆" pitchFamily="49" charset="-122"/>
            </a:endParaRPr>
          </a:p>
        </p:txBody>
      </p:sp>
      <p:sp>
        <p:nvSpPr>
          <p:cNvPr id="47110" name="Text Box 11"/>
          <p:cNvSpPr txBox="1">
            <a:spLocks noChangeArrowheads="1"/>
          </p:cNvSpPr>
          <p:nvPr/>
        </p:nvSpPr>
        <p:spPr bwMode="auto">
          <a:xfrm>
            <a:off x="595313" y="2846388"/>
            <a:ext cx="1279525"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a:t>
            </a:r>
            <a:r>
              <a:rPr lang="zh-CN" altLang="en-US" sz="2400" b="1" dirty="0">
                <a:solidFill>
                  <a:srgbClr val="000066"/>
                </a:solidFill>
                <a:ea typeface="幼圆" pitchFamily="49" charset="-122"/>
              </a:rPr>
              <a:t>硅片</a:t>
            </a:r>
            <a:r>
              <a:rPr lang="zh-CN" altLang="en-US" sz="2800" b="1" dirty="0">
                <a:solidFill>
                  <a:srgbClr val="000066"/>
                </a:solidFill>
                <a:ea typeface="幼圆" pitchFamily="49" charset="-122"/>
              </a:rPr>
              <a:t/>
            </a:r>
            <a:br>
              <a:rPr lang="zh-CN" altLang="en-US" sz="2800" b="1" dirty="0">
                <a:solidFill>
                  <a:srgbClr val="000066"/>
                </a:solidFill>
                <a:ea typeface="幼圆" pitchFamily="49" charset="-122"/>
              </a:rPr>
            </a:br>
            <a:endParaRPr lang="zh-CN" altLang="en-US" sz="2800" b="1" dirty="0">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r>
              <a:rPr lang="zh-CN" altLang="en-US" sz="2800" b="1" dirty="0">
                <a:solidFill>
                  <a:srgbClr val="000066"/>
                </a:solidFill>
                <a:ea typeface="幼圆" pitchFamily="49" charset="-122"/>
              </a:rPr>
              <a:t> </a:t>
            </a:r>
            <a:r>
              <a:rPr lang="zh-CN" altLang="en-US" sz="2400" b="1" dirty="0">
                <a:solidFill>
                  <a:srgbClr val="000066"/>
                </a:solidFill>
                <a:ea typeface="幼圆" pitchFamily="49" charset="-122"/>
              </a:rPr>
              <a:t>铝片</a:t>
            </a:r>
          </a:p>
          <a:p>
            <a:pPr eaLnBrk="1" hangingPunct="1">
              <a:lnSpc>
                <a:spcPct val="100000"/>
              </a:lnSpc>
              <a:spcBef>
                <a:spcPct val="0"/>
              </a:spcBef>
              <a:spcAft>
                <a:spcPct val="0"/>
              </a:spcAft>
              <a:buFont typeface="Wingdings" pitchFamily="2" charset="2"/>
              <a:buChar char="²"/>
            </a:pPr>
            <a:endParaRPr lang="zh-CN" altLang="en-US" sz="2800" b="1" dirty="0">
              <a:solidFill>
                <a:srgbClr val="000066"/>
              </a:solidFill>
              <a:ea typeface="幼圆" pitchFamily="49" charset="-122"/>
            </a:endParaRPr>
          </a:p>
        </p:txBody>
      </p:sp>
      <p:grpSp>
        <p:nvGrpSpPr>
          <p:cNvPr id="2" name="Group 13"/>
          <p:cNvGrpSpPr>
            <a:grpSpLocks/>
          </p:cNvGrpSpPr>
          <p:nvPr/>
        </p:nvGrpSpPr>
        <p:grpSpPr bwMode="auto">
          <a:xfrm>
            <a:off x="2854325" y="2638425"/>
            <a:ext cx="5991225" cy="2359025"/>
            <a:chOff x="1907" y="1645"/>
            <a:chExt cx="3774" cy="1486"/>
          </a:xfrm>
        </p:grpSpPr>
        <p:sp>
          <p:nvSpPr>
            <p:cNvPr id="47115" name="AutoShape 14"/>
            <p:cNvSpPr>
              <a:spLocks noChangeArrowheads="1"/>
            </p:cNvSpPr>
            <p:nvPr/>
          </p:nvSpPr>
          <p:spPr bwMode="auto">
            <a:xfrm flipV="1">
              <a:off x="4895" y="234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47116" name="Text Box 15"/>
            <p:cNvSpPr txBox="1">
              <a:spLocks noChangeArrowheads="1"/>
            </p:cNvSpPr>
            <p:nvPr/>
          </p:nvSpPr>
          <p:spPr bwMode="auto">
            <a:xfrm>
              <a:off x="4990" y="2323"/>
              <a:ext cx="2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dirty="0">
                  <a:solidFill>
                    <a:srgbClr val="000066"/>
                  </a:solidFill>
                </a:rPr>
                <a:t>Si</a:t>
              </a:r>
            </a:p>
          </p:txBody>
        </p:sp>
        <p:sp>
          <p:nvSpPr>
            <p:cNvPr id="47117" name="Text Box 16"/>
            <p:cNvSpPr txBox="1">
              <a:spLocks noChangeArrowheads="1"/>
            </p:cNvSpPr>
            <p:nvPr/>
          </p:nvSpPr>
          <p:spPr bwMode="auto">
            <a:xfrm>
              <a:off x="5318" y="2321"/>
              <a:ext cx="2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dirty="0">
                  <a:solidFill>
                    <a:srgbClr val="000066"/>
                  </a:solidFill>
                </a:rPr>
                <a:t>Si</a:t>
              </a:r>
            </a:p>
          </p:txBody>
        </p:sp>
        <p:grpSp>
          <p:nvGrpSpPr>
            <p:cNvPr id="47118" name="Group 17"/>
            <p:cNvGrpSpPr>
              <a:grpSpLocks/>
            </p:cNvGrpSpPr>
            <p:nvPr/>
          </p:nvGrpSpPr>
          <p:grpSpPr bwMode="auto">
            <a:xfrm>
              <a:off x="3230" y="2072"/>
              <a:ext cx="1463" cy="708"/>
              <a:chOff x="3068" y="2072"/>
              <a:chExt cx="1463" cy="708"/>
            </a:xfrm>
          </p:grpSpPr>
          <p:sp>
            <p:nvSpPr>
              <p:cNvPr id="47137" name="Oval 18"/>
              <p:cNvSpPr>
                <a:spLocks noChangeArrowheads="1"/>
              </p:cNvSpPr>
              <p:nvPr/>
            </p:nvSpPr>
            <p:spPr bwMode="auto">
              <a:xfrm>
                <a:off x="3244" y="2416"/>
                <a:ext cx="71" cy="71"/>
              </a:xfrm>
              <a:prstGeom prst="ellipse">
                <a:avLst/>
              </a:prstGeom>
              <a:solidFill>
                <a:schemeClr val="accent1"/>
              </a:solidFill>
              <a:ln w="9525">
                <a:solidFill>
                  <a:schemeClr val="accent1"/>
                </a:solidFill>
                <a:round/>
                <a:headEnd/>
                <a:tailEnd/>
              </a:ln>
            </p:spPr>
            <p:txBody>
              <a:bodyPr wrap="none" anchor="ctr"/>
              <a:lstStyle/>
              <a:p>
                <a:endParaRPr lang="zh-CN" altLang="en-US"/>
              </a:p>
            </p:txBody>
          </p:sp>
          <p:sp>
            <p:nvSpPr>
              <p:cNvPr id="47138" name="Line 19"/>
              <p:cNvSpPr>
                <a:spLocks noChangeShapeType="1"/>
              </p:cNvSpPr>
              <p:nvPr/>
            </p:nvSpPr>
            <p:spPr bwMode="auto">
              <a:xfrm flipH="1">
                <a:off x="3289" y="2328"/>
                <a:ext cx="64" cy="88"/>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39" name="Oval 20"/>
              <p:cNvSpPr>
                <a:spLocks noChangeArrowheads="1"/>
              </p:cNvSpPr>
              <p:nvPr/>
            </p:nvSpPr>
            <p:spPr bwMode="auto">
              <a:xfrm>
                <a:off x="3353" y="2509"/>
                <a:ext cx="71" cy="71"/>
              </a:xfrm>
              <a:prstGeom prst="ellipse">
                <a:avLst/>
              </a:prstGeom>
              <a:solidFill>
                <a:schemeClr val="accent1"/>
              </a:solidFill>
              <a:ln w="9525">
                <a:solidFill>
                  <a:schemeClr val="accent1"/>
                </a:solidFill>
                <a:round/>
                <a:headEnd/>
                <a:tailEnd/>
              </a:ln>
            </p:spPr>
            <p:txBody>
              <a:bodyPr wrap="none" anchor="ctr"/>
              <a:lstStyle/>
              <a:p>
                <a:endParaRPr lang="zh-CN" altLang="en-US"/>
              </a:p>
            </p:txBody>
          </p:sp>
          <p:sp>
            <p:nvSpPr>
              <p:cNvPr id="47140" name="Oval 21"/>
              <p:cNvSpPr>
                <a:spLocks noChangeArrowheads="1"/>
              </p:cNvSpPr>
              <p:nvPr/>
            </p:nvSpPr>
            <p:spPr bwMode="auto">
              <a:xfrm>
                <a:off x="3659" y="2439"/>
                <a:ext cx="71" cy="71"/>
              </a:xfrm>
              <a:prstGeom prst="ellipse">
                <a:avLst/>
              </a:prstGeom>
              <a:solidFill>
                <a:schemeClr val="accent1"/>
              </a:solidFill>
              <a:ln w="9525">
                <a:solidFill>
                  <a:schemeClr val="accent1"/>
                </a:solidFill>
                <a:round/>
                <a:headEnd/>
                <a:tailEnd/>
              </a:ln>
            </p:spPr>
            <p:txBody>
              <a:bodyPr wrap="none" anchor="ctr"/>
              <a:lstStyle/>
              <a:p>
                <a:endParaRPr lang="zh-CN" altLang="en-US"/>
              </a:p>
            </p:txBody>
          </p:sp>
          <p:sp>
            <p:nvSpPr>
              <p:cNvPr id="47141" name="Oval 22"/>
              <p:cNvSpPr>
                <a:spLocks noChangeArrowheads="1"/>
              </p:cNvSpPr>
              <p:nvPr/>
            </p:nvSpPr>
            <p:spPr bwMode="auto">
              <a:xfrm>
                <a:off x="3919" y="2366"/>
                <a:ext cx="71" cy="71"/>
              </a:xfrm>
              <a:prstGeom prst="ellipse">
                <a:avLst/>
              </a:prstGeom>
              <a:solidFill>
                <a:schemeClr val="accent1"/>
              </a:solidFill>
              <a:ln w="9525">
                <a:solidFill>
                  <a:schemeClr val="accent1"/>
                </a:solidFill>
                <a:round/>
                <a:headEnd/>
                <a:tailEnd/>
              </a:ln>
            </p:spPr>
            <p:txBody>
              <a:bodyPr wrap="none" anchor="ctr"/>
              <a:lstStyle/>
              <a:p>
                <a:endParaRPr lang="zh-CN" altLang="en-US"/>
              </a:p>
            </p:txBody>
          </p:sp>
          <p:sp>
            <p:nvSpPr>
              <p:cNvPr id="47142" name="Oval 23"/>
              <p:cNvSpPr>
                <a:spLocks noChangeArrowheads="1"/>
              </p:cNvSpPr>
              <p:nvPr/>
            </p:nvSpPr>
            <p:spPr bwMode="auto">
              <a:xfrm>
                <a:off x="4052" y="2457"/>
                <a:ext cx="71" cy="71"/>
              </a:xfrm>
              <a:prstGeom prst="ellipse">
                <a:avLst/>
              </a:prstGeom>
              <a:solidFill>
                <a:schemeClr val="accent1"/>
              </a:solidFill>
              <a:ln w="9525">
                <a:solidFill>
                  <a:schemeClr val="accent1"/>
                </a:solidFill>
                <a:round/>
                <a:headEnd/>
                <a:tailEnd/>
              </a:ln>
            </p:spPr>
            <p:txBody>
              <a:bodyPr wrap="none" anchor="ctr"/>
              <a:lstStyle/>
              <a:p>
                <a:endParaRPr lang="zh-CN" altLang="en-US"/>
              </a:p>
            </p:txBody>
          </p:sp>
          <p:sp>
            <p:nvSpPr>
              <p:cNvPr id="47143" name="Oval 24"/>
              <p:cNvSpPr>
                <a:spLocks noChangeArrowheads="1"/>
              </p:cNvSpPr>
              <p:nvPr/>
            </p:nvSpPr>
            <p:spPr bwMode="auto">
              <a:xfrm>
                <a:off x="4146" y="2555"/>
                <a:ext cx="71" cy="71"/>
              </a:xfrm>
              <a:prstGeom prst="ellipse">
                <a:avLst/>
              </a:prstGeom>
              <a:solidFill>
                <a:schemeClr val="accent1"/>
              </a:solidFill>
              <a:ln w="9525">
                <a:solidFill>
                  <a:schemeClr val="accent1"/>
                </a:solidFill>
                <a:round/>
                <a:headEnd/>
                <a:tailEnd/>
              </a:ln>
            </p:spPr>
            <p:txBody>
              <a:bodyPr wrap="none" anchor="ctr"/>
              <a:lstStyle/>
              <a:p>
                <a:endParaRPr lang="zh-CN" altLang="en-US"/>
              </a:p>
            </p:txBody>
          </p:sp>
          <p:sp>
            <p:nvSpPr>
              <p:cNvPr id="47144" name="Line 25"/>
              <p:cNvSpPr>
                <a:spLocks noChangeShapeType="1"/>
              </p:cNvSpPr>
              <p:nvPr/>
            </p:nvSpPr>
            <p:spPr bwMode="auto">
              <a:xfrm>
                <a:off x="3322" y="2297"/>
                <a:ext cx="53" cy="209"/>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45" name="Line 26"/>
              <p:cNvSpPr>
                <a:spLocks noChangeShapeType="1"/>
              </p:cNvSpPr>
              <p:nvPr/>
            </p:nvSpPr>
            <p:spPr bwMode="auto">
              <a:xfrm flipH="1">
                <a:off x="3127" y="2408"/>
                <a:ext cx="800" cy="201"/>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46" name="Line 27"/>
              <p:cNvSpPr>
                <a:spLocks noChangeShapeType="1"/>
              </p:cNvSpPr>
              <p:nvPr/>
            </p:nvSpPr>
            <p:spPr bwMode="auto">
              <a:xfrm>
                <a:off x="3291" y="2462"/>
                <a:ext cx="194" cy="168"/>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47" name="Line 28"/>
              <p:cNvSpPr>
                <a:spLocks noChangeShapeType="1"/>
              </p:cNvSpPr>
              <p:nvPr/>
            </p:nvSpPr>
            <p:spPr bwMode="auto">
              <a:xfrm>
                <a:off x="3317" y="2458"/>
                <a:ext cx="1140" cy="5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48" name="Line 29"/>
              <p:cNvSpPr>
                <a:spLocks noChangeShapeType="1"/>
              </p:cNvSpPr>
              <p:nvPr/>
            </p:nvSpPr>
            <p:spPr bwMode="auto">
              <a:xfrm>
                <a:off x="3564" y="2647"/>
                <a:ext cx="334" cy="17"/>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49" name="Line 30"/>
              <p:cNvSpPr>
                <a:spLocks noChangeShapeType="1"/>
              </p:cNvSpPr>
              <p:nvPr/>
            </p:nvSpPr>
            <p:spPr bwMode="auto">
              <a:xfrm flipV="1">
                <a:off x="3960" y="2566"/>
                <a:ext cx="310" cy="81"/>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50" name="Line 31"/>
              <p:cNvSpPr>
                <a:spLocks noChangeShapeType="1"/>
              </p:cNvSpPr>
              <p:nvPr/>
            </p:nvSpPr>
            <p:spPr bwMode="auto">
              <a:xfrm>
                <a:off x="4145" y="2345"/>
                <a:ext cx="26" cy="209"/>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51" name="Line 32"/>
              <p:cNvSpPr>
                <a:spLocks noChangeShapeType="1"/>
              </p:cNvSpPr>
              <p:nvPr/>
            </p:nvSpPr>
            <p:spPr bwMode="auto">
              <a:xfrm flipH="1" flipV="1">
                <a:off x="3987" y="2427"/>
                <a:ext cx="322" cy="251"/>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52" name="Line 33"/>
              <p:cNvSpPr>
                <a:spLocks noChangeShapeType="1"/>
              </p:cNvSpPr>
              <p:nvPr/>
            </p:nvSpPr>
            <p:spPr bwMode="auto">
              <a:xfrm>
                <a:off x="3915" y="2170"/>
                <a:ext cx="36" cy="194"/>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53" name="Line 34"/>
              <p:cNvSpPr>
                <a:spLocks noChangeShapeType="1"/>
              </p:cNvSpPr>
              <p:nvPr/>
            </p:nvSpPr>
            <p:spPr bwMode="auto">
              <a:xfrm flipH="1">
                <a:off x="4100" y="2357"/>
                <a:ext cx="67" cy="103"/>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54" name="Line 35"/>
              <p:cNvSpPr>
                <a:spLocks noChangeShapeType="1"/>
              </p:cNvSpPr>
              <p:nvPr/>
            </p:nvSpPr>
            <p:spPr bwMode="auto">
              <a:xfrm flipH="1">
                <a:off x="3399" y="2446"/>
                <a:ext cx="19" cy="6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55" name="Oval 36"/>
              <p:cNvSpPr>
                <a:spLocks noChangeArrowheads="1"/>
              </p:cNvSpPr>
              <p:nvPr/>
            </p:nvSpPr>
            <p:spPr bwMode="auto">
              <a:xfrm>
                <a:off x="3474" y="2329"/>
                <a:ext cx="48" cy="48"/>
              </a:xfrm>
              <a:prstGeom prst="ellipse">
                <a:avLst/>
              </a:prstGeom>
              <a:solidFill>
                <a:srgbClr val="FF66FF"/>
              </a:solidFill>
              <a:ln w="19050">
                <a:solidFill>
                  <a:srgbClr val="FF66FF"/>
                </a:solidFill>
                <a:round/>
                <a:headEnd/>
                <a:tailEnd/>
              </a:ln>
            </p:spPr>
            <p:txBody>
              <a:bodyPr wrap="none" anchor="ctr"/>
              <a:lstStyle/>
              <a:p>
                <a:endParaRPr lang="zh-CN" altLang="en-US"/>
              </a:p>
            </p:txBody>
          </p:sp>
          <p:sp>
            <p:nvSpPr>
              <p:cNvPr id="47156" name="Oval 37"/>
              <p:cNvSpPr>
                <a:spLocks noChangeArrowheads="1"/>
              </p:cNvSpPr>
              <p:nvPr/>
            </p:nvSpPr>
            <p:spPr bwMode="auto">
              <a:xfrm>
                <a:off x="3883" y="2309"/>
                <a:ext cx="48" cy="48"/>
              </a:xfrm>
              <a:prstGeom prst="ellipse">
                <a:avLst/>
              </a:prstGeom>
              <a:solidFill>
                <a:srgbClr val="FF66FF"/>
              </a:solidFill>
              <a:ln w="19050">
                <a:solidFill>
                  <a:srgbClr val="FF66FF"/>
                </a:solidFill>
                <a:round/>
                <a:headEnd/>
                <a:tailEnd/>
              </a:ln>
            </p:spPr>
            <p:txBody>
              <a:bodyPr wrap="none" anchor="ctr"/>
              <a:lstStyle/>
              <a:p>
                <a:endParaRPr lang="zh-CN" altLang="en-US"/>
              </a:p>
            </p:txBody>
          </p:sp>
          <p:sp>
            <p:nvSpPr>
              <p:cNvPr id="47157" name="Oval 38"/>
              <p:cNvSpPr>
                <a:spLocks noChangeArrowheads="1"/>
              </p:cNvSpPr>
              <p:nvPr/>
            </p:nvSpPr>
            <p:spPr bwMode="auto">
              <a:xfrm>
                <a:off x="4265" y="2359"/>
                <a:ext cx="48" cy="48"/>
              </a:xfrm>
              <a:prstGeom prst="ellipse">
                <a:avLst/>
              </a:prstGeom>
              <a:solidFill>
                <a:srgbClr val="FF66FF"/>
              </a:solidFill>
              <a:ln w="19050">
                <a:solidFill>
                  <a:srgbClr val="FF66FF"/>
                </a:solidFill>
                <a:round/>
                <a:headEnd/>
                <a:tailEnd/>
              </a:ln>
            </p:spPr>
            <p:txBody>
              <a:bodyPr wrap="none" anchor="ctr"/>
              <a:lstStyle/>
              <a:p>
                <a:endParaRPr lang="zh-CN" altLang="en-US"/>
              </a:p>
            </p:txBody>
          </p:sp>
          <p:sp>
            <p:nvSpPr>
              <p:cNvPr id="47158" name="Oval 39"/>
              <p:cNvSpPr>
                <a:spLocks noChangeArrowheads="1"/>
              </p:cNvSpPr>
              <p:nvPr/>
            </p:nvSpPr>
            <p:spPr bwMode="auto">
              <a:xfrm>
                <a:off x="3699" y="2556"/>
                <a:ext cx="48" cy="48"/>
              </a:xfrm>
              <a:prstGeom prst="ellipse">
                <a:avLst/>
              </a:prstGeom>
              <a:solidFill>
                <a:srgbClr val="FF66FF"/>
              </a:solidFill>
              <a:ln w="19050">
                <a:solidFill>
                  <a:srgbClr val="FF66FF"/>
                </a:solidFill>
                <a:round/>
                <a:headEnd/>
                <a:tailEnd/>
              </a:ln>
            </p:spPr>
            <p:txBody>
              <a:bodyPr wrap="none" anchor="ctr"/>
              <a:lstStyle/>
              <a:p>
                <a:endParaRPr lang="zh-CN" altLang="en-US"/>
              </a:p>
            </p:txBody>
          </p:sp>
          <p:sp>
            <p:nvSpPr>
              <p:cNvPr id="47159" name="Oval 40"/>
              <p:cNvSpPr>
                <a:spLocks noChangeArrowheads="1"/>
              </p:cNvSpPr>
              <p:nvPr/>
            </p:nvSpPr>
            <p:spPr bwMode="auto">
              <a:xfrm>
                <a:off x="3289" y="2494"/>
                <a:ext cx="48" cy="48"/>
              </a:xfrm>
              <a:prstGeom prst="ellipse">
                <a:avLst/>
              </a:prstGeom>
              <a:solidFill>
                <a:srgbClr val="FF66FF"/>
              </a:solidFill>
              <a:ln w="19050">
                <a:solidFill>
                  <a:srgbClr val="FF66FF"/>
                </a:solidFill>
                <a:round/>
                <a:headEnd/>
                <a:tailEnd/>
              </a:ln>
            </p:spPr>
            <p:txBody>
              <a:bodyPr wrap="none" anchor="ctr"/>
              <a:lstStyle/>
              <a:p>
                <a:endParaRPr lang="zh-CN" altLang="en-US"/>
              </a:p>
            </p:txBody>
          </p:sp>
          <p:sp>
            <p:nvSpPr>
              <p:cNvPr id="47160" name="Oval 41"/>
              <p:cNvSpPr>
                <a:spLocks noChangeArrowheads="1"/>
              </p:cNvSpPr>
              <p:nvPr/>
            </p:nvSpPr>
            <p:spPr bwMode="auto">
              <a:xfrm>
                <a:off x="4089" y="2520"/>
                <a:ext cx="48" cy="48"/>
              </a:xfrm>
              <a:prstGeom prst="ellipse">
                <a:avLst/>
              </a:prstGeom>
              <a:solidFill>
                <a:srgbClr val="FF66FF"/>
              </a:solidFill>
              <a:ln w="19050">
                <a:solidFill>
                  <a:srgbClr val="FF66FF"/>
                </a:solidFill>
                <a:round/>
                <a:headEnd/>
                <a:tailEnd/>
              </a:ln>
            </p:spPr>
            <p:txBody>
              <a:bodyPr wrap="none" anchor="ctr"/>
              <a:lstStyle/>
              <a:p>
                <a:endParaRPr lang="zh-CN" altLang="en-US"/>
              </a:p>
            </p:txBody>
          </p:sp>
          <p:sp>
            <p:nvSpPr>
              <p:cNvPr id="47161" name="Line 42"/>
              <p:cNvSpPr>
                <a:spLocks noChangeShapeType="1"/>
              </p:cNvSpPr>
              <p:nvPr/>
            </p:nvSpPr>
            <p:spPr bwMode="auto">
              <a:xfrm flipH="1">
                <a:off x="4188" y="2466"/>
                <a:ext cx="35" cy="145"/>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2" name="Freeform 43"/>
              <p:cNvSpPr>
                <a:spLocks/>
              </p:cNvSpPr>
              <p:nvPr/>
            </p:nvSpPr>
            <p:spPr bwMode="auto">
              <a:xfrm>
                <a:off x="3107" y="2116"/>
                <a:ext cx="1396" cy="644"/>
              </a:xfrm>
              <a:custGeom>
                <a:avLst/>
                <a:gdLst>
                  <a:gd name="T0" fmla="*/ 0 w 1396"/>
                  <a:gd name="T1" fmla="*/ 511 h 644"/>
                  <a:gd name="T2" fmla="*/ 414 w 1396"/>
                  <a:gd name="T3" fmla="*/ 528 h 644"/>
                  <a:gd name="T4" fmla="*/ 580 w 1396"/>
                  <a:gd name="T5" fmla="*/ 644 h 644"/>
                  <a:gd name="T6" fmla="*/ 814 w 1396"/>
                  <a:gd name="T7" fmla="*/ 551 h 644"/>
                  <a:gd name="T8" fmla="*/ 1227 w 1396"/>
                  <a:gd name="T9" fmla="*/ 576 h 644"/>
                  <a:gd name="T10" fmla="*/ 1164 w 1396"/>
                  <a:gd name="T11" fmla="*/ 452 h 644"/>
                  <a:gd name="T12" fmla="*/ 1396 w 1396"/>
                  <a:gd name="T13" fmla="*/ 391 h 644"/>
                  <a:gd name="T14" fmla="*/ 1185 w 1396"/>
                  <a:gd name="T15" fmla="*/ 36 h 644"/>
                  <a:gd name="T16" fmla="*/ 1064 w 1396"/>
                  <a:gd name="T17" fmla="*/ 244 h 644"/>
                  <a:gd name="T18" fmla="*/ 1038 w 1396"/>
                  <a:gd name="T19" fmla="*/ 189 h 644"/>
                  <a:gd name="T20" fmla="*/ 952 w 1396"/>
                  <a:gd name="T21" fmla="*/ 330 h 644"/>
                  <a:gd name="T22" fmla="*/ 811 w 1396"/>
                  <a:gd name="T23" fmla="*/ 10 h 644"/>
                  <a:gd name="T24" fmla="*/ 670 w 1396"/>
                  <a:gd name="T25" fmla="*/ 221 h 644"/>
                  <a:gd name="T26" fmla="*/ 638 w 1396"/>
                  <a:gd name="T27" fmla="*/ 144 h 644"/>
                  <a:gd name="T28" fmla="*/ 552 w 1396"/>
                  <a:gd name="T29" fmla="*/ 304 h 644"/>
                  <a:gd name="T30" fmla="*/ 401 w 1396"/>
                  <a:gd name="T31" fmla="*/ 0 h 644"/>
                  <a:gd name="T32" fmla="*/ 248 w 1396"/>
                  <a:gd name="T33" fmla="*/ 215 h 644"/>
                  <a:gd name="T34" fmla="*/ 209 w 1396"/>
                  <a:gd name="T35" fmla="*/ 144 h 644"/>
                  <a:gd name="T36" fmla="*/ 0 w 1396"/>
                  <a:gd name="T37" fmla="*/ 511 h 6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96"/>
                  <a:gd name="T58" fmla="*/ 0 h 644"/>
                  <a:gd name="T59" fmla="*/ 1396 w 1396"/>
                  <a:gd name="T60" fmla="*/ 644 h 6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96" h="644">
                    <a:moveTo>
                      <a:pt x="0" y="511"/>
                    </a:moveTo>
                    <a:lnTo>
                      <a:pt x="414" y="528"/>
                    </a:lnTo>
                    <a:lnTo>
                      <a:pt x="580" y="644"/>
                    </a:lnTo>
                    <a:lnTo>
                      <a:pt x="814" y="551"/>
                    </a:lnTo>
                    <a:lnTo>
                      <a:pt x="1227" y="576"/>
                    </a:lnTo>
                    <a:lnTo>
                      <a:pt x="1164" y="452"/>
                    </a:lnTo>
                    <a:lnTo>
                      <a:pt x="1396" y="391"/>
                    </a:lnTo>
                    <a:lnTo>
                      <a:pt x="1185" y="36"/>
                    </a:lnTo>
                    <a:lnTo>
                      <a:pt x="1064" y="244"/>
                    </a:lnTo>
                    <a:lnTo>
                      <a:pt x="1038" y="189"/>
                    </a:lnTo>
                    <a:lnTo>
                      <a:pt x="952" y="330"/>
                    </a:lnTo>
                    <a:lnTo>
                      <a:pt x="811" y="10"/>
                    </a:lnTo>
                    <a:lnTo>
                      <a:pt x="670" y="221"/>
                    </a:lnTo>
                    <a:lnTo>
                      <a:pt x="638" y="144"/>
                    </a:lnTo>
                    <a:lnTo>
                      <a:pt x="552" y="304"/>
                    </a:lnTo>
                    <a:lnTo>
                      <a:pt x="401" y="0"/>
                    </a:lnTo>
                    <a:lnTo>
                      <a:pt x="248" y="215"/>
                    </a:lnTo>
                    <a:lnTo>
                      <a:pt x="209" y="144"/>
                    </a:lnTo>
                    <a:lnTo>
                      <a:pt x="0" y="511"/>
                    </a:lnTo>
                    <a:close/>
                  </a:path>
                </a:pathLst>
              </a:custGeom>
              <a:solidFill>
                <a:srgbClr val="FFCC66">
                  <a:alpha val="3803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163" name="Freeform 44"/>
              <p:cNvSpPr>
                <a:spLocks/>
              </p:cNvSpPr>
              <p:nvPr/>
            </p:nvSpPr>
            <p:spPr bwMode="auto">
              <a:xfrm>
                <a:off x="3101" y="2265"/>
                <a:ext cx="426" cy="381"/>
              </a:xfrm>
              <a:custGeom>
                <a:avLst/>
                <a:gdLst>
                  <a:gd name="T0" fmla="*/ 0 w 426"/>
                  <a:gd name="T1" fmla="*/ 358 h 381"/>
                  <a:gd name="T2" fmla="*/ 426 w 426"/>
                  <a:gd name="T3" fmla="*/ 381 h 381"/>
                  <a:gd name="T4" fmla="*/ 221 w 426"/>
                  <a:gd name="T5" fmla="*/ 0 h 381"/>
                  <a:gd name="T6" fmla="*/ 0 w 426"/>
                  <a:gd name="T7" fmla="*/ 358 h 381"/>
                  <a:gd name="T8" fmla="*/ 0 60000 65536"/>
                  <a:gd name="T9" fmla="*/ 0 60000 65536"/>
                  <a:gd name="T10" fmla="*/ 0 60000 65536"/>
                  <a:gd name="T11" fmla="*/ 0 60000 65536"/>
                  <a:gd name="T12" fmla="*/ 0 w 426"/>
                  <a:gd name="T13" fmla="*/ 0 h 381"/>
                  <a:gd name="T14" fmla="*/ 426 w 426"/>
                  <a:gd name="T15" fmla="*/ 381 h 381"/>
                </a:gdLst>
                <a:ahLst/>
                <a:cxnLst>
                  <a:cxn ang="T8">
                    <a:pos x="T0" y="T1"/>
                  </a:cxn>
                  <a:cxn ang="T9">
                    <a:pos x="T2" y="T3"/>
                  </a:cxn>
                  <a:cxn ang="T10">
                    <a:pos x="T4" y="T5"/>
                  </a:cxn>
                  <a:cxn ang="T11">
                    <a:pos x="T6" y="T7"/>
                  </a:cxn>
                </a:cxnLst>
                <a:rect l="T12" t="T13" r="T14" b="T15"/>
                <a:pathLst>
                  <a:path w="426" h="381">
                    <a:moveTo>
                      <a:pt x="0" y="358"/>
                    </a:moveTo>
                    <a:lnTo>
                      <a:pt x="426" y="381"/>
                    </a:lnTo>
                    <a:lnTo>
                      <a:pt x="221" y="0"/>
                    </a:lnTo>
                    <a:lnTo>
                      <a:pt x="0" y="358"/>
                    </a:lnTo>
                    <a:close/>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64" name="Line 45"/>
              <p:cNvSpPr>
                <a:spLocks noChangeShapeType="1"/>
              </p:cNvSpPr>
              <p:nvPr/>
            </p:nvSpPr>
            <p:spPr bwMode="auto">
              <a:xfrm flipH="1">
                <a:off x="3417" y="2102"/>
                <a:ext cx="94" cy="3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5" name="Line 46"/>
              <p:cNvSpPr>
                <a:spLocks noChangeShapeType="1"/>
              </p:cNvSpPr>
              <p:nvPr/>
            </p:nvSpPr>
            <p:spPr bwMode="auto">
              <a:xfrm flipH="1">
                <a:off x="3351" y="2105"/>
                <a:ext cx="160" cy="221"/>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6" name="Line 47"/>
              <p:cNvSpPr>
                <a:spLocks noChangeShapeType="1"/>
              </p:cNvSpPr>
              <p:nvPr/>
            </p:nvSpPr>
            <p:spPr bwMode="auto">
              <a:xfrm>
                <a:off x="3511" y="2110"/>
                <a:ext cx="146" cy="301"/>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7" name="Freeform 48"/>
              <p:cNvSpPr>
                <a:spLocks/>
              </p:cNvSpPr>
              <p:nvPr/>
            </p:nvSpPr>
            <p:spPr bwMode="auto">
              <a:xfrm>
                <a:off x="3690" y="2270"/>
                <a:ext cx="240" cy="488"/>
              </a:xfrm>
              <a:custGeom>
                <a:avLst/>
                <a:gdLst>
                  <a:gd name="T0" fmla="*/ 57 w 240"/>
                  <a:gd name="T1" fmla="*/ 0 h 488"/>
                  <a:gd name="T2" fmla="*/ 240 w 240"/>
                  <a:gd name="T3" fmla="*/ 385 h 488"/>
                  <a:gd name="T4" fmla="*/ 0 w 240"/>
                  <a:gd name="T5" fmla="*/ 488 h 488"/>
                  <a:gd name="T6" fmla="*/ 0 60000 65536"/>
                  <a:gd name="T7" fmla="*/ 0 60000 65536"/>
                  <a:gd name="T8" fmla="*/ 0 60000 65536"/>
                  <a:gd name="T9" fmla="*/ 0 w 240"/>
                  <a:gd name="T10" fmla="*/ 0 h 488"/>
                  <a:gd name="T11" fmla="*/ 240 w 240"/>
                  <a:gd name="T12" fmla="*/ 488 h 488"/>
                </a:gdLst>
                <a:ahLst/>
                <a:cxnLst>
                  <a:cxn ang="T6">
                    <a:pos x="T0" y="T1"/>
                  </a:cxn>
                  <a:cxn ang="T7">
                    <a:pos x="T2" y="T3"/>
                  </a:cxn>
                  <a:cxn ang="T8">
                    <a:pos x="T4" y="T5"/>
                  </a:cxn>
                </a:cxnLst>
                <a:rect l="T9" t="T10" r="T11" b="T12"/>
                <a:pathLst>
                  <a:path w="240" h="488">
                    <a:moveTo>
                      <a:pt x="57" y="0"/>
                    </a:moveTo>
                    <a:lnTo>
                      <a:pt x="240" y="385"/>
                    </a:lnTo>
                    <a:lnTo>
                      <a:pt x="0" y="488"/>
                    </a:lnTo>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68" name="Freeform 49"/>
              <p:cNvSpPr>
                <a:spLocks/>
              </p:cNvSpPr>
              <p:nvPr/>
            </p:nvSpPr>
            <p:spPr bwMode="auto">
              <a:xfrm>
                <a:off x="3514" y="2262"/>
                <a:ext cx="233" cy="499"/>
              </a:xfrm>
              <a:custGeom>
                <a:avLst/>
                <a:gdLst>
                  <a:gd name="T0" fmla="*/ 233 w 233"/>
                  <a:gd name="T1" fmla="*/ 0 h 499"/>
                  <a:gd name="T2" fmla="*/ 0 w 233"/>
                  <a:gd name="T3" fmla="*/ 387 h 499"/>
                  <a:gd name="T4" fmla="*/ 173 w 233"/>
                  <a:gd name="T5" fmla="*/ 499 h 499"/>
                  <a:gd name="T6" fmla="*/ 233 w 233"/>
                  <a:gd name="T7" fmla="*/ 0 h 499"/>
                  <a:gd name="T8" fmla="*/ 0 60000 65536"/>
                  <a:gd name="T9" fmla="*/ 0 60000 65536"/>
                  <a:gd name="T10" fmla="*/ 0 60000 65536"/>
                  <a:gd name="T11" fmla="*/ 0 60000 65536"/>
                  <a:gd name="T12" fmla="*/ 0 w 233"/>
                  <a:gd name="T13" fmla="*/ 0 h 499"/>
                  <a:gd name="T14" fmla="*/ 233 w 233"/>
                  <a:gd name="T15" fmla="*/ 499 h 499"/>
                </a:gdLst>
                <a:ahLst/>
                <a:cxnLst>
                  <a:cxn ang="T8">
                    <a:pos x="T0" y="T1"/>
                  </a:cxn>
                  <a:cxn ang="T9">
                    <a:pos x="T2" y="T3"/>
                  </a:cxn>
                  <a:cxn ang="T10">
                    <a:pos x="T4" y="T5"/>
                  </a:cxn>
                  <a:cxn ang="T11">
                    <a:pos x="T6" y="T7"/>
                  </a:cxn>
                </a:cxnLst>
                <a:rect l="T12" t="T13" r="T14" b="T15"/>
                <a:pathLst>
                  <a:path w="233" h="499">
                    <a:moveTo>
                      <a:pt x="233" y="0"/>
                    </a:moveTo>
                    <a:lnTo>
                      <a:pt x="0" y="387"/>
                    </a:lnTo>
                    <a:lnTo>
                      <a:pt x="173" y="499"/>
                    </a:lnTo>
                    <a:lnTo>
                      <a:pt x="233" y="0"/>
                    </a:lnTo>
                    <a:close/>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69" name="Line 50"/>
              <p:cNvSpPr>
                <a:spLocks noChangeShapeType="1"/>
              </p:cNvSpPr>
              <p:nvPr/>
            </p:nvSpPr>
            <p:spPr bwMode="auto">
              <a:xfrm>
                <a:off x="3915" y="2122"/>
                <a:ext cx="144" cy="319"/>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70" name="Line 51"/>
              <p:cNvSpPr>
                <a:spLocks noChangeShapeType="1"/>
              </p:cNvSpPr>
              <p:nvPr/>
            </p:nvSpPr>
            <p:spPr bwMode="auto">
              <a:xfrm flipH="1">
                <a:off x="3777" y="2124"/>
                <a:ext cx="135" cy="209"/>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71" name="Line 52"/>
              <p:cNvSpPr>
                <a:spLocks noChangeShapeType="1"/>
              </p:cNvSpPr>
              <p:nvPr/>
            </p:nvSpPr>
            <p:spPr bwMode="auto">
              <a:xfrm flipH="1">
                <a:off x="4222" y="2146"/>
                <a:ext cx="77" cy="32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72" name="Line 53"/>
              <p:cNvSpPr>
                <a:spLocks noChangeShapeType="1"/>
              </p:cNvSpPr>
              <p:nvPr/>
            </p:nvSpPr>
            <p:spPr bwMode="auto">
              <a:xfrm>
                <a:off x="4299" y="2148"/>
                <a:ext cx="194" cy="367"/>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73" name="Line 54"/>
              <p:cNvSpPr>
                <a:spLocks noChangeShapeType="1"/>
              </p:cNvSpPr>
              <p:nvPr/>
            </p:nvSpPr>
            <p:spPr bwMode="auto">
              <a:xfrm flipV="1">
                <a:off x="4275" y="2510"/>
                <a:ext cx="218" cy="56"/>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74" name="Freeform 55"/>
              <p:cNvSpPr>
                <a:spLocks/>
              </p:cNvSpPr>
              <p:nvPr/>
            </p:nvSpPr>
            <p:spPr bwMode="auto">
              <a:xfrm>
                <a:off x="3927" y="2297"/>
                <a:ext cx="406" cy="393"/>
              </a:xfrm>
              <a:custGeom>
                <a:avLst/>
                <a:gdLst>
                  <a:gd name="T0" fmla="*/ 214 w 406"/>
                  <a:gd name="T1" fmla="*/ 0 h 393"/>
                  <a:gd name="T2" fmla="*/ 0 w 406"/>
                  <a:gd name="T3" fmla="*/ 371 h 393"/>
                  <a:gd name="T4" fmla="*/ 406 w 406"/>
                  <a:gd name="T5" fmla="*/ 393 h 393"/>
                  <a:gd name="T6" fmla="*/ 214 w 406"/>
                  <a:gd name="T7" fmla="*/ 0 h 393"/>
                  <a:gd name="T8" fmla="*/ 0 60000 65536"/>
                  <a:gd name="T9" fmla="*/ 0 60000 65536"/>
                  <a:gd name="T10" fmla="*/ 0 60000 65536"/>
                  <a:gd name="T11" fmla="*/ 0 60000 65536"/>
                  <a:gd name="T12" fmla="*/ 0 w 406"/>
                  <a:gd name="T13" fmla="*/ 0 h 393"/>
                  <a:gd name="T14" fmla="*/ 406 w 406"/>
                  <a:gd name="T15" fmla="*/ 393 h 393"/>
                </a:gdLst>
                <a:ahLst/>
                <a:cxnLst>
                  <a:cxn ang="T8">
                    <a:pos x="T0" y="T1"/>
                  </a:cxn>
                  <a:cxn ang="T9">
                    <a:pos x="T2" y="T3"/>
                  </a:cxn>
                  <a:cxn ang="T10">
                    <a:pos x="T4" y="T5"/>
                  </a:cxn>
                  <a:cxn ang="T11">
                    <a:pos x="T6" y="T7"/>
                  </a:cxn>
                </a:cxnLst>
                <a:rect l="T12" t="T13" r="T14" b="T15"/>
                <a:pathLst>
                  <a:path w="406" h="393">
                    <a:moveTo>
                      <a:pt x="214" y="0"/>
                    </a:moveTo>
                    <a:lnTo>
                      <a:pt x="0" y="371"/>
                    </a:lnTo>
                    <a:lnTo>
                      <a:pt x="406" y="393"/>
                    </a:lnTo>
                    <a:lnTo>
                      <a:pt x="214" y="0"/>
                    </a:lnTo>
                    <a:close/>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75" name="Line 56"/>
              <p:cNvSpPr>
                <a:spLocks noChangeShapeType="1"/>
              </p:cNvSpPr>
              <p:nvPr/>
            </p:nvSpPr>
            <p:spPr bwMode="auto">
              <a:xfrm flipH="1">
                <a:off x="4166" y="2146"/>
                <a:ext cx="133" cy="213"/>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76" name="Oval 57"/>
              <p:cNvSpPr>
                <a:spLocks noChangeArrowheads="1"/>
              </p:cNvSpPr>
              <p:nvPr/>
            </p:nvSpPr>
            <p:spPr bwMode="auto">
              <a:xfrm>
                <a:off x="3472" y="2072"/>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77" name="Oval 58"/>
              <p:cNvSpPr>
                <a:spLocks noChangeArrowheads="1"/>
              </p:cNvSpPr>
              <p:nvPr/>
            </p:nvSpPr>
            <p:spPr bwMode="auto">
              <a:xfrm>
                <a:off x="3882" y="2098"/>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78" name="Oval 59"/>
              <p:cNvSpPr>
                <a:spLocks noChangeArrowheads="1"/>
              </p:cNvSpPr>
              <p:nvPr/>
            </p:nvSpPr>
            <p:spPr bwMode="auto">
              <a:xfrm>
                <a:off x="4263" y="2112"/>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79" name="Oval 60"/>
              <p:cNvSpPr>
                <a:spLocks noChangeArrowheads="1"/>
              </p:cNvSpPr>
              <p:nvPr/>
            </p:nvSpPr>
            <p:spPr bwMode="auto">
              <a:xfrm>
                <a:off x="4460" y="2474"/>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80" name="Oval 61"/>
              <p:cNvSpPr>
                <a:spLocks noChangeArrowheads="1"/>
              </p:cNvSpPr>
              <p:nvPr/>
            </p:nvSpPr>
            <p:spPr bwMode="auto">
              <a:xfrm>
                <a:off x="4309" y="2658"/>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81" name="Oval 62"/>
              <p:cNvSpPr>
                <a:spLocks noChangeArrowheads="1"/>
              </p:cNvSpPr>
              <p:nvPr/>
            </p:nvSpPr>
            <p:spPr bwMode="auto">
              <a:xfrm>
                <a:off x="3894" y="2624"/>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82" name="Oval 63"/>
              <p:cNvSpPr>
                <a:spLocks noChangeArrowheads="1"/>
              </p:cNvSpPr>
              <p:nvPr/>
            </p:nvSpPr>
            <p:spPr bwMode="auto">
              <a:xfrm>
                <a:off x="3486" y="2616"/>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83" name="Oval 64"/>
              <p:cNvSpPr>
                <a:spLocks noChangeArrowheads="1"/>
              </p:cNvSpPr>
              <p:nvPr/>
            </p:nvSpPr>
            <p:spPr bwMode="auto">
              <a:xfrm>
                <a:off x="3068" y="2598"/>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84" name="Oval 65"/>
              <p:cNvSpPr>
                <a:spLocks noChangeArrowheads="1"/>
              </p:cNvSpPr>
              <p:nvPr/>
            </p:nvSpPr>
            <p:spPr bwMode="auto">
              <a:xfrm>
                <a:off x="3660" y="2709"/>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85" name="Oval 66"/>
              <p:cNvSpPr>
                <a:spLocks noChangeArrowheads="1"/>
              </p:cNvSpPr>
              <p:nvPr/>
            </p:nvSpPr>
            <p:spPr bwMode="auto">
              <a:xfrm>
                <a:off x="3712" y="2236"/>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86" name="Oval 67"/>
              <p:cNvSpPr>
                <a:spLocks noChangeArrowheads="1"/>
              </p:cNvSpPr>
              <p:nvPr/>
            </p:nvSpPr>
            <p:spPr bwMode="auto">
              <a:xfrm>
                <a:off x="3284" y="2224"/>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sp>
            <p:nvSpPr>
              <p:cNvPr id="47187" name="Oval 68"/>
              <p:cNvSpPr>
                <a:spLocks noChangeArrowheads="1"/>
              </p:cNvSpPr>
              <p:nvPr/>
            </p:nvSpPr>
            <p:spPr bwMode="auto">
              <a:xfrm>
                <a:off x="4104" y="2272"/>
                <a:ext cx="71" cy="71"/>
              </a:xfrm>
              <a:prstGeom prst="ellipse">
                <a:avLst/>
              </a:prstGeom>
              <a:solidFill>
                <a:schemeClr val="accent3">
                  <a:lumMod val="60000"/>
                  <a:lumOff val="40000"/>
                </a:schemeClr>
              </a:solidFill>
              <a:ln w="9525">
                <a:solidFill>
                  <a:schemeClr val="accent3">
                    <a:lumMod val="60000"/>
                    <a:lumOff val="40000"/>
                  </a:schemeClr>
                </a:solidFill>
                <a:round/>
                <a:headEnd/>
                <a:tailEnd/>
              </a:ln>
            </p:spPr>
            <p:txBody>
              <a:bodyPr wrap="none" anchor="ctr"/>
              <a:lstStyle/>
              <a:p>
                <a:endParaRPr lang="zh-CN" altLang="en-US"/>
              </a:p>
            </p:txBody>
          </p:sp>
        </p:grpSp>
        <p:grpSp>
          <p:nvGrpSpPr>
            <p:cNvPr id="47119" name="Group 69"/>
            <p:cNvGrpSpPr>
              <a:grpSpLocks/>
            </p:cNvGrpSpPr>
            <p:nvPr/>
          </p:nvGrpSpPr>
          <p:grpSpPr bwMode="auto">
            <a:xfrm>
              <a:off x="1907" y="1645"/>
              <a:ext cx="1602" cy="1216"/>
              <a:chOff x="1907" y="1645"/>
              <a:chExt cx="1602" cy="1216"/>
            </a:xfrm>
          </p:grpSpPr>
          <p:sp>
            <p:nvSpPr>
              <p:cNvPr id="47121" name="Oval 70"/>
              <p:cNvSpPr>
                <a:spLocks noChangeArrowheads="1"/>
              </p:cNvSpPr>
              <p:nvPr/>
            </p:nvSpPr>
            <p:spPr bwMode="auto">
              <a:xfrm>
                <a:off x="2405" y="2318"/>
                <a:ext cx="96" cy="96"/>
              </a:xfrm>
              <a:prstGeom prst="ellipse">
                <a:avLst/>
              </a:prstGeom>
              <a:solidFill>
                <a:srgbClr val="FF66FF"/>
              </a:solidFill>
              <a:ln w="12700">
                <a:solidFill>
                  <a:srgbClr val="FF66FF"/>
                </a:solidFill>
                <a:round/>
                <a:headEnd/>
                <a:tailEnd/>
              </a:ln>
            </p:spPr>
            <p:txBody>
              <a:bodyPr wrap="none" anchor="ctr"/>
              <a:lstStyle/>
              <a:p>
                <a:endParaRPr lang="zh-CN" altLang="en-US"/>
              </a:p>
            </p:txBody>
          </p:sp>
          <p:sp>
            <p:nvSpPr>
              <p:cNvPr id="47122" name="Line 71"/>
              <p:cNvSpPr>
                <a:spLocks noChangeShapeType="1"/>
              </p:cNvSpPr>
              <p:nvPr/>
            </p:nvSpPr>
            <p:spPr bwMode="auto">
              <a:xfrm>
                <a:off x="1994" y="2572"/>
                <a:ext cx="870" cy="3"/>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3" name="Freeform 72"/>
              <p:cNvSpPr>
                <a:spLocks/>
              </p:cNvSpPr>
              <p:nvPr/>
            </p:nvSpPr>
            <p:spPr bwMode="auto">
              <a:xfrm>
                <a:off x="1940" y="1932"/>
                <a:ext cx="969" cy="883"/>
              </a:xfrm>
              <a:custGeom>
                <a:avLst/>
                <a:gdLst>
                  <a:gd name="T0" fmla="*/ 476 w 969"/>
                  <a:gd name="T1" fmla="*/ 0 h 883"/>
                  <a:gd name="T2" fmla="*/ 0 w 969"/>
                  <a:gd name="T3" fmla="*/ 632 h 883"/>
                  <a:gd name="T4" fmla="*/ 428 w 969"/>
                  <a:gd name="T5" fmla="*/ 883 h 883"/>
                  <a:gd name="T6" fmla="*/ 969 w 969"/>
                  <a:gd name="T7" fmla="*/ 650 h 883"/>
                  <a:gd name="T8" fmla="*/ 0 60000 65536"/>
                  <a:gd name="T9" fmla="*/ 0 60000 65536"/>
                  <a:gd name="T10" fmla="*/ 0 60000 65536"/>
                  <a:gd name="T11" fmla="*/ 0 60000 65536"/>
                  <a:gd name="T12" fmla="*/ 0 w 969"/>
                  <a:gd name="T13" fmla="*/ 0 h 883"/>
                  <a:gd name="T14" fmla="*/ 969 w 969"/>
                  <a:gd name="T15" fmla="*/ 883 h 883"/>
                </a:gdLst>
                <a:ahLst/>
                <a:cxnLst>
                  <a:cxn ang="T8">
                    <a:pos x="T0" y="T1"/>
                  </a:cxn>
                  <a:cxn ang="T9">
                    <a:pos x="T2" y="T3"/>
                  </a:cxn>
                  <a:cxn ang="T10">
                    <a:pos x="T4" y="T5"/>
                  </a:cxn>
                  <a:cxn ang="T11">
                    <a:pos x="T6" y="T7"/>
                  </a:cxn>
                </a:cxnLst>
                <a:rect l="T12" t="T13" r="T14" b="T15"/>
                <a:pathLst>
                  <a:path w="969" h="883">
                    <a:moveTo>
                      <a:pt x="476" y="0"/>
                    </a:moveTo>
                    <a:lnTo>
                      <a:pt x="0" y="632"/>
                    </a:lnTo>
                    <a:lnTo>
                      <a:pt x="428" y="883"/>
                    </a:lnTo>
                    <a:lnTo>
                      <a:pt x="969" y="650"/>
                    </a:lnTo>
                  </a:path>
                </a:pathLst>
              </a:custGeom>
              <a:solidFill>
                <a:srgbClr val="FFCC66">
                  <a:alpha val="3803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124" name="Line 73"/>
              <p:cNvSpPr>
                <a:spLocks noChangeShapeType="1"/>
              </p:cNvSpPr>
              <p:nvPr/>
            </p:nvSpPr>
            <p:spPr bwMode="auto">
              <a:xfrm flipH="1">
                <a:off x="1968" y="1971"/>
                <a:ext cx="413" cy="556"/>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5" name="Line 74"/>
              <p:cNvSpPr>
                <a:spLocks noChangeShapeType="1"/>
              </p:cNvSpPr>
              <p:nvPr/>
            </p:nvSpPr>
            <p:spPr bwMode="auto">
              <a:xfrm>
                <a:off x="2451" y="1974"/>
                <a:ext cx="426" cy="563"/>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6" name="Line 75"/>
              <p:cNvSpPr>
                <a:spLocks noChangeShapeType="1"/>
              </p:cNvSpPr>
              <p:nvPr/>
            </p:nvSpPr>
            <p:spPr bwMode="auto">
              <a:xfrm flipH="1">
                <a:off x="2359" y="1986"/>
                <a:ext cx="54" cy="77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7" name="Line 76"/>
              <p:cNvSpPr>
                <a:spLocks noChangeShapeType="1"/>
              </p:cNvSpPr>
              <p:nvPr/>
            </p:nvSpPr>
            <p:spPr bwMode="auto">
              <a:xfrm>
                <a:off x="1987" y="2598"/>
                <a:ext cx="330" cy="18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8" name="Line 77"/>
              <p:cNvSpPr>
                <a:spLocks noChangeShapeType="1"/>
              </p:cNvSpPr>
              <p:nvPr/>
            </p:nvSpPr>
            <p:spPr bwMode="auto">
              <a:xfrm flipV="1">
                <a:off x="2410" y="2594"/>
                <a:ext cx="457" cy="2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9" name="Oval 78"/>
              <p:cNvSpPr>
                <a:spLocks noChangeArrowheads="1"/>
              </p:cNvSpPr>
              <p:nvPr/>
            </p:nvSpPr>
            <p:spPr bwMode="auto">
              <a:xfrm>
                <a:off x="2371" y="1888"/>
                <a:ext cx="96" cy="96"/>
              </a:xfrm>
              <a:prstGeom prst="ellipse">
                <a:avLst/>
              </a:prstGeom>
              <a:solidFill>
                <a:schemeClr val="accent3">
                  <a:lumMod val="60000"/>
                  <a:lumOff val="40000"/>
                </a:schemeClr>
              </a:solidFill>
              <a:ln w="12700">
                <a:solidFill>
                  <a:schemeClr val="accent3">
                    <a:lumMod val="60000"/>
                    <a:lumOff val="40000"/>
                  </a:schemeClr>
                </a:solidFill>
                <a:round/>
                <a:headEnd/>
                <a:tailEnd/>
              </a:ln>
            </p:spPr>
            <p:txBody>
              <a:bodyPr wrap="none" anchor="ctr"/>
              <a:lstStyle/>
              <a:p>
                <a:endParaRPr lang="zh-CN" altLang="en-US"/>
              </a:p>
            </p:txBody>
          </p:sp>
          <p:sp>
            <p:nvSpPr>
              <p:cNvPr id="47130" name="Oval 79"/>
              <p:cNvSpPr>
                <a:spLocks noChangeArrowheads="1"/>
              </p:cNvSpPr>
              <p:nvPr/>
            </p:nvSpPr>
            <p:spPr bwMode="auto">
              <a:xfrm>
                <a:off x="1907" y="2523"/>
                <a:ext cx="96" cy="96"/>
              </a:xfrm>
              <a:prstGeom prst="ellipse">
                <a:avLst/>
              </a:prstGeom>
              <a:solidFill>
                <a:schemeClr val="accent3">
                  <a:lumMod val="60000"/>
                  <a:lumOff val="40000"/>
                </a:schemeClr>
              </a:solidFill>
              <a:ln w="12700">
                <a:solidFill>
                  <a:schemeClr val="accent3">
                    <a:lumMod val="60000"/>
                    <a:lumOff val="40000"/>
                  </a:schemeClr>
                </a:solidFill>
                <a:round/>
                <a:headEnd/>
                <a:tailEnd/>
              </a:ln>
            </p:spPr>
            <p:txBody>
              <a:bodyPr wrap="none" anchor="ctr"/>
              <a:lstStyle/>
              <a:p>
                <a:endParaRPr lang="zh-CN" altLang="en-US"/>
              </a:p>
            </p:txBody>
          </p:sp>
          <p:sp>
            <p:nvSpPr>
              <p:cNvPr id="47131" name="Oval 80"/>
              <p:cNvSpPr>
                <a:spLocks noChangeArrowheads="1"/>
              </p:cNvSpPr>
              <p:nvPr/>
            </p:nvSpPr>
            <p:spPr bwMode="auto">
              <a:xfrm>
                <a:off x="2316" y="2765"/>
                <a:ext cx="96" cy="96"/>
              </a:xfrm>
              <a:prstGeom prst="ellipse">
                <a:avLst/>
              </a:prstGeom>
              <a:solidFill>
                <a:schemeClr val="accent3">
                  <a:lumMod val="60000"/>
                  <a:lumOff val="40000"/>
                </a:schemeClr>
              </a:solidFill>
              <a:ln w="12700">
                <a:solidFill>
                  <a:schemeClr val="accent3">
                    <a:lumMod val="60000"/>
                    <a:lumOff val="40000"/>
                  </a:schemeClr>
                </a:solidFill>
                <a:round/>
                <a:headEnd/>
                <a:tailEnd/>
              </a:ln>
            </p:spPr>
            <p:txBody>
              <a:bodyPr wrap="none" anchor="ctr"/>
              <a:lstStyle/>
              <a:p>
                <a:endParaRPr lang="zh-CN" altLang="en-US"/>
              </a:p>
            </p:txBody>
          </p:sp>
          <p:sp>
            <p:nvSpPr>
              <p:cNvPr id="47132" name="Oval 81"/>
              <p:cNvSpPr>
                <a:spLocks noChangeArrowheads="1"/>
              </p:cNvSpPr>
              <p:nvPr/>
            </p:nvSpPr>
            <p:spPr bwMode="auto">
              <a:xfrm>
                <a:off x="2859" y="2527"/>
                <a:ext cx="96" cy="96"/>
              </a:xfrm>
              <a:prstGeom prst="ellipse">
                <a:avLst/>
              </a:prstGeom>
              <a:solidFill>
                <a:schemeClr val="accent3">
                  <a:lumMod val="60000"/>
                  <a:lumOff val="40000"/>
                </a:schemeClr>
              </a:solidFill>
              <a:ln w="12700">
                <a:solidFill>
                  <a:schemeClr val="accent3">
                    <a:lumMod val="60000"/>
                    <a:lumOff val="40000"/>
                  </a:schemeClr>
                </a:solidFill>
                <a:round/>
                <a:headEnd/>
                <a:tailEnd/>
              </a:ln>
            </p:spPr>
            <p:txBody>
              <a:bodyPr wrap="none" anchor="ctr"/>
              <a:lstStyle/>
              <a:p>
                <a:endParaRPr lang="zh-CN" altLang="en-US"/>
              </a:p>
            </p:txBody>
          </p:sp>
          <p:sp>
            <p:nvSpPr>
              <p:cNvPr id="47133" name="Text Box 82"/>
              <p:cNvSpPr txBox="1">
                <a:spLocks noChangeArrowheads="1"/>
              </p:cNvSpPr>
              <p:nvPr/>
            </p:nvSpPr>
            <p:spPr bwMode="auto">
              <a:xfrm>
                <a:off x="2613" y="1645"/>
                <a:ext cx="8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solidFill>
                      <a:schemeClr val="bg1"/>
                    </a:solidFill>
                    <a:ea typeface="幼圆" pitchFamily="49" charset="-122"/>
                  </a:rPr>
                  <a:t>氧离子</a:t>
                </a:r>
                <a:r>
                  <a:rPr lang="en-US" altLang="zh-CN" sz="2000" b="1">
                    <a:solidFill>
                      <a:schemeClr val="bg1"/>
                    </a:solidFill>
                  </a:rPr>
                  <a:t>O</a:t>
                </a:r>
                <a:r>
                  <a:rPr lang="en-US" altLang="zh-CN" sz="2000" b="1" baseline="30000">
                    <a:solidFill>
                      <a:schemeClr val="bg1"/>
                    </a:solidFill>
                  </a:rPr>
                  <a:t>2-</a:t>
                </a:r>
              </a:p>
            </p:txBody>
          </p:sp>
          <p:sp>
            <p:nvSpPr>
              <p:cNvPr id="47134" name="Text Box 83"/>
              <p:cNvSpPr txBox="1">
                <a:spLocks noChangeArrowheads="1"/>
              </p:cNvSpPr>
              <p:nvPr/>
            </p:nvSpPr>
            <p:spPr bwMode="auto">
              <a:xfrm>
                <a:off x="2666" y="1930"/>
                <a:ext cx="8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solidFill>
                      <a:schemeClr val="bg1"/>
                    </a:solidFill>
                    <a:ea typeface="幼圆" pitchFamily="49" charset="-122"/>
                  </a:rPr>
                  <a:t>硅离子</a:t>
                </a:r>
                <a:r>
                  <a:rPr lang="en-US" altLang="zh-CN" sz="2000" b="1">
                    <a:solidFill>
                      <a:schemeClr val="bg1"/>
                    </a:solidFill>
                    <a:ea typeface="幼圆" pitchFamily="49" charset="-122"/>
                  </a:rPr>
                  <a:t>Si</a:t>
                </a:r>
                <a:r>
                  <a:rPr lang="en-US" altLang="zh-CN" sz="2000" b="1" baseline="30000">
                    <a:solidFill>
                      <a:schemeClr val="bg1"/>
                    </a:solidFill>
                  </a:rPr>
                  <a:t>4+</a:t>
                </a:r>
              </a:p>
            </p:txBody>
          </p:sp>
          <p:sp>
            <p:nvSpPr>
              <p:cNvPr id="47135" name="Line 84"/>
              <p:cNvSpPr>
                <a:spLocks noChangeShapeType="1"/>
              </p:cNvSpPr>
              <p:nvPr/>
            </p:nvSpPr>
            <p:spPr bwMode="auto">
              <a:xfrm flipV="1">
                <a:off x="2448" y="1801"/>
                <a:ext cx="200" cy="10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36" name="Line 85"/>
              <p:cNvSpPr>
                <a:spLocks noChangeShapeType="1"/>
              </p:cNvSpPr>
              <p:nvPr/>
            </p:nvSpPr>
            <p:spPr bwMode="auto">
              <a:xfrm flipV="1">
                <a:off x="2464" y="2100"/>
                <a:ext cx="227" cy="26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7120" name="Text Box 86"/>
            <p:cNvSpPr txBox="1">
              <a:spLocks noChangeArrowheads="1"/>
            </p:cNvSpPr>
            <p:nvPr/>
          </p:nvSpPr>
          <p:spPr bwMode="auto">
            <a:xfrm>
              <a:off x="2019" y="2862"/>
              <a:ext cx="366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200" b="1">
                  <a:solidFill>
                    <a:schemeClr val="bg1"/>
                  </a:solidFill>
                  <a:latin typeface="幼圆" pitchFamily="49" charset="-122"/>
                  <a:ea typeface="幼圆" pitchFamily="49" charset="-122"/>
                </a:rPr>
                <a:t>硅</a:t>
              </a:r>
              <a:r>
                <a:rPr lang="en-US" altLang="zh-CN" sz="2200" b="1">
                  <a:solidFill>
                    <a:schemeClr val="bg1"/>
                  </a:solidFill>
                  <a:latin typeface="幼圆" pitchFamily="49" charset="-122"/>
                  <a:ea typeface="幼圆" pitchFamily="49" charset="-122"/>
                </a:rPr>
                <a:t>-</a:t>
              </a:r>
              <a:r>
                <a:rPr lang="zh-CN" altLang="en-US" sz="2200" b="1">
                  <a:solidFill>
                    <a:schemeClr val="bg1"/>
                  </a:solidFill>
                  <a:latin typeface="幼圆" pitchFamily="49" charset="-122"/>
                  <a:ea typeface="幼圆" pitchFamily="49" charset="-122"/>
                </a:rPr>
                <a:t>氧四面体     硅片的结构      硅片简图</a:t>
              </a:r>
            </a:p>
          </p:txBody>
        </p:sp>
      </p:grpSp>
      <p:sp>
        <p:nvSpPr>
          <p:cNvPr id="1362008" name="AutoShape 88"/>
          <p:cNvSpPr>
            <a:spLocks noChangeArrowheads="1"/>
          </p:cNvSpPr>
          <p:nvPr/>
        </p:nvSpPr>
        <p:spPr bwMode="auto">
          <a:xfrm>
            <a:off x="2236788" y="2955925"/>
            <a:ext cx="300037" cy="311150"/>
          </a:xfrm>
          <a:prstGeom prst="homePlate">
            <a:avLst>
              <a:gd name="adj" fmla="val 25000"/>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47114" name="Rectangle 164"/>
          <p:cNvSpPr>
            <a:spLocks noChangeArrowheads="1"/>
          </p:cNvSpPr>
          <p:nvPr/>
        </p:nvSpPr>
        <p:spPr bwMode="auto">
          <a:xfrm>
            <a:off x="585788" y="2571750"/>
            <a:ext cx="1485900" cy="2414588"/>
          </a:xfrm>
          <a:prstGeom prst="rect">
            <a:avLst/>
          </a:prstGeom>
          <a:noFill/>
          <a:ln w="38100" cmpd="dbl" algn="ctr">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85"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990392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62008"/>
                                        </p:tgtEl>
                                        <p:attrNameLst>
                                          <p:attrName>style.visibility</p:attrName>
                                        </p:attrNameLst>
                                      </p:cBhvr>
                                      <p:to>
                                        <p:strVal val="visible"/>
                                      </p:to>
                                    </p:set>
                                    <p:animEffect transition="in" filter="wipe(left)">
                                      <p:cBhvr>
                                        <p:cTn id="11" dur="1000"/>
                                        <p:tgtEl>
                                          <p:spTgt spid="1362008"/>
                                        </p:tgtEl>
                                      </p:cBhvr>
                                    </p:animEffect>
                                  </p:childTnLst>
                                </p:cTn>
                              </p:par>
                            </p:childTnLst>
                          </p:cTn>
                        </p:par>
                        <p:par>
                          <p:cTn id="12" fill="hold" nodeType="afterGroup">
                            <p:stCondLst>
                              <p:cond delay="1500"/>
                            </p:stCondLst>
                            <p:childTnLst>
                              <p:par>
                                <p:cTn id="13" presetID="30" presetClass="entr" presetSubtype="0" fill="hold" grpId="0" nodeType="afterEffect">
                                  <p:stCondLst>
                                    <p:cond delay="0"/>
                                  </p:stCondLst>
                                  <p:childTnLst>
                                    <p:set>
                                      <p:cBhvr>
                                        <p:cTn id="14" dur="1" fill="hold">
                                          <p:stCondLst>
                                            <p:cond delay="0"/>
                                          </p:stCondLst>
                                        </p:cTn>
                                        <p:tgtEl>
                                          <p:spTgt spid="1362083"/>
                                        </p:tgtEl>
                                        <p:attrNameLst>
                                          <p:attrName>style.visibility</p:attrName>
                                        </p:attrNameLst>
                                      </p:cBhvr>
                                      <p:to>
                                        <p:strVal val="visible"/>
                                      </p:to>
                                    </p:set>
                                    <p:animEffect transition="in" filter="fade">
                                      <p:cBhvr>
                                        <p:cTn id="15" dur="800" decel="100000"/>
                                        <p:tgtEl>
                                          <p:spTgt spid="1362083"/>
                                        </p:tgtEl>
                                      </p:cBhvr>
                                    </p:animEffect>
                                    <p:anim calcmode="lin" valueType="num">
                                      <p:cBhvr>
                                        <p:cTn id="16" dur="800" decel="100000" fill="hold"/>
                                        <p:tgtEl>
                                          <p:spTgt spid="1362083"/>
                                        </p:tgtEl>
                                        <p:attrNameLst>
                                          <p:attrName>style.rotation</p:attrName>
                                        </p:attrNameLst>
                                      </p:cBhvr>
                                      <p:tavLst>
                                        <p:tav tm="0">
                                          <p:val>
                                            <p:fltVal val="-90"/>
                                          </p:val>
                                        </p:tav>
                                        <p:tav tm="100000">
                                          <p:val>
                                            <p:fltVal val="0"/>
                                          </p:val>
                                        </p:tav>
                                      </p:tavLst>
                                    </p:anim>
                                    <p:anim calcmode="lin" valueType="num">
                                      <p:cBhvr>
                                        <p:cTn id="17" dur="800" decel="100000" fill="hold"/>
                                        <p:tgtEl>
                                          <p:spTgt spid="1362083"/>
                                        </p:tgtEl>
                                        <p:attrNameLst>
                                          <p:attrName>ppt_x</p:attrName>
                                        </p:attrNameLst>
                                      </p:cBhvr>
                                      <p:tavLst>
                                        <p:tav tm="0">
                                          <p:val>
                                            <p:strVal val="#ppt_x+0.4"/>
                                          </p:val>
                                        </p:tav>
                                        <p:tav tm="100000">
                                          <p:val>
                                            <p:strVal val="#ppt_x-0.05"/>
                                          </p:val>
                                        </p:tav>
                                      </p:tavLst>
                                    </p:anim>
                                    <p:anim calcmode="lin" valueType="num">
                                      <p:cBhvr>
                                        <p:cTn id="18" dur="800" decel="100000" fill="hold"/>
                                        <p:tgtEl>
                                          <p:spTgt spid="1362083"/>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1362083"/>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1362083"/>
                                        </p:tgtEl>
                                        <p:attrNameLst>
                                          <p:attrName>ppt_y</p:attrName>
                                        </p:attrNameLst>
                                      </p:cBhvr>
                                      <p:tavLst>
                                        <p:tav tm="0">
                                          <p:val>
                                            <p:strVal val="#ppt_y+0.1"/>
                                          </p:val>
                                        </p:tav>
                                        <p:tav tm="100000">
                                          <p:val>
                                            <p:strVal val="#ppt_y"/>
                                          </p:val>
                                        </p:tav>
                                      </p:tavLst>
                                    </p:anim>
                                  </p:childTnLst>
                                </p:cTn>
                              </p:par>
                            </p:childTnLst>
                          </p:cTn>
                        </p:par>
                        <p:par>
                          <p:cTn id="21" fill="hold" nodeType="afterGroup">
                            <p:stCondLst>
                              <p:cond delay="2500"/>
                            </p:stCondLst>
                            <p:childTnLst>
                              <p:par>
                                <p:cTn id="22" presetID="1" presetClass="entr" presetSubtype="0"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1362083" grpId="0" animBg="1"/>
      <p:bldP spid="136200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24"/>
          <p:cNvSpPr>
            <a:spLocks noChangeArrowheads="1"/>
          </p:cNvSpPr>
          <p:nvPr/>
        </p:nvSpPr>
        <p:spPr bwMode="auto">
          <a:xfrm>
            <a:off x="582049" y="4144315"/>
            <a:ext cx="1502130" cy="484684"/>
          </a:xfrm>
          <a:prstGeom prst="rect">
            <a:avLst/>
          </a:prstGeom>
          <a:solidFill>
            <a:schemeClr val="accent6">
              <a:lumMod val="60000"/>
              <a:lumOff val="40000"/>
            </a:schemeClr>
          </a:solidFill>
          <a:ln>
            <a:noFill/>
          </a:ln>
        </p:spPr>
        <p:txBody>
          <a:bodyPr wrap="none" anchor="ctr"/>
          <a:lstStyle/>
          <a:p>
            <a:endParaRPr lang="zh-CN" altLang="en-US"/>
          </a:p>
        </p:txBody>
      </p:sp>
      <p:sp>
        <p:nvSpPr>
          <p:cNvPr id="1363105" name="Rectangle 161"/>
          <p:cNvSpPr>
            <a:spLocks noChangeArrowheads="1"/>
          </p:cNvSpPr>
          <p:nvPr/>
        </p:nvSpPr>
        <p:spPr bwMode="auto">
          <a:xfrm>
            <a:off x="2714625" y="2514600"/>
            <a:ext cx="6215063" cy="2671763"/>
          </a:xfrm>
          <a:prstGeom prst="rect">
            <a:avLst/>
          </a:prstGeom>
          <a:solidFill>
            <a:srgbClr val="3333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nchor="ctr">
            <a:spAutoFit/>
          </a:bodyPr>
          <a:lstStyle/>
          <a:p>
            <a:endParaRPr lang="zh-CN" altLang="en-US"/>
          </a:p>
        </p:txBody>
      </p:sp>
      <p:sp>
        <p:nvSpPr>
          <p:cNvPr id="48132" name="Text Box 7"/>
          <p:cNvSpPr txBox="1">
            <a:spLocks noChangeArrowheads="1"/>
          </p:cNvSpPr>
          <p:nvPr/>
        </p:nvSpPr>
        <p:spPr bwMode="auto">
          <a:xfrm>
            <a:off x="3541713" y="5818188"/>
            <a:ext cx="3360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黏 </a:t>
            </a:r>
            <a:r>
              <a:rPr kumimoji="1" lang="zh-CN" altLang="en-US" sz="4000" b="1" dirty="0">
                <a:solidFill>
                  <a:srgbClr val="000066"/>
                </a:solidFill>
                <a:latin typeface="黑体" pitchFamily="2" charset="-122"/>
                <a:ea typeface="黑体" pitchFamily="2" charset="-122"/>
              </a:rPr>
              <a:t>土 矿 物</a:t>
            </a:r>
          </a:p>
        </p:txBody>
      </p:sp>
      <p:sp>
        <p:nvSpPr>
          <p:cNvPr id="1363031" name="AutoShape 87"/>
          <p:cNvSpPr>
            <a:spLocks noChangeArrowheads="1"/>
          </p:cNvSpPr>
          <p:nvPr/>
        </p:nvSpPr>
        <p:spPr bwMode="auto">
          <a:xfrm>
            <a:off x="2208213" y="4249738"/>
            <a:ext cx="300037" cy="311150"/>
          </a:xfrm>
          <a:prstGeom prst="homePlate">
            <a:avLst>
              <a:gd name="adj" fmla="val 25000"/>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grpSp>
        <p:nvGrpSpPr>
          <p:cNvPr id="2" name="Group 89"/>
          <p:cNvGrpSpPr>
            <a:grpSpLocks/>
          </p:cNvGrpSpPr>
          <p:nvPr/>
        </p:nvGrpSpPr>
        <p:grpSpPr bwMode="auto">
          <a:xfrm>
            <a:off x="3094038" y="2517775"/>
            <a:ext cx="5772150" cy="2447925"/>
            <a:chOff x="2239" y="981"/>
            <a:chExt cx="3636" cy="1542"/>
          </a:xfrm>
        </p:grpSpPr>
        <p:sp>
          <p:nvSpPr>
            <p:cNvPr id="48139" name="Oval 90"/>
            <p:cNvSpPr>
              <a:spLocks noChangeArrowheads="1"/>
            </p:cNvSpPr>
            <p:nvPr/>
          </p:nvSpPr>
          <p:spPr bwMode="auto">
            <a:xfrm>
              <a:off x="3810" y="1764"/>
              <a:ext cx="48" cy="48"/>
            </a:xfrm>
            <a:prstGeom prst="ellipse">
              <a:avLst/>
            </a:prstGeom>
            <a:solidFill>
              <a:srgbClr val="FF66FF"/>
            </a:solidFill>
            <a:ln w="19050">
              <a:solidFill>
                <a:srgbClr val="FF66FF"/>
              </a:solidFill>
              <a:round/>
              <a:headEnd/>
              <a:tailEnd/>
            </a:ln>
          </p:spPr>
          <p:txBody>
            <a:bodyPr wrap="none" anchor="ctr"/>
            <a:lstStyle/>
            <a:p>
              <a:endParaRPr lang="zh-CN" altLang="en-US"/>
            </a:p>
          </p:txBody>
        </p:sp>
        <p:sp>
          <p:nvSpPr>
            <p:cNvPr id="48140" name="Freeform 91"/>
            <p:cNvSpPr>
              <a:spLocks/>
            </p:cNvSpPr>
            <p:nvPr/>
          </p:nvSpPr>
          <p:spPr bwMode="auto">
            <a:xfrm>
              <a:off x="2288" y="1386"/>
              <a:ext cx="917" cy="681"/>
            </a:xfrm>
            <a:custGeom>
              <a:avLst/>
              <a:gdLst>
                <a:gd name="T0" fmla="*/ 430 w 917"/>
                <a:gd name="T1" fmla="*/ 0 h 681"/>
                <a:gd name="T2" fmla="*/ 183 w 917"/>
                <a:gd name="T3" fmla="*/ 95 h 681"/>
                <a:gd name="T4" fmla="*/ 0 w 917"/>
                <a:gd name="T5" fmla="*/ 556 h 681"/>
                <a:gd name="T6" fmla="*/ 500 w 917"/>
                <a:gd name="T7" fmla="*/ 681 h 681"/>
                <a:gd name="T8" fmla="*/ 720 w 917"/>
                <a:gd name="T9" fmla="*/ 585 h 681"/>
                <a:gd name="T10" fmla="*/ 917 w 917"/>
                <a:gd name="T11" fmla="*/ 100 h 681"/>
                <a:gd name="T12" fmla="*/ 0 60000 65536"/>
                <a:gd name="T13" fmla="*/ 0 60000 65536"/>
                <a:gd name="T14" fmla="*/ 0 60000 65536"/>
                <a:gd name="T15" fmla="*/ 0 60000 65536"/>
                <a:gd name="T16" fmla="*/ 0 60000 65536"/>
                <a:gd name="T17" fmla="*/ 0 60000 65536"/>
                <a:gd name="T18" fmla="*/ 0 w 917"/>
                <a:gd name="T19" fmla="*/ 0 h 681"/>
                <a:gd name="T20" fmla="*/ 917 w 917"/>
                <a:gd name="T21" fmla="*/ 681 h 681"/>
              </a:gdLst>
              <a:ahLst/>
              <a:cxnLst>
                <a:cxn ang="T12">
                  <a:pos x="T0" y="T1"/>
                </a:cxn>
                <a:cxn ang="T13">
                  <a:pos x="T2" y="T3"/>
                </a:cxn>
                <a:cxn ang="T14">
                  <a:pos x="T4" y="T5"/>
                </a:cxn>
                <a:cxn ang="T15">
                  <a:pos x="T6" y="T7"/>
                </a:cxn>
                <a:cxn ang="T16">
                  <a:pos x="T8" y="T9"/>
                </a:cxn>
                <a:cxn ang="T17">
                  <a:pos x="T10" y="T11"/>
                </a:cxn>
              </a:cxnLst>
              <a:rect l="T18" t="T19" r="T20" b="T21"/>
              <a:pathLst>
                <a:path w="917" h="681">
                  <a:moveTo>
                    <a:pt x="430" y="0"/>
                  </a:moveTo>
                  <a:lnTo>
                    <a:pt x="183" y="95"/>
                  </a:lnTo>
                  <a:lnTo>
                    <a:pt x="0" y="556"/>
                  </a:lnTo>
                  <a:lnTo>
                    <a:pt x="500" y="681"/>
                  </a:lnTo>
                  <a:lnTo>
                    <a:pt x="720" y="585"/>
                  </a:lnTo>
                  <a:lnTo>
                    <a:pt x="917" y="100"/>
                  </a:lnTo>
                </a:path>
              </a:pathLst>
            </a:custGeom>
            <a:solidFill>
              <a:srgbClr val="FFCC66">
                <a:alpha val="3803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141" name="Line 92"/>
            <p:cNvSpPr>
              <a:spLocks noChangeShapeType="1"/>
            </p:cNvSpPr>
            <p:nvPr/>
          </p:nvSpPr>
          <p:spPr bwMode="auto">
            <a:xfrm flipH="1">
              <a:off x="3877" y="1915"/>
              <a:ext cx="153" cy="104"/>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2" name="Line 93"/>
            <p:cNvSpPr>
              <a:spLocks noChangeShapeType="1"/>
            </p:cNvSpPr>
            <p:nvPr/>
          </p:nvSpPr>
          <p:spPr bwMode="auto">
            <a:xfrm>
              <a:off x="4605" y="1532"/>
              <a:ext cx="241" cy="382"/>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3" name="Freeform 94"/>
            <p:cNvSpPr>
              <a:spLocks/>
            </p:cNvSpPr>
            <p:nvPr/>
          </p:nvSpPr>
          <p:spPr bwMode="auto">
            <a:xfrm>
              <a:off x="3528" y="1865"/>
              <a:ext cx="980" cy="84"/>
            </a:xfrm>
            <a:custGeom>
              <a:avLst/>
              <a:gdLst>
                <a:gd name="T0" fmla="*/ 980 w 980"/>
                <a:gd name="T1" fmla="*/ 0 h 84"/>
                <a:gd name="T2" fmla="*/ 505 w 980"/>
                <a:gd name="T3" fmla="*/ 44 h 84"/>
                <a:gd name="T4" fmla="*/ 0 w 980"/>
                <a:gd name="T5" fmla="*/ 84 h 84"/>
                <a:gd name="T6" fmla="*/ 0 60000 65536"/>
                <a:gd name="T7" fmla="*/ 0 60000 65536"/>
                <a:gd name="T8" fmla="*/ 0 60000 65536"/>
                <a:gd name="T9" fmla="*/ 0 w 980"/>
                <a:gd name="T10" fmla="*/ 0 h 84"/>
                <a:gd name="T11" fmla="*/ 980 w 980"/>
                <a:gd name="T12" fmla="*/ 84 h 84"/>
              </a:gdLst>
              <a:ahLst/>
              <a:cxnLst>
                <a:cxn ang="T6">
                  <a:pos x="T0" y="T1"/>
                </a:cxn>
                <a:cxn ang="T7">
                  <a:pos x="T2" y="T3"/>
                </a:cxn>
                <a:cxn ang="T8">
                  <a:pos x="T4" y="T5"/>
                </a:cxn>
              </a:cxnLst>
              <a:rect l="T9" t="T10" r="T11" b="T12"/>
              <a:pathLst>
                <a:path w="980" h="84">
                  <a:moveTo>
                    <a:pt x="980" y="0"/>
                  </a:moveTo>
                  <a:lnTo>
                    <a:pt x="505" y="44"/>
                  </a:lnTo>
                  <a:lnTo>
                    <a:pt x="0" y="84"/>
                  </a:lnTo>
                </a:path>
              </a:pathLst>
            </a:custGeom>
            <a:noFill/>
            <a:ln w="9525">
              <a:solidFill>
                <a:schemeClr val="bg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44" name="Line 95"/>
            <p:cNvSpPr>
              <a:spLocks noChangeShapeType="1"/>
            </p:cNvSpPr>
            <p:nvPr/>
          </p:nvSpPr>
          <p:spPr bwMode="auto">
            <a:xfrm flipH="1">
              <a:off x="3536" y="1493"/>
              <a:ext cx="287" cy="458"/>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5" name="Line 96"/>
            <p:cNvSpPr>
              <a:spLocks noChangeShapeType="1"/>
            </p:cNvSpPr>
            <p:nvPr/>
          </p:nvSpPr>
          <p:spPr bwMode="auto">
            <a:xfrm flipV="1">
              <a:off x="3861" y="1926"/>
              <a:ext cx="993" cy="103"/>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6" name="Line 97"/>
            <p:cNvSpPr>
              <a:spLocks noChangeShapeType="1"/>
            </p:cNvSpPr>
            <p:nvPr/>
          </p:nvSpPr>
          <p:spPr bwMode="auto">
            <a:xfrm>
              <a:off x="3825" y="1508"/>
              <a:ext cx="195" cy="42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7" name="Freeform 98"/>
            <p:cNvSpPr>
              <a:spLocks/>
            </p:cNvSpPr>
            <p:nvPr/>
          </p:nvSpPr>
          <p:spPr bwMode="auto">
            <a:xfrm>
              <a:off x="3870" y="1573"/>
              <a:ext cx="270" cy="458"/>
            </a:xfrm>
            <a:custGeom>
              <a:avLst/>
              <a:gdLst>
                <a:gd name="T0" fmla="*/ 0 w 270"/>
                <a:gd name="T1" fmla="*/ 458 h 458"/>
                <a:gd name="T2" fmla="*/ 270 w 270"/>
                <a:gd name="T3" fmla="*/ 0 h 458"/>
                <a:gd name="T4" fmla="*/ 0 60000 65536"/>
                <a:gd name="T5" fmla="*/ 0 60000 65536"/>
                <a:gd name="T6" fmla="*/ 0 w 270"/>
                <a:gd name="T7" fmla="*/ 0 h 458"/>
                <a:gd name="T8" fmla="*/ 270 w 270"/>
                <a:gd name="T9" fmla="*/ 458 h 458"/>
              </a:gdLst>
              <a:ahLst/>
              <a:cxnLst>
                <a:cxn ang="T4">
                  <a:pos x="T0" y="T1"/>
                </a:cxn>
                <a:cxn ang="T5">
                  <a:pos x="T2" y="T3"/>
                </a:cxn>
              </a:cxnLst>
              <a:rect l="T6" t="T7" r="T8" b="T9"/>
              <a:pathLst>
                <a:path w="270" h="458">
                  <a:moveTo>
                    <a:pt x="0" y="458"/>
                  </a:moveTo>
                  <a:lnTo>
                    <a:pt x="270" y="0"/>
                  </a:lnTo>
                </a:path>
              </a:pathLst>
            </a:custGeom>
            <a:noFill/>
            <a:ln w="9525">
              <a:solidFill>
                <a:schemeClr val="bg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48" name="Line 99"/>
            <p:cNvSpPr>
              <a:spLocks noChangeShapeType="1"/>
            </p:cNvSpPr>
            <p:nvPr/>
          </p:nvSpPr>
          <p:spPr bwMode="auto">
            <a:xfrm flipH="1">
              <a:off x="4037" y="1451"/>
              <a:ext cx="258" cy="454"/>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9" name="Line 100"/>
            <p:cNvSpPr>
              <a:spLocks noChangeShapeType="1"/>
            </p:cNvSpPr>
            <p:nvPr/>
          </p:nvSpPr>
          <p:spPr bwMode="auto">
            <a:xfrm flipH="1">
              <a:off x="4027" y="1579"/>
              <a:ext cx="120" cy="332"/>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0" name="Line 101"/>
            <p:cNvSpPr>
              <a:spLocks noChangeShapeType="1"/>
            </p:cNvSpPr>
            <p:nvPr/>
          </p:nvSpPr>
          <p:spPr bwMode="auto">
            <a:xfrm>
              <a:off x="4036" y="1916"/>
              <a:ext cx="325" cy="72"/>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1" name="Line 102"/>
            <p:cNvSpPr>
              <a:spLocks noChangeShapeType="1"/>
            </p:cNvSpPr>
            <p:nvPr/>
          </p:nvSpPr>
          <p:spPr bwMode="auto">
            <a:xfrm flipH="1">
              <a:off x="4360" y="1535"/>
              <a:ext cx="250" cy="447"/>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2" name="Oval 103"/>
            <p:cNvSpPr>
              <a:spLocks noChangeArrowheads="1"/>
            </p:cNvSpPr>
            <p:nvPr/>
          </p:nvSpPr>
          <p:spPr bwMode="auto">
            <a:xfrm>
              <a:off x="4301" y="1699"/>
              <a:ext cx="48" cy="48"/>
            </a:xfrm>
            <a:prstGeom prst="ellipse">
              <a:avLst/>
            </a:prstGeom>
            <a:solidFill>
              <a:srgbClr val="FF66FF"/>
            </a:solidFill>
            <a:ln w="19050">
              <a:solidFill>
                <a:srgbClr val="FF66FF"/>
              </a:solidFill>
              <a:round/>
              <a:headEnd/>
              <a:tailEnd/>
            </a:ln>
          </p:spPr>
          <p:txBody>
            <a:bodyPr wrap="none" anchor="ctr"/>
            <a:lstStyle/>
            <a:p>
              <a:endParaRPr lang="zh-CN" altLang="en-US"/>
            </a:p>
          </p:txBody>
        </p:sp>
        <p:sp>
          <p:nvSpPr>
            <p:cNvPr id="48153" name="Oval 104"/>
            <p:cNvSpPr>
              <a:spLocks noChangeArrowheads="1"/>
            </p:cNvSpPr>
            <p:nvPr/>
          </p:nvSpPr>
          <p:spPr bwMode="auto">
            <a:xfrm>
              <a:off x="4158" y="1823"/>
              <a:ext cx="48" cy="48"/>
            </a:xfrm>
            <a:prstGeom prst="ellipse">
              <a:avLst/>
            </a:prstGeom>
            <a:solidFill>
              <a:srgbClr val="FF66FF"/>
            </a:solidFill>
            <a:ln w="19050">
              <a:solidFill>
                <a:srgbClr val="FF66FF"/>
              </a:solidFill>
              <a:round/>
              <a:headEnd/>
              <a:tailEnd/>
            </a:ln>
          </p:spPr>
          <p:txBody>
            <a:bodyPr wrap="none" anchor="ctr"/>
            <a:lstStyle/>
            <a:p>
              <a:endParaRPr lang="zh-CN" altLang="en-US"/>
            </a:p>
          </p:txBody>
        </p:sp>
        <p:sp>
          <p:nvSpPr>
            <p:cNvPr id="48154" name="Oval 105"/>
            <p:cNvSpPr>
              <a:spLocks noChangeArrowheads="1"/>
            </p:cNvSpPr>
            <p:nvPr/>
          </p:nvSpPr>
          <p:spPr bwMode="auto">
            <a:xfrm>
              <a:off x="4644" y="1782"/>
              <a:ext cx="48" cy="48"/>
            </a:xfrm>
            <a:prstGeom prst="ellipse">
              <a:avLst/>
            </a:prstGeom>
            <a:solidFill>
              <a:srgbClr val="FF66FF"/>
            </a:solidFill>
            <a:ln w="19050">
              <a:solidFill>
                <a:srgbClr val="FF66FF"/>
              </a:solidFill>
              <a:round/>
              <a:headEnd/>
              <a:tailEnd/>
            </a:ln>
          </p:spPr>
          <p:txBody>
            <a:bodyPr wrap="none" anchor="ctr"/>
            <a:lstStyle/>
            <a:p>
              <a:endParaRPr lang="zh-CN" altLang="en-US"/>
            </a:p>
          </p:txBody>
        </p:sp>
        <p:sp>
          <p:nvSpPr>
            <p:cNvPr id="48155" name="Line 106"/>
            <p:cNvSpPr>
              <a:spLocks noChangeShapeType="1"/>
            </p:cNvSpPr>
            <p:nvPr/>
          </p:nvSpPr>
          <p:spPr bwMode="auto">
            <a:xfrm flipH="1">
              <a:off x="4501" y="1543"/>
              <a:ext cx="107" cy="313"/>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6" name="Freeform 107"/>
            <p:cNvSpPr>
              <a:spLocks/>
            </p:cNvSpPr>
            <p:nvPr/>
          </p:nvSpPr>
          <p:spPr bwMode="auto">
            <a:xfrm>
              <a:off x="3546" y="1445"/>
              <a:ext cx="1406" cy="668"/>
            </a:xfrm>
            <a:custGeom>
              <a:avLst/>
              <a:gdLst>
                <a:gd name="T0" fmla="*/ 0 w 1406"/>
                <a:gd name="T1" fmla="*/ 507 h 668"/>
                <a:gd name="T2" fmla="*/ 331 w 1406"/>
                <a:gd name="T3" fmla="*/ 586 h 668"/>
                <a:gd name="T4" fmla="*/ 667 w 1406"/>
                <a:gd name="T5" fmla="*/ 668 h 668"/>
                <a:gd name="T6" fmla="*/ 818 w 1406"/>
                <a:gd name="T7" fmla="*/ 538 h 668"/>
                <a:gd name="T8" fmla="*/ 1157 w 1406"/>
                <a:gd name="T9" fmla="*/ 608 h 668"/>
                <a:gd name="T10" fmla="*/ 1152 w 1406"/>
                <a:gd name="T11" fmla="*/ 605 h 668"/>
                <a:gd name="T12" fmla="*/ 1315 w 1406"/>
                <a:gd name="T13" fmla="*/ 495 h 668"/>
                <a:gd name="T14" fmla="*/ 1406 w 1406"/>
                <a:gd name="T15" fmla="*/ 154 h 668"/>
                <a:gd name="T16" fmla="*/ 1061 w 1406"/>
                <a:gd name="T17" fmla="*/ 84 h 668"/>
                <a:gd name="T18" fmla="*/ 751 w 1406"/>
                <a:gd name="T19" fmla="*/ 0 h 668"/>
                <a:gd name="T20" fmla="*/ 595 w 1406"/>
                <a:gd name="T21" fmla="*/ 113 h 668"/>
                <a:gd name="T22" fmla="*/ 271 w 1406"/>
                <a:gd name="T23" fmla="*/ 56 h 668"/>
                <a:gd name="T24" fmla="*/ 106 w 1406"/>
                <a:gd name="T25" fmla="*/ 168 h 668"/>
                <a:gd name="T26" fmla="*/ 0 w 1406"/>
                <a:gd name="T27" fmla="*/ 507 h 6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06"/>
                <a:gd name="T43" fmla="*/ 0 h 668"/>
                <a:gd name="T44" fmla="*/ 1406 w 1406"/>
                <a:gd name="T45" fmla="*/ 668 h 6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06" h="668">
                  <a:moveTo>
                    <a:pt x="0" y="507"/>
                  </a:moveTo>
                  <a:lnTo>
                    <a:pt x="331" y="586"/>
                  </a:lnTo>
                  <a:lnTo>
                    <a:pt x="667" y="668"/>
                  </a:lnTo>
                  <a:lnTo>
                    <a:pt x="818" y="538"/>
                  </a:lnTo>
                  <a:lnTo>
                    <a:pt x="1157" y="608"/>
                  </a:lnTo>
                  <a:lnTo>
                    <a:pt x="1152" y="605"/>
                  </a:lnTo>
                  <a:lnTo>
                    <a:pt x="1315" y="495"/>
                  </a:lnTo>
                  <a:lnTo>
                    <a:pt x="1406" y="154"/>
                  </a:lnTo>
                  <a:lnTo>
                    <a:pt x="1061" y="84"/>
                  </a:lnTo>
                  <a:lnTo>
                    <a:pt x="751" y="0"/>
                  </a:lnTo>
                  <a:lnTo>
                    <a:pt x="595" y="113"/>
                  </a:lnTo>
                  <a:lnTo>
                    <a:pt x="271" y="56"/>
                  </a:lnTo>
                  <a:lnTo>
                    <a:pt x="106" y="168"/>
                  </a:lnTo>
                  <a:lnTo>
                    <a:pt x="0" y="507"/>
                  </a:lnTo>
                  <a:close/>
                </a:path>
              </a:pathLst>
            </a:custGeom>
            <a:solidFill>
              <a:srgbClr val="FFCC66">
                <a:alpha val="3803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157" name="Freeform 108"/>
            <p:cNvSpPr>
              <a:spLocks/>
            </p:cNvSpPr>
            <p:nvPr/>
          </p:nvSpPr>
          <p:spPr bwMode="auto">
            <a:xfrm>
              <a:off x="3548" y="1607"/>
              <a:ext cx="322" cy="418"/>
            </a:xfrm>
            <a:custGeom>
              <a:avLst/>
              <a:gdLst>
                <a:gd name="T0" fmla="*/ 0 w 322"/>
                <a:gd name="T1" fmla="*/ 341 h 418"/>
                <a:gd name="T2" fmla="*/ 322 w 322"/>
                <a:gd name="T3" fmla="*/ 418 h 418"/>
                <a:gd name="T4" fmla="*/ 101 w 322"/>
                <a:gd name="T5" fmla="*/ 0 h 418"/>
                <a:gd name="T6" fmla="*/ 0 w 322"/>
                <a:gd name="T7" fmla="*/ 341 h 418"/>
                <a:gd name="T8" fmla="*/ 0 60000 65536"/>
                <a:gd name="T9" fmla="*/ 0 60000 65536"/>
                <a:gd name="T10" fmla="*/ 0 60000 65536"/>
                <a:gd name="T11" fmla="*/ 0 60000 65536"/>
                <a:gd name="T12" fmla="*/ 0 w 322"/>
                <a:gd name="T13" fmla="*/ 0 h 418"/>
                <a:gd name="T14" fmla="*/ 322 w 322"/>
                <a:gd name="T15" fmla="*/ 418 h 418"/>
              </a:gdLst>
              <a:ahLst/>
              <a:cxnLst>
                <a:cxn ang="T8">
                  <a:pos x="T0" y="T1"/>
                </a:cxn>
                <a:cxn ang="T9">
                  <a:pos x="T2" y="T3"/>
                </a:cxn>
                <a:cxn ang="T10">
                  <a:pos x="T4" y="T5"/>
                </a:cxn>
                <a:cxn ang="T11">
                  <a:pos x="T6" y="T7"/>
                </a:cxn>
              </a:cxnLst>
              <a:rect l="T12" t="T13" r="T14" b="T15"/>
              <a:pathLst>
                <a:path w="322" h="418">
                  <a:moveTo>
                    <a:pt x="0" y="341"/>
                  </a:moveTo>
                  <a:lnTo>
                    <a:pt x="322" y="418"/>
                  </a:lnTo>
                  <a:lnTo>
                    <a:pt x="101" y="0"/>
                  </a:lnTo>
                  <a:lnTo>
                    <a:pt x="0" y="341"/>
                  </a:lnTo>
                  <a:close/>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58" name="Line 109"/>
            <p:cNvSpPr>
              <a:spLocks noChangeShapeType="1"/>
            </p:cNvSpPr>
            <p:nvPr/>
          </p:nvSpPr>
          <p:spPr bwMode="auto">
            <a:xfrm>
              <a:off x="4141" y="1576"/>
              <a:ext cx="367" cy="7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9" name="Freeform 110"/>
            <p:cNvSpPr>
              <a:spLocks/>
            </p:cNvSpPr>
            <p:nvPr/>
          </p:nvSpPr>
          <p:spPr bwMode="auto">
            <a:xfrm>
              <a:off x="4703" y="1612"/>
              <a:ext cx="246" cy="441"/>
            </a:xfrm>
            <a:custGeom>
              <a:avLst/>
              <a:gdLst>
                <a:gd name="T0" fmla="*/ 246 w 246"/>
                <a:gd name="T1" fmla="*/ 0 h 441"/>
                <a:gd name="T2" fmla="*/ 153 w 246"/>
                <a:gd name="T3" fmla="*/ 330 h 441"/>
                <a:gd name="T4" fmla="*/ 0 w 246"/>
                <a:gd name="T5" fmla="*/ 441 h 441"/>
                <a:gd name="T6" fmla="*/ 0 60000 65536"/>
                <a:gd name="T7" fmla="*/ 0 60000 65536"/>
                <a:gd name="T8" fmla="*/ 0 60000 65536"/>
                <a:gd name="T9" fmla="*/ 0 w 246"/>
                <a:gd name="T10" fmla="*/ 0 h 441"/>
                <a:gd name="T11" fmla="*/ 246 w 246"/>
                <a:gd name="T12" fmla="*/ 441 h 441"/>
              </a:gdLst>
              <a:ahLst/>
              <a:cxnLst>
                <a:cxn ang="T6">
                  <a:pos x="T0" y="T1"/>
                </a:cxn>
                <a:cxn ang="T7">
                  <a:pos x="T2" y="T3"/>
                </a:cxn>
                <a:cxn ang="T8">
                  <a:pos x="T4" y="T5"/>
                </a:cxn>
              </a:cxnLst>
              <a:rect l="T9" t="T10" r="T11" b="T12"/>
              <a:pathLst>
                <a:path w="246" h="441">
                  <a:moveTo>
                    <a:pt x="246" y="0"/>
                  </a:moveTo>
                  <a:lnTo>
                    <a:pt x="153" y="330"/>
                  </a:lnTo>
                  <a:lnTo>
                    <a:pt x="0" y="441"/>
                  </a:lnTo>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60" name="Freeform 111"/>
            <p:cNvSpPr>
              <a:spLocks/>
            </p:cNvSpPr>
            <p:nvPr/>
          </p:nvSpPr>
          <p:spPr bwMode="auto">
            <a:xfrm>
              <a:off x="3868" y="1707"/>
              <a:ext cx="340" cy="403"/>
            </a:xfrm>
            <a:custGeom>
              <a:avLst/>
              <a:gdLst>
                <a:gd name="T0" fmla="*/ 110 w 340"/>
                <a:gd name="T1" fmla="*/ 0 h 403"/>
                <a:gd name="T2" fmla="*/ 0 w 340"/>
                <a:gd name="T3" fmla="*/ 317 h 403"/>
                <a:gd name="T4" fmla="*/ 340 w 340"/>
                <a:gd name="T5" fmla="*/ 403 h 403"/>
                <a:gd name="T6" fmla="*/ 110 w 340"/>
                <a:gd name="T7" fmla="*/ 0 h 403"/>
                <a:gd name="T8" fmla="*/ 0 60000 65536"/>
                <a:gd name="T9" fmla="*/ 0 60000 65536"/>
                <a:gd name="T10" fmla="*/ 0 60000 65536"/>
                <a:gd name="T11" fmla="*/ 0 60000 65536"/>
                <a:gd name="T12" fmla="*/ 0 w 340"/>
                <a:gd name="T13" fmla="*/ 0 h 403"/>
                <a:gd name="T14" fmla="*/ 340 w 340"/>
                <a:gd name="T15" fmla="*/ 403 h 403"/>
              </a:gdLst>
              <a:ahLst/>
              <a:cxnLst>
                <a:cxn ang="T8">
                  <a:pos x="T0" y="T1"/>
                </a:cxn>
                <a:cxn ang="T9">
                  <a:pos x="T2" y="T3"/>
                </a:cxn>
                <a:cxn ang="T10">
                  <a:pos x="T4" y="T5"/>
                </a:cxn>
                <a:cxn ang="T11">
                  <a:pos x="T6" y="T7"/>
                </a:cxn>
              </a:cxnLst>
              <a:rect l="T12" t="T13" r="T14" b="T15"/>
              <a:pathLst>
                <a:path w="340" h="403">
                  <a:moveTo>
                    <a:pt x="110" y="0"/>
                  </a:moveTo>
                  <a:lnTo>
                    <a:pt x="0" y="317"/>
                  </a:lnTo>
                  <a:lnTo>
                    <a:pt x="340" y="403"/>
                  </a:lnTo>
                  <a:lnTo>
                    <a:pt x="110" y="0"/>
                  </a:lnTo>
                  <a:close/>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61" name="Line 112"/>
            <p:cNvSpPr>
              <a:spLocks noChangeShapeType="1"/>
            </p:cNvSpPr>
            <p:nvPr/>
          </p:nvSpPr>
          <p:spPr bwMode="auto">
            <a:xfrm>
              <a:off x="4310" y="1453"/>
              <a:ext cx="301" cy="79"/>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2" name="Line 113"/>
            <p:cNvSpPr>
              <a:spLocks noChangeShapeType="1"/>
            </p:cNvSpPr>
            <p:nvPr/>
          </p:nvSpPr>
          <p:spPr bwMode="auto">
            <a:xfrm flipH="1">
              <a:off x="4139" y="1533"/>
              <a:ext cx="466" cy="4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3" name="Line 114"/>
            <p:cNvSpPr>
              <a:spLocks noChangeShapeType="1"/>
            </p:cNvSpPr>
            <p:nvPr/>
          </p:nvSpPr>
          <p:spPr bwMode="auto">
            <a:xfrm>
              <a:off x="4383" y="1985"/>
              <a:ext cx="316" cy="73"/>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4" name="Freeform 115"/>
            <p:cNvSpPr>
              <a:spLocks/>
            </p:cNvSpPr>
            <p:nvPr/>
          </p:nvSpPr>
          <p:spPr bwMode="auto">
            <a:xfrm>
              <a:off x="3976" y="1446"/>
              <a:ext cx="322" cy="250"/>
            </a:xfrm>
            <a:custGeom>
              <a:avLst/>
              <a:gdLst>
                <a:gd name="T0" fmla="*/ 322 w 322"/>
                <a:gd name="T1" fmla="*/ 0 h 250"/>
                <a:gd name="T2" fmla="*/ 0 w 322"/>
                <a:gd name="T3" fmla="*/ 250 h 250"/>
                <a:gd name="T4" fmla="*/ 0 60000 65536"/>
                <a:gd name="T5" fmla="*/ 0 60000 65536"/>
                <a:gd name="T6" fmla="*/ 0 w 322"/>
                <a:gd name="T7" fmla="*/ 0 h 250"/>
                <a:gd name="T8" fmla="*/ 322 w 322"/>
                <a:gd name="T9" fmla="*/ 250 h 250"/>
              </a:gdLst>
              <a:ahLst/>
              <a:cxnLst>
                <a:cxn ang="T4">
                  <a:pos x="T0" y="T1"/>
                </a:cxn>
                <a:cxn ang="T5">
                  <a:pos x="T2" y="T3"/>
                </a:cxn>
              </a:cxnLst>
              <a:rect l="T6" t="T7" r="T8" b="T9"/>
              <a:pathLst>
                <a:path w="322" h="250">
                  <a:moveTo>
                    <a:pt x="322" y="0"/>
                  </a:moveTo>
                  <a:lnTo>
                    <a:pt x="0" y="250"/>
                  </a:lnTo>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65" name="Line 116"/>
            <p:cNvSpPr>
              <a:spLocks noChangeShapeType="1"/>
            </p:cNvSpPr>
            <p:nvPr/>
          </p:nvSpPr>
          <p:spPr bwMode="auto">
            <a:xfrm flipV="1">
              <a:off x="4463" y="1525"/>
              <a:ext cx="156" cy="12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6" name="Freeform 117"/>
            <p:cNvSpPr>
              <a:spLocks/>
            </p:cNvSpPr>
            <p:nvPr/>
          </p:nvSpPr>
          <p:spPr bwMode="auto">
            <a:xfrm>
              <a:off x="4477" y="1601"/>
              <a:ext cx="464" cy="456"/>
            </a:xfrm>
            <a:custGeom>
              <a:avLst/>
              <a:gdLst>
                <a:gd name="T0" fmla="*/ 460 w 466"/>
                <a:gd name="T1" fmla="*/ 0 h 460"/>
                <a:gd name="T2" fmla="*/ 0 w 466"/>
                <a:gd name="T3" fmla="*/ 52 h 460"/>
                <a:gd name="T4" fmla="*/ 218 w 466"/>
                <a:gd name="T5" fmla="*/ 448 h 460"/>
                <a:gd name="T6" fmla="*/ 460 w 466"/>
                <a:gd name="T7" fmla="*/ 0 h 460"/>
                <a:gd name="T8" fmla="*/ 0 60000 65536"/>
                <a:gd name="T9" fmla="*/ 0 60000 65536"/>
                <a:gd name="T10" fmla="*/ 0 60000 65536"/>
                <a:gd name="T11" fmla="*/ 0 60000 65536"/>
                <a:gd name="T12" fmla="*/ 0 w 466"/>
                <a:gd name="T13" fmla="*/ 0 h 460"/>
                <a:gd name="T14" fmla="*/ 466 w 466"/>
                <a:gd name="T15" fmla="*/ 460 h 460"/>
              </a:gdLst>
              <a:ahLst/>
              <a:cxnLst>
                <a:cxn ang="T8">
                  <a:pos x="T0" y="T1"/>
                </a:cxn>
                <a:cxn ang="T9">
                  <a:pos x="T2" y="T3"/>
                </a:cxn>
                <a:cxn ang="T10">
                  <a:pos x="T4" y="T5"/>
                </a:cxn>
                <a:cxn ang="T11">
                  <a:pos x="T6" y="T7"/>
                </a:cxn>
              </a:cxnLst>
              <a:rect l="T12" t="T13" r="T14" b="T15"/>
              <a:pathLst>
                <a:path w="466" h="460">
                  <a:moveTo>
                    <a:pt x="466" y="0"/>
                  </a:moveTo>
                  <a:lnTo>
                    <a:pt x="0" y="52"/>
                  </a:lnTo>
                  <a:lnTo>
                    <a:pt x="221" y="460"/>
                  </a:lnTo>
                  <a:lnTo>
                    <a:pt x="466" y="0"/>
                  </a:lnTo>
                  <a:close/>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67" name="Line 118"/>
            <p:cNvSpPr>
              <a:spLocks noChangeShapeType="1"/>
            </p:cNvSpPr>
            <p:nvPr/>
          </p:nvSpPr>
          <p:spPr bwMode="auto">
            <a:xfrm flipH="1">
              <a:off x="4220" y="1991"/>
              <a:ext cx="133"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8" name="Oval 119"/>
            <p:cNvSpPr>
              <a:spLocks noChangeArrowheads="1"/>
            </p:cNvSpPr>
            <p:nvPr/>
          </p:nvSpPr>
          <p:spPr bwMode="auto">
            <a:xfrm>
              <a:off x="3998" y="1874"/>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169" name="Oval 120"/>
            <p:cNvSpPr>
              <a:spLocks noChangeArrowheads="1"/>
            </p:cNvSpPr>
            <p:nvPr/>
          </p:nvSpPr>
          <p:spPr bwMode="auto">
            <a:xfrm>
              <a:off x="4476" y="1821"/>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170" name="Text Box 121"/>
            <p:cNvSpPr txBox="1">
              <a:spLocks noChangeArrowheads="1"/>
            </p:cNvSpPr>
            <p:nvPr/>
          </p:nvSpPr>
          <p:spPr bwMode="auto">
            <a:xfrm>
              <a:off x="2786" y="981"/>
              <a:ext cx="4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a:solidFill>
                    <a:schemeClr val="bg1"/>
                  </a:solidFill>
                </a:rPr>
                <a:t>OH</a:t>
              </a:r>
              <a:r>
                <a:rPr lang="en-US" altLang="zh-CN" sz="2000" b="1" baseline="30000">
                  <a:solidFill>
                    <a:schemeClr val="bg1"/>
                  </a:solidFill>
                </a:rPr>
                <a:t>1-</a:t>
              </a:r>
            </a:p>
          </p:txBody>
        </p:sp>
        <p:sp>
          <p:nvSpPr>
            <p:cNvPr id="48171" name="Text Box 122"/>
            <p:cNvSpPr txBox="1">
              <a:spLocks noChangeArrowheads="1"/>
            </p:cNvSpPr>
            <p:nvPr/>
          </p:nvSpPr>
          <p:spPr bwMode="auto">
            <a:xfrm>
              <a:off x="3238" y="1128"/>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solidFill>
                    <a:schemeClr val="bg1"/>
                  </a:solidFill>
                  <a:ea typeface="幼圆" pitchFamily="49" charset="-122"/>
                </a:rPr>
                <a:t>铝离子</a:t>
              </a:r>
              <a:r>
                <a:rPr lang="en-US" altLang="zh-CN" sz="2000" b="1">
                  <a:solidFill>
                    <a:schemeClr val="bg1"/>
                  </a:solidFill>
                  <a:ea typeface="幼圆" pitchFamily="49" charset="-122"/>
                </a:rPr>
                <a:t>Al</a:t>
              </a:r>
              <a:r>
                <a:rPr lang="en-US" altLang="zh-CN" sz="2000" b="1" baseline="30000">
                  <a:solidFill>
                    <a:schemeClr val="bg1"/>
                  </a:solidFill>
                </a:rPr>
                <a:t>3+</a:t>
              </a:r>
            </a:p>
          </p:txBody>
        </p:sp>
        <p:sp>
          <p:nvSpPr>
            <p:cNvPr id="48172" name="Text Box 123"/>
            <p:cNvSpPr txBox="1">
              <a:spLocks noChangeArrowheads="1"/>
            </p:cNvSpPr>
            <p:nvPr/>
          </p:nvSpPr>
          <p:spPr bwMode="auto">
            <a:xfrm>
              <a:off x="2239" y="2254"/>
              <a:ext cx="363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200" b="1">
                  <a:solidFill>
                    <a:schemeClr val="bg1"/>
                  </a:solidFill>
                  <a:latin typeface="幼圆" pitchFamily="49" charset="-122"/>
                  <a:ea typeface="幼圆" pitchFamily="49" charset="-122"/>
                </a:rPr>
                <a:t>铝</a:t>
              </a:r>
              <a:r>
                <a:rPr lang="en-US" altLang="zh-CN" sz="2200" b="1">
                  <a:solidFill>
                    <a:schemeClr val="bg1"/>
                  </a:solidFill>
                  <a:latin typeface="幼圆" pitchFamily="49" charset="-122"/>
                  <a:ea typeface="幼圆" pitchFamily="49" charset="-122"/>
                </a:rPr>
                <a:t>-</a:t>
              </a:r>
              <a:r>
                <a:rPr lang="zh-CN" altLang="en-US" sz="2200" b="1">
                  <a:solidFill>
                    <a:schemeClr val="bg1"/>
                  </a:solidFill>
                  <a:latin typeface="幼圆" pitchFamily="49" charset="-122"/>
                  <a:ea typeface="幼圆" pitchFamily="49" charset="-122"/>
                </a:rPr>
                <a:t>氢氧八面体   铝片的结构      铝片简图</a:t>
              </a:r>
            </a:p>
          </p:txBody>
        </p:sp>
        <p:sp>
          <p:nvSpPr>
            <p:cNvPr id="48173" name="Freeform 124"/>
            <p:cNvSpPr>
              <a:spLocks/>
            </p:cNvSpPr>
            <p:nvPr/>
          </p:nvSpPr>
          <p:spPr bwMode="auto">
            <a:xfrm>
              <a:off x="2288" y="1483"/>
              <a:ext cx="506" cy="582"/>
            </a:xfrm>
            <a:custGeom>
              <a:avLst/>
              <a:gdLst>
                <a:gd name="T0" fmla="*/ 196 w 506"/>
                <a:gd name="T1" fmla="*/ 0 h 582"/>
                <a:gd name="T2" fmla="*/ 0 w 506"/>
                <a:gd name="T3" fmla="*/ 458 h 582"/>
                <a:gd name="T4" fmla="*/ 506 w 506"/>
                <a:gd name="T5" fmla="*/ 582 h 582"/>
                <a:gd name="T6" fmla="*/ 196 w 506"/>
                <a:gd name="T7" fmla="*/ 0 h 582"/>
                <a:gd name="T8" fmla="*/ 0 60000 65536"/>
                <a:gd name="T9" fmla="*/ 0 60000 65536"/>
                <a:gd name="T10" fmla="*/ 0 60000 65536"/>
                <a:gd name="T11" fmla="*/ 0 60000 65536"/>
                <a:gd name="T12" fmla="*/ 0 w 506"/>
                <a:gd name="T13" fmla="*/ 0 h 582"/>
                <a:gd name="T14" fmla="*/ 506 w 506"/>
                <a:gd name="T15" fmla="*/ 582 h 582"/>
              </a:gdLst>
              <a:ahLst/>
              <a:cxnLst>
                <a:cxn ang="T8">
                  <a:pos x="T0" y="T1"/>
                </a:cxn>
                <a:cxn ang="T9">
                  <a:pos x="T2" y="T3"/>
                </a:cxn>
                <a:cxn ang="T10">
                  <a:pos x="T4" y="T5"/>
                </a:cxn>
                <a:cxn ang="T11">
                  <a:pos x="T6" y="T7"/>
                </a:cxn>
              </a:cxnLst>
              <a:rect l="T12" t="T13" r="T14" b="T15"/>
              <a:pathLst>
                <a:path w="506" h="582">
                  <a:moveTo>
                    <a:pt x="196" y="0"/>
                  </a:moveTo>
                  <a:lnTo>
                    <a:pt x="0" y="458"/>
                  </a:lnTo>
                  <a:lnTo>
                    <a:pt x="506" y="582"/>
                  </a:lnTo>
                  <a:lnTo>
                    <a:pt x="196" y="0"/>
                  </a:lnTo>
                  <a:close/>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74" name="Freeform 125"/>
            <p:cNvSpPr>
              <a:spLocks/>
            </p:cNvSpPr>
            <p:nvPr/>
          </p:nvSpPr>
          <p:spPr bwMode="auto">
            <a:xfrm>
              <a:off x="2484" y="1381"/>
              <a:ext cx="724" cy="105"/>
            </a:xfrm>
            <a:custGeom>
              <a:avLst/>
              <a:gdLst>
                <a:gd name="T0" fmla="*/ 0 w 724"/>
                <a:gd name="T1" fmla="*/ 105 h 105"/>
                <a:gd name="T2" fmla="*/ 227 w 724"/>
                <a:gd name="T3" fmla="*/ 0 h 105"/>
                <a:gd name="T4" fmla="*/ 724 w 724"/>
                <a:gd name="T5" fmla="*/ 105 h 105"/>
                <a:gd name="T6" fmla="*/ 0 w 724"/>
                <a:gd name="T7" fmla="*/ 105 h 105"/>
                <a:gd name="T8" fmla="*/ 0 60000 65536"/>
                <a:gd name="T9" fmla="*/ 0 60000 65536"/>
                <a:gd name="T10" fmla="*/ 0 60000 65536"/>
                <a:gd name="T11" fmla="*/ 0 60000 65536"/>
                <a:gd name="T12" fmla="*/ 0 w 724"/>
                <a:gd name="T13" fmla="*/ 0 h 105"/>
                <a:gd name="T14" fmla="*/ 724 w 724"/>
                <a:gd name="T15" fmla="*/ 105 h 105"/>
              </a:gdLst>
              <a:ahLst/>
              <a:cxnLst>
                <a:cxn ang="T8">
                  <a:pos x="T0" y="T1"/>
                </a:cxn>
                <a:cxn ang="T9">
                  <a:pos x="T2" y="T3"/>
                </a:cxn>
                <a:cxn ang="T10">
                  <a:pos x="T4" y="T5"/>
                </a:cxn>
                <a:cxn ang="T11">
                  <a:pos x="T6" y="T7"/>
                </a:cxn>
              </a:cxnLst>
              <a:rect l="T12" t="T13" r="T14" b="T15"/>
              <a:pathLst>
                <a:path w="724" h="105">
                  <a:moveTo>
                    <a:pt x="0" y="105"/>
                  </a:moveTo>
                  <a:lnTo>
                    <a:pt x="227" y="0"/>
                  </a:lnTo>
                  <a:lnTo>
                    <a:pt x="724" y="105"/>
                  </a:lnTo>
                  <a:lnTo>
                    <a:pt x="0" y="105"/>
                  </a:lnTo>
                  <a:close/>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75" name="Freeform 126"/>
            <p:cNvSpPr>
              <a:spLocks/>
            </p:cNvSpPr>
            <p:nvPr/>
          </p:nvSpPr>
          <p:spPr bwMode="auto">
            <a:xfrm>
              <a:off x="2788" y="1479"/>
              <a:ext cx="420" cy="583"/>
            </a:xfrm>
            <a:custGeom>
              <a:avLst/>
              <a:gdLst>
                <a:gd name="T0" fmla="*/ 420 w 420"/>
                <a:gd name="T1" fmla="*/ 0 h 583"/>
                <a:gd name="T2" fmla="*/ 0 w 420"/>
                <a:gd name="T3" fmla="*/ 583 h 583"/>
                <a:gd name="T4" fmla="*/ 220 w 420"/>
                <a:gd name="T5" fmla="*/ 494 h 583"/>
                <a:gd name="T6" fmla="*/ 420 w 420"/>
                <a:gd name="T7" fmla="*/ 0 h 583"/>
                <a:gd name="T8" fmla="*/ 0 60000 65536"/>
                <a:gd name="T9" fmla="*/ 0 60000 65536"/>
                <a:gd name="T10" fmla="*/ 0 60000 65536"/>
                <a:gd name="T11" fmla="*/ 0 60000 65536"/>
                <a:gd name="T12" fmla="*/ 0 w 420"/>
                <a:gd name="T13" fmla="*/ 0 h 583"/>
                <a:gd name="T14" fmla="*/ 420 w 420"/>
                <a:gd name="T15" fmla="*/ 583 h 583"/>
              </a:gdLst>
              <a:ahLst/>
              <a:cxnLst>
                <a:cxn ang="T8">
                  <a:pos x="T0" y="T1"/>
                </a:cxn>
                <a:cxn ang="T9">
                  <a:pos x="T2" y="T3"/>
                </a:cxn>
                <a:cxn ang="T10">
                  <a:pos x="T4" y="T5"/>
                </a:cxn>
                <a:cxn ang="T11">
                  <a:pos x="T6" y="T7"/>
                </a:cxn>
              </a:cxnLst>
              <a:rect l="T12" t="T13" r="T14" b="T15"/>
              <a:pathLst>
                <a:path w="420" h="583">
                  <a:moveTo>
                    <a:pt x="420" y="0"/>
                  </a:moveTo>
                  <a:lnTo>
                    <a:pt x="0" y="583"/>
                  </a:lnTo>
                  <a:lnTo>
                    <a:pt x="220" y="494"/>
                  </a:lnTo>
                  <a:lnTo>
                    <a:pt x="420" y="0"/>
                  </a:lnTo>
                  <a:close/>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76" name="Oval 127"/>
            <p:cNvSpPr>
              <a:spLocks noChangeArrowheads="1"/>
            </p:cNvSpPr>
            <p:nvPr/>
          </p:nvSpPr>
          <p:spPr bwMode="auto">
            <a:xfrm>
              <a:off x="2715" y="1694"/>
              <a:ext cx="96" cy="96"/>
            </a:xfrm>
            <a:prstGeom prst="ellipse">
              <a:avLst/>
            </a:prstGeom>
            <a:solidFill>
              <a:srgbClr val="FF66FF"/>
            </a:solidFill>
            <a:ln w="12700">
              <a:solidFill>
                <a:srgbClr val="FF66FF"/>
              </a:solidFill>
              <a:round/>
              <a:headEnd/>
              <a:tailEnd/>
            </a:ln>
          </p:spPr>
          <p:txBody>
            <a:bodyPr wrap="none" anchor="ctr"/>
            <a:lstStyle/>
            <a:p>
              <a:endParaRPr lang="zh-CN" altLang="en-US"/>
            </a:p>
          </p:txBody>
        </p:sp>
        <p:sp>
          <p:nvSpPr>
            <p:cNvPr id="48177" name="Line 128"/>
            <p:cNvSpPr>
              <a:spLocks noChangeShapeType="1"/>
            </p:cNvSpPr>
            <p:nvPr/>
          </p:nvSpPr>
          <p:spPr bwMode="auto">
            <a:xfrm flipH="1">
              <a:off x="2286" y="1385"/>
              <a:ext cx="425" cy="557"/>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8" name="Line 129"/>
            <p:cNvSpPr>
              <a:spLocks noChangeShapeType="1"/>
            </p:cNvSpPr>
            <p:nvPr/>
          </p:nvSpPr>
          <p:spPr bwMode="auto">
            <a:xfrm>
              <a:off x="2286" y="1940"/>
              <a:ext cx="718" cy="31"/>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9" name="Freeform 130"/>
            <p:cNvSpPr>
              <a:spLocks/>
            </p:cNvSpPr>
            <p:nvPr/>
          </p:nvSpPr>
          <p:spPr bwMode="auto">
            <a:xfrm>
              <a:off x="3658" y="1494"/>
              <a:ext cx="483" cy="118"/>
            </a:xfrm>
            <a:custGeom>
              <a:avLst/>
              <a:gdLst>
                <a:gd name="T0" fmla="*/ 0 w 483"/>
                <a:gd name="T1" fmla="*/ 118 h 118"/>
                <a:gd name="T2" fmla="*/ 483 w 483"/>
                <a:gd name="T3" fmla="*/ 79 h 118"/>
                <a:gd name="T4" fmla="*/ 162 w 483"/>
                <a:gd name="T5" fmla="*/ 0 h 118"/>
                <a:gd name="T6" fmla="*/ 0 w 483"/>
                <a:gd name="T7" fmla="*/ 118 h 118"/>
                <a:gd name="T8" fmla="*/ 0 60000 65536"/>
                <a:gd name="T9" fmla="*/ 0 60000 65536"/>
                <a:gd name="T10" fmla="*/ 0 60000 65536"/>
                <a:gd name="T11" fmla="*/ 0 60000 65536"/>
                <a:gd name="T12" fmla="*/ 0 w 483"/>
                <a:gd name="T13" fmla="*/ 0 h 118"/>
                <a:gd name="T14" fmla="*/ 483 w 483"/>
                <a:gd name="T15" fmla="*/ 118 h 118"/>
              </a:gdLst>
              <a:ahLst/>
              <a:cxnLst>
                <a:cxn ang="T8">
                  <a:pos x="T0" y="T1"/>
                </a:cxn>
                <a:cxn ang="T9">
                  <a:pos x="T2" y="T3"/>
                </a:cxn>
                <a:cxn ang="T10">
                  <a:pos x="T4" y="T5"/>
                </a:cxn>
                <a:cxn ang="T11">
                  <a:pos x="T6" y="T7"/>
                </a:cxn>
              </a:cxnLst>
              <a:rect l="T12" t="T13" r="T14" b="T15"/>
              <a:pathLst>
                <a:path w="483" h="118">
                  <a:moveTo>
                    <a:pt x="0" y="118"/>
                  </a:moveTo>
                  <a:lnTo>
                    <a:pt x="483" y="79"/>
                  </a:lnTo>
                  <a:lnTo>
                    <a:pt x="162" y="0"/>
                  </a:lnTo>
                  <a:lnTo>
                    <a:pt x="0" y="118"/>
                  </a:lnTo>
                  <a:close/>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80" name="Freeform 131"/>
            <p:cNvSpPr>
              <a:spLocks/>
            </p:cNvSpPr>
            <p:nvPr/>
          </p:nvSpPr>
          <p:spPr bwMode="auto">
            <a:xfrm>
              <a:off x="3988" y="1649"/>
              <a:ext cx="484" cy="447"/>
            </a:xfrm>
            <a:custGeom>
              <a:avLst/>
              <a:gdLst>
                <a:gd name="T0" fmla="*/ 0 w 484"/>
                <a:gd name="T1" fmla="*/ 48 h 447"/>
                <a:gd name="T2" fmla="*/ 484 w 484"/>
                <a:gd name="T3" fmla="*/ 0 h 447"/>
                <a:gd name="T4" fmla="*/ 220 w 484"/>
                <a:gd name="T5" fmla="*/ 447 h 447"/>
                <a:gd name="T6" fmla="*/ 0 60000 65536"/>
                <a:gd name="T7" fmla="*/ 0 60000 65536"/>
                <a:gd name="T8" fmla="*/ 0 60000 65536"/>
                <a:gd name="T9" fmla="*/ 0 w 484"/>
                <a:gd name="T10" fmla="*/ 0 h 447"/>
                <a:gd name="T11" fmla="*/ 484 w 484"/>
                <a:gd name="T12" fmla="*/ 447 h 447"/>
              </a:gdLst>
              <a:ahLst/>
              <a:cxnLst>
                <a:cxn ang="T6">
                  <a:pos x="T0" y="T1"/>
                </a:cxn>
                <a:cxn ang="T7">
                  <a:pos x="T2" y="T3"/>
                </a:cxn>
                <a:cxn ang="T8">
                  <a:pos x="T4" y="T5"/>
                </a:cxn>
              </a:cxnLst>
              <a:rect l="T9" t="T10" r="T11" b="T12"/>
              <a:pathLst>
                <a:path w="484" h="447">
                  <a:moveTo>
                    <a:pt x="0" y="48"/>
                  </a:moveTo>
                  <a:lnTo>
                    <a:pt x="484" y="0"/>
                  </a:lnTo>
                  <a:lnTo>
                    <a:pt x="220" y="447"/>
                  </a:lnTo>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81" name="Line 132"/>
            <p:cNvSpPr>
              <a:spLocks noChangeShapeType="1"/>
            </p:cNvSpPr>
            <p:nvPr/>
          </p:nvSpPr>
          <p:spPr bwMode="auto">
            <a:xfrm flipH="1">
              <a:off x="4351" y="1650"/>
              <a:ext cx="123" cy="333"/>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2" name="Line 133"/>
            <p:cNvSpPr>
              <a:spLocks noChangeShapeType="1"/>
            </p:cNvSpPr>
            <p:nvPr/>
          </p:nvSpPr>
          <p:spPr bwMode="auto">
            <a:xfrm>
              <a:off x="4509" y="1862"/>
              <a:ext cx="351" cy="72"/>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3" name="Line 134"/>
            <p:cNvSpPr>
              <a:spLocks noChangeShapeType="1"/>
            </p:cNvSpPr>
            <p:nvPr/>
          </p:nvSpPr>
          <p:spPr bwMode="auto">
            <a:xfrm flipV="1">
              <a:off x="4357" y="1861"/>
              <a:ext cx="153" cy="128"/>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4" name="Line 135"/>
            <p:cNvSpPr>
              <a:spLocks noChangeShapeType="1"/>
            </p:cNvSpPr>
            <p:nvPr/>
          </p:nvSpPr>
          <p:spPr bwMode="auto">
            <a:xfrm>
              <a:off x="4612" y="1527"/>
              <a:ext cx="333" cy="76"/>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5" name="Oval 136"/>
            <p:cNvSpPr>
              <a:spLocks noChangeArrowheads="1"/>
            </p:cNvSpPr>
            <p:nvPr/>
          </p:nvSpPr>
          <p:spPr bwMode="auto">
            <a:xfrm>
              <a:off x="2750" y="2008"/>
              <a:ext cx="96" cy="96"/>
            </a:xfrm>
            <a:prstGeom prst="ellipse">
              <a:avLst/>
            </a:prstGeom>
            <a:solidFill>
              <a:schemeClr val="accent6">
                <a:lumMod val="60000"/>
                <a:lumOff val="40000"/>
              </a:schemeClr>
            </a:solidFill>
            <a:ln w="12700">
              <a:solidFill>
                <a:schemeClr val="accent6">
                  <a:lumMod val="60000"/>
                  <a:lumOff val="40000"/>
                </a:schemeClr>
              </a:solidFill>
              <a:round/>
              <a:headEnd/>
              <a:tailEnd/>
            </a:ln>
          </p:spPr>
          <p:txBody>
            <a:bodyPr wrap="none" anchor="ctr"/>
            <a:lstStyle/>
            <a:p>
              <a:endParaRPr lang="zh-CN" altLang="en-US"/>
            </a:p>
          </p:txBody>
        </p:sp>
        <p:sp>
          <p:nvSpPr>
            <p:cNvPr id="48186" name="Oval 137"/>
            <p:cNvSpPr>
              <a:spLocks noChangeArrowheads="1"/>
            </p:cNvSpPr>
            <p:nvPr/>
          </p:nvSpPr>
          <p:spPr bwMode="auto">
            <a:xfrm>
              <a:off x="2959" y="1929"/>
              <a:ext cx="96" cy="96"/>
            </a:xfrm>
            <a:prstGeom prst="ellipse">
              <a:avLst/>
            </a:prstGeom>
            <a:solidFill>
              <a:schemeClr val="accent6">
                <a:lumMod val="60000"/>
                <a:lumOff val="40000"/>
              </a:schemeClr>
            </a:solidFill>
            <a:ln w="12700">
              <a:solidFill>
                <a:schemeClr val="accent6">
                  <a:lumMod val="60000"/>
                  <a:lumOff val="40000"/>
                </a:schemeClr>
              </a:solidFill>
              <a:round/>
              <a:headEnd/>
              <a:tailEnd/>
            </a:ln>
          </p:spPr>
          <p:txBody>
            <a:bodyPr wrap="none" anchor="ctr"/>
            <a:lstStyle/>
            <a:p>
              <a:endParaRPr lang="zh-CN" altLang="en-US"/>
            </a:p>
          </p:txBody>
        </p:sp>
        <p:sp>
          <p:nvSpPr>
            <p:cNvPr id="48187" name="Oval 138"/>
            <p:cNvSpPr>
              <a:spLocks noChangeArrowheads="1"/>
            </p:cNvSpPr>
            <p:nvPr/>
          </p:nvSpPr>
          <p:spPr bwMode="auto">
            <a:xfrm>
              <a:off x="3146" y="1441"/>
              <a:ext cx="96" cy="96"/>
            </a:xfrm>
            <a:prstGeom prst="ellipse">
              <a:avLst/>
            </a:prstGeom>
            <a:solidFill>
              <a:schemeClr val="accent6">
                <a:lumMod val="60000"/>
                <a:lumOff val="40000"/>
              </a:schemeClr>
            </a:solidFill>
            <a:ln w="12700">
              <a:solidFill>
                <a:schemeClr val="accent6">
                  <a:lumMod val="60000"/>
                  <a:lumOff val="40000"/>
                </a:schemeClr>
              </a:solidFill>
              <a:round/>
              <a:headEnd/>
              <a:tailEnd/>
            </a:ln>
          </p:spPr>
          <p:txBody>
            <a:bodyPr wrap="none" anchor="ctr"/>
            <a:lstStyle/>
            <a:p>
              <a:endParaRPr lang="zh-CN" altLang="en-US"/>
            </a:p>
          </p:txBody>
        </p:sp>
        <p:sp>
          <p:nvSpPr>
            <p:cNvPr id="48188" name="Oval 139"/>
            <p:cNvSpPr>
              <a:spLocks noChangeArrowheads="1"/>
            </p:cNvSpPr>
            <p:nvPr/>
          </p:nvSpPr>
          <p:spPr bwMode="auto">
            <a:xfrm>
              <a:off x="2446" y="1438"/>
              <a:ext cx="96" cy="96"/>
            </a:xfrm>
            <a:prstGeom prst="ellipse">
              <a:avLst/>
            </a:prstGeom>
            <a:solidFill>
              <a:schemeClr val="accent6">
                <a:lumMod val="60000"/>
                <a:lumOff val="40000"/>
              </a:schemeClr>
            </a:solidFill>
            <a:ln w="12700">
              <a:solidFill>
                <a:schemeClr val="accent6">
                  <a:lumMod val="60000"/>
                  <a:lumOff val="40000"/>
                </a:schemeClr>
              </a:solidFill>
              <a:round/>
              <a:headEnd/>
              <a:tailEnd/>
            </a:ln>
          </p:spPr>
          <p:txBody>
            <a:bodyPr wrap="none" anchor="ctr"/>
            <a:lstStyle/>
            <a:p>
              <a:endParaRPr lang="zh-CN" altLang="en-US"/>
            </a:p>
          </p:txBody>
        </p:sp>
        <p:sp>
          <p:nvSpPr>
            <p:cNvPr id="48189" name="Oval 140"/>
            <p:cNvSpPr>
              <a:spLocks noChangeArrowheads="1"/>
            </p:cNvSpPr>
            <p:nvPr/>
          </p:nvSpPr>
          <p:spPr bwMode="auto">
            <a:xfrm>
              <a:off x="2241" y="1893"/>
              <a:ext cx="96" cy="96"/>
            </a:xfrm>
            <a:prstGeom prst="ellipse">
              <a:avLst/>
            </a:prstGeom>
            <a:solidFill>
              <a:schemeClr val="accent6">
                <a:lumMod val="60000"/>
                <a:lumOff val="40000"/>
              </a:schemeClr>
            </a:solidFill>
            <a:ln w="12700">
              <a:solidFill>
                <a:schemeClr val="accent6">
                  <a:lumMod val="60000"/>
                  <a:lumOff val="40000"/>
                </a:schemeClr>
              </a:solidFill>
              <a:round/>
              <a:headEnd/>
              <a:tailEnd/>
            </a:ln>
          </p:spPr>
          <p:txBody>
            <a:bodyPr wrap="none" anchor="ctr"/>
            <a:lstStyle/>
            <a:p>
              <a:endParaRPr lang="zh-CN" altLang="en-US"/>
            </a:p>
          </p:txBody>
        </p:sp>
        <p:sp>
          <p:nvSpPr>
            <p:cNvPr id="48190" name="Oval 141"/>
            <p:cNvSpPr>
              <a:spLocks noChangeArrowheads="1"/>
            </p:cNvSpPr>
            <p:nvPr/>
          </p:nvSpPr>
          <p:spPr bwMode="auto">
            <a:xfrm>
              <a:off x="2658" y="1340"/>
              <a:ext cx="96" cy="96"/>
            </a:xfrm>
            <a:prstGeom prst="ellipse">
              <a:avLst/>
            </a:prstGeom>
            <a:solidFill>
              <a:schemeClr val="accent6">
                <a:lumMod val="60000"/>
                <a:lumOff val="40000"/>
              </a:schemeClr>
            </a:solidFill>
            <a:ln w="12700">
              <a:solidFill>
                <a:schemeClr val="accent6">
                  <a:lumMod val="60000"/>
                  <a:lumOff val="40000"/>
                </a:schemeClr>
              </a:solidFill>
              <a:round/>
              <a:headEnd/>
              <a:tailEnd/>
            </a:ln>
          </p:spPr>
          <p:txBody>
            <a:bodyPr wrap="none" anchor="ctr"/>
            <a:lstStyle/>
            <a:p>
              <a:endParaRPr lang="zh-CN" altLang="en-US"/>
            </a:p>
          </p:txBody>
        </p:sp>
        <p:sp>
          <p:nvSpPr>
            <p:cNvPr id="48191" name="Oval 142"/>
            <p:cNvSpPr>
              <a:spLocks noChangeArrowheads="1"/>
            </p:cNvSpPr>
            <p:nvPr/>
          </p:nvSpPr>
          <p:spPr bwMode="auto">
            <a:xfrm>
              <a:off x="3835" y="1988"/>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192" name="Oval 143"/>
            <p:cNvSpPr>
              <a:spLocks noChangeArrowheads="1"/>
            </p:cNvSpPr>
            <p:nvPr/>
          </p:nvSpPr>
          <p:spPr bwMode="auto">
            <a:xfrm>
              <a:off x="4569" y="1495"/>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193" name="Oval 144"/>
            <p:cNvSpPr>
              <a:spLocks noChangeArrowheads="1"/>
            </p:cNvSpPr>
            <p:nvPr/>
          </p:nvSpPr>
          <p:spPr bwMode="auto">
            <a:xfrm>
              <a:off x="4261" y="1410"/>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194" name="Oval 145"/>
            <p:cNvSpPr>
              <a:spLocks noChangeArrowheads="1"/>
            </p:cNvSpPr>
            <p:nvPr/>
          </p:nvSpPr>
          <p:spPr bwMode="auto">
            <a:xfrm>
              <a:off x="4660" y="2014"/>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195" name="Oval 146"/>
            <p:cNvSpPr>
              <a:spLocks noChangeArrowheads="1"/>
            </p:cNvSpPr>
            <p:nvPr/>
          </p:nvSpPr>
          <p:spPr bwMode="auto">
            <a:xfrm>
              <a:off x="4107" y="1533"/>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196" name="Oval 147"/>
            <p:cNvSpPr>
              <a:spLocks noChangeArrowheads="1"/>
            </p:cNvSpPr>
            <p:nvPr/>
          </p:nvSpPr>
          <p:spPr bwMode="auto">
            <a:xfrm>
              <a:off x="3941" y="1660"/>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197" name="Oval 148"/>
            <p:cNvSpPr>
              <a:spLocks noChangeArrowheads="1"/>
            </p:cNvSpPr>
            <p:nvPr/>
          </p:nvSpPr>
          <p:spPr bwMode="auto">
            <a:xfrm>
              <a:off x="4912" y="1562"/>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198" name="Oval 149"/>
            <p:cNvSpPr>
              <a:spLocks noChangeArrowheads="1"/>
            </p:cNvSpPr>
            <p:nvPr/>
          </p:nvSpPr>
          <p:spPr bwMode="auto">
            <a:xfrm>
              <a:off x="4819" y="1889"/>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199" name="Oval 150"/>
            <p:cNvSpPr>
              <a:spLocks noChangeArrowheads="1"/>
            </p:cNvSpPr>
            <p:nvPr/>
          </p:nvSpPr>
          <p:spPr bwMode="auto">
            <a:xfrm>
              <a:off x="4174" y="2072"/>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200" name="Oval 151"/>
            <p:cNvSpPr>
              <a:spLocks noChangeArrowheads="1"/>
            </p:cNvSpPr>
            <p:nvPr/>
          </p:nvSpPr>
          <p:spPr bwMode="auto">
            <a:xfrm>
              <a:off x="3497" y="1910"/>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201" name="Oval 152"/>
            <p:cNvSpPr>
              <a:spLocks noChangeArrowheads="1"/>
            </p:cNvSpPr>
            <p:nvPr/>
          </p:nvSpPr>
          <p:spPr bwMode="auto">
            <a:xfrm>
              <a:off x="3618" y="1575"/>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202" name="Oval 153"/>
            <p:cNvSpPr>
              <a:spLocks noChangeArrowheads="1"/>
            </p:cNvSpPr>
            <p:nvPr/>
          </p:nvSpPr>
          <p:spPr bwMode="auto">
            <a:xfrm>
              <a:off x="4322" y="1940"/>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203" name="Oval 154"/>
            <p:cNvSpPr>
              <a:spLocks noChangeArrowheads="1"/>
            </p:cNvSpPr>
            <p:nvPr/>
          </p:nvSpPr>
          <p:spPr bwMode="auto">
            <a:xfrm>
              <a:off x="3785" y="1469"/>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sp>
          <p:nvSpPr>
            <p:cNvPr id="48204" name="Oval 155"/>
            <p:cNvSpPr>
              <a:spLocks noChangeArrowheads="1"/>
            </p:cNvSpPr>
            <p:nvPr/>
          </p:nvSpPr>
          <p:spPr bwMode="auto">
            <a:xfrm>
              <a:off x="4440" y="1608"/>
              <a:ext cx="71" cy="71"/>
            </a:xfrm>
            <a:prstGeom prst="ellipse">
              <a:avLst/>
            </a:prstGeom>
            <a:solidFill>
              <a:schemeClr val="accent6">
                <a:lumMod val="60000"/>
                <a:lumOff val="40000"/>
              </a:schemeClr>
            </a:solidFill>
            <a:ln w="9525">
              <a:solidFill>
                <a:schemeClr val="accent6">
                  <a:lumMod val="60000"/>
                  <a:lumOff val="40000"/>
                </a:schemeClr>
              </a:solidFill>
              <a:round/>
              <a:headEnd/>
              <a:tailEnd/>
            </a:ln>
          </p:spPr>
          <p:txBody>
            <a:bodyPr wrap="none" anchor="ctr"/>
            <a:lstStyle/>
            <a:p>
              <a:endParaRPr lang="zh-CN" altLang="en-US"/>
            </a:p>
          </p:txBody>
        </p:sp>
        <p:grpSp>
          <p:nvGrpSpPr>
            <p:cNvPr id="48205" name="Group 156"/>
            <p:cNvGrpSpPr>
              <a:grpSpLocks/>
            </p:cNvGrpSpPr>
            <p:nvPr/>
          </p:nvGrpSpPr>
          <p:grpSpPr bwMode="auto">
            <a:xfrm>
              <a:off x="5276" y="1682"/>
              <a:ext cx="500" cy="212"/>
              <a:chOff x="4785" y="2298"/>
              <a:chExt cx="500" cy="212"/>
            </a:xfrm>
          </p:grpSpPr>
          <p:sp>
            <p:nvSpPr>
              <p:cNvPr id="48208" name="Rectangle 157"/>
              <p:cNvSpPr>
                <a:spLocks noChangeArrowheads="1"/>
              </p:cNvSpPr>
              <p:nvPr/>
            </p:nvSpPr>
            <p:spPr bwMode="auto">
              <a:xfrm>
                <a:off x="4819" y="2304"/>
                <a:ext cx="454" cy="185"/>
              </a:xfrm>
              <a:prstGeom prst="rect">
                <a:avLst/>
              </a:prstGeom>
              <a:solidFill>
                <a:srgbClr val="FFCCFF"/>
              </a:solidFill>
              <a:ln w="12700">
                <a:solidFill>
                  <a:schemeClr val="bg1"/>
                </a:solidFill>
                <a:miter lim="800000"/>
                <a:headEnd/>
                <a:tailEnd/>
              </a:ln>
            </p:spPr>
            <p:txBody>
              <a:bodyPr wrap="none" anchor="ctr"/>
              <a:lstStyle/>
              <a:p>
                <a:endParaRPr lang="zh-CN" altLang="en-US"/>
              </a:p>
            </p:txBody>
          </p:sp>
          <p:sp>
            <p:nvSpPr>
              <p:cNvPr id="48209" name="Text Box 158"/>
              <p:cNvSpPr txBox="1">
                <a:spLocks noChangeArrowheads="1"/>
              </p:cNvSpPr>
              <p:nvPr/>
            </p:nvSpPr>
            <p:spPr bwMode="auto">
              <a:xfrm>
                <a:off x="4785" y="2298"/>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Al    Al</a:t>
                </a:r>
              </a:p>
            </p:txBody>
          </p:sp>
        </p:grpSp>
        <p:sp>
          <p:nvSpPr>
            <p:cNvPr id="48206" name="Line 159"/>
            <p:cNvSpPr>
              <a:spLocks noChangeShapeType="1"/>
            </p:cNvSpPr>
            <p:nvPr/>
          </p:nvSpPr>
          <p:spPr bwMode="auto">
            <a:xfrm flipV="1">
              <a:off x="2713" y="1163"/>
              <a:ext cx="73" cy="18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7" name="Line 160"/>
            <p:cNvSpPr>
              <a:spLocks noChangeShapeType="1"/>
            </p:cNvSpPr>
            <p:nvPr/>
          </p:nvSpPr>
          <p:spPr bwMode="auto">
            <a:xfrm flipV="1">
              <a:off x="2826" y="1291"/>
              <a:ext cx="422" cy="39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8136" name="Text Box 163"/>
          <p:cNvSpPr txBox="1">
            <a:spLocks noChangeArrowheads="1"/>
          </p:cNvSpPr>
          <p:nvPr/>
        </p:nvSpPr>
        <p:spPr bwMode="auto">
          <a:xfrm>
            <a:off x="595313" y="2846388"/>
            <a:ext cx="1279525"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²"/>
            </a:pPr>
            <a:r>
              <a:rPr lang="zh-CN" altLang="en-US" sz="2800" b="1">
                <a:solidFill>
                  <a:srgbClr val="000066"/>
                </a:solidFill>
                <a:ea typeface="幼圆" pitchFamily="49" charset="-122"/>
              </a:rPr>
              <a:t> </a:t>
            </a:r>
            <a:r>
              <a:rPr lang="zh-CN" altLang="en-US" sz="2400" b="1">
                <a:solidFill>
                  <a:srgbClr val="000066"/>
                </a:solidFill>
                <a:ea typeface="幼圆" pitchFamily="49" charset="-122"/>
              </a:rPr>
              <a:t>硅片</a:t>
            </a:r>
            <a:r>
              <a:rPr lang="zh-CN" altLang="en-US" sz="2800" b="1">
                <a:solidFill>
                  <a:srgbClr val="000066"/>
                </a:solidFill>
                <a:ea typeface="幼圆" pitchFamily="49" charset="-122"/>
              </a:rPr>
              <a:t/>
            </a:r>
            <a:br>
              <a:rPr lang="zh-CN" altLang="en-US" sz="2800" b="1">
                <a:solidFill>
                  <a:srgbClr val="000066"/>
                </a:solidFill>
                <a:ea typeface="幼圆" pitchFamily="49" charset="-122"/>
              </a:rPr>
            </a:br>
            <a:endParaRPr lang="zh-CN" altLang="en-US" sz="2800" b="1">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endParaRPr lang="zh-CN" altLang="en-US" sz="2800" b="1">
              <a:solidFill>
                <a:srgbClr val="000066"/>
              </a:solidFill>
              <a:ea typeface="幼圆" pitchFamily="49" charset="-122"/>
            </a:endParaRPr>
          </a:p>
          <a:p>
            <a:pPr eaLnBrk="1" hangingPunct="1">
              <a:lnSpc>
                <a:spcPct val="100000"/>
              </a:lnSpc>
              <a:spcBef>
                <a:spcPct val="0"/>
              </a:spcBef>
              <a:spcAft>
                <a:spcPct val="0"/>
              </a:spcAft>
              <a:buFont typeface="Wingdings" pitchFamily="2" charset="2"/>
              <a:buChar char="²"/>
            </a:pPr>
            <a:r>
              <a:rPr lang="zh-CN" altLang="en-US" sz="2800" b="1">
                <a:solidFill>
                  <a:srgbClr val="000066"/>
                </a:solidFill>
                <a:ea typeface="幼圆" pitchFamily="49" charset="-122"/>
              </a:rPr>
              <a:t> </a:t>
            </a:r>
            <a:r>
              <a:rPr lang="zh-CN" altLang="en-US" sz="2400" b="1">
                <a:solidFill>
                  <a:srgbClr val="000066"/>
                </a:solidFill>
                <a:ea typeface="幼圆" pitchFamily="49" charset="-122"/>
              </a:rPr>
              <a:t>铝片</a:t>
            </a:r>
          </a:p>
          <a:p>
            <a:pPr eaLnBrk="1" hangingPunct="1">
              <a:lnSpc>
                <a:spcPct val="100000"/>
              </a:lnSpc>
              <a:spcBef>
                <a:spcPct val="0"/>
              </a:spcBef>
              <a:spcAft>
                <a:spcPct val="0"/>
              </a:spcAft>
              <a:buFont typeface="Wingdings" pitchFamily="2" charset="2"/>
              <a:buChar char="²"/>
            </a:pPr>
            <a:endParaRPr lang="zh-CN" altLang="en-US" sz="2800" b="1">
              <a:solidFill>
                <a:srgbClr val="000066"/>
              </a:solidFill>
              <a:ea typeface="幼圆" pitchFamily="49" charset="-122"/>
            </a:endParaRPr>
          </a:p>
        </p:txBody>
      </p:sp>
      <p:sp>
        <p:nvSpPr>
          <p:cNvPr id="48138" name="Rectangle 165"/>
          <p:cNvSpPr>
            <a:spLocks noChangeArrowheads="1"/>
          </p:cNvSpPr>
          <p:nvPr/>
        </p:nvSpPr>
        <p:spPr bwMode="auto">
          <a:xfrm>
            <a:off x="585788" y="2571750"/>
            <a:ext cx="1485900" cy="2414588"/>
          </a:xfrm>
          <a:prstGeom prst="rect">
            <a:avLst/>
          </a:prstGeom>
          <a:noFill/>
          <a:ln w="38100" cmpd="dbl" algn="ctr">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83"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85" name="Text Box 10"/>
          <p:cNvSpPr txBox="1">
            <a:spLocks noChangeArrowheads="1"/>
          </p:cNvSpPr>
          <p:nvPr/>
        </p:nvSpPr>
        <p:spPr bwMode="auto">
          <a:xfrm>
            <a:off x="527050" y="842963"/>
            <a:ext cx="82327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ct val="0"/>
              </a:spcBef>
              <a:spcAft>
                <a:spcPct val="0"/>
              </a:spcAft>
              <a:buClr>
                <a:srgbClr val="A50021"/>
              </a:buClr>
              <a:buFont typeface="Wingdings" panose="05000000000000000000" pitchFamily="2" charset="2"/>
              <a:buChar char="n"/>
            </a:pPr>
            <a:r>
              <a:rPr kumimoji="1" lang="zh-CN" altLang="en-US" sz="2400" b="1" dirty="0" smtClean="0">
                <a:solidFill>
                  <a:srgbClr val="000066"/>
                </a:solidFill>
                <a:latin typeface="幼圆" pitchFamily="49" charset="-122"/>
                <a:ea typeface="幼圆" pitchFamily="49" charset="-122"/>
              </a:rPr>
              <a:t>黏土矿物</a:t>
            </a:r>
            <a:r>
              <a:rPr kumimoji="1" lang="zh-CN" altLang="en-US" sz="2400" b="1" dirty="0">
                <a:solidFill>
                  <a:srgbClr val="000066"/>
                </a:solidFill>
                <a:latin typeface="幼圆" pitchFamily="49" charset="-122"/>
                <a:ea typeface="幼圆" pitchFamily="49" charset="-122"/>
              </a:rPr>
              <a:t>是一种复合的铝</a:t>
            </a:r>
            <a:r>
              <a:rPr kumimoji="1" lang="en-US" altLang="zh-CN" sz="2400" b="1" dirty="0">
                <a:solidFill>
                  <a:srgbClr val="000066"/>
                </a:solidFill>
                <a:latin typeface="幼圆" pitchFamily="49" charset="-122"/>
                <a:ea typeface="幼圆" pitchFamily="49" charset="-122"/>
              </a:rPr>
              <a:t>-</a:t>
            </a:r>
            <a:r>
              <a:rPr kumimoji="1" lang="zh-CN" altLang="en-US" sz="2400" b="1" dirty="0">
                <a:solidFill>
                  <a:srgbClr val="000066"/>
                </a:solidFill>
                <a:latin typeface="幼圆" pitchFamily="49" charset="-122"/>
                <a:ea typeface="幼圆" pitchFamily="49" charset="-122"/>
              </a:rPr>
              <a:t>硅盐晶体，颗粒呈片状，是由硅片和铝片构成的晶包所组叠而</a:t>
            </a:r>
            <a:r>
              <a:rPr kumimoji="1" lang="zh-CN" altLang="en-US" sz="2400" b="1" dirty="0" smtClean="0">
                <a:solidFill>
                  <a:srgbClr val="000066"/>
                </a:solidFill>
                <a:latin typeface="幼圆" pitchFamily="49" charset="-122"/>
                <a:ea typeface="幼圆" pitchFamily="49" charset="-122"/>
              </a:rPr>
              <a:t>成。</a:t>
            </a:r>
            <a:endParaRPr kumimoji="1" lang="en-US" altLang="zh-CN" sz="2400" b="1" dirty="0">
              <a:solidFill>
                <a:srgbClr val="000066"/>
              </a:solidFill>
              <a:latin typeface="幼圆" pitchFamily="49" charset="-122"/>
              <a:ea typeface="幼圆" pitchFamily="49" charset="-122"/>
            </a:endParaRPr>
          </a:p>
        </p:txBody>
      </p:sp>
    </p:spTree>
    <p:extLst>
      <p:ext uri="{BB962C8B-B14F-4D97-AF65-F5344CB8AC3E}">
        <p14:creationId xmlns:p14="http://schemas.microsoft.com/office/powerpoint/2010/main" val="2123815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left)">
                                      <p:cBhvr>
                                        <p:cTn id="7" dur="500"/>
                                        <p:tgtEl>
                                          <p:spTgt spid="8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63031"/>
                                        </p:tgtEl>
                                        <p:attrNameLst>
                                          <p:attrName>style.visibility</p:attrName>
                                        </p:attrNameLst>
                                      </p:cBhvr>
                                      <p:to>
                                        <p:strVal val="visible"/>
                                      </p:to>
                                    </p:set>
                                    <p:animEffect transition="in" filter="wipe(left)">
                                      <p:cBhvr>
                                        <p:cTn id="11" dur="1000"/>
                                        <p:tgtEl>
                                          <p:spTgt spid="1363031"/>
                                        </p:tgtEl>
                                      </p:cBhvr>
                                    </p:animEffect>
                                  </p:childTnLst>
                                </p:cTn>
                              </p:par>
                            </p:childTnLst>
                          </p:cTn>
                        </p:par>
                        <p:par>
                          <p:cTn id="12" fill="hold" nodeType="afterGroup">
                            <p:stCondLst>
                              <p:cond delay="1500"/>
                            </p:stCondLst>
                            <p:childTnLst>
                              <p:par>
                                <p:cTn id="13" presetID="30" presetClass="entr" presetSubtype="0" fill="hold" grpId="0" nodeType="afterEffect">
                                  <p:stCondLst>
                                    <p:cond delay="0"/>
                                  </p:stCondLst>
                                  <p:childTnLst>
                                    <p:set>
                                      <p:cBhvr>
                                        <p:cTn id="14" dur="1" fill="hold">
                                          <p:stCondLst>
                                            <p:cond delay="0"/>
                                          </p:stCondLst>
                                        </p:cTn>
                                        <p:tgtEl>
                                          <p:spTgt spid="1363105"/>
                                        </p:tgtEl>
                                        <p:attrNameLst>
                                          <p:attrName>style.visibility</p:attrName>
                                        </p:attrNameLst>
                                      </p:cBhvr>
                                      <p:to>
                                        <p:strVal val="visible"/>
                                      </p:to>
                                    </p:set>
                                    <p:animEffect transition="in" filter="fade">
                                      <p:cBhvr>
                                        <p:cTn id="15" dur="800" decel="100000"/>
                                        <p:tgtEl>
                                          <p:spTgt spid="1363105"/>
                                        </p:tgtEl>
                                      </p:cBhvr>
                                    </p:animEffect>
                                    <p:anim calcmode="lin" valueType="num">
                                      <p:cBhvr>
                                        <p:cTn id="16" dur="800" decel="100000" fill="hold"/>
                                        <p:tgtEl>
                                          <p:spTgt spid="1363105"/>
                                        </p:tgtEl>
                                        <p:attrNameLst>
                                          <p:attrName>style.rotation</p:attrName>
                                        </p:attrNameLst>
                                      </p:cBhvr>
                                      <p:tavLst>
                                        <p:tav tm="0">
                                          <p:val>
                                            <p:fltVal val="-90"/>
                                          </p:val>
                                        </p:tav>
                                        <p:tav tm="100000">
                                          <p:val>
                                            <p:fltVal val="0"/>
                                          </p:val>
                                        </p:tav>
                                      </p:tavLst>
                                    </p:anim>
                                    <p:anim calcmode="lin" valueType="num">
                                      <p:cBhvr>
                                        <p:cTn id="17" dur="800" decel="100000" fill="hold"/>
                                        <p:tgtEl>
                                          <p:spTgt spid="1363105"/>
                                        </p:tgtEl>
                                        <p:attrNameLst>
                                          <p:attrName>ppt_x</p:attrName>
                                        </p:attrNameLst>
                                      </p:cBhvr>
                                      <p:tavLst>
                                        <p:tav tm="0">
                                          <p:val>
                                            <p:strVal val="#ppt_x+0.4"/>
                                          </p:val>
                                        </p:tav>
                                        <p:tav tm="100000">
                                          <p:val>
                                            <p:strVal val="#ppt_x-0.05"/>
                                          </p:val>
                                        </p:tav>
                                      </p:tavLst>
                                    </p:anim>
                                    <p:anim calcmode="lin" valueType="num">
                                      <p:cBhvr>
                                        <p:cTn id="18" dur="800" decel="100000" fill="hold"/>
                                        <p:tgtEl>
                                          <p:spTgt spid="1363105"/>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1363105"/>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1363105"/>
                                        </p:tgtEl>
                                        <p:attrNameLst>
                                          <p:attrName>ppt_y</p:attrName>
                                        </p:attrNameLst>
                                      </p:cBhvr>
                                      <p:tavLst>
                                        <p:tav tm="0">
                                          <p:val>
                                            <p:strVal val="#ppt_y+0.1"/>
                                          </p:val>
                                        </p:tav>
                                        <p:tav tm="100000">
                                          <p:val>
                                            <p:strVal val="#ppt_y"/>
                                          </p:val>
                                        </p:tav>
                                      </p:tavLst>
                                    </p:anim>
                                  </p:childTnLst>
                                </p:cTn>
                              </p:par>
                            </p:childTnLst>
                          </p:cTn>
                        </p:par>
                        <p:par>
                          <p:cTn id="21" fill="hold" nodeType="afterGroup">
                            <p:stCondLst>
                              <p:cond delay="2500"/>
                            </p:stCondLst>
                            <p:childTnLst>
                              <p:par>
                                <p:cTn id="22" presetID="2" presetClass="entr" presetSubtype="2"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1000" fill="hold"/>
                                        <p:tgtEl>
                                          <p:spTgt spid="2"/>
                                        </p:tgtEl>
                                        <p:attrNameLst>
                                          <p:attrName>ppt_x</p:attrName>
                                        </p:attrNameLst>
                                      </p:cBhvr>
                                      <p:tavLst>
                                        <p:tav tm="0">
                                          <p:val>
                                            <p:strVal val="1+#ppt_w/2"/>
                                          </p:val>
                                        </p:tav>
                                        <p:tav tm="100000">
                                          <p:val>
                                            <p:strVal val="#ppt_x"/>
                                          </p:val>
                                        </p:tav>
                                      </p:tavLst>
                                    </p:anim>
                                    <p:anim calcmode="lin" valueType="num">
                                      <p:cBhvr additive="base">
                                        <p:cTn id="25"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1363105" grpId="0" animBg="1"/>
      <p:bldP spid="136303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4"/>
          <p:cNvSpPr>
            <a:spLocks noChangeArrowheads="1"/>
          </p:cNvSpPr>
          <p:nvPr/>
        </p:nvSpPr>
        <p:spPr bwMode="auto">
          <a:xfrm>
            <a:off x="763203" y="2953870"/>
            <a:ext cx="1660819" cy="484684"/>
          </a:xfrm>
          <a:prstGeom prst="rect">
            <a:avLst/>
          </a:prstGeom>
          <a:solidFill>
            <a:schemeClr val="accent6">
              <a:lumMod val="60000"/>
              <a:lumOff val="40000"/>
            </a:schemeClr>
          </a:solidFill>
          <a:ln>
            <a:noFill/>
          </a:ln>
        </p:spPr>
        <p:txBody>
          <a:bodyPr wrap="none" anchor="ctr"/>
          <a:lstStyle/>
          <a:p>
            <a:endParaRPr lang="zh-CN" altLang="en-US"/>
          </a:p>
        </p:txBody>
      </p:sp>
      <p:sp>
        <p:nvSpPr>
          <p:cNvPr id="1364066" name="Rectangle 98"/>
          <p:cNvSpPr>
            <a:spLocks noChangeArrowheads="1"/>
          </p:cNvSpPr>
          <p:nvPr/>
        </p:nvSpPr>
        <p:spPr bwMode="auto">
          <a:xfrm>
            <a:off x="3613935" y="794877"/>
            <a:ext cx="5176382" cy="1909763"/>
          </a:xfrm>
          <a:prstGeom prst="rect">
            <a:avLst/>
          </a:prstGeom>
          <a:solidFill>
            <a:srgbClr val="3333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nchor="ctr">
            <a:spAutoFit/>
          </a:bodyPr>
          <a:lstStyle/>
          <a:p>
            <a:endParaRPr lang="zh-CN" altLang="en-US"/>
          </a:p>
        </p:txBody>
      </p:sp>
      <p:sp>
        <p:nvSpPr>
          <p:cNvPr id="1364040" name="Text Box 72"/>
          <p:cNvSpPr txBox="1">
            <a:spLocks noChangeArrowheads="1"/>
          </p:cNvSpPr>
          <p:nvPr/>
        </p:nvSpPr>
        <p:spPr bwMode="auto">
          <a:xfrm>
            <a:off x="3183147" y="2842668"/>
            <a:ext cx="5736566"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4638" indent="-2746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ct val="10000"/>
              </a:spcBef>
              <a:spcAft>
                <a:spcPct val="10000"/>
              </a:spcAft>
              <a:buClr>
                <a:srgbClr val="A50021"/>
              </a:buClr>
              <a:buSzPct val="130000"/>
              <a:buFontTx/>
              <a:buChar char="•"/>
            </a:pPr>
            <a:r>
              <a:rPr lang="zh-CN" altLang="en-US" sz="2400" b="1" spc="-140" dirty="0">
                <a:solidFill>
                  <a:srgbClr val="000066"/>
                </a:solidFill>
                <a:ea typeface="幼圆" pitchFamily="49" charset="-122"/>
              </a:rPr>
              <a:t>晶层间通过氢键联结，联结力强，晶格不能自由活动，水难以进入晶格间</a:t>
            </a:r>
          </a:p>
          <a:p>
            <a:pPr eaLnBrk="1" hangingPunct="1">
              <a:lnSpc>
                <a:spcPct val="110000"/>
              </a:lnSpc>
              <a:spcBef>
                <a:spcPct val="10000"/>
              </a:spcBef>
              <a:spcAft>
                <a:spcPct val="10000"/>
              </a:spcAft>
              <a:buClr>
                <a:srgbClr val="A50021"/>
              </a:buClr>
              <a:buSzPct val="130000"/>
              <a:buFontTx/>
              <a:buChar char="•"/>
            </a:pPr>
            <a:r>
              <a:rPr lang="zh-CN" altLang="en-US" sz="2400" b="1" spc="-140" dirty="0">
                <a:solidFill>
                  <a:srgbClr val="000066"/>
                </a:solidFill>
                <a:ea typeface="幼圆" pitchFamily="49" charset="-122"/>
              </a:rPr>
              <a:t>能组叠很多晶层，多达百个以上，成为一个颗粒。颗粒长宽约</a:t>
            </a:r>
            <a:r>
              <a:rPr lang="en-US" altLang="zh-CN" sz="2400" b="1" spc="-140" dirty="0">
                <a:solidFill>
                  <a:srgbClr val="000066"/>
                </a:solidFill>
              </a:rPr>
              <a:t>0.3-3</a:t>
            </a:r>
            <a:r>
              <a:rPr lang="en-US" altLang="zh-CN" sz="2400" b="1" spc="-140" dirty="0">
                <a:solidFill>
                  <a:srgbClr val="000066"/>
                </a:solidFill>
                <a:sym typeface="Symbol" pitchFamily="18" charset="2"/>
              </a:rPr>
              <a:t></a:t>
            </a:r>
            <a:r>
              <a:rPr lang="zh-CN" altLang="en-US" sz="2400" b="1" spc="-140" dirty="0">
                <a:solidFill>
                  <a:srgbClr val="000066"/>
                </a:solidFill>
                <a:sym typeface="Symbol" pitchFamily="18" charset="2"/>
              </a:rPr>
              <a:t>，</a:t>
            </a:r>
            <a:r>
              <a:rPr lang="zh-CN" altLang="en-US" sz="2400" b="1" spc="-140" dirty="0">
                <a:solidFill>
                  <a:srgbClr val="000066"/>
                </a:solidFill>
                <a:ea typeface="幼圆" pitchFamily="49" charset="-122"/>
              </a:rPr>
              <a:t>厚约</a:t>
            </a:r>
            <a:r>
              <a:rPr lang="en-US" altLang="zh-CN" sz="2400" b="1" spc="-140" dirty="0">
                <a:solidFill>
                  <a:srgbClr val="000066"/>
                </a:solidFill>
              </a:rPr>
              <a:t>0.03-1</a:t>
            </a:r>
            <a:r>
              <a:rPr lang="en-US" altLang="zh-CN" sz="2400" b="1" spc="-140" dirty="0" smtClean="0">
                <a:solidFill>
                  <a:srgbClr val="000066"/>
                </a:solidFill>
                <a:sym typeface="Symbol" pitchFamily="18" charset="2"/>
              </a:rPr>
              <a:t></a:t>
            </a:r>
            <a:endParaRPr lang="zh-CN" altLang="en-US" sz="2400" b="1" spc="-140" dirty="0">
              <a:solidFill>
                <a:srgbClr val="000066"/>
              </a:solidFill>
            </a:endParaRPr>
          </a:p>
          <a:p>
            <a:pPr eaLnBrk="1" hangingPunct="1">
              <a:lnSpc>
                <a:spcPct val="110000"/>
              </a:lnSpc>
              <a:spcBef>
                <a:spcPct val="10000"/>
              </a:spcBef>
              <a:spcAft>
                <a:spcPct val="10000"/>
              </a:spcAft>
              <a:buClr>
                <a:srgbClr val="A50021"/>
              </a:buClr>
              <a:buSzPct val="130000"/>
              <a:buFontTx/>
              <a:buChar char="•"/>
            </a:pPr>
            <a:r>
              <a:rPr lang="zh-CN" altLang="en-US" sz="2400" b="1" spc="-140" dirty="0">
                <a:solidFill>
                  <a:srgbClr val="000066"/>
                </a:solidFill>
                <a:ea typeface="幼圆" pitchFamily="49" charset="-122"/>
              </a:rPr>
              <a:t>主要特征：颗粒较粗，不容易吸水膨胀和失水收缩，或者说亲水能力</a:t>
            </a:r>
            <a:r>
              <a:rPr lang="zh-CN" altLang="en-US" sz="2400" b="1" spc="-140" dirty="0" smtClean="0">
                <a:solidFill>
                  <a:srgbClr val="000066"/>
                </a:solidFill>
                <a:ea typeface="幼圆" pitchFamily="49" charset="-122"/>
              </a:rPr>
              <a:t>差</a:t>
            </a:r>
            <a:endParaRPr lang="zh-CN" altLang="en-US" sz="2400" b="1" spc="-140" dirty="0">
              <a:solidFill>
                <a:srgbClr val="000066"/>
              </a:solidFill>
              <a:ea typeface="幼圆" pitchFamily="49" charset="-122"/>
            </a:endParaRPr>
          </a:p>
        </p:txBody>
      </p:sp>
      <p:sp>
        <p:nvSpPr>
          <p:cNvPr id="49157" name="Text Box 6"/>
          <p:cNvSpPr txBox="1">
            <a:spLocks noChangeArrowheads="1"/>
          </p:cNvSpPr>
          <p:nvPr/>
        </p:nvSpPr>
        <p:spPr bwMode="auto">
          <a:xfrm>
            <a:off x="3114706" y="5646198"/>
            <a:ext cx="3360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黏 </a:t>
            </a:r>
            <a:r>
              <a:rPr kumimoji="1" lang="zh-CN" altLang="en-US" sz="4000" b="1" dirty="0">
                <a:solidFill>
                  <a:srgbClr val="000066"/>
                </a:solidFill>
                <a:latin typeface="黑体" pitchFamily="2" charset="-122"/>
                <a:ea typeface="黑体" pitchFamily="2" charset="-122"/>
              </a:rPr>
              <a:t>土 矿 物</a:t>
            </a:r>
          </a:p>
        </p:txBody>
      </p:sp>
      <p:sp>
        <p:nvSpPr>
          <p:cNvPr id="49158" name="Text Box 7"/>
          <p:cNvSpPr txBox="1">
            <a:spLocks noChangeArrowheads="1"/>
          </p:cNvSpPr>
          <p:nvPr/>
        </p:nvSpPr>
        <p:spPr bwMode="auto">
          <a:xfrm>
            <a:off x="411163" y="735013"/>
            <a:ext cx="286067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kumimoji="1" lang="zh-CN" altLang="en-US" sz="2400" b="1" dirty="0">
                <a:solidFill>
                  <a:srgbClr val="000066"/>
                </a:solidFill>
                <a:latin typeface="幼圆" pitchFamily="49" charset="-122"/>
                <a:ea typeface="幼圆" pitchFamily="49" charset="-122"/>
              </a:rPr>
              <a:t>依硅片和铝片组叠形式的不同，可分成如下三种类型：</a:t>
            </a:r>
            <a:endParaRPr kumimoji="1" lang="en-US" altLang="zh-CN" sz="2400" b="1" dirty="0">
              <a:solidFill>
                <a:srgbClr val="000066"/>
              </a:solidFill>
              <a:latin typeface="幼圆" pitchFamily="49" charset="-122"/>
              <a:ea typeface="幼圆" pitchFamily="49" charset="-122"/>
            </a:endParaRPr>
          </a:p>
        </p:txBody>
      </p:sp>
      <p:sp>
        <p:nvSpPr>
          <p:cNvPr id="49159" name="Text Box 8"/>
          <p:cNvSpPr txBox="1">
            <a:spLocks noChangeArrowheads="1"/>
          </p:cNvSpPr>
          <p:nvPr/>
        </p:nvSpPr>
        <p:spPr bwMode="auto">
          <a:xfrm>
            <a:off x="785813" y="2860675"/>
            <a:ext cx="1589087"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45000"/>
              </a:lnSpc>
              <a:buFont typeface="Wingdings" pitchFamily="2" charset="2"/>
              <a:buChar char="²"/>
            </a:pPr>
            <a:r>
              <a:rPr kumimoji="1" lang="zh-CN" altLang="en-US" sz="2400" b="1" dirty="0">
                <a:solidFill>
                  <a:srgbClr val="000066"/>
                </a:solidFill>
                <a:latin typeface="幼圆" pitchFamily="49" charset="-122"/>
                <a:ea typeface="幼圆" pitchFamily="49" charset="-122"/>
              </a:rPr>
              <a:t> 高岭石</a:t>
            </a:r>
          </a:p>
          <a:p>
            <a:pPr eaLnBrk="1" hangingPunct="1">
              <a:lnSpc>
                <a:spcPct val="145000"/>
              </a:lnSpc>
              <a:buFont typeface="Wingdings" pitchFamily="2" charset="2"/>
              <a:buChar char="²"/>
            </a:pPr>
            <a:r>
              <a:rPr kumimoji="1" lang="zh-CN" altLang="en-US" sz="2400" b="1" dirty="0">
                <a:solidFill>
                  <a:srgbClr val="000066"/>
                </a:solidFill>
                <a:latin typeface="幼圆" pitchFamily="49" charset="-122"/>
                <a:ea typeface="幼圆" pitchFamily="49" charset="-122"/>
              </a:rPr>
              <a:t> 蒙特石</a:t>
            </a:r>
          </a:p>
          <a:p>
            <a:pPr eaLnBrk="1" hangingPunct="1">
              <a:lnSpc>
                <a:spcPct val="145000"/>
              </a:lnSpc>
              <a:buFont typeface="Wingdings" pitchFamily="2" charset="2"/>
              <a:buChar char="²"/>
            </a:pPr>
            <a:r>
              <a:rPr kumimoji="1" lang="zh-CN" altLang="en-US" sz="2400" b="1" dirty="0">
                <a:solidFill>
                  <a:srgbClr val="000066"/>
                </a:solidFill>
                <a:latin typeface="幼圆" pitchFamily="49" charset="-122"/>
                <a:ea typeface="幼圆" pitchFamily="49" charset="-122"/>
              </a:rPr>
              <a:t> 伊利石</a:t>
            </a:r>
          </a:p>
        </p:txBody>
      </p:sp>
      <p:sp>
        <p:nvSpPr>
          <p:cNvPr id="1364039" name="AutoShape 71"/>
          <p:cNvSpPr>
            <a:spLocks noChangeArrowheads="1"/>
          </p:cNvSpPr>
          <p:nvPr/>
        </p:nvSpPr>
        <p:spPr bwMode="auto">
          <a:xfrm>
            <a:off x="2641600" y="2974975"/>
            <a:ext cx="400050" cy="430213"/>
          </a:xfrm>
          <a:prstGeom prst="homePlate">
            <a:avLst>
              <a:gd name="adj" fmla="val 25000"/>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grpSp>
        <p:nvGrpSpPr>
          <p:cNvPr id="2" name="Group 73"/>
          <p:cNvGrpSpPr>
            <a:grpSpLocks/>
          </p:cNvGrpSpPr>
          <p:nvPr/>
        </p:nvGrpSpPr>
        <p:grpSpPr bwMode="auto">
          <a:xfrm>
            <a:off x="3838843" y="983790"/>
            <a:ext cx="4656137" cy="1457325"/>
            <a:chOff x="2391" y="473"/>
            <a:chExt cx="2933" cy="918"/>
          </a:xfrm>
        </p:grpSpPr>
        <p:grpSp>
          <p:nvGrpSpPr>
            <p:cNvPr id="49164" name="Group 74"/>
            <p:cNvGrpSpPr>
              <a:grpSpLocks/>
            </p:cNvGrpSpPr>
            <p:nvPr/>
          </p:nvGrpSpPr>
          <p:grpSpPr bwMode="auto">
            <a:xfrm>
              <a:off x="3073" y="914"/>
              <a:ext cx="743" cy="411"/>
              <a:chOff x="2810" y="1007"/>
              <a:chExt cx="743" cy="411"/>
            </a:xfrm>
          </p:grpSpPr>
          <p:grpSp>
            <p:nvGrpSpPr>
              <p:cNvPr id="49181" name="Group 75"/>
              <p:cNvGrpSpPr>
                <a:grpSpLocks/>
              </p:cNvGrpSpPr>
              <p:nvPr/>
            </p:nvGrpSpPr>
            <p:grpSpPr bwMode="auto">
              <a:xfrm>
                <a:off x="2810" y="1204"/>
                <a:ext cx="743" cy="214"/>
                <a:chOff x="4057" y="2516"/>
                <a:chExt cx="743" cy="214"/>
              </a:xfrm>
            </p:grpSpPr>
            <p:sp>
              <p:nvSpPr>
                <p:cNvPr id="49185" name="AutoShape 76"/>
                <p:cNvSpPr>
                  <a:spLocks noChangeArrowheads="1"/>
                </p:cNvSpPr>
                <p:nvPr/>
              </p:nvSpPr>
              <p:spPr bwMode="auto">
                <a:xfrm flipV="1">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49186" name="Text Box 77"/>
                <p:cNvSpPr txBox="1">
                  <a:spLocks noChangeArrowheads="1"/>
                </p:cNvSpPr>
                <p:nvPr/>
              </p:nvSpPr>
              <p:spPr bwMode="auto">
                <a:xfrm>
                  <a:off x="4166" y="2518"/>
                  <a:ext cx="5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Si       Si</a:t>
                  </a:r>
                </a:p>
              </p:txBody>
            </p:sp>
          </p:grpSp>
          <p:grpSp>
            <p:nvGrpSpPr>
              <p:cNvPr id="49182" name="Group 78"/>
              <p:cNvGrpSpPr>
                <a:grpSpLocks/>
              </p:cNvGrpSpPr>
              <p:nvPr/>
            </p:nvGrpSpPr>
            <p:grpSpPr bwMode="auto">
              <a:xfrm>
                <a:off x="2925" y="1007"/>
                <a:ext cx="500" cy="212"/>
                <a:chOff x="4741" y="1561"/>
                <a:chExt cx="500" cy="212"/>
              </a:xfrm>
            </p:grpSpPr>
            <p:sp>
              <p:nvSpPr>
                <p:cNvPr id="49183" name="Rectangle 79"/>
                <p:cNvSpPr>
                  <a:spLocks noChangeArrowheads="1"/>
                </p:cNvSpPr>
                <p:nvPr/>
              </p:nvSpPr>
              <p:spPr bwMode="auto">
                <a:xfrm>
                  <a:off x="4775" y="1567"/>
                  <a:ext cx="454" cy="185"/>
                </a:xfrm>
                <a:prstGeom prst="rect">
                  <a:avLst/>
                </a:prstGeom>
                <a:solidFill>
                  <a:srgbClr val="FFCCFF"/>
                </a:solidFill>
                <a:ln w="12700">
                  <a:solidFill>
                    <a:schemeClr val="bg1"/>
                  </a:solidFill>
                  <a:miter lim="800000"/>
                  <a:headEnd/>
                  <a:tailEnd/>
                </a:ln>
              </p:spPr>
              <p:txBody>
                <a:bodyPr wrap="none" anchor="ctr"/>
                <a:lstStyle/>
                <a:p>
                  <a:endParaRPr lang="zh-CN" altLang="en-US"/>
                </a:p>
              </p:txBody>
            </p:sp>
            <p:sp>
              <p:nvSpPr>
                <p:cNvPr id="49184" name="Text Box 80"/>
                <p:cNvSpPr txBox="1">
                  <a:spLocks noChangeArrowheads="1"/>
                </p:cNvSpPr>
                <p:nvPr/>
              </p:nvSpPr>
              <p:spPr bwMode="auto">
                <a:xfrm>
                  <a:off x="4741" y="1561"/>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Al    Al</a:t>
                  </a:r>
                </a:p>
              </p:txBody>
            </p:sp>
          </p:grpSp>
        </p:grpSp>
        <p:grpSp>
          <p:nvGrpSpPr>
            <p:cNvPr id="49165" name="Group 81"/>
            <p:cNvGrpSpPr>
              <a:grpSpLocks/>
            </p:cNvGrpSpPr>
            <p:nvPr/>
          </p:nvGrpSpPr>
          <p:grpSpPr bwMode="auto">
            <a:xfrm>
              <a:off x="4571" y="498"/>
              <a:ext cx="753" cy="893"/>
              <a:chOff x="4322" y="660"/>
              <a:chExt cx="753" cy="893"/>
            </a:xfrm>
          </p:grpSpPr>
          <p:grpSp>
            <p:nvGrpSpPr>
              <p:cNvPr id="49168" name="Group 82"/>
              <p:cNvGrpSpPr>
                <a:grpSpLocks/>
              </p:cNvGrpSpPr>
              <p:nvPr/>
            </p:nvGrpSpPr>
            <p:grpSpPr bwMode="auto">
              <a:xfrm>
                <a:off x="4332" y="1339"/>
                <a:ext cx="743" cy="214"/>
                <a:chOff x="4057" y="2516"/>
                <a:chExt cx="743" cy="214"/>
              </a:xfrm>
            </p:grpSpPr>
            <p:sp>
              <p:nvSpPr>
                <p:cNvPr id="49179" name="AutoShape 83"/>
                <p:cNvSpPr>
                  <a:spLocks noChangeArrowheads="1"/>
                </p:cNvSpPr>
                <p:nvPr/>
              </p:nvSpPr>
              <p:spPr bwMode="auto">
                <a:xfrm flipV="1">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49180" name="Text Box 84"/>
                <p:cNvSpPr txBox="1">
                  <a:spLocks noChangeArrowheads="1"/>
                </p:cNvSpPr>
                <p:nvPr/>
              </p:nvSpPr>
              <p:spPr bwMode="auto">
                <a:xfrm>
                  <a:off x="4166" y="2518"/>
                  <a:ext cx="5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dirty="0">
                      <a:solidFill>
                        <a:srgbClr val="000066"/>
                      </a:solidFill>
                    </a:rPr>
                    <a:t>Si       </a:t>
                  </a:r>
                  <a:r>
                    <a:rPr lang="en-US" altLang="zh-CN" sz="1600" dirty="0" err="1">
                      <a:solidFill>
                        <a:srgbClr val="000066"/>
                      </a:solidFill>
                    </a:rPr>
                    <a:t>Si</a:t>
                  </a:r>
                  <a:endParaRPr lang="en-US" altLang="zh-CN" sz="1600" dirty="0">
                    <a:solidFill>
                      <a:srgbClr val="000066"/>
                    </a:solidFill>
                  </a:endParaRPr>
                </a:p>
              </p:txBody>
            </p:sp>
          </p:grpSp>
          <p:grpSp>
            <p:nvGrpSpPr>
              <p:cNvPr id="49169" name="Group 85"/>
              <p:cNvGrpSpPr>
                <a:grpSpLocks/>
              </p:cNvGrpSpPr>
              <p:nvPr/>
            </p:nvGrpSpPr>
            <p:grpSpPr bwMode="auto">
              <a:xfrm>
                <a:off x="4443" y="1142"/>
                <a:ext cx="500" cy="212"/>
                <a:chOff x="4741" y="1561"/>
                <a:chExt cx="500" cy="212"/>
              </a:xfrm>
            </p:grpSpPr>
            <p:sp>
              <p:nvSpPr>
                <p:cNvPr id="49177" name="Rectangle 86"/>
                <p:cNvSpPr>
                  <a:spLocks noChangeArrowheads="1"/>
                </p:cNvSpPr>
                <p:nvPr/>
              </p:nvSpPr>
              <p:spPr bwMode="auto">
                <a:xfrm>
                  <a:off x="4775" y="1567"/>
                  <a:ext cx="454" cy="185"/>
                </a:xfrm>
                <a:prstGeom prst="rect">
                  <a:avLst/>
                </a:prstGeom>
                <a:solidFill>
                  <a:srgbClr val="FFCCFF"/>
                </a:solidFill>
                <a:ln w="12700">
                  <a:solidFill>
                    <a:schemeClr val="bg1"/>
                  </a:solidFill>
                  <a:miter lim="800000"/>
                  <a:headEnd/>
                  <a:tailEnd/>
                </a:ln>
              </p:spPr>
              <p:txBody>
                <a:bodyPr wrap="none" anchor="ctr"/>
                <a:lstStyle/>
                <a:p>
                  <a:endParaRPr lang="zh-CN" altLang="en-US"/>
                </a:p>
              </p:txBody>
            </p:sp>
            <p:sp>
              <p:nvSpPr>
                <p:cNvPr id="49178" name="Text Box 87"/>
                <p:cNvSpPr txBox="1">
                  <a:spLocks noChangeArrowheads="1"/>
                </p:cNvSpPr>
                <p:nvPr/>
              </p:nvSpPr>
              <p:spPr bwMode="auto">
                <a:xfrm>
                  <a:off x="4741" y="1561"/>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Al    Al</a:t>
                  </a:r>
                </a:p>
              </p:txBody>
            </p:sp>
          </p:grpSp>
          <p:grpSp>
            <p:nvGrpSpPr>
              <p:cNvPr id="49170" name="Group 88"/>
              <p:cNvGrpSpPr>
                <a:grpSpLocks/>
              </p:cNvGrpSpPr>
              <p:nvPr/>
            </p:nvGrpSpPr>
            <p:grpSpPr bwMode="auto">
              <a:xfrm>
                <a:off x="4329" y="949"/>
                <a:ext cx="743" cy="214"/>
                <a:chOff x="4057" y="2516"/>
                <a:chExt cx="743" cy="214"/>
              </a:xfrm>
            </p:grpSpPr>
            <p:sp>
              <p:nvSpPr>
                <p:cNvPr id="49175" name="AutoShape 89"/>
                <p:cNvSpPr>
                  <a:spLocks noChangeArrowheads="1"/>
                </p:cNvSpPr>
                <p:nvPr/>
              </p:nvSpPr>
              <p:spPr bwMode="auto">
                <a:xfrm flipV="1">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49176" name="Text Box 90"/>
                <p:cNvSpPr txBox="1">
                  <a:spLocks noChangeArrowheads="1"/>
                </p:cNvSpPr>
                <p:nvPr/>
              </p:nvSpPr>
              <p:spPr bwMode="auto">
                <a:xfrm>
                  <a:off x="4166" y="2518"/>
                  <a:ext cx="5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Si       Si</a:t>
                  </a:r>
                </a:p>
              </p:txBody>
            </p:sp>
          </p:grpSp>
          <p:grpSp>
            <p:nvGrpSpPr>
              <p:cNvPr id="49171" name="Group 91"/>
              <p:cNvGrpSpPr>
                <a:grpSpLocks/>
              </p:cNvGrpSpPr>
              <p:nvPr/>
            </p:nvGrpSpPr>
            <p:grpSpPr bwMode="auto">
              <a:xfrm>
                <a:off x="4440" y="756"/>
                <a:ext cx="500" cy="212"/>
                <a:chOff x="4741" y="1561"/>
                <a:chExt cx="500" cy="212"/>
              </a:xfrm>
            </p:grpSpPr>
            <p:sp>
              <p:nvSpPr>
                <p:cNvPr id="49173" name="Rectangle 92"/>
                <p:cNvSpPr>
                  <a:spLocks noChangeArrowheads="1"/>
                </p:cNvSpPr>
                <p:nvPr/>
              </p:nvSpPr>
              <p:spPr bwMode="auto">
                <a:xfrm>
                  <a:off x="4775" y="1567"/>
                  <a:ext cx="454" cy="185"/>
                </a:xfrm>
                <a:prstGeom prst="rect">
                  <a:avLst/>
                </a:prstGeom>
                <a:solidFill>
                  <a:srgbClr val="FFCCFF"/>
                </a:solidFill>
                <a:ln w="12700">
                  <a:solidFill>
                    <a:schemeClr val="bg1"/>
                  </a:solidFill>
                  <a:miter lim="800000"/>
                  <a:headEnd/>
                  <a:tailEnd/>
                </a:ln>
              </p:spPr>
              <p:txBody>
                <a:bodyPr wrap="none" anchor="ctr"/>
                <a:lstStyle/>
                <a:p>
                  <a:endParaRPr lang="zh-CN" altLang="en-US"/>
                </a:p>
              </p:txBody>
            </p:sp>
            <p:sp>
              <p:nvSpPr>
                <p:cNvPr id="49174" name="Text Box 93"/>
                <p:cNvSpPr txBox="1">
                  <a:spLocks noChangeArrowheads="1"/>
                </p:cNvSpPr>
                <p:nvPr/>
              </p:nvSpPr>
              <p:spPr bwMode="auto">
                <a:xfrm>
                  <a:off x="4741" y="1561"/>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Al    Al</a:t>
                  </a:r>
                </a:p>
              </p:txBody>
            </p:sp>
          </p:grpSp>
          <p:sp>
            <p:nvSpPr>
              <p:cNvPr id="49172" name="Freeform 94"/>
              <p:cNvSpPr>
                <a:spLocks/>
              </p:cNvSpPr>
              <p:nvPr/>
            </p:nvSpPr>
            <p:spPr bwMode="auto">
              <a:xfrm>
                <a:off x="4322" y="660"/>
                <a:ext cx="747" cy="98"/>
              </a:xfrm>
              <a:custGeom>
                <a:avLst/>
                <a:gdLst>
                  <a:gd name="T0" fmla="*/ 75 w 747"/>
                  <a:gd name="T1" fmla="*/ 4 h 98"/>
                  <a:gd name="T2" fmla="*/ 0 w 747"/>
                  <a:gd name="T3" fmla="*/ 98 h 98"/>
                  <a:gd name="T4" fmla="*/ 747 w 747"/>
                  <a:gd name="T5" fmla="*/ 98 h 98"/>
                  <a:gd name="T6" fmla="*/ 677 w 747"/>
                  <a:gd name="T7" fmla="*/ 9 h 98"/>
                  <a:gd name="T8" fmla="*/ 641 w 747"/>
                  <a:gd name="T9" fmla="*/ 12 h 98"/>
                  <a:gd name="T10" fmla="*/ 605 w 747"/>
                  <a:gd name="T11" fmla="*/ 4 h 98"/>
                  <a:gd name="T12" fmla="*/ 579 w 747"/>
                  <a:gd name="T13" fmla="*/ 7 h 98"/>
                  <a:gd name="T14" fmla="*/ 528 w 747"/>
                  <a:gd name="T15" fmla="*/ 7 h 98"/>
                  <a:gd name="T16" fmla="*/ 499 w 747"/>
                  <a:gd name="T17" fmla="*/ 0 h 98"/>
                  <a:gd name="T18" fmla="*/ 461 w 747"/>
                  <a:gd name="T19" fmla="*/ 9 h 98"/>
                  <a:gd name="T20" fmla="*/ 425 w 747"/>
                  <a:gd name="T21" fmla="*/ 12 h 98"/>
                  <a:gd name="T22" fmla="*/ 384 w 747"/>
                  <a:gd name="T23" fmla="*/ 7 h 98"/>
                  <a:gd name="T24" fmla="*/ 348 w 747"/>
                  <a:gd name="T25" fmla="*/ 2 h 98"/>
                  <a:gd name="T26" fmla="*/ 329 w 747"/>
                  <a:gd name="T27" fmla="*/ 9 h 98"/>
                  <a:gd name="T28" fmla="*/ 288 w 747"/>
                  <a:gd name="T29" fmla="*/ 9 h 98"/>
                  <a:gd name="T30" fmla="*/ 259 w 747"/>
                  <a:gd name="T31" fmla="*/ 4 h 98"/>
                  <a:gd name="T32" fmla="*/ 211 w 747"/>
                  <a:gd name="T33" fmla="*/ 9 h 98"/>
                  <a:gd name="T34" fmla="*/ 147 w 747"/>
                  <a:gd name="T35" fmla="*/ 12 h 98"/>
                  <a:gd name="T36" fmla="*/ 111 w 747"/>
                  <a:gd name="T37" fmla="*/ 7 h 98"/>
                  <a:gd name="T38" fmla="*/ 75 w 747"/>
                  <a:gd name="T39" fmla="*/ 4 h 9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47"/>
                  <a:gd name="T61" fmla="*/ 0 h 98"/>
                  <a:gd name="T62" fmla="*/ 747 w 747"/>
                  <a:gd name="T63" fmla="*/ 98 h 9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47" h="98">
                    <a:moveTo>
                      <a:pt x="75" y="4"/>
                    </a:moveTo>
                    <a:lnTo>
                      <a:pt x="0" y="98"/>
                    </a:lnTo>
                    <a:lnTo>
                      <a:pt x="747" y="98"/>
                    </a:lnTo>
                    <a:lnTo>
                      <a:pt x="677" y="9"/>
                    </a:lnTo>
                    <a:lnTo>
                      <a:pt x="641" y="12"/>
                    </a:lnTo>
                    <a:lnTo>
                      <a:pt x="605" y="4"/>
                    </a:lnTo>
                    <a:lnTo>
                      <a:pt x="579" y="7"/>
                    </a:lnTo>
                    <a:lnTo>
                      <a:pt x="528" y="7"/>
                    </a:lnTo>
                    <a:lnTo>
                      <a:pt x="499" y="0"/>
                    </a:lnTo>
                    <a:lnTo>
                      <a:pt x="461" y="9"/>
                    </a:lnTo>
                    <a:lnTo>
                      <a:pt x="425" y="12"/>
                    </a:lnTo>
                    <a:lnTo>
                      <a:pt x="384" y="7"/>
                    </a:lnTo>
                    <a:lnTo>
                      <a:pt x="348" y="2"/>
                    </a:lnTo>
                    <a:lnTo>
                      <a:pt x="329" y="9"/>
                    </a:lnTo>
                    <a:lnTo>
                      <a:pt x="288" y="9"/>
                    </a:lnTo>
                    <a:lnTo>
                      <a:pt x="259" y="4"/>
                    </a:lnTo>
                    <a:lnTo>
                      <a:pt x="211" y="9"/>
                    </a:lnTo>
                    <a:lnTo>
                      <a:pt x="147" y="12"/>
                    </a:lnTo>
                    <a:lnTo>
                      <a:pt x="111" y="7"/>
                    </a:lnTo>
                    <a:lnTo>
                      <a:pt x="75" y="4"/>
                    </a:lnTo>
                    <a:close/>
                  </a:path>
                </a:pathLst>
              </a:custGeom>
              <a:solidFill>
                <a:srgbClr val="CCCCFF"/>
              </a:solidFill>
              <a:ln w="19050">
                <a:solidFill>
                  <a:schemeClr val="bg1"/>
                </a:solidFill>
                <a:round/>
                <a:headEnd/>
                <a:tailEnd/>
              </a:ln>
            </p:spPr>
            <p:txBody>
              <a:bodyPr/>
              <a:lstStyle/>
              <a:p>
                <a:endParaRPr lang="zh-CN" altLang="en-US"/>
              </a:p>
            </p:txBody>
          </p:sp>
        </p:grpSp>
        <p:sp>
          <p:nvSpPr>
            <p:cNvPr id="49166" name="Text Box 95"/>
            <p:cNvSpPr txBox="1">
              <a:spLocks noChangeArrowheads="1"/>
            </p:cNvSpPr>
            <p:nvPr/>
          </p:nvSpPr>
          <p:spPr bwMode="auto">
            <a:xfrm>
              <a:off x="3819" y="508"/>
              <a:ext cx="6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lang="zh-CN" altLang="en-US" sz="2200" b="1">
                  <a:solidFill>
                    <a:schemeClr val="bg1"/>
                  </a:solidFill>
                  <a:ea typeface="幼圆" pitchFamily="49" charset="-122"/>
                </a:rPr>
                <a:t>高岭</a:t>
              </a:r>
            </a:p>
            <a:p>
              <a:pPr algn="ctr" eaLnBrk="1" hangingPunct="1">
                <a:lnSpc>
                  <a:spcPct val="100000"/>
                </a:lnSpc>
                <a:spcBef>
                  <a:spcPct val="0"/>
                </a:spcBef>
                <a:spcAft>
                  <a:spcPct val="0"/>
                </a:spcAft>
              </a:pPr>
              <a:r>
                <a:rPr lang="zh-CN" altLang="en-US" sz="2200" b="1">
                  <a:solidFill>
                    <a:schemeClr val="bg1"/>
                  </a:solidFill>
                  <a:ea typeface="幼圆" pitchFamily="49" charset="-122"/>
                </a:rPr>
                <a:t>石微粒</a:t>
              </a:r>
            </a:p>
          </p:txBody>
        </p:sp>
        <p:sp>
          <p:nvSpPr>
            <p:cNvPr id="49167" name="Text Box 96"/>
            <p:cNvSpPr txBox="1">
              <a:spLocks noChangeArrowheads="1"/>
            </p:cNvSpPr>
            <p:nvPr/>
          </p:nvSpPr>
          <p:spPr bwMode="auto">
            <a:xfrm>
              <a:off x="2391" y="473"/>
              <a:ext cx="74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200" b="1">
                  <a:solidFill>
                    <a:schemeClr val="bg1"/>
                  </a:solidFill>
                  <a:ea typeface="幼圆" pitchFamily="49" charset="-122"/>
                </a:rPr>
                <a:t>1:1</a:t>
              </a:r>
              <a:r>
                <a:rPr lang="zh-CN" altLang="en-US" sz="2200" b="1">
                  <a:solidFill>
                    <a:schemeClr val="bg1"/>
                  </a:solidFill>
                  <a:ea typeface="幼圆" pitchFamily="49" charset="-122"/>
                </a:rPr>
                <a:t>的两</a:t>
              </a:r>
            </a:p>
            <a:p>
              <a:pPr eaLnBrk="1" hangingPunct="1">
                <a:lnSpc>
                  <a:spcPct val="100000"/>
                </a:lnSpc>
                <a:spcBef>
                  <a:spcPct val="0"/>
                </a:spcBef>
                <a:spcAft>
                  <a:spcPct val="0"/>
                </a:spcAft>
              </a:pPr>
              <a:r>
                <a:rPr lang="zh-CN" altLang="en-US" sz="2200" b="1">
                  <a:solidFill>
                    <a:schemeClr val="bg1"/>
                  </a:solidFill>
                  <a:ea typeface="幼圆" pitchFamily="49" charset="-122"/>
                </a:rPr>
                <a:t>层结构</a:t>
              </a:r>
            </a:p>
          </p:txBody>
        </p:sp>
      </p:grpSp>
      <p:sp>
        <p:nvSpPr>
          <p:cNvPr id="49163" name="Rectangle 97"/>
          <p:cNvSpPr>
            <a:spLocks noChangeArrowheads="1"/>
          </p:cNvSpPr>
          <p:nvPr/>
        </p:nvSpPr>
        <p:spPr bwMode="auto">
          <a:xfrm>
            <a:off x="742950" y="2757488"/>
            <a:ext cx="1700213" cy="2328862"/>
          </a:xfrm>
          <a:prstGeom prst="rect">
            <a:avLst/>
          </a:prstGeom>
          <a:noFill/>
          <a:ln w="38100" cmpd="dbl" algn="ctr">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36"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4651682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64039"/>
                                        </p:tgtEl>
                                        <p:attrNameLst>
                                          <p:attrName>style.visibility</p:attrName>
                                        </p:attrNameLst>
                                      </p:cBhvr>
                                      <p:to>
                                        <p:strVal val="visible"/>
                                      </p:to>
                                    </p:set>
                                    <p:animEffect transition="in" filter="wipe(left)">
                                      <p:cBhvr>
                                        <p:cTn id="11" dur="1000"/>
                                        <p:tgtEl>
                                          <p:spTgt spid="1364039"/>
                                        </p:tgtEl>
                                      </p:cBhvr>
                                    </p:animEffect>
                                  </p:childTnLst>
                                </p:cTn>
                              </p:par>
                            </p:childTnLst>
                          </p:cTn>
                        </p:par>
                        <p:par>
                          <p:cTn id="12" fill="hold" nodeType="afterGroup">
                            <p:stCondLst>
                              <p:cond delay="1500"/>
                            </p:stCondLst>
                            <p:childTnLst>
                              <p:par>
                                <p:cTn id="13" presetID="30" presetClass="entr" presetSubtype="0" fill="hold" grpId="0" nodeType="afterEffect">
                                  <p:stCondLst>
                                    <p:cond delay="0"/>
                                  </p:stCondLst>
                                  <p:childTnLst>
                                    <p:set>
                                      <p:cBhvr>
                                        <p:cTn id="14" dur="1" fill="hold">
                                          <p:stCondLst>
                                            <p:cond delay="0"/>
                                          </p:stCondLst>
                                        </p:cTn>
                                        <p:tgtEl>
                                          <p:spTgt spid="1364066"/>
                                        </p:tgtEl>
                                        <p:attrNameLst>
                                          <p:attrName>style.visibility</p:attrName>
                                        </p:attrNameLst>
                                      </p:cBhvr>
                                      <p:to>
                                        <p:strVal val="visible"/>
                                      </p:to>
                                    </p:set>
                                    <p:animEffect transition="in" filter="fade">
                                      <p:cBhvr>
                                        <p:cTn id="15" dur="800" decel="100000"/>
                                        <p:tgtEl>
                                          <p:spTgt spid="1364066"/>
                                        </p:tgtEl>
                                      </p:cBhvr>
                                    </p:animEffect>
                                    <p:anim calcmode="lin" valueType="num">
                                      <p:cBhvr>
                                        <p:cTn id="16" dur="800" decel="100000" fill="hold"/>
                                        <p:tgtEl>
                                          <p:spTgt spid="1364066"/>
                                        </p:tgtEl>
                                        <p:attrNameLst>
                                          <p:attrName>style.rotation</p:attrName>
                                        </p:attrNameLst>
                                      </p:cBhvr>
                                      <p:tavLst>
                                        <p:tav tm="0">
                                          <p:val>
                                            <p:fltVal val="-90"/>
                                          </p:val>
                                        </p:tav>
                                        <p:tav tm="100000">
                                          <p:val>
                                            <p:fltVal val="0"/>
                                          </p:val>
                                        </p:tav>
                                      </p:tavLst>
                                    </p:anim>
                                    <p:anim calcmode="lin" valueType="num">
                                      <p:cBhvr>
                                        <p:cTn id="17" dur="800" decel="100000" fill="hold"/>
                                        <p:tgtEl>
                                          <p:spTgt spid="1364066"/>
                                        </p:tgtEl>
                                        <p:attrNameLst>
                                          <p:attrName>ppt_x</p:attrName>
                                        </p:attrNameLst>
                                      </p:cBhvr>
                                      <p:tavLst>
                                        <p:tav tm="0">
                                          <p:val>
                                            <p:strVal val="#ppt_x+0.4"/>
                                          </p:val>
                                        </p:tav>
                                        <p:tav tm="100000">
                                          <p:val>
                                            <p:strVal val="#ppt_x-0.05"/>
                                          </p:val>
                                        </p:tav>
                                      </p:tavLst>
                                    </p:anim>
                                    <p:anim calcmode="lin" valueType="num">
                                      <p:cBhvr>
                                        <p:cTn id="18" dur="800" decel="100000" fill="hold"/>
                                        <p:tgtEl>
                                          <p:spTgt spid="1364066"/>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1364066"/>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1364066"/>
                                        </p:tgtEl>
                                        <p:attrNameLst>
                                          <p:attrName>ppt_y</p:attrName>
                                        </p:attrNameLst>
                                      </p:cBhvr>
                                      <p:tavLst>
                                        <p:tav tm="0">
                                          <p:val>
                                            <p:strVal val="#ppt_y+0.1"/>
                                          </p:val>
                                        </p:tav>
                                        <p:tav tm="100000">
                                          <p:val>
                                            <p:strVal val="#ppt_y"/>
                                          </p:val>
                                        </p:tav>
                                      </p:tavLst>
                                    </p:anim>
                                  </p:childTnLst>
                                </p:cTn>
                              </p:par>
                            </p:childTnLst>
                          </p:cTn>
                        </p:par>
                        <p:par>
                          <p:cTn id="21" fill="hold" nodeType="afterGroup">
                            <p:stCondLst>
                              <p:cond delay="2500"/>
                            </p:stCondLst>
                            <p:childTnLst>
                              <p:par>
                                <p:cTn id="22" presetID="2" presetClass="entr" presetSubtype="2"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2000" fill="hold"/>
                                        <p:tgtEl>
                                          <p:spTgt spid="2"/>
                                        </p:tgtEl>
                                        <p:attrNameLst>
                                          <p:attrName>ppt_x</p:attrName>
                                        </p:attrNameLst>
                                      </p:cBhvr>
                                      <p:tavLst>
                                        <p:tav tm="0">
                                          <p:val>
                                            <p:strVal val="1+#ppt_w/2"/>
                                          </p:val>
                                        </p:tav>
                                        <p:tav tm="100000">
                                          <p:val>
                                            <p:strVal val="#ppt_x"/>
                                          </p:val>
                                        </p:tav>
                                      </p:tavLst>
                                    </p:anim>
                                    <p:anim calcmode="lin" valueType="num">
                                      <p:cBhvr additive="base">
                                        <p:cTn id="25" dur="2000" fill="hold"/>
                                        <p:tgtEl>
                                          <p:spTgt spid="2"/>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4500"/>
                            </p:stCondLst>
                            <p:childTnLst>
                              <p:par>
                                <p:cTn id="27" presetID="22" presetClass="entr" presetSubtype="1" fill="hold" grpId="0" nodeType="afterEffect">
                                  <p:stCondLst>
                                    <p:cond delay="0"/>
                                  </p:stCondLst>
                                  <p:childTnLst>
                                    <p:set>
                                      <p:cBhvr>
                                        <p:cTn id="28" dur="1" fill="hold">
                                          <p:stCondLst>
                                            <p:cond delay="0"/>
                                          </p:stCondLst>
                                        </p:cTn>
                                        <p:tgtEl>
                                          <p:spTgt spid="1364040"/>
                                        </p:tgtEl>
                                        <p:attrNameLst>
                                          <p:attrName>style.visibility</p:attrName>
                                        </p:attrNameLst>
                                      </p:cBhvr>
                                      <p:to>
                                        <p:strVal val="visible"/>
                                      </p:to>
                                    </p:set>
                                    <p:animEffect transition="in" filter="wipe(up)">
                                      <p:cBhvr>
                                        <p:cTn id="29" dur="3000"/>
                                        <p:tgtEl>
                                          <p:spTgt spid="1364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1364066" grpId="0" animBg="1"/>
      <p:bldP spid="1364040" grpId="0"/>
      <p:bldP spid="136403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24"/>
          <p:cNvSpPr>
            <a:spLocks noChangeArrowheads="1"/>
          </p:cNvSpPr>
          <p:nvPr/>
        </p:nvSpPr>
        <p:spPr bwMode="auto">
          <a:xfrm>
            <a:off x="754580" y="3583601"/>
            <a:ext cx="1660819" cy="484684"/>
          </a:xfrm>
          <a:prstGeom prst="rect">
            <a:avLst/>
          </a:prstGeom>
          <a:solidFill>
            <a:schemeClr val="accent6">
              <a:lumMod val="60000"/>
              <a:lumOff val="40000"/>
            </a:schemeClr>
          </a:solidFill>
          <a:ln>
            <a:noFill/>
          </a:ln>
        </p:spPr>
        <p:txBody>
          <a:bodyPr wrap="none" anchor="ctr"/>
          <a:lstStyle/>
          <a:p>
            <a:endParaRPr lang="zh-CN" altLang="en-US"/>
          </a:p>
        </p:txBody>
      </p:sp>
      <p:sp>
        <p:nvSpPr>
          <p:cNvPr id="1365094" name="Rectangle 102"/>
          <p:cNvSpPr>
            <a:spLocks noChangeArrowheads="1"/>
          </p:cNvSpPr>
          <p:nvPr/>
        </p:nvSpPr>
        <p:spPr bwMode="auto">
          <a:xfrm>
            <a:off x="3657600" y="670881"/>
            <a:ext cx="5157788" cy="1852613"/>
          </a:xfrm>
          <a:prstGeom prst="rect">
            <a:avLst/>
          </a:prstGeom>
          <a:solidFill>
            <a:srgbClr val="3333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nchor="ctr">
            <a:spAutoFit/>
          </a:bodyPr>
          <a:lstStyle/>
          <a:p>
            <a:endParaRPr lang="zh-CN" altLang="en-US"/>
          </a:p>
        </p:txBody>
      </p:sp>
      <p:sp>
        <p:nvSpPr>
          <p:cNvPr id="1365035" name="Text Box 43"/>
          <p:cNvSpPr txBox="1">
            <a:spLocks noChangeArrowheads="1"/>
          </p:cNvSpPr>
          <p:nvPr/>
        </p:nvSpPr>
        <p:spPr bwMode="auto">
          <a:xfrm>
            <a:off x="3211170" y="2653783"/>
            <a:ext cx="5639534" cy="3083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4638" indent="-2746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ct val="10000"/>
              </a:spcBef>
              <a:spcAft>
                <a:spcPct val="10000"/>
              </a:spcAft>
              <a:buClr>
                <a:srgbClr val="A50021"/>
              </a:buClr>
              <a:buSzPct val="130000"/>
              <a:buFontTx/>
              <a:buChar char="•"/>
            </a:pPr>
            <a:r>
              <a:rPr lang="zh-CN" altLang="en-US" sz="2400" b="1" spc="-130" dirty="0">
                <a:solidFill>
                  <a:srgbClr val="000066"/>
                </a:solidFill>
                <a:ea typeface="幼圆" pitchFamily="49" charset="-122"/>
              </a:rPr>
              <a:t>晶层间是</a:t>
            </a:r>
            <a:r>
              <a:rPr lang="en-US" altLang="zh-CN" sz="2400" b="1" spc="-130" dirty="0">
                <a:solidFill>
                  <a:srgbClr val="000066"/>
                </a:solidFill>
                <a:ea typeface="幼圆" pitchFamily="49" charset="-122"/>
              </a:rPr>
              <a:t>O</a:t>
            </a:r>
            <a:r>
              <a:rPr lang="en-US" altLang="zh-CN" sz="2400" b="1" spc="-130" baseline="30000" dirty="0">
                <a:solidFill>
                  <a:srgbClr val="000066"/>
                </a:solidFill>
                <a:ea typeface="幼圆" pitchFamily="49" charset="-122"/>
              </a:rPr>
              <a:t>2-</a:t>
            </a:r>
            <a:r>
              <a:rPr lang="zh-CN" altLang="en-US" sz="2400" b="1" spc="-130" dirty="0">
                <a:solidFill>
                  <a:srgbClr val="000066"/>
                </a:solidFill>
                <a:ea typeface="幼圆" pitchFamily="49" charset="-122"/>
              </a:rPr>
              <a:t>对</a:t>
            </a:r>
            <a:r>
              <a:rPr lang="en-US" altLang="zh-CN" sz="2400" b="1" spc="-130" dirty="0">
                <a:solidFill>
                  <a:srgbClr val="000066"/>
                </a:solidFill>
                <a:ea typeface="幼圆" pitchFamily="49" charset="-122"/>
              </a:rPr>
              <a:t>O</a:t>
            </a:r>
            <a:r>
              <a:rPr lang="en-US" altLang="zh-CN" sz="2400" b="1" spc="-130" baseline="30000" dirty="0">
                <a:solidFill>
                  <a:srgbClr val="000066"/>
                </a:solidFill>
                <a:ea typeface="幼圆" pitchFamily="49" charset="-122"/>
              </a:rPr>
              <a:t>2-</a:t>
            </a:r>
            <a:r>
              <a:rPr lang="zh-CN" altLang="en-US" sz="2400" b="1" spc="-130" dirty="0">
                <a:solidFill>
                  <a:srgbClr val="000066"/>
                </a:solidFill>
                <a:ea typeface="幼圆" pitchFamily="49" charset="-122"/>
              </a:rPr>
              <a:t>的连结，联结力很弱，水很容易进入晶层</a:t>
            </a:r>
            <a:r>
              <a:rPr lang="zh-CN" altLang="en-US" sz="2400" b="1" spc="-130" dirty="0" smtClean="0">
                <a:solidFill>
                  <a:srgbClr val="000066"/>
                </a:solidFill>
                <a:ea typeface="幼圆" pitchFamily="49" charset="-122"/>
              </a:rPr>
              <a:t>之间</a:t>
            </a:r>
            <a:endParaRPr lang="zh-CN" altLang="en-US" sz="2400" b="1" spc="-130" dirty="0">
              <a:solidFill>
                <a:srgbClr val="000066"/>
              </a:solidFill>
              <a:ea typeface="幼圆" pitchFamily="49" charset="-122"/>
            </a:endParaRPr>
          </a:p>
          <a:p>
            <a:pPr eaLnBrk="1" hangingPunct="1">
              <a:lnSpc>
                <a:spcPct val="110000"/>
              </a:lnSpc>
              <a:spcBef>
                <a:spcPct val="10000"/>
              </a:spcBef>
              <a:spcAft>
                <a:spcPct val="10000"/>
              </a:spcAft>
              <a:buClr>
                <a:srgbClr val="A50021"/>
              </a:buClr>
              <a:buSzPct val="130000"/>
              <a:buFontTx/>
              <a:buChar char="•"/>
            </a:pPr>
            <a:r>
              <a:rPr lang="zh-CN" altLang="en-US" sz="2400" b="1" spc="-130" dirty="0">
                <a:solidFill>
                  <a:srgbClr val="000066"/>
                </a:solidFill>
                <a:ea typeface="幼圆" pitchFamily="49" charset="-122"/>
              </a:rPr>
              <a:t>每一颗粒能组叠的晶层数较少。颗粒大小约为</a:t>
            </a:r>
            <a:r>
              <a:rPr lang="en-US" altLang="zh-CN" sz="2400" b="1" spc="-130" dirty="0">
                <a:solidFill>
                  <a:srgbClr val="000066"/>
                </a:solidFill>
                <a:ea typeface="幼圆" pitchFamily="49" charset="-122"/>
              </a:rPr>
              <a:t>0.1-1</a:t>
            </a:r>
            <a:r>
              <a:rPr lang="en-US" altLang="zh-CN" sz="2400" b="1" spc="-130" dirty="0">
                <a:solidFill>
                  <a:srgbClr val="000066"/>
                </a:solidFill>
                <a:ea typeface="幼圆" pitchFamily="49" charset="-122"/>
                <a:sym typeface="Symbol" pitchFamily="18" charset="2"/>
              </a:rPr>
              <a:t></a:t>
            </a:r>
            <a:r>
              <a:rPr lang="zh-CN" altLang="en-US" sz="2400" b="1" spc="-130" dirty="0">
                <a:solidFill>
                  <a:srgbClr val="000066"/>
                </a:solidFill>
                <a:ea typeface="幼圆" pitchFamily="49" charset="-122"/>
              </a:rPr>
              <a:t> ，厚约</a:t>
            </a:r>
            <a:r>
              <a:rPr lang="en-US" altLang="zh-CN" sz="2400" b="1" spc="-130" dirty="0">
                <a:solidFill>
                  <a:srgbClr val="000066"/>
                </a:solidFill>
                <a:ea typeface="幼圆" pitchFamily="49" charset="-122"/>
              </a:rPr>
              <a:t>0.001-0.01</a:t>
            </a:r>
            <a:r>
              <a:rPr lang="en-US" altLang="zh-CN" sz="2400" b="1" spc="-130" dirty="0" smtClean="0">
                <a:solidFill>
                  <a:srgbClr val="000066"/>
                </a:solidFill>
                <a:ea typeface="幼圆" pitchFamily="49" charset="-122"/>
                <a:sym typeface="Symbol" pitchFamily="18" charset="2"/>
              </a:rPr>
              <a:t></a:t>
            </a:r>
            <a:endParaRPr lang="zh-CN" altLang="en-US" sz="2400" b="1" spc="-130" dirty="0">
              <a:solidFill>
                <a:srgbClr val="000066"/>
              </a:solidFill>
              <a:ea typeface="幼圆" pitchFamily="49" charset="-122"/>
            </a:endParaRPr>
          </a:p>
          <a:p>
            <a:pPr eaLnBrk="1" hangingPunct="1">
              <a:lnSpc>
                <a:spcPct val="110000"/>
              </a:lnSpc>
              <a:spcBef>
                <a:spcPct val="10000"/>
              </a:spcBef>
              <a:spcAft>
                <a:spcPct val="10000"/>
              </a:spcAft>
              <a:buClr>
                <a:srgbClr val="A50021"/>
              </a:buClr>
              <a:buSzPct val="130000"/>
              <a:buFontTx/>
              <a:buChar char="•"/>
            </a:pPr>
            <a:r>
              <a:rPr lang="zh-CN" altLang="en-US" sz="2400" b="1" spc="-130" dirty="0">
                <a:solidFill>
                  <a:srgbClr val="000066"/>
                </a:solidFill>
                <a:ea typeface="幼圆" pitchFamily="49" charset="-122"/>
              </a:rPr>
              <a:t>主要特征：颗粒细微，具有显著的吸水膨胀、失水收缩的特性，或者说亲水能力</a:t>
            </a:r>
            <a:r>
              <a:rPr lang="zh-CN" altLang="en-US" sz="2400" b="1" spc="-130" dirty="0" smtClean="0">
                <a:solidFill>
                  <a:srgbClr val="000066"/>
                </a:solidFill>
                <a:ea typeface="幼圆" pitchFamily="49" charset="-122"/>
              </a:rPr>
              <a:t>强</a:t>
            </a:r>
            <a:endParaRPr lang="zh-CN" altLang="en-US" sz="2400" b="1" spc="-130" dirty="0">
              <a:solidFill>
                <a:srgbClr val="000066"/>
              </a:solidFill>
              <a:ea typeface="幼圆" pitchFamily="49" charset="-122"/>
            </a:endParaRPr>
          </a:p>
        </p:txBody>
      </p:sp>
      <p:grpSp>
        <p:nvGrpSpPr>
          <p:cNvPr id="2" name="Group 44"/>
          <p:cNvGrpSpPr>
            <a:grpSpLocks/>
          </p:cNvGrpSpPr>
          <p:nvPr/>
        </p:nvGrpSpPr>
        <p:grpSpPr bwMode="auto">
          <a:xfrm>
            <a:off x="3651250" y="829631"/>
            <a:ext cx="5070475" cy="1577975"/>
            <a:chOff x="2304" y="484"/>
            <a:chExt cx="3175" cy="994"/>
          </a:xfrm>
        </p:grpSpPr>
        <p:sp>
          <p:nvSpPr>
            <p:cNvPr id="50188" name="Freeform 45"/>
            <p:cNvSpPr>
              <a:spLocks/>
            </p:cNvSpPr>
            <p:nvPr/>
          </p:nvSpPr>
          <p:spPr bwMode="auto">
            <a:xfrm>
              <a:off x="4731" y="484"/>
              <a:ext cx="747" cy="98"/>
            </a:xfrm>
            <a:custGeom>
              <a:avLst/>
              <a:gdLst>
                <a:gd name="T0" fmla="*/ 75 w 747"/>
                <a:gd name="T1" fmla="*/ 4 h 98"/>
                <a:gd name="T2" fmla="*/ 0 w 747"/>
                <a:gd name="T3" fmla="*/ 98 h 98"/>
                <a:gd name="T4" fmla="*/ 747 w 747"/>
                <a:gd name="T5" fmla="*/ 98 h 98"/>
                <a:gd name="T6" fmla="*/ 677 w 747"/>
                <a:gd name="T7" fmla="*/ 9 h 98"/>
                <a:gd name="T8" fmla="*/ 641 w 747"/>
                <a:gd name="T9" fmla="*/ 12 h 98"/>
                <a:gd name="T10" fmla="*/ 605 w 747"/>
                <a:gd name="T11" fmla="*/ 4 h 98"/>
                <a:gd name="T12" fmla="*/ 579 w 747"/>
                <a:gd name="T13" fmla="*/ 7 h 98"/>
                <a:gd name="T14" fmla="*/ 528 w 747"/>
                <a:gd name="T15" fmla="*/ 7 h 98"/>
                <a:gd name="T16" fmla="*/ 499 w 747"/>
                <a:gd name="T17" fmla="*/ 0 h 98"/>
                <a:gd name="T18" fmla="*/ 461 w 747"/>
                <a:gd name="T19" fmla="*/ 9 h 98"/>
                <a:gd name="T20" fmla="*/ 425 w 747"/>
                <a:gd name="T21" fmla="*/ 12 h 98"/>
                <a:gd name="T22" fmla="*/ 384 w 747"/>
                <a:gd name="T23" fmla="*/ 7 h 98"/>
                <a:gd name="T24" fmla="*/ 348 w 747"/>
                <a:gd name="T25" fmla="*/ 2 h 98"/>
                <a:gd name="T26" fmla="*/ 329 w 747"/>
                <a:gd name="T27" fmla="*/ 9 h 98"/>
                <a:gd name="T28" fmla="*/ 288 w 747"/>
                <a:gd name="T29" fmla="*/ 9 h 98"/>
                <a:gd name="T30" fmla="*/ 259 w 747"/>
                <a:gd name="T31" fmla="*/ 4 h 98"/>
                <a:gd name="T32" fmla="*/ 211 w 747"/>
                <a:gd name="T33" fmla="*/ 9 h 98"/>
                <a:gd name="T34" fmla="*/ 147 w 747"/>
                <a:gd name="T35" fmla="*/ 12 h 98"/>
                <a:gd name="T36" fmla="*/ 111 w 747"/>
                <a:gd name="T37" fmla="*/ 7 h 98"/>
                <a:gd name="T38" fmla="*/ 75 w 747"/>
                <a:gd name="T39" fmla="*/ 4 h 9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47"/>
                <a:gd name="T61" fmla="*/ 0 h 98"/>
                <a:gd name="T62" fmla="*/ 747 w 747"/>
                <a:gd name="T63" fmla="*/ 98 h 9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47" h="98">
                  <a:moveTo>
                    <a:pt x="75" y="4"/>
                  </a:moveTo>
                  <a:lnTo>
                    <a:pt x="0" y="98"/>
                  </a:lnTo>
                  <a:lnTo>
                    <a:pt x="747" y="98"/>
                  </a:lnTo>
                  <a:lnTo>
                    <a:pt x="677" y="9"/>
                  </a:lnTo>
                  <a:lnTo>
                    <a:pt x="641" y="12"/>
                  </a:lnTo>
                  <a:lnTo>
                    <a:pt x="605" y="4"/>
                  </a:lnTo>
                  <a:lnTo>
                    <a:pt x="579" y="7"/>
                  </a:lnTo>
                  <a:lnTo>
                    <a:pt x="528" y="7"/>
                  </a:lnTo>
                  <a:lnTo>
                    <a:pt x="499" y="0"/>
                  </a:lnTo>
                  <a:lnTo>
                    <a:pt x="461" y="9"/>
                  </a:lnTo>
                  <a:lnTo>
                    <a:pt x="425" y="12"/>
                  </a:lnTo>
                  <a:lnTo>
                    <a:pt x="384" y="7"/>
                  </a:lnTo>
                  <a:lnTo>
                    <a:pt x="348" y="2"/>
                  </a:lnTo>
                  <a:lnTo>
                    <a:pt x="329" y="9"/>
                  </a:lnTo>
                  <a:lnTo>
                    <a:pt x="288" y="9"/>
                  </a:lnTo>
                  <a:lnTo>
                    <a:pt x="259" y="4"/>
                  </a:lnTo>
                  <a:lnTo>
                    <a:pt x="211" y="9"/>
                  </a:lnTo>
                  <a:lnTo>
                    <a:pt x="147" y="12"/>
                  </a:lnTo>
                  <a:lnTo>
                    <a:pt x="111" y="7"/>
                  </a:lnTo>
                  <a:lnTo>
                    <a:pt x="75" y="4"/>
                  </a:lnTo>
                  <a:close/>
                </a:path>
              </a:pathLst>
            </a:custGeom>
            <a:solidFill>
              <a:srgbClr val="CCCCFF"/>
            </a:solidFill>
            <a:ln w="19050">
              <a:solidFill>
                <a:schemeClr val="bg1"/>
              </a:solidFill>
              <a:round/>
              <a:headEnd/>
              <a:tailEnd/>
            </a:ln>
          </p:spPr>
          <p:txBody>
            <a:bodyPr/>
            <a:lstStyle/>
            <a:p>
              <a:endParaRPr lang="zh-CN" altLang="en-US"/>
            </a:p>
          </p:txBody>
        </p:sp>
        <p:sp>
          <p:nvSpPr>
            <p:cNvPr id="50189" name="Text Box 46"/>
            <p:cNvSpPr txBox="1">
              <a:spLocks noChangeArrowheads="1"/>
            </p:cNvSpPr>
            <p:nvPr/>
          </p:nvSpPr>
          <p:spPr bwMode="auto">
            <a:xfrm>
              <a:off x="2304" y="670"/>
              <a:ext cx="74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200" b="1">
                  <a:solidFill>
                    <a:schemeClr val="bg1"/>
                  </a:solidFill>
                  <a:ea typeface="幼圆" pitchFamily="49" charset="-122"/>
                </a:rPr>
                <a:t>2:1</a:t>
              </a:r>
              <a:r>
                <a:rPr lang="zh-CN" altLang="en-US" sz="2200" b="1">
                  <a:solidFill>
                    <a:schemeClr val="bg1"/>
                  </a:solidFill>
                  <a:ea typeface="幼圆" pitchFamily="49" charset="-122"/>
                </a:rPr>
                <a:t>的三</a:t>
              </a:r>
            </a:p>
            <a:p>
              <a:pPr eaLnBrk="1" hangingPunct="1">
                <a:lnSpc>
                  <a:spcPct val="100000"/>
                </a:lnSpc>
                <a:spcBef>
                  <a:spcPct val="0"/>
                </a:spcBef>
                <a:spcAft>
                  <a:spcPct val="0"/>
                </a:spcAft>
              </a:pPr>
              <a:r>
                <a:rPr lang="zh-CN" altLang="en-US" sz="2200" b="1">
                  <a:solidFill>
                    <a:schemeClr val="bg1"/>
                  </a:solidFill>
                  <a:ea typeface="幼圆" pitchFamily="49" charset="-122"/>
                </a:rPr>
                <a:t>层结构</a:t>
              </a:r>
            </a:p>
          </p:txBody>
        </p:sp>
        <p:grpSp>
          <p:nvGrpSpPr>
            <p:cNvPr id="50190" name="Group 47"/>
            <p:cNvGrpSpPr>
              <a:grpSpLocks/>
            </p:cNvGrpSpPr>
            <p:nvPr/>
          </p:nvGrpSpPr>
          <p:grpSpPr bwMode="auto">
            <a:xfrm>
              <a:off x="3091" y="681"/>
              <a:ext cx="743" cy="607"/>
              <a:chOff x="3076" y="718"/>
              <a:chExt cx="743" cy="607"/>
            </a:xfrm>
          </p:grpSpPr>
          <p:grpSp>
            <p:nvGrpSpPr>
              <p:cNvPr id="50204" name="Group 48"/>
              <p:cNvGrpSpPr>
                <a:grpSpLocks/>
              </p:cNvGrpSpPr>
              <p:nvPr/>
            </p:nvGrpSpPr>
            <p:grpSpPr bwMode="auto">
              <a:xfrm>
                <a:off x="3076" y="1111"/>
                <a:ext cx="743" cy="214"/>
                <a:chOff x="4057" y="2516"/>
                <a:chExt cx="743" cy="214"/>
              </a:xfrm>
            </p:grpSpPr>
            <p:sp>
              <p:nvSpPr>
                <p:cNvPr id="50211" name="AutoShape 49"/>
                <p:cNvSpPr>
                  <a:spLocks noChangeArrowheads="1"/>
                </p:cNvSpPr>
                <p:nvPr/>
              </p:nvSpPr>
              <p:spPr bwMode="auto">
                <a:xfrm flipV="1">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50212" name="Text Box 50"/>
                <p:cNvSpPr txBox="1">
                  <a:spLocks noChangeArrowheads="1"/>
                </p:cNvSpPr>
                <p:nvPr/>
              </p:nvSpPr>
              <p:spPr bwMode="auto">
                <a:xfrm>
                  <a:off x="4166" y="2518"/>
                  <a:ext cx="5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Si       Si</a:t>
                  </a:r>
                </a:p>
              </p:txBody>
            </p:sp>
          </p:grpSp>
          <p:grpSp>
            <p:nvGrpSpPr>
              <p:cNvPr id="50205" name="Group 51"/>
              <p:cNvGrpSpPr>
                <a:grpSpLocks/>
              </p:cNvGrpSpPr>
              <p:nvPr/>
            </p:nvGrpSpPr>
            <p:grpSpPr bwMode="auto">
              <a:xfrm>
                <a:off x="3188" y="914"/>
                <a:ext cx="498" cy="212"/>
                <a:chOff x="4741" y="1561"/>
                <a:chExt cx="498" cy="212"/>
              </a:xfrm>
            </p:grpSpPr>
            <p:sp>
              <p:nvSpPr>
                <p:cNvPr id="50209" name="Rectangle 52"/>
                <p:cNvSpPr>
                  <a:spLocks noChangeArrowheads="1"/>
                </p:cNvSpPr>
                <p:nvPr/>
              </p:nvSpPr>
              <p:spPr bwMode="auto">
                <a:xfrm>
                  <a:off x="4775" y="1567"/>
                  <a:ext cx="454" cy="185"/>
                </a:xfrm>
                <a:prstGeom prst="rect">
                  <a:avLst/>
                </a:prstGeom>
                <a:solidFill>
                  <a:srgbClr val="FFCCFF"/>
                </a:solidFill>
                <a:ln w="12700">
                  <a:solidFill>
                    <a:schemeClr val="bg1"/>
                  </a:solidFill>
                  <a:miter lim="800000"/>
                  <a:headEnd/>
                  <a:tailEnd/>
                </a:ln>
              </p:spPr>
              <p:txBody>
                <a:bodyPr wrap="none" anchor="ctr"/>
                <a:lstStyle/>
                <a:p>
                  <a:endParaRPr lang="zh-CN" altLang="en-US"/>
                </a:p>
              </p:txBody>
            </p:sp>
            <p:sp>
              <p:nvSpPr>
                <p:cNvPr id="50210" name="Text Box 53"/>
                <p:cNvSpPr txBox="1">
                  <a:spLocks noChangeArrowheads="1"/>
                </p:cNvSpPr>
                <p:nvPr/>
              </p:nvSpPr>
              <p:spPr bwMode="auto">
                <a:xfrm>
                  <a:off x="4741" y="1561"/>
                  <a:ext cx="49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Al    Al</a:t>
                  </a:r>
                </a:p>
              </p:txBody>
            </p:sp>
          </p:grpSp>
          <p:grpSp>
            <p:nvGrpSpPr>
              <p:cNvPr id="50206" name="Group 54"/>
              <p:cNvGrpSpPr>
                <a:grpSpLocks/>
              </p:cNvGrpSpPr>
              <p:nvPr/>
            </p:nvGrpSpPr>
            <p:grpSpPr bwMode="auto">
              <a:xfrm>
                <a:off x="3076" y="718"/>
                <a:ext cx="743" cy="214"/>
                <a:chOff x="4057" y="2516"/>
                <a:chExt cx="743" cy="214"/>
              </a:xfrm>
            </p:grpSpPr>
            <p:sp>
              <p:nvSpPr>
                <p:cNvPr id="50207" name="AutoShape 55"/>
                <p:cNvSpPr>
                  <a:spLocks noChangeArrowheads="1"/>
                </p:cNvSpPr>
                <p:nvPr/>
              </p:nvSpPr>
              <p:spPr bwMode="auto">
                <a:xfrm>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50208" name="Text Box 56"/>
                <p:cNvSpPr txBox="1">
                  <a:spLocks noChangeArrowheads="1"/>
                </p:cNvSpPr>
                <p:nvPr/>
              </p:nvSpPr>
              <p:spPr bwMode="auto">
                <a:xfrm>
                  <a:off x="4166" y="2518"/>
                  <a:ext cx="5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Si       Si</a:t>
                  </a:r>
                </a:p>
              </p:txBody>
            </p:sp>
          </p:grpSp>
        </p:grpSp>
        <p:grpSp>
          <p:nvGrpSpPr>
            <p:cNvPr id="50191" name="Group 57"/>
            <p:cNvGrpSpPr>
              <a:grpSpLocks/>
            </p:cNvGrpSpPr>
            <p:nvPr/>
          </p:nvGrpSpPr>
          <p:grpSpPr bwMode="auto">
            <a:xfrm>
              <a:off x="4726" y="1074"/>
              <a:ext cx="743" cy="214"/>
              <a:chOff x="4057" y="2516"/>
              <a:chExt cx="743" cy="214"/>
            </a:xfrm>
          </p:grpSpPr>
          <p:sp>
            <p:nvSpPr>
              <p:cNvPr id="50202" name="AutoShape 58"/>
              <p:cNvSpPr>
                <a:spLocks noChangeArrowheads="1"/>
              </p:cNvSpPr>
              <p:nvPr/>
            </p:nvSpPr>
            <p:spPr bwMode="auto">
              <a:xfrm flipV="1">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50203" name="Text Box 59"/>
              <p:cNvSpPr txBox="1">
                <a:spLocks noChangeArrowheads="1"/>
              </p:cNvSpPr>
              <p:nvPr/>
            </p:nvSpPr>
            <p:spPr bwMode="auto">
              <a:xfrm>
                <a:off x="4166" y="2518"/>
                <a:ext cx="5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Si       Si</a:t>
                </a:r>
              </a:p>
            </p:txBody>
          </p:sp>
        </p:grpSp>
        <p:grpSp>
          <p:nvGrpSpPr>
            <p:cNvPr id="50192" name="Group 60"/>
            <p:cNvGrpSpPr>
              <a:grpSpLocks/>
            </p:cNvGrpSpPr>
            <p:nvPr/>
          </p:nvGrpSpPr>
          <p:grpSpPr bwMode="auto">
            <a:xfrm>
              <a:off x="4838" y="877"/>
              <a:ext cx="497" cy="212"/>
              <a:chOff x="4741" y="1561"/>
              <a:chExt cx="497" cy="212"/>
            </a:xfrm>
          </p:grpSpPr>
          <p:sp>
            <p:nvSpPr>
              <p:cNvPr id="50200" name="Rectangle 61"/>
              <p:cNvSpPr>
                <a:spLocks noChangeArrowheads="1"/>
              </p:cNvSpPr>
              <p:nvPr/>
            </p:nvSpPr>
            <p:spPr bwMode="auto">
              <a:xfrm>
                <a:off x="4775" y="1567"/>
                <a:ext cx="454" cy="185"/>
              </a:xfrm>
              <a:prstGeom prst="rect">
                <a:avLst/>
              </a:prstGeom>
              <a:solidFill>
                <a:srgbClr val="FFCCFF"/>
              </a:solidFill>
              <a:ln w="12700">
                <a:solidFill>
                  <a:schemeClr val="bg1"/>
                </a:solidFill>
                <a:miter lim="800000"/>
                <a:headEnd/>
                <a:tailEnd/>
              </a:ln>
            </p:spPr>
            <p:txBody>
              <a:bodyPr wrap="none" anchor="ctr"/>
              <a:lstStyle/>
              <a:p>
                <a:endParaRPr lang="zh-CN" altLang="en-US"/>
              </a:p>
            </p:txBody>
          </p:sp>
          <p:sp>
            <p:nvSpPr>
              <p:cNvPr id="50201" name="Text Box 62"/>
              <p:cNvSpPr txBox="1">
                <a:spLocks noChangeArrowheads="1"/>
              </p:cNvSpPr>
              <p:nvPr/>
            </p:nvSpPr>
            <p:spPr bwMode="auto">
              <a:xfrm>
                <a:off x="4741" y="1561"/>
                <a:ext cx="49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Al    Al</a:t>
                </a:r>
              </a:p>
            </p:txBody>
          </p:sp>
        </p:grpSp>
        <p:grpSp>
          <p:nvGrpSpPr>
            <p:cNvPr id="50193" name="Group 63"/>
            <p:cNvGrpSpPr>
              <a:grpSpLocks/>
            </p:cNvGrpSpPr>
            <p:nvPr/>
          </p:nvGrpSpPr>
          <p:grpSpPr bwMode="auto">
            <a:xfrm>
              <a:off x="4726" y="681"/>
              <a:ext cx="743" cy="214"/>
              <a:chOff x="4057" y="2516"/>
              <a:chExt cx="743" cy="214"/>
            </a:xfrm>
          </p:grpSpPr>
          <p:sp>
            <p:nvSpPr>
              <p:cNvPr id="50198" name="AutoShape 64"/>
              <p:cNvSpPr>
                <a:spLocks noChangeArrowheads="1"/>
              </p:cNvSpPr>
              <p:nvPr/>
            </p:nvSpPr>
            <p:spPr bwMode="auto">
              <a:xfrm>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50199" name="Text Box 65"/>
              <p:cNvSpPr txBox="1">
                <a:spLocks noChangeArrowheads="1"/>
              </p:cNvSpPr>
              <p:nvPr/>
            </p:nvSpPr>
            <p:spPr bwMode="auto">
              <a:xfrm>
                <a:off x="4166" y="2518"/>
                <a:ext cx="5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Si       Si</a:t>
                </a:r>
              </a:p>
            </p:txBody>
          </p:sp>
        </p:grpSp>
        <p:sp>
          <p:nvSpPr>
            <p:cNvPr id="50194" name="Freeform 66"/>
            <p:cNvSpPr>
              <a:spLocks/>
            </p:cNvSpPr>
            <p:nvPr/>
          </p:nvSpPr>
          <p:spPr bwMode="auto">
            <a:xfrm flipV="1">
              <a:off x="4732" y="1380"/>
              <a:ext cx="747" cy="98"/>
            </a:xfrm>
            <a:custGeom>
              <a:avLst/>
              <a:gdLst>
                <a:gd name="T0" fmla="*/ 75 w 747"/>
                <a:gd name="T1" fmla="*/ 4 h 98"/>
                <a:gd name="T2" fmla="*/ 0 w 747"/>
                <a:gd name="T3" fmla="*/ 98 h 98"/>
                <a:gd name="T4" fmla="*/ 747 w 747"/>
                <a:gd name="T5" fmla="*/ 98 h 98"/>
                <a:gd name="T6" fmla="*/ 677 w 747"/>
                <a:gd name="T7" fmla="*/ 9 h 98"/>
                <a:gd name="T8" fmla="*/ 641 w 747"/>
                <a:gd name="T9" fmla="*/ 12 h 98"/>
                <a:gd name="T10" fmla="*/ 605 w 747"/>
                <a:gd name="T11" fmla="*/ 4 h 98"/>
                <a:gd name="T12" fmla="*/ 579 w 747"/>
                <a:gd name="T13" fmla="*/ 7 h 98"/>
                <a:gd name="T14" fmla="*/ 528 w 747"/>
                <a:gd name="T15" fmla="*/ 7 h 98"/>
                <a:gd name="T16" fmla="*/ 499 w 747"/>
                <a:gd name="T17" fmla="*/ 0 h 98"/>
                <a:gd name="T18" fmla="*/ 461 w 747"/>
                <a:gd name="T19" fmla="*/ 9 h 98"/>
                <a:gd name="T20" fmla="*/ 425 w 747"/>
                <a:gd name="T21" fmla="*/ 12 h 98"/>
                <a:gd name="T22" fmla="*/ 384 w 747"/>
                <a:gd name="T23" fmla="*/ 7 h 98"/>
                <a:gd name="T24" fmla="*/ 348 w 747"/>
                <a:gd name="T25" fmla="*/ 2 h 98"/>
                <a:gd name="T26" fmla="*/ 329 w 747"/>
                <a:gd name="T27" fmla="*/ 9 h 98"/>
                <a:gd name="T28" fmla="*/ 288 w 747"/>
                <a:gd name="T29" fmla="*/ 9 h 98"/>
                <a:gd name="T30" fmla="*/ 259 w 747"/>
                <a:gd name="T31" fmla="*/ 4 h 98"/>
                <a:gd name="T32" fmla="*/ 211 w 747"/>
                <a:gd name="T33" fmla="*/ 9 h 98"/>
                <a:gd name="T34" fmla="*/ 147 w 747"/>
                <a:gd name="T35" fmla="*/ 12 h 98"/>
                <a:gd name="T36" fmla="*/ 111 w 747"/>
                <a:gd name="T37" fmla="*/ 7 h 98"/>
                <a:gd name="T38" fmla="*/ 75 w 747"/>
                <a:gd name="T39" fmla="*/ 4 h 9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47"/>
                <a:gd name="T61" fmla="*/ 0 h 98"/>
                <a:gd name="T62" fmla="*/ 747 w 747"/>
                <a:gd name="T63" fmla="*/ 98 h 9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47" h="98">
                  <a:moveTo>
                    <a:pt x="75" y="4"/>
                  </a:moveTo>
                  <a:lnTo>
                    <a:pt x="0" y="98"/>
                  </a:lnTo>
                  <a:lnTo>
                    <a:pt x="747" y="98"/>
                  </a:lnTo>
                  <a:lnTo>
                    <a:pt x="677" y="9"/>
                  </a:lnTo>
                  <a:lnTo>
                    <a:pt x="641" y="12"/>
                  </a:lnTo>
                  <a:lnTo>
                    <a:pt x="605" y="4"/>
                  </a:lnTo>
                  <a:lnTo>
                    <a:pt x="579" y="7"/>
                  </a:lnTo>
                  <a:lnTo>
                    <a:pt x="528" y="7"/>
                  </a:lnTo>
                  <a:lnTo>
                    <a:pt x="499" y="0"/>
                  </a:lnTo>
                  <a:lnTo>
                    <a:pt x="461" y="9"/>
                  </a:lnTo>
                  <a:lnTo>
                    <a:pt x="425" y="12"/>
                  </a:lnTo>
                  <a:lnTo>
                    <a:pt x="384" y="7"/>
                  </a:lnTo>
                  <a:lnTo>
                    <a:pt x="348" y="2"/>
                  </a:lnTo>
                  <a:lnTo>
                    <a:pt x="329" y="9"/>
                  </a:lnTo>
                  <a:lnTo>
                    <a:pt x="288" y="9"/>
                  </a:lnTo>
                  <a:lnTo>
                    <a:pt x="259" y="4"/>
                  </a:lnTo>
                  <a:lnTo>
                    <a:pt x="211" y="9"/>
                  </a:lnTo>
                  <a:lnTo>
                    <a:pt x="147" y="12"/>
                  </a:lnTo>
                  <a:lnTo>
                    <a:pt x="111" y="7"/>
                  </a:lnTo>
                  <a:lnTo>
                    <a:pt x="75" y="4"/>
                  </a:lnTo>
                  <a:close/>
                </a:path>
              </a:pathLst>
            </a:custGeom>
            <a:solidFill>
              <a:srgbClr val="CCCCFF"/>
            </a:solidFill>
            <a:ln w="19050">
              <a:solidFill>
                <a:schemeClr val="bg1"/>
              </a:solidFill>
              <a:round/>
              <a:headEnd/>
              <a:tailEnd/>
            </a:ln>
          </p:spPr>
          <p:txBody>
            <a:bodyPr/>
            <a:lstStyle/>
            <a:p>
              <a:endParaRPr lang="zh-CN" altLang="en-US"/>
            </a:p>
          </p:txBody>
        </p:sp>
        <p:sp>
          <p:nvSpPr>
            <p:cNvPr id="50195" name="Text Box 67"/>
            <p:cNvSpPr txBox="1">
              <a:spLocks noChangeArrowheads="1"/>
            </p:cNvSpPr>
            <p:nvPr/>
          </p:nvSpPr>
          <p:spPr bwMode="auto">
            <a:xfrm>
              <a:off x="3964" y="678"/>
              <a:ext cx="64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lang="zh-CN" altLang="en-US" sz="2200" b="1">
                  <a:solidFill>
                    <a:schemeClr val="bg1"/>
                  </a:solidFill>
                  <a:ea typeface="幼圆" pitchFamily="49" charset="-122"/>
                </a:rPr>
                <a:t>数层</a:t>
              </a:r>
            </a:p>
            <a:p>
              <a:pPr algn="ctr" eaLnBrk="1" hangingPunct="1">
                <a:lnSpc>
                  <a:spcPct val="100000"/>
                </a:lnSpc>
                <a:spcBef>
                  <a:spcPct val="0"/>
                </a:spcBef>
                <a:spcAft>
                  <a:spcPct val="0"/>
                </a:spcAft>
              </a:pPr>
              <a:r>
                <a:rPr lang="zh-CN" altLang="en-US" sz="2200" b="1">
                  <a:solidFill>
                    <a:schemeClr val="bg1"/>
                  </a:solidFill>
                  <a:ea typeface="幼圆" pitchFamily="49" charset="-122"/>
                </a:rPr>
                <a:t>水分子</a:t>
              </a:r>
              <a:endParaRPr lang="en-US" altLang="zh-CN" sz="2200" b="1">
                <a:solidFill>
                  <a:schemeClr val="bg1"/>
                </a:solidFill>
                <a:ea typeface="幼圆" pitchFamily="49" charset="-122"/>
              </a:endParaRPr>
            </a:p>
          </p:txBody>
        </p:sp>
        <p:sp>
          <p:nvSpPr>
            <p:cNvPr id="50196" name="Line 68"/>
            <p:cNvSpPr>
              <a:spLocks noChangeShapeType="1"/>
            </p:cNvSpPr>
            <p:nvPr/>
          </p:nvSpPr>
          <p:spPr bwMode="auto">
            <a:xfrm flipH="1">
              <a:off x="4517" y="648"/>
              <a:ext cx="206" cy="12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7" name="Line 69"/>
            <p:cNvSpPr>
              <a:spLocks noChangeShapeType="1"/>
            </p:cNvSpPr>
            <p:nvPr/>
          </p:nvSpPr>
          <p:spPr bwMode="auto">
            <a:xfrm flipH="1" flipV="1">
              <a:off x="4552" y="1121"/>
              <a:ext cx="158" cy="187"/>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0183" name="Text Box 97"/>
          <p:cNvSpPr txBox="1">
            <a:spLocks noChangeArrowheads="1"/>
          </p:cNvSpPr>
          <p:nvPr/>
        </p:nvSpPr>
        <p:spPr bwMode="auto">
          <a:xfrm>
            <a:off x="411163" y="735013"/>
            <a:ext cx="286067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kumimoji="1" lang="zh-CN" altLang="en-US" sz="2400" b="1">
                <a:solidFill>
                  <a:srgbClr val="000066"/>
                </a:solidFill>
                <a:latin typeface="幼圆" pitchFamily="49" charset="-122"/>
                <a:ea typeface="幼圆" pitchFamily="49" charset="-122"/>
              </a:rPr>
              <a:t>依硅片和铝片组叠形式的不同，可分成如下三种类型：</a:t>
            </a:r>
            <a:endParaRPr kumimoji="1" lang="en-US" altLang="zh-CN" sz="2400" b="1">
              <a:solidFill>
                <a:srgbClr val="000066"/>
              </a:solidFill>
              <a:latin typeface="幼圆" pitchFamily="49" charset="-122"/>
              <a:ea typeface="幼圆" pitchFamily="49" charset="-122"/>
            </a:endParaRPr>
          </a:p>
        </p:txBody>
      </p:sp>
      <p:sp>
        <p:nvSpPr>
          <p:cNvPr id="50184" name="Text Box 98"/>
          <p:cNvSpPr txBox="1">
            <a:spLocks noChangeArrowheads="1"/>
          </p:cNvSpPr>
          <p:nvPr/>
        </p:nvSpPr>
        <p:spPr bwMode="auto">
          <a:xfrm>
            <a:off x="785813" y="2860675"/>
            <a:ext cx="1589087"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45000"/>
              </a:lnSpc>
              <a:buFont typeface="Wingdings" pitchFamily="2" charset="2"/>
              <a:buChar char="²"/>
            </a:pPr>
            <a:r>
              <a:rPr kumimoji="1" lang="zh-CN" altLang="en-US" sz="2400" b="1" dirty="0">
                <a:solidFill>
                  <a:srgbClr val="000066"/>
                </a:solidFill>
                <a:latin typeface="幼圆" pitchFamily="49" charset="-122"/>
                <a:ea typeface="幼圆" pitchFamily="49" charset="-122"/>
              </a:rPr>
              <a:t> 高岭石</a:t>
            </a:r>
          </a:p>
          <a:p>
            <a:pPr eaLnBrk="1" hangingPunct="1">
              <a:lnSpc>
                <a:spcPct val="145000"/>
              </a:lnSpc>
              <a:buFont typeface="Wingdings" pitchFamily="2" charset="2"/>
              <a:buChar char="²"/>
            </a:pPr>
            <a:r>
              <a:rPr kumimoji="1" lang="zh-CN" altLang="en-US" sz="2400" b="1" dirty="0">
                <a:solidFill>
                  <a:srgbClr val="000066"/>
                </a:solidFill>
                <a:latin typeface="幼圆" pitchFamily="49" charset="-122"/>
                <a:ea typeface="幼圆" pitchFamily="49" charset="-122"/>
              </a:rPr>
              <a:t> 蒙特石</a:t>
            </a:r>
          </a:p>
          <a:p>
            <a:pPr eaLnBrk="1" hangingPunct="1">
              <a:lnSpc>
                <a:spcPct val="145000"/>
              </a:lnSpc>
              <a:buFont typeface="Wingdings" pitchFamily="2" charset="2"/>
              <a:buChar char="²"/>
            </a:pPr>
            <a:r>
              <a:rPr kumimoji="1" lang="zh-CN" altLang="en-US" sz="2400" b="1" dirty="0">
                <a:solidFill>
                  <a:srgbClr val="000066"/>
                </a:solidFill>
                <a:latin typeface="幼圆" pitchFamily="49" charset="-122"/>
                <a:ea typeface="幼圆" pitchFamily="49" charset="-122"/>
              </a:rPr>
              <a:t> 伊利石</a:t>
            </a:r>
          </a:p>
        </p:txBody>
      </p:sp>
      <p:sp>
        <p:nvSpPr>
          <p:cNvPr id="1365092" name="AutoShape 100"/>
          <p:cNvSpPr>
            <a:spLocks noChangeArrowheads="1"/>
          </p:cNvSpPr>
          <p:nvPr/>
        </p:nvSpPr>
        <p:spPr bwMode="auto">
          <a:xfrm>
            <a:off x="2641600" y="3588803"/>
            <a:ext cx="400050" cy="430212"/>
          </a:xfrm>
          <a:prstGeom prst="homePlate">
            <a:avLst>
              <a:gd name="adj" fmla="val 25000"/>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50187" name="Rectangle 101"/>
          <p:cNvSpPr>
            <a:spLocks noChangeArrowheads="1"/>
          </p:cNvSpPr>
          <p:nvPr/>
        </p:nvSpPr>
        <p:spPr bwMode="auto">
          <a:xfrm>
            <a:off x="742950" y="2757488"/>
            <a:ext cx="1700213" cy="2328862"/>
          </a:xfrm>
          <a:prstGeom prst="rect">
            <a:avLst/>
          </a:prstGeom>
          <a:noFill/>
          <a:ln w="38100" cmpd="dbl" algn="ctr">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38" name="Text Box 6"/>
          <p:cNvSpPr txBox="1">
            <a:spLocks noChangeArrowheads="1"/>
          </p:cNvSpPr>
          <p:nvPr/>
        </p:nvSpPr>
        <p:spPr bwMode="auto">
          <a:xfrm>
            <a:off x="2886106" y="5731923"/>
            <a:ext cx="3360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黏 </a:t>
            </a:r>
            <a:r>
              <a:rPr kumimoji="1" lang="zh-CN" altLang="en-US" sz="4000" b="1" dirty="0">
                <a:solidFill>
                  <a:srgbClr val="000066"/>
                </a:solidFill>
                <a:latin typeface="黑体" pitchFamily="2" charset="-122"/>
                <a:ea typeface="黑体" pitchFamily="2" charset="-122"/>
              </a:rPr>
              <a:t>土 矿 物</a:t>
            </a:r>
          </a:p>
        </p:txBody>
      </p:sp>
      <p:sp>
        <p:nvSpPr>
          <p:cNvPr id="39"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2642700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65092"/>
                                        </p:tgtEl>
                                        <p:attrNameLst>
                                          <p:attrName>style.visibility</p:attrName>
                                        </p:attrNameLst>
                                      </p:cBhvr>
                                      <p:to>
                                        <p:strVal val="visible"/>
                                      </p:to>
                                    </p:set>
                                    <p:animEffect transition="in" filter="wipe(left)">
                                      <p:cBhvr>
                                        <p:cTn id="11" dur="1000"/>
                                        <p:tgtEl>
                                          <p:spTgt spid="1365092"/>
                                        </p:tgtEl>
                                      </p:cBhvr>
                                    </p:animEffect>
                                  </p:childTnLst>
                                </p:cTn>
                              </p:par>
                            </p:childTnLst>
                          </p:cTn>
                        </p:par>
                        <p:par>
                          <p:cTn id="12" fill="hold" nodeType="afterGroup">
                            <p:stCondLst>
                              <p:cond delay="1500"/>
                            </p:stCondLst>
                            <p:childTnLst>
                              <p:par>
                                <p:cTn id="13" presetID="30" presetClass="entr" presetSubtype="0" fill="hold" grpId="0" nodeType="afterEffect">
                                  <p:stCondLst>
                                    <p:cond delay="0"/>
                                  </p:stCondLst>
                                  <p:childTnLst>
                                    <p:set>
                                      <p:cBhvr>
                                        <p:cTn id="14" dur="1" fill="hold">
                                          <p:stCondLst>
                                            <p:cond delay="0"/>
                                          </p:stCondLst>
                                        </p:cTn>
                                        <p:tgtEl>
                                          <p:spTgt spid="1365094"/>
                                        </p:tgtEl>
                                        <p:attrNameLst>
                                          <p:attrName>style.visibility</p:attrName>
                                        </p:attrNameLst>
                                      </p:cBhvr>
                                      <p:to>
                                        <p:strVal val="visible"/>
                                      </p:to>
                                    </p:set>
                                    <p:animEffect transition="in" filter="fade">
                                      <p:cBhvr>
                                        <p:cTn id="15" dur="800" decel="100000"/>
                                        <p:tgtEl>
                                          <p:spTgt spid="1365094"/>
                                        </p:tgtEl>
                                      </p:cBhvr>
                                    </p:animEffect>
                                    <p:anim calcmode="lin" valueType="num">
                                      <p:cBhvr>
                                        <p:cTn id="16" dur="800" decel="100000" fill="hold"/>
                                        <p:tgtEl>
                                          <p:spTgt spid="1365094"/>
                                        </p:tgtEl>
                                        <p:attrNameLst>
                                          <p:attrName>style.rotation</p:attrName>
                                        </p:attrNameLst>
                                      </p:cBhvr>
                                      <p:tavLst>
                                        <p:tav tm="0">
                                          <p:val>
                                            <p:fltVal val="-90"/>
                                          </p:val>
                                        </p:tav>
                                        <p:tav tm="100000">
                                          <p:val>
                                            <p:fltVal val="0"/>
                                          </p:val>
                                        </p:tav>
                                      </p:tavLst>
                                    </p:anim>
                                    <p:anim calcmode="lin" valueType="num">
                                      <p:cBhvr>
                                        <p:cTn id="17" dur="800" decel="100000" fill="hold"/>
                                        <p:tgtEl>
                                          <p:spTgt spid="1365094"/>
                                        </p:tgtEl>
                                        <p:attrNameLst>
                                          <p:attrName>ppt_x</p:attrName>
                                        </p:attrNameLst>
                                      </p:cBhvr>
                                      <p:tavLst>
                                        <p:tav tm="0">
                                          <p:val>
                                            <p:strVal val="#ppt_x+0.4"/>
                                          </p:val>
                                        </p:tav>
                                        <p:tav tm="100000">
                                          <p:val>
                                            <p:strVal val="#ppt_x-0.05"/>
                                          </p:val>
                                        </p:tav>
                                      </p:tavLst>
                                    </p:anim>
                                    <p:anim calcmode="lin" valueType="num">
                                      <p:cBhvr>
                                        <p:cTn id="18" dur="800" decel="100000" fill="hold"/>
                                        <p:tgtEl>
                                          <p:spTgt spid="1365094"/>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1365094"/>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1365094"/>
                                        </p:tgtEl>
                                        <p:attrNameLst>
                                          <p:attrName>ppt_y</p:attrName>
                                        </p:attrNameLst>
                                      </p:cBhvr>
                                      <p:tavLst>
                                        <p:tav tm="0">
                                          <p:val>
                                            <p:strVal val="#ppt_y+0.1"/>
                                          </p:val>
                                        </p:tav>
                                        <p:tav tm="100000">
                                          <p:val>
                                            <p:strVal val="#ppt_y"/>
                                          </p:val>
                                        </p:tav>
                                      </p:tavLst>
                                    </p:anim>
                                  </p:childTnLst>
                                </p:cTn>
                              </p:par>
                            </p:childTnLst>
                          </p:cTn>
                        </p:par>
                        <p:par>
                          <p:cTn id="21" fill="hold" nodeType="afterGroup">
                            <p:stCondLst>
                              <p:cond delay="2500"/>
                            </p:stCondLst>
                            <p:childTnLst>
                              <p:par>
                                <p:cTn id="22" presetID="2" presetClass="entr" presetSubtype="2"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2000" fill="hold"/>
                                        <p:tgtEl>
                                          <p:spTgt spid="2"/>
                                        </p:tgtEl>
                                        <p:attrNameLst>
                                          <p:attrName>ppt_x</p:attrName>
                                        </p:attrNameLst>
                                      </p:cBhvr>
                                      <p:tavLst>
                                        <p:tav tm="0">
                                          <p:val>
                                            <p:strVal val="1+#ppt_w/2"/>
                                          </p:val>
                                        </p:tav>
                                        <p:tav tm="100000">
                                          <p:val>
                                            <p:strVal val="#ppt_x"/>
                                          </p:val>
                                        </p:tav>
                                      </p:tavLst>
                                    </p:anim>
                                    <p:anim calcmode="lin" valueType="num">
                                      <p:cBhvr additive="base">
                                        <p:cTn id="25" dur="2000" fill="hold"/>
                                        <p:tgtEl>
                                          <p:spTgt spid="2"/>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4500"/>
                            </p:stCondLst>
                            <p:childTnLst>
                              <p:par>
                                <p:cTn id="27" presetID="22" presetClass="entr" presetSubtype="1" fill="hold" grpId="0" nodeType="afterEffect">
                                  <p:stCondLst>
                                    <p:cond delay="0"/>
                                  </p:stCondLst>
                                  <p:childTnLst>
                                    <p:set>
                                      <p:cBhvr>
                                        <p:cTn id="28" dur="1" fill="hold">
                                          <p:stCondLst>
                                            <p:cond delay="0"/>
                                          </p:stCondLst>
                                        </p:cTn>
                                        <p:tgtEl>
                                          <p:spTgt spid="1365035"/>
                                        </p:tgtEl>
                                        <p:attrNameLst>
                                          <p:attrName>style.visibility</p:attrName>
                                        </p:attrNameLst>
                                      </p:cBhvr>
                                      <p:to>
                                        <p:strVal val="visible"/>
                                      </p:to>
                                    </p:set>
                                    <p:animEffect transition="in" filter="wipe(up)">
                                      <p:cBhvr>
                                        <p:cTn id="29" dur="2000"/>
                                        <p:tgtEl>
                                          <p:spTgt spid="1365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1365094" grpId="0" animBg="1"/>
      <p:bldP spid="1365035" grpId="0"/>
      <p:bldP spid="136509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24"/>
          <p:cNvSpPr>
            <a:spLocks noChangeArrowheads="1"/>
          </p:cNvSpPr>
          <p:nvPr/>
        </p:nvSpPr>
        <p:spPr bwMode="auto">
          <a:xfrm>
            <a:off x="754580" y="4239177"/>
            <a:ext cx="1660819" cy="484684"/>
          </a:xfrm>
          <a:prstGeom prst="rect">
            <a:avLst/>
          </a:prstGeom>
          <a:solidFill>
            <a:schemeClr val="accent6">
              <a:lumMod val="60000"/>
              <a:lumOff val="40000"/>
            </a:schemeClr>
          </a:solidFill>
          <a:ln>
            <a:noFill/>
          </a:ln>
        </p:spPr>
        <p:txBody>
          <a:bodyPr wrap="none" anchor="ctr"/>
          <a:lstStyle/>
          <a:p>
            <a:endParaRPr lang="zh-CN" altLang="en-US"/>
          </a:p>
        </p:txBody>
      </p:sp>
      <p:sp>
        <p:nvSpPr>
          <p:cNvPr id="1366113" name="Rectangle 97"/>
          <p:cNvSpPr>
            <a:spLocks noChangeArrowheads="1"/>
          </p:cNvSpPr>
          <p:nvPr/>
        </p:nvSpPr>
        <p:spPr bwMode="auto">
          <a:xfrm>
            <a:off x="3433323" y="774393"/>
            <a:ext cx="5331117" cy="1852613"/>
          </a:xfrm>
          <a:prstGeom prst="rect">
            <a:avLst/>
          </a:prstGeom>
          <a:solidFill>
            <a:srgbClr val="3333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nchor="ctr">
            <a:spAutoFit/>
          </a:bodyPr>
          <a:lstStyle/>
          <a:p>
            <a:endParaRPr lang="zh-CN" altLang="en-US"/>
          </a:p>
        </p:txBody>
      </p:sp>
      <p:sp>
        <p:nvSpPr>
          <p:cNvPr id="1366028" name="Text Box 12"/>
          <p:cNvSpPr txBox="1">
            <a:spLocks noChangeArrowheads="1"/>
          </p:cNvSpPr>
          <p:nvPr/>
        </p:nvSpPr>
        <p:spPr bwMode="auto">
          <a:xfrm>
            <a:off x="3287899" y="2892982"/>
            <a:ext cx="554555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4638" indent="-2746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ct val="10000"/>
              </a:spcBef>
              <a:spcAft>
                <a:spcPct val="10000"/>
              </a:spcAft>
              <a:buClr>
                <a:srgbClr val="A50021"/>
              </a:buClr>
              <a:buSzPct val="130000"/>
              <a:buFontTx/>
              <a:buChar char="•"/>
            </a:pPr>
            <a:r>
              <a:rPr lang="zh-CN" altLang="en-US" sz="2400" b="1" dirty="0">
                <a:solidFill>
                  <a:srgbClr val="000066"/>
                </a:solidFill>
                <a:ea typeface="幼圆" pitchFamily="49" charset="-122"/>
              </a:rPr>
              <a:t>是云母在碱性介质中风化的</a:t>
            </a:r>
            <a:r>
              <a:rPr lang="zh-CN" altLang="en-US" sz="2400" b="1" dirty="0" smtClean="0">
                <a:solidFill>
                  <a:srgbClr val="000066"/>
                </a:solidFill>
                <a:ea typeface="幼圆" pitchFamily="49" charset="-122"/>
              </a:rPr>
              <a:t>产物</a:t>
            </a:r>
            <a:endParaRPr lang="zh-CN" altLang="en-US" sz="2400" b="1" dirty="0">
              <a:solidFill>
                <a:srgbClr val="000066"/>
              </a:solidFill>
              <a:ea typeface="幼圆" pitchFamily="49" charset="-122"/>
            </a:endParaRPr>
          </a:p>
          <a:p>
            <a:pPr eaLnBrk="1" hangingPunct="1">
              <a:lnSpc>
                <a:spcPct val="110000"/>
              </a:lnSpc>
              <a:spcBef>
                <a:spcPct val="10000"/>
              </a:spcBef>
              <a:spcAft>
                <a:spcPct val="10000"/>
              </a:spcAft>
              <a:buClr>
                <a:srgbClr val="A50021"/>
              </a:buClr>
              <a:buSzPct val="130000"/>
              <a:buFontTx/>
              <a:buChar char="•"/>
            </a:pPr>
            <a:r>
              <a:rPr lang="zh-CN" altLang="en-US" sz="2400" b="1" dirty="0">
                <a:solidFill>
                  <a:srgbClr val="000066"/>
                </a:solidFill>
                <a:ea typeface="幼圆" pitchFamily="49" charset="-122"/>
              </a:rPr>
              <a:t>与蒙特石相似，由两层硅片夹一层铝片所形成的三层结构，但晶层之间有钾离子</a:t>
            </a:r>
            <a:r>
              <a:rPr lang="zh-CN" altLang="en-US" sz="2400" b="1" dirty="0" smtClean="0">
                <a:solidFill>
                  <a:srgbClr val="000066"/>
                </a:solidFill>
                <a:ea typeface="幼圆" pitchFamily="49" charset="-122"/>
              </a:rPr>
              <a:t>连结</a:t>
            </a:r>
            <a:endParaRPr lang="zh-CN" altLang="en-US" sz="2400" b="1" dirty="0">
              <a:solidFill>
                <a:srgbClr val="000066"/>
              </a:solidFill>
              <a:ea typeface="幼圆" pitchFamily="49" charset="-122"/>
            </a:endParaRPr>
          </a:p>
          <a:p>
            <a:pPr eaLnBrk="1" hangingPunct="1">
              <a:lnSpc>
                <a:spcPct val="110000"/>
              </a:lnSpc>
              <a:spcBef>
                <a:spcPct val="10000"/>
              </a:spcBef>
              <a:spcAft>
                <a:spcPct val="10000"/>
              </a:spcAft>
              <a:buClr>
                <a:srgbClr val="A50021"/>
              </a:buClr>
              <a:buSzPct val="130000"/>
              <a:buFontTx/>
              <a:buChar char="•"/>
            </a:pPr>
            <a:r>
              <a:rPr lang="zh-CN" altLang="en-US" sz="2400" b="1" dirty="0">
                <a:solidFill>
                  <a:srgbClr val="000066"/>
                </a:solidFill>
                <a:ea typeface="幼圆" pitchFamily="49" charset="-122"/>
              </a:rPr>
              <a:t>主要特征：连结强度弱于高岭石而高于蒙特石，其特征也介于两者</a:t>
            </a:r>
            <a:r>
              <a:rPr lang="zh-CN" altLang="en-US" sz="2400" b="1" dirty="0" smtClean="0">
                <a:solidFill>
                  <a:srgbClr val="000066"/>
                </a:solidFill>
                <a:ea typeface="幼圆" pitchFamily="49" charset="-122"/>
              </a:rPr>
              <a:t>之间</a:t>
            </a:r>
            <a:endParaRPr lang="zh-CN" altLang="en-US" sz="2400" b="1" dirty="0">
              <a:solidFill>
                <a:srgbClr val="000066"/>
              </a:solidFill>
              <a:ea typeface="幼圆" pitchFamily="49" charset="-122"/>
            </a:endParaRPr>
          </a:p>
        </p:txBody>
      </p:sp>
      <p:grpSp>
        <p:nvGrpSpPr>
          <p:cNvPr id="2" name="Group 13"/>
          <p:cNvGrpSpPr>
            <a:grpSpLocks/>
          </p:cNvGrpSpPr>
          <p:nvPr/>
        </p:nvGrpSpPr>
        <p:grpSpPr bwMode="auto">
          <a:xfrm>
            <a:off x="3510958" y="906366"/>
            <a:ext cx="5040313" cy="1577975"/>
            <a:chOff x="2304" y="484"/>
            <a:chExt cx="3175" cy="994"/>
          </a:xfrm>
        </p:grpSpPr>
        <p:sp>
          <p:nvSpPr>
            <p:cNvPr id="51212" name="Freeform 14"/>
            <p:cNvSpPr>
              <a:spLocks/>
            </p:cNvSpPr>
            <p:nvPr/>
          </p:nvSpPr>
          <p:spPr bwMode="auto">
            <a:xfrm>
              <a:off x="4731" y="484"/>
              <a:ext cx="747" cy="98"/>
            </a:xfrm>
            <a:custGeom>
              <a:avLst/>
              <a:gdLst>
                <a:gd name="T0" fmla="*/ 75 w 747"/>
                <a:gd name="T1" fmla="*/ 4 h 98"/>
                <a:gd name="T2" fmla="*/ 0 w 747"/>
                <a:gd name="T3" fmla="*/ 98 h 98"/>
                <a:gd name="T4" fmla="*/ 747 w 747"/>
                <a:gd name="T5" fmla="*/ 98 h 98"/>
                <a:gd name="T6" fmla="*/ 677 w 747"/>
                <a:gd name="T7" fmla="*/ 9 h 98"/>
                <a:gd name="T8" fmla="*/ 641 w 747"/>
                <a:gd name="T9" fmla="*/ 12 h 98"/>
                <a:gd name="T10" fmla="*/ 605 w 747"/>
                <a:gd name="T11" fmla="*/ 4 h 98"/>
                <a:gd name="T12" fmla="*/ 579 w 747"/>
                <a:gd name="T13" fmla="*/ 7 h 98"/>
                <a:gd name="T14" fmla="*/ 528 w 747"/>
                <a:gd name="T15" fmla="*/ 7 h 98"/>
                <a:gd name="T16" fmla="*/ 499 w 747"/>
                <a:gd name="T17" fmla="*/ 0 h 98"/>
                <a:gd name="T18" fmla="*/ 461 w 747"/>
                <a:gd name="T19" fmla="*/ 9 h 98"/>
                <a:gd name="T20" fmla="*/ 425 w 747"/>
                <a:gd name="T21" fmla="*/ 12 h 98"/>
                <a:gd name="T22" fmla="*/ 384 w 747"/>
                <a:gd name="T23" fmla="*/ 7 h 98"/>
                <a:gd name="T24" fmla="*/ 348 w 747"/>
                <a:gd name="T25" fmla="*/ 2 h 98"/>
                <a:gd name="T26" fmla="*/ 329 w 747"/>
                <a:gd name="T27" fmla="*/ 9 h 98"/>
                <a:gd name="T28" fmla="*/ 288 w 747"/>
                <a:gd name="T29" fmla="*/ 9 h 98"/>
                <a:gd name="T30" fmla="*/ 259 w 747"/>
                <a:gd name="T31" fmla="*/ 4 h 98"/>
                <a:gd name="T32" fmla="*/ 211 w 747"/>
                <a:gd name="T33" fmla="*/ 9 h 98"/>
                <a:gd name="T34" fmla="*/ 147 w 747"/>
                <a:gd name="T35" fmla="*/ 12 h 98"/>
                <a:gd name="T36" fmla="*/ 111 w 747"/>
                <a:gd name="T37" fmla="*/ 7 h 98"/>
                <a:gd name="T38" fmla="*/ 75 w 747"/>
                <a:gd name="T39" fmla="*/ 4 h 9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47"/>
                <a:gd name="T61" fmla="*/ 0 h 98"/>
                <a:gd name="T62" fmla="*/ 747 w 747"/>
                <a:gd name="T63" fmla="*/ 98 h 9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47" h="98">
                  <a:moveTo>
                    <a:pt x="75" y="4"/>
                  </a:moveTo>
                  <a:lnTo>
                    <a:pt x="0" y="98"/>
                  </a:lnTo>
                  <a:lnTo>
                    <a:pt x="747" y="98"/>
                  </a:lnTo>
                  <a:lnTo>
                    <a:pt x="677" y="9"/>
                  </a:lnTo>
                  <a:lnTo>
                    <a:pt x="641" y="12"/>
                  </a:lnTo>
                  <a:lnTo>
                    <a:pt x="605" y="4"/>
                  </a:lnTo>
                  <a:lnTo>
                    <a:pt x="579" y="7"/>
                  </a:lnTo>
                  <a:lnTo>
                    <a:pt x="528" y="7"/>
                  </a:lnTo>
                  <a:lnTo>
                    <a:pt x="499" y="0"/>
                  </a:lnTo>
                  <a:lnTo>
                    <a:pt x="461" y="9"/>
                  </a:lnTo>
                  <a:lnTo>
                    <a:pt x="425" y="12"/>
                  </a:lnTo>
                  <a:lnTo>
                    <a:pt x="384" y="7"/>
                  </a:lnTo>
                  <a:lnTo>
                    <a:pt x="348" y="2"/>
                  </a:lnTo>
                  <a:lnTo>
                    <a:pt x="329" y="9"/>
                  </a:lnTo>
                  <a:lnTo>
                    <a:pt x="288" y="9"/>
                  </a:lnTo>
                  <a:lnTo>
                    <a:pt x="259" y="4"/>
                  </a:lnTo>
                  <a:lnTo>
                    <a:pt x="211" y="9"/>
                  </a:lnTo>
                  <a:lnTo>
                    <a:pt x="147" y="12"/>
                  </a:lnTo>
                  <a:lnTo>
                    <a:pt x="111" y="7"/>
                  </a:lnTo>
                  <a:lnTo>
                    <a:pt x="75" y="4"/>
                  </a:lnTo>
                  <a:close/>
                </a:path>
              </a:pathLst>
            </a:custGeom>
            <a:solidFill>
              <a:srgbClr val="CCCCFF"/>
            </a:solidFill>
            <a:ln w="19050">
              <a:solidFill>
                <a:schemeClr val="bg1"/>
              </a:solidFill>
              <a:round/>
              <a:headEnd/>
              <a:tailEnd/>
            </a:ln>
          </p:spPr>
          <p:txBody>
            <a:bodyPr/>
            <a:lstStyle/>
            <a:p>
              <a:endParaRPr lang="zh-CN" altLang="en-US"/>
            </a:p>
          </p:txBody>
        </p:sp>
        <p:sp>
          <p:nvSpPr>
            <p:cNvPr id="51213" name="Text Box 15"/>
            <p:cNvSpPr txBox="1">
              <a:spLocks noChangeArrowheads="1"/>
            </p:cNvSpPr>
            <p:nvPr/>
          </p:nvSpPr>
          <p:spPr bwMode="auto">
            <a:xfrm>
              <a:off x="2304" y="670"/>
              <a:ext cx="74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200" b="1">
                  <a:solidFill>
                    <a:schemeClr val="bg1"/>
                  </a:solidFill>
                  <a:ea typeface="幼圆" pitchFamily="49" charset="-122"/>
                </a:rPr>
                <a:t>2:1</a:t>
              </a:r>
              <a:r>
                <a:rPr lang="zh-CN" altLang="en-US" sz="2200" b="1">
                  <a:solidFill>
                    <a:schemeClr val="bg1"/>
                  </a:solidFill>
                  <a:ea typeface="幼圆" pitchFamily="49" charset="-122"/>
                </a:rPr>
                <a:t>的三</a:t>
              </a:r>
            </a:p>
            <a:p>
              <a:pPr eaLnBrk="1" hangingPunct="1">
                <a:lnSpc>
                  <a:spcPct val="100000"/>
                </a:lnSpc>
                <a:spcBef>
                  <a:spcPct val="0"/>
                </a:spcBef>
                <a:spcAft>
                  <a:spcPct val="0"/>
                </a:spcAft>
              </a:pPr>
              <a:r>
                <a:rPr lang="zh-CN" altLang="en-US" sz="2200" b="1">
                  <a:solidFill>
                    <a:schemeClr val="bg1"/>
                  </a:solidFill>
                  <a:ea typeface="幼圆" pitchFamily="49" charset="-122"/>
                </a:rPr>
                <a:t>层结构</a:t>
              </a:r>
            </a:p>
          </p:txBody>
        </p:sp>
        <p:grpSp>
          <p:nvGrpSpPr>
            <p:cNvPr id="51214" name="Group 16"/>
            <p:cNvGrpSpPr>
              <a:grpSpLocks/>
            </p:cNvGrpSpPr>
            <p:nvPr/>
          </p:nvGrpSpPr>
          <p:grpSpPr bwMode="auto">
            <a:xfrm>
              <a:off x="3091" y="681"/>
              <a:ext cx="743" cy="607"/>
              <a:chOff x="3076" y="718"/>
              <a:chExt cx="743" cy="607"/>
            </a:xfrm>
          </p:grpSpPr>
          <p:grpSp>
            <p:nvGrpSpPr>
              <p:cNvPr id="51230" name="Group 17"/>
              <p:cNvGrpSpPr>
                <a:grpSpLocks/>
              </p:cNvGrpSpPr>
              <p:nvPr/>
            </p:nvGrpSpPr>
            <p:grpSpPr bwMode="auto">
              <a:xfrm>
                <a:off x="3076" y="1111"/>
                <a:ext cx="743" cy="214"/>
                <a:chOff x="4057" y="2516"/>
                <a:chExt cx="743" cy="214"/>
              </a:xfrm>
            </p:grpSpPr>
            <p:sp>
              <p:nvSpPr>
                <p:cNvPr id="51237" name="AutoShape 18"/>
                <p:cNvSpPr>
                  <a:spLocks noChangeArrowheads="1"/>
                </p:cNvSpPr>
                <p:nvPr/>
              </p:nvSpPr>
              <p:spPr bwMode="auto">
                <a:xfrm flipV="1">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51238" name="Text Box 19"/>
                <p:cNvSpPr txBox="1">
                  <a:spLocks noChangeArrowheads="1"/>
                </p:cNvSpPr>
                <p:nvPr/>
              </p:nvSpPr>
              <p:spPr bwMode="auto">
                <a:xfrm>
                  <a:off x="4166" y="2518"/>
                  <a:ext cx="5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Si       Si</a:t>
                  </a:r>
                </a:p>
              </p:txBody>
            </p:sp>
          </p:grpSp>
          <p:grpSp>
            <p:nvGrpSpPr>
              <p:cNvPr id="51231" name="Group 20"/>
              <p:cNvGrpSpPr>
                <a:grpSpLocks/>
              </p:cNvGrpSpPr>
              <p:nvPr/>
            </p:nvGrpSpPr>
            <p:grpSpPr bwMode="auto">
              <a:xfrm>
                <a:off x="3188" y="914"/>
                <a:ext cx="500" cy="212"/>
                <a:chOff x="4741" y="1561"/>
                <a:chExt cx="500" cy="212"/>
              </a:xfrm>
            </p:grpSpPr>
            <p:sp>
              <p:nvSpPr>
                <p:cNvPr id="51235" name="Rectangle 21"/>
                <p:cNvSpPr>
                  <a:spLocks noChangeArrowheads="1"/>
                </p:cNvSpPr>
                <p:nvPr/>
              </p:nvSpPr>
              <p:spPr bwMode="auto">
                <a:xfrm>
                  <a:off x="4775" y="1567"/>
                  <a:ext cx="454" cy="185"/>
                </a:xfrm>
                <a:prstGeom prst="rect">
                  <a:avLst/>
                </a:prstGeom>
                <a:solidFill>
                  <a:srgbClr val="FFCCFF"/>
                </a:solidFill>
                <a:ln w="12700">
                  <a:solidFill>
                    <a:schemeClr val="bg1"/>
                  </a:solidFill>
                  <a:miter lim="800000"/>
                  <a:headEnd/>
                  <a:tailEnd/>
                </a:ln>
              </p:spPr>
              <p:txBody>
                <a:bodyPr wrap="none" anchor="ctr"/>
                <a:lstStyle/>
                <a:p>
                  <a:endParaRPr lang="zh-CN" altLang="en-US"/>
                </a:p>
              </p:txBody>
            </p:sp>
            <p:sp>
              <p:nvSpPr>
                <p:cNvPr id="51236" name="Text Box 22"/>
                <p:cNvSpPr txBox="1">
                  <a:spLocks noChangeArrowheads="1"/>
                </p:cNvSpPr>
                <p:nvPr/>
              </p:nvSpPr>
              <p:spPr bwMode="auto">
                <a:xfrm>
                  <a:off x="4741" y="1561"/>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Al    Al</a:t>
                  </a:r>
                </a:p>
              </p:txBody>
            </p:sp>
          </p:grpSp>
          <p:grpSp>
            <p:nvGrpSpPr>
              <p:cNvPr id="51232" name="Group 23"/>
              <p:cNvGrpSpPr>
                <a:grpSpLocks/>
              </p:cNvGrpSpPr>
              <p:nvPr/>
            </p:nvGrpSpPr>
            <p:grpSpPr bwMode="auto">
              <a:xfrm>
                <a:off x="3076" y="718"/>
                <a:ext cx="743" cy="214"/>
                <a:chOff x="4057" y="2516"/>
                <a:chExt cx="743" cy="214"/>
              </a:xfrm>
            </p:grpSpPr>
            <p:sp>
              <p:nvSpPr>
                <p:cNvPr id="51233" name="AutoShape 24"/>
                <p:cNvSpPr>
                  <a:spLocks noChangeArrowheads="1"/>
                </p:cNvSpPr>
                <p:nvPr/>
              </p:nvSpPr>
              <p:spPr bwMode="auto">
                <a:xfrm>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51234" name="Text Box 25"/>
                <p:cNvSpPr txBox="1">
                  <a:spLocks noChangeArrowheads="1"/>
                </p:cNvSpPr>
                <p:nvPr/>
              </p:nvSpPr>
              <p:spPr bwMode="auto">
                <a:xfrm>
                  <a:off x="4166" y="2518"/>
                  <a:ext cx="5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Si       Si</a:t>
                  </a:r>
                </a:p>
              </p:txBody>
            </p:sp>
          </p:grpSp>
        </p:grpSp>
        <p:grpSp>
          <p:nvGrpSpPr>
            <p:cNvPr id="51215" name="Group 26"/>
            <p:cNvGrpSpPr>
              <a:grpSpLocks/>
            </p:cNvGrpSpPr>
            <p:nvPr/>
          </p:nvGrpSpPr>
          <p:grpSpPr bwMode="auto">
            <a:xfrm>
              <a:off x="4726" y="1074"/>
              <a:ext cx="743" cy="214"/>
              <a:chOff x="4057" y="2516"/>
              <a:chExt cx="743" cy="214"/>
            </a:xfrm>
          </p:grpSpPr>
          <p:sp>
            <p:nvSpPr>
              <p:cNvPr id="51228" name="AutoShape 27"/>
              <p:cNvSpPr>
                <a:spLocks noChangeArrowheads="1"/>
              </p:cNvSpPr>
              <p:nvPr/>
            </p:nvSpPr>
            <p:spPr bwMode="auto">
              <a:xfrm flipV="1">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51229" name="Text Box 28"/>
              <p:cNvSpPr txBox="1">
                <a:spLocks noChangeArrowheads="1"/>
              </p:cNvSpPr>
              <p:nvPr/>
            </p:nvSpPr>
            <p:spPr bwMode="auto">
              <a:xfrm>
                <a:off x="4166" y="2518"/>
                <a:ext cx="5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Si       Si</a:t>
                </a:r>
              </a:p>
            </p:txBody>
          </p:sp>
        </p:grpSp>
        <p:grpSp>
          <p:nvGrpSpPr>
            <p:cNvPr id="51216" name="Group 29"/>
            <p:cNvGrpSpPr>
              <a:grpSpLocks/>
            </p:cNvGrpSpPr>
            <p:nvPr/>
          </p:nvGrpSpPr>
          <p:grpSpPr bwMode="auto">
            <a:xfrm>
              <a:off x="4838" y="877"/>
              <a:ext cx="500" cy="212"/>
              <a:chOff x="4741" y="1561"/>
              <a:chExt cx="500" cy="212"/>
            </a:xfrm>
          </p:grpSpPr>
          <p:sp>
            <p:nvSpPr>
              <p:cNvPr id="51226" name="Rectangle 30"/>
              <p:cNvSpPr>
                <a:spLocks noChangeArrowheads="1"/>
              </p:cNvSpPr>
              <p:nvPr/>
            </p:nvSpPr>
            <p:spPr bwMode="auto">
              <a:xfrm>
                <a:off x="4775" y="1567"/>
                <a:ext cx="454" cy="185"/>
              </a:xfrm>
              <a:prstGeom prst="rect">
                <a:avLst/>
              </a:prstGeom>
              <a:solidFill>
                <a:srgbClr val="FFCCFF"/>
              </a:solidFill>
              <a:ln w="12700">
                <a:solidFill>
                  <a:schemeClr val="bg1"/>
                </a:solidFill>
                <a:miter lim="800000"/>
                <a:headEnd/>
                <a:tailEnd/>
              </a:ln>
            </p:spPr>
            <p:txBody>
              <a:bodyPr wrap="none" anchor="ctr"/>
              <a:lstStyle/>
              <a:p>
                <a:endParaRPr lang="zh-CN" altLang="en-US"/>
              </a:p>
            </p:txBody>
          </p:sp>
          <p:sp>
            <p:nvSpPr>
              <p:cNvPr id="51227" name="Text Box 31"/>
              <p:cNvSpPr txBox="1">
                <a:spLocks noChangeArrowheads="1"/>
              </p:cNvSpPr>
              <p:nvPr/>
            </p:nvSpPr>
            <p:spPr bwMode="auto">
              <a:xfrm>
                <a:off x="4741" y="1561"/>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Al    Al</a:t>
                </a:r>
              </a:p>
            </p:txBody>
          </p:sp>
        </p:grpSp>
        <p:grpSp>
          <p:nvGrpSpPr>
            <p:cNvPr id="51217" name="Group 32"/>
            <p:cNvGrpSpPr>
              <a:grpSpLocks/>
            </p:cNvGrpSpPr>
            <p:nvPr/>
          </p:nvGrpSpPr>
          <p:grpSpPr bwMode="auto">
            <a:xfrm>
              <a:off x="4726" y="681"/>
              <a:ext cx="743" cy="214"/>
              <a:chOff x="4057" y="2516"/>
              <a:chExt cx="743" cy="214"/>
            </a:xfrm>
          </p:grpSpPr>
          <p:sp>
            <p:nvSpPr>
              <p:cNvPr id="51224" name="AutoShape 33"/>
              <p:cNvSpPr>
                <a:spLocks noChangeArrowheads="1"/>
              </p:cNvSpPr>
              <p:nvPr/>
            </p:nvSpPr>
            <p:spPr bwMode="auto">
              <a:xfrm>
                <a:off x="4057" y="2516"/>
                <a:ext cx="743" cy="19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954 w 21600"/>
                  <a:gd name="T13" fmla="*/ 3988 h 21600"/>
                  <a:gd name="T14" fmla="*/ 17646 w 21600"/>
                  <a:gd name="T15" fmla="*/ 17612 h 21600"/>
                </a:gdLst>
                <a:ahLst/>
                <a:cxnLst>
                  <a:cxn ang="T8">
                    <a:pos x="T0" y="T1"/>
                  </a:cxn>
                  <a:cxn ang="T9">
                    <a:pos x="T2" y="T3"/>
                  </a:cxn>
                  <a:cxn ang="T10">
                    <a:pos x="T4" y="T5"/>
                  </a:cxn>
                  <a:cxn ang="T11">
                    <a:pos x="T6" y="T7"/>
                  </a:cxn>
                </a:cxnLst>
                <a:rect l="T12" t="T13" r="T14" b="T15"/>
                <a:pathLst>
                  <a:path w="21600" h="21600">
                    <a:moveTo>
                      <a:pt x="0" y="0"/>
                    </a:moveTo>
                    <a:lnTo>
                      <a:pt x="4296" y="21600"/>
                    </a:lnTo>
                    <a:lnTo>
                      <a:pt x="17304" y="21600"/>
                    </a:lnTo>
                    <a:lnTo>
                      <a:pt x="21600" y="0"/>
                    </a:lnTo>
                    <a:close/>
                  </a:path>
                </a:pathLst>
              </a:custGeom>
              <a:solidFill>
                <a:srgbClr val="CCCCFF"/>
              </a:solidFill>
              <a:ln w="19050">
                <a:solidFill>
                  <a:schemeClr val="bg1"/>
                </a:solidFill>
                <a:miter lim="800000"/>
                <a:headEnd/>
                <a:tailEnd/>
              </a:ln>
            </p:spPr>
            <p:txBody>
              <a:bodyPr wrap="none" anchor="ctr"/>
              <a:lstStyle/>
              <a:p>
                <a:endParaRPr lang="zh-CN" altLang="en-US"/>
              </a:p>
            </p:txBody>
          </p:sp>
          <p:sp>
            <p:nvSpPr>
              <p:cNvPr id="51225" name="Text Box 34"/>
              <p:cNvSpPr txBox="1">
                <a:spLocks noChangeArrowheads="1"/>
              </p:cNvSpPr>
              <p:nvPr/>
            </p:nvSpPr>
            <p:spPr bwMode="auto">
              <a:xfrm>
                <a:off x="4166" y="2518"/>
                <a:ext cx="5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a:solidFill>
                      <a:srgbClr val="000066"/>
                    </a:solidFill>
                  </a:rPr>
                  <a:t>Si       Si</a:t>
                </a:r>
              </a:p>
            </p:txBody>
          </p:sp>
        </p:grpSp>
        <p:sp>
          <p:nvSpPr>
            <p:cNvPr id="51218" name="Freeform 35"/>
            <p:cNvSpPr>
              <a:spLocks/>
            </p:cNvSpPr>
            <p:nvPr/>
          </p:nvSpPr>
          <p:spPr bwMode="auto">
            <a:xfrm flipV="1">
              <a:off x="4732" y="1380"/>
              <a:ext cx="747" cy="98"/>
            </a:xfrm>
            <a:custGeom>
              <a:avLst/>
              <a:gdLst>
                <a:gd name="T0" fmla="*/ 75 w 747"/>
                <a:gd name="T1" fmla="*/ 4 h 98"/>
                <a:gd name="T2" fmla="*/ 0 w 747"/>
                <a:gd name="T3" fmla="*/ 98 h 98"/>
                <a:gd name="T4" fmla="*/ 747 w 747"/>
                <a:gd name="T5" fmla="*/ 98 h 98"/>
                <a:gd name="T6" fmla="*/ 677 w 747"/>
                <a:gd name="T7" fmla="*/ 9 h 98"/>
                <a:gd name="T8" fmla="*/ 641 w 747"/>
                <a:gd name="T9" fmla="*/ 12 h 98"/>
                <a:gd name="T10" fmla="*/ 605 w 747"/>
                <a:gd name="T11" fmla="*/ 4 h 98"/>
                <a:gd name="T12" fmla="*/ 579 w 747"/>
                <a:gd name="T13" fmla="*/ 7 h 98"/>
                <a:gd name="T14" fmla="*/ 528 w 747"/>
                <a:gd name="T15" fmla="*/ 7 h 98"/>
                <a:gd name="T16" fmla="*/ 499 w 747"/>
                <a:gd name="T17" fmla="*/ 0 h 98"/>
                <a:gd name="T18" fmla="*/ 461 w 747"/>
                <a:gd name="T19" fmla="*/ 9 h 98"/>
                <a:gd name="T20" fmla="*/ 425 w 747"/>
                <a:gd name="T21" fmla="*/ 12 h 98"/>
                <a:gd name="T22" fmla="*/ 384 w 747"/>
                <a:gd name="T23" fmla="*/ 7 h 98"/>
                <a:gd name="T24" fmla="*/ 348 w 747"/>
                <a:gd name="T25" fmla="*/ 2 h 98"/>
                <a:gd name="T26" fmla="*/ 329 w 747"/>
                <a:gd name="T27" fmla="*/ 9 h 98"/>
                <a:gd name="T28" fmla="*/ 288 w 747"/>
                <a:gd name="T29" fmla="*/ 9 h 98"/>
                <a:gd name="T30" fmla="*/ 259 w 747"/>
                <a:gd name="T31" fmla="*/ 4 h 98"/>
                <a:gd name="T32" fmla="*/ 211 w 747"/>
                <a:gd name="T33" fmla="*/ 9 h 98"/>
                <a:gd name="T34" fmla="*/ 147 w 747"/>
                <a:gd name="T35" fmla="*/ 12 h 98"/>
                <a:gd name="T36" fmla="*/ 111 w 747"/>
                <a:gd name="T37" fmla="*/ 7 h 98"/>
                <a:gd name="T38" fmla="*/ 75 w 747"/>
                <a:gd name="T39" fmla="*/ 4 h 9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47"/>
                <a:gd name="T61" fmla="*/ 0 h 98"/>
                <a:gd name="T62" fmla="*/ 747 w 747"/>
                <a:gd name="T63" fmla="*/ 98 h 9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47" h="98">
                  <a:moveTo>
                    <a:pt x="75" y="4"/>
                  </a:moveTo>
                  <a:lnTo>
                    <a:pt x="0" y="98"/>
                  </a:lnTo>
                  <a:lnTo>
                    <a:pt x="747" y="98"/>
                  </a:lnTo>
                  <a:lnTo>
                    <a:pt x="677" y="9"/>
                  </a:lnTo>
                  <a:lnTo>
                    <a:pt x="641" y="12"/>
                  </a:lnTo>
                  <a:lnTo>
                    <a:pt x="605" y="4"/>
                  </a:lnTo>
                  <a:lnTo>
                    <a:pt x="579" y="7"/>
                  </a:lnTo>
                  <a:lnTo>
                    <a:pt x="528" y="7"/>
                  </a:lnTo>
                  <a:lnTo>
                    <a:pt x="499" y="0"/>
                  </a:lnTo>
                  <a:lnTo>
                    <a:pt x="461" y="9"/>
                  </a:lnTo>
                  <a:lnTo>
                    <a:pt x="425" y="12"/>
                  </a:lnTo>
                  <a:lnTo>
                    <a:pt x="384" y="7"/>
                  </a:lnTo>
                  <a:lnTo>
                    <a:pt x="348" y="2"/>
                  </a:lnTo>
                  <a:lnTo>
                    <a:pt x="329" y="9"/>
                  </a:lnTo>
                  <a:lnTo>
                    <a:pt x="288" y="9"/>
                  </a:lnTo>
                  <a:lnTo>
                    <a:pt x="259" y="4"/>
                  </a:lnTo>
                  <a:lnTo>
                    <a:pt x="211" y="9"/>
                  </a:lnTo>
                  <a:lnTo>
                    <a:pt x="147" y="12"/>
                  </a:lnTo>
                  <a:lnTo>
                    <a:pt x="111" y="7"/>
                  </a:lnTo>
                  <a:lnTo>
                    <a:pt x="75" y="4"/>
                  </a:lnTo>
                  <a:close/>
                </a:path>
              </a:pathLst>
            </a:custGeom>
            <a:solidFill>
              <a:srgbClr val="CCCCFF"/>
            </a:solidFill>
            <a:ln w="19050">
              <a:solidFill>
                <a:schemeClr val="bg1"/>
              </a:solidFill>
              <a:round/>
              <a:headEnd/>
              <a:tailEnd/>
            </a:ln>
          </p:spPr>
          <p:txBody>
            <a:bodyPr/>
            <a:lstStyle/>
            <a:p>
              <a:endParaRPr lang="zh-CN" altLang="en-US"/>
            </a:p>
          </p:txBody>
        </p:sp>
        <p:sp>
          <p:nvSpPr>
            <p:cNvPr id="51219" name="Text Box 36"/>
            <p:cNvSpPr txBox="1">
              <a:spLocks noChangeArrowheads="1"/>
            </p:cNvSpPr>
            <p:nvPr/>
          </p:nvSpPr>
          <p:spPr bwMode="auto">
            <a:xfrm>
              <a:off x="4046" y="678"/>
              <a:ext cx="64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lang="zh-CN" altLang="en-US" sz="2200" b="1">
                  <a:solidFill>
                    <a:schemeClr val="bg1"/>
                  </a:solidFill>
                  <a:ea typeface="幼圆" pitchFamily="49" charset="-122"/>
                </a:rPr>
                <a:t>钾离子</a:t>
              </a:r>
              <a:endParaRPr lang="en-US" altLang="zh-CN" sz="2200" b="1">
                <a:solidFill>
                  <a:schemeClr val="bg1"/>
                </a:solidFill>
                <a:ea typeface="幼圆" pitchFamily="49" charset="-122"/>
              </a:endParaRPr>
            </a:p>
          </p:txBody>
        </p:sp>
        <p:sp>
          <p:nvSpPr>
            <p:cNvPr id="51220" name="Line 37"/>
            <p:cNvSpPr>
              <a:spLocks noChangeShapeType="1"/>
            </p:cNvSpPr>
            <p:nvPr/>
          </p:nvSpPr>
          <p:spPr bwMode="auto">
            <a:xfrm flipH="1">
              <a:off x="4565" y="641"/>
              <a:ext cx="302" cy="2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1" name="Oval 38"/>
            <p:cNvSpPr>
              <a:spLocks noChangeArrowheads="1"/>
            </p:cNvSpPr>
            <p:nvPr/>
          </p:nvSpPr>
          <p:spPr bwMode="auto">
            <a:xfrm>
              <a:off x="4887" y="602"/>
              <a:ext cx="56" cy="56"/>
            </a:xfrm>
            <a:prstGeom prst="ellipse">
              <a:avLst/>
            </a:prstGeom>
            <a:solidFill>
              <a:srgbClr val="FFFF99"/>
            </a:solidFill>
            <a:ln w="9525">
              <a:solidFill>
                <a:srgbClr val="FFFF00"/>
              </a:solidFill>
              <a:round/>
              <a:headEnd/>
              <a:tailEnd/>
            </a:ln>
          </p:spPr>
          <p:txBody>
            <a:bodyPr wrap="none" anchor="ctr"/>
            <a:lstStyle/>
            <a:p>
              <a:endParaRPr lang="zh-CN" altLang="en-US"/>
            </a:p>
          </p:txBody>
        </p:sp>
        <p:sp>
          <p:nvSpPr>
            <p:cNvPr id="51222" name="Oval 39"/>
            <p:cNvSpPr>
              <a:spLocks noChangeArrowheads="1"/>
            </p:cNvSpPr>
            <p:nvPr/>
          </p:nvSpPr>
          <p:spPr bwMode="auto">
            <a:xfrm>
              <a:off x="5224" y="604"/>
              <a:ext cx="56" cy="56"/>
            </a:xfrm>
            <a:prstGeom prst="ellipse">
              <a:avLst/>
            </a:prstGeom>
            <a:solidFill>
              <a:srgbClr val="FFFF99"/>
            </a:solidFill>
            <a:ln w="9525">
              <a:solidFill>
                <a:srgbClr val="FFFF00"/>
              </a:solidFill>
              <a:round/>
              <a:headEnd/>
              <a:tailEnd/>
            </a:ln>
          </p:spPr>
          <p:txBody>
            <a:bodyPr wrap="none" anchor="ctr"/>
            <a:lstStyle/>
            <a:p>
              <a:endParaRPr lang="zh-CN" altLang="en-US"/>
            </a:p>
          </p:txBody>
        </p:sp>
        <p:sp>
          <p:nvSpPr>
            <p:cNvPr id="51223" name="Oval 40"/>
            <p:cNvSpPr>
              <a:spLocks noChangeArrowheads="1"/>
            </p:cNvSpPr>
            <p:nvPr/>
          </p:nvSpPr>
          <p:spPr bwMode="auto">
            <a:xfrm>
              <a:off x="5062" y="1300"/>
              <a:ext cx="56" cy="56"/>
            </a:xfrm>
            <a:prstGeom prst="ellipse">
              <a:avLst/>
            </a:prstGeom>
            <a:solidFill>
              <a:srgbClr val="FFFF99"/>
            </a:solidFill>
            <a:ln w="9525">
              <a:solidFill>
                <a:srgbClr val="FFFF00"/>
              </a:solidFill>
              <a:round/>
              <a:headEnd/>
              <a:tailEnd/>
            </a:ln>
          </p:spPr>
          <p:txBody>
            <a:bodyPr wrap="none" anchor="ctr"/>
            <a:lstStyle/>
            <a:p>
              <a:endParaRPr lang="zh-CN" altLang="en-US"/>
            </a:p>
          </p:txBody>
        </p:sp>
      </p:grpSp>
      <p:sp>
        <p:nvSpPr>
          <p:cNvPr id="51207" name="Text Box 98"/>
          <p:cNvSpPr txBox="1">
            <a:spLocks noChangeArrowheads="1"/>
          </p:cNvSpPr>
          <p:nvPr/>
        </p:nvSpPr>
        <p:spPr bwMode="auto">
          <a:xfrm>
            <a:off x="411163" y="735013"/>
            <a:ext cx="286067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kumimoji="1" lang="zh-CN" altLang="en-US" sz="2400" b="1">
                <a:solidFill>
                  <a:srgbClr val="000066"/>
                </a:solidFill>
                <a:latin typeface="幼圆" pitchFamily="49" charset="-122"/>
                <a:ea typeface="幼圆" pitchFamily="49" charset="-122"/>
              </a:rPr>
              <a:t>依硅片和铝片组叠形式的不同，可分成如下三种类型：</a:t>
            </a:r>
            <a:endParaRPr kumimoji="1" lang="en-US" altLang="zh-CN" sz="2400" b="1">
              <a:solidFill>
                <a:srgbClr val="000066"/>
              </a:solidFill>
              <a:latin typeface="幼圆" pitchFamily="49" charset="-122"/>
              <a:ea typeface="幼圆" pitchFamily="49" charset="-122"/>
            </a:endParaRPr>
          </a:p>
        </p:txBody>
      </p:sp>
      <p:sp>
        <p:nvSpPr>
          <p:cNvPr id="51208" name="Text Box 99"/>
          <p:cNvSpPr txBox="1">
            <a:spLocks noChangeArrowheads="1"/>
          </p:cNvSpPr>
          <p:nvPr/>
        </p:nvSpPr>
        <p:spPr bwMode="auto">
          <a:xfrm>
            <a:off x="785813" y="2860675"/>
            <a:ext cx="1589087"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45000"/>
              </a:lnSpc>
              <a:buFont typeface="Wingdings" pitchFamily="2" charset="2"/>
              <a:buChar char="²"/>
            </a:pPr>
            <a:r>
              <a:rPr kumimoji="1" lang="zh-CN" altLang="en-US" sz="2400" b="1" dirty="0">
                <a:solidFill>
                  <a:srgbClr val="000066"/>
                </a:solidFill>
                <a:latin typeface="幼圆" pitchFamily="49" charset="-122"/>
                <a:ea typeface="幼圆" pitchFamily="49" charset="-122"/>
              </a:rPr>
              <a:t> 高岭石</a:t>
            </a:r>
          </a:p>
          <a:p>
            <a:pPr eaLnBrk="1" hangingPunct="1">
              <a:lnSpc>
                <a:spcPct val="145000"/>
              </a:lnSpc>
              <a:buFont typeface="Wingdings" pitchFamily="2" charset="2"/>
              <a:buChar char="²"/>
            </a:pPr>
            <a:r>
              <a:rPr kumimoji="1" lang="zh-CN" altLang="en-US" sz="2400" b="1" dirty="0">
                <a:solidFill>
                  <a:srgbClr val="000066"/>
                </a:solidFill>
                <a:latin typeface="幼圆" pitchFamily="49" charset="-122"/>
                <a:ea typeface="幼圆" pitchFamily="49" charset="-122"/>
              </a:rPr>
              <a:t> 蒙特石</a:t>
            </a:r>
          </a:p>
          <a:p>
            <a:pPr eaLnBrk="1" hangingPunct="1">
              <a:lnSpc>
                <a:spcPct val="145000"/>
              </a:lnSpc>
              <a:buFont typeface="Wingdings" pitchFamily="2" charset="2"/>
              <a:buChar char="²"/>
            </a:pPr>
            <a:r>
              <a:rPr kumimoji="1" lang="zh-CN" altLang="en-US" sz="2400" b="1" dirty="0">
                <a:solidFill>
                  <a:srgbClr val="000066"/>
                </a:solidFill>
                <a:latin typeface="幼圆" pitchFamily="49" charset="-122"/>
                <a:ea typeface="幼圆" pitchFamily="49" charset="-122"/>
              </a:rPr>
              <a:t> 伊利石</a:t>
            </a:r>
          </a:p>
        </p:txBody>
      </p:sp>
      <p:sp>
        <p:nvSpPr>
          <p:cNvPr id="1366117" name="AutoShape 101"/>
          <p:cNvSpPr>
            <a:spLocks noChangeArrowheads="1"/>
          </p:cNvSpPr>
          <p:nvPr/>
        </p:nvSpPr>
        <p:spPr bwMode="auto">
          <a:xfrm>
            <a:off x="2650226" y="4246028"/>
            <a:ext cx="400050" cy="430212"/>
          </a:xfrm>
          <a:prstGeom prst="homePlate">
            <a:avLst>
              <a:gd name="adj" fmla="val 25000"/>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51211" name="Rectangle 102"/>
          <p:cNvSpPr>
            <a:spLocks noChangeArrowheads="1"/>
          </p:cNvSpPr>
          <p:nvPr/>
        </p:nvSpPr>
        <p:spPr bwMode="auto">
          <a:xfrm>
            <a:off x="742950" y="2757488"/>
            <a:ext cx="1700213" cy="2328862"/>
          </a:xfrm>
          <a:prstGeom prst="rect">
            <a:avLst/>
          </a:prstGeom>
          <a:noFill/>
          <a:ln w="38100" cmpd="dbl" algn="ctr">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0" name="Text Box 6"/>
          <p:cNvSpPr txBox="1">
            <a:spLocks noChangeArrowheads="1"/>
          </p:cNvSpPr>
          <p:nvPr/>
        </p:nvSpPr>
        <p:spPr bwMode="auto">
          <a:xfrm>
            <a:off x="2886106" y="5731923"/>
            <a:ext cx="3360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黏 </a:t>
            </a:r>
            <a:r>
              <a:rPr kumimoji="1" lang="zh-CN" altLang="en-US" sz="4000" b="1" dirty="0">
                <a:solidFill>
                  <a:srgbClr val="000066"/>
                </a:solidFill>
                <a:latin typeface="黑体" pitchFamily="2" charset="-122"/>
                <a:ea typeface="黑体" pitchFamily="2" charset="-122"/>
              </a:rPr>
              <a:t>土 矿 物</a:t>
            </a:r>
          </a:p>
        </p:txBody>
      </p:sp>
      <p:sp>
        <p:nvSpPr>
          <p:cNvPr id="41"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16656894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66117"/>
                                        </p:tgtEl>
                                        <p:attrNameLst>
                                          <p:attrName>style.visibility</p:attrName>
                                        </p:attrNameLst>
                                      </p:cBhvr>
                                      <p:to>
                                        <p:strVal val="visible"/>
                                      </p:to>
                                    </p:set>
                                    <p:animEffect transition="in" filter="wipe(left)">
                                      <p:cBhvr>
                                        <p:cTn id="11" dur="1000"/>
                                        <p:tgtEl>
                                          <p:spTgt spid="1366117"/>
                                        </p:tgtEl>
                                      </p:cBhvr>
                                    </p:animEffect>
                                  </p:childTnLst>
                                </p:cTn>
                              </p:par>
                            </p:childTnLst>
                          </p:cTn>
                        </p:par>
                        <p:par>
                          <p:cTn id="12" fill="hold" nodeType="afterGroup">
                            <p:stCondLst>
                              <p:cond delay="1500"/>
                            </p:stCondLst>
                            <p:childTnLst>
                              <p:par>
                                <p:cTn id="13" presetID="30" presetClass="entr" presetSubtype="0" fill="hold" grpId="0" nodeType="afterEffect">
                                  <p:stCondLst>
                                    <p:cond delay="0"/>
                                  </p:stCondLst>
                                  <p:childTnLst>
                                    <p:set>
                                      <p:cBhvr>
                                        <p:cTn id="14" dur="1" fill="hold">
                                          <p:stCondLst>
                                            <p:cond delay="0"/>
                                          </p:stCondLst>
                                        </p:cTn>
                                        <p:tgtEl>
                                          <p:spTgt spid="1366113"/>
                                        </p:tgtEl>
                                        <p:attrNameLst>
                                          <p:attrName>style.visibility</p:attrName>
                                        </p:attrNameLst>
                                      </p:cBhvr>
                                      <p:to>
                                        <p:strVal val="visible"/>
                                      </p:to>
                                    </p:set>
                                    <p:animEffect transition="in" filter="fade">
                                      <p:cBhvr>
                                        <p:cTn id="15" dur="800" decel="100000"/>
                                        <p:tgtEl>
                                          <p:spTgt spid="1366113"/>
                                        </p:tgtEl>
                                      </p:cBhvr>
                                    </p:animEffect>
                                    <p:anim calcmode="lin" valueType="num">
                                      <p:cBhvr>
                                        <p:cTn id="16" dur="800" decel="100000" fill="hold"/>
                                        <p:tgtEl>
                                          <p:spTgt spid="1366113"/>
                                        </p:tgtEl>
                                        <p:attrNameLst>
                                          <p:attrName>style.rotation</p:attrName>
                                        </p:attrNameLst>
                                      </p:cBhvr>
                                      <p:tavLst>
                                        <p:tav tm="0">
                                          <p:val>
                                            <p:fltVal val="-90"/>
                                          </p:val>
                                        </p:tav>
                                        <p:tav tm="100000">
                                          <p:val>
                                            <p:fltVal val="0"/>
                                          </p:val>
                                        </p:tav>
                                      </p:tavLst>
                                    </p:anim>
                                    <p:anim calcmode="lin" valueType="num">
                                      <p:cBhvr>
                                        <p:cTn id="17" dur="800" decel="100000" fill="hold"/>
                                        <p:tgtEl>
                                          <p:spTgt spid="1366113"/>
                                        </p:tgtEl>
                                        <p:attrNameLst>
                                          <p:attrName>ppt_x</p:attrName>
                                        </p:attrNameLst>
                                      </p:cBhvr>
                                      <p:tavLst>
                                        <p:tav tm="0">
                                          <p:val>
                                            <p:strVal val="#ppt_x+0.4"/>
                                          </p:val>
                                        </p:tav>
                                        <p:tav tm="100000">
                                          <p:val>
                                            <p:strVal val="#ppt_x-0.05"/>
                                          </p:val>
                                        </p:tav>
                                      </p:tavLst>
                                    </p:anim>
                                    <p:anim calcmode="lin" valueType="num">
                                      <p:cBhvr>
                                        <p:cTn id="18" dur="800" decel="100000" fill="hold"/>
                                        <p:tgtEl>
                                          <p:spTgt spid="1366113"/>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1366113"/>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1366113"/>
                                        </p:tgtEl>
                                        <p:attrNameLst>
                                          <p:attrName>ppt_y</p:attrName>
                                        </p:attrNameLst>
                                      </p:cBhvr>
                                      <p:tavLst>
                                        <p:tav tm="0">
                                          <p:val>
                                            <p:strVal val="#ppt_y+0.1"/>
                                          </p:val>
                                        </p:tav>
                                        <p:tav tm="100000">
                                          <p:val>
                                            <p:strVal val="#ppt_y"/>
                                          </p:val>
                                        </p:tav>
                                      </p:tavLst>
                                    </p:anim>
                                  </p:childTnLst>
                                </p:cTn>
                              </p:par>
                            </p:childTnLst>
                          </p:cTn>
                        </p:par>
                        <p:par>
                          <p:cTn id="21" fill="hold" nodeType="afterGroup">
                            <p:stCondLst>
                              <p:cond delay="2500"/>
                            </p:stCondLst>
                            <p:childTnLst>
                              <p:par>
                                <p:cTn id="22" presetID="2" presetClass="entr" presetSubtype="2"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2000" fill="hold"/>
                                        <p:tgtEl>
                                          <p:spTgt spid="2"/>
                                        </p:tgtEl>
                                        <p:attrNameLst>
                                          <p:attrName>ppt_x</p:attrName>
                                        </p:attrNameLst>
                                      </p:cBhvr>
                                      <p:tavLst>
                                        <p:tav tm="0">
                                          <p:val>
                                            <p:strVal val="1+#ppt_w/2"/>
                                          </p:val>
                                        </p:tav>
                                        <p:tav tm="100000">
                                          <p:val>
                                            <p:strVal val="#ppt_x"/>
                                          </p:val>
                                        </p:tav>
                                      </p:tavLst>
                                    </p:anim>
                                    <p:anim calcmode="lin" valueType="num">
                                      <p:cBhvr additive="base">
                                        <p:cTn id="25" dur="2000" fill="hold"/>
                                        <p:tgtEl>
                                          <p:spTgt spid="2"/>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4500"/>
                            </p:stCondLst>
                            <p:childTnLst>
                              <p:par>
                                <p:cTn id="27" presetID="22" presetClass="entr" presetSubtype="1" fill="hold" grpId="0" nodeType="afterEffect">
                                  <p:stCondLst>
                                    <p:cond delay="0"/>
                                  </p:stCondLst>
                                  <p:childTnLst>
                                    <p:set>
                                      <p:cBhvr>
                                        <p:cTn id="28" dur="1" fill="hold">
                                          <p:stCondLst>
                                            <p:cond delay="0"/>
                                          </p:stCondLst>
                                        </p:cTn>
                                        <p:tgtEl>
                                          <p:spTgt spid="1366028"/>
                                        </p:tgtEl>
                                        <p:attrNameLst>
                                          <p:attrName>style.visibility</p:attrName>
                                        </p:attrNameLst>
                                      </p:cBhvr>
                                      <p:to>
                                        <p:strVal val="visible"/>
                                      </p:to>
                                    </p:set>
                                    <p:animEffect transition="in" filter="wipe(up)">
                                      <p:cBhvr>
                                        <p:cTn id="29" dur="2000"/>
                                        <p:tgtEl>
                                          <p:spTgt spid="1366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1366113" grpId="0" animBg="1"/>
      <p:bldP spid="1366028" grpId="0"/>
      <p:bldP spid="13661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6"/>
          <p:cNvSpPr>
            <a:spLocks noChangeArrowheads="1"/>
          </p:cNvSpPr>
          <p:nvPr/>
        </p:nvSpPr>
        <p:spPr bwMode="auto">
          <a:xfrm>
            <a:off x="4416725" y="3424692"/>
            <a:ext cx="4457400" cy="2139381"/>
          </a:xfrm>
          <a:prstGeom prst="rect">
            <a:avLst/>
          </a:prstGeom>
          <a:solidFill>
            <a:schemeClr val="bg2">
              <a:lumMod val="90000"/>
            </a:schemeClr>
          </a:solidFill>
          <a:ln>
            <a:noFill/>
          </a:ln>
        </p:spPr>
        <p:txBody>
          <a:bodyPr wrap="none" anchor="ctr"/>
          <a:lstStyle/>
          <a:p>
            <a:endParaRPr lang="zh-CN" altLang="en-US"/>
          </a:p>
        </p:txBody>
      </p:sp>
      <p:sp>
        <p:nvSpPr>
          <p:cNvPr id="52228" name="Oval 7"/>
          <p:cNvSpPr>
            <a:spLocks noChangeArrowheads="1"/>
          </p:cNvSpPr>
          <p:nvPr/>
        </p:nvSpPr>
        <p:spPr bwMode="auto">
          <a:xfrm rot="15159782">
            <a:off x="5391944" y="4413776"/>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2229" name="Oval 8"/>
          <p:cNvSpPr>
            <a:spLocks noChangeArrowheads="1"/>
          </p:cNvSpPr>
          <p:nvPr/>
        </p:nvSpPr>
        <p:spPr bwMode="auto">
          <a:xfrm rot="15159782">
            <a:off x="6385719" y="4055001"/>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2230" name="Oval 9"/>
          <p:cNvSpPr>
            <a:spLocks noChangeArrowheads="1"/>
          </p:cNvSpPr>
          <p:nvPr/>
        </p:nvSpPr>
        <p:spPr bwMode="auto">
          <a:xfrm rot="4359781">
            <a:off x="6403182" y="4915426"/>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2231" name="Oval 10"/>
          <p:cNvSpPr>
            <a:spLocks noChangeArrowheads="1"/>
          </p:cNvSpPr>
          <p:nvPr/>
        </p:nvSpPr>
        <p:spPr bwMode="auto">
          <a:xfrm rot="4359781">
            <a:off x="7233444" y="4582051"/>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2232" name="Line 11"/>
          <p:cNvSpPr>
            <a:spLocks noChangeShapeType="1"/>
          </p:cNvSpPr>
          <p:nvPr/>
        </p:nvSpPr>
        <p:spPr bwMode="auto">
          <a:xfrm rot="15159782">
            <a:off x="5476875" y="44415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3" name="Line 12"/>
          <p:cNvSpPr>
            <a:spLocks noChangeShapeType="1"/>
          </p:cNvSpPr>
          <p:nvPr/>
        </p:nvSpPr>
        <p:spPr bwMode="auto">
          <a:xfrm rot="15159782">
            <a:off x="5510213" y="4551095"/>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4" name="Line 13"/>
          <p:cNvSpPr>
            <a:spLocks noChangeShapeType="1"/>
          </p:cNvSpPr>
          <p:nvPr/>
        </p:nvSpPr>
        <p:spPr bwMode="auto">
          <a:xfrm rot="20559782">
            <a:off x="5511800" y="45495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5" name="Line 14"/>
          <p:cNvSpPr>
            <a:spLocks noChangeShapeType="1"/>
          </p:cNvSpPr>
          <p:nvPr/>
        </p:nvSpPr>
        <p:spPr bwMode="auto">
          <a:xfrm rot="15159782">
            <a:off x="6470650" y="40827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6" name="Line 15"/>
          <p:cNvSpPr>
            <a:spLocks noChangeShapeType="1"/>
          </p:cNvSpPr>
          <p:nvPr/>
        </p:nvSpPr>
        <p:spPr bwMode="auto">
          <a:xfrm rot="15159782">
            <a:off x="6503988" y="4192320"/>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7" name="Line 16"/>
          <p:cNvSpPr>
            <a:spLocks noChangeShapeType="1"/>
          </p:cNvSpPr>
          <p:nvPr/>
        </p:nvSpPr>
        <p:spPr bwMode="auto">
          <a:xfrm rot="20559782">
            <a:off x="6505575" y="41907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8" name="Line 17"/>
          <p:cNvSpPr>
            <a:spLocks noChangeShapeType="1"/>
          </p:cNvSpPr>
          <p:nvPr/>
        </p:nvSpPr>
        <p:spPr bwMode="auto">
          <a:xfrm rot="4359781">
            <a:off x="6527800" y="5062270"/>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9" name="Line 18"/>
          <p:cNvSpPr>
            <a:spLocks noChangeShapeType="1"/>
          </p:cNvSpPr>
          <p:nvPr/>
        </p:nvSpPr>
        <p:spPr bwMode="auto">
          <a:xfrm rot="4359781">
            <a:off x="6494463" y="49527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0" name="Line 19"/>
          <p:cNvSpPr>
            <a:spLocks noChangeShapeType="1"/>
          </p:cNvSpPr>
          <p:nvPr/>
        </p:nvSpPr>
        <p:spPr bwMode="auto">
          <a:xfrm rot="9759782">
            <a:off x="6492875" y="4954320"/>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1" name="Line 20"/>
          <p:cNvSpPr>
            <a:spLocks noChangeShapeType="1"/>
          </p:cNvSpPr>
          <p:nvPr/>
        </p:nvSpPr>
        <p:spPr bwMode="auto">
          <a:xfrm rot="4359781">
            <a:off x="7358063" y="4728895"/>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2" name="Line 21"/>
          <p:cNvSpPr>
            <a:spLocks noChangeShapeType="1"/>
          </p:cNvSpPr>
          <p:nvPr/>
        </p:nvSpPr>
        <p:spPr bwMode="auto">
          <a:xfrm rot="4359781">
            <a:off x="7324725" y="46193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3" name="Line 22"/>
          <p:cNvSpPr>
            <a:spLocks noChangeShapeType="1"/>
          </p:cNvSpPr>
          <p:nvPr/>
        </p:nvSpPr>
        <p:spPr bwMode="auto">
          <a:xfrm rot="9759782">
            <a:off x="7323138" y="4620945"/>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4" name="Rectangle 23" descr="20%"/>
          <p:cNvSpPr>
            <a:spLocks noChangeArrowheads="1"/>
          </p:cNvSpPr>
          <p:nvPr/>
        </p:nvSpPr>
        <p:spPr bwMode="auto">
          <a:xfrm>
            <a:off x="5395913" y="1951077"/>
            <a:ext cx="2947987" cy="769938"/>
          </a:xfrm>
          <a:prstGeom prst="rect">
            <a:avLst/>
          </a:prstGeom>
          <a:pattFill prst="pct20">
            <a:fgClr>
              <a:srgbClr val="FFCC66"/>
            </a:fgClr>
            <a:bgClr>
              <a:srgbClr val="6699FF"/>
            </a:bgClr>
          </a:pattFill>
          <a:ln w="9525">
            <a:solidFill>
              <a:schemeClr val="tx1"/>
            </a:solidFill>
            <a:miter lim="800000"/>
            <a:headEnd/>
            <a:tailEnd/>
          </a:ln>
        </p:spPr>
        <p:txBody>
          <a:bodyPr wrap="none" anchor="ctr"/>
          <a:lstStyle/>
          <a:p>
            <a:endParaRPr lang="zh-CN" altLang="en-US"/>
          </a:p>
        </p:txBody>
      </p:sp>
      <p:sp>
        <p:nvSpPr>
          <p:cNvPr id="52245" name="Rectangle 24"/>
          <p:cNvSpPr>
            <a:spLocks noChangeArrowheads="1"/>
          </p:cNvSpPr>
          <p:nvPr/>
        </p:nvSpPr>
        <p:spPr bwMode="auto">
          <a:xfrm>
            <a:off x="6338888" y="2209840"/>
            <a:ext cx="868362" cy="3460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2246" name="Rectangle 25"/>
          <p:cNvSpPr>
            <a:spLocks noChangeArrowheads="1"/>
          </p:cNvSpPr>
          <p:nvPr/>
        </p:nvSpPr>
        <p:spPr bwMode="auto">
          <a:xfrm>
            <a:off x="7515225" y="1560552"/>
            <a:ext cx="392113" cy="382588"/>
          </a:xfrm>
          <a:prstGeom prst="rect">
            <a:avLst/>
          </a:prstGeom>
          <a:solidFill>
            <a:srgbClr val="66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2247" name="Rectangle 26"/>
          <p:cNvSpPr>
            <a:spLocks noChangeArrowheads="1"/>
          </p:cNvSpPr>
          <p:nvPr/>
        </p:nvSpPr>
        <p:spPr bwMode="auto">
          <a:xfrm>
            <a:off x="5749925" y="1690727"/>
            <a:ext cx="396875" cy="260350"/>
          </a:xfrm>
          <a:prstGeom prst="rect">
            <a:avLst/>
          </a:prstGeom>
          <a:solidFill>
            <a:srgbClr val="66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367067" name="Rectangle 27"/>
          <p:cNvSpPr>
            <a:spLocks noChangeArrowheads="1"/>
          </p:cNvSpPr>
          <p:nvPr/>
        </p:nvSpPr>
        <p:spPr bwMode="auto">
          <a:xfrm>
            <a:off x="752475" y="3265220"/>
            <a:ext cx="3603625"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0"/>
              </a:spcBef>
              <a:spcAft>
                <a:spcPct val="30000"/>
              </a:spcAft>
              <a:buClr>
                <a:schemeClr val="tx2"/>
              </a:buClr>
              <a:buSzPct val="70000"/>
              <a:buFont typeface="Wingdings" pitchFamily="2" charset="2"/>
              <a:buNone/>
            </a:pPr>
            <a:r>
              <a:rPr kumimoji="1" lang="zh-CN" altLang="en-US" sz="2500" b="1" dirty="0" smtClean="0">
                <a:solidFill>
                  <a:srgbClr val="000066"/>
                </a:solidFill>
                <a:latin typeface="幼圆" pitchFamily="49" charset="-122"/>
                <a:ea typeface="幼圆" pitchFamily="49" charset="-122"/>
              </a:rPr>
              <a:t>黏土矿物</a:t>
            </a:r>
            <a:r>
              <a:rPr kumimoji="1" lang="zh-CN" altLang="en-US" sz="2500" b="1" dirty="0">
                <a:solidFill>
                  <a:srgbClr val="000066"/>
                </a:solidFill>
                <a:latin typeface="幼圆" pitchFamily="49" charset="-122"/>
                <a:ea typeface="幼圆" pitchFamily="49" charset="-122"/>
              </a:rPr>
              <a:t>的带电性质</a:t>
            </a:r>
          </a:p>
          <a:p>
            <a:pPr>
              <a:lnSpc>
                <a:spcPct val="125000"/>
              </a:lnSpc>
              <a:spcBef>
                <a:spcPct val="0"/>
              </a:spcBef>
              <a:spcAft>
                <a:spcPct val="0"/>
              </a:spcAft>
              <a:buClr>
                <a:schemeClr val="tx2"/>
              </a:buClr>
              <a:buSzPct val="70000"/>
              <a:buFont typeface="Wingdings" pitchFamily="2" charset="2"/>
              <a:buNone/>
            </a:pPr>
            <a:r>
              <a:rPr kumimoji="1" lang="zh-CN" altLang="en-US" sz="2100" b="1" dirty="0">
                <a:solidFill>
                  <a:srgbClr val="000066"/>
                </a:solidFill>
                <a:latin typeface="幼圆" pitchFamily="49" charset="-122"/>
                <a:ea typeface="幼圆" pitchFamily="49" charset="-122"/>
              </a:rPr>
              <a:t>研究表明，</a:t>
            </a:r>
            <a:r>
              <a:rPr kumimoji="1" lang="zh-CN" altLang="en-US" sz="2100" b="1" dirty="0" smtClean="0">
                <a:solidFill>
                  <a:srgbClr val="000066"/>
                </a:solidFill>
                <a:latin typeface="幼圆" pitchFamily="49" charset="-122"/>
                <a:ea typeface="幼圆" pitchFamily="49" charset="-122"/>
              </a:rPr>
              <a:t>片状黏土</a:t>
            </a:r>
            <a:r>
              <a:rPr kumimoji="1" lang="zh-CN" altLang="en-US" sz="2100" b="1" dirty="0">
                <a:solidFill>
                  <a:srgbClr val="000066"/>
                </a:solidFill>
                <a:latin typeface="幼圆" pitchFamily="49" charset="-122"/>
                <a:ea typeface="幼圆" pitchFamily="49" charset="-122"/>
              </a:rPr>
              <a:t>颗粒表面常带有电荷，净电荷通常为负电荷</a:t>
            </a:r>
          </a:p>
        </p:txBody>
      </p:sp>
      <p:sp>
        <p:nvSpPr>
          <p:cNvPr id="52249" name="Freeform 28"/>
          <p:cNvSpPr>
            <a:spLocks/>
          </p:cNvSpPr>
          <p:nvPr/>
        </p:nvSpPr>
        <p:spPr bwMode="auto">
          <a:xfrm>
            <a:off x="4802188" y="3947845"/>
            <a:ext cx="3784600" cy="1177925"/>
          </a:xfrm>
          <a:custGeom>
            <a:avLst/>
            <a:gdLst>
              <a:gd name="T0" fmla="*/ 0 w 2384"/>
              <a:gd name="T1" fmla="*/ 2147483647 h 742"/>
              <a:gd name="T2" fmla="*/ 2147483647 w 2384"/>
              <a:gd name="T3" fmla="*/ 2147483647 h 742"/>
              <a:gd name="T4" fmla="*/ 2147483647 w 2384"/>
              <a:gd name="T5" fmla="*/ 2147483647 h 742"/>
              <a:gd name="T6" fmla="*/ 2147483647 w 2384"/>
              <a:gd name="T7" fmla="*/ 2147483647 h 742"/>
              <a:gd name="T8" fmla="*/ 2147483647 w 2384"/>
              <a:gd name="T9" fmla="*/ 2147483647 h 742"/>
              <a:gd name="T10" fmla="*/ 2147483647 w 2384"/>
              <a:gd name="T11" fmla="*/ 2147483647 h 742"/>
              <a:gd name="T12" fmla="*/ 2147483647 w 2384"/>
              <a:gd name="T13" fmla="*/ 2147483647 h 742"/>
              <a:gd name="T14" fmla="*/ 2147483647 w 2384"/>
              <a:gd name="T15" fmla="*/ 2147483647 h 742"/>
              <a:gd name="T16" fmla="*/ 2147483647 w 2384"/>
              <a:gd name="T17" fmla="*/ 2147483647 h 742"/>
              <a:gd name="T18" fmla="*/ 2147483647 w 2384"/>
              <a:gd name="T19" fmla="*/ 2147483647 h 742"/>
              <a:gd name="T20" fmla="*/ 2147483647 w 2384"/>
              <a:gd name="T21" fmla="*/ 2147483647 h 742"/>
              <a:gd name="T22" fmla="*/ 2147483647 w 2384"/>
              <a:gd name="T23" fmla="*/ 0 h 742"/>
              <a:gd name="T24" fmla="*/ 2147483647 w 2384"/>
              <a:gd name="T25" fmla="*/ 2147483647 h 742"/>
              <a:gd name="T26" fmla="*/ 2147483647 w 2384"/>
              <a:gd name="T27" fmla="*/ 2147483647 h 742"/>
              <a:gd name="T28" fmla="*/ 2147483647 w 2384"/>
              <a:gd name="T29" fmla="*/ 2147483647 h 742"/>
              <a:gd name="T30" fmla="*/ 2147483647 w 2384"/>
              <a:gd name="T31" fmla="*/ 2147483647 h 742"/>
              <a:gd name="T32" fmla="*/ 2147483647 w 2384"/>
              <a:gd name="T33" fmla="*/ 2147483647 h 742"/>
              <a:gd name="T34" fmla="*/ 2147483647 w 2384"/>
              <a:gd name="T35" fmla="*/ 2147483647 h 742"/>
              <a:gd name="T36" fmla="*/ 2147483647 w 2384"/>
              <a:gd name="T37" fmla="*/ 2147483647 h 742"/>
              <a:gd name="T38" fmla="*/ 2147483647 w 2384"/>
              <a:gd name="T39" fmla="*/ 2147483647 h 742"/>
              <a:gd name="T40" fmla="*/ 2147483647 w 2384"/>
              <a:gd name="T41" fmla="*/ 2147483647 h 742"/>
              <a:gd name="T42" fmla="*/ 2147483647 w 2384"/>
              <a:gd name="T43" fmla="*/ 2147483647 h 742"/>
              <a:gd name="T44" fmla="*/ 2147483647 w 2384"/>
              <a:gd name="T45" fmla="*/ 2147483647 h 742"/>
              <a:gd name="T46" fmla="*/ 2147483647 w 2384"/>
              <a:gd name="T47" fmla="*/ 2147483647 h 742"/>
              <a:gd name="T48" fmla="*/ 2147483647 w 2384"/>
              <a:gd name="T49" fmla="*/ 2147483647 h 742"/>
              <a:gd name="T50" fmla="*/ 2147483647 w 2384"/>
              <a:gd name="T51" fmla="*/ 2147483647 h 742"/>
              <a:gd name="T52" fmla="*/ 0 w 2384"/>
              <a:gd name="T53" fmla="*/ 2147483647 h 7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384"/>
              <a:gd name="T82" fmla="*/ 0 h 742"/>
              <a:gd name="T83" fmla="*/ 2384 w 2384"/>
              <a:gd name="T84" fmla="*/ 742 h 7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384" h="742">
                <a:moveTo>
                  <a:pt x="0" y="636"/>
                </a:moveTo>
                <a:lnTo>
                  <a:pt x="1619" y="51"/>
                </a:lnTo>
                <a:lnTo>
                  <a:pt x="1641" y="92"/>
                </a:lnTo>
                <a:lnTo>
                  <a:pt x="1744" y="60"/>
                </a:lnTo>
                <a:lnTo>
                  <a:pt x="1756" y="86"/>
                </a:lnTo>
                <a:lnTo>
                  <a:pt x="1875" y="38"/>
                </a:lnTo>
                <a:lnTo>
                  <a:pt x="1904" y="73"/>
                </a:lnTo>
                <a:lnTo>
                  <a:pt x="2048" y="25"/>
                </a:lnTo>
                <a:lnTo>
                  <a:pt x="2076" y="48"/>
                </a:lnTo>
                <a:lnTo>
                  <a:pt x="2160" y="12"/>
                </a:lnTo>
                <a:lnTo>
                  <a:pt x="2176" y="41"/>
                </a:lnTo>
                <a:lnTo>
                  <a:pt x="2291" y="0"/>
                </a:lnTo>
                <a:lnTo>
                  <a:pt x="2304" y="28"/>
                </a:lnTo>
                <a:lnTo>
                  <a:pt x="2371" y="9"/>
                </a:lnTo>
                <a:lnTo>
                  <a:pt x="2384" y="44"/>
                </a:lnTo>
                <a:lnTo>
                  <a:pt x="492" y="742"/>
                </a:lnTo>
                <a:lnTo>
                  <a:pt x="464" y="691"/>
                </a:lnTo>
                <a:lnTo>
                  <a:pt x="412" y="707"/>
                </a:lnTo>
                <a:lnTo>
                  <a:pt x="393" y="672"/>
                </a:lnTo>
                <a:lnTo>
                  <a:pt x="355" y="681"/>
                </a:lnTo>
                <a:lnTo>
                  <a:pt x="326" y="646"/>
                </a:lnTo>
                <a:lnTo>
                  <a:pt x="256" y="675"/>
                </a:lnTo>
                <a:lnTo>
                  <a:pt x="230" y="636"/>
                </a:lnTo>
                <a:lnTo>
                  <a:pt x="121" y="681"/>
                </a:lnTo>
                <a:lnTo>
                  <a:pt x="105" y="646"/>
                </a:lnTo>
                <a:lnTo>
                  <a:pt x="16" y="678"/>
                </a:lnTo>
                <a:lnTo>
                  <a:pt x="0" y="636"/>
                </a:lnTo>
                <a:close/>
              </a:path>
            </a:pathLst>
          </a:custGeom>
          <a:solidFill>
            <a:srgbClr val="FFCC99"/>
          </a:solidFill>
          <a:ln w="9525">
            <a:solidFill>
              <a:schemeClr val="tx1"/>
            </a:solidFill>
            <a:round/>
            <a:headEnd/>
            <a:tailEnd/>
          </a:ln>
        </p:spPr>
        <p:txBody>
          <a:bodyPr/>
          <a:lstStyle/>
          <a:p>
            <a:endParaRPr lang="zh-CN" altLang="en-US"/>
          </a:p>
        </p:txBody>
      </p:sp>
      <p:sp>
        <p:nvSpPr>
          <p:cNvPr id="52250" name="Text Box 29"/>
          <p:cNvSpPr txBox="1">
            <a:spLocks noChangeArrowheads="1"/>
          </p:cNvSpPr>
          <p:nvPr/>
        </p:nvSpPr>
        <p:spPr bwMode="auto">
          <a:xfrm rot="20399798">
            <a:off x="4865688" y="4225658"/>
            <a:ext cx="2647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400"/>
              <a:t>-  -  -  -  -  -  -  -  -  - </a:t>
            </a:r>
          </a:p>
        </p:txBody>
      </p:sp>
      <p:sp>
        <p:nvSpPr>
          <p:cNvPr id="52251" name="Text Box 30"/>
          <p:cNvSpPr txBox="1">
            <a:spLocks noChangeArrowheads="1"/>
          </p:cNvSpPr>
          <p:nvPr/>
        </p:nvSpPr>
        <p:spPr bwMode="auto">
          <a:xfrm rot="20367225">
            <a:off x="5492750" y="4285983"/>
            <a:ext cx="300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400"/>
              <a:t>-  -  -  -  -  -  -  -  -  - -  -</a:t>
            </a:r>
          </a:p>
        </p:txBody>
      </p:sp>
      <p:sp>
        <p:nvSpPr>
          <p:cNvPr id="52252" name="Text Box 31"/>
          <p:cNvSpPr txBox="1">
            <a:spLocks noChangeArrowheads="1"/>
          </p:cNvSpPr>
          <p:nvPr/>
        </p:nvSpPr>
        <p:spPr bwMode="auto">
          <a:xfrm rot="20349623">
            <a:off x="5208588" y="4757470"/>
            <a:ext cx="3000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sp>
        <p:nvSpPr>
          <p:cNvPr id="52253" name="Text Box 32"/>
          <p:cNvSpPr txBox="1">
            <a:spLocks noChangeArrowheads="1"/>
          </p:cNvSpPr>
          <p:nvPr/>
        </p:nvSpPr>
        <p:spPr bwMode="auto">
          <a:xfrm rot="20349623">
            <a:off x="5394325" y="4811445"/>
            <a:ext cx="3000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sp>
        <p:nvSpPr>
          <p:cNvPr id="52254" name="Text Box 33"/>
          <p:cNvSpPr txBox="1">
            <a:spLocks noChangeArrowheads="1"/>
          </p:cNvSpPr>
          <p:nvPr/>
        </p:nvSpPr>
        <p:spPr bwMode="auto">
          <a:xfrm rot="20349623">
            <a:off x="7394575" y="3971658"/>
            <a:ext cx="3000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sp>
        <p:nvSpPr>
          <p:cNvPr id="52255" name="Text Box 34"/>
          <p:cNvSpPr txBox="1">
            <a:spLocks noChangeArrowheads="1"/>
          </p:cNvSpPr>
          <p:nvPr/>
        </p:nvSpPr>
        <p:spPr bwMode="auto">
          <a:xfrm rot="20349623">
            <a:off x="7810500" y="3909745"/>
            <a:ext cx="3000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grpSp>
        <p:nvGrpSpPr>
          <p:cNvPr id="52256" name="Group 35"/>
          <p:cNvGrpSpPr>
            <a:grpSpLocks/>
          </p:cNvGrpSpPr>
          <p:nvPr/>
        </p:nvGrpSpPr>
        <p:grpSpPr bwMode="auto">
          <a:xfrm rot="20334323">
            <a:off x="5092700" y="4614595"/>
            <a:ext cx="142875" cy="142875"/>
            <a:chOff x="2031" y="3123"/>
            <a:chExt cx="90" cy="90"/>
          </a:xfrm>
        </p:grpSpPr>
        <p:sp>
          <p:nvSpPr>
            <p:cNvPr id="52345" name="Oval 36"/>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2346" name="Group 37"/>
            <p:cNvGrpSpPr>
              <a:grpSpLocks/>
            </p:cNvGrpSpPr>
            <p:nvPr/>
          </p:nvGrpSpPr>
          <p:grpSpPr bwMode="auto">
            <a:xfrm>
              <a:off x="2052" y="3148"/>
              <a:ext cx="48" cy="48"/>
              <a:chOff x="2052" y="2911"/>
              <a:chExt cx="48" cy="48"/>
            </a:xfrm>
          </p:grpSpPr>
          <p:sp>
            <p:nvSpPr>
              <p:cNvPr id="52347" name="Line 38"/>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48" name="Line 39"/>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2257" name="Group 40"/>
          <p:cNvGrpSpPr>
            <a:grpSpLocks/>
          </p:cNvGrpSpPr>
          <p:nvPr/>
        </p:nvGrpSpPr>
        <p:grpSpPr bwMode="auto">
          <a:xfrm rot="20334323">
            <a:off x="5973763" y="4260583"/>
            <a:ext cx="142875" cy="142875"/>
            <a:chOff x="2031" y="3123"/>
            <a:chExt cx="90" cy="90"/>
          </a:xfrm>
        </p:grpSpPr>
        <p:sp>
          <p:nvSpPr>
            <p:cNvPr id="52341" name="Oval 41"/>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2342" name="Group 42"/>
            <p:cNvGrpSpPr>
              <a:grpSpLocks/>
            </p:cNvGrpSpPr>
            <p:nvPr/>
          </p:nvGrpSpPr>
          <p:grpSpPr bwMode="auto">
            <a:xfrm>
              <a:off x="2052" y="3148"/>
              <a:ext cx="48" cy="48"/>
              <a:chOff x="2052" y="2911"/>
              <a:chExt cx="48" cy="48"/>
            </a:xfrm>
          </p:grpSpPr>
          <p:sp>
            <p:nvSpPr>
              <p:cNvPr id="52343" name="Line 43"/>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44" name="Line 44"/>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2258" name="Group 45"/>
          <p:cNvGrpSpPr>
            <a:grpSpLocks/>
          </p:cNvGrpSpPr>
          <p:nvPr/>
        </p:nvGrpSpPr>
        <p:grpSpPr bwMode="auto">
          <a:xfrm rot="20334323">
            <a:off x="6937375" y="3922445"/>
            <a:ext cx="142875" cy="142875"/>
            <a:chOff x="2031" y="3123"/>
            <a:chExt cx="90" cy="90"/>
          </a:xfrm>
        </p:grpSpPr>
        <p:sp>
          <p:nvSpPr>
            <p:cNvPr id="52337" name="Oval 46"/>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2338" name="Group 47"/>
            <p:cNvGrpSpPr>
              <a:grpSpLocks/>
            </p:cNvGrpSpPr>
            <p:nvPr/>
          </p:nvGrpSpPr>
          <p:grpSpPr bwMode="auto">
            <a:xfrm>
              <a:off x="2052" y="3148"/>
              <a:ext cx="48" cy="48"/>
              <a:chOff x="2052" y="2911"/>
              <a:chExt cx="48" cy="48"/>
            </a:xfrm>
          </p:grpSpPr>
          <p:sp>
            <p:nvSpPr>
              <p:cNvPr id="52339" name="Line 48"/>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40" name="Line 49"/>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2259" name="Group 50"/>
          <p:cNvGrpSpPr>
            <a:grpSpLocks/>
          </p:cNvGrpSpPr>
          <p:nvPr/>
        </p:nvGrpSpPr>
        <p:grpSpPr bwMode="auto">
          <a:xfrm rot="20334323">
            <a:off x="5989638" y="5067033"/>
            <a:ext cx="142875" cy="142875"/>
            <a:chOff x="2031" y="3123"/>
            <a:chExt cx="90" cy="90"/>
          </a:xfrm>
        </p:grpSpPr>
        <p:sp>
          <p:nvSpPr>
            <p:cNvPr id="52333" name="Oval 51"/>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2334" name="Group 52"/>
            <p:cNvGrpSpPr>
              <a:grpSpLocks/>
            </p:cNvGrpSpPr>
            <p:nvPr/>
          </p:nvGrpSpPr>
          <p:grpSpPr bwMode="auto">
            <a:xfrm>
              <a:off x="2052" y="3148"/>
              <a:ext cx="48" cy="48"/>
              <a:chOff x="2052" y="2911"/>
              <a:chExt cx="48" cy="48"/>
            </a:xfrm>
          </p:grpSpPr>
          <p:sp>
            <p:nvSpPr>
              <p:cNvPr id="52335" name="Line 53"/>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36" name="Line 54"/>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2260" name="Group 55"/>
          <p:cNvGrpSpPr>
            <a:grpSpLocks/>
          </p:cNvGrpSpPr>
          <p:nvPr/>
        </p:nvGrpSpPr>
        <p:grpSpPr bwMode="auto">
          <a:xfrm rot="20334323">
            <a:off x="6896100" y="4687620"/>
            <a:ext cx="142875" cy="142875"/>
            <a:chOff x="2031" y="3123"/>
            <a:chExt cx="90" cy="90"/>
          </a:xfrm>
        </p:grpSpPr>
        <p:sp>
          <p:nvSpPr>
            <p:cNvPr id="52329" name="Oval 56"/>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2330" name="Group 57"/>
            <p:cNvGrpSpPr>
              <a:grpSpLocks/>
            </p:cNvGrpSpPr>
            <p:nvPr/>
          </p:nvGrpSpPr>
          <p:grpSpPr bwMode="auto">
            <a:xfrm>
              <a:off x="2052" y="3148"/>
              <a:ext cx="48" cy="48"/>
              <a:chOff x="2052" y="2911"/>
              <a:chExt cx="48" cy="48"/>
            </a:xfrm>
          </p:grpSpPr>
          <p:sp>
            <p:nvSpPr>
              <p:cNvPr id="52331" name="Line 58"/>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32" name="Line 59"/>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2261" name="Group 60"/>
          <p:cNvGrpSpPr>
            <a:grpSpLocks/>
          </p:cNvGrpSpPr>
          <p:nvPr/>
        </p:nvGrpSpPr>
        <p:grpSpPr bwMode="auto">
          <a:xfrm rot="20334323">
            <a:off x="7578725" y="4416158"/>
            <a:ext cx="142875" cy="142875"/>
            <a:chOff x="2031" y="3123"/>
            <a:chExt cx="90" cy="90"/>
          </a:xfrm>
        </p:grpSpPr>
        <p:sp>
          <p:nvSpPr>
            <p:cNvPr id="52325" name="Oval 61"/>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2326" name="Group 62"/>
            <p:cNvGrpSpPr>
              <a:grpSpLocks/>
            </p:cNvGrpSpPr>
            <p:nvPr/>
          </p:nvGrpSpPr>
          <p:grpSpPr bwMode="auto">
            <a:xfrm>
              <a:off x="2052" y="3148"/>
              <a:ext cx="48" cy="48"/>
              <a:chOff x="2052" y="2911"/>
              <a:chExt cx="48" cy="48"/>
            </a:xfrm>
          </p:grpSpPr>
          <p:sp>
            <p:nvSpPr>
              <p:cNvPr id="52327" name="Line 63"/>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28" name="Line 64"/>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2262" name="Group 65"/>
          <p:cNvGrpSpPr>
            <a:grpSpLocks/>
          </p:cNvGrpSpPr>
          <p:nvPr/>
        </p:nvGrpSpPr>
        <p:grpSpPr bwMode="auto">
          <a:xfrm rot="20334323">
            <a:off x="7981950" y="4255820"/>
            <a:ext cx="142875" cy="142875"/>
            <a:chOff x="2031" y="3123"/>
            <a:chExt cx="90" cy="90"/>
          </a:xfrm>
        </p:grpSpPr>
        <p:sp>
          <p:nvSpPr>
            <p:cNvPr id="52321" name="Oval 66"/>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2322" name="Group 67"/>
            <p:cNvGrpSpPr>
              <a:grpSpLocks/>
            </p:cNvGrpSpPr>
            <p:nvPr/>
          </p:nvGrpSpPr>
          <p:grpSpPr bwMode="auto">
            <a:xfrm>
              <a:off x="2052" y="3148"/>
              <a:ext cx="48" cy="48"/>
              <a:chOff x="2052" y="2911"/>
              <a:chExt cx="48" cy="48"/>
            </a:xfrm>
          </p:grpSpPr>
          <p:sp>
            <p:nvSpPr>
              <p:cNvPr id="52323" name="Line 68"/>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24" name="Line 69"/>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2263" name="Freeform 70"/>
          <p:cNvSpPr>
            <a:spLocks/>
          </p:cNvSpPr>
          <p:nvPr/>
        </p:nvSpPr>
        <p:spPr bwMode="auto">
          <a:xfrm>
            <a:off x="5387975" y="1751052"/>
            <a:ext cx="2963863" cy="973138"/>
          </a:xfrm>
          <a:custGeom>
            <a:avLst/>
            <a:gdLst>
              <a:gd name="T0" fmla="*/ 0 w 1867"/>
              <a:gd name="T1" fmla="*/ 0 h 613"/>
              <a:gd name="T2" fmla="*/ 0 w 1867"/>
              <a:gd name="T3" fmla="*/ 2147483647 h 613"/>
              <a:gd name="T4" fmla="*/ 2147483647 w 1867"/>
              <a:gd name="T5" fmla="*/ 2147483647 h 613"/>
              <a:gd name="T6" fmla="*/ 2147483647 w 1867"/>
              <a:gd name="T7" fmla="*/ 0 h 613"/>
              <a:gd name="T8" fmla="*/ 0 60000 65536"/>
              <a:gd name="T9" fmla="*/ 0 60000 65536"/>
              <a:gd name="T10" fmla="*/ 0 60000 65536"/>
              <a:gd name="T11" fmla="*/ 0 60000 65536"/>
              <a:gd name="T12" fmla="*/ 0 w 1867"/>
              <a:gd name="T13" fmla="*/ 0 h 613"/>
              <a:gd name="T14" fmla="*/ 1867 w 1867"/>
              <a:gd name="T15" fmla="*/ 613 h 613"/>
            </a:gdLst>
            <a:ahLst/>
            <a:cxnLst>
              <a:cxn ang="T8">
                <a:pos x="T0" y="T1"/>
              </a:cxn>
              <a:cxn ang="T9">
                <a:pos x="T2" y="T3"/>
              </a:cxn>
              <a:cxn ang="T10">
                <a:pos x="T4" y="T5"/>
              </a:cxn>
              <a:cxn ang="T11">
                <a:pos x="T6" y="T7"/>
              </a:cxn>
            </a:cxnLst>
            <a:rect l="T12" t="T13" r="T14" b="T15"/>
            <a:pathLst>
              <a:path w="1867" h="613">
                <a:moveTo>
                  <a:pt x="0" y="0"/>
                </a:moveTo>
                <a:lnTo>
                  <a:pt x="0" y="613"/>
                </a:lnTo>
                <a:lnTo>
                  <a:pt x="1867" y="613"/>
                </a:lnTo>
                <a:lnTo>
                  <a:pt x="1867"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64" name="Line 71"/>
          <p:cNvSpPr>
            <a:spLocks noChangeShapeType="1"/>
          </p:cNvSpPr>
          <p:nvPr/>
        </p:nvSpPr>
        <p:spPr bwMode="auto">
          <a:xfrm>
            <a:off x="5395913" y="1946315"/>
            <a:ext cx="2963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5" name="Freeform 72"/>
          <p:cNvSpPr>
            <a:spLocks/>
          </p:cNvSpPr>
          <p:nvPr/>
        </p:nvSpPr>
        <p:spPr bwMode="auto">
          <a:xfrm>
            <a:off x="5753100" y="1312902"/>
            <a:ext cx="388938" cy="908050"/>
          </a:xfrm>
          <a:custGeom>
            <a:avLst/>
            <a:gdLst>
              <a:gd name="T0" fmla="*/ 0 w 245"/>
              <a:gd name="T1" fmla="*/ 2147483647 h 572"/>
              <a:gd name="T2" fmla="*/ 0 w 245"/>
              <a:gd name="T3" fmla="*/ 0 h 572"/>
              <a:gd name="T4" fmla="*/ 2147483647 w 245"/>
              <a:gd name="T5" fmla="*/ 0 h 572"/>
              <a:gd name="T6" fmla="*/ 2147483647 w 245"/>
              <a:gd name="T7" fmla="*/ 2147483647 h 572"/>
              <a:gd name="T8" fmla="*/ 0 60000 65536"/>
              <a:gd name="T9" fmla="*/ 0 60000 65536"/>
              <a:gd name="T10" fmla="*/ 0 60000 65536"/>
              <a:gd name="T11" fmla="*/ 0 60000 65536"/>
              <a:gd name="T12" fmla="*/ 0 w 245"/>
              <a:gd name="T13" fmla="*/ 0 h 572"/>
              <a:gd name="T14" fmla="*/ 245 w 245"/>
              <a:gd name="T15" fmla="*/ 572 h 572"/>
            </a:gdLst>
            <a:ahLst/>
            <a:cxnLst>
              <a:cxn ang="T8">
                <a:pos x="T0" y="T1"/>
              </a:cxn>
              <a:cxn ang="T9">
                <a:pos x="T2" y="T3"/>
              </a:cxn>
              <a:cxn ang="T10">
                <a:pos x="T4" y="T5"/>
              </a:cxn>
              <a:cxn ang="T11">
                <a:pos x="T6" y="T7"/>
              </a:cxn>
            </a:cxnLst>
            <a:rect l="T12" t="T13" r="T14" b="T15"/>
            <a:pathLst>
              <a:path w="245" h="572">
                <a:moveTo>
                  <a:pt x="0" y="567"/>
                </a:moveTo>
                <a:lnTo>
                  <a:pt x="0" y="0"/>
                </a:lnTo>
                <a:lnTo>
                  <a:pt x="245" y="0"/>
                </a:lnTo>
                <a:lnTo>
                  <a:pt x="245" y="57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66" name="Line 73"/>
          <p:cNvSpPr>
            <a:spLocks noChangeShapeType="1"/>
          </p:cNvSpPr>
          <p:nvPr/>
        </p:nvSpPr>
        <p:spPr bwMode="auto">
          <a:xfrm>
            <a:off x="5754688" y="1692315"/>
            <a:ext cx="3857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7" name="AutoShape 74"/>
          <p:cNvSpPr>
            <a:spLocks noChangeArrowheads="1"/>
          </p:cNvSpPr>
          <p:nvPr/>
        </p:nvSpPr>
        <p:spPr bwMode="auto">
          <a:xfrm flipV="1">
            <a:off x="6024563" y="1622465"/>
            <a:ext cx="76200" cy="66675"/>
          </a:xfrm>
          <a:prstGeom prst="triangle">
            <a:avLst>
              <a:gd name="adj" fmla="val 50000"/>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268" name="Line 75"/>
          <p:cNvSpPr>
            <a:spLocks noChangeShapeType="1"/>
          </p:cNvSpPr>
          <p:nvPr/>
        </p:nvSpPr>
        <p:spPr bwMode="auto">
          <a:xfrm>
            <a:off x="5994400" y="1720890"/>
            <a:ext cx="1143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9" name="Line 76"/>
          <p:cNvSpPr>
            <a:spLocks noChangeShapeType="1"/>
          </p:cNvSpPr>
          <p:nvPr/>
        </p:nvSpPr>
        <p:spPr bwMode="auto">
          <a:xfrm>
            <a:off x="6026150" y="1743115"/>
            <a:ext cx="635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0" name="Line 77"/>
          <p:cNvSpPr>
            <a:spLocks noChangeShapeType="1"/>
          </p:cNvSpPr>
          <p:nvPr/>
        </p:nvSpPr>
        <p:spPr bwMode="auto">
          <a:xfrm>
            <a:off x="6049963" y="1762165"/>
            <a:ext cx="25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1" name="Line 78"/>
          <p:cNvSpPr>
            <a:spLocks noChangeShapeType="1"/>
          </p:cNvSpPr>
          <p:nvPr/>
        </p:nvSpPr>
        <p:spPr bwMode="auto">
          <a:xfrm flipV="1">
            <a:off x="5938838" y="1165265"/>
            <a:ext cx="0" cy="61436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2" name="Freeform 79"/>
          <p:cNvSpPr>
            <a:spLocks/>
          </p:cNvSpPr>
          <p:nvPr/>
        </p:nvSpPr>
        <p:spPr bwMode="auto">
          <a:xfrm>
            <a:off x="5938838" y="943015"/>
            <a:ext cx="398462" cy="233362"/>
          </a:xfrm>
          <a:custGeom>
            <a:avLst/>
            <a:gdLst>
              <a:gd name="T0" fmla="*/ 0 w 251"/>
              <a:gd name="T1" fmla="*/ 2147483647 h 147"/>
              <a:gd name="T2" fmla="*/ 2147483647 w 251"/>
              <a:gd name="T3" fmla="*/ 2147483647 h 147"/>
              <a:gd name="T4" fmla="*/ 2147483647 w 251"/>
              <a:gd name="T5" fmla="*/ 2147483647 h 147"/>
              <a:gd name="T6" fmla="*/ 2147483647 w 251"/>
              <a:gd name="T7" fmla="*/ 2147483647 h 147"/>
              <a:gd name="T8" fmla="*/ 2147483647 w 251"/>
              <a:gd name="T9" fmla="*/ 2147483647 h 147"/>
              <a:gd name="T10" fmla="*/ 2147483647 w 251"/>
              <a:gd name="T11" fmla="*/ 2147483647 h 147"/>
              <a:gd name="T12" fmla="*/ 2147483647 w 251"/>
              <a:gd name="T13" fmla="*/ 2147483647 h 147"/>
              <a:gd name="T14" fmla="*/ 2147483647 w 251"/>
              <a:gd name="T15" fmla="*/ 2147483647 h 147"/>
              <a:gd name="T16" fmla="*/ 2147483647 w 251"/>
              <a:gd name="T17" fmla="*/ 2147483647 h 147"/>
              <a:gd name="T18" fmla="*/ 2147483647 w 251"/>
              <a:gd name="T19" fmla="*/ 2147483647 h 147"/>
              <a:gd name="T20" fmla="*/ 2147483647 w 251"/>
              <a:gd name="T21" fmla="*/ 2147483647 h 147"/>
              <a:gd name="T22" fmla="*/ 2147483647 w 251"/>
              <a:gd name="T23" fmla="*/ 2147483647 h 147"/>
              <a:gd name="T24" fmla="*/ 2147483647 w 251"/>
              <a:gd name="T25" fmla="*/ 2147483647 h 147"/>
              <a:gd name="T26" fmla="*/ 2147483647 w 251"/>
              <a:gd name="T27" fmla="*/ 2147483647 h 147"/>
              <a:gd name="T28" fmla="*/ 2147483647 w 251"/>
              <a:gd name="T29" fmla="*/ 2147483647 h 147"/>
              <a:gd name="T30" fmla="*/ 2147483647 w 251"/>
              <a:gd name="T31" fmla="*/ 2147483647 h 147"/>
              <a:gd name="T32" fmla="*/ 2147483647 w 251"/>
              <a:gd name="T33" fmla="*/ 0 h 1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1"/>
              <a:gd name="T52" fmla="*/ 0 h 147"/>
              <a:gd name="T53" fmla="*/ 251 w 251"/>
              <a:gd name="T54" fmla="*/ 147 h 14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1" h="147">
                <a:moveTo>
                  <a:pt x="0" y="147"/>
                </a:moveTo>
                <a:cubicBezTo>
                  <a:pt x="3" y="140"/>
                  <a:pt x="8" y="131"/>
                  <a:pt x="15" y="128"/>
                </a:cubicBezTo>
                <a:cubicBezTo>
                  <a:pt x="17" y="120"/>
                  <a:pt x="24" y="112"/>
                  <a:pt x="31" y="107"/>
                </a:cubicBezTo>
                <a:cubicBezTo>
                  <a:pt x="34" y="103"/>
                  <a:pt x="37" y="99"/>
                  <a:pt x="39" y="94"/>
                </a:cubicBezTo>
                <a:cubicBezTo>
                  <a:pt x="42" y="77"/>
                  <a:pt x="46" y="69"/>
                  <a:pt x="63" y="66"/>
                </a:cubicBezTo>
                <a:cubicBezTo>
                  <a:pt x="70" y="62"/>
                  <a:pt x="77" y="59"/>
                  <a:pt x="85" y="58"/>
                </a:cubicBezTo>
                <a:cubicBezTo>
                  <a:pt x="91" y="56"/>
                  <a:pt x="96" y="54"/>
                  <a:pt x="103" y="53"/>
                </a:cubicBezTo>
                <a:cubicBezTo>
                  <a:pt x="127" y="54"/>
                  <a:pt x="119" y="50"/>
                  <a:pt x="125" y="64"/>
                </a:cubicBezTo>
                <a:cubicBezTo>
                  <a:pt x="123" y="71"/>
                  <a:pt x="123" y="78"/>
                  <a:pt x="119" y="85"/>
                </a:cubicBezTo>
                <a:cubicBezTo>
                  <a:pt x="109" y="82"/>
                  <a:pt x="113" y="79"/>
                  <a:pt x="104" y="74"/>
                </a:cubicBezTo>
                <a:cubicBezTo>
                  <a:pt x="105" y="57"/>
                  <a:pt x="101" y="39"/>
                  <a:pt x="119" y="37"/>
                </a:cubicBezTo>
                <a:cubicBezTo>
                  <a:pt x="129" y="32"/>
                  <a:pt x="136" y="34"/>
                  <a:pt x="149" y="35"/>
                </a:cubicBezTo>
                <a:cubicBezTo>
                  <a:pt x="157" y="38"/>
                  <a:pt x="160" y="52"/>
                  <a:pt x="149" y="54"/>
                </a:cubicBezTo>
                <a:cubicBezTo>
                  <a:pt x="144" y="44"/>
                  <a:pt x="144" y="48"/>
                  <a:pt x="146" y="34"/>
                </a:cubicBezTo>
                <a:cubicBezTo>
                  <a:pt x="143" y="23"/>
                  <a:pt x="157" y="19"/>
                  <a:pt x="167" y="13"/>
                </a:cubicBezTo>
                <a:cubicBezTo>
                  <a:pt x="186" y="15"/>
                  <a:pt x="207" y="6"/>
                  <a:pt x="226" y="5"/>
                </a:cubicBezTo>
                <a:cubicBezTo>
                  <a:pt x="234" y="2"/>
                  <a:pt x="242" y="0"/>
                  <a:pt x="251"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73" name="Freeform 80"/>
          <p:cNvSpPr>
            <a:spLocks/>
          </p:cNvSpPr>
          <p:nvPr/>
        </p:nvSpPr>
        <p:spPr bwMode="auto">
          <a:xfrm>
            <a:off x="7518400" y="1316077"/>
            <a:ext cx="388938" cy="908050"/>
          </a:xfrm>
          <a:custGeom>
            <a:avLst/>
            <a:gdLst>
              <a:gd name="T0" fmla="*/ 0 w 245"/>
              <a:gd name="T1" fmla="*/ 2147483647 h 572"/>
              <a:gd name="T2" fmla="*/ 0 w 245"/>
              <a:gd name="T3" fmla="*/ 0 h 572"/>
              <a:gd name="T4" fmla="*/ 2147483647 w 245"/>
              <a:gd name="T5" fmla="*/ 0 h 572"/>
              <a:gd name="T6" fmla="*/ 2147483647 w 245"/>
              <a:gd name="T7" fmla="*/ 2147483647 h 572"/>
              <a:gd name="T8" fmla="*/ 0 60000 65536"/>
              <a:gd name="T9" fmla="*/ 0 60000 65536"/>
              <a:gd name="T10" fmla="*/ 0 60000 65536"/>
              <a:gd name="T11" fmla="*/ 0 60000 65536"/>
              <a:gd name="T12" fmla="*/ 0 w 245"/>
              <a:gd name="T13" fmla="*/ 0 h 572"/>
              <a:gd name="T14" fmla="*/ 245 w 245"/>
              <a:gd name="T15" fmla="*/ 572 h 572"/>
            </a:gdLst>
            <a:ahLst/>
            <a:cxnLst>
              <a:cxn ang="T8">
                <a:pos x="T0" y="T1"/>
              </a:cxn>
              <a:cxn ang="T9">
                <a:pos x="T2" y="T3"/>
              </a:cxn>
              <a:cxn ang="T10">
                <a:pos x="T4" y="T5"/>
              </a:cxn>
              <a:cxn ang="T11">
                <a:pos x="T6" y="T7"/>
              </a:cxn>
            </a:cxnLst>
            <a:rect l="T12" t="T13" r="T14" b="T15"/>
            <a:pathLst>
              <a:path w="245" h="572">
                <a:moveTo>
                  <a:pt x="0" y="567"/>
                </a:moveTo>
                <a:lnTo>
                  <a:pt x="0" y="0"/>
                </a:lnTo>
                <a:lnTo>
                  <a:pt x="245" y="0"/>
                </a:lnTo>
                <a:lnTo>
                  <a:pt x="245" y="57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74" name="Line 81"/>
          <p:cNvSpPr>
            <a:spLocks noChangeShapeType="1"/>
          </p:cNvSpPr>
          <p:nvPr/>
        </p:nvSpPr>
        <p:spPr bwMode="auto">
          <a:xfrm>
            <a:off x="7523163" y="1557377"/>
            <a:ext cx="3873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5" name="AutoShape 82"/>
          <p:cNvSpPr>
            <a:spLocks noChangeArrowheads="1"/>
          </p:cNvSpPr>
          <p:nvPr/>
        </p:nvSpPr>
        <p:spPr bwMode="auto">
          <a:xfrm flipV="1">
            <a:off x="7789863" y="1487527"/>
            <a:ext cx="76200" cy="66675"/>
          </a:xfrm>
          <a:prstGeom prst="triangle">
            <a:avLst>
              <a:gd name="adj" fmla="val 50000"/>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276" name="Line 83"/>
          <p:cNvSpPr>
            <a:spLocks noChangeShapeType="1"/>
          </p:cNvSpPr>
          <p:nvPr/>
        </p:nvSpPr>
        <p:spPr bwMode="auto">
          <a:xfrm>
            <a:off x="7759700" y="1585952"/>
            <a:ext cx="1143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7" name="Line 84"/>
          <p:cNvSpPr>
            <a:spLocks noChangeShapeType="1"/>
          </p:cNvSpPr>
          <p:nvPr/>
        </p:nvSpPr>
        <p:spPr bwMode="auto">
          <a:xfrm>
            <a:off x="7791450" y="1608177"/>
            <a:ext cx="635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8" name="Line 85"/>
          <p:cNvSpPr>
            <a:spLocks noChangeShapeType="1"/>
          </p:cNvSpPr>
          <p:nvPr/>
        </p:nvSpPr>
        <p:spPr bwMode="auto">
          <a:xfrm>
            <a:off x="7815263" y="1627227"/>
            <a:ext cx="25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9" name="Line 86"/>
          <p:cNvSpPr>
            <a:spLocks noChangeShapeType="1"/>
          </p:cNvSpPr>
          <p:nvPr/>
        </p:nvSpPr>
        <p:spPr bwMode="auto">
          <a:xfrm flipV="1">
            <a:off x="7704138" y="1168440"/>
            <a:ext cx="0" cy="61436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80" name="Freeform 87"/>
          <p:cNvSpPr>
            <a:spLocks/>
          </p:cNvSpPr>
          <p:nvPr/>
        </p:nvSpPr>
        <p:spPr bwMode="auto">
          <a:xfrm>
            <a:off x="7704138" y="946190"/>
            <a:ext cx="398462" cy="233362"/>
          </a:xfrm>
          <a:custGeom>
            <a:avLst/>
            <a:gdLst>
              <a:gd name="T0" fmla="*/ 0 w 251"/>
              <a:gd name="T1" fmla="*/ 2147483647 h 147"/>
              <a:gd name="T2" fmla="*/ 2147483647 w 251"/>
              <a:gd name="T3" fmla="*/ 2147483647 h 147"/>
              <a:gd name="T4" fmla="*/ 2147483647 w 251"/>
              <a:gd name="T5" fmla="*/ 2147483647 h 147"/>
              <a:gd name="T6" fmla="*/ 2147483647 w 251"/>
              <a:gd name="T7" fmla="*/ 2147483647 h 147"/>
              <a:gd name="T8" fmla="*/ 2147483647 w 251"/>
              <a:gd name="T9" fmla="*/ 2147483647 h 147"/>
              <a:gd name="T10" fmla="*/ 2147483647 w 251"/>
              <a:gd name="T11" fmla="*/ 2147483647 h 147"/>
              <a:gd name="T12" fmla="*/ 2147483647 w 251"/>
              <a:gd name="T13" fmla="*/ 2147483647 h 147"/>
              <a:gd name="T14" fmla="*/ 2147483647 w 251"/>
              <a:gd name="T15" fmla="*/ 2147483647 h 147"/>
              <a:gd name="T16" fmla="*/ 2147483647 w 251"/>
              <a:gd name="T17" fmla="*/ 2147483647 h 147"/>
              <a:gd name="T18" fmla="*/ 2147483647 w 251"/>
              <a:gd name="T19" fmla="*/ 2147483647 h 147"/>
              <a:gd name="T20" fmla="*/ 2147483647 w 251"/>
              <a:gd name="T21" fmla="*/ 2147483647 h 147"/>
              <a:gd name="T22" fmla="*/ 2147483647 w 251"/>
              <a:gd name="T23" fmla="*/ 2147483647 h 147"/>
              <a:gd name="T24" fmla="*/ 2147483647 w 251"/>
              <a:gd name="T25" fmla="*/ 2147483647 h 147"/>
              <a:gd name="T26" fmla="*/ 2147483647 w 251"/>
              <a:gd name="T27" fmla="*/ 2147483647 h 147"/>
              <a:gd name="T28" fmla="*/ 2147483647 w 251"/>
              <a:gd name="T29" fmla="*/ 2147483647 h 147"/>
              <a:gd name="T30" fmla="*/ 2147483647 w 251"/>
              <a:gd name="T31" fmla="*/ 2147483647 h 147"/>
              <a:gd name="T32" fmla="*/ 2147483647 w 251"/>
              <a:gd name="T33" fmla="*/ 0 h 1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1"/>
              <a:gd name="T52" fmla="*/ 0 h 147"/>
              <a:gd name="T53" fmla="*/ 251 w 251"/>
              <a:gd name="T54" fmla="*/ 147 h 14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1" h="147">
                <a:moveTo>
                  <a:pt x="0" y="147"/>
                </a:moveTo>
                <a:cubicBezTo>
                  <a:pt x="3" y="140"/>
                  <a:pt x="8" y="131"/>
                  <a:pt x="15" y="128"/>
                </a:cubicBezTo>
                <a:cubicBezTo>
                  <a:pt x="17" y="120"/>
                  <a:pt x="24" y="112"/>
                  <a:pt x="31" y="107"/>
                </a:cubicBezTo>
                <a:cubicBezTo>
                  <a:pt x="34" y="103"/>
                  <a:pt x="37" y="99"/>
                  <a:pt x="39" y="94"/>
                </a:cubicBezTo>
                <a:cubicBezTo>
                  <a:pt x="42" y="77"/>
                  <a:pt x="46" y="69"/>
                  <a:pt x="63" y="66"/>
                </a:cubicBezTo>
                <a:cubicBezTo>
                  <a:pt x="70" y="62"/>
                  <a:pt x="77" y="59"/>
                  <a:pt x="85" y="58"/>
                </a:cubicBezTo>
                <a:cubicBezTo>
                  <a:pt x="91" y="56"/>
                  <a:pt x="96" y="54"/>
                  <a:pt x="103" y="53"/>
                </a:cubicBezTo>
                <a:cubicBezTo>
                  <a:pt x="127" y="54"/>
                  <a:pt x="119" y="50"/>
                  <a:pt x="125" y="64"/>
                </a:cubicBezTo>
                <a:cubicBezTo>
                  <a:pt x="123" y="71"/>
                  <a:pt x="123" y="78"/>
                  <a:pt x="119" y="85"/>
                </a:cubicBezTo>
                <a:cubicBezTo>
                  <a:pt x="109" y="82"/>
                  <a:pt x="113" y="79"/>
                  <a:pt x="104" y="74"/>
                </a:cubicBezTo>
                <a:cubicBezTo>
                  <a:pt x="105" y="57"/>
                  <a:pt x="101" y="39"/>
                  <a:pt x="119" y="37"/>
                </a:cubicBezTo>
                <a:cubicBezTo>
                  <a:pt x="129" y="32"/>
                  <a:pt x="136" y="34"/>
                  <a:pt x="149" y="35"/>
                </a:cubicBezTo>
                <a:cubicBezTo>
                  <a:pt x="157" y="38"/>
                  <a:pt x="160" y="52"/>
                  <a:pt x="149" y="54"/>
                </a:cubicBezTo>
                <a:cubicBezTo>
                  <a:pt x="144" y="44"/>
                  <a:pt x="144" y="48"/>
                  <a:pt x="146" y="34"/>
                </a:cubicBezTo>
                <a:cubicBezTo>
                  <a:pt x="143" y="23"/>
                  <a:pt x="157" y="19"/>
                  <a:pt x="167" y="13"/>
                </a:cubicBezTo>
                <a:cubicBezTo>
                  <a:pt x="186" y="15"/>
                  <a:pt x="207" y="6"/>
                  <a:pt x="226" y="5"/>
                </a:cubicBezTo>
                <a:cubicBezTo>
                  <a:pt x="234" y="2"/>
                  <a:pt x="242" y="0"/>
                  <a:pt x="251"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81" name="Line 88"/>
          <p:cNvSpPr>
            <a:spLocks noChangeShapeType="1"/>
          </p:cNvSpPr>
          <p:nvPr/>
        </p:nvSpPr>
        <p:spPr bwMode="auto">
          <a:xfrm>
            <a:off x="5387975" y="1771690"/>
            <a:ext cx="355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82" name="Line 89"/>
          <p:cNvSpPr>
            <a:spLocks noChangeShapeType="1"/>
          </p:cNvSpPr>
          <p:nvPr/>
        </p:nvSpPr>
        <p:spPr bwMode="auto">
          <a:xfrm>
            <a:off x="6140450" y="1766927"/>
            <a:ext cx="1377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83" name="Line 90"/>
          <p:cNvSpPr>
            <a:spLocks noChangeShapeType="1"/>
          </p:cNvSpPr>
          <p:nvPr/>
        </p:nvSpPr>
        <p:spPr bwMode="auto">
          <a:xfrm>
            <a:off x="7910513" y="1771690"/>
            <a:ext cx="4524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84" name="Line 91"/>
          <p:cNvSpPr>
            <a:spLocks noChangeShapeType="1"/>
          </p:cNvSpPr>
          <p:nvPr/>
        </p:nvSpPr>
        <p:spPr bwMode="auto">
          <a:xfrm>
            <a:off x="5753100" y="2205077"/>
            <a:ext cx="38735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85" name="Line 92"/>
          <p:cNvSpPr>
            <a:spLocks noChangeShapeType="1"/>
          </p:cNvSpPr>
          <p:nvPr/>
        </p:nvSpPr>
        <p:spPr bwMode="auto">
          <a:xfrm>
            <a:off x="7527925" y="2217777"/>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86" name="Text Box 93"/>
          <p:cNvSpPr txBox="1">
            <a:spLocks noChangeArrowheads="1"/>
          </p:cNvSpPr>
          <p:nvPr/>
        </p:nvSpPr>
        <p:spPr bwMode="auto">
          <a:xfrm>
            <a:off x="4978400" y="3660508"/>
            <a:ext cx="1298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dirty="0" smtClean="0">
                <a:ea typeface="幼圆" pitchFamily="49" charset="-122"/>
              </a:rPr>
              <a:t>黏土</a:t>
            </a:r>
            <a:r>
              <a:rPr lang="zh-CN" altLang="en-US" sz="2000" b="1" dirty="0">
                <a:ea typeface="幼圆" pitchFamily="49" charset="-122"/>
              </a:rPr>
              <a:t>颗粒</a:t>
            </a:r>
            <a:endParaRPr lang="en-US" altLang="zh-CN" sz="2000" b="1" dirty="0">
              <a:ea typeface="幼圆" pitchFamily="49" charset="-122"/>
            </a:endParaRPr>
          </a:p>
        </p:txBody>
      </p:sp>
      <p:sp>
        <p:nvSpPr>
          <p:cNvPr id="52287" name="Text Box 94"/>
          <p:cNvSpPr txBox="1">
            <a:spLocks noChangeArrowheads="1"/>
          </p:cNvSpPr>
          <p:nvPr/>
        </p:nvSpPr>
        <p:spPr bwMode="auto">
          <a:xfrm>
            <a:off x="7856538" y="4451083"/>
            <a:ext cx="981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ea typeface="幼圆" pitchFamily="49" charset="-122"/>
              </a:rPr>
              <a:t>水分子</a:t>
            </a:r>
          </a:p>
        </p:txBody>
      </p:sp>
      <p:sp>
        <p:nvSpPr>
          <p:cNvPr id="52288" name="Text Box 95"/>
          <p:cNvSpPr txBox="1">
            <a:spLocks noChangeArrowheads="1"/>
          </p:cNvSpPr>
          <p:nvPr/>
        </p:nvSpPr>
        <p:spPr bwMode="auto">
          <a:xfrm>
            <a:off x="7037388" y="5013058"/>
            <a:ext cx="996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ea typeface="幼圆" pitchFamily="49" charset="-122"/>
              </a:rPr>
              <a:t>阳离子</a:t>
            </a:r>
          </a:p>
        </p:txBody>
      </p:sp>
      <p:sp>
        <p:nvSpPr>
          <p:cNvPr id="52289" name="Text Box 96"/>
          <p:cNvSpPr txBox="1">
            <a:spLocks noChangeArrowheads="1"/>
          </p:cNvSpPr>
          <p:nvPr/>
        </p:nvSpPr>
        <p:spPr bwMode="auto">
          <a:xfrm>
            <a:off x="2541588" y="5776793"/>
            <a:ext cx="5203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黏土矿物</a:t>
            </a:r>
            <a:r>
              <a:rPr kumimoji="1" lang="zh-CN" altLang="en-US" sz="4000" b="1" dirty="0">
                <a:solidFill>
                  <a:srgbClr val="000066"/>
                </a:solidFill>
                <a:latin typeface="黑体" pitchFamily="2" charset="-122"/>
                <a:ea typeface="黑体" pitchFamily="2" charset="-122"/>
              </a:rPr>
              <a:t>的带电特性</a:t>
            </a:r>
            <a:endParaRPr kumimoji="1" lang="en-US" altLang="zh-CN" sz="4000" b="1" dirty="0">
              <a:solidFill>
                <a:srgbClr val="000066"/>
              </a:solidFill>
              <a:latin typeface="黑体" pitchFamily="2" charset="-122"/>
              <a:ea typeface="黑体" pitchFamily="2" charset="-122"/>
            </a:endParaRPr>
          </a:p>
        </p:txBody>
      </p:sp>
      <p:sp>
        <p:nvSpPr>
          <p:cNvPr id="52290" name="Freeform 97"/>
          <p:cNvSpPr>
            <a:spLocks/>
          </p:cNvSpPr>
          <p:nvPr/>
        </p:nvSpPr>
        <p:spPr bwMode="auto">
          <a:xfrm>
            <a:off x="5837238" y="1776452"/>
            <a:ext cx="17462" cy="26988"/>
          </a:xfrm>
          <a:custGeom>
            <a:avLst/>
            <a:gdLst>
              <a:gd name="T0" fmla="*/ 2147483647 w 11"/>
              <a:gd name="T1" fmla="*/ 2147483647 h 17"/>
              <a:gd name="T2" fmla="*/ 2147483647 w 11"/>
              <a:gd name="T3" fmla="*/ 2147483647 h 17"/>
              <a:gd name="T4" fmla="*/ 0 60000 65536"/>
              <a:gd name="T5" fmla="*/ 0 60000 65536"/>
              <a:gd name="T6" fmla="*/ 0 w 11"/>
              <a:gd name="T7" fmla="*/ 0 h 17"/>
              <a:gd name="T8" fmla="*/ 11 w 11"/>
              <a:gd name="T9" fmla="*/ 17 h 17"/>
            </a:gdLst>
            <a:ahLst/>
            <a:cxnLst>
              <a:cxn ang="T4">
                <a:pos x="T0" y="T1"/>
              </a:cxn>
              <a:cxn ang="T5">
                <a:pos x="T2" y="T3"/>
              </a:cxn>
            </a:cxnLst>
            <a:rect l="T6" t="T7" r="T8" b="T9"/>
            <a:pathLst>
              <a:path w="11" h="17">
                <a:moveTo>
                  <a:pt x="11" y="12"/>
                </a:moveTo>
                <a:cubicBezTo>
                  <a:pt x="0" y="17"/>
                  <a:pt x="6" y="0"/>
                  <a:pt x="11" y="12"/>
                </a:cubicBezTo>
                <a:close/>
              </a:path>
            </a:pathLst>
          </a:custGeom>
          <a:solidFill>
            <a:schemeClr val="accent1"/>
          </a:solidFill>
          <a:ln w="9525">
            <a:solidFill>
              <a:schemeClr val="tx1"/>
            </a:solidFill>
            <a:round/>
            <a:headEnd/>
            <a:tailEnd/>
          </a:ln>
        </p:spPr>
        <p:txBody>
          <a:bodyPr/>
          <a:lstStyle/>
          <a:p>
            <a:endParaRPr lang="zh-CN" altLang="en-US"/>
          </a:p>
        </p:txBody>
      </p:sp>
      <p:sp>
        <p:nvSpPr>
          <p:cNvPr id="52291" name="Freeform 98"/>
          <p:cNvSpPr>
            <a:spLocks/>
          </p:cNvSpPr>
          <p:nvPr/>
        </p:nvSpPr>
        <p:spPr bwMode="auto">
          <a:xfrm>
            <a:off x="5907088" y="1803440"/>
            <a:ext cx="11112" cy="17462"/>
          </a:xfrm>
          <a:custGeom>
            <a:avLst/>
            <a:gdLst>
              <a:gd name="T0" fmla="*/ 2147483647 w 7"/>
              <a:gd name="T1" fmla="*/ 2147483647 h 11"/>
              <a:gd name="T2" fmla="*/ 2147483647 w 7"/>
              <a:gd name="T3" fmla="*/ 2147483647 h 11"/>
              <a:gd name="T4" fmla="*/ 2147483647 w 7"/>
              <a:gd name="T5" fmla="*/ 2147483647 h 11"/>
              <a:gd name="T6" fmla="*/ 0 w 7"/>
              <a:gd name="T7" fmla="*/ 2147483647 h 11"/>
              <a:gd name="T8" fmla="*/ 2147483647 w 7"/>
              <a:gd name="T9" fmla="*/ 2147483647 h 11"/>
              <a:gd name="T10" fmla="*/ 0 60000 65536"/>
              <a:gd name="T11" fmla="*/ 0 60000 65536"/>
              <a:gd name="T12" fmla="*/ 0 60000 65536"/>
              <a:gd name="T13" fmla="*/ 0 60000 65536"/>
              <a:gd name="T14" fmla="*/ 0 60000 65536"/>
              <a:gd name="T15" fmla="*/ 0 w 7"/>
              <a:gd name="T16" fmla="*/ 0 h 11"/>
              <a:gd name="T17" fmla="*/ 7 w 7"/>
              <a:gd name="T18" fmla="*/ 11 h 11"/>
            </a:gdLst>
            <a:ahLst/>
            <a:cxnLst>
              <a:cxn ang="T10">
                <a:pos x="T0" y="T1"/>
              </a:cxn>
              <a:cxn ang="T11">
                <a:pos x="T2" y="T3"/>
              </a:cxn>
              <a:cxn ang="T12">
                <a:pos x="T4" y="T5"/>
              </a:cxn>
              <a:cxn ang="T13">
                <a:pos x="T6" y="T7"/>
              </a:cxn>
              <a:cxn ang="T14">
                <a:pos x="T8" y="T9"/>
              </a:cxn>
            </a:cxnLst>
            <a:rect l="T15" t="T16" r="T17" b="T18"/>
            <a:pathLst>
              <a:path w="7" h="11">
                <a:moveTo>
                  <a:pt x="3" y="1"/>
                </a:moveTo>
                <a:cubicBezTo>
                  <a:pt x="4" y="2"/>
                  <a:pt x="4" y="5"/>
                  <a:pt x="5" y="5"/>
                </a:cubicBezTo>
                <a:cubicBezTo>
                  <a:pt x="6" y="5"/>
                  <a:pt x="7" y="0"/>
                  <a:pt x="7" y="1"/>
                </a:cubicBezTo>
                <a:cubicBezTo>
                  <a:pt x="7" y="8"/>
                  <a:pt x="5" y="8"/>
                  <a:pt x="0" y="11"/>
                </a:cubicBezTo>
                <a:cubicBezTo>
                  <a:pt x="2" y="4"/>
                  <a:pt x="1" y="7"/>
                  <a:pt x="3" y="1"/>
                </a:cubicBezTo>
                <a:close/>
              </a:path>
            </a:pathLst>
          </a:custGeom>
          <a:solidFill>
            <a:schemeClr val="accent1"/>
          </a:solidFill>
          <a:ln w="9525">
            <a:solidFill>
              <a:schemeClr val="tx1"/>
            </a:solidFill>
            <a:round/>
            <a:headEnd/>
            <a:tailEnd/>
          </a:ln>
        </p:spPr>
        <p:txBody>
          <a:bodyPr/>
          <a:lstStyle/>
          <a:p>
            <a:endParaRPr lang="zh-CN" altLang="en-US"/>
          </a:p>
        </p:txBody>
      </p:sp>
      <p:sp>
        <p:nvSpPr>
          <p:cNvPr id="52292" name="Freeform 99"/>
          <p:cNvSpPr>
            <a:spLocks/>
          </p:cNvSpPr>
          <p:nvPr/>
        </p:nvSpPr>
        <p:spPr bwMode="auto">
          <a:xfrm>
            <a:off x="5949950" y="1803440"/>
            <a:ext cx="3175" cy="7937"/>
          </a:xfrm>
          <a:custGeom>
            <a:avLst/>
            <a:gdLst>
              <a:gd name="T0" fmla="*/ 2147483647 w 2"/>
              <a:gd name="T1" fmla="*/ 0 h 5"/>
              <a:gd name="T2" fmla="*/ 0 w 2"/>
              <a:gd name="T3" fmla="*/ 2147483647 h 5"/>
              <a:gd name="T4" fmla="*/ 2147483647 w 2"/>
              <a:gd name="T5" fmla="*/ 0 h 5"/>
              <a:gd name="T6" fmla="*/ 0 60000 65536"/>
              <a:gd name="T7" fmla="*/ 0 60000 65536"/>
              <a:gd name="T8" fmla="*/ 0 60000 65536"/>
              <a:gd name="T9" fmla="*/ 0 w 2"/>
              <a:gd name="T10" fmla="*/ 0 h 5"/>
              <a:gd name="T11" fmla="*/ 2 w 2"/>
              <a:gd name="T12" fmla="*/ 5 h 5"/>
            </a:gdLst>
            <a:ahLst/>
            <a:cxnLst>
              <a:cxn ang="T6">
                <a:pos x="T0" y="T1"/>
              </a:cxn>
              <a:cxn ang="T7">
                <a:pos x="T2" y="T3"/>
              </a:cxn>
              <a:cxn ang="T8">
                <a:pos x="T4" y="T5"/>
              </a:cxn>
            </a:cxnLst>
            <a:rect l="T9" t="T10" r="T11" b="T12"/>
            <a:pathLst>
              <a:path w="2" h="5">
                <a:moveTo>
                  <a:pt x="2" y="0"/>
                </a:moveTo>
                <a:cubicBezTo>
                  <a:pt x="1" y="2"/>
                  <a:pt x="0" y="5"/>
                  <a:pt x="0" y="5"/>
                </a:cubicBezTo>
                <a:cubicBezTo>
                  <a:pt x="0" y="5"/>
                  <a:pt x="1" y="2"/>
                  <a:pt x="2" y="0"/>
                </a:cubicBezTo>
                <a:close/>
              </a:path>
            </a:pathLst>
          </a:custGeom>
          <a:solidFill>
            <a:schemeClr val="accent1"/>
          </a:solidFill>
          <a:ln w="9525">
            <a:solidFill>
              <a:schemeClr val="tx1"/>
            </a:solidFill>
            <a:round/>
            <a:headEnd/>
            <a:tailEnd/>
          </a:ln>
        </p:spPr>
        <p:txBody>
          <a:bodyPr/>
          <a:lstStyle/>
          <a:p>
            <a:endParaRPr lang="zh-CN" altLang="en-US"/>
          </a:p>
        </p:txBody>
      </p:sp>
      <p:sp>
        <p:nvSpPr>
          <p:cNvPr id="52293" name="Freeform 100"/>
          <p:cNvSpPr>
            <a:spLocks/>
          </p:cNvSpPr>
          <p:nvPr/>
        </p:nvSpPr>
        <p:spPr bwMode="auto">
          <a:xfrm>
            <a:off x="5984875" y="1800265"/>
            <a:ext cx="25400" cy="17462"/>
          </a:xfrm>
          <a:custGeom>
            <a:avLst/>
            <a:gdLst>
              <a:gd name="T0" fmla="*/ 2147483647 w 16"/>
              <a:gd name="T1" fmla="*/ 0 h 11"/>
              <a:gd name="T2" fmla="*/ 2147483647 w 16"/>
              <a:gd name="T3" fmla="*/ 0 h 11"/>
              <a:gd name="T4" fmla="*/ 0 60000 65536"/>
              <a:gd name="T5" fmla="*/ 0 60000 65536"/>
              <a:gd name="T6" fmla="*/ 0 w 16"/>
              <a:gd name="T7" fmla="*/ 0 h 11"/>
              <a:gd name="T8" fmla="*/ 16 w 16"/>
              <a:gd name="T9" fmla="*/ 11 h 11"/>
            </a:gdLst>
            <a:ahLst/>
            <a:cxnLst>
              <a:cxn ang="T4">
                <a:pos x="T0" y="T1"/>
              </a:cxn>
              <a:cxn ang="T5">
                <a:pos x="T2" y="T3"/>
              </a:cxn>
            </a:cxnLst>
            <a:rect l="T6" t="T7" r="T8" b="T9"/>
            <a:pathLst>
              <a:path w="16" h="11">
                <a:moveTo>
                  <a:pt x="9" y="0"/>
                </a:moveTo>
                <a:cubicBezTo>
                  <a:pt x="16" y="11"/>
                  <a:pt x="0" y="6"/>
                  <a:pt x="9" y="0"/>
                </a:cubicBezTo>
                <a:close/>
              </a:path>
            </a:pathLst>
          </a:custGeom>
          <a:solidFill>
            <a:schemeClr val="accent1"/>
          </a:solidFill>
          <a:ln w="9525">
            <a:solidFill>
              <a:schemeClr val="tx1"/>
            </a:solidFill>
            <a:round/>
            <a:headEnd/>
            <a:tailEnd/>
          </a:ln>
        </p:spPr>
        <p:txBody>
          <a:bodyPr/>
          <a:lstStyle/>
          <a:p>
            <a:endParaRPr lang="zh-CN" altLang="en-US"/>
          </a:p>
        </p:txBody>
      </p:sp>
      <p:sp>
        <p:nvSpPr>
          <p:cNvPr id="52294" name="Freeform 101"/>
          <p:cNvSpPr>
            <a:spLocks/>
          </p:cNvSpPr>
          <p:nvPr/>
        </p:nvSpPr>
        <p:spPr bwMode="auto">
          <a:xfrm>
            <a:off x="5940425" y="1832015"/>
            <a:ext cx="9525" cy="19050"/>
          </a:xfrm>
          <a:custGeom>
            <a:avLst/>
            <a:gdLst>
              <a:gd name="T0" fmla="*/ 2147483647 w 6"/>
              <a:gd name="T1" fmla="*/ 2147483647 h 12"/>
              <a:gd name="T2" fmla="*/ 2147483647 w 6"/>
              <a:gd name="T3" fmla="*/ 2147483647 h 12"/>
              <a:gd name="T4" fmla="*/ 2147483647 w 6"/>
              <a:gd name="T5" fmla="*/ 2147483647 h 12"/>
              <a:gd name="T6" fmla="*/ 2147483647 w 6"/>
              <a:gd name="T7" fmla="*/ 2147483647 h 12"/>
              <a:gd name="T8" fmla="*/ 0 60000 65536"/>
              <a:gd name="T9" fmla="*/ 0 60000 65536"/>
              <a:gd name="T10" fmla="*/ 0 60000 65536"/>
              <a:gd name="T11" fmla="*/ 0 60000 65536"/>
              <a:gd name="T12" fmla="*/ 0 w 6"/>
              <a:gd name="T13" fmla="*/ 0 h 12"/>
              <a:gd name="T14" fmla="*/ 6 w 6"/>
              <a:gd name="T15" fmla="*/ 12 h 12"/>
            </a:gdLst>
            <a:ahLst/>
            <a:cxnLst>
              <a:cxn ang="T8">
                <a:pos x="T0" y="T1"/>
              </a:cxn>
              <a:cxn ang="T9">
                <a:pos x="T2" y="T3"/>
              </a:cxn>
              <a:cxn ang="T10">
                <a:pos x="T4" y="T5"/>
              </a:cxn>
              <a:cxn ang="T11">
                <a:pos x="T6" y="T7"/>
              </a:cxn>
            </a:cxnLst>
            <a:rect l="T12" t="T13" r="T14" b="T15"/>
            <a:pathLst>
              <a:path w="6" h="12">
                <a:moveTo>
                  <a:pt x="2" y="6"/>
                </a:moveTo>
                <a:cubicBezTo>
                  <a:pt x="3" y="7"/>
                  <a:pt x="6" y="7"/>
                  <a:pt x="6" y="9"/>
                </a:cubicBezTo>
                <a:cubicBezTo>
                  <a:pt x="6" y="10"/>
                  <a:pt x="3" y="12"/>
                  <a:pt x="2" y="11"/>
                </a:cubicBezTo>
                <a:cubicBezTo>
                  <a:pt x="0" y="8"/>
                  <a:pt x="5" y="0"/>
                  <a:pt x="2" y="6"/>
                </a:cubicBezTo>
                <a:close/>
              </a:path>
            </a:pathLst>
          </a:custGeom>
          <a:solidFill>
            <a:schemeClr val="accent1"/>
          </a:solidFill>
          <a:ln w="9525">
            <a:solidFill>
              <a:schemeClr val="tx1"/>
            </a:solidFill>
            <a:round/>
            <a:headEnd/>
            <a:tailEnd/>
          </a:ln>
        </p:spPr>
        <p:txBody>
          <a:bodyPr/>
          <a:lstStyle/>
          <a:p>
            <a:endParaRPr lang="zh-CN" altLang="en-US"/>
          </a:p>
        </p:txBody>
      </p:sp>
      <p:sp>
        <p:nvSpPr>
          <p:cNvPr id="52295" name="Freeform 102"/>
          <p:cNvSpPr>
            <a:spLocks/>
          </p:cNvSpPr>
          <p:nvPr/>
        </p:nvSpPr>
        <p:spPr bwMode="auto">
          <a:xfrm>
            <a:off x="5854700" y="1820902"/>
            <a:ext cx="14288" cy="14288"/>
          </a:xfrm>
          <a:custGeom>
            <a:avLst/>
            <a:gdLst>
              <a:gd name="T0" fmla="*/ 2147483647 w 9"/>
              <a:gd name="T1" fmla="*/ 0 h 9"/>
              <a:gd name="T2" fmla="*/ 0 w 9"/>
              <a:gd name="T3" fmla="*/ 2147483647 h 9"/>
              <a:gd name="T4" fmla="*/ 2147483647 w 9"/>
              <a:gd name="T5" fmla="*/ 0 h 9"/>
              <a:gd name="T6" fmla="*/ 0 60000 65536"/>
              <a:gd name="T7" fmla="*/ 0 60000 65536"/>
              <a:gd name="T8" fmla="*/ 0 60000 65536"/>
              <a:gd name="T9" fmla="*/ 0 w 9"/>
              <a:gd name="T10" fmla="*/ 0 h 9"/>
              <a:gd name="T11" fmla="*/ 9 w 9"/>
              <a:gd name="T12" fmla="*/ 9 h 9"/>
            </a:gdLst>
            <a:ahLst/>
            <a:cxnLst>
              <a:cxn ang="T6">
                <a:pos x="T0" y="T1"/>
              </a:cxn>
              <a:cxn ang="T7">
                <a:pos x="T2" y="T3"/>
              </a:cxn>
              <a:cxn ang="T8">
                <a:pos x="T4" y="T5"/>
              </a:cxn>
            </a:cxnLst>
            <a:rect l="T9" t="T10" r="T11" b="T12"/>
            <a:pathLst>
              <a:path w="9" h="9">
                <a:moveTo>
                  <a:pt x="6" y="0"/>
                </a:moveTo>
                <a:cubicBezTo>
                  <a:pt x="9" y="7"/>
                  <a:pt x="7" y="9"/>
                  <a:pt x="0" y="6"/>
                </a:cubicBezTo>
                <a:cubicBezTo>
                  <a:pt x="4" y="1"/>
                  <a:pt x="2" y="3"/>
                  <a:pt x="6" y="0"/>
                </a:cubicBezTo>
                <a:close/>
              </a:path>
            </a:pathLst>
          </a:custGeom>
          <a:solidFill>
            <a:schemeClr val="accent1"/>
          </a:solidFill>
          <a:ln w="9525">
            <a:solidFill>
              <a:schemeClr val="tx1"/>
            </a:solidFill>
            <a:round/>
            <a:headEnd/>
            <a:tailEnd/>
          </a:ln>
        </p:spPr>
        <p:txBody>
          <a:bodyPr/>
          <a:lstStyle/>
          <a:p>
            <a:endParaRPr lang="zh-CN" altLang="en-US"/>
          </a:p>
        </p:txBody>
      </p:sp>
      <p:sp>
        <p:nvSpPr>
          <p:cNvPr id="52296" name="Freeform 103"/>
          <p:cNvSpPr>
            <a:spLocks/>
          </p:cNvSpPr>
          <p:nvPr/>
        </p:nvSpPr>
        <p:spPr bwMode="auto">
          <a:xfrm>
            <a:off x="5846763" y="1741527"/>
            <a:ext cx="15875" cy="17463"/>
          </a:xfrm>
          <a:custGeom>
            <a:avLst/>
            <a:gdLst>
              <a:gd name="T0" fmla="*/ 2147483647 w 10"/>
              <a:gd name="T1" fmla="*/ 0 h 11"/>
              <a:gd name="T2" fmla="*/ 2147483647 w 10"/>
              <a:gd name="T3" fmla="*/ 2147483647 h 11"/>
              <a:gd name="T4" fmla="*/ 2147483647 w 10"/>
              <a:gd name="T5" fmla="*/ 0 h 11"/>
              <a:gd name="T6" fmla="*/ 0 60000 65536"/>
              <a:gd name="T7" fmla="*/ 0 60000 65536"/>
              <a:gd name="T8" fmla="*/ 0 60000 65536"/>
              <a:gd name="T9" fmla="*/ 0 w 10"/>
              <a:gd name="T10" fmla="*/ 0 h 11"/>
              <a:gd name="T11" fmla="*/ 10 w 10"/>
              <a:gd name="T12" fmla="*/ 11 h 11"/>
            </a:gdLst>
            <a:ahLst/>
            <a:cxnLst>
              <a:cxn ang="T6">
                <a:pos x="T0" y="T1"/>
              </a:cxn>
              <a:cxn ang="T7">
                <a:pos x="T2" y="T3"/>
              </a:cxn>
              <a:cxn ang="T8">
                <a:pos x="T4" y="T5"/>
              </a:cxn>
            </a:cxnLst>
            <a:rect l="T9" t="T10" r="T11" b="T12"/>
            <a:pathLst>
              <a:path w="10" h="11">
                <a:moveTo>
                  <a:pt x="5" y="0"/>
                </a:moveTo>
                <a:cubicBezTo>
                  <a:pt x="6" y="1"/>
                  <a:pt x="9" y="1"/>
                  <a:pt x="9" y="2"/>
                </a:cubicBezTo>
                <a:cubicBezTo>
                  <a:pt x="10" y="11"/>
                  <a:pt x="0" y="5"/>
                  <a:pt x="5" y="0"/>
                </a:cubicBezTo>
                <a:close/>
              </a:path>
            </a:pathLst>
          </a:custGeom>
          <a:solidFill>
            <a:schemeClr val="accent1"/>
          </a:solidFill>
          <a:ln w="9525">
            <a:solidFill>
              <a:schemeClr val="tx1"/>
            </a:solidFill>
            <a:round/>
            <a:headEnd/>
            <a:tailEnd/>
          </a:ln>
        </p:spPr>
        <p:txBody>
          <a:bodyPr/>
          <a:lstStyle/>
          <a:p>
            <a:endParaRPr lang="zh-CN" altLang="en-US"/>
          </a:p>
        </p:txBody>
      </p:sp>
      <p:sp>
        <p:nvSpPr>
          <p:cNvPr id="52297" name="Freeform 104"/>
          <p:cNvSpPr>
            <a:spLocks/>
          </p:cNvSpPr>
          <p:nvPr/>
        </p:nvSpPr>
        <p:spPr bwMode="auto">
          <a:xfrm>
            <a:off x="6005513" y="1760577"/>
            <a:ext cx="12700" cy="15875"/>
          </a:xfrm>
          <a:custGeom>
            <a:avLst/>
            <a:gdLst>
              <a:gd name="T0" fmla="*/ 2147483647 w 8"/>
              <a:gd name="T1" fmla="*/ 0 h 10"/>
              <a:gd name="T2" fmla="*/ 2147483647 w 8"/>
              <a:gd name="T3" fmla="*/ 2147483647 h 10"/>
              <a:gd name="T4" fmla="*/ 2147483647 w 8"/>
              <a:gd name="T5" fmla="*/ 0 h 10"/>
              <a:gd name="T6" fmla="*/ 0 60000 65536"/>
              <a:gd name="T7" fmla="*/ 0 60000 65536"/>
              <a:gd name="T8" fmla="*/ 0 60000 65536"/>
              <a:gd name="T9" fmla="*/ 0 w 8"/>
              <a:gd name="T10" fmla="*/ 0 h 10"/>
              <a:gd name="T11" fmla="*/ 8 w 8"/>
              <a:gd name="T12" fmla="*/ 10 h 10"/>
            </a:gdLst>
            <a:ahLst/>
            <a:cxnLst>
              <a:cxn ang="T6">
                <a:pos x="T0" y="T1"/>
              </a:cxn>
              <a:cxn ang="T7">
                <a:pos x="T2" y="T3"/>
              </a:cxn>
              <a:cxn ang="T8">
                <a:pos x="T4" y="T5"/>
              </a:cxn>
            </a:cxnLst>
            <a:rect l="T9" t="T10" r="T11" b="T12"/>
            <a:pathLst>
              <a:path w="8" h="10">
                <a:moveTo>
                  <a:pt x="4" y="0"/>
                </a:moveTo>
                <a:cubicBezTo>
                  <a:pt x="7" y="5"/>
                  <a:pt x="8" y="10"/>
                  <a:pt x="1" y="6"/>
                </a:cubicBezTo>
                <a:cubicBezTo>
                  <a:pt x="2" y="0"/>
                  <a:pt x="0" y="2"/>
                  <a:pt x="4" y="0"/>
                </a:cubicBezTo>
                <a:close/>
              </a:path>
            </a:pathLst>
          </a:custGeom>
          <a:solidFill>
            <a:schemeClr val="accent1"/>
          </a:solidFill>
          <a:ln w="9525">
            <a:solidFill>
              <a:schemeClr val="tx1"/>
            </a:solidFill>
            <a:round/>
            <a:headEnd/>
            <a:tailEnd/>
          </a:ln>
        </p:spPr>
        <p:txBody>
          <a:bodyPr/>
          <a:lstStyle/>
          <a:p>
            <a:endParaRPr lang="zh-CN" altLang="en-US"/>
          </a:p>
        </p:txBody>
      </p:sp>
      <p:sp>
        <p:nvSpPr>
          <p:cNvPr id="52298" name="Freeform 105"/>
          <p:cNvSpPr>
            <a:spLocks/>
          </p:cNvSpPr>
          <p:nvPr/>
        </p:nvSpPr>
        <p:spPr bwMode="auto">
          <a:xfrm>
            <a:off x="5953125" y="1808202"/>
            <a:ext cx="20638" cy="7938"/>
          </a:xfrm>
          <a:custGeom>
            <a:avLst/>
            <a:gdLst>
              <a:gd name="T0" fmla="*/ 0 w 13"/>
              <a:gd name="T1" fmla="*/ 0 h 5"/>
              <a:gd name="T2" fmla="*/ 0 w 13"/>
              <a:gd name="T3" fmla="*/ 0 h 5"/>
              <a:gd name="T4" fmla="*/ 0 60000 65536"/>
              <a:gd name="T5" fmla="*/ 0 60000 65536"/>
              <a:gd name="T6" fmla="*/ 0 w 13"/>
              <a:gd name="T7" fmla="*/ 0 h 5"/>
              <a:gd name="T8" fmla="*/ 13 w 13"/>
              <a:gd name="T9" fmla="*/ 5 h 5"/>
            </a:gdLst>
            <a:ahLst/>
            <a:cxnLst>
              <a:cxn ang="T4">
                <a:pos x="T0" y="T1"/>
              </a:cxn>
              <a:cxn ang="T5">
                <a:pos x="T2" y="T3"/>
              </a:cxn>
            </a:cxnLst>
            <a:rect l="T6" t="T7" r="T8" b="T9"/>
            <a:pathLst>
              <a:path w="13" h="5">
                <a:moveTo>
                  <a:pt x="0" y="0"/>
                </a:moveTo>
                <a:cubicBezTo>
                  <a:pt x="13" y="4"/>
                  <a:pt x="0" y="5"/>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52299" name="Freeform 106"/>
          <p:cNvSpPr>
            <a:spLocks/>
          </p:cNvSpPr>
          <p:nvPr/>
        </p:nvSpPr>
        <p:spPr bwMode="auto">
          <a:xfrm>
            <a:off x="5999163" y="1830427"/>
            <a:ext cx="9525" cy="31750"/>
          </a:xfrm>
          <a:custGeom>
            <a:avLst/>
            <a:gdLst>
              <a:gd name="T0" fmla="*/ 2147483647 w 6"/>
              <a:gd name="T1" fmla="*/ 2147483647 h 20"/>
              <a:gd name="T2" fmla="*/ 2147483647 w 6"/>
              <a:gd name="T3" fmla="*/ 0 h 20"/>
              <a:gd name="T4" fmla="*/ 2147483647 w 6"/>
              <a:gd name="T5" fmla="*/ 2147483647 h 20"/>
              <a:gd name="T6" fmla="*/ 0 60000 65536"/>
              <a:gd name="T7" fmla="*/ 0 60000 65536"/>
              <a:gd name="T8" fmla="*/ 0 60000 65536"/>
              <a:gd name="T9" fmla="*/ 0 w 6"/>
              <a:gd name="T10" fmla="*/ 0 h 20"/>
              <a:gd name="T11" fmla="*/ 6 w 6"/>
              <a:gd name="T12" fmla="*/ 20 h 20"/>
            </a:gdLst>
            <a:ahLst/>
            <a:cxnLst>
              <a:cxn ang="T6">
                <a:pos x="T0" y="T1"/>
              </a:cxn>
              <a:cxn ang="T7">
                <a:pos x="T2" y="T3"/>
              </a:cxn>
              <a:cxn ang="T8">
                <a:pos x="T4" y="T5"/>
              </a:cxn>
            </a:cxnLst>
            <a:rect l="T9" t="T10" r="T11" b="T12"/>
            <a:pathLst>
              <a:path w="6" h="20">
                <a:moveTo>
                  <a:pt x="5" y="7"/>
                </a:moveTo>
                <a:cubicBezTo>
                  <a:pt x="0" y="20"/>
                  <a:pt x="1" y="3"/>
                  <a:pt x="1" y="0"/>
                </a:cubicBezTo>
                <a:cubicBezTo>
                  <a:pt x="6" y="3"/>
                  <a:pt x="5" y="1"/>
                  <a:pt x="5" y="7"/>
                </a:cubicBezTo>
                <a:close/>
              </a:path>
            </a:pathLst>
          </a:custGeom>
          <a:solidFill>
            <a:schemeClr val="accent1"/>
          </a:solidFill>
          <a:ln w="9525">
            <a:solidFill>
              <a:schemeClr val="tx1"/>
            </a:solidFill>
            <a:round/>
            <a:headEnd/>
            <a:tailEnd/>
          </a:ln>
        </p:spPr>
        <p:txBody>
          <a:bodyPr/>
          <a:lstStyle/>
          <a:p>
            <a:endParaRPr lang="zh-CN" altLang="en-US"/>
          </a:p>
        </p:txBody>
      </p:sp>
      <p:sp>
        <p:nvSpPr>
          <p:cNvPr id="52300" name="Freeform 107"/>
          <p:cNvSpPr>
            <a:spLocks/>
          </p:cNvSpPr>
          <p:nvPr/>
        </p:nvSpPr>
        <p:spPr bwMode="auto">
          <a:xfrm>
            <a:off x="5881688" y="1843127"/>
            <a:ext cx="20637" cy="25400"/>
          </a:xfrm>
          <a:custGeom>
            <a:avLst/>
            <a:gdLst>
              <a:gd name="T0" fmla="*/ 2147483647 w 13"/>
              <a:gd name="T1" fmla="*/ 0 h 16"/>
              <a:gd name="T2" fmla="*/ 2147483647 w 13"/>
              <a:gd name="T3" fmla="*/ 0 h 16"/>
              <a:gd name="T4" fmla="*/ 0 60000 65536"/>
              <a:gd name="T5" fmla="*/ 0 60000 65536"/>
              <a:gd name="T6" fmla="*/ 0 w 13"/>
              <a:gd name="T7" fmla="*/ 0 h 16"/>
              <a:gd name="T8" fmla="*/ 13 w 13"/>
              <a:gd name="T9" fmla="*/ 16 h 16"/>
            </a:gdLst>
            <a:ahLst/>
            <a:cxnLst>
              <a:cxn ang="T4">
                <a:pos x="T0" y="T1"/>
              </a:cxn>
              <a:cxn ang="T5">
                <a:pos x="T2" y="T3"/>
              </a:cxn>
            </a:cxnLst>
            <a:rect l="T6" t="T7" r="T8" b="T9"/>
            <a:pathLst>
              <a:path w="13" h="16">
                <a:moveTo>
                  <a:pt x="3" y="0"/>
                </a:moveTo>
                <a:cubicBezTo>
                  <a:pt x="13" y="5"/>
                  <a:pt x="0" y="16"/>
                  <a:pt x="3" y="0"/>
                </a:cubicBezTo>
                <a:close/>
              </a:path>
            </a:pathLst>
          </a:custGeom>
          <a:solidFill>
            <a:schemeClr val="accent1"/>
          </a:solidFill>
          <a:ln w="9525">
            <a:solidFill>
              <a:schemeClr val="tx1"/>
            </a:solidFill>
            <a:round/>
            <a:headEnd/>
            <a:tailEnd/>
          </a:ln>
        </p:spPr>
        <p:txBody>
          <a:bodyPr/>
          <a:lstStyle/>
          <a:p>
            <a:endParaRPr lang="zh-CN" altLang="en-US"/>
          </a:p>
        </p:txBody>
      </p:sp>
      <p:sp>
        <p:nvSpPr>
          <p:cNvPr id="52301" name="Freeform 108"/>
          <p:cNvSpPr>
            <a:spLocks/>
          </p:cNvSpPr>
          <p:nvPr/>
        </p:nvSpPr>
        <p:spPr bwMode="auto">
          <a:xfrm>
            <a:off x="5816600" y="1817727"/>
            <a:ext cx="14288" cy="20638"/>
          </a:xfrm>
          <a:custGeom>
            <a:avLst/>
            <a:gdLst>
              <a:gd name="T0" fmla="*/ 2147483647 w 9"/>
              <a:gd name="T1" fmla="*/ 0 h 13"/>
              <a:gd name="T2" fmla="*/ 2147483647 w 9"/>
              <a:gd name="T3" fmla="*/ 2147483647 h 13"/>
              <a:gd name="T4" fmla="*/ 2147483647 w 9"/>
              <a:gd name="T5" fmla="*/ 0 h 13"/>
              <a:gd name="T6" fmla="*/ 0 60000 65536"/>
              <a:gd name="T7" fmla="*/ 0 60000 65536"/>
              <a:gd name="T8" fmla="*/ 0 60000 65536"/>
              <a:gd name="T9" fmla="*/ 0 w 9"/>
              <a:gd name="T10" fmla="*/ 0 h 13"/>
              <a:gd name="T11" fmla="*/ 9 w 9"/>
              <a:gd name="T12" fmla="*/ 13 h 13"/>
            </a:gdLst>
            <a:ahLst/>
            <a:cxnLst>
              <a:cxn ang="T6">
                <a:pos x="T0" y="T1"/>
              </a:cxn>
              <a:cxn ang="T7">
                <a:pos x="T2" y="T3"/>
              </a:cxn>
              <a:cxn ang="T8">
                <a:pos x="T4" y="T5"/>
              </a:cxn>
            </a:cxnLst>
            <a:rect l="T9" t="T10" r="T11" b="T12"/>
            <a:pathLst>
              <a:path w="9" h="13">
                <a:moveTo>
                  <a:pt x="1" y="0"/>
                </a:moveTo>
                <a:cubicBezTo>
                  <a:pt x="9" y="3"/>
                  <a:pt x="4" y="6"/>
                  <a:pt x="3" y="13"/>
                </a:cubicBezTo>
                <a:cubicBezTo>
                  <a:pt x="0" y="7"/>
                  <a:pt x="4" y="6"/>
                  <a:pt x="1" y="0"/>
                </a:cubicBezTo>
                <a:close/>
              </a:path>
            </a:pathLst>
          </a:custGeom>
          <a:solidFill>
            <a:schemeClr val="accent1"/>
          </a:solidFill>
          <a:ln w="9525">
            <a:solidFill>
              <a:schemeClr val="tx1"/>
            </a:solidFill>
            <a:round/>
            <a:headEnd/>
            <a:tailEnd/>
          </a:ln>
        </p:spPr>
        <p:txBody>
          <a:bodyPr/>
          <a:lstStyle/>
          <a:p>
            <a:endParaRPr lang="zh-CN" altLang="en-US"/>
          </a:p>
        </p:txBody>
      </p:sp>
      <p:sp>
        <p:nvSpPr>
          <p:cNvPr id="52302" name="Freeform 109"/>
          <p:cNvSpPr>
            <a:spLocks/>
          </p:cNvSpPr>
          <p:nvPr/>
        </p:nvSpPr>
        <p:spPr bwMode="auto">
          <a:xfrm>
            <a:off x="5821363" y="1762165"/>
            <a:ext cx="7937" cy="20637"/>
          </a:xfrm>
          <a:custGeom>
            <a:avLst/>
            <a:gdLst>
              <a:gd name="T0" fmla="*/ 0 w 5"/>
              <a:gd name="T1" fmla="*/ 0 h 13"/>
              <a:gd name="T2" fmla="*/ 0 w 5"/>
              <a:gd name="T3" fmla="*/ 0 h 13"/>
              <a:gd name="T4" fmla="*/ 0 60000 65536"/>
              <a:gd name="T5" fmla="*/ 0 60000 65536"/>
              <a:gd name="T6" fmla="*/ 0 w 5"/>
              <a:gd name="T7" fmla="*/ 0 h 13"/>
              <a:gd name="T8" fmla="*/ 5 w 5"/>
              <a:gd name="T9" fmla="*/ 13 h 13"/>
            </a:gdLst>
            <a:ahLst/>
            <a:cxnLst>
              <a:cxn ang="T4">
                <a:pos x="T0" y="T1"/>
              </a:cxn>
              <a:cxn ang="T5">
                <a:pos x="T2" y="T3"/>
              </a:cxn>
            </a:cxnLst>
            <a:rect l="T6" t="T7" r="T8" b="T9"/>
            <a:pathLst>
              <a:path w="5" h="13">
                <a:moveTo>
                  <a:pt x="0" y="0"/>
                </a:moveTo>
                <a:cubicBezTo>
                  <a:pt x="5" y="9"/>
                  <a:pt x="0" y="13"/>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52303" name="Freeform 110"/>
          <p:cNvSpPr>
            <a:spLocks/>
          </p:cNvSpPr>
          <p:nvPr/>
        </p:nvSpPr>
        <p:spPr bwMode="auto">
          <a:xfrm>
            <a:off x="6046788" y="1809790"/>
            <a:ext cx="14287" cy="19050"/>
          </a:xfrm>
          <a:custGeom>
            <a:avLst/>
            <a:gdLst>
              <a:gd name="T0" fmla="*/ 2147483647 w 9"/>
              <a:gd name="T1" fmla="*/ 2147483647 h 12"/>
              <a:gd name="T2" fmla="*/ 0 w 9"/>
              <a:gd name="T3" fmla="*/ 2147483647 h 12"/>
              <a:gd name="T4" fmla="*/ 2147483647 w 9"/>
              <a:gd name="T5" fmla="*/ 2147483647 h 12"/>
              <a:gd name="T6" fmla="*/ 0 60000 65536"/>
              <a:gd name="T7" fmla="*/ 0 60000 65536"/>
              <a:gd name="T8" fmla="*/ 0 60000 65536"/>
              <a:gd name="T9" fmla="*/ 0 w 9"/>
              <a:gd name="T10" fmla="*/ 0 h 12"/>
              <a:gd name="T11" fmla="*/ 9 w 9"/>
              <a:gd name="T12" fmla="*/ 12 h 12"/>
            </a:gdLst>
            <a:ahLst/>
            <a:cxnLst>
              <a:cxn ang="T6">
                <a:pos x="T0" y="T1"/>
              </a:cxn>
              <a:cxn ang="T7">
                <a:pos x="T2" y="T3"/>
              </a:cxn>
              <a:cxn ang="T8">
                <a:pos x="T4" y="T5"/>
              </a:cxn>
            </a:cxnLst>
            <a:rect l="T9" t="T10" r="T11" b="T12"/>
            <a:pathLst>
              <a:path w="9" h="12">
                <a:moveTo>
                  <a:pt x="5" y="2"/>
                </a:moveTo>
                <a:cubicBezTo>
                  <a:pt x="9" y="10"/>
                  <a:pt x="5" y="12"/>
                  <a:pt x="0" y="5"/>
                </a:cubicBezTo>
                <a:cubicBezTo>
                  <a:pt x="3" y="0"/>
                  <a:pt x="2" y="0"/>
                  <a:pt x="5" y="2"/>
                </a:cubicBezTo>
                <a:close/>
              </a:path>
            </a:pathLst>
          </a:custGeom>
          <a:solidFill>
            <a:schemeClr val="accent1"/>
          </a:solidFill>
          <a:ln w="9525">
            <a:solidFill>
              <a:schemeClr val="tx1"/>
            </a:solidFill>
            <a:round/>
            <a:headEnd/>
            <a:tailEnd/>
          </a:ln>
        </p:spPr>
        <p:txBody>
          <a:bodyPr/>
          <a:lstStyle/>
          <a:p>
            <a:endParaRPr lang="zh-CN" altLang="en-US"/>
          </a:p>
        </p:txBody>
      </p:sp>
      <p:sp>
        <p:nvSpPr>
          <p:cNvPr id="52304" name="Freeform 111"/>
          <p:cNvSpPr>
            <a:spLocks/>
          </p:cNvSpPr>
          <p:nvPr/>
        </p:nvSpPr>
        <p:spPr bwMode="auto">
          <a:xfrm>
            <a:off x="5954713" y="1865352"/>
            <a:ext cx="20637" cy="26988"/>
          </a:xfrm>
          <a:custGeom>
            <a:avLst/>
            <a:gdLst>
              <a:gd name="T0" fmla="*/ 2147483647 w 13"/>
              <a:gd name="T1" fmla="*/ 2147483647 h 17"/>
              <a:gd name="T2" fmla="*/ 2147483647 w 13"/>
              <a:gd name="T3" fmla="*/ 2147483647 h 17"/>
              <a:gd name="T4" fmla="*/ 2147483647 w 13"/>
              <a:gd name="T5" fmla="*/ 2147483647 h 17"/>
              <a:gd name="T6" fmla="*/ 2147483647 w 13"/>
              <a:gd name="T7" fmla="*/ 2147483647 h 17"/>
              <a:gd name="T8" fmla="*/ 0 60000 65536"/>
              <a:gd name="T9" fmla="*/ 0 60000 65536"/>
              <a:gd name="T10" fmla="*/ 0 60000 65536"/>
              <a:gd name="T11" fmla="*/ 0 60000 65536"/>
              <a:gd name="T12" fmla="*/ 0 w 13"/>
              <a:gd name="T13" fmla="*/ 0 h 17"/>
              <a:gd name="T14" fmla="*/ 13 w 13"/>
              <a:gd name="T15" fmla="*/ 17 h 17"/>
            </a:gdLst>
            <a:ahLst/>
            <a:cxnLst>
              <a:cxn ang="T8">
                <a:pos x="T0" y="T1"/>
              </a:cxn>
              <a:cxn ang="T9">
                <a:pos x="T2" y="T3"/>
              </a:cxn>
              <a:cxn ang="T10">
                <a:pos x="T4" y="T5"/>
              </a:cxn>
              <a:cxn ang="T11">
                <a:pos x="T6" y="T7"/>
              </a:cxn>
            </a:cxnLst>
            <a:rect l="T12" t="T13" r="T14" b="T15"/>
            <a:pathLst>
              <a:path w="13" h="17">
                <a:moveTo>
                  <a:pt x="10" y="6"/>
                </a:moveTo>
                <a:cubicBezTo>
                  <a:pt x="11" y="7"/>
                  <a:pt x="13" y="9"/>
                  <a:pt x="12" y="10"/>
                </a:cubicBezTo>
                <a:cubicBezTo>
                  <a:pt x="0" y="17"/>
                  <a:pt x="7" y="1"/>
                  <a:pt x="7" y="1"/>
                </a:cubicBezTo>
                <a:cubicBezTo>
                  <a:pt x="13" y="2"/>
                  <a:pt x="13" y="0"/>
                  <a:pt x="10" y="6"/>
                </a:cubicBezTo>
                <a:close/>
              </a:path>
            </a:pathLst>
          </a:custGeom>
          <a:solidFill>
            <a:schemeClr val="accent1"/>
          </a:solidFill>
          <a:ln w="9525">
            <a:solidFill>
              <a:schemeClr val="tx1"/>
            </a:solidFill>
            <a:round/>
            <a:headEnd/>
            <a:tailEnd/>
          </a:ln>
        </p:spPr>
        <p:txBody>
          <a:bodyPr/>
          <a:lstStyle/>
          <a:p>
            <a:endParaRPr lang="zh-CN" altLang="en-US"/>
          </a:p>
        </p:txBody>
      </p:sp>
      <p:sp>
        <p:nvSpPr>
          <p:cNvPr id="52305" name="Freeform 112"/>
          <p:cNvSpPr>
            <a:spLocks/>
          </p:cNvSpPr>
          <p:nvPr/>
        </p:nvSpPr>
        <p:spPr bwMode="auto">
          <a:xfrm>
            <a:off x="5911850" y="1871702"/>
            <a:ext cx="17463" cy="17463"/>
          </a:xfrm>
          <a:custGeom>
            <a:avLst/>
            <a:gdLst>
              <a:gd name="T0" fmla="*/ 2147483647 w 11"/>
              <a:gd name="T1" fmla="*/ 2147483647 h 11"/>
              <a:gd name="T2" fmla="*/ 0 w 11"/>
              <a:gd name="T3" fmla="*/ 2147483647 h 11"/>
              <a:gd name="T4" fmla="*/ 2147483647 w 11"/>
              <a:gd name="T5" fmla="*/ 2147483647 h 11"/>
              <a:gd name="T6" fmla="*/ 0 60000 65536"/>
              <a:gd name="T7" fmla="*/ 0 60000 65536"/>
              <a:gd name="T8" fmla="*/ 0 60000 65536"/>
              <a:gd name="T9" fmla="*/ 0 w 11"/>
              <a:gd name="T10" fmla="*/ 0 h 11"/>
              <a:gd name="T11" fmla="*/ 11 w 11"/>
              <a:gd name="T12" fmla="*/ 11 h 11"/>
            </a:gdLst>
            <a:ahLst/>
            <a:cxnLst>
              <a:cxn ang="T6">
                <a:pos x="T0" y="T1"/>
              </a:cxn>
              <a:cxn ang="T7">
                <a:pos x="T2" y="T3"/>
              </a:cxn>
              <a:cxn ang="T8">
                <a:pos x="T4" y="T5"/>
              </a:cxn>
            </a:cxnLst>
            <a:rect l="T9" t="T10" r="T11" b="T12"/>
            <a:pathLst>
              <a:path w="11" h="11">
                <a:moveTo>
                  <a:pt x="2" y="5"/>
                </a:moveTo>
                <a:cubicBezTo>
                  <a:pt x="11" y="7"/>
                  <a:pt x="5" y="10"/>
                  <a:pt x="0" y="11"/>
                </a:cubicBezTo>
                <a:cubicBezTo>
                  <a:pt x="2" y="2"/>
                  <a:pt x="2" y="0"/>
                  <a:pt x="2" y="5"/>
                </a:cubicBezTo>
                <a:close/>
              </a:path>
            </a:pathLst>
          </a:custGeom>
          <a:solidFill>
            <a:schemeClr val="accent1"/>
          </a:solidFill>
          <a:ln w="9525">
            <a:solidFill>
              <a:schemeClr val="tx1"/>
            </a:solidFill>
            <a:round/>
            <a:headEnd/>
            <a:tailEnd/>
          </a:ln>
        </p:spPr>
        <p:txBody>
          <a:bodyPr/>
          <a:lstStyle/>
          <a:p>
            <a:endParaRPr lang="zh-CN" altLang="en-US"/>
          </a:p>
        </p:txBody>
      </p:sp>
      <p:sp>
        <p:nvSpPr>
          <p:cNvPr id="52306" name="Text Box 113"/>
          <p:cNvSpPr txBox="1">
            <a:spLocks noChangeArrowheads="1"/>
          </p:cNvSpPr>
          <p:nvPr/>
        </p:nvSpPr>
        <p:spPr bwMode="auto">
          <a:xfrm>
            <a:off x="6375400" y="1197015"/>
            <a:ext cx="981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ea typeface="幼圆" pitchFamily="49" charset="-122"/>
              </a:rPr>
              <a:t>玻璃筒</a:t>
            </a:r>
            <a:endParaRPr lang="en-US" altLang="zh-CN" sz="2000" b="1">
              <a:ea typeface="幼圆" pitchFamily="49" charset="-122"/>
            </a:endParaRPr>
          </a:p>
        </p:txBody>
      </p:sp>
      <p:sp>
        <p:nvSpPr>
          <p:cNvPr id="52307" name="Text Box 114"/>
          <p:cNvSpPr txBox="1">
            <a:spLocks noChangeArrowheads="1"/>
          </p:cNvSpPr>
          <p:nvPr/>
        </p:nvSpPr>
        <p:spPr bwMode="auto">
          <a:xfrm>
            <a:off x="7804150" y="2828965"/>
            <a:ext cx="996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ea typeface="幼圆" pitchFamily="49" charset="-122"/>
              </a:rPr>
              <a:t>玻璃皿</a:t>
            </a:r>
          </a:p>
        </p:txBody>
      </p:sp>
      <p:sp>
        <p:nvSpPr>
          <p:cNvPr id="52308" name="Text Box 115"/>
          <p:cNvSpPr txBox="1">
            <a:spLocks noChangeArrowheads="1"/>
          </p:cNvSpPr>
          <p:nvPr/>
        </p:nvSpPr>
        <p:spPr bwMode="auto">
          <a:xfrm>
            <a:off x="8042275" y="1028740"/>
            <a:ext cx="7413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ea typeface="幼圆" pitchFamily="49" charset="-122"/>
              </a:rPr>
              <a:t>水位</a:t>
            </a:r>
          </a:p>
          <a:p>
            <a:pPr eaLnBrk="1" hangingPunct="1">
              <a:lnSpc>
                <a:spcPct val="100000"/>
              </a:lnSpc>
              <a:spcBef>
                <a:spcPct val="0"/>
              </a:spcBef>
              <a:spcAft>
                <a:spcPct val="0"/>
              </a:spcAft>
            </a:pPr>
            <a:r>
              <a:rPr lang="zh-CN" altLang="en-US" sz="2000" b="1">
                <a:ea typeface="幼圆" pitchFamily="49" charset="-122"/>
              </a:rPr>
              <a:t>升高</a:t>
            </a:r>
            <a:endParaRPr lang="en-US" altLang="zh-CN" sz="2000" b="1">
              <a:ea typeface="幼圆" pitchFamily="49" charset="-122"/>
            </a:endParaRPr>
          </a:p>
        </p:txBody>
      </p:sp>
      <p:sp>
        <p:nvSpPr>
          <p:cNvPr id="52309" name="Text Box 116"/>
          <p:cNvSpPr txBox="1">
            <a:spLocks noChangeArrowheads="1"/>
          </p:cNvSpPr>
          <p:nvPr/>
        </p:nvSpPr>
        <p:spPr bwMode="auto">
          <a:xfrm>
            <a:off x="4738688" y="1143040"/>
            <a:ext cx="1012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dirty="0" smtClean="0">
                <a:ea typeface="幼圆" pitchFamily="49" charset="-122"/>
              </a:rPr>
              <a:t>黏土</a:t>
            </a:r>
            <a:r>
              <a:rPr lang="zh-CN" altLang="en-US" sz="2000" b="1" dirty="0">
                <a:ea typeface="幼圆" pitchFamily="49" charset="-122"/>
              </a:rPr>
              <a:t>粒</a:t>
            </a:r>
            <a:endParaRPr lang="en-US" altLang="zh-CN" sz="2000" b="1" dirty="0">
              <a:ea typeface="幼圆" pitchFamily="49" charset="-122"/>
            </a:endParaRPr>
          </a:p>
        </p:txBody>
      </p:sp>
      <p:sp>
        <p:nvSpPr>
          <p:cNvPr id="52310" name="Text Box 117"/>
          <p:cNvSpPr txBox="1">
            <a:spLocks noChangeArrowheads="1"/>
          </p:cNvSpPr>
          <p:nvPr/>
        </p:nvSpPr>
        <p:spPr bwMode="auto">
          <a:xfrm>
            <a:off x="6318250" y="2170152"/>
            <a:ext cx="996950" cy="396875"/>
          </a:xfrm>
          <a:prstGeom prst="rect">
            <a:avLst/>
          </a:prstGeom>
          <a:solidFill>
            <a:schemeClr val="accent1">
              <a:lumMod val="60000"/>
              <a:lumOff val="40000"/>
            </a:schemeClr>
          </a:solidFill>
          <a:ln>
            <a:noFill/>
          </a:ln>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dirty="0" smtClean="0">
                <a:ea typeface="幼圆" pitchFamily="49" charset="-122"/>
              </a:rPr>
              <a:t>黏土</a:t>
            </a:r>
            <a:r>
              <a:rPr lang="zh-CN" altLang="en-US" sz="2000" b="1" dirty="0">
                <a:ea typeface="幼圆" pitchFamily="49" charset="-122"/>
              </a:rPr>
              <a:t>膏</a:t>
            </a:r>
            <a:endParaRPr lang="en-US" altLang="zh-CN" sz="2000" b="1" dirty="0">
              <a:ea typeface="幼圆" pitchFamily="49" charset="-122"/>
            </a:endParaRPr>
          </a:p>
        </p:txBody>
      </p:sp>
      <p:sp>
        <p:nvSpPr>
          <p:cNvPr id="52311" name="Text Box 118"/>
          <p:cNvSpPr txBox="1">
            <a:spLocks noChangeArrowheads="1"/>
          </p:cNvSpPr>
          <p:nvPr/>
        </p:nvSpPr>
        <p:spPr bwMode="auto">
          <a:xfrm>
            <a:off x="6324600" y="673140"/>
            <a:ext cx="328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a:ea typeface="幼圆" pitchFamily="49" charset="-122"/>
              </a:rPr>
              <a:t>+</a:t>
            </a:r>
          </a:p>
        </p:txBody>
      </p:sp>
      <p:sp>
        <p:nvSpPr>
          <p:cNvPr id="52312" name="Text Box 119"/>
          <p:cNvSpPr txBox="1">
            <a:spLocks noChangeArrowheads="1"/>
          </p:cNvSpPr>
          <p:nvPr/>
        </p:nvSpPr>
        <p:spPr bwMode="auto">
          <a:xfrm>
            <a:off x="8101013" y="684252"/>
            <a:ext cx="268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a:ea typeface="幼圆" pitchFamily="49" charset="-122"/>
              </a:rPr>
              <a:t>-</a:t>
            </a:r>
          </a:p>
        </p:txBody>
      </p:sp>
      <p:sp>
        <p:nvSpPr>
          <p:cNvPr id="52313" name="Line 120"/>
          <p:cNvSpPr>
            <a:spLocks noChangeShapeType="1"/>
          </p:cNvSpPr>
          <p:nvPr/>
        </p:nvSpPr>
        <p:spPr bwMode="auto">
          <a:xfrm>
            <a:off x="7566025" y="2743240"/>
            <a:ext cx="312738" cy="250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14" name="Line 121"/>
          <p:cNvSpPr>
            <a:spLocks noChangeShapeType="1"/>
          </p:cNvSpPr>
          <p:nvPr/>
        </p:nvSpPr>
        <p:spPr bwMode="auto">
          <a:xfrm flipV="1">
            <a:off x="6138863" y="1439902"/>
            <a:ext cx="258762" cy="60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15" name="Line 122"/>
          <p:cNvSpPr>
            <a:spLocks noChangeShapeType="1"/>
          </p:cNvSpPr>
          <p:nvPr/>
        </p:nvSpPr>
        <p:spPr bwMode="auto">
          <a:xfrm flipH="1" flipV="1">
            <a:off x="5567363" y="1538327"/>
            <a:ext cx="274637" cy="252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16" name="Line 123"/>
          <p:cNvSpPr>
            <a:spLocks noChangeShapeType="1"/>
          </p:cNvSpPr>
          <p:nvPr/>
        </p:nvSpPr>
        <p:spPr bwMode="auto">
          <a:xfrm>
            <a:off x="7029450" y="4833670"/>
            <a:ext cx="214313" cy="244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17" name="Line 124"/>
          <p:cNvSpPr>
            <a:spLocks noChangeShapeType="1"/>
          </p:cNvSpPr>
          <p:nvPr/>
        </p:nvSpPr>
        <p:spPr bwMode="auto">
          <a:xfrm>
            <a:off x="7518400" y="4681270"/>
            <a:ext cx="425450" cy="30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18" name="Line 125"/>
          <p:cNvSpPr>
            <a:spLocks noChangeShapeType="1"/>
          </p:cNvSpPr>
          <p:nvPr/>
        </p:nvSpPr>
        <p:spPr bwMode="auto">
          <a:xfrm>
            <a:off x="5613400" y="4071670"/>
            <a:ext cx="365125" cy="6556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19" name="Text Box 126"/>
          <p:cNvSpPr txBox="1">
            <a:spLocks noChangeArrowheads="1"/>
          </p:cNvSpPr>
          <p:nvPr/>
        </p:nvSpPr>
        <p:spPr bwMode="auto">
          <a:xfrm>
            <a:off x="633413" y="1878762"/>
            <a:ext cx="3816350"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r" eaLnBrk="1" hangingPunct="1">
              <a:lnSpc>
                <a:spcPct val="100000"/>
              </a:lnSpc>
              <a:spcBef>
                <a:spcPct val="0"/>
              </a:spcBef>
              <a:spcAft>
                <a:spcPct val="0"/>
              </a:spcAft>
            </a:pPr>
            <a:r>
              <a:rPr kumimoji="1" lang="zh-CN" altLang="en-US" sz="2800" b="1" dirty="0" smtClean="0">
                <a:solidFill>
                  <a:srgbClr val="800000"/>
                </a:solidFill>
                <a:ea typeface="幼圆" pitchFamily="49" charset="-122"/>
              </a:rPr>
              <a:t>黏土</a:t>
            </a:r>
            <a:r>
              <a:rPr kumimoji="1" lang="zh-CN" altLang="en-US" sz="2800" b="1" dirty="0">
                <a:solidFill>
                  <a:srgbClr val="800000"/>
                </a:solidFill>
                <a:ea typeface="幼圆" pitchFamily="49" charset="-122"/>
              </a:rPr>
              <a:t>的电泳和电渗现象</a:t>
            </a:r>
          </a:p>
          <a:p>
            <a:pPr algn="r" eaLnBrk="1" hangingPunct="1">
              <a:lnSpc>
                <a:spcPct val="120000"/>
              </a:lnSpc>
              <a:spcBef>
                <a:spcPct val="0"/>
              </a:spcBef>
              <a:spcAft>
                <a:spcPct val="0"/>
              </a:spcAft>
            </a:pPr>
            <a:r>
              <a:rPr kumimoji="1" lang="en-US" altLang="zh-CN" sz="2400" b="1" dirty="0">
                <a:solidFill>
                  <a:srgbClr val="000066"/>
                </a:solidFill>
                <a:latin typeface="幼圆" pitchFamily="49" charset="-122"/>
                <a:ea typeface="幼圆" pitchFamily="49" charset="-122"/>
              </a:rPr>
              <a:t>(</a:t>
            </a:r>
            <a:r>
              <a:rPr kumimoji="1" lang="zh-CN" altLang="en-US" sz="2400" b="1" dirty="0">
                <a:solidFill>
                  <a:srgbClr val="000066"/>
                </a:solidFill>
                <a:latin typeface="幼圆" pitchFamily="49" charset="-122"/>
                <a:ea typeface="幼圆" pitchFamily="49" charset="-122"/>
              </a:rPr>
              <a:t>列依斯</a:t>
            </a:r>
            <a:r>
              <a:rPr kumimoji="1" lang="en-US" altLang="zh-CN" sz="2400" b="1" dirty="0">
                <a:solidFill>
                  <a:srgbClr val="000066"/>
                </a:solidFill>
                <a:latin typeface="幼圆" pitchFamily="49" charset="-122"/>
                <a:ea typeface="幼圆" pitchFamily="49" charset="-122"/>
              </a:rPr>
              <a:t>, 1809)</a:t>
            </a:r>
            <a:endParaRPr kumimoji="1" lang="zh-CN" altLang="en-US" sz="2400" b="1" dirty="0">
              <a:solidFill>
                <a:srgbClr val="000066"/>
              </a:solidFill>
              <a:latin typeface="幼圆" pitchFamily="49" charset="-122"/>
              <a:ea typeface="幼圆" pitchFamily="49" charset="-122"/>
            </a:endParaRPr>
          </a:p>
        </p:txBody>
      </p:sp>
      <p:sp>
        <p:nvSpPr>
          <p:cNvPr id="52320" name="AutoShape 127"/>
          <p:cNvSpPr>
            <a:spLocks noChangeArrowheads="1"/>
          </p:cNvSpPr>
          <p:nvPr/>
        </p:nvSpPr>
        <p:spPr bwMode="auto">
          <a:xfrm>
            <a:off x="3558876" y="1133001"/>
            <a:ext cx="655638" cy="593725"/>
          </a:xfrm>
          <a:prstGeom prst="rightArrow">
            <a:avLst>
              <a:gd name="adj1" fmla="val 49731"/>
              <a:gd name="adj2" fmla="val 48128"/>
            </a:avLst>
          </a:prstGeom>
          <a:solidFill>
            <a:srgbClr val="FFCC66"/>
          </a:solidFill>
          <a:ln w="9525">
            <a:solidFill>
              <a:schemeClr val="tx1"/>
            </a:solidFill>
            <a:miter lim="800000"/>
            <a:headEnd/>
            <a:tailEnd/>
          </a:ln>
        </p:spPr>
        <p:txBody>
          <a:bodyPr wrap="none" anchor="ctr"/>
          <a:lstStyle/>
          <a:p>
            <a:endParaRPr lang="zh-CN" altLang="en-US"/>
          </a:p>
        </p:txBody>
      </p:sp>
      <p:sp>
        <p:nvSpPr>
          <p:cNvPr id="125"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30044658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nodeType="withEffect">
                                  <p:stCondLst>
                                    <p:cond delay="1000"/>
                                  </p:stCondLst>
                                  <p:iterate type="lt">
                                    <p:tmPct val="50000"/>
                                  </p:iterate>
                                  <p:childTnLst>
                                    <p:set>
                                      <p:cBhvr>
                                        <p:cTn id="6" dur="1" fill="hold">
                                          <p:stCondLst>
                                            <p:cond delay="0"/>
                                          </p:stCondLst>
                                        </p:cTn>
                                        <p:tgtEl>
                                          <p:spTgt spid="1367067">
                                            <p:txEl>
                                              <p:pRg st="1" end="1"/>
                                            </p:txEl>
                                          </p:spTgt>
                                        </p:tgtEl>
                                        <p:attrNameLst>
                                          <p:attrName>style.visibility</p:attrName>
                                        </p:attrNameLst>
                                      </p:cBhvr>
                                      <p:to>
                                        <p:strVal val="visible"/>
                                      </p:to>
                                    </p:set>
                                    <p:anim calcmode="discrete" valueType="clr">
                                      <p:cBhvr override="childStyle">
                                        <p:cTn id="7" dur="500"/>
                                        <p:tgtEl>
                                          <p:spTgt spid="136706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500"/>
                                        <p:tgtEl>
                                          <p:spTgt spid="1367067">
                                            <p:txEl>
                                              <p:pRg st="1" end="1"/>
                                            </p:txEl>
                                          </p:spTgt>
                                        </p:tgtEl>
                                        <p:attrNameLst>
                                          <p:attrName>fillcolor</p:attrName>
                                        </p:attrNameLst>
                                      </p:cBhvr>
                                      <p:tavLst>
                                        <p:tav tm="0">
                                          <p:val>
                                            <p:clrVal>
                                              <a:schemeClr val="accent2"/>
                                            </p:clrVal>
                                          </p:val>
                                        </p:tav>
                                        <p:tav tm="50000">
                                          <p:val>
                                            <p:clrVal>
                                              <a:schemeClr val="hlink"/>
                                            </p:clrVal>
                                          </p:val>
                                        </p:tav>
                                      </p:tavLst>
                                    </p:anim>
                                    <p:set>
                                      <p:cBhvr>
                                        <p:cTn id="9" dur="500"/>
                                        <p:tgtEl>
                                          <p:spTgt spid="1367067">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p:cNvSpPr>
            <a:spLocks noChangeArrowheads="1"/>
          </p:cNvSpPr>
          <p:nvPr/>
        </p:nvSpPr>
        <p:spPr bwMode="auto">
          <a:xfrm>
            <a:off x="2800350" y="5853113"/>
            <a:ext cx="4800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4000" b="1" dirty="0">
                <a:solidFill>
                  <a:srgbClr val="000066"/>
                </a:solidFill>
                <a:ea typeface="黑体" pitchFamily="2" charset="-122"/>
              </a:rPr>
              <a:t>颗粒形状和比表面积</a:t>
            </a:r>
            <a:endParaRPr kumimoji="1" lang="en-US" altLang="zh-CN" sz="4000" b="1" dirty="0">
              <a:solidFill>
                <a:srgbClr val="000066"/>
              </a:solidFill>
              <a:ea typeface="黑体" pitchFamily="2" charset="-122"/>
            </a:endParaRPr>
          </a:p>
        </p:txBody>
      </p:sp>
      <p:sp>
        <p:nvSpPr>
          <p:cNvPr id="9"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169" y="3094078"/>
            <a:ext cx="3011968" cy="2260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descr="PARTICLE"/>
          <p:cNvPicPr>
            <a:picLocks noChangeAspect="1" noChangeArrowheads="1"/>
          </p:cNvPicPr>
          <p:nvPr/>
        </p:nvPicPr>
        <p:blipFill>
          <a:blip r:embed="rId4">
            <a:extLst>
              <a:ext uri="{28A0092B-C50C-407E-A947-70E740481C1C}">
                <a14:useLocalDpi xmlns:a14="http://schemas.microsoft.com/office/drawing/2010/main" val="0"/>
              </a:ext>
            </a:extLst>
          </a:blip>
          <a:srcRect l="9860" t="26485" r="61176" b="26831"/>
          <a:stretch>
            <a:fillRect/>
          </a:stretch>
        </p:blipFill>
        <p:spPr bwMode="auto">
          <a:xfrm>
            <a:off x="858504" y="574158"/>
            <a:ext cx="2812820" cy="2149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6"/>
          <p:cNvSpPr txBox="1">
            <a:spLocks noChangeArrowheads="1"/>
          </p:cNvSpPr>
          <p:nvPr/>
        </p:nvSpPr>
        <p:spPr bwMode="auto">
          <a:xfrm>
            <a:off x="4212190" y="890848"/>
            <a:ext cx="4527771" cy="1581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65125" indent="-365125" eaLnBrk="0" hangingPunct="0">
              <a:tabLst>
                <a:tab pos="441325" algn="l"/>
              </a:tabLst>
              <a:defRPr sz="1400">
                <a:solidFill>
                  <a:schemeClr val="tx1"/>
                </a:solidFill>
                <a:latin typeface="Times New Roman" pitchFamily="18" charset="0"/>
                <a:ea typeface="宋体" charset="-122"/>
              </a:defRPr>
            </a:lvl1pPr>
            <a:lvl2pPr marL="742950" indent="-285750" eaLnBrk="0" hangingPunct="0">
              <a:tabLst>
                <a:tab pos="441325" algn="l"/>
              </a:tabLst>
              <a:defRPr sz="1400">
                <a:solidFill>
                  <a:schemeClr val="tx1"/>
                </a:solidFill>
                <a:latin typeface="Times New Roman" pitchFamily="18" charset="0"/>
                <a:ea typeface="宋体" charset="-122"/>
              </a:defRPr>
            </a:lvl2pPr>
            <a:lvl3pPr marL="1143000" indent="-228600" eaLnBrk="0" hangingPunct="0">
              <a:tabLst>
                <a:tab pos="441325" algn="l"/>
              </a:tabLst>
              <a:defRPr sz="1400">
                <a:solidFill>
                  <a:schemeClr val="tx1"/>
                </a:solidFill>
                <a:latin typeface="Times New Roman" pitchFamily="18" charset="0"/>
                <a:ea typeface="宋体" charset="-122"/>
              </a:defRPr>
            </a:lvl3pPr>
            <a:lvl4pPr marL="1600200" indent="-228600" eaLnBrk="0" hangingPunct="0">
              <a:tabLst>
                <a:tab pos="441325" algn="l"/>
              </a:tabLst>
              <a:defRPr sz="1400">
                <a:solidFill>
                  <a:schemeClr val="tx1"/>
                </a:solidFill>
                <a:latin typeface="Times New Roman" pitchFamily="18" charset="0"/>
                <a:ea typeface="宋体" charset="-122"/>
              </a:defRPr>
            </a:lvl4pPr>
            <a:lvl5pPr marL="2057400" indent="-228600" eaLnBrk="0" hangingPunct="0">
              <a:tabLst>
                <a:tab pos="441325" algn="l"/>
              </a:tabLst>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9pPr>
          </a:lstStyle>
          <a:p>
            <a:pPr eaLnBrk="1" hangingPunct="1">
              <a:lnSpc>
                <a:spcPct val="110000"/>
              </a:lnSpc>
              <a:buClr>
                <a:srgbClr val="A50021"/>
              </a:buClr>
              <a:buSzPct val="130000"/>
              <a:buFont typeface="Wingdings" panose="05000000000000000000" pitchFamily="2" charset="2"/>
              <a:buChar char="F"/>
            </a:pPr>
            <a:r>
              <a:rPr kumimoji="1" lang="zh-CN" altLang="en-US" sz="2200" b="1" dirty="0">
                <a:solidFill>
                  <a:srgbClr val="800000"/>
                </a:solidFill>
                <a:latin typeface="幼圆" pitchFamily="49" charset="-122"/>
                <a:ea typeface="幼圆" pitchFamily="49" charset="-122"/>
              </a:rPr>
              <a:t>原生矿物：</a:t>
            </a:r>
            <a:r>
              <a:rPr kumimoji="1" lang="zh-CN" altLang="en-US" sz="2200" b="1" dirty="0">
                <a:solidFill>
                  <a:srgbClr val="000066"/>
                </a:solidFill>
                <a:latin typeface="幼圆" pitchFamily="49" charset="-122"/>
                <a:ea typeface="幼圆" pitchFamily="49" charset="-122"/>
              </a:rPr>
              <a:t>一般颗粒较粗，呈</a:t>
            </a:r>
            <a:r>
              <a:rPr kumimoji="1" lang="zh-CN" altLang="en-US" sz="2200" b="1" dirty="0" smtClean="0">
                <a:solidFill>
                  <a:srgbClr val="000066"/>
                </a:solidFill>
                <a:latin typeface="幼圆" pitchFamily="49" charset="-122"/>
                <a:ea typeface="幼圆" pitchFamily="49" charset="-122"/>
              </a:rPr>
              <a:t>粒状，三个方向的尺度基本上在同一</a:t>
            </a:r>
            <a:r>
              <a:rPr kumimoji="1" lang="zh-CN" altLang="en-US" sz="2200" b="1" dirty="0">
                <a:solidFill>
                  <a:srgbClr val="000066"/>
                </a:solidFill>
                <a:latin typeface="幼圆" pitchFamily="49" charset="-122"/>
                <a:ea typeface="幼圆" pitchFamily="49" charset="-122"/>
              </a:rPr>
              <a:t>数量级</a:t>
            </a:r>
            <a:r>
              <a:rPr kumimoji="1" lang="zh-CN" altLang="en-US" sz="2200" b="1" dirty="0" smtClean="0">
                <a:solidFill>
                  <a:srgbClr val="000066"/>
                </a:solidFill>
                <a:latin typeface="幼圆" pitchFamily="49" charset="-122"/>
                <a:ea typeface="幼圆" pitchFamily="49" charset="-122"/>
              </a:rPr>
              <a:t>。具体颗粒形状</a:t>
            </a:r>
            <a:r>
              <a:rPr kumimoji="1" lang="zh-CN" altLang="en-US" sz="2200" b="1" dirty="0">
                <a:solidFill>
                  <a:srgbClr val="000066"/>
                </a:solidFill>
                <a:latin typeface="幼圆" pitchFamily="49" charset="-122"/>
                <a:ea typeface="幼圆" pitchFamily="49" charset="-122"/>
              </a:rPr>
              <a:t>有带尖</a:t>
            </a:r>
            <a:r>
              <a:rPr kumimoji="1" lang="zh-CN" altLang="en-US" sz="2200" b="1" dirty="0" smtClean="0">
                <a:solidFill>
                  <a:srgbClr val="000066"/>
                </a:solidFill>
                <a:latin typeface="幼圆" pitchFamily="49" charset="-122"/>
                <a:ea typeface="幼圆" pitchFamily="49" charset="-122"/>
              </a:rPr>
              <a:t>角、带棱角、浑圆</a:t>
            </a:r>
            <a:r>
              <a:rPr kumimoji="1" lang="zh-CN" altLang="en-US" sz="2200" b="1" dirty="0">
                <a:solidFill>
                  <a:srgbClr val="000066"/>
                </a:solidFill>
                <a:latin typeface="幼圆" pitchFamily="49" charset="-122"/>
                <a:ea typeface="幼圆" pitchFamily="49" charset="-122"/>
              </a:rPr>
              <a:t>状、圆</a:t>
            </a:r>
            <a:r>
              <a:rPr kumimoji="1" lang="zh-CN" altLang="en-US" sz="2200" b="1" dirty="0" smtClean="0">
                <a:solidFill>
                  <a:srgbClr val="000066"/>
                </a:solidFill>
                <a:latin typeface="幼圆" pitchFamily="49" charset="-122"/>
                <a:ea typeface="幼圆" pitchFamily="49" charset="-122"/>
              </a:rPr>
              <a:t>状等</a:t>
            </a:r>
            <a:endParaRPr kumimoji="1" lang="zh-CN" altLang="en-US" sz="2200" b="1" dirty="0">
              <a:solidFill>
                <a:srgbClr val="000066"/>
              </a:solidFill>
              <a:latin typeface="幼圆" pitchFamily="49" charset="-122"/>
              <a:ea typeface="幼圆" pitchFamily="49" charset="-122"/>
            </a:endParaRPr>
          </a:p>
        </p:txBody>
      </p:sp>
      <p:grpSp>
        <p:nvGrpSpPr>
          <p:cNvPr id="7" name="组合 6"/>
          <p:cNvGrpSpPr/>
          <p:nvPr/>
        </p:nvGrpSpPr>
        <p:grpSpPr>
          <a:xfrm>
            <a:off x="4008466" y="4456799"/>
            <a:ext cx="3370529" cy="923274"/>
            <a:chOff x="4008466" y="4456799"/>
            <a:chExt cx="3370529" cy="923274"/>
          </a:xfrm>
        </p:grpSpPr>
        <p:sp>
          <p:nvSpPr>
            <p:cNvPr id="2" name="矩形 1"/>
            <p:cNvSpPr/>
            <p:nvPr/>
          </p:nvSpPr>
          <p:spPr>
            <a:xfrm>
              <a:off x="4008466" y="4456799"/>
              <a:ext cx="3370529" cy="812530"/>
            </a:xfrm>
            <a:prstGeom prst="rect">
              <a:avLst/>
            </a:prstGeom>
          </p:spPr>
          <p:txBody>
            <a:bodyPr wrap="square">
              <a:spAutoFit/>
            </a:bodyPr>
            <a:lstStyle/>
            <a:p>
              <a:r>
                <a:rPr lang="zh-CN" altLang="en-US" sz="1800" b="1" dirty="0" smtClean="0">
                  <a:solidFill>
                    <a:srgbClr val="A50021"/>
                  </a:solidFill>
                  <a:latin typeface="幼圆" panose="02010509060101010101" pitchFamily="49" charset="-122"/>
                  <a:ea typeface="幼圆" panose="02010509060101010101" pitchFamily="49" charset="-122"/>
                </a:rPr>
                <a:t>黏土颗粒集合的</a:t>
              </a:r>
              <a:r>
                <a:rPr lang="zh-CN" altLang="en-US" sz="1800" b="1" dirty="0">
                  <a:solidFill>
                    <a:srgbClr val="A50021"/>
                  </a:solidFill>
                  <a:latin typeface="幼圆" panose="02010509060101010101" pitchFamily="49" charset="-122"/>
                  <a:ea typeface="幼圆" panose="02010509060101010101" pitchFamily="49" charset="-122"/>
                </a:rPr>
                <a:t>扫描电镜</a:t>
              </a:r>
              <a:r>
                <a:rPr lang="zh-CN" altLang="en-US" sz="1800" b="1" dirty="0" smtClean="0">
                  <a:solidFill>
                    <a:srgbClr val="A50021"/>
                  </a:solidFill>
                  <a:latin typeface="幼圆" panose="02010509060101010101" pitchFamily="49" charset="-122"/>
                  <a:ea typeface="幼圆" panose="02010509060101010101" pitchFamily="49" charset="-122"/>
                </a:rPr>
                <a:t>照片</a:t>
              </a:r>
              <a:endParaRPr lang="en-US" altLang="zh-CN" sz="1800" b="1" dirty="0" smtClean="0">
                <a:solidFill>
                  <a:srgbClr val="A50021"/>
                </a:solidFill>
                <a:latin typeface="幼圆" panose="02010509060101010101" pitchFamily="49" charset="-122"/>
                <a:ea typeface="幼圆" panose="02010509060101010101" pitchFamily="49" charset="-122"/>
              </a:endParaRPr>
            </a:p>
            <a:p>
              <a:r>
                <a:rPr lang="zh-CN" altLang="en-US" sz="1800" b="1" dirty="0" smtClean="0">
                  <a:solidFill>
                    <a:srgbClr val="A50021"/>
                  </a:solidFill>
                  <a:latin typeface="幼圆" panose="02010509060101010101" pitchFamily="49" charset="-122"/>
                  <a:ea typeface="幼圆" panose="02010509060101010101" pitchFamily="49" charset="-122"/>
                </a:rPr>
                <a:t>（含</a:t>
              </a:r>
              <a:r>
                <a:rPr lang="en-US" altLang="zh-CN" sz="1800" b="1" dirty="0" smtClean="0">
                  <a:solidFill>
                    <a:srgbClr val="A50021"/>
                  </a:solidFill>
                  <a:latin typeface="幼圆" panose="02010509060101010101" pitchFamily="49" charset="-122"/>
                  <a:ea typeface="幼圆" panose="02010509060101010101" pitchFamily="49" charset="-122"/>
                </a:rPr>
                <a:t>50</a:t>
              </a:r>
              <a:r>
                <a:rPr lang="en-US" altLang="zh-CN" sz="1800" b="1" dirty="0">
                  <a:solidFill>
                    <a:srgbClr val="A50021"/>
                  </a:solidFill>
                  <a:latin typeface="幼圆" panose="02010509060101010101" pitchFamily="49" charset="-122"/>
                  <a:ea typeface="幼圆" panose="02010509060101010101" pitchFamily="49" charset="-122"/>
                </a:rPr>
                <a:t>% </a:t>
              </a:r>
              <a:r>
                <a:rPr lang="zh-CN" altLang="en-US" sz="1800" b="1" dirty="0" smtClean="0">
                  <a:solidFill>
                    <a:srgbClr val="A50021"/>
                  </a:solidFill>
                  <a:latin typeface="幼圆" panose="02010509060101010101" pitchFamily="49" charset="-122"/>
                  <a:ea typeface="幼圆" panose="02010509060101010101" pitchFamily="49" charset="-122"/>
                </a:rPr>
                <a:t>高岭石和</a:t>
              </a:r>
              <a:r>
                <a:rPr lang="en-US" altLang="zh-CN" sz="1800" b="1" dirty="0" smtClean="0">
                  <a:solidFill>
                    <a:srgbClr val="A50021"/>
                  </a:solidFill>
                  <a:latin typeface="幼圆" panose="02010509060101010101" pitchFamily="49" charset="-122"/>
                  <a:ea typeface="幼圆" panose="02010509060101010101" pitchFamily="49" charset="-122"/>
                </a:rPr>
                <a:t>50%</a:t>
              </a:r>
              <a:r>
                <a:rPr kumimoji="1" lang="zh-CN" altLang="en-US" sz="1800" b="1" dirty="0" smtClean="0">
                  <a:solidFill>
                    <a:srgbClr val="A50021"/>
                  </a:solidFill>
                  <a:latin typeface="幼圆" pitchFamily="49" charset="-122"/>
                  <a:ea typeface="幼圆" pitchFamily="49" charset="-122"/>
                </a:rPr>
                <a:t>伊利石</a:t>
              </a:r>
              <a:r>
                <a:rPr lang="en-US" altLang="zh-CN" sz="1800" b="1" dirty="0" smtClean="0">
                  <a:solidFill>
                    <a:srgbClr val="A50021"/>
                  </a:solidFill>
                  <a:latin typeface="幼圆" panose="02010509060101010101" pitchFamily="49" charset="-122"/>
                  <a:ea typeface="幼圆" panose="02010509060101010101" pitchFamily="49" charset="-122"/>
                </a:rPr>
                <a:t>)</a:t>
              </a:r>
              <a:endParaRPr lang="zh-CN" altLang="en-US" sz="1800" b="1" dirty="0">
                <a:solidFill>
                  <a:srgbClr val="A50021"/>
                </a:solidFill>
                <a:latin typeface="幼圆" panose="02010509060101010101" pitchFamily="49" charset="-122"/>
                <a:ea typeface="幼圆" panose="02010509060101010101" pitchFamily="49" charset="-122"/>
              </a:endParaRPr>
            </a:p>
          </p:txBody>
        </p:sp>
        <p:cxnSp>
          <p:nvCxnSpPr>
            <p:cNvPr id="4" name="直接箭头连接符 3"/>
            <p:cNvCxnSpPr/>
            <p:nvPr/>
          </p:nvCxnSpPr>
          <p:spPr>
            <a:xfrm flipH="1">
              <a:off x="4231757" y="5380073"/>
              <a:ext cx="1531089" cy="0"/>
            </a:xfrm>
            <a:prstGeom prst="straightConnector1">
              <a:avLst/>
            </a:prstGeom>
            <a:ln w="57150">
              <a:solidFill>
                <a:srgbClr val="A5002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7" name="Text Box 6"/>
          <p:cNvSpPr txBox="1">
            <a:spLocks noChangeArrowheads="1"/>
          </p:cNvSpPr>
          <p:nvPr/>
        </p:nvSpPr>
        <p:spPr bwMode="auto">
          <a:xfrm>
            <a:off x="4255641" y="3116607"/>
            <a:ext cx="4527771" cy="126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65125" indent="-365125" eaLnBrk="0" hangingPunct="0">
              <a:tabLst>
                <a:tab pos="441325" algn="l"/>
              </a:tabLst>
              <a:defRPr sz="1400">
                <a:solidFill>
                  <a:schemeClr val="tx1"/>
                </a:solidFill>
                <a:latin typeface="Times New Roman" pitchFamily="18" charset="0"/>
                <a:ea typeface="宋体" charset="-122"/>
              </a:defRPr>
            </a:lvl1pPr>
            <a:lvl2pPr marL="742950" indent="-285750" eaLnBrk="0" hangingPunct="0">
              <a:tabLst>
                <a:tab pos="441325" algn="l"/>
              </a:tabLst>
              <a:defRPr sz="1400">
                <a:solidFill>
                  <a:schemeClr val="tx1"/>
                </a:solidFill>
                <a:latin typeface="Times New Roman" pitchFamily="18" charset="0"/>
                <a:ea typeface="宋体" charset="-122"/>
              </a:defRPr>
            </a:lvl2pPr>
            <a:lvl3pPr marL="1143000" indent="-228600" eaLnBrk="0" hangingPunct="0">
              <a:tabLst>
                <a:tab pos="441325" algn="l"/>
              </a:tabLst>
              <a:defRPr sz="1400">
                <a:solidFill>
                  <a:schemeClr val="tx1"/>
                </a:solidFill>
                <a:latin typeface="Times New Roman" pitchFamily="18" charset="0"/>
                <a:ea typeface="宋体" charset="-122"/>
              </a:defRPr>
            </a:lvl3pPr>
            <a:lvl4pPr marL="1600200" indent="-228600" eaLnBrk="0" hangingPunct="0">
              <a:tabLst>
                <a:tab pos="441325" algn="l"/>
              </a:tabLst>
              <a:defRPr sz="1400">
                <a:solidFill>
                  <a:schemeClr val="tx1"/>
                </a:solidFill>
                <a:latin typeface="Times New Roman" pitchFamily="18" charset="0"/>
                <a:ea typeface="宋体" charset="-122"/>
              </a:defRPr>
            </a:lvl4pPr>
            <a:lvl5pPr marL="2057400" indent="-228600" eaLnBrk="0" hangingPunct="0">
              <a:tabLst>
                <a:tab pos="441325" algn="l"/>
              </a:tabLst>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9pPr>
          </a:lstStyle>
          <a:p>
            <a:pPr eaLnBrk="1" hangingPunct="1">
              <a:lnSpc>
                <a:spcPct val="110000"/>
              </a:lnSpc>
              <a:buClr>
                <a:srgbClr val="A50021"/>
              </a:buClr>
              <a:buSzPct val="130000"/>
              <a:buFont typeface="Wingdings" panose="05000000000000000000" pitchFamily="2" charset="2"/>
              <a:buChar char="F"/>
            </a:pPr>
            <a:r>
              <a:rPr kumimoji="1" lang="zh-CN" altLang="en-US" sz="2200" b="1" dirty="0" smtClean="0">
                <a:solidFill>
                  <a:srgbClr val="800000"/>
                </a:solidFill>
                <a:latin typeface="幼圆" pitchFamily="49" charset="-122"/>
                <a:ea typeface="幼圆" pitchFamily="49" charset="-122"/>
              </a:rPr>
              <a:t>黏土矿物：</a:t>
            </a:r>
            <a:r>
              <a:rPr kumimoji="1" lang="zh-CN" altLang="en-US" sz="2200" b="1" dirty="0">
                <a:solidFill>
                  <a:srgbClr val="000066"/>
                </a:solidFill>
                <a:latin typeface="幼圆" pitchFamily="49" charset="-122"/>
                <a:ea typeface="幼圆" pitchFamily="49" charset="-122"/>
              </a:rPr>
              <a:t>颗粒较细，多呈片状、扁平</a:t>
            </a:r>
            <a:r>
              <a:rPr kumimoji="1" lang="zh-CN" altLang="en-US" sz="2200" b="1" dirty="0" smtClean="0">
                <a:solidFill>
                  <a:srgbClr val="000066"/>
                </a:solidFill>
                <a:latin typeface="幼圆" pitchFamily="49" charset="-122"/>
                <a:ea typeface="幼圆" pitchFamily="49" charset="-122"/>
              </a:rPr>
              <a:t>状</a:t>
            </a:r>
            <a:r>
              <a:rPr kumimoji="1" lang="zh-CN" altLang="en-US" sz="2200" b="1" dirty="0">
                <a:solidFill>
                  <a:srgbClr val="000066"/>
                </a:solidFill>
                <a:latin typeface="幼圆" pitchFamily="49" charset="-122"/>
                <a:ea typeface="幼圆" pitchFamily="49" charset="-122"/>
              </a:rPr>
              <a:t>、</a:t>
            </a:r>
            <a:r>
              <a:rPr kumimoji="1" lang="zh-CN" altLang="en-US" sz="2200" b="1" dirty="0" smtClean="0">
                <a:solidFill>
                  <a:srgbClr val="000066"/>
                </a:solidFill>
                <a:latin typeface="幼圆" pitchFamily="49" charset="-122"/>
                <a:ea typeface="幼圆" pitchFamily="49" charset="-122"/>
              </a:rPr>
              <a:t>针状</a:t>
            </a:r>
            <a:endParaRPr kumimoji="1" lang="zh-CN" altLang="en-US" sz="2200" b="1" dirty="0">
              <a:solidFill>
                <a:srgbClr val="000066"/>
              </a:solidFill>
              <a:latin typeface="幼圆" pitchFamily="49" charset="-122"/>
              <a:ea typeface="幼圆" pitchFamily="49" charset="-122"/>
            </a:endParaRPr>
          </a:p>
          <a:p>
            <a:pPr eaLnBrk="1" hangingPunct="1">
              <a:lnSpc>
                <a:spcPct val="110000"/>
              </a:lnSpc>
              <a:buClr>
                <a:srgbClr val="A50021"/>
              </a:buClr>
              <a:buSzPct val="130000"/>
              <a:buFont typeface="Wingdings" panose="05000000000000000000" pitchFamily="2" charset="2"/>
              <a:buChar char="F"/>
            </a:pPr>
            <a:endParaRPr kumimoji="1" lang="zh-CN" altLang="en-US" sz="2200" b="1" dirty="0">
              <a:solidFill>
                <a:srgbClr val="000066"/>
              </a:solidFill>
              <a:latin typeface="幼圆" pitchFamily="49" charset="-122"/>
              <a:ea typeface="幼圆" pitchFamily="49" charset="-122"/>
            </a:endParaRPr>
          </a:p>
        </p:txBody>
      </p:sp>
    </p:spTree>
    <p:extLst>
      <p:ext uri="{BB962C8B-B14F-4D97-AF65-F5344CB8AC3E}">
        <p14:creationId xmlns:p14="http://schemas.microsoft.com/office/powerpoint/2010/main" val="37891799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10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026"/>
                                        </p:tgtEl>
                                        <p:attrNameLst>
                                          <p:attrName>style.visibility</p:attrName>
                                        </p:attrNameLst>
                                      </p:cBhvr>
                                      <p:to>
                                        <p:strVal val="visible"/>
                                      </p:to>
                                    </p:set>
                                    <p:animEffect transition="in" filter="fade">
                                      <p:cBhvr>
                                        <p:cTn id="18" dur="1000"/>
                                        <p:tgtEl>
                                          <p:spTgt spid="1026"/>
                                        </p:tgtEl>
                                      </p:cBhvr>
                                    </p:animEffect>
                                    <p:anim calcmode="lin" valueType="num">
                                      <p:cBhvr>
                                        <p:cTn id="19" dur="1000" fill="hold"/>
                                        <p:tgtEl>
                                          <p:spTgt spid="1026"/>
                                        </p:tgtEl>
                                        <p:attrNameLst>
                                          <p:attrName>ppt_x</p:attrName>
                                        </p:attrNameLst>
                                      </p:cBhvr>
                                      <p:tavLst>
                                        <p:tav tm="0">
                                          <p:val>
                                            <p:strVal val="#ppt_x"/>
                                          </p:val>
                                        </p:tav>
                                        <p:tav tm="100000">
                                          <p:val>
                                            <p:strVal val="#ppt_x"/>
                                          </p:val>
                                        </p:tav>
                                      </p:tavLst>
                                    </p:anim>
                                    <p:anim calcmode="lin" valueType="num">
                                      <p:cBhvr>
                                        <p:cTn id="20" dur="1000" fill="hold"/>
                                        <p:tgtEl>
                                          <p:spTgt spid="1026"/>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right)">
                                      <p:cBhvr>
                                        <p:cTn id="24" dur="1000"/>
                                        <p:tgtEl>
                                          <p:spTgt spid="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animEffect transition="in" filter="wipe(left)">
                                      <p:cBhvr>
                                        <p:cTn id="27" dur="10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p:cNvSpPr>
            <a:spLocks noChangeArrowheads="1"/>
          </p:cNvSpPr>
          <p:nvPr/>
        </p:nvSpPr>
        <p:spPr bwMode="auto">
          <a:xfrm>
            <a:off x="2800350" y="5853113"/>
            <a:ext cx="4800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4000" b="1">
                <a:solidFill>
                  <a:srgbClr val="000066"/>
                </a:solidFill>
                <a:ea typeface="黑体" pitchFamily="2" charset="-122"/>
              </a:rPr>
              <a:t>颗粒形状和比表面积</a:t>
            </a:r>
            <a:endParaRPr kumimoji="1" lang="en-US" altLang="zh-CN" sz="4000" b="1">
              <a:solidFill>
                <a:srgbClr val="000066"/>
              </a:solidFill>
              <a:ea typeface="黑体" pitchFamily="2" charset="-122"/>
            </a:endParaRPr>
          </a:p>
        </p:txBody>
      </p:sp>
      <p:sp>
        <p:nvSpPr>
          <p:cNvPr id="1368070" name="Text Box 6"/>
          <p:cNvSpPr txBox="1">
            <a:spLocks noChangeArrowheads="1"/>
          </p:cNvSpPr>
          <p:nvPr/>
        </p:nvSpPr>
        <p:spPr bwMode="auto">
          <a:xfrm>
            <a:off x="1160646" y="1755821"/>
            <a:ext cx="6845670" cy="315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65125" indent="-365125" eaLnBrk="0" hangingPunct="0">
              <a:tabLst>
                <a:tab pos="441325" algn="l"/>
              </a:tabLst>
              <a:defRPr sz="1400">
                <a:solidFill>
                  <a:schemeClr val="tx1"/>
                </a:solidFill>
                <a:latin typeface="Times New Roman" pitchFamily="18" charset="0"/>
                <a:ea typeface="宋体" charset="-122"/>
              </a:defRPr>
            </a:lvl1pPr>
            <a:lvl2pPr marL="742950" indent="-285750" eaLnBrk="0" hangingPunct="0">
              <a:tabLst>
                <a:tab pos="441325" algn="l"/>
              </a:tabLst>
              <a:defRPr sz="1400">
                <a:solidFill>
                  <a:schemeClr val="tx1"/>
                </a:solidFill>
                <a:latin typeface="Times New Roman" pitchFamily="18" charset="0"/>
                <a:ea typeface="宋体" charset="-122"/>
              </a:defRPr>
            </a:lvl2pPr>
            <a:lvl3pPr marL="1143000" indent="-228600" eaLnBrk="0" hangingPunct="0">
              <a:tabLst>
                <a:tab pos="441325" algn="l"/>
              </a:tabLst>
              <a:defRPr sz="1400">
                <a:solidFill>
                  <a:schemeClr val="tx1"/>
                </a:solidFill>
                <a:latin typeface="Times New Roman" pitchFamily="18" charset="0"/>
                <a:ea typeface="宋体" charset="-122"/>
              </a:defRPr>
            </a:lvl3pPr>
            <a:lvl4pPr marL="1600200" indent="-228600" eaLnBrk="0" hangingPunct="0">
              <a:tabLst>
                <a:tab pos="441325" algn="l"/>
              </a:tabLst>
              <a:defRPr sz="1400">
                <a:solidFill>
                  <a:schemeClr val="tx1"/>
                </a:solidFill>
                <a:latin typeface="Times New Roman" pitchFamily="18" charset="0"/>
                <a:ea typeface="宋体" charset="-122"/>
              </a:defRPr>
            </a:lvl4pPr>
            <a:lvl5pPr marL="2057400" indent="-228600" eaLnBrk="0" hangingPunct="0">
              <a:tabLst>
                <a:tab pos="441325" algn="l"/>
              </a:tabLst>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tabLst>
                <a:tab pos="441325" algn="l"/>
              </a:tabLst>
              <a:defRPr sz="1400">
                <a:solidFill>
                  <a:schemeClr val="tx1"/>
                </a:solidFill>
                <a:latin typeface="Times New Roman" pitchFamily="18" charset="0"/>
                <a:ea typeface="宋体" charset="-122"/>
              </a:defRPr>
            </a:lvl9pPr>
          </a:lstStyle>
          <a:p>
            <a:pPr marL="342900" indent="-342900" eaLnBrk="1" hangingPunct="1">
              <a:lnSpc>
                <a:spcPct val="110000"/>
              </a:lnSpc>
              <a:buClr>
                <a:srgbClr val="A50021"/>
              </a:buClr>
              <a:buSzPct val="130000"/>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比表面积与颗粒大小及形状有关，颗粒越细比表面积越大</a:t>
            </a:r>
            <a:endParaRPr kumimoji="1" lang="en-US" altLang="zh-CN" sz="2400" b="1" dirty="0" smtClean="0">
              <a:solidFill>
                <a:srgbClr val="000066"/>
              </a:solidFill>
              <a:latin typeface="幼圆" pitchFamily="49" charset="-122"/>
              <a:ea typeface="幼圆" pitchFamily="49" charset="-122"/>
            </a:endParaRPr>
          </a:p>
          <a:p>
            <a:pPr marL="342900" indent="-342900" eaLnBrk="1" hangingPunct="1">
              <a:lnSpc>
                <a:spcPct val="110000"/>
              </a:lnSpc>
              <a:buClr>
                <a:srgbClr val="A50021"/>
              </a:buClr>
              <a:buSzPct val="130000"/>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对于黏性</a:t>
            </a:r>
            <a:r>
              <a:rPr kumimoji="1" lang="zh-CN" altLang="en-US" sz="2400" b="1" dirty="0">
                <a:solidFill>
                  <a:srgbClr val="000066"/>
                </a:solidFill>
                <a:latin typeface="幼圆" pitchFamily="49" charset="-122"/>
                <a:ea typeface="幼圆" pitchFamily="49" charset="-122"/>
              </a:rPr>
              <a:t>土，其大小直接反映土颗粒与四周介质</a:t>
            </a:r>
            <a:r>
              <a:rPr kumimoji="1" lang="en-US" altLang="zh-CN" sz="2400" b="1" dirty="0">
                <a:solidFill>
                  <a:srgbClr val="000066"/>
                </a:solidFill>
                <a:latin typeface="幼圆" pitchFamily="49" charset="-122"/>
                <a:ea typeface="幼圆" pitchFamily="49" charset="-122"/>
              </a:rPr>
              <a:t>,</a:t>
            </a:r>
            <a:r>
              <a:rPr kumimoji="1" lang="zh-CN" altLang="en-US" sz="2400" b="1" dirty="0">
                <a:solidFill>
                  <a:srgbClr val="000066"/>
                </a:solidFill>
                <a:latin typeface="幼圆" pitchFamily="49" charset="-122"/>
                <a:ea typeface="幼圆" pitchFamily="49" charset="-122"/>
              </a:rPr>
              <a:t>特别是</a:t>
            </a:r>
            <a:r>
              <a:rPr kumimoji="1" lang="zh-CN" altLang="en-US" sz="2400" b="1" dirty="0" smtClean="0">
                <a:solidFill>
                  <a:srgbClr val="000066"/>
                </a:solidFill>
                <a:latin typeface="幼圆" pitchFamily="49" charset="-122"/>
                <a:ea typeface="幼圆" pitchFamily="49" charset="-122"/>
              </a:rPr>
              <a:t>水</a:t>
            </a:r>
            <a:r>
              <a:rPr kumimoji="1" lang="zh-CN" altLang="en-US" sz="2400" b="1" dirty="0">
                <a:solidFill>
                  <a:srgbClr val="000066"/>
                </a:solidFill>
                <a:latin typeface="幼圆" pitchFamily="49" charset="-122"/>
                <a:ea typeface="幼圆" pitchFamily="49" charset="-122"/>
              </a:rPr>
              <a:t>，</a:t>
            </a:r>
            <a:r>
              <a:rPr kumimoji="1" lang="zh-CN" altLang="en-US" sz="2400" b="1" dirty="0" smtClean="0">
                <a:solidFill>
                  <a:srgbClr val="000066"/>
                </a:solidFill>
                <a:latin typeface="幼圆" pitchFamily="49" charset="-122"/>
                <a:ea typeface="幼圆" pitchFamily="49" charset="-122"/>
              </a:rPr>
              <a:t>相互作用</a:t>
            </a:r>
            <a:r>
              <a:rPr kumimoji="1" lang="zh-CN" altLang="en-US" sz="2400" b="1" dirty="0">
                <a:solidFill>
                  <a:srgbClr val="000066"/>
                </a:solidFill>
                <a:latin typeface="幼圆" pitchFamily="49" charset="-122"/>
                <a:ea typeface="幼圆" pitchFamily="49" charset="-122"/>
              </a:rPr>
              <a:t>的强烈</a:t>
            </a:r>
            <a:r>
              <a:rPr kumimoji="1" lang="zh-CN" altLang="en-US" sz="2400" b="1" dirty="0" smtClean="0">
                <a:solidFill>
                  <a:srgbClr val="000066"/>
                </a:solidFill>
                <a:latin typeface="幼圆" pitchFamily="49" charset="-122"/>
                <a:ea typeface="幼圆" pitchFamily="49" charset="-122"/>
              </a:rPr>
              <a:t>程度</a:t>
            </a:r>
            <a:r>
              <a:rPr kumimoji="1" lang="zh-CN" altLang="en-US" sz="2400" b="1" dirty="0">
                <a:solidFill>
                  <a:srgbClr val="000066"/>
                </a:solidFill>
                <a:latin typeface="幼圆" pitchFamily="49" charset="-122"/>
                <a:ea typeface="幼圆" pitchFamily="49" charset="-122"/>
              </a:rPr>
              <a:t>，</a:t>
            </a:r>
            <a:r>
              <a:rPr kumimoji="1" lang="zh-CN" altLang="en-US" sz="2400" b="1" dirty="0" smtClean="0">
                <a:solidFill>
                  <a:srgbClr val="000066"/>
                </a:solidFill>
                <a:latin typeface="幼圆" pitchFamily="49" charset="-122"/>
                <a:ea typeface="幼圆" pitchFamily="49" charset="-122"/>
              </a:rPr>
              <a:t>是代表黏性</a:t>
            </a:r>
            <a:r>
              <a:rPr kumimoji="1" lang="zh-CN" altLang="en-US" sz="2400" b="1" dirty="0">
                <a:solidFill>
                  <a:srgbClr val="000066"/>
                </a:solidFill>
                <a:latin typeface="幼圆" pitchFamily="49" charset="-122"/>
                <a:ea typeface="幼圆" pitchFamily="49" charset="-122"/>
              </a:rPr>
              <a:t>土特征的一个很重要的</a:t>
            </a:r>
            <a:r>
              <a:rPr kumimoji="1" lang="zh-CN" altLang="en-US" sz="2400" b="1" dirty="0" smtClean="0">
                <a:solidFill>
                  <a:srgbClr val="000066"/>
                </a:solidFill>
                <a:latin typeface="幼圆" pitchFamily="49" charset="-122"/>
                <a:ea typeface="幼圆" pitchFamily="49" charset="-122"/>
              </a:rPr>
              <a:t>指标</a:t>
            </a:r>
            <a:endParaRPr kumimoji="1" lang="en-US" altLang="zh-CN" sz="2400" b="1" dirty="0" smtClean="0">
              <a:solidFill>
                <a:srgbClr val="000066"/>
              </a:solidFill>
              <a:latin typeface="幼圆" pitchFamily="49" charset="-122"/>
              <a:ea typeface="幼圆" pitchFamily="49" charset="-122"/>
            </a:endParaRPr>
          </a:p>
          <a:p>
            <a:pPr marL="342900" indent="-342900" eaLnBrk="1" hangingPunct="1">
              <a:lnSpc>
                <a:spcPct val="110000"/>
              </a:lnSpc>
              <a:buClr>
                <a:srgbClr val="A50021"/>
              </a:buClr>
              <a:buSzPct val="130000"/>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黏土矿物的比表面积：</a:t>
            </a:r>
            <a:r>
              <a:rPr kumimoji="1" lang="zh-CN" altLang="en-US" sz="2400" b="1" dirty="0">
                <a:solidFill>
                  <a:srgbClr val="000066"/>
                </a:solidFill>
                <a:latin typeface="幼圆" pitchFamily="49" charset="-122"/>
                <a:ea typeface="幼圆" pitchFamily="49" charset="-122"/>
              </a:rPr>
              <a:t>高岭石</a:t>
            </a:r>
            <a:r>
              <a:rPr kumimoji="1" lang="en-US" altLang="zh-CN" sz="2400" b="1" dirty="0" smtClean="0">
                <a:solidFill>
                  <a:srgbClr val="000066"/>
                </a:solidFill>
                <a:ea typeface="幼圆" pitchFamily="49" charset="-122"/>
              </a:rPr>
              <a:t>10-20m</a:t>
            </a:r>
            <a:r>
              <a:rPr kumimoji="1" lang="en-US" altLang="zh-CN" sz="2400" b="1" baseline="30000" dirty="0" smtClean="0">
                <a:solidFill>
                  <a:srgbClr val="000066"/>
                </a:solidFill>
                <a:ea typeface="幼圆" pitchFamily="49" charset="-122"/>
              </a:rPr>
              <a:t>2</a:t>
            </a:r>
            <a:r>
              <a:rPr kumimoji="1" lang="en-US" altLang="zh-CN" sz="2400" b="1" dirty="0" smtClean="0">
                <a:solidFill>
                  <a:srgbClr val="000066"/>
                </a:solidFill>
                <a:ea typeface="幼圆" pitchFamily="49" charset="-122"/>
              </a:rPr>
              <a:t>/g</a:t>
            </a:r>
            <a:r>
              <a:rPr kumimoji="1" lang="zh-CN" altLang="en-US" sz="2400" b="1" dirty="0" smtClean="0">
                <a:solidFill>
                  <a:srgbClr val="000066"/>
                </a:solidFill>
                <a:ea typeface="幼圆" pitchFamily="49" charset="-122"/>
              </a:rPr>
              <a:t>，</a:t>
            </a:r>
            <a:r>
              <a:rPr kumimoji="1" lang="zh-CN" altLang="en-US" sz="2400" b="1" dirty="0" smtClean="0">
                <a:solidFill>
                  <a:srgbClr val="000066"/>
                </a:solidFill>
                <a:latin typeface="幼圆" pitchFamily="49" charset="-122"/>
                <a:ea typeface="幼圆" pitchFamily="49" charset="-122"/>
              </a:rPr>
              <a:t>伊利石</a:t>
            </a:r>
            <a:r>
              <a:rPr kumimoji="1" lang="zh-CN" altLang="en-US" sz="2400" b="1" dirty="0">
                <a:solidFill>
                  <a:srgbClr val="000066"/>
                </a:solidFill>
                <a:latin typeface="幼圆" pitchFamily="49" charset="-122"/>
                <a:ea typeface="幼圆" pitchFamily="49" charset="-122"/>
              </a:rPr>
              <a:t>：</a:t>
            </a:r>
            <a:r>
              <a:rPr kumimoji="1" lang="en-US" altLang="zh-CN" sz="2400" b="1" dirty="0" smtClean="0">
                <a:solidFill>
                  <a:srgbClr val="000066"/>
                </a:solidFill>
                <a:ea typeface="幼圆" pitchFamily="49" charset="-122"/>
              </a:rPr>
              <a:t>80-l00m</a:t>
            </a:r>
            <a:r>
              <a:rPr kumimoji="1" lang="en-US" altLang="zh-CN" sz="2400" b="1" baseline="30000" dirty="0" smtClean="0">
                <a:solidFill>
                  <a:srgbClr val="000066"/>
                </a:solidFill>
                <a:ea typeface="幼圆" pitchFamily="49" charset="-122"/>
              </a:rPr>
              <a:t>2</a:t>
            </a:r>
            <a:r>
              <a:rPr kumimoji="1" lang="en-US" altLang="zh-CN" sz="2400" b="1" dirty="0" smtClean="0">
                <a:solidFill>
                  <a:srgbClr val="000066"/>
                </a:solidFill>
                <a:ea typeface="幼圆" pitchFamily="49" charset="-122"/>
              </a:rPr>
              <a:t>/g</a:t>
            </a:r>
            <a:r>
              <a:rPr kumimoji="1" lang="zh-CN" altLang="en-US" sz="2400" b="1" dirty="0" smtClean="0">
                <a:solidFill>
                  <a:srgbClr val="000066"/>
                </a:solidFill>
                <a:ea typeface="幼圆" pitchFamily="49" charset="-122"/>
              </a:rPr>
              <a:t>，</a:t>
            </a:r>
            <a:r>
              <a:rPr kumimoji="1" lang="zh-CN" altLang="en-US" sz="2400" b="1" dirty="0" smtClean="0">
                <a:solidFill>
                  <a:srgbClr val="000066"/>
                </a:solidFill>
                <a:latin typeface="幼圆" pitchFamily="49" charset="-122"/>
                <a:ea typeface="幼圆" pitchFamily="49" charset="-122"/>
              </a:rPr>
              <a:t>蒙特石</a:t>
            </a:r>
            <a:r>
              <a:rPr kumimoji="1" lang="zh-CN" altLang="en-US" sz="2400" b="1" dirty="0">
                <a:solidFill>
                  <a:srgbClr val="000066"/>
                </a:solidFill>
                <a:latin typeface="幼圆" pitchFamily="49" charset="-122"/>
                <a:ea typeface="幼圆" pitchFamily="49" charset="-122"/>
              </a:rPr>
              <a:t>：</a:t>
            </a:r>
            <a:r>
              <a:rPr kumimoji="1" lang="en-US" altLang="zh-CN" sz="2400" b="1" dirty="0">
                <a:solidFill>
                  <a:srgbClr val="000066"/>
                </a:solidFill>
                <a:ea typeface="幼圆" pitchFamily="49" charset="-122"/>
              </a:rPr>
              <a:t>800m</a:t>
            </a:r>
            <a:r>
              <a:rPr kumimoji="1" lang="en-US" altLang="zh-CN" sz="2400" b="1" baseline="30000" dirty="0">
                <a:solidFill>
                  <a:srgbClr val="000066"/>
                </a:solidFill>
                <a:ea typeface="幼圆" pitchFamily="49" charset="-122"/>
              </a:rPr>
              <a:t>2</a:t>
            </a:r>
            <a:r>
              <a:rPr kumimoji="1" lang="en-US" altLang="zh-CN" sz="2400" b="1" dirty="0">
                <a:solidFill>
                  <a:srgbClr val="000066"/>
                </a:solidFill>
                <a:ea typeface="幼圆" pitchFamily="49" charset="-122"/>
              </a:rPr>
              <a:t>/g</a:t>
            </a:r>
            <a:endParaRPr kumimoji="1" lang="zh-CN" altLang="en-US" sz="2400" b="1" dirty="0">
              <a:solidFill>
                <a:srgbClr val="000066"/>
              </a:solidFill>
              <a:ea typeface="幼圆" pitchFamily="49" charset="-122"/>
            </a:endParaRPr>
          </a:p>
        </p:txBody>
      </p:sp>
      <p:sp>
        <p:nvSpPr>
          <p:cNvPr id="9"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0" name="Text Box 10"/>
          <p:cNvSpPr txBox="1">
            <a:spLocks noChangeArrowheads="1"/>
          </p:cNvSpPr>
          <p:nvPr/>
        </p:nvSpPr>
        <p:spPr bwMode="auto">
          <a:xfrm>
            <a:off x="527050" y="842963"/>
            <a:ext cx="8232775" cy="490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ct val="0"/>
              </a:spcBef>
              <a:spcAft>
                <a:spcPct val="0"/>
              </a:spcAft>
              <a:buClr>
                <a:srgbClr val="A50021"/>
              </a:buClr>
              <a:buFont typeface="Wingdings" panose="05000000000000000000" pitchFamily="2" charset="2"/>
              <a:buChar char="n"/>
            </a:pPr>
            <a:r>
              <a:rPr kumimoji="1" lang="zh-CN" altLang="en-US" sz="2400" b="1" dirty="0">
                <a:solidFill>
                  <a:srgbClr val="800000"/>
                </a:solidFill>
                <a:latin typeface="幼圆" pitchFamily="49" charset="-122"/>
                <a:ea typeface="幼圆" pitchFamily="49" charset="-122"/>
              </a:rPr>
              <a:t>比表面积</a:t>
            </a:r>
            <a:r>
              <a:rPr kumimoji="1" lang="zh-CN" altLang="en-US" sz="2400" b="1" dirty="0" smtClean="0">
                <a:solidFill>
                  <a:srgbClr val="800000"/>
                </a:solidFill>
                <a:latin typeface="幼圆" pitchFamily="49" charset="-122"/>
                <a:ea typeface="幼圆" pitchFamily="49" charset="-122"/>
              </a:rPr>
              <a:t>： </a:t>
            </a:r>
            <a:r>
              <a:rPr kumimoji="1" lang="zh-CN" altLang="en-US" sz="2400" b="1" dirty="0" smtClean="0">
                <a:solidFill>
                  <a:srgbClr val="000066"/>
                </a:solidFill>
                <a:latin typeface="幼圆" pitchFamily="49" charset="-122"/>
                <a:ea typeface="幼圆" pitchFamily="49" charset="-122"/>
              </a:rPr>
              <a:t>单位</a:t>
            </a:r>
            <a:r>
              <a:rPr kumimoji="1" lang="zh-CN" altLang="en-US" sz="2400" b="1" dirty="0">
                <a:solidFill>
                  <a:srgbClr val="000066"/>
                </a:solidFill>
                <a:latin typeface="幼圆" pitchFamily="49" charset="-122"/>
                <a:ea typeface="幼圆" pitchFamily="49" charset="-122"/>
              </a:rPr>
              <a:t>质量土颗粒所拥有的总表面积</a:t>
            </a:r>
            <a:endParaRPr kumimoji="1" lang="en-US" altLang="zh-CN" sz="2400" b="1" dirty="0">
              <a:solidFill>
                <a:srgbClr val="000066"/>
              </a:solidFill>
              <a:latin typeface="幼圆" pitchFamily="49" charset="-122"/>
              <a:ea typeface="幼圆" pitchFamily="49" charset="-122"/>
            </a:endParaRPr>
          </a:p>
        </p:txBody>
      </p:sp>
    </p:spTree>
    <p:extLst>
      <p:ext uri="{BB962C8B-B14F-4D97-AF65-F5344CB8AC3E}">
        <p14:creationId xmlns:p14="http://schemas.microsoft.com/office/powerpoint/2010/main" val="2371855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1368070">
                                            <p:txEl>
                                              <p:pRg st="0" end="0"/>
                                            </p:txEl>
                                          </p:spTgt>
                                        </p:tgtEl>
                                        <p:attrNameLst>
                                          <p:attrName>style.visibility</p:attrName>
                                        </p:attrNameLst>
                                      </p:cBhvr>
                                      <p:to>
                                        <p:strVal val="visible"/>
                                      </p:to>
                                    </p:set>
                                    <p:animEffect transition="in" filter="dissolve">
                                      <p:cBhvr>
                                        <p:cTn id="7" dur="500"/>
                                        <p:tgtEl>
                                          <p:spTgt spid="1368070">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68070">
                                            <p:txEl>
                                              <p:pRg st="1" end="1"/>
                                            </p:txEl>
                                          </p:spTgt>
                                        </p:tgtEl>
                                        <p:attrNameLst>
                                          <p:attrName>style.visibility</p:attrName>
                                        </p:attrNameLst>
                                      </p:cBhvr>
                                      <p:to>
                                        <p:strVal val="visible"/>
                                      </p:to>
                                    </p:set>
                                    <p:animEffect transition="in" filter="dissolve">
                                      <p:cBhvr>
                                        <p:cTn id="11" dur="500"/>
                                        <p:tgtEl>
                                          <p:spTgt spid="1368070">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368070">
                                            <p:txEl>
                                              <p:pRg st="2" end="2"/>
                                            </p:txEl>
                                          </p:spTgt>
                                        </p:tgtEl>
                                        <p:attrNameLst>
                                          <p:attrName>style.visibility</p:attrName>
                                        </p:attrNameLst>
                                      </p:cBhvr>
                                      <p:to>
                                        <p:strVal val="visible"/>
                                      </p:to>
                                    </p:set>
                                    <p:animEffect transition="in" filter="dissolve">
                                      <p:cBhvr>
                                        <p:cTn id="15" dur="500"/>
                                        <p:tgtEl>
                                          <p:spTgt spid="136807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8070" grpId="0" uiExpand="1"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5"/>
          <p:cNvSpPr txBox="1">
            <a:spLocks noChangeArrowheads="1"/>
          </p:cNvSpPr>
          <p:nvPr/>
        </p:nvSpPr>
        <p:spPr bwMode="auto">
          <a:xfrm>
            <a:off x="3613150" y="5637213"/>
            <a:ext cx="26082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20000"/>
              </a:spcBef>
              <a:spcAft>
                <a:spcPct val="0"/>
              </a:spcAft>
              <a:buClr>
                <a:schemeClr val="folHlink"/>
              </a:buClr>
              <a:buSzPct val="85000"/>
              <a:buFont typeface="Wingdings 2" pitchFamily="18" charset="2"/>
              <a:buNone/>
            </a:pPr>
            <a:r>
              <a:rPr kumimoji="1" lang="zh-CN" altLang="en-US" sz="4000" b="1">
                <a:solidFill>
                  <a:srgbClr val="000066"/>
                </a:solidFill>
                <a:latin typeface="黑体" pitchFamily="2" charset="-122"/>
                <a:ea typeface="黑体" pitchFamily="2" charset="-122"/>
              </a:rPr>
              <a:t>土 中 水</a:t>
            </a:r>
            <a:endParaRPr lang="zh-CN" altLang="en-US" sz="4000" b="1">
              <a:solidFill>
                <a:srgbClr val="000066"/>
              </a:solidFill>
              <a:latin typeface="黑体" pitchFamily="2" charset="-122"/>
              <a:ea typeface="黑体" pitchFamily="2" charset="-122"/>
            </a:endParaRPr>
          </a:p>
        </p:txBody>
      </p:sp>
      <p:sp>
        <p:nvSpPr>
          <p:cNvPr id="54276" name="Text Box 6"/>
          <p:cNvSpPr txBox="1">
            <a:spLocks noChangeArrowheads="1"/>
          </p:cNvSpPr>
          <p:nvPr/>
        </p:nvSpPr>
        <p:spPr bwMode="auto">
          <a:xfrm>
            <a:off x="1373877" y="1391249"/>
            <a:ext cx="6881813"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buSzPct val="135000"/>
              <a:buFont typeface="Wingdings" pitchFamily="2" charset="2"/>
              <a:buChar char="F"/>
            </a:pPr>
            <a:r>
              <a:rPr kumimoji="1" lang="zh-CN" altLang="en-US" sz="2800" b="1" dirty="0">
                <a:solidFill>
                  <a:srgbClr val="800000"/>
                </a:solidFill>
                <a:latin typeface="幼圆" pitchFamily="49" charset="-122"/>
                <a:ea typeface="幼圆" pitchFamily="49" charset="-122"/>
              </a:rPr>
              <a:t> 结晶水</a:t>
            </a:r>
            <a:r>
              <a:rPr kumimoji="1" lang="zh-CN" altLang="en-US" sz="2800" b="1" dirty="0">
                <a:solidFill>
                  <a:srgbClr val="000066"/>
                </a:solidFill>
                <a:latin typeface="幼圆" pitchFamily="49" charset="-122"/>
                <a:ea typeface="幼圆" pitchFamily="49" charset="-122"/>
              </a:rPr>
              <a:t>   矿物内部的水</a:t>
            </a:r>
          </a:p>
          <a:p>
            <a:pPr eaLnBrk="1" hangingPunct="1">
              <a:lnSpc>
                <a:spcPct val="125000"/>
              </a:lnSpc>
              <a:spcBef>
                <a:spcPct val="0"/>
              </a:spcBef>
              <a:spcAft>
                <a:spcPct val="0"/>
              </a:spcAft>
              <a:buSzPct val="135000"/>
              <a:buFont typeface="Wingdings" pitchFamily="2" charset="2"/>
              <a:buChar char="F"/>
            </a:pPr>
            <a:r>
              <a:rPr kumimoji="1" lang="zh-CN" altLang="en-US" sz="2800" b="1" dirty="0">
                <a:solidFill>
                  <a:srgbClr val="800000"/>
                </a:solidFill>
                <a:latin typeface="幼圆" pitchFamily="49" charset="-122"/>
                <a:ea typeface="幼圆" pitchFamily="49" charset="-122"/>
              </a:rPr>
              <a:t> 结合水</a:t>
            </a:r>
            <a:r>
              <a:rPr kumimoji="1" lang="zh-CN" altLang="en-US" sz="2800" b="1" dirty="0">
                <a:solidFill>
                  <a:srgbClr val="000066"/>
                </a:solidFill>
                <a:latin typeface="幼圆" pitchFamily="49" charset="-122"/>
                <a:ea typeface="幼圆" pitchFamily="49" charset="-122"/>
              </a:rPr>
              <a:t>   吸附在土颗粒表面的水</a:t>
            </a:r>
          </a:p>
          <a:p>
            <a:pPr eaLnBrk="1" hangingPunct="1">
              <a:lnSpc>
                <a:spcPct val="125000"/>
              </a:lnSpc>
              <a:spcBef>
                <a:spcPct val="0"/>
              </a:spcBef>
              <a:spcAft>
                <a:spcPct val="0"/>
              </a:spcAft>
              <a:buSzPct val="135000"/>
              <a:buFont typeface="Wingdings" pitchFamily="2" charset="2"/>
              <a:buChar char="F"/>
            </a:pPr>
            <a:r>
              <a:rPr kumimoji="1" lang="zh-CN" altLang="en-US" sz="2800" b="1" dirty="0">
                <a:solidFill>
                  <a:srgbClr val="800000"/>
                </a:solidFill>
                <a:latin typeface="幼圆" pitchFamily="49" charset="-122"/>
                <a:ea typeface="幼圆" pitchFamily="49" charset="-122"/>
              </a:rPr>
              <a:t> 自由水</a:t>
            </a:r>
            <a:r>
              <a:rPr kumimoji="1" lang="zh-CN" altLang="en-US" sz="2800" b="1" dirty="0">
                <a:solidFill>
                  <a:srgbClr val="000066"/>
                </a:solidFill>
                <a:latin typeface="幼圆" pitchFamily="49" charset="-122"/>
                <a:ea typeface="幼圆" pitchFamily="49" charset="-122"/>
              </a:rPr>
              <a:t>   电场引力作用范围之外的水</a:t>
            </a:r>
          </a:p>
          <a:p>
            <a:pPr eaLnBrk="1" hangingPunct="1">
              <a:lnSpc>
                <a:spcPct val="125000"/>
              </a:lnSpc>
              <a:spcBef>
                <a:spcPct val="0"/>
              </a:spcBef>
              <a:spcAft>
                <a:spcPct val="0"/>
              </a:spcAft>
              <a:buSzPct val="135000"/>
              <a:buFont typeface="Wingdings" pitchFamily="2" charset="2"/>
              <a:buChar char="F"/>
            </a:pPr>
            <a:endParaRPr kumimoji="1" lang="zh-CN" altLang="en-US" sz="2800" b="1" dirty="0">
              <a:solidFill>
                <a:srgbClr val="000066"/>
              </a:solidFill>
              <a:latin typeface="幼圆" pitchFamily="49" charset="-122"/>
              <a:ea typeface="幼圆" pitchFamily="49" charset="-122"/>
            </a:endParaRPr>
          </a:p>
          <a:p>
            <a:pPr eaLnBrk="1" hangingPunct="1">
              <a:lnSpc>
                <a:spcPct val="125000"/>
              </a:lnSpc>
              <a:spcBef>
                <a:spcPct val="0"/>
              </a:spcBef>
              <a:spcAft>
                <a:spcPct val="0"/>
              </a:spcAft>
              <a:buClr>
                <a:srgbClr val="800000"/>
              </a:buClr>
              <a:buSzPct val="135000"/>
              <a:buFont typeface="Wingdings" pitchFamily="2" charset="2"/>
              <a:buChar char="F"/>
            </a:pPr>
            <a:r>
              <a:rPr kumimoji="1" lang="zh-CN" altLang="en-US" sz="2800" b="1" dirty="0">
                <a:solidFill>
                  <a:srgbClr val="000066"/>
                </a:solidFill>
                <a:latin typeface="幼圆" pitchFamily="49" charset="-122"/>
                <a:ea typeface="幼圆" pitchFamily="49" charset="-122"/>
              </a:rPr>
              <a:t> </a:t>
            </a:r>
            <a:r>
              <a:rPr kumimoji="1" lang="zh-CN" altLang="en-US" sz="2800" b="1" dirty="0">
                <a:solidFill>
                  <a:srgbClr val="800000"/>
                </a:solidFill>
                <a:latin typeface="幼圆" pitchFamily="49" charset="-122"/>
                <a:ea typeface="幼圆" pitchFamily="49" charset="-122"/>
              </a:rPr>
              <a:t>土中冰</a:t>
            </a:r>
            <a:r>
              <a:rPr kumimoji="1" lang="zh-CN" altLang="en-US" sz="2800" b="1" dirty="0">
                <a:solidFill>
                  <a:srgbClr val="000066"/>
                </a:solidFill>
                <a:latin typeface="幼圆" pitchFamily="49" charset="-122"/>
                <a:ea typeface="幼圆" pitchFamily="49" charset="-122"/>
              </a:rPr>
              <a:t>   由自由水冻成，冻胀融沉</a:t>
            </a:r>
          </a:p>
          <a:p>
            <a:pPr eaLnBrk="1" hangingPunct="1">
              <a:lnSpc>
                <a:spcPct val="125000"/>
              </a:lnSpc>
              <a:spcBef>
                <a:spcPct val="0"/>
              </a:spcBef>
              <a:spcAft>
                <a:spcPct val="0"/>
              </a:spcAft>
              <a:buClr>
                <a:srgbClr val="800000"/>
              </a:buClr>
              <a:buSzPct val="135000"/>
              <a:buFont typeface="Wingdings" pitchFamily="2" charset="2"/>
              <a:buChar char="F"/>
            </a:pPr>
            <a:r>
              <a:rPr kumimoji="1" lang="zh-CN" altLang="en-US" sz="2800" b="1" dirty="0">
                <a:solidFill>
                  <a:srgbClr val="000066"/>
                </a:solidFill>
                <a:latin typeface="幼圆" pitchFamily="49" charset="-122"/>
                <a:ea typeface="幼圆" pitchFamily="49" charset="-122"/>
              </a:rPr>
              <a:t> </a:t>
            </a:r>
            <a:r>
              <a:rPr kumimoji="1" lang="zh-CN" altLang="en-US" sz="2800" b="1" dirty="0">
                <a:solidFill>
                  <a:srgbClr val="800000"/>
                </a:solidFill>
                <a:latin typeface="幼圆" pitchFamily="49" charset="-122"/>
                <a:ea typeface="幼圆" pitchFamily="49" charset="-122"/>
              </a:rPr>
              <a:t>水蒸气</a:t>
            </a:r>
            <a:r>
              <a:rPr kumimoji="1" lang="zh-CN" altLang="en-US" sz="2800" b="1" dirty="0">
                <a:solidFill>
                  <a:srgbClr val="000066"/>
                </a:solidFill>
                <a:latin typeface="幼圆" pitchFamily="49" charset="-122"/>
                <a:ea typeface="幼圆" pitchFamily="49" charset="-122"/>
              </a:rPr>
              <a:t>   存在孔隙空气中</a:t>
            </a:r>
            <a:endParaRPr lang="zh-CN" altLang="en-US" sz="2800" b="1" dirty="0">
              <a:solidFill>
                <a:srgbClr val="000066"/>
              </a:solidFill>
              <a:latin typeface="幼圆" pitchFamily="49" charset="-122"/>
              <a:ea typeface="幼圆" pitchFamily="49" charset="-122"/>
            </a:endParaRPr>
          </a:p>
        </p:txBody>
      </p:sp>
      <p:sp>
        <p:nvSpPr>
          <p:cNvPr id="5"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中水</a:t>
            </a:r>
          </a:p>
        </p:txBody>
      </p:sp>
    </p:spTree>
    <p:extLst>
      <p:ext uri="{BB962C8B-B14F-4D97-AF65-F5344CB8AC3E}">
        <p14:creationId xmlns:p14="http://schemas.microsoft.com/office/powerpoint/2010/main" val="28902067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89" name="Text Box 96"/>
          <p:cNvSpPr txBox="1">
            <a:spLocks noChangeArrowheads="1"/>
          </p:cNvSpPr>
          <p:nvPr/>
        </p:nvSpPr>
        <p:spPr bwMode="auto">
          <a:xfrm>
            <a:off x="2268748" y="5776793"/>
            <a:ext cx="547666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黏土颗粒周围的双电层</a:t>
            </a:r>
            <a:endParaRPr kumimoji="1" lang="en-US" altLang="zh-CN" sz="4000" b="1" dirty="0">
              <a:solidFill>
                <a:srgbClr val="000066"/>
              </a:solidFill>
              <a:latin typeface="黑体" pitchFamily="2" charset="-122"/>
              <a:ea typeface="黑体" pitchFamily="2" charset="-122"/>
            </a:endParaRPr>
          </a:p>
        </p:txBody>
      </p:sp>
      <p:sp>
        <p:nvSpPr>
          <p:cNvPr id="125"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固体</a:t>
            </a:r>
            <a:r>
              <a:rPr lang="zh-CN" altLang="en-US" sz="2000" b="1" kern="900" spc="-140" dirty="0">
                <a:solidFill>
                  <a:srgbClr val="C00000"/>
                </a:solidFill>
                <a:latin typeface="宋体" pitchFamily="2" charset="-122"/>
              </a:rPr>
              <a:t>颗粒</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26" name="Text Box 192"/>
          <p:cNvSpPr txBox="1">
            <a:spLocks noChangeArrowheads="1"/>
          </p:cNvSpPr>
          <p:nvPr/>
        </p:nvSpPr>
        <p:spPr bwMode="auto">
          <a:xfrm>
            <a:off x="376238" y="599273"/>
            <a:ext cx="2962185" cy="58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47675" indent="-4476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0"/>
              </a:spcBef>
              <a:spcAft>
                <a:spcPct val="0"/>
              </a:spcAft>
              <a:buFont typeface="Wingdings" pitchFamily="2" charset="2"/>
              <a:buChar char="n"/>
            </a:pPr>
            <a:r>
              <a:rPr kumimoji="1" lang="zh-CN" altLang="en-US" sz="2800" b="1" dirty="0" smtClean="0">
                <a:solidFill>
                  <a:srgbClr val="800000"/>
                </a:solidFill>
                <a:ea typeface="幼圆" pitchFamily="49" charset="-122"/>
              </a:rPr>
              <a:t>水分子的结构：</a:t>
            </a:r>
            <a:endParaRPr kumimoji="1" lang="en-US" altLang="zh-CN" sz="2000" b="1" dirty="0">
              <a:solidFill>
                <a:srgbClr val="000066"/>
              </a:solidFill>
              <a:ea typeface="幼圆" pitchFamily="49" charset="-122"/>
            </a:endParaRPr>
          </a:p>
        </p:txBody>
      </p:sp>
      <p:sp>
        <p:nvSpPr>
          <p:cNvPr id="171" name="Freeform 257"/>
          <p:cNvSpPr>
            <a:spLocks/>
          </p:cNvSpPr>
          <p:nvPr/>
        </p:nvSpPr>
        <p:spPr bwMode="auto">
          <a:xfrm>
            <a:off x="5911050" y="1420082"/>
            <a:ext cx="814388" cy="660797"/>
          </a:xfrm>
          <a:custGeom>
            <a:avLst/>
            <a:gdLst>
              <a:gd name="T0" fmla="*/ 0 w 761"/>
              <a:gd name="T1" fmla="*/ 2147483647 h 736"/>
              <a:gd name="T2" fmla="*/ 2147483647 w 761"/>
              <a:gd name="T3" fmla="*/ 2147483647 h 736"/>
              <a:gd name="T4" fmla="*/ 2147483647 w 761"/>
              <a:gd name="T5" fmla="*/ 2147483647 h 736"/>
              <a:gd name="T6" fmla="*/ 2147483647 w 761"/>
              <a:gd name="T7" fmla="*/ 2147483647 h 736"/>
              <a:gd name="T8" fmla="*/ 2147483647 w 761"/>
              <a:gd name="T9" fmla="*/ 2147483647 h 736"/>
              <a:gd name="T10" fmla="*/ 2147483647 w 761"/>
              <a:gd name="T11" fmla="*/ 2147483647 h 736"/>
              <a:gd name="T12" fmla="*/ 2147483647 w 761"/>
              <a:gd name="T13" fmla="*/ 2147483647 h 736"/>
              <a:gd name="T14" fmla="*/ 2147483647 w 761"/>
              <a:gd name="T15" fmla="*/ 2147483647 h 736"/>
              <a:gd name="T16" fmla="*/ 0 60000 65536"/>
              <a:gd name="T17" fmla="*/ 0 60000 65536"/>
              <a:gd name="T18" fmla="*/ 0 60000 65536"/>
              <a:gd name="T19" fmla="*/ 0 60000 65536"/>
              <a:gd name="T20" fmla="*/ 0 60000 65536"/>
              <a:gd name="T21" fmla="*/ 0 60000 65536"/>
              <a:gd name="T22" fmla="*/ 0 60000 65536"/>
              <a:gd name="T23" fmla="*/ 0 60000 65536"/>
              <a:gd name="T24" fmla="*/ 0 w 761"/>
              <a:gd name="T25" fmla="*/ 0 h 736"/>
              <a:gd name="T26" fmla="*/ 761 w 761"/>
              <a:gd name="T27" fmla="*/ 736 h 7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1" h="736">
                <a:moveTo>
                  <a:pt x="0" y="52"/>
                </a:moveTo>
                <a:cubicBezTo>
                  <a:pt x="21" y="45"/>
                  <a:pt x="70" y="19"/>
                  <a:pt x="125" y="12"/>
                </a:cubicBezTo>
                <a:cubicBezTo>
                  <a:pt x="180" y="5"/>
                  <a:pt x="269" y="0"/>
                  <a:pt x="331" y="12"/>
                </a:cubicBezTo>
                <a:cubicBezTo>
                  <a:pt x="393" y="24"/>
                  <a:pt x="444" y="42"/>
                  <a:pt x="499" y="81"/>
                </a:cubicBezTo>
                <a:cubicBezTo>
                  <a:pt x="554" y="120"/>
                  <a:pt x="619" y="187"/>
                  <a:pt x="660" y="249"/>
                </a:cubicBezTo>
                <a:cubicBezTo>
                  <a:pt x="701" y="311"/>
                  <a:pt x="728" y="393"/>
                  <a:pt x="744" y="453"/>
                </a:cubicBezTo>
                <a:cubicBezTo>
                  <a:pt x="760" y="513"/>
                  <a:pt x="757" y="565"/>
                  <a:pt x="759" y="612"/>
                </a:cubicBezTo>
                <a:cubicBezTo>
                  <a:pt x="761" y="659"/>
                  <a:pt x="759" y="710"/>
                  <a:pt x="759" y="736"/>
                </a:cubicBezTo>
              </a:path>
            </a:pathLst>
          </a:custGeom>
          <a:noFill/>
          <a:ln w="1270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a:p>
        </p:txBody>
      </p:sp>
      <p:sp>
        <p:nvSpPr>
          <p:cNvPr id="172" name="AutoShape 258"/>
          <p:cNvSpPr>
            <a:spLocks/>
          </p:cNvSpPr>
          <p:nvPr/>
        </p:nvSpPr>
        <p:spPr bwMode="auto">
          <a:xfrm rot="5400000">
            <a:off x="6630783" y="2027896"/>
            <a:ext cx="160734" cy="997744"/>
          </a:xfrm>
          <a:prstGeom prst="rightBrace">
            <a:avLst>
              <a:gd name="adj1" fmla="val 3465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68580" tIns="34290" rIns="68580" bIns="34290"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9pPr>
          </a:lstStyle>
          <a:p>
            <a:pPr eaLnBrk="1" hangingPunct="1"/>
            <a:endParaRPr lang="zh-CN" altLang="en-US"/>
          </a:p>
        </p:txBody>
      </p:sp>
      <p:sp>
        <p:nvSpPr>
          <p:cNvPr id="173" name="Line 259"/>
          <p:cNvSpPr>
            <a:spLocks noChangeShapeType="1"/>
          </p:cNvSpPr>
          <p:nvPr/>
        </p:nvSpPr>
        <p:spPr bwMode="auto">
          <a:xfrm>
            <a:off x="6584944" y="2089214"/>
            <a:ext cx="3393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74" name="Line 260"/>
          <p:cNvSpPr>
            <a:spLocks noChangeShapeType="1"/>
          </p:cNvSpPr>
          <p:nvPr/>
        </p:nvSpPr>
        <p:spPr bwMode="auto">
          <a:xfrm>
            <a:off x="6580181" y="2173748"/>
            <a:ext cx="342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75" name="Line 261"/>
          <p:cNvSpPr>
            <a:spLocks noChangeShapeType="1"/>
          </p:cNvSpPr>
          <p:nvPr/>
        </p:nvSpPr>
        <p:spPr bwMode="auto">
          <a:xfrm>
            <a:off x="5853900" y="1343883"/>
            <a:ext cx="166688" cy="3119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76" name="Line 262"/>
          <p:cNvSpPr>
            <a:spLocks noChangeShapeType="1"/>
          </p:cNvSpPr>
          <p:nvPr/>
        </p:nvSpPr>
        <p:spPr bwMode="auto">
          <a:xfrm>
            <a:off x="5794369" y="1378411"/>
            <a:ext cx="161925" cy="308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77" name="Oval 263"/>
          <p:cNvSpPr>
            <a:spLocks noChangeArrowheads="1"/>
          </p:cNvSpPr>
          <p:nvPr/>
        </p:nvSpPr>
        <p:spPr bwMode="auto">
          <a:xfrm>
            <a:off x="5466947" y="898589"/>
            <a:ext cx="507206" cy="507206"/>
          </a:xfrm>
          <a:prstGeom prst="ellipse">
            <a:avLst/>
          </a:prstGeom>
          <a:gradFill rotWithShape="1">
            <a:gsLst>
              <a:gs pos="0">
                <a:srgbClr val="66FF99"/>
              </a:gs>
              <a:gs pos="100000">
                <a:srgbClr val="B2B2B2"/>
              </a:gs>
            </a:gsLst>
            <a:lin ang="0" scaled="1"/>
          </a:gradFill>
          <a:ln w="12700">
            <a:solidFill>
              <a:schemeClr val="tx1"/>
            </a:solidFill>
            <a:round/>
            <a:headEnd/>
            <a:tailEnd/>
          </a:ln>
        </p:spPr>
        <p:txBody>
          <a:bodyPr wrap="none" lIns="68580" tIns="34290" rIns="68580" bIns="34290"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9pPr>
          </a:lstStyle>
          <a:p>
            <a:pPr eaLnBrk="1" hangingPunct="1"/>
            <a:endParaRPr lang="zh-CN" altLang="en-US"/>
          </a:p>
        </p:txBody>
      </p:sp>
      <p:sp>
        <p:nvSpPr>
          <p:cNvPr id="178" name="Oval 264"/>
          <p:cNvSpPr>
            <a:spLocks noChangeArrowheads="1"/>
          </p:cNvSpPr>
          <p:nvPr/>
        </p:nvSpPr>
        <p:spPr bwMode="auto">
          <a:xfrm>
            <a:off x="6921891" y="1889189"/>
            <a:ext cx="507206" cy="506015"/>
          </a:xfrm>
          <a:prstGeom prst="ellipse">
            <a:avLst/>
          </a:prstGeom>
          <a:gradFill rotWithShape="1">
            <a:gsLst>
              <a:gs pos="0">
                <a:srgbClr val="66FF99"/>
              </a:gs>
              <a:gs pos="100000">
                <a:srgbClr val="B2B2B2"/>
              </a:gs>
            </a:gsLst>
            <a:lin ang="0" scaled="1"/>
          </a:gradFill>
          <a:ln w="12700">
            <a:solidFill>
              <a:schemeClr val="tx1"/>
            </a:solidFill>
            <a:round/>
            <a:headEnd/>
            <a:tailEnd/>
          </a:ln>
        </p:spPr>
        <p:txBody>
          <a:bodyPr wrap="none" lIns="68580" tIns="34290" rIns="68580" bIns="34290"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9pPr>
          </a:lstStyle>
          <a:p>
            <a:pPr eaLnBrk="1" hangingPunct="1"/>
            <a:endParaRPr lang="zh-CN" altLang="en-US"/>
          </a:p>
        </p:txBody>
      </p:sp>
      <p:sp>
        <p:nvSpPr>
          <p:cNvPr id="179" name="Freeform 265"/>
          <p:cNvSpPr>
            <a:spLocks/>
          </p:cNvSpPr>
          <p:nvPr/>
        </p:nvSpPr>
        <p:spPr bwMode="auto">
          <a:xfrm>
            <a:off x="6359915" y="1034320"/>
            <a:ext cx="503635" cy="691753"/>
          </a:xfrm>
          <a:custGeom>
            <a:avLst/>
            <a:gdLst>
              <a:gd name="T0" fmla="*/ 0 w 470"/>
              <a:gd name="T1" fmla="*/ 2147483647 h 775"/>
              <a:gd name="T2" fmla="*/ 2147483647 w 470"/>
              <a:gd name="T3" fmla="*/ 2147483647 h 775"/>
              <a:gd name="T4" fmla="*/ 2147483647 w 470"/>
              <a:gd name="T5" fmla="*/ 2147483647 h 775"/>
              <a:gd name="T6" fmla="*/ 2147483647 w 470"/>
              <a:gd name="T7" fmla="*/ 0 h 775"/>
              <a:gd name="T8" fmla="*/ 2147483647 w 470"/>
              <a:gd name="T9" fmla="*/ 2147483647 h 775"/>
              <a:gd name="T10" fmla="*/ 2147483647 w 470"/>
              <a:gd name="T11" fmla="*/ 2147483647 h 775"/>
              <a:gd name="T12" fmla="*/ 2147483647 w 470"/>
              <a:gd name="T13" fmla="*/ 2147483647 h 775"/>
              <a:gd name="T14" fmla="*/ 2147483647 w 470"/>
              <a:gd name="T15" fmla="*/ 2147483647 h 775"/>
              <a:gd name="T16" fmla="*/ 2147483647 w 470"/>
              <a:gd name="T17" fmla="*/ 2147483647 h 775"/>
              <a:gd name="T18" fmla="*/ 0 w 470"/>
              <a:gd name="T19" fmla="*/ 2147483647 h 7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70"/>
              <a:gd name="T31" fmla="*/ 0 h 775"/>
              <a:gd name="T32" fmla="*/ 470 w 470"/>
              <a:gd name="T33" fmla="*/ 775 h 77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70" h="775">
                <a:moveTo>
                  <a:pt x="0" y="682"/>
                </a:moveTo>
                <a:lnTo>
                  <a:pt x="259" y="215"/>
                </a:lnTo>
                <a:lnTo>
                  <a:pt x="209" y="173"/>
                </a:lnTo>
                <a:lnTo>
                  <a:pt x="470" y="0"/>
                </a:lnTo>
                <a:lnTo>
                  <a:pt x="435" y="340"/>
                </a:lnTo>
                <a:lnTo>
                  <a:pt x="374" y="301"/>
                </a:lnTo>
                <a:lnTo>
                  <a:pt x="115" y="775"/>
                </a:lnTo>
                <a:lnTo>
                  <a:pt x="60" y="714"/>
                </a:lnTo>
                <a:lnTo>
                  <a:pt x="17" y="688"/>
                </a:lnTo>
                <a:lnTo>
                  <a:pt x="0" y="682"/>
                </a:lnTo>
                <a:close/>
              </a:path>
            </a:pathLst>
          </a:custGeom>
          <a:solidFill>
            <a:schemeClr val="bg1"/>
          </a:solidFill>
          <a:ln w="9525">
            <a:solidFill>
              <a:schemeClr val="tx1"/>
            </a:solidFill>
            <a:round/>
            <a:headEnd/>
            <a:tailEnd/>
          </a:ln>
        </p:spPr>
        <p:txBody>
          <a:bodyPr wrap="none" lIns="68580" tIns="34290" rIns="68580" bIns="34290"/>
          <a:lstStyle/>
          <a:p>
            <a:endParaRPr lang="zh-CN" altLang="en-US"/>
          </a:p>
        </p:txBody>
      </p:sp>
      <p:sp>
        <p:nvSpPr>
          <p:cNvPr id="180" name="Oval 266"/>
          <p:cNvSpPr>
            <a:spLocks noChangeArrowheads="1"/>
          </p:cNvSpPr>
          <p:nvPr/>
        </p:nvSpPr>
        <p:spPr bwMode="auto">
          <a:xfrm>
            <a:off x="5793178" y="1593914"/>
            <a:ext cx="817960" cy="817959"/>
          </a:xfrm>
          <a:prstGeom prst="ellipse">
            <a:avLst/>
          </a:prstGeom>
          <a:gradFill rotWithShape="1">
            <a:gsLst>
              <a:gs pos="0">
                <a:srgbClr val="FF7C80"/>
              </a:gs>
              <a:gs pos="100000">
                <a:srgbClr val="B2B2B2"/>
              </a:gs>
            </a:gsLst>
            <a:lin ang="0" scaled="1"/>
          </a:gradFill>
          <a:ln w="12700">
            <a:solidFill>
              <a:schemeClr val="tx1"/>
            </a:solidFill>
            <a:round/>
            <a:headEnd/>
            <a:tailEnd/>
          </a:ln>
        </p:spPr>
        <p:txBody>
          <a:bodyPr wrap="none" lIns="68580" tIns="34290" rIns="68580" bIns="34290"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9pPr>
          </a:lstStyle>
          <a:p>
            <a:pPr eaLnBrk="1" hangingPunct="1"/>
            <a:endParaRPr lang="zh-CN" altLang="en-US"/>
          </a:p>
        </p:txBody>
      </p:sp>
      <p:sp>
        <p:nvSpPr>
          <p:cNvPr id="181" name="Text Box 267"/>
          <p:cNvSpPr txBox="1">
            <a:spLocks noChangeArrowheads="1"/>
          </p:cNvSpPr>
          <p:nvPr/>
        </p:nvSpPr>
        <p:spPr bwMode="auto">
          <a:xfrm>
            <a:off x="5943196" y="1861804"/>
            <a:ext cx="582532"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9pPr>
          </a:lstStyle>
          <a:p>
            <a:pPr eaLnBrk="1" hangingPunct="1">
              <a:lnSpc>
                <a:spcPct val="100000"/>
              </a:lnSpc>
              <a:spcBef>
                <a:spcPct val="0"/>
              </a:spcBef>
              <a:spcAft>
                <a:spcPct val="0"/>
              </a:spcAft>
            </a:pPr>
            <a:r>
              <a:rPr kumimoji="1" lang="en-US" altLang="zh-CN" b="1"/>
              <a:t>O</a:t>
            </a:r>
            <a:r>
              <a:rPr kumimoji="1" lang="en-US" altLang="zh-CN" b="1" baseline="30000"/>
              <a:t>2</a:t>
            </a:r>
            <a:r>
              <a:rPr kumimoji="1" lang="en-US" altLang="zh-CN" b="1" baseline="30000">
                <a:cs typeface="Times New Roman" pitchFamily="18" charset="0"/>
              </a:rPr>
              <a:t>–</a:t>
            </a:r>
            <a:endParaRPr kumimoji="1" lang="en-US" altLang="zh-CN" b="1" baseline="30000"/>
          </a:p>
        </p:txBody>
      </p:sp>
      <p:sp>
        <p:nvSpPr>
          <p:cNvPr id="182" name="Text Box 268"/>
          <p:cNvSpPr txBox="1">
            <a:spLocks noChangeArrowheads="1"/>
          </p:cNvSpPr>
          <p:nvPr/>
        </p:nvSpPr>
        <p:spPr bwMode="auto">
          <a:xfrm>
            <a:off x="6982030" y="1922550"/>
            <a:ext cx="494366"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9pPr>
          </a:lstStyle>
          <a:p>
            <a:pPr eaLnBrk="1" hangingPunct="1">
              <a:lnSpc>
                <a:spcPct val="100000"/>
              </a:lnSpc>
              <a:spcBef>
                <a:spcPct val="0"/>
              </a:spcBef>
              <a:spcAft>
                <a:spcPct val="0"/>
              </a:spcAft>
            </a:pPr>
            <a:r>
              <a:rPr kumimoji="1" lang="en-US" altLang="zh-CN" b="1" dirty="0"/>
              <a:t>H</a:t>
            </a:r>
            <a:r>
              <a:rPr kumimoji="1" lang="en-US" altLang="zh-CN" b="1" baseline="30000" dirty="0"/>
              <a:t>+</a:t>
            </a:r>
          </a:p>
        </p:txBody>
      </p:sp>
      <p:sp>
        <p:nvSpPr>
          <p:cNvPr id="183" name="Text Box 269"/>
          <p:cNvSpPr txBox="1">
            <a:spLocks noChangeArrowheads="1"/>
          </p:cNvSpPr>
          <p:nvPr/>
        </p:nvSpPr>
        <p:spPr bwMode="auto">
          <a:xfrm>
            <a:off x="5516335" y="944785"/>
            <a:ext cx="494366"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9pPr>
          </a:lstStyle>
          <a:p>
            <a:pPr eaLnBrk="1" hangingPunct="1">
              <a:lnSpc>
                <a:spcPct val="100000"/>
              </a:lnSpc>
              <a:spcBef>
                <a:spcPct val="0"/>
              </a:spcBef>
              <a:spcAft>
                <a:spcPct val="0"/>
              </a:spcAft>
            </a:pPr>
            <a:r>
              <a:rPr kumimoji="1" lang="en-US" altLang="zh-CN" b="1" dirty="0"/>
              <a:t>H</a:t>
            </a:r>
            <a:r>
              <a:rPr kumimoji="1" lang="en-US" altLang="zh-CN" b="1" baseline="30000" dirty="0"/>
              <a:t>+</a:t>
            </a:r>
          </a:p>
        </p:txBody>
      </p:sp>
      <p:sp>
        <p:nvSpPr>
          <p:cNvPr id="184" name="Text Box 270"/>
          <p:cNvSpPr txBox="1">
            <a:spLocks noChangeArrowheads="1"/>
          </p:cNvSpPr>
          <p:nvPr/>
        </p:nvSpPr>
        <p:spPr bwMode="auto">
          <a:xfrm>
            <a:off x="6388491" y="2565464"/>
            <a:ext cx="831056" cy="29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9pPr>
          </a:lstStyle>
          <a:p>
            <a:pPr eaLnBrk="1" hangingPunct="1">
              <a:lnSpc>
                <a:spcPct val="100000"/>
              </a:lnSpc>
              <a:spcBef>
                <a:spcPct val="0"/>
              </a:spcBef>
              <a:spcAft>
                <a:spcPct val="0"/>
              </a:spcAft>
            </a:pPr>
            <a:r>
              <a:rPr kumimoji="1" lang="en-US" altLang="zh-CN" sz="1500" b="1"/>
              <a:t>0.096nm</a:t>
            </a:r>
          </a:p>
        </p:txBody>
      </p:sp>
      <p:sp>
        <p:nvSpPr>
          <p:cNvPr id="185" name="Text Box 271"/>
          <p:cNvSpPr txBox="1">
            <a:spLocks noChangeArrowheads="1"/>
          </p:cNvSpPr>
          <p:nvPr/>
        </p:nvSpPr>
        <p:spPr bwMode="auto">
          <a:xfrm>
            <a:off x="6682575" y="1512952"/>
            <a:ext cx="642938" cy="29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9pPr>
          </a:lstStyle>
          <a:p>
            <a:pPr eaLnBrk="1" hangingPunct="1">
              <a:lnSpc>
                <a:spcPct val="100000"/>
              </a:lnSpc>
              <a:spcBef>
                <a:spcPct val="0"/>
              </a:spcBef>
              <a:spcAft>
                <a:spcPct val="0"/>
              </a:spcAft>
            </a:pPr>
            <a:r>
              <a:rPr kumimoji="1" lang="en-US" altLang="zh-CN" sz="1500" b="1"/>
              <a:t>104.5</a:t>
            </a:r>
            <a:r>
              <a:rPr kumimoji="1" lang="en-US" altLang="zh-CN" sz="1500" b="1">
                <a:sym typeface="Symbol" pitchFamily="18" charset="2"/>
              </a:rPr>
              <a:t></a:t>
            </a:r>
          </a:p>
        </p:txBody>
      </p:sp>
      <p:sp>
        <p:nvSpPr>
          <p:cNvPr id="186" name="Text Box 272"/>
          <p:cNvSpPr txBox="1">
            <a:spLocks noChangeArrowheads="1"/>
          </p:cNvSpPr>
          <p:nvPr/>
        </p:nvSpPr>
        <p:spPr bwMode="auto">
          <a:xfrm>
            <a:off x="7069472" y="944785"/>
            <a:ext cx="1163240" cy="29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2400">
                <a:solidFill>
                  <a:schemeClr val="tx1"/>
                </a:solidFill>
                <a:latin typeface="Times New Roman" pitchFamily="18" charset="0"/>
                <a:ea typeface="宋体" pitchFamily="2" charset="-122"/>
              </a:defRPr>
            </a:lvl9pPr>
          </a:lstStyle>
          <a:p>
            <a:pPr eaLnBrk="1" hangingPunct="1">
              <a:lnSpc>
                <a:spcPct val="100000"/>
              </a:lnSpc>
              <a:spcBef>
                <a:spcPct val="0"/>
              </a:spcBef>
              <a:spcAft>
                <a:spcPct val="0"/>
              </a:spcAft>
            </a:pPr>
            <a:r>
              <a:rPr kumimoji="1" lang="zh-CN" altLang="en-US" sz="1500" b="1" dirty="0">
                <a:sym typeface="Symbol" pitchFamily="18" charset="2"/>
              </a:rPr>
              <a:t></a:t>
            </a:r>
            <a:r>
              <a:rPr kumimoji="1" lang="en-US" altLang="zh-CN" sz="1500" b="1" dirty="0">
                <a:sym typeface="Symbol" pitchFamily="18" charset="2"/>
              </a:rPr>
              <a:t>=1.84</a:t>
            </a:r>
            <a:r>
              <a:rPr kumimoji="1" lang="zh-CN" altLang="en-US" sz="1500" b="1" dirty="0">
                <a:sym typeface="Symbol" pitchFamily="18" charset="2"/>
              </a:rPr>
              <a:t>德拜</a:t>
            </a:r>
            <a:endParaRPr kumimoji="1" lang="en-US" altLang="zh-CN" sz="1500" b="1" dirty="0">
              <a:sym typeface="Symbol" pitchFamily="18" charset="2"/>
            </a:endParaRPr>
          </a:p>
        </p:txBody>
      </p:sp>
      <p:sp>
        <p:nvSpPr>
          <p:cNvPr id="188" name="Text Box 192"/>
          <p:cNvSpPr txBox="1">
            <a:spLocks noChangeArrowheads="1"/>
          </p:cNvSpPr>
          <p:nvPr/>
        </p:nvSpPr>
        <p:spPr bwMode="auto">
          <a:xfrm>
            <a:off x="827494" y="1263019"/>
            <a:ext cx="3822146"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47675" indent="-4476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0" indent="0" eaLnBrk="1" hangingPunct="1">
              <a:spcBef>
                <a:spcPct val="0"/>
              </a:spcBef>
              <a:spcAft>
                <a:spcPct val="0"/>
              </a:spcAft>
            </a:pPr>
            <a:r>
              <a:rPr kumimoji="1" lang="zh-CN" altLang="en-US" sz="2000" b="1" dirty="0" smtClean="0">
                <a:solidFill>
                  <a:srgbClr val="000066"/>
                </a:solidFill>
                <a:ea typeface="幼圆" pitchFamily="49" charset="-122"/>
              </a:rPr>
              <a:t>水分子的正负电荷总体是平衡的，但在空间分布上却是不平衡的。因此，水分子是</a:t>
            </a:r>
            <a:r>
              <a:rPr kumimoji="1" lang="zh-CN" altLang="en-US" sz="2000" b="1" dirty="0" smtClean="0">
                <a:solidFill>
                  <a:srgbClr val="C00000"/>
                </a:solidFill>
                <a:ea typeface="幼圆" pitchFamily="49" charset="-122"/>
              </a:rPr>
              <a:t>极性分子</a:t>
            </a:r>
            <a:endParaRPr kumimoji="1" lang="en-US" altLang="zh-CN" sz="2000" b="1" dirty="0">
              <a:solidFill>
                <a:srgbClr val="C00000"/>
              </a:solidFill>
              <a:ea typeface="幼圆" pitchFamily="49" charset="-122"/>
            </a:endParaRPr>
          </a:p>
        </p:txBody>
      </p:sp>
      <p:sp>
        <p:nvSpPr>
          <p:cNvPr id="189" name="Text Box 192"/>
          <p:cNvSpPr txBox="1">
            <a:spLocks noChangeArrowheads="1"/>
          </p:cNvSpPr>
          <p:nvPr/>
        </p:nvSpPr>
        <p:spPr bwMode="auto">
          <a:xfrm>
            <a:off x="376238" y="2591749"/>
            <a:ext cx="2962185" cy="54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47675" indent="-4476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0"/>
              </a:spcBef>
              <a:spcAft>
                <a:spcPct val="0"/>
              </a:spcAft>
              <a:buFont typeface="Wingdings" pitchFamily="2" charset="2"/>
              <a:buChar char="n"/>
            </a:pPr>
            <a:r>
              <a:rPr kumimoji="1" lang="zh-CN" altLang="en-US" sz="2800" b="1" dirty="0" smtClean="0">
                <a:solidFill>
                  <a:srgbClr val="800000"/>
                </a:solidFill>
                <a:ea typeface="幼圆" pitchFamily="49" charset="-122"/>
              </a:rPr>
              <a:t>双电层：</a:t>
            </a:r>
            <a:endParaRPr kumimoji="1" lang="en-US" altLang="zh-CN" sz="2000" b="1" dirty="0">
              <a:solidFill>
                <a:srgbClr val="000066"/>
              </a:solidFill>
              <a:ea typeface="幼圆" pitchFamily="49" charset="-122"/>
            </a:endParaRPr>
          </a:p>
        </p:txBody>
      </p:sp>
      <p:grpSp>
        <p:nvGrpSpPr>
          <p:cNvPr id="2" name="组合 1"/>
          <p:cNvGrpSpPr/>
          <p:nvPr/>
        </p:nvGrpSpPr>
        <p:grpSpPr>
          <a:xfrm>
            <a:off x="5303733" y="3239342"/>
            <a:ext cx="3614137" cy="1853879"/>
            <a:chOff x="5303733" y="3239342"/>
            <a:chExt cx="3614137" cy="1853879"/>
          </a:xfrm>
        </p:grpSpPr>
        <p:sp>
          <p:nvSpPr>
            <p:cNvPr id="190" name="Rectangle 6"/>
            <p:cNvSpPr>
              <a:spLocks noChangeArrowheads="1"/>
            </p:cNvSpPr>
            <p:nvPr/>
          </p:nvSpPr>
          <p:spPr bwMode="auto">
            <a:xfrm>
              <a:off x="5303733" y="3239342"/>
              <a:ext cx="3543251" cy="1853879"/>
            </a:xfrm>
            <a:prstGeom prst="rect">
              <a:avLst/>
            </a:prstGeom>
            <a:solidFill>
              <a:schemeClr val="bg2">
                <a:lumMod val="90000"/>
              </a:schemeClr>
            </a:solidFill>
            <a:ln>
              <a:noFill/>
            </a:ln>
          </p:spPr>
          <p:txBody>
            <a:bodyPr wrap="none" lIns="79233" tIns="39616" rIns="79233" bIns="39616" anchor="ctr"/>
            <a:lstStyle/>
            <a:p>
              <a:endParaRPr lang="zh-CN" altLang="en-US"/>
            </a:p>
          </p:txBody>
        </p:sp>
        <p:sp>
          <p:nvSpPr>
            <p:cNvPr id="191" name="Oval 7"/>
            <p:cNvSpPr>
              <a:spLocks noChangeArrowheads="1"/>
            </p:cNvSpPr>
            <p:nvPr/>
          </p:nvSpPr>
          <p:spPr bwMode="auto">
            <a:xfrm rot="15159782">
              <a:off x="5932029" y="4096432"/>
              <a:ext cx="248992" cy="151321"/>
            </a:xfrm>
            <a:prstGeom prst="ellipse">
              <a:avLst/>
            </a:prstGeom>
            <a:solidFill>
              <a:srgbClr val="99CCFF"/>
            </a:solidFill>
            <a:ln w="9525">
              <a:solidFill>
                <a:schemeClr val="tx1"/>
              </a:solidFill>
              <a:round/>
              <a:headEnd/>
              <a:tailEnd/>
            </a:ln>
          </p:spPr>
          <p:txBody>
            <a:bodyPr wrap="none" lIns="79233" tIns="39616" rIns="79233" bIns="39616" anchor="ctr"/>
            <a:lstStyle/>
            <a:p>
              <a:endParaRPr lang="zh-CN" altLang="en-US"/>
            </a:p>
          </p:txBody>
        </p:sp>
        <p:sp>
          <p:nvSpPr>
            <p:cNvPr id="192" name="Oval 8"/>
            <p:cNvSpPr>
              <a:spLocks noChangeArrowheads="1"/>
            </p:cNvSpPr>
            <p:nvPr/>
          </p:nvSpPr>
          <p:spPr bwMode="auto">
            <a:xfrm rot="15159782">
              <a:off x="6793183" y="3785535"/>
              <a:ext cx="248992" cy="151321"/>
            </a:xfrm>
            <a:prstGeom prst="ellipse">
              <a:avLst/>
            </a:prstGeom>
            <a:solidFill>
              <a:srgbClr val="99CCFF"/>
            </a:solidFill>
            <a:ln w="9525">
              <a:solidFill>
                <a:schemeClr val="tx1"/>
              </a:solidFill>
              <a:round/>
              <a:headEnd/>
              <a:tailEnd/>
            </a:ln>
          </p:spPr>
          <p:txBody>
            <a:bodyPr wrap="none" lIns="79233" tIns="39616" rIns="79233" bIns="39616" anchor="ctr"/>
            <a:lstStyle/>
            <a:p>
              <a:endParaRPr lang="zh-CN" altLang="en-US"/>
            </a:p>
          </p:txBody>
        </p:sp>
        <p:sp>
          <p:nvSpPr>
            <p:cNvPr id="193" name="Oval 9"/>
            <p:cNvSpPr>
              <a:spLocks noChangeArrowheads="1"/>
            </p:cNvSpPr>
            <p:nvPr/>
          </p:nvSpPr>
          <p:spPr bwMode="auto">
            <a:xfrm rot="4359781">
              <a:off x="6808316" y="4531136"/>
              <a:ext cx="248992" cy="151321"/>
            </a:xfrm>
            <a:prstGeom prst="ellipse">
              <a:avLst/>
            </a:prstGeom>
            <a:solidFill>
              <a:srgbClr val="99CCFF"/>
            </a:solidFill>
            <a:ln w="9525">
              <a:solidFill>
                <a:schemeClr val="tx1"/>
              </a:solidFill>
              <a:round/>
              <a:headEnd/>
              <a:tailEnd/>
            </a:ln>
          </p:spPr>
          <p:txBody>
            <a:bodyPr wrap="none" lIns="79233" tIns="39616" rIns="79233" bIns="39616" anchor="ctr"/>
            <a:lstStyle/>
            <a:p>
              <a:endParaRPr lang="zh-CN" altLang="en-US"/>
            </a:p>
          </p:txBody>
        </p:sp>
        <p:sp>
          <p:nvSpPr>
            <p:cNvPr id="194" name="Oval 10"/>
            <p:cNvSpPr>
              <a:spLocks noChangeArrowheads="1"/>
            </p:cNvSpPr>
            <p:nvPr/>
          </p:nvSpPr>
          <p:spPr bwMode="auto">
            <a:xfrm rot="4359781">
              <a:off x="7527779" y="4242250"/>
              <a:ext cx="248992" cy="151321"/>
            </a:xfrm>
            <a:prstGeom prst="ellipse">
              <a:avLst/>
            </a:prstGeom>
            <a:solidFill>
              <a:srgbClr val="99CCFF"/>
            </a:solidFill>
            <a:ln w="9525">
              <a:solidFill>
                <a:schemeClr val="tx1"/>
              </a:solidFill>
              <a:round/>
              <a:headEnd/>
              <a:tailEnd/>
            </a:ln>
          </p:spPr>
          <p:txBody>
            <a:bodyPr wrap="none" lIns="79233" tIns="39616" rIns="79233" bIns="39616" anchor="ctr"/>
            <a:lstStyle/>
            <a:p>
              <a:endParaRPr lang="zh-CN" altLang="en-US"/>
            </a:p>
          </p:txBody>
        </p:sp>
        <p:sp>
          <p:nvSpPr>
            <p:cNvPr id="195" name="Line 11"/>
            <p:cNvSpPr>
              <a:spLocks noChangeShapeType="1"/>
            </p:cNvSpPr>
            <p:nvPr/>
          </p:nvSpPr>
          <p:spPr bwMode="auto">
            <a:xfrm rot="15159782">
              <a:off x="6005625" y="4120506"/>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196" name="Line 12"/>
            <p:cNvSpPr>
              <a:spLocks noChangeShapeType="1"/>
            </p:cNvSpPr>
            <p:nvPr/>
          </p:nvSpPr>
          <p:spPr bwMode="auto">
            <a:xfrm rot="15159782">
              <a:off x="6034514" y="4215425"/>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197" name="Line 13"/>
            <p:cNvSpPr>
              <a:spLocks noChangeShapeType="1"/>
            </p:cNvSpPr>
            <p:nvPr/>
          </p:nvSpPr>
          <p:spPr bwMode="auto">
            <a:xfrm rot="20559782">
              <a:off x="6035889" y="4214050"/>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198" name="Line 14"/>
            <p:cNvSpPr>
              <a:spLocks noChangeShapeType="1"/>
            </p:cNvSpPr>
            <p:nvPr/>
          </p:nvSpPr>
          <p:spPr bwMode="auto">
            <a:xfrm rot="15159782">
              <a:off x="6866780" y="3809609"/>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199" name="Line 15"/>
            <p:cNvSpPr>
              <a:spLocks noChangeShapeType="1"/>
            </p:cNvSpPr>
            <p:nvPr/>
          </p:nvSpPr>
          <p:spPr bwMode="auto">
            <a:xfrm rot="15159782">
              <a:off x="6895669" y="3904529"/>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200" name="Line 16"/>
            <p:cNvSpPr>
              <a:spLocks noChangeShapeType="1"/>
            </p:cNvSpPr>
            <p:nvPr/>
          </p:nvSpPr>
          <p:spPr bwMode="auto">
            <a:xfrm rot="20559782">
              <a:off x="6897044" y="3903153"/>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201" name="Line 17"/>
            <p:cNvSpPr>
              <a:spLocks noChangeShapeType="1"/>
            </p:cNvSpPr>
            <p:nvPr/>
          </p:nvSpPr>
          <p:spPr bwMode="auto">
            <a:xfrm rot="4359781">
              <a:off x="6916303" y="4658383"/>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202" name="Line 18"/>
            <p:cNvSpPr>
              <a:spLocks noChangeShapeType="1"/>
            </p:cNvSpPr>
            <p:nvPr/>
          </p:nvSpPr>
          <p:spPr bwMode="auto">
            <a:xfrm rot="4359781">
              <a:off x="6887415" y="4563464"/>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203" name="Line 19"/>
            <p:cNvSpPr>
              <a:spLocks noChangeShapeType="1"/>
            </p:cNvSpPr>
            <p:nvPr/>
          </p:nvSpPr>
          <p:spPr bwMode="auto">
            <a:xfrm rot="9759782">
              <a:off x="6886039" y="4564839"/>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204" name="Line 20"/>
            <p:cNvSpPr>
              <a:spLocks noChangeShapeType="1"/>
            </p:cNvSpPr>
            <p:nvPr/>
          </p:nvSpPr>
          <p:spPr bwMode="auto">
            <a:xfrm rot="4359781">
              <a:off x="7635767" y="4369497"/>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205" name="Line 21"/>
            <p:cNvSpPr>
              <a:spLocks noChangeShapeType="1"/>
            </p:cNvSpPr>
            <p:nvPr/>
          </p:nvSpPr>
          <p:spPr bwMode="auto">
            <a:xfrm rot="4359781">
              <a:off x="7606878" y="4274578"/>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206" name="Line 22"/>
            <p:cNvSpPr>
              <a:spLocks noChangeShapeType="1"/>
            </p:cNvSpPr>
            <p:nvPr/>
          </p:nvSpPr>
          <p:spPr bwMode="auto">
            <a:xfrm rot="9759782">
              <a:off x="7605503" y="4275953"/>
              <a:ext cx="660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207" name="Freeform 28"/>
            <p:cNvSpPr>
              <a:spLocks/>
            </p:cNvSpPr>
            <p:nvPr/>
          </p:nvSpPr>
          <p:spPr bwMode="auto">
            <a:xfrm>
              <a:off x="5420976" y="3692679"/>
              <a:ext cx="3279542" cy="1020730"/>
            </a:xfrm>
            <a:custGeom>
              <a:avLst/>
              <a:gdLst>
                <a:gd name="T0" fmla="*/ 0 w 2384"/>
                <a:gd name="T1" fmla="*/ 2147483647 h 742"/>
                <a:gd name="T2" fmla="*/ 2147483647 w 2384"/>
                <a:gd name="T3" fmla="*/ 2147483647 h 742"/>
                <a:gd name="T4" fmla="*/ 2147483647 w 2384"/>
                <a:gd name="T5" fmla="*/ 2147483647 h 742"/>
                <a:gd name="T6" fmla="*/ 2147483647 w 2384"/>
                <a:gd name="T7" fmla="*/ 2147483647 h 742"/>
                <a:gd name="T8" fmla="*/ 2147483647 w 2384"/>
                <a:gd name="T9" fmla="*/ 2147483647 h 742"/>
                <a:gd name="T10" fmla="*/ 2147483647 w 2384"/>
                <a:gd name="T11" fmla="*/ 2147483647 h 742"/>
                <a:gd name="T12" fmla="*/ 2147483647 w 2384"/>
                <a:gd name="T13" fmla="*/ 2147483647 h 742"/>
                <a:gd name="T14" fmla="*/ 2147483647 w 2384"/>
                <a:gd name="T15" fmla="*/ 2147483647 h 742"/>
                <a:gd name="T16" fmla="*/ 2147483647 w 2384"/>
                <a:gd name="T17" fmla="*/ 2147483647 h 742"/>
                <a:gd name="T18" fmla="*/ 2147483647 w 2384"/>
                <a:gd name="T19" fmla="*/ 2147483647 h 742"/>
                <a:gd name="T20" fmla="*/ 2147483647 w 2384"/>
                <a:gd name="T21" fmla="*/ 2147483647 h 742"/>
                <a:gd name="T22" fmla="*/ 2147483647 w 2384"/>
                <a:gd name="T23" fmla="*/ 0 h 742"/>
                <a:gd name="T24" fmla="*/ 2147483647 w 2384"/>
                <a:gd name="T25" fmla="*/ 2147483647 h 742"/>
                <a:gd name="T26" fmla="*/ 2147483647 w 2384"/>
                <a:gd name="T27" fmla="*/ 2147483647 h 742"/>
                <a:gd name="T28" fmla="*/ 2147483647 w 2384"/>
                <a:gd name="T29" fmla="*/ 2147483647 h 742"/>
                <a:gd name="T30" fmla="*/ 2147483647 w 2384"/>
                <a:gd name="T31" fmla="*/ 2147483647 h 742"/>
                <a:gd name="T32" fmla="*/ 2147483647 w 2384"/>
                <a:gd name="T33" fmla="*/ 2147483647 h 742"/>
                <a:gd name="T34" fmla="*/ 2147483647 w 2384"/>
                <a:gd name="T35" fmla="*/ 2147483647 h 742"/>
                <a:gd name="T36" fmla="*/ 2147483647 w 2384"/>
                <a:gd name="T37" fmla="*/ 2147483647 h 742"/>
                <a:gd name="T38" fmla="*/ 2147483647 w 2384"/>
                <a:gd name="T39" fmla="*/ 2147483647 h 742"/>
                <a:gd name="T40" fmla="*/ 2147483647 w 2384"/>
                <a:gd name="T41" fmla="*/ 2147483647 h 742"/>
                <a:gd name="T42" fmla="*/ 2147483647 w 2384"/>
                <a:gd name="T43" fmla="*/ 2147483647 h 742"/>
                <a:gd name="T44" fmla="*/ 2147483647 w 2384"/>
                <a:gd name="T45" fmla="*/ 2147483647 h 742"/>
                <a:gd name="T46" fmla="*/ 2147483647 w 2384"/>
                <a:gd name="T47" fmla="*/ 2147483647 h 742"/>
                <a:gd name="T48" fmla="*/ 2147483647 w 2384"/>
                <a:gd name="T49" fmla="*/ 2147483647 h 742"/>
                <a:gd name="T50" fmla="*/ 2147483647 w 2384"/>
                <a:gd name="T51" fmla="*/ 2147483647 h 742"/>
                <a:gd name="T52" fmla="*/ 0 w 2384"/>
                <a:gd name="T53" fmla="*/ 2147483647 h 7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384"/>
                <a:gd name="T82" fmla="*/ 0 h 742"/>
                <a:gd name="T83" fmla="*/ 2384 w 2384"/>
                <a:gd name="T84" fmla="*/ 742 h 7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384" h="742">
                  <a:moveTo>
                    <a:pt x="0" y="636"/>
                  </a:moveTo>
                  <a:lnTo>
                    <a:pt x="1619" y="51"/>
                  </a:lnTo>
                  <a:lnTo>
                    <a:pt x="1641" y="92"/>
                  </a:lnTo>
                  <a:lnTo>
                    <a:pt x="1744" y="60"/>
                  </a:lnTo>
                  <a:lnTo>
                    <a:pt x="1756" y="86"/>
                  </a:lnTo>
                  <a:lnTo>
                    <a:pt x="1875" y="38"/>
                  </a:lnTo>
                  <a:lnTo>
                    <a:pt x="1904" y="73"/>
                  </a:lnTo>
                  <a:lnTo>
                    <a:pt x="2048" y="25"/>
                  </a:lnTo>
                  <a:lnTo>
                    <a:pt x="2076" y="48"/>
                  </a:lnTo>
                  <a:lnTo>
                    <a:pt x="2160" y="12"/>
                  </a:lnTo>
                  <a:lnTo>
                    <a:pt x="2176" y="41"/>
                  </a:lnTo>
                  <a:lnTo>
                    <a:pt x="2291" y="0"/>
                  </a:lnTo>
                  <a:lnTo>
                    <a:pt x="2304" y="28"/>
                  </a:lnTo>
                  <a:lnTo>
                    <a:pt x="2371" y="9"/>
                  </a:lnTo>
                  <a:lnTo>
                    <a:pt x="2384" y="44"/>
                  </a:lnTo>
                  <a:lnTo>
                    <a:pt x="492" y="742"/>
                  </a:lnTo>
                  <a:lnTo>
                    <a:pt x="464" y="691"/>
                  </a:lnTo>
                  <a:lnTo>
                    <a:pt x="412" y="707"/>
                  </a:lnTo>
                  <a:lnTo>
                    <a:pt x="393" y="672"/>
                  </a:lnTo>
                  <a:lnTo>
                    <a:pt x="355" y="681"/>
                  </a:lnTo>
                  <a:lnTo>
                    <a:pt x="326" y="646"/>
                  </a:lnTo>
                  <a:lnTo>
                    <a:pt x="256" y="675"/>
                  </a:lnTo>
                  <a:lnTo>
                    <a:pt x="230" y="636"/>
                  </a:lnTo>
                  <a:lnTo>
                    <a:pt x="121" y="681"/>
                  </a:lnTo>
                  <a:lnTo>
                    <a:pt x="105" y="646"/>
                  </a:lnTo>
                  <a:lnTo>
                    <a:pt x="16" y="678"/>
                  </a:lnTo>
                  <a:lnTo>
                    <a:pt x="0" y="636"/>
                  </a:lnTo>
                  <a:close/>
                </a:path>
              </a:pathLst>
            </a:custGeom>
            <a:solidFill>
              <a:srgbClr val="FFCC99"/>
            </a:solidFill>
            <a:ln w="9525">
              <a:solidFill>
                <a:schemeClr val="tx1"/>
              </a:solidFill>
              <a:round/>
              <a:headEnd/>
              <a:tailEnd/>
            </a:ln>
          </p:spPr>
          <p:txBody>
            <a:bodyPr lIns="79233" tIns="39616" rIns="79233" bIns="39616"/>
            <a:lstStyle/>
            <a:p>
              <a:endParaRPr lang="zh-CN" altLang="en-US"/>
            </a:p>
          </p:txBody>
        </p:sp>
        <p:sp>
          <p:nvSpPr>
            <p:cNvPr id="208" name="Text Box 29"/>
            <p:cNvSpPr txBox="1">
              <a:spLocks noChangeArrowheads="1"/>
            </p:cNvSpPr>
            <p:nvPr/>
          </p:nvSpPr>
          <p:spPr bwMode="auto">
            <a:xfrm rot="20399798">
              <a:off x="5454845" y="3929926"/>
              <a:ext cx="2336891" cy="403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9233" tIns="39616" rIns="79233" bIns="39616">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100"/>
                <a:t>-  -  -  -  -  -  -  -  -  - </a:t>
              </a:r>
            </a:p>
          </p:txBody>
        </p:sp>
        <p:sp>
          <p:nvSpPr>
            <p:cNvPr id="209" name="Text Box 30"/>
            <p:cNvSpPr txBox="1">
              <a:spLocks noChangeArrowheads="1"/>
            </p:cNvSpPr>
            <p:nvPr/>
          </p:nvSpPr>
          <p:spPr bwMode="auto">
            <a:xfrm rot="20367225">
              <a:off x="5995203" y="3982200"/>
              <a:ext cx="2651080" cy="403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9233" tIns="39616" rIns="79233" bIns="39616">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100"/>
                <a:t>-  -  -  -  -  -  -  -  -  - -  -</a:t>
              </a:r>
            </a:p>
          </p:txBody>
        </p:sp>
        <p:sp>
          <p:nvSpPr>
            <p:cNvPr id="210" name="Text Box 31"/>
            <p:cNvSpPr txBox="1">
              <a:spLocks noChangeArrowheads="1"/>
            </p:cNvSpPr>
            <p:nvPr/>
          </p:nvSpPr>
          <p:spPr bwMode="auto">
            <a:xfrm rot="20349623">
              <a:off x="5771838" y="4392353"/>
              <a:ext cx="262606" cy="29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9233" tIns="39616" rIns="79233" bIns="39616">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b="1"/>
                <a:t>+</a:t>
              </a:r>
            </a:p>
          </p:txBody>
        </p:sp>
        <p:sp>
          <p:nvSpPr>
            <p:cNvPr id="211" name="Text Box 32"/>
            <p:cNvSpPr txBox="1">
              <a:spLocks noChangeArrowheads="1"/>
            </p:cNvSpPr>
            <p:nvPr/>
          </p:nvSpPr>
          <p:spPr bwMode="auto">
            <a:xfrm rot="20349623">
              <a:off x="5932787" y="4439125"/>
              <a:ext cx="262606" cy="29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9233" tIns="39616" rIns="79233" bIns="39616">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b="1"/>
                <a:t>+</a:t>
              </a:r>
            </a:p>
          </p:txBody>
        </p:sp>
        <p:sp>
          <p:nvSpPr>
            <p:cNvPr id="212" name="Text Box 33"/>
            <p:cNvSpPr txBox="1">
              <a:spLocks noChangeArrowheads="1"/>
            </p:cNvSpPr>
            <p:nvPr/>
          </p:nvSpPr>
          <p:spPr bwMode="auto">
            <a:xfrm rot="20349623">
              <a:off x="7666102" y="3711408"/>
              <a:ext cx="262606" cy="29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9233" tIns="39616" rIns="79233" bIns="39616">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b="1"/>
                <a:t>+</a:t>
              </a:r>
            </a:p>
          </p:txBody>
        </p:sp>
        <p:sp>
          <p:nvSpPr>
            <p:cNvPr id="213" name="Text Box 34"/>
            <p:cNvSpPr txBox="1">
              <a:spLocks noChangeArrowheads="1"/>
            </p:cNvSpPr>
            <p:nvPr/>
          </p:nvSpPr>
          <p:spPr bwMode="auto">
            <a:xfrm rot="20349623">
              <a:off x="8026522" y="3657758"/>
              <a:ext cx="262606" cy="29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9233" tIns="39616" rIns="79233" bIns="39616">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b="1"/>
                <a:t>+</a:t>
              </a:r>
            </a:p>
          </p:txBody>
        </p:sp>
        <p:grpSp>
          <p:nvGrpSpPr>
            <p:cNvPr id="214" name="Group 35"/>
            <p:cNvGrpSpPr>
              <a:grpSpLocks/>
            </p:cNvGrpSpPr>
            <p:nvPr/>
          </p:nvGrpSpPr>
          <p:grpSpPr bwMode="auto">
            <a:xfrm rot="20334323">
              <a:off x="5672719" y="4270451"/>
              <a:ext cx="123808" cy="123808"/>
              <a:chOff x="2031" y="3123"/>
              <a:chExt cx="90" cy="90"/>
            </a:xfrm>
          </p:grpSpPr>
          <p:sp>
            <p:nvSpPr>
              <p:cNvPr id="215" name="Oval 36"/>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216" name="Group 37"/>
              <p:cNvGrpSpPr>
                <a:grpSpLocks/>
              </p:cNvGrpSpPr>
              <p:nvPr/>
            </p:nvGrpSpPr>
            <p:grpSpPr bwMode="auto">
              <a:xfrm>
                <a:off x="2052" y="3148"/>
                <a:ext cx="48" cy="48"/>
                <a:chOff x="2052" y="2911"/>
                <a:chExt cx="48" cy="48"/>
              </a:xfrm>
            </p:grpSpPr>
            <p:sp>
              <p:nvSpPr>
                <p:cNvPr id="217" name="Line 38"/>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 name="Line 39"/>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19" name="Group 40"/>
            <p:cNvGrpSpPr>
              <a:grpSpLocks/>
            </p:cNvGrpSpPr>
            <p:nvPr/>
          </p:nvGrpSpPr>
          <p:grpSpPr bwMode="auto">
            <a:xfrm rot="20334323">
              <a:off x="6436204" y="3963682"/>
              <a:ext cx="123808" cy="123808"/>
              <a:chOff x="2031" y="3123"/>
              <a:chExt cx="90" cy="90"/>
            </a:xfrm>
          </p:grpSpPr>
          <p:sp>
            <p:nvSpPr>
              <p:cNvPr id="220" name="Oval 41"/>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221" name="Group 42"/>
              <p:cNvGrpSpPr>
                <a:grpSpLocks/>
              </p:cNvGrpSpPr>
              <p:nvPr/>
            </p:nvGrpSpPr>
            <p:grpSpPr bwMode="auto">
              <a:xfrm>
                <a:off x="2052" y="3148"/>
                <a:ext cx="48" cy="48"/>
                <a:chOff x="2052" y="2911"/>
                <a:chExt cx="48" cy="48"/>
              </a:xfrm>
            </p:grpSpPr>
            <p:sp>
              <p:nvSpPr>
                <p:cNvPr id="222" name="Line 43"/>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 name="Line 44"/>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24" name="Group 45"/>
            <p:cNvGrpSpPr>
              <a:grpSpLocks/>
            </p:cNvGrpSpPr>
            <p:nvPr/>
          </p:nvGrpSpPr>
          <p:grpSpPr bwMode="auto">
            <a:xfrm rot="20334323">
              <a:off x="7271221" y="3670669"/>
              <a:ext cx="123808" cy="123808"/>
              <a:chOff x="2031" y="3123"/>
              <a:chExt cx="90" cy="90"/>
            </a:xfrm>
          </p:grpSpPr>
          <p:sp>
            <p:nvSpPr>
              <p:cNvPr id="225" name="Oval 46"/>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226" name="Group 47"/>
              <p:cNvGrpSpPr>
                <a:grpSpLocks/>
              </p:cNvGrpSpPr>
              <p:nvPr/>
            </p:nvGrpSpPr>
            <p:grpSpPr bwMode="auto">
              <a:xfrm>
                <a:off x="2052" y="3148"/>
                <a:ext cx="48" cy="48"/>
                <a:chOff x="2052" y="2911"/>
                <a:chExt cx="48" cy="48"/>
              </a:xfrm>
            </p:grpSpPr>
            <p:sp>
              <p:nvSpPr>
                <p:cNvPr id="227" name="Line 48"/>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 name="Line 49"/>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29" name="Group 50"/>
            <p:cNvGrpSpPr>
              <a:grpSpLocks/>
            </p:cNvGrpSpPr>
            <p:nvPr/>
          </p:nvGrpSpPr>
          <p:grpSpPr bwMode="auto">
            <a:xfrm rot="20334323">
              <a:off x="6449960" y="4662511"/>
              <a:ext cx="123808" cy="123808"/>
              <a:chOff x="2031" y="3123"/>
              <a:chExt cx="90" cy="90"/>
            </a:xfrm>
          </p:grpSpPr>
          <p:sp>
            <p:nvSpPr>
              <p:cNvPr id="230" name="Oval 51"/>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231" name="Group 52"/>
              <p:cNvGrpSpPr>
                <a:grpSpLocks/>
              </p:cNvGrpSpPr>
              <p:nvPr/>
            </p:nvGrpSpPr>
            <p:grpSpPr bwMode="auto">
              <a:xfrm>
                <a:off x="2052" y="3148"/>
                <a:ext cx="48" cy="48"/>
                <a:chOff x="2052" y="2911"/>
                <a:chExt cx="48" cy="48"/>
              </a:xfrm>
            </p:grpSpPr>
            <p:sp>
              <p:nvSpPr>
                <p:cNvPr id="232" name="Line 53"/>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 name="Line 54"/>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34" name="Group 55"/>
            <p:cNvGrpSpPr>
              <a:grpSpLocks/>
            </p:cNvGrpSpPr>
            <p:nvPr/>
          </p:nvGrpSpPr>
          <p:grpSpPr bwMode="auto">
            <a:xfrm rot="20334323">
              <a:off x="7235454" y="4333731"/>
              <a:ext cx="123808" cy="123808"/>
              <a:chOff x="2031" y="3123"/>
              <a:chExt cx="90" cy="90"/>
            </a:xfrm>
          </p:grpSpPr>
          <p:sp>
            <p:nvSpPr>
              <p:cNvPr id="235" name="Oval 56"/>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236" name="Group 57"/>
              <p:cNvGrpSpPr>
                <a:grpSpLocks/>
              </p:cNvGrpSpPr>
              <p:nvPr/>
            </p:nvGrpSpPr>
            <p:grpSpPr bwMode="auto">
              <a:xfrm>
                <a:off x="2052" y="3148"/>
                <a:ext cx="48" cy="48"/>
                <a:chOff x="2052" y="2911"/>
                <a:chExt cx="48" cy="48"/>
              </a:xfrm>
            </p:grpSpPr>
            <p:sp>
              <p:nvSpPr>
                <p:cNvPr id="237" name="Line 58"/>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8" name="Line 59"/>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39" name="Group 60"/>
            <p:cNvGrpSpPr>
              <a:grpSpLocks/>
            </p:cNvGrpSpPr>
            <p:nvPr/>
          </p:nvGrpSpPr>
          <p:grpSpPr bwMode="auto">
            <a:xfrm rot="20334323">
              <a:off x="7826982" y="4098496"/>
              <a:ext cx="123808" cy="123808"/>
              <a:chOff x="2031" y="3123"/>
              <a:chExt cx="90" cy="90"/>
            </a:xfrm>
          </p:grpSpPr>
          <p:sp>
            <p:nvSpPr>
              <p:cNvPr id="240" name="Oval 61"/>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241" name="Group 62"/>
              <p:cNvGrpSpPr>
                <a:grpSpLocks/>
              </p:cNvGrpSpPr>
              <p:nvPr/>
            </p:nvGrpSpPr>
            <p:grpSpPr bwMode="auto">
              <a:xfrm>
                <a:off x="2052" y="3148"/>
                <a:ext cx="48" cy="48"/>
                <a:chOff x="2052" y="2911"/>
                <a:chExt cx="48" cy="48"/>
              </a:xfrm>
            </p:grpSpPr>
            <p:sp>
              <p:nvSpPr>
                <p:cNvPr id="242" name="Line 63"/>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 name="Line 64"/>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44" name="Group 65"/>
            <p:cNvGrpSpPr>
              <a:grpSpLocks/>
            </p:cNvGrpSpPr>
            <p:nvPr/>
          </p:nvGrpSpPr>
          <p:grpSpPr bwMode="auto">
            <a:xfrm rot="20334323">
              <a:off x="8176396" y="3959555"/>
              <a:ext cx="123808" cy="123808"/>
              <a:chOff x="2031" y="3123"/>
              <a:chExt cx="90" cy="90"/>
            </a:xfrm>
          </p:grpSpPr>
          <p:sp>
            <p:nvSpPr>
              <p:cNvPr id="245" name="Oval 66"/>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246" name="Group 67"/>
              <p:cNvGrpSpPr>
                <a:grpSpLocks/>
              </p:cNvGrpSpPr>
              <p:nvPr/>
            </p:nvGrpSpPr>
            <p:grpSpPr bwMode="auto">
              <a:xfrm>
                <a:off x="2052" y="3148"/>
                <a:ext cx="48" cy="48"/>
                <a:chOff x="2052" y="2911"/>
                <a:chExt cx="48" cy="48"/>
              </a:xfrm>
            </p:grpSpPr>
            <p:sp>
              <p:nvSpPr>
                <p:cNvPr id="247" name="Line 68"/>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 name="Line 69"/>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49" name="Text Box 93"/>
            <p:cNvSpPr txBox="1">
              <a:spLocks noChangeArrowheads="1"/>
            </p:cNvSpPr>
            <p:nvPr/>
          </p:nvSpPr>
          <p:spPr bwMode="auto">
            <a:xfrm>
              <a:off x="5573673" y="3443688"/>
              <a:ext cx="1125279" cy="34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9233" tIns="39616" rIns="79233" bIns="39616">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700" b="1" dirty="0">
                  <a:ea typeface="幼圆" pitchFamily="49" charset="-122"/>
                </a:rPr>
                <a:t>黏土颗粒</a:t>
              </a:r>
              <a:endParaRPr lang="en-US" altLang="zh-CN" sz="1700" b="1" dirty="0">
                <a:ea typeface="幼圆" pitchFamily="49" charset="-122"/>
              </a:endParaRPr>
            </a:p>
          </p:txBody>
        </p:sp>
        <p:sp>
          <p:nvSpPr>
            <p:cNvPr id="250" name="Text Box 94"/>
            <p:cNvSpPr txBox="1">
              <a:spLocks noChangeArrowheads="1"/>
            </p:cNvSpPr>
            <p:nvPr/>
          </p:nvSpPr>
          <p:spPr bwMode="auto">
            <a:xfrm>
              <a:off x="8067720" y="4128760"/>
              <a:ext cx="850150" cy="34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9233" tIns="39616" rIns="79233" bIns="39616">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700" b="1" dirty="0">
                  <a:ea typeface="幼圆" pitchFamily="49" charset="-122"/>
                </a:rPr>
                <a:t>水分子</a:t>
              </a:r>
            </a:p>
          </p:txBody>
        </p:sp>
        <p:sp>
          <p:nvSpPr>
            <p:cNvPr id="251" name="Text Box 95"/>
            <p:cNvSpPr txBox="1">
              <a:spLocks noChangeArrowheads="1"/>
            </p:cNvSpPr>
            <p:nvPr/>
          </p:nvSpPr>
          <p:spPr bwMode="auto">
            <a:xfrm>
              <a:off x="7357886" y="4615739"/>
              <a:ext cx="863906" cy="34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9233" tIns="39616" rIns="79233" bIns="39616">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700" b="1">
                  <a:ea typeface="幼圆" pitchFamily="49" charset="-122"/>
                </a:rPr>
                <a:t>阳离子</a:t>
              </a:r>
            </a:p>
          </p:txBody>
        </p:sp>
        <p:sp>
          <p:nvSpPr>
            <p:cNvPr id="252" name="Line 123"/>
            <p:cNvSpPr>
              <a:spLocks noChangeShapeType="1"/>
            </p:cNvSpPr>
            <p:nvPr/>
          </p:nvSpPr>
          <p:spPr bwMode="auto">
            <a:xfrm>
              <a:off x="7351008" y="4460290"/>
              <a:ext cx="185713" cy="211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253" name="Line 124"/>
            <p:cNvSpPr>
              <a:spLocks noChangeShapeType="1"/>
            </p:cNvSpPr>
            <p:nvPr/>
          </p:nvSpPr>
          <p:spPr bwMode="auto">
            <a:xfrm>
              <a:off x="7774707" y="4328228"/>
              <a:ext cx="368673" cy="26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sp>
          <p:nvSpPr>
            <p:cNvPr id="254" name="Line 125"/>
            <p:cNvSpPr>
              <a:spLocks noChangeShapeType="1"/>
            </p:cNvSpPr>
            <p:nvPr/>
          </p:nvSpPr>
          <p:spPr bwMode="auto">
            <a:xfrm>
              <a:off x="6123931" y="3799979"/>
              <a:ext cx="316399" cy="5681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9233" tIns="39616" rIns="79233" bIns="39616"/>
            <a:lstStyle/>
            <a:p>
              <a:endParaRPr lang="zh-CN" altLang="en-US"/>
            </a:p>
          </p:txBody>
        </p:sp>
      </p:grpSp>
      <p:sp>
        <p:nvSpPr>
          <p:cNvPr id="255" name="Text Box 192"/>
          <p:cNvSpPr txBox="1">
            <a:spLocks noChangeArrowheads="1"/>
          </p:cNvSpPr>
          <p:nvPr/>
        </p:nvSpPr>
        <p:spPr bwMode="auto">
          <a:xfrm>
            <a:off x="680843" y="3189058"/>
            <a:ext cx="4098196"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47675" indent="-4476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6700" indent="-266700" eaLnBrk="1" hangingPunct="1">
              <a:spcBef>
                <a:spcPct val="0"/>
              </a:spcBef>
              <a:spcAft>
                <a:spcPct val="0"/>
              </a:spcAft>
              <a:buClr>
                <a:srgbClr val="C00000"/>
              </a:buClr>
              <a:buSzPct val="140000"/>
              <a:buFont typeface="Arial" panose="020B0604020202020204" pitchFamily="34" charset="0"/>
              <a:buChar char="•"/>
              <a:tabLst>
                <a:tab pos="361950" algn="l"/>
              </a:tabLst>
            </a:pPr>
            <a:r>
              <a:rPr kumimoji="1" lang="zh-CN" altLang="en-US" sz="2000" b="1" dirty="0" smtClean="0">
                <a:solidFill>
                  <a:srgbClr val="000066"/>
                </a:solidFill>
                <a:ea typeface="幼圆" pitchFamily="49" charset="-122"/>
              </a:rPr>
              <a:t>黏土颗粒表面带负电，形成电场。水中阳离子被吸引，极性水分子发生定向排列</a:t>
            </a:r>
            <a:endParaRPr kumimoji="1" lang="en-US" altLang="zh-CN" sz="2000" b="1" dirty="0" smtClean="0">
              <a:solidFill>
                <a:srgbClr val="000066"/>
              </a:solidFill>
              <a:ea typeface="幼圆" pitchFamily="49" charset="-122"/>
            </a:endParaRPr>
          </a:p>
          <a:p>
            <a:pPr marL="266700" indent="-266700" eaLnBrk="1" hangingPunct="1">
              <a:spcBef>
                <a:spcPct val="0"/>
              </a:spcBef>
              <a:spcAft>
                <a:spcPct val="0"/>
              </a:spcAft>
              <a:buClr>
                <a:srgbClr val="C00000"/>
              </a:buClr>
              <a:buSzPct val="140000"/>
              <a:buFont typeface="Arial" panose="020B0604020202020204" pitchFamily="34" charset="0"/>
              <a:buChar char="•"/>
              <a:tabLst>
                <a:tab pos="361950" algn="l"/>
              </a:tabLst>
            </a:pPr>
            <a:r>
              <a:rPr kumimoji="1" lang="zh-CN" altLang="en-US" sz="2000" b="1" dirty="0">
                <a:solidFill>
                  <a:srgbClr val="000066"/>
                </a:solidFill>
                <a:ea typeface="幼圆" pitchFamily="49" charset="-122"/>
              </a:rPr>
              <a:t>颗粒</a:t>
            </a:r>
            <a:r>
              <a:rPr kumimoji="1" lang="zh-CN" altLang="en-US" sz="2000" b="1" dirty="0" smtClean="0">
                <a:solidFill>
                  <a:srgbClr val="000066"/>
                </a:solidFill>
                <a:ea typeface="幼圆" pitchFamily="49" charset="-122"/>
              </a:rPr>
              <a:t>表面的负电荷构成电场的内层，吸引的阳离子和定向排列的水分子构成外层，称为</a:t>
            </a:r>
            <a:r>
              <a:rPr kumimoji="1" lang="zh-CN" altLang="en-US" sz="2000" b="1" dirty="0" smtClean="0">
                <a:solidFill>
                  <a:srgbClr val="C00000"/>
                </a:solidFill>
                <a:ea typeface="幼圆" pitchFamily="49" charset="-122"/>
              </a:rPr>
              <a:t>双电层</a:t>
            </a:r>
            <a:endParaRPr kumimoji="1" lang="en-US" altLang="zh-CN" sz="2000" b="1" dirty="0">
              <a:solidFill>
                <a:srgbClr val="C00000"/>
              </a:solidFill>
              <a:ea typeface="幼圆" pitchFamily="49" charset="-122"/>
            </a:endParaRPr>
          </a:p>
        </p:txBody>
      </p:sp>
    </p:spTree>
    <p:extLst>
      <p:ext uri="{BB962C8B-B14F-4D97-AF65-F5344CB8AC3E}">
        <p14:creationId xmlns:p14="http://schemas.microsoft.com/office/powerpoint/2010/main" val="33106287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
                                        </p:tgtEl>
                                        <p:attrNameLst>
                                          <p:attrName>style.visibility</p:attrName>
                                        </p:attrNameLst>
                                      </p:cBhvr>
                                      <p:to>
                                        <p:strVal val="visible"/>
                                      </p:to>
                                    </p:set>
                                    <p:animEffect transition="in" filter="wipe(left)">
                                      <p:cBhvr>
                                        <p:cTn id="7" dur="500"/>
                                        <p:tgtEl>
                                          <p:spTgt spid="18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55"/>
                                        </p:tgtEl>
                                        <p:attrNameLst>
                                          <p:attrName>style.visibility</p:attrName>
                                        </p:attrNameLst>
                                      </p:cBhvr>
                                      <p:to>
                                        <p:strVal val="visible"/>
                                      </p:to>
                                    </p:set>
                                    <p:animEffect transition="in" filter="wipe(up)">
                                      <p:cBhvr>
                                        <p:cTn id="11" dur="500"/>
                                        <p:tgtEl>
                                          <p:spTgt spid="255"/>
                                        </p:tgtEl>
                                      </p:cBhvr>
                                    </p:animEffect>
                                  </p:childTnLst>
                                </p:cTn>
                              </p:par>
                            </p:childTnLst>
                          </p:cTn>
                        </p:par>
                        <p:par>
                          <p:cTn id="12" fill="hold">
                            <p:stCondLst>
                              <p:cond delay="1000"/>
                            </p:stCondLst>
                            <p:childTnLst>
                              <p:par>
                                <p:cTn id="13" presetID="31"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1000" fill="hold"/>
                                        <p:tgtEl>
                                          <p:spTgt spid="2"/>
                                        </p:tgtEl>
                                        <p:attrNameLst>
                                          <p:attrName>ppt_w</p:attrName>
                                        </p:attrNameLst>
                                      </p:cBhvr>
                                      <p:tavLst>
                                        <p:tav tm="0">
                                          <p:val>
                                            <p:fltVal val="0"/>
                                          </p:val>
                                        </p:tav>
                                        <p:tav tm="100000">
                                          <p:val>
                                            <p:strVal val="#ppt_w"/>
                                          </p:val>
                                        </p:tav>
                                      </p:tavLst>
                                    </p:anim>
                                    <p:anim calcmode="lin" valueType="num">
                                      <p:cBhvr>
                                        <p:cTn id="16" dur="1000" fill="hold"/>
                                        <p:tgtEl>
                                          <p:spTgt spid="2"/>
                                        </p:tgtEl>
                                        <p:attrNameLst>
                                          <p:attrName>ppt_h</p:attrName>
                                        </p:attrNameLst>
                                      </p:cBhvr>
                                      <p:tavLst>
                                        <p:tav tm="0">
                                          <p:val>
                                            <p:fltVal val="0"/>
                                          </p:val>
                                        </p:tav>
                                        <p:tav tm="100000">
                                          <p:val>
                                            <p:strVal val="#ppt_h"/>
                                          </p:val>
                                        </p:tav>
                                      </p:tavLst>
                                    </p:anim>
                                    <p:anim calcmode="lin" valueType="num">
                                      <p:cBhvr>
                                        <p:cTn id="17" dur="1000" fill="hold"/>
                                        <p:tgtEl>
                                          <p:spTgt spid="2"/>
                                        </p:tgtEl>
                                        <p:attrNameLst>
                                          <p:attrName>style.rotation</p:attrName>
                                        </p:attrNameLst>
                                      </p:cBhvr>
                                      <p:tavLst>
                                        <p:tav tm="0">
                                          <p:val>
                                            <p:fltVal val="90"/>
                                          </p:val>
                                        </p:tav>
                                        <p:tav tm="100000">
                                          <p:val>
                                            <p:fltVal val="0"/>
                                          </p:val>
                                        </p:tav>
                                      </p:tavLst>
                                    </p:anim>
                                    <p:animEffect transition="in" filter="fade">
                                      <p:cBhvr>
                                        <p:cTn id="18"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 grpId="0"/>
      <p:bldP spid="25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Oval 6"/>
          <p:cNvSpPr>
            <a:spLocks noChangeArrowheads="1"/>
          </p:cNvSpPr>
          <p:nvPr/>
        </p:nvSpPr>
        <p:spPr bwMode="auto">
          <a:xfrm>
            <a:off x="1256583" y="1046121"/>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1" name="Oval 7"/>
          <p:cNvSpPr>
            <a:spLocks noChangeArrowheads="1"/>
          </p:cNvSpPr>
          <p:nvPr/>
        </p:nvSpPr>
        <p:spPr bwMode="auto">
          <a:xfrm>
            <a:off x="1640758" y="1119146"/>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2" name="Oval 8"/>
          <p:cNvSpPr>
            <a:spLocks noChangeArrowheads="1"/>
          </p:cNvSpPr>
          <p:nvPr/>
        </p:nvSpPr>
        <p:spPr bwMode="auto">
          <a:xfrm>
            <a:off x="1653458" y="1436646"/>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3" name="Oval 9"/>
          <p:cNvSpPr>
            <a:spLocks noChangeArrowheads="1"/>
          </p:cNvSpPr>
          <p:nvPr/>
        </p:nvSpPr>
        <p:spPr bwMode="auto">
          <a:xfrm>
            <a:off x="1658220" y="1770021"/>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4" name="Oval 10"/>
          <p:cNvSpPr>
            <a:spLocks noChangeArrowheads="1"/>
          </p:cNvSpPr>
          <p:nvPr/>
        </p:nvSpPr>
        <p:spPr bwMode="auto">
          <a:xfrm>
            <a:off x="1650283" y="2039896"/>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5" name="Oval 11"/>
          <p:cNvSpPr>
            <a:spLocks noChangeArrowheads="1"/>
          </p:cNvSpPr>
          <p:nvPr/>
        </p:nvSpPr>
        <p:spPr bwMode="auto">
          <a:xfrm>
            <a:off x="1256583" y="1262021"/>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6" name="Oval 12"/>
          <p:cNvSpPr>
            <a:spLocks noChangeArrowheads="1"/>
          </p:cNvSpPr>
          <p:nvPr/>
        </p:nvSpPr>
        <p:spPr bwMode="auto">
          <a:xfrm>
            <a:off x="1256583" y="1498558"/>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7" name="Oval 13"/>
          <p:cNvSpPr>
            <a:spLocks noChangeArrowheads="1"/>
          </p:cNvSpPr>
          <p:nvPr/>
        </p:nvSpPr>
        <p:spPr bwMode="auto">
          <a:xfrm>
            <a:off x="1243883" y="1733508"/>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8" name="Oval 14"/>
          <p:cNvSpPr>
            <a:spLocks noChangeArrowheads="1"/>
          </p:cNvSpPr>
          <p:nvPr/>
        </p:nvSpPr>
        <p:spPr bwMode="auto">
          <a:xfrm>
            <a:off x="3008417" y="1643021"/>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9" name="Oval 15"/>
          <p:cNvSpPr>
            <a:spLocks noChangeArrowheads="1"/>
          </p:cNvSpPr>
          <p:nvPr/>
        </p:nvSpPr>
        <p:spPr bwMode="auto">
          <a:xfrm>
            <a:off x="1247058" y="2212933"/>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0" name="Oval 16"/>
          <p:cNvSpPr>
            <a:spLocks noChangeArrowheads="1"/>
          </p:cNvSpPr>
          <p:nvPr/>
        </p:nvSpPr>
        <p:spPr bwMode="auto">
          <a:xfrm>
            <a:off x="1262933" y="2447883"/>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1" name="Oval 17"/>
          <p:cNvSpPr>
            <a:spLocks noChangeArrowheads="1"/>
          </p:cNvSpPr>
          <p:nvPr/>
        </p:nvSpPr>
        <p:spPr bwMode="auto">
          <a:xfrm>
            <a:off x="1247058" y="2889208"/>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2" name="Oval 18"/>
          <p:cNvSpPr>
            <a:spLocks noChangeArrowheads="1"/>
          </p:cNvSpPr>
          <p:nvPr/>
        </p:nvSpPr>
        <p:spPr bwMode="auto">
          <a:xfrm>
            <a:off x="1243883" y="3124158"/>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3" name="Oval 19"/>
          <p:cNvSpPr>
            <a:spLocks noChangeArrowheads="1"/>
          </p:cNvSpPr>
          <p:nvPr/>
        </p:nvSpPr>
        <p:spPr bwMode="auto">
          <a:xfrm>
            <a:off x="1653458" y="2319296"/>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4" name="Oval 20"/>
          <p:cNvSpPr>
            <a:spLocks noChangeArrowheads="1"/>
          </p:cNvSpPr>
          <p:nvPr/>
        </p:nvSpPr>
        <p:spPr bwMode="auto">
          <a:xfrm>
            <a:off x="1666158" y="2636796"/>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5" name="Oval 21"/>
          <p:cNvSpPr>
            <a:spLocks noChangeArrowheads="1"/>
          </p:cNvSpPr>
          <p:nvPr/>
        </p:nvSpPr>
        <p:spPr bwMode="auto">
          <a:xfrm>
            <a:off x="1664570" y="2901908"/>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6" name="Oval 22"/>
          <p:cNvSpPr>
            <a:spLocks noChangeArrowheads="1"/>
          </p:cNvSpPr>
          <p:nvPr/>
        </p:nvSpPr>
        <p:spPr bwMode="auto">
          <a:xfrm rot="20395237">
            <a:off x="2113833" y="1171533"/>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8" name="Oval 24"/>
          <p:cNvSpPr>
            <a:spLocks noChangeArrowheads="1"/>
          </p:cNvSpPr>
          <p:nvPr/>
        </p:nvSpPr>
        <p:spPr bwMode="auto">
          <a:xfrm rot="20278472">
            <a:off x="2131295" y="1822408"/>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9" name="Oval 25"/>
          <p:cNvSpPr>
            <a:spLocks noChangeArrowheads="1"/>
          </p:cNvSpPr>
          <p:nvPr/>
        </p:nvSpPr>
        <p:spPr bwMode="auto">
          <a:xfrm rot="953518">
            <a:off x="2123358" y="2092283"/>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1" name="Oval 27"/>
          <p:cNvSpPr>
            <a:spLocks noChangeArrowheads="1"/>
          </p:cNvSpPr>
          <p:nvPr/>
        </p:nvSpPr>
        <p:spPr bwMode="auto">
          <a:xfrm rot="18091190">
            <a:off x="2119389" y="2720139"/>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2" name="Oval 28"/>
          <p:cNvSpPr>
            <a:spLocks noChangeArrowheads="1"/>
          </p:cNvSpPr>
          <p:nvPr/>
        </p:nvSpPr>
        <p:spPr bwMode="auto">
          <a:xfrm rot="1256111">
            <a:off x="2143995" y="3022558"/>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3" name="Oval 29"/>
          <p:cNvSpPr>
            <a:spLocks noChangeArrowheads="1"/>
          </p:cNvSpPr>
          <p:nvPr/>
        </p:nvSpPr>
        <p:spPr bwMode="auto">
          <a:xfrm rot="1204763" flipH="1">
            <a:off x="2766295" y="1142958"/>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4" name="Oval 30"/>
          <p:cNvSpPr>
            <a:spLocks noChangeArrowheads="1"/>
          </p:cNvSpPr>
          <p:nvPr/>
        </p:nvSpPr>
        <p:spPr bwMode="auto">
          <a:xfrm rot="15617702" flipH="1">
            <a:off x="2608339" y="1450139"/>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5" name="Oval 31"/>
          <p:cNvSpPr>
            <a:spLocks noChangeArrowheads="1"/>
          </p:cNvSpPr>
          <p:nvPr/>
        </p:nvSpPr>
        <p:spPr bwMode="auto">
          <a:xfrm rot="3133596">
            <a:off x="2580586" y="1823202"/>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6" name="Oval 32"/>
          <p:cNvSpPr>
            <a:spLocks noChangeArrowheads="1"/>
          </p:cNvSpPr>
          <p:nvPr/>
        </p:nvSpPr>
        <p:spPr bwMode="auto">
          <a:xfrm rot="10255815">
            <a:off x="2917929" y="2003383"/>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7" name="Oval 33"/>
          <p:cNvSpPr>
            <a:spLocks noChangeArrowheads="1"/>
          </p:cNvSpPr>
          <p:nvPr/>
        </p:nvSpPr>
        <p:spPr bwMode="auto">
          <a:xfrm rot="5772974" flipH="1">
            <a:off x="2582211" y="2321677"/>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8" name="Oval 34"/>
          <p:cNvSpPr>
            <a:spLocks noChangeArrowheads="1"/>
          </p:cNvSpPr>
          <p:nvPr/>
        </p:nvSpPr>
        <p:spPr bwMode="auto">
          <a:xfrm rot="3508810" flipH="1">
            <a:off x="2802014" y="2640764"/>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9" name="Oval 35"/>
          <p:cNvSpPr>
            <a:spLocks noChangeArrowheads="1"/>
          </p:cNvSpPr>
          <p:nvPr/>
        </p:nvSpPr>
        <p:spPr bwMode="auto">
          <a:xfrm rot="1256111">
            <a:off x="2632945" y="2932071"/>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grpSp>
        <p:nvGrpSpPr>
          <p:cNvPr id="55331" name="Group 37"/>
          <p:cNvGrpSpPr>
            <a:grpSpLocks/>
          </p:cNvGrpSpPr>
          <p:nvPr/>
        </p:nvGrpSpPr>
        <p:grpSpPr bwMode="auto">
          <a:xfrm rot="20334323">
            <a:off x="1539158" y="1614446"/>
            <a:ext cx="142875" cy="142875"/>
            <a:chOff x="2031" y="3123"/>
            <a:chExt cx="90" cy="90"/>
          </a:xfrm>
        </p:grpSpPr>
        <p:sp>
          <p:nvSpPr>
            <p:cNvPr id="55483" name="Oval 38"/>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84" name="Group 39"/>
            <p:cNvGrpSpPr>
              <a:grpSpLocks/>
            </p:cNvGrpSpPr>
            <p:nvPr/>
          </p:nvGrpSpPr>
          <p:grpSpPr bwMode="auto">
            <a:xfrm>
              <a:off x="2052" y="3148"/>
              <a:ext cx="48" cy="48"/>
              <a:chOff x="2052" y="2911"/>
              <a:chExt cx="48" cy="48"/>
            </a:xfrm>
          </p:grpSpPr>
          <p:sp>
            <p:nvSpPr>
              <p:cNvPr id="55485" name="Line 40"/>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86" name="Line 41"/>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5332" name="Line 42"/>
          <p:cNvSpPr>
            <a:spLocks noChangeShapeType="1"/>
          </p:cNvSpPr>
          <p:nvPr/>
        </p:nvSpPr>
        <p:spPr bwMode="auto">
          <a:xfrm>
            <a:off x="1426445" y="11318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3" name="Line 43"/>
          <p:cNvSpPr>
            <a:spLocks noChangeShapeType="1"/>
          </p:cNvSpPr>
          <p:nvPr/>
        </p:nvSpPr>
        <p:spPr bwMode="auto">
          <a:xfrm>
            <a:off x="1310558" y="11318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4" name="Line 44"/>
          <p:cNvSpPr>
            <a:spLocks noChangeShapeType="1"/>
          </p:cNvSpPr>
          <p:nvPr/>
        </p:nvSpPr>
        <p:spPr bwMode="auto">
          <a:xfrm rot="5400000">
            <a:off x="1312145" y="11334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5" name="Text Box 45"/>
          <p:cNvSpPr txBox="1">
            <a:spLocks noChangeArrowheads="1"/>
          </p:cNvSpPr>
          <p:nvPr/>
        </p:nvSpPr>
        <p:spPr bwMode="auto">
          <a:xfrm>
            <a:off x="299320" y="695283"/>
            <a:ext cx="714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smtClean="0"/>
              <a:t>黏土</a:t>
            </a:r>
            <a:endParaRPr lang="zh-CN" altLang="en-US" sz="1800" b="1" dirty="0"/>
          </a:p>
          <a:p>
            <a:pPr eaLnBrk="1" hangingPunct="1">
              <a:lnSpc>
                <a:spcPct val="100000"/>
              </a:lnSpc>
              <a:spcBef>
                <a:spcPct val="0"/>
              </a:spcBef>
              <a:spcAft>
                <a:spcPct val="0"/>
              </a:spcAft>
            </a:pPr>
            <a:r>
              <a:rPr lang="zh-CN" altLang="en-US" sz="1800" b="1" dirty="0"/>
              <a:t>颗粒</a:t>
            </a:r>
            <a:endParaRPr lang="en-US" altLang="zh-CN" sz="1800" b="1" dirty="0"/>
          </a:p>
        </p:txBody>
      </p:sp>
      <p:sp>
        <p:nvSpPr>
          <p:cNvPr id="55336" name="Line 46"/>
          <p:cNvSpPr>
            <a:spLocks noChangeShapeType="1"/>
          </p:cNvSpPr>
          <p:nvPr/>
        </p:nvSpPr>
        <p:spPr bwMode="auto">
          <a:xfrm>
            <a:off x="1810620" y="12048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7" name="Line 47"/>
          <p:cNvSpPr>
            <a:spLocks noChangeShapeType="1"/>
          </p:cNvSpPr>
          <p:nvPr/>
        </p:nvSpPr>
        <p:spPr bwMode="auto">
          <a:xfrm>
            <a:off x="1694733" y="12048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8" name="Line 48"/>
          <p:cNvSpPr>
            <a:spLocks noChangeShapeType="1"/>
          </p:cNvSpPr>
          <p:nvPr/>
        </p:nvSpPr>
        <p:spPr bwMode="auto">
          <a:xfrm rot="5400000">
            <a:off x="1696320" y="12064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9" name="Line 49"/>
          <p:cNvSpPr>
            <a:spLocks noChangeShapeType="1"/>
          </p:cNvSpPr>
          <p:nvPr/>
        </p:nvSpPr>
        <p:spPr bwMode="auto">
          <a:xfrm>
            <a:off x="1823320" y="15223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0" name="Line 50"/>
          <p:cNvSpPr>
            <a:spLocks noChangeShapeType="1"/>
          </p:cNvSpPr>
          <p:nvPr/>
        </p:nvSpPr>
        <p:spPr bwMode="auto">
          <a:xfrm>
            <a:off x="1707433" y="15223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1" name="Line 51"/>
          <p:cNvSpPr>
            <a:spLocks noChangeShapeType="1"/>
          </p:cNvSpPr>
          <p:nvPr/>
        </p:nvSpPr>
        <p:spPr bwMode="auto">
          <a:xfrm rot="5400000">
            <a:off x="1709020" y="15239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2" name="Line 52"/>
          <p:cNvSpPr>
            <a:spLocks noChangeShapeType="1"/>
          </p:cNvSpPr>
          <p:nvPr/>
        </p:nvSpPr>
        <p:spPr bwMode="auto">
          <a:xfrm>
            <a:off x="1828083" y="1855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3" name="Line 53"/>
          <p:cNvSpPr>
            <a:spLocks noChangeShapeType="1"/>
          </p:cNvSpPr>
          <p:nvPr/>
        </p:nvSpPr>
        <p:spPr bwMode="auto">
          <a:xfrm>
            <a:off x="1712195" y="1855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4" name="Line 54"/>
          <p:cNvSpPr>
            <a:spLocks noChangeShapeType="1"/>
          </p:cNvSpPr>
          <p:nvPr/>
        </p:nvSpPr>
        <p:spPr bwMode="auto">
          <a:xfrm rot="5400000">
            <a:off x="1713783" y="18573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5" name="Line 55"/>
          <p:cNvSpPr>
            <a:spLocks noChangeShapeType="1"/>
          </p:cNvSpPr>
          <p:nvPr/>
        </p:nvSpPr>
        <p:spPr bwMode="auto">
          <a:xfrm>
            <a:off x="1820145" y="21256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6" name="Line 56"/>
          <p:cNvSpPr>
            <a:spLocks noChangeShapeType="1"/>
          </p:cNvSpPr>
          <p:nvPr/>
        </p:nvSpPr>
        <p:spPr bwMode="auto">
          <a:xfrm>
            <a:off x="1704258" y="21256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7" name="Line 57"/>
          <p:cNvSpPr>
            <a:spLocks noChangeShapeType="1"/>
          </p:cNvSpPr>
          <p:nvPr/>
        </p:nvSpPr>
        <p:spPr bwMode="auto">
          <a:xfrm rot="5400000">
            <a:off x="1705845" y="21272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8" name="Line 58"/>
          <p:cNvSpPr>
            <a:spLocks noChangeShapeType="1"/>
          </p:cNvSpPr>
          <p:nvPr/>
        </p:nvSpPr>
        <p:spPr bwMode="auto">
          <a:xfrm>
            <a:off x="1426445" y="1347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9" name="Line 59"/>
          <p:cNvSpPr>
            <a:spLocks noChangeShapeType="1"/>
          </p:cNvSpPr>
          <p:nvPr/>
        </p:nvSpPr>
        <p:spPr bwMode="auto">
          <a:xfrm>
            <a:off x="1310558" y="1347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0" name="Line 60"/>
          <p:cNvSpPr>
            <a:spLocks noChangeShapeType="1"/>
          </p:cNvSpPr>
          <p:nvPr/>
        </p:nvSpPr>
        <p:spPr bwMode="auto">
          <a:xfrm rot="5400000">
            <a:off x="1312145" y="13493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1" name="Line 61"/>
          <p:cNvSpPr>
            <a:spLocks noChangeShapeType="1"/>
          </p:cNvSpPr>
          <p:nvPr/>
        </p:nvSpPr>
        <p:spPr bwMode="auto">
          <a:xfrm>
            <a:off x="1426445" y="15842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2" name="Line 62"/>
          <p:cNvSpPr>
            <a:spLocks noChangeShapeType="1"/>
          </p:cNvSpPr>
          <p:nvPr/>
        </p:nvSpPr>
        <p:spPr bwMode="auto">
          <a:xfrm>
            <a:off x="1310558" y="15842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3" name="Line 63"/>
          <p:cNvSpPr>
            <a:spLocks noChangeShapeType="1"/>
          </p:cNvSpPr>
          <p:nvPr/>
        </p:nvSpPr>
        <p:spPr bwMode="auto">
          <a:xfrm rot="5400000">
            <a:off x="1312145" y="15858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4" name="Line 64"/>
          <p:cNvSpPr>
            <a:spLocks noChangeShapeType="1"/>
          </p:cNvSpPr>
          <p:nvPr/>
        </p:nvSpPr>
        <p:spPr bwMode="auto">
          <a:xfrm>
            <a:off x="1413745" y="18192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5" name="Line 65"/>
          <p:cNvSpPr>
            <a:spLocks noChangeShapeType="1"/>
          </p:cNvSpPr>
          <p:nvPr/>
        </p:nvSpPr>
        <p:spPr bwMode="auto">
          <a:xfrm>
            <a:off x="1297858" y="18192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6" name="Line 66"/>
          <p:cNvSpPr>
            <a:spLocks noChangeShapeType="1"/>
          </p:cNvSpPr>
          <p:nvPr/>
        </p:nvSpPr>
        <p:spPr bwMode="auto">
          <a:xfrm rot="5400000">
            <a:off x="1299445" y="18208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7" name="Line 67"/>
          <p:cNvSpPr>
            <a:spLocks noChangeShapeType="1"/>
          </p:cNvSpPr>
          <p:nvPr/>
        </p:nvSpPr>
        <p:spPr bwMode="auto">
          <a:xfrm>
            <a:off x="3178279" y="1728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8" name="Line 68"/>
          <p:cNvSpPr>
            <a:spLocks noChangeShapeType="1"/>
          </p:cNvSpPr>
          <p:nvPr/>
        </p:nvSpPr>
        <p:spPr bwMode="auto">
          <a:xfrm>
            <a:off x="3062392" y="1728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9" name="Line 69"/>
          <p:cNvSpPr>
            <a:spLocks noChangeShapeType="1"/>
          </p:cNvSpPr>
          <p:nvPr/>
        </p:nvSpPr>
        <p:spPr bwMode="auto">
          <a:xfrm rot="5400000">
            <a:off x="3063979" y="17303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0" name="Line 70"/>
          <p:cNvSpPr>
            <a:spLocks noChangeShapeType="1"/>
          </p:cNvSpPr>
          <p:nvPr/>
        </p:nvSpPr>
        <p:spPr bwMode="auto">
          <a:xfrm>
            <a:off x="1416920" y="22986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1" name="Line 71"/>
          <p:cNvSpPr>
            <a:spLocks noChangeShapeType="1"/>
          </p:cNvSpPr>
          <p:nvPr/>
        </p:nvSpPr>
        <p:spPr bwMode="auto">
          <a:xfrm>
            <a:off x="1301033" y="22986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2" name="Line 72"/>
          <p:cNvSpPr>
            <a:spLocks noChangeShapeType="1"/>
          </p:cNvSpPr>
          <p:nvPr/>
        </p:nvSpPr>
        <p:spPr bwMode="auto">
          <a:xfrm rot="5400000">
            <a:off x="1302620" y="23002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3" name="Line 73"/>
          <p:cNvSpPr>
            <a:spLocks noChangeShapeType="1"/>
          </p:cNvSpPr>
          <p:nvPr/>
        </p:nvSpPr>
        <p:spPr bwMode="auto">
          <a:xfrm>
            <a:off x="1432795" y="25336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4" name="Line 74"/>
          <p:cNvSpPr>
            <a:spLocks noChangeShapeType="1"/>
          </p:cNvSpPr>
          <p:nvPr/>
        </p:nvSpPr>
        <p:spPr bwMode="auto">
          <a:xfrm>
            <a:off x="1316908" y="25336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5" name="Line 75"/>
          <p:cNvSpPr>
            <a:spLocks noChangeShapeType="1"/>
          </p:cNvSpPr>
          <p:nvPr/>
        </p:nvSpPr>
        <p:spPr bwMode="auto">
          <a:xfrm rot="5400000">
            <a:off x="1318495" y="253519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5366" name="Group 76"/>
          <p:cNvGrpSpPr>
            <a:grpSpLocks/>
          </p:cNvGrpSpPr>
          <p:nvPr/>
        </p:nvGrpSpPr>
        <p:grpSpPr bwMode="auto">
          <a:xfrm>
            <a:off x="1675683" y="3167021"/>
            <a:ext cx="287337" cy="174625"/>
            <a:chOff x="4085" y="1836"/>
            <a:chExt cx="181" cy="110"/>
          </a:xfrm>
        </p:grpSpPr>
        <p:sp>
          <p:nvSpPr>
            <p:cNvPr id="55479" name="Oval 77"/>
            <p:cNvSpPr>
              <a:spLocks noChangeArrowheads="1"/>
            </p:cNvSpPr>
            <p:nvPr/>
          </p:nvSpPr>
          <p:spPr bwMode="auto">
            <a:xfrm>
              <a:off x="4085" y="1836"/>
              <a:ext cx="181" cy="110"/>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480" name="Line 78"/>
            <p:cNvSpPr>
              <a:spLocks noChangeShapeType="1"/>
            </p:cNvSpPr>
            <p:nvPr/>
          </p:nvSpPr>
          <p:spPr bwMode="auto">
            <a:xfrm>
              <a:off x="4192" y="1890"/>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81" name="Line 79"/>
            <p:cNvSpPr>
              <a:spLocks noChangeShapeType="1"/>
            </p:cNvSpPr>
            <p:nvPr/>
          </p:nvSpPr>
          <p:spPr bwMode="auto">
            <a:xfrm>
              <a:off x="4119" y="1890"/>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82" name="Line 80"/>
            <p:cNvSpPr>
              <a:spLocks noChangeShapeType="1"/>
            </p:cNvSpPr>
            <p:nvPr/>
          </p:nvSpPr>
          <p:spPr bwMode="auto">
            <a:xfrm rot="5400000">
              <a:off x="4120" y="1891"/>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67" name="Line 81"/>
          <p:cNvSpPr>
            <a:spLocks noChangeShapeType="1"/>
          </p:cNvSpPr>
          <p:nvPr/>
        </p:nvSpPr>
        <p:spPr bwMode="auto">
          <a:xfrm>
            <a:off x="1416920" y="29749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8" name="Line 82"/>
          <p:cNvSpPr>
            <a:spLocks noChangeShapeType="1"/>
          </p:cNvSpPr>
          <p:nvPr/>
        </p:nvSpPr>
        <p:spPr bwMode="auto">
          <a:xfrm>
            <a:off x="1301033" y="29749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9" name="Line 83"/>
          <p:cNvSpPr>
            <a:spLocks noChangeShapeType="1"/>
          </p:cNvSpPr>
          <p:nvPr/>
        </p:nvSpPr>
        <p:spPr bwMode="auto">
          <a:xfrm rot="5400000">
            <a:off x="1302620" y="29765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0" name="Line 84"/>
          <p:cNvSpPr>
            <a:spLocks noChangeShapeType="1"/>
          </p:cNvSpPr>
          <p:nvPr/>
        </p:nvSpPr>
        <p:spPr bwMode="auto">
          <a:xfrm>
            <a:off x="1413745" y="32098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1" name="Line 85"/>
          <p:cNvSpPr>
            <a:spLocks noChangeShapeType="1"/>
          </p:cNvSpPr>
          <p:nvPr/>
        </p:nvSpPr>
        <p:spPr bwMode="auto">
          <a:xfrm>
            <a:off x="1297858" y="32098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2" name="Line 86"/>
          <p:cNvSpPr>
            <a:spLocks noChangeShapeType="1"/>
          </p:cNvSpPr>
          <p:nvPr/>
        </p:nvSpPr>
        <p:spPr bwMode="auto">
          <a:xfrm rot="5400000">
            <a:off x="1299445" y="32114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3" name="Line 87"/>
          <p:cNvSpPr>
            <a:spLocks noChangeShapeType="1"/>
          </p:cNvSpPr>
          <p:nvPr/>
        </p:nvSpPr>
        <p:spPr bwMode="auto">
          <a:xfrm>
            <a:off x="1823320" y="24050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4" name="Line 88"/>
          <p:cNvSpPr>
            <a:spLocks noChangeShapeType="1"/>
          </p:cNvSpPr>
          <p:nvPr/>
        </p:nvSpPr>
        <p:spPr bwMode="auto">
          <a:xfrm>
            <a:off x="1707433" y="24050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5" name="Line 89"/>
          <p:cNvSpPr>
            <a:spLocks noChangeShapeType="1"/>
          </p:cNvSpPr>
          <p:nvPr/>
        </p:nvSpPr>
        <p:spPr bwMode="auto">
          <a:xfrm rot="5400000">
            <a:off x="1709020" y="24066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6" name="Line 90"/>
          <p:cNvSpPr>
            <a:spLocks noChangeShapeType="1"/>
          </p:cNvSpPr>
          <p:nvPr/>
        </p:nvSpPr>
        <p:spPr bwMode="auto">
          <a:xfrm>
            <a:off x="1836020" y="27225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7" name="Line 91"/>
          <p:cNvSpPr>
            <a:spLocks noChangeShapeType="1"/>
          </p:cNvSpPr>
          <p:nvPr/>
        </p:nvSpPr>
        <p:spPr bwMode="auto">
          <a:xfrm>
            <a:off x="1720133" y="27225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8" name="Line 92"/>
          <p:cNvSpPr>
            <a:spLocks noChangeShapeType="1"/>
          </p:cNvSpPr>
          <p:nvPr/>
        </p:nvSpPr>
        <p:spPr bwMode="auto">
          <a:xfrm rot="5400000">
            <a:off x="1721720" y="27241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5379" name="Group 93"/>
          <p:cNvGrpSpPr>
            <a:grpSpLocks/>
          </p:cNvGrpSpPr>
          <p:nvPr/>
        </p:nvGrpSpPr>
        <p:grpSpPr bwMode="auto">
          <a:xfrm>
            <a:off x="1724895" y="2946358"/>
            <a:ext cx="192088" cy="76200"/>
            <a:chOff x="4390" y="2020"/>
            <a:chExt cx="121" cy="48"/>
          </a:xfrm>
        </p:grpSpPr>
        <p:sp>
          <p:nvSpPr>
            <p:cNvPr id="55476" name="Line 94"/>
            <p:cNvSpPr>
              <a:spLocks noChangeShapeType="1"/>
            </p:cNvSpPr>
            <p:nvPr/>
          </p:nvSpPr>
          <p:spPr bwMode="auto">
            <a:xfrm>
              <a:off x="4463" y="2043"/>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77" name="Line 95"/>
            <p:cNvSpPr>
              <a:spLocks noChangeShapeType="1"/>
            </p:cNvSpPr>
            <p:nvPr/>
          </p:nvSpPr>
          <p:spPr bwMode="auto">
            <a:xfrm>
              <a:off x="4390" y="2043"/>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78" name="Line 96"/>
            <p:cNvSpPr>
              <a:spLocks noChangeShapeType="1"/>
            </p:cNvSpPr>
            <p:nvPr/>
          </p:nvSpPr>
          <p:spPr bwMode="auto">
            <a:xfrm rot="5400000">
              <a:off x="4391" y="204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80" name="Line 97"/>
          <p:cNvSpPr>
            <a:spLocks noChangeShapeType="1"/>
          </p:cNvSpPr>
          <p:nvPr/>
        </p:nvSpPr>
        <p:spPr bwMode="auto">
          <a:xfrm rot="20395237">
            <a:off x="2278933" y="12350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1" name="Line 98"/>
          <p:cNvSpPr>
            <a:spLocks noChangeShapeType="1"/>
          </p:cNvSpPr>
          <p:nvPr/>
        </p:nvSpPr>
        <p:spPr bwMode="auto">
          <a:xfrm rot="20395237">
            <a:off x="2169395" y="12747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2" name="Line 99"/>
          <p:cNvSpPr>
            <a:spLocks noChangeShapeType="1"/>
          </p:cNvSpPr>
          <p:nvPr/>
        </p:nvSpPr>
        <p:spPr bwMode="auto">
          <a:xfrm rot="4195237">
            <a:off x="2170983" y="12747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 name="组合 3"/>
          <p:cNvGrpSpPr/>
          <p:nvPr/>
        </p:nvGrpSpPr>
        <p:grpSpPr>
          <a:xfrm rot="18415679">
            <a:off x="2183683" y="1431883"/>
            <a:ext cx="174625" cy="287338"/>
            <a:chOff x="2183683" y="1431883"/>
            <a:chExt cx="174625" cy="287338"/>
          </a:xfrm>
        </p:grpSpPr>
        <p:sp>
          <p:nvSpPr>
            <p:cNvPr id="55317" name="Oval 23"/>
            <p:cNvSpPr>
              <a:spLocks noChangeArrowheads="1"/>
            </p:cNvSpPr>
            <p:nvPr/>
          </p:nvSpPr>
          <p:spPr bwMode="auto">
            <a:xfrm rot="5982298">
              <a:off x="2127327" y="1488239"/>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83" name="Line 100"/>
            <p:cNvSpPr>
              <a:spLocks noChangeShapeType="1"/>
            </p:cNvSpPr>
            <p:nvPr/>
          </p:nvSpPr>
          <p:spPr bwMode="auto">
            <a:xfrm rot="5982298">
              <a:off x="2223370" y="16382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4" name="Line 101"/>
            <p:cNvSpPr>
              <a:spLocks noChangeShapeType="1"/>
            </p:cNvSpPr>
            <p:nvPr/>
          </p:nvSpPr>
          <p:spPr bwMode="auto">
            <a:xfrm rot="5982298">
              <a:off x="2242420" y="15239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5" name="Line 102"/>
            <p:cNvSpPr>
              <a:spLocks noChangeShapeType="1"/>
            </p:cNvSpPr>
            <p:nvPr/>
          </p:nvSpPr>
          <p:spPr bwMode="auto">
            <a:xfrm rot="11382298">
              <a:off x="2240833" y="15255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86" name="Line 103"/>
          <p:cNvSpPr>
            <a:spLocks noChangeShapeType="1"/>
          </p:cNvSpPr>
          <p:nvPr/>
        </p:nvSpPr>
        <p:spPr bwMode="auto">
          <a:xfrm rot="20278472">
            <a:off x="2294808" y="18843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7" name="Line 104"/>
          <p:cNvSpPr>
            <a:spLocks noChangeShapeType="1"/>
          </p:cNvSpPr>
          <p:nvPr/>
        </p:nvSpPr>
        <p:spPr bwMode="auto">
          <a:xfrm rot="20278472">
            <a:off x="2188445" y="19271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8" name="Line 105"/>
          <p:cNvSpPr>
            <a:spLocks noChangeShapeType="1"/>
          </p:cNvSpPr>
          <p:nvPr/>
        </p:nvSpPr>
        <p:spPr bwMode="auto">
          <a:xfrm rot="4078472">
            <a:off x="2190033" y="19287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9" name="Line 106"/>
          <p:cNvSpPr>
            <a:spLocks noChangeShapeType="1"/>
          </p:cNvSpPr>
          <p:nvPr/>
        </p:nvSpPr>
        <p:spPr bwMode="auto">
          <a:xfrm rot="953518">
            <a:off x="2290045" y="21938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0" name="Line 107"/>
          <p:cNvSpPr>
            <a:spLocks noChangeShapeType="1"/>
          </p:cNvSpPr>
          <p:nvPr/>
        </p:nvSpPr>
        <p:spPr bwMode="auto">
          <a:xfrm rot="953518">
            <a:off x="2178920" y="21637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1" name="Line 108"/>
          <p:cNvSpPr>
            <a:spLocks noChangeShapeType="1"/>
          </p:cNvSpPr>
          <p:nvPr/>
        </p:nvSpPr>
        <p:spPr bwMode="auto">
          <a:xfrm rot="6353518">
            <a:off x="2180508" y="21653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 name="组合 2"/>
          <p:cNvGrpSpPr/>
          <p:nvPr/>
        </p:nvGrpSpPr>
        <p:grpSpPr>
          <a:xfrm rot="3643925">
            <a:off x="2163045" y="2344696"/>
            <a:ext cx="174625" cy="287337"/>
            <a:chOff x="2163045" y="2344696"/>
            <a:chExt cx="174625" cy="287337"/>
          </a:xfrm>
        </p:grpSpPr>
        <p:sp>
          <p:nvSpPr>
            <p:cNvPr id="55320" name="Oval 26"/>
            <p:cNvSpPr>
              <a:spLocks noChangeArrowheads="1"/>
            </p:cNvSpPr>
            <p:nvPr/>
          </p:nvSpPr>
          <p:spPr bwMode="auto">
            <a:xfrm rot="15827026">
              <a:off x="2106689" y="2401052"/>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92" name="Line 109"/>
            <p:cNvSpPr>
              <a:spLocks noChangeShapeType="1"/>
            </p:cNvSpPr>
            <p:nvPr/>
          </p:nvSpPr>
          <p:spPr bwMode="auto">
            <a:xfrm rot="15827026">
              <a:off x="2202733" y="24256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3" name="Line 110"/>
            <p:cNvSpPr>
              <a:spLocks noChangeShapeType="1"/>
            </p:cNvSpPr>
            <p:nvPr/>
          </p:nvSpPr>
          <p:spPr bwMode="auto">
            <a:xfrm rot="15827026">
              <a:off x="2215433" y="25399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4" name="Line 111"/>
            <p:cNvSpPr>
              <a:spLocks noChangeShapeType="1"/>
            </p:cNvSpPr>
            <p:nvPr/>
          </p:nvSpPr>
          <p:spPr bwMode="auto">
            <a:xfrm rot="21227026">
              <a:off x="2217020" y="25383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95" name="Line 112"/>
          <p:cNvSpPr>
            <a:spLocks noChangeShapeType="1"/>
          </p:cNvSpPr>
          <p:nvPr/>
        </p:nvSpPr>
        <p:spPr bwMode="auto">
          <a:xfrm rot="18091190">
            <a:off x="2256708" y="27526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6" name="Line 113"/>
          <p:cNvSpPr>
            <a:spLocks noChangeShapeType="1"/>
          </p:cNvSpPr>
          <p:nvPr/>
        </p:nvSpPr>
        <p:spPr bwMode="auto">
          <a:xfrm rot="18091190">
            <a:off x="2194795" y="28511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7" name="Line 114"/>
          <p:cNvSpPr>
            <a:spLocks noChangeShapeType="1"/>
          </p:cNvSpPr>
          <p:nvPr/>
        </p:nvSpPr>
        <p:spPr bwMode="auto">
          <a:xfrm rot="1891190">
            <a:off x="2197970" y="28511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8" name="Line 115"/>
          <p:cNvSpPr>
            <a:spLocks noChangeShapeType="1"/>
          </p:cNvSpPr>
          <p:nvPr/>
        </p:nvSpPr>
        <p:spPr bwMode="auto">
          <a:xfrm rot="1256111">
            <a:off x="2309095" y="31305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9" name="Line 116"/>
          <p:cNvSpPr>
            <a:spLocks noChangeShapeType="1"/>
          </p:cNvSpPr>
          <p:nvPr/>
        </p:nvSpPr>
        <p:spPr bwMode="auto">
          <a:xfrm rot="1256111">
            <a:off x="2201145" y="30892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0" name="Line 117"/>
          <p:cNvSpPr>
            <a:spLocks noChangeShapeType="1"/>
          </p:cNvSpPr>
          <p:nvPr/>
        </p:nvSpPr>
        <p:spPr bwMode="auto">
          <a:xfrm rot="6656111">
            <a:off x="2202733" y="30908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1" name="Line 118"/>
          <p:cNvSpPr>
            <a:spLocks noChangeShapeType="1"/>
          </p:cNvSpPr>
          <p:nvPr/>
        </p:nvSpPr>
        <p:spPr bwMode="auto">
          <a:xfrm rot="1204763" flipH="1">
            <a:off x="2810745" y="12048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2" name="Line 119"/>
          <p:cNvSpPr>
            <a:spLocks noChangeShapeType="1"/>
          </p:cNvSpPr>
          <p:nvPr/>
        </p:nvSpPr>
        <p:spPr bwMode="auto">
          <a:xfrm rot="1204763" flipH="1">
            <a:off x="2920283" y="12461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3" name="Line 120"/>
          <p:cNvSpPr>
            <a:spLocks noChangeShapeType="1"/>
          </p:cNvSpPr>
          <p:nvPr/>
        </p:nvSpPr>
        <p:spPr bwMode="auto">
          <a:xfrm rot="17404763" flipH="1">
            <a:off x="2918695" y="12461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4" name="Line 121"/>
          <p:cNvSpPr>
            <a:spLocks noChangeShapeType="1"/>
          </p:cNvSpPr>
          <p:nvPr/>
        </p:nvSpPr>
        <p:spPr bwMode="auto">
          <a:xfrm rot="15617702" flipH="1">
            <a:off x="2721845" y="1601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5" name="Line 122"/>
          <p:cNvSpPr>
            <a:spLocks noChangeShapeType="1"/>
          </p:cNvSpPr>
          <p:nvPr/>
        </p:nvSpPr>
        <p:spPr bwMode="auto">
          <a:xfrm rot="15617702" flipH="1">
            <a:off x="2702795" y="14874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6" name="Line 123"/>
          <p:cNvSpPr>
            <a:spLocks noChangeShapeType="1"/>
          </p:cNvSpPr>
          <p:nvPr/>
        </p:nvSpPr>
        <p:spPr bwMode="auto">
          <a:xfrm rot="10217702" flipH="1">
            <a:off x="2704383" y="14890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7" name="Line 124"/>
          <p:cNvSpPr>
            <a:spLocks noChangeShapeType="1"/>
          </p:cNvSpPr>
          <p:nvPr/>
        </p:nvSpPr>
        <p:spPr bwMode="auto">
          <a:xfrm rot="3133596">
            <a:off x="2725842" y="19605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8" name="Line 125"/>
          <p:cNvSpPr>
            <a:spLocks noChangeShapeType="1"/>
          </p:cNvSpPr>
          <p:nvPr/>
        </p:nvSpPr>
        <p:spPr bwMode="auto">
          <a:xfrm rot="3133596">
            <a:off x="2654404" y="18684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9" name="Line 126"/>
          <p:cNvSpPr>
            <a:spLocks noChangeShapeType="1"/>
          </p:cNvSpPr>
          <p:nvPr/>
        </p:nvSpPr>
        <p:spPr bwMode="auto">
          <a:xfrm rot="8533596">
            <a:off x="2654404" y="18700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0" name="Line 127"/>
          <p:cNvSpPr>
            <a:spLocks noChangeShapeType="1"/>
          </p:cNvSpPr>
          <p:nvPr/>
        </p:nvSpPr>
        <p:spPr bwMode="auto">
          <a:xfrm rot="10255815">
            <a:off x="2960792" y="21018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1" name="Line 128"/>
          <p:cNvSpPr>
            <a:spLocks noChangeShapeType="1"/>
          </p:cNvSpPr>
          <p:nvPr/>
        </p:nvSpPr>
        <p:spPr bwMode="auto">
          <a:xfrm rot="10255815">
            <a:off x="3075092" y="20827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2" name="Line 129"/>
          <p:cNvSpPr>
            <a:spLocks noChangeShapeType="1"/>
          </p:cNvSpPr>
          <p:nvPr/>
        </p:nvSpPr>
        <p:spPr bwMode="auto">
          <a:xfrm rot="15655814">
            <a:off x="3073504" y="20811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3" name="Line 130"/>
          <p:cNvSpPr>
            <a:spLocks noChangeShapeType="1"/>
          </p:cNvSpPr>
          <p:nvPr/>
        </p:nvSpPr>
        <p:spPr bwMode="auto">
          <a:xfrm rot="5772974" flipH="1">
            <a:off x="2699693" y="234469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4" name="Line 131"/>
          <p:cNvSpPr>
            <a:spLocks noChangeShapeType="1"/>
          </p:cNvSpPr>
          <p:nvPr/>
        </p:nvSpPr>
        <p:spPr bwMode="auto">
          <a:xfrm rot="5772974" flipH="1">
            <a:off x="2686993" y="245899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5" name="Line 132"/>
          <p:cNvSpPr>
            <a:spLocks noChangeShapeType="1"/>
          </p:cNvSpPr>
          <p:nvPr/>
        </p:nvSpPr>
        <p:spPr bwMode="auto">
          <a:xfrm rot="372974" flipH="1">
            <a:off x="2685405" y="24574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6" name="Line 133"/>
          <p:cNvSpPr>
            <a:spLocks noChangeShapeType="1"/>
          </p:cNvSpPr>
          <p:nvPr/>
        </p:nvSpPr>
        <p:spPr bwMode="auto">
          <a:xfrm rot="3508810" flipH="1">
            <a:off x="2874245" y="26717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7" name="Line 134"/>
          <p:cNvSpPr>
            <a:spLocks noChangeShapeType="1"/>
          </p:cNvSpPr>
          <p:nvPr/>
        </p:nvSpPr>
        <p:spPr bwMode="auto">
          <a:xfrm rot="3508810" flipH="1">
            <a:off x="2934570" y="27701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8" name="Line 135"/>
          <p:cNvSpPr>
            <a:spLocks noChangeShapeType="1"/>
          </p:cNvSpPr>
          <p:nvPr/>
        </p:nvSpPr>
        <p:spPr bwMode="auto">
          <a:xfrm rot="19708810" flipH="1">
            <a:off x="2932983" y="27701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9" name="Line 136"/>
          <p:cNvSpPr>
            <a:spLocks noChangeShapeType="1"/>
          </p:cNvSpPr>
          <p:nvPr/>
        </p:nvSpPr>
        <p:spPr bwMode="auto">
          <a:xfrm rot="1256111">
            <a:off x="2798045" y="30400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20" name="Line 137"/>
          <p:cNvSpPr>
            <a:spLocks noChangeShapeType="1"/>
          </p:cNvSpPr>
          <p:nvPr/>
        </p:nvSpPr>
        <p:spPr bwMode="auto">
          <a:xfrm rot="1256111">
            <a:off x="2690095" y="2998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21" name="Line 138"/>
          <p:cNvSpPr>
            <a:spLocks noChangeShapeType="1"/>
          </p:cNvSpPr>
          <p:nvPr/>
        </p:nvSpPr>
        <p:spPr bwMode="auto">
          <a:xfrm rot="6656111">
            <a:off x="2691683" y="30003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5422" name="Group 139"/>
          <p:cNvGrpSpPr>
            <a:grpSpLocks/>
          </p:cNvGrpSpPr>
          <p:nvPr/>
        </p:nvGrpSpPr>
        <p:grpSpPr bwMode="auto">
          <a:xfrm rot="20334323">
            <a:off x="1593133" y="1301708"/>
            <a:ext cx="142875" cy="142875"/>
            <a:chOff x="2031" y="3123"/>
            <a:chExt cx="90" cy="90"/>
          </a:xfrm>
        </p:grpSpPr>
        <p:sp>
          <p:nvSpPr>
            <p:cNvPr id="55472" name="Oval 140"/>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73" name="Group 141"/>
            <p:cNvGrpSpPr>
              <a:grpSpLocks/>
            </p:cNvGrpSpPr>
            <p:nvPr/>
          </p:nvGrpSpPr>
          <p:grpSpPr bwMode="auto">
            <a:xfrm>
              <a:off x="2052" y="3148"/>
              <a:ext cx="48" cy="48"/>
              <a:chOff x="2052" y="2911"/>
              <a:chExt cx="48" cy="48"/>
            </a:xfrm>
          </p:grpSpPr>
          <p:sp>
            <p:nvSpPr>
              <p:cNvPr id="55474" name="Line 142"/>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75" name="Line 143"/>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5423" name="Group 144"/>
          <p:cNvGrpSpPr>
            <a:grpSpLocks/>
          </p:cNvGrpSpPr>
          <p:nvPr/>
        </p:nvGrpSpPr>
        <p:grpSpPr bwMode="auto">
          <a:xfrm rot="20334323">
            <a:off x="1256583" y="1984333"/>
            <a:ext cx="142875" cy="142875"/>
            <a:chOff x="2031" y="3123"/>
            <a:chExt cx="90" cy="90"/>
          </a:xfrm>
        </p:grpSpPr>
        <p:sp>
          <p:nvSpPr>
            <p:cNvPr id="55468" name="Oval 145"/>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69" name="Group 146"/>
            <p:cNvGrpSpPr>
              <a:grpSpLocks/>
            </p:cNvGrpSpPr>
            <p:nvPr/>
          </p:nvGrpSpPr>
          <p:grpSpPr bwMode="auto">
            <a:xfrm>
              <a:off x="2052" y="3148"/>
              <a:ext cx="48" cy="48"/>
              <a:chOff x="2052" y="2911"/>
              <a:chExt cx="48" cy="48"/>
            </a:xfrm>
          </p:grpSpPr>
          <p:sp>
            <p:nvSpPr>
              <p:cNvPr id="55470" name="Line 147"/>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71" name="Line 148"/>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5424" name="Group 149"/>
          <p:cNvGrpSpPr>
            <a:grpSpLocks/>
          </p:cNvGrpSpPr>
          <p:nvPr/>
        </p:nvGrpSpPr>
        <p:grpSpPr bwMode="auto">
          <a:xfrm rot="20334323">
            <a:off x="1475658" y="2671721"/>
            <a:ext cx="142875" cy="142875"/>
            <a:chOff x="2031" y="3123"/>
            <a:chExt cx="90" cy="90"/>
          </a:xfrm>
        </p:grpSpPr>
        <p:sp>
          <p:nvSpPr>
            <p:cNvPr id="55464" name="Oval 150"/>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65" name="Group 151"/>
            <p:cNvGrpSpPr>
              <a:grpSpLocks/>
            </p:cNvGrpSpPr>
            <p:nvPr/>
          </p:nvGrpSpPr>
          <p:grpSpPr bwMode="auto">
            <a:xfrm>
              <a:off x="2052" y="3148"/>
              <a:ext cx="48" cy="48"/>
              <a:chOff x="2052" y="2911"/>
              <a:chExt cx="48" cy="48"/>
            </a:xfrm>
          </p:grpSpPr>
          <p:sp>
            <p:nvSpPr>
              <p:cNvPr id="55466" name="Line 152"/>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67" name="Line 153"/>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5425" name="Group 154"/>
          <p:cNvGrpSpPr>
            <a:grpSpLocks/>
          </p:cNvGrpSpPr>
          <p:nvPr/>
        </p:nvGrpSpPr>
        <p:grpSpPr bwMode="auto">
          <a:xfrm rot="20334323">
            <a:off x="1485183" y="1960521"/>
            <a:ext cx="142875" cy="142875"/>
            <a:chOff x="2031" y="3123"/>
            <a:chExt cx="90" cy="90"/>
          </a:xfrm>
        </p:grpSpPr>
        <p:sp>
          <p:nvSpPr>
            <p:cNvPr id="55460" name="Oval 155"/>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61" name="Group 156"/>
            <p:cNvGrpSpPr>
              <a:grpSpLocks/>
            </p:cNvGrpSpPr>
            <p:nvPr/>
          </p:nvGrpSpPr>
          <p:grpSpPr bwMode="auto">
            <a:xfrm>
              <a:off x="2052" y="3148"/>
              <a:ext cx="48" cy="48"/>
              <a:chOff x="2052" y="2911"/>
              <a:chExt cx="48" cy="48"/>
            </a:xfrm>
          </p:grpSpPr>
          <p:sp>
            <p:nvSpPr>
              <p:cNvPr id="55462" name="Line 157"/>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63" name="Line 158"/>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5426" name="Group 159"/>
          <p:cNvGrpSpPr>
            <a:grpSpLocks/>
          </p:cNvGrpSpPr>
          <p:nvPr/>
        </p:nvGrpSpPr>
        <p:grpSpPr bwMode="auto">
          <a:xfrm rot="20334323">
            <a:off x="1258170" y="2679658"/>
            <a:ext cx="142875" cy="142875"/>
            <a:chOff x="2031" y="3123"/>
            <a:chExt cx="90" cy="90"/>
          </a:xfrm>
        </p:grpSpPr>
        <p:sp>
          <p:nvSpPr>
            <p:cNvPr id="55456" name="Oval 160"/>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57" name="Group 161"/>
            <p:cNvGrpSpPr>
              <a:grpSpLocks/>
            </p:cNvGrpSpPr>
            <p:nvPr/>
          </p:nvGrpSpPr>
          <p:grpSpPr bwMode="auto">
            <a:xfrm>
              <a:off x="2052" y="3148"/>
              <a:ext cx="48" cy="48"/>
              <a:chOff x="2052" y="2911"/>
              <a:chExt cx="48" cy="48"/>
            </a:xfrm>
          </p:grpSpPr>
          <p:sp>
            <p:nvSpPr>
              <p:cNvPr id="55458" name="Line 162"/>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9" name="Line 163"/>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5427" name="Group 164"/>
          <p:cNvGrpSpPr>
            <a:grpSpLocks/>
          </p:cNvGrpSpPr>
          <p:nvPr/>
        </p:nvGrpSpPr>
        <p:grpSpPr bwMode="auto">
          <a:xfrm>
            <a:off x="440608" y="868321"/>
            <a:ext cx="1212850" cy="3059112"/>
            <a:chOff x="3293" y="324"/>
            <a:chExt cx="764" cy="1927"/>
          </a:xfrm>
        </p:grpSpPr>
        <p:sp>
          <p:nvSpPr>
            <p:cNvPr id="55449" name="Freeform 165"/>
            <p:cNvSpPr>
              <a:spLocks/>
            </p:cNvSpPr>
            <p:nvPr/>
          </p:nvSpPr>
          <p:spPr bwMode="auto">
            <a:xfrm rot="-3889418">
              <a:off x="2736" y="930"/>
              <a:ext cx="1878" cy="764"/>
            </a:xfrm>
            <a:custGeom>
              <a:avLst/>
              <a:gdLst>
                <a:gd name="T0" fmla="*/ 0 w 2384"/>
                <a:gd name="T1" fmla="*/ 694 h 742"/>
                <a:gd name="T2" fmla="*/ 791 w 2384"/>
                <a:gd name="T3" fmla="*/ 57 h 742"/>
                <a:gd name="T4" fmla="*/ 803 w 2384"/>
                <a:gd name="T5" fmla="*/ 101 h 742"/>
                <a:gd name="T6" fmla="*/ 852 w 2384"/>
                <a:gd name="T7" fmla="*/ 66 h 742"/>
                <a:gd name="T8" fmla="*/ 858 w 2384"/>
                <a:gd name="T9" fmla="*/ 95 h 742"/>
                <a:gd name="T10" fmla="*/ 917 w 2384"/>
                <a:gd name="T11" fmla="*/ 41 h 742"/>
                <a:gd name="T12" fmla="*/ 931 w 2384"/>
                <a:gd name="T13" fmla="*/ 79 h 742"/>
                <a:gd name="T14" fmla="*/ 1001 w 2384"/>
                <a:gd name="T15" fmla="*/ 28 h 742"/>
                <a:gd name="T16" fmla="*/ 1015 w 2384"/>
                <a:gd name="T17" fmla="*/ 51 h 742"/>
                <a:gd name="T18" fmla="*/ 1056 w 2384"/>
                <a:gd name="T19" fmla="*/ 12 h 742"/>
                <a:gd name="T20" fmla="*/ 1063 w 2384"/>
                <a:gd name="T21" fmla="*/ 44 h 742"/>
                <a:gd name="T22" fmla="*/ 1120 w 2384"/>
                <a:gd name="T23" fmla="*/ 0 h 742"/>
                <a:gd name="T24" fmla="*/ 1126 w 2384"/>
                <a:gd name="T25" fmla="*/ 31 h 742"/>
                <a:gd name="T26" fmla="*/ 1160 w 2384"/>
                <a:gd name="T27" fmla="*/ 9 h 742"/>
                <a:gd name="T28" fmla="*/ 1165 w 2384"/>
                <a:gd name="T29" fmla="*/ 47 h 742"/>
                <a:gd name="T30" fmla="*/ 241 w 2384"/>
                <a:gd name="T31" fmla="*/ 810 h 742"/>
                <a:gd name="T32" fmla="*/ 227 w 2384"/>
                <a:gd name="T33" fmla="*/ 754 h 742"/>
                <a:gd name="T34" fmla="*/ 202 w 2384"/>
                <a:gd name="T35" fmla="*/ 772 h 742"/>
                <a:gd name="T36" fmla="*/ 192 w 2384"/>
                <a:gd name="T37" fmla="*/ 734 h 742"/>
                <a:gd name="T38" fmla="*/ 174 w 2384"/>
                <a:gd name="T39" fmla="*/ 743 h 742"/>
                <a:gd name="T40" fmla="*/ 159 w 2384"/>
                <a:gd name="T41" fmla="*/ 705 h 742"/>
                <a:gd name="T42" fmla="*/ 125 w 2384"/>
                <a:gd name="T43" fmla="*/ 737 h 742"/>
                <a:gd name="T44" fmla="*/ 113 w 2384"/>
                <a:gd name="T45" fmla="*/ 694 h 742"/>
                <a:gd name="T46" fmla="*/ 59 w 2384"/>
                <a:gd name="T47" fmla="*/ 743 h 742"/>
                <a:gd name="T48" fmla="*/ 51 w 2384"/>
                <a:gd name="T49" fmla="*/ 705 h 742"/>
                <a:gd name="T50" fmla="*/ 8 w 2384"/>
                <a:gd name="T51" fmla="*/ 740 h 742"/>
                <a:gd name="T52" fmla="*/ 0 w 2384"/>
                <a:gd name="T53" fmla="*/ 694 h 7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384"/>
                <a:gd name="T82" fmla="*/ 0 h 742"/>
                <a:gd name="T83" fmla="*/ 2384 w 2384"/>
                <a:gd name="T84" fmla="*/ 742 h 7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384" h="742">
                  <a:moveTo>
                    <a:pt x="0" y="636"/>
                  </a:moveTo>
                  <a:lnTo>
                    <a:pt x="1619" y="51"/>
                  </a:lnTo>
                  <a:lnTo>
                    <a:pt x="1641" y="92"/>
                  </a:lnTo>
                  <a:lnTo>
                    <a:pt x="1744" y="60"/>
                  </a:lnTo>
                  <a:lnTo>
                    <a:pt x="1756" y="86"/>
                  </a:lnTo>
                  <a:lnTo>
                    <a:pt x="1875" y="38"/>
                  </a:lnTo>
                  <a:lnTo>
                    <a:pt x="1904" y="73"/>
                  </a:lnTo>
                  <a:lnTo>
                    <a:pt x="2048" y="25"/>
                  </a:lnTo>
                  <a:lnTo>
                    <a:pt x="2076" y="48"/>
                  </a:lnTo>
                  <a:lnTo>
                    <a:pt x="2160" y="12"/>
                  </a:lnTo>
                  <a:lnTo>
                    <a:pt x="2176" y="41"/>
                  </a:lnTo>
                  <a:lnTo>
                    <a:pt x="2291" y="0"/>
                  </a:lnTo>
                  <a:lnTo>
                    <a:pt x="2304" y="28"/>
                  </a:lnTo>
                  <a:lnTo>
                    <a:pt x="2371" y="9"/>
                  </a:lnTo>
                  <a:lnTo>
                    <a:pt x="2384" y="44"/>
                  </a:lnTo>
                  <a:lnTo>
                    <a:pt x="492" y="742"/>
                  </a:lnTo>
                  <a:lnTo>
                    <a:pt x="464" y="691"/>
                  </a:lnTo>
                  <a:lnTo>
                    <a:pt x="412" y="707"/>
                  </a:lnTo>
                  <a:lnTo>
                    <a:pt x="393" y="672"/>
                  </a:lnTo>
                  <a:lnTo>
                    <a:pt x="355" y="681"/>
                  </a:lnTo>
                  <a:lnTo>
                    <a:pt x="326" y="646"/>
                  </a:lnTo>
                  <a:lnTo>
                    <a:pt x="256" y="675"/>
                  </a:lnTo>
                  <a:lnTo>
                    <a:pt x="230" y="636"/>
                  </a:lnTo>
                  <a:lnTo>
                    <a:pt x="121" y="681"/>
                  </a:lnTo>
                  <a:lnTo>
                    <a:pt x="105" y="646"/>
                  </a:lnTo>
                  <a:lnTo>
                    <a:pt x="16" y="678"/>
                  </a:lnTo>
                  <a:lnTo>
                    <a:pt x="0" y="636"/>
                  </a:lnTo>
                  <a:close/>
                </a:path>
              </a:pathLst>
            </a:custGeom>
            <a:solidFill>
              <a:srgbClr val="FFCC99"/>
            </a:solidFill>
            <a:ln w="9525">
              <a:solidFill>
                <a:schemeClr val="tx1"/>
              </a:solidFill>
              <a:round/>
              <a:headEnd/>
              <a:tailEnd/>
            </a:ln>
          </p:spPr>
          <p:txBody>
            <a:bodyPr/>
            <a:lstStyle/>
            <a:p>
              <a:endParaRPr lang="zh-CN" altLang="en-US"/>
            </a:p>
          </p:txBody>
        </p:sp>
        <p:sp>
          <p:nvSpPr>
            <p:cNvPr id="55450" name="Text Box 166"/>
            <p:cNvSpPr txBox="1">
              <a:spLocks noChangeArrowheads="1"/>
            </p:cNvSpPr>
            <p:nvPr/>
          </p:nvSpPr>
          <p:spPr bwMode="auto">
            <a:xfrm rot="-5389042">
              <a:off x="2825" y="1343"/>
              <a:ext cx="13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400"/>
                <a:t>-  -  -  -  -  -  -  -  </a:t>
              </a:r>
            </a:p>
          </p:txBody>
        </p:sp>
        <p:sp>
          <p:nvSpPr>
            <p:cNvPr id="55451" name="Text Box 167"/>
            <p:cNvSpPr txBox="1">
              <a:spLocks noChangeArrowheads="1"/>
            </p:cNvSpPr>
            <p:nvPr/>
          </p:nvSpPr>
          <p:spPr bwMode="auto">
            <a:xfrm rot="-5421615">
              <a:off x="2916" y="982"/>
              <a:ext cx="16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400"/>
                <a:t>-  -  -  -  -  -  -  -  -   </a:t>
              </a:r>
            </a:p>
          </p:txBody>
        </p:sp>
        <p:sp>
          <p:nvSpPr>
            <p:cNvPr id="55452" name="Text Box 168"/>
            <p:cNvSpPr txBox="1">
              <a:spLocks noChangeArrowheads="1"/>
            </p:cNvSpPr>
            <p:nvPr/>
          </p:nvSpPr>
          <p:spPr bwMode="auto">
            <a:xfrm rot="-5439217">
              <a:off x="3511" y="1869"/>
              <a:ext cx="1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sp>
          <p:nvSpPr>
            <p:cNvPr id="55453" name="Text Box 169"/>
            <p:cNvSpPr txBox="1">
              <a:spLocks noChangeArrowheads="1"/>
            </p:cNvSpPr>
            <p:nvPr/>
          </p:nvSpPr>
          <p:spPr bwMode="auto">
            <a:xfrm rot="-5439217">
              <a:off x="3583" y="1792"/>
              <a:ext cx="1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sp>
          <p:nvSpPr>
            <p:cNvPr id="55454" name="Text Box 170"/>
            <p:cNvSpPr txBox="1">
              <a:spLocks noChangeArrowheads="1"/>
            </p:cNvSpPr>
            <p:nvPr/>
          </p:nvSpPr>
          <p:spPr bwMode="auto">
            <a:xfrm rot="-5439217">
              <a:off x="3521" y="717"/>
              <a:ext cx="1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sp>
          <p:nvSpPr>
            <p:cNvPr id="55455" name="Text Box 171"/>
            <p:cNvSpPr txBox="1">
              <a:spLocks noChangeArrowheads="1"/>
            </p:cNvSpPr>
            <p:nvPr/>
          </p:nvSpPr>
          <p:spPr bwMode="auto">
            <a:xfrm rot="-5439217">
              <a:off x="3575" y="513"/>
              <a:ext cx="1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grpSp>
      <p:sp>
        <p:nvSpPr>
          <p:cNvPr id="55428" name="Freeform 172"/>
          <p:cNvSpPr>
            <a:spLocks/>
          </p:cNvSpPr>
          <p:nvPr/>
        </p:nvSpPr>
        <p:spPr bwMode="auto">
          <a:xfrm>
            <a:off x="1194670" y="4225925"/>
            <a:ext cx="2141538" cy="1169946"/>
          </a:xfrm>
          <a:custGeom>
            <a:avLst/>
            <a:gdLst>
              <a:gd name="T0" fmla="*/ 0 w 1738"/>
              <a:gd name="T1" fmla="*/ 0 h 754"/>
              <a:gd name="T2" fmla="*/ 0 w 1738"/>
              <a:gd name="T3" fmla="*/ 2147483647 h 754"/>
              <a:gd name="T4" fmla="*/ 2147483647 w 1738"/>
              <a:gd name="T5" fmla="*/ 2147483647 h 754"/>
              <a:gd name="T6" fmla="*/ 0 60000 65536"/>
              <a:gd name="T7" fmla="*/ 0 60000 65536"/>
              <a:gd name="T8" fmla="*/ 0 60000 65536"/>
              <a:gd name="T9" fmla="*/ 0 w 1738"/>
              <a:gd name="T10" fmla="*/ 0 h 754"/>
              <a:gd name="T11" fmla="*/ 1738 w 1738"/>
              <a:gd name="T12" fmla="*/ 754 h 754"/>
            </a:gdLst>
            <a:ahLst/>
            <a:cxnLst>
              <a:cxn ang="T6">
                <a:pos x="T0" y="T1"/>
              </a:cxn>
              <a:cxn ang="T7">
                <a:pos x="T2" y="T3"/>
              </a:cxn>
              <a:cxn ang="T8">
                <a:pos x="T4" y="T5"/>
              </a:cxn>
            </a:cxnLst>
            <a:rect l="T9" t="T10" r="T11" b="T12"/>
            <a:pathLst>
              <a:path w="1738" h="754">
                <a:moveTo>
                  <a:pt x="0" y="0"/>
                </a:moveTo>
                <a:lnTo>
                  <a:pt x="0" y="754"/>
                </a:lnTo>
                <a:lnTo>
                  <a:pt x="1738" y="754"/>
                </a:lnTo>
              </a:path>
            </a:pathLst>
          </a:custGeom>
          <a:noFill/>
          <a:ln w="19050">
            <a:solidFill>
              <a:schemeClr val="tx1"/>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29" name="Freeform 173"/>
          <p:cNvSpPr>
            <a:spLocks/>
          </p:cNvSpPr>
          <p:nvPr/>
        </p:nvSpPr>
        <p:spPr bwMode="auto">
          <a:xfrm>
            <a:off x="1216895" y="4348261"/>
            <a:ext cx="1417574" cy="1034921"/>
          </a:xfrm>
          <a:custGeom>
            <a:avLst/>
            <a:gdLst>
              <a:gd name="T0" fmla="*/ 0 w 1013"/>
              <a:gd name="T1" fmla="*/ 0 h 513"/>
              <a:gd name="T2" fmla="*/ 2147483647 w 1013"/>
              <a:gd name="T3" fmla="*/ 2147483647 h 513"/>
              <a:gd name="T4" fmla="*/ 2147483647 w 1013"/>
              <a:gd name="T5" fmla="*/ 2147483647 h 513"/>
              <a:gd name="T6" fmla="*/ 2147483647 w 1013"/>
              <a:gd name="T7" fmla="*/ 2147483647 h 513"/>
              <a:gd name="T8" fmla="*/ 2147483647 w 1013"/>
              <a:gd name="T9" fmla="*/ 2147483647 h 513"/>
              <a:gd name="T10" fmla="*/ 2147483647 w 1013"/>
              <a:gd name="T11" fmla="*/ 2147483647 h 513"/>
              <a:gd name="T12" fmla="*/ 2147483647 w 1013"/>
              <a:gd name="T13" fmla="*/ 2147483647 h 513"/>
              <a:gd name="T14" fmla="*/ 0 60000 65536"/>
              <a:gd name="T15" fmla="*/ 0 60000 65536"/>
              <a:gd name="T16" fmla="*/ 0 60000 65536"/>
              <a:gd name="T17" fmla="*/ 0 60000 65536"/>
              <a:gd name="T18" fmla="*/ 0 60000 65536"/>
              <a:gd name="T19" fmla="*/ 0 60000 65536"/>
              <a:gd name="T20" fmla="*/ 0 60000 65536"/>
              <a:gd name="T21" fmla="*/ 0 w 1013"/>
              <a:gd name="T22" fmla="*/ 0 h 513"/>
              <a:gd name="T23" fmla="*/ 1013 w 1013"/>
              <a:gd name="T24" fmla="*/ 513 h 513"/>
              <a:gd name="connsiteX0" fmla="*/ 0 w 8815"/>
              <a:gd name="connsiteY0" fmla="*/ 0 h 9930"/>
              <a:gd name="connsiteX1" fmla="*/ 148 w 8815"/>
              <a:gd name="connsiteY1" fmla="*/ 3060 h 9930"/>
              <a:gd name="connsiteX2" fmla="*/ 661 w 8815"/>
              <a:gd name="connsiteY2" fmla="*/ 6062 h 9930"/>
              <a:gd name="connsiteX3" fmla="*/ 1708 w 8815"/>
              <a:gd name="connsiteY3" fmla="*/ 8070 h 9930"/>
              <a:gd name="connsiteX4" fmla="*/ 3317 w 8815"/>
              <a:gd name="connsiteY4" fmla="*/ 9142 h 9930"/>
              <a:gd name="connsiteX5" fmla="*/ 5449 w 8815"/>
              <a:gd name="connsiteY5" fmla="*/ 9708 h 9930"/>
              <a:gd name="connsiteX6" fmla="*/ 8815 w 8815"/>
              <a:gd name="connsiteY6" fmla="*/ 9930 h 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15" h="9930">
                <a:moveTo>
                  <a:pt x="0" y="0"/>
                </a:moveTo>
                <a:cubicBezTo>
                  <a:pt x="20" y="1014"/>
                  <a:pt x="39" y="2066"/>
                  <a:pt x="148" y="3060"/>
                </a:cubicBezTo>
                <a:cubicBezTo>
                  <a:pt x="257" y="4074"/>
                  <a:pt x="405" y="5205"/>
                  <a:pt x="661" y="6062"/>
                </a:cubicBezTo>
                <a:cubicBezTo>
                  <a:pt x="918" y="6901"/>
                  <a:pt x="1264" y="7563"/>
                  <a:pt x="1708" y="8070"/>
                </a:cubicBezTo>
                <a:cubicBezTo>
                  <a:pt x="2152" y="8596"/>
                  <a:pt x="2695" y="8889"/>
                  <a:pt x="3317" y="9142"/>
                </a:cubicBezTo>
                <a:cubicBezTo>
                  <a:pt x="3939" y="9396"/>
                  <a:pt x="4334" y="9571"/>
                  <a:pt x="5449" y="9708"/>
                </a:cubicBezTo>
                <a:cubicBezTo>
                  <a:pt x="6565" y="9844"/>
                  <a:pt x="7867" y="9872"/>
                  <a:pt x="8815" y="993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30" name="Text Box 174"/>
          <p:cNvSpPr txBox="1">
            <a:spLocks noChangeArrowheads="1"/>
          </p:cNvSpPr>
          <p:nvPr/>
        </p:nvSpPr>
        <p:spPr bwMode="auto">
          <a:xfrm rot="16200000">
            <a:off x="524745" y="4314783"/>
            <a:ext cx="746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dirty="0"/>
              <a:t>引力</a:t>
            </a:r>
          </a:p>
        </p:txBody>
      </p:sp>
      <p:sp>
        <p:nvSpPr>
          <p:cNvPr id="55431" name="Text Box 175"/>
          <p:cNvSpPr txBox="1">
            <a:spLocks noChangeArrowheads="1"/>
          </p:cNvSpPr>
          <p:nvPr/>
        </p:nvSpPr>
        <p:spPr bwMode="auto">
          <a:xfrm>
            <a:off x="2980608" y="495613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a:ea typeface="幼圆" pitchFamily="49" charset="-122"/>
              </a:rPr>
              <a:t>d</a:t>
            </a:r>
          </a:p>
        </p:txBody>
      </p:sp>
      <p:sp>
        <p:nvSpPr>
          <p:cNvPr id="55432" name="Text Box 176"/>
          <p:cNvSpPr txBox="1">
            <a:spLocks noChangeArrowheads="1"/>
          </p:cNvSpPr>
          <p:nvPr/>
        </p:nvSpPr>
        <p:spPr bwMode="auto">
          <a:xfrm>
            <a:off x="2850433" y="658771"/>
            <a:ext cx="8842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t>水分子</a:t>
            </a:r>
          </a:p>
        </p:txBody>
      </p:sp>
      <p:sp>
        <p:nvSpPr>
          <p:cNvPr id="55433" name="Text Box 177"/>
          <p:cNvSpPr txBox="1">
            <a:spLocks noChangeArrowheads="1"/>
          </p:cNvSpPr>
          <p:nvPr/>
        </p:nvSpPr>
        <p:spPr bwMode="auto">
          <a:xfrm>
            <a:off x="1740770" y="612733"/>
            <a:ext cx="935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t>阳离子</a:t>
            </a:r>
          </a:p>
        </p:txBody>
      </p:sp>
      <p:sp>
        <p:nvSpPr>
          <p:cNvPr id="55436" name="Text Box 180"/>
          <p:cNvSpPr txBox="1">
            <a:spLocks noChangeArrowheads="1"/>
          </p:cNvSpPr>
          <p:nvPr/>
        </p:nvSpPr>
        <p:spPr bwMode="auto">
          <a:xfrm>
            <a:off x="2745278" y="3981191"/>
            <a:ext cx="1017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t>自由水</a:t>
            </a:r>
            <a:endParaRPr lang="en-US" altLang="zh-CN" sz="1800" b="1" dirty="0"/>
          </a:p>
        </p:txBody>
      </p:sp>
      <p:sp>
        <p:nvSpPr>
          <p:cNvPr id="55437" name="Line 181"/>
          <p:cNvSpPr>
            <a:spLocks noChangeShapeType="1"/>
          </p:cNvSpPr>
          <p:nvPr/>
        </p:nvSpPr>
        <p:spPr bwMode="auto">
          <a:xfrm>
            <a:off x="2609318" y="1036596"/>
            <a:ext cx="0" cy="43370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5439" name="Group 183"/>
          <p:cNvGrpSpPr>
            <a:grpSpLocks/>
          </p:cNvGrpSpPr>
          <p:nvPr/>
        </p:nvGrpSpPr>
        <p:grpSpPr bwMode="auto">
          <a:xfrm rot="20334323">
            <a:off x="1215308" y="892133"/>
            <a:ext cx="142875" cy="142875"/>
            <a:chOff x="2031" y="3123"/>
            <a:chExt cx="90" cy="90"/>
          </a:xfrm>
        </p:grpSpPr>
        <p:sp>
          <p:nvSpPr>
            <p:cNvPr id="55445" name="Oval 184"/>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46" name="Group 185"/>
            <p:cNvGrpSpPr>
              <a:grpSpLocks/>
            </p:cNvGrpSpPr>
            <p:nvPr/>
          </p:nvGrpSpPr>
          <p:grpSpPr bwMode="auto">
            <a:xfrm>
              <a:off x="2052" y="3148"/>
              <a:ext cx="48" cy="48"/>
              <a:chOff x="2052" y="2911"/>
              <a:chExt cx="48" cy="48"/>
            </a:xfrm>
          </p:grpSpPr>
          <p:sp>
            <p:nvSpPr>
              <p:cNvPr id="55447" name="Line 186"/>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8" name="Line 187"/>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5440" name="Line 188"/>
          <p:cNvSpPr>
            <a:spLocks noChangeShapeType="1"/>
          </p:cNvSpPr>
          <p:nvPr/>
        </p:nvSpPr>
        <p:spPr bwMode="auto">
          <a:xfrm flipV="1">
            <a:off x="1393108" y="795296"/>
            <a:ext cx="358775" cy="120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1" name="Line 189"/>
          <p:cNvSpPr>
            <a:spLocks noChangeShapeType="1"/>
          </p:cNvSpPr>
          <p:nvPr/>
        </p:nvSpPr>
        <p:spPr bwMode="auto">
          <a:xfrm flipV="1">
            <a:off x="2778995" y="901658"/>
            <a:ext cx="122238" cy="242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2" name="Line 190"/>
          <p:cNvSpPr>
            <a:spLocks noChangeShapeType="1"/>
          </p:cNvSpPr>
          <p:nvPr/>
        </p:nvSpPr>
        <p:spPr bwMode="auto">
          <a:xfrm>
            <a:off x="664445" y="1322346"/>
            <a:ext cx="277813" cy="496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3" name="Text Box 191"/>
          <p:cNvSpPr txBox="1">
            <a:spLocks noChangeArrowheads="1"/>
          </p:cNvSpPr>
          <p:nvPr/>
        </p:nvSpPr>
        <p:spPr bwMode="auto">
          <a:xfrm>
            <a:off x="2541588" y="5840023"/>
            <a:ext cx="41322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20000"/>
              </a:spcBef>
              <a:spcAft>
                <a:spcPct val="0"/>
              </a:spcAft>
              <a:buClr>
                <a:schemeClr val="folHlink"/>
              </a:buClr>
              <a:buSzPct val="85000"/>
              <a:buFont typeface="Wingdings 2" pitchFamily="18" charset="2"/>
              <a:buNone/>
            </a:pPr>
            <a:r>
              <a:rPr kumimoji="1" lang="zh-CN" altLang="en-US" sz="4000" b="1" dirty="0">
                <a:solidFill>
                  <a:srgbClr val="000066"/>
                </a:solidFill>
                <a:latin typeface="黑体" pitchFamily="2" charset="-122"/>
                <a:ea typeface="黑体" pitchFamily="2" charset="-122"/>
              </a:rPr>
              <a:t>土中水 </a:t>
            </a:r>
            <a:r>
              <a:rPr kumimoji="1" lang="en-US" altLang="zh-CN" sz="4000" b="1" dirty="0">
                <a:solidFill>
                  <a:srgbClr val="000066"/>
                </a:solidFill>
                <a:ea typeface="黑体" pitchFamily="2" charset="-122"/>
              </a:rPr>
              <a:t>–</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结合水</a:t>
            </a:r>
            <a:endParaRPr lang="zh-CN" altLang="en-US" sz="4000" b="1" dirty="0">
              <a:solidFill>
                <a:srgbClr val="000066"/>
              </a:solidFill>
              <a:latin typeface="黑体" pitchFamily="2" charset="-122"/>
              <a:ea typeface="黑体" pitchFamily="2" charset="-122"/>
            </a:endParaRPr>
          </a:p>
        </p:txBody>
      </p:sp>
      <p:sp>
        <p:nvSpPr>
          <p:cNvPr id="191"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中水</a:t>
            </a:r>
          </a:p>
        </p:txBody>
      </p:sp>
      <p:sp>
        <p:nvSpPr>
          <p:cNvPr id="192" name="Text Box 180"/>
          <p:cNvSpPr txBox="1">
            <a:spLocks noChangeArrowheads="1"/>
          </p:cNvSpPr>
          <p:nvPr/>
        </p:nvSpPr>
        <p:spPr bwMode="auto">
          <a:xfrm>
            <a:off x="1388435" y="3995733"/>
            <a:ext cx="1017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t>结合</a:t>
            </a:r>
            <a:r>
              <a:rPr lang="zh-CN" altLang="en-US" sz="1800" b="1" dirty="0" smtClean="0"/>
              <a:t>水</a:t>
            </a:r>
            <a:endParaRPr lang="en-US" altLang="zh-CN" sz="1800" b="1" dirty="0"/>
          </a:p>
        </p:txBody>
      </p:sp>
      <p:cxnSp>
        <p:nvCxnSpPr>
          <p:cNvPr id="6" name="直接箭头连接符 5"/>
          <p:cNvCxnSpPr/>
          <p:nvPr/>
        </p:nvCxnSpPr>
        <p:spPr>
          <a:xfrm>
            <a:off x="1224209" y="3963510"/>
            <a:ext cx="1381301" cy="0"/>
          </a:xfrm>
          <a:prstGeom prst="straightConnector1">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8" name="直接箭头连接符 197"/>
          <p:cNvCxnSpPr/>
          <p:nvPr/>
        </p:nvCxnSpPr>
        <p:spPr>
          <a:xfrm>
            <a:off x="2618474" y="3965532"/>
            <a:ext cx="816320" cy="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223811" y="3576577"/>
            <a:ext cx="0" cy="471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3" name="Text Box 8"/>
          <p:cNvSpPr txBox="1">
            <a:spLocks noChangeArrowheads="1"/>
          </p:cNvSpPr>
          <p:nvPr/>
        </p:nvSpPr>
        <p:spPr bwMode="auto">
          <a:xfrm>
            <a:off x="3965418" y="1049158"/>
            <a:ext cx="4961299" cy="405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4638" indent="-2746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buClr>
                <a:srgbClr val="C00000"/>
              </a:buClr>
              <a:buSzPct val="130000"/>
              <a:buFont typeface="Arial" panose="020B0604020202020204" pitchFamily="34" charset="0"/>
              <a:buChar char="•"/>
            </a:pPr>
            <a:r>
              <a:rPr kumimoji="1" lang="zh-CN" altLang="en-US" sz="2200" b="1" dirty="0" smtClean="0">
                <a:solidFill>
                  <a:srgbClr val="000066"/>
                </a:solidFill>
                <a:ea typeface="幼圆" pitchFamily="49" charset="-122"/>
              </a:rPr>
              <a:t>最</a:t>
            </a:r>
            <a:r>
              <a:rPr kumimoji="1" lang="zh-CN" altLang="en-US" sz="2200" b="1" dirty="0">
                <a:solidFill>
                  <a:srgbClr val="000066"/>
                </a:solidFill>
                <a:ea typeface="幼圆" pitchFamily="49" charset="-122"/>
              </a:rPr>
              <a:t>靠近颗粒表面的水分子所受电场的作用很强</a:t>
            </a:r>
            <a:r>
              <a:rPr kumimoji="1" lang="zh-CN" altLang="en-US" sz="2200" b="1" dirty="0" smtClean="0">
                <a:solidFill>
                  <a:srgbClr val="000066"/>
                </a:solidFill>
                <a:ea typeface="幼圆" pitchFamily="49" charset="-122"/>
              </a:rPr>
              <a:t>，可以达到</a:t>
            </a:r>
            <a:r>
              <a:rPr kumimoji="1" lang="en-US" altLang="zh-CN" sz="2200" b="1" dirty="0" smtClean="0">
                <a:solidFill>
                  <a:srgbClr val="000066"/>
                </a:solidFill>
                <a:ea typeface="幼圆" pitchFamily="49" charset="-122"/>
              </a:rPr>
              <a:t>l000MPa</a:t>
            </a:r>
          </a:p>
          <a:p>
            <a:pPr marL="342900" indent="-342900" eaLnBrk="1" hangingPunct="1">
              <a:lnSpc>
                <a:spcPct val="120000"/>
              </a:lnSpc>
              <a:buClr>
                <a:srgbClr val="C00000"/>
              </a:buClr>
              <a:buSzPct val="130000"/>
              <a:buFont typeface="Arial" panose="020B0604020202020204" pitchFamily="34" charset="0"/>
              <a:buChar char="•"/>
            </a:pPr>
            <a:r>
              <a:rPr kumimoji="1" lang="zh-CN" altLang="en-US" sz="2200" b="1" dirty="0" smtClean="0">
                <a:solidFill>
                  <a:srgbClr val="000066"/>
                </a:solidFill>
                <a:ea typeface="幼圆" pitchFamily="49" charset="-122"/>
              </a:rPr>
              <a:t>随着</a:t>
            </a:r>
            <a:r>
              <a:rPr kumimoji="1" lang="zh-CN" altLang="en-US" sz="2200" b="1" dirty="0">
                <a:solidFill>
                  <a:srgbClr val="000066"/>
                </a:solidFill>
                <a:ea typeface="幼圆" pitchFamily="49" charset="-122"/>
              </a:rPr>
              <a:t>远离颗粒表面，作用力很快</a:t>
            </a:r>
            <a:r>
              <a:rPr kumimoji="1" lang="zh-CN" altLang="en-US" sz="2200" b="1" dirty="0" smtClean="0">
                <a:solidFill>
                  <a:srgbClr val="000066"/>
                </a:solidFill>
                <a:ea typeface="幼圆" pitchFamily="49" charset="-122"/>
              </a:rPr>
              <a:t>衰减。电场</a:t>
            </a:r>
            <a:r>
              <a:rPr kumimoji="1" lang="zh-CN" altLang="en-US" sz="2200" b="1" dirty="0">
                <a:solidFill>
                  <a:srgbClr val="000066"/>
                </a:solidFill>
                <a:ea typeface="幼圆" pitchFamily="49" charset="-122"/>
              </a:rPr>
              <a:t>以外不受电场力作</a:t>
            </a:r>
            <a:r>
              <a:rPr kumimoji="1" lang="zh-CN" altLang="en-US" sz="2200" b="1" dirty="0" smtClean="0">
                <a:solidFill>
                  <a:srgbClr val="000066"/>
                </a:solidFill>
                <a:ea typeface="幼圆" pitchFamily="49" charset="-122"/>
              </a:rPr>
              <a:t>用</a:t>
            </a:r>
            <a:endParaRPr kumimoji="1" lang="en-US" altLang="zh-CN" sz="2200" b="1" dirty="0" smtClean="0">
              <a:solidFill>
                <a:srgbClr val="000066"/>
              </a:solidFill>
              <a:ea typeface="幼圆" pitchFamily="49" charset="-122"/>
            </a:endParaRPr>
          </a:p>
          <a:p>
            <a:pPr marL="342900" indent="-342900" eaLnBrk="1" hangingPunct="1">
              <a:lnSpc>
                <a:spcPct val="120000"/>
              </a:lnSpc>
              <a:buClr>
                <a:srgbClr val="C00000"/>
              </a:buClr>
              <a:buSzPct val="130000"/>
              <a:buFont typeface="Arial" panose="020B0604020202020204" pitchFamily="34" charset="0"/>
              <a:buChar char="•"/>
            </a:pPr>
            <a:r>
              <a:rPr kumimoji="1" lang="zh-CN" altLang="en-US" sz="2200" b="1" dirty="0">
                <a:solidFill>
                  <a:srgbClr val="000066"/>
                </a:solidFill>
                <a:ea typeface="幼圆" pitchFamily="49" charset="-122"/>
              </a:rPr>
              <a:t>受颗粒表面电场作用力吸引而包围在颗粒四周的</a:t>
            </a:r>
            <a:r>
              <a:rPr kumimoji="1" lang="zh-CN" altLang="en-US" sz="2200" b="1" dirty="0" smtClean="0">
                <a:solidFill>
                  <a:srgbClr val="000066"/>
                </a:solidFill>
                <a:ea typeface="幼圆" pitchFamily="49" charset="-122"/>
              </a:rPr>
              <a:t>水称为</a:t>
            </a:r>
            <a:r>
              <a:rPr kumimoji="1" lang="zh-CN" altLang="en-US" sz="2200" b="1" dirty="0" smtClean="0">
                <a:solidFill>
                  <a:srgbClr val="C00000"/>
                </a:solidFill>
                <a:ea typeface="幼圆" pitchFamily="49" charset="-122"/>
              </a:rPr>
              <a:t>结合水</a:t>
            </a:r>
            <a:endParaRPr kumimoji="1" lang="en-US" altLang="zh-CN" sz="2200" b="1" dirty="0" smtClean="0">
              <a:solidFill>
                <a:srgbClr val="C00000"/>
              </a:solidFill>
              <a:ea typeface="幼圆" pitchFamily="49" charset="-122"/>
            </a:endParaRPr>
          </a:p>
          <a:p>
            <a:pPr marL="342900" indent="-342900" eaLnBrk="1" hangingPunct="1">
              <a:lnSpc>
                <a:spcPct val="120000"/>
              </a:lnSpc>
              <a:buClr>
                <a:srgbClr val="C00000"/>
              </a:buClr>
              <a:buSzPct val="130000"/>
              <a:buFont typeface="Arial" panose="020B0604020202020204" pitchFamily="34" charset="0"/>
              <a:buChar char="•"/>
            </a:pPr>
            <a:r>
              <a:rPr kumimoji="1" lang="zh-CN" altLang="en-US" sz="2200" b="1" dirty="0" smtClean="0">
                <a:solidFill>
                  <a:srgbClr val="000066"/>
                </a:solidFill>
                <a:ea typeface="幼圆" pitchFamily="49" charset="-122"/>
              </a:rPr>
              <a:t>和</a:t>
            </a:r>
            <a:r>
              <a:rPr kumimoji="1" lang="zh-CN" altLang="en-US" sz="2200" b="1" dirty="0">
                <a:solidFill>
                  <a:srgbClr val="000066"/>
                </a:solidFill>
                <a:ea typeface="幼圆" pitchFamily="49" charset="-122"/>
              </a:rPr>
              <a:t>所受到的电化学力相比</a:t>
            </a:r>
            <a:r>
              <a:rPr kumimoji="1" lang="zh-CN" altLang="en-US" sz="2200" b="1" dirty="0" smtClean="0">
                <a:solidFill>
                  <a:srgbClr val="000066"/>
                </a:solidFill>
                <a:ea typeface="幼圆" pitchFamily="49" charset="-122"/>
              </a:rPr>
              <a:t>，结合水的自身</a:t>
            </a:r>
            <a:r>
              <a:rPr kumimoji="1" lang="zh-CN" altLang="en-US" sz="2200" b="1" dirty="0">
                <a:solidFill>
                  <a:srgbClr val="000066"/>
                </a:solidFill>
                <a:ea typeface="幼圆" pitchFamily="49" charset="-122"/>
              </a:rPr>
              <a:t>重力不起主要作用，不会因自身的重力而发生</a:t>
            </a:r>
            <a:r>
              <a:rPr kumimoji="1" lang="zh-CN" altLang="en-US" sz="2200" b="1" dirty="0" smtClean="0">
                <a:solidFill>
                  <a:srgbClr val="000066"/>
                </a:solidFill>
                <a:ea typeface="幼圆" pitchFamily="49" charset="-122"/>
              </a:rPr>
              <a:t>流动</a:t>
            </a:r>
            <a:endParaRPr kumimoji="1" lang="zh-CN" altLang="en-US" sz="2200" b="1" dirty="0">
              <a:solidFill>
                <a:srgbClr val="000066"/>
              </a:solidFill>
              <a:ea typeface="幼圆" pitchFamily="49" charset="-122"/>
            </a:endParaRPr>
          </a:p>
        </p:txBody>
      </p:sp>
    </p:spTree>
    <p:extLst>
      <p:ext uri="{BB962C8B-B14F-4D97-AF65-F5344CB8AC3E}">
        <p14:creationId xmlns:p14="http://schemas.microsoft.com/office/powerpoint/2010/main" val="32664404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03"/>
                                        </p:tgtEl>
                                        <p:attrNameLst>
                                          <p:attrName>style.visibility</p:attrName>
                                        </p:attrNameLst>
                                      </p:cBhvr>
                                      <p:to>
                                        <p:strVal val="visible"/>
                                      </p:to>
                                    </p:set>
                                    <p:anim calcmode="lin" valueType="num">
                                      <p:cBhvr additive="base">
                                        <p:cTn id="7" dur="1000" fill="hold"/>
                                        <p:tgtEl>
                                          <p:spTgt spid="203"/>
                                        </p:tgtEl>
                                        <p:attrNameLst>
                                          <p:attrName>ppt_x</p:attrName>
                                        </p:attrNameLst>
                                      </p:cBhvr>
                                      <p:tavLst>
                                        <p:tav tm="0">
                                          <p:val>
                                            <p:strVal val="1+#ppt_w/2"/>
                                          </p:val>
                                        </p:tav>
                                        <p:tav tm="100000">
                                          <p:val>
                                            <p:strVal val="#ppt_x"/>
                                          </p:val>
                                        </p:tav>
                                      </p:tavLst>
                                    </p:anim>
                                    <p:anim calcmode="lin" valueType="num">
                                      <p:cBhvr additive="base">
                                        <p:cTn id="8" dur="1000" fill="hold"/>
                                        <p:tgtEl>
                                          <p:spTgt spid="2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Oval 6"/>
          <p:cNvSpPr>
            <a:spLocks noChangeArrowheads="1"/>
          </p:cNvSpPr>
          <p:nvPr/>
        </p:nvSpPr>
        <p:spPr bwMode="auto">
          <a:xfrm>
            <a:off x="1256583" y="1046121"/>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1" name="Oval 7"/>
          <p:cNvSpPr>
            <a:spLocks noChangeArrowheads="1"/>
          </p:cNvSpPr>
          <p:nvPr/>
        </p:nvSpPr>
        <p:spPr bwMode="auto">
          <a:xfrm>
            <a:off x="1640758" y="1119146"/>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2" name="Oval 8"/>
          <p:cNvSpPr>
            <a:spLocks noChangeArrowheads="1"/>
          </p:cNvSpPr>
          <p:nvPr/>
        </p:nvSpPr>
        <p:spPr bwMode="auto">
          <a:xfrm>
            <a:off x="1653458" y="1436646"/>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3" name="Oval 9"/>
          <p:cNvSpPr>
            <a:spLocks noChangeArrowheads="1"/>
          </p:cNvSpPr>
          <p:nvPr/>
        </p:nvSpPr>
        <p:spPr bwMode="auto">
          <a:xfrm>
            <a:off x="1658220" y="1770021"/>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4" name="Oval 10"/>
          <p:cNvSpPr>
            <a:spLocks noChangeArrowheads="1"/>
          </p:cNvSpPr>
          <p:nvPr/>
        </p:nvSpPr>
        <p:spPr bwMode="auto">
          <a:xfrm>
            <a:off x="1650283" y="2039896"/>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5" name="Oval 11"/>
          <p:cNvSpPr>
            <a:spLocks noChangeArrowheads="1"/>
          </p:cNvSpPr>
          <p:nvPr/>
        </p:nvSpPr>
        <p:spPr bwMode="auto">
          <a:xfrm>
            <a:off x="1256583" y="1262021"/>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6" name="Oval 12"/>
          <p:cNvSpPr>
            <a:spLocks noChangeArrowheads="1"/>
          </p:cNvSpPr>
          <p:nvPr/>
        </p:nvSpPr>
        <p:spPr bwMode="auto">
          <a:xfrm>
            <a:off x="1256583" y="1498558"/>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7" name="Oval 13"/>
          <p:cNvSpPr>
            <a:spLocks noChangeArrowheads="1"/>
          </p:cNvSpPr>
          <p:nvPr/>
        </p:nvSpPr>
        <p:spPr bwMode="auto">
          <a:xfrm>
            <a:off x="1243883" y="1733508"/>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8" name="Oval 14"/>
          <p:cNvSpPr>
            <a:spLocks noChangeArrowheads="1"/>
          </p:cNvSpPr>
          <p:nvPr/>
        </p:nvSpPr>
        <p:spPr bwMode="auto">
          <a:xfrm>
            <a:off x="3008417" y="1643021"/>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09" name="Oval 15"/>
          <p:cNvSpPr>
            <a:spLocks noChangeArrowheads="1"/>
          </p:cNvSpPr>
          <p:nvPr/>
        </p:nvSpPr>
        <p:spPr bwMode="auto">
          <a:xfrm>
            <a:off x="1247058" y="2212933"/>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0" name="Oval 16"/>
          <p:cNvSpPr>
            <a:spLocks noChangeArrowheads="1"/>
          </p:cNvSpPr>
          <p:nvPr/>
        </p:nvSpPr>
        <p:spPr bwMode="auto">
          <a:xfrm>
            <a:off x="1262933" y="2447883"/>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1" name="Oval 17"/>
          <p:cNvSpPr>
            <a:spLocks noChangeArrowheads="1"/>
          </p:cNvSpPr>
          <p:nvPr/>
        </p:nvSpPr>
        <p:spPr bwMode="auto">
          <a:xfrm>
            <a:off x="1247058" y="2889208"/>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2" name="Oval 18"/>
          <p:cNvSpPr>
            <a:spLocks noChangeArrowheads="1"/>
          </p:cNvSpPr>
          <p:nvPr/>
        </p:nvSpPr>
        <p:spPr bwMode="auto">
          <a:xfrm>
            <a:off x="1243883" y="3124158"/>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3" name="Oval 19"/>
          <p:cNvSpPr>
            <a:spLocks noChangeArrowheads="1"/>
          </p:cNvSpPr>
          <p:nvPr/>
        </p:nvSpPr>
        <p:spPr bwMode="auto">
          <a:xfrm>
            <a:off x="1653458" y="2319296"/>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4" name="Oval 20"/>
          <p:cNvSpPr>
            <a:spLocks noChangeArrowheads="1"/>
          </p:cNvSpPr>
          <p:nvPr/>
        </p:nvSpPr>
        <p:spPr bwMode="auto">
          <a:xfrm>
            <a:off x="1666158" y="2636796"/>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5" name="Oval 21"/>
          <p:cNvSpPr>
            <a:spLocks noChangeArrowheads="1"/>
          </p:cNvSpPr>
          <p:nvPr/>
        </p:nvSpPr>
        <p:spPr bwMode="auto">
          <a:xfrm>
            <a:off x="1664570" y="2901908"/>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6" name="Oval 22"/>
          <p:cNvSpPr>
            <a:spLocks noChangeArrowheads="1"/>
          </p:cNvSpPr>
          <p:nvPr/>
        </p:nvSpPr>
        <p:spPr bwMode="auto">
          <a:xfrm rot="20395237">
            <a:off x="2113833" y="1171533"/>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8" name="Oval 24"/>
          <p:cNvSpPr>
            <a:spLocks noChangeArrowheads="1"/>
          </p:cNvSpPr>
          <p:nvPr/>
        </p:nvSpPr>
        <p:spPr bwMode="auto">
          <a:xfrm rot="20278472">
            <a:off x="2131295" y="1822408"/>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19" name="Oval 25"/>
          <p:cNvSpPr>
            <a:spLocks noChangeArrowheads="1"/>
          </p:cNvSpPr>
          <p:nvPr/>
        </p:nvSpPr>
        <p:spPr bwMode="auto">
          <a:xfrm rot="953518">
            <a:off x="2123358" y="2092283"/>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1" name="Oval 27"/>
          <p:cNvSpPr>
            <a:spLocks noChangeArrowheads="1"/>
          </p:cNvSpPr>
          <p:nvPr/>
        </p:nvSpPr>
        <p:spPr bwMode="auto">
          <a:xfrm rot="18091190">
            <a:off x="2119389" y="2720139"/>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2" name="Oval 28"/>
          <p:cNvSpPr>
            <a:spLocks noChangeArrowheads="1"/>
          </p:cNvSpPr>
          <p:nvPr/>
        </p:nvSpPr>
        <p:spPr bwMode="auto">
          <a:xfrm rot="1256111">
            <a:off x="2143995" y="3022558"/>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3" name="Oval 29"/>
          <p:cNvSpPr>
            <a:spLocks noChangeArrowheads="1"/>
          </p:cNvSpPr>
          <p:nvPr/>
        </p:nvSpPr>
        <p:spPr bwMode="auto">
          <a:xfrm rot="1204763" flipH="1">
            <a:off x="2766295" y="1142958"/>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4" name="Oval 30"/>
          <p:cNvSpPr>
            <a:spLocks noChangeArrowheads="1"/>
          </p:cNvSpPr>
          <p:nvPr/>
        </p:nvSpPr>
        <p:spPr bwMode="auto">
          <a:xfrm rot="15617702" flipH="1">
            <a:off x="2608339" y="1450139"/>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5" name="Oval 31"/>
          <p:cNvSpPr>
            <a:spLocks noChangeArrowheads="1"/>
          </p:cNvSpPr>
          <p:nvPr/>
        </p:nvSpPr>
        <p:spPr bwMode="auto">
          <a:xfrm rot="3133596">
            <a:off x="2580586" y="1823202"/>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6" name="Oval 32"/>
          <p:cNvSpPr>
            <a:spLocks noChangeArrowheads="1"/>
          </p:cNvSpPr>
          <p:nvPr/>
        </p:nvSpPr>
        <p:spPr bwMode="auto">
          <a:xfrm rot="10255815">
            <a:off x="2917929" y="2003383"/>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7" name="Oval 33"/>
          <p:cNvSpPr>
            <a:spLocks noChangeArrowheads="1"/>
          </p:cNvSpPr>
          <p:nvPr/>
        </p:nvSpPr>
        <p:spPr bwMode="auto">
          <a:xfrm rot="5772974" flipH="1">
            <a:off x="2582211" y="2321677"/>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8" name="Oval 34"/>
          <p:cNvSpPr>
            <a:spLocks noChangeArrowheads="1"/>
          </p:cNvSpPr>
          <p:nvPr/>
        </p:nvSpPr>
        <p:spPr bwMode="auto">
          <a:xfrm rot="3508810" flipH="1">
            <a:off x="2802014" y="2640764"/>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29" name="Oval 35"/>
          <p:cNvSpPr>
            <a:spLocks noChangeArrowheads="1"/>
          </p:cNvSpPr>
          <p:nvPr/>
        </p:nvSpPr>
        <p:spPr bwMode="auto">
          <a:xfrm rot="1256111">
            <a:off x="2632945" y="2932071"/>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grpSp>
        <p:nvGrpSpPr>
          <p:cNvPr id="55331" name="Group 37"/>
          <p:cNvGrpSpPr>
            <a:grpSpLocks/>
          </p:cNvGrpSpPr>
          <p:nvPr/>
        </p:nvGrpSpPr>
        <p:grpSpPr bwMode="auto">
          <a:xfrm rot="20334323">
            <a:off x="1539158" y="1614446"/>
            <a:ext cx="142875" cy="142875"/>
            <a:chOff x="2031" y="3123"/>
            <a:chExt cx="90" cy="90"/>
          </a:xfrm>
        </p:grpSpPr>
        <p:sp>
          <p:nvSpPr>
            <p:cNvPr id="55483" name="Oval 38"/>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84" name="Group 39"/>
            <p:cNvGrpSpPr>
              <a:grpSpLocks/>
            </p:cNvGrpSpPr>
            <p:nvPr/>
          </p:nvGrpSpPr>
          <p:grpSpPr bwMode="auto">
            <a:xfrm>
              <a:off x="2052" y="3148"/>
              <a:ext cx="48" cy="48"/>
              <a:chOff x="2052" y="2911"/>
              <a:chExt cx="48" cy="48"/>
            </a:xfrm>
          </p:grpSpPr>
          <p:sp>
            <p:nvSpPr>
              <p:cNvPr id="55485" name="Line 40"/>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86" name="Line 41"/>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5332" name="Line 42"/>
          <p:cNvSpPr>
            <a:spLocks noChangeShapeType="1"/>
          </p:cNvSpPr>
          <p:nvPr/>
        </p:nvSpPr>
        <p:spPr bwMode="auto">
          <a:xfrm>
            <a:off x="1426445" y="11318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3" name="Line 43"/>
          <p:cNvSpPr>
            <a:spLocks noChangeShapeType="1"/>
          </p:cNvSpPr>
          <p:nvPr/>
        </p:nvSpPr>
        <p:spPr bwMode="auto">
          <a:xfrm>
            <a:off x="1310558" y="11318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4" name="Line 44"/>
          <p:cNvSpPr>
            <a:spLocks noChangeShapeType="1"/>
          </p:cNvSpPr>
          <p:nvPr/>
        </p:nvSpPr>
        <p:spPr bwMode="auto">
          <a:xfrm rot="5400000">
            <a:off x="1312145" y="11334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5" name="Text Box 45"/>
          <p:cNvSpPr txBox="1">
            <a:spLocks noChangeArrowheads="1"/>
          </p:cNvSpPr>
          <p:nvPr/>
        </p:nvSpPr>
        <p:spPr bwMode="auto">
          <a:xfrm>
            <a:off x="299320" y="695283"/>
            <a:ext cx="714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smtClean="0"/>
              <a:t>黏土</a:t>
            </a:r>
            <a:endParaRPr lang="zh-CN" altLang="en-US" sz="1800" b="1" dirty="0"/>
          </a:p>
          <a:p>
            <a:pPr eaLnBrk="1" hangingPunct="1">
              <a:lnSpc>
                <a:spcPct val="100000"/>
              </a:lnSpc>
              <a:spcBef>
                <a:spcPct val="0"/>
              </a:spcBef>
              <a:spcAft>
                <a:spcPct val="0"/>
              </a:spcAft>
            </a:pPr>
            <a:r>
              <a:rPr lang="zh-CN" altLang="en-US" sz="1800" b="1" dirty="0"/>
              <a:t>颗粒</a:t>
            </a:r>
            <a:endParaRPr lang="en-US" altLang="zh-CN" sz="1800" b="1" dirty="0"/>
          </a:p>
        </p:txBody>
      </p:sp>
      <p:sp>
        <p:nvSpPr>
          <p:cNvPr id="55336" name="Line 46"/>
          <p:cNvSpPr>
            <a:spLocks noChangeShapeType="1"/>
          </p:cNvSpPr>
          <p:nvPr/>
        </p:nvSpPr>
        <p:spPr bwMode="auto">
          <a:xfrm>
            <a:off x="1810620" y="12048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7" name="Line 47"/>
          <p:cNvSpPr>
            <a:spLocks noChangeShapeType="1"/>
          </p:cNvSpPr>
          <p:nvPr/>
        </p:nvSpPr>
        <p:spPr bwMode="auto">
          <a:xfrm>
            <a:off x="1694733" y="12048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8" name="Line 48"/>
          <p:cNvSpPr>
            <a:spLocks noChangeShapeType="1"/>
          </p:cNvSpPr>
          <p:nvPr/>
        </p:nvSpPr>
        <p:spPr bwMode="auto">
          <a:xfrm rot="5400000">
            <a:off x="1696320" y="12064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9" name="Line 49"/>
          <p:cNvSpPr>
            <a:spLocks noChangeShapeType="1"/>
          </p:cNvSpPr>
          <p:nvPr/>
        </p:nvSpPr>
        <p:spPr bwMode="auto">
          <a:xfrm>
            <a:off x="1823320" y="15223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0" name="Line 50"/>
          <p:cNvSpPr>
            <a:spLocks noChangeShapeType="1"/>
          </p:cNvSpPr>
          <p:nvPr/>
        </p:nvSpPr>
        <p:spPr bwMode="auto">
          <a:xfrm>
            <a:off x="1707433" y="15223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1" name="Line 51"/>
          <p:cNvSpPr>
            <a:spLocks noChangeShapeType="1"/>
          </p:cNvSpPr>
          <p:nvPr/>
        </p:nvSpPr>
        <p:spPr bwMode="auto">
          <a:xfrm rot="5400000">
            <a:off x="1709020" y="15239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2" name="Line 52"/>
          <p:cNvSpPr>
            <a:spLocks noChangeShapeType="1"/>
          </p:cNvSpPr>
          <p:nvPr/>
        </p:nvSpPr>
        <p:spPr bwMode="auto">
          <a:xfrm>
            <a:off x="1828083" y="1855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3" name="Line 53"/>
          <p:cNvSpPr>
            <a:spLocks noChangeShapeType="1"/>
          </p:cNvSpPr>
          <p:nvPr/>
        </p:nvSpPr>
        <p:spPr bwMode="auto">
          <a:xfrm>
            <a:off x="1712195" y="1855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4" name="Line 54"/>
          <p:cNvSpPr>
            <a:spLocks noChangeShapeType="1"/>
          </p:cNvSpPr>
          <p:nvPr/>
        </p:nvSpPr>
        <p:spPr bwMode="auto">
          <a:xfrm rot="5400000">
            <a:off x="1713783" y="18573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5" name="Line 55"/>
          <p:cNvSpPr>
            <a:spLocks noChangeShapeType="1"/>
          </p:cNvSpPr>
          <p:nvPr/>
        </p:nvSpPr>
        <p:spPr bwMode="auto">
          <a:xfrm>
            <a:off x="1820145" y="21256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6" name="Line 56"/>
          <p:cNvSpPr>
            <a:spLocks noChangeShapeType="1"/>
          </p:cNvSpPr>
          <p:nvPr/>
        </p:nvSpPr>
        <p:spPr bwMode="auto">
          <a:xfrm>
            <a:off x="1704258" y="21256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7" name="Line 57"/>
          <p:cNvSpPr>
            <a:spLocks noChangeShapeType="1"/>
          </p:cNvSpPr>
          <p:nvPr/>
        </p:nvSpPr>
        <p:spPr bwMode="auto">
          <a:xfrm rot="5400000">
            <a:off x="1705845" y="21272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8" name="Line 58"/>
          <p:cNvSpPr>
            <a:spLocks noChangeShapeType="1"/>
          </p:cNvSpPr>
          <p:nvPr/>
        </p:nvSpPr>
        <p:spPr bwMode="auto">
          <a:xfrm>
            <a:off x="1426445" y="1347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9" name="Line 59"/>
          <p:cNvSpPr>
            <a:spLocks noChangeShapeType="1"/>
          </p:cNvSpPr>
          <p:nvPr/>
        </p:nvSpPr>
        <p:spPr bwMode="auto">
          <a:xfrm>
            <a:off x="1310558" y="1347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0" name="Line 60"/>
          <p:cNvSpPr>
            <a:spLocks noChangeShapeType="1"/>
          </p:cNvSpPr>
          <p:nvPr/>
        </p:nvSpPr>
        <p:spPr bwMode="auto">
          <a:xfrm rot="5400000">
            <a:off x="1312145" y="13493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1" name="Line 61"/>
          <p:cNvSpPr>
            <a:spLocks noChangeShapeType="1"/>
          </p:cNvSpPr>
          <p:nvPr/>
        </p:nvSpPr>
        <p:spPr bwMode="auto">
          <a:xfrm>
            <a:off x="1426445" y="15842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2" name="Line 62"/>
          <p:cNvSpPr>
            <a:spLocks noChangeShapeType="1"/>
          </p:cNvSpPr>
          <p:nvPr/>
        </p:nvSpPr>
        <p:spPr bwMode="auto">
          <a:xfrm>
            <a:off x="1310558" y="15842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3" name="Line 63"/>
          <p:cNvSpPr>
            <a:spLocks noChangeShapeType="1"/>
          </p:cNvSpPr>
          <p:nvPr/>
        </p:nvSpPr>
        <p:spPr bwMode="auto">
          <a:xfrm rot="5400000">
            <a:off x="1312145" y="15858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4" name="Line 64"/>
          <p:cNvSpPr>
            <a:spLocks noChangeShapeType="1"/>
          </p:cNvSpPr>
          <p:nvPr/>
        </p:nvSpPr>
        <p:spPr bwMode="auto">
          <a:xfrm>
            <a:off x="1413745" y="18192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5" name="Line 65"/>
          <p:cNvSpPr>
            <a:spLocks noChangeShapeType="1"/>
          </p:cNvSpPr>
          <p:nvPr/>
        </p:nvSpPr>
        <p:spPr bwMode="auto">
          <a:xfrm>
            <a:off x="1297858" y="18192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6" name="Line 66"/>
          <p:cNvSpPr>
            <a:spLocks noChangeShapeType="1"/>
          </p:cNvSpPr>
          <p:nvPr/>
        </p:nvSpPr>
        <p:spPr bwMode="auto">
          <a:xfrm rot="5400000">
            <a:off x="1299445" y="18208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7" name="Line 67"/>
          <p:cNvSpPr>
            <a:spLocks noChangeShapeType="1"/>
          </p:cNvSpPr>
          <p:nvPr/>
        </p:nvSpPr>
        <p:spPr bwMode="auto">
          <a:xfrm>
            <a:off x="3178279" y="1728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8" name="Line 68"/>
          <p:cNvSpPr>
            <a:spLocks noChangeShapeType="1"/>
          </p:cNvSpPr>
          <p:nvPr/>
        </p:nvSpPr>
        <p:spPr bwMode="auto">
          <a:xfrm>
            <a:off x="3062392" y="1728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9" name="Line 69"/>
          <p:cNvSpPr>
            <a:spLocks noChangeShapeType="1"/>
          </p:cNvSpPr>
          <p:nvPr/>
        </p:nvSpPr>
        <p:spPr bwMode="auto">
          <a:xfrm rot="5400000">
            <a:off x="3063979" y="17303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0" name="Line 70"/>
          <p:cNvSpPr>
            <a:spLocks noChangeShapeType="1"/>
          </p:cNvSpPr>
          <p:nvPr/>
        </p:nvSpPr>
        <p:spPr bwMode="auto">
          <a:xfrm>
            <a:off x="1416920" y="22986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1" name="Line 71"/>
          <p:cNvSpPr>
            <a:spLocks noChangeShapeType="1"/>
          </p:cNvSpPr>
          <p:nvPr/>
        </p:nvSpPr>
        <p:spPr bwMode="auto">
          <a:xfrm>
            <a:off x="1301033" y="22986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2" name="Line 72"/>
          <p:cNvSpPr>
            <a:spLocks noChangeShapeType="1"/>
          </p:cNvSpPr>
          <p:nvPr/>
        </p:nvSpPr>
        <p:spPr bwMode="auto">
          <a:xfrm rot="5400000">
            <a:off x="1302620" y="23002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3" name="Line 73"/>
          <p:cNvSpPr>
            <a:spLocks noChangeShapeType="1"/>
          </p:cNvSpPr>
          <p:nvPr/>
        </p:nvSpPr>
        <p:spPr bwMode="auto">
          <a:xfrm>
            <a:off x="1432795" y="25336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4" name="Line 74"/>
          <p:cNvSpPr>
            <a:spLocks noChangeShapeType="1"/>
          </p:cNvSpPr>
          <p:nvPr/>
        </p:nvSpPr>
        <p:spPr bwMode="auto">
          <a:xfrm>
            <a:off x="1316908" y="25336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5" name="Line 75"/>
          <p:cNvSpPr>
            <a:spLocks noChangeShapeType="1"/>
          </p:cNvSpPr>
          <p:nvPr/>
        </p:nvSpPr>
        <p:spPr bwMode="auto">
          <a:xfrm rot="5400000">
            <a:off x="1318495" y="253519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5366" name="Group 76"/>
          <p:cNvGrpSpPr>
            <a:grpSpLocks/>
          </p:cNvGrpSpPr>
          <p:nvPr/>
        </p:nvGrpSpPr>
        <p:grpSpPr bwMode="auto">
          <a:xfrm>
            <a:off x="1675683" y="3167021"/>
            <a:ext cx="287337" cy="174625"/>
            <a:chOff x="4085" y="1836"/>
            <a:chExt cx="181" cy="110"/>
          </a:xfrm>
        </p:grpSpPr>
        <p:sp>
          <p:nvSpPr>
            <p:cNvPr id="55479" name="Oval 77"/>
            <p:cNvSpPr>
              <a:spLocks noChangeArrowheads="1"/>
            </p:cNvSpPr>
            <p:nvPr/>
          </p:nvSpPr>
          <p:spPr bwMode="auto">
            <a:xfrm>
              <a:off x="4085" y="1836"/>
              <a:ext cx="181" cy="110"/>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480" name="Line 78"/>
            <p:cNvSpPr>
              <a:spLocks noChangeShapeType="1"/>
            </p:cNvSpPr>
            <p:nvPr/>
          </p:nvSpPr>
          <p:spPr bwMode="auto">
            <a:xfrm>
              <a:off x="4192" y="1890"/>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81" name="Line 79"/>
            <p:cNvSpPr>
              <a:spLocks noChangeShapeType="1"/>
            </p:cNvSpPr>
            <p:nvPr/>
          </p:nvSpPr>
          <p:spPr bwMode="auto">
            <a:xfrm>
              <a:off x="4119" y="1890"/>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82" name="Line 80"/>
            <p:cNvSpPr>
              <a:spLocks noChangeShapeType="1"/>
            </p:cNvSpPr>
            <p:nvPr/>
          </p:nvSpPr>
          <p:spPr bwMode="auto">
            <a:xfrm rot="5400000">
              <a:off x="4120" y="1891"/>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67" name="Line 81"/>
          <p:cNvSpPr>
            <a:spLocks noChangeShapeType="1"/>
          </p:cNvSpPr>
          <p:nvPr/>
        </p:nvSpPr>
        <p:spPr bwMode="auto">
          <a:xfrm>
            <a:off x="1416920" y="29749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8" name="Line 82"/>
          <p:cNvSpPr>
            <a:spLocks noChangeShapeType="1"/>
          </p:cNvSpPr>
          <p:nvPr/>
        </p:nvSpPr>
        <p:spPr bwMode="auto">
          <a:xfrm>
            <a:off x="1301033" y="29749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9" name="Line 83"/>
          <p:cNvSpPr>
            <a:spLocks noChangeShapeType="1"/>
          </p:cNvSpPr>
          <p:nvPr/>
        </p:nvSpPr>
        <p:spPr bwMode="auto">
          <a:xfrm rot="5400000">
            <a:off x="1302620" y="29765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0" name="Line 84"/>
          <p:cNvSpPr>
            <a:spLocks noChangeShapeType="1"/>
          </p:cNvSpPr>
          <p:nvPr/>
        </p:nvSpPr>
        <p:spPr bwMode="auto">
          <a:xfrm>
            <a:off x="1413745" y="32098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1" name="Line 85"/>
          <p:cNvSpPr>
            <a:spLocks noChangeShapeType="1"/>
          </p:cNvSpPr>
          <p:nvPr/>
        </p:nvSpPr>
        <p:spPr bwMode="auto">
          <a:xfrm>
            <a:off x="1297858" y="32098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2" name="Line 86"/>
          <p:cNvSpPr>
            <a:spLocks noChangeShapeType="1"/>
          </p:cNvSpPr>
          <p:nvPr/>
        </p:nvSpPr>
        <p:spPr bwMode="auto">
          <a:xfrm rot="5400000">
            <a:off x="1299445" y="32114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3" name="Line 87"/>
          <p:cNvSpPr>
            <a:spLocks noChangeShapeType="1"/>
          </p:cNvSpPr>
          <p:nvPr/>
        </p:nvSpPr>
        <p:spPr bwMode="auto">
          <a:xfrm>
            <a:off x="1823320" y="24050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4" name="Line 88"/>
          <p:cNvSpPr>
            <a:spLocks noChangeShapeType="1"/>
          </p:cNvSpPr>
          <p:nvPr/>
        </p:nvSpPr>
        <p:spPr bwMode="auto">
          <a:xfrm>
            <a:off x="1707433" y="24050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5" name="Line 89"/>
          <p:cNvSpPr>
            <a:spLocks noChangeShapeType="1"/>
          </p:cNvSpPr>
          <p:nvPr/>
        </p:nvSpPr>
        <p:spPr bwMode="auto">
          <a:xfrm rot="5400000">
            <a:off x="1709020" y="24066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6" name="Line 90"/>
          <p:cNvSpPr>
            <a:spLocks noChangeShapeType="1"/>
          </p:cNvSpPr>
          <p:nvPr/>
        </p:nvSpPr>
        <p:spPr bwMode="auto">
          <a:xfrm>
            <a:off x="1836020" y="27225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7" name="Line 91"/>
          <p:cNvSpPr>
            <a:spLocks noChangeShapeType="1"/>
          </p:cNvSpPr>
          <p:nvPr/>
        </p:nvSpPr>
        <p:spPr bwMode="auto">
          <a:xfrm>
            <a:off x="1720133" y="27225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8" name="Line 92"/>
          <p:cNvSpPr>
            <a:spLocks noChangeShapeType="1"/>
          </p:cNvSpPr>
          <p:nvPr/>
        </p:nvSpPr>
        <p:spPr bwMode="auto">
          <a:xfrm rot="5400000">
            <a:off x="1721720" y="27241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5379" name="Group 93"/>
          <p:cNvGrpSpPr>
            <a:grpSpLocks/>
          </p:cNvGrpSpPr>
          <p:nvPr/>
        </p:nvGrpSpPr>
        <p:grpSpPr bwMode="auto">
          <a:xfrm>
            <a:off x="1724895" y="2946358"/>
            <a:ext cx="192088" cy="76200"/>
            <a:chOff x="4390" y="2020"/>
            <a:chExt cx="121" cy="48"/>
          </a:xfrm>
        </p:grpSpPr>
        <p:sp>
          <p:nvSpPr>
            <p:cNvPr id="55476" name="Line 94"/>
            <p:cNvSpPr>
              <a:spLocks noChangeShapeType="1"/>
            </p:cNvSpPr>
            <p:nvPr/>
          </p:nvSpPr>
          <p:spPr bwMode="auto">
            <a:xfrm>
              <a:off x="4463" y="2043"/>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77" name="Line 95"/>
            <p:cNvSpPr>
              <a:spLocks noChangeShapeType="1"/>
            </p:cNvSpPr>
            <p:nvPr/>
          </p:nvSpPr>
          <p:spPr bwMode="auto">
            <a:xfrm>
              <a:off x="4390" y="2043"/>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78" name="Line 96"/>
            <p:cNvSpPr>
              <a:spLocks noChangeShapeType="1"/>
            </p:cNvSpPr>
            <p:nvPr/>
          </p:nvSpPr>
          <p:spPr bwMode="auto">
            <a:xfrm rot="5400000">
              <a:off x="4391" y="204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80" name="Line 97"/>
          <p:cNvSpPr>
            <a:spLocks noChangeShapeType="1"/>
          </p:cNvSpPr>
          <p:nvPr/>
        </p:nvSpPr>
        <p:spPr bwMode="auto">
          <a:xfrm rot="20395237">
            <a:off x="2278933" y="12350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1" name="Line 98"/>
          <p:cNvSpPr>
            <a:spLocks noChangeShapeType="1"/>
          </p:cNvSpPr>
          <p:nvPr/>
        </p:nvSpPr>
        <p:spPr bwMode="auto">
          <a:xfrm rot="20395237">
            <a:off x="2169395" y="12747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2" name="Line 99"/>
          <p:cNvSpPr>
            <a:spLocks noChangeShapeType="1"/>
          </p:cNvSpPr>
          <p:nvPr/>
        </p:nvSpPr>
        <p:spPr bwMode="auto">
          <a:xfrm rot="4195237">
            <a:off x="2170983" y="12747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 name="组合 3"/>
          <p:cNvGrpSpPr/>
          <p:nvPr/>
        </p:nvGrpSpPr>
        <p:grpSpPr>
          <a:xfrm rot="18415679">
            <a:off x="2183683" y="1431883"/>
            <a:ext cx="174625" cy="287338"/>
            <a:chOff x="2183683" y="1431883"/>
            <a:chExt cx="174625" cy="287338"/>
          </a:xfrm>
        </p:grpSpPr>
        <p:sp>
          <p:nvSpPr>
            <p:cNvPr id="55317" name="Oval 23"/>
            <p:cNvSpPr>
              <a:spLocks noChangeArrowheads="1"/>
            </p:cNvSpPr>
            <p:nvPr/>
          </p:nvSpPr>
          <p:spPr bwMode="auto">
            <a:xfrm rot="5982298">
              <a:off x="2127327" y="1488239"/>
              <a:ext cx="287338"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83" name="Line 100"/>
            <p:cNvSpPr>
              <a:spLocks noChangeShapeType="1"/>
            </p:cNvSpPr>
            <p:nvPr/>
          </p:nvSpPr>
          <p:spPr bwMode="auto">
            <a:xfrm rot="5982298">
              <a:off x="2223370" y="16382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4" name="Line 101"/>
            <p:cNvSpPr>
              <a:spLocks noChangeShapeType="1"/>
            </p:cNvSpPr>
            <p:nvPr/>
          </p:nvSpPr>
          <p:spPr bwMode="auto">
            <a:xfrm rot="5982298">
              <a:off x="2242420" y="15239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5" name="Line 102"/>
            <p:cNvSpPr>
              <a:spLocks noChangeShapeType="1"/>
            </p:cNvSpPr>
            <p:nvPr/>
          </p:nvSpPr>
          <p:spPr bwMode="auto">
            <a:xfrm rot="11382298">
              <a:off x="2240833" y="15255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86" name="Line 103"/>
          <p:cNvSpPr>
            <a:spLocks noChangeShapeType="1"/>
          </p:cNvSpPr>
          <p:nvPr/>
        </p:nvSpPr>
        <p:spPr bwMode="auto">
          <a:xfrm rot="20278472">
            <a:off x="2294808" y="18843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7" name="Line 104"/>
          <p:cNvSpPr>
            <a:spLocks noChangeShapeType="1"/>
          </p:cNvSpPr>
          <p:nvPr/>
        </p:nvSpPr>
        <p:spPr bwMode="auto">
          <a:xfrm rot="20278472">
            <a:off x="2188445" y="19271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8" name="Line 105"/>
          <p:cNvSpPr>
            <a:spLocks noChangeShapeType="1"/>
          </p:cNvSpPr>
          <p:nvPr/>
        </p:nvSpPr>
        <p:spPr bwMode="auto">
          <a:xfrm rot="4078472">
            <a:off x="2190033" y="19287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9" name="Line 106"/>
          <p:cNvSpPr>
            <a:spLocks noChangeShapeType="1"/>
          </p:cNvSpPr>
          <p:nvPr/>
        </p:nvSpPr>
        <p:spPr bwMode="auto">
          <a:xfrm rot="953518">
            <a:off x="2290045" y="21938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0" name="Line 107"/>
          <p:cNvSpPr>
            <a:spLocks noChangeShapeType="1"/>
          </p:cNvSpPr>
          <p:nvPr/>
        </p:nvSpPr>
        <p:spPr bwMode="auto">
          <a:xfrm rot="953518">
            <a:off x="2178920" y="21637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1" name="Line 108"/>
          <p:cNvSpPr>
            <a:spLocks noChangeShapeType="1"/>
          </p:cNvSpPr>
          <p:nvPr/>
        </p:nvSpPr>
        <p:spPr bwMode="auto">
          <a:xfrm rot="6353518">
            <a:off x="2180508" y="21653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 name="组合 2"/>
          <p:cNvGrpSpPr/>
          <p:nvPr/>
        </p:nvGrpSpPr>
        <p:grpSpPr>
          <a:xfrm rot="3643925">
            <a:off x="2163045" y="2344696"/>
            <a:ext cx="174625" cy="287337"/>
            <a:chOff x="2163045" y="2344696"/>
            <a:chExt cx="174625" cy="287337"/>
          </a:xfrm>
        </p:grpSpPr>
        <p:sp>
          <p:nvSpPr>
            <p:cNvPr id="55320" name="Oval 26"/>
            <p:cNvSpPr>
              <a:spLocks noChangeArrowheads="1"/>
            </p:cNvSpPr>
            <p:nvPr/>
          </p:nvSpPr>
          <p:spPr bwMode="auto">
            <a:xfrm rot="15827026">
              <a:off x="2106689" y="2401052"/>
              <a:ext cx="287337" cy="174625"/>
            </a:xfrm>
            <a:prstGeom prst="ellipse">
              <a:avLst/>
            </a:prstGeom>
            <a:solidFill>
              <a:srgbClr val="99CCFF"/>
            </a:solidFill>
            <a:ln w="9525">
              <a:solidFill>
                <a:schemeClr val="tx1"/>
              </a:solidFill>
              <a:round/>
              <a:headEnd/>
              <a:tailEnd/>
            </a:ln>
          </p:spPr>
          <p:txBody>
            <a:bodyPr wrap="none" anchor="ctr"/>
            <a:lstStyle/>
            <a:p>
              <a:endParaRPr lang="zh-CN" altLang="en-US"/>
            </a:p>
          </p:txBody>
        </p:sp>
        <p:sp>
          <p:nvSpPr>
            <p:cNvPr id="55392" name="Line 109"/>
            <p:cNvSpPr>
              <a:spLocks noChangeShapeType="1"/>
            </p:cNvSpPr>
            <p:nvPr/>
          </p:nvSpPr>
          <p:spPr bwMode="auto">
            <a:xfrm rot="15827026">
              <a:off x="2202733" y="24256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3" name="Line 110"/>
            <p:cNvSpPr>
              <a:spLocks noChangeShapeType="1"/>
            </p:cNvSpPr>
            <p:nvPr/>
          </p:nvSpPr>
          <p:spPr bwMode="auto">
            <a:xfrm rot="15827026">
              <a:off x="2215433" y="25399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4" name="Line 111"/>
            <p:cNvSpPr>
              <a:spLocks noChangeShapeType="1"/>
            </p:cNvSpPr>
            <p:nvPr/>
          </p:nvSpPr>
          <p:spPr bwMode="auto">
            <a:xfrm rot="21227026">
              <a:off x="2217020" y="25383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95" name="Line 112"/>
          <p:cNvSpPr>
            <a:spLocks noChangeShapeType="1"/>
          </p:cNvSpPr>
          <p:nvPr/>
        </p:nvSpPr>
        <p:spPr bwMode="auto">
          <a:xfrm rot="18091190">
            <a:off x="2256708" y="275268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6" name="Line 113"/>
          <p:cNvSpPr>
            <a:spLocks noChangeShapeType="1"/>
          </p:cNvSpPr>
          <p:nvPr/>
        </p:nvSpPr>
        <p:spPr bwMode="auto">
          <a:xfrm rot="18091190">
            <a:off x="2194795" y="28511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7" name="Line 114"/>
          <p:cNvSpPr>
            <a:spLocks noChangeShapeType="1"/>
          </p:cNvSpPr>
          <p:nvPr/>
        </p:nvSpPr>
        <p:spPr bwMode="auto">
          <a:xfrm rot="1891190">
            <a:off x="2197970" y="28511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8" name="Line 115"/>
          <p:cNvSpPr>
            <a:spLocks noChangeShapeType="1"/>
          </p:cNvSpPr>
          <p:nvPr/>
        </p:nvSpPr>
        <p:spPr bwMode="auto">
          <a:xfrm rot="1256111">
            <a:off x="2309095" y="31305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9" name="Line 116"/>
          <p:cNvSpPr>
            <a:spLocks noChangeShapeType="1"/>
          </p:cNvSpPr>
          <p:nvPr/>
        </p:nvSpPr>
        <p:spPr bwMode="auto">
          <a:xfrm rot="1256111">
            <a:off x="2201145" y="30892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0" name="Line 117"/>
          <p:cNvSpPr>
            <a:spLocks noChangeShapeType="1"/>
          </p:cNvSpPr>
          <p:nvPr/>
        </p:nvSpPr>
        <p:spPr bwMode="auto">
          <a:xfrm rot="6656111">
            <a:off x="2202733" y="30908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1" name="Line 118"/>
          <p:cNvSpPr>
            <a:spLocks noChangeShapeType="1"/>
          </p:cNvSpPr>
          <p:nvPr/>
        </p:nvSpPr>
        <p:spPr bwMode="auto">
          <a:xfrm rot="1204763" flipH="1">
            <a:off x="2810745" y="12048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2" name="Line 119"/>
          <p:cNvSpPr>
            <a:spLocks noChangeShapeType="1"/>
          </p:cNvSpPr>
          <p:nvPr/>
        </p:nvSpPr>
        <p:spPr bwMode="auto">
          <a:xfrm rot="1204763" flipH="1">
            <a:off x="2920283" y="12461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3" name="Line 120"/>
          <p:cNvSpPr>
            <a:spLocks noChangeShapeType="1"/>
          </p:cNvSpPr>
          <p:nvPr/>
        </p:nvSpPr>
        <p:spPr bwMode="auto">
          <a:xfrm rot="17404763" flipH="1">
            <a:off x="2918695" y="12461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4" name="Line 121"/>
          <p:cNvSpPr>
            <a:spLocks noChangeShapeType="1"/>
          </p:cNvSpPr>
          <p:nvPr/>
        </p:nvSpPr>
        <p:spPr bwMode="auto">
          <a:xfrm rot="15617702" flipH="1">
            <a:off x="2721845" y="1601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5" name="Line 122"/>
          <p:cNvSpPr>
            <a:spLocks noChangeShapeType="1"/>
          </p:cNvSpPr>
          <p:nvPr/>
        </p:nvSpPr>
        <p:spPr bwMode="auto">
          <a:xfrm rot="15617702" flipH="1">
            <a:off x="2702795" y="14874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6" name="Line 123"/>
          <p:cNvSpPr>
            <a:spLocks noChangeShapeType="1"/>
          </p:cNvSpPr>
          <p:nvPr/>
        </p:nvSpPr>
        <p:spPr bwMode="auto">
          <a:xfrm rot="10217702" flipH="1">
            <a:off x="2704383" y="14890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7" name="Line 124"/>
          <p:cNvSpPr>
            <a:spLocks noChangeShapeType="1"/>
          </p:cNvSpPr>
          <p:nvPr/>
        </p:nvSpPr>
        <p:spPr bwMode="auto">
          <a:xfrm rot="3133596">
            <a:off x="2725842" y="19605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8" name="Line 125"/>
          <p:cNvSpPr>
            <a:spLocks noChangeShapeType="1"/>
          </p:cNvSpPr>
          <p:nvPr/>
        </p:nvSpPr>
        <p:spPr bwMode="auto">
          <a:xfrm rot="3133596">
            <a:off x="2654404" y="18684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9" name="Line 126"/>
          <p:cNvSpPr>
            <a:spLocks noChangeShapeType="1"/>
          </p:cNvSpPr>
          <p:nvPr/>
        </p:nvSpPr>
        <p:spPr bwMode="auto">
          <a:xfrm rot="8533596">
            <a:off x="2654404" y="18700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0" name="Line 127"/>
          <p:cNvSpPr>
            <a:spLocks noChangeShapeType="1"/>
          </p:cNvSpPr>
          <p:nvPr/>
        </p:nvSpPr>
        <p:spPr bwMode="auto">
          <a:xfrm rot="10255815">
            <a:off x="2960792" y="21018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1" name="Line 128"/>
          <p:cNvSpPr>
            <a:spLocks noChangeShapeType="1"/>
          </p:cNvSpPr>
          <p:nvPr/>
        </p:nvSpPr>
        <p:spPr bwMode="auto">
          <a:xfrm rot="10255815">
            <a:off x="3075092" y="208275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2" name="Line 129"/>
          <p:cNvSpPr>
            <a:spLocks noChangeShapeType="1"/>
          </p:cNvSpPr>
          <p:nvPr/>
        </p:nvSpPr>
        <p:spPr bwMode="auto">
          <a:xfrm rot="15655814">
            <a:off x="3073504" y="208117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3" name="Line 130"/>
          <p:cNvSpPr>
            <a:spLocks noChangeShapeType="1"/>
          </p:cNvSpPr>
          <p:nvPr/>
        </p:nvSpPr>
        <p:spPr bwMode="auto">
          <a:xfrm rot="5772974" flipH="1">
            <a:off x="2699693" y="234469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4" name="Line 131"/>
          <p:cNvSpPr>
            <a:spLocks noChangeShapeType="1"/>
          </p:cNvSpPr>
          <p:nvPr/>
        </p:nvSpPr>
        <p:spPr bwMode="auto">
          <a:xfrm rot="5772974" flipH="1">
            <a:off x="2686993" y="245899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5" name="Line 132"/>
          <p:cNvSpPr>
            <a:spLocks noChangeShapeType="1"/>
          </p:cNvSpPr>
          <p:nvPr/>
        </p:nvSpPr>
        <p:spPr bwMode="auto">
          <a:xfrm rot="372974" flipH="1">
            <a:off x="2685405" y="2457408"/>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6" name="Line 133"/>
          <p:cNvSpPr>
            <a:spLocks noChangeShapeType="1"/>
          </p:cNvSpPr>
          <p:nvPr/>
        </p:nvSpPr>
        <p:spPr bwMode="auto">
          <a:xfrm rot="3508810" flipH="1">
            <a:off x="2874245" y="26717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7" name="Line 134"/>
          <p:cNvSpPr>
            <a:spLocks noChangeShapeType="1"/>
          </p:cNvSpPr>
          <p:nvPr/>
        </p:nvSpPr>
        <p:spPr bwMode="auto">
          <a:xfrm rot="3508810" flipH="1">
            <a:off x="2934570" y="27701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8" name="Line 135"/>
          <p:cNvSpPr>
            <a:spLocks noChangeShapeType="1"/>
          </p:cNvSpPr>
          <p:nvPr/>
        </p:nvSpPr>
        <p:spPr bwMode="auto">
          <a:xfrm rot="19708810" flipH="1">
            <a:off x="2932983" y="27701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9" name="Line 136"/>
          <p:cNvSpPr>
            <a:spLocks noChangeShapeType="1"/>
          </p:cNvSpPr>
          <p:nvPr/>
        </p:nvSpPr>
        <p:spPr bwMode="auto">
          <a:xfrm rot="1256111">
            <a:off x="2798045" y="3040021"/>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20" name="Line 137"/>
          <p:cNvSpPr>
            <a:spLocks noChangeShapeType="1"/>
          </p:cNvSpPr>
          <p:nvPr/>
        </p:nvSpPr>
        <p:spPr bwMode="auto">
          <a:xfrm rot="1256111">
            <a:off x="2690095" y="2998746"/>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21" name="Line 138"/>
          <p:cNvSpPr>
            <a:spLocks noChangeShapeType="1"/>
          </p:cNvSpPr>
          <p:nvPr/>
        </p:nvSpPr>
        <p:spPr bwMode="auto">
          <a:xfrm rot="6656111">
            <a:off x="2691683" y="3000333"/>
            <a:ext cx="7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5422" name="Group 139"/>
          <p:cNvGrpSpPr>
            <a:grpSpLocks/>
          </p:cNvGrpSpPr>
          <p:nvPr/>
        </p:nvGrpSpPr>
        <p:grpSpPr bwMode="auto">
          <a:xfrm rot="20334323">
            <a:off x="1593133" y="1301708"/>
            <a:ext cx="142875" cy="142875"/>
            <a:chOff x="2031" y="3123"/>
            <a:chExt cx="90" cy="90"/>
          </a:xfrm>
        </p:grpSpPr>
        <p:sp>
          <p:nvSpPr>
            <p:cNvPr id="55472" name="Oval 140"/>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73" name="Group 141"/>
            <p:cNvGrpSpPr>
              <a:grpSpLocks/>
            </p:cNvGrpSpPr>
            <p:nvPr/>
          </p:nvGrpSpPr>
          <p:grpSpPr bwMode="auto">
            <a:xfrm>
              <a:off x="2052" y="3148"/>
              <a:ext cx="48" cy="48"/>
              <a:chOff x="2052" y="2911"/>
              <a:chExt cx="48" cy="48"/>
            </a:xfrm>
          </p:grpSpPr>
          <p:sp>
            <p:nvSpPr>
              <p:cNvPr id="55474" name="Line 142"/>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75" name="Line 143"/>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5423" name="Group 144"/>
          <p:cNvGrpSpPr>
            <a:grpSpLocks/>
          </p:cNvGrpSpPr>
          <p:nvPr/>
        </p:nvGrpSpPr>
        <p:grpSpPr bwMode="auto">
          <a:xfrm rot="20334323">
            <a:off x="1256583" y="1984333"/>
            <a:ext cx="142875" cy="142875"/>
            <a:chOff x="2031" y="3123"/>
            <a:chExt cx="90" cy="90"/>
          </a:xfrm>
        </p:grpSpPr>
        <p:sp>
          <p:nvSpPr>
            <p:cNvPr id="55468" name="Oval 145"/>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69" name="Group 146"/>
            <p:cNvGrpSpPr>
              <a:grpSpLocks/>
            </p:cNvGrpSpPr>
            <p:nvPr/>
          </p:nvGrpSpPr>
          <p:grpSpPr bwMode="auto">
            <a:xfrm>
              <a:off x="2052" y="3148"/>
              <a:ext cx="48" cy="48"/>
              <a:chOff x="2052" y="2911"/>
              <a:chExt cx="48" cy="48"/>
            </a:xfrm>
          </p:grpSpPr>
          <p:sp>
            <p:nvSpPr>
              <p:cNvPr id="55470" name="Line 147"/>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71" name="Line 148"/>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5424" name="Group 149"/>
          <p:cNvGrpSpPr>
            <a:grpSpLocks/>
          </p:cNvGrpSpPr>
          <p:nvPr/>
        </p:nvGrpSpPr>
        <p:grpSpPr bwMode="auto">
          <a:xfrm rot="20334323">
            <a:off x="1475658" y="2671721"/>
            <a:ext cx="142875" cy="142875"/>
            <a:chOff x="2031" y="3123"/>
            <a:chExt cx="90" cy="90"/>
          </a:xfrm>
        </p:grpSpPr>
        <p:sp>
          <p:nvSpPr>
            <p:cNvPr id="55464" name="Oval 150"/>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65" name="Group 151"/>
            <p:cNvGrpSpPr>
              <a:grpSpLocks/>
            </p:cNvGrpSpPr>
            <p:nvPr/>
          </p:nvGrpSpPr>
          <p:grpSpPr bwMode="auto">
            <a:xfrm>
              <a:off x="2052" y="3148"/>
              <a:ext cx="48" cy="48"/>
              <a:chOff x="2052" y="2911"/>
              <a:chExt cx="48" cy="48"/>
            </a:xfrm>
          </p:grpSpPr>
          <p:sp>
            <p:nvSpPr>
              <p:cNvPr id="55466" name="Line 152"/>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67" name="Line 153"/>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5425" name="Group 154"/>
          <p:cNvGrpSpPr>
            <a:grpSpLocks/>
          </p:cNvGrpSpPr>
          <p:nvPr/>
        </p:nvGrpSpPr>
        <p:grpSpPr bwMode="auto">
          <a:xfrm rot="20334323">
            <a:off x="1485183" y="1960521"/>
            <a:ext cx="142875" cy="142875"/>
            <a:chOff x="2031" y="3123"/>
            <a:chExt cx="90" cy="90"/>
          </a:xfrm>
        </p:grpSpPr>
        <p:sp>
          <p:nvSpPr>
            <p:cNvPr id="55460" name="Oval 155"/>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61" name="Group 156"/>
            <p:cNvGrpSpPr>
              <a:grpSpLocks/>
            </p:cNvGrpSpPr>
            <p:nvPr/>
          </p:nvGrpSpPr>
          <p:grpSpPr bwMode="auto">
            <a:xfrm>
              <a:off x="2052" y="3148"/>
              <a:ext cx="48" cy="48"/>
              <a:chOff x="2052" y="2911"/>
              <a:chExt cx="48" cy="48"/>
            </a:xfrm>
          </p:grpSpPr>
          <p:sp>
            <p:nvSpPr>
              <p:cNvPr id="55462" name="Line 157"/>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63" name="Line 158"/>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5426" name="Group 159"/>
          <p:cNvGrpSpPr>
            <a:grpSpLocks/>
          </p:cNvGrpSpPr>
          <p:nvPr/>
        </p:nvGrpSpPr>
        <p:grpSpPr bwMode="auto">
          <a:xfrm rot="20334323">
            <a:off x="1258170" y="2679658"/>
            <a:ext cx="142875" cy="142875"/>
            <a:chOff x="2031" y="3123"/>
            <a:chExt cx="90" cy="90"/>
          </a:xfrm>
        </p:grpSpPr>
        <p:sp>
          <p:nvSpPr>
            <p:cNvPr id="55456" name="Oval 160"/>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57" name="Group 161"/>
            <p:cNvGrpSpPr>
              <a:grpSpLocks/>
            </p:cNvGrpSpPr>
            <p:nvPr/>
          </p:nvGrpSpPr>
          <p:grpSpPr bwMode="auto">
            <a:xfrm>
              <a:off x="2052" y="3148"/>
              <a:ext cx="48" cy="48"/>
              <a:chOff x="2052" y="2911"/>
              <a:chExt cx="48" cy="48"/>
            </a:xfrm>
          </p:grpSpPr>
          <p:sp>
            <p:nvSpPr>
              <p:cNvPr id="55458" name="Line 162"/>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9" name="Line 163"/>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5427" name="Group 164"/>
          <p:cNvGrpSpPr>
            <a:grpSpLocks/>
          </p:cNvGrpSpPr>
          <p:nvPr/>
        </p:nvGrpSpPr>
        <p:grpSpPr bwMode="auto">
          <a:xfrm>
            <a:off x="440608" y="868321"/>
            <a:ext cx="1212850" cy="3059112"/>
            <a:chOff x="3293" y="324"/>
            <a:chExt cx="764" cy="1927"/>
          </a:xfrm>
        </p:grpSpPr>
        <p:sp>
          <p:nvSpPr>
            <p:cNvPr id="55449" name="Freeform 165"/>
            <p:cNvSpPr>
              <a:spLocks/>
            </p:cNvSpPr>
            <p:nvPr/>
          </p:nvSpPr>
          <p:spPr bwMode="auto">
            <a:xfrm rot="-3889418">
              <a:off x="2736" y="930"/>
              <a:ext cx="1878" cy="764"/>
            </a:xfrm>
            <a:custGeom>
              <a:avLst/>
              <a:gdLst>
                <a:gd name="T0" fmla="*/ 0 w 2384"/>
                <a:gd name="T1" fmla="*/ 694 h 742"/>
                <a:gd name="T2" fmla="*/ 791 w 2384"/>
                <a:gd name="T3" fmla="*/ 57 h 742"/>
                <a:gd name="T4" fmla="*/ 803 w 2384"/>
                <a:gd name="T5" fmla="*/ 101 h 742"/>
                <a:gd name="T6" fmla="*/ 852 w 2384"/>
                <a:gd name="T7" fmla="*/ 66 h 742"/>
                <a:gd name="T8" fmla="*/ 858 w 2384"/>
                <a:gd name="T9" fmla="*/ 95 h 742"/>
                <a:gd name="T10" fmla="*/ 917 w 2384"/>
                <a:gd name="T11" fmla="*/ 41 h 742"/>
                <a:gd name="T12" fmla="*/ 931 w 2384"/>
                <a:gd name="T13" fmla="*/ 79 h 742"/>
                <a:gd name="T14" fmla="*/ 1001 w 2384"/>
                <a:gd name="T15" fmla="*/ 28 h 742"/>
                <a:gd name="T16" fmla="*/ 1015 w 2384"/>
                <a:gd name="T17" fmla="*/ 51 h 742"/>
                <a:gd name="T18" fmla="*/ 1056 w 2384"/>
                <a:gd name="T19" fmla="*/ 12 h 742"/>
                <a:gd name="T20" fmla="*/ 1063 w 2384"/>
                <a:gd name="T21" fmla="*/ 44 h 742"/>
                <a:gd name="T22" fmla="*/ 1120 w 2384"/>
                <a:gd name="T23" fmla="*/ 0 h 742"/>
                <a:gd name="T24" fmla="*/ 1126 w 2384"/>
                <a:gd name="T25" fmla="*/ 31 h 742"/>
                <a:gd name="T26" fmla="*/ 1160 w 2384"/>
                <a:gd name="T27" fmla="*/ 9 h 742"/>
                <a:gd name="T28" fmla="*/ 1165 w 2384"/>
                <a:gd name="T29" fmla="*/ 47 h 742"/>
                <a:gd name="T30" fmla="*/ 241 w 2384"/>
                <a:gd name="T31" fmla="*/ 810 h 742"/>
                <a:gd name="T32" fmla="*/ 227 w 2384"/>
                <a:gd name="T33" fmla="*/ 754 h 742"/>
                <a:gd name="T34" fmla="*/ 202 w 2384"/>
                <a:gd name="T35" fmla="*/ 772 h 742"/>
                <a:gd name="T36" fmla="*/ 192 w 2384"/>
                <a:gd name="T37" fmla="*/ 734 h 742"/>
                <a:gd name="T38" fmla="*/ 174 w 2384"/>
                <a:gd name="T39" fmla="*/ 743 h 742"/>
                <a:gd name="T40" fmla="*/ 159 w 2384"/>
                <a:gd name="T41" fmla="*/ 705 h 742"/>
                <a:gd name="T42" fmla="*/ 125 w 2384"/>
                <a:gd name="T43" fmla="*/ 737 h 742"/>
                <a:gd name="T44" fmla="*/ 113 w 2384"/>
                <a:gd name="T45" fmla="*/ 694 h 742"/>
                <a:gd name="T46" fmla="*/ 59 w 2384"/>
                <a:gd name="T47" fmla="*/ 743 h 742"/>
                <a:gd name="T48" fmla="*/ 51 w 2384"/>
                <a:gd name="T49" fmla="*/ 705 h 742"/>
                <a:gd name="T50" fmla="*/ 8 w 2384"/>
                <a:gd name="T51" fmla="*/ 740 h 742"/>
                <a:gd name="T52" fmla="*/ 0 w 2384"/>
                <a:gd name="T53" fmla="*/ 694 h 7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384"/>
                <a:gd name="T82" fmla="*/ 0 h 742"/>
                <a:gd name="T83" fmla="*/ 2384 w 2384"/>
                <a:gd name="T84" fmla="*/ 742 h 7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384" h="742">
                  <a:moveTo>
                    <a:pt x="0" y="636"/>
                  </a:moveTo>
                  <a:lnTo>
                    <a:pt x="1619" y="51"/>
                  </a:lnTo>
                  <a:lnTo>
                    <a:pt x="1641" y="92"/>
                  </a:lnTo>
                  <a:lnTo>
                    <a:pt x="1744" y="60"/>
                  </a:lnTo>
                  <a:lnTo>
                    <a:pt x="1756" y="86"/>
                  </a:lnTo>
                  <a:lnTo>
                    <a:pt x="1875" y="38"/>
                  </a:lnTo>
                  <a:lnTo>
                    <a:pt x="1904" y="73"/>
                  </a:lnTo>
                  <a:lnTo>
                    <a:pt x="2048" y="25"/>
                  </a:lnTo>
                  <a:lnTo>
                    <a:pt x="2076" y="48"/>
                  </a:lnTo>
                  <a:lnTo>
                    <a:pt x="2160" y="12"/>
                  </a:lnTo>
                  <a:lnTo>
                    <a:pt x="2176" y="41"/>
                  </a:lnTo>
                  <a:lnTo>
                    <a:pt x="2291" y="0"/>
                  </a:lnTo>
                  <a:lnTo>
                    <a:pt x="2304" y="28"/>
                  </a:lnTo>
                  <a:lnTo>
                    <a:pt x="2371" y="9"/>
                  </a:lnTo>
                  <a:lnTo>
                    <a:pt x="2384" y="44"/>
                  </a:lnTo>
                  <a:lnTo>
                    <a:pt x="492" y="742"/>
                  </a:lnTo>
                  <a:lnTo>
                    <a:pt x="464" y="691"/>
                  </a:lnTo>
                  <a:lnTo>
                    <a:pt x="412" y="707"/>
                  </a:lnTo>
                  <a:lnTo>
                    <a:pt x="393" y="672"/>
                  </a:lnTo>
                  <a:lnTo>
                    <a:pt x="355" y="681"/>
                  </a:lnTo>
                  <a:lnTo>
                    <a:pt x="326" y="646"/>
                  </a:lnTo>
                  <a:lnTo>
                    <a:pt x="256" y="675"/>
                  </a:lnTo>
                  <a:lnTo>
                    <a:pt x="230" y="636"/>
                  </a:lnTo>
                  <a:lnTo>
                    <a:pt x="121" y="681"/>
                  </a:lnTo>
                  <a:lnTo>
                    <a:pt x="105" y="646"/>
                  </a:lnTo>
                  <a:lnTo>
                    <a:pt x="16" y="678"/>
                  </a:lnTo>
                  <a:lnTo>
                    <a:pt x="0" y="636"/>
                  </a:lnTo>
                  <a:close/>
                </a:path>
              </a:pathLst>
            </a:custGeom>
            <a:solidFill>
              <a:srgbClr val="FFCC99"/>
            </a:solidFill>
            <a:ln w="9525">
              <a:solidFill>
                <a:schemeClr val="tx1"/>
              </a:solidFill>
              <a:round/>
              <a:headEnd/>
              <a:tailEnd/>
            </a:ln>
          </p:spPr>
          <p:txBody>
            <a:bodyPr/>
            <a:lstStyle/>
            <a:p>
              <a:endParaRPr lang="zh-CN" altLang="en-US"/>
            </a:p>
          </p:txBody>
        </p:sp>
        <p:sp>
          <p:nvSpPr>
            <p:cNvPr id="55450" name="Text Box 166"/>
            <p:cNvSpPr txBox="1">
              <a:spLocks noChangeArrowheads="1"/>
            </p:cNvSpPr>
            <p:nvPr/>
          </p:nvSpPr>
          <p:spPr bwMode="auto">
            <a:xfrm rot="-5389042">
              <a:off x="2825" y="1343"/>
              <a:ext cx="13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400"/>
                <a:t>-  -  -  -  -  -  -  -  </a:t>
              </a:r>
            </a:p>
          </p:txBody>
        </p:sp>
        <p:sp>
          <p:nvSpPr>
            <p:cNvPr id="55451" name="Text Box 167"/>
            <p:cNvSpPr txBox="1">
              <a:spLocks noChangeArrowheads="1"/>
            </p:cNvSpPr>
            <p:nvPr/>
          </p:nvSpPr>
          <p:spPr bwMode="auto">
            <a:xfrm rot="-5421615">
              <a:off x="2916" y="982"/>
              <a:ext cx="16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400"/>
                <a:t>-  -  -  -  -  -  -  -  -   </a:t>
              </a:r>
            </a:p>
          </p:txBody>
        </p:sp>
        <p:sp>
          <p:nvSpPr>
            <p:cNvPr id="55452" name="Text Box 168"/>
            <p:cNvSpPr txBox="1">
              <a:spLocks noChangeArrowheads="1"/>
            </p:cNvSpPr>
            <p:nvPr/>
          </p:nvSpPr>
          <p:spPr bwMode="auto">
            <a:xfrm rot="-5439217">
              <a:off x="3511" y="1869"/>
              <a:ext cx="1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sp>
          <p:nvSpPr>
            <p:cNvPr id="55453" name="Text Box 169"/>
            <p:cNvSpPr txBox="1">
              <a:spLocks noChangeArrowheads="1"/>
            </p:cNvSpPr>
            <p:nvPr/>
          </p:nvSpPr>
          <p:spPr bwMode="auto">
            <a:xfrm rot="-5439217">
              <a:off x="3583" y="1792"/>
              <a:ext cx="1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sp>
          <p:nvSpPr>
            <p:cNvPr id="55454" name="Text Box 170"/>
            <p:cNvSpPr txBox="1">
              <a:spLocks noChangeArrowheads="1"/>
            </p:cNvSpPr>
            <p:nvPr/>
          </p:nvSpPr>
          <p:spPr bwMode="auto">
            <a:xfrm rot="-5439217">
              <a:off x="3521" y="717"/>
              <a:ext cx="1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sp>
          <p:nvSpPr>
            <p:cNvPr id="55455" name="Text Box 171"/>
            <p:cNvSpPr txBox="1">
              <a:spLocks noChangeArrowheads="1"/>
            </p:cNvSpPr>
            <p:nvPr/>
          </p:nvSpPr>
          <p:spPr bwMode="auto">
            <a:xfrm rot="-5439217">
              <a:off x="3575" y="513"/>
              <a:ext cx="1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1600" b="1"/>
                <a:t>+</a:t>
              </a:r>
            </a:p>
          </p:txBody>
        </p:sp>
      </p:grpSp>
      <p:sp>
        <p:nvSpPr>
          <p:cNvPr id="55428" name="Freeform 172"/>
          <p:cNvSpPr>
            <a:spLocks/>
          </p:cNvSpPr>
          <p:nvPr/>
        </p:nvSpPr>
        <p:spPr bwMode="auto">
          <a:xfrm>
            <a:off x="1194670" y="4225925"/>
            <a:ext cx="2141538" cy="1169946"/>
          </a:xfrm>
          <a:custGeom>
            <a:avLst/>
            <a:gdLst>
              <a:gd name="T0" fmla="*/ 0 w 1738"/>
              <a:gd name="T1" fmla="*/ 0 h 754"/>
              <a:gd name="T2" fmla="*/ 0 w 1738"/>
              <a:gd name="T3" fmla="*/ 2147483647 h 754"/>
              <a:gd name="T4" fmla="*/ 2147483647 w 1738"/>
              <a:gd name="T5" fmla="*/ 2147483647 h 754"/>
              <a:gd name="T6" fmla="*/ 0 60000 65536"/>
              <a:gd name="T7" fmla="*/ 0 60000 65536"/>
              <a:gd name="T8" fmla="*/ 0 60000 65536"/>
              <a:gd name="T9" fmla="*/ 0 w 1738"/>
              <a:gd name="T10" fmla="*/ 0 h 754"/>
              <a:gd name="T11" fmla="*/ 1738 w 1738"/>
              <a:gd name="T12" fmla="*/ 754 h 754"/>
            </a:gdLst>
            <a:ahLst/>
            <a:cxnLst>
              <a:cxn ang="T6">
                <a:pos x="T0" y="T1"/>
              </a:cxn>
              <a:cxn ang="T7">
                <a:pos x="T2" y="T3"/>
              </a:cxn>
              <a:cxn ang="T8">
                <a:pos x="T4" y="T5"/>
              </a:cxn>
            </a:cxnLst>
            <a:rect l="T9" t="T10" r="T11" b="T12"/>
            <a:pathLst>
              <a:path w="1738" h="754">
                <a:moveTo>
                  <a:pt x="0" y="0"/>
                </a:moveTo>
                <a:lnTo>
                  <a:pt x="0" y="754"/>
                </a:lnTo>
                <a:lnTo>
                  <a:pt x="1738" y="754"/>
                </a:lnTo>
              </a:path>
            </a:pathLst>
          </a:custGeom>
          <a:noFill/>
          <a:ln w="19050">
            <a:solidFill>
              <a:schemeClr val="tx1"/>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29" name="Freeform 173"/>
          <p:cNvSpPr>
            <a:spLocks/>
          </p:cNvSpPr>
          <p:nvPr/>
        </p:nvSpPr>
        <p:spPr bwMode="auto">
          <a:xfrm>
            <a:off x="1216895" y="4348261"/>
            <a:ext cx="1417574" cy="1034921"/>
          </a:xfrm>
          <a:custGeom>
            <a:avLst/>
            <a:gdLst>
              <a:gd name="T0" fmla="*/ 0 w 1013"/>
              <a:gd name="T1" fmla="*/ 0 h 513"/>
              <a:gd name="T2" fmla="*/ 2147483647 w 1013"/>
              <a:gd name="T3" fmla="*/ 2147483647 h 513"/>
              <a:gd name="T4" fmla="*/ 2147483647 w 1013"/>
              <a:gd name="T5" fmla="*/ 2147483647 h 513"/>
              <a:gd name="T6" fmla="*/ 2147483647 w 1013"/>
              <a:gd name="T7" fmla="*/ 2147483647 h 513"/>
              <a:gd name="T8" fmla="*/ 2147483647 w 1013"/>
              <a:gd name="T9" fmla="*/ 2147483647 h 513"/>
              <a:gd name="T10" fmla="*/ 2147483647 w 1013"/>
              <a:gd name="T11" fmla="*/ 2147483647 h 513"/>
              <a:gd name="T12" fmla="*/ 2147483647 w 1013"/>
              <a:gd name="T13" fmla="*/ 2147483647 h 513"/>
              <a:gd name="T14" fmla="*/ 0 60000 65536"/>
              <a:gd name="T15" fmla="*/ 0 60000 65536"/>
              <a:gd name="T16" fmla="*/ 0 60000 65536"/>
              <a:gd name="T17" fmla="*/ 0 60000 65536"/>
              <a:gd name="T18" fmla="*/ 0 60000 65536"/>
              <a:gd name="T19" fmla="*/ 0 60000 65536"/>
              <a:gd name="T20" fmla="*/ 0 60000 65536"/>
              <a:gd name="T21" fmla="*/ 0 w 1013"/>
              <a:gd name="T22" fmla="*/ 0 h 513"/>
              <a:gd name="T23" fmla="*/ 1013 w 1013"/>
              <a:gd name="T24" fmla="*/ 513 h 513"/>
              <a:gd name="connsiteX0" fmla="*/ 0 w 8815"/>
              <a:gd name="connsiteY0" fmla="*/ 0 h 9930"/>
              <a:gd name="connsiteX1" fmla="*/ 148 w 8815"/>
              <a:gd name="connsiteY1" fmla="*/ 3060 h 9930"/>
              <a:gd name="connsiteX2" fmla="*/ 661 w 8815"/>
              <a:gd name="connsiteY2" fmla="*/ 6062 h 9930"/>
              <a:gd name="connsiteX3" fmla="*/ 1708 w 8815"/>
              <a:gd name="connsiteY3" fmla="*/ 8070 h 9930"/>
              <a:gd name="connsiteX4" fmla="*/ 3317 w 8815"/>
              <a:gd name="connsiteY4" fmla="*/ 9142 h 9930"/>
              <a:gd name="connsiteX5" fmla="*/ 5449 w 8815"/>
              <a:gd name="connsiteY5" fmla="*/ 9708 h 9930"/>
              <a:gd name="connsiteX6" fmla="*/ 8815 w 8815"/>
              <a:gd name="connsiteY6" fmla="*/ 9930 h 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15" h="9930">
                <a:moveTo>
                  <a:pt x="0" y="0"/>
                </a:moveTo>
                <a:cubicBezTo>
                  <a:pt x="20" y="1014"/>
                  <a:pt x="39" y="2066"/>
                  <a:pt x="148" y="3060"/>
                </a:cubicBezTo>
                <a:cubicBezTo>
                  <a:pt x="257" y="4074"/>
                  <a:pt x="405" y="5205"/>
                  <a:pt x="661" y="6062"/>
                </a:cubicBezTo>
                <a:cubicBezTo>
                  <a:pt x="918" y="6901"/>
                  <a:pt x="1264" y="7563"/>
                  <a:pt x="1708" y="8070"/>
                </a:cubicBezTo>
                <a:cubicBezTo>
                  <a:pt x="2152" y="8596"/>
                  <a:pt x="2695" y="8889"/>
                  <a:pt x="3317" y="9142"/>
                </a:cubicBezTo>
                <a:cubicBezTo>
                  <a:pt x="3939" y="9396"/>
                  <a:pt x="4334" y="9571"/>
                  <a:pt x="5449" y="9708"/>
                </a:cubicBezTo>
                <a:cubicBezTo>
                  <a:pt x="6565" y="9844"/>
                  <a:pt x="7867" y="9872"/>
                  <a:pt x="8815" y="993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30" name="Text Box 174"/>
          <p:cNvSpPr txBox="1">
            <a:spLocks noChangeArrowheads="1"/>
          </p:cNvSpPr>
          <p:nvPr/>
        </p:nvSpPr>
        <p:spPr bwMode="auto">
          <a:xfrm rot="16200000">
            <a:off x="524745" y="4314783"/>
            <a:ext cx="746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dirty="0"/>
              <a:t>引力</a:t>
            </a:r>
          </a:p>
        </p:txBody>
      </p:sp>
      <p:sp>
        <p:nvSpPr>
          <p:cNvPr id="55431" name="Text Box 175"/>
          <p:cNvSpPr txBox="1">
            <a:spLocks noChangeArrowheads="1"/>
          </p:cNvSpPr>
          <p:nvPr/>
        </p:nvSpPr>
        <p:spPr bwMode="auto">
          <a:xfrm>
            <a:off x="2980608" y="495613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a:ea typeface="幼圆" pitchFamily="49" charset="-122"/>
              </a:rPr>
              <a:t>d</a:t>
            </a:r>
          </a:p>
        </p:txBody>
      </p:sp>
      <p:sp>
        <p:nvSpPr>
          <p:cNvPr id="55432" name="Text Box 176"/>
          <p:cNvSpPr txBox="1">
            <a:spLocks noChangeArrowheads="1"/>
          </p:cNvSpPr>
          <p:nvPr/>
        </p:nvSpPr>
        <p:spPr bwMode="auto">
          <a:xfrm>
            <a:off x="2850433" y="658771"/>
            <a:ext cx="8842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t>水分子</a:t>
            </a:r>
          </a:p>
        </p:txBody>
      </p:sp>
      <p:sp>
        <p:nvSpPr>
          <p:cNvPr id="55433" name="Text Box 177"/>
          <p:cNvSpPr txBox="1">
            <a:spLocks noChangeArrowheads="1"/>
          </p:cNvSpPr>
          <p:nvPr/>
        </p:nvSpPr>
        <p:spPr bwMode="auto">
          <a:xfrm>
            <a:off x="1740770" y="612733"/>
            <a:ext cx="935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t>阳离子</a:t>
            </a:r>
          </a:p>
        </p:txBody>
      </p:sp>
      <p:sp>
        <p:nvSpPr>
          <p:cNvPr id="55436" name="Text Box 180"/>
          <p:cNvSpPr txBox="1">
            <a:spLocks noChangeArrowheads="1"/>
          </p:cNvSpPr>
          <p:nvPr/>
        </p:nvSpPr>
        <p:spPr bwMode="auto">
          <a:xfrm>
            <a:off x="2745278" y="3981191"/>
            <a:ext cx="1017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t>自由水</a:t>
            </a:r>
            <a:endParaRPr lang="en-US" altLang="zh-CN" sz="1800" b="1" dirty="0"/>
          </a:p>
        </p:txBody>
      </p:sp>
      <p:sp>
        <p:nvSpPr>
          <p:cNvPr id="55437" name="Line 181"/>
          <p:cNvSpPr>
            <a:spLocks noChangeShapeType="1"/>
          </p:cNvSpPr>
          <p:nvPr/>
        </p:nvSpPr>
        <p:spPr bwMode="auto">
          <a:xfrm>
            <a:off x="2609318" y="1036596"/>
            <a:ext cx="0" cy="43370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5439" name="Group 183"/>
          <p:cNvGrpSpPr>
            <a:grpSpLocks/>
          </p:cNvGrpSpPr>
          <p:nvPr/>
        </p:nvGrpSpPr>
        <p:grpSpPr bwMode="auto">
          <a:xfrm rot="20334323">
            <a:off x="1215308" y="892133"/>
            <a:ext cx="142875" cy="142875"/>
            <a:chOff x="2031" y="3123"/>
            <a:chExt cx="90" cy="90"/>
          </a:xfrm>
        </p:grpSpPr>
        <p:sp>
          <p:nvSpPr>
            <p:cNvPr id="55445" name="Oval 184"/>
            <p:cNvSpPr>
              <a:spLocks noChangeArrowheads="1"/>
            </p:cNvSpPr>
            <p:nvPr/>
          </p:nvSpPr>
          <p:spPr bwMode="auto">
            <a:xfrm>
              <a:off x="2031" y="3123"/>
              <a:ext cx="90" cy="90"/>
            </a:xfrm>
            <a:prstGeom prst="ellipse">
              <a:avLst/>
            </a:prstGeom>
            <a:solidFill>
              <a:srgbClr val="FF99FF"/>
            </a:solidFill>
            <a:ln w="9525">
              <a:solidFill>
                <a:schemeClr val="tx1"/>
              </a:solidFill>
              <a:round/>
              <a:headEnd/>
              <a:tailEnd/>
            </a:ln>
          </p:spPr>
          <p:txBody>
            <a:bodyPr wrap="none" anchor="ctr"/>
            <a:lstStyle/>
            <a:p>
              <a:endParaRPr lang="zh-CN" altLang="en-US"/>
            </a:p>
          </p:txBody>
        </p:sp>
        <p:grpSp>
          <p:nvGrpSpPr>
            <p:cNvPr id="55446" name="Group 185"/>
            <p:cNvGrpSpPr>
              <a:grpSpLocks/>
            </p:cNvGrpSpPr>
            <p:nvPr/>
          </p:nvGrpSpPr>
          <p:grpSpPr bwMode="auto">
            <a:xfrm>
              <a:off x="2052" y="3148"/>
              <a:ext cx="48" cy="48"/>
              <a:chOff x="2052" y="2911"/>
              <a:chExt cx="48" cy="48"/>
            </a:xfrm>
          </p:grpSpPr>
          <p:sp>
            <p:nvSpPr>
              <p:cNvPr id="55447" name="Line 186"/>
              <p:cNvSpPr>
                <a:spLocks noChangeShapeType="1"/>
              </p:cNvSpPr>
              <p:nvPr/>
            </p:nvSpPr>
            <p:spPr bwMode="auto">
              <a:xfrm>
                <a:off x="2052" y="293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8" name="Line 187"/>
              <p:cNvSpPr>
                <a:spLocks noChangeShapeType="1"/>
              </p:cNvSpPr>
              <p:nvPr/>
            </p:nvSpPr>
            <p:spPr bwMode="auto">
              <a:xfrm rot="5400000">
                <a:off x="2053" y="2935"/>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5440" name="Line 188"/>
          <p:cNvSpPr>
            <a:spLocks noChangeShapeType="1"/>
          </p:cNvSpPr>
          <p:nvPr/>
        </p:nvSpPr>
        <p:spPr bwMode="auto">
          <a:xfrm flipV="1">
            <a:off x="1393108" y="795296"/>
            <a:ext cx="358775" cy="120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1" name="Line 189"/>
          <p:cNvSpPr>
            <a:spLocks noChangeShapeType="1"/>
          </p:cNvSpPr>
          <p:nvPr/>
        </p:nvSpPr>
        <p:spPr bwMode="auto">
          <a:xfrm flipV="1">
            <a:off x="2778995" y="901658"/>
            <a:ext cx="122238" cy="242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2" name="Line 190"/>
          <p:cNvSpPr>
            <a:spLocks noChangeShapeType="1"/>
          </p:cNvSpPr>
          <p:nvPr/>
        </p:nvSpPr>
        <p:spPr bwMode="auto">
          <a:xfrm>
            <a:off x="664445" y="1322346"/>
            <a:ext cx="277813" cy="496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3" name="Text Box 191"/>
          <p:cNvSpPr txBox="1">
            <a:spLocks noChangeArrowheads="1"/>
          </p:cNvSpPr>
          <p:nvPr/>
        </p:nvSpPr>
        <p:spPr bwMode="auto">
          <a:xfrm>
            <a:off x="2541588" y="5840023"/>
            <a:ext cx="41322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20000"/>
              </a:spcBef>
              <a:spcAft>
                <a:spcPct val="0"/>
              </a:spcAft>
              <a:buClr>
                <a:schemeClr val="folHlink"/>
              </a:buClr>
              <a:buSzPct val="85000"/>
              <a:buFont typeface="Wingdings 2" pitchFamily="18" charset="2"/>
              <a:buNone/>
            </a:pPr>
            <a:r>
              <a:rPr kumimoji="1" lang="zh-CN" altLang="en-US" sz="4000" b="1" dirty="0">
                <a:solidFill>
                  <a:srgbClr val="000066"/>
                </a:solidFill>
                <a:latin typeface="黑体" pitchFamily="2" charset="-122"/>
                <a:ea typeface="黑体" pitchFamily="2" charset="-122"/>
              </a:rPr>
              <a:t>土中水 </a:t>
            </a:r>
            <a:r>
              <a:rPr kumimoji="1" lang="en-US" altLang="zh-CN" sz="4000" b="1" dirty="0">
                <a:solidFill>
                  <a:srgbClr val="000066"/>
                </a:solidFill>
                <a:ea typeface="黑体" pitchFamily="2" charset="-122"/>
              </a:rPr>
              <a:t>–</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结合水</a:t>
            </a:r>
            <a:endParaRPr lang="zh-CN" altLang="en-US" sz="4000" b="1" dirty="0">
              <a:solidFill>
                <a:srgbClr val="000066"/>
              </a:solidFill>
              <a:latin typeface="黑体" pitchFamily="2" charset="-122"/>
              <a:ea typeface="黑体" pitchFamily="2" charset="-122"/>
            </a:endParaRPr>
          </a:p>
        </p:txBody>
      </p:sp>
      <p:sp>
        <p:nvSpPr>
          <p:cNvPr id="191"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中水</a:t>
            </a:r>
          </a:p>
        </p:txBody>
      </p:sp>
      <p:sp>
        <p:nvSpPr>
          <p:cNvPr id="192" name="Text Box 180"/>
          <p:cNvSpPr txBox="1">
            <a:spLocks noChangeArrowheads="1"/>
          </p:cNvSpPr>
          <p:nvPr/>
        </p:nvSpPr>
        <p:spPr bwMode="auto">
          <a:xfrm>
            <a:off x="1388435" y="3995733"/>
            <a:ext cx="1017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t>结合</a:t>
            </a:r>
            <a:r>
              <a:rPr lang="zh-CN" altLang="en-US" sz="1800" b="1" dirty="0" smtClean="0"/>
              <a:t>水</a:t>
            </a:r>
            <a:endParaRPr lang="en-US" altLang="zh-CN" sz="1800" b="1" dirty="0"/>
          </a:p>
        </p:txBody>
      </p:sp>
      <p:cxnSp>
        <p:nvCxnSpPr>
          <p:cNvPr id="6" name="直接箭头连接符 5"/>
          <p:cNvCxnSpPr/>
          <p:nvPr/>
        </p:nvCxnSpPr>
        <p:spPr>
          <a:xfrm>
            <a:off x="1224209" y="3963510"/>
            <a:ext cx="1381301" cy="0"/>
          </a:xfrm>
          <a:prstGeom prst="straightConnector1">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8" name="直接箭头连接符 197"/>
          <p:cNvCxnSpPr/>
          <p:nvPr/>
        </p:nvCxnSpPr>
        <p:spPr>
          <a:xfrm>
            <a:off x="2618474" y="3965532"/>
            <a:ext cx="816320" cy="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4" name="Text Box 36"/>
          <p:cNvSpPr txBox="1">
            <a:spLocks noChangeArrowheads="1"/>
          </p:cNvSpPr>
          <p:nvPr/>
        </p:nvSpPr>
        <p:spPr bwMode="auto">
          <a:xfrm>
            <a:off x="3911098" y="675376"/>
            <a:ext cx="4934138" cy="2508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5000"/>
              </a:spcBef>
              <a:spcAft>
                <a:spcPct val="5000"/>
              </a:spcAft>
              <a:buClr>
                <a:srgbClr val="A50021"/>
              </a:buClr>
              <a:buSzPct val="130000"/>
              <a:buFont typeface="Wingdings" pitchFamily="2" charset="2"/>
              <a:buChar char="F"/>
            </a:pPr>
            <a:r>
              <a:rPr kumimoji="1" lang="zh-CN" altLang="en-US" sz="2400" b="1" spc="-130" dirty="0" smtClean="0">
                <a:solidFill>
                  <a:srgbClr val="800000"/>
                </a:solidFill>
                <a:ea typeface="幼圆" pitchFamily="49" charset="-122"/>
                <a:cs typeface="Times New Roman" panose="02020603050405020304" pitchFamily="18" charset="0"/>
              </a:rPr>
              <a:t>强结合水</a:t>
            </a:r>
            <a:endParaRPr kumimoji="1" lang="en-US" altLang="zh-CN" sz="2400" b="1" spc="-130" dirty="0" smtClean="0">
              <a:solidFill>
                <a:srgbClr val="800000"/>
              </a:solidFill>
              <a:ea typeface="幼圆" pitchFamily="49" charset="-122"/>
              <a:cs typeface="Times New Roman" panose="02020603050405020304" pitchFamily="18" charset="0"/>
            </a:endParaRPr>
          </a:p>
          <a:p>
            <a:pPr marL="625475" lvl="1" indent="-263525" eaLnBrk="1" hangingPunct="1">
              <a:lnSpc>
                <a:spcPct val="120000"/>
              </a:lnSpc>
              <a:spcBef>
                <a:spcPct val="5000"/>
              </a:spcBef>
              <a:spcAft>
                <a:spcPct val="5000"/>
              </a:spcAft>
              <a:buClr>
                <a:srgbClr val="C00000"/>
              </a:buClr>
              <a:buSzPct val="120000"/>
              <a:buFontTx/>
              <a:buChar char="•"/>
            </a:pPr>
            <a:r>
              <a:rPr kumimoji="1" lang="zh-CN" altLang="en-US" sz="2000" b="1" spc="-130" dirty="0">
                <a:solidFill>
                  <a:srgbClr val="000066"/>
                </a:solidFill>
                <a:ea typeface="幼圆" pitchFamily="49" charset="-122"/>
                <a:cs typeface="Times New Roman" panose="02020603050405020304" pitchFamily="18" charset="0"/>
              </a:rPr>
              <a:t>电场的作用力很大，几乎完全固定排列，丧失液体的</a:t>
            </a:r>
            <a:r>
              <a:rPr kumimoji="1" lang="zh-CN" altLang="en-US" sz="2000" b="1" spc="-130" dirty="0" smtClean="0">
                <a:solidFill>
                  <a:srgbClr val="000066"/>
                </a:solidFill>
                <a:ea typeface="幼圆" pitchFamily="49" charset="-122"/>
                <a:cs typeface="Times New Roman" panose="02020603050405020304" pitchFamily="18" charset="0"/>
              </a:rPr>
              <a:t>特性</a:t>
            </a:r>
            <a:endParaRPr kumimoji="1" lang="en-US" altLang="zh-CN" sz="2000" b="1" spc="-130" dirty="0" smtClean="0">
              <a:solidFill>
                <a:srgbClr val="000066"/>
              </a:solidFill>
              <a:ea typeface="幼圆" pitchFamily="49" charset="-122"/>
              <a:cs typeface="Times New Roman" panose="02020603050405020304" pitchFamily="18" charset="0"/>
            </a:endParaRPr>
          </a:p>
          <a:p>
            <a:pPr marL="625475" lvl="1" indent="-263525" eaLnBrk="1" hangingPunct="1">
              <a:lnSpc>
                <a:spcPct val="120000"/>
              </a:lnSpc>
              <a:spcBef>
                <a:spcPct val="5000"/>
              </a:spcBef>
              <a:spcAft>
                <a:spcPct val="5000"/>
              </a:spcAft>
              <a:buClr>
                <a:srgbClr val="C00000"/>
              </a:buClr>
              <a:buSzPct val="120000"/>
              <a:buFontTx/>
              <a:buChar char="•"/>
            </a:pPr>
            <a:r>
              <a:rPr kumimoji="1" lang="zh-CN" altLang="en-US" sz="2000" b="1" spc="-130" dirty="0" smtClean="0">
                <a:solidFill>
                  <a:srgbClr val="000066"/>
                </a:solidFill>
                <a:ea typeface="幼圆" pitchFamily="49" charset="-122"/>
                <a:cs typeface="Times New Roman" panose="02020603050405020304" pitchFamily="18" charset="0"/>
              </a:rPr>
              <a:t>冰点</a:t>
            </a:r>
            <a:r>
              <a:rPr kumimoji="1" lang="zh-CN" altLang="en-US" sz="2000" b="1" spc="-130" dirty="0">
                <a:solidFill>
                  <a:srgbClr val="000066"/>
                </a:solidFill>
                <a:ea typeface="幼圆" pitchFamily="49" charset="-122"/>
                <a:cs typeface="Times New Roman" panose="02020603050405020304" pitchFamily="18" charset="0"/>
              </a:rPr>
              <a:t>低于</a:t>
            </a:r>
            <a:r>
              <a:rPr kumimoji="1" lang="en-US" altLang="zh-CN" sz="2000" b="1" spc="-130" dirty="0">
                <a:solidFill>
                  <a:srgbClr val="000066"/>
                </a:solidFill>
                <a:ea typeface="幼圆" pitchFamily="49" charset="-122"/>
                <a:cs typeface="Times New Roman" panose="02020603050405020304" pitchFamily="18" charset="0"/>
              </a:rPr>
              <a:t>0</a:t>
            </a:r>
            <a:r>
              <a:rPr kumimoji="1" lang="en-US" altLang="zh-CN" sz="2000" b="1" spc="-130" dirty="0" smtClean="0">
                <a:solidFill>
                  <a:srgbClr val="000066"/>
                </a:solidFill>
                <a:ea typeface="幼圆" pitchFamily="49" charset="-122"/>
                <a:cs typeface="Times New Roman" panose="02020603050405020304" pitchFamily="18" charset="0"/>
              </a:rPr>
              <a:t>℃</a:t>
            </a:r>
          </a:p>
          <a:p>
            <a:pPr marL="625475" lvl="1" indent="-263525" eaLnBrk="1" hangingPunct="1">
              <a:lnSpc>
                <a:spcPct val="120000"/>
              </a:lnSpc>
              <a:spcBef>
                <a:spcPct val="5000"/>
              </a:spcBef>
              <a:spcAft>
                <a:spcPct val="5000"/>
              </a:spcAft>
              <a:buClr>
                <a:srgbClr val="C00000"/>
              </a:buClr>
              <a:buSzPct val="130000"/>
              <a:buFontTx/>
              <a:buChar char="•"/>
            </a:pPr>
            <a:r>
              <a:rPr kumimoji="1" lang="zh-CN" altLang="en-US" sz="2000" b="1" spc="-130" dirty="0" smtClean="0">
                <a:solidFill>
                  <a:srgbClr val="000066"/>
                </a:solidFill>
                <a:ea typeface="幼圆" pitchFamily="49" charset="-122"/>
                <a:cs typeface="Times New Roman" panose="02020603050405020304" pitchFamily="18" charset="0"/>
              </a:rPr>
              <a:t>密度</a:t>
            </a:r>
            <a:r>
              <a:rPr kumimoji="1" lang="zh-CN" altLang="en-US" sz="2000" b="1" spc="-130" dirty="0">
                <a:solidFill>
                  <a:srgbClr val="000066"/>
                </a:solidFill>
                <a:ea typeface="幼圆" pitchFamily="49" charset="-122"/>
                <a:cs typeface="Times New Roman" panose="02020603050405020304" pitchFamily="18" charset="0"/>
              </a:rPr>
              <a:t>要比自由水大，具有蠕变性</a:t>
            </a:r>
          </a:p>
          <a:p>
            <a:pPr marL="625475" lvl="1" indent="-263525" eaLnBrk="1" hangingPunct="1">
              <a:lnSpc>
                <a:spcPct val="120000"/>
              </a:lnSpc>
              <a:spcBef>
                <a:spcPct val="5000"/>
              </a:spcBef>
              <a:spcAft>
                <a:spcPct val="5000"/>
              </a:spcAft>
              <a:buClr>
                <a:srgbClr val="C00000"/>
              </a:buClr>
              <a:buSzPct val="120000"/>
              <a:buFontTx/>
              <a:buChar char="•"/>
            </a:pPr>
            <a:r>
              <a:rPr kumimoji="1" lang="zh-CN" altLang="en-US" sz="2000" b="1" spc="-130" dirty="0" smtClean="0">
                <a:solidFill>
                  <a:srgbClr val="000066"/>
                </a:solidFill>
                <a:ea typeface="幼圆" pitchFamily="49" charset="-122"/>
                <a:cs typeface="Times New Roman" panose="02020603050405020304" pitchFamily="18" charset="0"/>
              </a:rPr>
              <a:t> </a:t>
            </a:r>
            <a:r>
              <a:rPr kumimoji="1" lang="zh-CN" altLang="en-US" sz="2000" b="1" spc="-130" dirty="0">
                <a:solidFill>
                  <a:srgbClr val="000066"/>
                </a:solidFill>
                <a:ea typeface="幼圆" pitchFamily="49" charset="-122"/>
                <a:cs typeface="Times New Roman" panose="02020603050405020304" pitchFamily="18" charset="0"/>
              </a:rPr>
              <a:t>温度略高于</a:t>
            </a:r>
            <a:r>
              <a:rPr kumimoji="1" lang="en-US" altLang="zh-CN" sz="2000" b="1" spc="-130" dirty="0" smtClean="0">
                <a:solidFill>
                  <a:srgbClr val="000066"/>
                </a:solidFill>
                <a:ea typeface="幼圆" pitchFamily="49" charset="-122"/>
                <a:cs typeface="Times New Roman" panose="02020603050405020304" pitchFamily="18" charset="0"/>
              </a:rPr>
              <a:t>100</a:t>
            </a:r>
            <a:r>
              <a:rPr kumimoji="1" lang="en-US" altLang="zh-CN" sz="2000" b="1" spc="-130" dirty="0" smtClean="0">
                <a:solidFill>
                  <a:srgbClr val="000066"/>
                </a:solidFill>
                <a:ea typeface="幼圆" pitchFamily="49" charset="-122"/>
                <a:cs typeface="Times New Roman" panose="02020603050405020304" pitchFamily="18" charset="0"/>
                <a:sym typeface="Symbol"/>
              </a:rPr>
              <a:t></a:t>
            </a:r>
            <a:r>
              <a:rPr kumimoji="1" lang="en-US" altLang="zh-CN" sz="2000" b="1" spc="-130" dirty="0" smtClean="0">
                <a:solidFill>
                  <a:srgbClr val="000066"/>
                </a:solidFill>
                <a:ea typeface="幼圆" pitchFamily="49" charset="-122"/>
                <a:cs typeface="Times New Roman" panose="02020603050405020304" pitchFamily="18" charset="0"/>
              </a:rPr>
              <a:t>C</a:t>
            </a:r>
            <a:r>
              <a:rPr kumimoji="1" lang="zh-CN" altLang="en-US" sz="2000" b="1" spc="-130" dirty="0" smtClean="0">
                <a:solidFill>
                  <a:srgbClr val="000066"/>
                </a:solidFill>
                <a:ea typeface="幼圆" pitchFamily="49" charset="-122"/>
                <a:cs typeface="Times New Roman" panose="02020603050405020304" pitchFamily="18" charset="0"/>
              </a:rPr>
              <a:t>时才会蒸发</a:t>
            </a:r>
            <a:endParaRPr kumimoji="1" lang="en-US" altLang="zh-CN" sz="2400" b="1" spc="-130" dirty="0" smtClean="0">
              <a:solidFill>
                <a:srgbClr val="800000"/>
              </a:solidFill>
              <a:ea typeface="幼圆" pitchFamily="49" charset="-122"/>
              <a:cs typeface="Times New Roman" panose="02020603050405020304" pitchFamily="18" charset="0"/>
            </a:endParaRPr>
          </a:p>
        </p:txBody>
      </p:sp>
      <p:sp>
        <p:nvSpPr>
          <p:cNvPr id="195" name="Line 181"/>
          <p:cNvSpPr>
            <a:spLocks noChangeShapeType="1"/>
          </p:cNvSpPr>
          <p:nvPr/>
        </p:nvSpPr>
        <p:spPr bwMode="auto">
          <a:xfrm>
            <a:off x="1630036" y="1062249"/>
            <a:ext cx="0" cy="4337050"/>
          </a:xfrm>
          <a:prstGeom prst="line">
            <a:avLst/>
          </a:prstGeom>
          <a:noFill/>
          <a:ln w="19050">
            <a:solidFill>
              <a:srgbClr val="C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196" name="直接连接符 195"/>
          <p:cNvCxnSpPr/>
          <p:nvPr/>
        </p:nvCxnSpPr>
        <p:spPr>
          <a:xfrm>
            <a:off x="1223811" y="3576577"/>
            <a:ext cx="0" cy="471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203990" y="3554108"/>
            <a:ext cx="442750" cy="446276"/>
          </a:xfrm>
          <a:prstGeom prst="rect">
            <a:avLst/>
          </a:prstGeom>
        </p:spPr>
        <p:txBody>
          <a:bodyPr wrap="none">
            <a:spAutoFit/>
          </a:bodyPr>
          <a:lstStyle/>
          <a:p>
            <a:r>
              <a:rPr kumimoji="1" lang="zh-CN" altLang="en-US" sz="2000" b="1" dirty="0">
                <a:solidFill>
                  <a:srgbClr val="C00000"/>
                </a:solidFill>
                <a:ea typeface="幼圆" pitchFamily="49" charset="-122"/>
              </a:rPr>
              <a:t>强</a:t>
            </a:r>
            <a:endParaRPr lang="zh-CN" altLang="en-US" sz="2000" dirty="0"/>
          </a:p>
        </p:txBody>
      </p:sp>
      <p:sp>
        <p:nvSpPr>
          <p:cNvPr id="199" name="矩形 198"/>
          <p:cNvSpPr/>
          <p:nvPr/>
        </p:nvSpPr>
        <p:spPr>
          <a:xfrm>
            <a:off x="1883038" y="3550249"/>
            <a:ext cx="442750" cy="446276"/>
          </a:xfrm>
          <a:prstGeom prst="rect">
            <a:avLst/>
          </a:prstGeom>
        </p:spPr>
        <p:txBody>
          <a:bodyPr wrap="none">
            <a:spAutoFit/>
          </a:bodyPr>
          <a:lstStyle/>
          <a:p>
            <a:r>
              <a:rPr kumimoji="1" lang="zh-CN" altLang="en-US" sz="2000" b="1" dirty="0">
                <a:solidFill>
                  <a:srgbClr val="C00000"/>
                </a:solidFill>
                <a:ea typeface="幼圆" pitchFamily="49" charset="-122"/>
              </a:rPr>
              <a:t>弱</a:t>
            </a:r>
            <a:endParaRPr lang="zh-CN" altLang="en-US" sz="2000" dirty="0"/>
          </a:p>
        </p:txBody>
      </p:sp>
      <p:sp>
        <p:nvSpPr>
          <p:cNvPr id="200" name="Text Box 36"/>
          <p:cNvSpPr txBox="1">
            <a:spLocks noChangeArrowheads="1"/>
          </p:cNvSpPr>
          <p:nvPr/>
        </p:nvSpPr>
        <p:spPr bwMode="auto">
          <a:xfrm>
            <a:off x="3939024" y="3186648"/>
            <a:ext cx="4951479" cy="2477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5000"/>
              </a:spcBef>
              <a:spcAft>
                <a:spcPct val="5000"/>
              </a:spcAft>
              <a:buClr>
                <a:srgbClr val="A50021"/>
              </a:buClr>
              <a:buSzPct val="130000"/>
              <a:buFont typeface="Wingdings" pitchFamily="2" charset="2"/>
              <a:buChar char="F"/>
            </a:pPr>
            <a:r>
              <a:rPr kumimoji="1" lang="zh-CN" altLang="en-US" sz="2400" b="1" spc="-130" dirty="0">
                <a:solidFill>
                  <a:srgbClr val="800000"/>
                </a:solidFill>
                <a:ea typeface="幼圆" pitchFamily="49" charset="-122"/>
                <a:cs typeface="Times New Roman" panose="02020603050405020304" pitchFamily="18" charset="0"/>
              </a:rPr>
              <a:t>弱结合水</a:t>
            </a:r>
            <a:endParaRPr kumimoji="1" lang="en-US" altLang="zh-CN" sz="2400" b="1" spc="-130" dirty="0" smtClean="0">
              <a:solidFill>
                <a:srgbClr val="800000"/>
              </a:solidFill>
              <a:ea typeface="幼圆" pitchFamily="49" charset="-122"/>
              <a:cs typeface="Times New Roman" panose="02020603050405020304" pitchFamily="18" charset="0"/>
            </a:endParaRPr>
          </a:p>
          <a:p>
            <a:pPr marL="625475" lvl="1" indent="-263525" eaLnBrk="1" hangingPunct="1">
              <a:lnSpc>
                <a:spcPct val="120000"/>
              </a:lnSpc>
              <a:spcBef>
                <a:spcPct val="5000"/>
              </a:spcBef>
              <a:spcAft>
                <a:spcPct val="5000"/>
              </a:spcAft>
              <a:buClr>
                <a:srgbClr val="C00000"/>
              </a:buClr>
              <a:buSzPct val="130000"/>
              <a:buFontTx/>
              <a:buChar char="•"/>
            </a:pPr>
            <a:r>
              <a:rPr kumimoji="1" lang="zh-CN" altLang="en-US" sz="2000" b="1" spc="-130" dirty="0" smtClean="0">
                <a:solidFill>
                  <a:srgbClr val="000066"/>
                </a:solidFill>
                <a:ea typeface="幼圆" pitchFamily="49" charset="-122"/>
                <a:cs typeface="Times New Roman" panose="02020603050405020304" pitchFamily="18" charset="0"/>
              </a:rPr>
              <a:t>定向</a:t>
            </a:r>
            <a:r>
              <a:rPr kumimoji="1" lang="zh-CN" altLang="en-US" sz="2000" b="1" spc="-130" dirty="0">
                <a:solidFill>
                  <a:srgbClr val="000066"/>
                </a:solidFill>
                <a:ea typeface="幼圆" pitchFamily="49" charset="-122"/>
                <a:cs typeface="Times New Roman" panose="02020603050405020304" pitchFamily="18" charset="0"/>
              </a:rPr>
              <a:t>排列于颗粒四周</a:t>
            </a:r>
            <a:endParaRPr kumimoji="1" lang="en-US" altLang="zh-CN" sz="2000" b="1" spc="-130" dirty="0" smtClean="0">
              <a:solidFill>
                <a:srgbClr val="000066"/>
              </a:solidFill>
              <a:ea typeface="幼圆" pitchFamily="49" charset="-122"/>
              <a:cs typeface="Times New Roman" panose="02020603050405020304" pitchFamily="18" charset="0"/>
            </a:endParaRPr>
          </a:p>
          <a:p>
            <a:pPr marL="625475" lvl="1" indent="-263525" eaLnBrk="1" hangingPunct="1">
              <a:lnSpc>
                <a:spcPct val="120000"/>
              </a:lnSpc>
              <a:spcBef>
                <a:spcPct val="5000"/>
              </a:spcBef>
              <a:spcAft>
                <a:spcPct val="5000"/>
              </a:spcAft>
              <a:buClr>
                <a:srgbClr val="C00000"/>
              </a:buClr>
              <a:buSzPct val="130000"/>
              <a:buFontTx/>
              <a:buChar char="•"/>
            </a:pPr>
            <a:r>
              <a:rPr kumimoji="1" lang="zh-CN" altLang="en-US" sz="2000" b="1" spc="-130" dirty="0" smtClean="0">
                <a:solidFill>
                  <a:srgbClr val="000066"/>
                </a:solidFill>
                <a:ea typeface="幼圆" pitchFamily="49" charset="-122"/>
                <a:cs typeface="Times New Roman" panose="02020603050405020304" pitchFamily="18" charset="0"/>
              </a:rPr>
              <a:t>是</a:t>
            </a:r>
            <a:r>
              <a:rPr kumimoji="1" lang="zh-CN" altLang="en-US" sz="2000" b="1" spc="-130" dirty="0">
                <a:solidFill>
                  <a:srgbClr val="000066"/>
                </a:solidFill>
                <a:ea typeface="幼圆" pitchFamily="49" charset="-122"/>
                <a:cs typeface="Times New Roman" panose="02020603050405020304" pitchFamily="18" charset="0"/>
              </a:rPr>
              <a:t>一种黏滞水膜，外力作用下可以</a:t>
            </a:r>
            <a:r>
              <a:rPr kumimoji="1" lang="zh-CN" altLang="en-US" sz="2000" b="1" spc="-130" dirty="0" smtClean="0">
                <a:solidFill>
                  <a:srgbClr val="000066"/>
                </a:solidFill>
                <a:ea typeface="幼圆" pitchFamily="49" charset="-122"/>
                <a:cs typeface="Times New Roman" panose="02020603050405020304" pitchFamily="18" charset="0"/>
              </a:rPr>
              <a:t>移动和变形，但不因重力</a:t>
            </a:r>
            <a:r>
              <a:rPr kumimoji="1" lang="zh-CN" altLang="en-US" sz="2000" b="1" spc="-130" dirty="0">
                <a:solidFill>
                  <a:srgbClr val="000066"/>
                </a:solidFill>
                <a:ea typeface="幼圆" pitchFamily="49" charset="-122"/>
                <a:cs typeface="Times New Roman" panose="02020603050405020304" pitchFamily="18" charset="0"/>
              </a:rPr>
              <a:t>而流动</a:t>
            </a:r>
            <a:endParaRPr kumimoji="1" lang="en-US" altLang="zh-CN" sz="2000" b="1" spc="-130" dirty="0" smtClean="0">
              <a:solidFill>
                <a:srgbClr val="000066"/>
              </a:solidFill>
              <a:ea typeface="幼圆" pitchFamily="49" charset="-122"/>
              <a:cs typeface="Times New Roman" panose="02020603050405020304" pitchFamily="18" charset="0"/>
            </a:endParaRPr>
          </a:p>
          <a:p>
            <a:pPr marL="625475" lvl="1" indent="-263525" eaLnBrk="1" hangingPunct="1">
              <a:lnSpc>
                <a:spcPct val="120000"/>
              </a:lnSpc>
              <a:spcBef>
                <a:spcPct val="5000"/>
              </a:spcBef>
              <a:spcAft>
                <a:spcPct val="5000"/>
              </a:spcAft>
              <a:buClr>
                <a:srgbClr val="C00000"/>
              </a:buClr>
              <a:buSzPct val="130000"/>
              <a:buFontTx/>
              <a:buChar char="•"/>
            </a:pPr>
            <a:r>
              <a:rPr kumimoji="1" lang="zh-CN" altLang="en-US" sz="2000" b="1" spc="-130" dirty="0">
                <a:solidFill>
                  <a:srgbClr val="000066"/>
                </a:solidFill>
                <a:ea typeface="幼圆" pitchFamily="49" charset="-122"/>
                <a:cs typeface="Times New Roman" panose="02020603050405020304" pitchFamily="18" charset="0"/>
              </a:rPr>
              <a:t>弱结合水的存在是黏性土在某一含水量范围内表现出可塑性的</a:t>
            </a:r>
            <a:r>
              <a:rPr kumimoji="1" lang="zh-CN" altLang="en-US" sz="2000" b="1" spc="-130" dirty="0" smtClean="0">
                <a:solidFill>
                  <a:srgbClr val="000066"/>
                </a:solidFill>
                <a:ea typeface="幼圆" pitchFamily="49" charset="-122"/>
                <a:cs typeface="Times New Roman" panose="02020603050405020304" pitchFamily="18" charset="0"/>
              </a:rPr>
              <a:t>原因</a:t>
            </a:r>
            <a:endParaRPr kumimoji="1" lang="en-US" altLang="zh-CN" sz="2000" b="1" spc="-130" dirty="0" smtClean="0">
              <a:solidFill>
                <a:srgbClr val="000066"/>
              </a:solidFill>
              <a:ea typeface="幼圆" pitchFamily="49" charset="-122"/>
              <a:cs typeface="Times New Roman" panose="02020603050405020304" pitchFamily="18" charset="0"/>
            </a:endParaRPr>
          </a:p>
        </p:txBody>
      </p:sp>
    </p:spTree>
    <p:extLst>
      <p:ext uri="{BB962C8B-B14F-4D97-AF65-F5344CB8AC3E}">
        <p14:creationId xmlns:p14="http://schemas.microsoft.com/office/powerpoint/2010/main" val="18974953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anim calcmode="lin" valueType="num">
                                      <p:cBhvr additive="base">
                                        <p:cTn id="7" dur="1000" fill="hold"/>
                                        <p:tgtEl>
                                          <p:spTgt spid="194"/>
                                        </p:tgtEl>
                                        <p:attrNameLst>
                                          <p:attrName>ppt_x</p:attrName>
                                        </p:attrNameLst>
                                      </p:cBhvr>
                                      <p:tavLst>
                                        <p:tav tm="0">
                                          <p:val>
                                            <p:strVal val="1+#ppt_w/2"/>
                                          </p:val>
                                        </p:tav>
                                        <p:tav tm="100000">
                                          <p:val>
                                            <p:strVal val="#ppt_x"/>
                                          </p:val>
                                        </p:tav>
                                      </p:tavLst>
                                    </p:anim>
                                    <p:anim calcmode="lin" valueType="num">
                                      <p:cBhvr additive="base">
                                        <p:cTn id="8" dur="1000" fill="hold"/>
                                        <p:tgtEl>
                                          <p:spTgt spid="1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00"/>
                                        </p:tgtEl>
                                        <p:attrNameLst>
                                          <p:attrName>style.visibility</p:attrName>
                                        </p:attrNameLst>
                                      </p:cBhvr>
                                      <p:to>
                                        <p:strVal val="visible"/>
                                      </p:to>
                                    </p:set>
                                    <p:anim calcmode="lin" valueType="num">
                                      <p:cBhvr additive="base">
                                        <p:cTn id="13" dur="1000" fill="hold"/>
                                        <p:tgtEl>
                                          <p:spTgt spid="200"/>
                                        </p:tgtEl>
                                        <p:attrNameLst>
                                          <p:attrName>ppt_x</p:attrName>
                                        </p:attrNameLst>
                                      </p:cBhvr>
                                      <p:tavLst>
                                        <p:tav tm="0">
                                          <p:val>
                                            <p:strVal val="1+#ppt_w/2"/>
                                          </p:val>
                                        </p:tav>
                                        <p:tav tm="100000">
                                          <p:val>
                                            <p:strVal val="#ppt_x"/>
                                          </p:val>
                                        </p:tav>
                                      </p:tavLst>
                                    </p:anim>
                                    <p:anim calcmode="lin" valueType="num">
                                      <p:cBhvr additive="base">
                                        <p:cTn id="14" dur="1000" fill="hold"/>
                                        <p:tgtEl>
                                          <p:spTgt spid="2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p:bldP spid="20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4"/>
          <p:cNvSpPr>
            <a:spLocks noChangeArrowheads="1"/>
          </p:cNvSpPr>
          <p:nvPr/>
        </p:nvSpPr>
        <p:spPr bwMode="auto">
          <a:xfrm>
            <a:off x="5291024" y="950913"/>
            <a:ext cx="3473450" cy="4429125"/>
          </a:xfrm>
          <a:prstGeom prst="rect">
            <a:avLst/>
          </a:prstGeom>
          <a:solidFill>
            <a:schemeClr val="accent5">
              <a:lumMod val="40000"/>
              <a:lumOff val="60000"/>
            </a:schemeClr>
          </a:solidFill>
          <a:ln>
            <a:noFill/>
          </a:ln>
        </p:spPr>
        <p:txBody>
          <a:bodyPr wrap="none" anchor="ctr"/>
          <a:lstStyle/>
          <a:p>
            <a:endParaRPr lang="zh-CN" altLang="en-US"/>
          </a:p>
        </p:txBody>
      </p:sp>
      <p:sp>
        <p:nvSpPr>
          <p:cNvPr id="56324" name="Freeform 5"/>
          <p:cNvSpPr>
            <a:spLocks/>
          </p:cNvSpPr>
          <p:nvPr/>
        </p:nvSpPr>
        <p:spPr bwMode="auto">
          <a:xfrm>
            <a:off x="5670436" y="2214563"/>
            <a:ext cx="2909888" cy="2598737"/>
          </a:xfrm>
          <a:custGeom>
            <a:avLst/>
            <a:gdLst>
              <a:gd name="T0" fmla="*/ 2147483647 w 1833"/>
              <a:gd name="T1" fmla="*/ 2147483647 h 1637"/>
              <a:gd name="T2" fmla="*/ 2147483647 w 1833"/>
              <a:gd name="T3" fmla="*/ 2147483647 h 1637"/>
              <a:gd name="T4" fmla="*/ 2147483647 w 1833"/>
              <a:gd name="T5" fmla="*/ 2147483647 h 1637"/>
              <a:gd name="T6" fmla="*/ 2147483647 w 1833"/>
              <a:gd name="T7" fmla="*/ 2147483647 h 1637"/>
              <a:gd name="T8" fmla="*/ 2147483647 w 1833"/>
              <a:gd name="T9" fmla="*/ 2147483647 h 1637"/>
              <a:gd name="T10" fmla="*/ 2147483647 w 1833"/>
              <a:gd name="T11" fmla="*/ 2147483647 h 1637"/>
              <a:gd name="T12" fmla="*/ 2147483647 w 1833"/>
              <a:gd name="T13" fmla="*/ 2147483647 h 1637"/>
              <a:gd name="T14" fmla="*/ 2147483647 w 1833"/>
              <a:gd name="T15" fmla="*/ 2147483647 h 1637"/>
              <a:gd name="T16" fmla="*/ 2147483647 w 1833"/>
              <a:gd name="T17" fmla="*/ 2147483647 h 1637"/>
              <a:gd name="T18" fmla="*/ 2147483647 w 1833"/>
              <a:gd name="T19" fmla="*/ 2147483647 h 1637"/>
              <a:gd name="T20" fmla="*/ 2147483647 w 1833"/>
              <a:gd name="T21" fmla="*/ 2147483647 h 1637"/>
              <a:gd name="T22" fmla="*/ 2147483647 w 1833"/>
              <a:gd name="T23" fmla="*/ 2147483647 h 1637"/>
              <a:gd name="T24" fmla="*/ 2147483647 w 1833"/>
              <a:gd name="T25" fmla="*/ 2147483647 h 1637"/>
              <a:gd name="T26" fmla="*/ 2147483647 w 1833"/>
              <a:gd name="T27" fmla="*/ 2147483647 h 1637"/>
              <a:gd name="T28" fmla="*/ 2147483647 w 1833"/>
              <a:gd name="T29" fmla="*/ 2147483647 h 1637"/>
              <a:gd name="T30" fmla="*/ 2147483647 w 1833"/>
              <a:gd name="T31" fmla="*/ 2147483647 h 1637"/>
              <a:gd name="T32" fmla="*/ 2147483647 w 1833"/>
              <a:gd name="T33" fmla="*/ 2147483647 h 1637"/>
              <a:gd name="T34" fmla="*/ 2147483647 w 1833"/>
              <a:gd name="T35" fmla="*/ 2147483647 h 1637"/>
              <a:gd name="T36" fmla="*/ 2147483647 w 1833"/>
              <a:gd name="T37" fmla="*/ 2147483647 h 1637"/>
              <a:gd name="T38" fmla="*/ 2147483647 w 1833"/>
              <a:gd name="T39" fmla="*/ 2147483647 h 1637"/>
              <a:gd name="T40" fmla="*/ 2147483647 w 1833"/>
              <a:gd name="T41" fmla="*/ 2147483647 h 1637"/>
              <a:gd name="T42" fmla="*/ 2147483647 w 1833"/>
              <a:gd name="T43" fmla="*/ 2147483647 h 1637"/>
              <a:gd name="T44" fmla="*/ 2147483647 w 1833"/>
              <a:gd name="T45" fmla="*/ 2147483647 h 1637"/>
              <a:gd name="T46" fmla="*/ 2147483647 w 1833"/>
              <a:gd name="T47" fmla="*/ 2147483647 h 1637"/>
              <a:gd name="T48" fmla="*/ 2147483647 w 1833"/>
              <a:gd name="T49" fmla="*/ 2147483647 h 1637"/>
              <a:gd name="T50" fmla="*/ 2147483647 w 1833"/>
              <a:gd name="T51" fmla="*/ 2147483647 h 1637"/>
              <a:gd name="T52" fmla="*/ 2147483647 w 1833"/>
              <a:gd name="T53" fmla="*/ 2147483647 h 1637"/>
              <a:gd name="T54" fmla="*/ 2147483647 w 1833"/>
              <a:gd name="T55" fmla="*/ 2147483647 h 1637"/>
              <a:gd name="T56" fmla="*/ 2147483647 w 1833"/>
              <a:gd name="T57" fmla="*/ 2147483647 h 1637"/>
              <a:gd name="T58" fmla="*/ 2147483647 w 1833"/>
              <a:gd name="T59" fmla="*/ 2147483647 h 1637"/>
              <a:gd name="T60" fmla="*/ 2147483647 w 1833"/>
              <a:gd name="T61" fmla="*/ 2147483647 h 1637"/>
              <a:gd name="T62" fmla="*/ 2147483647 w 1833"/>
              <a:gd name="T63" fmla="*/ 2147483647 h 1637"/>
              <a:gd name="T64" fmla="*/ 2147483647 w 1833"/>
              <a:gd name="T65" fmla="*/ 2147483647 h 1637"/>
              <a:gd name="T66" fmla="*/ 2147483647 w 1833"/>
              <a:gd name="T67" fmla="*/ 2147483647 h 1637"/>
              <a:gd name="T68" fmla="*/ 2147483647 w 1833"/>
              <a:gd name="T69" fmla="*/ 2147483647 h 1637"/>
              <a:gd name="T70" fmla="*/ 2147483647 w 1833"/>
              <a:gd name="T71" fmla="*/ 2147483647 h 1637"/>
              <a:gd name="T72" fmla="*/ 2147483647 w 1833"/>
              <a:gd name="T73" fmla="*/ 2147483647 h 1637"/>
              <a:gd name="T74" fmla="*/ 0 w 1833"/>
              <a:gd name="T75" fmla="*/ 2147483647 h 1637"/>
              <a:gd name="T76" fmla="*/ 2147483647 w 1833"/>
              <a:gd name="T77" fmla="*/ 2147483647 h 1637"/>
              <a:gd name="T78" fmla="*/ 2147483647 w 1833"/>
              <a:gd name="T79" fmla="*/ 2147483647 h 1637"/>
              <a:gd name="T80" fmla="*/ 2147483647 w 1833"/>
              <a:gd name="T81" fmla="*/ 2147483647 h 1637"/>
              <a:gd name="T82" fmla="*/ 2147483647 w 1833"/>
              <a:gd name="T83" fmla="*/ 2147483647 h 1637"/>
              <a:gd name="T84" fmla="*/ 2147483647 w 1833"/>
              <a:gd name="T85" fmla="*/ 2147483647 h 1637"/>
              <a:gd name="T86" fmla="*/ 2147483647 w 1833"/>
              <a:gd name="T87" fmla="*/ 2147483647 h 1637"/>
              <a:gd name="T88" fmla="*/ 2147483647 w 1833"/>
              <a:gd name="T89" fmla="*/ 2147483647 h 1637"/>
              <a:gd name="T90" fmla="*/ 2147483647 w 1833"/>
              <a:gd name="T91" fmla="*/ 2147483647 h 1637"/>
              <a:gd name="T92" fmla="*/ 2147483647 w 1833"/>
              <a:gd name="T93" fmla="*/ 2147483647 h 16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833"/>
              <a:gd name="T142" fmla="*/ 0 h 1637"/>
              <a:gd name="T143" fmla="*/ 1833 w 1833"/>
              <a:gd name="T144" fmla="*/ 1637 h 16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833" h="1637">
                <a:moveTo>
                  <a:pt x="153" y="12"/>
                </a:moveTo>
                <a:cubicBezTo>
                  <a:pt x="161" y="0"/>
                  <a:pt x="177" y="21"/>
                  <a:pt x="188" y="25"/>
                </a:cubicBezTo>
                <a:cubicBezTo>
                  <a:pt x="199" y="29"/>
                  <a:pt x="209" y="33"/>
                  <a:pt x="220" y="37"/>
                </a:cubicBezTo>
                <a:cubicBezTo>
                  <a:pt x="231" y="41"/>
                  <a:pt x="239" y="46"/>
                  <a:pt x="255" y="47"/>
                </a:cubicBezTo>
                <a:cubicBezTo>
                  <a:pt x="271" y="48"/>
                  <a:pt x="297" y="47"/>
                  <a:pt x="316" y="44"/>
                </a:cubicBezTo>
                <a:cubicBezTo>
                  <a:pt x="335" y="41"/>
                  <a:pt x="356" y="33"/>
                  <a:pt x="371" y="31"/>
                </a:cubicBezTo>
                <a:cubicBezTo>
                  <a:pt x="386" y="29"/>
                  <a:pt x="395" y="29"/>
                  <a:pt x="406" y="31"/>
                </a:cubicBezTo>
                <a:cubicBezTo>
                  <a:pt x="417" y="33"/>
                  <a:pt x="429" y="41"/>
                  <a:pt x="438" y="44"/>
                </a:cubicBezTo>
                <a:cubicBezTo>
                  <a:pt x="447" y="47"/>
                  <a:pt x="449" y="51"/>
                  <a:pt x="463" y="50"/>
                </a:cubicBezTo>
                <a:cubicBezTo>
                  <a:pt x="477" y="49"/>
                  <a:pt x="511" y="41"/>
                  <a:pt x="524" y="41"/>
                </a:cubicBezTo>
                <a:cubicBezTo>
                  <a:pt x="537" y="41"/>
                  <a:pt x="535" y="49"/>
                  <a:pt x="543" y="47"/>
                </a:cubicBezTo>
                <a:cubicBezTo>
                  <a:pt x="551" y="45"/>
                  <a:pt x="558" y="35"/>
                  <a:pt x="575" y="31"/>
                </a:cubicBezTo>
                <a:cubicBezTo>
                  <a:pt x="592" y="27"/>
                  <a:pt x="625" y="21"/>
                  <a:pt x="646" y="21"/>
                </a:cubicBezTo>
                <a:cubicBezTo>
                  <a:pt x="667" y="21"/>
                  <a:pt x="684" y="27"/>
                  <a:pt x="700" y="31"/>
                </a:cubicBezTo>
                <a:cubicBezTo>
                  <a:pt x="716" y="35"/>
                  <a:pt x="732" y="42"/>
                  <a:pt x="745" y="44"/>
                </a:cubicBezTo>
                <a:cubicBezTo>
                  <a:pt x="758" y="46"/>
                  <a:pt x="765" y="43"/>
                  <a:pt x="777" y="44"/>
                </a:cubicBezTo>
                <a:cubicBezTo>
                  <a:pt x="789" y="45"/>
                  <a:pt x="803" y="47"/>
                  <a:pt x="815" y="47"/>
                </a:cubicBezTo>
                <a:cubicBezTo>
                  <a:pt x="827" y="47"/>
                  <a:pt x="831" y="43"/>
                  <a:pt x="847" y="41"/>
                </a:cubicBezTo>
                <a:cubicBezTo>
                  <a:pt x="863" y="39"/>
                  <a:pt x="841" y="37"/>
                  <a:pt x="911" y="34"/>
                </a:cubicBezTo>
                <a:cubicBezTo>
                  <a:pt x="981" y="31"/>
                  <a:pt x="1181" y="17"/>
                  <a:pt x="1267" y="25"/>
                </a:cubicBezTo>
                <a:cubicBezTo>
                  <a:pt x="1353" y="33"/>
                  <a:pt x="1411" y="52"/>
                  <a:pt x="1430" y="85"/>
                </a:cubicBezTo>
                <a:cubicBezTo>
                  <a:pt x="1449" y="118"/>
                  <a:pt x="1409" y="184"/>
                  <a:pt x="1379" y="220"/>
                </a:cubicBezTo>
                <a:cubicBezTo>
                  <a:pt x="1349" y="256"/>
                  <a:pt x="1257" y="279"/>
                  <a:pt x="1251" y="303"/>
                </a:cubicBezTo>
                <a:cubicBezTo>
                  <a:pt x="1245" y="327"/>
                  <a:pt x="1310" y="330"/>
                  <a:pt x="1343" y="364"/>
                </a:cubicBezTo>
                <a:cubicBezTo>
                  <a:pt x="1376" y="398"/>
                  <a:pt x="1431" y="458"/>
                  <a:pt x="1446" y="509"/>
                </a:cubicBezTo>
                <a:cubicBezTo>
                  <a:pt x="1461" y="560"/>
                  <a:pt x="1440" y="638"/>
                  <a:pt x="1436" y="673"/>
                </a:cubicBezTo>
                <a:cubicBezTo>
                  <a:pt x="1432" y="708"/>
                  <a:pt x="1470" y="736"/>
                  <a:pt x="1422" y="721"/>
                </a:cubicBezTo>
                <a:cubicBezTo>
                  <a:pt x="1374" y="706"/>
                  <a:pt x="1170" y="594"/>
                  <a:pt x="1148" y="581"/>
                </a:cubicBezTo>
                <a:cubicBezTo>
                  <a:pt x="1126" y="568"/>
                  <a:pt x="1261" y="614"/>
                  <a:pt x="1292" y="642"/>
                </a:cubicBezTo>
                <a:cubicBezTo>
                  <a:pt x="1323" y="670"/>
                  <a:pt x="1342" y="714"/>
                  <a:pt x="1334" y="751"/>
                </a:cubicBezTo>
                <a:cubicBezTo>
                  <a:pt x="1326" y="788"/>
                  <a:pt x="1268" y="830"/>
                  <a:pt x="1244" y="866"/>
                </a:cubicBezTo>
                <a:cubicBezTo>
                  <a:pt x="1220" y="902"/>
                  <a:pt x="1198" y="934"/>
                  <a:pt x="1190" y="965"/>
                </a:cubicBezTo>
                <a:cubicBezTo>
                  <a:pt x="1182" y="996"/>
                  <a:pt x="1167" y="1021"/>
                  <a:pt x="1193" y="1055"/>
                </a:cubicBezTo>
                <a:cubicBezTo>
                  <a:pt x="1219" y="1089"/>
                  <a:pt x="1237" y="1150"/>
                  <a:pt x="1344" y="1169"/>
                </a:cubicBezTo>
                <a:lnTo>
                  <a:pt x="1833" y="1170"/>
                </a:lnTo>
                <a:lnTo>
                  <a:pt x="1817" y="1637"/>
                </a:lnTo>
                <a:lnTo>
                  <a:pt x="6" y="1636"/>
                </a:lnTo>
                <a:lnTo>
                  <a:pt x="0" y="1185"/>
                </a:lnTo>
                <a:cubicBezTo>
                  <a:pt x="14" y="1089"/>
                  <a:pt x="68" y="1113"/>
                  <a:pt x="89" y="1058"/>
                </a:cubicBezTo>
                <a:cubicBezTo>
                  <a:pt x="110" y="1003"/>
                  <a:pt x="124" y="916"/>
                  <a:pt x="127" y="853"/>
                </a:cubicBezTo>
                <a:cubicBezTo>
                  <a:pt x="130" y="790"/>
                  <a:pt x="117" y="728"/>
                  <a:pt x="108" y="681"/>
                </a:cubicBezTo>
                <a:cubicBezTo>
                  <a:pt x="99" y="634"/>
                  <a:pt x="82" y="611"/>
                  <a:pt x="73" y="572"/>
                </a:cubicBezTo>
                <a:cubicBezTo>
                  <a:pt x="64" y="533"/>
                  <a:pt x="52" y="497"/>
                  <a:pt x="54" y="447"/>
                </a:cubicBezTo>
                <a:cubicBezTo>
                  <a:pt x="56" y="397"/>
                  <a:pt x="80" y="315"/>
                  <a:pt x="88" y="269"/>
                </a:cubicBezTo>
                <a:cubicBezTo>
                  <a:pt x="96" y="223"/>
                  <a:pt x="94" y="201"/>
                  <a:pt x="102" y="173"/>
                </a:cubicBezTo>
                <a:cubicBezTo>
                  <a:pt x="110" y="145"/>
                  <a:pt x="129" y="125"/>
                  <a:pt x="137" y="98"/>
                </a:cubicBezTo>
                <a:cubicBezTo>
                  <a:pt x="145" y="71"/>
                  <a:pt x="145" y="24"/>
                  <a:pt x="153" y="12"/>
                </a:cubicBezTo>
                <a:close/>
              </a:path>
            </a:pathLst>
          </a:custGeom>
          <a:solidFill>
            <a:srgbClr val="0066FF"/>
          </a:solidFill>
          <a:ln w="9525">
            <a:solidFill>
              <a:schemeClr val="hlink"/>
            </a:solidFill>
            <a:round/>
            <a:headEnd/>
            <a:tailEnd/>
          </a:ln>
        </p:spPr>
        <p:txBody>
          <a:bodyPr/>
          <a:lstStyle/>
          <a:p>
            <a:endParaRPr lang="zh-CN" altLang="en-US"/>
          </a:p>
        </p:txBody>
      </p:sp>
      <p:sp>
        <p:nvSpPr>
          <p:cNvPr id="56325" name="Freeform 6"/>
          <p:cNvSpPr>
            <a:spLocks/>
          </p:cNvSpPr>
          <p:nvPr/>
        </p:nvSpPr>
        <p:spPr bwMode="auto">
          <a:xfrm>
            <a:off x="6419736" y="2651125"/>
            <a:ext cx="403225" cy="431800"/>
          </a:xfrm>
          <a:custGeom>
            <a:avLst/>
            <a:gdLst>
              <a:gd name="T0" fmla="*/ 2147483647 w 254"/>
              <a:gd name="T1" fmla="*/ 2147483647 h 272"/>
              <a:gd name="T2" fmla="*/ 2147483647 w 254"/>
              <a:gd name="T3" fmla="*/ 2147483647 h 272"/>
              <a:gd name="T4" fmla="*/ 2147483647 w 254"/>
              <a:gd name="T5" fmla="*/ 2147483647 h 272"/>
              <a:gd name="T6" fmla="*/ 2147483647 w 254"/>
              <a:gd name="T7" fmla="*/ 2147483647 h 272"/>
              <a:gd name="T8" fmla="*/ 2147483647 w 254"/>
              <a:gd name="T9" fmla="*/ 2147483647 h 272"/>
              <a:gd name="T10" fmla="*/ 2147483647 w 254"/>
              <a:gd name="T11" fmla="*/ 2147483647 h 272"/>
              <a:gd name="T12" fmla="*/ 2147483647 w 254"/>
              <a:gd name="T13" fmla="*/ 2147483647 h 272"/>
              <a:gd name="T14" fmla="*/ 2147483647 w 254"/>
              <a:gd name="T15" fmla="*/ 2147483647 h 272"/>
              <a:gd name="T16" fmla="*/ 2147483647 w 254"/>
              <a:gd name="T17" fmla="*/ 2147483647 h 272"/>
              <a:gd name="T18" fmla="*/ 2147483647 w 254"/>
              <a:gd name="T19" fmla="*/ 2147483647 h 272"/>
              <a:gd name="T20" fmla="*/ 2147483647 w 254"/>
              <a:gd name="T21" fmla="*/ 2147483647 h 272"/>
              <a:gd name="T22" fmla="*/ 2147483647 w 254"/>
              <a:gd name="T23" fmla="*/ 2147483647 h 272"/>
              <a:gd name="T24" fmla="*/ 2147483647 w 254"/>
              <a:gd name="T25" fmla="*/ 2147483647 h 272"/>
              <a:gd name="T26" fmla="*/ 2147483647 w 254"/>
              <a:gd name="T27" fmla="*/ 2147483647 h 272"/>
              <a:gd name="T28" fmla="*/ 2147483647 w 254"/>
              <a:gd name="T29" fmla="*/ 2147483647 h 272"/>
              <a:gd name="T30" fmla="*/ 2147483647 w 254"/>
              <a:gd name="T31" fmla="*/ 2147483647 h 272"/>
              <a:gd name="T32" fmla="*/ 2147483647 w 254"/>
              <a:gd name="T33" fmla="*/ 2147483647 h 27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4"/>
              <a:gd name="T52" fmla="*/ 0 h 272"/>
              <a:gd name="T53" fmla="*/ 254 w 254"/>
              <a:gd name="T54" fmla="*/ 272 h 27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4" h="272">
                <a:moveTo>
                  <a:pt x="222" y="117"/>
                </a:moveTo>
                <a:cubicBezTo>
                  <a:pt x="230" y="94"/>
                  <a:pt x="248" y="71"/>
                  <a:pt x="251" y="56"/>
                </a:cubicBezTo>
                <a:cubicBezTo>
                  <a:pt x="254" y="41"/>
                  <a:pt x="251" y="30"/>
                  <a:pt x="238" y="24"/>
                </a:cubicBezTo>
                <a:cubicBezTo>
                  <a:pt x="225" y="18"/>
                  <a:pt x="192" y="21"/>
                  <a:pt x="174" y="18"/>
                </a:cubicBezTo>
                <a:cubicBezTo>
                  <a:pt x="156" y="15"/>
                  <a:pt x="144" y="11"/>
                  <a:pt x="129" y="8"/>
                </a:cubicBezTo>
                <a:cubicBezTo>
                  <a:pt x="114" y="5"/>
                  <a:pt x="95" y="0"/>
                  <a:pt x="81" y="2"/>
                </a:cubicBezTo>
                <a:cubicBezTo>
                  <a:pt x="67" y="4"/>
                  <a:pt x="50" y="10"/>
                  <a:pt x="43" y="21"/>
                </a:cubicBezTo>
                <a:cubicBezTo>
                  <a:pt x="36" y="32"/>
                  <a:pt x="42" y="42"/>
                  <a:pt x="40" y="66"/>
                </a:cubicBezTo>
                <a:cubicBezTo>
                  <a:pt x="38" y="90"/>
                  <a:pt x="35" y="143"/>
                  <a:pt x="30" y="165"/>
                </a:cubicBezTo>
                <a:cubicBezTo>
                  <a:pt x="25" y="187"/>
                  <a:pt x="12" y="188"/>
                  <a:pt x="8" y="197"/>
                </a:cubicBezTo>
                <a:cubicBezTo>
                  <a:pt x="4" y="206"/>
                  <a:pt x="0" y="212"/>
                  <a:pt x="4" y="220"/>
                </a:cubicBezTo>
                <a:cubicBezTo>
                  <a:pt x="8" y="228"/>
                  <a:pt x="12" y="238"/>
                  <a:pt x="30" y="245"/>
                </a:cubicBezTo>
                <a:cubicBezTo>
                  <a:pt x="48" y="252"/>
                  <a:pt x="94" y="260"/>
                  <a:pt x="113" y="264"/>
                </a:cubicBezTo>
                <a:cubicBezTo>
                  <a:pt x="132" y="268"/>
                  <a:pt x="134" y="272"/>
                  <a:pt x="145" y="271"/>
                </a:cubicBezTo>
                <a:cubicBezTo>
                  <a:pt x="156" y="270"/>
                  <a:pt x="171" y="270"/>
                  <a:pt x="180" y="258"/>
                </a:cubicBezTo>
                <a:cubicBezTo>
                  <a:pt x="189" y="246"/>
                  <a:pt x="190" y="221"/>
                  <a:pt x="200" y="197"/>
                </a:cubicBezTo>
                <a:cubicBezTo>
                  <a:pt x="210" y="173"/>
                  <a:pt x="214" y="140"/>
                  <a:pt x="222" y="117"/>
                </a:cubicBezTo>
                <a:close/>
              </a:path>
            </a:pathLst>
          </a:custGeom>
          <a:solidFill>
            <a:schemeClr val="bg1">
              <a:lumMod val="95000"/>
            </a:schemeClr>
          </a:solidFill>
          <a:ln>
            <a:noFill/>
          </a:ln>
        </p:spPr>
        <p:txBody>
          <a:bodyPr/>
          <a:lstStyle/>
          <a:p>
            <a:endParaRPr lang="zh-CN" altLang="en-US"/>
          </a:p>
        </p:txBody>
      </p:sp>
      <p:sp>
        <p:nvSpPr>
          <p:cNvPr id="56326" name="Freeform 7"/>
          <p:cNvSpPr>
            <a:spLocks/>
          </p:cNvSpPr>
          <p:nvPr/>
        </p:nvSpPr>
        <p:spPr bwMode="auto">
          <a:xfrm>
            <a:off x="6702311" y="3665538"/>
            <a:ext cx="361950" cy="314325"/>
          </a:xfrm>
          <a:custGeom>
            <a:avLst/>
            <a:gdLst>
              <a:gd name="T0" fmla="*/ 2147483647 w 228"/>
              <a:gd name="T1" fmla="*/ 2147483647 h 198"/>
              <a:gd name="T2" fmla="*/ 2147483647 w 228"/>
              <a:gd name="T3" fmla="*/ 2147483647 h 198"/>
              <a:gd name="T4" fmla="*/ 2147483647 w 228"/>
              <a:gd name="T5" fmla="*/ 2147483647 h 198"/>
              <a:gd name="T6" fmla="*/ 2147483647 w 228"/>
              <a:gd name="T7" fmla="*/ 2147483647 h 198"/>
              <a:gd name="T8" fmla="*/ 2147483647 w 228"/>
              <a:gd name="T9" fmla="*/ 2147483647 h 198"/>
              <a:gd name="T10" fmla="*/ 2147483647 w 228"/>
              <a:gd name="T11" fmla="*/ 2147483647 h 198"/>
              <a:gd name="T12" fmla="*/ 2147483647 w 228"/>
              <a:gd name="T13" fmla="*/ 2147483647 h 198"/>
              <a:gd name="T14" fmla="*/ 2147483647 w 228"/>
              <a:gd name="T15" fmla="*/ 2147483647 h 198"/>
              <a:gd name="T16" fmla="*/ 2147483647 w 228"/>
              <a:gd name="T17" fmla="*/ 2147483647 h 198"/>
              <a:gd name="T18" fmla="*/ 2147483647 w 228"/>
              <a:gd name="T19" fmla="*/ 2147483647 h 198"/>
              <a:gd name="T20" fmla="*/ 2147483647 w 228"/>
              <a:gd name="T21" fmla="*/ 2147483647 h 198"/>
              <a:gd name="T22" fmla="*/ 2147483647 w 228"/>
              <a:gd name="T23" fmla="*/ 2147483647 h 1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
              <a:gd name="T37" fmla="*/ 0 h 198"/>
              <a:gd name="T38" fmla="*/ 228 w 228"/>
              <a:gd name="T39" fmla="*/ 198 h 19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 h="198">
                <a:moveTo>
                  <a:pt x="111" y="3"/>
                </a:moveTo>
                <a:cubicBezTo>
                  <a:pt x="94" y="1"/>
                  <a:pt x="74" y="0"/>
                  <a:pt x="57" y="7"/>
                </a:cubicBezTo>
                <a:cubicBezTo>
                  <a:pt x="40" y="14"/>
                  <a:pt x="18" y="27"/>
                  <a:pt x="9" y="48"/>
                </a:cubicBezTo>
                <a:cubicBezTo>
                  <a:pt x="0" y="69"/>
                  <a:pt x="2" y="111"/>
                  <a:pt x="5" y="131"/>
                </a:cubicBezTo>
                <a:cubicBezTo>
                  <a:pt x="8" y="151"/>
                  <a:pt x="14" y="161"/>
                  <a:pt x="28" y="170"/>
                </a:cubicBezTo>
                <a:cubicBezTo>
                  <a:pt x="42" y="179"/>
                  <a:pt x="67" y="182"/>
                  <a:pt x="89" y="186"/>
                </a:cubicBezTo>
                <a:cubicBezTo>
                  <a:pt x="111" y="190"/>
                  <a:pt x="141" y="198"/>
                  <a:pt x="162" y="195"/>
                </a:cubicBezTo>
                <a:cubicBezTo>
                  <a:pt x="183" y="192"/>
                  <a:pt x="206" y="178"/>
                  <a:pt x="217" y="167"/>
                </a:cubicBezTo>
                <a:cubicBezTo>
                  <a:pt x="228" y="156"/>
                  <a:pt x="228" y="145"/>
                  <a:pt x="226" y="128"/>
                </a:cubicBezTo>
                <a:cubicBezTo>
                  <a:pt x="224" y="111"/>
                  <a:pt x="218" y="82"/>
                  <a:pt x="207" y="64"/>
                </a:cubicBezTo>
                <a:cubicBezTo>
                  <a:pt x="196" y="46"/>
                  <a:pt x="180" y="28"/>
                  <a:pt x="162" y="19"/>
                </a:cubicBezTo>
                <a:cubicBezTo>
                  <a:pt x="144" y="10"/>
                  <a:pt x="128" y="5"/>
                  <a:pt x="111" y="3"/>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1371144" name="Text Box 8"/>
          <p:cNvSpPr txBox="1">
            <a:spLocks noChangeArrowheads="1"/>
          </p:cNvSpPr>
          <p:nvPr/>
        </p:nvSpPr>
        <p:spPr bwMode="auto">
          <a:xfrm>
            <a:off x="822236" y="1998390"/>
            <a:ext cx="4198338" cy="3305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4638" indent="-2746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buSzPct val="130000"/>
              <a:buFont typeface="Arial" panose="020B0604020202020204" pitchFamily="34" charset="0"/>
              <a:buChar char="•"/>
            </a:pPr>
            <a:r>
              <a:rPr kumimoji="1" lang="zh-CN" altLang="en-US" sz="2400" b="1" dirty="0">
                <a:solidFill>
                  <a:srgbClr val="800000"/>
                </a:solidFill>
                <a:ea typeface="幼圆" pitchFamily="49" charset="-122"/>
              </a:rPr>
              <a:t>毛细水：</a:t>
            </a:r>
            <a:r>
              <a:rPr kumimoji="1" lang="zh-CN" altLang="en-US" sz="2400" b="1" dirty="0">
                <a:solidFill>
                  <a:srgbClr val="000066"/>
                </a:solidFill>
                <a:ea typeface="幼圆" pitchFamily="49" charset="-122"/>
              </a:rPr>
              <a:t>由于土体孔隙的毛细作用升至自由水面以上的水。毛细水承受表面张力和重力的作用</a:t>
            </a:r>
          </a:p>
          <a:p>
            <a:pPr marL="342900" indent="-342900" eaLnBrk="1" hangingPunct="1">
              <a:lnSpc>
                <a:spcPct val="120000"/>
              </a:lnSpc>
              <a:buSzPct val="130000"/>
              <a:buFont typeface="Arial" panose="020B0604020202020204" pitchFamily="34" charset="0"/>
              <a:buChar char="•"/>
            </a:pPr>
            <a:r>
              <a:rPr kumimoji="1" lang="zh-CN" altLang="en-US" sz="2400" b="1" dirty="0">
                <a:solidFill>
                  <a:srgbClr val="800000"/>
                </a:solidFill>
                <a:ea typeface="幼圆" pitchFamily="49" charset="-122"/>
              </a:rPr>
              <a:t>重力水：</a:t>
            </a:r>
            <a:r>
              <a:rPr kumimoji="1" lang="zh-CN" altLang="en-US" sz="2400" b="1" dirty="0">
                <a:solidFill>
                  <a:srgbClr val="000066"/>
                </a:solidFill>
                <a:ea typeface="幼圆" pitchFamily="49" charset="-122"/>
              </a:rPr>
              <a:t>自由水面以下的孔隙自由水，在重力作用下可在土中自由流动</a:t>
            </a:r>
            <a:endParaRPr kumimoji="1" lang="zh-CN" altLang="en-US" sz="2000" b="1" dirty="0">
              <a:solidFill>
                <a:srgbClr val="000066"/>
              </a:solidFill>
              <a:ea typeface="幼圆" pitchFamily="49" charset="-122"/>
            </a:endParaRPr>
          </a:p>
        </p:txBody>
      </p:sp>
      <p:sp>
        <p:nvSpPr>
          <p:cNvPr id="56328" name="Text Box 9"/>
          <p:cNvSpPr txBox="1">
            <a:spLocks noChangeArrowheads="1"/>
          </p:cNvSpPr>
          <p:nvPr/>
        </p:nvSpPr>
        <p:spPr bwMode="auto">
          <a:xfrm>
            <a:off x="2668767" y="5724885"/>
            <a:ext cx="41322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20000"/>
              </a:spcBef>
              <a:spcAft>
                <a:spcPct val="0"/>
              </a:spcAft>
              <a:buClr>
                <a:schemeClr val="folHlink"/>
              </a:buClr>
              <a:buSzPct val="85000"/>
              <a:buFont typeface="Wingdings 2" pitchFamily="18" charset="2"/>
              <a:buNone/>
            </a:pPr>
            <a:r>
              <a:rPr kumimoji="1" lang="zh-CN" altLang="en-US" sz="4000" b="1" dirty="0">
                <a:solidFill>
                  <a:srgbClr val="000066"/>
                </a:solidFill>
                <a:latin typeface="黑体" pitchFamily="2" charset="-122"/>
                <a:ea typeface="黑体" pitchFamily="2" charset="-122"/>
              </a:rPr>
              <a:t>土中水 </a:t>
            </a:r>
            <a:r>
              <a:rPr kumimoji="1" lang="en-US" altLang="zh-CN" sz="4000" b="1" dirty="0">
                <a:solidFill>
                  <a:srgbClr val="000066"/>
                </a:solidFill>
                <a:ea typeface="黑体" pitchFamily="2" charset="-122"/>
              </a:rPr>
              <a:t>–</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自由水</a:t>
            </a:r>
            <a:endParaRPr lang="zh-CN" altLang="en-US" sz="4000" b="1" dirty="0">
              <a:solidFill>
                <a:srgbClr val="000066"/>
              </a:solidFill>
              <a:latin typeface="黑体" pitchFamily="2" charset="-122"/>
              <a:ea typeface="黑体" pitchFamily="2" charset="-122"/>
            </a:endParaRPr>
          </a:p>
        </p:txBody>
      </p:sp>
      <p:sp>
        <p:nvSpPr>
          <p:cNvPr id="56329" name="Text Box 10"/>
          <p:cNvSpPr txBox="1">
            <a:spLocks noChangeArrowheads="1"/>
          </p:cNvSpPr>
          <p:nvPr/>
        </p:nvSpPr>
        <p:spPr bwMode="auto">
          <a:xfrm>
            <a:off x="479755" y="832178"/>
            <a:ext cx="4735512"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7675" indent="-4476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0"/>
              </a:spcBef>
              <a:spcAft>
                <a:spcPct val="0"/>
              </a:spcAft>
              <a:buFont typeface="Wingdings" pitchFamily="2" charset="2"/>
              <a:buChar char="n"/>
            </a:pPr>
            <a:r>
              <a:rPr kumimoji="1" lang="zh-CN" altLang="en-US" sz="2800" b="1" dirty="0">
                <a:solidFill>
                  <a:srgbClr val="800000"/>
                </a:solidFill>
                <a:ea typeface="幼圆" pitchFamily="49" charset="-122"/>
              </a:rPr>
              <a:t>自由水：</a:t>
            </a:r>
            <a:r>
              <a:rPr kumimoji="1" lang="zh-CN" altLang="en-US" sz="2800" b="1" dirty="0">
                <a:solidFill>
                  <a:srgbClr val="000066"/>
                </a:solidFill>
                <a:ea typeface="幼圆" pitchFamily="49" charset="-122"/>
              </a:rPr>
              <a:t>不受颗粒电场引力作用的孔隙水</a:t>
            </a:r>
            <a:endParaRPr kumimoji="1" lang="en-US" altLang="zh-CN" sz="2000" b="1" dirty="0">
              <a:solidFill>
                <a:srgbClr val="000066"/>
              </a:solidFill>
              <a:ea typeface="幼圆" pitchFamily="49" charset="-122"/>
            </a:endParaRPr>
          </a:p>
        </p:txBody>
      </p:sp>
      <p:sp>
        <p:nvSpPr>
          <p:cNvPr id="56330" name="Freeform 11"/>
          <p:cNvSpPr>
            <a:spLocks/>
          </p:cNvSpPr>
          <p:nvPr/>
        </p:nvSpPr>
        <p:spPr bwMode="auto">
          <a:xfrm>
            <a:off x="5765686" y="4265613"/>
            <a:ext cx="579438" cy="471487"/>
          </a:xfrm>
          <a:custGeom>
            <a:avLst/>
            <a:gdLst>
              <a:gd name="T0" fmla="*/ 2147483647 w 365"/>
              <a:gd name="T1" fmla="*/ 0 h 297"/>
              <a:gd name="T2" fmla="*/ 2147483647 w 365"/>
              <a:gd name="T3" fmla="*/ 2147483647 h 297"/>
              <a:gd name="T4" fmla="*/ 2147483647 w 365"/>
              <a:gd name="T5" fmla="*/ 2147483647 h 297"/>
              <a:gd name="T6" fmla="*/ 2147483647 w 365"/>
              <a:gd name="T7" fmla="*/ 2147483647 h 297"/>
              <a:gd name="T8" fmla="*/ 2147483647 w 365"/>
              <a:gd name="T9" fmla="*/ 2147483647 h 297"/>
              <a:gd name="T10" fmla="*/ 2147483647 w 365"/>
              <a:gd name="T11" fmla="*/ 2147483647 h 297"/>
              <a:gd name="T12" fmla="*/ 2147483647 w 365"/>
              <a:gd name="T13" fmla="*/ 2147483647 h 297"/>
              <a:gd name="T14" fmla="*/ 2147483647 w 365"/>
              <a:gd name="T15" fmla="*/ 2147483647 h 297"/>
              <a:gd name="T16" fmla="*/ 2147483647 w 365"/>
              <a:gd name="T17" fmla="*/ 2147483647 h 297"/>
              <a:gd name="T18" fmla="*/ 2147483647 w 365"/>
              <a:gd name="T19" fmla="*/ 2147483647 h 297"/>
              <a:gd name="T20" fmla="*/ 2147483647 w 365"/>
              <a:gd name="T21" fmla="*/ 2147483647 h 297"/>
              <a:gd name="T22" fmla="*/ 2147483647 w 365"/>
              <a:gd name="T23" fmla="*/ 2147483647 h 297"/>
              <a:gd name="T24" fmla="*/ 2147483647 w 365"/>
              <a:gd name="T25" fmla="*/ 0 h 2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5"/>
              <a:gd name="T40" fmla="*/ 0 h 297"/>
              <a:gd name="T41" fmla="*/ 365 w 365"/>
              <a:gd name="T42" fmla="*/ 297 h 2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5" h="297">
                <a:moveTo>
                  <a:pt x="202" y="0"/>
                </a:moveTo>
                <a:cubicBezTo>
                  <a:pt x="170" y="0"/>
                  <a:pt x="134" y="32"/>
                  <a:pt x="103" y="45"/>
                </a:cubicBezTo>
                <a:cubicBezTo>
                  <a:pt x="72" y="58"/>
                  <a:pt x="32" y="59"/>
                  <a:pt x="16" y="80"/>
                </a:cubicBezTo>
                <a:cubicBezTo>
                  <a:pt x="0" y="101"/>
                  <a:pt x="4" y="150"/>
                  <a:pt x="7" y="173"/>
                </a:cubicBezTo>
                <a:cubicBezTo>
                  <a:pt x="10" y="196"/>
                  <a:pt x="20" y="207"/>
                  <a:pt x="35" y="217"/>
                </a:cubicBezTo>
                <a:cubicBezTo>
                  <a:pt x="50" y="227"/>
                  <a:pt x="71" y="221"/>
                  <a:pt x="96" y="233"/>
                </a:cubicBezTo>
                <a:cubicBezTo>
                  <a:pt x="121" y="245"/>
                  <a:pt x="154" y="285"/>
                  <a:pt x="183" y="291"/>
                </a:cubicBezTo>
                <a:cubicBezTo>
                  <a:pt x="212" y="297"/>
                  <a:pt x="247" y="281"/>
                  <a:pt x="272" y="269"/>
                </a:cubicBezTo>
                <a:cubicBezTo>
                  <a:pt x="297" y="257"/>
                  <a:pt x="321" y="239"/>
                  <a:pt x="336" y="221"/>
                </a:cubicBezTo>
                <a:cubicBezTo>
                  <a:pt x="351" y="203"/>
                  <a:pt x="359" y="186"/>
                  <a:pt x="362" y="163"/>
                </a:cubicBezTo>
                <a:cubicBezTo>
                  <a:pt x="365" y="140"/>
                  <a:pt x="363" y="102"/>
                  <a:pt x="352" y="83"/>
                </a:cubicBezTo>
                <a:cubicBezTo>
                  <a:pt x="341" y="64"/>
                  <a:pt x="322" y="62"/>
                  <a:pt x="298" y="48"/>
                </a:cubicBezTo>
                <a:cubicBezTo>
                  <a:pt x="274" y="34"/>
                  <a:pt x="234" y="0"/>
                  <a:pt x="202" y="0"/>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31" name="Freeform 12"/>
          <p:cNvSpPr>
            <a:spLocks/>
          </p:cNvSpPr>
          <p:nvPr/>
        </p:nvSpPr>
        <p:spPr bwMode="auto">
          <a:xfrm>
            <a:off x="6348299" y="4421188"/>
            <a:ext cx="282575" cy="309562"/>
          </a:xfrm>
          <a:custGeom>
            <a:avLst/>
            <a:gdLst>
              <a:gd name="T0" fmla="*/ 2147483647 w 178"/>
              <a:gd name="T1" fmla="*/ 2147483647 h 195"/>
              <a:gd name="T2" fmla="*/ 2147483647 w 178"/>
              <a:gd name="T3" fmla="*/ 2147483647 h 195"/>
              <a:gd name="T4" fmla="*/ 2147483647 w 178"/>
              <a:gd name="T5" fmla="*/ 2147483647 h 195"/>
              <a:gd name="T6" fmla="*/ 2147483647 w 178"/>
              <a:gd name="T7" fmla="*/ 2147483647 h 195"/>
              <a:gd name="T8" fmla="*/ 2147483647 w 178"/>
              <a:gd name="T9" fmla="*/ 2147483647 h 195"/>
              <a:gd name="T10" fmla="*/ 2147483647 w 178"/>
              <a:gd name="T11" fmla="*/ 2147483647 h 195"/>
              <a:gd name="T12" fmla="*/ 2147483647 w 178"/>
              <a:gd name="T13" fmla="*/ 2147483647 h 195"/>
              <a:gd name="T14" fmla="*/ 2147483647 w 178"/>
              <a:gd name="T15" fmla="*/ 2147483647 h 195"/>
              <a:gd name="T16" fmla="*/ 2147483647 w 178"/>
              <a:gd name="T17" fmla="*/ 2147483647 h 195"/>
              <a:gd name="T18" fmla="*/ 2147483647 w 178"/>
              <a:gd name="T19" fmla="*/ 2147483647 h 195"/>
              <a:gd name="T20" fmla="*/ 2147483647 w 178"/>
              <a:gd name="T21" fmla="*/ 2147483647 h 195"/>
              <a:gd name="T22" fmla="*/ 2147483647 w 178"/>
              <a:gd name="T23" fmla="*/ 2147483647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8"/>
              <a:gd name="T37" fmla="*/ 0 h 195"/>
              <a:gd name="T38" fmla="*/ 178 w 178"/>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8" h="195">
                <a:moveTo>
                  <a:pt x="104" y="167"/>
                </a:moveTo>
                <a:cubicBezTo>
                  <a:pt x="119" y="170"/>
                  <a:pt x="128" y="195"/>
                  <a:pt x="139" y="190"/>
                </a:cubicBezTo>
                <a:cubicBezTo>
                  <a:pt x="150" y="185"/>
                  <a:pt x="165" y="149"/>
                  <a:pt x="171" y="135"/>
                </a:cubicBezTo>
                <a:cubicBezTo>
                  <a:pt x="177" y="121"/>
                  <a:pt x="178" y="122"/>
                  <a:pt x="174" y="107"/>
                </a:cubicBezTo>
                <a:cubicBezTo>
                  <a:pt x="170" y="92"/>
                  <a:pt x="160" y="61"/>
                  <a:pt x="148" y="46"/>
                </a:cubicBezTo>
                <a:cubicBezTo>
                  <a:pt x="136" y="31"/>
                  <a:pt x="114" y="23"/>
                  <a:pt x="100" y="17"/>
                </a:cubicBezTo>
                <a:cubicBezTo>
                  <a:pt x="86" y="11"/>
                  <a:pt x="77" y="0"/>
                  <a:pt x="62" y="7"/>
                </a:cubicBezTo>
                <a:cubicBezTo>
                  <a:pt x="47" y="14"/>
                  <a:pt x="21" y="43"/>
                  <a:pt x="11" y="59"/>
                </a:cubicBezTo>
                <a:cubicBezTo>
                  <a:pt x="1" y="75"/>
                  <a:pt x="0" y="88"/>
                  <a:pt x="4" y="103"/>
                </a:cubicBezTo>
                <a:cubicBezTo>
                  <a:pt x="8" y="118"/>
                  <a:pt x="26" y="137"/>
                  <a:pt x="33" y="148"/>
                </a:cubicBezTo>
                <a:cubicBezTo>
                  <a:pt x="40" y="159"/>
                  <a:pt x="35" y="167"/>
                  <a:pt x="46" y="171"/>
                </a:cubicBezTo>
                <a:cubicBezTo>
                  <a:pt x="57" y="175"/>
                  <a:pt x="89" y="164"/>
                  <a:pt x="104" y="167"/>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32" name="Freeform 13"/>
          <p:cNvSpPr>
            <a:spLocks/>
          </p:cNvSpPr>
          <p:nvPr/>
        </p:nvSpPr>
        <p:spPr bwMode="auto">
          <a:xfrm>
            <a:off x="6613411" y="4314825"/>
            <a:ext cx="338138" cy="387350"/>
          </a:xfrm>
          <a:custGeom>
            <a:avLst/>
            <a:gdLst>
              <a:gd name="T0" fmla="*/ 2147483647 w 213"/>
              <a:gd name="T1" fmla="*/ 2147483647 h 244"/>
              <a:gd name="T2" fmla="*/ 2147483647 w 213"/>
              <a:gd name="T3" fmla="*/ 2147483647 h 244"/>
              <a:gd name="T4" fmla="*/ 2147483647 w 213"/>
              <a:gd name="T5" fmla="*/ 2147483647 h 244"/>
              <a:gd name="T6" fmla="*/ 2147483647 w 213"/>
              <a:gd name="T7" fmla="*/ 2147483647 h 244"/>
              <a:gd name="T8" fmla="*/ 2147483647 w 213"/>
              <a:gd name="T9" fmla="*/ 2147483647 h 244"/>
              <a:gd name="T10" fmla="*/ 2147483647 w 213"/>
              <a:gd name="T11" fmla="*/ 2147483647 h 244"/>
              <a:gd name="T12" fmla="*/ 2147483647 w 213"/>
              <a:gd name="T13" fmla="*/ 2147483647 h 244"/>
              <a:gd name="T14" fmla="*/ 2147483647 w 213"/>
              <a:gd name="T15" fmla="*/ 2147483647 h 244"/>
              <a:gd name="T16" fmla="*/ 2147483647 w 213"/>
              <a:gd name="T17" fmla="*/ 2147483647 h 244"/>
              <a:gd name="T18" fmla="*/ 2147483647 w 213"/>
              <a:gd name="T19" fmla="*/ 2147483647 h 244"/>
              <a:gd name="T20" fmla="*/ 2147483647 w 213"/>
              <a:gd name="T21" fmla="*/ 2147483647 h 2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
              <a:gd name="T34" fmla="*/ 0 h 244"/>
              <a:gd name="T35" fmla="*/ 213 w 213"/>
              <a:gd name="T36" fmla="*/ 244 h 2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 h="244">
                <a:moveTo>
                  <a:pt x="71" y="206"/>
                </a:moveTo>
                <a:cubicBezTo>
                  <a:pt x="90" y="224"/>
                  <a:pt x="105" y="238"/>
                  <a:pt x="122" y="241"/>
                </a:cubicBezTo>
                <a:cubicBezTo>
                  <a:pt x="139" y="244"/>
                  <a:pt x="159" y="233"/>
                  <a:pt x="173" y="222"/>
                </a:cubicBezTo>
                <a:cubicBezTo>
                  <a:pt x="187" y="211"/>
                  <a:pt x="205" y="197"/>
                  <a:pt x="209" y="177"/>
                </a:cubicBezTo>
                <a:cubicBezTo>
                  <a:pt x="213" y="157"/>
                  <a:pt x="210" y="124"/>
                  <a:pt x="199" y="100"/>
                </a:cubicBezTo>
                <a:cubicBezTo>
                  <a:pt x="188" y="76"/>
                  <a:pt x="161" y="53"/>
                  <a:pt x="141" y="36"/>
                </a:cubicBezTo>
                <a:cubicBezTo>
                  <a:pt x="121" y="19"/>
                  <a:pt x="101" y="2"/>
                  <a:pt x="81" y="1"/>
                </a:cubicBezTo>
                <a:cubicBezTo>
                  <a:pt x="61" y="0"/>
                  <a:pt x="35" y="18"/>
                  <a:pt x="23" y="30"/>
                </a:cubicBezTo>
                <a:cubicBezTo>
                  <a:pt x="11" y="42"/>
                  <a:pt x="9" y="57"/>
                  <a:pt x="7" y="74"/>
                </a:cubicBezTo>
                <a:cubicBezTo>
                  <a:pt x="5" y="91"/>
                  <a:pt x="0" y="109"/>
                  <a:pt x="10" y="132"/>
                </a:cubicBezTo>
                <a:cubicBezTo>
                  <a:pt x="20" y="155"/>
                  <a:pt x="52" y="188"/>
                  <a:pt x="71" y="206"/>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33" name="Freeform 14"/>
          <p:cNvSpPr>
            <a:spLocks/>
          </p:cNvSpPr>
          <p:nvPr/>
        </p:nvSpPr>
        <p:spPr bwMode="auto">
          <a:xfrm>
            <a:off x="6951549" y="4441825"/>
            <a:ext cx="495300" cy="336550"/>
          </a:xfrm>
          <a:custGeom>
            <a:avLst/>
            <a:gdLst>
              <a:gd name="T0" fmla="*/ 2147483647 w 312"/>
              <a:gd name="T1" fmla="*/ 2147483647 h 212"/>
              <a:gd name="T2" fmla="*/ 2147483647 w 312"/>
              <a:gd name="T3" fmla="*/ 2147483647 h 212"/>
              <a:gd name="T4" fmla="*/ 2147483647 w 312"/>
              <a:gd name="T5" fmla="*/ 2147483647 h 212"/>
              <a:gd name="T6" fmla="*/ 2147483647 w 312"/>
              <a:gd name="T7" fmla="*/ 2147483647 h 212"/>
              <a:gd name="T8" fmla="*/ 2147483647 w 312"/>
              <a:gd name="T9" fmla="*/ 2147483647 h 212"/>
              <a:gd name="T10" fmla="*/ 2147483647 w 312"/>
              <a:gd name="T11" fmla="*/ 2147483647 h 212"/>
              <a:gd name="T12" fmla="*/ 2147483647 w 312"/>
              <a:gd name="T13" fmla="*/ 2147483647 h 212"/>
              <a:gd name="T14" fmla="*/ 2147483647 w 312"/>
              <a:gd name="T15" fmla="*/ 2147483647 h 212"/>
              <a:gd name="T16" fmla="*/ 2147483647 w 312"/>
              <a:gd name="T17" fmla="*/ 2147483647 h 212"/>
              <a:gd name="T18" fmla="*/ 2147483647 w 312"/>
              <a:gd name="T19" fmla="*/ 2147483647 h 212"/>
              <a:gd name="T20" fmla="*/ 2147483647 w 312"/>
              <a:gd name="T21" fmla="*/ 2147483647 h 212"/>
              <a:gd name="T22" fmla="*/ 2147483647 w 312"/>
              <a:gd name="T23" fmla="*/ 2147483647 h 212"/>
              <a:gd name="T24" fmla="*/ 2147483647 w 312"/>
              <a:gd name="T25" fmla="*/ 2147483647 h 212"/>
              <a:gd name="T26" fmla="*/ 2147483647 w 312"/>
              <a:gd name="T27" fmla="*/ 2147483647 h 212"/>
              <a:gd name="T28" fmla="*/ 2147483647 w 312"/>
              <a:gd name="T29" fmla="*/ 2147483647 h 2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2"/>
              <a:gd name="T46" fmla="*/ 0 h 212"/>
              <a:gd name="T47" fmla="*/ 312 w 312"/>
              <a:gd name="T48" fmla="*/ 212 h 2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2" h="212">
                <a:moveTo>
                  <a:pt x="66" y="154"/>
                </a:moveTo>
                <a:cubicBezTo>
                  <a:pt x="82" y="162"/>
                  <a:pt x="113" y="183"/>
                  <a:pt x="136" y="193"/>
                </a:cubicBezTo>
                <a:cubicBezTo>
                  <a:pt x="159" y="203"/>
                  <a:pt x="185" y="212"/>
                  <a:pt x="204" y="212"/>
                </a:cubicBezTo>
                <a:cubicBezTo>
                  <a:pt x="223" y="212"/>
                  <a:pt x="238" y="197"/>
                  <a:pt x="252" y="193"/>
                </a:cubicBezTo>
                <a:cubicBezTo>
                  <a:pt x="266" y="189"/>
                  <a:pt x="278" y="195"/>
                  <a:pt x="287" y="186"/>
                </a:cubicBezTo>
                <a:cubicBezTo>
                  <a:pt x="296" y="177"/>
                  <a:pt x="306" y="158"/>
                  <a:pt x="309" y="138"/>
                </a:cubicBezTo>
                <a:cubicBezTo>
                  <a:pt x="312" y="118"/>
                  <a:pt x="312" y="85"/>
                  <a:pt x="306" y="65"/>
                </a:cubicBezTo>
                <a:cubicBezTo>
                  <a:pt x="300" y="45"/>
                  <a:pt x="291" y="27"/>
                  <a:pt x="271" y="17"/>
                </a:cubicBezTo>
                <a:cubicBezTo>
                  <a:pt x="251" y="7"/>
                  <a:pt x="219" y="6"/>
                  <a:pt x="188" y="4"/>
                </a:cubicBezTo>
                <a:cubicBezTo>
                  <a:pt x="157" y="2"/>
                  <a:pt x="112" y="0"/>
                  <a:pt x="85" y="4"/>
                </a:cubicBezTo>
                <a:cubicBezTo>
                  <a:pt x="58" y="8"/>
                  <a:pt x="41" y="20"/>
                  <a:pt x="28" y="26"/>
                </a:cubicBezTo>
                <a:cubicBezTo>
                  <a:pt x="15" y="32"/>
                  <a:pt x="9" y="31"/>
                  <a:pt x="5" y="42"/>
                </a:cubicBezTo>
                <a:cubicBezTo>
                  <a:pt x="1" y="53"/>
                  <a:pt x="0" y="73"/>
                  <a:pt x="5" y="90"/>
                </a:cubicBezTo>
                <a:cubicBezTo>
                  <a:pt x="10" y="107"/>
                  <a:pt x="25" y="133"/>
                  <a:pt x="37" y="145"/>
                </a:cubicBezTo>
                <a:cubicBezTo>
                  <a:pt x="49" y="157"/>
                  <a:pt x="50" y="146"/>
                  <a:pt x="66" y="154"/>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34" name="Freeform 15"/>
          <p:cNvSpPr>
            <a:spLocks/>
          </p:cNvSpPr>
          <p:nvPr/>
        </p:nvSpPr>
        <p:spPr bwMode="auto">
          <a:xfrm>
            <a:off x="7472249" y="4594225"/>
            <a:ext cx="138112" cy="139700"/>
          </a:xfrm>
          <a:custGeom>
            <a:avLst/>
            <a:gdLst>
              <a:gd name="T0" fmla="*/ 2147483647 w 87"/>
              <a:gd name="T1" fmla="*/ 2147483647 h 88"/>
              <a:gd name="T2" fmla="*/ 2147483647 w 87"/>
              <a:gd name="T3" fmla="*/ 2147483647 h 88"/>
              <a:gd name="T4" fmla="*/ 2147483647 w 87"/>
              <a:gd name="T5" fmla="*/ 2147483647 h 88"/>
              <a:gd name="T6" fmla="*/ 2147483647 w 87"/>
              <a:gd name="T7" fmla="*/ 2147483647 h 88"/>
              <a:gd name="T8" fmla="*/ 2147483647 w 87"/>
              <a:gd name="T9" fmla="*/ 2147483647 h 88"/>
              <a:gd name="T10" fmla="*/ 2147483647 w 87"/>
              <a:gd name="T11" fmla="*/ 2147483647 h 88"/>
              <a:gd name="T12" fmla="*/ 0 60000 65536"/>
              <a:gd name="T13" fmla="*/ 0 60000 65536"/>
              <a:gd name="T14" fmla="*/ 0 60000 65536"/>
              <a:gd name="T15" fmla="*/ 0 60000 65536"/>
              <a:gd name="T16" fmla="*/ 0 60000 65536"/>
              <a:gd name="T17" fmla="*/ 0 60000 65536"/>
              <a:gd name="T18" fmla="*/ 0 w 87"/>
              <a:gd name="T19" fmla="*/ 0 h 88"/>
              <a:gd name="T20" fmla="*/ 87 w 87"/>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87" h="88">
                <a:moveTo>
                  <a:pt x="10" y="14"/>
                </a:moveTo>
                <a:cubicBezTo>
                  <a:pt x="0" y="25"/>
                  <a:pt x="1" y="62"/>
                  <a:pt x="7" y="74"/>
                </a:cubicBezTo>
                <a:cubicBezTo>
                  <a:pt x="13" y="86"/>
                  <a:pt x="35" y="88"/>
                  <a:pt x="48" y="84"/>
                </a:cubicBezTo>
                <a:cubicBezTo>
                  <a:pt x="61" y="80"/>
                  <a:pt x="81" y="65"/>
                  <a:pt x="84" y="52"/>
                </a:cubicBezTo>
                <a:cubicBezTo>
                  <a:pt x="87" y="39"/>
                  <a:pt x="74" y="14"/>
                  <a:pt x="64" y="7"/>
                </a:cubicBezTo>
                <a:cubicBezTo>
                  <a:pt x="54" y="0"/>
                  <a:pt x="20" y="3"/>
                  <a:pt x="10" y="14"/>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35" name="Freeform 16"/>
          <p:cNvSpPr>
            <a:spLocks/>
          </p:cNvSpPr>
          <p:nvPr/>
        </p:nvSpPr>
        <p:spPr bwMode="auto">
          <a:xfrm>
            <a:off x="7557974" y="4464050"/>
            <a:ext cx="368300" cy="260350"/>
          </a:xfrm>
          <a:custGeom>
            <a:avLst/>
            <a:gdLst>
              <a:gd name="T0" fmla="*/ 2147483647 w 232"/>
              <a:gd name="T1" fmla="*/ 2147483647 h 164"/>
              <a:gd name="T2" fmla="*/ 2147483647 w 232"/>
              <a:gd name="T3" fmla="*/ 0 h 164"/>
              <a:gd name="T4" fmla="*/ 2147483647 w 232"/>
              <a:gd name="T5" fmla="*/ 2147483647 h 164"/>
              <a:gd name="T6" fmla="*/ 2147483647 w 232"/>
              <a:gd name="T7" fmla="*/ 2147483647 h 164"/>
              <a:gd name="T8" fmla="*/ 2147483647 w 232"/>
              <a:gd name="T9" fmla="*/ 2147483647 h 164"/>
              <a:gd name="T10" fmla="*/ 2147483647 w 232"/>
              <a:gd name="T11" fmla="*/ 2147483647 h 164"/>
              <a:gd name="T12" fmla="*/ 2147483647 w 232"/>
              <a:gd name="T13" fmla="*/ 2147483647 h 164"/>
              <a:gd name="T14" fmla="*/ 2147483647 w 232"/>
              <a:gd name="T15" fmla="*/ 2147483647 h 164"/>
              <a:gd name="T16" fmla="*/ 2147483647 w 232"/>
              <a:gd name="T17" fmla="*/ 2147483647 h 164"/>
              <a:gd name="T18" fmla="*/ 2147483647 w 232"/>
              <a:gd name="T19" fmla="*/ 2147483647 h 1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2"/>
              <a:gd name="T31" fmla="*/ 0 h 164"/>
              <a:gd name="T32" fmla="*/ 232 w 232"/>
              <a:gd name="T33" fmla="*/ 164 h 1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2" h="164">
                <a:moveTo>
                  <a:pt x="218" y="22"/>
                </a:moveTo>
                <a:cubicBezTo>
                  <a:pt x="204" y="14"/>
                  <a:pt x="170" y="0"/>
                  <a:pt x="142" y="0"/>
                </a:cubicBezTo>
                <a:cubicBezTo>
                  <a:pt x="114" y="0"/>
                  <a:pt x="72" y="11"/>
                  <a:pt x="49" y="22"/>
                </a:cubicBezTo>
                <a:cubicBezTo>
                  <a:pt x="26" y="33"/>
                  <a:pt x="8" y="44"/>
                  <a:pt x="4" y="64"/>
                </a:cubicBezTo>
                <a:cubicBezTo>
                  <a:pt x="0" y="84"/>
                  <a:pt x="13" y="124"/>
                  <a:pt x="26" y="140"/>
                </a:cubicBezTo>
                <a:cubicBezTo>
                  <a:pt x="39" y="156"/>
                  <a:pt x="58" y="164"/>
                  <a:pt x="81" y="163"/>
                </a:cubicBezTo>
                <a:cubicBezTo>
                  <a:pt x="104" y="162"/>
                  <a:pt x="143" y="141"/>
                  <a:pt x="164" y="134"/>
                </a:cubicBezTo>
                <a:cubicBezTo>
                  <a:pt x="185" y="127"/>
                  <a:pt x="195" y="135"/>
                  <a:pt x="206" y="121"/>
                </a:cubicBezTo>
                <a:cubicBezTo>
                  <a:pt x="217" y="107"/>
                  <a:pt x="226" y="64"/>
                  <a:pt x="228" y="48"/>
                </a:cubicBezTo>
                <a:cubicBezTo>
                  <a:pt x="230" y="32"/>
                  <a:pt x="232" y="30"/>
                  <a:pt x="218" y="22"/>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36" name="Freeform 17"/>
          <p:cNvSpPr>
            <a:spLocks/>
          </p:cNvSpPr>
          <p:nvPr/>
        </p:nvSpPr>
        <p:spPr bwMode="auto">
          <a:xfrm>
            <a:off x="7410336" y="4187825"/>
            <a:ext cx="280988" cy="347663"/>
          </a:xfrm>
          <a:custGeom>
            <a:avLst/>
            <a:gdLst>
              <a:gd name="T0" fmla="*/ 2147483647 w 177"/>
              <a:gd name="T1" fmla="*/ 2147483647 h 219"/>
              <a:gd name="T2" fmla="*/ 2147483647 w 177"/>
              <a:gd name="T3" fmla="*/ 2147483647 h 219"/>
              <a:gd name="T4" fmla="*/ 2147483647 w 177"/>
              <a:gd name="T5" fmla="*/ 2147483647 h 219"/>
              <a:gd name="T6" fmla="*/ 2147483647 w 177"/>
              <a:gd name="T7" fmla="*/ 2147483647 h 219"/>
              <a:gd name="T8" fmla="*/ 2147483647 w 177"/>
              <a:gd name="T9" fmla="*/ 2147483647 h 219"/>
              <a:gd name="T10" fmla="*/ 2147483647 w 177"/>
              <a:gd name="T11" fmla="*/ 2147483647 h 219"/>
              <a:gd name="T12" fmla="*/ 2147483647 w 177"/>
              <a:gd name="T13" fmla="*/ 2147483647 h 219"/>
              <a:gd name="T14" fmla="*/ 2147483647 w 177"/>
              <a:gd name="T15" fmla="*/ 2147483647 h 219"/>
              <a:gd name="T16" fmla="*/ 2147483647 w 177"/>
              <a:gd name="T17" fmla="*/ 2147483647 h 219"/>
              <a:gd name="T18" fmla="*/ 2147483647 w 177"/>
              <a:gd name="T19" fmla="*/ 2147483647 h 219"/>
              <a:gd name="T20" fmla="*/ 2147483647 w 177"/>
              <a:gd name="T21" fmla="*/ 2147483647 h 219"/>
              <a:gd name="T22" fmla="*/ 2147483647 w 177"/>
              <a:gd name="T23" fmla="*/ 2147483647 h 219"/>
              <a:gd name="T24" fmla="*/ 2147483647 w 177"/>
              <a:gd name="T25" fmla="*/ 2147483647 h 2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7"/>
              <a:gd name="T40" fmla="*/ 0 h 219"/>
              <a:gd name="T41" fmla="*/ 177 w 177"/>
              <a:gd name="T42" fmla="*/ 219 h 2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7" h="219">
                <a:moveTo>
                  <a:pt x="174" y="106"/>
                </a:moveTo>
                <a:cubicBezTo>
                  <a:pt x="171" y="94"/>
                  <a:pt x="156" y="78"/>
                  <a:pt x="145" y="65"/>
                </a:cubicBezTo>
                <a:cubicBezTo>
                  <a:pt x="134" y="52"/>
                  <a:pt x="120" y="37"/>
                  <a:pt x="107" y="26"/>
                </a:cubicBezTo>
                <a:cubicBezTo>
                  <a:pt x="94" y="15"/>
                  <a:pt x="83" y="0"/>
                  <a:pt x="68" y="1"/>
                </a:cubicBezTo>
                <a:cubicBezTo>
                  <a:pt x="53" y="2"/>
                  <a:pt x="28" y="20"/>
                  <a:pt x="17" y="33"/>
                </a:cubicBezTo>
                <a:cubicBezTo>
                  <a:pt x="6" y="46"/>
                  <a:pt x="2" y="60"/>
                  <a:pt x="1" y="81"/>
                </a:cubicBezTo>
                <a:cubicBezTo>
                  <a:pt x="0" y="102"/>
                  <a:pt x="2" y="137"/>
                  <a:pt x="11" y="158"/>
                </a:cubicBezTo>
                <a:cubicBezTo>
                  <a:pt x="20" y="179"/>
                  <a:pt x="41" y="196"/>
                  <a:pt x="55" y="206"/>
                </a:cubicBezTo>
                <a:cubicBezTo>
                  <a:pt x="69" y="216"/>
                  <a:pt x="83" y="219"/>
                  <a:pt x="94" y="215"/>
                </a:cubicBezTo>
                <a:cubicBezTo>
                  <a:pt x="105" y="211"/>
                  <a:pt x="112" y="192"/>
                  <a:pt x="123" y="183"/>
                </a:cubicBezTo>
                <a:cubicBezTo>
                  <a:pt x="134" y="174"/>
                  <a:pt x="152" y="169"/>
                  <a:pt x="158" y="161"/>
                </a:cubicBezTo>
                <a:cubicBezTo>
                  <a:pt x="164" y="153"/>
                  <a:pt x="160" y="145"/>
                  <a:pt x="161" y="135"/>
                </a:cubicBezTo>
                <a:cubicBezTo>
                  <a:pt x="162" y="125"/>
                  <a:pt x="177" y="118"/>
                  <a:pt x="174" y="106"/>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37" name="Freeform 18"/>
          <p:cNvSpPr>
            <a:spLocks/>
          </p:cNvSpPr>
          <p:nvPr/>
        </p:nvSpPr>
        <p:spPr bwMode="auto">
          <a:xfrm>
            <a:off x="6770574" y="3984625"/>
            <a:ext cx="623887" cy="449263"/>
          </a:xfrm>
          <a:custGeom>
            <a:avLst/>
            <a:gdLst>
              <a:gd name="T0" fmla="*/ 2147483647 w 393"/>
              <a:gd name="T1" fmla="*/ 2147483647 h 283"/>
              <a:gd name="T2" fmla="*/ 2147483647 w 393"/>
              <a:gd name="T3" fmla="*/ 2147483647 h 283"/>
              <a:gd name="T4" fmla="*/ 2147483647 w 393"/>
              <a:gd name="T5" fmla="*/ 2147483647 h 283"/>
              <a:gd name="T6" fmla="*/ 2147483647 w 393"/>
              <a:gd name="T7" fmla="*/ 2147483647 h 283"/>
              <a:gd name="T8" fmla="*/ 2147483647 w 393"/>
              <a:gd name="T9" fmla="*/ 2147483647 h 283"/>
              <a:gd name="T10" fmla="*/ 2147483647 w 393"/>
              <a:gd name="T11" fmla="*/ 2147483647 h 283"/>
              <a:gd name="T12" fmla="*/ 2147483647 w 393"/>
              <a:gd name="T13" fmla="*/ 2147483647 h 283"/>
              <a:gd name="T14" fmla="*/ 2147483647 w 393"/>
              <a:gd name="T15" fmla="*/ 2147483647 h 283"/>
              <a:gd name="T16" fmla="*/ 2147483647 w 393"/>
              <a:gd name="T17" fmla="*/ 2147483647 h 283"/>
              <a:gd name="T18" fmla="*/ 2147483647 w 393"/>
              <a:gd name="T19" fmla="*/ 2147483647 h 283"/>
              <a:gd name="T20" fmla="*/ 2147483647 w 393"/>
              <a:gd name="T21" fmla="*/ 2147483647 h 283"/>
              <a:gd name="T22" fmla="*/ 2147483647 w 393"/>
              <a:gd name="T23" fmla="*/ 2147483647 h 283"/>
              <a:gd name="T24" fmla="*/ 2147483647 w 393"/>
              <a:gd name="T25" fmla="*/ 2147483647 h 283"/>
              <a:gd name="T26" fmla="*/ 2147483647 w 393"/>
              <a:gd name="T27" fmla="*/ 2147483647 h 28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3"/>
              <a:gd name="T43" fmla="*/ 0 h 283"/>
              <a:gd name="T44" fmla="*/ 393 w 393"/>
              <a:gd name="T45" fmla="*/ 283 h 28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3" h="283">
                <a:moveTo>
                  <a:pt x="231" y="14"/>
                </a:moveTo>
                <a:cubicBezTo>
                  <a:pt x="208" y="8"/>
                  <a:pt x="171" y="0"/>
                  <a:pt x="142" y="1"/>
                </a:cubicBezTo>
                <a:cubicBezTo>
                  <a:pt x="113" y="2"/>
                  <a:pt x="78" y="5"/>
                  <a:pt x="55" y="17"/>
                </a:cubicBezTo>
                <a:cubicBezTo>
                  <a:pt x="32" y="29"/>
                  <a:pt x="8" y="48"/>
                  <a:pt x="4" y="71"/>
                </a:cubicBezTo>
                <a:cubicBezTo>
                  <a:pt x="0" y="94"/>
                  <a:pt x="23" y="134"/>
                  <a:pt x="30" y="158"/>
                </a:cubicBezTo>
                <a:cubicBezTo>
                  <a:pt x="37" y="182"/>
                  <a:pt x="30" y="199"/>
                  <a:pt x="49" y="218"/>
                </a:cubicBezTo>
                <a:cubicBezTo>
                  <a:pt x="68" y="237"/>
                  <a:pt x="110" y="263"/>
                  <a:pt x="142" y="273"/>
                </a:cubicBezTo>
                <a:cubicBezTo>
                  <a:pt x="174" y="283"/>
                  <a:pt x="208" y="276"/>
                  <a:pt x="241" y="276"/>
                </a:cubicBezTo>
                <a:cubicBezTo>
                  <a:pt x="274" y="276"/>
                  <a:pt x="319" y="277"/>
                  <a:pt x="343" y="270"/>
                </a:cubicBezTo>
                <a:cubicBezTo>
                  <a:pt x="367" y="263"/>
                  <a:pt x="383" y="253"/>
                  <a:pt x="388" y="234"/>
                </a:cubicBezTo>
                <a:cubicBezTo>
                  <a:pt x="393" y="215"/>
                  <a:pt x="385" y="183"/>
                  <a:pt x="372" y="158"/>
                </a:cubicBezTo>
                <a:cubicBezTo>
                  <a:pt x="359" y="133"/>
                  <a:pt x="326" y="107"/>
                  <a:pt x="311" y="87"/>
                </a:cubicBezTo>
                <a:cubicBezTo>
                  <a:pt x="296" y="67"/>
                  <a:pt x="297" y="52"/>
                  <a:pt x="282" y="39"/>
                </a:cubicBezTo>
                <a:cubicBezTo>
                  <a:pt x="267" y="26"/>
                  <a:pt x="254" y="20"/>
                  <a:pt x="231" y="14"/>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38" name="Freeform 19"/>
          <p:cNvSpPr>
            <a:spLocks/>
          </p:cNvSpPr>
          <p:nvPr/>
        </p:nvSpPr>
        <p:spPr bwMode="auto">
          <a:xfrm>
            <a:off x="7280161" y="3778250"/>
            <a:ext cx="441325" cy="409575"/>
          </a:xfrm>
          <a:custGeom>
            <a:avLst/>
            <a:gdLst>
              <a:gd name="T0" fmla="*/ 2147483647 w 278"/>
              <a:gd name="T1" fmla="*/ 2147483647 h 258"/>
              <a:gd name="T2" fmla="*/ 2147483647 w 278"/>
              <a:gd name="T3" fmla="*/ 2147483647 h 258"/>
              <a:gd name="T4" fmla="*/ 2147483647 w 278"/>
              <a:gd name="T5" fmla="*/ 2147483647 h 258"/>
              <a:gd name="T6" fmla="*/ 2147483647 w 278"/>
              <a:gd name="T7" fmla="*/ 2147483647 h 258"/>
              <a:gd name="T8" fmla="*/ 2147483647 w 278"/>
              <a:gd name="T9" fmla="*/ 2147483647 h 258"/>
              <a:gd name="T10" fmla="*/ 2147483647 w 278"/>
              <a:gd name="T11" fmla="*/ 2147483647 h 258"/>
              <a:gd name="T12" fmla="*/ 2147483647 w 278"/>
              <a:gd name="T13" fmla="*/ 2147483647 h 258"/>
              <a:gd name="T14" fmla="*/ 2147483647 w 278"/>
              <a:gd name="T15" fmla="*/ 2147483647 h 258"/>
              <a:gd name="T16" fmla="*/ 2147483647 w 278"/>
              <a:gd name="T17" fmla="*/ 2147483647 h 258"/>
              <a:gd name="T18" fmla="*/ 2147483647 w 278"/>
              <a:gd name="T19" fmla="*/ 2147483647 h 258"/>
              <a:gd name="T20" fmla="*/ 2147483647 w 278"/>
              <a:gd name="T21" fmla="*/ 2147483647 h 258"/>
              <a:gd name="T22" fmla="*/ 2147483647 w 278"/>
              <a:gd name="T23" fmla="*/ 2147483647 h 258"/>
              <a:gd name="T24" fmla="*/ 2147483647 w 278"/>
              <a:gd name="T25" fmla="*/ 2147483647 h 2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8"/>
              <a:gd name="T40" fmla="*/ 0 h 258"/>
              <a:gd name="T41" fmla="*/ 278 w 278"/>
              <a:gd name="T42" fmla="*/ 258 h 2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8" h="258">
                <a:moveTo>
                  <a:pt x="240" y="204"/>
                </a:moveTo>
                <a:cubicBezTo>
                  <a:pt x="252" y="182"/>
                  <a:pt x="272" y="151"/>
                  <a:pt x="275" y="121"/>
                </a:cubicBezTo>
                <a:cubicBezTo>
                  <a:pt x="278" y="91"/>
                  <a:pt x="271" y="42"/>
                  <a:pt x="256" y="22"/>
                </a:cubicBezTo>
                <a:cubicBezTo>
                  <a:pt x="241" y="2"/>
                  <a:pt x="207" y="6"/>
                  <a:pt x="185" y="3"/>
                </a:cubicBezTo>
                <a:cubicBezTo>
                  <a:pt x="163" y="0"/>
                  <a:pt x="142" y="3"/>
                  <a:pt x="121" y="6"/>
                </a:cubicBezTo>
                <a:cubicBezTo>
                  <a:pt x="100" y="9"/>
                  <a:pt x="80" y="12"/>
                  <a:pt x="61" y="22"/>
                </a:cubicBezTo>
                <a:cubicBezTo>
                  <a:pt x="42" y="32"/>
                  <a:pt x="18" y="48"/>
                  <a:pt x="9" y="67"/>
                </a:cubicBezTo>
                <a:cubicBezTo>
                  <a:pt x="0" y="86"/>
                  <a:pt x="3" y="116"/>
                  <a:pt x="6" y="137"/>
                </a:cubicBezTo>
                <a:cubicBezTo>
                  <a:pt x="9" y="158"/>
                  <a:pt x="14" y="177"/>
                  <a:pt x="25" y="192"/>
                </a:cubicBezTo>
                <a:cubicBezTo>
                  <a:pt x="36" y="207"/>
                  <a:pt x="56" y="223"/>
                  <a:pt x="73" y="230"/>
                </a:cubicBezTo>
                <a:cubicBezTo>
                  <a:pt x="90" y="237"/>
                  <a:pt x="103" y="232"/>
                  <a:pt x="125" y="236"/>
                </a:cubicBezTo>
                <a:cubicBezTo>
                  <a:pt x="147" y="240"/>
                  <a:pt x="184" y="258"/>
                  <a:pt x="205" y="252"/>
                </a:cubicBezTo>
                <a:cubicBezTo>
                  <a:pt x="226" y="246"/>
                  <a:pt x="228" y="226"/>
                  <a:pt x="240" y="204"/>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39" name="Freeform 20"/>
          <p:cNvSpPr>
            <a:spLocks/>
          </p:cNvSpPr>
          <p:nvPr/>
        </p:nvSpPr>
        <p:spPr bwMode="auto">
          <a:xfrm>
            <a:off x="7677036" y="4046538"/>
            <a:ext cx="334963" cy="379412"/>
          </a:xfrm>
          <a:custGeom>
            <a:avLst/>
            <a:gdLst>
              <a:gd name="T0" fmla="*/ 2147483647 w 211"/>
              <a:gd name="T1" fmla="*/ 2147483647 h 239"/>
              <a:gd name="T2" fmla="*/ 2147483647 w 211"/>
              <a:gd name="T3" fmla="*/ 2147483647 h 239"/>
              <a:gd name="T4" fmla="*/ 2147483647 w 211"/>
              <a:gd name="T5" fmla="*/ 2147483647 h 239"/>
              <a:gd name="T6" fmla="*/ 2147483647 w 211"/>
              <a:gd name="T7" fmla="*/ 2147483647 h 239"/>
              <a:gd name="T8" fmla="*/ 2147483647 w 211"/>
              <a:gd name="T9" fmla="*/ 2147483647 h 239"/>
              <a:gd name="T10" fmla="*/ 2147483647 w 211"/>
              <a:gd name="T11" fmla="*/ 2147483647 h 239"/>
              <a:gd name="T12" fmla="*/ 2147483647 w 211"/>
              <a:gd name="T13" fmla="*/ 2147483647 h 239"/>
              <a:gd name="T14" fmla="*/ 2147483647 w 211"/>
              <a:gd name="T15" fmla="*/ 2147483647 h 239"/>
              <a:gd name="T16" fmla="*/ 2147483647 w 211"/>
              <a:gd name="T17" fmla="*/ 2147483647 h 239"/>
              <a:gd name="T18" fmla="*/ 2147483647 w 211"/>
              <a:gd name="T19" fmla="*/ 2147483647 h 239"/>
              <a:gd name="T20" fmla="*/ 2147483647 w 211"/>
              <a:gd name="T21" fmla="*/ 2147483647 h 2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1"/>
              <a:gd name="T34" fmla="*/ 0 h 239"/>
              <a:gd name="T35" fmla="*/ 211 w 211"/>
              <a:gd name="T36" fmla="*/ 239 h 2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1" h="239">
                <a:moveTo>
                  <a:pt x="134" y="16"/>
                </a:moveTo>
                <a:cubicBezTo>
                  <a:pt x="107" y="8"/>
                  <a:pt x="53" y="0"/>
                  <a:pt x="31" y="7"/>
                </a:cubicBezTo>
                <a:cubicBezTo>
                  <a:pt x="9" y="14"/>
                  <a:pt x="6" y="38"/>
                  <a:pt x="3" y="61"/>
                </a:cubicBezTo>
                <a:cubicBezTo>
                  <a:pt x="0" y="84"/>
                  <a:pt x="7" y="125"/>
                  <a:pt x="12" y="147"/>
                </a:cubicBezTo>
                <a:cubicBezTo>
                  <a:pt x="17" y="169"/>
                  <a:pt x="19" y="178"/>
                  <a:pt x="35" y="192"/>
                </a:cubicBezTo>
                <a:cubicBezTo>
                  <a:pt x="51" y="206"/>
                  <a:pt x="88" y="225"/>
                  <a:pt x="111" y="231"/>
                </a:cubicBezTo>
                <a:cubicBezTo>
                  <a:pt x="134" y="237"/>
                  <a:pt x="162" y="239"/>
                  <a:pt x="175" y="231"/>
                </a:cubicBezTo>
                <a:cubicBezTo>
                  <a:pt x="188" y="223"/>
                  <a:pt x="182" y="204"/>
                  <a:pt x="188" y="183"/>
                </a:cubicBezTo>
                <a:cubicBezTo>
                  <a:pt x="194" y="162"/>
                  <a:pt x="211" y="124"/>
                  <a:pt x="211" y="103"/>
                </a:cubicBezTo>
                <a:cubicBezTo>
                  <a:pt x="211" y="82"/>
                  <a:pt x="205" y="68"/>
                  <a:pt x="191" y="55"/>
                </a:cubicBezTo>
                <a:cubicBezTo>
                  <a:pt x="177" y="42"/>
                  <a:pt x="161" y="24"/>
                  <a:pt x="134" y="16"/>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40" name="Freeform 21"/>
          <p:cNvSpPr>
            <a:spLocks/>
          </p:cNvSpPr>
          <p:nvPr/>
        </p:nvSpPr>
        <p:spPr bwMode="auto">
          <a:xfrm>
            <a:off x="6232411" y="3773488"/>
            <a:ext cx="520700" cy="654050"/>
          </a:xfrm>
          <a:custGeom>
            <a:avLst/>
            <a:gdLst>
              <a:gd name="T0" fmla="*/ 2147483647 w 328"/>
              <a:gd name="T1" fmla="*/ 2147483647 h 412"/>
              <a:gd name="T2" fmla="*/ 2147483647 w 328"/>
              <a:gd name="T3" fmla="*/ 2147483647 h 412"/>
              <a:gd name="T4" fmla="*/ 2147483647 w 328"/>
              <a:gd name="T5" fmla="*/ 2147483647 h 412"/>
              <a:gd name="T6" fmla="*/ 2147483647 w 328"/>
              <a:gd name="T7" fmla="*/ 2147483647 h 412"/>
              <a:gd name="T8" fmla="*/ 2147483647 w 328"/>
              <a:gd name="T9" fmla="*/ 2147483647 h 412"/>
              <a:gd name="T10" fmla="*/ 2147483647 w 328"/>
              <a:gd name="T11" fmla="*/ 2147483647 h 412"/>
              <a:gd name="T12" fmla="*/ 2147483647 w 328"/>
              <a:gd name="T13" fmla="*/ 2147483647 h 412"/>
              <a:gd name="T14" fmla="*/ 2147483647 w 328"/>
              <a:gd name="T15" fmla="*/ 2147483647 h 412"/>
              <a:gd name="T16" fmla="*/ 2147483647 w 328"/>
              <a:gd name="T17" fmla="*/ 2147483647 h 412"/>
              <a:gd name="T18" fmla="*/ 2147483647 w 328"/>
              <a:gd name="T19" fmla="*/ 2147483647 h 412"/>
              <a:gd name="T20" fmla="*/ 2147483647 w 328"/>
              <a:gd name="T21" fmla="*/ 2147483647 h 412"/>
              <a:gd name="T22" fmla="*/ 2147483647 w 328"/>
              <a:gd name="T23" fmla="*/ 2147483647 h 412"/>
              <a:gd name="T24" fmla="*/ 2147483647 w 328"/>
              <a:gd name="T25" fmla="*/ 2147483647 h 412"/>
              <a:gd name="T26" fmla="*/ 2147483647 w 328"/>
              <a:gd name="T27" fmla="*/ 2147483647 h 412"/>
              <a:gd name="T28" fmla="*/ 2147483647 w 328"/>
              <a:gd name="T29" fmla="*/ 2147483647 h 4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8"/>
              <a:gd name="T46" fmla="*/ 0 h 412"/>
              <a:gd name="T47" fmla="*/ 328 w 328"/>
              <a:gd name="T48" fmla="*/ 412 h 4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8" h="412">
                <a:moveTo>
                  <a:pt x="324" y="214"/>
                </a:moveTo>
                <a:cubicBezTo>
                  <a:pt x="328" y="191"/>
                  <a:pt x="326" y="153"/>
                  <a:pt x="321" y="131"/>
                </a:cubicBezTo>
                <a:cubicBezTo>
                  <a:pt x="316" y="109"/>
                  <a:pt x="313" y="97"/>
                  <a:pt x="295" y="79"/>
                </a:cubicBezTo>
                <a:cubicBezTo>
                  <a:pt x="277" y="61"/>
                  <a:pt x="240" y="38"/>
                  <a:pt x="215" y="25"/>
                </a:cubicBezTo>
                <a:cubicBezTo>
                  <a:pt x="190" y="12"/>
                  <a:pt x="168" y="0"/>
                  <a:pt x="145" y="3"/>
                </a:cubicBezTo>
                <a:cubicBezTo>
                  <a:pt x="122" y="6"/>
                  <a:pt x="95" y="22"/>
                  <a:pt x="77" y="41"/>
                </a:cubicBezTo>
                <a:cubicBezTo>
                  <a:pt x="59" y="60"/>
                  <a:pt x="51" y="88"/>
                  <a:pt x="39" y="118"/>
                </a:cubicBezTo>
                <a:cubicBezTo>
                  <a:pt x="27" y="148"/>
                  <a:pt x="8" y="193"/>
                  <a:pt x="4" y="220"/>
                </a:cubicBezTo>
                <a:cubicBezTo>
                  <a:pt x="0" y="247"/>
                  <a:pt x="2" y="260"/>
                  <a:pt x="13" y="281"/>
                </a:cubicBezTo>
                <a:cubicBezTo>
                  <a:pt x="24" y="302"/>
                  <a:pt x="47" y="327"/>
                  <a:pt x="68" y="345"/>
                </a:cubicBezTo>
                <a:cubicBezTo>
                  <a:pt x="89" y="363"/>
                  <a:pt x="119" y="377"/>
                  <a:pt x="141" y="387"/>
                </a:cubicBezTo>
                <a:cubicBezTo>
                  <a:pt x="163" y="397"/>
                  <a:pt x="181" y="412"/>
                  <a:pt x="202" y="403"/>
                </a:cubicBezTo>
                <a:cubicBezTo>
                  <a:pt x="223" y="394"/>
                  <a:pt x="251" y="355"/>
                  <a:pt x="266" y="332"/>
                </a:cubicBezTo>
                <a:cubicBezTo>
                  <a:pt x="281" y="309"/>
                  <a:pt x="286" y="290"/>
                  <a:pt x="295" y="268"/>
                </a:cubicBezTo>
                <a:cubicBezTo>
                  <a:pt x="304" y="246"/>
                  <a:pt x="320" y="237"/>
                  <a:pt x="324" y="214"/>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41" name="Freeform 22"/>
          <p:cNvSpPr>
            <a:spLocks/>
          </p:cNvSpPr>
          <p:nvPr/>
        </p:nvSpPr>
        <p:spPr bwMode="auto">
          <a:xfrm>
            <a:off x="5649799" y="4040188"/>
            <a:ext cx="346075" cy="327025"/>
          </a:xfrm>
          <a:custGeom>
            <a:avLst/>
            <a:gdLst>
              <a:gd name="T0" fmla="*/ 2147483647 w 218"/>
              <a:gd name="T1" fmla="*/ 2147483647 h 206"/>
              <a:gd name="T2" fmla="*/ 2147483647 w 218"/>
              <a:gd name="T3" fmla="*/ 2147483647 h 206"/>
              <a:gd name="T4" fmla="*/ 2147483647 w 218"/>
              <a:gd name="T5" fmla="*/ 2147483647 h 206"/>
              <a:gd name="T6" fmla="*/ 0 w 218"/>
              <a:gd name="T7" fmla="*/ 2147483647 h 206"/>
              <a:gd name="T8" fmla="*/ 2147483647 w 218"/>
              <a:gd name="T9" fmla="*/ 2147483647 h 206"/>
              <a:gd name="T10" fmla="*/ 2147483647 w 218"/>
              <a:gd name="T11" fmla="*/ 2147483647 h 206"/>
              <a:gd name="T12" fmla="*/ 2147483647 w 218"/>
              <a:gd name="T13" fmla="*/ 2147483647 h 206"/>
              <a:gd name="T14" fmla="*/ 2147483647 w 218"/>
              <a:gd name="T15" fmla="*/ 2147483647 h 206"/>
              <a:gd name="T16" fmla="*/ 2147483647 w 218"/>
              <a:gd name="T17" fmla="*/ 2147483647 h 206"/>
              <a:gd name="T18" fmla="*/ 2147483647 w 218"/>
              <a:gd name="T19" fmla="*/ 2147483647 h 206"/>
              <a:gd name="T20" fmla="*/ 2147483647 w 218"/>
              <a:gd name="T21" fmla="*/ 2147483647 h 2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8"/>
              <a:gd name="T34" fmla="*/ 0 h 206"/>
              <a:gd name="T35" fmla="*/ 218 w 218"/>
              <a:gd name="T36" fmla="*/ 206 h 2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8" h="206">
                <a:moveTo>
                  <a:pt x="169" y="11"/>
                </a:moveTo>
                <a:cubicBezTo>
                  <a:pt x="153" y="1"/>
                  <a:pt x="125" y="2"/>
                  <a:pt x="102" y="1"/>
                </a:cubicBezTo>
                <a:cubicBezTo>
                  <a:pt x="79" y="0"/>
                  <a:pt x="45" y="1"/>
                  <a:pt x="28" y="7"/>
                </a:cubicBezTo>
                <a:cubicBezTo>
                  <a:pt x="11" y="13"/>
                  <a:pt x="0" y="20"/>
                  <a:pt x="0" y="39"/>
                </a:cubicBezTo>
                <a:cubicBezTo>
                  <a:pt x="0" y="58"/>
                  <a:pt x="19" y="104"/>
                  <a:pt x="25" y="123"/>
                </a:cubicBezTo>
                <a:cubicBezTo>
                  <a:pt x="31" y="142"/>
                  <a:pt x="22" y="138"/>
                  <a:pt x="38" y="151"/>
                </a:cubicBezTo>
                <a:cubicBezTo>
                  <a:pt x="54" y="164"/>
                  <a:pt x="96" y="200"/>
                  <a:pt x="124" y="203"/>
                </a:cubicBezTo>
                <a:cubicBezTo>
                  <a:pt x="152" y="206"/>
                  <a:pt x="190" y="184"/>
                  <a:pt x="204" y="167"/>
                </a:cubicBezTo>
                <a:cubicBezTo>
                  <a:pt x="218" y="150"/>
                  <a:pt x="209" y="115"/>
                  <a:pt x="208" y="97"/>
                </a:cubicBezTo>
                <a:cubicBezTo>
                  <a:pt x="207" y="79"/>
                  <a:pt x="205" y="71"/>
                  <a:pt x="198" y="59"/>
                </a:cubicBezTo>
                <a:cubicBezTo>
                  <a:pt x="191" y="47"/>
                  <a:pt x="185" y="21"/>
                  <a:pt x="169" y="11"/>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42" name="Freeform 23"/>
          <p:cNvSpPr>
            <a:spLocks/>
          </p:cNvSpPr>
          <p:nvPr/>
        </p:nvSpPr>
        <p:spPr bwMode="auto">
          <a:xfrm>
            <a:off x="6005399" y="4067175"/>
            <a:ext cx="190500" cy="185738"/>
          </a:xfrm>
          <a:custGeom>
            <a:avLst/>
            <a:gdLst>
              <a:gd name="T0" fmla="*/ 2147483647 w 120"/>
              <a:gd name="T1" fmla="*/ 2147483647 h 117"/>
              <a:gd name="T2" fmla="*/ 2147483647 w 120"/>
              <a:gd name="T3" fmla="*/ 2147483647 h 117"/>
              <a:gd name="T4" fmla="*/ 2147483647 w 120"/>
              <a:gd name="T5" fmla="*/ 2147483647 h 117"/>
              <a:gd name="T6" fmla="*/ 2147483647 w 120"/>
              <a:gd name="T7" fmla="*/ 2147483647 h 117"/>
              <a:gd name="T8" fmla="*/ 0 w 120"/>
              <a:gd name="T9" fmla="*/ 2147483647 h 117"/>
              <a:gd name="T10" fmla="*/ 2147483647 w 120"/>
              <a:gd name="T11" fmla="*/ 2147483647 h 117"/>
              <a:gd name="T12" fmla="*/ 2147483647 w 120"/>
              <a:gd name="T13" fmla="*/ 2147483647 h 117"/>
              <a:gd name="T14" fmla="*/ 2147483647 w 120"/>
              <a:gd name="T15" fmla="*/ 2147483647 h 117"/>
              <a:gd name="T16" fmla="*/ 0 60000 65536"/>
              <a:gd name="T17" fmla="*/ 0 60000 65536"/>
              <a:gd name="T18" fmla="*/ 0 60000 65536"/>
              <a:gd name="T19" fmla="*/ 0 60000 65536"/>
              <a:gd name="T20" fmla="*/ 0 60000 65536"/>
              <a:gd name="T21" fmla="*/ 0 60000 65536"/>
              <a:gd name="T22" fmla="*/ 0 60000 65536"/>
              <a:gd name="T23" fmla="*/ 0 60000 65536"/>
              <a:gd name="T24" fmla="*/ 0 w 120"/>
              <a:gd name="T25" fmla="*/ 0 h 117"/>
              <a:gd name="T26" fmla="*/ 120 w 120"/>
              <a:gd name="T27" fmla="*/ 117 h 1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0" h="117">
                <a:moveTo>
                  <a:pt x="112" y="80"/>
                </a:moveTo>
                <a:cubicBezTo>
                  <a:pt x="120" y="67"/>
                  <a:pt x="114" y="45"/>
                  <a:pt x="112" y="32"/>
                </a:cubicBezTo>
                <a:cubicBezTo>
                  <a:pt x="110" y="19"/>
                  <a:pt x="114" y="6"/>
                  <a:pt x="99" y="3"/>
                </a:cubicBezTo>
                <a:cubicBezTo>
                  <a:pt x="84" y="0"/>
                  <a:pt x="38" y="3"/>
                  <a:pt x="22" y="16"/>
                </a:cubicBezTo>
                <a:cubicBezTo>
                  <a:pt x="6" y="29"/>
                  <a:pt x="0" y="67"/>
                  <a:pt x="0" y="83"/>
                </a:cubicBezTo>
                <a:cubicBezTo>
                  <a:pt x="0" y="99"/>
                  <a:pt x="8" y="107"/>
                  <a:pt x="19" y="112"/>
                </a:cubicBezTo>
                <a:cubicBezTo>
                  <a:pt x="30" y="117"/>
                  <a:pt x="50" y="116"/>
                  <a:pt x="67" y="112"/>
                </a:cubicBezTo>
                <a:cubicBezTo>
                  <a:pt x="84" y="108"/>
                  <a:pt x="104" y="93"/>
                  <a:pt x="112" y="80"/>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43" name="Freeform 24"/>
          <p:cNvSpPr>
            <a:spLocks/>
          </p:cNvSpPr>
          <p:nvPr/>
        </p:nvSpPr>
        <p:spPr bwMode="auto">
          <a:xfrm>
            <a:off x="5968886" y="3656013"/>
            <a:ext cx="152400" cy="1587"/>
          </a:xfrm>
          <a:custGeom>
            <a:avLst/>
            <a:gdLst>
              <a:gd name="T0" fmla="*/ 2147483647 w 96"/>
              <a:gd name="T1" fmla="*/ 0 h 1"/>
              <a:gd name="T2" fmla="*/ 0 w 96"/>
              <a:gd name="T3" fmla="*/ 0 h 1"/>
              <a:gd name="T4" fmla="*/ 0 60000 65536"/>
              <a:gd name="T5" fmla="*/ 0 60000 65536"/>
              <a:gd name="T6" fmla="*/ 0 w 96"/>
              <a:gd name="T7" fmla="*/ 0 h 1"/>
              <a:gd name="T8" fmla="*/ 96 w 96"/>
              <a:gd name="T9" fmla="*/ 1 h 1"/>
            </a:gdLst>
            <a:ahLst/>
            <a:cxnLst>
              <a:cxn ang="T4">
                <a:pos x="T0" y="T1"/>
              </a:cxn>
              <a:cxn ang="T5">
                <a:pos x="T2" y="T3"/>
              </a:cxn>
            </a:cxnLst>
            <a:rect l="T6" t="T7" r="T8" b="T9"/>
            <a:pathLst>
              <a:path w="96" h="1">
                <a:moveTo>
                  <a:pt x="96" y="0"/>
                </a:moveTo>
                <a:cubicBezTo>
                  <a:pt x="96" y="0"/>
                  <a:pt x="48" y="0"/>
                  <a:pt x="0" y="0"/>
                </a:cubicBezTo>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44" name="Freeform 25"/>
          <p:cNvSpPr>
            <a:spLocks/>
          </p:cNvSpPr>
          <p:nvPr/>
        </p:nvSpPr>
        <p:spPr bwMode="auto">
          <a:xfrm>
            <a:off x="5684724" y="3643313"/>
            <a:ext cx="561975" cy="411162"/>
          </a:xfrm>
          <a:custGeom>
            <a:avLst/>
            <a:gdLst>
              <a:gd name="T0" fmla="*/ 2147483647 w 354"/>
              <a:gd name="T1" fmla="*/ 2147483647 h 259"/>
              <a:gd name="T2" fmla="*/ 2147483647 w 354"/>
              <a:gd name="T3" fmla="*/ 2147483647 h 259"/>
              <a:gd name="T4" fmla="*/ 2147483647 w 354"/>
              <a:gd name="T5" fmla="*/ 2147483647 h 259"/>
              <a:gd name="T6" fmla="*/ 2147483647 w 354"/>
              <a:gd name="T7" fmla="*/ 2147483647 h 259"/>
              <a:gd name="T8" fmla="*/ 2147483647 w 354"/>
              <a:gd name="T9" fmla="*/ 2147483647 h 259"/>
              <a:gd name="T10" fmla="*/ 2147483647 w 354"/>
              <a:gd name="T11" fmla="*/ 2147483647 h 259"/>
              <a:gd name="T12" fmla="*/ 2147483647 w 354"/>
              <a:gd name="T13" fmla="*/ 2147483647 h 259"/>
              <a:gd name="T14" fmla="*/ 2147483647 w 354"/>
              <a:gd name="T15" fmla="*/ 2147483647 h 259"/>
              <a:gd name="T16" fmla="*/ 2147483647 w 354"/>
              <a:gd name="T17" fmla="*/ 2147483647 h 259"/>
              <a:gd name="T18" fmla="*/ 2147483647 w 354"/>
              <a:gd name="T19" fmla="*/ 2147483647 h 259"/>
              <a:gd name="T20" fmla="*/ 2147483647 w 354"/>
              <a:gd name="T21" fmla="*/ 2147483647 h 259"/>
              <a:gd name="T22" fmla="*/ 2147483647 w 354"/>
              <a:gd name="T23" fmla="*/ 2147483647 h 2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4"/>
              <a:gd name="T37" fmla="*/ 0 h 259"/>
              <a:gd name="T38" fmla="*/ 354 w 354"/>
              <a:gd name="T39" fmla="*/ 259 h 2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4" h="259">
                <a:moveTo>
                  <a:pt x="96" y="46"/>
                </a:moveTo>
                <a:cubicBezTo>
                  <a:pt x="64" y="63"/>
                  <a:pt x="31" y="89"/>
                  <a:pt x="16" y="110"/>
                </a:cubicBezTo>
                <a:cubicBezTo>
                  <a:pt x="1" y="131"/>
                  <a:pt x="2" y="150"/>
                  <a:pt x="3" y="171"/>
                </a:cubicBezTo>
                <a:cubicBezTo>
                  <a:pt x="4" y="192"/>
                  <a:pt x="0" y="221"/>
                  <a:pt x="22" y="235"/>
                </a:cubicBezTo>
                <a:cubicBezTo>
                  <a:pt x="44" y="249"/>
                  <a:pt x="101" y="255"/>
                  <a:pt x="138" y="257"/>
                </a:cubicBezTo>
                <a:cubicBezTo>
                  <a:pt x="175" y="259"/>
                  <a:pt x="219" y="253"/>
                  <a:pt x="246" y="248"/>
                </a:cubicBezTo>
                <a:cubicBezTo>
                  <a:pt x="273" y="243"/>
                  <a:pt x="284" y="245"/>
                  <a:pt x="301" y="225"/>
                </a:cubicBezTo>
                <a:cubicBezTo>
                  <a:pt x="318" y="205"/>
                  <a:pt x="344" y="157"/>
                  <a:pt x="349" y="129"/>
                </a:cubicBezTo>
                <a:cubicBezTo>
                  <a:pt x="354" y="101"/>
                  <a:pt x="341" y="76"/>
                  <a:pt x="333" y="56"/>
                </a:cubicBezTo>
                <a:cubicBezTo>
                  <a:pt x="325" y="36"/>
                  <a:pt x="322" y="16"/>
                  <a:pt x="301" y="8"/>
                </a:cubicBezTo>
                <a:cubicBezTo>
                  <a:pt x="280" y="0"/>
                  <a:pt x="240" y="0"/>
                  <a:pt x="208" y="8"/>
                </a:cubicBezTo>
                <a:cubicBezTo>
                  <a:pt x="176" y="16"/>
                  <a:pt x="128" y="29"/>
                  <a:pt x="96" y="46"/>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45" name="Freeform 26"/>
          <p:cNvSpPr>
            <a:spLocks/>
          </p:cNvSpPr>
          <p:nvPr/>
        </p:nvSpPr>
        <p:spPr bwMode="auto">
          <a:xfrm>
            <a:off x="6246699" y="3533775"/>
            <a:ext cx="219075" cy="231775"/>
          </a:xfrm>
          <a:custGeom>
            <a:avLst/>
            <a:gdLst>
              <a:gd name="T0" fmla="*/ 2147483647 w 138"/>
              <a:gd name="T1" fmla="*/ 2147483647 h 146"/>
              <a:gd name="T2" fmla="*/ 2147483647 w 138"/>
              <a:gd name="T3" fmla="*/ 2147483647 h 146"/>
              <a:gd name="T4" fmla="*/ 2147483647 w 138"/>
              <a:gd name="T5" fmla="*/ 2147483647 h 146"/>
              <a:gd name="T6" fmla="*/ 2147483647 w 138"/>
              <a:gd name="T7" fmla="*/ 2147483647 h 146"/>
              <a:gd name="T8" fmla="*/ 2147483647 w 138"/>
              <a:gd name="T9" fmla="*/ 2147483647 h 146"/>
              <a:gd name="T10" fmla="*/ 2147483647 w 138"/>
              <a:gd name="T11" fmla="*/ 2147483647 h 146"/>
              <a:gd name="T12" fmla="*/ 2147483647 w 138"/>
              <a:gd name="T13" fmla="*/ 2147483647 h 146"/>
              <a:gd name="T14" fmla="*/ 2147483647 w 138"/>
              <a:gd name="T15" fmla="*/ 2147483647 h 146"/>
              <a:gd name="T16" fmla="*/ 0 60000 65536"/>
              <a:gd name="T17" fmla="*/ 0 60000 65536"/>
              <a:gd name="T18" fmla="*/ 0 60000 65536"/>
              <a:gd name="T19" fmla="*/ 0 60000 65536"/>
              <a:gd name="T20" fmla="*/ 0 60000 65536"/>
              <a:gd name="T21" fmla="*/ 0 60000 65536"/>
              <a:gd name="T22" fmla="*/ 0 60000 65536"/>
              <a:gd name="T23" fmla="*/ 0 60000 65536"/>
              <a:gd name="T24" fmla="*/ 0 w 138"/>
              <a:gd name="T25" fmla="*/ 0 h 146"/>
              <a:gd name="T26" fmla="*/ 138 w 138"/>
              <a:gd name="T27" fmla="*/ 146 h 1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8" h="146">
                <a:moveTo>
                  <a:pt x="84" y="6"/>
                </a:moveTo>
                <a:cubicBezTo>
                  <a:pt x="67" y="12"/>
                  <a:pt x="22" y="32"/>
                  <a:pt x="11" y="51"/>
                </a:cubicBezTo>
                <a:cubicBezTo>
                  <a:pt x="0" y="70"/>
                  <a:pt x="8" y="107"/>
                  <a:pt x="17" y="122"/>
                </a:cubicBezTo>
                <a:cubicBezTo>
                  <a:pt x="26" y="137"/>
                  <a:pt x="50" y="146"/>
                  <a:pt x="68" y="144"/>
                </a:cubicBezTo>
                <a:cubicBezTo>
                  <a:pt x="86" y="142"/>
                  <a:pt x="112" y="125"/>
                  <a:pt x="123" y="109"/>
                </a:cubicBezTo>
                <a:cubicBezTo>
                  <a:pt x="134" y="93"/>
                  <a:pt x="138" y="66"/>
                  <a:pt x="136" y="51"/>
                </a:cubicBezTo>
                <a:cubicBezTo>
                  <a:pt x="134" y="36"/>
                  <a:pt x="121" y="22"/>
                  <a:pt x="113" y="16"/>
                </a:cubicBezTo>
                <a:cubicBezTo>
                  <a:pt x="105" y="10"/>
                  <a:pt x="101" y="0"/>
                  <a:pt x="84" y="6"/>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46" name="Freeform 27"/>
          <p:cNvSpPr>
            <a:spLocks/>
          </p:cNvSpPr>
          <p:nvPr/>
        </p:nvSpPr>
        <p:spPr bwMode="auto">
          <a:xfrm>
            <a:off x="6465774" y="3492500"/>
            <a:ext cx="298450" cy="307975"/>
          </a:xfrm>
          <a:custGeom>
            <a:avLst/>
            <a:gdLst>
              <a:gd name="T0" fmla="*/ 2147483647 w 188"/>
              <a:gd name="T1" fmla="*/ 2147483647 h 194"/>
              <a:gd name="T2" fmla="*/ 2147483647 w 188"/>
              <a:gd name="T3" fmla="*/ 2147483647 h 194"/>
              <a:gd name="T4" fmla="*/ 2147483647 w 188"/>
              <a:gd name="T5" fmla="*/ 2147483647 h 194"/>
              <a:gd name="T6" fmla="*/ 2147483647 w 188"/>
              <a:gd name="T7" fmla="*/ 2147483647 h 194"/>
              <a:gd name="T8" fmla="*/ 2147483647 w 188"/>
              <a:gd name="T9" fmla="*/ 2147483647 h 194"/>
              <a:gd name="T10" fmla="*/ 2147483647 w 188"/>
              <a:gd name="T11" fmla="*/ 2147483647 h 194"/>
              <a:gd name="T12" fmla="*/ 2147483647 w 188"/>
              <a:gd name="T13" fmla="*/ 2147483647 h 194"/>
              <a:gd name="T14" fmla="*/ 2147483647 w 188"/>
              <a:gd name="T15" fmla="*/ 2147483647 h 194"/>
              <a:gd name="T16" fmla="*/ 2147483647 w 188"/>
              <a:gd name="T17" fmla="*/ 2147483647 h 194"/>
              <a:gd name="T18" fmla="*/ 2147483647 w 188"/>
              <a:gd name="T19" fmla="*/ 0 h 194"/>
              <a:gd name="T20" fmla="*/ 2147483647 w 188"/>
              <a:gd name="T21" fmla="*/ 2147483647 h 1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8"/>
              <a:gd name="T34" fmla="*/ 0 h 194"/>
              <a:gd name="T35" fmla="*/ 188 w 188"/>
              <a:gd name="T36" fmla="*/ 194 h 1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8" h="194">
                <a:moveTo>
                  <a:pt x="52" y="20"/>
                </a:moveTo>
                <a:cubicBezTo>
                  <a:pt x="36" y="31"/>
                  <a:pt x="31" y="49"/>
                  <a:pt x="23" y="68"/>
                </a:cubicBezTo>
                <a:cubicBezTo>
                  <a:pt x="15" y="87"/>
                  <a:pt x="0" y="115"/>
                  <a:pt x="1" y="135"/>
                </a:cubicBezTo>
                <a:cubicBezTo>
                  <a:pt x="2" y="155"/>
                  <a:pt x="10" y="178"/>
                  <a:pt x="26" y="186"/>
                </a:cubicBezTo>
                <a:cubicBezTo>
                  <a:pt x="42" y="194"/>
                  <a:pt x="79" y="191"/>
                  <a:pt x="100" y="186"/>
                </a:cubicBezTo>
                <a:cubicBezTo>
                  <a:pt x="121" y="181"/>
                  <a:pt x="139" y="174"/>
                  <a:pt x="151" y="157"/>
                </a:cubicBezTo>
                <a:cubicBezTo>
                  <a:pt x="163" y="140"/>
                  <a:pt x="168" y="104"/>
                  <a:pt x="174" y="87"/>
                </a:cubicBezTo>
                <a:cubicBezTo>
                  <a:pt x="180" y="70"/>
                  <a:pt x="188" y="67"/>
                  <a:pt x="186" y="55"/>
                </a:cubicBezTo>
                <a:cubicBezTo>
                  <a:pt x="184" y="43"/>
                  <a:pt x="176" y="22"/>
                  <a:pt x="164" y="13"/>
                </a:cubicBezTo>
                <a:cubicBezTo>
                  <a:pt x="152" y="4"/>
                  <a:pt x="136" y="0"/>
                  <a:pt x="116" y="0"/>
                </a:cubicBezTo>
                <a:cubicBezTo>
                  <a:pt x="96" y="0"/>
                  <a:pt x="68" y="9"/>
                  <a:pt x="52" y="20"/>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47" name="Freeform 28"/>
          <p:cNvSpPr>
            <a:spLocks/>
          </p:cNvSpPr>
          <p:nvPr/>
        </p:nvSpPr>
        <p:spPr bwMode="auto">
          <a:xfrm>
            <a:off x="7075374" y="3544888"/>
            <a:ext cx="230187" cy="393700"/>
          </a:xfrm>
          <a:custGeom>
            <a:avLst/>
            <a:gdLst>
              <a:gd name="T0" fmla="*/ 2147483647 w 145"/>
              <a:gd name="T1" fmla="*/ 2147483647 h 248"/>
              <a:gd name="T2" fmla="*/ 2147483647 w 145"/>
              <a:gd name="T3" fmla="*/ 2147483647 h 248"/>
              <a:gd name="T4" fmla="*/ 2147483647 w 145"/>
              <a:gd name="T5" fmla="*/ 2147483647 h 248"/>
              <a:gd name="T6" fmla="*/ 2147483647 w 145"/>
              <a:gd name="T7" fmla="*/ 2147483647 h 248"/>
              <a:gd name="T8" fmla="*/ 2147483647 w 145"/>
              <a:gd name="T9" fmla="*/ 2147483647 h 248"/>
              <a:gd name="T10" fmla="*/ 2147483647 w 145"/>
              <a:gd name="T11" fmla="*/ 2147483647 h 248"/>
              <a:gd name="T12" fmla="*/ 2147483647 w 145"/>
              <a:gd name="T13" fmla="*/ 2147483647 h 248"/>
              <a:gd name="T14" fmla="*/ 2147483647 w 145"/>
              <a:gd name="T15" fmla="*/ 2147483647 h 248"/>
              <a:gd name="T16" fmla="*/ 2147483647 w 145"/>
              <a:gd name="T17" fmla="*/ 2147483647 h 248"/>
              <a:gd name="T18" fmla="*/ 2147483647 w 145"/>
              <a:gd name="T19" fmla="*/ 2147483647 h 248"/>
              <a:gd name="T20" fmla="*/ 2147483647 w 145"/>
              <a:gd name="T21" fmla="*/ 2147483647 h 2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5"/>
              <a:gd name="T34" fmla="*/ 0 h 248"/>
              <a:gd name="T35" fmla="*/ 145 w 145"/>
              <a:gd name="T36" fmla="*/ 248 h 2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5" h="248">
                <a:moveTo>
                  <a:pt x="145" y="140"/>
                </a:moveTo>
                <a:cubicBezTo>
                  <a:pt x="145" y="117"/>
                  <a:pt x="140" y="83"/>
                  <a:pt x="135" y="63"/>
                </a:cubicBezTo>
                <a:cubicBezTo>
                  <a:pt x="130" y="43"/>
                  <a:pt x="124" y="32"/>
                  <a:pt x="113" y="22"/>
                </a:cubicBezTo>
                <a:cubicBezTo>
                  <a:pt x="102" y="12"/>
                  <a:pt x="85" y="0"/>
                  <a:pt x="68" y="3"/>
                </a:cubicBezTo>
                <a:cubicBezTo>
                  <a:pt x="51" y="6"/>
                  <a:pt x="20" y="23"/>
                  <a:pt x="10" y="41"/>
                </a:cubicBezTo>
                <a:cubicBezTo>
                  <a:pt x="0" y="59"/>
                  <a:pt x="7" y="88"/>
                  <a:pt x="7" y="111"/>
                </a:cubicBezTo>
                <a:cubicBezTo>
                  <a:pt x="7" y="134"/>
                  <a:pt x="4" y="161"/>
                  <a:pt x="7" y="182"/>
                </a:cubicBezTo>
                <a:cubicBezTo>
                  <a:pt x="10" y="203"/>
                  <a:pt x="6" y="230"/>
                  <a:pt x="23" y="239"/>
                </a:cubicBezTo>
                <a:cubicBezTo>
                  <a:pt x="40" y="248"/>
                  <a:pt x="87" y="242"/>
                  <a:pt x="106" y="236"/>
                </a:cubicBezTo>
                <a:cubicBezTo>
                  <a:pt x="125" y="230"/>
                  <a:pt x="132" y="221"/>
                  <a:pt x="138" y="204"/>
                </a:cubicBezTo>
                <a:cubicBezTo>
                  <a:pt x="144" y="187"/>
                  <a:pt x="145" y="163"/>
                  <a:pt x="145" y="140"/>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48" name="Freeform 29"/>
          <p:cNvSpPr>
            <a:spLocks/>
          </p:cNvSpPr>
          <p:nvPr/>
        </p:nvSpPr>
        <p:spPr bwMode="auto">
          <a:xfrm>
            <a:off x="5668849" y="3459163"/>
            <a:ext cx="341312" cy="220662"/>
          </a:xfrm>
          <a:custGeom>
            <a:avLst/>
            <a:gdLst>
              <a:gd name="T0" fmla="*/ 2147483647 w 215"/>
              <a:gd name="T1" fmla="*/ 2147483647 h 139"/>
              <a:gd name="T2" fmla="*/ 2147483647 w 215"/>
              <a:gd name="T3" fmla="*/ 2147483647 h 139"/>
              <a:gd name="T4" fmla="*/ 2147483647 w 215"/>
              <a:gd name="T5" fmla="*/ 2147483647 h 139"/>
              <a:gd name="T6" fmla="*/ 2147483647 w 215"/>
              <a:gd name="T7" fmla="*/ 2147483647 h 139"/>
              <a:gd name="T8" fmla="*/ 2147483647 w 215"/>
              <a:gd name="T9" fmla="*/ 2147483647 h 139"/>
              <a:gd name="T10" fmla="*/ 2147483647 w 215"/>
              <a:gd name="T11" fmla="*/ 2147483647 h 139"/>
              <a:gd name="T12" fmla="*/ 2147483647 w 215"/>
              <a:gd name="T13" fmla="*/ 2147483647 h 139"/>
              <a:gd name="T14" fmla="*/ 2147483647 w 215"/>
              <a:gd name="T15" fmla="*/ 2147483647 h 139"/>
              <a:gd name="T16" fmla="*/ 2147483647 w 215"/>
              <a:gd name="T17" fmla="*/ 2147483647 h 13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5"/>
              <a:gd name="T28" fmla="*/ 0 h 139"/>
              <a:gd name="T29" fmla="*/ 215 w 215"/>
              <a:gd name="T30" fmla="*/ 139 h 13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5" h="139">
                <a:moveTo>
                  <a:pt x="180" y="37"/>
                </a:moveTo>
                <a:cubicBezTo>
                  <a:pt x="162" y="24"/>
                  <a:pt x="136" y="4"/>
                  <a:pt x="109" y="2"/>
                </a:cubicBezTo>
                <a:cubicBezTo>
                  <a:pt x="82" y="0"/>
                  <a:pt x="32" y="13"/>
                  <a:pt x="16" y="25"/>
                </a:cubicBezTo>
                <a:cubicBezTo>
                  <a:pt x="0" y="37"/>
                  <a:pt x="6" y="58"/>
                  <a:pt x="10" y="73"/>
                </a:cubicBezTo>
                <a:cubicBezTo>
                  <a:pt x="14" y="88"/>
                  <a:pt x="23" y="103"/>
                  <a:pt x="39" y="114"/>
                </a:cubicBezTo>
                <a:cubicBezTo>
                  <a:pt x="55" y="125"/>
                  <a:pt x="85" y="139"/>
                  <a:pt x="109" y="137"/>
                </a:cubicBezTo>
                <a:cubicBezTo>
                  <a:pt x="133" y="135"/>
                  <a:pt x="165" y="110"/>
                  <a:pt x="183" y="101"/>
                </a:cubicBezTo>
                <a:cubicBezTo>
                  <a:pt x="201" y="92"/>
                  <a:pt x="215" y="93"/>
                  <a:pt x="215" y="82"/>
                </a:cubicBezTo>
                <a:cubicBezTo>
                  <a:pt x="215" y="71"/>
                  <a:pt x="198" y="50"/>
                  <a:pt x="180" y="37"/>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49" name="Freeform 30"/>
          <p:cNvSpPr>
            <a:spLocks/>
          </p:cNvSpPr>
          <p:nvPr/>
        </p:nvSpPr>
        <p:spPr bwMode="auto">
          <a:xfrm>
            <a:off x="6002224" y="3357563"/>
            <a:ext cx="250825" cy="290512"/>
          </a:xfrm>
          <a:custGeom>
            <a:avLst/>
            <a:gdLst>
              <a:gd name="T0" fmla="*/ 2147483647 w 158"/>
              <a:gd name="T1" fmla="*/ 2147483647 h 183"/>
              <a:gd name="T2" fmla="*/ 2147483647 w 158"/>
              <a:gd name="T3" fmla="*/ 2147483647 h 183"/>
              <a:gd name="T4" fmla="*/ 2147483647 w 158"/>
              <a:gd name="T5" fmla="*/ 2147483647 h 183"/>
              <a:gd name="T6" fmla="*/ 2147483647 w 158"/>
              <a:gd name="T7" fmla="*/ 2147483647 h 183"/>
              <a:gd name="T8" fmla="*/ 2147483647 w 158"/>
              <a:gd name="T9" fmla="*/ 2147483647 h 183"/>
              <a:gd name="T10" fmla="*/ 2147483647 w 158"/>
              <a:gd name="T11" fmla="*/ 2147483647 h 183"/>
              <a:gd name="T12" fmla="*/ 2147483647 w 158"/>
              <a:gd name="T13" fmla="*/ 2147483647 h 183"/>
              <a:gd name="T14" fmla="*/ 2147483647 w 158"/>
              <a:gd name="T15" fmla="*/ 2147483647 h 183"/>
              <a:gd name="T16" fmla="*/ 2147483647 w 158"/>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
              <a:gd name="T28" fmla="*/ 0 h 183"/>
              <a:gd name="T29" fmla="*/ 158 w 158"/>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 h="183">
                <a:moveTo>
                  <a:pt x="34" y="12"/>
                </a:moveTo>
                <a:cubicBezTo>
                  <a:pt x="17" y="24"/>
                  <a:pt x="4" y="70"/>
                  <a:pt x="2" y="95"/>
                </a:cubicBezTo>
                <a:cubicBezTo>
                  <a:pt x="0" y="120"/>
                  <a:pt x="13" y="151"/>
                  <a:pt x="24" y="165"/>
                </a:cubicBezTo>
                <a:cubicBezTo>
                  <a:pt x="35" y="179"/>
                  <a:pt x="51" y="183"/>
                  <a:pt x="69" y="181"/>
                </a:cubicBezTo>
                <a:cubicBezTo>
                  <a:pt x="87" y="179"/>
                  <a:pt x="116" y="165"/>
                  <a:pt x="130" y="156"/>
                </a:cubicBezTo>
                <a:cubicBezTo>
                  <a:pt x="144" y="147"/>
                  <a:pt x="152" y="139"/>
                  <a:pt x="155" y="124"/>
                </a:cubicBezTo>
                <a:cubicBezTo>
                  <a:pt x="158" y="109"/>
                  <a:pt x="154" y="82"/>
                  <a:pt x="146" y="66"/>
                </a:cubicBezTo>
                <a:cubicBezTo>
                  <a:pt x="138" y="50"/>
                  <a:pt x="121" y="35"/>
                  <a:pt x="104" y="25"/>
                </a:cubicBezTo>
                <a:cubicBezTo>
                  <a:pt x="87" y="15"/>
                  <a:pt x="51" y="0"/>
                  <a:pt x="34" y="12"/>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50" name="Freeform 31"/>
          <p:cNvSpPr>
            <a:spLocks/>
          </p:cNvSpPr>
          <p:nvPr/>
        </p:nvSpPr>
        <p:spPr bwMode="auto">
          <a:xfrm>
            <a:off x="6214949" y="3028950"/>
            <a:ext cx="493712" cy="508000"/>
          </a:xfrm>
          <a:custGeom>
            <a:avLst/>
            <a:gdLst>
              <a:gd name="T0" fmla="*/ 2147483647 w 311"/>
              <a:gd name="T1" fmla="*/ 2147483647 h 320"/>
              <a:gd name="T2" fmla="*/ 2147483647 w 311"/>
              <a:gd name="T3" fmla="*/ 2147483647 h 320"/>
              <a:gd name="T4" fmla="*/ 2147483647 w 311"/>
              <a:gd name="T5" fmla="*/ 2147483647 h 320"/>
              <a:gd name="T6" fmla="*/ 2147483647 w 311"/>
              <a:gd name="T7" fmla="*/ 2147483647 h 320"/>
              <a:gd name="T8" fmla="*/ 2147483647 w 311"/>
              <a:gd name="T9" fmla="*/ 2147483647 h 320"/>
              <a:gd name="T10" fmla="*/ 2147483647 w 311"/>
              <a:gd name="T11" fmla="*/ 2147483647 h 320"/>
              <a:gd name="T12" fmla="*/ 2147483647 w 311"/>
              <a:gd name="T13" fmla="*/ 2147483647 h 320"/>
              <a:gd name="T14" fmla="*/ 2147483647 w 311"/>
              <a:gd name="T15" fmla="*/ 2147483647 h 320"/>
              <a:gd name="T16" fmla="*/ 2147483647 w 311"/>
              <a:gd name="T17" fmla="*/ 2147483647 h 320"/>
              <a:gd name="T18" fmla="*/ 2147483647 w 311"/>
              <a:gd name="T19" fmla="*/ 2147483647 h 320"/>
              <a:gd name="T20" fmla="*/ 2147483647 w 311"/>
              <a:gd name="T21" fmla="*/ 2147483647 h 320"/>
              <a:gd name="T22" fmla="*/ 2147483647 w 311"/>
              <a:gd name="T23" fmla="*/ 2147483647 h 320"/>
              <a:gd name="T24" fmla="*/ 2147483647 w 311"/>
              <a:gd name="T25" fmla="*/ 2147483647 h 320"/>
              <a:gd name="T26" fmla="*/ 2147483647 w 311"/>
              <a:gd name="T27" fmla="*/ 2147483647 h 320"/>
              <a:gd name="T28" fmla="*/ 2147483647 w 311"/>
              <a:gd name="T29" fmla="*/ 2147483647 h 320"/>
              <a:gd name="T30" fmla="*/ 2147483647 w 311"/>
              <a:gd name="T31" fmla="*/ 2147483647 h 3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11"/>
              <a:gd name="T49" fmla="*/ 0 h 320"/>
              <a:gd name="T50" fmla="*/ 311 w 311"/>
              <a:gd name="T51" fmla="*/ 320 h 3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11" h="320">
                <a:moveTo>
                  <a:pt x="28" y="57"/>
                </a:moveTo>
                <a:cubicBezTo>
                  <a:pt x="23" y="71"/>
                  <a:pt x="18" y="103"/>
                  <a:pt x="15" y="124"/>
                </a:cubicBezTo>
                <a:cubicBezTo>
                  <a:pt x="12" y="145"/>
                  <a:pt x="14" y="165"/>
                  <a:pt x="12" y="185"/>
                </a:cubicBezTo>
                <a:cubicBezTo>
                  <a:pt x="10" y="205"/>
                  <a:pt x="0" y="228"/>
                  <a:pt x="2" y="246"/>
                </a:cubicBezTo>
                <a:cubicBezTo>
                  <a:pt x="4" y="264"/>
                  <a:pt x="9" y="283"/>
                  <a:pt x="25" y="294"/>
                </a:cubicBezTo>
                <a:cubicBezTo>
                  <a:pt x="41" y="305"/>
                  <a:pt x="77" y="309"/>
                  <a:pt x="101" y="313"/>
                </a:cubicBezTo>
                <a:cubicBezTo>
                  <a:pt x="125" y="317"/>
                  <a:pt x="146" y="320"/>
                  <a:pt x="172" y="316"/>
                </a:cubicBezTo>
                <a:cubicBezTo>
                  <a:pt x="198" y="312"/>
                  <a:pt x="236" y="306"/>
                  <a:pt x="255" y="288"/>
                </a:cubicBezTo>
                <a:cubicBezTo>
                  <a:pt x="274" y="270"/>
                  <a:pt x="281" y="231"/>
                  <a:pt x="290" y="204"/>
                </a:cubicBezTo>
                <a:cubicBezTo>
                  <a:pt x="299" y="177"/>
                  <a:pt x="307" y="145"/>
                  <a:pt x="309" y="124"/>
                </a:cubicBezTo>
                <a:cubicBezTo>
                  <a:pt x="311" y="103"/>
                  <a:pt x="311" y="90"/>
                  <a:pt x="303" y="76"/>
                </a:cubicBezTo>
                <a:cubicBezTo>
                  <a:pt x="295" y="62"/>
                  <a:pt x="284" y="50"/>
                  <a:pt x="261" y="38"/>
                </a:cubicBezTo>
                <a:cubicBezTo>
                  <a:pt x="238" y="26"/>
                  <a:pt x="190" y="11"/>
                  <a:pt x="162" y="6"/>
                </a:cubicBezTo>
                <a:cubicBezTo>
                  <a:pt x="134" y="1"/>
                  <a:pt x="115" y="0"/>
                  <a:pt x="95" y="6"/>
                </a:cubicBezTo>
                <a:cubicBezTo>
                  <a:pt x="75" y="12"/>
                  <a:pt x="55" y="31"/>
                  <a:pt x="44" y="41"/>
                </a:cubicBezTo>
                <a:cubicBezTo>
                  <a:pt x="33" y="51"/>
                  <a:pt x="33" y="43"/>
                  <a:pt x="28" y="57"/>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51" name="Freeform 32"/>
          <p:cNvSpPr>
            <a:spLocks/>
          </p:cNvSpPr>
          <p:nvPr/>
        </p:nvSpPr>
        <p:spPr bwMode="auto">
          <a:xfrm>
            <a:off x="6719774" y="3222625"/>
            <a:ext cx="447675" cy="427038"/>
          </a:xfrm>
          <a:custGeom>
            <a:avLst/>
            <a:gdLst>
              <a:gd name="T0" fmla="*/ 2147483647 w 282"/>
              <a:gd name="T1" fmla="*/ 2147483647 h 269"/>
              <a:gd name="T2" fmla="*/ 2147483647 w 282"/>
              <a:gd name="T3" fmla="*/ 2147483647 h 269"/>
              <a:gd name="T4" fmla="*/ 2147483647 w 282"/>
              <a:gd name="T5" fmla="*/ 2147483647 h 269"/>
              <a:gd name="T6" fmla="*/ 2147483647 w 282"/>
              <a:gd name="T7" fmla="*/ 2147483647 h 269"/>
              <a:gd name="T8" fmla="*/ 2147483647 w 282"/>
              <a:gd name="T9" fmla="*/ 2147483647 h 269"/>
              <a:gd name="T10" fmla="*/ 2147483647 w 282"/>
              <a:gd name="T11" fmla="*/ 2147483647 h 269"/>
              <a:gd name="T12" fmla="*/ 2147483647 w 282"/>
              <a:gd name="T13" fmla="*/ 2147483647 h 269"/>
              <a:gd name="T14" fmla="*/ 2147483647 w 282"/>
              <a:gd name="T15" fmla="*/ 2147483647 h 269"/>
              <a:gd name="T16" fmla="*/ 2147483647 w 282"/>
              <a:gd name="T17" fmla="*/ 2147483647 h 269"/>
              <a:gd name="T18" fmla="*/ 2147483647 w 282"/>
              <a:gd name="T19" fmla="*/ 2147483647 h 269"/>
              <a:gd name="T20" fmla="*/ 2147483647 w 282"/>
              <a:gd name="T21" fmla="*/ 2147483647 h 269"/>
              <a:gd name="T22" fmla="*/ 2147483647 w 282"/>
              <a:gd name="T23" fmla="*/ 2147483647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2"/>
              <a:gd name="T37" fmla="*/ 0 h 269"/>
              <a:gd name="T38" fmla="*/ 282 w 282"/>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2" h="269">
                <a:moveTo>
                  <a:pt x="126" y="10"/>
                </a:moveTo>
                <a:cubicBezTo>
                  <a:pt x="100" y="18"/>
                  <a:pt x="91" y="40"/>
                  <a:pt x="74" y="55"/>
                </a:cubicBezTo>
                <a:cubicBezTo>
                  <a:pt x="57" y="70"/>
                  <a:pt x="38" y="86"/>
                  <a:pt x="26" y="100"/>
                </a:cubicBezTo>
                <a:cubicBezTo>
                  <a:pt x="14" y="114"/>
                  <a:pt x="0" y="123"/>
                  <a:pt x="1" y="142"/>
                </a:cubicBezTo>
                <a:cubicBezTo>
                  <a:pt x="2" y="161"/>
                  <a:pt x="18" y="195"/>
                  <a:pt x="33" y="215"/>
                </a:cubicBezTo>
                <a:cubicBezTo>
                  <a:pt x="48" y="235"/>
                  <a:pt x="69" y="257"/>
                  <a:pt x="94" y="263"/>
                </a:cubicBezTo>
                <a:cubicBezTo>
                  <a:pt x="119" y="269"/>
                  <a:pt x="160" y="261"/>
                  <a:pt x="183" y="250"/>
                </a:cubicBezTo>
                <a:cubicBezTo>
                  <a:pt x="206" y="239"/>
                  <a:pt x="216" y="220"/>
                  <a:pt x="231" y="199"/>
                </a:cubicBezTo>
                <a:cubicBezTo>
                  <a:pt x="246" y="178"/>
                  <a:pt x="270" y="150"/>
                  <a:pt x="276" y="126"/>
                </a:cubicBezTo>
                <a:cubicBezTo>
                  <a:pt x="282" y="102"/>
                  <a:pt x="274" y="72"/>
                  <a:pt x="266" y="52"/>
                </a:cubicBezTo>
                <a:cubicBezTo>
                  <a:pt x="258" y="32"/>
                  <a:pt x="251" y="14"/>
                  <a:pt x="228" y="7"/>
                </a:cubicBezTo>
                <a:cubicBezTo>
                  <a:pt x="205" y="0"/>
                  <a:pt x="152" y="2"/>
                  <a:pt x="126" y="10"/>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52" name="Freeform 33"/>
          <p:cNvSpPr>
            <a:spLocks/>
          </p:cNvSpPr>
          <p:nvPr/>
        </p:nvSpPr>
        <p:spPr bwMode="auto">
          <a:xfrm>
            <a:off x="7318261" y="3654425"/>
            <a:ext cx="217488" cy="127000"/>
          </a:xfrm>
          <a:custGeom>
            <a:avLst/>
            <a:gdLst>
              <a:gd name="T0" fmla="*/ 2147483647 w 137"/>
              <a:gd name="T1" fmla="*/ 2147483647 h 80"/>
              <a:gd name="T2" fmla="*/ 2147483647 w 137"/>
              <a:gd name="T3" fmla="*/ 2147483647 h 80"/>
              <a:gd name="T4" fmla="*/ 2147483647 w 137"/>
              <a:gd name="T5" fmla="*/ 2147483647 h 80"/>
              <a:gd name="T6" fmla="*/ 2147483647 w 137"/>
              <a:gd name="T7" fmla="*/ 2147483647 h 80"/>
              <a:gd name="T8" fmla="*/ 2147483647 w 137"/>
              <a:gd name="T9" fmla="*/ 2147483647 h 80"/>
              <a:gd name="T10" fmla="*/ 2147483647 w 137"/>
              <a:gd name="T11" fmla="*/ 2147483647 h 80"/>
              <a:gd name="T12" fmla="*/ 0 60000 65536"/>
              <a:gd name="T13" fmla="*/ 0 60000 65536"/>
              <a:gd name="T14" fmla="*/ 0 60000 65536"/>
              <a:gd name="T15" fmla="*/ 0 60000 65536"/>
              <a:gd name="T16" fmla="*/ 0 60000 65536"/>
              <a:gd name="T17" fmla="*/ 0 60000 65536"/>
              <a:gd name="T18" fmla="*/ 0 w 137"/>
              <a:gd name="T19" fmla="*/ 0 h 80"/>
              <a:gd name="T20" fmla="*/ 137 w 137"/>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137" h="80">
                <a:moveTo>
                  <a:pt x="91" y="1"/>
                </a:moveTo>
                <a:cubicBezTo>
                  <a:pt x="71" y="0"/>
                  <a:pt x="22" y="14"/>
                  <a:pt x="11" y="26"/>
                </a:cubicBezTo>
                <a:cubicBezTo>
                  <a:pt x="0" y="38"/>
                  <a:pt x="9" y="68"/>
                  <a:pt x="27" y="74"/>
                </a:cubicBezTo>
                <a:cubicBezTo>
                  <a:pt x="45" y="80"/>
                  <a:pt x="103" y="72"/>
                  <a:pt x="120" y="65"/>
                </a:cubicBezTo>
                <a:cubicBezTo>
                  <a:pt x="137" y="58"/>
                  <a:pt x="132" y="41"/>
                  <a:pt x="129" y="30"/>
                </a:cubicBezTo>
                <a:cubicBezTo>
                  <a:pt x="126" y="19"/>
                  <a:pt x="111" y="2"/>
                  <a:pt x="91" y="1"/>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53" name="Freeform 34"/>
          <p:cNvSpPr>
            <a:spLocks/>
          </p:cNvSpPr>
          <p:nvPr/>
        </p:nvSpPr>
        <p:spPr bwMode="auto">
          <a:xfrm>
            <a:off x="7543686" y="3235325"/>
            <a:ext cx="563563" cy="577850"/>
          </a:xfrm>
          <a:custGeom>
            <a:avLst/>
            <a:gdLst>
              <a:gd name="T0" fmla="*/ 2147483647 w 355"/>
              <a:gd name="T1" fmla="*/ 2147483647 h 364"/>
              <a:gd name="T2" fmla="*/ 2147483647 w 355"/>
              <a:gd name="T3" fmla="*/ 2147483647 h 364"/>
              <a:gd name="T4" fmla="*/ 2147483647 w 355"/>
              <a:gd name="T5" fmla="*/ 2147483647 h 364"/>
              <a:gd name="T6" fmla="*/ 2147483647 w 355"/>
              <a:gd name="T7" fmla="*/ 2147483647 h 364"/>
              <a:gd name="T8" fmla="*/ 2147483647 w 355"/>
              <a:gd name="T9" fmla="*/ 2147483647 h 364"/>
              <a:gd name="T10" fmla="*/ 2147483647 w 355"/>
              <a:gd name="T11" fmla="*/ 2147483647 h 364"/>
              <a:gd name="T12" fmla="*/ 2147483647 w 355"/>
              <a:gd name="T13" fmla="*/ 2147483647 h 364"/>
              <a:gd name="T14" fmla="*/ 2147483647 w 355"/>
              <a:gd name="T15" fmla="*/ 2147483647 h 364"/>
              <a:gd name="T16" fmla="*/ 2147483647 w 355"/>
              <a:gd name="T17" fmla="*/ 2147483647 h 364"/>
              <a:gd name="T18" fmla="*/ 2147483647 w 355"/>
              <a:gd name="T19" fmla="*/ 2147483647 h 364"/>
              <a:gd name="T20" fmla="*/ 2147483647 w 355"/>
              <a:gd name="T21" fmla="*/ 2147483647 h 364"/>
              <a:gd name="T22" fmla="*/ 2147483647 w 355"/>
              <a:gd name="T23" fmla="*/ 2147483647 h 364"/>
              <a:gd name="T24" fmla="*/ 2147483647 w 355"/>
              <a:gd name="T25" fmla="*/ 2147483647 h 364"/>
              <a:gd name="T26" fmla="*/ 2147483647 w 355"/>
              <a:gd name="T27" fmla="*/ 2147483647 h 364"/>
              <a:gd name="T28" fmla="*/ 2147483647 w 355"/>
              <a:gd name="T29" fmla="*/ 2147483647 h 3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5"/>
              <a:gd name="T46" fmla="*/ 0 h 364"/>
              <a:gd name="T47" fmla="*/ 355 w 355"/>
              <a:gd name="T48" fmla="*/ 364 h 3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5" h="364">
                <a:moveTo>
                  <a:pt x="74" y="319"/>
                </a:moveTo>
                <a:cubicBezTo>
                  <a:pt x="86" y="332"/>
                  <a:pt x="84" y="348"/>
                  <a:pt x="103" y="354"/>
                </a:cubicBezTo>
                <a:cubicBezTo>
                  <a:pt x="122" y="360"/>
                  <a:pt x="155" y="364"/>
                  <a:pt x="189" y="358"/>
                </a:cubicBezTo>
                <a:cubicBezTo>
                  <a:pt x="223" y="352"/>
                  <a:pt x="280" y="331"/>
                  <a:pt x="307" y="316"/>
                </a:cubicBezTo>
                <a:cubicBezTo>
                  <a:pt x="334" y="301"/>
                  <a:pt x="343" y="290"/>
                  <a:pt x="349" y="265"/>
                </a:cubicBezTo>
                <a:cubicBezTo>
                  <a:pt x="355" y="240"/>
                  <a:pt x="349" y="194"/>
                  <a:pt x="346" y="166"/>
                </a:cubicBezTo>
                <a:cubicBezTo>
                  <a:pt x="343" y="138"/>
                  <a:pt x="339" y="122"/>
                  <a:pt x="330" y="98"/>
                </a:cubicBezTo>
                <a:cubicBezTo>
                  <a:pt x="321" y="74"/>
                  <a:pt x="308" y="38"/>
                  <a:pt x="291" y="22"/>
                </a:cubicBezTo>
                <a:cubicBezTo>
                  <a:pt x="274" y="6"/>
                  <a:pt x="258" y="0"/>
                  <a:pt x="231" y="2"/>
                </a:cubicBezTo>
                <a:cubicBezTo>
                  <a:pt x="204" y="4"/>
                  <a:pt x="158" y="20"/>
                  <a:pt x="128" y="34"/>
                </a:cubicBezTo>
                <a:cubicBezTo>
                  <a:pt x="98" y="48"/>
                  <a:pt x="71" y="71"/>
                  <a:pt x="51" y="89"/>
                </a:cubicBezTo>
                <a:cubicBezTo>
                  <a:pt x="31" y="107"/>
                  <a:pt x="14" y="122"/>
                  <a:pt x="7" y="143"/>
                </a:cubicBezTo>
                <a:cubicBezTo>
                  <a:pt x="0" y="164"/>
                  <a:pt x="6" y="194"/>
                  <a:pt x="10" y="217"/>
                </a:cubicBezTo>
                <a:cubicBezTo>
                  <a:pt x="14" y="240"/>
                  <a:pt x="18" y="259"/>
                  <a:pt x="29" y="278"/>
                </a:cubicBezTo>
                <a:cubicBezTo>
                  <a:pt x="40" y="297"/>
                  <a:pt x="62" y="306"/>
                  <a:pt x="74" y="319"/>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54" name="Freeform 35"/>
          <p:cNvSpPr>
            <a:spLocks/>
          </p:cNvSpPr>
          <p:nvPr/>
        </p:nvSpPr>
        <p:spPr bwMode="auto">
          <a:xfrm>
            <a:off x="5621224" y="2881313"/>
            <a:ext cx="569912" cy="576262"/>
          </a:xfrm>
          <a:custGeom>
            <a:avLst/>
            <a:gdLst>
              <a:gd name="T0" fmla="*/ 2147483647 w 359"/>
              <a:gd name="T1" fmla="*/ 2147483647 h 363"/>
              <a:gd name="T2" fmla="*/ 2147483647 w 359"/>
              <a:gd name="T3" fmla="*/ 2147483647 h 363"/>
              <a:gd name="T4" fmla="*/ 2147483647 w 359"/>
              <a:gd name="T5" fmla="*/ 2147483647 h 363"/>
              <a:gd name="T6" fmla="*/ 2147483647 w 359"/>
              <a:gd name="T7" fmla="*/ 2147483647 h 363"/>
              <a:gd name="T8" fmla="*/ 2147483647 w 359"/>
              <a:gd name="T9" fmla="*/ 2147483647 h 363"/>
              <a:gd name="T10" fmla="*/ 2147483647 w 359"/>
              <a:gd name="T11" fmla="*/ 2147483647 h 363"/>
              <a:gd name="T12" fmla="*/ 2147483647 w 359"/>
              <a:gd name="T13" fmla="*/ 2147483647 h 363"/>
              <a:gd name="T14" fmla="*/ 2147483647 w 359"/>
              <a:gd name="T15" fmla="*/ 2147483647 h 363"/>
              <a:gd name="T16" fmla="*/ 2147483647 w 359"/>
              <a:gd name="T17" fmla="*/ 2147483647 h 363"/>
              <a:gd name="T18" fmla="*/ 2147483647 w 359"/>
              <a:gd name="T19" fmla="*/ 2147483647 h 363"/>
              <a:gd name="T20" fmla="*/ 2147483647 w 359"/>
              <a:gd name="T21" fmla="*/ 2147483647 h 363"/>
              <a:gd name="T22" fmla="*/ 2147483647 w 359"/>
              <a:gd name="T23" fmla="*/ 2147483647 h 363"/>
              <a:gd name="T24" fmla="*/ 2147483647 w 359"/>
              <a:gd name="T25" fmla="*/ 2147483647 h 363"/>
              <a:gd name="T26" fmla="*/ 2147483647 w 359"/>
              <a:gd name="T27" fmla="*/ 2147483647 h 363"/>
              <a:gd name="T28" fmla="*/ 2147483647 w 359"/>
              <a:gd name="T29" fmla="*/ 2147483647 h 36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9"/>
              <a:gd name="T46" fmla="*/ 0 h 363"/>
              <a:gd name="T47" fmla="*/ 359 w 359"/>
              <a:gd name="T48" fmla="*/ 363 h 36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9" h="363">
                <a:moveTo>
                  <a:pt x="306" y="245"/>
                </a:moveTo>
                <a:cubicBezTo>
                  <a:pt x="317" y="221"/>
                  <a:pt x="333" y="173"/>
                  <a:pt x="341" y="142"/>
                </a:cubicBezTo>
                <a:cubicBezTo>
                  <a:pt x="349" y="111"/>
                  <a:pt x="359" y="81"/>
                  <a:pt x="357" y="59"/>
                </a:cubicBezTo>
                <a:cubicBezTo>
                  <a:pt x="355" y="37"/>
                  <a:pt x="349" y="16"/>
                  <a:pt x="328" y="8"/>
                </a:cubicBezTo>
                <a:cubicBezTo>
                  <a:pt x="307" y="0"/>
                  <a:pt x="255" y="5"/>
                  <a:pt x="229" y="11"/>
                </a:cubicBezTo>
                <a:cubicBezTo>
                  <a:pt x="203" y="17"/>
                  <a:pt x="195" y="33"/>
                  <a:pt x="174" y="46"/>
                </a:cubicBezTo>
                <a:cubicBezTo>
                  <a:pt x="153" y="59"/>
                  <a:pt x="128" y="78"/>
                  <a:pt x="104" y="88"/>
                </a:cubicBezTo>
                <a:cubicBezTo>
                  <a:pt x="80" y="98"/>
                  <a:pt x="44" y="88"/>
                  <a:pt x="27" y="104"/>
                </a:cubicBezTo>
                <a:cubicBezTo>
                  <a:pt x="10" y="120"/>
                  <a:pt x="0" y="158"/>
                  <a:pt x="2" y="187"/>
                </a:cubicBezTo>
                <a:cubicBezTo>
                  <a:pt x="4" y="216"/>
                  <a:pt x="22" y="256"/>
                  <a:pt x="37" y="280"/>
                </a:cubicBezTo>
                <a:cubicBezTo>
                  <a:pt x="52" y="304"/>
                  <a:pt x="77" y="320"/>
                  <a:pt x="94" y="334"/>
                </a:cubicBezTo>
                <a:cubicBezTo>
                  <a:pt x="111" y="348"/>
                  <a:pt x="120" y="363"/>
                  <a:pt x="139" y="363"/>
                </a:cubicBezTo>
                <a:cubicBezTo>
                  <a:pt x="158" y="363"/>
                  <a:pt x="183" y="346"/>
                  <a:pt x="206" y="334"/>
                </a:cubicBezTo>
                <a:cubicBezTo>
                  <a:pt x="229" y="322"/>
                  <a:pt x="260" y="307"/>
                  <a:pt x="277" y="289"/>
                </a:cubicBezTo>
                <a:cubicBezTo>
                  <a:pt x="294" y="271"/>
                  <a:pt x="295" y="269"/>
                  <a:pt x="306" y="245"/>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55" name="Freeform 36"/>
          <p:cNvSpPr>
            <a:spLocks/>
          </p:cNvSpPr>
          <p:nvPr/>
        </p:nvSpPr>
        <p:spPr bwMode="auto">
          <a:xfrm>
            <a:off x="6181611" y="2673350"/>
            <a:ext cx="331788" cy="328613"/>
          </a:xfrm>
          <a:custGeom>
            <a:avLst/>
            <a:gdLst>
              <a:gd name="T0" fmla="*/ 2147483647 w 209"/>
              <a:gd name="T1" fmla="*/ 2147483647 h 207"/>
              <a:gd name="T2" fmla="*/ 2147483647 w 209"/>
              <a:gd name="T3" fmla="*/ 2147483647 h 207"/>
              <a:gd name="T4" fmla="*/ 2147483647 w 209"/>
              <a:gd name="T5" fmla="*/ 2147483647 h 207"/>
              <a:gd name="T6" fmla="*/ 2147483647 w 209"/>
              <a:gd name="T7" fmla="*/ 2147483647 h 207"/>
              <a:gd name="T8" fmla="*/ 2147483647 w 209"/>
              <a:gd name="T9" fmla="*/ 2147483647 h 207"/>
              <a:gd name="T10" fmla="*/ 2147483647 w 209"/>
              <a:gd name="T11" fmla="*/ 2147483647 h 207"/>
              <a:gd name="T12" fmla="*/ 2147483647 w 209"/>
              <a:gd name="T13" fmla="*/ 2147483647 h 207"/>
              <a:gd name="T14" fmla="*/ 2147483647 w 209"/>
              <a:gd name="T15" fmla="*/ 2147483647 h 207"/>
              <a:gd name="T16" fmla="*/ 2147483647 w 209"/>
              <a:gd name="T17" fmla="*/ 2147483647 h 207"/>
              <a:gd name="T18" fmla="*/ 2147483647 w 209"/>
              <a:gd name="T19" fmla="*/ 2147483647 h 2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9"/>
              <a:gd name="T31" fmla="*/ 0 h 207"/>
              <a:gd name="T32" fmla="*/ 209 w 209"/>
              <a:gd name="T33" fmla="*/ 207 h 2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9" h="207">
                <a:moveTo>
                  <a:pt x="7" y="63"/>
                </a:moveTo>
                <a:cubicBezTo>
                  <a:pt x="0" y="82"/>
                  <a:pt x="0" y="111"/>
                  <a:pt x="4" y="130"/>
                </a:cubicBezTo>
                <a:cubicBezTo>
                  <a:pt x="8" y="149"/>
                  <a:pt x="12" y="166"/>
                  <a:pt x="29" y="178"/>
                </a:cubicBezTo>
                <a:cubicBezTo>
                  <a:pt x="46" y="190"/>
                  <a:pt x="77" y="207"/>
                  <a:pt x="103" y="204"/>
                </a:cubicBezTo>
                <a:cubicBezTo>
                  <a:pt x="129" y="201"/>
                  <a:pt x="166" y="179"/>
                  <a:pt x="183" y="159"/>
                </a:cubicBezTo>
                <a:cubicBezTo>
                  <a:pt x="200" y="139"/>
                  <a:pt x="207" y="107"/>
                  <a:pt x="208" y="85"/>
                </a:cubicBezTo>
                <a:cubicBezTo>
                  <a:pt x="209" y="63"/>
                  <a:pt x="206" y="42"/>
                  <a:pt x="192" y="28"/>
                </a:cubicBezTo>
                <a:cubicBezTo>
                  <a:pt x="178" y="14"/>
                  <a:pt x="149" y="4"/>
                  <a:pt x="125" y="2"/>
                </a:cubicBezTo>
                <a:cubicBezTo>
                  <a:pt x="101" y="0"/>
                  <a:pt x="68" y="7"/>
                  <a:pt x="48" y="18"/>
                </a:cubicBezTo>
                <a:cubicBezTo>
                  <a:pt x="28" y="29"/>
                  <a:pt x="14" y="44"/>
                  <a:pt x="7" y="63"/>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56" name="Freeform 37"/>
          <p:cNvSpPr>
            <a:spLocks/>
          </p:cNvSpPr>
          <p:nvPr/>
        </p:nvSpPr>
        <p:spPr bwMode="auto">
          <a:xfrm>
            <a:off x="6700724" y="2628900"/>
            <a:ext cx="557212" cy="592138"/>
          </a:xfrm>
          <a:custGeom>
            <a:avLst/>
            <a:gdLst>
              <a:gd name="T0" fmla="*/ 2147483647 w 351"/>
              <a:gd name="T1" fmla="*/ 2147483647 h 373"/>
              <a:gd name="T2" fmla="*/ 2147483647 w 351"/>
              <a:gd name="T3" fmla="*/ 2147483647 h 373"/>
              <a:gd name="T4" fmla="*/ 2147483647 w 351"/>
              <a:gd name="T5" fmla="*/ 2147483647 h 373"/>
              <a:gd name="T6" fmla="*/ 2147483647 w 351"/>
              <a:gd name="T7" fmla="*/ 2147483647 h 373"/>
              <a:gd name="T8" fmla="*/ 2147483647 w 351"/>
              <a:gd name="T9" fmla="*/ 2147483647 h 373"/>
              <a:gd name="T10" fmla="*/ 2147483647 w 351"/>
              <a:gd name="T11" fmla="*/ 2147483647 h 373"/>
              <a:gd name="T12" fmla="*/ 2147483647 w 351"/>
              <a:gd name="T13" fmla="*/ 2147483647 h 373"/>
              <a:gd name="T14" fmla="*/ 2147483647 w 351"/>
              <a:gd name="T15" fmla="*/ 2147483647 h 373"/>
              <a:gd name="T16" fmla="*/ 2147483647 w 351"/>
              <a:gd name="T17" fmla="*/ 2147483647 h 373"/>
              <a:gd name="T18" fmla="*/ 2147483647 w 351"/>
              <a:gd name="T19" fmla="*/ 2147483647 h 373"/>
              <a:gd name="T20" fmla="*/ 2147483647 w 351"/>
              <a:gd name="T21" fmla="*/ 2147483647 h 373"/>
              <a:gd name="T22" fmla="*/ 2147483647 w 351"/>
              <a:gd name="T23" fmla="*/ 2147483647 h 373"/>
              <a:gd name="T24" fmla="*/ 2147483647 w 351"/>
              <a:gd name="T25" fmla="*/ 2147483647 h 3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1"/>
              <a:gd name="T40" fmla="*/ 0 h 373"/>
              <a:gd name="T41" fmla="*/ 351 w 351"/>
              <a:gd name="T42" fmla="*/ 373 h 3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1" h="373">
                <a:moveTo>
                  <a:pt x="11" y="169"/>
                </a:moveTo>
                <a:cubicBezTo>
                  <a:pt x="0" y="193"/>
                  <a:pt x="4" y="231"/>
                  <a:pt x="8" y="255"/>
                </a:cubicBezTo>
                <a:cubicBezTo>
                  <a:pt x="12" y="279"/>
                  <a:pt x="19" y="299"/>
                  <a:pt x="36" y="313"/>
                </a:cubicBezTo>
                <a:cubicBezTo>
                  <a:pt x="53" y="327"/>
                  <a:pt x="79" y="330"/>
                  <a:pt x="110" y="338"/>
                </a:cubicBezTo>
                <a:cubicBezTo>
                  <a:pt x="141" y="346"/>
                  <a:pt x="190" y="373"/>
                  <a:pt x="225" y="364"/>
                </a:cubicBezTo>
                <a:cubicBezTo>
                  <a:pt x="260" y="355"/>
                  <a:pt x="300" y="312"/>
                  <a:pt x="321" y="281"/>
                </a:cubicBezTo>
                <a:cubicBezTo>
                  <a:pt x="342" y="250"/>
                  <a:pt x="349" y="214"/>
                  <a:pt x="350" y="181"/>
                </a:cubicBezTo>
                <a:cubicBezTo>
                  <a:pt x="351" y="148"/>
                  <a:pt x="340" y="113"/>
                  <a:pt x="328" y="85"/>
                </a:cubicBezTo>
                <a:cubicBezTo>
                  <a:pt x="316" y="57"/>
                  <a:pt x="296" y="24"/>
                  <a:pt x="276" y="12"/>
                </a:cubicBezTo>
                <a:cubicBezTo>
                  <a:pt x="256" y="0"/>
                  <a:pt x="234" y="10"/>
                  <a:pt x="209" y="15"/>
                </a:cubicBezTo>
                <a:cubicBezTo>
                  <a:pt x="184" y="20"/>
                  <a:pt x="149" y="25"/>
                  <a:pt x="126" y="41"/>
                </a:cubicBezTo>
                <a:cubicBezTo>
                  <a:pt x="103" y="57"/>
                  <a:pt x="90" y="87"/>
                  <a:pt x="72" y="108"/>
                </a:cubicBezTo>
                <a:cubicBezTo>
                  <a:pt x="54" y="129"/>
                  <a:pt x="22" y="145"/>
                  <a:pt x="11" y="169"/>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57" name="Freeform 38"/>
          <p:cNvSpPr>
            <a:spLocks/>
          </p:cNvSpPr>
          <p:nvPr/>
        </p:nvSpPr>
        <p:spPr bwMode="auto">
          <a:xfrm>
            <a:off x="7148399" y="3078163"/>
            <a:ext cx="146050" cy="185737"/>
          </a:xfrm>
          <a:custGeom>
            <a:avLst/>
            <a:gdLst>
              <a:gd name="T0" fmla="*/ 2147483647 w 92"/>
              <a:gd name="T1" fmla="*/ 2147483647 h 117"/>
              <a:gd name="T2" fmla="*/ 0 w 92"/>
              <a:gd name="T3" fmla="*/ 2147483647 h 117"/>
              <a:gd name="T4" fmla="*/ 2147483647 w 92"/>
              <a:gd name="T5" fmla="*/ 2147483647 h 117"/>
              <a:gd name="T6" fmla="*/ 2147483647 w 92"/>
              <a:gd name="T7" fmla="*/ 2147483647 h 117"/>
              <a:gd name="T8" fmla="*/ 2147483647 w 92"/>
              <a:gd name="T9" fmla="*/ 2147483647 h 117"/>
              <a:gd name="T10" fmla="*/ 2147483647 w 92"/>
              <a:gd name="T11" fmla="*/ 2147483647 h 117"/>
              <a:gd name="T12" fmla="*/ 2147483647 w 92"/>
              <a:gd name="T13" fmla="*/ 2147483647 h 117"/>
              <a:gd name="T14" fmla="*/ 0 60000 65536"/>
              <a:gd name="T15" fmla="*/ 0 60000 65536"/>
              <a:gd name="T16" fmla="*/ 0 60000 65536"/>
              <a:gd name="T17" fmla="*/ 0 60000 65536"/>
              <a:gd name="T18" fmla="*/ 0 60000 65536"/>
              <a:gd name="T19" fmla="*/ 0 60000 65536"/>
              <a:gd name="T20" fmla="*/ 0 60000 65536"/>
              <a:gd name="T21" fmla="*/ 0 w 92"/>
              <a:gd name="T22" fmla="*/ 0 h 117"/>
              <a:gd name="T23" fmla="*/ 92 w 92"/>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117">
                <a:moveTo>
                  <a:pt x="19" y="21"/>
                </a:moveTo>
                <a:cubicBezTo>
                  <a:pt x="11" y="34"/>
                  <a:pt x="0" y="67"/>
                  <a:pt x="0" y="82"/>
                </a:cubicBezTo>
                <a:cubicBezTo>
                  <a:pt x="0" y="97"/>
                  <a:pt x="2" y="111"/>
                  <a:pt x="16" y="114"/>
                </a:cubicBezTo>
                <a:cubicBezTo>
                  <a:pt x="30" y="117"/>
                  <a:pt x="74" y="112"/>
                  <a:pt x="83" y="98"/>
                </a:cubicBezTo>
                <a:cubicBezTo>
                  <a:pt x="92" y="84"/>
                  <a:pt x="79" y="47"/>
                  <a:pt x="73" y="31"/>
                </a:cubicBezTo>
                <a:cubicBezTo>
                  <a:pt x="67" y="15"/>
                  <a:pt x="57" y="4"/>
                  <a:pt x="48" y="2"/>
                </a:cubicBezTo>
                <a:cubicBezTo>
                  <a:pt x="39" y="0"/>
                  <a:pt x="27" y="8"/>
                  <a:pt x="19" y="21"/>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58" name="Freeform 39"/>
          <p:cNvSpPr>
            <a:spLocks/>
          </p:cNvSpPr>
          <p:nvPr/>
        </p:nvSpPr>
        <p:spPr bwMode="auto">
          <a:xfrm>
            <a:off x="7256349" y="3232150"/>
            <a:ext cx="274637" cy="422275"/>
          </a:xfrm>
          <a:custGeom>
            <a:avLst/>
            <a:gdLst>
              <a:gd name="T0" fmla="*/ 2147483647 w 173"/>
              <a:gd name="T1" fmla="*/ 2147483647 h 266"/>
              <a:gd name="T2" fmla="*/ 2147483647 w 173"/>
              <a:gd name="T3" fmla="*/ 2147483647 h 266"/>
              <a:gd name="T4" fmla="*/ 2147483647 w 173"/>
              <a:gd name="T5" fmla="*/ 2147483647 h 266"/>
              <a:gd name="T6" fmla="*/ 2147483647 w 173"/>
              <a:gd name="T7" fmla="*/ 2147483647 h 266"/>
              <a:gd name="T8" fmla="*/ 2147483647 w 173"/>
              <a:gd name="T9" fmla="*/ 2147483647 h 266"/>
              <a:gd name="T10" fmla="*/ 2147483647 w 173"/>
              <a:gd name="T11" fmla="*/ 2147483647 h 266"/>
              <a:gd name="T12" fmla="*/ 2147483647 w 173"/>
              <a:gd name="T13" fmla="*/ 2147483647 h 266"/>
              <a:gd name="T14" fmla="*/ 2147483647 w 173"/>
              <a:gd name="T15" fmla="*/ 2147483647 h 266"/>
              <a:gd name="T16" fmla="*/ 2147483647 w 173"/>
              <a:gd name="T17" fmla="*/ 2147483647 h 266"/>
              <a:gd name="T18" fmla="*/ 2147483647 w 173"/>
              <a:gd name="T19" fmla="*/ 2147483647 h 266"/>
              <a:gd name="T20" fmla="*/ 2147483647 w 173"/>
              <a:gd name="T21" fmla="*/ 2147483647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266"/>
              <a:gd name="T35" fmla="*/ 173 w 173"/>
              <a:gd name="T36" fmla="*/ 266 h 2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266">
                <a:moveTo>
                  <a:pt x="44" y="17"/>
                </a:moveTo>
                <a:cubicBezTo>
                  <a:pt x="29" y="31"/>
                  <a:pt x="10" y="65"/>
                  <a:pt x="5" y="91"/>
                </a:cubicBezTo>
                <a:cubicBezTo>
                  <a:pt x="0" y="117"/>
                  <a:pt x="10" y="150"/>
                  <a:pt x="12" y="174"/>
                </a:cubicBezTo>
                <a:cubicBezTo>
                  <a:pt x="14" y="198"/>
                  <a:pt x="5" y="223"/>
                  <a:pt x="15" y="238"/>
                </a:cubicBezTo>
                <a:cubicBezTo>
                  <a:pt x="25" y="253"/>
                  <a:pt x="52" y="262"/>
                  <a:pt x="72" y="264"/>
                </a:cubicBezTo>
                <a:cubicBezTo>
                  <a:pt x="92" y="266"/>
                  <a:pt x="117" y="261"/>
                  <a:pt x="133" y="251"/>
                </a:cubicBezTo>
                <a:cubicBezTo>
                  <a:pt x="149" y="241"/>
                  <a:pt x="163" y="229"/>
                  <a:pt x="168" y="206"/>
                </a:cubicBezTo>
                <a:cubicBezTo>
                  <a:pt x="173" y="183"/>
                  <a:pt x="171" y="140"/>
                  <a:pt x="165" y="113"/>
                </a:cubicBezTo>
                <a:cubicBezTo>
                  <a:pt x="159" y="86"/>
                  <a:pt x="142" y="61"/>
                  <a:pt x="130" y="43"/>
                </a:cubicBezTo>
                <a:cubicBezTo>
                  <a:pt x="118" y="25"/>
                  <a:pt x="111" y="8"/>
                  <a:pt x="95" y="4"/>
                </a:cubicBezTo>
                <a:cubicBezTo>
                  <a:pt x="79" y="0"/>
                  <a:pt x="59" y="3"/>
                  <a:pt x="44" y="17"/>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59" name="Freeform 40"/>
          <p:cNvSpPr>
            <a:spLocks/>
          </p:cNvSpPr>
          <p:nvPr/>
        </p:nvSpPr>
        <p:spPr bwMode="auto">
          <a:xfrm>
            <a:off x="7253174" y="2787650"/>
            <a:ext cx="579437" cy="488950"/>
          </a:xfrm>
          <a:custGeom>
            <a:avLst/>
            <a:gdLst>
              <a:gd name="T0" fmla="*/ 2147483647 w 365"/>
              <a:gd name="T1" fmla="*/ 2147483647 h 308"/>
              <a:gd name="T2" fmla="*/ 2147483647 w 365"/>
              <a:gd name="T3" fmla="*/ 2147483647 h 308"/>
              <a:gd name="T4" fmla="*/ 2147483647 w 365"/>
              <a:gd name="T5" fmla="*/ 2147483647 h 308"/>
              <a:gd name="T6" fmla="*/ 2147483647 w 365"/>
              <a:gd name="T7" fmla="*/ 2147483647 h 308"/>
              <a:gd name="T8" fmla="*/ 2147483647 w 365"/>
              <a:gd name="T9" fmla="*/ 2147483647 h 308"/>
              <a:gd name="T10" fmla="*/ 2147483647 w 365"/>
              <a:gd name="T11" fmla="*/ 2147483647 h 308"/>
              <a:gd name="T12" fmla="*/ 2147483647 w 365"/>
              <a:gd name="T13" fmla="*/ 2147483647 h 308"/>
              <a:gd name="T14" fmla="*/ 2147483647 w 365"/>
              <a:gd name="T15" fmla="*/ 2147483647 h 308"/>
              <a:gd name="T16" fmla="*/ 2147483647 w 365"/>
              <a:gd name="T17" fmla="*/ 2147483647 h 308"/>
              <a:gd name="T18" fmla="*/ 2147483647 w 365"/>
              <a:gd name="T19" fmla="*/ 2147483647 h 308"/>
              <a:gd name="T20" fmla="*/ 2147483647 w 365"/>
              <a:gd name="T21" fmla="*/ 2147483647 h 308"/>
              <a:gd name="T22" fmla="*/ 2147483647 w 365"/>
              <a:gd name="T23" fmla="*/ 2147483647 h 308"/>
              <a:gd name="T24" fmla="*/ 2147483647 w 365"/>
              <a:gd name="T25" fmla="*/ 2147483647 h 308"/>
              <a:gd name="T26" fmla="*/ 2147483647 w 365"/>
              <a:gd name="T27" fmla="*/ 2147483647 h 308"/>
              <a:gd name="T28" fmla="*/ 2147483647 w 365"/>
              <a:gd name="T29" fmla="*/ 2147483647 h 3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65"/>
              <a:gd name="T46" fmla="*/ 0 h 308"/>
              <a:gd name="T47" fmla="*/ 365 w 365"/>
              <a:gd name="T48" fmla="*/ 308 h 3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65" h="308">
                <a:moveTo>
                  <a:pt x="55" y="38"/>
                </a:moveTo>
                <a:cubicBezTo>
                  <a:pt x="37" y="54"/>
                  <a:pt x="14" y="88"/>
                  <a:pt x="7" y="108"/>
                </a:cubicBezTo>
                <a:cubicBezTo>
                  <a:pt x="0" y="128"/>
                  <a:pt x="8" y="138"/>
                  <a:pt x="14" y="160"/>
                </a:cubicBezTo>
                <a:cubicBezTo>
                  <a:pt x="20" y="182"/>
                  <a:pt x="25" y="220"/>
                  <a:pt x="42" y="240"/>
                </a:cubicBezTo>
                <a:cubicBezTo>
                  <a:pt x="59" y="260"/>
                  <a:pt x="95" y="272"/>
                  <a:pt x="116" y="281"/>
                </a:cubicBezTo>
                <a:cubicBezTo>
                  <a:pt x="137" y="290"/>
                  <a:pt x="150" y="293"/>
                  <a:pt x="170" y="297"/>
                </a:cubicBezTo>
                <a:cubicBezTo>
                  <a:pt x="190" y="301"/>
                  <a:pt x="213" y="304"/>
                  <a:pt x="238" y="304"/>
                </a:cubicBezTo>
                <a:cubicBezTo>
                  <a:pt x="263" y="304"/>
                  <a:pt x="298" y="308"/>
                  <a:pt x="318" y="300"/>
                </a:cubicBezTo>
                <a:cubicBezTo>
                  <a:pt x="338" y="292"/>
                  <a:pt x="353" y="279"/>
                  <a:pt x="359" y="256"/>
                </a:cubicBezTo>
                <a:cubicBezTo>
                  <a:pt x="365" y="233"/>
                  <a:pt x="364" y="189"/>
                  <a:pt x="356" y="160"/>
                </a:cubicBezTo>
                <a:cubicBezTo>
                  <a:pt x="348" y="131"/>
                  <a:pt x="327" y="102"/>
                  <a:pt x="311" y="80"/>
                </a:cubicBezTo>
                <a:cubicBezTo>
                  <a:pt x="295" y="58"/>
                  <a:pt x="280" y="41"/>
                  <a:pt x="260" y="28"/>
                </a:cubicBezTo>
                <a:cubicBezTo>
                  <a:pt x="240" y="15"/>
                  <a:pt x="214" y="6"/>
                  <a:pt x="190" y="3"/>
                </a:cubicBezTo>
                <a:cubicBezTo>
                  <a:pt x="166" y="0"/>
                  <a:pt x="137" y="5"/>
                  <a:pt x="113" y="12"/>
                </a:cubicBezTo>
                <a:cubicBezTo>
                  <a:pt x="89" y="19"/>
                  <a:pt x="73" y="22"/>
                  <a:pt x="55" y="38"/>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60" name="Freeform 41"/>
          <p:cNvSpPr>
            <a:spLocks/>
          </p:cNvSpPr>
          <p:nvPr/>
        </p:nvSpPr>
        <p:spPr bwMode="auto">
          <a:xfrm>
            <a:off x="7835786" y="2894013"/>
            <a:ext cx="247650" cy="319087"/>
          </a:xfrm>
          <a:custGeom>
            <a:avLst/>
            <a:gdLst>
              <a:gd name="T0" fmla="*/ 2147483647 w 156"/>
              <a:gd name="T1" fmla="*/ 2147483647 h 201"/>
              <a:gd name="T2" fmla="*/ 2147483647 w 156"/>
              <a:gd name="T3" fmla="*/ 2147483647 h 201"/>
              <a:gd name="T4" fmla="*/ 2147483647 w 156"/>
              <a:gd name="T5" fmla="*/ 2147483647 h 201"/>
              <a:gd name="T6" fmla="*/ 2147483647 w 156"/>
              <a:gd name="T7" fmla="*/ 2147483647 h 201"/>
              <a:gd name="T8" fmla="*/ 2147483647 w 156"/>
              <a:gd name="T9" fmla="*/ 2147483647 h 201"/>
              <a:gd name="T10" fmla="*/ 2147483647 w 156"/>
              <a:gd name="T11" fmla="*/ 2147483647 h 201"/>
              <a:gd name="T12" fmla="*/ 2147483647 w 156"/>
              <a:gd name="T13" fmla="*/ 2147483647 h 201"/>
              <a:gd name="T14" fmla="*/ 2147483647 w 156"/>
              <a:gd name="T15" fmla="*/ 2147483647 h 201"/>
              <a:gd name="T16" fmla="*/ 2147483647 w 156"/>
              <a:gd name="T17" fmla="*/ 2147483647 h 201"/>
              <a:gd name="T18" fmla="*/ 2147483647 w 156"/>
              <a:gd name="T19" fmla="*/ 2147483647 h 20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6"/>
              <a:gd name="T31" fmla="*/ 0 h 201"/>
              <a:gd name="T32" fmla="*/ 156 w 156"/>
              <a:gd name="T33" fmla="*/ 201 h 20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6" h="201">
                <a:moveTo>
                  <a:pt x="75" y="6"/>
                </a:moveTo>
                <a:cubicBezTo>
                  <a:pt x="57" y="12"/>
                  <a:pt x="22" y="33"/>
                  <a:pt x="11" y="51"/>
                </a:cubicBezTo>
                <a:cubicBezTo>
                  <a:pt x="0" y="69"/>
                  <a:pt x="4" y="96"/>
                  <a:pt x="8" y="115"/>
                </a:cubicBezTo>
                <a:cubicBezTo>
                  <a:pt x="12" y="134"/>
                  <a:pt x="25" y="152"/>
                  <a:pt x="34" y="166"/>
                </a:cubicBezTo>
                <a:cubicBezTo>
                  <a:pt x="43" y="180"/>
                  <a:pt x="49" y="201"/>
                  <a:pt x="63" y="201"/>
                </a:cubicBezTo>
                <a:cubicBezTo>
                  <a:pt x="77" y="201"/>
                  <a:pt x="106" y="182"/>
                  <a:pt x="120" y="169"/>
                </a:cubicBezTo>
                <a:cubicBezTo>
                  <a:pt x="134" y="156"/>
                  <a:pt x="141" y="141"/>
                  <a:pt x="146" y="121"/>
                </a:cubicBezTo>
                <a:cubicBezTo>
                  <a:pt x="151" y="101"/>
                  <a:pt x="156" y="65"/>
                  <a:pt x="152" y="48"/>
                </a:cubicBezTo>
                <a:cubicBezTo>
                  <a:pt x="148" y="31"/>
                  <a:pt x="135" y="21"/>
                  <a:pt x="120" y="16"/>
                </a:cubicBezTo>
                <a:cubicBezTo>
                  <a:pt x="105" y="11"/>
                  <a:pt x="93" y="0"/>
                  <a:pt x="75" y="6"/>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61" name="Freeform 42"/>
          <p:cNvSpPr>
            <a:spLocks/>
          </p:cNvSpPr>
          <p:nvPr/>
        </p:nvSpPr>
        <p:spPr bwMode="auto">
          <a:xfrm>
            <a:off x="7713549" y="2725738"/>
            <a:ext cx="201612" cy="161925"/>
          </a:xfrm>
          <a:custGeom>
            <a:avLst/>
            <a:gdLst>
              <a:gd name="T0" fmla="*/ 2147483647 w 127"/>
              <a:gd name="T1" fmla="*/ 2147483647 h 102"/>
              <a:gd name="T2" fmla="*/ 2147483647 w 127"/>
              <a:gd name="T3" fmla="*/ 2147483647 h 102"/>
              <a:gd name="T4" fmla="*/ 2147483647 w 127"/>
              <a:gd name="T5" fmla="*/ 2147483647 h 102"/>
              <a:gd name="T6" fmla="*/ 2147483647 w 127"/>
              <a:gd name="T7" fmla="*/ 2147483647 h 102"/>
              <a:gd name="T8" fmla="*/ 2147483647 w 127"/>
              <a:gd name="T9" fmla="*/ 2147483647 h 102"/>
              <a:gd name="T10" fmla="*/ 2147483647 w 127"/>
              <a:gd name="T11" fmla="*/ 2147483647 h 102"/>
              <a:gd name="T12" fmla="*/ 2147483647 w 127"/>
              <a:gd name="T13" fmla="*/ 2147483647 h 102"/>
              <a:gd name="T14" fmla="*/ 2147483647 w 127"/>
              <a:gd name="T15" fmla="*/ 2147483647 h 102"/>
              <a:gd name="T16" fmla="*/ 0 60000 65536"/>
              <a:gd name="T17" fmla="*/ 0 60000 65536"/>
              <a:gd name="T18" fmla="*/ 0 60000 65536"/>
              <a:gd name="T19" fmla="*/ 0 60000 65536"/>
              <a:gd name="T20" fmla="*/ 0 60000 65536"/>
              <a:gd name="T21" fmla="*/ 0 60000 65536"/>
              <a:gd name="T22" fmla="*/ 0 60000 65536"/>
              <a:gd name="T23" fmla="*/ 0 60000 65536"/>
              <a:gd name="T24" fmla="*/ 0 w 127"/>
              <a:gd name="T25" fmla="*/ 0 h 102"/>
              <a:gd name="T26" fmla="*/ 127 w 127"/>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7" h="102">
                <a:moveTo>
                  <a:pt x="92" y="16"/>
                </a:moveTo>
                <a:cubicBezTo>
                  <a:pt x="78" y="9"/>
                  <a:pt x="49" y="0"/>
                  <a:pt x="34" y="7"/>
                </a:cubicBezTo>
                <a:cubicBezTo>
                  <a:pt x="19" y="14"/>
                  <a:pt x="4" y="44"/>
                  <a:pt x="2" y="58"/>
                </a:cubicBezTo>
                <a:cubicBezTo>
                  <a:pt x="0" y="72"/>
                  <a:pt x="9" y="83"/>
                  <a:pt x="21" y="90"/>
                </a:cubicBezTo>
                <a:cubicBezTo>
                  <a:pt x="33" y="97"/>
                  <a:pt x="56" y="102"/>
                  <a:pt x="72" y="99"/>
                </a:cubicBezTo>
                <a:cubicBezTo>
                  <a:pt x="88" y="96"/>
                  <a:pt x="113" y="82"/>
                  <a:pt x="120" y="74"/>
                </a:cubicBezTo>
                <a:cubicBezTo>
                  <a:pt x="127" y="66"/>
                  <a:pt x="122" y="58"/>
                  <a:pt x="117" y="48"/>
                </a:cubicBezTo>
                <a:cubicBezTo>
                  <a:pt x="112" y="38"/>
                  <a:pt x="106" y="23"/>
                  <a:pt x="92" y="16"/>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62" name="Freeform 43"/>
          <p:cNvSpPr>
            <a:spLocks/>
          </p:cNvSpPr>
          <p:nvPr/>
        </p:nvSpPr>
        <p:spPr bwMode="auto">
          <a:xfrm>
            <a:off x="5652974" y="2841625"/>
            <a:ext cx="169862" cy="171450"/>
          </a:xfrm>
          <a:custGeom>
            <a:avLst/>
            <a:gdLst>
              <a:gd name="T0" fmla="*/ 2147483647 w 107"/>
              <a:gd name="T1" fmla="*/ 2147483647 h 108"/>
              <a:gd name="T2" fmla="*/ 2147483647 w 107"/>
              <a:gd name="T3" fmla="*/ 2147483647 h 108"/>
              <a:gd name="T4" fmla="*/ 2147483647 w 107"/>
              <a:gd name="T5" fmla="*/ 2147483647 h 108"/>
              <a:gd name="T6" fmla="*/ 2147483647 w 107"/>
              <a:gd name="T7" fmla="*/ 2147483647 h 108"/>
              <a:gd name="T8" fmla="*/ 2147483647 w 107"/>
              <a:gd name="T9" fmla="*/ 2147483647 h 108"/>
              <a:gd name="T10" fmla="*/ 2147483647 w 107"/>
              <a:gd name="T11" fmla="*/ 2147483647 h 108"/>
              <a:gd name="T12" fmla="*/ 2147483647 w 107"/>
              <a:gd name="T13" fmla="*/ 2147483647 h 108"/>
              <a:gd name="T14" fmla="*/ 2147483647 w 107"/>
              <a:gd name="T15" fmla="*/ 2147483647 h 108"/>
              <a:gd name="T16" fmla="*/ 2147483647 w 107"/>
              <a:gd name="T17" fmla="*/ 2147483647 h 1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7"/>
              <a:gd name="T28" fmla="*/ 0 h 108"/>
              <a:gd name="T29" fmla="*/ 107 w 107"/>
              <a:gd name="T30" fmla="*/ 108 h 10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7" h="108">
                <a:moveTo>
                  <a:pt x="90" y="7"/>
                </a:moveTo>
                <a:cubicBezTo>
                  <a:pt x="81" y="2"/>
                  <a:pt x="66" y="0"/>
                  <a:pt x="52" y="4"/>
                </a:cubicBezTo>
                <a:cubicBezTo>
                  <a:pt x="38" y="8"/>
                  <a:pt x="14" y="22"/>
                  <a:pt x="7" y="33"/>
                </a:cubicBezTo>
                <a:cubicBezTo>
                  <a:pt x="0" y="44"/>
                  <a:pt x="4" y="56"/>
                  <a:pt x="7" y="68"/>
                </a:cubicBezTo>
                <a:cubicBezTo>
                  <a:pt x="10" y="80"/>
                  <a:pt x="15" y="98"/>
                  <a:pt x="26" y="103"/>
                </a:cubicBezTo>
                <a:cubicBezTo>
                  <a:pt x="37" y="108"/>
                  <a:pt x="63" y="104"/>
                  <a:pt x="74" y="97"/>
                </a:cubicBezTo>
                <a:cubicBezTo>
                  <a:pt x="85" y="90"/>
                  <a:pt x="89" y="73"/>
                  <a:pt x="94" y="62"/>
                </a:cubicBezTo>
                <a:cubicBezTo>
                  <a:pt x="99" y="51"/>
                  <a:pt x="107" y="41"/>
                  <a:pt x="106" y="33"/>
                </a:cubicBezTo>
                <a:cubicBezTo>
                  <a:pt x="105" y="25"/>
                  <a:pt x="99" y="12"/>
                  <a:pt x="90" y="7"/>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63" name="Freeform 44"/>
          <p:cNvSpPr>
            <a:spLocks/>
          </p:cNvSpPr>
          <p:nvPr/>
        </p:nvSpPr>
        <p:spPr bwMode="auto">
          <a:xfrm>
            <a:off x="5735524" y="2492375"/>
            <a:ext cx="495300" cy="390525"/>
          </a:xfrm>
          <a:custGeom>
            <a:avLst/>
            <a:gdLst>
              <a:gd name="T0" fmla="*/ 2147483647 w 312"/>
              <a:gd name="T1" fmla="*/ 2147483647 h 246"/>
              <a:gd name="T2" fmla="*/ 2147483647 w 312"/>
              <a:gd name="T3" fmla="*/ 2147483647 h 246"/>
              <a:gd name="T4" fmla="*/ 2147483647 w 312"/>
              <a:gd name="T5" fmla="*/ 2147483647 h 246"/>
              <a:gd name="T6" fmla="*/ 2147483647 w 312"/>
              <a:gd name="T7" fmla="*/ 2147483647 h 246"/>
              <a:gd name="T8" fmla="*/ 2147483647 w 312"/>
              <a:gd name="T9" fmla="*/ 2147483647 h 246"/>
              <a:gd name="T10" fmla="*/ 2147483647 w 312"/>
              <a:gd name="T11" fmla="*/ 2147483647 h 246"/>
              <a:gd name="T12" fmla="*/ 2147483647 w 312"/>
              <a:gd name="T13" fmla="*/ 2147483647 h 246"/>
              <a:gd name="T14" fmla="*/ 2147483647 w 312"/>
              <a:gd name="T15" fmla="*/ 2147483647 h 246"/>
              <a:gd name="T16" fmla="*/ 2147483647 w 312"/>
              <a:gd name="T17" fmla="*/ 2147483647 h 246"/>
              <a:gd name="T18" fmla="*/ 2147483647 w 312"/>
              <a:gd name="T19" fmla="*/ 2147483647 h 246"/>
              <a:gd name="T20" fmla="*/ 2147483647 w 312"/>
              <a:gd name="T21" fmla="*/ 2147483647 h 246"/>
              <a:gd name="T22" fmla="*/ 2147483647 w 312"/>
              <a:gd name="T23" fmla="*/ 2147483647 h 246"/>
              <a:gd name="T24" fmla="*/ 2147483647 w 312"/>
              <a:gd name="T25" fmla="*/ 2147483647 h 246"/>
              <a:gd name="T26" fmla="*/ 2147483647 w 312"/>
              <a:gd name="T27" fmla="*/ 2147483647 h 2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12"/>
              <a:gd name="T43" fmla="*/ 0 h 246"/>
              <a:gd name="T44" fmla="*/ 312 w 312"/>
              <a:gd name="T45" fmla="*/ 246 h 2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12" h="246">
                <a:moveTo>
                  <a:pt x="67" y="243"/>
                </a:moveTo>
                <a:cubicBezTo>
                  <a:pt x="84" y="246"/>
                  <a:pt x="129" y="245"/>
                  <a:pt x="157" y="240"/>
                </a:cubicBezTo>
                <a:cubicBezTo>
                  <a:pt x="185" y="235"/>
                  <a:pt x="213" y="225"/>
                  <a:pt x="234" y="214"/>
                </a:cubicBezTo>
                <a:cubicBezTo>
                  <a:pt x="255" y="203"/>
                  <a:pt x="272" y="195"/>
                  <a:pt x="285" y="176"/>
                </a:cubicBezTo>
                <a:cubicBezTo>
                  <a:pt x="298" y="157"/>
                  <a:pt x="308" y="125"/>
                  <a:pt x="310" y="102"/>
                </a:cubicBezTo>
                <a:cubicBezTo>
                  <a:pt x="312" y="79"/>
                  <a:pt x="304" y="51"/>
                  <a:pt x="298" y="35"/>
                </a:cubicBezTo>
                <a:cubicBezTo>
                  <a:pt x="292" y="19"/>
                  <a:pt x="292" y="6"/>
                  <a:pt x="272" y="3"/>
                </a:cubicBezTo>
                <a:cubicBezTo>
                  <a:pt x="252" y="0"/>
                  <a:pt x="204" y="5"/>
                  <a:pt x="176" y="16"/>
                </a:cubicBezTo>
                <a:cubicBezTo>
                  <a:pt x="148" y="27"/>
                  <a:pt x="128" y="52"/>
                  <a:pt x="106" y="70"/>
                </a:cubicBezTo>
                <a:cubicBezTo>
                  <a:pt x="84" y="88"/>
                  <a:pt x="59" y="109"/>
                  <a:pt x="42" y="122"/>
                </a:cubicBezTo>
                <a:cubicBezTo>
                  <a:pt x="25" y="135"/>
                  <a:pt x="6" y="139"/>
                  <a:pt x="3" y="150"/>
                </a:cubicBezTo>
                <a:cubicBezTo>
                  <a:pt x="0" y="161"/>
                  <a:pt x="13" y="177"/>
                  <a:pt x="22" y="189"/>
                </a:cubicBezTo>
                <a:cubicBezTo>
                  <a:pt x="31" y="201"/>
                  <a:pt x="50" y="212"/>
                  <a:pt x="58" y="221"/>
                </a:cubicBezTo>
                <a:cubicBezTo>
                  <a:pt x="66" y="230"/>
                  <a:pt x="50" y="240"/>
                  <a:pt x="67" y="243"/>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64" name="Freeform 45"/>
          <p:cNvSpPr>
            <a:spLocks/>
          </p:cNvSpPr>
          <p:nvPr/>
        </p:nvSpPr>
        <p:spPr bwMode="auto">
          <a:xfrm>
            <a:off x="5759336" y="2209800"/>
            <a:ext cx="274638" cy="396875"/>
          </a:xfrm>
          <a:custGeom>
            <a:avLst/>
            <a:gdLst>
              <a:gd name="T0" fmla="*/ 2147483647 w 173"/>
              <a:gd name="T1" fmla="*/ 2147483647 h 250"/>
              <a:gd name="T2" fmla="*/ 2147483647 w 173"/>
              <a:gd name="T3" fmla="*/ 2147483647 h 250"/>
              <a:gd name="T4" fmla="*/ 2147483647 w 173"/>
              <a:gd name="T5" fmla="*/ 2147483647 h 250"/>
              <a:gd name="T6" fmla="*/ 2147483647 w 173"/>
              <a:gd name="T7" fmla="*/ 2147483647 h 250"/>
              <a:gd name="T8" fmla="*/ 2147483647 w 173"/>
              <a:gd name="T9" fmla="*/ 2147483647 h 250"/>
              <a:gd name="T10" fmla="*/ 2147483647 w 173"/>
              <a:gd name="T11" fmla="*/ 2147483647 h 250"/>
              <a:gd name="T12" fmla="*/ 2147483647 w 173"/>
              <a:gd name="T13" fmla="*/ 2147483647 h 250"/>
              <a:gd name="T14" fmla="*/ 2147483647 w 173"/>
              <a:gd name="T15" fmla="*/ 2147483647 h 250"/>
              <a:gd name="T16" fmla="*/ 2147483647 w 173"/>
              <a:gd name="T17" fmla="*/ 2147483647 h 250"/>
              <a:gd name="T18" fmla="*/ 2147483647 w 173"/>
              <a:gd name="T19" fmla="*/ 2147483647 h 250"/>
              <a:gd name="T20" fmla="*/ 2147483647 w 173"/>
              <a:gd name="T21" fmla="*/ 2147483647 h 250"/>
              <a:gd name="T22" fmla="*/ 2147483647 w 173"/>
              <a:gd name="T23" fmla="*/ 2147483647 h 250"/>
              <a:gd name="T24" fmla="*/ 2147483647 w 173"/>
              <a:gd name="T25" fmla="*/ 2147483647 h 2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3"/>
              <a:gd name="T40" fmla="*/ 0 h 250"/>
              <a:gd name="T41" fmla="*/ 173 w 173"/>
              <a:gd name="T42" fmla="*/ 250 h 2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3" h="250">
                <a:moveTo>
                  <a:pt x="167" y="149"/>
                </a:moveTo>
                <a:cubicBezTo>
                  <a:pt x="173" y="134"/>
                  <a:pt x="173" y="108"/>
                  <a:pt x="167" y="92"/>
                </a:cubicBezTo>
                <a:cubicBezTo>
                  <a:pt x="161" y="76"/>
                  <a:pt x="146" y="62"/>
                  <a:pt x="132" y="50"/>
                </a:cubicBezTo>
                <a:cubicBezTo>
                  <a:pt x="118" y="38"/>
                  <a:pt x="99" y="26"/>
                  <a:pt x="84" y="18"/>
                </a:cubicBezTo>
                <a:cubicBezTo>
                  <a:pt x="69" y="10"/>
                  <a:pt x="52" y="0"/>
                  <a:pt x="39" y="2"/>
                </a:cubicBezTo>
                <a:cubicBezTo>
                  <a:pt x="26" y="4"/>
                  <a:pt x="8" y="12"/>
                  <a:pt x="4" y="28"/>
                </a:cubicBezTo>
                <a:cubicBezTo>
                  <a:pt x="0" y="44"/>
                  <a:pt x="14" y="80"/>
                  <a:pt x="17" y="101"/>
                </a:cubicBezTo>
                <a:cubicBezTo>
                  <a:pt x="20" y="122"/>
                  <a:pt x="21" y="139"/>
                  <a:pt x="20" y="156"/>
                </a:cubicBezTo>
                <a:cubicBezTo>
                  <a:pt x="19" y="173"/>
                  <a:pt x="9" y="189"/>
                  <a:pt x="11" y="204"/>
                </a:cubicBezTo>
                <a:cubicBezTo>
                  <a:pt x="13" y="219"/>
                  <a:pt x="19" y="240"/>
                  <a:pt x="30" y="245"/>
                </a:cubicBezTo>
                <a:cubicBezTo>
                  <a:pt x="41" y="250"/>
                  <a:pt x="61" y="242"/>
                  <a:pt x="78" y="232"/>
                </a:cubicBezTo>
                <a:cubicBezTo>
                  <a:pt x="95" y="222"/>
                  <a:pt x="114" y="197"/>
                  <a:pt x="129" y="184"/>
                </a:cubicBezTo>
                <a:cubicBezTo>
                  <a:pt x="144" y="171"/>
                  <a:pt x="161" y="164"/>
                  <a:pt x="167" y="149"/>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65" name="Freeform 46"/>
          <p:cNvSpPr>
            <a:spLocks/>
          </p:cNvSpPr>
          <p:nvPr/>
        </p:nvSpPr>
        <p:spPr bwMode="auto">
          <a:xfrm>
            <a:off x="6059374" y="2254250"/>
            <a:ext cx="274637" cy="215900"/>
          </a:xfrm>
          <a:custGeom>
            <a:avLst/>
            <a:gdLst>
              <a:gd name="T0" fmla="*/ 2147483647 w 173"/>
              <a:gd name="T1" fmla="*/ 2147483647 h 136"/>
              <a:gd name="T2" fmla="*/ 2147483647 w 173"/>
              <a:gd name="T3" fmla="*/ 2147483647 h 136"/>
              <a:gd name="T4" fmla="*/ 2147483647 w 173"/>
              <a:gd name="T5" fmla="*/ 2147483647 h 136"/>
              <a:gd name="T6" fmla="*/ 2147483647 w 173"/>
              <a:gd name="T7" fmla="*/ 2147483647 h 136"/>
              <a:gd name="T8" fmla="*/ 2147483647 w 173"/>
              <a:gd name="T9" fmla="*/ 2147483647 h 136"/>
              <a:gd name="T10" fmla="*/ 2147483647 w 173"/>
              <a:gd name="T11" fmla="*/ 2147483647 h 136"/>
              <a:gd name="T12" fmla="*/ 2147483647 w 173"/>
              <a:gd name="T13" fmla="*/ 2147483647 h 136"/>
              <a:gd name="T14" fmla="*/ 2147483647 w 173"/>
              <a:gd name="T15" fmla="*/ 2147483647 h 136"/>
              <a:gd name="T16" fmla="*/ 2147483647 w 173"/>
              <a:gd name="T17" fmla="*/ 2147483647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3"/>
              <a:gd name="T28" fmla="*/ 0 h 136"/>
              <a:gd name="T29" fmla="*/ 173 w 173"/>
              <a:gd name="T30" fmla="*/ 136 h 1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3" h="136">
                <a:moveTo>
                  <a:pt x="94" y="9"/>
                </a:moveTo>
                <a:cubicBezTo>
                  <a:pt x="73" y="15"/>
                  <a:pt x="45" y="27"/>
                  <a:pt x="30" y="41"/>
                </a:cubicBezTo>
                <a:cubicBezTo>
                  <a:pt x="15" y="55"/>
                  <a:pt x="2" y="78"/>
                  <a:pt x="1" y="92"/>
                </a:cubicBezTo>
                <a:cubicBezTo>
                  <a:pt x="0" y="106"/>
                  <a:pt x="13" y="122"/>
                  <a:pt x="26" y="128"/>
                </a:cubicBezTo>
                <a:cubicBezTo>
                  <a:pt x="39" y="134"/>
                  <a:pt x="59" y="136"/>
                  <a:pt x="81" y="131"/>
                </a:cubicBezTo>
                <a:cubicBezTo>
                  <a:pt x="103" y="126"/>
                  <a:pt x="143" y="114"/>
                  <a:pt x="158" y="99"/>
                </a:cubicBezTo>
                <a:cubicBezTo>
                  <a:pt x="173" y="84"/>
                  <a:pt x="170" y="59"/>
                  <a:pt x="170" y="44"/>
                </a:cubicBezTo>
                <a:cubicBezTo>
                  <a:pt x="170" y="29"/>
                  <a:pt x="171" y="12"/>
                  <a:pt x="158" y="6"/>
                </a:cubicBezTo>
                <a:cubicBezTo>
                  <a:pt x="145" y="0"/>
                  <a:pt x="115" y="3"/>
                  <a:pt x="94" y="9"/>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66" name="Freeform 47"/>
          <p:cNvSpPr>
            <a:spLocks/>
          </p:cNvSpPr>
          <p:nvPr/>
        </p:nvSpPr>
        <p:spPr bwMode="auto">
          <a:xfrm>
            <a:off x="6237174" y="2514600"/>
            <a:ext cx="134937" cy="165100"/>
          </a:xfrm>
          <a:custGeom>
            <a:avLst/>
            <a:gdLst>
              <a:gd name="T0" fmla="*/ 2147483647 w 85"/>
              <a:gd name="T1" fmla="*/ 2147483647 h 104"/>
              <a:gd name="T2" fmla="*/ 2147483647 w 85"/>
              <a:gd name="T3" fmla="*/ 2147483647 h 104"/>
              <a:gd name="T4" fmla="*/ 2147483647 w 85"/>
              <a:gd name="T5" fmla="*/ 2147483647 h 104"/>
              <a:gd name="T6" fmla="*/ 2147483647 w 85"/>
              <a:gd name="T7" fmla="*/ 2147483647 h 104"/>
              <a:gd name="T8" fmla="*/ 2147483647 w 85"/>
              <a:gd name="T9" fmla="*/ 2147483647 h 104"/>
              <a:gd name="T10" fmla="*/ 2147483647 w 85"/>
              <a:gd name="T11" fmla="*/ 2147483647 h 104"/>
              <a:gd name="T12" fmla="*/ 2147483647 w 85"/>
              <a:gd name="T13" fmla="*/ 2147483647 h 104"/>
              <a:gd name="T14" fmla="*/ 2147483647 w 85"/>
              <a:gd name="T15" fmla="*/ 2147483647 h 104"/>
              <a:gd name="T16" fmla="*/ 0 60000 65536"/>
              <a:gd name="T17" fmla="*/ 0 60000 65536"/>
              <a:gd name="T18" fmla="*/ 0 60000 65536"/>
              <a:gd name="T19" fmla="*/ 0 60000 65536"/>
              <a:gd name="T20" fmla="*/ 0 60000 65536"/>
              <a:gd name="T21" fmla="*/ 0 60000 65536"/>
              <a:gd name="T22" fmla="*/ 0 60000 65536"/>
              <a:gd name="T23" fmla="*/ 0 60000 65536"/>
              <a:gd name="T24" fmla="*/ 0 w 85"/>
              <a:gd name="T25" fmla="*/ 0 h 104"/>
              <a:gd name="T26" fmla="*/ 85 w 85"/>
              <a:gd name="T27" fmla="*/ 104 h 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5" h="104">
                <a:moveTo>
                  <a:pt x="29" y="7"/>
                </a:moveTo>
                <a:cubicBezTo>
                  <a:pt x="22" y="14"/>
                  <a:pt x="10" y="34"/>
                  <a:pt x="6" y="48"/>
                </a:cubicBezTo>
                <a:cubicBezTo>
                  <a:pt x="2" y="62"/>
                  <a:pt x="0" y="81"/>
                  <a:pt x="6" y="90"/>
                </a:cubicBezTo>
                <a:cubicBezTo>
                  <a:pt x="12" y="99"/>
                  <a:pt x="30" y="104"/>
                  <a:pt x="42" y="100"/>
                </a:cubicBezTo>
                <a:cubicBezTo>
                  <a:pt x="54" y="96"/>
                  <a:pt x="75" y="76"/>
                  <a:pt x="80" y="64"/>
                </a:cubicBezTo>
                <a:cubicBezTo>
                  <a:pt x="85" y="52"/>
                  <a:pt x="79" y="36"/>
                  <a:pt x="74" y="26"/>
                </a:cubicBezTo>
                <a:cubicBezTo>
                  <a:pt x="69" y="16"/>
                  <a:pt x="58" y="9"/>
                  <a:pt x="48" y="7"/>
                </a:cubicBezTo>
                <a:cubicBezTo>
                  <a:pt x="38" y="5"/>
                  <a:pt x="36" y="0"/>
                  <a:pt x="29" y="7"/>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67" name="Freeform 48"/>
          <p:cNvSpPr>
            <a:spLocks/>
          </p:cNvSpPr>
          <p:nvPr/>
        </p:nvSpPr>
        <p:spPr bwMode="auto">
          <a:xfrm>
            <a:off x="6373699" y="2270125"/>
            <a:ext cx="127000" cy="177800"/>
          </a:xfrm>
          <a:custGeom>
            <a:avLst/>
            <a:gdLst>
              <a:gd name="T0" fmla="*/ 2147483647 w 80"/>
              <a:gd name="T1" fmla="*/ 2147483647 h 112"/>
              <a:gd name="T2" fmla="*/ 2147483647 w 80"/>
              <a:gd name="T3" fmla="*/ 2147483647 h 112"/>
              <a:gd name="T4" fmla="*/ 2147483647 w 80"/>
              <a:gd name="T5" fmla="*/ 2147483647 h 112"/>
              <a:gd name="T6" fmla="*/ 2147483647 w 80"/>
              <a:gd name="T7" fmla="*/ 2147483647 h 112"/>
              <a:gd name="T8" fmla="*/ 2147483647 w 80"/>
              <a:gd name="T9" fmla="*/ 2147483647 h 112"/>
              <a:gd name="T10" fmla="*/ 2147483647 w 80"/>
              <a:gd name="T11" fmla="*/ 2147483647 h 112"/>
              <a:gd name="T12" fmla="*/ 2147483647 w 80"/>
              <a:gd name="T13" fmla="*/ 2147483647 h 112"/>
              <a:gd name="T14" fmla="*/ 2147483647 w 80"/>
              <a:gd name="T15" fmla="*/ 2147483647 h 112"/>
              <a:gd name="T16" fmla="*/ 0 60000 65536"/>
              <a:gd name="T17" fmla="*/ 0 60000 65536"/>
              <a:gd name="T18" fmla="*/ 0 60000 65536"/>
              <a:gd name="T19" fmla="*/ 0 60000 65536"/>
              <a:gd name="T20" fmla="*/ 0 60000 65536"/>
              <a:gd name="T21" fmla="*/ 0 60000 65536"/>
              <a:gd name="T22" fmla="*/ 0 60000 65536"/>
              <a:gd name="T23" fmla="*/ 0 60000 65536"/>
              <a:gd name="T24" fmla="*/ 0 w 80"/>
              <a:gd name="T25" fmla="*/ 0 h 112"/>
              <a:gd name="T26" fmla="*/ 80 w 80"/>
              <a:gd name="T27" fmla="*/ 112 h 1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0" h="112">
                <a:moveTo>
                  <a:pt x="40" y="6"/>
                </a:moveTo>
                <a:cubicBezTo>
                  <a:pt x="29" y="11"/>
                  <a:pt x="14" y="26"/>
                  <a:pt x="8" y="38"/>
                </a:cubicBezTo>
                <a:cubicBezTo>
                  <a:pt x="2" y="50"/>
                  <a:pt x="0" y="67"/>
                  <a:pt x="1" y="79"/>
                </a:cubicBezTo>
                <a:cubicBezTo>
                  <a:pt x="2" y="91"/>
                  <a:pt x="4" y="110"/>
                  <a:pt x="14" y="111"/>
                </a:cubicBezTo>
                <a:cubicBezTo>
                  <a:pt x="24" y="112"/>
                  <a:pt x="52" y="98"/>
                  <a:pt x="62" y="86"/>
                </a:cubicBezTo>
                <a:cubicBezTo>
                  <a:pt x="72" y="74"/>
                  <a:pt x="70" y="51"/>
                  <a:pt x="72" y="38"/>
                </a:cubicBezTo>
                <a:cubicBezTo>
                  <a:pt x="74" y="25"/>
                  <a:pt x="80" y="12"/>
                  <a:pt x="75" y="6"/>
                </a:cubicBezTo>
                <a:cubicBezTo>
                  <a:pt x="70" y="0"/>
                  <a:pt x="51" y="1"/>
                  <a:pt x="40" y="6"/>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68" name="Freeform 49"/>
          <p:cNvSpPr>
            <a:spLocks/>
          </p:cNvSpPr>
          <p:nvPr/>
        </p:nvSpPr>
        <p:spPr bwMode="auto">
          <a:xfrm>
            <a:off x="6486411" y="2236788"/>
            <a:ext cx="433388" cy="461962"/>
          </a:xfrm>
          <a:custGeom>
            <a:avLst/>
            <a:gdLst>
              <a:gd name="T0" fmla="*/ 2147483647 w 273"/>
              <a:gd name="T1" fmla="*/ 2147483647 h 291"/>
              <a:gd name="T2" fmla="*/ 2147483647 w 273"/>
              <a:gd name="T3" fmla="*/ 2147483647 h 291"/>
              <a:gd name="T4" fmla="*/ 2147483647 w 273"/>
              <a:gd name="T5" fmla="*/ 2147483647 h 291"/>
              <a:gd name="T6" fmla="*/ 2147483647 w 273"/>
              <a:gd name="T7" fmla="*/ 2147483647 h 291"/>
              <a:gd name="T8" fmla="*/ 2147483647 w 273"/>
              <a:gd name="T9" fmla="*/ 2147483647 h 291"/>
              <a:gd name="T10" fmla="*/ 2147483647 w 273"/>
              <a:gd name="T11" fmla="*/ 2147483647 h 291"/>
              <a:gd name="T12" fmla="*/ 2147483647 w 273"/>
              <a:gd name="T13" fmla="*/ 2147483647 h 291"/>
              <a:gd name="T14" fmla="*/ 2147483647 w 273"/>
              <a:gd name="T15" fmla="*/ 2147483647 h 291"/>
              <a:gd name="T16" fmla="*/ 2147483647 w 273"/>
              <a:gd name="T17" fmla="*/ 2147483647 h 291"/>
              <a:gd name="T18" fmla="*/ 2147483647 w 273"/>
              <a:gd name="T19" fmla="*/ 2147483647 h 291"/>
              <a:gd name="T20" fmla="*/ 2147483647 w 273"/>
              <a:gd name="T21" fmla="*/ 2147483647 h 291"/>
              <a:gd name="T22" fmla="*/ 2147483647 w 273"/>
              <a:gd name="T23" fmla="*/ 2147483647 h 291"/>
              <a:gd name="T24" fmla="*/ 2147483647 w 273"/>
              <a:gd name="T25" fmla="*/ 2147483647 h 29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3"/>
              <a:gd name="T40" fmla="*/ 0 h 291"/>
              <a:gd name="T41" fmla="*/ 273 w 273"/>
              <a:gd name="T42" fmla="*/ 291 h 29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3" h="291">
                <a:moveTo>
                  <a:pt x="55" y="23"/>
                </a:moveTo>
                <a:cubicBezTo>
                  <a:pt x="36" y="39"/>
                  <a:pt x="14" y="76"/>
                  <a:pt x="7" y="100"/>
                </a:cubicBezTo>
                <a:cubicBezTo>
                  <a:pt x="0" y="124"/>
                  <a:pt x="8" y="148"/>
                  <a:pt x="10" y="171"/>
                </a:cubicBezTo>
                <a:cubicBezTo>
                  <a:pt x="12" y="194"/>
                  <a:pt x="10" y="223"/>
                  <a:pt x="17" y="238"/>
                </a:cubicBezTo>
                <a:cubicBezTo>
                  <a:pt x="24" y="253"/>
                  <a:pt x="41" y="253"/>
                  <a:pt x="55" y="260"/>
                </a:cubicBezTo>
                <a:cubicBezTo>
                  <a:pt x="69" y="267"/>
                  <a:pt x="77" y="279"/>
                  <a:pt x="100" y="283"/>
                </a:cubicBezTo>
                <a:cubicBezTo>
                  <a:pt x="123" y="287"/>
                  <a:pt x="172" y="291"/>
                  <a:pt x="196" y="283"/>
                </a:cubicBezTo>
                <a:cubicBezTo>
                  <a:pt x="220" y="275"/>
                  <a:pt x="234" y="257"/>
                  <a:pt x="247" y="235"/>
                </a:cubicBezTo>
                <a:cubicBezTo>
                  <a:pt x="260" y="213"/>
                  <a:pt x="273" y="175"/>
                  <a:pt x="273" y="148"/>
                </a:cubicBezTo>
                <a:cubicBezTo>
                  <a:pt x="273" y="121"/>
                  <a:pt x="259" y="91"/>
                  <a:pt x="244" y="71"/>
                </a:cubicBezTo>
                <a:cubicBezTo>
                  <a:pt x="229" y="51"/>
                  <a:pt x="201" y="39"/>
                  <a:pt x="180" y="27"/>
                </a:cubicBezTo>
                <a:cubicBezTo>
                  <a:pt x="159" y="15"/>
                  <a:pt x="139" y="2"/>
                  <a:pt x="119" y="1"/>
                </a:cubicBezTo>
                <a:cubicBezTo>
                  <a:pt x="99" y="0"/>
                  <a:pt x="74" y="7"/>
                  <a:pt x="55" y="23"/>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69" name="Freeform 50"/>
          <p:cNvSpPr>
            <a:spLocks/>
          </p:cNvSpPr>
          <p:nvPr/>
        </p:nvSpPr>
        <p:spPr bwMode="auto">
          <a:xfrm>
            <a:off x="6953136" y="2217738"/>
            <a:ext cx="990600" cy="552450"/>
          </a:xfrm>
          <a:custGeom>
            <a:avLst/>
            <a:gdLst>
              <a:gd name="T0" fmla="*/ 2147483647 w 624"/>
              <a:gd name="T1" fmla="*/ 2147483647 h 348"/>
              <a:gd name="T2" fmla="*/ 2147483647 w 624"/>
              <a:gd name="T3" fmla="*/ 2147483647 h 348"/>
              <a:gd name="T4" fmla="*/ 2147483647 w 624"/>
              <a:gd name="T5" fmla="*/ 2147483647 h 348"/>
              <a:gd name="T6" fmla="*/ 2147483647 w 624"/>
              <a:gd name="T7" fmla="*/ 2147483647 h 348"/>
              <a:gd name="T8" fmla="*/ 2147483647 w 624"/>
              <a:gd name="T9" fmla="*/ 2147483647 h 348"/>
              <a:gd name="T10" fmla="*/ 2147483647 w 624"/>
              <a:gd name="T11" fmla="*/ 2147483647 h 348"/>
              <a:gd name="T12" fmla="*/ 2147483647 w 624"/>
              <a:gd name="T13" fmla="*/ 2147483647 h 348"/>
              <a:gd name="T14" fmla="*/ 2147483647 w 624"/>
              <a:gd name="T15" fmla="*/ 2147483647 h 348"/>
              <a:gd name="T16" fmla="*/ 2147483647 w 624"/>
              <a:gd name="T17" fmla="*/ 2147483647 h 348"/>
              <a:gd name="T18" fmla="*/ 2147483647 w 624"/>
              <a:gd name="T19" fmla="*/ 2147483647 h 348"/>
              <a:gd name="T20" fmla="*/ 2147483647 w 624"/>
              <a:gd name="T21" fmla="*/ 2147483647 h 348"/>
              <a:gd name="T22" fmla="*/ 2147483647 w 624"/>
              <a:gd name="T23" fmla="*/ 2147483647 h 348"/>
              <a:gd name="T24" fmla="*/ 2147483647 w 624"/>
              <a:gd name="T25" fmla="*/ 2147483647 h 348"/>
              <a:gd name="T26" fmla="*/ 2147483647 w 624"/>
              <a:gd name="T27" fmla="*/ 2147483647 h 348"/>
              <a:gd name="T28" fmla="*/ 2147483647 w 624"/>
              <a:gd name="T29" fmla="*/ 2147483647 h 348"/>
              <a:gd name="T30" fmla="*/ 2147483647 w 624"/>
              <a:gd name="T31" fmla="*/ 2147483647 h 348"/>
              <a:gd name="T32" fmla="*/ 2147483647 w 624"/>
              <a:gd name="T33" fmla="*/ 2147483647 h 3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24"/>
              <a:gd name="T52" fmla="*/ 0 h 348"/>
              <a:gd name="T53" fmla="*/ 624 w 624"/>
              <a:gd name="T54" fmla="*/ 348 h 34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24" h="348">
                <a:moveTo>
                  <a:pt x="52" y="39"/>
                </a:moveTo>
                <a:cubicBezTo>
                  <a:pt x="29" y="46"/>
                  <a:pt x="8" y="56"/>
                  <a:pt x="4" y="77"/>
                </a:cubicBezTo>
                <a:cubicBezTo>
                  <a:pt x="0" y="98"/>
                  <a:pt x="14" y="137"/>
                  <a:pt x="30" y="163"/>
                </a:cubicBezTo>
                <a:cubicBezTo>
                  <a:pt x="46" y="189"/>
                  <a:pt x="78" y="212"/>
                  <a:pt x="97" y="231"/>
                </a:cubicBezTo>
                <a:cubicBezTo>
                  <a:pt x="116" y="250"/>
                  <a:pt x="123" y="264"/>
                  <a:pt x="145" y="279"/>
                </a:cubicBezTo>
                <a:cubicBezTo>
                  <a:pt x="167" y="294"/>
                  <a:pt x="198" y="314"/>
                  <a:pt x="228" y="323"/>
                </a:cubicBezTo>
                <a:cubicBezTo>
                  <a:pt x="258" y="332"/>
                  <a:pt x="296" y="329"/>
                  <a:pt x="327" y="333"/>
                </a:cubicBezTo>
                <a:cubicBezTo>
                  <a:pt x="358" y="337"/>
                  <a:pt x="382" y="348"/>
                  <a:pt x="417" y="346"/>
                </a:cubicBezTo>
                <a:cubicBezTo>
                  <a:pt x="452" y="344"/>
                  <a:pt x="510" y="338"/>
                  <a:pt x="539" y="323"/>
                </a:cubicBezTo>
                <a:cubicBezTo>
                  <a:pt x="568" y="308"/>
                  <a:pt x="580" y="277"/>
                  <a:pt x="593" y="253"/>
                </a:cubicBezTo>
                <a:cubicBezTo>
                  <a:pt x="606" y="229"/>
                  <a:pt x="617" y="208"/>
                  <a:pt x="619" y="179"/>
                </a:cubicBezTo>
                <a:cubicBezTo>
                  <a:pt x="621" y="150"/>
                  <a:pt x="624" y="108"/>
                  <a:pt x="606" y="80"/>
                </a:cubicBezTo>
                <a:cubicBezTo>
                  <a:pt x="588" y="52"/>
                  <a:pt x="548" y="26"/>
                  <a:pt x="510" y="13"/>
                </a:cubicBezTo>
                <a:cubicBezTo>
                  <a:pt x="472" y="0"/>
                  <a:pt x="422" y="3"/>
                  <a:pt x="379" y="3"/>
                </a:cubicBezTo>
                <a:cubicBezTo>
                  <a:pt x="336" y="3"/>
                  <a:pt x="290" y="11"/>
                  <a:pt x="251" y="16"/>
                </a:cubicBezTo>
                <a:cubicBezTo>
                  <a:pt x="212" y="21"/>
                  <a:pt x="177" y="31"/>
                  <a:pt x="142" y="35"/>
                </a:cubicBezTo>
                <a:cubicBezTo>
                  <a:pt x="107" y="39"/>
                  <a:pt x="75" y="32"/>
                  <a:pt x="52" y="39"/>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70" name="Freeform 51"/>
          <p:cNvSpPr>
            <a:spLocks/>
          </p:cNvSpPr>
          <p:nvPr/>
        </p:nvSpPr>
        <p:spPr bwMode="auto">
          <a:xfrm>
            <a:off x="7483361" y="1822450"/>
            <a:ext cx="444500" cy="409575"/>
          </a:xfrm>
          <a:custGeom>
            <a:avLst/>
            <a:gdLst>
              <a:gd name="T0" fmla="*/ 2147483647 w 280"/>
              <a:gd name="T1" fmla="*/ 2147483647 h 258"/>
              <a:gd name="T2" fmla="*/ 2147483647 w 280"/>
              <a:gd name="T3" fmla="*/ 2147483647 h 258"/>
              <a:gd name="T4" fmla="*/ 2147483647 w 280"/>
              <a:gd name="T5" fmla="*/ 2147483647 h 258"/>
              <a:gd name="T6" fmla="*/ 2147483647 w 280"/>
              <a:gd name="T7" fmla="*/ 2147483647 h 258"/>
              <a:gd name="T8" fmla="*/ 2147483647 w 280"/>
              <a:gd name="T9" fmla="*/ 2147483647 h 258"/>
              <a:gd name="T10" fmla="*/ 2147483647 w 280"/>
              <a:gd name="T11" fmla="*/ 2147483647 h 258"/>
              <a:gd name="T12" fmla="*/ 2147483647 w 280"/>
              <a:gd name="T13" fmla="*/ 2147483647 h 258"/>
              <a:gd name="T14" fmla="*/ 2147483647 w 280"/>
              <a:gd name="T15" fmla="*/ 2147483647 h 258"/>
              <a:gd name="T16" fmla="*/ 2147483647 w 280"/>
              <a:gd name="T17" fmla="*/ 2147483647 h 258"/>
              <a:gd name="T18" fmla="*/ 2147483647 w 280"/>
              <a:gd name="T19" fmla="*/ 2147483647 h 258"/>
              <a:gd name="T20" fmla="*/ 2147483647 w 280"/>
              <a:gd name="T21" fmla="*/ 2147483647 h 258"/>
              <a:gd name="T22" fmla="*/ 2147483647 w 280"/>
              <a:gd name="T23" fmla="*/ 2147483647 h 2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0"/>
              <a:gd name="T37" fmla="*/ 0 h 258"/>
              <a:gd name="T38" fmla="*/ 280 w 280"/>
              <a:gd name="T39" fmla="*/ 258 h 2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0" h="258">
                <a:moveTo>
                  <a:pt x="16" y="67"/>
                </a:moveTo>
                <a:cubicBezTo>
                  <a:pt x="6" y="87"/>
                  <a:pt x="0" y="125"/>
                  <a:pt x="3" y="147"/>
                </a:cubicBezTo>
                <a:cubicBezTo>
                  <a:pt x="6" y="169"/>
                  <a:pt x="15" y="186"/>
                  <a:pt x="35" y="201"/>
                </a:cubicBezTo>
                <a:cubicBezTo>
                  <a:pt x="55" y="216"/>
                  <a:pt x="92" y="232"/>
                  <a:pt x="121" y="240"/>
                </a:cubicBezTo>
                <a:cubicBezTo>
                  <a:pt x="150" y="248"/>
                  <a:pt x="186" y="258"/>
                  <a:pt x="211" y="252"/>
                </a:cubicBezTo>
                <a:cubicBezTo>
                  <a:pt x="236" y="246"/>
                  <a:pt x="258" y="220"/>
                  <a:pt x="269" y="201"/>
                </a:cubicBezTo>
                <a:cubicBezTo>
                  <a:pt x="280" y="182"/>
                  <a:pt x="279" y="160"/>
                  <a:pt x="275" y="137"/>
                </a:cubicBezTo>
                <a:cubicBezTo>
                  <a:pt x="271" y="114"/>
                  <a:pt x="260" y="81"/>
                  <a:pt x="246" y="60"/>
                </a:cubicBezTo>
                <a:cubicBezTo>
                  <a:pt x="232" y="39"/>
                  <a:pt x="211" y="18"/>
                  <a:pt x="192" y="9"/>
                </a:cubicBezTo>
                <a:cubicBezTo>
                  <a:pt x="173" y="0"/>
                  <a:pt x="153" y="3"/>
                  <a:pt x="131" y="6"/>
                </a:cubicBezTo>
                <a:cubicBezTo>
                  <a:pt x="109" y="9"/>
                  <a:pt x="81" y="15"/>
                  <a:pt x="61" y="25"/>
                </a:cubicBezTo>
                <a:cubicBezTo>
                  <a:pt x="41" y="35"/>
                  <a:pt x="26" y="47"/>
                  <a:pt x="16" y="67"/>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71" name="Freeform 52"/>
          <p:cNvSpPr>
            <a:spLocks/>
          </p:cNvSpPr>
          <p:nvPr/>
        </p:nvSpPr>
        <p:spPr bwMode="auto">
          <a:xfrm>
            <a:off x="7294449" y="1992313"/>
            <a:ext cx="242887" cy="234950"/>
          </a:xfrm>
          <a:custGeom>
            <a:avLst/>
            <a:gdLst>
              <a:gd name="T0" fmla="*/ 2147483647 w 153"/>
              <a:gd name="T1" fmla="*/ 2147483647 h 148"/>
              <a:gd name="T2" fmla="*/ 2147483647 w 153"/>
              <a:gd name="T3" fmla="*/ 2147483647 h 148"/>
              <a:gd name="T4" fmla="*/ 2147483647 w 153"/>
              <a:gd name="T5" fmla="*/ 2147483647 h 148"/>
              <a:gd name="T6" fmla="*/ 2147483647 w 153"/>
              <a:gd name="T7" fmla="*/ 2147483647 h 148"/>
              <a:gd name="T8" fmla="*/ 2147483647 w 153"/>
              <a:gd name="T9" fmla="*/ 2147483647 h 148"/>
              <a:gd name="T10" fmla="*/ 2147483647 w 153"/>
              <a:gd name="T11" fmla="*/ 2147483647 h 148"/>
              <a:gd name="T12" fmla="*/ 2147483647 w 153"/>
              <a:gd name="T13" fmla="*/ 2147483647 h 148"/>
              <a:gd name="T14" fmla="*/ 2147483647 w 153"/>
              <a:gd name="T15" fmla="*/ 2147483647 h 148"/>
              <a:gd name="T16" fmla="*/ 2147483647 w 153"/>
              <a:gd name="T17" fmla="*/ 2147483647 h 1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148"/>
              <a:gd name="T29" fmla="*/ 153 w 153"/>
              <a:gd name="T30" fmla="*/ 148 h 1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148">
                <a:moveTo>
                  <a:pt x="45" y="5"/>
                </a:moveTo>
                <a:cubicBezTo>
                  <a:pt x="31" y="10"/>
                  <a:pt x="13" y="23"/>
                  <a:pt x="7" y="40"/>
                </a:cubicBezTo>
                <a:cubicBezTo>
                  <a:pt x="1" y="57"/>
                  <a:pt x="0" y="90"/>
                  <a:pt x="10" y="107"/>
                </a:cubicBezTo>
                <a:cubicBezTo>
                  <a:pt x="20" y="124"/>
                  <a:pt x="46" y="142"/>
                  <a:pt x="68" y="145"/>
                </a:cubicBezTo>
                <a:cubicBezTo>
                  <a:pt x="90" y="148"/>
                  <a:pt x="129" y="136"/>
                  <a:pt x="141" y="126"/>
                </a:cubicBezTo>
                <a:cubicBezTo>
                  <a:pt x="153" y="116"/>
                  <a:pt x="141" y="100"/>
                  <a:pt x="138" y="85"/>
                </a:cubicBezTo>
                <a:cubicBezTo>
                  <a:pt x="135" y="70"/>
                  <a:pt x="130" y="46"/>
                  <a:pt x="122" y="33"/>
                </a:cubicBezTo>
                <a:cubicBezTo>
                  <a:pt x="114" y="20"/>
                  <a:pt x="104" y="13"/>
                  <a:pt x="90" y="8"/>
                </a:cubicBezTo>
                <a:cubicBezTo>
                  <a:pt x="76" y="3"/>
                  <a:pt x="59" y="0"/>
                  <a:pt x="45" y="5"/>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72" name="Freeform 53"/>
          <p:cNvSpPr>
            <a:spLocks/>
          </p:cNvSpPr>
          <p:nvPr/>
        </p:nvSpPr>
        <p:spPr bwMode="auto">
          <a:xfrm>
            <a:off x="6659449" y="1755775"/>
            <a:ext cx="646112" cy="493713"/>
          </a:xfrm>
          <a:custGeom>
            <a:avLst/>
            <a:gdLst>
              <a:gd name="T0" fmla="*/ 2147483647 w 407"/>
              <a:gd name="T1" fmla="*/ 2147483647 h 311"/>
              <a:gd name="T2" fmla="*/ 2147483647 w 407"/>
              <a:gd name="T3" fmla="*/ 2147483647 h 311"/>
              <a:gd name="T4" fmla="*/ 2147483647 w 407"/>
              <a:gd name="T5" fmla="*/ 0 h 311"/>
              <a:gd name="T6" fmla="*/ 2147483647 w 407"/>
              <a:gd name="T7" fmla="*/ 2147483647 h 311"/>
              <a:gd name="T8" fmla="*/ 2147483647 w 407"/>
              <a:gd name="T9" fmla="*/ 2147483647 h 311"/>
              <a:gd name="T10" fmla="*/ 2147483647 w 407"/>
              <a:gd name="T11" fmla="*/ 2147483647 h 311"/>
              <a:gd name="T12" fmla="*/ 2147483647 w 407"/>
              <a:gd name="T13" fmla="*/ 2147483647 h 311"/>
              <a:gd name="T14" fmla="*/ 2147483647 w 407"/>
              <a:gd name="T15" fmla="*/ 2147483647 h 311"/>
              <a:gd name="T16" fmla="*/ 2147483647 w 407"/>
              <a:gd name="T17" fmla="*/ 2147483647 h 311"/>
              <a:gd name="T18" fmla="*/ 2147483647 w 407"/>
              <a:gd name="T19" fmla="*/ 2147483647 h 311"/>
              <a:gd name="T20" fmla="*/ 2147483647 w 407"/>
              <a:gd name="T21" fmla="*/ 2147483647 h 311"/>
              <a:gd name="T22" fmla="*/ 2147483647 w 407"/>
              <a:gd name="T23" fmla="*/ 2147483647 h 311"/>
              <a:gd name="T24" fmla="*/ 2147483647 w 407"/>
              <a:gd name="T25" fmla="*/ 2147483647 h 311"/>
              <a:gd name="T26" fmla="*/ 2147483647 w 407"/>
              <a:gd name="T27" fmla="*/ 2147483647 h 3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7"/>
              <a:gd name="T43" fmla="*/ 0 h 311"/>
              <a:gd name="T44" fmla="*/ 407 w 407"/>
              <a:gd name="T45" fmla="*/ 311 h 3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7" h="311">
                <a:moveTo>
                  <a:pt x="308" y="51"/>
                </a:moveTo>
                <a:cubicBezTo>
                  <a:pt x="287" y="36"/>
                  <a:pt x="262" y="27"/>
                  <a:pt x="237" y="19"/>
                </a:cubicBezTo>
                <a:cubicBezTo>
                  <a:pt x="212" y="11"/>
                  <a:pt x="191" y="0"/>
                  <a:pt x="157" y="0"/>
                </a:cubicBezTo>
                <a:cubicBezTo>
                  <a:pt x="123" y="0"/>
                  <a:pt x="57" y="1"/>
                  <a:pt x="32" y="19"/>
                </a:cubicBezTo>
                <a:cubicBezTo>
                  <a:pt x="7" y="37"/>
                  <a:pt x="8" y="83"/>
                  <a:pt x="4" y="109"/>
                </a:cubicBezTo>
                <a:cubicBezTo>
                  <a:pt x="0" y="135"/>
                  <a:pt x="0" y="149"/>
                  <a:pt x="10" y="173"/>
                </a:cubicBezTo>
                <a:cubicBezTo>
                  <a:pt x="20" y="197"/>
                  <a:pt x="38" y="230"/>
                  <a:pt x="64" y="250"/>
                </a:cubicBezTo>
                <a:cubicBezTo>
                  <a:pt x="90" y="270"/>
                  <a:pt x="138" y="284"/>
                  <a:pt x="167" y="294"/>
                </a:cubicBezTo>
                <a:cubicBezTo>
                  <a:pt x="196" y="304"/>
                  <a:pt x="212" y="311"/>
                  <a:pt x="237" y="310"/>
                </a:cubicBezTo>
                <a:cubicBezTo>
                  <a:pt x="262" y="309"/>
                  <a:pt x="296" y="300"/>
                  <a:pt x="317" y="288"/>
                </a:cubicBezTo>
                <a:cubicBezTo>
                  <a:pt x="338" y="276"/>
                  <a:pt x="350" y="258"/>
                  <a:pt x="365" y="240"/>
                </a:cubicBezTo>
                <a:cubicBezTo>
                  <a:pt x="380" y="222"/>
                  <a:pt x="407" y="201"/>
                  <a:pt x="407" y="179"/>
                </a:cubicBezTo>
                <a:cubicBezTo>
                  <a:pt x="407" y="157"/>
                  <a:pt x="382" y="131"/>
                  <a:pt x="365" y="109"/>
                </a:cubicBezTo>
                <a:cubicBezTo>
                  <a:pt x="348" y="87"/>
                  <a:pt x="329" y="66"/>
                  <a:pt x="308" y="51"/>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73" name="Freeform 54"/>
          <p:cNvSpPr>
            <a:spLocks/>
          </p:cNvSpPr>
          <p:nvPr/>
        </p:nvSpPr>
        <p:spPr bwMode="auto">
          <a:xfrm>
            <a:off x="6435611" y="1982788"/>
            <a:ext cx="268288" cy="255587"/>
          </a:xfrm>
          <a:custGeom>
            <a:avLst/>
            <a:gdLst>
              <a:gd name="T0" fmla="*/ 2147483647 w 169"/>
              <a:gd name="T1" fmla="*/ 2147483647 h 161"/>
              <a:gd name="T2" fmla="*/ 2147483647 w 169"/>
              <a:gd name="T3" fmla="*/ 2147483647 h 161"/>
              <a:gd name="T4" fmla="*/ 2147483647 w 169"/>
              <a:gd name="T5" fmla="*/ 2147483647 h 161"/>
              <a:gd name="T6" fmla="*/ 2147483647 w 169"/>
              <a:gd name="T7" fmla="*/ 2147483647 h 161"/>
              <a:gd name="T8" fmla="*/ 2147483647 w 169"/>
              <a:gd name="T9" fmla="*/ 2147483647 h 161"/>
              <a:gd name="T10" fmla="*/ 2147483647 w 169"/>
              <a:gd name="T11" fmla="*/ 2147483647 h 161"/>
              <a:gd name="T12" fmla="*/ 2147483647 w 169"/>
              <a:gd name="T13" fmla="*/ 2147483647 h 161"/>
              <a:gd name="T14" fmla="*/ 2147483647 w 169"/>
              <a:gd name="T15" fmla="*/ 2147483647 h 161"/>
              <a:gd name="T16" fmla="*/ 2147483647 w 169"/>
              <a:gd name="T17" fmla="*/ 2147483647 h 1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9"/>
              <a:gd name="T28" fmla="*/ 0 h 161"/>
              <a:gd name="T29" fmla="*/ 169 w 169"/>
              <a:gd name="T30" fmla="*/ 161 h 16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9" h="161">
                <a:moveTo>
                  <a:pt x="113" y="4"/>
                </a:moveTo>
                <a:cubicBezTo>
                  <a:pt x="91" y="0"/>
                  <a:pt x="45" y="15"/>
                  <a:pt x="26" y="27"/>
                </a:cubicBezTo>
                <a:cubicBezTo>
                  <a:pt x="7" y="39"/>
                  <a:pt x="2" y="58"/>
                  <a:pt x="1" y="75"/>
                </a:cubicBezTo>
                <a:cubicBezTo>
                  <a:pt x="0" y="92"/>
                  <a:pt x="3" y="118"/>
                  <a:pt x="17" y="132"/>
                </a:cubicBezTo>
                <a:cubicBezTo>
                  <a:pt x="31" y="146"/>
                  <a:pt x="65" y="155"/>
                  <a:pt x="87" y="158"/>
                </a:cubicBezTo>
                <a:cubicBezTo>
                  <a:pt x="109" y="161"/>
                  <a:pt x="135" y="159"/>
                  <a:pt x="148" y="148"/>
                </a:cubicBezTo>
                <a:cubicBezTo>
                  <a:pt x="161" y="137"/>
                  <a:pt x="165" y="107"/>
                  <a:pt x="167" y="91"/>
                </a:cubicBezTo>
                <a:cubicBezTo>
                  <a:pt x="169" y="75"/>
                  <a:pt x="167" y="68"/>
                  <a:pt x="157" y="52"/>
                </a:cubicBezTo>
                <a:cubicBezTo>
                  <a:pt x="147" y="36"/>
                  <a:pt x="135" y="8"/>
                  <a:pt x="113" y="4"/>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74" name="Freeform 55"/>
          <p:cNvSpPr>
            <a:spLocks/>
          </p:cNvSpPr>
          <p:nvPr/>
        </p:nvSpPr>
        <p:spPr bwMode="auto">
          <a:xfrm>
            <a:off x="5916499" y="1703388"/>
            <a:ext cx="603250" cy="533400"/>
          </a:xfrm>
          <a:custGeom>
            <a:avLst/>
            <a:gdLst>
              <a:gd name="T0" fmla="*/ 2147483647 w 380"/>
              <a:gd name="T1" fmla="*/ 2147483647 h 336"/>
              <a:gd name="T2" fmla="*/ 2147483647 w 380"/>
              <a:gd name="T3" fmla="*/ 2147483647 h 336"/>
              <a:gd name="T4" fmla="*/ 2147483647 w 380"/>
              <a:gd name="T5" fmla="*/ 2147483647 h 336"/>
              <a:gd name="T6" fmla="*/ 2147483647 w 380"/>
              <a:gd name="T7" fmla="*/ 2147483647 h 336"/>
              <a:gd name="T8" fmla="*/ 2147483647 w 380"/>
              <a:gd name="T9" fmla="*/ 2147483647 h 336"/>
              <a:gd name="T10" fmla="*/ 2147483647 w 380"/>
              <a:gd name="T11" fmla="*/ 2147483647 h 336"/>
              <a:gd name="T12" fmla="*/ 2147483647 w 380"/>
              <a:gd name="T13" fmla="*/ 2147483647 h 336"/>
              <a:gd name="T14" fmla="*/ 2147483647 w 380"/>
              <a:gd name="T15" fmla="*/ 2147483647 h 336"/>
              <a:gd name="T16" fmla="*/ 2147483647 w 380"/>
              <a:gd name="T17" fmla="*/ 2147483647 h 336"/>
              <a:gd name="T18" fmla="*/ 2147483647 w 380"/>
              <a:gd name="T19" fmla="*/ 2147483647 h 336"/>
              <a:gd name="T20" fmla="*/ 2147483647 w 380"/>
              <a:gd name="T21" fmla="*/ 2147483647 h 336"/>
              <a:gd name="T22" fmla="*/ 2147483647 w 380"/>
              <a:gd name="T23" fmla="*/ 2147483647 h 336"/>
              <a:gd name="T24" fmla="*/ 2147483647 w 380"/>
              <a:gd name="T25" fmla="*/ 2147483647 h 336"/>
              <a:gd name="T26" fmla="*/ 2147483647 w 380"/>
              <a:gd name="T27" fmla="*/ 2147483647 h 336"/>
              <a:gd name="T28" fmla="*/ 2147483647 w 380"/>
              <a:gd name="T29" fmla="*/ 2147483647 h 3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80"/>
              <a:gd name="T46" fmla="*/ 0 h 336"/>
              <a:gd name="T47" fmla="*/ 380 w 380"/>
              <a:gd name="T48" fmla="*/ 336 h 3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80" h="336">
                <a:moveTo>
                  <a:pt x="337" y="55"/>
                </a:moveTo>
                <a:cubicBezTo>
                  <a:pt x="319" y="40"/>
                  <a:pt x="298" y="28"/>
                  <a:pt x="273" y="20"/>
                </a:cubicBezTo>
                <a:cubicBezTo>
                  <a:pt x="248" y="12"/>
                  <a:pt x="213" y="0"/>
                  <a:pt x="184" y="7"/>
                </a:cubicBezTo>
                <a:cubicBezTo>
                  <a:pt x="155" y="14"/>
                  <a:pt x="118" y="39"/>
                  <a:pt x="97" y="62"/>
                </a:cubicBezTo>
                <a:cubicBezTo>
                  <a:pt x="76" y="85"/>
                  <a:pt x="70" y="121"/>
                  <a:pt x="56" y="145"/>
                </a:cubicBezTo>
                <a:cubicBezTo>
                  <a:pt x="42" y="169"/>
                  <a:pt x="18" y="184"/>
                  <a:pt x="11" y="206"/>
                </a:cubicBezTo>
                <a:cubicBezTo>
                  <a:pt x="4" y="228"/>
                  <a:pt x="11" y="260"/>
                  <a:pt x="11" y="279"/>
                </a:cubicBezTo>
                <a:cubicBezTo>
                  <a:pt x="11" y="298"/>
                  <a:pt x="0" y="312"/>
                  <a:pt x="11" y="321"/>
                </a:cubicBezTo>
                <a:cubicBezTo>
                  <a:pt x="22" y="330"/>
                  <a:pt x="52" y="332"/>
                  <a:pt x="75" y="334"/>
                </a:cubicBezTo>
                <a:cubicBezTo>
                  <a:pt x="98" y="336"/>
                  <a:pt x="119" y="334"/>
                  <a:pt x="148" y="331"/>
                </a:cubicBezTo>
                <a:cubicBezTo>
                  <a:pt x="177" y="328"/>
                  <a:pt x="223" y="329"/>
                  <a:pt x="248" y="315"/>
                </a:cubicBezTo>
                <a:cubicBezTo>
                  <a:pt x="273" y="301"/>
                  <a:pt x="282" y="269"/>
                  <a:pt x="299" y="244"/>
                </a:cubicBezTo>
                <a:cubicBezTo>
                  <a:pt x="316" y="219"/>
                  <a:pt x="340" y="190"/>
                  <a:pt x="353" y="167"/>
                </a:cubicBezTo>
                <a:cubicBezTo>
                  <a:pt x="366" y="144"/>
                  <a:pt x="380" y="125"/>
                  <a:pt x="379" y="107"/>
                </a:cubicBezTo>
                <a:cubicBezTo>
                  <a:pt x="378" y="89"/>
                  <a:pt x="355" y="70"/>
                  <a:pt x="337" y="55"/>
                </a:cubicBezTo>
                <a:close/>
              </a:path>
            </a:pathLst>
          </a:custGeom>
          <a:solidFill>
            <a:schemeClr val="accent6">
              <a:lumMod val="40000"/>
              <a:lumOff val="60000"/>
            </a:schemeClr>
          </a:solidFill>
          <a:ln w="9525">
            <a:solidFill>
              <a:schemeClr val="tx1"/>
            </a:solidFill>
            <a:round/>
            <a:headEnd/>
            <a:tailEnd/>
          </a:ln>
        </p:spPr>
        <p:txBody>
          <a:bodyPr/>
          <a:lstStyle/>
          <a:p>
            <a:endParaRPr lang="zh-CN" altLang="en-US"/>
          </a:p>
        </p:txBody>
      </p:sp>
      <p:sp>
        <p:nvSpPr>
          <p:cNvPr id="56375" name="AutoShape 56"/>
          <p:cNvSpPr>
            <a:spLocks noChangeArrowheads="1"/>
          </p:cNvSpPr>
          <p:nvPr/>
        </p:nvSpPr>
        <p:spPr bwMode="auto">
          <a:xfrm flipV="1">
            <a:off x="8188211" y="3960813"/>
            <a:ext cx="122238" cy="96837"/>
          </a:xfrm>
          <a:prstGeom prst="triangle">
            <a:avLst>
              <a:gd name="adj" fmla="val 50000"/>
            </a:avLst>
          </a:prstGeom>
          <a:solidFill>
            <a:schemeClr val="bg1"/>
          </a:solidFill>
          <a:ln w="9525">
            <a:solidFill>
              <a:schemeClr val="tx1"/>
            </a:solidFill>
            <a:miter lim="800000"/>
            <a:headEnd/>
            <a:tailEnd/>
          </a:ln>
        </p:spPr>
        <p:txBody>
          <a:bodyPr wrap="none" anchor="ctr"/>
          <a:lstStyle/>
          <a:p>
            <a:endParaRPr lang="zh-CN" altLang="en-US"/>
          </a:p>
        </p:txBody>
      </p:sp>
      <p:sp>
        <p:nvSpPr>
          <p:cNvPr id="56376" name="Line 57"/>
          <p:cNvSpPr>
            <a:spLocks noChangeShapeType="1"/>
          </p:cNvSpPr>
          <p:nvPr/>
        </p:nvSpPr>
        <p:spPr bwMode="auto">
          <a:xfrm>
            <a:off x="8143761" y="4108450"/>
            <a:ext cx="26352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77" name="Line 58"/>
          <p:cNvSpPr>
            <a:spLocks noChangeShapeType="1"/>
          </p:cNvSpPr>
          <p:nvPr/>
        </p:nvSpPr>
        <p:spPr bwMode="auto">
          <a:xfrm>
            <a:off x="8215199" y="4143375"/>
            <a:ext cx="166687"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78" name="Line 59"/>
          <p:cNvSpPr>
            <a:spLocks noChangeShapeType="1"/>
          </p:cNvSpPr>
          <p:nvPr/>
        </p:nvSpPr>
        <p:spPr bwMode="auto">
          <a:xfrm>
            <a:off x="8265999" y="4178300"/>
            <a:ext cx="90487"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79" name="Line 60"/>
          <p:cNvSpPr>
            <a:spLocks noChangeShapeType="1"/>
          </p:cNvSpPr>
          <p:nvPr/>
        </p:nvSpPr>
        <p:spPr bwMode="auto">
          <a:xfrm>
            <a:off x="8239011" y="2251075"/>
            <a:ext cx="314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80" name="Line 61"/>
          <p:cNvSpPr>
            <a:spLocks noChangeShapeType="1"/>
          </p:cNvSpPr>
          <p:nvPr/>
        </p:nvSpPr>
        <p:spPr bwMode="auto">
          <a:xfrm>
            <a:off x="8446974" y="2257425"/>
            <a:ext cx="0" cy="1803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81" name="Line 62"/>
          <p:cNvSpPr>
            <a:spLocks noChangeShapeType="1"/>
          </p:cNvSpPr>
          <p:nvPr/>
        </p:nvSpPr>
        <p:spPr bwMode="auto">
          <a:xfrm flipH="1">
            <a:off x="7864361" y="4065588"/>
            <a:ext cx="722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82" name="Text Box 63"/>
          <p:cNvSpPr txBox="1">
            <a:spLocks noChangeArrowheads="1"/>
          </p:cNvSpPr>
          <p:nvPr/>
        </p:nvSpPr>
        <p:spPr bwMode="auto">
          <a:xfrm>
            <a:off x="8200911" y="2846388"/>
            <a:ext cx="488950" cy="519112"/>
          </a:xfrm>
          <a:prstGeom prst="rect">
            <a:avLst/>
          </a:prstGeom>
          <a:solidFill>
            <a:schemeClr val="accent5">
              <a:lumMod val="40000"/>
              <a:lumOff val="60000"/>
            </a:schemeClr>
          </a:solidFill>
          <a:ln>
            <a:noFill/>
          </a:ln>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800" b="1" i="1" dirty="0" err="1">
                <a:ea typeface="幼圆" pitchFamily="49" charset="-122"/>
              </a:rPr>
              <a:t>h</a:t>
            </a:r>
            <a:r>
              <a:rPr lang="en-US" altLang="zh-CN" sz="2800" b="1" i="1" baseline="-25000" dirty="0" err="1">
                <a:ea typeface="幼圆" pitchFamily="49" charset="-122"/>
              </a:rPr>
              <a:t>c</a:t>
            </a:r>
            <a:endParaRPr lang="en-US" altLang="zh-CN" sz="2800" b="1" i="1" baseline="-25000" dirty="0">
              <a:ea typeface="幼圆" pitchFamily="49" charset="-122"/>
            </a:endParaRPr>
          </a:p>
        </p:txBody>
      </p:sp>
      <p:sp>
        <p:nvSpPr>
          <p:cNvPr id="56383" name="Text Box 64"/>
          <p:cNvSpPr txBox="1">
            <a:spLocks noChangeArrowheads="1"/>
          </p:cNvSpPr>
          <p:nvPr/>
        </p:nvSpPr>
        <p:spPr bwMode="auto">
          <a:xfrm>
            <a:off x="6846774" y="1160463"/>
            <a:ext cx="950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ea typeface="幼圆" pitchFamily="49" charset="-122"/>
              </a:rPr>
              <a:t>毛细水</a:t>
            </a:r>
          </a:p>
        </p:txBody>
      </p:sp>
      <p:sp>
        <p:nvSpPr>
          <p:cNvPr id="56384" name="Line 65"/>
          <p:cNvSpPr>
            <a:spLocks noChangeShapeType="1"/>
          </p:cNvSpPr>
          <p:nvPr/>
        </p:nvSpPr>
        <p:spPr bwMode="auto">
          <a:xfrm flipH="1">
            <a:off x="6949961" y="1571625"/>
            <a:ext cx="234950" cy="995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85" name="Text Box 66"/>
          <p:cNvSpPr txBox="1">
            <a:spLocks noChangeArrowheads="1"/>
          </p:cNvSpPr>
          <p:nvPr/>
        </p:nvSpPr>
        <p:spPr bwMode="auto">
          <a:xfrm>
            <a:off x="6572136" y="4852988"/>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ea typeface="幼圆" pitchFamily="49" charset="-122"/>
              </a:rPr>
              <a:t>重力水</a:t>
            </a:r>
          </a:p>
        </p:txBody>
      </p:sp>
      <p:sp>
        <p:nvSpPr>
          <p:cNvPr id="56386" name="Line 67"/>
          <p:cNvSpPr>
            <a:spLocks noChangeShapeType="1"/>
          </p:cNvSpPr>
          <p:nvPr/>
        </p:nvSpPr>
        <p:spPr bwMode="auto">
          <a:xfrm>
            <a:off x="6270511" y="4297363"/>
            <a:ext cx="314325" cy="741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中水</a:t>
            </a:r>
          </a:p>
        </p:txBody>
      </p:sp>
    </p:spTree>
    <p:extLst>
      <p:ext uri="{BB962C8B-B14F-4D97-AF65-F5344CB8AC3E}">
        <p14:creationId xmlns:p14="http://schemas.microsoft.com/office/powerpoint/2010/main" val="1006944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71144"/>
                                        </p:tgtEl>
                                        <p:attrNameLst>
                                          <p:attrName>style.visibility</p:attrName>
                                        </p:attrNameLst>
                                      </p:cBhvr>
                                      <p:to>
                                        <p:strVal val="visible"/>
                                      </p:to>
                                    </p:set>
                                    <p:anim calcmode="lin" valueType="num">
                                      <p:cBhvr additive="base">
                                        <p:cTn id="7" dur="2000" fill="hold"/>
                                        <p:tgtEl>
                                          <p:spTgt spid="1371144"/>
                                        </p:tgtEl>
                                        <p:attrNameLst>
                                          <p:attrName>ppt_x</p:attrName>
                                        </p:attrNameLst>
                                      </p:cBhvr>
                                      <p:tavLst>
                                        <p:tav tm="0">
                                          <p:val>
                                            <p:strVal val="0-#ppt_w/2"/>
                                          </p:val>
                                        </p:tav>
                                        <p:tav tm="100000">
                                          <p:val>
                                            <p:strVal val="#ppt_x"/>
                                          </p:val>
                                        </p:tav>
                                      </p:tavLst>
                                    </p:anim>
                                    <p:anim calcmode="lin" valueType="num">
                                      <p:cBhvr additive="base">
                                        <p:cTn id="8" dur="2000" fill="hold"/>
                                        <p:tgtEl>
                                          <p:spTgt spid="13711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114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5" name="Picture 13" descr="http://img.pconline.com.cn/images/upload/upc/tx/itbbs/1205/23/c1/11717781_1337747299515_1_1024x1024it.jpg"/>
          <p:cNvPicPr>
            <a:picLocks noChangeAspect="1" noChangeArrowheads="1"/>
          </p:cNvPicPr>
          <p:nvPr/>
        </p:nvPicPr>
        <p:blipFill rotWithShape="1">
          <a:blip r:embed="rId3">
            <a:extLst>
              <a:ext uri="{28A0092B-C50C-407E-A947-70E740481C1C}">
                <a14:useLocalDpi xmlns:a14="http://schemas.microsoft.com/office/drawing/2010/main" val="0"/>
              </a:ext>
            </a:extLst>
          </a:blip>
          <a:srcRect l="5765" t="35480" r="12353" b="15475"/>
          <a:stretch/>
        </p:blipFill>
        <p:spPr bwMode="auto">
          <a:xfrm>
            <a:off x="469900" y="711200"/>
            <a:ext cx="4318000" cy="2164640"/>
          </a:xfrm>
          <a:prstGeom prst="rect">
            <a:avLst/>
          </a:prstGeom>
          <a:noFill/>
          <a:extLst>
            <a:ext uri="{909E8E84-426E-40DD-AFC4-6F175D3DCCD1}">
              <a14:hiddenFill xmlns:a14="http://schemas.microsoft.com/office/drawing/2010/main">
                <a:solidFill>
                  <a:srgbClr val="FFFFFF"/>
                </a:solidFill>
              </a14:hiddenFill>
            </a:ext>
          </a:extLst>
        </p:spPr>
      </p:pic>
      <p:sp>
        <p:nvSpPr>
          <p:cNvPr id="1372169" name="Text Box 9"/>
          <p:cNvSpPr txBox="1">
            <a:spLocks noChangeArrowheads="1"/>
          </p:cNvSpPr>
          <p:nvPr/>
        </p:nvSpPr>
        <p:spPr bwMode="auto">
          <a:xfrm>
            <a:off x="5562600" y="1209675"/>
            <a:ext cx="27051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dirty="0">
                <a:solidFill>
                  <a:srgbClr val="C00000"/>
                </a:solidFill>
                <a:ea typeface="黑体" pitchFamily="2" charset="-122"/>
              </a:rPr>
              <a:t>水</a:t>
            </a:r>
            <a:r>
              <a:rPr lang="zh-CN" altLang="en-US" sz="2400" b="1" dirty="0" smtClean="0">
                <a:solidFill>
                  <a:srgbClr val="C00000"/>
                </a:solidFill>
                <a:ea typeface="黑体" pitchFamily="2" charset="-122"/>
              </a:rPr>
              <a:t>黾 </a:t>
            </a:r>
            <a:r>
              <a:rPr lang="en-US" altLang="zh-CN" sz="2400" b="1" dirty="0" smtClean="0">
                <a:solidFill>
                  <a:srgbClr val="C00000"/>
                </a:solidFill>
                <a:ea typeface="黑体" pitchFamily="2" charset="-122"/>
              </a:rPr>
              <a:t>– </a:t>
            </a:r>
            <a:br>
              <a:rPr lang="en-US" altLang="zh-CN" sz="2400" b="1" dirty="0" smtClean="0">
                <a:solidFill>
                  <a:srgbClr val="C00000"/>
                </a:solidFill>
                <a:ea typeface="黑体" pitchFamily="2" charset="-122"/>
              </a:rPr>
            </a:br>
            <a:r>
              <a:rPr lang="zh-CN" altLang="en-US" sz="2400" b="1" dirty="0" smtClean="0">
                <a:solidFill>
                  <a:srgbClr val="C00000"/>
                </a:solidFill>
                <a:ea typeface="黑体" pitchFamily="2" charset="-122"/>
              </a:rPr>
              <a:t>一种生活</a:t>
            </a:r>
            <a:r>
              <a:rPr lang="zh-CN" altLang="en-US" sz="2400" b="1" dirty="0">
                <a:solidFill>
                  <a:srgbClr val="C00000"/>
                </a:solidFill>
                <a:ea typeface="黑体" pitchFamily="2" charset="-122"/>
              </a:rPr>
              <a:t>在水面收缩</a:t>
            </a:r>
            <a:r>
              <a:rPr lang="zh-CN" altLang="en-US" sz="2400" b="1" dirty="0" smtClean="0">
                <a:solidFill>
                  <a:srgbClr val="C00000"/>
                </a:solidFill>
                <a:ea typeface="黑体" pitchFamily="2" charset="-122"/>
              </a:rPr>
              <a:t>膜顶面的</a:t>
            </a:r>
            <a:r>
              <a:rPr lang="zh-CN" altLang="en-US" sz="2400" b="1" dirty="0">
                <a:solidFill>
                  <a:srgbClr val="C00000"/>
                </a:solidFill>
                <a:ea typeface="黑体" pitchFamily="2" charset="-122"/>
              </a:rPr>
              <a:t>昆虫</a:t>
            </a:r>
          </a:p>
        </p:txBody>
      </p:sp>
      <p:sp>
        <p:nvSpPr>
          <p:cNvPr id="57352" name="Text Box 68"/>
          <p:cNvSpPr txBox="1">
            <a:spLocks noChangeArrowheads="1"/>
          </p:cNvSpPr>
          <p:nvPr/>
        </p:nvSpPr>
        <p:spPr bwMode="auto">
          <a:xfrm>
            <a:off x="3151637" y="5727280"/>
            <a:ext cx="23542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Arial" charset="0"/>
                <a:ea typeface="黑体" pitchFamily="2" charset="-122"/>
              </a:rPr>
              <a:t>界面张力</a:t>
            </a:r>
          </a:p>
        </p:txBody>
      </p:sp>
      <p:sp>
        <p:nvSpPr>
          <p:cNvPr id="63"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中水</a:t>
            </a:r>
          </a:p>
        </p:txBody>
      </p:sp>
      <p:grpSp>
        <p:nvGrpSpPr>
          <p:cNvPr id="2" name="组合 1"/>
          <p:cNvGrpSpPr/>
          <p:nvPr/>
        </p:nvGrpSpPr>
        <p:grpSpPr>
          <a:xfrm>
            <a:off x="465734" y="3639603"/>
            <a:ext cx="4165465" cy="1943100"/>
            <a:chOff x="465734" y="3639603"/>
            <a:chExt cx="4165465" cy="1943100"/>
          </a:xfrm>
        </p:grpSpPr>
        <p:sp>
          <p:nvSpPr>
            <p:cNvPr id="70" name="弧形 69"/>
            <p:cNvSpPr/>
            <p:nvPr/>
          </p:nvSpPr>
          <p:spPr bwMode="auto">
            <a:xfrm>
              <a:off x="1447257" y="3639603"/>
              <a:ext cx="2933700" cy="1943100"/>
            </a:xfrm>
            <a:prstGeom prst="arc">
              <a:avLst>
                <a:gd name="adj1" fmla="val 11216535"/>
                <a:gd name="adj2" fmla="val 21185025"/>
              </a:avLst>
            </a:prstGeom>
            <a:solidFill>
              <a:srgbClr val="71C2FF"/>
            </a:solid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71" name="矩形 70"/>
            <p:cNvSpPr/>
            <p:nvPr/>
          </p:nvSpPr>
          <p:spPr bwMode="auto">
            <a:xfrm>
              <a:off x="465735" y="4451154"/>
              <a:ext cx="4165464" cy="512423"/>
            </a:xfrm>
            <a:prstGeom prst="rect">
              <a:avLst/>
            </a:prstGeom>
            <a:solidFill>
              <a:srgbClr val="FFCC99"/>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72" name="TextBox 71"/>
            <p:cNvSpPr txBox="1"/>
            <p:nvPr/>
          </p:nvSpPr>
          <p:spPr>
            <a:xfrm>
              <a:off x="2508233" y="3827515"/>
              <a:ext cx="803425" cy="479298"/>
            </a:xfrm>
            <a:prstGeom prst="rect">
              <a:avLst/>
            </a:prstGeom>
            <a:noFill/>
          </p:spPr>
          <p:txBody>
            <a:bodyPr wrap="none" rtlCol="0">
              <a:spAutoFit/>
            </a:bodyPr>
            <a:lstStyle/>
            <a:p>
              <a:r>
                <a:rPr lang="zh-CN" altLang="en-US" sz="2400" b="1" dirty="0">
                  <a:solidFill>
                    <a:srgbClr val="C00000"/>
                  </a:solidFill>
                </a:rPr>
                <a:t>水</a:t>
              </a:r>
              <a:r>
                <a:rPr lang="zh-CN" altLang="en-US" sz="2400" b="1" dirty="0" smtClean="0">
                  <a:solidFill>
                    <a:srgbClr val="C00000"/>
                  </a:solidFill>
                </a:rPr>
                <a:t>体</a:t>
              </a:r>
              <a:endParaRPr lang="zh-CN" altLang="en-US" sz="2400" b="1" dirty="0">
                <a:solidFill>
                  <a:srgbClr val="C00000"/>
                </a:solidFill>
              </a:endParaRPr>
            </a:p>
          </p:txBody>
        </p:sp>
        <p:grpSp>
          <p:nvGrpSpPr>
            <p:cNvPr id="73" name="组合 72"/>
            <p:cNvGrpSpPr/>
            <p:nvPr/>
          </p:nvGrpSpPr>
          <p:grpSpPr>
            <a:xfrm rot="5400000">
              <a:off x="2468466" y="2448422"/>
              <a:ext cx="159999" cy="4165464"/>
              <a:chOff x="4837113" y="1222375"/>
              <a:chExt cx="141287" cy="3257550"/>
            </a:xfrm>
          </p:grpSpPr>
          <p:sp>
            <p:nvSpPr>
              <p:cNvPr id="74" name="Freeform 150"/>
              <p:cNvSpPr>
                <a:spLocks/>
              </p:cNvSpPr>
              <p:nvPr/>
            </p:nvSpPr>
            <p:spPr bwMode="auto">
              <a:xfrm>
                <a:off x="4837113" y="1222375"/>
                <a:ext cx="0" cy="3257550"/>
              </a:xfrm>
              <a:custGeom>
                <a:avLst/>
                <a:gdLst>
                  <a:gd name="T0" fmla="*/ 0 w 1"/>
                  <a:gd name="T1" fmla="*/ 2052 h 2052"/>
                  <a:gd name="T2" fmla="*/ 0 w 1"/>
                  <a:gd name="T3" fmla="*/ 0 h 2052"/>
                </a:gdLst>
                <a:ahLst/>
                <a:cxnLst>
                  <a:cxn ang="0">
                    <a:pos x="T0" y="T1"/>
                  </a:cxn>
                  <a:cxn ang="0">
                    <a:pos x="T2" y="T3"/>
                  </a:cxn>
                </a:cxnLst>
                <a:rect l="0" t="0" r="r" b="b"/>
                <a:pathLst>
                  <a:path w="1" h="2052">
                    <a:moveTo>
                      <a:pt x="0" y="2052"/>
                    </a:moveTo>
                    <a:lnTo>
                      <a:pt x="0" y="0"/>
                    </a:lnTo>
                  </a:path>
                </a:pathLst>
              </a:custGeom>
              <a:noFill/>
              <a:ln w="28575"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151"/>
              <p:cNvSpPr>
                <a:spLocks noChangeShapeType="1"/>
              </p:cNvSpPr>
              <p:nvPr/>
            </p:nvSpPr>
            <p:spPr bwMode="auto">
              <a:xfrm>
                <a:off x="4837113" y="1316038"/>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152"/>
              <p:cNvSpPr>
                <a:spLocks noChangeShapeType="1"/>
              </p:cNvSpPr>
              <p:nvPr/>
            </p:nvSpPr>
            <p:spPr bwMode="auto">
              <a:xfrm>
                <a:off x="4837113" y="1511300"/>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153"/>
              <p:cNvSpPr>
                <a:spLocks noChangeShapeType="1"/>
              </p:cNvSpPr>
              <p:nvPr/>
            </p:nvSpPr>
            <p:spPr bwMode="auto">
              <a:xfrm>
                <a:off x="4837113" y="1706563"/>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154"/>
              <p:cNvSpPr>
                <a:spLocks noChangeShapeType="1"/>
              </p:cNvSpPr>
              <p:nvPr/>
            </p:nvSpPr>
            <p:spPr bwMode="auto">
              <a:xfrm>
                <a:off x="4837113" y="1901825"/>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155"/>
              <p:cNvSpPr>
                <a:spLocks noChangeShapeType="1"/>
              </p:cNvSpPr>
              <p:nvPr/>
            </p:nvSpPr>
            <p:spPr bwMode="auto">
              <a:xfrm>
                <a:off x="4837113" y="2097088"/>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156"/>
              <p:cNvSpPr>
                <a:spLocks noChangeShapeType="1"/>
              </p:cNvSpPr>
              <p:nvPr/>
            </p:nvSpPr>
            <p:spPr bwMode="auto">
              <a:xfrm>
                <a:off x="4837113" y="2292350"/>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157"/>
              <p:cNvSpPr>
                <a:spLocks noChangeShapeType="1"/>
              </p:cNvSpPr>
              <p:nvPr/>
            </p:nvSpPr>
            <p:spPr bwMode="auto">
              <a:xfrm>
                <a:off x="4837113" y="2492375"/>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158"/>
              <p:cNvSpPr>
                <a:spLocks noChangeShapeType="1"/>
              </p:cNvSpPr>
              <p:nvPr/>
            </p:nvSpPr>
            <p:spPr bwMode="auto">
              <a:xfrm>
                <a:off x="4837113" y="2692400"/>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159"/>
              <p:cNvSpPr>
                <a:spLocks noChangeShapeType="1"/>
              </p:cNvSpPr>
              <p:nvPr/>
            </p:nvSpPr>
            <p:spPr bwMode="auto">
              <a:xfrm>
                <a:off x="4837113" y="2892425"/>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160"/>
              <p:cNvSpPr>
                <a:spLocks noChangeShapeType="1"/>
              </p:cNvSpPr>
              <p:nvPr/>
            </p:nvSpPr>
            <p:spPr bwMode="auto">
              <a:xfrm>
                <a:off x="4837113" y="3092450"/>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161"/>
              <p:cNvSpPr>
                <a:spLocks noChangeShapeType="1"/>
              </p:cNvSpPr>
              <p:nvPr/>
            </p:nvSpPr>
            <p:spPr bwMode="auto">
              <a:xfrm>
                <a:off x="4837113" y="3292475"/>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162"/>
              <p:cNvSpPr>
                <a:spLocks noChangeShapeType="1"/>
              </p:cNvSpPr>
              <p:nvPr/>
            </p:nvSpPr>
            <p:spPr bwMode="auto">
              <a:xfrm>
                <a:off x="4837113" y="3492500"/>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163"/>
              <p:cNvSpPr>
                <a:spLocks noChangeShapeType="1"/>
              </p:cNvSpPr>
              <p:nvPr/>
            </p:nvSpPr>
            <p:spPr bwMode="auto">
              <a:xfrm>
                <a:off x="4837113" y="3692525"/>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164"/>
              <p:cNvSpPr>
                <a:spLocks noChangeShapeType="1"/>
              </p:cNvSpPr>
              <p:nvPr/>
            </p:nvSpPr>
            <p:spPr bwMode="auto">
              <a:xfrm>
                <a:off x="4837113" y="3892550"/>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165"/>
              <p:cNvSpPr>
                <a:spLocks noChangeShapeType="1"/>
              </p:cNvSpPr>
              <p:nvPr/>
            </p:nvSpPr>
            <p:spPr bwMode="auto">
              <a:xfrm>
                <a:off x="4837113" y="4092575"/>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166"/>
              <p:cNvSpPr>
                <a:spLocks noChangeShapeType="1"/>
              </p:cNvSpPr>
              <p:nvPr/>
            </p:nvSpPr>
            <p:spPr bwMode="auto">
              <a:xfrm>
                <a:off x="4837113" y="4292600"/>
                <a:ext cx="14128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91" name="直接连接符 90"/>
            <p:cNvCxnSpPr/>
            <p:nvPr/>
          </p:nvCxnSpPr>
          <p:spPr bwMode="auto">
            <a:xfrm flipV="1">
              <a:off x="1462497" y="3827515"/>
              <a:ext cx="229758" cy="618562"/>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任意多边形 91"/>
            <p:cNvSpPr/>
            <p:nvPr/>
          </p:nvSpPr>
          <p:spPr bwMode="auto">
            <a:xfrm>
              <a:off x="1593306" y="4086219"/>
              <a:ext cx="291465" cy="361950"/>
            </a:xfrm>
            <a:custGeom>
              <a:avLst/>
              <a:gdLst>
                <a:gd name="connsiteX0" fmla="*/ 285750 w 285750"/>
                <a:gd name="connsiteY0" fmla="*/ 361950 h 361950"/>
                <a:gd name="connsiteX1" fmla="*/ 219075 w 285750"/>
                <a:gd name="connsiteY1" fmla="*/ 152400 h 361950"/>
                <a:gd name="connsiteX2" fmla="*/ 0 w 285750"/>
                <a:gd name="connsiteY2" fmla="*/ 0 h 361950"/>
                <a:gd name="connsiteX0" fmla="*/ 285750 w 285750"/>
                <a:gd name="connsiteY0" fmla="*/ 361950 h 361950"/>
                <a:gd name="connsiteX1" fmla="*/ 198755 w 285750"/>
                <a:gd name="connsiteY1" fmla="*/ 152400 h 361950"/>
                <a:gd name="connsiteX2" fmla="*/ 0 w 285750"/>
                <a:gd name="connsiteY2" fmla="*/ 0 h 361950"/>
                <a:gd name="connsiteX0" fmla="*/ 255270 w 255270"/>
                <a:gd name="connsiteY0" fmla="*/ 361950 h 361950"/>
                <a:gd name="connsiteX1" fmla="*/ 198755 w 255270"/>
                <a:gd name="connsiteY1" fmla="*/ 152400 h 361950"/>
                <a:gd name="connsiteX2" fmla="*/ 0 w 255270"/>
                <a:gd name="connsiteY2" fmla="*/ 0 h 361950"/>
                <a:gd name="connsiteX0" fmla="*/ 255270 w 255270"/>
                <a:gd name="connsiteY0" fmla="*/ 361950 h 361950"/>
                <a:gd name="connsiteX1" fmla="*/ 158115 w 255270"/>
                <a:gd name="connsiteY1" fmla="*/ 101600 h 361950"/>
                <a:gd name="connsiteX2" fmla="*/ 0 w 255270"/>
                <a:gd name="connsiteY2" fmla="*/ 0 h 361950"/>
                <a:gd name="connsiteX0" fmla="*/ 255270 w 255270"/>
                <a:gd name="connsiteY0" fmla="*/ 361950 h 361950"/>
                <a:gd name="connsiteX1" fmla="*/ 188595 w 255270"/>
                <a:gd name="connsiteY1" fmla="*/ 152400 h 361950"/>
                <a:gd name="connsiteX2" fmla="*/ 0 w 255270"/>
                <a:gd name="connsiteY2" fmla="*/ 0 h 361950"/>
              </a:gdLst>
              <a:ahLst/>
              <a:cxnLst>
                <a:cxn ang="0">
                  <a:pos x="connsiteX0" y="connsiteY0"/>
                </a:cxn>
                <a:cxn ang="0">
                  <a:pos x="connsiteX1" y="connsiteY1"/>
                </a:cxn>
                <a:cxn ang="0">
                  <a:pos x="connsiteX2" y="connsiteY2"/>
                </a:cxn>
              </a:cxnLst>
              <a:rect l="l" t="t" r="r" b="b"/>
              <a:pathLst>
                <a:path w="255270" h="361950">
                  <a:moveTo>
                    <a:pt x="255270" y="361950"/>
                  </a:moveTo>
                  <a:cubicBezTo>
                    <a:pt x="245745" y="287337"/>
                    <a:pt x="231140" y="212725"/>
                    <a:pt x="188595" y="152400"/>
                  </a:cubicBezTo>
                  <a:cubicBezTo>
                    <a:pt x="146050" y="92075"/>
                    <a:pt x="85725" y="46037"/>
                    <a:pt x="0" y="0"/>
                  </a:cubicBezTo>
                </a:path>
              </a:pathLst>
            </a:custGeom>
            <a:noFill/>
            <a:ln w="127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98" name="TextBox 97"/>
            <p:cNvSpPr txBox="1"/>
            <p:nvPr/>
          </p:nvSpPr>
          <p:spPr>
            <a:xfrm>
              <a:off x="655529" y="3660806"/>
              <a:ext cx="803425" cy="517065"/>
            </a:xfrm>
            <a:prstGeom prst="rect">
              <a:avLst/>
            </a:prstGeom>
            <a:noFill/>
          </p:spPr>
          <p:txBody>
            <a:bodyPr wrap="none" rtlCol="0">
              <a:spAutoFit/>
            </a:bodyPr>
            <a:lstStyle/>
            <a:p>
              <a:r>
                <a:rPr lang="zh-CN" altLang="en-US" sz="2400" b="1" dirty="0">
                  <a:solidFill>
                    <a:srgbClr val="C00000"/>
                  </a:solidFill>
                </a:rPr>
                <a:t>气</a:t>
              </a:r>
              <a:r>
                <a:rPr lang="zh-CN" altLang="en-US" sz="2400" b="1" dirty="0" smtClean="0">
                  <a:solidFill>
                    <a:srgbClr val="C00000"/>
                  </a:solidFill>
                </a:rPr>
                <a:t>体</a:t>
              </a:r>
              <a:endParaRPr lang="zh-CN" altLang="en-US" sz="2400" b="1" dirty="0">
                <a:solidFill>
                  <a:srgbClr val="C00000"/>
                </a:solidFill>
              </a:endParaRPr>
            </a:p>
          </p:txBody>
        </p:sp>
        <p:sp>
          <p:nvSpPr>
            <p:cNvPr id="99" name="TextBox 98"/>
            <p:cNvSpPr txBox="1"/>
            <p:nvPr/>
          </p:nvSpPr>
          <p:spPr>
            <a:xfrm>
              <a:off x="1052962" y="4559425"/>
              <a:ext cx="803425" cy="517065"/>
            </a:xfrm>
            <a:prstGeom prst="rect">
              <a:avLst/>
            </a:prstGeom>
            <a:noFill/>
          </p:spPr>
          <p:txBody>
            <a:bodyPr wrap="none" rtlCol="0">
              <a:spAutoFit/>
            </a:bodyPr>
            <a:lstStyle/>
            <a:p>
              <a:r>
                <a:rPr lang="zh-CN" altLang="en-US" sz="2400" b="1" dirty="0" smtClean="0">
                  <a:solidFill>
                    <a:srgbClr val="C00000"/>
                  </a:solidFill>
                </a:rPr>
                <a:t>固体</a:t>
              </a:r>
              <a:endParaRPr lang="zh-CN" altLang="en-US" sz="2400" b="1" dirty="0">
                <a:solidFill>
                  <a:srgbClr val="C00000"/>
                </a:solidFill>
              </a:endParaRPr>
            </a:p>
          </p:txBody>
        </p:sp>
        <p:sp>
          <p:nvSpPr>
            <p:cNvPr id="100" name="TextBox 99"/>
            <p:cNvSpPr txBox="1"/>
            <p:nvPr/>
          </p:nvSpPr>
          <p:spPr>
            <a:xfrm>
              <a:off x="1718620" y="3827686"/>
              <a:ext cx="378630" cy="517065"/>
            </a:xfrm>
            <a:prstGeom prst="rect">
              <a:avLst/>
            </a:prstGeom>
            <a:noFill/>
          </p:spPr>
          <p:txBody>
            <a:bodyPr wrap="none" rtlCol="0">
              <a:spAutoFit/>
            </a:bodyPr>
            <a:lstStyle/>
            <a:p>
              <a:r>
                <a:rPr lang="zh-CN" altLang="en-US" sz="2400" b="1" dirty="0" smtClean="0">
                  <a:solidFill>
                    <a:srgbClr val="C00000"/>
                  </a:solidFill>
                  <a:sym typeface="Symbol"/>
                </a:rPr>
                <a:t></a:t>
              </a:r>
              <a:endParaRPr lang="zh-CN" altLang="en-US" sz="2400" b="1" dirty="0">
                <a:solidFill>
                  <a:srgbClr val="C00000"/>
                </a:solidFill>
              </a:endParaRPr>
            </a:p>
          </p:txBody>
        </p:sp>
      </p:grpSp>
      <p:sp>
        <p:nvSpPr>
          <p:cNvPr id="101" name="Text Box 8"/>
          <p:cNvSpPr txBox="1">
            <a:spLocks noChangeArrowheads="1"/>
          </p:cNvSpPr>
          <p:nvPr/>
        </p:nvSpPr>
        <p:spPr bwMode="auto">
          <a:xfrm>
            <a:off x="4864100" y="4016406"/>
            <a:ext cx="4203700" cy="1649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6700" indent="-266700">
              <a:spcBef>
                <a:spcPts val="0"/>
              </a:spcBef>
              <a:spcAft>
                <a:spcPts val="0"/>
              </a:spcAft>
              <a:buClr>
                <a:srgbClr val="A50021"/>
              </a:buClr>
              <a:buSzPct val="140000"/>
              <a:buFont typeface="Arial" panose="020B0604020202020204" pitchFamily="34" charset="0"/>
              <a:buChar char="•"/>
            </a:pPr>
            <a:r>
              <a:rPr lang="zh-CN" altLang="en-US" sz="2200" b="1" dirty="0" smtClean="0">
                <a:solidFill>
                  <a:srgbClr val="000066"/>
                </a:solidFill>
                <a:ea typeface="幼圆" panose="02010509060101010101" pitchFamily="49" charset="-122"/>
                <a:cs typeface="Times New Roman" panose="02020603050405020304" pitchFamily="18" charset="0"/>
              </a:rPr>
              <a:t>湿润角</a:t>
            </a:r>
            <a:r>
              <a:rPr lang="en-US" altLang="zh-CN" sz="2200" dirty="0" smtClean="0">
                <a:ea typeface="幼圆" panose="02010509060101010101" pitchFamily="49" charset="-122"/>
                <a:cs typeface="Times New Roman" panose="02020603050405020304" pitchFamily="18" charset="0"/>
                <a:sym typeface="Symbol"/>
              </a:rPr>
              <a:t></a:t>
            </a:r>
            <a:r>
              <a:rPr lang="zh-CN" altLang="en-US" sz="2200" b="1" dirty="0" smtClean="0">
                <a:solidFill>
                  <a:srgbClr val="000066"/>
                </a:solidFill>
                <a:ea typeface="幼圆" panose="02010509060101010101" pitchFamily="49" charset="-122"/>
                <a:cs typeface="Times New Roman" panose="02020603050405020304" pitchFamily="18" charset="0"/>
              </a:rPr>
              <a:t>反映了水和固体表面作用力的相对强弱</a:t>
            </a:r>
            <a:endParaRPr lang="en-US" altLang="zh-CN" sz="2200" b="1" dirty="0" smtClean="0">
              <a:solidFill>
                <a:srgbClr val="000066"/>
              </a:solidFill>
              <a:ea typeface="幼圆" panose="02010509060101010101" pitchFamily="49" charset="-122"/>
              <a:cs typeface="Times New Roman" panose="02020603050405020304" pitchFamily="18" charset="0"/>
            </a:endParaRPr>
          </a:p>
          <a:p>
            <a:pPr marL="266700" indent="-266700">
              <a:spcBef>
                <a:spcPts val="0"/>
              </a:spcBef>
              <a:spcAft>
                <a:spcPts val="0"/>
              </a:spcAft>
              <a:buClr>
                <a:srgbClr val="A50021"/>
              </a:buClr>
              <a:buSzPct val="140000"/>
              <a:buFont typeface="Arial" panose="020B0604020202020204" pitchFamily="34" charset="0"/>
              <a:buChar char="•"/>
            </a:pPr>
            <a:r>
              <a:rPr lang="zh-CN" altLang="en-US" sz="2200" b="1" dirty="0" smtClean="0">
                <a:solidFill>
                  <a:srgbClr val="000066"/>
                </a:solidFill>
                <a:ea typeface="幼圆" panose="02010509060101010101" pitchFamily="49" charset="-122"/>
                <a:cs typeface="Times New Roman" panose="02020603050405020304" pitchFamily="18" charset="0"/>
              </a:rPr>
              <a:t>接触角</a:t>
            </a:r>
            <a:r>
              <a:rPr lang="en-US" altLang="zh-CN" sz="2200" dirty="0">
                <a:ea typeface="幼圆" panose="02010509060101010101" pitchFamily="49" charset="-122"/>
                <a:cs typeface="Times New Roman" panose="02020603050405020304" pitchFamily="18" charset="0"/>
                <a:sym typeface="Symbol"/>
              </a:rPr>
              <a:t></a:t>
            </a:r>
            <a:r>
              <a:rPr lang="zh-CN" altLang="en-US" sz="2200" b="1" dirty="0" smtClean="0">
                <a:solidFill>
                  <a:srgbClr val="000066"/>
                </a:solidFill>
                <a:ea typeface="幼圆" panose="02010509060101010101" pitchFamily="49" charset="-122"/>
                <a:cs typeface="Times New Roman" panose="02020603050405020304" pitchFamily="18" charset="0"/>
              </a:rPr>
              <a:t>越小，说明水对固体表面的湿润性越强</a:t>
            </a:r>
            <a:endParaRPr lang="en-US" altLang="zh-CN" sz="2200" b="1" dirty="0" smtClean="0">
              <a:solidFill>
                <a:srgbClr val="000066"/>
              </a:solidFill>
              <a:ea typeface="幼圆" panose="02010509060101010101" pitchFamily="49" charset="-122"/>
              <a:cs typeface="Times New Roman" panose="02020603050405020304" pitchFamily="18" charset="0"/>
            </a:endParaRPr>
          </a:p>
        </p:txBody>
      </p:sp>
      <p:sp>
        <p:nvSpPr>
          <p:cNvPr id="102" name="Text Box 9"/>
          <p:cNvSpPr txBox="1">
            <a:spLocks noChangeArrowheads="1"/>
          </p:cNvSpPr>
          <p:nvPr/>
        </p:nvSpPr>
        <p:spPr bwMode="auto">
          <a:xfrm>
            <a:off x="5130800" y="3482975"/>
            <a:ext cx="3441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dirty="0">
                <a:solidFill>
                  <a:srgbClr val="C00000"/>
                </a:solidFill>
                <a:ea typeface="黑体" pitchFamily="2" charset="-122"/>
              </a:rPr>
              <a:t>固</a:t>
            </a:r>
            <a:r>
              <a:rPr lang="en-US" altLang="zh-CN" sz="2400" b="1" dirty="0" smtClean="0">
                <a:solidFill>
                  <a:srgbClr val="C00000"/>
                </a:solidFill>
                <a:ea typeface="黑体" pitchFamily="2" charset="-122"/>
              </a:rPr>
              <a:t>-</a:t>
            </a:r>
            <a:r>
              <a:rPr lang="zh-CN" altLang="en-US" sz="2400" b="1" dirty="0" smtClean="0">
                <a:solidFill>
                  <a:srgbClr val="C00000"/>
                </a:solidFill>
                <a:ea typeface="黑体" pitchFamily="2" charset="-122"/>
              </a:rPr>
              <a:t>水</a:t>
            </a:r>
            <a:r>
              <a:rPr lang="en-US" altLang="zh-CN" sz="2400" b="1" dirty="0" smtClean="0">
                <a:solidFill>
                  <a:srgbClr val="C00000"/>
                </a:solidFill>
                <a:ea typeface="黑体" pitchFamily="2" charset="-122"/>
              </a:rPr>
              <a:t>-</a:t>
            </a:r>
            <a:r>
              <a:rPr lang="zh-CN" altLang="en-US" sz="2400" b="1" dirty="0">
                <a:solidFill>
                  <a:srgbClr val="C00000"/>
                </a:solidFill>
                <a:ea typeface="黑体" pitchFamily="2" charset="-122"/>
              </a:rPr>
              <a:t>气</a:t>
            </a:r>
            <a:r>
              <a:rPr lang="zh-CN" altLang="en-US" sz="2400" b="1" dirty="0" smtClean="0">
                <a:solidFill>
                  <a:srgbClr val="C00000"/>
                </a:solidFill>
                <a:ea typeface="黑体" pitchFamily="2" charset="-122"/>
              </a:rPr>
              <a:t>三相接触特性</a:t>
            </a:r>
            <a:endParaRPr lang="zh-CN" altLang="en-US" sz="2400" b="1" dirty="0">
              <a:solidFill>
                <a:srgbClr val="C00000"/>
              </a:solidFill>
              <a:ea typeface="黑体" pitchFamily="2" charset="-122"/>
            </a:endParaRPr>
          </a:p>
        </p:txBody>
      </p:sp>
    </p:spTree>
    <p:extLst>
      <p:ext uri="{BB962C8B-B14F-4D97-AF65-F5344CB8AC3E}">
        <p14:creationId xmlns:p14="http://schemas.microsoft.com/office/powerpoint/2010/main" val="25364294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085"/>
                                        </p:tgtEl>
                                        <p:attrNameLst>
                                          <p:attrName>style.visibility</p:attrName>
                                        </p:attrNameLst>
                                      </p:cBhvr>
                                      <p:to>
                                        <p:strVal val="visible"/>
                                      </p:to>
                                    </p:set>
                                    <p:animEffect transition="in" filter="wipe(left)">
                                      <p:cBhvr>
                                        <p:cTn id="7" dur="500"/>
                                        <p:tgtEl>
                                          <p:spTgt spid="3085"/>
                                        </p:tgtEl>
                                      </p:cBhvr>
                                    </p:animEffect>
                                  </p:childTnLst>
                                </p:cTn>
                              </p:par>
                              <p:par>
                                <p:cTn id="8" presetID="55" presetClass="entr" presetSubtype="0" fill="hold" grpId="0" nodeType="withEffect">
                                  <p:stCondLst>
                                    <p:cond delay="0"/>
                                  </p:stCondLst>
                                  <p:childTnLst>
                                    <p:set>
                                      <p:cBhvr>
                                        <p:cTn id="9" dur="1" fill="hold">
                                          <p:stCondLst>
                                            <p:cond delay="0"/>
                                          </p:stCondLst>
                                        </p:cTn>
                                        <p:tgtEl>
                                          <p:spTgt spid="1372169"/>
                                        </p:tgtEl>
                                        <p:attrNameLst>
                                          <p:attrName>style.visibility</p:attrName>
                                        </p:attrNameLst>
                                      </p:cBhvr>
                                      <p:to>
                                        <p:strVal val="visible"/>
                                      </p:to>
                                    </p:set>
                                    <p:anim calcmode="lin" valueType="num">
                                      <p:cBhvr>
                                        <p:cTn id="10" dur="1000" fill="hold"/>
                                        <p:tgtEl>
                                          <p:spTgt spid="1372169"/>
                                        </p:tgtEl>
                                        <p:attrNameLst>
                                          <p:attrName>ppt_w</p:attrName>
                                        </p:attrNameLst>
                                      </p:cBhvr>
                                      <p:tavLst>
                                        <p:tav tm="0">
                                          <p:val>
                                            <p:strVal val="#ppt_w*0.70"/>
                                          </p:val>
                                        </p:tav>
                                        <p:tav tm="100000">
                                          <p:val>
                                            <p:strVal val="#ppt_w"/>
                                          </p:val>
                                        </p:tav>
                                      </p:tavLst>
                                    </p:anim>
                                    <p:anim calcmode="lin" valueType="num">
                                      <p:cBhvr>
                                        <p:cTn id="11" dur="1000" fill="hold"/>
                                        <p:tgtEl>
                                          <p:spTgt spid="1372169"/>
                                        </p:tgtEl>
                                        <p:attrNameLst>
                                          <p:attrName>ppt_h</p:attrName>
                                        </p:attrNameLst>
                                      </p:cBhvr>
                                      <p:tavLst>
                                        <p:tav tm="0">
                                          <p:val>
                                            <p:strVal val="#ppt_h"/>
                                          </p:val>
                                        </p:tav>
                                        <p:tav tm="100000">
                                          <p:val>
                                            <p:strVal val="#ppt_h"/>
                                          </p:val>
                                        </p:tav>
                                      </p:tavLst>
                                    </p:anim>
                                    <p:animEffect transition="in" filter="fade">
                                      <p:cBhvr>
                                        <p:cTn id="12" dur="1000"/>
                                        <p:tgtEl>
                                          <p:spTgt spid="137216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par>
                                <p:cTn id="19" presetID="55" presetClass="entr" presetSubtype="0" fill="hold" grpId="0" nodeType="withEffect">
                                  <p:stCondLst>
                                    <p:cond delay="0"/>
                                  </p:stCondLst>
                                  <p:childTnLst>
                                    <p:set>
                                      <p:cBhvr>
                                        <p:cTn id="20" dur="1" fill="hold">
                                          <p:stCondLst>
                                            <p:cond delay="0"/>
                                          </p:stCondLst>
                                        </p:cTn>
                                        <p:tgtEl>
                                          <p:spTgt spid="102"/>
                                        </p:tgtEl>
                                        <p:attrNameLst>
                                          <p:attrName>style.visibility</p:attrName>
                                        </p:attrNameLst>
                                      </p:cBhvr>
                                      <p:to>
                                        <p:strVal val="visible"/>
                                      </p:to>
                                    </p:set>
                                    <p:anim calcmode="lin" valueType="num">
                                      <p:cBhvr>
                                        <p:cTn id="21" dur="1000" fill="hold"/>
                                        <p:tgtEl>
                                          <p:spTgt spid="102"/>
                                        </p:tgtEl>
                                        <p:attrNameLst>
                                          <p:attrName>ppt_w</p:attrName>
                                        </p:attrNameLst>
                                      </p:cBhvr>
                                      <p:tavLst>
                                        <p:tav tm="0">
                                          <p:val>
                                            <p:strVal val="#ppt_w*0.70"/>
                                          </p:val>
                                        </p:tav>
                                        <p:tav tm="100000">
                                          <p:val>
                                            <p:strVal val="#ppt_w"/>
                                          </p:val>
                                        </p:tav>
                                      </p:tavLst>
                                    </p:anim>
                                    <p:anim calcmode="lin" valueType="num">
                                      <p:cBhvr>
                                        <p:cTn id="22" dur="1000" fill="hold"/>
                                        <p:tgtEl>
                                          <p:spTgt spid="102"/>
                                        </p:tgtEl>
                                        <p:attrNameLst>
                                          <p:attrName>ppt_h</p:attrName>
                                        </p:attrNameLst>
                                      </p:cBhvr>
                                      <p:tavLst>
                                        <p:tav tm="0">
                                          <p:val>
                                            <p:strVal val="#ppt_h"/>
                                          </p:val>
                                        </p:tav>
                                        <p:tav tm="100000">
                                          <p:val>
                                            <p:strVal val="#ppt_h"/>
                                          </p:val>
                                        </p:tav>
                                      </p:tavLst>
                                    </p:anim>
                                    <p:animEffect transition="in" filter="fade">
                                      <p:cBhvr>
                                        <p:cTn id="23" dur="1000"/>
                                        <p:tgtEl>
                                          <p:spTgt spid="102"/>
                                        </p:tgtEl>
                                      </p:cBhvr>
                                    </p:animEffect>
                                  </p:childTnLst>
                                </p:cTn>
                              </p:par>
                            </p:childTnLst>
                          </p:cTn>
                        </p:par>
                        <p:par>
                          <p:cTn id="24" fill="hold">
                            <p:stCondLst>
                              <p:cond delay="1000"/>
                            </p:stCondLst>
                            <p:childTnLst>
                              <p:par>
                                <p:cTn id="25" presetID="22" presetClass="entr" presetSubtype="1" fill="hold" grpId="0" nodeType="afterEffect">
                                  <p:stCondLst>
                                    <p:cond delay="0"/>
                                  </p:stCondLst>
                                  <p:childTnLst>
                                    <p:set>
                                      <p:cBhvr>
                                        <p:cTn id="26" dur="1" fill="hold">
                                          <p:stCondLst>
                                            <p:cond delay="0"/>
                                          </p:stCondLst>
                                        </p:cTn>
                                        <p:tgtEl>
                                          <p:spTgt spid="101"/>
                                        </p:tgtEl>
                                        <p:attrNameLst>
                                          <p:attrName>style.visibility</p:attrName>
                                        </p:attrNameLst>
                                      </p:cBhvr>
                                      <p:to>
                                        <p:strVal val="visible"/>
                                      </p:to>
                                    </p:set>
                                    <p:animEffect transition="in" filter="wipe(up)">
                                      <p:cBhvr>
                                        <p:cTn id="27"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69" grpId="0"/>
      <p:bldP spid="101" grpId="0"/>
      <p:bldP spid="10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Freeform 19"/>
          <p:cNvSpPr>
            <a:spLocks/>
          </p:cNvSpPr>
          <p:nvPr/>
        </p:nvSpPr>
        <p:spPr bwMode="auto">
          <a:xfrm>
            <a:off x="349250" y="4600575"/>
            <a:ext cx="1457325" cy="441325"/>
          </a:xfrm>
          <a:custGeom>
            <a:avLst/>
            <a:gdLst>
              <a:gd name="T0" fmla="*/ 2147483647 w 918"/>
              <a:gd name="T1" fmla="*/ 0 h 278"/>
              <a:gd name="T2" fmla="*/ 2147483647 w 918"/>
              <a:gd name="T3" fmla="*/ 2147483647 h 278"/>
              <a:gd name="T4" fmla="*/ 2147483647 w 918"/>
              <a:gd name="T5" fmla="*/ 2147483647 h 278"/>
              <a:gd name="T6" fmla="*/ 2147483647 w 918"/>
              <a:gd name="T7" fmla="*/ 2147483647 h 278"/>
              <a:gd name="T8" fmla="*/ 2147483647 w 918"/>
              <a:gd name="T9" fmla="*/ 2147483647 h 278"/>
              <a:gd name="T10" fmla="*/ 2147483647 w 918"/>
              <a:gd name="T11" fmla="*/ 2147483647 h 278"/>
              <a:gd name="T12" fmla="*/ 2147483647 w 918"/>
              <a:gd name="T13" fmla="*/ 2147483647 h 278"/>
              <a:gd name="T14" fmla="*/ 2147483647 w 918"/>
              <a:gd name="T15" fmla="*/ 2147483647 h 278"/>
              <a:gd name="T16" fmla="*/ 2147483647 w 918"/>
              <a:gd name="T17" fmla="*/ 2147483647 h 278"/>
              <a:gd name="T18" fmla="*/ 0 w 918"/>
              <a:gd name="T19" fmla="*/ 2147483647 h 278"/>
              <a:gd name="T20" fmla="*/ 2147483647 w 918"/>
              <a:gd name="T21" fmla="*/ 0 h 2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8"/>
              <a:gd name="T34" fmla="*/ 0 h 278"/>
              <a:gd name="T35" fmla="*/ 918 w 918"/>
              <a:gd name="T36" fmla="*/ 278 h 2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8" h="278">
                <a:moveTo>
                  <a:pt x="6" y="0"/>
                </a:moveTo>
                <a:lnTo>
                  <a:pt x="36" y="22"/>
                </a:lnTo>
                <a:lnTo>
                  <a:pt x="368" y="22"/>
                </a:lnTo>
                <a:lnTo>
                  <a:pt x="408" y="2"/>
                </a:lnTo>
                <a:lnTo>
                  <a:pt x="510" y="2"/>
                </a:lnTo>
                <a:lnTo>
                  <a:pt x="540" y="26"/>
                </a:lnTo>
                <a:lnTo>
                  <a:pt x="890" y="26"/>
                </a:lnTo>
                <a:lnTo>
                  <a:pt x="918" y="8"/>
                </a:lnTo>
                <a:lnTo>
                  <a:pt x="918" y="278"/>
                </a:lnTo>
                <a:lnTo>
                  <a:pt x="0" y="278"/>
                </a:lnTo>
                <a:lnTo>
                  <a:pt x="6" y="0"/>
                </a:lnTo>
                <a:close/>
              </a:path>
            </a:pathLst>
          </a:custGeom>
          <a:solidFill>
            <a:srgbClr val="3366FF"/>
          </a:solidFill>
          <a:ln w="19050">
            <a:solidFill>
              <a:schemeClr val="tx1"/>
            </a:solidFill>
            <a:round/>
            <a:headEnd/>
            <a:tailEnd/>
          </a:ln>
        </p:spPr>
        <p:txBody>
          <a:bodyPr/>
          <a:lstStyle/>
          <a:p>
            <a:endParaRPr lang="zh-CN" altLang="en-US"/>
          </a:p>
        </p:txBody>
      </p:sp>
      <p:sp>
        <p:nvSpPr>
          <p:cNvPr id="1029" name="Freeform 20"/>
          <p:cNvSpPr>
            <a:spLocks/>
          </p:cNvSpPr>
          <p:nvPr/>
        </p:nvSpPr>
        <p:spPr bwMode="auto">
          <a:xfrm>
            <a:off x="346075" y="4521200"/>
            <a:ext cx="1466850" cy="523875"/>
          </a:xfrm>
          <a:custGeom>
            <a:avLst/>
            <a:gdLst>
              <a:gd name="T0" fmla="*/ 0 w 924"/>
              <a:gd name="T1" fmla="*/ 0 h 330"/>
              <a:gd name="T2" fmla="*/ 0 w 924"/>
              <a:gd name="T3" fmla="*/ 2147483647 h 330"/>
              <a:gd name="T4" fmla="*/ 2147483647 w 924"/>
              <a:gd name="T5" fmla="*/ 2147483647 h 330"/>
              <a:gd name="T6" fmla="*/ 2147483647 w 924"/>
              <a:gd name="T7" fmla="*/ 2147483647 h 330"/>
              <a:gd name="T8" fmla="*/ 0 60000 65536"/>
              <a:gd name="T9" fmla="*/ 0 60000 65536"/>
              <a:gd name="T10" fmla="*/ 0 60000 65536"/>
              <a:gd name="T11" fmla="*/ 0 60000 65536"/>
              <a:gd name="T12" fmla="*/ 0 w 924"/>
              <a:gd name="T13" fmla="*/ 0 h 330"/>
              <a:gd name="T14" fmla="*/ 924 w 924"/>
              <a:gd name="T15" fmla="*/ 330 h 330"/>
            </a:gdLst>
            <a:ahLst/>
            <a:cxnLst>
              <a:cxn ang="T8">
                <a:pos x="T0" y="T1"/>
              </a:cxn>
              <a:cxn ang="T9">
                <a:pos x="T2" y="T3"/>
              </a:cxn>
              <a:cxn ang="T10">
                <a:pos x="T4" y="T5"/>
              </a:cxn>
              <a:cxn ang="T11">
                <a:pos x="T6" y="T7"/>
              </a:cxn>
            </a:cxnLst>
            <a:rect l="T12" t="T13" r="T14" b="T15"/>
            <a:pathLst>
              <a:path w="924" h="330">
                <a:moveTo>
                  <a:pt x="0" y="0"/>
                </a:moveTo>
                <a:lnTo>
                  <a:pt x="0" y="330"/>
                </a:lnTo>
                <a:lnTo>
                  <a:pt x="924" y="330"/>
                </a:lnTo>
                <a:lnTo>
                  <a:pt x="924" y="6"/>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0" name="Line 21"/>
          <p:cNvSpPr>
            <a:spLocks noChangeShapeType="1"/>
          </p:cNvSpPr>
          <p:nvPr/>
        </p:nvSpPr>
        <p:spPr bwMode="auto">
          <a:xfrm>
            <a:off x="1393825" y="2568575"/>
            <a:ext cx="238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1" name="Line 22"/>
          <p:cNvSpPr>
            <a:spLocks noChangeShapeType="1"/>
          </p:cNvSpPr>
          <p:nvPr/>
        </p:nvSpPr>
        <p:spPr bwMode="auto">
          <a:xfrm>
            <a:off x="1460500" y="2578100"/>
            <a:ext cx="0" cy="205740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2" name="Line 23"/>
          <p:cNvSpPr>
            <a:spLocks noChangeShapeType="1"/>
          </p:cNvSpPr>
          <p:nvPr/>
        </p:nvSpPr>
        <p:spPr bwMode="auto">
          <a:xfrm flipV="1">
            <a:off x="1355725" y="2352675"/>
            <a:ext cx="1163638" cy="1587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 name="Text Box 24"/>
          <p:cNvSpPr txBox="1">
            <a:spLocks noChangeArrowheads="1"/>
          </p:cNvSpPr>
          <p:nvPr/>
        </p:nvSpPr>
        <p:spPr bwMode="auto">
          <a:xfrm>
            <a:off x="396875" y="1303338"/>
            <a:ext cx="4889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a:latin typeface="Arial" charset="0"/>
              </a:rPr>
              <a:t>毛</a:t>
            </a:r>
          </a:p>
          <a:p>
            <a:pPr eaLnBrk="1" hangingPunct="1">
              <a:lnSpc>
                <a:spcPct val="100000"/>
              </a:lnSpc>
              <a:spcBef>
                <a:spcPct val="0"/>
              </a:spcBef>
              <a:spcAft>
                <a:spcPct val="0"/>
              </a:spcAft>
            </a:pPr>
            <a:r>
              <a:rPr lang="zh-CN" altLang="en-US" sz="2400" b="1">
                <a:latin typeface="Arial" charset="0"/>
              </a:rPr>
              <a:t>细</a:t>
            </a:r>
          </a:p>
          <a:p>
            <a:pPr eaLnBrk="1" hangingPunct="1">
              <a:lnSpc>
                <a:spcPct val="100000"/>
              </a:lnSpc>
              <a:spcBef>
                <a:spcPct val="0"/>
              </a:spcBef>
              <a:spcAft>
                <a:spcPct val="0"/>
              </a:spcAft>
            </a:pPr>
            <a:r>
              <a:rPr lang="zh-CN" altLang="en-US" sz="2400" b="1">
                <a:latin typeface="Arial" charset="0"/>
              </a:rPr>
              <a:t>管</a:t>
            </a:r>
          </a:p>
        </p:txBody>
      </p:sp>
      <p:sp>
        <p:nvSpPr>
          <p:cNvPr id="1034" name="Freeform 25"/>
          <p:cNvSpPr>
            <a:spLocks/>
          </p:cNvSpPr>
          <p:nvPr/>
        </p:nvSpPr>
        <p:spPr bwMode="auto">
          <a:xfrm flipH="1">
            <a:off x="4311650" y="2179638"/>
            <a:ext cx="152400" cy="76200"/>
          </a:xfrm>
          <a:custGeom>
            <a:avLst/>
            <a:gdLst>
              <a:gd name="T0" fmla="*/ 0 w 87"/>
              <a:gd name="T1" fmla="*/ 2147483647 h 39"/>
              <a:gd name="T2" fmla="*/ 2147483647 w 87"/>
              <a:gd name="T3" fmla="*/ 2147483647 h 39"/>
              <a:gd name="T4" fmla="*/ 2147483647 w 87"/>
              <a:gd name="T5" fmla="*/ 0 h 39"/>
              <a:gd name="T6" fmla="*/ 0 60000 65536"/>
              <a:gd name="T7" fmla="*/ 0 60000 65536"/>
              <a:gd name="T8" fmla="*/ 0 60000 65536"/>
              <a:gd name="T9" fmla="*/ 0 w 87"/>
              <a:gd name="T10" fmla="*/ 0 h 39"/>
              <a:gd name="T11" fmla="*/ 87 w 87"/>
              <a:gd name="T12" fmla="*/ 39 h 39"/>
            </a:gdLst>
            <a:ahLst/>
            <a:cxnLst>
              <a:cxn ang="T6">
                <a:pos x="T0" y="T1"/>
              </a:cxn>
              <a:cxn ang="T7">
                <a:pos x="T2" y="T3"/>
              </a:cxn>
              <a:cxn ang="T8">
                <a:pos x="T4" y="T5"/>
              </a:cxn>
            </a:cxnLst>
            <a:rect l="T9" t="T10" r="T11" b="T12"/>
            <a:pathLst>
              <a:path w="87" h="39">
                <a:moveTo>
                  <a:pt x="0" y="39"/>
                </a:moveTo>
                <a:cubicBezTo>
                  <a:pt x="12" y="27"/>
                  <a:pt x="25" y="16"/>
                  <a:pt x="39" y="9"/>
                </a:cubicBezTo>
                <a:cubicBezTo>
                  <a:pt x="53" y="2"/>
                  <a:pt x="70" y="1"/>
                  <a:pt x="87" y="0"/>
                </a:cubicBezTo>
              </a:path>
            </a:pathLst>
          </a:custGeom>
          <a:noFill/>
          <a:ln w="9525">
            <a:solidFill>
              <a:schemeClr val="tx1"/>
            </a:solidFill>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5" name="Text Box 26"/>
          <p:cNvSpPr txBox="1">
            <a:spLocks noChangeArrowheads="1"/>
          </p:cNvSpPr>
          <p:nvPr/>
        </p:nvSpPr>
        <p:spPr bwMode="auto">
          <a:xfrm>
            <a:off x="4259263" y="1784350"/>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i="1" dirty="0">
                <a:latin typeface="Arial" charset="0"/>
                <a:sym typeface="Symbol" pitchFamily="18" charset="2"/>
              </a:rPr>
              <a:t></a:t>
            </a:r>
          </a:p>
        </p:txBody>
      </p:sp>
      <p:sp>
        <p:nvSpPr>
          <p:cNvPr id="1036" name="Text Box 27"/>
          <p:cNvSpPr txBox="1">
            <a:spLocks noChangeArrowheads="1"/>
          </p:cNvSpPr>
          <p:nvPr/>
        </p:nvSpPr>
        <p:spPr bwMode="auto">
          <a:xfrm>
            <a:off x="1444625" y="3403600"/>
            <a:ext cx="470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800" i="1" dirty="0" err="1">
                <a:cs typeface="Times New Roman" panose="02020603050405020304" pitchFamily="18" charset="0"/>
              </a:rPr>
              <a:t>h</a:t>
            </a:r>
            <a:r>
              <a:rPr lang="en-US" altLang="zh-CN" sz="2800" i="1" baseline="-25000" dirty="0" err="1">
                <a:cs typeface="Times New Roman" panose="02020603050405020304" pitchFamily="18" charset="0"/>
              </a:rPr>
              <a:t>c</a:t>
            </a:r>
            <a:endParaRPr lang="en-US" altLang="zh-CN" sz="2800" i="1" dirty="0">
              <a:cs typeface="Times New Roman" panose="02020603050405020304" pitchFamily="18" charset="0"/>
            </a:endParaRPr>
          </a:p>
        </p:txBody>
      </p:sp>
      <p:sp>
        <p:nvSpPr>
          <p:cNvPr id="1037" name="Text Box 28"/>
          <p:cNvSpPr txBox="1">
            <a:spLocks noChangeArrowheads="1"/>
          </p:cNvSpPr>
          <p:nvPr/>
        </p:nvSpPr>
        <p:spPr bwMode="auto">
          <a:xfrm>
            <a:off x="2759525" y="5760080"/>
            <a:ext cx="48164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Arial" charset="0"/>
                <a:ea typeface="黑体" pitchFamily="2" charset="-122"/>
              </a:rPr>
              <a:t>土中毛细水上升高度</a:t>
            </a:r>
            <a:endParaRPr kumimoji="1" lang="en-US" altLang="zh-CN" sz="4000" b="1" dirty="0">
              <a:solidFill>
                <a:srgbClr val="000066"/>
              </a:solidFill>
              <a:latin typeface="Arial" charset="0"/>
              <a:ea typeface="黑体" pitchFamily="2" charset="-122"/>
            </a:endParaRPr>
          </a:p>
        </p:txBody>
      </p:sp>
      <p:sp>
        <p:nvSpPr>
          <p:cNvPr id="1038" name="Line 29"/>
          <p:cNvSpPr>
            <a:spLocks noChangeShapeType="1"/>
          </p:cNvSpPr>
          <p:nvPr/>
        </p:nvSpPr>
        <p:spPr bwMode="auto">
          <a:xfrm flipV="1">
            <a:off x="1060450" y="2568575"/>
            <a:ext cx="0" cy="2419350"/>
          </a:xfrm>
          <a:prstGeom prst="line">
            <a:avLst/>
          </a:prstGeom>
          <a:noFill/>
          <a:ln w="57150">
            <a:solidFill>
              <a:srgbClr val="00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 name="Line 30"/>
          <p:cNvSpPr>
            <a:spLocks noChangeShapeType="1"/>
          </p:cNvSpPr>
          <p:nvPr/>
        </p:nvSpPr>
        <p:spPr bwMode="auto">
          <a:xfrm>
            <a:off x="1060450" y="1025525"/>
            <a:ext cx="0" cy="3962400"/>
          </a:xfrm>
          <a:prstGeom prst="line">
            <a:avLst/>
          </a:prstGeom>
          <a:noFill/>
          <a:ln w="1270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 name="Oval 31"/>
          <p:cNvSpPr>
            <a:spLocks noChangeArrowheads="1"/>
          </p:cNvSpPr>
          <p:nvPr/>
        </p:nvSpPr>
        <p:spPr bwMode="auto">
          <a:xfrm>
            <a:off x="889000" y="2378075"/>
            <a:ext cx="419100" cy="4191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41" name="Freeform 32"/>
          <p:cNvSpPr>
            <a:spLocks/>
          </p:cNvSpPr>
          <p:nvPr/>
        </p:nvSpPr>
        <p:spPr bwMode="auto">
          <a:xfrm>
            <a:off x="2694466" y="2376141"/>
            <a:ext cx="1619391" cy="2076443"/>
          </a:xfrm>
          <a:custGeom>
            <a:avLst/>
            <a:gdLst>
              <a:gd name="T0" fmla="*/ 2147483647 w 1168"/>
              <a:gd name="T1" fmla="*/ 2147483647 h 1302"/>
              <a:gd name="T2" fmla="*/ 2147483647 w 1168"/>
              <a:gd name="T3" fmla="*/ 2147483647 h 1302"/>
              <a:gd name="T4" fmla="*/ 2147483647 w 1168"/>
              <a:gd name="T5" fmla="*/ 2147483647 h 1302"/>
              <a:gd name="T6" fmla="*/ 2147483647 w 1168"/>
              <a:gd name="T7" fmla="*/ 2147483647 h 1302"/>
              <a:gd name="T8" fmla="*/ 2147483647 w 1168"/>
              <a:gd name="T9" fmla="*/ 2147483647 h 1302"/>
              <a:gd name="T10" fmla="*/ 2147483647 w 1168"/>
              <a:gd name="T11" fmla="*/ 2147483647 h 1302"/>
              <a:gd name="T12" fmla="*/ 2147483647 w 1168"/>
              <a:gd name="T13" fmla="*/ 2147483647 h 1302"/>
              <a:gd name="T14" fmla="*/ 2147483647 w 1168"/>
              <a:gd name="T15" fmla="*/ 2147483647 h 1302"/>
              <a:gd name="T16" fmla="*/ 2147483647 w 1168"/>
              <a:gd name="T17" fmla="*/ 2147483647 h 1302"/>
              <a:gd name="T18" fmla="*/ 2147483647 w 1168"/>
              <a:gd name="T19" fmla="*/ 2147483647 h 1302"/>
              <a:gd name="T20" fmla="*/ 2147483647 w 1168"/>
              <a:gd name="T21" fmla="*/ 2147483647 h 1302"/>
              <a:gd name="T22" fmla="*/ 2147483647 w 1168"/>
              <a:gd name="T23" fmla="*/ 2147483647 h 1302"/>
              <a:gd name="T24" fmla="*/ 2147483647 w 1168"/>
              <a:gd name="T25" fmla="*/ 2147483647 h 1302"/>
              <a:gd name="T26" fmla="*/ 2147483647 w 1168"/>
              <a:gd name="T27" fmla="*/ 2147483647 h 1302"/>
              <a:gd name="T28" fmla="*/ 2147483647 w 1168"/>
              <a:gd name="T29" fmla="*/ 2147483647 h 1302"/>
              <a:gd name="T30" fmla="*/ 2147483647 w 1168"/>
              <a:gd name="T31" fmla="*/ 2147483647 h 1302"/>
              <a:gd name="T32" fmla="*/ 2147483647 w 1168"/>
              <a:gd name="T33" fmla="*/ 2147483647 h 1302"/>
              <a:gd name="T34" fmla="*/ 2147483647 w 1168"/>
              <a:gd name="T35" fmla="*/ 2147483647 h 1302"/>
              <a:gd name="T36" fmla="*/ 2147483647 w 1168"/>
              <a:gd name="T37" fmla="*/ 2147483647 h 1302"/>
              <a:gd name="T38" fmla="*/ 2147483647 w 1168"/>
              <a:gd name="T39" fmla="*/ 2147483647 h 130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68"/>
              <a:gd name="T61" fmla="*/ 0 h 1302"/>
              <a:gd name="T62" fmla="*/ 1168 w 1168"/>
              <a:gd name="T63" fmla="*/ 1302 h 1302"/>
              <a:gd name="connsiteX0" fmla="*/ 50 w 9876"/>
              <a:gd name="connsiteY0" fmla="*/ 2459 h 10025"/>
              <a:gd name="connsiteX1" fmla="*/ 50 w 9876"/>
              <a:gd name="connsiteY1" fmla="*/ 1430 h 10025"/>
              <a:gd name="connsiteX2" fmla="*/ 735 w 9876"/>
              <a:gd name="connsiteY2" fmla="*/ 739 h 10025"/>
              <a:gd name="connsiteX3" fmla="*/ 2567 w 9876"/>
              <a:gd name="connsiteY3" fmla="*/ 201 h 10025"/>
              <a:gd name="connsiteX4" fmla="*/ 4708 w 9876"/>
              <a:gd name="connsiteY4" fmla="*/ 2 h 10025"/>
              <a:gd name="connsiteX5" fmla="*/ 6985 w 9876"/>
              <a:gd name="connsiteY5" fmla="*/ 148 h 10025"/>
              <a:gd name="connsiteX6" fmla="*/ 9117 w 9876"/>
              <a:gd name="connsiteY6" fmla="*/ 693 h 10025"/>
              <a:gd name="connsiteX7" fmla="*/ 9828 w 9876"/>
              <a:gd name="connsiteY7" fmla="*/ 1476 h 10025"/>
              <a:gd name="connsiteX8" fmla="*/ 9802 w 9876"/>
              <a:gd name="connsiteY8" fmla="*/ 3005 h 10025"/>
              <a:gd name="connsiteX9" fmla="*/ 9828 w 9876"/>
              <a:gd name="connsiteY9" fmla="*/ 7475 h 10025"/>
              <a:gd name="connsiteX10" fmla="*/ 9862 w 9876"/>
              <a:gd name="connsiteY10" fmla="*/ 8535 h 10025"/>
              <a:gd name="connsiteX11" fmla="*/ 9554 w 9876"/>
              <a:gd name="connsiteY11" fmla="*/ 8949 h 10025"/>
              <a:gd name="connsiteX12" fmla="*/ 8458 w 9876"/>
              <a:gd name="connsiteY12" fmla="*/ 9541 h 10025"/>
              <a:gd name="connsiteX13" fmla="*/ 6437 w 9876"/>
              <a:gd name="connsiteY13" fmla="*/ 9933 h 10025"/>
              <a:gd name="connsiteX14" fmla="*/ 3972 w 9876"/>
              <a:gd name="connsiteY14" fmla="*/ 10014 h 10025"/>
              <a:gd name="connsiteX15" fmla="*/ 2328 w 9876"/>
              <a:gd name="connsiteY15" fmla="*/ 9733 h 10025"/>
              <a:gd name="connsiteX16" fmla="*/ 898 w 9876"/>
              <a:gd name="connsiteY16" fmla="*/ 9341 h 10025"/>
              <a:gd name="connsiteX17" fmla="*/ 136 w 9876"/>
              <a:gd name="connsiteY17" fmla="*/ 8627 h 10025"/>
              <a:gd name="connsiteX18" fmla="*/ 76 w 9876"/>
              <a:gd name="connsiteY18" fmla="*/ 6860 h 10025"/>
              <a:gd name="connsiteX19" fmla="*/ 50 w 9876"/>
              <a:gd name="connsiteY19" fmla="*/ 2459 h 10025"/>
              <a:gd name="connsiteX0" fmla="*/ 51 w 9999"/>
              <a:gd name="connsiteY0" fmla="*/ 2453 h 10021"/>
              <a:gd name="connsiteX1" fmla="*/ 51 w 9999"/>
              <a:gd name="connsiteY1" fmla="*/ 1426 h 10021"/>
              <a:gd name="connsiteX2" fmla="*/ 744 w 9999"/>
              <a:gd name="connsiteY2" fmla="*/ 737 h 10021"/>
              <a:gd name="connsiteX3" fmla="*/ 2599 w 9999"/>
              <a:gd name="connsiteY3" fmla="*/ 200 h 10021"/>
              <a:gd name="connsiteX4" fmla="*/ 4767 w 9999"/>
              <a:gd name="connsiteY4" fmla="*/ 2 h 10021"/>
              <a:gd name="connsiteX5" fmla="*/ 7073 w 9999"/>
              <a:gd name="connsiteY5" fmla="*/ 148 h 10021"/>
              <a:gd name="connsiteX6" fmla="*/ 9231 w 9999"/>
              <a:gd name="connsiteY6" fmla="*/ 691 h 10021"/>
              <a:gd name="connsiteX7" fmla="*/ 9951 w 9999"/>
              <a:gd name="connsiteY7" fmla="*/ 1472 h 10021"/>
              <a:gd name="connsiteX8" fmla="*/ 9925 w 9999"/>
              <a:gd name="connsiteY8" fmla="*/ 2998 h 10021"/>
              <a:gd name="connsiteX9" fmla="*/ 9951 w 9999"/>
              <a:gd name="connsiteY9" fmla="*/ 7456 h 10021"/>
              <a:gd name="connsiteX10" fmla="*/ 9986 w 9999"/>
              <a:gd name="connsiteY10" fmla="*/ 8514 h 10021"/>
              <a:gd name="connsiteX11" fmla="*/ 9674 w 9999"/>
              <a:gd name="connsiteY11" fmla="*/ 8927 h 10021"/>
              <a:gd name="connsiteX12" fmla="*/ 8564 w 9999"/>
              <a:gd name="connsiteY12" fmla="*/ 9517 h 10021"/>
              <a:gd name="connsiteX13" fmla="*/ 6414 w 9999"/>
              <a:gd name="connsiteY13" fmla="*/ 9962 h 10021"/>
              <a:gd name="connsiteX14" fmla="*/ 4022 w 9999"/>
              <a:gd name="connsiteY14" fmla="*/ 9989 h 10021"/>
              <a:gd name="connsiteX15" fmla="*/ 2357 w 9999"/>
              <a:gd name="connsiteY15" fmla="*/ 9709 h 10021"/>
              <a:gd name="connsiteX16" fmla="*/ 909 w 9999"/>
              <a:gd name="connsiteY16" fmla="*/ 9318 h 10021"/>
              <a:gd name="connsiteX17" fmla="*/ 138 w 9999"/>
              <a:gd name="connsiteY17" fmla="*/ 8605 h 10021"/>
              <a:gd name="connsiteX18" fmla="*/ 77 w 9999"/>
              <a:gd name="connsiteY18" fmla="*/ 6843 h 10021"/>
              <a:gd name="connsiteX19" fmla="*/ 51 w 9999"/>
              <a:gd name="connsiteY19" fmla="*/ 2453 h 1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999" h="10021">
                <a:moveTo>
                  <a:pt x="51" y="2453"/>
                </a:moveTo>
                <a:cubicBezTo>
                  <a:pt x="51" y="1549"/>
                  <a:pt x="-62" y="1710"/>
                  <a:pt x="51" y="1426"/>
                </a:cubicBezTo>
                <a:cubicBezTo>
                  <a:pt x="164" y="1143"/>
                  <a:pt x="320" y="944"/>
                  <a:pt x="744" y="737"/>
                </a:cubicBezTo>
                <a:cubicBezTo>
                  <a:pt x="1170" y="531"/>
                  <a:pt x="1932" y="323"/>
                  <a:pt x="2599" y="200"/>
                </a:cubicBezTo>
                <a:cubicBezTo>
                  <a:pt x="3268" y="78"/>
                  <a:pt x="4022" y="9"/>
                  <a:pt x="4767" y="2"/>
                </a:cubicBezTo>
                <a:cubicBezTo>
                  <a:pt x="5512" y="-6"/>
                  <a:pt x="6327" y="32"/>
                  <a:pt x="7073" y="148"/>
                </a:cubicBezTo>
                <a:cubicBezTo>
                  <a:pt x="7819" y="262"/>
                  <a:pt x="8755" y="469"/>
                  <a:pt x="9231" y="691"/>
                </a:cubicBezTo>
                <a:cubicBezTo>
                  <a:pt x="9708" y="914"/>
                  <a:pt x="9838" y="1089"/>
                  <a:pt x="9951" y="1472"/>
                </a:cubicBezTo>
                <a:cubicBezTo>
                  <a:pt x="10064" y="1855"/>
                  <a:pt x="9925" y="2001"/>
                  <a:pt x="9925" y="2998"/>
                </a:cubicBezTo>
                <a:cubicBezTo>
                  <a:pt x="9925" y="3993"/>
                  <a:pt x="9942" y="6537"/>
                  <a:pt x="9951" y="7456"/>
                </a:cubicBezTo>
                <a:cubicBezTo>
                  <a:pt x="9959" y="8375"/>
                  <a:pt x="10029" y="8268"/>
                  <a:pt x="9986" y="8514"/>
                </a:cubicBezTo>
                <a:cubicBezTo>
                  <a:pt x="9942" y="8758"/>
                  <a:pt x="9908" y="8758"/>
                  <a:pt x="9674" y="8927"/>
                </a:cubicBezTo>
                <a:cubicBezTo>
                  <a:pt x="9440" y="9095"/>
                  <a:pt x="9107" y="9345"/>
                  <a:pt x="8564" y="9517"/>
                </a:cubicBezTo>
                <a:cubicBezTo>
                  <a:pt x="8021" y="9689"/>
                  <a:pt x="7171" y="9883"/>
                  <a:pt x="6414" y="9962"/>
                </a:cubicBezTo>
                <a:cubicBezTo>
                  <a:pt x="5656" y="10041"/>
                  <a:pt x="4698" y="10031"/>
                  <a:pt x="4022" y="9989"/>
                </a:cubicBezTo>
                <a:cubicBezTo>
                  <a:pt x="3346" y="9947"/>
                  <a:pt x="2876" y="9820"/>
                  <a:pt x="2357" y="9709"/>
                </a:cubicBezTo>
                <a:cubicBezTo>
                  <a:pt x="1839" y="9597"/>
                  <a:pt x="1282" y="9501"/>
                  <a:pt x="909" y="9318"/>
                </a:cubicBezTo>
                <a:cubicBezTo>
                  <a:pt x="537" y="9134"/>
                  <a:pt x="276" y="9019"/>
                  <a:pt x="138" y="8605"/>
                </a:cubicBezTo>
                <a:cubicBezTo>
                  <a:pt x="-1" y="8192"/>
                  <a:pt x="103" y="7862"/>
                  <a:pt x="77" y="6843"/>
                </a:cubicBezTo>
                <a:cubicBezTo>
                  <a:pt x="51" y="5824"/>
                  <a:pt x="51" y="3358"/>
                  <a:pt x="51" y="2453"/>
                </a:cubicBezTo>
                <a:close/>
              </a:path>
            </a:pathLst>
          </a:custGeom>
          <a:solidFill>
            <a:srgbClr val="3366FF"/>
          </a:solidFill>
          <a:ln>
            <a:noFill/>
          </a:ln>
        </p:spPr>
        <p:txBody>
          <a:bodyPr/>
          <a:lstStyle/>
          <a:p>
            <a:endParaRPr lang="zh-CN" altLang="en-US"/>
          </a:p>
        </p:txBody>
      </p:sp>
      <p:sp>
        <p:nvSpPr>
          <p:cNvPr id="1042" name="AutoShape 33"/>
          <p:cNvSpPr>
            <a:spLocks noChangeArrowheads="1"/>
          </p:cNvSpPr>
          <p:nvPr/>
        </p:nvSpPr>
        <p:spPr bwMode="auto">
          <a:xfrm>
            <a:off x="2708275" y="884238"/>
            <a:ext cx="1600200" cy="3562350"/>
          </a:xfrm>
          <a:prstGeom prst="can">
            <a:avLst>
              <a:gd name="adj" fmla="val 39845"/>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43" name="Oval 34"/>
          <p:cNvSpPr>
            <a:spLocks noChangeArrowheads="1"/>
          </p:cNvSpPr>
          <p:nvPr/>
        </p:nvSpPr>
        <p:spPr bwMode="auto">
          <a:xfrm>
            <a:off x="2705100" y="2382838"/>
            <a:ext cx="1598613" cy="619125"/>
          </a:xfrm>
          <a:prstGeom prst="ellipse">
            <a:avLst/>
          </a:prstGeom>
          <a:gradFill rotWithShape="1">
            <a:gsLst>
              <a:gs pos="0">
                <a:srgbClr val="3399FF">
                  <a:alpha val="46001"/>
                </a:srgbClr>
              </a:gs>
              <a:gs pos="100000">
                <a:srgbClr val="8AC5FF"/>
              </a:gs>
            </a:gsLst>
            <a:path path="shape">
              <a:fillToRect l="50000" t="50000" r="50000" b="50000"/>
            </a:path>
          </a:gradFill>
          <a:ln w="28575">
            <a:solidFill>
              <a:schemeClr val="tx1"/>
            </a:solidFill>
            <a:round/>
            <a:headEnd/>
            <a:tailEnd/>
          </a:ln>
        </p:spPr>
        <p:txBody>
          <a:bodyPr wrap="none" anchor="ctr"/>
          <a:lstStyle/>
          <a:p>
            <a:endParaRPr lang="zh-CN" altLang="en-US"/>
          </a:p>
        </p:txBody>
      </p:sp>
      <p:sp>
        <p:nvSpPr>
          <p:cNvPr id="1044" name="Freeform 35"/>
          <p:cNvSpPr>
            <a:spLocks/>
          </p:cNvSpPr>
          <p:nvPr/>
        </p:nvSpPr>
        <p:spPr bwMode="auto">
          <a:xfrm>
            <a:off x="2708275" y="2700338"/>
            <a:ext cx="1600200" cy="793750"/>
          </a:xfrm>
          <a:custGeom>
            <a:avLst/>
            <a:gdLst>
              <a:gd name="T0" fmla="*/ 0 w 1140"/>
              <a:gd name="T1" fmla="*/ 0 h 500"/>
              <a:gd name="T2" fmla="*/ 2147483647 w 1140"/>
              <a:gd name="T3" fmla="*/ 2147483647 h 500"/>
              <a:gd name="T4" fmla="*/ 2147483647 w 1140"/>
              <a:gd name="T5" fmla="*/ 2147483647 h 500"/>
              <a:gd name="T6" fmla="*/ 2147483647 w 1140"/>
              <a:gd name="T7" fmla="*/ 2147483647 h 500"/>
              <a:gd name="T8" fmla="*/ 2147483647 w 1140"/>
              <a:gd name="T9" fmla="*/ 2147483647 h 500"/>
              <a:gd name="T10" fmla="*/ 2147483647 w 1140"/>
              <a:gd name="T11" fmla="*/ 2147483647 h 500"/>
              <a:gd name="T12" fmla="*/ 2147483647 w 1140"/>
              <a:gd name="T13" fmla="*/ 2147483647 h 500"/>
              <a:gd name="T14" fmla="*/ 2147483647 w 1140"/>
              <a:gd name="T15" fmla="*/ 2147483647 h 500"/>
              <a:gd name="T16" fmla="*/ 2147483647 w 1140"/>
              <a:gd name="T17" fmla="*/ 2147483647 h 500"/>
              <a:gd name="T18" fmla="*/ 2147483647 w 1140"/>
              <a:gd name="T19" fmla="*/ 2147483647 h 500"/>
              <a:gd name="T20" fmla="*/ 2147483647 w 1140"/>
              <a:gd name="T21" fmla="*/ 2147483647 h 500"/>
              <a:gd name="T22" fmla="*/ 2147483647 w 1140"/>
              <a:gd name="T23" fmla="*/ 2147483647 h 5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40"/>
              <a:gd name="T37" fmla="*/ 0 h 500"/>
              <a:gd name="T38" fmla="*/ 1140 w 1140"/>
              <a:gd name="T39" fmla="*/ 500 h 5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40" h="500">
                <a:moveTo>
                  <a:pt x="0" y="0"/>
                </a:moveTo>
                <a:cubicBezTo>
                  <a:pt x="3" y="18"/>
                  <a:pt x="7" y="69"/>
                  <a:pt x="20" y="108"/>
                </a:cubicBezTo>
                <a:cubicBezTo>
                  <a:pt x="33" y="147"/>
                  <a:pt x="54" y="193"/>
                  <a:pt x="81" y="233"/>
                </a:cubicBezTo>
                <a:cubicBezTo>
                  <a:pt x="108" y="273"/>
                  <a:pt x="140" y="315"/>
                  <a:pt x="182" y="350"/>
                </a:cubicBezTo>
                <a:cubicBezTo>
                  <a:pt x="224" y="385"/>
                  <a:pt x="280" y="420"/>
                  <a:pt x="330" y="444"/>
                </a:cubicBezTo>
                <a:cubicBezTo>
                  <a:pt x="380" y="468"/>
                  <a:pt x="430" y="484"/>
                  <a:pt x="482" y="492"/>
                </a:cubicBezTo>
                <a:cubicBezTo>
                  <a:pt x="534" y="500"/>
                  <a:pt x="593" y="499"/>
                  <a:pt x="642" y="492"/>
                </a:cubicBezTo>
                <a:cubicBezTo>
                  <a:pt x="691" y="485"/>
                  <a:pt x="733" y="472"/>
                  <a:pt x="778" y="452"/>
                </a:cubicBezTo>
                <a:cubicBezTo>
                  <a:pt x="823" y="432"/>
                  <a:pt x="873" y="404"/>
                  <a:pt x="914" y="372"/>
                </a:cubicBezTo>
                <a:cubicBezTo>
                  <a:pt x="955" y="340"/>
                  <a:pt x="992" y="305"/>
                  <a:pt x="1024" y="262"/>
                </a:cubicBezTo>
                <a:cubicBezTo>
                  <a:pt x="1056" y="219"/>
                  <a:pt x="1085" y="159"/>
                  <a:pt x="1104" y="116"/>
                </a:cubicBezTo>
                <a:cubicBezTo>
                  <a:pt x="1123" y="73"/>
                  <a:pt x="1131" y="37"/>
                  <a:pt x="1140" y="2"/>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45" name="Line 36"/>
          <p:cNvSpPr>
            <a:spLocks noChangeShapeType="1"/>
          </p:cNvSpPr>
          <p:nvPr/>
        </p:nvSpPr>
        <p:spPr bwMode="auto">
          <a:xfrm>
            <a:off x="2919413" y="2484438"/>
            <a:ext cx="1165225" cy="422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6" name="Line 37"/>
          <p:cNvSpPr>
            <a:spLocks noChangeShapeType="1"/>
          </p:cNvSpPr>
          <p:nvPr/>
        </p:nvSpPr>
        <p:spPr bwMode="auto">
          <a:xfrm flipV="1">
            <a:off x="3127375" y="2417763"/>
            <a:ext cx="768350" cy="549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7" name="Freeform 38"/>
          <p:cNvSpPr>
            <a:spLocks/>
          </p:cNvSpPr>
          <p:nvPr/>
        </p:nvSpPr>
        <p:spPr bwMode="auto">
          <a:xfrm>
            <a:off x="2916238" y="2490788"/>
            <a:ext cx="1168400" cy="995362"/>
          </a:xfrm>
          <a:custGeom>
            <a:avLst/>
            <a:gdLst>
              <a:gd name="T0" fmla="*/ 0 w 832"/>
              <a:gd name="T1" fmla="*/ 0 h 627"/>
              <a:gd name="T2" fmla="*/ 2147483647 w 832"/>
              <a:gd name="T3" fmla="*/ 2147483647 h 627"/>
              <a:gd name="T4" fmla="*/ 2147483647 w 832"/>
              <a:gd name="T5" fmla="*/ 2147483647 h 627"/>
              <a:gd name="T6" fmla="*/ 2147483647 w 832"/>
              <a:gd name="T7" fmla="*/ 2147483647 h 627"/>
              <a:gd name="T8" fmla="*/ 2147483647 w 832"/>
              <a:gd name="T9" fmla="*/ 2147483647 h 627"/>
              <a:gd name="T10" fmla="*/ 2147483647 w 832"/>
              <a:gd name="T11" fmla="*/ 2147483647 h 627"/>
              <a:gd name="T12" fmla="*/ 2147483647 w 832"/>
              <a:gd name="T13" fmla="*/ 2147483647 h 627"/>
              <a:gd name="T14" fmla="*/ 2147483647 w 832"/>
              <a:gd name="T15" fmla="*/ 2147483647 h 627"/>
              <a:gd name="T16" fmla="*/ 2147483647 w 832"/>
              <a:gd name="T17" fmla="*/ 2147483647 h 627"/>
              <a:gd name="T18" fmla="*/ 2147483647 w 832"/>
              <a:gd name="T19" fmla="*/ 2147483647 h 627"/>
              <a:gd name="T20" fmla="*/ 2147483647 w 832"/>
              <a:gd name="T21" fmla="*/ 2147483647 h 627"/>
              <a:gd name="T22" fmla="*/ 2147483647 w 832"/>
              <a:gd name="T23" fmla="*/ 2147483647 h 627"/>
              <a:gd name="T24" fmla="*/ 2147483647 w 832"/>
              <a:gd name="T25" fmla="*/ 2147483647 h 627"/>
              <a:gd name="T26" fmla="*/ 2147483647 w 832"/>
              <a:gd name="T27" fmla="*/ 2147483647 h 627"/>
              <a:gd name="T28" fmla="*/ 2147483647 w 832"/>
              <a:gd name="T29" fmla="*/ 2147483647 h 6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32"/>
              <a:gd name="T46" fmla="*/ 0 h 627"/>
              <a:gd name="T47" fmla="*/ 832 w 832"/>
              <a:gd name="T48" fmla="*/ 627 h 6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32" h="627">
                <a:moveTo>
                  <a:pt x="0" y="0"/>
                </a:moveTo>
                <a:cubicBezTo>
                  <a:pt x="0" y="24"/>
                  <a:pt x="0" y="49"/>
                  <a:pt x="2" y="80"/>
                </a:cubicBezTo>
                <a:cubicBezTo>
                  <a:pt x="4" y="111"/>
                  <a:pt x="6" y="151"/>
                  <a:pt x="12" y="186"/>
                </a:cubicBezTo>
                <a:cubicBezTo>
                  <a:pt x="18" y="221"/>
                  <a:pt x="26" y="255"/>
                  <a:pt x="36" y="288"/>
                </a:cubicBezTo>
                <a:cubicBezTo>
                  <a:pt x="46" y="321"/>
                  <a:pt x="58" y="353"/>
                  <a:pt x="74" y="384"/>
                </a:cubicBezTo>
                <a:cubicBezTo>
                  <a:pt x="90" y="415"/>
                  <a:pt x="107" y="445"/>
                  <a:pt x="134" y="474"/>
                </a:cubicBezTo>
                <a:cubicBezTo>
                  <a:pt x="161" y="503"/>
                  <a:pt x="201" y="537"/>
                  <a:pt x="234" y="560"/>
                </a:cubicBezTo>
                <a:cubicBezTo>
                  <a:pt x="267" y="583"/>
                  <a:pt x="302" y="599"/>
                  <a:pt x="332" y="610"/>
                </a:cubicBezTo>
                <a:cubicBezTo>
                  <a:pt x="362" y="621"/>
                  <a:pt x="386" y="625"/>
                  <a:pt x="414" y="626"/>
                </a:cubicBezTo>
                <a:cubicBezTo>
                  <a:pt x="442" y="627"/>
                  <a:pt x="472" y="622"/>
                  <a:pt x="502" y="614"/>
                </a:cubicBezTo>
                <a:cubicBezTo>
                  <a:pt x="532" y="606"/>
                  <a:pt x="561" y="594"/>
                  <a:pt x="592" y="576"/>
                </a:cubicBezTo>
                <a:cubicBezTo>
                  <a:pt x="623" y="558"/>
                  <a:pt x="656" y="534"/>
                  <a:pt x="686" y="506"/>
                </a:cubicBezTo>
                <a:cubicBezTo>
                  <a:pt x="716" y="478"/>
                  <a:pt x="750" y="440"/>
                  <a:pt x="772" y="410"/>
                </a:cubicBezTo>
                <a:cubicBezTo>
                  <a:pt x="794" y="380"/>
                  <a:pt x="806" y="349"/>
                  <a:pt x="816" y="324"/>
                </a:cubicBezTo>
                <a:cubicBezTo>
                  <a:pt x="826" y="299"/>
                  <a:pt x="829" y="275"/>
                  <a:pt x="832" y="262"/>
                </a:cubicBez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48" name="Freeform 39"/>
          <p:cNvSpPr>
            <a:spLocks/>
          </p:cNvSpPr>
          <p:nvPr/>
        </p:nvSpPr>
        <p:spPr bwMode="auto">
          <a:xfrm>
            <a:off x="3132138" y="2960688"/>
            <a:ext cx="730250" cy="522287"/>
          </a:xfrm>
          <a:custGeom>
            <a:avLst/>
            <a:gdLst>
              <a:gd name="T0" fmla="*/ 0 w 520"/>
              <a:gd name="T1" fmla="*/ 2147483647 h 329"/>
              <a:gd name="T2" fmla="*/ 2147483647 w 520"/>
              <a:gd name="T3" fmla="*/ 2147483647 h 329"/>
              <a:gd name="T4" fmla="*/ 2147483647 w 520"/>
              <a:gd name="T5" fmla="*/ 2147483647 h 329"/>
              <a:gd name="T6" fmla="*/ 2147483647 w 520"/>
              <a:gd name="T7" fmla="*/ 2147483647 h 329"/>
              <a:gd name="T8" fmla="*/ 2147483647 w 520"/>
              <a:gd name="T9" fmla="*/ 2147483647 h 329"/>
              <a:gd name="T10" fmla="*/ 2147483647 w 520"/>
              <a:gd name="T11" fmla="*/ 2147483647 h 329"/>
              <a:gd name="T12" fmla="*/ 2147483647 w 520"/>
              <a:gd name="T13" fmla="*/ 2147483647 h 329"/>
              <a:gd name="T14" fmla="*/ 2147483647 w 520"/>
              <a:gd name="T15" fmla="*/ 2147483647 h 329"/>
              <a:gd name="T16" fmla="*/ 2147483647 w 520"/>
              <a:gd name="T17" fmla="*/ 2147483647 h 329"/>
              <a:gd name="T18" fmla="*/ 2147483647 w 520"/>
              <a:gd name="T19" fmla="*/ 0 h 3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0"/>
              <a:gd name="T31" fmla="*/ 0 h 329"/>
              <a:gd name="T32" fmla="*/ 520 w 520"/>
              <a:gd name="T33" fmla="*/ 329 h 3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0" h="329">
                <a:moveTo>
                  <a:pt x="0" y="4"/>
                </a:moveTo>
                <a:cubicBezTo>
                  <a:pt x="5" y="21"/>
                  <a:pt x="15" y="69"/>
                  <a:pt x="30" y="104"/>
                </a:cubicBezTo>
                <a:cubicBezTo>
                  <a:pt x="45" y="139"/>
                  <a:pt x="69" y="186"/>
                  <a:pt x="90" y="216"/>
                </a:cubicBezTo>
                <a:cubicBezTo>
                  <a:pt x="111" y="246"/>
                  <a:pt x="133" y="265"/>
                  <a:pt x="154" y="282"/>
                </a:cubicBezTo>
                <a:cubicBezTo>
                  <a:pt x="175" y="299"/>
                  <a:pt x="199" y="311"/>
                  <a:pt x="216" y="318"/>
                </a:cubicBezTo>
                <a:cubicBezTo>
                  <a:pt x="233" y="325"/>
                  <a:pt x="242" y="329"/>
                  <a:pt x="258" y="326"/>
                </a:cubicBezTo>
                <a:cubicBezTo>
                  <a:pt x="274" y="323"/>
                  <a:pt x="294" y="316"/>
                  <a:pt x="314" y="302"/>
                </a:cubicBezTo>
                <a:cubicBezTo>
                  <a:pt x="334" y="288"/>
                  <a:pt x="355" y="273"/>
                  <a:pt x="380" y="244"/>
                </a:cubicBezTo>
                <a:cubicBezTo>
                  <a:pt x="405" y="215"/>
                  <a:pt x="443" y="167"/>
                  <a:pt x="466" y="126"/>
                </a:cubicBezTo>
                <a:cubicBezTo>
                  <a:pt x="489" y="85"/>
                  <a:pt x="509" y="26"/>
                  <a:pt x="520" y="0"/>
                </a:cubicBez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49" name="Line 40"/>
          <p:cNvSpPr>
            <a:spLocks noChangeShapeType="1"/>
          </p:cNvSpPr>
          <p:nvPr/>
        </p:nvSpPr>
        <p:spPr bwMode="auto">
          <a:xfrm flipV="1">
            <a:off x="4060825" y="2305050"/>
            <a:ext cx="65088" cy="15398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0" name="Line 41"/>
          <p:cNvSpPr>
            <a:spLocks noChangeShapeType="1"/>
          </p:cNvSpPr>
          <p:nvPr/>
        </p:nvSpPr>
        <p:spPr bwMode="auto">
          <a:xfrm flipV="1">
            <a:off x="3730625" y="2208213"/>
            <a:ext cx="44450" cy="1778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1" name="Line 42"/>
          <p:cNvSpPr>
            <a:spLocks noChangeShapeType="1"/>
          </p:cNvSpPr>
          <p:nvPr/>
        </p:nvSpPr>
        <p:spPr bwMode="auto">
          <a:xfrm flipH="1" flipV="1">
            <a:off x="3236913" y="2201863"/>
            <a:ext cx="25400" cy="19367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2" name="Line 43"/>
          <p:cNvSpPr>
            <a:spLocks noChangeShapeType="1"/>
          </p:cNvSpPr>
          <p:nvPr/>
        </p:nvSpPr>
        <p:spPr bwMode="auto">
          <a:xfrm flipH="1" flipV="1">
            <a:off x="2908300" y="2293938"/>
            <a:ext cx="61913" cy="1651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3" name="Line 44"/>
          <p:cNvSpPr>
            <a:spLocks noChangeShapeType="1"/>
          </p:cNvSpPr>
          <p:nvPr/>
        </p:nvSpPr>
        <p:spPr bwMode="auto">
          <a:xfrm flipH="1" flipV="1">
            <a:off x="2593975" y="2386013"/>
            <a:ext cx="114300" cy="3048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 name="Line 45"/>
          <p:cNvSpPr>
            <a:spLocks noChangeShapeType="1"/>
          </p:cNvSpPr>
          <p:nvPr/>
        </p:nvSpPr>
        <p:spPr bwMode="auto">
          <a:xfrm flipH="1" flipV="1">
            <a:off x="2798763" y="2716213"/>
            <a:ext cx="41275" cy="1365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 name="Line 46"/>
          <p:cNvSpPr>
            <a:spLocks noChangeShapeType="1"/>
          </p:cNvSpPr>
          <p:nvPr/>
        </p:nvSpPr>
        <p:spPr bwMode="auto">
          <a:xfrm flipH="1" flipV="1">
            <a:off x="3054350" y="2779713"/>
            <a:ext cx="26988" cy="16827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6" name="Line 47"/>
          <p:cNvSpPr>
            <a:spLocks noChangeShapeType="1"/>
          </p:cNvSpPr>
          <p:nvPr/>
        </p:nvSpPr>
        <p:spPr bwMode="auto">
          <a:xfrm flipV="1">
            <a:off x="3763963" y="2811463"/>
            <a:ext cx="39687" cy="1746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7" name="Line 48"/>
          <p:cNvSpPr>
            <a:spLocks noChangeShapeType="1"/>
          </p:cNvSpPr>
          <p:nvPr/>
        </p:nvSpPr>
        <p:spPr bwMode="auto">
          <a:xfrm flipV="1">
            <a:off x="4157663" y="2671763"/>
            <a:ext cx="55562" cy="2032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8" name="Line 49"/>
          <p:cNvSpPr>
            <a:spLocks noChangeShapeType="1"/>
          </p:cNvSpPr>
          <p:nvPr/>
        </p:nvSpPr>
        <p:spPr bwMode="auto">
          <a:xfrm flipV="1">
            <a:off x="4306888" y="2397125"/>
            <a:ext cx="96837" cy="2889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9" name="Line 50"/>
          <p:cNvSpPr>
            <a:spLocks noChangeShapeType="1"/>
          </p:cNvSpPr>
          <p:nvPr/>
        </p:nvSpPr>
        <p:spPr bwMode="auto">
          <a:xfrm flipV="1">
            <a:off x="3497263" y="2182813"/>
            <a:ext cx="0" cy="19685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0" name="Text Box 51"/>
          <p:cNvSpPr txBox="1">
            <a:spLocks noChangeArrowheads="1"/>
          </p:cNvSpPr>
          <p:nvPr/>
        </p:nvSpPr>
        <p:spPr bwMode="auto">
          <a:xfrm>
            <a:off x="4475163" y="2211388"/>
            <a:ext cx="35779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de-DE" altLang="zh-CN" sz="2200" b="1" i="1" dirty="0">
                <a:cs typeface="Times New Roman" panose="02020603050405020304" pitchFamily="18" charset="0"/>
                <a:sym typeface="Symbol" pitchFamily="18" charset="2"/>
              </a:rPr>
              <a:t>T</a:t>
            </a:r>
            <a:endParaRPr lang="de-DE" altLang="zh-CN" sz="2200" b="1" i="1" dirty="0">
              <a:cs typeface="Times New Roman" panose="02020603050405020304" pitchFamily="18" charset="0"/>
            </a:endParaRPr>
          </a:p>
        </p:txBody>
      </p:sp>
      <p:sp>
        <p:nvSpPr>
          <p:cNvPr id="1061" name="Line 52"/>
          <p:cNvSpPr>
            <a:spLocks noChangeShapeType="1"/>
          </p:cNvSpPr>
          <p:nvPr/>
        </p:nvSpPr>
        <p:spPr bwMode="auto">
          <a:xfrm flipV="1">
            <a:off x="3495675" y="712788"/>
            <a:ext cx="0" cy="400050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2" name="Line 53"/>
          <p:cNvSpPr>
            <a:spLocks noChangeShapeType="1"/>
          </p:cNvSpPr>
          <p:nvPr/>
        </p:nvSpPr>
        <p:spPr bwMode="auto">
          <a:xfrm flipV="1">
            <a:off x="2738438" y="4689475"/>
            <a:ext cx="0" cy="352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3" name="Line 54"/>
          <p:cNvSpPr>
            <a:spLocks noChangeShapeType="1"/>
          </p:cNvSpPr>
          <p:nvPr/>
        </p:nvSpPr>
        <p:spPr bwMode="auto">
          <a:xfrm flipV="1">
            <a:off x="4354513" y="4689475"/>
            <a:ext cx="0" cy="361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4" name="Line 55"/>
          <p:cNvSpPr>
            <a:spLocks noChangeShapeType="1"/>
          </p:cNvSpPr>
          <p:nvPr/>
        </p:nvSpPr>
        <p:spPr bwMode="auto">
          <a:xfrm>
            <a:off x="2746375" y="4927600"/>
            <a:ext cx="160813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 name="Text Box 56"/>
          <p:cNvSpPr txBox="1">
            <a:spLocks noChangeArrowheads="1"/>
          </p:cNvSpPr>
          <p:nvPr/>
        </p:nvSpPr>
        <p:spPr bwMode="auto">
          <a:xfrm>
            <a:off x="3352800" y="4900613"/>
            <a:ext cx="4476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de-DE" altLang="zh-CN" sz="2200" b="1" dirty="0">
                <a:cs typeface="Times New Roman" panose="02020603050405020304" pitchFamily="18" charset="0"/>
              </a:rPr>
              <a:t>2</a:t>
            </a:r>
            <a:r>
              <a:rPr lang="de-DE" altLang="zh-CN" sz="2200" b="1" i="1" dirty="0">
                <a:cs typeface="Times New Roman" panose="02020603050405020304" pitchFamily="18" charset="0"/>
              </a:rPr>
              <a:t>r</a:t>
            </a:r>
          </a:p>
        </p:txBody>
      </p:sp>
      <p:sp>
        <p:nvSpPr>
          <p:cNvPr id="1066" name="Line 57"/>
          <p:cNvSpPr>
            <a:spLocks noChangeShapeType="1"/>
          </p:cNvSpPr>
          <p:nvPr/>
        </p:nvSpPr>
        <p:spPr bwMode="auto">
          <a:xfrm flipV="1">
            <a:off x="3497263" y="2806700"/>
            <a:ext cx="0" cy="19685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7" name="Freeform 58"/>
          <p:cNvSpPr>
            <a:spLocks/>
          </p:cNvSpPr>
          <p:nvPr/>
        </p:nvSpPr>
        <p:spPr bwMode="auto">
          <a:xfrm>
            <a:off x="3863975" y="2425700"/>
            <a:ext cx="33338" cy="533400"/>
          </a:xfrm>
          <a:custGeom>
            <a:avLst/>
            <a:gdLst>
              <a:gd name="T0" fmla="*/ 2147483647 w 24"/>
              <a:gd name="T1" fmla="*/ 0 h 336"/>
              <a:gd name="T2" fmla="*/ 2147483647 w 24"/>
              <a:gd name="T3" fmla="*/ 2147483647 h 336"/>
              <a:gd name="T4" fmla="*/ 2147483647 w 24"/>
              <a:gd name="T5" fmla="*/ 2147483647 h 336"/>
              <a:gd name="T6" fmla="*/ 2147483647 w 24"/>
              <a:gd name="T7" fmla="*/ 2147483647 h 336"/>
              <a:gd name="T8" fmla="*/ 2147483647 w 24"/>
              <a:gd name="T9" fmla="*/ 2147483647 h 336"/>
              <a:gd name="T10" fmla="*/ 0 w 24"/>
              <a:gd name="T11" fmla="*/ 2147483647 h 336"/>
              <a:gd name="T12" fmla="*/ 0 60000 65536"/>
              <a:gd name="T13" fmla="*/ 0 60000 65536"/>
              <a:gd name="T14" fmla="*/ 0 60000 65536"/>
              <a:gd name="T15" fmla="*/ 0 60000 65536"/>
              <a:gd name="T16" fmla="*/ 0 60000 65536"/>
              <a:gd name="T17" fmla="*/ 0 60000 65536"/>
              <a:gd name="T18" fmla="*/ 0 w 24"/>
              <a:gd name="T19" fmla="*/ 0 h 336"/>
              <a:gd name="T20" fmla="*/ 24 w 24"/>
              <a:gd name="T21" fmla="*/ 336 h 336"/>
            </a:gdLst>
            <a:ahLst/>
            <a:cxnLst>
              <a:cxn ang="T12">
                <a:pos x="T0" y="T1"/>
              </a:cxn>
              <a:cxn ang="T13">
                <a:pos x="T2" y="T3"/>
              </a:cxn>
              <a:cxn ang="T14">
                <a:pos x="T4" y="T5"/>
              </a:cxn>
              <a:cxn ang="T15">
                <a:pos x="T6" y="T7"/>
              </a:cxn>
              <a:cxn ang="T16">
                <a:pos x="T8" y="T9"/>
              </a:cxn>
              <a:cxn ang="T17">
                <a:pos x="T10" y="T11"/>
              </a:cxn>
            </a:cxnLst>
            <a:rect l="T18" t="T19" r="T20" b="T21"/>
            <a:pathLst>
              <a:path w="24" h="336">
                <a:moveTo>
                  <a:pt x="23" y="0"/>
                </a:moveTo>
                <a:cubicBezTo>
                  <a:pt x="23" y="9"/>
                  <a:pt x="23" y="31"/>
                  <a:pt x="23" y="52"/>
                </a:cubicBezTo>
                <a:cubicBezTo>
                  <a:pt x="23" y="73"/>
                  <a:pt x="24" y="98"/>
                  <a:pt x="23" y="124"/>
                </a:cubicBezTo>
                <a:cubicBezTo>
                  <a:pt x="22" y="150"/>
                  <a:pt x="20" y="182"/>
                  <a:pt x="18" y="209"/>
                </a:cubicBezTo>
                <a:cubicBezTo>
                  <a:pt x="16" y="236"/>
                  <a:pt x="14" y="265"/>
                  <a:pt x="11" y="286"/>
                </a:cubicBezTo>
                <a:cubicBezTo>
                  <a:pt x="8" y="307"/>
                  <a:pt x="4" y="322"/>
                  <a:pt x="0" y="33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8" name="Freeform 59"/>
          <p:cNvSpPr>
            <a:spLocks/>
          </p:cNvSpPr>
          <p:nvPr/>
        </p:nvSpPr>
        <p:spPr bwMode="auto">
          <a:xfrm>
            <a:off x="2914650" y="2495550"/>
            <a:ext cx="46038" cy="425450"/>
          </a:xfrm>
          <a:custGeom>
            <a:avLst/>
            <a:gdLst>
              <a:gd name="T0" fmla="*/ 2147483647 w 33"/>
              <a:gd name="T1" fmla="*/ 0 h 268"/>
              <a:gd name="T2" fmla="*/ 2147483647 w 33"/>
              <a:gd name="T3" fmla="*/ 2147483647 h 268"/>
              <a:gd name="T4" fmla="*/ 2147483647 w 33"/>
              <a:gd name="T5" fmla="*/ 2147483647 h 268"/>
              <a:gd name="T6" fmla="*/ 2147483647 w 33"/>
              <a:gd name="T7" fmla="*/ 2147483647 h 268"/>
              <a:gd name="T8" fmla="*/ 2147483647 w 33"/>
              <a:gd name="T9" fmla="*/ 2147483647 h 268"/>
              <a:gd name="T10" fmla="*/ 0 60000 65536"/>
              <a:gd name="T11" fmla="*/ 0 60000 65536"/>
              <a:gd name="T12" fmla="*/ 0 60000 65536"/>
              <a:gd name="T13" fmla="*/ 0 60000 65536"/>
              <a:gd name="T14" fmla="*/ 0 60000 65536"/>
              <a:gd name="T15" fmla="*/ 0 w 33"/>
              <a:gd name="T16" fmla="*/ 0 h 268"/>
              <a:gd name="T17" fmla="*/ 33 w 33"/>
              <a:gd name="T18" fmla="*/ 268 h 268"/>
            </a:gdLst>
            <a:ahLst/>
            <a:cxnLst>
              <a:cxn ang="T10">
                <a:pos x="T0" y="T1"/>
              </a:cxn>
              <a:cxn ang="T11">
                <a:pos x="T2" y="T3"/>
              </a:cxn>
              <a:cxn ang="T12">
                <a:pos x="T4" y="T5"/>
              </a:cxn>
              <a:cxn ang="T13">
                <a:pos x="T6" y="T7"/>
              </a:cxn>
              <a:cxn ang="T14">
                <a:pos x="T8" y="T9"/>
              </a:cxn>
            </a:cxnLst>
            <a:rect l="T15" t="T16" r="T17" b="T18"/>
            <a:pathLst>
              <a:path w="33" h="268">
                <a:moveTo>
                  <a:pt x="1" y="0"/>
                </a:moveTo>
                <a:cubicBezTo>
                  <a:pt x="0" y="17"/>
                  <a:pt x="0" y="35"/>
                  <a:pt x="1" y="56"/>
                </a:cubicBezTo>
                <a:cubicBezTo>
                  <a:pt x="2" y="77"/>
                  <a:pt x="4" y="103"/>
                  <a:pt x="7" y="128"/>
                </a:cubicBezTo>
                <a:cubicBezTo>
                  <a:pt x="10" y="153"/>
                  <a:pt x="13" y="184"/>
                  <a:pt x="17" y="207"/>
                </a:cubicBezTo>
                <a:cubicBezTo>
                  <a:pt x="21" y="230"/>
                  <a:pt x="27" y="249"/>
                  <a:pt x="33" y="26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9" name="Line 60"/>
          <p:cNvSpPr>
            <a:spLocks noChangeShapeType="1"/>
          </p:cNvSpPr>
          <p:nvPr/>
        </p:nvSpPr>
        <p:spPr bwMode="auto">
          <a:xfrm flipV="1">
            <a:off x="4311650" y="1906588"/>
            <a:ext cx="254000" cy="7921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74269" name="Object 61"/>
          <p:cNvGraphicFramePr>
            <a:graphicFrameLocks noChangeAspect="1"/>
          </p:cNvGraphicFramePr>
          <p:nvPr>
            <p:extLst>
              <p:ext uri="{D42A27DB-BD31-4B8C-83A1-F6EECF244321}">
                <p14:modId xmlns:p14="http://schemas.microsoft.com/office/powerpoint/2010/main" val="2037466511"/>
              </p:ext>
            </p:extLst>
          </p:nvPr>
        </p:nvGraphicFramePr>
        <p:xfrm>
          <a:off x="6789738" y="1443038"/>
          <a:ext cx="1892300" cy="1035050"/>
        </p:xfrm>
        <a:graphic>
          <a:graphicData uri="http://schemas.openxmlformats.org/presentationml/2006/ole">
            <mc:AlternateContent xmlns:mc="http://schemas.openxmlformats.org/markup-compatibility/2006">
              <mc:Choice xmlns:v="urn:schemas-microsoft-com:vml" Requires="v">
                <p:oleObj spid="_x0000_s50293" name="公式" r:id="rId4" imgW="812520" imgH="444240" progId="Equation.3">
                  <p:embed/>
                </p:oleObj>
              </mc:Choice>
              <mc:Fallback>
                <p:oleObj name="公式" r:id="rId4" imgW="812520" imgH="444240" progId="Equation.3">
                  <p:embed/>
                  <p:pic>
                    <p:nvPicPr>
                      <p:cNvPr id="0" name=""/>
                      <p:cNvPicPr>
                        <a:picLocks noChangeAspect="1" noChangeArrowheads="1"/>
                      </p:cNvPicPr>
                      <p:nvPr/>
                    </p:nvPicPr>
                    <p:blipFill>
                      <a:blip r:embed="rId5"/>
                      <a:srcRect/>
                      <a:stretch>
                        <a:fillRect/>
                      </a:stretch>
                    </p:blipFill>
                    <p:spPr bwMode="auto">
                      <a:xfrm>
                        <a:off x="6789738" y="1443038"/>
                        <a:ext cx="1892300" cy="10350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74270" name="Rectangle 62"/>
          <p:cNvSpPr>
            <a:spLocks noChangeArrowheads="1"/>
          </p:cNvSpPr>
          <p:nvPr/>
        </p:nvSpPr>
        <p:spPr bwMode="auto">
          <a:xfrm>
            <a:off x="5230813" y="162877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kumimoji="1" lang="zh-CN" altLang="en-US" sz="2400" b="1">
                <a:solidFill>
                  <a:srgbClr val="000066"/>
                </a:solidFill>
                <a:ea typeface="幼圆" pitchFamily="49" charset="-122"/>
              </a:rPr>
              <a:t>上升高度</a:t>
            </a:r>
          </a:p>
        </p:txBody>
      </p:sp>
      <p:sp>
        <p:nvSpPr>
          <p:cNvPr id="1374271" name="Text Box 63"/>
          <p:cNvSpPr txBox="1">
            <a:spLocks noChangeArrowheads="1"/>
          </p:cNvSpPr>
          <p:nvPr/>
        </p:nvSpPr>
        <p:spPr bwMode="auto">
          <a:xfrm>
            <a:off x="5545138" y="823913"/>
            <a:ext cx="23425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l-GR" altLang="zh-CN" sz="2400" b="1" dirty="0">
                <a:solidFill>
                  <a:srgbClr val="000066"/>
                </a:solidFill>
                <a:ea typeface="华文新魏" pitchFamily="2" charset="-122"/>
                <a:sym typeface="Symbol" pitchFamily="18" charset="2"/>
              </a:rPr>
              <a:t></a:t>
            </a:r>
            <a:r>
              <a:rPr kumimoji="1" lang="en-US" altLang="zh-CN" sz="2400" b="1" i="1" dirty="0">
                <a:solidFill>
                  <a:srgbClr val="000066"/>
                </a:solidFill>
                <a:ea typeface="华文新魏" pitchFamily="2" charset="-122"/>
                <a:cs typeface="Arial" charset="0"/>
              </a:rPr>
              <a:t>r</a:t>
            </a:r>
            <a:r>
              <a:rPr kumimoji="1" lang="en-US" altLang="zh-CN" sz="2400" b="1" baseline="30000" dirty="0">
                <a:solidFill>
                  <a:srgbClr val="000066"/>
                </a:solidFill>
                <a:ea typeface="华文新魏" pitchFamily="2" charset="-122"/>
                <a:cs typeface="Arial" charset="0"/>
              </a:rPr>
              <a:t>2</a:t>
            </a:r>
            <a:r>
              <a:rPr kumimoji="1" lang="en-US" altLang="zh-CN" sz="2400" b="1" i="1" dirty="0">
                <a:solidFill>
                  <a:srgbClr val="000066"/>
                </a:solidFill>
                <a:ea typeface="华文新魏" pitchFamily="2" charset="-122"/>
                <a:cs typeface="Arial" charset="0"/>
              </a:rPr>
              <a:t>h</a:t>
            </a:r>
            <a:r>
              <a:rPr kumimoji="1" lang="en-US" altLang="zh-CN" sz="2400" b="1" baseline="-25000" dirty="0">
                <a:solidFill>
                  <a:srgbClr val="000066"/>
                </a:solidFill>
                <a:ea typeface="华文新魏" pitchFamily="2" charset="-122"/>
                <a:cs typeface="Arial" charset="0"/>
              </a:rPr>
              <a:t>c</a:t>
            </a:r>
            <a:r>
              <a:rPr kumimoji="1" lang="el-GR" altLang="zh-CN" sz="2400" b="1" i="1" dirty="0">
                <a:solidFill>
                  <a:srgbClr val="000066"/>
                </a:solidFill>
                <a:ea typeface="华文新魏" pitchFamily="2" charset="-122"/>
                <a:cs typeface="Arial" charset="0"/>
                <a:sym typeface="Symbol" pitchFamily="18" charset="2"/>
              </a:rPr>
              <a:t></a:t>
            </a:r>
            <a:r>
              <a:rPr kumimoji="1" lang="en-US" altLang="zh-CN" sz="2400" b="1" baseline="-25000" dirty="0">
                <a:solidFill>
                  <a:srgbClr val="000066"/>
                </a:solidFill>
                <a:ea typeface="华文新魏" pitchFamily="2" charset="-122"/>
                <a:cs typeface="Arial" charset="0"/>
              </a:rPr>
              <a:t>w</a:t>
            </a:r>
            <a:r>
              <a:rPr kumimoji="1" lang="en-US" altLang="zh-CN" sz="2400" b="1" dirty="0">
                <a:solidFill>
                  <a:srgbClr val="000066"/>
                </a:solidFill>
                <a:ea typeface="华文新魏" pitchFamily="2" charset="-122"/>
                <a:cs typeface="Arial" charset="0"/>
              </a:rPr>
              <a:t>=2</a:t>
            </a:r>
            <a:r>
              <a:rPr kumimoji="1" lang="en-US" altLang="zh-CN" sz="2400" b="1" dirty="0">
                <a:solidFill>
                  <a:srgbClr val="000066"/>
                </a:solidFill>
                <a:ea typeface="华文新魏" pitchFamily="2" charset="-122"/>
                <a:cs typeface="Arial" charset="0"/>
                <a:sym typeface="Symbol" pitchFamily="18" charset="2"/>
              </a:rPr>
              <a:t></a:t>
            </a:r>
            <a:r>
              <a:rPr kumimoji="1" lang="en-US" altLang="zh-CN" sz="2400" b="1" i="1" dirty="0">
                <a:solidFill>
                  <a:srgbClr val="000066"/>
                </a:solidFill>
                <a:ea typeface="华文新魏" pitchFamily="2" charset="-122"/>
                <a:cs typeface="Arial" charset="0"/>
              </a:rPr>
              <a:t>rT</a:t>
            </a:r>
            <a:r>
              <a:rPr kumimoji="1" lang="en-US" altLang="zh-CN" sz="2400" b="1" dirty="0">
                <a:solidFill>
                  <a:srgbClr val="000066"/>
                </a:solidFill>
                <a:ea typeface="华文新魏" pitchFamily="2" charset="-122"/>
                <a:cs typeface="Arial" charset="0"/>
              </a:rPr>
              <a:t>cos</a:t>
            </a:r>
            <a:r>
              <a:rPr kumimoji="1" lang="en-US" altLang="zh-CN" sz="2400" b="1" i="1" dirty="0">
                <a:solidFill>
                  <a:srgbClr val="000066"/>
                </a:solidFill>
                <a:ea typeface="华文新魏" pitchFamily="2" charset="-122"/>
                <a:cs typeface="Arial" charset="0"/>
                <a:sym typeface="Symbol" pitchFamily="18" charset="2"/>
              </a:rPr>
              <a:t></a:t>
            </a:r>
            <a:endParaRPr kumimoji="1" lang="el-GR" altLang="zh-CN" sz="2400" b="1" i="1" dirty="0">
              <a:solidFill>
                <a:srgbClr val="000066"/>
              </a:solidFill>
              <a:ea typeface="华文新魏" pitchFamily="2" charset="-122"/>
              <a:cs typeface="Arial" charset="0"/>
            </a:endParaRPr>
          </a:p>
        </p:txBody>
      </p:sp>
      <p:sp>
        <p:nvSpPr>
          <p:cNvPr id="50"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中水</a:t>
            </a:r>
          </a:p>
        </p:txBody>
      </p:sp>
      <p:sp>
        <p:nvSpPr>
          <p:cNvPr id="51" name="Text Box 101"/>
          <p:cNvSpPr txBox="1">
            <a:spLocks noChangeArrowheads="1"/>
          </p:cNvSpPr>
          <p:nvPr/>
        </p:nvSpPr>
        <p:spPr bwMode="auto">
          <a:xfrm>
            <a:off x="6670104" y="4433916"/>
            <a:ext cx="1730259" cy="894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r>
              <a:rPr lang="zh-CN" altLang="en-US" sz="2000" b="1" dirty="0" smtClean="0">
                <a:solidFill>
                  <a:srgbClr val="A50021"/>
                </a:solidFill>
                <a:latin typeface="幼圆" pitchFamily="49" charset="-122"/>
                <a:ea typeface="幼圆" pitchFamily="49" charset="-122"/>
              </a:rPr>
              <a:t>毛细吸水现象</a:t>
            </a:r>
          </a:p>
          <a:p>
            <a:pPr eaLnBrk="1" hangingPunct="1"/>
            <a:r>
              <a:rPr lang="zh-CN" altLang="en-US" sz="2000" b="1" dirty="0" smtClean="0">
                <a:solidFill>
                  <a:srgbClr val="A50021"/>
                </a:solidFill>
                <a:latin typeface="幼圆" pitchFamily="49" charset="-122"/>
                <a:ea typeface="幼圆" pitchFamily="49" charset="-122"/>
              </a:rPr>
              <a:t>澳洲蜥蜴录像</a:t>
            </a:r>
            <a:endParaRPr lang="zh-CN" altLang="en-US" sz="2000" b="1" dirty="0">
              <a:solidFill>
                <a:srgbClr val="A50021"/>
              </a:solidFill>
              <a:latin typeface="幼圆" pitchFamily="49" charset="-122"/>
              <a:ea typeface="幼圆" pitchFamily="49" charset="-122"/>
            </a:endParaRPr>
          </a:p>
        </p:txBody>
      </p:sp>
      <p:sp>
        <p:nvSpPr>
          <p:cNvPr id="52" name="AutoShape 12">
            <a:hlinkClick r:id="rId6" action="ppaction://hlinkfile" highlightClick="1"/>
          </p:cNvPr>
          <p:cNvSpPr>
            <a:spLocks noChangeArrowheads="1"/>
          </p:cNvSpPr>
          <p:nvPr/>
        </p:nvSpPr>
        <p:spPr bwMode="auto">
          <a:xfrm>
            <a:off x="5502664" y="4439413"/>
            <a:ext cx="988642" cy="850484"/>
          </a:xfrm>
          <a:prstGeom prst="actionButtonMovie">
            <a:avLst/>
          </a:prstGeom>
          <a:solidFill>
            <a:schemeClr val="accent6">
              <a:lumMod val="75000"/>
            </a:schemeClr>
          </a:solidFill>
          <a:ln>
            <a:noFill/>
          </a:ln>
          <a:extLst/>
        </p:spPr>
        <p:txBody>
          <a:bodyPr wrap="square" lIns="90000" tIns="46800" rIns="90000" bIns="46800" anchor="ctr">
            <a:spAutoFit/>
          </a:bodyPr>
          <a:lstStyle/>
          <a:p>
            <a:endParaRPr lang="zh-CN" altLang="en-US"/>
          </a:p>
        </p:txBody>
      </p:sp>
      <p:sp>
        <p:nvSpPr>
          <p:cNvPr id="54" name="Text Box 8"/>
          <p:cNvSpPr txBox="1">
            <a:spLocks noChangeArrowheads="1"/>
          </p:cNvSpPr>
          <p:nvPr/>
        </p:nvSpPr>
        <p:spPr bwMode="auto">
          <a:xfrm>
            <a:off x="5054600" y="2877209"/>
            <a:ext cx="3848100" cy="1260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6700" indent="-266700">
              <a:spcBef>
                <a:spcPts val="0"/>
              </a:spcBef>
              <a:spcAft>
                <a:spcPts val="0"/>
              </a:spcAft>
              <a:buClr>
                <a:srgbClr val="A50021"/>
              </a:buClr>
              <a:buSzPct val="140000"/>
              <a:buFont typeface="Arial" panose="020B0604020202020204" pitchFamily="34" charset="0"/>
              <a:buChar char="•"/>
            </a:pPr>
            <a:r>
              <a:rPr lang="zh-CN" altLang="en-US" sz="2200" b="1" dirty="0">
                <a:solidFill>
                  <a:srgbClr val="000066"/>
                </a:solidFill>
                <a:ea typeface="幼圆" panose="02010509060101010101" pitchFamily="49" charset="-122"/>
                <a:cs typeface="Times New Roman" panose="02020603050405020304" pitchFamily="18" charset="0"/>
              </a:rPr>
              <a:t>毛细升高与孔径成</a:t>
            </a:r>
            <a:r>
              <a:rPr lang="zh-CN" altLang="en-US" sz="2200" b="1" dirty="0" smtClean="0">
                <a:solidFill>
                  <a:srgbClr val="000066"/>
                </a:solidFill>
                <a:ea typeface="幼圆" panose="02010509060101010101" pitchFamily="49" charset="-122"/>
                <a:cs typeface="Times New Roman" panose="02020603050405020304" pitchFamily="18" charset="0"/>
              </a:rPr>
              <a:t>反比</a:t>
            </a:r>
            <a:endParaRPr lang="en-US" altLang="zh-CN" sz="2200" b="1" dirty="0" smtClean="0">
              <a:solidFill>
                <a:srgbClr val="000066"/>
              </a:solidFill>
              <a:ea typeface="幼圆" panose="02010509060101010101" pitchFamily="49" charset="-122"/>
              <a:cs typeface="Times New Roman" panose="02020603050405020304" pitchFamily="18" charset="0"/>
            </a:endParaRPr>
          </a:p>
          <a:p>
            <a:pPr marL="266700" indent="-266700">
              <a:spcBef>
                <a:spcPts val="0"/>
              </a:spcBef>
              <a:spcAft>
                <a:spcPts val="0"/>
              </a:spcAft>
              <a:buClr>
                <a:srgbClr val="A50021"/>
              </a:buClr>
              <a:buSzPct val="140000"/>
              <a:buFont typeface="Arial" panose="020B0604020202020204" pitchFamily="34" charset="0"/>
              <a:buChar char="•"/>
            </a:pPr>
            <a:r>
              <a:rPr lang="zh-CN" altLang="en-US" sz="2200" b="1" dirty="0">
                <a:solidFill>
                  <a:srgbClr val="000066"/>
                </a:solidFill>
                <a:ea typeface="幼圆" panose="02010509060101010101" pitchFamily="49" charset="-122"/>
                <a:cs typeface="Times New Roman" panose="02020603050405020304" pitchFamily="18" charset="0"/>
              </a:rPr>
              <a:t>土</a:t>
            </a:r>
            <a:r>
              <a:rPr lang="zh-CN" altLang="en-US" sz="2200" b="1" dirty="0" smtClean="0">
                <a:solidFill>
                  <a:srgbClr val="000066"/>
                </a:solidFill>
                <a:ea typeface="幼圆" panose="02010509060101010101" pitchFamily="49" charset="-122"/>
                <a:cs typeface="Times New Roman" panose="02020603050405020304" pitchFamily="18" charset="0"/>
              </a:rPr>
              <a:t>颗粒直径</a:t>
            </a:r>
            <a:r>
              <a:rPr lang="zh-CN" altLang="en-US" sz="2200" b="1" dirty="0">
                <a:solidFill>
                  <a:srgbClr val="000066"/>
                </a:solidFill>
                <a:ea typeface="幼圆" panose="02010509060101010101" pitchFamily="49" charset="-122"/>
                <a:cs typeface="Times New Roman" panose="02020603050405020304" pitchFamily="18" charset="0"/>
              </a:rPr>
              <a:t>越小，</a:t>
            </a:r>
            <a:r>
              <a:rPr lang="zh-CN" altLang="en-US" sz="2200" b="1" dirty="0" smtClean="0">
                <a:solidFill>
                  <a:srgbClr val="000066"/>
                </a:solidFill>
                <a:ea typeface="幼圆" panose="02010509060101010101" pitchFamily="49" charset="-122"/>
                <a:cs typeface="Times New Roman" panose="02020603050405020304" pitchFamily="18" charset="0"/>
              </a:rPr>
              <a:t>孔隙直径越</a:t>
            </a:r>
            <a:r>
              <a:rPr lang="zh-CN" altLang="en-US" sz="2200" b="1" dirty="0">
                <a:solidFill>
                  <a:srgbClr val="000066"/>
                </a:solidFill>
                <a:ea typeface="幼圆" panose="02010509060101010101" pitchFamily="49" charset="-122"/>
                <a:cs typeface="Times New Roman" panose="02020603050405020304" pitchFamily="18" charset="0"/>
              </a:rPr>
              <a:t>细</a:t>
            </a:r>
            <a:r>
              <a:rPr lang="zh-CN" altLang="en-US" sz="2200" b="1" dirty="0" smtClean="0">
                <a:solidFill>
                  <a:srgbClr val="000066"/>
                </a:solidFill>
                <a:ea typeface="幼圆" panose="02010509060101010101" pitchFamily="49" charset="-122"/>
                <a:cs typeface="Times New Roman" panose="02020603050405020304" pitchFamily="18" charset="0"/>
              </a:rPr>
              <a:t>，毛细水上升高度</a:t>
            </a:r>
            <a:r>
              <a:rPr lang="zh-CN" altLang="en-US" sz="2200" b="1" dirty="0">
                <a:solidFill>
                  <a:srgbClr val="000066"/>
                </a:solidFill>
                <a:ea typeface="幼圆" panose="02010509060101010101" pitchFamily="49" charset="-122"/>
                <a:cs typeface="Times New Roman" panose="02020603050405020304" pitchFamily="18" charset="0"/>
              </a:rPr>
              <a:t>越大</a:t>
            </a:r>
            <a:endParaRPr lang="en-US" altLang="zh-CN" sz="2200" b="1" dirty="0" smtClean="0">
              <a:solidFill>
                <a:srgbClr val="000066"/>
              </a:solidFill>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17014238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1374271"/>
                                        </p:tgtEl>
                                        <p:attrNameLst>
                                          <p:attrName>style.visibility</p:attrName>
                                        </p:attrNameLst>
                                      </p:cBhvr>
                                      <p:to>
                                        <p:strVal val="visible"/>
                                      </p:to>
                                    </p:set>
                                    <p:animEffect transition="in" filter="fade">
                                      <p:cBhvr>
                                        <p:cTn id="7" dur="1000"/>
                                        <p:tgtEl>
                                          <p:spTgt spid="1374271"/>
                                        </p:tgtEl>
                                      </p:cBhvr>
                                    </p:animEffect>
                                    <p:anim calcmode="lin" valueType="num">
                                      <p:cBhvr>
                                        <p:cTn id="8" dur="1000" fill="hold"/>
                                        <p:tgtEl>
                                          <p:spTgt spid="1374271"/>
                                        </p:tgtEl>
                                        <p:attrNameLst>
                                          <p:attrName>ppt_x</p:attrName>
                                        </p:attrNameLst>
                                      </p:cBhvr>
                                      <p:tavLst>
                                        <p:tav tm="0">
                                          <p:val>
                                            <p:strVal val="#ppt_x"/>
                                          </p:val>
                                        </p:tav>
                                        <p:tav tm="100000">
                                          <p:val>
                                            <p:strVal val="#ppt_x"/>
                                          </p:val>
                                        </p:tav>
                                      </p:tavLst>
                                    </p:anim>
                                    <p:anim calcmode="lin" valueType="num">
                                      <p:cBhvr>
                                        <p:cTn id="9" dur="900" decel="100000" fill="hold"/>
                                        <p:tgtEl>
                                          <p:spTgt spid="1374271"/>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374271"/>
                                        </p:tgtEl>
                                        <p:attrNameLst>
                                          <p:attrName>ppt_y</p:attrName>
                                        </p:attrNameLst>
                                      </p:cBhvr>
                                      <p:tavLst>
                                        <p:tav tm="0">
                                          <p:val>
                                            <p:strVal val="#ppt_y-.03"/>
                                          </p:val>
                                        </p:tav>
                                        <p:tav tm="100000">
                                          <p:val>
                                            <p:strVal val="#ppt_y"/>
                                          </p:val>
                                        </p:tav>
                                      </p:tavLst>
                                    </p:anim>
                                  </p:childTnLst>
                                </p:cTn>
                              </p:par>
                            </p:childTnLst>
                          </p:cTn>
                        </p:par>
                        <p:par>
                          <p:cTn id="11" fill="hold" nodeType="afterGroup">
                            <p:stCondLst>
                              <p:cond delay="1000"/>
                            </p:stCondLst>
                            <p:childTnLst>
                              <p:par>
                                <p:cTn id="12" presetID="2" presetClass="entr" presetSubtype="2" fill="hold" grpId="0" nodeType="afterEffect">
                                  <p:stCondLst>
                                    <p:cond delay="2500"/>
                                  </p:stCondLst>
                                  <p:childTnLst>
                                    <p:set>
                                      <p:cBhvr>
                                        <p:cTn id="13" dur="1" fill="hold">
                                          <p:stCondLst>
                                            <p:cond delay="0"/>
                                          </p:stCondLst>
                                        </p:cTn>
                                        <p:tgtEl>
                                          <p:spTgt spid="1374270"/>
                                        </p:tgtEl>
                                        <p:attrNameLst>
                                          <p:attrName>style.visibility</p:attrName>
                                        </p:attrNameLst>
                                      </p:cBhvr>
                                      <p:to>
                                        <p:strVal val="visible"/>
                                      </p:to>
                                    </p:set>
                                    <p:anim calcmode="lin" valueType="num">
                                      <p:cBhvr additive="base">
                                        <p:cTn id="14" dur="500" fill="hold"/>
                                        <p:tgtEl>
                                          <p:spTgt spid="1374270"/>
                                        </p:tgtEl>
                                        <p:attrNameLst>
                                          <p:attrName>ppt_x</p:attrName>
                                        </p:attrNameLst>
                                      </p:cBhvr>
                                      <p:tavLst>
                                        <p:tav tm="0">
                                          <p:val>
                                            <p:strVal val="1+#ppt_w/2"/>
                                          </p:val>
                                        </p:tav>
                                        <p:tav tm="100000">
                                          <p:val>
                                            <p:strVal val="#ppt_x"/>
                                          </p:val>
                                        </p:tav>
                                      </p:tavLst>
                                    </p:anim>
                                    <p:anim calcmode="lin" valueType="num">
                                      <p:cBhvr additive="base">
                                        <p:cTn id="15" dur="500" fill="hold"/>
                                        <p:tgtEl>
                                          <p:spTgt spid="1374270"/>
                                        </p:tgtEl>
                                        <p:attrNameLst>
                                          <p:attrName>ppt_y</p:attrName>
                                        </p:attrNameLst>
                                      </p:cBhvr>
                                      <p:tavLst>
                                        <p:tav tm="0">
                                          <p:val>
                                            <p:strVal val="#ppt_y"/>
                                          </p:val>
                                        </p:tav>
                                        <p:tav tm="100000">
                                          <p:val>
                                            <p:strVal val="#ppt_y"/>
                                          </p:val>
                                        </p:tav>
                                      </p:tavLst>
                                    </p:anim>
                                  </p:childTnLst>
                                </p:cTn>
                              </p:par>
                            </p:childTnLst>
                          </p:cTn>
                        </p:par>
                        <p:par>
                          <p:cTn id="16" fill="hold" nodeType="afterGroup">
                            <p:stCondLst>
                              <p:cond delay="4000"/>
                            </p:stCondLst>
                            <p:childTnLst>
                              <p:par>
                                <p:cTn id="17" presetID="2" presetClass="entr" presetSubtype="2" fill="hold" nodeType="afterEffect">
                                  <p:stCondLst>
                                    <p:cond delay="0"/>
                                  </p:stCondLst>
                                  <p:childTnLst>
                                    <p:set>
                                      <p:cBhvr>
                                        <p:cTn id="18" dur="1" fill="hold">
                                          <p:stCondLst>
                                            <p:cond delay="0"/>
                                          </p:stCondLst>
                                        </p:cTn>
                                        <p:tgtEl>
                                          <p:spTgt spid="1374269"/>
                                        </p:tgtEl>
                                        <p:attrNameLst>
                                          <p:attrName>style.visibility</p:attrName>
                                        </p:attrNameLst>
                                      </p:cBhvr>
                                      <p:to>
                                        <p:strVal val="visible"/>
                                      </p:to>
                                    </p:set>
                                    <p:anim calcmode="lin" valueType="num">
                                      <p:cBhvr additive="base">
                                        <p:cTn id="19" dur="500" fill="hold"/>
                                        <p:tgtEl>
                                          <p:spTgt spid="1374269"/>
                                        </p:tgtEl>
                                        <p:attrNameLst>
                                          <p:attrName>ppt_x</p:attrName>
                                        </p:attrNameLst>
                                      </p:cBhvr>
                                      <p:tavLst>
                                        <p:tav tm="0">
                                          <p:val>
                                            <p:strVal val="1+#ppt_w/2"/>
                                          </p:val>
                                        </p:tav>
                                        <p:tav tm="100000">
                                          <p:val>
                                            <p:strVal val="#ppt_x"/>
                                          </p:val>
                                        </p:tav>
                                      </p:tavLst>
                                    </p:anim>
                                    <p:anim calcmode="lin" valueType="num">
                                      <p:cBhvr additive="base">
                                        <p:cTn id="20" dur="500" fill="hold"/>
                                        <p:tgtEl>
                                          <p:spTgt spid="1374269"/>
                                        </p:tgtEl>
                                        <p:attrNameLst>
                                          <p:attrName>ppt_y</p:attrName>
                                        </p:attrNameLst>
                                      </p:cBhvr>
                                      <p:tavLst>
                                        <p:tav tm="0">
                                          <p:val>
                                            <p:strVal val="#ppt_y"/>
                                          </p:val>
                                        </p:tav>
                                        <p:tav tm="100000">
                                          <p:val>
                                            <p:strVal val="#ppt_y"/>
                                          </p:val>
                                        </p:tav>
                                      </p:tavLst>
                                    </p:anim>
                                  </p:childTnLst>
                                </p:cTn>
                              </p:par>
                            </p:childTnLst>
                          </p:cTn>
                        </p:par>
                        <p:par>
                          <p:cTn id="21" fill="hold">
                            <p:stCondLst>
                              <p:cond delay="4500"/>
                            </p:stCondLst>
                            <p:childTnLst>
                              <p:par>
                                <p:cTn id="22" presetID="22" presetClass="entr" presetSubtype="1" fill="hold" grpId="0" nodeType="after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wipe(up)">
                                      <p:cBhvr>
                                        <p:cTn id="24" dur="500"/>
                                        <p:tgtEl>
                                          <p:spTgt spid="54"/>
                                        </p:tgtEl>
                                      </p:cBhvr>
                                    </p:animEffect>
                                  </p:childTnLst>
                                </p:cTn>
                              </p:par>
                            </p:childTnLst>
                          </p:cTn>
                        </p:par>
                        <p:par>
                          <p:cTn id="25" fill="hold">
                            <p:stCondLst>
                              <p:cond delay="5000"/>
                            </p:stCondLst>
                            <p:childTnLst>
                              <p:par>
                                <p:cTn id="26" presetID="42" presetClass="entr" presetSubtype="0" fill="hold" grpId="0" nodeType="after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fade">
                                      <p:cBhvr>
                                        <p:cTn id="28" dur="1000"/>
                                        <p:tgtEl>
                                          <p:spTgt spid="51"/>
                                        </p:tgtEl>
                                      </p:cBhvr>
                                    </p:animEffect>
                                    <p:anim calcmode="lin" valueType="num">
                                      <p:cBhvr>
                                        <p:cTn id="29" dur="1000" fill="hold"/>
                                        <p:tgtEl>
                                          <p:spTgt spid="51"/>
                                        </p:tgtEl>
                                        <p:attrNameLst>
                                          <p:attrName>ppt_x</p:attrName>
                                        </p:attrNameLst>
                                      </p:cBhvr>
                                      <p:tavLst>
                                        <p:tav tm="0">
                                          <p:val>
                                            <p:strVal val="#ppt_x"/>
                                          </p:val>
                                        </p:tav>
                                        <p:tav tm="100000">
                                          <p:val>
                                            <p:strVal val="#ppt_x"/>
                                          </p:val>
                                        </p:tav>
                                      </p:tavLst>
                                    </p:anim>
                                    <p:anim calcmode="lin" valueType="num">
                                      <p:cBhvr>
                                        <p:cTn id="30" dur="1000" fill="hold"/>
                                        <p:tgtEl>
                                          <p:spTgt spid="51"/>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fade">
                                      <p:cBhvr>
                                        <p:cTn id="33" dur="1000"/>
                                        <p:tgtEl>
                                          <p:spTgt spid="52"/>
                                        </p:tgtEl>
                                      </p:cBhvr>
                                    </p:animEffect>
                                    <p:anim calcmode="lin" valueType="num">
                                      <p:cBhvr>
                                        <p:cTn id="34" dur="1000" fill="hold"/>
                                        <p:tgtEl>
                                          <p:spTgt spid="52"/>
                                        </p:tgtEl>
                                        <p:attrNameLst>
                                          <p:attrName>ppt_x</p:attrName>
                                        </p:attrNameLst>
                                      </p:cBhvr>
                                      <p:tavLst>
                                        <p:tav tm="0">
                                          <p:val>
                                            <p:strVal val="#ppt_x"/>
                                          </p:val>
                                        </p:tav>
                                        <p:tav tm="100000">
                                          <p:val>
                                            <p:strVal val="#ppt_x"/>
                                          </p:val>
                                        </p:tav>
                                      </p:tavLst>
                                    </p:anim>
                                    <p:anim calcmode="lin" valueType="num">
                                      <p:cBhvr>
                                        <p:cTn id="35"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4270" grpId="0" autoUpdateAnimBg="0"/>
      <p:bldP spid="1374271" grpId="0"/>
      <p:bldP spid="51" grpId="0"/>
      <p:bldP spid="52" grpId="0" animBg="1"/>
      <p:bldP spid="5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3"/>
          <p:cNvGrpSpPr>
            <a:grpSpLocks/>
          </p:cNvGrpSpPr>
          <p:nvPr/>
        </p:nvGrpSpPr>
        <p:grpSpPr bwMode="auto">
          <a:xfrm>
            <a:off x="4941888" y="900113"/>
            <a:ext cx="3887787" cy="2225675"/>
            <a:chOff x="3113" y="567"/>
            <a:chExt cx="2449" cy="1402"/>
          </a:xfrm>
        </p:grpSpPr>
        <p:sp>
          <p:nvSpPr>
            <p:cNvPr id="2095" name="Freeform 14"/>
            <p:cNvSpPr>
              <a:spLocks/>
            </p:cNvSpPr>
            <p:nvPr/>
          </p:nvSpPr>
          <p:spPr bwMode="auto">
            <a:xfrm>
              <a:off x="3459" y="1121"/>
              <a:ext cx="1882" cy="602"/>
            </a:xfrm>
            <a:custGeom>
              <a:avLst/>
              <a:gdLst>
                <a:gd name="T0" fmla="*/ 0 w 1140"/>
                <a:gd name="T1" fmla="*/ 0 h 500"/>
                <a:gd name="T2" fmla="*/ 89 w 1140"/>
                <a:gd name="T3" fmla="*/ 189 h 500"/>
                <a:gd name="T4" fmla="*/ 365 w 1140"/>
                <a:gd name="T5" fmla="*/ 407 h 500"/>
                <a:gd name="T6" fmla="*/ 817 w 1140"/>
                <a:gd name="T7" fmla="*/ 610 h 500"/>
                <a:gd name="T8" fmla="*/ 1486 w 1140"/>
                <a:gd name="T9" fmla="*/ 775 h 500"/>
                <a:gd name="T10" fmla="*/ 2169 w 1140"/>
                <a:gd name="T11" fmla="*/ 858 h 500"/>
                <a:gd name="T12" fmla="*/ 2889 w 1140"/>
                <a:gd name="T13" fmla="*/ 858 h 500"/>
                <a:gd name="T14" fmla="*/ 3500 w 1140"/>
                <a:gd name="T15" fmla="*/ 789 h 500"/>
                <a:gd name="T16" fmla="*/ 4112 w 1140"/>
                <a:gd name="T17" fmla="*/ 649 h 500"/>
                <a:gd name="T18" fmla="*/ 4606 w 1140"/>
                <a:gd name="T19" fmla="*/ 456 h 500"/>
                <a:gd name="T20" fmla="*/ 4969 w 1140"/>
                <a:gd name="T21" fmla="*/ 203 h 500"/>
                <a:gd name="T22" fmla="*/ 5129 w 1140"/>
                <a:gd name="T23" fmla="*/ 2 h 5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40"/>
                <a:gd name="T37" fmla="*/ 0 h 500"/>
                <a:gd name="T38" fmla="*/ 1140 w 1140"/>
                <a:gd name="T39" fmla="*/ 500 h 5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40" h="500">
                  <a:moveTo>
                    <a:pt x="0" y="0"/>
                  </a:moveTo>
                  <a:cubicBezTo>
                    <a:pt x="3" y="18"/>
                    <a:pt x="7" y="69"/>
                    <a:pt x="20" y="108"/>
                  </a:cubicBezTo>
                  <a:cubicBezTo>
                    <a:pt x="33" y="147"/>
                    <a:pt x="54" y="193"/>
                    <a:pt x="81" y="233"/>
                  </a:cubicBezTo>
                  <a:cubicBezTo>
                    <a:pt x="108" y="273"/>
                    <a:pt x="140" y="315"/>
                    <a:pt x="182" y="350"/>
                  </a:cubicBezTo>
                  <a:cubicBezTo>
                    <a:pt x="224" y="385"/>
                    <a:pt x="280" y="420"/>
                    <a:pt x="330" y="444"/>
                  </a:cubicBezTo>
                  <a:cubicBezTo>
                    <a:pt x="380" y="468"/>
                    <a:pt x="430" y="484"/>
                    <a:pt x="482" y="492"/>
                  </a:cubicBezTo>
                  <a:cubicBezTo>
                    <a:pt x="534" y="500"/>
                    <a:pt x="593" y="499"/>
                    <a:pt x="642" y="492"/>
                  </a:cubicBezTo>
                  <a:cubicBezTo>
                    <a:pt x="691" y="485"/>
                    <a:pt x="733" y="472"/>
                    <a:pt x="778" y="452"/>
                  </a:cubicBezTo>
                  <a:cubicBezTo>
                    <a:pt x="823" y="432"/>
                    <a:pt x="873" y="404"/>
                    <a:pt x="914" y="372"/>
                  </a:cubicBezTo>
                  <a:cubicBezTo>
                    <a:pt x="955" y="340"/>
                    <a:pt x="992" y="305"/>
                    <a:pt x="1024" y="262"/>
                  </a:cubicBezTo>
                  <a:cubicBezTo>
                    <a:pt x="1056" y="219"/>
                    <a:pt x="1085" y="159"/>
                    <a:pt x="1104" y="116"/>
                  </a:cubicBezTo>
                  <a:cubicBezTo>
                    <a:pt x="1123" y="73"/>
                    <a:pt x="1131" y="37"/>
                    <a:pt x="1140" y="2"/>
                  </a:cubicBezTo>
                </a:path>
              </a:pathLst>
            </a:custGeom>
            <a:solidFill>
              <a:srgbClr val="3399FF"/>
            </a:solidFill>
            <a:ln w="28575">
              <a:solidFill>
                <a:schemeClr val="tx1"/>
              </a:solidFill>
              <a:round/>
              <a:headEnd/>
              <a:tailEnd/>
            </a:ln>
          </p:spPr>
          <p:txBody>
            <a:bodyPr wrap="none" anchor="ctr"/>
            <a:lstStyle/>
            <a:p>
              <a:endParaRPr lang="zh-CN" altLang="en-US"/>
            </a:p>
          </p:txBody>
        </p:sp>
        <p:sp>
          <p:nvSpPr>
            <p:cNvPr id="2096" name="Oval 15"/>
            <p:cNvSpPr>
              <a:spLocks noChangeArrowheads="1"/>
            </p:cNvSpPr>
            <p:nvPr/>
          </p:nvSpPr>
          <p:spPr bwMode="auto">
            <a:xfrm>
              <a:off x="3454" y="880"/>
              <a:ext cx="1882" cy="469"/>
            </a:xfrm>
            <a:prstGeom prst="ellipse">
              <a:avLst/>
            </a:prstGeom>
            <a:gradFill rotWithShape="1">
              <a:gsLst>
                <a:gs pos="0">
                  <a:srgbClr val="CCECFF"/>
                </a:gs>
                <a:gs pos="100000">
                  <a:srgbClr val="3399FF"/>
                </a:gs>
              </a:gsLst>
              <a:path path="shape">
                <a:fillToRect l="50000" t="50000" r="50000" b="50000"/>
              </a:path>
            </a:gradFill>
            <a:ln w="28575">
              <a:solidFill>
                <a:schemeClr val="tx1"/>
              </a:solidFill>
              <a:round/>
              <a:headEnd/>
              <a:tailEnd/>
            </a:ln>
          </p:spPr>
          <p:txBody>
            <a:bodyPr wrap="none" anchor="ctr"/>
            <a:lstStyle/>
            <a:p>
              <a:endParaRPr lang="zh-CN" altLang="en-US"/>
            </a:p>
          </p:txBody>
        </p:sp>
        <p:sp>
          <p:nvSpPr>
            <p:cNvPr id="2097" name="Line 16"/>
            <p:cNvSpPr>
              <a:spLocks noChangeShapeType="1"/>
            </p:cNvSpPr>
            <p:nvPr/>
          </p:nvSpPr>
          <p:spPr bwMode="auto">
            <a:xfrm>
              <a:off x="3706" y="957"/>
              <a:ext cx="1371" cy="3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8" name="Line 17"/>
            <p:cNvSpPr>
              <a:spLocks noChangeShapeType="1"/>
            </p:cNvSpPr>
            <p:nvPr/>
          </p:nvSpPr>
          <p:spPr bwMode="auto">
            <a:xfrm flipV="1">
              <a:off x="3951" y="906"/>
              <a:ext cx="905" cy="41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 name="Freeform 18"/>
            <p:cNvSpPr>
              <a:spLocks/>
            </p:cNvSpPr>
            <p:nvPr/>
          </p:nvSpPr>
          <p:spPr bwMode="auto">
            <a:xfrm>
              <a:off x="3703" y="962"/>
              <a:ext cx="1374" cy="755"/>
            </a:xfrm>
            <a:custGeom>
              <a:avLst/>
              <a:gdLst>
                <a:gd name="T0" fmla="*/ 0 w 832"/>
                <a:gd name="T1" fmla="*/ 0 h 627"/>
                <a:gd name="T2" fmla="*/ 8 w 832"/>
                <a:gd name="T3" fmla="*/ 140 h 627"/>
                <a:gd name="T4" fmla="*/ 54 w 832"/>
                <a:gd name="T5" fmla="*/ 325 h 627"/>
                <a:gd name="T6" fmla="*/ 160 w 832"/>
                <a:gd name="T7" fmla="*/ 503 h 627"/>
                <a:gd name="T8" fmla="*/ 332 w 832"/>
                <a:gd name="T9" fmla="*/ 670 h 627"/>
                <a:gd name="T10" fmla="*/ 603 w 832"/>
                <a:gd name="T11" fmla="*/ 828 h 627"/>
                <a:gd name="T12" fmla="*/ 1052 w 832"/>
                <a:gd name="T13" fmla="*/ 978 h 627"/>
                <a:gd name="T14" fmla="*/ 1495 w 832"/>
                <a:gd name="T15" fmla="*/ 1066 h 627"/>
                <a:gd name="T16" fmla="*/ 1866 w 832"/>
                <a:gd name="T17" fmla="*/ 1093 h 627"/>
                <a:gd name="T18" fmla="*/ 2261 w 832"/>
                <a:gd name="T19" fmla="*/ 1072 h 627"/>
                <a:gd name="T20" fmla="*/ 2667 w 832"/>
                <a:gd name="T21" fmla="*/ 1007 h 627"/>
                <a:gd name="T22" fmla="*/ 3090 w 832"/>
                <a:gd name="T23" fmla="*/ 883 h 627"/>
                <a:gd name="T24" fmla="*/ 3478 w 832"/>
                <a:gd name="T25" fmla="*/ 716 h 627"/>
                <a:gd name="T26" fmla="*/ 3676 w 832"/>
                <a:gd name="T27" fmla="*/ 566 h 627"/>
                <a:gd name="T28" fmla="*/ 3747 w 832"/>
                <a:gd name="T29" fmla="*/ 456 h 6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32"/>
                <a:gd name="T46" fmla="*/ 0 h 627"/>
                <a:gd name="T47" fmla="*/ 832 w 832"/>
                <a:gd name="T48" fmla="*/ 627 h 6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32" h="627">
                  <a:moveTo>
                    <a:pt x="0" y="0"/>
                  </a:moveTo>
                  <a:cubicBezTo>
                    <a:pt x="0" y="24"/>
                    <a:pt x="0" y="49"/>
                    <a:pt x="2" y="80"/>
                  </a:cubicBezTo>
                  <a:cubicBezTo>
                    <a:pt x="4" y="111"/>
                    <a:pt x="6" y="151"/>
                    <a:pt x="12" y="186"/>
                  </a:cubicBezTo>
                  <a:cubicBezTo>
                    <a:pt x="18" y="221"/>
                    <a:pt x="26" y="255"/>
                    <a:pt x="36" y="288"/>
                  </a:cubicBezTo>
                  <a:cubicBezTo>
                    <a:pt x="46" y="321"/>
                    <a:pt x="58" y="353"/>
                    <a:pt x="74" y="384"/>
                  </a:cubicBezTo>
                  <a:cubicBezTo>
                    <a:pt x="90" y="415"/>
                    <a:pt x="107" y="445"/>
                    <a:pt x="134" y="474"/>
                  </a:cubicBezTo>
                  <a:cubicBezTo>
                    <a:pt x="161" y="503"/>
                    <a:pt x="201" y="537"/>
                    <a:pt x="234" y="560"/>
                  </a:cubicBezTo>
                  <a:cubicBezTo>
                    <a:pt x="267" y="583"/>
                    <a:pt x="302" y="599"/>
                    <a:pt x="332" y="610"/>
                  </a:cubicBezTo>
                  <a:cubicBezTo>
                    <a:pt x="362" y="621"/>
                    <a:pt x="386" y="625"/>
                    <a:pt x="414" y="626"/>
                  </a:cubicBezTo>
                  <a:cubicBezTo>
                    <a:pt x="442" y="627"/>
                    <a:pt x="472" y="622"/>
                    <a:pt x="502" y="614"/>
                  </a:cubicBezTo>
                  <a:cubicBezTo>
                    <a:pt x="532" y="606"/>
                    <a:pt x="561" y="594"/>
                    <a:pt x="592" y="576"/>
                  </a:cubicBezTo>
                  <a:cubicBezTo>
                    <a:pt x="623" y="558"/>
                    <a:pt x="656" y="534"/>
                    <a:pt x="686" y="506"/>
                  </a:cubicBezTo>
                  <a:cubicBezTo>
                    <a:pt x="716" y="478"/>
                    <a:pt x="750" y="440"/>
                    <a:pt x="772" y="410"/>
                  </a:cubicBezTo>
                  <a:cubicBezTo>
                    <a:pt x="794" y="380"/>
                    <a:pt x="806" y="349"/>
                    <a:pt x="816" y="324"/>
                  </a:cubicBezTo>
                  <a:cubicBezTo>
                    <a:pt x="826" y="299"/>
                    <a:pt x="829" y="275"/>
                    <a:pt x="832" y="262"/>
                  </a:cubicBez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00" name="Freeform 19"/>
            <p:cNvSpPr>
              <a:spLocks/>
            </p:cNvSpPr>
            <p:nvPr/>
          </p:nvSpPr>
          <p:spPr bwMode="auto">
            <a:xfrm>
              <a:off x="3957" y="1318"/>
              <a:ext cx="859" cy="396"/>
            </a:xfrm>
            <a:custGeom>
              <a:avLst/>
              <a:gdLst>
                <a:gd name="T0" fmla="*/ 0 w 520"/>
                <a:gd name="T1" fmla="*/ 7 h 329"/>
                <a:gd name="T2" fmla="*/ 137 w 520"/>
                <a:gd name="T3" fmla="*/ 181 h 329"/>
                <a:gd name="T4" fmla="*/ 406 w 520"/>
                <a:gd name="T5" fmla="*/ 377 h 329"/>
                <a:gd name="T6" fmla="*/ 694 w 520"/>
                <a:gd name="T7" fmla="*/ 491 h 329"/>
                <a:gd name="T8" fmla="*/ 975 w 520"/>
                <a:gd name="T9" fmla="*/ 555 h 329"/>
                <a:gd name="T10" fmla="*/ 1163 w 520"/>
                <a:gd name="T11" fmla="*/ 568 h 329"/>
                <a:gd name="T12" fmla="*/ 1416 w 520"/>
                <a:gd name="T13" fmla="*/ 527 h 329"/>
                <a:gd name="T14" fmla="*/ 1713 w 520"/>
                <a:gd name="T15" fmla="*/ 426 h 329"/>
                <a:gd name="T16" fmla="*/ 2101 w 520"/>
                <a:gd name="T17" fmla="*/ 220 h 329"/>
                <a:gd name="T18" fmla="*/ 2344 w 520"/>
                <a:gd name="T19" fmla="*/ 0 h 3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0"/>
                <a:gd name="T31" fmla="*/ 0 h 329"/>
                <a:gd name="T32" fmla="*/ 520 w 520"/>
                <a:gd name="T33" fmla="*/ 329 h 3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0" h="329">
                  <a:moveTo>
                    <a:pt x="0" y="4"/>
                  </a:moveTo>
                  <a:cubicBezTo>
                    <a:pt x="5" y="21"/>
                    <a:pt x="15" y="69"/>
                    <a:pt x="30" y="104"/>
                  </a:cubicBezTo>
                  <a:cubicBezTo>
                    <a:pt x="45" y="139"/>
                    <a:pt x="69" y="186"/>
                    <a:pt x="90" y="216"/>
                  </a:cubicBezTo>
                  <a:cubicBezTo>
                    <a:pt x="111" y="246"/>
                    <a:pt x="133" y="265"/>
                    <a:pt x="154" y="282"/>
                  </a:cubicBezTo>
                  <a:cubicBezTo>
                    <a:pt x="175" y="299"/>
                    <a:pt x="199" y="311"/>
                    <a:pt x="216" y="318"/>
                  </a:cubicBezTo>
                  <a:cubicBezTo>
                    <a:pt x="233" y="325"/>
                    <a:pt x="242" y="329"/>
                    <a:pt x="258" y="326"/>
                  </a:cubicBezTo>
                  <a:cubicBezTo>
                    <a:pt x="274" y="323"/>
                    <a:pt x="294" y="316"/>
                    <a:pt x="314" y="302"/>
                  </a:cubicBezTo>
                  <a:cubicBezTo>
                    <a:pt x="334" y="288"/>
                    <a:pt x="355" y="273"/>
                    <a:pt x="380" y="244"/>
                  </a:cubicBezTo>
                  <a:cubicBezTo>
                    <a:pt x="405" y="215"/>
                    <a:pt x="443" y="167"/>
                    <a:pt x="466" y="126"/>
                  </a:cubicBezTo>
                  <a:cubicBezTo>
                    <a:pt x="489" y="85"/>
                    <a:pt x="509" y="26"/>
                    <a:pt x="520" y="0"/>
                  </a:cubicBez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01" name="Line 20"/>
            <p:cNvSpPr>
              <a:spLocks noChangeShapeType="1"/>
            </p:cNvSpPr>
            <p:nvPr/>
          </p:nvSpPr>
          <p:spPr bwMode="auto">
            <a:xfrm flipV="1">
              <a:off x="5051" y="821"/>
              <a:ext cx="76" cy="11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2" name="Line 21"/>
            <p:cNvSpPr>
              <a:spLocks noChangeShapeType="1"/>
            </p:cNvSpPr>
            <p:nvPr/>
          </p:nvSpPr>
          <p:spPr bwMode="auto">
            <a:xfrm flipV="1">
              <a:off x="4661" y="748"/>
              <a:ext cx="53" cy="13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3" name="Line 22"/>
            <p:cNvSpPr>
              <a:spLocks noChangeShapeType="1"/>
            </p:cNvSpPr>
            <p:nvPr/>
          </p:nvSpPr>
          <p:spPr bwMode="auto">
            <a:xfrm flipH="1" flipV="1">
              <a:off x="4080" y="743"/>
              <a:ext cx="29" cy="14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4" name="Line 23"/>
            <p:cNvSpPr>
              <a:spLocks noChangeShapeType="1"/>
            </p:cNvSpPr>
            <p:nvPr/>
          </p:nvSpPr>
          <p:spPr bwMode="auto">
            <a:xfrm flipH="1" flipV="1">
              <a:off x="3693" y="813"/>
              <a:ext cx="73" cy="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5" name="Line 24"/>
            <p:cNvSpPr>
              <a:spLocks noChangeShapeType="1"/>
            </p:cNvSpPr>
            <p:nvPr/>
          </p:nvSpPr>
          <p:spPr bwMode="auto">
            <a:xfrm flipH="1" flipV="1">
              <a:off x="3348" y="867"/>
              <a:ext cx="111" cy="246"/>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6" name="Line 25"/>
            <p:cNvSpPr>
              <a:spLocks noChangeShapeType="1"/>
            </p:cNvSpPr>
            <p:nvPr/>
          </p:nvSpPr>
          <p:spPr bwMode="auto">
            <a:xfrm flipH="1" flipV="1">
              <a:off x="3564" y="1133"/>
              <a:ext cx="50" cy="103"/>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7" name="Line 26"/>
            <p:cNvSpPr>
              <a:spLocks noChangeShapeType="1"/>
            </p:cNvSpPr>
            <p:nvPr/>
          </p:nvSpPr>
          <p:spPr bwMode="auto">
            <a:xfrm flipH="1" flipV="1">
              <a:off x="3865" y="1181"/>
              <a:ext cx="33" cy="12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8" name="Line 27"/>
            <p:cNvSpPr>
              <a:spLocks noChangeShapeType="1"/>
            </p:cNvSpPr>
            <p:nvPr/>
          </p:nvSpPr>
          <p:spPr bwMode="auto">
            <a:xfrm flipV="1">
              <a:off x="4701" y="1205"/>
              <a:ext cx="46" cy="132"/>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9" name="Line 28"/>
            <p:cNvSpPr>
              <a:spLocks noChangeShapeType="1"/>
            </p:cNvSpPr>
            <p:nvPr/>
          </p:nvSpPr>
          <p:spPr bwMode="auto">
            <a:xfrm flipV="1">
              <a:off x="5163" y="1099"/>
              <a:ext cx="66" cy="15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0" name="Line 29"/>
            <p:cNvSpPr>
              <a:spLocks noChangeShapeType="1"/>
            </p:cNvSpPr>
            <p:nvPr/>
          </p:nvSpPr>
          <p:spPr bwMode="auto">
            <a:xfrm flipV="1">
              <a:off x="5340" y="891"/>
              <a:ext cx="102" cy="219"/>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1" name="Line 30"/>
            <p:cNvSpPr>
              <a:spLocks noChangeShapeType="1"/>
            </p:cNvSpPr>
            <p:nvPr/>
          </p:nvSpPr>
          <p:spPr bwMode="auto">
            <a:xfrm flipV="1">
              <a:off x="4387" y="728"/>
              <a:ext cx="0" cy="15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2" name="Line 31"/>
            <p:cNvSpPr>
              <a:spLocks noChangeShapeType="1"/>
            </p:cNvSpPr>
            <p:nvPr/>
          </p:nvSpPr>
          <p:spPr bwMode="auto">
            <a:xfrm flipV="1">
              <a:off x="4387" y="1201"/>
              <a:ext cx="0" cy="15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3" name="Freeform 32"/>
            <p:cNvSpPr>
              <a:spLocks/>
            </p:cNvSpPr>
            <p:nvPr/>
          </p:nvSpPr>
          <p:spPr bwMode="auto">
            <a:xfrm>
              <a:off x="4818" y="912"/>
              <a:ext cx="39" cy="405"/>
            </a:xfrm>
            <a:custGeom>
              <a:avLst/>
              <a:gdLst>
                <a:gd name="T0" fmla="*/ 97 w 24"/>
                <a:gd name="T1" fmla="*/ 0 h 336"/>
                <a:gd name="T2" fmla="*/ 97 w 24"/>
                <a:gd name="T3" fmla="*/ 92 h 336"/>
                <a:gd name="T4" fmla="*/ 97 w 24"/>
                <a:gd name="T5" fmla="*/ 217 h 336"/>
                <a:gd name="T6" fmla="*/ 76 w 24"/>
                <a:gd name="T7" fmla="*/ 366 h 336"/>
                <a:gd name="T8" fmla="*/ 47 w 24"/>
                <a:gd name="T9" fmla="*/ 501 h 336"/>
                <a:gd name="T10" fmla="*/ 0 w 24"/>
                <a:gd name="T11" fmla="*/ 588 h 336"/>
                <a:gd name="T12" fmla="*/ 0 60000 65536"/>
                <a:gd name="T13" fmla="*/ 0 60000 65536"/>
                <a:gd name="T14" fmla="*/ 0 60000 65536"/>
                <a:gd name="T15" fmla="*/ 0 60000 65536"/>
                <a:gd name="T16" fmla="*/ 0 60000 65536"/>
                <a:gd name="T17" fmla="*/ 0 60000 65536"/>
                <a:gd name="T18" fmla="*/ 0 w 24"/>
                <a:gd name="T19" fmla="*/ 0 h 336"/>
                <a:gd name="T20" fmla="*/ 24 w 24"/>
                <a:gd name="T21" fmla="*/ 336 h 336"/>
              </a:gdLst>
              <a:ahLst/>
              <a:cxnLst>
                <a:cxn ang="T12">
                  <a:pos x="T0" y="T1"/>
                </a:cxn>
                <a:cxn ang="T13">
                  <a:pos x="T2" y="T3"/>
                </a:cxn>
                <a:cxn ang="T14">
                  <a:pos x="T4" y="T5"/>
                </a:cxn>
                <a:cxn ang="T15">
                  <a:pos x="T6" y="T7"/>
                </a:cxn>
                <a:cxn ang="T16">
                  <a:pos x="T8" y="T9"/>
                </a:cxn>
                <a:cxn ang="T17">
                  <a:pos x="T10" y="T11"/>
                </a:cxn>
              </a:cxnLst>
              <a:rect l="T18" t="T19" r="T20" b="T21"/>
              <a:pathLst>
                <a:path w="24" h="336">
                  <a:moveTo>
                    <a:pt x="23" y="0"/>
                  </a:moveTo>
                  <a:cubicBezTo>
                    <a:pt x="23" y="9"/>
                    <a:pt x="23" y="31"/>
                    <a:pt x="23" y="52"/>
                  </a:cubicBezTo>
                  <a:cubicBezTo>
                    <a:pt x="23" y="73"/>
                    <a:pt x="24" y="98"/>
                    <a:pt x="23" y="124"/>
                  </a:cubicBezTo>
                  <a:cubicBezTo>
                    <a:pt x="22" y="150"/>
                    <a:pt x="20" y="182"/>
                    <a:pt x="18" y="209"/>
                  </a:cubicBezTo>
                  <a:cubicBezTo>
                    <a:pt x="16" y="236"/>
                    <a:pt x="14" y="265"/>
                    <a:pt x="11" y="286"/>
                  </a:cubicBezTo>
                  <a:cubicBezTo>
                    <a:pt x="8" y="307"/>
                    <a:pt x="4" y="322"/>
                    <a:pt x="0" y="33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14" name="Freeform 33"/>
            <p:cNvSpPr>
              <a:spLocks/>
            </p:cNvSpPr>
            <p:nvPr/>
          </p:nvSpPr>
          <p:spPr bwMode="auto">
            <a:xfrm>
              <a:off x="3701" y="965"/>
              <a:ext cx="55" cy="323"/>
            </a:xfrm>
            <a:custGeom>
              <a:avLst/>
              <a:gdLst>
                <a:gd name="T0" fmla="*/ 5 w 33"/>
                <a:gd name="T1" fmla="*/ 0 h 268"/>
                <a:gd name="T2" fmla="*/ 5 w 33"/>
                <a:gd name="T3" fmla="*/ 98 h 268"/>
                <a:gd name="T4" fmla="*/ 33 w 33"/>
                <a:gd name="T5" fmla="*/ 224 h 268"/>
                <a:gd name="T6" fmla="*/ 78 w 33"/>
                <a:gd name="T7" fmla="*/ 362 h 268"/>
                <a:gd name="T8" fmla="*/ 153 w 33"/>
                <a:gd name="T9" fmla="*/ 469 h 268"/>
                <a:gd name="T10" fmla="*/ 0 60000 65536"/>
                <a:gd name="T11" fmla="*/ 0 60000 65536"/>
                <a:gd name="T12" fmla="*/ 0 60000 65536"/>
                <a:gd name="T13" fmla="*/ 0 60000 65536"/>
                <a:gd name="T14" fmla="*/ 0 60000 65536"/>
                <a:gd name="T15" fmla="*/ 0 w 33"/>
                <a:gd name="T16" fmla="*/ 0 h 268"/>
                <a:gd name="T17" fmla="*/ 33 w 33"/>
                <a:gd name="T18" fmla="*/ 268 h 268"/>
              </a:gdLst>
              <a:ahLst/>
              <a:cxnLst>
                <a:cxn ang="T10">
                  <a:pos x="T0" y="T1"/>
                </a:cxn>
                <a:cxn ang="T11">
                  <a:pos x="T2" y="T3"/>
                </a:cxn>
                <a:cxn ang="T12">
                  <a:pos x="T4" y="T5"/>
                </a:cxn>
                <a:cxn ang="T13">
                  <a:pos x="T6" y="T7"/>
                </a:cxn>
                <a:cxn ang="T14">
                  <a:pos x="T8" y="T9"/>
                </a:cxn>
              </a:cxnLst>
              <a:rect l="T15" t="T16" r="T17" b="T18"/>
              <a:pathLst>
                <a:path w="33" h="268">
                  <a:moveTo>
                    <a:pt x="1" y="0"/>
                  </a:moveTo>
                  <a:cubicBezTo>
                    <a:pt x="0" y="17"/>
                    <a:pt x="0" y="35"/>
                    <a:pt x="1" y="56"/>
                  </a:cubicBezTo>
                  <a:cubicBezTo>
                    <a:pt x="2" y="77"/>
                    <a:pt x="4" y="103"/>
                    <a:pt x="7" y="128"/>
                  </a:cubicBezTo>
                  <a:cubicBezTo>
                    <a:pt x="10" y="153"/>
                    <a:pt x="13" y="184"/>
                    <a:pt x="17" y="207"/>
                  </a:cubicBezTo>
                  <a:cubicBezTo>
                    <a:pt x="21" y="230"/>
                    <a:pt x="27" y="249"/>
                    <a:pt x="33" y="26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15" name="Text Box 34"/>
            <p:cNvSpPr txBox="1">
              <a:spLocks noChangeArrowheads="1"/>
            </p:cNvSpPr>
            <p:nvPr/>
          </p:nvSpPr>
          <p:spPr bwMode="auto">
            <a:xfrm>
              <a:off x="3113" y="567"/>
              <a:ext cx="58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200" b="1" dirty="0">
                  <a:sym typeface="Symbol" pitchFamily="18" charset="2"/>
                </a:rPr>
                <a:t>张力</a:t>
              </a:r>
              <a:r>
                <a:rPr lang="en-US" altLang="zh-CN" sz="2200" b="1" i="1" dirty="0">
                  <a:sym typeface="Symbol" pitchFamily="18" charset="2"/>
                </a:rPr>
                <a:t>T</a:t>
              </a:r>
              <a:endParaRPr lang="zh-CN" altLang="zh-CN" sz="2200" b="1" i="1" dirty="0">
                <a:sym typeface="Symbol" pitchFamily="18" charset="2"/>
              </a:endParaRPr>
            </a:p>
          </p:txBody>
        </p:sp>
        <p:sp>
          <p:nvSpPr>
            <p:cNvPr id="2116" name="Text Box 35"/>
            <p:cNvSpPr txBox="1">
              <a:spLocks noChangeArrowheads="1"/>
            </p:cNvSpPr>
            <p:nvPr/>
          </p:nvSpPr>
          <p:spPr bwMode="auto">
            <a:xfrm>
              <a:off x="5329" y="605"/>
              <a:ext cx="2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200" b="1" i="1" dirty="0">
                  <a:ea typeface="黑体" pitchFamily="2" charset="-122"/>
                  <a:sym typeface="Symbol" pitchFamily="18" charset="2"/>
                </a:rPr>
                <a:t>T</a:t>
              </a:r>
            </a:p>
          </p:txBody>
        </p:sp>
        <p:sp>
          <p:nvSpPr>
            <p:cNvPr id="2117" name="Text Box 36"/>
            <p:cNvSpPr txBox="1">
              <a:spLocks noChangeArrowheads="1"/>
            </p:cNvSpPr>
            <p:nvPr/>
          </p:nvSpPr>
          <p:spPr bwMode="auto">
            <a:xfrm>
              <a:off x="4288" y="1700"/>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200" b="1" i="1" dirty="0" err="1">
                  <a:ea typeface="黑体" pitchFamily="2" charset="-122"/>
                </a:rPr>
                <a:t>u</a:t>
              </a:r>
              <a:r>
                <a:rPr lang="en-US" altLang="zh-CN" sz="2200" b="1" i="1" baseline="-25000" dirty="0" err="1">
                  <a:ea typeface="黑体" pitchFamily="2" charset="-122"/>
                </a:rPr>
                <a:t>c</a:t>
              </a:r>
              <a:endParaRPr lang="en-US" altLang="zh-CN" sz="2200" b="1" i="1" dirty="0">
                <a:ea typeface="黑体" pitchFamily="2" charset="-122"/>
                <a:sym typeface="Symbol" pitchFamily="18" charset="2"/>
              </a:endParaRPr>
            </a:p>
          </p:txBody>
        </p:sp>
      </p:grpSp>
      <p:sp>
        <p:nvSpPr>
          <p:cNvPr id="2053" name="Freeform 37"/>
          <p:cNvSpPr>
            <a:spLocks/>
          </p:cNvSpPr>
          <p:nvPr/>
        </p:nvSpPr>
        <p:spPr bwMode="auto">
          <a:xfrm>
            <a:off x="1228725" y="1766888"/>
            <a:ext cx="3970338" cy="3279775"/>
          </a:xfrm>
          <a:custGeom>
            <a:avLst/>
            <a:gdLst>
              <a:gd name="T0" fmla="*/ 2147483647 w 2501"/>
              <a:gd name="T1" fmla="*/ 2147483647 h 2066"/>
              <a:gd name="T2" fmla="*/ 2147483647 w 2501"/>
              <a:gd name="T3" fmla="*/ 2147483647 h 2066"/>
              <a:gd name="T4" fmla="*/ 2147483647 w 2501"/>
              <a:gd name="T5" fmla="*/ 2147483647 h 2066"/>
              <a:gd name="T6" fmla="*/ 2147483647 w 2501"/>
              <a:gd name="T7" fmla="*/ 2147483647 h 2066"/>
              <a:gd name="T8" fmla="*/ 2147483647 w 2501"/>
              <a:gd name="T9" fmla="*/ 2147483647 h 2066"/>
              <a:gd name="T10" fmla="*/ 2147483647 w 2501"/>
              <a:gd name="T11" fmla="*/ 2147483647 h 2066"/>
              <a:gd name="T12" fmla="*/ 2147483647 w 2501"/>
              <a:gd name="T13" fmla="*/ 2147483647 h 2066"/>
              <a:gd name="T14" fmla="*/ 2147483647 w 2501"/>
              <a:gd name="T15" fmla="*/ 2147483647 h 2066"/>
              <a:gd name="T16" fmla="*/ 2147483647 w 2501"/>
              <a:gd name="T17" fmla="*/ 2147483647 h 2066"/>
              <a:gd name="T18" fmla="*/ 2147483647 w 2501"/>
              <a:gd name="T19" fmla="*/ 2147483647 h 2066"/>
              <a:gd name="T20" fmla="*/ 2147483647 w 2501"/>
              <a:gd name="T21" fmla="*/ 2147483647 h 2066"/>
              <a:gd name="T22" fmla="*/ 2147483647 w 2501"/>
              <a:gd name="T23" fmla="*/ 2147483647 h 2066"/>
              <a:gd name="T24" fmla="*/ 2147483647 w 2501"/>
              <a:gd name="T25" fmla="*/ 2147483647 h 2066"/>
              <a:gd name="T26" fmla="*/ 2147483647 w 2501"/>
              <a:gd name="T27" fmla="*/ 2147483647 h 2066"/>
              <a:gd name="T28" fmla="*/ 2147483647 w 2501"/>
              <a:gd name="T29" fmla="*/ 2147483647 h 2066"/>
              <a:gd name="T30" fmla="*/ 2147483647 w 2501"/>
              <a:gd name="T31" fmla="*/ 2147483647 h 2066"/>
              <a:gd name="T32" fmla="*/ 2147483647 w 2501"/>
              <a:gd name="T33" fmla="*/ 2147483647 h 2066"/>
              <a:gd name="T34" fmla="*/ 2147483647 w 2501"/>
              <a:gd name="T35" fmla="*/ 2147483647 h 2066"/>
              <a:gd name="T36" fmla="*/ 2147483647 w 2501"/>
              <a:gd name="T37" fmla="*/ 2147483647 h 2066"/>
              <a:gd name="T38" fmla="*/ 2147483647 w 2501"/>
              <a:gd name="T39" fmla="*/ 2147483647 h 2066"/>
              <a:gd name="T40" fmla="*/ 2147483647 w 2501"/>
              <a:gd name="T41" fmla="*/ 2147483647 h 2066"/>
              <a:gd name="T42" fmla="*/ 2147483647 w 2501"/>
              <a:gd name="T43" fmla="*/ 2147483647 h 2066"/>
              <a:gd name="T44" fmla="*/ 2147483647 w 2501"/>
              <a:gd name="T45" fmla="*/ 2147483647 h 2066"/>
              <a:gd name="T46" fmla="*/ 2147483647 w 2501"/>
              <a:gd name="T47" fmla="*/ 0 h 2066"/>
              <a:gd name="T48" fmla="*/ 2147483647 w 2501"/>
              <a:gd name="T49" fmla="*/ 2147483647 h 2066"/>
              <a:gd name="T50" fmla="*/ 2147483647 w 2501"/>
              <a:gd name="T51" fmla="*/ 2147483647 h 2066"/>
              <a:gd name="T52" fmla="*/ 2147483647 w 2501"/>
              <a:gd name="T53" fmla="*/ 2147483647 h 2066"/>
              <a:gd name="T54" fmla="*/ 2147483647 w 2501"/>
              <a:gd name="T55" fmla="*/ 2147483647 h 2066"/>
              <a:gd name="T56" fmla="*/ 2147483647 w 2501"/>
              <a:gd name="T57" fmla="*/ 2147483647 h 2066"/>
              <a:gd name="T58" fmla="*/ 2147483647 w 2501"/>
              <a:gd name="T59" fmla="*/ 2147483647 h 2066"/>
              <a:gd name="T60" fmla="*/ 2147483647 w 2501"/>
              <a:gd name="T61" fmla="*/ 2147483647 h 2066"/>
              <a:gd name="T62" fmla="*/ 0 w 2501"/>
              <a:gd name="T63" fmla="*/ 2147483647 h 2066"/>
              <a:gd name="T64" fmla="*/ 0 w 2501"/>
              <a:gd name="T65" fmla="*/ 2147483647 h 2066"/>
              <a:gd name="T66" fmla="*/ 2147483647 w 2501"/>
              <a:gd name="T67" fmla="*/ 2147483647 h 2066"/>
              <a:gd name="T68" fmla="*/ 2147483647 w 2501"/>
              <a:gd name="T69" fmla="*/ 2147483647 h 2066"/>
              <a:gd name="T70" fmla="*/ 2147483647 w 2501"/>
              <a:gd name="T71" fmla="*/ 2147483647 h 2066"/>
              <a:gd name="T72" fmla="*/ 2147483647 w 2501"/>
              <a:gd name="T73" fmla="*/ 2147483647 h 2066"/>
              <a:gd name="T74" fmla="*/ 2147483647 w 2501"/>
              <a:gd name="T75" fmla="*/ 2147483647 h 20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501"/>
              <a:gd name="T115" fmla="*/ 0 h 2066"/>
              <a:gd name="T116" fmla="*/ 2501 w 2501"/>
              <a:gd name="T117" fmla="*/ 2066 h 20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501" h="2066">
                <a:moveTo>
                  <a:pt x="2491" y="1705"/>
                </a:moveTo>
                <a:lnTo>
                  <a:pt x="2501" y="1178"/>
                </a:lnTo>
                <a:lnTo>
                  <a:pt x="2089" y="1179"/>
                </a:lnTo>
                <a:lnTo>
                  <a:pt x="2003" y="1174"/>
                </a:lnTo>
                <a:lnTo>
                  <a:pt x="1968" y="1172"/>
                </a:lnTo>
                <a:lnTo>
                  <a:pt x="1908" y="1163"/>
                </a:lnTo>
                <a:lnTo>
                  <a:pt x="1863" y="1126"/>
                </a:lnTo>
                <a:lnTo>
                  <a:pt x="1830" y="1095"/>
                </a:lnTo>
                <a:lnTo>
                  <a:pt x="1793" y="1029"/>
                </a:lnTo>
                <a:lnTo>
                  <a:pt x="1795" y="1298"/>
                </a:lnTo>
                <a:lnTo>
                  <a:pt x="1754" y="1298"/>
                </a:lnTo>
                <a:lnTo>
                  <a:pt x="1762" y="2"/>
                </a:lnTo>
                <a:lnTo>
                  <a:pt x="1732" y="94"/>
                </a:lnTo>
                <a:lnTo>
                  <a:pt x="1696" y="148"/>
                </a:lnTo>
                <a:lnTo>
                  <a:pt x="1661" y="191"/>
                </a:lnTo>
                <a:lnTo>
                  <a:pt x="1598" y="235"/>
                </a:lnTo>
                <a:lnTo>
                  <a:pt x="1538" y="259"/>
                </a:lnTo>
                <a:lnTo>
                  <a:pt x="1467" y="271"/>
                </a:lnTo>
                <a:lnTo>
                  <a:pt x="1395" y="263"/>
                </a:lnTo>
                <a:lnTo>
                  <a:pt x="1337" y="239"/>
                </a:lnTo>
                <a:lnTo>
                  <a:pt x="1271" y="194"/>
                </a:lnTo>
                <a:lnTo>
                  <a:pt x="1224" y="131"/>
                </a:lnTo>
                <a:lnTo>
                  <a:pt x="1196" y="60"/>
                </a:lnTo>
                <a:lnTo>
                  <a:pt x="1184" y="0"/>
                </a:lnTo>
                <a:lnTo>
                  <a:pt x="1178" y="1291"/>
                </a:lnTo>
                <a:lnTo>
                  <a:pt x="1150" y="1301"/>
                </a:lnTo>
                <a:lnTo>
                  <a:pt x="1153" y="1010"/>
                </a:lnTo>
                <a:lnTo>
                  <a:pt x="1122" y="1085"/>
                </a:lnTo>
                <a:lnTo>
                  <a:pt x="1087" y="1131"/>
                </a:lnTo>
                <a:lnTo>
                  <a:pt x="1029" y="1170"/>
                </a:lnTo>
                <a:lnTo>
                  <a:pt x="930" y="1180"/>
                </a:lnTo>
                <a:lnTo>
                  <a:pt x="0" y="1180"/>
                </a:lnTo>
                <a:lnTo>
                  <a:pt x="0" y="1683"/>
                </a:lnTo>
                <a:lnTo>
                  <a:pt x="467" y="1926"/>
                </a:lnTo>
                <a:lnTo>
                  <a:pt x="1005" y="2066"/>
                </a:lnTo>
                <a:lnTo>
                  <a:pt x="1823" y="2057"/>
                </a:lnTo>
                <a:lnTo>
                  <a:pt x="2276" y="1949"/>
                </a:lnTo>
                <a:lnTo>
                  <a:pt x="2491" y="1705"/>
                </a:lnTo>
                <a:close/>
              </a:path>
            </a:pathLst>
          </a:custGeom>
          <a:solidFill>
            <a:srgbClr val="3366FF"/>
          </a:solidFill>
          <a:ln>
            <a:noFill/>
          </a:ln>
        </p:spPr>
        <p:txBody>
          <a:bodyPr wrap="none" anchor="ctr"/>
          <a:lstStyle/>
          <a:p>
            <a:endParaRPr lang="zh-CN" altLang="en-US"/>
          </a:p>
        </p:txBody>
      </p:sp>
      <p:sp>
        <p:nvSpPr>
          <p:cNvPr id="2054" name="Freeform 38"/>
          <p:cNvSpPr>
            <a:spLocks/>
          </p:cNvSpPr>
          <p:nvPr/>
        </p:nvSpPr>
        <p:spPr bwMode="auto">
          <a:xfrm>
            <a:off x="3109913" y="1728788"/>
            <a:ext cx="908050" cy="469900"/>
          </a:xfrm>
          <a:custGeom>
            <a:avLst/>
            <a:gdLst>
              <a:gd name="T0" fmla="*/ 0 w 734"/>
              <a:gd name="T1" fmla="*/ 0 h 366"/>
              <a:gd name="T2" fmla="*/ 2147483647 w 734"/>
              <a:gd name="T3" fmla="*/ 2147483647 h 366"/>
              <a:gd name="T4" fmla="*/ 2147483647 w 734"/>
              <a:gd name="T5" fmla="*/ 2147483647 h 366"/>
              <a:gd name="T6" fmla="*/ 2147483647 w 734"/>
              <a:gd name="T7" fmla="*/ 2147483647 h 366"/>
              <a:gd name="T8" fmla="*/ 2147483647 w 734"/>
              <a:gd name="T9" fmla="*/ 2147483647 h 366"/>
              <a:gd name="T10" fmla="*/ 2147483647 w 734"/>
              <a:gd name="T11" fmla="*/ 2147483647 h 366"/>
              <a:gd name="T12" fmla="*/ 2147483647 w 734"/>
              <a:gd name="T13" fmla="*/ 2147483647 h 366"/>
              <a:gd name="T14" fmla="*/ 2147483647 w 734"/>
              <a:gd name="T15" fmla="*/ 2147483647 h 366"/>
              <a:gd name="T16" fmla="*/ 2147483647 w 734"/>
              <a:gd name="T17" fmla="*/ 2147483647 h 366"/>
              <a:gd name="T18" fmla="*/ 2147483647 w 734"/>
              <a:gd name="T19" fmla="*/ 2147483647 h 3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34"/>
              <a:gd name="T31" fmla="*/ 0 h 366"/>
              <a:gd name="T32" fmla="*/ 734 w 734"/>
              <a:gd name="T33" fmla="*/ 366 h 3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34" h="366">
                <a:moveTo>
                  <a:pt x="0" y="0"/>
                </a:moveTo>
                <a:cubicBezTo>
                  <a:pt x="6" y="22"/>
                  <a:pt x="19" y="91"/>
                  <a:pt x="34" y="130"/>
                </a:cubicBezTo>
                <a:cubicBezTo>
                  <a:pt x="49" y="169"/>
                  <a:pt x="69" y="207"/>
                  <a:pt x="90" y="236"/>
                </a:cubicBezTo>
                <a:cubicBezTo>
                  <a:pt x="111" y="265"/>
                  <a:pt x="130" y="283"/>
                  <a:pt x="160" y="302"/>
                </a:cubicBezTo>
                <a:cubicBezTo>
                  <a:pt x="190" y="321"/>
                  <a:pt x="230" y="342"/>
                  <a:pt x="271" y="352"/>
                </a:cubicBezTo>
                <a:cubicBezTo>
                  <a:pt x="312" y="362"/>
                  <a:pt x="360" y="366"/>
                  <a:pt x="406" y="359"/>
                </a:cubicBezTo>
                <a:cubicBezTo>
                  <a:pt x="452" y="352"/>
                  <a:pt x="505" y="334"/>
                  <a:pt x="544" y="313"/>
                </a:cubicBezTo>
                <a:cubicBezTo>
                  <a:pt x="583" y="292"/>
                  <a:pt x="611" y="266"/>
                  <a:pt x="638" y="230"/>
                </a:cubicBezTo>
                <a:cubicBezTo>
                  <a:pt x="665" y="194"/>
                  <a:pt x="690" y="137"/>
                  <a:pt x="706" y="100"/>
                </a:cubicBezTo>
                <a:cubicBezTo>
                  <a:pt x="722" y="63"/>
                  <a:pt x="728" y="26"/>
                  <a:pt x="734" y="6"/>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55" name="Freeform 39"/>
          <p:cNvSpPr>
            <a:spLocks/>
          </p:cNvSpPr>
          <p:nvPr/>
        </p:nvSpPr>
        <p:spPr bwMode="auto">
          <a:xfrm>
            <a:off x="4067175" y="3305175"/>
            <a:ext cx="1116013" cy="331788"/>
          </a:xfrm>
          <a:custGeom>
            <a:avLst/>
            <a:gdLst>
              <a:gd name="T0" fmla="*/ 2147483647 w 703"/>
              <a:gd name="T1" fmla="*/ 2147483647 h 209"/>
              <a:gd name="T2" fmla="*/ 2147483647 w 703"/>
              <a:gd name="T3" fmla="*/ 2147483647 h 209"/>
              <a:gd name="T4" fmla="*/ 2147483647 w 703"/>
              <a:gd name="T5" fmla="*/ 2147483647 h 209"/>
              <a:gd name="T6" fmla="*/ 2147483647 w 703"/>
              <a:gd name="T7" fmla="*/ 2147483647 h 209"/>
              <a:gd name="T8" fmla="*/ 2147483647 w 703"/>
              <a:gd name="T9" fmla="*/ 2147483647 h 209"/>
              <a:gd name="T10" fmla="*/ 2147483647 w 703"/>
              <a:gd name="T11" fmla="*/ 2147483647 h 209"/>
              <a:gd name="T12" fmla="*/ 2147483647 w 703"/>
              <a:gd name="T13" fmla="*/ 2147483647 h 209"/>
              <a:gd name="T14" fmla="*/ 2147483647 w 703"/>
              <a:gd name="T15" fmla="*/ 2147483647 h 209"/>
              <a:gd name="T16" fmla="*/ 0 w 703"/>
              <a:gd name="T17" fmla="*/ 0 h 20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03"/>
              <a:gd name="T28" fmla="*/ 0 h 209"/>
              <a:gd name="T29" fmla="*/ 703 w 703"/>
              <a:gd name="T30" fmla="*/ 209 h 20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03" h="209">
                <a:moveTo>
                  <a:pt x="703" y="209"/>
                </a:moveTo>
                <a:cubicBezTo>
                  <a:pt x="631" y="207"/>
                  <a:pt x="350" y="208"/>
                  <a:pt x="269" y="207"/>
                </a:cubicBezTo>
                <a:cubicBezTo>
                  <a:pt x="188" y="206"/>
                  <a:pt x="234" y="206"/>
                  <a:pt x="216" y="205"/>
                </a:cubicBezTo>
                <a:cubicBezTo>
                  <a:pt x="199" y="205"/>
                  <a:pt x="179" y="204"/>
                  <a:pt x="162" y="201"/>
                </a:cubicBezTo>
                <a:cubicBezTo>
                  <a:pt x="145" y="197"/>
                  <a:pt x="130" y="194"/>
                  <a:pt x="114" y="186"/>
                </a:cubicBezTo>
                <a:cubicBezTo>
                  <a:pt x="97" y="178"/>
                  <a:pt x="79" y="164"/>
                  <a:pt x="65" y="150"/>
                </a:cubicBezTo>
                <a:cubicBezTo>
                  <a:pt x="51" y="137"/>
                  <a:pt x="38" y="119"/>
                  <a:pt x="29" y="104"/>
                </a:cubicBezTo>
                <a:cubicBezTo>
                  <a:pt x="19" y="88"/>
                  <a:pt x="14" y="74"/>
                  <a:pt x="9" y="57"/>
                </a:cubicBezTo>
                <a:cubicBezTo>
                  <a:pt x="5" y="40"/>
                  <a:pt x="2" y="12"/>
                  <a:pt x="0" y="0"/>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56" name="Freeform 40"/>
          <p:cNvSpPr>
            <a:spLocks/>
          </p:cNvSpPr>
          <p:nvPr/>
        </p:nvSpPr>
        <p:spPr bwMode="auto">
          <a:xfrm>
            <a:off x="182563" y="3313113"/>
            <a:ext cx="2879725" cy="325437"/>
          </a:xfrm>
          <a:custGeom>
            <a:avLst/>
            <a:gdLst>
              <a:gd name="T0" fmla="*/ 0 w 2329"/>
              <a:gd name="T1" fmla="*/ 2147483647 h 254"/>
              <a:gd name="T2" fmla="*/ 2147483647 w 2329"/>
              <a:gd name="T3" fmla="*/ 2147483647 h 254"/>
              <a:gd name="T4" fmla="*/ 2147483647 w 2329"/>
              <a:gd name="T5" fmla="*/ 2147483647 h 254"/>
              <a:gd name="T6" fmla="*/ 2147483647 w 2329"/>
              <a:gd name="T7" fmla="*/ 2147483647 h 254"/>
              <a:gd name="T8" fmla="*/ 2147483647 w 2329"/>
              <a:gd name="T9" fmla="*/ 2147483647 h 254"/>
              <a:gd name="T10" fmla="*/ 2147483647 w 2329"/>
              <a:gd name="T11" fmla="*/ 2147483647 h 254"/>
              <a:gd name="T12" fmla="*/ 2147483647 w 2329"/>
              <a:gd name="T13" fmla="*/ 2147483647 h 254"/>
              <a:gd name="T14" fmla="*/ 2147483647 w 2329"/>
              <a:gd name="T15" fmla="*/ 2147483647 h 254"/>
              <a:gd name="T16" fmla="*/ 2147483647 w 2329"/>
              <a:gd name="T17" fmla="*/ 2147483647 h 254"/>
              <a:gd name="T18" fmla="*/ 2147483647 w 2329"/>
              <a:gd name="T19" fmla="*/ 0 h 2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29"/>
              <a:gd name="T31" fmla="*/ 0 h 254"/>
              <a:gd name="T32" fmla="*/ 2329 w 2329"/>
              <a:gd name="T33" fmla="*/ 254 h 25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29" h="254">
                <a:moveTo>
                  <a:pt x="0" y="254"/>
                </a:moveTo>
                <a:cubicBezTo>
                  <a:pt x="304" y="254"/>
                  <a:pt x="1497" y="253"/>
                  <a:pt x="1825" y="253"/>
                </a:cubicBezTo>
                <a:cubicBezTo>
                  <a:pt x="2153" y="253"/>
                  <a:pt x="1928" y="254"/>
                  <a:pt x="1966" y="254"/>
                </a:cubicBezTo>
                <a:cubicBezTo>
                  <a:pt x="2004" y="254"/>
                  <a:pt x="2028" y="253"/>
                  <a:pt x="2055" y="252"/>
                </a:cubicBezTo>
                <a:cubicBezTo>
                  <a:pt x="2082" y="251"/>
                  <a:pt x="2108" y="252"/>
                  <a:pt x="2131" y="248"/>
                </a:cubicBezTo>
                <a:cubicBezTo>
                  <a:pt x="2154" y="244"/>
                  <a:pt x="2173" y="239"/>
                  <a:pt x="2193" y="228"/>
                </a:cubicBezTo>
                <a:cubicBezTo>
                  <a:pt x="2213" y="217"/>
                  <a:pt x="2234" y="199"/>
                  <a:pt x="2250" y="182"/>
                </a:cubicBezTo>
                <a:cubicBezTo>
                  <a:pt x="2266" y="165"/>
                  <a:pt x="2280" y="142"/>
                  <a:pt x="2290" y="124"/>
                </a:cubicBezTo>
                <a:cubicBezTo>
                  <a:pt x="2300" y="106"/>
                  <a:pt x="2306" y="92"/>
                  <a:pt x="2313" y="71"/>
                </a:cubicBezTo>
                <a:cubicBezTo>
                  <a:pt x="2320" y="50"/>
                  <a:pt x="2326" y="15"/>
                  <a:pt x="2329" y="0"/>
                </a:cubicBezTo>
              </a:path>
            </a:pathLst>
          </a:custGeom>
          <a:noFill/>
          <a:ln w="28575">
            <a:solidFill>
              <a:schemeClr val="tx1"/>
            </a:solidFill>
            <a:round/>
            <a:headEnd type="triangle" w="sm"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57" name="Rectangle 41" descr="Diagonal dunkel nach oben"/>
          <p:cNvSpPr>
            <a:spLocks noChangeArrowheads="1"/>
          </p:cNvSpPr>
          <p:nvPr/>
        </p:nvSpPr>
        <p:spPr bwMode="auto">
          <a:xfrm>
            <a:off x="3067050" y="1417638"/>
            <a:ext cx="49213" cy="2414587"/>
          </a:xfrm>
          <a:prstGeom prst="rect">
            <a:avLst/>
          </a:prstGeom>
          <a:pattFill prst="ltUpDiag">
            <a:fgClr>
              <a:schemeClr val="tx1"/>
            </a:fgClr>
            <a:bgClr>
              <a:schemeClr val="bg1"/>
            </a:bgClr>
          </a:pattFill>
          <a:ln w="19050">
            <a:solidFill>
              <a:schemeClr val="tx1"/>
            </a:solidFill>
            <a:miter lim="800000"/>
            <a:headEnd/>
            <a:tailEnd/>
          </a:ln>
        </p:spPr>
        <p:txBody>
          <a:bodyPr wrap="none" anchor="ctr"/>
          <a:lstStyle/>
          <a:p>
            <a:endParaRPr lang="zh-CN" altLang="en-US"/>
          </a:p>
        </p:txBody>
      </p:sp>
      <p:sp>
        <p:nvSpPr>
          <p:cNvPr id="2058" name="Rectangle 42" descr="Diagonal dunkel nach oben"/>
          <p:cNvSpPr>
            <a:spLocks noChangeArrowheads="1"/>
          </p:cNvSpPr>
          <p:nvPr/>
        </p:nvSpPr>
        <p:spPr bwMode="auto">
          <a:xfrm>
            <a:off x="4019550" y="1406525"/>
            <a:ext cx="50800" cy="2414588"/>
          </a:xfrm>
          <a:prstGeom prst="rect">
            <a:avLst/>
          </a:prstGeom>
          <a:pattFill prst="ltUpDiag">
            <a:fgClr>
              <a:schemeClr val="tx1"/>
            </a:fgClr>
            <a:bgClr>
              <a:schemeClr val="bg1"/>
            </a:bgClr>
          </a:pattFill>
          <a:ln w="19050">
            <a:solidFill>
              <a:schemeClr val="tx1"/>
            </a:solidFill>
            <a:miter lim="800000"/>
            <a:headEnd/>
            <a:tailEnd/>
          </a:ln>
        </p:spPr>
        <p:txBody>
          <a:bodyPr wrap="none" anchor="ctr"/>
          <a:lstStyle/>
          <a:p>
            <a:endParaRPr lang="zh-CN" altLang="en-US"/>
          </a:p>
        </p:txBody>
      </p:sp>
      <p:sp>
        <p:nvSpPr>
          <p:cNvPr id="2059" name="Freeform 43"/>
          <p:cNvSpPr>
            <a:spLocks/>
          </p:cNvSpPr>
          <p:nvPr/>
        </p:nvSpPr>
        <p:spPr bwMode="auto">
          <a:xfrm>
            <a:off x="3846513" y="1741488"/>
            <a:ext cx="171450" cy="657225"/>
          </a:xfrm>
          <a:custGeom>
            <a:avLst/>
            <a:gdLst>
              <a:gd name="T0" fmla="*/ 2147483647 w 138"/>
              <a:gd name="T1" fmla="*/ 0 h 512"/>
              <a:gd name="T2" fmla="*/ 0 w 138"/>
              <a:gd name="T3" fmla="*/ 2147483647 h 512"/>
              <a:gd name="T4" fmla="*/ 0 60000 65536"/>
              <a:gd name="T5" fmla="*/ 0 60000 65536"/>
              <a:gd name="T6" fmla="*/ 0 w 138"/>
              <a:gd name="T7" fmla="*/ 0 h 512"/>
              <a:gd name="T8" fmla="*/ 138 w 138"/>
              <a:gd name="T9" fmla="*/ 512 h 512"/>
            </a:gdLst>
            <a:ahLst/>
            <a:cxnLst>
              <a:cxn ang="T4">
                <a:pos x="T0" y="T1"/>
              </a:cxn>
              <a:cxn ang="T5">
                <a:pos x="T2" y="T3"/>
              </a:cxn>
            </a:cxnLst>
            <a:rect l="T6" t="T7" r="T8" b="T9"/>
            <a:pathLst>
              <a:path w="138" h="512">
                <a:moveTo>
                  <a:pt x="138" y="0"/>
                </a:moveTo>
                <a:lnTo>
                  <a:pt x="0" y="51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60" name="Freeform 44"/>
          <p:cNvSpPr>
            <a:spLocks/>
          </p:cNvSpPr>
          <p:nvPr/>
        </p:nvSpPr>
        <p:spPr bwMode="auto">
          <a:xfrm>
            <a:off x="3929063" y="2079625"/>
            <a:ext cx="85725" cy="14288"/>
          </a:xfrm>
          <a:custGeom>
            <a:avLst/>
            <a:gdLst>
              <a:gd name="T0" fmla="*/ 0 w 69"/>
              <a:gd name="T1" fmla="*/ 0 h 11"/>
              <a:gd name="T2" fmla="*/ 2147483647 w 69"/>
              <a:gd name="T3" fmla="*/ 2147483647 h 11"/>
              <a:gd name="T4" fmla="*/ 2147483647 w 69"/>
              <a:gd name="T5" fmla="*/ 2147483647 h 11"/>
              <a:gd name="T6" fmla="*/ 0 60000 65536"/>
              <a:gd name="T7" fmla="*/ 0 60000 65536"/>
              <a:gd name="T8" fmla="*/ 0 60000 65536"/>
              <a:gd name="T9" fmla="*/ 0 w 69"/>
              <a:gd name="T10" fmla="*/ 0 h 11"/>
              <a:gd name="T11" fmla="*/ 69 w 69"/>
              <a:gd name="T12" fmla="*/ 11 h 11"/>
            </a:gdLst>
            <a:ahLst/>
            <a:cxnLst>
              <a:cxn ang="T6">
                <a:pos x="T0" y="T1"/>
              </a:cxn>
              <a:cxn ang="T7">
                <a:pos x="T2" y="T3"/>
              </a:cxn>
              <a:cxn ang="T8">
                <a:pos x="T4" y="T5"/>
              </a:cxn>
            </a:cxnLst>
            <a:rect l="T9" t="T10" r="T11" b="T12"/>
            <a:pathLst>
              <a:path w="69" h="11">
                <a:moveTo>
                  <a:pt x="0" y="0"/>
                </a:moveTo>
                <a:cubicBezTo>
                  <a:pt x="11" y="4"/>
                  <a:pt x="23" y="9"/>
                  <a:pt x="34" y="10"/>
                </a:cubicBezTo>
                <a:cubicBezTo>
                  <a:pt x="45" y="11"/>
                  <a:pt x="57" y="8"/>
                  <a:pt x="69" y="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61" name="Text Box 45"/>
          <p:cNvSpPr txBox="1">
            <a:spLocks noChangeArrowheads="1"/>
          </p:cNvSpPr>
          <p:nvPr/>
        </p:nvSpPr>
        <p:spPr bwMode="auto">
          <a:xfrm>
            <a:off x="4037013" y="1901825"/>
            <a:ext cx="5429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de-DE" altLang="zh-CN" sz="2200" b="1" i="1" dirty="0">
                <a:cs typeface="Times New Roman" panose="02020603050405020304" pitchFamily="18" charset="0"/>
                <a:sym typeface="Symbol" pitchFamily="18" charset="2"/>
              </a:rPr>
              <a:t></a:t>
            </a:r>
            <a:endParaRPr lang="de-DE" altLang="zh-CN" sz="2200" b="1" i="1" dirty="0">
              <a:cs typeface="Times New Roman" panose="02020603050405020304" pitchFamily="18" charset="0"/>
            </a:endParaRPr>
          </a:p>
        </p:txBody>
      </p:sp>
      <p:sp>
        <p:nvSpPr>
          <p:cNvPr id="2062" name="Text Box 46"/>
          <p:cNvSpPr txBox="1">
            <a:spLocks noChangeArrowheads="1"/>
          </p:cNvSpPr>
          <p:nvPr/>
        </p:nvSpPr>
        <p:spPr bwMode="auto">
          <a:xfrm>
            <a:off x="3298825" y="4283075"/>
            <a:ext cx="463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zh-CN" altLang="de-DE" sz="2200" b="1">
                <a:latin typeface="Arial" charset="0"/>
              </a:rPr>
              <a:t>水</a:t>
            </a:r>
          </a:p>
        </p:txBody>
      </p:sp>
      <p:sp>
        <p:nvSpPr>
          <p:cNvPr id="2063" name="Line 47"/>
          <p:cNvSpPr>
            <a:spLocks noChangeShapeType="1"/>
          </p:cNvSpPr>
          <p:nvPr/>
        </p:nvSpPr>
        <p:spPr bwMode="auto">
          <a:xfrm>
            <a:off x="2259013" y="2200275"/>
            <a:ext cx="1984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64" name="Line 48"/>
          <p:cNvSpPr>
            <a:spLocks noChangeShapeType="1"/>
          </p:cNvSpPr>
          <p:nvPr/>
        </p:nvSpPr>
        <p:spPr bwMode="auto">
          <a:xfrm>
            <a:off x="2346325" y="2200275"/>
            <a:ext cx="0" cy="1436688"/>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65" name="Text Box 49"/>
          <p:cNvSpPr txBox="1">
            <a:spLocks noChangeArrowheads="1"/>
          </p:cNvSpPr>
          <p:nvPr/>
        </p:nvSpPr>
        <p:spPr bwMode="auto">
          <a:xfrm>
            <a:off x="2220913" y="2693988"/>
            <a:ext cx="425116" cy="430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med"/>
                <a:tailEnd type="none" w="sm" len="me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de-DE" altLang="zh-CN" sz="2200" b="1" i="1" dirty="0">
                <a:cs typeface="Times New Roman" panose="02020603050405020304" pitchFamily="18" charset="0"/>
              </a:rPr>
              <a:t>h</a:t>
            </a:r>
            <a:r>
              <a:rPr lang="de-DE" altLang="zh-CN" sz="2200" b="1" i="1" baseline="-25000" dirty="0">
                <a:cs typeface="Times New Roman" panose="02020603050405020304" pitchFamily="18" charset="0"/>
              </a:rPr>
              <a:t>c</a:t>
            </a:r>
            <a:endParaRPr lang="de-DE" altLang="zh-CN" sz="2200" b="1" i="1" dirty="0">
              <a:cs typeface="Times New Roman" panose="02020603050405020304" pitchFamily="18" charset="0"/>
            </a:endParaRPr>
          </a:p>
        </p:txBody>
      </p:sp>
      <p:sp>
        <p:nvSpPr>
          <p:cNvPr id="2066" name="AutoShape 50"/>
          <p:cNvSpPr>
            <a:spLocks noChangeArrowheads="1"/>
          </p:cNvSpPr>
          <p:nvPr/>
        </p:nvSpPr>
        <p:spPr bwMode="auto">
          <a:xfrm rot="10800000">
            <a:off x="1836738" y="3497263"/>
            <a:ext cx="188912" cy="128587"/>
          </a:xfrm>
          <a:prstGeom prst="triangle">
            <a:avLst>
              <a:gd name="adj" fmla="val 50000"/>
            </a:avLst>
          </a:prstGeom>
          <a:solidFill>
            <a:schemeClr val="bg1"/>
          </a:solidFill>
          <a:ln w="9525">
            <a:solidFill>
              <a:schemeClr val="tx1"/>
            </a:solidFill>
            <a:miter lim="800000"/>
            <a:headEnd type="none" w="sm" len="med"/>
            <a:tailEnd type="none" w="sm" len="med"/>
          </a:ln>
        </p:spPr>
        <p:txBody>
          <a:bodyPr wrap="none" anchor="ctr"/>
          <a:lstStyle/>
          <a:p>
            <a:endParaRPr lang="zh-CN" altLang="en-US"/>
          </a:p>
        </p:txBody>
      </p:sp>
      <p:grpSp>
        <p:nvGrpSpPr>
          <p:cNvPr id="2067" name="Group 51"/>
          <p:cNvGrpSpPr>
            <a:grpSpLocks/>
          </p:cNvGrpSpPr>
          <p:nvPr/>
        </p:nvGrpSpPr>
        <p:grpSpPr bwMode="auto">
          <a:xfrm>
            <a:off x="1836738" y="3681413"/>
            <a:ext cx="201612" cy="73025"/>
            <a:chOff x="1579" y="2043"/>
            <a:chExt cx="105" cy="34"/>
          </a:xfrm>
        </p:grpSpPr>
        <p:sp>
          <p:nvSpPr>
            <p:cNvPr id="2091" name="Line 52"/>
            <p:cNvSpPr>
              <a:spLocks noChangeShapeType="1"/>
            </p:cNvSpPr>
            <p:nvPr/>
          </p:nvSpPr>
          <p:spPr bwMode="auto">
            <a:xfrm>
              <a:off x="1579" y="2043"/>
              <a:ext cx="44" cy="0"/>
            </a:xfrm>
            <a:prstGeom prst="line">
              <a:avLst/>
            </a:prstGeom>
            <a:noFill/>
            <a:ln w="9525">
              <a:solidFill>
                <a:schemeClr val="tx1"/>
              </a:solidFill>
              <a:round/>
              <a:headEnd type="non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2" name="Line 53"/>
            <p:cNvSpPr>
              <a:spLocks noChangeShapeType="1"/>
            </p:cNvSpPr>
            <p:nvPr/>
          </p:nvSpPr>
          <p:spPr bwMode="auto">
            <a:xfrm>
              <a:off x="1640" y="2043"/>
              <a:ext cx="44" cy="0"/>
            </a:xfrm>
            <a:prstGeom prst="line">
              <a:avLst/>
            </a:prstGeom>
            <a:noFill/>
            <a:ln w="9525">
              <a:solidFill>
                <a:schemeClr val="tx1"/>
              </a:solidFill>
              <a:round/>
              <a:headEnd type="non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3" name="Line 54"/>
            <p:cNvSpPr>
              <a:spLocks noChangeShapeType="1"/>
            </p:cNvSpPr>
            <p:nvPr/>
          </p:nvSpPr>
          <p:spPr bwMode="auto">
            <a:xfrm>
              <a:off x="1610" y="2059"/>
              <a:ext cx="52" cy="0"/>
            </a:xfrm>
            <a:prstGeom prst="line">
              <a:avLst/>
            </a:prstGeom>
            <a:noFill/>
            <a:ln w="9525">
              <a:solidFill>
                <a:schemeClr val="tx1"/>
              </a:solidFill>
              <a:round/>
              <a:headEnd type="non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4" name="Line 55"/>
            <p:cNvSpPr>
              <a:spLocks noChangeShapeType="1"/>
            </p:cNvSpPr>
            <p:nvPr/>
          </p:nvSpPr>
          <p:spPr bwMode="auto">
            <a:xfrm>
              <a:off x="1624" y="2077"/>
              <a:ext cx="27" cy="0"/>
            </a:xfrm>
            <a:prstGeom prst="line">
              <a:avLst/>
            </a:prstGeom>
            <a:noFill/>
            <a:ln w="9525">
              <a:solidFill>
                <a:schemeClr val="tx1"/>
              </a:solidFill>
              <a:round/>
              <a:headEnd type="non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68" name="Line 56"/>
          <p:cNvSpPr>
            <a:spLocks noChangeShapeType="1"/>
          </p:cNvSpPr>
          <p:nvPr/>
        </p:nvSpPr>
        <p:spPr bwMode="auto">
          <a:xfrm>
            <a:off x="3124200" y="3211513"/>
            <a:ext cx="87947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69" name="Text Box 57"/>
          <p:cNvSpPr txBox="1">
            <a:spLocks noChangeArrowheads="1"/>
          </p:cNvSpPr>
          <p:nvPr/>
        </p:nvSpPr>
        <p:spPr bwMode="auto">
          <a:xfrm>
            <a:off x="3351213" y="2795588"/>
            <a:ext cx="4476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med"/>
                <a:tailEnd type="none" w="sm" len="me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de-DE" altLang="zh-CN" sz="2200" b="1" dirty="0">
                <a:cs typeface="Times New Roman" panose="02020603050405020304" pitchFamily="18" charset="0"/>
              </a:rPr>
              <a:t>2</a:t>
            </a:r>
            <a:r>
              <a:rPr lang="de-DE" altLang="zh-CN" sz="2200" b="1" i="1" dirty="0">
                <a:cs typeface="Times New Roman" panose="02020603050405020304" pitchFamily="18" charset="0"/>
              </a:rPr>
              <a:t>r</a:t>
            </a:r>
          </a:p>
        </p:txBody>
      </p:sp>
      <p:grpSp>
        <p:nvGrpSpPr>
          <p:cNvPr id="4" name="Group 58"/>
          <p:cNvGrpSpPr>
            <a:grpSpLocks/>
          </p:cNvGrpSpPr>
          <p:nvPr/>
        </p:nvGrpSpPr>
        <p:grpSpPr bwMode="auto">
          <a:xfrm>
            <a:off x="65088" y="1658938"/>
            <a:ext cx="2532063" cy="3468687"/>
            <a:chOff x="41" y="1045"/>
            <a:chExt cx="1595" cy="2185"/>
          </a:xfrm>
        </p:grpSpPr>
        <p:sp>
          <p:nvSpPr>
            <p:cNvPr id="2081" name="Text Box 59"/>
            <p:cNvSpPr txBox="1">
              <a:spLocks noChangeArrowheads="1"/>
            </p:cNvSpPr>
            <p:nvPr/>
          </p:nvSpPr>
          <p:spPr bwMode="auto">
            <a:xfrm>
              <a:off x="809" y="1045"/>
              <a:ext cx="82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med"/>
                  <a:tailEnd type="none" w="sm" len="me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de-DE" altLang="zh-CN" sz="2200" b="1" i="1" dirty="0">
                  <a:cs typeface="Times New Roman" panose="02020603050405020304" pitchFamily="18" charset="0"/>
                </a:rPr>
                <a:t>u</a:t>
              </a:r>
              <a:r>
                <a:rPr lang="de-DE" altLang="zh-CN" sz="2200" b="1" i="1" baseline="-25000" dirty="0">
                  <a:cs typeface="Times New Roman" panose="02020603050405020304" pitchFamily="18" charset="0"/>
                </a:rPr>
                <a:t>c</a:t>
              </a:r>
              <a:r>
                <a:rPr lang="de-DE" altLang="zh-CN" sz="2200" b="1" dirty="0">
                  <a:cs typeface="Times New Roman" panose="02020603050405020304" pitchFamily="18" charset="0"/>
                </a:rPr>
                <a:t>= -</a:t>
              </a:r>
              <a:r>
                <a:rPr lang="de-DE" altLang="zh-CN" sz="2200" b="1" i="1" dirty="0">
                  <a:cs typeface="Times New Roman" panose="02020603050405020304" pitchFamily="18" charset="0"/>
                </a:rPr>
                <a:t>h</a:t>
              </a:r>
              <a:r>
                <a:rPr lang="de-DE" altLang="zh-CN" sz="2200" b="1" i="1" baseline="-25000" dirty="0">
                  <a:cs typeface="Times New Roman" panose="02020603050405020304" pitchFamily="18" charset="0"/>
                </a:rPr>
                <a:t>c</a:t>
              </a:r>
              <a:r>
                <a:rPr lang="de-DE" altLang="zh-CN" sz="2200" b="1" dirty="0">
                  <a:cs typeface="Times New Roman" panose="02020603050405020304" pitchFamily="18" charset="0"/>
                  <a:sym typeface="Symbol" pitchFamily="18" charset="2"/>
                </a:rPr>
                <a:t></a:t>
              </a:r>
              <a:r>
                <a:rPr lang="de-DE" altLang="zh-CN" sz="2200" b="1" i="1" dirty="0">
                  <a:cs typeface="Times New Roman" panose="02020603050405020304" pitchFamily="18" charset="0"/>
                  <a:sym typeface="Symbol" pitchFamily="18" charset="2"/>
                </a:rPr>
                <a:t></a:t>
              </a:r>
              <a:r>
                <a:rPr lang="de-DE" altLang="zh-CN" sz="2200" b="1" i="1" baseline="-25000" dirty="0">
                  <a:cs typeface="Times New Roman" panose="02020603050405020304" pitchFamily="18" charset="0"/>
                  <a:sym typeface="Symbol" pitchFamily="18" charset="2"/>
                </a:rPr>
                <a:t>w</a:t>
              </a:r>
            </a:p>
          </p:txBody>
        </p:sp>
        <p:sp>
          <p:nvSpPr>
            <p:cNvPr id="2082" name="Freeform 60" descr="Horizontal hell"/>
            <p:cNvSpPr>
              <a:spLocks/>
            </p:cNvSpPr>
            <p:nvPr/>
          </p:nvSpPr>
          <p:spPr bwMode="auto">
            <a:xfrm>
              <a:off x="176" y="1391"/>
              <a:ext cx="1216" cy="1797"/>
            </a:xfrm>
            <a:custGeom>
              <a:avLst/>
              <a:gdLst>
                <a:gd name="T0" fmla="*/ 0 w 1560"/>
                <a:gd name="T1" fmla="*/ 1171 h 2226"/>
                <a:gd name="T2" fmla="*/ 366 w 1560"/>
                <a:gd name="T3" fmla="*/ 1171 h 2226"/>
                <a:gd name="T4" fmla="*/ 366 w 1560"/>
                <a:gd name="T5" fmla="*/ 0 h 2226"/>
                <a:gd name="T6" fmla="*/ 739 w 1560"/>
                <a:gd name="T7" fmla="*/ 0 h 2226"/>
                <a:gd name="T8" fmla="*/ 0 w 1560"/>
                <a:gd name="T9" fmla="*/ 1171 h 2226"/>
                <a:gd name="T10" fmla="*/ 0 60000 65536"/>
                <a:gd name="T11" fmla="*/ 0 60000 65536"/>
                <a:gd name="T12" fmla="*/ 0 60000 65536"/>
                <a:gd name="T13" fmla="*/ 0 60000 65536"/>
                <a:gd name="T14" fmla="*/ 0 60000 65536"/>
                <a:gd name="T15" fmla="*/ 0 w 1560"/>
                <a:gd name="T16" fmla="*/ 0 h 2226"/>
                <a:gd name="T17" fmla="*/ 1560 w 1560"/>
                <a:gd name="T18" fmla="*/ 2226 h 2226"/>
              </a:gdLst>
              <a:ahLst/>
              <a:cxnLst>
                <a:cxn ang="T10">
                  <a:pos x="T0" y="T1"/>
                </a:cxn>
                <a:cxn ang="T11">
                  <a:pos x="T2" y="T3"/>
                </a:cxn>
                <a:cxn ang="T12">
                  <a:pos x="T4" y="T5"/>
                </a:cxn>
                <a:cxn ang="T13">
                  <a:pos x="T6" y="T7"/>
                </a:cxn>
                <a:cxn ang="T14">
                  <a:pos x="T8" y="T9"/>
                </a:cxn>
              </a:cxnLst>
              <a:rect l="T15" t="T16" r="T17" b="T18"/>
              <a:pathLst>
                <a:path w="1560" h="2226">
                  <a:moveTo>
                    <a:pt x="0" y="2226"/>
                  </a:moveTo>
                  <a:lnTo>
                    <a:pt x="774" y="2226"/>
                  </a:lnTo>
                  <a:lnTo>
                    <a:pt x="774" y="0"/>
                  </a:lnTo>
                  <a:lnTo>
                    <a:pt x="1560" y="0"/>
                  </a:lnTo>
                  <a:lnTo>
                    <a:pt x="0" y="2226"/>
                  </a:lnTo>
                  <a:close/>
                </a:path>
              </a:pathLst>
            </a:custGeom>
            <a:pattFill prst="ltHorz">
              <a:fgClr>
                <a:schemeClr val="tx2"/>
              </a:fgClr>
              <a:bgClr>
                <a:schemeClr val="bg1"/>
              </a:bgClr>
            </a:pattFill>
            <a:ln w="9525">
              <a:solidFill>
                <a:schemeClr val="tx1"/>
              </a:solidFill>
              <a:round/>
              <a:headEnd/>
              <a:tailEnd/>
            </a:ln>
          </p:spPr>
          <p:txBody>
            <a:bodyPr wrap="none" anchor="ctr"/>
            <a:lstStyle/>
            <a:p>
              <a:endParaRPr lang="zh-CN" altLang="en-US"/>
            </a:p>
          </p:txBody>
        </p:sp>
        <p:sp>
          <p:nvSpPr>
            <p:cNvPr id="2083" name="Line 61"/>
            <p:cNvSpPr>
              <a:spLocks noChangeShapeType="1"/>
            </p:cNvSpPr>
            <p:nvPr/>
          </p:nvSpPr>
          <p:spPr bwMode="auto">
            <a:xfrm flipV="1">
              <a:off x="778" y="1224"/>
              <a:ext cx="0" cy="2006"/>
            </a:xfrm>
            <a:prstGeom prst="line">
              <a:avLst/>
            </a:prstGeom>
            <a:noFill/>
            <a:ln w="19050">
              <a:solidFill>
                <a:schemeClr val="tx1"/>
              </a:solidFill>
              <a:round/>
              <a:headEn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4" name="Text Box 62"/>
            <p:cNvSpPr txBox="1">
              <a:spLocks noChangeArrowheads="1"/>
            </p:cNvSpPr>
            <p:nvPr/>
          </p:nvSpPr>
          <p:spPr bwMode="auto">
            <a:xfrm>
              <a:off x="41" y="1993"/>
              <a:ext cx="5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med"/>
                  <a:tailEnd type="none" w="sm" len="me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zh-CN" altLang="de-DE" sz="2200" b="1">
                  <a:latin typeface="Arial" charset="0"/>
                </a:rPr>
                <a:t>水压 </a:t>
              </a:r>
              <a:endParaRPr lang="de-DE" sz="2200" b="1">
                <a:latin typeface="Arial" charset="0"/>
              </a:endParaRPr>
            </a:p>
          </p:txBody>
        </p:sp>
        <p:grpSp>
          <p:nvGrpSpPr>
            <p:cNvPr id="2085" name="Group 63"/>
            <p:cNvGrpSpPr>
              <a:grpSpLocks/>
            </p:cNvGrpSpPr>
            <p:nvPr/>
          </p:nvGrpSpPr>
          <p:grpSpPr bwMode="auto">
            <a:xfrm>
              <a:off x="471" y="2795"/>
              <a:ext cx="219" cy="269"/>
              <a:chOff x="471" y="2755"/>
              <a:chExt cx="219" cy="269"/>
            </a:xfrm>
          </p:grpSpPr>
          <p:sp>
            <p:nvSpPr>
              <p:cNvPr id="2089" name="Oval 64"/>
              <p:cNvSpPr>
                <a:spLocks noChangeArrowheads="1"/>
              </p:cNvSpPr>
              <p:nvPr/>
            </p:nvSpPr>
            <p:spPr bwMode="auto">
              <a:xfrm>
                <a:off x="495" y="2800"/>
                <a:ext cx="164" cy="172"/>
              </a:xfrm>
              <a:prstGeom prst="ellipse">
                <a:avLst/>
              </a:prstGeom>
              <a:solidFill>
                <a:schemeClr val="bg1"/>
              </a:solidFill>
              <a:ln w="9525">
                <a:solidFill>
                  <a:schemeClr val="tx1"/>
                </a:solidFill>
                <a:round/>
                <a:headEnd type="none" w="sm" len="med"/>
                <a:tailEnd type="none" w="sm" len="med"/>
              </a:ln>
            </p:spPr>
            <p:txBody>
              <a:bodyPr wrap="none" anchor="ctr"/>
              <a:lstStyle/>
              <a:p>
                <a:endParaRPr lang="zh-CN" altLang="en-US"/>
              </a:p>
            </p:txBody>
          </p:sp>
          <p:sp>
            <p:nvSpPr>
              <p:cNvPr id="2090" name="Text Box 65"/>
              <p:cNvSpPr txBox="1">
                <a:spLocks noChangeArrowheads="1"/>
              </p:cNvSpPr>
              <p:nvPr/>
            </p:nvSpPr>
            <p:spPr bwMode="auto">
              <a:xfrm>
                <a:off x="471" y="2755"/>
                <a:ext cx="21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med"/>
                    <a:tailEnd type="none" w="sm" len="me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de-DE" altLang="zh-CN" sz="2200" b="1">
                    <a:latin typeface="Arial" charset="0"/>
                  </a:rPr>
                  <a:t>+</a:t>
                </a:r>
              </a:p>
            </p:txBody>
          </p:sp>
        </p:grpSp>
        <p:grpSp>
          <p:nvGrpSpPr>
            <p:cNvPr id="2086" name="Group 66"/>
            <p:cNvGrpSpPr>
              <a:grpSpLocks/>
            </p:cNvGrpSpPr>
            <p:nvPr/>
          </p:nvGrpSpPr>
          <p:grpSpPr bwMode="auto">
            <a:xfrm>
              <a:off x="906" y="1465"/>
              <a:ext cx="175" cy="269"/>
              <a:chOff x="906" y="1425"/>
              <a:chExt cx="175" cy="269"/>
            </a:xfrm>
          </p:grpSpPr>
          <p:sp>
            <p:nvSpPr>
              <p:cNvPr id="2087" name="Oval 67"/>
              <p:cNvSpPr>
                <a:spLocks noChangeArrowheads="1"/>
              </p:cNvSpPr>
              <p:nvPr/>
            </p:nvSpPr>
            <p:spPr bwMode="auto">
              <a:xfrm>
                <a:off x="924" y="1502"/>
                <a:ext cx="145" cy="151"/>
              </a:xfrm>
              <a:prstGeom prst="ellipse">
                <a:avLst/>
              </a:prstGeom>
              <a:solidFill>
                <a:schemeClr val="bg1"/>
              </a:solidFill>
              <a:ln w="9525">
                <a:solidFill>
                  <a:schemeClr val="tx1"/>
                </a:solidFill>
                <a:round/>
                <a:headEnd type="none" w="sm" len="med"/>
                <a:tailEnd type="none" w="sm" len="med"/>
              </a:ln>
            </p:spPr>
            <p:txBody>
              <a:bodyPr wrap="none" anchor="ctr"/>
              <a:lstStyle/>
              <a:p>
                <a:endParaRPr lang="zh-CN" altLang="en-US"/>
              </a:p>
            </p:txBody>
          </p:sp>
          <p:sp>
            <p:nvSpPr>
              <p:cNvPr id="2088" name="Text Box 68"/>
              <p:cNvSpPr txBox="1">
                <a:spLocks noChangeArrowheads="1"/>
              </p:cNvSpPr>
              <p:nvPr/>
            </p:nvSpPr>
            <p:spPr bwMode="auto">
              <a:xfrm>
                <a:off x="906" y="1425"/>
                <a:ext cx="17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med"/>
                    <a:tailEnd type="none" w="sm" len="me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de-DE" altLang="zh-CN" sz="2200" b="1">
                    <a:latin typeface="Arial" charset="0"/>
                  </a:rPr>
                  <a:t>-</a:t>
                </a:r>
              </a:p>
            </p:txBody>
          </p:sp>
        </p:grpSp>
      </p:grpSp>
      <p:sp>
        <p:nvSpPr>
          <p:cNvPr id="2071" name="Line 69"/>
          <p:cNvSpPr>
            <a:spLocks noChangeShapeType="1"/>
          </p:cNvSpPr>
          <p:nvPr/>
        </p:nvSpPr>
        <p:spPr bwMode="auto">
          <a:xfrm flipV="1">
            <a:off x="4019550" y="1271588"/>
            <a:ext cx="133350" cy="461962"/>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2" name="Line 70"/>
          <p:cNvSpPr>
            <a:spLocks noChangeShapeType="1"/>
          </p:cNvSpPr>
          <p:nvPr/>
        </p:nvSpPr>
        <p:spPr bwMode="auto">
          <a:xfrm flipH="1" flipV="1">
            <a:off x="2981325" y="1309688"/>
            <a:ext cx="133350" cy="461962"/>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3" name="Text Box 71"/>
          <p:cNvSpPr txBox="1">
            <a:spLocks noChangeArrowheads="1"/>
          </p:cNvSpPr>
          <p:nvPr/>
        </p:nvSpPr>
        <p:spPr bwMode="auto">
          <a:xfrm>
            <a:off x="4014788" y="866775"/>
            <a:ext cx="35779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med"/>
                <a:tailEnd type="none" w="sm" len="me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de-DE" altLang="zh-CN" sz="2200" b="1" i="1">
                <a:cs typeface="Times New Roman" panose="02020603050405020304" pitchFamily="18" charset="0"/>
                <a:sym typeface="Symbol" pitchFamily="18" charset="2"/>
              </a:rPr>
              <a:t>T</a:t>
            </a:r>
            <a:endParaRPr lang="de-DE" altLang="zh-CN" sz="2200" b="1" i="1">
              <a:cs typeface="Times New Roman" panose="02020603050405020304" pitchFamily="18" charset="0"/>
            </a:endParaRPr>
          </a:p>
        </p:txBody>
      </p:sp>
      <p:sp>
        <p:nvSpPr>
          <p:cNvPr id="2074" name="Text Box 72"/>
          <p:cNvSpPr txBox="1">
            <a:spLocks noChangeArrowheads="1"/>
          </p:cNvSpPr>
          <p:nvPr/>
        </p:nvSpPr>
        <p:spPr bwMode="auto">
          <a:xfrm>
            <a:off x="2700338" y="906463"/>
            <a:ext cx="35779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med"/>
                <a:tailEnd type="none" w="sm" len="me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nSpc>
                <a:spcPct val="100000"/>
              </a:lnSpc>
              <a:spcBef>
                <a:spcPct val="0"/>
              </a:spcBef>
              <a:spcAft>
                <a:spcPct val="0"/>
              </a:spcAft>
            </a:pPr>
            <a:r>
              <a:rPr lang="de-DE" altLang="zh-CN" sz="2200" b="1" i="1" dirty="0">
                <a:cs typeface="Times New Roman" panose="02020603050405020304" pitchFamily="18" charset="0"/>
                <a:sym typeface="Symbol" pitchFamily="18" charset="2"/>
              </a:rPr>
              <a:t>T</a:t>
            </a:r>
            <a:endParaRPr lang="de-DE" altLang="zh-CN" sz="2200" b="1" i="1" dirty="0">
              <a:cs typeface="Times New Roman" panose="02020603050405020304" pitchFamily="18" charset="0"/>
            </a:endParaRPr>
          </a:p>
        </p:txBody>
      </p:sp>
      <p:sp>
        <p:nvSpPr>
          <p:cNvPr id="1375305" name="Line 73"/>
          <p:cNvSpPr>
            <a:spLocks noChangeShapeType="1"/>
          </p:cNvSpPr>
          <p:nvPr/>
        </p:nvSpPr>
        <p:spPr bwMode="auto">
          <a:xfrm flipV="1">
            <a:off x="3398838" y="1693863"/>
            <a:ext cx="1538287" cy="366712"/>
          </a:xfrm>
          <a:prstGeom prst="line">
            <a:avLst/>
          </a:prstGeom>
          <a:noFill/>
          <a:ln w="28575">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75306" name="Rectangle 74"/>
          <p:cNvSpPr>
            <a:spLocks noChangeArrowheads="1"/>
          </p:cNvSpPr>
          <p:nvPr/>
        </p:nvSpPr>
        <p:spPr bwMode="auto">
          <a:xfrm>
            <a:off x="5502275" y="4084638"/>
            <a:ext cx="2538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2400" b="1">
                <a:ea typeface="幼圆" pitchFamily="49" charset="-122"/>
              </a:rPr>
              <a:t>则毛细压力：</a:t>
            </a:r>
          </a:p>
        </p:txBody>
      </p:sp>
      <p:sp>
        <p:nvSpPr>
          <p:cNvPr id="1375307" name="Text Box 75"/>
          <p:cNvSpPr txBox="1">
            <a:spLocks noChangeArrowheads="1"/>
          </p:cNvSpPr>
          <p:nvPr/>
        </p:nvSpPr>
        <p:spPr bwMode="auto">
          <a:xfrm>
            <a:off x="5481638" y="3432175"/>
            <a:ext cx="298068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dirty="0">
                <a:ea typeface="华文新魏" pitchFamily="2" charset="-122"/>
                <a:cs typeface="Arial" charset="0"/>
              </a:rPr>
              <a:t>2</a:t>
            </a:r>
            <a:r>
              <a:rPr kumimoji="1" lang="el-GR" altLang="zh-CN" sz="2800" b="1" dirty="0">
                <a:ea typeface="华文新魏" pitchFamily="2" charset="-122"/>
                <a:cs typeface="Arial" charset="0"/>
              </a:rPr>
              <a:t>π</a:t>
            </a:r>
            <a:r>
              <a:rPr kumimoji="1" lang="en-US" altLang="zh-CN" sz="2800" b="1" i="1" dirty="0" err="1">
                <a:ea typeface="华文新魏" pitchFamily="2" charset="-122"/>
                <a:cs typeface="Arial" charset="0"/>
              </a:rPr>
              <a:t>rT</a:t>
            </a:r>
            <a:r>
              <a:rPr kumimoji="1" lang="en-US" altLang="zh-CN" sz="2800" b="1" dirty="0" err="1">
                <a:ea typeface="华文新魏" pitchFamily="2" charset="-122"/>
                <a:cs typeface="Arial" charset="0"/>
              </a:rPr>
              <a:t>cos</a:t>
            </a:r>
            <a:r>
              <a:rPr kumimoji="1" lang="el-GR" altLang="zh-CN" sz="2800" b="1" i="1" dirty="0">
                <a:ea typeface="华文新魏" pitchFamily="2" charset="-122"/>
                <a:cs typeface="Arial" charset="0"/>
              </a:rPr>
              <a:t>α</a:t>
            </a:r>
            <a:r>
              <a:rPr kumimoji="1" lang="en-US" altLang="zh-CN" sz="2800" b="1" dirty="0">
                <a:ea typeface="华文新魏" pitchFamily="2" charset="-122"/>
                <a:cs typeface="Arial" charset="0"/>
              </a:rPr>
              <a:t>+</a:t>
            </a:r>
            <a:r>
              <a:rPr kumimoji="1" lang="en-US" altLang="zh-CN" sz="2800" b="1" i="1" dirty="0" err="1">
                <a:ea typeface="华文新魏" pitchFamily="2" charset="-122"/>
                <a:cs typeface="Arial" charset="0"/>
              </a:rPr>
              <a:t>u</a:t>
            </a:r>
            <a:r>
              <a:rPr kumimoji="1" lang="en-US" altLang="zh-CN" sz="2800" b="1" i="1" baseline="-25000" dirty="0" err="1">
                <a:ea typeface="华文新魏" pitchFamily="2" charset="-122"/>
                <a:cs typeface="Arial" charset="0"/>
              </a:rPr>
              <a:t>c</a:t>
            </a:r>
            <a:r>
              <a:rPr kumimoji="1" lang="el-GR" altLang="zh-CN" sz="2800" b="1" dirty="0">
                <a:ea typeface="华文新魏" pitchFamily="2" charset="-122"/>
                <a:cs typeface="Arial" charset="0"/>
              </a:rPr>
              <a:t>π</a:t>
            </a:r>
            <a:r>
              <a:rPr kumimoji="1" lang="en-US" altLang="zh-CN" sz="2800" b="1" i="1" dirty="0">
                <a:ea typeface="华文新魏" pitchFamily="2" charset="-122"/>
                <a:cs typeface="Arial" charset="0"/>
              </a:rPr>
              <a:t>r</a:t>
            </a:r>
            <a:r>
              <a:rPr kumimoji="1" lang="en-US" altLang="zh-CN" sz="2800" b="1" baseline="30000" dirty="0">
                <a:ea typeface="华文新魏" pitchFamily="2" charset="-122"/>
                <a:cs typeface="Arial" charset="0"/>
              </a:rPr>
              <a:t>2  </a:t>
            </a:r>
            <a:r>
              <a:rPr kumimoji="1" lang="en-US" altLang="zh-CN" sz="2800" b="1" dirty="0">
                <a:ea typeface="华文新魏" pitchFamily="2" charset="-122"/>
                <a:cs typeface="Arial" charset="0"/>
              </a:rPr>
              <a:t>= 0</a:t>
            </a:r>
            <a:endParaRPr kumimoji="1" lang="el-GR" altLang="zh-CN" sz="2800" b="1" dirty="0">
              <a:ea typeface="华文新魏" pitchFamily="2" charset="-122"/>
              <a:cs typeface="Arial" charset="0"/>
            </a:endParaRPr>
          </a:p>
        </p:txBody>
      </p:sp>
      <p:sp>
        <p:nvSpPr>
          <p:cNvPr id="1375309" name="Text Box 77"/>
          <p:cNvSpPr txBox="1">
            <a:spLocks noChangeArrowheads="1"/>
          </p:cNvSpPr>
          <p:nvPr/>
        </p:nvSpPr>
        <p:spPr bwMode="auto">
          <a:xfrm>
            <a:off x="177800" y="1084263"/>
            <a:ext cx="16176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ea typeface="幼圆" pitchFamily="49" charset="-122"/>
              </a:rPr>
              <a:t>毛细管中的负静水压力</a:t>
            </a:r>
            <a:endParaRPr lang="en-US" altLang="zh-CN" sz="2000" b="1">
              <a:ea typeface="幼圆" pitchFamily="49" charset="-122"/>
            </a:endParaRPr>
          </a:p>
        </p:txBody>
      </p:sp>
      <p:sp>
        <p:nvSpPr>
          <p:cNvPr id="1375310" name="Line 78"/>
          <p:cNvSpPr>
            <a:spLocks noChangeShapeType="1"/>
          </p:cNvSpPr>
          <p:nvPr/>
        </p:nvSpPr>
        <p:spPr bwMode="auto">
          <a:xfrm flipH="1" flipV="1">
            <a:off x="792163" y="1862138"/>
            <a:ext cx="549275"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0" name="Text Box 79"/>
          <p:cNvSpPr txBox="1">
            <a:spLocks noChangeArrowheads="1"/>
          </p:cNvSpPr>
          <p:nvPr/>
        </p:nvSpPr>
        <p:spPr bwMode="auto">
          <a:xfrm>
            <a:off x="3643313" y="5811838"/>
            <a:ext cx="32924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a:solidFill>
                  <a:srgbClr val="000066"/>
                </a:solidFill>
                <a:latin typeface="Arial" charset="0"/>
                <a:ea typeface="黑体" pitchFamily="2" charset="-122"/>
              </a:rPr>
              <a:t>毛细水压力</a:t>
            </a:r>
            <a:endParaRPr kumimoji="1" lang="en-US" altLang="zh-CN" sz="4000" b="1">
              <a:solidFill>
                <a:srgbClr val="000066"/>
              </a:solidFill>
              <a:latin typeface="Arial" charset="0"/>
              <a:ea typeface="黑体" pitchFamily="2" charset="-122"/>
            </a:endParaRPr>
          </a:p>
        </p:txBody>
      </p:sp>
      <p:sp>
        <p:nvSpPr>
          <p:cNvPr id="70"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中水</a:t>
            </a:r>
          </a:p>
        </p:txBody>
      </p:sp>
      <p:graphicFrame>
        <p:nvGraphicFramePr>
          <p:cNvPr id="3" name="对象 2"/>
          <p:cNvGraphicFramePr>
            <a:graphicFrameLocks noChangeAspect="1"/>
          </p:cNvGraphicFramePr>
          <p:nvPr>
            <p:extLst>
              <p:ext uri="{D42A27DB-BD31-4B8C-83A1-F6EECF244321}">
                <p14:modId xmlns:p14="http://schemas.microsoft.com/office/powerpoint/2010/main" val="3593114242"/>
              </p:ext>
            </p:extLst>
          </p:nvPr>
        </p:nvGraphicFramePr>
        <p:xfrm>
          <a:off x="5861050" y="4683125"/>
          <a:ext cx="1955800" cy="628650"/>
        </p:xfrm>
        <a:graphic>
          <a:graphicData uri="http://schemas.openxmlformats.org/presentationml/2006/ole">
            <mc:AlternateContent xmlns:mc="http://schemas.openxmlformats.org/markup-compatibility/2006">
              <mc:Choice xmlns:v="urn:schemas-microsoft-com:vml" Requires="v">
                <p:oleObj spid="_x0000_s51317" name="公式" r:id="rId4" imgW="711000" imgH="228600" progId="Equation.3">
                  <p:embed/>
                </p:oleObj>
              </mc:Choice>
              <mc:Fallback>
                <p:oleObj name="公式" r:id="rId4" imgW="711000" imgH="228600" progId="Equation.3">
                  <p:embed/>
                  <p:pic>
                    <p:nvPicPr>
                      <p:cNvPr id="0" name=""/>
                      <p:cNvPicPr/>
                      <p:nvPr/>
                    </p:nvPicPr>
                    <p:blipFill>
                      <a:blip r:embed="rId5"/>
                      <a:stretch>
                        <a:fillRect/>
                      </a:stretch>
                    </p:blipFill>
                    <p:spPr>
                      <a:xfrm>
                        <a:off x="5861050" y="4683125"/>
                        <a:ext cx="1955800" cy="628650"/>
                      </a:xfrm>
                      <a:prstGeom prst="rect">
                        <a:avLst/>
                      </a:prstGeom>
                    </p:spPr>
                  </p:pic>
                </p:oleObj>
              </mc:Fallback>
            </mc:AlternateContent>
          </a:graphicData>
        </a:graphic>
      </p:graphicFrame>
    </p:spTree>
    <p:extLst>
      <p:ext uri="{BB962C8B-B14F-4D97-AF65-F5344CB8AC3E}">
        <p14:creationId xmlns:p14="http://schemas.microsoft.com/office/powerpoint/2010/main" val="30461338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5305"/>
                                        </p:tgtEl>
                                        <p:attrNameLst>
                                          <p:attrName>style.visibility</p:attrName>
                                        </p:attrNameLst>
                                      </p:cBhvr>
                                      <p:to>
                                        <p:strVal val="visible"/>
                                      </p:to>
                                    </p:set>
                                    <p:animEffect transition="in" filter="wipe(left)">
                                      <p:cBhvr>
                                        <p:cTn id="7" dur="500"/>
                                        <p:tgtEl>
                                          <p:spTgt spid="137530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nodeType="withGroup">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1375307"/>
                                        </p:tgtEl>
                                        <p:attrNameLst>
                                          <p:attrName>style.visibility</p:attrName>
                                        </p:attrNameLst>
                                      </p:cBhvr>
                                      <p:to>
                                        <p:strVal val="visible"/>
                                      </p:to>
                                    </p:set>
                                    <p:anim calcmode="lin" valueType="num">
                                      <p:cBhvr additive="base">
                                        <p:cTn id="15" dur="500" fill="hold"/>
                                        <p:tgtEl>
                                          <p:spTgt spid="1375307"/>
                                        </p:tgtEl>
                                        <p:attrNameLst>
                                          <p:attrName>ppt_x</p:attrName>
                                        </p:attrNameLst>
                                      </p:cBhvr>
                                      <p:tavLst>
                                        <p:tav tm="0">
                                          <p:val>
                                            <p:strVal val="1+#ppt_w/2"/>
                                          </p:val>
                                        </p:tav>
                                        <p:tav tm="100000">
                                          <p:val>
                                            <p:strVal val="#ppt_x"/>
                                          </p:val>
                                        </p:tav>
                                      </p:tavLst>
                                    </p:anim>
                                    <p:anim calcmode="lin" valueType="num">
                                      <p:cBhvr additive="base">
                                        <p:cTn id="16" dur="500" fill="hold"/>
                                        <p:tgtEl>
                                          <p:spTgt spid="1375307"/>
                                        </p:tgtEl>
                                        <p:attrNameLst>
                                          <p:attrName>ppt_y</p:attrName>
                                        </p:attrNameLst>
                                      </p:cBhvr>
                                      <p:tavLst>
                                        <p:tav tm="0">
                                          <p:val>
                                            <p:strVal val="#ppt_y"/>
                                          </p:val>
                                        </p:tav>
                                        <p:tav tm="100000">
                                          <p:val>
                                            <p:strVal val="#ppt_y"/>
                                          </p:val>
                                        </p:tav>
                                      </p:tavLst>
                                    </p:anim>
                                  </p:childTnLst>
                                </p:cTn>
                              </p:par>
                            </p:childTnLst>
                          </p:cTn>
                        </p:par>
                        <p:par>
                          <p:cTn id="17" fill="hold" nodeType="afterGroup">
                            <p:stCondLst>
                              <p:cond delay="1500"/>
                            </p:stCondLst>
                            <p:childTnLst>
                              <p:par>
                                <p:cTn id="18" presetID="47" presetClass="entr" presetSubtype="0" fill="hold" grpId="0" nodeType="afterEffect">
                                  <p:stCondLst>
                                    <p:cond delay="1000"/>
                                  </p:stCondLst>
                                  <p:childTnLst>
                                    <p:set>
                                      <p:cBhvr>
                                        <p:cTn id="19" dur="1" fill="hold">
                                          <p:stCondLst>
                                            <p:cond delay="0"/>
                                          </p:stCondLst>
                                        </p:cTn>
                                        <p:tgtEl>
                                          <p:spTgt spid="1375306"/>
                                        </p:tgtEl>
                                        <p:attrNameLst>
                                          <p:attrName>style.visibility</p:attrName>
                                        </p:attrNameLst>
                                      </p:cBhvr>
                                      <p:to>
                                        <p:strVal val="visible"/>
                                      </p:to>
                                    </p:set>
                                    <p:animEffect transition="in" filter="fade">
                                      <p:cBhvr>
                                        <p:cTn id="20" dur="2000"/>
                                        <p:tgtEl>
                                          <p:spTgt spid="1375306"/>
                                        </p:tgtEl>
                                      </p:cBhvr>
                                    </p:animEffect>
                                    <p:anim calcmode="lin" valueType="num">
                                      <p:cBhvr>
                                        <p:cTn id="21" dur="2000" fill="hold"/>
                                        <p:tgtEl>
                                          <p:spTgt spid="1375306"/>
                                        </p:tgtEl>
                                        <p:attrNameLst>
                                          <p:attrName>ppt_x</p:attrName>
                                        </p:attrNameLst>
                                      </p:cBhvr>
                                      <p:tavLst>
                                        <p:tav tm="0">
                                          <p:val>
                                            <p:strVal val="#ppt_x"/>
                                          </p:val>
                                        </p:tav>
                                        <p:tav tm="100000">
                                          <p:val>
                                            <p:strVal val="#ppt_x"/>
                                          </p:val>
                                        </p:tav>
                                      </p:tavLst>
                                    </p:anim>
                                    <p:anim calcmode="lin" valueType="num">
                                      <p:cBhvr>
                                        <p:cTn id="22" dur="2000" fill="hold"/>
                                        <p:tgtEl>
                                          <p:spTgt spid="1375306"/>
                                        </p:tgtEl>
                                        <p:attrNameLst>
                                          <p:attrName>ppt_y</p:attrName>
                                        </p:attrNameLst>
                                      </p:cBhvr>
                                      <p:tavLst>
                                        <p:tav tm="0">
                                          <p:val>
                                            <p:strVal val="#ppt_y-.1"/>
                                          </p:val>
                                        </p:tav>
                                        <p:tav tm="100000">
                                          <p:val>
                                            <p:strVal val="#ppt_y"/>
                                          </p:val>
                                        </p:tav>
                                      </p:tavLst>
                                    </p:anim>
                                  </p:childTnLst>
                                </p:cTn>
                              </p:par>
                            </p:childTnLst>
                          </p:cTn>
                        </p:par>
                        <p:par>
                          <p:cTn id="23" fill="hold" nodeType="withGroup">
                            <p:stCondLst>
                              <p:cond delay="4500"/>
                            </p:stCondLst>
                            <p:childTnLst>
                              <p:par>
                                <p:cTn id="24" presetID="2" presetClass="entr" presetSubtype="2"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1+#ppt_w/2"/>
                                          </p:val>
                                        </p:tav>
                                        <p:tav tm="100000">
                                          <p:val>
                                            <p:strVal val="#ppt_x"/>
                                          </p:val>
                                        </p:tav>
                                      </p:tavLst>
                                    </p:anim>
                                    <p:anim calcmode="lin" valueType="num">
                                      <p:cBhvr additive="base">
                                        <p:cTn id="27" dur="500" fill="hold"/>
                                        <p:tgtEl>
                                          <p:spTgt spid="3"/>
                                        </p:tgtEl>
                                        <p:attrNameLst>
                                          <p:attrName>ppt_y</p:attrName>
                                        </p:attrNameLst>
                                      </p:cBhvr>
                                      <p:tavLst>
                                        <p:tav tm="0">
                                          <p:val>
                                            <p:strVal val="#ppt_y"/>
                                          </p:val>
                                        </p:tav>
                                        <p:tav tm="100000">
                                          <p:val>
                                            <p:strVal val="#ppt_y"/>
                                          </p:val>
                                        </p:tav>
                                      </p:tavLst>
                                    </p:anim>
                                  </p:childTnLst>
                                </p:cTn>
                              </p:par>
                            </p:childTnLst>
                          </p:cTn>
                        </p:par>
                        <p:par>
                          <p:cTn id="28" fill="hold">
                            <p:stCondLst>
                              <p:cond delay="5000"/>
                            </p:stCondLst>
                            <p:childTnLst>
                              <p:par>
                                <p:cTn id="29" presetID="22" presetClass="entr" presetSubtype="4"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down)">
                                      <p:cBhvr>
                                        <p:cTn id="31" dur="2000"/>
                                        <p:tgtEl>
                                          <p:spTgt spid="4"/>
                                        </p:tgtEl>
                                      </p:cBhvr>
                                    </p:animEffect>
                                  </p:childTnLst>
                                </p:cTn>
                              </p:par>
                            </p:childTnLst>
                          </p:cTn>
                        </p:par>
                        <p:par>
                          <p:cTn id="32" fill="hold" nodeType="afterGroup">
                            <p:stCondLst>
                              <p:cond delay="7000"/>
                            </p:stCondLst>
                            <p:childTnLst>
                              <p:par>
                                <p:cTn id="33" presetID="22" presetClass="entr" presetSubtype="4" fill="hold" grpId="0" nodeType="afterEffect">
                                  <p:stCondLst>
                                    <p:cond delay="0"/>
                                  </p:stCondLst>
                                  <p:childTnLst>
                                    <p:set>
                                      <p:cBhvr>
                                        <p:cTn id="34" dur="1" fill="hold">
                                          <p:stCondLst>
                                            <p:cond delay="0"/>
                                          </p:stCondLst>
                                        </p:cTn>
                                        <p:tgtEl>
                                          <p:spTgt spid="1375310"/>
                                        </p:tgtEl>
                                        <p:attrNameLst>
                                          <p:attrName>style.visibility</p:attrName>
                                        </p:attrNameLst>
                                      </p:cBhvr>
                                      <p:to>
                                        <p:strVal val="visible"/>
                                      </p:to>
                                    </p:set>
                                    <p:animEffect transition="in" filter="wipe(down)">
                                      <p:cBhvr>
                                        <p:cTn id="35" dur="2000"/>
                                        <p:tgtEl>
                                          <p:spTgt spid="1375310"/>
                                        </p:tgtEl>
                                      </p:cBhvr>
                                    </p:animEffect>
                                  </p:childTnLst>
                                </p:cTn>
                              </p:par>
                            </p:childTnLst>
                          </p:cTn>
                        </p:par>
                        <p:par>
                          <p:cTn id="36" fill="hold" nodeType="afterGroup">
                            <p:stCondLst>
                              <p:cond delay="9000"/>
                            </p:stCondLst>
                            <p:childTnLst>
                              <p:par>
                                <p:cTn id="37" presetID="22" presetClass="entr" presetSubtype="4" fill="hold" grpId="0" nodeType="afterEffect">
                                  <p:stCondLst>
                                    <p:cond delay="0"/>
                                  </p:stCondLst>
                                  <p:childTnLst>
                                    <p:set>
                                      <p:cBhvr>
                                        <p:cTn id="38" dur="1" fill="hold">
                                          <p:stCondLst>
                                            <p:cond delay="0"/>
                                          </p:stCondLst>
                                        </p:cTn>
                                        <p:tgtEl>
                                          <p:spTgt spid="1375309"/>
                                        </p:tgtEl>
                                        <p:attrNameLst>
                                          <p:attrName>style.visibility</p:attrName>
                                        </p:attrNameLst>
                                      </p:cBhvr>
                                      <p:to>
                                        <p:strVal val="visible"/>
                                      </p:to>
                                    </p:set>
                                    <p:animEffect transition="in" filter="wipe(down)">
                                      <p:cBhvr>
                                        <p:cTn id="39" dur="2000"/>
                                        <p:tgtEl>
                                          <p:spTgt spid="1375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5305" grpId="0" animBg="1"/>
      <p:bldP spid="1375306" grpId="0" autoUpdateAnimBg="0"/>
      <p:bldP spid="1375307" grpId="0"/>
      <p:bldP spid="1375309" grpId="0"/>
      <p:bldP spid="13753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9"/>
          <p:cNvSpPr txBox="1">
            <a:spLocks noChangeArrowheads="1"/>
          </p:cNvSpPr>
          <p:nvPr/>
        </p:nvSpPr>
        <p:spPr bwMode="auto">
          <a:xfrm>
            <a:off x="2373313" y="5719763"/>
            <a:ext cx="53721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a:solidFill>
                  <a:srgbClr val="000066"/>
                </a:solidFill>
                <a:ea typeface="黑体" pitchFamily="2" charset="-122"/>
              </a:rPr>
              <a:t>土颗粒缝隙处的弯液面</a:t>
            </a:r>
            <a:endParaRPr lang="en-US" altLang="zh-CN" sz="4000" b="1" dirty="0">
              <a:solidFill>
                <a:srgbClr val="000066"/>
              </a:solidFill>
              <a:ea typeface="黑体" pitchFamily="2" charset="-122"/>
            </a:endParaRPr>
          </a:p>
        </p:txBody>
      </p:sp>
      <p:grpSp>
        <p:nvGrpSpPr>
          <p:cNvPr id="59397" name="Group 14"/>
          <p:cNvGrpSpPr>
            <a:grpSpLocks/>
          </p:cNvGrpSpPr>
          <p:nvPr/>
        </p:nvGrpSpPr>
        <p:grpSpPr bwMode="auto">
          <a:xfrm>
            <a:off x="376238" y="844550"/>
            <a:ext cx="2459037" cy="1798638"/>
            <a:chOff x="587" y="1201"/>
            <a:chExt cx="908" cy="639"/>
          </a:xfrm>
        </p:grpSpPr>
        <p:sp>
          <p:nvSpPr>
            <p:cNvPr id="59408" name="Freeform 15"/>
            <p:cNvSpPr>
              <a:spLocks/>
            </p:cNvSpPr>
            <p:nvPr/>
          </p:nvSpPr>
          <p:spPr bwMode="auto">
            <a:xfrm>
              <a:off x="645" y="1214"/>
              <a:ext cx="785" cy="541"/>
            </a:xfrm>
            <a:custGeom>
              <a:avLst/>
              <a:gdLst>
                <a:gd name="T0" fmla="*/ 133 w 785"/>
                <a:gd name="T1" fmla="*/ 0 h 541"/>
                <a:gd name="T2" fmla="*/ 51 w 785"/>
                <a:gd name="T3" fmla="*/ 56 h 541"/>
                <a:gd name="T4" fmla="*/ 53 w 785"/>
                <a:gd name="T5" fmla="*/ 94 h 541"/>
                <a:gd name="T6" fmla="*/ 68 w 785"/>
                <a:gd name="T7" fmla="*/ 130 h 541"/>
                <a:gd name="T8" fmla="*/ 53 w 785"/>
                <a:gd name="T9" fmla="*/ 168 h 541"/>
                <a:gd name="T10" fmla="*/ 39 w 785"/>
                <a:gd name="T11" fmla="*/ 190 h 541"/>
                <a:gd name="T12" fmla="*/ 5 w 785"/>
                <a:gd name="T13" fmla="*/ 257 h 541"/>
                <a:gd name="T14" fmla="*/ 10 w 785"/>
                <a:gd name="T15" fmla="*/ 346 h 541"/>
                <a:gd name="T16" fmla="*/ 27 w 785"/>
                <a:gd name="T17" fmla="*/ 384 h 541"/>
                <a:gd name="T18" fmla="*/ 13 w 785"/>
                <a:gd name="T19" fmla="*/ 440 h 541"/>
                <a:gd name="T20" fmla="*/ 10 w 785"/>
                <a:gd name="T21" fmla="*/ 488 h 541"/>
                <a:gd name="T22" fmla="*/ 61 w 785"/>
                <a:gd name="T23" fmla="*/ 531 h 541"/>
                <a:gd name="T24" fmla="*/ 149 w 785"/>
                <a:gd name="T25" fmla="*/ 526 h 541"/>
                <a:gd name="T26" fmla="*/ 193 w 785"/>
                <a:gd name="T27" fmla="*/ 507 h 541"/>
                <a:gd name="T28" fmla="*/ 212 w 785"/>
                <a:gd name="T29" fmla="*/ 500 h 541"/>
                <a:gd name="T30" fmla="*/ 250 w 785"/>
                <a:gd name="T31" fmla="*/ 485 h 541"/>
                <a:gd name="T32" fmla="*/ 293 w 785"/>
                <a:gd name="T33" fmla="*/ 495 h 541"/>
                <a:gd name="T34" fmla="*/ 320 w 785"/>
                <a:gd name="T35" fmla="*/ 512 h 541"/>
                <a:gd name="T36" fmla="*/ 385 w 785"/>
                <a:gd name="T37" fmla="*/ 514 h 541"/>
                <a:gd name="T38" fmla="*/ 416 w 785"/>
                <a:gd name="T39" fmla="*/ 538 h 541"/>
                <a:gd name="T40" fmla="*/ 526 w 785"/>
                <a:gd name="T41" fmla="*/ 533 h 541"/>
                <a:gd name="T42" fmla="*/ 613 w 785"/>
                <a:gd name="T43" fmla="*/ 519 h 541"/>
                <a:gd name="T44" fmla="*/ 629 w 785"/>
                <a:gd name="T45" fmla="*/ 471 h 541"/>
                <a:gd name="T46" fmla="*/ 670 w 785"/>
                <a:gd name="T47" fmla="*/ 442 h 541"/>
                <a:gd name="T48" fmla="*/ 737 w 785"/>
                <a:gd name="T49" fmla="*/ 406 h 541"/>
                <a:gd name="T50" fmla="*/ 764 w 785"/>
                <a:gd name="T51" fmla="*/ 360 h 541"/>
                <a:gd name="T52" fmla="*/ 776 w 785"/>
                <a:gd name="T53" fmla="*/ 305 h 541"/>
                <a:gd name="T54" fmla="*/ 757 w 785"/>
                <a:gd name="T55" fmla="*/ 248 h 541"/>
                <a:gd name="T56" fmla="*/ 608 w 785"/>
                <a:gd name="T57" fmla="*/ 166 h 541"/>
                <a:gd name="T58" fmla="*/ 550 w 785"/>
                <a:gd name="T59" fmla="*/ 101 h 541"/>
                <a:gd name="T60" fmla="*/ 548 w 785"/>
                <a:gd name="T61" fmla="*/ 58 h 541"/>
                <a:gd name="T62" fmla="*/ 533 w 785"/>
                <a:gd name="T63" fmla="*/ 39 h 541"/>
                <a:gd name="T64" fmla="*/ 478 w 785"/>
                <a:gd name="T65" fmla="*/ 48 h 541"/>
                <a:gd name="T66" fmla="*/ 442 w 785"/>
                <a:gd name="T67" fmla="*/ 34 h 541"/>
                <a:gd name="T68" fmla="*/ 406 w 785"/>
                <a:gd name="T69" fmla="*/ 29 h 541"/>
                <a:gd name="T70" fmla="*/ 346 w 785"/>
                <a:gd name="T71" fmla="*/ 17 h 541"/>
                <a:gd name="T72" fmla="*/ 277 w 785"/>
                <a:gd name="T73" fmla="*/ 34 h 541"/>
                <a:gd name="T74" fmla="*/ 219 w 785"/>
                <a:gd name="T75" fmla="*/ 17 h 541"/>
                <a:gd name="T76" fmla="*/ 133 w 785"/>
                <a:gd name="T77" fmla="*/ 0 h 54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785"/>
                <a:gd name="T118" fmla="*/ 0 h 541"/>
                <a:gd name="T119" fmla="*/ 785 w 785"/>
                <a:gd name="T120" fmla="*/ 541 h 54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785" h="541">
                  <a:moveTo>
                    <a:pt x="133" y="0"/>
                  </a:moveTo>
                  <a:cubicBezTo>
                    <a:pt x="103" y="4"/>
                    <a:pt x="64" y="40"/>
                    <a:pt x="51" y="56"/>
                  </a:cubicBezTo>
                  <a:cubicBezTo>
                    <a:pt x="38" y="72"/>
                    <a:pt x="50" y="82"/>
                    <a:pt x="53" y="94"/>
                  </a:cubicBezTo>
                  <a:cubicBezTo>
                    <a:pt x="56" y="106"/>
                    <a:pt x="68" y="118"/>
                    <a:pt x="68" y="130"/>
                  </a:cubicBezTo>
                  <a:cubicBezTo>
                    <a:pt x="68" y="142"/>
                    <a:pt x="58" y="158"/>
                    <a:pt x="53" y="168"/>
                  </a:cubicBezTo>
                  <a:cubicBezTo>
                    <a:pt x="48" y="178"/>
                    <a:pt x="47" y="175"/>
                    <a:pt x="39" y="190"/>
                  </a:cubicBezTo>
                  <a:cubicBezTo>
                    <a:pt x="31" y="205"/>
                    <a:pt x="10" y="231"/>
                    <a:pt x="5" y="257"/>
                  </a:cubicBezTo>
                  <a:cubicBezTo>
                    <a:pt x="0" y="283"/>
                    <a:pt x="6" y="325"/>
                    <a:pt x="10" y="346"/>
                  </a:cubicBezTo>
                  <a:cubicBezTo>
                    <a:pt x="14" y="367"/>
                    <a:pt x="27" y="368"/>
                    <a:pt x="27" y="384"/>
                  </a:cubicBezTo>
                  <a:cubicBezTo>
                    <a:pt x="27" y="400"/>
                    <a:pt x="16" y="423"/>
                    <a:pt x="13" y="440"/>
                  </a:cubicBezTo>
                  <a:cubicBezTo>
                    <a:pt x="10" y="457"/>
                    <a:pt x="2" y="473"/>
                    <a:pt x="10" y="488"/>
                  </a:cubicBezTo>
                  <a:cubicBezTo>
                    <a:pt x="18" y="503"/>
                    <a:pt x="38" y="525"/>
                    <a:pt x="61" y="531"/>
                  </a:cubicBezTo>
                  <a:cubicBezTo>
                    <a:pt x="84" y="537"/>
                    <a:pt x="127" y="530"/>
                    <a:pt x="149" y="526"/>
                  </a:cubicBezTo>
                  <a:cubicBezTo>
                    <a:pt x="171" y="522"/>
                    <a:pt x="183" y="511"/>
                    <a:pt x="193" y="507"/>
                  </a:cubicBezTo>
                  <a:cubicBezTo>
                    <a:pt x="203" y="503"/>
                    <a:pt x="203" y="504"/>
                    <a:pt x="212" y="500"/>
                  </a:cubicBezTo>
                  <a:cubicBezTo>
                    <a:pt x="221" y="496"/>
                    <a:pt x="237" y="486"/>
                    <a:pt x="250" y="485"/>
                  </a:cubicBezTo>
                  <a:cubicBezTo>
                    <a:pt x="263" y="484"/>
                    <a:pt x="281" y="491"/>
                    <a:pt x="293" y="495"/>
                  </a:cubicBezTo>
                  <a:cubicBezTo>
                    <a:pt x="305" y="499"/>
                    <a:pt x="305" y="509"/>
                    <a:pt x="320" y="512"/>
                  </a:cubicBezTo>
                  <a:cubicBezTo>
                    <a:pt x="335" y="515"/>
                    <a:pt x="369" y="510"/>
                    <a:pt x="385" y="514"/>
                  </a:cubicBezTo>
                  <a:cubicBezTo>
                    <a:pt x="401" y="518"/>
                    <a:pt x="393" y="535"/>
                    <a:pt x="416" y="538"/>
                  </a:cubicBezTo>
                  <a:cubicBezTo>
                    <a:pt x="439" y="541"/>
                    <a:pt x="493" y="536"/>
                    <a:pt x="526" y="533"/>
                  </a:cubicBezTo>
                  <a:cubicBezTo>
                    <a:pt x="559" y="530"/>
                    <a:pt x="596" y="529"/>
                    <a:pt x="613" y="519"/>
                  </a:cubicBezTo>
                  <a:cubicBezTo>
                    <a:pt x="630" y="509"/>
                    <a:pt x="620" y="484"/>
                    <a:pt x="629" y="471"/>
                  </a:cubicBezTo>
                  <a:cubicBezTo>
                    <a:pt x="638" y="458"/>
                    <a:pt x="652" y="453"/>
                    <a:pt x="670" y="442"/>
                  </a:cubicBezTo>
                  <a:cubicBezTo>
                    <a:pt x="688" y="431"/>
                    <a:pt x="721" y="420"/>
                    <a:pt x="737" y="406"/>
                  </a:cubicBezTo>
                  <a:cubicBezTo>
                    <a:pt x="753" y="392"/>
                    <a:pt x="758" y="377"/>
                    <a:pt x="764" y="360"/>
                  </a:cubicBezTo>
                  <a:cubicBezTo>
                    <a:pt x="770" y="343"/>
                    <a:pt x="777" y="324"/>
                    <a:pt x="776" y="305"/>
                  </a:cubicBezTo>
                  <a:cubicBezTo>
                    <a:pt x="775" y="286"/>
                    <a:pt x="785" y="271"/>
                    <a:pt x="757" y="248"/>
                  </a:cubicBezTo>
                  <a:cubicBezTo>
                    <a:pt x="729" y="225"/>
                    <a:pt x="643" y="191"/>
                    <a:pt x="608" y="166"/>
                  </a:cubicBezTo>
                  <a:cubicBezTo>
                    <a:pt x="573" y="141"/>
                    <a:pt x="560" y="119"/>
                    <a:pt x="550" y="101"/>
                  </a:cubicBezTo>
                  <a:cubicBezTo>
                    <a:pt x="540" y="83"/>
                    <a:pt x="551" y="68"/>
                    <a:pt x="548" y="58"/>
                  </a:cubicBezTo>
                  <a:cubicBezTo>
                    <a:pt x="545" y="48"/>
                    <a:pt x="545" y="41"/>
                    <a:pt x="533" y="39"/>
                  </a:cubicBezTo>
                  <a:cubicBezTo>
                    <a:pt x="521" y="37"/>
                    <a:pt x="493" y="49"/>
                    <a:pt x="478" y="48"/>
                  </a:cubicBezTo>
                  <a:cubicBezTo>
                    <a:pt x="463" y="47"/>
                    <a:pt x="454" y="37"/>
                    <a:pt x="442" y="34"/>
                  </a:cubicBezTo>
                  <a:cubicBezTo>
                    <a:pt x="430" y="31"/>
                    <a:pt x="422" y="32"/>
                    <a:pt x="406" y="29"/>
                  </a:cubicBezTo>
                  <a:cubicBezTo>
                    <a:pt x="390" y="26"/>
                    <a:pt x="367" y="16"/>
                    <a:pt x="346" y="17"/>
                  </a:cubicBezTo>
                  <a:cubicBezTo>
                    <a:pt x="325" y="18"/>
                    <a:pt x="298" y="34"/>
                    <a:pt x="277" y="34"/>
                  </a:cubicBezTo>
                  <a:cubicBezTo>
                    <a:pt x="256" y="34"/>
                    <a:pt x="243" y="23"/>
                    <a:pt x="219" y="17"/>
                  </a:cubicBezTo>
                  <a:cubicBezTo>
                    <a:pt x="195" y="11"/>
                    <a:pt x="151" y="4"/>
                    <a:pt x="133" y="0"/>
                  </a:cubicBezTo>
                  <a:close/>
                </a:path>
              </a:pathLst>
            </a:custGeom>
            <a:solidFill>
              <a:schemeClr val="hlink"/>
            </a:solidFill>
            <a:ln w="9525">
              <a:solidFill>
                <a:schemeClr val="tx1"/>
              </a:solidFill>
              <a:round/>
              <a:headEnd/>
              <a:tailEnd/>
            </a:ln>
          </p:spPr>
          <p:txBody>
            <a:bodyPr/>
            <a:lstStyle/>
            <a:p>
              <a:endParaRPr lang="zh-CN" altLang="en-US"/>
            </a:p>
          </p:txBody>
        </p:sp>
        <p:sp>
          <p:nvSpPr>
            <p:cNvPr id="59409" name="Freeform 16"/>
            <p:cNvSpPr>
              <a:spLocks/>
            </p:cNvSpPr>
            <p:nvPr/>
          </p:nvSpPr>
          <p:spPr bwMode="auto">
            <a:xfrm>
              <a:off x="770" y="1511"/>
              <a:ext cx="142" cy="124"/>
            </a:xfrm>
            <a:custGeom>
              <a:avLst/>
              <a:gdLst>
                <a:gd name="T0" fmla="*/ 93 w 142"/>
                <a:gd name="T1" fmla="*/ 44 h 124"/>
                <a:gd name="T2" fmla="*/ 76 w 142"/>
                <a:gd name="T3" fmla="*/ 20 h 124"/>
                <a:gd name="T4" fmla="*/ 78 w 142"/>
                <a:gd name="T5" fmla="*/ 13 h 124"/>
                <a:gd name="T6" fmla="*/ 60 w 142"/>
                <a:gd name="T7" fmla="*/ 1 h 124"/>
                <a:gd name="T8" fmla="*/ 28 w 142"/>
                <a:gd name="T9" fmla="*/ 7 h 124"/>
                <a:gd name="T10" fmla="*/ 3 w 142"/>
                <a:gd name="T11" fmla="*/ 30 h 124"/>
                <a:gd name="T12" fmla="*/ 10 w 142"/>
                <a:gd name="T13" fmla="*/ 61 h 124"/>
                <a:gd name="T14" fmla="*/ 35 w 142"/>
                <a:gd name="T15" fmla="*/ 80 h 124"/>
                <a:gd name="T16" fmla="*/ 56 w 142"/>
                <a:gd name="T17" fmla="*/ 97 h 124"/>
                <a:gd name="T18" fmla="*/ 75 w 142"/>
                <a:gd name="T19" fmla="*/ 105 h 124"/>
                <a:gd name="T20" fmla="*/ 94 w 142"/>
                <a:gd name="T21" fmla="*/ 115 h 124"/>
                <a:gd name="T22" fmla="*/ 123 w 142"/>
                <a:gd name="T23" fmla="*/ 122 h 124"/>
                <a:gd name="T24" fmla="*/ 141 w 142"/>
                <a:gd name="T25" fmla="*/ 101 h 124"/>
                <a:gd name="T26" fmla="*/ 129 w 142"/>
                <a:gd name="T27" fmla="*/ 84 h 124"/>
                <a:gd name="T28" fmla="*/ 93 w 142"/>
                <a:gd name="T29" fmla="*/ 44 h 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2"/>
                <a:gd name="T46" fmla="*/ 0 h 124"/>
                <a:gd name="T47" fmla="*/ 142 w 142"/>
                <a:gd name="T48" fmla="*/ 124 h 1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2" h="124">
                  <a:moveTo>
                    <a:pt x="93" y="44"/>
                  </a:moveTo>
                  <a:cubicBezTo>
                    <a:pt x="84" y="33"/>
                    <a:pt x="78" y="25"/>
                    <a:pt x="76" y="20"/>
                  </a:cubicBezTo>
                  <a:cubicBezTo>
                    <a:pt x="74" y="15"/>
                    <a:pt x="81" y="16"/>
                    <a:pt x="78" y="13"/>
                  </a:cubicBezTo>
                  <a:cubicBezTo>
                    <a:pt x="75" y="10"/>
                    <a:pt x="68" y="2"/>
                    <a:pt x="60" y="1"/>
                  </a:cubicBezTo>
                  <a:cubicBezTo>
                    <a:pt x="52" y="0"/>
                    <a:pt x="37" y="2"/>
                    <a:pt x="28" y="7"/>
                  </a:cubicBezTo>
                  <a:cubicBezTo>
                    <a:pt x="19" y="12"/>
                    <a:pt x="6" y="21"/>
                    <a:pt x="3" y="30"/>
                  </a:cubicBezTo>
                  <a:cubicBezTo>
                    <a:pt x="0" y="39"/>
                    <a:pt x="5" y="53"/>
                    <a:pt x="10" y="61"/>
                  </a:cubicBezTo>
                  <a:cubicBezTo>
                    <a:pt x="15" y="69"/>
                    <a:pt x="27" y="74"/>
                    <a:pt x="35" y="80"/>
                  </a:cubicBezTo>
                  <a:cubicBezTo>
                    <a:pt x="43" y="86"/>
                    <a:pt x="49" y="93"/>
                    <a:pt x="56" y="97"/>
                  </a:cubicBezTo>
                  <a:cubicBezTo>
                    <a:pt x="63" y="101"/>
                    <a:pt x="69" y="102"/>
                    <a:pt x="75" y="105"/>
                  </a:cubicBezTo>
                  <a:cubicBezTo>
                    <a:pt x="81" y="108"/>
                    <a:pt x="86" y="112"/>
                    <a:pt x="94" y="115"/>
                  </a:cubicBezTo>
                  <a:cubicBezTo>
                    <a:pt x="102" y="118"/>
                    <a:pt x="115" y="124"/>
                    <a:pt x="123" y="122"/>
                  </a:cubicBezTo>
                  <a:cubicBezTo>
                    <a:pt x="131" y="120"/>
                    <a:pt x="140" y="107"/>
                    <a:pt x="141" y="101"/>
                  </a:cubicBezTo>
                  <a:cubicBezTo>
                    <a:pt x="142" y="95"/>
                    <a:pt x="137" y="93"/>
                    <a:pt x="129" y="84"/>
                  </a:cubicBezTo>
                  <a:cubicBezTo>
                    <a:pt x="121" y="75"/>
                    <a:pt x="101" y="55"/>
                    <a:pt x="93" y="44"/>
                  </a:cubicBezTo>
                  <a:close/>
                </a:path>
              </a:pathLst>
            </a:custGeom>
            <a:solidFill>
              <a:schemeClr val="bg1"/>
            </a:solidFill>
            <a:ln w="9525">
              <a:solidFill>
                <a:schemeClr val="tx1"/>
              </a:solidFill>
              <a:round/>
              <a:headEnd/>
              <a:tailEnd/>
            </a:ln>
          </p:spPr>
          <p:txBody>
            <a:bodyPr/>
            <a:lstStyle/>
            <a:p>
              <a:endParaRPr lang="zh-CN" altLang="en-US"/>
            </a:p>
          </p:txBody>
        </p:sp>
        <p:sp>
          <p:nvSpPr>
            <p:cNvPr id="59410" name="Freeform 17"/>
            <p:cNvSpPr>
              <a:spLocks/>
            </p:cNvSpPr>
            <p:nvPr/>
          </p:nvSpPr>
          <p:spPr bwMode="auto">
            <a:xfrm>
              <a:off x="977" y="1595"/>
              <a:ext cx="69" cy="112"/>
            </a:xfrm>
            <a:custGeom>
              <a:avLst/>
              <a:gdLst>
                <a:gd name="T0" fmla="*/ 63 w 69"/>
                <a:gd name="T1" fmla="*/ 61 h 112"/>
                <a:gd name="T2" fmla="*/ 69 w 69"/>
                <a:gd name="T3" fmla="*/ 45 h 112"/>
                <a:gd name="T4" fmla="*/ 63 w 69"/>
                <a:gd name="T5" fmla="*/ 17 h 112"/>
                <a:gd name="T6" fmla="*/ 42 w 69"/>
                <a:gd name="T7" fmla="*/ 0 h 112"/>
                <a:gd name="T8" fmla="*/ 18 w 69"/>
                <a:gd name="T9" fmla="*/ 16 h 112"/>
                <a:gd name="T10" fmla="*/ 6 w 69"/>
                <a:gd name="T11" fmla="*/ 43 h 112"/>
                <a:gd name="T12" fmla="*/ 1 w 69"/>
                <a:gd name="T13" fmla="*/ 69 h 112"/>
                <a:gd name="T14" fmla="*/ 5 w 69"/>
                <a:gd name="T15" fmla="*/ 99 h 112"/>
                <a:gd name="T16" fmla="*/ 33 w 69"/>
                <a:gd name="T17" fmla="*/ 111 h 112"/>
                <a:gd name="T18" fmla="*/ 50 w 69"/>
                <a:gd name="T19" fmla="*/ 91 h 112"/>
                <a:gd name="T20" fmla="*/ 63 w 69"/>
                <a:gd name="T21" fmla="*/ 61 h 1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9"/>
                <a:gd name="T34" fmla="*/ 0 h 112"/>
                <a:gd name="T35" fmla="*/ 69 w 69"/>
                <a:gd name="T36" fmla="*/ 112 h 1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9" h="112">
                  <a:moveTo>
                    <a:pt x="63" y="61"/>
                  </a:moveTo>
                  <a:cubicBezTo>
                    <a:pt x="66" y="53"/>
                    <a:pt x="69" y="52"/>
                    <a:pt x="69" y="45"/>
                  </a:cubicBezTo>
                  <a:cubicBezTo>
                    <a:pt x="69" y="38"/>
                    <a:pt x="67" y="24"/>
                    <a:pt x="63" y="17"/>
                  </a:cubicBezTo>
                  <a:cubicBezTo>
                    <a:pt x="59" y="10"/>
                    <a:pt x="49" y="0"/>
                    <a:pt x="42" y="0"/>
                  </a:cubicBezTo>
                  <a:cubicBezTo>
                    <a:pt x="35" y="0"/>
                    <a:pt x="24" y="9"/>
                    <a:pt x="18" y="16"/>
                  </a:cubicBezTo>
                  <a:cubicBezTo>
                    <a:pt x="12" y="23"/>
                    <a:pt x="9" y="34"/>
                    <a:pt x="6" y="43"/>
                  </a:cubicBezTo>
                  <a:cubicBezTo>
                    <a:pt x="3" y="52"/>
                    <a:pt x="1" y="60"/>
                    <a:pt x="1" y="69"/>
                  </a:cubicBezTo>
                  <a:cubicBezTo>
                    <a:pt x="1" y="78"/>
                    <a:pt x="0" y="92"/>
                    <a:pt x="5" y="99"/>
                  </a:cubicBezTo>
                  <a:cubicBezTo>
                    <a:pt x="10" y="106"/>
                    <a:pt x="26" y="112"/>
                    <a:pt x="33" y="111"/>
                  </a:cubicBezTo>
                  <a:cubicBezTo>
                    <a:pt x="40" y="110"/>
                    <a:pt x="45" y="99"/>
                    <a:pt x="50" y="91"/>
                  </a:cubicBezTo>
                  <a:cubicBezTo>
                    <a:pt x="55" y="83"/>
                    <a:pt x="59" y="69"/>
                    <a:pt x="63" y="61"/>
                  </a:cubicBezTo>
                  <a:close/>
                </a:path>
              </a:pathLst>
            </a:custGeom>
            <a:solidFill>
              <a:schemeClr val="bg1"/>
            </a:solidFill>
            <a:ln w="9525">
              <a:solidFill>
                <a:schemeClr val="tx1"/>
              </a:solidFill>
              <a:round/>
              <a:headEnd/>
              <a:tailEnd/>
            </a:ln>
          </p:spPr>
          <p:txBody>
            <a:bodyPr/>
            <a:lstStyle/>
            <a:p>
              <a:endParaRPr lang="zh-CN" altLang="en-US"/>
            </a:p>
          </p:txBody>
        </p:sp>
        <p:sp>
          <p:nvSpPr>
            <p:cNvPr id="59411" name="Freeform 18"/>
            <p:cNvSpPr>
              <a:spLocks/>
            </p:cNvSpPr>
            <p:nvPr/>
          </p:nvSpPr>
          <p:spPr bwMode="auto">
            <a:xfrm>
              <a:off x="1087" y="1564"/>
              <a:ext cx="151" cy="82"/>
            </a:xfrm>
            <a:custGeom>
              <a:avLst/>
              <a:gdLst>
                <a:gd name="T0" fmla="*/ 111 w 151"/>
                <a:gd name="T1" fmla="*/ 82 h 82"/>
                <a:gd name="T2" fmla="*/ 145 w 151"/>
                <a:gd name="T3" fmla="*/ 73 h 82"/>
                <a:gd name="T4" fmla="*/ 145 w 151"/>
                <a:gd name="T5" fmla="*/ 49 h 82"/>
                <a:gd name="T6" fmla="*/ 134 w 151"/>
                <a:gd name="T7" fmla="*/ 38 h 82"/>
                <a:gd name="T8" fmla="*/ 84 w 151"/>
                <a:gd name="T9" fmla="*/ 20 h 82"/>
                <a:gd name="T10" fmla="*/ 46 w 151"/>
                <a:gd name="T11" fmla="*/ 9 h 82"/>
                <a:gd name="T12" fmla="*/ 21 w 151"/>
                <a:gd name="T13" fmla="*/ 1 h 82"/>
                <a:gd name="T14" fmla="*/ 4 w 151"/>
                <a:gd name="T15" fmla="*/ 2 h 82"/>
                <a:gd name="T16" fmla="*/ 1 w 151"/>
                <a:gd name="T17" fmla="*/ 15 h 82"/>
                <a:gd name="T18" fmla="*/ 10 w 151"/>
                <a:gd name="T19" fmla="*/ 42 h 82"/>
                <a:gd name="T20" fmla="*/ 45 w 151"/>
                <a:gd name="T21" fmla="*/ 50 h 82"/>
                <a:gd name="T22" fmla="*/ 84 w 151"/>
                <a:gd name="T23" fmla="*/ 74 h 82"/>
                <a:gd name="T24" fmla="*/ 111 w 151"/>
                <a:gd name="T25" fmla="*/ 82 h 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1"/>
                <a:gd name="T40" fmla="*/ 0 h 82"/>
                <a:gd name="T41" fmla="*/ 151 w 151"/>
                <a:gd name="T42" fmla="*/ 82 h 8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1" h="82">
                  <a:moveTo>
                    <a:pt x="111" y="82"/>
                  </a:moveTo>
                  <a:cubicBezTo>
                    <a:pt x="121" y="82"/>
                    <a:pt x="139" y="78"/>
                    <a:pt x="145" y="73"/>
                  </a:cubicBezTo>
                  <a:cubicBezTo>
                    <a:pt x="151" y="68"/>
                    <a:pt x="147" y="55"/>
                    <a:pt x="145" y="49"/>
                  </a:cubicBezTo>
                  <a:cubicBezTo>
                    <a:pt x="143" y="43"/>
                    <a:pt x="144" y="43"/>
                    <a:pt x="134" y="38"/>
                  </a:cubicBezTo>
                  <a:cubicBezTo>
                    <a:pt x="124" y="33"/>
                    <a:pt x="99" y="25"/>
                    <a:pt x="84" y="20"/>
                  </a:cubicBezTo>
                  <a:cubicBezTo>
                    <a:pt x="69" y="15"/>
                    <a:pt x="57" y="12"/>
                    <a:pt x="46" y="9"/>
                  </a:cubicBezTo>
                  <a:cubicBezTo>
                    <a:pt x="35" y="6"/>
                    <a:pt x="28" y="2"/>
                    <a:pt x="21" y="1"/>
                  </a:cubicBezTo>
                  <a:cubicBezTo>
                    <a:pt x="14" y="0"/>
                    <a:pt x="7" y="0"/>
                    <a:pt x="4" y="2"/>
                  </a:cubicBezTo>
                  <a:cubicBezTo>
                    <a:pt x="1" y="4"/>
                    <a:pt x="0" y="8"/>
                    <a:pt x="1" y="15"/>
                  </a:cubicBezTo>
                  <a:cubicBezTo>
                    <a:pt x="2" y="22"/>
                    <a:pt x="3" y="36"/>
                    <a:pt x="10" y="42"/>
                  </a:cubicBezTo>
                  <a:cubicBezTo>
                    <a:pt x="17" y="48"/>
                    <a:pt x="33" y="45"/>
                    <a:pt x="45" y="50"/>
                  </a:cubicBezTo>
                  <a:cubicBezTo>
                    <a:pt x="57" y="55"/>
                    <a:pt x="73" y="69"/>
                    <a:pt x="84" y="74"/>
                  </a:cubicBezTo>
                  <a:cubicBezTo>
                    <a:pt x="95" y="79"/>
                    <a:pt x="101" y="82"/>
                    <a:pt x="111" y="82"/>
                  </a:cubicBezTo>
                  <a:close/>
                </a:path>
              </a:pathLst>
            </a:custGeom>
            <a:solidFill>
              <a:schemeClr val="bg1"/>
            </a:solidFill>
            <a:ln w="9525">
              <a:solidFill>
                <a:schemeClr val="tx1"/>
              </a:solidFill>
              <a:round/>
              <a:headEnd/>
              <a:tailEnd/>
            </a:ln>
          </p:spPr>
          <p:txBody>
            <a:bodyPr/>
            <a:lstStyle/>
            <a:p>
              <a:endParaRPr lang="zh-CN" altLang="en-US"/>
            </a:p>
          </p:txBody>
        </p:sp>
        <p:sp>
          <p:nvSpPr>
            <p:cNvPr id="59412" name="Freeform 19"/>
            <p:cNvSpPr>
              <a:spLocks/>
            </p:cNvSpPr>
            <p:nvPr/>
          </p:nvSpPr>
          <p:spPr bwMode="auto">
            <a:xfrm>
              <a:off x="1034" y="1353"/>
              <a:ext cx="188" cy="174"/>
            </a:xfrm>
            <a:custGeom>
              <a:avLst/>
              <a:gdLst>
                <a:gd name="T0" fmla="*/ 176 w 188"/>
                <a:gd name="T1" fmla="*/ 119 h 174"/>
                <a:gd name="T2" fmla="*/ 178 w 188"/>
                <a:gd name="T3" fmla="*/ 158 h 174"/>
                <a:gd name="T4" fmla="*/ 154 w 188"/>
                <a:gd name="T5" fmla="*/ 166 h 174"/>
                <a:gd name="T6" fmla="*/ 128 w 188"/>
                <a:gd name="T7" fmla="*/ 167 h 174"/>
                <a:gd name="T8" fmla="*/ 101 w 188"/>
                <a:gd name="T9" fmla="*/ 173 h 174"/>
                <a:gd name="T10" fmla="*/ 75 w 188"/>
                <a:gd name="T11" fmla="*/ 171 h 174"/>
                <a:gd name="T12" fmla="*/ 52 w 188"/>
                <a:gd name="T13" fmla="*/ 153 h 174"/>
                <a:gd name="T14" fmla="*/ 51 w 188"/>
                <a:gd name="T15" fmla="*/ 124 h 174"/>
                <a:gd name="T16" fmla="*/ 44 w 188"/>
                <a:gd name="T17" fmla="*/ 84 h 174"/>
                <a:gd name="T18" fmla="*/ 12 w 188"/>
                <a:gd name="T19" fmla="*/ 66 h 174"/>
                <a:gd name="T20" fmla="*/ 1 w 188"/>
                <a:gd name="T21" fmla="*/ 23 h 174"/>
                <a:gd name="T22" fmla="*/ 15 w 188"/>
                <a:gd name="T23" fmla="*/ 2 h 174"/>
                <a:gd name="T24" fmla="*/ 48 w 188"/>
                <a:gd name="T25" fmla="*/ 10 h 174"/>
                <a:gd name="T26" fmla="*/ 82 w 188"/>
                <a:gd name="T27" fmla="*/ 33 h 174"/>
                <a:gd name="T28" fmla="*/ 176 w 188"/>
                <a:gd name="T29" fmla="*/ 119 h 1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8"/>
                <a:gd name="T46" fmla="*/ 0 h 174"/>
                <a:gd name="T47" fmla="*/ 188 w 188"/>
                <a:gd name="T48" fmla="*/ 174 h 1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8" h="174">
                  <a:moveTo>
                    <a:pt x="176" y="119"/>
                  </a:moveTo>
                  <a:cubicBezTo>
                    <a:pt x="188" y="142"/>
                    <a:pt x="182" y="150"/>
                    <a:pt x="178" y="158"/>
                  </a:cubicBezTo>
                  <a:cubicBezTo>
                    <a:pt x="174" y="166"/>
                    <a:pt x="162" y="165"/>
                    <a:pt x="154" y="166"/>
                  </a:cubicBezTo>
                  <a:cubicBezTo>
                    <a:pt x="146" y="167"/>
                    <a:pt x="137" y="166"/>
                    <a:pt x="128" y="167"/>
                  </a:cubicBezTo>
                  <a:cubicBezTo>
                    <a:pt x="119" y="168"/>
                    <a:pt x="110" y="172"/>
                    <a:pt x="101" y="173"/>
                  </a:cubicBezTo>
                  <a:cubicBezTo>
                    <a:pt x="92" y="174"/>
                    <a:pt x="83" y="174"/>
                    <a:pt x="75" y="171"/>
                  </a:cubicBezTo>
                  <a:cubicBezTo>
                    <a:pt x="67" y="168"/>
                    <a:pt x="56" y="161"/>
                    <a:pt x="52" y="153"/>
                  </a:cubicBezTo>
                  <a:cubicBezTo>
                    <a:pt x="48" y="145"/>
                    <a:pt x="52" y="135"/>
                    <a:pt x="51" y="124"/>
                  </a:cubicBezTo>
                  <a:cubicBezTo>
                    <a:pt x="50" y="113"/>
                    <a:pt x="50" y="93"/>
                    <a:pt x="44" y="84"/>
                  </a:cubicBezTo>
                  <a:cubicBezTo>
                    <a:pt x="38" y="75"/>
                    <a:pt x="19" y="76"/>
                    <a:pt x="12" y="66"/>
                  </a:cubicBezTo>
                  <a:cubicBezTo>
                    <a:pt x="5" y="56"/>
                    <a:pt x="0" y="34"/>
                    <a:pt x="1" y="23"/>
                  </a:cubicBezTo>
                  <a:cubicBezTo>
                    <a:pt x="2" y="12"/>
                    <a:pt x="7" y="4"/>
                    <a:pt x="15" y="2"/>
                  </a:cubicBezTo>
                  <a:cubicBezTo>
                    <a:pt x="23" y="0"/>
                    <a:pt x="37" y="5"/>
                    <a:pt x="48" y="10"/>
                  </a:cubicBezTo>
                  <a:cubicBezTo>
                    <a:pt x="59" y="15"/>
                    <a:pt x="61" y="15"/>
                    <a:pt x="82" y="33"/>
                  </a:cubicBezTo>
                  <a:cubicBezTo>
                    <a:pt x="103" y="51"/>
                    <a:pt x="157" y="101"/>
                    <a:pt x="176" y="119"/>
                  </a:cubicBezTo>
                  <a:close/>
                </a:path>
              </a:pathLst>
            </a:custGeom>
            <a:solidFill>
              <a:schemeClr val="bg1"/>
            </a:solidFill>
            <a:ln w="9525">
              <a:solidFill>
                <a:schemeClr val="tx1"/>
              </a:solidFill>
              <a:round/>
              <a:headEnd/>
              <a:tailEnd/>
            </a:ln>
          </p:spPr>
          <p:txBody>
            <a:bodyPr/>
            <a:lstStyle/>
            <a:p>
              <a:endParaRPr lang="zh-CN" altLang="en-US"/>
            </a:p>
          </p:txBody>
        </p:sp>
        <p:sp>
          <p:nvSpPr>
            <p:cNvPr id="59413" name="Freeform 20"/>
            <p:cNvSpPr>
              <a:spLocks/>
            </p:cNvSpPr>
            <p:nvPr/>
          </p:nvSpPr>
          <p:spPr bwMode="auto">
            <a:xfrm>
              <a:off x="838" y="1319"/>
              <a:ext cx="115" cy="118"/>
            </a:xfrm>
            <a:custGeom>
              <a:avLst/>
              <a:gdLst>
                <a:gd name="T0" fmla="*/ 103 w 115"/>
                <a:gd name="T1" fmla="*/ 55 h 118"/>
                <a:gd name="T2" fmla="*/ 109 w 115"/>
                <a:gd name="T3" fmla="*/ 41 h 118"/>
                <a:gd name="T4" fmla="*/ 112 w 115"/>
                <a:gd name="T5" fmla="*/ 15 h 118"/>
                <a:gd name="T6" fmla="*/ 103 w 115"/>
                <a:gd name="T7" fmla="*/ 6 h 118"/>
                <a:gd name="T8" fmla="*/ 80 w 115"/>
                <a:gd name="T9" fmla="*/ 0 h 118"/>
                <a:gd name="T10" fmla="*/ 54 w 115"/>
                <a:gd name="T11" fmla="*/ 5 h 118"/>
                <a:gd name="T12" fmla="*/ 37 w 115"/>
                <a:gd name="T13" fmla="*/ 12 h 118"/>
                <a:gd name="T14" fmla="*/ 19 w 115"/>
                <a:gd name="T15" fmla="*/ 35 h 118"/>
                <a:gd name="T16" fmla="*/ 4 w 115"/>
                <a:gd name="T17" fmla="*/ 50 h 118"/>
                <a:gd name="T18" fmla="*/ 1 w 115"/>
                <a:gd name="T19" fmla="*/ 77 h 118"/>
                <a:gd name="T20" fmla="*/ 10 w 115"/>
                <a:gd name="T21" fmla="*/ 86 h 118"/>
                <a:gd name="T22" fmla="*/ 39 w 115"/>
                <a:gd name="T23" fmla="*/ 113 h 118"/>
                <a:gd name="T24" fmla="*/ 103 w 115"/>
                <a:gd name="T25" fmla="*/ 55 h 1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5"/>
                <a:gd name="T40" fmla="*/ 0 h 118"/>
                <a:gd name="T41" fmla="*/ 115 w 115"/>
                <a:gd name="T42" fmla="*/ 118 h 1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5" h="118">
                  <a:moveTo>
                    <a:pt x="103" y="55"/>
                  </a:moveTo>
                  <a:cubicBezTo>
                    <a:pt x="115" y="43"/>
                    <a:pt x="108" y="48"/>
                    <a:pt x="109" y="41"/>
                  </a:cubicBezTo>
                  <a:cubicBezTo>
                    <a:pt x="110" y="34"/>
                    <a:pt x="113" y="21"/>
                    <a:pt x="112" y="15"/>
                  </a:cubicBezTo>
                  <a:cubicBezTo>
                    <a:pt x="111" y="9"/>
                    <a:pt x="108" y="8"/>
                    <a:pt x="103" y="6"/>
                  </a:cubicBezTo>
                  <a:cubicBezTo>
                    <a:pt x="98" y="4"/>
                    <a:pt x="88" y="0"/>
                    <a:pt x="80" y="0"/>
                  </a:cubicBezTo>
                  <a:cubicBezTo>
                    <a:pt x="72" y="0"/>
                    <a:pt x="61" y="3"/>
                    <a:pt x="54" y="5"/>
                  </a:cubicBezTo>
                  <a:cubicBezTo>
                    <a:pt x="47" y="7"/>
                    <a:pt x="43" y="7"/>
                    <a:pt x="37" y="12"/>
                  </a:cubicBezTo>
                  <a:cubicBezTo>
                    <a:pt x="31" y="17"/>
                    <a:pt x="24" y="29"/>
                    <a:pt x="19" y="35"/>
                  </a:cubicBezTo>
                  <a:cubicBezTo>
                    <a:pt x="14" y="41"/>
                    <a:pt x="7" y="43"/>
                    <a:pt x="4" y="50"/>
                  </a:cubicBezTo>
                  <a:cubicBezTo>
                    <a:pt x="1" y="57"/>
                    <a:pt x="0" y="71"/>
                    <a:pt x="1" y="77"/>
                  </a:cubicBezTo>
                  <a:cubicBezTo>
                    <a:pt x="2" y="83"/>
                    <a:pt x="4" y="80"/>
                    <a:pt x="10" y="86"/>
                  </a:cubicBezTo>
                  <a:cubicBezTo>
                    <a:pt x="16" y="92"/>
                    <a:pt x="23" y="118"/>
                    <a:pt x="39" y="113"/>
                  </a:cubicBezTo>
                  <a:cubicBezTo>
                    <a:pt x="55" y="108"/>
                    <a:pt x="91" y="67"/>
                    <a:pt x="103" y="55"/>
                  </a:cubicBezTo>
                  <a:close/>
                </a:path>
              </a:pathLst>
            </a:custGeom>
            <a:solidFill>
              <a:schemeClr val="bg1"/>
            </a:solidFill>
            <a:ln w="9525">
              <a:solidFill>
                <a:schemeClr val="tx1"/>
              </a:solidFill>
              <a:round/>
              <a:headEnd/>
              <a:tailEnd/>
            </a:ln>
          </p:spPr>
          <p:txBody>
            <a:bodyPr/>
            <a:lstStyle/>
            <a:p>
              <a:endParaRPr lang="zh-CN" altLang="en-US"/>
            </a:p>
          </p:txBody>
        </p:sp>
        <p:grpSp>
          <p:nvGrpSpPr>
            <p:cNvPr id="59414" name="Group 21"/>
            <p:cNvGrpSpPr>
              <a:grpSpLocks/>
            </p:cNvGrpSpPr>
            <p:nvPr/>
          </p:nvGrpSpPr>
          <p:grpSpPr bwMode="auto">
            <a:xfrm>
              <a:off x="587" y="1201"/>
              <a:ext cx="908" cy="639"/>
              <a:chOff x="587" y="1201"/>
              <a:chExt cx="908" cy="639"/>
            </a:xfrm>
          </p:grpSpPr>
          <p:sp>
            <p:nvSpPr>
              <p:cNvPr id="59416" name="Freeform 22" descr="宽上对角线"/>
              <p:cNvSpPr>
                <a:spLocks/>
              </p:cNvSpPr>
              <p:nvPr/>
            </p:nvSpPr>
            <p:spPr bwMode="auto">
              <a:xfrm>
                <a:off x="1074" y="1235"/>
                <a:ext cx="421" cy="320"/>
              </a:xfrm>
              <a:custGeom>
                <a:avLst/>
                <a:gdLst>
                  <a:gd name="T0" fmla="*/ 33 w 543"/>
                  <a:gd name="T1" fmla="*/ 131 h 409"/>
                  <a:gd name="T2" fmla="*/ 223 w 543"/>
                  <a:gd name="T3" fmla="*/ 191 h 409"/>
                  <a:gd name="T4" fmla="*/ 210 w 543"/>
                  <a:gd name="T5" fmla="*/ 102 h 409"/>
                  <a:gd name="T6" fmla="*/ 133 w 543"/>
                  <a:gd name="T7" fmla="*/ 13 h 409"/>
                  <a:gd name="T8" fmla="*/ 28 w 543"/>
                  <a:gd name="T9" fmla="*/ 23 h 409"/>
                  <a:gd name="T10" fmla="*/ 33 w 543"/>
                  <a:gd name="T11" fmla="*/ 131 h 409"/>
                  <a:gd name="T12" fmla="*/ 0 60000 65536"/>
                  <a:gd name="T13" fmla="*/ 0 60000 65536"/>
                  <a:gd name="T14" fmla="*/ 0 60000 65536"/>
                  <a:gd name="T15" fmla="*/ 0 60000 65536"/>
                  <a:gd name="T16" fmla="*/ 0 60000 65536"/>
                  <a:gd name="T17" fmla="*/ 0 60000 65536"/>
                  <a:gd name="T18" fmla="*/ 0 w 543"/>
                  <a:gd name="T19" fmla="*/ 0 h 409"/>
                  <a:gd name="T20" fmla="*/ 543 w 543"/>
                  <a:gd name="T21" fmla="*/ 409 h 409"/>
                </a:gdLst>
                <a:ahLst/>
                <a:cxnLst>
                  <a:cxn ang="T12">
                    <a:pos x="T0" y="T1"/>
                  </a:cxn>
                  <a:cxn ang="T13">
                    <a:pos x="T2" y="T3"/>
                  </a:cxn>
                  <a:cxn ang="T14">
                    <a:pos x="T4" y="T5"/>
                  </a:cxn>
                  <a:cxn ang="T15">
                    <a:pos x="T6" y="T7"/>
                  </a:cxn>
                  <a:cxn ang="T16">
                    <a:pos x="T8" y="T9"/>
                  </a:cxn>
                  <a:cxn ang="T17">
                    <a:pos x="T10" y="T11"/>
                  </a:cxn>
                </a:cxnLst>
                <a:rect l="T18" t="T19" r="T20" b="T21"/>
                <a:pathLst>
                  <a:path w="543" h="409">
                    <a:moveTo>
                      <a:pt x="70" y="272"/>
                    </a:moveTo>
                    <a:cubicBezTo>
                      <a:pt x="140" y="331"/>
                      <a:pt x="417" y="409"/>
                      <a:pt x="480" y="399"/>
                    </a:cubicBezTo>
                    <a:cubicBezTo>
                      <a:pt x="543" y="389"/>
                      <a:pt x="483" y="275"/>
                      <a:pt x="451" y="213"/>
                    </a:cubicBezTo>
                    <a:cubicBezTo>
                      <a:pt x="419" y="151"/>
                      <a:pt x="350" y="56"/>
                      <a:pt x="285" y="28"/>
                    </a:cubicBezTo>
                    <a:cubicBezTo>
                      <a:pt x="220" y="0"/>
                      <a:pt x="96" y="3"/>
                      <a:pt x="60" y="47"/>
                    </a:cubicBezTo>
                    <a:cubicBezTo>
                      <a:pt x="24" y="91"/>
                      <a:pt x="0" y="213"/>
                      <a:pt x="70" y="272"/>
                    </a:cubicBezTo>
                    <a:close/>
                  </a:path>
                </a:pathLst>
              </a:custGeom>
              <a:pattFill prst="wdUpDiag">
                <a:fgClr>
                  <a:schemeClr val="tx1"/>
                </a:fgClr>
                <a:bgClr>
                  <a:srgbClr val="CC6600"/>
                </a:bgClr>
              </a:pattFill>
              <a:ln w="9525">
                <a:solidFill>
                  <a:schemeClr val="tx1"/>
                </a:solidFill>
                <a:round/>
                <a:headEnd/>
                <a:tailEnd/>
              </a:ln>
            </p:spPr>
            <p:txBody>
              <a:bodyPr/>
              <a:lstStyle/>
              <a:p>
                <a:endParaRPr lang="zh-CN" altLang="en-US"/>
              </a:p>
            </p:txBody>
          </p:sp>
          <p:sp>
            <p:nvSpPr>
              <p:cNvPr id="59417" name="Freeform 23" descr="宽上对角线"/>
              <p:cNvSpPr>
                <a:spLocks/>
              </p:cNvSpPr>
              <p:nvPr/>
            </p:nvSpPr>
            <p:spPr bwMode="auto">
              <a:xfrm>
                <a:off x="1218" y="1517"/>
                <a:ext cx="212" cy="155"/>
              </a:xfrm>
              <a:custGeom>
                <a:avLst/>
                <a:gdLst>
                  <a:gd name="T0" fmla="*/ 108 w 212"/>
                  <a:gd name="T1" fmla="*/ 22 h 155"/>
                  <a:gd name="T2" fmla="*/ 24 w 212"/>
                  <a:gd name="T3" fmla="*/ 8 h 155"/>
                  <a:gd name="T4" fmla="*/ 12 w 212"/>
                  <a:gd name="T5" fmla="*/ 73 h 155"/>
                  <a:gd name="T6" fmla="*/ 12 w 212"/>
                  <a:gd name="T7" fmla="*/ 142 h 155"/>
                  <a:gd name="T8" fmla="*/ 84 w 212"/>
                  <a:gd name="T9" fmla="*/ 152 h 155"/>
                  <a:gd name="T10" fmla="*/ 194 w 212"/>
                  <a:gd name="T11" fmla="*/ 123 h 155"/>
                  <a:gd name="T12" fmla="*/ 190 w 212"/>
                  <a:gd name="T13" fmla="*/ 41 h 155"/>
                  <a:gd name="T14" fmla="*/ 108 w 212"/>
                  <a:gd name="T15" fmla="*/ 22 h 155"/>
                  <a:gd name="T16" fmla="*/ 0 60000 65536"/>
                  <a:gd name="T17" fmla="*/ 0 60000 65536"/>
                  <a:gd name="T18" fmla="*/ 0 60000 65536"/>
                  <a:gd name="T19" fmla="*/ 0 60000 65536"/>
                  <a:gd name="T20" fmla="*/ 0 60000 65536"/>
                  <a:gd name="T21" fmla="*/ 0 60000 65536"/>
                  <a:gd name="T22" fmla="*/ 0 60000 65536"/>
                  <a:gd name="T23" fmla="*/ 0 60000 65536"/>
                  <a:gd name="T24" fmla="*/ 0 w 212"/>
                  <a:gd name="T25" fmla="*/ 0 h 155"/>
                  <a:gd name="T26" fmla="*/ 212 w 212"/>
                  <a:gd name="T27" fmla="*/ 155 h 1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2" h="155">
                    <a:moveTo>
                      <a:pt x="108" y="22"/>
                    </a:moveTo>
                    <a:cubicBezTo>
                      <a:pt x="80" y="17"/>
                      <a:pt x="40" y="0"/>
                      <a:pt x="24" y="8"/>
                    </a:cubicBezTo>
                    <a:cubicBezTo>
                      <a:pt x="8" y="16"/>
                      <a:pt x="14" y="51"/>
                      <a:pt x="12" y="73"/>
                    </a:cubicBezTo>
                    <a:cubicBezTo>
                      <a:pt x="10" y="95"/>
                      <a:pt x="0" y="129"/>
                      <a:pt x="12" y="142"/>
                    </a:cubicBezTo>
                    <a:cubicBezTo>
                      <a:pt x="24" y="155"/>
                      <a:pt x="54" y="155"/>
                      <a:pt x="84" y="152"/>
                    </a:cubicBezTo>
                    <a:cubicBezTo>
                      <a:pt x="114" y="149"/>
                      <a:pt x="176" y="141"/>
                      <a:pt x="194" y="123"/>
                    </a:cubicBezTo>
                    <a:cubicBezTo>
                      <a:pt x="212" y="105"/>
                      <a:pt x="204" y="59"/>
                      <a:pt x="190" y="41"/>
                    </a:cubicBezTo>
                    <a:cubicBezTo>
                      <a:pt x="176" y="23"/>
                      <a:pt x="136" y="27"/>
                      <a:pt x="108" y="22"/>
                    </a:cubicBezTo>
                    <a:close/>
                  </a:path>
                </a:pathLst>
              </a:custGeom>
              <a:pattFill prst="wdUpDiag">
                <a:fgClr>
                  <a:schemeClr val="tx1"/>
                </a:fgClr>
                <a:bgClr>
                  <a:srgbClr val="CC6600"/>
                </a:bgClr>
              </a:pattFill>
              <a:ln w="9525">
                <a:solidFill>
                  <a:schemeClr val="tx1"/>
                </a:solidFill>
                <a:round/>
                <a:headEnd/>
                <a:tailEnd/>
              </a:ln>
            </p:spPr>
            <p:txBody>
              <a:bodyPr/>
              <a:lstStyle/>
              <a:p>
                <a:endParaRPr lang="zh-CN" altLang="en-US"/>
              </a:p>
            </p:txBody>
          </p:sp>
          <p:sp>
            <p:nvSpPr>
              <p:cNvPr id="59418" name="Freeform 24" descr="宽上对角线"/>
              <p:cNvSpPr>
                <a:spLocks/>
              </p:cNvSpPr>
              <p:nvPr/>
            </p:nvSpPr>
            <p:spPr bwMode="auto">
              <a:xfrm>
                <a:off x="985" y="1608"/>
                <a:ext cx="312" cy="232"/>
              </a:xfrm>
              <a:custGeom>
                <a:avLst/>
                <a:gdLst>
                  <a:gd name="T0" fmla="*/ 24 w 312"/>
                  <a:gd name="T1" fmla="*/ 108 h 232"/>
                  <a:gd name="T2" fmla="*/ 24 w 312"/>
                  <a:gd name="T3" fmla="*/ 192 h 232"/>
                  <a:gd name="T4" fmla="*/ 168 w 312"/>
                  <a:gd name="T5" fmla="*/ 226 h 232"/>
                  <a:gd name="T6" fmla="*/ 302 w 312"/>
                  <a:gd name="T7" fmla="*/ 156 h 232"/>
                  <a:gd name="T8" fmla="*/ 225 w 312"/>
                  <a:gd name="T9" fmla="*/ 38 h 232"/>
                  <a:gd name="T10" fmla="*/ 112 w 312"/>
                  <a:gd name="T11" fmla="*/ 2 h 232"/>
                  <a:gd name="T12" fmla="*/ 43 w 312"/>
                  <a:gd name="T13" fmla="*/ 50 h 232"/>
                  <a:gd name="T14" fmla="*/ 24 w 312"/>
                  <a:gd name="T15" fmla="*/ 108 h 232"/>
                  <a:gd name="T16" fmla="*/ 0 60000 65536"/>
                  <a:gd name="T17" fmla="*/ 0 60000 65536"/>
                  <a:gd name="T18" fmla="*/ 0 60000 65536"/>
                  <a:gd name="T19" fmla="*/ 0 60000 65536"/>
                  <a:gd name="T20" fmla="*/ 0 60000 65536"/>
                  <a:gd name="T21" fmla="*/ 0 60000 65536"/>
                  <a:gd name="T22" fmla="*/ 0 60000 65536"/>
                  <a:gd name="T23" fmla="*/ 0 60000 65536"/>
                  <a:gd name="T24" fmla="*/ 0 w 312"/>
                  <a:gd name="T25" fmla="*/ 0 h 232"/>
                  <a:gd name="T26" fmla="*/ 312 w 312"/>
                  <a:gd name="T27" fmla="*/ 232 h 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2" h="232">
                    <a:moveTo>
                      <a:pt x="24" y="108"/>
                    </a:moveTo>
                    <a:cubicBezTo>
                      <a:pt x="21" y="132"/>
                      <a:pt x="0" y="172"/>
                      <a:pt x="24" y="192"/>
                    </a:cubicBezTo>
                    <a:cubicBezTo>
                      <a:pt x="48" y="212"/>
                      <a:pt x="122" y="232"/>
                      <a:pt x="168" y="226"/>
                    </a:cubicBezTo>
                    <a:cubicBezTo>
                      <a:pt x="214" y="220"/>
                      <a:pt x="292" y="187"/>
                      <a:pt x="302" y="156"/>
                    </a:cubicBezTo>
                    <a:cubicBezTo>
                      <a:pt x="312" y="125"/>
                      <a:pt x="257" y="64"/>
                      <a:pt x="225" y="38"/>
                    </a:cubicBezTo>
                    <a:cubicBezTo>
                      <a:pt x="193" y="12"/>
                      <a:pt x="142" y="0"/>
                      <a:pt x="112" y="2"/>
                    </a:cubicBezTo>
                    <a:cubicBezTo>
                      <a:pt x="82" y="4"/>
                      <a:pt x="57" y="34"/>
                      <a:pt x="43" y="50"/>
                    </a:cubicBezTo>
                    <a:cubicBezTo>
                      <a:pt x="29" y="66"/>
                      <a:pt x="27" y="84"/>
                      <a:pt x="24" y="108"/>
                    </a:cubicBezTo>
                    <a:close/>
                  </a:path>
                </a:pathLst>
              </a:custGeom>
              <a:pattFill prst="wdUpDiag">
                <a:fgClr>
                  <a:schemeClr val="tx1"/>
                </a:fgClr>
                <a:bgClr>
                  <a:srgbClr val="CC6600"/>
                </a:bgClr>
              </a:pattFill>
              <a:ln w="9525">
                <a:solidFill>
                  <a:schemeClr val="tx1"/>
                </a:solidFill>
                <a:round/>
                <a:headEnd/>
                <a:tailEnd/>
              </a:ln>
            </p:spPr>
            <p:txBody>
              <a:bodyPr/>
              <a:lstStyle/>
              <a:p>
                <a:endParaRPr lang="zh-CN" altLang="en-US"/>
              </a:p>
            </p:txBody>
          </p:sp>
          <p:sp>
            <p:nvSpPr>
              <p:cNvPr id="59419" name="Freeform 25" descr="宽上对角线"/>
              <p:cNvSpPr>
                <a:spLocks/>
              </p:cNvSpPr>
              <p:nvPr/>
            </p:nvSpPr>
            <p:spPr bwMode="auto">
              <a:xfrm>
                <a:off x="1098" y="1511"/>
                <a:ext cx="138" cy="86"/>
              </a:xfrm>
              <a:custGeom>
                <a:avLst/>
                <a:gdLst>
                  <a:gd name="T0" fmla="*/ 81 w 138"/>
                  <a:gd name="T1" fmla="*/ 3 h 86"/>
                  <a:gd name="T2" fmla="*/ 4 w 138"/>
                  <a:gd name="T3" fmla="*/ 29 h 86"/>
                  <a:gd name="T4" fmla="*/ 54 w 138"/>
                  <a:gd name="T5" fmla="*/ 79 h 86"/>
                  <a:gd name="T6" fmla="*/ 129 w 138"/>
                  <a:gd name="T7" fmla="*/ 72 h 86"/>
                  <a:gd name="T8" fmla="*/ 109 w 138"/>
                  <a:gd name="T9" fmla="*/ 12 h 86"/>
                  <a:gd name="T10" fmla="*/ 81 w 138"/>
                  <a:gd name="T11" fmla="*/ 3 h 86"/>
                  <a:gd name="T12" fmla="*/ 0 60000 65536"/>
                  <a:gd name="T13" fmla="*/ 0 60000 65536"/>
                  <a:gd name="T14" fmla="*/ 0 60000 65536"/>
                  <a:gd name="T15" fmla="*/ 0 60000 65536"/>
                  <a:gd name="T16" fmla="*/ 0 60000 65536"/>
                  <a:gd name="T17" fmla="*/ 0 60000 65536"/>
                  <a:gd name="T18" fmla="*/ 0 w 138"/>
                  <a:gd name="T19" fmla="*/ 0 h 86"/>
                  <a:gd name="T20" fmla="*/ 138 w 138"/>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138" h="86">
                    <a:moveTo>
                      <a:pt x="81" y="3"/>
                    </a:moveTo>
                    <a:cubicBezTo>
                      <a:pt x="64" y="6"/>
                      <a:pt x="8" y="17"/>
                      <a:pt x="4" y="29"/>
                    </a:cubicBezTo>
                    <a:cubicBezTo>
                      <a:pt x="0" y="41"/>
                      <a:pt x="33" y="72"/>
                      <a:pt x="54" y="79"/>
                    </a:cubicBezTo>
                    <a:cubicBezTo>
                      <a:pt x="75" y="86"/>
                      <a:pt x="120" y="83"/>
                      <a:pt x="129" y="72"/>
                    </a:cubicBezTo>
                    <a:cubicBezTo>
                      <a:pt x="138" y="61"/>
                      <a:pt x="115" y="23"/>
                      <a:pt x="109" y="12"/>
                    </a:cubicBezTo>
                    <a:cubicBezTo>
                      <a:pt x="103" y="1"/>
                      <a:pt x="98" y="0"/>
                      <a:pt x="81" y="3"/>
                    </a:cubicBezTo>
                    <a:close/>
                  </a:path>
                </a:pathLst>
              </a:custGeom>
              <a:pattFill prst="wdUpDiag">
                <a:fgClr>
                  <a:schemeClr val="tx1"/>
                </a:fgClr>
                <a:bgClr>
                  <a:srgbClr val="CC6600"/>
                </a:bgClr>
              </a:pattFill>
              <a:ln w="9525">
                <a:solidFill>
                  <a:schemeClr val="tx1"/>
                </a:solidFill>
                <a:round/>
                <a:headEnd/>
                <a:tailEnd/>
              </a:ln>
            </p:spPr>
            <p:txBody>
              <a:bodyPr/>
              <a:lstStyle/>
              <a:p>
                <a:endParaRPr lang="zh-CN" altLang="en-US"/>
              </a:p>
            </p:txBody>
          </p:sp>
          <p:sp>
            <p:nvSpPr>
              <p:cNvPr id="59420" name="Freeform 26" descr="宽上对角线"/>
              <p:cNvSpPr>
                <a:spLocks/>
              </p:cNvSpPr>
              <p:nvPr/>
            </p:nvSpPr>
            <p:spPr bwMode="auto">
              <a:xfrm>
                <a:off x="677" y="1201"/>
                <a:ext cx="240" cy="164"/>
              </a:xfrm>
              <a:custGeom>
                <a:avLst/>
                <a:gdLst>
                  <a:gd name="T0" fmla="*/ 89 w 240"/>
                  <a:gd name="T1" fmla="*/ 12 h 164"/>
                  <a:gd name="T2" fmla="*/ 7 w 240"/>
                  <a:gd name="T3" fmla="*/ 82 h 164"/>
                  <a:gd name="T4" fmla="*/ 46 w 240"/>
                  <a:gd name="T5" fmla="*/ 127 h 164"/>
                  <a:gd name="T6" fmla="*/ 190 w 240"/>
                  <a:gd name="T7" fmla="*/ 156 h 164"/>
                  <a:gd name="T8" fmla="*/ 238 w 240"/>
                  <a:gd name="T9" fmla="*/ 77 h 164"/>
                  <a:gd name="T10" fmla="*/ 180 w 240"/>
                  <a:gd name="T11" fmla="*/ 10 h 164"/>
                  <a:gd name="T12" fmla="*/ 89 w 240"/>
                  <a:gd name="T13" fmla="*/ 12 h 164"/>
                  <a:gd name="T14" fmla="*/ 0 60000 65536"/>
                  <a:gd name="T15" fmla="*/ 0 60000 65536"/>
                  <a:gd name="T16" fmla="*/ 0 60000 65536"/>
                  <a:gd name="T17" fmla="*/ 0 60000 65536"/>
                  <a:gd name="T18" fmla="*/ 0 60000 65536"/>
                  <a:gd name="T19" fmla="*/ 0 60000 65536"/>
                  <a:gd name="T20" fmla="*/ 0 60000 65536"/>
                  <a:gd name="T21" fmla="*/ 0 w 240"/>
                  <a:gd name="T22" fmla="*/ 0 h 164"/>
                  <a:gd name="T23" fmla="*/ 240 w 240"/>
                  <a:gd name="T24" fmla="*/ 164 h 1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164">
                    <a:moveTo>
                      <a:pt x="89" y="12"/>
                    </a:moveTo>
                    <a:cubicBezTo>
                      <a:pt x="60" y="24"/>
                      <a:pt x="14" y="63"/>
                      <a:pt x="7" y="82"/>
                    </a:cubicBezTo>
                    <a:cubicBezTo>
                      <a:pt x="0" y="101"/>
                      <a:pt x="15" y="115"/>
                      <a:pt x="46" y="127"/>
                    </a:cubicBezTo>
                    <a:cubicBezTo>
                      <a:pt x="77" y="139"/>
                      <a:pt x="158" y="164"/>
                      <a:pt x="190" y="156"/>
                    </a:cubicBezTo>
                    <a:cubicBezTo>
                      <a:pt x="222" y="148"/>
                      <a:pt x="240" y="101"/>
                      <a:pt x="238" y="77"/>
                    </a:cubicBezTo>
                    <a:cubicBezTo>
                      <a:pt x="236" y="53"/>
                      <a:pt x="205" y="20"/>
                      <a:pt x="180" y="10"/>
                    </a:cubicBezTo>
                    <a:cubicBezTo>
                      <a:pt x="155" y="0"/>
                      <a:pt x="118" y="0"/>
                      <a:pt x="89" y="12"/>
                    </a:cubicBezTo>
                    <a:close/>
                  </a:path>
                </a:pathLst>
              </a:custGeom>
              <a:pattFill prst="wdUpDiag">
                <a:fgClr>
                  <a:schemeClr val="tx1"/>
                </a:fgClr>
                <a:bgClr>
                  <a:srgbClr val="CC6600"/>
                </a:bgClr>
              </a:pattFill>
              <a:ln w="9525">
                <a:solidFill>
                  <a:schemeClr val="tx1"/>
                </a:solidFill>
                <a:round/>
                <a:headEnd/>
                <a:tailEnd/>
              </a:ln>
            </p:spPr>
            <p:txBody>
              <a:bodyPr/>
              <a:lstStyle/>
              <a:p>
                <a:endParaRPr lang="zh-CN" altLang="en-US"/>
              </a:p>
            </p:txBody>
          </p:sp>
          <p:sp>
            <p:nvSpPr>
              <p:cNvPr id="59421" name="Freeform 27" descr="宽上对角线"/>
              <p:cNvSpPr>
                <a:spLocks/>
              </p:cNvSpPr>
              <p:nvPr/>
            </p:nvSpPr>
            <p:spPr bwMode="auto">
              <a:xfrm>
                <a:off x="836" y="1352"/>
                <a:ext cx="286" cy="276"/>
              </a:xfrm>
              <a:custGeom>
                <a:avLst/>
                <a:gdLst>
                  <a:gd name="T0" fmla="*/ 268 w 286"/>
                  <a:gd name="T1" fmla="*/ 105 h 276"/>
                  <a:gd name="T2" fmla="*/ 149 w 286"/>
                  <a:gd name="T3" fmla="*/ 10 h 276"/>
                  <a:gd name="T4" fmla="*/ 39 w 286"/>
                  <a:gd name="T5" fmla="*/ 47 h 276"/>
                  <a:gd name="T6" fmla="*/ 6 w 286"/>
                  <a:gd name="T7" fmla="*/ 141 h 276"/>
                  <a:gd name="T8" fmla="*/ 38 w 286"/>
                  <a:gd name="T9" fmla="*/ 234 h 276"/>
                  <a:gd name="T10" fmla="*/ 233 w 286"/>
                  <a:gd name="T11" fmla="*/ 265 h 276"/>
                  <a:gd name="T12" fmla="*/ 260 w 286"/>
                  <a:gd name="T13" fmla="*/ 170 h 276"/>
                  <a:gd name="T14" fmla="*/ 268 w 286"/>
                  <a:gd name="T15" fmla="*/ 105 h 276"/>
                  <a:gd name="T16" fmla="*/ 0 60000 65536"/>
                  <a:gd name="T17" fmla="*/ 0 60000 65536"/>
                  <a:gd name="T18" fmla="*/ 0 60000 65536"/>
                  <a:gd name="T19" fmla="*/ 0 60000 65536"/>
                  <a:gd name="T20" fmla="*/ 0 60000 65536"/>
                  <a:gd name="T21" fmla="*/ 0 60000 65536"/>
                  <a:gd name="T22" fmla="*/ 0 60000 65536"/>
                  <a:gd name="T23" fmla="*/ 0 60000 65536"/>
                  <a:gd name="T24" fmla="*/ 0 w 286"/>
                  <a:gd name="T25" fmla="*/ 0 h 276"/>
                  <a:gd name="T26" fmla="*/ 286 w 286"/>
                  <a:gd name="T27" fmla="*/ 276 h 2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6" h="276">
                    <a:moveTo>
                      <a:pt x="268" y="105"/>
                    </a:moveTo>
                    <a:cubicBezTo>
                      <a:pt x="250" y="78"/>
                      <a:pt x="187" y="20"/>
                      <a:pt x="149" y="10"/>
                    </a:cubicBezTo>
                    <a:cubicBezTo>
                      <a:pt x="111" y="0"/>
                      <a:pt x="63" y="25"/>
                      <a:pt x="39" y="47"/>
                    </a:cubicBezTo>
                    <a:cubicBezTo>
                      <a:pt x="15" y="69"/>
                      <a:pt x="6" y="110"/>
                      <a:pt x="6" y="141"/>
                    </a:cubicBezTo>
                    <a:cubicBezTo>
                      <a:pt x="6" y="172"/>
                      <a:pt x="0" y="213"/>
                      <a:pt x="38" y="234"/>
                    </a:cubicBezTo>
                    <a:cubicBezTo>
                      <a:pt x="76" y="255"/>
                      <a:pt x="196" y="276"/>
                      <a:pt x="233" y="265"/>
                    </a:cubicBezTo>
                    <a:cubicBezTo>
                      <a:pt x="270" y="254"/>
                      <a:pt x="254" y="197"/>
                      <a:pt x="260" y="170"/>
                    </a:cubicBezTo>
                    <a:cubicBezTo>
                      <a:pt x="266" y="143"/>
                      <a:pt x="286" y="132"/>
                      <a:pt x="268" y="105"/>
                    </a:cubicBezTo>
                    <a:close/>
                  </a:path>
                </a:pathLst>
              </a:custGeom>
              <a:pattFill prst="wdUpDiag">
                <a:fgClr>
                  <a:schemeClr val="tx1"/>
                </a:fgClr>
                <a:bgClr>
                  <a:srgbClr val="CC6600"/>
                </a:bgClr>
              </a:pattFill>
              <a:ln w="9525">
                <a:solidFill>
                  <a:schemeClr val="tx1"/>
                </a:solidFill>
                <a:round/>
                <a:headEnd/>
                <a:tailEnd/>
              </a:ln>
            </p:spPr>
            <p:txBody>
              <a:bodyPr/>
              <a:lstStyle/>
              <a:p>
                <a:endParaRPr lang="zh-CN" altLang="en-US"/>
              </a:p>
            </p:txBody>
          </p:sp>
          <p:sp>
            <p:nvSpPr>
              <p:cNvPr id="59422" name="Freeform 28" descr="宽上对角线"/>
              <p:cNvSpPr>
                <a:spLocks/>
              </p:cNvSpPr>
              <p:nvPr/>
            </p:nvSpPr>
            <p:spPr bwMode="auto">
              <a:xfrm>
                <a:off x="913" y="1205"/>
                <a:ext cx="203" cy="166"/>
              </a:xfrm>
              <a:custGeom>
                <a:avLst/>
                <a:gdLst>
                  <a:gd name="T0" fmla="*/ 91 w 203"/>
                  <a:gd name="T1" fmla="*/ 3 h 166"/>
                  <a:gd name="T2" fmla="*/ 5 w 203"/>
                  <a:gd name="T3" fmla="*/ 70 h 166"/>
                  <a:gd name="T4" fmla="*/ 58 w 203"/>
                  <a:gd name="T5" fmla="*/ 152 h 166"/>
                  <a:gd name="T6" fmla="*/ 166 w 203"/>
                  <a:gd name="T7" fmla="*/ 149 h 166"/>
                  <a:gd name="T8" fmla="*/ 192 w 203"/>
                  <a:gd name="T9" fmla="*/ 51 h 166"/>
                  <a:gd name="T10" fmla="*/ 91 w 203"/>
                  <a:gd name="T11" fmla="*/ 3 h 166"/>
                  <a:gd name="T12" fmla="*/ 0 60000 65536"/>
                  <a:gd name="T13" fmla="*/ 0 60000 65536"/>
                  <a:gd name="T14" fmla="*/ 0 60000 65536"/>
                  <a:gd name="T15" fmla="*/ 0 60000 65536"/>
                  <a:gd name="T16" fmla="*/ 0 60000 65536"/>
                  <a:gd name="T17" fmla="*/ 0 60000 65536"/>
                  <a:gd name="T18" fmla="*/ 0 w 203"/>
                  <a:gd name="T19" fmla="*/ 0 h 166"/>
                  <a:gd name="T20" fmla="*/ 203 w 203"/>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203" h="166">
                    <a:moveTo>
                      <a:pt x="91" y="3"/>
                    </a:moveTo>
                    <a:cubicBezTo>
                      <a:pt x="60" y="6"/>
                      <a:pt x="10" y="45"/>
                      <a:pt x="5" y="70"/>
                    </a:cubicBezTo>
                    <a:cubicBezTo>
                      <a:pt x="0" y="95"/>
                      <a:pt x="31" y="139"/>
                      <a:pt x="58" y="152"/>
                    </a:cubicBezTo>
                    <a:cubicBezTo>
                      <a:pt x="85" y="165"/>
                      <a:pt x="144" y="166"/>
                      <a:pt x="166" y="149"/>
                    </a:cubicBezTo>
                    <a:cubicBezTo>
                      <a:pt x="188" y="132"/>
                      <a:pt x="203" y="76"/>
                      <a:pt x="192" y="51"/>
                    </a:cubicBezTo>
                    <a:cubicBezTo>
                      <a:pt x="181" y="26"/>
                      <a:pt x="122" y="0"/>
                      <a:pt x="91" y="3"/>
                    </a:cubicBezTo>
                    <a:close/>
                  </a:path>
                </a:pathLst>
              </a:custGeom>
              <a:pattFill prst="wdUpDiag">
                <a:fgClr>
                  <a:schemeClr val="tx1"/>
                </a:fgClr>
                <a:bgClr>
                  <a:srgbClr val="CC6600"/>
                </a:bgClr>
              </a:pattFill>
              <a:ln w="9525">
                <a:solidFill>
                  <a:schemeClr val="tx1"/>
                </a:solidFill>
                <a:round/>
                <a:headEnd/>
                <a:tailEnd/>
              </a:ln>
            </p:spPr>
            <p:txBody>
              <a:bodyPr/>
              <a:lstStyle/>
              <a:p>
                <a:endParaRPr lang="zh-CN" altLang="en-US"/>
              </a:p>
            </p:txBody>
          </p:sp>
          <p:sp>
            <p:nvSpPr>
              <p:cNvPr id="59423" name="Freeform 29" descr="宽上对角线"/>
              <p:cNvSpPr>
                <a:spLocks/>
              </p:cNvSpPr>
              <p:nvPr/>
            </p:nvSpPr>
            <p:spPr bwMode="auto">
              <a:xfrm>
                <a:off x="587" y="1582"/>
                <a:ext cx="282" cy="239"/>
              </a:xfrm>
              <a:custGeom>
                <a:avLst/>
                <a:gdLst>
                  <a:gd name="T0" fmla="*/ 222 w 282"/>
                  <a:gd name="T1" fmla="*/ 4 h 239"/>
                  <a:gd name="T2" fmla="*/ 30 w 282"/>
                  <a:gd name="T3" fmla="*/ 73 h 239"/>
                  <a:gd name="T4" fmla="*/ 42 w 282"/>
                  <a:gd name="T5" fmla="*/ 200 h 239"/>
                  <a:gd name="T6" fmla="*/ 150 w 282"/>
                  <a:gd name="T7" fmla="*/ 234 h 239"/>
                  <a:gd name="T8" fmla="*/ 251 w 282"/>
                  <a:gd name="T9" fmla="*/ 169 h 239"/>
                  <a:gd name="T10" fmla="*/ 279 w 282"/>
                  <a:gd name="T11" fmla="*/ 95 h 239"/>
                  <a:gd name="T12" fmla="*/ 222 w 282"/>
                  <a:gd name="T13" fmla="*/ 4 h 239"/>
                  <a:gd name="T14" fmla="*/ 0 60000 65536"/>
                  <a:gd name="T15" fmla="*/ 0 60000 65536"/>
                  <a:gd name="T16" fmla="*/ 0 60000 65536"/>
                  <a:gd name="T17" fmla="*/ 0 60000 65536"/>
                  <a:gd name="T18" fmla="*/ 0 60000 65536"/>
                  <a:gd name="T19" fmla="*/ 0 60000 65536"/>
                  <a:gd name="T20" fmla="*/ 0 60000 65536"/>
                  <a:gd name="T21" fmla="*/ 0 w 282"/>
                  <a:gd name="T22" fmla="*/ 0 h 239"/>
                  <a:gd name="T23" fmla="*/ 282 w 282"/>
                  <a:gd name="T24" fmla="*/ 239 h 2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2" h="239">
                    <a:moveTo>
                      <a:pt x="222" y="4"/>
                    </a:moveTo>
                    <a:cubicBezTo>
                      <a:pt x="181" y="0"/>
                      <a:pt x="60" y="40"/>
                      <a:pt x="30" y="73"/>
                    </a:cubicBezTo>
                    <a:cubicBezTo>
                      <a:pt x="0" y="106"/>
                      <a:pt x="22" y="173"/>
                      <a:pt x="42" y="200"/>
                    </a:cubicBezTo>
                    <a:cubicBezTo>
                      <a:pt x="62" y="227"/>
                      <a:pt x="115" y="239"/>
                      <a:pt x="150" y="234"/>
                    </a:cubicBezTo>
                    <a:cubicBezTo>
                      <a:pt x="185" y="229"/>
                      <a:pt x="229" y="192"/>
                      <a:pt x="251" y="169"/>
                    </a:cubicBezTo>
                    <a:cubicBezTo>
                      <a:pt x="273" y="146"/>
                      <a:pt x="282" y="122"/>
                      <a:pt x="279" y="95"/>
                    </a:cubicBezTo>
                    <a:cubicBezTo>
                      <a:pt x="276" y="68"/>
                      <a:pt x="263" y="8"/>
                      <a:pt x="222" y="4"/>
                    </a:cubicBezTo>
                    <a:close/>
                  </a:path>
                </a:pathLst>
              </a:custGeom>
              <a:pattFill prst="wdUpDiag">
                <a:fgClr>
                  <a:schemeClr val="tx1"/>
                </a:fgClr>
                <a:bgClr>
                  <a:srgbClr val="CC6600"/>
                </a:bgClr>
              </a:pattFill>
              <a:ln w="9525">
                <a:solidFill>
                  <a:schemeClr val="tx1"/>
                </a:solidFill>
                <a:round/>
                <a:headEnd/>
                <a:tailEnd/>
              </a:ln>
            </p:spPr>
            <p:txBody>
              <a:bodyPr/>
              <a:lstStyle/>
              <a:p>
                <a:endParaRPr lang="zh-CN" altLang="en-US"/>
              </a:p>
            </p:txBody>
          </p:sp>
          <p:sp>
            <p:nvSpPr>
              <p:cNvPr id="59424" name="Freeform 30" descr="宽上对角线"/>
              <p:cNvSpPr>
                <a:spLocks/>
              </p:cNvSpPr>
              <p:nvPr/>
            </p:nvSpPr>
            <p:spPr bwMode="auto">
              <a:xfrm>
                <a:off x="605" y="1351"/>
                <a:ext cx="249" cy="256"/>
              </a:xfrm>
              <a:custGeom>
                <a:avLst/>
                <a:gdLst>
                  <a:gd name="T0" fmla="*/ 192 w 249"/>
                  <a:gd name="T1" fmla="*/ 3 h 256"/>
                  <a:gd name="T2" fmla="*/ 83 w 249"/>
                  <a:gd name="T3" fmla="*/ 30 h 256"/>
                  <a:gd name="T4" fmla="*/ 8 w 249"/>
                  <a:gd name="T5" fmla="*/ 73 h 256"/>
                  <a:gd name="T6" fmla="*/ 37 w 249"/>
                  <a:gd name="T7" fmla="*/ 188 h 256"/>
                  <a:gd name="T8" fmla="*/ 54 w 249"/>
                  <a:gd name="T9" fmla="*/ 219 h 256"/>
                  <a:gd name="T10" fmla="*/ 133 w 249"/>
                  <a:gd name="T11" fmla="*/ 241 h 256"/>
                  <a:gd name="T12" fmla="*/ 229 w 249"/>
                  <a:gd name="T13" fmla="*/ 131 h 256"/>
                  <a:gd name="T14" fmla="*/ 243 w 249"/>
                  <a:gd name="T15" fmla="*/ 46 h 256"/>
                  <a:gd name="T16" fmla="*/ 192 w 249"/>
                  <a:gd name="T17" fmla="*/ 3 h 2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9"/>
                  <a:gd name="T28" fmla="*/ 0 h 256"/>
                  <a:gd name="T29" fmla="*/ 249 w 249"/>
                  <a:gd name="T30" fmla="*/ 256 h 2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9" h="256">
                    <a:moveTo>
                      <a:pt x="192" y="3"/>
                    </a:moveTo>
                    <a:cubicBezTo>
                      <a:pt x="165" y="0"/>
                      <a:pt x="114" y="18"/>
                      <a:pt x="83" y="30"/>
                    </a:cubicBezTo>
                    <a:cubicBezTo>
                      <a:pt x="52" y="42"/>
                      <a:pt x="16" y="47"/>
                      <a:pt x="8" y="73"/>
                    </a:cubicBezTo>
                    <a:cubicBezTo>
                      <a:pt x="0" y="99"/>
                      <a:pt x="29" y="164"/>
                      <a:pt x="37" y="188"/>
                    </a:cubicBezTo>
                    <a:cubicBezTo>
                      <a:pt x="45" y="212"/>
                      <a:pt x="38" y="210"/>
                      <a:pt x="54" y="219"/>
                    </a:cubicBezTo>
                    <a:cubicBezTo>
                      <a:pt x="70" y="228"/>
                      <a:pt x="104" y="256"/>
                      <a:pt x="133" y="241"/>
                    </a:cubicBezTo>
                    <a:cubicBezTo>
                      <a:pt x="162" y="226"/>
                      <a:pt x="211" y="163"/>
                      <a:pt x="229" y="131"/>
                    </a:cubicBezTo>
                    <a:cubicBezTo>
                      <a:pt x="247" y="99"/>
                      <a:pt x="249" y="67"/>
                      <a:pt x="243" y="46"/>
                    </a:cubicBezTo>
                    <a:cubicBezTo>
                      <a:pt x="237" y="25"/>
                      <a:pt x="219" y="6"/>
                      <a:pt x="192" y="3"/>
                    </a:cubicBezTo>
                    <a:close/>
                  </a:path>
                </a:pathLst>
              </a:custGeom>
              <a:pattFill prst="wdUpDiag">
                <a:fgClr>
                  <a:schemeClr val="tx1"/>
                </a:fgClr>
                <a:bgClr>
                  <a:srgbClr val="CC6600"/>
                </a:bgClr>
              </a:pattFill>
              <a:ln w="9525">
                <a:solidFill>
                  <a:schemeClr val="tx1"/>
                </a:solidFill>
                <a:round/>
                <a:headEnd/>
                <a:tailEnd/>
              </a:ln>
            </p:spPr>
            <p:txBody>
              <a:bodyPr/>
              <a:lstStyle/>
              <a:p>
                <a:endParaRPr lang="zh-CN" altLang="en-US"/>
              </a:p>
            </p:txBody>
          </p:sp>
        </p:grpSp>
        <p:sp>
          <p:nvSpPr>
            <p:cNvPr id="59415" name="Freeform 31" descr="宽上对角线"/>
            <p:cNvSpPr>
              <a:spLocks/>
            </p:cNvSpPr>
            <p:nvPr/>
          </p:nvSpPr>
          <p:spPr bwMode="auto">
            <a:xfrm>
              <a:off x="852" y="1610"/>
              <a:ext cx="155" cy="130"/>
            </a:xfrm>
            <a:custGeom>
              <a:avLst/>
              <a:gdLst>
                <a:gd name="T0" fmla="*/ 123 w 155"/>
                <a:gd name="T1" fmla="*/ 5 h 130"/>
                <a:gd name="T2" fmla="*/ 13 w 155"/>
                <a:gd name="T3" fmla="*/ 29 h 130"/>
                <a:gd name="T4" fmla="*/ 44 w 155"/>
                <a:gd name="T5" fmla="*/ 108 h 130"/>
                <a:gd name="T6" fmla="*/ 140 w 155"/>
                <a:gd name="T7" fmla="*/ 122 h 130"/>
                <a:gd name="T8" fmla="*/ 137 w 155"/>
                <a:gd name="T9" fmla="*/ 58 h 130"/>
                <a:gd name="T10" fmla="*/ 123 w 155"/>
                <a:gd name="T11" fmla="*/ 5 h 130"/>
                <a:gd name="T12" fmla="*/ 0 60000 65536"/>
                <a:gd name="T13" fmla="*/ 0 60000 65536"/>
                <a:gd name="T14" fmla="*/ 0 60000 65536"/>
                <a:gd name="T15" fmla="*/ 0 60000 65536"/>
                <a:gd name="T16" fmla="*/ 0 60000 65536"/>
                <a:gd name="T17" fmla="*/ 0 60000 65536"/>
                <a:gd name="T18" fmla="*/ 0 w 155"/>
                <a:gd name="T19" fmla="*/ 0 h 130"/>
                <a:gd name="T20" fmla="*/ 155 w 155"/>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155" h="130">
                  <a:moveTo>
                    <a:pt x="123" y="5"/>
                  </a:moveTo>
                  <a:cubicBezTo>
                    <a:pt x="102" y="0"/>
                    <a:pt x="26" y="12"/>
                    <a:pt x="13" y="29"/>
                  </a:cubicBezTo>
                  <a:cubicBezTo>
                    <a:pt x="0" y="46"/>
                    <a:pt x="23" y="92"/>
                    <a:pt x="44" y="108"/>
                  </a:cubicBezTo>
                  <a:cubicBezTo>
                    <a:pt x="65" y="124"/>
                    <a:pt x="125" y="130"/>
                    <a:pt x="140" y="122"/>
                  </a:cubicBezTo>
                  <a:cubicBezTo>
                    <a:pt x="155" y="114"/>
                    <a:pt x="141" y="77"/>
                    <a:pt x="137" y="58"/>
                  </a:cubicBezTo>
                  <a:cubicBezTo>
                    <a:pt x="133" y="39"/>
                    <a:pt x="144" y="10"/>
                    <a:pt x="123" y="5"/>
                  </a:cubicBezTo>
                  <a:close/>
                </a:path>
              </a:pathLst>
            </a:custGeom>
            <a:pattFill prst="wdUpDiag">
              <a:fgClr>
                <a:schemeClr val="tx1"/>
              </a:fgClr>
              <a:bgClr>
                <a:srgbClr val="CC6600"/>
              </a:bgClr>
            </a:pattFill>
            <a:ln w="9525">
              <a:solidFill>
                <a:schemeClr val="tx1"/>
              </a:solidFill>
              <a:round/>
              <a:headEnd/>
              <a:tailEnd/>
            </a:ln>
          </p:spPr>
          <p:txBody>
            <a:bodyPr/>
            <a:lstStyle/>
            <a:p>
              <a:endParaRPr lang="zh-CN" altLang="en-US"/>
            </a:p>
          </p:txBody>
        </p:sp>
      </p:grpSp>
      <p:grpSp>
        <p:nvGrpSpPr>
          <p:cNvPr id="2" name="组合 1"/>
          <p:cNvGrpSpPr/>
          <p:nvPr/>
        </p:nvGrpSpPr>
        <p:grpSpPr>
          <a:xfrm>
            <a:off x="2459038" y="698500"/>
            <a:ext cx="1920875" cy="2200275"/>
            <a:chOff x="2459038" y="698500"/>
            <a:chExt cx="1920875" cy="2200275"/>
          </a:xfrm>
        </p:grpSpPr>
        <p:sp>
          <p:nvSpPr>
            <p:cNvPr id="59396" name="Freeform 13"/>
            <p:cNvSpPr>
              <a:spLocks/>
            </p:cNvSpPr>
            <p:nvPr/>
          </p:nvSpPr>
          <p:spPr bwMode="auto">
            <a:xfrm>
              <a:off x="3387725" y="1192213"/>
              <a:ext cx="819150" cy="1160462"/>
            </a:xfrm>
            <a:custGeom>
              <a:avLst/>
              <a:gdLst>
                <a:gd name="T0" fmla="*/ 2147483647 w 439"/>
                <a:gd name="T1" fmla="*/ 2147483647 h 623"/>
                <a:gd name="T2" fmla="*/ 2147483647 w 439"/>
                <a:gd name="T3" fmla="*/ 2147483647 h 623"/>
                <a:gd name="T4" fmla="*/ 2147483647 w 439"/>
                <a:gd name="T5" fmla="*/ 2147483647 h 623"/>
                <a:gd name="T6" fmla="*/ 2147483647 w 439"/>
                <a:gd name="T7" fmla="*/ 2147483647 h 623"/>
                <a:gd name="T8" fmla="*/ 2147483647 w 439"/>
                <a:gd name="T9" fmla="*/ 2147483647 h 623"/>
                <a:gd name="T10" fmla="*/ 2147483647 w 439"/>
                <a:gd name="T11" fmla="*/ 2147483647 h 623"/>
                <a:gd name="T12" fmla="*/ 2147483647 w 439"/>
                <a:gd name="T13" fmla="*/ 2147483647 h 623"/>
                <a:gd name="T14" fmla="*/ 2147483647 w 439"/>
                <a:gd name="T15" fmla="*/ 2147483647 h 623"/>
                <a:gd name="T16" fmla="*/ 2147483647 w 439"/>
                <a:gd name="T17" fmla="*/ 2147483647 h 623"/>
                <a:gd name="T18" fmla="*/ 2147483647 w 439"/>
                <a:gd name="T19" fmla="*/ 2147483647 h 623"/>
                <a:gd name="T20" fmla="*/ 2147483647 w 439"/>
                <a:gd name="T21" fmla="*/ 2147483647 h 623"/>
                <a:gd name="T22" fmla="*/ 2147483647 w 439"/>
                <a:gd name="T23" fmla="*/ 2147483647 h 623"/>
                <a:gd name="T24" fmla="*/ 2147483647 w 439"/>
                <a:gd name="T25" fmla="*/ 2147483647 h 623"/>
                <a:gd name="T26" fmla="*/ 2147483647 w 439"/>
                <a:gd name="T27" fmla="*/ 2147483647 h 6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9"/>
                <a:gd name="T43" fmla="*/ 0 h 623"/>
                <a:gd name="T44" fmla="*/ 439 w 439"/>
                <a:gd name="T45" fmla="*/ 623 h 6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9" h="623">
                  <a:moveTo>
                    <a:pt x="10" y="527"/>
                  </a:moveTo>
                  <a:cubicBezTo>
                    <a:pt x="0" y="504"/>
                    <a:pt x="18" y="496"/>
                    <a:pt x="26" y="463"/>
                  </a:cubicBezTo>
                  <a:cubicBezTo>
                    <a:pt x="34" y="430"/>
                    <a:pt x="58" y="371"/>
                    <a:pt x="60" y="326"/>
                  </a:cubicBezTo>
                  <a:cubicBezTo>
                    <a:pt x="62" y="281"/>
                    <a:pt x="37" y="227"/>
                    <a:pt x="37" y="193"/>
                  </a:cubicBezTo>
                  <a:cubicBezTo>
                    <a:pt x="37" y="159"/>
                    <a:pt x="52" y="135"/>
                    <a:pt x="60" y="124"/>
                  </a:cubicBezTo>
                  <a:cubicBezTo>
                    <a:pt x="68" y="113"/>
                    <a:pt x="62" y="143"/>
                    <a:pt x="84" y="124"/>
                  </a:cubicBezTo>
                  <a:cubicBezTo>
                    <a:pt x="106" y="105"/>
                    <a:pt x="150" y="18"/>
                    <a:pt x="191" y="9"/>
                  </a:cubicBezTo>
                  <a:cubicBezTo>
                    <a:pt x="232" y="0"/>
                    <a:pt x="289" y="45"/>
                    <a:pt x="329" y="71"/>
                  </a:cubicBezTo>
                  <a:cubicBezTo>
                    <a:pt x="369" y="97"/>
                    <a:pt x="425" y="121"/>
                    <a:pt x="432" y="164"/>
                  </a:cubicBezTo>
                  <a:cubicBezTo>
                    <a:pt x="439" y="207"/>
                    <a:pt x="374" y="278"/>
                    <a:pt x="370" y="332"/>
                  </a:cubicBezTo>
                  <a:cubicBezTo>
                    <a:pt x="366" y="386"/>
                    <a:pt x="424" y="445"/>
                    <a:pt x="410" y="490"/>
                  </a:cubicBezTo>
                  <a:cubicBezTo>
                    <a:pt x="396" y="535"/>
                    <a:pt x="341" y="585"/>
                    <a:pt x="287" y="604"/>
                  </a:cubicBezTo>
                  <a:cubicBezTo>
                    <a:pt x="233" y="623"/>
                    <a:pt x="131" y="619"/>
                    <a:pt x="84" y="604"/>
                  </a:cubicBezTo>
                  <a:cubicBezTo>
                    <a:pt x="38" y="589"/>
                    <a:pt x="12" y="560"/>
                    <a:pt x="10" y="527"/>
                  </a:cubicBezTo>
                  <a:close/>
                </a:path>
              </a:pathLst>
            </a:custGeom>
            <a:solidFill>
              <a:schemeClr val="hlink"/>
            </a:solidFill>
            <a:ln w="9525">
              <a:solidFill>
                <a:schemeClr val="tx1"/>
              </a:solidFill>
              <a:round/>
              <a:headEnd/>
              <a:tailEnd/>
            </a:ln>
          </p:spPr>
          <p:txBody>
            <a:bodyPr/>
            <a:lstStyle/>
            <a:p>
              <a:endParaRPr lang="zh-CN" altLang="en-US"/>
            </a:p>
          </p:txBody>
        </p:sp>
        <p:sp>
          <p:nvSpPr>
            <p:cNvPr id="59398" name="Oval 32" descr="宽上对角线"/>
            <p:cNvSpPr>
              <a:spLocks noChangeArrowheads="1"/>
            </p:cNvSpPr>
            <p:nvPr/>
          </p:nvSpPr>
          <p:spPr bwMode="auto">
            <a:xfrm>
              <a:off x="3379788" y="947738"/>
              <a:ext cx="849312" cy="849312"/>
            </a:xfrm>
            <a:prstGeom prst="ellipse">
              <a:avLst/>
            </a:prstGeom>
            <a:pattFill prst="wdUpDiag">
              <a:fgClr>
                <a:schemeClr val="tx1"/>
              </a:fgClr>
              <a:bgClr>
                <a:srgbClr val="CC6600"/>
              </a:bgClr>
            </a:pattFill>
            <a:ln w="9525">
              <a:solidFill>
                <a:schemeClr val="tx1"/>
              </a:solidFill>
              <a:round/>
              <a:headEnd/>
              <a:tailEnd/>
            </a:ln>
          </p:spPr>
          <p:txBody>
            <a:bodyPr wrap="none" anchor="ctr"/>
            <a:lstStyle/>
            <a:p>
              <a:endParaRPr lang="zh-CN" altLang="en-US"/>
            </a:p>
          </p:txBody>
        </p:sp>
        <p:sp>
          <p:nvSpPr>
            <p:cNvPr id="59399" name="Oval 33" descr="宽上对角线"/>
            <p:cNvSpPr>
              <a:spLocks noChangeArrowheads="1"/>
            </p:cNvSpPr>
            <p:nvPr/>
          </p:nvSpPr>
          <p:spPr bwMode="auto">
            <a:xfrm>
              <a:off x="3354388" y="1811338"/>
              <a:ext cx="849312" cy="849312"/>
            </a:xfrm>
            <a:prstGeom prst="ellipse">
              <a:avLst/>
            </a:prstGeom>
            <a:pattFill prst="wdUpDiag">
              <a:fgClr>
                <a:schemeClr val="tx1"/>
              </a:fgClr>
              <a:bgClr>
                <a:srgbClr val="CC6600"/>
              </a:bgClr>
            </a:pattFill>
            <a:ln w="9525">
              <a:solidFill>
                <a:schemeClr val="tx1"/>
              </a:solidFill>
              <a:round/>
              <a:headEnd/>
              <a:tailEnd/>
            </a:ln>
          </p:spPr>
          <p:txBody>
            <a:bodyPr wrap="none" anchor="ctr"/>
            <a:lstStyle/>
            <a:p>
              <a:endParaRPr lang="zh-CN" altLang="en-US"/>
            </a:p>
          </p:txBody>
        </p:sp>
        <p:sp>
          <p:nvSpPr>
            <p:cNvPr id="59400" name="Line 34"/>
            <p:cNvSpPr>
              <a:spLocks noChangeShapeType="1"/>
            </p:cNvSpPr>
            <p:nvPr/>
          </p:nvSpPr>
          <p:spPr bwMode="auto">
            <a:xfrm>
              <a:off x="3049588" y="1806575"/>
              <a:ext cx="1330325" cy="0"/>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1" name="Line 35"/>
            <p:cNvSpPr>
              <a:spLocks noChangeShapeType="1"/>
            </p:cNvSpPr>
            <p:nvPr/>
          </p:nvSpPr>
          <p:spPr bwMode="auto">
            <a:xfrm flipH="1">
              <a:off x="3154363" y="1679575"/>
              <a:ext cx="325437" cy="123825"/>
            </a:xfrm>
            <a:prstGeom prst="line">
              <a:avLst/>
            </a:prstGeom>
            <a:noFill/>
            <a:ln w="9525">
              <a:solidFill>
                <a:schemeClr val="tx1"/>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59402" name="Text Box 36"/>
            <p:cNvSpPr txBox="1">
              <a:spLocks noChangeArrowheads="1"/>
            </p:cNvSpPr>
            <p:nvPr/>
          </p:nvSpPr>
          <p:spPr bwMode="auto">
            <a:xfrm>
              <a:off x="3084513" y="1312863"/>
              <a:ext cx="29367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200" i="1" dirty="0"/>
                <a:t>r</a:t>
              </a:r>
            </a:p>
          </p:txBody>
        </p:sp>
        <p:sp>
          <p:nvSpPr>
            <p:cNvPr id="59403" name="Line 37"/>
            <p:cNvSpPr>
              <a:spLocks noChangeShapeType="1"/>
            </p:cNvSpPr>
            <p:nvPr/>
          </p:nvSpPr>
          <p:spPr bwMode="auto">
            <a:xfrm>
              <a:off x="3821113" y="698500"/>
              <a:ext cx="0" cy="2200275"/>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4" name="Text Box 39"/>
            <p:cNvSpPr txBox="1">
              <a:spLocks noChangeArrowheads="1"/>
            </p:cNvSpPr>
            <p:nvPr/>
          </p:nvSpPr>
          <p:spPr bwMode="auto">
            <a:xfrm>
              <a:off x="2459038" y="2254250"/>
              <a:ext cx="102711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200" b="1" dirty="0">
                  <a:solidFill>
                    <a:srgbClr val="C00000"/>
                  </a:solidFill>
                  <a:latin typeface="幼圆" panose="02010509060101010101" pitchFamily="49" charset="-122"/>
                  <a:ea typeface="幼圆" panose="02010509060101010101" pitchFamily="49" charset="-122"/>
                </a:rPr>
                <a:t>弯液面</a:t>
              </a:r>
            </a:p>
          </p:txBody>
        </p:sp>
        <p:sp>
          <p:nvSpPr>
            <p:cNvPr id="59405" name="Line 40"/>
            <p:cNvSpPr>
              <a:spLocks noChangeShapeType="1"/>
            </p:cNvSpPr>
            <p:nvPr/>
          </p:nvSpPr>
          <p:spPr bwMode="auto">
            <a:xfrm flipH="1">
              <a:off x="2908300" y="1876425"/>
              <a:ext cx="479425" cy="4333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9406" name="Text Box 41"/>
          <p:cNvSpPr txBox="1">
            <a:spLocks noChangeArrowheads="1"/>
          </p:cNvSpPr>
          <p:nvPr/>
        </p:nvSpPr>
        <p:spPr bwMode="auto">
          <a:xfrm>
            <a:off x="4673600" y="868363"/>
            <a:ext cx="4098925" cy="444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10000"/>
              </a:spcBef>
              <a:spcAft>
                <a:spcPct val="10000"/>
              </a:spcAft>
              <a:buClr>
                <a:srgbClr val="A50021"/>
              </a:buClr>
              <a:buSzPct val="135000"/>
              <a:buFont typeface="Wingdings" pitchFamily="2" charset="2"/>
              <a:buChar char="F"/>
            </a:pPr>
            <a:r>
              <a:rPr lang="zh-CN" altLang="en-US" sz="2400" b="1" dirty="0">
                <a:solidFill>
                  <a:srgbClr val="000066"/>
                </a:solidFill>
                <a:ea typeface="幼圆" pitchFamily="49" charset="-122"/>
              </a:rPr>
              <a:t>在非饱和土中，孔隙中含有水和气，此时水多集中于颗粒间的缝隙处，称毛细角边水。</a:t>
            </a:r>
          </a:p>
          <a:p>
            <a:pPr eaLnBrk="1" hangingPunct="1">
              <a:spcBef>
                <a:spcPct val="10000"/>
              </a:spcBef>
              <a:spcAft>
                <a:spcPct val="10000"/>
              </a:spcAft>
              <a:buClr>
                <a:srgbClr val="A50021"/>
              </a:buClr>
              <a:buSzPct val="135000"/>
              <a:buFont typeface="Wingdings" pitchFamily="2" charset="2"/>
              <a:buChar char="F"/>
            </a:pPr>
            <a:r>
              <a:rPr lang="zh-CN" altLang="en-US" sz="2400" b="1" dirty="0">
                <a:solidFill>
                  <a:srgbClr val="000066"/>
                </a:solidFill>
                <a:ea typeface="幼圆" pitchFamily="49" charset="-122"/>
              </a:rPr>
              <a:t>由于毛细张力的作用，会形成如图所示的弯液面，使毛细角边水产生负压力，颗粒则受正压力。</a:t>
            </a:r>
          </a:p>
          <a:p>
            <a:pPr eaLnBrk="1" hangingPunct="1">
              <a:spcBef>
                <a:spcPct val="10000"/>
              </a:spcBef>
              <a:spcAft>
                <a:spcPct val="10000"/>
              </a:spcAft>
              <a:buClr>
                <a:srgbClr val="A50021"/>
              </a:buClr>
              <a:buSzPct val="135000"/>
              <a:buFont typeface="Wingdings" pitchFamily="2" charset="2"/>
              <a:buChar char="F"/>
            </a:pPr>
            <a:r>
              <a:rPr lang="zh-CN" altLang="en-US" sz="2400" b="1" dirty="0">
                <a:solidFill>
                  <a:srgbClr val="000066"/>
                </a:solidFill>
                <a:ea typeface="幼圆" pitchFamily="49" charset="-122"/>
              </a:rPr>
              <a:t>这是稍湿的砂土颗粒间存在假凝聚力的原因</a:t>
            </a:r>
          </a:p>
        </p:txBody>
      </p:sp>
      <p:pic>
        <p:nvPicPr>
          <p:cNvPr id="59407" name="Picture 42" descr="奥运福娃造型沙雕"/>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50" y="3036888"/>
            <a:ext cx="3276600"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中水</a:t>
            </a:r>
          </a:p>
        </p:txBody>
      </p:sp>
    </p:spTree>
    <p:extLst>
      <p:ext uri="{BB962C8B-B14F-4D97-AF65-F5344CB8AC3E}">
        <p14:creationId xmlns:p14="http://schemas.microsoft.com/office/powerpoint/2010/main" val="21828081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9397"/>
                                        </p:tgtEl>
                                        <p:attrNameLst>
                                          <p:attrName>style.visibility</p:attrName>
                                        </p:attrNameLst>
                                      </p:cBhvr>
                                      <p:to>
                                        <p:strVal val="visible"/>
                                      </p:to>
                                    </p:set>
                                    <p:anim calcmode="lin" valueType="num">
                                      <p:cBhvr additive="base">
                                        <p:cTn id="7" dur="500" fill="hold"/>
                                        <p:tgtEl>
                                          <p:spTgt spid="59397"/>
                                        </p:tgtEl>
                                        <p:attrNameLst>
                                          <p:attrName>ppt_x</p:attrName>
                                        </p:attrNameLst>
                                      </p:cBhvr>
                                      <p:tavLst>
                                        <p:tav tm="0">
                                          <p:val>
                                            <p:strVal val="0-#ppt_w/2"/>
                                          </p:val>
                                        </p:tav>
                                        <p:tav tm="100000">
                                          <p:val>
                                            <p:strVal val="#ppt_x"/>
                                          </p:val>
                                        </p:tav>
                                      </p:tavLst>
                                    </p:anim>
                                    <p:anim calcmode="lin" valueType="num">
                                      <p:cBhvr additive="base">
                                        <p:cTn id="8" dur="500" fill="hold"/>
                                        <p:tgtEl>
                                          <p:spTgt spid="5939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59406">
                                            <p:txEl>
                                              <p:pRg st="0" end="0"/>
                                            </p:txEl>
                                          </p:spTgt>
                                        </p:tgtEl>
                                        <p:attrNameLst>
                                          <p:attrName>style.visibility</p:attrName>
                                        </p:attrNameLst>
                                      </p:cBhvr>
                                      <p:to>
                                        <p:strVal val="visible"/>
                                      </p:to>
                                    </p:set>
                                    <p:animEffect transition="in" filter="wipe(left)">
                                      <p:cBhvr>
                                        <p:cTn id="12" dur="1000"/>
                                        <p:tgtEl>
                                          <p:spTgt spid="5940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406">
                                            <p:txEl>
                                              <p:pRg st="1" end="1"/>
                                            </p:txEl>
                                          </p:spTgt>
                                        </p:tgtEl>
                                        <p:attrNameLst>
                                          <p:attrName>style.visibility</p:attrName>
                                        </p:attrNameLst>
                                      </p:cBhvr>
                                      <p:to>
                                        <p:strVal val="visible"/>
                                      </p:to>
                                    </p:set>
                                    <p:animEffect transition="in" filter="wipe(left)">
                                      <p:cBhvr>
                                        <p:cTn id="17" dur="1000"/>
                                        <p:tgtEl>
                                          <p:spTgt spid="59406">
                                            <p:txEl>
                                              <p:pRg st="1" end="1"/>
                                            </p:txEl>
                                          </p:spTgt>
                                        </p:tgtEl>
                                      </p:cBhvr>
                                    </p:animEffect>
                                  </p:childTnLst>
                                </p:cTn>
                              </p:par>
                            </p:childTnLst>
                          </p:cTn>
                        </p:par>
                        <p:par>
                          <p:cTn id="18" fill="hold">
                            <p:stCondLst>
                              <p:cond delay="1000"/>
                            </p:stCondLst>
                            <p:childTnLst>
                              <p:par>
                                <p:cTn id="19" presetID="42"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9406">
                                            <p:txEl>
                                              <p:pRg st="2" end="2"/>
                                            </p:txEl>
                                          </p:spTgt>
                                        </p:tgtEl>
                                        <p:attrNameLst>
                                          <p:attrName>style.visibility</p:attrName>
                                        </p:attrNameLst>
                                      </p:cBhvr>
                                      <p:to>
                                        <p:strVal val="visible"/>
                                      </p:to>
                                    </p:set>
                                    <p:animEffect transition="in" filter="wipe(left)">
                                      <p:cBhvr>
                                        <p:cTn id="28" dur="1000"/>
                                        <p:tgtEl>
                                          <p:spTgt spid="59406">
                                            <p:txEl>
                                              <p:pRg st="2" end="2"/>
                                            </p:txEl>
                                          </p:spTgt>
                                        </p:tgtEl>
                                      </p:cBhvr>
                                    </p:animEffect>
                                  </p:childTnLst>
                                </p:cTn>
                              </p:par>
                            </p:childTnLst>
                          </p:cTn>
                        </p:par>
                        <p:par>
                          <p:cTn id="29" fill="hold">
                            <p:stCondLst>
                              <p:cond delay="1000"/>
                            </p:stCondLst>
                            <p:childTnLst>
                              <p:par>
                                <p:cTn id="30" presetID="42" presetClass="entr" presetSubtype="0" fill="hold" nodeType="afterEffect">
                                  <p:stCondLst>
                                    <p:cond delay="0"/>
                                  </p:stCondLst>
                                  <p:childTnLst>
                                    <p:set>
                                      <p:cBhvr>
                                        <p:cTn id="31" dur="1" fill="hold">
                                          <p:stCondLst>
                                            <p:cond delay="0"/>
                                          </p:stCondLst>
                                        </p:cTn>
                                        <p:tgtEl>
                                          <p:spTgt spid="59407"/>
                                        </p:tgtEl>
                                        <p:attrNameLst>
                                          <p:attrName>style.visibility</p:attrName>
                                        </p:attrNameLst>
                                      </p:cBhvr>
                                      <p:to>
                                        <p:strVal val="visible"/>
                                      </p:to>
                                    </p:set>
                                    <p:animEffect transition="in" filter="fade">
                                      <p:cBhvr>
                                        <p:cTn id="32" dur="1000"/>
                                        <p:tgtEl>
                                          <p:spTgt spid="59407"/>
                                        </p:tgtEl>
                                      </p:cBhvr>
                                    </p:animEffect>
                                    <p:anim calcmode="lin" valueType="num">
                                      <p:cBhvr>
                                        <p:cTn id="33" dur="1000" fill="hold"/>
                                        <p:tgtEl>
                                          <p:spTgt spid="59407"/>
                                        </p:tgtEl>
                                        <p:attrNameLst>
                                          <p:attrName>ppt_x</p:attrName>
                                        </p:attrNameLst>
                                      </p:cBhvr>
                                      <p:tavLst>
                                        <p:tav tm="0">
                                          <p:val>
                                            <p:strVal val="#ppt_x"/>
                                          </p:val>
                                        </p:tav>
                                        <p:tav tm="100000">
                                          <p:val>
                                            <p:strVal val="#ppt_x"/>
                                          </p:val>
                                        </p:tav>
                                      </p:tavLst>
                                    </p:anim>
                                    <p:anim calcmode="lin" valueType="num">
                                      <p:cBhvr>
                                        <p:cTn id="34" dur="1000" fill="hold"/>
                                        <p:tgtEl>
                                          <p:spTgt spid="5940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6"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ext Box 7"/>
          <p:cNvSpPr txBox="1">
            <a:spLocks noChangeArrowheads="1"/>
          </p:cNvSpPr>
          <p:nvPr/>
        </p:nvSpPr>
        <p:spPr bwMode="auto">
          <a:xfrm>
            <a:off x="2661443" y="5645150"/>
            <a:ext cx="45116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气相 </a:t>
            </a: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土中气</a:t>
            </a:r>
          </a:p>
        </p:txBody>
      </p:sp>
      <p:sp>
        <p:nvSpPr>
          <p:cNvPr id="60420" name="Text Box 8"/>
          <p:cNvSpPr txBox="1">
            <a:spLocks noChangeArrowheads="1"/>
          </p:cNvSpPr>
          <p:nvPr/>
        </p:nvSpPr>
        <p:spPr bwMode="auto">
          <a:xfrm>
            <a:off x="1397000" y="1030288"/>
            <a:ext cx="7040563" cy="406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buSzPct val="130000"/>
              <a:buFont typeface="Wingdings" pitchFamily="2" charset="2"/>
              <a:buChar char="F"/>
            </a:pPr>
            <a:r>
              <a:rPr kumimoji="1" lang="zh-CN" altLang="en-US" sz="2800" b="1" dirty="0">
                <a:solidFill>
                  <a:srgbClr val="800000"/>
                </a:solidFill>
                <a:ea typeface="幼圆" pitchFamily="49" charset="-122"/>
              </a:rPr>
              <a:t>自由气体：</a:t>
            </a:r>
            <a:r>
              <a:rPr kumimoji="1" lang="zh-CN" altLang="en-US" sz="2800" b="1" dirty="0">
                <a:solidFill>
                  <a:srgbClr val="000066"/>
                </a:solidFill>
                <a:ea typeface="幼圆" pitchFamily="49" charset="-122"/>
              </a:rPr>
              <a:t>与大气连通的气体对土的性质影响不大</a:t>
            </a:r>
          </a:p>
          <a:p>
            <a:pPr eaLnBrk="1" hangingPunct="1">
              <a:lnSpc>
                <a:spcPct val="120000"/>
              </a:lnSpc>
              <a:buSzPct val="130000"/>
              <a:buFont typeface="Wingdings" pitchFamily="2" charset="2"/>
              <a:buChar char="F"/>
            </a:pPr>
            <a:r>
              <a:rPr kumimoji="1" lang="zh-CN" altLang="en-US" sz="2800" b="1" dirty="0">
                <a:solidFill>
                  <a:srgbClr val="800000"/>
                </a:solidFill>
                <a:ea typeface="幼圆" pitchFamily="49" charset="-122"/>
              </a:rPr>
              <a:t>封闭气体：</a:t>
            </a:r>
            <a:r>
              <a:rPr kumimoji="1" lang="zh-CN" altLang="en-US" sz="2800" b="1" dirty="0">
                <a:solidFill>
                  <a:srgbClr val="000066"/>
                </a:solidFill>
                <a:ea typeface="幼圆" pitchFamily="49" charset="-122"/>
              </a:rPr>
              <a:t>被土颗粒和水封闭的气体</a:t>
            </a:r>
            <a:br>
              <a:rPr kumimoji="1" lang="zh-CN" altLang="en-US" sz="2800" b="1" dirty="0">
                <a:solidFill>
                  <a:srgbClr val="000066"/>
                </a:solidFill>
                <a:ea typeface="幼圆" pitchFamily="49" charset="-122"/>
              </a:rPr>
            </a:br>
            <a:r>
              <a:rPr kumimoji="1" lang="zh-CN" altLang="en-US" sz="2800" b="1" dirty="0">
                <a:solidFill>
                  <a:srgbClr val="000066"/>
                </a:solidFill>
                <a:ea typeface="幼圆" pitchFamily="49" charset="-122"/>
              </a:rPr>
              <a:t>其体积与压力有关。会增加土的弹性；阻塞渗流通道，降低渗透性</a:t>
            </a:r>
            <a:endParaRPr kumimoji="1" lang="en-US" altLang="zh-CN" sz="2800" b="1" dirty="0">
              <a:solidFill>
                <a:srgbClr val="000066"/>
              </a:solidFill>
              <a:ea typeface="幼圆" pitchFamily="49" charset="-122"/>
            </a:endParaRPr>
          </a:p>
          <a:p>
            <a:pPr eaLnBrk="1" hangingPunct="1">
              <a:lnSpc>
                <a:spcPct val="120000"/>
              </a:lnSpc>
              <a:buSzPct val="130000"/>
              <a:buFont typeface="Wingdings" pitchFamily="2" charset="2"/>
              <a:buChar char="F"/>
            </a:pPr>
            <a:r>
              <a:rPr kumimoji="1" lang="zh-CN" altLang="en-US" sz="2800" b="1" dirty="0">
                <a:solidFill>
                  <a:srgbClr val="800000"/>
                </a:solidFill>
                <a:ea typeface="幼圆" pitchFamily="49" charset="-122"/>
              </a:rPr>
              <a:t>溶解在水中的气体</a:t>
            </a:r>
          </a:p>
          <a:p>
            <a:pPr eaLnBrk="1" hangingPunct="1">
              <a:lnSpc>
                <a:spcPct val="120000"/>
              </a:lnSpc>
              <a:buSzPct val="130000"/>
              <a:buFont typeface="Wingdings" pitchFamily="2" charset="2"/>
              <a:buChar char="F"/>
            </a:pPr>
            <a:r>
              <a:rPr kumimoji="1" lang="zh-CN" altLang="en-US" sz="2800" b="1" dirty="0">
                <a:solidFill>
                  <a:srgbClr val="800000"/>
                </a:solidFill>
                <a:ea typeface="幼圆" pitchFamily="49" charset="-122"/>
              </a:rPr>
              <a:t>吸附于土颗粒表面的气体</a:t>
            </a:r>
            <a:endParaRPr lang="zh-CN" altLang="en-US" sz="2800" b="1" dirty="0">
              <a:solidFill>
                <a:srgbClr val="800000"/>
              </a:solidFill>
              <a:ea typeface="幼圆" pitchFamily="49" charset="-122"/>
            </a:endParaRPr>
          </a:p>
        </p:txBody>
      </p:sp>
      <p:sp>
        <p:nvSpPr>
          <p:cNvPr id="5"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土中气</a:t>
            </a:r>
            <a:endParaRPr lang="zh-CN" altLang="en-US" sz="2000" b="1" kern="900" spc="-140" dirty="0">
              <a:solidFill>
                <a:srgbClr val="C00000"/>
              </a:solidFill>
              <a:latin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8315" name="Text Box 11"/>
          <p:cNvSpPr txBox="1">
            <a:spLocks noChangeArrowheads="1"/>
          </p:cNvSpPr>
          <p:nvPr/>
        </p:nvSpPr>
        <p:spPr bwMode="auto">
          <a:xfrm>
            <a:off x="511175" y="768350"/>
            <a:ext cx="7265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2800" b="1" dirty="0">
                <a:solidFill>
                  <a:srgbClr val="000066"/>
                </a:solidFill>
                <a:latin typeface="幼圆" pitchFamily="49" charset="-122"/>
                <a:ea typeface="幼圆" pitchFamily="49" charset="-122"/>
              </a:rPr>
              <a:t>土体有三个组成部分：</a:t>
            </a:r>
            <a:r>
              <a:rPr kumimoji="1" lang="zh-CN" altLang="en-US" sz="2800" b="1" dirty="0">
                <a:solidFill>
                  <a:srgbClr val="800000"/>
                </a:solidFill>
                <a:latin typeface="幼圆" pitchFamily="49" charset="-122"/>
                <a:ea typeface="幼圆" pitchFamily="49" charset="-122"/>
              </a:rPr>
              <a:t>固相</a:t>
            </a:r>
            <a:r>
              <a:rPr kumimoji="1" lang="zh-CN" altLang="en-US" sz="2800" b="1" dirty="0">
                <a:solidFill>
                  <a:srgbClr val="000066"/>
                </a:solidFill>
                <a:latin typeface="幼圆" pitchFamily="49" charset="-122"/>
                <a:ea typeface="幼圆" pitchFamily="49" charset="-122"/>
              </a:rPr>
              <a:t>、</a:t>
            </a:r>
            <a:r>
              <a:rPr kumimoji="1" lang="zh-CN" altLang="en-US" sz="2800" b="1" dirty="0">
                <a:solidFill>
                  <a:srgbClr val="800000"/>
                </a:solidFill>
                <a:latin typeface="幼圆" pitchFamily="49" charset="-122"/>
                <a:ea typeface="幼圆" pitchFamily="49" charset="-122"/>
              </a:rPr>
              <a:t>液相</a:t>
            </a:r>
            <a:r>
              <a:rPr kumimoji="1" lang="zh-CN" altLang="en-US" sz="2800" b="1" dirty="0">
                <a:solidFill>
                  <a:srgbClr val="000066"/>
                </a:solidFill>
                <a:latin typeface="幼圆" pitchFamily="49" charset="-122"/>
                <a:ea typeface="幼圆" pitchFamily="49" charset="-122"/>
              </a:rPr>
              <a:t>和</a:t>
            </a:r>
            <a:r>
              <a:rPr kumimoji="1" lang="zh-CN" altLang="en-US" sz="2800" b="1" dirty="0">
                <a:solidFill>
                  <a:srgbClr val="800000"/>
                </a:solidFill>
                <a:latin typeface="幼圆" pitchFamily="49" charset="-122"/>
                <a:ea typeface="幼圆" pitchFamily="49" charset="-122"/>
              </a:rPr>
              <a:t>气相</a:t>
            </a:r>
          </a:p>
        </p:txBody>
      </p:sp>
      <p:sp>
        <p:nvSpPr>
          <p:cNvPr id="61444" name="Text Box 12"/>
          <p:cNvSpPr txBox="1">
            <a:spLocks noChangeArrowheads="1"/>
          </p:cNvSpPr>
          <p:nvPr/>
        </p:nvSpPr>
        <p:spPr bwMode="auto">
          <a:xfrm>
            <a:off x="3103352" y="5692718"/>
            <a:ext cx="2470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4000" b="1" dirty="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小   结</a:t>
            </a:r>
          </a:p>
        </p:txBody>
      </p:sp>
      <p:sp>
        <p:nvSpPr>
          <p:cNvPr id="1378317" name="Text Box 13"/>
          <p:cNvSpPr txBox="1">
            <a:spLocks noChangeArrowheads="1"/>
          </p:cNvSpPr>
          <p:nvPr/>
        </p:nvSpPr>
        <p:spPr bwMode="auto">
          <a:xfrm>
            <a:off x="909638" y="1825625"/>
            <a:ext cx="2276475" cy="331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5000"/>
              </a:lnSpc>
              <a:spcBef>
                <a:spcPct val="10000"/>
              </a:spcBef>
              <a:spcAft>
                <a:spcPct val="10000"/>
              </a:spcAft>
              <a:buSzPct val="130000"/>
              <a:buFont typeface="Wingdings" pitchFamily="2" charset="2"/>
              <a:buChar char="F"/>
            </a:pPr>
            <a:r>
              <a:rPr kumimoji="1" lang="zh-CN" altLang="en-US" sz="2800" b="1" dirty="0">
                <a:solidFill>
                  <a:srgbClr val="800000"/>
                </a:solidFill>
                <a:ea typeface="幼圆" pitchFamily="49" charset="-122"/>
              </a:rPr>
              <a:t>固体颗粒</a:t>
            </a:r>
          </a:p>
          <a:p>
            <a:pPr eaLnBrk="1" hangingPunct="1">
              <a:lnSpc>
                <a:spcPct val="135000"/>
              </a:lnSpc>
              <a:spcBef>
                <a:spcPct val="10000"/>
              </a:spcBef>
              <a:spcAft>
                <a:spcPct val="10000"/>
              </a:spcAft>
              <a:buSzPct val="130000"/>
              <a:buFont typeface="Wingdings" pitchFamily="2" charset="2"/>
              <a:buChar char="F"/>
            </a:pPr>
            <a:endParaRPr kumimoji="1" lang="zh-CN" altLang="en-US" sz="2800" b="1" dirty="0">
              <a:solidFill>
                <a:srgbClr val="800000"/>
              </a:solidFill>
              <a:ea typeface="幼圆" pitchFamily="49" charset="-122"/>
            </a:endParaRPr>
          </a:p>
          <a:p>
            <a:pPr eaLnBrk="1" hangingPunct="1">
              <a:lnSpc>
                <a:spcPct val="135000"/>
              </a:lnSpc>
              <a:spcBef>
                <a:spcPct val="10000"/>
              </a:spcBef>
              <a:spcAft>
                <a:spcPct val="10000"/>
              </a:spcAft>
              <a:buSzPct val="130000"/>
              <a:buFont typeface="Wingdings" pitchFamily="2" charset="2"/>
              <a:buChar char="F"/>
            </a:pPr>
            <a:r>
              <a:rPr kumimoji="1" lang="zh-CN" altLang="en-US" sz="2800" b="1" dirty="0">
                <a:solidFill>
                  <a:srgbClr val="800000"/>
                </a:solidFill>
                <a:ea typeface="幼圆" pitchFamily="49" charset="-122"/>
              </a:rPr>
              <a:t>土中水</a:t>
            </a:r>
          </a:p>
          <a:p>
            <a:pPr eaLnBrk="1" hangingPunct="1">
              <a:lnSpc>
                <a:spcPct val="135000"/>
              </a:lnSpc>
              <a:spcBef>
                <a:spcPct val="10000"/>
              </a:spcBef>
              <a:spcAft>
                <a:spcPct val="10000"/>
              </a:spcAft>
              <a:buSzPct val="130000"/>
              <a:buFont typeface="Wingdings" pitchFamily="2" charset="2"/>
              <a:buChar char="F"/>
            </a:pPr>
            <a:endParaRPr kumimoji="1" lang="zh-CN" altLang="en-US" sz="2800" b="1" dirty="0">
              <a:solidFill>
                <a:srgbClr val="800000"/>
              </a:solidFill>
              <a:ea typeface="幼圆" pitchFamily="49" charset="-122"/>
            </a:endParaRPr>
          </a:p>
          <a:p>
            <a:pPr eaLnBrk="1" hangingPunct="1">
              <a:lnSpc>
                <a:spcPct val="135000"/>
              </a:lnSpc>
              <a:spcBef>
                <a:spcPct val="10000"/>
              </a:spcBef>
              <a:spcAft>
                <a:spcPct val="10000"/>
              </a:spcAft>
              <a:buSzPct val="130000"/>
              <a:buFont typeface="Wingdings" pitchFamily="2" charset="2"/>
              <a:buChar char="F"/>
            </a:pPr>
            <a:r>
              <a:rPr kumimoji="1" lang="zh-CN" altLang="en-US" sz="2800" b="1" dirty="0">
                <a:solidFill>
                  <a:srgbClr val="800000"/>
                </a:solidFill>
                <a:ea typeface="幼圆" pitchFamily="49" charset="-122"/>
              </a:rPr>
              <a:t>土中气体</a:t>
            </a:r>
          </a:p>
        </p:txBody>
      </p:sp>
      <p:sp>
        <p:nvSpPr>
          <p:cNvPr id="1378318" name="Text Box 14"/>
          <p:cNvSpPr txBox="1">
            <a:spLocks noChangeArrowheads="1"/>
          </p:cNvSpPr>
          <p:nvPr/>
        </p:nvSpPr>
        <p:spPr bwMode="auto">
          <a:xfrm>
            <a:off x="3919538" y="1519238"/>
            <a:ext cx="1582737"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kumimoji="1" lang="zh-CN" altLang="en-US" sz="2400" b="1" dirty="0">
                <a:solidFill>
                  <a:srgbClr val="000066"/>
                </a:solidFill>
                <a:latin typeface="幼圆" pitchFamily="49" charset="-122"/>
                <a:ea typeface="幼圆" pitchFamily="49" charset="-122"/>
              </a:rPr>
              <a:t>粒径级配</a:t>
            </a:r>
          </a:p>
          <a:p>
            <a:pPr eaLnBrk="1" hangingPunct="1">
              <a:lnSpc>
                <a:spcPct val="120000"/>
              </a:lnSpc>
              <a:spcBef>
                <a:spcPct val="0"/>
              </a:spcBef>
              <a:spcAft>
                <a:spcPct val="0"/>
              </a:spcAft>
            </a:pPr>
            <a:r>
              <a:rPr kumimoji="1" lang="zh-CN" altLang="en-US" sz="2400" b="1" dirty="0">
                <a:solidFill>
                  <a:srgbClr val="000066"/>
                </a:solidFill>
                <a:latin typeface="幼圆" pitchFamily="49" charset="-122"/>
                <a:ea typeface="幼圆" pitchFamily="49" charset="-122"/>
              </a:rPr>
              <a:t>矿物成分</a:t>
            </a:r>
          </a:p>
          <a:p>
            <a:pPr eaLnBrk="1" hangingPunct="1">
              <a:lnSpc>
                <a:spcPct val="120000"/>
              </a:lnSpc>
              <a:spcBef>
                <a:spcPct val="0"/>
              </a:spcBef>
              <a:spcAft>
                <a:spcPct val="0"/>
              </a:spcAft>
            </a:pPr>
            <a:r>
              <a:rPr kumimoji="1" lang="zh-CN" altLang="en-US" sz="2400" b="1" dirty="0">
                <a:solidFill>
                  <a:srgbClr val="000066"/>
                </a:solidFill>
                <a:latin typeface="幼圆" pitchFamily="49" charset="-122"/>
                <a:ea typeface="幼圆" pitchFamily="49" charset="-122"/>
              </a:rPr>
              <a:t>颗粒形状</a:t>
            </a:r>
          </a:p>
        </p:txBody>
      </p:sp>
      <p:sp>
        <p:nvSpPr>
          <p:cNvPr id="1378319" name="Text Box 15"/>
          <p:cNvSpPr txBox="1">
            <a:spLocks noChangeArrowheads="1"/>
          </p:cNvSpPr>
          <p:nvPr/>
        </p:nvSpPr>
        <p:spPr bwMode="auto">
          <a:xfrm>
            <a:off x="3919538" y="3011488"/>
            <a:ext cx="4471987"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kumimoji="1" lang="zh-CN" altLang="en-US" sz="2400" b="1" dirty="0">
                <a:solidFill>
                  <a:srgbClr val="000066"/>
                </a:solidFill>
                <a:ea typeface="幼圆" pitchFamily="49" charset="-122"/>
              </a:rPr>
              <a:t>结合水  ：强结合水、弱结合水  </a:t>
            </a:r>
          </a:p>
          <a:p>
            <a:pPr eaLnBrk="1" hangingPunct="1">
              <a:lnSpc>
                <a:spcPct val="120000"/>
              </a:lnSpc>
              <a:spcBef>
                <a:spcPct val="0"/>
              </a:spcBef>
              <a:spcAft>
                <a:spcPct val="0"/>
              </a:spcAft>
            </a:pPr>
            <a:r>
              <a:rPr kumimoji="1" lang="zh-CN" altLang="en-US" sz="2400" b="1" dirty="0">
                <a:solidFill>
                  <a:srgbClr val="000066"/>
                </a:solidFill>
                <a:ea typeface="幼圆" pitchFamily="49" charset="-122"/>
              </a:rPr>
              <a:t>自由水  ：重力水、毛细水</a:t>
            </a:r>
          </a:p>
        </p:txBody>
      </p:sp>
      <p:sp>
        <p:nvSpPr>
          <p:cNvPr id="1378320" name="Text Box 16"/>
          <p:cNvSpPr txBox="1">
            <a:spLocks noChangeArrowheads="1"/>
          </p:cNvSpPr>
          <p:nvPr/>
        </p:nvSpPr>
        <p:spPr bwMode="auto">
          <a:xfrm>
            <a:off x="3919538" y="4321175"/>
            <a:ext cx="154305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kumimoji="1" lang="zh-CN" altLang="en-US" sz="2400" b="1" dirty="0">
                <a:solidFill>
                  <a:srgbClr val="000066"/>
                </a:solidFill>
                <a:ea typeface="幼圆" pitchFamily="49" charset="-122"/>
              </a:rPr>
              <a:t>自由气体</a:t>
            </a:r>
          </a:p>
          <a:p>
            <a:pPr eaLnBrk="1" hangingPunct="1">
              <a:lnSpc>
                <a:spcPct val="120000"/>
              </a:lnSpc>
              <a:spcBef>
                <a:spcPct val="0"/>
              </a:spcBef>
              <a:spcAft>
                <a:spcPct val="0"/>
              </a:spcAft>
            </a:pPr>
            <a:r>
              <a:rPr kumimoji="1" lang="zh-CN" altLang="en-US" sz="2400" b="1" dirty="0">
                <a:solidFill>
                  <a:srgbClr val="000066"/>
                </a:solidFill>
                <a:ea typeface="幼圆" pitchFamily="49" charset="-122"/>
              </a:rPr>
              <a:t>封闭气体</a:t>
            </a:r>
          </a:p>
        </p:txBody>
      </p:sp>
      <p:sp>
        <p:nvSpPr>
          <p:cNvPr id="1378321" name="AutoShape 17"/>
          <p:cNvSpPr>
            <a:spLocks noChangeArrowheads="1"/>
          </p:cNvSpPr>
          <p:nvPr/>
        </p:nvSpPr>
        <p:spPr bwMode="auto">
          <a:xfrm>
            <a:off x="3276600" y="1997075"/>
            <a:ext cx="560388" cy="457200"/>
          </a:xfrm>
          <a:prstGeom prst="homePlate">
            <a:avLst>
              <a:gd name="adj" fmla="val 30642"/>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1378322" name="AutoShape 18"/>
          <p:cNvSpPr>
            <a:spLocks noChangeArrowheads="1"/>
          </p:cNvSpPr>
          <p:nvPr/>
        </p:nvSpPr>
        <p:spPr bwMode="auto">
          <a:xfrm>
            <a:off x="3287713" y="3289300"/>
            <a:ext cx="560387" cy="457200"/>
          </a:xfrm>
          <a:prstGeom prst="homePlate">
            <a:avLst>
              <a:gd name="adj" fmla="val 30642"/>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1378323" name="AutoShape 19"/>
          <p:cNvSpPr>
            <a:spLocks noChangeArrowheads="1"/>
          </p:cNvSpPr>
          <p:nvPr/>
        </p:nvSpPr>
        <p:spPr bwMode="auto">
          <a:xfrm>
            <a:off x="3287713" y="4572000"/>
            <a:ext cx="560387" cy="457200"/>
          </a:xfrm>
          <a:prstGeom prst="homePlate">
            <a:avLst>
              <a:gd name="adj" fmla="val 30642"/>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12"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小结</a:t>
            </a:r>
            <a:endParaRPr lang="zh-CN" altLang="en-US" sz="2000" b="1" kern="900" spc="-140" dirty="0">
              <a:solidFill>
                <a:srgbClr val="C00000"/>
              </a:solidFill>
              <a:latin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78315"/>
                                        </p:tgtEl>
                                        <p:attrNameLst>
                                          <p:attrName>style.visibility</p:attrName>
                                        </p:attrNameLst>
                                      </p:cBhvr>
                                      <p:to>
                                        <p:strVal val="visible"/>
                                      </p:to>
                                    </p:set>
                                    <p:anim calcmode="lin" valueType="num">
                                      <p:cBhvr additive="base">
                                        <p:cTn id="7" dur="500" fill="hold"/>
                                        <p:tgtEl>
                                          <p:spTgt spid="1378315"/>
                                        </p:tgtEl>
                                        <p:attrNameLst>
                                          <p:attrName>ppt_x</p:attrName>
                                        </p:attrNameLst>
                                      </p:cBhvr>
                                      <p:tavLst>
                                        <p:tav tm="0">
                                          <p:val>
                                            <p:strVal val="0-#ppt_w/2"/>
                                          </p:val>
                                        </p:tav>
                                        <p:tav tm="100000">
                                          <p:val>
                                            <p:strVal val="#ppt_x"/>
                                          </p:val>
                                        </p:tav>
                                      </p:tavLst>
                                    </p:anim>
                                    <p:anim calcmode="lin" valueType="num">
                                      <p:cBhvr additive="base">
                                        <p:cTn id="8" dur="500" fill="hold"/>
                                        <p:tgtEl>
                                          <p:spTgt spid="137831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1000"/>
                                  </p:stCondLst>
                                  <p:childTnLst>
                                    <p:set>
                                      <p:cBhvr>
                                        <p:cTn id="11" dur="1" fill="hold">
                                          <p:stCondLst>
                                            <p:cond delay="0"/>
                                          </p:stCondLst>
                                        </p:cTn>
                                        <p:tgtEl>
                                          <p:spTgt spid="1378317"/>
                                        </p:tgtEl>
                                        <p:attrNameLst>
                                          <p:attrName>style.visibility</p:attrName>
                                        </p:attrNameLst>
                                      </p:cBhvr>
                                      <p:to>
                                        <p:strVal val="visible"/>
                                      </p:to>
                                    </p:set>
                                    <p:anim calcmode="lin" valueType="num">
                                      <p:cBhvr additive="base">
                                        <p:cTn id="12" dur="500" fill="hold"/>
                                        <p:tgtEl>
                                          <p:spTgt spid="1378317"/>
                                        </p:tgtEl>
                                        <p:attrNameLst>
                                          <p:attrName>ppt_x</p:attrName>
                                        </p:attrNameLst>
                                      </p:cBhvr>
                                      <p:tavLst>
                                        <p:tav tm="0">
                                          <p:val>
                                            <p:strVal val="0-#ppt_w/2"/>
                                          </p:val>
                                        </p:tav>
                                        <p:tav tm="100000">
                                          <p:val>
                                            <p:strVal val="#ppt_x"/>
                                          </p:val>
                                        </p:tav>
                                      </p:tavLst>
                                    </p:anim>
                                    <p:anim calcmode="lin" valueType="num">
                                      <p:cBhvr additive="base">
                                        <p:cTn id="13" dur="500" fill="hold"/>
                                        <p:tgtEl>
                                          <p:spTgt spid="1378317"/>
                                        </p:tgtEl>
                                        <p:attrNameLst>
                                          <p:attrName>ppt_y</p:attrName>
                                        </p:attrNameLst>
                                      </p:cBhvr>
                                      <p:tavLst>
                                        <p:tav tm="0">
                                          <p:val>
                                            <p:strVal val="#ppt_y"/>
                                          </p:val>
                                        </p:tav>
                                        <p:tav tm="100000">
                                          <p:val>
                                            <p:strVal val="#ppt_y"/>
                                          </p:val>
                                        </p:tav>
                                      </p:tavLst>
                                    </p:anim>
                                  </p:childTnLst>
                                </p:cTn>
                              </p:par>
                            </p:childTnLst>
                          </p:cTn>
                        </p:par>
                        <p:par>
                          <p:cTn id="14" fill="hold" nodeType="withGroup">
                            <p:stCondLst>
                              <p:cond delay="2000"/>
                            </p:stCondLst>
                            <p:childTnLst>
                              <p:par>
                                <p:cTn id="15" presetID="22" presetClass="entr" presetSubtype="8" fill="hold" grpId="0" nodeType="afterEffect">
                                  <p:stCondLst>
                                    <p:cond delay="0"/>
                                  </p:stCondLst>
                                  <p:childTnLst>
                                    <p:set>
                                      <p:cBhvr>
                                        <p:cTn id="16" dur="1" fill="hold">
                                          <p:stCondLst>
                                            <p:cond delay="0"/>
                                          </p:stCondLst>
                                        </p:cTn>
                                        <p:tgtEl>
                                          <p:spTgt spid="1378321"/>
                                        </p:tgtEl>
                                        <p:attrNameLst>
                                          <p:attrName>style.visibility</p:attrName>
                                        </p:attrNameLst>
                                      </p:cBhvr>
                                      <p:to>
                                        <p:strVal val="visible"/>
                                      </p:to>
                                    </p:set>
                                    <p:animEffect transition="in" filter="wipe(left)">
                                      <p:cBhvr>
                                        <p:cTn id="17" dur="1000"/>
                                        <p:tgtEl>
                                          <p:spTgt spid="1378321"/>
                                        </p:tgtEl>
                                      </p:cBhvr>
                                    </p:animEffect>
                                  </p:childTnLst>
                                </p:cTn>
                              </p:par>
                            </p:childTnLst>
                          </p:cTn>
                        </p:par>
                        <p:par>
                          <p:cTn id="18" fill="hold" nodeType="afterGroup">
                            <p:stCondLst>
                              <p:cond delay="3000"/>
                            </p:stCondLst>
                            <p:childTnLst>
                              <p:par>
                                <p:cTn id="19" presetID="22" presetClass="entr" presetSubtype="8" fill="hold" grpId="0" nodeType="afterEffect">
                                  <p:stCondLst>
                                    <p:cond delay="0"/>
                                  </p:stCondLst>
                                  <p:childTnLst>
                                    <p:set>
                                      <p:cBhvr>
                                        <p:cTn id="20" dur="1" fill="hold">
                                          <p:stCondLst>
                                            <p:cond delay="0"/>
                                          </p:stCondLst>
                                        </p:cTn>
                                        <p:tgtEl>
                                          <p:spTgt spid="1378318"/>
                                        </p:tgtEl>
                                        <p:attrNameLst>
                                          <p:attrName>style.visibility</p:attrName>
                                        </p:attrNameLst>
                                      </p:cBhvr>
                                      <p:to>
                                        <p:strVal val="visible"/>
                                      </p:to>
                                    </p:set>
                                    <p:animEffect transition="in" filter="wipe(left)">
                                      <p:cBhvr>
                                        <p:cTn id="21" dur="3000"/>
                                        <p:tgtEl>
                                          <p:spTgt spid="1378318"/>
                                        </p:tgtEl>
                                      </p:cBhvr>
                                    </p:animEffect>
                                  </p:childTnLst>
                                </p:cTn>
                              </p:par>
                            </p:childTnLst>
                          </p:cTn>
                        </p:par>
                        <p:par>
                          <p:cTn id="22" fill="hold" nodeType="withGroup">
                            <p:stCondLst>
                              <p:cond delay="6000"/>
                            </p:stCondLst>
                            <p:childTnLst>
                              <p:par>
                                <p:cTn id="23" presetID="22" presetClass="entr" presetSubtype="8" fill="hold" grpId="0" nodeType="afterEffect">
                                  <p:stCondLst>
                                    <p:cond delay="0"/>
                                  </p:stCondLst>
                                  <p:childTnLst>
                                    <p:set>
                                      <p:cBhvr>
                                        <p:cTn id="24" dur="1" fill="hold">
                                          <p:stCondLst>
                                            <p:cond delay="0"/>
                                          </p:stCondLst>
                                        </p:cTn>
                                        <p:tgtEl>
                                          <p:spTgt spid="1378322"/>
                                        </p:tgtEl>
                                        <p:attrNameLst>
                                          <p:attrName>style.visibility</p:attrName>
                                        </p:attrNameLst>
                                      </p:cBhvr>
                                      <p:to>
                                        <p:strVal val="visible"/>
                                      </p:to>
                                    </p:set>
                                    <p:animEffect transition="in" filter="wipe(left)">
                                      <p:cBhvr>
                                        <p:cTn id="25" dur="1000"/>
                                        <p:tgtEl>
                                          <p:spTgt spid="1378322"/>
                                        </p:tgtEl>
                                      </p:cBhvr>
                                    </p:animEffect>
                                  </p:childTnLst>
                                </p:cTn>
                              </p:par>
                            </p:childTnLst>
                          </p:cTn>
                        </p:par>
                        <p:par>
                          <p:cTn id="26" fill="hold" nodeType="afterGroup">
                            <p:stCondLst>
                              <p:cond delay="7000"/>
                            </p:stCondLst>
                            <p:childTnLst>
                              <p:par>
                                <p:cTn id="27" presetID="22" presetClass="entr" presetSubtype="8" fill="hold" grpId="0" nodeType="afterEffect">
                                  <p:stCondLst>
                                    <p:cond delay="0"/>
                                  </p:stCondLst>
                                  <p:childTnLst>
                                    <p:set>
                                      <p:cBhvr>
                                        <p:cTn id="28" dur="1" fill="hold">
                                          <p:stCondLst>
                                            <p:cond delay="0"/>
                                          </p:stCondLst>
                                        </p:cTn>
                                        <p:tgtEl>
                                          <p:spTgt spid="1378319"/>
                                        </p:tgtEl>
                                        <p:attrNameLst>
                                          <p:attrName>style.visibility</p:attrName>
                                        </p:attrNameLst>
                                      </p:cBhvr>
                                      <p:to>
                                        <p:strVal val="visible"/>
                                      </p:to>
                                    </p:set>
                                    <p:animEffect transition="in" filter="wipe(left)">
                                      <p:cBhvr>
                                        <p:cTn id="29" dur="1000"/>
                                        <p:tgtEl>
                                          <p:spTgt spid="1378319"/>
                                        </p:tgtEl>
                                      </p:cBhvr>
                                    </p:animEffect>
                                  </p:childTnLst>
                                </p:cTn>
                              </p:par>
                            </p:childTnLst>
                          </p:cTn>
                        </p:par>
                        <p:par>
                          <p:cTn id="30" fill="hold" nodeType="withGroup">
                            <p:stCondLst>
                              <p:cond delay="8000"/>
                            </p:stCondLst>
                            <p:childTnLst>
                              <p:par>
                                <p:cTn id="31" presetID="22" presetClass="entr" presetSubtype="8" fill="hold" grpId="0" nodeType="afterEffect">
                                  <p:stCondLst>
                                    <p:cond delay="0"/>
                                  </p:stCondLst>
                                  <p:childTnLst>
                                    <p:set>
                                      <p:cBhvr>
                                        <p:cTn id="32" dur="1" fill="hold">
                                          <p:stCondLst>
                                            <p:cond delay="0"/>
                                          </p:stCondLst>
                                        </p:cTn>
                                        <p:tgtEl>
                                          <p:spTgt spid="1378323"/>
                                        </p:tgtEl>
                                        <p:attrNameLst>
                                          <p:attrName>style.visibility</p:attrName>
                                        </p:attrNameLst>
                                      </p:cBhvr>
                                      <p:to>
                                        <p:strVal val="visible"/>
                                      </p:to>
                                    </p:set>
                                    <p:animEffect transition="in" filter="wipe(left)">
                                      <p:cBhvr>
                                        <p:cTn id="33" dur="1000"/>
                                        <p:tgtEl>
                                          <p:spTgt spid="1378323"/>
                                        </p:tgtEl>
                                      </p:cBhvr>
                                    </p:animEffect>
                                  </p:childTnLst>
                                </p:cTn>
                              </p:par>
                            </p:childTnLst>
                          </p:cTn>
                        </p:par>
                        <p:par>
                          <p:cTn id="34" fill="hold" nodeType="afterGroup">
                            <p:stCondLst>
                              <p:cond delay="9000"/>
                            </p:stCondLst>
                            <p:childTnLst>
                              <p:par>
                                <p:cTn id="35" presetID="22" presetClass="entr" presetSubtype="8" fill="hold" grpId="0" nodeType="afterEffect">
                                  <p:stCondLst>
                                    <p:cond delay="0"/>
                                  </p:stCondLst>
                                  <p:childTnLst>
                                    <p:set>
                                      <p:cBhvr>
                                        <p:cTn id="36" dur="1" fill="hold">
                                          <p:stCondLst>
                                            <p:cond delay="0"/>
                                          </p:stCondLst>
                                        </p:cTn>
                                        <p:tgtEl>
                                          <p:spTgt spid="1378320"/>
                                        </p:tgtEl>
                                        <p:attrNameLst>
                                          <p:attrName>style.visibility</p:attrName>
                                        </p:attrNameLst>
                                      </p:cBhvr>
                                      <p:to>
                                        <p:strVal val="visible"/>
                                      </p:to>
                                    </p:set>
                                    <p:animEffect transition="in" filter="wipe(left)">
                                      <p:cBhvr>
                                        <p:cTn id="37" dur="1000"/>
                                        <p:tgtEl>
                                          <p:spTgt spid="1378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15" grpId="0" autoUpdateAnimBg="0"/>
      <p:bldP spid="1378317" grpId="0" autoUpdateAnimBg="0"/>
      <p:bldP spid="1378318" grpId="0"/>
      <p:bldP spid="1378319" grpId="0"/>
      <p:bldP spid="1378320" grpId="0"/>
      <p:bldP spid="1378321" grpId="0" animBg="1"/>
      <p:bldP spid="1378322" grpId="0" animBg="1"/>
      <p:bldP spid="137832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8019" y="3147286"/>
            <a:ext cx="4125432" cy="53162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50" name="Text Box 24"/>
          <p:cNvSpPr txBox="1">
            <a:spLocks noChangeArrowheads="1"/>
          </p:cNvSpPr>
          <p:nvPr/>
        </p:nvSpPr>
        <p:spPr bwMode="auto">
          <a:xfrm>
            <a:off x="1163638" y="968375"/>
            <a:ext cx="715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a:solidFill>
                  <a:srgbClr val="000066"/>
                </a:solidFill>
                <a:latin typeface="黑体" pitchFamily="2" charset="-122"/>
                <a:ea typeface="黑体" pitchFamily="2" charset="-122"/>
              </a:rPr>
              <a:t>第一章：土的物理性质与工程分类</a:t>
            </a:r>
            <a:endParaRPr lang="en-US" altLang="zh-CN" sz="3600" b="1">
              <a:solidFill>
                <a:srgbClr val="000066"/>
              </a:solidFill>
              <a:latin typeface="黑体" pitchFamily="2" charset="-122"/>
              <a:ea typeface="黑体" pitchFamily="2" charset="-122"/>
            </a:endParaRPr>
          </a:p>
        </p:txBody>
      </p:sp>
      <p:sp>
        <p:nvSpPr>
          <p:cNvPr id="1344537" name="Text Box 25"/>
          <p:cNvSpPr txBox="1">
            <a:spLocks noChangeArrowheads="1"/>
          </p:cNvSpPr>
          <p:nvPr/>
        </p:nvSpPr>
        <p:spPr bwMode="auto">
          <a:xfrm>
            <a:off x="2413000" y="1892300"/>
            <a:ext cx="451961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§1.1  </a:t>
            </a:r>
            <a:r>
              <a:rPr kumimoji="1" lang="zh-CN" altLang="en-US" sz="3200" b="1" dirty="0">
                <a:solidFill>
                  <a:srgbClr val="000066"/>
                </a:solidFill>
                <a:latin typeface="黑体" panose="02010609060101010101" pitchFamily="49" charset="-122"/>
                <a:ea typeface="黑体" panose="02010609060101010101" pitchFamily="49" charset="-122"/>
              </a:rPr>
              <a:t>土的</a:t>
            </a:r>
            <a:r>
              <a:rPr kumimoji="1" lang="zh-CN" altLang="en-US" sz="3200" b="1" dirty="0" smtClean="0">
                <a:solidFill>
                  <a:srgbClr val="000066"/>
                </a:solidFill>
                <a:latin typeface="黑体" panose="02010609060101010101" pitchFamily="49" charset="-122"/>
                <a:ea typeface="黑体" panose="02010609060101010101" pitchFamily="49" charset="-122"/>
              </a:rPr>
              <a:t>形成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§1.2  </a:t>
            </a:r>
            <a:r>
              <a:rPr kumimoji="1" lang="zh-CN" altLang="en-US" sz="3200" b="1" dirty="0">
                <a:solidFill>
                  <a:srgbClr val="000066"/>
                </a:solidFill>
                <a:latin typeface="黑体" panose="02010609060101010101" pitchFamily="49" charset="-122"/>
                <a:ea typeface="黑体" panose="02010609060101010101" pitchFamily="49" charset="-122"/>
              </a:rPr>
              <a:t>土的三相</a:t>
            </a:r>
            <a:r>
              <a:rPr kumimoji="1" lang="zh-CN" altLang="en-US" sz="3200" b="1" dirty="0" smtClean="0">
                <a:solidFill>
                  <a:srgbClr val="000066"/>
                </a:solidFill>
                <a:latin typeface="黑体" panose="02010609060101010101" pitchFamily="49" charset="-122"/>
                <a:ea typeface="黑体" panose="02010609060101010101" pitchFamily="49" charset="-122"/>
              </a:rPr>
              <a:t>组成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§1.3  </a:t>
            </a:r>
            <a:r>
              <a:rPr kumimoji="1" lang="zh-CN" altLang="en-US" sz="3200" b="1" dirty="0">
                <a:solidFill>
                  <a:srgbClr val="000066"/>
                </a:solidFill>
                <a:latin typeface="黑体" panose="02010609060101010101" pitchFamily="49" charset="-122"/>
                <a:ea typeface="黑体" panose="02010609060101010101" pitchFamily="49" charset="-122"/>
              </a:rPr>
              <a:t>土的物理状态</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§1.4  </a:t>
            </a:r>
            <a:r>
              <a:rPr kumimoji="1" lang="zh-CN" altLang="en-US" sz="3200" b="1" dirty="0">
                <a:solidFill>
                  <a:srgbClr val="000066"/>
                </a:solidFill>
                <a:latin typeface="黑体" panose="02010609060101010101" pitchFamily="49" charset="-122"/>
                <a:ea typeface="黑体" panose="02010609060101010101" pitchFamily="49" charset="-122"/>
              </a:rPr>
              <a:t>土的结构</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§1.5  </a:t>
            </a:r>
            <a:r>
              <a:rPr kumimoji="1" lang="zh-CN" altLang="en-US" sz="3200" b="1" dirty="0">
                <a:solidFill>
                  <a:srgbClr val="000066"/>
                </a:solidFill>
                <a:latin typeface="黑体" panose="02010609060101010101" pitchFamily="49" charset="-122"/>
                <a:ea typeface="黑体" panose="02010609060101010101" pitchFamily="49" charset="-122"/>
              </a:rPr>
              <a:t>土的工程分类</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§1.6  </a:t>
            </a:r>
            <a:r>
              <a:rPr kumimoji="1" lang="zh-CN" altLang="en-US" sz="3200" b="1" dirty="0">
                <a:solidFill>
                  <a:srgbClr val="000066"/>
                </a:solidFill>
                <a:latin typeface="黑体" panose="02010609060101010101" pitchFamily="49" charset="-122"/>
                <a:ea typeface="黑体" panose="02010609060101010101" pitchFamily="49" charset="-122"/>
              </a:rPr>
              <a:t>土的压实性 </a:t>
            </a:r>
          </a:p>
        </p:txBody>
      </p:sp>
    </p:spTree>
    <p:extLst>
      <p:ext uri="{BB962C8B-B14F-4D97-AF65-F5344CB8AC3E}">
        <p14:creationId xmlns:p14="http://schemas.microsoft.com/office/powerpoint/2010/main" val="41311907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 Box 7"/>
          <p:cNvSpPr txBox="1">
            <a:spLocks noChangeArrowheads="1"/>
          </p:cNvSpPr>
          <p:nvPr/>
        </p:nvSpPr>
        <p:spPr bwMode="auto">
          <a:xfrm>
            <a:off x="3168677" y="5702520"/>
            <a:ext cx="34401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4000" b="1" dirty="0">
                <a:solidFill>
                  <a:srgbClr val="000066"/>
                </a:solidFill>
                <a:latin typeface="黑体" pitchFamily="2" charset="-122"/>
                <a:ea typeface="黑体" pitchFamily="2" charset="-122"/>
              </a:rPr>
              <a:t>物理性质指标</a:t>
            </a:r>
          </a:p>
        </p:txBody>
      </p:sp>
      <p:sp>
        <p:nvSpPr>
          <p:cNvPr id="1381384" name="AutoShape 8"/>
          <p:cNvSpPr>
            <a:spLocks noChangeArrowheads="1"/>
          </p:cNvSpPr>
          <p:nvPr/>
        </p:nvSpPr>
        <p:spPr bwMode="auto">
          <a:xfrm>
            <a:off x="4202113" y="1230313"/>
            <a:ext cx="4021137" cy="1208087"/>
          </a:xfrm>
          <a:prstGeom prst="roundRect">
            <a:avLst>
              <a:gd name="adj" fmla="val 16667"/>
            </a:avLst>
          </a:prstGeom>
          <a:noFill/>
          <a:ln w="2857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spcBef>
                <a:spcPct val="10000"/>
              </a:spcBef>
              <a:spcAft>
                <a:spcPct val="10000"/>
              </a:spcAft>
            </a:pPr>
            <a:r>
              <a:rPr kumimoji="1" lang="zh-CN" altLang="en-US" sz="2800" b="1" dirty="0">
                <a:solidFill>
                  <a:srgbClr val="000066"/>
                </a:solidFill>
                <a:ea typeface="幼圆" pitchFamily="49" charset="-122"/>
              </a:rPr>
              <a:t>土的三个组成相的体积和质量上的比例关系</a:t>
            </a:r>
          </a:p>
        </p:txBody>
      </p:sp>
      <p:sp>
        <p:nvSpPr>
          <p:cNvPr id="1381385" name="Oval 9"/>
          <p:cNvSpPr>
            <a:spLocks noChangeArrowheads="1"/>
          </p:cNvSpPr>
          <p:nvPr/>
        </p:nvSpPr>
        <p:spPr bwMode="auto">
          <a:xfrm>
            <a:off x="733425" y="990600"/>
            <a:ext cx="2214563" cy="1428214"/>
          </a:xfrm>
          <a:prstGeom prst="ellipse">
            <a:avLst/>
          </a:prstGeom>
          <a:solidFill>
            <a:schemeClr val="accent6">
              <a:lumMod val="40000"/>
              <a:lumOff val="60000"/>
            </a:schemeClr>
          </a:solidFill>
          <a:ln w="28575">
            <a:solidFill>
              <a:srgbClr val="800000"/>
            </a:solidFill>
            <a:round/>
            <a:headEnd/>
            <a:tailEnd/>
          </a:ln>
        </p:spPr>
        <p:txBody>
          <a:bodyPr>
            <a:spAutoFit/>
          </a:bodyPr>
          <a:lstStyle/>
          <a:p>
            <a:pPr algn="ctr">
              <a:lnSpc>
                <a:spcPct val="125000"/>
              </a:lnSpc>
              <a:spcBef>
                <a:spcPct val="0"/>
              </a:spcBef>
              <a:spcAft>
                <a:spcPct val="0"/>
              </a:spcAft>
            </a:pPr>
            <a:r>
              <a:rPr kumimoji="1" lang="zh-CN" altLang="en-US" sz="2400" b="1" dirty="0" smtClean="0">
                <a:solidFill>
                  <a:srgbClr val="000066"/>
                </a:solidFill>
                <a:latin typeface="Arial" charset="0"/>
                <a:ea typeface="幼圆" pitchFamily="49" charset="-122"/>
              </a:rPr>
              <a:t>土的物理性质指标</a:t>
            </a:r>
            <a:endParaRPr kumimoji="1" lang="en-US" altLang="zh-CN" sz="2400" b="1" dirty="0" smtClean="0">
              <a:solidFill>
                <a:srgbClr val="000066"/>
              </a:solidFill>
              <a:latin typeface="Arial" charset="0"/>
              <a:ea typeface="幼圆" pitchFamily="49" charset="-122"/>
            </a:endParaRPr>
          </a:p>
        </p:txBody>
      </p:sp>
      <p:sp>
        <p:nvSpPr>
          <p:cNvPr id="1381386" name="AutoShape 10"/>
          <p:cNvSpPr>
            <a:spLocks noChangeArrowheads="1"/>
          </p:cNvSpPr>
          <p:nvPr/>
        </p:nvSpPr>
        <p:spPr bwMode="auto">
          <a:xfrm>
            <a:off x="1358900" y="2903538"/>
            <a:ext cx="7615238" cy="2308717"/>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round/>
                <a:headEnd/>
                <a:tailEnd/>
              </a14:hiddenLine>
            </a:ext>
          </a:extLst>
        </p:spPr>
        <p:txBody>
          <a:bodyPr lIns="0" tIns="0" rIns="0" bIns="0">
            <a:spAutoFit/>
          </a:bodyPr>
          <a:lstStyle/>
          <a:p>
            <a:pPr>
              <a:lnSpc>
                <a:spcPct val="120000"/>
              </a:lnSpc>
              <a:spcBef>
                <a:spcPct val="10000"/>
              </a:spcBef>
              <a:buClr>
                <a:srgbClr val="A50021"/>
              </a:buClr>
              <a:buFont typeface="Wingdings" pitchFamily="2" charset="2"/>
              <a:buChar char="²"/>
            </a:pPr>
            <a:r>
              <a:rPr kumimoji="1" lang="zh-CN" altLang="en-US" sz="2400" b="1" dirty="0">
                <a:solidFill>
                  <a:srgbClr val="800000"/>
                </a:solidFill>
                <a:latin typeface="幼圆" pitchFamily="49" charset="-122"/>
                <a:ea typeface="幼圆" pitchFamily="49" charset="-122"/>
              </a:rPr>
              <a:t> </a:t>
            </a:r>
            <a:r>
              <a:rPr kumimoji="1" lang="zh-CN" altLang="en-US" sz="2400" b="1" dirty="0" smtClean="0">
                <a:solidFill>
                  <a:srgbClr val="800000"/>
                </a:solidFill>
                <a:latin typeface="幼圆" pitchFamily="49" charset="-122"/>
                <a:ea typeface="幼圆" pitchFamily="49" charset="-122"/>
              </a:rPr>
              <a:t>特点：</a:t>
            </a:r>
            <a:r>
              <a:rPr kumimoji="1" lang="en-US" altLang="zh-CN" sz="2400" b="1" dirty="0" smtClean="0">
                <a:solidFill>
                  <a:srgbClr val="000066"/>
                </a:solidFill>
                <a:latin typeface="幼圆" pitchFamily="49" charset="-122"/>
                <a:ea typeface="幼圆" pitchFamily="49" charset="-122"/>
              </a:rPr>
              <a:t>  </a:t>
            </a:r>
            <a:r>
              <a:rPr kumimoji="1" lang="zh-CN" altLang="en-US" sz="2400" b="1" dirty="0">
                <a:solidFill>
                  <a:srgbClr val="000066"/>
                </a:solidFill>
                <a:latin typeface="幼圆" pitchFamily="49" charset="-122"/>
                <a:ea typeface="幼圆" pitchFamily="49" charset="-122"/>
              </a:rPr>
              <a:t>指标概念简单，</a:t>
            </a:r>
            <a:r>
              <a:rPr kumimoji="1" lang="zh-CN" altLang="en-US" sz="2400" b="1" dirty="0" smtClean="0">
                <a:solidFill>
                  <a:srgbClr val="000066"/>
                </a:solidFill>
                <a:latin typeface="幼圆" pitchFamily="49" charset="-122"/>
                <a:ea typeface="幼圆" pitchFamily="49" charset="-122"/>
              </a:rPr>
              <a:t>数量众多</a:t>
            </a:r>
            <a:endParaRPr kumimoji="1" lang="zh-CN" altLang="en-US" sz="2400" b="1" dirty="0">
              <a:solidFill>
                <a:srgbClr val="000066"/>
              </a:solidFill>
              <a:latin typeface="幼圆" pitchFamily="49" charset="-122"/>
              <a:ea typeface="幼圆" pitchFamily="49" charset="-122"/>
            </a:endParaRPr>
          </a:p>
          <a:p>
            <a:pPr>
              <a:lnSpc>
                <a:spcPct val="120000"/>
              </a:lnSpc>
              <a:spcBef>
                <a:spcPct val="10000"/>
              </a:spcBef>
              <a:buClr>
                <a:srgbClr val="A50021"/>
              </a:buClr>
              <a:buFont typeface="Wingdings" pitchFamily="2" charset="2"/>
              <a:buChar char="²"/>
            </a:pPr>
            <a:r>
              <a:rPr kumimoji="1" lang="zh-CN" altLang="en-US" sz="2400" b="1" dirty="0">
                <a:solidFill>
                  <a:srgbClr val="000066"/>
                </a:solidFill>
                <a:ea typeface="幼圆" pitchFamily="49" charset="-122"/>
              </a:rPr>
              <a:t> </a:t>
            </a:r>
            <a:r>
              <a:rPr kumimoji="1" lang="zh-CN" altLang="en-US" sz="2400" b="1" dirty="0" smtClean="0">
                <a:solidFill>
                  <a:srgbClr val="A50021"/>
                </a:solidFill>
                <a:ea typeface="幼圆" pitchFamily="49" charset="-122"/>
              </a:rPr>
              <a:t>要点：</a:t>
            </a:r>
            <a:r>
              <a:rPr kumimoji="1" lang="zh-CN" altLang="en-US" sz="2400" b="1" dirty="0" smtClean="0">
                <a:solidFill>
                  <a:srgbClr val="000066"/>
                </a:solidFill>
                <a:ea typeface="幼圆" pitchFamily="49" charset="-122"/>
              </a:rPr>
              <a:t>   </a:t>
            </a:r>
            <a:r>
              <a:rPr kumimoji="1" lang="zh-CN" altLang="en-US" sz="2400" b="1" dirty="0">
                <a:solidFill>
                  <a:srgbClr val="000066"/>
                </a:solidFill>
                <a:ea typeface="幼圆" pitchFamily="49" charset="-122"/>
              </a:rPr>
              <a:t>名称、概念或定义、符号、表达式、</a:t>
            </a:r>
            <a:br>
              <a:rPr kumimoji="1" lang="zh-CN" altLang="en-US" sz="2400" b="1" dirty="0">
                <a:solidFill>
                  <a:srgbClr val="000066"/>
                </a:solidFill>
                <a:ea typeface="幼圆" pitchFamily="49" charset="-122"/>
              </a:rPr>
            </a:br>
            <a:r>
              <a:rPr kumimoji="1" lang="zh-CN" altLang="en-US" sz="2400" b="1" dirty="0">
                <a:solidFill>
                  <a:srgbClr val="000066"/>
                </a:solidFill>
                <a:ea typeface="幼圆" pitchFamily="49" charset="-122"/>
              </a:rPr>
              <a:t>                    单位或量纲、常见值或范围、联系与区别</a:t>
            </a:r>
          </a:p>
          <a:p>
            <a:pPr>
              <a:lnSpc>
                <a:spcPct val="120000"/>
              </a:lnSpc>
              <a:spcBef>
                <a:spcPct val="45000"/>
              </a:spcBef>
              <a:buClr>
                <a:srgbClr val="A50021"/>
              </a:buClr>
              <a:buFont typeface="Wingdings" pitchFamily="2" charset="2"/>
              <a:buChar char="²"/>
            </a:pPr>
            <a:r>
              <a:rPr kumimoji="1" lang="zh-CN" altLang="en-US" sz="2400" b="1" dirty="0">
                <a:solidFill>
                  <a:srgbClr val="000066"/>
                </a:solidFill>
                <a:ea typeface="幼圆" pitchFamily="49" charset="-122"/>
              </a:rPr>
              <a:t> </a:t>
            </a:r>
            <a:r>
              <a:rPr kumimoji="1" lang="zh-CN" altLang="en-US" sz="2400" b="1" dirty="0">
                <a:solidFill>
                  <a:srgbClr val="800000"/>
                </a:solidFill>
                <a:ea typeface="幼圆" pitchFamily="49" charset="-122"/>
              </a:rPr>
              <a:t>基本</a:t>
            </a:r>
            <a:r>
              <a:rPr kumimoji="1" lang="zh-CN" altLang="en-US" sz="2400" b="1" dirty="0" smtClean="0">
                <a:solidFill>
                  <a:srgbClr val="800000"/>
                </a:solidFill>
                <a:ea typeface="幼圆" pitchFamily="49" charset="-122"/>
              </a:rPr>
              <a:t>方法：</a:t>
            </a:r>
            <a:endParaRPr kumimoji="1" lang="zh-CN" altLang="en-US" sz="2400" b="1" dirty="0">
              <a:solidFill>
                <a:srgbClr val="800000"/>
              </a:solidFill>
              <a:ea typeface="幼圆" pitchFamily="49" charset="-122"/>
            </a:endParaRPr>
          </a:p>
        </p:txBody>
      </p:sp>
      <p:sp>
        <p:nvSpPr>
          <p:cNvPr id="1381387" name="AutoShape 11"/>
          <p:cNvSpPr>
            <a:spLocks noChangeArrowheads="1"/>
          </p:cNvSpPr>
          <p:nvPr/>
        </p:nvSpPr>
        <p:spPr bwMode="auto">
          <a:xfrm>
            <a:off x="3076575" y="1452563"/>
            <a:ext cx="941388" cy="660400"/>
          </a:xfrm>
          <a:prstGeom prst="leftArrow">
            <a:avLst>
              <a:gd name="adj1" fmla="val 56889"/>
              <a:gd name="adj2" fmla="val 53548"/>
            </a:avLst>
          </a:prstGeom>
          <a:solidFill>
            <a:schemeClr val="accent6">
              <a:lumMod val="60000"/>
              <a:lumOff val="40000"/>
            </a:schemeClr>
          </a:solidFill>
          <a:ln w="19050" algn="ctr">
            <a:solidFill>
              <a:srgbClr val="000066"/>
            </a:solidFill>
            <a:miter lim="800000"/>
            <a:headEnd/>
            <a:tailEnd/>
          </a:ln>
          <a:extLst/>
        </p:spPr>
        <p:txBody>
          <a:bodyPr lIns="0" tIns="0" rIns="0" bIns="0">
            <a:spAutoFit/>
          </a:bodyPr>
          <a:lstStyle/>
          <a:p>
            <a:pPr algn="ctr">
              <a:lnSpc>
                <a:spcPct val="100000"/>
              </a:lnSpc>
              <a:spcBef>
                <a:spcPct val="0"/>
              </a:spcBef>
              <a:spcAft>
                <a:spcPct val="10000"/>
              </a:spcAft>
            </a:pPr>
            <a:r>
              <a:rPr kumimoji="1" lang="zh-CN" altLang="en-US" sz="2400" b="1" dirty="0">
                <a:solidFill>
                  <a:srgbClr val="000066"/>
                </a:solidFill>
                <a:latin typeface="Arial" charset="0"/>
                <a:ea typeface="幼圆" pitchFamily="49" charset="-122"/>
              </a:rPr>
              <a:t>定义</a:t>
            </a:r>
          </a:p>
        </p:txBody>
      </p:sp>
      <p:sp>
        <p:nvSpPr>
          <p:cNvPr id="1381388" name="AutoShape 12"/>
          <p:cNvSpPr>
            <a:spLocks noChangeArrowheads="1"/>
          </p:cNvSpPr>
          <p:nvPr/>
        </p:nvSpPr>
        <p:spPr bwMode="auto">
          <a:xfrm>
            <a:off x="3344863" y="4584700"/>
            <a:ext cx="2568575" cy="60801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p>
            <a:pPr algn="ctr">
              <a:lnSpc>
                <a:spcPct val="100000"/>
              </a:lnSpc>
              <a:spcBef>
                <a:spcPct val="0"/>
              </a:spcBef>
              <a:spcAft>
                <a:spcPct val="0"/>
              </a:spcAft>
            </a:pPr>
            <a:r>
              <a:rPr kumimoji="1" lang="zh-CN" altLang="en-US" sz="3600" b="1" dirty="0">
                <a:solidFill>
                  <a:srgbClr val="800000"/>
                </a:solidFill>
                <a:latin typeface="Arial" charset="0"/>
                <a:ea typeface="幼圆" pitchFamily="49" charset="-122"/>
              </a:rPr>
              <a:t>三相草图法</a:t>
            </a:r>
          </a:p>
        </p:txBody>
      </p:sp>
      <p:sp>
        <p:nvSpPr>
          <p:cNvPr id="9"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41671000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1381385"/>
                                        </p:tgtEl>
                                        <p:attrNameLst>
                                          <p:attrName>style.visibility</p:attrName>
                                        </p:attrNameLst>
                                      </p:cBhvr>
                                      <p:to>
                                        <p:strVal val="visible"/>
                                      </p:to>
                                    </p:set>
                                    <p:anim calcmode="lin" valueType="num">
                                      <p:cBhvr additive="base">
                                        <p:cTn id="7" dur="500" fill="hold"/>
                                        <p:tgtEl>
                                          <p:spTgt spid="1381385"/>
                                        </p:tgtEl>
                                        <p:attrNameLst>
                                          <p:attrName>ppt_x</p:attrName>
                                        </p:attrNameLst>
                                      </p:cBhvr>
                                      <p:tavLst>
                                        <p:tav tm="0">
                                          <p:val>
                                            <p:strVal val="#ppt_x"/>
                                          </p:val>
                                        </p:tav>
                                        <p:tav tm="100000">
                                          <p:val>
                                            <p:strVal val="#ppt_x"/>
                                          </p:val>
                                        </p:tav>
                                      </p:tavLst>
                                    </p:anim>
                                    <p:anim calcmode="lin" valueType="num">
                                      <p:cBhvr additive="base">
                                        <p:cTn id="8" dur="500" fill="hold"/>
                                        <p:tgtEl>
                                          <p:spTgt spid="1381385"/>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381384"/>
                                        </p:tgtEl>
                                        <p:attrNameLst>
                                          <p:attrName>style.visibility</p:attrName>
                                        </p:attrNameLst>
                                      </p:cBhvr>
                                      <p:to>
                                        <p:strVal val="visible"/>
                                      </p:to>
                                    </p:set>
                                    <p:anim calcmode="lin" valueType="num">
                                      <p:cBhvr additive="base">
                                        <p:cTn id="12" dur="500" fill="hold"/>
                                        <p:tgtEl>
                                          <p:spTgt spid="1381384"/>
                                        </p:tgtEl>
                                        <p:attrNameLst>
                                          <p:attrName>ppt_x</p:attrName>
                                        </p:attrNameLst>
                                      </p:cBhvr>
                                      <p:tavLst>
                                        <p:tav tm="0">
                                          <p:val>
                                            <p:strVal val="1+#ppt_w/2"/>
                                          </p:val>
                                        </p:tav>
                                        <p:tav tm="100000">
                                          <p:val>
                                            <p:strVal val="#ppt_x"/>
                                          </p:val>
                                        </p:tav>
                                      </p:tavLst>
                                    </p:anim>
                                    <p:anim calcmode="lin" valueType="num">
                                      <p:cBhvr additive="base">
                                        <p:cTn id="13" dur="500" fill="hold"/>
                                        <p:tgtEl>
                                          <p:spTgt spid="1381384"/>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16" presetClass="entr" presetSubtype="26" fill="hold" grpId="0" nodeType="afterEffect">
                                  <p:stCondLst>
                                    <p:cond delay="0"/>
                                  </p:stCondLst>
                                  <p:childTnLst>
                                    <p:set>
                                      <p:cBhvr>
                                        <p:cTn id="16" dur="1" fill="hold">
                                          <p:stCondLst>
                                            <p:cond delay="0"/>
                                          </p:stCondLst>
                                        </p:cTn>
                                        <p:tgtEl>
                                          <p:spTgt spid="1381387"/>
                                        </p:tgtEl>
                                        <p:attrNameLst>
                                          <p:attrName>style.visibility</p:attrName>
                                        </p:attrNameLst>
                                      </p:cBhvr>
                                      <p:to>
                                        <p:strVal val="visible"/>
                                      </p:to>
                                    </p:set>
                                    <p:animEffect transition="in" filter="barn(inHorizontal)">
                                      <p:cBhvr>
                                        <p:cTn id="17" dur="500"/>
                                        <p:tgtEl>
                                          <p:spTgt spid="1381387"/>
                                        </p:tgtEl>
                                      </p:cBhvr>
                                    </p:animEffect>
                                  </p:childTnLst>
                                </p:cTn>
                              </p:par>
                            </p:childTnLst>
                          </p:cTn>
                        </p:par>
                      </p:childTnLst>
                    </p:cTn>
                  </p:par>
                  <p:par>
                    <p:cTn id="18" fill="hold">
                      <p:stCondLst>
                        <p:cond delay="indefinite"/>
                      </p:stCondLst>
                      <p:childTnLst>
                        <p:par>
                          <p:cTn id="19" fill="hold" nodeType="withGroup">
                            <p:stCondLst>
                              <p:cond delay="0"/>
                            </p:stCondLst>
                            <p:childTnLst>
                              <p:par>
                                <p:cTn id="20" presetID="47" presetClass="entr" presetSubtype="0" fill="hold" grpId="0" nodeType="clickEffect">
                                  <p:stCondLst>
                                    <p:cond delay="0"/>
                                  </p:stCondLst>
                                  <p:childTnLst>
                                    <p:set>
                                      <p:cBhvr>
                                        <p:cTn id="21" dur="1" fill="hold">
                                          <p:stCondLst>
                                            <p:cond delay="0"/>
                                          </p:stCondLst>
                                        </p:cTn>
                                        <p:tgtEl>
                                          <p:spTgt spid="1381386">
                                            <p:txEl>
                                              <p:pRg st="0" end="0"/>
                                            </p:txEl>
                                          </p:spTgt>
                                        </p:tgtEl>
                                        <p:attrNameLst>
                                          <p:attrName>style.visibility</p:attrName>
                                        </p:attrNameLst>
                                      </p:cBhvr>
                                      <p:to>
                                        <p:strVal val="visible"/>
                                      </p:to>
                                    </p:set>
                                    <p:animEffect transition="in" filter="fade">
                                      <p:cBhvr>
                                        <p:cTn id="22" dur="1000"/>
                                        <p:tgtEl>
                                          <p:spTgt spid="1381386">
                                            <p:txEl>
                                              <p:pRg st="0" end="0"/>
                                            </p:txEl>
                                          </p:spTgt>
                                        </p:tgtEl>
                                      </p:cBhvr>
                                    </p:animEffect>
                                    <p:anim calcmode="lin" valueType="num">
                                      <p:cBhvr>
                                        <p:cTn id="23" dur="1000" fill="hold"/>
                                        <p:tgtEl>
                                          <p:spTgt spid="1381386">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1381386">
                                            <p:txEl>
                                              <p:pRg st="0" end="0"/>
                                            </p:txEl>
                                          </p:spTgt>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1000"/>
                            </p:stCondLst>
                            <p:childTnLst>
                              <p:par>
                                <p:cTn id="26" presetID="47" presetClass="entr" presetSubtype="0" fill="hold" grpId="0" nodeType="afterEffect">
                                  <p:stCondLst>
                                    <p:cond delay="0"/>
                                  </p:stCondLst>
                                  <p:childTnLst>
                                    <p:set>
                                      <p:cBhvr>
                                        <p:cTn id="27" dur="1" fill="hold">
                                          <p:stCondLst>
                                            <p:cond delay="0"/>
                                          </p:stCondLst>
                                        </p:cTn>
                                        <p:tgtEl>
                                          <p:spTgt spid="1381386">
                                            <p:txEl>
                                              <p:pRg st="1" end="1"/>
                                            </p:txEl>
                                          </p:spTgt>
                                        </p:tgtEl>
                                        <p:attrNameLst>
                                          <p:attrName>style.visibility</p:attrName>
                                        </p:attrNameLst>
                                      </p:cBhvr>
                                      <p:to>
                                        <p:strVal val="visible"/>
                                      </p:to>
                                    </p:set>
                                    <p:animEffect transition="in" filter="fade">
                                      <p:cBhvr>
                                        <p:cTn id="28" dur="1000"/>
                                        <p:tgtEl>
                                          <p:spTgt spid="1381386">
                                            <p:txEl>
                                              <p:pRg st="1" end="1"/>
                                            </p:txEl>
                                          </p:spTgt>
                                        </p:tgtEl>
                                      </p:cBhvr>
                                    </p:animEffect>
                                    <p:anim calcmode="lin" valueType="num">
                                      <p:cBhvr>
                                        <p:cTn id="29" dur="1000" fill="hold"/>
                                        <p:tgtEl>
                                          <p:spTgt spid="1381386">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381386">
                                            <p:txEl>
                                              <p:pRg st="1" end="1"/>
                                            </p:txEl>
                                          </p:spTgt>
                                        </p:tgtEl>
                                        <p:attrNameLst>
                                          <p:attrName>ppt_y</p:attrName>
                                        </p:attrNameLst>
                                      </p:cBhvr>
                                      <p:tavLst>
                                        <p:tav tm="0">
                                          <p:val>
                                            <p:strVal val="#ppt_y-.1"/>
                                          </p:val>
                                        </p:tav>
                                        <p:tav tm="100000">
                                          <p:val>
                                            <p:strVal val="#ppt_y"/>
                                          </p:val>
                                        </p:tav>
                                      </p:tavLst>
                                    </p:anim>
                                  </p:childTnLst>
                                </p:cTn>
                              </p:par>
                            </p:childTnLst>
                          </p:cTn>
                        </p:par>
                        <p:par>
                          <p:cTn id="31" fill="hold" nodeType="afterGroup">
                            <p:stCondLst>
                              <p:cond delay="2000"/>
                            </p:stCondLst>
                            <p:childTnLst>
                              <p:par>
                                <p:cTn id="32" presetID="47" presetClass="entr" presetSubtype="0" fill="hold" grpId="0" nodeType="afterEffect">
                                  <p:stCondLst>
                                    <p:cond delay="0"/>
                                  </p:stCondLst>
                                  <p:childTnLst>
                                    <p:set>
                                      <p:cBhvr>
                                        <p:cTn id="33" dur="1" fill="hold">
                                          <p:stCondLst>
                                            <p:cond delay="0"/>
                                          </p:stCondLst>
                                        </p:cTn>
                                        <p:tgtEl>
                                          <p:spTgt spid="1381386">
                                            <p:txEl>
                                              <p:pRg st="2" end="2"/>
                                            </p:txEl>
                                          </p:spTgt>
                                        </p:tgtEl>
                                        <p:attrNameLst>
                                          <p:attrName>style.visibility</p:attrName>
                                        </p:attrNameLst>
                                      </p:cBhvr>
                                      <p:to>
                                        <p:strVal val="visible"/>
                                      </p:to>
                                    </p:set>
                                    <p:animEffect transition="in" filter="fade">
                                      <p:cBhvr>
                                        <p:cTn id="34" dur="1000"/>
                                        <p:tgtEl>
                                          <p:spTgt spid="1381386">
                                            <p:txEl>
                                              <p:pRg st="2" end="2"/>
                                            </p:txEl>
                                          </p:spTgt>
                                        </p:tgtEl>
                                      </p:cBhvr>
                                    </p:animEffect>
                                    <p:anim calcmode="lin" valueType="num">
                                      <p:cBhvr>
                                        <p:cTn id="35" dur="1000" fill="hold"/>
                                        <p:tgtEl>
                                          <p:spTgt spid="1381386">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1381386">
                                            <p:txEl>
                                              <p:pRg st="2" end="2"/>
                                            </p:txEl>
                                          </p:spTgt>
                                        </p:tgtEl>
                                        <p:attrNameLst>
                                          <p:attrName>ppt_y</p:attrName>
                                        </p:attrNameLst>
                                      </p:cBhvr>
                                      <p:tavLst>
                                        <p:tav tm="0">
                                          <p:val>
                                            <p:strVal val="#ppt_y-.1"/>
                                          </p:val>
                                        </p:tav>
                                        <p:tav tm="100000">
                                          <p:val>
                                            <p:strVal val="#ppt_y"/>
                                          </p:val>
                                        </p:tav>
                                      </p:tavLst>
                                    </p:anim>
                                  </p:childTnLst>
                                </p:cTn>
                              </p:par>
                            </p:childTnLst>
                          </p:cTn>
                        </p:par>
                        <p:par>
                          <p:cTn id="37" fill="hold" nodeType="withGroup">
                            <p:stCondLst>
                              <p:cond delay="3000"/>
                            </p:stCondLst>
                            <p:childTnLst>
                              <p:par>
                                <p:cTn id="38" presetID="38" presetClass="entr" presetSubtype="0" accel="50000" fill="hold" grpId="0" nodeType="afterEffect">
                                  <p:stCondLst>
                                    <p:cond delay="0"/>
                                  </p:stCondLst>
                                  <p:iterate type="lt">
                                    <p:tmPct val="50000"/>
                                  </p:iterate>
                                  <p:childTnLst>
                                    <p:set>
                                      <p:cBhvr>
                                        <p:cTn id="39" dur="1" fill="hold">
                                          <p:stCondLst>
                                            <p:cond delay="0"/>
                                          </p:stCondLst>
                                        </p:cTn>
                                        <p:tgtEl>
                                          <p:spTgt spid="1381388"/>
                                        </p:tgtEl>
                                        <p:attrNameLst>
                                          <p:attrName>style.visibility</p:attrName>
                                        </p:attrNameLst>
                                      </p:cBhvr>
                                      <p:to>
                                        <p:strVal val="visible"/>
                                      </p:to>
                                    </p:set>
                                    <p:set>
                                      <p:cBhvr>
                                        <p:cTn id="40" dur="455" fill="hold">
                                          <p:stCondLst>
                                            <p:cond delay="0"/>
                                          </p:stCondLst>
                                        </p:cTn>
                                        <p:tgtEl>
                                          <p:spTgt spid="1381388"/>
                                        </p:tgtEl>
                                        <p:attrNameLst>
                                          <p:attrName>style.rotation</p:attrName>
                                        </p:attrNameLst>
                                      </p:cBhvr>
                                      <p:to>
                                        <p:strVal val="-45.0"/>
                                      </p:to>
                                    </p:set>
                                    <p:anim calcmode="lin" valueType="num">
                                      <p:cBhvr>
                                        <p:cTn id="41" dur="455" fill="hold">
                                          <p:stCondLst>
                                            <p:cond delay="455"/>
                                          </p:stCondLst>
                                        </p:cTn>
                                        <p:tgtEl>
                                          <p:spTgt spid="1381388"/>
                                        </p:tgtEl>
                                        <p:attrNameLst>
                                          <p:attrName>style.rotation</p:attrName>
                                        </p:attrNameLst>
                                      </p:cBhvr>
                                      <p:tavLst>
                                        <p:tav tm="0">
                                          <p:val>
                                            <p:fltVal val="-45"/>
                                          </p:val>
                                        </p:tav>
                                        <p:tav tm="69900">
                                          <p:val>
                                            <p:fltVal val="45"/>
                                          </p:val>
                                        </p:tav>
                                        <p:tav tm="100000">
                                          <p:val>
                                            <p:fltVal val="0"/>
                                          </p:val>
                                        </p:tav>
                                      </p:tavLst>
                                    </p:anim>
                                    <p:anim calcmode="lin" valueType="num">
                                      <p:cBhvr>
                                        <p:cTn id="42" dur="455" fill="hold">
                                          <p:stCondLst>
                                            <p:cond delay="0"/>
                                          </p:stCondLst>
                                        </p:cTn>
                                        <p:tgtEl>
                                          <p:spTgt spid="1381388"/>
                                        </p:tgtEl>
                                        <p:attrNameLst>
                                          <p:attrName>ppt_y</p:attrName>
                                        </p:attrNameLst>
                                      </p:cBhvr>
                                      <p:tavLst>
                                        <p:tav tm="0">
                                          <p:val>
                                            <p:strVal val="#ppt_y-1"/>
                                          </p:val>
                                        </p:tav>
                                        <p:tav tm="100000">
                                          <p:val>
                                            <p:strVal val="#ppt_y-(0.354*#ppt_w-0.172*#ppt_h)"/>
                                          </p:val>
                                        </p:tav>
                                      </p:tavLst>
                                    </p:anim>
                                    <p:anim calcmode="lin" valueType="num">
                                      <p:cBhvr>
                                        <p:cTn id="43" dur="156" decel="50000" autoRev="1" fill="hold">
                                          <p:stCondLst>
                                            <p:cond delay="455"/>
                                          </p:stCondLst>
                                        </p:cTn>
                                        <p:tgtEl>
                                          <p:spTgt spid="1381388"/>
                                        </p:tgtEl>
                                        <p:attrNameLst>
                                          <p:attrName>ppt_y</p:attrName>
                                        </p:attrNameLst>
                                      </p:cBhvr>
                                      <p:tavLst>
                                        <p:tav tm="0">
                                          <p:val>
                                            <p:strVal val="#ppt_y-(0.354*#ppt_w-0.172*#ppt_h)"/>
                                          </p:val>
                                        </p:tav>
                                        <p:tav tm="100000">
                                          <p:val>
                                            <p:strVal val="#ppt_y-(0.354*#ppt_w-0.172*#ppt_h)-#ppt_h/2"/>
                                          </p:val>
                                        </p:tav>
                                      </p:tavLst>
                                    </p:anim>
                                    <p:anim calcmode="lin" valueType="num">
                                      <p:cBhvr>
                                        <p:cTn id="44" dur="136" fill="hold">
                                          <p:stCondLst>
                                            <p:cond delay="864"/>
                                          </p:stCondLst>
                                        </p:cTn>
                                        <p:tgtEl>
                                          <p:spTgt spid="1381388"/>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1384" grpId="0" animBg="1"/>
      <p:bldP spid="1381385" grpId="0" animBg="1"/>
      <p:bldP spid="1381386" grpId="0" uiExpand="1" build="p" advAuto="3000"/>
      <p:bldP spid="1381387" grpId="0" animBg="1"/>
      <p:bldP spid="138138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13"/>
          <p:cNvSpPr>
            <a:spLocks noChangeArrowheads="1"/>
          </p:cNvSpPr>
          <p:nvPr/>
        </p:nvSpPr>
        <p:spPr bwMode="auto">
          <a:xfrm>
            <a:off x="3267075" y="1260475"/>
            <a:ext cx="2438400" cy="3352800"/>
          </a:xfrm>
          <a:prstGeom prst="rect">
            <a:avLst/>
          </a:prstGeom>
          <a:solidFill>
            <a:srgbClr val="FFCC99"/>
          </a:solidFill>
          <a:ln w="28575">
            <a:solidFill>
              <a:schemeClr val="tx1"/>
            </a:solidFill>
            <a:miter lim="800000"/>
            <a:headEnd/>
            <a:tailEnd/>
          </a:ln>
        </p:spPr>
        <p:txBody>
          <a:bodyPr wrap="none" anchor="ctr"/>
          <a:lstStyle/>
          <a:p>
            <a:endParaRPr lang="zh-CN" altLang="en-US"/>
          </a:p>
        </p:txBody>
      </p:sp>
      <p:grpSp>
        <p:nvGrpSpPr>
          <p:cNvPr id="2" name="Group 14"/>
          <p:cNvGrpSpPr>
            <a:grpSpLocks/>
          </p:cNvGrpSpPr>
          <p:nvPr/>
        </p:nvGrpSpPr>
        <p:grpSpPr bwMode="auto">
          <a:xfrm>
            <a:off x="3290416" y="1279053"/>
            <a:ext cx="2405062" cy="858838"/>
            <a:chOff x="1977" y="880"/>
            <a:chExt cx="1515" cy="541"/>
          </a:xfrm>
        </p:grpSpPr>
        <p:sp>
          <p:nvSpPr>
            <p:cNvPr id="65579" name="Rectangle 15"/>
            <p:cNvSpPr>
              <a:spLocks noChangeArrowheads="1"/>
            </p:cNvSpPr>
            <p:nvPr/>
          </p:nvSpPr>
          <p:spPr bwMode="auto">
            <a:xfrm>
              <a:off x="1977" y="880"/>
              <a:ext cx="1515" cy="5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5580" name="Text Box 16"/>
            <p:cNvSpPr txBox="1">
              <a:spLocks noChangeArrowheads="1"/>
            </p:cNvSpPr>
            <p:nvPr/>
          </p:nvSpPr>
          <p:spPr bwMode="auto">
            <a:xfrm>
              <a:off x="2344" y="1011"/>
              <a:ext cx="8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rgbClr val="800000"/>
                  </a:solidFill>
                  <a:latin typeface="Comic Sans MS" pitchFamily="66" charset="0"/>
                  <a:ea typeface="幼圆" pitchFamily="49" charset="-122"/>
                </a:rPr>
                <a:t>空气 </a:t>
              </a:r>
              <a:r>
                <a:rPr kumimoji="1" lang="en-US" altLang="zh-CN" sz="2400" b="1">
                  <a:solidFill>
                    <a:srgbClr val="800000"/>
                  </a:solidFill>
                  <a:ea typeface="幼圆" pitchFamily="49" charset="-122"/>
                </a:rPr>
                <a:t>Air</a:t>
              </a:r>
            </a:p>
          </p:txBody>
        </p:sp>
      </p:grpSp>
      <p:grpSp>
        <p:nvGrpSpPr>
          <p:cNvPr id="4" name="Group 21"/>
          <p:cNvGrpSpPr>
            <a:grpSpLocks/>
          </p:cNvGrpSpPr>
          <p:nvPr/>
        </p:nvGrpSpPr>
        <p:grpSpPr bwMode="auto">
          <a:xfrm>
            <a:off x="3282480" y="3348038"/>
            <a:ext cx="2416174" cy="1250950"/>
            <a:chOff x="1972" y="2189"/>
            <a:chExt cx="1522" cy="788"/>
          </a:xfrm>
        </p:grpSpPr>
        <p:sp>
          <p:nvSpPr>
            <p:cNvPr id="65575" name="Rectangle 22" descr="软木塞"/>
            <p:cNvSpPr>
              <a:spLocks noChangeArrowheads="1"/>
            </p:cNvSpPr>
            <p:nvPr/>
          </p:nvSpPr>
          <p:spPr bwMode="auto">
            <a:xfrm>
              <a:off x="1972" y="2189"/>
              <a:ext cx="1522" cy="788"/>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5576" name="Text Box 23"/>
            <p:cNvSpPr txBox="1">
              <a:spLocks noChangeArrowheads="1"/>
            </p:cNvSpPr>
            <p:nvPr/>
          </p:nvSpPr>
          <p:spPr bwMode="auto">
            <a:xfrm>
              <a:off x="2332" y="2431"/>
              <a:ext cx="10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dirty="0">
                  <a:latin typeface="Comic Sans MS" pitchFamily="66" charset="0"/>
                  <a:ea typeface="幼圆" pitchFamily="49" charset="-122"/>
                </a:rPr>
                <a:t>固体 </a:t>
              </a:r>
              <a:r>
                <a:rPr kumimoji="1" lang="en-US" altLang="zh-CN" sz="2400" b="1" dirty="0">
                  <a:ea typeface="幼圆" pitchFamily="49" charset="-122"/>
                </a:rPr>
                <a:t>Solid</a:t>
              </a:r>
            </a:p>
          </p:txBody>
        </p:sp>
      </p:grpSp>
      <p:grpSp>
        <p:nvGrpSpPr>
          <p:cNvPr id="3" name="Group 18"/>
          <p:cNvGrpSpPr>
            <a:grpSpLocks/>
          </p:cNvGrpSpPr>
          <p:nvPr/>
        </p:nvGrpSpPr>
        <p:grpSpPr bwMode="auto">
          <a:xfrm>
            <a:off x="3278657" y="2136775"/>
            <a:ext cx="2415178" cy="1209675"/>
            <a:chOff x="1981" y="1426"/>
            <a:chExt cx="1520" cy="762"/>
          </a:xfrm>
        </p:grpSpPr>
        <p:sp>
          <p:nvSpPr>
            <p:cNvPr id="65577" name="Rectangle 19"/>
            <p:cNvSpPr>
              <a:spLocks noChangeArrowheads="1"/>
            </p:cNvSpPr>
            <p:nvPr/>
          </p:nvSpPr>
          <p:spPr bwMode="auto">
            <a:xfrm>
              <a:off x="1981" y="1426"/>
              <a:ext cx="1520" cy="762"/>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5578" name="Text Box 20"/>
            <p:cNvSpPr txBox="1">
              <a:spLocks noChangeArrowheads="1"/>
            </p:cNvSpPr>
            <p:nvPr/>
          </p:nvSpPr>
          <p:spPr bwMode="auto">
            <a:xfrm>
              <a:off x="2373" y="1671"/>
              <a:ext cx="914" cy="28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dirty="0">
                  <a:solidFill>
                    <a:schemeClr val="accent6">
                      <a:lumMod val="40000"/>
                      <a:lumOff val="60000"/>
                    </a:schemeClr>
                  </a:solidFill>
                  <a:latin typeface="Comic Sans MS" pitchFamily="66" charset="0"/>
                  <a:ea typeface="幼圆" pitchFamily="49" charset="-122"/>
                </a:rPr>
                <a:t>水 </a:t>
              </a:r>
              <a:r>
                <a:rPr kumimoji="1" lang="en-US" altLang="zh-CN" sz="2400" b="1" dirty="0">
                  <a:solidFill>
                    <a:schemeClr val="accent6">
                      <a:lumMod val="40000"/>
                      <a:lumOff val="60000"/>
                    </a:schemeClr>
                  </a:solidFill>
                  <a:ea typeface="幼圆" pitchFamily="49" charset="-122"/>
                </a:rPr>
                <a:t>Water</a:t>
              </a:r>
            </a:p>
          </p:txBody>
        </p:sp>
      </p:grpSp>
      <p:sp>
        <p:nvSpPr>
          <p:cNvPr id="65541" name="Text Box 17"/>
          <p:cNvSpPr txBox="1">
            <a:spLocks noChangeArrowheads="1"/>
          </p:cNvSpPr>
          <p:nvPr/>
        </p:nvSpPr>
        <p:spPr bwMode="auto">
          <a:xfrm>
            <a:off x="3463925" y="5697538"/>
            <a:ext cx="34353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20000"/>
              </a:spcBef>
              <a:spcAft>
                <a:spcPct val="0"/>
              </a:spcAft>
              <a:buClr>
                <a:schemeClr val="folHlink"/>
              </a:buClr>
              <a:buSzPct val="85000"/>
              <a:buFont typeface="Wingdings 2" pitchFamily="18" charset="2"/>
              <a:buNone/>
            </a:pPr>
            <a:r>
              <a:rPr kumimoji="1" lang="zh-CN" altLang="en-US" sz="4000" b="1">
                <a:solidFill>
                  <a:srgbClr val="000066"/>
                </a:solidFill>
                <a:ea typeface="黑体" pitchFamily="2" charset="-122"/>
              </a:rPr>
              <a:t>三 相 草 图</a:t>
            </a:r>
            <a:endParaRPr lang="zh-CN" altLang="en-US" sz="4000" b="1">
              <a:solidFill>
                <a:srgbClr val="000066"/>
              </a:solidFill>
              <a:ea typeface="黑体" pitchFamily="2" charset="-122"/>
            </a:endParaRPr>
          </a:p>
        </p:txBody>
      </p:sp>
      <p:grpSp>
        <p:nvGrpSpPr>
          <p:cNvPr id="5" name="Group 24"/>
          <p:cNvGrpSpPr>
            <a:grpSpLocks/>
          </p:cNvGrpSpPr>
          <p:nvPr/>
        </p:nvGrpSpPr>
        <p:grpSpPr bwMode="auto">
          <a:xfrm>
            <a:off x="1550988" y="1254125"/>
            <a:ext cx="1427163" cy="4005263"/>
            <a:chOff x="887" y="870"/>
            <a:chExt cx="899" cy="2523"/>
          </a:xfrm>
        </p:grpSpPr>
        <p:sp>
          <p:nvSpPr>
            <p:cNvPr id="65562" name="Text Box 25"/>
            <p:cNvSpPr txBox="1">
              <a:spLocks noChangeArrowheads="1"/>
            </p:cNvSpPr>
            <p:nvPr/>
          </p:nvSpPr>
          <p:spPr bwMode="auto">
            <a:xfrm>
              <a:off x="1152" y="970"/>
              <a:ext cx="60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smtClean="0"/>
                <a:t>m</a:t>
              </a:r>
              <a:r>
                <a:rPr kumimoji="1" lang="en-US" altLang="zh-CN" sz="2800" b="1" baseline="-25000" dirty="0" smtClean="0"/>
                <a:t>a</a:t>
              </a:r>
              <a:r>
                <a:rPr kumimoji="1" lang="en-US" altLang="zh-CN" sz="2800" b="1" dirty="0" smtClean="0">
                  <a:cs typeface="Times New Roman" pitchFamily="18" charset="0"/>
                  <a:sym typeface="Symbol"/>
                </a:rPr>
                <a:t></a:t>
              </a:r>
              <a:r>
                <a:rPr kumimoji="1" lang="en-US" altLang="zh-CN" sz="2800" b="1" dirty="0" smtClean="0">
                  <a:cs typeface="Times New Roman" pitchFamily="18" charset="0"/>
                </a:rPr>
                <a:t>0</a:t>
              </a:r>
              <a:endParaRPr kumimoji="1" lang="en-US" altLang="zh-CN" sz="2800" b="1" dirty="0"/>
            </a:p>
          </p:txBody>
        </p:sp>
        <p:sp>
          <p:nvSpPr>
            <p:cNvPr id="65563" name="Text Box 26"/>
            <p:cNvSpPr txBox="1">
              <a:spLocks noChangeArrowheads="1"/>
            </p:cNvSpPr>
            <p:nvPr/>
          </p:nvSpPr>
          <p:spPr bwMode="auto">
            <a:xfrm>
              <a:off x="1248" y="1507"/>
              <a:ext cx="40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a:t>m</a:t>
              </a:r>
              <a:r>
                <a:rPr kumimoji="1" lang="en-US" altLang="zh-CN" sz="2800" b="1" baseline="-25000" dirty="0"/>
                <a:t>w</a:t>
              </a:r>
              <a:endParaRPr kumimoji="1" lang="en-US" altLang="zh-CN" sz="2800" b="1" dirty="0"/>
            </a:p>
          </p:txBody>
        </p:sp>
        <p:sp>
          <p:nvSpPr>
            <p:cNvPr id="65564" name="Text Box 27"/>
            <p:cNvSpPr txBox="1">
              <a:spLocks noChangeArrowheads="1"/>
            </p:cNvSpPr>
            <p:nvPr/>
          </p:nvSpPr>
          <p:spPr bwMode="auto">
            <a:xfrm>
              <a:off x="1248" y="2323"/>
              <a:ext cx="3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err="1"/>
                <a:t>m</a:t>
              </a:r>
              <a:r>
                <a:rPr kumimoji="1" lang="en-US" altLang="zh-CN" sz="2800" b="1" baseline="-25000" dirty="0" err="1"/>
                <a:t>s</a:t>
              </a:r>
              <a:endParaRPr kumimoji="1" lang="en-US" altLang="zh-CN" sz="2800" b="1" dirty="0"/>
            </a:p>
          </p:txBody>
        </p:sp>
        <p:sp>
          <p:nvSpPr>
            <p:cNvPr id="65565" name="Text Box 28"/>
            <p:cNvSpPr txBox="1">
              <a:spLocks noChangeArrowheads="1"/>
            </p:cNvSpPr>
            <p:nvPr/>
          </p:nvSpPr>
          <p:spPr bwMode="auto">
            <a:xfrm>
              <a:off x="887" y="1657"/>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a:t>m</a:t>
              </a:r>
            </a:p>
          </p:txBody>
        </p:sp>
        <p:sp>
          <p:nvSpPr>
            <p:cNvPr id="65566" name="Line 29"/>
            <p:cNvSpPr>
              <a:spLocks noChangeShapeType="1"/>
            </p:cNvSpPr>
            <p:nvPr/>
          </p:nvSpPr>
          <p:spPr bwMode="auto">
            <a:xfrm flipH="1">
              <a:off x="1727" y="870"/>
              <a:ext cx="0" cy="557"/>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5567" name="Line 30"/>
            <p:cNvSpPr>
              <a:spLocks noChangeShapeType="1"/>
            </p:cNvSpPr>
            <p:nvPr/>
          </p:nvSpPr>
          <p:spPr bwMode="auto">
            <a:xfrm flipH="1">
              <a:off x="1733" y="1421"/>
              <a:ext cx="0" cy="771"/>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5568" name="Line 31"/>
            <p:cNvSpPr>
              <a:spLocks noChangeShapeType="1"/>
            </p:cNvSpPr>
            <p:nvPr/>
          </p:nvSpPr>
          <p:spPr bwMode="auto">
            <a:xfrm flipH="1">
              <a:off x="1727" y="2188"/>
              <a:ext cx="0" cy="79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5569" name="Line 32"/>
            <p:cNvSpPr>
              <a:spLocks noChangeShapeType="1"/>
            </p:cNvSpPr>
            <p:nvPr/>
          </p:nvSpPr>
          <p:spPr bwMode="auto">
            <a:xfrm flipH="1">
              <a:off x="1159" y="870"/>
              <a:ext cx="0" cy="2112"/>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5570" name="Line 33"/>
            <p:cNvSpPr>
              <a:spLocks noChangeShapeType="1"/>
            </p:cNvSpPr>
            <p:nvPr/>
          </p:nvSpPr>
          <p:spPr bwMode="auto">
            <a:xfrm flipH="1">
              <a:off x="1033" y="870"/>
              <a:ext cx="7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1" name="Line 34"/>
            <p:cNvSpPr>
              <a:spLocks noChangeShapeType="1"/>
            </p:cNvSpPr>
            <p:nvPr/>
          </p:nvSpPr>
          <p:spPr bwMode="auto">
            <a:xfrm flipH="1">
              <a:off x="1587" y="1422"/>
              <a:ext cx="1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2" name="Line 35"/>
            <p:cNvSpPr>
              <a:spLocks noChangeShapeType="1"/>
            </p:cNvSpPr>
            <p:nvPr/>
          </p:nvSpPr>
          <p:spPr bwMode="auto">
            <a:xfrm flipH="1">
              <a:off x="1527" y="2198"/>
              <a:ext cx="2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3" name="Line 36"/>
            <p:cNvSpPr>
              <a:spLocks noChangeShapeType="1"/>
            </p:cNvSpPr>
            <p:nvPr/>
          </p:nvSpPr>
          <p:spPr bwMode="auto">
            <a:xfrm flipH="1">
              <a:off x="997" y="2974"/>
              <a:ext cx="7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4" name="Text Box 37"/>
            <p:cNvSpPr txBox="1">
              <a:spLocks noChangeArrowheads="1"/>
            </p:cNvSpPr>
            <p:nvPr/>
          </p:nvSpPr>
          <p:spPr bwMode="auto">
            <a:xfrm>
              <a:off x="1144" y="3105"/>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ea typeface="幼圆" pitchFamily="49" charset="-122"/>
                </a:rPr>
                <a:t>质量</a:t>
              </a:r>
            </a:p>
          </p:txBody>
        </p:sp>
      </p:grpSp>
      <p:grpSp>
        <p:nvGrpSpPr>
          <p:cNvPr id="6" name="Group 38"/>
          <p:cNvGrpSpPr>
            <a:grpSpLocks/>
          </p:cNvGrpSpPr>
          <p:nvPr/>
        </p:nvGrpSpPr>
        <p:grpSpPr bwMode="auto">
          <a:xfrm>
            <a:off x="5924552" y="1260475"/>
            <a:ext cx="1830388" cy="4029075"/>
            <a:chOff x="3872" y="874"/>
            <a:chExt cx="1153" cy="2538"/>
          </a:xfrm>
        </p:grpSpPr>
        <p:sp>
          <p:nvSpPr>
            <p:cNvPr id="65546" name="Text Box 39"/>
            <p:cNvSpPr txBox="1">
              <a:spLocks noChangeArrowheads="1"/>
            </p:cNvSpPr>
            <p:nvPr/>
          </p:nvSpPr>
          <p:spPr bwMode="auto">
            <a:xfrm>
              <a:off x="3974" y="922"/>
              <a:ext cx="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err="1"/>
                <a:t>V</a:t>
              </a:r>
              <a:r>
                <a:rPr kumimoji="1" lang="en-US" altLang="zh-CN" sz="2800" b="1" baseline="-25000" dirty="0" err="1"/>
                <a:t>a</a:t>
              </a:r>
              <a:endParaRPr kumimoji="1" lang="en-US" altLang="zh-CN" sz="2800" b="1" dirty="0"/>
            </a:p>
          </p:txBody>
        </p:sp>
        <p:sp>
          <p:nvSpPr>
            <p:cNvPr id="65547" name="Text Box 40"/>
            <p:cNvSpPr txBox="1">
              <a:spLocks noChangeArrowheads="1"/>
            </p:cNvSpPr>
            <p:nvPr/>
          </p:nvSpPr>
          <p:spPr bwMode="auto">
            <a:xfrm>
              <a:off x="3974" y="1555"/>
              <a:ext cx="37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err="1"/>
                <a:t>V</a:t>
              </a:r>
              <a:r>
                <a:rPr kumimoji="1" lang="en-US" altLang="zh-CN" sz="2800" b="1" baseline="-25000" dirty="0" err="1"/>
                <a:t>w</a:t>
              </a:r>
              <a:endParaRPr kumimoji="1" lang="en-US" altLang="zh-CN" sz="2800" b="1" dirty="0"/>
            </a:p>
          </p:txBody>
        </p:sp>
        <p:sp>
          <p:nvSpPr>
            <p:cNvPr id="65548" name="Text Box 41"/>
            <p:cNvSpPr txBox="1">
              <a:spLocks noChangeArrowheads="1"/>
            </p:cNvSpPr>
            <p:nvPr/>
          </p:nvSpPr>
          <p:spPr bwMode="auto">
            <a:xfrm>
              <a:off x="3973" y="2428"/>
              <a:ext cx="33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err="1"/>
                <a:t>V</a:t>
              </a:r>
              <a:r>
                <a:rPr kumimoji="1" lang="en-US" altLang="zh-CN" sz="2800" b="1" baseline="-25000" dirty="0" err="1"/>
                <a:t>s</a:t>
              </a:r>
              <a:endParaRPr kumimoji="1" lang="en-US" altLang="zh-CN" sz="2800" b="1" dirty="0"/>
            </a:p>
          </p:txBody>
        </p:sp>
        <p:sp>
          <p:nvSpPr>
            <p:cNvPr id="65549" name="Text Box 42"/>
            <p:cNvSpPr txBox="1">
              <a:spLocks noChangeArrowheads="1"/>
            </p:cNvSpPr>
            <p:nvPr/>
          </p:nvSpPr>
          <p:spPr bwMode="auto">
            <a:xfrm>
              <a:off x="4406" y="1258"/>
              <a:ext cx="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err="1"/>
                <a:t>V</a:t>
              </a:r>
              <a:r>
                <a:rPr kumimoji="1" lang="en-US" altLang="zh-CN" sz="2800" b="1" baseline="-25000" dirty="0" err="1"/>
                <a:t>v</a:t>
              </a:r>
              <a:endParaRPr kumimoji="1" lang="en-US" altLang="zh-CN" sz="2800" b="1" dirty="0"/>
            </a:p>
          </p:txBody>
        </p:sp>
        <p:sp>
          <p:nvSpPr>
            <p:cNvPr id="65550" name="Text Box 43"/>
            <p:cNvSpPr txBox="1">
              <a:spLocks noChangeArrowheads="1"/>
            </p:cNvSpPr>
            <p:nvPr/>
          </p:nvSpPr>
          <p:spPr bwMode="auto">
            <a:xfrm>
              <a:off x="4758" y="1603"/>
              <a:ext cx="26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800" b="1" i="1" dirty="0"/>
                <a:t>V</a:t>
              </a:r>
            </a:p>
          </p:txBody>
        </p:sp>
        <p:grpSp>
          <p:nvGrpSpPr>
            <p:cNvPr id="65551" name="Group 44"/>
            <p:cNvGrpSpPr>
              <a:grpSpLocks/>
            </p:cNvGrpSpPr>
            <p:nvPr/>
          </p:nvGrpSpPr>
          <p:grpSpPr bwMode="auto">
            <a:xfrm>
              <a:off x="3872" y="874"/>
              <a:ext cx="962" cy="2112"/>
              <a:chOff x="3802" y="874"/>
              <a:chExt cx="962" cy="2112"/>
            </a:xfrm>
          </p:grpSpPr>
          <p:sp>
            <p:nvSpPr>
              <p:cNvPr id="65553" name="Line 45"/>
              <p:cNvSpPr>
                <a:spLocks noChangeShapeType="1"/>
              </p:cNvSpPr>
              <p:nvPr/>
            </p:nvSpPr>
            <p:spPr bwMode="auto">
              <a:xfrm>
                <a:off x="3856" y="874"/>
                <a:ext cx="0" cy="557"/>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5554" name="Line 46"/>
              <p:cNvSpPr>
                <a:spLocks noChangeShapeType="1"/>
              </p:cNvSpPr>
              <p:nvPr/>
            </p:nvSpPr>
            <p:spPr bwMode="auto">
              <a:xfrm>
                <a:off x="3850" y="1425"/>
                <a:ext cx="0" cy="771"/>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5555" name="Line 47"/>
              <p:cNvSpPr>
                <a:spLocks noChangeShapeType="1"/>
              </p:cNvSpPr>
              <p:nvPr/>
            </p:nvSpPr>
            <p:spPr bwMode="auto">
              <a:xfrm>
                <a:off x="3856" y="2192"/>
                <a:ext cx="0" cy="79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5556" name="Line 48"/>
              <p:cNvSpPr>
                <a:spLocks noChangeShapeType="1"/>
              </p:cNvSpPr>
              <p:nvPr/>
            </p:nvSpPr>
            <p:spPr bwMode="auto">
              <a:xfrm>
                <a:off x="4336" y="874"/>
                <a:ext cx="0" cy="1322"/>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5557" name="Line 49"/>
              <p:cNvSpPr>
                <a:spLocks noChangeShapeType="1"/>
              </p:cNvSpPr>
              <p:nvPr/>
            </p:nvSpPr>
            <p:spPr bwMode="auto">
              <a:xfrm>
                <a:off x="4672" y="874"/>
                <a:ext cx="0" cy="2112"/>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5558" name="Line 50"/>
              <p:cNvSpPr>
                <a:spLocks noChangeShapeType="1"/>
              </p:cNvSpPr>
              <p:nvPr/>
            </p:nvSpPr>
            <p:spPr bwMode="auto">
              <a:xfrm>
                <a:off x="3806" y="874"/>
                <a:ext cx="95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9" name="Line 51"/>
              <p:cNvSpPr>
                <a:spLocks noChangeShapeType="1"/>
              </p:cNvSpPr>
              <p:nvPr/>
            </p:nvSpPr>
            <p:spPr bwMode="auto">
              <a:xfrm>
                <a:off x="3802" y="1426"/>
                <a:ext cx="1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0" name="Line 52"/>
              <p:cNvSpPr>
                <a:spLocks noChangeShapeType="1"/>
              </p:cNvSpPr>
              <p:nvPr/>
            </p:nvSpPr>
            <p:spPr bwMode="auto">
              <a:xfrm>
                <a:off x="3802" y="2202"/>
                <a:ext cx="6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1" name="Line 53"/>
              <p:cNvSpPr>
                <a:spLocks noChangeShapeType="1"/>
              </p:cNvSpPr>
              <p:nvPr/>
            </p:nvSpPr>
            <p:spPr bwMode="auto">
              <a:xfrm>
                <a:off x="3802" y="2978"/>
                <a:ext cx="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5552" name="Text Box 54"/>
            <p:cNvSpPr txBox="1">
              <a:spLocks noChangeArrowheads="1"/>
            </p:cNvSpPr>
            <p:nvPr/>
          </p:nvSpPr>
          <p:spPr bwMode="auto">
            <a:xfrm>
              <a:off x="3938" y="3124"/>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ea typeface="幼圆" pitchFamily="49" charset="-122"/>
                </a:rPr>
                <a:t>体积</a:t>
              </a:r>
            </a:p>
          </p:txBody>
        </p:sp>
      </p:grpSp>
      <p:sp>
        <p:nvSpPr>
          <p:cNvPr id="47"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12704697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nodeType="afterGroup">
                            <p:stCondLst>
                              <p:cond delay="2000"/>
                            </p:stCondLst>
                            <p:childTnLst>
                              <p:par>
                                <p:cTn id="9" presetID="10" presetClass="entr" presetSubtype="0" fill="hold" nodeType="afterEffect">
                                  <p:stCondLst>
                                    <p:cond delay="10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000"/>
                                        <p:tgtEl>
                                          <p:spTgt spid="3"/>
                                        </p:tgtEl>
                                      </p:cBhvr>
                                    </p:animEffect>
                                  </p:childTnLst>
                                </p:cTn>
                              </p:par>
                            </p:childTnLst>
                          </p:cTn>
                        </p:par>
                        <p:par>
                          <p:cTn id="12" fill="hold" nodeType="afterGroup">
                            <p:stCondLst>
                              <p:cond delay="5000"/>
                            </p:stCondLst>
                            <p:childTnLst>
                              <p:par>
                                <p:cTn id="13" presetID="10" presetClass="entr" presetSubtype="0" fill="hold" nodeType="afterEffect">
                                  <p:stCondLst>
                                    <p:cond delay="100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2000"/>
                                        <p:tgtEl>
                                          <p:spTgt spid="2"/>
                                        </p:tgtEl>
                                      </p:cBhvr>
                                    </p:animEffect>
                                  </p:childTnLst>
                                </p:cTn>
                              </p:par>
                            </p:childTnLst>
                          </p:cTn>
                        </p:par>
                        <p:par>
                          <p:cTn id="16" fill="hold" nodeType="withGroup">
                            <p:stCondLst>
                              <p:cond delay="8000"/>
                            </p:stCondLst>
                            <p:childTnLst>
                              <p:par>
                                <p:cTn id="17" presetID="2" presetClass="entr" presetSubtype="2"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2000" fill="hold"/>
                                        <p:tgtEl>
                                          <p:spTgt spid="6"/>
                                        </p:tgtEl>
                                        <p:attrNameLst>
                                          <p:attrName>ppt_x</p:attrName>
                                        </p:attrNameLst>
                                      </p:cBhvr>
                                      <p:tavLst>
                                        <p:tav tm="0">
                                          <p:val>
                                            <p:strVal val="1+#ppt_w/2"/>
                                          </p:val>
                                        </p:tav>
                                        <p:tav tm="100000">
                                          <p:val>
                                            <p:strVal val="#ppt_x"/>
                                          </p:val>
                                        </p:tav>
                                      </p:tavLst>
                                    </p:anim>
                                    <p:anim calcmode="lin" valueType="num">
                                      <p:cBhvr additive="base">
                                        <p:cTn id="20" dur="20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2000" fill="hold"/>
                                        <p:tgtEl>
                                          <p:spTgt spid="5"/>
                                        </p:tgtEl>
                                        <p:attrNameLst>
                                          <p:attrName>ppt_x</p:attrName>
                                        </p:attrNameLst>
                                      </p:cBhvr>
                                      <p:tavLst>
                                        <p:tav tm="0">
                                          <p:val>
                                            <p:strVal val="0-#ppt_w/2"/>
                                          </p:val>
                                        </p:tav>
                                        <p:tav tm="100000">
                                          <p:val>
                                            <p:strVal val="#ppt_x"/>
                                          </p:val>
                                        </p:tav>
                                      </p:tavLst>
                                    </p:anim>
                                    <p:anim calcmode="lin" valueType="num">
                                      <p:cBhvr additive="base">
                                        <p:cTn id="24" dur="2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1137683" y="2402946"/>
            <a:ext cx="2779200" cy="3009014"/>
          </a:xfrm>
          <a:prstGeom prst="roundRect">
            <a:avLst>
              <a:gd name="adj" fmla="val 9901"/>
            </a:avLst>
          </a:prstGeom>
          <a:solidFill>
            <a:srgbClr val="FFFF99"/>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7" name="Text Box 13"/>
          <p:cNvSpPr txBox="1">
            <a:spLocks noChangeArrowheads="1"/>
          </p:cNvSpPr>
          <p:nvPr/>
        </p:nvSpPr>
        <p:spPr bwMode="auto">
          <a:xfrm>
            <a:off x="3646488" y="5865813"/>
            <a:ext cx="34353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20000"/>
              </a:spcBef>
              <a:spcAft>
                <a:spcPct val="0"/>
              </a:spcAft>
              <a:buClr>
                <a:schemeClr val="folHlink"/>
              </a:buClr>
              <a:buSzPct val="85000"/>
              <a:buFont typeface="Wingdings 2" pitchFamily="18" charset="2"/>
              <a:buNone/>
            </a:pPr>
            <a:r>
              <a:rPr kumimoji="1" lang="zh-CN" altLang="en-US" sz="4000" b="1">
                <a:solidFill>
                  <a:srgbClr val="000066"/>
                </a:solidFill>
                <a:ea typeface="黑体" pitchFamily="2" charset="-122"/>
              </a:rPr>
              <a:t>三 相 草 图</a:t>
            </a:r>
            <a:endParaRPr lang="zh-CN" altLang="en-US" sz="4000" b="1">
              <a:solidFill>
                <a:srgbClr val="000066"/>
              </a:solidFill>
              <a:ea typeface="黑体" pitchFamily="2" charset="-122"/>
            </a:endParaRPr>
          </a:p>
        </p:txBody>
      </p:sp>
      <p:sp>
        <p:nvSpPr>
          <p:cNvPr id="3126" name="AutoShape 16"/>
          <p:cNvSpPr>
            <a:spLocks noChangeArrowheads="1"/>
          </p:cNvSpPr>
          <p:nvPr/>
        </p:nvSpPr>
        <p:spPr bwMode="auto">
          <a:xfrm>
            <a:off x="1142708" y="829391"/>
            <a:ext cx="2780708" cy="1328023"/>
          </a:xfrm>
          <a:prstGeom prst="roundRect">
            <a:avLst>
              <a:gd name="adj" fmla="val 16667"/>
            </a:avLst>
          </a:prstGeom>
          <a:solidFill>
            <a:srgbClr val="FFFF99"/>
          </a:solidFill>
          <a:ln w="28575">
            <a:solidFill>
              <a:srgbClr val="C00000"/>
            </a:solidFill>
            <a:round/>
            <a:headEnd/>
            <a:tailEnd/>
          </a:ln>
          <a:extLst/>
        </p:spPr>
        <p:txBody>
          <a:bodyPr wrap="square">
            <a:spAutoFit/>
          </a:bodyPr>
          <a:lstStyle/>
          <a:p>
            <a:pPr>
              <a:lnSpc>
                <a:spcPct val="100000"/>
              </a:lnSpc>
              <a:spcBef>
                <a:spcPct val="20000"/>
              </a:spcBef>
              <a:spcAft>
                <a:spcPct val="0"/>
              </a:spcAft>
            </a:pPr>
            <a:r>
              <a:rPr kumimoji="1" lang="en-US" altLang="zh-CN" sz="2400" b="1" dirty="0" smtClean="0">
                <a:solidFill>
                  <a:srgbClr val="000066"/>
                </a:solidFill>
                <a:latin typeface="Arial" charset="0"/>
                <a:ea typeface="幼圆" pitchFamily="49" charset="-122"/>
              </a:rPr>
              <a:t> </a:t>
            </a:r>
            <a:r>
              <a:rPr kumimoji="1" lang="en-US" altLang="zh-CN" sz="2400" b="1" dirty="0" smtClean="0">
                <a:solidFill>
                  <a:srgbClr val="C00000"/>
                </a:solidFill>
                <a:ea typeface="幼圆" pitchFamily="49" charset="-122"/>
                <a:cs typeface="Times New Roman" panose="02020603050405020304" pitchFamily="18" charset="0"/>
              </a:rPr>
              <a:t>9</a:t>
            </a:r>
            <a:r>
              <a:rPr kumimoji="1" lang="zh-CN" altLang="en-US" sz="2400" b="1" dirty="0" smtClean="0">
                <a:solidFill>
                  <a:srgbClr val="C00000"/>
                </a:solidFill>
                <a:ea typeface="幼圆" pitchFamily="49" charset="-122"/>
                <a:cs typeface="Times New Roman" panose="02020603050405020304" pitchFamily="18" charset="0"/>
              </a:rPr>
              <a:t>个未知物理量</a:t>
            </a:r>
            <a:r>
              <a:rPr kumimoji="1" lang="en-US" altLang="zh-CN" sz="2400" b="1" dirty="0">
                <a:solidFill>
                  <a:srgbClr val="C00000"/>
                </a:solidFill>
                <a:ea typeface="幼圆" pitchFamily="49" charset="-122"/>
                <a:cs typeface="Times New Roman" panose="02020603050405020304" pitchFamily="18" charset="0"/>
              </a:rPr>
              <a:t>:</a:t>
            </a:r>
            <a:r>
              <a:rPr kumimoji="1" lang="en-US" altLang="zh-CN" sz="2000" b="1" dirty="0">
                <a:solidFill>
                  <a:srgbClr val="C00000"/>
                </a:solidFill>
                <a:ea typeface="幼圆" pitchFamily="49" charset="-122"/>
                <a:cs typeface="Times New Roman" panose="02020603050405020304" pitchFamily="18" charset="0"/>
              </a:rPr>
              <a:t>   </a:t>
            </a:r>
            <a:endParaRPr kumimoji="1" lang="en-US" altLang="zh-CN" sz="2000" b="1" u="sng" dirty="0">
              <a:solidFill>
                <a:srgbClr val="C00000"/>
              </a:solidFill>
              <a:ea typeface="幼圆" pitchFamily="49" charset="-122"/>
              <a:cs typeface="Times New Roman" panose="02020603050405020304" pitchFamily="18" charset="0"/>
            </a:endParaRPr>
          </a:p>
          <a:p>
            <a:pPr algn="ctr">
              <a:lnSpc>
                <a:spcPct val="100000"/>
              </a:lnSpc>
              <a:spcBef>
                <a:spcPct val="20000"/>
              </a:spcBef>
              <a:spcAft>
                <a:spcPct val="0"/>
              </a:spcAft>
              <a:buFont typeface="Wingdings" pitchFamily="2" charset="2"/>
              <a:buNone/>
            </a:pPr>
            <a:r>
              <a:rPr kumimoji="1" lang="en-US" altLang="zh-CN" sz="2000" b="1" i="1" dirty="0">
                <a:solidFill>
                  <a:srgbClr val="000066"/>
                </a:solidFill>
                <a:ea typeface="幼圆" pitchFamily="49" charset="-122"/>
              </a:rPr>
              <a:t>V  </a:t>
            </a:r>
            <a:r>
              <a:rPr kumimoji="1" lang="en-US" altLang="zh-CN" sz="2000" b="1" i="1" dirty="0" err="1">
                <a:solidFill>
                  <a:srgbClr val="000066"/>
                </a:solidFill>
                <a:ea typeface="幼圆" pitchFamily="49" charset="-122"/>
              </a:rPr>
              <a:t>V</a:t>
            </a:r>
            <a:r>
              <a:rPr kumimoji="1" lang="en-US" altLang="zh-CN" sz="2000" b="1" i="1" baseline="-25000" dirty="0" err="1">
                <a:solidFill>
                  <a:srgbClr val="000066"/>
                </a:solidFill>
                <a:ea typeface="幼圆" pitchFamily="49" charset="-122"/>
              </a:rPr>
              <a:t>v</a:t>
            </a:r>
            <a:r>
              <a:rPr kumimoji="1" lang="en-US" altLang="zh-CN" sz="2000" b="1" i="1" baseline="-25000" dirty="0">
                <a:solidFill>
                  <a:srgbClr val="000066"/>
                </a:solidFill>
                <a:ea typeface="幼圆" pitchFamily="49" charset="-122"/>
              </a:rPr>
              <a:t> </a:t>
            </a:r>
            <a:r>
              <a:rPr kumimoji="1" lang="en-US" altLang="zh-CN" sz="2000" b="1" i="1" dirty="0">
                <a:solidFill>
                  <a:srgbClr val="000066"/>
                </a:solidFill>
                <a:ea typeface="幼圆" pitchFamily="49" charset="-122"/>
              </a:rPr>
              <a:t> V</a:t>
            </a:r>
            <a:r>
              <a:rPr kumimoji="1" lang="en-US" altLang="zh-CN" sz="2000" b="1" i="1" baseline="-25000" dirty="0">
                <a:solidFill>
                  <a:srgbClr val="000066"/>
                </a:solidFill>
                <a:ea typeface="幼圆" pitchFamily="49" charset="-122"/>
              </a:rPr>
              <a:t>s </a:t>
            </a:r>
            <a:r>
              <a:rPr kumimoji="1" lang="en-US" altLang="zh-CN" sz="2000" b="1" i="1" dirty="0">
                <a:solidFill>
                  <a:srgbClr val="000066"/>
                </a:solidFill>
                <a:ea typeface="幼圆" pitchFamily="49" charset="-122"/>
              </a:rPr>
              <a:t> </a:t>
            </a:r>
            <a:r>
              <a:rPr kumimoji="1" lang="en-US" altLang="zh-CN" sz="2000" b="1" i="1" dirty="0" err="1">
                <a:solidFill>
                  <a:srgbClr val="000066"/>
                </a:solidFill>
                <a:ea typeface="幼圆" pitchFamily="49" charset="-122"/>
              </a:rPr>
              <a:t>V</a:t>
            </a:r>
            <a:r>
              <a:rPr kumimoji="1" lang="en-US" altLang="zh-CN" sz="2000" b="1" i="1" baseline="-25000" dirty="0" err="1">
                <a:solidFill>
                  <a:srgbClr val="000066"/>
                </a:solidFill>
                <a:ea typeface="幼圆" pitchFamily="49" charset="-122"/>
              </a:rPr>
              <a:t>a</a:t>
            </a:r>
            <a:r>
              <a:rPr kumimoji="1" lang="en-US" altLang="zh-CN" sz="2000" b="1" i="1" dirty="0">
                <a:solidFill>
                  <a:srgbClr val="000066"/>
                </a:solidFill>
                <a:ea typeface="幼圆" pitchFamily="49" charset="-122"/>
              </a:rPr>
              <a:t>  </a:t>
            </a:r>
            <a:r>
              <a:rPr kumimoji="1" lang="en-US" altLang="zh-CN" sz="2000" b="1" i="1" dirty="0" err="1" smtClean="0">
                <a:solidFill>
                  <a:srgbClr val="000066"/>
                </a:solidFill>
                <a:ea typeface="幼圆" pitchFamily="49" charset="-122"/>
              </a:rPr>
              <a:t>V</a:t>
            </a:r>
            <a:r>
              <a:rPr kumimoji="1" lang="en-US" altLang="zh-CN" sz="2000" b="1" i="1" baseline="-25000" dirty="0" err="1" smtClean="0">
                <a:solidFill>
                  <a:srgbClr val="000066"/>
                </a:solidFill>
                <a:cs typeface="Times New Roman" pitchFamily="18" charset="0"/>
              </a:rPr>
              <a:t>w</a:t>
            </a:r>
            <a:r>
              <a:rPr kumimoji="1" lang="en-US" altLang="zh-CN" sz="2000" b="1" i="1" baseline="-25000" dirty="0" smtClean="0">
                <a:solidFill>
                  <a:srgbClr val="000066"/>
                </a:solidFill>
                <a:cs typeface="Times New Roman" pitchFamily="18" charset="0"/>
              </a:rPr>
              <a:t>  </a:t>
            </a:r>
          </a:p>
          <a:p>
            <a:pPr algn="ctr">
              <a:lnSpc>
                <a:spcPct val="100000"/>
              </a:lnSpc>
              <a:spcBef>
                <a:spcPct val="20000"/>
              </a:spcBef>
              <a:spcAft>
                <a:spcPct val="0"/>
              </a:spcAft>
              <a:buFont typeface="Wingdings" pitchFamily="2" charset="2"/>
              <a:buNone/>
            </a:pPr>
            <a:r>
              <a:rPr kumimoji="1" lang="en-US" altLang="zh-CN" sz="2000" b="1" i="1" dirty="0" err="1" smtClean="0">
                <a:solidFill>
                  <a:srgbClr val="000066"/>
                </a:solidFill>
                <a:ea typeface="幼圆" pitchFamily="49" charset="-122"/>
              </a:rPr>
              <a:t>m</a:t>
            </a:r>
            <a:r>
              <a:rPr kumimoji="1" lang="en-US" altLang="zh-CN" sz="2000" b="1" i="1" baseline="-25000" dirty="0" err="1" smtClean="0">
                <a:solidFill>
                  <a:srgbClr val="000066"/>
                </a:solidFill>
                <a:ea typeface="幼圆" pitchFamily="49" charset="-122"/>
              </a:rPr>
              <a:t>s</a:t>
            </a:r>
            <a:r>
              <a:rPr kumimoji="1" lang="en-US" altLang="zh-CN" sz="2000" b="1" i="1" dirty="0" smtClean="0">
                <a:solidFill>
                  <a:srgbClr val="000066"/>
                </a:solidFill>
                <a:ea typeface="幼圆" pitchFamily="49" charset="-122"/>
              </a:rPr>
              <a:t> </a:t>
            </a:r>
            <a:r>
              <a:rPr kumimoji="1" lang="en-US" altLang="zh-CN" sz="2000" b="1" i="1" dirty="0">
                <a:solidFill>
                  <a:srgbClr val="000066"/>
                </a:solidFill>
                <a:ea typeface="幼圆" pitchFamily="49" charset="-122"/>
              </a:rPr>
              <a:t>m</a:t>
            </a:r>
            <a:r>
              <a:rPr kumimoji="1" lang="en-US" altLang="zh-CN" sz="2000" b="1" i="1" baseline="-25000" dirty="0">
                <a:solidFill>
                  <a:srgbClr val="000066"/>
                </a:solidFill>
                <a:ea typeface="幼圆" pitchFamily="49" charset="-122"/>
              </a:rPr>
              <a:t> w</a:t>
            </a:r>
            <a:r>
              <a:rPr kumimoji="1" lang="en-US" altLang="zh-CN" sz="2000" b="1" i="1" dirty="0">
                <a:solidFill>
                  <a:srgbClr val="000066"/>
                </a:solidFill>
                <a:ea typeface="幼圆" pitchFamily="49" charset="-122"/>
              </a:rPr>
              <a:t> m</a:t>
            </a:r>
            <a:r>
              <a:rPr kumimoji="1" lang="en-US" altLang="zh-CN" sz="2000" b="1" i="1" baseline="-25000" dirty="0">
                <a:solidFill>
                  <a:srgbClr val="000066"/>
                </a:solidFill>
                <a:ea typeface="幼圆" pitchFamily="49" charset="-122"/>
              </a:rPr>
              <a:t>a</a:t>
            </a:r>
            <a:r>
              <a:rPr kumimoji="1" lang="en-US" altLang="zh-CN" sz="2000" b="1" i="1" dirty="0">
                <a:solidFill>
                  <a:srgbClr val="000066"/>
                </a:solidFill>
                <a:ea typeface="幼圆" pitchFamily="49" charset="-122"/>
              </a:rPr>
              <a:t>  </a:t>
            </a:r>
            <a:r>
              <a:rPr kumimoji="1" lang="en-US" altLang="zh-CN" sz="2000" b="1" i="1" dirty="0" smtClean="0">
                <a:solidFill>
                  <a:srgbClr val="000066"/>
                </a:solidFill>
                <a:ea typeface="幼圆" pitchFamily="49" charset="-122"/>
              </a:rPr>
              <a:t>m</a:t>
            </a:r>
            <a:endParaRPr kumimoji="1" lang="en-US" altLang="zh-CN" sz="2000" b="1" i="1" dirty="0">
              <a:solidFill>
                <a:srgbClr val="000066"/>
              </a:solidFill>
              <a:ea typeface="幼圆" pitchFamily="49" charset="-122"/>
            </a:endParaRPr>
          </a:p>
        </p:txBody>
      </p:sp>
      <p:sp>
        <p:nvSpPr>
          <p:cNvPr id="3123" name="Rectangle 20"/>
          <p:cNvSpPr>
            <a:spLocks noChangeArrowheads="1"/>
          </p:cNvSpPr>
          <p:nvPr/>
        </p:nvSpPr>
        <p:spPr bwMode="auto">
          <a:xfrm>
            <a:off x="1389206" y="2360911"/>
            <a:ext cx="2077004"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p>
            <a:pPr>
              <a:lnSpc>
                <a:spcPct val="130000"/>
              </a:lnSpc>
              <a:spcBef>
                <a:spcPct val="50000"/>
              </a:spcBef>
              <a:spcAft>
                <a:spcPct val="0"/>
              </a:spcAft>
            </a:pPr>
            <a:r>
              <a:rPr kumimoji="1" lang="zh-CN" altLang="en-US" sz="2400" b="1" dirty="0" smtClean="0">
                <a:solidFill>
                  <a:srgbClr val="C00000"/>
                </a:solidFill>
                <a:ea typeface="幼圆" pitchFamily="49" charset="-122"/>
                <a:cs typeface="Times New Roman" panose="02020603050405020304" pitchFamily="18" charset="0"/>
              </a:rPr>
              <a:t>已知</a:t>
            </a:r>
            <a:r>
              <a:rPr kumimoji="1" lang="en-US" altLang="zh-CN" sz="2400" b="1" dirty="0" smtClean="0">
                <a:solidFill>
                  <a:srgbClr val="C00000"/>
                </a:solidFill>
                <a:ea typeface="幼圆" pitchFamily="49" charset="-122"/>
                <a:cs typeface="Times New Roman" panose="02020603050405020304" pitchFamily="18" charset="0"/>
              </a:rPr>
              <a:t>6</a:t>
            </a:r>
            <a:r>
              <a:rPr kumimoji="1" lang="zh-CN" altLang="en-US" sz="2400" b="1" dirty="0" smtClean="0">
                <a:solidFill>
                  <a:srgbClr val="C00000"/>
                </a:solidFill>
                <a:ea typeface="幼圆" pitchFamily="49" charset="-122"/>
                <a:cs typeface="Times New Roman" panose="02020603050405020304" pitchFamily="18" charset="0"/>
              </a:rPr>
              <a:t>个条件</a:t>
            </a:r>
            <a:r>
              <a:rPr kumimoji="1" lang="en-US" altLang="zh-CN" sz="2400" b="1" dirty="0" smtClean="0">
                <a:solidFill>
                  <a:srgbClr val="C00000"/>
                </a:solidFill>
                <a:ea typeface="幼圆" pitchFamily="49" charset="-122"/>
                <a:cs typeface="Times New Roman" panose="02020603050405020304" pitchFamily="18" charset="0"/>
              </a:rPr>
              <a:t>:</a:t>
            </a:r>
            <a:endParaRPr kumimoji="1" lang="zh-CN" altLang="en-US" sz="2400" b="1" dirty="0">
              <a:solidFill>
                <a:srgbClr val="C00000"/>
              </a:solidFill>
              <a:ea typeface="幼圆" pitchFamily="49" charset="-122"/>
              <a:cs typeface="Times New Roman" panose="02020603050405020304" pitchFamily="18" charset="0"/>
            </a:endParaRPr>
          </a:p>
        </p:txBody>
      </p:sp>
      <p:sp>
        <p:nvSpPr>
          <p:cNvPr id="1383484" name="AutoShape 60"/>
          <p:cNvSpPr>
            <a:spLocks noChangeArrowheads="1"/>
          </p:cNvSpPr>
          <p:nvPr/>
        </p:nvSpPr>
        <p:spPr bwMode="auto">
          <a:xfrm>
            <a:off x="4216846" y="1688812"/>
            <a:ext cx="1269554" cy="1309570"/>
          </a:xfrm>
          <a:prstGeom prst="chevron">
            <a:avLst>
              <a:gd name="adj" fmla="val 32292"/>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55"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pSp>
        <p:nvGrpSpPr>
          <p:cNvPr id="6" name="组合 5"/>
          <p:cNvGrpSpPr/>
          <p:nvPr/>
        </p:nvGrpSpPr>
        <p:grpSpPr>
          <a:xfrm>
            <a:off x="1233364" y="2934609"/>
            <a:ext cx="2573381" cy="2419124"/>
            <a:chOff x="4795277" y="1158948"/>
            <a:chExt cx="2573381" cy="2419124"/>
          </a:xfrm>
        </p:grpSpPr>
        <p:graphicFrame>
          <p:nvGraphicFramePr>
            <p:cNvPr id="3075" name="Object 19"/>
            <p:cNvGraphicFramePr>
              <a:graphicFrameLocks noChangeAspect="1"/>
            </p:cNvGraphicFramePr>
            <p:nvPr>
              <p:extLst>
                <p:ext uri="{D42A27DB-BD31-4B8C-83A1-F6EECF244321}">
                  <p14:modId xmlns:p14="http://schemas.microsoft.com/office/powerpoint/2010/main" val="525570816"/>
                </p:ext>
              </p:extLst>
            </p:nvPr>
          </p:nvGraphicFramePr>
          <p:xfrm>
            <a:off x="5492233" y="1537623"/>
            <a:ext cx="1876425" cy="1990725"/>
          </p:xfrm>
          <a:graphic>
            <a:graphicData uri="http://schemas.openxmlformats.org/presentationml/2006/ole">
              <mc:AlternateContent xmlns:mc="http://schemas.openxmlformats.org/markup-compatibility/2006">
                <mc:Choice xmlns:v="urn:schemas-microsoft-com:vml" Requires="v">
                  <p:oleObj spid="_x0000_s53361" name="公式" r:id="rId4" imgW="1168200" imgH="1168200" progId="Equation.3">
                    <p:embed/>
                  </p:oleObj>
                </mc:Choice>
                <mc:Fallback>
                  <p:oleObj name="公式" r:id="rId4" imgW="1168200" imgH="1168200" progId="Equation.3">
                    <p:embed/>
                    <p:pic>
                      <p:nvPicPr>
                        <p:cNvPr id="0" name=""/>
                        <p:cNvPicPr>
                          <a:picLocks noChangeAspect="1" noChangeArrowheads="1"/>
                        </p:cNvPicPr>
                        <p:nvPr/>
                      </p:nvPicPr>
                      <p:blipFill>
                        <a:blip r:embed="rId5"/>
                        <a:srcRect/>
                        <a:stretch>
                          <a:fillRect/>
                        </a:stretch>
                      </p:blipFill>
                      <p:spPr bwMode="auto">
                        <a:xfrm>
                          <a:off x="5492233" y="1537623"/>
                          <a:ext cx="1876425" cy="1990725"/>
                        </a:xfrm>
                        <a:prstGeom prst="rect">
                          <a:avLst/>
                        </a:prstGeom>
                        <a:noFill/>
                        <a:ln>
                          <a:noFill/>
                        </a:ln>
                        <a:effectLst/>
                        <a:extLst>
                          <a:ext uri="{909E8E84-426E-40DD-AFC4-6F175D3DCCD1}">
                            <a14:hiddenFill xmlns:a14="http://schemas.microsoft.com/office/drawing/2010/main">
                              <a:solidFill>
                                <a:srgbClr val="CCFF66"/>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4795277" y="1158948"/>
              <a:ext cx="2406428" cy="2419124"/>
            </a:xfrm>
            <a:prstGeom prst="rect">
              <a:avLst/>
            </a:prstGeom>
            <a:noFill/>
          </p:spPr>
          <p:txBody>
            <a:bodyPr wrap="none" rtlCol="0">
              <a:spAutoFit/>
            </a:bodyPr>
            <a:lstStyle/>
            <a:p>
              <a:r>
                <a:rPr lang="zh-CN" altLang="en-US" sz="1800" b="1" dirty="0" smtClean="0">
                  <a:ea typeface="幼圆" panose="02010509060101010101" pitchFamily="49" charset="-122"/>
                  <a:cs typeface="Times New Roman" panose="02020603050405020304" pitchFamily="18" charset="0"/>
                </a:rPr>
                <a:t>（</a:t>
              </a:r>
              <a:r>
                <a:rPr lang="en-US" altLang="zh-CN" sz="1800" b="1" dirty="0" smtClean="0">
                  <a:ea typeface="幼圆" panose="02010509060101010101" pitchFamily="49" charset="-122"/>
                  <a:cs typeface="Times New Roman" panose="02020603050405020304" pitchFamily="18" charset="0"/>
                </a:rPr>
                <a:t>1</a:t>
              </a:r>
              <a:r>
                <a:rPr lang="zh-CN" altLang="en-US" sz="1800" b="1" dirty="0" smtClean="0">
                  <a:ea typeface="幼圆" panose="02010509060101010101" pitchFamily="49" charset="-122"/>
                  <a:cs typeface="Times New Roman" panose="02020603050405020304" pitchFamily="18" charset="0"/>
                </a:rPr>
                <a:t>）可假设任一量</a:t>
              </a:r>
              <a:r>
                <a:rPr lang="en-US" altLang="zh-CN" sz="1800" b="1" dirty="0" smtClean="0">
                  <a:ea typeface="幼圆" panose="02010509060101010101" pitchFamily="49" charset="-122"/>
                  <a:cs typeface="Times New Roman" panose="02020603050405020304" pitchFamily="18" charset="0"/>
                </a:rPr>
                <a:t>=1</a:t>
              </a:r>
            </a:p>
            <a:p>
              <a:r>
                <a:rPr lang="zh-CN" altLang="en-US" sz="1800" b="1" dirty="0" smtClean="0">
                  <a:ea typeface="幼圆" panose="02010509060101010101" pitchFamily="49" charset="-122"/>
                  <a:cs typeface="Times New Roman" panose="02020603050405020304" pitchFamily="18" charset="0"/>
                </a:rPr>
                <a:t>（</a:t>
              </a:r>
              <a:r>
                <a:rPr lang="en-US" altLang="zh-CN" sz="1800" b="1" dirty="0" smtClean="0">
                  <a:ea typeface="幼圆" panose="02010509060101010101" pitchFamily="49" charset="-122"/>
                  <a:cs typeface="Times New Roman" panose="02020603050405020304" pitchFamily="18" charset="0"/>
                </a:rPr>
                <a:t>2</a:t>
              </a:r>
              <a:r>
                <a:rPr lang="zh-CN" altLang="en-US" sz="1800" b="1" dirty="0" smtClean="0">
                  <a:ea typeface="幼圆" panose="02010509060101010101" pitchFamily="49" charset="-122"/>
                  <a:cs typeface="Times New Roman" panose="02020603050405020304" pitchFamily="18" charset="0"/>
                </a:rPr>
                <a:t>）</a:t>
              </a:r>
              <a:endParaRPr lang="en-US" altLang="zh-CN" sz="1800" b="1" dirty="0" smtClean="0">
                <a:ea typeface="幼圆" panose="02010509060101010101" pitchFamily="49" charset="-122"/>
                <a:cs typeface="Times New Roman" panose="02020603050405020304" pitchFamily="18" charset="0"/>
              </a:endParaRPr>
            </a:p>
            <a:p>
              <a:r>
                <a:rPr lang="zh-CN" altLang="en-US" sz="1800" b="1" dirty="0" smtClean="0">
                  <a:ea typeface="幼圆" panose="02010509060101010101" pitchFamily="49" charset="-122"/>
                  <a:cs typeface="Times New Roman" panose="02020603050405020304" pitchFamily="18" charset="0"/>
                </a:rPr>
                <a:t>（</a:t>
              </a:r>
              <a:r>
                <a:rPr lang="en-US" altLang="zh-CN" sz="1800" b="1" dirty="0" smtClean="0">
                  <a:ea typeface="幼圆" panose="02010509060101010101" pitchFamily="49" charset="-122"/>
                  <a:cs typeface="Times New Roman" panose="02020603050405020304" pitchFamily="18" charset="0"/>
                </a:rPr>
                <a:t>3</a:t>
              </a:r>
              <a:r>
                <a:rPr lang="zh-CN" altLang="en-US" sz="1800" b="1" dirty="0" smtClean="0">
                  <a:ea typeface="幼圆" panose="02010509060101010101" pitchFamily="49" charset="-122"/>
                  <a:cs typeface="Times New Roman" panose="02020603050405020304" pitchFamily="18" charset="0"/>
                </a:rPr>
                <a:t>）</a:t>
              </a:r>
              <a:endParaRPr lang="en-US" altLang="zh-CN" sz="1800" b="1" dirty="0" smtClean="0">
                <a:ea typeface="幼圆" panose="02010509060101010101" pitchFamily="49" charset="-122"/>
                <a:cs typeface="Times New Roman" panose="02020603050405020304" pitchFamily="18" charset="0"/>
              </a:endParaRPr>
            </a:p>
            <a:p>
              <a:r>
                <a:rPr lang="zh-CN" altLang="en-US" sz="1800" b="1" dirty="0" smtClean="0">
                  <a:ea typeface="幼圆" panose="02010509060101010101" pitchFamily="49" charset="-122"/>
                  <a:cs typeface="Times New Roman" panose="02020603050405020304" pitchFamily="18" charset="0"/>
                </a:rPr>
                <a:t>（</a:t>
              </a:r>
              <a:r>
                <a:rPr lang="en-US" altLang="zh-CN" sz="1800" b="1" dirty="0" smtClean="0">
                  <a:ea typeface="幼圆" panose="02010509060101010101" pitchFamily="49" charset="-122"/>
                  <a:cs typeface="Times New Roman" panose="02020603050405020304" pitchFamily="18" charset="0"/>
                </a:rPr>
                <a:t>4</a:t>
              </a:r>
              <a:r>
                <a:rPr lang="zh-CN" altLang="en-US" sz="1800" b="1" dirty="0" smtClean="0">
                  <a:ea typeface="幼圆" panose="02010509060101010101" pitchFamily="49" charset="-122"/>
                  <a:cs typeface="Times New Roman" panose="02020603050405020304" pitchFamily="18" charset="0"/>
                </a:rPr>
                <a:t>）</a:t>
              </a:r>
              <a:endParaRPr lang="en-US" altLang="zh-CN" sz="1800" b="1" dirty="0" smtClean="0">
                <a:ea typeface="幼圆" panose="02010509060101010101" pitchFamily="49" charset="-122"/>
                <a:cs typeface="Times New Roman" panose="02020603050405020304" pitchFamily="18" charset="0"/>
              </a:endParaRPr>
            </a:p>
            <a:p>
              <a:r>
                <a:rPr lang="zh-CN" altLang="en-US" sz="1800" b="1" dirty="0" smtClean="0">
                  <a:ea typeface="幼圆" panose="02010509060101010101" pitchFamily="49" charset="-122"/>
                  <a:cs typeface="Times New Roman" panose="02020603050405020304" pitchFamily="18" charset="0"/>
                </a:rPr>
                <a:t>（</a:t>
              </a:r>
              <a:r>
                <a:rPr lang="en-US" altLang="zh-CN" sz="1800" b="1" dirty="0" smtClean="0">
                  <a:ea typeface="幼圆" panose="02010509060101010101" pitchFamily="49" charset="-122"/>
                  <a:cs typeface="Times New Roman" panose="02020603050405020304" pitchFamily="18" charset="0"/>
                </a:rPr>
                <a:t>5</a:t>
              </a:r>
              <a:r>
                <a:rPr lang="zh-CN" altLang="en-US" sz="1800" b="1" dirty="0" smtClean="0">
                  <a:ea typeface="幼圆" panose="02010509060101010101" pitchFamily="49" charset="-122"/>
                  <a:cs typeface="Times New Roman" panose="02020603050405020304" pitchFamily="18" charset="0"/>
                </a:rPr>
                <a:t>）</a:t>
              </a:r>
              <a:endParaRPr lang="en-US" altLang="zh-CN" sz="1800" b="1" dirty="0" smtClean="0">
                <a:ea typeface="幼圆" panose="02010509060101010101" pitchFamily="49" charset="-122"/>
                <a:cs typeface="Times New Roman" panose="02020603050405020304" pitchFamily="18" charset="0"/>
              </a:endParaRPr>
            </a:p>
            <a:p>
              <a:r>
                <a:rPr lang="zh-CN" altLang="en-US" sz="1800" b="1" dirty="0" smtClean="0">
                  <a:ea typeface="幼圆" panose="02010509060101010101" pitchFamily="49" charset="-122"/>
                  <a:cs typeface="Times New Roman" panose="02020603050405020304" pitchFamily="18" charset="0"/>
                </a:rPr>
                <a:t>（</a:t>
              </a:r>
              <a:r>
                <a:rPr lang="en-US" altLang="zh-CN" sz="1800" b="1" dirty="0" smtClean="0">
                  <a:ea typeface="幼圆" panose="02010509060101010101" pitchFamily="49" charset="-122"/>
                  <a:cs typeface="Times New Roman" panose="02020603050405020304" pitchFamily="18" charset="0"/>
                </a:rPr>
                <a:t>6</a:t>
              </a:r>
              <a:r>
                <a:rPr lang="zh-CN" altLang="en-US" sz="1800" b="1" dirty="0" smtClean="0">
                  <a:ea typeface="幼圆" panose="02010509060101010101" pitchFamily="49" charset="-122"/>
                  <a:cs typeface="Times New Roman" panose="02020603050405020304" pitchFamily="18" charset="0"/>
                </a:rPr>
                <a:t>）</a:t>
              </a:r>
              <a:endParaRPr lang="zh-CN" altLang="en-US" sz="1800" b="1" dirty="0">
                <a:ea typeface="幼圆" panose="02010509060101010101" pitchFamily="49" charset="-122"/>
                <a:cs typeface="Times New Roman" panose="02020603050405020304" pitchFamily="18" charset="0"/>
              </a:endParaRPr>
            </a:p>
          </p:txBody>
        </p:sp>
      </p:grpSp>
      <p:grpSp>
        <p:nvGrpSpPr>
          <p:cNvPr id="8" name="组合 7"/>
          <p:cNvGrpSpPr/>
          <p:nvPr/>
        </p:nvGrpSpPr>
        <p:grpSpPr>
          <a:xfrm>
            <a:off x="5752110" y="1566518"/>
            <a:ext cx="3115443" cy="1825268"/>
            <a:chOff x="5752110" y="1566518"/>
            <a:chExt cx="3115443" cy="1825268"/>
          </a:xfrm>
        </p:grpSpPr>
        <p:sp>
          <p:nvSpPr>
            <p:cNvPr id="65" name="圆角矩形 64"/>
            <p:cNvSpPr/>
            <p:nvPr/>
          </p:nvSpPr>
          <p:spPr>
            <a:xfrm>
              <a:off x="5798286" y="1566518"/>
              <a:ext cx="3069267" cy="1825268"/>
            </a:xfrm>
            <a:prstGeom prst="roundRect">
              <a:avLst>
                <a:gd name="adj" fmla="val 9901"/>
              </a:avLst>
            </a:prstGeom>
            <a:solidFill>
              <a:srgbClr val="FFFF99"/>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Rectangle 20"/>
            <p:cNvSpPr>
              <a:spLocks noChangeArrowheads="1"/>
            </p:cNvSpPr>
            <p:nvPr/>
          </p:nvSpPr>
          <p:spPr bwMode="auto">
            <a:xfrm>
              <a:off x="5752110" y="1577647"/>
              <a:ext cx="3094178" cy="1613647"/>
            </a:xfrm>
            <a:prstGeom prst="rect">
              <a:avLst/>
            </a:prstGeom>
            <a:noFill/>
            <a:ln w="28575">
              <a:noFill/>
              <a:miter lim="800000"/>
              <a:headEnd/>
              <a:tailEnd/>
            </a:ln>
            <a:extLst/>
          </p:spPr>
          <p:txBody>
            <a:bodyPr wrap="square">
              <a:spAutoFit/>
            </a:bodyPr>
            <a:lstStyle/>
            <a:p>
              <a:pPr>
                <a:lnSpc>
                  <a:spcPct val="130000"/>
                </a:lnSpc>
                <a:spcBef>
                  <a:spcPct val="50000"/>
                </a:spcBef>
                <a:spcAft>
                  <a:spcPts val="1200"/>
                </a:spcAft>
              </a:pPr>
              <a:r>
                <a:rPr kumimoji="1" lang="zh-CN" altLang="en-US" sz="2400" b="1" dirty="0" smtClean="0">
                  <a:solidFill>
                    <a:srgbClr val="000066"/>
                  </a:solidFill>
                  <a:ea typeface="幼圆" pitchFamily="49" charset="-122"/>
                  <a:cs typeface="Times New Roman" panose="02020603050405020304" pitchFamily="18" charset="0"/>
                </a:rPr>
                <a:t>   </a:t>
              </a:r>
              <a:r>
                <a:rPr kumimoji="1" lang="zh-CN" altLang="en-US" sz="2400" b="1" dirty="0" smtClean="0">
                  <a:solidFill>
                    <a:srgbClr val="C00000"/>
                  </a:solidFill>
                  <a:ea typeface="幼圆" pitchFamily="49" charset="-122"/>
                  <a:cs typeface="Times New Roman" panose="02020603050405020304" pitchFamily="18" charset="0"/>
                </a:rPr>
                <a:t>独立未知量：</a:t>
              </a:r>
              <a:endParaRPr kumimoji="1" lang="en-US" altLang="zh-CN" sz="2400" b="1" dirty="0" smtClean="0">
                <a:solidFill>
                  <a:srgbClr val="C00000"/>
                </a:solidFill>
                <a:ea typeface="幼圆" pitchFamily="49" charset="-122"/>
                <a:cs typeface="Times New Roman" panose="02020603050405020304" pitchFamily="18" charset="0"/>
              </a:endParaRPr>
            </a:p>
            <a:p>
              <a:pPr marL="542925" lvl="1" indent="-277813">
                <a:lnSpc>
                  <a:spcPct val="114000"/>
                </a:lnSpc>
                <a:spcBef>
                  <a:spcPts val="300"/>
                </a:spcBef>
                <a:spcAft>
                  <a:spcPts val="300"/>
                </a:spcAft>
                <a:buClr>
                  <a:srgbClr val="C00000"/>
                </a:buClr>
                <a:buSzPct val="130000"/>
                <a:buFont typeface="Arial" panose="020B0604020202020204" pitchFamily="34" charset="0"/>
                <a:buChar char="•"/>
                <a:tabLst>
                  <a:tab pos="2243138" algn="l"/>
                </a:tabLst>
              </a:pPr>
              <a:r>
                <a:rPr kumimoji="1" lang="zh-CN" altLang="en-US" sz="2200" b="1" dirty="0">
                  <a:solidFill>
                    <a:srgbClr val="000066"/>
                  </a:solidFill>
                  <a:ea typeface="幼圆" pitchFamily="49" charset="-122"/>
                  <a:cs typeface="Times New Roman" panose="02020603050405020304" pitchFamily="18" charset="0"/>
                </a:rPr>
                <a:t>一般</a:t>
              </a:r>
              <a:r>
                <a:rPr kumimoji="1" lang="zh-CN" altLang="en-US" sz="2200" b="1" dirty="0" smtClean="0">
                  <a:solidFill>
                    <a:srgbClr val="000066"/>
                  </a:solidFill>
                  <a:ea typeface="幼圆" pitchFamily="49" charset="-122"/>
                  <a:cs typeface="Times New Roman" panose="02020603050405020304" pitchFamily="18" charset="0"/>
                </a:rPr>
                <a:t>情况 </a:t>
              </a:r>
              <a:r>
                <a:rPr kumimoji="1" lang="en-US" altLang="zh-CN" sz="2200" b="1" dirty="0" smtClean="0">
                  <a:solidFill>
                    <a:srgbClr val="000066"/>
                  </a:solidFill>
                  <a:ea typeface="幼圆" pitchFamily="49" charset="-122"/>
                  <a:cs typeface="Times New Roman" panose="02020603050405020304" pitchFamily="18" charset="0"/>
                </a:rPr>
                <a:t>3</a:t>
              </a:r>
              <a:r>
                <a:rPr kumimoji="1" lang="zh-CN" altLang="en-US" sz="2200" b="1" dirty="0">
                  <a:solidFill>
                    <a:srgbClr val="000066"/>
                  </a:solidFill>
                  <a:ea typeface="幼圆" pitchFamily="49" charset="-122"/>
                  <a:cs typeface="Times New Roman" panose="02020603050405020304" pitchFamily="18" charset="0"/>
                </a:rPr>
                <a:t>个</a:t>
              </a:r>
            </a:p>
            <a:p>
              <a:pPr marL="542925" lvl="1" indent="-277813">
                <a:lnSpc>
                  <a:spcPct val="114000"/>
                </a:lnSpc>
                <a:spcBef>
                  <a:spcPts val="300"/>
                </a:spcBef>
                <a:spcAft>
                  <a:spcPts val="300"/>
                </a:spcAft>
                <a:buClr>
                  <a:srgbClr val="C00000"/>
                </a:buClr>
                <a:buSzPct val="130000"/>
                <a:buFont typeface="Arial" panose="020B0604020202020204" pitchFamily="34" charset="0"/>
                <a:buChar char="•"/>
                <a:tabLst>
                  <a:tab pos="2243138" algn="l"/>
                </a:tabLst>
              </a:pPr>
              <a:r>
                <a:rPr kumimoji="1" lang="zh-CN" altLang="en-US" sz="2200" b="1" dirty="0">
                  <a:solidFill>
                    <a:srgbClr val="000066"/>
                  </a:solidFill>
                  <a:ea typeface="幼圆" pitchFamily="49" charset="-122"/>
                  <a:cs typeface="Times New Roman" panose="02020603050405020304" pitchFamily="18" charset="0"/>
                </a:rPr>
                <a:t>干土或饱和</a:t>
              </a:r>
              <a:r>
                <a:rPr kumimoji="1" lang="zh-CN" altLang="en-US" sz="2200" b="1" dirty="0" smtClean="0">
                  <a:solidFill>
                    <a:srgbClr val="000066"/>
                  </a:solidFill>
                  <a:ea typeface="幼圆" pitchFamily="49" charset="-122"/>
                  <a:cs typeface="Times New Roman" panose="02020603050405020304" pitchFamily="18" charset="0"/>
                </a:rPr>
                <a:t>土</a:t>
              </a:r>
              <a:r>
                <a:rPr kumimoji="1" lang="en-US" altLang="zh-CN" sz="2200" b="1" dirty="0" smtClean="0">
                  <a:solidFill>
                    <a:srgbClr val="000066"/>
                  </a:solidFill>
                  <a:ea typeface="幼圆" pitchFamily="49" charset="-122"/>
                  <a:cs typeface="Times New Roman" panose="02020603050405020304" pitchFamily="18" charset="0"/>
                </a:rPr>
                <a:t>2</a:t>
              </a:r>
              <a:r>
                <a:rPr kumimoji="1" lang="zh-CN" altLang="en-US" sz="2200" b="1" dirty="0" smtClean="0">
                  <a:solidFill>
                    <a:srgbClr val="000066"/>
                  </a:solidFill>
                  <a:ea typeface="幼圆" pitchFamily="49" charset="-122"/>
                  <a:cs typeface="Times New Roman" panose="02020603050405020304" pitchFamily="18" charset="0"/>
                </a:rPr>
                <a:t>个</a:t>
              </a:r>
              <a:endParaRPr kumimoji="1" lang="zh-CN" altLang="en-US" sz="2200" b="1" dirty="0">
                <a:solidFill>
                  <a:srgbClr val="000066"/>
                </a:solidFill>
                <a:ea typeface="幼圆" pitchFamily="49" charset="-122"/>
                <a:cs typeface="Times New Roman" panose="02020603050405020304" pitchFamily="18" charset="0"/>
              </a:endParaRPr>
            </a:p>
          </p:txBody>
        </p:sp>
      </p:grpSp>
    </p:spTree>
    <p:extLst>
      <p:ext uri="{BB962C8B-B14F-4D97-AF65-F5344CB8AC3E}">
        <p14:creationId xmlns:p14="http://schemas.microsoft.com/office/powerpoint/2010/main" val="5375968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3484"/>
                                        </p:tgtEl>
                                        <p:attrNameLst>
                                          <p:attrName>style.visibility</p:attrName>
                                        </p:attrNameLst>
                                      </p:cBhvr>
                                      <p:to>
                                        <p:strVal val="visible"/>
                                      </p:to>
                                    </p:set>
                                    <p:animEffect transition="in" filter="wipe(left)">
                                      <p:cBhvr>
                                        <p:cTn id="7" dur="2000"/>
                                        <p:tgtEl>
                                          <p:spTgt spid="1383484"/>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348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Text Box 8"/>
          <p:cNvSpPr txBox="1">
            <a:spLocks noChangeArrowheads="1"/>
          </p:cNvSpPr>
          <p:nvPr/>
        </p:nvSpPr>
        <p:spPr bwMode="auto">
          <a:xfrm>
            <a:off x="2551113" y="5603875"/>
            <a:ext cx="44465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ea typeface="黑体" pitchFamily="2" charset="-122"/>
              </a:rPr>
              <a:t>基本物理性质试验</a:t>
            </a:r>
          </a:p>
        </p:txBody>
      </p:sp>
      <p:sp>
        <p:nvSpPr>
          <p:cNvPr id="66564" name="Text Box 9"/>
          <p:cNvSpPr txBox="1">
            <a:spLocks noChangeArrowheads="1"/>
          </p:cNvSpPr>
          <p:nvPr/>
        </p:nvSpPr>
        <p:spPr bwMode="auto">
          <a:xfrm>
            <a:off x="1597025" y="1265238"/>
            <a:ext cx="6481763"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pPr>
            <a:r>
              <a:rPr lang="zh-CN" altLang="en-US" sz="2800" b="1" dirty="0">
                <a:solidFill>
                  <a:srgbClr val="000066"/>
                </a:solidFill>
                <a:ea typeface="幼圆" pitchFamily="49" charset="-122"/>
              </a:rPr>
              <a:t>为了确定三相草图诸量中的三个量，通常进行三个基本的物理性质试验：</a:t>
            </a:r>
          </a:p>
          <a:p>
            <a:pPr lvl="1" eaLnBrk="1" hangingPunct="1">
              <a:lnSpc>
                <a:spcPct val="130000"/>
              </a:lnSpc>
              <a:buClr>
                <a:srgbClr val="A50021"/>
              </a:buClr>
              <a:buSzPct val="135000"/>
              <a:buFont typeface="Wingdings" pitchFamily="2" charset="2"/>
              <a:buChar char="F"/>
            </a:pPr>
            <a:r>
              <a:rPr kumimoji="1" lang="zh-CN" altLang="en-US" sz="2800" b="1" dirty="0">
                <a:solidFill>
                  <a:srgbClr val="A50021"/>
                </a:solidFill>
                <a:ea typeface="幼圆" pitchFamily="49" charset="-122"/>
              </a:rPr>
              <a:t> 土的密度试验</a:t>
            </a:r>
          </a:p>
          <a:p>
            <a:pPr lvl="1" eaLnBrk="1" hangingPunct="1">
              <a:lnSpc>
                <a:spcPct val="130000"/>
              </a:lnSpc>
              <a:buClr>
                <a:srgbClr val="A50021"/>
              </a:buClr>
              <a:buSzPct val="135000"/>
              <a:buFont typeface="Wingdings" pitchFamily="2" charset="2"/>
              <a:buChar char="F"/>
            </a:pPr>
            <a:r>
              <a:rPr kumimoji="1" lang="zh-CN" altLang="en-US" sz="2800" b="1" dirty="0">
                <a:solidFill>
                  <a:srgbClr val="A50021"/>
                </a:solidFill>
                <a:ea typeface="幼圆" pitchFamily="49" charset="-122"/>
              </a:rPr>
              <a:t> 土粒比重试验</a:t>
            </a:r>
          </a:p>
          <a:p>
            <a:pPr lvl="1" eaLnBrk="1" hangingPunct="1">
              <a:lnSpc>
                <a:spcPct val="130000"/>
              </a:lnSpc>
              <a:buClr>
                <a:srgbClr val="A50021"/>
              </a:buClr>
              <a:buSzPct val="135000"/>
              <a:buFont typeface="Wingdings" pitchFamily="2" charset="2"/>
              <a:buChar char="F"/>
            </a:pPr>
            <a:r>
              <a:rPr kumimoji="1" lang="zh-CN" altLang="en-US" sz="2800" b="1" dirty="0">
                <a:solidFill>
                  <a:srgbClr val="A50021"/>
                </a:solidFill>
                <a:ea typeface="幼圆" pitchFamily="49" charset="-122"/>
              </a:rPr>
              <a:t> 土的含水量试验</a:t>
            </a:r>
          </a:p>
        </p:txBody>
      </p:sp>
      <p:sp>
        <p:nvSpPr>
          <p:cNvPr id="5"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38957100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a:grpSpLocks/>
          </p:cNvGrpSpPr>
          <p:nvPr/>
        </p:nvGrpSpPr>
        <p:grpSpPr bwMode="auto">
          <a:xfrm>
            <a:off x="683766" y="1187036"/>
            <a:ext cx="4081462" cy="2900363"/>
            <a:chOff x="475" y="1039"/>
            <a:chExt cx="2571" cy="1827"/>
          </a:xfrm>
        </p:grpSpPr>
        <p:sp>
          <p:nvSpPr>
            <p:cNvPr id="4146" name="Text Box 7"/>
            <p:cNvSpPr txBox="1">
              <a:spLocks noChangeArrowheads="1"/>
            </p:cNvSpPr>
            <p:nvPr/>
          </p:nvSpPr>
          <p:spPr bwMode="auto">
            <a:xfrm>
              <a:off x="475" y="1039"/>
              <a:ext cx="2571" cy="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82563" indent="-182563"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50000"/>
                </a:lnSpc>
                <a:spcBef>
                  <a:spcPct val="0"/>
                </a:spcBef>
                <a:spcAft>
                  <a:spcPts val="300"/>
                </a:spcAft>
                <a:buClr>
                  <a:srgbClr val="A50021"/>
                </a:buClr>
                <a:buSzPct val="115000"/>
                <a:buFontTx/>
                <a:buChar char="•"/>
              </a:pPr>
              <a:r>
                <a:rPr kumimoji="1" lang="zh-CN" altLang="en-US" sz="2400" b="1" dirty="0">
                  <a:solidFill>
                    <a:srgbClr val="000066"/>
                  </a:solidFill>
                  <a:ea typeface="幼圆" pitchFamily="49" charset="-122"/>
                  <a:cs typeface="Times New Roman" pitchFamily="18" charset="0"/>
                </a:rPr>
                <a:t>定义</a:t>
              </a:r>
              <a:r>
                <a:rPr kumimoji="1" lang="zh-CN" altLang="en-US" sz="2400" b="1" dirty="0" smtClean="0">
                  <a:solidFill>
                    <a:srgbClr val="000066"/>
                  </a:solidFill>
                  <a:ea typeface="幼圆" pitchFamily="49" charset="-122"/>
                  <a:cs typeface="Times New Roman" pitchFamily="18" charset="0"/>
                </a:rPr>
                <a:t>：单位</a:t>
              </a:r>
              <a:r>
                <a:rPr kumimoji="1" lang="zh-CN" altLang="en-US" sz="2400" b="1" dirty="0">
                  <a:solidFill>
                    <a:srgbClr val="000066"/>
                  </a:solidFill>
                  <a:ea typeface="幼圆" pitchFamily="49" charset="-122"/>
                  <a:cs typeface="Times New Roman" pitchFamily="18" charset="0"/>
                </a:rPr>
                <a:t>体积土的质量</a:t>
              </a:r>
            </a:p>
            <a:p>
              <a:pPr eaLnBrk="1" hangingPunct="1">
                <a:lnSpc>
                  <a:spcPct val="150000"/>
                </a:lnSpc>
                <a:spcBef>
                  <a:spcPct val="0"/>
                </a:spcBef>
                <a:spcAft>
                  <a:spcPct val="0"/>
                </a:spcAft>
                <a:buClr>
                  <a:srgbClr val="A50021"/>
                </a:buClr>
                <a:buSzPct val="115000"/>
                <a:buFontTx/>
                <a:buChar char="•"/>
              </a:pPr>
              <a:r>
                <a:rPr kumimoji="1" lang="zh-CN" altLang="en-US" sz="2400" b="1" dirty="0">
                  <a:solidFill>
                    <a:srgbClr val="000066"/>
                  </a:solidFill>
                  <a:ea typeface="幼圆" pitchFamily="49" charset="-122"/>
                  <a:cs typeface="Times New Roman" pitchFamily="18" charset="0"/>
                </a:rPr>
                <a:t>表达式：</a:t>
              </a:r>
            </a:p>
            <a:p>
              <a:pPr eaLnBrk="1" hangingPunct="1">
                <a:lnSpc>
                  <a:spcPct val="150000"/>
                </a:lnSpc>
                <a:spcBef>
                  <a:spcPct val="0"/>
                </a:spcBef>
                <a:spcAft>
                  <a:spcPct val="0"/>
                </a:spcAft>
                <a:buClr>
                  <a:srgbClr val="A50021"/>
                </a:buClr>
                <a:buSzPct val="115000"/>
                <a:buFontTx/>
                <a:buChar char="•"/>
              </a:pPr>
              <a:endParaRPr kumimoji="1" lang="zh-CN" altLang="en-US" sz="2400" b="1" dirty="0">
                <a:solidFill>
                  <a:srgbClr val="000066"/>
                </a:solidFill>
                <a:ea typeface="幼圆" pitchFamily="49" charset="-122"/>
                <a:cs typeface="Times New Roman" pitchFamily="18" charset="0"/>
              </a:endParaRPr>
            </a:p>
            <a:p>
              <a:pPr eaLnBrk="1" hangingPunct="1">
                <a:lnSpc>
                  <a:spcPct val="150000"/>
                </a:lnSpc>
                <a:spcBef>
                  <a:spcPct val="0"/>
                </a:spcBef>
                <a:spcAft>
                  <a:spcPct val="0"/>
                </a:spcAft>
                <a:buClr>
                  <a:srgbClr val="A50021"/>
                </a:buClr>
                <a:buSzPct val="115000"/>
                <a:buFontTx/>
                <a:buChar char="•"/>
              </a:pPr>
              <a:r>
                <a:rPr kumimoji="1" lang="zh-CN" altLang="en-US" sz="2400" b="1" dirty="0" smtClean="0">
                  <a:solidFill>
                    <a:srgbClr val="000066"/>
                  </a:solidFill>
                  <a:ea typeface="幼圆" pitchFamily="49" charset="-122"/>
                  <a:cs typeface="Times New Roman" pitchFamily="18" charset="0"/>
                </a:rPr>
                <a:t> </a:t>
              </a:r>
              <a:r>
                <a:rPr kumimoji="1" lang="zh-CN" altLang="en-US" sz="2400" b="1" dirty="0">
                  <a:solidFill>
                    <a:srgbClr val="000066"/>
                  </a:solidFill>
                  <a:ea typeface="幼圆" pitchFamily="49" charset="-122"/>
                  <a:cs typeface="Times New Roman" pitchFamily="18" charset="0"/>
                </a:rPr>
                <a:t>单 </a:t>
              </a:r>
              <a:r>
                <a:rPr kumimoji="1" lang="zh-CN" altLang="en-US" sz="2400" b="1" dirty="0" smtClean="0">
                  <a:solidFill>
                    <a:srgbClr val="000066"/>
                  </a:solidFill>
                  <a:ea typeface="幼圆" pitchFamily="49" charset="-122"/>
                  <a:cs typeface="Times New Roman" pitchFamily="18" charset="0"/>
                </a:rPr>
                <a:t>位</a:t>
              </a:r>
              <a:r>
                <a:rPr kumimoji="1" lang="en-US" altLang="zh-CN" sz="2400" b="1" dirty="0" smtClean="0">
                  <a:solidFill>
                    <a:srgbClr val="000066"/>
                  </a:solidFill>
                  <a:ea typeface="幼圆" pitchFamily="49" charset="-122"/>
                  <a:cs typeface="Times New Roman" pitchFamily="18" charset="0"/>
                </a:rPr>
                <a:t>:     </a:t>
              </a:r>
              <a:r>
                <a:rPr kumimoji="1" lang="en-US" altLang="zh-CN" sz="2400" b="1" dirty="0">
                  <a:solidFill>
                    <a:srgbClr val="000066"/>
                  </a:solidFill>
                  <a:ea typeface="幼圆" pitchFamily="49" charset="-122"/>
                  <a:cs typeface="Times New Roman" pitchFamily="18" charset="0"/>
                </a:rPr>
                <a:t>kg/m</a:t>
              </a:r>
              <a:r>
                <a:rPr kumimoji="1" lang="en-US" altLang="zh-CN" sz="2400" b="1" baseline="30000" dirty="0">
                  <a:solidFill>
                    <a:srgbClr val="000066"/>
                  </a:solidFill>
                  <a:ea typeface="幼圆" pitchFamily="49" charset="-122"/>
                  <a:cs typeface="Times New Roman" pitchFamily="18" charset="0"/>
                </a:rPr>
                <a:t>3</a:t>
              </a:r>
              <a:r>
                <a:rPr kumimoji="1" lang="en-US" altLang="zh-CN" sz="2400" b="1" dirty="0">
                  <a:solidFill>
                    <a:srgbClr val="000066"/>
                  </a:solidFill>
                  <a:ea typeface="幼圆" pitchFamily="49" charset="-122"/>
                  <a:cs typeface="Times New Roman" pitchFamily="18" charset="0"/>
                </a:rPr>
                <a:t> </a:t>
              </a:r>
              <a:r>
                <a:rPr kumimoji="1" lang="zh-CN" altLang="en-US" sz="2400" b="1" dirty="0">
                  <a:solidFill>
                    <a:srgbClr val="000066"/>
                  </a:solidFill>
                  <a:ea typeface="幼圆" pitchFamily="49" charset="-122"/>
                  <a:cs typeface="Times New Roman" pitchFamily="18" charset="0"/>
                </a:rPr>
                <a:t>或  </a:t>
              </a:r>
              <a:r>
                <a:rPr kumimoji="1" lang="en-US" altLang="zh-CN" sz="2400" b="1" dirty="0">
                  <a:solidFill>
                    <a:srgbClr val="000066"/>
                  </a:solidFill>
                  <a:ea typeface="幼圆" pitchFamily="49" charset="-122"/>
                  <a:cs typeface="Times New Roman" pitchFamily="18" charset="0"/>
                </a:rPr>
                <a:t>g/cm</a:t>
              </a:r>
              <a:r>
                <a:rPr kumimoji="1" lang="en-US" altLang="zh-CN" sz="2400" b="1" baseline="30000" dirty="0">
                  <a:solidFill>
                    <a:srgbClr val="000066"/>
                  </a:solidFill>
                  <a:ea typeface="幼圆" pitchFamily="49" charset="-122"/>
                  <a:cs typeface="Times New Roman" pitchFamily="18" charset="0"/>
                </a:rPr>
                <a:t>3</a:t>
              </a:r>
            </a:p>
            <a:p>
              <a:pPr eaLnBrk="1" hangingPunct="1">
                <a:lnSpc>
                  <a:spcPct val="150000"/>
                </a:lnSpc>
                <a:spcBef>
                  <a:spcPct val="0"/>
                </a:spcBef>
                <a:spcAft>
                  <a:spcPct val="0"/>
                </a:spcAft>
                <a:buClr>
                  <a:srgbClr val="A50021"/>
                </a:buClr>
                <a:buSzPct val="115000"/>
                <a:buFontTx/>
                <a:buChar char="•"/>
              </a:pPr>
              <a:r>
                <a:rPr kumimoji="1" lang="zh-CN" altLang="en-US" sz="2400" b="1" dirty="0">
                  <a:solidFill>
                    <a:srgbClr val="000066"/>
                  </a:solidFill>
                  <a:ea typeface="幼圆" pitchFamily="49" charset="-122"/>
                  <a:cs typeface="Times New Roman" pitchFamily="18" charset="0"/>
                </a:rPr>
                <a:t>一般范围</a:t>
              </a:r>
              <a:r>
                <a:rPr kumimoji="1" lang="en-US" altLang="zh-CN" sz="2400" b="1" dirty="0" smtClean="0">
                  <a:solidFill>
                    <a:srgbClr val="000066"/>
                  </a:solidFill>
                  <a:ea typeface="幼圆" pitchFamily="49" charset="-122"/>
                  <a:cs typeface="Times New Roman" pitchFamily="18" charset="0"/>
                </a:rPr>
                <a:t>:  </a:t>
              </a:r>
              <a:r>
                <a:rPr kumimoji="1" lang="en-US" altLang="zh-CN" sz="2400" b="1" dirty="0">
                  <a:solidFill>
                    <a:srgbClr val="000066"/>
                  </a:solidFill>
                  <a:ea typeface="幼圆" pitchFamily="49" charset="-122"/>
                  <a:cs typeface="Times New Roman" pitchFamily="18" charset="0"/>
                </a:rPr>
                <a:t>1.60~2.20  g/cm</a:t>
              </a:r>
              <a:r>
                <a:rPr kumimoji="1" lang="en-US" altLang="zh-CN" sz="2400" b="1" baseline="30000" dirty="0">
                  <a:solidFill>
                    <a:srgbClr val="000066"/>
                  </a:solidFill>
                  <a:ea typeface="幼圆" pitchFamily="49" charset="-122"/>
                  <a:cs typeface="Times New Roman" pitchFamily="18" charset="0"/>
                </a:rPr>
                <a:t>3</a:t>
              </a:r>
              <a:endParaRPr kumimoji="1" lang="zh-CN" altLang="en-US" sz="2400" b="1" baseline="30000" dirty="0">
                <a:solidFill>
                  <a:srgbClr val="000066"/>
                </a:solidFill>
                <a:ea typeface="幼圆" pitchFamily="49" charset="-122"/>
                <a:cs typeface="Times New Roman" pitchFamily="18" charset="0"/>
              </a:endParaRPr>
            </a:p>
          </p:txBody>
        </p:sp>
        <p:graphicFrame>
          <p:nvGraphicFramePr>
            <p:cNvPr id="4098" name="Object 8"/>
            <p:cNvGraphicFramePr>
              <a:graphicFrameLocks noChangeAspect="1"/>
            </p:cNvGraphicFramePr>
            <p:nvPr>
              <p:extLst>
                <p:ext uri="{D42A27DB-BD31-4B8C-83A1-F6EECF244321}">
                  <p14:modId xmlns:p14="http://schemas.microsoft.com/office/powerpoint/2010/main" val="4163755550"/>
                </p:ext>
              </p:extLst>
            </p:nvPr>
          </p:nvGraphicFramePr>
          <p:xfrm>
            <a:off x="1413" y="1439"/>
            <a:ext cx="1604" cy="510"/>
          </p:xfrm>
          <a:graphic>
            <a:graphicData uri="http://schemas.openxmlformats.org/presentationml/2006/ole">
              <mc:AlternateContent xmlns:mc="http://schemas.openxmlformats.org/markup-compatibility/2006">
                <mc:Choice xmlns:v="urn:schemas-microsoft-com:vml" Requires="v">
                  <p:oleObj spid="_x0000_s54385" name="公式" r:id="rId4" imgW="1358640" imgH="431640" progId="Equation.3">
                    <p:embed/>
                  </p:oleObj>
                </mc:Choice>
                <mc:Fallback>
                  <p:oleObj name="公式" r:id="rId4" imgW="1358640" imgH="431640" progId="Equation.3">
                    <p:embed/>
                    <p:pic>
                      <p:nvPicPr>
                        <p:cNvPr id="0" name=""/>
                        <p:cNvPicPr>
                          <a:picLocks noChangeAspect="1" noChangeArrowheads="1"/>
                        </p:cNvPicPr>
                        <p:nvPr/>
                      </p:nvPicPr>
                      <p:blipFill>
                        <a:blip r:embed="rId5"/>
                        <a:srcRect/>
                        <a:stretch>
                          <a:fillRect/>
                        </a:stretch>
                      </p:blipFill>
                      <p:spPr bwMode="auto">
                        <a:xfrm>
                          <a:off x="1413" y="1439"/>
                          <a:ext cx="1604" cy="51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85481" name="Text Box 9"/>
          <p:cNvSpPr txBox="1">
            <a:spLocks noChangeArrowheads="1"/>
          </p:cNvSpPr>
          <p:nvPr/>
        </p:nvSpPr>
        <p:spPr bwMode="auto">
          <a:xfrm>
            <a:off x="153541" y="538344"/>
            <a:ext cx="27860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kumimoji="1" lang="zh-CN" altLang="en-US" sz="3200" b="1" dirty="0">
                <a:solidFill>
                  <a:srgbClr val="800000"/>
                </a:solidFill>
                <a:ea typeface="幼圆" pitchFamily="49" charset="-122"/>
              </a:rPr>
              <a:t> 土的密度</a:t>
            </a:r>
            <a:r>
              <a:rPr kumimoji="1" lang="zh-CN" altLang="en-US" sz="3200" b="1" i="1" dirty="0">
                <a:solidFill>
                  <a:srgbClr val="800000"/>
                </a:solidFill>
                <a:ea typeface="幼圆" pitchFamily="49" charset="-122"/>
                <a:sym typeface="Symbol" pitchFamily="18" charset="2"/>
              </a:rPr>
              <a:t></a:t>
            </a:r>
            <a:endParaRPr kumimoji="1" lang="zh-CN" altLang="en-US" sz="2400" b="1" i="1" baseline="30000" dirty="0">
              <a:solidFill>
                <a:srgbClr val="800000"/>
              </a:solidFill>
              <a:ea typeface="幼圆" pitchFamily="49" charset="-122"/>
            </a:endParaRPr>
          </a:p>
        </p:txBody>
      </p:sp>
      <p:grpSp>
        <p:nvGrpSpPr>
          <p:cNvPr id="4102" name="Group 10"/>
          <p:cNvGrpSpPr>
            <a:grpSpLocks/>
          </p:cNvGrpSpPr>
          <p:nvPr/>
        </p:nvGrpSpPr>
        <p:grpSpPr bwMode="auto">
          <a:xfrm>
            <a:off x="5051425" y="703263"/>
            <a:ext cx="4021138" cy="3206750"/>
            <a:chOff x="311" y="489"/>
            <a:chExt cx="2533" cy="2020"/>
          </a:xfrm>
        </p:grpSpPr>
        <p:sp>
          <p:nvSpPr>
            <p:cNvPr id="4110" name="Rectangle 11"/>
            <p:cNvSpPr>
              <a:spLocks noChangeArrowheads="1"/>
            </p:cNvSpPr>
            <p:nvPr/>
          </p:nvSpPr>
          <p:spPr bwMode="auto">
            <a:xfrm>
              <a:off x="328" y="489"/>
              <a:ext cx="2498" cy="202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111" name="Rectangle 12"/>
            <p:cNvSpPr>
              <a:spLocks noChangeArrowheads="1"/>
            </p:cNvSpPr>
            <p:nvPr/>
          </p:nvSpPr>
          <p:spPr bwMode="auto">
            <a:xfrm>
              <a:off x="1057" y="602"/>
              <a:ext cx="998" cy="1584"/>
            </a:xfrm>
            <a:prstGeom prst="rect">
              <a:avLst/>
            </a:prstGeom>
            <a:solidFill>
              <a:srgbClr val="FFCC99"/>
            </a:solidFill>
            <a:ln w="28575">
              <a:solidFill>
                <a:schemeClr val="tx1"/>
              </a:solidFill>
              <a:miter lim="800000"/>
              <a:headEnd/>
              <a:tailEnd/>
            </a:ln>
          </p:spPr>
          <p:txBody>
            <a:bodyPr wrap="none" anchor="ctr"/>
            <a:lstStyle/>
            <a:p>
              <a:endParaRPr lang="zh-CN" altLang="en-US"/>
            </a:p>
          </p:txBody>
        </p:sp>
        <p:sp>
          <p:nvSpPr>
            <p:cNvPr id="4112" name="Rectangle 13"/>
            <p:cNvSpPr>
              <a:spLocks noChangeArrowheads="1"/>
            </p:cNvSpPr>
            <p:nvPr/>
          </p:nvSpPr>
          <p:spPr bwMode="auto">
            <a:xfrm>
              <a:off x="1063" y="606"/>
              <a:ext cx="984" cy="4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113" name="Text Box 14"/>
            <p:cNvSpPr txBox="1">
              <a:spLocks noChangeArrowheads="1"/>
            </p:cNvSpPr>
            <p:nvPr/>
          </p:nvSpPr>
          <p:spPr bwMode="auto">
            <a:xfrm>
              <a:off x="1377" y="673"/>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空气</a:t>
              </a:r>
            </a:p>
          </p:txBody>
        </p:sp>
        <p:sp>
          <p:nvSpPr>
            <p:cNvPr id="4114" name="Rectangle 15"/>
            <p:cNvSpPr>
              <a:spLocks noChangeArrowheads="1"/>
            </p:cNvSpPr>
            <p:nvPr/>
          </p:nvSpPr>
          <p:spPr bwMode="auto">
            <a:xfrm>
              <a:off x="1062" y="1016"/>
              <a:ext cx="987" cy="571"/>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115" name="Text Box 16"/>
            <p:cNvSpPr txBox="1">
              <a:spLocks noChangeArrowheads="1"/>
            </p:cNvSpPr>
            <p:nvPr/>
          </p:nvSpPr>
          <p:spPr bwMode="auto">
            <a:xfrm>
              <a:off x="1448" y="1168"/>
              <a:ext cx="25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dirty="0">
                  <a:solidFill>
                    <a:schemeClr val="bg1">
                      <a:lumMod val="95000"/>
                    </a:schemeClr>
                  </a:solidFill>
                  <a:latin typeface="Comic Sans MS" pitchFamily="66" charset="0"/>
                  <a:ea typeface="幼圆" pitchFamily="49" charset="-122"/>
                </a:rPr>
                <a:t>水</a:t>
              </a:r>
            </a:p>
          </p:txBody>
        </p:sp>
        <p:sp>
          <p:nvSpPr>
            <p:cNvPr id="4116" name="Rectangle 17" descr="软木塞"/>
            <p:cNvSpPr>
              <a:spLocks noChangeArrowheads="1"/>
            </p:cNvSpPr>
            <p:nvPr/>
          </p:nvSpPr>
          <p:spPr bwMode="auto">
            <a:xfrm>
              <a:off x="1063" y="1588"/>
              <a:ext cx="986" cy="59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117" name="Text Box 18"/>
            <p:cNvSpPr txBox="1">
              <a:spLocks noChangeArrowheads="1"/>
            </p:cNvSpPr>
            <p:nvPr/>
          </p:nvSpPr>
          <p:spPr bwMode="auto">
            <a:xfrm>
              <a:off x="1372" y="1764"/>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固体</a:t>
              </a:r>
            </a:p>
          </p:txBody>
        </p:sp>
        <p:sp>
          <p:nvSpPr>
            <p:cNvPr id="4118" name="Text Box 19"/>
            <p:cNvSpPr txBox="1">
              <a:spLocks noChangeArrowheads="1"/>
            </p:cNvSpPr>
            <p:nvPr/>
          </p:nvSpPr>
          <p:spPr bwMode="auto">
            <a:xfrm>
              <a:off x="527" y="683"/>
              <a:ext cx="44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i="1" dirty="0">
                  <a:solidFill>
                    <a:srgbClr val="000066"/>
                  </a:solidFill>
                </a:rPr>
                <a:t>m</a:t>
              </a:r>
              <a:r>
                <a:rPr kumimoji="1" lang="en-US" altLang="zh-CN" sz="2000" b="1" baseline="-25000" dirty="0">
                  <a:solidFill>
                    <a:srgbClr val="000066"/>
                  </a:solidFill>
                </a:rPr>
                <a:t>a</a:t>
              </a:r>
              <a:r>
                <a:rPr kumimoji="1" lang="en-US" altLang="zh-CN" sz="2000" b="1" dirty="0">
                  <a:solidFill>
                    <a:srgbClr val="000066"/>
                  </a:solidFill>
                  <a:cs typeface="Times New Roman" pitchFamily="18" charset="0"/>
                </a:rPr>
                <a:t>=0</a:t>
              </a:r>
              <a:endParaRPr kumimoji="1" lang="en-US" altLang="zh-CN" sz="2000" b="1" dirty="0">
                <a:solidFill>
                  <a:srgbClr val="000066"/>
                </a:solidFill>
              </a:endParaRPr>
            </a:p>
          </p:txBody>
        </p:sp>
        <p:sp>
          <p:nvSpPr>
            <p:cNvPr id="4119" name="Text Box 20"/>
            <p:cNvSpPr txBox="1">
              <a:spLocks noChangeArrowheads="1"/>
            </p:cNvSpPr>
            <p:nvPr/>
          </p:nvSpPr>
          <p:spPr bwMode="auto">
            <a:xfrm>
              <a:off x="589" y="1076"/>
              <a:ext cx="3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m</a:t>
              </a:r>
              <a:r>
                <a:rPr kumimoji="1" lang="en-US" altLang="zh-CN" sz="2100" b="1" baseline="-25000" dirty="0">
                  <a:solidFill>
                    <a:srgbClr val="000066"/>
                  </a:solidFill>
                </a:rPr>
                <a:t>w</a:t>
              </a:r>
              <a:endParaRPr kumimoji="1" lang="en-US" altLang="zh-CN" sz="2100" b="1" dirty="0">
                <a:solidFill>
                  <a:srgbClr val="000066"/>
                </a:solidFill>
              </a:endParaRPr>
            </a:p>
          </p:txBody>
        </p:sp>
        <p:sp>
          <p:nvSpPr>
            <p:cNvPr id="4120" name="Text Box 21"/>
            <p:cNvSpPr txBox="1">
              <a:spLocks noChangeArrowheads="1"/>
            </p:cNvSpPr>
            <p:nvPr/>
          </p:nvSpPr>
          <p:spPr bwMode="auto">
            <a:xfrm>
              <a:off x="589" y="1688"/>
              <a:ext cx="27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m</a:t>
              </a:r>
              <a:r>
                <a:rPr kumimoji="1" lang="en-US" altLang="zh-CN" sz="2100" b="1" baseline="-25000" dirty="0" err="1">
                  <a:solidFill>
                    <a:srgbClr val="000066"/>
                  </a:solidFill>
                </a:rPr>
                <a:t>s</a:t>
              </a:r>
              <a:endParaRPr kumimoji="1" lang="en-US" altLang="zh-CN" sz="2100" b="1" dirty="0">
                <a:solidFill>
                  <a:srgbClr val="000066"/>
                </a:solidFill>
              </a:endParaRPr>
            </a:p>
          </p:txBody>
        </p:sp>
        <p:sp>
          <p:nvSpPr>
            <p:cNvPr id="4121" name="Text Box 22"/>
            <p:cNvSpPr txBox="1">
              <a:spLocks noChangeArrowheads="1"/>
            </p:cNvSpPr>
            <p:nvPr/>
          </p:nvSpPr>
          <p:spPr bwMode="auto">
            <a:xfrm>
              <a:off x="311" y="1148"/>
              <a:ext cx="22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CC0000"/>
                  </a:solidFill>
                </a:rPr>
                <a:t>m</a:t>
              </a:r>
            </a:p>
          </p:txBody>
        </p:sp>
        <p:sp>
          <p:nvSpPr>
            <p:cNvPr id="4122" name="Line 23"/>
            <p:cNvSpPr>
              <a:spLocks noChangeShapeType="1"/>
            </p:cNvSpPr>
            <p:nvPr/>
          </p:nvSpPr>
          <p:spPr bwMode="auto">
            <a:xfrm flipH="1">
              <a:off x="945" y="599"/>
              <a:ext cx="0" cy="41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123" name="Line 24"/>
            <p:cNvSpPr>
              <a:spLocks noChangeShapeType="1"/>
            </p:cNvSpPr>
            <p:nvPr/>
          </p:nvSpPr>
          <p:spPr bwMode="auto">
            <a:xfrm flipH="1">
              <a:off x="949" y="1012"/>
              <a:ext cx="0" cy="579"/>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124" name="Line 25"/>
            <p:cNvSpPr>
              <a:spLocks noChangeShapeType="1"/>
            </p:cNvSpPr>
            <p:nvPr/>
          </p:nvSpPr>
          <p:spPr bwMode="auto">
            <a:xfrm flipH="1">
              <a:off x="945" y="1588"/>
              <a:ext cx="0" cy="595"/>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125" name="Line 26"/>
            <p:cNvSpPr>
              <a:spLocks noChangeShapeType="1"/>
            </p:cNvSpPr>
            <p:nvPr/>
          </p:nvSpPr>
          <p:spPr bwMode="auto">
            <a:xfrm flipH="1">
              <a:off x="523" y="599"/>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126" name="Line 27"/>
            <p:cNvSpPr>
              <a:spLocks noChangeShapeType="1"/>
            </p:cNvSpPr>
            <p:nvPr/>
          </p:nvSpPr>
          <p:spPr bwMode="auto">
            <a:xfrm flipH="1">
              <a:off x="454" y="599"/>
              <a:ext cx="5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7" name="Line 28"/>
            <p:cNvSpPr>
              <a:spLocks noChangeShapeType="1"/>
            </p:cNvSpPr>
            <p:nvPr/>
          </p:nvSpPr>
          <p:spPr bwMode="auto">
            <a:xfrm flipH="1">
              <a:off x="855" y="1013"/>
              <a:ext cx="12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8" name="Line 29"/>
            <p:cNvSpPr>
              <a:spLocks noChangeShapeType="1"/>
            </p:cNvSpPr>
            <p:nvPr/>
          </p:nvSpPr>
          <p:spPr bwMode="auto">
            <a:xfrm flipH="1">
              <a:off x="851" y="1595"/>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9" name="Line 30"/>
            <p:cNvSpPr>
              <a:spLocks noChangeShapeType="1"/>
            </p:cNvSpPr>
            <p:nvPr/>
          </p:nvSpPr>
          <p:spPr bwMode="auto">
            <a:xfrm flipH="1">
              <a:off x="468" y="2177"/>
              <a:ext cx="5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0" name="Text Box 31"/>
            <p:cNvSpPr txBox="1">
              <a:spLocks noChangeArrowheads="1"/>
            </p:cNvSpPr>
            <p:nvPr/>
          </p:nvSpPr>
          <p:spPr bwMode="auto">
            <a:xfrm>
              <a:off x="521" y="2275"/>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质量</a:t>
              </a:r>
            </a:p>
          </p:txBody>
        </p:sp>
        <p:sp>
          <p:nvSpPr>
            <p:cNvPr id="4131" name="Text Box 32"/>
            <p:cNvSpPr txBox="1">
              <a:spLocks noChangeArrowheads="1"/>
            </p:cNvSpPr>
            <p:nvPr/>
          </p:nvSpPr>
          <p:spPr bwMode="auto">
            <a:xfrm>
              <a:off x="2178" y="638"/>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a</a:t>
              </a:r>
              <a:endParaRPr kumimoji="1" lang="en-US" altLang="zh-CN" sz="2100" b="1" dirty="0">
                <a:solidFill>
                  <a:srgbClr val="000066"/>
                </a:solidFill>
              </a:endParaRPr>
            </a:p>
          </p:txBody>
        </p:sp>
        <p:sp>
          <p:nvSpPr>
            <p:cNvPr id="4132" name="Text Box 33"/>
            <p:cNvSpPr txBox="1">
              <a:spLocks noChangeArrowheads="1"/>
            </p:cNvSpPr>
            <p:nvPr/>
          </p:nvSpPr>
          <p:spPr bwMode="auto">
            <a:xfrm>
              <a:off x="2163" y="1112"/>
              <a:ext cx="282"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w</a:t>
              </a:r>
              <a:endParaRPr kumimoji="1" lang="en-US" altLang="zh-CN" sz="2100" b="1" dirty="0">
                <a:solidFill>
                  <a:srgbClr val="000066"/>
                </a:solidFill>
              </a:endParaRPr>
            </a:p>
          </p:txBody>
        </p:sp>
        <p:sp>
          <p:nvSpPr>
            <p:cNvPr id="4133" name="Text Box 34"/>
            <p:cNvSpPr txBox="1">
              <a:spLocks noChangeArrowheads="1"/>
            </p:cNvSpPr>
            <p:nvPr/>
          </p:nvSpPr>
          <p:spPr bwMode="auto">
            <a:xfrm>
              <a:off x="2162" y="1767"/>
              <a:ext cx="251"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s</a:t>
              </a:r>
              <a:endParaRPr kumimoji="1" lang="en-US" altLang="zh-CN" sz="2100" b="1" dirty="0">
                <a:solidFill>
                  <a:srgbClr val="000066"/>
                </a:solidFill>
              </a:endParaRPr>
            </a:p>
          </p:txBody>
        </p:sp>
        <p:sp>
          <p:nvSpPr>
            <p:cNvPr id="4134" name="Text Box 35"/>
            <p:cNvSpPr txBox="1">
              <a:spLocks noChangeArrowheads="1"/>
            </p:cNvSpPr>
            <p:nvPr/>
          </p:nvSpPr>
          <p:spPr bwMode="auto">
            <a:xfrm>
              <a:off x="2402" y="890"/>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v</a:t>
              </a:r>
              <a:endParaRPr kumimoji="1" lang="en-US" altLang="zh-CN" sz="2100" b="1" dirty="0">
                <a:solidFill>
                  <a:srgbClr val="000066"/>
                </a:solidFill>
              </a:endParaRPr>
            </a:p>
          </p:txBody>
        </p:sp>
        <p:sp>
          <p:nvSpPr>
            <p:cNvPr id="4135" name="Text Box 36"/>
            <p:cNvSpPr txBox="1">
              <a:spLocks noChangeArrowheads="1"/>
            </p:cNvSpPr>
            <p:nvPr/>
          </p:nvSpPr>
          <p:spPr bwMode="auto">
            <a:xfrm>
              <a:off x="2637" y="1148"/>
              <a:ext cx="2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CC0000"/>
                  </a:solidFill>
                </a:rPr>
                <a:t>V</a:t>
              </a:r>
            </a:p>
          </p:txBody>
        </p:sp>
        <p:sp>
          <p:nvSpPr>
            <p:cNvPr id="4136" name="Line 37"/>
            <p:cNvSpPr>
              <a:spLocks noChangeShapeType="1"/>
            </p:cNvSpPr>
            <p:nvPr/>
          </p:nvSpPr>
          <p:spPr bwMode="auto">
            <a:xfrm>
              <a:off x="2180" y="602"/>
              <a:ext cx="0" cy="417"/>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137" name="Line 38"/>
            <p:cNvSpPr>
              <a:spLocks noChangeShapeType="1"/>
            </p:cNvSpPr>
            <p:nvPr/>
          </p:nvSpPr>
          <p:spPr bwMode="auto">
            <a:xfrm>
              <a:off x="2176" y="1015"/>
              <a:ext cx="0" cy="57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138" name="Line 39"/>
            <p:cNvSpPr>
              <a:spLocks noChangeShapeType="1"/>
            </p:cNvSpPr>
            <p:nvPr/>
          </p:nvSpPr>
          <p:spPr bwMode="auto">
            <a:xfrm>
              <a:off x="2180" y="1590"/>
              <a:ext cx="0" cy="596"/>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139" name="Line 40"/>
            <p:cNvSpPr>
              <a:spLocks noChangeShapeType="1"/>
            </p:cNvSpPr>
            <p:nvPr/>
          </p:nvSpPr>
          <p:spPr bwMode="auto">
            <a:xfrm>
              <a:off x="2438" y="602"/>
              <a:ext cx="0" cy="991"/>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140" name="Line 41"/>
            <p:cNvSpPr>
              <a:spLocks noChangeShapeType="1"/>
            </p:cNvSpPr>
            <p:nvPr/>
          </p:nvSpPr>
          <p:spPr bwMode="auto">
            <a:xfrm>
              <a:off x="2656" y="602"/>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141" name="Line 42"/>
            <p:cNvSpPr>
              <a:spLocks noChangeShapeType="1"/>
            </p:cNvSpPr>
            <p:nvPr/>
          </p:nvSpPr>
          <p:spPr bwMode="auto">
            <a:xfrm>
              <a:off x="2148" y="602"/>
              <a:ext cx="6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42" name="Line 43"/>
            <p:cNvSpPr>
              <a:spLocks noChangeShapeType="1"/>
            </p:cNvSpPr>
            <p:nvPr/>
          </p:nvSpPr>
          <p:spPr bwMode="auto">
            <a:xfrm>
              <a:off x="2145" y="1016"/>
              <a:ext cx="1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43" name="Line 44"/>
            <p:cNvSpPr>
              <a:spLocks noChangeShapeType="1"/>
            </p:cNvSpPr>
            <p:nvPr/>
          </p:nvSpPr>
          <p:spPr bwMode="auto">
            <a:xfrm>
              <a:off x="2145" y="1598"/>
              <a:ext cx="4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44" name="Line 45"/>
            <p:cNvSpPr>
              <a:spLocks noChangeShapeType="1"/>
            </p:cNvSpPr>
            <p:nvPr/>
          </p:nvSpPr>
          <p:spPr bwMode="auto">
            <a:xfrm>
              <a:off x="2145" y="2180"/>
              <a:ext cx="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45" name="Text Box 46"/>
            <p:cNvSpPr txBox="1">
              <a:spLocks noChangeArrowheads="1"/>
            </p:cNvSpPr>
            <p:nvPr/>
          </p:nvSpPr>
          <p:spPr bwMode="auto">
            <a:xfrm>
              <a:off x="2188" y="2289"/>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体积</a:t>
              </a:r>
            </a:p>
          </p:txBody>
        </p:sp>
      </p:grpSp>
      <p:sp>
        <p:nvSpPr>
          <p:cNvPr id="4106" name="Text Box 49"/>
          <p:cNvSpPr txBox="1">
            <a:spLocks noChangeArrowheads="1"/>
          </p:cNvSpPr>
          <p:nvPr/>
        </p:nvSpPr>
        <p:spPr bwMode="auto">
          <a:xfrm>
            <a:off x="10622742" y="4559000"/>
            <a:ext cx="76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400" b="1" dirty="0" smtClean="0">
                <a:solidFill>
                  <a:srgbClr val="000066"/>
                </a:solidFill>
              </a:rPr>
              <a:t> </a:t>
            </a:r>
            <a:endParaRPr kumimoji="1" lang="zh-CN" altLang="en-US" sz="2400" b="1" dirty="0">
              <a:solidFill>
                <a:srgbClr val="000066"/>
              </a:solidFill>
            </a:endParaRPr>
          </a:p>
        </p:txBody>
      </p:sp>
      <p:sp>
        <p:nvSpPr>
          <p:cNvPr id="51"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pSp>
        <p:nvGrpSpPr>
          <p:cNvPr id="6" name="组合 5"/>
          <p:cNvGrpSpPr/>
          <p:nvPr/>
        </p:nvGrpSpPr>
        <p:grpSpPr>
          <a:xfrm>
            <a:off x="2001856" y="4536413"/>
            <a:ext cx="1102838" cy="1333851"/>
            <a:chOff x="-1871332" y="3983516"/>
            <a:chExt cx="1102838" cy="1333851"/>
          </a:xfrm>
        </p:grpSpPr>
        <p:sp>
          <p:nvSpPr>
            <p:cNvPr id="53" name="AutoShape 33"/>
            <p:cNvSpPr>
              <a:spLocks noChangeArrowheads="1"/>
            </p:cNvSpPr>
            <p:nvPr/>
          </p:nvSpPr>
          <p:spPr bwMode="gray">
            <a:xfrm rot="16200000" flipV="1">
              <a:off x="-1986839" y="4099023"/>
              <a:ext cx="1333851" cy="1102838"/>
            </a:xfrm>
            <a:prstGeom prst="upArrow">
              <a:avLst>
                <a:gd name="adj1" fmla="val 65157"/>
                <a:gd name="adj2" fmla="val 48347"/>
              </a:avLst>
            </a:prstGeom>
            <a:gradFill rotWithShape="1">
              <a:gsLst>
                <a:gs pos="0">
                  <a:srgbClr val="66CCFF"/>
                </a:gs>
                <a:gs pos="100000">
                  <a:srgbClr val="FCFBE4"/>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矩形 4"/>
            <p:cNvSpPr/>
            <p:nvPr/>
          </p:nvSpPr>
          <p:spPr>
            <a:xfrm>
              <a:off x="-1833647" y="4215880"/>
              <a:ext cx="803425" cy="830997"/>
            </a:xfrm>
            <a:prstGeom prst="rect">
              <a:avLst/>
            </a:prstGeom>
            <a:ln>
              <a:noFill/>
            </a:ln>
          </p:spPr>
          <p:txBody>
            <a:bodyPr wrap="none">
              <a:spAutoFit/>
            </a:bodyPr>
            <a:lstStyle/>
            <a:p>
              <a:pPr>
                <a:lnSpc>
                  <a:spcPct val="100000"/>
                </a:lnSpc>
                <a:spcBef>
                  <a:spcPts val="0"/>
                </a:spcBef>
                <a:spcAft>
                  <a:spcPts val="0"/>
                </a:spcAft>
              </a:pPr>
              <a:r>
                <a:rPr kumimoji="1" lang="zh-CN" altLang="en-US" sz="2400" b="1" dirty="0" smtClean="0">
                  <a:solidFill>
                    <a:srgbClr val="C00000"/>
                  </a:solidFill>
                  <a:latin typeface="幼圆" pitchFamily="49" charset="-122"/>
                  <a:ea typeface="幼圆" pitchFamily="49" charset="-122"/>
                </a:rPr>
                <a:t>相关</a:t>
              </a:r>
              <a:endParaRPr kumimoji="1" lang="en-US" altLang="zh-CN" sz="2400" b="1" dirty="0" smtClean="0">
                <a:solidFill>
                  <a:srgbClr val="C00000"/>
                </a:solidFill>
                <a:latin typeface="幼圆" pitchFamily="49" charset="-122"/>
                <a:ea typeface="幼圆" pitchFamily="49" charset="-122"/>
              </a:endParaRPr>
            </a:p>
            <a:p>
              <a:pPr>
                <a:lnSpc>
                  <a:spcPct val="100000"/>
                </a:lnSpc>
                <a:spcBef>
                  <a:spcPts val="0"/>
                </a:spcBef>
                <a:spcAft>
                  <a:spcPts val="0"/>
                </a:spcAft>
              </a:pPr>
              <a:r>
                <a:rPr kumimoji="1" lang="zh-CN" altLang="en-US" sz="2400" b="1" dirty="0" smtClean="0">
                  <a:solidFill>
                    <a:srgbClr val="C00000"/>
                  </a:solidFill>
                  <a:latin typeface="幼圆" pitchFamily="49" charset="-122"/>
                  <a:ea typeface="幼圆" pitchFamily="49" charset="-122"/>
                </a:rPr>
                <a:t>指标</a:t>
              </a:r>
              <a:endParaRPr lang="zh-CN" altLang="en-US" sz="2400" dirty="0">
                <a:solidFill>
                  <a:srgbClr val="C00000"/>
                </a:solidFill>
              </a:endParaRPr>
            </a:p>
          </p:txBody>
        </p:sp>
      </p:grpSp>
      <p:sp>
        <p:nvSpPr>
          <p:cNvPr id="7" name="TextBox 6"/>
          <p:cNvSpPr txBox="1"/>
          <p:nvPr/>
        </p:nvSpPr>
        <p:spPr>
          <a:xfrm>
            <a:off x="3467131" y="4369981"/>
            <a:ext cx="3846246" cy="1923604"/>
          </a:xfrm>
          <a:prstGeom prst="rect">
            <a:avLst/>
          </a:prstGeom>
          <a:noFill/>
        </p:spPr>
        <p:txBody>
          <a:bodyPr wrap="none" rtlCol="0">
            <a:spAutoFit/>
          </a:bodyPr>
          <a:lstStyle/>
          <a:p>
            <a:pPr marL="361950" indent="-361950" eaLnBrk="1" hangingPunct="1">
              <a:lnSpc>
                <a:spcPct val="100000"/>
              </a:lnSpc>
              <a:spcBef>
                <a:spcPts val="300"/>
              </a:spcBef>
              <a:spcAft>
                <a:spcPts val="300"/>
              </a:spcAft>
              <a:buFont typeface="Wingdings" panose="05000000000000000000" pitchFamily="2" charset="2"/>
              <a:buChar char="n"/>
            </a:pPr>
            <a:r>
              <a:rPr kumimoji="1" lang="zh-CN" altLang="en-US" sz="3200" b="1" dirty="0">
                <a:solidFill>
                  <a:srgbClr val="A50021"/>
                </a:solidFill>
                <a:ea typeface="幼圆" pitchFamily="49" charset="-122"/>
                <a:cs typeface="Times New Roman" panose="02020603050405020304" pitchFamily="18" charset="0"/>
              </a:rPr>
              <a:t>土的重</a:t>
            </a:r>
            <a:r>
              <a:rPr kumimoji="1" lang="zh-CN" altLang="en-US" sz="3200" b="1" dirty="0" smtClean="0">
                <a:solidFill>
                  <a:srgbClr val="A50021"/>
                </a:solidFill>
                <a:ea typeface="幼圆" pitchFamily="49" charset="-122"/>
                <a:cs typeface="Times New Roman" panose="02020603050405020304" pitchFamily="18" charset="0"/>
              </a:rPr>
              <a:t>度</a:t>
            </a:r>
            <a:r>
              <a:rPr kumimoji="1" lang="el-GR" altLang="zh-CN" sz="3200" b="1" i="1" dirty="0" smtClean="0">
                <a:solidFill>
                  <a:srgbClr val="A50021"/>
                </a:solidFill>
                <a:ea typeface="幼圆" panose="02010509060101010101" pitchFamily="49" charset="-122"/>
                <a:cs typeface="Times New Roman" panose="02020603050405020304" pitchFamily="18" charset="0"/>
                <a:sym typeface="Symbol" pitchFamily="18" charset="2"/>
              </a:rPr>
              <a:t></a:t>
            </a:r>
            <a:r>
              <a:rPr kumimoji="1" lang="en-US" altLang="zh-CN" sz="3200" b="1" i="1" dirty="0" smtClean="0">
                <a:solidFill>
                  <a:srgbClr val="A50021"/>
                </a:solidFill>
                <a:ea typeface="幼圆" panose="02010509060101010101" pitchFamily="49" charset="-122"/>
                <a:cs typeface="Times New Roman" panose="02020603050405020304" pitchFamily="18" charset="0"/>
                <a:sym typeface="Symbol" pitchFamily="18" charset="2"/>
              </a:rPr>
              <a:t> </a:t>
            </a:r>
            <a:endParaRPr kumimoji="1" lang="en-US" altLang="zh-CN" sz="3200" b="1" dirty="0" smtClean="0">
              <a:solidFill>
                <a:srgbClr val="A50021"/>
              </a:solidFill>
              <a:ea typeface="幼圆" panose="02010509060101010101" pitchFamily="49" charset="-122"/>
              <a:cs typeface="Times New Roman" panose="02020603050405020304" pitchFamily="18" charset="0"/>
              <a:sym typeface="Symbol" pitchFamily="18" charset="2"/>
            </a:endParaRPr>
          </a:p>
          <a:p>
            <a:pPr marL="255588" indent="-255588">
              <a:lnSpc>
                <a:spcPct val="100000"/>
              </a:lnSpc>
              <a:spcBef>
                <a:spcPts val="300"/>
              </a:spcBef>
              <a:spcAft>
                <a:spcPts val="300"/>
              </a:spcAft>
              <a:buClr>
                <a:srgbClr val="C00000"/>
              </a:buClr>
              <a:buSzPct val="130000"/>
              <a:buFont typeface="Arial" panose="020B0604020202020204" pitchFamily="34" charset="0"/>
              <a:buChar char="•"/>
            </a:pPr>
            <a:r>
              <a:rPr kumimoji="1" lang="zh-CN" altLang="en-US" sz="2400" b="1" dirty="0" smtClean="0">
                <a:solidFill>
                  <a:srgbClr val="000066"/>
                </a:solidFill>
                <a:ea typeface="幼圆" pitchFamily="49" charset="-122"/>
                <a:cs typeface="Times New Roman" panose="02020603050405020304" pitchFamily="18" charset="0"/>
              </a:rPr>
              <a:t>定义：</a:t>
            </a:r>
            <a:r>
              <a:rPr kumimoji="1" lang="zh-CN" altLang="en-US" sz="2400" b="1" dirty="0">
                <a:solidFill>
                  <a:srgbClr val="000066"/>
                </a:solidFill>
                <a:ea typeface="幼圆" panose="02010509060101010101" pitchFamily="49" charset="-122"/>
                <a:cs typeface="Times New Roman" panose="02020603050405020304" pitchFamily="18" charset="0"/>
                <a:sym typeface="Symbol" pitchFamily="18" charset="2"/>
              </a:rPr>
              <a:t>单位体积土的重量</a:t>
            </a:r>
            <a:endParaRPr kumimoji="1" lang="en-US" altLang="zh-CN" sz="2400" b="1" dirty="0" smtClean="0">
              <a:solidFill>
                <a:srgbClr val="000066"/>
              </a:solidFill>
              <a:ea typeface="幼圆" pitchFamily="49" charset="-122"/>
              <a:cs typeface="Times New Roman" panose="02020603050405020304" pitchFamily="18" charset="0"/>
            </a:endParaRPr>
          </a:p>
          <a:p>
            <a:pPr marL="255588" indent="-255588">
              <a:lnSpc>
                <a:spcPct val="100000"/>
              </a:lnSpc>
              <a:spcBef>
                <a:spcPts val="300"/>
              </a:spcBef>
              <a:spcAft>
                <a:spcPts val="300"/>
              </a:spcAft>
              <a:buClr>
                <a:srgbClr val="C00000"/>
              </a:buClr>
              <a:buSzPct val="130000"/>
              <a:buFont typeface="Arial" panose="020B0604020202020204" pitchFamily="34" charset="0"/>
              <a:buChar char="•"/>
            </a:pPr>
            <a:r>
              <a:rPr kumimoji="1" lang="zh-CN" altLang="en-US" sz="2400" b="1" dirty="0" smtClean="0">
                <a:solidFill>
                  <a:srgbClr val="000066"/>
                </a:solidFill>
                <a:ea typeface="幼圆" pitchFamily="49" charset="-122"/>
                <a:cs typeface="Times New Roman" panose="02020603050405020304" pitchFamily="18" charset="0"/>
              </a:rPr>
              <a:t>表达式：</a:t>
            </a:r>
            <a:r>
              <a:rPr kumimoji="1" lang="el-GR" altLang="zh-CN" sz="2400" b="1" i="1" dirty="0" smtClean="0">
                <a:solidFill>
                  <a:srgbClr val="000066"/>
                </a:solidFill>
                <a:ea typeface="幼圆" panose="02010509060101010101" pitchFamily="49" charset="-122"/>
                <a:cs typeface="Times New Roman" panose="02020603050405020304" pitchFamily="18" charset="0"/>
                <a:sym typeface="Symbol" pitchFamily="18" charset="2"/>
              </a:rPr>
              <a:t></a:t>
            </a:r>
            <a:r>
              <a:rPr kumimoji="1" lang="en-US" altLang="zh-CN" sz="2400" b="1" i="1" dirty="0" smtClean="0">
                <a:solidFill>
                  <a:srgbClr val="000066"/>
                </a:solidFill>
                <a:ea typeface="幼圆" panose="02010509060101010101" pitchFamily="49" charset="-122"/>
                <a:cs typeface="Times New Roman" panose="02020603050405020304" pitchFamily="18" charset="0"/>
                <a:sym typeface="Symbol" pitchFamily="18" charset="2"/>
              </a:rPr>
              <a:t>  </a:t>
            </a:r>
            <a:r>
              <a:rPr kumimoji="1" lang="en-US" altLang="zh-CN" sz="2400" b="1" dirty="0" smtClean="0">
                <a:solidFill>
                  <a:srgbClr val="000066"/>
                </a:solidFill>
                <a:ea typeface="幼圆" panose="02010509060101010101" pitchFamily="49" charset="-122"/>
                <a:cs typeface="Times New Roman" panose="02020603050405020304" pitchFamily="18" charset="0"/>
              </a:rPr>
              <a:t>= </a:t>
            </a:r>
            <a:r>
              <a:rPr kumimoji="1" lang="el-GR" altLang="zh-CN" sz="2400" b="1" i="1" dirty="0" smtClean="0">
                <a:solidFill>
                  <a:srgbClr val="000066"/>
                </a:solidFill>
                <a:ea typeface="幼圆" panose="02010509060101010101" pitchFamily="49" charset="-122"/>
                <a:cs typeface="Times New Roman" panose="02020603050405020304" pitchFamily="18" charset="0"/>
                <a:sym typeface="Symbol" pitchFamily="18" charset="2"/>
              </a:rPr>
              <a:t></a:t>
            </a:r>
            <a:r>
              <a:rPr kumimoji="1" lang="en-US" altLang="zh-CN" sz="2400" b="1" i="1" dirty="0" smtClean="0">
                <a:solidFill>
                  <a:srgbClr val="000066"/>
                </a:solidFill>
                <a:ea typeface="幼圆" panose="02010509060101010101" pitchFamily="49" charset="-122"/>
                <a:cs typeface="Times New Roman" panose="02020603050405020304" pitchFamily="18" charset="0"/>
                <a:sym typeface="Symbol" pitchFamily="18" charset="2"/>
              </a:rPr>
              <a:t> </a:t>
            </a:r>
            <a:r>
              <a:rPr kumimoji="1" lang="en-US" altLang="zh-CN" sz="2400" b="1" dirty="0">
                <a:solidFill>
                  <a:srgbClr val="000066"/>
                </a:solidFill>
                <a:ea typeface="幼圆" panose="02010509060101010101" pitchFamily="49" charset="-122"/>
                <a:cs typeface="Times New Roman" panose="02020603050405020304" pitchFamily="18" charset="0"/>
              </a:rPr>
              <a:t>g </a:t>
            </a:r>
            <a:endParaRPr kumimoji="1" lang="en-US" altLang="zh-CN" sz="2400" b="1" dirty="0" smtClean="0">
              <a:solidFill>
                <a:srgbClr val="000066"/>
              </a:solidFill>
              <a:ea typeface="幼圆" panose="02010509060101010101" pitchFamily="49" charset="-122"/>
              <a:cs typeface="Times New Roman" panose="02020603050405020304" pitchFamily="18" charset="0"/>
            </a:endParaRPr>
          </a:p>
          <a:p>
            <a:pPr marL="255588" indent="-255588">
              <a:lnSpc>
                <a:spcPct val="100000"/>
              </a:lnSpc>
              <a:spcBef>
                <a:spcPts val="300"/>
              </a:spcBef>
              <a:spcAft>
                <a:spcPts val="300"/>
              </a:spcAft>
              <a:buClr>
                <a:srgbClr val="C00000"/>
              </a:buClr>
              <a:buSzPct val="130000"/>
              <a:buFont typeface="Arial" panose="020B0604020202020204" pitchFamily="34" charset="0"/>
              <a:buChar char="•"/>
            </a:pPr>
            <a:r>
              <a:rPr kumimoji="1" lang="zh-CN" altLang="en-US" sz="2400" b="1" dirty="0" smtClean="0">
                <a:solidFill>
                  <a:srgbClr val="000066"/>
                </a:solidFill>
                <a:ea typeface="幼圆" panose="02010509060101010101" pitchFamily="49" charset="-122"/>
                <a:cs typeface="Times New Roman" panose="02020603050405020304" pitchFamily="18" charset="0"/>
              </a:rPr>
              <a:t>单位</a:t>
            </a:r>
            <a:r>
              <a:rPr kumimoji="1" lang="en-US" altLang="zh-CN" sz="2400" b="1" dirty="0">
                <a:solidFill>
                  <a:srgbClr val="000066"/>
                </a:solidFill>
                <a:ea typeface="幼圆" panose="02010509060101010101" pitchFamily="49" charset="-122"/>
                <a:cs typeface="Times New Roman" panose="02020603050405020304" pitchFamily="18" charset="0"/>
              </a:rPr>
              <a:t>:  </a:t>
            </a:r>
            <a:r>
              <a:rPr kumimoji="1" lang="en-US" altLang="zh-CN" sz="2400" b="1" dirty="0" err="1">
                <a:solidFill>
                  <a:srgbClr val="000066"/>
                </a:solidFill>
                <a:ea typeface="幼圆" panose="02010509060101010101" pitchFamily="49" charset="-122"/>
                <a:cs typeface="Times New Roman" panose="02020603050405020304" pitchFamily="18" charset="0"/>
              </a:rPr>
              <a:t>kN</a:t>
            </a:r>
            <a:r>
              <a:rPr kumimoji="1" lang="en-US" altLang="zh-CN" sz="2400" b="1" dirty="0">
                <a:solidFill>
                  <a:srgbClr val="000066"/>
                </a:solidFill>
                <a:ea typeface="幼圆" panose="02010509060101010101" pitchFamily="49" charset="-122"/>
                <a:cs typeface="Times New Roman" panose="02020603050405020304" pitchFamily="18" charset="0"/>
              </a:rPr>
              <a:t>/m</a:t>
            </a:r>
            <a:r>
              <a:rPr kumimoji="1" lang="en-US" altLang="zh-CN" sz="2400" b="1" baseline="30000" dirty="0">
                <a:solidFill>
                  <a:srgbClr val="000066"/>
                </a:solidFill>
                <a:ea typeface="幼圆" panose="02010509060101010101" pitchFamily="49" charset="-122"/>
                <a:cs typeface="Times New Roman" panose="02020603050405020304" pitchFamily="18" charset="0"/>
              </a:rPr>
              <a:t>3</a:t>
            </a:r>
            <a:endParaRPr lang="zh-CN" altLang="en-US" sz="2400" dirty="0">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13050311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85481"/>
                                        </p:tgtEl>
                                        <p:attrNameLst>
                                          <p:attrName>style.visibility</p:attrName>
                                        </p:attrNameLst>
                                      </p:cBhvr>
                                      <p:to>
                                        <p:strVal val="visible"/>
                                      </p:to>
                                    </p:set>
                                    <p:anim calcmode="lin" valueType="num">
                                      <p:cBhvr additive="base">
                                        <p:cTn id="7" dur="500" fill="hold"/>
                                        <p:tgtEl>
                                          <p:spTgt spid="1385481"/>
                                        </p:tgtEl>
                                        <p:attrNameLst>
                                          <p:attrName>ppt_x</p:attrName>
                                        </p:attrNameLst>
                                      </p:cBhvr>
                                      <p:tavLst>
                                        <p:tav tm="0">
                                          <p:val>
                                            <p:strVal val="0-#ppt_w/2"/>
                                          </p:val>
                                        </p:tav>
                                        <p:tav tm="100000">
                                          <p:val>
                                            <p:strVal val="#ppt_x"/>
                                          </p:val>
                                        </p:tav>
                                      </p:tavLst>
                                    </p:anim>
                                    <p:anim calcmode="lin" valueType="num">
                                      <p:cBhvr additive="base">
                                        <p:cTn id="8" dur="500" fill="hold"/>
                                        <p:tgtEl>
                                          <p:spTgt spid="1385481"/>
                                        </p:tgtEl>
                                        <p:attrNameLst>
                                          <p:attrName>ppt_y</p:attrName>
                                        </p:attrNameLst>
                                      </p:cBhvr>
                                      <p:tavLst>
                                        <p:tav tm="0">
                                          <p:val>
                                            <p:strVal val="#ppt_y"/>
                                          </p:val>
                                        </p:tav>
                                        <p:tav tm="100000">
                                          <p:val>
                                            <p:strVal val="#ppt_y"/>
                                          </p:val>
                                        </p:tav>
                                      </p:tavLst>
                                    </p:anim>
                                  </p:childTnLst>
                                </p:cTn>
                              </p:par>
                            </p:childTnLst>
                          </p:cTn>
                        </p:par>
                        <p:par>
                          <p:cTn id="9" fill="hold" nodeType="with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1000"/>
                                        <p:tgtEl>
                                          <p:spTgt spid="6"/>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5481" grpId="0"/>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p:cNvGrpSpPr>
            <a:grpSpLocks/>
          </p:cNvGrpSpPr>
          <p:nvPr/>
        </p:nvGrpSpPr>
        <p:grpSpPr bwMode="auto">
          <a:xfrm>
            <a:off x="447559" y="1386069"/>
            <a:ext cx="6191250" cy="3197226"/>
            <a:chOff x="383" y="944"/>
            <a:chExt cx="3900" cy="2014"/>
          </a:xfrm>
        </p:grpSpPr>
        <p:sp>
          <p:nvSpPr>
            <p:cNvPr id="5171" name="Text Box 8"/>
            <p:cNvSpPr txBox="1">
              <a:spLocks noChangeArrowheads="1"/>
            </p:cNvSpPr>
            <p:nvPr/>
          </p:nvSpPr>
          <p:spPr bwMode="auto">
            <a:xfrm>
              <a:off x="383" y="944"/>
              <a:ext cx="3900" cy="2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10000"/>
                </a:spcBef>
                <a:spcAft>
                  <a:spcPts val="600"/>
                </a:spcAft>
                <a:buClr>
                  <a:srgbClr val="A50021"/>
                </a:buClr>
                <a:buSzPct val="120000"/>
                <a:buFontTx/>
                <a:buChar char="•"/>
              </a:pPr>
              <a:r>
                <a:rPr kumimoji="1" lang="zh-CN" altLang="en-US" sz="2400" b="1" dirty="0">
                  <a:solidFill>
                    <a:srgbClr val="000066"/>
                  </a:solidFill>
                  <a:ea typeface="幼圆" pitchFamily="49" charset="-122"/>
                </a:rPr>
                <a:t>定义：土粒的密度与</a:t>
              </a:r>
              <a:r>
                <a:rPr kumimoji="1" lang="en-US" altLang="zh-CN" sz="2400" b="1" dirty="0">
                  <a:solidFill>
                    <a:srgbClr val="000066"/>
                  </a:solidFill>
                  <a:ea typeface="幼圆" pitchFamily="49" charset="-122"/>
                </a:rPr>
                <a:t>4˚C</a:t>
              </a:r>
              <a:r>
                <a:rPr kumimoji="1" lang="zh-CN" altLang="en-US" sz="2400" b="1" dirty="0">
                  <a:solidFill>
                    <a:srgbClr val="000066"/>
                  </a:solidFill>
                  <a:ea typeface="幼圆" pitchFamily="49" charset="-122"/>
                </a:rPr>
                <a:t>时</a:t>
              </a:r>
              <a:br>
                <a:rPr kumimoji="1" lang="zh-CN" altLang="en-US" sz="2400" b="1" dirty="0">
                  <a:solidFill>
                    <a:srgbClr val="000066"/>
                  </a:solidFill>
                  <a:ea typeface="幼圆" pitchFamily="49" charset="-122"/>
                </a:rPr>
              </a:br>
              <a:r>
                <a:rPr kumimoji="1" lang="zh-CN" altLang="en-US" sz="2400" b="1" dirty="0">
                  <a:solidFill>
                    <a:srgbClr val="000066"/>
                  </a:solidFill>
                  <a:ea typeface="幼圆" pitchFamily="49" charset="-122"/>
                </a:rPr>
                <a:t>纯蒸馏水密度的比值</a:t>
              </a:r>
            </a:p>
            <a:p>
              <a:pPr eaLnBrk="1" hangingPunct="1">
                <a:lnSpc>
                  <a:spcPct val="125000"/>
                </a:lnSpc>
                <a:spcBef>
                  <a:spcPct val="10000"/>
                </a:spcBef>
                <a:spcAft>
                  <a:spcPct val="10000"/>
                </a:spcAft>
                <a:buClr>
                  <a:srgbClr val="A50021"/>
                </a:buClr>
                <a:buSzPct val="120000"/>
                <a:buFontTx/>
                <a:buChar char="•"/>
              </a:pPr>
              <a:r>
                <a:rPr kumimoji="1" lang="zh-CN" altLang="en-US" sz="2400" b="1" dirty="0">
                  <a:solidFill>
                    <a:srgbClr val="000066"/>
                  </a:solidFill>
                  <a:ea typeface="幼圆" pitchFamily="49" charset="-122"/>
                </a:rPr>
                <a:t>表达式：</a:t>
              </a:r>
            </a:p>
            <a:p>
              <a:pPr eaLnBrk="1" hangingPunct="1">
                <a:lnSpc>
                  <a:spcPct val="125000"/>
                </a:lnSpc>
                <a:spcBef>
                  <a:spcPct val="10000"/>
                </a:spcBef>
                <a:spcAft>
                  <a:spcPct val="10000"/>
                </a:spcAft>
                <a:buClr>
                  <a:srgbClr val="A50021"/>
                </a:buClr>
                <a:buSzPct val="120000"/>
                <a:buFontTx/>
                <a:buChar char="•"/>
              </a:pPr>
              <a:endParaRPr kumimoji="1" lang="zh-CN" altLang="en-US" sz="2400" b="1" dirty="0">
                <a:solidFill>
                  <a:srgbClr val="000066"/>
                </a:solidFill>
                <a:ea typeface="幼圆" pitchFamily="49" charset="-122"/>
              </a:endParaRPr>
            </a:p>
            <a:p>
              <a:pPr eaLnBrk="1" hangingPunct="1">
                <a:lnSpc>
                  <a:spcPct val="125000"/>
                </a:lnSpc>
                <a:spcBef>
                  <a:spcPct val="10000"/>
                </a:spcBef>
                <a:spcAft>
                  <a:spcPct val="10000"/>
                </a:spcAft>
                <a:buClr>
                  <a:srgbClr val="A50021"/>
                </a:buClr>
                <a:buSzPct val="120000"/>
                <a:buFontTx/>
                <a:buChar char="•"/>
              </a:pPr>
              <a:r>
                <a:rPr kumimoji="1" lang="zh-CN" altLang="en-US" sz="2400" b="1" dirty="0" smtClean="0">
                  <a:solidFill>
                    <a:srgbClr val="000066"/>
                  </a:solidFill>
                  <a:ea typeface="幼圆" pitchFamily="49" charset="-122"/>
                </a:rPr>
                <a:t> </a:t>
              </a:r>
              <a:r>
                <a:rPr kumimoji="1" lang="zh-CN" altLang="en-US" sz="2400" b="1" dirty="0">
                  <a:solidFill>
                    <a:srgbClr val="000066"/>
                  </a:solidFill>
                  <a:ea typeface="幼圆" pitchFamily="49" charset="-122"/>
                </a:rPr>
                <a:t>单       位</a:t>
              </a:r>
              <a:r>
                <a:rPr kumimoji="1" lang="en-US" altLang="zh-CN" sz="2400" b="1" dirty="0">
                  <a:solidFill>
                    <a:srgbClr val="000066"/>
                  </a:solidFill>
                  <a:ea typeface="幼圆" pitchFamily="49" charset="-122"/>
                </a:rPr>
                <a:t>:   </a:t>
              </a:r>
              <a:r>
                <a:rPr kumimoji="1" lang="zh-CN" altLang="en-US" sz="2400" b="1" dirty="0">
                  <a:solidFill>
                    <a:srgbClr val="000066"/>
                  </a:solidFill>
                  <a:ea typeface="幼圆" pitchFamily="49" charset="-122"/>
                </a:rPr>
                <a:t>无量纲</a:t>
              </a:r>
            </a:p>
            <a:p>
              <a:pPr eaLnBrk="1" hangingPunct="1">
                <a:lnSpc>
                  <a:spcPct val="125000"/>
                </a:lnSpc>
                <a:spcBef>
                  <a:spcPct val="10000"/>
                </a:spcBef>
                <a:spcAft>
                  <a:spcPct val="10000"/>
                </a:spcAft>
                <a:buClr>
                  <a:srgbClr val="A50021"/>
                </a:buClr>
                <a:buSzPct val="120000"/>
                <a:buFontTx/>
                <a:buChar char="•"/>
              </a:pPr>
              <a:r>
                <a:rPr kumimoji="1" lang="zh-CN" altLang="en-US" sz="2400" b="1" dirty="0">
                  <a:solidFill>
                    <a:srgbClr val="000066"/>
                  </a:solidFill>
                  <a:ea typeface="幼圆" pitchFamily="49" charset="-122"/>
                </a:rPr>
                <a:t>一般范围</a:t>
              </a:r>
              <a:r>
                <a:rPr kumimoji="1" lang="zh-CN" altLang="en-US" sz="2400" b="1" dirty="0" smtClean="0">
                  <a:solidFill>
                    <a:srgbClr val="000066"/>
                  </a:solidFill>
                  <a:ea typeface="幼圆" pitchFamily="49" charset="-122"/>
                </a:rPr>
                <a:t>：黏性</a:t>
              </a:r>
              <a:r>
                <a:rPr kumimoji="1" lang="zh-CN" altLang="en-US" sz="2400" b="1" dirty="0">
                  <a:solidFill>
                    <a:srgbClr val="000066"/>
                  </a:solidFill>
                  <a:ea typeface="幼圆" pitchFamily="49" charset="-122"/>
                </a:rPr>
                <a:t>土  </a:t>
              </a:r>
              <a:r>
                <a:rPr kumimoji="1" lang="en-US" altLang="zh-CN" sz="2400" b="1" dirty="0">
                  <a:solidFill>
                    <a:srgbClr val="000066"/>
                  </a:solidFill>
                  <a:ea typeface="幼圆" pitchFamily="49" charset="-122"/>
                </a:rPr>
                <a:t>2.70~2.75</a:t>
              </a:r>
              <a:r>
                <a:rPr kumimoji="1" lang="zh-CN" altLang="en-US" sz="2400" b="1" dirty="0">
                  <a:solidFill>
                    <a:srgbClr val="000066"/>
                  </a:solidFill>
                  <a:ea typeface="幼圆" pitchFamily="49" charset="-122"/>
                </a:rPr>
                <a:t>， 砂土  </a:t>
              </a:r>
              <a:r>
                <a:rPr kumimoji="1" lang="en-US" altLang="zh-CN" sz="2400" b="1" dirty="0">
                  <a:solidFill>
                    <a:srgbClr val="000066"/>
                  </a:solidFill>
                  <a:ea typeface="幼圆" pitchFamily="49" charset="-122"/>
                </a:rPr>
                <a:t>2.65</a:t>
              </a:r>
              <a:endParaRPr kumimoji="1" lang="zh-CN" altLang="en-US" sz="2400" b="1" dirty="0">
                <a:solidFill>
                  <a:srgbClr val="000066"/>
                </a:solidFill>
                <a:ea typeface="幼圆" pitchFamily="49" charset="-122"/>
              </a:endParaRPr>
            </a:p>
          </p:txBody>
        </p:sp>
        <p:graphicFrame>
          <p:nvGraphicFramePr>
            <p:cNvPr id="5123" name="Object 9"/>
            <p:cNvGraphicFramePr>
              <a:graphicFrameLocks noChangeAspect="1"/>
            </p:cNvGraphicFramePr>
            <p:nvPr>
              <p:extLst>
                <p:ext uri="{D42A27DB-BD31-4B8C-83A1-F6EECF244321}">
                  <p14:modId xmlns:p14="http://schemas.microsoft.com/office/powerpoint/2010/main" val="1256551954"/>
                </p:ext>
              </p:extLst>
            </p:nvPr>
          </p:nvGraphicFramePr>
          <p:xfrm>
            <a:off x="1333" y="1544"/>
            <a:ext cx="1930" cy="668"/>
          </p:xfrm>
          <a:graphic>
            <a:graphicData uri="http://schemas.openxmlformats.org/presentationml/2006/ole">
              <mc:AlternateContent xmlns:mc="http://schemas.openxmlformats.org/markup-compatibility/2006">
                <mc:Choice xmlns:v="urn:schemas-microsoft-com:vml" Requires="v">
                  <p:oleObj spid="_x0000_s55410" name="公式" r:id="rId4" imgW="1282680" imgH="444240" progId="Equation.3">
                    <p:embed/>
                  </p:oleObj>
                </mc:Choice>
                <mc:Fallback>
                  <p:oleObj name="公式" r:id="rId4" imgW="1282680" imgH="444240" progId="Equation.3">
                    <p:embed/>
                    <p:pic>
                      <p:nvPicPr>
                        <p:cNvPr id="0" name=""/>
                        <p:cNvPicPr>
                          <a:picLocks noChangeAspect="1" noChangeArrowheads="1"/>
                        </p:cNvPicPr>
                        <p:nvPr/>
                      </p:nvPicPr>
                      <p:blipFill>
                        <a:blip r:embed="rId5"/>
                        <a:srcRect/>
                        <a:stretch>
                          <a:fillRect/>
                        </a:stretch>
                      </p:blipFill>
                      <p:spPr bwMode="auto">
                        <a:xfrm>
                          <a:off x="1333" y="1544"/>
                          <a:ext cx="1930" cy="6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86506" name="Text Box 10"/>
          <p:cNvSpPr txBox="1">
            <a:spLocks noChangeArrowheads="1"/>
          </p:cNvSpPr>
          <p:nvPr/>
        </p:nvSpPr>
        <p:spPr bwMode="auto">
          <a:xfrm>
            <a:off x="231775" y="647551"/>
            <a:ext cx="3006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kumimoji="1" lang="zh-CN" altLang="en-US" sz="3200" b="1" dirty="0">
                <a:solidFill>
                  <a:srgbClr val="800000"/>
                </a:solidFill>
                <a:ea typeface="幼圆" pitchFamily="49" charset="-122"/>
              </a:rPr>
              <a:t> 土粒比重</a:t>
            </a:r>
            <a:r>
              <a:rPr kumimoji="1" lang="en-US" altLang="zh-CN" sz="3200" b="1" i="1" dirty="0" err="1">
                <a:solidFill>
                  <a:srgbClr val="800000"/>
                </a:solidFill>
                <a:ea typeface="幼圆" pitchFamily="49" charset="-122"/>
              </a:rPr>
              <a:t>G</a:t>
            </a:r>
            <a:r>
              <a:rPr kumimoji="1" lang="en-US" altLang="zh-CN" sz="3200" b="1" baseline="-25000" dirty="0" err="1">
                <a:solidFill>
                  <a:srgbClr val="800000"/>
                </a:solidFill>
                <a:ea typeface="幼圆" pitchFamily="49" charset="-122"/>
              </a:rPr>
              <a:t>s</a:t>
            </a:r>
            <a:endParaRPr kumimoji="1" lang="en-US" altLang="zh-CN" sz="3200" b="1" dirty="0">
              <a:solidFill>
                <a:srgbClr val="800000"/>
              </a:solidFill>
              <a:ea typeface="幼圆" pitchFamily="49" charset="-122"/>
              <a:sym typeface="Symbol" pitchFamily="18" charset="2"/>
            </a:endParaRPr>
          </a:p>
        </p:txBody>
      </p:sp>
      <p:sp>
        <p:nvSpPr>
          <p:cNvPr id="5127" name="Text Box 48"/>
          <p:cNvSpPr txBox="1">
            <a:spLocks noChangeArrowheads="1"/>
          </p:cNvSpPr>
          <p:nvPr/>
        </p:nvSpPr>
        <p:spPr bwMode="auto">
          <a:xfrm>
            <a:off x="2514600" y="5865813"/>
            <a:ext cx="59324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a:solidFill>
                  <a:srgbClr val="000066"/>
                </a:solidFill>
                <a:ea typeface="黑体" pitchFamily="2" charset="-122"/>
              </a:rPr>
              <a:t>基本试验指标</a:t>
            </a:r>
            <a:r>
              <a:rPr kumimoji="1" lang="en-US" altLang="zh-CN" sz="4000" b="1">
                <a:solidFill>
                  <a:srgbClr val="000066"/>
                </a:solidFill>
                <a:ea typeface="黑体" pitchFamily="2" charset="-122"/>
              </a:rPr>
              <a:t>-</a:t>
            </a:r>
            <a:r>
              <a:rPr kumimoji="1" lang="zh-CN" altLang="en-US" sz="4000" b="1">
                <a:solidFill>
                  <a:srgbClr val="000066"/>
                </a:solidFill>
                <a:ea typeface="黑体" pitchFamily="2" charset="-122"/>
              </a:rPr>
              <a:t>土粒比重</a:t>
            </a:r>
          </a:p>
        </p:txBody>
      </p:sp>
      <p:sp>
        <p:nvSpPr>
          <p:cNvPr id="1386548" name="Text Box 52"/>
          <p:cNvSpPr txBox="1">
            <a:spLocks noChangeArrowheads="1"/>
          </p:cNvSpPr>
          <p:nvPr/>
        </p:nvSpPr>
        <p:spPr bwMode="auto">
          <a:xfrm>
            <a:off x="1619100" y="4944507"/>
            <a:ext cx="57173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00000"/>
              </a:lnSpc>
              <a:spcBef>
                <a:spcPct val="0"/>
              </a:spcBef>
              <a:spcAft>
                <a:spcPct val="0"/>
              </a:spcAft>
              <a:buClr>
                <a:srgbClr val="A50021"/>
              </a:buClr>
              <a:buSzPct val="135000"/>
              <a:buFont typeface="Wingdings" panose="05000000000000000000" pitchFamily="2" charset="2"/>
              <a:buChar char="F"/>
            </a:pPr>
            <a:r>
              <a:rPr kumimoji="1" lang="zh-CN" altLang="en-US" sz="2600" b="1" dirty="0">
                <a:solidFill>
                  <a:srgbClr val="000066"/>
                </a:solidFill>
                <a:latin typeface="Arial" charset="0"/>
                <a:ea typeface="幼圆" pitchFamily="49" charset="-122"/>
              </a:rPr>
              <a:t>土粒比重在数值上等于土粒的密度</a:t>
            </a:r>
          </a:p>
        </p:txBody>
      </p:sp>
      <p:sp>
        <p:nvSpPr>
          <p:cNvPr id="5130" name="Text Box 53"/>
          <p:cNvSpPr txBox="1">
            <a:spLocks noChangeArrowheads="1"/>
          </p:cNvSpPr>
          <p:nvPr/>
        </p:nvSpPr>
        <p:spPr bwMode="auto">
          <a:xfrm>
            <a:off x="1951038" y="6089650"/>
            <a:ext cx="0" cy="365125"/>
          </a:xfrm>
          <a:prstGeom prst="rect">
            <a:avLst/>
          </a:prstGeom>
          <a:solidFill>
            <a:srgbClr val="0000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endParaRPr kumimoji="1" lang="zh-CN" altLang="en-US" sz="2400" b="1">
              <a:solidFill>
                <a:srgbClr val="000066"/>
              </a:solidFill>
              <a:latin typeface="Arial" charset="0"/>
              <a:ea typeface="华文新魏" pitchFamily="2" charset="-122"/>
            </a:endParaRPr>
          </a:p>
        </p:txBody>
      </p:sp>
      <p:grpSp>
        <p:nvGrpSpPr>
          <p:cNvPr id="5133" name="Group 56"/>
          <p:cNvGrpSpPr>
            <a:grpSpLocks/>
          </p:cNvGrpSpPr>
          <p:nvPr/>
        </p:nvGrpSpPr>
        <p:grpSpPr bwMode="auto">
          <a:xfrm>
            <a:off x="5051425" y="703263"/>
            <a:ext cx="4021138" cy="3206750"/>
            <a:chOff x="311" y="489"/>
            <a:chExt cx="2533" cy="2020"/>
          </a:xfrm>
        </p:grpSpPr>
        <p:sp>
          <p:nvSpPr>
            <p:cNvPr id="5134" name="Rectangle 57"/>
            <p:cNvSpPr>
              <a:spLocks noChangeArrowheads="1"/>
            </p:cNvSpPr>
            <p:nvPr/>
          </p:nvSpPr>
          <p:spPr bwMode="auto">
            <a:xfrm>
              <a:off x="328" y="489"/>
              <a:ext cx="2498" cy="202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135" name="Rectangle 58"/>
            <p:cNvSpPr>
              <a:spLocks noChangeArrowheads="1"/>
            </p:cNvSpPr>
            <p:nvPr/>
          </p:nvSpPr>
          <p:spPr bwMode="auto">
            <a:xfrm>
              <a:off x="1057" y="602"/>
              <a:ext cx="998" cy="1584"/>
            </a:xfrm>
            <a:prstGeom prst="rect">
              <a:avLst/>
            </a:prstGeom>
            <a:solidFill>
              <a:srgbClr val="FFCC99"/>
            </a:solidFill>
            <a:ln w="28575">
              <a:solidFill>
                <a:schemeClr val="tx1"/>
              </a:solidFill>
              <a:miter lim="800000"/>
              <a:headEnd/>
              <a:tailEnd/>
            </a:ln>
          </p:spPr>
          <p:txBody>
            <a:bodyPr wrap="none" anchor="ctr"/>
            <a:lstStyle/>
            <a:p>
              <a:endParaRPr lang="zh-CN" altLang="en-US"/>
            </a:p>
          </p:txBody>
        </p:sp>
        <p:sp>
          <p:nvSpPr>
            <p:cNvPr id="5136" name="Rectangle 59"/>
            <p:cNvSpPr>
              <a:spLocks noChangeArrowheads="1"/>
            </p:cNvSpPr>
            <p:nvPr/>
          </p:nvSpPr>
          <p:spPr bwMode="auto">
            <a:xfrm>
              <a:off x="1063" y="606"/>
              <a:ext cx="984" cy="4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137" name="Text Box 60"/>
            <p:cNvSpPr txBox="1">
              <a:spLocks noChangeArrowheads="1"/>
            </p:cNvSpPr>
            <p:nvPr/>
          </p:nvSpPr>
          <p:spPr bwMode="auto">
            <a:xfrm>
              <a:off x="1377" y="673"/>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空气</a:t>
              </a:r>
            </a:p>
          </p:txBody>
        </p:sp>
        <p:sp>
          <p:nvSpPr>
            <p:cNvPr id="5138" name="Rectangle 61"/>
            <p:cNvSpPr>
              <a:spLocks noChangeArrowheads="1"/>
            </p:cNvSpPr>
            <p:nvPr/>
          </p:nvSpPr>
          <p:spPr bwMode="auto">
            <a:xfrm>
              <a:off x="1062" y="1016"/>
              <a:ext cx="987" cy="571"/>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chemeClr val="bg1">
                    <a:lumMod val="95000"/>
                  </a:schemeClr>
                </a:solidFill>
              </a:endParaRPr>
            </a:p>
          </p:txBody>
        </p:sp>
        <p:sp>
          <p:nvSpPr>
            <p:cNvPr id="5139" name="Text Box 62"/>
            <p:cNvSpPr txBox="1">
              <a:spLocks noChangeArrowheads="1"/>
            </p:cNvSpPr>
            <p:nvPr/>
          </p:nvSpPr>
          <p:spPr bwMode="auto">
            <a:xfrm>
              <a:off x="1448" y="1168"/>
              <a:ext cx="25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dirty="0">
                  <a:solidFill>
                    <a:schemeClr val="bg1">
                      <a:lumMod val="95000"/>
                    </a:schemeClr>
                  </a:solidFill>
                  <a:latin typeface="Comic Sans MS" pitchFamily="66" charset="0"/>
                  <a:ea typeface="幼圆" pitchFamily="49" charset="-122"/>
                </a:rPr>
                <a:t>水</a:t>
              </a:r>
            </a:p>
          </p:txBody>
        </p:sp>
        <p:sp>
          <p:nvSpPr>
            <p:cNvPr id="5140" name="Rectangle 63" descr="软木塞"/>
            <p:cNvSpPr>
              <a:spLocks noChangeArrowheads="1"/>
            </p:cNvSpPr>
            <p:nvPr/>
          </p:nvSpPr>
          <p:spPr bwMode="auto">
            <a:xfrm>
              <a:off x="1063" y="1588"/>
              <a:ext cx="986" cy="59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141" name="Text Box 64"/>
            <p:cNvSpPr txBox="1">
              <a:spLocks noChangeArrowheads="1"/>
            </p:cNvSpPr>
            <p:nvPr/>
          </p:nvSpPr>
          <p:spPr bwMode="auto">
            <a:xfrm>
              <a:off x="1372" y="1764"/>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固体</a:t>
              </a:r>
            </a:p>
          </p:txBody>
        </p:sp>
        <p:sp>
          <p:nvSpPr>
            <p:cNvPr id="5142" name="Text Box 65"/>
            <p:cNvSpPr txBox="1">
              <a:spLocks noChangeArrowheads="1"/>
            </p:cNvSpPr>
            <p:nvPr/>
          </p:nvSpPr>
          <p:spPr bwMode="auto">
            <a:xfrm>
              <a:off x="527" y="683"/>
              <a:ext cx="44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i="1" dirty="0">
                  <a:solidFill>
                    <a:srgbClr val="000066"/>
                  </a:solidFill>
                </a:rPr>
                <a:t>m</a:t>
              </a:r>
              <a:r>
                <a:rPr kumimoji="1" lang="en-US" altLang="zh-CN" sz="2000" b="1" baseline="-25000" dirty="0">
                  <a:solidFill>
                    <a:srgbClr val="000066"/>
                  </a:solidFill>
                </a:rPr>
                <a:t>a</a:t>
              </a:r>
              <a:r>
                <a:rPr kumimoji="1" lang="en-US" altLang="zh-CN" sz="2000" b="1" dirty="0">
                  <a:solidFill>
                    <a:srgbClr val="000066"/>
                  </a:solidFill>
                  <a:cs typeface="Times New Roman" pitchFamily="18" charset="0"/>
                </a:rPr>
                <a:t>=0</a:t>
              </a:r>
              <a:endParaRPr kumimoji="1" lang="en-US" altLang="zh-CN" sz="2000" b="1" dirty="0">
                <a:solidFill>
                  <a:srgbClr val="000066"/>
                </a:solidFill>
              </a:endParaRPr>
            </a:p>
          </p:txBody>
        </p:sp>
        <p:sp>
          <p:nvSpPr>
            <p:cNvPr id="5143" name="Text Box 66"/>
            <p:cNvSpPr txBox="1">
              <a:spLocks noChangeArrowheads="1"/>
            </p:cNvSpPr>
            <p:nvPr/>
          </p:nvSpPr>
          <p:spPr bwMode="auto">
            <a:xfrm>
              <a:off x="589" y="1076"/>
              <a:ext cx="3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m</a:t>
              </a:r>
              <a:r>
                <a:rPr kumimoji="1" lang="en-US" altLang="zh-CN" sz="2100" b="1" baseline="-25000" dirty="0">
                  <a:solidFill>
                    <a:srgbClr val="000066"/>
                  </a:solidFill>
                </a:rPr>
                <a:t>w</a:t>
              </a:r>
              <a:endParaRPr kumimoji="1" lang="en-US" altLang="zh-CN" sz="2100" b="1" dirty="0">
                <a:solidFill>
                  <a:srgbClr val="000066"/>
                </a:solidFill>
              </a:endParaRPr>
            </a:p>
          </p:txBody>
        </p:sp>
        <p:sp>
          <p:nvSpPr>
            <p:cNvPr id="5144" name="Text Box 67"/>
            <p:cNvSpPr txBox="1">
              <a:spLocks noChangeArrowheads="1"/>
            </p:cNvSpPr>
            <p:nvPr/>
          </p:nvSpPr>
          <p:spPr bwMode="auto">
            <a:xfrm>
              <a:off x="589" y="1688"/>
              <a:ext cx="27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CC0000"/>
                  </a:solidFill>
                </a:rPr>
                <a:t>m</a:t>
              </a:r>
              <a:r>
                <a:rPr kumimoji="1" lang="en-US" altLang="zh-CN" sz="2100" b="1" baseline="-25000" dirty="0" err="1">
                  <a:solidFill>
                    <a:srgbClr val="CC0000"/>
                  </a:solidFill>
                </a:rPr>
                <a:t>s</a:t>
              </a:r>
              <a:endParaRPr kumimoji="1" lang="en-US" altLang="zh-CN" sz="2100" b="1" dirty="0">
                <a:solidFill>
                  <a:srgbClr val="CC0000"/>
                </a:solidFill>
              </a:endParaRPr>
            </a:p>
          </p:txBody>
        </p:sp>
        <p:sp>
          <p:nvSpPr>
            <p:cNvPr id="5145" name="Text Box 68"/>
            <p:cNvSpPr txBox="1">
              <a:spLocks noChangeArrowheads="1"/>
            </p:cNvSpPr>
            <p:nvPr/>
          </p:nvSpPr>
          <p:spPr bwMode="auto">
            <a:xfrm>
              <a:off x="311" y="1148"/>
              <a:ext cx="22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m</a:t>
              </a:r>
            </a:p>
          </p:txBody>
        </p:sp>
        <p:sp>
          <p:nvSpPr>
            <p:cNvPr id="5146" name="Line 69"/>
            <p:cNvSpPr>
              <a:spLocks noChangeShapeType="1"/>
            </p:cNvSpPr>
            <p:nvPr/>
          </p:nvSpPr>
          <p:spPr bwMode="auto">
            <a:xfrm flipH="1">
              <a:off x="945" y="599"/>
              <a:ext cx="0" cy="41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5147" name="Line 70"/>
            <p:cNvSpPr>
              <a:spLocks noChangeShapeType="1"/>
            </p:cNvSpPr>
            <p:nvPr/>
          </p:nvSpPr>
          <p:spPr bwMode="auto">
            <a:xfrm flipH="1">
              <a:off x="949" y="1012"/>
              <a:ext cx="0" cy="579"/>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5148" name="Line 71"/>
            <p:cNvSpPr>
              <a:spLocks noChangeShapeType="1"/>
            </p:cNvSpPr>
            <p:nvPr/>
          </p:nvSpPr>
          <p:spPr bwMode="auto">
            <a:xfrm flipH="1">
              <a:off x="945" y="1588"/>
              <a:ext cx="0" cy="595"/>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5149" name="Line 72"/>
            <p:cNvSpPr>
              <a:spLocks noChangeShapeType="1"/>
            </p:cNvSpPr>
            <p:nvPr/>
          </p:nvSpPr>
          <p:spPr bwMode="auto">
            <a:xfrm flipH="1">
              <a:off x="523" y="599"/>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5150" name="Line 73"/>
            <p:cNvSpPr>
              <a:spLocks noChangeShapeType="1"/>
            </p:cNvSpPr>
            <p:nvPr/>
          </p:nvSpPr>
          <p:spPr bwMode="auto">
            <a:xfrm flipH="1">
              <a:off x="454" y="599"/>
              <a:ext cx="5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1" name="Line 74"/>
            <p:cNvSpPr>
              <a:spLocks noChangeShapeType="1"/>
            </p:cNvSpPr>
            <p:nvPr/>
          </p:nvSpPr>
          <p:spPr bwMode="auto">
            <a:xfrm flipH="1">
              <a:off x="855" y="1013"/>
              <a:ext cx="12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2" name="Line 75"/>
            <p:cNvSpPr>
              <a:spLocks noChangeShapeType="1"/>
            </p:cNvSpPr>
            <p:nvPr/>
          </p:nvSpPr>
          <p:spPr bwMode="auto">
            <a:xfrm flipH="1">
              <a:off x="851" y="1595"/>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3" name="Line 76"/>
            <p:cNvSpPr>
              <a:spLocks noChangeShapeType="1"/>
            </p:cNvSpPr>
            <p:nvPr/>
          </p:nvSpPr>
          <p:spPr bwMode="auto">
            <a:xfrm flipH="1">
              <a:off x="468" y="2177"/>
              <a:ext cx="5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4" name="Text Box 77"/>
            <p:cNvSpPr txBox="1">
              <a:spLocks noChangeArrowheads="1"/>
            </p:cNvSpPr>
            <p:nvPr/>
          </p:nvSpPr>
          <p:spPr bwMode="auto">
            <a:xfrm>
              <a:off x="521" y="2275"/>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质量</a:t>
              </a:r>
            </a:p>
          </p:txBody>
        </p:sp>
        <p:sp>
          <p:nvSpPr>
            <p:cNvPr id="5155" name="Text Box 78"/>
            <p:cNvSpPr txBox="1">
              <a:spLocks noChangeArrowheads="1"/>
            </p:cNvSpPr>
            <p:nvPr/>
          </p:nvSpPr>
          <p:spPr bwMode="auto">
            <a:xfrm>
              <a:off x="2163" y="638"/>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a</a:t>
              </a:r>
              <a:endParaRPr kumimoji="1" lang="en-US" altLang="zh-CN" sz="2100" b="1" dirty="0">
                <a:solidFill>
                  <a:srgbClr val="000066"/>
                </a:solidFill>
              </a:endParaRPr>
            </a:p>
          </p:txBody>
        </p:sp>
        <p:sp>
          <p:nvSpPr>
            <p:cNvPr id="5156" name="Text Box 79"/>
            <p:cNvSpPr txBox="1">
              <a:spLocks noChangeArrowheads="1"/>
            </p:cNvSpPr>
            <p:nvPr/>
          </p:nvSpPr>
          <p:spPr bwMode="auto">
            <a:xfrm>
              <a:off x="2163" y="1112"/>
              <a:ext cx="282"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w</a:t>
              </a:r>
              <a:endParaRPr kumimoji="1" lang="en-US" altLang="zh-CN" sz="2100" b="1" dirty="0">
                <a:solidFill>
                  <a:srgbClr val="000066"/>
                </a:solidFill>
              </a:endParaRPr>
            </a:p>
          </p:txBody>
        </p:sp>
        <p:sp>
          <p:nvSpPr>
            <p:cNvPr id="5157" name="Text Box 80"/>
            <p:cNvSpPr txBox="1">
              <a:spLocks noChangeArrowheads="1"/>
            </p:cNvSpPr>
            <p:nvPr/>
          </p:nvSpPr>
          <p:spPr bwMode="auto">
            <a:xfrm>
              <a:off x="2162" y="1767"/>
              <a:ext cx="251"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CC0000"/>
                  </a:solidFill>
                </a:rPr>
                <a:t>V</a:t>
              </a:r>
              <a:r>
                <a:rPr kumimoji="1" lang="en-US" altLang="zh-CN" sz="2100" b="1" baseline="-25000" dirty="0" err="1">
                  <a:solidFill>
                    <a:srgbClr val="CC0000"/>
                  </a:solidFill>
                </a:rPr>
                <a:t>s</a:t>
              </a:r>
              <a:endParaRPr kumimoji="1" lang="en-US" altLang="zh-CN" sz="2100" b="1" dirty="0">
                <a:solidFill>
                  <a:srgbClr val="CC0000"/>
                </a:solidFill>
              </a:endParaRPr>
            </a:p>
          </p:txBody>
        </p:sp>
        <p:sp>
          <p:nvSpPr>
            <p:cNvPr id="5158" name="Text Box 81"/>
            <p:cNvSpPr txBox="1">
              <a:spLocks noChangeArrowheads="1"/>
            </p:cNvSpPr>
            <p:nvPr/>
          </p:nvSpPr>
          <p:spPr bwMode="auto">
            <a:xfrm>
              <a:off x="2402" y="890"/>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v</a:t>
              </a:r>
              <a:endParaRPr kumimoji="1" lang="en-US" altLang="zh-CN" sz="2100" b="1" dirty="0">
                <a:solidFill>
                  <a:srgbClr val="000066"/>
                </a:solidFill>
              </a:endParaRPr>
            </a:p>
          </p:txBody>
        </p:sp>
        <p:sp>
          <p:nvSpPr>
            <p:cNvPr id="5159" name="Text Box 82"/>
            <p:cNvSpPr txBox="1">
              <a:spLocks noChangeArrowheads="1"/>
            </p:cNvSpPr>
            <p:nvPr/>
          </p:nvSpPr>
          <p:spPr bwMode="auto">
            <a:xfrm>
              <a:off x="2637" y="1148"/>
              <a:ext cx="2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V</a:t>
              </a:r>
            </a:p>
          </p:txBody>
        </p:sp>
        <p:sp>
          <p:nvSpPr>
            <p:cNvPr id="5160" name="Line 83"/>
            <p:cNvSpPr>
              <a:spLocks noChangeShapeType="1"/>
            </p:cNvSpPr>
            <p:nvPr/>
          </p:nvSpPr>
          <p:spPr bwMode="auto">
            <a:xfrm>
              <a:off x="2180" y="602"/>
              <a:ext cx="0" cy="417"/>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5161" name="Line 84"/>
            <p:cNvSpPr>
              <a:spLocks noChangeShapeType="1"/>
            </p:cNvSpPr>
            <p:nvPr/>
          </p:nvSpPr>
          <p:spPr bwMode="auto">
            <a:xfrm>
              <a:off x="2176" y="1015"/>
              <a:ext cx="0" cy="57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5162" name="Line 85"/>
            <p:cNvSpPr>
              <a:spLocks noChangeShapeType="1"/>
            </p:cNvSpPr>
            <p:nvPr/>
          </p:nvSpPr>
          <p:spPr bwMode="auto">
            <a:xfrm>
              <a:off x="2180" y="1590"/>
              <a:ext cx="0" cy="596"/>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5163" name="Line 86"/>
            <p:cNvSpPr>
              <a:spLocks noChangeShapeType="1"/>
            </p:cNvSpPr>
            <p:nvPr/>
          </p:nvSpPr>
          <p:spPr bwMode="auto">
            <a:xfrm>
              <a:off x="2438" y="602"/>
              <a:ext cx="0" cy="991"/>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5164" name="Line 87"/>
            <p:cNvSpPr>
              <a:spLocks noChangeShapeType="1"/>
            </p:cNvSpPr>
            <p:nvPr/>
          </p:nvSpPr>
          <p:spPr bwMode="auto">
            <a:xfrm>
              <a:off x="2656" y="602"/>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5165" name="Line 88"/>
            <p:cNvSpPr>
              <a:spLocks noChangeShapeType="1"/>
            </p:cNvSpPr>
            <p:nvPr/>
          </p:nvSpPr>
          <p:spPr bwMode="auto">
            <a:xfrm>
              <a:off x="2148" y="602"/>
              <a:ext cx="6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66" name="Line 89"/>
            <p:cNvSpPr>
              <a:spLocks noChangeShapeType="1"/>
            </p:cNvSpPr>
            <p:nvPr/>
          </p:nvSpPr>
          <p:spPr bwMode="auto">
            <a:xfrm>
              <a:off x="2145" y="1016"/>
              <a:ext cx="1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67" name="Line 90"/>
            <p:cNvSpPr>
              <a:spLocks noChangeShapeType="1"/>
            </p:cNvSpPr>
            <p:nvPr/>
          </p:nvSpPr>
          <p:spPr bwMode="auto">
            <a:xfrm>
              <a:off x="2145" y="1598"/>
              <a:ext cx="4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68" name="Line 91"/>
            <p:cNvSpPr>
              <a:spLocks noChangeShapeType="1"/>
            </p:cNvSpPr>
            <p:nvPr/>
          </p:nvSpPr>
          <p:spPr bwMode="auto">
            <a:xfrm>
              <a:off x="2145" y="2180"/>
              <a:ext cx="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69" name="Text Box 92"/>
            <p:cNvSpPr txBox="1">
              <a:spLocks noChangeArrowheads="1"/>
            </p:cNvSpPr>
            <p:nvPr/>
          </p:nvSpPr>
          <p:spPr bwMode="auto">
            <a:xfrm>
              <a:off x="2188" y="2289"/>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体积</a:t>
              </a:r>
            </a:p>
          </p:txBody>
        </p:sp>
      </p:grpSp>
      <p:sp>
        <p:nvSpPr>
          <p:cNvPr id="52"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15153295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86506"/>
                                        </p:tgtEl>
                                        <p:attrNameLst>
                                          <p:attrName>style.visibility</p:attrName>
                                        </p:attrNameLst>
                                      </p:cBhvr>
                                      <p:to>
                                        <p:strVal val="visible"/>
                                      </p:to>
                                    </p:set>
                                    <p:anim calcmode="lin" valueType="num">
                                      <p:cBhvr additive="base">
                                        <p:cTn id="7" dur="500" fill="hold"/>
                                        <p:tgtEl>
                                          <p:spTgt spid="1386506"/>
                                        </p:tgtEl>
                                        <p:attrNameLst>
                                          <p:attrName>ppt_x</p:attrName>
                                        </p:attrNameLst>
                                      </p:cBhvr>
                                      <p:tavLst>
                                        <p:tav tm="0">
                                          <p:val>
                                            <p:strVal val="0-#ppt_w/2"/>
                                          </p:val>
                                        </p:tav>
                                        <p:tav tm="100000">
                                          <p:val>
                                            <p:strVal val="#ppt_x"/>
                                          </p:val>
                                        </p:tav>
                                      </p:tavLst>
                                    </p:anim>
                                    <p:anim calcmode="lin" valueType="num">
                                      <p:cBhvr additive="base">
                                        <p:cTn id="8" dur="500" fill="hold"/>
                                        <p:tgtEl>
                                          <p:spTgt spid="138650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par>
                          <p:cTn id="13" fill="hold" nodeType="afterGroup">
                            <p:stCondLst>
                              <p:cond delay="1500"/>
                            </p:stCondLst>
                            <p:childTnLst>
                              <p:par>
                                <p:cTn id="14" presetID="22" presetClass="entr" presetSubtype="8" fill="hold" grpId="0" nodeType="afterEffect">
                                  <p:stCondLst>
                                    <p:cond delay="0"/>
                                  </p:stCondLst>
                                  <p:childTnLst>
                                    <p:set>
                                      <p:cBhvr>
                                        <p:cTn id="15" dur="1" fill="hold">
                                          <p:stCondLst>
                                            <p:cond delay="0"/>
                                          </p:stCondLst>
                                        </p:cTn>
                                        <p:tgtEl>
                                          <p:spTgt spid="1386548"/>
                                        </p:tgtEl>
                                        <p:attrNameLst>
                                          <p:attrName>style.visibility</p:attrName>
                                        </p:attrNameLst>
                                      </p:cBhvr>
                                      <p:to>
                                        <p:strVal val="visible"/>
                                      </p:to>
                                    </p:set>
                                    <p:animEffect transition="in" filter="wipe(left)">
                                      <p:cBhvr>
                                        <p:cTn id="16" dur="1000"/>
                                        <p:tgtEl>
                                          <p:spTgt spid="1386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6506" grpId="0"/>
      <p:bldP spid="138654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9"/>
          <p:cNvSpPr txBox="1">
            <a:spLocks noChangeArrowheads="1"/>
          </p:cNvSpPr>
          <p:nvPr/>
        </p:nvSpPr>
        <p:spPr bwMode="auto">
          <a:xfrm>
            <a:off x="2328863" y="5895975"/>
            <a:ext cx="59324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a:solidFill>
                  <a:srgbClr val="000066"/>
                </a:solidFill>
                <a:ea typeface="黑体" pitchFamily="2" charset="-122"/>
              </a:rPr>
              <a:t>基本试验指标 </a:t>
            </a:r>
            <a:r>
              <a:rPr kumimoji="1" lang="en-US" altLang="zh-CN" sz="4000" b="1">
                <a:solidFill>
                  <a:srgbClr val="000066"/>
                </a:solidFill>
                <a:ea typeface="黑体" pitchFamily="2" charset="-122"/>
              </a:rPr>
              <a:t>- </a:t>
            </a:r>
            <a:r>
              <a:rPr kumimoji="1" lang="zh-CN" altLang="en-US" sz="4000" b="1">
                <a:solidFill>
                  <a:srgbClr val="000066"/>
                </a:solidFill>
                <a:ea typeface="黑体" pitchFamily="2" charset="-122"/>
              </a:rPr>
              <a:t>含水量</a:t>
            </a:r>
          </a:p>
        </p:txBody>
      </p:sp>
      <p:grpSp>
        <p:nvGrpSpPr>
          <p:cNvPr id="2" name="Group 10"/>
          <p:cNvGrpSpPr>
            <a:grpSpLocks/>
          </p:cNvGrpSpPr>
          <p:nvPr/>
        </p:nvGrpSpPr>
        <p:grpSpPr bwMode="auto">
          <a:xfrm>
            <a:off x="476250" y="1506538"/>
            <a:ext cx="6191250" cy="2994026"/>
            <a:chOff x="300" y="949"/>
            <a:chExt cx="3900" cy="1886"/>
          </a:xfrm>
        </p:grpSpPr>
        <p:sp>
          <p:nvSpPr>
            <p:cNvPr id="6190" name="Text Box 11"/>
            <p:cNvSpPr txBox="1">
              <a:spLocks noChangeArrowheads="1"/>
            </p:cNvSpPr>
            <p:nvPr/>
          </p:nvSpPr>
          <p:spPr bwMode="auto">
            <a:xfrm>
              <a:off x="300" y="949"/>
              <a:ext cx="3900" cy="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4000"/>
                </a:lnSpc>
                <a:spcBef>
                  <a:spcPct val="10000"/>
                </a:spcBef>
                <a:spcAft>
                  <a:spcPts val="600"/>
                </a:spcAft>
                <a:buClr>
                  <a:srgbClr val="A50021"/>
                </a:buClr>
                <a:buSzPct val="120000"/>
                <a:buFontTx/>
                <a:buChar char="•"/>
              </a:pPr>
              <a:r>
                <a:rPr kumimoji="1" lang="zh-CN" altLang="en-US" sz="2400" b="1" dirty="0">
                  <a:solidFill>
                    <a:srgbClr val="000066"/>
                  </a:solidFill>
                  <a:ea typeface="幼圆" pitchFamily="49" charset="-122"/>
                </a:rPr>
                <a:t> 定义：土中水的质量与土粒质</a:t>
              </a:r>
              <a:br>
                <a:rPr kumimoji="1" lang="zh-CN" altLang="en-US" sz="2400" b="1" dirty="0">
                  <a:solidFill>
                    <a:srgbClr val="000066"/>
                  </a:solidFill>
                  <a:ea typeface="幼圆" pitchFamily="49" charset="-122"/>
                </a:rPr>
              </a:br>
              <a:r>
                <a:rPr kumimoji="1" lang="zh-CN" altLang="en-US" sz="2400" b="1" dirty="0">
                  <a:solidFill>
                    <a:srgbClr val="000066"/>
                  </a:solidFill>
                  <a:ea typeface="幼圆" pitchFamily="49" charset="-122"/>
                </a:rPr>
                <a:t>              量之比，用百分数表示</a:t>
              </a:r>
            </a:p>
            <a:p>
              <a:pPr eaLnBrk="1" hangingPunct="1">
                <a:lnSpc>
                  <a:spcPct val="114000"/>
                </a:lnSpc>
                <a:spcBef>
                  <a:spcPct val="10000"/>
                </a:spcBef>
                <a:spcAft>
                  <a:spcPct val="10000"/>
                </a:spcAft>
                <a:buClr>
                  <a:srgbClr val="A50021"/>
                </a:buClr>
                <a:buSzPct val="120000"/>
                <a:buFontTx/>
                <a:buChar char="•"/>
              </a:pPr>
              <a:r>
                <a:rPr kumimoji="1" lang="zh-CN" altLang="en-US" sz="2400" b="1" dirty="0">
                  <a:solidFill>
                    <a:srgbClr val="000066"/>
                  </a:solidFill>
                  <a:ea typeface="幼圆" pitchFamily="49" charset="-122"/>
                </a:rPr>
                <a:t>表达式：</a:t>
              </a:r>
            </a:p>
            <a:p>
              <a:pPr eaLnBrk="1" hangingPunct="1">
                <a:lnSpc>
                  <a:spcPct val="114000"/>
                </a:lnSpc>
                <a:spcBef>
                  <a:spcPct val="10000"/>
                </a:spcBef>
                <a:spcAft>
                  <a:spcPct val="10000"/>
                </a:spcAft>
                <a:buClr>
                  <a:srgbClr val="A50021"/>
                </a:buClr>
                <a:buSzPct val="120000"/>
                <a:buFontTx/>
                <a:buChar char="•"/>
              </a:pPr>
              <a:endParaRPr kumimoji="1" lang="zh-CN" altLang="en-US" sz="2400" b="1" dirty="0">
                <a:solidFill>
                  <a:srgbClr val="000066"/>
                </a:solidFill>
                <a:ea typeface="幼圆" pitchFamily="49" charset="-122"/>
              </a:endParaRPr>
            </a:p>
            <a:p>
              <a:pPr eaLnBrk="1" hangingPunct="1">
                <a:lnSpc>
                  <a:spcPct val="114000"/>
                </a:lnSpc>
                <a:spcBef>
                  <a:spcPct val="10000"/>
                </a:spcBef>
                <a:spcAft>
                  <a:spcPts val="600"/>
                </a:spcAft>
                <a:buClr>
                  <a:srgbClr val="A50021"/>
                </a:buClr>
                <a:buSzPct val="120000"/>
                <a:buFontTx/>
                <a:buChar char="•"/>
              </a:pPr>
              <a:r>
                <a:rPr kumimoji="1" lang="zh-CN" altLang="en-US" sz="2400" b="1" dirty="0" smtClean="0">
                  <a:solidFill>
                    <a:srgbClr val="000066"/>
                  </a:solidFill>
                  <a:ea typeface="幼圆" pitchFamily="49" charset="-122"/>
                </a:rPr>
                <a:t> </a:t>
              </a:r>
              <a:r>
                <a:rPr kumimoji="1" lang="zh-CN" altLang="en-US" sz="2400" b="1" dirty="0">
                  <a:solidFill>
                    <a:srgbClr val="000066"/>
                  </a:solidFill>
                  <a:ea typeface="幼圆" pitchFamily="49" charset="-122"/>
                </a:rPr>
                <a:t>单       位</a:t>
              </a:r>
              <a:r>
                <a:rPr kumimoji="1" lang="en-US" altLang="zh-CN" sz="2400" b="1" dirty="0">
                  <a:solidFill>
                    <a:srgbClr val="000066"/>
                  </a:solidFill>
                  <a:ea typeface="幼圆" pitchFamily="49" charset="-122"/>
                </a:rPr>
                <a:t>:   </a:t>
              </a:r>
              <a:r>
                <a:rPr kumimoji="1" lang="zh-CN" altLang="en-US" sz="2400" b="1" dirty="0">
                  <a:solidFill>
                    <a:srgbClr val="000066"/>
                  </a:solidFill>
                  <a:ea typeface="幼圆" pitchFamily="49" charset="-122"/>
                </a:rPr>
                <a:t>无量纲</a:t>
              </a:r>
            </a:p>
            <a:p>
              <a:pPr eaLnBrk="1" hangingPunct="1">
                <a:lnSpc>
                  <a:spcPct val="114000"/>
                </a:lnSpc>
                <a:spcBef>
                  <a:spcPct val="10000"/>
                </a:spcBef>
                <a:spcAft>
                  <a:spcPct val="10000"/>
                </a:spcAft>
                <a:buClr>
                  <a:srgbClr val="A50021"/>
                </a:buClr>
                <a:buSzPct val="120000"/>
                <a:buFontTx/>
                <a:buChar char="•"/>
              </a:pPr>
              <a:r>
                <a:rPr kumimoji="1" lang="zh-CN" altLang="en-US" sz="2400" b="1" dirty="0">
                  <a:solidFill>
                    <a:srgbClr val="000066"/>
                  </a:solidFill>
                  <a:ea typeface="幼圆" pitchFamily="49" charset="-122"/>
                </a:rPr>
                <a:t>一般范围：变化范围大</a:t>
              </a:r>
              <a:endParaRPr kumimoji="1" lang="en-US" altLang="zh-CN" sz="2400" b="1" dirty="0">
                <a:solidFill>
                  <a:srgbClr val="000066"/>
                </a:solidFill>
                <a:ea typeface="幼圆" pitchFamily="49" charset="-122"/>
              </a:endParaRPr>
            </a:p>
          </p:txBody>
        </p:sp>
        <p:graphicFrame>
          <p:nvGraphicFramePr>
            <p:cNvPr id="6146" name="Object 12"/>
            <p:cNvGraphicFramePr>
              <a:graphicFrameLocks noChangeAspect="1"/>
            </p:cNvGraphicFramePr>
            <p:nvPr>
              <p:extLst>
                <p:ext uri="{D42A27DB-BD31-4B8C-83A1-F6EECF244321}">
                  <p14:modId xmlns:p14="http://schemas.microsoft.com/office/powerpoint/2010/main" val="2876854047"/>
                </p:ext>
              </p:extLst>
            </p:nvPr>
          </p:nvGraphicFramePr>
          <p:xfrm>
            <a:off x="1291" y="1507"/>
            <a:ext cx="1770" cy="605"/>
          </p:xfrm>
          <a:graphic>
            <a:graphicData uri="http://schemas.openxmlformats.org/presentationml/2006/ole">
              <mc:AlternateContent xmlns:mc="http://schemas.openxmlformats.org/markup-compatibility/2006">
                <mc:Choice xmlns:v="urn:schemas-microsoft-com:vml" Requires="v">
                  <p:oleObj spid="_x0000_s56433" name="公式" r:id="rId4" imgW="1295280" imgH="444240" progId="Equation.3">
                    <p:embed/>
                  </p:oleObj>
                </mc:Choice>
                <mc:Fallback>
                  <p:oleObj name="公式" r:id="rId4" imgW="1295280" imgH="444240" progId="Equation.3">
                    <p:embed/>
                    <p:pic>
                      <p:nvPicPr>
                        <p:cNvPr id="0" name=""/>
                        <p:cNvPicPr>
                          <a:picLocks noChangeAspect="1" noChangeArrowheads="1"/>
                        </p:cNvPicPr>
                        <p:nvPr/>
                      </p:nvPicPr>
                      <p:blipFill>
                        <a:blip r:embed="rId5"/>
                        <a:srcRect/>
                        <a:stretch>
                          <a:fillRect/>
                        </a:stretch>
                      </p:blipFill>
                      <p:spPr bwMode="auto">
                        <a:xfrm>
                          <a:off x="1291" y="1507"/>
                          <a:ext cx="1770" cy="6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87533" name="Text Box 13"/>
          <p:cNvSpPr txBox="1">
            <a:spLocks noChangeArrowheads="1"/>
          </p:cNvSpPr>
          <p:nvPr/>
        </p:nvSpPr>
        <p:spPr bwMode="auto">
          <a:xfrm>
            <a:off x="1631211" y="4794361"/>
            <a:ext cx="61518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00000"/>
              </a:lnSpc>
              <a:spcBef>
                <a:spcPct val="0"/>
              </a:spcBef>
              <a:spcAft>
                <a:spcPct val="0"/>
              </a:spcAft>
              <a:buClr>
                <a:srgbClr val="C00000"/>
              </a:buClr>
              <a:buSzPct val="130000"/>
              <a:buFont typeface="Wingdings" panose="05000000000000000000" pitchFamily="2" charset="2"/>
              <a:buChar char="F"/>
            </a:pPr>
            <a:r>
              <a:rPr kumimoji="1" lang="zh-CN" altLang="en-US" sz="2400" b="1" dirty="0" smtClean="0">
                <a:solidFill>
                  <a:srgbClr val="000066"/>
                </a:solidFill>
                <a:latin typeface="幼圆" pitchFamily="49" charset="-122"/>
                <a:ea typeface="幼圆" pitchFamily="49" charset="-122"/>
              </a:rPr>
              <a:t> 注意</a:t>
            </a:r>
            <a:r>
              <a:rPr kumimoji="1" lang="zh-CN" altLang="en-US" sz="2400" b="1" dirty="0">
                <a:solidFill>
                  <a:srgbClr val="000066"/>
                </a:solidFill>
                <a:latin typeface="幼圆" pitchFamily="49" charset="-122"/>
                <a:ea typeface="幼圆" pitchFamily="49" charset="-122"/>
              </a:rPr>
              <a:t>：</a:t>
            </a:r>
            <a:r>
              <a:rPr kumimoji="1" lang="zh-CN" altLang="en-US" sz="2400" b="1" dirty="0" smtClean="0">
                <a:solidFill>
                  <a:srgbClr val="000066"/>
                </a:solidFill>
                <a:latin typeface="幼圆" pitchFamily="49" charset="-122"/>
                <a:ea typeface="幼圆" pitchFamily="49" charset="-122"/>
              </a:rPr>
              <a:t>其实</a:t>
            </a:r>
            <a:r>
              <a:rPr kumimoji="1" lang="zh-CN" altLang="en-US" sz="2400" b="1" dirty="0">
                <a:solidFill>
                  <a:srgbClr val="000066"/>
                </a:solidFill>
                <a:latin typeface="幼圆" pitchFamily="49" charset="-122"/>
                <a:ea typeface="幼圆" pitchFamily="49" charset="-122"/>
              </a:rPr>
              <a:t>是含水比</a:t>
            </a:r>
            <a:r>
              <a:rPr kumimoji="1" lang="en-US" altLang="zh-CN" sz="2400" b="1" dirty="0">
                <a:solidFill>
                  <a:srgbClr val="000066"/>
                </a:solidFill>
                <a:latin typeface="幼圆" pitchFamily="49" charset="-122"/>
                <a:ea typeface="幼圆" pitchFamily="49" charset="-122"/>
              </a:rPr>
              <a:t>,</a:t>
            </a:r>
            <a:r>
              <a:rPr kumimoji="1" lang="zh-CN" altLang="en-US" sz="2400" b="1" dirty="0">
                <a:solidFill>
                  <a:srgbClr val="000066"/>
                </a:solidFill>
                <a:latin typeface="幼圆" pitchFamily="49" charset="-122"/>
                <a:ea typeface="幼圆" pitchFamily="49" charset="-122"/>
              </a:rPr>
              <a:t>可达到或超过</a:t>
            </a:r>
            <a:r>
              <a:rPr kumimoji="1" lang="en-US" altLang="zh-CN" sz="2400" b="1" dirty="0">
                <a:solidFill>
                  <a:srgbClr val="000066"/>
                </a:solidFill>
                <a:latin typeface="幼圆" pitchFamily="49" charset="-122"/>
                <a:ea typeface="幼圆" pitchFamily="49" charset="-122"/>
              </a:rPr>
              <a:t>100</a:t>
            </a:r>
            <a:r>
              <a:rPr kumimoji="1" lang="zh-CN" altLang="en-US" sz="2400" b="1" dirty="0">
                <a:solidFill>
                  <a:srgbClr val="000066"/>
                </a:solidFill>
                <a:latin typeface="幼圆" pitchFamily="49" charset="-122"/>
                <a:ea typeface="幼圆" pitchFamily="49" charset="-122"/>
              </a:rPr>
              <a:t>％</a:t>
            </a:r>
          </a:p>
        </p:txBody>
      </p:sp>
      <p:sp>
        <p:nvSpPr>
          <p:cNvPr id="1387534" name="Text Box 14"/>
          <p:cNvSpPr txBox="1">
            <a:spLocks noChangeArrowheads="1"/>
          </p:cNvSpPr>
          <p:nvPr/>
        </p:nvSpPr>
        <p:spPr bwMode="auto">
          <a:xfrm>
            <a:off x="269875" y="655638"/>
            <a:ext cx="33115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kumimoji="1" lang="zh-CN" altLang="en-US" sz="3200" b="1" dirty="0">
                <a:solidFill>
                  <a:srgbClr val="800000"/>
                </a:solidFill>
                <a:ea typeface="幼圆" pitchFamily="49" charset="-122"/>
              </a:rPr>
              <a:t> 土的</a:t>
            </a:r>
            <a:r>
              <a:rPr kumimoji="1" lang="zh-CN" altLang="en-US" sz="3200" b="1" dirty="0" smtClean="0">
                <a:solidFill>
                  <a:srgbClr val="800000"/>
                </a:solidFill>
                <a:ea typeface="幼圆" pitchFamily="49" charset="-122"/>
              </a:rPr>
              <a:t>含水量</a:t>
            </a:r>
            <a:r>
              <a:rPr kumimoji="1" lang="en-US" altLang="zh-CN" sz="3200" b="1" i="1" dirty="0" smtClean="0">
                <a:solidFill>
                  <a:srgbClr val="800000"/>
                </a:solidFill>
                <a:ea typeface="幼圆" pitchFamily="49" charset="-122"/>
              </a:rPr>
              <a:t>w</a:t>
            </a:r>
            <a:endParaRPr kumimoji="1" lang="en-US" altLang="zh-CN" sz="3200" b="1" i="1" dirty="0">
              <a:solidFill>
                <a:srgbClr val="800000"/>
              </a:solidFill>
              <a:ea typeface="幼圆" pitchFamily="49" charset="-122"/>
            </a:endParaRPr>
          </a:p>
        </p:txBody>
      </p:sp>
      <p:grpSp>
        <p:nvGrpSpPr>
          <p:cNvPr id="6153" name="Group 53"/>
          <p:cNvGrpSpPr>
            <a:grpSpLocks/>
          </p:cNvGrpSpPr>
          <p:nvPr/>
        </p:nvGrpSpPr>
        <p:grpSpPr bwMode="auto">
          <a:xfrm>
            <a:off x="5051425" y="703263"/>
            <a:ext cx="4021138" cy="3206750"/>
            <a:chOff x="311" y="489"/>
            <a:chExt cx="2533" cy="2020"/>
          </a:xfrm>
        </p:grpSpPr>
        <p:sp>
          <p:nvSpPr>
            <p:cNvPr id="6154" name="Rectangle 54"/>
            <p:cNvSpPr>
              <a:spLocks noChangeArrowheads="1"/>
            </p:cNvSpPr>
            <p:nvPr/>
          </p:nvSpPr>
          <p:spPr bwMode="auto">
            <a:xfrm>
              <a:off x="328" y="489"/>
              <a:ext cx="2498" cy="202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155" name="Rectangle 55"/>
            <p:cNvSpPr>
              <a:spLocks noChangeArrowheads="1"/>
            </p:cNvSpPr>
            <p:nvPr/>
          </p:nvSpPr>
          <p:spPr bwMode="auto">
            <a:xfrm>
              <a:off x="1057" y="602"/>
              <a:ext cx="998" cy="1584"/>
            </a:xfrm>
            <a:prstGeom prst="rect">
              <a:avLst/>
            </a:prstGeom>
            <a:solidFill>
              <a:srgbClr val="FFCC99"/>
            </a:solidFill>
            <a:ln w="28575">
              <a:solidFill>
                <a:schemeClr val="tx1"/>
              </a:solidFill>
              <a:miter lim="800000"/>
              <a:headEnd/>
              <a:tailEnd/>
            </a:ln>
          </p:spPr>
          <p:txBody>
            <a:bodyPr wrap="none" anchor="ctr"/>
            <a:lstStyle/>
            <a:p>
              <a:endParaRPr lang="zh-CN" altLang="en-US"/>
            </a:p>
          </p:txBody>
        </p:sp>
        <p:sp>
          <p:nvSpPr>
            <p:cNvPr id="6156" name="Rectangle 56"/>
            <p:cNvSpPr>
              <a:spLocks noChangeArrowheads="1"/>
            </p:cNvSpPr>
            <p:nvPr/>
          </p:nvSpPr>
          <p:spPr bwMode="auto">
            <a:xfrm>
              <a:off x="1063" y="606"/>
              <a:ext cx="984" cy="4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157" name="Text Box 57"/>
            <p:cNvSpPr txBox="1">
              <a:spLocks noChangeArrowheads="1"/>
            </p:cNvSpPr>
            <p:nvPr/>
          </p:nvSpPr>
          <p:spPr bwMode="auto">
            <a:xfrm>
              <a:off x="1377" y="673"/>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空气</a:t>
              </a:r>
            </a:p>
          </p:txBody>
        </p:sp>
        <p:sp>
          <p:nvSpPr>
            <p:cNvPr id="6158" name="Rectangle 58"/>
            <p:cNvSpPr>
              <a:spLocks noChangeArrowheads="1"/>
            </p:cNvSpPr>
            <p:nvPr/>
          </p:nvSpPr>
          <p:spPr bwMode="auto">
            <a:xfrm>
              <a:off x="1062" y="1016"/>
              <a:ext cx="987" cy="571"/>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159" name="Text Box 59"/>
            <p:cNvSpPr txBox="1">
              <a:spLocks noChangeArrowheads="1"/>
            </p:cNvSpPr>
            <p:nvPr/>
          </p:nvSpPr>
          <p:spPr bwMode="auto">
            <a:xfrm>
              <a:off x="1448" y="1168"/>
              <a:ext cx="25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chemeClr val="bg1">
                      <a:lumMod val="95000"/>
                    </a:schemeClr>
                  </a:solidFill>
                  <a:latin typeface="Comic Sans MS" pitchFamily="66" charset="0"/>
                  <a:ea typeface="幼圆" pitchFamily="49" charset="-122"/>
                </a:rPr>
                <a:t>水</a:t>
              </a:r>
            </a:p>
          </p:txBody>
        </p:sp>
        <p:sp>
          <p:nvSpPr>
            <p:cNvPr id="6160" name="Rectangle 60" descr="软木塞"/>
            <p:cNvSpPr>
              <a:spLocks noChangeArrowheads="1"/>
            </p:cNvSpPr>
            <p:nvPr/>
          </p:nvSpPr>
          <p:spPr bwMode="auto">
            <a:xfrm>
              <a:off x="1063" y="1588"/>
              <a:ext cx="986" cy="59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161" name="Text Box 61"/>
            <p:cNvSpPr txBox="1">
              <a:spLocks noChangeArrowheads="1"/>
            </p:cNvSpPr>
            <p:nvPr/>
          </p:nvSpPr>
          <p:spPr bwMode="auto">
            <a:xfrm>
              <a:off x="1372" y="1764"/>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固体</a:t>
              </a:r>
            </a:p>
          </p:txBody>
        </p:sp>
        <p:sp>
          <p:nvSpPr>
            <p:cNvPr id="6162" name="Text Box 62"/>
            <p:cNvSpPr txBox="1">
              <a:spLocks noChangeArrowheads="1"/>
            </p:cNvSpPr>
            <p:nvPr/>
          </p:nvSpPr>
          <p:spPr bwMode="auto">
            <a:xfrm>
              <a:off x="527" y="683"/>
              <a:ext cx="44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i="1" dirty="0">
                  <a:solidFill>
                    <a:srgbClr val="000066"/>
                  </a:solidFill>
                </a:rPr>
                <a:t>m</a:t>
              </a:r>
              <a:r>
                <a:rPr kumimoji="1" lang="en-US" altLang="zh-CN" sz="2000" b="1" baseline="-25000" dirty="0">
                  <a:solidFill>
                    <a:srgbClr val="000066"/>
                  </a:solidFill>
                </a:rPr>
                <a:t>a</a:t>
              </a:r>
              <a:r>
                <a:rPr kumimoji="1" lang="en-US" altLang="zh-CN" sz="2000" b="1" dirty="0">
                  <a:solidFill>
                    <a:srgbClr val="000066"/>
                  </a:solidFill>
                  <a:cs typeface="Times New Roman" pitchFamily="18" charset="0"/>
                </a:rPr>
                <a:t>=0</a:t>
              </a:r>
              <a:endParaRPr kumimoji="1" lang="en-US" altLang="zh-CN" sz="2000" b="1" dirty="0">
                <a:solidFill>
                  <a:srgbClr val="000066"/>
                </a:solidFill>
              </a:endParaRPr>
            </a:p>
          </p:txBody>
        </p:sp>
        <p:sp>
          <p:nvSpPr>
            <p:cNvPr id="6163" name="Text Box 63"/>
            <p:cNvSpPr txBox="1">
              <a:spLocks noChangeArrowheads="1"/>
            </p:cNvSpPr>
            <p:nvPr/>
          </p:nvSpPr>
          <p:spPr bwMode="auto">
            <a:xfrm>
              <a:off x="589" y="1076"/>
              <a:ext cx="3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CC0000"/>
                  </a:solidFill>
                </a:rPr>
                <a:t>m</a:t>
              </a:r>
              <a:r>
                <a:rPr kumimoji="1" lang="en-US" altLang="zh-CN" sz="2100" b="1" baseline="-25000" dirty="0">
                  <a:solidFill>
                    <a:srgbClr val="CC0000"/>
                  </a:solidFill>
                </a:rPr>
                <a:t>w</a:t>
              </a:r>
              <a:endParaRPr kumimoji="1" lang="en-US" altLang="zh-CN" sz="2100" b="1" dirty="0">
                <a:solidFill>
                  <a:srgbClr val="CC0000"/>
                </a:solidFill>
              </a:endParaRPr>
            </a:p>
          </p:txBody>
        </p:sp>
        <p:sp>
          <p:nvSpPr>
            <p:cNvPr id="6164" name="Text Box 64"/>
            <p:cNvSpPr txBox="1">
              <a:spLocks noChangeArrowheads="1"/>
            </p:cNvSpPr>
            <p:nvPr/>
          </p:nvSpPr>
          <p:spPr bwMode="auto">
            <a:xfrm>
              <a:off x="589" y="1688"/>
              <a:ext cx="27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CC0000"/>
                  </a:solidFill>
                </a:rPr>
                <a:t>m</a:t>
              </a:r>
              <a:r>
                <a:rPr kumimoji="1" lang="en-US" altLang="zh-CN" sz="2100" b="1" baseline="-25000" dirty="0" err="1">
                  <a:solidFill>
                    <a:srgbClr val="CC0000"/>
                  </a:solidFill>
                </a:rPr>
                <a:t>s</a:t>
              </a:r>
              <a:endParaRPr kumimoji="1" lang="en-US" altLang="zh-CN" sz="2100" b="1" dirty="0">
                <a:solidFill>
                  <a:srgbClr val="CC0000"/>
                </a:solidFill>
              </a:endParaRPr>
            </a:p>
          </p:txBody>
        </p:sp>
        <p:sp>
          <p:nvSpPr>
            <p:cNvPr id="6165" name="Text Box 65"/>
            <p:cNvSpPr txBox="1">
              <a:spLocks noChangeArrowheads="1"/>
            </p:cNvSpPr>
            <p:nvPr/>
          </p:nvSpPr>
          <p:spPr bwMode="auto">
            <a:xfrm>
              <a:off x="311" y="1148"/>
              <a:ext cx="22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m</a:t>
              </a:r>
            </a:p>
          </p:txBody>
        </p:sp>
        <p:sp>
          <p:nvSpPr>
            <p:cNvPr id="6166" name="Line 66"/>
            <p:cNvSpPr>
              <a:spLocks noChangeShapeType="1"/>
            </p:cNvSpPr>
            <p:nvPr/>
          </p:nvSpPr>
          <p:spPr bwMode="auto">
            <a:xfrm flipH="1">
              <a:off x="945" y="599"/>
              <a:ext cx="0" cy="41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167" name="Line 67"/>
            <p:cNvSpPr>
              <a:spLocks noChangeShapeType="1"/>
            </p:cNvSpPr>
            <p:nvPr/>
          </p:nvSpPr>
          <p:spPr bwMode="auto">
            <a:xfrm flipH="1">
              <a:off x="949" y="1012"/>
              <a:ext cx="0" cy="579"/>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168" name="Line 68"/>
            <p:cNvSpPr>
              <a:spLocks noChangeShapeType="1"/>
            </p:cNvSpPr>
            <p:nvPr/>
          </p:nvSpPr>
          <p:spPr bwMode="auto">
            <a:xfrm flipH="1">
              <a:off x="945" y="1588"/>
              <a:ext cx="0" cy="595"/>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169" name="Line 69"/>
            <p:cNvSpPr>
              <a:spLocks noChangeShapeType="1"/>
            </p:cNvSpPr>
            <p:nvPr/>
          </p:nvSpPr>
          <p:spPr bwMode="auto">
            <a:xfrm flipH="1">
              <a:off x="523" y="599"/>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170" name="Line 70"/>
            <p:cNvSpPr>
              <a:spLocks noChangeShapeType="1"/>
            </p:cNvSpPr>
            <p:nvPr/>
          </p:nvSpPr>
          <p:spPr bwMode="auto">
            <a:xfrm flipH="1">
              <a:off x="454" y="599"/>
              <a:ext cx="5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1" name="Line 71"/>
            <p:cNvSpPr>
              <a:spLocks noChangeShapeType="1"/>
            </p:cNvSpPr>
            <p:nvPr/>
          </p:nvSpPr>
          <p:spPr bwMode="auto">
            <a:xfrm flipH="1">
              <a:off x="855" y="1013"/>
              <a:ext cx="12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2" name="Line 72"/>
            <p:cNvSpPr>
              <a:spLocks noChangeShapeType="1"/>
            </p:cNvSpPr>
            <p:nvPr/>
          </p:nvSpPr>
          <p:spPr bwMode="auto">
            <a:xfrm flipH="1">
              <a:off x="851" y="1595"/>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3" name="Line 73"/>
            <p:cNvSpPr>
              <a:spLocks noChangeShapeType="1"/>
            </p:cNvSpPr>
            <p:nvPr/>
          </p:nvSpPr>
          <p:spPr bwMode="auto">
            <a:xfrm flipH="1">
              <a:off x="468" y="2177"/>
              <a:ext cx="5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4" name="Text Box 74"/>
            <p:cNvSpPr txBox="1">
              <a:spLocks noChangeArrowheads="1"/>
            </p:cNvSpPr>
            <p:nvPr/>
          </p:nvSpPr>
          <p:spPr bwMode="auto">
            <a:xfrm>
              <a:off x="521" y="2275"/>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质量</a:t>
              </a:r>
            </a:p>
          </p:txBody>
        </p:sp>
        <p:sp>
          <p:nvSpPr>
            <p:cNvPr id="6175" name="Text Box 75"/>
            <p:cNvSpPr txBox="1">
              <a:spLocks noChangeArrowheads="1"/>
            </p:cNvSpPr>
            <p:nvPr/>
          </p:nvSpPr>
          <p:spPr bwMode="auto">
            <a:xfrm>
              <a:off x="2163" y="638"/>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a</a:t>
              </a:r>
              <a:endParaRPr kumimoji="1" lang="en-US" altLang="zh-CN" sz="2100" b="1" dirty="0">
                <a:solidFill>
                  <a:srgbClr val="000066"/>
                </a:solidFill>
              </a:endParaRPr>
            </a:p>
          </p:txBody>
        </p:sp>
        <p:sp>
          <p:nvSpPr>
            <p:cNvPr id="6176" name="Text Box 76"/>
            <p:cNvSpPr txBox="1">
              <a:spLocks noChangeArrowheads="1"/>
            </p:cNvSpPr>
            <p:nvPr/>
          </p:nvSpPr>
          <p:spPr bwMode="auto">
            <a:xfrm>
              <a:off x="2163" y="1112"/>
              <a:ext cx="282"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w</a:t>
              </a:r>
              <a:endParaRPr kumimoji="1" lang="en-US" altLang="zh-CN" sz="2100" b="1" dirty="0">
                <a:solidFill>
                  <a:srgbClr val="000066"/>
                </a:solidFill>
              </a:endParaRPr>
            </a:p>
          </p:txBody>
        </p:sp>
        <p:sp>
          <p:nvSpPr>
            <p:cNvPr id="6177" name="Text Box 77"/>
            <p:cNvSpPr txBox="1">
              <a:spLocks noChangeArrowheads="1"/>
            </p:cNvSpPr>
            <p:nvPr/>
          </p:nvSpPr>
          <p:spPr bwMode="auto">
            <a:xfrm>
              <a:off x="2162" y="1767"/>
              <a:ext cx="251"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s</a:t>
              </a:r>
              <a:endParaRPr kumimoji="1" lang="en-US" altLang="zh-CN" sz="2100" b="1" dirty="0">
                <a:solidFill>
                  <a:srgbClr val="000066"/>
                </a:solidFill>
              </a:endParaRPr>
            </a:p>
          </p:txBody>
        </p:sp>
        <p:sp>
          <p:nvSpPr>
            <p:cNvPr id="6178" name="Text Box 78"/>
            <p:cNvSpPr txBox="1">
              <a:spLocks noChangeArrowheads="1"/>
            </p:cNvSpPr>
            <p:nvPr/>
          </p:nvSpPr>
          <p:spPr bwMode="auto">
            <a:xfrm>
              <a:off x="2402" y="890"/>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v</a:t>
              </a:r>
              <a:endParaRPr kumimoji="1" lang="en-US" altLang="zh-CN" sz="2100" b="1" dirty="0">
                <a:solidFill>
                  <a:srgbClr val="000066"/>
                </a:solidFill>
              </a:endParaRPr>
            </a:p>
          </p:txBody>
        </p:sp>
        <p:sp>
          <p:nvSpPr>
            <p:cNvPr id="6179" name="Text Box 79"/>
            <p:cNvSpPr txBox="1">
              <a:spLocks noChangeArrowheads="1"/>
            </p:cNvSpPr>
            <p:nvPr/>
          </p:nvSpPr>
          <p:spPr bwMode="auto">
            <a:xfrm>
              <a:off x="2637" y="1148"/>
              <a:ext cx="2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V</a:t>
              </a:r>
            </a:p>
          </p:txBody>
        </p:sp>
        <p:sp>
          <p:nvSpPr>
            <p:cNvPr id="6180" name="Line 80"/>
            <p:cNvSpPr>
              <a:spLocks noChangeShapeType="1"/>
            </p:cNvSpPr>
            <p:nvPr/>
          </p:nvSpPr>
          <p:spPr bwMode="auto">
            <a:xfrm>
              <a:off x="2180" y="602"/>
              <a:ext cx="0" cy="417"/>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181" name="Line 81"/>
            <p:cNvSpPr>
              <a:spLocks noChangeShapeType="1"/>
            </p:cNvSpPr>
            <p:nvPr/>
          </p:nvSpPr>
          <p:spPr bwMode="auto">
            <a:xfrm>
              <a:off x="2176" y="1015"/>
              <a:ext cx="0" cy="57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182" name="Line 82"/>
            <p:cNvSpPr>
              <a:spLocks noChangeShapeType="1"/>
            </p:cNvSpPr>
            <p:nvPr/>
          </p:nvSpPr>
          <p:spPr bwMode="auto">
            <a:xfrm>
              <a:off x="2180" y="1590"/>
              <a:ext cx="0" cy="596"/>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183" name="Line 83"/>
            <p:cNvSpPr>
              <a:spLocks noChangeShapeType="1"/>
            </p:cNvSpPr>
            <p:nvPr/>
          </p:nvSpPr>
          <p:spPr bwMode="auto">
            <a:xfrm>
              <a:off x="2438" y="602"/>
              <a:ext cx="0" cy="991"/>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184" name="Line 84"/>
            <p:cNvSpPr>
              <a:spLocks noChangeShapeType="1"/>
            </p:cNvSpPr>
            <p:nvPr/>
          </p:nvSpPr>
          <p:spPr bwMode="auto">
            <a:xfrm>
              <a:off x="2656" y="602"/>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6185" name="Line 85"/>
            <p:cNvSpPr>
              <a:spLocks noChangeShapeType="1"/>
            </p:cNvSpPr>
            <p:nvPr/>
          </p:nvSpPr>
          <p:spPr bwMode="auto">
            <a:xfrm>
              <a:off x="2148" y="602"/>
              <a:ext cx="6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6" name="Line 86"/>
            <p:cNvSpPr>
              <a:spLocks noChangeShapeType="1"/>
            </p:cNvSpPr>
            <p:nvPr/>
          </p:nvSpPr>
          <p:spPr bwMode="auto">
            <a:xfrm>
              <a:off x="2145" y="1016"/>
              <a:ext cx="1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7" name="Line 87"/>
            <p:cNvSpPr>
              <a:spLocks noChangeShapeType="1"/>
            </p:cNvSpPr>
            <p:nvPr/>
          </p:nvSpPr>
          <p:spPr bwMode="auto">
            <a:xfrm>
              <a:off x="2145" y="1598"/>
              <a:ext cx="4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8" name="Line 88"/>
            <p:cNvSpPr>
              <a:spLocks noChangeShapeType="1"/>
            </p:cNvSpPr>
            <p:nvPr/>
          </p:nvSpPr>
          <p:spPr bwMode="auto">
            <a:xfrm>
              <a:off x="2145" y="2180"/>
              <a:ext cx="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9" name="Text Box 89"/>
            <p:cNvSpPr txBox="1">
              <a:spLocks noChangeArrowheads="1"/>
            </p:cNvSpPr>
            <p:nvPr/>
          </p:nvSpPr>
          <p:spPr bwMode="auto">
            <a:xfrm>
              <a:off x="2188" y="2289"/>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体积</a:t>
              </a:r>
            </a:p>
          </p:txBody>
        </p:sp>
      </p:grpSp>
      <p:sp>
        <p:nvSpPr>
          <p:cNvPr id="47"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41218422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87534"/>
                                        </p:tgtEl>
                                        <p:attrNameLst>
                                          <p:attrName>style.visibility</p:attrName>
                                        </p:attrNameLst>
                                      </p:cBhvr>
                                      <p:to>
                                        <p:strVal val="visible"/>
                                      </p:to>
                                    </p:set>
                                    <p:anim calcmode="lin" valueType="num">
                                      <p:cBhvr additive="base">
                                        <p:cTn id="7" dur="500" fill="hold"/>
                                        <p:tgtEl>
                                          <p:spTgt spid="1387534"/>
                                        </p:tgtEl>
                                        <p:attrNameLst>
                                          <p:attrName>ppt_x</p:attrName>
                                        </p:attrNameLst>
                                      </p:cBhvr>
                                      <p:tavLst>
                                        <p:tav tm="0">
                                          <p:val>
                                            <p:strVal val="0-#ppt_w/2"/>
                                          </p:val>
                                        </p:tav>
                                        <p:tav tm="100000">
                                          <p:val>
                                            <p:strVal val="#ppt_x"/>
                                          </p:val>
                                        </p:tav>
                                      </p:tavLst>
                                    </p:anim>
                                    <p:anim calcmode="lin" valueType="num">
                                      <p:cBhvr additive="base">
                                        <p:cTn id="8" dur="500" fill="hold"/>
                                        <p:tgtEl>
                                          <p:spTgt spid="1387534"/>
                                        </p:tgtEl>
                                        <p:attrNameLst>
                                          <p:attrName>ppt_y</p:attrName>
                                        </p:attrNameLst>
                                      </p:cBhvr>
                                      <p:tavLst>
                                        <p:tav tm="0">
                                          <p:val>
                                            <p:strVal val="#ppt_y"/>
                                          </p:val>
                                        </p:tav>
                                        <p:tav tm="100000">
                                          <p:val>
                                            <p:strVal val="#ppt_y"/>
                                          </p:val>
                                        </p:tav>
                                      </p:tavLst>
                                    </p:anim>
                                  </p:childTnLst>
                                </p:cTn>
                              </p:par>
                            </p:childTnLst>
                          </p:cTn>
                        </p:par>
                        <p:par>
                          <p:cTn id="9" fill="hold" nodeType="with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2000"/>
                                        <p:tgtEl>
                                          <p:spTgt spid="2"/>
                                        </p:tgtEl>
                                      </p:cBhvr>
                                    </p:animEffect>
                                  </p:childTnLst>
                                </p:cTn>
                              </p:par>
                            </p:childTnLst>
                          </p:cTn>
                        </p:par>
                        <p:par>
                          <p:cTn id="13" fill="hold" nodeType="afterGroup">
                            <p:stCondLst>
                              <p:cond delay="2500"/>
                            </p:stCondLst>
                            <p:childTnLst>
                              <p:par>
                                <p:cTn id="14" presetID="37" presetClass="entr" presetSubtype="0" fill="hold" grpId="0" nodeType="afterEffect">
                                  <p:stCondLst>
                                    <p:cond delay="0"/>
                                  </p:stCondLst>
                                  <p:childTnLst>
                                    <p:set>
                                      <p:cBhvr>
                                        <p:cTn id="15" dur="1" fill="hold">
                                          <p:stCondLst>
                                            <p:cond delay="0"/>
                                          </p:stCondLst>
                                        </p:cTn>
                                        <p:tgtEl>
                                          <p:spTgt spid="1387533"/>
                                        </p:tgtEl>
                                        <p:attrNameLst>
                                          <p:attrName>style.visibility</p:attrName>
                                        </p:attrNameLst>
                                      </p:cBhvr>
                                      <p:to>
                                        <p:strVal val="visible"/>
                                      </p:to>
                                    </p:set>
                                    <p:animEffect transition="in" filter="fade">
                                      <p:cBhvr>
                                        <p:cTn id="16" dur="1000"/>
                                        <p:tgtEl>
                                          <p:spTgt spid="1387533"/>
                                        </p:tgtEl>
                                      </p:cBhvr>
                                    </p:animEffect>
                                    <p:anim calcmode="lin" valueType="num">
                                      <p:cBhvr>
                                        <p:cTn id="17" dur="1000" fill="hold"/>
                                        <p:tgtEl>
                                          <p:spTgt spid="1387533"/>
                                        </p:tgtEl>
                                        <p:attrNameLst>
                                          <p:attrName>ppt_x</p:attrName>
                                        </p:attrNameLst>
                                      </p:cBhvr>
                                      <p:tavLst>
                                        <p:tav tm="0">
                                          <p:val>
                                            <p:strVal val="#ppt_x"/>
                                          </p:val>
                                        </p:tav>
                                        <p:tav tm="100000">
                                          <p:val>
                                            <p:strVal val="#ppt_x"/>
                                          </p:val>
                                        </p:tav>
                                      </p:tavLst>
                                    </p:anim>
                                    <p:anim calcmode="lin" valueType="num">
                                      <p:cBhvr>
                                        <p:cTn id="18" dur="900" decel="100000" fill="hold"/>
                                        <p:tgtEl>
                                          <p:spTgt spid="1387533"/>
                                        </p:tgtEl>
                                        <p:attrNameLst>
                                          <p:attrName>ppt_y</p:attrName>
                                        </p:attrNameLst>
                                      </p:cBhvr>
                                      <p:tavLst>
                                        <p:tav tm="0">
                                          <p:val>
                                            <p:strVal val="#ppt_y+1"/>
                                          </p:val>
                                        </p:tav>
                                        <p:tav tm="100000">
                                          <p:val>
                                            <p:strVal val="#ppt_y-.03"/>
                                          </p:val>
                                        </p:tav>
                                      </p:tavLst>
                                    </p:anim>
                                    <p:anim calcmode="lin" valueType="num">
                                      <p:cBhvr>
                                        <p:cTn id="19" dur="100" accel="100000" fill="hold">
                                          <p:stCondLst>
                                            <p:cond delay="900"/>
                                          </p:stCondLst>
                                        </p:cTn>
                                        <p:tgtEl>
                                          <p:spTgt spid="138753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533" grpId="0"/>
      <p:bldP spid="138753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8552" name="Text Box 8"/>
          <p:cNvSpPr txBox="1">
            <a:spLocks noChangeArrowheads="1"/>
          </p:cNvSpPr>
          <p:nvPr/>
        </p:nvSpPr>
        <p:spPr bwMode="auto">
          <a:xfrm>
            <a:off x="216530" y="4670626"/>
            <a:ext cx="5439992" cy="978729"/>
          </a:xfrm>
          <a:prstGeom prst="rect">
            <a:avLst/>
          </a:prstGeom>
          <a:solidFill>
            <a:schemeClr val="bg1"/>
          </a:solidFill>
          <a:ln>
            <a:noFill/>
          </a:ln>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Clr>
                <a:srgbClr val="A50021"/>
              </a:buClr>
              <a:buFont typeface="Wingdings" pitchFamily="2" charset="2"/>
              <a:buChar char="n"/>
            </a:pPr>
            <a:r>
              <a:rPr kumimoji="1" lang="zh-CN" altLang="en-US" sz="2400" b="1" dirty="0">
                <a:solidFill>
                  <a:srgbClr val="000066"/>
                </a:solidFill>
                <a:ea typeface="幼圆" pitchFamily="49" charset="-122"/>
              </a:rPr>
              <a:t>都是用以表示孔隙体积含量的指标，二者之间存在关系：</a:t>
            </a:r>
            <a:endParaRPr kumimoji="1" lang="en-US" altLang="zh-CN" sz="2400" b="1" dirty="0">
              <a:solidFill>
                <a:srgbClr val="000066"/>
              </a:solidFill>
              <a:ea typeface="幼圆" pitchFamily="49" charset="-122"/>
            </a:endParaRPr>
          </a:p>
        </p:txBody>
      </p:sp>
      <p:sp>
        <p:nvSpPr>
          <p:cNvPr id="7176" name="Text Box 9"/>
          <p:cNvSpPr txBox="1">
            <a:spLocks noChangeArrowheads="1"/>
          </p:cNvSpPr>
          <p:nvPr/>
        </p:nvSpPr>
        <p:spPr bwMode="auto">
          <a:xfrm>
            <a:off x="2062163" y="5761038"/>
            <a:ext cx="5856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4000" b="1" dirty="0">
                <a:solidFill>
                  <a:srgbClr val="000066"/>
                </a:solidFill>
                <a:ea typeface="黑体" pitchFamily="2" charset="-122"/>
              </a:rPr>
              <a:t>表示土中孔隙含量的指标</a:t>
            </a:r>
          </a:p>
        </p:txBody>
      </p:sp>
      <p:graphicFrame>
        <p:nvGraphicFramePr>
          <p:cNvPr id="1388554" name="Object 10"/>
          <p:cNvGraphicFramePr>
            <a:graphicFrameLocks noChangeAspect="1"/>
          </p:cNvGraphicFramePr>
          <p:nvPr>
            <p:extLst>
              <p:ext uri="{D42A27DB-BD31-4B8C-83A1-F6EECF244321}">
                <p14:modId xmlns:p14="http://schemas.microsoft.com/office/powerpoint/2010/main" val="2640636535"/>
              </p:ext>
            </p:extLst>
          </p:nvPr>
        </p:nvGraphicFramePr>
        <p:xfrm>
          <a:off x="5870018" y="4798679"/>
          <a:ext cx="1090612" cy="758825"/>
        </p:xfrm>
        <a:graphic>
          <a:graphicData uri="http://schemas.openxmlformats.org/presentationml/2006/ole">
            <mc:AlternateContent xmlns:mc="http://schemas.openxmlformats.org/markup-compatibility/2006">
              <mc:Choice xmlns:v="urn:schemas-microsoft-com:vml" Requires="v">
                <p:oleObj spid="_x0000_s57790" name="公式" r:id="rId4" imgW="583920" imgH="406080" progId="Equation.3">
                  <p:embed/>
                </p:oleObj>
              </mc:Choice>
              <mc:Fallback>
                <p:oleObj name="公式" r:id="rId4" imgW="583920" imgH="406080" progId="Equation.3">
                  <p:embed/>
                  <p:pic>
                    <p:nvPicPr>
                      <p:cNvPr id="0" name=""/>
                      <p:cNvPicPr>
                        <a:picLocks noChangeAspect="1" noChangeArrowheads="1"/>
                      </p:cNvPicPr>
                      <p:nvPr/>
                    </p:nvPicPr>
                    <p:blipFill>
                      <a:blip r:embed="rId5"/>
                      <a:srcRect/>
                      <a:stretch>
                        <a:fillRect/>
                      </a:stretch>
                    </p:blipFill>
                    <p:spPr bwMode="auto">
                      <a:xfrm>
                        <a:off x="5870018" y="4798679"/>
                        <a:ext cx="1090612"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8555" name="Object 11"/>
          <p:cNvGraphicFramePr>
            <a:graphicFrameLocks noChangeAspect="1"/>
          </p:cNvGraphicFramePr>
          <p:nvPr>
            <p:extLst>
              <p:ext uri="{D42A27DB-BD31-4B8C-83A1-F6EECF244321}">
                <p14:modId xmlns:p14="http://schemas.microsoft.com/office/powerpoint/2010/main" val="3128817106"/>
              </p:ext>
            </p:extLst>
          </p:nvPr>
        </p:nvGraphicFramePr>
        <p:xfrm>
          <a:off x="7495954" y="4851840"/>
          <a:ext cx="1087438" cy="758825"/>
        </p:xfrm>
        <a:graphic>
          <a:graphicData uri="http://schemas.openxmlformats.org/presentationml/2006/ole">
            <mc:AlternateContent xmlns:mc="http://schemas.openxmlformats.org/markup-compatibility/2006">
              <mc:Choice xmlns:v="urn:schemas-microsoft-com:vml" Requires="v">
                <p:oleObj spid="_x0000_s57791" name="公式" r:id="rId6" imgW="583920" imgH="406080" progId="Equation.3">
                  <p:embed/>
                </p:oleObj>
              </mc:Choice>
              <mc:Fallback>
                <p:oleObj name="公式" r:id="rId6" imgW="583920" imgH="406080" progId="Equation.3">
                  <p:embed/>
                  <p:pic>
                    <p:nvPicPr>
                      <p:cNvPr id="0" name=""/>
                      <p:cNvPicPr>
                        <a:picLocks noChangeAspect="1" noChangeArrowheads="1"/>
                      </p:cNvPicPr>
                      <p:nvPr/>
                    </p:nvPicPr>
                    <p:blipFill>
                      <a:blip r:embed="rId7"/>
                      <a:srcRect/>
                      <a:stretch>
                        <a:fillRect/>
                      </a:stretch>
                    </p:blipFill>
                    <p:spPr bwMode="auto">
                      <a:xfrm>
                        <a:off x="7495954" y="4851840"/>
                        <a:ext cx="1087438"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8556" name="Text Box 12"/>
          <p:cNvSpPr txBox="1">
            <a:spLocks noChangeArrowheads="1"/>
          </p:cNvSpPr>
          <p:nvPr/>
        </p:nvSpPr>
        <p:spPr bwMode="auto">
          <a:xfrm>
            <a:off x="1038192" y="3954812"/>
            <a:ext cx="494793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00000"/>
              </a:lnSpc>
              <a:spcBef>
                <a:spcPct val="0"/>
              </a:spcBef>
              <a:spcAft>
                <a:spcPct val="0"/>
              </a:spcAft>
              <a:buClr>
                <a:srgbClr val="C00000"/>
              </a:buClr>
              <a:buSzPct val="130000"/>
              <a:buFont typeface="Arial" panose="020B0604020202020204" pitchFamily="34" charset="0"/>
              <a:buChar char="•"/>
            </a:pPr>
            <a:r>
              <a:rPr kumimoji="1" lang="zh-CN" altLang="en-US" sz="2000" b="1" dirty="0">
                <a:solidFill>
                  <a:srgbClr val="000066"/>
                </a:solidFill>
                <a:ea typeface="幼圆" pitchFamily="49" charset="-122"/>
              </a:rPr>
              <a:t>砂类土：</a:t>
            </a:r>
            <a:r>
              <a:rPr kumimoji="1" lang="en-US" altLang="zh-CN" sz="2000" b="1" dirty="0">
                <a:solidFill>
                  <a:srgbClr val="000066"/>
                </a:solidFill>
                <a:ea typeface="幼圆" pitchFamily="49" charset="-122"/>
              </a:rPr>
              <a:t>28-35%</a:t>
            </a:r>
          </a:p>
          <a:p>
            <a:pPr marL="342900" indent="-342900" eaLnBrk="1" hangingPunct="1">
              <a:lnSpc>
                <a:spcPct val="100000"/>
              </a:lnSpc>
              <a:spcBef>
                <a:spcPct val="0"/>
              </a:spcBef>
              <a:spcAft>
                <a:spcPct val="0"/>
              </a:spcAft>
              <a:buClr>
                <a:srgbClr val="C00000"/>
              </a:buClr>
              <a:buSzPct val="130000"/>
              <a:buFont typeface="Arial" panose="020B0604020202020204" pitchFamily="34" charset="0"/>
              <a:buChar char="•"/>
            </a:pPr>
            <a:r>
              <a:rPr kumimoji="1" lang="zh-CN" altLang="en-US" sz="2000" b="1" dirty="0" smtClean="0">
                <a:solidFill>
                  <a:srgbClr val="000066"/>
                </a:solidFill>
                <a:ea typeface="幼圆" pitchFamily="49" charset="-122"/>
              </a:rPr>
              <a:t>黏性</a:t>
            </a:r>
            <a:r>
              <a:rPr kumimoji="1" lang="zh-CN" altLang="en-US" sz="2000" b="1" dirty="0">
                <a:solidFill>
                  <a:srgbClr val="000066"/>
                </a:solidFill>
                <a:ea typeface="幼圆" pitchFamily="49" charset="-122"/>
              </a:rPr>
              <a:t>土：</a:t>
            </a:r>
            <a:r>
              <a:rPr kumimoji="1" lang="en-US" altLang="zh-CN" sz="2000" b="1" dirty="0">
                <a:solidFill>
                  <a:srgbClr val="000066"/>
                </a:solidFill>
                <a:ea typeface="幼圆" pitchFamily="49" charset="-122"/>
              </a:rPr>
              <a:t>30-50%</a:t>
            </a:r>
            <a:r>
              <a:rPr kumimoji="1" lang="zh-CN" altLang="en-US" sz="2000" b="1" dirty="0">
                <a:solidFill>
                  <a:srgbClr val="000066"/>
                </a:solidFill>
                <a:ea typeface="幼圆" pitchFamily="49" charset="-122"/>
              </a:rPr>
              <a:t>，</a:t>
            </a:r>
            <a:r>
              <a:rPr kumimoji="1" lang="zh-CN" altLang="en-US" sz="2000" b="1" dirty="0" smtClean="0">
                <a:solidFill>
                  <a:srgbClr val="000066"/>
                </a:solidFill>
                <a:ea typeface="幼圆" pitchFamily="49" charset="-122"/>
              </a:rPr>
              <a:t>有时可</a:t>
            </a:r>
            <a:r>
              <a:rPr kumimoji="1" lang="zh-CN" altLang="en-US" sz="2000" b="1" dirty="0">
                <a:solidFill>
                  <a:srgbClr val="000066"/>
                </a:solidFill>
                <a:ea typeface="幼圆" pitchFamily="49" charset="-122"/>
              </a:rPr>
              <a:t>达</a:t>
            </a:r>
            <a:r>
              <a:rPr kumimoji="1" lang="en-US" altLang="zh-CN" sz="2000" b="1" dirty="0">
                <a:solidFill>
                  <a:srgbClr val="000066"/>
                </a:solidFill>
                <a:ea typeface="幼圆" pitchFamily="49" charset="-122"/>
              </a:rPr>
              <a:t>60-70%</a:t>
            </a:r>
          </a:p>
        </p:txBody>
      </p:sp>
      <p:grpSp>
        <p:nvGrpSpPr>
          <p:cNvPr id="2" name="Group 37"/>
          <p:cNvGrpSpPr>
            <a:grpSpLocks/>
          </p:cNvGrpSpPr>
          <p:nvPr/>
        </p:nvGrpSpPr>
        <p:grpSpPr bwMode="auto">
          <a:xfrm>
            <a:off x="225425" y="463583"/>
            <a:ext cx="4652963" cy="1824042"/>
            <a:chOff x="142" y="359"/>
            <a:chExt cx="2931" cy="1149"/>
          </a:xfrm>
        </p:grpSpPr>
        <p:graphicFrame>
          <p:nvGraphicFramePr>
            <p:cNvPr id="7173" name="Object 38"/>
            <p:cNvGraphicFramePr>
              <a:graphicFrameLocks noChangeAspect="1"/>
            </p:cNvGraphicFramePr>
            <p:nvPr>
              <p:extLst>
                <p:ext uri="{D42A27DB-BD31-4B8C-83A1-F6EECF244321}">
                  <p14:modId xmlns:p14="http://schemas.microsoft.com/office/powerpoint/2010/main" val="860574924"/>
                </p:ext>
              </p:extLst>
            </p:nvPr>
          </p:nvGraphicFramePr>
          <p:xfrm>
            <a:off x="629" y="942"/>
            <a:ext cx="582" cy="566"/>
          </p:xfrm>
          <a:graphic>
            <a:graphicData uri="http://schemas.openxmlformats.org/presentationml/2006/ole">
              <mc:AlternateContent xmlns:mc="http://schemas.openxmlformats.org/markup-compatibility/2006">
                <mc:Choice xmlns:v="urn:schemas-microsoft-com:vml" Requires="v">
                  <p:oleObj spid="_x0000_s57792" name="公式" r:id="rId8" imgW="457200" imgH="444240" progId="Equation.3">
                    <p:embed/>
                  </p:oleObj>
                </mc:Choice>
                <mc:Fallback>
                  <p:oleObj name="公式" r:id="rId8" imgW="457200" imgH="444240" progId="Equation.3">
                    <p:embed/>
                    <p:pic>
                      <p:nvPicPr>
                        <p:cNvPr id="0" name=""/>
                        <p:cNvPicPr>
                          <a:picLocks noChangeAspect="1" noChangeArrowheads="1"/>
                        </p:cNvPicPr>
                        <p:nvPr/>
                      </p:nvPicPr>
                      <p:blipFill>
                        <a:blip r:embed="rId9"/>
                        <a:srcRect/>
                        <a:stretch>
                          <a:fillRect/>
                        </a:stretch>
                      </p:blipFill>
                      <p:spPr bwMode="auto">
                        <a:xfrm>
                          <a:off x="629" y="942"/>
                          <a:ext cx="582" cy="5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20" name="Text Box 39"/>
            <p:cNvSpPr txBox="1">
              <a:spLocks noChangeArrowheads="1"/>
            </p:cNvSpPr>
            <p:nvPr/>
          </p:nvSpPr>
          <p:spPr bwMode="auto">
            <a:xfrm>
              <a:off x="142" y="359"/>
              <a:ext cx="2931"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Font typeface="Wingdings" pitchFamily="2" charset="2"/>
                <a:buChar char="n"/>
              </a:pPr>
              <a:r>
                <a:rPr kumimoji="1" lang="zh-CN" altLang="en-US" sz="2400" b="1" dirty="0">
                  <a:solidFill>
                    <a:srgbClr val="800000"/>
                  </a:solidFill>
                  <a:ea typeface="幼圆" pitchFamily="49" charset="-122"/>
                </a:rPr>
                <a:t>孔隙比</a:t>
              </a:r>
              <a:r>
                <a:rPr kumimoji="1" lang="en-US" altLang="zh-CN" sz="2400" b="1" i="1" dirty="0">
                  <a:solidFill>
                    <a:srgbClr val="800000"/>
                  </a:solidFill>
                  <a:ea typeface="幼圆" pitchFamily="49" charset="-122"/>
                </a:rPr>
                <a:t>e</a:t>
              </a:r>
              <a:r>
                <a:rPr kumimoji="1" lang="zh-CN" altLang="en-US" sz="2400" b="1" dirty="0">
                  <a:solidFill>
                    <a:srgbClr val="800000"/>
                  </a:solidFill>
                  <a:ea typeface="幼圆" pitchFamily="49" charset="-122"/>
                </a:rPr>
                <a:t>：</a:t>
              </a:r>
              <a:r>
                <a:rPr kumimoji="1" lang="zh-CN" altLang="en-US" sz="2400" b="1" dirty="0">
                  <a:solidFill>
                    <a:srgbClr val="000066"/>
                  </a:solidFill>
                  <a:ea typeface="幼圆" pitchFamily="49" charset="-122"/>
                </a:rPr>
                <a:t>土中孔隙体积与固体颗粒体积之</a:t>
              </a:r>
              <a:r>
                <a:rPr kumimoji="1" lang="zh-CN" altLang="en-US" sz="2400" b="1" dirty="0" smtClean="0">
                  <a:solidFill>
                    <a:srgbClr val="000066"/>
                  </a:solidFill>
                  <a:ea typeface="幼圆" pitchFamily="49" charset="-122"/>
                </a:rPr>
                <a:t>比</a:t>
              </a:r>
              <a:endParaRPr kumimoji="1" lang="zh-CN" altLang="en-US" sz="2400" b="1" dirty="0">
                <a:solidFill>
                  <a:srgbClr val="000066"/>
                </a:solidFill>
                <a:ea typeface="幼圆" pitchFamily="49" charset="-122"/>
              </a:endParaRPr>
            </a:p>
          </p:txBody>
        </p:sp>
      </p:grpSp>
      <p:grpSp>
        <p:nvGrpSpPr>
          <p:cNvPr id="3" name="Group 40"/>
          <p:cNvGrpSpPr>
            <a:grpSpLocks/>
          </p:cNvGrpSpPr>
          <p:nvPr/>
        </p:nvGrpSpPr>
        <p:grpSpPr bwMode="auto">
          <a:xfrm>
            <a:off x="222251" y="2198438"/>
            <a:ext cx="4789487" cy="1724027"/>
            <a:chOff x="140" y="1258"/>
            <a:chExt cx="3017" cy="1086"/>
          </a:xfrm>
        </p:grpSpPr>
        <p:graphicFrame>
          <p:nvGraphicFramePr>
            <p:cNvPr id="7172" name="Object 41"/>
            <p:cNvGraphicFramePr>
              <a:graphicFrameLocks noChangeAspect="1"/>
            </p:cNvGraphicFramePr>
            <p:nvPr>
              <p:extLst>
                <p:ext uri="{D42A27DB-BD31-4B8C-83A1-F6EECF244321}">
                  <p14:modId xmlns:p14="http://schemas.microsoft.com/office/powerpoint/2010/main" val="1185798675"/>
                </p:ext>
              </p:extLst>
            </p:nvPr>
          </p:nvGraphicFramePr>
          <p:xfrm>
            <a:off x="606" y="1811"/>
            <a:ext cx="1586" cy="533"/>
          </p:xfrm>
          <a:graphic>
            <a:graphicData uri="http://schemas.openxmlformats.org/presentationml/2006/ole">
              <mc:AlternateContent xmlns:mc="http://schemas.openxmlformats.org/markup-compatibility/2006">
                <mc:Choice xmlns:v="urn:schemas-microsoft-com:vml" Requires="v">
                  <p:oleObj spid="_x0000_s57793" name="公式" r:id="rId10" imgW="1206360" imgH="406080" progId="Equation.3">
                    <p:embed/>
                  </p:oleObj>
                </mc:Choice>
                <mc:Fallback>
                  <p:oleObj name="公式" r:id="rId10" imgW="1206360" imgH="406080" progId="Equation.3">
                    <p:embed/>
                    <p:pic>
                      <p:nvPicPr>
                        <p:cNvPr id="0" name=""/>
                        <p:cNvPicPr>
                          <a:picLocks noChangeAspect="1" noChangeArrowheads="1"/>
                        </p:cNvPicPr>
                        <p:nvPr/>
                      </p:nvPicPr>
                      <p:blipFill>
                        <a:blip r:embed="rId11"/>
                        <a:srcRect/>
                        <a:stretch>
                          <a:fillRect/>
                        </a:stretch>
                      </p:blipFill>
                      <p:spPr bwMode="auto">
                        <a:xfrm>
                          <a:off x="606" y="1811"/>
                          <a:ext cx="1586" cy="5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19" name="Text Box 42"/>
            <p:cNvSpPr txBox="1">
              <a:spLocks noChangeArrowheads="1"/>
            </p:cNvSpPr>
            <p:nvPr/>
          </p:nvSpPr>
          <p:spPr bwMode="auto">
            <a:xfrm>
              <a:off x="140" y="1258"/>
              <a:ext cx="3017"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Font typeface="Wingdings" pitchFamily="2" charset="2"/>
                <a:buChar char="n"/>
              </a:pPr>
              <a:r>
                <a:rPr kumimoji="1" lang="zh-CN" altLang="en-US" sz="2400" b="1" dirty="0" smtClean="0">
                  <a:solidFill>
                    <a:srgbClr val="800000"/>
                  </a:solidFill>
                  <a:ea typeface="幼圆" pitchFamily="49" charset="-122"/>
                </a:rPr>
                <a:t>孔隙率</a:t>
              </a:r>
              <a:r>
                <a:rPr kumimoji="1" lang="en-US" altLang="zh-CN" sz="2400" b="1" i="1" dirty="0" smtClean="0">
                  <a:solidFill>
                    <a:srgbClr val="800000"/>
                  </a:solidFill>
                  <a:ea typeface="幼圆" pitchFamily="49" charset="-122"/>
                </a:rPr>
                <a:t>n</a:t>
              </a:r>
              <a:r>
                <a:rPr kumimoji="1" lang="zh-CN" altLang="en-US" sz="2400" b="1" dirty="0">
                  <a:solidFill>
                    <a:srgbClr val="800000"/>
                  </a:solidFill>
                  <a:ea typeface="幼圆" pitchFamily="49" charset="-122"/>
                </a:rPr>
                <a:t>：</a:t>
              </a:r>
              <a:r>
                <a:rPr kumimoji="1" lang="zh-CN" altLang="en-US" sz="2400" b="1" dirty="0">
                  <a:solidFill>
                    <a:srgbClr val="000066"/>
                  </a:solidFill>
                  <a:ea typeface="幼圆" pitchFamily="49" charset="-122"/>
                </a:rPr>
                <a:t>土中孔隙体积与总体积之</a:t>
              </a:r>
              <a:r>
                <a:rPr kumimoji="1" lang="zh-CN" altLang="en-US" sz="2400" b="1" dirty="0" smtClean="0">
                  <a:solidFill>
                    <a:srgbClr val="000066"/>
                  </a:solidFill>
                  <a:ea typeface="幼圆" pitchFamily="49" charset="-122"/>
                </a:rPr>
                <a:t>比，百分数</a:t>
              </a:r>
              <a:r>
                <a:rPr kumimoji="1" lang="zh-CN" altLang="en-US" sz="2400" b="1" dirty="0">
                  <a:solidFill>
                    <a:srgbClr val="000066"/>
                  </a:solidFill>
                  <a:ea typeface="幼圆" pitchFamily="49" charset="-122"/>
                </a:rPr>
                <a:t>表示</a:t>
              </a:r>
            </a:p>
          </p:txBody>
        </p:sp>
      </p:grpSp>
      <p:grpSp>
        <p:nvGrpSpPr>
          <p:cNvPr id="7182" name="Group 45"/>
          <p:cNvGrpSpPr>
            <a:grpSpLocks/>
          </p:cNvGrpSpPr>
          <p:nvPr/>
        </p:nvGrpSpPr>
        <p:grpSpPr bwMode="auto">
          <a:xfrm>
            <a:off x="5051425" y="722313"/>
            <a:ext cx="4021138" cy="3206750"/>
            <a:chOff x="311" y="489"/>
            <a:chExt cx="2533" cy="2020"/>
          </a:xfrm>
        </p:grpSpPr>
        <p:sp>
          <p:nvSpPr>
            <p:cNvPr id="7183" name="Rectangle 46"/>
            <p:cNvSpPr>
              <a:spLocks noChangeArrowheads="1"/>
            </p:cNvSpPr>
            <p:nvPr/>
          </p:nvSpPr>
          <p:spPr bwMode="auto">
            <a:xfrm>
              <a:off x="328" y="489"/>
              <a:ext cx="2498" cy="202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184" name="Rectangle 47"/>
            <p:cNvSpPr>
              <a:spLocks noChangeArrowheads="1"/>
            </p:cNvSpPr>
            <p:nvPr/>
          </p:nvSpPr>
          <p:spPr bwMode="auto">
            <a:xfrm>
              <a:off x="1057" y="602"/>
              <a:ext cx="998" cy="1584"/>
            </a:xfrm>
            <a:prstGeom prst="rect">
              <a:avLst/>
            </a:prstGeom>
            <a:solidFill>
              <a:srgbClr val="FFCC99"/>
            </a:solidFill>
            <a:ln w="28575">
              <a:solidFill>
                <a:schemeClr val="tx1"/>
              </a:solidFill>
              <a:miter lim="800000"/>
              <a:headEnd/>
              <a:tailEnd/>
            </a:ln>
          </p:spPr>
          <p:txBody>
            <a:bodyPr wrap="none" anchor="ctr"/>
            <a:lstStyle/>
            <a:p>
              <a:endParaRPr lang="zh-CN" altLang="en-US"/>
            </a:p>
          </p:txBody>
        </p:sp>
        <p:sp>
          <p:nvSpPr>
            <p:cNvPr id="7185" name="Rectangle 48"/>
            <p:cNvSpPr>
              <a:spLocks noChangeArrowheads="1"/>
            </p:cNvSpPr>
            <p:nvPr/>
          </p:nvSpPr>
          <p:spPr bwMode="auto">
            <a:xfrm>
              <a:off x="1063" y="606"/>
              <a:ext cx="984" cy="4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186" name="Text Box 49"/>
            <p:cNvSpPr txBox="1">
              <a:spLocks noChangeArrowheads="1"/>
            </p:cNvSpPr>
            <p:nvPr/>
          </p:nvSpPr>
          <p:spPr bwMode="auto">
            <a:xfrm>
              <a:off x="1377" y="673"/>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空气</a:t>
              </a:r>
            </a:p>
          </p:txBody>
        </p:sp>
        <p:sp>
          <p:nvSpPr>
            <p:cNvPr id="7187" name="Rectangle 50"/>
            <p:cNvSpPr>
              <a:spLocks noChangeArrowheads="1"/>
            </p:cNvSpPr>
            <p:nvPr/>
          </p:nvSpPr>
          <p:spPr bwMode="auto">
            <a:xfrm>
              <a:off x="1062" y="1016"/>
              <a:ext cx="987" cy="571"/>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188" name="Text Box 51"/>
            <p:cNvSpPr txBox="1">
              <a:spLocks noChangeArrowheads="1"/>
            </p:cNvSpPr>
            <p:nvPr/>
          </p:nvSpPr>
          <p:spPr bwMode="auto">
            <a:xfrm>
              <a:off x="1448" y="1168"/>
              <a:ext cx="25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chemeClr val="bg1">
                      <a:lumMod val="95000"/>
                    </a:schemeClr>
                  </a:solidFill>
                  <a:latin typeface="Comic Sans MS" pitchFamily="66" charset="0"/>
                  <a:ea typeface="幼圆" pitchFamily="49" charset="-122"/>
                </a:rPr>
                <a:t>水</a:t>
              </a:r>
            </a:p>
          </p:txBody>
        </p:sp>
        <p:sp>
          <p:nvSpPr>
            <p:cNvPr id="7189" name="Rectangle 52" descr="软木塞"/>
            <p:cNvSpPr>
              <a:spLocks noChangeArrowheads="1"/>
            </p:cNvSpPr>
            <p:nvPr/>
          </p:nvSpPr>
          <p:spPr bwMode="auto">
            <a:xfrm>
              <a:off x="1063" y="1588"/>
              <a:ext cx="986" cy="591"/>
            </a:xfrm>
            <a:prstGeom prst="rect">
              <a:avLst/>
            </a:prstGeom>
            <a:blipFill dpi="0" rotWithShape="0">
              <a:blip r:embed="rId1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190" name="Text Box 53"/>
            <p:cNvSpPr txBox="1">
              <a:spLocks noChangeArrowheads="1"/>
            </p:cNvSpPr>
            <p:nvPr/>
          </p:nvSpPr>
          <p:spPr bwMode="auto">
            <a:xfrm>
              <a:off x="1372" y="1764"/>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固体</a:t>
              </a:r>
            </a:p>
          </p:txBody>
        </p:sp>
        <p:sp>
          <p:nvSpPr>
            <p:cNvPr id="7191" name="Text Box 54"/>
            <p:cNvSpPr txBox="1">
              <a:spLocks noChangeArrowheads="1"/>
            </p:cNvSpPr>
            <p:nvPr/>
          </p:nvSpPr>
          <p:spPr bwMode="auto">
            <a:xfrm>
              <a:off x="527" y="683"/>
              <a:ext cx="44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i="1" dirty="0">
                  <a:solidFill>
                    <a:srgbClr val="000066"/>
                  </a:solidFill>
                </a:rPr>
                <a:t>m</a:t>
              </a:r>
              <a:r>
                <a:rPr kumimoji="1" lang="en-US" altLang="zh-CN" sz="2000" b="1" baseline="-25000" dirty="0">
                  <a:solidFill>
                    <a:srgbClr val="000066"/>
                  </a:solidFill>
                </a:rPr>
                <a:t>a</a:t>
              </a:r>
              <a:r>
                <a:rPr kumimoji="1" lang="en-US" altLang="zh-CN" sz="2000" b="1" dirty="0">
                  <a:solidFill>
                    <a:srgbClr val="000066"/>
                  </a:solidFill>
                  <a:cs typeface="Times New Roman" pitchFamily="18" charset="0"/>
                </a:rPr>
                <a:t>=0</a:t>
              </a:r>
              <a:endParaRPr kumimoji="1" lang="en-US" altLang="zh-CN" sz="2000" b="1" dirty="0">
                <a:solidFill>
                  <a:srgbClr val="000066"/>
                </a:solidFill>
              </a:endParaRPr>
            </a:p>
          </p:txBody>
        </p:sp>
        <p:sp>
          <p:nvSpPr>
            <p:cNvPr id="7192" name="Text Box 55"/>
            <p:cNvSpPr txBox="1">
              <a:spLocks noChangeArrowheads="1"/>
            </p:cNvSpPr>
            <p:nvPr/>
          </p:nvSpPr>
          <p:spPr bwMode="auto">
            <a:xfrm>
              <a:off x="589" y="1076"/>
              <a:ext cx="3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m</a:t>
              </a:r>
              <a:r>
                <a:rPr kumimoji="1" lang="en-US" altLang="zh-CN" sz="2100" b="1" baseline="-25000" dirty="0">
                  <a:solidFill>
                    <a:srgbClr val="000066"/>
                  </a:solidFill>
                </a:rPr>
                <a:t>w</a:t>
              </a:r>
              <a:endParaRPr kumimoji="1" lang="en-US" altLang="zh-CN" sz="2100" b="1" dirty="0">
                <a:solidFill>
                  <a:srgbClr val="000066"/>
                </a:solidFill>
              </a:endParaRPr>
            </a:p>
          </p:txBody>
        </p:sp>
        <p:sp>
          <p:nvSpPr>
            <p:cNvPr id="7193" name="Text Box 56"/>
            <p:cNvSpPr txBox="1">
              <a:spLocks noChangeArrowheads="1"/>
            </p:cNvSpPr>
            <p:nvPr/>
          </p:nvSpPr>
          <p:spPr bwMode="auto">
            <a:xfrm>
              <a:off x="589" y="1688"/>
              <a:ext cx="27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m</a:t>
              </a:r>
              <a:r>
                <a:rPr kumimoji="1" lang="en-US" altLang="zh-CN" sz="2100" b="1" baseline="-25000" dirty="0" err="1">
                  <a:solidFill>
                    <a:srgbClr val="000066"/>
                  </a:solidFill>
                </a:rPr>
                <a:t>s</a:t>
              </a:r>
              <a:endParaRPr kumimoji="1" lang="en-US" altLang="zh-CN" sz="2100" b="1" dirty="0">
                <a:solidFill>
                  <a:srgbClr val="000066"/>
                </a:solidFill>
              </a:endParaRPr>
            </a:p>
          </p:txBody>
        </p:sp>
        <p:sp>
          <p:nvSpPr>
            <p:cNvPr id="7194" name="Text Box 57"/>
            <p:cNvSpPr txBox="1">
              <a:spLocks noChangeArrowheads="1"/>
            </p:cNvSpPr>
            <p:nvPr/>
          </p:nvSpPr>
          <p:spPr bwMode="auto">
            <a:xfrm>
              <a:off x="311" y="1148"/>
              <a:ext cx="22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m</a:t>
              </a:r>
            </a:p>
          </p:txBody>
        </p:sp>
        <p:sp>
          <p:nvSpPr>
            <p:cNvPr id="7195" name="Line 58"/>
            <p:cNvSpPr>
              <a:spLocks noChangeShapeType="1"/>
            </p:cNvSpPr>
            <p:nvPr/>
          </p:nvSpPr>
          <p:spPr bwMode="auto">
            <a:xfrm flipH="1">
              <a:off x="945" y="599"/>
              <a:ext cx="0" cy="41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7196" name="Line 59"/>
            <p:cNvSpPr>
              <a:spLocks noChangeShapeType="1"/>
            </p:cNvSpPr>
            <p:nvPr/>
          </p:nvSpPr>
          <p:spPr bwMode="auto">
            <a:xfrm flipH="1">
              <a:off x="949" y="1012"/>
              <a:ext cx="0" cy="579"/>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7197" name="Line 60"/>
            <p:cNvSpPr>
              <a:spLocks noChangeShapeType="1"/>
            </p:cNvSpPr>
            <p:nvPr/>
          </p:nvSpPr>
          <p:spPr bwMode="auto">
            <a:xfrm flipH="1">
              <a:off x="945" y="1588"/>
              <a:ext cx="0" cy="595"/>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7198" name="Line 61"/>
            <p:cNvSpPr>
              <a:spLocks noChangeShapeType="1"/>
            </p:cNvSpPr>
            <p:nvPr/>
          </p:nvSpPr>
          <p:spPr bwMode="auto">
            <a:xfrm flipH="1">
              <a:off x="523" y="599"/>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7199" name="Line 62"/>
            <p:cNvSpPr>
              <a:spLocks noChangeShapeType="1"/>
            </p:cNvSpPr>
            <p:nvPr/>
          </p:nvSpPr>
          <p:spPr bwMode="auto">
            <a:xfrm flipH="1">
              <a:off x="454" y="599"/>
              <a:ext cx="5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0" name="Line 63"/>
            <p:cNvSpPr>
              <a:spLocks noChangeShapeType="1"/>
            </p:cNvSpPr>
            <p:nvPr/>
          </p:nvSpPr>
          <p:spPr bwMode="auto">
            <a:xfrm flipH="1">
              <a:off x="855" y="1013"/>
              <a:ext cx="12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1" name="Line 64"/>
            <p:cNvSpPr>
              <a:spLocks noChangeShapeType="1"/>
            </p:cNvSpPr>
            <p:nvPr/>
          </p:nvSpPr>
          <p:spPr bwMode="auto">
            <a:xfrm flipH="1">
              <a:off x="851" y="1595"/>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2" name="Line 65"/>
            <p:cNvSpPr>
              <a:spLocks noChangeShapeType="1"/>
            </p:cNvSpPr>
            <p:nvPr/>
          </p:nvSpPr>
          <p:spPr bwMode="auto">
            <a:xfrm flipH="1">
              <a:off x="468" y="2177"/>
              <a:ext cx="5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3" name="Text Box 66"/>
            <p:cNvSpPr txBox="1">
              <a:spLocks noChangeArrowheads="1"/>
            </p:cNvSpPr>
            <p:nvPr/>
          </p:nvSpPr>
          <p:spPr bwMode="auto">
            <a:xfrm>
              <a:off x="521" y="2275"/>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质量</a:t>
              </a:r>
            </a:p>
          </p:txBody>
        </p:sp>
        <p:sp>
          <p:nvSpPr>
            <p:cNvPr id="7204" name="Text Box 67"/>
            <p:cNvSpPr txBox="1">
              <a:spLocks noChangeArrowheads="1"/>
            </p:cNvSpPr>
            <p:nvPr/>
          </p:nvSpPr>
          <p:spPr bwMode="auto">
            <a:xfrm>
              <a:off x="2163" y="638"/>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a</a:t>
              </a:r>
              <a:endParaRPr kumimoji="1" lang="en-US" altLang="zh-CN" sz="2100" b="1" dirty="0">
                <a:solidFill>
                  <a:srgbClr val="000066"/>
                </a:solidFill>
              </a:endParaRPr>
            </a:p>
          </p:txBody>
        </p:sp>
        <p:sp>
          <p:nvSpPr>
            <p:cNvPr id="7205" name="Text Box 68"/>
            <p:cNvSpPr txBox="1">
              <a:spLocks noChangeArrowheads="1"/>
            </p:cNvSpPr>
            <p:nvPr/>
          </p:nvSpPr>
          <p:spPr bwMode="auto">
            <a:xfrm>
              <a:off x="2163" y="1112"/>
              <a:ext cx="282"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w</a:t>
              </a:r>
              <a:endParaRPr kumimoji="1" lang="en-US" altLang="zh-CN" sz="2100" b="1" dirty="0">
                <a:solidFill>
                  <a:srgbClr val="000066"/>
                </a:solidFill>
              </a:endParaRPr>
            </a:p>
          </p:txBody>
        </p:sp>
        <p:sp>
          <p:nvSpPr>
            <p:cNvPr id="7206" name="Text Box 69"/>
            <p:cNvSpPr txBox="1">
              <a:spLocks noChangeArrowheads="1"/>
            </p:cNvSpPr>
            <p:nvPr/>
          </p:nvSpPr>
          <p:spPr bwMode="auto">
            <a:xfrm>
              <a:off x="2162" y="1767"/>
              <a:ext cx="251"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s</a:t>
              </a:r>
              <a:endParaRPr kumimoji="1" lang="en-US" altLang="zh-CN" sz="2100" b="1" dirty="0">
                <a:solidFill>
                  <a:srgbClr val="000066"/>
                </a:solidFill>
              </a:endParaRPr>
            </a:p>
          </p:txBody>
        </p:sp>
        <p:sp>
          <p:nvSpPr>
            <p:cNvPr id="7207" name="Text Box 70"/>
            <p:cNvSpPr txBox="1">
              <a:spLocks noChangeArrowheads="1"/>
            </p:cNvSpPr>
            <p:nvPr/>
          </p:nvSpPr>
          <p:spPr bwMode="auto">
            <a:xfrm>
              <a:off x="2402" y="890"/>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v</a:t>
              </a:r>
              <a:endParaRPr kumimoji="1" lang="en-US" altLang="zh-CN" sz="2100" b="1" dirty="0">
                <a:solidFill>
                  <a:srgbClr val="000066"/>
                </a:solidFill>
              </a:endParaRPr>
            </a:p>
          </p:txBody>
        </p:sp>
        <p:sp>
          <p:nvSpPr>
            <p:cNvPr id="7208" name="Text Box 71"/>
            <p:cNvSpPr txBox="1">
              <a:spLocks noChangeArrowheads="1"/>
            </p:cNvSpPr>
            <p:nvPr/>
          </p:nvSpPr>
          <p:spPr bwMode="auto">
            <a:xfrm>
              <a:off x="2637" y="1148"/>
              <a:ext cx="2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V</a:t>
              </a:r>
            </a:p>
          </p:txBody>
        </p:sp>
        <p:sp>
          <p:nvSpPr>
            <p:cNvPr id="7209" name="Line 72"/>
            <p:cNvSpPr>
              <a:spLocks noChangeShapeType="1"/>
            </p:cNvSpPr>
            <p:nvPr/>
          </p:nvSpPr>
          <p:spPr bwMode="auto">
            <a:xfrm>
              <a:off x="2180" y="602"/>
              <a:ext cx="0" cy="417"/>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7210" name="Line 73"/>
            <p:cNvSpPr>
              <a:spLocks noChangeShapeType="1"/>
            </p:cNvSpPr>
            <p:nvPr/>
          </p:nvSpPr>
          <p:spPr bwMode="auto">
            <a:xfrm>
              <a:off x="2176" y="1015"/>
              <a:ext cx="0" cy="57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7211" name="Line 74"/>
            <p:cNvSpPr>
              <a:spLocks noChangeShapeType="1"/>
            </p:cNvSpPr>
            <p:nvPr/>
          </p:nvSpPr>
          <p:spPr bwMode="auto">
            <a:xfrm>
              <a:off x="2180" y="1590"/>
              <a:ext cx="0" cy="596"/>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7212" name="Line 75"/>
            <p:cNvSpPr>
              <a:spLocks noChangeShapeType="1"/>
            </p:cNvSpPr>
            <p:nvPr/>
          </p:nvSpPr>
          <p:spPr bwMode="auto">
            <a:xfrm>
              <a:off x="2438" y="602"/>
              <a:ext cx="0" cy="991"/>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7213" name="Line 76"/>
            <p:cNvSpPr>
              <a:spLocks noChangeShapeType="1"/>
            </p:cNvSpPr>
            <p:nvPr/>
          </p:nvSpPr>
          <p:spPr bwMode="auto">
            <a:xfrm>
              <a:off x="2656" y="602"/>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7214" name="Line 77"/>
            <p:cNvSpPr>
              <a:spLocks noChangeShapeType="1"/>
            </p:cNvSpPr>
            <p:nvPr/>
          </p:nvSpPr>
          <p:spPr bwMode="auto">
            <a:xfrm>
              <a:off x="2148" y="602"/>
              <a:ext cx="6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5" name="Line 78"/>
            <p:cNvSpPr>
              <a:spLocks noChangeShapeType="1"/>
            </p:cNvSpPr>
            <p:nvPr/>
          </p:nvSpPr>
          <p:spPr bwMode="auto">
            <a:xfrm>
              <a:off x="2145" y="1016"/>
              <a:ext cx="1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6" name="Line 79"/>
            <p:cNvSpPr>
              <a:spLocks noChangeShapeType="1"/>
            </p:cNvSpPr>
            <p:nvPr/>
          </p:nvSpPr>
          <p:spPr bwMode="auto">
            <a:xfrm>
              <a:off x="2145" y="1598"/>
              <a:ext cx="4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7" name="Line 80"/>
            <p:cNvSpPr>
              <a:spLocks noChangeShapeType="1"/>
            </p:cNvSpPr>
            <p:nvPr/>
          </p:nvSpPr>
          <p:spPr bwMode="auto">
            <a:xfrm>
              <a:off x="2145" y="2180"/>
              <a:ext cx="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8" name="Text Box 81"/>
            <p:cNvSpPr txBox="1">
              <a:spLocks noChangeArrowheads="1"/>
            </p:cNvSpPr>
            <p:nvPr/>
          </p:nvSpPr>
          <p:spPr bwMode="auto">
            <a:xfrm>
              <a:off x="2188" y="2289"/>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体积</a:t>
              </a:r>
            </a:p>
          </p:txBody>
        </p:sp>
      </p:grpSp>
      <p:sp>
        <p:nvSpPr>
          <p:cNvPr id="53"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3652667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0-#ppt_w/2"/>
                                          </p:val>
                                        </p:tav>
                                        <p:tav tm="100000">
                                          <p:val>
                                            <p:strVal val="#ppt_x"/>
                                          </p:val>
                                        </p:tav>
                                      </p:tavLst>
                                    </p:anim>
                                    <p:anim calcmode="lin" valueType="num">
                                      <p:cBhvr additive="base">
                                        <p:cTn id="8" dur="2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2000" fill="hold"/>
                                        <p:tgtEl>
                                          <p:spTgt spid="3"/>
                                        </p:tgtEl>
                                        <p:attrNameLst>
                                          <p:attrName>ppt_x</p:attrName>
                                        </p:attrNameLst>
                                      </p:cBhvr>
                                      <p:tavLst>
                                        <p:tav tm="0">
                                          <p:val>
                                            <p:strVal val="0-#ppt_w/2"/>
                                          </p:val>
                                        </p:tav>
                                        <p:tav tm="100000">
                                          <p:val>
                                            <p:strVal val="#ppt_x"/>
                                          </p:val>
                                        </p:tav>
                                      </p:tavLst>
                                    </p:anim>
                                    <p:anim calcmode="lin" valueType="num">
                                      <p:cBhvr additive="base">
                                        <p:cTn id="14" dur="2000" fill="hold"/>
                                        <p:tgtEl>
                                          <p:spTgt spid="3"/>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2000"/>
                            </p:stCondLst>
                            <p:childTnLst>
                              <p:par>
                                <p:cTn id="16" presetID="2" presetClass="entr" presetSubtype="4" fill="hold" grpId="0" nodeType="afterEffect">
                                  <p:stCondLst>
                                    <p:cond delay="1500"/>
                                  </p:stCondLst>
                                  <p:childTnLst>
                                    <p:set>
                                      <p:cBhvr>
                                        <p:cTn id="17" dur="1" fill="hold">
                                          <p:stCondLst>
                                            <p:cond delay="0"/>
                                          </p:stCondLst>
                                        </p:cTn>
                                        <p:tgtEl>
                                          <p:spTgt spid="1388556"/>
                                        </p:tgtEl>
                                        <p:attrNameLst>
                                          <p:attrName>style.visibility</p:attrName>
                                        </p:attrNameLst>
                                      </p:cBhvr>
                                      <p:to>
                                        <p:strVal val="visible"/>
                                      </p:to>
                                    </p:set>
                                    <p:anim calcmode="lin" valueType="num">
                                      <p:cBhvr additive="base">
                                        <p:cTn id="18" dur="2000" fill="hold"/>
                                        <p:tgtEl>
                                          <p:spTgt spid="1388556"/>
                                        </p:tgtEl>
                                        <p:attrNameLst>
                                          <p:attrName>ppt_x</p:attrName>
                                        </p:attrNameLst>
                                      </p:cBhvr>
                                      <p:tavLst>
                                        <p:tav tm="0">
                                          <p:val>
                                            <p:strVal val="#ppt_x"/>
                                          </p:val>
                                        </p:tav>
                                        <p:tav tm="100000">
                                          <p:val>
                                            <p:strVal val="#ppt_x"/>
                                          </p:val>
                                        </p:tav>
                                      </p:tavLst>
                                    </p:anim>
                                    <p:anim calcmode="lin" valueType="num">
                                      <p:cBhvr additive="base">
                                        <p:cTn id="19" dur="2000" fill="hold"/>
                                        <p:tgtEl>
                                          <p:spTgt spid="1388556"/>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388552"/>
                                        </p:tgtEl>
                                        <p:attrNameLst>
                                          <p:attrName>style.visibility</p:attrName>
                                        </p:attrNameLst>
                                      </p:cBhvr>
                                      <p:to>
                                        <p:strVal val="visible"/>
                                      </p:to>
                                    </p:set>
                                    <p:anim calcmode="lin" valueType="num">
                                      <p:cBhvr additive="base">
                                        <p:cTn id="24" dur="2000" fill="hold"/>
                                        <p:tgtEl>
                                          <p:spTgt spid="1388552"/>
                                        </p:tgtEl>
                                        <p:attrNameLst>
                                          <p:attrName>ppt_x</p:attrName>
                                        </p:attrNameLst>
                                      </p:cBhvr>
                                      <p:tavLst>
                                        <p:tav tm="0">
                                          <p:val>
                                            <p:strVal val="0-#ppt_w/2"/>
                                          </p:val>
                                        </p:tav>
                                        <p:tav tm="100000">
                                          <p:val>
                                            <p:strVal val="#ppt_x"/>
                                          </p:val>
                                        </p:tav>
                                      </p:tavLst>
                                    </p:anim>
                                    <p:anim calcmode="lin" valueType="num">
                                      <p:cBhvr additive="base">
                                        <p:cTn id="25" dur="2000" fill="hold"/>
                                        <p:tgtEl>
                                          <p:spTgt spid="1388552"/>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2000"/>
                            </p:stCondLst>
                            <p:childTnLst>
                              <p:par>
                                <p:cTn id="27" presetID="2" presetClass="entr" presetSubtype="8" fill="hold" nodeType="afterEffect">
                                  <p:stCondLst>
                                    <p:cond delay="0"/>
                                  </p:stCondLst>
                                  <p:childTnLst>
                                    <p:set>
                                      <p:cBhvr>
                                        <p:cTn id="28" dur="1" fill="hold">
                                          <p:stCondLst>
                                            <p:cond delay="0"/>
                                          </p:stCondLst>
                                        </p:cTn>
                                        <p:tgtEl>
                                          <p:spTgt spid="1388554"/>
                                        </p:tgtEl>
                                        <p:attrNameLst>
                                          <p:attrName>style.visibility</p:attrName>
                                        </p:attrNameLst>
                                      </p:cBhvr>
                                      <p:to>
                                        <p:strVal val="visible"/>
                                      </p:to>
                                    </p:set>
                                    <p:anim calcmode="lin" valueType="num">
                                      <p:cBhvr additive="base">
                                        <p:cTn id="29" dur="2000" fill="hold"/>
                                        <p:tgtEl>
                                          <p:spTgt spid="1388554"/>
                                        </p:tgtEl>
                                        <p:attrNameLst>
                                          <p:attrName>ppt_x</p:attrName>
                                        </p:attrNameLst>
                                      </p:cBhvr>
                                      <p:tavLst>
                                        <p:tav tm="0">
                                          <p:val>
                                            <p:strVal val="0-#ppt_w/2"/>
                                          </p:val>
                                        </p:tav>
                                        <p:tav tm="100000">
                                          <p:val>
                                            <p:strVal val="#ppt_x"/>
                                          </p:val>
                                        </p:tav>
                                      </p:tavLst>
                                    </p:anim>
                                    <p:anim calcmode="lin" valueType="num">
                                      <p:cBhvr additive="base">
                                        <p:cTn id="30" dur="2000" fill="hold"/>
                                        <p:tgtEl>
                                          <p:spTgt spid="1388554"/>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1388555"/>
                                        </p:tgtEl>
                                        <p:attrNameLst>
                                          <p:attrName>style.visibility</p:attrName>
                                        </p:attrNameLst>
                                      </p:cBhvr>
                                      <p:to>
                                        <p:strVal val="visible"/>
                                      </p:to>
                                    </p:set>
                                    <p:anim calcmode="lin" valueType="num">
                                      <p:cBhvr additive="base">
                                        <p:cTn id="33" dur="2000" fill="hold"/>
                                        <p:tgtEl>
                                          <p:spTgt spid="1388555"/>
                                        </p:tgtEl>
                                        <p:attrNameLst>
                                          <p:attrName>ppt_x</p:attrName>
                                        </p:attrNameLst>
                                      </p:cBhvr>
                                      <p:tavLst>
                                        <p:tav tm="0">
                                          <p:val>
                                            <p:strVal val="1+#ppt_w/2"/>
                                          </p:val>
                                        </p:tav>
                                        <p:tav tm="100000">
                                          <p:val>
                                            <p:strVal val="#ppt_x"/>
                                          </p:val>
                                        </p:tav>
                                      </p:tavLst>
                                    </p:anim>
                                    <p:anim calcmode="lin" valueType="num">
                                      <p:cBhvr additive="base">
                                        <p:cTn id="34" dur="2000" fill="hold"/>
                                        <p:tgtEl>
                                          <p:spTgt spid="13885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8552" grpId="0" animBg="1"/>
      <p:bldP spid="138855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Text Box 8"/>
          <p:cNvSpPr txBox="1">
            <a:spLocks noChangeArrowheads="1"/>
          </p:cNvSpPr>
          <p:nvPr/>
        </p:nvSpPr>
        <p:spPr bwMode="auto">
          <a:xfrm>
            <a:off x="2219325" y="5788025"/>
            <a:ext cx="59563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4000" b="1" dirty="0">
                <a:solidFill>
                  <a:srgbClr val="000066"/>
                </a:solidFill>
                <a:ea typeface="黑体" pitchFamily="2" charset="-122"/>
              </a:rPr>
              <a:t>表示土中含水程度的指标</a:t>
            </a:r>
          </a:p>
        </p:txBody>
      </p:sp>
      <p:sp>
        <p:nvSpPr>
          <p:cNvPr id="1389577" name="Text Box 9"/>
          <p:cNvSpPr txBox="1">
            <a:spLocks noChangeArrowheads="1"/>
          </p:cNvSpPr>
          <p:nvPr/>
        </p:nvSpPr>
        <p:spPr bwMode="auto">
          <a:xfrm>
            <a:off x="1448207" y="4566943"/>
            <a:ext cx="3411190" cy="84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spcBef>
                <a:spcPct val="0"/>
              </a:spcBef>
              <a:spcAft>
                <a:spcPct val="0"/>
              </a:spcAft>
              <a:buClr>
                <a:srgbClr val="C00000"/>
              </a:buClr>
              <a:buSzPct val="130000"/>
              <a:buFont typeface="Arial" panose="020B0604020202020204" pitchFamily="34" charset="0"/>
              <a:buChar char="•"/>
            </a:pPr>
            <a:r>
              <a:rPr kumimoji="1" lang="zh-CN" altLang="en-US" sz="2400" b="1" dirty="0" smtClean="0">
                <a:solidFill>
                  <a:srgbClr val="000066"/>
                </a:solidFill>
                <a:ea typeface="幼圆" pitchFamily="49" charset="-122"/>
              </a:rPr>
              <a:t>对完全干</a:t>
            </a:r>
            <a:r>
              <a:rPr kumimoji="1" lang="zh-CN" altLang="en-US" sz="2400" b="1" dirty="0">
                <a:solidFill>
                  <a:srgbClr val="000066"/>
                </a:solidFill>
                <a:ea typeface="幼圆" pitchFamily="49" charset="-122"/>
              </a:rPr>
              <a:t>土：</a:t>
            </a:r>
            <a:r>
              <a:rPr kumimoji="1" lang="en-US" altLang="zh-CN" sz="2400" b="1" i="1" dirty="0" err="1">
                <a:solidFill>
                  <a:srgbClr val="000066"/>
                </a:solidFill>
                <a:ea typeface="幼圆" pitchFamily="49" charset="-122"/>
              </a:rPr>
              <a:t>S</a:t>
            </a:r>
            <a:r>
              <a:rPr kumimoji="1" lang="en-US" altLang="zh-CN" sz="2400" b="1" baseline="-25000" dirty="0" err="1">
                <a:solidFill>
                  <a:srgbClr val="000066"/>
                </a:solidFill>
                <a:ea typeface="幼圆" pitchFamily="49" charset="-122"/>
              </a:rPr>
              <a:t>r</a:t>
            </a:r>
            <a:r>
              <a:rPr kumimoji="1" lang="en-US" altLang="zh-CN" sz="2400" b="1" dirty="0">
                <a:solidFill>
                  <a:srgbClr val="000066"/>
                </a:solidFill>
                <a:ea typeface="幼圆" pitchFamily="49" charset="-122"/>
              </a:rPr>
              <a:t>=0</a:t>
            </a:r>
            <a:endParaRPr kumimoji="1" lang="zh-CN" altLang="en-US" sz="2400" b="1" dirty="0">
              <a:solidFill>
                <a:srgbClr val="000066"/>
              </a:solidFill>
              <a:ea typeface="幼圆" pitchFamily="49" charset="-122"/>
            </a:endParaRPr>
          </a:p>
          <a:p>
            <a:pPr marL="342900" indent="-342900" eaLnBrk="1" hangingPunct="1">
              <a:spcBef>
                <a:spcPct val="0"/>
              </a:spcBef>
              <a:spcAft>
                <a:spcPct val="0"/>
              </a:spcAft>
              <a:buClr>
                <a:srgbClr val="C00000"/>
              </a:buClr>
              <a:buSzPct val="130000"/>
              <a:buFont typeface="Arial" panose="020B0604020202020204" pitchFamily="34" charset="0"/>
              <a:buChar char="•"/>
            </a:pPr>
            <a:r>
              <a:rPr kumimoji="1" lang="zh-CN" altLang="en-US" sz="2400" b="1" dirty="0" smtClean="0">
                <a:solidFill>
                  <a:srgbClr val="000066"/>
                </a:solidFill>
                <a:ea typeface="幼圆" pitchFamily="49" charset="-122"/>
              </a:rPr>
              <a:t>对完全饱和</a:t>
            </a:r>
            <a:r>
              <a:rPr kumimoji="1" lang="zh-CN" altLang="en-US" sz="2400" b="1" dirty="0">
                <a:solidFill>
                  <a:srgbClr val="000066"/>
                </a:solidFill>
                <a:ea typeface="幼圆" pitchFamily="49" charset="-122"/>
              </a:rPr>
              <a:t>土：</a:t>
            </a:r>
            <a:r>
              <a:rPr kumimoji="1" lang="en-US" altLang="zh-CN" sz="2400" b="1" i="1" dirty="0" err="1" smtClean="0">
                <a:solidFill>
                  <a:srgbClr val="000066"/>
                </a:solidFill>
                <a:ea typeface="幼圆" pitchFamily="49" charset="-122"/>
              </a:rPr>
              <a:t>S</a:t>
            </a:r>
            <a:r>
              <a:rPr kumimoji="1" lang="en-US" altLang="zh-CN" sz="2400" b="1" baseline="-25000" dirty="0" err="1" smtClean="0">
                <a:solidFill>
                  <a:srgbClr val="000066"/>
                </a:solidFill>
                <a:ea typeface="幼圆" pitchFamily="49" charset="-122"/>
              </a:rPr>
              <a:t>r</a:t>
            </a:r>
            <a:r>
              <a:rPr kumimoji="1" lang="en-US" altLang="zh-CN" sz="2400" b="1" dirty="0" smtClean="0">
                <a:solidFill>
                  <a:srgbClr val="000066"/>
                </a:solidFill>
                <a:ea typeface="幼圆" pitchFamily="49" charset="-122"/>
              </a:rPr>
              <a:t>=1.0 </a:t>
            </a:r>
            <a:endParaRPr kumimoji="1" lang="zh-CN" altLang="en-US" sz="2400" b="1" dirty="0">
              <a:solidFill>
                <a:srgbClr val="000066"/>
              </a:solidFill>
              <a:ea typeface="幼圆" pitchFamily="49" charset="-122"/>
            </a:endParaRPr>
          </a:p>
        </p:txBody>
      </p:sp>
      <p:grpSp>
        <p:nvGrpSpPr>
          <p:cNvPr id="2" name="Group 47"/>
          <p:cNvGrpSpPr>
            <a:grpSpLocks/>
          </p:cNvGrpSpPr>
          <p:nvPr/>
        </p:nvGrpSpPr>
        <p:grpSpPr bwMode="auto">
          <a:xfrm>
            <a:off x="257175" y="636586"/>
            <a:ext cx="4470418" cy="928688"/>
            <a:chOff x="162" y="383"/>
            <a:chExt cx="2816" cy="585"/>
          </a:xfrm>
        </p:grpSpPr>
        <p:graphicFrame>
          <p:nvGraphicFramePr>
            <p:cNvPr id="8195" name="Object 48"/>
            <p:cNvGraphicFramePr>
              <a:graphicFrameLocks noChangeAspect="1"/>
            </p:cNvGraphicFramePr>
            <p:nvPr>
              <p:extLst>
                <p:ext uri="{D42A27DB-BD31-4B8C-83A1-F6EECF244321}">
                  <p14:modId xmlns:p14="http://schemas.microsoft.com/office/powerpoint/2010/main" val="260215864"/>
                </p:ext>
              </p:extLst>
            </p:nvPr>
          </p:nvGraphicFramePr>
          <p:xfrm>
            <a:off x="1272" y="383"/>
            <a:ext cx="1706" cy="585"/>
          </p:xfrm>
          <a:graphic>
            <a:graphicData uri="http://schemas.openxmlformats.org/presentationml/2006/ole">
              <mc:AlternateContent xmlns:mc="http://schemas.openxmlformats.org/markup-compatibility/2006">
                <mc:Choice xmlns:v="urn:schemas-microsoft-com:vml" Requires="v">
                  <p:oleObj spid="_x0000_s58592" name="公式" r:id="rId4" imgW="1295280" imgH="444240" progId="Equation.3">
                    <p:embed/>
                  </p:oleObj>
                </mc:Choice>
                <mc:Fallback>
                  <p:oleObj name="公式" r:id="rId4" imgW="1295280" imgH="444240" progId="Equation.3">
                    <p:embed/>
                    <p:pic>
                      <p:nvPicPr>
                        <p:cNvPr id="0" name=""/>
                        <p:cNvPicPr>
                          <a:picLocks noChangeAspect="1" noChangeArrowheads="1"/>
                        </p:cNvPicPr>
                        <p:nvPr/>
                      </p:nvPicPr>
                      <p:blipFill>
                        <a:blip r:embed="rId5"/>
                        <a:srcRect/>
                        <a:stretch>
                          <a:fillRect/>
                        </a:stretch>
                      </p:blipFill>
                      <p:spPr bwMode="auto">
                        <a:xfrm>
                          <a:off x="1272" y="383"/>
                          <a:ext cx="1706" cy="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41" name="Text Box 49"/>
            <p:cNvSpPr txBox="1">
              <a:spLocks noChangeArrowheads="1"/>
            </p:cNvSpPr>
            <p:nvPr/>
          </p:nvSpPr>
          <p:spPr bwMode="auto">
            <a:xfrm>
              <a:off x="162" y="480"/>
              <a:ext cx="1203"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Font typeface="Wingdings" pitchFamily="2" charset="2"/>
                <a:buChar char="n"/>
              </a:pPr>
              <a:r>
                <a:rPr kumimoji="1" lang="zh-CN" altLang="en-US" sz="2400" b="1" dirty="0" smtClean="0">
                  <a:solidFill>
                    <a:srgbClr val="800000"/>
                  </a:solidFill>
                  <a:ea typeface="幼圆" pitchFamily="49" charset="-122"/>
                </a:rPr>
                <a:t>含水量</a:t>
              </a:r>
              <a:r>
                <a:rPr kumimoji="1" lang="en-US" altLang="zh-CN" sz="2400" b="1" i="1" dirty="0" smtClean="0">
                  <a:solidFill>
                    <a:srgbClr val="800000"/>
                  </a:solidFill>
                  <a:ea typeface="幼圆" pitchFamily="49" charset="-122"/>
                </a:rPr>
                <a:t>w</a:t>
              </a:r>
              <a:r>
                <a:rPr kumimoji="1" lang="zh-CN" altLang="en-US" sz="2400" b="1" dirty="0" smtClean="0">
                  <a:solidFill>
                    <a:srgbClr val="800000"/>
                  </a:solidFill>
                  <a:ea typeface="幼圆" pitchFamily="49" charset="-122"/>
                </a:rPr>
                <a:t>：</a:t>
              </a:r>
              <a:endParaRPr kumimoji="1" lang="zh-CN" altLang="en-US" sz="2400" b="1" dirty="0">
                <a:solidFill>
                  <a:srgbClr val="800000"/>
                </a:solidFill>
                <a:ea typeface="幼圆" pitchFamily="49" charset="-122"/>
              </a:endParaRPr>
            </a:p>
          </p:txBody>
        </p:sp>
      </p:grpSp>
      <p:grpSp>
        <p:nvGrpSpPr>
          <p:cNvPr id="3" name="Group 50"/>
          <p:cNvGrpSpPr>
            <a:grpSpLocks/>
          </p:cNvGrpSpPr>
          <p:nvPr/>
        </p:nvGrpSpPr>
        <p:grpSpPr bwMode="auto">
          <a:xfrm>
            <a:off x="258763" y="1785938"/>
            <a:ext cx="4440237" cy="1866903"/>
            <a:chOff x="163" y="1107"/>
            <a:chExt cx="2797" cy="1176"/>
          </a:xfrm>
        </p:grpSpPr>
        <p:graphicFrame>
          <p:nvGraphicFramePr>
            <p:cNvPr id="8194" name="Object 51"/>
            <p:cNvGraphicFramePr>
              <a:graphicFrameLocks noChangeAspect="1"/>
            </p:cNvGraphicFramePr>
            <p:nvPr>
              <p:extLst>
                <p:ext uri="{D42A27DB-BD31-4B8C-83A1-F6EECF244321}">
                  <p14:modId xmlns:p14="http://schemas.microsoft.com/office/powerpoint/2010/main" val="4030271202"/>
                </p:ext>
              </p:extLst>
            </p:nvPr>
          </p:nvGraphicFramePr>
          <p:xfrm>
            <a:off x="1078" y="1759"/>
            <a:ext cx="658" cy="524"/>
          </p:xfrm>
          <a:graphic>
            <a:graphicData uri="http://schemas.openxmlformats.org/presentationml/2006/ole">
              <mc:AlternateContent xmlns:mc="http://schemas.openxmlformats.org/markup-compatibility/2006">
                <mc:Choice xmlns:v="urn:schemas-microsoft-com:vml" Requires="v">
                  <p:oleObj spid="_x0000_s58593" name="公式" r:id="rId6" imgW="558720" imgH="444240" progId="Equation.3">
                    <p:embed/>
                  </p:oleObj>
                </mc:Choice>
                <mc:Fallback>
                  <p:oleObj name="公式" r:id="rId6" imgW="558720" imgH="444240" progId="Equation.3">
                    <p:embed/>
                    <p:pic>
                      <p:nvPicPr>
                        <p:cNvPr id="0" name=""/>
                        <p:cNvPicPr>
                          <a:picLocks noChangeAspect="1" noChangeArrowheads="1"/>
                        </p:cNvPicPr>
                        <p:nvPr/>
                      </p:nvPicPr>
                      <p:blipFill>
                        <a:blip r:embed="rId7"/>
                        <a:srcRect/>
                        <a:stretch>
                          <a:fillRect/>
                        </a:stretch>
                      </p:blipFill>
                      <p:spPr bwMode="auto">
                        <a:xfrm>
                          <a:off x="1078" y="1759"/>
                          <a:ext cx="658" cy="5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40" name="Text Box 52"/>
            <p:cNvSpPr txBox="1">
              <a:spLocks noChangeArrowheads="1"/>
            </p:cNvSpPr>
            <p:nvPr/>
          </p:nvSpPr>
          <p:spPr bwMode="auto">
            <a:xfrm>
              <a:off x="163" y="1107"/>
              <a:ext cx="2797"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Font typeface="Wingdings" pitchFamily="2" charset="2"/>
                <a:buChar char="n"/>
              </a:pPr>
              <a:r>
                <a:rPr kumimoji="1" lang="zh-CN" altLang="en-US" sz="2400" b="1" dirty="0" smtClean="0">
                  <a:solidFill>
                    <a:srgbClr val="800000"/>
                  </a:solidFill>
                  <a:ea typeface="幼圆" pitchFamily="49" charset="-122"/>
                </a:rPr>
                <a:t>饱和度</a:t>
              </a:r>
              <a:r>
                <a:rPr kumimoji="1" lang="en-US" altLang="zh-CN" sz="2400" b="1" i="1" dirty="0" err="1" smtClean="0">
                  <a:solidFill>
                    <a:srgbClr val="800000"/>
                  </a:solidFill>
                  <a:ea typeface="幼圆" pitchFamily="49" charset="-122"/>
                </a:rPr>
                <a:t>S</a:t>
              </a:r>
              <a:r>
                <a:rPr kumimoji="1" lang="en-US" altLang="zh-CN" sz="2400" b="1" baseline="-25000" dirty="0" err="1" smtClean="0">
                  <a:solidFill>
                    <a:srgbClr val="800000"/>
                  </a:solidFill>
                  <a:ea typeface="幼圆" pitchFamily="49" charset="-122"/>
                </a:rPr>
                <a:t>r</a:t>
              </a:r>
              <a:r>
                <a:rPr kumimoji="1" lang="zh-CN" altLang="en-US" sz="2400" b="1" dirty="0" smtClean="0">
                  <a:solidFill>
                    <a:srgbClr val="800000"/>
                  </a:solidFill>
                  <a:ea typeface="幼圆" pitchFamily="49" charset="-122"/>
                </a:rPr>
                <a:t>：</a:t>
              </a:r>
              <a:r>
                <a:rPr kumimoji="1" lang="zh-CN" altLang="en-US" sz="2400" b="1" dirty="0">
                  <a:solidFill>
                    <a:srgbClr val="000066"/>
                  </a:solidFill>
                  <a:ea typeface="幼圆" pitchFamily="49" charset="-122"/>
                </a:rPr>
                <a:t>土中水的体积与孔隙体积的比值</a:t>
              </a:r>
            </a:p>
          </p:txBody>
        </p:sp>
      </p:grpSp>
      <p:sp>
        <p:nvSpPr>
          <p:cNvPr id="1389621" name="Text Box 53"/>
          <p:cNvSpPr txBox="1">
            <a:spLocks noChangeArrowheads="1"/>
          </p:cNvSpPr>
          <p:nvPr/>
        </p:nvSpPr>
        <p:spPr bwMode="auto">
          <a:xfrm>
            <a:off x="831007" y="4009695"/>
            <a:ext cx="50038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0"/>
              </a:spcAft>
              <a:buClr>
                <a:srgbClr val="C00000"/>
              </a:buClr>
              <a:buSzPct val="140000"/>
              <a:buFont typeface="Wingdings" pitchFamily="2" charset="2"/>
              <a:buChar char="F"/>
            </a:pPr>
            <a:r>
              <a:rPr kumimoji="1" lang="zh-CN" altLang="en-US" sz="2400" b="1" dirty="0" smtClean="0">
                <a:solidFill>
                  <a:srgbClr val="000066"/>
                </a:solidFill>
                <a:ea typeface="幼圆" pitchFamily="49" charset="-122"/>
              </a:rPr>
              <a:t> 饱和度</a:t>
            </a:r>
            <a:r>
              <a:rPr kumimoji="1" lang="zh-CN" altLang="en-US" sz="2400" b="1" dirty="0">
                <a:solidFill>
                  <a:srgbClr val="000066"/>
                </a:solidFill>
                <a:ea typeface="幼圆" pitchFamily="49" charset="-122"/>
              </a:rPr>
              <a:t>表示孔隙中充满水的程度：</a:t>
            </a:r>
          </a:p>
        </p:txBody>
      </p:sp>
      <p:grpSp>
        <p:nvGrpSpPr>
          <p:cNvPr id="8203" name="Group 55"/>
          <p:cNvGrpSpPr>
            <a:grpSpLocks/>
          </p:cNvGrpSpPr>
          <p:nvPr/>
        </p:nvGrpSpPr>
        <p:grpSpPr bwMode="auto">
          <a:xfrm>
            <a:off x="5051425" y="703263"/>
            <a:ext cx="4021138" cy="3206750"/>
            <a:chOff x="311" y="489"/>
            <a:chExt cx="2533" cy="2020"/>
          </a:xfrm>
        </p:grpSpPr>
        <p:sp>
          <p:nvSpPr>
            <p:cNvPr id="8204" name="Rectangle 56"/>
            <p:cNvSpPr>
              <a:spLocks noChangeArrowheads="1"/>
            </p:cNvSpPr>
            <p:nvPr/>
          </p:nvSpPr>
          <p:spPr bwMode="auto">
            <a:xfrm>
              <a:off x="328" y="489"/>
              <a:ext cx="2498" cy="202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205" name="Rectangle 57"/>
            <p:cNvSpPr>
              <a:spLocks noChangeArrowheads="1"/>
            </p:cNvSpPr>
            <p:nvPr/>
          </p:nvSpPr>
          <p:spPr bwMode="auto">
            <a:xfrm>
              <a:off x="1057" y="602"/>
              <a:ext cx="998" cy="1584"/>
            </a:xfrm>
            <a:prstGeom prst="rect">
              <a:avLst/>
            </a:prstGeom>
            <a:solidFill>
              <a:srgbClr val="FFCC99"/>
            </a:solidFill>
            <a:ln w="28575">
              <a:solidFill>
                <a:schemeClr val="tx1"/>
              </a:solidFill>
              <a:miter lim="800000"/>
              <a:headEnd/>
              <a:tailEnd/>
            </a:ln>
          </p:spPr>
          <p:txBody>
            <a:bodyPr wrap="none" anchor="ctr"/>
            <a:lstStyle/>
            <a:p>
              <a:endParaRPr lang="zh-CN" altLang="en-US"/>
            </a:p>
          </p:txBody>
        </p:sp>
        <p:sp>
          <p:nvSpPr>
            <p:cNvPr id="8206" name="Rectangle 58"/>
            <p:cNvSpPr>
              <a:spLocks noChangeArrowheads="1"/>
            </p:cNvSpPr>
            <p:nvPr/>
          </p:nvSpPr>
          <p:spPr bwMode="auto">
            <a:xfrm>
              <a:off x="1063" y="606"/>
              <a:ext cx="984" cy="4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207" name="Text Box 59"/>
            <p:cNvSpPr txBox="1">
              <a:spLocks noChangeArrowheads="1"/>
            </p:cNvSpPr>
            <p:nvPr/>
          </p:nvSpPr>
          <p:spPr bwMode="auto">
            <a:xfrm>
              <a:off x="1377" y="673"/>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空气</a:t>
              </a:r>
            </a:p>
          </p:txBody>
        </p:sp>
        <p:sp>
          <p:nvSpPr>
            <p:cNvPr id="8208" name="Rectangle 60"/>
            <p:cNvSpPr>
              <a:spLocks noChangeArrowheads="1"/>
            </p:cNvSpPr>
            <p:nvPr/>
          </p:nvSpPr>
          <p:spPr bwMode="auto">
            <a:xfrm>
              <a:off x="1062" y="1016"/>
              <a:ext cx="987" cy="571"/>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209" name="Text Box 61"/>
            <p:cNvSpPr txBox="1">
              <a:spLocks noChangeArrowheads="1"/>
            </p:cNvSpPr>
            <p:nvPr/>
          </p:nvSpPr>
          <p:spPr bwMode="auto">
            <a:xfrm>
              <a:off x="1448" y="1168"/>
              <a:ext cx="25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dirty="0">
                  <a:solidFill>
                    <a:schemeClr val="bg1">
                      <a:lumMod val="95000"/>
                    </a:schemeClr>
                  </a:solidFill>
                  <a:latin typeface="Comic Sans MS" pitchFamily="66" charset="0"/>
                  <a:ea typeface="幼圆" pitchFamily="49" charset="-122"/>
                </a:rPr>
                <a:t>水</a:t>
              </a:r>
            </a:p>
          </p:txBody>
        </p:sp>
        <p:sp>
          <p:nvSpPr>
            <p:cNvPr id="8210" name="Rectangle 62" descr="软木塞"/>
            <p:cNvSpPr>
              <a:spLocks noChangeArrowheads="1"/>
            </p:cNvSpPr>
            <p:nvPr/>
          </p:nvSpPr>
          <p:spPr bwMode="auto">
            <a:xfrm>
              <a:off x="1063" y="1588"/>
              <a:ext cx="986" cy="591"/>
            </a:xfrm>
            <a:prstGeom prst="rect">
              <a:avLst/>
            </a:prstGeom>
            <a:blipFill dpi="0" rotWithShape="0">
              <a:blip r:embed="rId8"/>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211" name="Text Box 63"/>
            <p:cNvSpPr txBox="1">
              <a:spLocks noChangeArrowheads="1"/>
            </p:cNvSpPr>
            <p:nvPr/>
          </p:nvSpPr>
          <p:spPr bwMode="auto">
            <a:xfrm>
              <a:off x="1372" y="1764"/>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固体</a:t>
              </a:r>
            </a:p>
          </p:txBody>
        </p:sp>
        <p:sp>
          <p:nvSpPr>
            <p:cNvPr id="8212" name="Text Box 64"/>
            <p:cNvSpPr txBox="1">
              <a:spLocks noChangeArrowheads="1"/>
            </p:cNvSpPr>
            <p:nvPr/>
          </p:nvSpPr>
          <p:spPr bwMode="auto">
            <a:xfrm>
              <a:off x="527" y="683"/>
              <a:ext cx="44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i="1" dirty="0">
                  <a:solidFill>
                    <a:srgbClr val="000066"/>
                  </a:solidFill>
                </a:rPr>
                <a:t>m</a:t>
              </a:r>
              <a:r>
                <a:rPr kumimoji="1" lang="en-US" altLang="zh-CN" sz="2000" b="1" baseline="-25000" dirty="0">
                  <a:solidFill>
                    <a:srgbClr val="000066"/>
                  </a:solidFill>
                </a:rPr>
                <a:t>a</a:t>
              </a:r>
              <a:r>
                <a:rPr kumimoji="1" lang="en-US" altLang="zh-CN" sz="2000" b="1" dirty="0">
                  <a:solidFill>
                    <a:srgbClr val="000066"/>
                  </a:solidFill>
                  <a:cs typeface="Times New Roman" pitchFamily="18" charset="0"/>
                </a:rPr>
                <a:t>=0</a:t>
              </a:r>
              <a:endParaRPr kumimoji="1" lang="en-US" altLang="zh-CN" sz="2000" b="1" dirty="0">
                <a:solidFill>
                  <a:srgbClr val="000066"/>
                </a:solidFill>
              </a:endParaRPr>
            </a:p>
          </p:txBody>
        </p:sp>
        <p:sp>
          <p:nvSpPr>
            <p:cNvPr id="8213" name="Text Box 65"/>
            <p:cNvSpPr txBox="1">
              <a:spLocks noChangeArrowheads="1"/>
            </p:cNvSpPr>
            <p:nvPr/>
          </p:nvSpPr>
          <p:spPr bwMode="auto">
            <a:xfrm>
              <a:off x="589" y="1076"/>
              <a:ext cx="3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m</a:t>
              </a:r>
              <a:r>
                <a:rPr kumimoji="1" lang="en-US" altLang="zh-CN" sz="2100" b="1" baseline="-25000" dirty="0">
                  <a:solidFill>
                    <a:srgbClr val="000066"/>
                  </a:solidFill>
                </a:rPr>
                <a:t>w</a:t>
              </a:r>
              <a:endParaRPr kumimoji="1" lang="en-US" altLang="zh-CN" sz="2100" b="1" dirty="0">
                <a:solidFill>
                  <a:srgbClr val="000066"/>
                </a:solidFill>
              </a:endParaRPr>
            </a:p>
          </p:txBody>
        </p:sp>
        <p:sp>
          <p:nvSpPr>
            <p:cNvPr id="8214" name="Text Box 66"/>
            <p:cNvSpPr txBox="1">
              <a:spLocks noChangeArrowheads="1"/>
            </p:cNvSpPr>
            <p:nvPr/>
          </p:nvSpPr>
          <p:spPr bwMode="auto">
            <a:xfrm>
              <a:off x="589" y="1688"/>
              <a:ext cx="27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m</a:t>
              </a:r>
              <a:r>
                <a:rPr kumimoji="1" lang="en-US" altLang="zh-CN" sz="2100" b="1" baseline="-25000" dirty="0" err="1">
                  <a:solidFill>
                    <a:srgbClr val="000066"/>
                  </a:solidFill>
                </a:rPr>
                <a:t>s</a:t>
              </a:r>
              <a:endParaRPr kumimoji="1" lang="en-US" altLang="zh-CN" sz="2100" b="1" dirty="0">
                <a:solidFill>
                  <a:srgbClr val="000066"/>
                </a:solidFill>
              </a:endParaRPr>
            </a:p>
          </p:txBody>
        </p:sp>
        <p:sp>
          <p:nvSpPr>
            <p:cNvPr id="8215" name="Text Box 67"/>
            <p:cNvSpPr txBox="1">
              <a:spLocks noChangeArrowheads="1"/>
            </p:cNvSpPr>
            <p:nvPr/>
          </p:nvSpPr>
          <p:spPr bwMode="auto">
            <a:xfrm>
              <a:off x="311" y="1148"/>
              <a:ext cx="22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m</a:t>
              </a:r>
            </a:p>
          </p:txBody>
        </p:sp>
        <p:sp>
          <p:nvSpPr>
            <p:cNvPr id="8216" name="Line 68"/>
            <p:cNvSpPr>
              <a:spLocks noChangeShapeType="1"/>
            </p:cNvSpPr>
            <p:nvPr/>
          </p:nvSpPr>
          <p:spPr bwMode="auto">
            <a:xfrm flipH="1">
              <a:off x="945" y="599"/>
              <a:ext cx="0" cy="41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217" name="Line 69"/>
            <p:cNvSpPr>
              <a:spLocks noChangeShapeType="1"/>
            </p:cNvSpPr>
            <p:nvPr/>
          </p:nvSpPr>
          <p:spPr bwMode="auto">
            <a:xfrm flipH="1">
              <a:off x="949" y="1012"/>
              <a:ext cx="0" cy="579"/>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218" name="Line 70"/>
            <p:cNvSpPr>
              <a:spLocks noChangeShapeType="1"/>
            </p:cNvSpPr>
            <p:nvPr/>
          </p:nvSpPr>
          <p:spPr bwMode="auto">
            <a:xfrm flipH="1">
              <a:off x="945" y="1588"/>
              <a:ext cx="0" cy="595"/>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219" name="Line 71"/>
            <p:cNvSpPr>
              <a:spLocks noChangeShapeType="1"/>
            </p:cNvSpPr>
            <p:nvPr/>
          </p:nvSpPr>
          <p:spPr bwMode="auto">
            <a:xfrm flipH="1">
              <a:off x="523" y="599"/>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220" name="Line 72"/>
            <p:cNvSpPr>
              <a:spLocks noChangeShapeType="1"/>
            </p:cNvSpPr>
            <p:nvPr/>
          </p:nvSpPr>
          <p:spPr bwMode="auto">
            <a:xfrm flipH="1">
              <a:off x="454" y="599"/>
              <a:ext cx="5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 name="Line 73"/>
            <p:cNvSpPr>
              <a:spLocks noChangeShapeType="1"/>
            </p:cNvSpPr>
            <p:nvPr/>
          </p:nvSpPr>
          <p:spPr bwMode="auto">
            <a:xfrm flipH="1">
              <a:off x="855" y="1013"/>
              <a:ext cx="12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2" name="Line 74"/>
            <p:cNvSpPr>
              <a:spLocks noChangeShapeType="1"/>
            </p:cNvSpPr>
            <p:nvPr/>
          </p:nvSpPr>
          <p:spPr bwMode="auto">
            <a:xfrm flipH="1">
              <a:off x="851" y="1595"/>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 name="Line 75"/>
            <p:cNvSpPr>
              <a:spLocks noChangeShapeType="1"/>
            </p:cNvSpPr>
            <p:nvPr/>
          </p:nvSpPr>
          <p:spPr bwMode="auto">
            <a:xfrm flipH="1">
              <a:off x="468" y="2177"/>
              <a:ext cx="5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 name="Text Box 76"/>
            <p:cNvSpPr txBox="1">
              <a:spLocks noChangeArrowheads="1"/>
            </p:cNvSpPr>
            <p:nvPr/>
          </p:nvSpPr>
          <p:spPr bwMode="auto">
            <a:xfrm>
              <a:off x="521" y="2275"/>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质量</a:t>
              </a:r>
            </a:p>
          </p:txBody>
        </p:sp>
        <p:sp>
          <p:nvSpPr>
            <p:cNvPr id="8225" name="Text Box 77"/>
            <p:cNvSpPr txBox="1">
              <a:spLocks noChangeArrowheads="1"/>
            </p:cNvSpPr>
            <p:nvPr/>
          </p:nvSpPr>
          <p:spPr bwMode="auto">
            <a:xfrm>
              <a:off x="2163" y="638"/>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a</a:t>
              </a:r>
              <a:endParaRPr kumimoji="1" lang="en-US" altLang="zh-CN" sz="2100" b="1" dirty="0">
                <a:solidFill>
                  <a:srgbClr val="000066"/>
                </a:solidFill>
              </a:endParaRPr>
            </a:p>
          </p:txBody>
        </p:sp>
        <p:sp>
          <p:nvSpPr>
            <p:cNvPr id="8226" name="Text Box 78"/>
            <p:cNvSpPr txBox="1">
              <a:spLocks noChangeArrowheads="1"/>
            </p:cNvSpPr>
            <p:nvPr/>
          </p:nvSpPr>
          <p:spPr bwMode="auto">
            <a:xfrm>
              <a:off x="2163" y="1112"/>
              <a:ext cx="282"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w</a:t>
              </a:r>
              <a:endParaRPr kumimoji="1" lang="en-US" altLang="zh-CN" sz="2100" b="1" dirty="0">
                <a:solidFill>
                  <a:srgbClr val="000066"/>
                </a:solidFill>
              </a:endParaRPr>
            </a:p>
          </p:txBody>
        </p:sp>
        <p:sp>
          <p:nvSpPr>
            <p:cNvPr id="8227" name="Text Box 79"/>
            <p:cNvSpPr txBox="1">
              <a:spLocks noChangeArrowheads="1"/>
            </p:cNvSpPr>
            <p:nvPr/>
          </p:nvSpPr>
          <p:spPr bwMode="auto">
            <a:xfrm>
              <a:off x="2162" y="1767"/>
              <a:ext cx="251"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s</a:t>
              </a:r>
              <a:endParaRPr kumimoji="1" lang="en-US" altLang="zh-CN" sz="2100" b="1" dirty="0">
                <a:solidFill>
                  <a:srgbClr val="000066"/>
                </a:solidFill>
              </a:endParaRPr>
            </a:p>
          </p:txBody>
        </p:sp>
        <p:sp>
          <p:nvSpPr>
            <p:cNvPr id="8228" name="Text Box 80"/>
            <p:cNvSpPr txBox="1">
              <a:spLocks noChangeArrowheads="1"/>
            </p:cNvSpPr>
            <p:nvPr/>
          </p:nvSpPr>
          <p:spPr bwMode="auto">
            <a:xfrm>
              <a:off x="2402" y="890"/>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v</a:t>
              </a:r>
              <a:endParaRPr kumimoji="1" lang="en-US" altLang="zh-CN" sz="2100" b="1" dirty="0">
                <a:solidFill>
                  <a:srgbClr val="000066"/>
                </a:solidFill>
              </a:endParaRPr>
            </a:p>
          </p:txBody>
        </p:sp>
        <p:sp>
          <p:nvSpPr>
            <p:cNvPr id="8229" name="Text Box 81"/>
            <p:cNvSpPr txBox="1">
              <a:spLocks noChangeArrowheads="1"/>
            </p:cNvSpPr>
            <p:nvPr/>
          </p:nvSpPr>
          <p:spPr bwMode="auto">
            <a:xfrm>
              <a:off x="2637" y="1148"/>
              <a:ext cx="2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V</a:t>
              </a:r>
            </a:p>
          </p:txBody>
        </p:sp>
        <p:sp>
          <p:nvSpPr>
            <p:cNvPr id="8230" name="Line 82"/>
            <p:cNvSpPr>
              <a:spLocks noChangeShapeType="1"/>
            </p:cNvSpPr>
            <p:nvPr/>
          </p:nvSpPr>
          <p:spPr bwMode="auto">
            <a:xfrm>
              <a:off x="2180" y="602"/>
              <a:ext cx="0" cy="417"/>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231" name="Line 83"/>
            <p:cNvSpPr>
              <a:spLocks noChangeShapeType="1"/>
            </p:cNvSpPr>
            <p:nvPr/>
          </p:nvSpPr>
          <p:spPr bwMode="auto">
            <a:xfrm>
              <a:off x="2176" y="1015"/>
              <a:ext cx="0" cy="57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232" name="Line 84"/>
            <p:cNvSpPr>
              <a:spLocks noChangeShapeType="1"/>
            </p:cNvSpPr>
            <p:nvPr/>
          </p:nvSpPr>
          <p:spPr bwMode="auto">
            <a:xfrm>
              <a:off x="2180" y="1590"/>
              <a:ext cx="0" cy="596"/>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233" name="Line 85"/>
            <p:cNvSpPr>
              <a:spLocks noChangeShapeType="1"/>
            </p:cNvSpPr>
            <p:nvPr/>
          </p:nvSpPr>
          <p:spPr bwMode="auto">
            <a:xfrm>
              <a:off x="2438" y="602"/>
              <a:ext cx="0" cy="991"/>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234" name="Line 86"/>
            <p:cNvSpPr>
              <a:spLocks noChangeShapeType="1"/>
            </p:cNvSpPr>
            <p:nvPr/>
          </p:nvSpPr>
          <p:spPr bwMode="auto">
            <a:xfrm>
              <a:off x="2656" y="602"/>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235" name="Line 87"/>
            <p:cNvSpPr>
              <a:spLocks noChangeShapeType="1"/>
            </p:cNvSpPr>
            <p:nvPr/>
          </p:nvSpPr>
          <p:spPr bwMode="auto">
            <a:xfrm>
              <a:off x="2148" y="602"/>
              <a:ext cx="6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6" name="Line 88"/>
            <p:cNvSpPr>
              <a:spLocks noChangeShapeType="1"/>
            </p:cNvSpPr>
            <p:nvPr/>
          </p:nvSpPr>
          <p:spPr bwMode="auto">
            <a:xfrm>
              <a:off x="2145" y="1016"/>
              <a:ext cx="1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7" name="Line 89"/>
            <p:cNvSpPr>
              <a:spLocks noChangeShapeType="1"/>
            </p:cNvSpPr>
            <p:nvPr/>
          </p:nvSpPr>
          <p:spPr bwMode="auto">
            <a:xfrm>
              <a:off x="2145" y="1598"/>
              <a:ext cx="4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8" name="Line 90"/>
            <p:cNvSpPr>
              <a:spLocks noChangeShapeType="1"/>
            </p:cNvSpPr>
            <p:nvPr/>
          </p:nvSpPr>
          <p:spPr bwMode="auto">
            <a:xfrm>
              <a:off x="2145" y="2180"/>
              <a:ext cx="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 name="Text Box 91"/>
            <p:cNvSpPr txBox="1">
              <a:spLocks noChangeArrowheads="1"/>
            </p:cNvSpPr>
            <p:nvPr/>
          </p:nvSpPr>
          <p:spPr bwMode="auto">
            <a:xfrm>
              <a:off x="2188" y="2289"/>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体积</a:t>
              </a:r>
            </a:p>
          </p:txBody>
        </p:sp>
      </p:grpSp>
      <p:sp>
        <p:nvSpPr>
          <p:cNvPr id="50"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3067997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with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2000" fill="hold"/>
                                        <p:tgtEl>
                                          <p:spTgt spid="3"/>
                                        </p:tgtEl>
                                        <p:attrNameLst>
                                          <p:attrName>ppt_x</p:attrName>
                                        </p:attrNameLst>
                                      </p:cBhvr>
                                      <p:tavLst>
                                        <p:tav tm="0">
                                          <p:val>
                                            <p:strVal val="0-#ppt_w/2"/>
                                          </p:val>
                                        </p:tav>
                                        <p:tav tm="100000">
                                          <p:val>
                                            <p:strVal val="#ppt_x"/>
                                          </p:val>
                                        </p:tav>
                                      </p:tavLst>
                                    </p:anim>
                                    <p:anim calcmode="lin" valueType="num">
                                      <p:cBhvr additive="base">
                                        <p:cTn id="13" dur="2000" fill="hold"/>
                                        <p:tgtEl>
                                          <p:spTgt spid="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2500"/>
                            </p:stCondLst>
                            <p:childTnLst>
                              <p:par>
                                <p:cTn id="15" presetID="2" presetClass="entr" presetSubtype="8" fill="hold" grpId="0" nodeType="afterEffect">
                                  <p:stCondLst>
                                    <p:cond delay="0"/>
                                  </p:stCondLst>
                                  <p:childTnLst>
                                    <p:set>
                                      <p:cBhvr>
                                        <p:cTn id="16" dur="1" fill="hold">
                                          <p:stCondLst>
                                            <p:cond delay="0"/>
                                          </p:stCondLst>
                                        </p:cTn>
                                        <p:tgtEl>
                                          <p:spTgt spid="1389621"/>
                                        </p:tgtEl>
                                        <p:attrNameLst>
                                          <p:attrName>style.visibility</p:attrName>
                                        </p:attrNameLst>
                                      </p:cBhvr>
                                      <p:to>
                                        <p:strVal val="visible"/>
                                      </p:to>
                                    </p:set>
                                    <p:anim calcmode="lin" valueType="num">
                                      <p:cBhvr additive="base">
                                        <p:cTn id="17" dur="1000" fill="hold"/>
                                        <p:tgtEl>
                                          <p:spTgt spid="1389621"/>
                                        </p:tgtEl>
                                        <p:attrNameLst>
                                          <p:attrName>ppt_x</p:attrName>
                                        </p:attrNameLst>
                                      </p:cBhvr>
                                      <p:tavLst>
                                        <p:tav tm="0">
                                          <p:val>
                                            <p:strVal val="0-#ppt_w/2"/>
                                          </p:val>
                                        </p:tav>
                                        <p:tav tm="100000">
                                          <p:val>
                                            <p:strVal val="#ppt_x"/>
                                          </p:val>
                                        </p:tav>
                                      </p:tavLst>
                                    </p:anim>
                                    <p:anim calcmode="lin" valueType="num">
                                      <p:cBhvr additive="base">
                                        <p:cTn id="18" dur="1000" fill="hold"/>
                                        <p:tgtEl>
                                          <p:spTgt spid="1389621"/>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3500"/>
                            </p:stCondLst>
                            <p:childTnLst>
                              <p:par>
                                <p:cTn id="20" presetID="22" presetClass="entr" presetSubtype="8" fill="hold" grpId="0" nodeType="afterEffect">
                                  <p:stCondLst>
                                    <p:cond delay="0"/>
                                  </p:stCondLst>
                                  <p:childTnLst>
                                    <p:set>
                                      <p:cBhvr>
                                        <p:cTn id="21" dur="1" fill="hold">
                                          <p:stCondLst>
                                            <p:cond delay="0"/>
                                          </p:stCondLst>
                                        </p:cTn>
                                        <p:tgtEl>
                                          <p:spTgt spid="1389577"/>
                                        </p:tgtEl>
                                        <p:attrNameLst>
                                          <p:attrName>style.visibility</p:attrName>
                                        </p:attrNameLst>
                                      </p:cBhvr>
                                      <p:to>
                                        <p:strVal val="visible"/>
                                      </p:to>
                                    </p:set>
                                    <p:animEffect transition="in" filter="wipe(left)">
                                      <p:cBhvr>
                                        <p:cTn id="22" dur="1000"/>
                                        <p:tgtEl>
                                          <p:spTgt spid="13895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9577" grpId="0"/>
      <p:bldP spid="138962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 name="Text Box 13"/>
          <p:cNvSpPr txBox="1">
            <a:spLocks noChangeArrowheads="1"/>
          </p:cNvSpPr>
          <p:nvPr/>
        </p:nvSpPr>
        <p:spPr bwMode="auto">
          <a:xfrm>
            <a:off x="2000250" y="5775325"/>
            <a:ext cx="63833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4000" b="1" dirty="0">
                <a:solidFill>
                  <a:srgbClr val="000066"/>
                </a:solidFill>
                <a:ea typeface="黑体" pitchFamily="2" charset="-122"/>
              </a:rPr>
              <a:t>表示土体密度</a:t>
            </a:r>
            <a:r>
              <a:rPr kumimoji="1" lang="zh-CN" altLang="en-US" sz="4000" b="1" dirty="0" smtClean="0">
                <a:solidFill>
                  <a:srgbClr val="000066"/>
                </a:solidFill>
                <a:ea typeface="黑体" pitchFamily="2" charset="-122"/>
              </a:rPr>
              <a:t>和重度的</a:t>
            </a:r>
            <a:r>
              <a:rPr kumimoji="1" lang="zh-CN" altLang="en-US" sz="4000" b="1" dirty="0">
                <a:solidFill>
                  <a:srgbClr val="000066"/>
                </a:solidFill>
                <a:ea typeface="黑体" pitchFamily="2" charset="-122"/>
              </a:rPr>
              <a:t>指标</a:t>
            </a:r>
          </a:p>
        </p:txBody>
      </p:sp>
      <p:sp>
        <p:nvSpPr>
          <p:cNvPr id="1390643" name="Text Box 51"/>
          <p:cNvSpPr txBox="1">
            <a:spLocks noChangeArrowheads="1"/>
          </p:cNvSpPr>
          <p:nvPr/>
        </p:nvSpPr>
        <p:spPr bwMode="auto">
          <a:xfrm>
            <a:off x="293688" y="2859405"/>
            <a:ext cx="4697412" cy="459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6700" indent="-266700" eaLnBrk="1" hangingPunct="1">
              <a:lnSpc>
                <a:spcPct val="120000"/>
              </a:lnSpc>
              <a:spcBef>
                <a:spcPct val="20000"/>
              </a:spcBef>
              <a:spcAft>
                <a:spcPct val="0"/>
              </a:spcAft>
              <a:buFont typeface="Wingdings" pitchFamily="2" charset="2"/>
              <a:buChar char="n"/>
            </a:pPr>
            <a:r>
              <a:rPr kumimoji="1" lang="zh-CN" altLang="en-US" sz="2200" b="1" dirty="0" smtClean="0">
                <a:solidFill>
                  <a:srgbClr val="800000"/>
                </a:solidFill>
                <a:ea typeface="幼圆" pitchFamily="49" charset="-122"/>
              </a:rPr>
              <a:t>干密度</a:t>
            </a:r>
            <a:r>
              <a:rPr kumimoji="1" lang="zh-CN" altLang="en-US" sz="2200" b="1" i="1" dirty="0" smtClean="0">
                <a:solidFill>
                  <a:srgbClr val="800000"/>
                </a:solidFill>
                <a:ea typeface="幼圆" pitchFamily="49" charset="-122"/>
                <a:sym typeface="Symbol" panose="05050102010706020507" pitchFamily="18" charset="2"/>
              </a:rPr>
              <a:t></a:t>
            </a:r>
            <a:r>
              <a:rPr kumimoji="1" lang="en-US" altLang="zh-CN" sz="2200" b="1" baseline="-25000" dirty="0" smtClean="0">
                <a:solidFill>
                  <a:srgbClr val="800000"/>
                </a:solidFill>
                <a:ea typeface="幼圆" pitchFamily="49" charset="-122"/>
                <a:sym typeface="Symbol" panose="05050102010706020507" pitchFamily="18" charset="2"/>
              </a:rPr>
              <a:t>d</a:t>
            </a:r>
            <a:r>
              <a:rPr kumimoji="1" lang="zh-CN" altLang="en-US" sz="2200" b="1" dirty="0" smtClean="0">
                <a:solidFill>
                  <a:srgbClr val="800000"/>
                </a:solidFill>
                <a:ea typeface="幼圆" pitchFamily="49" charset="-122"/>
              </a:rPr>
              <a:t>：</a:t>
            </a:r>
            <a:r>
              <a:rPr kumimoji="1" lang="zh-CN" altLang="en-US" sz="2200" b="1" dirty="0">
                <a:solidFill>
                  <a:srgbClr val="000066"/>
                </a:solidFill>
                <a:ea typeface="幼圆" pitchFamily="49" charset="-122"/>
              </a:rPr>
              <a:t>土被烘干时的</a:t>
            </a:r>
            <a:r>
              <a:rPr kumimoji="1" lang="zh-CN" altLang="en-US" sz="2200" b="1" dirty="0" smtClean="0">
                <a:solidFill>
                  <a:srgbClr val="000066"/>
                </a:solidFill>
                <a:ea typeface="幼圆" pitchFamily="49" charset="-122"/>
              </a:rPr>
              <a:t>密度</a:t>
            </a:r>
            <a:endParaRPr kumimoji="1" lang="zh-CN" altLang="en-US" sz="2200" b="1" dirty="0">
              <a:solidFill>
                <a:srgbClr val="000066"/>
              </a:solidFill>
              <a:ea typeface="幼圆" pitchFamily="49" charset="-122"/>
            </a:endParaRPr>
          </a:p>
        </p:txBody>
      </p:sp>
      <p:graphicFrame>
        <p:nvGraphicFramePr>
          <p:cNvPr id="1390645" name="Object 53"/>
          <p:cNvGraphicFramePr>
            <a:graphicFrameLocks noChangeAspect="1"/>
          </p:cNvGraphicFramePr>
          <p:nvPr>
            <p:extLst>
              <p:ext uri="{D42A27DB-BD31-4B8C-83A1-F6EECF244321}">
                <p14:modId xmlns:p14="http://schemas.microsoft.com/office/powerpoint/2010/main" val="1237641542"/>
              </p:ext>
            </p:extLst>
          </p:nvPr>
        </p:nvGraphicFramePr>
        <p:xfrm>
          <a:off x="977583" y="3271442"/>
          <a:ext cx="1091247" cy="723026"/>
        </p:xfrm>
        <a:graphic>
          <a:graphicData uri="http://schemas.openxmlformats.org/presentationml/2006/ole">
            <mc:AlternateContent xmlns:mc="http://schemas.openxmlformats.org/markup-compatibility/2006">
              <mc:Choice xmlns:v="urn:schemas-microsoft-com:vml" Requires="v">
                <p:oleObj spid="_x0000_s59844" name="公式" r:id="rId4" imgW="545760" imgH="393480" progId="Equation.3">
                  <p:embed/>
                </p:oleObj>
              </mc:Choice>
              <mc:Fallback>
                <p:oleObj name="公式" r:id="rId4" imgW="545760" imgH="393480" progId="Equation.3">
                  <p:embed/>
                  <p:pic>
                    <p:nvPicPr>
                      <p:cNvPr id="0" name=""/>
                      <p:cNvPicPr>
                        <a:picLocks noChangeAspect="1" noChangeArrowheads="1"/>
                      </p:cNvPicPr>
                      <p:nvPr/>
                    </p:nvPicPr>
                    <p:blipFill>
                      <a:blip r:embed="rId5"/>
                      <a:srcRect/>
                      <a:stretch>
                        <a:fillRect/>
                      </a:stretch>
                    </p:blipFill>
                    <p:spPr bwMode="auto">
                      <a:xfrm>
                        <a:off x="977583" y="3271442"/>
                        <a:ext cx="1091247" cy="723026"/>
                      </a:xfrm>
                      <a:prstGeom prst="rect">
                        <a:avLst/>
                      </a:prstGeom>
                      <a:noFill/>
                      <a:ln>
                        <a:noFill/>
                      </a:ln>
                      <a:effectLst/>
                      <a:extLst/>
                    </p:spPr>
                  </p:pic>
                </p:oleObj>
              </mc:Fallback>
            </mc:AlternateContent>
          </a:graphicData>
        </a:graphic>
      </p:graphicFrame>
      <p:sp>
        <p:nvSpPr>
          <p:cNvPr id="9274" name="Text Box 55"/>
          <p:cNvSpPr txBox="1">
            <a:spLocks noChangeArrowheads="1"/>
          </p:cNvSpPr>
          <p:nvPr/>
        </p:nvSpPr>
        <p:spPr bwMode="auto">
          <a:xfrm>
            <a:off x="313376" y="588328"/>
            <a:ext cx="3097214" cy="459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6700" indent="-266700" eaLnBrk="1" hangingPunct="1">
              <a:lnSpc>
                <a:spcPct val="120000"/>
              </a:lnSpc>
              <a:spcBef>
                <a:spcPct val="20000"/>
              </a:spcBef>
              <a:spcAft>
                <a:spcPct val="0"/>
              </a:spcAft>
              <a:buFont typeface="Wingdings" pitchFamily="2" charset="2"/>
              <a:buChar char="n"/>
              <a:tabLst>
                <a:tab pos="266700" algn="l"/>
              </a:tabLst>
            </a:pPr>
            <a:r>
              <a:rPr kumimoji="1" lang="zh-CN" altLang="en-US" sz="2200" b="1" dirty="0">
                <a:solidFill>
                  <a:srgbClr val="800000"/>
                </a:solidFill>
                <a:ea typeface="幼圆" pitchFamily="49" charset="-122"/>
              </a:rPr>
              <a:t>天然</a:t>
            </a:r>
            <a:r>
              <a:rPr kumimoji="1" lang="zh-CN" altLang="en-US" sz="2200" b="1" dirty="0" smtClean="0">
                <a:solidFill>
                  <a:srgbClr val="800000"/>
                </a:solidFill>
                <a:ea typeface="幼圆" pitchFamily="49" charset="-122"/>
              </a:rPr>
              <a:t>密度</a:t>
            </a:r>
            <a:r>
              <a:rPr kumimoji="1" lang="zh-CN" altLang="en-US" sz="2200" b="1" i="1" dirty="0" smtClean="0">
                <a:solidFill>
                  <a:srgbClr val="800000"/>
                </a:solidFill>
                <a:ea typeface="幼圆" pitchFamily="49" charset="-122"/>
                <a:sym typeface="Symbol" panose="05050102010706020507" pitchFamily="18" charset="2"/>
              </a:rPr>
              <a:t></a:t>
            </a:r>
            <a:r>
              <a:rPr kumimoji="1" lang="zh-CN" altLang="en-US" sz="2200" b="1" dirty="0" smtClean="0">
                <a:solidFill>
                  <a:srgbClr val="800000"/>
                </a:solidFill>
                <a:ea typeface="幼圆" pitchFamily="49" charset="-122"/>
              </a:rPr>
              <a:t>：</a:t>
            </a:r>
          </a:p>
        </p:txBody>
      </p:sp>
      <p:graphicFrame>
        <p:nvGraphicFramePr>
          <p:cNvPr id="9223" name="Object 56"/>
          <p:cNvGraphicFramePr>
            <a:graphicFrameLocks noChangeAspect="1"/>
          </p:cNvGraphicFramePr>
          <p:nvPr>
            <p:extLst>
              <p:ext uri="{D42A27DB-BD31-4B8C-83A1-F6EECF244321}">
                <p14:modId xmlns:p14="http://schemas.microsoft.com/office/powerpoint/2010/main" val="3576829021"/>
              </p:ext>
            </p:extLst>
          </p:nvPr>
        </p:nvGraphicFramePr>
        <p:xfrm>
          <a:off x="970285" y="993436"/>
          <a:ext cx="786125" cy="678519"/>
        </p:xfrm>
        <a:graphic>
          <a:graphicData uri="http://schemas.openxmlformats.org/presentationml/2006/ole">
            <mc:AlternateContent xmlns:mc="http://schemas.openxmlformats.org/markup-compatibility/2006">
              <mc:Choice xmlns:v="urn:schemas-microsoft-com:vml" Requires="v">
                <p:oleObj spid="_x0000_s59845" name="公式" r:id="rId6" imgW="457200" imgH="393480" progId="Equation.3">
                  <p:embed/>
                </p:oleObj>
              </mc:Choice>
              <mc:Fallback>
                <p:oleObj name="公式" r:id="rId6" imgW="457200" imgH="393480" progId="Equation.3">
                  <p:embed/>
                  <p:pic>
                    <p:nvPicPr>
                      <p:cNvPr id="0" name=""/>
                      <p:cNvPicPr>
                        <a:picLocks noChangeAspect="1" noChangeArrowheads="1"/>
                      </p:cNvPicPr>
                      <p:nvPr/>
                    </p:nvPicPr>
                    <p:blipFill>
                      <a:blip r:embed="rId7"/>
                      <a:srcRect/>
                      <a:stretch>
                        <a:fillRect/>
                      </a:stretch>
                    </p:blipFill>
                    <p:spPr bwMode="auto">
                      <a:xfrm>
                        <a:off x="970285" y="993436"/>
                        <a:ext cx="786125" cy="678519"/>
                      </a:xfrm>
                      <a:prstGeom prst="rect">
                        <a:avLst/>
                      </a:prstGeom>
                      <a:noFill/>
                      <a:ln>
                        <a:noFill/>
                      </a:ln>
                      <a:effectLst/>
                      <a:extLst/>
                    </p:spPr>
                  </p:pic>
                </p:oleObj>
              </mc:Fallback>
            </mc:AlternateContent>
          </a:graphicData>
        </a:graphic>
      </p:graphicFrame>
      <p:sp>
        <p:nvSpPr>
          <p:cNvPr id="9273" name="Text Box 59"/>
          <p:cNvSpPr txBox="1">
            <a:spLocks noChangeArrowheads="1"/>
          </p:cNvSpPr>
          <p:nvPr/>
        </p:nvSpPr>
        <p:spPr bwMode="auto">
          <a:xfrm>
            <a:off x="294958" y="1633221"/>
            <a:ext cx="4821872"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6700" indent="-266700" eaLnBrk="1" hangingPunct="1">
              <a:lnSpc>
                <a:spcPct val="120000"/>
              </a:lnSpc>
              <a:spcBef>
                <a:spcPct val="20000"/>
              </a:spcBef>
              <a:spcAft>
                <a:spcPct val="0"/>
              </a:spcAft>
              <a:buFont typeface="Wingdings" pitchFamily="2" charset="2"/>
              <a:buChar char="n"/>
            </a:pPr>
            <a:r>
              <a:rPr kumimoji="1" lang="zh-CN" altLang="en-US" sz="2200" b="1" dirty="0" smtClean="0">
                <a:solidFill>
                  <a:srgbClr val="800000"/>
                </a:solidFill>
                <a:ea typeface="幼圆" pitchFamily="49" charset="-122"/>
              </a:rPr>
              <a:t>饱和密度</a:t>
            </a:r>
            <a:r>
              <a:rPr kumimoji="1" lang="zh-CN" altLang="en-US" sz="2200" b="1" i="1" dirty="0" smtClean="0">
                <a:solidFill>
                  <a:srgbClr val="800000"/>
                </a:solidFill>
                <a:ea typeface="幼圆" pitchFamily="49" charset="-122"/>
                <a:sym typeface="Symbol" panose="05050102010706020507" pitchFamily="18" charset="2"/>
              </a:rPr>
              <a:t></a:t>
            </a:r>
            <a:r>
              <a:rPr kumimoji="1" lang="en-US" altLang="zh-CN" sz="2200" b="1" baseline="-25000" dirty="0" smtClean="0">
                <a:solidFill>
                  <a:srgbClr val="800000"/>
                </a:solidFill>
                <a:ea typeface="幼圆" pitchFamily="49" charset="-122"/>
                <a:sym typeface="Symbol" panose="05050102010706020507" pitchFamily="18" charset="2"/>
              </a:rPr>
              <a:t>sat</a:t>
            </a:r>
            <a:r>
              <a:rPr kumimoji="1" lang="zh-CN" altLang="en-US" sz="2200" b="1" dirty="0" smtClean="0">
                <a:solidFill>
                  <a:srgbClr val="800000"/>
                </a:solidFill>
                <a:ea typeface="幼圆" pitchFamily="49" charset="-122"/>
              </a:rPr>
              <a:t>：</a:t>
            </a:r>
            <a:r>
              <a:rPr kumimoji="1" lang="zh-CN" altLang="en-US" sz="2200" b="1" dirty="0">
                <a:solidFill>
                  <a:srgbClr val="000066"/>
                </a:solidFill>
                <a:ea typeface="幼圆" pitchFamily="49" charset="-122"/>
              </a:rPr>
              <a:t>土被饱和时的</a:t>
            </a:r>
            <a:r>
              <a:rPr kumimoji="1" lang="zh-CN" altLang="en-US" sz="2200" b="1" dirty="0" smtClean="0">
                <a:solidFill>
                  <a:srgbClr val="000066"/>
                </a:solidFill>
                <a:ea typeface="幼圆" pitchFamily="49" charset="-122"/>
              </a:rPr>
              <a:t>密度</a:t>
            </a:r>
            <a:endParaRPr kumimoji="1" lang="zh-CN" altLang="en-US" sz="2200" b="1" dirty="0">
              <a:solidFill>
                <a:srgbClr val="000066"/>
              </a:solidFill>
              <a:ea typeface="幼圆" pitchFamily="49" charset="-122"/>
            </a:endParaRPr>
          </a:p>
        </p:txBody>
      </p:sp>
      <p:graphicFrame>
        <p:nvGraphicFramePr>
          <p:cNvPr id="9221" name="Object 60"/>
          <p:cNvGraphicFramePr>
            <a:graphicFrameLocks noChangeAspect="1"/>
          </p:cNvGraphicFramePr>
          <p:nvPr>
            <p:extLst>
              <p:ext uri="{D42A27DB-BD31-4B8C-83A1-F6EECF244321}">
                <p14:modId xmlns:p14="http://schemas.microsoft.com/office/powerpoint/2010/main" val="1082255521"/>
              </p:ext>
            </p:extLst>
          </p:nvPr>
        </p:nvGraphicFramePr>
        <p:xfrm>
          <a:off x="977583" y="2125980"/>
          <a:ext cx="1873296" cy="689610"/>
        </p:xfrm>
        <a:graphic>
          <a:graphicData uri="http://schemas.openxmlformats.org/presentationml/2006/ole">
            <mc:AlternateContent xmlns:mc="http://schemas.openxmlformats.org/markup-compatibility/2006">
              <mc:Choice xmlns:v="urn:schemas-microsoft-com:vml" Requires="v">
                <p:oleObj spid="_x0000_s59846" name="公式" r:id="rId8" imgW="1066680" imgH="393480" progId="Equation.3">
                  <p:embed/>
                </p:oleObj>
              </mc:Choice>
              <mc:Fallback>
                <p:oleObj name="公式" r:id="rId8" imgW="1066680" imgH="393480" progId="Equation.3">
                  <p:embed/>
                  <p:pic>
                    <p:nvPicPr>
                      <p:cNvPr id="0" name=""/>
                      <p:cNvPicPr>
                        <a:picLocks noChangeAspect="1" noChangeArrowheads="1"/>
                      </p:cNvPicPr>
                      <p:nvPr/>
                    </p:nvPicPr>
                    <p:blipFill>
                      <a:blip r:embed="rId9"/>
                      <a:srcRect/>
                      <a:stretch>
                        <a:fillRect/>
                      </a:stretch>
                    </p:blipFill>
                    <p:spPr bwMode="auto">
                      <a:xfrm>
                        <a:off x="977583" y="2125980"/>
                        <a:ext cx="1873296" cy="689610"/>
                      </a:xfrm>
                      <a:prstGeom prst="rect">
                        <a:avLst/>
                      </a:prstGeom>
                      <a:noFill/>
                      <a:ln>
                        <a:noFill/>
                      </a:ln>
                      <a:effectLst/>
                      <a:extLst/>
                    </p:spPr>
                  </p:pic>
                </p:oleObj>
              </mc:Fallback>
            </mc:AlternateContent>
          </a:graphicData>
        </a:graphic>
      </p:graphicFrame>
      <p:sp>
        <p:nvSpPr>
          <p:cNvPr id="59"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pSp>
        <p:nvGrpSpPr>
          <p:cNvPr id="70" name="Group 55"/>
          <p:cNvGrpSpPr>
            <a:grpSpLocks/>
          </p:cNvGrpSpPr>
          <p:nvPr/>
        </p:nvGrpSpPr>
        <p:grpSpPr bwMode="auto">
          <a:xfrm>
            <a:off x="5051425" y="703263"/>
            <a:ext cx="4021138" cy="3206750"/>
            <a:chOff x="311" y="489"/>
            <a:chExt cx="2533" cy="2020"/>
          </a:xfrm>
        </p:grpSpPr>
        <p:sp>
          <p:nvSpPr>
            <p:cNvPr id="71" name="Rectangle 56"/>
            <p:cNvSpPr>
              <a:spLocks noChangeArrowheads="1"/>
            </p:cNvSpPr>
            <p:nvPr/>
          </p:nvSpPr>
          <p:spPr bwMode="auto">
            <a:xfrm>
              <a:off x="328" y="489"/>
              <a:ext cx="2498" cy="202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2" name="Rectangle 57"/>
            <p:cNvSpPr>
              <a:spLocks noChangeArrowheads="1"/>
            </p:cNvSpPr>
            <p:nvPr/>
          </p:nvSpPr>
          <p:spPr bwMode="auto">
            <a:xfrm>
              <a:off x="1057" y="602"/>
              <a:ext cx="998" cy="1584"/>
            </a:xfrm>
            <a:prstGeom prst="rect">
              <a:avLst/>
            </a:prstGeom>
            <a:solidFill>
              <a:srgbClr val="FFCC99"/>
            </a:solidFill>
            <a:ln w="28575">
              <a:solidFill>
                <a:schemeClr val="tx1"/>
              </a:solidFill>
              <a:miter lim="800000"/>
              <a:headEnd/>
              <a:tailEnd/>
            </a:ln>
          </p:spPr>
          <p:txBody>
            <a:bodyPr wrap="none" anchor="ctr"/>
            <a:lstStyle/>
            <a:p>
              <a:endParaRPr lang="zh-CN" altLang="en-US"/>
            </a:p>
          </p:txBody>
        </p:sp>
        <p:sp>
          <p:nvSpPr>
            <p:cNvPr id="73" name="Rectangle 58"/>
            <p:cNvSpPr>
              <a:spLocks noChangeArrowheads="1"/>
            </p:cNvSpPr>
            <p:nvPr/>
          </p:nvSpPr>
          <p:spPr bwMode="auto">
            <a:xfrm>
              <a:off x="1063" y="606"/>
              <a:ext cx="984" cy="4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4" name="Text Box 59"/>
            <p:cNvSpPr txBox="1">
              <a:spLocks noChangeArrowheads="1"/>
            </p:cNvSpPr>
            <p:nvPr/>
          </p:nvSpPr>
          <p:spPr bwMode="auto">
            <a:xfrm>
              <a:off x="1377" y="673"/>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空气</a:t>
              </a:r>
            </a:p>
          </p:txBody>
        </p:sp>
        <p:sp>
          <p:nvSpPr>
            <p:cNvPr id="75" name="Rectangle 60"/>
            <p:cNvSpPr>
              <a:spLocks noChangeArrowheads="1"/>
            </p:cNvSpPr>
            <p:nvPr/>
          </p:nvSpPr>
          <p:spPr bwMode="auto">
            <a:xfrm>
              <a:off x="1062" y="1016"/>
              <a:ext cx="987" cy="571"/>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6" name="Text Box 61"/>
            <p:cNvSpPr txBox="1">
              <a:spLocks noChangeArrowheads="1"/>
            </p:cNvSpPr>
            <p:nvPr/>
          </p:nvSpPr>
          <p:spPr bwMode="auto">
            <a:xfrm>
              <a:off x="1448" y="1168"/>
              <a:ext cx="25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dirty="0">
                  <a:solidFill>
                    <a:schemeClr val="bg1">
                      <a:lumMod val="95000"/>
                    </a:schemeClr>
                  </a:solidFill>
                  <a:latin typeface="Comic Sans MS" pitchFamily="66" charset="0"/>
                  <a:ea typeface="幼圆" pitchFamily="49" charset="-122"/>
                </a:rPr>
                <a:t>水</a:t>
              </a:r>
            </a:p>
          </p:txBody>
        </p:sp>
        <p:sp>
          <p:nvSpPr>
            <p:cNvPr id="77" name="Rectangle 62" descr="软木塞"/>
            <p:cNvSpPr>
              <a:spLocks noChangeArrowheads="1"/>
            </p:cNvSpPr>
            <p:nvPr/>
          </p:nvSpPr>
          <p:spPr bwMode="auto">
            <a:xfrm>
              <a:off x="1063" y="1588"/>
              <a:ext cx="986" cy="591"/>
            </a:xfrm>
            <a:prstGeom prst="rect">
              <a:avLst/>
            </a:prstGeom>
            <a:blipFill dpi="0" rotWithShape="0">
              <a:blip r:embed="rId10"/>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8" name="Text Box 63"/>
            <p:cNvSpPr txBox="1">
              <a:spLocks noChangeArrowheads="1"/>
            </p:cNvSpPr>
            <p:nvPr/>
          </p:nvSpPr>
          <p:spPr bwMode="auto">
            <a:xfrm>
              <a:off x="1372" y="1764"/>
              <a:ext cx="42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100" b="1">
                  <a:solidFill>
                    <a:srgbClr val="000066"/>
                  </a:solidFill>
                  <a:latin typeface="Comic Sans MS" pitchFamily="66" charset="0"/>
                  <a:ea typeface="幼圆" pitchFamily="49" charset="-122"/>
                </a:rPr>
                <a:t>固体</a:t>
              </a:r>
            </a:p>
          </p:txBody>
        </p:sp>
        <p:sp>
          <p:nvSpPr>
            <p:cNvPr id="79" name="Text Box 64"/>
            <p:cNvSpPr txBox="1">
              <a:spLocks noChangeArrowheads="1"/>
            </p:cNvSpPr>
            <p:nvPr/>
          </p:nvSpPr>
          <p:spPr bwMode="auto">
            <a:xfrm>
              <a:off x="527" y="683"/>
              <a:ext cx="44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i="1" dirty="0">
                  <a:solidFill>
                    <a:srgbClr val="000066"/>
                  </a:solidFill>
                </a:rPr>
                <a:t>m</a:t>
              </a:r>
              <a:r>
                <a:rPr kumimoji="1" lang="en-US" altLang="zh-CN" sz="2000" b="1" baseline="-25000" dirty="0">
                  <a:solidFill>
                    <a:srgbClr val="000066"/>
                  </a:solidFill>
                </a:rPr>
                <a:t>a</a:t>
              </a:r>
              <a:r>
                <a:rPr kumimoji="1" lang="en-US" altLang="zh-CN" sz="2000" b="1" dirty="0">
                  <a:solidFill>
                    <a:srgbClr val="000066"/>
                  </a:solidFill>
                  <a:cs typeface="Times New Roman" pitchFamily="18" charset="0"/>
                </a:rPr>
                <a:t>=0</a:t>
              </a:r>
              <a:endParaRPr kumimoji="1" lang="en-US" altLang="zh-CN" sz="2000" b="1" dirty="0">
                <a:solidFill>
                  <a:srgbClr val="000066"/>
                </a:solidFill>
              </a:endParaRPr>
            </a:p>
          </p:txBody>
        </p:sp>
        <p:sp>
          <p:nvSpPr>
            <p:cNvPr id="80" name="Text Box 65"/>
            <p:cNvSpPr txBox="1">
              <a:spLocks noChangeArrowheads="1"/>
            </p:cNvSpPr>
            <p:nvPr/>
          </p:nvSpPr>
          <p:spPr bwMode="auto">
            <a:xfrm>
              <a:off x="589" y="1076"/>
              <a:ext cx="3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m</a:t>
              </a:r>
              <a:r>
                <a:rPr kumimoji="1" lang="en-US" altLang="zh-CN" sz="2100" b="1" baseline="-25000" dirty="0">
                  <a:solidFill>
                    <a:srgbClr val="000066"/>
                  </a:solidFill>
                </a:rPr>
                <a:t>w</a:t>
              </a:r>
              <a:endParaRPr kumimoji="1" lang="en-US" altLang="zh-CN" sz="2100" b="1" dirty="0">
                <a:solidFill>
                  <a:srgbClr val="000066"/>
                </a:solidFill>
              </a:endParaRPr>
            </a:p>
          </p:txBody>
        </p:sp>
        <p:sp>
          <p:nvSpPr>
            <p:cNvPr id="81" name="Text Box 66"/>
            <p:cNvSpPr txBox="1">
              <a:spLocks noChangeArrowheads="1"/>
            </p:cNvSpPr>
            <p:nvPr/>
          </p:nvSpPr>
          <p:spPr bwMode="auto">
            <a:xfrm>
              <a:off x="589" y="1688"/>
              <a:ext cx="27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m</a:t>
              </a:r>
              <a:r>
                <a:rPr kumimoji="1" lang="en-US" altLang="zh-CN" sz="2100" b="1" baseline="-25000" dirty="0" err="1">
                  <a:solidFill>
                    <a:srgbClr val="000066"/>
                  </a:solidFill>
                </a:rPr>
                <a:t>s</a:t>
              </a:r>
              <a:endParaRPr kumimoji="1" lang="en-US" altLang="zh-CN" sz="2100" b="1" dirty="0">
                <a:solidFill>
                  <a:srgbClr val="000066"/>
                </a:solidFill>
              </a:endParaRPr>
            </a:p>
          </p:txBody>
        </p:sp>
        <p:sp>
          <p:nvSpPr>
            <p:cNvPr id="82" name="Text Box 67"/>
            <p:cNvSpPr txBox="1">
              <a:spLocks noChangeArrowheads="1"/>
            </p:cNvSpPr>
            <p:nvPr/>
          </p:nvSpPr>
          <p:spPr bwMode="auto">
            <a:xfrm>
              <a:off x="311" y="1148"/>
              <a:ext cx="22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m</a:t>
              </a:r>
            </a:p>
          </p:txBody>
        </p:sp>
        <p:sp>
          <p:nvSpPr>
            <p:cNvPr id="83" name="Line 68"/>
            <p:cNvSpPr>
              <a:spLocks noChangeShapeType="1"/>
            </p:cNvSpPr>
            <p:nvPr/>
          </p:nvSpPr>
          <p:spPr bwMode="auto">
            <a:xfrm flipH="1">
              <a:off x="945" y="599"/>
              <a:ext cx="0" cy="41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4" name="Line 69"/>
            <p:cNvSpPr>
              <a:spLocks noChangeShapeType="1"/>
            </p:cNvSpPr>
            <p:nvPr/>
          </p:nvSpPr>
          <p:spPr bwMode="auto">
            <a:xfrm flipH="1">
              <a:off x="949" y="1012"/>
              <a:ext cx="0" cy="579"/>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5" name="Line 70"/>
            <p:cNvSpPr>
              <a:spLocks noChangeShapeType="1"/>
            </p:cNvSpPr>
            <p:nvPr/>
          </p:nvSpPr>
          <p:spPr bwMode="auto">
            <a:xfrm flipH="1">
              <a:off x="945" y="1588"/>
              <a:ext cx="0" cy="595"/>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6" name="Line 71"/>
            <p:cNvSpPr>
              <a:spLocks noChangeShapeType="1"/>
            </p:cNvSpPr>
            <p:nvPr/>
          </p:nvSpPr>
          <p:spPr bwMode="auto">
            <a:xfrm flipH="1">
              <a:off x="523" y="599"/>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87" name="Line 72"/>
            <p:cNvSpPr>
              <a:spLocks noChangeShapeType="1"/>
            </p:cNvSpPr>
            <p:nvPr/>
          </p:nvSpPr>
          <p:spPr bwMode="auto">
            <a:xfrm flipH="1">
              <a:off x="454" y="599"/>
              <a:ext cx="5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73"/>
            <p:cNvSpPr>
              <a:spLocks noChangeShapeType="1"/>
            </p:cNvSpPr>
            <p:nvPr/>
          </p:nvSpPr>
          <p:spPr bwMode="auto">
            <a:xfrm flipH="1">
              <a:off x="855" y="1013"/>
              <a:ext cx="12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74"/>
            <p:cNvSpPr>
              <a:spLocks noChangeShapeType="1"/>
            </p:cNvSpPr>
            <p:nvPr/>
          </p:nvSpPr>
          <p:spPr bwMode="auto">
            <a:xfrm flipH="1">
              <a:off x="851" y="1595"/>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75"/>
            <p:cNvSpPr>
              <a:spLocks noChangeShapeType="1"/>
            </p:cNvSpPr>
            <p:nvPr/>
          </p:nvSpPr>
          <p:spPr bwMode="auto">
            <a:xfrm flipH="1">
              <a:off x="468" y="2177"/>
              <a:ext cx="5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Text Box 76"/>
            <p:cNvSpPr txBox="1">
              <a:spLocks noChangeArrowheads="1"/>
            </p:cNvSpPr>
            <p:nvPr/>
          </p:nvSpPr>
          <p:spPr bwMode="auto">
            <a:xfrm>
              <a:off x="521" y="2275"/>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质量</a:t>
              </a:r>
            </a:p>
          </p:txBody>
        </p:sp>
        <p:sp>
          <p:nvSpPr>
            <p:cNvPr id="92" name="Text Box 77"/>
            <p:cNvSpPr txBox="1">
              <a:spLocks noChangeArrowheads="1"/>
            </p:cNvSpPr>
            <p:nvPr/>
          </p:nvSpPr>
          <p:spPr bwMode="auto">
            <a:xfrm>
              <a:off x="2163" y="638"/>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a</a:t>
              </a:r>
              <a:endParaRPr kumimoji="1" lang="en-US" altLang="zh-CN" sz="2100" b="1" dirty="0">
                <a:solidFill>
                  <a:srgbClr val="000066"/>
                </a:solidFill>
              </a:endParaRPr>
            </a:p>
          </p:txBody>
        </p:sp>
        <p:sp>
          <p:nvSpPr>
            <p:cNvPr id="93" name="Text Box 78"/>
            <p:cNvSpPr txBox="1">
              <a:spLocks noChangeArrowheads="1"/>
            </p:cNvSpPr>
            <p:nvPr/>
          </p:nvSpPr>
          <p:spPr bwMode="auto">
            <a:xfrm>
              <a:off x="2163" y="1112"/>
              <a:ext cx="282"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w</a:t>
              </a:r>
              <a:endParaRPr kumimoji="1" lang="en-US" altLang="zh-CN" sz="2100" b="1" dirty="0">
                <a:solidFill>
                  <a:srgbClr val="000066"/>
                </a:solidFill>
              </a:endParaRPr>
            </a:p>
          </p:txBody>
        </p:sp>
        <p:sp>
          <p:nvSpPr>
            <p:cNvPr id="94" name="Text Box 79"/>
            <p:cNvSpPr txBox="1">
              <a:spLocks noChangeArrowheads="1"/>
            </p:cNvSpPr>
            <p:nvPr/>
          </p:nvSpPr>
          <p:spPr bwMode="auto">
            <a:xfrm>
              <a:off x="2162" y="1767"/>
              <a:ext cx="251"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s</a:t>
              </a:r>
              <a:endParaRPr kumimoji="1" lang="en-US" altLang="zh-CN" sz="2100" b="1" dirty="0">
                <a:solidFill>
                  <a:srgbClr val="000066"/>
                </a:solidFill>
              </a:endParaRPr>
            </a:p>
          </p:txBody>
        </p:sp>
        <p:sp>
          <p:nvSpPr>
            <p:cNvPr id="95" name="Text Box 80"/>
            <p:cNvSpPr txBox="1">
              <a:spLocks noChangeArrowheads="1"/>
            </p:cNvSpPr>
            <p:nvPr/>
          </p:nvSpPr>
          <p:spPr bwMode="auto">
            <a:xfrm>
              <a:off x="2402" y="890"/>
              <a:ext cx="2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err="1">
                  <a:solidFill>
                    <a:srgbClr val="000066"/>
                  </a:solidFill>
                </a:rPr>
                <a:t>V</a:t>
              </a:r>
              <a:r>
                <a:rPr kumimoji="1" lang="en-US" altLang="zh-CN" sz="2100" b="1" baseline="-25000" dirty="0" err="1">
                  <a:solidFill>
                    <a:srgbClr val="000066"/>
                  </a:solidFill>
                </a:rPr>
                <a:t>v</a:t>
              </a:r>
              <a:endParaRPr kumimoji="1" lang="en-US" altLang="zh-CN" sz="2100" b="1" dirty="0">
                <a:solidFill>
                  <a:srgbClr val="000066"/>
                </a:solidFill>
              </a:endParaRPr>
            </a:p>
          </p:txBody>
        </p:sp>
        <p:sp>
          <p:nvSpPr>
            <p:cNvPr id="96" name="Text Box 81"/>
            <p:cNvSpPr txBox="1">
              <a:spLocks noChangeArrowheads="1"/>
            </p:cNvSpPr>
            <p:nvPr/>
          </p:nvSpPr>
          <p:spPr bwMode="auto">
            <a:xfrm>
              <a:off x="2637" y="1148"/>
              <a:ext cx="207"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100" b="1" i="1" dirty="0">
                  <a:solidFill>
                    <a:srgbClr val="000066"/>
                  </a:solidFill>
                </a:rPr>
                <a:t>V</a:t>
              </a:r>
            </a:p>
          </p:txBody>
        </p:sp>
        <p:sp>
          <p:nvSpPr>
            <p:cNvPr id="97" name="Line 82"/>
            <p:cNvSpPr>
              <a:spLocks noChangeShapeType="1"/>
            </p:cNvSpPr>
            <p:nvPr/>
          </p:nvSpPr>
          <p:spPr bwMode="auto">
            <a:xfrm>
              <a:off x="2180" y="602"/>
              <a:ext cx="0" cy="417"/>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98" name="Line 83"/>
            <p:cNvSpPr>
              <a:spLocks noChangeShapeType="1"/>
            </p:cNvSpPr>
            <p:nvPr/>
          </p:nvSpPr>
          <p:spPr bwMode="auto">
            <a:xfrm>
              <a:off x="2176" y="1015"/>
              <a:ext cx="0" cy="578"/>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99" name="Line 84"/>
            <p:cNvSpPr>
              <a:spLocks noChangeShapeType="1"/>
            </p:cNvSpPr>
            <p:nvPr/>
          </p:nvSpPr>
          <p:spPr bwMode="auto">
            <a:xfrm>
              <a:off x="2180" y="1590"/>
              <a:ext cx="0" cy="596"/>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0" name="Line 85"/>
            <p:cNvSpPr>
              <a:spLocks noChangeShapeType="1"/>
            </p:cNvSpPr>
            <p:nvPr/>
          </p:nvSpPr>
          <p:spPr bwMode="auto">
            <a:xfrm>
              <a:off x="2438" y="602"/>
              <a:ext cx="0" cy="991"/>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1" name="Line 86"/>
            <p:cNvSpPr>
              <a:spLocks noChangeShapeType="1"/>
            </p:cNvSpPr>
            <p:nvPr/>
          </p:nvSpPr>
          <p:spPr bwMode="auto">
            <a:xfrm>
              <a:off x="2656" y="602"/>
              <a:ext cx="0" cy="1584"/>
            </a:xfrm>
            <a:prstGeom prst="line">
              <a:avLst/>
            </a:prstGeom>
            <a:noFill/>
            <a:ln w="19050">
              <a:solidFill>
                <a:schemeClr val="tx1"/>
              </a:solidFill>
              <a:miter lim="800000"/>
              <a:headEnd type="triangle" w="med" len="lg"/>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2" name="Line 87"/>
            <p:cNvSpPr>
              <a:spLocks noChangeShapeType="1"/>
            </p:cNvSpPr>
            <p:nvPr/>
          </p:nvSpPr>
          <p:spPr bwMode="auto">
            <a:xfrm>
              <a:off x="2148" y="602"/>
              <a:ext cx="6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88"/>
            <p:cNvSpPr>
              <a:spLocks noChangeShapeType="1"/>
            </p:cNvSpPr>
            <p:nvPr/>
          </p:nvSpPr>
          <p:spPr bwMode="auto">
            <a:xfrm>
              <a:off x="2145" y="1016"/>
              <a:ext cx="1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 name="Line 89"/>
            <p:cNvSpPr>
              <a:spLocks noChangeShapeType="1"/>
            </p:cNvSpPr>
            <p:nvPr/>
          </p:nvSpPr>
          <p:spPr bwMode="auto">
            <a:xfrm>
              <a:off x="2145" y="1598"/>
              <a:ext cx="4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Line 90"/>
            <p:cNvSpPr>
              <a:spLocks noChangeShapeType="1"/>
            </p:cNvSpPr>
            <p:nvPr/>
          </p:nvSpPr>
          <p:spPr bwMode="auto">
            <a:xfrm>
              <a:off x="2145" y="2180"/>
              <a:ext cx="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Text Box 91"/>
            <p:cNvSpPr txBox="1">
              <a:spLocks noChangeArrowheads="1"/>
            </p:cNvSpPr>
            <p:nvPr/>
          </p:nvSpPr>
          <p:spPr bwMode="auto">
            <a:xfrm>
              <a:off x="2188" y="2289"/>
              <a:ext cx="3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charset="-122"/>
                </a:defRPr>
              </a:lvl1pPr>
              <a:lvl2pPr marL="742950" indent="-285750" defTabSz="685800" eaLnBrk="0" hangingPunct="0">
                <a:defRPr sz="1400">
                  <a:solidFill>
                    <a:schemeClr val="tx1"/>
                  </a:solidFill>
                  <a:latin typeface="Times New Roman" pitchFamily="18" charset="0"/>
                  <a:ea typeface="宋体" charset="-122"/>
                </a:defRPr>
              </a:lvl2pPr>
              <a:lvl3pPr marL="1143000" indent="-228600" defTabSz="685800" eaLnBrk="0" hangingPunct="0">
                <a:defRPr sz="1400">
                  <a:solidFill>
                    <a:schemeClr val="tx1"/>
                  </a:solidFill>
                  <a:latin typeface="Times New Roman" pitchFamily="18" charset="0"/>
                  <a:ea typeface="宋体" charset="-122"/>
                </a:defRPr>
              </a:lvl3pPr>
              <a:lvl4pPr marL="1600200" indent="-228600" defTabSz="685800" eaLnBrk="0" hangingPunct="0">
                <a:defRPr sz="1400">
                  <a:solidFill>
                    <a:schemeClr val="tx1"/>
                  </a:solidFill>
                  <a:latin typeface="Times New Roman" pitchFamily="18" charset="0"/>
                  <a:ea typeface="宋体" charset="-122"/>
                </a:defRPr>
              </a:lvl4pPr>
              <a:lvl5pPr marL="2057400" indent="-228600" defTabSz="685800" eaLnBrk="0" hangingPunct="0">
                <a:defRPr sz="1400">
                  <a:solidFill>
                    <a:schemeClr val="tx1"/>
                  </a:solidFill>
                  <a:latin typeface="Times New Roman" pitchFamily="18" charset="0"/>
                  <a:ea typeface="宋体"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a:solidFill>
                    <a:srgbClr val="000066"/>
                  </a:solidFill>
                  <a:ea typeface="幼圆" pitchFamily="49" charset="-122"/>
                </a:rPr>
                <a:t>体积</a:t>
              </a:r>
            </a:p>
          </p:txBody>
        </p:sp>
      </p:grpSp>
      <p:graphicFrame>
        <p:nvGraphicFramePr>
          <p:cNvPr id="107" name="Object 42"/>
          <p:cNvGraphicFramePr>
            <a:graphicFrameLocks noChangeAspect="1"/>
          </p:cNvGraphicFramePr>
          <p:nvPr>
            <p:extLst>
              <p:ext uri="{D42A27DB-BD31-4B8C-83A1-F6EECF244321}">
                <p14:modId xmlns:p14="http://schemas.microsoft.com/office/powerpoint/2010/main" val="2498380041"/>
              </p:ext>
            </p:extLst>
          </p:nvPr>
        </p:nvGraphicFramePr>
        <p:xfrm>
          <a:off x="1738313" y="4341178"/>
          <a:ext cx="2135187" cy="611187"/>
        </p:xfrm>
        <a:graphic>
          <a:graphicData uri="http://schemas.openxmlformats.org/presentationml/2006/ole">
            <mc:AlternateContent xmlns:mc="http://schemas.openxmlformats.org/markup-compatibility/2006">
              <mc:Choice xmlns:v="urn:schemas-microsoft-com:vml" Requires="v">
                <p:oleObj spid="_x0000_s59847" name="公式" r:id="rId11" imgW="799920" imgH="228600" progId="Equation.3">
                  <p:embed/>
                </p:oleObj>
              </mc:Choice>
              <mc:Fallback>
                <p:oleObj name="公式" r:id="rId11" imgW="799920" imgH="228600" progId="Equation.3">
                  <p:embed/>
                  <p:pic>
                    <p:nvPicPr>
                      <p:cNvPr id="0" name=""/>
                      <p:cNvPicPr>
                        <a:picLocks noChangeAspect="1" noChangeArrowheads="1"/>
                      </p:cNvPicPr>
                      <p:nvPr/>
                    </p:nvPicPr>
                    <p:blipFill>
                      <a:blip r:embed="rId12"/>
                      <a:srcRect/>
                      <a:stretch>
                        <a:fillRect/>
                      </a:stretch>
                    </p:blipFill>
                    <p:spPr bwMode="auto">
                      <a:xfrm>
                        <a:off x="1738313" y="4341178"/>
                        <a:ext cx="2135187" cy="611187"/>
                      </a:xfrm>
                      <a:prstGeom prst="rect">
                        <a:avLst/>
                      </a:prstGeom>
                      <a:noFill/>
                      <a:ln>
                        <a:noFill/>
                      </a:ln>
                      <a:effectLst/>
                      <a:extLst/>
                    </p:spPr>
                  </p:pic>
                </p:oleObj>
              </mc:Fallback>
            </mc:AlternateContent>
          </a:graphicData>
        </a:graphic>
      </p:graphicFrame>
      <p:sp>
        <p:nvSpPr>
          <p:cNvPr id="108" name="AutoShape 56"/>
          <p:cNvSpPr>
            <a:spLocks noChangeArrowheads="1"/>
          </p:cNvSpPr>
          <p:nvPr/>
        </p:nvSpPr>
        <p:spPr bwMode="auto">
          <a:xfrm>
            <a:off x="835978" y="4440239"/>
            <a:ext cx="563563" cy="427037"/>
          </a:xfrm>
          <a:prstGeom prst="homePlate">
            <a:avLst>
              <a:gd name="adj" fmla="val 32993"/>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Tree>
    <p:extLst>
      <p:ext uri="{BB962C8B-B14F-4D97-AF65-F5344CB8AC3E}">
        <p14:creationId xmlns:p14="http://schemas.microsoft.com/office/powerpoint/2010/main" val="9378814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anim calcmode="lin" valueType="num">
                                      <p:cBhvr additive="base">
                                        <p:cTn id="7" dur="500" fill="hold"/>
                                        <p:tgtEl>
                                          <p:spTgt spid="108"/>
                                        </p:tgtEl>
                                        <p:attrNameLst>
                                          <p:attrName>ppt_x</p:attrName>
                                        </p:attrNameLst>
                                      </p:cBhvr>
                                      <p:tavLst>
                                        <p:tav tm="0">
                                          <p:val>
                                            <p:strVal val="0-#ppt_w/2"/>
                                          </p:val>
                                        </p:tav>
                                        <p:tav tm="100000">
                                          <p:val>
                                            <p:strVal val="#ppt_x"/>
                                          </p:val>
                                        </p:tav>
                                      </p:tavLst>
                                    </p:anim>
                                    <p:anim calcmode="lin" valueType="num">
                                      <p:cBhvr additive="base">
                                        <p:cTn id="8" dur="500" fill="hold"/>
                                        <p:tgtEl>
                                          <p:spTgt spid="10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5" presetClass="entr" presetSubtype="0" fill="hold" nodeType="afterEffect">
                                  <p:stCondLst>
                                    <p:cond delay="0"/>
                                  </p:stCondLst>
                                  <p:childTnLst>
                                    <p:set>
                                      <p:cBhvr>
                                        <p:cTn id="11" dur="1" fill="hold">
                                          <p:stCondLst>
                                            <p:cond delay="0"/>
                                          </p:stCondLst>
                                        </p:cTn>
                                        <p:tgtEl>
                                          <p:spTgt spid="107"/>
                                        </p:tgtEl>
                                        <p:attrNameLst>
                                          <p:attrName>style.visibility</p:attrName>
                                        </p:attrNameLst>
                                      </p:cBhvr>
                                      <p:to>
                                        <p:strVal val="visible"/>
                                      </p:to>
                                    </p:set>
                                    <p:anim calcmode="lin" valueType="num">
                                      <p:cBhvr>
                                        <p:cTn id="12" dur="2000" fill="hold"/>
                                        <p:tgtEl>
                                          <p:spTgt spid="107"/>
                                        </p:tgtEl>
                                        <p:attrNameLst>
                                          <p:attrName>ppt_w</p:attrName>
                                        </p:attrNameLst>
                                      </p:cBhvr>
                                      <p:tavLst>
                                        <p:tav tm="0">
                                          <p:val>
                                            <p:fltVal val="0"/>
                                          </p:val>
                                        </p:tav>
                                        <p:tav tm="100000">
                                          <p:val>
                                            <p:strVal val="#ppt_w"/>
                                          </p:val>
                                        </p:tav>
                                      </p:tavLst>
                                    </p:anim>
                                    <p:anim calcmode="lin" valueType="num">
                                      <p:cBhvr>
                                        <p:cTn id="13" dur="2000" fill="hold"/>
                                        <p:tgtEl>
                                          <p:spTgt spid="107"/>
                                        </p:tgtEl>
                                        <p:attrNameLst>
                                          <p:attrName>ppt_h</p:attrName>
                                        </p:attrNameLst>
                                      </p:cBhvr>
                                      <p:tavLst>
                                        <p:tav tm="0">
                                          <p:val>
                                            <p:fltVal val="0"/>
                                          </p:val>
                                        </p:tav>
                                        <p:tav tm="100000">
                                          <p:val>
                                            <p:strVal val="#ppt_h"/>
                                          </p:val>
                                        </p:tav>
                                      </p:tavLst>
                                    </p:anim>
                                    <p:anim calcmode="lin" valueType="num">
                                      <p:cBhvr>
                                        <p:cTn id="14" dur="2000" fill="hold"/>
                                        <p:tgtEl>
                                          <p:spTgt spid="107"/>
                                        </p:tgtEl>
                                        <p:attrNameLst>
                                          <p:attrName>ppt_x</p:attrName>
                                        </p:attrNameLst>
                                      </p:cBhvr>
                                      <p:tavLst>
                                        <p:tav tm="0" fmla="#ppt_x+(cos(-2*pi*(1-$))*-#ppt_x-sin(-2*pi*(1-$))*(1-#ppt_y))*(1-$)">
                                          <p:val>
                                            <p:fltVal val="0"/>
                                          </p:val>
                                        </p:tav>
                                        <p:tav tm="100000">
                                          <p:val>
                                            <p:fltVal val="1"/>
                                          </p:val>
                                        </p:tav>
                                      </p:tavLst>
                                    </p:anim>
                                    <p:anim calcmode="lin" valueType="num">
                                      <p:cBhvr>
                                        <p:cTn id="15" dur="2000" fill="hold"/>
                                        <p:tgtEl>
                                          <p:spTgt spid="10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1" name="Text Box 41"/>
          <p:cNvSpPr txBox="1">
            <a:spLocks noChangeArrowheads="1"/>
          </p:cNvSpPr>
          <p:nvPr/>
        </p:nvSpPr>
        <p:spPr bwMode="auto">
          <a:xfrm>
            <a:off x="2046288" y="5711825"/>
            <a:ext cx="63373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ea typeface="黑体" pitchFamily="2" charset="-122"/>
              </a:rPr>
              <a:t>各种</a:t>
            </a:r>
            <a:r>
              <a:rPr kumimoji="1" lang="zh-CN" altLang="en-US" sz="4000" b="1" dirty="0" smtClean="0">
                <a:solidFill>
                  <a:srgbClr val="000066"/>
                </a:solidFill>
                <a:ea typeface="黑体" pitchFamily="2" charset="-122"/>
              </a:rPr>
              <a:t>密度重度间</a:t>
            </a:r>
            <a:r>
              <a:rPr kumimoji="1" lang="zh-CN" altLang="en-US" sz="4000" b="1" dirty="0">
                <a:solidFill>
                  <a:srgbClr val="000066"/>
                </a:solidFill>
                <a:ea typeface="黑体" pitchFamily="2" charset="-122"/>
              </a:rPr>
              <a:t>的大小关系</a:t>
            </a:r>
            <a:endParaRPr kumimoji="1" lang="en-US" altLang="zh-CN" sz="4000" b="1" dirty="0">
              <a:solidFill>
                <a:srgbClr val="000066"/>
              </a:solidFill>
              <a:ea typeface="黑体" pitchFamily="2" charset="-122"/>
            </a:endParaRPr>
          </a:p>
        </p:txBody>
      </p:sp>
      <p:graphicFrame>
        <p:nvGraphicFramePr>
          <p:cNvPr id="1391659" name="Object 43"/>
          <p:cNvGraphicFramePr>
            <a:graphicFrameLocks noChangeAspect="1"/>
          </p:cNvGraphicFramePr>
          <p:nvPr>
            <p:extLst>
              <p:ext uri="{D42A27DB-BD31-4B8C-83A1-F6EECF244321}">
                <p14:modId xmlns:p14="http://schemas.microsoft.com/office/powerpoint/2010/main" val="46802324"/>
              </p:ext>
            </p:extLst>
          </p:nvPr>
        </p:nvGraphicFramePr>
        <p:xfrm>
          <a:off x="4859338" y="4100513"/>
          <a:ext cx="2678112" cy="609600"/>
        </p:xfrm>
        <a:graphic>
          <a:graphicData uri="http://schemas.openxmlformats.org/presentationml/2006/ole">
            <mc:AlternateContent xmlns:mc="http://schemas.openxmlformats.org/markup-compatibility/2006">
              <mc:Choice xmlns:v="urn:schemas-microsoft-com:vml" Requires="v">
                <p:oleObj spid="_x0000_s60973" name="公式" r:id="rId4" imgW="1002960" imgH="228600" progId="Equation.3">
                  <p:embed/>
                </p:oleObj>
              </mc:Choice>
              <mc:Fallback>
                <p:oleObj name="公式" r:id="rId4" imgW="1002960" imgH="228600" progId="Equation.3">
                  <p:embed/>
                  <p:pic>
                    <p:nvPicPr>
                      <p:cNvPr id="0" name=""/>
                      <p:cNvPicPr>
                        <a:picLocks noChangeAspect="1" noChangeArrowheads="1"/>
                      </p:cNvPicPr>
                      <p:nvPr/>
                    </p:nvPicPr>
                    <p:blipFill>
                      <a:blip r:embed="rId5"/>
                      <a:srcRect/>
                      <a:stretch>
                        <a:fillRect/>
                      </a:stretch>
                    </p:blipFill>
                    <p:spPr bwMode="auto">
                      <a:xfrm>
                        <a:off x="4859338" y="4100513"/>
                        <a:ext cx="2678112" cy="609600"/>
                      </a:xfrm>
                      <a:prstGeom prst="rect">
                        <a:avLst/>
                      </a:prstGeom>
                      <a:noFill/>
                      <a:ln>
                        <a:noFill/>
                      </a:ln>
                      <a:effectLst/>
                      <a:extLst/>
                    </p:spPr>
                  </p:pic>
                </p:oleObj>
              </mc:Fallback>
            </mc:AlternateContent>
          </a:graphicData>
        </a:graphic>
      </p:graphicFrame>
      <p:sp>
        <p:nvSpPr>
          <p:cNvPr id="10294" name="Text Box 50"/>
          <p:cNvSpPr txBox="1">
            <a:spLocks noChangeArrowheads="1"/>
          </p:cNvSpPr>
          <p:nvPr/>
        </p:nvSpPr>
        <p:spPr bwMode="auto">
          <a:xfrm>
            <a:off x="465138" y="1012825"/>
            <a:ext cx="2287587" cy="1735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5000"/>
              </a:lnSpc>
              <a:spcBef>
                <a:spcPct val="20000"/>
              </a:spcBef>
              <a:spcAft>
                <a:spcPct val="0"/>
              </a:spcAft>
              <a:buClr>
                <a:srgbClr val="C00000"/>
              </a:buClr>
              <a:buFont typeface="Wingdings" pitchFamily="2" charset="2"/>
              <a:buChar char="n"/>
            </a:pPr>
            <a:r>
              <a:rPr kumimoji="1" lang="zh-CN" altLang="en-US" sz="2400" b="1" dirty="0">
                <a:solidFill>
                  <a:srgbClr val="000066"/>
                </a:solidFill>
                <a:ea typeface="幼圆" pitchFamily="49" charset="-122"/>
              </a:rPr>
              <a:t>天然密度</a:t>
            </a:r>
            <a:r>
              <a:rPr kumimoji="1" lang="zh-CN" altLang="en-US" sz="2400" b="1" i="1" dirty="0" smtClean="0">
                <a:solidFill>
                  <a:srgbClr val="000066"/>
                </a:solidFill>
                <a:ea typeface="幼圆" pitchFamily="49" charset="-122"/>
                <a:sym typeface="Symbol" panose="05050102010706020507" pitchFamily="18" charset="2"/>
              </a:rPr>
              <a:t></a:t>
            </a:r>
            <a:endParaRPr kumimoji="1" lang="zh-CN" altLang="en-US" sz="2400" b="1" dirty="0">
              <a:solidFill>
                <a:srgbClr val="000066"/>
              </a:solidFill>
              <a:ea typeface="幼圆" pitchFamily="49" charset="-122"/>
            </a:endParaRPr>
          </a:p>
          <a:p>
            <a:pPr eaLnBrk="1" hangingPunct="1">
              <a:lnSpc>
                <a:spcPct val="135000"/>
              </a:lnSpc>
              <a:spcBef>
                <a:spcPct val="20000"/>
              </a:spcBef>
              <a:spcAft>
                <a:spcPct val="0"/>
              </a:spcAft>
              <a:buClr>
                <a:srgbClr val="C00000"/>
              </a:buClr>
              <a:buFont typeface="Wingdings" pitchFamily="2" charset="2"/>
              <a:buChar char="n"/>
            </a:pPr>
            <a:r>
              <a:rPr kumimoji="1" lang="zh-CN" altLang="en-US" sz="2400" b="1" dirty="0" smtClean="0">
                <a:solidFill>
                  <a:srgbClr val="000066"/>
                </a:solidFill>
                <a:ea typeface="幼圆" pitchFamily="49" charset="-122"/>
              </a:rPr>
              <a:t>饱和密度</a:t>
            </a:r>
            <a:r>
              <a:rPr kumimoji="1" lang="zh-CN" altLang="en-US" sz="2400" b="1" i="1" dirty="0">
                <a:solidFill>
                  <a:srgbClr val="000066"/>
                </a:solidFill>
                <a:ea typeface="幼圆" pitchFamily="49" charset="-122"/>
                <a:sym typeface="Symbol" panose="05050102010706020507" pitchFamily="18" charset="2"/>
              </a:rPr>
              <a:t></a:t>
            </a:r>
            <a:r>
              <a:rPr kumimoji="1" lang="en-US" altLang="zh-CN" sz="2400" b="1" baseline="-25000" dirty="0">
                <a:solidFill>
                  <a:srgbClr val="000066"/>
                </a:solidFill>
                <a:ea typeface="幼圆" pitchFamily="49" charset="-122"/>
                <a:sym typeface="Symbol" panose="05050102010706020507" pitchFamily="18" charset="2"/>
              </a:rPr>
              <a:t>sat</a:t>
            </a:r>
            <a:endParaRPr kumimoji="1" lang="zh-CN" altLang="en-US" sz="2400" b="1" dirty="0">
              <a:solidFill>
                <a:srgbClr val="000066"/>
              </a:solidFill>
              <a:ea typeface="幼圆" pitchFamily="49" charset="-122"/>
            </a:endParaRPr>
          </a:p>
          <a:p>
            <a:pPr eaLnBrk="1" hangingPunct="1">
              <a:lnSpc>
                <a:spcPct val="135000"/>
              </a:lnSpc>
              <a:spcBef>
                <a:spcPct val="20000"/>
              </a:spcBef>
              <a:spcAft>
                <a:spcPct val="0"/>
              </a:spcAft>
              <a:buClr>
                <a:srgbClr val="C00000"/>
              </a:buClr>
              <a:buFont typeface="Wingdings" pitchFamily="2" charset="2"/>
              <a:buChar char="n"/>
            </a:pPr>
            <a:r>
              <a:rPr kumimoji="1" lang="zh-CN" altLang="en-US" sz="2400" b="1" dirty="0">
                <a:solidFill>
                  <a:srgbClr val="000066"/>
                </a:solidFill>
                <a:ea typeface="幼圆" pitchFamily="49" charset="-122"/>
              </a:rPr>
              <a:t>干密度</a:t>
            </a:r>
            <a:r>
              <a:rPr kumimoji="1" lang="zh-CN" altLang="en-US" sz="2400" b="1" i="1" dirty="0">
                <a:solidFill>
                  <a:srgbClr val="000066"/>
                </a:solidFill>
                <a:ea typeface="幼圆" pitchFamily="49" charset="-122"/>
                <a:sym typeface="Symbol" panose="05050102010706020507" pitchFamily="18" charset="2"/>
              </a:rPr>
              <a:t></a:t>
            </a:r>
            <a:r>
              <a:rPr kumimoji="1" lang="en-US" altLang="zh-CN" sz="2400" b="1" baseline="-25000" dirty="0" smtClean="0">
                <a:solidFill>
                  <a:srgbClr val="000066"/>
                </a:solidFill>
                <a:ea typeface="幼圆" pitchFamily="49" charset="-122"/>
                <a:sym typeface="Symbol" panose="05050102010706020507" pitchFamily="18" charset="2"/>
              </a:rPr>
              <a:t>d</a:t>
            </a:r>
            <a:endParaRPr kumimoji="1" lang="zh-CN" altLang="en-US" sz="2400" b="1" dirty="0">
              <a:solidFill>
                <a:srgbClr val="000066"/>
              </a:solidFill>
              <a:ea typeface="幼圆" pitchFamily="49" charset="-122"/>
            </a:endParaRPr>
          </a:p>
        </p:txBody>
      </p:sp>
      <p:sp>
        <p:nvSpPr>
          <p:cNvPr id="1391671" name="AutoShape 55"/>
          <p:cNvSpPr>
            <a:spLocks noChangeArrowheads="1"/>
          </p:cNvSpPr>
          <p:nvPr/>
        </p:nvSpPr>
        <p:spPr bwMode="auto">
          <a:xfrm>
            <a:off x="3900488" y="4179507"/>
            <a:ext cx="563562" cy="427038"/>
          </a:xfrm>
          <a:prstGeom prst="homePlate">
            <a:avLst>
              <a:gd name="adj" fmla="val 32992"/>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19"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pSp>
        <p:nvGrpSpPr>
          <p:cNvPr id="23" name="组合 22"/>
          <p:cNvGrpSpPr/>
          <p:nvPr/>
        </p:nvGrpSpPr>
        <p:grpSpPr>
          <a:xfrm>
            <a:off x="2944831" y="1174088"/>
            <a:ext cx="1102838" cy="1333851"/>
            <a:chOff x="-1871332" y="3983516"/>
            <a:chExt cx="1102838" cy="1333851"/>
          </a:xfrm>
        </p:grpSpPr>
        <p:sp>
          <p:nvSpPr>
            <p:cNvPr id="24" name="AutoShape 33"/>
            <p:cNvSpPr>
              <a:spLocks noChangeArrowheads="1"/>
            </p:cNvSpPr>
            <p:nvPr/>
          </p:nvSpPr>
          <p:spPr bwMode="gray">
            <a:xfrm rot="16200000" flipV="1">
              <a:off x="-1986839" y="4099023"/>
              <a:ext cx="1333851" cy="1102838"/>
            </a:xfrm>
            <a:prstGeom prst="upArrow">
              <a:avLst>
                <a:gd name="adj1" fmla="val 65157"/>
                <a:gd name="adj2" fmla="val 48347"/>
              </a:avLst>
            </a:prstGeom>
            <a:gradFill rotWithShape="1">
              <a:gsLst>
                <a:gs pos="0">
                  <a:srgbClr val="66CCFF"/>
                </a:gs>
                <a:gs pos="100000">
                  <a:srgbClr val="FCFBE4"/>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矩形 24"/>
            <p:cNvSpPr/>
            <p:nvPr/>
          </p:nvSpPr>
          <p:spPr>
            <a:xfrm>
              <a:off x="-1833647" y="4215880"/>
              <a:ext cx="803425" cy="830997"/>
            </a:xfrm>
            <a:prstGeom prst="rect">
              <a:avLst/>
            </a:prstGeom>
            <a:ln>
              <a:noFill/>
            </a:ln>
          </p:spPr>
          <p:txBody>
            <a:bodyPr wrap="none">
              <a:spAutoFit/>
            </a:bodyPr>
            <a:lstStyle/>
            <a:p>
              <a:pPr>
                <a:lnSpc>
                  <a:spcPct val="100000"/>
                </a:lnSpc>
                <a:spcBef>
                  <a:spcPts val="0"/>
                </a:spcBef>
                <a:spcAft>
                  <a:spcPts val="0"/>
                </a:spcAft>
              </a:pPr>
              <a:r>
                <a:rPr kumimoji="1" lang="zh-CN" altLang="en-US" sz="2400" b="1" dirty="0" smtClean="0">
                  <a:solidFill>
                    <a:srgbClr val="C00000"/>
                  </a:solidFill>
                  <a:latin typeface="幼圆" pitchFamily="49" charset="-122"/>
                  <a:ea typeface="幼圆" pitchFamily="49" charset="-122"/>
                </a:rPr>
                <a:t>相关</a:t>
              </a:r>
              <a:endParaRPr kumimoji="1" lang="en-US" altLang="zh-CN" sz="2400" b="1" dirty="0" smtClean="0">
                <a:solidFill>
                  <a:srgbClr val="C00000"/>
                </a:solidFill>
                <a:latin typeface="幼圆" pitchFamily="49" charset="-122"/>
                <a:ea typeface="幼圆" pitchFamily="49" charset="-122"/>
              </a:endParaRPr>
            </a:p>
            <a:p>
              <a:pPr>
                <a:lnSpc>
                  <a:spcPct val="100000"/>
                </a:lnSpc>
                <a:spcBef>
                  <a:spcPts val="0"/>
                </a:spcBef>
                <a:spcAft>
                  <a:spcPts val="0"/>
                </a:spcAft>
              </a:pPr>
              <a:r>
                <a:rPr kumimoji="1" lang="zh-CN" altLang="en-US" sz="2400" b="1" dirty="0" smtClean="0">
                  <a:solidFill>
                    <a:srgbClr val="C00000"/>
                  </a:solidFill>
                  <a:latin typeface="幼圆" pitchFamily="49" charset="-122"/>
                  <a:ea typeface="幼圆" pitchFamily="49" charset="-122"/>
                </a:rPr>
                <a:t>指标</a:t>
              </a:r>
              <a:endParaRPr lang="zh-CN" altLang="en-US" sz="2400" dirty="0">
                <a:solidFill>
                  <a:srgbClr val="C00000"/>
                </a:solidFill>
              </a:endParaRPr>
            </a:p>
          </p:txBody>
        </p:sp>
      </p:grpSp>
      <p:grpSp>
        <p:nvGrpSpPr>
          <p:cNvPr id="2" name="组合 1"/>
          <p:cNvGrpSpPr/>
          <p:nvPr/>
        </p:nvGrpSpPr>
        <p:grpSpPr>
          <a:xfrm>
            <a:off x="4400551" y="1025525"/>
            <a:ext cx="4214811" cy="1735860"/>
            <a:chOff x="4400551" y="1025525"/>
            <a:chExt cx="4214811" cy="1735860"/>
          </a:xfrm>
        </p:grpSpPr>
        <p:sp>
          <p:nvSpPr>
            <p:cNvPr id="27" name="Text Box 50"/>
            <p:cNvSpPr txBox="1">
              <a:spLocks noChangeArrowheads="1"/>
            </p:cNvSpPr>
            <p:nvPr/>
          </p:nvSpPr>
          <p:spPr bwMode="auto">
            <a:xfrm>
              <a:off x="4400551" y="1025525"/>
              <a:ext cx="2249488" cy="1735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5000"/>
                </a:lnSpc>
                <a:spcBef>
                  <a:spcPct val="20000"/>
                </a:spcBef>
                <a:spcAft>
                  <a:spcPct val="0"/>
                </a:spcAft>
                <a:buClr>
                  <a:srgbClr val="C00000"/>
                </a:buClr>
                <a:buFont typeface="Wingdings" pitchFamily="2" charset="2"/>
                <a:buChar char="n"/>
              </a:pPr>
              <a:r>
                <a:rPr kumimoji="1" lang="zh-CN" altLang="en-US" sz="2400" b="1" dirty="0" smtClean="0">
                  <a:solidFill>
                    <a:srgbClr val="000066"/>
                  </a:solidFill>
                  <a:ea typeface="幼圆" pitchFamily="49" charset="-122"/>
                </a:rPr>
                <a:t>天然重度</a:t>
              </a:r>
              <a:r>
                <a:rPr kumimoji="1" lang="zh-CN" altLang="en-US" sz="2400" b="1" dirty="0" smtClean="0">
                  <a:solidFill>
                    <a:srgbClr val="000066"/>
                  </a:solidFill>
                  <a:ea typeface="幼圆" pitchFamily="49" charset="-122"/>
                  <a:sym typeface="Symbol" panose="05050102010706020507" pitchFamily="18" charset="2"/>
                </a:rPr>
                <a:t></a:t>
              </a:r>
              <a:r>
                <a:rPr kumimoji="1" lang="en-US" altLang="zh-CN" sz="2400" b="1" dirty="0" smtClean="0">
                  <a:solidFill>
                    <a:srgbClr val="000066"/>
                  </a:solidFill>
                  <a:ea typeface="幼圆" pitchFamily="49" charset="-122"/>
                  <a:sym typeface="Symbol" panose="05050102010706020507" pitchFamily="18" charset="2"/>
                </a:rPr>
                <a:t>:</a:t>
              </a:r>
              <a:endParaRPr kumimoji="1" lang="zh-CN" altLang="en-US" sz="2400" b="1" dirty="0">
                <a:solidFill>
                  <a:srgbClr val="000066"/>
                </a:solidFill>
                <a:ea typeface="幼圆" pitchFamily="49" charset="-122"/>
              </a:endParaRPr>
            </a:p>
            <a:p>
              <a:pPr eaLnBrk="1" hangingPunct="1">
                <a:lnSpc>
                  <a:spcPct val="135000"/>
                </a:lnSpc>
                <a:spcBef>
                  <a:spcPct val="20000"/>
                </a:spcBef>
                <a:spcAft>
                  <a:spcPct val="0"/>
                </a:spcAft>
                <a:buClr>
                  <a:srgbClr val="C00000"/>
                </a:buClr>
                <a:buFont typeface="Wingdings" pitchFamily="2" charset="2"/>
                <a:buChar char="n"/>
              </a:pPr>
              <a:r>
                <a:rPr kumimoji="1" lang="zh-CN" altLang="en-US" sz="2400" b="1" dirty="0">
                  <a:solidFill>
                    <a:srgbClr val="000066"/>
                  </a:solidFill>
                  <a:ea typeface="幼圆" pitchFamily="49" charset="-122"/>
                </a:rPr>
                <a:t>饱和重</a:t>
              </a:r>
              <a:r>
                <a:rPr kumimoji="1" lang="zh-CN" altLang="en-US" sz="2400" b="1" dirty="0" smtClean="0">
                  <a:solidFill>
                    <a:srgbClr val="000066"/>
                  </a:solidFill>
                  <a:ea typeface="幼圆" pitchFamily="49" charset="-122"/>
                </a:rPr>
                <a:t>度</a:t>
              </a:r>
              <a:r>
                <a:rPr kumimoji="1" lang="zh-CN" altLang="en-US" sz="2400" b="1" dirty="0" smtClean="0">
                  <a:solidFill>
                    <a:srgbClr val="000066"/>
                  </a:solidFill>
                  <a:ea typeface="幼圆" pitchFamily="49" charset="-122"/>
                  <a:sym typeface="Symbol" panose="05050102010706020507" pitchFamily="18" charset="2"/>
                </a:rPr>
                <a:t></a:t>
              </a:r>
              <a:r>
                <a:rPr kumimoji="1" lang="en-US" altLang="zh-CN" sz="2400" b="1" baseline="-25000" dirty="0" smtClean="0">
                  <a:solidFill>
                    <a:srgbClr val="000066"/>
                  </a:solidFill>
                  <a:ea typeface="幼圆" pitchFamily="49" charset="-122"/>
                  <a:sym typeface="Symbol" panose="05050102010706020507" pitchFamily="18" charset="2"/>
                </a:rPr>
                <a:t>sat</a:t>
              </a:r>
              <a:r>
                <a:rPr kumimoji="1" lang="en-US" altLang="zh-CN" sz="2400" b="1" dirty="0" smtClean="0">
                  <a:solidFill>
                    <a:srgbClr val="000066"/>
                  </a:solidFill>
                  <a:ea typeface="幼圆" pitchFamily="49" charset="-122"/>
                  <a:sym typeface="Symbol" panose="05050102010706020507" pitchFamily="18" charset="2"/>
                </a:rPr>
                <a:t>:</a:t>
              </a:r>
              <a:endParaRPr kumimoji="1" lang="zh-CN" altLang="en-US" sz="2400" b="1" dirty="0">
                <a:solidFill>
                  <a:srgbClr val="000066"/>
                </a:solidFill>
                <a:ea typeface="幼圆" pitchFamily="49" charset="-122"/>
              </a:endParaRPr>
            </a:p>
            <a:p>
              <a:pPr eaLnBrk="1" hangingPunct="1">
                <a:lnSpc>
                  <a:spcPct val="135000"/>
                </a:lnSpc>
                <a:spcBef>
                  <a:spcPct val="20000"/>
                </a:spcBef>
                <a:spcAft>
                  <a:spcPct val="0"/>
                </a:spcAft>
                <a:buClr>
                  <a:srgbClr val="C00000"/>
                </a:buClr>
                <a:buFont typeface="Wingdings" pitchFamily="2" charset="2"/>
                <a:buChar char="n"/>
              </a:pPr>
              <a:r>
                <a:rPr kumimoji="1" lang="zh-CN" altLang="en-US" sz="2400" b="1" dirty="0" smtClean="0">
                  <a:solidFill>
                    <a:srgbClr val="000066"/>
                  </a:solidFill>
                  <a:ea typeface="幼圆" pitchFamily="49" charset="-122"/>
                </a:rPr>
                <a:t>干重度</a:t>
              </a:r>
              <a:r>
                <a:rPr kumimoji="1" lang="zh-CN" altLang="en-US" sz="2400" b="1" dirty="0" smtClean="0">
                  <a:solidFill>
                    <a:srgbClr val="000066"/>
                  </a:solidFill>
                  <a:ea typeface="幼圆" pitchFamily="49" charset="-122"/>
                  <a:sym typeface="Symbol" panose="05050102010706020507" pitchFamily="18" charset="2"/>
                </a:rPr>
                <a:t></a:t>
              </a:r>
              <a:r>
                <a:rPr kumimoji="1" lang="en-US" altLang="zh-CN" sz="2400" b="1" baseline="-25000" dirty="0" smtClean="0">
                  <a:solidFill>
                    <a:srgbClr val="000066"/>
                  </a:solidFill>
                  <a:ea typeface="幼圆" pitchFamily="49" charset="-122"/>
                  <a:sym typeface="Symbol" panose="05050102010706020507" pitchFamily="18" charset="2"/>
                </a:rPr>
                <a:t>d</a:t>
              </a:r>
              <a:r>
                <a:rPr kumimoji="1" lang="en-US" altLang="zh-CN" sz="2400" b="1" dirty="0" smtClean="0">
                  <a:solidFill>
                    <a:srgbClr val="000066"/>
                  </a:solidFill>
                  <a:ea typeface="幼圆" pitchFamily="49" charset="-122"/>
                  <a:sym typeface="Symbol" panose="05050102010706020507" pitchFamily="18" charset="2"/>
                </a:rPr>
                <a:t>:</a:t>
              </a:r>
              <a:endParaRPr kumimoji="1" lang="zh-CN" altLang="en-US" sz="2400" b="1" dirty="0">
                <a:solidFill>
                  <a:srgbClr val="000066"/>
                </a:solidFill>
                <a:ea typeface="幼圆" pitchFamily="49" charset="-122"/>
              </a:endParaRPr>
            </a:p>
          </p:txBody>
        </p:sp>
        <p:graphicFrame>
          <p:nvGraphicFramePr>
            <p:cNvPr id="28" name="Object 51"/>
            <p:cNvGraphicFramePr>
              <a:graphicFrameLocks noChangeAspect="1"/>
            </p:cNvGraphicFramePr>
            <p:nvPr>
              <p:extLst>
                <p:ext uri="{D42A27DB-BD31-4B8C-83A1-F6EECF244321}">
                  <p14:modId xmlns:p14="http://schemas.microsoft.com/office/powerpoint/2010/main" val="2798107025"/>
                </p:ext>
              </p:extLst>
            </p:nvPr>
          </p:nvGraphicFramePr>
          <p:xfrm>
            <a:off x="6975474" y="2198689"/>
            <a:ext cx="1403351" cy="495300"/>
          </p:xfrm>
          <a:graphic>
            <a:graphicData uri="http://schemas.openxmlformats.org/presentationml/2006/ole">
              <mc:AlternateContent xmlns:mc="http://schemas.openxmlformats.org/markup-compatibility/2006">
                <mc:Choice xmlns:v="urn:schemas-microsoft-com:vml" Requires="v">
                  <p:oleObj spid="_x0000_s60974" name="公式" r:id="rId6" imgW="647640" imgH="228600" progId="Equation.3">
                    <p:embed/>
                  </p:oleObj>
                </mc:Choice>
                <mc:Fallback>
                  <p:oleObj name="公式" r:id="rId6" imgW="647640" imgH="228600" progId="Equation.3">
                    <p:embed/>
                    <p:pic>
                      <p:nvPicPr>
                        <p:cNvPr id="0" name=""/>
                        <p:cNvPicPr>
                          <a:picLocks noChangeAspect="1" noChangeArrowheads="1"/>
                        </p:cNvPicPr>
                        <p:nvPr/>
                      </p:nvPicPr>
                      <p:blipFill>
                        <a:blip r:embed="rId7"/>
                        <a:srcRect/>
                        <a:stretch>
                          <a:fillRect/>
                        </a:stretch>
                      </p:blipFill>
                      <p:spPr bwMode="auto">
                        <a:xfrm>
                          <a:off x="6975474" y="2198689"/>
                          <a:ext cx="1403351" cy="495300"/>
                        </a:xfrm>
                        <a:prstGeom prst="rect">
                          <a:avLst/>
                        </a:prstGeom>
                        <a:noFill/>
                        <a:ln>
                          <a:noFill/>
                        </a:ln>
                        <a:effectLst/>
                        <a:extLst/>
                      </p:spPr>
                    </p:pic>
                  </p:oleObj>
                </mc:Fallback>
              </mc:AlternateContent>
            </a:graphicData>
          </a:graphic>
        </p:graphicFrame>
        <p:graphicFrame>
          <p:nvGraphicFramePr>
            <p:cNvPr id="29" name="Object 52"/>
            <p:cNvGraphicFramePr>
              <a:graphicFrameLocks noChangeAspect="1"/>
            </p:cNvGraphicFramePr>
            <p:nvPr>
              <p:extLst>
                <p:ext uri="{D42A27DB-BD31-4B8C-83A1-F6EECF244321}">
                  <p14:modId xmlns:p14="http://schemas.microsoft.com/office/powerpoint/2010/main" val="81204414"/>
                </p:ext>
              </p:extLst>
            </p:nvPr>
          </p:nvGraphicFramePr>
          <p:xfrm>
            <a:off x="6940550" y="1159934"/>
            <a:ext cx="1155700" cy="357717"/>
          </p:xfrm>
          <a:graphic>
            <a:graphicData uri="http://schemas.openxmlformats.org/presentationml/2006/ole">
              <mc:AlternateContent xmlns:mc="http://schemas.openxmlformats.org/markup-compatibility/2006">
                <mc:Choice xmlns:v="urn:schemas-microsoft-com:vml" Requires="v">
                  <p:oleObj spid="_x0000_s60975" name="公式" r:id="rId8" imgW="533160" imgH="164880" progId="Equation.3">
                    <p:embed/>
                  </p:oleObj>
                </mc:Choice>
                <mc:Fallback>
                  <p:oleObj name="公式" r:id="rId8" imgW="533160" imgH="164880" progId="Equation.3">
                    <p:embed/>
                    <p:pic>
                      <p:nvPicPr>
                        <p:cNvPr id="0" name=""/>
                        <p:cNvPicPr>
                          <a:picLocks noChangeAspect="1" noChangeArrowheads="1"/>
                        </p:cNvPicPr>
                        <p:nvPr/>
                      </p:nvPicPr>
                      <p:blipFill>
                        <a:blip r:embed="rId9"/>
                        <a:srcRect/>
                        <a:stretch>
                          <a:fillRect/>
                        </a:stretch>
                      </p:blipFill>
                      <p:spPr bwMode="auto">
                        <a:xfrm>
                          <a:off x="6940550" y="1159934"/>
                          <a:ext cx="1155700" cy="357717"/>
                        </a:xfrm>
                        <a:prstGeom prst="rect">
                          <a:avLst/>
                        </a:prstGeom>
                        <a:noFill/>
                        <a:ln>
                          <a:noFill/>
                        </a:ln>
                        <a:effectLst/>
                        <a:extLst/>
                      </p:spPr>
                    </p:pic>
                  </p:oleObj>
                </mc:Fallback>
              </mc:AlternateContent>
            </a:graphicData>
          </a:graphic>
        </p:graphicFrame>
        <p:graphicFrame>
          <p:nvGraphicFramePr>
            <p:cNvPr id="30" name="Object 53"/>
            <p:cNvGraphicFramePr>
              <a:graphicFrameLocks noChangeAspect="1"/>
            </p:cNvGraphicFramePr>
            <p:nvPr>
              <p:extLst>
                <p:ext uri="{D42A27DB-BD31-4B8C-83A1-F6EECF244321}">
                  <p14:modId xmlns:p14="http://schemas.microsoft.com/office/powerpoint/2010/main" val="1502689750"/>
                </p:ext>
              </p:extLst>
            </p:nvPr>
          </p:nvGraphicFramePr>
          <p:xfrm>
            <a:off x="6964362" y="1627189"/>
            <a:ext cx="1651000" cy="495300"/>
          </p:xfrm>
          <a:graphic>
            <a:graphicData uri="http://schemas.openxmlformats.org/presentationml/2006/ole">
              <mc:AlternateContent xmlns:mc="http://schemas.openxmlformats.org/markup-compatibility/2006">
                <mc:Choice xmlns:v="urn:schemas-microsoft-com:vml" Requires="v">
                  <p:oleObj spid="_x0000_s60976" name="公式" r:id="rId10" imgW="761760" imgH="228600" progId="Equation.3">
                    <p:embed/>
                  </p:oleObj>
                </mc:Choice>
                <mc:Fallback>
                  <p:oleObj name="公式" r:id="rId10" imgW="761760" imgH="228600" progId="Equation.3">
                    <p:embed/>
                    <p:pic>
                      <p:nvPicPr>
                        <p:cNvPr id="0" name=""/>
                        <p:cNvPicPr>
                          <a:picLocks noChangeAspect="1" noChangeArrowheads="1"/>
                        </p:cNvPicPr>
                        <p:nvPr/>
                      </p:nvPicPr>
                      <p:blipFill>
                        <a:blip r:embed="rId11"/>
                        <a:srcRect/>
                        <a:stretch>
                          <a:fillRect/>
                        </a:stretch>
                      </p:blipFill>
                      <p:spPr bwMode="auto">
                        <a:xfrm>
                          <a:off x="6964362" y="1627189"/>
                          <a:ext cx="1651000" cy="495300"/>
                        </a:xfrm>
                        <a:prstGeom prst="rect">
                          <a:avLst/>
                        </a:prstGeom>
                        <a:noFill/>
                        <a:ln>
                          <a:noFill/>
                        </a:ln>
                        <a:effectLst/>
                        <a:extLst/>
                      </p:spPr>
                    </p:pic>
                  </p:oleObj>
                </mc:Fallback>
              </mc:AlternateContent>
            </a:graphicData>
          </a:graphic>
        </p:graphicFrame>
      </p:grpSp>
      <p:sp>
        <p:nvSpPr>
          <p:cNvPr id="33" name="Text Box 50"/>
          <p:cNvSpPr txBox="1">
            <a:spLocks noChangeArrowheads="1"/>
          </p:cNvSpPr>
          <p:nvPr/>
        </p:nvSpPr>
        <p:spPr bwMode="auto">
          <a:xfrm>
            <a:off x="4408488" y="2882900"/>
            <a:ext cx="2060575"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5000"/>
              </a:lnSpc>
              <a:spcBef>
                <a:spcPct val="20000"/>
              </a:spcBef>
              <a:spcAft>
                <a:spcPct val="0"/>
              </a:spcAft>
              <a:buClr>
                <a:srgbClr val="C00000"/>
              </a:buClr>
              <a:buFont typeface="Wingdings" pitchFamily="2" charset="2"/>
              <a:buChar char="n"/>
            </a:pPr>
            <a:r>
              <a:rPr kumimoji="1" lang="zh-CN" altLang="en-US" sz="2400" b="1" dirty="0" smtClean="0">
                <a:solidFill>
                  <a:srgbClr val="000066"/>
                </a:solidFill>
                <a:ea typeface="幼圆" pitchFamily="49" charset="-122"/>
              </a:rPr>
              <a:t>浮重度</a:t>
            </a:r>
            <a:r>
              <a:rPr kumimoji="1" lang="zh-CN" altLang="en-US" sz="2400" b="1" dirty="0" smtClean="0">
                <a:solidFill>
                  <a:srgbClr val="000066"/>
                </a:solidFill>
                <a:ea typeface="幼圆" pitchFamily="49" charset="-122"/>
                <a:sym typeface="Symbol" panose="05050102010706020507" pitchFamily="18" charset="2"/>
              </a:rPr>
              <a:t></a:t>
            </a:r>
            <a:r>
              <a:rPr kumimoji="1" lang="en-US" altLang="zh-CN" sz="2400" b="1" dirty="0" smtClean="0">
                <a:solidFill>
                  <a:srgbClr val="000066"/>
                </a:solidFill>
                <a:ea typeface="幼圆" pitchFamily="49" charset="-122"/>
                <a:sym typeface="Symbol" panose="05050102010706020507" pitchFamily="18" charset="2"/>
              </a:rPr>
              <a:t>:</a:t>
            </a:r>
            <a:endParaRPr kumimoji="1" lang="en-US" altLang="zh-CN" sz="2400" b="1" dirty="0">
              <a:solidFill>
                <a:srgbClr val="000066"/>
              </a:solidFill>
              <a:ea typeface="幼圆" pitchFamily="49" charset="-122"/>
            </a:endParaRPr>
          </a:p>
        </p:txBody>
      </p:sp>
      <p:graphicFrame>
        <p:nvGraphicFramePr>
          <p:cNvPr id="37" name="Object 54"/>
          <p:cNvGraphicFramePr>
            <a:graphicFrameLocks noChangeAspect="1"/>
          </p:cNvGraphicFramePr>
          <p:nvPr>
            <p:extLst>
              <p:ext uri="{D42A27DB-BD31-4B8C-83A1-F6EECF244321}">
                <p14:modId xmlns:p14="http://schemas.microsoft.com/office/powerpoint/2010/main" val="3497846426"/>
              </p:ext>
            </p:extLst>
          </p:nvPr>
        </p:nvGraphicFramePr>
        <p:xfrm>
          <a:off x="7017013" y="2896303"/>
          <a:ext cx="1869812" cy="551748"/>
        </p:xfrm>
        <a:graphic>
          <a:graphicData uri="http://schemas.openxmlformats.org/presentationml/2006/ole">
            <mc:AlternateContent xmlns:mc="http://schemas.openxmlformats.org/markup-compatibility/2006">
              <mc:Choice xmlns:v="urn:schemas-microsoft-com:vml" Requires="v">
                <p:oleObj spid="_x0000_s60977" name="公式" r:id="rId12" imgW="774360" imgH="228600" progId="Equation.3">
                  <p:embed/>
                </p:oleObj>
              </mc:Choice>
              <mc:Fallback>
                <p:oleObj name="公式" r:id="rId12" imgW="774360" imgH="228600" progId="Equation.3">
                  <p:embed/>
                  <p:pic>
                    <p:nvPicPr>
                      <p:cNvPr id="0" name=""/>
                      <p:cNvPicPr>
                        <a:picLocks noChangeAspect="1" noChangeArrowheads="1"/>
                      </p:cNvPicPr>
                      <p:nvPr/>
                    </p:nvPicPr>
                    <p:blipFill>
                      <a:blip r:embed="rId13"/>
                      <a:srcRect/>
                      <a:stretch>
                        <a:fillRect/>
                      </a:stretch>
                    </p:blipFill>
                    <p:spPr bwMode="auto">
                      <a:xfrm>
                        <a:off x="7017013" y="2896303"/>
                        <a:ext cx="1869812" cy="551748"/>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5056020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left)">
                                      <p:cBhvr>
                                        <p:cTn id="16" dur="1000"/>
                                        <p:tgtEl>
                                          <p:spTgt spid="33"/>
                                        </p:tgtEl>
                                      </p:cBhvr>
                                    </p:animEffect>
                                  </p:childTnLst>
                                </p:cTn>
                              </p:par>
                              <p:par>
                                <p:cTn id="17" presetID="22" presetClass="entr" presetSubtype="8"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1000"/>
                                        <p:tgtEl>
                                          <p:spTgt spid="3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391671"/>
                                        </p:tgtEl>
                                        <p:attrNameLst>
                                          <p:attrName>style.visibility</p:attrName>
                                        </p:attrNameLst>
                                      </p:cBhvr>
                                      <p:to>
                                        <p:strVal val="visible"/>
                                      </p:to>
                                    </p:set>
                                    <p:anim calcmode="lin" valueType="num">
                                      <p:cBhvr additive="base">
                                        <p:cTn id="24" dur="2000" fill="hold"/>
                                        <p:tgtEl>
                                          <p:spTgt spid="1391671"/>
                                        </p:tgtEl>
                                        <p:attrNameLst>
                                          <p:attrName>ppt_x</p:attrName>
                                        </p:attrNameLst>
                                      </p:cBhvr>
                                      <p:tavLst>
                                        <p:tav tm="0">
                                          <p:val>
                                            <p:strVal val="0-#ppt_w/2"/>
                                          </p:val>
                                        </p:tav>
                                        <p:tav tm="100000">
                                          <p:val>
                                            <p:strVal val="#ppt_x"/>
                                          </p:val>
                                        </p:tav>
                                      </p:tavLst>
                                    </p:anim>
                                    <p:anim calcmode="lin" valueType="num">
                                      <p:cBhvr additive="base">
                                        <p:cTn id="25" dur="2000" fill="hold"/>
                                        <p:tgtEl>
                                          <p:spTgt spid="1391671"/>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2000"/>
                            </p:stCondLst>
                            <p:childTnLst>
                              <p:par>
                                <p:cTn id="27" presetID="15" presetClass="entr" presetSubtype="0" fill="hold" nodeType="afterEffect">
                                  <p:stCondLst>
                                    <p:cond delay="0"/>
                                  </p:stCondLst>
                                  <p:childTnLst>
                                    <p:set>
                                      <p:cBhvr>
                                        <p:cTn id="28" dur="1" fill="hold">
                                          <p:stCondLst>
                                            <p:cond delay="0"/>
                                          </p:stCondLst>
                                        </p:cTn>
                                        <p:tgtEl>
                                          <p:spTgt spid="1391659"/>
                                        </p:tgtEl>
                                        <p:attrNameLst>
                                          <p:attrName>style.visibility</p:attrName>
                                        </p:attrNameLst>
                                      </p:cBhvr>
                                      <p:to>
                                        <p:strVal val="visible"/>
                                      </p:to>
                                    </p:set>
                                    <p:anim calcmode="lin" valueType="num">
                                      <p:cBhvr>
                                        <p:cTn id="29" dur="2000" fill="hold"/>
                                        <p:tgtEl>
                                          <p:spTgt spid="1391659"/>
                                        </p:tgtEl>
                                        <p:attrNameLst>
                                          <p:attrName>ppt_w</p:attrName>
                                        </p:attrNameLst>
                                      </p:cBhvr>
                                      <p:tavLst>
                                        <p:tav tm="0">
                                          <p:val>
                                            <p:fltVal val="0"/>
                                          </p:val>
                                        </p:tav>
                                        <p:tav tm="100000">
                                          <p:val>
                                            <p:strVal val="#ppt_w"/>
                                          </p:val>
                                        </p:tav>
                                      </p:tavLst>
                                    </p:anim>
                                    <p:anim calcmode="lin" valueType="num">
                                      <p:cBhvr>
                                        <p:cTn id="30" dur="2000" fill="hold"/>
                                        <p:tgtEl>
                                          <p:spTgt spid="1391659"/>
                                        </p:tgtEl>
                                        <p:attrNameLst>
                                          <p:attrName>ppt_h</p:attrName>
                                        </p:attrNameLst>
                                      </p:cBhvr>
                                      <p:tavLst>
                                        <p:tav tm="0">
                                          <p:val>
                                            <p:fltVal val="0"/>
                                          </p:val>
                                        </p:tav>
                                        <p:tav tm="100000">
                                          <p:val>
                                            <p:strVal val="#ppt_h"/>
                                          </p:val>
                                        </p:tav>
                                      </p:tavLst>
                                    </p:anim>
                                    <p:anim calcmode="lin" valueType="num">
                                      <p:cBhvr>
                                        <p:cTn id="31" dur="2000" fill="hold"/>
                                        <p:tgtEl>
                                          <p:spTgt spid="1391659"/>
                                        </p:tgtEl>
                                        <p:attrNameLst>
                                          <p:attrName>ppt_x</p:attrName>
                                        </p:attrNameLst>
                                      </p:cBhvr>
                                      <p:tavLst>
                                        <p:tav tm="0" fmla="#ppt_x+(cos(-2*pi*(1-$))*-#ppt_x-sin(-2*pi*(1-$))*(1-#ppt_y))*(1-$)">
                                          <p:val>
                                            <p:fltVal val="0"/>
                                          </p:val>
                                        </p:tav>
                                        <p:tav tm="100000">
                                          <p:val>
                                            <p:fltVal val="1"/>
                                          </p:val>
                                        </p:tav>
                                      </p:tavLst>
                                    </p:anim>
                                    <p:anim calcmode="lin" valueType="num">
                                      <p:cBhvr>
                                        <p:cTn id="32" dur="2000" fill="hold"/>
                                        <p:tgtEl>
                                          <p:spTgt spid="139165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1671" grpId="0" animBg="1"/>
      <p:bldP spid="3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7" name="Text Box 17"/>
          <p:cNvSpPr txBox="1">
            <a:spLocks noChangeArrowheads="1"/>
          </p:cNvSpPr>
          <p:nvPr/>
        </p:nvSpPr>
        <p:spPr bwMode="auto">
          <a:xfrm>
            <a:off x="955674" y="1079500"/>
            <a:ext cx="765492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00000"/>
              </a:lnSpc>
              <a:spcBef>
                <a:spcPct val="0"/>
              </a:spcBef>
              <a:spcAft>
                <a:spcPct val="0"/>
              </a:spcAft>
              <a:buClr>
                <a:srgbClr val="C00000"/>
              </a:buClr>
              <a:buSzPct val="140000"/>
              <a:buFont typeface="Wingdings" pitchFamily="2" charset="2"/>
              <a:buChar char="F"/>
            </a:pPr>
            <a:r>
              <a:rPr kumimoji="1" lang="zh-CN" altLang="en-US" sz="3200" b="1" dirty="0" smtClean="0">
                <a:solidFill>
                  <a:srgbClr val="000066"/>
                </a:solidFill>
                <a:latin typeface="幼圆" pitchFamily="49" charset="-122"/>
                <a:ea typeface="幼圆" pitchFamily="49" charset="-122"/>
              </a:rPr>
              <a:t>常用的</a:t>
            </a:r>
            <a:r>
              <a:rPr kumimoji="1" lang="en-US" altLang="zh-CN" sz="3200" b="1" dirty="0" smtClean="0">
                <a:solidFill>
                  <a:srgbClr val="000066"/>
                </a:solidFill>
                <a:latin typeface="幼圆" pitchFamily="49" charset="-122"/>
                <a:ea typeface="幼圆" pitchFamily="49" charset="-122"/>
              </a:rPr>
              <a:t>9</a:t>
            </a:r>
            <a:r>
              <a:rPr kumimoji="1" lang="zh-CN" altLang="en-US" sz="3200" b="1" dirty="0" smtClean="0">
                <a:solidFill>
                  <a:srgbClr val="000066"/>
                </a:solidFill>
                <a:latin typeface="幼圆" pitchFamily="49" charset="-122"/>
                <a:ea typeface="幼圆" pitchFamily="49" charset="-122"/>
              </a:rPr>
              <a:t>个物理性质</a:t>
            </a:r>
            <a:r>
              <a:rPr kumimoji="1" lang="zh-CN" altLang="en-US" sz="3200" b="1" dirty="0">
                <a:solidFill>
                  <a:srgbClr val="000066"/>
                </a:solidFill>
                <a:latin typeface="幼圆" pitchFamily="49" charset="-122"/>
                <a:ea typeface="幼圆" pitchFamily="49" charset="-122"/>
              </a:rPr>
              <a:t>指标间的换算关系：</a:t>
            </a:r>
          </a:p>
        </p:txBody>
      </p:sp>
      <p:sp>
        <p:nvSpPr>
          <p:cNvPr id="1392658" name="Text Box 18"/>
          <p:cNvSpPr txBox="1">
            <a:spLocks noChangeArrowheads="1"/>
          </p:cNvSpPr>
          <p:nvPr/>
        </p:nvSpPr>
        <p:spPr bwMode="auto">
          <a:xfrm>
            <a:off x="2646363" y="1984375"/>
            <a:ext cx="328771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800" b="1" dirty="0">
                <a:solidFill>
                  <a:srgbClr val="000066"/>
                </a:solidFill>
                <a:ea typeface="幼圆" pitchFamily="49" charset="-122"/>
                <a:cs typeface="Times New Roman" panose="02020603050405020304" pitchFamily="18" charset="0"/>
              </a:rPr>
              <a:t>教科书 </a:t>
            </a:r>
            <a:r>
              <a:rPr kumimoji="1" lang="en-US" altLang="zh-CN" sz="2800" b="1" dirty="0" smtClean="0">
                <a:solidFill>
                  <a:srgbClr val="000066"/>
                </a:solidFill>
                <a:ea typeface="幼圆" pitchFamily="49" charset="-122"/>
                <a:cs typeface="Times New Roman" panose="02020603050405020304" pitchFamily="18" charset="0"/>
              </a:rPr>
              <a:t>P23  </a:t>
            </a:r>
            <a:r>
              <a:rPr kumimoji="1" lang="zh-CN" altLang="en-US" sz="2800" b="1" dirty="0">
                <a:solidFill>
                  <a:srgbClr val="000066"/>
                </a:solidFill>
                <a:ea typeface="幼圆" pitchFamily="49" charset="-122"/>
                <a:cs typeface="Times New Roman" panose="02020603050405020304" pitchFamily="18" charset="0"/>
              </a:rPr>
              <a:t>表</a:t>
            </a:r>
            <a:r>
              <a:rPr kumimoji="1" lang="en-US" altLang="zh-CN" sz="2800" b="1" dirty="0" smtClean="0">
                <a:solidFill>
                  <a:srgbClr val="000066"/>
                </a:solidFill>
                <a:ea typeface="幼圆" pitchFamily="49" charset="-122"/>
                <a:cs typeface="Times New Roman" panose="02020603050405020304" pitchFamily="18" charset="0"/>
              </a:rPr>
              <a:t>1-9</a:t>
            </a:r>
            <a:endParaRPr kumimoji="1" lang="en-US" altLang="zh-CN" sz="2800" b="1" dirty="0">
              <a:solidFill>
                <a:srgbClr val="000066"/>
              </a:solidFill>
              <a:ea typeface="幼圆" pitchFamily="49" charset="-122"/>
              <a:cs typeface="Times New Roman" panose="02020603050405020304" pitchFamily="18" charset="0"/>
            </a:endParaRPr>
          </a:p>
        </p:txBody>
      </p:sp>
      <p:sp>
        <p:nvSpPr>
          <p:cNvPr id="67590" name="Text Box 20"/>
          <p:cNvSpPr txBox="1">
            <a:spLocks noChangeArrowheads="1"/>
          </p:cNvSpPr>
          <p:nvPr/>
        </p:nvSpPr>
        <p:spPr bwMode="auto">
          <a:xfrm>
            <a:off x="3203575" y="5643563"/>
            <a:ext cx="21383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a:solidFill>
                  <a:srgbClr val="000066"/>
                </a:solidFill>
                <a:latin typeface="黑体" pitchFamily="2" charset="-122"/>
                <a:ea typeface="黑体" pitchFamily="2" charset="-122"/>
              </a:rPr>
              <a:t>小   结</a:t>
            </a:r>
          </a:p>
        </p:txBody>
      </p:sp>
      <p:sp>
        <p:nvSpPr>
          <p:cNvPr id="1392661" name="Text Box 21"/>
          <p:cNvSpPr txBox="1">
            <a:spLocks noChangeArrowheads="1"/>
          </p:cNvSpPr>
          <p:nvPr/>
        </p:nvSpPr>
        <p:spPr bwMode="auto">
          <a:xfrm>
            <a:off x="1817688" y="3605213"/>
            <a:ext cx="5743575"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spcBef>
                <a:spcPct val="0"/>
              </a:spcBef>
              <a:spcAft>
                <a:spcPct val="0"/>
              </a:spcAft>
              <a:buFont typeface="Wingdings" pitchFamily="2" charset="2"/>
              <a:buChar char="²"/>
            </a:pPr>
            <a:r>
              <a:rPr kumimoji="1" lang="zh-CN" altLang="en-US" sz="2800" b="1" dirty="0">
                <a:solidFill>
                  <a:srgbClr val="800000"/>
                </a:solidFill>
                <a:ea typeface="幼圆" pitchFamily="49" charset="-122"/>
              </a:rPr>
              <a:t> 从物理意义上理解指标间的关系</a:t>
            </a:r>
          </a:p>
          <a:p>
            <a:pPr eaLnBrk="1" hangingPunct="1">
              <a:spcBef>
                <a:spcPct val="0"/>
              </a:spcBef>
              <a:spcAft>
                <a:spcPct val="0"/>
              </a:spcAft>
              <a:buFont typeface="Wingdings" pitchFamily="2" charset="2"/>
              <a:buChar char="²"/>
            </a:pPr>
            <a:r>
              <a:rPr kumimoji="1" lang="zh-CN" altLang="en-US" sz="2800" b="1" dirty="0">
                <a:solidFill>
                  <a:srgbClr val="800000"/>
                </a:solidFill>
                <a:ea typeface="幼圆" pitchFamily="49" charset="-122"/>
              </a:rPr>
              <a:t> 不鼓励死记硬背</a:t>
            </a:r>
          </a:p>
          <a:p>
            <a:pPr eaLnBrk="1" hangingPunct="1">
              <a:spcBef>
                <a:spcPct val="0"/>
              </a:spcBef>
              <a:spcAft>
                <a:spcPct val="0"/>
              </a:spcAft>
              <a:buFont typeface="Wingdings" pitchFamily="2" charset="2"/>
              <a:buChar char="²"/>
            </a:pPr>
            <a:r>
              <a:rPr kumimoji="1" lang="zh-CN" altLang="en-US" sz="2800" b="1" dirty="0">
                <a:solidFill>
                  <a:srgbClr val="800000"/>
                </a:solidFill>
                <a:ea typeface="幼圆" pitchFamily="49" charset="-122"/>
              </a:rPr>
              <a:t> 必要时利用三相草图推导</a:t>
            </a:r>
          </a:p>
        </p:txBody>
      </p:sp>
      <p:sp>
        <p:nvSpPr>
          <p:cNvPr id="1392662" name="AutoShape 22"/>
          <p:cNvSpPr>
            <a:spLocks noChangeArrowheads="1"/>
          </p:cNvSpPr>
          <p:nvPr/>
        </p:nvSpPr>
        <p:spPr bwMode="auto">
          <a:xfrm>
            <a:off x="1843088" y="1916113"/>
            <a:ext cx="563562" cy="427037"/>
          </a:xfrm>
          <a:prstGeom prst="homePlate">
            <a:avLst>
              <a:gd name="adj" fmla="val 32993"/>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9" name="Text Box 17"/>
          <p:cNvSpPr txBox="1">
            <a:spLocks noChangeArrowheads="1"/>
          </p:cNvSpPr>
          <p:nvPr/>
        </p:nvSpPr>
        <p:spPr bwMode="auto">
          <a:xfrm>
            <a:off x="965199" y="2927350"/>
            <a:ext cx="71786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00000"/>
              </a:lnSpc>
              <a:spcBef>
                <a:spcPct val="0"/>
              </a:spcBef>
              <a:spcAft>
                <a:spcPct val="0"/>
              </a:spcAft>
              <a:buClr>
                <a:srgbClr val="C00000"/>
              </a:buClr>
              <a:buSzPct val="140000"/>
              <a:buFont typeface="Wingdings" pitchFamily="2" charset="2"/>
              <a:buChar char="F"/>
            </a:pPr>
            <a:r>
              <a:rPr kumimoji="1" lang="zh-CN" altLang="en-US" sz="3200" b="1" dirty="0" smtClean="0">
                <a:solidFill>
                  <a:srgbClr val="000066"/>
                </a:solidFill>
                <a:latin typeface="幼圆" pitchFamily="49" charset="-122"/>
                <a:ea typeface="幼圆" pitchFamily="49" charset="-122"/>
              </a:rPr>
              <a:t>学习要点：</a:t>
            </a:r>
            <a:endParaRPr kumimoji="1" lang="zh-CN" altLang="en-US" sz="3200" b="1" dirty="0">
              <a:solidFill>
                <a:srgbClr val="000066"/>
              </a:solidFill>
              <a:latin typeface="幼圆" pitchFamily="49" charset="-122"/>
              <a:ea typeface="幼圆" pitchFamily="49" charset="-122"/>
            </a:endParaRPr>
          </a:p>
        </p:txBody>
      </p:sp>
      <p:sp>
        <p:nvSpPr>
          <p:cNvPr id="10"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25441536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392657"/>
                                        </p:tgtEl>
                                        <p:attrNameLst>
                                          <p:attrName>style.visibility</p:attrName>
                                        </p:attrNameLst>
                                      </p:cBhvr>
                                      <p:to>
                                        <p:strVal val="visible"/>
                                      </p:to>
                                    </p:set>
                                    <p:animEffect transition="in" filter="fade">
                                      <p:cBhvr>
                                        <p:cTn id="7" dur="1000"/>
                                        <p:tgtEl>
                                          <p:spTgt spid="1392657"/>
                                        </p:tgtEl>
                                      </p:cBhvr>
                                    </p:animEffect>
                                    <p:anim calcmode="lin" valueType="num">
                                      <p:cBhvr>
                                        <p:cTn id="8" dur="1000" fill="hold"/>
                                        <p:tgtEl>
                                          <p:spTgt spid="1392657"/>
                                        </p:tgtEl>
                                        <p:attrNameLst>
                                          <p:attrName>ppt_x</p:attrName>
                                        </p:attrNameLst>
                                      </p:cBhvr>
                                      <p:tavLst>
                                        <p:tav tm="0">
                                          <p:val>
                                            <p:strVal val="#ppt_x"/>
                                          </p:val>
                                        </p:tav>
                                        <p:tav tm="100000">
                                          <p:val>
                                            <p:strVal val="#ppt_x"/>
                                          </p:val>
                                        </p:tav>
                                      </p:tavLst>
                                    </p:anim>
                                    <p:anim calcmode="lin" valueType="num">
                                      <p:cBhvr>
                                        <p:cTn id="9" dur="1000" fill="hold"/>
                                        <p:tgtEl>
                                          <p:spTgt spid="1392657"/>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1392662"/>
                                        </p:tgtEl>
                                        <p:attrNameLst>
                                          <p:attrName>style.visibility</p:attrName>
                                        </p:attrNameLst>
                                      </p:cBhvr>
                                      <p:to>
                                        <p:strVal val="visible"/>
                                      </p:to>
                                    </p:set>
                                    <p:anim calcmode="lin" valueType="num">
                                      <p:cBhvr additive="base">
                                        <p:cTn id="13" dur="1000" fill="hold"/>
                                        <p:tgtEl>
                                          <p:spTgt spid="1392662"/>
                                        </p:tgtEl>
                                        <p:attrNameLst>
                                          <p:attrName>ppt_x</p:attrName>
                                        </p:attrNameLst>
                                      </p:cBhvr>
                                      <p:tavLst>
                                        <p:tav tm="0">
                                          <p:val>
                                            <p:strVal val="0-#ppt_w/2"/>
                                          </p:val>
                                        </p:tav>
                                        <p:tav tm="100000">
                                          <p:val>
                                            <p:strVal val="#ppt_x"/>
                                          </p:val>
                                        </p:tav>
                                      </p:tavLst>
                                    </p:anim>
                                    <p:anim calcmode="lin" valueType="num">
                                      <p:cBhvr additive="base">
                                        <p:cTn id="14" dur="1000" fill="hold"/>
                                        <p:tgtEl>
                                          <p:spTgt spid="1392662"/>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2000"/>
                            </p:stCondLst>
                            <p:childTnLst>
                              <p:par>
                                <p:cTn id="16" presetID="47" presetClass="entr" presetSubtype="0" fill="hold" grpId="0" nodeType="afterEffect">
                                  <p:stCondLst>
                                    <p:cond delay="0"/>
                                  </p:stCondLst>
                                  <p:childTnLst>
                                    <p:set>
                                      <p:cBhvr>
                                        <p:cTn id="17" dur="1" fill="hold">
                                          <p:stCondLst>
                                            <p:cond delay="0"/>
                                          </p:stCondLst>
                                        </p:cTn>
                                        <p:tgtEl>
                                          <p:spTgt spid="1392658"/>
                                        </p:tgtEl>
                                        <p:attrNameLst>
                                          <p:attrName>style.visibility</p:attrName>
                                        </p:attrNameLst>
                                      </p:cBhvr>
                                      <p:to>
                                        <p:strVal val="visible"/>
                                      </p:to>
                                    </p:set>
                                    <p:animEffect transition="in" filter="fade">
                                      <p:cBhvr>
                                        <p:cTn id="18" dur="1000"/>
                                        <p:tgtEl>
                                          <p:spTgt spid="1392658"/>
                                        </p:tgtEl>
                                      </p:cBhvr>
                                    </p:animEffect>
                                    <p:anim calcmode="lin" valueType="num">
                                      <p:cBhvr>
                                        <p:cTn id="19" dur="1000" fill="hold"/>
                                        <p:tgtEl>
                                          <p:spTgt spid="1392658"/>
                                        </p:tgtEl>
                                        <p:attrNameLst>
                                          <p:attrName>ppt_x</p:attrName>
                                        </p:attrNameLst>
                                      </p:cBhvr>
                                      <p:tavLst>
                                        <p:tav tm="0">
                                          <p:val>
                                            <p:strVal val="#ppt_x"/>
                                          </p:val>
                                        </p:tav>
                                        <p:tav tm="100000">
                                          <p:val>
                                            <p:strVal val="#ppt_x"/>
                                          </p:val>
                                        </p:tav>
                                      </p:tavLst>
                                    </p:anim>
                                    <p:anim calcmode="lin" valueType="num">
                                      <p:cBhvr>
                                        <p:cTn id="20" dur="1000" fill="hold"/>
                                        <p:tgtEl>
                                          <p:spTgt spid="1392658"/>
                                        </p:tgtEl>
                                        <p:attrNameLst>
                                          <p:attrName>ppt_y</p:attrName>
                                        </p:attrNameLst>
                                      </p:cBhvr>
                                      <p:tavLst>
                                        <p:tav tm="0">
                                          <p:val>
                                            <p:strVal val="#ppt_y-.1"/>
                                          </p:val>
                                        </p:tav>
                                        <p:tav tm="100000">
                                          <p:val>
                                            <p:strVal val="#ppt_y"/>
                                          </p:val>
                                        </p:tav>
                                      </p:tavLst>
                                    </p:anim>
                                  </p:childTnLst>
                                </p:cTn>
                              </p:par>
                            </p:childTnLst>
                          </p:cTn>
                        </p:par>
                        <p:par>
                          <p:cTn id="21" fill="hold" nodeType="afterGroup">
                            <p:stCondLst>
                              <p:cond delay="3000"/>
                            </p:stCondLst>
                            <p:childTnLst>
                              <p:par>
                                <p:cTn id="22" presetID="2" presetClass="entr" presetSubtype="2" fill="hold" grpId="0" nodeType="afterEffect">
                                  <p:stCondLst>
                                    <p:cond delay="0"/>
                                  </p:stCondLst>
                                  <p:childTnLst>
                                    <p:set>
                                      <p:cBhvr>
                                        <p:cTn id="23" dur="1" fill="hold">
                                          <p:stCondLst>
                                            <p:cond delay="0"/>
                                          </p:stCondLst>
                                        </p:cTn>
                                        <p:tgtEl>
                                          <p:spTgt spid="1392661"/>
                                        </p:tgtEl>
                                        <p:attrNameLst>
                                          <p:attrName>style.visibility</p:attrName>
                                        </p:attrNameLst>
                                      </p:cBhvr>
                                      <p:to>
                                        <p:strVal val="visible"/>
                                      </p:to>
                                    </p:set>
                                    <p:anim calcmode="lin" valueType="num">
                                      <p:cBhvr additive="base">
                                        <p:cTn id="24" dur="1000" fill="hold"/>
                                        <p:tgtEl>
                                          <p:spTgt spid="1392661"/>
                                        </p:tgtEl>
                                        <p:attrNameLst>
                                          <p:attrName>ppt_x</p:attrName>
                                        </p:attrNameLst>
                                      </p:cBhvr>
                                      <p:tavLst>
                                        <p:tav tm="0">
                                          <p:val>
                                            <p:strVal val="1+#ppt_w/2"/>
                                          </p:val>
                                        </p:tav>
                                        <p:tav tm="100000">
                                          <p:val>
                                            <p:strVal val="#ppt_x"/>
                                          </p:val>
                                        </p:tav>
                                      </p:tavLst>
                                    </p:anim>
                                    <p:anim calcmode="lin" valueType="num">
                                      <p:cBhvr additive="base">
                                        <p:cTn id="25" dur="1000" fill="hold"/>
                                        <p:tgtEl>
                                          <p:spTgt spid="1392661"/>
                                        </p:tgtEl>
                                        <p:attrNameLst>
                                          <p:attrName>ppt_y</p:attrName>
                                        </p:attrNameLst>
                                      </p:cBhvr>
                                      <p:tavLst>
                                        <p:tav tm="0">
                                          <p:val>
                                            <p:strVal val="#ppt_y"/>
                                          </p:val>
                                        </p:tav>
                                        <p:tav tm="100000">
                                          <p:val>
                                            <p:strVal val="#ppt_y"/>
                                          </p:val>
                                        </p:tav>
                                      </p:tavLst>
                                    </p:anim>
                                  </p:childTnLst>
                                </p:cTn>
                              </p:par>
                              <p:par>
                                <p:cTn id="26" presetID="47"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57" grpId="0"/>
      <p:bldP spid="1392658" grpId="0"/>
      <p:bldP spid="1392661" grpId="0"/>
      <p:bldP spid="1392662" grpId="0" animBg="1"/>
      <p:bldP spid="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4"/>
          <p:cNvSpPr txBox="1">
            <a:spLocks noChangeArrowheads="1"/>
          </p:cNvSpPr>
          <p:nvPr/>
        </p:nvSpPr>
        <p:spPr bwMode="auto">
          <a:xfrm>
            <a:off x="2707433" y="5646738"/>
            <a:ext cx="46799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土的物理</a:t>
            </a:r>
            <a:r>
              <a:rPr kumimoji="1" lang="zh-CN" altLang="en-US" sz="4000" b="1" dirty="0" smtClean="0">
                <a:solidFill>
                  <a:srgbClr val="000066"/>
                </a:solidFill>
                <a:latin typeface="黑体" pitchFamily="2" charset="-122"/>
                <a:ea typeface="黑体" pitchFamily="2" charset="-122"/>
              </a:rPr>
              <a:t>状态</a:t>
            </a:r>
            <a:endParaRPr kumimoji="1" lang="zh-CN" altLang="en-US" sz="4000" b="1" dirty="0">
              <a:solidFill>
                <a:srgbClr val="000066"/>
              </a:solidFill>
              <a:latin typeface="黑体" pitchFamily="2" charset="-122"/>
              <a:ea typeface="黑体" pitchFamily="2" charset="-122"/>
            </a:endParaRPr>
          </a:p>
        </p:txBody>
      </p:sp>
      <p:sp>
        <p:nvSpPr>
          <p:cNvPr id="19"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20" name="Text Box 6"/>
          <p:cNvSpPr txBox="1">
            <a:spLocks noChangeArrowheads="1"/>
          </p:cNvSpPr>
          <p:nvPr/>
        </p:nvSpPr>
        <p:spPr bwMode="auto">
          <a:xfrm>
            <a:off x="723037" y="770934"/>
            <a:ext cx="7272668" cy="58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61950" indent="-361950" eaLnBrk="1" hangingPunct="1">
              <a:spcBef>
                <a:spcPct val="25000"/>
              </a:spcBef>
              <a:spcAft>
                <a:spcPct val="25000"/>
              </a:spcAft>
              <a:buClr>
                <a:srgbClr val="A50021"/>
              </a:buClr>
              <a:buSzPct val="100000"/>
              <a:buFont typeface="Wingdings" panose="05000000000000000000" pitchFamily="2" charset="2"/>
              <a:buChar char="n"/>
            </a:pPr>
            <a:r>
              <a:rPr kumimoji="1" lang="zh-CN" altLang="en-US" sz="2800" b="1" dirty="0">
                <a:solidFill>
                  <a:srgbClr val="A50021"/>
                </a:solidFill>
                <a:latin typeface="幼圆" pitchFamily="49" charset="-122"/>
                <a:ea typeface="幼圆" pitchFamily="49" charset="-122"/>
              </a:rPr>
              <a:t>土的物理状态</a:t>
            </a:r>
            <a:r>
              <a:rPr kumimoji="1" lang="zh-CN" altLang="en-US" sz="2800" b="1" dirty="0" smtClean="0">
                <a:solidFill>
                  <a:srgbClr val="A50021"/>
                </a:solidFill>
                <a:latin typeface="幼圆" pitchFamily="49" charset="-122"/>
                <a:ea typeface="幼圆" pitchFamily="49" charset="-122"/>
              </a:rPr>
              <a:t>：</a:t>
            </a:r>
            <a:r>
              <a:rPr kumimoji="1" lang="zh-CN" altLang="en-US" sz="2800" b="1" dirty="0">
                <a:solidFill>
                  <a:srgbClr val="000066"/>
                </a:solidFill>
                <a:latin typeface="幼圆" pitchFamily="49" charset="-122"/>
                <a:ea typeface="幼圆" pitchFamily="49" charset="-122"/>
              </a:rPr>
              <a:t>是指土的松密和软硬状态</a:t>
            </a:r>
          </a:p>
        </p:txBody>
      </p:sp>
      <p:sp>
        <p:nvSpPr>
          <p:cNvPr id="23" name="Text Box 52"/>
          <p:cNvSpPr txBox="1">
            <a:spLocks noChangeArrowheads="1"/>
          </p:cNvSpPr>
          <p:nvPr/>
        </p:nvSpPr>
        <p:spPr bwMode="auto">
          <a:xfrm>
            <a:off x="1491520" y="3531793"/>
            <a:ext cx="6812513" cy="1440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61950" indent="-361950" eaLnBrk="1" hangingPunct="1">
              <a:lnSpc>
                <a:spcPct val="120000"/>
              </a:lnSpc>
              <a:spcBef>
                <a:spcPct val="0"/>
              </a:spcBef>
              <a:spcAft>
                <a:spcPct val="0"/>
              </a:spcAft>
              <a:buClr>
                <a:srgbClr val="A50021"/>
              </a:buClr>
              <a:buSzPct val="135000"/>
              <a:buFont typeface="Arial" panose="020B0604020202020204" pitchFamily="34" charset="0"/>
              <a:buChar char="•"/>
            </a:pPr>
            <a:r>
              <a:rPr kumimoji="1" lang="zh-CN" altLang="en-US" sz="2600" b="1" dirty="0" smtClean="0">
                <a:solidFill>
                  <a:srgbClr val="000066"/>
                </a:solidFill>
                <a:latin typeface="Arial" charset="0"/>
                <a:ea typeface="幼圆" pitchFamily="49" charset="-122"/>
              </a:rPr>
              <a:t>粗粒土的物理状态是</a:t>
            </a:r>
            <a:r>
              <a:rPr kumimoji="1" lang="zh-CN" altLang="en-US" sz="2600" b="1" dirty="0">
                <a:solidFill>
                  <a:srgbClr val="000066"/>
                </a:solidFill>
                <a:latin typeface="Arial" charset="0"/>
                <a:ea typeface="幼圆" pitchFamily="49" charset="-122"/>
              </a:rPr>
              <a:t>指土的松密</a:t>
            </a:r>
            <a:r>
              <a:rPr kumimoji="1" lang="zh-CN" altLang="en-US" sz="2600" b="1" dirty="0" smtClean="0">
                <a:solidFill>
                  <a:srgbClr val="000066"/>
                </a:solidFill>
                <a:latin typeface="Arial" charset="0"/>
                <a:ea typeface="幼圆" pitchFamily="49" charset="-122"/>
              </a:rPr>
              <a:t>程度</a:t>
            </a:r>
            <a:endParaRPr kumimoji="1" lang="en-US" altLang="zh-CN" sz="2600" b="1" dirty="0" smtClean="0">
              <a:solidFill>
                <a:srgbClr val="000066"/>
              </a:solidFill>
              <a:latin typeface="Arial" charset="0"/>
              <a:ea typeface="幼圆" pitchFamily="49" charset="-122"/>
            </a:endParaRPr>
          </a:p>
          <a:p>
            <a:pPr marL="361950" indent="-361950" eaLnBrk="1" hangingPunct="1">
              <a:lnSpc>
                <a:spcPct val="120000"/>
              </a:lnSpc>
              <a:spcBef>
                <a:spcPct val="0"/>
              </a:spcBef>
              <a:spcAft>
                <a:spcPct val="0"/>
              </a:spcAft>
              <a:buClr>
                <a:srgbClr val="A50021"/>
              </a:buClr>
              <a:buSzPct val="135000"/>
              <a:buFont typeface="Arial" panose="020B0604020202020204" pitchFamily="34" charset="0"/>
              <a:buChar char="•"/>
            </a:pPr>
            <a:r>
              <a:rPr kumimoji="1" lang="zh-CN" altLang="en-US" sz="2600" b="1" dirty="0" smtClean="0">
                <a:solidFill>
                  <a:srgbClr val="000066"/>
                </a:solidFill>
                <a:latin typeface="Arial" charset="0"/>
                <a:ea typeface="幼圆" pitchFamily="49" charset="-122"/>
              </a:rPr>
              <a:t>细粒土的物理状态是</a:t>
            </a:r>
            <a:r>
              <a:rPr kumimoji="1" lang="zh-CN" altLang="en-US" sz="2600" b="1" dirty="0">
                <a:solidFill>
                  <a:srgbClr val="000066"/>
                </a:solidFill>
                <a:latin typeface="Arial" charset="0"/>
                <a:ea typeface="幼圆" pitchFamily="49" charset="-122"/>
              </a:rPr>
              <a:t>指土的软硬</a:t>
            </a:r>
            <a:r>
              <a:rPr kumimoji="1" lang="zh-CN" altLang="en-US" sz="2600" b="1" dirty="0" smtClean="0">
                <a:solidFill>
                  <a:srgbClr val="000066"/>
                </a:solidFill>
                <a:latin typeface="Arial" charset="0"/>
                <a:ea typeface="幼圆" pitchFamily="49" charset="-122"/>
              </a:rPr>
              <a:t>程度，也称为</a:t>
            </a:r>
            <a:r>
              <a:rPr kumimoji="1" lang="zh-CN" altLang="en-US" sz="2600" b="1" dirty="0">
                <a:solidFill>
                  <a:srgbClr val="000066"/>
                </a:solidFill>
                <a:latin typeface="Arial" charset="0"/>
                <a:ea typeface="幼圆" pitchFamily="49" charset="-122"/>
              </a:rPr>
              <a:t>黏性土的稠度</a:t>
            </a:r>
          </a:p>
        </p:txBody>
      </p:sp>
      <p:sp>
        <p:nvSpPr>
          <p:cNvPr id="25" name="Text Box 98"/>
          <p:cNvSpPr txBox="1">
            <a:spLocks noChangeArrowheads="1"/>
          </p:cNvSpPr>
          <p:nvPr/>
        </p:nvSpPr>
        <p:spPr bwMode="auto">
          <a:xfrm>
            <a:off x="1134173" y="1489910"/>
            <a:ext cx="7286813"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kumimoji="1" lang="zh-CN" altLang="en-US" sz="2400" b="1" dirty="0" smtClean="0">
                <a:solidFill>
                  <a:srgbClr val="000066"/>
                </a:solidFill>
                <a:latin typeface="幼圆" pitchFamily="49" charset="-122"/>
                <a:ea typeface="幼圆" pitchFamily="49" charset="-122"/>
              </a:rPr>
              <a:t>固体</a:t>
            </a:r>
            <a:r>
              <a:rPr kumimoji="1" lang="zh-CN" altLang="en-US" sz="2400" b="1" dirty="0">
                <a:solidFill>
                  <a:srgbClr val="000066"/>
                </a:solidFill>
                <a:latin typeface="幼圆" pitchFamily="49" charset="-122"/>
                <a:ea typeface="幼圆" pitchFamily="49" charset="-122"/>
              </a:rPr>
              <a:t>颗粒的性质，直接影响土的工程特性。同样一种土，密实时抗剪强度高，松散时抗剪强度</a:t>
            </a:r>
            <a:r>
              <a:rPr kumimoji="1" lang="zh-CN" altLang="en-US" sz="2400" b="1" dirty="0" smtClean="0">
                <a:solidFill>
                  <a:srgbClr val="000066"/>
                </a:solidFill>
                <a:latin typeface="幼圆" pitchFamily="49" charset="-122"/>
                <a:ea typeface="幼圆" pitchFamily="49" charset="-122"/>
              </a:rPr>
              <a:t>低。对于</a:t>
            </a:r>
            <a:r>
              <a:rPr kumimoji="1" lang="zh-CN" altLang="en-US" sz="2400" b="1" dirty="0">
                <a:solidFill>
                  <a:srgbClr val="000066"/>
                </a:solidFill>
                <a:latin typeface="幼圆" pitchFamily="49" charset="-122"/>
                <a:ea typeface="幼圆" pitchFamily="49" charset="-122"/>
              </a:rPr>
              <a:t>细粒土</a:t>
            </a:r>
            <a:r>
              <a:rPr kumimoji="1" lang="zh-CN" altLang="en-US" sz="2400" b="1" dirty="0" smtClean="0">
                <a:solidFill>
                  <a:srgbClr val="000066"/>
                </a:solidFill>
                <a:latin typeface="幼圆" pitchFamily="49" charset="-122"/>
                <a:ea typeface="幼圆" pitchFamily="49" charset="-122"/>
              </a:rPr>
              <a:t>，含水量也具有很大的影响，含水少时硬</a:t>
            </a:r>
            <a:r>
              <a:rPr kumimoji="1" lang="zh-CN" altLang="en-US" sz="2400" b="1" dirty="0">
                <a:solidFill>
                  <a:srgbClr val="000066"/>
                </a:solidFill>
                <a:latin typeface="幼圆" pitchFamily="49" charset="-122"/>
                <a:ea typeface="幼圆" pitchFamily="49" charset="-122"/>
              </a:rPr>
              <a:t>，水含量多时则</a:t>
            </a:r>
            <a:r>
              <a:rPr kumimoji="1" lang="zh-CN" altLang="en-US" sz="2400" b="1" dirty="0" smtClean="0">
                <a:solidFill>
                  <a:srgbClr val="000066"/>
                </a:solidFill>
                <a:latin typeface="幼圆" pitchFamily="49" charset="-122"/>
                <a:ea typeface="幼圆" pitchFamily="49" charset="-122"/>
              </a:rPr>
              <a:t>软。</a:t>
            </a:r>
            <a:endParaRPr kumimoji="1" lang="en-US" altLang="zh-CN" sz="2400" b="1" dirty="0">
              <a:solidFill>
                <a:srgbClr val="000066"/>
              </a:solidFill>
              <a:latin typeface="幼圆" pitchFamily="49" charset="-122"/>
              <a:ea typeface="幼圆" pitchFamily="49" charset="-122"/>
            </a:endParaRPr>
          </a:p>
        </p:txBody>
      </p:sp>
    </p:spTree>
    <p:extLst>
      <p:ext uri="{BB962C8B-B14F-4D97-AF65-F5344CB8AC3E}">
        <p14:creationId xmlns:p14="http://schemas.microsoft.com/office/powerpoint/2010/main" val="6797785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1+#ppt_w/2"/>
                                          </p:val>
                                        </p:tav>
                                        <p:tav tm="100000">
                                          <p:val>
                                            <p:strVal val="#ppt_x"/>
                                          </p:val>
                                        </p:tav>
                                      </p:tavLst>
                                    </p:anim>
                                    <p:anim calcmode="lin" valueType="num">
                                      <p:cBhvr additive="base">
                                        <p:cTn id="8"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ChangeArrowheads="1"/>
          </p:cNvSpPr>
          <p:nvPr/>
        </p:nvSpPr>
        <p:spPr bwMode="auto">
          <a:xfrm>
            <a:off x="2736850" y="5776913"/>
            <a:ext cx="43370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25000"/>
              </a:spcBef>
              <a:spcAft>
                <a:spcPct val="0"/>
              </a:spcAft>
              <a:buFont typeface="Wingdings" pitchFamily="2" charset="2"/>
              <a:buNone/>
            </a:pPr>
            <a:r>
              <a:rPr kumimoji="1" lang="zh-CN" altLang="en-US" sz="4000" b="1" dirty="0">
                <a:solidFill>
                  <a:srgbClr val="000066"/>
                </a:solidFill>
                <a:ea typeface="黑体" pitchFamily="2" charset="-122"/>
              </a:rPr>
              <a:t>粗粒土的密实状态</a:t>
            </a:r>
            <a:endParaRPr kumimoji="1" lang="zh-CN" altLang="en-US" sz="4000" b="1" i="1" dirty="0">
              <a:solidFill>
                <a:srgbClr val="000066"/>
              </a:solidFill>
              <a:ea typeface="黑体" pitchFamily="2" charset="-122"/>
              <a:cs typeface="Arial Unicode MS" pitchFamily="34" charset="-122"/>
            </a:endParaRPr>
          </a:p>
        </p:txBody>
      </p:sp>
      <p:sp>
        <p:nvSpPr>
          <p:cNvPr id="1395719" name="Text Box 7"/>
          <p:cNvSpPr txBox="1">
            <a:spLocks noChangeArrowheads="1"/>
          </p:cNvSpPr>
          <p:nvPr/>
        </p:nvSpPr>
        <p:spPr bwMode="auto">
          <a:xfrm>
            <a:off x="427038" y="887413"/>
            <a:ext cx="71231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kumimoji="1" lang="zh-CN" altLang="en-US" sz="2800" b="1" dirty="0">
                <a:solidFill>
                  <a:srgbClr val="A50021"/>
                </a:solidFill>
                <a:latin typeface="Arial" charset="0"/>
                <a:ea typeface="幼圆" pitchFamily="49" charset="-122"/>
              </a:rPr>
              <a:t> </a:t>
            </a:r>
            <a:r>
              <a:rPr kumimoji="1" lang="zh-CN" altLang="en-US" sz="2800" b="1" dirty="0">
                <a:solidFill>
                  <a:srgbClr val="800000"/>
                </a:solidFill>
                <a:latin typeface="Arial" charset="0"/>
                <a:ea typeface="幼圆" pitchFamily="49" charset="-122"/>
              </a:rPr>
              <a:t>密实度：</a:t>
            </a:r>
            <a:r>
              <a:rPr kumimoji="1" lang="zh-CN" altLang="en-US" sz="2400" b="1" dirty="0">
                <a:solidFill>
                  <a:srgbClr val="000066"/>
                </a:solidFill>
                <a:ea typeface="幼圆" pitchFamily="49" charset="-122"/>
              </a:rPr>
              <a:t>通常指单位体积中固体颗粒含量的多少</a:t>
            </a:r>
          </a:p>
        </p:txBody>
      </p:sp>
      <p:sp>
        <p:nvSpPr>
          <p:cNvPr id="1395720" name="Text Box 8"/>
          <p:cNvSpPr txBox="1">
            <a:spLocks noChangeArrowheads="1"/>
          </p:cNvSpPr>
          <p:nvPr/>
        </p:nvSpPr>
        <p:spPr bwMode="auto">
          <a:xfrm>
            <a:off x="1946638" y="2435951"/>
            <a:ext cx="6027781" cy="859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zh-CN" altLang="en-US" sz="2400" b="1" dirty="0">
                <a:solidFill>
                  <a:srgbClr val="000066"/>
                </a:solidFill>
                <a:latin typeface="幼圆" pitchFamily="49" charset="-122"/>
                <a:ea typeface="幼圆" pitchFamily="49" charset="-122"/>
              </a:rPr>
              <a:t>简单方便，但不能反映级配的</a:t>
            </a:r>
            <a:r>
              <a:rPr kumimoji="1" lang="zh-CN" altLang="en-US" sz="2400" b="1" dirty="0" smtClean="0">
                <a:solidFill>
                  <a:srgbClr val="000066"/>
                </a:solidFill>
                <a:latin typeface="幼圆" pitchFamily="49" charset="-122"/>
                <a:ea typeface="幼圆" pitchFamily="49" charset="-122"/>
              </a:rPr>
              <a:t>影响，只能适用于</a:t>
            </a:r>
            <a:r>
              <a:rPr kumimoji="1" lang="zh-CN" altLang="en-US" sz="2400" b="1" dirty="0">
                <a:solidFill>
                  <a:srgbClr val="000066"/>
                </a:solidFill>
                <a:latin typeface="幼圆" pitchFamily="49" charset="-122"/>
                <a:ea typeface="幼圆" pitchFamily="49" charset="-122"/>
              </a:rPr>
              <a:t>同一种</a:t>
            </a:r>
            <a:r>
              <a:rPr kumimoji="1" lang="zh-CN" altLang="en-US" sz="2400" b="1" dirty="0" smtClean="0">
                <a:solidFill>
                  <a:srgbClr val="000066"/>
                </a:solidFill>
                <a:latin typeface="幼圆" pitchFamily="49" charset="-122"/>
                <a:ea typeface="幼圆" pitchFamily="49" charset="-122"/>
              </a:rPr>
              <a:t>土</a:t>
            </a:r>
            <a:endParaRPr kumimoji="1" lang="en-US" altLang="zh-CN" sz="2400" b="1" dirty="0">
              <a:solidFill>
                <a:srgbClr val="000066"/>
              </a:solidFill>
              <a:latin typeface="幼圆" pitchFamily="49" charset="-122"/>
              <a:ea typeface="幼圆" pitchFamily="49" charset="-122"/>
            </a:endParaRPr>
          </a:p>
        </p:txBody>
      </p:sp>
      <p:sp>
        <p:nvSpPr>
          <p:cNvPr id="1395721" name="Rectangle 9"/>
          <p:cNvSpPr>
            <a:spLocks noChangeArrowheads="1"/>
          </p:cNvSpPr>
          <p:nvPr/>
        </p:nvSpPr>
        <p:spPr bwMode="auto">
          <a:xfrm>
            <a:off x="652132" y="1658938"/>
            <a:ext cx="7407349"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10000"/>
              </a:lnSpc>
              <a:spcBef>
                <a:spcPct val="30000"/>
              </a:spcBef>
              <a:spcAft>
                <a:spcPct val="0"/>
              </a:spcAft>
            </a:pPr>
            <a:r>
              <a:rPr kumimoji="1" lang="zh-CN" altLang="en-US" sz="2400" b="1" dirty="0" smtClean="0">
                <a:solidFill>
                  <a:srgbClr val="A50021"/>
                </a:solidFill>
                <a:ea typeface="幼圆" pitchFamily="49" charset="-122"/>
                <a:cs typeface="Times New Roman" panose="02020603050405020304" pitchFamily="18" charset="0"/>
              </a:rPr>
              <a:t>（</a:t>
            </a:r>
            <a:r>
              <a:rPr kumimoji="1" lang="en-US" altLang="zh-CN" sz="2400" b="1" dirty="0" smtClean="0">
                <a:solidFill>
                  <a:srgbClr val="A50021"/>
                </a:solidFill>
                <a:ea typeface="幼圆" pitchFamily="49" charset="-122"/>
                <a:cs typeface="Times New Roman" panose="02020603050405020304" pitchFamily="18" charset="0"/>
              </a:rPr>
              <a:t>1</a:t>
            </a:r>
            <a:r>
              <a:rPr kumimoji="1" lang="zh-CN" altLang="en-US" sz="2400" b="1" dirty="0" smtClean="0">
                <a:solidFill>
                  <a:srgbClr val="A50021"/>
                </a:solidFill>
                <a:ea typeface="幼圆" pitchFamily="49" charset="-122"/>
                <a:cs typeface="Times New Roman" panose="02020603050405020304" pitchFamily="18" charset="0"/>
              </a:rPr>
              <a:t>）</a:t>
            </a:r>
            <a:r>
              <a:rPr kumimoji="1" lang="zh-CN" altLang="en-US" sz="2400" b="1" dirty="0" smtClean="0">
                <a:solidFill>
                  <a:srgbClr val="800000"/>
                </a:solidFill>
                <a:ea typeface="幼圆" pitchFamily="49" charset="-122"/>
                <a:cs typeface="Times New Roman" panose="02020603050405020304" pitchFamily="18" charset="0"/>
              </a:rPr>
              <a:t>物理性质</a:t>
            </a:r>
            <a:r>
              <a:rPr kumimoji="1" lang="zh-CN" altLang="en-US" sz="2400" b="1" dirty="0">
                <a:solidFill>
                  <a:srgbClr val="800000"/>
                </a:solidFill>
                <a:ea typeface="幼圆" pitchFamily="49" charset="-122"/>
                <a:cs typeface="Times New Roman" panose="02020603050405020304" pitchFamily="18" charset="0"/>
              </a:rPr>
              <a:t>指标</a:t>
            </a:r>
            <a:r>
              <a:rPr kumimoji="1" lang="zh-CN" altLang="en-US" sz="2400" b="1" dirty="0">
                <a:solidFill>
                  <a:srgbClr val="000066"/>
                </a:solidFill>
                <a:ea typeface="幼圆" pitchFamily="49" charset="-122"/>
                <a:cs typeface="Times New Roman" panose="02020603050405020304" pitchFamily="18" charset="0"/>
              </a:rPr>
              <a:t>：孔隙比</a:t>
            </a:r>
            <a:r>
              <a:rPr kumimoji="1" lang="en-US" altLang="zh-CN" sz="2400" b="1" i="1" dirty="0" smtClean="0">
                <a:solidFill>
                  <a:srgbClr val="000066"/>
                </a:solidFill>
                <a:ea typeface="幼圆" pitchFamily="49" charset="-122"/>
                <a:cs typeface="Times New Roman" panose="02020603050405020304" pitchFamily="18" charset="0"/>
              </a:rPr>
              <a:t>e</a:t>
            </a:r>
            <a:r>
              <a:rPr kumimoji="1" lang="zh-CN" altLang="en-US" sz="2400" b="1" dirty="0" smtClean="0">
                <a:solidFill>
                  <a:srgbClr val="000066"/>
                </a:solidFill>
                <a:ea typeface="幼圆" pitchFamily="49" charset="-122"/>
                <a:cs typeface="Times New Roman" panose="02020603050405020304" pitchFamily="18" charset="0"/>
              </a:rPr>
              <a:t>、孔隙率</a:t>
            </a:r>
            <a:r>
              <a:rPr kumimoji="1" lang="en-US" altLang="zh-CN" sz="2400" b="1" i="1" dirty="0" smtClean="0">
                <a:solidFill>
                  <a:srgbClr val="000066"/>
                </a:solidFill>
                <a:ea typeface="幼圆" pitchFamily="49" charset="-122"/>
                <a:cs typeface="Times New Roman" panose="02020603050405020304" pitchFamily="18" charset="0"/>
              </a:rPr>
              <a:t>n</a:t>
            </a:r>
            <a:r>
              <a:rPr kumimoji="1" lang="zh-CN" altLang="en-US" sz="2400" b="1" dirty="0" smtClean="0">
                <a:solidFill>
                  <a:srgbClr val="000066"/>
                </a:solidFill>
                <a:ea typeface="幼圆" pitchFamily="49" charset="-122"/>
                <a:cs typeface="Times New Roman" panose="02020603050405020304" pitchFamily="18" charset="0"/>
              </a:rPr>
              <a:t>、干重度</a:t>
            </a:r>
            <a:r>
              <a:rPr kumimoji="1" lang="zh-CN" altLang="en-US" sz="2400" b="1" i="1" dirty="0" smtClean="0">
                <a:solidFill>
                  <a:srgbClr val="000066"/>
                </a:solidFill>
                <a:ea typeface="幼圆" pitchFamily="49" charset="-122"/>
                <a:cs typeface="Times New Roman" panose="02020603050405020304" pitchFamily="18" charset="0"/>
                <a:sym typeface="Symbol" pitchFamily="18" charset="2"/>
              </a:rPr>
              <a:t></a:t>
            </a:r>
            <a:r>
              <a:rPr kumimoji="1" lang="en-US" altLang="zh-CN" sz="2400" b="1" baseline="-25000" dirty="0">
                <a:solidFill>
                  <a:srgbClr val="000066"/>
                </a:solidFill>
                <a:ea typeface="幼圆" pitchFamily="49" charset="-122"/>
                <a:cs typeface="Times New Roman" panose="02020603050405020304" pitchFamily="18" charset="0"/>
                <a:sym typeface="Symbol" pitchFamily="18" charset="2"/>
              </a:rPr>
              <a:t>d</a:t>
            </a:r>
          </a:p>
        </p:txBody>
      </p:sp>
      <p:grpSp>
        <p:nvGrpSpPr>
          <p:cNvPr id="2" name="Group 10"/>
          <p:cNvGrpSpPr>
            <a:grpSpLocks/>
          </p:cNvGrpSpPr>
          <p:nvPr/>
        </p:nvGrpSpPr>
        <p:grpSpPr bwMode="auto">
          <a:xfrm>
            <a:off x="1985434" y="3674540"/>
            <a:ext cx="2155825" cy="1681163"/>
            <a:chOff x="4057" y="1155"/>
            <a:chExt cx="1358" cy="1059"/>
          </a:xfrm>
          <a:solidFill>
            <a:schemeClr val="accent2">
              <a:lumMod val="60000"/>
              <a:lumOff val="40000"/>
            </a:schemeClr>
          </a:solidFill>
        </p:grpSpPr>
        <p:grpSp>
          <p:nvGrpSpPr>
            <p:cNvPr id="11309" name="Group 11"/>
            <p:cNvGrpSpPr>
              <a:grpSpLocks/>
            </p:cNvGrpSpPr>
            <p:nvPr/>
          </p:nvGrpSpPr>
          <p:grpSpPr bwMode="auto">
            <a:xfrm>
              <a:off x="4057" y="1155"/>
              <a:ext cx="1358" cy="737"/>
              <a:chOff x="3063" y="709"/>
              <a:chExt cx="2068" cy="1124"/>
            </a:xfrm>
            <a:grpFill/>
          </p:grpSpPr>
          <p:sp>
            <p:nvSpPr>
              <p:cNvPr id="11311" name="Oval 12"/>
              <p:cNvSpPr>
                <a:spLocks noChangeAspect="1" noChangeArrowheads="1"/>
              </p:cNvSpPr>
              <p:nvPr/>
            </p:nvSpPr>
            <p:spPr bwMode="auto">
              <a:xfrm>
                <a:off x="3063" y="1069"/>
                <a:ext cx="400" cy="401"/>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12" name="Oval 13"/>
              <p:cNvSpPr>
                <a:spLocks noChangeAspect="1" noChangeArrowheads="1"/>
              </p:cNvSpPr>
              <p:nvPr/>
            </p:nvSpPr>
            <p:spPr bwMode="auto">
              <a:xfrm>
                <a:off x="3482" y="1069"/>
                <a:ext cx="401" cy="401"/>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13" name="Oval 14"/>
              <p:cNvSpPr>
                <a:spLocks noChangeAspect="1" noChangeArrowheads="1"/>
              </p:cNvSpPr>
              <p:nvPr/>
            </p:nvSpPr>
            <p:spPr bwMode="auto">
              <a:xfrm>
                <a:off x="3897" y="1069"/>
                <a:ext cx="401" cy="401"/>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14" name="Oval 15"/>
              <p:cNvSpPr>
                <a:spLocks noChangeAspect="1" noChangeArrowheads="1"/>
              </p:cNvSpPr>
              <p:nvPr/>
            </p:nvSpPr>
            <p:spPr bwMode="auto">
              <a:xfrm>
                <a:off x="4314" y="1071"/>
                <a:ext cx="400" cy="401"/>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15" name="Oval 16"/>
              <p:cNvSpPr>
                <a:spLocks noChangeAspect="1" noChangeArrowheads="1"/>
              </p:cNvSpPr>
              <p:nvPr/>
            </p:nvSpPr>
            <p:spPr bwMode="auto">
              <a:xfrm>
                <a:off x="4731" y="1071"/>
                <a:ext cx="400" cy="401"/>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16" name="Oval 17"/>
              <p:cNvSpPr>
                <a:spLocks noChangeAspect="1" noChangeArrowheads="1"/>
              </p:cNvSpPr>
              <p:nvPr/>
            </p:nvSpPr>
            <p:spPr bwMode="auto">
              <a:xfrm>
                <a:off x="3274" y="1429"/>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17" name="Oval 18"/>
              <p:cNvSpPr>
                <a:spLocks noChangeAspect="1" noChangeArrowheads="1"/>
              </p:cNvSpPr>
              <p:nvPr/>
            </p:nvSpPr>
            <p:spPr bwMode="auto">
              <a:xfrm>
                <a:off x="3691" y="1431"/>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18" name="Oval 19"/>
              <p:cNvSpPr>
                <a:spLocks noChangeAspect="1" noChangeArrowheads="1"/>
              </p:cNvSpPr>
              <p:nvPr/>
            </p:nvSpPr>
            <p:spPr bwMode="auto">
              <a:xfrm>
                <a:off x="4106" y="1431"/>
                <a:ext cx="401"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19" name="Oval 20"/>
              <p:cNvSpPr>
                <a:spLocks noChangeAspect="1" noChangeArrowheads="1"/>
              </p:cNvSpPr>
              <p:nvPr/>
            </p:nvSpPr>
            <p:spPr bwMode="auto">
              <a:xfrm>
                <a:off x="4521" y="1433"/>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20" name="Oval 21"/>
              <p:cNvSpPr>
                <a:spLocks noChangeAspect="1" noChangeArrowheads="1"/>
              </p:cNvSpPr>
              <p:nvPr/>
            </p:nvSpPr>
            <p:spPr bwMode="auto">
              <a:xfrm>
                <a:off x="3272" y="709"/>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21" name="Oval 22"/>
              <p:cNvSpPr>
                <a:spLocks noChangeAspect="1" noChangeArrowheads="1"/>
              </p:cNvSpPr>
              <p:nvPr/>
            </p:nvSpPr>
            <p:spPr bwMode="auto">
              <a:xfrm>
                <a:off x="3689" y="709"/>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22" name="Oval 23"/>
              <p:cNvSpPr>
                <a:spLocks noChangeAspect="1" noChangeArrowheads="1"/>
              </p:cNvSpPr>
              <p:nvPr/>
            </p:nvSpPr>
            <p:spPr bwMode="auto">
              <a:xfrm>
                <a:off x="4106" y="709"/>
                <a:ext cx="401"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23" name="Oval 24"/>
              <p:cNvSpPr>
                <a:spLocks noChangeAspect="1" noChangeArrowheads="1"/>
              </p:cNvSpPr>
              <p:nvPr/>
            </p:nvSpPr>
            <p:spPr bwMode="auto">
              <a:xfrm>
                <a:off x="4523" y="709"/>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grpSp>
        <p:sp>
          <p:nvSpPr>
            <p:cNvPr id="11310" name="Text Box 25"/>
            <p:cNvSpPr txBox="1">
              <a:spLocks noChangeArrowheads="1"/>
            </p:cNvSpPr>
            <p:nvPr/>
          </p:nvSpPr>
          <p:spPr bwMode="auto">
            <a:xfrm>
              <a:off x="4376" y="1981"/>
              <a:ext cx="848" cy="233"/>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2400" b="1" i="1" dirty="0" err="1">
                  <a:solidFill>
                    <a:srgbClr val="000066"/>
                  </a:solidFill>
                  <a:ea typeface="华文新魏" pitchFamily="2" charset="-122"/>
                </a:rPr>
                <a:t>e</a:t>
              </a:r>
              <a:r>
                <a:rPr kumimoji="1" lang="en-US" altLang="zh-CN" sz="2400" b="1" baseline="-25000" dirty="0" err="1">
                  <a:solidFill>
                    <a:srgbClr val="000066"/>
                  </a:solidFill>
                  <a:ea typeface="华文新魏" pitchFamily="2" charset="-122"/>
                </a:rPr>
                <a:t>min</a:t>
              </a:r>
              <a:r>
                <a:rPr kumimoji="1" lang="en-US" altLang="zh-CN" sz="2400" b="1" dirty="0">
                  <a:solidFill>
                    <a:srgbClr val="000066"/>
                  </a:solidFill>
                  <a:ea typeface="华文新魏" pitchFamily="2" charset="-122"/>
                </a:rPr>
                <a:t> = </a:t>
              </a:r>
              <a:r>
                <a:rPr kumimoji="1" lang="en-US" altLang="zh-CN" sz="2400" b="1" dirty="0" smtClean="0">
                  <a:solidFill>
                    <a:srgbClr val="000066"/>
                  </a:solidFill>
                  <a:ea typeface="华文新魏" pitchFamily="2" charset="-122"/>
                </a:rPr>
                <a:t>0.34</a:t>
              </a:r>
              <a:endParaRPr kumimoji="1" lang="en-US" altLang="zh-CN" sz="2400" b="1" dirty="0">
                <a:solidFill>
                  <a:srgbClr val="000066"/>
                </a:solidFill>
                <a:ea typeface="华文新魏" pitchFamily="2" charset="-122"/>
              </a:endParaRPr>
            </a:p>
          </p:txBody>
        </p:sp>
      </p:grpSp>
      <p:grpSp>
        <p:nvGrpSpPr>
          <p:cNvPr id="4" name="Group 26"/>
          <p:cNvGrpSpPr>
            <a:grpSpLocks/>
          </p:cNvGrpSpPr>
          <p:nvPr/>
        </p:nvGrpSpPr>
        <p:grpSpPr bwMode="auto">
          <a:xfrm>
            <a:off x="5346909" y="3684620"/>
            <a:ext cx="2155825" cy="1689100"/>
            <a:chOff x="4125" y="2454"/>
            <a:chExt cx="1358" cy="1064"/>
          </a:xfrm>
          <a:solidFill>
            <a:schemeClr val="accent2">
              <a:lumMod val="60000"/>
              <a:lumOff val="40000"/>
            </a:schemeClr>
          </a:solidFill>
        </p:grpSpPr>
        <p:grpSp>
          <p:nvGrpSpPr>
            <p:cNvPr id="11278" name="Group 27"/>
            <p:cNvGrpSpPr>
              <a:grpSpLocks/>
            </p:cNvGrpSpPr>
            <p:nvPr/>
          </p:nvGrpSpPr>
          <p:grpSpPr bwMode="auto">
            <a:xfrm>
              <a:off x="4125" y="2454"/>
              <a:ext cx="1358" cy="736"/>
              <a:chOff x="3466" y="2574"/>
              <a:chExt cx="2068" cy="1122"/>
            </a:xfrm>
            <a:grpFill/>
          </p:grpSpPr>
          <p:grpSp>
            <p:nvGrpSpPr>
              <p:cNvPr id="11280" name="Group 28"/>
              <p:cNvGrpSpPr>
                <a:grpSpLocks/>
              </p:cNvGrpSpPr>
              <p:nvPr/>
            </p:nvGrpSpPr>
            <p:grpSpPr bwMode="auto">
              <a:xfrm>
                <a:off x="3466" y="2574"/>
                <a:ext cx="2068" cy="1122"/>
                <a:chOff x="3063" y="709"/>
                <a:chExt cx="2068" cy="1122"/>
              </a:xfrm>
              <a:grpFill/>
            </p:grpSpPr>
            <p:sp>
              <p:nvSpPr>
                <p:cNvPr id="11296" name="Oval 29"/>
                <p:cNvSpPr>
                  <a:spLocks noChangeAspect="1" noChangeArrowheads="1"/>
                </p:cNvSpPr>
                <p:nvPr/>
              </p:nvSpPr>
              <p:spPr bwMode="auto">
                <a:xfrm>
                  <a:off x="3063" y="1069"/>
                  <a:ext cx="400" cy="401"/>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297" name="Oval 30"/>
                <p:cNvSpPr>
                  <a:spLocks noChangeAspect="1" noChangeArrowheads="1"/>
                </p:cNvSpPr>
                <p:nvPr/>
              </p:nvSpPr>
              <p:spPr bwMode="auto">
                <a:xfrm>
                  <a:off x="3480" y="1069"/>
                  <a:ext cx="401" cy="401"/>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298" name="Oval 31"/>
                <p:cNvSpPr>
                  <a:spLocks noChangeAspect="1" noChangeArrowheads="1"/>
                </p:cNvSpPr>
                <p:nvPr/>
              </p:nvSpPr>
              <p:spPr bwMode="auto">
                <a:xfrm>
                  <a:off x="3899" y="1069"/>
                  <a:ext cx="401" cy="401"/>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299" name="Oval 32"/>
                <p:cNvSpPr>
                  <a:spLocks noChangeAspect="1" noChangeArrowheads="1"/>
                </p:cNvSpPr>
                <p:nvPr/>
              </p:nvSpPr>
              <p:spPr bwMode="auto">
                <a:xfrm>
                  <a:off x="4316" y="1069"/>
                  <a:ext cx="400" cy="401"/>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00" name="Oval 33"/>
                <p:cNvSpPr>
                  <a:spLocks noChangeAspect="1" noChangeArrowheads="1"/>
                </p:cNvSpPr>
                <p:nvPr/>
              </p:nvSpPr>
              <p:spPr bwMode="auto">
                <a:xfrm>
                  <a:off x="4731" y="1069"/>
                  <a:ext cx="400" cy="401"/>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01" name="Oval 34"/>
                <p:cNvSpPr>
                  <a:spLocks noChangeAspect="1" noChangeArrowheads="1"/>
                </p:cNvSpPr>
                <p:nvPr/>
              </p:nvSpPr>
              <p:spPr bwMode="auto">
                <a:xfrm>
                  <a:off x="3274" y="1431"/>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02" name="Oval 35"/>
                <p:cNvSpPr>
                  <a:spLocks noChangeAspect="1" noChangeArrowheads="1"/>
                </p:cNvSpPr>
                <p:nvPr/>
              </p:nvSpPr>
              <p:spPr bwMode="auto">
                <a:xfrm>
                  <a:off x="3689" y="1429"/>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03" name="Oval 36"/>
                <p:cNvSpPr>
                  <a:spLocks noChangeAspect="1" noChangeArrowheads="1"/>
                </p:cNvSpPr>
                <p:nvPr/>
              </p:nvSpPr>
              <p:spPr bwMode="auto">
                <a:xfrm>
                  <a:off x="4104" y="1431"/>
                  <a:ext cx="401"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04" name="Oval 37"/>
                <p:cNvSpPr>
                  <a:spLocks noChangeAspect="1" noChangeArrowheads="1"/>
                </p:cNvSpPr>
                <p:nvPr/>
              </p:nvSpPr>
              <p:spPr bwMode="auto">
                <a:xfrm>
                  <a:off x="4521" y="1427"/>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05" name="Oval 38"/>
                <p:cNvSpPr>
                  <a:spLocks noChangeAspect="1" noChangeArrowheads="1"/>
                </p:cNvSpPr>
                <p:nvPr/>
              </p:nvSpPr>
              <p:spPr bwMode="auto">
                <a:xfrm>
                  <a:off x="3272" y="709"/>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06" name="Oval 39"/>
                <p:cNvSpPr>
                  <a:spLocks noChangeAspect="1" noChangeArrowheads="1"/>
                </p:cNvSpPr>
                <p:nvPr/>
              </p:nvSpPr>
              <p:spPr bwMode="auto">
                <a:xfrm>
                  <a:off x="3689" y="709"/>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07" name="Oval 40"/>
                <p:cNvSpPr>
                  <a:spLocks noChangeAspect="1" noChangeArrowheads="1"/>
                </p:cNvSpPr>
                <p:nvPr/>
              </p:nvSpPr>
              <p:spPr bwMode="auto">
                <a:xfrm>
                  <a:off x="4106" y="709"/>
                  <a:ext cx="401"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sp>
              <p:nvSpPr>
                <p:cNvPr id="11308" name="Oval 41"/>
                <p:cNvSpPr>
                  <a:spLocks noChangeAspect="1" noChangeArrowheads="1"/>
                </p:cNvSpPr>
                <p:nvPr/>
              </p:nvSpPr>
              <p:spPr bwMode="auto">
                <a:xfrm>
                  <a:off x="4523" y="709"/>
                  <a:ext cx="400" cy="400"/>
                </a:xfrm>
                <a:prstGeom prst="ellipse">
                  <a:avLst/>
                </a:prstGeom>
                <a:grpFill/>
                <a:ln w="19050" algn="ctr">
                  <a:solidFill>
                    <a:srgbClr val="000066"/>
                  </a:solidFill>
                  <a:round/>
                  <a:headEnd/>
                  <a:tailEnd/>
                </a:ln>
              </p:spPr>
              <p:txBody>
                <a:bodyPr wrap="none" lIns="0" tIns="0" rIns="0" bIns="0" anchor="ctr">
                  <a:spAutoFit/>
                </a:bodyPr>
                <a:lstStyle/>
                <a:p>
                  <a:endParaRPr lang="zh-CN" altLang="en-US"/>
                </a:p>
              </p:txBody>
            </p:sp>
          </p:grpSp>
          <p:grpSp>
            <p:nvGrpSpPr>
              <p:cNvPr id="11281" name="Group 42"/>
              <p:cNvGrpSpPr>
                <a:grpSpLocks/>
              </p:cNvGrpSpPr>
              <p:nvPr/>
            </p:nvGrpSpPr>
            <p:grpSpPr bwMode="auto">
              <a:xfrm>
                <a:off x="3845" y="2866"/>
                <a:ext cx="1314" cy="541"/>
                <a:chOff x="3442" y="1001"/>
                <a:chExt cx="1314" cy="541"/>
              </a:xfrm>
              <a:grpFill/>
            </p:grpSpPr>
            <p:sp>
              <p:nvSpPr>
                <p:cNvPr id="11282" name="Oval 43"/>
                <p:cNvSpPr>
                  <a:spLocks noChangeAspect="1" noChangeArrowheads="1"/>
                </p:cNvSpPr>
                <p:nvPr/>
              </p:nvSpPr>
              <p:spPr bwMode="auto">
                <a:xfrm>
                  <a:off x="3649" y="1484"/>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83" name="Oval 44"/>
                <p:cNvSpPr>
                  <a:spLocks noChangeAspect="1" noChangeArrowheads="1"/>
                </p:cNvSpPr>
                <p:nvPr/>
              </p:nvSpPr>
              <p:spPr bwMode="auto">
                <a:xfrm>
                  <a:off x="3651" y="1001"/>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84" name="Oval 45"/>
                <p:cNvSpPr>
                  <a:spLocks noChangeAspect="1" noChangeArrowheads="1"/>
                </p:cNvSpPr>
                <p:nvPr/>
              </p:nvSpPr>
              <p:spPr bwMode="auto">
                <a:xfrm>
                  <a:off x="3865" y="1118"/>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85" name="Oval 46"/>
                <p:cNvSpPr>
                  <a:spLocks noChangeAspect="1" noChangeArrowheads="1"/>
                </p:cNvSpPr>
                <p:nvPr/>
              </p:nvSpPr>
              <p:spPr bwMode="auto">
                <a:xfrm>
                  <a:off x="3442" y="1364"/>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86" name="Oval 47"/>
                <p:cNvSpPr>
                  <a:spLocks noChangeAspect="1" noChangeArrowheads="1"/>
                </p:cNvSpPr>
                <p:nvPr/>
              </p:nvSpPr>
              <p:spPr bwMode="auto">
                <a:xfrm>
                  <a:off x="3442" y="1125"/>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87" name="Oval 48"/>
                <p:cNvSpPr>
                  <a:spLocks noChangeAspect="1" noChangeArrowheads="1"/>
                </p:cNvSpPr>
                <p:nvPr/>
              </p:nvSpPr>
              <p:spPr bwMode="auto">
                <a:xfrm>
                  <a:off x="4071" y="1001"/>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88" name="Oval 49"/>
                <p:cNvSpPr>
                  <a:spLocks noChangeAspect="1" noChangeArrowheads="1"/>
                </p:cNvSpPr>
                <p:nvPr/>
              </p:nvSpPr>
              <p:spPr bwMode="auto">
                <a:xfrm>
                  <a:off x="3862" y="1366"/>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89" name="Oval 50"/>
                <p:cNvSpPr>
                  <a:spLocks noChangeAspect="1" noChangeArrowheads="1"/>
                </p:cNvSpPr>
                <p:nvPr/>
              </p:nvSpPr>
              <p:spPr bwMode="auto">
                <a:xfrm>
                  <a:off x="4071" y="1482"/>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90" name="Oval 51"/>
                <p:cNvSpPr>
                  <a:spLocks noChangeAspect="1" noChangeArrowheads="1"/>
                </p:cNvSpPr>
                <p:nvPr/>
              </p:nvSpPr>
              <p:spPr bwMode="auto">
                <a:xfrm>
                  <a:off x="4278" y="1117"/>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91" name="Oval 52"/>
                <p:cNvSpPr>
                  <a:spLocks noChangeAspect="1" noChangeArrowheads="1"/>
                </p:cNvSpPr>
                <p:nvPr/>
              </p:nvSpPr>
              <p:spPr bwMode="auto">
                <a:xfrm>
                  <a:off x="4485" y="1483"/>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92" name="Oval 53"/>
                <p:cNvSpPr>
                  <a:spLocks noChangeAspect="1" noChangeArrowheads="1"/>
                </p:cNvSpPr>
                <p:nvPr/>
              </p:nvSpPr>
              <p:spPr bwMode="auto">
                <a:xfrm>
                  <a:off x="4275" y="1364"/>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93" name="Oval 54"/>
                <p:cNvSpPr>
                  <a:spLocks noChangeAspect="1" noChangeArrowheads="1"/>
                </p:cNvSpPr>
                <p:nvPr/>
              </p:nvSpPr>
              <p:spPr bwMode="auto">
                <a:xfrm>
                  <a:off x="4488" y="1001"/>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94" name="Oval 55"/>
                <p:cNvSpPr>
                  <a:spLocks noChangeAspect="1" noChangeArrowheads="1"/>
                </p:cNvSpPr>
                <p:nvPr/>
              </p:nvSpPr>
              <p:spPr bwMode="auto">
                <a:xfrm>
                  <a:off x="4697" y="1362"/>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sp>
              <p:nvSpPr>
                <p:cNvPr id="11295" name="Oval 56"/>
                <p:cNvSpPr>
                  <a:spLocks noChangeAspect="1" noChangeArrowheads="1"/>
                </p:cNvSpPr>
                <p:nvPr/>
              </p:nvSpPr>
              <p:spPr bwMode="auto">
                <a:xfrm>
                  <a:off x="4697" y="1121"/>
                  <a:ext cx="59" cy="58"/>
                </a:xfrm>
                <a:prstGeom prst="ellipse">
                  <a:avLst/>
                </a:prstGeom>
                <a:grpFill/>
                <a:ln w="19050" algn="ctr">
                  <a:solidFill>
                    <a:srgbClr val="000066"/>
                  </a:solidFill>
                  <a:round/>
                  <a:headEnd/>
                  <a:tailEnd/>
                </a:ln>
              </p:spPr>
              <p:txBody>
                <a:bodyPr lIns="0" tIns="0" rIns="0" bIns="0" anchor="ctr">
                  <a:spAutoFit/>
                </a:bodyPr>
                <a:lstStyle/>
                <a:p>
                  <a:endParaRPr lang="zh-CN" altLang="en-US"/>
                </a:p>
              </p:txBody>
            </p:sp>
          </p:grpSp>
        </p:grpSp>
        <p:sp>
          <p:nvSpPr>
            <p:cNvPr id="11279" name="Text Box 57"/>
            <p:cNvSpPr txBox="1">
              <a:spLocks noChangeArrowheads="1"/>
            </p:cNvSpPr>
            <p:nvPr/>
          </p:nvSpPr>
          <p:spPr bwMode="auto">
            <a:xfrm>
              <a:off x="4388" y="3285"/>
              <a:ext cx="841" cy="233"/>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2400" b="1" i="1" dirty="0" err="1">
                  <a:solidFill>
                    <a:srgbClr val="000066"/>
                  </a:solidFill>
                  <a:ea typeface="华文新魏" pitchFamily="2" charset="-122"/>
                </a:rPr>
                <a:t>e</a:t>
              </a:r>
              <a:r>
                <a:rPr kumimoji="1" lang="en-US" altLang="zh-CN" sz="2400" b="1" baseline="-25000" dirty="0" err="1">
                  <a:solidFill>
                    <a:srgbClr val="000066"/>
                  </a:solidFill>
                  <a:ea typeface="华文新魏" pitchFamily="2" charset="-122"/>
                </a:rPr>
                <a:t>min</a:t>
              </a:r>
              <a:r>
                <a:rPr kumimoji="1" lang="en-US" altLang="zh-CN" sz="2400" dirty="0">
                  <a:solidFill>
                    <a:srgbClr val="000066"/>
                  </a:solidFill>
                  <a:ea typeface="华文新魏" pitchFamily="2" charset="-122"/>
                </a:rPr>
                <a:t> </a:t>
              </a:r>
              <a:r>
                <a:rPr kumimoji="1" lang="en-US" altLang="zh-CN" sz="2400" b="1" dirty="0">
                  <a:solidFill>
                    <a:srgbClr val="000066"/>
                  </a:solidFill>
                  <a:ea typeface="华文新魏" pitchFamily="2" charset="-122"/>
                </a:rPr>
                <a:t>= 0.20</a:t>
              </a:r>
            </a:p>
          </p:txBody>
        </p:sp>
      </p:grpSp>
      <p:sp>
        <p:nvSpPr>
          <p:cNvPr id="1395774" name="AutoShape 62"/>
          <p:cNvSpPr>
            <a:spLocks noChangeArrowheads="1"/>
          </p:cNvSpPr>
          <p:nvPr/>
        </p:nvSpPr>
        <p:spPr bwMode="auto">
          <a:xfrm>
            <a:off x="1216388" y="2496425"/>
            <a:ext cx="563563" cy="381000"/>
          </a:xfrm>
          <a:prstGeom prst="homePlate">
            <a:avLst>
              <a:gd name="adj" fmla="val 36979"/>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60"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31422612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95721"/>
                                        </p:tgtEl>
                                        <p:attrNameLst>
                                          <p:attrName>style.visibility</p:attrName>
                                        </p:attrNameLst>
                                      </p:cBhvr>
                                      <p:to>
                                        <p:strVal val="visible"/>
                                      </p:to>
                                    </p:set>
                                    <p:anim calcmode="lin" valueType="num">
                                      <p:cBhvr additive="base">
                                        <p:cTn id="7" dur="500" fill="hold"/>
                                        <p:tgtEl>
                                          <p:spTgt spid="1395721"/>
                                        </p:tgtEl>
                                        <p:attrNameLst>
                                          <p:attrName>ppt_x</p:attrName>
                                        </p:attrNameLst>
                                      </p:cBhvr>
                                      <p:tavLst>
                                        <p:tav tm="0">
                                          <p:val>
                                            <p:strVal val="0-#ppt_w/2"/>
                                          </p:val>
                                        </p:tav>
                                        <p:tav tm="100000">
                                          <p:val>
                                            <p:strVal val="#ppt_x"/>
                                          </p:val>
                                        </p:tav>
                                      </p:tavLst>
                                    </p:anim>
                                    <p:anim calcmode="lin" valueType="num">
                                      <p:cBhvr additive="base">
                                        <p:cTn id="8" dur="500" fill="hold"/>
                                        <p:tgtEl>
                                          <p:spTgt spid="1395721"/>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8" fill="hold" grpId="0" nodeType="afterEffect">
                                  <p:stCondLst>
                                    <p:cond delay="2000"/>
                                  </p:stCondLst>
                                  <p:childTnLst>
                                    <p:set>
                                      <p:cBhvr>
                                        <p:cTn id="11" dur="1" fill="hold">
                                          <p:stCondLst>
                                            <p:cond delay="0"/>
                                          </p:stCondLst>
                                        </p:cTn>
                                        <p:tgtEl>
                                          <p:spTgt spid="1395774"/>
                                        </p:tgtEl>
                                        <p:attrNameLst>
                                          <p:attrName>style.visibility</p:attrName>
                                        </p:attrNameLst>
                                      </p:cBhvr>
                                      <p:to>
                                        <p:strVal val="visible"/>
                                      </p:to>
                                    </p:set>
                                    <p:animEffect transition="in" filter="wipe(left)">
                                      <p:cBhvr>
                                        <p:cTn id="12" dur="2000"/>
                                        <p:tgtEl>
                                          <p:spTgt spid="1395774"/>
                                        </p:tgtEl>
                                      </p:cBhvr>
                                    </p:animEffect>
                                  </p:childTnLst>
                                </p:cTn>
                              </p:par>
                            </p:childTnLst>
                          </p:cTn>
                        </p:par>
                        <p:par>
                          <p:cTn id="13" fill="hold" nodeType="afterGroup">
                            <p:stCondLst>
                              <p:cond delay="4500"/>
                            </p:stCondLst>
                            <p:childTnLst>
                              <p:par>
                                <p:cTn id="14" presetID="22" presetClass="entr" presetSubtype="8" fill="hold" grpId="0" nodeType="afterEffect">
                                  <p:stCondLst>
                                    <p:cond delay="0"/>
                                  </p:stCondLst>
                                  <p:childTnLst>
                                    <p:set>
                                      <p:cBhvr>
                                        <p:cTn id="15" dur="1" fill="hold">
                                          <p:stCondLst>
                                            <p:cond delay="0"/>
                                          </p:stCondLst>
                                        </p:cTn>
                                        <p:tgtEl>
                                          <p:spTgt spid="1395720"/>
                                        </p:tgtEl>
                                        <p:attrNameLst>
                                          <p:attrName>style.visibility</p:attrName>
                                        </p:attrNameLst>
                                      </p:cBhvr>
                                      <p:to>
                                        <p:strVal val="visible"/>
                                      </p:to>
                                    </p:set>
                                    <p:animEffect transition="in" filter="wipe(left)">
                                      <p:cBhvr>
                                        <p:cTn id="16" dur="2000"/>
                                        <p:tgtEl>
                                          <p:spTgt spid="1395720"/>
                                        </p:tgtEl>
                                      </p:cBhvr>
                                    </p:animEffect>
                                  </p:childTnLst>
                                </p:cTn>
                              </p:par>
                            </p:childTnLst>
                          </p:cTn>
                        </p:par>
                      </p:childTnLst>
                    </p:cTn>
                  </p:par>
                  <p:par>
                    <p:cTn id="17" fill="hold">
                      <p:stCondLst>
                        <p:cond delay="indefinite"/>
                      </p:stCondLst>
                      <p:childTnLst>
                        <p:par>
                          <p:cTn id="18" fill="hold" nodeType="afterGroup">
                            <p:stCondLst>
                              <p:cond delay="0"/>
                            </p:stCondLst>
                            <p:childTnLst>
                              <p:par>
                                <p:cTn id="19" presetID="12" presetClass="entr" presetSubtype="1"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slide(fromTop)">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slide(fromTop)">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5720" grpId="0"/>
      <p:bldP spid="1395721" grpId="0"/>
      <p:bldP spid="139577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ChangeArrowheads="1"/>
          </p:cNvSpPr>
          <p:nvPr/>
        </p:nvSpPr>
        <p:spPr bwMode="auto">
          <a:xfrm>
            <a:off x="2736850" y="5776913"/>
            <a:ext cx="43370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25000"/>
              </a:spcBef>
              <a:spcAft>
                <a:spcPct val="0"/>
              </a:spcAft>
              <a:buFont typeface="Wingdings" pitchFamily="2" charset="2"/>
              <a:buNone/>
            </a:pPr>
            <a:r>
              <a:rPr kumimoji="1" lang="zh-CN" altLang="en-US" sz="4000" b="1" dirty="0">
                <a:solidFill>
                  <a:srgbClr val="000066"/>
                </a:solidFill>
                <a:ea typeface="黑体" pitchFamily="2" charset="-122"/>
              </a:rPr>
              <a:t>粗粒土的密实状态</a:t>
            </a:r>
            <a:endParaRPr kumimoji="1" lang="zh-CN" altLang="en-US" sz="4000" b="1" i="1" dirty="0">
              <a:solidFill>
                <a:srgbClr val="000066"/>
              </a:solidFill>
              <a:ea typeface="黑体" pitchFamily="2" charset="-122"/>
              <a:cs typeface="Arial Unicode MS" pitchFamily="34" charset="-122"/>
            </a:endParaRPr>
          </a:p>
        </p:txBody>
      </p:sp>
      <p:sp>
        <p:nvSpPr>
          <p:cNvPr id="1395719" name="Text Box 7"/>
          <p:cNvSpPr txBox="1">
            <a:spLocks noChangeArrowheads="1"/>
          </p:cNvSpPr>
          <p:nvPr/>
        </p:nvSpPr>
        <p:spPr bwMode="auto">
          <a:xfrm>
            <a:off x="427038" y="887413"/>
            <a:ext cx="71231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kumimoji="1" lang="zh-CN" altLang="en-US" sz="2800" b="1" dirty="0">
                <a:solidFill>
                  <a:srgbClr val="A50021"/>
                </a:solidFill>
                <a:latin typeface="Arial" charset="0"/>
                <a:ea typeface="幼圆" pitchFamily="49" charset="-122"/>
              </a:rPr>
              <a:t> </a:t>
            </a:r>
            <a:r>
              <a:rPr kumimoji="1" lang="zh-CN" altLang="en-US" sz="2800" b="1" dirty="0">
                <a:solidFill>
                  <a:srgbClr val="800000"/>
                </a:solidFill>
                <a:latin typeface="Arial" charset="0"/>
                <a:ea typeface="幼圆" pitchFamily="49" charset="-122"/>
              </a:rPr>
              <a:t>密实度：</a:t>
            </a:r>
            <a:r>
              <a:rPr kumimoji="1" lang="zh-CN" altLang="en-US" sz="2400" b="1" dirty="0">
                <a:solidFill>
                  <a:srgbClr val="000066"/>
                </a:solidFill>
                <a:ea typeface="幼圆" pitchFamily="49" charset="-122"/>
              </a:rPr>
              <a:t>通常指单位体积中固体颗粒含量的多少</a:t>
            </a:r>
          </a:p>
        </p:txBody>
      </p:sp>
      <p:sp>
        <p:nvSpPr>
          <p:cNvPr id="1395721" name="Rectangle 9"/>
          <p:cNvSpPr>
            <a:spLocks noChangeArrowheads="1"/>
          </p:cNvSpPr>
          <p:nvPr/>
        </p:nvSpPr>
        <p:spPr bwMode="auto">
          <a:xfrm>
            <a:off x="652132" y="1658938"/>
            <a:ext cx="757746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5000"/>
              </a:lnSpc>
              <a:spcBef>
                <a:spcPct val="30000"/>
              </a:spcBef>
              <a:spcAft>
                <a:spcPct val="0"/>
              </a:spcAft>
            </a:pPr>
            <a:r>
              <a:rPr kumimoji="1" lang="zh-CN" altLang="en-US" sz="2400" b="1" dirty="0" smtClean="0">
                <a:solidFill>
                  <a:srgbClr val="A50021"/>
                </a:solidFill>
                <a:ea typeface="幼圆" pitchFamily="49" charset="-122"/>
                <a:cs typeface="Times New Roman" panose="02020603050405020304" pitchFamily="18" charset="0"/>
              </a:rPr>
              <a:t>（</a:t>
            </a:r>
            <a:r>
              <a:rPr kumimoji="1" lang="en-US" altLang="zh-CN" sz="2400" b="1" dirty="0">
                <a:solidFill>
                  <a:srgbClr val="A50021"/>
                </a:solidFill>
                <a:ea typeface="幼圆" pitchFamily="49" charset="-122"/>
                <a:cs typeface="Times New Roman" panose="02020603050405020304" pitchFamily="18" charset="0"/>
              </a:rPr>
              <a:t>2</a:t>
            </a:r>
            <a:r>
              <a:rPr kumimoji="1" lang="zh-CN" altLang="en-US" sz="2400" b="1" dirty="0" smtClean="0">
                <a:solidFill>
                  <a:srgbClr val="A50021"/>
                </a:solidFill>
                <a:ea typeface="幼圆" pitchFamily="49" charset="-122"/>
                <a:cs typeface="Times New Roman" panose="02020603050405020304" pitchFamily="18" charset="0"/>
              </a:rPr>
              <a:t>）</a:t>
            </a:r>
            <a:r>
              <a:rPr kumimoji="1" lang="zh-CN" altLang="en-US" sz="2400" b="1" dirty="0" smtClean="0">
                <a:solidFill>
                  <a:srgbClr val="800000"/>
                </a:solidFill>
                <a:ea typeface="幼圆" pitchFamily="49" charset="-122"/>
                <a:cs typeface="Times New Roman" panose="02020603050405020304" pitchFamily="18" charset="0"/>
              </a:rPr>
              <a:t>相对密度</a:t>
            </a:r>
            <a:r>
              <a:rPr kumimoji="1" lang="en-US" altLang="zh-CN" sz="2400" b="1" i="1" dirty="0" err="1" smtClean="0">
                <a:solidFill>
                  <a:srgbClr val="800000"/>
                </a:solidFill>
                <a:ea typeface="幼圆" pitchFamily="49" charset="-122"/>
                <a:cs typeface="Times New Roman" panose="02020603050405020304" pitchFamily="18" charset="0"/>
              </a:rPr>
              <a:t>D</a:t>
            </a:r>
            <a:r>
              <a:rPr kumimoji="1" lang="en-US" altLang="zh-CN" sz="2400" b="1" baseline="-25000" dirty="0" err="1" smtClean="0">
                <a:solidFill>
                  <a:srgbClr val="800000"/>
                </a:solidFill>
                <a:ea typeface="幼圆" pitchFamily="49" charset="-122"/>
                <a:cs typeface="Times New Roman" panose="02020603050405020304" pitchFamily="18" charset="0"/>
              </a:rPr>
              <a:t>r</a:t>
            </a:r>
            <a:r>
              <a:rPr kumimoji="1" lang="zh-CN" altLang="en-US" sz="2400" b="1" dirty="0" smtClean="0">
                <a:solidFill>
                  <a:srgbClr val="000066"/>
                </a:solidFill>
                <a:ea typeface="幼圆" pitchFamily="49" charset="-122"/>
                <a:cs typeface="Times New Roman" panose="02020603050405020304" pitchFamily="18" charset="0"/>
              </a:rPr>
              <a:t>：</a:t>
            </a:r>
            <a:endParaRPr kumimoji="1" lang="en-US" altLang="zh-CN" sz="2400" b="1" baseline="-25000" dirty="0">
              <a:solidFill>
                <a:srgbClr val="000066"/>
              </a:solidFill>
              <a:ea typeface="幼圆" pitchFamily="49" charset="-122"/>
              <a:cs typeface="Times New Roman" panose="02020603050405020304" pitchFamily="18" charset="0"/>
              <a:sym typeface="Symbol" pitchFamily="18" charset="2"/>
            </a:endParaRPr>
          </a:p>
        </p:txBody>
      </p:sp>
      <p:sp>
        <p:nvSpPr>
          <p:cNvPr id="60"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aphicFrame>
        <p:nvGraphicFramePr>
          <p:cNvPr id="56" name="Object 59"/>
          <p:cNvGraphicFramePr>
            <a:graphicFrameLocks noChangeAspect="1"/>
          </p:cNvGraphicFramePr>
          <p:nvPr>
            <p:extLst>
              <p:ext uri="{D42A27DB-BD31-4B8C-83A1-F6EECF244321}">
                <p14:modId xmlns:p14="http://schemas.microsoft.com/office/powerpoint/2010/main" val="3376200785"/>
              </p:ext>
            </p:extLst>
          </p:nvPr>
        </p:nvGraphicFramePr>
        <p:xfrm>
          <a:off x="3654371" y="1529680"/>
          <a:ext cx="2243138" cy="981076"/>
        </p:xfrm>
        <a:graphic>
          <a:graphicData uri="http://schemas.openxmlformats.org/presentationml/2006/ole">
            <mc:AlternateContent xmlns:mc="http://schemas.openxmlformats.org/markup-compatibility/2006">
              <mc:Choice xmlns:v="urn:schemas-microsoft-com:vml" Requires="v">
                <p:oleObj spid="_x0000_s61553" name="公式" r:id="rId4" imgW="1015920" imgH="444240" progId="Equation.3">
                  <p:embed/>
                </p:oleObj>
              </mc:Choice>
              <mc:Fallback>
                <p:oleObj name="公式" r:id="rId4" imgW="1015920" imgH="444240" progId="Equation.3">
                  <p:embed/>
                  <p:pic>
                    <p:nvPicPr>
                      <p:cNvPr id="0" name=""/>
                      <p:cNvPicPr>
                        <a:picLocks noChangeAspect="1" noChangeArrowheads="1"/>
                      </p:cNvPicPr>
                      <p:nvPr/>
                    </p:nvPicPr>
                    <p:blipFill>
                      <a:blip r:embed="rId5"/>
                      <a:srcRect/>
                      <a:stretch>
                        <a:fillRect/>
                      </a:stretch>
                    </p:blipFill>
                    <p:spPr bwMode="auto">
                      <a:xfrm>
                        <a:off x="3654371" y="1529680"/>
                        <a:ext cx="2243138" cy="981076"/>
                      </a:xfrm>
                      <a:prstGeom prst="rect">
                        <a:avLst/>
                      </a:prstGeom>
                      <a:noFill/>
                      <a:ln>
                        <a:noFill/>
                      </a:ln>
                      <a:effectLst/>
                      <a:extLst/>
                    </p:spPr>
                  </p:pic>
                </p:oleObj>
              </mc:Fallback>
            </mc:AlternateContent>
          </a:graphicData>
        </a:graphic>
      </p:graphicFrame>
      <p:sp>
        <p:nvSpPr>
          <p:cNvPr id="57" name="Rectangle 61"/>
          <p:cNvSpPr>
            <a:spLocks noChangeArrowheads="1"/>
          </p:cNvSpPr>
          <p:nvPr/>
        </p:nvSpPr>
        <p:spPr bwMode="auto">
          <a:xfrm>
            <a:off x="3397537" y="2716753"/>
            <a:ext cx="457688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30000"/>
              </a:spcBef>
              <a:spcAft>
                <a:spcPct val="0"/>
              </a:spcAft>
              <a:buFont typeface="Wingdings" pitchFamily="2" charset="2"/>
              <a:buNone/>
              <a:tabLst>
                <a:tab pos="808038" algn="l"/>
              </a:tabLst>
            </a:pPr>
            <a:r>
              <a:rPr kumimoji="1" lang="zh-CN" altLang="en-US" sz="2000" b="1" dirty="0" smtClean="0">
                <a:solidFill>
                  <a:srgbClr val="000066"/>
                </a:solidFill>
                <a:ea typeface="幼圆" pitchFamily="49" charset="-122"/>
                <a:cs typeface="Times New Roman" panose="02020603050405020304" pitchFamily="18" charset="0"/>
              </a:rPr>
              <a:t>式中，</a:t>
            </a:r>
            <a:r>
              <a:rPr kumimoji="1" lang="en-US" altLang="zh-CN" sz="2000" b="1" dirty="0" smtClean="0">
                <a:solidFill>
                  <a:srgbClr val="000066"/>
                </a:solidFill>
                <a:ea typeface="幼圆" pitchFamily="49" charset="-122"/>
                <a:cs typeface="Times New Roman" panose="02020603050405020304" pitchFamily="18" charset="0"/>
              </a:rPr>
              <a:t>	</a:t>
            </a:r>
            <a:r>
              <a:rPr kumimoji="1" lang="en-US" altLang="zh-CN" sz="2000" b="1" i="1" dirty="0" smtClean="0">
                <a:solidFill>
                  <a:srgbClr val="000066"/>
                </a:solidFill>
                <a:ea typeface="幼圆" pitchFamily="49" charset="-122"/>
                <a:cs typeface="Times New Roman" panose="02020603050405020304" pitchFamily="18" charset="0"/>
              </a:rPr>
              <a:t>e</a:t>
            </a:r>
            <a:r>
              <a:rPr kumimoji="1" lang="zh-CN" altLang="en-US" sz="2000" b="1" dirty="0" smtClean="0">
                <a:solidFill>
                  <a:srgbClr val="000066"/>
                </a:solidFill>
                <a:ea typeface="幼圆" pitchFamily="49" charset="-122"/>
                <a:cs typeface="Times New Roman" panose="02020603050405020304" pitchFamily="18" charset="0"/>
              </a:rPr>
              <a:t>为该</a:t>
            </a:r>
            <a:r>
              <a:rPr kumimoji="1" lang="zh-CN" altLang="en-US" sz="2000" b="1" dirty="0">
                <a:solidFill>
                  <a:srgbClr val="000066"/>
                </a:solidFill>
                <a:ea typeface="幼圆" pitchFamily="49" charset="-122"/>
                <a:cs typeface="Times New Roman" panose="02020603050405020304" pitchFamily="18" charset="0"/>
              </a:rPr>
              <a:t>种土体</a:t>
            </a:r>
            <a:r>
              <a:rPr kumimoji="1" lang="zh-CN" altLang="en-US" sz="2000" b="1" dirty="0" smtClean="0">
                <a:solidFill>
                  <a:srgbClr val="000066"/>
                </a:solidFill>
                <a:ea typeface="幼圆" pitchFamily="49" charset="-122"/>
                <a:cs typeface="Times New Roman" panose="02020603050405020304" pitchFamily="18" charset="0"/>
              </a:rPr>
              <a:t>的现场孔隙比；</a:t>
            </a:r>
            <a:endParaRPr kumimoji="1" lang="en-US" altLang="zh-CN" sz="2000" b="1" dirty="0" smtClean="0">
              <a:solidFill>
                <a:srgbClr val="000066"/>
              </a:solidFill>
              <a:ea typeface="幼圆" pitchFamily="49" charset="-122"/>
              <a:cs typeface="Times New Roman" panose="02020603050405020304" pitchFamily="18" charset="0"/>
            </a:endParaRPr>
          </a:p>
          <a:p>
            <a:pPr>
              <a:lnSpc>
                <a:spcPct val="100000"/>
              </a:lnSpc>
              <a:spcBef>
                <a:spcPct val="30000"/>
              </a:spcBef>
              <a:spcAft>
                <a:spcPct val="0"/>
              </a:spcAft>
              <a:buFont typeface="Wingdings" pitchFamily="2" charset="2"/>
              <a:buNone/>
              <a:tabLst>
                <a:tab pos="808038" algn="l"/>
              </a:tabLst>
            </a:pPr>
            <a:r>
              <a:rPr kumimoji="1" lang="en-US" altLang="zh-CN" sz="2000" b="1" i="1" dirty="0">
                <a:solidFill>
                  <a:srgbClr val="000066"/>
                </a:solidFill>
                <a:ea typeface="幼圆" pitchFamily="49" charset="-122"/>
                <a:cs typeface="Times New Roman" panose="02020603050405020304" pitchFamily="18" charset="0"/>
              </a:rPr>
              <a:t>	</a:t>
            </a:r>
            <a:r>
              <a:rPr kumimoji="1" lang="en-US" altLang="zh-CN" sz="2000" b="1" i="1" dirty="0" err="1" smtClean="0">
                <a:solidFill>
                  <a:srgbClr val="000066"/>
                </a:solidFill>
                <a:ea typeface="幼圆" pitchFamily="49" charset="-122"/>
                <a:cs typeface="Times New Roman" panose="02020603050405020304" pitchFamily="18" charset="0"/>
              </a:rPr>
              <a:t>e</a:t>
            </a:r>
            <a:r>
              <a:rPr kumimoji="1" lang="en-US" altLang="zh-CN" sz="2000" b="1" baseline="-25000" dirty="0" err="1" smtClean="0">
                <a:solidFill>
                  <a:srgbClr val="000066"/>
                </a:solidFill>
                <a:ea typeface="幼圆" pitchFamily="49" charset="-122"/>
                <a:cs typeface="Times New Roman" panose="02020603050405020304" pitchFamily="18" charset="0"/>
              </a:rPr>
              <a:t>max</a:t>
            </a:r>
            <a:r>
              <a:rPr kumimoji="1" lang="zh-CN" altLang="en-US" sz="2000" b="1" dirty="0" smtClean="0">
                <a:solidFill>
                  <a:srgbClr val="000066"/>
                </a:solidFill>
                <a:ea typeface="幼圆" pitchFamily="49" charset="-122"/>
                <a:cs typeface="Times New Roman" panose="02020603050405020304" pitchFamily="18" charset="0"/>
              </a:rPr>
              <a:t>为该</a:t>
            </a:r>
            <a:r>
              <a:rPr kumimoji="1" lang="zh-CN" altLang="en-US" sz="2000" b="1" dirty="0">
                <a:solidFill>
                  <a:srgbClr val="000066"/>
                </a:solidFill>
                <a:ea typeface="幼圆" pitchFamily="49" charset="-122"/>
                <a:cs typeface="Times New Roman" panose="02020603050405020304" pitchFamily="18" charset="0"/>
              </a:rPr>
              <a:t>种土体的</a:t>
            </a:r>
            <a:r>
              <a:rPr kumimoji="1" lang="zh-CN" altLang="en-US" sz="2000" b="1" dirty="0" smtClean="0">
                <a:solidFill>
                  <a:srgbClr val="000066"/>
                </a:solidFill>
                <a:ea typeface="幼圆" pitchFamily="49" charset="-122"/>
                <a:cs typeface="Times New Roman" panose="02020603050405020304" pitchFamily="18" charset="0"/>
              </a:rPr>
              <a:t>最大孔隙比；</a:t>
            </a:r>
            <a:endParaRPr kumimoji="1" lang="en-US" altLang="zh-CN" sz="2000" b="1" dirty="0" smtClean="0">
              <a:solidFill>
                <a:srgbClr val="000066"/>
              </a:solidFill>
              <a:ea typeface="幼圆" pitchFamily="49" charset="-122"/>
              <a:cs typeface="Times New Roman" panose="02020603050405020304" pitchFamily="18" charset="0"/>
            </a:endParaRPr>
          </a:p>
          <a:p>
            <a:pPr>
              <a:lnSpc>
                <a:spcPct val="100000"/>
              </a:lnSpc>
              <a:spcBef>
                <a:spcPct val="30000"/>
              </a:spcBef>
              <a:spcAft>
                <a:spcPct val="0"/>
              </a:spcAft>
              <a:buFont typeface="Wingdings" pitchFamily="2" charset="2"/>
              <a:buNone/>
              <a:tabLst>
                <a:tab pos="808038" algn="l"/>
              </a:tabLst>
            </a:pPr>
            <a:r>
              <a:rPr kumimoji="1" lang="en-US" altLang="zh-CN" sz="2000" b="1" i="1" dirty="0">
                <a:solidFill>
                  <a:srgbClr val="000066"/>
                </a:solidFill>
                <a:ea typeface="幼圆" pitchFamily="49" charset="-122"/>
                <a:cs typeface="Times New Roman" panose="02020603050405020304" pitchFamily="18" charset="0"/>
              </a:rPr>
              <a:t>	</a:t>
            </a:r>
            <a:r>
              <a:rPr kumimoji="1" lang="en-US" altLang="zh-CN" sz="2000" b="1" i="1" dirty="0" err="1" smtClean="0">
                <a:solidFill>
                  <a:srgbClr val="000066"/>
                </a:solidFill>
                <a:ea typeface="幼圆" pitchFamily="49" charset="-122"/>
                <a:cs typeface="Times New Roman" panose="02020603050405020304" pitchFamily="18" charset="0"/>
              </a:rPr>
              <a:t>e</a:t>
            </a:r>
            <a:r>
              <a:rPr kumimoji="1" lang="en-US" altLang="zh-CN" sz="2000" b="1" baseline="-25000" dirty="0" err="1" smtClean="0">
                <a:solidFill>
                  <a:srgbClr val="000066"/>
                </a:solidFill>
                <a:ea typeface="幼圆" pitchFamily="49" charset="-122"/>
                <a:cs typeface="Times New Roman" panose="02020603050405020304" pitchFamily="18" charset="0"/>
              </a:rPr>
              <a:t>min</a:t>
            </a:r>
            <a:r>
              <a:rPr kumimoji="1" lang="en-US" altLang="zh-CN" sz="2000" b="1" baseline="-25000" dirty="0" smtClean="0">
                <a:solidFill>
                  <a:srgbClr val="000066"/>
                </a:solidFill>
                <a:ea typeface="幼圆" pitchFamily="49" charset="-122"/>
                <a:cs typeface="Times New Roman" panose="02020603050405020304" pitchFamily="18" charset="0"/>
              </a:rPr>
              <a:t> </a:t>
            </a:r>
            <a:r>
              <a:rPr kumimoji="1" lang="zh-CN" altLang="en-US" sz="2000" b="1" dirty="0" smtClean="0">
                <a:solidFill>
                  <a:srgbClr val="000066"/>
                </a:solidFill>
                <a:ea typeface="幼圆" pitchFamily="49" charset="-122"/>
                <a:cs typeface="Times New Roman" panose="02020603050405020304" pitchFamily="18" charset="0"/>
              </a:rPr>
              <a:t>为该种土体的最小孔隙比。</a:t>
            </a:r>
            <a:endParaRPr kumimoji="1" lang="en-US" altLang="zh-CN" sz="2000" b="1" dirty="0">
              <a:solidFill>
                <a:srgbClr val="000066"/>
              </a:solidFill>
              <a:ea typeface="幼圆" pitchFamily="49" charset="-122"/>
              <a:cs typeface="Times New Roman" panose="02020603050405020304" pitchFamily="18" charset="0"/>
            </a:endParaRPr>
          </a:p>
        </p:txBody>
      </p:sp>
      <p:sp>
        <p:nvSpPr>
          <p:cNvPr id="8" name="Text Box 8"/>
          <p:cNvSpPr txBox="1">
            <a:spLocks noChangeArrowheads="1"/>
          </p:cNvSpPr>
          <p:nvPr/>
        </p:nvSpPr>
        <p:spPr bwMode="auto">
          <a:xfrm>
            <a:off x="2296634" y="4090782"/>
            <a:ext cx="595423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zh-CN" altLang="en-US" sz="2400" b="1" dirty="0">
                <a:solidFill>
                  <a:srgbClr val="000066"/>
                </a:solidFill>
                <a:ea typeface="幼圆" pitchFamily="49" charset="-122"/>
                <a:cs typeface="Times New Roman" panose="02020603050405020304" pitchFamily="18" charset="0"/>
              </a:rPr>
              <a:t>相对密度</a:t>
            </a:r>
            <a:r>
              <a:rPr kumimoji="1" lang="en-US" altLang="zh-CN" sz="2400" b="1" i="1" dirty="0" err="1">
                <a:solidFill>
                  <a:srgbClr val="000066"/>
                </a:solidFill>
                <a:ea typeface="幼圆" pitchFamily="49" charset="-122"/>
                <a:cs typeface="Times New Roman" panose="02020603050405020304" pitchFamily="18" charset="0"/>
              </a:rPr>
              <a:t>D</a:t>
            </a:r>
            <a:r>
              <a:rPr kumimoji="1" lang="en-US" altLang="zh-CN" sz="2400" b="1" baseline="-25000" dirty="0" err="1">
                <a:solidFill>
                  <a:srgbClr val="000066"/>
                </a:solidFill>
                <a:ea typeface="幼圆" pitchFamily="49" charset="-122"/>
                <a:cs typeface="Times New Roman" panose="02020603050405020304" pitchFamily="18" charset="0"/>
              </a:rPr>
              <a:t>r</a:t>
            </a:r>
            <a:r>
              <a:rPr kumimoji="1" lang="zh-CN" altLang="en-US" sz="2400" b="1" dirty="0" smtClean="0">
                <a:solidFill>
                  <a:srgbClr val="000066"/>
                </a:solidFill>
                <a:ea typeface="幼圆" pitchFamily="49" charset="-122"/>
                <a:cs typeface="Times New Roman" panose="02020603050405020304" pitchFamily="18" charset="0"/>
              </a:rPr>
              <a:t>是将现场</a:t>
            </a:r>
            <a:r>
              <a:rPr kumimoji="1" lang="zh-CN" altLang="en-US" sz="2400" b="1" dirty="0">
                <a:solidFill>
                  <a:srgbClr val="000066"/>
                </a:solidFill>
                <a:ea typeface="幼圆" pitchFamily="49" charset="-122"/>
                <a:cs typeface="Times New Roman" panose="02020603050405020304" pitchFamily="18" charset="0"/>
              </a:rPr>
              <a:t>土的孔隙比</a:t>
            </a:r>
            <a:r>
              <a:rPr kumimoji="1" lang="en-US" altLang="zh-CN" sz="2400" b="1" i="1" dirty="0">
                <a:solidFill>
                  <a:srgbClr val="000066"/>
                </a:solidFill>
                <a:ea typeface="幼圆" pitchFamily="49" charset="-122"/>
                <a:cs typeface="Times New Roman" panose="02020603050405020304" pitchFamily="18" charset="0"/>
              </a:rPr>
              <a:t>e</a:t>
            </a:r>
            <a:r>
              <a:rPr kumimoji="1" lang="zh-CN" altLang="en-US" sz="2400" b="1" dirty="0">
                <a:solidFill>
                  <a:srgbClr val="000066"/>
                </a:solidFill>
                <a:ea typeface="幼圆" pitchFamily="49" charset="-122"/>
                <a:cs typeface="Times New Roman" panose="02020603050405020304" pitchFamily="18" charset="0"/>
              </a:rPr>
              <a:t>与该种土所能</a:t>
            </a:r>
            <a:r>
              <a:rPr kumimoji="1" lang="zh-CN" altLang="en-US" sz="2400" b="1" dirty="0" smtClean="0">
                <a:solidFill>
                  <a:srgbClr val="000066"/>
                </a:solidFill>
                <a:ea typeface="幼圆" pitchFamily="49" charset="-122"/>
                <a:cs typeface="Times New Roman" panose="02020603050405020304" pitchFamily="18" charset="0"/>
              </a:rPr>
              <a:t>达到的最密实状态的</a:t>
            </a:r>
            <a:r>
              <a:rPr kumimoji="1" lang="zh-CN" altLang="en-US" sz="2400" b="1" dirty="0">
                <a:solidFill>
                  <a:srgbClr val="000066"/>
                </a:solidFill>
                <a:ea typeface="幼圆" pitchFamily="49" charset="-122"/>
                <a:cs typeface="Times New Roman" panose="02020603050405020304" pitchFamily="18" charset="0"/>
              </a:rPr>
              <a:t>孔隙比</a:t>
            </a:r>
            <a:r>
              <a:rPr kumimoji="1" lang="en-US" altLang="zh-CN" sz="2400" b="1" i="1" dirty="0" err="1">
                <a:solidFill>
                  <a:srgbClr val="000066"/>
                </a:solidFill>
                <a:ea typeface="幼圆" pitchFamily="49" charset="-122"/>
                <a:cs typeface="Times New Roman" panose="02020603050405020304" pitchFamily="18" charset="0"/>
              </a:rPr>
              <a:t>e</a:t>
            </a:r>
            <a:r>
              <a:rPr kumimoji="1" lang="en-US" altLang="zh-CN" sz="2400" b="1" baseline="-25000" dirty="0" err="1">
                <a:solidFill>
                  <a:srgbClr val="000066"/>
                </a:solidFill>
                <a:ea typeface="幼圆" pitchFamily="49" charset="-122"/>
                <a:cs typeface="Times New Roman" panose="02020603050405020304" pitchFamily="18" charset="0"/>
              </a:rPr>
              <a:t>min</a:t>
            </a:r>
            <a:r>
              <a:rPr kumimoji="1" lang="zh-CN" altLang="en-US" sz="2400" b="1" dirty="0">
                <a:solidFill>
                  <a:srgbClr val="000066"/>
                </a:solidFill>
                <a:ea typeface="幼圆" pitchFamily="49" charset="-122"/>
                <a:cs typeface="Times New Roman" panose="02020603050405020304" pitchFamily="18" charset="0"/>
              </a:rPr>
              <a:t>，和</a:t>
            </a:r>
            <a:r>
              <a:rPr kumimoji="1" lang="zh-CN" altLang="en-US" sz="2400" b="1" dirty="0" smtClean="0">
                <a:solidFill>
                  <a:srgbClr val="000066"/>
                </a:solidFill>
                <a:ea typeface="幼圆" pitchFamily="49" charset="-122"/>
                <a:cs typeface="Times New Roman" panose="02020603050405020304" pitchFamily="18" charset="0"/>
              </a:rPr>
              <a:t>最疏松状态的</a:t>
            </a:r>
            <a:r>
              <a:rPr kumimoji="1" lang="zh-CN" altLang="en-US" sz="2400" b="1" dirty="0">
                <a:solidFill>
                  <a:srgbClr val="000066"/>
                </a:solidFill>
                <a:ea typeface="幼圆" pitchFamily="49" charset="-122"/>
                <a:cs typeface="Times New Roman" panose="02020603050405020304" pitchFamily="18" charset="0"/>
              </a:rPr>
              <a:t>孔隙比</a:t>
            </a:r>
            <a:r>
              <a:rPr kumimoji="1" lang="en-US" altLang="zh-CN" sz="2400" b="1" i="1" dirty="0" err="1" smtClean="0">
                <a:solidFill>
                  <a:srgbClr val="000066"/>
                </a:solidFill>
                <a:ea typeface="幼圆" pitchFamily="49" charset="-122"/>
                <a:cs typeface="Times New Roman" panose="02020603050405020304" pitchFamily="18" charset="0"/>
              </a:rPr>
              <a:t>e</a:t>
            </a:r>
            <a:r>
              <a:rPr kumimoji="1" lang="en-US" altLang="zh-CN" sz="2400" b="1" baseline="-25000" dirty="0" err="1" smtClean="0">
                <a:solidFill>
                  <a:srgbClr val="000066"/>
                </a:solidFill>
                <a:ea typeface="幼圆" pitchFamily="49" charset="-122"/>
                <a:cs typeface="Times New Roman" panose="02020603050405020304" pitchFamily="18" charset="0"/>
              </a:rPr>
              <a:t>max</a:t>
            </a:r>
            <a:r>
              <a:rPr kumimoji="1" lang="zh-CN" altLang="en-US" sz="2400" b="1" dirty="0" smtClean="0">
                <a:solidFill>
                  <a:srgbClr val="000066"/>
                </a:solidFill>
                <a:ea typeface="幼圆" pitchFamily="49" charset="-122"/>
                <a:cs typeface="Times New Roman" panose="02020603050405020304" pitchFamily="18" charset="0"/>
              </a:rPr>
              <a:t>来进行比较的</a:t>
            </a:r>
            <a:endParaRPr kumimoji="1" lang="zh-CN" altLang="en-US" sz="2400" b="1" dirty="0">
              <a:solidFill>
                <a:srgbClr val="000066"/>
              </a:solidFill>
              <a:ea typeface="幼圆" pitchFamily="49" charset="-122"/>
              <a:cs typeface="Times New Roman" panose="02020603050405020304" pitchFamily="18" charset="0"/>
            </a:endParaRPr>
          </a:p>
        </p:txBody>
      </p:sp>
      <p:sp>
        <p:nvSpPr>
          <p:cNvPr id="9" name="AutoShape 62"/>
          <p:cNvSpPr>
            <a:spLocks noChangeArrowheads="1"/>
          </p:cNvSpPr>
          <p:nvPr/>
        </p:nvSpPr>
        <p:spPr bwMode="auto">
          <a:xfrm>
            <a:off x="1471570" y="4108730"/>
            <a:ext cx="563563" cy="381000"/>
          </a:xfrm>
          <a:prstGeom prst="homePlate">
            <a:avLst>
              <a:gd name="adj" fmla="val 36979"/>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Tree>
    <p:extLst>
      <p:ext uri="{BB962C8B-B14F-4D97-AF65-F5344CB8AC3E}">
        <p14:creationId xmlns:p14="http://schemas.microsoft.com/office/powerpoint/2010/main" val="1238747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95721"/>
                                        </p:tgtEl>
                                        <p:attrNameLst>
                                          <p:attrName>style.visibility</p:attrName>
                                        </p:attrNameLst>
                                      </p:cBhvr>
                                      <p:to>
                                        <p:strVal val="visible"/>
                                      </p:to>
                                    </p:set>
                                    <p:anim calcmode="lin" valueType="num">
                                      <p:cBhvr additive="base">
                                        <p:cTn id="7" dur="1000" fill="hold"/>
                                        <p:tgtEl>
                                          <p:spTgt spid="1395721"/>
                                        </p:tgtEl>
                                        <p:attrNameLst>
                                          <p:attrName>ppt_x</p:attrName>
                                        </p:attrNameLst>
                                      </p:cBhvr>
                                      <p:tavLst>
                                        <p:tav tm="0">
                                          <p:val>
                                            <p:strVal val="0-#ppt_w/2"/>
                                          </p:val>
                                        </p:tav>
                                        <p:tav tm="100000">
                                          <p:val>
                                            <p:strVal val="#ppt_x"/>
                                          </p:val>
                                        </p:tav>
                                      </p:tavLst>
                                    </p:anim>
                                    <p:anim calcmode="lin" valueType="num">
                                      <p:cBhvr additive="base">
                                        <p:cTn id="8" dur="1000" fill="hold"/>
                                        <p:tgtEl>
                                          <p:spTgt spid="1395721"/>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wipe(left)">
                                      <p:cBhvr>
                                        <p:cTn id="12" dur="1000"/>
                                        <p:tgtEl>
                                          <p:spTgt spid="56"/>
                                        </p:tgtEl>
                                      </p:cBhvr>
                                    </p:animEffect>
                                  </p:childTnLst>
                                </p:cTn>
                              </p:par>
                            </p:childTnLst>
                          </p:cTn>
                        </p:par>
                        <p:par>
                          <p:cTn id="13" fill="hold">
                            <p:stCondLst>
                              <p:cond delay="2000"/>
                            </p:stCondLst>
                            <p:childTnLst>
                              <p:par>
                                <p:cTn id="14" presetID="22" presetClass="entr" presetSubtype="8" fill="hold" grpId="0" nodeType="after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wipe(left)">
                                      <p:cBhvr>
                                        <p:cTn id="16" dur="1000"/>
                                        <p:tgtEl>
                                          <p:spTgt spid="5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1000"/>
                                        <p:tgtEl>
                                          <p:spTgt spid="9"/>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5721" grpId="0"/>
      <p:bldP spid="57" grpId="0"/>
      <p:bldP spid="8" grpId="0"/>
      <p:bldP spid="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6744" name="AutoShape 8"/>
          <p:cNvSpPr>
            <a:spLocks noChangeArrowheads="1"/>
          </p:cNvSpPr>
          <p:nvPr/>
        </p:nvSpPr>
        <p:spPr bwMode="auto">
          <a:xfrm>
            <a:off x="933450" y="830263"/>
            <a:ext cx="7427913" cy="3411998"/>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p>
            <a:pPr marL="533400" indent="-533400">
              <a:lnSpc>
                <a:spcPct val="110000"/>
              </a:lnSpc>
              <a:spcBef>
                <a:spcPct val="20000"/>
              </a:spcBef>
              <a:spcAft>
                <a:spcPct val="20000"/>
              </a:spcAft>
              <a:buSzPct val="135000"/>
              <a:buFont typeface="Wingdings" pitchFamily="2" charset="2"/>
              <a:buChar char="F"/>
            </a:pPr>
            <a:r>
              <a:rPr kumimoji="1" lang="zh-CN" altLang="en-US" sz="2400" b="1" dirty="0">
                <a:solidFill>
                  <a:srgbClr val="800000"/>
                </a:solidFill>
                <a:ea typeface="幼圆" pitchFamily="49" charset="-122"/>
                <a:cs typeface="Times New Roman" panose="02020603050405020304" pitchFamily="18" charset="0"/>
              </a:rPr>
              <a:t>最大孔隙比</a:t>
            </a:r>
            <a:r>
              <a:rPr kumimoji="1" lang="en-US" altLang="zh-CN" sz="2400" b="1" i="1" dirty="0" err="1">
                <a:solidFill>
                  <a:srgbClr val="800000"/>
                </a:solidFill>
                <a:ea typeface="幼圆" pitchFamily="49" charset="-122"/>
                <a:cs typeface="Times New Roman" panose="02020603050405020304" pitchFamily="18" charset="0"/>
              </a:rPr>
              <a:t>e</a:t>
            </a:r>
            <a:r>
              <a:rPr kumimoji="1" lang="en-US" altLang="zh-CN" sz="2400" b="1" baseline="-25000" dirty="0" err="1">
                <a:solidFill>
                  <a:srgbClr val="800000"/>
                </a:solidFill>
                <a:ea typeface="幼圆" pitchFamily="49" charset="-122"/>
                <a:cs typeface="Times New Roman" panose="02020603050405020304" pitchFamily="18" charset="0"/>
              </a:rPr>
              <a:t>max</a:t>
            </a:r>
            <a:r>
              <a:rPr kumimoji="1" lang="en-US" altLang="zh-CN" sz="2400" b="1" dirty="0">
                <a:solidFill>
                  <a:srgbClr val="800000"/>
                </a:solidFill>
                <a:ea typeface="幼圆" pitchFamily="49" charset="-122"/>
                <a:cs typeface="Times New Roman" panose="02020603050405020304" pitchFamily="18" charset="0"/>
              </a:rPr>
              <a:t>:</a:t>
            </a:r>
            <a:r>
              <a:rPr kumimoji="1" lang="en-US" altLang="zh-CN" sz="2400" b="1" dirty="0">
                <a:solidFill>
                  <a:srgbClr val="000066"/>
                </a:solidFill>
                <a:ea typeface="幼圆" pitchFamily="49" charset="-122"/>
                <a:cs typeface="Times New Roman" panose="02020603050405020304" pitchFamily="18" charset="0"/>
              </a:rPr>
              <a:t> </a:t>
            </a:r>
            <a:r>
              <a:rPr kumimoji="1" lang="zh-CN" altLang="en-US" sz="2400" b="1" dirty="0">
                <a:solidFill>
                  <a:srgbClr val="000066"/>
                </a:solidFill>
                <a:ea typeface="幼圆" pitchFamily="49" charset="-122"/>
                <a:cs typeface="Times New Roman" panose="02020603050405020304" pitchFamily="18" charset="0"/>
              </a:rPr>
              <a:t>将松散的风干土样通过长颈漏斗轻轻地倒入容器，避免重力冲击，求得土的最小干密度再经换算得到最大孔隙比</a:t>
            </a:r>
          </a:p>
          <a:p>
            <a:pPr marL="533400" indent="-533400">
              <a:lnSpc>
                <a:spcPct val="110000"/>
              </a:lnSpc>
              <a:spcBef>
                <a:spcPct val="20000"/>
              </a:spcBef>
              <a:spcAft>
                <a:spcPct val="20000"/>
              </a:spcAft>
              <a:buSzPct val="135000"/>
              <a:buFont typeface="Wingdings" pitchFamily="2" charset="2"/>
              <a:buChar char="F"/>
            </a:pPr>
            <a:r>
              <a:rPr kumimoji="1" lang="zh-CN" altLang="en-US" sz="2400" b="1" dirty="0">
                <a:solidFill>
                  <a:srgbClr val="800000"/>
                </a:solidFill>
                <a:ea typeface="幼圆" pitchFamily="49" charset="-122"/>
                <a:cs typeface="Times New Roman" panose="02020603050405020304" pitchFamily="18" charset="0"/>
              </a:rPr>
              <a:t>最小孔隙比</a:t>
            </a:r>
            <a:r>
              <a:rPr kumimoji="1" lang="en-US" altLang="zh-CN" sz="2400" b="1" i="1" dirty="0" err="1">
                <a:solidFill>
                  <a:srgbClr val="800000"/>
                </a:solidFill>
                <a:ea typeface="幼圆" pitchFamily="49" charset="-122"/>
                <a:cs typeface="Times New Roman" panose="02020603050405020304" pitchFamily="18" charset="0"/>
              </a:rPr>
              <a:t>e</a:t>
            </a:r>
            <a:r>
              <a:rPr kumimoji="1" lang="en-US" altLang="zh-CN" sz="2400" b="1" baseline="-25000" dirty="0" err="1">
                <a:solidFill>
                  <a:srgbClr val="800000"/>
                </a:solidFill>
                <a:ea typeface="幼圆" pitchFamily="49" charset="-122"/>
                <a:cs typeface="Times New Roman" panose="02020603050405020304" pitchFamily="18" charset="0"/>
              </a:rPr>
              <a:t>min</a:t>
            </a:r>
            <a:r>
              <a:rPr kumimoji="1" lang="zh-CN" altLang="en-US" sz="2400" b="1" dirty="0">
                <a:solidFill>
                  <a:srgbClr val="800000"/>
                </a:solidFill>
                <a:ea typeface="幼圆" pitchFamily="49" charset="-122"/>
                <a:cs typeface="Times New Roman" panose="02020603050405020304" pitchFamily="18" charset="0"/>
              </a:rPr>
              <a:t> </a:t>
            </a:r>
            <a:r>
              <a:rPr kumimoji="1" lang="en-US" altLang="zh-CN" sz="2400" b="1" dirty="0">
                <a:solidFill>
                  <a:srgbClr val="800000"/>
                </a:solidFill>
                <a:ea typeface="幼圆" pitchFamily="49" charset="-122"/>
                <a:cs typeface="Times New Roman" panose="02020603050405020304" pitchFamily="18" charset="0"/>
              </a:rPr>
              <a:t>:</a:t>
            </a:r>
            <a:r>
              <a:rPr kumimoji="1" lang="zh-CN" altLang="en-US" sz="2400" b="1" dirty="0">
                <a:solidFill>
                  <a:srgbClr val="000066"/>
                </a:solidFill>
                <a:ea typeface="幼圆" pitchFamily="49" charset="-122"/>
                <a:cs typeface="Times New Roman" panose="02020603050405020304" pitchFamily="18" charset="0"/>
              </a:rPr>
              <a:t> 将松散的风干土样装入金属容器内，按规定方法振动和锤击，直至密度不再提高，求得土的最大干密度再经换算得到最小孔隙比</a:t>
            </a:r>
            <a:endParaRPr kumimoji="1" lang="en-US" altLang="zh-CN" sz="2400" b="1" dirty="0">
              <a:solidFill>
                <a:srgbClr val="000066"/>
              </a:solidFill>
              <a:ea typeface="幼圆" pitchFamily="49" charset="-122"/>
              <a:cs typeface="Times New Roman" panose="02020603050405020304" pitchFamily="18" charset="0"/>
            </a:endParaRPr>
          </a:p>
        </p:txBody>
      </p:sp>
      <p:sp>
        <p:nvSpPr>
          <p:cNvPr id="1396745" name="Rectangle 9"/>
          <p:cNvSpPr>
            <a:spLocks noChangeArrowheads="1"/>
          </p:cNvSpPr>
          <p:nvPr/>
        </p:nvSpPr>
        <p:spPr bwMode="auto">
          <a:xfrm>
            <a:off x="3295650" y="4295775"/>
            <a:ext cx="39306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buFont typeface="Wingdings" pitchFamily="2" charset="2"/>
              <a:buNone/>
            </a:pPr>
            <a:r>
              <a:rPr kumimoji="1" lang="zh-CN" altLang="en-US" sz="2400" b="1" dirty="0">
                <a:solidFill>
                  <a:srgbClr val="000066"/>
                </a:solidFill>
                <a:latin typeface="幼圆" pitchFamily="49" charset="-122"/>
                <a:ea typeface="幼圆" pitchFamily="49" charset="-122"/>
              </a:rPr>
              <a:t>理论上的最大与最小孔隙比在室内的测定有时很困难</a:t>
            </a:r>
            <a:endParaRPr kumimoji="1" lang="en-US" altLang="zh-CN" sz="2400" b="1" dirty="0">
              <a:solidFill>
                <a:srgbClr val="000066"/>
              </a:solidFill>
              <a:latin typeface="幼圆" pitchFamily="49" charset="-122"/>
              <a:ea typeface="幼圆" pitchFamily="49" charset="-122"/>
            </a:endParaRPr>
          </a:p>
        </p:txBody>
      </p:sp>
      <p:sp>
        <p:nvSpPr>
          <p:cNvPr id="70661" name="Rectangle 10"/>
          <p:cNvSpPr>
            <a:spLocks noChangeArrowheads="1"/>
          </p:cNvSpPr>
          <p:nvPr/>
        </p:nvSpPr>
        <p:spPr bwMode="auto">
          <a:xfrm>
            <a:off x="2076450" y="5672138"/>
            <a:ext cx="63817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25000"/>
              </a:spcBef>
              <a:spcAft>
                <a:spcPct val="0"/>
              </a:spcAft>
              <a:buFont typeface="Wingdings" pitchFamily="2" charset="2"/>
              <a:buNone/>
            </a:pPr>
            <a:r>
              <a:rPr kumimoji="1" lang="zh-CN" altLang="en-US" sz="4000" b="1" dirty="0">
                <a:solidFill>
                  <a:srgbClr val="000066"/>
                </a:solidFill>
                <a:ea typeface="黑体" pitchFamily="2" charset="-122"/>
              </a:rPr>
              <a:t>粗粒土的最大与最小孔隙比</a:t>
            </a:r>
          </a:p>
        </p:txBody>
      </p:sp>
      <p:sp>
        <p:nvSpPr>
          <p:cNvPr id="1396747" name="AutoShape 11"/>
          <p:cNvSpPr>
            <a:spLocks noChangeArrowheads="1"/>
          </p:cNvSpPr>
          <p:nvPr/>
        </p:nvSpPr>
        <p:spPr bwMode="auto">
          <a:xfrm>
            <a:off x="2576513" y="4395788"/>
            <a:ext cx="563562" cy="381000"/>
          </a:xfrm>
          <a:prstGeom prst="homePlate">
            <a:avLst>
              <a:gd name="adj" fmla="val 36979"/>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7"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342195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396744">
                                            <p:txEl>
                                              <p:pRg st="0" end="0"/>
                                            </p:txEl>
                                          </p:spTgt>
                                        </p:tgtEl>
                                        <p:attrNameLst>
                                          <p:attrName>style.visibility</p:attrName>
                                        </p:attrNameLst>
                                      </p:cBhvr>
                                      <p:to>
                                        <p:strVal val="visible"/>
                                      </p:to>
                                    </p:set>
                                    <p:animEffect transition="in" filter="fade">
                                      <p:cBhvr>
                                        <p:cTn id="7" dur="1000"/>
                                        <p:tgtEl>
                                          <p:spTgt spid="1396744">
                                            <p:txEl>
                                              <p:pRg st="0" end="0"/>
                                            </p:txEl>
                                          </p:spTgt>
                                        </p:tgtEl>
                                      </p:cBhvr>
                                    </p:animEffect>
                                    <p:anim calcmode="lin" valueType="num">
                                      <p:cBhvr>
                                        <p:cTn id="8" dur="1000" fill="hold"/>
                                        <p:tgtEl>
                                          <p:spTgt spid="139674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9674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1396744">
                                            <p:txEl>
                                              <p:pRg st="1" end="1"/>
                                            </p:txEl>
                                          </p:spTgt>
                                        </p:tgtEl>
                                        <p:attrNameLst>
                                          <p:attrName>style.visibility</p:attrName>
                                        </p:attrNameLst>
                                      </p:cBhvr>
                                      <p:to>
                                        <p:strVal val="visible"/>
                                      </p:to>
                                    </p:set>
                                    <p:animEffect transition="in" filter="fade">
                                      <p:cBhvr>
                                        <p:cTn id="14" dur="1000"/>
                                        <p:tgtEl>
                                          <p:spTgt spid="1396744">
                                            <p:txEl>
                                              <p:pRg st="1" end="1"/>
                                            </p:txEl>
                                          </p:spTgt>
                                        </p:tgtEl>
                                      </p:cBhvr>
                                    </p:animEffect>
                                    <p:anim calcmode="lin" valueType="num">
                                      <p:cBhvr>
                                        <p:cTn id="15" dur="1000" fill="hold"/>
                                        <p:tgtEl>
                                          <p:spTgt spid="139674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39674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96747"/>
                                        </p:tgtEl>
                                        <p:attrNameLst>
                                          <p:attrName>style.visibility</p:attrName>
                                        </p:attrNameLst>
                                      </p:cBhvr>
                                      <p:to>
                                        <p:strVal val="visible"/>
                                      </p:to>
                                    </p:set>
                                    <p:animEffect transition="in" filter="wipe(left)">
                                      <p:cBhvr>
                                        <p:cTn id="21" dur="1000"/>
                                        <p:tgtEl>
                                          <p:spTgt spid="1396747"/>
                                        </p:tgtEl>
                                      </p:cBhvr>
                                    </p:animEffect>
                                  </p:childTnLst>
                                </p:cTn>
                              </p:par>
                            </p:childTnLst>
                          </p:cTn>
                        </p:par>
                        <p:par>
                          <p:cTn id="22" fill="hold" nodeType="afterGroup">
                            <p:stCondLst>
                              <p:cond delay="1000"/>
                            </p:stCondLst>
                            <p:childTnLst>
                              <p:par>
                                <p:cTn id="23" presetID="47" presetClass="entr" presetSubtype="0" fill="hold" grpId="0" nodeType="afterEffect">
                                  <p:stCondLst>
                                    <p:cond delay="0"/>
                                  </p:stCondLst>
                                  <p:childTnLst>
                                    <p:set>
                                      <p:cBhvr>
                                        <p:cTn id="24" dur="1" fill="hold">
                                          <p:stCondLst>
                                            <p:cond delay="0"/>
                                          </p:stCondLst>
                                        </p:cTn>
                                        <p:tgtEl>
                                          <p:spTgt spid="1396745"/>
                                        </p:tgtEl>
                                        <p:attrNameLst>
                                          <p:attrName>style.visibility</p:attrName>
                                        </p:attrNameLst>
                                      </p:cBhvr>
                                      <p:to>
                                        <p:strVal val="visible"/>
                                      </p:to>
                                    </p:set>
                                    <p:animEffect transition="in" filter="fade">
                                      <p:cBhvr>
                                        <p:cTn id="25" dur="1000"/>
                                        <p:tgtEl>
                                          <p:spTgt spid="1396745"/>
                                        </p:tgtEl>
                                      </p:cBhvr>
                                    </p:animEffect>
                                    <p:anim calcmode="lin" valueType="num">
                                      <p:cBhvr>
                                        <p:cTn id="26" dur="1000" fill="hold"/>
                                        <p:tgtEl>
                                          <p:spTgt spid="1396745"/>
                                        </p:tgtEl>
                                        <p:attrNameLst>
                                          <p:attrName>ppt_x</p:attrName>
                                        </p:attrNameLst>
                                      </p:cBhvr>
                                      <p:tavLst>
                                        <p:tav tm="0">
                                          <p:val>
                                            <p:strVal val="#ppt_x"/>
                                          </p:val>
                                        </p:tav>
                                        <p:tav tm="100000">
                                          <p:val>
                                            <p:strVal val="#ppt_x"/>
                                          </p:val>
                                        </p:tav>
                                      </p:tavLst>
                                    </p:anim>
                                    <p:anim calcmode="lin" valueType="num">
                                      <p:cBhvr>
                                        <p:cTn id="27" dur="1000" fill="hold"/>
                                        <p:tgtEl>
                                          <p:spTgt spid="13967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6744" grpId="0" build="p" advAuto="4000"/>
      <p:bldP spid="1396745" grpId="0"/>
      <p:bldP spid="139674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9" name="AutoShape 8"/>
          <p:cNvSpPr>
            <a:spLocks noChangeArrowheads="1"/>
          </p:cNvSpPr>
          <p:nvPr/>
        </p:nvSpPr>
        <p:spPr bwMode="auto">
          <a:xfrm>
            <a:off x="692150" y="1054101"/>
            <a:ext cx="2066925" cy="473076"/>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p>
            <a:pPr marL="457200" indent="-457200">
              <a:lnSpc>
                <a:spcPct val="100000"/>
              </a:lnSpc>
              <a:spcBef>
                <a:spcPct val="0"/>
              </a:spcBef>
              <a:spcAft>
                <a:spcPct val="0"/>
              </a:spcAft>
              <a:buSzPct val="135000"/>
              <a:buFont typeface="Wingdings" panose="05000000000000000000" pitchFamily="2" charset="2"/>
              <a:buChar char="F"/>
            </a:pPr>
            <a:r>
              <a:rPr kumimoji="1" lang="zh-CN" altLang="en-US" sz="2800" b="1" dirty="0">
                <a:solidFill>
                  <a:srgbClr val="800000"/>
                </a:solidFill>
                <a:latin typeface="Arial" charset="0"/>
                <a:ea typeface="幼圆" pitchFamily="49" charset="-122"/>
              </a:rPr>
              <a:t> 相对密度</a:t>
            </a:r>
          </a:p>
        </p:txBody>
      </p:sp>
      <p:graphicFrame>
        <p:nvGraphicFramePr>
          <p:cNvPr id="12290" name="Object 9"/>
          <p:cNvGraphicFramePr>
            <a:graphicFrameLocks noChangeAspect="1"/>
          </p:cNvGraphicFramePr>
          <p:nvPr>
            <p:extLst>
              <p:ext uri="{D42A27DB-BD31-4B8C-83A1-F6EECF244321}">
                <p14:modId xmlns:p14="http://schemas.microsoft.com/office/powerpoint/2010/main" val="1227974410"/>
              </p:ext>
            </p:extLst>
          </p:nvPr>
        </p:nvGraphicFramePr>
        <p:xfrm>
          <a:off x="3100425" y="858837"/>
          <a:ext cx="1941513" cy="847726"/>
        </p:xfrm>
        <a:graphic>
          <a:graphicData uri="http://schemas.openxmlformats.org/presentationml/2006/ole">
            <mc:AlternateContent xmlns:mc="http://schemas.openxmlformats.org/markup-compatibility/2006">
              <mc:Choice xmlns:v="urn:schemas-microsoft-com:vml" Requires="v">
                <p:oleObj spid="_x0000_s62688" name="公式" r:id="rId4" imgW="1015920" imgH="444240" progId="Equation.3">
                  <p:embed/>
                </p:oleObj>
              </mc:Choice>
              <mc:Fallback>
                <p:oleObj name="公式" r:id="rId4" imgW="1015920" imgH="444240" progId="Equation.3">
                  <p:embed/>
                  <p:pic>
                    <p:nvPicPr>
                      <p:cNvPr id="0" name=""/>
                      <p:cNvPicPr>
                        <a:picLocks noChangeAspect="1" noChangeArrowheads="1"/>
                      </p:cNvPicPr>
                      <p:nvPr/>
                    </p:nvPicPr>
                    <p:blipFill>
                      <a:blip r:embed="rId5"/>
                      <a:srcRect/>
                      <a:stretch>
                        <a:fillRect/>
                      </a:stretch>
                    </p:blipFill>
                    <p:spPr bwMode="auto">
                      <a:xfrm>
                        <a:off x="3100425" y="858837"/>
                        <a:ext cx="1941513" cy="847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1" name="Object 10"/>
          <p:cNvGraphicFramePr>
            <a:graphicFrameLocks noChangeAspect="1"/>
          </p:cNvGraphicFramePr>
          <p:nvPr>
            <p:extLst>
              <p:ext uri="{D42A27DB-BD31-4B8C-83A1-F6EECF244321}">
                <p14:modId xmlns:p14="http://schemas.microsoft.com/office/powerpoint/2010/main" val="1046773127"/>
              </p:ext>
            </p:extLst>
          </p:nvPr>
        </p:nvGraphicFramePr>
        <p:xfrm>
          <a:off x="2921112" y="2010330"/>
          <a:ext cx="2727325" cy="854076"/>
        </p:xfrm>
        <a:graphic>
          <a:graphicData uri="http://schemas.openxmlformats.org/presentationml/2006/ole">
            <mc:AlternateContent xmlns:mc="http://schemas.openxmlformats.org/markup-compatibility/2006">
              <mc:Choice xmlns:v="urn:schemas-microsoft-com:vml" Requires="v">
                <p:oleObj spid="_x0000_s62689" name="公式" r:id="rId6" imgW="1422360" imgH="444240" progId="Equation.3">
                  <p:embed/>
                </p:oleObj>
              </mc:Choice>
              <mc:Fallback>
                <p:oleObj name="公式" r:id="rId6" imgW="1422360" imgH="444240" progId="Equation.3">
                  <p:embed/>
                  <p:pic>
                    <p:nvPicPr>
                      <p:cNvPr id="0" name=""/>
                      <p:cNvPicPr>
                        <a:picLocks noChangeAspect="1" noChangeArrowheads="1"/>
                      </p:cNvPicPr>
                      <p:nvPr/>
                    </p:nvPicPr>
                    <p:blipFill>
                      <a:blip r:embed="rId7"/>
                      <a:srcRect/>
                      <a:stretch>
                        <a:fillRect/>
                      </a:stretch>
                    </p:blipFill>
                    <p:spPr bwMode="auto">
                      <a:xfrm>
                        <a:off x="2921112" y="2010330"/>
                        <a:ext cx="2727325" cy="854076"/>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4" name="Rectangle 11"/>
          <p:cNvSpPr>
            <a:spLocks noChangeArrowheads="1"/>
          </p:cNvSpPr>
          <p:nvPr/>
        </p:nvSpPr>
        <p:spPr bwMode="auto">
          <a:xfrm>
            <a:off x="2740025" y="5748338"/>
            <a:ext cx="43370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25000"/>
              </a:spcBef>
              <a:spcAft>
                <a:spcPct val="0"/>
              </a:spcAft>
              <a:buFont typeface="Wingdings" pitchFamily="2" charset="2"/>
              <a:buNone/>
            </a:pPr>
            <a:r>
              <a:rPr kumimoji="1" lang="zh-CN" altLang="en-US" sz="4000" b="1" dirty="0">
                <a:solidFill>
                  <a:srgbClr val="000066"/>
                </a:solidFill>
                <a:ea typeface="黑体" pitchFamily="2" charset="-122"/>
              </a:rPr>
              <a:t>粗粒土的相对密度</a:t>
            </a:r>
            <a:endParaRPr kumimoji="1" lang="zh-CN" altLang="en-US" sz="4000" b="1" i="1" dirty="0">
              <a:solidFill>
                <a:srgbClr val="000066"/>
              </a:solidFill>
              <a:ea typeface="黑体" pitchFamily="2" charset="-122"/>
              <a:cs typeface="Arial Unicode MS" pitchFamily="34" charset="-122"/>
            </a:endParaRPr>
          </a:p>
        </p:txBody>
      </p:sp>
      <p:sp>
        <p:nvSpPr>
          <p:cNvPr id="12"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3" name="AutoShape 11"/>
          <p:cNvSpPr>
            <a:spLocks noChangeArrowheads="1"/>
          </p:cNvSpPr>
          <p:nvPr/>
        </p:nvSpPr>
        <p:spPr bwMode="auto">
          <a:xfrm>
            <a:off x="1991723" y="2211388"/>
            <a:ext cx="563562" cy="381000"/>
          </a:xfrm>
          <a:prstGeom prst="homePlate">
            <a:avLst>
              <a:gd name="adj" fmla="val 36979"/>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14" name="Rectangle 61"/>
          <p:cNvSpPr>
            <a:spLocks noChangeArrowheads="1"/>
          </p:cNvSpPr>
          <p:nvPr/>
        </p:nvSpPr>
        <p:spPr bwMode="auto">
          <a:xfrm>
            <a:off x="2583712" y="3290910"/>
            <a:ext cx="616688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30000"/>
              </a:spcBef>
              <a:spcAft>
                <a:spcPct val="0"/>
              </a:spcAft>
              <a:buFont typeface="Wingdings" pitchFamily="2" charset="2"/>
              <a:buNone/>
              <a:tabLst>
                <a:tab pos="808038" algn="l"/>
              </a:tabLst>
            </a:pPr>
            <a:r>
              <a:rPr kumimoji="1" lang="zh-CN" altLang="en-US" sz="2000" b="1" dirty="0" smtClean="0">
                <a:solidFill>
                  <a:srgbClr val="000066"/>
                </a:solidFill>
                <a:ea typeface="幼圆" pitchFamily="49" charset="-122"/>
                <a:cs typeface="Times New Roman" panose="02020603050405020304" pitchFamily="18" charset="0"/>
              </a:rPr>
              <a:t>式中，</a:t>
            </a:r>
            <a:r>
              <a:rPr kumimoji="1" lang="zh-CN" altLang="en-US" sz="2000" b="1" i="1" dirty="0" smtClean="0">
                <a:solidFill>
                  <a:srgbClr val="000066"/>
                </a:solidFill>
                <a:ea typeface="幼圆" pitchFamily="49" charset="-122"/>
                <a:cs typeface="Times New Roman" panose="02020603050405020304" pitchFamily="18" charset="0"/>
                <a:sym typeface="Symbol"/>
              </a:rPr>
              <a:t></a:t>
            </a:r>
            <a:r>
              <a:rPr kumimoji="1" lang="en-US" altLang="zh-CN" sz="2000" b="1" dirty="0" smtClean="0">
                <a:solidFill>
                  <a:srgbClr val="000066"/>
                </a:solidFill>
                <a:ea typeface="幼圆" pitchFamily="49" charset="-122"/>
                <a:cs typeface="Times New Roman" panose="02020603050405020304" pitchFamily="18" charset="0"/>
              </a:rPr>
              <a:t>	</a:t>
            </a:r>
            <a:r>
              <a:rPr kumimoji="1" lang="en-US" altLang="zh-CN" sz="2000" b="1" baseline="-25000" dirty="0" smtClean="0">
                <a:solidFill>
                  <a:srgbClr val="000066"/>
                </a:solidFill>
                <a:ea typeface="幼圆" pitchFamily="49" charset="-122"/>
                <a:cs typeface="Times New Roman" panose="02020603050405020304" pitchFamily="18" charset="0"/>
              </a:rPr>
              <a:t>d</a:t>
            </a:r>
            <a:r>
              <a:rPr kumimoji="1" lang="zh-CN" altLang="en-US" sz="2000" b="1" dirty="0" smtClean="0">
                <a:solidFill>
                  <a:srgbClr val="000066"/>
                </a:solidFill>
                <a:ea typeface="幼圆" pitchFamily="49" charset="-122"/>
                <a:cs typeface="Times New Roman" panose="02020603050405020304" pitchFamily="18" charset="0"/>
              </a:rPr>
              <a:t>相当于孔隙比为</a:t>
            </a:r>
            <a:r>
              <a:rPr kumimoji="1" lang="en-US" altLang="zh-CN" sz="2000" b="1" i="1" dirty="0" smtClean="0">
                <a:solidFill>
                  <a:srgbClr val="000066"/>
                </a:solidFill>
                <a:ea typeface="幼圆" pitchFamily="49" charset="-122"/>
                <a:cs typeface="Times New Roman" panose="02020603050405020304" pitchFamily="18" charset="0"/>
              </a:rPr>
              <a:t>e</a:t>
            </a:r>
            <a:r>
              <a:rPr kumimoji="1" lang="zh-CN" altLang="en-US" sz="2000" b="1" dirty="0" smtClean="0">
                <a:solidFill>
                  <a:srgbClr val="000066"/>
                </a:solidFill>
                <a:ea typeface="幼圆" pitchFamily="49" charset="-122"/>
                <a:cs typeface="Times New Roman" panose="02020603050405020304" pitchFamily="18" charset="0"/>
              </a:rPr>
              <a:t>时土体的现场干密度；</a:t>
            </a:r>
            <a:endParaRPr kumimoji="1" lang="en-US" altLang="zh-CN" sz="2000" b="1" dirty="0" smtClean="0">
              <a:solidFill>
                <a:srgbClr val="000066"/>
              </a:solidFill>
              <a:ea typeface="幼圆" pitchFamily="49" charset="-122"/>
              <a:cs typeface="Times New Roman" panose="02020603050405020304" pitchFamily="18" charset="0"/>
            </a:endParaRPr>
          </a:p>
          <a:p>
            <a:pPr>
              <a:lnSpc>
                <a:spcPct val="100000"/>
              </a:lnSpc>
              <a:spcBef>
                <a:spcPct val="30000"/>
              </a:spcBef>
              <a:spcAft>
                <a:spcPct val="0"/>
              </a:spcAft>
              <a:buFont typeface="Wingdings" pitchFamily="2" charset="2"/>
              <a:buNone/>
              <a:tabLst>
                <a:tab pos="808038" algn="l"/>
              </a:tabLst>
            </a:pPr>
            <a:r>
              <a:rPr kumimoji="1" lang="en-US" altLang="zh-CN" sz="2000" b="1" i="1" dirty="0">
                <a:solidFill>
                  <a:srgbClr val="000066"/>
                </a:solidFill>
                <a:ea typeface="幼圆" pitchFamily="49" charset="-122"/>
                <a:cs typeface="Times New Roman" panose="02020603050405020304" pitchFamily="18" charset="0"/>
              </a:rPr>
              <a:t>	</a:t>
            </a:r>
            <a:r>
              <a:rPr kumimoji="1" lang="zh-CN" altLang="en-US" sz="2000" b="1" dirty="0" smtClean="0">
                <a:solidFill>
                  <a:srgbClr val="000066"/>
                </a:solidFill>
                <a:ea typeface="幼圆" pitchFamily="49" charset="-122"/>
                <a:cs typeface="Times New Roman" panose="02020603050405020304" pitchFamily="18" charset="0"/>
                <a:sym typeface="Symbol"/>
              </a:rPr>
              <a:t></a:t>
            </a:r>
            <a:r>
              <a:rPr kumimoji="1" lang="en-US" altLang="zh-CN" sz="2000" b="1" baseline="-25000" dirty="0">
                <a:solidFill>
                  <a:srgbClr val="000066"/>
                </a:solidFill>
                <a:ea typeface="幼圆" pitchFamily="49" charset="-122"/>
                <a:cs typeface="Times New Roman" panose="02020603050405020304" pitchFamily="18" charset="0"/>
              </a:rPr>
              <a:t>max</a:t>
            </a:r>
            <a:r>
              <a:rPr kumimoji="1" lang="zh-CN" altLang="en-US" sz="2000" b="1" dirty="0" smtClean="0">
                <a:solidFill>
                  <a:srgbClr val="000066"/>
                </a:solidFill>
                <a:ea typeface="幼圆" pitchFamily="49" charset="-122"/>
                <a:cs typeface="Times New Roman" panose="02020603050405020304" pitchFamily="18" charset="0"/>
              </a:rPr>
              <a:t>相当于</a:t>
            </a:r>
            <a:r>
              <a:rPr kumimoji="1" lang="zh-CN" altLang="en-US" sz="2000" b="1" dirty="0">
                <a:solidFill>
                  <a:srgbClr val="000066"/>
                </a:solidFill>
                <a:ea typeface="幼圆" pitchFamily="49" charset="-122"/>
                <a:cs typeface="Times New Roman" panose="02020603050405020304" pitchFamily="18" charset="0"/>
              </a:rPr>
              <a:t>孔隙比</a:t>
            </a:r>
            <a:r>
              <a:rPr kumimoji="1" lang="zh-CN" altLang="en-US" sz="2000" b="1" dirty="0" smtClean="0">
                <a:solidFill>
                  <a:srgbClr val="000066"/>
                </a:solidFill>
                <a:ea typeface="幼圆" pitchFamily="49" charset="-122"/>
                <a:cs typeface="Times New Roman" panose="02020603050405020304" pitchFamily="18" charset="0"/>
              </a:rPr>
              <a:t>为</a:t>
            </a:r>
            <a:r>
              <a:rPr kumimoji="1" lang="en-US" altLang="zh-CN" sz="2000" b="1" i="1" dirty="0" err="1" smtClean="0">
                <a:solidFill>
                  <a:srgbClr val="000066"/>
                </a:solidFill>
                <a:ea typeface="幼圆" pitchFamily="49" charset="-122"/>
                <a:cs typeface="Times New Roman" panose="02020603050405020304" pitchFamily="18" charset="0"/>
              </a:rPr>
              <a:t>e</a:t>
            </a:r>
            <a:r>
              <a:rPr kumimoji="1" lang="en-US" altLang="zh-CN" sz="2000" b="1" baseline="-25000" dirty="0" err="1" smtClean="0">
                <a:solidFill>
                  <a:srgbClr val="000066"/>
                </a:solidFill>
                <a:ea typeface="幼圆" pitchFamily="49" charset="-122"/>
                <a:cs typeface="Times New Roman" panose="02020603050405020304" pitchFamily="18" charset="0"/>
              </a:rPr>
              <a:t>min</a:t>
            </a:r>
            <a:r>
              <a:rPr kumimoji="1" lang="zh-CN" altLang="en-US" sz="2000" b="1" dirty="0" smtClean="0">
                <a:solidFill>
                  <a:srgbClr val="000066"/>
                </a:solidFill>
                <a:ea typeface="幼圆" pitchFamily="49" charset="-122"/>
                <a:cs typeface="Times New Roman" panose="02020603050405020304" pitchFamily="18" charset="0"/>
              </a:rPr>
              <a:t>时土</a:t>
            </a:r>
            <a:r>
              <a:rPr kumimoji="1" lang="zh-CN" altLang="en-US" sz="2000" b="1" dirty="0">
                <a:solidFill>
                  <a:srgbClr val="000066"/>
                </a:solidFill>
                <a:ea typeface="幼圆" pitchFamily="49" charset="-122"/>
                <a:cs typeface="Times New Roman" panose="02020603050405020304" pitchFamily="18" charset="0"/>
              </a:rPr>
              <a:t>体的</a:t>
            </a:r>
            <a:r>
              <a:rPr kumimoji="1" lang="zh-CN" altLang="en-US" sz="2000" b="1" dirty="0" smtClean="0">
                <a:solidFill>
                  <a:srgbClr val="000066"/>
                </a:solidFill>
                <a:ea typeface="幼圆" pitchFamily="49" charset="-122"/>
                <a:cs typeface="Times New Roman" panose="02020603050405020304" pitchFamily="18" charset="0"/>
              </a:rPr>
              <a:t>最大干密度；</a:t>
            </a:r>
            <a:endParaRPr kumimoji="1" lang="en-US" altLang="zh-CN" sz="2000" b="1" dirty="0" smtClean="0">
              <a:solidFill>
                <a:srgbClr val="000066"/>
              </a:solidFill>
              <a:ea typeface="幼圆" pitchFamily="49" charset="-122"/>
              <a:cs typeface="Times New Roman" panose="02020603050405020304" pitchFamily="18" charset="0"/>
            </a:endParaRPr>
          </a:p>
          <a:p>
            <a:pPr>
              <a:lnSpc>
                <a:spcPct val="100000"/>
              </a:lnSpc>
              <a:spcBef>
                <a:spcPct val="30000"/>
              </a:spcBef>
              <a:spcAft>
                <a:spcPct val="0"/>
              </a:spcAft>
              <a:buFont typeface="Wingdings" pitchFamily="2" charset="2"/>
              <a:buNone/>
              <a:tabLst>
                <a:tab pos="808038" algn="l"/>
              </a:tabLst>
            </a:pPr>
            <a:r>
              <a:rPr kumimoji="1" lang="en-US" altLang="zh-CN" sz="2000" b="1" i="1" dirty="0">
                <a:solidFill>
                  <a:srgbClr val="000066"/>
                </a:solidFill>
                <a:ea typeface="幼圆" pitchFamily="49" charset="-122"/>
                <a:cs typeface="Times New Roman" panose="02020603050405020304" pitchFamily="18" charset="0"/>
              </a:rPr>
              <a:t>	</a:t>
            </a:r>
            <a:r>
              <a:rPr kumimoji="1" lang="zh-CN" altLang="en-US" sz="2000" b="1" dirty="0" smtClean="0">
                <a:solidFill>
                  <a:srgbClr val="000066"/>
                </a:solidFill>
                <a:ea typeface="幼圆" pitchFamily="49" charset="-122"/>
                <a:cs typeface="Times New Roman" panose="02020603050405020304" pitchFamily="18" charset="0"/>
                <a:sym typeface="Symbol"/>
              </a:rPr>
              <a:t></a:t>
            </a:r>
            <a:r>
              <a:rPr kumimoji="1" lang="en-US" altLang="zh-CN" sz="2000" b="1" baseline="-25000" dirty="0" smtClean="0">
                <a:solidFill>
                  <a:srgbClr val="000066"/>
                </a:solidFill>
                <a:ea typeface="幼圆" pitchFamily="49" charset="-122"/>
                <a:cs typeface="Times New Roman" panose="02020603050405020304" pitchFamily="18" charset="0"/>
              </a:rPr>
              <a:t>min</a:t>
            </a:r>
            <a:r>
              <a:rPr kumimoji="1" lang="zh-CN" altLang="en-US" sz="2000" b="1" dirty="0">
                <a:solidFill>
                  <a:srgbClr val="000066"/>
                </a:solidFill>
                <a:ea typeface="幼圆" pitchFamily="49" charset="-122"/>
                <a:cs typeface="Times New Roman" panose="02020603050405020304" pitchFamily="18" charset="0"/>
              </a:rPr>
              <a:t>相当于孔隙比为</a:t>
            </a:r>
            <a:r>
              <a:rPr kumimoji="1" lang="en-US" altLang="zh-CN" sz="2000" b="1" i="1" dirty="0" err="1" smtClean="0">
                <a:solidFill>
                  <a:srgbClr val="000066"/>
                </a:solidFill>
                <a:ea typeface="幼圆" pitchFamily="49" charset="-122"/>
                <a:cs typeface="Times New Roman" panose="02020603050405020304" pitchFamily="18" charset="0"/>
              </a:rPr>
              <a:t>e</a:t>
            </a:r>
            <a:r>
              <a:rPr kumimoji="1" lang="en-US" altLang="zh-CN" sz="2000" b="1" baseline="-25000" dirty="0" err="1" smtClean="0">
                <a:solidFill>
                  <a:srgbClr val="000066"/>
                </a:solidFill>
                <a:ea typeface="幼圆" pitchFamily="49" charset="-122"/>
                <a:cs typeface="Times New Roman" panose="02020603050405020304" pitchFamily="18" charset="0"/>
              </a:rPr>
              <a:t>max</a:t>
            </a:r>
            <a:r>
              <a:rPr kumimoji="1" lang="zh-CN" altLang="en-US" sz="2000" b="1" dirty="0" smtClean="0">
                <a:solidFill>
                  <a:srgbClr val="000066"/>
                </a:solidFill>
                <a:ea typeface="幼圆" pitchFamily="49" charset="-122"/>
                <a:cs typeface="Times New Roman" panose="02020603050405020304" pitchFamily="18" charset="0"/>
              </a:rPr>
              <a:t>时</a:t>
            </a:r>
            <a:r>
              <a:rPr kumimoji="1" lang="zh-CN" altLang="en-US" sz="2000" b="1" dirty="0">
                <a:solidFill>
                  <a:srgbClr val="000066"/>
                </a:solidFill>
                <a:ea typeface="幼圆" pitchFamily="49" charset="-122"/>
                <a:cs typeface="Times New Roman" panose="02020603050405020304" pitchFamily="18" charset="0"/>
              </a:rPr>
              <a:t>土体的</a:t>
            </a:r>
            <a:r>
              <a:rPr kumimoji="1" lang="zh-CN" altLang="en-US" sz="2000" b="1" dirty="0" smtClean="0">
                <a:solidFill>
                  <a:srgbClr val="000066"/>
                </a:solidFill>
                <a:ea typeface="幼圆" pitchFamily="49" charset="-122"/>
                <a:cs typeface="Times New Roman" panose="02020603050405020304" pitchFamily="18" charset="0"/>
              </a:rPr>
              <a:t>最小干密度</a:t>
            </a:r>
            <a:r>
              <a:rPr kumimoji="1" lang="zh-CN" altLang="en-US" sz="2000" b="1" dirty="0">
                <a:solidFill>
                  <a:srgbClr val="000066"/>
                </a:solidFill>
                <a:ea typeface="幼圆" pitchFamily="49" charset="-122"/>
                <a:cs typeface="Times New Roman" panose="02020603050405020304" pitchFamily="18" charset="0"/>
              </a:rPr>
              <a:t>。</a:t>
            </a:r>
            <a:endParaRPr kumimoji="1" lang="en-US" altLang="zh-CN" sz="2000" b="1" dirty="0">
              <a:solidFill>
                <a:srgbClr val="000066"/>
              </a:solidFill>
              <a:ea typeface="幼圆" pitchFamily="49" charset="-122"/>
              <a:cs typeface="Times New Roman" panose="02020603050405020304" pitchFamily="18" charset="0"/>
            </a:endParaRPr>
          </a:p>
        </p:txBody>
      </p:sp>
    </p:spTree>
    <p:extLst>
      <p:ext uri="{BB962C8B-B14F-4D97-AF65-F5344CB8AC3E}">
        <p14:creationId xmlns:p14="http://schemas.microsoft.com/office/powerpoint/2010/main" val="23910890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000"/>
                                        <p:tgtEl>
                                          <p:spTgt spid="13"/>
                                        </p:tgtEl>
                                      </p:cBhvr>
                                    </p:animEffect>
                                  </p:childTnLst>
                                </p:cTn>
                              </p:par>
                            </p:childTnLst>
                          </p:cTn>
                        </p:par>
                        <p:par>
                          <p:cTn id="8" fill="hold">
                            <p:stCondLst>
                              <p:cond delay="1000"/>
                            </p:stCondLst>
                            <p:childTnLst>
                              <p:par>
                                <p:cTn id="9" presetID="31" presetClass="entr" presetSubtype="0" fill="hold" nodeType="afterEffect">
                                  <p:stCondLst>
                                    <p:cond delay="0"/>
                                  </p:stCondLst>
                                  <p:childTnLst>
                                    <p:set>
                                      <p:cBhvr>
                                        <p:cTn id="10" dur="1" fill="hold">
                                          <p:stCondLst>
                                            <p:cond delay="0"/>
                                          </p:stCondLst>
                                        </p:cTn>
                                        <p:tgtEl>
                                          <p:spTgt spid="12291"/>
                                        </p:tgtEl>
                                        <p:attrNameLst>
                                          <p:attrName>style.visibility</p:attrName>
                                        </p:attrNameLst>
                                      </p:cBhvr>
                                      <p:to>
                                        <p:strVal val="visible"/>
                                      </p:to>
                                    </p:set>
                                    <p:anim calcmode="lin" valueType="num">
                                      <p:cBhvr>
                                        <p:cTn id="11" dur="1000" fill="hold"/>
                                        <p:tgtEl>
                                          <p:spTgt spid="12291"/>
                                        </p:tgtEl>
                                        <p:attrNameLst>
                                          <p:attrName>ppt_w</p:attrName>
                                        </p:attrNameLst>
                                      </p:cBhvr>
                                      <p:tavLst>
                                        <p:tav tm="0">
                                          <p:val>
                                            <p:fltVal val="0"/>
                                          </p:val>
                                        </p:tav>
                                        <p:tav tm="100000">
                                          <p:val>
                                            <p:strVal val="#ppt_w"/>
                                          </p:val>
                                        </p:tav>
                                      </p:tavLst>
                                    </p:anim>
                                    <p:anim calcmode="lin" valueType="num">
                                      <p:cBhvr>
                                        <p:cTn id="12" dur="1000" fill="hold"/>
                                        <p:tgtEl>
                                          <p:spTgt spid="12291"/>
                                        </p:tgtEl>
                                        <p:attrNameLst>
                                          <p:attrName>ppt_h</p:attrName>
                                        </p:attrNameLst>
                                      </p:cBhvr>
                                      <p:tavLst>
                                        <p:tav tm="0">
                                          <p:val>
                                            <p:fltVal val="0"/>
                                          </p:val>
                                        </p:tav>
                                        <p:tav tm="100000">
                                          <p:val>
                                            <p:strVal val="#ppt_h"/>
                                          </p:val>
                                        </p:tav>
                                      </p:tavLst>
                                    </p:anim>
                                    <p:anim calcmode="lin" valueType="num">
                                      <p:cBhvr>
                                        <p:cTn id="13" dur="1000" fill="hold"/>
                                        <p:tgtEl>
                                          <p:spTgt spid="12291"/>
                                        </p:tgtEl>
                                        <p:attrNameLst>
                                          <p:attrName>style.rotation</p:attrName>
                                        </p:attrNameLst>
                                      </p:cBhvr>
                                      <p:tavLst>
                                        <p:tav tm="0">
                                          <p:val>
                                            <p:fltVal val="90"/>
                                          </p:val>
                                        </p:tav>
                                        <p:tav tm="100000">
                                          <p:val>
                                            <p:fltVal val="0"/>
                                          </p:val>
                                        </p:tav>
                                      </p:tavLst>
                                    </p:anim>
                                    <p:animEffect transition="in" filter="fade">
                                      <p:cBhvr>
                                        <p:cTn id="14" dur="1000"/>
                                        <p:tgtEl>
                                          <p:spTgt spid="12291"/>
                                        </p:tgtEl>
                                      </p:cBhvr>
                                    </p:animEffect>
                                  </p:childTnLst>
                                </p:cTn>
                              </p:par>
                            </p:childTnLst>
                          </p:cTn>
                        </p:par>
                        <p:par>
                          <p:cTn id="15" fill="hold">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Rectangle 11"/>
          <p:cNvSpPr>
            <a:spLocks noChangeArrowheads="1"/>
          </p:cNvSpPr>
          <p:nvPr/>
        </p:nvSpPr>
        <p:spPr bwMode="auto">
          <a:xfrm>
            <a:off x="2740025" y="5748338"/>
            <a:ext cx="43370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25000"/>
              </a:spcBef>
              <a:spcAft>
                <a:spcPct val="0"/>
              </a:spcAft>
              <a:buFont typeface="Wingdings" pitchFamily="2" charset="2"/>
              <a:buNone/>
            </a:pPr>
            <a:r>
              <a:rPr kumimoji="1" lang="zh-CN" altLang="en-US" sz="4000" b="1" dirty="0">
                <a:solidFill>
                  <a:srgbClr val="000066"/>
                </a:solidFill>
                <a:ea typeface="黑体" pitchFamily="2" charset="-122"/>
              </a:rPr>
              <a:t>粗粒土的相对密度</a:t>
            </a:r>
            <a:endParaRPr kumimoji="1" lang="zh-CN" altLang="en-US" sz="4000" b="1" i="1" dirty="0">
              <a:solidFill>
                <a:srgbClr val="000066"/>
              </a:solidFill>
              <a:ea typeface="黑体" pitchFamily="2" charset="-122"/>
              <a:cs typeface="Arial Unicode MS" pitchFamily="34" charset="-122"/>
            </a:endParaRPr>
          </a:p>
        </p:txBody>
      </p:sp>
      <p:sp>
        <p:nvSpPr>
          <p:cNvPr id="12297" name="Rectangle 13"/>
          <p:cNvSpPr>
            <a:spLocks noChangeArrowheads="1"/>
          </p:cNvSpPr>
          <p:nvPr/>
        </p:nvSpPr>
        <p:spPr bwMode="auto">
          <a:xfrm>
            <a:off x="353218" y="755075"/>
            <a:ext cx="4464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25000"/>
              </a:spcBef>
              <a:spcAft>
                <a:spcPct val="0"/>
              </a:spcAft>
            </a:pPr>
            <a:r>
              <a:rPr kumimoji="1" lang="zh-CN" altLang="en-US" sz="2800" b="1" dirty="0" smtClean="0">
                <a:solidFill>
                  <a:srgbClr val="800000"/>
                </a:solidFill>
                <a:ea typeface="幼圆" pitchFamily="49" charset="-122"/>
              </a:rPr>
              <a:t>（</a:t>
            </a:r>
            <a:r>
              <a:rPr kumimoji="1" lang="en-US" altLang="zh-CN" sz="2800" b="1" dirty="0" smtClean="0">
                <a:solidFill>
                  <a:srgbClr val="800000"/>
                </a:solidFill>
                <a:ea typeface="幼圆" pitchFamily="49" charset="-122"/>
              </a:rPr>
              <a:t>3</a:t>
            </a:r>
            <a:r>
              <a:rPr kumimoji="1" lang="zh-CN" altLang="en-US" sz="2800" b="1" dirty="0" smtClean="0">
                <a:solidFill>
                  <a:srgbClr val="800000"/>
                </a:solidFill>
                <a:ea typeface="幼圆" pitchFamily="49" charset="-122"/>
              </a:rPr>
              <a:t>）粗粒土</a:t>
            </a:r>
            <a:r>
              <a:rPr kumimoji="1" lang="zh-CN" altLang="en-US" sz="2800" b="1" dirty="0">
                <a:solidFill>
                  <a:srgbClr val="800000"/>
                </a:solidFill>
                <a:ea typeface="幼圆" pitchFamily="49" charset="-122"/>
              </a:rPr>
              <a:t>的密实度标准</a:t>
            </a:r>
            <a:endParaRPr kumimoji="1" lang="zh-CN" altLang="en-US" sz="2800" i="1" dirty="0">
              <a:solidFill>
                <a:srgbClr val="800000"/>
              </a:solidFill>
              <a:ea typeface="幼圆" pitchFamily="49" charset="-122"/>
              <a:cs typeface="Arial Unicode MS" pitchFamily="34" charset="-122"/>
            </a:endParaRPr>
          </a:p>
        </p:txBody>
      </p:sp>
      <p:sp>
        <p:nvSpPr>
          <p:cNvPr id="12298" name="Text Box 14"/>
          <p:cNvSpPr txBox="1">
            <a:spLocks noChangeArrowheads="1"/>
          </p:cNvSpPr>
          <p:nvPr/>
        </p:nvSpPr>
        <p:spPr bwMode="auto">
          <a:xfrm>
            <a:off x="2285853" y="1315762"/>
            <a:ext cx="3669594" cy="2400657"/>
          </a:xfrm>
          <a:prstGeom prst="rect">
            <a:avLst/>
          </a:prstGeom>
          <a:solidFill>
            <a:schemeClr val="accent6">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tabLst>
                <a:tab pos="2149475" algn="l"/>
              </a:tabLst>
              <a:defRPr sz="1400">
                <a:solidFill>
                  <a:schemeClr val="tx1"/>
                </a:solidFill>
                <a:latin typeface="Times New Roman" pitchFamily="18" charset="0"/>
                <a:ea typeface="宋体" charset="-122"/>
              </a:defRPr>
            </a:lvl1pPr>
            <a:lvl2pPr marL="742950" indent="-285750" eaLnBrk="0" hangingPunct="0">
              <a:tabLst>
                <a:tab pos="2149475" algn="l"/>
              </a:tabLst>
              <a:defRPr sz="1400">
                <a:solidFill>
                  <a:schemeClr val="tx1"/>
                </a:solidFill>
                <a:latin typeface="Times New Roman" pitchFamily="18" charset="0"/>
                <a:ea typeface="宋体" charset="-122"/>
              </a:defRPr>
            </a:lvl2pPr>
            <a:lvl3pPr marL="1143000" indent="-228600" eaLnBrk="0" hangingPunct="0">
              <a:tabLst>
                <a:tab pos="2149475" algn="l"/>
              </a:tabLst>
              <a:defRPr sz="1400">
                <a:solidFill>
                  <a:schemeClr val="tx1"/>
                </a:solidFill>
                <a:latin typeface="Times New Roman" pitchFamily="18" charset="0"/>
                <a:ea typeface="宋体" charset="-122"/>
              </a:defRPr>
            </a:lvl3pPr>
            <a:lvl4pPr marL="1600200" indent="-228600" eaLnBrk="0" hangingPunct="0">
              <a:tabLst>
                <a:tab pos="2149475" algn="l"/>
              </a:tabLst>
              <a:defRPr sz="1400">
                <a:solidFill>
                  <a:schemeClr val="tx1"/>
                </a:solidFill>
                <a:latin typeface="Times New Roman" pitchFamily="18" charset="0"/>
                <a:ea typeface="宋体" charset="-122"/>
              </a:defRPr>
            </a:lvl4pPr>
            <a:lvl5pPr marL="2057400" indent="-228600" eaLnBrk="0" hangingPunct="0">
              <a:tabLst>
                <a:tab pos="2149475" algn="l"/>
              </a:tabLst>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tabLst>
                <a:tab pos="2149475" algn="l"/>
              </a:tabLs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tabLst>
                <a:tab pos="2149475" algn="l"/>
              </a:tabLs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tabLst>
                <a:tab pos="2149475" algn="l"/>
              </a:tabLs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tabLst>
                <a:tab pos="2149475" algn="l"/>
              </a:tabLs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en-US" altLang="zh-CN" sz="2400" b="1" dirty="0">
                <a:solidFill>
                  <a:srgbClr val="000066"/>
                </a:solidFill>
                <a:ea typeface="幼圆" pitchFamily="49" charset="-122"/>
              </a:rPr>
              <a:t>     </a:t>
            </a:r>
            <a:r>
              <a:rPr kumimoji="1" lang="en-US" altLang="zh-CN" sz="2400" b="1" i="1" dirty="0" err="1">
                <a:solidFill>
                  <a:srgbClr val="000066"/>
                </a:solidFill>
                <a:ea typeface="幼圆" pitchFamily="49" charset="-122"/>
              </a:rPr>
              <a:t>D</a:t>
            </a:r>
            <a:r>
              <a:rPr kumimoji="1" lang="en-US" altLang="zh-CN" sz="2400" b="1" baseline="-25000" dirty="0" err="1">
                <a:solidFill>
                  <a:srgbClr val="000066"/>
                </a:solidFill>
                <a:ea typeface="幼圆" pitchFamily="49" charset="-122"/>
              </a:rPr>
              <a:t>r</a:t>
            </a:r>
            <a:r>
              <a:rPr kumimoji="1" lang="en-US" altLang="zh-CN" sz="2400" b="1" dirty="0">
                <a:solidFill>
                  <a:srgbClr val="000066"/>
                </a:solidFill>
                <a:ea typeface="幼圆" pitchFamily="49" charset="-122"/>
              </a:rPr>
              <a:t> = 0 	</a:t>
            </a:r>
            <a:r>
              <a:rPr kumimoji="1" lang="zh-CN" altLang="en-US" sz="2400" b="1" dirty="0">
                <a:solidFill>
                  <a:srgbClr val="000066"/>
                </a:solidFill>
                <a:ea typeface="幼圆" pitchFamily="49" charset="-122"/>
              </a:rPr>
              <a:t>最松状态</a:t>
            </a:r>
          </a:p>
          <a:p>
            <a:pPr eaLnBrk="1" hangingPunct="1">
              <a:lnSpc>
                <a:spcPct val="125000"/>
              </a:lnSpc>
              <a:spcBef>
                <a:spcPct val="0"/>
              </a:spcBef>
              <a:spcAft>
                <a:spcPct val="0"/>
              </a:spcAft>
            </a:pPr>
            <a:r>
              <a:rPr kumimoji="1" lang="en-US" altLang="zh-CN" sz="2400" b="1" dirty="0">
                <a:solidFill>
                  <a:srgbClr val="000066"/>
                </a:solidFill>
                <a:ea typeface="幼圆" pitchFamily="49" charset="-122"/>
              </a:rPr>
              <a:t>     </a:t>
            </a:r>
            <a:r>
              <a:rPr kumimoji="1" lang="en-US" altLang="zh-CN" sz="2400" b="1" i="1" dirty="0" err="1">
                <a:solidFill>
                  <a:srgbClr val="000066"/>
                </a:solidFill>
                <a:ea typeface="幼圆" pitchFamily="49" charset="-122"/>
              </a:rPr>
              <a:t>D</a:t>
            </a:r>
            <a:r>
              <a:rPr kumimoji="1" lang="en-US" altLang="zh-CN" sz="2400" b="1" baseline="-25000" dirty="0" err="1">
                <a:solidFill>
                  <a:srgbClr val="000066"/>
                </a:solidFill>
                <a:ea typeface="幼圆" pitchFamily="49" charset="-122"/>
              </a:rPr>
              <a:t>r</a:t>
            </a:r>
            <a:r>
              <a:rPr kumimoji="1" lang="en-US" altLang="zh-CN" sz="2400" b="1" dirty="0">
                <a:solidFill>
                  <a:srgbClr val="000066"/>
                </a:solidFill>
                <a:ea typeface="幼圆" pitchFamily="49" charset="-122"/>
                <a:sym typeface="Symbol" pitchFamily="18" charset="2"/>
              </a:rPr>
              <a:t></a:t>
            </a:r>
            <a:r>
              <a:rPr kumimoji="1" lang="en-US" altLang="zh-CN" sz="2400" b="1" dirty="0">
                <a:solidFill>
                  <a:srgbClr val="000066"/>
                </a:solidFill>
                <a:ea typeface="幼圆" pitchFamily="49" charset="-122"/>
              </a:rPr>
              <a:t> 1/3	</a:t>
            </a:r>
            <a:r>
              <a:rPr kumimoji="1" lang="zh-CN" altLang="en-US" sz="2400" b="1" dirty="0">
                <a:solidFill>
                  <a:srgbClr val="000066"/>
                </a:solidFill>
                <a:ea typeface="幼圆" pitchFamily="49" charset="-122"/>
              </a:rPr>
              <a:t>疏松状态</a:t>
            </a:r>
          </a:p>
          <a:p>
            <a:pPr eaLnBrk="1" hangingPunct="1">
              <a:lnSpc>
                <a:spcPct val="125000"/>
              </a:lnSpc>
              <a:spcBef>
                <a:spcPct val="0"/>
              </a:spcBef>
              <a:spcAft>
                <a:spcPct val="0"/>
              </a:spcAft>
            </a:pPr>
            <a:r>
              <a:rPr kumimoji="1" lang="zh-CN" altLang="en-US" sz="2400" b="1" dirty="0">
                <a:solidFill>
                  <a:srgbClr val="000066"/>
                </a:solidFill>
                <a:ea typeface="幼圆" pitchFamily="49" charset="-122"/>
              </a:rPr>
              <a:t>1/3 &lt; </a:t>
            </a:r>
            <a:r>
              <a:rPr kumimoji="1" lang="en-US" altLang="zh-CN" sz="2400" b="1" i="1" dirty="0" err="1">
                <a:solidFill>
                  <a:srgbClr val="000066"/>
                </a:solidFill>
                <a:ea typeface="幼圆" pitchFamily="49" charset="-122"/>
              </a:rPr>
              <a:t>D</a:t>
            </a:r>
            <a:r>
              <a:rPr kumimoji="1" lang="en-US" altLang="zh-CN" sz="2400" b="1" baseline="-25000" dirty="0" err="1">
                <a:solidFill>
                  <a:srgbClr val="000066"/>
                </a:solidFill>
                <a:ea typeface="幼圆" pitchFamily="49" charset="-122"/>
              </a:rPr>
              <a:t>r</a:t>
            </a:r>
            <a:r>
              <a:rPr kumimoji="1" lang="en-US" altLang="zh-CN" sz="2400" b="1" dirty="0">
                <a:solidFill>
                  <a:srgbClr val="000066"/>
                </a:solidFill>
                <a:ea typeface="幼圆" pitchFamily="49" charset="-122"/>
                <a:sym typeface="Symbol" pitchFamily="18" charset="2"/>
              </a:rPr>
              <a:t></a:t>
            </a:r>
            <a:r>
              <a:rPr kumimoji="1" lang="en-US" altLang="zh-CN" sz="2400" b="1" dirty="0">
                <a:solidFill>
                  <a:srgbClr val="000066"/>
                </a:solidFill>
                <a:ea typeface="幼圆" pitchFamily="49" charset="-122"/>
              </a:rPr>
              <a:t> 2/3	</a:t>
            </a:r>
            <a:r>
              <a:rPr kumimoji="1" lang="zh-CN" altLang="en-US" sz="2400" b="1" dirty="0">
                <a:solidFill>
                  <a:srgbClr val="000066"/>
                </a:solidFill>
                <a:ea typeface="幼圆" pitchFamily="49" charset="-122"/>
              </a:rPr>
              <a:t>中密状态 </a:t>
            </a:r>
            <a:endParaRPr kumimoji="1" lang="en-US" altLang="zh-CN" sz="2400" b="1" dirty="0">
              <a:solidFill>
                <a:srgbClr val="000066"/>
              </a:solidFill>
              <a:ea typeface="幼圆" pitchFamily="49" charset="-122"/>
            </a:endParaRPr>
          </a:p>
          <a:p>
            <a:pPr eaLnBrk="1" hangingPunct="1">
              <a:lnSpc>
                <a:spcPct val="125000"/>
              </a:lnSpc>
              <a:spcBef>
                <a:spcPct val="0"/>
              </a:spcBef>
              <a:spcAft>
                <a:spcPct val="0"/>
              </a:spcAft>
            </a:pPr>
            <a:r>
              <a:rPr kumimoji="1" lang="zh-CN" altLang="en-US" sz="2400" b="1" dirty="0">
                <a:solidFill>
                  <a:srgbClr val="000066"/>
                </a:solidFill>
                <a:ea typeface="幼圆" pitchFamily="49" charset="-122"/>
              </a:rPr>
              <a:t>     </a:t>
            </a:r>
            <a:r>
              <a:rPr kumimoji="1" lang="en-US" altLang="zh-CN" sz="2400" b="1" i="1" dirty="0" err="1">
                <a:solidFill>
                  <a:srgbClr val="000066"/>
                </a:solidFill>
                <a:ea typeface="幼圆" pitchFamily="49" charset="-122"/>
              </a:rPr>
              <a:t>D</a:t>
            </a:r>
            <a:r>
              <a:rPr kumimoji="1" lang="en-US" altLang="zh-CN" sz="2400" b="1" baseline="-25000" dirty="0" err="1">
                <a:solidFill>
                  <a:srgbClr val="000066"/>
                </a:solidFill>
                <a:ea typeface="幼圆" pitchFamily="49" charset="-122"/>
              </a:rPr>
              <a:t>r</a:t>
            </a:r>
            <a:r>
              <a:rPr kumimoji="1" lang="en-US" altLang="zh-CN" sz="2400" b="1" dirty="0">
                <a:solidFill>
                  <a:srgbClr val="000066"/>
                </a:solidFill>
                <a:ea typeface="幼圆" pitchFamily="49" charset="-122"/>
              </a:rPr>
              <a:t> &gt; 2/3	</a:t>
            </a:r>
            <a:r>
              <a:rPr kumimoji="1" lang="zh-CN" altLang="en-US" sz="2400" b="1" dirty="0">
                <a:solidFill>
                  <a:srgbClr val="000066"/>
                </a:solidFill>
                <a:ea typeface="幼圆" pitchFamily="49" charset="-122"/>
              </a:rPr>
              <a:t>密实状态</a:t>
            </a:r>
          </a:p>
          <a:p>
            <a:pPr eaLnBrk="1" hangingPunct="1">
              <a:lnSpc>
                <a:spcPct val="125000"/>
              </a:lnSpc>
              <a:spcBef>
                <a:spcPct val="0"/>
              </a:spcBef>
              <a:spcAft>
                <a:spcPct val="0"/>
              </a:spcAft>
            </a:pPr>
            <a:r>
              <a:rPr kumimoji="1" lang="en-US" altLang="zh-CN" sz="2400" b="1" dirty="0">
                <a:solidFill>
                  <a:srgbClr val="000066"/>
                </a:solidFill>
                <a:ea typeface="幼圆" pitchFamily="49" charset="-122"/>
              </a:rPr>
              <a:t>      </a:t>
            </a:r>
            <a:r>
              <a:rPr kumimoji="1" lang="en-US" altLang="zh-CN" sz="2400" b="1" i="1" dirty="0" err="1">
                <a:solidFill>
                  <a:srgbClr val="000066"/>
                </a:solidFill>
                <a:ea typeface="幼圆" pitchFamily="49" charset="-122"/>
              </a:rPr>
              <a:t>D</a:t>
            </a:r>
            <a:r>
              <a:rPr kumimoji="1" lang="en-US" altLang="zh-CN" sz="2400" b="1" baseline="-25000" dirty="0" err="1">
                <a:solidFill>
                  <a:srgbClr val="000066"/>
                </a:solidFill>
                <a:ea typeface="幼圆" pitchFamily="49" charset="-122"/>
              </a:rPr>
              <a:t>r</a:t>
            </a:r>
            <a:r>
              <a:rPr kumimoji="1" lang="en-US" altLang="zh-CN" sz="2400" b="1" dirty="0">
                <a:solidFill>
                  <a:srgbClr val="000066"/>
                </a:solidFill>
                <a:ea typeface="幼圆" pitchFamily="49" charset="-122"/>
              </a:rPr>
              <a:t> = 1	</a:t>
            </a:r>
            <a:r>
              <a:rPr kumimoji="1" lang="zh-CN" altLang="en-US" sz="2400" b="1" dirty="0">
                <a:solidFill>
                  <a:srgbClr val="000066"/>
                </a:solidFill>
                <a:ea typeface="幼圆" pitchFamily="49" charset="-122"/>
              </a:rPr>
              <a:t>最密状态</a:t>
            </a:r>
          </a:p>
        </p:txBody>
      </p:sp>
      <p:sp>
        <p:nvSpPr>
          <p:cNvPr id="1397775" name="Rectangle 15"/>
          <p:cNvSpPr>
            <a:spLocks noChangeArrowheads="1"/>
          </p:cNvSpPr>
          <p:nvPr/>
        </p:nvSpPr>
        <p:spPr bwMode="auto">
          <a:xfrm>
            <a:off x="1116419" y="3880169"/>
            <a:ext cx="734709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lnSpc>
                <a:spcPct val="125000"/>
              </a:lnSpc>
              <a:spcBef>
                <a:spcPct val="25000"/>
              </a:spcBef>
              <a:spcAft>
                <a:spcPct val="0"/>
              </a:spcAft>
              <a:buClr>
                <a:srgbClr val="A50021"/>
              </a:buClr>
              <a:buSzPct val="140000"/>
              <a:buFont typeface="Wingdings" pitchFamily="2" charset="2"/>
              <a:buChar char="F"/>
            </a:pPr>
            <a:r>
              <a:rPr kumimoji="1" lang="zh-CN" altLang="en-US" sz="2400" b="1" dirty="0">
                <a:solidFill>
                  <a:srgbClr val="000066"/>
                </a:solidFill>
                <a:ea typeface="幼圆" pitchFamily="49" charset="-122"/>
              </a:rPr>
              <a:t>相对密度指标主要用于人工填土，对天然砂土层采用</a:t>
            </a:r>
            <a:r>
              <a:rPr kumimoji="1" lang="zh-CN" altLang="en-US" sz="2400" b="1" dirty="0">
                <a:solidFill>
                  <a:srgbClr val="800000"/>
                </a:solidFill>
                <a:ea typeface="幼圆" pitchFamily="49" charset="-122"/>
              </a:rPr>
              <a:t>原位标准贯入试验</a:t>
            </a:r>
            <a:r>
              <a:rPr kumimoji="1" lang="zh-CN" altLang="en-US" sz="2400" b="1" dirty="0">
                <a:solidFill>
                  <a:srgbClr val="000066"/>
                </a:solidFill>
                <a:ea typeface="幼圆" pitchFamily="49" charset="-122"/>
              </a:rPr>
              <a:t>法</a:t>
            </a:r>
            <a:r>
              <a:rPr kumimoji="1" lang="zh-CN" altLang="en-US" sz="2400" b="1" dirty="0" smtClean="0">
                <a:solidFill>
                  <a:srgbClr val="000066"/>
                </a:solidFill>
                <a:ea typeface="幼圆" pitchFamily="49" charset="-122"/>
              </a:rPr>
              <a:t>测定</a:t>
            </a:r>
            <a:endParaRPr kumimoji="1" lang="en-US" altLang="zh-CN" sz="2400" b="1" dirty="0" smtClean="0">
              <a:solidFill>
                <a:srgbClr val="000066"/>
              </a:solidFill>
              <a:ea typeface="幼圆" pitchFamily="49" charset="-122"/>
            </a:endParaRPr>
          </a:p>
          <a:p>
            <a:pPr marL="457200" indent="-457200">
              <a:lnSpc>
                <a:spcPct val="125000"/>
              </a:lnSpc>
              <a:spcBef>
                <a:spcPct val="25000"/>
              </a:spcBef>
              <a:spcAft>
                <a:spcPct val="0"/>
              </a:spcAft>
              <a:buClr>
                <a:srgbClr val="A50021"/>
              </a:buClr>
              <a:buSzPct val="140000"/>
              <a:buFont typeface="Wingdings" pitchFamily="2" charset="2"/>
              <a:buChar char="F"/>
            </a:pPr>
            <a:r>
              <a:rPr kumimoji="1" lang="zh-CN" altLang="en-US" sz="2400" b="1" dirty="0" smtClean="0">
                <a:solidFill>
                  <a:srgbClr val="000066"/>
                </a:solidFill>
                <a:ea typeface="幼圆" pitchFamily="49" charset="-122"/>
              </a:rPr>
              <a:t>相对密度指标不适合于细颗粒土（黏性土）</a:t>
            </a:r>
            <a:endParaRPr kumimoji="1" lang="zh-CN" altLang="en-US" sz="2400" b="1" dirty="0">
              <a:solidFill>
                <a:srgbClr val="000066"/>
              </a:solidFill>
              <a:ea typeface="幼圆" pitchFamily="49" charset="-122"/>
            </a:endParaRPr>
          </a:p>
        </p:txBody>
      </p:sp>
      <p:sp>
        <p:nvSpPr>
          <p:cNvPr id="12"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19933044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298">
                                            <p:bg/>
                                          </p:spTgt>
                                        </p:tgtEl>
                                        <p:attrNameLst>
                                          <p:attrName>style.visibility</p:attrName>
                                        </p:attrNameLst>
                                      </p:cBhvr>
                                      <p:to>
                                        <p:strVal val="visible"/>
                                      </p:to>
                                    </p:set>
                                    <p:animEffect transition="in" filter="wipe(left)">
                                      <p:cBhvr>
                                        <p:cTn id="7" dur="500"/>
                                        <p:tgtEl>
                                          <p:spTgt spid="12298">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8">
                                            <p:txEl>
                                              <p:pRg st="0" end="0"/>
                                            </p:txEl>
                                          </p:spTgt>
                                        </p:tgtEl>
                                        <p:attrNameLst>
                                          <p:attrName>style.visibility</p:attrName>
                                        </p:attrNameLst>
                                      </p:cBhvr>
                                      <p:to>
                                        <p:strVal val="visible"/>
                                      </p:to>
                                    </p:set>
                                    <p:animEffect transition="in" filter="wipe(left)">
                                      <p:cBhvr>
                                        <p:cTn id="12" dur="500"/>
                                        <p:tgtEl>
                                          <p:spTgt spid="1229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98">
                                            <p:txEl>
                                              <p:pRg st="4" end="4"/>
                                            </p:txEl>
                                          </p:spTgt>
                                        </p:tgtEl>
                                        <p:attrNameLst>
                                          <p:attrName>style.visibility</p:attrName>
                                        </p:attrNameLst>
                                      </p:cBhvr>
                                      <p:to>
                                        <p:strVal val="visible"/>
                                      </p:to>
                                    </p:set>
                                    <p:animEffect transition="in" filter="wipe(left)">
                                      <p:cBhvr>
                                        <p:cTn id="17" dur="500"/>
                                        <p:tgtEl>
                                          <p:spTgt spid="1229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98">
                                            <p:txEl>
                                              <p:pRg st="1" end="1"/>
                                            </p:txEl>
                                          </p:spTgt>
                                        </p:tgtEl>
                                        <p:attrNameLst>
                                          <p:attrName>style.visibility</p:attrName>
                                        </p:attrNameLst>
                                      </p:cBhvr>
                                      <p:to>
                                        <p:strVal val="visible"/>
                                      </p:to>
                                    </p:set>
                                    <p:animEffect transition="in" filter="wipe(left)">
                                      <p:cBhvr>
                                        <p:cTn id="22" dur="500"/>
                                        <p:tgtEl>
                                          <p:spTgt spid="12298">
                                            <p:txEl>
                                              <p:pRg st="1" end="1"/>
                                            </p:txEl>
                                          </p:spTgt>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2298">
                                            <p:txEl>
                                              <p:pRg st="2" end="2"/>
                                            </p:txEl>
                                          </p:spTgt>
                                        </p:tgtEl>
                                        <p:attrNameLst>
                                          <p:attrName>style.visibility</p:attrName>
                                        </p:attrNameLst>
                                      </p:cBhvr>
                                      <p:to>
                                        <p:strVal val="visible"/>
                                      </p:to>
                                    </p:set>
                                    <p:animEffect transition="in" filter="wipe(left)">
                                      <p:cBhvr>
                                        <p:cTn id="26" dur="500"/>
                                        <p:tgtEl>
                                          <p:spTgt spid="12298">
                                            <p:txEl>
                                              <p:pRg st="2" end="2"/>
                                            </p:txEl>
                                          </p:spTgt>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2298">
                                            <p:txEl>
                                              <p:pRg st="3" end="3"/>
                                            </p:txEl>
                                          </p:spTgt>
                                        </p:tgtEl>
                                        <p:attrNameLst>
                                          <p:attrName>style.visibility</p:attrName>
                                        </p:attrNameLst>
                                      </p:cBhvr>
                                      <p:to>
                                        <p:strVal val="visible"/>
                                      </p:to>
                                    </p:set>
                                    <p:animEffect transition="in" filter="wipe(left)">
                                      <p:cBhvr>
                                        <p:cTn id="30" dur="500"/>
                                        <p:tgtEl>
                                          <p:spTgt spid="12298">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97775">
                                            <p:txEl>
                                              <p:pRg st="0" end="0"/>
                                            </p:txEl>
                                          </p:spTgt>
                                        </p:tgtEl>
                                        <p:attrNameLst>
                                          <p:attrName>style.visibility</p:attrName>
                                        </p:attrNameLst>
                                      </p:cBhvr>
                                      <p:to>
                                        <p:strVal val="visible"/>
                                      </p:to>
                                    </p:set>
                                    <p:animEffect transition="in" filter="fade">
                                      <p:cBhvr>
                                        <p:cTn id="35" dur="2000"/>
                                        <p:tgtEl>
                                          <p:spTgt spid="1397775">
                                            <p:txEl>
                                              <p:pRg st="0" end="0"/>
                                            </p:txEl>
                                          </p:spTgt>
                                        </p:tgtEl>
                                      </p:cBhvr>
                                    </p:animEffect>
                                    <p:anim calcmode="lin" valueType="num">
                                      <p:cBhvr>
                                        <p:cTn id="36" dur="2000" fill="hold"/>
                                        <p:tgtEl>
                                          <p:spTgt spid="1397775">
                                            <p:txEl>
                                              <p:pRg st="0" end="0"/>
                                            </p:txEl>
                                          </p:spTgt>
                                        </p:tgtEl>
                                        <p:attrNameLst>
                                          <p:attrName>ppt_x</p:attrName>
                                        </p:attrNameLst>
                                      </p:cBhvr>
                                      <p:tavLst>
                                        <p:tav tm="0">
                                          <p:val>
                                            <p:strVal val="#ppt_x"/>
                                          </p:val>
                                        </p:tav>
                                        <p:tav tm="100000">
                                          <p:val>
                                            <p:strVal val="#ppt_x"/>
                                          </p:val>
                                        </p:tav>
                                      </p:tavLst>
                                    </p:anim>
                                    <p:anim calcmode="lin" valueType="num">
                                      <p:cBhvr>
                                        <p:cTn id="37" dur="2000" fill="hold"/>
                                        <p:tgtEl>
                                          <p:spTgt spid="13977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397775">
                                            <p:txEl>
                                              <p:pRg st="1" end="1"/>
                                            </p:txEl>
                                          </p:spTgt>
                                        </p:tgtEl>
                                        <p:attrNameLst>
                                          <p:attrName>style.visibility</p:attrName>
                                        </p:attrNameLst>
                                      </p:cBhvr>
                                      <p:to>
                                        <p:strVal val="visible"/>
                                      </p:to>
                                    </p:set>
                                    <p:animEffect transition="in" filter="fade">
                                      <p:cBhvr>
                                        <p:cTn id="42" dur="2000"/>
                                        <p:tgtEl>
                                          <p:spTgt spid="1397775">
                                            <p:txEl>
                                              <p:pRg st="1" end="1"/>
                                            </p:txEl>
                                          </p:spTgt>
                                        </p:tgtEl>
                                      </p:cBhvr>
                                    </p:animEffect>
                                    <p:anim calcmode="lin" valueType="num">
                                      <p:cBhvr>
                                        <p:cTn id="43" dur="2000" fill="hold"/>
                                        <p:tgtEl>
                                          <p:spTgt spid="1397775">
                                            <p:txEl>
                                              <p:pRg st="1" end="1"/>
                                            </p:txEl>
                                          </p:spTgt>
                                        </p:tgtEl>
                                        <p:attrNameLst>
                                          <p:attrName>ppt_x</p:attrName>
                                        </p:attrNameLst>
                                      </p:cBhvr>
                                      <p:tavLst>
                                        <p:tav tm="0">
                                          <p:val>
                                            <p:strVal val="#ppt_x"/>
                                          </p:val>
                                        </p:tav>
                                        <p:tav tm="100000">
                                          <p:val>
                                            <p:strVal val="#ppt_x"/>
                                          </p:val>
                                        </p:tav>
                                      </p:tavLst>
                                    </p:anim>
                                    <p:anim calcmode="lin" valueType="num">
                                      <p:cBhvr>
                                        <p:cTn id="44" dur="2000" fill="hold"/>
                                        <p:tgtEl>
                                          <p:spTgt spid="139777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8" grpId="0" build="p" animBg="1"/>
      <p:bldP spid="1397775"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2492856" y="3432656"/>
            <a:ext cx="297712" cy="535166"/>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500571" y="4476307"/>
            <a:ext cx="297712" cy="535166"/>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2485138" y="3963163"/>
            <a:ext cx="297712" cy="535166"/>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8796" name="Rectangle 12"/>
          <p:cNvSpPr>
            <a:spLocks noChangeArrowheads="1"/>
          </p:cNvSpPr>
          <p:nvPr/>
        </p:nvSpPr>
        <p:spPr bwMode="auto">
          <a:xfrm>
            <a:off x="990600" y="698053"/>
            <a:ext cx="7091363"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65125" indent="-365125">
              <a:lnSpc>
                <a:spcPct val="120000"/>
              </a:lnSpc>
              <a:spcBef>
                <a:spcPct val="0"/>
              </a:spcBef>
              <a:spcAft>
                <a:spcPct val="0"/>
              </a:spcAft>
              <a:buClr>
                <a:srgbClr val="A50021"/>
              </a:buClr>
              <a:buFont typeface="Wingdings" pitchFamily="2" charset="2"/>
              <a:buChar char="n"/>
            </a:pPr>
            <a:r>
              <a:rPr kumimoji="1" lang="zh-CN" altLang="en-US" sz="2400" b="1" dirty="0" smtClean="0">
                <a:solidFill>
                  <a:srgbClr val="000066"/>
                </a:solidFill>
                <a:ea typeface="幼圆" pitchFamily="49" charset="-122"/>
              </a:rPr>
              <a:t>黏性</a:t>
            </a:r>
            <a:r>
              <a:rPr kumimoji="1" lang="zh-CN" altLang="en-US" sz="2400" b="1" dirty="0">
                <a:solidFill>
                  <a:srgbClr val="000066"/>
                </a:solidFill>
                <a:ea typeface="幼圆" pitchFamily="49" charset="-122"/>
              </a:rPr>
              <a:t>土最主要的物理状态特征是它的</a:t>
            </a:r>
            <a:r>
              <a:rPr kumimoji="1" lang="zh-CN" altLang="en-US" sz="2400" b="1" dirty="0">
                <a:solidFill>
                  <a:srgbClr val="C00000"/>
                </a:solidFill>
                <a:ea typeface="幼圆" pitchFamily="49" charset="-122"/>
              </a:rPr>
              <a:t>稠度</a:t>
            </a:r>
            <a:r>
              <a:rPr kumimoji="1" lang="zh-CN" altLang="en-US" sz="2400" b="1" dirty="0">
                <a:solidFill>
                  <a:srgbClr val="000066"/>
                </a:solidFill>
                <a:ea typeface="幼圆" pitchFamily="49" charset="-122"/>
              </a:rPr>
              <a:t>。稠度是指土的软硬程度或土对外力引起变形或破坏的抵抗能力</a:t>
            </a:r>
            <a:endParaRPr kumimoji="1" lang="en-US" altLang="zh-CN" sz="2400" b="1" dirty="0">
              <a:solidFill>
                <a:srgbClr val="000066"/>
              </a:solidFill>
              <a:ea typeface="幼圆" pitchFamily="49" charset="-122"/>
            </a:endParaRPr>
          </a:p>
        </p:txBody>
      </p:sp>
      <p:sp>
        <p:nvSpPr>
          <p:cNvPr id="1398797" name="AutoShape 13"/>
          <p:cNvSpPr>
            <a:spLocks noChangeArrowheads="1"/>
          </p:cNvSpPr>
          <p:nvPr/>
        </p:nvSpPr>
        <p:spPr bwMode="auto">
          <a:xfrm>
            <a:off x="2000250" y="2213371"/>
            <a:ext cx="6144290" cy="510778"/>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a:spAutoFit/>
          </a:bodyPr>
          <a:lstStyle/>
          <a:p>
            <a:pPr>
              <a:lnSpc>
                <a:spcPct val="100000"/>
              </a:lnSpc>
              <a:spcBef>
                <a:spcPct val="25000"/>
              </a:spcBef>
              <a:spcAft>
                <a:spcPct val="0"/>
              </a:spcAft>
              <a:buFont typeface="Wingdings" pitchFamily="2" charset="2"/>
              <a:buNone/>
            </a:pPr>
            <a:r>
              <a:rPr kumimoji="1" lang="zh-CN" altLang="en-US" sz="2400" b="1" dirty="0" smtClean="0">
                <a:solidFill>
                  <a:srgbClr val="000066"/>
                </a:solidFill>
                <a:latin typeface="幼圆" pitchFamily="49" charset="-122"/>
                <a:ea typeface="幼圆" pitchFamily="49" charset="-122"/>
              </a:rPr>
              <a:t>黏性</a:t>
            </a:r>
            <a:r>
              <a:rPr kumimoji="1" lang="zh-CN" altLang="en-US" sz="2400" b="1" dirty="0">
                <a:solidFill>
                  <a:srgbClr val="000066"/>
                </a:solidFill>
                <a:latin typeface="幼圆" pitchFamily="49" charset="-122"/>
                <a:ea typeface="幼圆" pitchFamily="49" charset="-122"/>
              </a:rPr>
              <a:t>土的稠度状态与它的</a:t>
            </a:r>
            <a:r>
              <a:rPr kumimoji="1" lang="zh-CN" altLang="en-US" sz="2400" b="1" dirty="0" smtClean="0">
                <a:solidFill>
                  <a:srgbClr val="000066"/>
                </a:solidFill>
                <a:latin typeface="幼圆" pitchFamily="49" charset="-122"/>
                <a:ea typeface="幼圆" pitchFamily="49" charset="-122"/>
              </a:rPr>
              <a:t>含水量密切相关</a:t>
            </a:r>
            <a:endParaRPr kumimoji="1" lang="zh-CN" altLang="en-US" sz="2400" b="1" dirty="0">
              <a:solidFill>
                <a:srgbClr val="000066"/>
              </a:solidFill>
              <a:latin typeface="幼圆" pitchFamily="49" charset="-122"/>
              <a:ea typeface="幼圆" pitchFamily="49" charset="-122"/>
            </a:endParaRPr>
          </a:p>
        </p:txBody>
      </p:sp>
      <p:sp>
        <p:nvSpPr>
          <p:cNvPr id="1398798" name="Oval 14" descr="大纸屑"/>
          <p:cNvSpPr>
            <a:spLocks noChangeArrowheads="1"/>
          </p:cNvSpPr>
          <p:nvPr/>
        </p:nvSpPr>
        <p:spPr bwMode="auto">
          <a:xfrm>
            <a:off x="4360299" y="3536438"/>
            <a:ext cx="1335088" cy="1187450"/>
          </a:xfrm>
          <a:prstGeom prst="ellipse">
            <a:avLst/>
          </a:prstGeom>
          <a:pattFill prst="lgConfetti">
            <a:fgClr>
              <a:srgbClr val="FF7C80"/>
            </a:fgClr>
            <a:bgClr>
              <a:srgbClr val="FFFFFF"/>
            </a:bgClr>
          </a:pattFill>
          <a:ln>
            <a:noFill/>
          </a:ln>
          <a:extLst>
            <a:ext uri="{91240B29-F687-4F45-9708-019B960494DF}">
              <a14:hiddenLine xmlns:a14="http://schemas.microsoft.com/office/drawing/2010/main" w="38100" algn="ctr">
                <a:solidFill>
                  <a:srgbClr val="000000"/>
                </a:solidFill>
                <a:round/>
                <a:headEnd/>
                <a:tailEnd/>
              </a14:hiddenLine>
            </a:ext>
          </a:extLst>
        </p:spPr>
        <p:txBody>
          <a:bodyPr wrap="none" lIns="0" tIns="0" rIns="0" bIns="0" anchor="ctr">
            <a:spAutoFit/>
          </a:bodyPr>
          <a:lstStyle/>
          <a:p>
            <a:endParaRPr lang="zh-CN" altLang="en-US"/>
          </a:p>
        </p:txBody>
      </p:sp>
      <p:sp>
        <p:nvSpPr>
          <p:cNvPr id="1398799" name="Oval 15" descr="大纸屑"/>
          <p:cNvSpPr>
            <a:spLocks noChangeArrowheads="1"/>
          </p:cNvSpPr>
          <p:nvPr/>
        </p:nvSpPr>
        <p:spPr bwMode="auto">
          <a:xfrm>
            <a:off x="4149162" y="3747576"/>
            <a:ext cx="1651000" cy="976312"/>
          </a:xfrm>
          <a:prstGeom prst="ellipse">
            <a:avLst/>
          </a:prstGeom>
          <a:pattFill prst="lgConfetti">
            <a:fgClr>
              <a:srgbClr val="FF5050"/>
            </a:fgClr>
            <a:bgClr>
              <a:srgbClr val="FFFFFF"/>
            </a:bgClr>
          </a:pattFill>
          <a:ln>
            <a:noFill/>
          </a:ln>
          <a:extLst>
            <a:ext uri="{91240B29-F687-4F45-9708-019B960494DF}">
              <a14:hiddenLine xmlns:a14="http://schemas.microsoft.com/office/drawing/2010/main" w="38100" algn="ctr">
                <a:solidFill>
                  <a:srgbClr val="000000"/>
                </a:solidFill>
                <a:round/>
                <a:headEnd/>
                <a:tailEnd/>
              </a14:hiddenLine>
            </a:ext>
          </a:extLst>
        </p:spPr>
        <p:txBody>
          <a:bodyPr lIns="0" tIns="0" rIns="0" bIns="0" anchor="ctr">
            <a:spAutoFit/>
          </a:bodyPr>
          <a:lstStyle/>
          <a:p>
            <a:endParaRPr lang="zh-CN" altLang="en-US"/>
          </a:p>
        </p:txBody>
      </p:sp>
      <p:sp>
        <p:nvSpPr>
          <p:cNvPr id="1398800" name="Freeform 16" descr="大纸屑"/>
          <p:cNvSpPr>
            <a:spLocks/>
          </p:cNvSpPr>
          <p:nvPr/>
        </p:nvSpPr>
        <p:spPr bwMode="auto">
          <a:xfrm rot="21342168">
            <a:off x="3609412" y="3938076"/>
            <a:ext cx="2851150" cy="863600"/>
          </a:xfrm>
          <a:custGeom>
            <a:avLst/>
            <a:gdLst>
              <a:gd name="T0" fmla="*/ 2147483647 w 634"/>
              <a:gd name="T1" fmla="*/ 2147483647 h 265"/>
              <a:gd name="T2" fmla="*/ 2147483647 w 634"/>
              <a:gd name="T3" fmla="*/ 2147483647 h 265"/>
              <a:gd name="T4" fmla="*/ 2147483647 w 634"/>
              <a:gd name="T5" fmla="*/ 2147483647 h 265"/>
              <a:gd name="T6" fmla="*/ 2147483647 w 634"/>
              <a:gd name="T7" fmla="*/ 2147483647 h 265"/>
              <a:gd name="T8" fmla="*/ 0 60000 65536"/>
              <a:gd name="T9" fmla="*/ 0 60000 65536"/>
              <a:gd name="T10" fmla="*/ 0 60000 65536"/>
              <a:gd name="T11" fmla="*/ 0 60000 65536"/>
              <a:gd name="T12" fmla="*/ 0 w 634"/>
              <a:gd name="T13" fmla="*/ 0 h 265"/>
              <a:gd name="T14" fmla="*/ 634 w 634"/>
              <a:gd name="T15" fmla="*/ 265 h 265"/>
            </a:gdLst>
            <a:ahLst/>
            <a:cxnLst>
              <a:cxn ang="T8">
                <a:pos x="T0" y="T1"/>
              </a:cxn>
              <a:cxn ang="T9">
                <a:pos x="T2" y="T3"/>
              </a:cxn>
              <a:cxn ang="T10">
                <a:pos x="T4" y="T5"/>
              </a:cxn>
              <a:cxn ang="T11">
                <a:pos x="T6" y="T7"/>
              </a:cxn>
            </a:cxnLst>
            <a:rect l="T12" t="T13" r="T14" b="T15"/>
            <a:pathLst>
              <a:path w="634" h="265">
                <a:moveTo>
                  <a:pt x="45" y="189"/>
                </a:moveTo>
                <a:cubicBezTo>
                  <a:pt x="0" y="151"/>
                  <a:pt x="226" y="0"/>
                  <a:pt x="317" y="8"/>
                </a:cubicBezTo>
                <a:cubicBezTo>
                  <a:pt x="408" y="16"/>
                  <a:pt x="634" y="205"/>
                  <a:pt x="589" y="235"/>
                </a:cubicBezTo>
                <a:cubicBezTo>
                  <a:pt x="544" y="265"/>
                  <a:pt x="90" y="227"/>
                  <a:pt x="45" y="189"/>
                </a:cubicBezTo>
                <a:close/>
              </a:path>
            </a:pathLst>
          </a:custGeom>
          <a:pattFill prst="lgConfetti">
            <a:fgClr>
              <a:srgbClr val="FF3300"/>
            </a:fgClr>
            <a:bgClr>
              <a:srgbClr val="FFFFFF"/>
            </a:bgClr>
          </a:pattFill>
          <a:ln>
            <a:noFill/>
          </a:ln>
          <a:extLst>
            <a:ext uri="{91240B29-F687-4F45-9708-019B960494DF}">
              <a14:hiddenLine xmlns:a14="http://schemas.microsoft.com/office/drawing/2010/main" w="38100">
                <a:solidFill>
                  <a:srgbClr val="000000"/>
                </a:solidFill>
                <a:round/>
                <a:headEnd/>
                <a:tailEnd/>
              </a14:hiddenLine>
            </a:ext>
          </a:extLst>
        </p:spPr>
        <p:txBody>
          <a:bodyPr lIns="0" tIns="0" rIns="0" bIns="0">
            <a:spAutoFit/>
          </a:bodyPr>
          <a:lstStyle/>
          <a:p>
            <a:endParaRPr lang="zh-CN" altLang="en-US"/>
          </a:p>
        </p:txBody>
      </p:sp>
      <p:sp>
        <p:nvSpPr>
          <p:cNvPr id="1398804" name="Text Box 20"/>
          <p:cNvSpPr txBox="1">
            <a:spLocks noChangeArrowheads="1"/>
          </p:cNvSpPr>
          <p:nvPr/>
        </p:nvSpPr>
        <p:spPr bwMode="auto">
          <a:xfrm>
            <a:off x="4380619" y="5095074"/>
            <a:ext cx="180753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800" b="1" dirty="0" smtClean="0">
                <a:solidFill>
                  <a:srgbClr val="000066"/>
                </a:solidFill>
                <a:latin typeface="Arial" charset="0"/>
                <a:ea typeface="幼圆" pitchFamily="49" charset="-122"/>
              </a:rPr>
              <a:t>黏性土泥团</a:t>
            </a:r>
            <a:endParaRPr kumimoji="1" lang="zh-CN" altLang="en-US" sz="2800" b="1" dirty="0">
              <a:solidFill>
                <a:srgbClr val="000066"/>
              </a:solidFill>
              <a:latin typeface="Arial" charset="0"/>
              <a:ea typeface="幼圆" pitchFamily="49" charset="-122"/>
            </a:endParaRPr>
          </a:p>
        </p:txBody>
      </p:sp>
      <p:sp>
        <p:nvSpPr>
          <p:cNvPr id="1398805" name="Text Box 21"/>
          <p:cNvSpPr txBox="1">
            <a:spLocks noChangeArrowheads="1"/>
          </p:cNvSpPr>
          <p:nvPr/>
        </p:nvSpPr>
        <p:spPr bwMode="auto">
          <a:xfrm>
            <a:off x="2054889" y="5113557"/>
            <a:ext cx="111601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800" b="1" dirty="0">
                <a:solidFill>
                  <a:srgbClr val="000066"/>
                </a:solidFill>
                <a:latin typeface="Arial" charset="0"/>
                <a:ea typeface="幼圆" pitchFamily="49" charset="-122"/>
              </a:rPr>
              <a:t>含水量</a:t>
            </a:r>
          </a:p>
        </p:txBody>
      </p:sp>
      <p:sp>
        <p:nvSpPr>
          <p:cNvPr id="1398806" name="Text Box 22"/>
          <p:cNvSpPr txBox="1">
            <a:spLocks noChangeArrowheads="1"/>
          </p:cNvSpPr>
          <p:nvPr/>
        </p:nvSpPr>
        <p:spPr bwMode="auto">
          <a:xfrm>
            <a:off x="7405688" y="4484773"/>
            <a:ext cx="76041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800" b="1" dirty="0">
                <a:solidFill>
                  <a:srgbClr val="C00000"/>
                </a:solidFill>
                <a:latin typeface="Arial" charset="0"/>
                <a:ea typeface="幼圆" pitchFamily="49" charset="-122"/>
              </a:rPr>
              <a:t>较硬</a:t>
            </a:r>
          </a:p>
        </p:txBody>
      </p:sp>
      <p:sp>
        <p:nvSpPr>
          <p:cNvPr id="1398807" name="Text Box 23"/>
          <p:cNvSpPr txBox="1">
            <a:spLocks noChangeArrowheads="1"/>
          </p:cNvSpPr>
          <p:nvPr/>
        </p:nvSpPr>
        <p:spPr bwMode="auto">
          <a:xfrm>
            <a:off x="7405688" y="3802739"/>
            <a:ext cx="7604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800" b="1" dirty="0">
                <a:solidFill>
                  <a:srgbClr val="C00000"/>
                </a:solidFill>
                <a:latin typeface="Arial" charset="0"/>
                <a:ea typeface="幼圆" pitchFamily="49" charset="-122"/>
              </a:rPr>
              <a:t>可塑</a:t>
            </a:r>
          </a:p>
        </p:txBody>
      </p:sp>
      <p:sp>
        <p:nvSpPr>
          <p:cNvPr id="1398808" name="Text Box 24"/>
          <p:cNvSpPr txBox="1">
            <a:spLocks noChangeArrowheads="1"/>
          </p:cNvSpPr>
          <p:nvPr/>
        </p:nvSpPr>
        <p:spPr bwMode="auto">
          <a:xfrm>
            <a:off x="7405688" y="3094033"/>
            <a:ext cx="76041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800" b="1">
                <a:solidFill>
                  <a:srgbClr val="C00000"/>
                </a:solidFill>
                <a:latin typeface="Arial" charset="0"/>
                <a:ea typeface="幼圆" pitchFamily="49" charset="-122"/>
              </a:rPr>
              <a:t>流动</a:t>
            </a:r>
          </a:p>
        </p:txBody>
      </p:sp>
      <p:sp>
        <p:nvSpPr>
          <p:cNvPr id="71696" name="Text Box 25"/>
          <p:cNvSpPr txBox="1">
            <a:spLocks noChangeArrowheads="1"/>
          </p:cNvSpPr>
          <p:nvPr/>
        </p:nvSpPr>
        <p:spPr bwMode="auto">
          <a:xfrm>
            <a:off x="2624138" y="5754688"/>
            <a:ext cx="44434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smtClean="0">
                <a:solidFill>
                  <a:srgbClr val="000066"/>
                </a:solidFill>
                <a:ea typeface="黑体" pitchFamily="2" charset="-122"/>
              </a:rPr>
              <a:t>黏性</a:t>
            </a:r>
            <a:r>
              <a:rPr lang="zh-CN" altLang="en-US" sz="4000" b="1" dirty="0">
                <a:solidFill>
                  <a:srgbClr val="000066"/>
                </a:solidFill>
                <a:ea typeface="黑体" pitchFamily="2" charset="-122"/>
              </a:rPr>
              <a:t>土的稠度状态</a:t>
            </a:r>
            <a:endParaRPr lang="en-US" altLang="zh-CN" sz="4000" b="1" dirty="0">
              <a:solidFill>
                <a:srgbClr val="000066"/>
              </a:solidFill>
              <a:ea typeface="黑体" pitchFamily="2" charset="-122"/>
            </a:endParaRPr>
          </a:p>
        </p:txBody>
      </p:sp>
      <p:sp>
        <p:nvSpPr>
          <p:cNvPr id="1398810" name="AutoShape 26"/>
          <p:cNvSpPr>
            <a:spLocks noChangeArrowheads="1"/>
          </p:cNvSpPr>
          <p:nvPr/>
        </p:nvSpPr>
        <p:spPr bwMode="auto">
          <a:xfrm>
            <a:off x="1368425" y="2307033"/>
            <a:ext cx="563563" cy="381000"/>
          </a:xfrm>
          <a:prstGeom prst="homePlate">
            <a:avLst>
              <a:gd name="adj" fmla="val 36979"/>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18"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2" name="矩形 1"/>
          <p:cNvSpPr/>
          <p:nvPr/>
        </p:nvSpPr>
        <p:spPr>
          <a:xfrm>
            <a:off x="2491858" y="3102016"/>
            <a:ext cx="297712" cy="19165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 Box 21"/>
          <p:cNvSpPr txBox="1">
            <a:spLocks noChangeArrowheads="1"/>
          </p:cNvSpPr>
          <p:nvPr/>
        </p:nvSpPr>
        <p:spPr bwMode="auto">
          <a:xfrm>
            <a:off x="7023843" y="5106468"/>
            <a:ext cx="151410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800" b="1" dirty="0" smtClean="0">
                <a:solidFill>
                  <a:srgbClr val="000066"/>
                </a:solidFill>
                <a:latin typeface="Arial" charset="0"/>
                <a:ea typeface="幼圆" pitchFamily="49" charset="-122"/>
              </a:rPr>
              <a:t>稠度状态</a:t>
            </a:r>
            <a:endParaRPr kumimoji="1" lang="zh-CN" altLang="en-US" sz="2800" b="1" dirty="0">
              <a:solidFill>
                <a:srgbClr val="000066"/>
              </a:solidFill>
              <a:latin typeface="Arial" charset="0"/>
              <a:ea typeface="幼圆" pitchFamily="49" charset="-122"/>
            </a:endParaRPr>
          </a:p>
        </p:txBody>
      </p:sp>
      <p:sp>
        <p:nvSpPr>
          <p:cNvPr id="22" name="Text Box 21"/>
          <p:cNvSpPr txBox="1">
            <a:spLocks noChangeArrowheads="1"/>
          </p:cNvSpPr>
          <p:nvPr/>
        </p:nvSpPr>
        <p:spPr bwMode="auto">
          <a:xfrm>
            <a:off x="2453466" y="3103426"/>
            <a:ext cx="35339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1800" b="1" dirty="0" smtClean="0">
                <a:solidFill>
                  <a:srgbClr val="000066"/>
                </a:solidFill>
                <a:latin typeface="Arial" charset="0"/>
                <a:ea typeface="幼圆" pitchFamily="49" charset="-122"/>
              </a:rPr>
              <a:t>高</a:t>
            </a:r>
            <a:endParaRPr kumimoji="1" lang="en-US" altLang="zh-CN" sz="1800" b="1" dirty="0" smtClean="0">
              <a:solidFill>
                <a:srgbClr val="000066"/>
              </a:solidFill>
              <a:latin typeface="Arial" charset="0"/>
              <a:ea typeface="幼圆" pitchFamily="49" charset="-122"/>
            </a:endParaRPr>
          </a:p>
          <a:p>
            <a:pPr algn="ctr" eaLnBrk="1" hangingPunct="1">
              <a:lnSpc>
                <a:spcPct val="100000"/>
              </a:lnSpc>
              <a:spcBef>
                <a:spcPct val="0"/>
              </a:spcBef>
              <a:spcAft>
                <a:spcPct val="0"/>
              </a:spcAft>
            </a:pPr>
            <a:endParaRPr kumimoji="1" lang="en-US" altLang="zh-CN" sz="1800" b="1" dirty="0">
              <a:solidFill>
                <a:srgbClr val="000066"/>
              </a:solidFill>
              <a:latin typeface="Arial" charset="0"/>
              <a:ea typeface="幼圆" pitchFamily="49" charset="-122"/>
            </a:endParaRPr>
          </a:p>
          <a:p>
            <a:pPr algn="ctr" eaLnBrk="1" hangingPunct="1">
              <a:lnSpc>
                <a:spcPct val="100000"/>
              </a:lnSpc>
              <a:spcBef>
                <a:spcPct val="0"/>
              </a:spcBef>
              <a:spcAft>
                <a:spcPct val="0"/>
              </a:spcAft>
            </a:pPr>
            <a:endParaRPr kumimoji="1" lang="en-US" altLang="zh-CN" sz="1800" b="1" dirty="0" smtClean="0">
              <a:solidFill>
                <a:srgbClr val="000066"/>
              </a:solidFill>
              <a:latin typeface="Arial" charset="0"/>
              <a:ea typeface="幼圆" pitchFamily="49" charset="-122"/>
            </a:endParaRPr>
          </a:p>
          <a:p>
            <a:pPr algn="ctr" eaLnBrk="1" hangingPunct="1">
              <a:lnSpc>
                <a:spcPct val="100000"/>
              </a:lnSpc>
              <a:spcBef>
                <a:spcPct val="0"/>
              </a:spcBef>
              <a:spcAft>
                <a:spcPct val="0"/>
              </a:spcAft>
            </a:pPr>
            <a:endParaRPr kumimoji="1" lang="en-US" altLang="zh-CN" sz="1800" b="1" dirty="0">
              <a:solidFill>
                <a:srgbClr val="000066"/>
              </a:solidFill>
              <a:latin typeface="Arial" charset="0"/>
              <a:ea typeface="幼圆" pitchFamily="49" charset="-122"/>
            </a:endParaRPr>
          </a:p>
          <a:p>
            <a:pPr algn="ctr" eaLnBrk="1" hangingPunct="1">
              <a:lnSpc>
                <a:spcPct val="100000"/>
              </a:lnSpc>
              <a:spcBef>
                <a:spcPct val="0"/>
              </a:spcBef>
              <a:spcAft>
                <a:spcPct val="0"/>
              </a:spcAft>
            </a:pPr>
            <a:endParaRPr kumimoji="1" lang="en-US" altLang="zh-CN" sz="1800" b="1" dirty="0" smtClean="0">
              <a:solidFill>
                <a:srgbClr val="000066"/>
              </a:solidFill>
              <a:latin typeface="Arial" charset="0"/>
              <a:ea typeface="幼圆" pitchFamily="49" charset="-122"/>
            </a:endParaRPr>
          </a:p>
          <a:p>
            <a:pPr algn="ctr" eaLnBrk="1" hangingPunct="1">
              <a:lnSpc>
                <a:spcPct val="100000"/>
              </a:lnSpc>
              <a:spcBef>
                <a:spcPct val="0"/>
              </a:spcBef>
              <a:spcAft>
                <a:spcPct val="0"/>
              </a:spcAft>
            </a:pPr>
            <a:endParaRPr kumimoji="1" lang="en-US" altLang="zh-CN" sz="1800" b="1" dirty="0">
              <a:solidFill>
                <a:srgbClr val="000066"/>
              </a:solidFill>
              <a:latin typeface="Arial" charset="0"/>
              <a:ea typeface="幼圆" pitchFamily="49" charset="-122"/>
            </a:endParaRPr>
          </a:p>
          <a:p>
            <a:pPr algn="ctr" eaLnBrk="1" hangingPunct="1">
              <a:lnSpc>
                <a:spcPct val="100000"/>
              </a:lnSpc>
              <a:spcBef>
                <a:spcPct val="0"/>
              </a:spcBef>
              <a:spcAft>
                <a:spcPct val="0"/>
              </a:spcAft>
            </a:pPr>
            <a:r>
              <a:rPr kumimoji="1" lang="zh-CN" altLang="en-US" sz="1800" b="1" dirty="0" smtClean="0">
                <a:solidFill>
                  <a:srgbClr val="000066"/>
                </a:solidFill>
                <a:latin typeface="Arial" charset="0"/>
                <a:ea typeface="幼圆" pitchFamily="49" charset="-122"/>
              </a:rPr>
              <a:t>低</a:t>
            </a:r>
            <a:endParaRPr kumimoji="1" lang="zh-CN" altLang="en-US" sz="1800" b="1" dirty="0">
              <a:solidFill>
                <a:srgbClr val="000066"/>
              </a:solidFill>
              <a:latin typeface="Arial" charset="0"/>
              <a:ea typeface="幼圆" pitchFamily="49" charset="-122"/>
            </a:endParaRPr>
          </a:p>
        </p:txBody>
      </p:sp>
    </p:spTree>
    <p:extLst>
      <p:ext uri="{BB962C8B-B14F-4D97-AF65-F5344CB8AC3E}">
        <p14:creationId xmlns:p14="http://schemas.microsoft.com/office/powerpoint/2010/main" val="13739404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98796">
                                            <p:txEl>
                                              <p:pRg st="0" end="0"/>
                                            </p:txEl>
                                          </p:spTgt>
                                        </p:tgtEl>
                                        <p:attrNameLst>
                                          <p:attrName>style.visibility</p:attrName>
                                        </p:attrNameLst>
                                      </p:cBhvr>
                                      <p:to>
                                        <p:strVal val="visible"/>
                                      </p:to>
                                    </p:set>
                                    <p:anim calcmode="lin" valueType="num">
                                      <p:cBhvr additive="base">
                                        <p:cTn id="7" dur="500" fill="hold"/>
                                        <p:tgtEl>
                                          <p:spTgt spid="139879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987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98810"/>
                                        </p:tgtEl>
                                        <p:attrNameLst>
                                          <p:attrName>style.visibility</p:attrName>
                                        </p:attrNameLst>
                                      </p:cBhvr>
                                      <p:to>
                                        <p:strVal val="visible"/>
                                      </p:to>
                                    </p:set>
                                    <p:animEffect transition="in" filter="wipe(left)">
                                      <p:cBhvr>
                                        <p:cTn id="13" dur="1000"/>
                                        <p:tgtEl>
                                          <p:spTgt spid="1398810"/>
                                        </p:tgtEl>
                                      </p:cBhvr>
                                    </p:animEffect>
                                  </p:childTnLst>
                                </p:cTn>
                              </p:par>
                            </p:childTnLst>
                          </p:cTn>
                        </p:par>
                        <p:par>
                          <p:cTn id="14" fill="hold" nodeType="afterGroup">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1398797"/>
                                        </p:tgtEl>
                                        <p:attrNameLst>
                                          <p:attrName>style.visibility</p:attrName>
                                        </p:attrNameLst>
                                      </p:cBhvr>
                                      <p:to>
                                        <p:strVal val="visible"/>
                                      </p:to>
                                    </p:set>
                                    <p:anim calcmode="lin" valueType="num">
                                      <p:cBhvr additive="base">
                                        <p:cTn id="17" dur="1000" fill="hold"/>
                                        <p:tgtEl>
                                          <p:spTgt spid="1398797"/>
                                        </p:tgtEl>
                                        <p:attrNameLst>
                                          <p:attrName>ppt_x</p:attrName>
                                        </p:attrNameLst>
                                      </p:cBhvr>
                                      <p:tavLst>
                                        <p:tav tm="0">
                                          <p:val>
                                            <p:strVal val="1+#ppt_w/2"/>
                                          </p:val>
                                        </p:tav>
                                        <p:tav tm="100000">
                                          <p:val>
                                            <p:strVal val="#ppt_x"/>
                                          </p:val>
                                        </p:tav>
                                      </p:tavLst>
                                    </p:anim>
                                    <p:anim calcmode="lin" valueType="num">
                                      <p:cBhvr additive="base">
                                        <p:cTn id="18" dur="1000" fill="hold"/>
                                        <p:tgtEl>
                                          <p:spTgt spid="139879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nodeType="after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98805"/>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398804"/>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down)">
                                      <p:cBhvr>
                                        <p:cTn id="39" dur="1000"/>
                                        <p:tgtEl>
                                          <p:spTgt spid="20"/>
                                        </p:tgtEl>
                                      </p:cBhvr>
                                    </p:animEffect>
                                  </p:childTnLst>
                                </p:cTn>
                              </p:par>
                            </p:childTnLst>
                          </p:cTn>
                        </p:par>
                        <p:par>
                          <p:cTn id="40" fill="hold">
                            <p:stCondLst>
                              <p:cond delay="1000"/>
                            </p:stCondLst>
                            <p:childTnLst>
                              <p:par>
                                <p:cTn id="41" presetID="47" presetClass="entr" presetSubtype="0" fill="hold" grpId="0" nodeType="afterEffect">
                                  <p:stCondLst>
                                    <p:cond delay="0"/>
                                  </p:stCondLst>
                                  <p:childTnLst>
                                    <p:set>
                                      <p:cBhvr>
                                        <p:cTn id="42" dur="1" fill="hold">
                                          <p:stCondLst>
                                            <p:cond delay="0"/>
                                          </p:stCondLst>
                                        </p:cTn>
                                        <p:tgtEl>
                                          <p:spTgt spid="1398798"/>
                                        </p:tgtEl>
                                        <p:attrNameLst>
                                          <p:attrName>style.visibility</p:attrName>
                                        </p:attrNameLst>
                                      </p:cBhvr>
                                      <p:to>
                                        <p:strVal val="visible"/>
                                      </p:to>
                                    </p:set>
                                    <p:animEffect transition="in" filter="fade">
                                      <p:cBhvr>
                                        <p:cTn id="43" dur="1000"/>
                                        <p:tgtEl>
                                          <p:spTgt spid="1398798"/>
                                        </p:tgtEl>
                                      </p:cBhvr>
                                    </p:animEffect>
                                    <p:anim calcmode="lin" valueType="num">
                                      <p:cBhvr>
                                        <p:cTn id="44" dur="1000" fill="hold"/>
                                        <p:tgtEl>
                                          <p:spTgt spid="1398798"/>
                                        </p:tgtEl>
                                        <p:attrNameLst>
                                          <p:attrName>ppt_x</p:attrName>
                                        </p:attrNameLst>
                                      </p:cBhvr>
                                      <p:tavLst>
                                        <p:tav tm="0">
                                          <p:val>
                                            <p:strVal val="#ppt_x"/>
                                          </p:val>
                                        </p:tav>
                                        <p:tav tm="100000">
                                          <p:val>
                                            <p:strVal val="#ppt_x"/>
                                          </p:val>
                                        </p:tav>
                                      </p:tavLst>
                                    </p:anim>
                                    <p:anim calcmode="lin" valueType="num">
                                      <p:cBhvr>
                                        <p:cTn id="45" dur="1000" fill="hold"/>
                                        <p:tgtEl>
                                          <p:spTgt spid="1398798"/>
                                        </p:tgtEl>
                                        <p:attrNameLst>
                                          <p:attrName>ppt_y</p:attrName>
                                        </p:attrNameLst>
                                      </p:cBhvr>
                                      <p:tavLst>
                                        <p:tav tm="0">
                                          <p:val>
                                            <p:strVal val="#ppt_y-.1"/>
                                          </p:val>
                                        </p:tav>
                                        <p:tav tm="100000">
                                          <p:val>
                                            <p:strVal val="#ppt_y"/>
                                          </p:val>
                                        </p:tav>
                                      </p:tavLst>
                                    </p:anim>
                                  </p:childTnLst>
                                </p:cTn>
                              </p:par>
                            </p:childTnLst>
                          </p:cTn>
                        </p:par>
                        <p:par>
                          <p:cTn id="46" fill="hold" nodeType="afterGroup">
                            <p:stCondLst>
                              <p:cond delay="2000"/>
                            </p:stCondLst>
                            <p:childTnLst>
                              <p:par>
                                <p:cTn id="47" presetID="1" presetClass="entr" presetSubtype="0" fill="hold" grpId="0" nodeType="afterEffect">
                                  <p:stCondLst>
                                    <p:cond delay="0"/>
                                  </p:stCondLst>
                                  <p:childTnLst>
                                    <p:set>
                                      <p:cBhvr>
                                        <p:cTn id="48" dur="1" fill="hold">
                                          <p:stCondLst>
                                            <p:cond delay="0"/>
                                          </p:stCondLst>
                                        </p:cTn>
                                        <p:tgtEl>
                                          <p:spTgt spid="1398806"/>
                                        </p:tgtEl>
                                        <p:attrNameLst>
                                          <p:attrName>style.visibility</p:attrName>
                                        </p:attrNameLst>
                                      </p:cBhvr>
                                      <p:to>
                                        <p:strVal val="visible"/>
                                      </p:to>
                                    </p:set>
                                  </p:childTnLst>
                                </p:cTn>
                              </p:par>
                            </p:childTnLst>
                          </p:cTn>
                        </p:par>
                      </p:childTnLst>
                    </p:cTn>
                  </p:par>
                  <p:par>
                    <p:cTn id="49" fill="hold">
                      <p:stCondLst>
                        <p:cond delay="indefinite"/>
                      </p:stCondLst>
                      <p:childTnLst>
                        <p:par>
                          <p:cTn id="50" fill="hold" nodeType="afterGroup">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down)">
                                      <p:cBhvr>
                                        <p:cTn id="53" dur="1000"/>
                                        <p:tgtEl>
                                          <p:spTgt spid="23"/>
                                        </p:tgtEl>
                                      </p:cBhvr>
                                    </p:animEffect>
                                  </p:childTnLst>
                                </p:cTn>
                              </p:par>
                            </p:childTnLst>
                          </p:cTn>
                        </p:par>
                        <p:par>
                          <p:cTn id="54" fill="hold">
                            <p:stCondLst>
                              <p:cond delay="1000"/>
                            </p:stCondLst>
                            <p:childTnLst>
                              <p:par>
                                <p:cTn id="55" presetID="1" presetClass="exit" presetSubtype="0" fill="hold" grpId="1" nodeType="afterEffect">
                                  <p:stCondLst>
                                    <p:cond delay="0"/>
                                  </p:stCondLst>
                                  <p:childTnLst>
                                    <p:set>
                                      <p:cBhvr>
                                        <p:cTn id="56" dur="1" fill="hold">
                                          <p:stCondLst>
                                            <p:cond delay="0"/>
                                          </p:stCondLst>
                                        </p:cTn>
                                        <p:tgtEl>
                                          <p:spTgt spid="1398798"/>
                                        </p:tgtEl>
                                        <p:attrNameLst>
                                          <p:attrName>style.visibility</p:attrName>
                                        </p:attrNameLst>
                                      </p:cBhvr>
                                      <p:to>
                                        <p:strVal val="hidden"/>
                                      </p:to>
                                    </p:set>
                                  </p:childTnLst>
                                </p:cTn>
                              </p:par>
                            </p:childTnLst>
                          </p:cTn>
                        </p:par>
                        <p:par>
                          <p:cTn id="57" fill="hold">
                            <p:stCondLst>
                              <p:cond delay="1000"/>
                            </p:stCondLst>
                            <p:childTnLst>
                              <p:par>
                                <p:cTn id="58" presetID="1" presetClass="entr" presetSubtype="0" fill="hold" grpId="0" nodeType="afterEffect">
                                  <p:stCondLst>
                                    <p:cond delay="0"/>
                                  </p:stCondLst>
                                  <p:childTnLst>
                                    <p:set>
                                      <p:cBhvr>
                                        <p:cTn id="59" dur="1" fill="hold">
                                          <p:stCondLst>
                                            <p:cond delay="0"/>
                                          </p:stCondLst>
                                        </p:cTn>
                                        <p:tgtEl>
                                          <p:spTgt spid="1398799"/>
                                        </p:tgtEl>
                                        <p:attrNameLst>
                                          <p:attrName>style.visibility</p:attrName>
                                        </p:attrNameLst>
                                      </p:cBhvr>
                                      <p:to>
                                        <p:strVal val="visible"/>
                                      </p:to>
                                    </p:set>
                                  </p:childTnLst>
                                </p:cTn>
                              </p:par>
                            </p:childTnLst>
                          </p:cTn>
                        </p:par>
                        <p:par>
                          <p:cTn id="60" fill="hold" nodeType="afterGroup">
                            <p:stCondLst>
                              <p:cond delay="1000"/>
                            </p:stCondLst>
                            <p:childTnLst>
                              <p:par>
                                <p:cTn id="61" presetID="47" presetClass="entr" presetSubtype="0" fill="hold" grpId="0" nodeType="afterEffect">
                                  <p:stCondLst>
                                    <p:cond delay="0"/>
                                  </p:stCondLst>
                                  <p:childTnLst>
                                    <p:set>
                                      <p:cBhvr>
                                        <p:cTn id="62" dur="1" fill="hold">
                                          <p:stCondLst>
                                            <p:cond delay="0"/>
                                          </p:stCondLst>
                                        </p:cTn>
                                        <p:tgtEl>
                                          <p:spTgt spid="1398807"/>
                                        </p:tgtEl>
                                        <p:attrNameLst>
                                          <p:attrName>style.visibility</p:attrName>
                                        </p:attrNameLst>
                                      </p:cBhvr>
                                      <p:to>
                                        <p:strVal val="visible"/>
                                      </p:to>
                                    </p:set>
                                    <p:animEffect transition="in" filter="fade">
                                      <p:cBhvr>
                                        <p:cTn id="63" dur="2000"/>
                                        <p:tgtEl>
                                          <p:spTgt spid="1398807"/>
                                        </p:tgtEl>
                                      </p:cBhvr>
                                    </p:animEffect>
                                    <p:anim calcmode="lin" valueType="num">
                                      <p:cBhvr>
                                        <p:cTn id="64" dur="2000" fill="hold"/>
                                        <p:tgtEl>
                                          <p:spTgt spid="1398807"/>
                                        </p:tgtEl>
                                        <p:attrNameLst>
                                          <p:attrName>ppt_x</p:attrName>
                                        </p:attrNameLst>
                                      </p:cBhvr>
                                      <p:tavLst>
                                        <p:tav tm="0">
                                          <p:val>
                                            <p:strVal val="#ppt_x"/>
                                          </p:val>
                                        </p:tav>
                                        <p:tav tm="100000">
                                          <p:val>
                                            <p:strVal val="#ppt_x"/>
                                          </p:val>
                                        </p:tav>
                                      </p:tavLst>
                                    </p:anim>
                                    <p:anim calcmode="lin" valueType="num">
                                      <p:cBhvr>
                                        <p:cTn id="65" dur="2000" fill="hold"/>
                                        <p:tgtEl>
                                          <p:spTgt spid="139880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nodeType="afterGroup">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wipe(down)">
                                      <p:cBhvr>
                                        <p:cTn id="70" dur="1000"/>
                                        <p:tgtEl>
                                          <p:spTgt spid="24"/>
                                        </p:tgtEl>
                                      </p:cBhvr>
                                    </p:animEffect>
                                  </p:childTnLst>
                                </p:cTn>
                              </p:par>
                            </p:childTnLst>
                          </p:cTn>
                        </p:par>
                        <p:par>
                          <p:cTn id="71" fill="hold">
                            <p:stCondLst>
                              <p:cond delay="1000"/>
                            </p:stCondLst>
                            <p:childTnLst>
                              <p:par>
                                <p:cTn id="72" presetID="1" presetClass="exit" presetSubtype="0" fill="hold" grpId="1" nodeType="afterEffect">
                                  <p:stCondLst>
                                    <p:cond delay="0"/>
                                  </p:stCondLst>
                                  <p:childTnLst>
                                    <p:set>
                                      <p:cBhvr>
                                        <p:cTn id="73" dur="1" fill="hold">
                                          <p:stCondLst>
                                            <p:cond delay="0"/>
                                          </p:stCondLst>
                                        </p:cTn>
                                        <p:tgtEl>
                                          <p:spTgt spid="1398799"/>
                                        </p:tgtEl>
                                        <p:attrNameLst>
                                          <p:attrName>style.visibility</p:attrName>
                                        </p:attrNameLst>
                                      </p:cBhvr>
                                      <p:to>
                                        <p:strVal val="hidden"/>
                                      </p:to>
                                    </p:set>
                                  </p:childTnLst>
                                </p:cTn>
                              </p:par>
                            </p:childTnLst>
                          </p:cTn>
                        </p:par>
                        <p:par>
                          <p:cTn id="74" fill="hold">
                            <p:stCondLst>
                              <p:cond delay="1000"/>
                            </p:stCondLst>
                            <p:childTnLst>
                              <p:par>
                                <p:cTn id="75" presetID="1" presetClass="entr" presetSubtype="0" fill="hold" grpId="0" nodeType="afterEffect">
                                  <p:stCondLst>
                                    <p:cond delay="0"/>
                                  </p:stCondLst>
                                  <p:childTnLst>
                                    <p:set>
                                      <p:cBhvr>
                                        <p:cTn id="76" dur="1" fill="hold">
                                          <p:stCondLst>
                                            <p:cond delay="0"/>
                                          </p:stCondLst>
                                        </p:cTn>
                                        <p:tgtEl>
                                          <p:spTgt spid="1398800"/>
                                        </p:tgtEl>
                                        <p:attrNameLst>
                                          <p:attrName>style.visibility</p:attrName>
                                        </p:attrNameLst>
                                      </p:cBhvr>
                                      <p:to>
                                        <p:strVal val="visible"/>
                                      </p:to>
                                    </p:set>
                                  </p:childTnLst>
                                </p:cTn>
                              </p:par>
                            </p:childTnLst>
                          </p:cTn>
                        </p:par>
                        <p:par>
                          <p:cTn id="77" fill="hold" nodeType="afterGroup">
                            <p:stCondLst>
                              <p:cond delay="1000"/>
                            </p:stCondLst>
                            <p:childTnLst>
                              <p:par>
                                <p:cTn id="78" presetID="47" presetClass="entr" presetSubtype="0" fill="hold" grpId="0" nodeType="afterEffect">
                                  <p:stCondLst>
                                    <p:cond delay="0"/>
                                  </p:stCondLst>
                                  <p:childTnLst>
                                    <p:set>
                                      <p:cBhvr>
                                        <p:cTn id="79" dur="1" fill="hold">
                                          <p:stCondLst>
                                            <p:cond delay="0"/>
                                          </p:stCondLst>
                                        </p:cTn>
                                        <p:tgtEl>
                                          <p:spTgt spid="1398808"/>
                                        </p:tgtEl>
                                        <p:attrNameLst>
                                          <p:attrName>style.visibility</p:attrName>
                                        </p:attrNameLst>
                                      </p:cBhvr>
                                      <p:to>
                                        <p:strVal val="visible"/>
                                      </p:to>
                                    </p:set>
                                    <p:animEffect transition="in" filter="fade">
                                      <p:cBhvr>
                                        <p:cTn id="80" dur="2000"/>
                                        <p:tgtEl>
                                          <p:spTgt spid="1398808"/>
                                        </p:tgtEl>
                                      </p:cBhvr>
                                    </p:animEffect>
                                    <p:anim calcmode="lin" valueType="num">
                                      <p:cBhvr>
                                        <p:cTn id="81" dur="2000" fill="hold"/>
                                        <p:tgtEl>
                                          <p:spTgt spid="1398808"/>
                                        </p:tgtEl>
                                        <p:attrNameLst>
                                          <p:attrName>ppt_x</p:attrName>
                                        </p:attrNameLst>
                                      </p:cBhvr>
                                      <p:tavLst>
                                        <p:tav tm="0">
                                          <p:val>
                                            <p:strVal val="#ppt_x"/>
                                          </p:val>
                                        </p:tav>
                                        <p:tav tm="100000">
                                          <p:val>
                                            <p:strVal val="#ppt_x"/>
                                          </p:val>
                                        </p:tav>
                                      </p:tavLst>
                                    </p:anim>
                                    <p:anim calcmode="lin" valueType="num">
                                      <p:cBhvr>
                                        <p:cTn id="82" dur="2000" fill="hold"/>
                                        <p:tgtEl>
                                          <p:spTgt spid="139880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0" grpId="0" animBg="1"/>
      <p:bldP spid="23" grpId="0" animBg="1"/>
      <p:bldP spid="1398796" grpId="0" build="p" bldLvl="2" autoUpdateAnimBg="0" advAuto="0"/>
      <p:bldP spid="1398797" grpId="0"/>
      <p:bldP spid="1398798" grpId="0" animBg="1"/>
      <p:bldP spid="1398798" grpId="1" animBg="1"/>
      <p:bldP spid="1398799" grpId="0" animBg="1"/>
      <p:bldP spid="1398799" grpId="1" animBg="1"/>
      <p:bldP spid="1398800" grpId="0" animBg="1"/>
      <p:bldP spid="1398804" grpId="0"/>
      <p:bldP spid="1398805" grpId="0"/>
      <p:bldP spid="1398806" grpId="0"/>
      <p:bldP spid="1398807" grpId="0"/>
      <p:bldP spid="1398808" grpId="0"/>
      <p:bldP spid="1398810" grpId="0" animBg="1"/>
      <p:bldP spid="2" grpId="0" animBg="1"/>
      <p:bldP spid="19" grpId="0"/>
      <p:bldP spid="2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p:cNvSpPr/>
          <p:nvPr/>
        </p:nvSpPr>
        <p:spPr>
          <a:xfrm rot="5400000">
            <a:off x="2388062" y="3532524"/>
            <a:ext cx="308275" cy="1068804"/>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rot="5400000">
            <a:off x="6914994" y="2953914"/>
            <a:ext cx="308275" cy="2225739"/>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rot="5400000">
            <a:off x="4307570" y="2518827"/>
            <a:ext cx="308275" cy="3097188"/>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8005" name="Rectangle 5"/>
          <p:cNvSpPr>
            <a:spLocks noChangeArrowheads="1"/>
          </p:cNvSpPr>
          <p:nvPr/>
        </p:nvSpPr>
        <p:spPr bwMode="auto">
          <a:xfrm>
            <a:off x="1920902" y="751036"/>
            <a:ext cx="6970713" cy="1862138"/>
          </a:xfrm>
          <a:prstGeom prst="rect">
            <a:avLst/>
          </a:prstGeom>
          <a:solidFill>
            <a:srgbClr val="FFFF99"/>
          </a:solidFill>
          <a:ln>
            <a:noFill/>
          </a:ln>
        </p:spPr>
        <p:txBody>
          <a:bodyPr wrap="none" anchor="ctr"/>
          <a:lstStyle/>
          <a:p>
            <a:endParaRPr lang="zh-CN" altLang="en-US"/>
          </a:p>
        </p:txBody>
      </p:sp>
      <p:sp>
        <p:nvSpPr>
          <p:cNvPr id="1408008" name="AutoShape 8"/>
          <p:cNvSpPr>
            <a:spLocks noChangeArrowheads="1"/>
          </p:cNvSpPr>
          <p:nvPr/>
        </p:nvSpPr>
        <p:spPr bwMode="auto">
          <a:xfrm>
            <a:off x="2672594" y="4713926"/>
            <a:ext cx="4987525" cy="40862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square" lIns="0" tIns="0" rIns="0" bIns="0">
            <a:spAutoFit/>
          </a:bodyPr>
          <a:lstStyle/>
          <a:p>
            <a:pPr algn="ctr">
              <a:lnSpc>
                <a:spcPct val="100000"/>
              </a:lnSpc>
              <a:spcBef>
                <a:spcPct val="0"/>
              </a:spcBef>
              <a:spcAft>
                <a:spcPct val="0"/>
              </a:spcAft>
            </a:pPr>
            <a:r>
              <a:rPr kumimoji="1" lang="zh-CN" altLang="en-US" sz="2400" b="1" dirty="0" smtClean="0">
                <a:solidFill>
                  <a:srgbClr val="000066"/>
                </a:solidFill>
                <a:latin typeface="幼圆" pitchFamily="49" charset="-122"/>
                <a:ea typeface="幼圆" pitchFamily="49" charset="-122"/>
              </a:rPr>
              <a:t>黏性</a:t>
            </a:r>
            <a:r>
              <a:rPr kumimoji="1" lang="zh-CN" altLang="en-US" sz="2400" b="1" dirty="0">
                <a:solidFill>
                  <a:srgbClr val="000066"/>
                </a:solidFill>
                <a:latin typeface="幼圆" pitchFamily="49" charset="-122"/>
                <a:ea typeface="幼圆" pitchFamily="49" charset="-122"/>
              </a:rPr>
              <a:t>土的稠度</a:t>
            </a:r>
            <a:r>
              <a:rPr kumimoji="1" lang="zh-CN" altLang="en-US" sz="2400" b="1" dirty="0" smtClean="0">
                <a:solidFill>
                  <a:srgbClr val="000066"/>
                </a:solidFill>
                <a:latin typeface="幼圆" pitchFamily="49" charset="-122"/>
                <a:ea typeface="幼圆" pitchFamily="49" charset="-122"/>
              </a:rPr>
              <a:t>反映了土</a:t>
            </a:r>
            <a:r>
              <a:rPr kumimoji="1" lang="zh-CN" altLang="en-US" sz="2400" b="1" dirty="0">
                <a:solidFill>
                  <a:srgbClr val="000066"/>
                </a:solidFill>
                <a:latin typeface="幼圆" pitchFamily="49" charset="-122"/>
                <a:ea typeface="幼圆" pitchFamily="49" charset="-122"/>
              </a:rPr>
              <a:t>中水的形态</a:t>
            </a:r>
          </a:p>
        </p:txBody>
      </p:sp>
      <p:sp>
        <p:nvSpPr>
          <p:cNvPr id="1408009" name="Rectangle 9"/>
          <p:cNvSpPr>
            <a:spLocks noChangeArrowheads="1"/>
          </p:cNvSpPr>
          <p:nvPr/>
        </p:nvSpPr>
        <p:spPr bwMode="auto">
          <a:xfrm>
            <a:off x="2065365" y="3247639"/>
            <a:ext cx="1784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sym typeface="Symbol" pitchFamily="18" charset="2"/>
              </a:rPr>
              <a:t>固态或</a:t>
            </a:r>
            <a:r>
              <a:rPr kumimoji="1" lang="zh-CN" altLang="en-US" sz="2000" b="1" dirty="0">
                <a:solidFill>
                  <a:srgbClr val="000066"/>
                </a:solidFill>
                <a:latin typeface="幼圆" pitchFamily="49" charset="-122"/>
                <a:ea typeface="幼圆" pitchFamily="49" charset="-122"/>
              </a:rPr>
              <a:t>半固态</a:t>
            </a:r>
          </a:p>
        </p:txBody>
      </p:sp>
      <p:sp>
        <p:nvSpPr>
          <p:cNvPr id="1408010" name="Rectangle 10"/>
          <p:cNvSpPr>
            <a:spLocks noChangeArrowheads="1"/>
          </p:cNvSpPr>
          <p:nvPr/>
        </p:nvSpPr>
        <p:spPr bwMode="auto">
          <a:xfrm>
            <a:off x="4464091" y="3239648"/>
            <a:ext cx="1223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rPr>
              <a:t>可塑状态     </a:t>
            </a:r>
          </a:p>
        </p:txBody>
      </p:sp>
      <p:sp>
        <p:nvSpPr>
          <p:cNvPr id="1408011" name="Rectangle 11"/>
          <p:cNvSpPr>
            <a:spLocks noChangeArrowheads="1"/>
          </p:cNvSpPr>
          <p:nvPr/>
        </p:nvSpPr>
        <p:spPr bwMode="auto">
          <a:xfrm>
            <a:off x="6932640" y="3242809"/>
            <a:ext cx="1336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rPr>
              <a:t>流动状态  </a:t>
            </a:r>
          </a:p>
        </p:txBody>
      </p:sp>
      <p:sp>
        <p:nvSpPr>
          <p:cNvPr id="1408012" name="Rectangle 12"/>
          <p:cNvSpPr>
            <a:spLocks noChangeArrowheads="1"/>
          </p:cNvSpPr>
          <p:nvPr/>
        </p:nvSpPr>
        <p:spPr bwMode="auto">
          <a:xfrm>
            <a:off x="2324127" y="2704493"/>
            <a:ext cx="1296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spcBef>
                <a:spcPct val="50000"/>
              </a:spcBef>
              <a:spcAft>
                <a:spcPct val="0"/>
              </a:spcAft>
            </a:pPr>
            <a:r>
              <a:rPr kumimoji="1" lang="zh-CN" altLang="en-US" sz="2000" b="1" dirty="0">
                <a:solidFill>
                  <a:srgbClr val="000066"/>
                </a:solidFill>
                <a:latin typeface="幼圆" pitchFamily="49" charset="-122"/>
                <a:ea typeface="幼圆" pitchFamily="49" charset="-122"/>
                <a:sym typeface="Symbol" pitchFamily="18" charset="2"/>
              </a:rPr>
              <a:t>强结合水</a:t>
            </a:r>
          </a:p>
        </p:txBody>
      </p:sp>
      <p:sp>
        <p:nvSpPr>
          <p:cNvPr id="1408013" name="Rectangle 13"/>
          <p:cNvSpPr>
            <a:spLocks noChangeArrowheads="1"/>
          </p:cNvSpPr>
          <p:nvPr/>
        </p:nvSpPr>
        <p:spPr bwMode="auto">
          <a:xfrm>
            <a:off x="4483127" y="2704493"/>
            <a:ext cx="1223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spcBef>
                <a:spcPct val="50000"/>
              </a:spcBef>
              <a:spcAft>
                <a:spcPct val="0"/>
              </a:spcAft>
            </a:pPr>
            <a:r>
              <a:rPr kumimoji="1" lang="zh-CN" altLang="en-US" sz="2000" b="1" dirty="0">
                <a:solidFill>
                  <a:srgbClr val="000066"/>
                </a:solidFill>
                <a:latin typeface="幼圆" pitchFamily="49" charset="-122"/>
                <a:ea typeface="幼圆" pitchFamily="49" charset="-122"/>
              </a:rPr>
              <a:t>弱结合水</a:t>
            </a:r>
            <a:endParaRPr kumimoji="1" lang="zh-CN" altLang="en-US" sz="2000" b="1" dirty="0">
              <a:solidFill>
                <a:srgbClr val="000066"/>
              </a:solidFill>
              <a:latin typeface="幼圆" pitchFamily="49" charset="-122"/>
              <a:ea typeface="幼圆" pitchFamily="49" charset="-122"/>
              <a:sym typeface="Symbol" pitchFamily="18" charset="2"/>
            </a:endParaRPr>
          </a:p>
        </p:txBody>
      </p:sp>
      <p:sp>
        <p:nvSpPr>
          <p:cNvPr id="1408014" name="Rectangle 14"/>
          <p:cNvSpPr>
            <a:spLocks noChangeArrowheads="1"/>
          </p:cNvSpPr>
          <p:nvPr/>
        </p:nvSpPr>
        <p:spPr bwMode="auto">
          <a:xfrm>
            <a:off x="7108852" y="2720395"/>
            <a:ext cx="1081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spcBef>
                <a:spcPct val="50000"/>
              </a:spcBef>
              <a:spcAft>
                <a:spcPct val="0"/>
              </a:spcAft>
            </a:pPr>
            <a:r>
              <a:rPr kumimoji="1" lang="zh-CN" altLang="en-US" sz="2000" b="1" dirty="0">
                <a:solidFill>
                  <a:srgbClr val="000066"/>
                </a:solidFill>
                <a:latin typeface="幼圆" pitchFamily="49" charset="-122"/>
                <a:ea typeface="幼圆" pitchFamily="49" charset="-122"/>
              </a:rPr>
              <a:t>自由水</a:t>
            </a:r>
            <a:endParaRPr kumimoji="1" lang="zh-CN" altLang="en-US" sz="2000" b="1" dirty="0">
              <a:solidFill>
                <a:srgbClr val="000066"/>
              </a:solidFill>
              <a:latin typeface="幼圆" pitchFamily="49" charset="-122"/>
              <a:ea typeface="幼圆" pitchFamily="49" charset="-122"/>
              <a:sym typeface="Symbol" pitchFamily="18" charset="2"/>
            </a:endParaRPr>
          </a:p>
        </p:txBody>
      </p:sp>
      <p:grpSp>
        <p:nvGrpSpPr>
          <p:cNvPr id="2" name="Group 19"/>
          <p:cNvGrpSpPr>
            <a:grpSpLocks/>
          </p:cNvGrpSpPr>
          <p:nvPr/>
        </p:nvGrpSpPr>
        <p:grpSpPr bwMode="auto">
          <a:xfrm>
            <a:off x="2059015" y="903436"/>
            <a:ext cx="1868487" cy="1225550"/>
            <a:chOff x="1287" y="514"/>
            <a:chExt cx="1167" cy="772"/>
          </a:xfrm>
        </p:grpSpPr>
        <p:sp>
          <p:nvSpPr>
            <p:cNvPr id="72770" name="Freeform 20"/>
            <p:cNvSpPr>
              <a:spLocks/>
            </p:cNvSpPr>
            <p:nvPr/>
          </p:nvSpPr>
          <p:spPr bwMode="auto">
            <a:xfrm>
              <a:off x="1356" y="861"/>
              <a:ext cx="791" cy="425"/>
            </a:xfrm>
            <a:custGeom>
              <a:avLst/>
              <a:gdLst>
                <a:gd name="T0" fmla="*/ 404 w 791"/>
                <a:gd name="T1" fmla="*/ 104 h 425"/>
                <a:gd name="T2" fmla="*/ 342 w 791"/>
                <a:gd name="T3" fmla="*/ 61 h 425"/>
                <a:gd name="T4" fmla="*/ 294 w 791"/>
                <a:gd name="T5" fmla="*/ 11 h 425"/>
                <a:gd name="T6" fmla="*/ 200 w 791"/>
                <a:gd name="T7" fmla="*/ 3 h 425"/>
                <a:gd name="T8" fmla="*/ 104 w 791"/>
                <a:gd name="T9" fmla="*/ 27 h 425"/>
                <a:gd name="T10" fmla="*/ 39 w 791"/>
                <a:gd name="T11" fmla="*/ 73 h 425"/>
                <a:gd name="T12" fmla="*/ 8 w 791"/>
                <a:gd name="T13" fmla="*/ 171 h 425"/>
                <a:gd name="T14" fmla="*/ 13 w 791"/>
                <a:gd name="T15" fmla="*/ 284 h 425"/>
                <a:gd name="T16" fmla="*/ 85 w 791"/>
                <a:gd name="T17" fmla="*/ 361 h 425"/>
                <a:gd name="T18" fmla="*/ 186 w 791"/>
                <a:gd name="T19" fmla="*/ 385 h 425"/>
                <a:gd name="T20" fmla="*/ 282 w 791"/>
                <a:gd name="T21" fmla="*/ 356 h 425"/>
                <a:gd name="T22" fmla="*/ 342 w 791"/>
                <a:gd name="T23" fmla="*/ 323 h 425"/>
                <a:gd name="T24" fmla="*/ 373 w 791"/>
                <a:gd name="T25" fmla="*/ 315 h 425"/>
                <a:gd name="T26" fmla="*/ 404 w 791"/>
                <a:gd name="T27" fmla="*/ 327 h 425"/>
                <a:gd name="T28" fmla="*/ 452 w 791"/>
                <a:gd name="T29" fmla="*/ 378 h 425"/>
                <a:gd name="T30" fmla="*/ 531 w 791"/>
                <a:gd name="T31" fmla="*/ 411 h 425"/>
                <a:gd name="T32" fmla="*/ 623 w 791"/>
                <a:gd name="T33" fmla="*/ 421 h 425"/>
                <a:gd name="T34" fmla="*/ 714 w 791"/>
                <a:gd name="T35" fmla="*/ 385 h 425"/>
                <a:gd name="T36" fmla="*/ 779 w 791"/>
                <a:gd name="T37" fmla="*/ 308 h 425"/>
                <a:gd name="T38" fmla="*/ 783 w 791"/>
                <a:gd name="T39" fmla="*/ 200 h 425"/>
                <a:gd name="T40" fmla="*/ 740 w 791"/>
                <a:gd name="T41" fmla="*/ 99 h 425"/>
                <a:gd name="T42" fmla="*/ 699 w 791"/>
                <a:gd name="T43" fmla="*/ 39 h 425"/>
                <a:gd name="T44" fmla="*/ 630 w 791"/>
                <a:gd name="T45" fmla="*/ 20 h 425"/>
                <a:gd name="T46" fmla="*/ 541 w 791"/>
                <a:gd name="T47" fmla="*/ 23 h 425"/>
                <a:gd name="T48" fmla="*/ 471 w 791"/>
                <a:gd name="T49" fmla="*/ 68 h 425"/>
                <a:gd name="T50" fmla="*/ 440 w 791"/>
                <a:gd name="T51" fmla="*/ 102 h 425"/>
                <a:gd name="T52" fmla="*/ 404 w 791"/>
                <a:gd name="T53" fmla="*/ 104 h 42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91"/>
                <a:gd name="T82" fmla="*/ 0 h 425"/>
                <a:gd name="T83" fmla="*/ 791 w 791"/>
                <a:gd name="T84" fmla="*/ 425 h 42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91" h="425">
                  <a:moveTo>
                    <a:pt x="404" y="104"/>
                  </a:moveTo>
                  <a:cubicBezTo>
                    <a:pt x="388" y="97"/>
                    <a:pt x="360" y="76"/>
                    <a:pt x="342" y="61"/>
                  </a:cubicBezTo>
                  <a:cubicBezTo>
                    <a:pt x="324" y="46"/>
                    <a:pt x="318" y="21"/>
                    <a:pt x="294" y="11"/>
                  </a:cubicBezTo>
                  <a:cubicBezTo>
                    <a:pt x="270" y="1"/>
                    <a:pt x="232" y="0"/>
                    <a:pt x="200" y="3"/>
                  </a:cubicBezTo>
                  <a:cubicBezTo>
                    <a:pt x="168" y="6"/>
                    <a:pt x="131" y="15"/>
                    <a:pt x="104" y="27"/>
                  </a:cubicBezTo>
                  <a:cubicBezTo>
                    <a:pt x="77" y="39"/>
                    <a:pt x="55" y="49"/>
                    <a:pt x="39" y="73"/>
                  </a:cubicBezTo>
                  <a:cubicBezTo>
                    <a:pt x="23" y="97"/>
                    <a:pt x="12" y="136"/>
                    <a:pt x="8" y="171"/>
                  </a:cubicBezTo>
                  <a:cubicBezTo>
                    <a:pt x="4" y="206"/>
                    <a:pt x="0" y="252"/>
                    <a:pt x="13" y="284"/>
                  </a:cubicBezTo>
                  <a:cubicBezTo>
                    <a:pt x="26" y="316"/>
                    <a:pt x="56" y="344"/>
                    <a:pt x="85" y="361"/>
                  </a:cubicBezTo>
                  <a:cubicBezTo>
                    <a:pt x="114" y="378"/>
                    <a:pt x="153" y="386"/>
                    <a:pt x="186" y="385"/>
                  </a:cubicBezTo>
                  <a:cubicBezTo>
                    <a:pt x="219" y="384"/>
                    <a:pt x="256" y="366"/>
                    <a:pt x="282" y="356"/>
                  </a:cubicBezTo>
                  <a:cubicBezTo>
                    <a:pt x="308" y="346"/>
                    <a:pt x="327" y="330"/>
                    <a:pt x="342" y="323"/>
                  </a:cubicBezTo>
                  <a:cubicBezTo>
                    <a:pt x="357" y="316"/>
                    <a:pt x="363" y="314"/>
                    <a:pt x="373" y="315"/>
                  </a:cubicBezTo>
                  <a:cubicBezTo>
                    <a:pt x="383" y="316"/>
                    <a:pt x="391" y="317"/>
                    <a:pt x="404" y="327"/>
                  </a:cubicBezTo>
                  <a:cubicBezTo>
                    <a:pt x="417" y="337"/>
                    <a:pt x="431" y="364"/>
                    <a:pt x="452" y="378"/>
                  </a:cubicBezTo>
                  <a:cubicBezTo>
                    <a:pt x="473" y="392"/>
                    <a:pt x="503" y="404"/>
                    <a:pt x="531" y="411"/>
                  </a:cubicBezTo>
                  <a:cubicBezTo>
                    <a:pt x="559" y="418"/>
                    <a:pt x="593" y="425"/>
                    <a:pt x="623" y="421"/>
                  </a:cubicBezTo>
                  <a:cubicBezTo>
                    <a:pt x="653" y="417"/>
                    <a:pt x="688" y="404"/>
                    <a:pt x="714" y="385"/>
                  </a:cubicBezTo>
                  <a:cubicBezTo>
                    <a:pt x="740" y="366"/>
                    <a:pt x="767" y="339"/>
                    <a:pt x="779" y="308"/>
                  </a:cubicBezTo>
                  <a:cubicBezTo>
                    <a:pt x="791" y="277"/>
                    <a:pt x="789" y="235"/>
                    <a:pt x="783" y="200"/>
                  </a:cubicBezTo>
                  <a:cubicBezTo>
                    <a:pt x="777" y="165"/>
                    <a:pt x="754" y="126"/>
                    <a:pt x="740" y="99"/>
                  </a:cubicBezTo>
                  <a:cubicBezTo>
                    <a:pt x="726" y="72"/>
                    <a:pt x="717" y="52"/>
                    <a:pt x="699" y="39"/>
                  </a:cubicBezTo>
                  <a:cubicBezTo>
                    <a:pt x="681" y="26"/>
                    <a:pt x="656" y="23"/>
                    <a:pt x="630" y="20"/>
                  </a:cubicBezTo>
                  <a:cubicBezTo>
                    <a:pt x="604" y="17"/>
                    <a:pt x="567" y="15"/>
                    <a:pt x="541" y="23"/>
                  </a:cubicBezTo>
                  <a:cubicBezTo>
                    <a:pt x="515" y="31"/>
                    <a:pt x="488" y="55"/>
                    <a:pt x="471" y="68"/>
                  </a:cubicBezTo>
                  <a:cubicBezTo>
                    <a:pt x="454" y="81"/>
                    <a:pt x="452" y="96"/>
                    <a:pt x="440" y="102"/>
                  </a:cubicBezTo>
                  <a:cubicBezTo>
                    <a:pt x="428" y="108"/>
                    <a:pt x="420" y="111"/>
                    <a:pt x="404" y="104"/>
                  </a:cubicBezTo>
                  <a:close/>
                </a:path>
              </a:pathLst>
            </a:custGeom>
            <a:solidFill>
              <a:srgbClr val="CCCCFF"/>
            </a:solidFill>
            <a:ln w="9525">
              <a:solidFill>
                <a:schemeClr val="tx1"/>
              </a:solidFill>
              <a:round/>
              <a:headEnd/>
              <a:tailEnd/>
            </a:ln>
          </p:spPr>
          <p:txBody>
            <a:bodyPr/>
            <a:lstStyle/>
            <a:p>
              <a:endParaRPr lang="zh-CN" altLang="en-US"/>
            </a:p>
          </p:txBody>
        </p:sp>
        <p:sp>
          <p:nvSpPr>
            <p:cNvPr id="72771" name="Freeform 21" descr="软木塞"/>
            <p:cNvSpPr>
              <a:spLocks/>
            </p:cNvSpPr>
            <p:nvPr/>
          </p:nvSpPr>
          <p:spPr bwMode="auto">
            <a:xfrm>
              <a:off x="1424" y="923"/>
              <a:ext cx="268" cy="246"/>
            </a:xfrm>
            <a:custGeom>
              <a:avLst/>
              <a:gdLst>
                <a:gd name="T0" fmla="*/ 264 w 268"/>
                <a:gd name="T1" fmla="*/ 81 h 246"/>
                <a:gd name="T2" fmla="*/ 235 w 268"/>
                <a:gd name="T3" fmla="*/ 33 h 246"/>
                <a:gd name="T4" fmla="*/ 171 w 268"/>
                <a:gd name="T5" fmla="*/ 4 h 246"/>
                <a:gd name="T6" fmla="*/ 101 w 268"/>
                <a:gd name="T7" fmla="*/ 11 h 246"/>
                <a:gd name="T8" fmla="*/ 34 w 268"/>
                <a:gd name="T9" fmla="*/ 45 h 246"/>
                <a:gd name="T10" fmla="*/ 3 w 268"/>
                <a:gd name="T11" fmla="*/ 112 h 246"/>
                <a:gd name="T12" fmla="*/ 15 w 268"/>
                <a:gd name="T13" fmla="*/ 186 h 246"/>
                <a:gd name="T14" fmla="*/ 55 w 268"/>
                <a:gd name="T15" fmla="*/ 232 h 246"/>
                <a:gd name="T16" fmla="*/ 111 w 268"/>
                <a:gd name="T17" fmla="*/ 246 h 246"/>
                <a:gd name="T18" fmla="*/ 204 w 268"/>
                <a:gd name="T19" fmla="*/ 234 h 246"/>
                <a:gd name="T20" fmla="*/ 257 w 268"/>
                <a:gd name="T21" fmla="*/ 172 h 246"/>
                <a:gd name="T22" fmla="*/ 264 w 268"/>
                <a:gd name="T23" fmla="*/ 81 h 2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8"/>
                <a:gd name="T37" fmla="*/ 0 h 246"/>
                <a:gd name="T38" fmla="*/ 268 w 268"/>
                <a:gd name="T39" fmla="*/ 246 h 2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8" h="246">
                  <a:moveTo>
                    <a:pt x="264" y="81"/>
                  </a:moveTo>
                  <a:cubicBezTo>
                    <a:pt x="260" y="58"/>
                    <a:pt x="251" y="46"/>
                    <a:pt x="235" y="33"/>
                  </a:cubicBezTo>
                  <a:cubicBezTo>
                    <a:pt x="219" y="20"/>
                    <a:pt x="193" y="8"/>
                    <a:pt x="171" y="4"/>
                  </a:cubicBezTo>
                  <a:cubicBezTo>
                    <a:pt x="149" y="0"/>
                    <a:pt x="124" y="4"/>
                    <a:pt x="101" y="11"/>
                  </a:cubicBezTo>
                  <a:cubicBezTo>
                    <a:pt x="78" y="18"/>
                    <a:pt x="50" y="28"/>
                    <a:pt x="34" y="45"/>
                  </a:cubicBezTo>
                  <a:cubicBezTo>
                    <a:pt x="18" y="62"/>
                    <a:pt x="6" y="89"/>
                    <a:pt x="3" y="112"/>
                  </a:cubicBezTo>
                  <a:cubicBezTo>
                    <a:pt x="0" y="135"/>
                    <a:pt x="6" y="166"/>
                    <a:pt x="15" y="186"/>
                  </a:cubicBezTo>
                  <a:cubicBezTo>
                    <a:pt x="24" y="206"/>
                    <a:pt x="39" y="222"/>
                    <a:pt x="55" y="232"/>
                  </a:cubicBezTo>
                  <a:cubicBezTo>
                    <a:pt x="71" y="242"/>
                    <a:pt x="86" y="246"/>
                    <a:pt x="111" y="246"/>
                  </a:cubicBezTo>
                  <a:cubicBezTo>
                    <a:pt x="136" y="246"/>
                    <a:pt x="180" y="246"/>
                    <a:pt x="204" y="234"/>
                  </a:cubicBezTo>
                  <a:cubicBezTo>
                    <a:pt x="228" y="222"/>
                    <a:pt x="246" y="197"/>
                    <a:pt x="257" y="172"/>
                  </a:cubicBezTo>
                  <a:cubicBezTo>
                    <a:pt x="268" y="147"/>
                    <a:pt x="268" y="105"/>
                    <a:pt x="264" y="81"/>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72" name="Freeform 22" descr="软木塞"/>
            <p:cNvSpPr>
              <a:spLocks/>
            </p:cNvSpPr>
            <p:nvPr/>
          </p:nvSpPr>
          <p:spPr bwMode="auto">
            <a:xfrm>
              <a:off x="1813" y="954"/>
              <a:ext cx="263" cy="273"/>
            </a:xfrm>
            <a:custGeom>
              <a:avLst/>
              <a:gdLst>
                <a:gd name="T0" fmla="*/ 230 w 263"/>
                <a:gd name="T1" fmla="*/ 42 h 273"/>
                <a:gd name="T2" fmla="*/ 190 w 263"/>
                <a:gd name="T3" fmla="*/ 14 h 273"/>
                <a:gd name="T4" fmla="*/ 127 w 263"/>
                <a:gd name="T5" fmla="*/ 2 h 273"/>
                <a:gd name="T6" fmla="*/ 65 w 263"/>
                <a:gd name="T7" fmla="*/ 9 h 273"/>
                <a:gd name="T8" fmla="*/ 19 w 263"/>
                <a:gd name="T9" fmla="*/ 59 h 273"/>
                <a:gd name="T10" fmla="*/ 2 w 263"/>
                <a:gd name="T11" fmla="*/ 134 h 273"/>
                <a:gd name="T12" fmla="*/ 29 w 263"/>
                <a:gd name="T13" fmla="*/ 222 h 273"/>
                <a:gd name="T14" fmla="*/ 89 w 263"/>
                <a:gd name="T15" fmla="*/ 261 h 273"/>
                <a:gd name="T16" fmla="*/ 175 w 263"/>
                <a:gd name="T17" fmla="*/ 266 h 273"/>
                <a:gd name="T18" fmla="*/ 230 w 263"/>
                <a:gd name="T19" fmla="*/ 220 h 273"/>
                <a:gd name="T20" fmla="*/ 259 w 263"/>
                <a:gd name="T21" fmla="*/ 153 h 273"/>
                <a:gd name="T22" fmla="*/ 252 w 263"/>
                <a:gd name="T23" fmla="*/ 88 h 273"/>
                <a:gd name="T24" fmla="*/ 230 w 263"/>
                <a:gd name="T25" fmla="*/ 42 h 2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3"/>
                <a:gd name="T40" fmla="*/ 0 h 273"/>
                <a:gd name="T41" fmla="*/ 263 w 263"/>
                <a:gd name="T42" fmla="*/ 273 h 2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3" h="273">
                  <a:moveTo>
                    <a:pt x="230" y="42"/>
                  </a:moveTo>
                  <a:cubicBezTo>
                    <a:pt x="220" y="30"/>
                    <a:pt x="207" y="21"/>
                    <a:pt x="190" y="14"/>
                  </a:cubicBezTo>
                  <a:cubicBezTo>
                    <a:pt x="173" y="7"/>
                    <a:pt x="148" y="3"/>
                    <a:pt x="127" y="2"/>
                  </a:cubicBezTo>
                  <a:cubicBezTo>
                    <a:pt x="106" y="1"/>
                    <a:pt x="83" y="0"/>
                    <a:pt x="65" y="9"/>
                  </a:cubicBezTo>
                  <a:cubicBezTo>
                    <a:pt x="47" y="18"/>
                    <a:pt x="30" y="38"/>
                    <a:pt x="19" y="59"/>
                  </a:cubicBezTo>
                  <a:cubicBezTo>
                    <a:pt x="8" y="80"/>
                    <a:pt x="0" y="107"/>
                    <a:pt x="2" y="134"/>
                  </a:cubicBezTo>
                  <a:cubicBezTo>
                    <a:pt x="4" y="161"/>
                    <a:pt x="15" y="201"/>
                    <a:pt x="29" y="222"/>
                  </a:cubicBezTo>
                  <a:cubicBezTo>
                    <a:pt x="43" y="243"/>
                    <a:pt x="65" y="254"/>
                    <a:pt x="89" y="261"/>
                  </a:cubicBezTo>
                  <a:cubicBezTo>
                    <a:pt x="113" y="268"/>
                    <a:pt x="152" y="273"/>
                    <a:pt x="175" y="266"/>
                  </a:cubicBezTo>
                  <a:cubicBezTo>
                    <a:pt x="198" y="259"/>
                    <a:pt x="216" y="239"/>
                    <a:pt x="230" y="220"/>
                  </a:cubicBezTo>
                  <a:cubicBezTo>
                    <a:pt x="244" y="201"/>
                    <a:pt x="255" y="175"/>
                    <a:pt x="259" y="153"/>
                  </a:cubicBezTo>
                  <a:cubicBezTo>
                    <a:pt x="263" y="131"/>
                    <a:pt x="256" y="108"/>
                    <a:pt x="252" y="88"/>
                  </a:cubicBezTo>
                  <a:cubicBezTo>
                    <a:pt x="248" y="68"/>
                    <a:pt x="241" y="54"/>
                    <a:pt x="230" y="42"/>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73" name="Text Box 23"/>
            <p:cNvSpPr txBox="1">
              <a:spLocks noChangeArrowheads="1"/>
            </p:cNvSpPr>
            <p:nvPr/>
          </p:nvSpPr>
          <p:spPr bwMode="auto">
            <a:xfrm>
              <a:off x="1908" y="617"/>
              <a:ext cx="5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solidFill>
                    <a:srgbClr val="000066"/>
                  </a:solidFill>
                  <a:latin typeface="幼圆" pitchFamily="49" charset="-122"/>
                  <a:ea typeface="幼圆" pitchFamily="49" charset="-122"/>
                </a:rPr>
                <a:t>土颗粒</a:t>
              </a:r>
            </a:p>
          </p:txBody>
        </p:sp>
        <p:sp>
          <p:nvSpPr>
            <p:cNvPr id="72774" name="Text Box 24"/>
            <p:cNvSpPr txBox="1">
              <a:spLocks noChangeArrowheads="1"/>
            </p:cNvSpPr>
            <p:nvPr/>
          </p:nvSpPr>
          <p:spPr bwMode="auto">
            <a:xfrm>
              <a:off x="1287" y="514"/>
              <a:ext cx="6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solidFill>
                    <a:srgbClr val="000066"/>
                  </a:solidFill>
                  <a:latin typeface="幼圆" pitchFamily="49" charset="-122"/>
                  <a:ea typeface="幼圆" pitchFamily="49" charset="-122"/>
                </a:rPr>
                <a:t>强结合水</a:t>
              </a:r>
              <a:endParaRPr lang="en-US" altLang="zh-CN" sz="1800" b="1">
                <a:solidFill>
                  <a:srgbClr val="000066"/>
                </a:solidFill>
                <a:latin typeface="幼圆" pitchFamily="49" charset="-122"/>
                <a:ea typeface="幼圆" pitchFamily="49" charset="-122"/>
              </a:endParaRPr>
            </a:p>
          </p:txBody>
        </p:sp>
        <p:sp>
          <p:nvSpPr>
            <p:cNvPr id="72775" name="Line 25"/>
            <p:cNvSpPr>
              <a:spLocks noChangeShapeType="1"/>
            </p:cNvSpPr>
            <p:nvPr/>
          </p:nvSpPr>
          <p:spPr bwMode="auto">
            <a:xfrm flipV="1">
              <a:off x="1979" y="862"/>
              <a:ext cx="109" cy="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76" name="Line 26"/>
            <p:cNvSpPr>
              <a:spLocks noChangeShapeType="1"/>
            </p:cNvSpPr>
            <p:nvPr/>
          </p:nvSpPr>
          <p:spPr bwMode="auto">
            <a:xfrm flipH="1" flipV="1">
              <a:off x="1666" y="744"/>
              <a:ext cx="95" cy="2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7"/>
          <p:cNvGrpSpPr>
            <a:grpSpLocks/>
          </p:cNvGrpSpPr>
          <p:nvPr/>
        </p:nvGrpSpPr>
        <p:grpSpPr bwMode="auto">
          <a:xfrm>
            <a:off x="3608415" y="787549"/>
            <a:ext cx="2636837" cy="1633537"/>
            <a:chOff x="2173" y="441"/>
            <a:chExt cx="1652" cy="1029"/>
          </a:xfrm>
        </p:grpSpPr>
        <p:sp>
          <p:nvSpPr>
            <p:cNvPr id="72759" name="Freeform 28"/>
            <p:cNvSpPr>
              <a:spLocks/>
            </p:cNvSpPr>
            <p:nvPr/>
          </p:nvSpPr>
          <p:spPr bwMode="auto">
            <a:xfrm>
              <a:off x="2594" y="748"/>
              <a:ext cx="1092" cy="650"/>
            </a:xfrm>
            <a:custGeom>
              <a:avLst/>
              <a:gdLst>
                <a:gd name="T0" fmla="*/ 533 w 1092"/>
                <a:gd name="T1" fmla="*/ 92 h 650"/>
                <a:gd name="T2" fmla="*/ 437 w 1092"/>
                <a:gd name="T3" fmla="*/ 68 h 650"/>
                <a:gd name="T4" fmla="*/ 319 w 1092"/>
                <a:gd name="T5" fmla="*/ 54 h 650"/>
                <a:gd name="T6" fmla="*/ 204 w 1092"/>
                <a:gd name="T7" fmla="*/ 80 h 650"/>
                <a:gd name="T8" fmla="*/ 84 w 1092"/>
                <a:gd name="T9" fmla="*/ 140 h 650"/>
                <a:gd name="T10" fmla="*/ 21 w 1092"/>
                <a:gd name="T11" fmla="*/ 253 h 650"/>
                <a:gd name="T12" fmla="*/ 14 w 1092"/>
                <a:gd name="T13" fmla="*/ 411 h 650"/>
                <a:gd name="T14" fmla="*/ 108 w 1092"/>
                <a:gd name="T15" fmla="*/ 538 h 650"/>
                <a:gd name="T16" fmla="*/ 235 w 1092"/>
                <a:gd name="T17" fmla="*/ 627 h 650"/>
                <a:gd name="T18" fmla="*/ 396 w 1092"/>
                <a:gd name="T19" fmla="*/ 642 h 650"/>
                <a:gd name="T20" fmla="*/ 518 w 1092"/>
                <a:gd name="T21" fmla="*/ 579 h 650"/>
                <a:gd name="T22" fmla="*/ 559 w 1092"/>
                <a:gd name="T23" fmla="*/ 541 h 650"/>
                <a:gd name="T24" fmla="*/ 607 w 1092"/>
                <a:gd name="T25" fmla="*/ 541 h 650"/>
                <a:gd name="T26" fmla="*/ 662 w 1092"/>
                <a:gd name="T27" fmla="*/ 560 h 650"/>
                <a:gd name="T28" fmla="*/ 751 w 1092"/>
                <a:gd name="T29" fmla="*/ 594 h 650"/>
                <a:gd name="T30" fmla="*/ 888 w 1092"/>
                <a:gd name="T31" fmla="*/ 582 h 650"/>
                <a:gd name="T32" fmla="*/ 1005 w 1092"/>
                <a:gd name="T33" fmla="*/ 512 h 650"/>
                <a:gd name="T34" fmla="*/ 1077 w 1092"/>
                <a:gd name="T35" fmla="*/ 385 h 650"/>
                <a:gd name="T36" fmla="*/ 1080 w 1092"/>
                <a:gd name="T37" fmla="*/ 241 h 650"/>
                <a:gd name="T38" fmla="*/ 1005 w 1092"/>
                <a:gd name="T39" fmla="*/ 118 h 650"/>
                <a:gd name="T40" fmla="*/ 917 w 1092"/>
                <a:gd name="T41" fmla="*/ 34 h 650"/>
                <a:gd name="T42" fmla="*/ 811 w 1092"/>
                <a:gd name="T43" fmla="*/ 1 h 650"/>
                <a:gd name="T44" fmla="*/ 701 w 1092"/>
                <a:gd name="T45" fmla="*/ 27 h 650"/>
                <a:gd name="T46" fmla="*/ 607 w 1092"/>
                <a:gd name="T47" fmla="*/ 70 h 650"/>
                <a:gd name="T48" fmla="*/ 533 w 1092"/>
                <a:gd name="T49" fmla="*/ 92 h 6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2"/>
                <a:gd name="T76" fmla="*/ 0 h 650"/>
                <a:gd name="T77" fmla="*/ 1092 w 1092"/>
                <a:gd name="T78" fmla="*/ 650 h 65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2" h="650">
                  <a:moveTo>
                    <a:pt x="533" y="92"/>
                  </a:moveTo>
                  <a:cubicBezTo>
                    <a:pt x="505" y="92"/>
                    <a:pt x="473" y="74"/>
                    <a:pt x="437" y="68"/>
                  </a:cubicBezTo>
                  <a:cubicBezTo>
                    <a:pt x="401" y="62"/>
                    <a:pt x="358" y="52"/>
                    <a:pt x="319" y="54"/>
                  </a:cubicBezTo>
                  <a:cubicBezTo>
                    <a:pt x="280" y="56"/>
                    <a:pt x="243" y="66"/>
                    <a:pt x="204" y="80"/>
                  </a:cubicBezTo>
                  <a:cubicBezTo>
                    <a:pt x="165" y="94"/>
                    <a:pt x="114" y="111"/>
                    <a:pt x="84" y="140"/>
                  </a:cubicBezTo>
                  <a:cubicBezTo>
                    <a:pt x="54" y="169"/>
                    <a:pt x="33" y="208"/>
                    <a:pt x="21" y="253"/>
                  </a:cubicBezTo>
                  <a:cubicBezTo>
                    <a:pt x="9" y="298"/>
                    <a:pt x="0" y="364"/>
                    <a:pt x="14" y="411"/>
                  </a:cubicBezTo>
                  <a:cubicBezTo>
                    <a:pt x="28" y="458"/>
                    <a:pt x="71" y="502"/>
                    <a:pt x="108" y="538"/>
                  </a:cubicBezTo>
                  <a:cubicBezTo>
                    <a:pt x="145" y="574"/>
                    <a:pt x="187" y="610"/>
                    <a:pt x="235" y="627"/>
                  </a:cubicBezTo>
                  <a:cubicBezTo>
                    <a:pt x="283" y="644"/>
                    <a:pt x="349" y="650"/>
                    <a:pt x="396" y="642"/>
                  </a:cubicBezTo>
                  <a:cubicBezTo>
                    <a:pt x="443" y="634"/>
                    <a:pt x="491" y="596"/>
                    <a:pt x="518" y="579"/>
                  </a:cubicBezTo>
                  <a:cubicBezTo>
                    <a:pt x="545" y="562"/>
                    <a:pt x="544" y="547"/>
                    <a:pt x="559" y="541"/>
                  </a:cubicBezTo>
                  <a:cubicBezTo>
                    <a:pt x="574" y="535"/>
                    <a:pt x="590" y="538"/>
                    <a:pt x="607" y="541"/>
                  </a:cubicBezTo>
                  <a:cubicBezTo>
                    <a:pt x="624" y="544"/>
                    <a:pt x="638" y="551"/>
                    <a:pt x="662" y="560"/>
                  </a:cubicBezTo>
                  <a:cubicBezTo>
                    <a:pt x="686" y="569"/>
                    <a:pt x="713" y="590"/>
                    <a:pt x="751" y="594"/>
                  </a:cubicBezTo>
                  <a:cubicBezTo>
                    <a:pt x="789" y="598"/>
                    <a:pt x="846" y="596"/>
                    <a:pt x="888" y="582"/>
                  </a:cubicBezTo>
                  <a:cubicBezTo>
                    <a:pt x="930" y="568"/>
                    <a:pt x="973" y="545"/>
                    <a:pt x="1005" y="512"/>
                  </a:cubicBezTo>
                  <a:cubicBezTo>
                    <a:pt x="1037" y="479"/>
                    <a:pt x="1065" y="430"/>
                    <a:pt x="1077" y="385"/>
                  </a:cubicBezTo>
                  <a:cubicBezTo>
                    <a:pt x="1089" y="340"/>
                    <a:pt x="1092" y="285"/>
                    <a:pt x="1080" y="241"/>
                  </a:cubicBezTo>
                  <a:cubicBezTo>
                    <a:pt x="1068" y="197"/>
                    <a:pt x="1032" y="152"/>
                    <a:pt x="1005" y="118"/>
                  </a:cubicBezTo>
                  <a:cubicBezTo>
                    <a:pt x="978" y="84"/>
                    <a:pt x="949" y="53"/>
                    <a:pt x="917" y="34"/>
                  </a:cubicBezTo>
                  <a:cubicBezTo>
                    <a:pt x="885" y="15"/>
                    <a:pt x="847" y="2"/>
                    <a:pt x="811" y="1"/>
                  </a:cubicBezTo>
                  <a:cubicBezTo>
                    <a:pt x="775" y="0"/>
                    <a:pt x="735" y="16"/>
                    <a:pt x="701" y="27"/>
                  </a:cubicBezTo>
                  <a:cubicBezTo>
                    <a:pt x="667" y="38"/>
                    <a:pt x="635" y="59"/>
                    <a:pt x="607" y="70"/>
                  </a:cubicBezTo>
                  <a:cubicBezTo>
                    <a:pt x="579" y="81"/>
                    <a:pt x="561" y="92"/>
                    <a:pt x="533" y="92"/>
                  </a:cubicBezTo>
                  <a:close/>
                </a:path>
              </a:pathLst>
            </a:custGeom>
            <a:solidFill>
              <a:srgbClr val="99CCFF"/>
            </a:solidFill>
            <a:ln w="9525">
              <a:solidFill>
                <a:schemeClr val="tx1"/>
              </a:solidFill>
              <a:round/>
              <a:headEnd/>
              <a:tailEnd/>
            </a:ln>
          </p:spPr>
          <p:txBody>
            <a:bodyPr/>
            <a:lstStyle/>
            <a:p>
              <a:endParaRPr lang="zh-CN" altLang="en-US"/>
            </a:p>
          </p:txBody>
        </p:sp>
        <p:sp>
          <p:nvSpPr>
            <p:cNvPr id="72760" name="Freeform 29"/>
            <p:cNvSpPr>
              <a:spLocks/>
            </p:cNvSpPr>
            <p:nvPr/>
          </p:nvSpPr>
          <p:spPr bwMode="auto">
            <a:xfrm>
              <a:off x="3162" y="852"/>
              <a:ext cx="417" cy="400"/>
            </a:xfrm>
            <a:custGeom>
              <a:avLst/>
              <a:gdLst>
                <a:gd name="T0" fmla="*/ 133 w 417"/>
                <a:gd name="T1" fmla="*/ 24 h 400"/>
                <a:gd name="T2" fmla="*/ 46 w 417"/>
                <a:gd name="T3" fmla="*/ 65 h 400"/>
                <a:gd name="T4" fmla="*/ 3 w 417"/>
                <a:gd name="T5" fmla="*/ 170 h 400"/>
                <a:gd name="T6" fmla="*/ 27 w 417"/>
                <a:gd name="T7" fmla="*/ 278 h 400"/>
                <a:gd name="T8" fmla="*/ 97 w 417"/>
                <a:gd name="T9" fmla="*/ 370 h 400"/>
                <a:gd name="T10" fmla="*/ 224 w 417"/>
                <a:gd name="T11" fmla="*/ 398 h 400"/>
                <a:gd name="T12" fmla="*/ 346 w 417"/>
                <a:gd name="T13" fmla="*/ 358 h 400"/>
                <a:gd name="T14" fmla="*/ 409 w 417"/>
                <a:gd name="T15" fmla="*/ 247 h 400"/>
                <a:gd name="T16" fmla="*/ 392 w 417"/>
                <a:gd name="T17" fmla="*/ 125 h 400"/>
                <a:gd name="T18" fmla="*/ 322 w 417"/>
                <a:gd name="T19" fmla="*/ 29 h 400"/>
                <a:gd name="T20" fmla="*/ 217 w 417"/>
                <a:gd name="T21" fmla="*/ 2 h 400"/>
                <a:gd name="T22" fmla="*/ 133 w 417"/>
                <a:gd name="T23" fmla="*/ 24 h 4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7"/>
                <a:gd name="T37" fmla="*/ 0 h 400"/>
                <a:gd name="T38" fmla="*/ 417 w 417"/>
                <a:gd name="T39" fmla="*/ 400 h 4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7" h="400">
                  <a:moveTo>
                    <a:pt x="133" y="24"/>
                  </a:moveTo>
                  <a:cubicBezTo>
                    <a:pt x="104" y="35"/>
                    <a:pt x="68" y="41"/>
                    <a:pt x="46" y="65"/>
                  </a:cubicBezTo>
                  <a:cubicBezTo>
                    <a:pt x="24" y="89"/>
                    <a:pt x="6" y="134"/>
                    <a:pt x="3" y="170"/>
                  </a:cubicBezTo>
                  <a:cubicBezTo>
                    <a:pt x="0" y="206"/>
                    <a:pt x="11" y="245"/>
                    <a:pt x="27" y="278"/>
                  </a:cubicBezTo>
                  <a:cubicBezTo>
                    <a:pt x="43" y="311"/>
                    <a:pt x="64" y="350"/>
                    <a:pt x="97" y="370"/>
                  </a:cubicBezTo>
                  <a:cubicBezTo>
                    <a:pt x="130" y="390"/>
                    <a:pt x="183" y="400"/>
                    <a:pt x="224" y="398"/>
                  </a:cubicBezTo>
                  <a:cubicBezTo>
                    <a:pt x="265" y="396"/>
                    <a:pt x="315" y="383"/>
                    <a:pt x="346" y="358"/>
                  </a:cubicBezTo>
                  <a:cubicBezTo>
                    <a:pt x="377" y="333"/>
                    <a:pt x="401" y="286"/>
                    <a:pt x="409" y="247"/>
                  </a:cubicBezTo>
                  <a:cubicBezTo>
                    <a:pt x="417" y="208"/>
                    <a:pt x="406" y="161"/>
                    <a:pt x="392" y="125"/>
                  </a:cubicBezTo>
                  <a:cubicBezTo>
                    <a:pt x="378" y="89"/>
                    <a:pt x="351" y="49"/>
                    <a:pt x="322" y="29"/>
                  </a:cubicBezTo>
                  <a:cubicBezTo>
                    <a:pt x="293" y="9"/>
                    <a:pt x="249" y="4"/>
                    <a:pt x="217" y="2"/>
                  </a:cubicBezTo>
                  <a:cubicBezTo>
                    <a:pt x="185" y="0"/>
                    <a:pt x="162" y="13"/>
                    <a:pt x="133" y="24"/>
                  </a:cubicBezTo>
                  <a:close/>
                </a:path>
              </a:pathLst>
            </a:custGeom>
            <a:solidFill>
              <a:srgbClr val="CCCCFF"/>
            </a:solidFill>
            <a:ln w="9525">
              <a:solidFill>
                <a:schemeClr val="tx1"/>
              </a:solidFill>
              <a:round/>
              <a:headEnd/>
              <a:tailEnd/>
            </a:ln>
          </p:spPr>
          <p:txBody>
            <a:bodyPr/>
            <a:lstStyle/>
            <a:p>
              <a:endParaRPr lang="zh-CN" altLang="en-US"/>
            </a:p>
          </p:txBody>
        </p:sp>
        <p:sp>
          <p:nvSpPr>
            <p:cNvPr id="72761" name="Freeform 30"/>
            <p:cNvSpPr>
              <a:spLocks/>
            </p:cNvSpPr>
            <p:nvPr/>
          </p:nvSpPr>
          <p:spPr bwMode="auto">
            <a:xfrm>
              <a:off x="2682" y="891"/>
              <a:ext cx="441" cy="421"/>
            </a:xfrm>
            <a:custGeom>
              <a:avLst/>
              <a:gdLst>
                <a:gd name="T0" fmla="*/ 178 w 441"/>
                <a:gd name="T1" fmla="*/ 14 h 421"/>
                <a:gd name="T2" fmla="*/ 63 w 441"/>
                <a:gd name="T3" fmla="*/ 59 h 421"/>
                <a:gd name="T4" fmla="*/ 8 w 441"/>
                <a:gd name="T5" fmla="*/ 153 h 421"/>
                <a:gd name="T6" fmla="*/ 17 w 441"/>
                <a:gd name="T7" fmla="*/ 268 h 421"/>
                <a:gd name="T8" fmla="*/ 68 w 441"/>
                <a:gd name="T9" fmla="*/ 347 h 421"/>
                <a:gd name="T10" fmla="*/ 178 w 441"/>
                <a:gd name="T11" fmla="*/ 412 h 421"/>
                <a:gd name="T12" fmla="*/ 320 w 441"/>
                <a:gd name="T13" fmla="*/ 403 h 421"/>
                <a:gd name="T14" fmla="*/ 416 w 441"/>
                <a:gd name="T15" fmla="*/ 323 h 421"/>
                <a:gd name="T16" fmla="*/ 437 w 441"/>
                <a:gd name="T17" fmla="*/ 194 h 421"/>
                <a:gd name="T18" fmla="*/ 389 w 441"/>
                <a:gd name="T19" fmla="*/ 74 h 421"/>
                <a:gd name="T20" fmla="*/ 286 w 441"/>
                <a:gd name="T21" fmla="*/ 9 h 421"/>
                <a:gd name="T22" fmla="*/ 178 w 441"/>
                <a:gd name="T23" fmla="*/ 14 h 4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1"/>
                <a:gd name="T37" fmla="*/ 0 h 421"/>
                <a:gd name="T38" fmla="*/ 441 w 441"/>
                <a:gd name="T39" fmla="*/ 421 h 4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1" h="421">
                  <a:moveTo>
                    <a:pt x="178" y="14"/>
                  </a:moveTo>
                  <a:cubicBezTo>
                    <a:pt x="141" y="22"/>
                    <a:pt x="91" y="36"/>
                    <a:pt x="63" y="59"/>
                  </a:cubicBezTo>
                  <a:cubicBezTo>
                    <a:pt x="35" y="82"/>
                    <a:pt x="16" y="118"/>
                    <a:pt x="8" y="153"/>
                  </a:cubicBezTo>
                  <a:cubicBezTo>
                    <a:pt x="0" y="188"/>
                    <a:pt x="7" y="236"/>
                    <a:pt x="17" y="268"/>
                  </a:cubicBezTo>
                  <a:cubicBezTo>
                    <a:pt x="27" y="300"/>
                    <a:pt x="41" y="323"/>
                    <a:pt x="68" y="347"/>
                  </a:cubicBezTo>
                  <a:cubicBezTo>
                    <a:pt x="95" y="371"/>
                    <a:pt x="136" y="403"/>
                    <a:pt x="178" y="412"/>
                  </a:cubicBezTo>
                  <a:cubicBezTo>
                    <a:pt x="220" y="421"/>
                    <a:pt x="280" y="418"/>
                    <a:pt x="320" y="403"/>
                  </a:cubicBezTo>
                  <a:cubicBezTo>
                    <a:pt x="360" y="388"/>
                    <a:pt x="397" y="358"/>
                    <a:pt x="416" y="323"/>
                  </a:cubicBezTo>
                  <a:cubicBezTo>
                    <a:pt x="435" y="288"/>
                    <a:pt x="441" y="235"/>
                    <a:pt x="437" y="194"/>
                  </a:cubicBezTo>
                  <a:cubicBezTo>
                    <a:pt x="433" y="153"/>
                    <a:pt x="414" y="105"/>
                    <a:pt x="389" y="74"/>
                  </a:cubicBezTo>
                  <a:cubicBezTo>
                    <a:pt x="364" y="43"/>
                    <a:pt x="322" y="18"/>
                    <a:pt x="286" y="9"/>
                  </a:cubicBezTo>
                  <a:cubicBezTo>
                    <a:pt x="250" y="0"/>
                    <a:pt x="215" y="6"/>
                    <a:pt x="178" y="14"/>
                  </a:cubicBezTo>
                  <a:close/>
                </a:path>
              </a:pathLst>
            </a:custGeom>
            <a:solidFill>
              <a:srgbClr val="CCCCFF"/>
            </a:solidFill>
            <a:ln w="9525">
              <a:solidFill>
                <a:schemeClr val="tx1"/>
              </a:solidFill>
              <a:round/>
              <a:headEnd/>
              <a:tailEnd/>
            </a:ln>
          </p:spPr>
          <p:txBody>
            <a:bodyPr/>
            <a:lstStyle/>
            <a:p>
              <a:endParaRPr lang="zh-CN" altLang="en-US"/>
            </a:p>
          </p:txBody>
        </p:sp>
        <p:sp>
          <p:nvSpPr>
            <p:cNvPr id="72762" name="Freeform 31" descr="软木塞"/>
            <p:cNvSpPr>
              <a:spLocks/>
            </p:cNvSpPr>
            <p:nvPr/>
          </p:nvSpPr>
          <p:spPr bwMode="auto">
            <a:xfrm>
              <a:off x="2768" y="958"/>
              <a:ext cx="298" cy="286"/>
            </a:xfrm>
            <a:custGeom>
              <a:avLst/>
              <a:gdLst>
                <a:gd name="T0" fmla="*/ 231 w 298"/>
                <a:gd name="T1" fmla="*/ 31 h 286"/>
                <a:gd name="T2" fmla="*/ 155 w 298"/>
                <a:gd name="T3" fmla="*/ 2 h 286"/>
                <a:gd name="T4" fmla="*/ 59 w 298"/>
                <a:gd name="T5" fmla="*/ 19 h 286"/>
                <a:gd name="T6" fmla="*/ 8 w 298"/>
                <a:gd name="T7" fmla="*/ 79 h 286"/>
                <a:gd name="T8" fmla="*/ 11 w 298"/>
                <a:gd name="T9" fmla="*/ 170 h 286"/>
                <a:gd name="T10" fmla="*/ 42 w 298"/>
                <a:gd name="T11" fmla="*/ 252 h 286"/>
                <a:gd name="T12" fmla="*/ 133 w 298"/>
                <a:gd name="T13" fmla="*/ 283 h 286"/>
                <a:gd name="T14" fmla="*/ 234 w 298"/>
                <a:gd name="T15" fmla="*/ 266 h 286"/>
                <a:gd name="T16" fmla="*/ 291 w 298"/>
                <a:gd name="T17" fmla="*/ 165 h 286"/>
                <a:gd name="T18" fmla="*/ 275 w 298"/>
                <a:gd name="T19" fmla="*/ 81 h 286"/>
                <a:gd name="T20" fmla="*/ 231 w 298"/>
                <a:gd name="T21" fmla="*/ 31 h 2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8"/>
                <a:gd name="T34" fmla="*/ 0 h 286"/>
                <a:gd name="T35" fmla="*/ 298 w 298"/>
                <a:gd name="T36" fmla="*/ 286 h 2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8" h="286">
                  <a:moveTo>
                    <a:pt x="231" y="31"/>
                  </a:moveTo>
                  <a:cubicBezTo>
                    <a:pt x="211" y="18"/>
                    <a:pt x="184" y="4"/>
                    <a:pt x="155" y="2"/>
                  </a:cubicBezTo>
                  <a:cubicBezTo>
                    <a:pt x="126" y="0"/>
                    <a:pt x="84" y="6"/>
                    <a:pt x="59" y="19"/>
                  </a:cubicBezTo>
                  <a:cubicBezTo>
                    <a:pt x="34" y="32"/>
                    <a:pt x="16" y="54"/>
                    <a:pt x="8" y="79"/>
                  </a:cubicBezTo>
                  <a:cubicBezTo>
                    <a:pt x="0" y="104"/>
                    <a:pt x="5" y="141"/>
                    <a:pt x="11" y="170"/>
                  </a:cubicBezTo>
                  <a:cubicBezTo>
                    <a:pt x="17" y="199"/>
                    <a:pt x="22" y="233"/>
                    <a:pt x="42" y="252"/>
                  </a:cubicBezTo>
                  <a:cubicBezTo>
                    <a:pt x="62" y="271"/>
                    <a:pt x="101" y="281"/>
                    <a:pt x="133" y="283"/>
                  </a:cubicBezTo>
                  <a:cubicBezTo>
                    <a:pt x="165" y="285"/>
                    <a:pt x="208" y="286"/>
                    <a:pt x="234" y="266"/>
                  </a:cubicBezTo>
                  <a:cubicBezTo>
                    <a:pt x="260" y="246"/>
                    <a:pt x="284" y="196"/>
                    <a:pt x="291" y="165"/>
                  </a:cubicBezTo>
                  <a:cubicBezTo>
                    <a:pt x="298" y="134"/>
                    <a:pt x="285" y="103"/>
                    <a:pt x="275" y="81"/>
                  </a:cubicBezTo>
                  <a:cubicBezTo>
                    <a:pt x="265" y="59"/>
                    <a:pt x="251" y="44"/>
                    <a:pt x="231" y="31"/>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63" name="Freeform 32" descr="软木塞"/>
            <p:cNvSpPr>
              <a:spLocks/>
            </p:cNvSpPr>
            <p:nvPr/>
          </p:nvSpPr>
          <p:spPr bwMode="auto">
            <a:xfrm>
              <a:off x="3229" y="904"/>
              <a:ext cx="304" cy="293"/>
            </a:xfrm>
            <a:custGeom>
              <a:avLst/>
              <a:gdLst>
                <a:gd name="T0" fmla="*/ 296 w 304"/>
                <a:gd name="T1" fmla="*/ 121 h 293"/>
                <a:gd name="T2" fmla="*/ 260 w 304"/>
                <a:gd name="T3" fmla="*/ 44 h 293"/>
                <a:gd name="T4" fmla="*/ 195 w 304"/>
                <a:gd name="T5" fmla="*/ 8 h 293"/>
                <a:gd name="T6" fmla="*/ 104 w 304"/>
                <a:gd name="T7" fmla="*/ 10 h 293"/>
                <a:gd name="T8" fmla="*/ 32 w 304"/>
                <a:gd name="T9" fmla="*/ 66 h 293"/>
                <a:gd name="T10" fmla="*/ 6 w 304"/>
                <a:gd name="T11" fmla="*/ 171 h 293"/>
                <a:gd name="T12" fmla="*/ 66 w 304"/>
                <a:gd name="T13" fmla="*/ 260 h 293"/>
                <a:gd name="T14" fmla="*/ 166 w 304"/>
                <a:gd name="T15" fmla="*/ 289 h 293"/>
                <a:gd name="T16" fmla="*/ 274 w 304"/>
                <a:gd name="T17" fmla="*/ 234 h 293"/>
                <a:gd name="T18" fmla="*/ 301 w 304"/>
                <a:gd name="T19" fmla="*/ 159 h 293"/>
                <a:gd name="T20" fmla="*/ 296 w 304"/>
                <a:gd name="T21" fmla="*/ 121 h 2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4"/>
                <a:gd name="T34" fmla="*/ 0 h 293"/>
                <a:gd name="T35" fmla="*/ 304 w 304"/>
                <a:gd name="T36" fmla="*/ 293 h 2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4" h="293">
                  <a:moveTo>
                    <a:pt x="296" y="121"/>
                  </a:moveTo>
                  <a:cubicBezTo>
                    <a:pt x="289" y="102"/>
                    <a:pt x="277" y="63"/>
                    <a:pt x="260" y="44"/>
                  </a:cubicBezTo>
                  <a:cubicBezTo>
                    <a:pt x="243" y="25"/>
                    <a:pt x="221" y="14"/>
                    <a:pt x="195" y="8"/>
                  </a:cubicBezTo>
                  <a:cubicBezTo>
                    <a:pt x="169" y="2"/>
                    <a:pt x="131" y="0"/>
                    <a:pt x="104" y="10"/>
                  </a:cubicBezTo>
                  <a:cubicBezTo>
                    <a:pt x="77" y="20"/>
                    <a:pt x="48" y="39"/>
                    <a:pt x="32" y="66"/>
                  </a:cubicBezTo>
                  <a:cubicBezTo>
                    <a:pt x="16" y="93"/>
                    <a:pt x="0" y="139"/>
                    <a:pt x="6" y="171"/>
                  </a:cubicBezTo>
                  <a:cubicBezTo>
                    <a:pt x="12" y="203"/>
                    <a:pt x="39" y="240"/>
                    <a:pt x="66" y="260"/>
                  </a:cubicBezTo>
                  <a:cubicBezTo>
                    <a:pt x="93" y="280"/>
                    <a:pt x="131" y="293"/>
                    <a:pt x="166" y="289"/>
                  </a:cubicBezTo>
                  <a:cubicBezTo>
                    <a:pt x="201" y="285"/>
                    <a:pt x="252" y="256"/>
                    <a:pt x="274" y="234"/>
                  </a:cubicBezTo>
                  <a:cubicBezTo>
                    <a:pt x="296" y="212"/>
                    <a:pt x="298" y="179"/>
                    <a:pt x="301" y="159"/>
                  </a:cubicBezTo>
                  <a:cubicBezTo>
                    <a:pt x="304" y="139"/>
                    <a:pt x="303" y="140"/>
                    <a:pt x="296" y="121"/>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64" name="Text Box 33"/>
            <p:cNvSpPr txBox="1">
              <a:spLocks noChangeArrowheads="1"/>
            </p:cNvSpPr>
            <p:nvPr/>
          </p:nvSpPr>
          <p:spPr bwMode="auto">
            <a:xfrm>
              <a:off x="3133" y="441"/>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solidFill>
                    <a:srgbClr val="000066"/>
                  </a:solidFill>
                  <a:latin typeface="幼圆" pitchFamily="49" charset="-122"/>
                  <a:ea typeface="幼圆" pitchFamily="49" charset="-122"/>
                </a:rPr>
                <a:t>弱结合水</a:t>
              </a:r>
              <a:endParaRPr lang="en-US" altLang="zh-CN" sz="1800" b="1">
                <a:solidFill>
                  <a:srgbClr val="000066"/>
                </a:solidFill>
                <a:latin typeface="幼圆" pitchFamily="49" charset="-122"/>
                <a:ea typeface="幼圆" pitchFamily="49" charset="-122"/>
              </a:endParaRPr>
            </a:p>
          </p:txBody>
        </p:sp>
        <p:sp>
          <p:nvSpPr>
            <p:cNvPr id="72765" name="Line 34"/>
            <p:cNvSpPr>
              <a:spLocks noChangeShapeType="1"/>
            </p:cNvSpPr>
            <p:nvPr/>
          </p:nvSpPr>
          <p:spPr bwMode="auto">
            <a:xfrm flipV="1">
              <a:off x="3158" y="663"/>
              <a:ext cx="190"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66" name="Text Box 35"/>
            <p:cNvSpPr txBox="1">
              <a:spLocks noChangeArrowheads="1"/>
            </p:cNvSpPr>
            <p:nvPr/>
          </p:nvSpPr>
          <p:spPr bwMode="auto">
            <a:xfrm>
              <a:off x="2173" y="1239"/>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solidFill>
                    <a:srgbClr val="000066"/>
                  </a:solidFill>
                  <a:latin typeface="幼圆" pitchFamily="49" charset="-122"/>
                  <a:ea typeface="幼圆" pitchFamily="49" charset="-122"/>
                </a:rPr>
                <a:t>土颗粒</a:t>
              </a:r>
            </a:p>
          </p:txBody>
        </p:sp>
        <p:sp>
          <p:nvSpPr>
            <p:cNvPr id="72767" name="Text Box 36"/>
            <p:cNvSpPr txBox="1">
              <a:spLocks noChangeArrowheads="1"/>
            </p:cNvSpPr>
            <p:nvPr/>
          </p:nvSpPr>
          <p:spPr bwMode="auto">
            <a:xfrm>
              <a:off x="2434" y="472"/>
              <a:ext cx="6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solidFill>
                    <a:srgbClr val="000066"/>
                  </a:solidFill>
                  <a:latin typeface="幼圆" pitchFamily="49" charset="-122"/>
                  <a:ea typeface="幼圆" pitchFamily="49" charset="-122"/>
                </a:rPr>
                <a:t>强结合水</a:t>
              </a:r>
              <a:endParaRPr lang="en-US" altLang="zh-CN" sz="1800" b="1">
                <a:solidFill>
                  <a:srgbClr val="000066"/>
                </a:solidFill>
                <a:latin typeface="幼圆" pitchFamily="49" charset="-122"/>
                <a:ea typeface="幼圆" pitchFamily="49" charset="-122"/>
              </a:endParaRPr>
            </a:p>
          </p:txBody>
        </p:sp>
        <p:sp>
          <p:nvSpPr>
            <p:cNvPr id="72768" name="Line 37"/>
            <p:cNvSpPr>
              <a:spLocks noChangeShapeType="1"/>
            </p:cNvSpPr>
            <p:nvPr/>
          </p:nvSpPr>
          <p:spPr bwMode="auto">
            <a:xfrm flipH="1" flipV="1">
              <a:off x="2742" y="707"/>
              <a:ext cx="212" cy="2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69" name="Line 38"/>
            <p:cNvSpPr>
              <a:spLocks noChangeShapeType="1"/>
            </p:cNvSpPr>
            <p:nvPr/>
          </p:nvSpPr>
          <p:spPr bwMode="auto">
            <a:xfrm flipH="1">
              <a:off x="2531" y="1072"/>
              <a:ext cx="306" cy="1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39"/>
          <p:cNvGrpSpPr>
            <a:grpSpLocks/>
          </p:cNvGrpSpPr>
          <p:nvPr/>
        </p:nvGrpSpPr>
        <p:grpSpPr bwMode="auto">
          <a:xfrm>
            <a:off x="6124602" y="751036"/>
            <a:ext cx="2608263" cy="1838325"/>
            <a:chOff x="3748" y="418"/>
            <a:chExt cx="1634" cy="1158"/>
          </a:xfrm>
        </p:grpSpPr>
        <p:sp>
          <p:nvSpPr>
            <p:cNvPr id="72738" name="Text Box 40"/>
            <p:cNvSpPr txBox="1">
              <a:spLocks noChangeArrowheads="1"/>
            </p:cNvSpPr>
            <p:nvPr/>
          </p:nvSpPr>
          <p:spPr bwMode="auto">
            <a:xfrm>
              <a:off x="3748" y="1345"/>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solidFill>
                    <a:srgbClr val="000066"/>
                  </a:solidFill>
                  <a:latin typeface="幼圆" pitchFamily="49" charset="-122"/>
                  <a:ea typeface="幼圆" pitchFamily="49" charset="-122"/>
                </a:rPr>
                <a:t>土颗粒</a:t>
              </a:r>
            </a:p>
          </p:txBody>
        </p:sp>
        <p:grpSp>
          <p:nvGrpSpPr>
            <p:cNvPr id="72739" name="Group 41"/>
            <p:cNvGrpSpPr>
              <a:grpSpLocks/>
            </p:cNvGrpSpPr>
            <p:nvPr/>
          </p:nvGrpSpPr>
          <p:grpSpPr bwMode="auto">
            <a:xfrm>
              <a:off x="3826" y="418"/>
              <a:ext cx="1556" cy="1125"/>
              <a:chOff x="3826" y="418"/>
              <a:chExt cx="1556" cy="1125"/>
            </a:xfrm>
          </p:grpSpPr>
          <p:sp>
            <p:nvSpPr>
              <p:cNvPr id="72740" name="Freeform 42"/>
              <p:cNvSpPr>
                <a:spLocks/>
              </p:cNvSpPr>
              <p:nvPr/>
            </p:nvSpPr>
            <p:spPr bwMode="auto">
              <a:xfrm>
                <a:off x="4560" y="677"/>
                <a:ext cx="428" cy="677"/>
              </a:xfrm>
              <a:custGeom>
                <a:avLst/>
                <a:gdLst>
                  <a:gd name="T0" fmla="*/ 44 w 428"/>
                  <a:gd name="T1" fmla="*/ 250 h 614"/>
                  <a:gd name="T2" fmla="*/ 8 w 428"/>
                  <a:gd name="T3" fmla="*/ 216 h 614"/>
                  <a:gd name="T4" fmla="*/ 90 w 428"/>
                  <a:gd name="T5" fmla="*/ 193 h 614"/>
                  <a:gd name="T6" fmla="*/ 98 w 428"/>
                  <a:gd name="T7" fmla="*/ 75 h 614"/>
                  <a:gd name="T8" fmla="*/ 159 w 428"/>
                  <a:gd name="T9" fmla="*/ 55 h 614"/>
                  <a:gd name="T10" fmla="*/ 215 w 428"/>
                  <a:gd name="T11" fmla="*/ 118 h 614"/>
                  <a:gd name="T12" fmla="*/ 253 w 428"/>
                  <a:gd name="T13" fmla="*/ 66 h 614"/>
                  <a:gd name="T14" fmla="*/ 298 w 428"/>
                  <a:gd name="T15" fmla="*/ 0 h 614"/>
                  <a:gd name="T16" fmla="*/ 336 w 428"/>
                  <a:gd name="T17" fmla="*/ 15 h 614"/>
                  <a:gd name="T18" fmla="*/ 428 w 428"/>
                  <a:gd name="T19" fmla="*/ 648 h 614"/>
                  <a:gd name="T20" fmla="*/ 359 w 428"/>
                  <a:gd name="T21" fmla="*/ 654 h 614"/>
                  <a:gd name="T22" fmla="*/ 332 w 428"/>
                  <a:gd name="T23" fmla="*/ 691 h 614"/>
                  <a:gd name="T24" fmla="*/ 319 w 428"/>
                  <a:gd name="T25" fmla="*/ 737 h 614"/>
                  <a:gd name="T26" fmla="*/ 306 w 428"/>
                  <a:gd name="T27" fmla="*/ 772 h 614"/>
                  <a:gd name="T28" fmla="*/ 271 w 428"/>
                  <a:gd name="T29" fmla="*/ 820 h 614"/>
                  <a:gd name="T30" fmla="*/ 240 w 428"/>
                  <a:gd name="T31" fmla="*/ 784 h 614"/>
                  <a:gd name="T32" fmla="*/ 213 w 428"/>
                  <a:gd name="T33" fmla="*/ 755 h 614"/>
                  <a:gd name="T34" fmla="*/ 130 w 428"/>
                  <a:gd name="T35" fmla="*/ 786 h 614"/>
                  <a:gd name="T36" fmla="*/ 140 w 428"/>
                  <a:gd name="T37" fmla="*/ 609 h 614"/>
                  <a:gd name="T38" fmla="*/ 72 w 428"/>
                  <a:gd name="T39" fmla="*/ 368 h 614"/>
                  <a:gd name="T40" fmla="*/ 44 w 428"/>
                  <a:gd name="T41" fmla="*/ 250 h 6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8"/>
                  <a:gd name="T64" fmla="*/ 0 h 614"/>
                  <a:gd name="T65" fmla="*/ 428 w 428"/>
                  <a:gd name="T66" fmla="*/ 614 h 61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8" h="614">
                    <a:moveTo>
                      <a:pt x="44" y="187"/>
                    </a:moveTo>
                    <a:cubicBezTo>
                      <a:pt x="33" y="168"/>
                      <a:pt x="0" y="168"/>
                      <a:pt x="8" y="161"/>
                    </a:cubicBezTo>
                    <a:cubicBezTo>
                      <a:pt x="16" y="154"/>
                      <a:pt x="75" y="162"/>
                      <a:pt x="90" y="144"/>
                    </a:cubicBezTo>
                    <a:cubicBezTo>
                      <a:pt x="105" y="126"/>
                      <a:pt x="87" y="73"/>
                      <a:pt x="98" y="56"/>
                    </a:cubicBezTo>
                    <a:cubicBezTo>
                      <a:pt x="109" y="39"/>
                      <a:pt x="140" y="36"/>
                      <a:pt x="159" y="41"/>
                    </a:cubicBezTo>
                    <a:cubicBezTo>
                      <a:pt x="178" y="46"/>
                      <a:pt x="199" y="87"/>
                      <a:pt x="215" y="88"/>
                    </a:cubicBezTo>
                    <a:cubicBezTo>
                      <a:pt x="231" y="89"/>
                      <a:pt x="239" y="64"/>
                      <a:pt x="253" y="49"/>
                    </a:cubicBezTo>
                    <a:cubicBezTo>
                      <a:pt x="267" y="34"/>
                      <a:pt x="284" y="6"/>
                      <a:pt x="298" y="0"/>
                    </a:cubicBezTo>
                    <a:lnTo>
                      <a:pt x="336" y="12"/>
                    </a:lnTo>
                    <a:cubicBezTo>
                      <a:pt x="358" y="92"/>
                      <a:pt x="424" y="404"/>
                      <a:pt x="428" y="483"/>
                    </a:cubicBezTo>
                    <a:lnTo>
                      <a:pt x="359" y="488"/>
                    </a:lnTo>
                    <a:cubicBezTo>
                      <a:pt x="343" y="493"/>
                      <a:pt x="339" y="506"/>
                      <a:pt x="332" y="516"/>
                    </a:cubicBezTo>
                    <a:cubicBezTo>
                      <a:pt x="325" y="526"/>
                      <a:pt x="323" y="540"/>
                      <a:pt x="319" y="550"/>
                    </a:cubicBezTo>
                    <a:cubicBezTo>
                      <a:pt x="315" y="560"/>
                      <a:pt x="314" y="566"/>
                      <a:pt x="306" y="576"/>
                    </a:cubicBezTo>
                    <a:cubicBezTo>
                      <a:pt x="298" y="586"/>
                      <a:pt x="282" y="610"/>
                      <a:pt x="271" y="612"/>
                    </a:cubicBezTo>
                    <a:cubicBezTo>
                      <a:pt x="260" y="614"/>
                      <a:pt x="250" y="593"/>
                      <a:pt x="240" y="585"/>
                    </a:cubicBezTo>
                    <a:cubicBezTo>
                      <a:pt x="230" y="577"/>
                      <a:pt x="231" y="563"/>
                      <a:pt x="213" y="563"/>
                    </a:cubicBezTo>
                    <a:lnTo>
                      <a:pt x="130" y="587"/>
                    </a:lnTo>
                    <a:cubicBezTo>
                      <a:pt x="118" y="569"/>
                      <a:pt x="150" y="506"/>
                      <a:pt x="140" y="454"/>
                    </a:cubicBezTo>
                    <a:cubicBezTo>
                      <a:pt x="130" y="402"/>
                      <a:pt x="88" y="319"/>
                      <a:pt x="72" y="275"/>
                    </a:cubicBezTo>
                    <a:cubicBezTo>
                      <a:pt x="56" y="231"/>
                      <a:pt x="48" y="214"/>
                      <a:pt x="44" y="187"/>
                    </a:cubicBez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41" name="Freeform 43"/>
              <p:cNvSpPr>
                <a:spLocks/>
              </p:cNvSpPr>
              <p:nvPr/>
            </p:nvSpPr>
            <p:spPr bwMode="auto">
              <a:xfrm>
                <a:off x="4147" y="899"/>
                <a:ext cx="618" cy="606"/>
              </a:xfrm>
              <a:custGeom>
                <a:avLst/>
                <a:gdLst>
                  <a:gd name="T0" fmla="*/ 409 w 618"/>
                  <a:gd name="T1" fmla="*/ 20 h 606"/>
                  <a:gd name="T2" fmla="*/ 305 w 618"/>
                  <a:gd name="T3" fmla="*/ 3 h 606"/>
                  <a:gd name="T4" fmla="*/ 173 w 618"/>
                  <a:gd name="T5" fmla="*/ 37 h 606"/>
                  <a:gd name="T6" fmla="*/ 61 w 618"/>
                  <a:gd name="T7" fmla="*/ 138 h 606"/>
                  <a:gd name="T8" fmla="*/ 5 w 618"/>
                  <a:gd name="T9" fmla="*/ 275 h 606"/>
                  <a:gd name="T10" fmla="*/ 32 w 618"/>
                  <a:gd name="T11" fmla="*/ 419 h 606"/>
                  <a:gd name="T12" fmla="*/ 99 w 618"/>
                  <a:gd name="T13" fmla="*/ 522 h 606"/>
                  <a:gd name="T14" fmla="*/ 212 w 618"/>
                  <a:gd name="T15" fmla="*/ 582 h 606"/>
                  <a:gd name="T16" fmla="*/ 382 w 618"/>
                  <a:gd name="T17" fmla="*/ 596 h 606"/>
                  <a:gd name="T18" fmla="*/ 524 w 618"/>
                  <a:gd name="T19" fmla="*/ 524 h 606"/>
                  <a:gd name="T20" fmla="*/ 605 w 618"/>
                  <a:gd name="T21" fmla="*/ 387 h 606"/>
                  <a:gd name="T22" fmla="*/ 603 w 618"/>
                  <a:gd name="T23" fmla="*/ 253 h 606"/>
                  <a:gd name="T24" fmla="*/ 574 w 618"/>
                  <a:gd name="T25" fmla="*/ 152 h 606"/>
                  <a:gd name="T26" fmla="*/ 505 w 618"/>
                  <a:gd name="T27" fmla="*/ 66 h 606"/>
                  <a:gd name="T28" fmla="*/ 409 w 618"/>
                  <a:gd name="T29" fmla="*/ 20 h 6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8"/>
                  <a:gd name="T46" fmla="*/ 0 h 606"/>
                  <a:gd name="T47" fmla="*/ 618 w 618"/>
                  <a:gd name="T48" fmla="*/ 606 h 6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8" h="606">
                    <a:moveTo>
                      <a:pt x="409" y="20"/>
                    </a:moveTo>
                    <a:cubicBezTo>
                      <a:pt x="376" y="6"/>
                      <a:pt x="344" y="0"/>
                      <a:pt x="305" y="3"/>
                    </a:cubicBezTo>
                    <a:cubicBezTo>
                      <a:pt x="266" y="6"/>
                      <a:pt x="214" y="15"/>
                      <a:pt x="173" y="37"/>
                    </a:cubicBezTo>
                    <a:cubicBezTo>
                      <a:pt x="132" y="59"/>
                      <a:pt x="89" y="98"/>
                      <a:pt x="61" y="138"/>
                    </a:cubicBezTo>
                    <a:cubicBezTo>
                      <a:pt x="33" y="178"/>
                      <a:pt x="10" y="228"/>
                      <a:pt x="5" y="275"/>
                    </a:cubicBezTo>
                    <a:cubicBezTo>
                      <a:pt x="0" y="322"/>
                      <a:pt x="16" y="378"/>
                      <a:pt x="32" y="419"/>
                    </a:cubicBezTo>
                    <a:cubicBezTo>
                      <a:pt x="48" y="460"/>
                      <a:pt x="69" y="495"/>
                      <a:pt x="99" y="522"/>
                    </a:cubicBezTo>
                    <a:cubicBezTo>
                      <a:pt x="129" y="549"/>
                      <a:pt x="165" y="570"/>
                      <a:pt x="212" y="582"/>
                    </a:cubicBezTo>
                    <a:cubicBezTo>
                      <a:pt x="259" y="594"/>
                      <a:pt x="330" y="606"/>
                      <a:pt x="382" y="596"/>
                    </a:cubicBezTo>
                    <a:cubicBezTo>
                      <a:pt x="434" y="586"/>
                      <a:pt x="487" y="559"/>
                      <a:pt x="524" y="524"/>
                    </a:cubicBezTo>
                    <a:cubicBezTo>
                      <a:pt x="561" y="489"/>
                      <a:pt x="592" y="432"/>
                      <a:pt x="605" y="387"/>
                    </a:cubicBezTo>
                    <a:cubicBezTo>
                      <a:pt x="618" y="342"/>
                      <a:pt x="608" y="292"/>
                      <a:pt x="603" y="253"/>
                    </a:cubicBezTo>
                    <a:cubicBezTo>
                      <a:pt x="598" y="214"/>
                      <a:pt x="590" y="183"/>
                      <a:pt x="574" y="152"/>
                    </a:cubicBezTo>
                    <a:cubicBezTo>
                      <a:pt x="558" y="121"/>
                      <a:pt x="532" y="88"/>
                      <a:pt x="505" y="66"/>
                    </a:cubicBezTo>
                    <a:cubicBezTo>
                      <a:pt x="478" y="44"/>
                      <a:pt x="429" y="30"/>
                      <a:pt x="409" y="20"/>
                    </a:cubicBezTo>
                    <a:close/>
                  </a:path>
                </a:pathLst>
              </a:custGeom>
              <a:solidFill>
                <a:srgbClr val="99CCFF"/>
              </a:solidFill>
              <a:ln w="9525">
                <a:solidFill>
                  <a:schemeClr val="tx1"/>
                </a:solidFill>
                <a:round/>
                <a:headEnd/>
                <a:tailEnd/>
              </a:ln>
            </p:spPr>
            <p:txBody>
              <a:bodyPr/>
              <a:lstStyle/>
              <a:p>
                <a:endParaRPr lang="zh-CN" altLang="en-US"/>
              </a:p>
            </p:txBody>
          </p:sp>
          <p:sp>
            <p:nvSpPr>
              <p:cNvPr id="72742" name="Freeform 44"/>
              <p:cNvSpPr>
                <a:spLocks/>
              </p:cNvSpPr>
              <p:nvPr/>
            </p:nvSpPr>
            <p:spPr bwMode="auto">
              <a:xfrm>
                <a:off x="4784" y="700"/>
                <a:ext cx="596" cy="590"/>
              </a:xfrm>
              <a:custGeom>
                <a:avLst/>
                <a:gdLst>
                  <a:gd name="T0" fmla="*/ 475 w 596"/>
                  <a:gd name="T1" fmla="*/ 39 h 590"/>
                  <a:gd name="T2" fmla="*/ 532 w 596"/>
                  <a:gd name="T3" fmla="*/ 118 h 590"/>
                  <a:gd name="T4" fmla="*/ 583 w 596"/>
                  <a:gd name="T5" fmla="*/ 224 h 590"/>
                  <a:gd name="T6" fmla="*/ 592 w 596"/>
                  <a:gd name="T7" fmla="*/ 308 h 590"/>
                  <a:gd name="T8" fmla="*/ 561 w 596"/>
                  <a:gd name="T9" fmla="*/ 442 h 590"/>
                  <a:gd name="T10" fmla="*/ 446 w 596"/>
                  <a:gd name="T11" fmla="*/ 553 h 590"/>
                  <a:gd name="T12" fmla="*/ 295 w 596"/>
                  <a:gd name="T13" fmla="*/ 589 h 590"/>
                  <a:gd name="T14" fmla="*/ 160 w 596"/>
                  <a:gd name="T15" fmla="*/ 550 h 590"/>
                  <a:gd name="T16" fmla="*/ 57 w 596"/>
                  <a:gd name="T17" fmla="*/ 464 h 590"/>
                  <a:gd name="T18" fmla="*/ 7 w 596"/>
                  <a:gd name="T19" fmla="*/ 332 h 590"/>
                  <a:gd name="T20" fmla="*/ 16 w 596"/>
                  <a:gd name="T21" fmla="*/ 186 h 590"/>
                  <a:gd name="T22" fmla="*/ 93 w 596"/>
                  <a:gd name="T23" fmla="*/ 78 h 590"/>
                  <a:gd name="T24" fmla="*/ 196 w 596"/>
                  <a:gd name="T25" fmla="*/ 18 h 590"/>
                  <a:gd name="T26" fmla="*/ 312 w 596"/>
                  <a:gd name="T27" fmla="*/ 3 h 590"/>
                  <a:gd name="T28" fmla="*/ 384 w 596"/>
                  <a:gd name="T29" fmla="*/ 6 h 590"/>
                  <a:gd name="T30" fmla="*/ 475 w 596"/>
                  <a:gd name="T31" fmla="*/ 39 h 5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96"/>
                  <a:gd name="T49" fmla="*/ 0 h 590"/>
                  <a:gd name="T50" fmla="*/ 596 w 596"/>
                  <a:gd name="T51" fmla="*/ 590 h 5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96" h="590">
                    <a:moveTo>
                      <a:pt x="475" y="39"/>
                    </a:moveTo>
                    <a:cubicBezTo>
                      <a:pt x="500" y="58"/>
                      <a:pt x="514" y="87"/>
                      <a:pt x="532" y="118"/>
                    </a:cubicBezTo>
                    <a:cubicBezTo>
                      <a:pt x="550" y="149"/>
                      <a:pt x="573" y="192"/>
                      <a:pt x="583" y="224"/>
                    </a:cubicBezTo>
                    <a:cubicBezTo>
                      <a:pt x="593" y="256"/>
                      <a:pt x="596" y="272"/>
                      <a:pt x="592" y="308"/>
                    </a:cubicBezTo>
                    <a:cubicBezTo>
                      <a:pt x="588" y="344"/>
                      <a:pt x="585" y="401"/>
                      <a:pt x="561" y="442"/>
                    </a:cubicBezTo>
                    <a:cubicBezTo>
                      <a:pt x="537" y="483"/>
                      <a:pt x="490" y="529"/>
                      <a:pt x="446" y="553"/>
                    </a:cubicBezTo>
                    <a:cubicBezTo>
                      <a:pt x="402" y="577"/>
                      <a:pt x="343" y="590"/>
                      <a:pt x="295" y="589"/>
                    </a:cubicBezTo>
                    <a:cubicBezTo>
                      <a:pt x="247" y="588"/>
                      <a:pt x="200" y="571"/>
                      <a:pt x="160" y="550"/>
                    </a:cubicBezTo>
                    <a:cubicBezTo>
                      <a:pt x="120" y="529"/>
                      <a:pt x="82" y="500"/>
                      <a:pt x="57" y="464"/>
                    </a:cubicBezTo>
                    <a:cubicBezTo>
                      <a:pt x="32" y="428"/>
                      <a:pt x="14" y="378"/>
                      <a:pt x="7" y="332"/>
                    </a:cubicBezTo>
                    <a:cubicBezTo>
                      <a:pt x="0" y="286"/>
                      <a:pt x="2" y="228"/>
                      <a:pt x="16" y="186"/>
                    </a:cubicBezTo>
                    <a:cubicBezTo>
                      <a:pt x="30" y="144"/>
                      <a:pt x="63" y="106"/>
                      <a:pt x="93" y="78"/>
                    </a:cubicBezTo>
                    <a:cubicBezTo>
                      <a:pt x="123" y="50"/>
                      <a:pt x="160" y="30"/>
                      <a:pt x="196" y="18"/>
                    </a:cubicBezTo>
                    <a:cubicBezTo>
                      <a:pt x="232" y="6"/>
                      <a:pt x="281" y="5"/>
                      <a:pt x="312" y="3"/>
                    </a:cubicBezTo>
                    <a:cubicBezTo>
                      <a:pt x="343" y="1"/>
                      <a:pt x="357" y="0"/>
                      <a:pt x="384" y="6"/>
                    </a:cubicBezTo>
                    <a:cubicBezTo>
                      <a:pt x="411" y="12"/>
                      <a:pt x="450" y="20"/>
                      <a:pt x="475" y="39"/>
                    </a:cubicBezTo>
                    <a:close/>
                  </a:path>
                </a:pathLst>
              </a:custGeom>
              <a:solidFill>
                <a:srgbClr val="99CCFF"/>
              </a:solidFill>
              <a:ln w="9525">
                <a:solidFill>
                  <a:schemeClr val="tx1"/>
                </a:solidFill>
                <a:round/>
                <a:headEnd/>
                <a:tailEnd/>
              </a:ln>
            </p:spPr>
            <p:txBody>
              <a:bodyPr/>
              <a:lstStyle/>
              <a:p>
                <a:endParaRPr lang="zh-CN" altLang="en-US"/>
              </a:p>
            </p:txBody>
          </p:sp>
          <p:sp>
            <p:nvSpPr>
              <p:cNvPr id="72743" name="Freeform 45"/>
              <p:cNvSpPr>
                <a:spLocks/>
              </p:cNvSpPr>
              <p:nvPr/>
            </p:nvSpPr>
            <p:spPr bwMode="auto">
              <a:xfrm>
                <a:off x="4253" y="1002"/>
                <a:ext cx="426" cy="415"/>
              </a:xfrm>
              <a:custGeom>
                <a:avLst/>
                <a:gdLst>
                  <a:gd name="T0" fmla="*/ 334 w 426"/>
                  <a:gd name="T1" fmla="*/ 25 h 415"/>
                  <a:gd name="T2" fmla="*/ 243 w 426"/>
                  <a:gd name="T3" fmla="*/ 1 h 415"/>
                  <a:gd name="T4" fmla="*/ 113 w 426"/>
                  <a:gd name="T5" fmla="*/ 20 h 415"/>
                  <a:gd name="T6" fmla="*/ 17 w 426"/>
                  <a:gd name="T7" fmla="*/ 102 h 415"/>
                  <a:gd name="T8" fmla="*/ 10 w 426"/>
                  <a:gd name="T9" fmla="*/ 239 h 415"/>
                  <a:gd name="T10" fmla="*/ 67 w 426"/>
                  <a:gd name="T11" fmla="*/ 352 h 415"/>
                  <a:gd name="T12" fmla="*/ 209 w 426"/>
                  <a:gd name="T13" fmla="*/ 409 h 415"/>
                  <a:gd name="T14" fmla="*/ 331 w 426"/>
                  <a:gd name="T15" fmla="*/ 388 h 415"/>
                  <a:gd name="T16" fmla="*/ 413 w 426"/>
                  <a:gd name="T17" fmla="*/ 296 h 415"/>
                  <a:gd name="T18" fmla="*/ 411 w 426"/>
                  <a:gd name="T19" fmla="*/ 162 h 415"/>
                  <a:gd name="T20" fmla="*/ 367 w 426"/>
                  <a:gd name="T21" fmla="*/ 83 h 415"/>
                  <a:gd name="T22" fmla="*/ 334 w 426"/>
                  <a:gd name="T23" fmla="*/ 25 h 41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6"/>
                  <a:gd name="T37" fmla="*/ 0 h 415"/>
                  <a:gd name="T38" fmla="*/ 426 w 426"/>
                  <a:gd name="T39" fmla="*/ 415 h 41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6" h="415">
                    <a:moveTo>
                      <a:pt x="334" y="25"/>
                    </a:moveTo>
                    <a:cubicBezTo>
                      <a:pt x="313" y="11"/>
                      <a:pt x="280" y="2"/>
                      <a:pt x="243" y="1"/>
                    </a:cubicBezTo>
                    <a:cubicBezTo>
                      <a:pt x="206" y="0"/>
                      <a:pt x="151" y="3"/>
                      <a:pt x="113" y="20"/>
                    </a:cubicBezTo>
                    <a:cubicBezTo>
                      <a:pt x="75" y="37"/>
                      <a:pt x="34" y="65"/>
                      <a:pt x="17" y="102"/>
                    </a:cubicBezTo>
                    <a:cubicBezTo>
                      <a:pt x="0" y="139"/>
                      <a:pt x="2" y="197"/>
                      <a:pt x="10" y="239"/>
                    </a:cubicBezTo>
                    <a:cubicBezTo>
                      <a:pt x="18" y="281"/>
                      <a:pt x="34" y="324"/>
                      <a:pt x="67" y="352"/>
                    </a:cubicBezTo>
                    <a:cubicBezTo>
                      <a:pt x="100" y="380"/>
                      <a:pt x="165" y="403"/>
                      <a:pt x="209" y="409"/>
                    </a:cubicBezTo>
                    <a:cubicBezTo>
                      <a:pt x="253" y="415"/>
                      <a:pt x="297" y="407"/>
                      <a:pt x="331" y="388"/>
                    </a:cubicBezTo>
                    <a:cubicBezTo>
                      <a:pt x="365" y="369"/>
                      <a:pt x="400" y="334"/>
                      <a:pt x="413" y="296"/>
                    </a:cubicBezTo>
                    <a:cubicBezTo>
                      <a:pt x="426" y="258"/>
                      <a:pt x="419" y="197"/>
                      <a:pt x="411" y="162"/>
                    </a:cubicBezTo>
                    <a:cubicBezTo>
                      <a:pt x="403" y="127"/>
                      <a:pt x="381" y="106"/>
                      <a:pt x="367" y="83"/>
                    </a:cubicBezTo>
                    <a:cubicBezTo>
                      <a:pt x="353" y="60"/>
                      <a:pt x="355" y="39"/>
                      <a:pt x="334" y="25"/>
                    </a:cubicBezTo>
                    <a:close/>
                  </a:path>
                </a:pathLst>
              </a:custGeom>
              <a:solidFill>
                <a:srgbClr val="CCCCFF"/>
              </a:solidFill>
              <a:ln w="9525">
                <a:solidFill>
                  <a:schemeClr val="tx1"/>
                </a:solidFill>
                <a:round/>
                <a:headEnd/>
                <a:tailEnd/>
              </a:ln>
            </p:spPr>
            <p:txBody>
              <a:bodyPr/>
              <a:lstStyle/>
              <a:p>
                <a:endParaRPr lang="zh-CN" altLang="en-US"/>
              </a:p>
            </p:txBody>
          </p:sp>
          <p:sp>
            <p:nvSpPr>
              <p:cNvPr id="72744" name="Freeform 46"/>
              <p:cNvSpPr>
                <a:spLocks/>
              </p:cNvSpPr>
              <p:nvPr/>
            </p:nvSpPr>
            <p:spPr bwMode="auto">
              <a:xfrm>
                <a:off x="4878" y="778"/>
                <a:ext cx="406" cy="417"/>
              </a:xfrm>
              <a:custGeom>
                <a:avLst/>
                <a:gdLst>
                  <a:gd name="T0" fmla="*/ 131 w 406"/>
                  <a:gd name="T1" fmla="*/ 16 h 417"/>
                  <a:gd name="T2" fmla="*/ 230 w 406"/>
                  <a:gd name="T3" fmla="*/ 9 h 417"/>
                  <a:gd name="T4" fmla="*/ 321 w 406"/>
                  <a:gd name="T5" fmla="*/ 69 h 417"/>
                  <a:gd name="T6" fmla="*/ 395 w 406"/>
                  <a:gd name="T7" fmla="*/ 160 h 417"/>
                  <a:gd name="T8" fmla="*/ 386 w 406"/>
                  <a:gd name="T9" fmla="*/ 319 h 417"/>
                  <a:gd name="T10" fmla="*/ 273 w 406"/>
                  <a:gd name="T11" fmla="*/ 400 h 417"/>
                  <a:gd name="T12" fmla="*/ 138 w 406"/>
                  <a:gd name="T13" fmla="*/ 405 h 417"/>
                  <a:gd name="T14" fmla="*/ 28 w 406"/>
                  <a:gd name="T15" fmla="*/ 328 h 417"/>
                  <a:gd name="T16" fmla="*/ 2 w 406"/>
                  <a:gd name="T17" fmla="*/ 213 h 417"/>
                  <a:gd name="T18" fmla="*/ 14 w 406"/>
                  <a:gd name="T19" fmla="*/ 122 h 417"/>
                  <a:gd name="T20" fmla="*/ 57 w 406"/>
                  <a:gd name="T21" fmla="*/ 60 h 417"/>
                  <a:gd name="T22" fmla="*/ 131 w 406"/>
                  <a:gd name="T23" fmla="*/ 16 h 4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6"/>
                  <a:gd name="T37" fmla="*/ 0 h 417"/>
                  <a:gd name="T38" fmla="*/ 406 w 406"/>
                  <a:gd name="T39" fmla="*/ 417 h 4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6" h="417">
                    <a:moveTo>
                      <a:pt x="131" y="16"/>
                    </a:moveTo>
                    <a:cubicBezTo>
                      <a:pt x="160" y="8"/>
                      <a:pt x="198" y="0"/>
                      <a:pt x="230" y="9"/>
                    </a:cubicBezTo>
                    <a:cubicBezTo>
                      <a:pt x="262" y="18"/>
                      <a:pt x="294" y="44"/>
                      <a:pt x="321" y="69"/>
                    </a:cubicBezTo>
                    <a:cubicBezTo>
                      <a:pt x="348" y="94"/>
                      <a:pt x="384" y="118"/>
                      <a:pt x="395" y="160"/>
                    </a:cubicBezTo>
                    <a:cubicBezTo>
                      <a:pt x="406" y="202"/>
                      <a:pt x="406" y="279"/>
                      <a:pt x="386" y="319"/>
                    </a:cubicBezTo>
                    <a:cubicBezTo>
                      <a:pt x="366" y="359"/>
                      <a:pt x="314" y="386"/>
                      <a:pt x="273" y="400"/>
                    </a:cubicBezTo>
                    <a:cubicBezTo>
                      <a:pt x="232" y="414"/>
                      <a:pt x="179" y="417"/>
                      <a:pt x="138" y="405"/>
                    </a:cubicBezTo>
                    <a:cubicBezTo>
                      <a:pt x="97" y="393"/>
                      <a:pt x="51" y="360"/>
                      <a:pt x="28" y="328"/>
                    </a:cubicBezTo>
                    <a:cubicBezTo>
                      <a:pt x="5" y="296"/>
                      <a:pt x="4" y="247"/>
                      <a:pt x="2" y="213"/>
                    </a:cubicBezTo>
                    <a:cubicBezTo>
                      <a:pt x="0" y="179"/>
                      <a:pt x="5" y="148"/>
                      <a:pt x="14" y="122"/>
                    </a:cubicBezTo>
                    <a:cubicBezTo>
                      <a:pt x="23" y="96"/>
                      <a:pt x="37" y="78"/>
                      <a:pt x="57" y="60"/>
                    </a:cubicBezTo>
                    <a:cubicBezTo>
                      <a:pt x="77" y="42"/>
                      <a:pt x="102" y="24"/>
                      <a:pt x="131" y="16"/>
                    </a:cubicBezTo>
                    <a:close/>
                  </a:path>
                </a:pathLst>
              </a:custGeom>
              <a:solidFill>
                <a:srgbClr val="CCCCFF"/>
              </a:solidFill>
              <a:ln w="9525">
                <a:solidFill>
                  <a:schemeClr val="tx1"/>
                </a:solidFill>
                <a:round/>
                <a:headEnd/>
                <a:tailEnd/>
              </a:ln>
            </p:spPr>
            <p:txBody>
              <a:bodyPr/>
              <a:lstStyle/>
              <a:p>
                <a:endParaRPr lang="zh-CN" altLang="en-US"/>
              </a:p>
            </p:txBody>
          </p:sp>
          <p:sp>
            <p:nvSpPr>
              <p:cNvPr id="72745" name="Freeform 47" descr="软木塞"/>
              <p:cNvSpPr>
                <a:spLocks/>
              </p:cNvSpPr>
              <p:nvPr/>
            </p:nvSpPr>
            <p:spPr bwMode="auto">
              <a:xfrm>
                <a:off x="4335" y="1070"/>
                <a:ext cx="275" cy="283"/>
              </a:xfrm>
              <a:custGeom>
                <a:avLst/>
                <a:gdLst>
                  <a:gd name="T0" fmla="*/ 185 w 275"/>
                  <a:gd name="T1" fmla="*/ 3 h 283"/>
                  <a:gd name="T2" fmla="*/ 72 w 275"/>
                  <a:gd name="T3" fmla="*/ 15 h 283"/>
                  <a:gd name="T4" fmla="*/ 12 w 275"/>
                  <a:gd name="T5" fmla="*/ 92 h 283"/>
                  <a:gd name="T6" fmla="*/ 12 w 275"/>
                  <a:gd name="T7" fmla="*/ 202 h 283"/>
                  <a:gd name="T8" fmla="*/ 86 w 275"/>
                  <a:gd name="T9" fmla="*/ 272 h 283"/>
                  <a:gd name="T10" fmla="*/ 197 w 275"/>
                  <a:gd name="T11" fmla="*/ 269 h 283"/>
                  <a:gd name="T12" fmla="*/ 264 w 275"/>
                  <a:gd name="T13" fmla="*/ 192 h 283"/>
                  <a:gd name="T14" fmla="*/ 261 w 275"/>
                  <a:gd name="T15" fmla="*/ 82 h 283"/>
                  <a:gd name="T16" fmla="*/ 223 w 275"/>
                  <a:gd name="T17" fmla="*/ 32 h 283"/>
                  <a:gd name="T18" fmla="*/ 185 w 275"/>
                  <a:gd name="T19" fmla="*/ 3 h 2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5"/>
                  <a:gd name="T31" fmla="*/ 0 h 283"/>
                  <a:gd name="T32" fmla="*/ 275 w 275"/>
                  <a:gd name="T33" fmla="*/ 283 h 28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5" h="283">
                    <a:moveTo>
                      <a:pt x="185" y="3"/>
                    </a:moveTo>
                    <a:cubicBezTo>
                      <a:pt x="160" y="0"/>
                      <a:pt x="101" y="0"/>
                      <a:pt x="72" y="15"/>
                    </a:cubicBezTo>
                    <a:cubicBezTo>
                      <a:pt x="43" y="30"/>
                      <a:pt x="22" y="61"/>
                      <a:pt x="12" y="92"/>
                    </a:cubicBezTo>
                    <a:cubicBezTo>
                      <a:pt x="2" y="123"/>
                      <a:pt x="0" y="172"/>
                      <a:pt x="12" y="202"/>
                    </a:cubicBezTo>
                    <a:cubicBezTo>
                      <a:pt x="24" y="232"/>
                      <a:pt x="55" y="261"/>
                      <a:pt x="86" y="272"/>
                    </a:cubicBezTo>
                    <a:cubicBezTo>
                      <a:pt x="117" y="283"/>
                      <a:pt x="167" y="282"/>
                      <a:pt x="197" y="269"/>
                    </a:cubicBezTo>
                    <a:cubicBezTo>
                      <a:pt x="227" y="256"/>
                      <a:pt x="253" y="223"/>
                      <a:pt x="264" y="192"/>
                    </a:cubicBezTo>
                    <a:cubicBezTo>
                      <a:pt x="275" y="161"/>
                      <a:pt x="268" y="109"/>
                      <a:pt x="261" y="82"/>
                    </a:cubicBezTo>
                    <a:cubicBezTo>
                      <a:pt x="254" y="55"/>
                      <a:pt x="236" y="45"/>
                      <a:pt x="223" y="32"/>
                    </a:cubicBezTo>
                    <a:cubicBezTo>
                      <a:pt x="210" y="19"/>
                      <a:pt x="209" y="8"/>
                      <a:pt x="185" y="3"/>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46" name="Freeform 48" descr="软木塞"/>
              <p:cNvSpPr>
                <a:spLocks/>
              </p:cNvSpPr>
              <p:nvPr/>
            </p:nvSpPr>
            <p:spPr bwMode="auto">
              <a:xfrm>
                <a:off x="4934" y="847"/>
                <a:ext cx="280" cy="277"/>
              </a:xfrm>
              <a:custGeom>
                <a:avLst/>
                <a:gdLst>
                  <a:gd name="T0" fmla="*/ 6 w 280"/>
                  <a:gd name="T1" fmla="*/ 125 h 277"/>
                  <a:gd name="T2" fmla="*/ 39 w 280"/>
                  <a:gd name="T3" fmla="*/ 41 h 277"/>
                  <a:gd name="T4" fmla="*/ 138 w 280"/>
                  <a:gd name="T5" fmla="*/ 0 h 277"/>
                  <a:gd name="T6" fmla="*/ 229 w 280"/>
                  <a:gd name="T7" fmla="*/ 41 h 277"/>
                  <a:gd name="T8" fmla="*/ 277 w 280"/>
                  <a:gd name="T9" fmla="*/ 120 h 277"/>
                  <a:gd name="T10" fmla="*/ 246 w 280"/>
                  <a:gd name="T11" fmla="*/ 235 h 277"/>
                  <a:gd name="T12" fmla="*/ 138 w 280"/>
                  <a:gd name="T13" fmla="*/ 274 h 277"/>
                  <a:gd name="T14" fmla="*/ 54 w 280"/>
                  <a:gd name="T15" fmla="*/ 255 h 277"/>
                  <a:gd name="T16" fmla="*/ 8 w 280"/>
                  <a:gd name="T17" fmla="*/ 185 h 277"/>
                  <a:gd name="T18" fmla="*/ 6 w 280"/>
                  <a:gd name="T19" fmla="*/ 125 h 2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277"/>
                  <a:gd name="T32" fmla="*/ 280 w 280"/>
                  <a:gd name="T33" fmla="*/ 277 h 2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277">
                    <a:moveTo>
                      <a:pt x="6" y="125"/>
                    </a:moveTo>
                    <a:cubicBezTo>
                      <a:pt x="11" y="101"/>
                      <a:pt x="17" y="62"/>
                      <a:pt x="39" y="41"/>
                    </a:cubicBezTo>
                    <a:cubicBezTo>
                      <a:pt x="61" y="20"/>
                      <a:pt x="106" y="0"/>
                      <a:pt x="138" y="0"/>
                    </a:cubicBezTo>
                    <a:cubicBezTo>
                      <a:pt x="170" y="0"/>
                      <a:pt x="206" y="21"/>
                      <a:pt x="229" y="41"/>
                    </a:cubicBezTo>
                    <a:cubicBezTo>
                      <a:pt x="252" y="61"/>
                      <a:pt x="274" y="88"/>
                      <a:pt x="277" y="120"/>
                    </a:cubicBezTo>
                    <a:cubicBezTo>
                      <a:pt x="280" y="152"/>
                      <a:pt x="269" y="209"/>
                      <a:pt x="246" y="235"/>
                    </a:cubicBezTo>
                    <a:cubicBezTo>
                      <a:pt x="223" y="261"/>
                      <a:pt x="170" y="271"/>
                      <a:pt x="138" y="274"/>
                    </a:cubicBezTo>
                    <a:cubicBezTo>
                      <a:pt x="106" y="277"/>
                      <a:pt x="76" y="270"/>
                      <a:pt x="54" y="255"/>
                    </a:cubicBezTo>
                    <a:cubicBezTo>
                      <a:pt x="32" y="240"/>
                      <a:pt x="16" y="207"/>
                      <a:pt x="8" y="185"/>
                    </a:cubicBezTo>
                    <a:cubicBezTo>
                      <a:pt x="0" y="163"/>
                      <a:pt x="1" y="149"/>
                      <a:pt x="6" y="125"/>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47" name="Line 49"/>
              <p:cNvSpPr>
                <a:spLocks noChangeShapeType="1"/>
              </p:cNvSpPr>
              <p:nvPr/>
            </p:nvSpPr>
            <p:spPr bwMode="auto">
              <a:xfrm>
                <a:off x="4719" y="814"/>
                <a:ext cx="55" cy="2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48" name="Line 50"/>
              <p:cNvSpPr>
                <a:spLocks noChangeShapeType="1"/>
              </p:cNvSpPr>
              <p:nvPr/>
            </p:nvSpPr>
            <p:spPr bwMode="auto">
              <a:xfrm>
                <a:off x="4812" y="1142"/>
                <a:ext cx="58" cy="1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49" name="Line 51"/>
              <p:cNvSpPr>
                <a:spLocks noChangeShapeType="1"/>
              </p:cNvSpPr>
              <p:nvPr/>
            </p:nvSpPr>
            <p:spPr bwMode="auto">
              <a:xfrm>
                <a:off x="4661" y="830"/>
                <a:ext cx="65" cy="2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0" name="Line 52"/>
              <p:cNvSpPr>
                <a:spLocks noChangeShapeType="1"/>
              </p:cNvSpPr>
              <p:nvPr/>
            </p:nvSpPr>
            <p:spPr bwMode="auto">
              <a:xfrm>
                <a:off x="4769" y="1181"/>
                <a:ext cx="60" cy="2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1" name="Line 53"/>
              <p:cNvSpPr>
                <a:spLocks noChangeShapeType="1"/>
              </p:cNvSpPr>
              <p:nvPr/>
            </p:nvSpPr>
            <p:spPr bwMode="auto">
              <a:xfrm>
                <a:off x="4733" y="970"/>
                <a:ext cx="82"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2" name="Text Box 54"/>
              <p:cNvSpPr txBox="1">
                <a:spLocks noChangeArrowheads="1"/>
              </p:cNvSpPr>
              <p:nvPr/>
            </p:nvSpPr>
            <p:spPr bwMode="auto">
              <a:xfrm>
                <a:off x="4834" y="1312"/>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solidFill>
                      <a:srgbClr val="000066"/>
                    </a:solidFill>
                    <a:latin typeface="幼圆" pitchFamily="49" charset="-122"/>
                    <a:ea typeface="幼圆" pitchFamily="49" charset="-122"/>
                  </a:rPr>
                  <a:t>自由水</a:t>
                </a:r>
              </a:p>
            </p:txBody>
          </p:sp>
          <p:sp>
            <p:nvSpPr>
              <p:cNvPr id="72753" name="Line 55"/>
              <p:cNvSpPr>
                <a:spLocks noChangeShapeType="1"/>
              </p:cNvSpPr>
              <p:nvPr/>
            </p:nvSpPr>
            <p:spPr bwMode="auto">
              <a:xfrm>
                <a:off x="4785" y="1210"/>
                <a:ext cx="161" cy="1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4" name="Line 56"/>
              <p:cNvSpPr>
                <a:spLocks noChangeShapeType="1"/>
              </p:cNvSpPr>
              <p:nvPr/>
            </p:nvSpPr>
            <p:spPr bwMode="auto">
              <a:xfrm flipH="1">
                <a:off x="4128" y="1259"/>
                <a:ext cx="269" cy="1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5" name="Text Box 57"/>
              <p:cNvSpPr txBox="1">
                <a:spLocks noChangeArrowheads="1"/>
              </p:cNvSpPr>
              <p:nvPr/>
            </p:nvSpPr>
            <p:spPr bwMode="auto">
              <a:xfrm>
                <a:off x="4539" y="418"/>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solidFill>
                      <a:srgbClr val="000066"/>
                    </a:solidFill>
                    <a:latin typeface="幼圆" pitchFamily="49" charset="-122"/>
                    <a:ea typeface="幼圆" pitchFamily="49" charset="-122"/>
                  </a:rPr>
                  <a:t>弱结合水</a:t>
                </a:r>
                <a:endParaRPr lang="en-US" altLang="zh-CN" sz="1800" b="1">
                  <a:solidFill>
                    <a:srgbClr val="000066"/>
                  </a:solidFill>
                  <a:latin typeface="幼圆" pitchFamily="49" charset="-122"/>
                  <a:ea typeface="幼圆" pitchFamily="49" charset="-122"/>
                </a:endParaRPr>
              </a:p>
            </p:txBody>
          </p:sp>
          <p:sp>
            <p:nvSpPr>
              <p:cNvPr id="72756" name="Line 58"/>
              <p:cNvSpPr>
                <a:spLocks noChangeShapeType="1"/>
              </p:cNvSpPr>
              <p:nvPr/>
            </p:nvSpPr>
            <p:spPr bwMode="auto">
              <a:xfrm flipH="1" flipV="1">
                <a:off x="4945" y="648"/>
                <a:ext cx="130" cy="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7" name="Text Box 59"/>
              <p:cNvSpPr txBox="1">
                <a:spLocks noChangeArrowheads="1"/>
              </p:cNvSpPr>
              <p:nvPr/>
            </p:nvSpPr>
            <p:spPr bwMode="auto">
              <a:xfrm>
                <a:off x="3826" y="514"/>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solidFill>
                      <a:srgbClr val="000066"/>
                    </a:solidFill>
                    <a:latin typeface="幼圆" pitchFamily="49" charset="-122"/>
                    <a:ea typeface="幼圆" pitchFamily="49" charset="-122"/>
                  </a:rPr>
                  <a:t>强结合水</a:t>
                </a:r>
                <a:endParaRPr lang="en-US" altLang="zh-CN" sz="1800" b="1">
                  <a:solidFill>
                    <a:srgbClr val="000066"/>
                  </a:solidFill>
                  <a:latin typeface="幼圆" pitchFamily="49" charset="-122"/>
                  <a:ea typeface="幼圆" pitchFamily="49" charset="-122"/>
                </a:endParaRPr>
              </a:p>
            </p:txBody>
          </p:sp>
          <p:sp>
            <p:nvSpPr>
              <p:cNvPr id="72758" name="Line 60"/>
              <p:cNvSpPr>
                <a:spLocks noChangeShapeType="1"/>
              </p:cNvSpPr>
              <p:nvPr/>
            </p:nvSpPr>
            <p:spPr bwMode="auto">
              <a:xfrm flipH="1" flipV="1">
                <a:off x="4178" y="807"/>
                <a:ext cx="168" cy="1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2730" name="Text Box 67"/>
          <p:cNvSpPr txBox="1">
            <a:spLocks noChangeArrowheads="1"/>
          </p:cNvSpPr>
          <p:nvPr/>
        </p:nvSpPr>
        <p:spPr bwMode="auto">
          <a:xfrm>
            <a:off x="2762250" y="5838825"/>
            <a:ext cx="43227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ea typeface="黑体" pitchFamily="2" charset="-122"/>
              </a:rPr>
              <a:t>黏性</a:t>
            </a:r>
            <a:r>
              <a:rPr kumimoji="1" lang="zh-CN" altLang="en-US" sz="4000" b="1" dirty="0">
                <a:solidFill>
                  <a:srgbClr val="000066"/>
                </a:solidFill>
                <a:ea typeface="黑体" pitchFamily="2" charset="-122"/>
              </a:rPr>
              <a:t>土的稠度状态</a:t>
            </a:r>
          </a:p>
        </p:txBody>
      </p:sp>
      <p:sp>
        <p:nvSpPr>
          <p:cNvPr id="1408068" name="AutoShape 68"/>
          <p:cNvSpPr>
            <a:spLocks noChangeArrowheads="1"/>
          </p:cNvSpPr>
          <p:nvPr/>
        </p:nvSpPr>
        <p:spPr bwMode="auto">
          <a:xfrm>
            <a:off x="1945520" y="4732976"/>
            <a:ext cx="563563" cy="381000"/>
          </a:xfrm>
          <a:prstGeom prst="homePlate">
            <a:avLst>
              <a:gd name="adj" fmla="val 36979"/>
            </a:avLst>
          </a:prstGeom>
          <a:solidFill>
            <a:srgbClr val="FFCC99"/>
          </a:solidFill>
          <a:ln w="9525">
            <a:solidFill>
              <a:srgbClr val="000066"/>
            </a:solidFill>
            <a:miter lim="800000"/>
            <a:headEnd/>
            <a:tailEnd/>
          </a:ln>
        </p:spPr>
        <p:txBody>
          <a:bodyPr wrap="none" anchor="ctr"/>
          <a:lstStyle/>
          <a:p>
            <a:endParaRPr lang="zh-CN" altLang="en-US"/>
          </a:p>
        </p:txBody>
      </p:sp>
      <p:grpSp>
        <p:nvGrpSpPr>
          <p:cNvPr id="6" name="Group 69"/>
          <p:cNvGrpSpPr>
            <a:grpSpLocks/>
          </p:cNvGrpSpPr>
          <p:nvPr/>
        </p:nvGrpSpPr>
        <p:grpSpPr bwMode="auto">
          <a:xfrm>
            <a:off x="181002" y="1305097"/>
            <a:ext cx="1646238" cy="2906746"/>
            <a:chOff x="172" y="767"/>
            <a:chExt cx="1037" cy="1831"/>
          </a:xfrm>
        </p:grpSpPr>
        <p:sp>
          <p:nvSpPr>
            <p:cNvPr id="72734" name="Text Box 71"/>
            <p:cNvSpPr txBox="1">
              <a:spLocks noChangeArrowheads="1"/>
            </p:cNvSpPr>
            <p:nvPr/>
          </p:nvSpPr>
          <p:spPr bwMode="auto">
            <a:xfrm>
              <a:off x="375" y="2029"/>
              <a:ext cx="7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rPr>
                <a:t>稠度状态</a:t>
              </a:r>
              <a:endParaRPr kumimoji="1" lang="zh-CN" altLang="en-US" sz="2000" b="1" dirty="0">
                <a:solidFill>
                  <a:srgbClr val="000066"/>
                </a:solidFill>
                <a:latin typeface="幼圆" pitchFamily="49" charset="-122"/>
                <a:ea typeface="幼圆" pitchFamily="49" charset="-122"/>
                <a:sym typeface="Symbol" pitchFamily="18" charset="2"/>
              </a:endParaRPr>
            </a:p>
          </p:txBody>
        </p:sp>
        <p:sp>
          <p:nvSpPr>
            <p:cNvPr id="72735" name="Text Box 72"/>
            <p:cNvSpPr txBox="1">
              <a:spLocks noChangeArrowheads="1"/>
            </p:cNvSpPr>
            <p:nvPr/>
          </p:nvSpPr>
          <p:spPr bwMode="auto">
            <a:xfrm>
              <a:off x="468" y="2404"/>
              <a:ext cx="63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smtClean="0">
                  <a:solidFill>
                    <a:srgbClr val="000066"/>
                  </a:solidFill>
                  <a:latin typeface="幼圆" pitchFamily="49" charset="-122"/>
                  <a:ea typeface="幼圆" pitchFamily="49" charset="-122"/>
                </a:rPr>
                <a:t>含水量</a:t>
              </a:r>
              <a:r>
                <a:rPr kumimoji="1" lang="en-US" altLang="zh-CN" sz="2000" b="1" i="1" dirty="0" smtClean="0">
                  <a:solidFill>
                    <a:srgbClr val="000066"/>
                  </a:solidFill>
                  <a:ea typeface="幼圆" pitchFamily="49" charset="-122"/>
                  <a:cs typeface="Times New Roman" panose="02020603050405020304" pitchFamily="18" charset="0"/>
                </a:rPr>
                <a:t>w</a:t>
              </a:r>
              <a:endParaRPr kumimoji="1" lang="zh-CN" altLang="en-US" sz="2000" b="1" i="1" dirty="0">
                <a:solidFill>
                  <a:srgbClr val="000066"/>
                </a:solidFill>
                <a:ea typeface="幼圆" pitchFamily="49" charset="-122"/>
                <a:cs typeface="Times New Roman" panose="02020603050405020304" pitchFamily="18" charset="0"/>
              </a:endParaRPr>
            </a:p>
          </p:txBody>
        </p:sp>
        <p:sp>
          <p:nvSpPr>
            <p:cNvPr id="72736" name="Text Box 73"/>
            <p:cNvSpPr txBox="1">
              <a:spLocks noChangeArrowheads="1"/>
            </p:cNvSpPr>
            <p:nvPr/>
          </p:nvSpPr>
          <p:spPr bwMode="auto">
            <a:xfrm>
              <a:off x="172" y="1677"/>
              <a:ext cx="93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sym typeface="Symbol" pitchFamily="18" charset="2"/>
                </a:rPr>
                <a:t>土中</a:t>
              </a:r>
              <a:r>
                <a:rPr kumimoji="1" lang="zh-CN" altLang="en-US" sz="2000" b="1" dirty="0" smtClean="0">
                  <a:solidFill>
                    <a:srgbClr val="000066"/>
                  </a:solidFill>
                  <a:latin typeface="幼圆" pitchFamily="49" charset="-122"/>
                  <a:ea typeface="幼圆" pitchFamily="49" charset="-122"/>
                  <a:sym typeface="Symbol" pitchFamily="18" charset="2"/>
                </a:rPr>
                <a:t>水形态</a:t>
              </a:r>
              <a:endParaRPr kumimoji="1" lang="en-US" altLang="zh-CN" sz="2000" b="1" dirty="0">
                <a:solidFill>
                  <a:srgbClr val="000066"/>
                </a:solidFill>
                <a:latin typeface="幼圆" pitchFamily="49" charset="-122"/>
                <a:ea typeface="幼圆" pitchFamily="49" charset="-122"/>
                <a:sym typeface="Symbol" pitchFamily="18" charset="2"/>
              </a:endParaRPr>
            </a:p>
          </p:txBody>
        </p:sp>
        <p:sp>
          <p:nvSpPr>
            <p:cNvPr id="72737" name="Text Box 74"/>
            <p:cNvSpPr txBox="1">
              <a:spLocks noChangeArrowheads="1"/>
            </p:cNvSpPr>
            <p:nvPr/>
          </p:nvSpPr>
          <p:spPr bwMode="auto">
            <a:xfrm>
              <a:off x="374" y="767"/>
              <a:ext cx="83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dirty="0" smtClean="0">
                  <a:solidFill>
                    <a:srgbClr val="000066"/>
                  </a:solidFill>
                  <a:latin typeface="幼圆" pitchFamily="49" charset="-122"/>
                  <a:ea typeface="幼圆" pitchFamily="49" charset="-122"/>
                </a:rPr>
                <a:t>土中水形态示意图</a:t>
              </a:r>
              <a:endParaRPr lang="zh-CN" altLang="en-US" sz="2000" b="1" dirty="0">
                <a:solidFill>
                  <a:srgbClr val="000066"/>
                </a:solidFill>
                <a:latin typeface="幼圆" pitchFamily="49" charset="-122"/>
                <a:ea typeface="幼圆" pitchFamily="49" charset="-122"/>
              </a:endParaRPr>
            </a:p>
          </p:txBody>
        </p:sp>
      </p:grpSp>
      <p:sp>
        <p:nvSpPr>
          <p:cNvPr id="73"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pSp>
        <p:nvGrpSpPr>
          <p:cNvPr id="5" name="组合 4"/>
          <p:cNvGrpSpPr/>
          <p:nvPr/>
        </p:nvGrpSpPr>
        <p:grpSpPr>
          <a:xfrm>
            <a:off x="2006566" y="3905586"/>
            <a:ext cx="6404036" cy="317650"/>
            <a:chOff x="1990664" y="3619350"/>
            <a:chExt cx="6404036" cy="317650"/>
          </a:xfrm>
        </p:grpSpPr>
        <p:sp>
          <p:nvSpPr>
            <p:cNvPr id="77" name="矩形 76"/>
            <p:cNvSpPr/>
            <p:nvPr/>
          </p:nvSpPr>
          <p:spPr>
            <a:xfrm rot="5400000">
              <a:off x="5008457" y="601557"/>
              <a:ext cx="317650" cy="6353235"/>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 Box 21"/>
            <p:cNvSpPr txBox="1">
              <a:spLocks noChangeArrowheads="1"/>
            </p:cNvSpPr>
            <p:nvPr/>
          </p:nvSpPr>
          <p:spPr bwMode="auto">
            <a:xfrm>
              <a:off x="2021666" y="3625850"/>
              <a:ext cx="637303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dirty="0" smtClean="0">
                  <a:solidFill>
                    <a:srgbClr val="000066"/>
                  </a:solidFill>
                  <a:latin typeface="Arial" charset="0"/>
                  <a:ea typeface="幼圆" pitchFamily="49" charset="-122"/>
                </a:rPr>
                <a:t>低                                                                                            高</a:t>
              </a:r>
              <a:endParaRPr kumimoji="1" lang="zh-CN" altLang="en-US" sz="1800" b="1" dirty="0">
                <a:solidFill>
                  <a:srgbClr val="000066"/>
                </a:solidFill>
                <a:latin typeface="Arial" charset="0"/>
                <a:ea typeface="幼圆" pitchFamily="49" charset="-122"/>
              </a:endParaRPr>
            </a:p>
          </p:txBody>
        </p:sp>
      </p:grpSp>
    </p:spTree>
    <p:extLst>
      <p:ext uri="{BB962C8B-B14F-4D97-AF65-F5344CB8AC3E}">
        <p14:creationId xmlns:p14="http://schemas.microsoft.com/office/powerpoint/2010/main" val="1863052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1408005"/>
                                        </p:tgtEl>
                                        <p:attrNameLst>
                                          <p:attrName>style.visibility</p:attrName>
                                        </p:attrNameLst>
                                      </p:cBhvr>
                                      <p:to>
                                        <p:strVal val="visible"/>
                                      </p:to>
                                    </p:set>
                                    <p:animEffect transition="in" filter="fade">
                                      <p:cBhvr>
                                        <p:cTn id="12" dur="1000"/>
                                        <p:tgtEl>
                                          <p:spTgt spid="1408005"/>
                                        </p:tgtEl>
                                      </p:cBhvr>
                                    </p:animEffect>
                                    <p:anim calcmode="lin" valueType="num">
                                      <p:cBhvr>
                                        <p:cTn id="13" dur="1000" fill="hold"/>
                                        <p:tgtEl>
                                          <p:spTgt spid="1408005"/>
                                        </p:tgtEl>
                                        <p:attrNameLst>
                                          <p:attrName>ppt_x</p:attrName>
                                        </p:attrNameLst>
                                      </p:cBhvr>
                                      <p:tavLst>
                                        <p:tav tm="0">
                                          <p:val>
                                            <p:strVal val="#ppt_x"/>
                                          </p:val>
                                        </p:tav>
                                        <p:tav tm="100000">
                                          <p:val>
                                            <p:strVal val="#ppt_x"/>
                                          </p:val>
                                        </p:tav>
                                      </p:tavLst>
                                    </p:anim>
                                    <p:anim calcmode="lin" valueType="num">
                                      <p:cBhvr>
                                        <p:cTn id="14" dur="1000" fill="hold"/>
                                        <p:tgtEl>
                                          <p:spTgt spid="1408005"/>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1500"/>
                            </p:stCondLst>
                            <p:childTnLst>
                              <p:par>
                                <p:cTn id="16" presetID="22" presetClass="entr" presetSubtype="8"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5"/>
                                        </p:tgtEl>
                                        <p:attrNameLst>
                                          <p:attrName>style.visibility</p:attrName>
                                        </p:attrNameLst>
                                      </p:cBhvr>
                                      <p:to>
                                        <p:strVal val="visible"/>
                                      </p:to>
                                    </p:set>
                                    <p:animEffect transition="in" filter="wipe(left)">
                                      <p:cBhvr>
                                        <p:cTn id="23" dur="1000"/>
                                        <p:tgtEl>
                                          <p:spTgt spid="75"/>
                                        </p:tgtEl>
                                      </p:cBhvr>
                                    </p:animEffect>
                                  </p:childTnLst>
                                </p:cTn>
                              </p:par>
                            </p:childTnLst>
                          </p:cTn>
                        </p:par>
                        <p:par>
                          <p:cTn id="24" fill="hold">
                            <p:stCondLst>
                              <p:cond delay="1000"/>
                            </p:stCondLst>
                            <p:childTnLst>
                              <p:par>
                                <p:cTn id="25" presetID="47" presetClass="entr" presetSubtype="0"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2000"/>
                                        <p:tgtEl>
                                          <p:spTgt spid="2"/>
                                        </p:tgtEl>
                                      </p:cBhvr>
                                    </p:animEffect>
                                    <p:anim calcmode="lin" valueType="num">
                                      <p:cBhvr>
                                        <p:cTn id="28" dur="2000" fill="hold"/>
                                        <p:tgtEl>
                                          <p:spTgt spid="2"/>
                                        </p:tgtEl>
                                        <p:attrNameLst>
                                          <p:attrName>ppt_x</p:attrName>
                                        </p:attrNameLst>
                                      </p:cBhvr>
                                      <p:tavLst>
                                        <p:tav tm="0">
                                          <p:val>
                                            <p:strVal val="#ppt_x"/>
                                          </p:val>
                                        </p:tav>
                                        <p:tav tm="100000">
                                          <p:val>
                                            <p:strVal val="#ppt_x"/>
                                          </p:val>
                                        </p:tav>
                                      </p:tavLst>
                                    </p:anim>
                                    <p:anim calcmode="lin" valueType="num">
                                      <p:cBhvr>
                                        <p:cTn id="29" dur="2000" fill="hold"/>
                                        <p:tgtEl>
                                          <p:spTgt spid="2"/>
                                        </p:tgtEl>
                                        <p:attrNameLst>
                                          <p:attrName>ppt_y</p:attrName>
                                        </p:attrNameLst>
                                      </p:cBhvr>
                                      <p:tavLst>
                                        <p:tav tm="0">
                                          <p:val>
                                            <p:strVal val="#ppt_y-.1"/>
                                          </p:val>
                                        </p:tav>
                                        <p:tav tm="100000">
                                          <p:val>
                                            <p:strVal val="#ppt_y"/>
                                          </p:val>
                                        </p:tav>
                                      </p:tavLst>
                                    </p:anim>
                                  </p:childTnLst>
                                </p:cTn>
                              </p:par>
                            </p:childTnLst>
                          </p:cTn>
                        </p:par>
                        <p:par>
                          <p:cTn id="30" fill="hold">
                            <p:stCondLst>
                              <p:cond delay="3000"/>
                            </p:stCondLst>
                            <p:childTnLst>
                              <p:par>
                                <p:cTn id="31" presetID="16" presetClass="entr" presetSubtype="26" fill="hold" grpId="0" nodeType="afterEffect">
                                  <p:stCondLst>
                                    <p:cond delay="0"/>
                                  </p:stCondLst>
                                  <p:childTnLst>
                                    <p:set>
                                      <p:cBhvr>
                                        <p:cTn id="32" dur="1" fill="hold">
                                          <p:stCondLst>
                                            <p:cond delay="0"/>
                                          </p:stCondLst>
                                        </p:cTn>
                                        <p:tgtEl>
                                          <p:spTgt spid="1408009"/>
                                        </p:tgtEl>
                                        <p:attrNameLst>
                                          <p:attrName>style.visibility</p:attrName>
                                        </p:attrNameLst>
                                      </p:cBhvr>
                                      <p:to>
                                        <p:strVal val="visible"/>
                                      </p:to>
                                    </p:set>
                                    <p:animEffect transition="in" filter="barn(inHorizontal)">
                                      <p:cBhvr>
                                        <p:cTn id="33" dur="500"/>
                                        <p:tgtEl>
                                          <p:spTgt spid="1408009"/>
                                        </p:tgtEl>
                                      </p:cBhvr>
                                    </p:animEffect>
                                  </p:childTnLst>
                                </p:cTn>
                              </p:par>
                            </p:childTnLst>
                          </p:cTn>
                        </p:par>
                        <p:par>
                          <p:cTn id="34" fill="hold">
                            <p:stCondLst>
                              <p:cond delay="3500"/>
                            </p:stCondLst>
                            <p:childTnLst>
                              <p:par>
                                <p:cTn id="35" presetID="47" presetClass="entr" presetSubtype="0" fill="hold" grpId="0" nodeType="afterEffect">
                                  <p:stCondLst>
                                    <p:cond delay="0"/>
                                  </p:stCondLst>
                                  <p:childTnLst>
                                    <p:set>
                                      <p:cBhvr>
                                        <p:cTn id="36" dur="1" fill="hold">
                                          <p:stCondLst>
                                            <p:cond delay="0"/>
                                          </p:stCondLst>
                                        </p:cTn>
                                        <p:tgtEl>
                                          <p:spTgt spid="1408012"/>
                                        </p:tgtEl>
                                        <p:attrNameLst>
                                          <p:attrName>style.visibility</p:attrName>
                                        </p:attrNameLst>
                                      </p:cBhvr>
                                      <p:to>
                                        <p:strVal val="visible"/>
                                      </p:to>
                                    </p:set>
                                    <p:animEffect transition="in" filter="fade">
                                      <p:cBhvr>
                                        <p:cTn id="37" dur="1000"/>
                                        <p:tgtEl>
                                          <p:spTgt spid="1408012"/>
                                        </p:tgtEl>
                                      </p:cBhvr>
                                    </p:animEffect>
                                    <p:anim calcmode="lin" valueType="num">
                                      <p:cBhvr>
                                        <p:cTn id="38" dur="1000" fill="hold"/>
                                        <p:tgtEl>
                                          <p:spTgt spid="1408012"/>
                                        </p:tgtEl>
                                        <p:attrNameLst>
                                          <p:attrName>ppt_x</p:attrName>
                                        </p:attrNameLst>
                                      </p:cBhvr>
                                      <p:tavLst>
                                        <p:tav tm="0">
                                          <p:val>
                                            <p:strVal val="#ppt_x"/>
                                          </p:val>
                                        </p:tav>
                                        <p:tav tm="100000">
                                          <p:val>
                                            <p:strVal val="#ppt_x"/>
                                          </p:val>
                                        </p:tav>
                                      </p:tavLst>
                                    </p:anim>
                                    <p:anim calcmode="lin" valueType="num">
                                      <p:cBhvr>
                                        <p:cTn id="39" dur="1000" fill="hold"/>
                                        <p:tgtEl>
                                          <p:spTgt spid="1408012"/>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nodeType="after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76"/>
                                        </p:tgtEl>
                                        <p:attrNameLst>
                                          <p:attrName>style.visibility</p:attrName>
                                        </p:attrNameLst>
                                      </p:cBhvr>
                                      <p:to>
                                        <p:strVal val="visible"/>
                                      </p:to>
                                    </p:set>
                                    <p:animEffect transition="in" filter="wipe(left)">
                                      <p:cBhvr>
                                        <p:cTn id="44" dur="1000"/>
                                        <p:tgtEl>
                                          <p:spTgt spid="76"/>
                                        </p:tgtEl>
                                      </p:cBhvr>
                                    </p:animEffect>
                                  </p:childTnLst>
                                </p:cTn>
                              </p:par>
                            </p:childTnLst>
                          </p:cTn>
                        </p:par>
                        <p:par>
                          <p:cTn id="45" fill="hold">
                            <p:stCondLst>
                              <p:cond delay="1000"/>
                            </p:stCondLst>
                            <p:childTnLst>
                              <p:par>
                                <p:cTn id="46" presetID="47" presetClass="entr" presetSubtype="0" fill="hold" nodeType="after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fade">
                                      <p:cBhvr>
                                        <p:cTn id="48" dur="2000"/>
                                        <p:tgtEl>
                                          <p:spTgt spid="3"/>
                                        </p:tgtEl>
                                      </p:cBhvr>
                                    </p:animEffect>
                                    <p:anim calcmode="lin" valueType="num">
                                      <p:cBhvr>
                                        <p:cTn id="49" dur="2000" fill="hold"/>
                                        <p:tgtEl>
                                          <p:spTgt spid="3"/>
                                        </p:tgtEl>
                                        <p:attrNameLst>
                                          <p:attrName>ppt_x</p:attrName>
                                        </p:attrNameLst>
                                      </p:cBhvr>
                                      <p:tavLst>
                                        <p:tav tm="0">
                                          <p:val>
                                            <p:strVal val="#ppt_x"/>
                                          </p:val>
                                        </p:tav>
                                        <p:tav tm="100000">
                                          <p:val>
                                            <p:strVal val="#ppt_x"/>
                                          </p:val>
                                        </p:tav>
                                      </p:tavLst>
                                    </p:anim>
                                    <p:anim calcmode="lin" valueType="num">
                                      <p:cBhvr>
                                        <p:cTn id="50" dur="2000" fill="hold"/>
                                        <p:tgtEl>
                                          <p:spTgt spid="3"/>
                                        </p:tgtEl>
                                        <p:attrNameLst>
                                          <p:attrName>ppt_y</p:attrName>
                                        </p:attrNameLst>
                                      </p:cBhvr>
                                      <p:tavLst>
                                        <p:tav tm="0">
                                          <p:val>
                                            <p:strVal val="#ppt_y-.1"/>
                                          </p:val>
                                        </p:tav>
                                        <p:tav tm="100000">
                                          <p:val>
                                            <p:strVal val="#ppt_y"/>
                                          </p:val>
                                        </p:tav>
                                      </p:tavLst>
                                    </p:anim>
                                  </p:childTnLst>
                                </p:cTn>
                              </p:par>
                            </p:childTnLst>
                          </p:cTn>
                        </p:par>
                        <p:par>
                          <p:cTn id="51" fill="hold">
                            <p:stCondLst>
                              <p:cond delay="3000"/>
                            </p:stCondLst>
                            <p:childTnLst>
                              <p:par>
                                <p:cTn id="52" presetID="16" presetClass="entr" presetSubtype="26" fill="hold" grpId="0" nodeType="afterEffect">
                                  <p:stCondLst>
                                    <p:cond delay="0"/>
                                  </p:stCondLst>
                                  <p:childTnLst>
                                    <p:set>
                                      <p:cBhvr>
                                        <p:cTn id="53" dur="1" fill="hold">
                                          <p:stCondLst>
                                            <p:cond delay="0"/>
                                          </p:stCondLst>
                                        </p:cTn>
                                        <p:tgtEl>
                                          <p:spTgt spid="1408010"/>
                                        </p:tgtEl>
                                        <p:attrNameLst>
                                          <p:attrName>style.visibility</p:attrName>
                                        </p:attrNameLst>
                                      </p:cBhvr>
                                      <p:to>
                                        <p:strVal val="visible"/>
                                      </p:to>
                                    </p:set>
                                    <p:animEffect transition="in" filter="barn(inHorizontal)">
                                      <p:cBhvr>
                                        <p:cTn id="54" dur="500"/>
                                        <p:tgtEl>
                                          <p:spTgt spid="1408010"/>
                                        </p:tgtEl>
                                      </p:cBhvr>
                                    </p:animEffect>
                                  </p:childTnLst>
                                </p:cTn>
                              </p:par>
                            </p:childTnLst>
                          </p:cTn>
                        </p:par>
                        <p:par>
                          <p:cTn id="55" fill="hold" nodeType="afterGroup">
                            <p:stCondLst>
                              <p:cond delay="3500"/>
                            </p:stCondLst>
                            <p:childTnLst>
                              <p:par>
                                <p:cTn id="56" presetID="47" presetClass="entr" presetSubtype="0" fill="hold" grpId="0" nodeType="afterEffect">
                                  <p:stCondLst>
                                    <p:cond delay="0"/>
                                  </p:stCondLst>
                                  <p:childTnLst>
                                    <p:set>
                                      <p:cBhvr>
                                        <p:cTn id="57" dur="1" fill="hold">
                                          <p:stCondLst>
                                            <p:cond delay="0"/>
                                          </p:stCondLst>
                                        </p:cTn>
                                        <p:tgtEl>
                                          <p:spTgt spid="1408013"/>
                                        </p:tgtEl>
                                        <p:attrNameLst>
                                          <p:attrName>style.visibility</p:attrName>
                                        </p:attrNameLst>
                                      </p:cBhvr>
                                      <p:to>
                                        <p:strVal val="visible"/>
                                      </p:to>
                                    </p:set>
                                    <p:animEffect transition="in" filter="fade">
                                      <p:cBhvr>
                                        <p:cTn id="58" dur="1000"/>
                                        <p:tgtEl>
                                          <p:spTgt spid="1408013"/>
                                        </p:tgtEl>
                                      </p:cBhvr>
                                    </p:animEffect>
                                    <p:anim calcmode="lin" valueType="num">
                                      <p:cBhvr>
                                        <p:cTn id="59" dur="1000" fill="hold"/>
                                        <p:tgtEl>
                                          <p:spTgt spid="1408013"/>
                                        </p:tgtEl>
                                        <p:attrNameLst>
                                          <p:attrName>ppt_x</p:attrName>
                                        </p:attrNameLst>
                                      </p:cBhvr>
                                      <p:tavLst>
                                        <p:tav tm="0">
                                          <p:val>
                                            <p:strVal val="#ppt_x"/>
                                          </p:val>
                                        </p:tav>
                                        <p:tav tm="100000">
                                          <p:val>
                                            <p:strVal val="#ppt_x"/>
                                          </p:val>
                                        </p:tav>
                                      </p:tavLst>
                                    </p:anim>
                                    <p:anim calcmode="lin" valueType="num">
                                      <p:cBhvr>
                                        <p:cTn id="60" dur="1000" fill="hold"/>
                                        <p:tgtEl>
                                          <p:spTgt spid="1408013"/>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nodeType="after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74"/>
                                        </p:tgtEl>
                                        <p:attrNameLst>
                                          <p:attrName>style.visibility</p:attrName>
                                        </p:attrNameLst>
                                      </p:cBhvr>
                                      <p:to>
                                        <p:strVal val="visible"/>
                                      </p:to>
                                    </p:set>
                                    <p:animEffect transition="in" filter="wipe(left)">
                                      <p:cBhvr>
                                        <p:cTn id="65" dur="1000"/>
                                        <p:tgtEl>
                                          <p:spTgt spid="74"/>
                                        </p:tgtEl>
                                      </p:cBhvr>
                                    </p:animEffect>
                                  </p:childTnLst>
                                </p:cTn>
                              </p:par>
                            </p:childTnLst>
                          </p:cTn>
                        </p:par>
                        <p:par>
                          <p:cTn id="66" fill="hold">
                            <p:stCondLst>
                              <p:cond delay="1000"/>
                            </p:stCondLst>
                            <p:childTnLst>
                              <p:par>
                                <p:cTn id="67" presetID="47" presetClass="entr" presetSubtype="0" fill="hold" nodeType="after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fade">
                                      <p:cBhvr>
                                        <p:cTn id="69" dur="1000"/>
                                        <p:tgtEl>
                                          <p:spTgt spid="4"/>
                                        </p:tgtEl>
                                      </p:cBhvr>
                                    </p:animEffect>
                                    <p:anim calcmode="lin" valueType="num">
                                      <p:cBhvr>
                                        <p:cTn id="70" dur="1000" fill="hold"/>
                                        <p:tgtEl>
                                          <p:spTgt spid="4"/>
                                        </p:tgtEl>
                                        <p:attrNameLst>
                                          <p:attrName>ppt_x</p:attrName>
                                        </p:attrNameLst>
                                      </p:cBhvr>
                                      <p:tavLst>
                                        <p:tav tm="0">
                                          <p:val>
                                            <p:strVal val="#ppt_x"/>
                                          </p:val>
                                        </p:tav>
                                        <p:tav tm="100000">
                                          <p:val>
                                            <p:strVal val="#ppt_x"/>
                                          </p:val>
                                        </p:tav>
                                      </p:tavLst>
                                    </p:anim>
                                    <p:anim calcmode="lin" valueType="num">
                                      <p:cBhvr>
                                        <p:cTn id="71" dur="1000" fill="hold"/>
                                        <p:tgtEl>
                                          <p:spTgt spid="4"/>
                                        </p:tgtEl>
                                        <p:attrNameLst>
                                          <p:attrName>ppt_y</p:attrName>
                                        </p:attrNameLst>
                                      </p:cBhvr>
                                      <p:tavLst>
                                        <p:tav tm="0">
                                          <p:val>
                                            <p:strVal val="#ppt_y-.1"/>
                                          </p:val>
                                        </p:tav>
                                        <p:tav tm="100000">
                                          <p:val>
                                            <p:strVal val="#ppt_y"/>
                                          </p:val>
                                        </p:tav>
                                      </p:tavLst>
                                    </p:anim>
                                  </p:childTnLst>
                                </p:cTn>
                              </p:par>
                            </p:childTnLst>
                          </p:cTn>
                        </p:par>
                        <p:par>
                          <p:cTn id="72" fill="hold">
                            <p:stCondLst>
                              <p:cond delay="2000"/>
                            </p:stCondLst>
                            <p:childTnLst>
                              <p:par>
                                <p:cTn id="73" presetID="16" presetClass="entr" presetSubtype="26" fill="hold" grpId="0" nodeType="afterEffect">
                                  <p:stCondLst>
                                    <p:cond delay="0"/>
                                  </p:stCondLst>
                                  <p:childTnLst>
                                    <p:set>
                                      <p:cBhvr>
                                        <p:cTn id="74" dur="1" fill="hold">
                                          <p:stCondLst>
                                            <p:cond delay="0"/>
                                          </p:stCondLst>
                                        </p:cTn>
                                        <p:tgtEl>
                                          <p:spTgt spid="1408011"/>
                                        </p:tgtEl>
                                        <p:attrNameLst>
                                          <p:attrName>style.visibility</p:attrName>
                                        </p:attrNameLst>
                                      </p:cBhvr>
                                      <p:to>
                                        <p:strVal val="visible"/>
                                      </p:to>
                                    </p:set>
                                    <p:animEffect transition="in" filter="barn(inHorizontal)">
                                      <p:cBhvr>
                                        <p:cTn id="75" dur="500"/>
                                        <p:tgtEl>
                                          <p:spTgt spid="1408011"/>
                                        </p:tgtEl>
                                      </p:cBhvr>
                                    </p:animEffect>
                                  </p:childTnLst>
                                </p:cTn>
                              </p:par>
                            </p:childTnLst>
                          </p:cTn>
                        </p:par>
                        <p:par>
                          <p:cTn id="76" fill="hold" nodeType="afterGroup">
                            <p:stCondLst>
                              <p:cond delay="2500"/>
                            </p:stCondLst>
                            <p:childTnLst>
                              <p:par>
                                <p:cTn id="77" presetID="47" presetClass="entr" presetSubtype="0" fill="hold" grpId="0" nodeType="afterEffect">
                                  <p:stCondLst>
                                    <p:cond delay="0"/>
                                  </p:stCondLst>
                                  <p:childTnLst>
                                    <p:set>
                                      <p:cBhvr>
                                        <p:cTn id="78" dur="1" fill="hold">
                                          <p:stCondLst>
                                            <p:cond delay="0"/>
                                          </p:stCondLst>
                                        </p:cTn>
                                        <p:tgtEl>
                                          <p:spTgt spid="1408014"/>
                                        </p:tgtEl>
                                        <p:attrNameLst>
                                          <p:attrName>style.visibility</p:attrName>
                                        </p:attrNameLst>
                                      </p:cBhvr>
                                      <p:to>
                                        <p:strVal val="visible"/>
                                      </p:to>
                                    </p:set>
                                    <p:animEffect transition="in" filter="fade">
                                      <p:cBhvr>
                                        <p:cTn id="79" dur="1000"/>
                                        <p:tgtEl>
                                          <p:spTgt spid="1408014"/>
                                        </p:tgtEl>
                                      </p:cBhvr>
                                    </p:animEffect>
                                    <p:anim calcmode="lin" valueType="num">
                                      <p:cBhvr>
                                        <p:cTn id="80" dur="1000" fill="hold"/>
                                        <p:tgtEl>
                                          <p:spTgt spid="1408014"/>
                                        </p:tgtEl>
                                        <p:attrNameLst>
                                          <p:attrName>ppt_x</p:attrName>
                                        </p:attrNameLst>
                                      </p:cBhvr>
                                      <p:tavLst>
                                        <p:tav tm="0">
                                          <p:val>
                                            <p:strVal val="#ppt_x"/>
                                          </p:val>
                                        </p:tav>
                                        <p:tav tm="100000">
                                          <p:val>
                                            <p:strVal val="#ppt_x"/>
                                          </p:val>
                                        </p:tav>
                                      </p:tavLst>
                                    </p:anim>
                                    <p:anim calcmode="lin" valueType="num">
                                      <p:cBhvr>
                                        <p:cTn id="81" dur="1000" fill="hold"/>
                                        <p:tgtEl>
                                          <p:spTgt spid="1408014"/>
                                        </p:tgtEl>
                                        <p:attrNameLst>
                                          <p:attrName>ppt_y</p:attrName>
                                        </p:attrNameLst>
                                      </p:cBhvr>
                                      <p:tavLst>
                                        <p:tav tm="0">
                                          <p:val>
                                            <p:strVal val="#ppt_y-.1"/>
                                          </p:val>
                                        </p:tav>
                                        <p:tav tm="100000">
                                          <p:val>
                                            <p:strVal val="#ppt_y"/>
                                          </p:val>
                                        </p:tav>
                                      </p:tavLst>
                                    </p:anim>
                                  </p:childTnLst>
                                </p:cTn>
                              </p:par>
                            </p:childTnLst>
                          </p:cTn>
                        </p:par>
                        <p:par>
                          <p:cTn id="82" fill="hold" nodeType="afterGroup">
                            <p:stCondLst>
                              <p:cond delay="3500"/>
                            </p:stCondLst>
                            <p:childTnLst>
                              <p:par>
                                <p:cTn id="83" presetID="22" presetClass="entr" presetSubtype="8" fill="hold" grpId="0" nodeType="afterEffect">
                                  <p:stCondLst>
                                    <p:cond delay="3000"/>
                                  </p:stCondLst>
                                  <p:childTnLst>
                                    <p:set>
                                      <p:cBhvr>
                                        <p:cTn id="84" dur="1" fill="hold">
                                          <p:stCondLst>
                                            <p:cond delay="0"/>
                                          </p:stCondLst>
                                        </p:cTn>
                                        <p:tgtEl>
                                          <p:spTgt spid="1408068"/>
                                        </p:tgtEl>
                                        <p:attrNameLst>
                                          <p:attrName>style.visibility</p:attrName>
                                        </p:attrNameLst>
                                      </p:cBhvr>
                                      <p:to>
                                        <p:strVal val="visible"/>
                                      </p:to>
                                    </p:set>
                                    <p:animEffect transition="in" filter="wipe(left)">
                                      <p:cBhvr>
                                        <p:cTn id="85" dur="2000"/>
                                        <p:tgtEl>
                                          <p:spTgt spid="1408068"/>
                                        </p:tgtEl>
                                      </p:cBhvr>
                                    </p:animEffect>
                                  </p:childTnLst>
                                </p:cTn>
                              </p:par>
                            </p:childTnLst>
                          </p:cTn>
                        </p:par>
                        <p:par>
                          <p:cTn id="86" fill="hold" nodeType="afterGroup">
                            <p:stCondLst>
                              <p:cond delay="8500"/>
                            </p:stCondLst>
                            <p:childTnLst>
                              <p:par>
                                <p:cTn id="87" presetID="27" presetClass="entr" presetSubtype="0" fill="hold" grpId="0" nodeType="afterEffect">
                                  <p:stCondLst>
                                    <p:cond delay="0"/>
                                  </p:stCondLst>
                                  <p:iterate type="lt">
                                    <p:tmPct val="50000"/>
                                  </p:iterate>
                                  <p:childTnLst>
                                    <p:set>
                                      <p:cBhvr>
                                        <p:cTn id="88" dur="1" fill="hold">
                                          <p:stCondLst>
                                            <p:cond delay="0"/>
                                          </p:stCondLst>
                                        </p:cTn>
                                        <p:tgtEl>
                                          <p:spTgt spid="1408008"/>
                                        </p:tgtEl>
                                        <p:attrNameLst>
                                          <p:attrName>style.visibility</p:attrName>
                                        </p:attrNameLst>
                                      </p:cBhvr>
                                      <p:to>
                                        <p:strVal val="visible"/>
                                      </p:to>
                                    </p:set>
                                    <p:anim calcmode="discrete" valueType="clr">
                                      <p:cBhvr override="childStyle">
                                        <p:cTn id="89" dur="500"/>
                                        <p:tgtEl>
                                          <p:spTgt spid="1408008"/>
                                        </p:tgtEl>
                                        <p:attrNameLst>
                                          <p:attrName>style.color</p:attrName>
                                        </p:attrNameLst>
                                      </p:cBhvr>
                                      <p:tavLst>
                                        <p:tav tm="0">
                                          <p:val>
                                            <p:clrVal>
                                              <a:schemeClr val="accent2"/>
                                            </p:clrVal>
                                          </p:val>
                                        </p:tav>
                                        <p:tav tm="50000">
                                          <p:val>
                                            <p:clrVal>
                                              <a:schemeClr val="hlink"/>
                                            </p:clrVal>
                                          </p:val>
                                        </p:tav>
                                      </p:tavLst>
                                    </p:anim>
                                    <p:anim calcmode="discrete" valueType="clr">
                                      <p:cBhvr>
                                        <p:cTn id="90" dur="500"/>
                                        <p:tgtEl>
                                          <p:spTgt spid="1408008"/>
                                        </p:tgtEl>
                                        <p:attrNameLst>
                                          <p:attrName>fillcolor</p:attrName>
                                        </p:attrNameLst>
                                      </p:cBhvr>
                                      <p:tavLst>
                                        <p:tav tm="0">
                                          <p:val>
                                            <p:clrVal>
                                              <a:schemeClr val="accent2"/>
                                            </p:clrVal>
                                          </p:val>
                                        </p:tav>
                                        <p:tav tm="50000">
                                          <p:val>
                                            <p:clrVal>
                                              <a:schemeClr val="hlink"/>
                                            </p:clrVal>
                                          </p:val>
                                        </p:tav>
                                      </p:tavLst>
                                    </p:anim>
                                    <p:set>
                                      <p:cBhvr>
                                        <p:cTn id="91" dur="500"/>
                                        <p:tgtEl>
                                          <p:spTgt spid="140800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4" grpId="0" animBg="1"/>
      <p:bldP spid="76" grpId="0" animBg="1"/>
      <p:bldP spid="1408005" grpId="0" animBg="1"/>
      <p:bldP spid="1408008" grpId="0"/>
      <p:bldP spid="1408009" grpId="0"/>
      <p:bldP spid="1408010" grpId="0"/>
      <p:bldP spid="1408011" grpId="0"/>
      <p:bldP spid="1408012" grpId="0"/>
      <p:bldP spid="1408013" grpId="0"/>
      <p:bldP spid="1408014" grpId="0"/>
      <p:bldP spid="140806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8796" name="Rectangle 12"/>
          <p:cNvSpPr>
            <a:spLocks noChangeArrowheads="1"/>
          </p:cNvSpPr>
          <p:nvPr/>
        </p:nvSpPr>
        <p:spPr bwMode="auto">
          <a:xfrm>
            <a:off x="990600" y="865024"/>
            <a:ext cx="7091363" cy="1486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65125" indent="-365125">
              <a:lnSpc>
                <a:spcPct val="120000"/>
              </a:lnSpc>
              <a:spcBef>
                <a:spcPct val="0"/>
              </a:spcBef>
              <a:spcAft>
                <a:spcPct val="0"/>
              </a:spcAft>
              <a:buClr>
                <a:srgbClr val="A50021"/>
              </a:buClr>
              <a:buFont typeface="Wingdings" pitchFamily="2" charset="2"/>
              <a:buChar char="n"/>
            </a:pPr>
            <a:r>
              <a:rPr kumimoji="1" lang="zh-CN" altLang="en-US" sz="2600" b="1" dirty="0">
                <a:solidFill>
                  <a:srgbClr val="C00000"/>
                </a:solidFill>
                <a:ea typeface="幼圆" pitchFamily="49" charset="-122"/>
              </a:rPr>
              <a:t>稠度界限</a:t>
            </a:r>
            <a:r>
              <a:rPr kumimoji="1" lang="zh-CN" altLang="en-US" sz="2600" b="1" dirty="0">
                <a:solidFill>
                  <a:srgbClr val="000066"/>
                </a:solidFill>
                <a:ea typeface="幼圆" pitchFamily="49" charset="-122"/>
              </a:rPr>
              <a:t>：黏性土从某种状态进人另外一种状态的分界含水量称为土的特征含水量，或称为稠度界限</a:t>
            </a:r>
            <a:endParaRPr kumimoji="1" lang="en-US" altLang="zh-CN" sz="2600" b="1" dirty="0">
              <a:solidFill>
                <a:srgbClr val="000066"/>
              </a:solidFill>
              <a:ea typeface="幼圆" pitchFamily="49" charset="-122"/>
            </a:endParaRPr>
          </a:p>
        </p:txBody>
      </p:sp>
      <p:sp>
        <p:nvSpPr>
          <p:cNvPr id="71696" name="Text Box 25"/>
          <p:cNvSpPr txBox="1">
            <a:spLocks noChangeArrowheads="1"/>
          </p:cNvSpPr>
          <p:nvPr/>
        </p:nvSpPr>
        <p:spPr bwMode="auto">
          <a:xfrm>
            <a:off x="3172757" y="5754688"/>
            <a:ext cx="25601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smtClean="0">
                <a:solidFill>
                  <a:srgbClr val="000066"/>
                </a:solidFill>
                <a:ea typeface="黑体" pitchFamily="2" charset="-122"/>
              </a:rPr>
              <a:t>稠度界限</a:t>
            </a:r>
            <a:endParaRPr lang="en-US" altLang="zh-CN" sz="4000" b="1" dirty="0">
              <a:solidFill>
                <a:srgbClr val="000066"/>
              </a:solidFill>
              <a:ea typeface="黑体" pitchFamily="2" charset="-122"/>
            </a:endParaRPr>
          </a:p>
        </p:txBody>
      </p:sp>
      <p:sp>
        <p:nvSpPr>
          <p:cNvPr id="18"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21" name="Text Box 9"/>
          <p:cNvSpPr txBox="1">
            <a:spLocks noChangeArrowheads="1"/>
          </p:cNvSpPr>
          <p:nvPr/>
        </p:nvSpPr>
        <p:spPr bwMode="auto">
          <a:xfrm>
            <a:off x="1541367" y="2523262"/>
            <a:ext cx="3173758"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30000"/>
              </a:lnSpc>
              <a:buClr>
                <a:srgbClr val="C00000"/>
              </a:buClr>
              <a:buSzPct val="130000"/>
              <a:buFont typeface="Wingdings" panose="05000000000000000000" pitchFamily="2" charset="2"/>
              <a:buChar char="F"/>
            </a:pPr>
            <a:r>
              <a:rPr kumimoji="1" lang="zh-CN" altLang="en-US" sz="2400" b="1" dirty="0" smtClean="0">
                <a:solidFill>
                  <a:srgbClr val="000066"/>
                </a:solidFill>
                <a:ea typeface="幼圆" pitchFamily="49" charset="-122"/>
              </a:rPr>
              <a:t>塑性</a:t>
            </a:r>
            <a:r>
              <a:rPr kumimoji="1" lang="zh-CN" altLang="en-US" sz="2400" b="1" dirty="0">
                <a:solidFill>
                  <a:srgbClr val="000066"/>
                </a:solidFill>
                <a:ea typeface="幼圆" pitchFamily="49" charset="-122"/>
              </a:rPr>
              <a:t>界限</a:t>
            </a:r>
            <a:r>
              <a:rPr kumimoji="1" lang="en-US" altLang="zh-CN" sz="2400" b="1" i="1" dirty="0" err="1">
                <a:solidFill>
                  <a:srgbClr val="000066"/>
                </a:solidFill>
                <a:ea typeface="幼圆" pitchFamily="49" charset="-122"/>
              </a:rPr>
              <a:t>w</a:t>
            </a:r>
            <a:r>
              <a:rPr kumimoji="1" lang="en-US" altLang="zh-CN" sz="2400" b="1" baseline="-25000" dirty="0" err="1">
                <a:solidFill>
                  <a:srgbClr val="000066"/>
                </a:solidFill>
                <a:ea typeface="幼圆" pitchFamily="49" charset="-122"/>
              </a:rPr>
              <a:t>p</a:t>
            </a:r>
            <a:endParaRPr kumimoji="1" lang="en-US" altLang="zh-CN" sz="2400" b="1" baseline="-25000" dirty="0" smtClean="0">
              <a:solidFill>
                <a:srgbClr val="000066"/>
              </a:solidFill>
              <a:ea typeface="幼圆" pitchFamily="49" charset="-122"/>
            </a:endParaRPr>
          </a:p>
          <a:p>
            <a:pPr marL="514350" indent="-514350" eaLnBrk="1" hangingPunct="1">
              <a:lnSpc>
                <a:spcPct val="130000"/>
              </a:lnSpc>
              <a:buClr>
                <a:srgbClr val="C00000"/>
              </a:buClr>
              <a:buSzPct val="130000"/>
              <a:buFont typeface="Wingdings" panose="05000000000000000000" pitchFamily="2" charset="2"/>
              <a:buChar char="F"/>
            </a:pPr>
            <a:r>
              <a:rPr kumimoji="1" lang="zh-CN" altLang="en-US" sz="2400" b="1" dirty="0">
                <a:solidFill>
                  <a:srgbClr val="000066"/>
                </a:solidFill>
                <a:ea typeface="幼圆" pitchFamily="49" charset="-122"/>
              </a:rPr>
              <a:t>液性界限</a:t>
            </a:r>
            <a:r>
              <a:rPr kumimoji="1" lang="en-US" altLang="zh-CN" sz="2400" b="1" i="1" dirty="0" err="1">
                <a:solidFill>
                  <a:srgbClr val="000066"/>
                </a:solidFill>
                <a:ea typeface="幼圆" pitchFamily="49" charset="-122"/>
              </a:rPr>
              <a:t>w</a:t>
            </a:r>
            <a:r>
              <a:rPr kumimoji="1" lang="en-US" altLang="zh-CN" sz="2400" b="1" baseline="-25000" dirty="0" err="1">
                <a:solidFill>
                  <a:srgbClr val="000066"/>
                </a:solidFill>
                <a:ea typeface="幼圆" pitchFamily="49" charset="-122"/>
              </a:rPr>
              <a:t>L</a:t>
            </a:r>
            <a:endParaRPr kumimoji="1" lang="en-US" altLang="zh-CN" sz="2400" b="1" baseline="-25000" dirty="0" smtClean="0">
              <a:solidFill>
                <a:srgbClr val="000066"/>
              </a:solidFill>
              <a:ea typeface="幼圆" pitchFamily="49" charset="-122"/>
            </a:endParaRPr>
          </a:p>
          <a:p>
            <a:pPr marL="514350" indent="-514350" eaLnBrk="1" hangingPunct="1">
              <a:lnSpc>
                <a:spcPct val="130000"/>
              </a:lnSpc>
              <a:buClr>
                <a:srgbClr val="C00000"/>
              </a:buClr>
              <a:buSzPct val="130000"/>
              <a:buFont typeface="Wingdings" panose="05000000000000000000" pitchFamily="2" charset="2"/>
              <a:buChar char="F"/>
            </a:pPr>
            <a:r>
              <a:rPr kumimoji="1" lang="zh-CN" altLang="en-US" sz="2400" b="1" dirty="0" smtClean="0">
                <a:solidFill>
                  <a:srgbClr val="000066"/>
                </a:solidFill>
                <a:ea typeface="幼圆" pitchFamily="49" charset="-122"/>
              </a:rPr>
              <a:t>缩限界限</a:t>
            </a:r>
            <a:r>
              <a:rPr kumimoji="1" lang="en-US" altLang="zh-CN" sz="2400" b="1" i="1" dirty="0" err="1" smtClean="0">
                <a:solidFill>
                  <a:srgbClr val="000066"/>
                </a:solidFill>
                <a:ea typeface="幼圆" pitchFamily="49" charset="-122"/>
              </a:rPr>
              <a:t>w</a:t>
            </a:r>
            <a:r>
              <a:rPr kumimoji="1" lang="en-US" altLang="zh-CN" sz="2400" b="1" baseline="-25000" dirty="0" err="1" smtClean="0">
                <a:solidFill>
                  <a:srgbClr val="000066"/>
                </a:solidFill>
                <a:ea typeface="幼圆" pitchFamily="49" charset="-122"/>
              </a:rPr>
              <a:t>s</a:t>
            </a:r>
            <a:endParaRPr kumimoji="1" lang="zh-CN" altLang="en-US" sz="2400" b="1" baseline="-25000" dirty="0">
              <a:solidFill>
                <a:srgbClr val="000066"/>
              </a:solidFill>
              <a:ea typeface="幼圆" pitchFamily="49" charset="-122"/>
            </a:endParaRPr>
          </a:p>
        </p:txBody>
      </p:sp>
    </p:spTree>
    <p:extLst>
      <p:ext uri="{BB962C8B-B14F-4D97-AF65-F5344CB8AC3E}">
        <p14:creationId xmlns:p14="http://schemas.microsoft.com/office/powerpoint/2010/main" val="839641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98796">
                                            <p:txEl>
                                              <p:pRg st="0" end="0"/>
                                            </p:txEl>
                                          </p:spTgt>
                                        </p:tgtEl>
                                        <p:attrNameLst>
                                          <p:attrName>style.visibility</p:attrName>
                                        </p:attrNameLst>
                                      </p:cBhvr>
                                      <p:to>
                                        <p:strVal val="visible"/>
                                      </p:to>
                                    </p:set>
                                    <p:anim calcmode="lin" valueType="num">
                                      <p:cBhvr additive="base">
                                        <p:cTn id="7" dur="500" fill="hold"/>
                                        <p:tgtEl>
                                          <p:spTgt spid="139879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9879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8796" grpId="0" build="p" bldLvl="2" autoUpdateAnimBg="0" advAuto="0"/>
      <p:bldP spid="21"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p:cNvSpPr/>
          <p:nvPr/>
        </p:nvSpPr>
        <p:spPr>
          <a:xfrm rot="5400000">
            <a:off x="2372160" y="3017685"/>
            <a:ext cx="308275" cy="1068804"/>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rot="5400000">
            <a:off x="6899092" y="2439075"/>
            <a:ext cx="308275" cy="2225739"/>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rot="5400000">
            <a:off x="4291668" y="2003988"/>
            <a:ext cx="308275" cy="3097188"/>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8005" name="Rectangle 5"/>
          <p:cNvSpPr>
            <a:spLocks noChangeArrowheads="1"/>
          </p:cNvSpPr>
          <p:nvPr/>
        </p:nvSpPr>
        <p:spPr bwMode="auto">
          <a:xfrm>
            <a:off x="1905000" y="702731"/>
            <a:ext cx="6970713" cy="1566334"/>
          </a:xfrm>
          <a:prstGeom prst="rect">
            <a:avLst/>
          </a:prstGeom>
          <a:solidFill>
            <a:srgbClr val="FFFF99"/>
          </a:solidFill>
          <a:ln>
            <a:noFill/>
          </a:ln>
        </p:spPr>
        <p:txBody>
          <a:bodyPr wrap="none" anchor="ctr"/>
          <a:lstStyle/>
          <a:p>
            <a:endParaRPr lang="zh-CN" altLang="en-US"/>
          </a:p>
        </p:txBody>
      </p:sp>
      <p:sp>
        <p:nvSpPr>
          <p:cNvPr id="1408009" name="Rectangle 9"/>
          <p:cNvSpPr>
            <a:spLocks noChangeArrowheads="1"/>
          </p:cNvSpPr>
          <p:nvPr/>
        </p:nvSpPr>
        <p:spPr bwMode="auto">
          <a:xfrm>
            <a:off x="2049463" y="2811283"/>
            <a:ext cx="1784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sym typeface="Symbol" pitchFamily="18" charset="2"/>
              </a:rPr>
              <a:t>固态或</a:t>
            </a:r>
            <a:r>
              <a:rPr kumimoji="1" lang="zh-CN" altLang="en-US" sz="2000" b="1" dirty="0">
                <a:solidFill>
                  <a:srgbClr val="000066"/>
                </a:solidFill>
                <a:latin typeface="幼圆" pitchFamily="49" charset="-122"/>
                <a:ea typeface="幼圆" pitchFamily="49" charset="-122"/>
              </a:rPr>
              <a:t>半固态</a:t>
            </a:r>
          </a:p>
        </p:txBody>
      </p:sp>
      <p:sp>
        <p:nvSpPr>
          <p:cNvPr id="1408010" name="Rectangle 10"/>
          <p:cNvSpPr>
            <a:spLocks noChangeArrowheads="1"/>
          </p:cNvSpPr>
          <p:nvPr/>
        </p:nvSpPr>
        <p:spPr bwMode="auto">
          <a:xfrm>
            <a:off x="4448189" y="2803292"/>
            <a:ext cx="1223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rPr>
              <a:t>可塑状态     </a:t>
            </a:r>
          </a:p>
        </p:txBody>
      </p:sp>
      <p:sp>
        <p:nvSpPr>
          <p:cNvPr id="1408011" name="Rectangle 11"/>
          <p:cNvSpPr>
            <a:spLocks noChangeArrowheads="1"/>
          </p:cNvSpPr>
          <p:nvPr/>
        </p:nvSpPr>
        <p:spPr bwMode="auto">
          <a:xfrm>
            <a:off x="6916738" y="2806453"/>
            <a:ext cx="1336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rPr>
              <a:t>流动状态  </a:t>
            </a:r>
          </a:p>
        </p:txBody>
      </p:sp>
      <p:sp>
        <p:nvSpPr>
          <p:cNvPr id="1408012" name="Rectangle 12"/>
          <p:cNvSpPr>
            <a:spLocks noChangeArrowheads="1"/>
          </p:cNvSpPr>
          <p:nvPr/>
        </p:nvSpPr>
        <p:spPr bwMode="auto">
          <a:xfrm>
            <a:off x="2308225" y="2331745"/>
            <a:ext cx="1296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spcBef>
                <a:spcPct val="50000"/>
              </a:spcBef>
              <a:spcAft>
                <a:spcPct val="0"/>
              </a:spcAft>
            </a:pPr>
            <a:r>
              <a:rPr kumimoji="1" lang="zh-CN" altLang="en-US" sz="2000" b="1" dirty="0">
                <a:solidFill>
                  <a:srgbClr val="000066"/>
                </a:solidFill>
                <a:latin typeface="幼圆" pitchFamily="49" charset="-122"/>
                <a:ea typeface="幼圆" pitchFamily="49" charset="-122"/>
                <a:sym typeface="Symbol" pitchFamily="18" charset="2"/>
              </a:rPr>
              <a:t>强结合水</a:t>
            </a:r>
          </a:p>
        </p:txBody>
      </p:sp>
      <p:sp>
        <p:nvSpPr>
          <p:cNvPr id="1408013" name="Rectangle 13"/>
          <p:cNvSpPr>
            <a:spLocks noChangeArrowheads="1"/>
          </p:cNvSpPr>
          <p:nvPr/>
        </p:nvSpPr>
        <p:spPr bwMode="auto">
          <a:xfrm>
            <a:off x="4467225" y="2331745"/>
            <a:ext cx="1223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spcBef>
                <a:spcPct val="50000"/>
              </a:spcBef>
              <a:spcAft>
                <a:spcPct val="0"/>
              </a:spcAft>
            </a:pPr>
            <a:r>
              <a:rPr kumimoji="1" lang="zh-CN" altLang="en-US" sz="2000" b="1" dirty="0">
                <a:solidFill>
                  <a:srgbClr val="000066"/>
                </a:solidFill>
                <a:latin typeface="幼圆" pitchFamily="49" charset="-122"/>
                <a:ea typeface="幼圆" pitchFamily="49" charset="-122"/>
              </a:rPr>
              <a:t>弱结合水</a:t>
            </a:r>
            <a:endParaRPr kumimoji="1" lang="zh-CN" altLang="en-US" sz="2000" b="1" dirty="0">
              <a:solidFill>
                <a:srgbClr val="000066"/>
              </a:solidFill>
              <a:latin typeface="幼圆" pitchFamily="49" charset="-122"/>
              <a:ea typeface="幼圆" pitchFamily="49" charset="-122"/>
              <a:sym typeface="Symbol" pitchFamily="18" charset="2"/>
            </a:endParaRPr>
          </a:p>
        </p:txBody>
      </p:sp>
      <p:sp>
        <p:nvSpPr>
          <p:cNvPr id="1408014" name="Rectangle 14"/>
          <p:cNvSpPr>
            <a:spLocks noChangeArrowheads="1"/>
          </p:cNvSpPr>
          <p:nvPr/>
        </p:nvSpPr>
        <p:spPr bwMode="auto">
          <a:xfrm>
            <a:off x="7092950" y="2347647"/>
            <a:ext cx="1081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spcBef>
                <a:spcPct val="50000"/>
              </a:spcBef>
              <a:spcAft>
                <a:spcPct val="0"/>
              </a:spcAft>
            </a:pPr>
            <a:r>
              <a:rPr kumimoji="1" lang="zh-CN" altLang="en-US" sz="2000" b="1" dirty="0">
                <a:solidFill>
                  <a:srgbClr val="000066"/>
                </a:solidFill>
                <a:latin typeface="幼圆" pitchFamily="49" charset="-122"/>
                <a:ea typeface="幼圆" pitchFamily="49" charset="-122"/>
              </a:rPr>
              <a:t>自由水</a:t>
            </a:r>
            <a:endParaRPr kumimoji="1" lang="zh-CN" altLang="en-US" sz="2000" b="1" dirty="0">
              <a:solidFill>
                <a:srgbClr val="000066"/>
              </a:solidFill>
              <a:latin typeface="幼圆" pitchFamily="49" charset="-122"/>
              <a:ea typeface="幼圆" pitchFamily="49" charset="-122"/>
              <a:sym typeface="Symbol" pitchFamily="18" charset="2"/>
            </a:endParaRPr>
          </a:p>
        </p:txBody>
      </p:sp>
      <p:grpSp>
        <p:nvGrpSpPr>
          <p:cNvPr id="2" name="Group 19"/>
          <p:cNvGrpSpPr>
            <a:grpSpLocks/>
          </p:cNvGrpSpPr>
          <p:nvPr/>
        </p:nvGrpSpPr>
        <p:grpSpPr bwMode="auto">
          <a:xfrm>
            <a:off x="2043113" y="765173"/>
            <a:ext cx="1868487" cy="1225550"/>
            <a:chOff x="1287" y="514"/>
            <a:chExt cx="1167" cy="772"/>
          </a:xfrm>
        </p:grpSpPr>
        <p:sp>
          <p:nvSpPr>
            <p:cNvPr id="72770" name="Freeform 20"/>
            <p:cNvSpPr>
              <a:spLocks/>
            </p:cNvSpPr>
            <p:nvPr/>
          </p:nvSpPr>
          <p:spPr bwMode="auto">
            <a:xfrm>
              <a:off x="1356" y="861"/>
              <a:ext cx="791" cy="425"/>
            </a:xfrm>
            <a:custGeom>
              <a:avLst/>
              <a:gdLst>
                <a:gd name="T0" fmla="*/ 404 w 791"/>
                <a:gd name="T1" fmla="*/ 104 h 425"/>
                <a:gd name="T2" fmla="*/ 342 w 791"/>
                <a:gd name="T3" fmla="*/ 61 h 425"/>
                <a:gd name="T4" fmla="*/ 294 w 791"/>
                <a:gd name="T5" fmla="*/ 11 h 425"/>
                <a:gd name="T6" fmla="*/ 200 w 791"/>
                <a:gd name="T7" fmla="*/ 3 h 425"/>
                <a:gd name="T8" fmla="*/ 104 w 791"/>
                <a:gd name="T9" fmla="*/ 27 h 425"/>
                <a:gd name="T10" fmla="*/ 39 w 791"/>
                <a:gd name="T11" fmla="*/ 73 h 425"/>
                <a:gd name="T12" fmla="*/ 8 w 791"/>
                <a:gd name="T13" fmla="*/ 171 h 425"/>
                <a:gd name="T14" fmla="*/ 13 w 791"/>
                <a:gd name="T15" fmla="*/ 284 h 425"/>
                <a:gd name="T16" fmla="*/ 85 w 791"/>
                <a:gd name="T17" fmla="*/ 361 h 425"/>
                <a:gd name="T18" fmla="*/ 186 w 791"/>
                <a:gd name="T19" fmla="*/ 385 h 425"/>
                <a:gd name="T20" fmla="*/ 282 w 791"/>
                <a:gd name="T21" fmla="*/ 356 h 425"/>
                <a:gd name="T22" fmla="*/ 342 w 791"/>
                <a:gd name="T23" fmla="*/ 323 h 425"/>
                <a:gd name="T24" fmla="*/ 373 w 791"/>
                <a:gd name="T25" fmla="*/ 315 h 425"/>
                <a:gd name="T26" fmla="*/ 404 w 791"/>
                <a:gd name="T27" fmla="*/ 327 h 425"/>
                <a:gd name="T28" fmla="*/ 452 w 791"/>
                <a:gd name="T29" fmla="*/ 378 h 425"/>
                <a:gd name="T30" fmla="*/ 531 w 791"/>
                <a:gd name="T31" fmla="*/ 411 h 425"/>
                <a:gd name="T32" fmla="*/ 623 w 791"/>
                <a:gd name="T33" fmla="*/ 421 h 425"/>
                <a:gd name="T34" fmla="*/ 714 w 791"/>
                <a:gd name="T35" fmla="*/ 385 h 425"/>
                <a:gd name="T36" fmla="*/ 779 w 791"/>
                <a:gd name="T37" fmla="*/ 308 h 425"/>
                <a:gd name="T38" fmla="*/ 783 w 791"/>
                <a:gd name="T39" fmla="*/ 200 h 425"/>
                <a:gd name="T40" fmla="*/ 740 w 791"/>
                <a:gd name="T41" fmla="*/ 99 h 425"/>
                <a:gd name="T42" fmla="*/ 699 w 791"/>
                <a:gd name="T43" fmla="*/ 39 h 425"/>
                <a:gd name="T44" fmla="*/ 630 w 791"/>
                <a:gd name="T45" fmla="*/ 20 h 425"/>
                <a:gd name="T46" fmla="*/ 541 w 791"/>
                <a:gd name="T47" fmla="*/ 23 h 425"/>
                <a:gd name="T48" fmla="*/ 471 w 791"/>
                <a:gd name="T49" fmla="*/ 68 h 425"/>
                <a:gd name="T50" fmla="*/ 440 w 791"/>
                <a:gd name="T51" fmla="*/ 102 h 425"/>
                <a:gd name="T52" fmla="*/ 404 w 791"/>
                <a:gd name="T53" fmla="*/ 104 h 42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91"/>
                <a:gd name="T82" fmla="*/ 0 h 425"/>
                <a:gd name="T83" fmla="*/ 791 w 791"/>
                <a:gd name="T84" fmla="*/ 425 h 42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91" h="425">
                  <a:moveTo>
                    <a:pt x="404" y="104"/>
                  </a:moveTo>
                  <a:cubicBezTo>
                    <a:pt x="388" y="97"/>
                    <a:pt x="360" y="76"/>
                    <a:pt x="342" y="61"/>
                  </a:cubicBezTo>
                  <a:cubicBezTo>
                    <a:pt x="324" y="46"/>
                    <a:pt x="318" y="21"/>
                    <a:pt x="294" y="11"/>
                  </a:cubicBezTo>
                  <a:cubicBezTo>
                    <a:pt x="270" y="1"/>
                    <a:pt x="232" y="0"/>
                    <a:pt x="200" y="3"/>
                  </a:cubicBezTo>
                  <a:cubicBezTo>
                    <a:pt x="168" y="6"/>
                    <a:pt x="131" y="15"/>
                    <a:pt x="104" y="27"/>
                  </a:cubicBezTo>
                  <a:cubicBezTo>
                    <a:pt x="77" y="39"/>
                    <a:pt x="55" y="49"/>
                    <a:pt x="39" y="73"/>
                  </a:cubicBezTo>
                  <a:cubicBezTo>
                    <a:pt x="23" y="97"/>
                    <a:pt x="12" y="136"/>
                    <a:pt x="8" y="171"/>
                  </a:cubicBezTo>
                  <a:cubicBezTo>
                    <a:pt x="4" y="206"/>
                    <a:pt x="0" y="252"/>
                    <a:pt x="13" y="284"/>
                  </a:cubicBezTo>
                  <a:cubicBezTo>
                    <a:pt x="26" y="316"/>
                    <a:pt x="56" y="344"/>
                    <a:pt x="85" y="361"/>
                  </a:cubicBezTo>
                  <a:cubicBezTo>
                    <a:pt x="114" y="378"/>
                    <a:pt x="153" y="386"/>
                    <a:pt x="186" y="385"/>
                  </a:cubicBezTo>
                  <a:cubicBezTo>
                    <a:pt x="219" y="384"/>
                    <a:pt x="256" y="366"/>
                    <a:pt x="282" y="356"/>
                  </a:cubicBezTo>
                  <a:cubicBezTo>
                    <a:pt x="308" y="346"/>
                    <a:pt x="327" y="330"/>
                    <a:pt x="342" y="323"/>
                  </a:cubicBezTo>
                  <a:cubicBezTo>
                    <a:pt x="357" y="316"/>
                    <a:pt x="363" y="314"/>
                    <a:pt x="373" y="315"/>
                  </a:cubicBezTo>
                  <a:cubicBezTo>
                    <a:pt x="383" y="316"/>
                    <a:pt x="391" y="317"/>
                    <a:pt x="404" y="327"/>
                  </a:cubicBezTo>
                  <a:cubicBezTo>
                    <a:pt x="417" y="337"/>
                    <a:pt x="431" y="364"/>
                    <a:pt x="452" y="378"/>
                  </a:cubicBezTo>
                  <a:cubicBezTo>
                    <a:pt x="473" y="392"/>
                    <a:pt x="503" y="404"/>
                    <a:pt x="531" y="411"/>
                  </a:cubicBezTo>
                  <a:cubicBezTo>
                    <a:pt x="559" y="418"/>
                    <a:pt x="593" y="425"/>
                    <a:pt x="623" y="421"/>
                  </a:cubicBezTo>
                  <a:cubicBezTo>
                    <a:pt x="653" y="417"/>
                    <a:pt x="688" y="404"/>
                    <a:pt x="714" y="385"/>
                  </a:cubicBezTo>
                  <a:cubicBezTo>
                    <a:pt x="740" y="366"/>
                    <a:pt x="767" y="339"/>
                    <a:pt x="779" y="308"/>
                  </a:cubicBezTo>
                  <a:cubicBezTo>
                    <a:pt x="791" y="277"/>
                    <a:pt x="789" y="235"/>
                    <a:pt x="783" y="200"/>
                  </a:cubicBezTo>
                  <a:cubicBezTo>
                    <a:pt x="777" y="165"/>
                    <a:pt x="754" y="126"/>
                    <a:pt x="740" y="99"/>
                  </a:cubicBezTo>
                  <a:cubicBezTo>
                    <a:pt x="726" y="72"/>
                    <a:pt x="717" y="52"/>
                    <a:pt x="699" y="39"/>
                  </a:cubicBezTo>
                  <a:cubicBezTo>
                    <a:pt x="681" y="26"/>
                    <a:pt x="656" y="23"/>
                    <a:pt x="630" y="20"/>
                  </a:cubicBezTo>
                  <a:cubicBezTo>
                    <a:pt x="604" y="17"/>
                    <a:pt x="567" y="15"/>
                    <a:pt x="541" y="23"/>
                  </a:cubicBezTo>
                  <a:cubicBezTo>
                    <a:pt x="515" y="31"/>
                    <a:pt x="488" y="55"/>
                    <a:pt x="471" y="68"/>
                  </a:cubicBezTo>
                  <a:cubicBezTo>
                    <a:pt x="454" y="81"/>
                    <a:pt x="452" y="96"/>
                    <a:pt x="440" y="102"/>
                  </a:cubicBezTo>
                  <a:cubicBezTo>
                    <a:pt x="428" y="108"/>
                    <a:pt x="420" y="111"/>
                    <a:pt x="404" y="104"/>
                  </a:cubicBezTo>
                  <a:close/>
                </a:path>
              </a:pathLst>
            </a:custGeom>
            <a:solidFill>
              <a:srgbClr val="CCCCFF"/>
            </a:solidFill>
            <a:ln w="9525">
              <a:solidFill>
                <a:schemeClr val="tx1"/>
              </a:solidFill>
              <a:round/>
              <a:headEnd/>
              <a:tailEnd/>
            </a:ln>
          </p:spPr>
          <p:txBody>
            <a:bodyPr/>
            <a:lstStyle/>
            <a:p>
              <a:endParaRPr lang="zh-CN" altLang="en-US"/>
            </a:p>
          </p:txBody>
        </p:sp>
        <p:sp>
          <p:nvSpPr>
            <p:cNvPr id="72771" name="Freeform 21" descr="软木塞"/>
            <p:cNvSpPr>
              <a:spLocks/>
            </p:cNvSpPr>
            <p:nvPr/>
          </p:nvSpPr>
          <p:spPr bwMode="auto">
            <a:xfrm>
              <a:off x="1424" y="923"/>
              <a:ext cx="268" cy="246"/>
            </a:xfrm>
            <a:custGeom>
              <a:avLst/>
              <a:gdLst>
                <a:gd name="T0" fmla="*/ 264 w 268"/>
                <a:gd name="T1" fmla="*/ 81 h 246"/>
                <a:gd name="T2" fmla="*/ 235 w 268"/>
                <a:gd name="T3" fmla="*/ 33 h 246"/>
                <a:gd name="T4" fmla="*/ 171 w 268"/>
                <a:gd name="T5" fmla="*/ 4 h 246"/>
                <a:gd name="T6" fmla="*/ 101 w 268"/>
                <a:gd name="T7" fmla="*/ 11 h 246"/>
                <a:gd name="T8" fmla="*/ 34 w 268"/>
                <a:gd name="T9" fmla="*/ 45 h 246"/>
                <a:gd name="T10" fmla="*/ 3 w 268"/>
                <a:gd name="T11" fmla="*/ 112 h 246"/>
                <a:gd name="T12" fmla="*/ 15 w 268"/>
                <a:gd name="T13" fmla="*/ 186 h 246"/>
                <a:gd name="T14" fmla="*/ 55 w 268"/>
                <a:gd name="T15" fmla="*/ 232 h 246"/>
                <a:gd name="T16" fmla="*/ 111 w 268"/>
                <a:gd name="T17" fmla="*/ 246 h 246"/>
                <a:gd name="T18" fmla="*/ 204 w 268"/>
                <a:gd name="T19" fmla="*/ 234 h 246"/>
                <a:gd name="T20" fmla="*/ 257 w 268"/>
                <a:gd name="T21" fmla="*/ 172 h 246"/>
                <a:gd name="T22" fmla="*/ 264 w 268"/>
                <a:gd name="T23" fmla="*/ 81 h 2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8"/>
                <a:gd name="T37" fmla="*/ 0 h 246"/>
                <a:gd name="T38" fmla="*/ 268 w 268"/>
                <a:gd name="T39" fmla="*/ 246 h 2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8" h="246">
                  <a:moveTo>
                    <a:pt x="264" y="81"/>
                  </a:moveTo>
                  <a:cubicBezTo>
                    <a:pt x="260" y="58"/>
                    <a:pt x="251" y="46"/>
                    <a:pt x="235" y="33"/>
                  </a:cubicBezTo>
                  <a:cubicBezTo>
                    <a:pt x="219" y="20"/>
                    <a:pt x="193" y="8"/>
                    <a:pt x="171" y="4"/>
                  </a:cubicBezTo>
                  <a:cubicBezTo>
                    <a:pt x="149" y="0"/>
                    <a:pt x="124" y="4"/>
                    <a:pt x="101" y="11"/>
                  </a:cubicBezTo>
                  <a:cubicBezTo>
                    <a:pt x="78" y="18"/>
                    <a:pt x="50" y="28"/>
                    <a:pt x="34" y="45"/>
                  </a:cubicBezTo>
                  <a:cubicBezTo>
                    <a:pt x="18" y="62"/>
                    <a:pt x="6" y="89"/>
                    <a:pt x="3" y="112"/>
                  </a:cubicBezTo>
                  <a:cubicBezTo>
                    <a:pt x="0" y="135"/>
                    <a:pt x="6" y="166"/>
                    <a:pt x="15" y="186"/>
                  </a:cubicBezTo>
                  <a:cubicBezTo>
                    <a:pt x="24" y="206"/>
                    <a:pt x="39" y="222"/>
                    <a:pt x="55" y="232"/>
                  </a:cubicBezTo>
                  <a:cubicBezTo>
                    <a:pt x="71" y="242"/>
                    <a:pt x="86" y="246"/>
                    <a:pt x="111" y="246"/>
                  </a:cubicBezTo>
                  <a:cubicBezTo>
                    <a:pt x="136" y="246"/>
                    <a:pt x="180" y="246"/>
                    <a:pt x="204" y="234"/>
                  </a:cubicBezTo>
                  <a:cubicBezTo>
                    <a:pt x="228" y="222"/>
                    <a:pt x="246" y="197"/>
                    <a:pt x="257" y="172"/>
                  </a:cubicBezTo>
                  <a:cubicBezTo>
                    <a:pt x="268" y="147"/>
                    <a:pt x="268" y="105"/>
                    <a:pt x="264" y="81"/>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72" name="Freeform 22" descr="软木塞"/>
            <p:cNvSpPr>
              <a:spLocks/>
            </p:cNvSpPr>
            <p:nvPr/>
          </p:nvSpPr>
          <p:spPr bwMode="auto">
            <a:xfrm>
              <a:off x="1813" y="954"/>
              <a:ext cx="263" cy="273"/>
            </a:xfrm>
            <a:custGeom>
              <a:avLst/>
              <a:gdLst>
                <a:gd name="T0" fmla="*/ 230 w 263"/>
                <a:gd name="T1" fmla="*/ 42 h 273"/>
                <a:gd name="T2" fmla="*/ 190 w 263"/>
                <a:gd name="T3" fmla="*/ 14 h 273"/>
                <a:gd name="T4" fmla="*/ 127 w 263"/>
                <a:gd name="T5" fmla="*/ 2 h 273"/>
                <a:gd name="T6" fmla="*/ 65 w 263"/>
                <a:gd name="T7" fmla="*/ 9 h 273"/>
                <a:gd name="T8" fmla="*/ 19 w 263"/>
                <a:gd name="T9" fmla="*/ 59 h 273"/>
                <a:gd name="T10" fmla="*/ 2 w 263"/>
                <a:gd name="T11" fmla="*/ 134 h 273"/>
                <a:gd name="T12" fmla="*/ 29 w 263"/>
                <a:gd name="T13" fmla="*/ 222 h 273"/>
                <a:gd name="T14" fmla="*/ 89 w 263"/>
                <a:gd name="T15" fmla="*/ 261 h 273"/>
                <a:gd name="T16" fmla="*/ 175 w 263"/>
                <a:gd name="T17" fmla="*/ 266 h 273"/>
                <a:gd name="T18" fmla="*/ 230 w 263"/>
                <a:gd name="T19" fmla="*/ 220 h 273"/>
                <a:gd name="T20" fmla="*/ 259 w 263"/>
                <a:gd name="T21" fmla="*/ 153 h 273"/>
                <a:gd name="T22" fmla="*/ 252 w 263"/>
                <a:gd name="T23" fmla="*/ 88 h 273"/>
                <a:gd name="T24" fmla="*/ 230 w 263"/>
                <a:gd name="T25" fmla="*/ 42 h 2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3"/>
                <a:gd name="T40" fmla="*/ 0 h 273"/>
                <a:gd name="T41" fmla="*/ 263 w 263"/>
                <a:gd name="T42" fmla="*/ 273 h 2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3" h="273">
                  <a:moveTo>
                    <a:pt x="230" y="42"/>
                  </a:moveTo>
                  <a:cubicBezTo>
                    <a:pt x="220" y="30"/>
                    <a:pt x="207" y="21"/>
                    <a:pt x="190" y="14"/>
                  </a:cubicBezTo>
                  <a:cubicBezTo>
                    <a:pt x="173" y="7"/>
                    <a:pt x="148" y="3"/>
                    <a:pt x="127" y="2"/>
                  </a:cubicBezTo>
                  <a:cubicBezTo>
                    <a:pt x="106" y="1"/>
                    <a:pt x="83" y="0"/>
                    <a:pt x="65" y="9"/>
                  </a:cubicBezTo>
                  <a:cubicBezTo>
                    <a:pt x="47" y="18"/>
                    <a:pt x="30" y="38"/>
                    <a:pt x="19" y="59"/>
                  </a:cubicBezTo>
                  <a:cubicBezTo>
                    <a:pt x="8" y="80"/>
                    <a:pt x="0" y="107"/>
                    <a:pt x="2" y="134"/>
                  </a:cubicBezTo>
                  <a:cubicBezTo>
                    <a:pt x="4" y="161"/>
                    <a:pt x="15" y="201"/>
                    <a:pt x="29" y="222"/>
                  </a:cubicBezTo>
                  <a:cubicBezTo>
                    <a:pt x="43" y="243"/>
                    <a:pt x="65" y="254"/>
                    <a:pt x="89" y="261"/>
                  </a:cubicBezTo>
                  <a:cubicBezTo>
                    <a:pt x="113" y="268"/>
                    <a:pt x="152" y="273"/>
                    <a:pt x="175" y="266"/>
                  </a:cubicBezTo>
                  <a:cubicBezTo>
                    <a:pt x="198" y="259"/>
                    <a:pt x="216" y="239"/>
                    <a:pt x="230" y="220"/>
                  </a:cubicBezTo>
                  <a:cubicBezTo>
                    <a:pt x="244" y="201"/>
                    <a:pt x="255" y="175"/>
                    <a:pt x="259" y="153"/>
                  </a:cubicBezTo>
                  <a:cubicBezTo>
                    <a:pt x="263" y="131"/>
                    <a:pt x="256" y="108"/>
                    <a:pt x="252" y="88"/>
                  </a:cubicBezTo>
                  <a:cubicBezTo>
                    <a:pt x="248" y="68"/>
                    <a:pt x="241" y="54"/>
                    <a:pt x="230" y="42"/>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73" name="Text Box 23"/>
            <p:cNvSpPr txBox="1">
              <a:spLocks noChangeArrowheads="1"/>
            </p:cNvSpPr>
            <p:nvPr/>
          </p:nvSpPr>
          <p:spPr bwMode="auto">
            <a:xfrm>
              <a:off x="1908" y="617"/>
              <a:ext cx="5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solidFill>
                    <a:srgbClr val="000066"/>
                  </a:solidFill>
                  <a:latin typeface="幼圆" pitchFamily="49" charset="-122"/>
                  <a:ea typeface="幼圆" pitchFamily="49" charset="-122"/>
                </a:rPr>
                <a:t>土颗粒</a:t>
              </a:r>
            </a:p>
          </p:txBody>
        </p:sp>
        <p:sp>
          <p:nvSpPr>
            <p:cNvPr id="72774" name="Text Box 24"/>
            <p:cNvSpPr txBox="1">
              <a:spLocks noChangeArrowheads="1"/>
            </p:cNvSpPr>
            <p:nvPr/>
          </p:nvSpPr>
          <p:spPr bwMode="auto">
            <a:xfrm>
              <a:off x="1287" y="514"/>
              <a:ext cx="6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solidFill>
                    <a:srgbClr val="000066"/>
                  </a:solidFill>
                  <a:latin typeface="幼圆" pitchFamily="49" charset="-122"/>
                  <a:ea typeface="幼圆" pitchFamily="49" charset="-122"/>
                </a:rPr>
                <a:t>强结合水</a:t>
              </a:r>
              <a:endParaRPr lang="en-US" altLang="zh-CN" sz="1800" b="1">
                <a:solidFill>
                  <a:srgbClr val="000066"/>
                </a:solidFill>
                <a:latin typeface="幼圆" pitchFamily="49" charset="-122"/>
                <a:ea typeface="幼圆" pitchFamily="49" charset="-122"/>
              </a:endParaRPr>
            </a:p>
          </p:txBody>
        </p:sp>
        <p:sp>
          <p:nvSpPr>
            <p:cNvPr id="72775" name="Line 25"/>
            <p:cNvSpPr>
              <a:spLocks noChangeShapeType="1"/>
            </p:cNvSpPr>
            <p:nvPr/>
          </p:nvSpPr>
          <p:spPr bwMode="auto">
            <a:xfrm flipV="1">
              <a:off x="1979" y="862"/>
              <a:ext cx="109" cy="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76" name="Line 26"/>
            <p:cNvSpPr>
              <a:spLocks noChangeShapeType="1"/>
            </p:cNvSpPr>
            <p:nvPr/>
          </p:nvSpPr>
          <p:spPr bwMode="auto">
            <a:xfrm flipH="1" flipV="1">
              <a:off x="1666" y="744"/>
              <a:ext cx="95" cy="2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7"/>
          <p:cNvGrpSpPr>
            <a:grpSpLocks/>
          </p:cNvGrpSpPr>
          <p:nvPr/>
        </p:nvGrpSpPr>
        <p:grpSpPr bwMode="auto">
          <a:xfrm>
            <a:off x="4192659" y="696912"/>
            <a:ext cx="1814818" cy="1471613"/>
            <a:chOff x="2549" y="471"/>
            <a:chExt cx="1137" cy="927"/>
          </a:xfrm>
        </p:grpSpPr>
        <p:sp>
          <p:nvSpPr>
            <p:cNvPr id="72759" name="Freeform 28"/>
            <p:cNvSpPr>
              <a:spLocks/>
            </p:cNvSpPr>
            <p:nvPr/>
          </p:nvSpPr>
          <p:spPr bwMode="auto">
            <a:xfrm>
              <a:off x="2594" y="748"/>
              <a:ext cx="1092" cy="650"/>
            </a:xfrm>
            <a:custGeom>
              <a:avLst/>
              <a:gdLst>
                <a:gd name="T0" fmla="*/ 533 w 1092"/>
                <a:gd name="T1" fmla="*/ 92 h 650"/>
                <a:gd name="T2" fmla="*/ 437 w 1092"/>
                <a:gd name="T3" fmla="*/ 68 h 650"/>
                <a:gd name="T4" fmla="*/ 319 w 1092"/>
                <a:gd name="T5" fmla="*/ 54 h 650"/>
                <a:gd name="T6" fmla="*/ 204 w 1092"/>
                <a:gd name="T7" fmla="*/ 80 h 650"/>
                <a:gd name="T8" fmla="*/ 84 w 1092"/>
                <a:gd name="T9" fmla="*/ 140 h 650"/>
                <a:gd name="T10" fmla="*/ 21 w 1092"/>
                <a:gd name="T11" fmla="*/ 253 h 650"/>
                <a:gd name="T12" fmla="*/ 14 w 1092"/>
                <a:gd name="T13" fmla="*/ 411 h 650"/>
                <a:gd name="T14" fmla="*/ 108 w 1092"/>
                <a:gd name="T15" fmla="*/ 538 h 650"/>
                <a:gd name="T16" fmla="*/ 235 w 1092"/>
                <a:gd name="T17" fmla="*/ 627 h 650"/>
                <a:gd name="T18" fmla="*/ 396 w 1092"/>
                <a:gd name="T19" fmla="*/ 642 h 650"/>
                <a:gd name="T20" fmla="*/ 518 w 1092"/>
                <a:gd name="T21" fmla="*/ 579 h 650"/>
                <a:gd name="T22" fmla="*/ 559 w 1092"/>
                <a:gd name="T23" fmla="*/ 541 h 650"/>
                <a:gd name="T24" fmla="*/ 607 w 1092"/>
                <a:gd name="T25" fmla="*/ 541 h 650"/>
                <a:gd name="T26" fmla="*/ 662 w 1092"/>
                <a:gd name="T27" fmla="*/ 560 h 650"/>
                <a:gd name="T28" fmla="*/ 751 w 1092"/>
                <a:gd name="T29" fmla="*/ 594 h 650"/>
                <a:gd name="T30" fmla="*/ 888 w 1092"/>
                <a:gd name="T31" fmla="*/ 582 h 650"/>
                <a:gd name="T32" fmla="*/ 1005 w 1092"/>
                <a:gd name="T33" fmla="*/ 512 h 650"/>
                <a:gd name="T34" fmla="*/ 1077 w 1092"/>
                <a:gd name="T35" fmla="*/ 385 h 650"/>
                <a:gd name="T36" fmla="*/ 1080 w 1092"/>
                <a:gd name="T37" fmla="*/ 241 h 650"/>
                <a:gd name="T38" fmla="*/ 1005 w 1092"/>
                <a:gd name="T39" fmla="*/ 118 h 650"/>
                <a:gd name="T40" fmla="*/ 917 w 1092"/>
                <a:gd name="T41" fmla="*/ 34 h 650"/>
                <a:gd name="T42" fmla="*/ 811 w 1092"/>
                <a:gd name="T43" fmla="*/ 1 h 650"/>
                <a:gd name="T44" fmla="*/ 701 w 1092"/>
                <a:gd name="T45" fmla="*/ 27 h 650"/>
                <a:gd name="T46" fmla="*/ 607 w 1092"/>
                <a:gd name="T47" fmla="*/ 70 h 650"/>
                <a:gd name="T48" fmla="*/ 533 w 1092"/>
                <a:gd name="T49" fmla="*/ 92 h 6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2"/>
                <a:gd name="T76" fmla="*/ 0 h 650"/>
                <a:gd name="T77" fmla="*/ 1092 w 1092"/>
                <a:gd name="T78" fmla="*/ 650 h 65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2" h="650">
                  <a:moveTo>
                    <a:pt x="533" y="92"/>
                  </a:moveTo>
                  <a:cubicBezTo>
                    <a:pt x="505" y="92"/>
                    <a:pt x="473" y="74"/>
                    <a:pt x="437" y="68"/>
                  </a:cubicBezTo>
                  <a:cubicBezTo>
                    <a:pt x="401" y="62"/>
                    <a:pt x="358" y="52"/>
                    <a:pt x="319" y="54"/>
                  </a:cubicBezTo>
                  <a:cubicBezTo>
                    <a:pt x="280" y="56"/>
                    <a:pt x="243" y="66"/>
                    <a:pt x="204" y="80"/>
                  </a:cubicBezTo>
                  <a:cubicBezTo>
                    <a:pt x="165" y="94"/>
                    <a:pt x="114" y="111"/>
                    <a:pt x="84" y="140"/>
                  </a:cubicBezTo>
                  <a:cubicBezTo>
                    <a:pt x="54" y="169"/>
                    <a:pt x="33" y="208"/>
                    <a:pt x="21" y="253"/>
                  </a:cubicBezTo>
                  <a:cubicBezTo>
                    <a:pt x="9" y="298"/>
                    <a:pt x="0" y="364"/>
                    <a:pt x="14" y="411"/>
                  </a:cubicBezTo>
                  <a:cubicBezTo>
                    <a:pt x="28" y="458"/>
                    <a:pt x="71" y="502"/>
                    <a:pt x="108" y="538"/>
                  </a:cubicBezTo>
                  <a:cubicBezTo>
                    <a:pt x="145" y="574"/>
                    <a:pt x="187" y="610"/>
                    <a:pt x="235" y="627"/>
                  </a:cubicBezTo>
                  <a:cubicBezTo>
                    <a:pt x="283" y="644"/>
                    <a:pt x="349" y="650"/>
                    <a:pt x="396" y="642"/>
                  </a:cubicBezTo>
                  <a:cubicBezTo>
                    <a:pt x="443" y="634"/>
                    <a:pt x="491" y="596"/>
                    <a:pt x="518" y="579"/>
                  </a:cubicBezTo>
                  <a:cubicBezTo>
                    <a:pt x="545" y="562"/>
                    <a:pt x="544" y="547"/>
                    <a:pt x="559" y="541"/>
                  </a:cubicBezTo>
                  <a:cubicBezTo>
                    <a:pt x="574" y="535"/>
                    <a:pt x="590" y="538"/>
                    <a:pt x="607" y="541"/>
                  </a:cubicBezTo>
                  <a:cubicBezTo>
                    <a:pt x="624" y="544"/>
                    <a:pt x="638" y="551"/>
                    <a:pt x="662" y="560"/>
                  </a:cubicBezTo>
                  <a:cubicBezTo>
                    <a:pt x="686" y="569"/>
                    <a:pt x="713" y="590"/>
                    <a:pt x="751" y="594"/>
                  </a:cubicBezTo>
                  <a:cubicBezTo>
                    <a:pt x="789" y="598"/>
                    <a:pt x="846" y="596"/>
                    <a:pt x="888" y="582"/>
                  </a:cubicBezTo>
                  <a:cubicBezTo>
                    <a:pt x="930" y="568"/>
                    <a:pt x="973" y="545"/>
                    <a:pt x="1005" y="512"/>
                  </a:cubicBezTo>
                  <a:cubicBezTo>
                    <a:pt x="1037" y="479"/>
                    <a:pt x="1065" y="430"/>
                    <a:pt x="1077" y="385"/>
                  </a:cubicBezTo>
                  <a:cubicBezTo>
                    <a:pt x="1089" y="340"/>
                    <a:pt x="1092" y="285"/>
                    <a:pt x="1080" y="241"/>
                  </a:cubicBezTo>
                  <a:cubicBezTo>
                    <a:pt x="1068" y="197"/>
                    <a:pt x="1032" y="152"/>
                    <a:pt x="1005" y="118"/>
                  </a:cubicBezTo>
                  <a:cubicBezTo>
                    <a:pt x="978" y="84"/>
                    <a:pt x="949" y="53"/>
                    <a:pt x="917" y="34"/>
                  </a:cubicBezTo>
                  <a:cubicBezTo>
                    <a:pt x="885" y="15"/>
                    <a:pt x="847" y="2"/>
                    <a:pt x="811" y="1"/>
                  </a:cubicBezTo>
                  <a:cubicBezTo>
                    <a:pt x="775" y="0"/>
                    <a:pt x="735" y="16"/>
                    <a:pt x="701" y="27"/>
                  </a:cubicBezTo>
                  <a:cubicBezTo>
                    <a:pt x="667" y="38"/>
                    <a:pt x="635" y="59"/>
                    <a:pt x="607" y="70"/>
                  </a:cubicBezTo>
                  <a:cubicBezTo>
                    <a:pt x="579" y="81"/>
                    <a:pt x="561" y="92"/>
                    <a:pt x="533" y="92"/>
                  </a:cubicBezTo>
                  <a:close/>
                </a:path>
              </a:pathLst>
            </a:custGeom>
            <a:solidFill>
              <a:srgbClr val="99CCFF"/>
            </a:solidFill>
            <a:ln w="9525">
              <a:solidFill>
                <a:schemeClr val="tx1"/>
              </a:solidFill>
              <a:round/>
              <a:headEnd/>
              <a:tailEnd/>
            </a:ln>
          </p:spPr>
          <p:txBody>
            <a:bodyPr/>
            <a:lstStyle/>
            <a:p>
              <a:endParaRPr lang="zh-CN" altLang="en-US"/>
            </a:p>
          </p:txBody>
        </p:sp>
        <p:sp>
          <p:nvSpPr>
            <p:cNvPr id="72760" name="Freeform 29"/>
            <p:cNvSpPr>
              <a:spLocks/>
            </p:cNvSpPr>
            <p:nvPr/>
          </p:nvSpPr>
          <p:spPr bwMode="auto">
            <a:xfrm>
              <a:off x="3162" y="852"/>
              <a:ext cx="417" cy="400"/>
            </a:xfrm>
            <a:custGeom>
              <a:avLst/>
              <a:gdLst>
                <a:gd name="T0" fmla="*/ 133 w 417"/>
                <a:gd name="T1" fmla="*/ 24 h 400"/>
                <a:gd name="T2" fmla="*/ 46 w 417"/>
                <a:gd name="T3" fmla="*/ 65 h 400"/>
                <a:gd name="T4" fmla="*/ 3 w 417"/>
                <a:gd name="T5" fmla="*/ 170 h 400"/>
                <a:gd name="T6" fmla="*/ 27 w 417"/>
                <a:gd name="T7" fmla="*/ 278 h 400"/>
                <a:gd name="T8" fmla="*/ 97 w 417"/>
                <a:gd name="T9" fmla="*/ 370 h 400"/>
                <a:gd name="T10" fmla="*/ 224 w 417"/>
                <a:gd name="T11" fmla="*/ 398 h 400"/>
                <a:gd name="T12" fmla="*/ 346 w 417"/>
                <a:gd name="T13" fmla="*/ 358 h 400"/>
                <a:gd name="T14" fmla="*/ 409 w 417"/>
                <a:gd name="T15" fmla="*/ 247 h 400"/>
                <a:gd name="T16" fmla="*/ 392 w 417"/>
                <a:gd name="T17" fmla="*/ 125 h 400"/>
                <a:gd name="T18" fmla="*/ 322 w 417"/>
                <a:gd name="T19" fmla="*/ 29 h 400"/>
                <a:gd name="T20" fmla="*/ 217 w 417"/>
                <a:gd name="T21" fmla="*/ 2 h 400"/>
                <a:gd name="T22" fmla="*/ 133 w 417"/>
                <a:gd name="T23" fmla="*/ 24 h 4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7"/>
                <a:gd name="T37" fmla="*/ 0 h 400"/>
                <a:gd name="T38" fmla="*/ 417 w 417"/>
                <a:gd name="T39" fmla="*/ 400 h 4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7" h="400">
                  <a:moveTo>
                    <a:pt x="133" y="24"/>
                  </a:moveTo>
                  <a:cubicBezTo>
                    <a:pt x="104" y="35"/>
                    <a:pt x="68" y="41"/>
                    <a:pt x="46" y="65"/>
                  </a:cubicBezTo>
                  <a:cubicBezTo>
                    <a:pt x="24" y="89"/>
                    <a:pt x="6" y="134"/>
                    <a:pt x="3" y="170"/>
                  </a:cubicBezTo>
                  <a:cubicBezTo>
                    <a:pt x="0" y="206"/>
                    <a:pt x="11" y="245"/>
                    <a:pt x="27" y="278"/>
                  </a:cubicBezTo>
                  <a:cubicBezTo>
                    <a:pt x="43" y="311"/>
                    <a:pt x="64" y="350"/>
                    <a:pt x="97" y="370"/>
                  </a:cubicBezTo>
                  <a:cubicBezTo>
                    <a:pt x="130" y="390"/>
                    <a:pt x="183" y="400"/>
                    <a:pt x="224" y="398"/>
                  </a:cubicBezTo>
                  <a:cubicBezTo>
                    <a:pt x="265" y="396"/>
                    <a:pt x="315" y="383"/>
                    <a:pt x="346" y="358"/>
                  </a:cubicBezTo>
                  <a:cubicBezTo>
                    <a:pt x="377" y="333"/>
                    <a:pt x="401" y="286"/>
                    <a:pt x="409" y="247"/>
                  </a:cubicBezTo>
                  <a:cubicBezTo>
                    <a:pt x="417" y="208"/>
                    <a:pt x="406" y="161"/>
                    <a:pt x="392" y="125"/>
                  </a:cubicBezTo>
                  <a:cubicBezTo>
                    <a:pt x="378" y="89"/>
                    <a:pt x="351" y="49"/>
                    <a:pt x="322" y="29"/>
                  </a:cubicBezTo>
                  <a:cubicBezTo>
                    <a:pt x="293" y="9"/>
                    <a:pt x="249" y="4"/>
                    <a:pt x="217" y="2"/>
                  </a:cubicBezTo>
                  <a:cubicBezTo>
                    <a:pt x="185" y="0"/>
                    <a:pt x="162" y="13"/>
                    <a:pt x="133" y="24"/>
                  </a:cubicBezTo>
                  <a:close/>
                </a:path>
              </a:pathLst>
            </a:custGeom>
            <a:solidFill>
              <a:srgbClr val="CCCCFF"/>
            </a:solidFill>
            <a:ln w="9525">
              <a:solidFill>
                <a:schemeClr val="tx1"/>
              </a:solidFill>
              <a:round/>
              <a:headEnd/>
              <a:tailEnd/>
            </a:ln>
          </p:spPr>
          <p:txBody>
            <a:bodyPr/>
            <a:lstStyle/>
            <a:p>
              <a:endParaRPr lang="zh-CN" altLang="en-US"/>
            </a:p>
          </p:txBody>
        </p:sp>
        <p:sp>
          <p:nvSpPr>
            <p:cNvPr id="72761" name="Freeform 30"/>
            <p:cNvSpPr>
              <a:spLocks/>
            </p:cNvSpPr>
            <p:nvPr/>
          </p:nvSpPr>
          <p:spPr bwMode="auto">
            <a:xfrm>
              <a:off x="2682" y="891"/>
              <a:ext cx="441" cy="421"/>
            </a:xfrm>
            <a:custGeom>
              <a:avLst/>
              <a:gdLst>
                <a:gd name="T0" fmla="*/ 178 w 441"/>
                <a:gd name="T1" fmla="*/ 14 h 421"/>
                <a:gd name="T2" fmla="*/ 63 w 441"/>
                <a:gd name="T3" fmla="*/ 59 h 421"/>
                <a:gd name="T4" fmla="*/ 8 w 441"/>
                <a:gd name="T5" fmla="*/ 153 h 421"/>
                <a:gd name="T6" fmla="*/ 17 w 441"/>
                <a:gd name="T7" fmla="*/ 268 h 421"/>
                <a:gd name="T8" fmla="*/ 68 w 441"/>
                <a:gd name="T9" fmla="*/ 347 h 421"/>
                <a:gd name="T10" fmla="*/ 178 w 441"/>
                <a:gd name="T11" fmla="*/ 412 h 421"/>
                <a:gd name="T12" fmla="*/ 320 w 441"/>
                <a:gd name="T13" fmla="*/ 403 h 421"/>
                <a:gd name="T14" fmla="*/ 416 w 441"/>
                <a:gd name="T15" fmla="*/ 323 h 421"/>
                <a:gd name="T16" fmla="*/ 437 w 441"/>
                <a:gd name="T17" fmla="*/ 194 h 421"/>
                <a:gd name="T18" fmla="*/ 389 w 441"/>
                <a:gd name="T19" fmla="*/ 74 h 421"/>
                <a:gd name="T20" fmla="*/ 286 w 441"/>
                <a:gd name="T21" fmla="*/ 9 h 421"/>
                <a:gd name="T22" fmla="*/ 178 w 441"/>
                <a:gd name="T23" fmla="*/ 14 h 4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1"/>
                <a:gd name="T37" fmla="*/ 0 h 421"/>
                <a:gd name="T38" fmla="*/ 441 w 441"/>
                <a:gd name="T39" fmla="*/ 421 h 4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1" h="421">
                  <a:moveTo>
                    <a:pt x="178" y="14"/>
                  </a:moveTo>
                  <a:cubicBezTo>
                    <a:pt x="141" y="22"/>
                    <a:pt x="91" y="36"/>
                    <a:pt x="63" y="59"/>
                  </a:cubicBezTo>
                  <a:cubicBezTo>
                    <a:pt x="35" y="82"/>
                    <a:pt x="16" y="118"/>
                    <a:pt x="8" y="153"/>
                  </a:cubicBezTo>
                  <a:cubicBezTo>
                    <a:pt x="0" y="188"/>
                    <a:pt x="7" y="236"/>
                    <a:pt x="17" y="268"/>
                  </a:cubicBezTo>
                  <a:cubicBezTo>
                    <a:pt x="27" y="300"/>
                    <a:pt x="41" y="323"/>
                    <a:pt x="68" y="347"/>
                  </a:cubicBezTo>
                  <a:cubicBezTo>
                    <a:pt x="95" y="371"/>
                    <a:pt x="136" y="403"/>
                    <a:pt x="178" y="412"/>
                  </a:cubicBezTo>
                  <a:cubicBezTo>
                    <a:pt x="220" y="421"/>
                    <a:pt x="280" y="418"/>
                    <a:pt x="320" y="403"/>
                  </a:cubicBezTo>
                  <a:cubicBezTo>
                    <a:pt x="360" y="388"/>
                    <a:pt x="397" y="358"/>
                    <a:pt x="416" y="323"/>
                  </a:cubicBezTo>
                  <a:cubicBezTo>
                    <a:pt x="435" y="288"/>
                    <a:pt x="441" y="235"/>
                    <a:pt x="437" y="194"/>
                  </a:cubicBezTo>
                  <a:cubicBezTo>
                    <a:pt x="433" y="153"/>
                    <a:pt x="414" y="105"/>
                    <a:pt x="389" y="74"/>
                  </a:cubicBezTo>
                  <a:cubicBezTo>
                    <a:pt x="364" y="43"/>
                    <a:pt x="322" y="18"/>
                    <a:pt x="286" y="9"/>
                  </a:cubicBezTo>
                  <a:cubicBezTo>
                    <a:pt x="250" y="0"/>
                    <a:pt x="215" y="6"/>
                    <a:pt x="178" y="14"/>
                  </a:cubicBezTo>
                  <a:close/>
                </a:path>
              </a:pathLst>
            </a:custGeom>
            <a:solidFill>
              <a:srgbClr val="CCCCFF"/>
            </a:solidFill>
            <a:ln w="9525">
              <a:solidFill>
                <a:schemeClr val="tx1"/>
              </a:solidFill>
              <a:round/>
              <a:headEnd/>
              <a:tailEnd/>
            </a:ln>
          </p:spPr>
          <p:txBody>
            <a:bodyPr/>
            <a:lstStyle/>
            <a:p>
              <a:endParaRPr lang="zh-CN" altLang="en-US"/>
            </a:p>
          </p:txBody>
        </p:sp>
        <p:sp>
          <p:nvSpPr>
            <p:cNvPr id="72762" name="Freeform 31" descr="软木塞"/>
            <p:cNvSpPr>
              <a:spLocks/>
            </p:cNvSpPr>
            <p:nvPr/>
          </p:nvSpPr>
          <p:spPr bwMode="auto">
            <a:xfrm>
              <a:off x="2768" y="958"/>
              <a:ext cx="298" cy="286"/>
            </a:xfrm>
            <a:custGeom>
              <a:avLst/>
              <a:gdLst>
                <a:gd name="T0" fmla="*/ 231 w 298"/>
                <a:gd name="T1" fmla="*/ 31 h 286"/>
                <a:gd name="T2" fmla="*/ 155 w 298"/>
                <a:gd name="T3" fmla="*/ 2 h 286"/>
                <a:gd name="T4" fmla="*/ 59 w 298"/>
                <a:gd name="T5" fmla="*/ 19 h 286"/>
                <a:gd name="T6" fmla="*/ 8 w 298"/>
                <a:gd name="T7" fmla="*/ 79 h 286"/>
                <a:gd name="T8" fmla="*/ 11 w 298"/>
                <a:gd name="T9" fmla="*/ 170 h 286"/>
                <a:gd name="T10" fmla="*/ 42 w 298"/>
                <a:gd name="T11" fmla="*/ 252 h 286"/>
                <a:gd name="T12" fmla="*/ 133 w 298"/>
                <a:gd name="T13" fmla="*/ 283 h 286"/>
                <a:gd name="T14" fmla="*/ 234 w 298"/>
                <a:gd name="T15" fmla="*/ 266 h 286"/>
                <a:gd name="T16" fmla="*/ 291 w 298"/>
                <a:gd name="T17" fmla="*/ 165 h 286"/>
                <a:gd name="T18" fmla="*/ 275 w 298"/>
                <a:gd name="T19" fmla="*/ 81 h 286"/>
                <a:gd name="T20" fmla="*/ 231 w 298"/>
                <a:gd name="T21" fmla="*/ 31 h 2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8"/>
                <a:gd name="T34" fmla="*/ 0 h 286"/>
                <a:gd name="T35" fmla="*/ 298 w 298"/>
                <a:gd name="T36" fmla="*/ 286 h 2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8" h="286">
                  <a:moveTo>
                    <a:pt x="231" y="31"/>
                  </a:moveTo>
                  <a:cubicBezTo>
                    <a:pt x="211" y="18"/>
                    <a:pt x="184" y="4"/>
                    <a:pt x="155" y="2"/>
                  </a:cubicBezTo>
                  <a:cubicBezTo>
                    <a:pt x="126" y="0"/>
                    <a:pt x="84" y="6"/>
                    <a:pt x="59" y="19"/>
                  </a:cubicBezTo>
                  <a:cubicBezTo>
                    <a:pt x="34" y="32"/>
                    <a:pt x="16" y="54"/>
                    <a:pt x="8" y="79"/>
                  </a:cubicBezTo>
                  <a:cubicBezTo>
                    <a:pt x="0" y="104"/>
                    <a:pt x="5" y="141"/>
                    <a:pt x="11" y="170"/>
                  </a:cubicBezTo>
                  <a:cubicBezTo>
                    <a:pt x="17" y="199"/>
                    <a:pt x="22" y="233"/>
                    <a:pt x="42" y="252"/>
                  </a:cubicBezTo>
                  <a:cubicBezTo>
                    <a:pt x="62" y="271"/>
                    <a:pt x="101" y="281"/>
                    <a:pt x="133" y="283"/>
                  </a:cubicBezTo>
                  <a:cubicBezTo>
                    <a:pt x="165" y="285"/>
                    <a:pt x="208" y="286"/>
                    <a:pt x="234" y="266"/>
                  </a:cubicBezTo>
                  <a:cubicBezTo>
                    <a:pt x="260" y="246"/>
                    <a:pt x="284" y="196"/>
                    <a:pt x="291" y="165"/>
                  </a:cubicBezTo>
                  <a:cubicBezTo>
                    <a:pt x="298" y="134"/>
                    <a:pt x="285" y="103"/>
                    <a:pt x="275" y="81"/>
                  </a:cubicBezTo>
                  <a:cubicBezTo>
                    <a:pt x="265" y="59"/>
                    <a:pt x="251" y="44"/>
                    <a:pt x="231" y="31"/>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63" name="Freeform 32" descr="软木塞"/>
            <p:cNvSpPr>
              <a:spLocks/>
            </p:cNvSpPr>
            <p:nvPr/>
          </p:nvSpPr>
          <p:spPr bwMode="auto">
            <a:xfrm>
              <a:off x="3229" y="904"/>
              <a:ext cx="304" cy="293"/>
            </a:xfrm>
            <a:custGeom>
              <a:avLst/>
              <a:gdLst>
                <a:gd name="T0" fmla="*/ 296 w 304"/>
                <a:gd name="T1" fmla="*/ 121 h 293"/>
                <a:gd name="T2" fmla="*/ 260 w 304"/>
                <a:gd name="T3" fmla="*/ 44 h 293"/>
                <a:gd name="T4" fmla="*/ 195 w 304"/>
                <a:gd name="T5" fmla="*/ 8 h 293"/>
                <a:gd name="T6" fmla="*/ 104 w 304"/>
                <a:gd name="T7" fmla="*/ 10 h 293"/>
                <a:gd name="T8" fmla="*/ 32 w 304"/>
                <a:gd name="T9" fmla="*/ 66 h 293"/>
                <a:gd name="T10" fmla="*/ 6 w 304"/>
                <a:gd name="T11" fmla="*/ 171 h 293"/>
                <a:gd name="T12" fmla="*/ 66 w 304"/>
                <a:gd name="T13" fmla="*/ 260 h 293"/>
                <a:gd name="T14" fmla="*/ 166 w 304"/>
                <a:gd name="T15" fmla="*/ 289 h 293"/>
                <a:gd name="T16" fmla="*/ 274 w 304"/>
                <a:gd name="T17" fmla="*/ 234 h 293"/>
                <a:gd name="T18" fmla="*/ 301 w 304"/>
                <a:gd name="T19" fmla="*/ 159 h 293"/>
                <a:gd name="T20" fmla="*/ 296 w 304"/>
                <a:gd name="T21" fmla="*/ 121 h 2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4"/>
                <a:gd name="T34" fmla="*/ 0 h 293"/>
                <a:gd name="T35" fmla="*/ 304 w 304"/>
                <a:gd name="T36" fmla="*/ 293 h 2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4" h="293">
                  <a:moveTo>
                    <a:pt x="296" y="121"/>
                  </a:moveTo>
                  <a:cubicBezTo>
                    <a:pt x="289" y="102"/>
                    <a:pt x="277" y="63"/>
                    <a:pt x="260" y="44"/>
                  </a:cubicBezTo>
                  <a:cubicBezTo>
                    <a:pt x="243" y="25"/>
                    <a:pt x="221" y="14"/>
                    <a:pt x="195" y="8"/>
                  </a:cubicBezTo>
                  <a:cubicBezTo>
                    <a:pt x="169" y="2"/>
                    <a:pt x="131" y="0"/>
                    <a:pt x="104" y="10"/>
                  </a:cubicBezTo>
                  <a:cubicBezTo>
                    <a:pt x="77" y="20"/>
                    <a:pt x="48" y="39"/>
                    <a:pt x="32" y="66"/>
                  </a:cubicBezTo>
                  <a:cubicBezTo>
                    <a:pt x="16" y="93"/>
                    <a:pt x="0" y="139"/>
                    <a:pt x="6" y="171"/>
                  </a:cubicBezTo>
                  <a:cubicBezTo>
                    <a:pt x="12" y="203"/>
                    <a:pt x="39" y="240"/>
                    <a:pt x="66" y="260"/>
                  </a:cubicBezTo>
                  <a:cubicBezTo>
                    <a:pt x="93" y="280"/>
                    <a:pt x="131" y="293"/>
                    <a:pt x="166" y="289"/>
                  </a:cubicBezTo>
                  <a:cubicBezTo>
                    <a:pt x="201" y="285"/>
                    <a:pt x="252" y="256"/>
                    <a:pt x="274" y="234"/>
                  </a:cubicBezTo>
                  <a:cubicBezTo>
                    <a:pt x="296" y="212"/>
                    <a:pt x="298" y="179"/>
                    <a:pt x="301" y="159"/>
                  </a:cubicBezTo>
                  <a:cubicBezTo>
                    <a:pt x="304" y="139"/>
                    <a:pt x="303" y="140"/>
                    <a:pt x="296" y="121"/>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64" name="Text Box 33"/>
            <p:cNvSpPr txBox="1">
              <a:spLocks noChangeArrowheads="1"/>
            </p:cNvSpPr>
            <p:nvPr/>
          </p:nvSpPr>
          <p:spPr bwMode="auto">
            <a:xfrm>
              <a:off x="2549" y="471"/>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solidFill>
                    <a:srgbClr val="000066"/>
                  </a:solidFill>
                  <a:latin typeface="幼圆" pitchFamily="49" charset="-122"/>
                  <a:ea typeface="幼圆" pitchFamily="49" charset="-122"/>
                </a:rPr>
                <a:t>弱结合水</a:t>
              </a:r>
              <a:endParaRPr lang="en-US" altLang="zh-CN" sz="1800" b="1" dirty="0">
                <a:solidFill>
                  <a:srgbClr val="000066"/>
                </a:solidFill>
                <a:latin typeface="幼圆" pitchFamily="49" charset="-122"/>
                <a:ea typeface="幼圆" pitchFamily="49" charset="-122"/>
              </a:endParaRPr>
            </a:p>
          </p:txBody>
        </p:sp>
        <p:sp>
          <p:nvSpPr>
            <p:cNvPr id="72765" name="Line 34"/>
            <p:cNvSpPr>
              <a:spLocks noChangeShapeType="1"/>
            </p:cNvSpPr>
            <p:nvPr/>
          </p:nvSpPr>
          <p:spPr bwMode="auto">
            <a:xfrm flipH="1" flipV="1">
              <a:off x="2914" y="699"/>
              <a:ext cx="101" cy="1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2739" name="Group 41"/>
          <p:cNvGrpSpPr>
            <a:grpSpLocks/>
          </p:cNvGrpSpPr>
          <p:nvPr/>
        </p:nvGrpSpPr>
        <p:grpSpPr bwMode="auto">
          <a:xfrm>
            <a:off x="6341754" y="732361"/>
            <a:ext cx="2372021" cy="1436688"/>
            <a:chOff x="3894" y="600"/>
            <a:chExt cx="1486" cy="905"/>
          </a:xfrm>
        </p:grpSpPr>
        <p:sp>
          <p:nvSpPr>
            <p:cNvPr id="72740" name="Freeform 42"/>
            <p:cNvSpPr>
              <a:spLocks/>
            </p:cNvSpPr>
            <p:nvPr/>
          </p:nvSpPr>
          <p:spPr bwMode="auto">
            <a:xfrm>
              <a:off x="4560" y="677"/>
              <a:ext cx="428" cy="677"/>
            </a:xfrm>
            <a:custGeom>
              <a:avLst/>
              <a:gdLst>
                <a:gd name="T0" fmla="*/ 44 w 428"/>
                <a:gd name="T1" fmla="*/ 250 h 614"/>
                <a:gd name="T2" fmla="*/ 8 w 428"/>
                <a:gd name="T3" fmla="*/ 216 h 614"/>
                <a:gd name="T4" fmla="*/ 90 w 428"/>
                <a:gd name="T5" fmla="*/ 193 h 614"/>
                <a:gd name="T6" fmla="*/ 98 w 428"/>
                <a:gd name="T7" fmla="*/ 75 h 614"/>
                <a:gd name="T8" fmla="*/ 159 w 428"/>
                <a:gd name="T9" fmla="*/ 55 h 614"/>
                <a:gd name="T10" fmla="*/ 215 w 428"/>
                <a:gd name="T11" fmla="*/ 118 h 614"/>
                <a:gd name="T12" fmla="*/ 253 w 428"/>
                <a:gd name="T13" fmla="*/ 66 h 614"/>
                <a:gd name="T14" fmla="*/ 298 w 428"/>
                <a:gd name="T15" fmla="*/ 0 h 614"/>
                <a:gd name="T16" fmla="*/ 336 w 428"/>
                <a:gd name="T17" fmla="*/ 15 h 614"/>
                <a:gd name="T18" fmla="*/ 428 w 428"/>
                <a:gd name="T19" fmla="*/ 648 h 614"/>
                <a:gd name="T20" fmla="*/ 359 w 428"/>
                <a:gd name="T21" fmla="*/ 654 h 614"/>
                <a:gd name="T22" fmla="*/ 332 w 428"/>
                <a:gd name="T23" fmla="*/ 691 h 614"/>
                <a:gd name="T24" fmla="*/ 319 w 428"/>
                <a:gd name="T25" fmla="*/ 737 h 614"/>
                <a:gd name="T26" fmla="*/ 306 w 428"/>
                <a:gd name="T27" fmla="*/ 772 h 614"/>
                <a:gd name="T28" fmla="*/ 271 w 428"/>
                <a:gd name="T29" fmla="*/ 820 h 614"/>
                <a:gd name="T30" fmla="*/ 240 w 428"/>
                <a:gd name="T31" fmla="*/ 784 h 614"/>
                <a:gd name="T32" fmla="*/ 213 w 428"/>
                <a:gd name="T33" fmla="*/ 755 h 614"/>
                <a:gd name="T34" fmla="*/ 130 w 428"/>
                <a:gd name="T35" fmla="*/ 786 h 614"/>
                <a:gd name="T36" fmla="*/ 140 w 428"/>
                <a:gd name="T37" fmla="*/ 609 h 614"/>
                <a:gd name="T38" fmla="*/ 72 w 428"/>
                <a:gd name="T39" fmla="*/ 368 h 614"/>
                <a:gd name="T40" fmla="*/ 44 w 428"/>
                <a:gd name="T41" fmla="*/ 250 h 6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8"/>
                <a:gd name="T64" fmla="*/ 0 h 614"/>
                <a:gd name="T65" fmla="*/ 428 w 428"/>
                <a:gd name="T66" fmla="*/ 614 h 61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8" h="614">
                  <a:moveTo>
                    <a:pt x="44" y="187"/>
                  </a:moveTo>
                  <a:cubicBezTo>
                    <a:pt x="33" y="168"/>
                    <a:pt x="0" y="168"/>
                    <a:pt x="8" y="161"/>
                  </a:cubicBezTo>
                  <a:cubicBezTo>
                    <a:pt x="16" y="154"/>
                    <a:pt x="75" y="162"/>
                    <a:pt x="90" y="144"/>
                  </a:cubicBezTo>
                  <a:cubicBezTo>
                    <a:pt x="105" y="126"/>
                    <a:pt x="87" y="73"/>
                    <a:pt x="98" y="56"/>
                  </a:cubicBezTo>
                  <a:cubicBezTo>
                    <a:pt x="109" y="39"/>
                    <a:pt x="140" y="36"/>
                    <a:pt x="159" y="41"/>
                  </a:cubicBezTo>
                  <a:cubicBezTo>
                    <a:pt x="178" y="46"/>
                    <a:pt x="199" y="87"/>
                    <a:pt x="215" y="88"/>
                  </a:cubicBezTo>
                  <a:cubicBezTo>
                    <a:pt x="231" y="89"/>
                    <a:pt x="239" y="64"/>
                    <a:pt x="253" y="49"/>
                  </a:cubicBezTo>
                  <a:cubicBezTo>
                    <a:pt x="267" y="34"/>
                    <a:pt x="284" y="6"/>
                    <a:pt x="298" y="0"/>
                  </a:cubicBezTo>
                  <a:lnTo>
                    <a:pt x="336" y="12"/>
                  </a:lnTo>
                  <a:cubicBezTo>
                    <a:pt x="358" y="92"/>
                    <a:pt x="424" y="404"/>
                    <a:pt x="428" y="483"/>
                  </a:cubicBezTo>
                  <a:lnTo>
                    <a:pt x="359" y="488"/>
                  </a:lnTo>
                  <a:cubicBezTo>
                    <a:pt x="343" y="493"/>
                    <a:pt x="339" y="506"/>
                    <a:pt x="332" y="516"/>
                  </a:cubicBezTo>
                  <a:cubicBezTo>
                    <a:pt x="325" y="526"/>
                    <a:pt x="323" y="540"/>
                    <a:pt x="319" y="550"/>
                  </a:cubicBezTo>
                  <a:cubicBezTo>
                    <a:pt x="315" y="560"/>
                    <a:pt x="314" y="566"/>
                    <a:pt x="306" y="576"/>
                  </a:cubicBezTo>
                  <a:cubicBezTo>
                    <a:pt x="298" y="586"/>
                    <a:pt x="282" y="610"/>
                    <a:pt x="271" y="612"/>
                  </a:cubicBezTo>
                  <a:cubicBezTo>
                    <a:pt x="260" y="614"/>
                    <a:pt x="250" y="593"/>
                    <a:pt x="240" y="585"/>
                  </a:cubicBezTo>
                  <a:cubicBezTo>
                    <a:pt x="230" y="577"/>
                    <a:pt x="231" y="563"/>
                    <a:pt x="213" y="563"/>
                  </a:cubicBezTo>
                  <a:lnTo>
                    <a:pt x="130" y="587"/>
                  </a:lnTo>
                  <a:cubicBezTo>
                    <a:pt x="118" y="569"/>
                    <a:pt x="150" y="506"/>
                    <a:pt x="140" y="454"/>
                  </a:cubicBezTo>
                  <a:cubicBezTo>
                    <a:pt x="130" y="402"/>
                    <a:pt x="88" y="319"/>
                    <a:pt x="72" y="275"/>
                  </a:cubicBezTo>
                  <a:cubicBezTo>
                    <a:pt x="56" y="231"/>
                    <a:pt x="48" y="214"/>
                    <a:pt x="44" y="187"/>
                  </a:cubicBez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41" name="Freeform 43"/>
            <p:cNvSpPr>
              <a:spLocks/>
            </p:cNvSpPr>
            <p:nvPr/>
          </p:nvSpPr>
          <p:spPr bwMode="auto">
            <a:xfrm>
              <a:off x="4147" y="899"/>
              <a:ext cx="618" cy="606"/>
            </a:xfrm>
            <a:custGeom>
              <a:avLst/>
              <a:gdLst>
                <a:gd name="T0" fmla="*/ 409 w 618"/>
                <a:gd name="T1" fmla="*/ 20 h 606"/>
                <a:gd name="T2" fmla="*/ 305 w 618"/>
                <a:gd name="T3" fmla="*/ 3 h 606"/>
                <a:gd name="T4" fmla="*/ 173 w 618"/>
                <a:gd name="T5" fmla="*/ 37 h 606"/>
                <a:gd name="T6" fmla="*/ 61 w 618"/>
                <a:gd name="T7" fmla="*/ 138 h 606"/>
                <a:gd name="T8" fmla="*/ 5 w 618"/>
                <a:gd name="T9" fmla="*/ 275 h 606"/>
                <a:gd name="T10" fmla="*/ 32 w 618"/>
                <a:gd name="T11" fmla="*/ 419 h 606"/>
                <a:gd name="T12" fmla="*/ 99 w 618"/>
                <a:gd name="T13" fmla="*/ 522 h 606"/>
                <a:gd name="T14" fmla="*/ 212 w 618"/>
                <a:gd name="T15" fmla="*/ 582 h 606"/>
                <a:gd name="T16" fmla="*/ 382 w 618"/>
                <a:gd name="T17" fmla="*/ 596 h 606"/>
                <a:gd name="T18" fmla="*/ 524 w 618"/>
                <a:gd name="T19" fmla="*/ 524 h 606"/>
                <a:gd name="T20" fmla="*/ 605 w 618"/>
                <a:gd name="T21" fmla="*/ 387 h 606"/>
                <a:gd name="T22" fmla="*/ 603 w 618"/>
                <a:gd name="T23" fmla="*/ 253 h 606"/>
                <a:gd name="T24" fmla="*/ 574 w 618"/>
                <a:gd name="T25" fmla="*/ 152 h 606"/>
                <a:gd name="T26" fmla="*/ 505 w 618"/>
                <a:gd name="T27" fmla="*/ 66 h 606"/>
                <a:gd name="T28" fmla="*/ 409 w 618"/>
                <a:gd name="T29" fmla="*/ 20 h 6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8"/>
                <a:gd name="T46" fmla="*/ 0 h 606"/>
                <a:gd name="T47" fmla="*/ 618 w 618"/>
                <a:gd name="T48" fmla="*/ 606 h 6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8" h="606">
                  <a:moveTo>
                    <a:pt x="409" y="20"/>
                  </a:moveTo>
                  <a:cubicBezTo>
                    <a:pt x="376" y="6"/>
                    <a:pt x="344" y="0"/>
                    <a:pt x="305" y="3"/>
                  </a:cubicBezTo>
                  <a:cubicBezTo>
                    <a:pt x="266" y="6"/>
                    <a:pt x="214" y="15"/>
                    <a:pt x="173" y="37"/>
                  </a:cubicBezTo>
                  <a:cubicBezTo>
                    <a:pt x="132" y="59"/>
                    <a:pt x="89" y="98"/>
                    <a:pt x="61" y="138"/>
                  </a:cubicBezTo>
                  <a:cubicBezTo>
                    <a:pt x="33" y="178"/>
                    <a:pt x="10" y="228"/>
                    <a:pt x="5" y="275"/>
                  </a:cubicBezTo>
                  <a:cubicBezTo>
                    <a:pt x="0" y="322"/>
                    <a:pt x="16" y="378"/>
                    <a:pt x="32" y="419"/>
                  </a:cubicBezTo>
                  <a:cubicBezTo>
                    <a:pt x="48" y="460"/>
                    <a:pt x="69" y="495"/>
                    <a:pt x="99" y="522"/>
                  </a:cubicBezTo>
                  <a:cubicBezTo>
                    <a:pt x="129" y="549"/>
                    <a:pt x="165" y="570"/>
                    <a:pt x="212" y="582"/>
                  </a:cubicBezTo>
                  <a:cubicBezTo>
                    <a:pt x="259" y="594"/>
                    <a:pt x="330" y="606"/>
                    <a:pt x="382" y="596"/>
                  </a:cubicBezTo>
                  <a:cubicBezTo>
                    <a:pt x="434" y="586"/>
                    <a:pt x="487" y="559"/>
                    <a:pt x="524" y="524"/>
                  </a:cubicBezTo>
                  <a:cubicBezTo>
                    <a:pt x="561" y="489"/>
                    <a:pt x="592" y="432"/>
                    <a:pt x="605" y="387"/>
                  </a:cubicBezTo>
                  <a:cubicBezTo>
                    <a:pt x="618" y="342"/>
                    <a:pt x="608" y="292"/>
                    <a:pt x="603" y="253"/>
                  </a:cubicBezTo>
                  <a:cubicBezTo>
                    <a:pt x="598" y="214"/>
                    <a:pt x="590" y="183"/>
                    <a:pt x="574" y="152"/>
                  </a:cubicBezTo>
                  <a:cubicBezTo>
                    <a:pt x="558" y="121"/>
                    <a:pt x="532" y="88"/>
                    <a:pt x="505" y="66"/>
                  </a:cubicBezTo>
                  <a:cubicBezTo>
                    <a:pt x="478" y="44"/>
                    <a:pt x="429" y="30"/>
                    <a:pt x="409" y="20"/>
                  </a:cubicBezTo>
                  <a:close/>
                </a:path>
              </a:pathLst>
            </a:custGeom>
            <a:solidFill>
              <a:srgbClr val="99CCFF"/>
            </a:solidFill>
            <a:ln w="9525">
              <a:solidFill>
                <a:schemeClr val="tx1"/>
              </a:solidFill>
              <a:round/>
              <a:headEnd/>
              <a:tailEnd/>
            </a:ln>
          </p:spPr>
          <p:txBody>
            <a:bodyPr/>
            <a:lstStyle/>
            <a:p>
              <a:endParaRPr lang="zh-CN" altLang="en-US"/>
            </a:p>
          </p:txBody>
        </p:sp>
        <p:sp>
          <p:nvSpPr>
            <p:cNvPr id="72742" name="Freeform 44"/>
            <p:cNvSpPr>
              <a:spLocks/>
            </p:cNvSpPr>
            <p:nvPr/>
          </p:nvSpPr>
          <p:spPr bwMode="auto">
            <a:xfrm>
              <a:off x="4784" y="700"/>
              <a:ext cx="596" cy="590"/>
            </a:xfrm>
            <a:custGeom>
              <a:avLst/>
              <a:gdLst>
                <a:gd name="T0" fmla="*/ 475 w 596"/>
                <a:gd name="T1" fmla="*/ 39 h 590"/>
                <a:gd name="T2" fmla="*/ 532 w 596"/>
                <a:gd name="T3" fmla="*/ 118 h 590"/>
                <a:gd name="T4" fmla="*/ 583 w 596"/>
                <a:gd name="T5" fmla="*/ 224 h 590"/>
                <a:gd name="T6" fmla="*/ 592 w 596"/>
                <a:gd name="T7" fmla="*/ 308 h 590"/>
                <a:gd name="T8" fmla="*/ 561 w 596"/>
                <a:gd name="T9" fmla="*/ 442 h 590"/>
                <a:gd name="T10" fmla="*/ 446 w 596"/>
                <a:gd name="T11" fmla="*/ 553 h 590"/>
                <a:gd name="T12" fmla="*/ 295 w 596"/>
                <a:gd name="T13" fmla="*/ 589 h 590"/>
                <a:gd name="T14" fmla="*/ 160 w 596"/>
                <a:gd name="T15" fmla="*/ 550 h 590"/>
                <a:gd name="T16" fmla="*/ 57 w 596"/>
                <a:gd name="T17" fmla="*/ 464 h 590"/>
                <a:gd name="T18" fmla="*/ 7 w 596"/>
                <a:gd name="T19" fmla="*/ 332 h 590"/>
                <a:gd name="T20" fmla="*/ 16 w 596"/>
                <a:gd name="T21" fmla="*/ 186 h 590"/>
                <a:gd name="T22" fmla="*/ 93 w 596"/>
                <a:gd name="T23" fmla="*/ 78 h 590"/>
                <a:gd name="T24" fmla="*/ 196 w 596"/>
                <a:gd name="T25" fmla="*/ 18 h 590"/>
                <a:gd name="T26" fmla="*/ 312 w 596"/>
                <a:gd name="T27" fmla="*/ 3 h 590"/>
                <a:gd name="T28" fmla="*/ 384 w 596"/>
                <a:gd name="T29" fmla="*/ 6 h 590"/>
                <a:gd name="T30" fmla="*/ 475 w 596"/>
                <a:gd name="T31" fmla="*/ 39 h 5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96"/>
                <a:gd name="T49" fmla="*/ 0 h 590"/>
                <a:gd name="T50" fmla="*/ 596 w 596"/>
                <a:gd name="T51" fmla="*/ 590 h 5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96" h="590">
                  <a:moveTo>
                    <a:pt x="475" y="39"/>
                  </a:moveTo>
                  <a:cubicBezTo>
                    <a:pt x="500" y="58"/>
                    <a:pt x="514" y="87"/>
                    <a:pt x="532" y="118"/>
                  </a:cubicBezTo>
                  <a:cubicBezTo>
                    <a:pt x="550" y="149"/>
                    <a:pt x="573" y="192"/>
                    <a:pt x="583" y="224"/>
                  </a:cubicBezTo>
                  <a:cubicBezTo>
                    <a:pt x="593" y="256"/>
                    <a:pt x="596" y="272"/>
                    <a:pt x="592" y="308"/>
                  </a:cubicBezTo>
                  <a:cubicBezTo>
                    <a:pt x="588" y="344"/>
                    <a:pt x="585" y="401"/>
                    <a:pt x="561" y="442"/>
                  </a:cubicBezTo>
                  <a:cubicBezTo>
                    <a:pt x="537" y="483"/>
                    <a:pt x="490" y="529"/>
                    <a:pt x="446" y="553"/>
                  </a:cubicBezTo>
                  <a:cubicBezTo>
                    <a:pt x="402" y="577"/>
                    <a:pt x="343" y="590"/>
                    <a:pt x="295" y="589"/>
                  </a:cubicBezTo>
                  <a:cubicBezTo>
                    <a:pt x="247" y="588"/>
                    <a:pt x="200" y="571"/>
                    <a:pt x="160" y="550"/>
                  </a:cubicBezTo>
                  <a:cubicBezTo>
                    <a:pt x="120" y="529"/>
                    <a:pt x="82" y="500"/>
                    <a:pt x="57" y="464"/>
                  </a:cubicBezTo>
                  <a:cubicBezTo>
                    <a:pt x="32" y="428"/>
                    <a:pt x="14" y="378"/>
                    <a:pt x="7" y="332"/>
                  </a:cubicBezTo>
                  <a:cubicBezTo>
                    <a:pt x="0" y="286"/>
                    <a:pt x="2" y="228"/>
                    <a:pt x="16" y="186"/>
                  </a:cubicBezTo>
                  <a:cubicBezTo>
                    <a:pt x="30" y="144"/>
                    <a:pt x="63" y="106"/>
                    <a:pt x="93" y="78"/>
                  </a:cubicBezTo>
                  <a:cubicBezTo>
                    <a:pt x="123" y="50"/>
                    <a:pt x="160" y="30"/>
                    <a:pt x="196" y="18"/>
                  </a:cubicBezTo>
                  <a:cubicBezTo>
                    <a:pt x="232" y="6"/>
                    <a:pt x="281" y="5"/>
                    <a:pt x="312" y="3"/>
                  </a:cubicBezTo>
                  <a:cubicBezTo>
                    <a:pt x="343" y="1"/>
                    <a:pt x="357" y="0"/>
                    <a:pt x="384" y="6"/>
                  </a:cubicBezTo>
                  <a:cubicBezTo>
                    <a:pt x="411" y="12"/>
                    <a:pt x="450" y="20"/>
                    <a:pt x="475" y="39"/>
                  </a:cubicBezTo>
                  <a:close/>
                </a:path>
              </a:pathLst>
            </a:custGeom>
            <a:solidFill>
              <a:srgbClr val="99CCFF"/>
            </a:solidFill>
            <a:ln w="9525">
              <a:solidFill>
                <a:schemeClr val="tx1"/>
              </a:solidFill>
              <a:round/>
              <a:headEnd/>
              <a:tailEnd/>
            </a:ln>
          </p:spPr>
          <p:txBody>
            <a:bodyPr/>
            <a:lstStyle/>
            <a:p>
              <a:endParaRPr lang="zh-CN" altLang="en-US"/>
            </a:p>
          </p:txBody>
        </p:sp>
        <p:sp>
          <p:nvSpPr>
            <p:cNvPr id="72743" name="Freeform 45"/>
            <p:cNvSpPr>
              <a:spLocks/>
            </p:cNvSpPr>
            <p:nvPr/>
          </p:nvSpPr>
          <p:spPr bwMode="auto">
            <a:xfrm>
              <a:off x="4253" y="1002"/>
              <a:ext cx="426" cy="415"/>
            </a:xfrm>
            <a:custGeom>
              <a:avLst/>
              <a:gdLst>
                <a:gd name="T0" fmla="*/ 334 w 426"/>
                <a:gd name="T1" fmla="*/ 25 h 415"/>
                <a:gd name="T2" fmla="*/ 243 w 426"/>
                <a:gd name="T3" fmla="*/ 1 h 415"/>
                <a:gd name="T4" fmla="*/ 113 w 426"/>
                <a:gd name="T5" fmla="*/ 20 h 415"/>
                <a:gd name="T6" fmla="*/ 17 w 426"/>
                <a:gd name="T7" fmla="*/ 102 h 415"/>
                <a:gd name="T8" fmla="*/ 10 w 426"/>
                <a:gd name="T9" fmla="*/ 239 h 415"/>
                <a:gd name="T10" fmla="*/ 67 w 426"/>
                <a:gd name="T11" fmla="*/ 352 h 415"/>
                <a:gd name="T12" fmla="*/ 209 w 426"/>
                <a:gd name="T13" fmla="*/ 409 h 415"/>
                <a:gd name="T14" fmla="*/ 331 w 426"/>
                <a:gd name="T15" fmla="*/ 388 h 415"/>
                <a:gd name="T16" fmla="*/ 413 w 426"/>
                <a:gd name="T17" fmla="*/ 296 h 415"/>
                <a:gd name="T18" fmla="*/ 411 w 426"/>
                <a:gd name="T19" fmla="*/ 162 h 415"/>
                <a:gd name="T20" fmla="*/ 367 w 426"/>
                <a:gd name="T21" fmla="*/ 83 h 415"/>
                <a:gd name="T22" fmla="*/ 334 w 426"/>
                <a:gd name="T23" fmla="*/ 25 h 41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6"/>
                <a:gd name="T37" fmla="*/ 0 h 415"/>
                <a:gd name="T38" fmla="*/ 426 w 426"/>
                <a:gd name="T39" fmla="*/ 415 h 41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6" h="415">
                  <a:moveTo>
                    <a:pt x="334" y="25"/>
                  </a:moveTo>
                  <a:cubicBezTo>
                    <a:pt x="313" y="11"/>
                    <a:pt x="280" y="2"/>
                    <a:pt x="243" y="1"/>
                  </a:cubicBezTo>
                  <a:cubicBezTo>
                    <a:pt x="206" y="0"/>
                    <a:pt x="151" y="3"/>
                    <a:pt x="113" y="20"/>
                  </a:cubicBezTo>
                  <a:cubicBezTo>
                    <a:pt x="75" y="37"/>
                    <a:pt x="34" y="65"/>
                    <a:pt x="17" y="102"/>
                  </a:cubicBezTo>
                  <a:cubicBezTo>
                    <a:pt x="0" y="139"/>
                    <a:pt x="2" y="197"/>
                    <a:pt x="10" y="239"/>
                  </a:cubicBezTo>
                  <a:cubicBezTo>
                    <a:pt x="18" y="281"/>
                    <a:pt x="34" y="324"/>
                    <a:pt x="67" y="352"/>
                  </a:cubicBezTo>
                  <a:cubicBezTo>
                    <a:pt x="100" y="380"/>
                    <a:pt x="165" y="403"/>
                    <a:pt x="209" y="409"/>
                  </a:cubicBezTo>
                  <a:cubicBezTo>
                    <a:pt x="253" y="415"/>
                    <a:pt x="297" y="407"/>
                    <a:pt x="331" y="388"/>
                  </a:cubicBezTo>
                  <a:cubicBezTo>
                    <a:pt x="365" y="369"/>
                    <a:pt x="400" y="334"/>
                    <a:pt x="413" y="296"/>
                  </a:cubicBezTo>
                  <a:cubicBezTo>
                    <a:pt x="426" y="258"/>
                    <a:pt x="419" y="197"/>
                    <a:pt x="411" y="162"/>
                  </a:cubicBezTo>
                  <a:cubicBezTo>
                    <a:pt x="403" y="127"/>
                    <a:pt x="381" y="106"/>
                    <a:pt x="367" y="83"/>
                  </a:cubicBezTo>
                  <a:cubicBezTo>
                    <a:pt x="353" y="60"/>
                    <a:pt x="355" y="39"/>
                    <a:pt x="334" y="25"/>
                  </a:cubicBezTo>
                  <a:close/>
                </a:path>
              </a:pathLst>
            </a:custGeom>
            <a:solidFill>
              <a:srgbClr val="CCCCFF"/>
            </a:solidFill>
            <a:ln w="9525">
              <a:solidFill>
                <a:schemeClr val="tx1"/>
              </a:solidFill>
              <a:round/>
              <a:headEnd/>
              <a:tailEnd/>
            </a:ln>
          </p:spPr>
          <p:txBody>
            <a:bodyPr/>
            <a:lstStyle/>
            <a:p>
              <a:endParaRPr lang="zh-CN" altLang="en-US"/>
            </a:p>
          </p:txBody>
        </p:sp>
        <p:sp>
          <p:nvSpPr>
            <p:cNvPr id="72744" name="Freeform 46"/>
            <p:cNvSpPr>
              <a:spLocks/>
            </p:cNvSpPr>
            <p:nvPr/>
          </p:nvSpPr>
          <p:spPr bwMode="auto">
            <a:xfrm>
              <a:off x="4878" y="778"/>
              <a:ext cx="406" cy="417"/>
            </a:xfrm>
            <a:custGeom>
              <a:avLst/>
              <a:gdLst>
                <a:gd name="T0" fmla="*/ 131 w 406"/>
                <a:gd name="T1" fmla="*/ 16 h 417"/>
                <a:gd name="T2" fmla="*/ 230 w 406"/>
                <a:gd name="T3" fmla="*/ 9 h 417"/>
                <a:gd name="T4" fmla="*/ 321 w 406"/>
                <a:gd name="T5" fmla="*/ 69 h 417"/>
                <a:gd name="T6" fmla="*/ 395 w 406"/>
                <a:gd name="T7" fmla="*/ 160 h 417"/>
                <a:gd name="T8" fmla="*/ 386 w 406"/>
                <a:gd name="T9" fmla="*/ 319 h 417"/>
                <a:gd name="T10" fmla="*/ 273 w 406"/>
                <a:gd name="T11" fmla="*/ 400 h 417"/>
                <a:gd name="T12" fmla="*/ 138 w 406"/>
                <a:gd name="T13" fmla="*/ 405 h 417"/>
                <a:gd name="T14" fmla="*/ 28 w 406"/>
                <a:gd name="T15" fmla="*/ 328 h 417"/>
                <a:gd name="T16" fmla="*/ 2 w 406"/>
                <a:gd name="T17" fmla="*/ 213 h 417"/>
                <a:gd name="T18" fmla="*/ 14 w 406"/>
                <a:gd name="T19" fmla="*/ 122 h 417"/>
                <a:gd name="T20" fmla="*/ 57 w 406"/>
                <a:gd name="T21" fmla="*/ 60 h 417"/>
                <a:gd name="T22" fmla="*/ 131 w 406"/>
                <a:gd name="T23" fmla="*/ 16 h 4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6"/>
                <a:gd name="T37" fmla="*/ 0 h 417"/>
                <a:gd name="T38" fmla="*/ 406 w 406"/>
                <a:gd name="T39" fmla="*/ 417 h 4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6" h="417">
                  <a:moveTo>
                    <a:pt x="131" y="16"/>
                  </a:moveTo>
                  <a:cubicBezTo>
                    <a:pt x="160" y="8"/>
                    <a:pt x="198" y="0"/>
                    <a:pt x="230" y="9"/>
                  </a:cubicBezTo>
                  <a:cubicBezTo>
                    <a:pt x="262" y="18"/>
                    <a:pt x="294" y="44"/>
                    <a:pt x="321" y="69"/>
                  </a:cubicBezTo>
                  <a:cubicBezTo>
                    <a:pt x="348" y="94"/>
                    <a:pt x="384" y="118"/>
                    <a:pt x="395" y="160"/>
                  </a:cubicBezTo>
                  <a:cubicBezTo>
                    <a:pt x="406" y="202"/>
                    <a:pt x="406" y="279"/>
                    <a:pt x="386" y="319"/>
                  </a:cubicBezTo>
                  <a:cubicBezTo>
                    <a:pt x="366" y="359"/>
                    <a:pt x="314" y="386"/>
                    <a:pt x="273" y="400"/>
                  </a:cubicBezTo>
                  <a:cubicBezTo>
                    <a:pt x="232" y="414"/>
                    <a:pt x="179" y="417"/>
                    <a:pt x="138" y="405"/>
                  </a:cubicBezTo>
                  <a:cubicBezTo>
                    <a:pt x="97" y="393"/>
                    <a:pt x="51" y="360"/>
                    <a:pt x="28" y="328"/>
                  </a:cubicBezTo>
                  <a:cubicBezTo>
                    <a:pt x="5" y="296"/>
                    <a:pt x="4" y="247"/>
                    <a:pt x="2" y="213"/>
                  </a:cubicBezTo>
                  <a:cubicBezTo>
                    <a:pt x="0" y="179"/>
                    <a:pt x="5" y="148"/>
                    <a:pt x="14" y="122"/>
                  </a:cubicBezTo>
                  <a:cubicBezTo>
                    <a:pt x="23" y="96"/>
                    <a:pt x="37" y="78"/>
                    <a:pt x="57" y="60"/>
                  </a:cubicBezTo>
                  <a:cubicBezTo>
                    <a:pt x="77" y="42"/>
                    <a:pt x="102" y="24"/>
                    <a:pt x="131" y="16"/>
                  </a:cubicBezTo>
                  <a:close/>
                </a:path>
              </a:pathLst>
            </a:custGeom>
            <a:solidFill>
              <a:srgbClr val="CCCCFF"/>
            </a:solidFill>
            <a:ln w="9525">
              <a:solidFill>
                <a:schemeClr val="tx1"/>
              </a:solidFill>
              <a:round/>
              <a:headEnd/>
              <a:tailEnd/>
            </a:ln>
          </p:spPr>
          <p:txBody>
            <a:bodyPr/>
            <a:lstStyle/>
            <a:p>
              <a:endParaRPr lang="zh-CN" altLang="en-US"/>
            </a:p>
          </p:txBody>
        </p:sp>
        <p:sp>
          <p:nvSpPr>
            <p:cNvPr id="72745" name="Freeform 47" descr="软木塞"/>
            <p:cNvSpPr>
              <a:spLocks/>
            </p:cNvSpPr>
            <p:nvPr/>
          </p:nvSpPr>
          <p:spPr bwMode="auto">
            <a:xfrm>
              <a:off x="4335" y="1070"/>
              <a:ext cx="275" cy="283"/>
            </a:xfrm>
            <a:custGeom>
              <a:avLst/>
              <a:gdLst>
                <a:gd name="T0" fmla="*/ 185 w 275"/>
                <a:gd name="T1" fmla="*/ 3 h 283"/>
                <a:gd name="T2" fmla="*/ 72 w 275"/>
                <a:gd name="T3" fmla="*/ 15 h 283"/>
                <a:gd name="T4" fmla="*/ 12 w 275"/>
                <a:gd name="T5" fmla="*/ 92 h 283"/>
                <a:gd name="T6" fmla="*/ 12 w 275"/>
                <a:gd name="T7" fmla="*/ 202 h 283"/>
                <a:gd name="T8" fmla="*/ 86 w 275"/>
                <a:gd name="T9" fmla="*/ 272 h 283"/>
                <a:gd name="T10" fmla="*/ 197 w 275"/>
                <a:gd name="T11" fmla="*/ 269 h 283"/>
                <a:gd name="T12" fmla="*/ 264 w 275"/>
                <a:gd name="T13" fmla="*/ 192 h 283"/>
                <a:gd name="T14" fmla="*/ 261 w 275"/>
                <a:gd name="T15" fmla="*/ 82 h 283"/>
                <a:gd name="T16" fmla="*/ 223 w 275"/>
                <a:gd name="T17" fmla="*/ 32 h 283"/>
                <a:gd name="T18" fmla="*/ 185 w 275"/>
                <a:gd name="T19" fmla="*/ 3 h 2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5"/>
                <a:gd name="T31" fmla="*/ 0 h 283"/>
                <a:gd name="T32" fmla="*/ 275 w 275"/>
                <a:gd name="T33" fmla="*/ 283 h 28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5" h="283">
                  <a:moveTo>
                    <a:pt x="185" y="3"/>
                  </a:moveTo>
                  <a:cubicBezTo>
                    <a:pt x="160" y="0"/>
                    <a:pt x="101" y="0"/>
                    <a:pt x="72" y="15"/>
                  </a:cubicBezTo>
                  <a:cubicBezTo>
                    <a:pt x="43" y="30"/>
                    <a:pt x="22" y="61"/>
                    <a:pt x="12" y="92"/>
                  </a:cubicBezTo>
                  <a:cubicBezTo>
                    <a:pt x="2" y="123"/>
                    <a:pt x="0" y="172"/>
                    <a:pt x="12" y="202"/>
                  </a:cubicBezTo>
                  <a:cubicBezTo>
                    <a:pt x="24" y="232"/>
                    <a:pt x="55" y="261"/>
                    <a:pt x="86" y="272"/>
                  </a:cubicBezTo>
                  <a:cubicBezTo>
                    <a:pt x="117" y="283"/>
                    <a:pt x="167" y="282"/>
                    <a:pt x="197" y="269"/>
                  </a:cubicBezTo>
                  <a:cubicBezTo>
                    <a:pt x="227" y="256"/>
                    <a:pt x="253" y="223"/>
                    <a:pt x="264" y="192"/>
                  </a:cubicBezTo>
                  <a:cubicBezTo>
                    <a:pt x="275" y="161"/>
                    <a:pt x="268" y="109"/>
                    <a:pt x="261" y="82"/>
                  </a:cubicBezTo>
                  <a:cubicBezTo>
                    <a:pt x="254" y="55"/>
                    <a:pt x="236" y="45"/>
                    <a:pt x="223" y="32"/>
                  </a:cubicBezTo>
                  <a:cubicBezTo>
                    <a:pt x="210" y="19"/>
                    <a:pt x="209" y="8"/>
                    <a:pt x="185" y="3"/>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46" name="Freeform 48" descr="软木塞"/>
            <p:cNvSpPr>
              <a:spLocks/>
            </p:cNvSpPr>
            <p:nvPr/>
          </p:nvSpPr>
          <p:spPr bwMode="auto">
            <a:xfrm>
              <a:off x="4934" y="847"/>
              <a:ext cx="280" cy="277"/>
            </a:xfrm>
            <a:custGeom>
              <a:avLst/>
              <a:gdLst>
                <a:gd name="T0" fmla="*/ 6 w 280"/>
                <a:gd name="T1" fmla="*/ 125 h 277"/>
                <a:gd name="T2" fmla="*/ 39 w 280"/>
                <a:gd name="T3" fmla="*/ 41 h 277"/>
                <a:gd name="T4" fmla="*/ 138 w 280"/>
                <a:gd name="T5" fmla="*/ 0 h 277"/>
                <a:gd name="T6" fmla="*/ 229 w 280"/>
                <a:gd name="T7" fmla="*/ 41 h 277"/>
                <a:gd name="T8" fmla="*/ 277 w 280"/>
                <a:gd name="T9" fmla="*/ 120 h 277"/>
                <a:gd name="T10" fmla="*/ 246 w 280"/>
                <a:gd name="T11" fmla="*/ 235 h 277"/>
                <a:gd name="T12" fmla="*/ 138 w 280"/>
                <a:gd name="T13" fmla="*/ 274 h 277"/>
                <a:gd name="T14" fmla="*/ 54 w 280"/>
                <a:gd name="T15" fmla="*/ 255 h 277"/>
                <a:gd name="T16" fmla="*/ 8 w 280"/>
                <a:gd name="T17" fmla="*/ 185 h 277"/>
                <a:gd name="T18" fmla="*/ 6 w 280"/>
                <a:gd name="T19" fmla="*/ 125 h 2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277"/>
                <a:gd name="T32" fmla="*/ 280 w 280"/>
                <a:gd name="T33" fmla="*/ 277 h 2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277">
                  <a:moveTo>
                    <a:pt x="6" y="125"/>
                  </a:moveTo>
                  <a:cubicBezTo>
                    <a:pt x="11" y="101"/>
                    <a:pt x="17" y="62"/>
                    <a:pt x="39" y="41"/>
                  </a:cubicBezTo>
                  <a:cubicBezTo>
                    <a:pt x="61" y="20"/>
                    <a:pt x="106" y="0"/>
                    <a:pt x="138" y="0"/>
                  </a:cubicBezTo>
                  <a:cubicBezTo>
                    <a:pt x="170" y="0"/>
                    <a:pt x="206" y="21"/>
                    <a:pt x="229" y="41"/>
                  </a:cubicBezTo>
                  <a:cubicBezTo>
                    <a:pt x="252" y="61"/>
                    <a:pt x="274" y="88"/>
                    <a:pt x="277" y="120"/>
                  </a:cubicBezTo>
                  <a:cubicBezTo>
                    <a:pt x="280" y="152"/>
                    <a:pt x="269" y="209"/>
                    <a:pt x="246" y="235"/>
                  </a:cubicBezTo>
                  <a:cubicBezTo>
                    <a:pt x="223" y="261"/>
                    <a:pt x="170" y="271"/>
                    <a:pt x="138" y="274"/>
                  </a:cubicBezTo>
                  <a:cubicBezTo>
                    <a:pt x="106" y="277"/>
                    <a:pt x="76" y="270"/>
                    <a:pt x="54" y="255"/>
                  </a:cubicBezTo>
                  <a:cubicBezTo>
                    <a:pt x="32" y="240"/>
                    <a:pt x="16" y="207"/>
                    <a:pt x="8" y="185"/>
                  </a:cubicBezTo>
                  <a:cubicBezTo>
                    <a:pt x="0" y="163"/>
                    <a:pt x="1" y="149"/>
                    <a:pt x="6" y="125"/>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72747" name="Line 49"/>
            <p:cNvSpPr>
              <a:spLocks noChangeShapeType="1"/>
            </p:cNvSpPr>
            <p:nvPr/>
          </p:nvSpPr>
          <p:spPr bwMode="auto">
            <a:xfrm>
              <a:off x="4719" y="814"/>
              <a:ext cx="55" cy="2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48" name="Line 50"/>
            <p:cNvSpPr>
              <a:spLocks noChangeShapeType="1"/>
            </p:cNvSpPr>
            <p:nvPr/>
          </p:nvSpPr>
          <p:spPr bwMode="auto">
            <a:xfrm>
              <a:off x="4812" y="1142"/>
              <a:ext cx="58" cy="1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49" name="Line 51"/>
            <p:cNvSpPr>
              <a:spLocks noChangeShapeType="1"/>
            </p:cNvSpPr>
            <p:nvPr/>
          </p:nvSpPr>
          <p:spPr bwMode="auto">
            <a:xfrm>
              <a:off x="4661" y="830"/>
              <a:ext cx="65" cy="2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0" name="Line 52"/>
            <p:cNvSpPr>
              <a:spLocks noChangeShapeType="1"/>
            </p:cNvSpPr>
            <p:nvPr/>
          </p:nvSpPr>
          <p:spPr bwMode="auto">
            <a:xfrm>
              <a:off x="4769" y="1181"/>
              <a:ext cx="60" cy="2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1" name="Line 53"/>
            <p:cNvSpPr>
              <a:spLocks noChangeShapeType="1"/>
            </p:cNvSpPr>
            <p:nvPr/>
          </p:nvSpPr>
          <p:spPr bwMode="auto">
            <a:xfrm>
              <a:off x="4733" y="970"/>
              <a:ext cx="82"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2" name="Text Box 54"/>
            <p:cNvSpPr txBox="1">
              <a:spLocks noChangeArrowheads="1"/>
            </p:cNvSpPr>
            <p:nvPr/>
          </p:nvSpPr>
          <p:spPr bwMode="auto">
            <a:xfrm>
              <a:off x="3894" y="600"/>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solidFill>
                    <a:srgbClr val="000066"/>
                  </a:solidFill>
                  <a:latin typeface="幼圆" pitchFamily="49" charset="-122"/>
                  <a:ea typeface="幼圆" pitchFamily="49" charset="-122"/>
                </a:rPr>
                <a:t>自由水</a:t>
              </a:r>
            </a:p>
          </p:txBody>
        </p:sp>
        <p:sp>
          <p:nvSpPr>
            <p:cNvPr id="72753" name="Line 55"/>
            <p:cNvSpPr>
              <a:spLocks noChangeShapeType="1"/>
            </p:cNvSpPr>
            <p:nvPr/>
          </p:nvSpPr>
          <p:spPr bwMode="auto">
            <a:xfrm>
              <a:off x="4419" y="763"/>
              <a:ext cx="22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69"/>
          <p:cNvGrpSpPr>
            <a:grpSpLocks/>
          </p:cNvGrpSpPr>
          <p:nvPr/>
        </p:nvGrpSpPr>
        <p:grpSpPr bwMode="auto">
          <a:xfrm>
            <a:off x="165100" y="1117628"/>
            <a:ext cx="1646238" cy="2544777"/>
            <a:chOff x="172" y="704"/>
            <a:chExt cx="1037" cy="1603"/>
          </a:xfrm>
        </p:grpSpPr>
        <p:sp>
          <p:nvSpPr>
            <p:cNvPr id="72734" name="Text Box 71"/>
            <p:cNvSpPr txBox="1">
              <a:spLocks noChangeArrowheads="1"/>
            </p:cNvSpPr>
            <p:nvPr/>
          </p:nvSpPr>
          <p:spPr bwMode="auto">
            <a:xfrm>
              <a:off x="375" y="1782"/>
              <a:ext cx="7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rPr>
                <a:t>稠度状态</a:t>
              </a:r>
              <a:endParaRPr kumimoji="1" lang="zh-CN" altLang="en-US" sz="2000" b="1" dirty="0">
                <a:solidFill>
                  <a:srgbClr val="000066"/>
                </a:solidFill>
                <a:latin typeface="幼圆" pitchFamily="49" charset="-122"/>
                <a:ea typeface="幼圆" pitchFamily="49" charset="-122"/>
                <a:sym typeface="Symbol" pitchFamily="18" charset="2"/>
              </a:endParaRPr>
            </a:p>
          </p:txBody>
        </p:sp>
        <p:sp>
          <p:nvSpPr>
            <p:cNvPr id="72735" name="Text Box 72"/>
            <p:cNvSpPr txBox="1">
              <a:spLocks noChangeArrowheads="1"/>
            </p:cNvSpPr>
            <p:nvPr/>
          </p:nvSpPr>
          <p:spPr bwMode="auto">
            <a:xfrm>
              <a:off x="468" y="2113"/>
              <a:ext cx="63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smtClean="0">
                  <a:solidFill>
                    <a:srgbClr val="000066"/>
                  </a:solidFill>
                  <a:latin typeface="幼圆" pitchFamily="49" charset="-122"/>
                  <a:ea typeface="幼圆" pitchFamily="49" charset="-122"/>
                </a:rPr>
                <a:t>含水量</a:t>
              </a:r>
              <a:r>
                <a:rPr kumimoji="1" lang="en-US" altLang="zh-CN" sz="2000" b="1" i="1" dirty="0" smtClean="0">
                  <a:solidFill>
                    <a:srgbClr val="000066"/>
                  </a:solidFill>
                  <a:ea typeface="幼圆" pitchFamily="49" charset="-122"/>
                  <a:cs typeface="Times New Roman" panose="02020603050405020304" pitchFamily="18" charset="0"/>
                </a:rPr>
                <a:t>w</a:t>
              </a:r>
              <a:endParaRPr kumimoji="1" lang="zh-CN" altLang="en-US" sz="2000" b="1" i="1" dirty="0">
                <a:solidFill>
                  <a:srgbClr val="000066"/>
                </a:solidFill>
                <a:ea typeface="幼圆" pitchFamily="49" charset="-122"/>
                <a:cs typeface="Times New Roman" panose="02020603050405020304" pitchFamily="18" charset="0"/>
              </a:endParaRPr>
            </a:p>
          </p:txBody>
        </p:sp>
        <p:sp>
          <p:nvSpPr>
            <p:cNvPr id="72736" name="Text Box 73"/>
            <p:cNvSpPr txBox="1">
              <a:spLocks noChangeArrowheads="1"/>
            </p:cNvSpPr>
            <p:nvPr/>
          </p:nvSpPr>
          <p:spPr bwMode="auto">
            <a:xfrm>
              <a:off x="172" y="1490"/>
              <a:ext cx="93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sym typeface="Symbol" pitchFamily="18" charset="2"/>
                </a:rPr>
                <a:t>土中</a:t>
              </a:r>
              <a:r>
                <a:rPr kumimoji="1" lang="zh-CN" altLang="en-US" sz="2000" b="1" dirty="0" smtClean="0">
                  <a:solidFill>
                    <a:srgbClr val="000066"/>
                  </a:solidFill>
                  <a:latin typeface="幼圆" pitchFamily="49" charset="-122"/>
                  <a:ea typeface="幼圆" pitchFamily="49" charset="-122"/>
                  <a:sym typeface="Symbol" pitchFamily="18" charset="2"/>
                </a:rPr>
                <a:t>水形态</a:t>
              </a:r>
              <a:endParaRPr kumimoji="1" lang="en-US" altLang="zh-CN" sz="2000" b="1" dirty="0">
                <a:solidFill>
                  <a:srgbClr val="000066"/>
                </a:solidFill>
                <a:latin typeface="幼圆" pitchFamily="49" charset="-122"/>
                <a:ea typeface="幼圆" pitchFamily="49" charset="-122"/>
                <a:sym typeface="Symbol" pitchFamily="18" charset="2"/>
              </a:endParaRPr>
            </a:p>
          </p:txBody>
        </p:sp>
        <p:sp>
          <p:nvSpPr>
            <p:cNvPr id="72737" name="Text Box 74"/>
            <p:cNvSpPr txBox="1">
              <a:spLocks noChangeArrowheads="1"/>
            </p:cNvSpPr>
            <p:nvPr/>
          </p:nvSpPr>
          <p:spPr bwMode="auto">
            <a:xfrm>
              <a:off x="374" y="704"/>
              <a:ext cx="83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dirty="0" smtClean="0">
                  <a:solidFill>
                    <a:srgbClr val="000066"/>
                  </a:solidFill>
                  <a:latin typeface="幼圆" pitchFamily="49" charset="-122"/>
                  <a:ea typeface="幼圆" pitchFamily="49" charset="-122"/>
                </a:rPr>
                <a:t>土中水形态示意图</a:t>
              </a:r>
              <a:endParaRPr lang="zh-CN" altLang="en-US" sz="2000" b="1" dirty="0">
                <a:solidFill>
                  <a:srgbClr val="000066"/>
                </a:solidFill>
                <a:latin typeface="幼圆" pitchFamily="49" charset="-122"/>
                <a:ea typeface="幼圆" pitchFamily="49" charset="-122"/>
              </a:endParaRPr>
            </a:p>
          </p:txBody>
        </p:sp>
      </p:grpSp>
      <p:sp>
        <p:nvSpPr>
          <p:cNvPr id="73"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pSp>
        <p:nvGrpSpPr>
          <p:cNvPr id="5" name="组合 4"/>
          <p:cNvGrpSpPr/>
          <p:nvPr/>
        </p:nvGrpSpPr>
        <p:grpSpPr>
          <a:xfrm>
            <a:off x="1990664" y="3390747"/>
            <a:ext cx="6404036" cy="317650"/>
            <a:chOff x="1990664" y="3619350"/>
            <a:chExt cx="6404036" cy="317650"/>
          </a:xfrm>
        </p:grpSpPr>
        <p:sp>
          <p:nvSpPr>
            <p:cNvPr id="77" name="矩形 76"/>
            <p:cNvSpPr/>
            <p:nvPr/>
          </p:nvSpPr>
          <p:spPr>
            <a:xfrm rot="5400000">
              <a:off x="5008457" y="601557"/>
              <a:ext cx="317650" cy="6353235"/>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 Box 21"/>
            <p:cNvSpPr txBox="1">
              <a:spLocks noChangeArrowheads="1"/>
            </p:cNvSpPr>
            <p:nvPr/>
          </p:nvSpPr>
          <p:spPr bwMode="auto">
            <a:xfrm>
              <a:off x="2021666" y="3625850"/>
              <a:ext cx="637303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dirty="0" smtClean="0">
                  <a:solidFill>
                    <a:srgbClr val="000066"/>
                  </a:solidFill>
                  <a:latin typeface="Arial" charset="0"/>
                  <a:ea typeface="幼圆" pitchFamily="49" charset="-122"/>
                </a:rPr>
                <a:t>低                                                                                            高</a:t>
              </a:r>
              <a:endParaRPr kumimoji="1" lang="zh-CN" altLang="en-US" sz="1800" b="1" dirty="0">
                <a:solidFill>
                  <a:srgbClr val="000066"/>
                </a:solidFill>
                <a:latin typeface="Arial" charset="0"/>
                <a:ea typeface="幼圆" pitchFamily="49" charset="-122"/>
              </a:endParaRPr>
            </a:p>
          </p:txBody>
        </p:sp>
      </p:grpSp>
      <p:sp>
        <p:nvSpPr>
          <p:cNvPr id="1408006" name="Rectangle 6"/>
          <p:cNvSpPr>
            <a:spLocks noChangeArrowheads="1"/>
          </p:cNvSpPr>
          <p:nvPr/>
        </p:nvSpPr>
        <p:spPr bwMode="auto">
          <a:xfrm>
            <a:off x="3507072" y="3812584"/>
            <a:ext cx="1122423" cy="461665"/>
          </a:xfrm>
          <a:prstGeom prst="rect">
            <a:avLst/>
          </a:prstGeom>
          <a:solidFill>
            <a:srgbClr val="FFFF99"/>
          </a:solidFill>
          <a:ln>
            <a:noFill/>
          </a:ln>
          <a:extLst/>
        </p:spPr>
        <p:txBody>
          <a:bodyPr wrap="none">
            <a:spAutoFit/>
          </a:bodyPr>
          <a:lstStyle/>
          <a:p>
            <a:pPr algn="ctr">
              <a:lnSpc>
                <a:spcPct val="100000"/>
              </a:lnSpc>
              <a:spcBef>
                <a:spcPct val="0"/>
              </a:spcBef>
              <a:spcAft>
                <a:spcPct val="0"/>
              </a:spcAft>
            </a:pPr>
            <a:r>
              <a:rPr kumimoji="1" lang="zh-CN" altLang="en-US" sz="2400" b="1" dirty="0">
                <a:solidFill>
                  <a:srgbClr val="C00000"/>
                </a:solidFill>
                <a:ea typeface="幼圆" pitchFamily="49" charset="-122"/>
                <a:cs typeface="Times New Roman" panose="02020603050405020304" pitchFamily="18" charset="0"/>
              </a:rPr>
              <a:t>塑限</a:t>
            </a:r>
            <a:r>
              <a:rPr kumimoji="1" lang="en-US" altLang="zh-CN" sz="2400" b="1" i="1" dirty="0" err="1">
                <a:solidFill>
                  <a:srgbClr val="C00000"/>
                </a:solidFill>
                <a:ea typeface="幼圆" pitchFamily="49" charset="-122"/>
                <a:cs typeface="Times New Roman" panose="02020603050405020304" pitchFamily="18" charset="0"/>
              </a:rPr>
              <a:t>w</a:t>
            </a:r>
            <a:r>
              <a:rPr kumimoji="1" lang="en-US" altLang="zh-CN" sz="2400" b="1" baseline="-25000" dirty="0" err="1">
                <a:solidFill>
                  <a:srgbClr val="C00000"/>
                </a:solidFill>
                <a:ea typeface="幼圆" pitchFamily="49" charset="-122"/>
                <a:cs typeface="Times New Roman" panose="02020603050405020304" pitchFamily="18" charset="0"/>
              </a:rPr>
              <a:t>p</a:t>
            </a:r>
            <a:endParaRPr kumimoji="1" lang="zh-CN" altLang="en-US" sz="2400" b="1" dirty="0">
              <a:solidFill>
                <a:srgbClr val="C00000"/>
              </a:solidFill>
              <a:ea typeface="幼圆" pitchFamily="49" charset="-122"/>
              <a:cs typeface="Times New Roman" panose="02020603050405020304" pitchFamily="18" charset="0"/>
            </a:endParaRPr>
          </a:p>
        </p:txBody>
      </p:sp>
      <p:cxnSp>
        <p:nvCxnSpPr>
          <p:cNvPr id="16" name="直接箭头连接符 15"/>
          <p:cNvCxnSpPr/>
          <p:nvPr/>
        </p:nvCxnSpPr>
        <p:spPr>
          <a:xfrm flipV="1">
            <a:off x="4038870" y="3384059"/>
            <a:ext cx="0" cy="409538"/>
          </a:xfrm>
          <a:prstGeom prst="straightConnector1">
            <a:avLst/>
          </a:prstGeom>
          <a:ln w="19050">
            <a:solidFill>
              <a:srgbClr val="C0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0" name="Text Box 9"/>
          <p:cNvSpPr txBox="1">
            <a:spLocks noChangeArrowheads="1"/>
          </p:cNvSpPr>
          <p:nvPr/>
        </p:nvSpPr>
        <p:spPr bwMode="auto">
          <a:xfrm>
            <a:off x="965200" y="4218580"/>
            <a:ext cx="7874000" cy="141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30000"/>
              </a:lnSpc>
              <a:buClr>
                <a:srgbClr val="C00000"/>
              </a:buClr>
              <a:buSzPct val="130000"/>
              <a:buFont typeface="Wingdings" panose="05000000000000000000" pitchFamily="2" charset="2"/>
              <a:buChar char="F"/>
            </a:pPr>
            <a:r>
              <a:rPr kumimoji="1" lang="zh-CN" altLang="en-US" sz="2200" b="1" dirty="0" smtClean="0">
                <a:solidFill>
                  <a:srgbClr val="C00000"/>
                </a:solidFill>
                <a:ea typeface="幼圆" pitchFamily="49" charset="-122"/>
              </a:rPr>
              <a:t>塑性</a:t>
            </a:r>
            <a:r>
              <a:rPr kumimoji="1" lang="zh-CN" altLang="en-US" sz="2200" b="1" dirty="0">
                <a:solidFill>
                  <a:srgbClr val="C00000"/>
                </a:solidFill>
                <a:ea typeface="幼圆" pitchFamily="49" charset="-122"/>
              </a:rPr>
              <a:t>界限</a:t>
            </a:r>
            <a:r>
              <a:rPr kumimoji="1" lang="en-US" altLang="zh-CN" sz="2200" b="1" i="1" dirty="0" err="1" smtClean="0">
                <a:solidFill>
                  <a:srgbClr val="C00000"/>
                </a:solidFill>
                <a:ea typeface="幼圆" pitchFamily="49" charset="-122"/>
              </a:rPr>
              <a:t>w</a:t>
            </a:r>
            <a:r>
              <a:rPr kumimoji="1" lang="en-US" altLang="zh-CN" sz="2200" b="1" baseline="-25000" dirty="0" err="1" smtClean="0">
                <a:solidFill>
                  <a:srgbClr val="C00000"/>
                </a:solidFill>
                <a:ea typeface="幼圆" pitchFamily="49" charset="-122"/>
              </a:rPr>
              <a:t>p</a:t>
            </a:r>
            <a:r>
              <a:rPr kumimoji="1" lang="zh-CN" altLang="en-US" sz="2200" b="1" dirty="0">
                <a:solidFill>
                  <a:srgbClr val="000066"/>
                </a:solidFill>
                <a:ea typeface="幼圆" pitchFamily="49" charset="-122"/>
              </a:rPr>
              <a:t>：亦即塑限含水量，简称</a:t>
            </a:r>
            <a:r>
              <a:rPr kumimoji="1" lang="zh-CN" altLang="en-US" sz="2200" b="1" dirty="0">
                <a:solidFill>
                  <a:srgbClr val="C00000"/>
                </a:solidFill>
                <a:ea typeface="幼圆" pitchFamily="49" charset="-122"/>
              </a:rPr>
              <a:t>塑限</a:t>
            </a:r>
            <a:r>
              <a:rPr kumimoji="1" lang="zh-CN" altLang="en-US" sz="2200" b="1" dirty="0">
                <a:solidFill>
                  <a:srgbClr val="000066"/>
                </a:solidFill>
                <a:ea typeface="幼圆" pitchFamily="49" charset="-122"/>
              </a:rPr>
              <a:t>，相当于土从半固体状态转变为塑性状态时的含水量。这时，土中水的形态大约是强结合水含量的上限</a:t>
            </a:r>
            <a:r>
              <a:rPr kumimoji="1" lang="zh-CN" altLang="en-US" sz="2200" b="1" dirty="0" smtClean="0">
                <a:solidFill>
                  <a:srgbClr val="000066"/>
                </a:solidFill>
                <a:ea typeface="幼圆" pitchFamily="49" charset="-122"/>
              </a:rPr>
              <a:t>。</a:t>
            </a:r>
            <a:endParaRPr kumimoji="1" lang="zh-CN" altLang="en-US" sz="2200" b="1" dirty="0">
              <a:solidFill>
                <a:srgbClr val="000066"/>
              </a:solidFill>
              <a:ea typeface="幼圆" pitchFamily="49" charset="-122"/>
            </a:endParaRPr>
          </a:p>
        </p:txBody>
      </p:sp>
      <p:sp>
        <p:nvSpPr>
          <p:cNvPr id="68" name="Text Box 25"/>
          <p:cNvSpPr txBox="1">
            <a:spLocks noChangeArrowheads="1"/>
          </p:cNvSpPr>
          <p:nvPr/>
        </p:nvSpPr>
        <p:spPr bwMode="auto">
          <a:xfrm>
            <a:off x="3172757" y="5754688"/>
            <a:ext cx="37953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smtClean="0">
                <a:solidFill>
                  <a:srgbClr val="000066"/>
                </a:solidFill>
                <a:ea typeface="黑体" pitchFamily="2" charset="-122"/>
              </a:rPr>
              <a:t>稠度界限</a:t>
            </a:r>
            <a:r>
              <a:rPr lang="en-US" altLang="zh-CN" sz="4000" b="1" dirty="0" smtClean="0">
                <a:solidFill>
                  <a:srgbClr val="000066"/>
                </a:solidFill>
                <a:ea typeface="黑体" pitchFamily="2" charset="-122"/>
              </a:rPr>
              <a:t>-</a:t>
            </a:r>
            <a:r>
              <a:rPr lang="zh-CN" altLang="en-US" sz="4000" b="1" dirty="0" smtClean="0">
                <a:solidFill>
                  <a:srgbClr val="000066"/>
                </a:solidFill>
                <a:ea typeface="黑体" pitchFamily="2" charset="-122"/>
              </a:rPr>
              <a:t>塑限</a:t>
            </a:r>
            <a:endParaRPr lang="en-US" altLang="zh-CN" sz="4000" b="1" dirty="0">
              <a:solidFill>
                <a:srgbClr val="000066"/>
              </a:solidFill>
              <a:ea typeface="黑体" pitchFamily="2" charset="-122"/>
            </a:endParaRPr>
          </a:p>
        </p:txBody>
      </p:sp>
    </p:spTree>
    <p:extLst>
      <p:ext uri="{BB962C8B-B14F-4D97-AF65-F5344CB8AC3E}">
        <p14:creationId xmlns:p14="http://schemas.microsoft.com/office/powerpoint/2010/main" val="30409017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2000"/>
                                        <p:tgtEl>
                                          <p:spTgt spid="16"/>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1408006"/>
                                        </p:tgtEl>
                                        <p:attrNameLst>
                                          <p:attrName>style.visibility</p:attrName>
                                        </p:attrNameLst>
                                      </p:cBhvr>
                                      <p:to>
                                        <p:strVal val="visible"/>
                                      </p:to>
                                    </p:se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80"/>
                                        </p:tgtEl>
                                        <p:attrNameLst>
                                          <p:attrName>style.visibility</p:attrName>
                                        </p:attrNameLst>
                                      </p:cBhvr>
                                      <p:to>
                                        <p:strVal val="visible"/>
                                      </p:to>
                                    </p:set>
                                    <p:animEffect transition="in" filter="wipe(left)">
                                      <p:cBhvr>
                                        <p:cTn id="14"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8006" grpId="0" animBg="1"/>
      <p:bldP spid="8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007" name="Rectangle 7"/>
          <p:cNvSpPr>
            <a:spLocks noChangeArrowheads="1"/>
          </p:cNvSpPr>
          <p:nvPr/>
        </p:nvSpPr>
        <p:spPr bwMode="auto">
          <a:xfrm>
            <a:off x="5848212" y="3793067"/>
            <a:ext cx="1144865" cy="461665"/>
          </a:xfrm>
          <a:prstGeom prst="rect">
            <a:avLst/>
          </a:prstGeom>
          <a:solidFill>
            <a:srgbClr val="FFFF00"/>
          </a:solidFill>
          <a:ln>
            <a:noFill/>
          </a:ln>
          <a:extLst/>
        </p:spPr>
        <p:txBody>
          <a:bodyPr wrap="none">
            <a:spAutoFit/>
          </a:bodyPr>
          <a:lstStyle/>
          <a:p>
            <a:pPr algn="ctr">
              <a:lnSpc>
                <a:spcPct val="100000"/>
              </a:lnSpc>
              <a:spcBef>
                <a:spcPct val="0"/>
              </a:spcBef>
              <a:spcAft>
                <a:spcPct val="0"/>
              </a:spcAft>
            </a:pPr>
            <a:r>
              <a:rPr kumimoji="1" lang="zh-CN" altLang="en-US" sz="2400" b="1" dirty="0">
                <a:solidFill>
                  <a:srgbClr val="C00000"/>
                </a:solidFill>
                <a:latin typeface="幼圆" pitchFamily="49" charset="-122"/>
                <a:ea typeface="幼圆" pitchFamily="49" charset="-122"/>
              </a:rPr>
              <a:t>液限</a:t>
            </a:r>
            <a:r>
              <a:rPr kumimoji="1" lang="en-US" altLang="zh-CN" sz="2400" b="1" i="1" dirty="0" err="1" smtClean="0">
                <a:solidFill>
                  <a:srgbClr val="C00000"/>
                </a:solidFill>
                <a:ea typeface="幼圆" pitchFamily="49" charset="-122"/>
                <a:cs typeface="Times New Roman" panose="02020603050405020304" pitchFamily="18" charset="0"/>
              </a:rPr>
              <a:t>w</a:t>
            </a:r>
            <a:r>
              <a:rPr kumimoji="1" lang="en-US" altLang="zh-CN" sz="2400" b="1" baseline="-25000" dirty="0" err="1" smtClean="0">
                <a:solidFill>
                  <a:srgbClr val="C00000"/>
                </a:solidFill>
                <a:ea typeface="幼圆" pitchFamily="49" charset="-122"/>
                <a:cs typeface="Times New Roman" panose="02020603050405020304" pitchFamily="18" charset="0"/>
              </a:rPr>
              <a:t>L</a:t>
            </a:r>
            <a:endParaRPr kumimoji="1" lang="zh-CN" altLang="en-US" sz="2400" b="1" baseline="-25000" dirty="0">
              <a:solidFill>
                <a:srgbClr val="C00000"/>
              </a:solidFill>
              <a:ea typeface="幼圆" pitchFamily="49" charset="-122"/>
              <a:cs typeface="Times New Roman" panose="02020603050405020304" pitchFamily="18" charset="0"/>
            </a:endParaRPr>
          </a:p>
        </p:txBody>
      </p:sp>
      <p:sp>
        <p:nvSpPr>
          <p:cNvPr id="73"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80" name="Text Box 9"/>
          <p:cNvSpPr txBox="1">
            <a:spLocks noChangeArrowheads="1"/>
          </p:cNvSpPr>
          <p:nvPr/>
        </p:nvSpPr>
        <p:spPr bwMode="auto">
          <a:xfrm>
            <a:off x="948267" y="4210114"/>
            <a:ext cx="7890933" cy="141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30000"/>
              </a:lnSpc>
              <a:buClr>
                <a:srgbClr val="C00000"/>
              </a:buClr>
              <a:buSzPct val="130000"/>
              <a:buFont typeface="Wingdings" panose="05000000000000000000" pitchFamily="2" charset="2"/>
              <a:buChar char="F"/>
            </a:pPr>
            <a:r>
              <a:rPr kumimoji="1" lang="zh-CN" altLang="en-US" sz="2200" b="1" dirty="0" smtClean="0">
                <a:solidFill>
                  <a:srgbClr val="C00000"/>
                </a:solidFill>
                <a:ea typeface="幼圆" pitchFamily="49" charset="-122"/>
              </a:rPr>
              <a:t>液性</a:t>
            </a:r>
            <a:r>
              <a:rPr kumimoji="1" lang="zh-CN" altLang="en-US" sz="2200" b="1" dirty="0">
                <a:solidFill>
                  <a:srgbClr val="C00000"/>
                </a:solidFill>
                <a:ea typeface="幼圆" pitchFamily="49" charset="-122"/>
              </a:rPr>
              <a:t>界限</a:t>
            </a:r>
            <a:r>
              <a:rPr kumimoji="1" lang="en-US" altLang="zh-CN" sz="2200" b="1" i="1" dirty="0" err="1" smtClean="0">
                <a:solidFill>
                  <a:srgbClr val="C00000"/>
                </a:solidFill>
                <a:ea typeface="幼圆" pitchFamily="49" charset="-122"/>
              </a:rPr>
              <a:t>w</a:t>
            </a:r>
            <a:r>
              <a:rPr kumimoji="1" lang="en-US" altLang="zh-CN" sz="2200" b="1" baseline="-25000" dirty="0" err="1" smtClean="0">
                <a:solidFill>
                  <a:srgbClr val="C00000"/>
                </a:solidFill>
                <a:ea typeface="幼圆" pitchFamily="49" charset="-122"/>
              </a:rPr>
              <a:t>L</a:t>
            </a:r>
            <a:r>
              <a:rPr kumimoji="1" lang="zh-CN" altLang="en-US" sz="2200" b="1" dirty="0">
                <a:solidFill>
                  <a:srgbClr val="000066"/>
                </a:solidFill>
                <a:ea typeface="幼圆" pitchFamily="49" charset="-122"/>
              </a:rPr>
              <a:t>：亦即液限含水量，简称</a:t>
            </a:r>
            <a:r>
              <a:rPr kumimoji="1" lang="zh-CN" altLang="en-US" sz="2200" b="1" dirty="0">
                <a:solidFill>
                  <a:srgbClr val="C00000"/>
                </a:solidFill>
                <a:ea typeface="幼圆" pitchFamily="49" charset="-122"/>
              </a:rPr>
              <a:t>液限</a:t>
            </a:r>
            <a:r>
              <a:rPr kumimoji="1" lang="zh-CN" altLang="en-US" sz="2200" b="1" dirty="0">
                <a:solidFill>
                  <a:srgbClr val="000066"/>
                </a:solidFill>
                <a:ea typeface="幼圆" pitchFamily="49" charset="-122"/>
              </a:rPr>
              <a:t>。相当于土从塑性状态转变为液性状态时的含水量。这时，土中水的形态除结合水外，已有一定数量的自由水。</a:t>
            </a:r>
          </a:p>
        </p:txBody>
      </p:sp>
      <p:sp>
        <p:nvSpPr>
          <p:cNvPr id="81" name="Text Box 25"/>
          <p:cNvSpPr txBox="1">
            <a:spLocks noChangeArrowheads="1"/>
          </p:cNvSpPr>
          <p:nvPr/>
        </p:nvSpPr>
        <p:spPr bwMode="auto">
          <a:xfrm>
            <a:off x="3172757" y="5754688"/>
            <a:ext cx="37953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smtClean="0">
                <a:solidFill>
                  <a:srgbClr val="000066"/>
                </a:solidFill>
                <a:ea typeface="黑体" pitchFamily="2" charset="-122"/>
              </a:rPr>
              <a:t>稠度界限</a:t>
            </a:r>
            <a:r>
              <a:rPr lang="en-US" altLang="zh-CN" sz="4000" b="1" dirty="0" smtClean="0">
                <a:solidFill>
                  <a:srgbClr val="000066"/>
                </a:solidFill>
                <a:ea typeface="黑体" pitchFamily="2" charset="-122"/>
              </a:rPr>
              <a:t>-</a:t>
            </a:r>
            <a:r>
              <a:rPr lang="zh-CN" altLang="en-US" sz="4000" b="1" dirty="0" smtClean="0">
                <a:solidFill>
                  <a:srgbClr val="000066"/>
                </a:solidFill>
                <a:ea typeface="黑体" pitchFamily="2" charset="-122"/>
              </a:rPr>
              <a:t>液限</a:t>
            </a:r>
            <a:endParaRPr lang="en-US" altLang="zh-CN" sz="4000" b="1" dirty="0">
              <a:solidFill>
                <a:srgbClr val="000066"/>
              </a:solidFill>
              <a:ea typeface="黑体" pitchFamily="2" charset="-122"/>
            </a:endParaRPr>
          </a:p>
        </p:txBody>
      </p:sp>
      <p:sp>
        <p:nvSpPr>
          <p:cNvPr id="82" name="矩形 81"/>
          <p:cNvSpPr/>
          <p:nvPr/>
        </p:nvSpPr>
        <p:spPr>
          <a:xfrm rot="5400000">
            <a:off x="2372160" y="3017685"/>
            <a:ext cx="308275" cy="1068804"/>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rot="5400000">
            <a:off x="6899092" y="2439075"/>
            <a:ext cx="308275" cy="2225739"/>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rot="5400000">
            <a:off x="4291668" y="2003988"/>
            <a:ext cx="308275" cy="3097188"/>
          </a:xfrm>
          <a:prstGeom prst="rect">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Rectangle 5"/>
          <p:cNvSpPr>
            <a:spLocks noChangeArrowheads="1"/>
          </p:cNvSpPr>
          <p:nvPr/>
        </p:nvSpPr>
        <p:spPr bwMode="auto">
          <a:xfrm>
            <a:off x="1905000" y="702731"/>
            <a:ext cx="6970713" cy="1566334"/>
          </a:xfrm>
          <a:prstGeom prst="rect">
            <a:avLst/>
          </a:prstGeom>
          <a:solidFill>
            <a:srgbClr val="FFFF99"/>
          </a:solidFill>
          <a:ln>
            <a:noFill/>
          </a:ln>
        </p:spPr>
        <p:txBody>
          <a:bodyPr wrap="none" anchor="ctr"/>
          <a:lstStyle/>
          <a:p>
            <a:endParaRPr lang="zh-CN" altLang="en-US"/>
          </a:p>
        </p:txBody>
      </p:sp>
      <p:sp>
        <p:nvSpPr>
          <p:cNvPr id="86" name="Rectangle 9"/>
          <p:cNvSpPr>
            <a:spLocks noChangeArrowheads="1"/>
          </p:cNvSpPr>
          <p:nvPr/>
        </p:nvSpPr>
        <p:spPr bwMode="auto">
          <a:xfrm>
            <a:off x="2049463" y="2811283"/>
            <a:ext cx="1784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sym typeface="Symbol" pitchFamily="18" charset="2"/>
              </a:rPr>
              <a:t>固态或</a:t>
            </a:r>
            <a:r>
              <a:rPr kumimoji="1" lang="zh-CN" altLang="en-US" sz="2000" b="1" dirty="0">
                <a:solidFill>
                  <a:srgbClr val="000066"/>
                </a:solidFill>
                <a:latin typeface="幼圆" pitchFamily="49" charset="-122"/>
                <a:ea typeface="幼圆" pitchFamily="49" charset="-122"/>
              </a:rPr>
              <a:t>半固态</a:t>
            </a:r>
          </a:p>
        </p:txBody>
      </p:sp>
      <p:sp>
        <p:nvSpPr>
          <p:cNvPr id="87" name="Rectangle 10"/>
          <p:cNvSpPr>
            <a:spLocks noChangeArrowheads="1"/>
          </p:cNvSpPr>
          <p:nvPr/>
        </p:nvSpPr>
        <p:spPr bwMode="auto">
          <a:xfrm>
            <a:off x="4448189" y="2803292"/>
            <a:ext cx="1223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rPr>
              <a:t>可塑状态     </a:t>
            </a:r>
          </a:p>
        </p:txBody>
      </p:sp>
      <p:sp>
        <p:nvSpPr>
          <p:cNvPr id="88" name="Rectangle 11"/>
          <p:cNvSpPr>
            <a:spLocks noChangeArrowheads="1"/>
          </p:cNvSpPr>
          <p:nvPr/>
        </p:nvSpPr>
        <p:spPr bwMode="auto">
          <a:xfrm>
            <a:off x="6916738" y="2806453"/>
            <a:ext cx="1336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rPr>
              <a:t>流动状态  </a:t>
            </a:r>
          </a:p>
        </p:txBody>
      </p:sp>
      <p:sp>
        <p:nvSpPr>
          <p:cNvPr id="90" name="Rectangle 12"/>
          <p:cNvSpPr>
            <a:spLocks noChangeArrowheads="1"/>
          </p:cNvSpPr>
          <p:nvPr/>
        </p:nvSpPr>
        <p:spPr bwMode="auto">
          <a:xfrm>
            <a:off x="2308225" y="2331745"/>
            <a:ext cx="1296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spcBef>
                <a:spcPct val="50000"/>
              </a:spcBef>
              <a:spcAft>
                <a:spcPct val="0"/>
              </a:spcAft>
            </a:pPr>
            <a:r>
              <a:rPr kumimoji="1" lang="zh-CN" altLang="en-US" sz="2000" b="1" dirty="0">
                <a:solidFill>
                  <a:srgbClr val="000066"/>
                </a:solidFill>
                <a:latin typeface="幼圆" pitchFamily="49" charset="-122"/>
                <a:ea typeface="幼圆" pitchFamily="49" charset="-122"/>
                <a:sym typeface="Symbol" pitchFamily="18" charset="2"/>
              </a:rPr>
              <a:t>强结合水</a:t>
            </a:r>
          </a:p>
        </p:txBody>
      </p:sp>
      <p:sp>
        <p:nvSpPr>
          <p:cNvPr id="91" name="Rectangle 13"/>
          <p:cNvSpPr>
            <a:spLocks noChangeArrowheads="1"/>
          </p:cNvSpPr>
          <p:nvPr/>
        </p:nvSpPr>
        <p:spPr bwMode="auto">
          <a:xfrm>
            <a:off x="4467225" y="2331745"/>
            <a:ext cx="1223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spcBef>
                <a:spcPct val="50000"/>
              </a:spcBef>
              <a:spcAft>
                <a:spcPct val="0"/>
              </a:spcAft>
            </a:pPr>
            <a:r>
              <a:rPr kumimoji="1" lang="zh-CN" altLang="en-US" sz="2000" b="1" dirty="0">
                <a:solidFill>
                  <a:srgbClr val="000066"/>
                </a:solidFill>
                <a:latin typeface="幼圆" pitchFamily="49" charset="-122"/>
                <a:ea typeface="幼圆" pitchFamily="49" charset="-122"/>
              </a:rPr>
              <a:t>弱结合水</a:t>
            </a:r>
            <a:endParaRPr kumimoji="1" lang="zh-CN" altLang="en-US" sz="2000" b="1" dirty="0">
              <a:solidFill>
                <a:srgbClr val="000066"/>
              </a:solidFill>
              <a:latin typeface="幼圆" pitchFamily="49" charset="-122"/>
              <a:ea typeface="幼圆" pitchFamily="49" charset="-122"/>
              <a:sym typeface="Symbol" pitchFamily="18" charset="2"/>
            </a:endParaRPr>
          </a:p>
        </p:txBody>
      </p:sp>
      <p:sp>
        <p:nvSpPr>
          <p:cNvPr id="92" name="Rectangle 14"/>
          <p:cNvSpPr>
            <a:spLocks noChangeArrowheads="1"/>
          </p:cNvSpPr>
          <p:nvPr/>
        </p:nvSpPr>
        <p:spPr bwMode="auto">
          <a:xfrm>
            <a:off x="7092950" y="2347647"/>
            <a:ext cx="1081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spcBef>
                <a:spcPct val="50000"/>
              </a:spcBef>
              <a:spcAft>
                <a:spcPct val="0"/>
              </a:spcAft>
            </a:pPr>
            <a:r>
              <a:rPr kumimoji="1" lang="zh-CN" altLang="en-US" sz="2000" b="1" dirty="0">
                <a:solidFill>
                  <a:srgbClr val="000066"/>
                </a:solidFill>
                <a:latin typeface="幼圆" pitchFamily="49" charset="-122"/>
                <a:ea typeface="幼圆" pitchFamily="49" charset="-122"/>
              </a:rPr>
              <a:t>自由水</a:t>
            </a:r>
            <a:endParaRPr kumimoji="1" lang="zh-CN" altLang="en-US" sz="2000" b="1" dirty="0">
              <a:solidFill>
                <a:srgbClr val="000066"/>
              </a:solidFill>
              <a:latin typeface="幼圆" pitchFamily="49" charset="-122"/>
              <a:ea typeface="幼圆" pitchFamily="49" charset="-122"/>
              <a:sym typeface="Symbol" pitchFamily="18" charset="2"/>
            </a:endParaRPr>
          </a:p>
        </p:txBody>
      </p:sp>
      <p:grpSp>
        <p:nvGrpSpPr>
          <p:cNvPr id="93" name="Group 19"/>
          <p:cNvGrpSpPr>
            <a:grpSpLocks/>
          </p:cNvGrpSpPr>
          <p:nvPr/>
        </p:nvGrpSpPr>
        <p:grpSpPr bwMode="auto">
          <a:xfrm>
            <a:off x="2043113" y="765173"/>
            <a:ext cx="1868487" cy="1225550"/>
            <a:chOff x="1287" y="514"/>
            <a:chExt cx="1167" cy="772"/>
          </a:xfrm>
        </p:grpSpPr>
        <p:sp>
          <p:nvSpPr>
            <p:cNvPr id="94" name="Freeform 20"/>
            <p:cNvSpPr>
              <a:spLocks/>
            </p:cNvSpPr>
            <p:nvPr/>
          </p:nvSpPr>
          <p:spPr bwMode="auto">
            <a:xfrm>
              <a:off x="1356" y="861"/>
              <a:ext cx="791" cy="425"/>
            </a:xfrm>
            <a:custGeom>
              <a:avLst/>
              <a:gdLst>
                <a:gd name="T0" fmla="*/ 404 w 791"/>
                <a:gd name="T1" fmla="*/ 104 h 425"/>
                <a:gd name="T2" fmla="*/ 342 w 791"/>
                <a:gd name="T3" fmla="*/ 61 h 425"/>
                <a:gd name="T4" fmla="*/ 294 w 791"/>
                <a:gd name="T5" fmla="*/ 11 h 425"/>
                <a:gd name="T6" fmla="*/ 200 w 791"/>
                <a:gd name="T7" fmla="*/ 3 h 425"/>
                <a:gd name="T8" fmla="*/ 104 w 791"/>
                <a:gd name="T9" fmla="*/ 27 h 425"/>
                <a:gd name="T10" fmla="*/ 39 w 791"/>
                <a:gd name="T11" fmla="*/ 73 h 425"/>
                <a:gd name="T12" fmla="*/ 8 w 791"/>
                <a:gd name="T13" fmla="*/ 171 h 425"/>
                <a:gd name="T14" fmla="*/ 13 w 791"/>
                <a:gd name="T15" fmla="*/ 284 h 425"/>
                <a:gd name="T16" fmla="*/ 85 w 791"/>
                <a:gd name="T17" fmla="*/ 361 h 425"/>
                <a:gd name="T18" fmla="*/ 186 w 791"/>
                <a:gd name="T19" fmla="*/ 385 h 425"/>
                <a:gd name="T20" fmla="*/ 282 w 791"/>
                <a:gd name="T21" fmla="*/ 356 h 425"/>
                <a:gd name="T22" fmla="*/ 342 w 791"/>
                <a:gd name="T23" fmla="*/ 323 h 425"/>
                <a:gd name="T24" fmla="*/ 373 w 791"/>
                <a:gd name="T25" fmla="*/ 315 h 425"/>
                <a:gd name="T26" fmla="*/ 404 w 791"/>
                <a:gd name="T27" fmla="*/ 327 h 425"/>
                <a:gd name="T28" fmla="*/ 452 w 791"/>
                <a:gd name="T29" fmla="*/ 378 h 425"/>
                <a:gd name="T30" fmla="*/ 531 w 791"/>
                <a:gd name="T31" fmla="*/ 411 h 425"/>
                <a:gd name="T32" fmla="*/ 623 w 791"/>
                <a:gd name="T33" fmla="*/ 421 h 425"/>
                <a:gd name="T34" fmla="*/ 714 w 791"/>
                <a:gd name="T35" fmla="*/ 385 h 425"/>
                <a:gd name="T36" fmla="*/ 779 w 791"/>
                <a:gd name="T37" fmla="*/ 308 h 425"/>
                <a:gd name="T38" fmla="*/ 783 w 791"/>
                <a:gd name="T39" fmla="*/ 200 h 425"/>
                <a:gd name="T40" fmla="*/ 740 w 791"/>
                <a:gd name="T41" fmla="*/ 99 h 425"/>
                <a:gd name="T42" fmla="*/ 699 w 791"/>
                <a:gd name="T43" fmla="*/ 39 h 425"/>
                <a:gd name="T44" fmla="*/ 630 w 791"/>
                <a:gd name="T45" fmla="*/ 20 h 425"/>
                <a:gd name="T46" fmla="*/ 541 w 791"/>
                <a:gd name="T47" fmla="*/ 23 h 425"/>
                <a:gd name="T48" fmla="*/ 471 w 791"/>
                <a:gd name="T49" fmla="*/ 68 h 425"/>
                <a:gd name="T50" fmla="*/ 440 w 791"/>
                <a:gd name="T51" fmla="*/ 102 h 425"/>
                <a:gd name="T52" fmla="*/ 404 w 791"/>
                <a:gd name="T53" fmla="*/ 104 h 42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91"/>
                <a:gd name="T82" fmla="*/ 0 h 425"/>
                <a:gd name="T83" fmla="*/ 791 w 791"/>
                <a:gd name="T84" fmla="*/ 425 h 42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91" h="425">
                  <a:moveTo>
                    <a:pt x="404" y="104"/>
                  </a:moveTo>
                  <a:cubicBezTo>
                    <a:pt x="388" y="97"/>
                    <a:pt x="360" y="76"/>
                    <a:pt x="342" y="61"/>
                  </a:cubicBezTo>
                  <a:cubicBezTo>
                    <a:pt x="324" y="46"/>
                    <a:pt x="318" y="21"/>
                    <a:pt x="294" y="11"/>
                  </a:cubicBezTo>
                  <a:cubicBezTo>
                    <a:pt x="270" y="1"/>
                    <a:pt x="232" y="0"/>
                    <a:pt x="200" y="3"/>
                  </a:cubicBezTo>
                  <a:cubicBezTo>
                    <a:pt x="168" y="6"/>
                    <a:pt x="131" y="15"/>
                    <a:pt x="104" y="27"/>
                  </a:cubicBezTo>
                  <a:cubicBezTo>
                    <a:pt x="77" y="39"/>
                    <a:pt x="55" y="49"/>
                    <a:pt x="39" y="73"/>
                  </a:cubicBezTo>
                  <a:cubicBezTo>
                    <a:pt x="23" y="97"/>
                    <a:pt x="12" y="136"/>
                    <a:pt x="8" y="171"/>
                  </a:cubicBezTo>
                  <a:cubicBezTo>
                    <a:pt x="4" y="206"/>
                    <a:pt x="0" y="252"/>
                    <a:pt x="13" y="284"/>
                  </a:cubicBezTo>
                  <a:cubicBezTo>
                    <a:pt x="26" y="316"/>
                    <a:pt x="56" y="344"/>
                    <a:pt x="85" y="361"/>
                  </a:cubicBezTo>
                  <a:cubicBezTo>
                    <a:pt x="114" y="378"/>
                    <a:pt x="153" y="386"/>
                    <a:pt x="186" y="385"/>
                  </a:cubicBezTo>
                  <a:cubicBezTo>
                    <a:pt x="219" y="384"/>
                    <a:pt x="256" y="366"/>
                    <a:pt x="282" y="356"/>
                  </a:cubicBezTo>
                  <a:cubicBezTo>
                    <a:pt x="308" y="346"/>
                    <a:pt x="327" y="330"/>
                    <a:pt x="342" y="323"/>
                  </a:cubicBezTo>
                  <a:cubicBezTo>
                    <a:pt x="357" y="316"/>
                    <a:pt x="363" y="314"/>
                    <a:pt x="373" y="315"/>
                  </a:cubicBezTo>
                  <a:cubicBezTo>
                    <a:pt x="383" y="316"/>
                    <a:pt x="391" y="317"/>
                    <a:pt x="404" y="327"/>
                  </a:cubicBezTo>
                  <a:cubicBezTo>
                    <a:pt x="417" y="337"/>
                    <a:pt x="431" y="364"/>
                    <a:pt x="452" y="378"/>
                  </a:cubicBezTo>
                  <a:cubicBezTo>
                    <a:pt x="473" y="392"/>
                    <a:pt x="503" y="404"/>
                    <a:pt x="531" y="411"/>
                  </a:cubicBezTo>
                  <a:cubicBezTo>
                    <a:pt x="559" y="418"/>
                    <a:pt x="593" y="425"/>
                    <a:pt x="623" y="421"/>
                  </a:cubicBezTo>
                  <a:cubicBezTo>
                    <a:pt x="653" y="417"/>
                    <a:pt x="688" y="404"/>
                    <a:pt x="714" y="385"/>
                  </a:cubicBezTo>
                  <a:cubicBezTo>
                    <a:pt x="740" y="366"/>
                    <a:pt x="767" y="339"/>
                    <a:pt x="779" y="308"/>
                  </a:cubicBezTo>
                  <a:cubicBezTo>
                    <a:pt x="791" y="277"/>
                    <a:pt x="789" y="235"/>
                    <a:pt x="783" y="200"/>
                  </a:cubicBezTo>
                  <a:cubicBezTo>
                    <a:pt x="777" y="165"/>
                    <a:pt x="754" y="126"/>
                    <a:pt x="740" y="99"/>
                  </a:cubicBezTo>
                  <a:cubicBezTo>
                    <a:pt x="726" y="72"/>
                    <a:pt x="717" y="52"/>
                    <a:pt x="699" y="39"/>
                  </a:cubicBezTo>
                  <a:cubicBezTo>
                    <a:pt x="681" y="26"/>
                    <a:pt x="656" y="23"/>
                    <a:pt x="630" y="20"/>
                  </a:cubicBezTo>
                  <a:cubicBezTo>
                    <a:pt x="604" y="17"/>
                    <a:pt x="567" y="15"/>
                    <a:pt x="541" y="23"/>
                  </a:cubicBezTo>
                  <a:cubicBezTo>
                    <a:pt x="515" y="31"/>
                    <a:pt x="488" y="55"/>
                    <a:pt x="471" y="68"/>
                  </a:cubicBezTo>
                  <a:cubicBezTo>
                    <a:pt x="454" y="81"/>
                    <a:pt x="452" y="96"/>
                    <a:pt x="440" y="102"/>
                  </a:cubicBezTo>
                  <a:cubicBezTo>
                    <a:pt x="428" y="108"/>
                    <a:pt x="420" y="111"/>
                    <a:pt x="404" y="104"/>
                  </a:cubicBezTo>
                  <a:close/>
                </a:path>
              </a:pathLst>
            </a:custGeom>
            <a:solidFill>
              <a:srgbClr val="CCCCFF"/>
            </a:solidFill>
            <a:ln w="9525">
              <a:solidFill>
                <a:schemeClr val="tx1"/>
              </a:solidFill>
              <a:round/>
              <a:headEnd/>
              <a:tailEnd/>
            </a:ln>
          </p:spPr>
          <p:txBody>
            <a:bodyPr/>
            <a:lstStyle/>
            <a:p>
              <a:endParaRPr lang="zh-CN" altLang="en-US"/>
            </a:p>
          </p:txBody>
        </p:sp>
        <p:sp>
          <p:nvSpPr>
            <p:cNvPr id="95" name="Freeform 21" descr="软木塞"/>
            <p:cNvSpPr>
              <a:spLocks/>
            </p:cNvSpPr>
            <p:nvPr/>
          </p:nvSpPr>
          <p:spPr bwMode="auto">
            <a:xfrm>
              <a:off x="1424" y="923"/>
              <a:ext cx="268" cy="246"/>
            </a:xfrm>
            <a:custGeom>
              <a:avLst/>
              <a:gdLst>
                <a:gd name="T0" fmla="*/ 264 w 268"/>
                <a:gd name="T1" fmla="*/ 81 h 246"/>
                <a:gd name="T2" fmla="*/ 235 w 268"/>
                <a:gd name="T3" fmla="*/ 33 h 246"/>
                <a:gd name="T4" fmla="*/ 171 w 268"/>
                <a:gd name="T5" fmla="*/ 4 h 246"/>
                <a:gd name="T6" fmla="*/ 101 w 268"/>
                <a:gd name="T7" fmla="*/ 11 h 246"/>
                <a:gd name="T8" fmla="*/ 34 w 268"/>
                <a:gd name="T9" fmla="*/ 45 h 246"/>
                <a:gd name="T10" fmla="*/ 3 w 268"/>
                <a:gd name="T11" fmla="*/ 112 h 246"/>
                <a:gd name="T12" fmla="*/ 15 w 268"/>
                <a:gd name="T13" fmla="*/ 186 h 246"/>
                <a:gd name="T14" fmla="*/ 55 w 268"/>
                <a:gd name="T15" fmla="*/ 232 h 246"/>
                <a:gd name="T16" fmla="*/ 111 w 268"/>
                <a:gd name="T17" fmla="*/ 246 h 246"/>
                <a:gd name="T18" fmla="*/ 204 w 268"/>
                <a:gd name="T19" fmla="*/ 234 h 246"/>
                <a:gd name="T20" fmla="*/ 257 w 268"/>
                <a:gd name="T21" fmla="*/ 172 h 246"/>
                <a:gd name="T22" fmla="*/ 264 w 268"/>
                <a:gd name="T23" fmla="*/ 81 h 2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8"/>
                <a:gd name="T37" fmla="*/ 0 h 246"/>
                <a:gd name="T38" fmla="*/ 268 w 268"/>
                <a:gd name="T39" fmla="*/ 246 h 2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8" h="246">
                  <a:moveTo>
                    <a:pt x="264" y="81"/>
                  </a:moveTo>
                  <a:cubicBezTo>
                    <a:pt x="260" y="58"/>
                    <a:pt x="251" y="46"/>
                    <a:pt x="235" y="33"/>
                  </a:cubicBezTo>
                  <a:cubicBezTo>
                    <a:pt x="219" y="20"/>
                    <a:pt x="193" y="8"/>
                    <a:pt x="171" y="4"/>
                  </a:cubicBezTo>
                  <a:cubicBezTo>
                    <a:pt x="149" y="0"/>
                    <a:pt x="124" y="4"/>
                    <a:pt x="101" y="11"/>
                  </a:cubicBezTo>
                  <a:cubicBezTo>
                    <a:pt x="78" y="18"/>
                    <a:pt x="50" y="28"/>
                    <a:pt x="34" y="45"/>
                  </a:cubicBezTo>
                  <a:cubicBezTo>
                    <a:pt x="18" y="62"/>
                    <a:pt x="6" y="89"/>
                    <a:pt x="3" y="112"/>
                  </a:cubicBezTo>
                  <a:cubicBezTo>
                    <a:pt x="0" y="135"/>
                    <a:pt x="6" y="166"/>
                    <a:pt x="15" y="186"/>
                  </a:cubicBezTo>
                  <a:cubicBezTo>
                    <a:pt x="24" y="206"/>
                    <a:pt x="39" y="222"/>
                    <a:pt x="55" y="232"/>
                  </a:cubicBezTo>
                  <a:cubicBezTo>
                    <a:pt x="71" y="242"/>
                    <a:pt x="86" y="246"/>
                    <a:pt x="111" y="246"/>
                  </a:cubicBezTo>
                  <a:cubicBezTo>
                    <a:pt x="136" y="246"/>
                    <a:pt x="180" y="246"/>
                    <a:pt x="204" y="234"/>
                  </a:cubicBezTo>
                  <a:cubicBezTo>
                    <a:pt x="228" y="222"/>
                    <a:pt x="246" y="197"/>
                    <a:pt x="257" y="172"/>
                  </a:cubicBezTo>
                  <a:cubicBezTo>
                    <a:pt x="268" y="147"/>
                    <a:pt x="268" y="105"/>
                    <a:pt x="264" y="81"/>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96" name="Freeform 22" descr="软木塞"/>
            <p:cNvSpPr>
              <a:spLocks/>
            </p:cNvSpPr>
            <p:nvPr/>
          </p:nvSpPr>
          <p:spPr bwMode="auto">
            <a:xfrm>
              <a:off x="1813" y="954"/>
              <a:ext cx="263" cy="273"/>
            </a:xfrm>
            <a:custGeom>
              <a:avLst/>
              <a:gdLst>
                <a:gd name="T0" fmla="*/ 230 w 263"/>
                <a:gd name="T1" fmla="*/ 42 h 273"/>
                <a:gd name="T2" fmla="*/ 190 w 263"/>
                <a:gd name="T3" fmla="*/ 14 h 273"/>
                <a:gd name="T4" fmla="*/ 127 w 263"/>
                <a:gd name="T5" fmla="*/ 2 h 273"/>
                <a:gd name="T6" fmla="*/ 65 w 263"/>
                <a:gd name="T7" fmla="*/ 9 h 273"/>
                <a:gd name="T8" fmla="*/ 19 w 263"/>
                <a:gd name="T9" fmla="*/ 59 h 273"/>
                <a:gd name="T10" fmla="*/ 2 w 263"/>
                <a:gd name="T11" fmla="*/ 134 h 273"/>
                <a:gd name="T12" fmla="*/ 29 w 263"/>
                <a:gd name="T13" fmla="*/ 222 h 273"/>
                <a:gd name="T14" fmla="*/ 89 w 263"/>
                <a:gd name="T15" fmla="*/ 261 h 273"/>
                <a:gd name="T16" fmla="*/ 175 w 263"/>
                <a:gd name="T17" fmla="*/ 266 h 273"/>
                <a:gd name="T18" fmla="*/ 230 w 263"/>
                <a:gd name="T19" fmla="*/ 220 h 273"/>
                <a:gd name="T20" fmla="*/ 259 w 263"/>
                <a:gd name="T21" fmla="*/ 153 h 273"/>
                <a:gd name="T22" fmla="*/ 252 w 263"/>
                <a:gd name="T23" fmla="*/ 88 h 273"/>
                <a:gd name="T24" fmla="*/ 230 w 263"/>
                <a:gd name="T25" fmla="*/ 42 h 2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3"/>
                <a:gd name="T40" fmla="*/ 0 h 273"/>
                <a:gd name="T41" fmla="*/ 263 w 263"/>
                <a:gd name="T42" fmla="*/ 273 h 2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3" h="273">
                  <a:moveTo>
                    <a:pt x="230" y="42"/>
                  </a:moveTo>
                  <a:cubicBezTo>
                    <a:pt x="220" y="30"/>
                    <a:pt x="207" y="21"/>
                    <a:pt x="190" y="14"/>
                  </a:cubicBezTo>
                  <a:cubicBezTo>
                    <a:pt x="173" y="7"/>
                    <a:pt x="148" y="3"/>
                    <a:pt x="127" y="2"/>
                  </a:cubicBezTo>
                  <a:cubicBezTo>
                    <a:pt x="106" y="1"/>
                    <a:pt x="83" y="0"/>
                    <a:pt x="65" y="9"/>
                  </a:cubicBezTo>
                  <a:cubicBezTo>
                    <a:pt x="47" y="18"/>
                    <a:pt x="30" y="38"/>
                    <a:pt x="19" y="59"/>
                  </a:cubicBezTo>
                  <a:cubicBezTo>
                    <a:pt x="8" y="80"/>
                    <a:pt x="0" y="107"/>
                    <a:pt x="2" y="134"/>
                  </a:cubicBezTo>
                  <a:cubicBezTo>
                    <a:pt x="4" y="161"/>
                    <a:pt x="15" y="201"/>
                    <a:pt x="29" y="222"/>
                  </a:cubicBezTo>
                  <a:cubicBezTo>
                    <a:pt x="43" y="243"/>
                    <a:pt x="65" y="254"/>
                    <a:pt x="89" y="261"/>
                  </a:cubicBezTo>
                  <a:cubicBezTo>
                    <a:pt x="113" y="268"/>
                    <a:pt x="152" y="273"/>
                    <a:pt x="175" y="266"/>
                  </a:cubicBezTo>
                  <a:cubicBezTo>
                    <a:pt x="198" y="259"/>
                    <a:pt x="216" y="239"/>
                    <a:pt x="230" y="220"/>
                  </a:cubicBezTo>
                  <a:cubicBezTo>
                    <a:pt x="244" y="201"/>
                    <a:pt x="255" y="175"/>
                    <a:pt x="259" y="153"/>
                  </a:cubicBezTo>
                  <a:cubicBezTo>
                    <a:pt x="263" y="131"/>
                    <a:pt x="256" y="108"/>
                    <a:pt x="252" y="88"/>
                  </a:cubicBezTo>
                  <a:cubicBezTo>
                    <a:pt x="248" y="68"/>
                    <a:pt x="241" y="54"/>
                    <a:pt x="230" y="42"/>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97" name="Text Box 23"/>
            <p:cNvSpPr txBox="1">
              <a:spLocks noChangeArrowheads="1"/>
            </p:cNvSpPr>
            <p:nvPr/>
          </p:nvSpPr>
          <p:spPr bwMode="auto">
            <a:xfrm>
              <a:off x="1908" y="617"/>
              <a:ext cx="5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solidFill>
                    <a:srgbClr val="000066"/>
                  </a:solidFill>
                  <a:latin typeface="幼圆" pitchFamily="49" charset="-122"/>
                  <a:ea typeface="幼圆" pitchFamily="49" charset="-122"/>
                </a:rPr>
                <a:t>土颗粒</a:t>
              </a:r>
            </a:p>
          </p:txBody>
        </p:sp>
        <p:sp>
          <p:nvSpPr>
            <p:cNvPr id="98" name="Text Box 24"/>
            <p:cNvSpPr txBox="1">
              <a:spLocks noChangeArrowheads="1"/>
            </p:cNvSpPr>
            <p:nvPr/>
          </p:nvSpPr>
          <p:spPr bwMode="auto">
            <a:xfrm>
              <a:off x="1287" y="514"/>
              <a:ext cx="6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a:solidFill>
                    <a:srgbClr val="000066"/>
                  </a:solidFill>
                  <a:latin typeface="幼圆" pitchFamily="49" charset="-122"/>
                  <a:ea typeface="幼圆" pitchFamily="49" charset="-122"/>
                </a:rPr>
                <a:t>强结合水</a:t>
              </a:r>
              <a:endParaRPr lang="en-US" altLang="zh-CN" sz="1800" b="1">
                <a:solidFill>
                  <a:srgbClr val="000066"/>
                </a:solidFill>
                <a:latin typeface="幼圆" pitchFamily="49" charset="-122"/>
                <a:ea typeface="幼圆" pitchFamily="49" charset="-122"/>
              </a:endParaRPr>
            </a:p>
          </p:txBody>
        </p:sp>
        <p:sp>
          <p:nvSpPr>
            <p:cNvPr id="99" name="Line 25"/>
            <p:cNvSpPr>
              <a:spLocks noChangeShapeType="1"/>
            </p:cNvSpPr>
            <p:nvPr/>
          </p:nvSpPr>
          <p:spPr bwMode="auto">
            <a:xfrm flipV="1">
              <a:off x="1979" y="862"/>
              <a:ext cx="109" cy="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26"/>
            <p:cNvSpPr>
              <a:spLocks noChangeShapeType="1"/>
            </p:cNvSpPr>
            <p:nvPr/>
          </p:nvSpPr>
          <p:spPr bwMode="auto">
            <a:xfrm flipH="1" flipV="1">
              <a:off x="1666" y="744"/>
              <a:ext cx="95" cy="2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 name="Group 27"/>
          <p:cNvGrpSpPr>
            <a:grpSpLocks/>
          </p:cNvGrpSpPr>
          <p:nvPr/>
        </p:nvGrpSpPr>
        <p:grpSpPr bwMode="auto">
          <a:xfrm>
            <a:off x="4192659" y="696912"/>
            <a:ext cx="1814818" cy="1471613"/>
            <a:chOff x="2549" y="471"/>
            <a:chExt cx="1137" cy="927"/>
          </a:xfrm>
        </p:grpSpPr>
        <p:sp>
          <p:nvSpPr>
            <p:cNvPr id="102" name="Freeform 28"/>
            <p:cNvSpPr>
              <a:spLocks/>
            </p:cNvSpPr>
            <p:nvPr/>
          </p:nvSpPr>
          <p:spPr bwMode="auto">
            <a:xfrm>
              <a:off x="2594" y="748"/>
              <a:ext cx="1092" cy="650"/>
            </a:xfrm>
            <a:custGeom>
              <a:avLst/>
              <a:gdLst>
                <a:gd name="T0" fmla="*/ 533 w 1092"/>
                <a:gd name="T1" fmla="*/ 92 h 650"/>
                <a:gd name="T2" fmla="*/ 437 w 1092"/>
                <a:gd name="T3" fmla="*/ 68 h 650"/>
                <a:gd name="T4" fmla="*/ 319 w 1092"/>
                <a:gd name="T5" fmla="*/ 54 h 650"/>
                <a:gd name="T6" fmla="*/ 204 w 1092"/>
                <a:gd name="T7" fmla="*/ 80 h 650"/>
                <a:gd name="T8" fmla="*/ 84 w 1092"/>
                <a:gd name="T9" fmla="*/ 140 h 650"/>
                <a:gd name="T10" fmla="*/ 21 w 1092"/>
                <a:gd name="T11" fmla="*/ 253 h 650"/>
                <a:gd name="T12" fmla="*/ 14 w 1092"/>
                <a:gd name="T13" fmla="*/ 411 h 650"/>
                <a:gd name="T14" fmla="*/ 108 w 1092"/>
                <a:gd name="T15" fmla="*/ 538 h 650"/>
                <a:gd name="T16" fmla="*/ 235 w 1092"/>
                <a:gd name="T17" fmla="*/ 627 h 650"/>
                <a:gd name="T18" fmla="*/ 396 w 1092"/>
                <a:gd name="T19" fmla="*/ 642 h 650"/>
                <a:gd name="T20" fmla="*/ 518 w 1092"/>
                <a:gd name="T21" fmla="*/ 579 h 650"/>
                <a:gd name="T22" fmla="*/ 559 w 1092"/>
                <a:gd name="T23" fmla="*/ 541 h 650"/>
                <a:gd name="T24" fmla="*/ 607 w 1092"/>
                <a:gd name="T25" fmla="*/ 541 h 650"/>
                <a:gd name="T26" fmla="*/ 662 w 1092"/>
                <a:gd name="T27" fmla="*/ 560 h 650"/>
                <a:gd name="T28" fmla="*/ 751 w 1092"/>
                <a:gd name="T29" fmla="*/ 594 h 650"/>
                <a:gd name="T30" fmla="*/ 888 w 1092"/>
                <a:gd name="T31" fmla="*/ 582 h 650"/>
                <a:gd name="T32" fmla="*/ 1005 w 1092"/>
                <a:gd name="T33" fmla="*/ 512 h 650"/>
                <a:gd name="T34" fmla="*/ 1077 w 1092"/>
                <a:gd name="T35" fmla="*/ 385 h 650"/>
                <a:gd name="T36" fmla="*/ 1080 w 1092"/>
                <a:gd name="T37" fmla="*/ 241 h 650"/>
                <a:gd name="T38" fmla="*/ 1005 w 1092"/>
                <a:gd name="T39" fmla="*/ 118 h 650"/>
                <a:gd name="T40" fmla="*/ 917 w 1092"/>
                <a:gd name="T41" fmla="*/ 34 h 650"/>
                <a:gd name="T42" fmla="*/ 811 w 1092"/>
                <a:gd name="T43" fmla="*/ 1 h 650"/>
                <a:gd name="T44" fmla="*/ 701 w 1092"/>
                <a:gd name="T45" fmla="*/ 27 h 650"/>
                <a:gd name="T46" fmla="*/ 607 w 1092"/>
                <a:gd name="T47" fmla="*/ 70 h 650"/>
                <a:gd name="T48" fmla="*/ 533 w 1092"/>
                <a:gd name="T49" fmla="*/ 92 h 6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2"/>
                <a:gd name="T76" fmla="*/ 0 h 650"/>
                <a:gd name="T77" fmla="*/ 1092 w 1092"/>
                <a:gd name="T78" fmla="*/ 650 h 65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2" h="650">
                  <a:moveTo>
                    <a:pt x="533" y="92"/>
                  </a:moveTo>
                  <a:cubicBezTo>
                    <a:pt x="505" y="92"/>
                    <a:pt x="473" y="74"/>
                    <a:pt x="437" y="68"/>
                  </a:cubicBezTo>
                  <a:cubicBezTo>
                    <a:pt x="401" y="62"/>
                    <a:pt x="358" y="52"/>
                    <a:pt x="319" y="54"/>
                  </a:cubicBezTo>
                  <a:cubicBezTo>
                    <a:pt x="280" y="56"/>
                    <a:pt x="243" y="66"/>
                    <a:pt x="204" y="80"/>
                  </a:cubicBezTo>
                  <a:cubicBezTo>
                    <a:pt x="165" y="94"/>
                    <a:pt x="114" y="111"/>
                    <a:pt x="84" y="140"/>
                  </a:cubicBezTo>
                  <a:cubicBezTo>
                    <a:pt x="54" y="169"/>
                    <a:pt x="33" y="208"/>
                    <a:pt x="21" y="253"/>
                  </a:cubicBezTo>
                  <a:cubicBezTo>
                    <a:pt x="9" y="298"/>
                    <a:pt x="0" y="364"/>
                    <a:pt x="14" y="411"/>
                  </a:cubicBezTo>
                  <a:cubicBezTo>
                    <a:pt x="28" y="458"/>
                    <a:pt x="71" y="502"/>
                    <a:pt x="108" y="538"/>
                  </a:cubicBezTo>
                  <a:cubicBezTo>
                    <a:pt x="145" y="574"/>
                    <a:pt x="187" y="610"/>
                    <a:pt x="235" y="627"/>
                  </a:cubicBezTo>
                  <a:cubicBezTo>
                    <a:pt x="283" y="644"/>
                    <a:pt x="349" y="650"/>
                    <a:pt x="396" y="642"/>
                  </a:cubicBezTo>
                  <a:cubicBezTo>
                    <a:pt x="443" y="634"/>
                    <a:pt x="491" y="596"/>
                    <a:pt x="518" y="579"/>
                  </a:cubicBezTo>
                  <a:cubicBezTo>
                    <a:pt x="545" y="562"/>
                    <a:pt x="544" y="547"/>
                    <a:pt x="559" y="541"/>
                  </a:cubicBezTo>
                  <a:cubicBezTo>
                    <a:pt x="574" y="535"/>
                    <a:pt x="590" y="538"/>
                    <a:pt x="607" y="541"/>
                  </a:cubicBezTo>
                  <a:cubicBezTo>
                    <a:pt x="624" y="544"/>
                    <a:pt x="638" y="551"/>
                    <a:pt x="662" y="560"/>
                  </a:cubicBezTo>
                  <a:cubicBezTo>
                    <a:pt x="686" y="569"/>
                    <a:pt x="713" y="590"/>
                    <a:pt x="751" y="594"/>
                  </a:cubicBezTo>
                  <a:cubicBezTo>
                    <a:pt x="789" y="598"/>
                    <a:pt x="846" y="596"/>
                    <a:pt x="888" y="582"/>
                  </a:cubicBezTo>
                  <a:cubicBezTo>
                    <a:pt x="930" y="568"/>
                    <a:pt x="973" y="545"/>
                    <a:pt x="1005" y="512"/>
                  </a:cubicBezTo>
                  <a:cubicBezTo>
                    <a:pt x="1037" y="479"/>
                    <a:pt x="1065" y="430"/>
                    <a:pt x="1077" y="385"/>
                  </a:cubicBezTo>
                  <a:cubicBezTo>
                    <a:pt x="1089" y="340"/>
                    <a:pt x="1092" y="285"/>
                    <a:pt x="1080" y="241"/>
                  </a:cubicBezTo>
                  <a:cubicBezTo>
                    <a:pt x="1068" y="197"/>
                    <a:pt x="1032" y="152"/>
                    <a:pt x="1005" y="118"/>
                  </a:cubicBezTo>
                  <a:cubicBezTo>
                    <a:pt x="978" y="84"/>
                    <a:pt x="949" y="53"/>
                    <a:pt x="917" y="34"/>
                  </a:cubicBezTo>
                  <a:cubicBezTo>
                    <a:pt x="885" y="15"/>
                    <a:pt x="847" y="2"/>
                    <a:pt x="811" y="1"/>
                  </a:cubicBezTo>
                  <a:cubicBezTo>
                    <a:pt x="775" y="0"/>
                    <a:pt x="735" y="16"/>
                    <a:pt x="701" y="27"/>
                  </a:cubicBezTo>
                  <a:cubicBezTo>
                    <a:pt x="667" y="38"/>
                    <a:pt x="635" y="59"/>
                    <a:pt x="607" y="70"/>
                  </a:cubicBezTo>
                  <a:cubicBezTo>
                    <a:pt x="579" y="81"/>
                    <a:pt x="561" y="92"/>
                    <a:pt x="533" y="92"/>
                  </a:cubicBezTo>
                  <a:close/>
                </a:path>
              </a:pathLst>
            </a:custGeom>
            <a:solidFill>
              <a:srgbClr val="99CCFF"/>
            </a:solidFill>
            <a:ln w="9525">
              <a:solidFill>
                <a:schemeClr val="tx1"/>
              </a:solidFill>
              <a:round/>
              <a:headEnd/>
              <a:tailEnd/>
            </a:ln>
          </p:spPr>
          <p:txBody>
            <a:bodyPr/>
            <a:lstStyle/>
            <a:p>
              <a:endParaRPr lang="zh-CN" altLang="en-US"/>
            </a:p>
          </p:txBody>
        </p:sp>
        <p:sp>
          <p:nvSpPr>
            <p:cNvPr id="103" name="Freeform 29"/>
            <p:cNvSpPr>
              <a:spLocks/>
            </p:cNvSpPr>
            <p:nvPr/>
          </p:nvSpPr>
          <p:spPr bwMode="auto">
            <a:xfrm>
              <a:off x="3162" y="852"/>
              <a:ext cx="417" cy="400"/>
            </a:xfrm>
            <a:custGeom>
              <a:avLst/>
              <a:gdLst>
                <a:gd name="T0" fmla="*/ 133 w 417"/>
                <a:gd name="T1" fmla="*/ 24 h 400"/>
                <a:gd name="T2" fmla="*/ 46 w 417"/>
                <a:gd name="T3" fmla="*/ 65 h 400"/>
                <a:gd name="T4" fmla="*/ 3 w 417"/>
                <a:gd name="T5" fmla="*/ 170 h 400"/>
                <a:gd name="T6" fmla="*/ 27 w 417"/>
                <a:gd name="T7" fmla="*/ 278 h 400"/>
                <a:gd name="T8" fmla="*/ 97 w 417"/>
                <a:gd name="T9" fmla="*/ 370 h 400"/>
                <a:gd name="T10" fmla="*/ 224 w 417"/>
                <a:gd name="T11" fmla="*/ 398 h 400"/>
                <a:gd name="T12" fmla="*/ 346 w 417"/>
                <a:gd name="T13" fmla="*/ 358 h 400"/>
                <a:gd name="T14" fmla="*/ 409 w 417"/>
                <a:gd name="T15" fmla="*/ 247 h 400"/>
                <a:gd name="T16" fmla="*/ 392 w 417"/>
                <a:gd name="T17" fmla="*/ 125 h 400"/>
                <a:gd name="T18" fmla="*/ 322 w 417"/>
                <a:gd name="T19" fmla="*/ 29 h 400"/>
                <a:gd name="T20" fmla="*/ 217 w 417"/>
                <a:gd name="T21" fmla="*/ 2 h 400"/>
                <a:gd name="T22" fmla="*/ 133 w 417"/>
                <a:gd name="T23" fmla="*/ 24 h 4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7"/>
                <a:gd name="T37" fmla="*/ 0 h 400"/>
                <a:gd name="T38" fmla="*/ 417 w 417"/>
                <a:gd name="T39" fmla="*/ 400 h 4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7" h="400">
                  <a:moveTo>
                    <a:pt x="133" y="24"/>
                  </a:moveTo>
                  <a:cubicBezTo>
                    <a:pt x="104" y="35"/>
                    <a:pt x="68" y="41"/>
                    <a:pt x="46" y="65"/>
                  </a:cubicBezTo>
                  <a:cubicBezTo>
                    <a:pt x="24" y="89"/>
                    <a:pt x="6" y="134"/>
                    <a:pt x="3" y="170"/>
                  </a:cubicBezTo>
                  <a:cubicBezTo>
                    <a:pt x="0" y="206"/>
                    <a:pt x="11" y="245"/>
                    <a:pt x="27" y="278"/>
                  </a:cubicBezTo>
                  <a:cubicBezTo>
                    <a:pt x="43" y="311"/>
                    <a:pt x="64" y="350"/>
                    <a:pt x="97" y="370"/>
                  </a:cubicBezTo>
                  <a:cubicBezTo>
                    <a:pt x="130" y="390"/>
                    <a:pt x="183" y="400"/>
                    <a:pt x="224" y="398"/>
                  </a:cubicBezTo>
                  <a:cubicBezTo>
                    <a:pt x="265" y="396"/>
                    <a:pt x="315" y="383"/>
                    <a:pt x="346" y="358"/>
                  </a:cubicBezTo>
                  <a:cubicBezTo>
                    <a:pt x="377" y="333"/>
                    <a:pt x="401" y="286"/>
                    <a:pt x="409" y="247"/>
                  </a:cubicBezTo>
                  <a:cubicBezTo>
                    <a:pt x="417" y="208"/>
                    <a:pt x="406" y="161"/>
                    <a:pt x="392" y="125"/>
                  </a:cubicBezTo>
                  <a:cubicBezTo>
                    <a:pt x="378" y="89"/>
                    <a:pt x="351" y="49"/>
                    <a:pt x="322" y="29"/>
                  </a:cubicBezTo>
                  <a:cubicBezTo>
                    <a:pt x="293" y="9"/>
                    <a:pt x="249" y="4"/>
                    <a:pt x="217" y="2"/>
                  </a:cubicBezTo>
                  <a:cubicBezTo>
                    <a:pt x="185" y="0"/>
                    <a:pt x="162" y="13"/>
                    <a:pt x="133" y="24"/>
                  </a:cubicBezTo>
                  <a:close/>
                </a:path>
              </a:pathLst>
            </a:custGeom>
            <a:solidFill>
              <a:srgbClr val="CCCCFF"/>
            </a:solidFill>
            <a:ln w="9525">
              <a:solidFill>
                <a:schemeClr val="tx1"/>
              </a:solidFill>
              <a:round/>
              <a:headEnd/>
              <a:tailEnd/>
            </a:ln>
          </p:spPr>
          <p:txBody>
            <a:bodyPr/>
            <a:lstStyle/>
            <a:p>
              <a:endParaRPr lang="zh-CN" altLang="en-US"/>
            </a:p>
          </p:txBody>
        </p:sp>
        <p:sp>
          <p:nvSpPr>
            <p:cNvPr id="104" name="Freeform 30"/>
            <p:cNvSpPr>
              <a:spLocks/>
            </p:cNvSpPr>
            <p:nvPr/>
          </p:nvSpPr>
          <p:spPr bwMode="auto">
            <a:xfrm>
              <a:off x="2682" y="891"/>
              <a:ext cx="441" cy="421"/>
            </a:xfrm>
            <a:custGeom>
              <a:avLst/>
              <a:gdLst>
                <a:gd name="T0" fmla="*/ 178 w 441"/>
                <a:gd name="T1" fmla="*/ 14 h 421"/>
                <a:gd name="T2" fmla="*/ 63 w 441"/>
                <a:gd name="T3" fmla="*/ 59 h 421"/>
                <a:gd name="T4" fmla="*/ 8 w 441"/>
                <a:gd name="T5" fmla="*/ 153 h 421"/>
                <a:gd name="T6" fmla="*/ 17 w 441"/>
                <a:gd name="T7" fmla="*/ 268 h 421"/>
                <a:gd name="T8" fmla="*/ 68 w 441"/>
                <a:gd name="T9" fmla="*/ 347 h 421"/>
                <a:gd name="T10" fmla="*/ 178 w 441"/>
                <a:gd name="T11" fmla="*/ 412 h 421"/>
                <a:gd name="T12" fmla="*/ 320 w 441"/>
                <a:gd name="T13" fmla="*/ 403 h 421"/>
                <a:gd name="T14" fmla="*/ 416 w 441"/>
                <a:gd name="T15" fmla="*/ 323 h 421"/>
                <a:gd name="T16" fmla="*/ 437 w 441"/>
                <a:gd name="T17" fmla="*/ 194 h 421"/>
                <a:gd name="T18" fmla="*/ 389 w 441"/>
                <a:gd name="T19" fmla="*/ 74 h 421"/>
                <a:gd name="T20" fmla="*/ 286 w 441"/>
                <a:gd name="T21" fmla="*/ 9 h 421"/>
                <a:gd name="T22" fmla="*/ 178 w 441"/>
                <a:gd name="T23" fmla="*/ 14 h 4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1"/>
                <a:gd name="T37" fmla="*/ 0 h 421"/>
                <a:gd name="T38" fmla="*/ 441 w 441"/>
                <a:gd name="T39" fmla="*/ 421 h 4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1" h="421">
                  <a:moveTo>
                    <a:pt x="178" y="14"/>
                  </a:moveTo>
                  <a:cubicBezTo>
                    <a:pt x="141" y="22"/>
                    <a:pt x="91" y="36"/>
                    <a:pt x="63" y="59"/>
                  </a:cubicBezTo>
                  <a:cubicBezTo>
                    <a:pt x="35" y="82"/>
                    <a:pt x="16" y="118"/>
                    <a:pt x="8" y="153"/>
                  </a:cubicBezTo>
                  <a:cubicBezTo>
                    <a:pt x="0" y="188"/>
                    <a:pt x="7" y="236"/>
                    <a:pt x="17" y="268"/>
                  </a:cubicBezTo>
                  <a:cubicBezTo>
                    <a:pt x="27" y="300"/>
                    <a:pt x="41" y="323"/>
                    <a:pt x="68" y="347"/>
                  </a:cubicBezTo>
                  <a:cubicBezTo>
                    <a:pt x="95" y="371"/>
                    <a:pt x="136" y="403"/>
                    <a:pt x="178" y="412"/>
                  </a:cubicBezTo>
                  <a:cubicBezTo>
                    <a:pt x="220" y="421"/>
                    <a:pt x="280" y="418"/>
                    <a:pt x="320" y="403"/>
                  </a:cubicBezTo>
                  <a:cubicBezTo>
                    <a:pt x="360" y="388"/>
                    <a:pt x="397" y="358"/>
                    <a:pt x="416" y="323"/>
                  </a:cubicBezTo>
                  <a:cubicBezTo>
                    <a:pt x="435" y="288"/>
                    <a:pt x="441" y="235"/>
                    <a:pt x="437" y="194"/>
                  </a:cubicBezTo>
                  <a:cubicBezTo>
                    <a:pt x="433" y="153"/>
                    <a:pt x="414" y="105"/>
                    <a:pt x="389" y="74"/>
                  </a:cubicBezTo>
                  <a:cubicBezTo>
                    <a:pt x="364" y="43"/>
                    <a:pt x="322" y="18"/>
                    <a:pt x="286" y="9"/>
                  </a:cubicBezTo>
                  <a:cubicBezTo>
                    <a:pt x="250" y="0"/>
                    <a:pt x="215" y="6"/>
                    <a:pt x="178" y="14"/>
                  </a:cubicBezTo>
                  <a:close/>
                </a:path>
              </a:pathLst>
            </a:custGeom>
            <a:solidFill>
              <a:srgbClr val="CCCCFF"/>
            </a:solidFill>
            <a:ln w="9525">
              <a:solidFill>
                <a:schemeClr val="tx1"/>
              </a:solidFill>
              <a:round/>
              <a:headEnd/>
              <a:tailEnd/>
            </a:ln>
          </p:spPr>
          <p:txBody>
            <a:bodyPr/>
            <a:lstStyle/>
            <a:p>
              <a:endParaRPr lang="zh-CN" altLang="en-US"/>
            </a:p>
          </p:txBody>
        </p:sp>
        <p:sp>
          <p:nvSpPr>
            <p:cNvPr id="105" name="Freeform 31" descr="软木塞"/>
            <p:cNvSpPr>
              <a:spLocks/>
            </p:cNvSpPr>
            <p:nvPr/>
          </p:nvSpPr>
          <p:spPr bwMode="auto">
            <a:xfrm>
              <a:off x="2768" y="958"/>
              <a:ext cx="298" cy="286"/>
            </a:xfrm>
            <a:custGeom>
              <a:avLst/>
              <a:gdLst>
                <a:gd name="T0" fmla="*/ 231 w 298"/>
                <a:gd name="T1" fmla="*/ 31 h 286"/>
                <a:gd name="T2" fmla="*/ 155 w 298"/>
                <a:gd name="T3" fmla="*/ 2 h 286"/>
                <a:gd name="T4" fmla="*/ 59 w 298"/>
                <a:gd name="T5" fmla="*/ 19 h 286"/>
                <a:gd name="T6" fmla="*/ 8 w 298"/>
                <a:gd name="T7" fmla="*/ 79 h 286"/>
                <a:gd name="T8" fmla="*/ 11 w 298"/>
                <a:gd name="T9" fmla="*/ 170 h 286"/>
                <a:gd name="T10" fmla="*/ 42 w 298"/>
                <a:gd name="T11" fmla="*/ 252 h 286"/>
                <a:gd name="T12" fmla="*/ 133 w 298"/>
                <a:gd name="T13" fmla="*/ 283 h 286"/>
                <a:gd name="T14" fmla="*/ 234 w 298"/>
                <a:gd name="T15" fmla="*/ 266 h 286"/>
                <a:gd name="T16" fmla="*/ 291 w 298"/>
                <a:gd name="T17" fmla="*/ 165 h 286"/>
                <a:gd name="T18" fmla="*/ 275 w 298"/>
                <a:gd name="T19" fmla="*/ 81 h 286"/>
                <a:gd name="T20" fmla="*/ 231 w 298"/>
                <a:gd name="T21" fmla="*/ 31 h 2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8"/>
                <a:gd name="T34" fmla="*/ 0 h 286"/>
                <a:gd name="T35" fmla="*/ 298 w 298"/>
                <a:gd name="T36" fmla="*/ 286 h 2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8" h="286">
                  <a:moveTo>
                    <a:pt x="231" y="31"/>
                  </a:moveTo>
                  <a:cubicBezTo>
                    <a:pt x="211" y="18"/>
                    <a:pt x="184" y="4"/>
                    <a:pt x="155" y="2"/>
                  </a:cubicBezTo>
                  <a:cubicBezTo>
                    <a:pt x="126" y="0"/>
                    <a:pt x="84" y="6"/>
                    <a:pt x="59" y="19"/>
                  </a:cubicBezTo>
                  <a:cubicBezTo>
                    <a:pt x="34" y="32"/>
                    <a:pt x="16" y="54"/>
                    <a:pt x="8" y="79"/>
                  </a:cubicBezTo>
                  <a:cubicBezTo>
                    <a:pt x="0" y="104"/>
                    <a:pt x="5" y="141"/>
                    <a:pt x="11" y="170"/>
                  </a:cubicBezTo>
                  <a:cubicBezTo>
                    <a:pt x="17" y="199"/>
                    <a:pt x="22" y="233"/>
                    <a:pt x="42" y="252"/>
                  </a:cubicBezTo>
                  <a:cubicBezTo>
                    <a:pt x="62" y="271"/>
                    <a:pt x="101" y="281"/>
                    <a:pt x="133" y="283"/>
                  </a:cubicBezTo>
                  <a:cubicBezTo>
                    <a:pt x="165" y="285"/>
                    <a:pt x="208" y="286"/>
                    <a:pt x="234" y="266"/>
                  </a:cubicBezTo>
                  <a:cubicBezTo>
                    <a:pt x="260" y="246"/>
                    <a:pt x="284" y="196"/>
                    <a:pt x="291" y="165"/>
                  </a:cubicBezTo>
                  <a:cubicBezTo>
                    <a:pt x="298" y="134"/>
                    <a:pt x="285" y="103"/>
                    <a:pt x="275" y="81"/>
                  </a:cubicBezTo>
                  <a:cubicBezTo>
                    <a:pt x="265" y="59"/>
                    <a:pt x="251" y="44"/>
                    <a:pt x="231" y="31"/>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106" name="Freeform 32" descr="软木塞"/>
            <p:cNvSpPr>
              <a:spLocks/>
            </p:cNvSpPr>
            <p:nvPr/>
          </p:nvSpPr>
          <p:spPr bwMode="auto">
            <a:xfrm>
              <a:off x="3229" y="904"/>
              <a:ext cx="304" cy="293"/>
            </a:xfrm>
            <a:custGeom>
              <a:avLst/>
              <a:gdLst>
                <a:gd name="T0" fmla="*/ 296 w 304"/>
                <a:gd name="T1" fmla="*/ 121 h 293"/>
                <a:gd name="T2" fmla="*/ 260 w 304"/>
                <a:gd name="T3" fmla="*/ 44 h 293"/>
                <a:gd name="T4" fmla="*/ 195 w 304"/>
                <a:gd name="T5" fmla="*/ 8 h 293"/>
                <a:gd name="T6" fmla="*/ 104 w 304"/>
                <a:gd name="T7" fmla="*/ 10 h 293"/>
                <a:gd name="T8" fmla="*/ 32 w 304"/>
                <a:gd name="T9" fmla="*/ 66 h 293"/>
                <a:gd name="T10" fmla="*/ 6 w 304"/>
                <a:gd name="T11" fmla="*/ 171 h 293"/>
                <a:gd name="T12" fmla="*/ 66 w 304"/>
                <a:gd name="T13" fmla="*/ 260 h 293"/>
                <a:gd name="T14" fmla="*/ 166 w 304"/>
                <a:gd name="T15" fmla="*/ 289 h 293"/>
                <a:gd name="T16" fmla="*/ 274 w 304"/>
                <a:gd name="T17" fmla="*/ 234 h 293"/>
                <a:gd name="T18" fmla="*/ 301 w 304"/>
                <a:gd name="T19" fmla="*/ 159 h 293"/>
                <a:gd name="T20" fmla="*/ 296 w 304"/>
                <a:gd name="T21" fmla="*/ 121 h 2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4"/>
                <a:gd name="T34" fmla="*/ 0 h 293"/>
                <a:gd name="T35" fmla="*/ 304 w 304"/>
                <a:gd name="T36" fmla="*/ 293 h 2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4" h="293">
                  <a:moveTo>
                    <a:pt x="296" y="121"/>
                  </a:moveTo>
                  <a:cubicBezTo>
                    <a:pt x="289" y="102"/>
                    <a:pt x="277" y="63"/>
                    <a:pt x="260" y="44"/>
                  </a:cubicBezTo>
                  <a:cubicBezTo>
                    <a:pt x="243" y="25"/>
                    <a:pt x="221" y="14"/>
                    <a:pt x="195" y="8"/>
                  </a:cubicBezTo>
                  <a:cubicBezTo>
                    <a:pt x="169" y="2"/>
                    <a:pt x="131" y="0"/>
                    <a:pt x="104" y="10"/>
                  </a:cubicBezTo>
                  <a:cubicBezTo>
                    <a:pt x="77" y="20"/>
                    <a:pt x="48" y="39"/>
                    <a:pt x="32" y="66"/>
                  </a:cubicBezTo>
                  <a:cubicBezTo>
                    <a:pt x="16" y="93"/>
                    <a:pt x="0" y="139"/>
                    <a:pt x="6" y="171"/>
                  </a:cubicBezTo>
                  <a:cubicBezTo>
                    <a:pt x="12" y="203"/>
                    <a:pt x="39" y="240"/>
                    <a:pt x="66" y="260"/>
                  </a:cubicBezTo>
                  <a:cubicBezTo>
                    <a:pt x="93" y="280"/>
                    <a:pt x="131" y="293"/>
                    <a:pt x="166" y="289"/>
                  </a:cubicBezTo>
                  <a:cubicBezTo>
                    <a:pt x="201" y="285"/>
                    <a:pt x="252" y="256"/>
                    <a:pt x="274" y="234"/>
                  </a:cubicBezTo>
                  <a:cubicBezTo>
                    <a:pt x="296" y="212"/>
                    <a:pt x="298" y="179"/>
                    <a:pt x="301" y="159"/>
                  </a:cubicBezTo>
                  <a:cubicBezTo>
                    <a:pt x="304" y="139"/>
                    <a:pt x="303" y="140"/>
                    <a:pt x="296" y="121"/>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107" name="Text Box 33"/>
            <p:cNvSpPr txBox="1">
              <a:spLocks noChangeArrowheads="1"/>
            </p:cNvSpPr>
            <p:nvPr/>
          </p:nvSpPr>
          <p:spPr bwMode="auto">
            <a:xfrm>
              <a:off x="2549" y="471"/>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solidFill>
                    <a:srgbClr val="000066"/>
                  </a:solidFill>
                  <a:latin typeface="幼圆" pitchFamily="49" charset="-122"/>
                  <a:ea typeface="幼圆" pitchFamily="49" charset="-122"/>
                </a:rPr>
                <a:t>弱结合水</a:t>
              </a:r>
              <a:endParaRPr lang="en-US" altLang="zh-CN" sz="1800" b="1" dirty="0">
                <a:solidFill>
                  <a:srgbClr val="000066"/>
                </a:solidFill>
                <a:latin typeface="幼圆" pitchFamily="49" charset="-122"/>
                <a:ea typeface="幼圆" pitchFamily="49" charset="-122"/>
              </a:endParaRPr>
            </a:p>
          </p:txBody>
        </p:sp>
        <p:sp>
          <p:nvSpPr>
            <p:cNvPr id="108" name="Line 34"/>
            <p:cNvSpPr>
              <a:spLocks noChangeShapeType="1"/>
            </p:cNvSpPr>
            <p:nvPr/>
          </p:nvSpPr>
          <p:spPr bwMode="auto">
            <a:xfrm flipH="1" flipV="1">
              <a:off x="2914" y="699"/>
              <a:ext cx="101" cy="1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9" name="Group 41"/>
          <p:cNvGrpSpPr>
            <a:grpSpLocks/>
          </p:cNvGrpSpPr>
          <p:nvPr/>
        </p:nvGrpSpPr>
        <p:grpSpPr bwMode="auto">
          <a:xfrm>
            <a:off x="6341754" y="732361"/>
            <a:ext cx="2372021" cy="1436688"/>
            <a:chOff x="3894" y="600"/>
            <a:chExt cx="1486" cy="905"/>
          </a:xfrm>
        </p:grpSpPr>
        <p:sp>
          <p:nvSpPr>
            <p:cNvPr id="110" name="Freeform 42"/>
            <p:cNvSpPr>
              <a:spLocks/>
            </p:cNvSpPr>
            <p:nvPr/>
          </p:nvSpPr>
          <p:spPr bwMode="auto">
            <a:xfrm>
              <a:off x="4560" y="677"/>
              <a:ext cx="428" cy="677"/>
            </a:xfrm>
            <a:custGeom>
              <a:avLst/>
              <a:gdLst>
                <a:gd name="T0" fmla="*/ 44 w 428"/>
                <a:gd name="T1" fmla="*/ 250 h 614"/>
                <a:gd name="T2" fmla="*/ 8 w 428"/>
                <a:gd name="T3" fmla="*/ 216 h 614"/>
                <a:gd name="T4" fmla="*/ 90 w 428"/>
                <a:gd name="T5" fmla="*/ 193 h 614"/>
                <a:gd name="T6" fmla="*/ 98 w 428"/>
                <a:gd name="T7" fmla="*/ 75 h 614"/>
                <a:gd name="T8" fmla="*/ 159 w 428"/>
                <a:gd name="T9" fmla="*/ 55 h 614"/>
                <a:gd name="T10" fmla="*/ 215 w 428"/>
                <a:gd name="T11" fmla="*/ 118 h 614"/>
                <a:gd name="T12" fmla="*/ 253 w 428"/>
                <a:gd name="T13" fmla="*/ 66 h 614"/>
                <a:gd name="T14" fmla="*/ 298 w 428"/>
                <a:gd name="T15" fmla="*/ 0 h 614"/>
                <a:gd name="T16" fmla="*/ 336 w 428"/>
                <a:gd name="T17" fmla="*/ 15 h 614"/>
                <a:gd name="T18" fmla="*/ 428 w 428"/>
                <a:gd name="T19" fmla="*/ 648 h 614"/>
                <a:gd name="T20" fmla="*/ 359 w 428"/>
                <a:gd name="T21" fmla="*/ 654 h 614"/>
                <a:gd name="T22" fmla="*/ 332 w 428"/>
                <a:gd name="T23" fmla="*/ 691 h 614"/>
                <a:gd name="T24" fmla="*/ 319 w 428"/>
                <a:gd name="T25" fmla="*/ 737 h 614"/>
                <a:gd name="T26" fmla="*/ 306 w 428"/>
                <a:gd name="T27" fmla="*/ 772 h 614"/>
                <a:gd name="T28" fmla="*/ 271 w 428"/>
                <a:gd name="T29" fmla="*/ 820 h 614"/>
                <a:gd name="T30" fmla="*/ 240 w 428"/>
                <a:gd name="T31" fmla="*/ 784 h 614"/>
                <a:gd name="T32" fmla="*/ 213 w 428"/>
                <a:gd name="T33" fmla="*/ 755 h 614"/>
                <a:gd name="T34" fmla="*/ 130 w 428"/>
                <a:gd name="T35" fmla="*/ 786 h 614"/>
                <a:gd name="T36" fmla="*/ 140 w 428"/>
                <a:gd name="T37" fmla="*/ 609 h 614"/>
                <a:gd name="T38" fmla="*/ 72 w 428"/>
                <a:gd name="T39" fmla="*/ 368 h 614"/>
                <a:gd name="T40" fmla="*/ 44 w 428"/>
                <a:gd name="T41" fmla="*/ 250 h 6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8"/>
                <a:gd name="T64" fmla="*/ 0 h 614"/>
                <a:gd name="T65" fmla="*/ 428 w 428"/>
                <a:gd name="T66" fmla="*/ 614 h 61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8" h="614">
                  <a:moveTo>
                    <a:pt x="44" y="187"/>
                  </a:moveTo>
                  <a:cubicBezTo>
                    <a:pt x="33" y="168"/>
                    <a:pt x="0" y="168"/>
                    <a:pt x="8" y="161"/>
                  </a:cubicBezTo>
                  <a:cubicBezTo>
                    <a:pt x="16" y="154"/>
                    <a:pt x="75" y="162"/>
                    <a:pt x="90" y="144"/>
                  </a:cubicBezTo>
                  <a:cubicBezTo>
                    <a:pt x="105" y="126"/>
                    <a:pt x="87" y="73"/>
                    <a:pt x="98" y="56"/>
                  </a:cubicBezTo>
                  <a:cubicBezTo>
                    <a:pt x="109" y="39"/>
                    <a:pt x="140" y="36"/>
                    <a:pt x="159" y="41"/>
                  </a:cubicBezTo>
                  <a:cubicBezTo>
                    <a:pt x="178" y="46"/>
                    <a:pt x="199" y="87"/>
                    <a:pt x="215" y="88"/>
                  </a:cubicBezTo>
                  <a:cubicBezTo>
                    <a:pt x="231" y="89"/>
                    <a:pt x="239" y="64"/>
                    <a:pt x="253" y="49"/>
                  </a:cubicBezTo>
                  <a:cubicBezTo>
                    <a:pt x="267" y="34"/>
                    <a:pt x="284" y="6"/>
                    <a:pt x="298" y="0"/>
                  </a:cubicBezTo>
                  <a:lnTo>
                    <a:pt x="336" y="12"/>
                  </a:lnTo>
                  <a:cubicBezTo>
                    <a:pt x="358" y="92"/>
                    <a:pt x="424" y="404"/>
                    <a:pt x="428" y="483"/>
                  </a:cubicBezTo>
                  <a:lnTo>
                    <a:pt x="359" y="488"/>
                  </a:lnTo>
                  <a:cubicBezTo>
                    <a:pt x="343" y="493"/>
                    <a:pt x="339" y="506"/>
                    <a:pt x="332" y="516"/>
                  </a:cubicBezTo>
                  <a:cubicBezTo>
                    <a:pt x="325" y="526"/>
                    <a:pt x="323" y="540"/>
                    <a:pt x="319" y="550"/>
                  </a:cubicBezTo>
                  <a:cubicBezTo>
                    <a:pt x="315" y="560"/>
                    <a:pt x="314" y="566"/>
                    <a:pt x="306" y="576"/>
                  </a:cubicBezTo>
                  <a:cubicBezTo>
                    <a:pt x="298" y="586"/>
                    <a:pt x="282" y="610"/>
                    <a:pt x="271" y="612"/>
                  </a:cubicBezTo>
                  <a:cubicBezTo>
                    <a:pt x="260" y="614"/>
                    <a:pt x="250" y="593"/>
                    <a:pt x="240" y="585"/>
                  </a:cubicBezTo>
                  <a:cubicBezTo>
                    <a:pt x="230" y="577"/>
                    <a:pt x="231" y="563"/>
                    <a:pt x="213" y="563"/>
                  </a:cubicBezTo>
                  <a:lnTo>
                    <a:pt x="130" y="587"/>
                  </a:lnTo>
                  <a:cubicBezTo>
                    <a:pt x="118" y="569"/>
                    <a:pt x="150" y="506"/>
                    <a:pt x="140" y="454"/>
                  </a:cubicBezTo>
                  <a:cubicBezTo>
                    <a:pt x="130" y="402"/>
                    <a:pt x="88" y="319"/>
                    <a:pt x="72" y="275"/>
                  </a:cubicBezTo>
                  <a:cubicBezTo>
                    <a:pt x="56" y="231"/>
                    <a:pt x="48" y="214"/>
                    <a:pt x="44" y="187"/>
                  </a:cubicBez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43"/>
            <p:cNvSpPr>
              <a:spLocks/>
            </p:cNvSpPr>
            <p:nvPr/>
          </p:nvSpPr>
          <p:spPr bwMode="auto">
            <a:xfrm>
              <a:off x="4147" y="899"/>
              <a:ext cx="618" cy="606"/>
            </a:xfrm>
            <a:custGeom>
              <a:avLst/>
              <a:gdLst>
                <a:gd name="T0" fmla="*/ 409 w 618"/>
                <a:gd name="T1" fmla="*/ 20 h 606"/>
                <a:gd name="T2" fmla="*/ 305 w 618"/>
                <a:gd name="T3" fmla="*/ 3 h 606"/>
                <a:gd name="T4" fmla="*/ 173 w 618"/>
                <a:gd name="T5" fmla="*/ 37 h 606"/>
                <a:gd name="T6" fmla="*/ 61 w 618"/>
                <a:gd name="T7" fmla="*/ 138 h 606"/>
                <a:gd name="T8" fmla="*/ 5 w 618"/>
                <a:gd name="T9" fmla="*/ 275 h 606"/>
                <a:gd name="T10" fmla="*/ 32 w 618"/>
                <a:gd name="T11" fmla="*/ 419 h 606"/>
                <a:gd name="T12" fmla="*/ 99 w 618"/>
                <a:gd name="T13" fmla="*/ 522 h 606"/>
                <a:gd name="T14" fmla="*/ 212 w 618"/>
                <a:gd name="T15" fmla="*/ 582 h 606"/>
                <a:gd name="T16" fmla="*/ 382 w 618"/>
                <a:gd name="T17" fmla="*/ 596 h 606"/>
                <a:gd name="T18" fmla="*/ 524 w 618"/>
                <a:gd name="T19" fmla="*/ 524 h 606"/>
                <a:gd name="T20" fmla="*/ 605 w 618"/>
                <a:gd name="T21" fmla="*/ 387 h 606"/>
                <a:gd name="T22" fmla="*/ 603 w 618"/>
                <a:gd name="T23" fmla="*/ 253 h 606"/>
                <a:gd name="T24" fmla="*/ 574 w 618"/>
                <a:gd name="T25" fmla="*/ 152 h 606"/>
                <a:gd name="T26" fmla="*/ 505 w 618"/>
                <a:gd name="T27" fmla="*/ 66 h 606"/>
                <a:gd name="T28" fmla="*/ 409 w 618"/>
                <a:gd name="T29" fmla="*/ 20 h 6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8"/>
                <a:gd name="T46" fmla="*/ 0 h 606"/>
                <a:gd name="T47" fmla="*/ 618 w 618"/>
                <a:gd name="T48" fmla="*/ 606 h 6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8" h="606">
                  <a:moveTo>
                    <a:pt x="409" y="20"/>
                  </a:moveTo>
                  <a:cubicBezTo>
                    <a:pt x="376" y="6"/>
                    <a:pt x="344" y="0"/>
                    <a:pt x="305" y="3"/>
                  </a:cubicBezTo>
                  <a:cubicBezTo>
                    <a:pt x="266" y="6"/>
                    <a:pt x="214" y="15"/>
                    <a:pt x="173" y="37"/>
                  </a:cubicBezTo>
                  <a:cubicBezTo>
                    <a:pt x="132" y="59"/>
                    <a:pt x="89" y="98"/>
                    <a:pt x="61" y="138"/>
                  </a:cubicBezTo>
                  <a:cubicBezTo>
                    <a:pt x="33" y="178"/>
                    <a:pt x="10" y="228"/>
                    <a:pt x="5" y="275"/>
                  </a:cubicBezTo>
                  <a:cubicBezTo>
                    <a:pt x="0" y="322"/>
                    <a:pt x="16" y="378"/>
                    <a:pt x="32" y="419"/>
                  </a:cubicBezTo>
                  <a:cubicBezTo>
                    <a:pt x="48" y="460"/>
                    <a:pt x="69" y="495"/>
                    <a:pt x="99" y="522"/>
                  </a:cubicBezTo>
                  <a:cubicBezTo>
                    <a:pt x="129" y="549"/>
                    <a:pt x="165" y="570"/>
                    <a:pt x="212" y="582"/>
                  </a:cubicBezTo>
                  <a:cubicBezTo>
                    <a:pt x="259" y="594"/>
                    <a:pt x="330" y="606"/>
                    <a:pt x="382" y="596"/>
                  </a:cubicBezTo>
                  <a:cubicBezTo>
                    <a:pt x="434" y="586"/>
                    <a:pt x="487" y="559"/>
                    <a:pt x="524" y="524"/>
                  </a:cubicBezTo>
                  <a:cubicBezTo>
                    <a:pt x="561" y="489"/>
                    <a:pt x="592" y="432"/>
                    <a:pt x="605" y="387"/>
                  </a:cubicBezTo>
                  <a:cubicBezTo>
                    <a:pt x="618" y="342"/>
                    <a:pt x="608" y="292"/>
                    <a:pt x="603" y="253"/>
                  </a:cubicBezTo>
                  <a:cubicBezTo>
                    <a:pt x="598" y="214"/>
                    <a:pt x="590" y="183"/>
                    <a:pt x="574" y="152"/>
                  </a:cubicBezTo>
                  <a:cubicBezTo>
                    <a:pt x="558" y="121"/>
                    <a:pt x="532" y="88"/>
                    <a:pt x="505" y="66"/>
                  </a:cubicBezTo>
                  <a:cubicBezTo>
                    <a:pt x="478" y="44"/>
                    <a:pt x="429" y="30"/>
                    <a:pt x="409" y="20"/>
                  </a:cubicBezTo>
                  <a:close/>
                </a:path>
              </a:pathLst>
            </a:custGeom>
            <a:solidFill>
              <a:srgbClr val="99CCFF"/>
            </a:solidFill>
            <a:ln w="9525">
              <a:solidFill>
                <a:schemeClr val="tx1"/>
              </a:solidFill>
              <a:round/>
              <a:headEnd/>
              <a:tailEnd/>
            </a:ln>
          </p:spPr>
          <p:txBody>
            <a:bodyPr/>
            <a:lstStyle/>
            <a:p>
              <a:endParaRPr lang="zh-CN" altLang="en-US"/>
            </a:p>
          </p:txBody>
        </p:sp>
        <p:sp>
          <p:nvSpPr>
            <p:cNvPr id="112" name="Freeform 44"/>
            <p:cNvSpPr>
              <a:spLocks/>
            </p:cNvSpPr>
            <p:nvPr/>
          </p:nvSpPr>
          <p:spPr bwMode="auto">
            <a:xfrm>
              <a:off x="4784" y="700"/>
              <a:ext cx="596" cy="590"/>
            </a:xfrm>
            <a:custGeom>
              <a:avLst/>
              <a:gdLst>
                <a:gd name="T0" fmla="*/ 475 w 596"/>
                <a:gd name="T1" fmla="*/ 39 h 590"/>
                <a:gd name="T2" fmla="*/ 532 w 596"/>
                <a:gd name="T3" fmla="*/ 118 h 590"/>
                <a:gd name="T4" fmla="*/ 583 w 596"/>
                <a:gd name="T5" fmla="*/ 224 h 590"/>
                <a:gd name="T6" fmla="*/ 592 w 596"/>
                <a:gd name="T7" fmla="*/ 308 h 590"/>
                <a:gd name="T8" fmla="*/ 561 w 596"/>
                <a:gd name="T9" fmla="*/ 442 h 590"/>
                <a:gd name="T10" fmla="*/ 446 w 596"/>
                <a:gd name="T11" fmla="*/ 553 h 590"/>
                <a:gd name="T12" fmla="*/ 295 w 596"/>
                <a:gd name="T13" fmla="*/ 589 h 590"/>
                <a:gd name="T14" fmla="*/ 160 w 596"/>
                <a:gd name="T15" fmla="*/ 550 h 590"/>
                <a:gd name="T16" fmla="*/ 57 w 596"/>
                <a:gd name="T17" fmla="*/ 464 h 590"/>
                <a:gd name="T18" fmla="*/ 7 w 596"/>
                <a:gd name="T19" fmla="*/ 332 h 590"/>
                <a:gd name="T20" fmla="*/ 16 w 596"/>
                <a:gd name="T21" fmla="*/ 186 h 590"/>
                <a:gd name="T22" fmla="*/ 93 w 596"/>
                <a:gd name="T23" fmla="*/ 78 h 590"/>
                <a:gd name="T24" fmla="*/ 196 w 596"/>
                <a:gd name="T25" fmla="*/ 18 h 590"/>
                <a:gd name="T26" fmla="*/ 312 w 596"/>
                <a:gd name="T27" fmla="*/ 3 h 590"/>
                <a:gd name="T28" fmla="*/ 384 w 596"/>
                <a:gd name="T29" fmla="*/ 6 h 590"/>
                <a:gd name="T30" fmla="*/ 475 w 596"/>
                <a:gd name="T31" fmla="*/ 39 h 5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96"/>
                <a:gd name="T49" fmla="*/ 0 h 590"/>
                <a:gd name="T50" fmla="*/ 596 w 596"/>
                <a:gd name="T51" fmla="*/ 590 h 5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96" h="590">
                  <a:moveTo>
                    <a:pt x="475" y="39"/>
                  </a:moveTo>
                  <a:cubicBezTo>
                    <a:pt x="500" y="58"/>
                    <a:pt x="514" y="87"/>
                    <a:pt x="532" y="118"/>
                  </a:cubicBezTo>
                  <a:cubicBezTo>
                    <a:pt x="550" y="149"/>
                    <a:pt x="573" y="192"/>
                    <a:pt x="583" y="224"/>
                  </a:cubicBezTo>
                  <a:cubicBezTo>
                    <a:pt x="593" y="256"/>
                    <a:pt x="596" y="272"/>
                    <a:pt x="592" y="308"/>
                  </a:cubicBezTo>
                  <a:cubicBezTo>
                    <a:pt x="588" y="344"/>
                    <a:pt x="585" y="401"/>
                    <a:pt x="561" y="442"/>
                  </a:cubicBezTo>
                  <a:cubicBezTo>
                    <a:pt x="537" y="483"/>
                    <a:pt x="490" y="529"/>
                    <a:pt x="446" y="553"/>
                  </a:cubicBezTo>
                  <a:cubicBezTo>
                    <a:pt x="402" y="577"/>
                    <a:pt x="343" y="590"/>
                    <a:pt x="295" y="589"/>
                  </a:cubicBezTo>
                  <a:cubicBezTo>
                    <a:pt x="247" y="588"/>
                    <a:pt x="200" y="571"/>
                    <a:pt x="160" y="550"/>
                  </a:cubicBezTo>
                  <a:cubicBezTo>
                    <a:pt x="120" y="529"/>
                    <a:pt x="82" y="500"/>
                    <a:pt x="57" y="464"/>
                  </a:cubicBezTo>
                  <a:cubicBezTo>
                    <a:pt x="32" y="428"/>
                    <a:pt x="14" y="378"/>
                    <a:pt x="7" y="332"/>
                  </a:cubicBezTo>
                  <a:cubicBezTo>
                    <a:pt x="0" y="286"/>
                    <a:pt x="2" y="228"/>
                    <a:pt x="16" y="186"/>
                  </a:cubicBezTo>
                  <a:cubicBezTo>
                    <a:pt x="30" y="144"/>
                    <a:pt x="63" y="106"/>
                    <a:pt x="93" y="78"/>
                  </a:cubicBezTo>
                  <a:cubicBezTo>
                    <a:pt x="123" y="50"/>
                    <a:pt x="160" y="30"/>
                    <a:pt x="196" y="18"/>
                  </a:cubicBezTo>
                  <a:cubicBezTo>
                    <a:pt x="232" y="6"/>
                    <a:pt x="281" y="5"/>
                    <a:pt x="312" y="3"/>
                  </a:cubicBezTo>
                  <a:cubicBezTo>
                    <a:pt x="343" y="1"/>
                    <a:pt x="357" y="0"/>
                    <a:pt x="384" y="6"/>
                  </a:cubicBezTo>
                  <a:cubicBezTo>
                    <a:pt x="411" y="12"/>
                    <a:pt x="450" y="20"/>
                    <a:pt x="475" y="39"/>
                  </a:cubicBezTo>
                  <a:close/>
                </a:path>
              </a:pathLst>
            </a:custGeom>
            <a:solidFill>
              <a:srgbClr val="99CCFF"/>
            </a:solidFill>
            <a:ln w="9525">
              <a:solidFill>
                <a:schemeClr val="tx1"/>
              </a:solidFill>
              <a:round/>
              <a:headEnd/>
              <a:tailEnd/>
            </a:ln>
          </p:spPr>
          <p:txBody>
            <a:bodyPr/>
            <a:lstStyle/>
            <a:p>
              <a:endParaRPr lang="zh-CN" altLang="en-US"/>
            </a:p>
          </p:txBody>
        </p:sp>
        <p:sp>
          <p:nvSpPr>
            <p:cNvPr id="113" name="Freeform 45"/>
            <p:cNvSpPr>
              <a:spLocks/>
            </p:cNvSpPr>
            <p:nvPr/>
          </p:nvSpPr>
          <p:spPr bwMode="auto">
            <a:xfrm>
              <a:off x="4253" y="1002"/>
              <a:ext cx="426" cy="415"/>
            </a:xfrm>
            <a:custGeom>
              <a:avLst/>
              <a:gdLst>
                <a:gd name="T0" fmla="*/ 334 w 426"/>
                <a:gd name="T1" fmla="*/ 25 h 415"/>
                <a:gd name="T2" fmla="*/ 243 w 426"/>
                <a:gd name="T3" fmla="*/ 1 h 415"/>
                <a:gd name="T4" fmla="*/ 113 w 426"/>
                <a:gd name="T5" fmla="*/ 20 h 415"/>
                <a:gd name="T6" fmla="*/ 17 w 426"/>
                <a:gd name="T7" fmla="*/ 102 h 415"/>
                <a:gd name="T8" fmla="*/ 10 w 426"/>
                <a:gd name="T9" fmla="*/ 239 h 415"/>
                <a:gd name="T10" fmla="*/ 67 w 426"/>
                <a:gd name="T11" fmla="*/ 352 h 415"/>
                <a:gd name="T12" fmla="*/ 209 w 426"/>
                <a:gd name="T13" fmla="*/ 409 h 415"/>
                <a:gd name="T14" fmla="*/ 331 w 426"/>
                <a:gd name="T15" fmla="*/ 388 h 415"/>
                <a:gd name="T16" fmla="*/ 413 w 426"/>
                <a:gd name="T17" fmla="*/ 296 h 415"/>
                <a:gd name="T18" fmla="*/ 411 w 426"/>
                <a:gd name="T19" fmla="*/ 162 h 415"/>
                <a:gd name="T20" fmla="*/ 367 w 426"/>
                <a:gd name="T21" fmla="*/ 83 h 415"/>
                <a:gd name="T22" fmla="*/ 334 w 426"/>
                <a:gd name="T23" fmla="*/ 25 h 41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6"/>
                <a:gd name="T37" fmla="*/ 0 h 415"/>
                <a:gd name="T38" fmla="*/ 426 w 426"/>
                <a:gd name="T39" fmla="*/ 415 h 41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6" h="415">
                  <a:moveTo>
                    <a:pt x="334" y="25"/>
                  </a:moveTo>
                  <a:cubicBezTo>
                    <a:pt x="313" y="11"/>
                    <a:pt x="280" y="2"/>
                    <a:pt x="243" y="1"/>
                  </a:cubicBezTo>
                  <a:cubicBezTo>
                    <a:pt x="206" y="0"/>
                    <a:pt x="151" y="3"/>
                    <a:pt x="113" y="20"/>
                  </a:cubicBezTo>
                  <a:cubicBezTo>
                    <a:pt x="75" y="37"/>
                    <a:pt x="34" y="65"/>
                    <a:pt x="17" y="102"/>
                  </a:cubicBezTo>
                  <a:cubicBezTo>
                    <a:pt x="0" y="139"/>
                    <a:pt x="2" y="197"/>
                    <a:pt x="10" y="239"/>
                  </a:cubicBezTo>
                  <a:cubicBezTo>
                    <a:pt x="18" y="281"/>
                    <a:pt x="34" y="324"/>
                    <a:pt x="67" y="352"/>
                  </a:cubicBezTo>
                  <a:cubicBezTo>
                    <a:pt x="100" y="380"/>
                    <a:pt x="165" y="403"/>
                    <a:pt x="209" y="409"/>
                  </a:cubicBezTo>
                  <a:cubicBezTo>
                    <a:pt x="253" y="415"/>
                    <a:pt x="297" y="407"/>
                    <a:pt x="331" y="388"/>
                  </a:cubicBezTo>
                  <a:cubicBezTo>
                    <a:pt x="365" y="369"/>
                    <a:pt x="400" y="334"/>
                    <a:pt x="413" y="296"/>
                  </a:cubicBezTo>
                  <a:cubicBezTo>
                    <a:pt x="426" y="258"/>
                    <a:pt x="419" y="197"/>
                    <a:pt x="411" y="162"/>
                  </a:cubicBezTo>
                  <a:cubicBezTo>
                    <a:pt x="403" y="127"/>
                    <a:pt x="381" y="106"/>
                    <a:pt x="367" y="83"/>
                  </a:cubicBezTo>
                  <a:cubicBezTo>
                    <a:pt x="353" y="60"/>
                    <a:pt x="355" y="39"/>
                    <a:pt x="334" y="25"/>
                  </a:cubicBezTo>
                  <a:close/>
                </a:path>
              </a:pathLst>
            </a:custGeom>
            <a:solidFill>
              <a:srgbClr val="CCCCFF"/>
            </a:solidFill>
            <a:ln w="9525">
              <a:solidFill>
                <a:schemeClr val="tx1"/>
              </a:solidFill>
              <a:round/>
              <a:headEnd/>
              <a:tailEnd/>
            </a:ln>
          </p:spPr>
          <p:txBody>
            <a:bodyPr/>
            <a:lstStyle/>
            <a:p>
              <a:endParaRPr lang="zh-CN" altLang="en-US"/>
            </a:p>
          </p:txBody>
        </p:sp>
        <p:sp>
          <p:nvSpPr>
            <p:cNvPr id="114" name="Freeform 46"/>
            <p:cNvSpPr>
              <a:spLocks/>
            </p:cNvSpPr>
            <p:nvPr/>
          </p:nvSpPr>
          <p:spPr bwMode="auto">
            <a:xfrm>
              <a:off x="4878" y="778"/>
              <a:ext cx="406" cy="417"/>
            </a:xfrm>
            <a:custGeom>
              <a:avLst/>
              <a:gdLst>
                <a:gd name="T0" fmla="*/ 131 w 406"/>
                <a:gd name="T1" fmla="*/ 16 h 417"/>
                <a:gd name="T2" fmla="*/ 230 w 406"/>
                <a:gd name="T3" fmla="*/ 9 h 417"/>
                <a:gd name="T4" fmla="*/ 321 w 406"/>
                <a:gd name="T5" fmla="*/ 69 h 417"/>
                <a:gd name="T6" fmla="*/ 395 w 406"/>
                <a:gd name="T7" fmla="*/ 160 h 417"/>
                <a:gd name="T8" fmla="*/ 386 w 406"/>
                <a:gd name="T9" fmla="*/ 319 h 417"/>
                <a:gd name="T10" fmla="*/ 273 w 406"/>
                <a:gd name="T11" fmla="*/ 400 h 417"/>
                <a:gd name="T12" fmla="*/ 138 w 406"/>
                <a:gd name="T13" fmla="*/ 405 h 417"/>
                <a:gd name="T14" fmla="*/ 28 w 406"/>
                <a:gd name="T15" fmla="*/ 328 h 417"/>
                <a:gd name="T16" fmla="*/ 2 w 406"/>
                <a:gd name="T17" fmla="*/ 213 h 417"/>
                <a:gd name="T18" fmla="*/ 14 w 406"/>
                <a:gd name="T19" fmla="*/ 122 h 417"/>
                <a:gd name="T20" fmla="*/ 57 w 406"/>
                <a:gd name="T21" fmla="*/ 60 h 417"/>
                <a:gd name="T22" fmla="*/ 131 w 406"/>
                <a:gd name="T23" fmla="*/ 16 h 4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6"/>
                <a:gd name="T37" fmla="*/ 0 h 417"/>
                <a:gd name="T38" fmla="*/ 406 w 406"/>
                <a:gd name="T39" fmla="*/ 417 h 4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6" h="417">
                  <a:moveTo>
                    <a:pt x="131" y="16"/>
                  </a:moveTo>
                  <a:cubicBezTo>
                    <a:pt x="160" y="8"/>
                    <a:pt x="198" y="0"/>
                    <a:pt x="230" y="9"/>
                  </a:cubicBezTo>
                  <a:cubicBezTo>
                    <a:pt x="262" y="18"/>
                    <a:pt x="294" y="44"/>
                    <a:pt x="321" y="69"/>
                  </a:cubicBezTo>
                  <a:cubicBezTo>
                    <a:pt x="348" y="94"/>
                    <a:pt x="384" y="118"/>
                    <a:pt x="395" y="160"/>
                  </a:cubicBezTo>
                  <a:cubicBezTo>
                    <a:pt x="406" y="202"/>
                    <a:pt x="406" y="279"/>
                    <a:pt x="386" y="319"/>
                  </a:cubicBezTo>
                  <a:cubicBezTo>
                    <a:pt x="366" y="359"/>
                    <a:pt x="314" y="386"/>
                    <a:pt x="273" y="400"/>
                  </a:cubicBezTo>
                  <a:cubicBezTo>
                    <a:pt x="232" y="414"/>
                    <a:pt x="179" y="417"/>
                    <a:pt x="138" y="405"/>
                  </a:cubicBezTo>
                  <a:cubicBezTo>
                    <a:pt x="97" y="393"/>
                    <a:pt x="51" y="360"/>
                    <a:pt x="28" y="328"/>
                  </a:cubicBezTo>
                  <a:cubicBezTo>
                    <a:pt x="5" y="296"/>
                    <a:pt x="4" y="247"/>
                    <a:pt x="2" y="213"/>
                  </a:cubicBezTo>
                  <a:cubicBezTo>
                    <a:pt x="0" y="179"/>
                    <a:pt x="5" y="148"/>
                    <a:pt x="14" y="122"/>
                  </a:cubicBezTo>
                  <a:cubicBezTo>
                    <a:pt x="23" y="96"/>
                    <a:pt x="37" y="78"/>
                    <a:pt x="57" y="60"/>
                  </a:cubicBezTo>
                  <a:cubicBezTo>
                    <a:pt x="77" y="42"/>
                    <a:pt x="102" y="24"/>
                    <a:pt x="131" y="16"/>
                  </a:cubicBezTo>
                  <a:close/>
                </a:path>
              </a:pathLst>
            </a:custGeom>
            <a:solidFill>
              <a:srgbClr val="CCCCFF"/>
            </a:solidFill>
            <a:ln w="9525">
              <a:solidFill>
                <a:schemeClr val="tx1"/>
              </a:solidFill>
              <a:round/>
              <a:headEnd/>
              <a:tailEnd/>
            </a:ln>
          </p:spPr>
          <p:txBody>
            <a:bodyPr/>
            <a:lstStyle/>
            <a:p>
              <a:endParaRPr lang="zh-CN" altLang="en-US"/>
            </a:p>
          </p:txBody>
        </p:sp>
        <p:sp>
          <p:nvSpPr>
            <p:cNvPr id="115" name="Freeform 47" descr="软木塞"/>
            <p:cNvSpPr>
              <a:spLocks/>
            </p:cNvSpPr>
            <p:nvPr/>
          </p:nvSpPr>
          <p:spPr bwMode="auto">
            <a:xfrm>
              <a:off x="4335" y="1070"/>
              <a:ext cx="275" cy="283"/>
            </a:xfrm>
            <a:custGeom>
              <a:avLst/>
              <a:gdLst>
                <a:gd name="T0" fmla="*/ 185 w 275"/>
                <a:gd name="T1" fmla="*/ 3 h 283"/>
                <a:gd name="T2" fmla="*/ 72 w 275"/>
                <a:gd name="T3" fmla="*/ 15 h 283"/>
                <a:gd name="T4" fmla="*/ 12 w 275"/>
                <a:gd name="T5" fmla="*/ 92 h 283"/>
                <a:gd name="T6" fmla="*/ 12 w 275"/>
                <a:gd name="T7" fmla="*/ 202 h 283"/>
                <a:gd name="T8" fmla="*/ 86 w 275"/>
                <a:gd name="T9" fmla="*/ 272 h 283"/>
                <a:gd name="T10" fmla="*/ 197 w 275"/>
                <a:gd name="T11" fmla="*/ 269 h 283"/>
                <a:gd name="T12" fmla="*/ 264 w 275"/>
                <a:gd name="T13" fmla="*/ 192 h 283"/>
                <a:gd name="T14" fmla="*/ 261 w 275"/>
                <a:gd name="T15" fmla="*/ 82 h 283"/>
                <a:gd name="T16" fmla="*/ 223 w 275"/>
                <a:gd name="T17" fmla="*/ 32 h 283"/>
                <a:gd name="T18" fmla="*/ 185 w 275"/>
                <a:gd name="T19" fmla="*/ 3 h 2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5"/>
                <a:gd name="T31" fmla="*/ 0 h 283"/>
                <a:gd name="T32" fmla="*/ 275 w 275"/>
                <a:gd name="T33" fmla="*/ 283 h 28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5" h="283">
                  <a:moveTo>
                    <a:pt x="185" y="3"/>
                  </a:moveTo>
                  <a:cubicBezTo>
                    <a:pt x="160" y="0"/>
                    <a:pt x="101" y="0"/>
                    <a:pt x="72" y="15"/>
                  </a:cubicBezTo>
                  <a:cubicBezTo>
                    <a:pt x="43" y="30"/>
                    <a:pt x="22" y="61"/>
                    <a:pt x="12" y="92"/>
                  </a:cubicBezTo>
                  <a:cubicBezTo>
                    <a:pt x="2" y="123"/>
                    <a:pt x="0" y="172"/>
                    <a:pt x="12" y="202"/>
                  </a:cubicBezTo>
                  <a:cubicBezTo>
                    <a:pt x="24" y="232"/>
                    <a:pt x="55" y="261"/>
                    <a:pt x="86" y="272"/>
                  </a:cubicBezTo>
                  <a:cubicBezTo>
                    <a:pt x="117" y="283"/>
                    <a:pt x="167" y="282"/>
                    <a:pt x="197" y="269"/>
                  </a:cubicBezTo>
                  <a:cubicBezTo>
                    <a:pt x="227" y="256"/>
                    <a:pt x="253" y="223"/>
                    <a:pt x="264" y="192"/>
                  </a:cubicBezTo>
                  <a:cubicBezTo>
                    <a:pt x="275" y="161"/>
                    <a:pt x="268" y="109"/>
                    <a:pt x="261" y="82"/>
                  </a:cubicBezTo>
                  <a:cubicBezTo>
                    <a:pt x="254" y="55"/>
                    <a:pt x="236" y="45"/>
                    <a:pt x="223" y="32"/>
                  </a:cubicBezTo>
                  <a:cubicBezTo>
                    <a:pt x="210" y="19"/>
                    <a:pt x="209" y="8"/>
                    <a:pt x="185" y="3"/>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116" name="Freeform 48" descr="软木塞"/>
            <p:cNvSpPr>
              <a:spLocks/>
            </p:cNvSpPr>
            <p:nvPr/>
          </p:nvSpPr>
          <p:spPr bwMode="auto">
            <a:xfrm>
              <a:off x="4934" y="847"/>
              <a:ext cx="280" cy="277"/>
            </a:xfrm>
            <a:custGeom>
              <a:avLst/>
              <a:gdLst>
                <a:gd name="T0" fmla="*/ 6 w 280"/>
                <a:gd name="T1" fmla="*/ 125 h 277"/>
                <a:gd name="T2" fmla="*/ 39 w 280"/>
                <a:gd name="T3" fmla="*/ 41 h 277"/>
                <a:gd name="T4" fmla="*/ 138 w 280"/>
                <a:gd name="T5" fmla="*/ 0 h 277"/>
                <a:gd name="T6" fmla="*/ 229 w 280"/>
                <a:gd name="T7" fmla="*/ 41 h 277"/>
                <a:gd name="T8" fmla="*/ 277 w 280"/>
                <a:gd name="T9" fmla="*/ 120 h 277"/>
                <a:gd name="T10" fmla="*/ 246 w 280"/>
                <a:gd name="T11" fmla="*/ 235 h 277"/>
                <a:gd name="T12" fmla="*/ 138 w 280"/>
                <a:gd name="T13" fmla="*/ 274 h 277"/>
                <a:gd name="T14" fmla="*/ 54 w 280"/>
                <a:gd name="T15" fmla="*/ 255 h 277"/>
                <a:gd name="T16" fmla="*/ 8 w 280"/>
                <a:gd name="T17" fmla="*/ 185 h 277"/>
                <a:gd name="T18" fmla="*/ 6 w 280"/>
                <a:gd name="T19" fmla="*/ 125 h 2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277"/>
                <a:gd name="T32" fmla="*/ 280 w 280"/>
                <a:gd name="T33" fmla="*/ 277 h 2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277">
                  <a:moveTo>
                    <a:pt x="6" y="125"/>
                  </a:moveTo>
                  <a:cubicBezTo>
                    <a:pt x="11" y="101"/>
                    <a:pt x="17" y="62"/>
                    <a:pt x="39" y="41"/>
                  </a:cubicBezTo>
                  <a:cubicBezTo>
                    <a:pt x="61" y="20"/>
                    <a:pt x="106" y="0"/>
                    <a:pt x="138" y="0"/>
                  </a:cubicBezTo>
                  <a:cubicBezTo>
                    <a:pt x="170" y="0"/>
                    <a:pt x="206" y="21"/>
                    <a:pt x="229" y="41"/>
                  </a:cubicBezTo>
                  <a:cubicBezTo>
                    <a:pt x="252" y="61"/>
                    <a:pt x="274" y="88"/>
                    <a:pt x="277" y="120"/>
                  </a:cubicBezTo>
                  <a:cubicBezTo>
                    <a:pt x="280" y="152"/>
                    <a:pt x="269" y="209"/>
                    <a:pt x="246" y="235"/>
                  </a:cubicBezTo>
                  <a:cubicBezTo>
                    <a:pt x="223" y="261"/>
                    <a:pt x="170" y="271"/>
                    <a:pt x="138" y="274"/>
                  </a:cubicBezTo>
                  <a:cubicBezTo>
                    <a:pt x="106" y="277"/>
                    <a:pt x="76" y="270"/>
                    <a:pt x="54" y="255"/>
                  </a:cubicBezTo>
                  <a:cubicBezTo>
                    <a:pt x="32" y="240"/>
                    <a:pt x="16" y="207"/>
                    <a:pt x="8" y="185"/>
                  </a:cubicBezTo>
                  <a:cubicBezTo>
                    <a:pt x="0" y="163"/>
                    <a:pt x="1" y="149"/>
                    <a:pt x="6" y="125"/>
                  </a:cubicBez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117" name="Line 49"/>
            <p:cNvSpPr>
              <a:spLocks noChangeShapeType="1"/>
            </p:cNvSpPr>
            <p:nvPr/>
          </p:nvSpPr>
          <p:spPr bwMode="auto">
            <a:xfrm>
              <a:off x="4719" y="814"/>
              <a:ext cx="55" cy="2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 name="Line 50"/>
            <p:cNvSpPr>
              <a:spLocks noChangeShapeType="1"/>
            </p:cNvSpPr>
            <p:nvPr/>
          </p:nvSpPr>
          <p:spPr bwMode="auto">
            <a:xfrm>
              <a:off x="4812" y="1142"/>
              <a:ext cx="58" cy="1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 name="Line 51"/>
            <p:cNvSpPr>
              <a:spLocks noChangeShapeType="1"/>
            </p:cNvSpPr>
            <p:nvPr/>
          </p:nvSpPr>
          <p:spPr bwMode="auto">
            <a:xfrm>
              <a:off x="4661" y="830"/>
              <a:ext cx="65" cy="2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Line 52"/>
            <p:cNvSpPr>
              <a:spLocks noChangeShapeType="1"/>
            </p:cNvSpPr>
            <p:nvPr/>
          </p:nvSpPr>
          <p:spPr bwMode="auto">
            <a:xfrm>
              <a:off x="4769" y="1181"/>
              <a:ext cx="60" cy="2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53"/>
            <p:cNvSpPr>
              <a:spLocks noChangeShapeType="1"/>
            </p:cNvSpPr>
            <p:nvPr/>
          </p:nvSpPr>
          <p:spPr bwMode="auto">
            <a:xfrm>
              <a:off x="4733" y="970"/>
              <a:ext cx="82"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 name="Text Box 54"/>
            <p:cNvSpPr txBox="1">
              <a:spLocks noChangeArrowheads="1"/>
            </p:cNvSpPr>
            <p:nvPr/>
          </p:nvSpPr>
          <p:spPr bwMode="auto">
            <a:xfrm>
              <a:off x="3894" y="600"/>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1800" b="1" dirty="0">
                  <a:solidFill>
                    <a:srgbClr val="000066"/>
                  </a:solidFill>
                  <a:latin typeface="幼圆" pitchFamily="49" charset="-122"/>
                  <a:ea typeface="幼圆" pitchFamily="49" charset="-122"/>
                </a:rPr>
                <a:t>自由水</a:t>
              </a:r>
            </a:p>
          </p:txBody>
        </p:sp>
        <p:sp>
          <p:nvSpPr>
            <p:cNvPr id="123" name="Line 55"/>
            <p:cNvSpPr>
              <a:spLocks noChangeShapeType="1"/>
            </p:cNvSpPr>
            <p:nvPr/>
          </p:nvSpPr>
          <p:spPr bwMode="auto">
            <a:xfrm>
              <a:off x="4419" y="763"/>
              <a:ext cx="22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4" name="Group 69"/>
          <p:cNvGrpSpPr>
            <a:grpSpLocks/>
          </p:cNvGrpSpPr>
          <p:nvPr/>
        </p:nvGrpSpPr>
        <p:grpSpPr bwMode="auto">
          <a:xfrm>
            <a:off x="165100" y="1117628"/>
            <a:ext cx="1646238" cy="2544777"/>
            <a:chOff x="172" y="704"/>
            <a:chExt cx="1037" cy="1603"/>
          </a:xfrm>
        </p:grpSpPr>
        <p:sp>
          <p:nvSpPr>
            <p:cNvPr id="125" name="Text Box 71"/>
            <p:cNvSpPr txBox="1">
              <a:spLocks noChangeArrowheads="1"/>
            </p:cNvSpPr>
            <p:nvPr/>
          </p:nvSpPr>
          <p:spPr bwMode="auto">
            <a:xfrm>
              <a:off x="375" y="1782"/>
              <a:ext cx="7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rPr>
                <a:t>稠度状态</a:t>
              </a:r>
              <a:endParaRPr kumimoji="1" lang="zh-CN" altLang="en-US" sz="2000" b="1" dirty="0">
                <a:solidFill>
                  <a:srgbClr val="000066"/>
                </a:solidFill>
                <a:latin typeface="幼圆" pitchFamily="49" charset="-122"/>
                <a:ea typeface="幼圆" pitchFamily="49" charset="-122"/>
                <a:sym typeface="Symbol" pitchFamily="18" charset="2"/>
              </a:endParaRPr>
            </a:p>
          </p:txBody>
        </p:sp>
        <p:sp>
          <p:nvSpPr>
            <p:cNvPr id="126" name="Text Box 72"/>
            <p:cNvSpPr txBox="1">
              <a:spLocks noChangeArrowheads="1"/>
            </p:cNvSpPr>
            <p:nvPr/>
          </p:nvSpPr>
          <p:spPr bwMode="auto">
            <a:xfrm>
              <a:off x="468" y="2113"/>
              <a:ext cx="63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smtClean="0">
                  <a:solidFill>
                    <a:srgbClr val="000066"/>
                  </a:solidFill>
                  <a:latin typeface="幼圆" pitchFamily="49" charset="-122"/>
                  <a:ea typeface="幼圆" pitchFamily="49" charset="-122"/>
                </a:rPr>
                <a:t>含水量</a:t>
              </a:r>
              <a:r>
                <a:rPr kumimoji="1" lang="en-US" altLang="zh-CN" sz="2000" b="1" i="1" dirty="0" smtClean="0">
                  <a:solidFill>
                    <a:srgbClr val="000066"/>
                  </a:solidFill>
                  <a:ea typeface="幼圆" pitchFamily="49" charset="-122"/>
                  <a:cs typeface="Times New Roman" panose="02020603050405020304" pitchFamily="18" charset="0"/>
                </a:rPr>
                <a:t>w</a:t>
              </a:r>
              <a:endParaRPr kumimoji="1" lang="zh-CN" altLang="en-US" sz="2000" b="1" i="1" dirty="0">
                <a:solidFill>
                  <a:srgbClr val="000066"/>
                </a:solidFill>
                <a:ea typeface="幼圆" pitchFamily="49" charset="-122"/>
                <a:cs typeface="Times New Roman" panose="02020603050405020304" pitchFamily="18" charset="0"/>
              </a:endParaRPr>
            </a:p>
          </p:txBody>
        </p:sp>
        <p:sp>
          <p:nvSpPr>
            <p:cNvPr id="127" name="Text Box 73"/>
            <p:cNvSpPr txBox="1">
              <a:spLocks noChangeArrowheads="1"/>
            </p:cNvSpPr>
            <p:nvPr/>
          </p:nvSpPr>
          <p:spPr bwMode="auto">
            <a:xfrm>
              <a:off x="172" y="1490"/>
              <a:ext cx="93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a:solidFill>
                    <a:srgbClr val="000066"/>
                  </a:solidFill>
                  <a:latin typeface="幼圆" pitchFamily="49" charset="-122"/>
                  <a:ea typeface="幼圆" pitchFamily="49" charset="-122"/>
                  <a:sym typeface="Symbol" pitchFamily="18" charset="2"/>
                </a:rPr>
                <a:t>土中</a:t>
              </a:r>
              <a:r>
                <a:rPr kumimoji="1" lang="zh-CN" altLang="en-US" sz="2000" b="1" dirty="0" smtClean="0">
                  <a:solidFill>
                    <a:srgbClr val="000066"/>
                  </a:solidFill>
                  <a:latin typeface="幼圆" pitchFamily="49" charset="-122"/>
                  <a:ea typeface="幼圆" pitchFamily="49" charset="-122"/>
                  <a:sym typeface="Symbol" pitchFamily="18" charset="2"/>
                </a:rPr>
                <a:t>水形态</a:t>
              </a:r>
              <a:endParaRPr kumimoji="1" lang="en-US" altLang="zh-CN" sz="2000" b="1" dirty="0">
                <a:solidFill>
                  <a:srgbClr val="000066"/>
                </a:solidFill>
                <a:latin typeface="幼圆" pitchFamily="49" charset="-122"/>
                <a:ea typeface="幼圆" pitchFamily="49" charset="-122"/>
                <a:sym typeface="Symbol" pitchFamily="18" charset="2"/>
              </a:endParaRPr>
            </a:p>
          </p:txBody>
        </p:sp>
        <p:sp>
          <p:nvSpPr>
            <p:cNvPr id="128" name="Text Box 74"/>
            <p:cNvSpPr txBox="1">
              <a:spLocks noChangeArrowheads="1"/>
            </p:cNvSpPr>
            <p:nvPr/>
          </p:nvSpPr>
          <p:spPr bwMode="auto">
            <a:xfrm>
              <a:off x="374" y="704"/>
              <a:ext cx="83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dirty="0" smtClean="0">
                  <a:solidFill>
                    <a:srgbClr val="000066"/>
                  </a:solidFill>
                  <a:latin typeface="幼圆" pitchFamily="49" charset="-122"/>
                  <a:ea typeface="幼圆" pitchFamily="49" charset="-122"/>
                </a:rPr>
                <a:t>土中水形态示意图</a:t>
              </a:r>
              <a:endParaRPr lang="zh-CN" altLang="en-US" sz="2000" b="1" dirty="0">
                <a:solidFill>
                  <a:srgbClr val="000066"/>
                </a:solidFill>
                <a:latin typeface="幼圆" pitchFamily="49" charset="-122"/>
                <a:ea typeface="幼圆" pitchFamily="49" charset="-122"/>
              </a:endParaRPr>
            </a:p>
          </p:txBody>
        </p:sp>
      </p:grpSp>
      <p:grpSp>
        <p:nvGrpSpPr>
          <p:cNvPr id="129" name="组合 128"/>
          <p:cNvGrpSpPr/>
          <p:nvPr/>
        </p:nvGrpSpPr>
        <p:grpSpPr>
          <a:xfrm>
            <a:off x="1990664" y="3390747"/>
            <a:ext cx="6404036" cy="317650"/>
            <a:chOff x="1990664" y="3619350"/>
            <a:chExt cx="6404036" cy="317650"/>
          </a:xfrm>
        </p:grpSpPr>
        <p:sp>
          <p:nvSpPr>
            <p:cNvPr id="130" name="矩形 129"/>
            <p:cNvSpPr/>
            <p:nvPr/>
          </p:nvSpPr>
          <p:spPr>
            <a:xfrm rot="5400000">
              <a:off x="5008457" y="601557"/>
              <a:ext cx="317650" cy="6353235"/>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Text Box 21"/>
            <p:cNvSpPr txBox="1">
              <a:spLocks noChangeArrowheads="1"/>
            </p:cNvSpPr>
            <p:nvPr/>
          </p:nvSpPr>
          <p:spPr bwMode="auto">
            <a:xfrm>
              <a:off x="2021666" y="3625850"/>
              <a:ext cx="637303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1800" b="1" dirty="0" smtClean="0">
                  <a:solidFill>
                    <a:srgbClr val="000066"/>
                  </a:solidFill>
                  <a:latin typeface="Arial" charset="0"/>
                  <a:ea typeface="幼圆" pitchFamily="49" charset="-122"/>
                </a:rPr>
                <a:t>低                                                                                            高</a:t>
              </a:r>
              <a:endParaRPr kumimoji="1" lang="zh-CN" altLang="en-US" sz="1800" b="1" dirty="0">
                <a:solidFill>
                  <a:srgbClr val="000066"/>
                </a:solidFill>
                <a:latin typeface="Arial" charset="0"/>
                <a:ea typeface="幼圆" pitchFamily="49" charset="-122"/>
              </a:endParaRPr>
            </a:p>
          </p:txBody>
        </p:sp>
      </p:grpSp>
      <p:cxnSp>
        <p:nvCxnSpPr>
          <p:cNvPr id="89" name="直接箭头连接符 88"/>
          <p:cNvCxnSpPr/>
          <p:nvPr/>
        </p:nvCxnSpPr>
        <p:spPr>
          <a:xfrm flipV="1">
            <a:off x="6401316" y="3387221"/>
            <a:ext cx="0" cy="409538"/>
          </a:xfrm>
          <a:prstGeom prst="straightConnector1">
            <a:avLst/>
          </a:prstGeom>
          <a:ln w="19050">
            <a:solidFill>
              <a:srgbClr val="C0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072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wipe(down)">
                                      <p:cBhvr>
                                        <p:cTn id="7" dur="2000"/>
                                        <p:tgtEl>
                                          <p:spTgt spid="89"/>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1408007"/>
                                        </p:tgtEl>
                                        <p:attrNameLst>
                                          <p:attrName>style.visibility</p:attrName>
                                        </p:attrNameLst>
                                      </p:cBhvr>
                                      <p:to>
                                        <p:strVal val="visible"/>
                                      </p:to>
                                    </p:se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80"/>
                                        </p:tgtEl>
                                        <p:attrNameLst>
                                          <p:attrName>style.visibility</p:attrName>
                                        </p:attrNameLst>
                                      </p:cBhvr>
                                      <p:to>
                                        <p:strVal val="visible"/>
                                      </p:to>
                                    </p:set>
                                    <p:animEffect transition="in" filter="wipe(left)">
                                      <p:cBhvr>
                                        <p:cTn id="14" dur="10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8007" grpId="0" animBg="1"/>
      <p:bldP spid="8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09027" name="Object 3"/>
          <p:cNvGraphicFramePr>
            <a:graphicFrameLocks noChangeAspect="1"/>
          </p:cNvGraphicFramePr>
          <p:nvPr>
            <p:extLst>
              <p:ext uri="{D42A27DB-BD31-4B8C-83A1-F6EECF244321}">
                <p14:modId xmlns:p14="http://schemas.microsoft.com/office/powerpoint/2010/main" val="2251073946"/>
              </p:ext>
            </p:extLst>
          </p:nvPr>
        </p:nvGraphicFramePr>
        <p:xfrm>
          <a:off x="1234544" y="2856178"/>
          <a:ext cx="1954212" cy="1062037"/>
        </p:xfrm>
        <a:graphic>
          <a:graphicData uri="http://schemas.openxmlformats.org/presentationml/2006/ole">
            <mc:AlternateContent xmlns:mc="http://schemas.openxmlformats.org/markup-compatibility/2006">
              <mc:Choice xmlns:v="urn:schemas-microsoft-com:vml" Requires="v">
                <p:oleObj spid="_x0000_s63601" name="公式" r:id="rId4" imgW="863280" imgH="469800" progId="Equation.3">
                  <p:embed/>
                </p:oleObj>
              </mc:Choice>
              <mc:Fallback>
                <p:oleObj name="公式" r:id="rId4" imgW="863280" imgH="469800" progId="Equation.3">
                  <p:embed/>
                  <p:pic>
                    <p:nvPicPr>
                      <p:cNvPr id="0" name=""/>
                      <p:cNvPicPr>
                        <a:picLocks noChangeAspect="1" noChangeArrowheads="1"/>
                      </p:cNvPicPr>
                      <p:nvPr/>
                    </p:nvPicPr>
                    <p:blipFill>
                      <a:blip r:embed="rId5"/>
                      <a:srcRect/>
                      <a:stretch>
                        <a:fillRect/>
                      </a:stretch>
                    </p:blipFill>
                    <p:spPr bwMode="auto">
                      <a:xfrm>
                        <a:off x="1234544" y="2856178"/>
                        <a:ext cx="1954212" cy="1062037"/>
                      </a:xfrm>
                      <a:prstGeom prst="rect">
                        <a:avLst/>
                      </a:prstGeom>
                      <a:noFill/>
                      <a:ln>
                        <a:noFill/>
                      </a:ln>
                      <a:effectLst/>
                      <a:extLst/>
                    </p:spPr>
                  </p:pic>
                </p:oleObj>
              </mc:Fallback>
            </mc:AlternateContent>
          </a:graphicData>
        </a:graphic>
      </p:graphicFrame>
      <p:sp>
        <p:nvSpPr>
          <p:cNvPr id="1409038" name="Text Box 14"/>
          <p:cNvSpPr txBox="1">
            <a:spLocks noChangeArrowheads="1"/>
          </p:cNvSpPr>
          <p:nvPr/>
        </p:nvSpPr>
        <p:spPr bwMode="auto">
          <a:xfrm>
            <a:off x="5596466" y="3023660"/>
            <a:ext cx="3302000" cy="1846659"/>
          </a:xfrm>
          <a:prstGeom prst="rect">
            <a:avLst/>
          </a:prstGeom>
          <a:solidFill>
            <a:schemeClr val="accent6">
              <a:lumMod val="40000"/>
              <a:lumOff val="60000"/>
            </a:schemeClr>
          </a:solidFill>
          <a:ln>
            <a:noFill/>
          </a:ln>
        </p:spPr>
        <p:txBody>
          <a:bodyPr wrap="square" lIns="0" tIns="0" rIns="0" bIns="0">
            <a:spAutoFit/>
          </a:bodyPr>
          <a:lstStyle>
            <a:lvl1pPr eaLnBrk="0" hangingPunct="0">
              <a:tabLst>
                <a:tab pos="1966913" algn="l"/>
              </a:tabLst>
              <a:defRPr sz="1400">
                <a:solidFill>
                  <a:schemeClr val="tx1"/>
                </a:solidFill>
                <a:latin typeface="Times New Roman" pitchFamily="18" charset="0"/>
                <a:ea typeface="宋体" charset="-122"/>
              </a:defRPr>
            </a:lvl1pPr>
            <a:lvl2pPr marL="742950" indent="-285750" eaLnBrk="0" hangingPunct="0">
              <a:tabLst>
                <a:tab pos="1966913" algn="l"/>
              </a:tabLst>
              <a:defRPr sz="1400">
                <a:solidFill>
                  <a:schemeClr val="tx1"/>
                </a:solidFill>
                <a:latin typeface="Times New Roman" pitchFamily="18" charset="0"/>
                <a:ea typeface="宋体" charset="-122"/>
              </a:defRPr>
            </a:lvl2pPr>
            <a:lvl3pPr marL="1143000" indent="-228600" eaLnBrk="0" hangingPunct="0">
              <a:tabLst>
                <a:tab pos="1966913" algn="l"/>
              </a:tabLst>
              <a:defRPr sz="1400">
                <a:solidFill>
                  <a:schemeClr val="tx1"/>
                </a:solidFill>
                <a:latin typeface="Times New Roman" pitchFamily="18" charset="0"/>
                <a:ea typeface="宋体" charset="-122"/>
              </a:defRPr>
            </a:lvl3pPr>
            <a:lvl4pPr marL="1600200" indent="-228600" eaLnBrk="0" hangingPunct="0">
              <a:tabLst>
                <a:tab pos="1966913" algn="l"/>
              </a:tabLst>
              <a:defRPr sz="1400">
                <a:solidFill>
                  <a:schemeClr val="tx1"/>
                </a:solidFill>
                <a:latin typeface="Times New Roman" pitchFamily="18" charset="0"/>
                <a:ea typeface="宋体" charset="-122"/>
              </a:defRPr>
            </a:lvl4pPr>
            <a:lvl5pPr marL="2057400" indent="-228600" eaLnBrk="0" hangingPunct="0">
              <a:tabLst>
                <a:tab pos="1966913" algn="l"/>
              </a:tabLst>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tabLst>
                <a:tab pos="1966913" algn="l"/>
              </a:tabLs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tabLst>
                <a:tab pos="1966913" algn="l"/>
              </a:tabLs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tabLst>
                <a:tab pos="1966913" algn="l"/>
              </a:tabLs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tabLst>
                <a:tab pos="1966913" algn="l"/>
              </a:tabLs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kumimoji="1" lang="en-US" altLang="zh-CN" sz="2000" b="1" dirty="0">
                <a:solidFill>
                  <a:srgbClr val="000066"/>
                </a:solidFill>
                <a:ea typeface="华文新魏" pitchFamily="2" charset="-122"/>
              </a:rPr>
              <a:t>   </a:t>
            </a:r>
            <a:r>
              <a:rPr kumimoji="1" lang="en-US" altLang="zh-CN" sz="2000" b="1" dirty="0" smtClean="0">
                <a:solidFill>
                  <a:srgbClr val="000066"/>
                </a:solidFill>
                <a:ea typeface="华文新魏" pitchFamily="2" charset="-122"/>
              </a:rPr>
              <a:t>         </a:t>
            </a:r>
            <a:r>
              <a:rPr kumimoji="1" lang="en-US" altLang="zh-CN" sz="2000" b="1" i="1" dirty="0" smtClean="0">
                <a:solidFill>
                  <a:srgbClr val="000066"/>
                </a:solidFill>
                <a:ea typeface="华文新魏" pitchFamily="2" charset="-122"/>
              </a:rPr>
              <a:t>I</a:t>
            </a:r>
            <a:r>
              <a:rPr kumimoji="1" lang="en-US" altLang="zh-CN" sz="2000" b="1" i="1" baseline="-25000" dirty="0" smtClean="0">
                <a:solidFill>
                  <a:srgbClr val="000066"/>
                </a:solidFill>
                <a:ea typeface="华文新魏" pitchFamily="2" charset="-122"/>
              </a:rPr>
              <a:t>L </a:t>
            </a:r>
            <a:r>
              <a:rPr kumimoji="1" lang="en-US" altLang="zh-CN" sz="2000" b="1" dirty="0" smtClean="0">
                <a:solidFill>
                  <a:srgbClr val="000066"/>
                </a:solidFill>
                <a:ea typeface="华文新魏" pitchFamily="2" charset="-122"/>
                <a:sym typeface="Symbol" pitchFamily="18" charset="2"/>
              </a:rPr>
              <a:t></a:t>
            </a:r>
            <a:r>
              <a:rPr kumimoji="1" lang="en-US" altLang="zh-CN" sz="2000" b="1" dirty="0">
                <a:solidFill>
                  <a:srgbClr val="000066"/>
                </a:solidFill>
                <a:ea typeface="华文新魏" pitchFamily="2" charset="-122"/>
              </a:rPr>
              <a:t>0        </a:t>
            </a:r>
            <a:r>
              <a:rPr kumimoji="1" lang="zh-CN" altLang="en-US" sz="2000" b="1" dirty="0">
                <a:solidFill>
                  <a:srgbClr val="000066"/>
                </a:solidFill>
                <a:ea typeface="幼圆" pitchFamily="49" charset="-122"/>
              </a:rPr>
              <a:t>坚硬</a:t>
            </a:r>
            <a:r>
              <a:rPr kumimoji="1" lang="en-US" altLang="zh-CN" sz="2000" b="1" dirty="0">
                <a:solidFill>
                  <a:srgbClr val="000066"/>
                </a:solidFill>
                <a:ea typeface="幼圆" pitchFamily="49" charset="-122"/>
              </a:rPr>
              <a:t>(</a:t>
            </a:r>
            <a:r>
              <a:rPr kumimoji="1" lang="zh-CN" altLang="en-US" sz="2000" b="1" dirty="0">
                <a:solidFill>
                  <a:srgbClr val="000066"/>
                </a:solidFill>
                <a:ea typeface="幼圆" pitchFamily="49" charset="-122"/>
              </a:rPr>
              <a:t>半固态</a:t>
            </a:r>
            <a:r>
              <a:rPr kumimoji="1" lang="en-US" altLang="zh-CN" sz="2000" b="1" dirty="0">
                <a:solidFill>
                  <a:srgbClr val="000066"/>
                </a:solidFill>
                <a:ea typeface="幼圆" pitchFamily="49" charset="-122"/>
              </a:rPr>
              <a:t>)</a:t>
            </a:r>
          </a:p>
          <a:p>
            <a:pPr eaLnBrk="1" hangingPunct="1">
              <a:lnSpc>
                <a:spcPct val="120000"/>
              </a:lnSpc>
              <a:spcBef>
                <a:spcPct val="0"/>
              </a:spcBef>
              <a:spcAft>
                <a:spcPct val="0"/>
              </a:spcAft>
            </a:pPr>
            <a:r>
              <a:rPr lang="en-US" altLang="zh-CN" sz="2000" b="1" dirty="0">
                <a:solidFill>
                  <a:srgbClr val="000066"/>
                </a:solidFill>
                <a:ea typeface="幼圆" pitchFamily="49" charset="-122"/>
              </a:rPr>
              <a:t>     </a:t>
            </a:r>
            <a:r>
              <a:rPr lang="en-US" altLang="zh-CN" sz="2000" b="1" dirty="0" smtClean="0">
                <a:solidFill>
                  <a:srgbClr val="000066"/>
                </a:solidFill>
                <a:ea typeface="幼圆" pitchFamily="49" charset="-122"/>
              </a:rPr>
              <a:t>  </a:t>
            </a:r>
            <a:r>
              <a:rPr lang="en-US" altLang="zh-CN" sz="2000" b="1" dirty="0">
                <a:solidFill>
                  <a:srgbClr val="000066"/>
                </a:solidFill>
                <a:ea typeface="幼圆" pitchFamily="49" charset="-122"/>
              </a:rPr>
              <a:t>0</a:t>
            </a:r>
            <a:r>
              <a:rPr lang="en-US" altLang="zh-CN" sz="2000" b="1" dirty="0" smtClean="0">
                <a:solidFill>
                  <a:srgbClr val="000066"/>
                </a:solidFill>
                <a:ea typeface="幼圆" pitchFamily="49" charset="-122"/>
              </a:rPr>
              <a:t>&lt; </a:t>
            </a:r>
            <a:r>
              <a:rPr lang="en-US" altLang="zh-CN" sz="2000" b="1" i="1" dirty="0" smtClean="0">
                <a:solidFill>
                  <a:srgbClr val="000066"/>
                </a:solidFill>
                <a:ea typeface="幼圆" pitchFamily="49" charset="-122"/>
              </a:rPr>
              <a:t>I</a:t>
            </a:r>
            <a:r>
              <a:rPr kumimoji="1" lang="en-US" altLang="zh-CN" sz="2000" b="1" i="1" baseline="-25000" dirty="0" smtClean="0">
                <a:solidFill>
                  <a:srgbClr val="000066"/>
                </a:solidFill>
                <a:ea typeface="幼圆" pitchFamily="49" charset="-122"/>
              </a:rPr>
              <a:t>L</a:t>
            </a:r>
            <a:r>
              <a:rPr kumimoji="1" lang="en-US" altLang="zh-CN" sz="2000" b="1" baseline="-25000" dirty="0" smtClean="0">
                <a:solidFill>
                  <a:srgbClr val="000066"/>
                </a:solidFill>
                <a:ea typeface="幼圆" pitchFamily="49" charset="-122"/>
              </a:rPr>
              <a:t> </a:t>
            </a:r>
            <a:r>
              <a:rPr kumimoji="1" lang="en-US" altLang="zh-CN" sz="2000" b="1" dirty="0" smtClean="0">
                <a:solidFill>
                  <a:srgbClr val="000066"/>
                </a:solidFill>
                <a:ea typeface="幼圆" pitchFamily="49" charset="-122"/>
                <a:sym typeface="Symbol" pitchFamily="18" charset="2"/>
              </a:rPr>
              <a:t></a:t>
            </a:r>
            <a:r>
              <a:rPr kumimoji="1" lang="en-US" altLang="zh-CN" sz="2000" b="1" dirty="0">
                <a:solidFill>
                  <a:srgbClr val="000066"/>
                </a:solidFill>
                <a:ea typeface="幼圆" pitchFamily="49" charset="-122"/>
              </a:rPr>
              <a:t>0.25	</a:t>
            </a:r>
            <a:r>
              <a:rPr kumimoji="1" lang="zh-CN" altLang="en-US" sz="2000" b="1" dirty="0">
                <a:solidFill>
                  <a:srgbClr val="000066"/>
                </a:solidFill>
                <a:ea typeface="幼圆" pitchFamily="49" charset="-122"/>
              </a:rPr>
              <a:t>硬塑</a:t>
            </a:r>
            <a:endParaRPr kumimoji="1" lang="en-US" altLang="zh-CN" sz="2000" b="1" dirty="0">
              <a:solidFill>
                <a:srgbClr val="000066"/>
              </a:solidFill>
              <a:ea typeface="幼圆" pitchFamily="49" charset="-122"/>
            </a:endParaRPr>
          </a:p>
          <a:p>
            <a:pPr eaLnBrk="1" hangingPunct="1">
              <a:lnSpc>
                <a:spcPct val="120000"/>
              </a:lnSpc>
              <a:spcBef>
                <a:spcPct val="0"/>
              </a:spcBef>
              <a:spcAft>
                <a:spcPct val="0"/>
              </a:spcAft>
            </a:pPr>
            <a:r>
              <a:rPr kumimoji="1" lang="en-US" altLang="zh-CN" sz="2000" b="1" dirty="0" smtClean="0">
                <a:solidFill>
                  <a:srgbClr val="000066"/>
                </a:solidFill>
                <a:ea typeface="幼圆" pitchFamily="49" charset="-122"/>
              </a:rPr>
              <a:t> 0.25 &lt; </a:t>
            </a:r>
            <a:r>
              <a:rPr kumimoji="1" lang="en-US" altLang="zh-CN" sz="2000" b="1" i="1" dirty="0" smtClean="0">
                <a:solidFill>
                  <a:srgbClr val="000066"/>
                </a:solidFill>
                <a:ea typeface="幼圆" pitchFamily="49" charset="-122"/>
              </a:rPr>
              <a:t>I</a:t>
            </a:r>
            <a:r>
              <a:rPr kumimoji="1" lang="en-US" altLang="zh-CN" sz="2000" b="1" i="1" baseline="-25000" dirty="0" smtClean="0">
                <a:solidFill>
                  <a:srgbClr val="000066"/>
                </a:solidFill>
                <a:ea typeface="幼圆" pitchFamily="49" charset="-122"/>
              </a:rPr>
              <a:t>L </a:t>
            </a:r>
            <a:r>
              <a:rPr kumimoji="1" lang="en-US" altLang="zh-CN" sz="2000" b="1" dirty="0" smtClean="0">
                <a:solidFill>
                  <a:srgbClr val="000066"/>
                </a:solidFill>
                <a:ea typeface="幼圆" pitchFamily="49" charset="-122"/>
                <a:sym typeface="Symbol" pitchFamily="18" charset="2"/>
              </a:rPr>
              <a:t></a:t>
            </a:r>
            <a:r>
              <a:rPr kumimoji="1" lang="en-US" altLang="zh-CN" sz="2000" b="1" dirty="0" smtClean="0">
                <a:solidFill>
                  <a:srgbClr val="000066"/>
                </a:solidFill>
                <a:ea typeface="幼圆" pitchFamily="49" charset="-122"/>
              </a:rPr>
              <a:t> </a:t>
            </a:r>
            <a:r>
              <a:rPr kumimoji="1" lang="en-US" altLang="zh-CN" sz="2000" b="1" dirty="0">
                <a:solidFill>
                  <a:srgbClr val="000066"/>
                </a:solidFill>
                <a:ea typeface="幼圆" pitchFamily="49" charset="-122"/>
              </a:rPr>
              <a:t>0.75	</a:t>
            </a:r>
            <a:r>
              <a:rPr kumimoji="1" lang="zh-CN" altLang="en-US" sz="2000" b="1" dirty="0">
                <a:solidFill>
                  <a:srgbClr val="000066"/>
                </a:solidFill>
                <a:ea typeface="幼圆" pitchFamily="49" charset="-122"/>
              </a:rPr>
              <a:t>可塑</a:t>
            </a:r>
            <a:endParaRPr kumimoji="1" lang="en-US" altLang="zh-CN" sz="2000" b="1" dirty="0">
              <a:solidFill>
                <a:srgbClr val="000066"/>
              </a:solidFill>
              <a:ea typeface="幼圆" pitchFamily="49" charset="-122"/>
            </a:endParaRPr>
          </a:p>
          <a:p>
            <a:pPr eaLnBrk="1" hangingPunct="1">
              <a:lnSpc>
                <a:spcPct val="120000"/>
              </a:lnSpc>
              <a:spcBef>
                <a:spcPct val="0"/>
              </a:spcBef>
              <a:spcAft>
                <a:spcPct val="0"/>
              </a:spcAft>
            </a:pPr>
            <a:r>
              <a:rPr kumimoji="1" lang="en-US" altLang="zh-CN" sz="2000" b="1" dirty="0">
                <a:solidFill>
                  <a:srgbClr val="000066"/>
                </a:solidFill>
                <a:ea typeface="幼圆" pitchFamily="49" charset="-122"/>
              </a:rPr>
              <a:t> </a:t>
            </a:r>
            <a:r>
              <a:rPr kumimoji="1" lang="en-US" altLang="zh-CN" sz="2000" b="1" dirty="0" smtClean="0">
                <a:solidFill>
                  <a:srgbClr val="000066"/>
                </a:solidFill>
                <a:ea typeface="幼圆" pitchFamily="49" charset="-122"/>
              </a:rPr>
              <a:t> 0.75 &lt; </a:t>
            </a:r>
            <a:r>
              <a:rPr kumimoji="1" lang="en-US" altLang="zh-CN" sz="2000" b="1" i="1" dirty="0" smtClean="0">
                <a:solidFill>
                  <a:srgbClr val="000066"/>
                </a:solidFill>
                <a:ea typeface="幼圆" pitchFamily="49" charset="-122"/>
              </a:rPr>
              <a:t>I</a:t>
            </a:r>
            <a:r>
              <a:rPr kumimoji="1" lang="en-US" altLang="zh-CN" sz="2000" b="1" i="1" baseline="-25000" dirty="0" smtClean="0">
                <a:solidFill>
                  <a:srgbClr val="000066"/>
                </a:solidFill>
                <a:ea typeface="幼圆" pitchFamily="49" charset="-122"/>
              </a:rPr>
              <a:t>L</a:t>
            </a:r>
            <a:r>
              <a:rPr kumimoji="1" lang="en-US" altLang="zh-CN" sz="2000" b="1" baseline="-25000" dirty="0" smtClean="0">
                <a:solidFill>
                  <a:srgbClr val="000066"/>
                </a:solidFill>
                <a:ea typeface="幼圆" pitchFamily="49" charset="-122"/>
              </a:rPr>
              <a:t> </a:t>
            </a:r>
            <a:r>
              <a:rPr kumimoji="1" lang="en-US" altLang="zh-CN" sz="2000" b="1" dirty="0" smtClean="0">
                <a:solidFill>
                  <a:srgbClr val="000066"/>
                </a:solidFill>
                <a:ea typeface="幼圆" pitchFamily="49" charset="-122"/>
                <a:sym typeface="Symbol" pitchFamily="18" charset="2"/>
              </a:rPr>
              <a:t></a:t>
            </a:r>
            <a:r>
              <a:rPr kumimoji="1" lang="en-US" altLang="zh-CN" sz="2000" b="1" dirty="0" smtClean="0">
                <a:solidFill>
                  <a:srgbClr val="000066"/>
                </a:solidFill>
                <a:ea typeface="幼圆" pitchFamily="49" charset="-122"/>
              </a:rPr>
              <a:t> </a:t>
            </a:r>
            <a:r>
              <a:rPr kumimoji="1" lang="en-US" altLang="zh-CN" sz="2000" b="1" dirty="0">
                <a:solidFill>
                  <a:srgbClr val="000066"/>
                </a:solidFill>
                <a:ea typeface="幼圆" pitchFamily="49" charset="-122"/>
              </a:rPr>
              <a:t>1	</a:t>
            </a:r>
            <a:r>
              <a:rPr kumimoji="1" lang="zh-CN" altLang="en-US" sz="2000" b="1" dirty="0">
                <a:solidFill>
                  <a:srgbClr val="000066"/>
                </a:solidFill>
                <a:ea typeface="幼圆" pitchFamily="49" charset="-122"/>
              </a:rPr>
              <a:t>软塑</a:t>
            </a:r>
            <a:endParaRPr kumimoji="1" lang="en-US" altLang="zh-CN" sz="2000" b="1" dirty="0">
              <a:solidFill>
                <a:srgbClr val="000066"/>
              </a:solidFill>
              <a:ea typeface="幼圆" pitchFamily="49" charset="-122"/>
            </a:endParaRPr>
          </a:p>
          <a:p>
            <a:pPr eaLnBrk="1" hangingPunct="1">
              <a:lnSpc>
                <a:spcPct val="120000"/>
              </a:lnSpc>
              <a:spcBef>
                <a:spcPct val="0"/>
              </a:spcBef>
              <a:spcAft>
                <a:spcPct val="0"/>
              </a:spcAft>
            </a:pPr>
            <a:r>
              <a:rPr kumimoji="1" lang="en-US" altLang="zh-CN" sz="2000" b="1" dirty="0">
                <a:solidFill>
                  <a:srgbClr val="000066"/>
                </a:solidFill>
                <a:ea typeface="华文新魏" pitchFamily="2" charset="-122"/>
              </a:rPr>
              <a:t>  </a:t>
            </a:r>
            <a:r>
              <a:rPr kumimoji="1" lang="en-US" altLang="zh-CN" sz="2000" b="1" dirty="0" smtClean="0">
                <a:solidFill>
                  <a:srgbClr val="000066"/>
                </a:solidFill>
                <a:ea typeface="华文新魏" pitchFamily="2" charset="-122"/>
              </a:rPr>
              <a:t>           </a:t>
            </a:r>
            <a:r>
              <a:rPr kumimoji="1" lang="en-US" altLang="zh-CN" sz="2000" b="1" i="1" dirty="0" smtClean="0">
                <a:solidFill>
                  <a:srgbClr val="000066"/>
                </a:solidFill>
                <a:ea typeface="华文新魏" pitchFamily="2" charset="-122"/>
              </a:rPr>
              <a:t>I</a:t>
            </a:r>
            <a:r>
              <a:rPr kumimoji="1" lang="en-US" altLang="zh-CN" sz="2000" b="1" i="1" baseline="-25000" dirty="0" smtClean="0">
                <a:solidFill>
                  <a:srgbClr val="000066"/>
                </a:solidFill>
                <a:ea typeface="华文新魏" pitchFamily="2" charset="-122"/>
              </a:rPr>
              <a:t>L</a:t>
            </a:r>
            <a:r>
              <a:rPr kumimoji="1" lang="en-US" altLang="zh-CN" sz="2000" b="1" baseline="-25000" dirty="0" smtClean="0">
                <a:solidFill>
                  <a:srgbClr val="000066"/>
                </a:solidFill>
                <a:ea typeface="华文新魏" pitchFamily="2" charset="-122"/>
              </a:rPr>
              <a:t> </a:t>
            </a:r>
            <a:r>
              <a:rPr kumimoji="1" lang="en-US" altLang="zh-CN" sz="2000" b="1" dirty="0" smtClean="0">
                <a:solidFill>
                  <a:srgbClr val="000066"/>
                </a:solidFill>
                <a:ea typeface="华文新魏" pitchFamily="2" charset="-122"/>
              </a:rPr>
              <a:t>&gt;</a:t>
            </a:r>
            <a:r>
              <a:rPr kumimoji="1" lang="en-US" altLang="zh-CN" sz="2000" b="1" dirty="0">
                <a:solidFill>
                  <a:srgbClr val="000066"/>
                </a:solidFill>
                <a:ea typeface="华文新魏" pitchFamily="2" charset="-122"/>
              </a:rPr>
              <a:t>1	</a:t>
            </a:r>
            <a:r>
              <a:rPr kumimoji="1" lang="zh-CN" altLang="en-US" sz="2000" b="1" dirty="0">
                <a:solidFill>
                  <a:srgbClr val="000066"/>
                </a:solidFill>
                <a:ea typeface="幼圆" pitchFamily="49" charset="-122"/>
              </a:rPr>
              <a:t>流塑</a:t>
            </a:r>
            <a:endParaRPr kumimoji="1" lang="en-US" altLang="zh-CN" sz="2000" b="1" dirty="0">
              <a:solidFill>
                <a:srgbClr val="000066"/>
              </a:solidFill>
              <a:ea typeface="幼圆" pitchFamily="49" charset="-122"/>
            </a:endParaRPr>
          </a:p>
        </p:txBody>
      </p:sp>
      <p:sp>
        <p:nvSpPr>
          <p:cNvPr id="13319" name="Text Box 15"/>
          <p:cNvSpPr txBox="1">
            <a:spLocks noChangeArrowheads="1"/>
          </p:cNvSpPr>
          <p:nvPr/>
        </p:nvSpPr>
        <p:spPr bwMode="auto">
          <a:xfrm>
            <a:off x="2087563" y="5699125"/>
            <a:ext cx="56403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a:solidFill>
                  <a:srgbClr val="000066"/>
                </a:solidFill>
                <a:latin typeface="黑体" pitchFamily="2" charset="-122"/>
                <a:ea typeface="黑体" pitchFamily="2" charset="-122"/>
              </a:rPr>
              <a:t>土的稠度状态</a:t>
            </a:r>
            <a:r>
              <a:rPr lang="en-US" altLang="zh-CN" sz="4000" b="1" dirty="0">
                <a:solidFill>
                  <a:srgbClr val="000066"/>
                </a:solidFill>
                <a:ea typeface="黑体" pitchFamily="2" charset="-122"/>
              </a:rPr>
              <a:t>–</a:t>
            </a:r>
            <a:r>
              <a:rPr lang="zh-CN" altLang="en-US" sz="4000" b="1" dirty="0">
                <a:solidFill>
                  <a:srgbClr val="000066"/>
                </a:solidFill>
                <a:latin typeface="黑体" pitchFamily="2" charset="-122"/>
                <a:ea typeface="黑体" pitchFamily="2" charset="-122"/>
              </a:rPr>
              <a:t>液性指数</a:t>
            </a:r>
            <a:endParaRPr lang="en-US" altLang="zh-CN" sz="4000" b="1" dirty="0">
              <a:solidFill>
                <a:srgbClr val="000066"/>
              </a:solidFill>
              <a:latin typeface="黑体" pitchFamily="2" charset="-122"/>
              <a:ea typeface="黑体" pitchFamily="2" charset="-122"/>
            </a:endParaRPr>
          </a:p>
        </p:txBody>
      </p:sp>
      <p:sp>
        <p:nvSpPr>
          <p:cNvPr id="1409040" name="Text Box 16"/>
          <p:cNvSpPr txBox="1">
            <a:spLocks noChangeArrowheads="1"/>
          </p:cNvSpPr>
          <p:nvPr/>
        </p:nvSpPr>
        <p:spPr bwMode="auto">
          <a:xfrm>
            <a:off x="768350" y="661988"/>
            <a:ext cx="74612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ts val="600"/>
              </a:spcBef>
              <a:spcAft>
                <a:spcPts val="600"/>
              </a:spcAft>
              <a:buClr>
                <a:srgbClr val="C00000"/>
              </a:buClr>
              <a:buSzPct val="100000"/>
              <a:buFont typeface="Wingdings" pitchFamily="2" charset="2"/>
              <a:buChar char="n"/>
            </a:pPr>
            <a:r>
              <a:rPr kumimoji="1" lang="zh-CN" altLang="en-US" sz="2200" b="1" dirty="0">
                <a:solidFill>
                  <a:srgbClr val="000066"/>
                </a:solidFill>
                <a:ea typeface="幼圆" pitchFamily="49" charset="-122"/>
                <a:cs typeface="Times New Roman" panose="02020603050405020304" pitchFamily="18" charset="0"/>
              </a:rPr>
              <a:t>不同</a:t>
            </a:r>
            <a:r>
              <a:rPr kumimoji="1" lang="zh-CN" altLang="en-US" sz="2200" b="1" dirty="0" smtClean="0">
                <a:solidFill>
                  <a:srgbClr val="000066"/>
                </a:solidFill>
                <a:ea typeface="幼圆" pitchFamily="49" charset="-122"/>
                <a:cs typeface="Times New Roman" panose="02020603050405020304" pitchFamily="18" charset="0"/>
              </a:rPr>
              <a:t>的黏土</a:t>
            </a:r>
            <a:r>
              <a:rPr kumimoji="1" lang="zh-CN" altLang="en-US" sz="2200" b="1" dirty="0">
                <a:solidFill>
                  <a:srgbClr val="000066"/>
                </a:solidFill>
                <a:ea typeface="幼圆" pitchFamily="49" charset="-122"/>
                <a:cs typeface="Times New Roman" panose="02020603050405020304" pitchFamily="18" charset="0"/>
              </a:rPr>
              <a:t>，</a:t>
            </a:r>
            <a:r>
              <a:rPr kumimoji="1" lang="en-US" altLang="zh-CN" sz="2200" b="1" i="1" dirty="0" err="1" smtClean="0">
                <a:solidFill>
                  <a:srgbClr val="000066"/>
                </a:solidFill>
                <a:ea typeface="幼圆" pitchFamily="49" charset="-122"/>
                <a:cs typeface="Times New Roman" panose="02020603050405020304" pitchFamily="18" charset="0"/>
              </a:rPr>
              <a:t>w</a:t>
            </a:r>
            <a:r>
              <a:rPr kumimoji="1" lang="en-US" altLang="zh-CN" sz="2200" b="1" baseline="-25000" dirty="0" err="1" smtClean="0">
                <a:solidFill>
                  <a:srgbClr val="000066"/>
                </a:solidFill>
                <a:ea typeface="幼圆" pitchFamily="49" charset="-122"/>
                <a:cs typeface="Times New Roman" panose="02020603050405020304" pitchFamily="18" charset="0"/>
              </a:rPr>
              <a:t>p</a:t>
            </a:r>
            <a:r>
              <a:rPr kumimoji="1" lang="zh-CN" altLang="en-US" sz="2200" b="1" dirty="0" smtClean="0">
                <a:solidFill>
                  <a:srgbClr val="000066"/>
                </a:solidFill>
                <a:ea typeface="幼圆" pitchFamily="49" charset="-122"/>
                <a:cs typeface="Times New Roman" panose="02020603050405020304" pitchFamily="18" charset="0"/>
              </a:rPr>
              <a:t>和</a:t>
            </a:r>
            <a:r>
              <a:rPr kumimoji="1" lang="en-US" altLang="zh-CN" sz="2200" b="1" i="1" dirty="0" err="1" smtClean="0">
                <a:solidFill>
                  <a:srgbClr val="000066"/>
                </a:solidFill>
                <a:ea typeface="幼圆" pitchFamily="49" charset="-122"/>
                <a:cs typeface="Times New Roman" panose="02020603050405020304" pitchFamily="18" charset="0"/>
              </a:rPr>
              <a:t>w</a:t>
            </a:r>
            <a:r>
              <a:rPr kumimoji="1" lang="en-US" altLang="zh-CN" sz="2200" b="1" baseline="-25000" dirty="0" err="1" smtClean="0">
                <a:solidFill>
                  <a:srgbClr val="000066"/>
                </a:solidFill>
                <a:ea typeface="幼圆" pitchFamily="49" charset="-122"/>
                <a:cs typeface="Times New Roman" panose="02020603050405020304" pitchFamily="18" charset="0"/>
              </a:rPr>
              <a:t>L</a:t>
            </a:r>
            <a:r>
              <a:rPr kumimoji="1" lang="zh-CN" altLang="en-US" sz="2200" b="1" dirty="0">
                <a:solidFill>
                  <a:srgbClr val="000066"/>
                </a:solidFill>
                <a:ea typeface="幼圆" pitchFamily="49" charset="-122"/>
                <a:cs typeface="Times New Roman" panose="02020603050405020304" pitchFamily="18" charset="0"/>
              </a:rPr>
              <a:t>的大小不同。对于不同</a:t>
            </a:r>
            <a:r>
              <a:rPr kumimoji="1" lang="zh-CN" altLang="en-US" sz="2200" b="1" dirty="0" smtClean="0">
                <a:solidFill>
                  <a:srgbClr val="000066"/>
                </a:solidFill>
                <a:ea typeface="幼圆" pitchFamily="49" charset="-122"/>
                <a:cs typeface="Times New Roman" panose="02020603050405020304" pitchFamily="18" charset="0"/>
              </a:rPr>
              <a:t>的黏土</a:t>
            </a:r>
            <a:r>
              <a:rPr kumimoji="1" lang="zh-CN" altLang="en-US" sz="2200" b="1" dirty="0">
                <a:solidFill>
                  <a:srgbClr val="000066"/>
                </a:solidFill>
                <a:ea typeface="幼圆" pitchFamily="49" charset="-122"/>
                <a:cs typeface="Times New Roman" panose="02020603050405020304" pitchFamily="18" charset="0"/>
              </a:rPr>
              <a:t>，含水量</a:t>
            </a:r>
            <a:r>
              <a:rPr kumimoji="1" lang="zh-CN" altLang="en-US" sz="2200" b="1" dirty="0" smtClean="0">
                <a:solidFill>
                  <a:srgbClr val="000066"/>
                </a:solidFill>
                <a:ea typeface="幼圆" pitchFamily="49" charset="-122"/>
                <a:cs typeface="Times New Roman" panose="02020603050405020304" pitchFamily="18" charset="0"/>
              </a:rPr>
              <a:t>相同时，其稠度状态可能不同</a:t>
            </a:r>
            <a:endParaRPr kumimoji="1" lang="en-US" altLang="zh-CN" sz="2200" b="1" dirty="0" smtClean="0">
              <a:solidFill>
                <a:srgbClr val="000066"/>
              </a:solidFill>
              <a:ea typeface="幼圆" pitchFamily="49" charset="-122"/>
              <a:cs typeface="Times New Roman" panose="02020603050405020304" pitchFamily="18" charset="0"/>
            </a:endParaRPr>
          </a:p>
          <a:p>
            <a:pPr marL="342900" indent="-342900" eaLnBrk="1" hangingPunct="1">
              <a:lnSpc>
                <a:spcPct val="125000"/>
              </a:lnSpc>
              <a:spcBef>
                <a:spcPts val="600"/>
              </a:spcBef>
              <a:spcAft>
                <a:spcPts val="600"/>
              </a:spcAft>
              <a:buClr>
                <a:srgbClr val="C00000"/>
              </a:buClr>
              <a:buSzPct val="100000"/>
              <a:buFont typeface="Wingdings" pitchFamily="2" charset="2"/>
              <a:buChar char="n"/>
            </a:pPr>
            <a:r>
              <a:rPr kumimoji="1" lang="zh-CN" altLang="en-US" sz="2200" b="1" dirty="0" smtClean="0">
                <a:solidFill>
                  <a:srgbClr val="A50021"/>
                </a:solidFill>
                <a:ea typeface="幼圆" pitchFamily="49" charset="-122"/>
                <a:cs typeface="Times New Roman" panose="02020603050405020304" pitchFamily="18" charset="0"/>
              </a:rPr>
              <a:t>液性指数</a:t>
            </a:r>
            <a:r>
              <a:rPr kumimoji="1" lang="en-US" altLang="zh-CN" sz="2200" b="1" i="1" dirty="0" smtClean="0">
                <a:solidFill>
                  <a:srgbClr val="A50021"/>
                </a:solidFill>
                <a:ea typeface="幼圆" pitchFamily="49" charset="-122"/>
                <a:cs typeface="Times New Roman" panose="02020603050405020304" pitchFamily="18" charset="0"/>
              </a:rPr>
              <a:t>I</a:t>
            </a:r>
            <a:r>
              <a:rPr kumimoji="1" lang="en-US" altLang="zh-CN" sz="2200" b="1" baseline="-25000" dirty="0" smtClean="0">
                <a:solidFill>
                  <a:srgbClr val="A50021"/>
                </a:solidFill>
                <a:ea typeface="幼圆" pitchFamily="49" charset="-122"/>
                <a:cs typeface="Times New Roman" panose="02020603050405020304" pitchFamily="18" charset="0"/>
              </a:rPr>
              <a:t>L</a:t>
            </a:r>
            <a:r>
              <a:rPr kumimoji="1" lang="zh-CN" altLang="en-US" sz="2200" b="1" dirty="0" smtClean="0">
                <a:solidFill>
                  <a:srgbClr val="A50021"/>
                </a:solidFill>
                <a:ea typeface="幼圆" pitchFamily="49" charset="-122"/>
                <a:cs typeface="Times New Roman" panose="02020603050405020304" pitchFamily="18" charset="0"/>
              </a:rPr>
              <a:t>：</a:t>
            </a:r>
            <a:r>
              <a:rPr kumimoji="1" lang="zh-CN" altLang="en-US" sz="2200" b="1" dirty="0">
                <a:solidFill>
                  <a:srgbClr val="000066"/>
                </a:solidFill>
                <a:ea typeface="幼圆" pitchFamily="49" charset="-122"/>
                <a:cs typeface="Times New Roman" panose="02020603050405020304" pitchFamily="18" charset="0"/>
              </a:rPr>
              <a:t>表征土的天然含水量与分界含水量之间相对关系的</a:t>
            </a:r>
            <a:r>
              <a:rPr kumimoji="1" lang="zh-CN" altLang="en-US" sz="2200" b="1" dirty="0" smtClean="0">
                <a:solidFill>
                  <a:srgbClr val="000066"/>
                </a:solidFill>
                <a:ea typeface="幼圆" pitchFamily="49" charset="-122"/>
                <a:cs typeface="Times New Roman" panose="02020603050405020304" pitchFamily="18" charset="0"/>
              </a:rPr>
              <a:t>指标</a:t>
            </a:r>
            <a:endParaRPr kumimoji="1" lang="zh-CN" altLang="en-US" sz="2200" b="1" dirty="0">
              <a:solidFill>
                <a:srgbClr val="000066"/>
              </a:solidFill>
              <a:ea typeface="幼圆" pitchFamily="49" charset="-122"/>
              <a:cs typeface="Times New Roman" panose="02020603050405020304" pitchFamily="18" charset="0"/>
            </a:endParaRPr>
          </a:p>
        </p:txBody>
      </p:sp>
      <p:sp>
        <p:nvSpPr>
          <p:cNvPr id="1409043" name="AutoShape 19"/>
          <p:cNvSpPr>
            <a:spLocks noChangeArrowheads="1"/>
          </p:cNvSpPr>
          <p:nvPr/>
        </p:nvSpPr>
        <p:spPr bwMode="auto">
          <a:xfrm>
            <a:off x="5003799" y="3056997"/>
            <a:ext cx="429683" cy="372533"/>
          </a:xfrm>
          <a:prstGeom prst="homePlate">
            <a:avLst>
              <a:gd name="adj" fmla="val 29782"/>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20"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pSp>
        <p:nvGrpSpPr>
          <p:cNvPr id="3" name="组合 2"/>
          <p:cNvGrpSpPr/>
          <p:nvPr/>
        </p:nvGrpSpPr>
        <p:grpSpPr>
          <a:xfrm>
            <a:off x="941913" y="4214285"/>
            <a:ext cx="3630612" cy="619124"/>
            <a:chOff x="941913" y="4214285"/>
            <a:chExt cx="3630612" cy="619124"/>
          </a:xfrm>
        </p:grpSpPr>
        <p:grpSp>
          <p:nvGrpSpPr>
            <p:cNvPr id="2" name="Group 5"/>
            <p:cNvGrpSpPr>
              <a:grpSpLocks/>
            </p:cNvGrpSpPr>
            <p:nvPr/>
          </p:nvGrpSpPr>
          <p:grpSpPr bwMode="auto">
            <a:xfrm>
              <a:off x="941913" y="4214285"/>
              <a:ext cx="3346449" cy="619124"/>
              <a:chOff x="779" y="2212"/>
              <a:chExt cx="2108" cy="390"/>
            </a:xfrm>
          </p:grpSpPr>
          <p:grpSp>
            <p:nvGrpSpPr>
              <p:cNvPr id="13324" name="Group 6"/>
              <p:cNvGrpSpPr>
                <a:grpSpLocks/>
              </p:cNvGrpSpPr>
              <p:nvPr/>
            </p:nvGrpSpPr>
            <p:grpSpPr bwMode="auto">
              <a:xfrm>
                <a:off x="779" y="2212"/>
                <a:ext cx="2108" cy="92"/>
                <a:chOff x="1360" y="3112"/>
                <a:chExt cx="2108" cy="92"/>
              </a:xfrm>
            </p:grpSpPr>
            <p:sp>
              <p:nvSpPr>
                <p:cNvPr id="13328" name="Line 7"/>
                <p:cNvSpPr>
                  <a:spLocks noChangeShapeType="1"/>
                </p:cNvSpPr>
                <p:nvPr/>
              </p:nvSpPr>
              <p:spPr bwMode="auto">
                <a:xfrm>
                  <a:off x="1360" y="3158"/>
                  <a:ext cx="2108" cy="0"/>
                </a:xfrm>
                <a:prstGeom prst="line">
                  <a:avLst/>
                </a:prstGeom>
                <a:noFill/>
                <a:ln w="38100">
                  <a:solidFill>
                    <a:srgbClr val="000066"/>
                  </a:solidFill>
                  <a:round/>
                  <a:headEnd/>
                  <a:tailEnd type="triangle" w="med" len="lg"/>
                </a:ln>
                <a:extLst>
                  <a:ext uri="{909E8E84-426E-40DD-AFC4-6F175D3DCCD1}">
                    <a14:hiddenFill xmlns:a14="http://schemas.microsoft.com/office/drawing/2010/main">
                      <a:noFill/>
                    </a14:hiddenFill>
                  </a:ext>
                </a:extLst>
              </p:spPr>
              <p:txBody>
                <a:bodyPr wrap="square" lIns="0" tIns="0" rIns="0" bIns="0">
                  <a:spAutoFit/>
                </a:bodyPr>
                <a:lstStyle/>
                <a:p>
                  <a:endParaRPr lang="zh-CN" altLang="en-US" sz="2400"/>
                </a:p>
              </p:txBody>
            </p:sp>
            <p:sp>
              <p:nvSpPr>
                <p:cNvPr id="13329" name="Line 8"/>
                <p:cNvSpPr>
                  <a:spLocks noChangeShapeType="1"/>
                </p:cNvSpPr>
                <p:nvPr/>
              </p:nvSpPr>
              <p:spPr bwMode="auto">
                <a:xfrm>
                  <a:off x="1746" y="3112"/>
                  <a:ext cx="0" cy="91"/>
                </a:xfrm>
                <a:prstGeom prst="line">
                  <a:avLst/>
                </a:prstGeom>
                <a:noFill/>
                <a:ln w="38100">
                  <a:solidFill>
                    <a:srgbClr val="000066"/>
                  </a:solidFill>
                  <a:round/>
                  <a:headEnd/>
                  <a:tailEnd type="none" w="med" len="lg"/>
                </a:ln>
                <a:extLst>
                  <a:ext uri="{909E8E84-426E-40DD-AFC4-6F175D3DCCD1}">
                    <a14:hiddenFill xmlns:a14="http://schemas.microsoft.com/office/drawing/2010/main">
                      <a:noFill/>
                    </a14:hiddenFill>
                  </a:ext>
                </a:extLst>
              </p:spPr>
              <p:txBody>
                <a:bodyPr wrap="none" lIns="0" tIns="0" rIns="0" bIns="0">
                  <a:spAutoFit/>
                </a:bodyPr>
                <a:lstStyle/>
                <a:p>
                  <a:endParaRPr lang="zh-CN" altLang="en-US" sz="2400"/>
                </a:p>
              </p:txBody>
            </p:sp>
            <p:sp>
              <p:nvSpPr>
                <p:cNvPr id="13330" name="Line 9"/>
                <p:cNvSpPr>
                  <a:spLocks noChangeShapeType="1"/>
                </p:cNvSpPr>
                <p:nvPr/>
              </p:nvSpPr>
              <p:spPr bwMode="auto">
                <a:xfrm>
                  <a:off x="2200" y="3113"/>
                  <a:ext cx="0" cy="91"/>
                </a:xfrm>
                <a:prstGeom prst="line">
                  <a:avLst/>
                </a:prstGeom>
                <a:noFill/>
                <a:ln w="38100">
                  <a:solidFill>
                    <a:srgbClr val="000066"/>
                  </a:solidFill>
                  <a:round/>
                  <a:headEnd/>
                  <a:tailEnd type="none" w="med" len="lg"/>
                </a:ln>
                <a:extLst>
                  <a:ext uri="{909E8E84-426E-40DD-AFC4-6F175D3DCCD1}">
                    <a14:hiddenFill xmlns:a14="http://schemas.microsoft.com/office/drawing/2010/main">
                      <a:noFill/>
                    </a14:hiddenFill>
                  </a:ext>
                </a:extLst>
              </p:spPr>
              <p:txBody>
                <a:bodyPr wrap="none" lIns="0" tIns="0" rIns="0" bIns="0">
                  <a:spAutoFit/>
                </a:bodyPr>
                <a:lstStyle/>
                <a:p>
                  <a:endParaRPr lang="zh-CN" altLang="en-US" sz="2400"/>
                </a:p>
              </p:txBody>
            </p:sp>
            <p:sp>
              <p:nvSpPr>
                <p:cNvPr id="13331" name="Line 10"/>
                <p:cNvSpPr>
                  <a:spLocks noChangeShapeType="1"/>
                </p:cNvSpPr>
                <p:nvPr/>
              </p:nvSpPr>
              <p:spPr bwMode="auto">
                <a:xfrm>
                  <a:off x="2789" y="3113"/>
                  <a:ext cx="0" cy="91"/>
                </a:xfrm>
                <a:prstGeom prst="line">
                  <a:avLst/>
                </a:prstGeom>
                <a:noFill/>
                <a:ln w="38100">
                  <a:solidFill>
                    <a:srgbClr val="000066"/>
                  </a:solidFill>
                  <a:round/>
                  <a:headEnd/>
                  <a:tailEnd type="none" w="med" len="lg"/>
                </a:ln>
                <a:extLst>
                  <a:ext uri="{909E8E84-426E-40DD-AFC4-6F175D3DCCD1}">
                    <a14:hiddenFill xmlns:a14="http://schemas.microsoft.com/office/drawing/2010/main">
                      <a:noFill/>
                    </a14:hiddenFill>
                  </a:ext>
                </a:extLst>
              </p:spPr>
              <p:txBody>
                <a:bodyPr wrap="none" lIns="0" tIns="0" rIns="0" bIns="0">
                  <a:spAutoFit/>
                </a:bodyPr>
                <a:lstStyle/>
                <a:p>
                  <a:endParaRPr lang="zh-CN" altLang="en-US" sz="2400"/>
                </a:p>
              </p:txBody>
            </p:sp>
          </p:grpSp>
          <p:sp>
            <p:nvSpPr>
              <p:cNvPr id="13325" name="Text Box 11"/>
              <p:cNvSpPr txBox="1">
                <a:spLocks noChangeArrowheads="1"/>
              </p:cNvSpPr>
              <p:nvPr/>
            </p:nvSpPr>
            <p:spPr bwMode="auto">
              <a:xfrm>
                <a:off x="1071" y="2351"/>
                <a:ext cx="3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2400" b="1" i="1" dirty="0" err="1">
                    <a:solidFill>
                      <a:srgbClr val="000066"/>
                    </a:solidFill>
                    <a:ea typeface="华文新魏" pitchFamily="2" charset="-122"/>
                  </a:rPr>
                  <a:t>w</a:t>
                </a:r>
                <a:r>
                  <a:rPr kumimoji="1" lang="en-US" altLang="zh-CN" sz="2400" b="1" baseline="-25000" dirty="0" err="1">
                    <a:solidFill>
                      <a:srgbClr val="000066"/>
                    </a:solidFill>
                    <a:ea typeface="华文新魏" pitchFamily="2" charset="-122"/>
                  </a:rPr>
                  <a:t>p</a:t>
                </a:r>
                <a:endParaRPr kumimoji="1" lang="en-US" altLang="zh-CN" sz="2400" b="1" baseline="-25000" dirty="0">
                  <a:solidFill>
                    <a:srgbClr val="000066"/>
                  </a:solidFill>
                  <a:ea typeface="华文新魏" pitchFamily="2" charset="-122"/>
                </a:endParaRPr>
              </a:p>
            </p:txBody>
          </p:sp>
          <p:sp>
            <p:nvSpPr>
              <p:cNvPr id="13326" name="Text Box 12"/>
              <p:cNvSpPr txBox="1">
                <a:spLocks noChangeArrowheads="1"/>
              </p:cNvSpPr>
              <p:nvPr/>
            </p:nvSpPr>
            <p:spPr bwMode="auto">
              <a:xfrm>
                <a:off x="1570" y="2369"/>
                <a:ext cx="1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2400" b="1" i="1" dirty="0">
                    <a:solidFill>
                      <a:srgbClr val="000066"/>
                    </a:solidFill>
                    <a:ea typeface="华文新魏" pitchFamily="2" charset="-122"/>
                  </a:rPr>
                  <a:t>w</a:t>
                </a:r>
              </a:p>
            </p:txBody>
          </p:sp>
          <p:sp>
            <p:nvSpPr>
              <p:cNvPr id="13327" name="Text Box 13"/>
              <p:cNvSpPr txBox="1">
                <a:spLocks noChangeArrowheads="1"/>
              </p:cNvSpPr>
              <p:nvPr/>
            </p:nvSpPr>
            <p:spPr bwMode="auto">
              <a:xfrm>
                <a:off x="2112" y="2351"/>
                <a:ext cx="2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2400" b="1" i="1" dirty="0" err="1" smtClean="0">
                    <a:solidFill>
                      <a:srgbClr val="000066"/>
                    </a:solidFill>
                    <a:ea typeface="华文新魏" pitchFamily="2" charset="-122"/>
                  </a:rPr>
                  <a:t>w</a:t>
                </a:r>
                <a:r>
                  <a:rPr kumimoji="1" lang="en-US" altLang="zh-CN" sz="2400" b="1" baseline="-25000" dirty="0" err="1" smtClean="0">
                    <a:solidFill>
                      <a:srgbClr val="000066"/>
                    </a:solidFill>
                    <a:ea typeface="华文新魏" pitchFamily="2" charset="-122"/>
                  </a:rPr>
                  <a:t>L</a:t>
                </a:r>
                <a:endParaRPr kumimoji="1" lang="en-US" altLang="zh-CN" sz="2400" b="1" baseline="-25000" dirty="0">
                  <a:solidFill>
                    <a:srgbClr val="000066"/>
                  </a:solidFill>
                  <a:ea typeface="华文新魏" pitchFamily="2" charset="-122"/>
                </a:endParaRPr>
              </a:p>
            </p:txBody>
          </p:sp>
        </p:grpSp>
        <p:sp>
          <p:nvSpPr>
            <p:cNvPr id="21" name="Text Box 72"/>
            <p:cNvSpPr txBox="1">
              <a:spLocks noChangeArrowheads="1"/>
            </p:cNvSpPr>
            <p:nvPr/>
          </p:nvSpPr>
          <p:spPr bwMode="auto">
            <a:xfrm>
              <a:off x="3564462" y="4484204"/>
              <a:ext cx="1008063" cy="30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smtClean="0">
                  <a:solidFill>
                    <a:srgbClr val="000066"/>
                  </a:solidFill>
                  <a:latin typeface="幼圆" pitchFamily="49" charset="-122"/>
                  <a:ea typeface="幼圆" pitchFamily="49" charset="-122"/>
                </a:rPr>
                <a:t>含水量</a:t>
              </a:r>
              <a:endParaRPr kumimoji="1" lang="zh-CN" altLang="en-US" sz="2000" b="1" i="1" dirty="0">
                <a:solidFill>
                  <a:srgbClr val="000066"/>
                </a:solidFill>
                <a:ea typeface="幼圆" pitchFamily="49" charset="-122"/>
                <a:cs typeface="Times New Roman" panose="02020603050405020304" pitchFamily="18" charset="0"/>
              </a:endParaRPr>
            </a:p>
          </p:txBody>
        </p:sp>
      </p:grpSp>
    </p:spTree>
    <p:extLst>
      <p:ext uri="{BB962C8B-B14F-4D97-AF65-F5344CB8AC3E}">
        <p14:creationId xmlns:p14="http://schemas.microsoft.com/office/powerpoint/2010/main" val="33319200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09040">
                                            <p:txEl>
                                              <p:pRg st="0" end="0"/>
                                            </p:txEl>
                                          </p:spTgt>
                                        </p:tgtEl>
                                        <p:attrNameLst>
                                          <p:attrName>style.visibility</p:attrName>
                                        </p:attrNameLst>
                                      </p:cBhvr>
                                      <p:to>
                                        <p:strVal val="visible"/>
                                      </p:to>
                                    </p:set>
                                    <p:anim calcmode="lin" valueType="num">
                                      <p:cBhvr additive="base">
                                        <p:cTn id="7" dur="1000" fill="hold"/>
                                        <p:tgtEl>
                                          <p:spTgt spid="1409040">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4090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09040">
                                            <p:txEl>
                                              <p:pRg st="1" end="1"/>
                                            </p:txEl>
                                          </p:spTgt>
                                        </p:tgtEl>
                                        <p:attrNameLst>
                                          <p:attrName>style.visibility</p:attrName>
                                        </p:attrNameLst>
                                      </p:cBhvr>
                                      <p:to>
                                        <p:strVal val="visible"/>
                                      </p:to>
                                    </p:set>
                                    <p:anim calcmode="lin" valueType="num">
                                      <p:cBhvr additive="base">
                                        <p:cTn id="13" dur="1000" fill="hold"/>
                                        <p:tgtEl>
                                          <p:spTgt spid="1409040">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1409040">
                                            <p:txEl>
                                              <p:pRg st="1" end="1"/>
                                            </p:txEl>
                                          </p:spTgt>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1000"/>
                            </p:stCondLst>
                            <p:childTnLst>
                              <p:par>
                                <p:cTn id="16" presetID="47" presetClass="entr" presetSubtype="0" fill="hold" nodeType="afterEffect">
                                  <p:stCondLst>
                                    <p:cond delay="0"/>
                                  </p:stCondLst>
                                  <p:childTnLst>
                                    <p:set>
                                      <p:cBhvr>
                                        <p:cTn id="17" dur="1" fill="hold">
                                          <p:stCondLst>
                                            <p:cond delay="0"/>
                                          </p:stCondLst>
                                        </p:cTn>
                                        <p:tgtEl>
                                          <p:spTgt spid="1409027"/>
                                        </p:tgtEl>
                                        <p:attrNameLst>
                                          <p:attrName>style.visibility</p:attrName>
                                        </p:attrNameLst>
                                      </p:cBhvr>
                                      <p:to>
                                        <p:strVal val="visible"/>
                                      </p:to>
                                    </p:set>
                                    <p:animEffect transition="in" filter="fade">
                                      <p:cBhvr>
                                        <p:cTn id="18" dur="1000"/>
                                        <p:tgtEl>
                                          <p:spTgt spid="1409027"/>
                                        </p:tgtEl>
                                      </p:cBhvr>
                                    </p:animEffect>
                                    <p:anim calcmode="lin" valueType="num">
                                      <p:cBhvr>
                                        <p:cTn id="19" dur="1000" fill="hold"/>
                                        <p:tgtEl>
                                          <p:spTgt spid="1409027"/>
                                        </p:tgtEl>
                                        <p:attrNameLst>
                                          <p:attrName>ppt_x</p:attrName>
                                        </p:attrNameLst>
                                      </p:cBhvr>
                                      <p:tavLst>
                                        <p:tav tm="0">
                                          <p:val>
                                            <p:strVal val="#ppt_x"/>
                                          </p:val>
                                        </p:tav>
                                        <p:tav tm="100000">
                                          <p:val>
                                            <p:strVal val="#ppt_x"/>
                                          </p:val>
                                        </p:tav>
                                      </p:tavLst>
                                    </p:anim>
                                    <p:anim calcmode="lin" valueType="num">
                                      <p:cBhvr>
                                        <p:cTn id="20" dur="1000" fill="hold"/>
                                        <p:tgtEl>
                                          <p:spTgt spid="140902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nodeType="after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1000"/>
                                        <p:tgtEl>
                                          <p:spTgt spid="3"/>
                                        </p:tgtEl>
                                      </p:cBhvr>
                                    </p:animEffect>
                                  </p:childTnLst>
                                </p:cTn>
                              </p:par>
                            </p:childTnLst>
                          </p:cTn>
                        </p:par>
                        <p:par>
                          <p:cTn id="26" fill="hold">
                            <p:stCondLst>
                              <p:cond delay="1000"/>
                            </p:stCondLst>
                            <p:childTnLst>
                              <p:par>
                                <p:cTn id="27" presetID="22" presetClass="entr" presetSubtype="8" fill="hold" grpId="0" nodeType="afterEffect">
                                  <p:stCondLst>
                                    <p:cond delay="1000"/>
                                  </p:stCondLst>
                                  <p:childTnLst>
                                    <p:set>
                                      <p:cBhvr>
                                        <p:cTn id="28" dur="1" fill="hold">
                                          <p:stCondLst>
                                            <p:cond delay="0"/>
                                          </p:stCondLst>
                                        </p:cTn>
                                        <p:tgtEl>
                                          <p:spTgt spid="1409043"/>
                                        </p:tgtEl>
                                        <p:attrNameLst>
                                          <p:attrName>style.visibility</p:attrName>
                                        </p:attrNameLst>
                                      </p:cBhvr>
                                      <p:to>
                                        <p:strVal val="visible"/>
                                      </p:to>
                                    </p:set>
                                    <p:animEffect transition="in" filter="wipe(left)">
                                      <p:cBhvr>
                                        <p:cTn id="29" dur="1000"/>
                                        <p:tgtEl>
                                          <p:spTgt spid="1409043"/>
                                        </p:tgtEl>
                                      </p:cBhvr>
                                    </p:animEffect>
                                  </p:childTnLst>
                                </p:cTn>
                              </p:par>
                            </p:childTnLst>
                          </p:cTn>
                        </p:par>
                        <p:par>
                          <p:cTn id="30" fill="hold" nodeType="afterGroup">
                            <p:stCondLst>
                              <p:cond delay="3000"/>
                            </p:stCondLst>
                            <p:childTnLst>
                              <p:par>
                                <p:cTn id="31" presetID="2" presetClass="entr" presetSubtype="2" fill="hold" grpId="0" nodeType="afterEffect">
                                  <p:stCondLst>
                                    <p:cond delay="0"/>
                                  </p:stCondLst>
                                  <p:childTnLst>
                                    <p:set>
                                      <p:cBhvr>
                                        <p:cTn id="32" dur="1" fill="hold">
                                          <p:stCondLst>
                                            <p:cond delay="0"/>
                                          </p:stCondLst>
                                        </p:cTn>
                                        <p:tgtEl>
                                          <p:spTgt spid="1409038">
                                            <p:bg/>
                                          </p:spTgt>
                                        </p:tgtEl>
                                        <p:attrNameLst>
                                          <p:attrName>style.visibility</p:attrName>
                                        </p:attrNameLst>
                                      </p:cBhvr>
                                      <p:to>
                                        <p:strVal val="visible"/>
                                      </p:to>
                                    </p:set>
                                    <p:anim calcmode="lin" valueType="num">
                                      <p:cBhvr additive="base">
                                        <p:cTn id="33" dur="1000" fill="hold"/>
                                        <p:tgtEl>
                                          <p:spTgt spid="1409038">
                                            <p:bg/>
                                          </p:spTgt>
                                        </p:tgtEl>
                                        <p:attrNameLst>
                                          <p:attrName>ppt_x</p:attrName>
                                        </p:attrNameLst>
                                      </p:cBhvr>
                                      <p:tavLst>
                                        <p:tav tm="0">
                                          <p:val>
                                            <p:strVal val="1+#ppt_w/2"/>
                                          </p:val>
                                        </p:tav>
                                        <p:tav tm="100000">
                                          <p:val>
                                            <p:strVal val="#ppt_x"/>
                                          </p:val>
                                        </p:tav>
                                      </p:tavLst>
                                    </p:anim>
                                    <p:anim calcmode="lin" valueType="num">
                                      <p:cBhvr additive="base">
                                        <p:cTn id="34" dur="1000" fill="hold"/>
                                        <p:tgtEl>
                                          <p:spTgt spid="1409038">
                                            <p:bg/>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1409038">
                                            <p:txEl>
                                              <p:pRg st="0" end="0"/>
                                            </p:txEl>
                                          </p:spTgt>
                                        </p:tgtEl>
                                        <p:attrNameLst>
                                          <p:attrName>style.visibility</p:attrName>
                                        </p:attrNameLst>
                                      </p:cBhvr>
                                      <p:to>
                                        <p:strVal val="visible"/>
                                      </p:to>
                                    </p:set>
                                    <p:anim calcmode="lin" valueType="num">
                                      <p:cBhvr additive="base">
                                        <p:cTn id="39" dur="1000" fill="hold"/>
                                        <p:tgtEl>
                                          <p:spTgt spid="1409038">
                                            <p:txEl>
                                              <p:pRg st="0" end="0"/>
                                            </p:txEl>
                                          </p:spTgt>
                                        </p:tgtEl>
                                        <p:attrNameLst>
                                          <p:attrName>ppt_x</p:attrName>
                                        </p:attrNameLst>
                                      </p:cBhvr>
                                      <p:tavLst>
                                        <p:tav tm="0">
                                          <p:val>
                                            <p:strVal val="1+#ppt_w/2"/>
                                          </p:val>
                                        </p:tav>
                                        <p:tav tm="100000">
                                          <p:val>
                                            <p:strVal val="#ppt_x"/>
                                          </p:val>
                                        </p:tav>
                                      </p:tavLst>
                                    </p:anim>
                                    <p:anim calcmode="lin" valueType="num">
                                      <p:cBhvr additive="base">
                                        <p:cTn id="40" dur="1000" fill="hold"/>
                                        <p:tgtEl>
                                          <p:spTgt spid="14090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1409038">
                                            <p:txEl>
                                              <p:pRg st="4" end="4"/>
                                            </p:txEl>
                                          </p:spTgt>
                                        </p:tgtEl>
                                        <p:attrNameLst>
                                          <p:attrName>style.visibility</p:attrName>
                                        </p:attrNameLst>
                                      </p:cBhvr>
                                      <p:to>
                                        <p:strVal val="visible"/>
                                      </p:to>
                                    </p:set>
                                    <p:anim calcmode="lin" valueType="num">
                                      <p:cBhvr additive="base">
                                        <p:cTn id="45" dur="1000" fill="hold"/>
                                        <p:tgtEl>
                                          <p:spTgt spid="1409038">
                                            <p:txEl>
                                              <p:pRg st="4" end="4"/>
                                            </p:txEl>
                                          </p:spTgt>
                                        </p:tgtEl>
                                        <p:attrNameLst>
                                          <p:attrName>ppt_x</p:attrName>
                                        </p:attrNameLst>
                                      </p:cBhvr>
                                      <p:tavLst>
                                        <p:tav tm="0">
                                          <p:val>
                                            <p:strVal val="1+#ppt_w/2"/>
                                          </p:val>
                                        </p:tav>
                                        <p:tav tm="100000">
                                          <p:val>
                                            <p:strVal val="#ppt_x"/>
                                          </p:val>
                                        </p:tav>
                                      </p:tavLst>
                                    </p:anim>
                                    <p:anim calcmode="lin" valueType="num">
                                      <p:cBhvr additive="base">
                                        <p:cTn id="46" dur="1000" fill="hold"/>
                                        <p:tgtEl>
                                          <p:spTgt spid="140903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1409038">
                                            <p:txEl>
                                              <p:pRg st="1" end="1"/>
                                            </p:txEl>
                                          </p:spTgt>
                                        </p:tgtEl>
                                        <p:attrNameLst>
                                          <p:attrName>style.visibility</p:attrName>
                                        </p:attrNameLst>
                                      </p:cBhvr>
                                      <p:to>
                                        <p:strVal val="visible"/>
                                      </p:to>
                                    </p:set>
                                    <p:anim calcmode="lin" valueType="num">
                                      <p:cBhvr additive="base">
                                        <p:cTn id="51" dur="1000" fill="hold"/>
                                        <p:tgtEl>
                                          <p:spTgt spid="1409038">
                                            <p:txEl>
                                              <p:pRg st="1" end="1"/>
                                            </p:txEl>
                                          </p:spTgt>
                                        </p:tgtEl>
                                        <p:attrNameLst>
                                          <p:attrName>ppt_x</p:attrName>
                                        </p:attrNameLst>
                                      </p:cBhvr>
                                      <p:tavLst>
                                        <p:tav tm="0">
                                          <p:val>
                                            <p:strVal val="1+#ppt_w/2"/>
                                          </p:val>
                                        </p:tav>
                                        <p:tav tm="100000">
                                          <p:val>
                                            <p:strVal val="#ppt_x"/>
                                          </p:val>
                                        </p:tav>
                                      </p:tavLst>
                                    </p:anim>
                                    <p:anim calcmode="lin" valueType="num">
                                      <p:cBhvr additive="base">
                                        <p:cTn id="52" dur="1000" fill="hold"/>
                                        <p:tgtEl>
                                          <p:spTgt spid="1409038">
                                            <p:txEl>
                                              <p:pRg st="1" end="1"/>
                                            </p:txEl>
                                          </p:spTgt>
                                        </p:tgtEl>
                                        <p:attrNameLst>
                                          <p:attrName>ppt_y</p:attrName>
                                        </p:attrNameLst>
                                      </p:cBhvr>
                                      <p:tavLst>
                                        <p:tav tm="0">
                                          <p:val>
                                            <p:strVal val="#ppt_y"/>
                                          </p:val>
                                        </p:tav>
                                        <p:tav tm="100000">
                                          <p:val>
                                            <p:strVal val="#ppt_y"/>
                                          </p:val>
                                        </p:tav>
                                      </p:tavLst>
                                    </p:anim>
                                  </p:childTnLst>
                                </p:cTn>
                              </p:par>
                            </p:childTnLst>
                          </p:cTn>
                        </p:par>
                        <p:par>
                          <p:cTn id="53" fill="hold">
                            <p:stCondLst>
                              <p:cond delay="1000"/>
                            </p:stCondLst>
                            <p:childTnLst>
                              <p:par>
                                <p:cTn id="54" presetID="2" presetClass="entr" presetSubtype="2" fill="hold" grpId="0" nodeType="afterEffect">
                                  <p:stCondLst>
                                    <p:cond delay="0"/>
                                  </p:stCondLst>
                                  <p:childTnLst>
                                    <p:set>
                                      <p:cBhvr>
                                        <p:cTn id="55" dur="1" fill="hold">
                                          <p:stCondLst>
                                            <p:cond delay="0"/>
                                          </p:stCondLst>
                                        </p:cTn>
                                        <p:tgtEl>
                                          <p:spTgt spid="1409038">
                                            <p:txEl>
                                              <p:pRg st="2" end="2"/>
                                            </p:txEl>
                                          </p:spTgt>
                                        </p:tgtEl>
                                        <p:attrNameLst>
                                          <p:attrName>style.visibility</p:attrName>
                                        </p:attrNameLst>
                                      </p:cBhvr>
                                      <p:to>
                                        <p:strVal val="visible"/>
                                      </p:to>
                                    </p:set>
                                    <p:anim calcmode="lin" valueType="num">
                                      <p:cBhvr additive="base">
                                        <p:cTn id="56" dur="1000" fill="hold"/>
                                        <p:tgtEl>
                                          <p:spTgt spid="1409038">
                                            <p:txEl>
                                              <p:pRg st="2" end="2"/>
                                            </p:txEl>
                                          </p:spTgt>
                                        </p:tgtEl>
                                        <p:attrNameLst>
                                          <p:attrName>ppt_x</p:attrName>
                                        </p:attrNameLst>
                                      </p:cBhvr>
                                      <p:tavLst>
                                        <p:tav tm="0">
                                          <p:val>
                                            <p:strVal val="1+#ppt_w/2"/>
                                          </p:val>
                                        </p:tav>
                                        <p:tav tm="100000">
                                          <p:val>
                                            <p:strVal val="#ppt_x"/>
                                          </p:val>
                                        </p:tav>
                                      </p:tavLst>
                                    </p:anim>
                                    <p:anim calcmode="lin" valueType="num">
                                      <p:cBhvr additive="base">
                                        <p:cTn id="57" dur="1000" fill="hold"/>
                                        <p:tgtEl>
                                          <p:spTgt spid="1409038">
                                            <p:txEl>
                                              <p:pRg st="2" end="2"/>
                                            </p:txEl>
                                          </p:spTgt>
                                        </p:tgtEl>
                                        <p:attrNameLst>
                                          <p:attrName>ppt_y</p:attrName>
                                        </p:attrNameLst>
                                      </p:cBhvr>
                                      <p:tavLst>
                                        <p:tav tm="0">
                                          <p:val>
                                            <p:strVal val="#ppt_y"/>
                                          </p:val>
                                        </p:tav>
                                        <p:tav tm="100000">
                                          <p:val>
                                            <p:strVal val="#ppt_y"/>
                                          </p:val>
                                        </p:tav>
                                      </p:tavLst>
                                    </p:anim>
                                  </p:childTnLst>
                                </p:cTn>
                              </p:par>
                            </p:childTnLst>
                          </p:cTn>
                        </p:par>
                        <p:par>
                          <p:cTn id="58" fill="hold">
                            <p:stCondLst>
                              <p:cond delay="2000"/>
                            </p:stCondLst>
                            <p:childTnLst>
                              <p:par>
                                <p:cTn id="59" presetID="2" presetClass="entr" presetSubtype="2" fill="hold" grpId="0" nodeType="afterEffect">
                                  <p:stCondLst>
                                    <p:cond delay="0"/>
                                  </p:stCondLst>
                                  <p:childTnLst>
                                    <p:set>
                                      <p:cBhvr>
                                        <p:cTn id="60" dur="1" fill="hold">
                                          <p:stCondLst>
                                            <p:cond delay="0"/>
                                          </p:stCondLst>
                                        </p:cTn>
                                        <p:tgtEl>
                                          <p:spTgt spid="1409038">
                                            <p:txEl>
                                              <p:pRg st="3" end="3"/>
                                            </p:txEl>
                                          </p:spTgt>
                                        </p:tgtEl>
                                        <p:attrNameLst>
                                          <p:attrName>style.visibility</p:attrName>
                                        </p:attrNameLst>
                                      </p:cBhvr>
                                      <p:to>
                                        <p:strVal val="visible"/>
                                      </p:to>
                                    </p:set>
                                    <p:anim calcmode="lin" valueType="num">
                                      <p:cBhvr additive="base">
                                        <p:cTn id="61" dur="1000" fill="hold"/>
                                        <p:tgtEl>
                                          <p:spTgt spid="1409038">
                                            <p:txEl>
                                              <p:pRg st="3" end="3"/>
                                            </p:txEl>
                                          </p:spTgt>
                                        </p:tgtEl>
                                        <p:attrNameLst>
                                          <p:attrName>ppt_x</p:attrName>
                                        </p:attrNameLst>
                                      </p:cBhvr>
                                      <p:tavLst>
                                        <p:tav tm="0">
                                          <p:val>
                                            <p:strVal val="1+#ppt_w/2"/>
                                          </p:val>
                                        </p:tav>
                                        <p:tav tm="100000">
                                          <p:val>
                                            <p:strVal val="#ppt_x"/>
                                          </p:val>
                                        </p:tav>
                                      </p:tavLst>
                                    </p:anim>
                                    <p:anim calcmode="lin" valueType="num">
                                      <p:cBhvr additive="base">
                                        <p:cTn id="62" dur="1000" fill="hold"/>
                                        <p:tgtEl>
                                          <p:spTgt spid="1409038">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9038" grpId="0" build="p" animBg="1"/>
      <p:bldP spid="1409040" grpId="0" build="p"/>
      <p:bldP spid="1409043"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Text Box 15"/>
          <p:cNvSpPr txBox="1">
            <a:spLocks noChangeArrowheads="1"/>
          </p:cNvSpPr>
          <p:nvPr/>
        </p:nvSpPr>
        <p:spPr bwMode="auto">
          <a:xfrm>
            <a:off x="2087563" y="5699125"/>
            <a:ext cx="56403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a:solidFill>
                  <a:srgbClr val="000066"/>
                </a:solidFill>
                <a:latin typeface="黑体" pitchFamily="2" charset="-122"/>
                <a:ea typeface="黑体" pitchFamily="2" charset="-122"/>
              </a:rPr>
              <a:t>土的稠度状态</a:t>
            </a:r>
            <a:r>
              <a:rPr lang="en-US" altLang="zh-CN" sz="4000" b="1" dirty="0">
                <a:solidFill>
                  <a:srgbClr val="000066"/>
                </a:solidFill>
                <a:ea typeface="黑体" pitchFamily="2" charset="-122"/>
              </a:rPr>
              <a:t>–</a:t>
            </a:r>
            <a:r>
              <a:rPr lang="zh-CN" altLang="en-US" sz="4000" b="1" dirty="0">
                <a:solidFill>
                  <a:srgbClr val="000066"/>
                </a:solidFill>
                <a:latin typeface="黑体" pitchFamily="2" charset="-122"/>
                <a:ea typeface="黑体" pitchFamily="2" charset="-122"/>
              </a:rPr>
              <a:t>液性指数</a:t>
            </a:r>
            <a:endParaRPr lang="en-US" altLang="zh-CN" sz="4000" b="1" dirty="0">
              <a:solidFill>
                <a:srgbClr val="000066"/>
              </a:solidFill>
              <a:latin typeface="黑体" pitchFamily="2" charset="-122"/>
              <a:ea typeface="黑体" pitchFamily="2" charset="-122"/>
            </a:endParaRPr>
          </a:p>
        </p:txBody>
      </p:sp>
      <p:sp>
        <p:nvSpPr>
          <p:cNvPr id="1409041" name="Text Box 17"/>
          <p:cNvSpPr txBox="1">
            <a:spLocks noChangeArrowheads="1"/>
          </p:cNvSpPr>
          <p:nvPr/>
        </p:nvSpPr>
        <p:spPr bwMode="auto">
          <a:xfrm>
            <a:off x="893234" y="1152526"/>
            <a:ext cx="7107766" cy="336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0850" indent="-45085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ts val="600"/>
              </a:spcBef>
              <a:spcAft>
                <a:spcPts val="600"/>
              </a:spcAft>
              <a:buClr>
                <a:srgbClr val="C00000"/>
              </a:buClr>
              <a:buSzPct val="130000"/>
              <a:buFont typeface="Wingdings" pitchFamily="2" charset="2"/>
              <a:buChar char="F"/>
            </a:pPr>
            <a:r>
              <a:rPr kumimoji="1" lang="zh-CN" altLang="en-US" sz="2200" b="1" dirty="0" smtClean="0">
                <a:solidFill>
                  <a:srgbClr val="000066"/>
                </a:solidFill>
                <a:ea typeface="幼圆" pitchFamily="49" charset="-122"/>
              </a:rPr>
              <a:t>在</a:t>
            </a:r>
            <a:r>
              <a:rPr kumimoji="1" lang="zh-CN" altLang="en-US" sz="2200" b="1" dirty="0">
                <a:solidFill>
                  <a:srgbClr val="000066"/>
                </a:solidFill>
                <a:ea typeface="幼圆" pitchFamily="49" charset="-122"/>
              </a:rPr>
              <a:t>实验室</a:t>
            </a:r>
            <a:r>
              <a:rPr kumimoji="1" lang="zh-CN" altLang="en-US" sz="2200" b="1" dirty="0" smtClean="0">
                <a:solidFill>
                  <a:srgbClr val="000066"/>
                </a:solidFill>
                <a:ea typeface="幼圆" pitchFamily="49" charset="-122"/>
              </a:rPr>
              <a:t>进行</a:t>
            </a:r>
            <a:r>
              <a:rPr kumimoji="1" lang="zh-CN" altLang="en-US" sz="2200" b="1" dirty="0">
                <a:solidFill>
                  <a:srgbClr val="000066"/>
                </a:solidFill>
                <a:ea typeface="幼圆" pitchFamily="49" charset="-122"/>
              </a:rPr>
              <a:t>液限试验和塑限试验</a:t>
            </a:r>
            <a:r>
              <a:rPr kumimoji="1" lang="zh-CN" altLang="en-US" sz="2200" b="1" dirty="0" smtClean="0">
                <a:solidFill>
                  <a:srgbClr val="000066"/>
                </a:solidFill>
                <a:ea typeface="幼圆" pitchFamily="49" charset="-122"/>
              </a:rPr>
              <a:t>时，都需要先把土样首先调</a:t>
            </a:r>
            <a:r>
              <a:rPr kumimoji="1" lang="zh-CN" altLang="en-US" sz="2200" b="1" dirty="0">
                <a:solidFill>
                  <a:srgbClr val="000066"/>
                </a:solidFill>
                <a:ea typeface="幼圆" pitchFamily="49" charset="-122"/>
              </a:rPr>
              <a:t>成土</a:t>
            </a:r>
            <a:r>
              <a:rPr kumimoji="1" lang="zh-CN" altLang="en-US" sz="2200" b="1" dirty="0" smtClean="0">
                <a:solidFill>
                  <a:srgbClr val="000066"/>
                </a:solidFill>
                <a:ea typeface="幼圆" pitchFamily="49" charset="-122"/>
              </a:rPr>
              <a:t>膏。也即</a:t>
            </a:r>
            <a:r>
              <a:rPr kumimoji="1" lang="en-US" altLang="zh-CN" sz="2200" b="1" i="1" dirty="0" err="1" smtClean="0">
                <a:solidFill>
                  <a:srgbClr val="000066"/>
                </a:solidFill>
                <a:ea typeface="幼圆" pitchFamily="49" charset="-122"/>
              </a:rPr>
              <a:t>w</a:t>
            </a:r>
            <a:r>
              <a:rPr kumimoji="1" lang="en-US" altLang="zh-CN" sz="2200" b="1" baseline="-25000" dirty="0" err="1" smtClean="0">
                <a:solidFill>
                  <a:srgbClr val="000066"/>
                </a:solidFill>
                <a:ea typeface="幼圆" pitchFamily="49" charset="-122"/>
              </a:rPr>
              <a:t>L</a:t>
            </a:r>
            <a:r>
              <a:rPr kumimoji="1" lang="zh-CN" altLang="en-US" sz="2200" b="1" dirty="0">
                <a:solidFill>
                  <a:srgbClr val="000066"/>
                </a:solidFill>
                <a:ea typeface="幼圆" pitchFamily="49" charset="-122"/>
              </a:rPr>
              <a:t>和</a:t>
            </a:r>
            <a:r>
              <a:rPr kumimoji="1" lang="en-US" altLang="zh-CN" sz="2200" b="1" i="1" dirty="0" err="1">
                <a:solidFill>
                  <a:srgbClr val="000066"/>
                </a:solidFill>
                <a:ea typeface="幼圆" pitchFamily="49" charset="-122"/>
              </a:rPr>
              <a:t>w</a:t>
            </a:r>
            <a:r>
              <a:rPr kumimoji="1" lang="en-US" altLang="zh-CN" sz="2200" b="1" baseline="-25000" dirty="0" err="1">
                <a:solidFill>
                  <a:srgbClr val="000066"/>
                </a:solidFill>
                <a:ea typeface="幼圆" pitchFamily="49" charset="-122"/>
              </a:rPr>
              <a:t>p</a:t>
            </a:r>
            <a:r>
              <a:rPr kumimoji="1" lang="zh-CN" altLang="en-US" sz="2200" b="1" dirty="0">
                <a:solidFill>
                  <a:srgbClr val="000066"/>
                </a:solidFill>
                <a:ea typeface="幼圆" pitchFamily="49" charset="-122"/>
              </a:rPr>
              <a:t>都是</a:t>
            </a:r>
            <a:r>
              <a:rPr kumimoji="1" lang="zh-CN" altLang="en-US" sz="2200" b="1" dirty="0" smtClean="0">
                <a:solidFill>
                  <a:srgbClr val="000066"/>
                </a:solidFill>
                <a:ea typeface="幼圆" pitchFamily="49" charset="-122"/>
              </a:rPr>
              <a:t>在黏土处于</a:t>
            </a:r>
            <a:r>
              <a:rPr kumimoji="1" lang="zh-CN" altLang="en-US" sz="2200" b="1" dirty="0">
                <a:solidFill>
                  <a:srgbClr val="000066"/>
                </a:solidFill>
                <a:ea typeface="幼圆" pitchFamily="49" charset="-122"/>
              </a:rPr>
              <a:t>重塑</a:t>
            </a:r>
            <a:r>
              <a:rPr kumimoji="1" lang="zh-CN" altLang="en-US" sz="2200" b="1" dirty="0" smtClean="0">
                <a:solidFill>
                  <a:srgbClr val="000066"/>
                </a:solidFill>
                <a:ea typeface="幼圆" pitchFamily="49" charset="-122"/>
              </a:rPr>
              <a:t>状态下测</a:t>
            </a:r>
            <a:r>
              <a:rPr kumimoji="1" lang="zh-CN" altLang="en-US" sz="2200" b="1" dirty="0">
                <a:solidFill>
                  <a:srgbClr val="000066"/>
                </a:solidFill>
                <a:ea typeface="幼圆" pitchFamily="49" charset="-122"/>
              </a:rPr>
              <a:t>得</a:t>
            </a:r>
            <a:r>
              <a:rPr kumimoji="1" lang="zh-CN" altLang="en-US" sz="2200" b="1" dirty="0" smtClean="0">
                <a:solidFill>
                  <a:srgbClr val="000066"/>
                </a:solidFill>
                <a:ea typeface="幼圆" pitchFamily="49" charset="-122"/>
              </a:rPr>
              <a:t>的</a:t>
            </a:r>
            <a:endParaRPr kumimoji="1" lang="en-US" altLang="zh-CN" sz="2200" b="1" dirty="0" smtClean="0">
              <a:solidFill>
                <a:srgbClr val="000066"/>
              </a:solidFill>
              <a:ea typeface="幼圆" pitchFamily="49" charset="-122"/>
            </a:endParaRPr>
          </a:p>
          <a:p>
            <a:pPr eaLnBrk="1" hangingPunct="1">
              <a:lnSpc>
                <a:spcPct val="125000"/>
              </a:lnSpc>
              <a:spcBef>
                <a:spcPts val="600"/>
              </a:spcBef>
              <a:spcAft>
                <a:spcPts val="600"/>
              </a:spcAft>
              <a:buClr>
                <a:srgbClr val="C00000"/>
              </a:buClr>
              <a:buSzPct val="130000"/>
              <a:buFont typeface="Wingdings" pitchFamily="2" charset="2"/>
              <a:buChar char="F"/>
            </a:pPr>
            <a:r>
              <a:rPr kumimoji="1" lang="zh-CN" altLang="en-US" sz="2200" b="1" dirty="0" smtClean="0">
                <a:solidFill>
                  <a:srgbClr val="000066"/>
                </a:solidFill>
                <a:ea typeface="幼圆" pitchFamily="49" charset="-122"/>
              </a:rPr>
              <a:t>液性指数</a:t>
            </a:r>
            <a:r>
              <a:rPr kumimoji="1" lang="zh-CN" altLang="en-US" sz="2200" b="1" dirty="0">
                <a:solidFill>
                  <a:srgbClr val="000066"/>
                </a:solidFill>
                <a:ea typeface="幼圆" pitchFamily="49" charset="-122"/>
              </a:rPr>
              <a:t>对重塑土较为</a:t>
            </a:r>
            <a:r>
              <a:rPr kumimoji="1" lang="zh-CN" altLang="en-US" sz="2200" b="1" dirty="0" smtClean="0">
                <a:solidFill>
                  <a:srgbClr val="000066"/>
                </a:solidFill>
                <a:ea typeface="幼圆" pitchFamily="49" charset="-122"/>
              </a:rPr>
              <a:t>合适</a:t>
            </a:r>
            <a:endParaRPr kumimoji="1" lang="zh-CN" altLang="en-US" sz="2200" b="1" dirty="0">
              <a:solidFill>
                <a:srgbClr val="000066"/>
              </a:solidFill>
              <a:ea typeface="幼圆" pitchFamily="49" charset="-122"/>
            </a:endParaRPr>
          </a:p>
          <a:p>
            <a:pPr eaLnBrk="1" hangingPunct="1">
              <a:lnSpc>
                <a:spcPct val="125000"/>
              </a:lnSpc>
              <a:spcBef>
                <a:spcPts val="600"/>
              </a:spcBef>
              <a:spcAft>
                <a:spcPts val="600"/>
              </a:spcAft>
              <a:buClr>
                <a:srgbClr val="C00000"/>
              </a:buClr>
              <a:buSzPct val="130000"/>
              <a:buFont typeface="Wingdings" pitchFamily="2" charset="2"/>
              <a:buChar char="F"/>
            </a:pPr>
            <a:r>
              <a:rPr kumimoji="1" lang="zh-CN" altLang="en-US" sz="2200" b="1" dirty="0">
                <a:solidFill>
                  <a:srgbClr val="000066"/>
                </a:solidFill>
                <a:ea typeface="幼圆" pitchFamily="49" charset="-122"/>
              </a:rPr>
              <a:t>对含水量相同的同一</a:t>
            </a:r>
            <a:r>
              <a:rPr kumimoji="1" lang="zh-CN" altLang="en-US" sz="2200" b="1" dirty="0" smtClean="0">
                <a:solidFill>
                  <a:srgbClr val="000066"/>
                </a:solidFill>
                <a:ea typeface="幼圆" pitchFamily="49" charset="-122"/>
              </a:rPr>
              <a:t>种黏土，</a:t>
            </a:r>
            <a:r>
              <a:rPr kumimoji="1" lang="zh-CN" altLang="en-US" sz="2200" b="1" dirty="0">
                <a:solidFill>
                  <a:srgbClr val="000066"/>
                </a:solidFill>
                <a:ea typeface="幼圆" pitchFamily="49" charset="-122"/>
              </a:rPr>
              <a:t>天然结构状态比重塑后具有更高的</a:t>
            </a:r>
            <a:r>
              <a:rPr kumimoji="1" lang="zh-CN" altLang="en-US" sz="2200" b="1" dirty="0" smtClean="0">
                <a:solidFill>
                  <a:srgbClr val="000066"/>
                </a:solidFill>
                <a:ea typeface="幼圆" pitchFamily="49" charset="-122"/>
              </a:rPr>
              <a:t>强度。因此，常见</a:t>
            </a:r>
            <a:r>
              <a:rPr kumimoji="1" lang="zh-CN" altLang="en-US" sz="2200" b="1" dirty="0">
                <a:solidFill>
                  <a:srgbClr val="000066"/>
                </a:solidFill>
                <a:ea typeface="幼圆" pitchFamily="49" charset="-122"/>
              </a:rPr>
              <a:t>到一些液性指数</a:t>
            </a:r>
            <a:r>
              <a:rPr kumimoji="1" lang="en-US" altLang="zh-CN" sz="2200" b="1" i="1" dirty="0">
                <a:solidFill>
                  <a:srgbClr val="000066"/>
                </a:solidFill>
                <a:ea typeface="幼圆" pitchFamily="49" charset="-122"/>
              </a:rPr>
              <a:t>I</a:t>
            </a:r>
            <a:r>
              <a:rPr kumimoji="1" lang="en-US" altLang="zh-CN" sz="2200" b="1" baseline="-25000" dirty="0">
                <a:solidFill>
                  <a:srgbClr val="000066"/>
                </a:solidFill>
                <a:ea typeface="幼圆" pitchFamily="49" charset="-122"/>
              </a:rPr>
              <a:t>L</a:t>
            </a:r>
            <a:r>
              <a:rPr kumimoji="1" lang="zh-CN" altLang="en-US" sz="2200" b="1" dirty="0">
                <a:solidFill>
                  <a:srgbClr val="000066"/>
                </a:solidFill>
                <a:ea typeface="幼圆" pitchFamily="49" charset="-122"/>
              </a:rPr>
              <a:t>大于</a:t>
            </a:r>
            <a:r>
              <a:rPr kumimoji="1" lang="en-US" altLang="zh-CN" sz="2200" b="1" dirty="0">
                <a:solidFill>
                  <a:srgbClr val="000066"/>
                </a:solidFill>
                <a:ea typeface="幼圆" pitchFamily="49" charset="-122"/>
              </a:rPr>
              <a:t>1.0</a:t>
            </a:r>
            <a:r>
              <a:rPr kumimoji="1" lang="zh-CN" altLang="en-US" sz="2200" b="1" dirty="0">
                <a:solidFill>
                  <a:srgbClr val="000066"/>
                </a:solidFill>
                <a:ea typeface="幼圆" pitchFamily="49" charset="-122"/>
              </a:rPr>
              <a:t>的原状土</a:t>
            </a:r>
            <a:r>
              <a:rPr kumimoji="1" lang="zh-CN" altLang="en-US" sz="2200" b="1" dirty="0" smtClean="0">
                <a:solidFill>
                  <a:srgbClr val="000066"/>
                </a:solidFill>
                <a:ea typeface="幼圆" pitchFamily="49" charset="-122"/>
              </a:rPr>
              <a:t>，仍还具有</a:t>
            </a:r>
            <a:r>
              <a:rPr kumimoji="1" lang="zh-CN" altLang="en-US" sz="2200" b="1" dirty="0">
                <a:solidFill>
                  <a:srgbClr val="000066"/>
                </a:solidFill>
                <a:ea typeface="幼圆" pitchFamily="49" charset="-122"/>
              </a:rPr>
              <a:t>一定的抗剪强度和承载力</a:t>
            </a:r>
            <a:endParaRPr kumimoji="1" lang="en-US" altLang="zh-CN" sz="2200" b="1" dirty="0">
              <a:solidFill>
                <a:srgbClr val="000066"/>
              </a:solidFill>
              <a:ea typeface="幼圆" pitchFamily="49" charset="-122"/>
            </a:endParaRPr>
          </a:p>
        </p:txBody>
      </p:sp>
      <p:sp>
        <p:nvSpPr>
          <p:cNvPr id="20"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18198008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409041"/>
                                        </p:tgtEl>
                                        <p:attrNameLst>
                                          <p:attrName>style.visibility</p:attrName>
                                        </p:attrNameLst>
                                      </p:cBhvr>
                                      <p:to>
                                        <p:strVal val="visible"/>
                                      </p:to>
                                    </p:set>
                                    <p:anim calcmode="lin" valueType="num">
                                      <p:cBhvr additive="base">
                                        <p:cTn id="7" dur="1000" fill="hold"/>
                                        <p:tgtEl>
                                          <p:spTgt spid="1409041"/>
                                        </p:tgtEl>
                                        <p:attrNameLst>
                                          <p:attrName>ppt_x</p:attrName>
                                        </p:attrNameLst>
                                      </p:cBhvr>
                                      <p:tavLst>
                                        <p:tav tm="0">
                                          <p:val>
                                            <p:strVal val="1+#ppt_w/2"/>
                                          </p:val>
                                        </p:tav>
                                        <p:tav tm="100000">
                                          <p:val>
                                            <p:strVal val="#ppt_x"/>
                                          </p:val>
                                        </p:tav>
                                      </p:tavLst>
                                    </p:anim>
                                    <p:anim calcmode="lin" valueType="num">
                                      <p:cBhvr additive="base">
                                        <p:cTn id="8" dur="1000" fill="hold"/>
                                        <p:tgtEl>
                                          <p:spTgt spid="14090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9041"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20291" name="Object 3"/>
          <p:cNvGraphicFramePr>
            <a:graphicFrameLocks noChangeAspect="1"/>
          </p:cNvGraphicFramePr>
          <p:nvPr>
            <p:extLst>
              <p:ext uri="{D42A27DB-BD31-4B8C-83A1-F6EECF244321}">
                <p14:modId xmlns:p14="http://schemas.microsoft.com/office/powerpoint/2010/main" val="3939079894"/>
              </p:ext>
            </p:extLst>
          </p:nvPr>
        </p:nvGraphicFramePr>
        <p:xfrm>
          <a:off x="1682752" y="1863724"/>
          <a:ext cx="1792288" cy="530225"/>
        </p:xfrm>
        <a:graphic>
          <a:graphicData uri="http://schemas.openxmlformats.org/presentationml/2006/ole">
            <mc:AlternateContent xmlns:mc="http://schemas.openxmlformats.org/markup-compatibility/2006">
              <mc:Choice xmlns:v="urn:schemas-microsoft-com:vml" Requires="v">
                <p:oleObj spid="_x0000_s64625" name="公式" r:id="rId4" imgW="812520" imgH="241200" progId="Equation.3">
                  <p:embed/>
                </p:oleObj>
              </mc:Choice>
              <mc:Fallback>
                <p:oleObj name="公式" r:id="rId4" imgW="812520" imgH="241200" progId="Equation.3">
                  <p:embed/>
                  <p:pic>
                    <p:nvPicPr>
                      <p:cNvPr id="0" name=""/>
                      <p:cNvPicPr>
                        <a:picLocks noChangeAspect="1" noChangeArrowheads="1"/>
                      </p:cNvPicPr>
                      <p:nvPr/>
                    </p:nvPicPr>
                    <p:blipFill>
                      <a:blip r:embed="rId5"/>
                      <a:srcRect/>
                      <a:stretch>
                        <a:fillRect/>
                      </a:stretch>
                    </p:blipFill>
                    <p:spPr bwMode="auto">
                      <a:xfrm>
                        <a:off x="1682752" y="1863724"/>
                        <a:ext cx="1792288" cy="530225"/>
                      </a:xfrm>
                      <a:prstGeom prst="rect">
                        <a:avLst/>
                      </a:prstGeom>
                      <a:noFill/>
                      <a:ln>
                        <a:noFill/>
                      </a:ln>
                      <a:effectLst/>
                      <a:extLst/>
                    </p:spPr>
                  </p:pic>
                </p:oleObj>
              </mc:Fallback>
            </mc:AlternateContent>
          </a:graphicData>
        </a:graphic>
      </p:graphicFrame>
      <p:sp>
        <p:nvSpPr>
          <p:cNvPr id="14341" name="Rectangle 4"/>
          <p:cNvSpPr>
            <a:spLocks noChangeArrowheads="1"/>
          </p:cNvSpPr>
          <p:nvPr/>
        </p:nvSpPr>
        <p:spPr bwMode="auto">
          <a:xfrm>
            <a:off x="3294063" y="5767655"/>
            <a:ext cx="23225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50000"/>
              </a:spcBef>
              <a:spcAft>
                <a:spcPct val="0"/>
              </a:spcAft>
            </a:pPr>
            <a:r>
              <a:rPr kumimoji="1" lang="zh-CN" altLang="en-US" sz="4000" b="1" dirty="0">
                <a:solidFill>
                  <a:srgbClr val="000066"/>
                </a:solidFill>
                <a:latin typeface="黑体" pitchFamily="2" charset="-122"/>
                <a:ea typeface="黑体" pitchFamily="2" charset="-122"/>
              </a:rPr>
              <a:t>塑性指数</a:t>
            </a:r>
          </a:p>
        </p:txBody>
      </p:sp>
      <p:sp>
        <p:nvSpPr>
          <p:cNvPr id="14346" name="Text Box 10"/>
          <p:cNvSpPr txBox="1">
            <a:spLocks noChangeArrowheads="1"/>
          </p:cNvSpPr>
          <p:nvPr/>
        </p:nvSpPr>
        <p:spPr bwMode="auto">
          <a:xfrm>
            <a:off x="6911975" y="3709988"/>
            <a:ext cx="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endParaRPr kumimoji="1" lang="zh-CN" altLang="en-US" sz="2000" b="1">
              <a:solidFill>
                <a:srgbClr val="000066"/>
              </a:solidFill>
              <a:latin typeface="Arial" charset="0"/>
              <a:ea typeface="华文新魏" pitchFamily="2" charset="-122"/>
            </a:endParaRPr>
          </a:p>
          <a:p>
            <a:pPr eaLnBrk="1" hangingPunct="1">
              <a:lnSpc>
                <a:spcPct val="100000"/>
              </a:lnSpc>
              <a:spcBef>
                <a:spcPct val="0"/>
              </a:spcBef>
              <a:spcAft>
                <a:spcPct val="0"/>
              </a:spcAft>
            </a:pPr>
            <a:endParaRPr kumimoji="1" lang="zh-CN" altLang="en-US" sz="2000" b="1">
              <a:solidFill>
                <a:srgbClr val="000066"/>
              </a:solidFill>
              <a:latin typeface="Arial" charset="0"/>
              <a:ea typeface="华文新魏" pitchFamily="2" charset="-122"/>
            </a:endParaRPr>
          </a:p>
          <a:p>
            <a:pPr eaLnBrk="1" hangingPunct="1">
              <a:lnSpc>
                <a:spcPct val="100000"/>
              </a:lnSpc>
              <a:spcBef>
                <a:spcPct val="0"/>
              </a:spcBef>
              <a:spcAft>
                <a:spcPct val="0"/>
              </a:spcAft>
            </a:pPr>
            <a:endParaRPr kumimoji="1" lang="zh-CN" altLang="en-US" sz="2000" b="1">
              <a:solidFill>
                <a:srgbClr val="000066"/>
              </a:solidFill>
              <a:latin typeface="Arial" charset="0"/>
              <a:ea typeface="华文新魏" pitchFamily="2" charset="-122"/>
            </a:endParaRPr>
          </a:p>
        </p:txBody>
      </p:sp>
      <p:sp>
        <p:nvSpPr>
          <p:cNvPr id="1420299" name="Text Box 11"/>
          <p:cNvSpPr txBox="1">
            <a:spLocks noChangeArrowheads="1"/>
          </p:cNvSpPr>
          <p:nvPr/>
        </p:nvSpPr>
        <p:spPr bwMode="auto">
          <a:xfrm>
            <a:off x="708025" y="673100"/>
            <a:ext cx="709824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buClr>
                <a:srgbClr val="A50021"/>
              </a:buClr>
              <a:buFont typeface="Wingdings" pitchFamily="2" charset="2"/>
              <a:buChar char="n"/>
            </a:pPr>
            <a:r>
              <a:rPr lang="zh-CN" altLang="en-US" sz="2400" b="1" dirty="0" smtClean="0">
                <a:solidFill>
                  <a:srgbClr val="000066"/>
                </a:solidFill>
                <a:ea typeface="幼圆" pitchFamily="49" charset="-122"/>
              </a:rPr>
              <a:t> </a:t>
            </a:r>
            <a:r>
              <a:rPr lang="zh-CN" altLang="en-US" sz="2400" b="1" dirty="0" smtClean="0">
                <a:solidFill>
                  <a:srgbClr val="C00000"/>
                </a:solidFill>
                <a:ea typeface="幼圆" pitchFamily="49" charset="-122"/>
              </a:rPr>
              <a:t>塑性指数</a:t>
            </a:r>
            <a:r>
              <a:rPr lang="en-US" altLang="zh-CN" sz="2400" b="1" i="1" dirty="0" err="1" smtClean="0">
                <a:solidFill>
                  <a:srgbClr val="C00000"/>
                </a:solidFill>
                <a:ea typeface="幼圆" pitchFamily="49" charset="-122"/>
              </a:rPr>
              <a:t>I</a:t>
            </a:r>
            <a:r>
              <a:rPr lang="en-US" altLang="zh-CN" sz="2400" b="1" baseline="-25000" dirty="0" err="1" smtClean="0">
                <a:solidFill>
                  <a:srgbClr val="C00000"/>
                </a:solidFill>
                <a:ea typeface="幼圆" pitchFamily="49" charset="-122"/>
              </a:rPr>
              <a:t>p</a:t>
            </a:r>
            <a:r>
              <a:rPr lang="zh-CN" altLang="en-US" sz="2400" b="1" dirty="0">
                <a:solidFill>
                  <a:srgbClr val="000066"/>
                </a:solidFill>
                <a:ea typeface="幼圆" pitchFamily="49" charset="-122"/>
              </a:rPr>
              <a:t>：等于</a:t>
            </a:r>
            <a:r>
              <a:rPr lang="zh-CN" altLang="en-US" sz="2400" b="1" dirty="0" smtClean="0">
                <a:solidFill>
                  <a:srgbClr val="000066"/>
                </a:solidFill>
                <a:ea typeface="幼圆" pitchFamily="49" charset="-122"/>
              </a:rPr>
              <a:t>液限</a:t>
            </a:r>
            <a:r>
              <a:rPr lang="en-US" altLang="zh-CN" sz="2400" b="1" i="1" dirty="0" err="1" smtClean="0">
                <a:solidFill>
                  <a:srgbClr val="000066"/>
                </a:solidFill>
                <a:ea typeface="幼圆" pitchFamily="49" charset="-122"/>
              </a:rPr>
              <a:t>w</a:t>
            </a:r>
            <a:r>
              <a:rPr lang="en-US" altLang="zh-CN" sz="2400" b="1" baseline="-25000" dirty="0" err="1" smtClean="0">
                <a:solidFill>
                  <a:srgbClr val="000066"/>
                </a:solidFill>
                <a:ea typeface="幼圆" pitchFamily="49" charset="-122"/>
              </a:rPr>
              <a:t>L</a:t>
            </a:r>
            <a:r>
              <a:rPr lang="zh-CN" altLang="en-US" sz="2400" b="1" dirty="0" smtClean="0">
                <a:solidFill>
                  <a:srgbClr val="000066"/>
                </a:solidFill>
                <a:ea typeface="幼圆" pitchFamily="49" charset="-122"/>
              </a:rPr>
              <a:t>与塑限</a:t>
            </a:r>
            <a:r>
              <a:rPr lang="en-US" altLang="zh-CN" sz="2400" b="1" i="1" dirty="0" err="1">
                <a:solidFill>
                  <a:srgbClr val="000066"/>
                </a:solidFill>
                <a:ea typeface="幼圆" pitchFamily="49" charset="-122"/>
              </a:rPr>
              <a:t>w</a:t>
            </a:r>
            <a:r>
              <a:rPr lang="en-US" altLang="zh-CN" sz="2400" b="1" baseline="-25000" dirty="0" err="1">
                <a:solidFill>
                  <a:srgbClr val="000066"/>
                </a:solidFill>
                <a:ea typeface="幼圆" pitchFamily="49" charset="-122"/>
              </a:rPr>
              <a:t>p</a:t>
            </a:r>
            <a:r>
              <a:rPr lang="zh-CN" altLang="en-US" sz="2400" b="1" dirty="0" smtClean="0">
                <a:solidFill>
                  <a:srgbClr val="000066"/>
                </a:solidFill>
                <a:ea typeface="幼圆" pitchFamily="49" charset="-122"/>
              </a:rPr>
              <a:t>之</a:t>
            </a:r>
            <a:r>
              <a:rPr lang="zh-CN" altLang="en-US" sz="2400" b="1" dirty="0">
                <a:solidFill>
                  <a:srgbClr val="000066"/>
                </a:solidFill>
                <a:ea typeface="幼圆" pitchFamily="49" charset="-122"/>
              </a:rPr>
              <a:t>差，习惯上用百分数的分</a:t>
            </a:r>
            <a:r>
              <a:rPr lang="zh-CN" altLang="en-US" sz="2400" b="1" dirty="0" smtClean="0">
                <a:solidFill>
                  <a:srgbClr val="000066"/>
                </a:solidFill>
                <a:ea typeface="幼圆" pitchFamily="49" charset="-122"/>
              </a:rPr>
              <a:t>子表示。</a:t>
            </a:r>
            <a:endParaRPr lang="zh-CN" altLang="en-US" sz="2400" b="1" dirty="0">
              <a:solidFill>
                <a:srgbClr val="000066"/>
              </a:solidFill>
              <a:ea typeface="幼圆" pitchFamily="49" charset="-122"/>
            </a:endParaRPr>
          </a:p>
        </p:txBody>
      </p:sp>
      <p:sp>
        <p:nvSpPr>
          <p:cNvPr id="1420301" name="Rectangle 13"/>
          <p:cNvSpPr>
            <a:spLocks noChangeArrowheads="1"/>
          </p:cNvSpPr>
          <p:nvPr/>
        </p:nvSpPr>
        <p:spPr bwMode="auto">
          <a:xfrm>
            <a:off x="1931378" y="2570162"/>
            <a:ext cx="6430108" cy="296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73050" indent="-273050">
              <a:lnSpc>
                <a:spcPct val="125000"/>
              </a:lnSpc>
              <a:spcBef>
                <a:spcPts val="300"/>
              </a:spcBef>
              <a:spcAft>
                <a:spcPts val="300"/>
              </a:spcAft>
              <a:buClr>
                <a:srgbClr val="C00000"/>
              </a:buClr>
              <a:buSzPct val="140000"/>
              <a:buFontTx/>
              <a:buChar char="•"/>
            </a:pPr>
            <a:r>
              <a:rPr kumimoji="1" lang="en-US" altLang="zh-CN" sz="2400" b="1" i="1" dirty="0" err="1" smtClean="0">
                <a:solidFill>
                  <a:srgbClr val="000066"/>
                </a:solidFill>
                <a:ea typeface="幼圆" pitchFamily="49" charset="-122"/>
                <a:cs typeface="Times New Roman" panose="02020603050405020304" pitchFamily="18" charset="0"/>
              </a:rPr>
              <a:t>I</a:t>
            </a:r>
            <a:r>
              <a:rPr kumimoji="1" lang="en-US" altLang="zh-CN" sz="2400" b="1" baseline="-25000" dirty="0" err="1" smtClean="0">
                <a:solidFill>
                  <a:srgbClr val="000066"/>
                </a:solidFill>
                <a:ea typeface="幼圆" pitchFamily="49" charset="-122"/>
                <a:cs typeface="Times New Roman" panose="02020603050405020304" pitchFamily="18" charset="0"/>
              </a:rPr>
              <a:t>p</a:t>
            </a:r>
            <a:r>
              <a:rPr kumimoji="1" lang="zh-CN" altLang="en-US" sz="2400" b="1" dirty="0">
                <a:solidFill>
                  <a:srgbClr val="000066"/>
                </a:solidFill>
                <a:ea typeface="幼圆" pitchFamily="49" charset="-122"/>
                <a:cs typeface="Times New Roman" panose="02020603050405020304" pitchFamily="18" charset="0"/>
              </a:rPr>
              <a:t>大体上</a:t>
            </a:r>
            <a:r>
              <a:rPr kumimoji="1" lang="zh-CN" altLang="en-US" sz="2400" b="1" dirty="0" smtClean="0">
                <a:solidFill>
                  <a:srgbClr val="000066"/>
                </a:solidFill>
                <a:ea typeface="幼圆" pitchFamily="49" charset="-122"/>
                <a:cs typeface="Times New Roman" panose="02020603050405020304" pitchFamily="18" charset="0"/>
              </a:rPr>
              <a:t>表示黏土所</a:t>
            </a:r>
            <a:r>
              <a:rPr kumimoji="1" lang="zh-CN" altLang="en-US" sz="2400" b="1" dirty="0">
                <a:solidFill>
                  <a:srgbClr val="000066"/>
                </a:solidFill>
                <a:ea typeface="幼圆" pitchFamily="49" charset="-122"/>
                <a:cs typeface="Times New Roman" panose="02020603050405020304" pitchFamily="18" charset="0"/>
              </a:rPr>
              <a:t>能</a:t>
            </a:r>
            <a:r>
              <a:rPr kumimoji="1" lang="zh-CN" altLang="en-US" sz="2400" b="1" dirty="0" smtClean="0">
                <a:solidFill>
                  <a:srgbClr val="000066"/>
                </a:solidFill>
                <a:ea typeface="幼圆" pitchFamily="49" charset="-122"/>
                <a:cs typeface="Times New Roman" panose="02020603050405020304" pitchFamily="18" charset="0"/>
              </a:rPr>
              <a:t>吸附的</a:t>
            </a:r>
            <a:r>
              <a:rPr kumimoji="1" lang="zh-CN" altLang="en-US" sz="2400" b="1" dirty="0">
                <a:solidFill>
                  <a:srgbClr val="000066"/>
                </a:solidFill>
                <a:ea typeface="幼圆" pitchFamily="49" charset="-122"/>
                <a:cs typeface="Times New Roman" panose="02020603050405020304" pitchFamily="18" charset="0"/>
              </a:rPr>
              <a:t>弱</a:t>
            </a:r>
            <a:r>
              <a:rPr kumimoji="1" lang="zh-CN" altLang="en-US" sz="2400" b="1" dirty="0" smtClean="0">
                <a:solidFill>
                  <a:srgbClr val="000066"/>
                </a:solidFill>
                <a:ea typeface="幼圆" pitchFamily="49" charset="-122"/>
                <a:cs typeface="Times New Roman" panose="02020603050405020304" pitchFamily="18" charset="0"/>
              </a:rPr>
              <a:t>结合水含水量的大小</a:t>
            </a:r>
            <a:endParaRPr kumimoji="1" lang="en-US" altLang="zh-CN" sz="2400" b="1" dirty="0" smtClean="0">
              <a:solidFill>
                <a:srgbClr val="000066"/>
              </a:solidFill>
              <a:ea typeface="幼圆" pitchFamily="49" charset="-122"/>
              <a:cs typeface="Times New Roman" panose="02020603050405020304" pitchFamily="18" charset="0"/>
            </a:endParaRPr>
          </a:p>
          <a:p>
            <a:pPr marL="273050" indent="-273050">
              <a:lnSpc>
                <a:spcPct val="125000"/>
              </a:lnSpc>
              <a:spcBef>
                <a:spcPts val="300"/>
              </a:spcBef>
              <a:spcAft>
                <a:spcPts val="300"/>
              </a:spcAft>
              <a:buClr>
                <a:srgbClr val="C00000"/>
              </a:buClr>
              <a:buSzPct val="140000"/>
              <a:buFontTx/>
              <a:buChar char="•"/>
            </a:pPr>
            <a:r>
              <a:rPr kumimoji="1" lang="zh-CN" altLang="en-US" sz="2400" b="1" dirty="0" smtClean="0">
                <a:solidFill>
                  <a:srgbClr val="000066"/>
                </a:solidFill>
                <a:ea typeface="幼圆" pitchFamily="49" charset="-122"/>
                <a:cs typeface="Times New Roman" panose="02020603050405020304" pitchFamily="18" charset="0"/>
              </a:rPr>
              <a:t>弱</a:t>
            </a:r>
            <a:r>
              <a:rPr kumimoji="1" lang="zh-CN" altLang="en-US" sz="2400" b="1" dirty="0">
                <a:solidFill>
                  <a:srgbClr val="000066"/>
                </a:solidFill>
                <a:ea typeface="幼圆" pitchFamily="49" charset="-122"/>
                <a:cs typeface="Times New Roman" panose="02020603050405020304" pitchFamily="18" charset="0"/>
              </a:rPr>
              <a:t>结合水是使黏土具有可塑性的</a:t>
            </a:r>
            <a:r>
              <a:rPr kumimoji="1" lang="zh-CN" altLang="en-US" sz="2400" b="1" dirty="0" smtClean="0">
                <a:solidFill>
                  <a:srgbClr val="000066"/>
                </a:solidFill>
                <a:ea typeface="幼圆" pitchFamily="49" charset="-122"/>
                <a:cs typeface="Times New Roman" panose="02020603050405020304" pitchFamily="18" charset="0"/>
              </a:rPr>
              <a:t>原因。因此，吸附结合水</a:t>
            </a:r>
            <a:r>
              <a:rPr kumimoji="1" lang="zh-CN" altLang="en-US" sz="2400" b="1" dirty="0">
                <a:solidFill>
                  <a:srgbClr val="000066"/>
                </a:solidFill>
                <a:ea typeface="幼圆" pitchFamily="49" charset="-122"/>
                <a:cs typeface="Times New Roman" panose="02020603050405020304" pitchFamily="18" charset="0"/>
              </a:rPr>
              <a:t>的能力是</a:t>
            </a:r>
            <a:r>
              <a:rPr kumimoji="1" lang="zh-CN" altLang="en-US" sz="2400" b="1" dirty="0" smtClean="0">
                <a:solidFill>
                  <a:srgbClr val="000066"/>
                </a:solidFill>
                <a:ea typeface="幼圆" pitchFamily="49" charset="-122"/>
                <a:cs typeface="Times New Roman" panose="02020603050405020304" pitchFamily="18" charset="0"/>
              </a:rPr>
              <a:t>黏性土</a:t>
            </a:r>
            <a:r>
              <a:rPr kumimoji="1" lang="zh-CN" altLang="en-US" sz="2400" b="1" dirty="0">
                <a:solidFill>
                  <a:srgbClr val="000066"/>
                </a:solidFill>
                <a:ea typeface="幼圆" pitchFamily="49" charset="-122"/>
                <a:cs typeface="Times New Roman" panose="02020603050405020304" pitchFamily="18" charset="0"/>
              </a:rPr>
              <a:t>黏性大小的标志</a:t>
            </a:r>
            <a:endParaRPr kumimoji="1" lang="en-US" altLang="zh-CN" sz="2400" b="1" dirty="0" smtClean="0">
              <a:solidFill>
                <a:srgbClr val="000066"/>
              </a:solidFill>
              <a:ea typeface="幼圆" pitchFamily="49" charset="-122"/>
              <a:cs typeface="Times New Roman" panose="02020603050405020304" pitchFamily="18" charset="0"/>
            </a:endParaRPr>
          </a:p>
          <a:p>
            <a:pPr marL="273050" indent="-273050">
              <a:lnSpc>
                <a:spcPct val="125000"/>
              </a:lnSpc>
              <a:spcBef>
                <a:spcPts val="300"/>
              </a:spcBef>
              <a:spcAft>
                <a:spcPts val="300"/>
              </a:spcAft>
              <a:buClr>
                <a:srgbClr val="C00000"/>
              </a:buClr>
              <a:buSzPct val="140000"/>
              <a:buFontTx/>
              <a:buChar char="•"/>
            </a:pPr>
            <a:r>
              <a:rPr kumimoji="1" lang="en-US" altLang="zh-CN" sz="2400" b="1" i="1" dirty="0" err="1">
                <a:solidFill>
                  <a:srgbClr val="000066"/>
                </a:solidFill>
                <a:ea typeface="幼圆" pitchFamily="49" charset="-122"/>
                <a:cs typeface="Times New Roman" panose="02020603050405020304" pitchFamily="18" charset="0"/>
              </a:rPr>
              <a:t>I</a:t>
            </a:r>
            <a:r>
              <a:rPr kumimoji="1" lang="en-US" altLang="zh-CN" sz="2400" b="1" baseline="-25000" dirty="0" err="1">
                <a:solidFill>
                  <a:srgbClr val="000066"/>
                </a:solidFill>
                <a:ea typeface="幼圆" pitchFamily="49" charset="-122"/>
                <a:cs typeface="Times New Roman" panose="02020603050405020304" pitchFamily="18" charset="0"/>
              </a:rPr>
              <a:t>p</a:t>
            </a:r>
            <a:r>
              <a:rPr kumimoji="1" lang="zh-CN" altLang="en-US" sz="2400" b="1" dirty="0" smtClean="0">
                <a:solidFill>
                  <a:srgbClr val="000066"/>
                </a:solidFill>
                <a:ea typeface="幼圆" pitchFamily="49" charset="-122"/>
                <a:cs typeface="Times New Roman" panose="02020603050405020304" pitchFamily="18" charset="0"/>
              </a:rPr>
              <a:t>大致反映黏土</a:t>
            </a:r>
            <a:r>
              <a:rPr kumimoji="1" lang="zh-CN" altLang="en-US" sz="2400" b="1" dirty="0">
                <a:solidFill>
                  <a:srgbClr val="000066"/>
                </a:solidFill>
                <a:ea typeface="幼圆" pitchFamily="49" charset="-122"/>
                <a:cs typeface="Times New Roman" panose="02020603050405020304" pitchFamily="18" charset="0"/>
              </a:rPr>
              <a:t>颗粒</a:t>
            </a:r>
            <a:r>
              <a:rPr kumimoji="1" lang="zh-CN" altLang="en-US" sz="2400" b="1" dirty="0" smtClean="0">
                <a:solidFill>
                  <a:srgbClr val="000066"/>
                </a:solidFill>
                <a:ea typeface="幼圆" pitchFamily="49" charset="-122"/>
                <a:cs typeface="Times New Roman" panose="02020603050405020304" pitchFamily="18" charset="0"/>
              </a:rPr>
              <a:t>含量，常</a:t>
            </a:r>
            <a:r>
              <a:rPr kumimoji="1" lang="zh-CN" altLang="en-US" sz="2400" b="1" dirty="0">
                <a:solidFill>
                  <a:srgbClr val="000066"/>
                </a:solidFill>
                <a:ea typeface="幼圆" pitchFamily="49" charset="-122"/>
                <a:cs typeface="Times New Roman" panose="02020603050405020304" pitchFamily="18" charset="0"/>
              </a:rPr>
              <a:t>作为细粒土工程分类的依据</a:t>
            </a:r>
          </a:p>
        </p:txBody>
      </p:sp>
      <p:sp>
        <p:nvSpPr>
          <p:cNvPr id="1420303" name="AutoShape 15"/>
          <p:cNvSpPr>
            <a:spLocks noChangeArrowheads="1"/>
          </p:cNvSpPr>
          <p:nvPr/>
        </p:nvSpPr>
        <p:spPr bwMode="auto">
          <a:xfrm>
            <a:off x="1161237" y="2664680"/>
            <a:ext cx="541338" cy="427038"/>
          </a:xfrm>
          <a:prstGeom prst="homePlate">
            <a:avLst>
              <a:gd name="adj" fmla="val 31691"/>
            </a:avLst>
          </a:prstGeom>
          <a:solidFill>
            <a:schemeClr val="accent6">
              <a:lumMod val="40000"/>
              <a:lumOff val="60000"/>
            </a:schemeClr>
          </a:solidFill>
          <a:ln w="9525">
            <a:solidFill>
              <a:srgbClr val="000066"/>
            </a:solidFill>
            <a:miter lim="800000"/>
            <a:headEnd/>
            <a:tailEnd/>
          </a:ln>
        </p:spPr>
        <p:txBody>
          <a:bodyPr wrap="none" anchor="ctr"/>
          <a:lstStyle/>
          <a:p>
            <a:endParaRPr lang="zh-CN" altLang="en-US"/>
          </a:p>
        </p:txBody>
      </p:sp>
      <p:sp>
        <p:nvSpPr>
          <p:cNvPr id="18"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18395686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20299"/>
                                        </p:tgtEl>
                                        <p:attrNameLst>
                                          <p:attrName>style.visibility</p:attrName>
                                        </p:attrNameLst>
                                      </p:cBhvr>
                                      <p:to>
                                        <p:strVal val="visible"/>
                                      </p:to>
                                    </p:set>
                                    <p:anim calcmode="lin" valueType="num">
                                      <p:cBhvr additive="base">
                                        <p:cTn id="7" dur="500" fill="hold"/>
                                        <p:tgtEl>
                                          <p:spTgt spid="1420299"/>
                                        </p:tgtEl>
                                        <p:attrNameLst>
                                          <p:attrName>ppt_x</p:attrName>
                                        </p:attrNameLst>
                                      </p:cBhvr>
                                      <p:tavLst>
                                        <p:tav tm="0">
                                          <p:val>
                                            <p:strVal val="0-#ppt_w/2"/>
                                          </p:val>
                                        </p:tav>
                                        <p:tav tm="100000">
                                          <p:val>
                                            <p:strVal val="#ppt_x"/>
                                          </p:val>
                                        </p:tav>
                                      </p:tavLst>
                                    </p:anim>
                                    <p:anim calcmode="lin" valueType="num">
                                      <p:cBhvr additive="base">
                                        <p:cTn id="8" dur="500" fill="hold"/>
                                        <p:tgtEl>
                                          <p:spTgt spid="1420299"/>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9" presetClass="entr" presetSubtype="0" fill="hold" nodeType="afterEffect">
                                  <p:stCondLst>
                                    <p:cond delay="0"/>
                                  </p:stCondLst>
                                  <p:childTnLst>
                                    <p:set>
                                      <p:cBhvr>
                                        <p:cTn id="11" dur="1" fill="hold">
                                          <p:stCondLst>
                                            <p:cond delay="0"/>
                                          </p:stCondLst>
                                        </p:cTn>
                                        <p:tgtEl>
                                          <p:spTgt spid="1420291"/>
                                        </p:tgtEl>
                                        <p:attrNameLst>
                                          <p:attrName>style.visibility</p:attrName>
                                        </p:attrNameLst>
                                      </p:cBhvr>
                                      <p:to>
                                        <p:strVal val="visible"/>
                                      </p:to>
                                    </p:set>
                                    <p:animEffect transition="in" filter="dissolve">
                                      <p:cBhvr>
                                        <p:cTn id="12" dur="2000"/>
                                        <p:tgtEl>
                                          <p:spTgt spid="1420291"/>
                                        </p:tgtEl>
                                      </p:cBhvr>
                                    </p:animEffect>
                                  </p:childTnLst>
                                </p:cTn>
                              </p:par>
                            </p:childTnLst>
                          </p:cTn>
                        </p:par>
                      </p:childTnLst>
                    </p:cTn>
                  </p:par>
                  <p:par>
                    <p:cTn id="13" fill="hold">
                      <p:stCondLst>
                        <p:cond delay="indefinite"/>
                      </p:stCondLst>
                      <p:childTnLst>
                        <p:par>
                          <p:cTn id="14" fill="hold" nodeType="after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20303"/>
                                        </p:tgtEl>
                                        <p:attrNameLst>
                                          <p:attrName>style.visibility</p:attrName>
                                        </p:attrNameLst>
                                      </p:cBhvr>
                                      <p:to>
                                        <p:strVal val="visible"/>
                                      </p:to>
                                    </p:set>
                                    <p:animEffect transition="in" filter="wipe(left)">
                                      <p:cBhvr>
                                        <p:cTn id="17" dur="1000"/>
                                        <p:tgtEl>
                                          <p:spTgt spid="1420303"/>
                                        </p:tgtEl>
                                      </p:cBhvr>
                                    </p:animEffect>
                                  </p:childTnLst>
                                </p:cTn>
                              </p:par>
                            </p:childTnLst>
                          </p:cTn>
                        </p:par>
                        <p:par>
                          <p:cTn id="18" fill="hold" nodeType="afterGroup">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420301">
                                            <p:txEl>
                                              <p:pRg st="0" end="0"/>
                                            </p:txEl>
                                          </p:spTgt>
                                        </p:tgtEl>
                                        <p:attrNameLst>
                                          <p:attrName>style.visibility</p:attrName>
                                        </p:attrNameLst>
                                      </p:cBhvr>
                                      <p:to>
                                        <p:strVal val="visible"/>
                                      </p:to>
                                    </p:set>
                                    <p:animEffect transition="in" filter="wipe(left)">
                                      <p:cBhvr>
                                        <p:cTn id="21" dur="1000"/>
                                        <p:tgtEl>
                                          <p:spTgt spid="1420301">
                                            <p:txEl>
                                              <p:pRg st="0" end="0"/>
                                            </p:txEl>
                                          </p:spTgt>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1420301">
                                            <p:txEl>
                                              <p:pRg st="1" end="1"/>
                                            </p:txEl>
                                          </p:spTgt>
                                        </p:tgtEl>
                                        <p:attrNameLst>
                                          <p:attrName>style.visibility</p:attrName>
                                        </p:attrNameLst>
                                      </p:cBhvr>
                                      <p:to>
                                        <p:strVal val="visible"/>
                                      </p:to>
                                    </p:set>
                                    <p:animEffect transition="in" filter="wipe(left)">
                                      <p:cBhvr>
                                        <p:cTn id="25" dur="1000"/>
                                        <p:tgtEl>
                                          <p:spTgt spid="1420301">
                                            <p:txEl>
                                              <p:pRg st="1" end="1"/>
                                            </p:txEl>
                                          </p:spTgt>
                                        </p:tgtEl>
                                      </p:cBhvr>
                                    </p:animEffect>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1420301">
                                            <p:txEl>
                                              <p:pRg st="2" end="2"/>
                                            </p:txEl>
                                          </p:spTgt>
                                        </p:tgtEl>
                                        <p:attrNameLst>
                                          <p:attrName>style.visibility</p:attrName>
                                        </p:attrNameLst>
                                      </p:cBhvr>
                                      <p:to>
                                        <p:strVal val="visible"/>
                                      </p:to>
                                    </p:set>
                                    <p:animEffect transition="in" filter="wipe(left)">
                                      <p:cBhvr>
                                        <p:cTn id="29" dur="1000"/>
                                        <p:tgtEl>
                                          <p:spTgt spid="142030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0299" grpId="0"/>
      <p:bldP spid="1420301" grpId="0" uiExpand="1" build="p"/>
      <p:bldP spid="1420303"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4"/>
          <p:cNvSpPr>
            <a:spLocks noChangeArrowheads="1"/>
          </p:cNvSpPr>
          <p:nvPr/>
        </p:nvSpPr>
        <p:spPr bwMode="auto">
          <a:xfrm>
            <a:off x="3294063" y="5767655"/>
            <a:ext cx="23225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50000"/>
              </a:spcBef>
              <a:spcAft>
                <a:spcPct val="0"/>
              </a:spcAft>
            </a:pPr>
            <a:r>
              <a:rPr kumimoji="1" lang="zh-CN" altLang="en-US" sz="4000" b="1" dirty="0">
                <a:solidFill>
                  <a:srgbClr val="000066"/>
                </a:solidFill>
                <a:latin typeface="黑体" pitchFamily="2" charset="-122"/>
                <a:ea typeface="黑体" pitchFamily="2" charset="-122"/>
              </a:rPr>
              <a:t>活性指数</a:t>
            </a:r>
          </a:p>
        </p:txBody>
      </p:sp>
      <p:sp>
        <p:nvSpPr>
          <p:cNvPr id="1420294" name="AutoShape 6"/>
          <p:cNvSpPr>
            <a:spLocks noChangeArrowheads="1"/>
          </p:cNvSpPr>
          <p:nvPr/>
        </p:nvSpPr>
        <p:spPr bwMode="auto">
          <a:xfrm>
            <a:off x="620346" y="855907"/>
            <a:ext cx="1957388" cy="40862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p>
            <a:pPr>
              <a:lnSpc>
                <a:spcPct val="100000"/>
              </a:lnSpc>
              <a:spcBef>
                <a:spcPct val="0"/>
              </a:spcBef>
              <a:spcAft>
                <a:spcPct val="0"/>
              </a:spcAft>
              <a:buClr>
                <a:srgbClr val="A50021"/>
              </a:buClr>
              <a:buFont typeface="Wingdings" pitchFamily="2" charset="2"/>
              <a:buChar char="n"/>
            </a:pPr>
            <a:r>
              <a:rPr kumimoji="1" lang="zh-CN" altLang="en-US" sz="2400" b="1" dirty="0">
                <a:solidFill>
                  <a:srgbClr val="000066"/>
                </a:solidFill>
                <a:ea typeface="幼圆" pitchFamily="49" charset="-122"/>
                <a:cs typeface="Times New Roman" panose="02020603050405020304" pitchFamily="18" charset="0"/>
              </a:rPr>
              <a:t> </a:t>
            </a:r>
            <a:r>
              <a:rPr kumimoji="1" lang="zh-CN" altLang="en-US" sz="2400" b="1" dirty="0">
                <a:solidFill>
                  <a:srgbClr val="C00000"/>
                </a:solidFill>
                <a:ea typeface="幼圆" pitchFamily="49" charset="-122"/>
                <a:cs typeface="Times New Roman" panose="02020603050405020304" pitchFamily="18" charset="0"/>
              </a:rPr>
              <a:t>活性</a:t>
            </a:r>
            <a:r>
              <a:rPr kumimoji="1" lang="zh-CN" altLang="en-US" sz="2400" b="1" dirty="0" smtClean="0">
                <a:solidFill>
                  <a:srgbClr val="C00000"/>
                </a:solidFill>
                <a:ea typeface="幼圆" pitchFamily="49" charset="-122"/>
                <a:cs typeface="Times New Roman" panose="02020603050405020304" pitchFamily="18" charset="0"/>
              </a:rPr>
              <a:t>指数</a:t>
            </a:r>
            <a:r>
              <a:rPr kumimoji="1" lang="en-US" altLang="zh-CN" sz="2400" b="1" i="1" dirty="0" smtClean="0">
                <a:solidFill>
                  <a:srgbClr val="C00000"/>
                </a:solidFill>
                <a:ea typeface="幼圆" pitchFamily="49" charset="-122"/>
                <a:cs typeface="Times New Roman" panose="02020603050405020304" pitchFamily="18" charset="0"/>
              </a:rPr>
              <a:t>A</a:t>
            </a:r>
            <a:r>
              <a:rPr kumimoji="1" lang="zh-CN" altLang="en-US" sz="2400" b="1" dirty="0" smtClean="0">
                <a:solidFill>
                  <a:srgbClr val="000066"/>
                </a:solidFill>
                <a:ea typeface="幼圆" pitchFamily="49" charset="-122"/>
                <a:cs typeface="Times New Roman" panose="02020603050405020304" pitchFamily="18" charset="0"/>
              </a:rPr>
              <a:t>：</a:t>
            </a:r>
            <a:endParaRPr kumimoji="1" lang="zh-CN" altLang="en-US" sz="2400" b="1" dirty="0">
              <a:solidFill>
                <a:srgbClr val="000066"/>
              </a:solidFill>
              <a:ea typeface="幼圆" pitchFamily="49" charset="-122"/>
              <a:cs typeface="Times New Roman" panose="02020603050405020304" pitchFamily="18" charset="0"/>
            </a:endParaRPr>
          </a:p>
        </p:txBody>
      </p:sp>
      <p:graphicFrame>
        <p:nvGraphicFramePr>
          <p:cNvPr id="1420295" name="Object 7"/>
          <p:cNvGraphicFramePr>
            <a:graphicFrameLocks noChangeAspect="1"/>
          </p:cNvGraphicFramePr>
          <p:nvPr>
            <p:extLst>
              <p:ext uri="{D42A27DB-BD31-4B8C-83A1-F6EECF244321}">
                <p14:modId xmlns:p14="http://schemas.microsoft.com/office/powerpoint/2010/main" val="3347772023"/>
              </p:ext>
            </p:extLst>
          </p:nvPr>
        </p:nvGraphicFramePr>
        <p:xfrm>
          <a:off x="1567840" y="3874598"/>
          <a:ext cx="1416050" cy="1000125"/>
        </p:xfrm>
        <a:graphic>
          <a:graphicData uri="http://schemas.openxmlformats.org/presentationml/2006/ole">
            <mc:AlternateContent xmlns:mc="http://schemas.openxmlformats.org/markup-compatibility/2006">
              <mc:Choice xmlns:v="urn:schemas-microsoft-com:vml" Requires="v">
                <p:oleObj spid="_x0000_s65650" name="公式" r:id="rId4" imgW="647640" imgH="457200" progId="Equation.3">
                  <p:embed/>
                </p:oleObj>
              </mc:Choice>
              <mc:Fallback>
                <p:oleObj name="公式" r:id="rId4" imgW="647640" imgH="457200" progId="Equation.3">
                  <p:embed/>
                  <p:pic>
                    <p:nvPicPr>
                      <p:cNvPr id="0" name=""/>
                      <p:cNvPicPr>
                        <a:picLocks noChangeAspect="1" noChangeArrowheads="1"/>
                      </p:cNvPicPr>
                      <p:nvPr/>
                    </p:nvPicPr>
                    <p:blipFill>
                      <a:blip r:embed="rId5"/>
                      <a:srcRect/>
                      <a:stretch>
                        <a:fillRect/>
                      </a:stretch>
                    </p:blipFill>
                    <p:spPr bwMode="auto">
                      <a:xfrm>
                        <a:off x="1567840" y="3874598"/>
                        <a:ext cx="1416050" cy="1000125"/>
                      </a:xfrm>
                      <a:prstGeom prst="rect">
                        <a:avLst/>
                      </a:prstGeom>
                      <a:noFill/>
                      <a:ln>
                        <a:noFill/>
                      </a:ln>
                      <a:effectLst/>
                      <a:extLst/>
                    </p:spPr>
                  </p:pic>
                </p:oleObj>
              </mc:Fallback>
            </mc:AlternateContent>
          </a:graphicData>
        </a:graphic>
      </p:graphicFrame>
      <p:sp>
        <p:nvSpPr>
          <p:cNvPr id="1420296" name="Text Box 8"/>
          <p:cNvSpPr txBox="1">
            <a:spLocks noChangeArrowheads="1"/>
          </p:cNvSpPr>
          <p:nvPr/>
        </p:nvSpPr>
        <p:spPr bwMode="auto">
          <a:xfrm>
            <a:off x="3383940" y="5028289"/>
            <a:ext cx="32908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a:solidFill>
                  <a:srgbClr val="000066"/>
                </a:solidFill>
                <a:ea typeface="幼圆" pitchFamily="49" charset="-122"/>
                <a:cs typeface="Times New Roman" panose="02020603050405020304" pitchFamily="18" charset="0"/>
              </a:rPr>
              <a:t>粒径小于</a:t>
            </a:r>
            <a:r>
              <a:rPr kumimoji="1" lang="en-US" altLang="zh-CN" sz="2000" b="1" dirty="0">
                <a:solidFill>
                  <a:srgbClr val="000066"/>
                </a:solidFill>
                <a:ea typeface="幼圆" pitchFamily="49" charset="-122"/>
                <a:cs typeface="Times New Roman" panose="02020603050405020304" pitchFamily="18" charset="0"/>
              </a:rPr>
              <a:t>0.002mm</a:t>
            </a:r>
            <a:r>
              <a:rPr kumimoji="1" lang="zh-CN" altLang="en-US" sz="2000" b="1" dirty="0">
                <a:solidFill>
                  <a:srgbClr val="000066"/>
                </a:solidFill>
                <a:ea typeface="幼圆" pitchFamily="49" charset="-122"/>
                <a:cs typeface="Times New Roman" panose="02020603050405020304" pitchFamily="18" charset="0"/>
              </a:rPr>
              <a:t>颗粒的质量</a:t>
            </a:r>
            <a:r>
              <a:rPr kumimoji="1" lang="zh-CN" altLang="en-US" sz="2000" b="1" dirty="0" smtClean="0">
                <a:solidFill>
                  <a:srgbClr val="000066"/>
                </a:solidFill>
                <a:ea typeface="幼圆" pitchFamily="49" charset="-122"/>
                <a:cs typeface="Times New Roman" panose="02020603050405020304" pitchFamily="18" charset="0"/>
              </a:rPr>
              <a:t>占土体总</a:t>
            </a:r>
            <a:r>
              <a:rPr kumimoji="1" lang="zh-CN" altLang="en-US" sz="2000" b="1" dirty="0">
                <a:solidFill>
                  <a:srgbClr val="000066"/>
                </a:solidFill>
                <a:ea typeface="幼圆" pitchFamily="49" charset="-122"/>
                <a:cs typeface="Times New Roman" panose="02020603050405020304" pitchFamily="18" charset="0"/>
              </a:rPr>
              <a:t>质量的百分比</a:t>
            </a:r>
          </a:p>
        </p:txBody>
      </p:sp>
      <p:sp>
        <p:nvSpPr>
          <p:cNvPr id="1420297" name="Text Box 9"/>
          <p:cNvSpPr txBox="1">
            <a:spLocks noChangeArrowheads="1"/>
          </p:cNvSpPr>
          <p:nvPr/>
        </p:nvSpPr>
        <p:spPr bwMode="auto">
          <a:xfrm>
            <a:off x="4236427" y="3858723"/>
            <a:ext cx="3440113" cy="1061829"/>
          </a:xfrm>
          <a:prstGeom prst="rect">
            <a:avLst/>
          </a:prstGeom>
          <a:solidFill>
            <a:schemeClr val="accent6">
              <a:lumMod val="40000"/>
              <a:lumOff val="60000"/>
            </a:schemeClr>
          </a:solidFill>
          <a:ln>
            <a:noFill/>
          </a:ln>
        </p:spPr>
        <p:txBody>
          <a:bodyPr lIns="0" tIns="0" rIns="0" bIns="0">
            <a:spAutoFit/>
          </a:bodyPr>
          <a:lstStyle>
            <a:lvl1pPr eaLnBrk="0" hangingPunct="0">
              <a:tabLst>
                <a:tab pos="1798638" algn="l"/>
              </a:tabLst>
              <a:defRPr sz="1400">
                <a:solidFill>
                  <a:schemeClr val="tx1"/>
                </a:solidFill>
                <a:latin typeface="Times New Roman" pitchFamily="18" charset="0"/>
                <a:ea typeface="宋体" charset="-122"/>
              </a:defRPr>
            </a:lvl1pPr>
            <a:lvl2pPr marL="742950" indent="-285750" eaLnBrk="0" hangingPunct="0">
              <a:tabLst>
                <a:tab pos="1798638" algn="l"/>
              </a:tabLst>
              <a:defRPr sz="1400">
                <a:solidFill>
                  <a:schemeClr val="tx1"/>
                </a:solidFill>
                <a:latin typeface="Times New Roman" pitchFamily="18" charset="0"/>
                <a:ea typeface="宋体" charset="-122"/>
              </a:defRPr>
            </a:lvl2pPr>
            <a:lvl3pPr marL="1143000" indent="-228600" eaLnBrk="0" hangingPunct="0">
              <a:tabLst>
                <a:tab pos="1798638" algn="l"/>
              </a:tabLst>
              <a:defRPr sz="1400">
                <a:solidFill>
                  <a:schemeClr val="tx1"/>
                </a:solidFill>
                <a:latin typeface="Times New Roman" pitchFamily="18" charset="0"/>
                <a:ea typeface="宋体" charset="-122"/>
              </a:defRPr>
            </a:lvl3pPr>
            <a:lvl4pPr marL="1600200" indent="-228600" eaLnBrk="0" hangingPunct="0">
              <a:tabLst>
                <a:tab pos="1798638" algn="l"/>
              </a:tabLst>
              <a:defRPr sz="1400">
                <a:solidFill>
                  <a:schemeClr val="tx1"/>
                </a:solidFill>
                <a:latin typeface="Times New Roman" pitchFamily="18" charset="0"/>
                <a:ea typeface="宋体" charset="-122"/>
              </a:defRPr>
            </a:lvl4pPr>
            <a:lvl5pPr marL="2057400" indent="-228600" eaLnBrk="0" hangingPunct="0">
              <a:tabLst>
                <a:tab pos="1798638" algn="l"/>
              </a:tabLst>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tabLst>
                <a:tab pos="1798638" algn="l"/>
              </a:tabLs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tabLst>
                <a:tab pos="1798638" algn="l"/>
              </a:tabLs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tabLst>
                <a:tab pos="1798638" algn="l"/>
              </a:tabLs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tabLst>
                <a:tab pos="1798638" algn="l"/>
              </a:tabLst>
              <a:defRPr sz="1400">
                <a:solidFill>
                  <a:schemeClr val="tx1"/>
                </a:solidFill>
                <a:latin typeface="Times New Roman" pitchFamily="18" charset="0"/>
                <a:ea typeface="宋体" charset="-122"/>
              </a:defRPr>
            </a:lvl9pPr>
          </a:lstStyle>
          <a:p>
            <a:pPr eaLnBrk="1" hangingPunct="1">
              <a:spcBef>
                <a:spcPct val="0"/>
              </a:spcBef>
              <a:spcAft>
                <a:spcPct val="0"/>
              </a:spcAft>
            </a:pPr>
            <a:r>
              <a:rPr kumimoji="1" lang="en-US" altLang="zh-CN" sz="2000" b="1" dirty="0" smtClean="0">
                <a:solidFill>
                  <a:srgbClr val="000066"/>
                </a:solidFill>
                <a:ea typeface="幼圆" pitchFamily="49" charset="-122"/>
              </a:rPr>
              <a:t> </a:t>
            </a:r>
            <a:r>
              <a:rPr kumimoji="1" lang="en-US" altLang="zh-CN" sz="2000" b="1" i="1" dirty="0" smtClean="0">
                <a:solidFill>
                  <a:srgbClr val="000066"/>
                </a:solidFill>
                <a:ea typeface="幼圆" pitchFamily="49" charset="-122"/>
              </a:rPr>
              <a:t>A</a:t>
            </a:r>
            <a:r>
              <a:rPr kumimoji="1" lang="en-US" altLang="zh-CN" sz="2000" b="1" dirty="0" smtClean="0">
                <a:solidFill>
                  <a:srgbClr val="000066"/>
                </a:solidFill>
                <a:ea typeface="幼圆" pitchFamily="49" charset="-122"/>
              </a:rPr>
              <a:t> </a:t>
            </a:r>
            <a:r>
              <a:rPr kumimoji="1" lang="en-US" altLang="zh-CN" sz="2000" b="1" dirty="0">
                <a:solidFill>
                  <a:srgbClr val="000066"/>
                </a:solidFill>
                <a:ea typeface="幼圆" pitchFamily="49" charset="-122"/>
              </a:rPr>
              <a:t>&lt; 0.75	</a:t>
            </a:r>
            <a:r>
              <a:rPr kumimoji="1" lang="zh-CN" altLang="en-US" sz="2000" b="1" dirty="0">
                <a:solidFill>
                  <a:srgbClr val="000066"/>
                </a:solidFill>
                <a:ea typeface="幼圆" pitchFamily="49" charset="-122"/>
              </a:rPr>
              <a:t>非</a:t>
            </a:r>
            <a:r>
              <a:rPr kumimoji="1" lang="zh-CN" altLang="en-US" sz="2000" b="1" dirty="0" smtClean="0">
                <a:solidFill>
                  <a:srgbClr val="000066"/>
                </a:solidFill>
                <a:ea typeface="幼圆" pitchFamily="49" charset="-122"/>
              </a:rPr>
              <a:t>活性黏土</a:t>
            </a:r>
            <a:endParaRPr kumimoji="1" lang="en-US" altLang="zh-CN" sz="2000" b="1" dirty="0">
              <a:solidFill>
                <a:srgbClr val="000066"/>
              </a:solidFill>
              <a:ea typeface="幼圆" pitchFamily="49" charset="-122"/>
            </a:endParaRPr>
          </a:p>
          <a:p>
            <a:pPr eaLnBrk="1" hangingPunct="1">
              <a:spcBef>
                <a:spcPct val="0"/>
              </a:spcBef>
              <a:spcAft>
                <a:spcPct val="0"/>
              </a:spcAft>
            </a:pPr>
            <a:r>
              <a:rPr kumimoji="1" lang="en-US" altLang="zh-CN" sz="2000" b="1" dirty="0" smtClean="0">
                <a:solidFill>
                  <a:srgbClr val="000066"/>
                </a:solidFill>
                <a:ea typeface="幼圆" pitchFamily="49" charset="-122"/>
              </a:rPr>
              <a:t> </a:t>
            </a:r>
            <a:r>
              <a:rPr kumimoji="1" lang="en-US" altLang="zh-CN" sz="2000" b="1" i="1" dirty="0" smtClean="0">
                <a:solidFill>
                  <a:srgbClr val="000066"/>
                </a:solidFill>
                <a:ea typeface="幼圆" pitchFamily="49" charset="-122"/>
              </a:rPr>
              <a:t>A</a:t>
            </a:r>
            <a:r>
              <a:rPr kumimoji="1" lang="en-US" altLang="zh-CN" sz="2000" b="1" dirty="0" smtClean="0">
                <a:solidFill>
                  <a:srgbClr val="000066"/>
                </a:solidFill>
                <a:ea typeface="幼圆" pitchFamily="49" charset="-122"/>
              </a:rPr>
              <a:t> </a:t>
            </a:r>
            <a:r>
              <a:rPr kumimoji="1" lang="en-US" altLang="zh-CN" sz="2000" b="1" dirty="0">
                <a:solidFill>
                  <a:srgbClr val="000066"/>
                </a:solidFill>
                <a:ea typeface="幼圆" pitchFamily="49" charset="-122"/>
              </a:rPr>
              <a:t>= </a:t>
            </a:r>
            <a:r>
              <a:rPr kumimoji="1" lang="en-US" altLang="zh-CN" sz="2000" b="1" dirty="0" smtClean="0">
                <a:solidFill>
                  <a:srgbClr val="000066"/>
                </a:solidFill>
                <a:ea typeface="幼圆" pitchFamily="49" charset="-122"/>
              </a:rPr>
              <a:t>0</a:t>
            </a:r>
            <a:r>
              <a:rPr kumimoji="1" lang="en-US" altLang="zh-CN" sz="2000" b="1" dirty="0">
                <a:solidFill>
                  <a:srgbClr val="000066"/>
                </a:solidFill>
                <a:ea typeface="幼圆" pitchFamily="49" charset="-122"/>
              </a:rPr>
              <a:t>.</a:t>
            </a:r>
            <a:r>
              <a:rPr kumimoji="1" lang="en-US" altLang="zh-CN" sz="2000" b="1" dirty="0" smtClean="0">
                <a:solidFill>
                  <a:srgbClr val="000066"/>
                </a:solidFill>
                <a:ea typeface="幼圆" pitchFamily="49" charset="-122"/>
              </a:rPr>
              <a:t>75 </a:t>
            </a:r>
            <a:r>
              <a:rPr kumimoji="1" lang="en-US" altLang="zh-CN" sz="2000" b="1" dirty="0">
                <a:solidFill>
                  <a:srgbClr val="000066"/>
                </a:solidFill>
                <a:ea typeface="幼圆" pitchFamily="49" charset="-122"/>
              </a:rPr>
              <a:t>– 1.25	</a:t>
            </a:r>
            <a:r>
              <a:rPr kumimoji="1" lang="zh-CN" altLang="en-US" sz="2000" b="1" dirty="0" smtClean="0">
                <a:solidFill>
                  <a:srgbClr val="000066"/>
                </a:solidFill>
                <a:ea typeface="幼圆" pitchFamily="49" charset="-122"/>
              </a:rPr>
              <a:t>正常黏土</a:t>
            </a:r>
            <a:endParaRPr kumimoji="1" lang="en-US" altLang="zh-CN" sz="2000" b="1" dirty="0">
              <a:solidFill>
                <a:srgbClr val="000066"/>
              </a:solidFill>
              <a:ea typeface="幼圆" pitchFamily="49" charset="-122"/>
            </a:endParaRPr>
          </a:p>
          <a:p>
            <a:pPr eaLnBrk="1" hangingPunct="1">
              <a:spcBef>
                <a:spcPct val="0"/>
              </a:spcBef>
              <a:spcAft>
                <a:spcPct val="0"/>
              </a:spcAft>
            </a:pPr>
            <a:r>
              <a:rPr kumimoji="1" lang="en-US" altLang="zh-CN" sz="2000" b="1" dirty="0" smtClean="0">
                <a:solidFill>
                  <a:srgbClr val="000066"/>
                </a:solidFill>
                <a:ea typeface="幼圆" pitchFamily="49" charset="-122"/>
              </a:rPr>
              <a:t> </a:t>
            </a:r>
            <a:r>
              <a:rPr kumimoji="1" lang="en-US" altLang="zh-CN" sz="2000" b="1" i="1" dirty="0" smtClean="0">
                <a:solidFill>
                  <a:srgbClr val="000066"/>
                </a:solidFill>
                <a:ea typeface="幼圆" pitchFamily="49" charset="-122"/>
              </a:rPr>
              <a:t>A</a:t>
            </a:r>
            <a:r>
              <a:rPr kumimoji="1" lang="en-US" altLang="zh-CN" sz="2000" b="1" dirty="0" smtClean="0">
                <a:solidFill>
                  <a:srgbClr val="000066"/>
                </a:solidFill>
                <a:ea typeface="幼圆" pitchFamily="49" charset="-122"/>
              </a:rPr>
              <a:t> </a:t>
            </a:r>
            <a:r>
              <a:rPr kumimoji="1" lang="en-US" altLang="zh-CN" sz="2000" b="1" dirty="0">
                <a:solidFill>
                  <a:srgbClr val="000066"/>
                </a:solidFill>
                <a:ea typeface="幼圆" pitchFamily="49" charset="-122"/>
              </a:rPr>
              <a:t>&gt; 1.25	</a:t>
            </a:r>
            <a:r>
              <a:rPr kumimoji="1" lang="zh-CN" altLang="en-US" sz="2000" b="1" dirty="0" smtClean="0">
                <a:solidFill>
                  <a:srgbClr val="000066"/>
                </a:solidFill>
                <a:ea typeface="幼圆" pitchFamily="49" charset="-122"/>
              </a:rPr>
              <a:t>活性黏土</a:t>
            </a:r>
            <a:endParaRPr kumimoji="1" lang="en-US" altLang="zh-CN" sz="2000" b="1" dirty="0">
              <a:solidFill>
                <a:srgbClr val="000066"/>
              </a:solidFill>
              <a:ea typeface="幼圆" pitchFamily="49" charset="-122"/>
            </a:endParaRPr>
          </a:p>
        </p:txBody>
      </p:sp>
      <p:sp>
        <p:nvSpPr>
          <p:cNvPr id="14346" name="Text Box 10"/>
          <p:cNvSpPr txBox="1">
            <a:spLocks noChangeArrowheads="1"/>
          </p:cNvSpPr>
          <p:nvPr/>
        </p:nvSpPr>
        <p:spPr bwMode="auto">
          <a:xfrm>
            <a:off x="5795352" y="3753948"/>
            <a:ext cx="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endParaRPr kumimoji="1" lang="zh-CN" altLang="en-US" sz="2000" b="1">
              <a:solidFill>
                <a:srgbClr val="000066"/>
              </a:solidFill>
              <a:latin typeface="Arial" charset="0"/>
              <a:ea typeface="华文新魏" pitchFamily="2" charset="-122"/>
            </a:endParaRPr>
          </a:p>
          <a:p>
            <a:pPr eaLnBrk="1" hangingPunct="1">
              <a:lnSpc>
                <a:spcPct val="100000"/>
              </a:lnSpc>
              <a:spcBef>
                <a:spcPct val="0"/>
              </a:spcBef>
              <a:spcAft>
                <a:spcPct val="0"/>
              </a:spcAft>
            </a:pPr>
            <a:endParaRPr kumimoji="1" lang="zh-CN" altLang="en-US" sz="2000" b="1">
              <a:solidFill>
                <a:srgbClr val="000066"/>
              </a:solidFill>
              <a:latin typeface="Arial" charset="0"/>
              <a:ea typeface="华文新魏" pitchFamily="2" charset="-122"/>
            </a:endParaRPr>
          </a:p>
          <a:p>
            <a:pPr eaLnBrk="1" hangingPunct="1">
              <a:lnSpc>
                <a:spcPct val="100000"/>
              </a:lnSpc>
              <a:spcBef>
                <a:spcPct val="0"/>
              </a:spcBef>
              <a:spcAft>
                <a:spcPct val="0"/>
              </a:spcAft>
            </a:pPr>
            <a:endParaRPr kumimoji="1" lang="zh-CN" altLang="en-US" sz="2000" b="1">
              <a:solidFill>
                <a:srgbClr val="000066"/>
              </a:solidFill>
              <a:latin typeface="Arial" charset="0"/>
              <a:ea typeface="华文新魏" pitchFamily="2" charset="-122"/>
            </a:endParaRPr>
          </a:p>
        </p:txBody>
      </p:sp>
      <p:sp>
        <p:nvSpPr>
          <p:cNvPr id="1420302" name="AutoShape 14"/>
          <p:cNvSpPr>
            <a:spLocks noChangeArrowheads="1"/>
          </p:cNvSpPr>
          <p:nvPr/>
        </p:nvSpPr>
        <p:spPr bwMode="auto">
          <a:xfrm>
            <a:off x="3312502" y="4196860"/>
            <a:ext cx="541338" cy="427038"/>
          </a:xfrm>
          <a:prstGeom prst="homePlate">
            <a:avLst>
              <a:gd name="adj" fmla="val 31691"/>
            </a:avLst>
          </a:prstGeom>
          <a:solidFill>
            <a:schemeClr val="accent6">
              <a:lumMod val="40000"/>
              <a:lumOff val="60000"/>
            </a:schemeClr>
          </a:solidFill>
          <a:ln w="9525">
            <a:solidFill>
              <a:srgbClr val="000066"/>
            </a:solidFill>
            <a:miter lim="800000"/>
            <a:headEnd/>
            <a:tailEnd/>
          </a:ln>
        </p:spPr>
        <p:txBody>
          <a:bodyPr wrap="none" anchor="ctr"/>
          <a:lstStyle/>
          <a:p>
            <a:endParaRPr lang="zh-CN" altLang="en-US"/>
          </a:p>
        </p:txBody>
      </p:sp>
      <p:sp>
        <p:nvSpPr>
          <p:cNvPr id="1420304" name="Rectangle 16"/>
          <p:cNvSpPr>
            <a:spLocks noChangeArrowheads="1"/>
          </p:cNvSpPr>
          <p:nvPr/>
        </p:nvSpPr>
        <p:spPr bwMode="auto">
          <a:xfrm>
            <a:off x="2066315" y="4490548"/>
            <a:ext cx="879475" cy="393700"/>
          </a:xfrm>
          <a:prstGeom prst="rect">
            <a:avLst/>
          </a:prstGeom>
          <a:noFill/>
          <a:ln w="28575">
            <a:solidFill>
              <a:srgbClr val="C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20305" name="Freeform 17"/>
          <p:cNvSpPr>
            <a:spLocks/>
          </p:cNvSpPr>
          <p:nvPr/>
        </p:nvSpPr>
        <p:spPr bwMode="auto">
          <a:xfrm>
            <a:off x="2298089" y="4908060"/>
            <a:ext cx="879475" cy="346075"/>
          </a:xfrm>
          <a:custGeom>
            <a:avLst/>
            <a:gdLst>
              <a:gd name="T0" fmla="*/ 0 w 343"/>
              <a:gd name="T1" fmla="*/ 0 h 218"/>
              <a:gd name="T2" fmla="*/ 0 w 343"/>
              <a:gd name="T3" fmla="*/ 2147483647 h 218"/>
              <a:gd name="T4" fmla="*/ 2147483647 w 343"/>
              <a:gd name="T5" fmla="*/ 2147483647 h 218"/>
              <a:gd name="T6" fmla="*/ 0 60000 65536"/>
              <a:gd name="T7" fmla="*/ 0 60000 65536"/>
              <a:gd name="T8" fmla="*/ 0 60000 65536"/>
              <a:gd name="T9" fmla="*/ 0 w 343"/>
              <a:gd name="T10" fmla="*/ 0 h 218"/>
              <a:gd name="T11" fmla="*/ 343 w 343"/>
              <a:gd name="T12" fmla="*/ 218 h 218"/>
            </a:gdLst>
            <a:ahLst/>
            <a:cxnLst>
              <a:cxn ang="T6">
                <a:pos x="T0" y="T1"/>
              </a:cxn>
              <a:cxn ang="T7">
                <a:pos x="T2" y="T3"/>
              </a:cxn>
              <a:cxn ang="T8">
                <a:pos x="T4" y="T5"/>
              </a:cxn>
            </a:cxnLst>
            <a:rect l="T9" t="T10" r="T11" b="T12"/>
            <a:pathLst>
              <a:path w="343" h="218">
                <a:moveTo>
                  <a:pt x="0" y="0"/>
                </a:moveTo>
                <a:lnTo>
                  <a:pt x="0" y="218"/>
                </a:lnTo>
                <a:lnTo>
                  <a:pt x="343" y="218"/>
                </a:lnTo>
              </a:path>
            </a:pathLst>
          </a:custGeom>
          <a:noFill/>
          <a:ln w="28575">
            <a:solidFill>
              <a:srgbClr val="C000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9" name="Text Box 17"/>
          <p:cNvSpPr txBox="1">
            <a:spLocks noChangeArrowheads="1"/>
          </p:cNvSpPr>
          <p:nvPr/>
        </p:nvSpPr>
        <p:spPr bwMode="auto">
          <a:xfrm>
            <a:off x="981157" y="1451465"/>
            <a:ext cx="7014633" cy="236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0850" indent="-45085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ts val="600"/>
              </a:spcBef>
              <a:spcAft>
                <a:spcPts val="600"/>
              </a:spcAft>
              <a:buClr>
                <a:srgbClr val="C00000"/>
              </a:buClr>
              <a:buSzPct val="130000"/>
              <a:buFont typeface="Wingdings" pitchFamily="2" charset="2"/>
              <a:buChar char="F"/>
            </a:pPr>
            <a:r>
              <a:rPr kumimoji="1" lang="zh-CN" altLang="en-US" sz="2200" b="1" dirty="0" smtClean="0">
                <a:solidFill>
                  <a:srgbClr val="000066"/>
                </a:solidFill>
                <a:ea typeface="幼圆" pitchFamily="49" charset="-122"/>
              </a:rPr>
              <a:t>塑性指数</a:t>
            </a:r>
            <a:r>
              <a:rPr kumimoji="1" lang="en-US" altLang="zh-CN" sz="2200" b="1" dirty="0" err="1">
                <a:solidFill>
                  <a:srgbClr val="000066"/>
                </a:solidFill>
                <a:ea typeface="幼圆" pitchFamily="49" charset="-122"/>
              </a:rPr>
              <a:t>Ip</a:t>
            </a:r>
            <a:r>
              <a:rPr kumimoji="1" lang="zh-CN" altLang="en-US" sz="2200" b="1" dirty="0">
                <a:solidFill>
                  <a:srgbClr val="000066"/>
                </a:solidFill>
                <a:ea typeface="幼圆" pitchFamily="49" charset="-122"/>
              </a:rPr>
              <a:t>大体上反映的是全部黏土颗粒吸附结合水的能力，不能充分反映土中所含的具体</a:t>
            </a:r>
            <a:r>
              <a:rPr kumimoji="1" lang="zh-CN" altLang="en-US" sz="2200" b="1" dirty="0" smtClean="0">
                <a:solidFill>
                  <a:srgbClr val="000066"/>
                </a:solidFill>
                <a:ea typeface="幼圆" pitchFamily="49" charset="-122"/>
              </a:rPr>
              <a:t>黏土矿物表面活性</a:t>
            </a:r>
            <a:r>
              <a:rPr kumimoji="1" lang="zh-CN" altLang="en-US" sz="2200" b="1" dirty="0">
                <a:solidFill>
                  <a:srgbClr val="000066"/>
                </a:solidFill>
                <a:ea typeface="幼圆" pitchFamily="49" charset="-122"/>
              </a:rPr>
              <a:t>的</a:t>
            </a:r>
            <a:r>
              <a:rPr kumimoji="1" lang="zh-CN" altLang="en-US" sz="2200" b="1" dirty="0" smtClean="0">
                <a:solidFill>
                  <a:srgbClr val="000066"/>
                </a:solidFill>
                <a:ea typeface="幼圆" pitchFamily="49" charset="-122"/>
              </a:rPr>
              <a:t>高低</a:t>
            </a:r>
            <a:endParaRPr kumimoji="1" lang="en-US" altLang="zh-CN" sz="2200" b="1" dirty="0" smtClean="0">
              <a:solidFill>
                <a:srgbClr val="000066"/>
              </a:solidFill>
              <a:ea typeface="幼圆" pitchFamily="49" charset="-122"/>
            </a:endParaRPr>
          </a:p>
          <a:p>
            <a:pPr eaLnBrk="1" hangingPunct="1">
              <a:lnSpc>
                <a:spcPct val="125000"/>
              </a:lnSpc>
              <a:spcBef>
                <a:spcPts val="600"/>
              </a:spcBef>
              <a:spcAft>
                <a:spcPts val="600"/>
              </a:spcAft>
              <a:buClr>
                <a:srgbClr val="C00000"/>
              </a:buClr>
              <a:buSzPct val="130000"/>
              <a:buFont typeface="Wingdings" pitchFamily="2" charset="2"/>
              <a:buChar char="F"/>
            </a:pPr>
            <a:r>
              <a:rPr kumimoji="1" lang="zh-CN" altLang="en-US" sz="2200" b="1" dirty="0" smtClean="0">
                <a:solidFill>
                  <a:srgbClr val="000066"/>
                </a:solidFill>
                <a:ea typeface="幼圆" pitchFamily="49" charset="-122"/>
              </a:rPr>
              <a:t>斯开普顿</a:t>
            </a:r>
            <a:r>
              <a:rPr kumimoji="1" lang="en-US" altLang="zh-CN" sz="2200" b="1" dirty="0">
                <a:solidFill>
                  <a:srgbClr val="000066"/>
                </a:solidFill>
                <a:ea typeface="幼圆" pitchFamily="49" charset="-122"/>
              </a:rPr>
              <a:t>(</a:t>
            </a:r>
            <a:r>
              <a:rPr kumimoji="1" lang="en-US" altLang="zh-CN" sz="2200" b="1" dirty="0" err="1">
                <a:solidFill>
                  <a:srgbClr val="000066"/>
                </a:solidFill>
                <a:ea typeface="幼圆" pitchFamily="49" charset="-122"/>
              </a:rPr>
              <a:t>Skempton</a:t>
            </a:r>
            <a:r>
              <a:rPr kumimoji="1" lang="zh-CN" altLang="en-US" sz="2200" b="1" dirty="0">
                <a:solidFill>
                  <a:srgbClr val="000066"/>
                </a:solidFill>
                <a:ea typeface="幼圆" pitchFamily="49" charset="-122"/>
              </a:rPr>
              <a:t>）建议用土的活性指数</a:t>
            </a:r>
            <a:r>
              <a:rPr kumimoji="1" lang="en-US" altLang="zh-CN" sz="2200" b="1" i="1" dirty="0">
                <a:solidFill>
                  <a:srgbClr val="000066"/>
                </a:solidFill>
                <a:ea typeface="幼圆" pitchFamily="49" charset="-122"/>
              </a:rPr>
              <a:t>A</a:t>
            </a:r>
            <a:r>
              <a:rPr kumimoji="1" lang="zh-CN" altLang="en-US" sz="2200" b="1" dirty="0">
                <a:solidFill>
                  <a:srgbClr val="000066"/>
                </a:solidFill>
                <a:ea typeface="幼圆" pitchFamily="49" charset="-122"/>
              </a:rPr>
              <a:t>来衡量土中黏土矿物吸附结合水的</a:t>
            </a:r>
            <a:r>
              <a:rPr kumimoji="1" lang="zh-CN" altLang="en-US" sz="2200" b="1" dirty="0" smtClean="0">
                <a:solidFill>
                  <a:srgbClr val="000066"/>
                </a:solidFill>
                <a:ea typeface="幼圆" pitchFamily="49" charset="-122"/>
              </a:rPr>
              <a:t>能力</a:t>
            </a:r>
            <a:endParaRPr kumimoji="1" lang="zh-CN" altLang="en-US" sz="2200" b="1" dirty="0">
              <a:solidFill>
                <a:srgbClr val="000066"/>
              </a:solidFill>
              <a:ea typeface="幼圆" pitchFamily="49" charset="-122"/>
            </a:endParaRPr>
          </a:p>
        </p:txBody>
      </p:sp>
    </p:spTree>
    <p:extLst>
      <p:ext uri="{BB962C8B-B14F-4D97-AF65-F5344CB8AC3E}">
        <p14:creationId xmlns:p14="http://schemas.microsoft.com/office/powerpoint/2010/main" val="6661224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420294"/>
                                        </p:tgtEl>
                                        <p:attrNameLst>
                                          <p:attrName>style.visibility</p:attrName>
                                        </p:attrNameLst>
                                      </p:cBhvr>
                                      <p:to>
                                        <p:strVal val="visible"/>
                                      </p:to>
                                    </p:set>
                                    <p:animEffect transition="in" filter="fade">
                                      <p:cBhvr>
                                        <p:cTn id="7" dur="1000"/>
                                        <p:tgtEl>
                                          <p:spTgt spid="1420294"/>
                                        </p:tgtEl>
                                      </p:cBhvr>
                                    </p:animEffect>
                                    <p:anim calcmode="lin" valueType="num">
                                      <p:cBhvr>
                                        <p:cTn id="8" dur="1000" fill="hold"/>
                                        <p:tgtEl>
                                          <p:spTgt spid="1420294"/>
                                        </p:tgtEl>
                                        <p:attrNameLst>
                                          <p:attrName>ppt_x</p:attrName>
                                        </p:attrNameLst>
                                      </p:cBhvr>
                                      <p:tavLst>
                                        <p:tav tm="0">
                                          <p:val>
                                            <p:strVal val="#ppt_x"/>
                                          </p:val>
                                        </p:tav>
                                        <p:tav tm="100000">
                                          <p:val>
                                            <p:strVal val="#ppt_x"/>
                                          </p:val>
                                        </p:tav>
                                      </p:tavLst>
                                    </p:anim>
                                    <p:anim calcmode="lin" valueType="num">
                                      <p:cBhvr>
                                        <p:cTn id="9" dur="1000" fill="hold"/>
                                        <p:tgtEl>
                                          <p:spTgt spid="1420294"/>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 presetClass="entr" presetSubtype="2" fill="hold" grpId="0" nodeType="after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anim calcmode="lin" valueType="num">
                                      <p:cBhvr additive="base">
                                        <p:cTn id="13" dur="10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14" dur="1000" fill="hold"/>
                                        <p:tgtEl>
                                          <p:spTgt spid="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
                                            <p:txEl>
                                              <p:pRg st="1" end="1"/>
                                            </p:txEl>
                                          </p:spTgt>
                                        </p:tgtEl>
                                        <p:attrNameLst>
                                          <p:attrName>style.visibility</p:attrName>
                                        </p:attrNameLst>
                                      </p:cBhvr>
                                      <p:to>
                                        <p:strVal val="visible"/>
                                      </p:to>
                                    </p:set>
                                    <p:anim calcmode="lin" valueType="num">
                                      <p:cBhvr additive="base">
                                        <p:cTn id="19" dur="1000" fill="hold"/>
                                        <p:tgtEl>
                                          <p:spTgt spid="19">
                                            <p:txEl>
                                              <p:pRg st="1" end="1"/>
                                            </p:txEl>
                                          </p:spTgt>
                                        </p:tgtEl>
                                        <p:attrNameLst>
                                          <p:attrName>ppt_x</p:attrName>
                                        </p:attrNameLst>
                                      </p:cBhvr>
                                      <p:tavLst>
                                        <p:tav tm="0">
                                          <p:val>
                                            <p:strVal val="1+#ppt_w/2"/>
                                          </p:val>
                                        </p:tav>
                                        <p:tav tm="100000">
                                          <p:val>
                                            <p:strVal val="#ppt_x"/>
                                          </p:val>
                                        </p:tav>
                                      </p:tavLst>
                                    </p:anim>
                                    <p:anim calcmode="lin" valueType="num">
                                      <p:cBhvr additive="base">
                                        <p:cTn id="20" dur="1000" fill="hold"/>
                                        <p:tgtEl>
                                          <p:spTgt spid="19">
                                            <p:txEl>
                                              <p:pRg st="1" end="1"/>
                                            </p:txEl>
                                          </p:spTgt>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42" presetClass="entr" presetSubtype="0" fill="hold" nodeType="afterEffect">
                                  <p:stCondLst>
                                    <p:cond delay="0"/>
                                  </p:stCondLst>
                                  <p:childTnLst>
                                    <p:set>
                                      <p:cBhvr>
                                        <p:cTn id="23" dur="1" fill="hold">
                                          <p:stCondLst>
                                            <p:cond delay="0"/>
                                          </p:stCondLst>
                                        </p:cTn>
                                        <p:tgtEl>
                                          <p:spTgt spid="1420295"/>
                                        </p:tgtEl>
                                        <p:attrNameLst>
                                          <p:attrName>style.visibility</p:attrName>
                                        </p:attrNameLst>
                                      </p:cBhvr>
                                      <p:to>
                                        <p:strVal val="visible"/>
                                      </p:to>
                                    </p:set>
                                    <p:animEffect transition="in" filter="fade">
                                      <p:cBhvr>
                                        <p:cTn id="24" dur="1000"/>
                                        <p:tgtEl>
                                          <p:spTgt spid="1420295"/>
                                        </p:tgtEl>
                                      </p:cBhvr>
                                    </p:animEffect>
                                    <p:anim calcmode="lin" valueType="num">
                                      <p:cBhvr>
                                        <p:cTn id="25" dur="1000" fill="hold"/>
                                        <p:tgtEl>
                                          <p:spTgt spid="1420295"/>
                                        </p:tgtEl>
                                        <p:attrNameLst>
                                          <p:attrName>ppt_x</p:attrName>
                                        </p:attrNameLst>
                                      </p:cBhvr>
                                      <p:tavLst>
                                        <p:tav tm="0">
                                          <p:val>
                                            <p:strVal val="#ppt_x"/>
                                          </p:val>
                                        </p:tav>
                                        <p:tav tm="100000">
                                          <p:val>
                                            <p:strVal val="#ppt_x"/>
                                          </p:val>
                                        </p:tav>
                                      </p:tavLst>
                                    </p:anim>
                                    <p:anim calcmode="lin" valueType="num">
                                      <p:cBhvr>
                                        <p:cTn id="26" dur="1000" fill="hold"/>
                                        <p:tgtEl>
                                          <p:spTgt spid="1420295"/>
                                        </p:tgtEl>
                                        <p:attrNameLst>
                                          <p:attrName>ppt_y</p:attrName>
                                        </p:attrNameLst>
                                      </p:cBhvr>
                                      <p:tavLst>
                                        <p:tav tm="0">
                                          <p:val>
                                            <p:strVal val="#ppt_y+.1"/>
                                          </p:val>
                                        </p:tav>
                                        <p:tav tm="100000">
                                          <p:val>
                                            <p:strVal val="#ppt_y"/>
                                          </p:val>
                                        </p:tav>
                                      </p:tavLst>
                                    </p:anim>
                                  </p:childTnLst>
                                </p:cTn>
                              </p:par>
                            </p:childTnLst>
                          </p:cTn>
                        </p:par>
                        <p:par>
                          <p:cTn id="27" fill="hold" nodeType="afterGroup">
                            <p:stCondLst>
                              <p:cond delay="2000"/>
                            </p:stCondLst>
                            <p:childTnLst>
                              <p:par>
                                <p:cTn id="28" presetID="22" presetClass="entr" presetSubtype="1" fill="hold" grpId="0" nodeType="afterEffect">
                                  <p:stCondLst>
                                    <p:cond delay="0"/>
                                  </p:stCondLst>
                                  <p:childTnLst>
                                    <p:set>
                                      <p:cBhvr>
                                        <p:cTn id="29" dur="1" fill="hold">
                                          <p:stCondLst>
                                            <p:cond delay="0"/>
                                          </p:stCondLst>
                                        </p:cTn>
                                        <p:tgtEl>
                                          <p:spTgt spid="1420304"/>
                                        </p:tgtEl>
                                        <p:attrNameLst>
                                          <p:attrName>style.visibility</p:attrName>
                                        </p:attrNameLst>
                                      </p:cBhvr>
                                      <p:to>
                                        <p:strVal val="visible"/>
                                      </p:to>
                                    </p:set>
                                    <p:animEffect transition="in" filter="wipe(up)">
                                      <p:cBhvr>
                                        <p:cTn id="30" dur="1000"/>
                                        <p:tgtEl>
                                          <p:spTgt spid="1420304"/>
                                        </p:tgtEl>
                                      </p:cBhvr>
                                    </p:animEffect>
                                  </p:childTnLst>
                                </p:cTn>
                              </p:par>
                            </p:childTnLst>
                          </p:cTn>
                        </p:par>
                        <p:par>
                          <p:cTn id="31" fill="hold" nodeType="afterGroup">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1420305"/>
                                        </p:tgtEl>
                                        <p:attrNameLst>
                                          <p:attrName>style.visibility</p:attrName>
                                        </p:attrNameLst>
                                      </p:cBhvr>
                                      <p:to>
                                        <p:strVal val="visible"/>
                                      </p:to>
                                    </p:set>
                                    <p:animEffect transition="in" filter="wipe(left)">
                                      <p:cBhvr>
                                        <p:cTn id="34" dur="1000"/>
                                        <p:tgtEl>
                                          <p:spTgt spid="1420305"/>
                                        </p:tgtEl>
                                      </p:cBhvr>
                                    </p:animEffect>
                                  </p:childTnLst>
                                </p:cTn>
                              </p:par>
                            </p:childTnLst>
                          </p:cTn>
                        </p:par>
                        <p:par>
                          <p:cTn id="35" fill="hold" nodeType="afterGroup">
                            <p:stCondLst>
                              <p:cond delay="4000"/>
                            </p:stCondLst>
                            <p:childTnLst>
                              <p:par>
                                <p:cTn id="36" presetID="22" presetClass="entr" presetSubtype="8" fill="hold" grpId="0" nodeType="afterEffect">
                                  <p:stCondLst>
                                    <p:cond delay="0"/>
                                  </p:stCondLst>
                                  <p:childTnLst>
                                    <p:set>
                                      <p:cBhvr>
                                        <p:cTn id="37" dur="1" fill="hold">
                                          <p:stCondLst>
                                            <p:cond delay="0"/>
                                          </p:stCondLst>
                                        </p:cTn>
                                        <p:tgtEl>
                                          <p:spTgt spid="1420296"/>
                                        </p:tgtEl>
                                        <p:attrNameLst>
                                          <p:attrName>style.visibility</p:attrName>
                                        </p:attrNameLst>
                                      </p:cBhvr>
                                      <p:to>
                                        <p:strVal val="visible"/>
                                      </p:to>
                                    </p:set>
                                    <p:animEffect transition="in" filter="wipe(left)">
                                      <p:cBhvr>
                                        <p:cTn id="38" dur="1000"/>
                                        <p:tgtEl>
                                          <p:spTgt spid="142029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20302"/>
                                        </p:tgtEl>
                                        <p:attrNameLst>
                                          <p:attrName>style.visibility</p:attrName>
                                        </p:attrNameLst>
                                      </p:cBhvr>
                                      <p:to>
                                        <p:strVal val="visible"/>
                                      </p:to>
                                    </p:set>
                                    <p:animEffect transition="in" filter="wipe(left)">
                                      <p:cBhvr>
                                        <p:cTn id="43" dur="1000"/>
                                        <p:tgtEl>
                                          <p:spTgt spid="1420302"/>
                                        </p:tgtEl>
                                      </p:cBhvr>
                                    </p:animEffect>
                                  </p:childTnLst>
                                </p:cTn>
                              </p:par>
                              <p:par>
                                <p:cTn id="44" presetID="22" presetClass="entr" presetSubtype="8" fill="hold" grpId="0" nodeType="withEffect">
                                  <p:stCondLst>
                                    <p:cond delay="3500"/>
                                  </p:stCondLst>
                                  <p:childTnLst>
                                    <p:set>
                                      <p:cBhvr>
                                        <p:cTn id="45" dur="1" fill="hold">
                                          <p:stCondLst>
                                            <p:cond delay="0"/>
                                          </p:stCondLst>
                                        </p:cTn>
                                        <p:tgtEl>
                                          <p:spTgt spid="1420297"/>
                                        </p:tgtEl>
                                        <p:attrNameLst>
                                          <p:attrName>style.visibility</p:attrName>
                                        </p:attrNameLst>
                                      </p:cBhvr>
                                      <p:to>
                                        <p:strVal val="visible"/>
                                      </p:to>
                                    </p:set>
                                    <p:animEffect transition="in" filter="wipe(left)">
                                      <p:cBhvr>
                                        <p:cTn id="46" dur="1000"/>
                                        <p:tgtEl>
                                          <p:spTgt spid="1420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0294" grpId="0"/>
      <p:bldP spid="1420296" grpId="0"/>
      <p:bldP spid="1420297" grpId="0" animBg="1"/>
      <p:bldP spid="1420302" grpId="0" animBg="1"/>
      <p:bldP spid="1420304" grpId="0" animBg="1"/>
      <p:bldP spid="1420305" grpId="0" animBg="1"/>
      <p:bldP spid="19"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3670" name="AutoShape 6"/>
          <p:cNvSpPr>
            <a:spLocks noChangeArrowheads="1"/>
          </p:cNvSpPr>
          <p:nvPr/>
        </p:nvSpPr>
        <p:spPr bwMode="auto">
          <a:xfrm>
            <a:off x="3343275" y="2876550"/>
            <a:ext cx="2773363" cy="971550"/>
          </a:xfrm>
          <a:prstGeom prst="octagon">
            <a:avLst>
              <a:gd name="adj" fmla="val 47134"/>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8612" name="Text Box 7"/>
          <p:cNvSpPr txBox="1">
            <a:spLocks noChangeArrowheads="1"/>
          </p:cNvSpPr>
          <p:nvPr/>
        </p:nvSpPr>
        <p:spPr bwMode="auto">
          <a:xfrm>
            <a:off x="3132138" y="5908675"/>
            <a:ext cx="2070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Arial" charset="0"/>
                <a:ea typeface="黑体" pitchFamily="2" charset="-122"/>
              </a:rPr>
              <a:t>小       结</a:t>
            </a:r>
          </a:p>
        </p:txBody>
      </p:sp>
      <p:sp>
        <p:nvSpPr>
          <p:cNvPr id="1393672" name="AutoShape 8"/>
          <p:cNvSpPr>
            <a:spLocks noChangeArrowheads="1"/>
          </p:cNvSpPr>
          <p:nvPr/>
        </p:nvSpPr>
        <p:spPr bwMode="auto">
          <a:xfrm>
            <a:off x="4238625" y="844550"/>
            <a:ext cx="4019550" cy="1052513"/>
          </a:xfrm>
          <a:prstGeom prst="roundRect">
            <a:avLst>
              <a:gd name="adj" fmla="val 16667"/>
            </a:avLst>
          </a:prstGeom>
          <a:noFill/>
          <a:ln w="28575">
            <a:solidFill>
              <a:srgbClr val="8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spcBef>
                <a:spcPct val="10000"/>
              </a:spcBef>
              <a:spcAft>
                <a:spcPct val="10000"/>
              </a:spcAft>
            </a:pPr>
            <a:r>
              <a:rPr kumimoji="1" lang="zh-CN" altLang="en-US" sz="2400" b="1">
                <a:solidFill>
                  <a:srgbClr val="000066"/>
                </a:solidFill>
                <a:ea typeface="幼圆" pitchFamily="49" charset="-122"/>
              </a:rPr>
              <a:t>土的三个组成相的体积和质量上的比例关系</a:t>
            </a:r>
          </a:p>
        </p:txBody>
      </p:sp>
      <p:sp>
        <p:nvSpPr>
          <p:cNvPr id="1393673" name="AutoShape 9"/>
          <p:cNvSpPr>
            <a:spLocks noChangeArrowheads="1"/>
          </p:cNvSpPr>
          <p:nvPr/>
        </p:nvSpPr>
        <p:spPr bwMode="auto">
          <a:xfrm>
            <a:off x="3105150" y="1079500"/>
            <a:ext cx="925513" cy="660400"/>
          </a:xfrm>
          <a:prstGeom prst="leftArrow">
            <a:avLst>
              <a:gd name="adj1" fmla="val 56889"/>
              <a:gd name="adj2" fmla="val 52645"/>
            </a:avLst>
          </a:prstGeom>
          <a:noFill/>
          <a:ln w="19050" algn="ctr">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pPr algn="ctr">
              <a:lnSpc>
                <a:spcPct val="100000"/>
              </a:lnSpc>
              <a:spcBef>
                <a:spcPct val="0"/>
              </a:spcBef>
              <a:spcAft>
                <a:spcPct val="10000"/>
              </a:spcAft>
            </a:pPr>
            <a:r>
              <a:rPr kumimoji="1" lang="zh-CN" altLang="en-US" sz="2400" b="1">
                <a:solidFill>
                  <a:srgbClr val="000066"/>
                </a:solidFill>
                <a:latin typeface="Arial" charset="0"/>
                <a:ea typeface="幼圆" pitchFamily="49" charset="-122"/>
              </a:rPr>
              <a:t>定义</a:t>
            </a:r>
          </a:p>
        </p:txBody>
      </p:sp>
      <p:sp>
        <p:nvSpPr>
          <p:cNvPr id="1393674" name="AutoShape 10"/>
          <p:cNvSpPr>
            <a:spLocks noChangeArrowheads="1"/>
          </p:cNvSpPr>
          <p:nvPr/>
        </p:nvSpPr>
        <p:spPr bwMode="auto">
          <a:xfrm>
            <a:off x="3627438" y="3151188"/>
            <a:ext cx="2281237" cy="47307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p>
            <a:pPr algn="ctr">
              <a:lnSpc>
                <a:spcPct val="100000"/>
              </a:lnSpc>
              <a:spcBef>
                <a:spcPct val="0"/>
              </a:spcBef>
              <a:spcAft>
                <a:spcPct val="0"/>
              </a:spcAft>
            </a:pPr>
            <a:r>
              <a:rPr kumimoji="1" lang="zh-CN" altLang="en-US" sz="2800" b="1">
                <a:solidFill>
                  <a:srgbClr val="800000"/>
                </a:solidFill>
                <a:latin typeface="Arial" charset="0"/>
                <a:ea typeface="幼圆" pitchFamily="49" charset="-122"/>
              </a:rPr>
              <a:t>三相草图法</a:t>
            </a:r>
          </a:p>
        </p:txBody>
      </p:sp>
      <p:grpSp>
        <p:nvGrpSpPr>
          <p:cNvPr id="2" name="Group 11"/>
          <p:cNvGrpSpPr>
            <a:grpSpLocks/>
          </p:cNvGrpSpPr>
          <p:nvPr/>
        </p:nvGrpSpPr>
        <p:grpSpPr bwMode="auto">
          <a:xfrm>
            <a:off x="461963" y="2308225"/>
            <a:ext cx="2684462" cy="2082800"/>
            <a:chOff x="291" y="1418"/>
            <a:chExt cx="1691" cy="1312"/>
          </a:xfrm>
        </p:grpSpPr>
        <p:sp>
          <p:nvSpPr>
            <p:cNvPr id="68625" name="Text Box 12"/>
            <p:cNvSpPr txBox="1">
              <a:spLocks noChangeArrowheads="1"/>
            </p:cNvSpPr>
            <p:nvPr/>
          </p:nvSpPr>
          <p:spPr bwMode="auto">
            <a:xfrm>
              <a:off x="376" y="1418"/>
              <a:ext cx="1606" cy="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182563"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5000"/>
                </a:lnSpc>
                <a:spcBef>
                  <a:spcPct val="5000"/>
                </a:spcBef>
                <a:spcAft>
                  <a:spcPct val="5000"/>
                </a:spcAft>
              </a:pPr>
              <a:r>
                <a:rPr lang="zh-CN" altLang="en-US" sz="2200" b="1">
                  <a:solidFill>
                    <a:srgbClr val="000066"/>
                  </a:solidFill>
                  <a:ea typeface="幼圆" pitchFamily="49" charset="-122"/>
                </a:rPr>
                <a:t>室内测定三个基本物理性质指标：</a:t>
              </a:r>
            </a:p>
            <a:p>
              <a:pPr lvl="1" eaLnBrk="1" hangingPunct="1">
                <a:lnSpc>
                  <a:spcPct val="105000"/>
                </a:lnSpc>
                <a:spcBef>
                  <a:spcPct val="5000"/>
                </a:spcBef>
                <a:spcAft>
                  <a:spcPct val="5000"/>
                </a:spcAft>
                <a:buFont typeface="Wingdings" pitchFamily="2" charset="2"/>
                <a:buChar char="²"/>
              </a:pPr>
              <a:r>
                <a:rPr kumimoji="1" lang="zh-CN" altLang="en-US" sz="2200" b="1">
                  <a:solidFill>
                    <a:srgbClr val="000066"/>
                  </a:solidFill>
                  <a:ea typeface="幼圆" pitchFamily="49" charset="-122"/>
                </a:rPr>
                <a:t>土的密度 </a:t>
              </a:r>
            </a:p>
            <a:p>
              <a:pPr lvl="1" eaLnBrk="1" hangingPunct="1">
                <a:lnSpc>
                  <a:spcPct val="105000"/>
                </a:lnSpc>
                <a:spcBef>
                  <a:spcPct val="5000"/>
                </a:spcBef>
                <a:spcAft>
                  <a:spcPct val="5000"/>
                </a:spcAft>
                <a:buFont typeface="Wingdings" pitchFamily="2" charset="2"/>
                <a:buChar char="²"/>
              </a:pPr>
              <a:r>
                <a:rPr kumimoji="1" lang="zh-CN" altLang="en-US" sz="2200" b="1">
                  <a:solidFill>
                    <a:srgbClr val="000066"/>
                  </a:solidFill>
                  <a:ea typeface="幼圆" pitchFamily="49" charset="-122"/>
                </a:rPr>
                <a:t>土粒比重</a:t>
              </a:r>
            </a:p>
            <a:p>
              <a:pPr lvl="1" eaLnBrk="1" hangingPunct="1">
                <a:lnSpc>
                  <a:spcPct val="105000"/>
                </a:lnSpc>
                <a:spcBef>
                  <a:spcPct val="5000"/>
                </a:spcBef>
                <a:spcAft>
                  <a:spcPct val="5000"/>
                </a:spcAft>
                <a:buFont typeface="Wingdings" pitchFamily="2" charset="2"/>
                <a:buChar char="²"/>
              </a:pPr>
              <a:r>
                <a:rPr kumimoji="1" lang="zh-CN" altLang="en-US" sz="2200" b="1">
                  <a:solidFill>
                    <a:srgbClr val="000066"/>
                  </a:solidFill>
                  <a:ea typeface="幼圆" pitchFamily="49" charset="-122"/>
                </a:rPr>
                <a:t>土的含水量</a:t>
              </a:r>
            </a:p>
          </p:txBody>
        </p:sp>
        <p:sp>
          <p:nvSpPr>
            <p:cNvPr id="68626" name="AutoShape 13"/>
            <p:cNvSpPr>
              <a:spLocks noChangeArrowheads="1"/>
            </p:cNvSpPr>
            <p:nvPr/>
          </p:nvSpPr>
          <p:spPr bwMode="auto">
            <a:xfrm>
              <a:off x="291" y="1418"/>
              <a:ext cx="1661" cy="1312"/>
            </a:xfrm>
            <a:prstGeom prst="roundRect">
              <a:avLst>
                <a:gd name="adj" fmla="val 16667"/>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3" name="Group 14"/>
          <p:cNvGrpSpPr>
            <a:grpSpLocks/>
          </p:cNvGrpSpPr>
          <p:nvPr/>
        </p:nvGrpSpPr>
        <p:grpSpPr bwMode="auto">
          <a:xfrm>
            <a:off x="6224588" y="2371725"/>
            <a:ext cx="2651125" cy="1870075"/>
            <a:chOff x="3921" y="1458"/>
            <a:chExt cx="1661" cy="1178"/>
          </a:xfrm>
        </p:grpSpPr>
        <p:sp>
          <p:nvSpPr>
            <p:cNvPr id="68623" name="Text Box 15"/>
            <p:cNvSpPr txBox="1">
              <a:spLocks noChangeArrowheads="1"/>
            </p:cNvSpPr>
            <p:nvPr/>
          </p:nvSpPr>
          <p:spPr bwMode="auto">
            <a:xfrm>
              <a:off x="4087" y="1548"/>
              <a:ext cx="1416" cy="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182563"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ct val="5000"/>
                </a:spcBef>
                <a:spcAft>
                  <a:spcPct val="0"/>
                </a:spcAft>
                <a:buFont typeface="Wingdings" pitchFamily="2" charset="2"/>
                <a:buNone/>
              </a:pPr>
              <a:r>
                <a:rPr kumimoji="1" lang="zh-CN" altLang="en-US" sz="2200" b="1" dirty="0">
                  <a:solidFill>
                    <a:srgbClr val="000066"/>
                  </a:solidFill>
                  <a:latin typeface="宋体" charset="-122"/>
                  <a:ea typeface="幼圆" pitchFamily="49" charset="-122"/>
                </a:rPr>
                <a:t>其它物理性质指标</a:t>
              </a:r>
            </a:p>
            <a:p>
              <a:pPr lvl="1" eaLnBrk="1" hangingPunct="1">
                <a:lnSpc>
                  <a:spcPct val="110000"/>
                </a:lnSpc>
                <a:spcBef>
                  <a:spcPct val="5000"/>
                </a:spcBef>
                <a:spcAft>
                  <a:spcPct val="0"/>
                </a:spcAft>
                <a:buFont typeface="Wingdings" pitchFamily="2" charset="2"/>
                <a:buChar char="²"/>
              </a:pPr>
              <a:r>
                <a:rPr kumimoji="1" lang="zh-CN" altLang="en-US" sz="2200" b="1" dirty="0">
                  <a:solidFill>
                    <a:srgbClr val="000066"/>
                  </a:solidFill>
                  <a:latin typeface="Arial" charset="0"/>
                  <a:ea typeface="幼圆" pitchFamily="49" charset="-122"/>
                </a:rPr>
                <a:t>孔隙含量</a:t>
              </a:r>
            </a:p>
            <a:p>
              <a:pPr lvl="1" eaLnBrk="1" hangingPunct="1">
                <a:lnSpc>
                  <a:spcPct val="110000"/>
                </a:lnSpc>
                <a:spcBef>
                  <a:spcPct val="5000"/>
                </a:spcBef>
                <a:spcAft>
                  <a:spcPct val="0"/>
                </a:spcAft>
                <a:buFont typeface="Wingdings" pitchFamily="2" charset="2"/>
                <a:buChar char="²"/>
              </a:pPr>
              <a:r>
                <a:rPr kumimoji="1" lang="zh-CN" altLang="en-US" sz="2200" b="1" dirty="0">
                  <a:solidFill>
                    <a:srgbClr val="000066"/>
                  </a:solidFill>
                  <a:latin typeface="Arial" charset="0"/>
                  <a:ea typeface="幼圆" pitchFamily="49" charset="-122"/>
                </a:rPr>
                <a:t>含水程度</a:t>
              </a:r>
            </a:p>
            <a:p>
              <a:pPr lvl="1" eaLnBrk="1" hangingPunct="1">
                <a:lnSpc>
                  <a:spcPct val="110000"/>
                </a:lnSpc>
                <a:spcBef>
                  <a:spcPct val="5000"/>
                </a:spcBef>
                <a:spcAft>
                  <a:spcPct val="0"/>
                </a:spcAft>
                <a:buFont typeface="Wingdings" pitchFamily="2" charset="2"/>
                <a:buChar char="²"/>
              </a:pPr>
              <a:r>
                <a:rPr kumimoji="1" lang="zh-CN" altLang="en-US" sz="2200" b="1" dirty="0">
                  <a:solidFill>
                    <a:srgbClr val="000066"/>
                  </a:solidFill>
                  <a:latin typeface="Arial" charset="0"/>
                  <a:ea typeface="幼圆" pitchFamily="49" charset="-122"/>
                </a:rPr>
                <a:t>密度</a:t>
              </a:r>
              <a:r>
                <a:rPr kumimoji="1" lang="zh-CN" altLang="en-US" sz="2200" b="1" dirty="0" smtClean="0">
                  <a:solidFill>
                    <a:srgbClr val="000066"/>
                  </a:solidFill>
                  <a:latin typeface="Arial" charset="0"/>
                  <a:ea typeface="幼圆" pitchFamily="49" charset="-122"/>
                </a:rPr>
                <a:t>和重度</a:t>
              </a:r>
              <a:endParaRPr kumimoji="1" lang="zh-CN" altLang="en-US" sz="2200" b="1" dirty="0">
                <a:solidFill>
                  <a:srgbClr val="000066"/>
                </a:solidFill>
                <a:latin typeface="Arial" charset="0"/>
                <a:ea typeface="幼圆" pitchFamily="49" charset="-122"/>
              </a:endParaRPr>
            </a:p>
          </p:txBody>
        </p:sp>
        <p:sp>
          <p:nvSpPr>
            <p:cNvPr id="68624" name="AutoShape 16"/>
            <p:cNvSpPr>
              <a:spLocks noChangeArrowheads="1"/>
            </p:cNvSpPr>
            <p:nvPr/>
          </p:nvSpPr>
          <p:spPr bwMode="auto">
            <a:xfrm>
              <a:off x="3921" y="1458"/>
              <a:ext cx="1661" cy="1178"/>
            </a:xfrm>
            <a:prstGeom prst="roundRect">
              <a:avLst>
                <a:gd name="adj" fmla="val 16667"/>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393681" name="Rectangle 17"/>
          <p:cNvSpPr>
            <a:spLocks noChangeArrowheads="1"/>
          </p:cNvSpPr>
          <p:nvPr/>
        </p:nvSpPr>
        <p:spPr bwMode="auto">
          <a:xfrm>
            <a:off x="3113088" y="4532313"/>
            <a:ext cx="5826125" cy="1163637"/>
          </a:xfrm>
          <a:prstGeom prst="rect">
            <a:avLst/>
          </a:prstGeom>
          <a:solidFill>
            <a:schemeClr val="accent6">
              <a:lumMod val="60000"/>
              <a:lumOff val="40000"/>
            </a:schemeClr>
          </a:solidFill>
          <a:ln>
            <a:noFill/>
          </a:ln>
          <a:extLst/>
        </p:spPr>
        <p:txBody>
          <a:bodyPr>
            <a:spAutoFit/>
          </a:bodyPr>
          <a:lstStyle/>
          <a:p>
            <a:pPr marL="182563" indent="-182563">
              <a:lnSpc>
                <a:spcPct val="100000"/>
              </a:lnSpc>
              <a:spcBef>
                <a:spcPct val="10000"/>
              </a:spcBef>
              <a:spcAft>
                <a:spcPct val="10000"/>
              </a:spcAft>
              <a:buClr>
                <a:srgbClr val="A50021"/>
              </a:buClr>
              <a:buSzPct val="120000"/>
              <a:buFontTx/>
              <a:buChar char="•"/>
            </a:pPr>
            <a:r>
              <a:rPr kumimoji="1" lang="zh-CN" altLang="en-US" sz="2200" b="1" dirty="0">
                <a:solidFill>
                  <a:srgbClr val="000066"/>
                </a:solidFill>
                <a:ea typeface="幼圆" pitchFamily="49" charset="-122"/>
              </a:rPr>
              <a:t>特点</a:t>
            </a:r>
            <a:r>
              <a:rPr kumimoji="1" lang="en-US" altLang="zh-CN" sz="2200" b="1" dirty="0">
                <a:solidFill>
                  <a:srgbClr val="000066"/>
                </a:solidFill>
                <a:ea typeface="幼圆" pitchFamily="49" charset="-122"/>
              </a:rPr>
              <a:t>:  </a:t>
            </a:r>
            <a:r>
              <a:rPr kumimoji="1" lang="zh-CN" altLang="en-US" sz="2200" b="1" dirty="0">
                <a:solidFill>
                  <a:srgbClr val="000066"/>
                </a:solidFill>
                <a:ea typeface="幼圆" pitchFamily="49" charset="-122"/>
              </a:rPr>
              <a:t>指标概念简单，数量很多</a:t>
            </a:r>
          </a:p>
          <a:p>
            <a:pPr marL="182563" indent="-182563">
              <a:lnSpc>
                <a:spcPct val="100000"/>
              </a:lnSpc>
              <a:spcBef>
                <a:spcPct val="10000"/>
              </a:spcBef>
              <a:spcAft>
                <a:spcPct val="10000"/>
              </a:spcAft>
              <a:buClr>
                <a:srgbClr val="A50021"/>
              </a:buClr>
              <a:buSzPct val="120000"/>
              <a:buFontTx/>
              <a:buChar char="•"/>
            </a:pPr>
            <a:r>
              <a:rPr kumimoji="1" lang="zh-CN" altLang="en-US" sz="2200" b="1" dirty="0">
                <a:solidFill>
                  <a:srgbClr val="000066"/>
                </a:solidFill>
                <a:ea typeface="幼圆" pitchFamily="49" charset="-122"/>
              </a:rPr>
              <a:t>要点：名称、概念或定义、符号、表达式、</a:t>
            </a:r>
            <a:br>
              <a:rPr kumimoji="1" lang="zh-CN" altLang="en-US" sz="2200" b="1" dirty="0">
                <a:solidFill>
                  <a:srgbClr val="000066"/>
                </a:solidFill>
                <a:ea typeface="幼圆" pitchFamily="49" charset="-122"/>
              </a:rPr>
            </a:br>
            <a:r>
              <a:rPr kumimoji="1" lang="zh-CN" altLang="en-US" sz="2200" b="1" dirty="0">
                <a:solidFill>
                  <a:srgbClr val="000066"/>
                </a:solidFill>
                <a:ea typeface="幼圆" pitchFamily="49" charset="-122"/>
              </a:rPr>
              <a:t>单位或量纲、常见值或范围、联系与区别</a:t>
            </a:r>
          </a:p>
        </p:txBody>
      </p:sp>
      <p:grpSp>
        <p:nvGrpSpPr>
          <p:cNvPr id="4" name="Group 18"/>
          <p:cNvGrpSpPr>
            <a:grpSpLocks/>
          </p:cNvGrpSpPr>
          <p:nvPr/>
        </p:nvGrpSpPr>
        <p:grpSpPr bwMode="auto">
          <a:xfrm>
            <a:off x="1004888" y="711200"/>
            <a:ext cx="1720850" cy="1341438"/>
            <a:chOff x="653" y="442"/>
            <a:chExt cx="1075" cy="845"/>
          </a:xfrm>
        </p:grpSpPr>
        <p:sp>
          <p:nvSpPr>
            <p:cNvPr id="68621" name="Text Box 19"/>
            <p:cNvSpPr txBox="1">
              <a:spLocks noChangeArrowheads="1"/>
            </p:cNvSpPr>
            <p:nvPr/>
          </p:nvSpPr>
          <p:spPr bwMode="auto">
            <a:xfrm>
              <a:off x="768" y="560"/>
              <a:ext cx="88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dirty="0" smtClean="0">
                  <a:solidFill>
                    <a:srgbClr val="000066"/>
                  </a:solidFill>
                  <a:ea typeface="幼圆" pitchFamily="49" charset="-122"/>
                </a:rPr>
                <a:t>土的物理性质指标</a:t>
              </a:r>
              <a:endParaRPr kumimoji="1" lang="zh-CN" altLang="en-US" sz="2400" b="1" dirty="0">
                <a:solidFill>
                  <a:srgbClr val="000066"/>
                </a:solidFill>
                <a:ea typeface="幼圆" pitchFamily="49" charset="-122"/>
              </a:endParaRPr>
            </a:p>
          </p:txBody>
        </p:sp>
        <p:sp>
          <p:nvSpPr>
            <p:cNvPr id="68622" name="AutoShape 20"/>
            <p:cNvSpPr>
              <a:spLocks noChangeArrowheads="1"/>
            </p:cNvSpPr>
            <p:nvPr/>
          </p:nvSpPr>
          <p:spPr bwMode="auto">
            <a:xfrm>
              <a:off x="653" y="442"/>
              <a:ext cx="1075" cy="845"/>
            </a:xfrm>
            <a:prstGeom prst="octagon">
              <a:avLst>
                <a:gd name="adj" fmla="val 29287"/>
              </a:avLst>
            </a:prstGeom>
            <a:noFill/>
            <a:ln w="2857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393685" name="AutoShape 21"/>
          <p:cNvSpPr>
            <a:spLocks noChangeArrowheads="1"/>
          </p:cNvSpPr>
          <p:nvPr/>
        </p:nvSpPr>
        <p:spPr bwMode="auto">
          <a:xfrm>
            <a:off x="2384425" y="4759325"/>
            <a:ext cx="563563" cy="427038"/>
          </a:xfrm>
          <a:prstGeom prst="homePlate">
            <a:avLst>
              <a:gd name="adj" fmla="val 32993"/>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19"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物理性质</a:t>
            </a:r>
            <a:r>
              <a:rPr lang="zh-CN" altLang="en-US" sz="2000" b="1" kern="900" spc="-140" dirty="0">
                <a:solidFill>
                  <a:srgbClr val="C00000"/>
                </a:solidFill>
                <a:latin typeface="宋体" pitchFamily="2" charset="-122"/>
              </a:rPr>
              <a:t>指标</a:t>
            </a:r>
            <a:r>
              <a:rPr lang="en-US" altLang="zh-CN" sz="2000" b="1" kern="900" spc="-140" dirty="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8808949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16" presetClass="entr" presetSubtype="26" fill="hold" grpId="0" nodeType="afterEffect">
                                  <p:stCondLst>
                                    <p:cond delay="0"/>
                                  </p:stCondLst>
                                  <p:childTnLst>
                                    <p:set>
                                      <p:cBhvr>
                                        <p:cTn id="11" dur="1" fill="hold">
                                          <p:stCondLst>
                                            <p:cond delay="0"/>
                                          </p:stCondLst>
                                        </p:cTn>
                                        <p:tgtEl>
                                          <p:spTgt spid="1393673"/>
                                        </p:tgtEl>
                                        <p:attrNameLst>
                                          <p:attrName>style.visibility</p:attrName>
                                        </p:attrNameLst>
                                      </p:cBhvr>
                                      <p:to>
                                        <p:strVal val="visible"/>
                                      </p:to>
                                    </p:set>
                                    <p:animEffect transition="in" filter="barn(inHorizontal)">
                                      <p:cBhvr>
                                        <p:cTn id="12" dur="1000"/>
                                        <p:tgtEl>
                                          <p:spTgt spid="1393673"/>
                                        </p:tgtEl>
                                      </p:cBhvr>
                                    </p:animEffect>
                                  </p:childTnLst>
                                </p:cTn>
                              </p:par>
                            </p:childTnLst>
                          </p:cTn>
                        </p:par>
                        <p:par>
                          <p:cTn id="13" fill="hold" nodeType="afterGroup">
                            <p:stCondLst>
                              <p:cond delay="2000"/>
                            </p:stCondLst>
                            <p:childTnLst>
                              <p:par>
                                <p:cTn id="14" presetID="2" presetClass="entr" presetSubtype="2" fill="hold" grpId="0" nodeType="afterEffect">
                                  <p:stCondLst>
                                    <p:cond delay="0"/>
                                  </p:stCondLst>
                                  <p:childTnLst>
                                    <p:set>
                                      <p:cBhvr>
                                        <p:cTn id="15" dur="1" fill="hold">
                                          <p:stCondLst>
                                            <p:cond delay="0"/>
                                          </p:stCondLst>
                                        </p:cTn>
                                        <p:tgtEl>
                                          <p:spTgt spid="1393672"/>
                                        </p:tgtEl>
                                        <p:attrNameLst>
                                          <p:attrName>style.visibility</p:attrName>
                                        </p:attrNameLst>
                                      </p:cBhvr>
                                      <p:to>
                                        <p:strVal val="visible"/>
                                      </p:to>
                                    </p:set>
                                    <p:anim calcmode="lin" valueType="num">
                                      <p:cBhvr additive="base">
                                        <p:cTn id="16" dur="1000" fill="hold"/>
                                        <p:tgtEl>
                                          <p:spTgt spid="1393672"/>
                                        </p:tgtEl>
                                        <p:attrNameLst>
                                          <p:attrName>ppt_x</p:attrName>
                                        </p:attrNameLst>
                                      </p:cBhvr>
                                      <p:tavLst>
                                        <p:tav tm="0">
                                          <p:val>
                                            <p:strVal val="1+#ppt_w/2"/>
                                          </p:val>
                                        </p:tav>
                                        <p:tav tm="100000">
                                          <p:val>
                                            <p:strVal val="#ppt_x"/>
                                          </p:val>
                                        </p:tav>
                                      </p:tavLst>
                                    </p:anim>
                                    <p:anim calcmode="lin" valueType="num">
                                      <p:cBhvr additive="base">
                                        <p:cTn id="17" dur="1000" fill="hold"/>
                                        <p:tgtEl>
                                          <p:spTgt spid="1393672"/>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1000" fill="hold"/>
                                        <p:tgtEl>
                                          <p:spTgt spid="2"/>
                                        </p:tgtEl>
                                        <p:attrNameLst>
                                          <p:attrName>ppt_x</p:attrName>
                                        </p:attrNameLst>
                                      </p:cBhvr>
                                      <p:tavLst>
                                        <p:tav tm="0">
                                          <p:val>
                                            <p:strVal val="0-#ppt_w/2"/>
                                          </p:val>
                                        </p:tav>
                                        <p:tav tm="100000">
                                          <p:val>
                                            <p:strVal val="#ppt_x"/>
                                          </p:val>
                                        </p:tav>
                                      </p:tavLst>
                                    </p:anim>
                                    <p:anim calcmode="lin" valueType="num">
                                      <p:cBhvr additive="base">
                                        <p:cTn id="23" dur="1000" fill="hold"/>
                                        <p:tgtEl>
                                          <p:spTgt spid="2"/>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1000" fill="hold"/>
                                        <p:tgtEl>
                                          <p:spTgt spid="3"/>
                                        </p:tgtEl>
                                        <p:attrNameLst>
                                          <p:attrName>ppt_x</p:attrName>
                                        </p:attrNameLst>
                                      </p:cBhvr>
                                      <p:tavLst>
                                        <p:tav tm="0">
                                          <p:val>
                                            <p:strVal val="1+#ppt_w/2"/>
                                          </p:val>
                                        </p:tav>
                                        <p:tav tm="100000">
                                          <p:val>
                                            <p:strVal val="#ppt_x"/>
                                          </p:val>
                                        </p:tav>
                                      </p:tavLst>
                                    </p:anim>
                                    <p:anim calcmode="lin" valueType="num">
                                      <p:cBhvr additive="base">
                                        <p:cTn id="27" dur="1000" fill="hold"/>
                                        <p:tgtEl>
                                          <p:spTgt spid="3"/>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1000"/>
                            </p:stCondLst>
                            <p:childTnLst>
                              <p:par>
                                <p:cTn id="29" presetID="19" presetClass="entr" presetSubtype="10" fill="hold" grpId="0" nodeType="afterEffect">
                                  <p:stCondLst>
                                    <p:cond delay="4000"/>
                                  </p:stCondLst>
                                  <p:childTnLst>
                                    <p:set>
                                      <p:cBhvr>
                                        <p:cTn id="30" dur="1" fill="hold">
                                          <p:stCondLst>
                                            <p:cond delay="0"/>
                                          </p:stCondLst>
                                        </p:cTn>
                                        <p:tgtEl>
                                          <p:spTgt spid="1393670"/>
                                        </p:tgtEl>
                                        <p:attrNameLst>
                                          <p:attrName>style.visibility</p:attrName>
                                        </p:attrNameLst>
                                      </p:cBhvr>
                                      <p:to>
                                        <p:strVal val="visible"/>
                                      </p:to>
                                    </p:set>
                                    <p:anim calcmode="lin" valueType="num">
                                      <p:cBhvr>
                                        <p:cTn id="31" dur="1000" fill="hold"/>
                                        <p:tgtEl>
                                          <p:spTgt spid="1393670"/>
                                        </p:tgtEl>
                                        <p:attrNameLst>
                                          <p:attrName>ppt_w</p:attrName>
                                        </p:attrNameLst>
                                      </p:cBhvr>
                                      <p:tavLst>
                                        <p:tav tm="0" fmla="#ppt_w*sin(2.5*pi*$)">
                                          <p:val>
                                            <p:fltVal val="0"/>
                                          </p:val>
                                        </p:tav>
                                        <p:tav tm="100000">
                                          <p:val>
                                            <p:fltVal val="1"/>
                                          </p:val>
                                        </p:tav>
                                      </p:tavLst>
                                    </p:anim>
                                    <p:anim calcmode="lin" valueType="num">
                                      <p:cBhvr>
                                        <p:cTn id="32" dur="1000" fill="hold"/>
                                        <p:tgtEl>
                                          <p:spTgt spid="1393670"/>
                                        </p:tgtEl>
                                        <p:attrNameLst>
                                          <p:attrName>ppt_h</p:attrName>
                                        </p:attrNameLst>
                                      </p:cBhvr>
                                      <p:tavLst>
                                        <p:tav tm="0">
                                          <p:val>
                                            <p:strVal val="#ppt_h"/>
                                          </p:val>
                                        </p:tav>
                                        <p:tav tm="100000">
                                          <p:val>
                                            <p:strVal val="#ppt_h"/>
                                          </p:val>
                                        </p:tav>
                                      </p:tavLst>
                                    </p:anim>
                                  </p:childTnLst>
                                </p:cTn>
                              </p:par>
                            </p:childTnLst>
                          </p:cTn>
                        </p:par>
                        <p:par>
                          <p:cTn id="33" fill="hold" nodeType="afterGroup">
                            <p:stCondLst>
                              <p:cond delay="6000"/>
                            </p:stCondLst>
                            <p:childTnLst>
                              <p:par>
                                <p:cTn id="34" presetID="38" presetClass="entr" presetSubtype="0" accel="50000" fill="hold" grpId="0" nodeType="afterEffect">
                                  <p:stCondLst>
                                    <p:cond delay="0"/>
                                  </p:stCondLst>
                                  <p:iterate type="lt">
                                    <p:tmPct val="50000"/>
                                  </p:iterate>
                                  <p:childTnLst>
                                    <p:set>
                                      <p:cBhvr>
                                        <p:cTn id="35" dur="1" fill="hold">
                                          <p:stCondLst>
                                            <p:cond delay="0"/>
                                          </p:stCondLst>
                                        </p:cTn>
                                        <p:tgtEl>
                                          <p:spTgt spid="1393674"/>
                                        </p:tgtEl>
                                        <p:attrNameLst>
                                          <p:attrName>style.visibility</p:attrName>
                                        </p:attrNameLst>
                                      </p:cBhvr>
                                      <p:to>
                                        <p:strVal val="visible"/>
                                      </p:to>
                                    </p:set>
                                    <p:set>
                                      <p:cBhvr>
                                        <p:cTn id="36" dur="455" fill="hold">
                                          <p:stCondLst>
                                            <p:cond delay="0"/>
                                          </p:stCondLst>
                                        </p:cTn>
                                        <p:tgtEl>
                                          <p:spTgt spid="1393674"/>
                                        </p:tgtEl>
                                        <p:attrNameLst>
                                          <p:attrName>style.rotation</p:attrName>
                                        </p:attrNameLst>
                                      </p:cBhvr>
                                      <p:to>
                                        <p:strVal val="-45.0"/>
                                      </p:to>
                                    </p:set>
                                    <p:anim calcmode="lin" valueType="num">
                                      <p:cBhvr>
                                        <p:cTn id="37" dur="455" fill="hold">
                                          <p:stCondLst>
                                            <p:cond delay="455"/>
                                          </p:stCondLst>
                                        </p:cTn>
                                        <p:tgtEl>
                                          <p:spTgt spid="1393674"/>
                                        </p:tgtEl>
                                        <p:attrNameLst>
                                          <p:attrName>style.rotation</p:attrName>
                                        </p:attrNameLst>
                                      </p:cBhvr>
                                      <p:tavLst>
                                        <p:tav tm="0">
                                          <p:val>
                                            <p:fltVal val="-45"/>
                                          </p:val>
                                        </p:tav>
                                        <p:tav tm="69900">
                                          <p:val>
                                            <p:fltVal val="45"/>
                                          </p:val>
                                        </p:tav>
                                        <p:tav tm="100000">
                                          <p:val>
                                            <p:fltVal val="0"/>
                                          </p:val>
                                        </p:tav>
                                      </p:tavLst>
                                    </p:anim>
                                    <p:anim calcmode="lin" valueType="num">
                                      <p:cBhvr>
                                        <p:cTn id="38" dur="455" fill="hold">
                                          <p:stCondLst>
                                            <p:cond delay="0"/>
                                          </p:stCondLst>
                                        </p:cTn>
                                        <p:tgtEl>
                                          <p:spTgt spid="1393674"/>
                                        </p:tgtEl>
                                        <p:attrNameLst>
                                          <p:attrName>ppt_y</p:attrName>
                                        </p:attrNameLst>
                                      </p:cBhvr>
                                      <p:tavLst>
                                        <p:tav tm="0">
                                          <p:val>
                                            <p:strVal val="#ppt_y-1"/>
                                          </p:val>
                                        </p:tav>
                                        <p:tav tm="100000">
                                          <p:val>
                                            <p:strVal val="#ppt_y-(0.354*#ppt_w-0.172*#ppt_h)"/>
                                          </p:val>
                                        </p:tav>
                                      </p:tavLst>
                                    </p:anim>
                                    <p:anim calcmode="lin" valueType="num">
                                      <p:cBhvr>
                                        <p:cTn id="39" dur="156" decel="50000" autoRev="1" fill="hold">
                                          <p:stCondLst>
                                            <p:cond delay="455"/>
                                          </p:stCondLst>
                                        </p:cTn>
                                        <p:tgtEl>
                                          <p:spTgt spid="1393674"/>
                                        </p:tgtEl>
                                        <p:attrNameLst>
                                          <p:attrName>ppt_y</p:attrName>
                                        </p:attrNameLst>
                                      </p:cBhvr>
                                      <p:tavLst>
                                        <p:tav tm="0">
                                          <p:val>
                                            <p:strVal val="#ppt_y-(0.354*#ppt_w-0.172*#ppt_h)"/>
                                          </p:val>
                                        </p:tav>
                                        <p:tav tm="100000">
                                          <p:val>
                                            <p:strVal val="#ppt_y-(0.354*#ppt_w-0.172*#ppt_h)-#ppt_h/2"/>
                                          </p:val>
                                        </p:tav>
                                      </p:tavLst>
                                    </p:anim>
                                    <p:anim calcmode="lin" valueType="num">
                                      <p:cBhvr>
                                        <p:cTn id="40" dur="136" fill="hold">
                                          <p:stCondLst>
                                            <p:cond delay="864"/>
                                          </p:stCondLst>
                                        </p:cTn>
                                        <p:tgtEl>
                                          <p:spTgt spid="1393674"/>
                                        </p:tgtEl>
                                        <p:attrNameLst>
                                          <p:attrName>ppt_y</p:attrName>
                                        </p:attrNameLst>
                                      </p:cBhvr>
                                      <p:tavLst>
                                        <p:tav tm="0">
                                          <p:val>
                                            <p:strVal val="#ppt_y-(0.354*#ppt_w-0.172*#ppt_h)"/>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393685"/>
                                        </p:tgtEl>
                                        <p:attrNameLst>
                                          <p:attrName>style.visibility</p:attrName>
                                        </p:attrNameLst>
                                      </p:cBhvr>
                                      <p:to>
                                        <p:strVal val="visible"/>
                                      </p:to>
                                    </p:set>
                                    <p:anim calcmode="lin" valueType="num">
                                      <p:cBhvr additive="base">
                                        <p:cTn id="45" dur="1000" fill="hold"/>
                                        <p:tgtEl>
                                          <p:spTgt spid="1393685"/>
                                        </p:tgtEl>
                                        <p:attrNameLst>
                                          <p:attrName>ppt_x</p:attrName>
                                        </p:attrNameLst>
                                      </p:cBhvr>
                                      <p:tavLst>
                                        <p:tav tm="0">
                                          <p:val>
                                            <p:strVal val="0-#ppt_w/2"/>
                                          </p:val>
                                        </p:tav>
                                        <p:tav tm="100000">
                                          <p:val>
                                            <p:strVal val="#ppt_x"/>
                                          </p:val>
                                        </p:tav>
                                      </p:tavLst>
                                    </p:anim>
                                    <p:anim calcmode="lin" valueType="num">
                                      <p:cBhvr additive="base">
                                        <p:cTn id="46" dur="1000" fill="hold"/>
                                        <p:tgtEl>
                                          <p:spTgt spid="1393685"/>
                                        </p:tgtEl>
                                        <p:attrNameLst>
                                          <p:attrName>ppt_y</p:attrName>
                                        </p:attrNameLst>
                                      </p:cBhvr>
                                      <p:tavLst>
                                        <p:tav tm="0">
                                          <p:val>
                                            <p:strVal val="#ppt_y"/>
                                          </p:val>
                                        </p:tav>
                                        <p:tav tm="100000">
                                          <p:val>
                                            <p:strVal val="#ppt_y"/>
                                          </p:val>
                                        </p:tav>
                                      </p:tavLst>
                                    </p:anim>
                                  </p:childTnLst>
                                </p:cTn>
                              </p:par>
                            </p:childTnLst>
                          </p:cTn>
                        </p:par>
                        <p:par>
                          <p:cTn id="47" fill="hold" nodeType="afterGroup">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1393681"/>
                                        </p:tgtEl>
                                        <p:attrNameLst>
                                          <p:attrName>style.visibility</p:attrName>
                                        </p:attrNameLst>
                                      </p:cBhvr>
                                      <p:to>
                                        <p:strVal val="visible"/>
                                      </p:to>
                                    </p:set>
                                    <p:animEffect transition="in" filter="wipe(left)">
                                      <p:cBhvr>
                                        <p:cTn id="50" dur="1000"/>
                                        <p:tgtEl>
                                          <p:spTgt spid="13936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3670" grpId="0" animBg="1"/>
      <p:bldP spid="1393672" grpId="0" animBg="1"/>
      <p:bldP spid="1393673" grpId="0" animBg="1"/>
      <p:bldP spid="1393674" grpId="0"/>
      <p:bldP spid="1393681" grpId="0" animBg="1"/>
      <p:bldP spid="139368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19267" name="Object 3"/>
          <p:cNvGraphicFramePr>
            <a:graphicFrameLocks noChangeAspect="1"/>
          </p:cNvGraphicFramePr>
          <p:nvPr>
            <p:extLst>
              <p:ext uri="{D42A27DB-BD31-4B8C-83A1-F6EECF244321}">
                <p14:modId xmlns:p14="http://schemas.microsoft.com/office/powerpoint/2010/main" val="352697523"/>
              </p:ext>
            </p:extLst>
          </p:nvPr>
        </p:nvGraphicFramePr>
        <p:xfrm>
          <a:off x="4070350" y="3200400"/>
          <a:ext cx="1889125" cy="1000125"/>
        </p:xfrm>
        <a:graphic>
          <a:graphicData uri="http://schemas.openxmlformats.org/presentationml/2006/ole">
            <mc:AlternateContent xmlns:mc="http://schemas.openxmlformats.org/markup-compatibility/2006">
              <mc:Choice xmlns:v="urn:schemas-microsoft-com:vml" Requires="v">
                <p:oleObj spid="_x0000_s15785" name="公式" r:id="rId4" imgW="888840" imgH="469800" progId="Equation.3">
                  <p:embed/>
                </p:oleObj>
              </mc:Choice>
              <mc:Fallback>
                <p:oleObj name="公式" r:id="rId4" imgW="888840" imgH="469800" progId="Equation.3">
                  <p:embed/>
                  <p:pic>
                    <p:nvPicPr>
                      <p:cNvPr id="0" name="Object 3"/>
                      <p:cNvPicPr>
                        <a:picLocks noChangeAspect="1" noChangeArrowheads="1"/>
                      </p:cNvPicPr>
                      <p:nvPr/>
                    </p:nvPicPr>
                    <p:blipFill>
                      <a:blip r:embed="rId5"/>
                      <a:srcRect/>
                      <a:stretch>
                        <a:fillRect/>
                      </a:stretch>
                    </p:blipFill>
                    <p:spPr bwMode="auto">
                      <a:xfrm>
                        <a:off x="4070350" y="3200400"/>
                        <a:ext cx="1889125" cy="1000125"/>
                      </a:xfrm>
                      <a:prstGeom prst="rect">
                        <a:avLst/>
                      </a:prstGeom>
                      <a:noFill/>
                      <a:ln>
                        <a:noFill/>
                      </a:ln>
                      <a:effectLst/>
                      <a:extLst/>
                    </p:spPr>
                  </p:pic>
                </p:oleObj>
              </mc:Fallback>
            </mc:AlternateContent>
          </a:graphicData>
        </a:graphic>
      </p:graphicFrame>
      <p:sp>
        <p:nvSpPr>
          <p:cNvPr id="1419268" name="Rectangle 4"/>
          <p:cNvSpPr>
            <a:spLocks noChangeArrowheads="1"/>
          </p:cNvSpPr>
          <p:nvPr/>
        </p:nvSpPr>
        <p:spPr bwMode="auto">
          <a:xfrm>
            <a:off x="1030288" y="766763"/>
            <a:ext cx="65437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25000"/>
              </a:spcBef>
              <a:spcAft>
                <a:spcPct val="0"/>
              </a:spcAft>
              <a:buClr>
                <a:srgbClr val="A50021"/>
              </a:buClr>
              <a:buSzPct val="130000"/>
              <a:buFont typeface="Wingdings" pitchFamily="2" charset="2"/>
              <a:buChar char="F"/>
            </a:pPr>
            <a:r>
              <a:rPr kumimoji="1" lang="zh-CN" altLang="en-US" sz="2800" b="1" dirty="0">
                <a:solidFill>
                  <a:srgbClr val="000066"/>
                </a:solidFill>
                <a:ea typeface="幼圆" pitchFamily="49" charset="-122"/>
                <a:cs typeface="Times New Roman" panose="02020603050405020304" pitchFamily="18" charset="0"/>
              </a:rPr>
              <a:t> 粗粒土的密实状态指标</a:t>
            </a:r>
            <a:r>
              <a:rPr kumimoji="1" lang="en-US" altLang="zh-CN" sz="2800" b="1" dirty="0">
                <a:solidFill>
                  <a:srgbClr val="000066"/>
                </a:solidFill>
                <a:ea typeface="幼圆" pitchFamily="49" charset="-122"/>
                <a:cs typeface="Times New Roman" panose="02020603050405020304" pitchFamily="18" charset="0"/>
              </a:rPr>
              <a:t>:</a:t>
            </a:r>
            <a:r>
              <a:rPr kumimoji="1" lang="en-US" altLang="zh-CN" sz="2400" b="1" dirty="0">
                <a:solidFill>
                  <a:srgbClr val="000066"/>
                </a:solidFill>
                <a:ea typeface="幼圆" pitchFamily="49" charset="-122"/>
                <a:cs typeface="Times New Roman" panose="02020603050405020304" pitchFamily="18" charset="0"/>
              </a:rPr>
              <a:t>   </a:t>
            </a:r>
            <a:r>
              <a:rPr kumimoji="1" lang="zh-CN" altLang="en-US" sz="2800" b="1" dirty="0">
                <a:solidFill>
                  <a:srgbClr val="A50021"/>
                </a:solidFill>
                <a:ea typeface="幼圆" pitchFamily="49" charset="-122"/>
                <a:cs typeface="Times New Roman" panose="02020603050405020304" pitchFamily="18" charset="0"/>
              </a:rPr>
              <a:t>相对密度</a:t>
            </a:r>
            <a:r>
              <a:rPr kumimoji="1" lang="en-US" altLang="zh-CN" sz="2800" b="1" i="1" dirty="0" err="1">
                <a:solidFill>
                  <a:srgbClr val="A50021"/>
                </a:solidFill>
                <a:ea typeface="幼圆" pitchFamily="49" charset="-122"/>
                <a:cs typeface="Times New Roman" panose="02020603050405020304" pitchFamily="18" charset="0"/>
              </a:rPr>
              <a:t>D</a:t>
            </a:r>
            <a:r>
              <a:rPr kumimoji="1" lang="en-US" altLang="zh-CN" sz="2800" b="1" baseline="-25000" dirty="0" err="1">
                <a:solidFill>
                  <a:srgbClr val="A50021"/>
                </a:solidFill>
                <a:ea typeface="幼圆" pitchFamily="49" charset="-122"/>
                <a:cs typeface="Times New Roman" panose="02020603050405020304" pitchFamily="18" charset="0"/>
              </a:rPr>
              <a:t>r</a:t>
            </a:r>
            <a:r>
              <a:rPr kumimoji="1" lang="en-US" altLang="zh-CN" sz="2400" b="1" dirty="0">
                <a:solidFill>
                  <a:srgbClr val="000066"/>
                </a:solidFill>
                <a:ea typeface="幼圆" pitchFamily="49" charset="-122"/>
                <a:cs typeface="Times New Roman" panose="02020603050405020304" pitchFamily="18" charset="0"/>
              </a:rPr>
              <a:t> </a:t>
            </a:r>
            <a:endParaRPr kumimoji="1" lang="en-US" altLang="zh-CN" sz="2400" b="1" i="1" baseline="-25000" dirty="0">
              <a:solidFill>
                <a:srgbClr val="000066"/>
              </a:solidFill>
              <a:ea typeface="幼圆" pitchFamily="49" charset="-122"/>
              <a:cs typeface="Times New Roman" panose="02020603050405020304" pitchFamily="18" charset="0"/>
            </a:endParaRPr>
          </a:p>
        </p:txBody>
      </p:sp>
      <p:sp>
        <p:nvSpPr>
          <p:cNvPr id="1419269" name="Rectangle 5"/>
          <p:cNvSpPr>
            <a:spLocks noChangeArrowheads="1"/>
          </p:cNvSpPr>
          <p:nvPr/>
        </p:nvSpPr>
        <p:spPr bwMode="auto">
          <a:xfrm>
            <a:off x="1065213" y="2511425"/>
            <a:ext cx="6905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25000"/>
              </a:spcBef>
              <a:spcAft>
                <a:spcPct val="0"/>
              </a:spcAft>
              <a:buClr>
                <a:srgbClr val="A50021"/>
              </a:buClr>
              <a:buSzPct val="130000"/>
              <a:buFont typeface="Wingdings" pitchFamily="2" charset="2"/>
              <a:buChar char="F"/>
            </a:pPr>
            <a:r>
              <a:rPr kumimoji="1" lang="zh-CN" altLang="en-US" sz="2800" b="1" dirty="0">
                <a:solidFill>
                  <a:srgbClr val="000066"/>
                </a:solidFill>
                <a:latin typeface="幼圆" pitchFamily="49" charset="-122"/>
                <a:ea typeface="幼圆" pitchFamily="49" charset="-122"/>
              </a:rPr>
              <a:t> 细粒土的稠度状态指标</a:t>
            </a:r>
            <a:r>
              <a:rPr kumimoji="1" lang="en-US" altLang="zh-CN" sz="2800" b="1" dirty="0">
                <a:solidFill>
                  <a:srgbClr val="000066"/>
                </a:solidFill>
                <a:latin typeface="幼圆" pitchFamily="49" charset="-122"/>
                <a:ea typeface="幼圆" pitchFamily="49" charset="-122"/>
              </a:rPr>
              <a:t>:</a:t>
            </a:r>
            <a:r>
              <a:rPr kumimoji="1" lang="en-US" altLang="zh-CN" sz="2400" b="1" dirty="0">
                <a:solidFill>
                  <a:srgbClr val="000066"/>
                </a:solidFill>
                <a:latin typeface="幼圆" pitchFamily="49" charset="-122"/>
                <a:ea typeface="幼圆" pitchFamily="49" charset="-122"/>
              </a:rPr>
              <a:t>    </a:t>
            </a:r>
            <a:r>
              <a:rPr kumimoji="1" lang="zh-CN" altLang="en-US" sz="2800" b="1" dirty="0">
                <a:solidFill>
                  <a:srgbClr val="A50021"/>
                </a:solidFill>
                <a:latin typeface="幼圆" pitchFamily="49" charset="-122"/>
                <a:ea typeface="幼圆" pitchFamily="49" charset="-122"/>
              </a:rPr>
              <a:t>液性指数</a:t>
            </a:r>
            <a:r>
              <a:rPr kumimoji="1" lang="en-US" altLang="zh-CN" sz="2800" b="1" i="1" dirty="0">
                <a:solidFill>
                  <a:srgbClr val="A50021"/>
                </a:solidFill>
                <a:ea typeface="幼圆" pitchFamily="49" charset="-122"/>
                <a:cs typeface="Times New Roman" panose="02020603050405020304" pitchFamily="18" charset="0"/>
              </a:rPr>
              <a:t>I</a:t>
            </a:r>
            <a:r>
              <a:rPr kumimoji="1" lang="en-US" altLang="zh-CN" sz="2800" b="1" baseline="-25000" dirty="0">
                <a:solidFill>
                  <a:srgbClr val="A50021"/>
                </a:solidFill>
                <a:ea typeface="幼圆" pitchFamily="49" charset="-122"/>
                <a:cs typeface="Times New Roman" panose="02020603050405020304" pitchFamily="18" charset="0"/>
              </a:rPr>
              <a:t>L</a:t>
            </a:r>
          </a:p>
        </p:txBody>
      </p:sp>
      <p:sp>
        <p:nvSpPr>
          <p:cNvPr id="1419270" name="Text Box 6"/>
          <p:cNvSpPr txBox="1">
            <a:spLocks noChangeArrowheads="1"/>
          </p:cNvSpPr>
          <p:nvPr/>
        </p:nvSpPr>
        <p:spPr bwMode="auto">
          <a:xfrm>
            <a:off x="2028825" y="1408113"/>
            <a:ext cx="1562100" cy="812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Clr>
                <a:srgbClr val="C00000"/>
              </a:buClr>
              <a:buSzPct val="120000"/>
              <a:buFontTx/>
              <a:buChar char="•"/>
            </a:pPr>
            <a:r>
              <a:rPr kumimoji="1" lang="zh-CN" altLang="en-US" sz="2400" b="1" dirty="0">
                <a:solidFill>
                  <a:srgbClr val="000066"/>
                </a:solidFill>
                <a:latin typeface="幼圆" pitchFamily="49" charset="-122"/>
                <a:ea typeface="幼圆" pitchFamily="49" charset="-122"/>
              </a:rPr>
              <a:t> 定义</a:t>
            </a:r>
          </a:p>
          <a:p>
            <a:pPr eaLnBrk="1" hangingPunct="1">
              <a:lnSpc>
                <a:spcPct val="120000"/>
              </a:lnSpc>
              <a:spcBef>
                <a:spcPct val="0"/>
              </a:spcBef>
              <a:spcAft>
                <a:spcPct val="0"/>
              </a:spcAft>
              <a:buClr>
                <a:srgbClr val="C00000"/>
              </a:buClr>
              <a:buSzPct val="120000"/>
              <a:buFontTx/>
              <a:buChar char="•"/>
            </a:pPr>
            <a:r>
              <a:rPr kumimoji="1" lang="zh-CN" altLang="en-US" sz="2400" b="1" dirty="0">
                <a:solidFill>
                  <a:srgbClr val="000066"/>
                </a:solidFill>
                <a:latin typeface="幼圆" pitchFamily="49" charset="-122"/>
                <a:ea typeface="幼圆" pitchFamily="49" charset="-122"/>
              </a:rPr>
              <a:t> 判别标准</a:t>
            </a:r>
          </a:p>
        </p:txBody>
      </p:sp>
      <p:sp>
        <p:nvSpPr>
          <p:cNvPr id="1419271" name="Rectangle 7"/>
          <p:cNvSpPr>
            <a:spLocks noChangeArrowheads="1"/>
          </p:cNvSpPr>
          <p:nvPr/>
        </p:nvSpPr>
        <p:spPr bwMode="auto">
          <a:xfrm>
            <a:off x="1900238" y="4278313"/>
            <a:ext cx="69723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type="none" w="sm" len="lg"/>
              </a14:hiddenLine>
            </a:ext>
          </a:extLst>
        </p:spPr>
        <p:txBody>
          <a:bodyPr>
            <a:spAutoFit/>
          </a:bodyPr>
          <a:lstStyle/>
          <a:p>
            <a:pPr algn="just">
              <a:lnSpc>
                <a:spcPct val="100000"/>
              </a:lnSpc>
              <a:spcBef>
                <a:spcPct val="50000"/>
              </a:spcBef>
              <a:spcAft>
                <a:spcPct val="0"/>
              </a:spcAft>
              <a:buClr>
                <a:srgbClr val="C00000"/>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界限</a:t>
            </a:r>
            <a:r>
              <a:rPr kumimoji="1" lang="zh-CN" altLang="en-US" sz="2400" b="1" dirty="0" smtClean="0">
                <a:solidFill>
                  <a:srgbClr val="000066"/>
                </a:solidFill>
                <a:ea typeface="幼圆" pitchFamily="49" charset="-122"/>
                <a:cs typeface="Times New Roman" panose="02020603050405020304" pitchFamily="18" charset="0"/>
              </a:rPr>
              <a:t>含水量</a:t>
            </a:r>
            <a:r>
              <a:rPr kumimoji="1" lang="en-US" altLang="zh-CN" sz="2400" b="1" dirty="0" smtClean="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sym typeface="Symbol" pitchFamily="18" charset="2"/>
              </a:rPr>
              <a:t> </a:t>
            </a:r>
            <a:r>
              <a:rPr kumimoji="1" lang="en-US" altLang="zh-CN" sz="2400" b="1" i="1" dirty="0" err="1" smtClean="0">
                <a:solidFill>
                  <a:srgbClr val="000066"/>
                </a:solidFill>
                <a:ea typeface="幼圆" pitchFamily="49" charset="-122"/>
                <a:cs typeface="Times New Roman" panose="02020603050405020304" pitchFamily="18" charset="0"/>
                <a:sym typeface="Symbol" pitchFamily="18" charset="2"/>
              </a:rPr>
              <a:t>w</a:t>
            </a:r>
            <a:r>
              <a:rPr kumimoji="1" lang="en-US" altLang="zh-CN" sz="2400" b="1" baseline="-25000" dirty="0" err="1" smtClean="0">
                <a:solidFill>
                  <a:schemeClr val="tx2"/>
                </a:solidFill>
                <a:ea typeface="幼圆" pitchFamily="49" charset="-122"/>
                <a:cs typeface="Times New Roman" panose="02020603050405020304" pitchFamily="18" charset="0"/>
              </a:rPr>
              <a:t>p</a:t>
            </a:r>
            <a:r>
              <a:rPr kumimoji="1" lang="zh-CN" altLang="en-US" sz="2400" b="1" dirty="0" smtClean="0">
                <a:solidFill>
                  <a:srgbClr val="000066"/>
                </a:solidFill>
                <a:ea typeface="幼圆" pitchFamily="49" charset="-122"/>
                <a:cs typeface="Times New Roman" panose="02020603050405020304" pitchFamily="18" charset="0"/>
              </a:rPr>
              <a:t>、</a:t>
            </a:r>
            <a:r>
              <a:rPr kumimoji="1" lang="en-US" altLang="zh-CN" sz="2400" b="1" i="1" dirty="0" err="1">
                <a:solidFill>
                  <a:srgbClr val="000066"/>
                </a:solidFill>
                <a:ea typeface="幼圆" pitchFamily="49" charset="-122"/>
                <a:cs typeface="Times New Roman" panose="02020603050405020304" pitchFamily="18" charset="0"/>
              </a:rPr>
              <a:t>w</a:t>
            </a:r>
            <a:r>
              <a:rPr kumimoji="1" lang="en-US" altLang="zh-CN" sz="2400" b="1" baseline="-25000" dirty="0" err="1">
                <a:solidFill>
                  <a:srgbClr val="000066"/>
                </a:solidFill>
                <a:ea typeface="幼圆" pitchFamily="49" charset="-122"/>
                <a:cs typeface="Times New Roman" panose="02020603050405020304" pitchFamily="18" charset="0"/>
              </a:rPr>
              <a:t>L</a:t>
            </a:r>
            <a:r>
              <a:rPr kumimoji="1" lang="en-US" altLang="zh-CN" sz="2400" b="1" baseline="-25000" dirty="0">
                <a:solidFill>
                  <a:srgbClr val="000066"/>
                </a:solidFill>
                <a:ea typeface="幼圆" pitchFamily="49" charset="-122"/>
                <a:cs typeface="Times New Roman" panose="02020603050405020304" pitchFamily="18" charset="0"/>
              </a:rPr>
              <a:t>       </a:t>
            </a:r>
            <a:r>
              <a:rPr kumimoji="1" lang="en-US" altLang="zh-CN" sz="2400" b="1" dirty="0">
                <a:solidFill>
                  <a:srgbClr val="000066"/>
                </a:solidFill>
                <a:ea typeface="幼圆" pitchFamily="49" charset="-122"/>
                <a:cs typeface="Times New Roman" panose="02020603050405020304" pitchFamily="18" charset="0"/>
                <a:sym typeface="Symbol" pitchFamily="18" charset="2"/>
              </a:rPr>
              <a:t> </a:t>
            </a:r>
            <a:r>
              <a:rPr lang="zh-CN" altLang="en-US" sz="2400" b="1" dirty="0">
                <a:solidFill>
                  <a:srgbClr val="000066"/>
                </a:solidFill>
                <a:ea typeface="幼圆" pitchFamily="49" charset="-122"/>
                <a:cs typeface="Times New Roman" panose="02020603050405020304" pitchFamily="18" charset="0"/>
              </a:rPr>
              <a:t>土中水形态</a:t>
            </a:r>
            <a:endParaRPr kumimoji="1" lang="en-US" altLang="zh-CN" sz="2400" b="1" dirty="0">
              <a:solidFill>
                <a:srgbClr val="000066"/>
              </a:solidFill>
              <a:ea typeface="幼圆" pitchFamily="49" charset="-122"/>
              <a:cs typeface="Times New Roman" panose="02020603050405020304" pitchFamily="18" charset="0"/>
            </a:endParaRPr>
          </a:p>
          <a:p>
            <a:pPr algn="just">
              <a:lnSpc>
                <a:spcPct val="100000"/>
              </a:lnSpc>
              <a:spcBef>
                <a:spcPct val="50000"/>
              </a:spcBef>
              <a:spcAft>
                <a:spcPct val="0"/>
              </a:spcAft>
              <a:buClr>
                <a:srgbClr val="C00000"/>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塑性指数</a:t>
            </a:r>
            <a:r>
              <a:rPr kumimoji="1" lang="en-US" altLang="zh-CN" sz="2400" b="1" dirty="0" smtClean="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    </a:t>
            </a:r>
            <a:r>
              <a:rPr kumimoji="1" lang="en-US" altLang="zh-CN" sz="2400" b="1" i="1" dirty="0" err="1">
                <a:solidFill>
                  <a:srgbClr val="000066"/>
                </a:solidFill>
                <a:ea typeface="幼圆" pitchFamily="49" charset="-122"/>
                <a:cs typeface="Times New Roman" panose="02020603050405020304" pitchFamily="18" charset="0"/>
              </a:rPr>
              <a:t>I</a:t>
            </a:r>
            <a:r>
              <a:rPr kumimoji="1" lang="en-US" altLang="zh-CN" sz="2400" b="1" baseline="-25000" dirty="0" err="1">
                <a:solidFill>
                  <a:srgbClr val="000066"/>
                </a:solidFill>
                <a:ea typeface="幼圆" pitchFamily="49" charset="-122"/>
                <a:cs typeface="Times New Roman" panose="02020603050405020304" pitchFamily="18" charset="0"/>
              </a:rPr>
              <a:t>p</a:t>
            </a:r>
            <a:r>
              <a:rPr kumimoji="1" lang="en-US" altLang="zh-CN" sz="2400" b="1" dirty="0">
                <a:solidFill>
                  <a:srgbClr val="000066"/>
                </a:solidFill>
                <a:ea typeface="幼圆" pitchFamily="49" charset="-122"/>
                <a:cs typeface="Times New Roman" panose="02020603050405020304" pitchFamily="18" charset="0"/>
              </a:rPr>
              <a:t>  </a:t>
            </a:r>
            <a:r>
              <a:rPr kumimoji="1" lang="en-US" altLang="zh-CN" sz="2400" b="1" dirty="0" smtClean="0">
                <a:solidFill>
                  <a:srgbClr val="000066"/>
                </a:solidFill>
                <a:ea typeface="幼圆" pitchFamily="49" charset="-122"/>
                <a:cs typeface="Times New Roman" panose="02020603050405020304" pitchFamily="18" charset="0"/>
              </a:rPr>
              <a:t>   </a:t>
            </a:r>
            <a:r>
              <a:rPr kumimoji="1" lang="en-US" altLang="zh-CN" sz="2400" b="1" dirty="0">
                <a:solidFill>
                  <a:srgbClr val="000066"/>
                </a:solidFill>
                <a:ea typeface="幼圆" pitchFamily="49" charset="-122"/>
                <a:cs typeface="Times New Roman" panose="02020603050405020304" pitchFamily="18" charset="0"/>
                <a:sym typeface="Symbol" pitchFamily="18" charset="2"/>
              </a:rPr>
              <a:t> </a:t>
            </a:r>
            <a:r>
              <a:rPr lang="zh-CN" altLang="en-US" sz="2400" b="1" dirty="0">
                <a:solidFill>
                  <a:srgbClr val="000066"/>
                </a:solidFill>
                <a:ea typeface="幼圆" pitchFamily="49" charset="-122"/>
                <a:cs typeface="Times New Roman" panose="02020603050405020304" pitchFamily="18" charset="0"/>
              </a:rPr>
              <a:t>吸附结合水的能力</a:t>
            </a:r>
            <a:endParaRPr lang="en-US" altLang="zh-CN" sz="2400" b="1" dirty="0">
              <a:solidFill>
                <a:srgbClr val="000066"/>
              </a:solidFill>
              <a:ea typeface="幼圆" pitchFamily="49" charset="-122"/>
              <a:cs typeface="Times New Roman" panose="02020603050405020304" pitchFamily="18" charset="0"/>
            </a:endParaRPr>
          </a:p>
        </p:txBody>
      </p:sp>
      <p:graphicFrame>
        <p:nvGraphicFramePr>
          <p:cNvPr id="1419272" name="Object 8"/>
          <p:cNvGraphicFramePr>
            <a:graphicFrameLocks noChangeAspect="1"/>
          </p:cNvGraphicFramePr>
          <p:nvPr>
            <p:extLst>
              <p:ext uri="{D42A27DB-BD31-4B8C-83A1-F6EECF244321}">
                <p14:modId xmlns:p14="http://schemas.microsoft.com/office/powerpoint/2010/main" val="2662877525"/>
              </p:ext>
            </p:extLst>
          </p:nvPr>
        </p:nvGraphicFramePr>
        <p:xfrm>
          <a:off x="4000500" y="1403350"/>
          <a:ext cx="2116138" cy="925513"/>
        </p:xfrm>
        <a:graphic>
          <a:graphicData uri="http://schemas.openxmlformats.org/presentationml/2006/ole">
            <mc:AlternateContent xmlns:mc="http://schemas.openxmlformats.org/markup-compatibility/2006">
              <mc:Choice xmlns:v="urn:schemas-microsoft-com:vml" Requires="v">
                <p:oleObj spid="_x0000_s15786" name="公式" r:id="rId6" imgW="1015920" imgH="444240" progId="Equation.3">
                  <p:embed/>
                </p:oleObj>
              </mc:Choice>
              <mc:Fallback>
                <p:oleObj name="公式" r:id="rId6" imgW="1015920" imgH="444240" progId="Equation.3">
                  <p:embed/>
                  <p:pic>
                    <p:nvPicPr>
                      <p:cNvPr id="0" name="Object 8"/>
                      <p:cNvPicPr>
                        <a:picLocks noChangeAspect="1" noChangeArrowheads="1"/>
                      </p:cNvPicPr>
                      <p:nvPr/>
                    </p:nvPicPr>
                    <p:blipFill>
                      <a:blip r:embed="rId7"/>
                      <a:srcRect/>
                      <a:stretch>
                        <a:fillRect/>
                      </a:stretch>
                    </p:blipFill>
                    <p:spPr bwMode="auto">
                      <a:xfrm>
                        <a:off x="4000500" y="1403350"/>
                        <a:ext cx="2116138" cy="925513"/>
                      </a:xfrm>
                      <a:prstGeom prst="rect">
                        <a:avLst/>
                      </a:prstGeom>
                      <a:noFill/>
                      <a:ln>
                        <a:noFill/>
                      </a:ln>
                      <a:effectLst/>
                      <a:extLst/>
                    </p:spPr>
                  </p:pic>
                </p:oleObj>
              </mc:Fallback>
            </mc:AlternateContent>
          </a:graphicData>
        </a:graphic>
      </p:graphicFrame>
      <p:sp>
        <p:nvSpPr>
          <p:cNvPr id="1419273" name="Text Box 9"/>
          <p:cNvSpPr txBox="1">
            <a:spLocks noChangeArrowheads="1"/>
          </p:cNvSpPr>
          <p:nvPr/>
        </p:nvSpPr>
        <p:spPr bwMode="auto">
          <a:xfrm>
            <a:off x="2016125" y="3198813"/>
            <a:ext cx="1679575" cy="812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Clr>
                <a:srgbClr val="C00000"/>
              </a:buClr>
              <a:buSzPct val="120000"/>
              <a:buFontTx/>
              <a:buChar char="•"/>
            </a:pPr>
            <a:r>
              <a:rPr kumimoji="1" lang="zh-CN" altLang="en-US" sz="2400" b="1" dirty="0">
                <a:solidFill>
                  <a:srgbClr val="000066"/>
                </a:solidFill>
                <a:latin typeface="幼圆" pitchFamily="49" charset="-122"/>
                <a:ea typeface="幼圆" pitchFamily="49" charset="-122"/>
              </a:rPr>
              <a:t> 定义</a:t>
            </a:r>
          </a:p>
          <a:p>
            <a:pPr eaLnBrk="1" hangingPunct="1">
              <a:lnSpc>
                <a:spcPct val="120000"/>
              </a:lnSpc>
              <a:spcBef>
                <a:spcPct val="0"/>
              </a:spcBef>
              <a:spcAft>
                <a:spcPct val="0"/>
              </a:spcAft>
              <a:buClr>
                <a:srgbClr val="C00000"/>
              </a:buClr>
              <a:buSzPct val="120000"/>
              <a:buFontTx/>
              <a:buChar char="•"/>
            </a:pPr>
            <a:r>
              <a:rPr kumimoji="1" lang="zh-CN" altLang="en-US" sz="2400" b="1" dirty="0">
                <a:solidFill>
                  <a:srgbClr val="000066"/>
                </a:solidFill>
                <a:latin typeface="幼圆" pitchFamily="49" charset="-122"/>
                <a:ea typeface="幼圆" pitchFamily="49" charset="-122"/>
              </a:rPr>
              <a:t> 判别标准</a:t>
            </a:r>
          </a:p>
        </p:txBody>
      </p:sp>
      <p:sp>
        <p:nvSpPr>
          <p:cNvPr id="15370" name="Text Box 12"/>
          <p:cNvSpPr txBox="1">
            <a:spLocks noChangeArrowheads="1"/>
          </p:cNvSpPr>
          <p:nvPr/>
        </p:nvSpPr>
        <p:spPr bwMode="auto">
          <a:xfrm>
            <a:off x="3798888" y="5829300"/>
            <a:ext cx="21161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a:solidFill>
                  <a:srgbClr val="000066"/>
                </a:solidFill>
                <a:latin typeface="Arial" charset="0"/>
                <a:ea typeface="黑体" pitchFamily="2" charset="-122"/>
              </a:rPr>
              <a:t>小       结</a:t>
            </a:r>
          </a:p>
        </p:txBody>
      </p:sp>
      <p:sp>
        <p:nvSpPr>
          <p:cNvPr id="11" name="Text Box 7"/>
          <p:cNvSpPr txBox="1">
            <a:spLocks noChangeArrowheads="1"/>
          </p:cNvSpPr>
          <p:nvPr/>
        </p:nvSpPr>
        <p:spPr bwMode="auto">
          <a:xfrm>
            <a:off x="0" y="0"/>
            <a:ext cx="4546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物理状态指标</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419268"/>
                                        </p:tgtEl>
                                        <p:attrNameLst>
                                          <p:attrName>style.visibility</p:attrName>
                                        </p:attrNameLst>
                                      </p:cBhvr>
                                      <p:to>
                                        <p:strVal val="visible"/>
                                      </p:to>
                                    </p:set>
                                    <p:anim calcmode="lin" valueType="num">
                                      <p:cBhvr additive="base">
                                        <p:cTn id="7" dur="1000" fill="hold"/>
                                        <p:tgtEl>
                                          <p:spTgt spid="1419268"/>
                                        </p:tgtEl>
                                        <p:attrNameLst>
                                          <p:attrName>ppt_x</p:attrName>
                                        </p:attrNameLst>
                                      </p:cBhvr>
                                      <p:tavLst>
                                        <p:tav tm="0">
                                          <p:val>
                                            <p:strVal val="0-#ppt_w/2"/>
                                          </p:val>
                                        </p:tav>
                                        <p:tav tm="100000">
                                          <p:val>
                                            <p:strVal val="#ppt_x"/>
                                          </p:val>
                                        </p:tav>
                                      </p:tavLst>
                                    </p:anim>
                                    <p:anim calcmode="lin" valueType="num">
                                      <p:cBhvr additive="base">
                                        <p:cTn id="8" dur="1000" fill="hold"/>
                                        <p:tgtEl>
                                          <p:spTgt spid="141926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42" presetClass="entr" presetSubtype="0" fill="hold" grpId="0" nodeType="afterEffect">
                                  <p:stCondLst>
                                    <p:cond delay="0"/>
                                  </p:stCondLst>
                                  <p:childTnLst>
                                    <p:set>
                                      <p:cBhvr>
                                        <p:cTn id="11" dur="1" fill="hold">
                                          <p:stCondLst>
                                            <p:cond delay="0"/>
                                          </p:stCondLst>
                                        </p:cTn>
                                        <p:tgtEl>
                                          <p:spTgt spid="1419270"/>
                                        </p:tgtEl>
                                        <p:attrNameLst>
                                          <p:attrName>style.visibility</p:attrName>
                                        </p:attrNameLst>
                                      </p:cBhvr>
                                      <p:to>
                                        <p:strVal val="visible"/>
                                      </p:to>
                                    </p:set>
                                    <p:animEffect transition="in" filter="fade">
                                      <p:cBhvr>
                                        <p:cTn id="12" dur="1000"/>
                                        <p:tgtEl>
                                          <p:spTgt spid="1419270"/>
                                        </p:tgtEl>
                                      </p:cBhvr>
                                    </p:animEffect>
                                    <p:anim calcmode="lin" valueType="num">
                                      <p:cBhvr>
                                        <p:cTn id="13" dur="1000" fill="hold"/>
                                        <p:tgtEl>
                                          <p:spTgt spid="1419270"/>
                                        </p:tgtEl>
                                        <p:attrNameLst>
                                          <p:attrName>ppt_x</p:attrName>
                                        </p:attrNameLst>
                                      </p:cBhvr>
                                      <p:tavLst>
                                        <p:tav tm="0">
                                          <p:val>
                                            <p:strVal val="#ppt_x"/>
                                          </p:val>
                                        </p:tav>
                                        <p:tav tm="100000">
                                          <p:val>
                                            <p:strVal val="#ppt_x"/>
                                          </p:val>
                                        </p:tav>
                                      </p:tavLst>
                                    </p:anim>
                                    <p:anim calcmode="lin" valueType="num">
                                      <p:cBhvr>
                                        <p:cTn id="14" dur="1000" fill="hold"/>
                                        <p:tgtEl>
                                          <p:spTgt spid="1419270"/>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2000"/>
                            </p:stCondLst>
                            <p:childTnLst>
                              <p:par>
                                <p:cTn id="16" presetID="3" presetClass="entr" presetSubtype="10" fill="hold" nodeType="afterEffect">
                                  <p:stCondLst>
                                    <p:cond delay="0"/>
                                  </p:stCondLst>
                                  <p:childTnLst>
                                    <p:set>
                                      <p:cBhvr>
                                        <p:cTn id="17" dur="1" fill="hold">
                                          <p:stCondLst>
                                            <p:cond delay="0"/>
                                          </p:stCondLst>
                                        </p:cTn>
                                        <p:tgtEl>
                                          <p:spTgt spid="1419272"/>
                                        </p:tgtEl>
                                        <p:attrNameLst>
                                          <p:attrName>style.visibility</p:attrName>
                                        </p:attrNameLst>
                                      </p:cBhvr>
                                      <p:to>
                                        <p:strVal val="visible"/>
                                      </p:to>
                                    </p:set>
                                    <p:animEffect transition="in" filter="blinds(horizontal)">
                                      <p:cBhvr>
                                        <p:cTn id="18" dur="1000"/>
                                        <p:tgtEl>
                                          <p:spTgt spid="141927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419269"/>
                                        </p:tgtEl>
                                        <p:attrNameLst>
                                          <p:attrName>style.visibility</p:attrName>
                                        </p:attrNameLst>
                                      </p:cBhvr>
                                      <p:to>
                                        <p:strVal val="visible"/>
                                      </p:to>
                                    </p:set>
                                    <p:anim calcmode="lin" valueType="num">
                                      <p:cBhvr additive="base">
                                        <p:cTn id="23" dur="1000" fill="hold"/>
                                        <p:tgtEl>
                                          <p:spTgt spid="1419269"/>
                                        </p:tgtEl>
                                        <p:attrNameLst>
                                          <p:attrName>ppt_x</p:attrName>
                                        </p:attrNameLst>
                                      </p:cBhvr>
                                      <p:tavLst>
                                        <p:tav tm="0">
                                          <p:val>
                                            <p:strVal val="0-#ppt_w/2"/>
                                          </p:val>
                                        </p:tav>
                                        <p:tav tm="100000">
                                          <p:val>
                                            <p:strVal val="#ppt_x"/>
                                          </p:val>
                                        </p:tav>
                                      </p:tavLst>
                                    </p:anim>
                                    <p:anim calcmode="lin" valueType="num">
                                      <p:cBhvr additive="base">
                                        <p:cTn id="24" dur="1000" fill="hold"/>
                                        <p:tgtEl>
                                          <p:spTgt spid="1419269"/>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1000"/>
                            </p:stCondLst>
                            <p:childTnLst>
                              <p:par>
                                <p:cTn id="26" presetID="47" presetClass="entr" presetSubtype="0" fill="hold" grpId="0" nodeType="afterEffect">
                                  <p:stCondLst>
                                    <p:cond delay="0"/>
                                  </p:stCondLst>
                                  <p:childTnLst>
                                    <p:set>
                                      <p:cBhvr>
                                        <p:cTn id="27" dur="1" fill="hold">
                                          <p:stCondLst>
                                            <p:cond delay="0"/>
                                          </p:stCondLst>
                                        </p:cTn>
                                        <p:tgtEl>
                                          <p:spTgt spid="1419273"/>
                                        </p:tgtEl>
                                        <p:attrNameLst>
                                          <p:attrName>style.visibility</p:attrName>
                                        </p:attrNameLst>
                                      </p:cBhvr>
                                      <p:to>
                                        <p:strVal val="visible"/>
                                      </p:to>
                                    </p:set>
                                    <p:animEffect transition="in" filter="fade">
                                      <p:cBhvr>
                                        <p:cTn id="28" dur="1000"/>
                                        <p:tgtEl>
                                          <p:spTgt spid="1419273"/>
                                        </p:tgtEl>
                                      </p:cBhvr>
                                    </p:animEffect>
                                    <p:anim calcmode="lin" valueType="num">
                                      <p:cBhvr>
                                        <p:cTn id="29" dur="1000" fill="hold"/>
                                        <p:tgtEl>
                                          <p:spTgt spid="1419273"/>
                                        </p:tgtEl>
                                        <p:attrNameLst>
                                          <p:attrName>ppt_x</p:attrName>
                                        </p:attrNameLst>
                                      </p:cBhvr>
                                      <p:tavLst>
                                        <p:tav tm="0">
                                          <p:val>
                                            <p:strVal val="#ppt_x"/>
                                          </p:val>
                                        </p:tav>
                                        <p:tav tm="100000">
                                          <p:val>
                                            <p:strVal val="#ppt_x"/>
                                          </p:val>
                                        </p:tav>
                                      </p:tavLst>
                                    </p:anim>
                                    <p:anim calcmode="lin" valueType="num">
                                      <p:cBhvr>
                                        <p:cTn id="30" dur="1000" fill="hold"/>
                                        <p:tgtEl>
                                          <p:spTgt spid="1419273"/>
                                        </p:tgtEl>
                                        <p:attrNameLst>
                                          <p:attrName>ppt_y</p:attrName>
                                        </p:attrNameLst>
                                      </p:cBhvr>
                                      <p:tavLst>
                                        <p:tav tm="0">
                                          <p:val>
                                            <p:strVal val="#ppt_y-.1"/>
                                          </p:val>
                                        </p:tav>
                                        <p:tav tm="100000">
                                          <p:val>
                                            <p:strVal val="#ppt_y"/>
                                          </p:val>
                                        </p:tav>
                                      </p:tavLst>
                                    </p:anim>
                                  </p:childTnLst>
                                </p:cTn>
                              </p:par>
                            </p:childTnLst>
                          </p:cTn>
                        </p:par>
                        <p:par>
                          <p:cTn id="31" fill="hold" nodeType="afterGroup">
                            <p:stCondLst>
                              <p:cond delay="2000"/>
                            </p:stCondLst>
                            <p:childTnLst>
                              <p:par>
                                <p:cTn id="32" presetID="3" presetClass="entr" presetSubtype="10" fill="hold" nodeType="afterEffect">
                                  <p:stCondLst>
                                    <p:cond delay="0"/>
                                  </p:stCondLst>
                                  <p:childTnLst>
                                    <p:set>
                                      <p:cBhvr>
                                        <p:cTn id="33" dur="1" fill="hold">
                                          <p:stCondLst>
                                            <p:cond delay="0"/>
                                          </p:stCondLst>
                                        </p:cTn>
                                        <p:tgtEl>
                                          <p:spTgt spid="1419267"/>
                                        </p:tgtEl>
                                        <p:attrNameLst>
                                          <p:attrName>style.visibility</p:attrName>
                                        </p:attrNameLst>
                                      </p:cBhvr>
                                      <p:to>
                                        <p:strVal val="visible"/>
                                      </p:to>
                                    </p:set>
                                    <p:animEffect transition="in" filter="blinds(horizontal)">
                                      <p:cBhvr>
                                        <p:cTn id="34" dur="1000"/>
                                        <p:tgtEl>
                                          <p:spTgt spid="1419267"/>
                                        </p:tgtEl>
                                      </p:cBhvr>
                                    </p:animEffect>
                                  </p:childTnLst>
                                </p:cTn>
                              </p:par>
                            </p:childTnLst>
                          </p:cTn>
                        </p:par>
                        <p:par>
                          <p:cTn id="35" fill="hold" nodeType="withGroup">
                            <p:stCondLst>
                              <p:cond delay="3000"/>
                            </p:stCondLst>
                            <p:childTnLst>
                              <p:par>
                                <p:cTn id="36" presetID="5" presetClass="entr" presetSubtype="10" fill="hold" grpId="0" nodeType="afterEffect">
                                  <p:stCondLst>
                                    <p:cond delay="0"/>
                                  </p:stCondLst>
                                  <p:childTnLst>
                                    <p:set>
                                      <p:cBhvr>
                                        <p:cTn id="37" dur="1" fill="hold">
                                          <p:stCondLst>
                                            <p:cond delay="0"/>
                                          </p:stCondLst>
                                        </p:cTn>
                                        <p:tgtEl>
                                          <p:spTgt spid="1419271"/>
                                        </p:tgtEl>
                                        <p:attrNameLst>
                                          <p:attrName>style.visibility</p:attrName>
                                        </p:attrNameLst>
                                      </p:cBhvr>
                                      <p:to>
                                        <p:strVal val="visible"/>
                                      </p:to>
                                    </p:set>
                                    <p:animEffect transition="in" filter="checkerboard(across)">
                                      <p:cBhvr>
                                        <p:cTn id="38" dur="1000"/>
                                        <p:tgtEl>
                                          <p:spTgt spid="1419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9268" grpId="0"/>
      <p:bldP spid="1419269" grpId="0"/>
      <p:bldP spid="1419270" grpId="0"/>
      <p:bldP spid="1419271" grpId="0"/>
      <p:bldP spid="141927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8019" y="3764000"/>
            <a:ext cx="3455581" cy="53162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50" name="Text Box 24"/>
          <p:cNvSpPr txBox="1">
            <a:spLocks noChangeArrowheads="1"/>
          </p:cNvSpPr>
          <p:nvPr/>
        </p:nvSpPr>
        <p:spPr bwMode="auto">
          <a:xfrm>
            <a:off x="1163638" y="968375"/>
            <a:ext cx="715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a:solidFill>
                  <a:srgbClr val="000066"/>
                </a:solidFill>
                <a:latin typeface="黑体" pitchFamily="2" charset="-122"/>
                <a:ea typeface="黑体" pitchFamily="2" charset="-122"/>
              </a:rPr>
              <a:t>第一章：土的物理性质与工程分类</a:t>
            </a:r>
            <a:endParaRPr lang="en-US" altLang="zh-CN" sz="3600" b="1">
              <a:solidFill>
                <a:srgbClr val="000066"/>
              </a:solidFill>
              <a:latin typeface="黑体" pitchFamily="2" charset="-122"/>
              <a:ea typeface="黑体" pitchFamily="2" charset="-122"/>
            </a:endParaRPr>
          </a:p>
        </p:txBody>
      </p:sp>
      <p:sp>
        <p:nvSpPr>
          <p:cNvPr id="1344537" name="Text Box 25"/>
          <p:cNvSpPr txBox="1">
            <a:spLocks noChangeArrowheads="1"/>
          </p:cNvSpPr>
          <p:nvPr/>
        </p:nvSpPr>
        <p:spPr bwMode="auto">
          <a:xfrm>
            <a:off x="2413000" y="1892300"/>
            <a:ext cx="451961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§1.1  </a:t>
            </a:r>
            <a:r>
              <a:rPr kumimoji="1" lang="zh-CN" altLang="en-US" sz="3200" b="1" dirty="0">
                <a:solidFill>
                  <a:srgbClr val="000066"/>
                </a:solidFill>
                <a:latin typeface="黑体" panose="02010609060101010101" pitchFamily="49" charset="-122"/>
                <a:ea typeface="黑体" panose="02010609060101010101" pitchFamily="49" charset="-122"/>
              </a:rPr>
              <a:t>土的</a:t>
            </a:r>
            <a:r>
              <a:rPr kumimoji="1" lang="zh-CN" altLang="en-US" sz="3200" b="1" dirty="0" smtClean="0">
                <a:solidFill>
                  <a:srgbClr val="000066"/>
                </a:solidFill>
                <a:latin typeface="黑体" panose="02010609060101010101" pitchFamily="49" charset="-122"/>
                <a:ea typeface="黑体" panose="02010609060101010101" pitchFamily="49" charset="-122"/>
              </a:rPr>
              <a:t>形成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§1.2  </a:t>
            </a:r>
            <a:r>
              <a:rPr kumimoji="1" lang="zh-CN" altLang="en-US" sz="3200" b="1" dirty="0">
                <a:solidFill>
                  <a:srgbClr val="000066"/>
                </a:solidFill>
                <a:latin typeface="黑体" panose="02010609060101010101" pitchFamily="49" charset="-122"/>
                <a:ea typeface="黑体" panose="02010609060101010101" pitchFamily="49" charset="-122"/>
              </a:rPr>
              <a:t>土的三相</a:t>
            </a:r>
            <a:r>
              <a:rPr kumimoji="1" lang="zh-CN" altLang="en-US" sz="3200" b="1" dirty="0" smtClean="0">
                <a:solidFill>
                  <a:srgbClr val="000066"/>
                </a:solidFill>
                <a:latin typeface="黑体" panose="02010609060101010101" pitchFamily="49" charset="-122"/>
                <a:ea typeface="黑体" panose="02010609060101010101" pitchFamily="49" charset="-122"/>
              </a:rPr>
              <a:t>组成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§1.3  </a:t>
            </a:r>
            <a:r>
              <a:rPr kumimoji="1" lang="zh-CN" altLang="en-US" sz="3200" b="1" dirty="0">
                <a:solidFill>
                  <a:srgbClr val="000066"/>
                </a:solidFill>
                <a:latin typeface="黑体" panose="02010609060101010101" pitchFamily="49" charset="-122"/>
                <a:ea typeface="黑体" panose="02010609060101010101" pitchFamily="49" charset="-122"/>
              </a:rPr>
              <a:t>土的物理</a:t>
            </a:r>
            <a:r>
              <a:rPr kumimoji="1" lang="zh-CN" altLang="en-US" sz="3200" b="1" dirty="0" smtClean="0">
                <a:solidFill>
                  <a:srgbClr val="000066"/>
                </a:solidFill>
                <a:latin typeface="黑体" panose="02010609060101010101" pitchFamily="49" charset="-122"/>
                <a:ea typeface="黑体" panose="02010609060101010101" pitchFamily="49" charset="-122"/>
              </a:rPr>
              <a:t>状态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§1.4  </a:t>
            </a:r>
            <a:r>
              <a:rPr kumimoji="1" lang="zh-CN" altLang="en-US" sz="3200" b="1" dirty="0">
                <a:solidFill>
                  <a:srgbClr val="000066"/>
                </a:solidFill>
                <a:latin typeface="黑体" panose="02010609060101010101" pitchFamily="49" charset="-122"/>
                <a:ea typeface="黑体" panose="02010609060101010101" pitchFamily="49" charset="-122"/>
              </a:rPr>
              <a:t>土的结构</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§1.5  </a:t>
            </a:r>
            <a:r>
              <a:rPr kumimoji="1" lang="zh-CN" altLang="en-US" sz="3200" b="1" dirty="0">
                <a:solidFill>
                  <a:srgbClr val="000066"/>
                </a:solidFill>
                <a:latin typeface="黑体" panose="02010609060101010101" pitchFamily="49" charset="-122"/>
                <a:ea typeface="黑体" panose="02010609060101010101" pitchFamily="49" charset="-122"/>
              </a:rPr>
              <a:t>土的工程分类</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§1.6  </a:t>
            </a:r>
            <a:r>
              <a:rPr kumimoji="1" lang="zh-CN" altLang="en-US" sz="3200" b="1" dirty="0">
                <a:solidFill>
                  <a:srgbClr val="000066"/>
                </a:solidFill>
                <a:latin typeface="黑体" panose="02010609060101010101" pitchFamily="49" charset="-122"/>
                <a:ea typeface="黑体" panose="02010609060101010101" pitchFamily="49" charset="-122"/>
              </a:rPr>
              <a:t>土的压实性 </a:t>
            </a:r>
          </a:p>
        </p:txBody>
      </p:sp>
    </p:spTree>
    <p:extLst>
      <p:ext uri="{BB962C8B-B14F-4D97-AF65-F5344CB8AC3E}">
        <p14:creationId xmlns:p14="http://schemas.microsoft.com/office/powerpoint/2010/main" val="8114838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Text Box 3"/>
          <p:cNvSpPr txBox="1">
            <a:spLocks noChangeArrowheads="1"/>
          </p:cNvSpPr>
          <p:nvPr/>
        </p:nvSpPr>
        <p:spPr bwMode="auto">
          <a:xfrm>
            <a:off x="3248025" y="5781675"/>
            <a:ext cx="37369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a:solidFill>
                  <a:srgbClr val="000066"/>
                </a:solidFill>
                <a:latin typeface="黑体" pitchFamily="2" charset="-122"/>
                <a:ea typeface="黑体" pitchFamily="2" charset="-122"/>
              </a:rPr>
              <a:t>土 的 结 构</a:t>
            </a:r>
            <a:endParaRPr kumimoji="1" lang="en-US" altLang="zh-CN" sz="4000" b="1">
              <a:solidFill>
                <a:srgbClr val="000066"/>
              </a:solidFill>
              <a:latin typeface="黑体" pitchFamily="2" charset="-122"/>
              <a:ea typeface="黑体" pitchFamily="2" charset="-122"/>
            </a:endParaRPr>
          </a:p>
        </p:txBody>
      </p:sp>
      <p:sp>
        <p:nvSpPr>
          <p:cNvPr id="74769" name="Text Box 6"/>
          <p:cNvSpPr txBox="1">
            <a:spLocks noChangeArrowheads="1"/>
          </p:cNvSpPr>
          <p:nvPr/>
        </p:nvSpPr>
        <p:spPr bwMode="auto">
          <a:xfrm>
            <a:off x="546930" y="875895"/>
            <a:ext cx="5715647"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274638" indent="-182563"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606425" indent="-514350" eaLnBrk="1" hangingPunct="1">
              <a:buClr>
                <a:srgbClr val="A50021"/>
              </a:buClr>
              <a:buSzPct val="100000"/>
              <a:buFont typeface="+mj-lt"/>
              <a:buAutoNum type="arabicPeriod"/>
            </a:pPr>
            <a:r>
              <a:rPr kumimoji="1" lang="zh-CN" altLang="en-US" sz="3200" b="1" dirty="0" smtClean="0">
                <a:solidFill>
                  <a:srgbClr val="000066"/>
                </a:solidFill>
                <a:ea typeface="幼圆" pitchFamily="49" charset="-122"/>
              </a:rPr>
              <a:t>原状土样和</a:t>
            </a:r>
            <a:r>
              <a:rPr kumimoji="1" lang="zh-CN" altLang="en-US" sz="3200" b="1" dirty="0">
                <a:solidFill>
                  <a:srgbClr val="000066"/>
                </a:solidFill>
                <a:latin typeface="Arial" charset="0"/>
                <a:ea typeface="幼圆" pitchFamily="49" charset="-122"/>
              </a:rPr>
              <a:t>重塑</a:t>
            </a:r>
            <a:r>
              <a:rPr kumimoji="1" lang="zh-CN" altLang="en-US" sz="3200" b="1" dirty="0" smtClean="0">
                <a:solidFill>
                  <a:srgbClr val="000066"/>
                </a:solidFill>
                <a:latin typeface="Arial" charset="0"/>
                <a:ea typeface="幼圆" pitchFamily="49" charset="-122"/>
              </a:rPr>
              <a:t>土样的强度</a:t>
            </a:r>
            <a:endParaRPr kumimoji="1" lang="zh-CN" altLang="en-US" sz="3200" b="1" dirty="0">
              <a:solidFill>
                <a:srgbClr val="000066"/>
              </a:solidFill>
              <a:latin typeface="Arial" charset="0"/>
              <a:ea typeface="幼圆" pitchFamily="49" charset="-122"/>
            </a:endParaRPr>
          </a:p>
        </p:txBody>
      </p:sp>
      <p:sp>
        <p:nvSpPr>
          <p:cNvPr id="19"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20" name="Text Box 16"/>
          <p:cNvSpPr txBox="1">
            <a:spLocks noChangeArrowheads="1"/>
          </p:cNvSpPr>
          <p:nvPr/>
        </p:nvSpPr>
        <p:spPr bwMode="auto">
          <a:xfrm>
            <a:off x="1041992" y="1657572"/>
            <a:ext cx="4486938"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5113" indent="-265113" eaLnBrk="1" hangingPunct="1">
              <a:lnSpc>
                <a:spcPct val="120000"/>
              </a:lnSpc>
              <a:spcBef>
                <a:spcPct val="0"/>
              </a:spcBef>
              <a:spcAft>
                <a:spcPct val="0"/>
              </a:spcAft>
              <a:buClr>
                <a:srgbClr val="A50021"/>
              </a:buClr>
              <a:buSzPct val="120000"/>
              <a:buFontTx/>
              <a:buChar char="•"/>
            </a:pPr>
            <a:r>
              <a:rPr kumimoji="1" lang="zh-CN" altLang="en-US" sz="2200" b="1" dirty="0" smtClean="0">
                <a:solidFill>
                  <a:srgbClr val="000066"/>
                </a:solidFill>
                <a:ea typeface="幼圆" pitchFamily="49" charset="-122"/>
              </a:rPr>
              <a:t>原状土样指从</a:t>
            </a:r>
            <a:r>
              <a:rPr kumimoji="1" lang="zh-CN" altLang="en-US" sz="2200" b="1" dirty="0">
                <a:solidFill>
                  <a:srgbClr val="000066"/>
                </a:solidFill>
                <a:ea typeface="幼圆" pitchFamily="49" charset="-122"/>
              </a:rPr>
              <a:t>天然地层中直接取出的土样</a:t>
            </a:r>
            <a:r>
              <a:rPr kumimoji="1" lang="zh-CN" altLang="en-US" sz="2200" b="1" dirty="0" smtClean="0">
                <a:solidFill>
                  <a:srgbClr val="000066"/>
                </a:solidFill>
                <a:ea typeface="幼圆" pitchFamily="49" charset="-122"/>
              </a:rPr>
              <a:t>，保持了在</a:t>
            </a:r>
            <a:r>
              <a:rPr kumimoji="1" lang="zh-CN" altLang="en-US" sz="2200" b="1" dirty="0">
                <a:solidFill>
                  <a:srgbClr val="000066"/>
                </a:solidFill>
                <a:ea typeface="幼圆" pitchFamily="49" charset="-122"/>
              </a:rPr>
              <a:t>土层中的天然</a:t>
            </a:r>
            <a:r>
              <a:rPr kumimoji="1" lang="zh-CN" altLang="en-US" sz="2200" b="1" dirty="0" smtClean="0">
                <a:solidFill>
                  <a:srgbClr val="000066"/>
                </a:solidFill>
                <a:ea typeface="幼圆" pitchFamily="49" charset="-122"/>
              </a:rPr>
              <a:t>状态</a:t>
            </a:r>
            <a:endParaRPr kumimoji="1" lang="en-US" altLang="zh-CN" sz="2200" b="1" dirty="0" smtClean="0">
              <a:solidFill>
                <a:srgbClr val="000066"/>
              </a:solidFill>
              <a:ea typeface="幼圆" pitchFamily="49" charset="-122"/>
            </a:endParaRPr>
          </a:p>
          <a:p>
            <a:pPr marL="265113" indent="-265113" eaLnBrk="1" hangingPunct="1">
              <a:lnSpc>
                <a:spcPct val="120000"/>
              </a:lnSpc>
              <a:spcBef>
                <a:spcPct val="0"/>
              </a:spcBef>
              <a:spcAft>
                <a:spcPct val="0"/>
              </a:spcAft>
              <a:buClr>
                <a:srgbClr val="A50021"/>
              </a:buClr>
              <a:buSzPct val="120000"/>
              <a:buFontTx/>
              <a:buChar char="•"/>
            </a:pPr>
            <a:r>
              <a:rPr kumimoji="1" lang="zh-CN" altLang="en-US" sz="2200" b="1" dirty="0">
                <a:solidFill>
                  <a:srgbClr val="000066"/>
                </a:solidFill>
                <a:ea typeface="幼圆" pitchFamily="49" charset="-122"/>
              </a:rPr>
              <a:t>重塑土样</a:t>
            </a:r>
            <a:r>
              <a:rPr kumimoji="1" lang="zh-CN" altLang="en-US" sz="2200" b="1" dirty="0" smtClean="0">
                <a:solidFill>
                  <a:srgbClr val="000066"/>
                </a:solidFill>
                <a:ea typeface="幼圆" pitchFamily="49" charset="-122"/>
              </a:rPr>
              <a:t>是把</a:t>
            </a:r>
            <a:r>
              <a:rPr kumimoji="1" lang="zh-CN" altLang="en-US" sz="2200" b="1" dirty="0">
                <a:solidFill>
                  <a:srgbClr val="000066"/>
                </a:solidFill>
                <a:ea typeface="幼圆" pitchFamily="49" charset="-122"/>
              </a:rPr>
              <a:t>土体完全</a:t>
            </a:r>
            <a:r>
              <a:rPr kumimoji="1" lang="zh-CN" altLang="en-US" sz="2200" b="1" dirty="0" smtClean="0">
                <a:solidFill>
                  <a:srgbClr val="000066"/>
                </a:solidFill>
                <a:ea typeface="幼圆" pitchFamily="49" charset="-122"/>
              </a:rPr>
              <a:t>破碎后，在实验室重新</a:t>
            </a:r>
            <a:r>
              <a:rPr kumimoji="1" lang="zh-CN" altLang="en-US" sz="2200" b="1" dirty="0">
                <a:solidFill>
                  <a:srgbClr val="000066"/>
                </a:solidFill>
                <a:ea typeface="幼圆" pitchFamily="49" charset="-122"/>
              </a:rPr>
              <a:t>制备的</a:t>
            </a:r>
            <a:r>
              <a:rPr kumimoji="1" lang="zh-CN" altLang="en-US" sz="2200" b="1" dirty="0" smtClean="0">
                <a:solidFill>
                  <a:srgbClr val="000066"/>
                </a:solidFill>
                <a:ea typeface="幼圆" pitchFamily="49" charset="-122"/>
              </a:rPr>
              <a:t>土样</a:t>
            </a:r>
            <a:endParaRPr kumimoji="1" lang="en-US" altLang="zh-CN" sz="2200" b="1" dirty="0" smtClean="0">
              <a:solidFill>
                <a:srgbClr val="000066"/>
              </a:solidFill>
              <a:ea typeface="幼圆" pitchFamily="49" charset="-122"/>
            </a:endParaRPr>
          </a:p>
        </p:txBody>
      </p:sp>
      <p:pic>
        <p:nvPicPr>
          <p:cNvPr id="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0015" y="1521272"/>
            <a:ext cx="2768562" cy="3521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AutoShape 6"/>
          <p:cNvSpPr>
            <a:spLocks noChangeArrowheads="1"/>
          </p:cNvSpPr>
          <p:nvPr/>
        </p:nvSpPr>
        <p:spPr bwMode="auto">
          <a:xfrm>
            <a:off x="6349676" y="5057148"/>
            <a:ext cx="2139697" cy="78319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a:spAutoFit/>
          </a:bodyPr>
          <a:lstStyle/>
          <a:p>
            <a:pPr>
              <a:lnSpc>
                <a:spcPct val="100000"/>
              </a:lnSpc>
              <a:spcBef>
                <a:spcPct val="0"/>
              </a:spcBef>
              <a:spcAft>
                <a:spcPct val="0"/>
              </a:spcAft>
            </a:pPr>
            <a:r>
              <a:rPr kumimoji="1" lang="zh-CN" altLang="en-US" sz="2000" b="1" dirty="0" smtClean="0">
                <a:solidFill>
                  <a:srgbClr val="C00000"/>
                </a:solidFill>
                <a:latin typeface="黑体" panose="02010609060101010101" pitchFamily="49" charset="-122"/>
                <a:ea typeface="黑体" panose="02010609060101010101" pitchFamily="49" charset="-122"/>
              </a:rPr>
              <a:t>一种原状土和它的重塑土的强度</a:t>
            </a:r>
            <a:endParaRPr kumimoji="1" lang="zh-CN" altLang="en-US" sz="2000" b="1" dirty="0">
              <a:solidFill>
                <a:srgbClr val="C00000"/>
              </a:solidFill>
              <a:latin typeface="黑体" panose="02010609060101010101" pitchFamily="49" charset="-122"/>
              <a:ea typeface="黑体" panose="02010609060101010101" pitchFamily="49" charset="-122"/>
            </a:endParaRPr>
          </a:p>
        </p:txBody>
      </p:sp>
      <p:sp>
        <p:nvSpPr>
          <p:cNvPr id="23" name="AutoShape 7"/>
          <p:cNvSpPr>
            <a:spLocks noChangeArrowheads="1"/>
          </p:cNvSpPr>
          <p:nvPr/>
        </p:nvSpPr>
        <p:spPr bwMode="auto">
          <a:xfrm>
            <a:off x="951301" y="3983038"/>
            <a:ext cx="558522" cy="503902"/>
          </a:xfrm>
          <a:prstGeom prst="homePlate">
            <a:avLst>
              <a:gd name="adj" fmla="val 26395"/>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25" name="Text Box 36"/>
          <p:cNvSpPr txBox="1">
            <a:spLocks noChangeArrowheads="1"/>
          </p:cNvSpPr>
          <p:nvPr/>
        </p:nvSpPr>
        <p:spPr bwMode="auto">
          <a:xfrm>
            <a:off x="1638669" y="3951865"/>
            <a:ext cx="412417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zh-CN" altLang="en-US" sz="2400" b="1" dirty="0">
                <a:solidFill>
                  <a:srgbClr val="A50021"/>
                </a:solidFill>
                <a:ea typeface="幼圆" pitchFamily="49" charset="-122"/>
              </a:rPr>
              <a:t>同一种土，原状土样和重塑土样的力学性质通常会有很大的区别</a:t>
            </a:r>
          </a:p>
        </p:txBody>
      </p:sp>
      <p:sp>
        <p:nvSpPr>
          <p:cNvPr id="26" name="Line 37"/>
          <p:cNvSpPr>
            <a:spLocks noChangeShapeType="1"/>
          </p:cNvSpPr>
          <p:nvPr/>
        </p:nvSpPr>
        <p:spPr bwMode="auto">
          <a:xfrm>
            <a:off x="5922852" y="5107025"/>
            <a:ext cx="161925"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9100444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1000" fill="hold"/>
                                        <p:tgtEl>
                                          <p:spTgt spid="20">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grpId="0" nodeType="afterEffect">
                                  <p:stCondLst>
                                    <p:cond delay="0"/>
                                  </p:stCondLst>
                                  <p:childTnLst>
                                    <p:set>
                                      <p:cBhvr>
                                        <p:cTn id="11" dur="1" fill="hold">
                                          <p:stCondLst>
                                            <p:cond delay="0"/>
                                          </p:stCondLst>
                                        </p:cTn>
                                        <p:tgtEl>
                                          <p:spTgt spid="20">
                                            <p:txEl>
                                              <p:pRg st="1" end="1"/>
                                            </p:txEl>
                                          </p:spTgt>
                                        </p:tgtEl>
                                        <p:attrNameLst>
                                          <p:attrName>style.visibility</p:attrName>
                                        </p:attrNameLst>
                                      </p:cBhvr>
                                      <p:to>
                                        <p:strVal val="visible"/>
                                      </p:to>
                                    </p:set>
                                    <p:anim calcmode="lin" valueType="num">
                                      <p:cBhvr additive="base">
                                        <p:cTn id="12" dur="1000" fill="hold"/>
                                        <p:tgtEl>
                                          <p:spTgt spid="20">
                                            <p:txEl>
                                              <p:pRg st="1" end="1"/>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1000"/>
                                        <p:tgtEl>
                                          <p:spTgt spid="23"/>
                                        </p:tgtEl>
                                      </p:cBhvr>
                                    </p:animEffect>
                                  </p:childTnLst>
                                </p:cTn>
                              </p:par>
                            </p:childTnLst>
                          </p:cTn>
                        </p:par>
                        <p:par>
                          <p:cTn id="19" fill="hold">
                            <p:stCondLst>
                              <p:cond delay="1000"/>
                            </p:stCondLst>
                            <p:childTnLst>
                              <p:par>
                                <p:cTn id="20" presetID="31" presetClass="entr" presetSubtype="0" fill="hold" grpId="0" nodeType="after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1000" fill="hold"/>
                                        <p:tgtEl>
                                          <p:spTgt spid="25"/>
                                        </p:tgtEl>
                                        <p:attrNameLst>
                                          <p:attrName>ppt_w</p:attrName>
                                        </p:attrNameLst>
                                      </p:cBhvr>
                                      <p:tavLst>
                                        <p:tav tm="0">
                                          <p:val>
                                            <p:fltVal val="0"/>
                                          </p:val>
                                        </p:tav>
                                        <p:tav tm="100000">
                                          <p:val>
                                            <p:strVal val="#ppt_w"/>
                                          </p:val>
                                        </p:tav>
                                      </p:tavLst>
                                    </p:anim>
                                    <p:anim calcmode="lin" valueType="num">
                                      <p:cBhvr>
                                        <p:cTn id="23" dur="1000" fill="hold"/>
                                        <p:tgtEl>
                                          <p:spTgt spid="25"/>
                                        </p:tgtEl>
                                        <p:attrNameLst>
                                          <p:attrName>ppt_h</p:attrName>
                                        </p:attrNameLst>
                                      </p:cBhvr>
                                      <p:tavLst>
                                        <p:tav tm="0">
                                          <p:val>
                                            <p:fltVal val="0"/>
                                          </p:val>
                                        </p:tav>
                                        <p:tav tm="100000">
                                          <p:val>
                                            <p:strVal val="#ppt_h"/>
                                          </p:val>
                                        </p:tav>
                                      </p:tavLst>
                                    </p:anim>
                                    <p:anim calcmode="lin" valueType="num">
                                      <p:cBhvr>
                                        <p:cTn id="24" dur="1000" fill="hold"/>
                                        <p:tgtEl>
                                          <p:spTgt spid="25"/>
                                        </p:tgtEl>
                                        <p:attrNameLst>
                                          <p:attrName>style.rotation</p:attrName>
                                        </p:attrNameLst>
                                      </p:cBhvr>
                                      <p:tavLst>
                                        <p:tav tm="0">
                                          <p:val>
                                            <p:fltVal val="90"/>
                                          </p:val>
                                        </p:tav>
                                        <p:tav tm="100000">
                                          <p:val>
                                            <p:fltVal val="0"/>
                                          </p:val>
                                        </p:tav>
                                      </p:tavLst>
                                    </p:anim>
                                    <p:animEffect transition="in" filter="fade">
                                      <p:cBhvr>
                                        <p:cTn id="25" dur="1000"/>
                                        <p:tgtEl>
                                          <p:spTgt spid="25"/>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up)">
                                      <p:cBhvr>
                                        <p:cTn id="29" dur="1000"/>
                                        <p:tgtEl>
                                          <p:spTgt spid="21"/>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up)">
                                      <p:cBhvr>
                                        <p:cTn id="32"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uiExpand="1" build="p" advAuto="0"/>
      <p:bldP spid="22" grpId="0"/>
      <p:bldP spid="23" grpId="0" animBg="1"/>
      <p:bldP spid="2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Text Box 3"/>
          <p:cNvSpPr txBox="1">
            <a:spLocks noChangeArrowheads="1"/>
          </p:cNvSpPr>
          <p:nvPr/>
        </p:nvSpPr>
        <p:spPr bwMode="auto">
          <a:xfrm>
            <a:off x="3248025" y="5781675"/>
            <a:ext cx="37369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a:solidFill>
                  <a:srgbClr val="000066"/>
                </a:solidFill>
                <a:latin typeface="黑体" pitchFamily="2" charset="-122"/>
                <a:ea typeface="黑体" pitchFamily="2" charset="-122"/>
              </a:rPr>
              <a:t>土 的 结 构</a:t>
            </a:r>
            <a:endParaRPr kumimoji="1" lang="en-US" altLang="zh-CN" sz="4000" b="1">
              <a:solidFill>
                <a:srgbClr val="000066"/>
              </a:solidFill>
              <a:latin typeface="黑体" pitchFamily="2" charset="-122"/>
              <a:ea typeface="黑体" pitchFamily="2" charset="-122"/>
            </a:endParaRPr>
          </a:p>
        </p:txBody>
      </p:sp>
      <p:sp>
        <p:nvSpPr>
          <p:cNvPr id="74769" name="Text Box 6"/>
          <p:cNvSpPr txBox="1">
            <a:spLocks noChangeArrowheads="1"/>
          </p:cNvSpPr>
          <p:nvPr/>
        </p:nvSpPr>
        <p:spPr bwMode="auto">
          <a:xfrm>
            <a:off x="546930" y="875895"/>
            <a:ext cx="6342968" cy="515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274638" indent="-182563"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606425" indent="-514350" eaLnBrk="1" hangingPunct="1">
              <a:buClr>
                <a:srgbClr val="A50021"/>
              </a:buClr>
              <a:buSzPct val="100000"/>
              <a:buFont typeface="+mj-lt"/>
              <a:buAutoNum type="arabicPeriod" startAt="2"/>
            </a:pPr>
            <a:r>
              <a:rPr kumimoji="1" lang="zh-CN" altLang="en-US" sz="3200" b="1" dirty="0" smtClean="0">
                <a:solidFill>
                  <a:srgbClr val="000066"/>
                </a:solidFill>
                <a:ea typeface="幼圆" pitchFamily="49" charset="-122"/>
                <a:cs typeface="Times New Roman" panose="02020603050405020304" pitchFamily="18" charset="0"/>
              </a:rPr>
              <a:t>沉积土层或</a:t>
            </a:r>
            <a:r>
              <a:rPr kumimoji="1" lang="zh-CN" altLang="en-US" sz="3200" b="1" dirty="0">
                <a:solidFill>
                  <a:srgbClr val="000066"/>
                </a:solidFill>
                <a:ea typeface="幼圆" pitchFamily="49" charset="-122"/>
                <a:cs typeface="Times New Roman" panose="02020603050405020304" pitchFamily="18" charset="0"/>
              </a:rPr>
              <a:t>碾压</a:t>
            </a:r>
            <a:r>
              <a:rPr kumimoji="1" lang="zh-CN" altLang="en-US" sz="3200" b="1" dirty="0" smtClean="0">
                <a:solidFill>
                  <a:srgbClr val="000066"/>
                </a:solidFill>
                <a:ea typeface="幼圆" pitchFamily="49" charset="-122"/>
                <a:cs typeface="Times New Roman" panose="02020603050405020304" pitchFamily="18" charset="0"/>
              </a:rPr>
              <a:t>土层的各向异性</a:t>
            </a:r>
            <a:endParaRPr kumimoji="1" lang="zh-CN" altLang="en-US" sz="3200" b="1" dirty="0">
              <a:solidFill>
                <a:srgbClr val="000066"/>
              </a:solidFill>
              <a:ea typeface="幼圆" pitchFamily="49" charset="-122"/>
              <a:cs typeface="Times New Roman" panose="02020603050405020304" pitchFamily="18" charset="0"/>
            </a:endParaRPr>
          </a:p>
        </p:txBody>
      </p:sp>
      <p:sp>
        <p:nvSpPr>
          <p:cNvPr id="19"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23" name="AutoShape 7"/>
          <p:cNvSpPr>
            <a:spLocks noChangeArrowheads="1"/>
          </p:cNvSpPr>
          <p:nvPr/>
        </p:nvSpPr>
        <p:spPr bwMode="auto">
          <a:xfrm>
            <a:off x="889435" y="4632103"/>
            <a:ext cx="558522" cy="503902"/>
          </a:xfrm>
          <a:prstGeom prst="homePlate">
            <a:avLst>
              <a:gd name="adj" fmla="val 26395"/>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25" name="Text Box 36"/>
          <p:cNvSpPr txBox="1">
            <a:spLocks noChangeArrowheads="1"/>
          </p:cNvSpPr>
          <p:nvPr/>
        </p:nvSpPr>
        <p:spPr bwMode="auto">
          <a:xfrm>
            <a:off x="1693718" y="4536414"/>
            <a:ext cx="698269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zh-CN" altLang="en-US" sz="2400" b="1" dirty="0">
                <a:solidFill>
                  <a:srgbClr val="A50021"/>
                </a:solidFill>
                <a:ea typeface="幼圆" pitchFamily="49" charset="-122"/>
              </a:rPr>
              <a:t>土</a:t>
            </a:r>
            <a:r>
              <a:rPr kumimoji="1" lang="zh-CN" altLang="en-US" sz="2400" b="1" dirty="0" smtClean="0">
                <a:solidFill>
                  <a:srgbClr val="A50021"/>
                </a:solidFill>
                <a:ea typeface="幼圆" pitchFamily="49" charset="-122"/>
              </a:rPr>
              <a:t>体在水平</a:t>
            </a:r>
            <a:r>
              <a:rPr kumimoji="1" lang="zh-CN" altLang="en-US" sz="2400" b="1" dirty="0">
                <a:solidFill>
                  <a:srgbClr val="A50021"/>
                </a:solidFill>
                <a:ea typeface="幼圆" pitchFamily="49" charset="-122"/>
              </a:rPr>
              <a:t>和竖直两个</a:t>
            </a:r>
            <a:r>
              <a:rPr kumimoji="1" lang="zh-CN" altLang="en-US" sz="2400" b="1" dirty="0" smtClean="0">
                <a:solidFill>
                  <a:srgbClr val="A50021"/>
                </a:solidFill>
                <a:ea typeface="幼圆" pitchFamily="49" charset="-122"/>
              </a:rPr>
              <a:t>方向的特性具有显著差异。在水平方向通常其</a:t>
            </a:r>
            <a:r>
              <a:rPr kumimoji="1" lang="zh-CN" altLang="en-US" sz="2400" b="1" dirty="0">
                <a:solidFill>
                  <a:srgbClr val="A50021"/>
                </a:solidFill>
                <a:ea typeface="幼圆" pitchFamily="49" charset="-122"/>
              </a:rPr>
              <a:t>强度较低、更易变形</a:t>
            </a:r>
            <a:r>
              <a:rPr kumimoji="1" lang="zh-CN" altLang="en-US" sz="2400" b="1" dirty="0" smtClean="0">
                <a:solidFill>
                  <a:srgbClr val="A50021"/>
                </a:solidFill>
                <a:ea typeface="幼圆" pitchFamily="49" charset="-122"/>
              </a:rPr>
              <a:t>和更加透水</a:t>
            </a:r>
            <a:endParaRPr kumimoji="1" lang="zh-CN" altLang="en-US" sz="2400" b="1" dirty="0">
              <a:solidFill>
                <a:srgbClr val="A50021"/>
              </a:solidFill>
              <a:ea typeface="幼圆" pitchFamily="49" charset="-122"/>
            </a:endParaRPr>
          </a:p>
        </p:txBody>
      </p:sp>
      <p:sp>
        <p:nvSpPr>
          <p:cNvPr id="26" name="Line 37"/>
          <p:cNvSpPr>
            <a:spLocks noChangeShapeType="1"/>
          </p:cNvSpPr>
          <p:nvPr/>
        </p:nvSpPr>
        <p:spPr bwMode="auto">
          <a:xfrm>
            <a:off x="5922852" y="5107025"/>
            <a:ext cx="161925"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26" name="Picture 2" descr="http://s15.sinaimg.cn/mw690/005B3gCUzy6XYKib10yae&amp;690"/>
          <p:cNvPicPr>
            <a:picLocks noChangeAspect="1" noChangeArrowheads="1"/>
          </p:cNvPicPr>
          <p:nvPr/>
        </p:nvPicPr>
        <p:blipFill rotWithShape="1">
          <a:blip r:embed="rId3">
            <a:extLst>
              <a:ext uri="{28A0092B-C50C-407E-A947-70E740481C1C}">
                <a14:useLocalDpi xmlns:a14="http://schemas.microsoft.com/office/drawing/2010/main" val="0"/>
              </a:ext>
            </a:extLst>
          </a:blip>
          <a:srcRect l="23841" t="25146" r="11447" b="17386"/>
          <a:stretch/>
        </p:blipFill>
        <p:spPr bwMode="auto">
          <a:xfrm>
            <a:off x="1225622" y="1733153"/>
            <a:ext cx="3441034" cy="20372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87561" y="1733107"/>
            <a:ext cx="3512795" cy="2041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AutoShape 6"/>
          <p:cNvSpPr>
            <a:spLocks noChangeArrowheads="1"/>
          </p:cNvSpPr>
          <p:nvPr/>
        </p:nvSpPr>
        <p:spPr bwMode="auto">
          <a:xfrm>
            <a:off x="2224243" y="3983038"/>
            <a:ext cx="5962827" cy="442674"/>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a:spAutoFit/>
          </a:bodyPr>
          <a:lstStyle/>
          <a:p>
            <a:pPr>
              <a:lnSpc>
                <a:spcPct val="100000"/>
              </a:lnSpc>
              <a:spcBef>
                <a:spcPct val="0"/>
              </a:spcBef>
              <a:spcAft>
                <a:spcPct val="0"/>
              </a:spcAft>
            </a:pPr>
            <a:r>
              <a:rPr kumimoji="1" lang="zh-CN" altLang="en-US" sz="2000" b="1" dirty="0" smtClean="0">
                <a:solidFill>
                  <a:srgbClr val="C00000"/>
                </a:solidFill>
                <a:latin typeface="黑体" panose="02010609060101010101" pitchFamily="49" charset="-122"/>
                <a:ea typeface="黑体" panose="02010609060101010101" pitchFamily="49" charset="-122"/>
              </a:rPr>
              <a:t>天然沉积土层               人工碾压土层</a:t>
            </a:r>
            <a:endParaRPr kumimoji="1" lang="zh-CN" altLang="en-US" sz="2000" b="1"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473875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1000"/>
                                        <p:tgtEl>
                                          <p:spTgt spid="2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p:cTn id="11" dur="1000" fill="hold"/>
                                        <p:tgtEl>
                                          <p:spTgt spid="25"/>
                                        </p:tgtEl>
                                        <p:attrNameLst>
                                          <p:attrName>ppt_w</p:attrName>
                                        </p:attrNameLst>
                                      </p:cBhvr>
                                      <p:tavLst>
                                        <p:tav tm="0">
                                          <p:val>
                                            <p:fltVal val="0"/>
                                          </p:val>
                                        </p:tav>
                                        <p:tav tm="100000">
                                          <p:val>
                                            <p:strVal val="#ppt_w"/>
                                          </p:val>
                                        </p:tav>
                                      </p:tavLst>
                                    </p:anim>
                                    <p:anim calcmode="lin" valueType="num">
                                      <p:cBhvr>
                                        <p:cTn id="12" dur="1000" fill="hold"/>
                                        <p:tgtEl>
                                          <p:spTgt spid="25"/>
                                        </p:tgtEl>
                                        <p:attrNameLst>
                                          <p:attrName>ppt_h</p:attrName>
                                        </p:attrNameLst>
                                      </p:cBhvr>
                                      <p:tavLst>
                                        <p:tav tm="0">
                                          <p:val>
                                            <p:fltVal val="0"/>
                                          </p:val>
                                        </p:tav>
                                        <p:tav tm="100000">
                                          <p:val>
                                            <p:strVal val="#ppt_h"/>
                                          </p:val>
                                        </p:tav>
                                      </p:tavLst>
                                    </p:anim>
                                    <p:anim calcmode="lin" valueType="num">
                                      <p:cBhvr>
                                        <p:cTn id="13" dur="1000" fill="hold"/>
                                        <p:tgtEl>
                                          <p:spTgt spid="25"/>
                                        </p:tgtEl>
                                        <p:attrNameLst>
                                          <p:attrName>style.rotation</p:attrName>
                                        </p:attrNameLst>
                                      </p:cBhvr>
                                      <p:tavLst>
                                        <p:tav tm="0">
                                          <p:val>
                                            <p:fltVal val="90"/>
                                          </p:val>
                                        </p:tav>
                                        <p:tav tm="100000">
                                          <p:val>
                                            <p:fltVal val="0"/>
                                          </p:val>
                                        </p:tav>
                                      </p:tavLst>
                                    </p:anim>
                                    <p:animEffect transition="in" filter="fade">
                                      <p:cBhvr>
                                        <p:cTn id="14"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Text Box 3"/>
          <p:cNvSpPr txBox="1">
            <a:spLocks noChangeArrowheads="1"/>
          </p:cNvSpPr>
          <p:nvPr/>
        </p:nvSpPr>
        <p:spPr bwMode="auto">
          <a:xfrm>
            <a:off x="3248025" y="5781675"/>
            <a:ext cx="37369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土 的 结 构</a:t>
            </a:r>
            <a:endParaRPr kumimoji="1" lang="en-US" altLang="zh-CN" sz="4000" b="1" dirty="0">
              <a:solidFill>
                <a:srgbClr val="000066"/>
              </a:solidFill>
              <a:latin typeface="黑体" pitchFamily="2" charset="-122"/>
              <a:ea typeface="黑体" pitchFamily="2" charset="-122"/>
            </a:endParaRPr>
          </a:p>
        </p:txBody>
      </p:sp>
      <p:sp>
        <p:nvSpPr>
          <p:cNvPr id="19"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grpSp>
        <p:nvGrpSpPr>
          <p:cNvPr id="2" name="组合 1"/>
          <p:cNvGrpSpPr/>
          <p:nvPr/>
        </p:nvGrpSpPr>
        <p:grpSpPr>
          <a:xfrm>
            <a:off x="5060370" y="2040337"/>
            <a:ext cx="3069513" cy="2012119"/>
            <a:chOff x="5060370" y="2040337"/>
            <a:chExt cx="3069513" cy="2012119"/>
          </a:xfrm>
        </p:grpSpPr>
        <p:sp>
          <p:nvSpPr>
            <p:cNvPr id="26" name="圆角矩形 25"/>
            <p:cNvSpPr/>
            <p:nvPr/>
          </p:nvSpPr>
          <p:spPr>
            <a:xfrm>
              <a:off x="5060370" y="2040337"/>
              <a:ext cx="3069513" cy="2012119"/>
            </a:xfrm>
            <a:prstGeom prst="roundRect">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767" name="AutoShape 9"/>
            <p:cNvSpPr>
              <a:spLocks noChangeArrowheads="1"/>
            </p:cNvSpPr>
            <p:nvPr/>
          </p:nvSpPr>
          <p:spPr bwMode="auto">
            <a:xfrm>
              <a:off x="5507178" y="2071076"/>
              <a:ext cx="2323269" cy="54483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square" lIns="0" tIns="0" rIns="0" bIns="0">
              <a:spAutoFit/>
            </a:bodyPr>
            <a:lstStyle/>
            <a:p>
              <a:pPr marL="446088" indent="-446088">
                <a:lnSpc>
                  <a:spcPct val="100000"/>
                </a:lnSpc>
                <a:spcBef>
                  <a:spcPct val="0"/>
                </a:spcBef>
                <a:spcAft>
                  <a:spcPct val="0"/>
                </a:spcAft>
                <a:buClr>
                  <a:srgbClr val="C00000"/>
                </a:buClr>
                <a:buSzPct val="100000"/>
                <a:buFont typeface="Wingdings" panose="05000000000000000000" pitchFamily="2" charset="2"/>
                <a:buChar char="n"/>
              </a:pPr>
              <a:r>
                <a:rPr kumimoji="1" lang="zh-CN" altLang="en-US" sz="3200" b="1" dirty="0">
                  <a:solidFill>
                    <a:srgbClr val="A50021"/>
                  </a:solidFill>
                  <a:latin typeface="Arial" charset="0"/>
                  <a:ea typeface="黑体" pitchFamily="2" charset="-122"/>
                </a:rPr>
                <a:t>土的结构</a:t>
              </a:r>
            </a:p>
          </p:txBody>
        </p:sp>
        <p:sp>
          <p:nvSpPr>
            <p:cNvPr id="24" name="Text Box 6"/>
            <p:cNvSpPr txBox="1">
              <a:spLocks noChangeArrowheads="1"/>
            </p:cNvSpPr>
            <p:nvPr/>
          </p:nvSpPr>
          <p:spPr bwMode="auto">
            <a:xfrm>
              <a:off x="5156775" y="2673776"/>
              <a:ext cx="2761092"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274638" indent="-182563"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92075" indent="0" algn="ctr" eaLnBrk="1" hangingPunct="1">
                <a:spcBef>
                  <a:spcPts val="0"/>
                </a:spcBef>
                <a:spcAft>
                  <a:spcPts val="0"/>
                </a:spcAft>
                <a:buClr>
                  <a:srgbClr val="A50021"/>
                </a:buClr>
                <a:buSzPct val="100000"/>
              </a:pPr>
              <a:r>
                <a:rPr kumimoji="1" lang="zh-CN" altLang="en-US" sz="2400" b="1" dirty="0">
                  <a:solidFill>
                    <a:srgbClr val="000066"/>
                  </a:solidFill>
                  <a:ea typeface="幼圆" pitchFamily="49" charset="-122"/>
                  <a:cs typeface="Times New Roman" panose="02020603050405020304" pitchFamily="18" charset="0"/>
                </a:rPr>
                <a:t>土粒或</a:t>
              </a:r>
              <a:r>
                <a:rPr kumimoji="1" lang="zh-CN" altLang="en-US" sz="2400" b="1" dirty="0" smtClean="0">
                  <a:solidFill>
                    <a:srgbClr val="000066"/>
                  </a:solidFill>
                  <a:ea typeface="幼圆" pitchFamily="49" charset="-122"/>
                  <a:cs typeface="Times New Roman" panose="02020603050405020304" pitchFamily="18" charset="0"/>
                </a:rPr>
                <a:t>团粒在</a:t>
              </a:r>
              <a:r>
                <a:rPr kumimoji="1" lang="zh-CN" altLang="en-US" sz="2400" b="1" dirty="0">
                  <a:solidFill>
                    <a:srgbClr val="000066"/>
                  </a:solidFill>
                  <a:ea typeface="幼圆" pitchFamily="49" charset="-122"/>
                  <a:cs typeface="Times New Roman" panose="02020603050405020304" pitchFamily="18" charset="0"/>
                </a:rPr>
                <a:t>空间的排列和它们之间的相互</a:t>
              </a:r>
              <a:r>
                <a:rPr kumimoji="1" lang="zh-CN" altLang="en-US" sz="2400" b="1" dirty="0" smtClean="0">
                  <a:solidFill>
                    <a:srgbClr val="000066"/>
                  </a:solidFill>
                  <a:ea typeface="幼圆" pitchFamily="49" charset="-122"/>
                  <a:cs typeface="Times New Roman" panose="02020603050405020304" pitchFamily="18" charset="0"/>
                </a:rPr>
                <a:t>联结</a:t>
              </a:r>
              <a:endParaRPr kumimoji="1" lang="zh-CN" altLang="en-US" sz="2400" b="1" dirty="0">
                <a:solidFill>
                  <a:srgbClr val="000066"/>
                </a:solidFill>
                <a:ea typeface="幼圆" pitchFamily="49" charset="-122"/>
                <a:cs typeface="Times New Roman" panose="02020603050405020304" pitchFamily="18" charset="0"/>
              </a:endParaRPr>
            </a:p>
          </p:txBody>
        </p:sp>
      </p:grpSp>
      <p:sp>
        <p:nvSpPr>
          <p:cNvPr id="13" name="AutoShape 17"/>
          <p:cNvSpPr>
            <a:spLocks noChangeArrowheads="1"/>
          </p:cNvSpPr>
          <p:nvPr/>
        </p:nvSpPr>
        <p:spPr bwMode="auto">
          <a:xfrm>
            <a:off x="3889808" y="2576950"/>
            <a:ext cx="890011" cy="737754"/>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4837 h 21600"/>
              <a:gd name="T14" fmla="*/ 15499 w 21600"/>
              <a:gd name="T15" fmla="*/ 16763 h 21600"/>
            </a:gdLst>
            <a:ahLst/>
            <a:cxnLst>
              <a:cxn ang="T8">
                <a:pos x="T0" y="T1"/>
              </a:cxn>
              <a:cxn ang="T9">
                <a:pos x="T2" y="T3"/>
              </a:cxn>
              <a:cxn ang="T10">
                <a:pos x="T4" y="T5"/>
              </a:cxn>
              <a:cxn ang="T11">
                <a:pos x="T6" y="T7"/>
              </a:cxn>
            </a:cxnLst>
            <a:rect l="T12" t="T13" r="T14" b="T15"/>
            <a:pathLst>
              <a:path w="21600" h="21600">
                <a:moveTo>
                  <a:pt x="10550" y="0"/>
                </a:moveTo>
                <a:lnTo>
                  <a:pt x="10550" y="4837"/>
                </a:lnTo>
                <a:lnTo>
                  <a:pt x="3375" y="4837"/>
                </a:lnTo>
                <a:lnTo>
                  <a:pt x="3375" y="16763"/>
                </a:lnTo>
                <a:lnTo>
                  <a:pt x="10550" y="16763"/>
                </a:lnTo>
                <a:lnTo>
                  <a:pt x="10550" y="21600"/>
                </a:lnTo>
                <a:lnTo>
                  <a:pt x="21600" y="10800"/>
                </a:lnTo>
                <a:close/>
              </a:path>
              <a:path w="21600" h="21600">
                <a:moveTo>
                  <a:pt x="1350" y="4837"/>
                </a:moveTo>
                <a:lnTo>
                  <a:pt x="1350" y="16763"/>
                </a:lnTo>
                <a:lnTo>
                  <a:pt x="2700" y="16763"/>
                </a:lnTo>
                <a:lnTo>
                  <a:pt x="2700" y="4837"/>
                </a:lnTo>
                <a:close/>
              </a:path>
              <a:path w="21600" h="21600">
                <a:moveTo>
                  <a:pt x="0" y="4837"/>
                </a:moveTo>
                <a:lnTo>
                  <a:pt x="0" y="16763"/>
                </a:lnTo>
                <a:lnTo>
                  <a:pt x="675" y="16763"/>
                </a:lnTo>
                <a:lnTo>
                  <a:pt x="675" y="4837"/>
                </a:lnTo>
                <a:close/>
              </a:path>
            </a:pathLst>
          </a:custGeom>
          <a:solidFill>
            <a:schemeClr val="accent6">
              <a:lumMod val="60000"/>
              <a:lumOff val="40000"/>
            </a:schemeClr>
          </a:solidFill>
          <a:ln w="9525">
            <a:solidFill>
              <a:srgbClr val="000066"/>
            </a:solidFill>
            <a:miter lim="800000"/>
            <a:headEnd/>
            <a:tailEnd/>
          </a:ln>
        </p:spPr>
        <p:txBody>
          <a:bodyPr wrap="none" anchor="ctr"/>
          <a:lstStyle/>
          <a:p>
            <a:pPr>
              <a:lnSpc>
                <a:spcPct val="115000"/>
              </a:lnSpc>
              <a:spcBef>
                <a:spcPct val="15000"/>
              </a:spcBef>
              <a:spcAft>
                <a:spcPct val="15000"/>
              </a:spcAft>
              <a:defRPr/>
            </a:pPr>
            <a:endParaRPr lang="zh-CN" altLang="en-US">
              <a:ea typeface="宋体" charset="-122"/>
            </a:endParaRPr>
          </a:p>
        </p:txBody>
      </p:sp>
      <p:grpSp>
        <p:nvGrpSpPr>
          <p:cNvPr id="14" name="Group 5"/>
          <p:cNvGrpSpPr>
            <a:grpSpLocks/>
          </p:cNvGrpSpPr>
          <p:nvPr/>
        </p:nvGrpSpPr>
        <p:grpSpPr bwMode="auto">
          <a:xfrm>
            <a:off x="911226" y="1919147"/>
            <a:ext cx="2332038" cy="2406650"/>
            <a:chOff x="182" y="922"/>
            <a:chExt cx="1469" cy="1516"/>
          </a:xfrm>
          <a:solidFill>
            <a:schemeClr val="tx2">
              <a:lumMod val="20000"/>
              <a:lumOff val="80000"/>
            </a:schemeClr>
          </a:solidFill>
        </p:grpSpPr>
        <p:sp>
          <p:nvSpPr>
            <p:cNvPr id="16" name="AutoShape 7"/>
            <p:cNvSpPr>
              <a:spLocks noChangeArrowheads="1"/>
            </p:cNvSpPr>
            <p:nvPr/>
          </p:nvSpPr>
          <p:spPr bwMode="auto">
            <a:xfrm>
              <a:off x="182" y="922"/>
              <a:ext cx="1469" cy="1516"/>
            </a:xfrm>
            <a:prstGeom prst="roundRect">
              <a:avLst>
                <a:gd name="adj" fmla="val 16667"/>
              </a:avLst>
            </a:prstGeom>
            <a:grpFill/>
            <a:ln w="28575">
              <a:solidFill>
                <a:srgbClr val="000066"/>
              </a:solidFill>
              <a:round/>
              <a:headEnd/>
              <a:tailEnd/>
            </a:ln>
          </p:spPr>
          <p:txBody>
            <a:bodyPr wrap="none" anchor="ctr"/>
            <a:lstStyle>
              <a:lvl1pPr eaLnBrk="0"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1pPr>
              <a:lvl2pPr marL="742950" indent="-285750" eaLnBrk="0"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2pPr>
              <a:lvl3pPr marL="1143000" indent="-228600" eaLnBrk="0"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3pPr>
              <a:lvl4pPr marL="1600200" indent="-228600" eaLnBrk="0"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4pPr>
              <a:lvl5pPr marL="2057400" indent="-228600" eaLnBrk="0"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 name="Text Box 6"/>
            <p:cNvSpPr txBox="1">
              <a:spLocks noChangeArrowheads="1"/>
            </p:cNvSpPr>
            <p:nvPr/>
          </p:nvSpPr>
          <p:spPr bwMode="auto">
            <a:xfrm>
              <a:off x="231" y="1027"/>
              <a:ext cx="1250" cy="1322"/>
            </a:xfrm>
            <a:prstGeom prst="rect">
              <a:avLst/>
            </a:prstGeom>
            <a:grp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274638" indent="-182563" eaLnBrk="0"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1pPr>
              <a:lvl2pPr marL="742950" indent="-285750" eaLnBrk="0"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2pPr>
              <a:lvl3pPr marL="1143000" indent="-228600" eaLnBrk="0"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3pPr>
              <a:lvl4pPr marL="1600200" indent="-228600" eaLnBrk="0"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4pPr>
              <a:lvl5pPr marL="2057400" indent="-228600" eaLnBrk="0"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anose="02020603050405020304" pitchFamily="18" charset="0"/>
                  <a:ea typeface="宋体" panose="02010600030101010101" pitchFamily="2" charset="-122"/>
                </a:defRPr>
              </a:lvl9pPr>
            </a:lstStyle>
            <a:p>
              <a:pPr eaLnBrk="1" hangingPunct="1">
                <a:buClr>
                  <a:srgbClr val="A50021"/>
                </a:buClr>
                <a:buSzPct val="130000"/>
                <a:buFontTx/>
                <a:buChar char="•"/>
              </a:pPr>
              <a:r>
                <a:rPr kumimoji="1" lang="zh-CN" altLang="en-US" sz="2200" b="1" dirty="0">
                  <a:solidFill>
                    <a:srgbClr val="000066"/>
                  </a:solidFill>
                  <a:ea typeface="幼圆" panose="02010509060101010101" pitchFamily="49" charset="-122"/>
                </a:rPr>
                <a:t>原状土和</a:t>
              </a:r>
              <a:r>
                <a:rPr kumimoji="1" lang="zh-CN" altLang="en-US" sz="2200" b="1" dirty="0">
                  <a:solidFill>
                    <a:srgbClr val="000066"/>
                  </a:solidFill>
                  <a:latin typeface="Arial" panose="020B0604020202020204" pitchFamily="34" charset="0"/>
                  <a:ea typeface="幼圆" panose="02010509060101010101" pitchFamily="49" charset="-122"/>
                </a:rPr>
                <a:t>重塑土的</a:t>
              </a:r>
              <a:r>
                <a:rPr kumimoji="1" lang="zh-CN" altLang="en-US" sz="2200" b="1" dirty="0" smtClean="0">
                  <a:solidFill>
                    <a:srgbClr val="000066"/>
                  </a:solidFill>
                  <a:latin typeface="Arial" panose="020B0604020202020204" pitchFamily="34" charset="0"/>
                  <a:ea typeface="幼圆" panose="02010509060101010101" pitchFamily="49" charset="-122"/>
                </a:rPr>
                <a:t>强度不同</a:t>
              </a:r>
              <a:endParaRPr kumimoji="1" lang="zh-CN" altLang="en-US" sz="2200" b="1" dirty="0">
                <a:solidFill>
                  <a:srgbClr val="000066"/>
                </a:solidFill>
                <a:latin typeface="Arial" panose="020B0604020202020204" pitchFamily="34" charset="0"/>
                <a:ea typeface="幼圆" panose="02010509060101010101" pitchFamily="49" charset="-122"/>
              </a:endParaRPr>
            </a:p>
            <a:p>
              <a:pPr eaLnBrk="1" hangingPunct="1">
                <a:buClr>
                  <a:srgbClr val="A50021"/>
                </a:buClr>
                <a:buSzPct val="130000"/>
                <a:buFontTx/>
                <a:buChar char="•"/>
              </a:pPr>
              <a:r>
                <a:rPr lang="zh-CN" altLang="en-US" sz="2200" b="1" dirty="0">
                  <a:solidFill>
                    <a:srgbClr val="000066"/>
                  </a:solidFill>
                  <a:ea typeface="幼圆" panose="02010509060101010101" pitchFamily="49" charset="-122"/>
                </a:rPr>
                <a:t>沉积或碾压土的各向异性</a:t>
              </a:r>
            </a:p>
            <a:p>
              <a:pPr eaLnBrk="1" hangingPunct="1">
                <a:spcBef>
                  <a:spcPct val="0"/>
                </a:spcBef>
                <a:spcAft>
                  <a:spcPct val="0"/>
                </a:spcAft>
              </a:pPr>
              <a:r>
                <a:rPr lang="en-US" altLang="zh-CN" sz="2200" b="1" dirty="0">
                  <a:solidFill>
                    <a:srgbClr val="000066"/>
                  </a:solidFill>
                  <a:ea typeface="幼圆" panose="02010509060101010101" pitchFamily="49" charset="-122"/>
                  <a:sym typeface="Symbol" panose="05050102010706020507" pitchFamily="18" charset="2"/>
                </a:rPr>
                <a:t>        </a:t>
              </a:r>
              <a:endParaRPr kumimoji="1" lang="zh-CN" altLang="en-US" sz="2200" b="1" dirty="0">
                <a:solidFill>
                  <a:srgbClr val="000066"/>
                </a:solidFill>
                <a:latin typeface="Arial" panose="020B0604020202020204" pitchFamily="34" charset="0"/>
                <a:ea typeface="幼圆" panose="02010509060101010101" pitchFamily="49" charset="-122"/>
              </a:endParaRPr>
            </a:p>
          </p:txBody>
        </p:sp>
      </p:grpSp>
    </p:spTree>
    <p:extLst>
      <p:ext uri="{BB962C8B-B14F-4D97-AF65-F5344CB8AC3E}">
        <p14:creationId xmlns:p14="http://schemas.microsoft.com/office/powerpoint/2010/main" val="2810755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1000"/>
                                        <p:tgtEl>
                                          <p:spTgt spid="13"/>
                                        </p:tgtEl>
                                      </p:cBhvr>
                                    </p:animEffect>
                                  </p:childTnLst>
                                </p:cTn>
                              </p:par>
                            </p:childTnLst>
                          </p:cTn>
                        </p:par>
                        <p:par>
                          <p:cTn id="13" fill="hold">
                            <p:stCondLst>
                              <p:cond delay="1000"/>
                            </p:stCondLst>
                            <p:childTnLst>
                              <p:par>
                                <p:cTn id="14" presetID="31"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1000" fill="hold"/>
                                        <p:tgtEl>
                                          <p:spTgt spid="2"/>
                                        </p:tgtEl>
                                        <p:attrNameLst>
                                          <p:attrName>ppt_w</p:attrName>
                                        </p:attrNameLst>
                                      </p:cBhvr>
                                      <p:tavLst>
                                        <p:tav tm="0">
                                          <p:val>
                                            <p:fltVal val="0"/>
                                          </p:val>
                                        </p:tav>
                                        <p:tav tm="100000">
                                          <p:val>
                                            <p:strVal val="#ppt_w"/>
                                          </p:val>
                                        </p:tav>
                                      </p:tavLst>
                                    </p:anim>
                                    <p:anim calcmode="lin" valueType="num">
                                      <p:cBhvr>
                                        <p:cTn id="17" dur="1000" fill="hold"/>
                                        <p:tgtEl>
                                          <p:spTgt spid="2"/>
                                        </p:tgtEl>
                                        <p:attrNameLst>
                                          <p:attrName>ppt_h</p:attrName>
                                        </p:attrNameLst>
                                      </p:cBhvr>
                                      <p:tavLst>
                                        <p:tav tm="0">
                                          <p:val>
                                            <p:fltVal val="0"/>
                                          </p:val>
                                        </p:tav>
                                        <p:tav tm="100000">
                                          <p:val>
                                            <p:strVal val="#ppt_h"/>
                                          </p:val>
                                        </p:tav>
                                      </p:tavLst>
                                    </p:anim>
                                    <p:anim calcmode="lin" valueType="num">
                                      <p:cBhvr>
                                        <p:cTn id="18" dur="1000" fill="hold"/>
                                        <p:tgtEl>
                                          <p:spTgt spid="2"/>
                                        </p:tgtEl>
                                        <p:attrNameLst>
                                          <p:attrName>style.rotation</p:attrName>
                                        </p:attrNameLst>
                                      </p:cBhvr>
                                      <p:tavLst>
                                        <p:tav tm="0">
                                          <p:val>
                                            <p:fltVal val="90"/>
                                          </p:val>
                                        </p:tav>
                                        <p:tav tm="100000">
                                          <p:val>
                                            <p:fltVal val="0"/>
                                          </p:val>
                                        </p:tav>
                                      </p:tavLst>
                                    </p:anim>
                                    <p:animEffect transition="in" filter="fade">
                                      <p:cBhvr>
                                        <p:cTn id="1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ChangeArrowheads="1"/>
          </p:cNvSpPr>
          <p:nvPr/>
        </p:nvSpPr>
        <p:spPr bwMode="auto">
          <a:xfrm>
            <a:off x="3440113" y="5632450"/>
            <a:ext cx="36449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50000"/>
              </a:spcBef>
              <a:spcAft>
                <a:spcPct val="0"/>
              </a:spcAft>
              <a:buFont typeface="Wingdings" pitchFamily="2" charset="2"/>
              <a:buNone/>
            </a:pPr>
            <a:r>
              <a:rPr kumimoji="1" lang="zh-CN" altLang="en-US" sz="4000" b="1" dirty="0">
                <a:solidFill>
                  <a:srgbClr val="000066"/>
                </a:solidFill>
                <a:latin typeface="黑体" pitchFamily="2" charset="-122"/>
                <a:ea typeface="黑体" pitchFamily="2" charset="-122"/>
              </a:rPr>
              <a:t>粗粒土的结构</a:t>
            </a:r>
          </a:p>
        </p:txBody>
      </p:sp>
      <p:sp>
        <p:nvSpPr>
          <p:cNvPr id="1416196" name="Rectangle 4"/>
          <p:cNvSpPr>
            <a:spLocks noChangeArrowheads="1"/>
          </p:cNvSpPr>
          <p:nvPr/>
        </p:nvSpPr>
        <p:spPr bwMode="auto">
          <a:xfrm>
            <a:off x="716974" y="1225120"/>
            <a:ext cx="4551218" cy="333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625475" indent="-625475">
              <a:lnSpc>
                <a:spcPct val="125000"/>
              </a:lnSpc>
              <a:buClr>
                <a:srgbClr val="A50021"/>
              </a:buClr>
              <a:buSzPct val="130000"/>
              <a:buFont typeface="Wingdings" panose="05000000000000000000" pitchFamily="2" charset="2"/>
              <a:buChar char=""/>
            </a:pPr>
            <a:r>
              <a:rPr kumimoji="1" lang="zh-CN" altLang="en-US" sz="2600" b="1" dirty="0">
                <a:solidFill>
                  <a:srgbClr val="000066"/>
                </a:solidFill>
                <a:latin typeface="幼圆" pitchFamily="49" charset="-122"/>
                <a:ea typeface="幼圆" pitchFamily="49" charset="-122"/>
              </a:rPr>
              <a:t>粒间作用力：</a:t>
            </a:r>
            <a:r>
              <a:rPr kumimoji="1" lang="zh-CN" altLang="en-US" sz="2600" b="1" dirty="0">
                <a:solidFill>
                  <a:srgbClr val="A50021"/>
                </a:solidFill>
                <a:ea typeface="幼圆" pitchFamily="49" charset="-122"/>
              </a:rPr>
              <a:t>重力起决定性的作用</a:t>
            </a:r>
            <a:r>
              <a:rPr kumimoji="1" lang="zh-CN" altLang="en-US" sz="2600" b="1" dirty="0">
                <a:solidFill>
                  <a:srgbClr val="000066"/>
                </a:solidFill>
                <a:ea typeface="幼圆" pitchFamily="49" charset="-122"/>
              </a:rPr>
              <a:t>。在非饱和土中，还受到毛细力的作用</a:t>
            </a:r>
          </a:p>
          <a:p>
            <a:pPr marL="625475" indent="-625475">
              <a:lnSpc>
                <a:spcPct val="125000"/>
              </a:lnSpc>
              <a:buClr>
                <a:srgbClr val="A50021"/>
              </a:buClr>
              <a:buSzPct val="130000"/>
              <a:buFont typeface="Wingdings" panose="05000000000000000000" pitchFamily="2" charset="2"/>
              <a:buChar char=""/>
            </a:pPr>
            <a:r>
              <a:rPr kumimoji="1" lang="zh-CN" altLang="en-US" sz="2600" b="1" dirty="0" smtClean="0">
                <a:solidFill>
                  <a:srgbClr val="000066"/>
                </a:solidFill>
                <a:ea typeface="幼圆" pitchFamily="49" charset="-122"/>
              </a:rPr>
              <a:t>结构</a:t>
            </a:r>
            <a:r>
              <a:rPr kumimoji="1" lang="zh-CN" altLang="en-US" sz="2600" b="1" dirty="0">
                <a:solidFill>
                  <a:srgbClr val="000066"/>
                </a:solidFill>
                <a:ea typeface="幼圆" pitchFamily="49" charset="-122"/>
              </a:rPr>
              <a:t>形式</a:t>
            </a:r>
            <a:r>
              <a:rPr kumimoji="1" lang="zh-CN" altLang="en-US" sz="2600" b="1" dirty="0" smtClean="0">
                <a:solidFill>
                  <a:srgbClr val="000066"/>
                </a:solidFill>
                <a:ea typeface="幼圆" pitchFamily="49" charset="-122"/>
              </a:rPr>
              <a:t>：单粒</a:t>
            </a:r>
            <a:r>
              <a:rPr kumimoji="1" lang="zh-CN" altLang="en-US" sz="2600" b="1" dirty="0">
                <a:solidFill>
                  <a:srgbClr val="000066"/>
                </a:solidFill>
                <a:ea typeface="幼圆" pitchFamily="49" charset="-122"/>
              </a:rPr>
              <a:t>结构</a:t>
            </a:r>
            <a:endParaRPr kumimoji="1" lang="en-US" altLang="zh-CN" sz="2600" b="1" dirty="0" smtClean="0">
              <a:solidFill>
                <a:srgbClr val="000066"/>
              </a:solidFill>
              <a:ea typeface="幼圆" pitchFamily="49" charset="-122"/>
            </a:endParaRPr>
          </a:p>
          <a:p>
            <a:pPr marL="625475" indent="-625475">
              <a:lnSpc>
                <a:spcPct val="125000"/>
              </a:lnSpc>
              <a:buClr>
                <a:srgbClr val="A50021"/>
              </a:buClr>
              <a:buSzPct val="130000"/>
              <a:buFont typeface="Wingdings" panose="05000000000000000000" pitchFamily="2" charset="2"/>
              <a:buChar char=""/>
            </a:pPr>
            <a:r>
              <a:rPr kumimoji="1" lang="zh-CN" altLang="en-US" sz="2600" b="1" dirty="0" smtClean="0">
                <a:solidFill>
                  <a:srgbClr val="000066"/>
                </a:solidFill>
                <a:ea typeface="幼圆" pitchFamily="49" charset="-122"/>
              </a:rPr>
              <a:t>排列</a:t>
            </a:r>
            <a:r>
              <a:rPr kumimoji="1" lang="zh-CN" altLang="en-US" sz="2600" b="1" dirty="0">
                <a:solidFill>
                  <a:srgbClr val="000066"/>
                </a:solidFill>
                <a:ea typeface="幼圆" pitchFamily="49" charset="-122"/>
              </a:rPr>
              <a:t>形式：点与点</a:t>
            </a:r>
            <a:br>
              <a:rPr kumimoji="1" lang="zh-CN" altLang="en-US" sz="2600" b="1" dirty="0">
                <a:solidFill>
                  <a:srgbClr val="000066"/>
                </a:solidFill>
                <a:ea typeface="幼圆" pitchFamily="49" charset="-122"/>
              </a:rPr>
            </a:br>
            <a:r>
              <a:rPr kumimoji="1" lang="zh-CN" altLang="en-US" sz="2600" b="1" dirty="0">
                <a:solidFill>
                  <a:srgbClr val="000066"/>
                </a:solidFill>
                <a:ea typeface="幼圆" pitchFamily="49" charset="-122"/>
              </a:rPr>
              <a:t>                    点与面</a:t>
            </a:r>
          </a:p>
        </p:txBody>
      </p:sp>
      <p:grpSp>
        <p:nvGrpSpPr>
          <p:cNvPr id="2" name="Group 5"/>
          <p:cNvGrpSpPr>
            <a:grpSpLocks/>
          </p:cNvGrpSpPr>
          <p:nvPr/>
        </p:nvGrpSpPr>
        <p:grpSpPr bwMode="auto">
          <a:xfrm>
            <a:off x="5832474" y="1398588"/>
            <a:ext cx="2514599" cy="3276601"/>
            <a:chOff x="3774" y="971"/>
            <a:chExt cx="1584" cy="2064"/>
          </a:xfrm>
        </p:grpSpPr>
        <p:sp>
          <p:nvSpPr>
            <p:cNvPr id="75782" name="AutoShape 6"/>
            <p:cNvSpPr>
              <a:spLocks noChangeArrowheads="1"/>
            </p:cNvSpPr>
            <p:nvPr/>
          </p:nvSpPr>
          <p:spPr bwMode="auto">
            <a:xfrm>
              <a:off x="3785" y="2713"/>
              <a:ext cx="1573" cy="322"/>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p>
              <a:pPr>
                <a:lnSpc>
                  <a:spcPct val="100000"/>
                </a:lnSpc>
                <a:spcBef>
                  <a:spcPct val="0"/>
                </a:spcBef>
                <a:spcAft>
                  <a:spcPct val="0"/>
                </a:spcAft>
              </a:pPr>
              <a:r>
                <a:rPr kumimoji="1" lang="zh-CN" altLang="en-US" sz="2400" b="1" dirty="0">
                  <a:solidFill>
                    <a:srgbClr val="C00000"/>
                  </a:solidFill>
                  <a:latin typeface="黑体" panose="02010609060101010101" pitchFamily="49" charset="-122"/>
                  <a:ea typeface="黑体" panose="02010609060101010101" pitchFamily="49" charset="-122"/>
                </a:rPr>
                <a:t>单粒结构示意图</a:t>
              </a:r>
            </a:p>
          </p:txBody>
        </p:sp>
        <p:grpSp>
          <p:nvGrpSpPr>
            <p:cNvPr id="75783" name="Group 7"/>
            <p:cNvGrpSpPr>
              <a:grpSpLocks/>
            </p:cNvGrpSpPr>
            <p:nvPr/>
          </p:nvGrpSpPr>
          <p:grpSpPr bwMode="auto">
            <a:xfrm>
              <a:off x="3774" y="971"/>
              <a:ext cx="1559" cy="1532"/>
              <a:chOff x="3774" y="971"/>
              <a:chExt cx="1559" cy="1532"/>
            </a:xfrm>
          </p:grpSpPr>
          <p:sp>
            <p:nvSpPr>
              <p:cNvPr id="75784" name="Freeform 8"/>
              <p:cNvSpPr>
                <a:spLocks/>
              </p:cNvSpPr>
              <p:nvPr/>
            </p:nvSpPr>
            <p:spPr bwMode="auto">
              <a:xfrm rot="19220372">
                <a:off x="4159" y="1228"/>
                <a:ext cx="232" cy="238"/>
              </a:xfrm>
              <a:custGeom>
                <a:avLst/>
                <a:gdLst>
                  <a:gd name="T0" fmla="*/ 322 w 100"/>
                  <a:gd name="T1" fmla="*/ 110 h 120"/>
                  <a:gd name="T2" fmla="*/ 926 w 100"/>
                  <a:gd name="T3" fmla="*/ 155 h 120"/>
                  <a:gd name="T4" fmla="*/ 1248 w 100"/>
                  <a:gd name="T5" fmla="*/ 798 h 120"/>
                  <a:gd name="T6" fmla="*/ 559 w 100"/>
                  <a:gd name="T7" fmla="*/ 1197 h 120"/>
                  <a:gd name="T8" fmla="*/ 0 w 100"/>
                  <a:gd name="T9" fmla="*/ 336 h 120"/>
                  <a:gd name="T10" fmla="*/ 322 w 100"/>
                  <a:gd name="T11" fmla="*/ 110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 name="connsiteX0" fmla="*/ 2602 w 10002"/>
                  <a:gd name="connsiteY0" fmla="*/ 508 h 8846"/>
                  <a:gd name="connsiteX1" fmla="*/ 7402 w 10002"/>
                  <a:gd name="connsiteY1" fmla="*/ 842 h 8846"/>
                  <a:gd name="connsiteX2" fmla="*/ 10002 w 10002"/>
                  <a:gd name="connsiteY2" fmla="*/ 5592 h 8846"/>
                  <a:gd name="connsiteX3" fmla="*/ 4502 w 10002"/>
                  <a:gd name="connsiteY3" fmla="*/ 8508 h 8846"/>
                  <a:gd name="connsiteX4" fmla="*/ 1571 w 10002"/>
                  <a:gd name="connsiteY4" fmla="*/ 5898 h 8846"/>
                  <a:gd name="connsiteX5" fmla="*/ 2 w 10002"/>
                  <a:gd name="connsiteY5" fmla="*/ 2175 h 8846"/>
                  <a:gd name="connsiteX6" fmla="*/ 2602 w 10002"/>
                  <a:gd name="connsiteY6" fmla="*/ 508 h 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2" h="8846">
                    <a:moveTo>
                      <a:pt x="2602" y="508"/>
                    </a:moveTo>
                    <a:cubicBezTo>
                      <a:pt x="4302" y="-325"/>
                      <a:pt x="5802" y="-75"/>
                      <a:pt x="7402" y="842"/>
                    </a:cubicBezTo>
                    <a:cubicBezTo>
                      <a:pt x="8002" y="2425"/>
                      <a:pt x="9402" y="3842"/>
                      <a:pt x="10002" y="5592"/>
                    </a:cubicBezTo>
                    <a:cubicBezTo>
                      <a:pt x="9402" y="9675"/>
                      <a:pt x="9902" y="8925"/>
                      <a:pt x="4502" y="8508"/>
                    </a:cubicBezTo>
                    <a:cubicBezTo>
                      <a:pt x="3212" y="8529"/>
                      <a:pt x="2321" y="6953"/>
                      <a:pt x="1571" y="5898"/>
                    </a:cubicBezTo>
                    <a:cubicBezTo>
                      <a:pt x="821" y="4843"/>
                      <a:pt x="-55" y="3044"/>
                      <a:pt x="2" y="2175"/>
                    </a:cubicBezTo>
                    <a:cubicBezTo>
                      <a:pt x="402" y="1425"/>
                      <a:pt x="1502" y="508"/>
                      <a:pt x="2602" y="508"/>
                    </a:cubicBezTo>
                    <a:close/>
                  </a:path>
                </a:pathLst>
              </a:custGeom>
              <a:solidFill>
                <a:srgbClr val="FFCC66"/>
              </a:solidFill>
              <a:ln w="9525">
                <a:solidFill>
                  <a:srgbClr val="000066"/>
                </a:solidFill>
                <a:round/>
                <a:headEnd/>
                <a:tailEnd/>
              </a:ln>
            </p:spPr>
            <p:txBody>
              <a:bodyPr/>
              <a:lstStyle/>
              <a:p>
                <a:endParaRPr lang="zh-CN" altLang="en-US"/>
              </a:p>
            </p:txBody>
          </p:sp>
          <p:sp>
            <p:nvSpPr>
              <p:cNvPr id="75785" name="Freeform 9"/>
              <p:cNvSpPr>
                <a:spLocks/>
              </p:cNvSpPr>
              <p:nvPr/>
            </p:nvSpPr>
            <p:spPr bwMode="auto">
              <a:xfrm>
                <a:off x="4086" y="1413"/>
                <a:ext cx="234" cy="220"/>
              </a:xfrm>
              <a:custGeom>
                <a:avLst/>
                <a:gdLst>
                  <a:gd name="T0" fmla="*/ 118 w 127"/>
                  <a:gd name="T1" fmla="*/ 122 h 124"/>
                  <a:gd name="T2" fmla="*/ 536 w 127"/>
                  <a:gd name="T3" fmla="*/ 66 h 124"/>
                  <a:gd name="T4" fmla="*/ 765 w 127"/>
                  <a:gd name="T5" fmla="*/ 532 h 124"/>
                  <a:gd name="T6" fmla="*/ 333 w 127"/>
                  <a:gd name="T7" fmla="*/ 593 h 124"/>
                  <a:gd name="T8" fmla="*/ 52 w 127"/>
                  <a:gd name="T9" fmla="*/ 419 h 124"/>
                  <a:gd name="T10" fmla="*/ 118 w 127"/>
                  <a:gd name="T11" fmla="*/ 122 h 124"/>
                  <a:gd name="T12" fmla="*/ 0 60000 65536"/>
                  <a:gd name="T13" fmla="*/ 0 60000 65536"/>
                  <a:gd name="T14" fmla="*/ 0 60000 65536"/>
                  <a:gd name="T15" fmla="*/ 0 60000 65536"/>
                  <a:gd name="T16" fmla="*/ 0 60000 65536"/>
                  <a:gd name="T17" fmla="*/ 0 60000 65536"/>
                  <a:gd name="T18" fmla="*/ 0 w 127"/>
                  <a:gd name="T19" fmla="*/ 0 h 124"/>
                  <a:gd name="T20" fmla="*/ 127 w 127"/>
                  <a:gd name="T21" fmla="*/ 124 h 124"/>
                </a:gdLst>
                <a:ahLst/>
                <a:cxnLst>
                  <a:cxn ang="T12">
                    <a:pos x="T0" y="T1"/>
                  </a:cxn>
                  <a:cxn ang="T13">
                    <a:pos x="T2" y="T3"/>
                  </a:cxn>
                  <a:cxn ang="T14">
                    <a:pos x="T4" y="T5"/>
                  </a:cxn>
                  <a:cxn ang="T15">
                    <a:pos x="T6" y="T7"/>
                  </a:cxn>
                  <a:cxn ang="T16">
                    <a:pos x="T8" y="T9"/>
                  </a:cxn>
                  <a:cxn ang="T17">
                    <a:pos x="T10" y="T11"/>
                  </a:cxn>
                </a:cxnLst>
                <a:rect l="T18" t="T19" r="T20" b="T21"/>
                <a:pathLst>
                  <a:path w="127" h="124">
                    <a:moveTo>
                      <a:pt x="19" y="22"/>
                    </a:moveTo>
                    <a:cubicBezTo>
                      <a:pt x="29" y="12"/>
                      <a:pt x="69" y="0"/>
                      <a:pt x="86" y="12"/>
                    </a:cubicBezTo>
                    <a:cubicBezTo>
                      <a:pt x="103" y="24"/>
                      <a:pt x="127" y="79"/>
                      <a:pt x="122" y="95"/>
                    </a:cubicBezTo>
                    <a:cubicBezTo>
                      <a:pt x="112" y="124"/>
                      <a:pt x="77" y="109"/>
                      <a:pt x="53" y="106"/>
                    </a:cubicBezTo>
                    <a:cubicBezTo>
                      <a:pt x="36" y="95"/>
                      <a:pt x="24" y="87"/>
                      <a:pt x="8" y="75"/>
                    </a:cubicBezTo>
                    <a:cubicBezTo>
                      <a:pt x="0" y="47"/>
                      <a:pt x="19" y="52"/>
                      <a:pt x="19" y="22"/>
                    </a:cubicBezTo>
                    <a:close/>
                  </a:path>
                </a:pathLst>
              </a:custGeom>
              <a:solidFill>
                <a:srgbClr val="FFCC66"/>
              </a:solidFill>
              <a:ln w="9525">
                <a:solidFill>
                  <a:srgbClr val="000066"/>
                </a:solidFill>
                <a:round/>
                <a:headEnd/>
                <a:tailEnd/>
              </a:ln>
            </p:spPr>
            <p:txBody>
              <a:bodyPr/>
              <a:lstStyle/>
              <a:p>
                <a:endParaRPr lang="zh-CN" altLang="en-US"/>
              </a:p>
            </p:txBody>
          </p:sp>
          <p:sp>
            <p:nvSpPr>
              <p:cNvPr id="75786" name="Freeform 10"/>
              <p:cNvSpPr>
                <a:spLocks/>
              </p:cNvSpPr>
              <p:nvPr/>
            </p:nvSpPr>
            <p:spPr bwMode="auto">
              <a:xfrm>
                <a:off x="3776" y="1474"/>
                <a:ext cx="342" cy="258"/>
              </a:xfrm>
              <a:custGeom>
                <a:avLst/>
                <a:gdLst>
                  <a:gd name="T0" fmla="*/ 28 w 148"/>
                  <a:gd name="T1" fmla="*/ 509 h 115"/>
                  <a:gd name="T2" fmla="*/ 171 w 148"/>
                  <a:gd name="T3" fmla="*/ 146 h 115"/>
                  <a:gd name="T4" fmla="*/ 818 w 148"/>
                  <a:gd name="T5" fmla="*/ 0 h 115"/>
                  <a:gd name="T6" fmla="*/ 1516 w 148"/>
                  <a:gd name="T7" fmla="*/ 110 h 115"/>
                  <a:gd name="T8" fmla="*/ 1715 w 148"/>
                  <a:gd name="T9" fmla="*/ 397 h 115"/>
                  <a:gd name="T10" fmla="*/ 1158 w 148"/>
                  <a:gd name="T11" fmla="*/ 1299 h 115"/>
                  <a:gd name="T12" fmla="*/ 330 w 148"/>
                  <a:gd name="T13" fmla="*/ 1016 h 115"/>
                  <a:gd name="T14" fmla="*/ 65 w 148"/>
                  <a:gd name="T15" fmla="*/ 790 h 115"/>
                  <a:gd name="T16" fmla="*/ 28 w 148"/>
                  <a:gd name="T17" fmla="*/ 509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15"/>
                  <a:gd name="T29" fmla="*/ 148 w 148"/>
                  <a:gd name="T30" fmla="*/ 115 h 1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15">
                    <a:moveTo>
                      <a:pt x="2" y="45"/>
                    </a:moveTo>
                    <a:cubicBezTo>
                      <a:pt x="5" y="37"/>
                      <a:pt x="5" y="18"/>
                      <a:pt x="14" y="13"/>
                    </a:cubicBezTo>
                    <a:cubicBezTo>
                      <a:pt x="28" y="6"/>
                      <a:pt x="51" y="3"/>
                      <a:pt x="66" y="0"/>
                    </a:cubicBezTo>
                    <a:cubicBezTo>
                      <a:pt x="88" y="2"/>
                      <a:pt x="103" y="4"/>
                      <a:pt x="123" y="10"/>
                    </a:cubicBezTo>
                    <a:cubicBezTo>
                      <a:pt x="132" y="17"/>
                      <a:pt x="135" y="24"/>
                      <a:pt x="139" y="35"/>
                    </a:cubicBezTo>
                    <a:cubicBezTo>
                      <a:pt x="136" y="99"/>
                      <a:pt x="148" y="107"/>
                      <a:pt x="94" y="115"/>
                    </a:cubicBezTo>
                    <a:cubicBezTo>
                      <a:pt x="64" y="111"/>
                      <a:pt x="53" y="102"/>
                      <a:pt x="27" y="90"/>
                    </a:cubicBezTo>
                    <a:cubicBezTo>
                      <a:pt x="20" y="82"/>
                      <a:pt x="12" y="78"/>
                      <a:pt x="5" y="70"/>
                    </a:cubicBezTo>
                    <a:cubicBezTo>
                      <a:pt x="0" y="56"/>
                      <a:pt x="2" y="64"/>
                      <a:pt x="2" y="45"/>
                    </a:cubicBezTo>
                    <a:close/>
                  </a:path>
                </a:pathLst>
              </a:custGeom>
              <a:solidFill>
                <a:srgbClr val="FFCC66"/>
              </a:solidFill>
              <a:ln w="9525">
                <a:solidFill>
                  <a:srgbClr val="000066"/>
                </a:solidFill>
                <a:round/>
                <a:headEnd/>
                <a:tailEnd/>
              </a:ln>
            </p:spPr>
            <p:txBody>
              <a:bodyPr/>
              <a:lstStyle/>
              <a:p>
                <a:endParaRPr lang="zh-CN" altLang="en-US"/>
              </a:p>
            </p:txBody>
          </p:sp>
          <p:sp>
            <p:nvSpPr>
              <p:cNvPr id="75787" name="Freeform 11"/>
              <p:cNvSpPr>
                <a:spLocks/>
              </p:cNvSpPr>
              <p:nvPr/>
            </p:nvSpPr>
            <p:spPr bwMode="auto">
              <a:xfrm>
                <a:off x="4238" y="1569"/>
                <a:ext cx="265" cy="238"/>
              </a:xfrm>
              <a:custGeom>
                <a:avLst/>
                <a:gdLst>
                  <a:gd name="T0" fmla="*/ 114 w 115"/>
                  <a:gd name="T1" fmla="*/ 388 h 122"/>
                  <a:gd name="T2" fmla="*/ 636 w 115"/>
                  <a:gd name="T3" fmla="*/ 0 h 122"/>
                  <a:gd name="T4" fmla="*/ 878 w 115"/>
                  <a:gd name="T5" fmla="*/ 36 h 122"/>
                  <a:gd name="T6" fmla="*/ 1003 w 115"/>
                  <a:gd name="T7" fmla="*/ 210 h 122"/>
                  <a:gd name="T8" fmla="*/ 1439 w 115"/>
                  <a:gd name="T9" fmla="*/ 854 h 122"/>
                  <a:gd name="T10" fmla="*/ 710 w 115"/>
                  <a:gd name="T11" fmla="*/ 1173 h 122"/>
                  <a:gd name="T12" fmla="*/ 114 w 115"/>
                  <a:gd name="T13" fmla="*/ 711 h 122"/>
                  <a:gd name="T14" fmla="*/ 114 w 115"/>
                  <a:gd name="T15" fmla="*/ 388 h 122"/>
                  <a:gd name="T16" fmla="*/ 0 60000 65536"/>
                  <a:gd name="T17" fmla="*/ 0 60000 65536"/>
                  <a:gd name="T18" fmla="*/ 0 60000 65536"/>
                  <a:gd name="T19" fmla="*/ 0 60000 65536"/>
                  <a:gd name="T20" fmla="*/ 0 60000 65536"/>
                  <a:gd name="T21" fmla="*/ 0 60000 65536"/>
                  <a:gd name="T22" fmla="*/ 0 60000 65536"/>
                  <a:gd name="T23" fmla="*/ 0 60000 65536"/>
                  <a:gd name="T24" fmla="*/ 0 w 115"/>
                  <a:gd name="T25" fmla="*/ 0 h 122"/>
                  <a:gd name="T26" fmla="*/ 115 w 115"/>
                  <a:gd name="T27" fmla="*/ 122 h 122"/>
                  <a:gd name="connsiteX0" fmla="*/ 479 w 9696"/>
                  <a:gd name="connsiteY0" fmla="*/ 2869 h 9020"/>
                  <a:gd name="connsiteX1" fmla="*/ 4131 w 9696"/>
                  <a:gd name="connsiteY1" fmla="*/ 0 h 9020"/>
                  <a:gd name="connsiteX2" fmla="*/ 5783 w 9696"/>
                  <a:gd name="connsiteY2" fmla="*/ 246 h 9020"/>
                  <a:gd name="connsiteX3" fmla="*/ 6653 w 9696"/>
                  <a:gd name="connsiteY3" fmla="*/ 1557 h 9020"/>
                  <a:gd name="connsiteX4" fmla="*/ 9696 w 9696"/>
                  <a:gd name="connsiteY4" fmla="*/ 6311 h 9020"/>
                  <a:gd name="connsiteX5" fmla="*/ 4653 w 9696"/>
                  <a:gd name="connsiteY5" fmla="*/ 8689 h 9020"/>
                  <a:gd name="connsiteX6" fmla="*/ 479 w 9696"/>
                  <a:gd name="connsiteY6" fmla="*/ 5246 h 9020"/>
                  <a:gd name="connsiteX7" fmla="*/ 68 w 9696"/>
                  <a:gd name="connsiteY7" fmla="*/ 6189 h 9020"/>
                  <a:gd name="connsiteX8" fmla="*/ 479 w 9696"/>
                  <a:gd name="connsiteY8" fmla="*/ 2869 h 9020"/>
                  <a:gd name="connsiteX0" fmla="*/ 494 w 10000"/>
                  <a:gd name="connsiteY0" fmla="*/ 3181 h 10000"/>
                  <a:gd name="connsiteX1" fmla="*/ 4261 w 10000"/>
                  <a:gd name="connsiteY1" fmla="*/ 0 h 10000"/>
                  <a:gd name="connsiteX2" fmla="*/ 5964 w 10000"/>
                  <a:gd name="connsiteY2" fmla="*/ 273 h 10000"/>
                  <a:gd name="connsiteX3" fmla="*/ 6862 w 10000"/>
                  <a:gd name="connsiteY3" fmla="*/ 1726 h 10000"/>
                  <a:gd name="connsiteX4" fmla="*/ 10000 w 10000"/>
                  <a:gd name="connsiteY4" fmla="*/ 6997 h 10000"/>
                  <a:gd name="connsiteX5" fmla="*/ 4799 w 10000"/>
                  <a:gd name="connsiteY5" fmla="*/ 9633 h 10000"/>
                  <a:gd name="connsiteX6" fmla="*/ 1346 w 10000"/>
                  <a:gd name="connsiteY6" fmla="*/ 8815 h 10000"/>
                  <a:gd name="connsiteX7" fmla="*/ 494 w 10000"/>
                  <a:gd name="connsiteY7" fmla="*/ 5816 h 10000"/>
                  <a:gd name="connsiteX8" fmla="*/ 70 w 10000"/>
                  <a:gd name="connsiteY8" fmla="*/ 6861 h 10000"/>
                  <a:gd name="connsiteX9" fmla="*/ 494 w 10000"/>
                  <a:gd name="connsiteY9" fmla="*/ 3181 h 10000"/>
                  <a:gd name="connsiteX0" fmla="*/ 465 w 9971"/>
                  <a:gd name="connsiteY0" fmla="*/ 3181 h 10000"/>
                  <a:gd name="connsiteX1" fmla="*/ 4232 w 9971"/>
                  <a:gd name="connsiteY1" fmla="*/ 0 h 10000"/>
                  <a:gd name="connsiteX2" fmla="*/ 5935 w 9971"/>
                  <a:gd name="connsiteY2" fmla="*/ 273 h 10000"/>
                  <a:gd name="connsiteX3" fmla="*/ 6833 w 9971"/>
                  <a:gd name="connsiteY3" fmla="*/ 1726 h 10000"/>
                  <a:gd name="connsiteX4" fmla="*/ 9971 w 9971"/>
                  <a:gd name="connsiteY4" fmla="*/ 6997 h 10000"/>
                  <a:gd name="connsiteX5" fmla="*/ 4770 w 9971"/>
                  <a:gd name="connsiteY5" fmla="*/ 9633 h 10000"/>
                  <a:gd name="connsiteX6" fmla="*/ 1317 w 9971"/>
                  <a:gd name="connsiteY6" fmla="*/ 8815 h 10000"/>
                  <a:gd name="connsiteX7" fmla="*/ 41 w 9971"/>
                  <a:gd name="connsiteY7" fmla="*/ 6861 h 10000"/>
                  <a:gd name="connsiteX8" fmla="*/ 465 w 9971"/>
                  <a:gd name="connsiteY8" fmla="*/ 318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71" h="10000">
                    <a:moveTo>
                      <a:pt x="465" y="3181"/>
                    </a:moveTo>
                    <a:cubicBezTo>
                      <a:pt x="1989" y="2272"/>
                      <a:pt x="2528" y="545"/>
                      <a:pt x="4232" y="0"/>
                    </a:cubicBezTo>
                    <a:cubicBezTo>
                      <a:pt x="4770" y="91"/>
                      <a:pt x="5397" y="91"/>
                      <a:pt x="5935" y="273"/>
                    </a:cubicBezTo>
                    <a:cubicBezTo>
                      <a:pt x="6743" y="545"/>
                      <a:pt x="6474" y="1091"/>
                      <a:pt x="6833" y="1726"/>
                    </a:cubicBezTo>
                    <a:cubicBezTo>
                      <a:pt x="7819" y="3453"/>
                      <a:pt x="8895" y="5271"/>
                      <a:pt x="9971" y="6997"/>
                    </a:cubicBezTo>
                    <a:cubicBezTo>
                      <a:pt x="9522" y="11086"/>
                      <a:pt x="9253" y="9905"/>
                      <a:pt x="4770" y="9633"/>
                    </a:cubicBezTo>
                    <a:cubicBezTo>
                      <a:pt x="3248" y="9466"/>
                      <a:pt x="2105" y="9277"/>
                      <a:pt x="1317" y="8815"/>
                    </a:cubicBezTo>
                    <a:cubicBezTo>
                      <a:pt x="529" y="8353"/>
                      <a:pt x="183" y="7800"/>
                      <a:pt x="41" y="6861"/>
                    </a:cubicBezTo>
                    <a:cubicBezTo>
                      <a:pt x="41" y="6422"/>
                      <a:pt x="-193" y="4100"/>
                      <a:pt x="465" y="3181"/>
                    </a:cubicBezTo>
                    <a:close/>
                  </a:path>
                </a:pathLst>
              </a:custGeom>
              <a:solidFill>
                <a:srgbClr val="FFCC66"/>
              </a:solidFill>
              <a:ln w="9525">
                <a:solidFill>
                  <a:srgbClr val="000066"/>
                </a:solidFill>
                <a:round/>
                <a:headEnd/>
                <a:tailEnd/>
              </a:ln>
            </p:spPr>
            <p:txBody>
              <a:bodyPr/>
              <a:lstStyle/>
              <a:p>
                <a:endParaRPr lang="zh-CN" altLang="en-US"/>
              </a:p>
            </p:txBody>
          </p:sp>
          <p:sp>
            <p:nvSpPr>
              <p:cNvPr id="75788" name="Freeform 12"/>
              <p:cNvSpPr>
                <a:spLocks/>
              </p:cNvSpPr>
              <p:nvPr/>
            </p:nvSpPr>
            <p:spPr bwMode="auto">
              <a:xfrm rot="5400000">
                <a:off x="4392" y="1288"/>
                <a:ext cx="267" cy="333"/>
              </a:xfrm>
              <a:custGeom>
                <a:avLst/>
                <a:gdLst>
                  <a:gd name="T0" fmla="*/ 0 w 128"/>
                  <a:gd name="T1" fmla="*/ 668 h 144"/>
                  <a:gd name="T2" fmla="*/ 460 w 128"/>
                  <a:gd name="T3" fmla="*/ 0 h 144"/>
                  <a:gd name="T4" fmla="*/ 1218 w 128"/>
                  <a:gd name="T5" fmla="*/ 358 h 144"/>
                  <a:gd name="T6" fmla="*/ 1392 w 128"/>
                  <a:gd name="T7" fmla="*/ 867 h 144"/>
                  <a:gd name="T8" fmla="*/ 1428 w 128"/>
                  <a:gd name="T9" fmla="*/ 990 h 144"/>
                  <a:gd name="T10" fmla="*/ 994 w 128"/>
                  <a:gd name="T11" fmla="*/ 1781 h 144"/>
                  <a:gd name="T12" fmla="*/ 679 w 128"/>
                  <a:gd name="T13" fmla="*/ 1582 h 144"/>
                  <a:gd name="T14" fmla="*/ 324 w 128"/>
                  <a:gd name="T15" fmla="*/ 1385 h 144"/>
                  <a:gd name="T16" fmla="*/ 0 w 128"/>
                  <a:gd name="T17" fmla="*/ 668 h 1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8"/>
                  <a:gd name="T28" fmla="*/ 0 h 144"/>
                  <a:gd name="T29" fmla="*/ 128 w 128"/>
                  <a:gd name="T30" fmla="*/ 144 h 144"/>
                  <a:gd name="connsiteX0" fmla="*/ 0 w 9329"/>
                  <a:gd name="connsiteY0" fmla="*/ 4759 h 10000"/>
                  <a:gd name="connsiteX1" fmla="*/ 2532 w 9329"/>
                  <a:gd name="connsiteY1" fmla="*/ 0 h 10000"/>
                  <a:gd name="connsiteX2" fmla="*/ 7845 w 9329"/>
                  <a:gd name="connsiteY2" fmla="*/ 2014 h 10000"/>
                  <a:gd name="connsiteX3" fmla="*/ 9095 w 9329"/>
                  <a:gd name="connsiteY3" fmla="*/ 4861 h 10000"/>
                  <a:gd name="connsiteX4" fmla="*/ 9329 w 9329"/>
                  <a:gd name="connsiteY4" fmla="*/ 5556 h 10000"/>
                  <a:gd name="connsiteX5" fmla="*/ 6282 w 9329"/>
                  <a:gd name="connsiteY5" fmla="*/ 10000 h 10000"/>
                  <a:gd name="connsiteX6" fmla="*/ 4095 w 9329"/>
                  <a:gd name="connsiteY6" fmla="*/ 8889 h 10000"/>
                  <a:gd name="connsiteX7" fmla="*/ 1595 w 9329"/>
                  <a:gd name="connsiteY7" fmla="*/ 7778 h 10000"/>
                  <a:gd name="connsiteX8" fmla="*/ 0 w 9329"/>
                  <a:gd name="connsiteY8" fmla="*/ 4759 h 10000"/>
                  <a:gd name="connsiteX0" fmla="*/ 0 w 10000"/>
                  <a:gd name="connsiteY0" fmla="*/ 4759 h 10000"/>
                  <a:gd name="connsiteX1" fmla="*/ 2714 w 10000"/>
                  <a:gd name="connsiteY1" fmla="*/ 0 h 10000"/>
                  <a:gd name="connsiteX2" fmla="*/ 8409 w 10000"/>
                  <a:gd name="connsiteY2" fmla="*/ 2014 h 10000"/>
                  <a:gd name="connsiteX3" fmla="*/ 9749 w 10000"/>
                  <a:gd name="connsiteY3" fmla="*/ 4861 h 10000"/>
                  <a:gd name="connsiteX4" fmla="*/ 10000 w 10000"/>
                  <a:gd name="connsiteY4" fmla="*/ 5556 h 10000"/>
                  <a:gd name="connsiteX5" fmla="*/ 6734 w 10000"/>
                  <a:gd name="connsiteY5" fmla="*/ 10000 h 10000"/>
                  <a:gd name="connsiteX6" fmla="*/ 4390 w 10000"/>
                  <a:gd name="connsiteY6" fmla="*/ 8889 h 10000"/>
                  <a:gd name="connsiteX7" fmla="*/ 1710 w 10000"/>
                  <a:gd name="connsiteY7" fmla="*/ 7778 h 10000"/>
                  <a:gd name="connsiteX8" fmla="*/ 0 w 10000"/>
                  <a:gd name="connsiteY8" fmla="*/ 4759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0" y="4759"/>
                    </a:moveTo>
                    <a:cubicBezTo>
                      <a:pt x="1005" y="3440"/>
                      <a:pt x="956" y="694"/>
                      <a:pt x="2714" y="0"/>
                    </a:cubicBezTo>
                    <a:cubicBezTo>
                      <a:pt x="5310" y="208"/>
                      <a:pt x="6567" y="486"/>
                      <a:pt x="8409" y="2014"/>
                    </a:cubicBezTo>
                    <a:cubicBezTo>
                      <a:pt x="8827" y="2986"/>
                      <a:pt x="9330" y="3819"/>
                      <a:pt x="9749" y="4861"/>
                    </a:cubicBezTo>
                    <a:cubicBezTo>
                      <a:pt x="9833" y="5069"/>
                      <a:pt x="10000" y="5556"/>
                      <a:pt x="10000" y="5556"/>
                    </a:cubicBezTo>
                    <a:cubicBezTo>
                      <a:pt x="9749" y="8472"/>
                      <a:pt x="9916" y="9236"/>
                      <a:pt x="6734" y="10000"/>
                    </a:cubicBezTo>
                    <a:cubicBezTo>
                      <a:pt x="5980" y="9514"/>
                      <a:pt x="5310" y="9167"/>
                      <a:pt x="4390" y="8889"/>
                    </a:cubicBezTo>
                    <a:cubicBezTo>
                      <a:pt x="3468" y="8333"/>
                      <a:pt x="2631" y="8264"/>
                      <a:pt x="1710" y="7778"/>
                    </a:cubicBezTo>
                    <a:lnTo>
                      <a:pt x="0" y="4759"/>
                    </a:lnTo>
                    <a:close/>
                  </a:path>
                </a:pathLst>
              </a:custGeom>
              <a:solidFill>
                <a:srgbClr val="FFCC66"/>
              </a:solidFill>
              <a:ln w="9525">
                <a:solidFill>
                  <a:srgbClr val="000066"/>
                </a:solidFill>
                <a:round/>
                <a:headEnd/>
                <a:tailEnd/>
              </a:ln>
            </p:spPr>
            <p:txBody>
              <a:bodyPr/>
              <a:lstStyle/>
              <a:p>
                <a:endParaRPr lang="zh-CN" altLang="en-US"/>
              </a:p>
            </p:txBody>
          </p:sp>
          <p:sp>
            <p:nvSpPr>
              <p:cNvPr id="75789" name="Freeform 13"/>
              <p:cNvSpPr>
                <a:spLocks/>
              </p:cNvSpPr>
              <p:nvPr/>
            </p:nvSpPr>
            <p:spPr bwMode="auto">
              <a:xfrm>
                <a:off x="4524" y="1561"/>
                <a:ext cx="216" cy="253"/>
              </a:xfrm>
              <a:custGeom>
                <a:avLst/>
                <a:gdLst>
                  <a:gd name="T0" fmla="*/ 157 w 117"/>
                  <a:gd name="T1" fmla="*/ 21 h 142"/>
                  <a:gd name="T2" fmla="*/ 535 w 117"/>
                  <a:gd name="T3" fmla="*/ 64 h 142"/>
                  <a:gd name="T4" fmla="*/ 668 w 117"/>
                  <a:gd name="T5" fmla="*/ 296 h 142"/>
                  <a:gd name="T6" fmla="*/ 737 w 117"/>
                  <a:gd name="T7" fmla="*/ 543 h 142"/>
                  <a:gd name="T8" fmla="*/ 559 w 117"/>
                  <a:gd name="T9" fmla="*/ 804 h 142"/>
                  <a:gd name="T10" fmla="*/ 126 w 117"/>
                  <a:gd name="T11" fmla="*/ 616 h 142"/>
                  <a:gd name="T12" fmla="*/ 31 w 117"/>
                  <a:gd name="T13" fmla="*/ 479 h 142"/>
                  <a:gd name="T14" fmla="*/ 0 w 117"/>
                  <a:gd name="T15" fmla="*/ 406 h 142"/>
                  <a:gd name="T16" fmla="*/ 157 w 117"/>
                  <a:gd name="T17" fmla="*/ 21 h 1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7"/>
                  <a:gd name="T28" fmla="*/ 0 h 142"/>
                  <a:gd name="T29" fmla="*/ 117 w 117"/>
                  <a:gd name="T30" fmla="*/ 142 h 1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7" h="142">
                    <a:moveTo>
                      <a:pt x="25" y="4"/>
                    </a:moveTo>
                    <a:cubicBezTo>
                      <a:pt x="45" y="5"/>
                      <a:pt x="69" y="0"/>
                      <a:pt x="85" y="11"/>
                    </a:cubicBezTo>
                    <a:cubicBezTo>
                      <a:pt x="98" y="20"/>
                      <a:pt x="106" y="52"/>
                      <a:pt x="106" y="52"/>
                    </a:cubicBezTo>
                    <a:cubicBezTo>
                      <a:pt x="108" y="67"/>
                      <a:pt x="117" y="96"/>
                      <a:pt x="117" y="96"/>
                    </a:cubicBezTo>
                    <a:cubicBezTo>
                      <a:pt x="113" y="126"/>
                      <a:pt x="114" y="131"/>
                      <a:pt x="89" y="142"/>
                    </a:cubicBezTo>
                    <a:cubicBezTo>
                      <a:pt x="63" y="138"/>
                      <a:pt x="37" y="132"/>
                      <a:pt x="20" y="109"/>
                    </a:cubicBezTo>
                    <a:cubicBezTo>
                      <a:pt x="13" y="101"/>
                      <a:pt x="8" y="94"/>
                      <a:pt x="5" y="85"/>
                    </a:cubicBezTo>
                    <a:cubicBezTo>
                      <a:pt x="3" y="81"/>
                      <a:pt x="3" y="71"/>
                      <a:pt x="0" y="72"/>
                    </a:cubicBezTo>
                    <a:cubicBezTo>
                      <a:pt x="3" y="59"/>
                      <a:pt x="11" y="14"/>
                      <a:pt x="25" y="4"/>
                    </a:cubicBezTo>
                    <a:close/>
                  </a:path>
                </a:pathLst>
              </a:custGeom>
              <a:solidFill>
                <a:srgbClr val="FFCC66"/>
              </a:solidFill>
              <a:ln w="9525">
                <a:solidFill>
                  <a:srgbClr val="000066"/>
                </a:solidFill>
                <a:round/>
                <a:headEnd/>
                <a:tailEnd/>
              </a:ln>
            </p:spPr>
            <p:txBody>
              <a:bodyPr/>
              <a:lstStyle/>
              <a:p>
                <a:endParaRPr lang="zh-CN" altLang="en-US"/>
              </a:p>
            </p:txBody>
          </p:sp>
          <p:sp>
            <p:nvSpPr>
              <p:cNvPr id="75790" name="Freeform 14"/>
              <p:cNvSpPr>
                <a:spLocks/>
              </p:cNvSpPr>
              <p:nvPr/>
            </p:nvSpPr>
            <p:spPr bwMode="auto">
              <a:xfrm>
                <a:off x="4041" y="1843"/>
                <a:ext cx="307" cy="276"/>
              </a:xfrm>
              <a:custGeom>
                <a:avLst/>
                <a:gdLst>
                  <a:gd name="T0" fmla="*/ 123 w 150"/>
                  <a:gd name="T1" fmla="*/ 762 h 125"/>
                  <a:gd name="T2" fmla="*/ 796 w 150"/>
                  <a:gd name="T3" fmla="*/ 110 h 125"/>
                  <a:gd name="T4" fmla="*/ 1162 w 150"/>
                  <a:gd name="T5" fmla="*/ 65 h 125"/>
                  <a:gd name="T6" fmla="*/ 1448 w 150"/>
                  <a:gd name="T7" fmla="*/ 146 h 125"/>
                  <a:gd name="T8" fmla="*/ 1721 w 150"/>
                  <a:gd name="T9" fmla="*/ 429 h 125"/>
                  <a:gd name="T10" fmla="*/ 1285 w 150"/>
                  <a:gd name="T11" fmla="*/ 1421 h 125"/>
                  <a:gd name="T12" fmla="*/ 559 w 150"/>
                  <a:gd name="T13" fmla="*/ 1272 h 125"/>
                  <a:gd name="T14" fmla="*/ 162 w 150"/>
                  <a:gd name="T15" fmla="*/ 976 h 125"/>
                  <a:gd name="T16" fmla="*/ 123 w 150"/>
                  <a:gd name="T17" fmla="*/ 762 h 1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0"/>
                  <a:gd name="T28" fmla="*/ 0 h 125"/>
                  <a:gd name="T29" fmla="*/ 150 w 150"/>
                  <a:gd name="T30" fmla="*/ 125 h 125"/>
                  <a:gd name="connsiteX0" fmla="*/ 0 w 8815"/>
                  <a:gd name="connsiteY0" fmla="*/ 5175 h 9815"/>
                  <a:gd name="connsiteX1" fmla="*/ 3600 w 8815"/>
                  <a:gd name="connsiteY1" fmla="*/ 615 h 9815"/>
                  <a:gd name="connsiteX2" fmla="*/ 5533 w 8815"/>
                  <a:gd name="connsiteY2" fmla="*/ 295 h 9815"/>
                  <a:gd name="connsiteX3" fmla="*/ 7066 w 8815"/>
                  <a:gd name="connsiteY3" fmla="*/ 855 h 9815"/>
                  <a:gd name="connsiteX4" fmla="*/ 8533 w 8815"/>
                  <a:gd name="connsiteY4" fmla="*/ 2855 h 9815"/>
                  <a:gd name="connsiteX5" fmla="*/ 6200 w 8815"/>
                  <a:gd name="connsiteY5" fmla="*/ 9815 h 9815"/>
                  <a:gd name="connsiteX6" fmla="*/ 2333 w 8815"/>
                  <a:gd name="connsiteY6" fmla="*/ 8775 h 9815"/>
                  <a:gd name="connsiteX7" fmla="*/ 200 w 8815"/>
                  <a:gd name="connsiteY7" fmla="*/ 6695 h 9815"/>
                  <a:gd name="connsiteX8" fmla="*/ 0 w 8815"/>
                  <a:gd name="connsiteY8" fmla="*/ 5175 h 9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15" h="9815">
                    <a:moveTo>
                      <a:pt x="0" y="5175"/>
                    </a:moveTo>
                    <a:cubicBezTo>
                      <a:pt x="333" y="695"/>
                      <a:pt x="333" y="1575"/>
                      <a:pt x="3600" y="615"/>
                    </a:cubicBezTo>
                    <a:cubicBezTo>
                      <a:pt x="4533" y="-185"/>
                      <a:pt x="4133" y="-105"/>
                      <a:pt x="5533" y="295"/>
                    </a:cubicBezTo>
                    <a:cubicBezTo>
                      <a:pt x="6066" y="455"/>
                      <a:pt x="7066" y="855"/>
                      <a:pt x="7066" y="855"/>
                    </a:cubicBezTo>
                    <a:cubicBezTo>
                      <a:pt x="7666" y="1335"/>
                      <a:pt x="8533" y="2855"/>
                      <a:pt x="8533" y="2855"/>
                    </a:cubicBezTo>
                    <a:cubicBezTo>
                      <a:pt x="9333" y="5975"/>
                      <a:pt x="8400" y="8375"/>
                      <a:pt x="6200" y="9815"/>
                    </a:cubicBezTo>
                    <a:cubicBezTo>
                      <a:pt x="3400" y="9575"/>
                      <a:pt x="4133" y="9415"/>
                      <a:pt x="2333" y="8775"/>
                    </a:cubicBezTo>
                    <a:cubicBezTo>
                      <a:pt x="1600" y="8135"/>
                      <a:pt x="866" y="7495"/>
                      <a:pt x="200" y="6695"/>
                    </a:cubicBezTo>
                    <a:cubicBezTo>
                      <a:pt x="133" y="6188"/>
                      <a:pt x="67" y="5682"/>
                      <a:pt x="0" y="5175"/>
                    </a:cubicBezTo>
                    <a:close/>
                  </a:path>
                </a:pathLst>
              </a:custGeom>
              <a:solidFill>
                <a:srgbClr val="FFCC66"/>
              </a:solidFill>
              <a:ln w="9525">
                <a:solidFill>
                  <a:srgbClr val="000066"/>
                </a:solidFill>
                <a:round/>
                <a:headEnd/>
                <a:tailEnd/>
              </a:ln>
            </p:spPr>
            <p:txBody>
              <a:bodyPr/>
              <a:lstStyle/>
              <a:p>
                <a:endParaRPr lang="zh-CN" altLang="en-US"/>
              </a:p>
            </p:txBody>
          </p:sp>
          <p:sp>
            <p:nvSpPr>
              <p:cNvPr id="75791" name="Freeform 15"/>
              <p:cNvSpPr>
                <a:spLocks/>
              </p:cNvSpPr>
              <p:nvPr/>
            </p:nvSpPr>
            <p:spPr bwMode="auto">
              <a:xfrm>
                <a:off x="4339" y="1770"/>
                <a:ext cx="316" cy="272"/>
              </a:xfrm>
              <a:custGeom>
                <a:avLst/>
                <a:gdLst>
                  <a:gd name="T0" fmla="*/ 298 w 173"/>
                  <a:gd name="T1" fmla="*/ 785 h 160"/>
                  <a:gd name="T2" fmla="*/ 94 w 173"/>
                  <a:gd name="T3" fmla="*/ 511 h 160"/>
                  <a:gd name="T4" fmla="*/ 653 w 173"/>
                  <a:gd name="T5" fmla="*/ 85 h 160"/>
                  <a:gd name="T6" fmla="*/ 926 w 173"/>
                  <a:gd name="T7" fmla="*/ 85 h 160"/>
                  <a:gd name="T8" fmla="*/ 1075 w 173"/>
                  <a:gd name="T9" fmla="*/ 375 h 160"/>
                  <a:gd name="T10" fmla="*/ 721 w 173"/>
                  <a:gd name="T11" fmla="*/ 895 h 160"/>
                  <a:gd name="T12" fmla="*/ 496 w 173"/>
                  <a:gd name="T13" fmla="*/ 873 h 160"/>
                  <a:gd name="T14" fmla="*/ 298 w 173"/>
                  <a:gd name="T15" fmla="*/ 785 h 160"/>
                  <a:gd name="T16" fmla="*/ 0 60000 65536"/>
                  <a:gd name="T17" fmla="*/ 0 60000 65536"/>
                  <a:gd name="T18" fmla="*/ 0 60000 65536"/>
                  <a:gd name="T19" fmla="*/ 0 60000 65536"/>
                  <a:gd name="T20" fmla="*/ 0 60000 65536"/>
                  <a:gd name="T21" fmla="*/ 0 60000 65536"/>
                  <a:gd name="T22" fmla="*/ 0 60000 65536"/>
                  <a:gd name="T23" fmla="*/ 0 60000 65536"/>
                  <a:gd name="T24" fmla="*/ 0 w 173"/>
                  <a:gd name="T25" fmla="*/ 0 h 160"/>
                  <a:gd name="T26" fmla="*/ 173 w 173"/>
                  <a:gd name="T27" fmla="*/ 160 h 1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3" h="160">
                    <a:moveTo>
                      <a:pt x="48" y="140"/>
                    </a:moveTo>
                    <a:cubicBezTo>
                      <a:pt x="42" y="120"/>
                      <a:pt x="27" y="107"/>
                      <a:pt x="15" y="91"/>
                    </a:cubicBezTo>
                    <a:cubicBezTo>
                      <a:pt x="0" y="47"/>
                      <a:pt x="69" y="25"/>
                      <a:pt x="105" y="15"/>
                    </a:cubicBezTo>
                    <a:cubicBezTo>
                      <a:pt x="117" y="0"/>
                      <a:pt x="133" y="9"/>
                      <a:pt x="149" y="15"/>
                    </a:cubicBezTo>
                    <a:cubicBezTo>
                      <a:pt x="164" y="38"/>
                      <a:pt x="167" y="42"/>
                      <a:pt x="173" y="67"/>
                    </a:cubicBezTo>
                    <a:cubicBezTo>
                      <a:pt x="169" y="126"/>
                      <a:pt x="172" y="144"/>
                      <a:pt x="116" y="160"/>
                    </a:cubicBezTo>
                    <a:cubicBezTo>
                      <a:pt x="104" y="159"/>
                      <a:pt x="91" y="160"/>
                      <a:pt x="80" y="156"/>
                    </a:cubicBezTo>
                    <a:lnTo>
                      <a:pt x="48" y="140"/>
                    </a:lnTo>
                    <a:close/>
                  </a:path>
                </a:pathLst>
              </a:custGeom>
              <a:solidFill>
                <a:srgbClr val="FFCC66"/>
              </a:solidFill>
              <a:ln w="9525">
                <a:solidFill>
                  <a:srgbClr val="000066"/>
                </a:solidFill>
                <a:round/>
                <a:headEnd/>
                <a:tailEnd/>
              </a:ln>
            </p:spPr>
            <p:txBody>
              <a:bodyPr/>
              <a:lstStyle/>
              <a:p>
                <a:endParaRPr lang="zh-CN" altLang="en-US"/>
              </a:p>
            </p:txBody>
          </p:sp>
          <p:sp>
            <p:nvSpPr>
              <p:cNvPr id="75792" name="Freeform 16"/>
              <p:cNvSpPr>
                <a:spLocks/>
              </p:cNvSpPr>
              <p:nvPr/>
            </p:nvSpPr>
            <p:spPr bwMode="auto">
              <a:xfrm rot="5400000">
                <a:off x="3995" y="1630"/>
                <a:ext cx="226" cy="278"/>
              </a:xfrm>
              <a:custGeom>
                <a:avLst/>
                <a:gdLst>
                  <a:gd name="T0" fmla="*/ 301 w 100"/>
                  <a:gd name="T1" fmla="*/ 123 h 120"/>
                  <a:gd name="T2" fmla="*/ 852 w 100"/>
                  <a:gd name="T3" fmla="*/ 171 h 120"/>
                  <a:gd name="T4" fmla="*/ 1155 w 100"/>
                  <a:gd name="T5" fmla="*/ 880 h 120"/>
                  <a:gd name="T6" fmla="*/ 522 w 100"/>
                  <a:gd name="T7" fmla="*/ 1321 h 120"/>
                  <a:gd name="T8" fmla="*/ 0 w 100"/>
                  <a:gd name="T9" fmla="*/ 375 h 120"/>
                  <a:gd name="T10" fmla="*/ 301 w 100"/>
                  <a:gd name="T11" fmla="*/ 123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26" y="10"/>
                    </a:moveTo>
                    <a:cubicBezTo>
                      <a:pt x="43" y="0"/>
                      <a:pt x="58" y="3"/>
                      <a:pt x="74" y="14"/>
                    </a:cubicBezTo>
                    <a:cubicBezTo>
                      <a:pt x="80" y="33"/>
                      <a:pt x="94" y="50"/>
                      <a:pt x="100" y="71"/>
                    </a:cubicBezTo>
                    <a:cubicBezTo>
                      <a:pt x="94" y="120"/>
                      <a:pt x="99" y="111"/>
                      <a:pt x="45" y="106"/>
                    </a:cubicBezTo>
                    <a:cubicBezTo>
                      <a:pt x="29" y="82"/>
                      <a:pt x="12" y="56"/>
                      <a:pt x="0" y="30"/>
                    </a:cubicBezTo>
                    <a:cubicBezTo>
                      <a:pt x="4" y="21"/>
                      <a:pt x="15" y="10"/>
                      <a:pt x="26" y="10"/>
                    </a:cubicBezTo>
                    <a:close/>
                  </a:path>
                </a:pathLst>
              </a:custGeom>
              <a:solidFill>
                <a:srgbClr val="FFCC66"/>
              </a:solidFill>
              <a:ln w="9525">
                <a:solidFill>
                  <a:srgbClr val="000066"/>
                </a:solidFill>
                <a:round/>
                <a:headEnd/>
                <a:tailEnd/>
              </a:ln>
            </p:spPr>
            <p:txBody>
              <a:bodyPr/>
              <a:lstStyle/>
              <a:p>
                <a:endParaRPr lang="zh-CN" altLang="en-US"/>
              </a:p>
            </p:txBody>
          </p:sp>
          <p:sp>
            <p:nvSpPr>
              <p:cNvPr id="75793" name="Freeform 17"/>
              <p:cNvSpPr>
                <a:spLocks/>
              </p:cNvSpPr>
              <p:nvPr/>
            </p:nvSpPr>
            <p:spPr bwMode="auto">
              <a:xfrm rot="5400000">
                <a:off x="4854" y="1554"/>
                <a:ext cx="253" cy="227"/>
              </a:xfrm>
              <a:custGeom>
                <a:avLst/>
                <a:gdLst>
                  <a:gd name="T0" fmla="*/ 0 w 103"/>
                  <a:gd name="T1" fmla="*/ 0 h 103"/>
                  <a:gd name="T2" fmla="*/ 1178 w 103"/>
                  <a:gd name="T3" fmla="*/ 1002 h 103"/>
                  <a:gd name="T4" fmla="*/ 547 w 103"/>
                  <a:gd name="T5" fmla="*/ 1114 h 103"/>
                  <a:gd name="T6" fmla="*/ 146 w 103"/>
                  <a:gd name="T7" fmla="*/ 803 h 103"/>
                  <a:gd name="T8" fmla="*/ 0 w 103"/>
                  <a:gd name="T9" fmla="*/ 0 h 103"/>
                  <a:gd name="T10" fmla="*/ 0 60000 65536"/>
                  <a:gd name="T11" fmla="*/ 0 60000 65536"/>
                  <a:gd name="T12" fmla="*/ 0 60000 65536"/>
                  <a:gd name="T13" fmla="*/ 0 60000 65536"/>
                  <a:gd name="T14" fmla="*/ 0 60000 65536"/>
                  <a:gd name="T15" fmla="*/ 0 w 103"/>
                  <a:gd name="T16" fmla="*/ 0 h 103"/>
                  <a:gd name="T17" fmla="*/ 103 w 103"/>
                  <a:gd name="T18" fmla="*/ 103 h 103"/>
                  <a:gd name="connsiteX0" fmla="*/ 0 w 10000"/>
                  <a:gd name="connsiteY0" fmla="*/ 362 h 9479"/>
                  <a:gd name="connsiteX1" fmla="*/ 5401 w 10000"/>
                  <a:gd name="connsiteY1" fmla="*/ 1789 h 9479"/>
                  <a:gd name="connsiteX2" fmla="*/ 10000 w 10000"/>
                  <a:gd name="connsiteY2" fmla="*/ 8129 h 9479"/>
                  <a:gd name="connsiteX3" fmla="*/ 4660 w 10000"/>
                  <a:gd name="connsiteY3" fmla="*/ 9003 h 9479"/>
                  <a:gd name="connsiteX4" fmla="*/ 1262 w 10000"/>
                  <a:gd name="connsiteY4" fmla="*/ 6576 h 9479"/>
                  <a:gd name="connsiteX5" fmla="*/ 0 w 10000"/>
                  <a:gd name="connsiteY5" fmla="*/ 362 h 9479"/>
                  <a:gd name="connsiteX0" fmla="*/ 378 w 10378"/>
                  <a:gd name="connsiteY0" fmla="*/ 382 h 10000"/>
                  <a:gd name="connsiteX1" fmla="*/ 5779 w 10378"/>
                  <a:gd name="connsiteY1" fmla="*/ 1887 h 10000"/>
                  <a:gd name="connsiteX2" fmla="*/ 10378 w 10378"/>
                  <a:gd name="connsiteY2" fmla="*/ 8576 h 10000"/>
                  <a:gd name="connsiteX3" fmla="*/ 5038 w 10378"/>
                  <a:gd name="connsiteY3" fmla="*/ 9498 h 10000"/>
                  <a:gd name="connsiteX4" fmla="*/ 1640 w 10378"/>
                  <a:gd name="connsiteY4" fmla="*/ 6937 h 10000"/>
                  <a:gd name="connsiteX5" fmla="*/ 537 w 10378"/>
                  <a:gd name="connsiteY5" fmla="*/ 3449 h 10000"/>
                  <a:gd name="connsiteX6" fmla="*/ 378 w 10378"/>
                  <a:gd name="connsiteY6" fmla="*/ 38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78" h="10000">
                    <a:moveTo>
                      <a:pt x="378" y="382"/>
                    </a:moveTo>
                    <a:cubicBezTo>
                      <a:pt x="631" y="-625"/>
                      <a:pt x="4112" y="522"/>
                      <a:pt x="5779" y="1887"/>
                    </a:cubicBezTo>
                    <a:cubicBezTo>
                      <a:pt x="7446" y="3252"/>
                      <a:pt x="10065" y="7142"/>
                      <a:pt x="10378" y="8576"/>
                    </a:cubicBezTo>
                    <a:cubicBezTo>
                      <a:pt x="9601" y="10932"/>
                      <a:pt x="6883" y="9703"/>
                      <a:pt x="5038" y="9498"/>
                    </a:cubicBezTo>
                    <a:cubicBezTo>
                      <a:pt x="3776" y="8576"/>
                      <a:pt x="2805" y="7961"/>
                      <a:pt x="1640" y="6937"/>
                    </a:cubicBezTo>
                    <a:cubicBezTo>
                      <a:pt x="924" y="5929"/>
                      <a:pt x="747" y="4541"/>
                      <a:pt x="537" y="3449"/>
                    </a:cubicBezTo>
                    <a:cubicBezTo>
                      <a:pt x="327" y="2357"/>
                      <a:pt x="-461" y="642"/>
                      <a:pt x="378" y="382"/>
                    </a:cubicBezTo>
                    <a:close/>
                  </a:path>
                </a:pathLst>
              </a:custGeom>
              <a:solidFill>
                <a:srgbClr val="FFCC66"/>
              </a:solidFill>
              <a:ln w="9525">
                <a:solidFill>
                  <a:srgbClr val="000066"/>
                </a:solidFill>
                <a:round/>
                <a:headEnd/>
                <a:tailEnd/>
              </a:ln>
            </p:spPr>
            <p:txBody>
              <a:bodyPr/>
              <a:lstStyle/>
              <a:p>
                <a:endParaRPr lang="zh-CN" altLang="en-US"/>
              </a:p>
            </p:txBody>
          </p:sp>
          <p:sp>
            <p:nvSpPr>
              <p:cNvPr id="75794" name="Freeform 18"/>
              <p:cNvSpPr>
                <a:spLocks/>
              </p:cNvSpPr>
              <p:nvPr/>
            </p:nvSpPr>
            <p:spPr bwMode="auto">
              <a:xfrm rot="5400000">
                <a:off x="4470" y="2203"/>
                <a:ext cx="333" cy="267"/>
              </a:xfrm>
              <a:custGeom>
                <a:avLst/>
                <a:gdLst>
                  <a:gd name="T0" fmla="*/ 25 w 148"/>
                  <a:gd name="T1" fmla="*/ 560 h 115"/>
                  <a:gd name="T2" fmla="*/ 158 w 148"/>
                  <a:gd name="T3" fmla="*/ 163 h 115"/>
                  <a:gd name="T4" fmla="*/ 754 w 148"/>
                  <a:gd name="T5" fmla="*/ 0 h 115"/>
                  <a:gd name="T6" fmla="*/ 1402 w 148"/>
                  <a:gd name="T7" fmla="*/ 123 h 115"/>
                  <a:gd name="T8" fmla="*/ 1584 w 148"/>
                  <a:gd name="T9" fmla="*/ 436 h 115"/>
                  <a:gd name="T10" fmla="*/ 1069 w 148"/>
                  <a:gd name="T11" fmla="*/ 1439 h 115"/>
                  <a:gd name="T12" fmla="*/ 308 w 148"/>
                  <a:gd name="T13" fmla="*/ 1126 h 115"/>
                  <a:gd name="T14" fmla="*/ 56 w 148"/>
                  <a:gd name="T15" fmla="*/ 878 h 115"/>
                  <a:gd name="T16" fmla="*/ 25 w 148"/>
                  <a:gd name="T17" fmla="*/ 560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15"/>
                  <a:gd name="T29" fmla="*/ 148 w 148"/>
                  <a:gd name="T30" fmla="*/ 115 h 1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15">
                    <a:moveTo>
                      <a:pt x="2" y="45"/>
                    </a:moveTo>
                    <a:cubicBezTo>
                      <a:pt x="5" y="37"/>
                      <a:pt x="5" y="18"/>
                      <a:pt x="14" y="13"/>
                    </a:cubicBezTo>
                    <a:cubicBezTo>
                      <a:pt x="28" y="6"/>
                      <a:pt x="51" y="3"/>
                      <a:pt x="66" y="0"/>
                    </a:cubicBezTo>
                    <a:cubicBezTo>
                      <a:pt x="88" y="2"/>
                      <a:pt x="103" y="4"/>
                      <a:pt x="123" y="10"/>
                    </a:cubicBezTo>
                    <a:cubicBezTo>
                      <a:pt x="132" y="17"/>
                      <a:pt x="135" y="24"/>
                      <a:pt x="139" y="35"/>
                    </a:cubicBezTo>
                    <a:cubicBezTo>
                      <a:pt x="136" y="99"/>
                      <a:pt x="148" y="107"/>
                      <a:pt x="94" y="115"/>
                    </a:cubicBezTo>
                    <a:cubicBezTo>
                      <a:pt x="64" y="111"/>
                      <a:pt x="53" y="102"/>
                      <a:pt x="27" y="90"/>
                    </a:cubicBezTo>
                    <a:cubicBezTo>
                      <a:pt x="20" y="82"/>
                      <a:pt x="12" y="78"/>
                      <a:pt x="5" y="70"/>
                    </a:cubicBezTo>
                    <a:cubicBezTo>
                      <a:pt x="0" y="56"/>
                      <a:pt x="2" y="64"/>
                      <a:pt x="2" y="45"/>
                    </a:cubicBezTo>
                    <a:close/>
                  </a:path>
                </a:pathLst>
              </a:custGeom>
              <a:solidFill>
                <a:srgbClr val="FFCC66"/>
              </a:solidFill>
              <a:ln w="9525">
                <a:solidFill>
                  <a:srgbClr val="000066"/>
                </a:solidFill>
                <a:round/>
                <a:headEnd/>
                <a:tailEnd/>
              </a:ln>
            </p:spPr>
            <p:txBody>
              <a:bodyPr/>
              <a:lstStyle/>
              <a:p>
                <a:endParaRPr lang="zh-CN" altLang="en-US"/>
              </a:p>
            </p:txBody>
          </p:sp>
          <p:sp>
            <p:nvSpPr>
              <p:cNvPr id="75795" name="Freeform 19"/>
              <p:cNvSpPr>
                <a:spLocks/>
              </p:cNvSpPr>
              <p:nvPr/>
            </p:nvSpPr>
            <p:spPr bwMode="auto">
              <a:xfrm rot="10800000">
                <a:off x="4922" y="1852"/>
                <a:ext cx="254" cy="274"/>
              </a:xfrm>
              <a:custGeom>
                <a:avLst/>
                <a:gdLst>
                  <a:gd name="T0" fmla="*/ 114 w 115"/>
                  <a:gd name="T1" fmla="*/ 398 h 122"/>
                  <a:gd name="T2" fmla="*/ 636 w 115"/>
                  <a:gd name="T3" fmla="*/ 0 h 122"/>
                  <a:gd name="T4" fmla="*/ 878 w 115"/>
                  <a:gd name="T5" fmla="*/ 36 h 122"/>
                  <a:gd name="T6" fmla="*/ 1003 w 115"/>
                  <a:gd name="T7" fmla="*/ 218 h 122"/>
                  <a:gd name="T8" fmla="*/ 1439 w 115"/>
                  <a:gd name="T9" fmla="*/ 874 h 122"/>
                  <a:gd name="T10" fmla="*/ 710 w 115"/>
                  <a:gd name="T11" fmla="*/ 1202 h 122"/>
                  <a:gd name="T12" fmla="*/ 114 w 115"/>
                  <a:gd name="T13" fmla="*/ 725 h 122"/>
                  <a:gd name="T14" fmla="*/ 114 w 115"/>
                  <a:gd name="T15" fmla="*/ 398 h 122"/>
                  <a:gd name="T16" fmla="*/ 0 60000 65536"/>
                  <a:gd name="T17" fmla="*/ 0 60000 65536"/>
                  <a:gd name="T18" fmla="*/ 0 60000 65536"/>
                  <a:gd name="T19" fmla="*/ 0 60000 65536"/>
                  <a:gd name="T20" fmla="*/ 0 60000 65536"/>
                  <a:gd name="T21" fmla="*/ 0 60000 65536"/>
                  <a:gd name="T22" fmla="*/ 0 60000 65536"/>
                  <a:gd name="T23" fmla="*/ 0 60000 65536"/>
                  <a:gd name="T24" fmla="*/ 0 w 115"/>
                  <a:gd name="T25" fmla="*/ 0 h 122"/>
                  <a:gd name="T26" fmla="*/ 115 w 115"/>
                  <a:gd name="T27" fmla="*/ 122 h 1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 h="122">
                    <a:moveTo>
                      <a:pt x="9" y="35"/>
                    </a:moveTo>
                    <a:cubicBezTo>
                      <a:pt x="26" y="25"/>
                      <a:pt x="32" y="6"/>
                      <a:pt x="51" y="0"/>
                    </a:cubicBezTo>
                    <a:cubicBezTo>
                      <a:pt x="57" y="1"/>
                      <a:pt x="64" y="1"/>
                      <a:pt x="70" y="3"/>
                    </a:cubicBezTo>
                    <a:cubicBezTo>
                      <a:pt x="79" y="6"/>
                      <a:pt x="76" y="12"/>
                      <a:pt x="80" y="19"/>
                    </a:cubicBezTo>
                    <a:cubicBezTo>
                      <a:pt x="91" y="38"/>
                      <a:pt x="103" y="58"/>
                      <a:pt x="115" y="77"/>
                    </a:cubicBezTo>
                    <a:cubicBezTo>
                      <a:pt x="110" y="122"/>
                      <a:pt x="107" y="109"/>
                      <a:pt x="57" y="106"/>
                    </a:cubicBezTo>
                    <a:cubicBezTo>
                      <a:pt x="35" y="96"/>
                      <a:pt x="26" y="79"/>
                      <a:pt x="9" y="64"/>
                    </a:cubicBezTo>
                    <a:cubicBezTo>
                      <a:pt x="2" y="41"/>
                      <a:pt x="0" y="51"/>
                      <a:pt x="9" y="35"/>
                    </a:cubicBezTo>
                    <a:close/>
                  </a:path>
                </a:pathLst>
              </a:custGeom>
              <a:solidFill>
                <a:srgbClr val="FFCC66"/>
              </a:solidFill>
              <a:ln w="9525">
                <a:solidFill>
                  <a:srgbClr val="000066"/>
                </a:solidFill>
                <a:round/>
                <a:headEnd/>
                <a:tailEnd/>
              </a:ln>
            </p:spPr>
            <p:txBody>
              <a:bodyPr/>
              <a:lstStyle/>
              <a:p>
                <a:endParaRPr lang="zh-CN" altLang="en-US"/>
              </a:p>
            </p:txBody>
          </p:sp>
          <p:sp>
            <p:nvSpPr>
              <p:cNvPr id="75796" name="Freeform 20"/>
              <p:cNvSpPr>
                <a:spLocks/>
              </p:cNvSpPr>
              <p:nvPr/>
            </p:nvSpPr>
            <p:spPr bwMode="auto">
              <a:xfrm rot="5400000">
                <a:off x="5012" y="1588"/>
                <a:ext cx="287" cy="333"/>
              </a:xfrm>
              <a:custGeom>
                <a:avLst/>
                <a:gdLst>
                  <a:gd name="T0" fmla="*/ 0 w 128"/>
                  <a:gd name="T1" fmla="*/ 668 h 144"/>
                  <a:gd name="T2" fmla="*/ 462 w 128"/>
                  <a:gd name="T3" fmla="*/ 0 h 144"/>
                  <a:gd name="T4" fmla="*/ 1226 w 128"/>
                  <a:gd name="T5" fmla="*/ 358 h 144"/>
                  <a:gd name="T6" fmla="*/ 1408 w 128"/>
                  <a:gd name="T7" fmla="*/ 867 h 144"/>
                  <a:gd name="T8" fmla="*/ 1444 w 128"/>
                  <a:gd name="T9" fmla="*/ 990 h 144"/>
                  <a:gd name="T10" fmla="*/ 1004 w 128"/>
                  <a:gd name="T11" fmla="*/ 1781 h 144"/>
                  <a:gd name="T12" fmla="*/ 688 w 128"/>
                  <a:gd name="T13" fmla="*/ 1582 h 144"/>
                  <a:gd name="T14" fmla="*/ 327 w 128"/>
                  <a:gd name="T15" fmla="*/ 1385 h 144"/>
                  <a:gd name="T16" fmla="*/ 0 w 128"/>
                  <a:gd name="T17" fmla="*/ 668 h 1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8"/>
                  <a:gd name="T28" fmla="*/ 0 h 144"/>
                  <a:gd name="T29" fmla="*/ 128 w 128"/>
                  <a:gd name="T30" fmla="*/ 144 h 144"/>
                  <a:gd name="connsiteX0" fmla="*/ 0 w 10000"/>
                  <a:gd name="connsiteY0" fmla="*/ 3750 h 10000"/>
                  <a:gd name="connsiteX1" fmla="*/ 3203 w 10000"/>
                  <a:gd name="connsiteY1" fmla="*/ 0 h 10000"/>
                  <a:gd name="connsiteX2" fmla="*/ 8516 w 10000"/>
                  <a:gd name="connsiteY2" fmla="*/ 2014 h 10000"/>
                  <a:gd name="connsiteX3" fmla="*/ 9766 w 10000"/>
                  <a:gd name="connsiteY3" fmla="*/ 4861 h 10000"/>
                  <a:gd name="connsiteX4" fmla="*/ 10000 w 10000"/>
                  <a:gd name="connsiteY4" fmla="*/ 5556 h 10000"/>
                  <a:gd name="connsiteX5" fmla="*/ 6953 w 10000"/>
                  <a:gd name="connsiteY5" fmla="*/ 10000 h 10000"/>
                  <a:gd name="connsiteX6" fmla="*/ 4766 w 10000"/>
                  <a:gd name="connsiteY6" fmla="*/ 8889 h 10000"/>
                  <a:gd name="connsiteX7" fmla="*/ 2266 w 10000"/>
                  <a:gd name="connsiteY7" fmla="*/ 7778 h 10000"/>
                  <a:gd name="connsiteX8" fmla="*/ 0 w 10000"/>
                  <a:gd name="connsiteY8" fmla="*/ 3750 h 10000"/>
                  <a:gd name="connsiteX0" fmla="*/ 0 w 10000"/>
                  <a:gd name="connsiteY0" fmla="*/ 3750 h 10000"/>
                  <a:gd name="connsiteX1" fmla="*/ 3203 w 10000"/>
                  <a:gd name="connsiteY1" fmla="*/ 0 h 10000"/>
                  <a:gd name="connsiteX2" fmla="*/ 8516 w 10000"/>
                  <a:gd name="connsiteY2" fmla="*/ 2014 h 10000"/>
                  <a:gd name="connsiteX3" fmla="*/ 9766 w 10000"/>
                  <a:gd name="connsiteY3" fmla="*/ 4861 h 10000"/>
                  <a:gd name="connsiteX4" fmla="*/ 10000 w 10000"/>
                  <a:gd name="connsiteY4" fmla="*/ 5556 h 10000"/>
                  <a:gd name="connsiteX5" fmla="*/ 6953 w 10000"/>
                  <a:gd name="connsiteY5" fmla="*/ 10000 h 10000"/>
                  <a:gd name="connsiteX6" fmla="*/ 4766 w 10000"/>
                  <a:gd name="connsiteY6" fmla="*/ 8889 h 10000"/>
                  <a:gd name="connsiteX7" fmla="*/ 2266 w 10000"/>
                  <a:gd name="connsiteY7" fmla="*/ 7778 h 10000"/>
                  <a:gd name="connsiteX8" fmla="*/ 690 w 10000"/>
                  <a:gd name="connsiteY8" fmla="*/ 5754 h 10000"/>
                  <a:gd name="connsiteX9" fmla="*/ 0 w 10000"/>
                  <a:gd name="connsiteY9" fmla="*/ 375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0" y="3750"/>
                    </a:moveTo>
                    <a:cubicBezTo>
                      <a:pt x="938" y="2431"/>
                      <a:pt x="1563" y="694"/>
                      <a:pt x="3203" y="0"/>
                    </a:cubicBezTo>
                    <a:cubicBezTo>
                      <a:pt x="5625" y="208"/>
                      <a:pt x="6797" y="486"/>
                      <a:pt x="8516" y="2014"/>
                    </a:cubicBezTo>
                    <a:cubicBezTo>
                      <a:pt x="8906" y="2986"/>
                      <a:pt x="9375" y="3819"/>
                      <a:pt x="9766" y="4861"/>
                    </a:cubicBezTo>
                    <a:cubicBezTo>
                      <a:pt x="9844" y="5069"/>
                      <a:pt x="10000" y="5556"/>
                      <a:pt x="10000" y="5556"/>
                    </a:cubicBezTo>
                    <a:cubicBezTo>
                      <a:pt x="9766" y="8472"/>
                      <a:pt x="9922" y="9236"/>
                      <a:pt x="6953" y="10000"/>
                    </a:cubicBezTo>
                    <a:cubicBezTo>
                      <a:pt x="6250" y="9514"/>
                      <a:pt x="5625" y="9167"/>
                      <a:pt x="4766" y="8889"/>
                    </a:cubicBezTo>
                    <a:cubicBezTo>
                      <a:pt x="3906" y="8333"/>
                      <a:pt x="3125" y="8264"/>
                      <a:pt x="2266" y="7778"/>
                    </a:cubicBezTo>
                    <a:cubicBezTo>
                      <a:pt x="1852" y="7071"/>
                      <a:pt x="1104" y="6461"/>
                      <a:pt x="690" y="5754"/>
                    </a:cubicBezTo>
                    <a:lnTo>
                      <a:pt x="0" y="3750"/>
                    </a:lnTo>
                    <a:close/>
                  </a:path>
                </a:pathLst>
              </a:custGeom>
              <a:solidFill>
                <a:srgbClr val="FFCC66"/>
              </a:solidFill>
              <a:ln w="9525">
                <a:solidFill>
                  <a:srgbClr val="000066"/>
                </a:solidFill>
                <a:round/>
                <a:headEnd/>
                <a:tailEnd/>
              </a:ln>
            </p:spPr>
            <p:txBody>
              <a:bodyPr/>
              <a:lstStyle/>
              <a:p>
                <a:endParaRPr lang="zh-CN" altLang="en-US"/>
              </a:p>
            </p:txBody>
          </p:sp>
          <p:sp>
            <p:nvSpPr>
              <p:cNvPr id="75797" name="Freeform 21"/>
              <p:cNvSpPr>
                <a:spLocks/>
              </p:cNvSpPr>
              <p:nvPr/>
            </p:nvSpPr>
            <p:spPr bwMode="auto">
              <a:xfrm>
                <a:off x="4752" y="2060"/>
                <a:ext cx="260" cy="207"/>
              </a:xfrm>
              <a:custGeom>
                <a:avLst/>
                <a:gdLst>
                  <a:gd name="T0" fmla="*/ 861 w 141"/>
                  <a:gd name="T1" fmla="*/ 143 h 116"/>
                  <a:gd name="T2" fmla="*/ 817 w 141"/>
                  <a:gd name="T3" fmla="*/ 484 h 116"/>
                  <a:gd name="T4" fmla="*/ 557 w 141"/>
                  <a:gd name="T5" fmla="*/ 596 h 116"/>
                  <a:gd name="T6" fmla="*/ 282 w 141"/>
                  <a:gd name="T7" fmla="*/ 658 h 116"/>
                  <a:gd name="T8" fmla="*/ 0 w 141"/>
                  <a:gd name="T9" fmla="*/ 500 h 116"/>
                  <a:gd name="T10" fmla="*/ 207 w 141"/>
                  <a:gd name="T11" fmla="*/ 114 h 116"/>
                  <a:gd name="T12" fmla="*/ 358 w 141"/>
                  <a:gd name="T13" fmla="*/ 29 h 116"/>
                  <a:gd name="T14" fmla="*/ 431 w 141"/>
                  <a:gd name="T15" fmla="*/ 0 h 116"/>
                  <a:gd name="T16" fmla="*/ 861 w 141"/>
                  <a:gd name="T17" fmla="*/ 143 h 1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116"/>
                  <a:gd name="T29" fmla="*/ 141 w 141"/>
                  <a:gd name="T30" fmla="*/ 116 h 1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116">
                    <a:moveTo>
                      <a:pt x="137" y="25"/>
                    </a:moveTo>
                    <a:cubicBezTo>
                      <a:pt x="136" y="45"/>
                      <a:pt x="141" y="68"/>
                      <a:pt x="130" y="85"/>
                    </a:cubicBezTo>
                    <a:cubicBezTo>
                      <a:pt x="121" y="97"/>
                      <a:pt x="89" y="105"/>
                      <a:pt x="89" y="105"/>
                    </a:cubicBezTo>
                    <a:cubicBezTo>
                      <a:pt x="74" y="107"/>
                      <a:pt x="45" y="116"/>
                      <a:pt x="45" y="116"/>
                    </a:cubicBezTo>
                    <a:cubicBezTo>
                      <a:pt x="16" y="112"/>
                      <a:pt x="11" y="113"/>
                      <a:pt x="0" y="88"/>
                    </a:cubicBezTo>
                    <a:cubicBezTo>
                      <a:pt x="4" y="62"/>
                      <a:pt x="10" y="37"/>
                      <a:pt x="33" y="20"/>
                    </a:cubicBezTo>
                    <a:cubicBezTo>
                      <a:pt x="40" y="13"/>
                      <a:pt x="48" y="8"/>
                      <a:pt x="57" y="5"/>
                    </a:cubicBezTo>
                    <a:cubicBezTo>
                      <a:pt x="60" y="3"/>
                      <a:pt x="70" y="3"/>
                      <a:pt x="69" y="0"/>
                    </a:cubicBezTo>
                    <a:cubicBezTo>
                      <a:pt x="82" y="3"/>
                      <a:pt x="127" y="11"/>
                      <a:pt x="137" y="25"/>
                    </a:cubicBezTo>
                    <a:close/>
                  </a:path>
                </a:pathLst>
              </a:custGeom>
              <a:solidFill>
                <a:srgbClr val="FFCC66"/>
              </a:solidFill>
              <a:ln w="9525">
                <a:solidFill>
                  <a:srgbClr val="000066"/>
                </a:solidFill>
                <a:round/>
                <a:headEnd/>
                <a:tailEnd/>
              </a:ln>
            </p:spPr>
            <p:txBody>
              <a:bodyPr/>
              <a:lstStyle/>
              <a:p>
                <a:endParaRPr lang="zh-CN" altLang="en-US"/>
              </a:p>
            </p:txBody>
          </p:sp>
          <p:sp>
            <p:nvSpPr>
              <p:cNvPr id="75798" name="Freeform 22"/>
              <p:cNvSpPr>
                <a:spLocks/>
              </p:cNvSpPr>
              <p:nvPr/>
            </p:nvSpPr>
            <p:spPr bwMode="auto">
              <a:xfrm rot="5400000">
                <a:off x="4644" y="1782"/>
                <a:ext cx="288" cy="272"/>
              </a:xfrm>
              <a:custGeom>
                <a:avLst/>
                <a:gdLst>
                  <a:gd name="T0" fmla="*/ 110 w 150"/>
                  <a:gd name="T1" fmla="*/ 845 h 125"/>
                  <a:gd name="T2" fmla="*/ 717 w 150"/>
                  <a:gd name="T3" fmla="*/ 126 h 125"/>
                  <a:gd name="T4" fmla="*/ 1044 w 150"/>
                  <a:gd name="T5" fmla="*/ 77 h 125"/>
                  <a:gd name="T6" fmla="*/ 1304 w 150"/>
                  <a:gd name="T7" fmla="*/ 163 h 125"/>
                  <a:gd name="T8" fmla="*/ 1550 w 150"/>
                  <a:gd name="T9" fmla="*/ 477 h 125"/>
                  <a:gd name="T10" fmla="*/ 1158 w 150"/>
                  <a:gd name="T11" fmla="*/ 1576 h 125"/>
                  <a:gd name="T12" fmla="*/ 506 w 150"/>
                  <a:gd name="T13" fmla="*/ 1415 h 125"/>
                  <a:gd name="T14" fmla="*/ 146 w 150"/>
                  <a:gd name="T15" fmla="*/ 1085 h 125"/>
                  <a:gd name="T16" fmla="*/ 110 w 150"/>
                  <a:gd name="T17" fmla="*/ 845 h 1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0"/>
                  <a:gd name="T28" fmla="*/ 0 h 125"/>
                  <a:gd name="T29" fmla="*/ 150 w 150"/>
                  <a:gd name="T30" fmla="*/ 125 h 125"/>
                  <a:gd name="connsiteX0" fmla="*/ 0 w 8815"/>
                  <a:gd name="connsiteY0" fmla="*/ 5175 h 9815"/>
                  <a:gd name="connsiteX1" fmla="*/ 3600 w 8815"/>
                  <a:gd name="connsiteY1" fmla="*/ 615 h 9815"/>
                  <a:gd name="connsiteX2" fmla="*/ 5533 w 8815"/>
                  <a:gd name="connsiteY2" fmla="*/ 295 h 9815"/>
                  <a:gd name="connsiteX3" fmla="*/ 7066 w 8815"/>
                  <a:gd name="connsiteY3" fmla="*/ 855 h 9815"/>
                  <a:gd name="connsiteX4" fmla="*/ 8533 w 8815"/>
                  <a:gd name="connsiteY4" fmla="*/ 2855 h 9815"/>
                  <a:gd name="connsiteX5" fmla="*/ 6200 w 8815"/>
                  <a:gd name="connsiteY5" fmla="*/ 9815 h 9815"/>
                  <a:gd name="connsiteX6" fmla="*/ 2333 w 8815"/>
                  <a:gd name="connsiteY6" fmla="*/ 8775 h 9815"/>
                  <a:gd name="connsiteX7" fmla="*/ 200 w 8815"/>
                  <a:gd name="connsiteY7" fmla="*/ 6695 h 9815"/>
                  <a:gd name="connsiteX8" fmla="*/ 0 w 8815"/>
                  <a:gd name="connsiteY8" fmla="*/ 5175 h 9815"/>
                  <a:gd name="connsiteX0" fmla="*/ 0 w 9720"/>
                  <a:gd name="connsiteY0" fmla="*/ 5273 h 10366"/>
                  <a:gd name="connsiteX1" fmla="*/ 4084 w 9720"/>
                  <a:gd name="connsiteY1" fmla="*/ 627 h 10366"/>
                  <a:gd name="connsiteX2" fmla="*/ 6277 w 9720"/>
                  <a:gd name="connsiteY2" fmla="*/ 301 h 10366"/>
                  <a:gd name="connsiteX3" fmla="*/ 8016 w 9720"/>
                  <a:gd name="connsiteY3" fmla="*/ 871 h 10366"/>
                  <a:gd name="connsiteX4" fmla="*/ 9680 w 9720"/>
                  <a:gd name="connsiteY4" fmla="*/ 2909 h 10366"/>
                  <a:gd name="connsiteX5" fmla="*/ 6330 w 9720"/>
                  <a:gd name="connsiteY5" fmla="*/ 10366 h 10366"/>
                  <a:gd name="connsiteX6" fmla="*/ 2647 w 9720"/>
                  <a:gd name="connsiteY6" fmla="*/ 8940 h 10366"/>
                  <a:gd name="connsiteX7" fmla="*/ 227 w 9720"/>
                  <a:gd name="connsiteY7" fmla="*/ 6821 h 10366"/>
                  <a:gd name="connsiteX8" fmla="*/ 0 w 9720"/>
                  <a:gd name="connsiteY8" fmla="*/ 5273 h 1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20" h="10366">
                    <a:moveTo>
                      <a:pt x="0" y="5273"/>
                    </a:moveTo>
                    <a:cubicBezTo>
                      <a:pt x="378" y="708"/>
                      <a:pt x="378" y="1605"/>
                      <a:pt x="4084" y="627"/>
                    </a:cubicBezTo>
                    <a:cubicBezTo>
                      <a:pt x="5142" y="-188"/>
                      <a:pt x="4689" y="-107"/>
                      <a:pt x="6277" y="301"/>
                    </a:cubicBezTo>
                    <a:cubicBezTo>
                      <a:pt x="6881" y="464"/>
                      <a:pt x="8016" y="871"/>
                      <a:pt x="8016" y="871"/>
                    </a:cubicBezTo>
                    <a:cubicBezTo>
                      <a:pt x="8697" y="1360"/>
                      <a:pt x="9961" y="1327"/>
                      <a:pt x="9680" y="2909"/>
                    </a:cubicBezTo>
                    <a:cubicBezTo>
                      <a:pt x="9399" y="4491"/>
                      <a:pt x="8826" y="8899"/>
                      <a:pt x="6330" y="10366"/>
                    </a:cubicBezTo>
                    <a:cubicBezTo>
                      <a:pt x="3154" y="10121"/>
                      <a:pt x="4689" y="9592"/>
                      <a:pt x="2647" y="8940"/>
                    </a:cubicBezTo>
                    <a:cubicBezTo>
                      <a:pt x="1815" y="8288"/>
                      <a:pt x="982" y="7636"/>
                      <a:pt x="227" y="6821"/>
                    </a:cubicBezTo>
                    <a:cubicBezTo>
                      <a:pt x="151" y="6305"/>
                      <a:pt x="76" y="5789"/>
                      <a:pt x="0" y="5273"/>
                    </a:cubicBezTo>
                    <a:close/>
                  </a:path>
                </a:pathLst>
              </a:custGeom>
              <a:solidFill>
                <a:srgbClr val="FFCC66"/>
              </a:solidFill>
              <a:ln w="9525">
                <a:solidFill>
                  <a:srgbClr val="000066"/>
                </a:solidFill>
                <a:round/>
                <a:headEnd/>
                <a:tailEnd/>
              </a:ln>
            </p:spPr>
            <p:txBody>
              <a:bodyPr/>
              <a:lstStyle/>
              <a:p>
                <a:endParaRPr lang="zh-CN" altLang="en-US"/>
              </a:p>
            </p:txBody>
          </p:sp>
          <p:sp>
            <p:nvSpPr>
              <p:cNvPr id="75799" name="Freeform 23"/>
              <p:cNvSpPr>
                <a:spLocks/>
              </p:cNvSpPr>
              <p:nvPr/>
            </p:nvSpPr>
            <p:spPr bwMode="auto">
              <a:xfrm>
                <a:off x="4280" y="1993"/>
                <a:ext cx="294" cy="307"/>
              </a:xfrm>
              <a:custGeom>
                <a:avLst/>
                <a:gdLst>
                  <a:gd name="T0" fmla="*/ 125 w 160"/>
                  <a:gd name="T1" fmla="*/ 268 h 173"/>
                  <a:gd name="T2" fmla="*/ 428 w 160"/>
                  <a:gd name="T3" fmla="*/ 85 h 173"/>
                  <a:gd name="T4" fmla="*/ 899 w 160"/>
                  <a:gd name="T5" fmla="*/ 586 h 173"/>
                  <a:gd name="T6" fmla="*/ 899 w 160"/>
                  <a:gd name="T7" fmla="*/ 830 h 173"/>
                  <a:gd name="T8" fmla="*/ 577 w 160"/>
                  <a:gd name="T9" fmla="*/ 967 h 173"/>
                  <a:gd name="T10" fmla="*/ 0 w 160"/>
                  <a:gd name="T11" fmla="*/ 649 h 173"/>
                  <a:gd name="T12" fmla="*/ 24 w 160"/>
                  <a:gd name="T13" fmla="*/ 447 h 173"/>
                  <a:gd name="T14" fmla="*/ 125 w 160"/>
                  <a:gd name="T15" fmla="*/ 268 h 173"/>
                  <a:gd name="T16" fmla="*/ 0 60000 65536"/>
                  <a:gd name="T17" fmla="*/ 0 60000 65536"/>
                  <a:gd name="T18" fmla="*/ 0 60000 65536"/>
                  <a:gd name="T19" fmla="*/ 0 60000 65536"/>
                  <a:gd name="T20" fmla="*/ 0 60000 65536"/>
                  <a:gd name="T21" fmla="*/ 0 60000 65536"/>
                  <a:gd name="T22" fmla="*/ 0 60000 65536"/>
                  <a:gd name="T23" fmla="*/ 0 60000 65536"/>
                  <a:gd name="T24" fmla="*/ 0 w 160"/>
                  <a:gd name="T25" fmla="*/ 0 h 173"/>
                  <a:gd name="T26" fmla="*/ 160 w 160"/>
                  <a:gd name="T27" fmla="*/ 173 h 17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 h="173">
                    <a:moveTo>
                      <a:pt x="20" y="48"/>
                    </a:moveTo>
                    <a:cubicBezTo>
                      <a:pt x="40" y="42"/>
                      <a:pt x="53" y="27"/>
                      <a:pt x="69" y="15"/>
                    </a:cubicBezTo>
                    <a:cubicBezTo>
                      <a:pt x="113" y="0"/>
                      <a:pt x="135" y="69"/>
                      <a:pt x="145" y="105"/>
                    </a:cubicBezTo>
                    <a:cubicBezTo>
                      <a:pt x="160" y="117"/>
                      <a:pt x="151" y="133"/>
                      <a:pt x="145" y="149"/>
                    </a:cubicBezTo>
                    <a:cubicBezTo>
                      <a:pt x="122" y="164"/>
                      <a:pt x="118" y="167"/>
                      <a:pt x="93" y="173"/>
                    </a:cubicBezTo>
                    <a:cubicBezTo>
                      <a:pt x="34" y="169"/>
                      <a:pt x="16" y="172"/>
                      <a:pt x="0" y="116"/>
                    </a:cubicBezTo>
                    <a:cubicBezTo>
                      <a:pt x="1" y="104"/>
                      <a:pt x="0" y="91"/>
                      <a:pt x="4" y="80"/>
                    </a:cubicBezTo>
                    <a:lnTo>
                      <a:pt x="20" y="48"/>
                    </a:lnTo>
                    <a:close/>
                  </a:path>
                </a:pathLst>
              </a:custGeom>
              <a:solidFill>
                <a:srgbClr val="FFCC66"/>
              </a:solidFill>
              <a:ln w="9525">
                <a:solidFill>
                  <a:srgbClr val="000066"/>
                </a:solidFill>
                <a:round/>
                <a:headEnd/>
                <a:tailEnd/>
              </a:ln>
            </p:spPr>
            <p:txBody>
              <a:bodyPr/>
              <a:lstStyle/>
              <a:p>
                <a:endParaRPr lang="zh-CN" altLang="en-US"/>
              </a:p>
            </p:txBody>
          </p:sp>
          <p:sp>
            <p:nvSpPr>
              <p:cNvPr id="75800" name="Freeform 24"/>
              <p:cNvSpPr>
                <a:spLocks/>
              </p:cNvSpPr>
              <p:nvPr/>
            </p:nvSpPr>
            <p:spPr bwMode="auto">
              <a:xfrm>
                <a:off x="3776" y="2021"/>
                <a:ext cx="318" cy="285"/>
              </a:xfrm>
              <a:custGeom>
                <a:avLst/>
                <a:gdLst>
                  <a:gd name="T0" fmla="*/ 298 w 173"/>
                  <a:gd name="T1" fmla="*/ 791 h 160"/>
                  <a:gd name="T2" fmla="*/ 94 w 173"/>
                  <a:gd name="T3" fmla="*/ 515 h 160"/>
                  <a:gd name="T4" fmla="*/ 653 w 173"/>
                  <a:gd name="T5" fmla="*/ 85 h 160"/>
                  <a:gd name="T6" fmla="*/ 926 w 173"/>
                  <a:gd name="T7" fmla="*/ 85 h 160"/>
                  <a:gd name="T8" fmla="*/ 1075 w 173"/>
                  <a:gd name="T9" fmla="*/ 378 h 160"/>
                  <a:gd name="T10" fmla="*/ 721 w 173"/>
                  <a:gd name="T11" fmla="*/ 905 h 160"/>
                  <a:gd name="T12" fmla="*/ 496 w 173"/>
                  <a:gd name="T13" fmla="*/ 882 h 160"/>
                  <a:gd name="T14" fmla="*/ 298 w 173"/>
                  <a:gd name="T15" fmla="*/ 791 h 160"/>
                  <a:gd name="T16" fmla="*/ 0 60000 65536"/>
                  <a:gd name="T17" fmla="*/ 0 60000 65536"/>
                  <a:gd name="T18" fmla="*/ 0 60000 65536"/>
                  <a:gd name="T19" fmla="*/ 0 60000 65536"/>
                  <a:gd name="T20" fmla="*/ 0 60000 65536"/>
                  <a:gd name="T21" fmla="*/ 0 60000 65536"/>
                  <a:gd name="T22" fmla="*/ 0 60000 65536"/>
                  <a:gd name="T23" fmla="*/ 0 60000 65536"/>
                  <a:gd name="T24" fmla="*/ 0 w 173"/>
                  <a:gd name="T25" fmla="*/ 0 h 160"/>
                  <a:gd name="T26" fmla="*/ 173 w 173"/>
                  <a:gd name="T27" fmla="*/ 160 h 1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3" h="160">
                    <a:moveTo>
                      <a:pt x="48" y="140"/>
                    </a:moveTo>
                    <a:cubicBezTo>
                      <a:pt x="42" y="120"/>
                      <a:pt x="27" y="107"/>
                      <a:pt x="15" y="91"/>
                    </a:cubicBezTo>
                    <a:cubicBezTo>
                      <a:pt x="0" y="47"/>
                      <a:pt x="69" y="25"/>
                      <a:pt x="105" y="15"/>
                    </a:cubicBezTo>
                    <a:cubicBezTo>
                      <a:pt x="117" y="0"/>
                      <a:pt x="133" y="9"/>
                      <a:pt x="149" y="15"/>
                    </a:cubicBezTo>
                    <a:cubicBezTo>
                      <a:pt x="164" y="38"/>
                      <a:pt x="167" y="42"/>
                      <a:pt x="173" y="67"/>
                    </a:cubicBezTo>
                    <a:cubicBezTo>
                      <a:pt x="169" y="126"/>
                      <a:pt x="172" y="144"/>
                      <a:pt x="116" y="160"/>
                    </a:cubicBezTo>
                    <a:cubicBezTo>
                      <a:pt x="104" y="159"/>
                      <a:pt x="91" y="160"/>
                      <a:pt x="80" y="156"/>
                    </a:cubicBezTo>
                    <a:lnTo>
                      <a:pt x="48" y="140"/>
                    </a:lnTo>
                    <a:close/>
                  </a:path>
                </a:pathLst>
              </a:custGeom>
              <a:solidFill>
                <a:srgbClr val="FFCC66"/>
              </a:solidFill>
              <a:ln w="9525">
                <a:solidFill>
                  <a:srgbClr val="000066"/>
                </a:solidFill>
                <a:round/>
                <a:headEnd/>
                <a:tailEnd/>
              </a:ln>
            </p:spPr>
            <p:txBody>
              <a:bodyPr/>
              <a:lstStyle/>
              <a:p>
                <a:endParaRPr lang="zh-CN" altLang="en-US"/>
              </a:p>
            </p:txBody>
          </p:sp>
          <p:sp>
            <p:nvSpPr>
              <p:cNvPr id="75801" name="Freeform 25"/>
              <p:cNvSpPr>
                <a:spLocks/>
              </p:cNvSpPr>
              <p:nvPr/>
            </p:nvSpPr>
            <p:spPr bwMode="auto">
              <a:xfrm>
                <a:off x="4667" y="1428"/>
                <a:ext cx="244" cy="237"/>
              </a:xfrm>
              <a:custGeom>
                <a:avLst/>
                <a:gdLst>
                  <a:gd name="T0" fmla="*/ 750 w 130"/>
                  <a:gd name="T1" fmla="*/ 577 h 127"/>
                  <a:gd name="T2" fmla="*/ 636 w 130"/>
                  <a:gd name="T3" fmla="*/ 703 h 127"/>
                  <a:gd name="T4" fmla="*/ 199 w 130"/>
                  <a:gd name="T5" fmla="*/ 626 h 127"/>
                  <a:gd name="T6" fmla="*/ 51 w 130"/>
                  <a:gd name="T7" fmla="*/ 165 h 127"/>
                  <a:gd name="T8" fmla="*/ 480 w 130"/>
                  <a:gd name="T9" fmla="*/ 101 h 127"/>
                  <a:gd name="T10" fmla="*/ 757 w 130"/>
                  <a:gd name="T11" fmla="*/ 276 h 127"/>
                  <a:gd name="T12" fmla="*/ 750 w 130"/>
                  <a:gd name="T13" fmla="*/ 577 h 127"/>
                  <a:gd name="T14" fmla="*/ 0 60000 65536"/>
                  <a:gd name="T15" fmla="*/ 0 60000 65536"/>
                  <a:gd name="T16" fmla="*/ 0 60000 65536"/>
                  <a:gd name="T17" fmla="*/ 0 60000 65536"/>
                  <a:gd name="T18" fmla="*/ 0 60000 65536"/>
                  <a:gd name="T19" fmla="*/ 0 60000 65536"/>
                  <a:gd name="T20" fmla="*/ 0 60000 65536"/>
                  <a:gd name="T21" fmla="*/ 0 w 130"/>
                  <a:gd name="T22" fmla="*/ 0 h 127"/>
                  <a:gd name="T23" fmla="*/ 130 w 130"/>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0" h="127">
                    <a:moveTo>
                      <a:pt x="121" y="102"/>
                    </a:moveTo>
                    <a:cubicBezTo>
                      <a:pt x="119" y="116"/>
                      <a:pt x="117" y="124"/>
                      <a:pt x="102" y="125"/>
                    </a:cubicBezTo>
                    <a:cubicBezTo>
                      <a:pt x="87" y="126"/>
                      <a:pt x="48" y="127"/>
                      <a:pt x="32" y="111"/>
                    </a:cubicBezTo>
                    <a:cubicBezTo>
                      <a:pt x="16" y="95"/>
                      <a:pt x="0" y="45"/>
                      <a:pt x="8" y="29"/>
                    </a:cubicBezTo>
                    <a:cubicBezTo>
                      <a:pt x="18" y="0"/>
                      <a:pt x="53" y="15"/>
                      <a:pt x="77" y="18"/>
                    </a:cubicBezTo>
                    <a:cubicBezTo>
                      <a:pt x="94" y="29"/>
                      <a:pt x="106" y="37"/>
                      <a:pt x="122" y="49"/>
                    </a:cubicBezTo>
                    <a:cubicBezTo>
                      <a:pt x="130" y="77"/>
                      <a:pt x="121" y="72"/>
                      <a:pt x="121" y="102"/>
                    </a:cubicBezTo>
                    <a:close/>
                  </a:path>
                </a:pathLst>
              </a:custGeom>
              <a:solidFill>
                <a:srgbClr val="FFCC66"/>
              </a:solidFill>
              <a:ln w="9525">
                <a:solidFill>
                  <a:srgbClr val="000066"/>
                </a:solidFill>
                <a:round/>
                <a:headEnd/>
                <a:tailEnd/>
              </a:ln>
            </p:spPr>
            <p:txBody>
              <a:bodyPr/>
              <a:lstStyle/>
              <a:p>
                <a:endParaRPr lang="zh-CN" altLang="en-US"/>
              </a:p>
            </p:txBody>
          </p:sp>
          <p:sp>
            <p:nvSpPr>
              <p:cNvPr id="75802" name="Freeform 26"/>
              <p:cNvSpPr>
                <a:spLocks/>
              </p:cNvSpPr>
              <p:nvPr/>
            </p:nvSpPr>
            <p:spPr bwMode="auto">
              <a:xfrm>
                <a:off x="3779" y="1012"/>
                <a:ext cx="232" cy="266"/>
              </a:xfrm>
              <a:custGeom>
                <a:avLst/>
                <a:gdLst>
                  <a:gd name="T0" fmla="*/ 322 w 100"/>
                  <a:gd name="T1" fmla="*/ 110 h 120"/>
                  <a:gd name="T2" fmla="*/ 926 w 100"/>
                  <a:gd name="T3" fmla="*/ 155 h 120"/>
                  <a:gd name="T4" fmla="*/ 1248 w 100"/>
                  <a:gd name="T5" fmla="*/ 798 h 120"/>
                  <a:gd name="T6" fmla="*/ 559 w 100"/>
                  <a:gd name="T7" fmla="*/ 1197 h 120"/>
                  <a:gd name="T8" fmla="*/ 0 w 100"/>
                  <a:gd name="T9" fmla="*/ 336 h 120"/>
                  <a:gd name="T10" fmla="*/ 322 w 100"/>
                  <a:gd name="T11" fmla="*/ 110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 name="connsiteX0" fmla="*/ 2605 w 10005"/>
                  <a:gd name="connsiteY0" fmla="*/ 508 h 8846"/>
                  <a:gd name="connsiteX1" fmla="*/ 7405 w 10005"/>
                  <a:gd name="connsiteY1" fmla="*/ 842 h 8846"/>
                  <a:gd name="connsiteX2" fmla="*/ 10005 w 10005"/>
                  <a:gd name="connsiteY2" fmla="*/ 5592 h 8846"/>
                  <a:gd name="connsiteX3" fmla="*/ 4505 w 10005"/>
                  <a:gd name="connsiteY3" fmla="*/ 8508 h 8846"/>
                  <a:gd name="connsiteX4" fmla="*/ 1436 w 10005"/>
                  <a:gd name="connsiteY4" fmla="*/ 6129 h 8846"/>
                  <a:gd name="connsiteX5" fmla="*/ 5 w 10005"/>
                  <a:gd name="connsiteY5" fmla="*/ 2175 h 8846"/>
                  <a:gd name="connsiteX6" fmla="*/ 2605 w 10005"/>
                  <a:gd name="connsiteY6" fmla="*/ 508 h 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5" h="8846">
                    <a:moveTo>
                      <a:pt x="2605" y="508"/>
                    </a:moveTo>
                    <a:cubicBezTo>
                      <a:pt x="4305" y="-325"/>
                      <a:pt x="5805" y="-75"/>
                      <a:pt x="7405" y="842"/>
                    </a:cubicBezTo>
                    <a:cubicBezTo>
                      <a:pt x="8005" y="2425"/>
                      <a:pt x="9405" y="3842"/>
                      <a:pt x="10005" y="5592"/>
                    </a:cubicBezTo>
                    <a:cubicBezTo>
                      <a:pt x="9405" y="9675"/>
                      <a:pt x="9905" y="8925"/>
                      <a:pt x="4505" y="8508"/>
                    </a:cubicBezTo>
                    <a:cubicBezTo>
                      <a:pt x="3192" y="8498"/>
                      <a:pt x="2186" y="7184"/>
                      <a:pt x="1436" y="6129"/>
                    </a:cubicBezTo>
                    <a:cubicBezTo>
                      <a:pt x="686" y="5074"/>
                      <a:pt x="-75" y="3013"/>
                      <a:pt x="5" y="2175"/>
                    </a:cubicBezTo>
                    <a:cubicBezTo>
                      <a:pt x="405" y="1425"/>
                      <a:pt x="1505" y="508"/>
                      <a:pt x="2605" y="508"/>
                    </a:cubicBezTo>
                    <a:close/>
                  </a:path>
                </a:pathLst>
              </a:custGeom>
              <a:solidFill>
                <a:srgbClr val="FFCC66"/>
              </a:solidFill>
              <a:ln w="9525">
                <a:solidFill>
                  <a:srgbClr val="000066"/>
                </a:solidFill>
                <a:round/>
                <a:headEnd/>
                <a:tailEnd/>
              </a:ln>
            </p:spPr>
            <p:txBody>
              <a:bodyPr/>
              <a:lstStyle/>
              <a:p>
                <a:endParaRPr lang="zh-CN" altLang="en-US"/>
              </a:p>
            </p:txBody>
          </p:sp>
          <p:sp>
            <p:nvSpPr>
              <p:cNvPr id="75803" name="Freeform 27"/>
              <p:cNvSpPr>
                <a:spLocks/>
              </p:cNvSpPr>
              <p:nvPr/>
            </p:nvSpPr>
            <p:spPr bwMode="auto">
              <a:xfrm>
                <a:off x="3774" y="2280"/>
                <a:ext cx="242" cy="221"/>
              </a:xfrm>
              <a:custGeom>
                <a:avLst/>
                <a:gdLst>
                  <a:gd name="T0" fmla="*/ 113 w 131"/>
                  <a:gd name="T1" fmla="*/ 37 h 124"/>
                  <a:gd name="T2" fmla="*/ 682 w 131"/>
                  <a:gd name="T3" fmla="*/ 130 h 124"/>
                  <a:gd name="T4" fmla="*/ 768 w 131"/>
                  <a:gd name="T5" fmla="*/ 536 h 124"/>
                  <a:gd name="T6" fmla="*/ 334 w 131"/>
                  <a:gd name="T7" fmla="*/ 601 h 124"/>
                  <a:gd name="T8" fmla="*/ 52 w 131"/>
                  <a:gd name="T9" fmla="*/ 426 h 124"/>
                  <a:gd name="T10" fmla="*/ 113 w 131"/>
                  <a:gd name="T11" fmla="*/ 37 h 124"/>
                  <a:gd name="T12" fmla="*/ 0 60000 65536"/>
                  <a:gd name="T13" fmla="*/ 0 60000 65536"/>
                  <a:gd name="T14" fmla="*/ 0 60000 65536"/>
                  <a:gd name="T15" fmla="*/ 0 60000 65536"/>
                  <a:gd name="T16" fmla="*/ 0 60000 65536"/>
                  <a:gd name="T17" fmla="*/ 0 60000 65536"/>
                  <a:gd name="T18" fmla="*/ 0 w 131"/>
                  <a:gd name="T19" fmla="*/ 0 h 124"/>
                  <a:gd name="T20" fmla="*/ 131 w 131"/>
                  <a:gd name="T21" fmla="*/ 124 h 124"/>
                </a:gdLst>
                <a:ahLst/>
                <a:cxnLst>
                  <a:cxn ang="T12">
                    <a:pos x="T0" y="T1"/>
                  </a:cxn>
                  <a:cxn ang="T13">
                    <a:pos x="T2" y="T3"/>
                  </a:cxn>
                  <a:cxn ang="T14">
                    <a:pos x="T4" y="T5"/>
                  </a:cxn>
                  <a:cxn ang="T15">
                    <a:pos x="T6" y="T7"/>
                  </a:cxn>
                  <a:cxn ang="T16">
                    <a:pos x="T8" y="T9"/>
                  </a:cxn>
                  <a:cxn ang="T17">
                    <a:pos x="T10" y="T11"/>
                  </a:cxn>
                </a:cxnLst>
                <a:rect l="T18" t="T19" r="T20" b="T21"/>
                <a:pathLst>
                  <a:path w="131" h="124">
                    <a:moveTo>
                      <a:pt x="18" y="7"/>
                    </a:moveTo>
                    <a:cubicBezTo>
                      <a:pt x="32" y="0"/>
                      <a:pt x="91" y="8"/>
                      <a:pt x="108" y="23"/>
                    </a:cubicBezTo>
                    <a:cubicBezTo>
                      <a:pt x="125" y="38"/>
                      <a:pt x="131" y="81"/>
                      <a:pt x="122" y="95"/>
                    </a:cubicBezTo>
                    <a:cubicBezTo>
                      <a:pt x="112" y="124"/>
                      <a:pt x="77" y="109"/>
                      <a:pt x="53" y="106"/>
                    </a:cubicBezTo>
                    <a:cubicBezTo>
                      <a:pt x="36" y="95"/>
                      <a:pt x="24" y="87"/>
                      <a:pt x="8" y="75"/>
                    </a:cubicBezTo>
                    <a:cubicBezTo>
                      <a:pt x="0" y="47"/>
                      <a:pt x="18" y="37"/>
                      <a:pt x="18" y="7"/>
                    </a:cubicBezTo>
                    <a:close/>
                  </a:path>
                </a:pathLst>
              </a:custGeom>
              <a:solidFill>
                <a:srgbClr val="FFCC66"/>
              </a:solidFill>
              <a:ln w="9525">
                <a:solidFill>
                  <a:srgbClr val="000066"/>
                </a:solidFill>
                <a:round/>
                <a:headEnd/>
                <a:tailEnd/>
              </a:ln>
            </p:spPr>
            <p:txBody>
              <a:bodyPr/>
              <a:lstStyle/>
              <a:p>
                <a:endParaRPr lang="zh-CN" altLang="en-US"/>
              </a:p>
            </p:txBody>
          </p:sp>
          <p:sp>
            <p:nvSpPr>
              <p:cNvPr id="75804" name="Freeform 28"/>
              <p:cNvSpPr>
                <a:spLocks/>
              </p:cNvSpPr>
              <p:nvPr/>
            </p:nvSpPr>
            <p:spPr bwMode="auto">
              <a:xfrm>
                <a:off x="4027" y="2254"/>
                <a:ext cx="343" cy="232"/>
              </a:xfrm>
              <a:custGeom>
                <a:avLst/>
                <a:gdLst>
                  <a:gd name="T0" fmla="*/ 28 w 148"/>
                  <a:gd name="T1" fmla="*/ 509 h 115"/>
                  <a:gd name="T2" fmla="*/ 172 w 148"/>
                  <a:gd name="T3" fmla="*/ 146 h 115"/>
                  <a:gd name="T4" fmla="*/ 823 w 148"/>
                  <a:gd name="T5" fmla="*/ 0 h 115"/>
                  <a:gd name="T6" fmla="*/ 1532 w 148"/>
                  <a:gd name="T7" fmla="*/ 110 h 115"/>
                  <a:gd name="T8" fmla="*/ 1729 w 148"/>
                  <a:gd name="T9" fmla="*/ 397 h 115"/>
                  <a:gd name="T10" fmla="*/ 1170 w 148"/>
                  <a:gd name="T11" fmla="*/ 1299 h 115"/>
                  <a:gd name="T12" fmla="*/ 338 w 148"/>
                  <a:gd name="T13" fmla="*/ 1016 h 115"/>
                  <a:gd name="T14" fmla="*/ 65 w 148"/>
                  <a:gd name="T15" fmla="*/ 790 h 115"/>
                  <a:gd name="T16" fmla="*/ 28 w 148"/>
                  <a:gd name="T17" fmla="*/ 509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15"/>
                  <a:gd name="T29" fmla="*/ 148 w 148"/>
                  <a:gd name="T30" fmla="*/ 115 h 1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15">
                    <a:moveTo>
                      <a:pt x="2" y="45"/>
                    </a:moveTo>
                    <a:cubicBezTo>
                      <a:pt x="5" y="37"/>
                      <a:pt x="5" y="18"/>
                      <a:pt x="14" y="13"/>
                    </a:cubicBezTo>
                    <a:cubicBezTo>
                      <a:pt x="28" y="6"/>
                      <a:pt x="51" y="3"/>
                      <a:pt x="66" y="0"/>
                    </a:cubicBezTo>
                    <a:cubicBezTo>
                      <a:pt x="88" y="2"/>
                      <a:pt x="103" y="4"/>
                      <a:pt x="123" y="10"/>
                    </a:cubicBezTo>
                    <a:cubicBezTo>
                      <a:pt x="132" y="17"/>
                      <a:pt x="135" y="24"/>
                      <a:pt x="139" y="35"/>
                    </a:cubicBezTo>
                    <a:cubicBezTo>
                      <a:pt x="136" y="99"/>
                      <a:pt x="148" y="107"/>
                      <a:pt x="94" y="115"/>
                    </a:cubicBezTo>
                    <a:cubicBezTo>
                      <a:pt x="64" y="111"/>
                      <a:pt x="53" y="102"/>
                      <a:pt x="27" y="90"/>
                    </a:cubicBezTo>
                    <a:cubicBezTo>
                      <a:pt x="20" y="82"/>
                      <a:pt x="12" y="78"/>
                      <a:pt x="5" y="70"/>
                    </a:cubicBezTo>
                    <a:cubicBezTo>
                      <a:pt x="0" y="56"/>
                      <a:pt x="2" y="64"/>
                      <a:pt x="2" y="45"/>
                    </a:cubicBezTo>
                    <a:close/>
                  </a:path>
                </a:pathLst>
              </a:custGeom>
              <a:solidFill>
                <a:srgbClr val="FFCC66"/>
              </a:solidFill>
              <a:ln w="9525">
                <a:solidFill>
                  <a:srgbClr val="000066"/>
                </a:solidFill>
                <a:round/>
                <a:headEnd/>
                <a:tailEnd/>
              </a:ln>
            </p:spPr>
            <p:txBody>
              <a:bodyPr/>
              <a:lstStyle/>
              <a:p>
                <a:endParaRPr lang="zh-CN" altLang="en-US"/>
              </a:p>
            </p:txBody>
          </p:sp>
          <p:sp>
            <p:nvSpPr>
              <p:cNvPr id="75805" name="Freeform 29"/>
              <p:cNvSpPr>
                <a:spLocks/>
              </p:cNvSpPr>
              <p:nvPr/>
            </p:nvSpPr>
            <p:spPr bwMode="auto">
              <a:xfrm>
                <a:off x="3776" y="1782"/>
                <a:ext cx="267" cy="273"/>
              </a:xfrm>
              <a:custGeom>
                <a:avLst/>
                <a:gdLst>
                  <a:gd name="T0" fmla="*/ 114 w 115"/>
                  <a:gd name="T1" fmla="*/ 392 h 122"/>
                  <a:gd name="T2" fmla="*/ 636 w 115"/>
                  <a:gd name="T3" fmla="*/ 0 h 122"/>
                  <a:gd name="T4" fmla="*/ 878 w 115"/>
                  <a:gd name="T5" fmla="*/ 36 h 122"/>
                  <a:gd name="T6" fmla="*/ 1003 w 115"/>
                  <a:gd name="T7" fmla="*/ 215 h 122"/>
                  <a:gd name="T8" fmla="*/ 1439 w 115"/>
                  <a:gd name="T9" fmla="*/ 862 h 122"/>
                  <a:gd name="T10" fmla="*/ 710 w 115"/>
                  <a:gd name="T11" fmla="*/ 1186 h 122"/>
                  <a:gd name="T12" fmla="*/ 114 w 115"/>
                  <a:gd name="T13" fmla="*/ 716 h 122"/>
                  <a:gd name="T14" fmla="*/ 114 w 115"/>
                  <a:gd name="T15" fmla="*/ 392 h 122"/>
                  <a:gd name="T16" fmla="*/ 0 60000 65536"/>
                  <a:gd name="T17" fmla="*/ 0 60000 65536"/>
                  <a:gd name="T18" fmla="*/ 0 60000 65536"/>
                  <a:gd name="T19" fmla="*/ 0 60000 65536"/>
                  <a:gd name="T20" fmla="*/ 0 60000 65536"/>
                  <a:gd name="T21" fmla="*/ 0 60000 65536"/>
                  <a:gd name="T22" fmla="*/ 0 60000 65536"/>
                  <a:gd name="T23" fmla="*/ 0 60000 65536"/>
                  <a:gd name="T24" fmla="*/ 0 w 115"/>
                  <a:gd name="T25" fmla="*/ 0 h 122"/>
                  <a:gd name="T26" fmla="*/ 115 w 115"/>
                  <a:gd name="T27" fmla="*/ 122 h 1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 h="122">
                    <a:moveTo>
                      <a:pt x="9" y="35"/>
                    </a:moveTo>
                    <a:cubicBezTo>
                      <a:pt x="26" y="25"/>
                      <a:pt x="32" y="6"/>
                      <a:pt x="51" y="0"/>
                    </a:cubicBezTo>
                    <a:cubicBezTo>
                      <a:pt x="57" y="1"/>
                      <a:pt x="64" y="1"/>
                      <a:pt x="70" y="3"/>
                    </a:cubicBezTo>
                    <a:cubicBezTo>
                      <a:pt x="79" y="6"/>
                      <a:pt x="76" y="12"/>
                      <a:pt x="80" y="19"/>
                    </a:cubicBezTo>
                    <a:cubicBezTo>
                      <a:pt x="91" y="38"/>
                      <a:pt x="103" y="58"/>
                      <a:pt x="115" y="77"/>
                    </a:cubicBezTo>
                    <a:cubicBezTo>
                      <a:pt x="110" y="122"/>
                      <a:pt x="107" y="109"/>
                      <a:pt x="57" y="106"/>
                    </a:cubicBezTo>
                    <a:cubicBezTo>
                      <a:pt x="35" y="96"/>
                      <a:pt x="26" y="79"/>
                      <a:pt x="9" y="64"/>
                    </a:cubicBezTo>
                    <a:cubicBezTo>
                      <a:pt x="2" y="41"/>
                      <a:pt x="0" y="51"/>
                      <a:pt x="9" y="35"/>
                    </a:cubicBezTo>
                    <a:close/>
                  </a:path>
                </a:pathLst>
              </a:custGeom>
              <a:solidFill>
                <a:srgbClr val="FFCC66"/>
              </a:solidFill>
              <a:ln w="9525">
                <a:solidFill>
                  <a:srgbClr val="000066"/>
                </a:solidFill>
                <a:round/>
                <a:headEnd/>
                <a:tailEnd/>
              </a:ln>
            </p:spPr>
            <p:txBody>
              <a:bodyPr/>
              <a:lstStyle/>
              <a:p>
                <a:endParaRPr lang="zh-CN" altLang="en-US"/>
              </a:p>
            </p:txBody>
          </p:sp>
          <p:sp>
            <p:nvSpPr>
              <p:cNvPr id="75806" name="Freeform 30"/>
              <p:cNvSpPr>
                <a:spLocks/>
              </p:cNvSpPr>
              <p:nvPr/>
            </p:nvSpPr>
            <p:spPr bwMode="auto">
              <a:xfrm>
                <a:off x="5068" y="1314"/>
                <a:ext cx="259" cy="322"/>
              </a:xfrm>
              <a:custGeom>
                <a:avLst/>
                <a:gdLst>
                  <a:gd name="T0" fmla="*/ 0 w 128"/>
                  <a:gd name="T1" fmla="*/ 606 h 144"/>
                  <a:gd name="T2" fmla="*/ 509 w 128"/>
                  <a:gd name="T3" fmla="*/ 0 h 144"/>
                  <a:gd name="T4" fmla="*/ 1348 w 128"/>
                  <a:gd name="T5" fmla="*/ 324 h 144"/>
                  <a:gd name="T6" fmla="*/ 1545 w 128"/>
                  <a:gd name="T7" fmla="*/ 785 h 144"/>
                  <a:gd name="T8" fmla="*/ 1582 w 128"/>
                  <a:gd name="T9" fmla="*/ 894 h 144"/>
                  <a:gd name="T10" fmla="*/ 1101 w 128"/>
                  <a:gd name="T11" fmla="*/ 1610 h 144"/>
                  <a:gd name="T12" fmla="*/ 754 w 128"/>
                  <a:gd name="T13" fmla="*/ 1431 h 144"/>
                  <a:gd name="T14" fmla="*/ 358 w 128"/>
                  <a:gd name="T15" fmla="*/ 1250 h 144"/>
                  <a:gd name="T16" fmla="*/ 0 w 128"/>
                  <a:gd name="T17" fmla="*/ 606 h 1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8"/>
                  <a:gd name="T28" fmla="*/ 0 h 144"/>
                  <a:gd name="T29" fmla="*/ 128 w 128"/>
                  <a:gd name="T30" fmla="*/ 144 h 144"/>
                  <a:gd name="connsiteX0" fmla="*/ 55 w 10055"/>
                  <a:gd name="connsiteY0" fmla="*/ 3750 h 10000"/>
                  <a:gd name="connsiteX1" fmla="*/ 3258 w 10055"/>
                  <a:gd name="connsiteY1" fmla="*/ 0 h 10000"/>
                  <a:gd name="connsiteX2" fmla="*/ 8571 w 10055"/>
                  <a:gd name="connsiteY2" fmla="*/ 2014 h 10000"/>
                  <a:gd name="connsiteX3" fmla="*/ 9821 w 10055"/>
                  <a:gd name="connsiteY3" fmla="*/ 4861 h 10000"/>
                  <a:gd name="connsiteX4" fmla="*/ 10055 w 10055"/>
                  <a:gd name="connsiteY4" fmla="*/ 5556 h 10000"/>
                  <a:gd name="connsiteX5" fmla="*/ 7008 w 10055"/>
                  <a:gd name="connsiteY5" fmla="*/ 10000 h 10000"/>
                  <a:gd name="connsiteX6" fmla="*/ 4821 w 10055"/>
                  <a:gd name="connsiteY6" fmla="*/ 8889 h 10000"/>
                  <a:gd name="connsiteX7" fmla="*/ 2321 w 10055"/>
                  <a:gd name="connsiteY7" fmla="*/ 7778 h 10000"/>
                  <a:gd name="connsiteX8" fmla="*/ 1244 w 10055"/>
                  <a:gd name="connsiteY8" fmla="*/ 5453 h 10000"/>
                  <a:gd name="connsiteX9" fmla="*/ 55 w 10055"/>
                  <a:gd name="connsiteY9" fmla="*/ 3750 h 10000"/>
                  <a:gd name="connsiteX0" fmla="*/ 55 w 10172"/>
                  <a:gd name="connsiteY0" fmla="*/ 3750 h 10000"/>
                  <a:gd name="connsiteX1" fmla="*/ 3258 w 10172"/>
                  <a:gd name="connsiteY1" fmla="*/ 0 h 10000"/>
                  <a:gd name="connsiteX2" fmla="*/ 8571 w 10172"/>
                  <a:gd name="connsiteY2" fmla="*/ 2014 h 10000"/>
                  <a:gd name="connsiteX3" fmla="*/ 9551 w 10172"/>
                  <a:gd name="connsiteY3" fmla="*/ 3818 h 10000"/>
                  <a:gd name="connsiteX4" fmla="*/ 10055 w 10172"/>
                  <a:gd name="connsiteY4" fmla="*/ 5556 h 10000"/>
                  <a:gd name="connsiteX5" fmla="*/ 7008 w 10172"/>
                  <a:gd name="connsiteY5" fmla="*/ 10000 h 10000"/>
                  <a:gd name="connsiteX6" fmla="*/ 4821 w 10172"/>
                  <a:gd name="connsiteY6" fmla="*/ 8889 h 10000"/>
                  <a:gd name="connsiteX7" fmla="*/ 2321 w 10172"/>
                  <a:gd name="connsiteY7" fmla="*/ 7778 h 10000"/>
                  <a:gd name="connsiteX8" fmla="*/ 1244 w 10172"/>
                  <a:gd name="connsiteY8" fmla="*/ 5453 h 10000"/>
                  <a:gd name="connsiteX9" fmla="*/ 55 w 10172"/>
                  <a:gd name="connsiteY9" fmla="*/ 375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172" h="10000">
                    <a:moveTo>
                      <a:pt x="55" y="3750"/>
                    </a:moveTo>
                    <a:cubicBezTo>
                      <a:pt x="993" y="2431"/>
                      <a:pt x="1618" y="694"/>
                      <a:pt x="3258" y="0"/>
                    </a:cubicBezTo>
                    <a:cubicBezTo>
                      <a:pt x="5680" y="208"/>
                      <a:pt x="6852" y="486"/>
                      <a:pt x="8571" y="2014"/>
                    </a:cubicBezTo>
                    <a:cubicBezTo>
                      <a:pt x="8961" y="2986"/>
                      <a:pt x="9160" y="2776"/>
                      <a:pt x="9551" y="3818"/>
                    </a:cubicBezTo>
                    <a:cubicBezTo>
                      <a:pt x="9629" y="4026"/>
                      <a:pt x="10479" y="4526"/>
                      <a:pt x="10055" y="5556"/>
                    </a:cubicBezTo>
                    <a:cubicBezTo>
                      <a:pt x="9631" y="6586"/>
                      <a:pt x="9977" y="9236"/>
                      <a:pt x="7008" y="10000"/>
                    </a:cubicBezTo>
                    <a:cubicBezTo>
                      <a:pt x="6305" y="9514"/>
                      <a:pt x="5680" y="9167"/>
                      <a:pt x="4821" y="8889"/>
                    </a:cubicBezTo>
                    <a:cubicBezTo>
                      <a:pt x="3961" y="8333"/>
                      <a:pt x="3180" y="8264"/>
                      <a:pt x="2321" y="7778"/>
                    </a:cubicBezTo>
                    <a:cubicBezTo>
                      <a:pt x="1743" y="7156"/>
                      <a:pt x="1622" y="6124"/>
                      <a:pt x="1244" y="5453"/>
                    </a:cubicBezTo>
                    <a:cubicBezTo>
                      <a:pt x="866" y="4782"/>
                      <a:pt x="-263" y="4609"/>
                      <a:pt x="55" y="3750"/>
                    </a:cubicBezTo>
                    <a:close/>
                  </a:path>
                </a:pathLst>
              </a:custGeom>
              <a:solidFill>
                <a:srgbClr val="FFCC66"/>
              </a:solidFill>
              <a:ln w="9525">
                <a:solidFill>
                  <a:srgbClr val="000066"/>
                </a:solidFill>
                <a:round/>
                <a:headEnd/>
                <a:tailEnd/>
              </a:ln>
            </p:spPr>
            <p:txBody>
              <a:bodyPr/>
              <a:lstStyle/>
              <a:p>
                <a:endParaRPr lang="zh-CN" altLang="en-US"/>
              </a:p>
            </p:txBody>
          </p:sp>
          <p:sp>
            <p:nvSpPr>
              <p:cNvPr id="75807" name="Freeform 31"/>
              <p:cNvSpPr>
                <a:spLocks/>
              </p:cNvSpPr>
              <p:nvPr/>
            </p:nvSpPr>
            <p:spPr bwMode="auto">
              <a:xfrm rot="5400000">
                <a:off x="5104" y="1980"/>
                <a:ext cx="198" cy="260"/>
              </a:xfrm>
              <a:custGeom>
                <a:avLst/>
                <a:gdLst>
                  <a:gd name="T0" fmla="*/ 200 w 100"/>
                  <a:gd name="T1" fmla="*/ 104 h 120"/>
                  <a:gd name="T2" fmla="*/ 576 w 100"/>
                  <a:gd name="T3" fmla="*/ 141 h 120"/>
                  <a:gd name="T4" fmla="*/ 776 w 100"/>
                  <a:gd name="T5" fmla="*/ 724 h 120"/>
                  <a:gd name="T6" fmla="*/ 348 w 100"/>
                  <a:gd name="T7" fmla="*/ 1079 h 120"/>
                  <a:gd name="T8" fmla="*/ 0 w 100"/>
                  <a:gd name="T9" fmla="*/ 306 h 120"/>
                  <a:gd name="T10" fmla="*/ 200 w 100"/>
                  <a:gd name="T11" fmla="*/ 10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26" y="10"/>
                    </a:moveTo>
                    <a:cubicBezTo>
                      <a:pt x="43" y="0"/>
                      <a:pt x="58" y="3"/>
                      <a:pt x="74" y="14"/>
                    </a:cubicBezTo>
                    <a:cubicBezTo>
                      <a:pt x="80" y="33"/>
                      <a:pt x="94" y="50"/>
                      <a:pt x="100" y="71"/>
                    </a:cubicBezTo>
                    <a:cubicBezTo>
                      <a:pt x="94" y="120"/>
                      <a:pt x="99" y="111"/>
                      <a:pt x="45" y="106"/>
                    </a:cubicBezTo>
                    <a:cubicBezTo>
                      <a:pt x="29" y="82"/>
                      <a:pt x="12" y="56"/>
                      <a:pt x="0" y="30"/>
                    </a:cubicBezTo>
                    <a:cubicBezTo>
                      <a:pt x="4" y="21"/>
                      <a:pt x="15" y="10"/>
                      <a:pt x="26" y="10"/>
                    </a:cubicBezTo>
                    <a:close/>
                  </a:path>
                </a:pathLst>
              </a:custGeom>
              <a:solidFill>
                <a:srgbClr val="FFCC66"/>
              </a:solidFill>
              <a:ln w="9525">
                <a:solidFill>
                  <a:srgbClr val="000066"/>
                </a:solidFill>
                <a:round/>
                <a:headEnd/>
                <a:tailEnd/>
              </a:ln>
            </p:spPr>
            <p:txBody>
              <a:bodyPr/>
              <a:lstStyle/>
              <a:p>
                <a:endParaRPr lang="zh-CN" altLang="en-US"/>
              </a:p>
            </p:txBody>
          </p:sp>
          <p:sp>
            <p:nvSpPr>
              <p:cNvPr id="75808" name="Freeform 32"/>
              <p:cNvSpPr>
                <a:spLocks/>
              </p:cNvSpPr>
              <p:nvPr/>
            </p:nvSpPr>
            <p:spPr bwMode="auto">
              <a:xfrm rot="5400000">
                <a:off x="4767" y="2229"/>
                <a:ext cx="251" cy="264"/>
              </a:xfrm>
              <a:custGeom>
                <a:avLst/>
                <a:gdLst>
                  <a:gd name="T0" fmla="*/ 0 w 103"/>
                  <a:gd name="T1" fmla="*/ 0 h 103"/>
                  <a:gd name="T2" fmla="*/ 1162 w 103"/>
                  <a:gd name="T3" fmla="*/ 1002 h 103"/>
                  <a:gd name="T4" fmla="*/ 543 w 103"/>
                  <a:gd name="T5" fmla="*/ 1114 h 103"/>
                  <a:gd name="T6" fmla="*/ 146 w 103"/>
                  <a:gd name="T7" fmla="*/ 803 h 103"/>
                  <a:gd name="T8" fmla="*/ 0 w 103"/>
                  <a:gd name="T9" fmla="*/ 0 h 103"/>
                  <a:gd name="T10" fmla="*/ 0 60000 65536"/>
                  <a:gd name="T11" fmla="*/ 0 60000 65536"/>
                  <a:gd name="T12" fmla="*/ 0 60000 65536"/>
                  <a:gd name="T13" fmla="*/ 0 60000 65536"/>
                  <a:gd name="T14" fmla="*/ 0 60000 65536"/>
                  <a:gd name="T15" fmla="*/ 0 w 103"/>
                  <a:gd name="T16" fmla="*/ 0 h 103"/>
                  <a:gd name="T17" fmla="*/ 103 w 103"/>
                  <a:gd name="T18" fmla="*/ 103 h 103"/>
                  <a:gd name="connsiteX0" fmla="*/ 0 w 10000"/>
                  <a:gd name="connsiteY0" fmla="*/ 0 h 9117"/>
                  <a:gd name="connsiteX1" fmla="*/ 10000 w 10000"/>
                  <a:gd name="connsiteY1" fmla="*/ 7767 h 9117"/>
                  <a:gd name="connsiteX2" fmla="*/ 4660 w 10000"/>
                  <a:gd name="connsiteY2" fmla="*/ 8641 h 9117"/>
                  <a:gd name="connsiteX3" fmla="*/ 1862 w 10000"/>
                  <a:gd name="connsiteY3" fmla="*/ 7115 h 9117"/>
                  <a:gd name="connsiteX4" fmla="*/ 0 w 10000"/>
                  <a:gd name="connsiteY4" fmla="*/ 0 h 9117"/>
                  <a:gd name="connsiteX0" fmla="*/ 650 w 10650"/>
                  <a:gd name="connsiteY0" fmla="*/ 81 h 10081"/>
                  <a:gd name="connsiteX1" fmla="*/ 10650 w 10650"/>
                  <a:gd name="connsiteY1" fmla="*/ 8600 h 10081"/>
                  <a:gd name="connsiteX2" fmla="*/ 5310 w 10650"/>
                  <a:gd name="connsiteY2" fmla="*/ 9559 h 10081"/>
                  <a:gd name="connsiteX3" fmla="*/ 2512 w 10650"/>
                  <a:gd name="connsiteY3" fmla="*/ 7885 h 10081"/>
                  <a:gd name="connsiteX4" fmla="*/ 1062 w 10650"/>
                  <a:gd name="connsiteY4" fmla="*/ 4571 h 10081"/>
                  <a:gd name="connsiteX5" fmla="*/ 650 w 10650"/>
                  <a:gd name="connsiteY5" fmla="*/ 81 h 10081"/>
                  <a:gd name="connsiteX0" fmla="*/ 718 w 10452"/>
                  <a:gd name="connsiteY0" fmla="*/ 79 h 10203"/>
                  <a:gd name="connsiteX1" fmla="*/ 10452 w 10452"/>
                  <a:gd name="connsiteY1" fmla="*/ 8722 h 10203"/>
                  <a:gd name="connsiteX2" fmla="*/ 5112 w 10452"/>
                  <a:gd name="connsiteY2" fmla="*/ 9681 h 10203"/>
                  <a:gd name="connsiteX3" fmla="*/ 2314 w 10452"/>
                  <a:gd name="connsiteY3" fmla="*/ 8007 h 10203"/>
                  <a:gd name="connsiteX4" fmla="*/ 864 w 10452"/>
                  <a:gd name="connsiteY4" fmla="*/ 4693 h 10203"/>
                  <a:gd name="connsiteX5" fmla="*/ 718 w 10452"/>
                  <a:gd name="connsiteY5" fmla="*/ 79 h 1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52" h="10203">
                    <a:moveTo>
                      <a:pt x="718" y="79"/>
                    </a:moveTo>
                    <a:cubicBezTo>
                      <a:pt x="6446" y="931"/>
                      <a:pt x="9093" y="2333"/>
                      <a:pt x="10452" y="8722"/>
                    </a:cubicBezTo>
                    <a:cubicBezTo>
                      <a:pt x="9675" y="11172"/>
                      <a:pt x="6957" y="9894"/>
                      <a:pt x="5112" y="9681"/>
                    </a:cubicBezTo>
                    <a:cubicBezTo>
                      <a:pt x="3850" y="8722"/>
                      <a:pt x="3479" y="9071"/>
                      <a:pt x="2314" y="8007"/>
                    </a:cubicBezTo>
                    <a:cubicBezTo>
                      <a:pt x="1662" y="7155"/>
                      <a:pt x="1174" y="5994"/>
                      <a:pt x="864" y="4693"/>
                    </a:cubicBezTo>
                    <a:cubicBezTo>
                      <a:pt x="554" y="3392"/>
                      <a:pt x="-824" y="-613"/>
                      <a:pt x="718" y="79"/>
                    </a:cubicBezTo>
                    <a:close/>
                  </a:path>
                </a:pathLst>
              </a:custGeom>
              <a:solidFill>
                <a:srgbClr val="FFCC66"/>
              </a:solidFill>
              <a:ln w="9525">
                <a:solidFill>
                  <a:srgbClr val="000066"/>
                </a:solidFill>
                <a:round/>
                <a:headEnd/>
                <a:tailEnd/>
              </a:ln>
            </p:spPr>
            <p:txBody>
              <a:bodyPr/>
              <a:lstStyle/>
              <a:p>
                <a:endParaRPr lang="zh-CN" altLang="en-US"/>
              </a:p>
            </p:txBody>
          </p:sp>
          <p:sp>
            <p:nvSpPr>
              <p:cNvPr id="75809" name="Freeform 33"/>
              <p:cNvSpPr>
                <a:spLocks/>
              </p:cNvSpPr>
              <p:nvPr/>
            </p:nvSpPr>
            <p:spPr bwMode="auto">
              <a:xfrm rot="5400000">
                <a:off x="5000" y="2181"/>
                <a:ext cx="279" cy="333"/>
              </a:xfrm>
              <a:custGeom>
                <a:avLst/>
                <a:gdLst>
                  <a:gd name="T0" fmla="*/ 0 w 128"/>
                  <a:gd name="T1" fmla="*/ 668 h 144"/>
                  <a:gd name="T2" fmla="*/ 462 w 128"/>
                  <a:gd name="T3" fmla="*/ 0 h 144"/>
                  <a:gd name="T4" fmla="*/ 1226 w 128"/>
                  <a:gd name="T5" fmla="*/ 358 h 144"/>
                  <a:gd name="T6" fmla="*/ 1408 w 128"/>
                  <a:gd name="T7" fmla="*/ 867 h 144"/>
                  <a:gd name="T8" fmla="*/ 1444 w 128"/>
                  <a:gd name="T9" fmla="*/ 990 h 144"/>
                  <a:gd name="T10" fmla="*/ 1004 w 128"/>
                  <a:gd name="T11" fmla="*/ 1781 h 144"/>
                  <a:gd name="T12" fmla="*/ 688 w 128"/>
                  <a:gd name="T13" fmla="*/ 1582 h 144"/>
                  <a:gd name="T14" fmla="*/ 327 w 128"/>
                  <a:gd name="T15" fmla="*/ 1385 h 144"/>
                  <a:gd name="T16" fmla="*/ 0 w 128"/>
                  <a:gd name="T17" fmla="*/ 668 h 1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8"/>
                  <a:gd name="T28" fmla="*/ 0 h 144"/>
                  <a:gd name="T29" fmla="*/ 128 w 128"/>
                  <a:gd name="T30" fmla="*/ 144 h 144"/>
                  <a:gd name="connsiteX0" fmla="*/ 0 w 10000"/>
                  <a:gd name="connsiteY0" fmla="*/ 3750 h 10000"/>
                  <a:gd name="connsiteX1" fmla="*/ 3203 w 10000"/>
                  <a:gd name="connsiteY1" fmla="*/ 0 h 10000"/>
                  <a:gd name="connsiteX2" fmla="*/ 8516 w 10000"/>
                  <a:gd name="connsiteY2" fmla="*/ 2014 h 10000"/>
                  <a:gd name="connsiteX3" fmla="*/ 9766 w 10000"/>
                  <a:gd name="connsiteY3" fmla="*/ 4861 h 10000"/>
                  <a:gd name="connsiteX4" fmla="*/ 10000 w 10000"/>
                  <a:gd name="connsiteY4" fmla="*/ 5556 h 10000"/>
                  <a:gd name="connsiteX5" fmla="*/ 6953 w 10000"/>
                  <a:gd name="connsiteY5" fmla="*/ 10000 h 10000"/>
                  <a:gd name="connsiteX6" fmla="*/ 4766 w 10000"/>
                  <a:gd name="connsiteY6" fmla="*/ 8889 h 10000"/>
                  <a:gd name="connsiteX7" fmla="*/ 2266 w 10000"/>
                  <a:gd name="connsiteY7" fmla="*/ 7778 h 10000"/>
                  <a:gd name="connsiteX8" fmla="*/ 0 w 10000"/>
                  <a:gd name="connsiteY8" fmla="*/ 375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0" y="3750"/>
                    </a:moveTo>
                    <a:cubicBezTo>
                      <a:pt x="938" y="2431"/>
                      <a:pt x="1563" y="694"/>
                      <a:pt x="3203" y="0"/>
                    </a:cubicBezTo>
                    <a:cubicBezTo>
                      <a:pt x="5625" y="208"/>
                      <a:pt x="6797" y="486"/>
                      <a:pt x="8516" y="2014"/>
                    </a:cubicBezTo>
                    <a:cubicBezTo>
                      <a:pt x="8906" y="2986"/>
                      <a:pt x="9375" y="3819"/>
                      <a:pt x="9766" y="4861"/>
                    </a:cubicBezTo>
                    <a:cubicBezTo>
                      <a:pt x="9844" y="5069"/>
                      <a:pt x="10000" y="5556"/>
                      <a:pt x="10000" y="5556"/>
                    </a:cubicBezTo>
                    <a:cubicBezTo>
                      <a:pt x="9766" y="8472"/>
                      <a:pt x="9922" y="9236"/>
                      <a:pt x="6953" y="10000"/>
                    </a:cubicBezTo>
                    <a:cubicBezTo>
                      <a:pt x="6250" y="9514"/>
                      <a:pt x="5625" y="9167"/>
                      <a:pt x="4766" y="8889"/>
                    </a:cubicBezTo>
                    <a:cubicBezTo>
                      <a:pt x="3906" y="8333"/>
                      <a:pt x="3125" y="8264"/>
                      <a:pt x="2266" y="7778"/>
                    </a:cubicBezTo>
                    <a:lnTo>
                      <a:pt x="0" y="3750"/>
                    </a:lnTo>
                    <a:close/>
                  </a:path>
                </a:pathLst>
              </a:custGeom>
              <a:solidFill>
                <a:srgbClr val="FFCC66"/>
              </a:solidFill>
              <a:ln w="9525">
                <a:solidFill>
                  <a:srgbClr val="000066"/>
                </a:solidFill>
                <a:round/>
                <a:headEnd/>
                <a:tailEnd/>
              </a:ln>
            </p:spPr>
            <p:txBody>
              <a:bodyPr/>
              <a:lstStyle/>
              <a:p>
                <a:endParaRPr lang="zh-CN" altLang="en-US"/>
              </a:p>
            </p:txBody>
          </p:sp>
          <p:sp>
            <p:nvSpPr>
              <p:cNvPr id="75810" name="Freeform 34"/>
              <p:cNvSpPr>
                <a:spLocks/>
              </p:cNvSpPr>
              <p:nvPr/>
            </p:nvSpPr>
            <p:spPr bwMode="auto">
              <a:xfrm rot="10800000">
                <a:off x="4839" y="1352"/>
                <a:ext cx="254" cy="204"/>
              </a:xfrm>
              <a:custGeom>
                <a:avLst/>
                <a:gdLst>
                  <a:gd name="T0" fmla="*/ 322 w 100"/>
                  <a:gd name="T1" fmla="*/ 109 h 120"/>
                  <a:gd name="T2" fmla="*/ 926 w 100"/>
                  <a:gd name="T3" fmla="*/ 154 h 120"/>
                  <a:gd name="T4" fmla="*/ 1248 w 100"/>
                  <a:gd name="T5" fmla="*/ 793 h 120"/>
                  <a:gd name="T6" fmla="*/ 559 w 100"/>
                  <a:gd name="T7" fmla="*/ 1181 h 120"/>
                  <a:gd name="T8" fmla="*/ 0 w 100"/>
                  <a:gd name="T9" fmla="*/ 335 h 120"/>
                  <a:gd name="T10" fmla="*/ 322 w 100"/>
                  <a:gd name="T11" fmla="*/ 109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 name="connsiteX0" fmla="*/ 2600 w 10000"/>
                  <a:gd name="connsiteY0" fmla="*/ 508 h 8846"/>
                  <a:gd name="connsiteX1" fmla="*/ 7400 w 10000"/>
                  <a:gd name="connsiteY1" fmla="*/ 842 h 8846"/>
                  <a:gd name="connsiteX2" fmla="*/ 10000 w 10000"/>
                  <a:gd name="connsiteY2" fmla="*/ 5592 h 8846"/>
                  <a:gd name="connsiteX3" fmla="*/ 4500 w 10000"/>
                  <a:gd name="connsiteY3" fmla="*/ 8508 h 8846"/>
                  <a:gd name="connsiteX4" fmla="*/ 2509 w 10000"/>
                  <a:gd name="connsiteY4" fmla="*/ 6608 h 8846"/>
                  <a:gd name="connsiteX5" fmla="*/ 0 w 10000"/>
                  <a:gd name="connsiteY5" fmla="*/ 2175 h 8846"/>
                  <a:gd name="connsiteX6" fmla="*/ 2600 w 10000"/>
                  <a:gd name="connsiteY6" fmla="*/ 508 h 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8846">
                    <a:moveTo>
                      <a:pt x="2600" y="508"/>
                    </a:moveTo>
                    <a:cubicBezTo>
                      <a:pt x="4300" y="-325"/>
                      <a:pt x="5800" y="-75"/>
                      <a:pt x="7400" y="842"/>
                    </a:cubicBezTo>
                    <a:cubicBezTo>
                      <a:pt x="8000" y="2425"/>
                      <a:pt x="9400" y="3842"/>
                      <a:pt x="10000" y="5592"/>
                    </a:cubicBezTo>
                    <a:cubicBezTo>
                      <a:pt x="9400" y="9675"/>
                      <a:pt x="9900" y="8925"/>
                      <a:pt x="4500" y="8508"/>
                    </a:cubicBezTo>
                    <a:cubicBezTo>
                      <a:pt x="3252" y="8598"/>
                      <a:pt x="3259" y="7663"/>
                      <a:pt x="2509" y="6608"/>
                    </a:cubicBezTo>
                    <a:cubicBezTo>
                      <a:pt x="1759" y="5553"/>
                      <a:pt x="-15" y="3112"/>
                      <a:pt x="0" y="2175"/>
                    </a:cubicBezTo>
                    <a:cubicBezTo>
                      <a:pt x="400" y="1425"/>
                      <a:pt x="1500" y="508"/>
                      <a:pt x="2600" y="508"/>
                    </a:cubicBezTo>
                    <a:close/>
                  </a:path>
                </a:pathLst>
              </a:custGeom>
              <a:solidFill>
                <a:srgbClr val="FFCC66"/>
              </a:solidFill>
              <a:ln w="9525">
                <a:solidFill>
                  <a:srgbClr val="000066"/>
                </a:solidFill>
                <a:round/>
                <a:headEnd/>
                <a:tailEnd/>
              </a:ln>
            </p:spPr>
            <p:txBody>
              <a:bodyPr/>
              <a:lstStyle/>
              <a:p>
                <a:endParaRPr lang="zh-CN" altLang="en-US"/>
              </a:p>
            </p:txBody>
          </p:sp>
          <p:sp>
            <p:nvSpPr>
              <p:cNvPr id="75811" name="Freeform 35"/>
              <p:cNvSpPr>
                <a:spLocks/>
              </p:cNvSpPr>
              <p:nvPr/>
            </p:nvSpPr>
            <p:spPr bwMode="auto">
              <a:xfrm rot="10800000">
                <a:off x="4579" y="1150"/>
                <a:ext cx="363" cy="229"/>
              </a:xfrm>
              <a:custGeom>
                <a:avLst/>
                <a:gdLst>
                  <a:gd name="T0" fmla="*/ 1185 w 100"/>
                  <a:gd name="T1" fmla="*/ 110 h 120"/>
                  <a:gd name="T2" fmla="*/ 3363 w 100"/>
                  <a:gd name="T3" fmla="*/ 155 h 120"/>
                  <a:gd name="T4" fmla="*/ 4548 w 100"/>
                  <a:gd name="T5" fmla="*/ 798 h 120"/>
                  <a:gd name="T6" fmla="*/ 2053 w 100"/>
                  <a:gd name="T7" fmla="*/ 1197 h 120"/>
                  <a:gd name="T8" fmla="*/ 0 w 100"/>
                  <a:gd name="T9" fmla="*/ 336 h 120"/>
                  <a:gd name="T10" fmla="*/ 1185 w 100"/>
                  <a:gd name="T11" fmla="*/ 110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 name="connsiteX0" fmla="*/ 2600 w 10163"/>
                  <a:gd name="connsiteY0" fmla="*/ 508 h 8846"/>
                  <a:gd name="connsiteX1" fmla="*/ 7400 w 10163"/>
                  <a:gd name="connsiteY1" fmla="*/ 842 h 8846"/>
                  <a:gd name="connsiteX2" fmla="*/ 8661 w 10163"/>
                  <a:gd name="connsiteY2" fmla="*/ 1690 h 8846"/>
                  <a:gd name="connsiteX3" fmla="*/ 10000 w 10163"/>
                  <a:gd name="connsiteY3" fmla="*/ 5592 h 8846"/>
                  <a:gd name="connsiteX4" fmla="*/ 4500 w 10163"/>
                  <a:gd name="connsiteY4" fmla="*/ 8508 h 8846"/>
                  <a:gd name="connsiteX5" fmla="*/ 0 w 10163"/>
                  <a:gd name="connsiteY5" fmla="*/ 2175 h 8846"/>
                  <a:gd name="connsiteX6" fmla="*/ 2600 w 10163"/>
                  <a:gd name="connsiteY6" fmla="*/ 508 h 8846"/>
                  <a:gd name="connsiteX0" fmla="*/ 2558 w 10001"/>
                  <a:gd name="connsiteY0" fmla="*/ 1288 h 10714"/>
                  <a:gd name="connsiteX1" fmla="*/ 7193 w 10001"/>
                  <a:gd name="connsiteY1" fmla="*/ 456 h 10714"/>
                  <a:gd name="connsiteX2" fmla="*/ 8522 w 10001"/>
                  <a:gd name="connsiteY2" fmla="*/ 2624 h 10714"/>
                  <a:gd name="connsiteX3" fmla="*/ 9840 w 10001"/>
                  <a:gd name="connsiteY3" fmla="*/ 7036 h 10714"/>
                  <a:gd name="connsiteX4" fmla="*/ 4428 w 10001"/>
                  <a:gd name="connsiteY4" fmla="*/ 10332 h 10714"/>
                  <a:gd name="connsiteX5" fmla="*/ 0 w 10001"/>
                  <a:gd name="connsiteY5" fmla="*/ 3173 h 10714"/>
                  <a:gd name="connsiteX6" fmla="*/ 2558 w 10001"/>
                  <a:gd name="connsiteY6" fmla="*/ 1288 h 10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1" h="10714">
                    <a:moveTo>
                      <a:pt x="2558" y="1288"/>
                    </a:moveTo>
                    <a:cubicBezTo>
                      <a:pt x="4231" y="347"/>
                      <a:pt x="5619" y="-581"/>
                      <a:pt x="7193" y="456"/>
                    </a:cubicBezTo>
                    <a:cubicBezTo>
                      <a:pt x="8165" y="936"/>
                      <a:pt x="8096" y="1729"/>
                      <a:pt x="8522" y="2624"/>
                    </a:cubicBezTo>
                    <a:cubicBezTo>
                      <a:pt x="8948" y="3520"/>
                      <a:pt x="10500" y="6009"/>
                      <a:pt x="9840" y="7036"/>
                    </a:cubicBezTo>
                    <a:cubicBezTo>
                      <a:pt x="9249" y="11651"/>
                      <a:pt x="9741" y="10803"/>
                      <a:pt x="4428" y="10332"/>
                    </a:cubicBezTo>
                    <a:cubicBezTo>
                      <a:pt x="2853" y="8071"/>
                      <a:pt x="1181" y="5622"/>
                      <a:pt x="0" y="3173"/>
                    </a:cubicBezTo>
                    <a:cubicBezTo>
                      <a:pt x="394" y="2325"/>
                      <a:pt x="1476" y="1288"/>
                      <a:pt x="2558" y="1288"/>
                    </a:cubicBezTo>
                    <a:close/>
                  </a:path>
                </a:pathLst>
              </a:custGeom>
              <a:solidFill>
                <a:srgbClr val="FFCC66"/>
              </a:solidFill>
              <a:ln w="9525">
                <a:solidFill>
                  <a:srgbClr val="000066"/>
                </a:solidFill>
                <a:round/>
                <a:headEnd/>
                <a:tailEnd/>
              </a:ln>
            </p:spPr>
            <p:txBody>
              <a:bodyPr/>
              <a:lstStyle/>
              <a:p>
                <a:endParaRPr lang="zh-CN" altLang="en-US"/>
              </a:p>
            </p:txBody>
          </p:sp>
          <p:sp>
            <p:nvSpPr>
              <p:cNvPr id="75812" name="Freeform 36"/>
              <p:cNvSpPr>
                <a:spLocks/>
              </p:cNvSpPr>
              <p:nvPr/>
            </p:nvSpPr>
            <p:spPr bwMode="auto">
              <a:xfrm>
                <a:off x="3783" y="1282"/>
                <a:ext cx="352" cy="193"/>
              </a:xfrm>
              <a:custGeom>
                <a:avLst/>
                <a:gdLst>
                  <a:gd name="T0" fmla="*/ 850 w 141"/>
                  <a:gd name="T1" fmla="*/ 139 h 116"/>
                  <a:gd name="T2" fmla="*/ 806 w 141"/>
                  <a:gd name="T3" fmla="*/ 476 h 116"/>
                  <a:gd name="T4" fmla="*/ 549 w 141"/>
                  <a:gd name="T5" fmla="*/ 586 h 116"/>
                  <a:gd name="T6" fmla="*/ 279 w 141"/>
                  <a:gd name="T7" fmla="*/ 650 h 116"/>
                  <a:gd name="T8" fmla="*/ 0 w 141"/>
                  <a:gd name="T9" fmla="*/ 492 h 116"/>
                  <a:gd name="T10" fmla="*/ 206 w 141"/>
                  <a:gd name="T11" fmla="*/ 114 h 116"/>
                  <a:gd name="T12" fmla="*/ 355 w 141"/>
                  <a:gd name="T13" fmla="*/ 28 h 116"/>
                  <a:gd name="T14" fmla="*/ 428 w 141"/>
                  <a:gd name="T15" fmla="*/ 0 h 116"/>
                  <a:gd name="T16" fmla="*/ 850 w 141"/>
                  <a:gd name="T17" fmla="*/ 139 h 1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116"/>
                  <a:gd name="T29" fmla="*/ 141 w 141"/>
                  <a:gd name="T30" fmla="*/ 116 h 1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116">
                    <a:moveTo>
                      <a:pt x="137" y="25"/>
                    </a:moveTo>
                    <a:cubicBezTo>
                      <a:pt x="136" y="45"/>
                      <a:pt x="141" y="68"/>
                      <a:pt x="130" y="85"/>
                    </a:cubicBezTo>
                    <a:cubicBezTo>
                      <a:pt x="121" y="97"/>
                      <a:pt x="89" y="105"/>
                      <a:pt x="89" y="105"/>
                    </a:cubicBezTo>
                    <a:cubicBezTo>
                      <a:pt x="74" y="107"/>
                      <a:pt x="45" y="116"/>
                      <a:pt x="45" y="116"/>
                    </a:cubicBezTo>
                    <a:cubicBezTo>
                      <a:pt x="16" y="112"/>
                      <a:pt x="11" y="113"/>
                      <a:pt x="0" y="88"/>
                    </a:cubicBezTo>
                    <a:cubicBezTo>
                      <a:pt x="4" y="62"/>
                      <a:pt x="10" y="37"/>
                      <a:pt x="33" y="20"/>
                    </a:cubicBezTo>
                    <a:cubicBezTo>
                      <a:pt x="40" y="13"/>
                      <a:pt x="48" y="8"/>
                      <a:pt x="57" y="5"/>
                    </a:cubicBezTo>
                    <a:cubicBezTo>
                      <a:pt x="60" y="3"/>
                      <a:pt x="70" y="3"/>
                      <a:pt x="69" y="0"/>
                    </a:cubicBezTo>
                    <a:cubicBezTo>
                      <a:pt x="82" y="3"/>
                      <a:pt x="127" y="11"/>
                      <a:pt x="137" y="25"/>
                    </a:cubicBezTo>
                    <a:close/>
                  </a:path>
                </a:pathLst>
              </a:custGeom>
              <a:solidFill>
                <a:srgbClr val="FFCC66"/>
              </a:solidFill>
              <a:ln w="9525">
                <a:solidFill>
                  <a:srgbClr val="000066"/>
                </a:solidFill>
                <a:round/>
                <a:headEnd/>
                <a:tailEnd/>
              </a:ln>
            </p:spPr>
            <p:txBody>
              <a:bodyPr/>
              <a:lstStyle/>
              <a:p>
                <a:endParaRPr lang="zh-CN" altLang="en-US"/>
              </a:p>
            </p:txBody>
          </p:sp>
          <p:sp>
            <p:nvSpPr>
              <p:cNvPr id="75813" name="Freeform 37"/>
              <p:cNvSpPr>
                <a:spLocks/>
              </p:cNvSpPr>
              <p:nvPr/>
            </p:nvSpPr>
            <p:spPr bwMode="auto">
              <a:xfrm>
                <a:off x="4777" y="996"/>
                <a:ext cx="258" cy="209"/>
              </a:xfrm>
              <a:custGeom>
                <a:avLst/>
                <a:gdLst>
                  <a:gd name="T0" fmla="*/ 125 w 160"/>
                  <a:gd name="T1" fmla="*/ 268 h 173"/>
                  <a:gd name="T2" fmla="*/ 431 w 160"/>
                  <a:gd name="T3" fmla="*/ 85 h 173"/>
                  <a:gd name="T4" fmla="*/ 907 w 160"/>
                  <a:gd name="T5" fmla="*/ 586 h 173"/>
                  <a:gd name="T6" fmla="*/ 907 w 160"/>
                  <a:gd name="T7" fmla="*/ 830 h 173"/>
                  <a:gd name="T8" fmla="*/ 581 w 160"/>
                  <a:gd name="T9" fmla="*/ 967 h 173"/>
                  <a:gd name="T10" fmla="*/ 0 w 160"/>
                  <a:gd name="T11" fmla="*/ 649 h 173"/>
                  <a:gd name="T12" fmla="*/ 24 w 160"/>
                  <a:gd name="T13" fmla="*/ 447 h 173"/>
                  <a:gd name="T14" fmla="*/ 125 w 160"/>
                  <a:gd name="T15" fmla="*/ 268 h 173"/>
                  <a:gd name="T16" fmla="*/ 0 60000 65536"/>
                  <a:gd name="T17" fmla="*/ 0 60000 65536"/>
                  <a:gd name="T18" fmla="*/ 0 60000 65536"/>
                  <a:gd name="T19" fmla="*/ 0 60000 65536"/>
                  <a:gd name="T20" fmla="*/ 0 60000 65536"/>
                  <a:gd name="T21" fmla="*/ 0 60000 65536"/>
                  <a:gd name="T22" fmla="*/ 0 60000 65536"/>
                  <a:gd name="T23" fmla="*/ 0 60000 65536"/>
                  <a:gd name="T24" fmla="*/ 0 w 160"/>
                  <a:gd name="T25" fmla="*/ 0 h 173"/>
                  <a:gd name="T26" fmla="*/ 160 w 160"/>
                  <a:gd name="T27" fmla="*/ 173 h 173"/>
                  <a:gd name="connsiteX0" fmla="*/ 1250 w 9575"/>
                  <a:gd name="connsiteY0" fmla="*/ 130 h 7355"/>
                  <a:gd name="connsiteX1" fmla="*/ 6335 w 9575"/>
                  <a:gd name="connsiteY1" fmla="*/ 208 h 7355"/>
                  <a:gd name="connsiteX2" fmla="*/ 9063 w 9575"/>
                  <a:gd name="connsiteY2" fmla="*/ 3424 h 7355"/>
                  <a:gd name="connsiteX3" fmla="*/ 9063 w 9575"/>
                  <a:gd name="connsiteY3" fmla="*/ 5968 h 7355"/>
                  <a:gd name="connsiteX4" fmla="*/ 5813 w 9575"/>
                  <a:gd name="connsiteY4" fmla="*/ 7355 h 7355"/>
                  <a:gd name="connsiteX5" fmla="*/ 0 w 9575"/>
                  <a:gd name="connsiteY5" fmla="*/ 4060 h 7355"/>
                  <a:gd name="connsiteX6" fmla="*/ 250 w 9575"/>
                  <a:gd name="connsiteY6" fmla="*/ 1979 h 7355"/>
                  <a:gd name="connsiteX7" fmla="*/ 1250 w 9575"/>
                  <a:gd name="connsiteY7" fmla="*/ 130 h 7355"/>
                  <a:gd name="connsiteX0" fmla="*/ 1305 w 10000"/>
                  <a:gd name="connsiteY0" fmla="*/ 177 h 10000"/>
                  <a:gd name="connsiteX1" fmla="*/ 1915 w 10000"/>
                  <a:gd name="connsiteY1" fmla="*/ 976 h 10000"/>
                  <a:gd name="connsiteX2" fmla="*/ 6616 w 10000"/>
                  <a:gd name="connsiteY2" fmla="*/ 283 h 10000"/>
                  <a:gd name="connsiteX3" fmla="*/ 9465 w 10000"/>
                  <a:gd name="connsiteY3" fmla="*/ 4655 h 10000"/>
                  <a:gd name="connsiteX4" fmla="*/ 9465 w 10000"/>
                  <a:gd name="connsiteY4" fmla="*/ 8114 h 10000"/>
                  <a:gd name="connsiteX5" fmla="*/ 6071 w 10000"/>
                  <a:gd name="connsiteY5" fmla="*/ 10000 h 10000"/>
                  <a:gd name="connsiteX6" fmla="*/ 0 w 10000"/>
                  <a:gd name="connsiteY6" fmla="*/ 5520 h 10000"/>
                  <a:gd name="connsiteX7" fmla="*/ 261 w 10000"/>
                  <a:gd name="connsiteY7" fmla="*/ 2691 h 10000"/>
                  <a:gd name="connsiteX8" fmla="*/ 1305 w 10000"/>
                  <a:gd name="connsiteY8" fmla="*/ 177 h 10000"/>
                  <a:gd name="connsiteX0" fmla="*/ 261 w 10000"/>
                  <a:gd name="connsiteY0" fmla="*/ 2691 h 10000"/>
                  <a:gd name="connsiteX1" fmla="*/ 1915 w 10000"/>
                  <a:gd name="connsiteY1" fmla="*/ 976 h 10000"/>
                  <a:gd name="connsiteX2" fmla="*/ 6616 w 10000"/>
                  <a:gd name="connsiteY2" fmla="*/ 283 h 10000"/>
                  <a:gd name="connsiteX3" fmla="*/ 9465 w 10000"/>
                  <a:gd name="connsiteY3" fmla="*/ 4655 h 10000"/>
                  <a:gd name="connsiteX4" fmla="*/ 9465 w 10000"/>
                  <a:gd name="connsiteY4" fmla="*/ 8114 h 10000"/>
                  <a:gd name="connsiteX5" fmla="*/ 6071 w 10000"/>
                  <a:gd name="connsiteY5" fmla="*/ 10000 h 10000"/>
                  <a:gd name="connsiteX6" fmla="*/ 0 w 10000"/>
                  <a:gd name="connsiteY6" fmla="*/ 5520 h 10000"/>
                  <a:gd name="connsiteX7" fmla="*/ 261 w 10000"/>
                  <a:gd name="connsiteY7" fmla="*/ 2691 h 10000"/>
                  <a:gd name="connsiteX0" fmla="*/ 261 w 10000"/>
                  <a:gd name="connsiteY0" fmla="*/ 2691 h 10000"/>
                  <a:gd name="connsiteX1" fmla="*/ 1915 w 10000"/>
                  <a:gd name="connsiteY1" fmla="*/ 976 h 10000"/>
                  <a:gd name="connsiteX2" fmla="*/ 6616 w 10000"/>
                  <a:gd name="connsiteY2" fmla="*/ 283 h 10000"/>
                  <a:gd name="connsiteX3" fmla="*/ 9465 w 10000"/>
                  <a:gd name="connsiteY3" fmla="*/ 4655 h 10000"/>
                  <a:gd name="connsiteX4" fmla="*/ 9465 w 10000"/>
                  <a:gd name="connsiteY4" fmla="*/ 8114 h 10000"/>
                  <a:gd name="connsiteX5" fmla="*/ 6071 w 10000"/>
                  <a:gd name="connsiteY5" fmla="*/ 10000 h 10000"/>
                  <a:gd name="connsiteX6" fmla="*/ 0 w 10000"/>
                  <a:gd name="connsiteY6" fmla="*/ 5520 h 10000"/>
                  <a:gd name="connsiteX7" fmla="*/ 261 w 10000"/>
                  <a:gd name="connsiteY7" fmla="*/ 269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261" y="2691"/>
                    </a:moveTo>
                    <a:lnTo>
                      <a:pt x="1915" y="976"/>
                    </a:lnTo>
                    <a:lnTo>
                      <a:pt x="6616" y="283"/>
                    </a:lnTo>
                    <a:cubicBezTo>
                      <a:pt x="9488" y="-896"/>
                      <a:pt x="8813" y="1826"/>
                      <a:pt x="9465" y="4655"/>
                    </a:cubicBezTo>
                    <a:cubicBezTo>
                      <a:pt x="10444" y="5599"/>
                      <a:pt x="9857" y="6857"/>
                      <a:pt x="9465" y="8114"/>
                    </a:cubicBezTo>
                    <a:cubicBezTo>
                      <a:pt x="7963" y="9293"/>
                      <a:pt x="7702" y="9528"/>
                      <a:pt x="6071" y="10000"/>
                    </a:cubicBezTo>
                    <a:cubicBezTo>
                      <a:pt x="2219" y="9686"/>
                      <a:pt x="1044" y="9921"/>
                      <a:pt x="0" y="5520"/>
                    </a:cubicBezTo>
                    <a:cubicBezTo>
                      <a:pt x="66" y="4578"/>
                      <a:pt x="0" y="3555"/>
                      <a:pt x="261" y="2691"/>
                    </a:cubicBezTo>
                    <a:close/>
                  </a:path>
                </a:pathLst>
              </a:custGeom>
              <a:solidFill>
                <a:srgbClr val="FFCC66"/>
              </a:solidFill>
              <a:ln w="9525">
                <a:solidFill>
                  <a:srgbClr val="000066"/>
                </a:solidFill>
                <a:round/>
                <a:headEnd/>
                <a:tailEnd/>
              </a:ln>
            </p:spPr>
            <p:txBody>
              <a:bodyPr/>
              <a:lstStyle/>
              <a:p>
                <a:endParaRPr lang="zh-CN" altLang="en-US"/>
              </a:p>
            </p:txBody>
          </p:sp>
          <p:sp>
            <p:nvSpPr>
              <p:cNvPr id="75814" name="Freeform 38"/>
              <p:cNvSpPr>
                <a:spLocks/>
              </p:cNvSpPr>
              <p:nvPr/>
            </p:nvSpPr>
            <p:spPr bwMode="auto">
              <a:xfrm>
                <a:off x="3998" y="987"/>
                <a:ext cx="290" cy="264"/>
              </a:xfrm>
              <a:custGeom>
                <a:avLst/>
                <a:gdLst>
                  <a:gd name="T0" fmla="*/ 298 w 173"/>
                  <a:gd name="T1" fmla="*/ 791 h 160"/>
                  <a:gd name="T2" fmla="*/ 94 w 173"/>
                  <a:gd name="T3" fmla="*/ 515 h 160"/>
                  <a:gd name="T4" fmla="*/ 653 w 173"/>
                  <a:gd name="T5" fmla="*/ 85 h 160"/>
                  <a:gd name="T6" fmla="*/ 926 w 173"/>
                  <a:gd name="T7" fmla="*/ 85 h 160"/>
                  <a:gd name="T8" fmla="*/ 1075 w 173"/>
                  <a:gd name="T9" fmla="*/ 378 h 160"/>
                  <a:gd name="T10" fmla="*/ 721 w 173"/>
                  <a:gd name="T11" fmla="*/ 905 h 160"/>
                  <a:gd name="T12" fmla="*/ 496 w 173"/>
                  <a:gd name="T13" fmla="*/ 882 h 160"/>
                  <a:gd name="T14" fmla="*/ 298 w 173"/>
                  <a:gd name="T15" fmla="*/ 791 h 160"/>
                  <a:gd name="T16" fmla="*/ 0 60000 65536"/>
                  <a:gd name="T17" fmla="*/ 0 60000 65536"/>
                  <a:gd name="T18" fmla="*/ 0 60000 65536"/>
                  <a:gd name="T19" fmla="*/ 0 60000 65536"/>
                  <a:gd name="T20" fmla="*/ 0 60000 65536"/>
                  <a:gd name="T21" fmla="*/ 0 60000 65536"/>
                  <a:gd name="T22" fmla="*/ 0 60000 65536"/>
                  <a:gd name="T23" fmla="*/ 0 60000 65536"/>
                  <a:gd name="T24" fmla="*/ 0 w 173"/>
                  <a:gd name="T25" fmla="*/ 0 h 160"/>
                  <a:gd name="T26" fmla="*/ 173 w 173"/>
                  <a:gd name="T27" fmla="*/ 160 h 160"/>
                  <a:gd name="connsiteX0" fmla="*/ 1908 w 9133"/>
                  <a:gd name="connsiteY0" fmla="*/ 8326 h 9576"/>
                  <a:gd name="connsiteX1" fmla="*/ 0 w 9133"/>
                  <a:gd name="connsiteY1" fmla="*/ 5264 h 9576"/>
                  <a:gd name="connsiteX2" fmla="*/ 2051 w 9133"/>
                  <a:gd name="connsiteY2" fmla="*/ 1134 h 9576"/>
                  <a:gd name="connsiteX3" fmla="*/ 5202 w 9133"/>
                  <a:gd name="connsiteY3" fmla="*/ 514 h 9576"/>
                  <a:gd name="connsiteX4" fmla="*/ 7746 w 9133"/>
                  <a:gd name="connsiteY4" fmla="*/ 514 h 9576"/>
                  <a:gd name="connsiteX5" fmla="*/ 9133 w 9133"/>
                  <a:gd name="connsiteY5" fmla="*/ 3764 h 9576"/>
                  <a:gd name="connsiteX6" fmla="*/ 5838 w 9133"/>
                  <a:gd name="connsiteY6" fmla="*/ 9576 h 9576"/>
                  <a:gd name="connsiteX7" fmla="*/ 3757 w 9133"/>
                  <a:gd name="connsiteY7" fmla="*/ 9326 h 9576"/>
                  <a:gd name="connsiteX8" fmla="*/ 1908 w 9133"/>
                  <a:gd name="connsiteY8" fmla="*/ 8326 h 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33" h="9576">
                    <a:moveTo>
                      <a:pt x="1908" y="8326"/>
                    </a:moveTo>
                    <a:cubicBezTo>
                      <a:pt x="1561" y="7076"/>
                      <a:pt x="694" y="6264"/>
                      <a:pt x="0" y="5264"/>
                    </a:cubicBezTo>
                    <a:cubicBezTo>
                      <a:pt x="41" y="4143"/>
                      <a:pt x="1184" y="1926"/>
                      <a:pt x="2051" y="1134"/>
                    </a:cubicBezTo>
                    <a:cubicBezTo>
                      <a:pt x="2918" y="342"/>
                      <a:pt x="4270" y="695"/>
                      <a:pt x="5202" y="514"/>
                    </a:cubicBezTo>
                    <a:cubicBezTo>
                      <a:pt x="5896" y="-424"/>
                      <a:pt x="6821" y="139"/>
                      <a:pt x="7746" y="514"/>
                    </a:cubicBezTo>
                    <a:cubicBezTo>
                      <a:pt x="8613" y="1951"/>
                      <a:pt x="8786" y="2201"/>
                      <a:pt x="9133" y="3764"/>
                    </a:cubicBezTo>
                    <a:cubicBezTo>
                      <a:pt x="8902" y="7451"/>
                      <a:pt x="9075" y="8576"/>
                      <a:pt x="5838" y="9576"/>
                    </a:cubicBezTo>
                    <a:cubicBezTo>
                      <a:pt x="5145" y="9514"/>
                      <a:pt x="4393" y="9576"/>
                      <a:pt x="3757" y="9326"/>
                    </a:cubicBezTo>
                    <a:lnTo>
                      <a:pt x="1908" y="8326"/>
                    </a:lnTo>
                    <a:close/>
                  </a:path>
                </a:pathLst>
              </a:custGeom>
              <a:solidFill>
                <a:srgbClr val="FFCC66"/>
              </a:solidFill>
              <a:ln w="9525">
                <a:solidFill>
                  <a:srgbClr val="000066"/>
                </a:solidFill>
                <a:round/>
                <a:headEnd/>
                <a:tailEnd/>
              </a:ln>
            </p:spPr>
            <p:txBody>
              <a:bodyPr/>
              <a:lstStyle/>
              <a:p>
                <a:endParaRPr lang="zh-CN" altLang="en-US" dirty="0"/>
              </a:p>
            </p:txBody>
          </p:sp>
          <p:sp>
            <p:nvSpPr>
              <p:cNvPr id="75815" name="Freeform 39"/>
              <p:cNvSpPr>
                <a:spLocks/>
              </p:cNvSpPr>
              <p:nvPr/>
            </p:nvSpPr>
            <p:spPr bwMode="auto">
              <a:xfrm rot="17436492">
                <a:off x="4372" y="1104"/>
                <a:ext cx="173" cy="269"/>
              </a:xfrm>
              <a:custGeom>
                <a:avLst/>
                <a:gdLst>
                  <a:gd name="T0" fmla="*/ 74 w 94"/>
                  <a:gd name="T1" fmla="*/ 66 h 141"/>
                  <a:gd name="T2" fmla="*/ 407 w 94"/>
                  <a:gd name="T3" fmla="*/ 89 h 141"/>
                  <a:gd name="T4" fmla="*/ 585 w 94"/>
                  <a:gd name="T5" fmla="*/ 468 h 141"/>
                  <a:gd name="T6" fmla="*/ 206 w 94"/>
                  <a:gd name="T7" fmla="*/ 707 h 141"/>
                  <a:gd name="T8" fmla="*/ 118 w 94"/>
                  <a:gd name="T9" fmla="*/ 367 h 141"/>
                  <a:gd name="T10" fmla="*/ 74 w 94"/>
                  <a:gd name="T11" fmla="*/ 66 h 141"/>
                  <a:gd name="T12" fmla="*/ 0 60000 65536"/>
                  <a:gd name="T13" fmla="*/ 0 60000 65536"/>
                  <a:gd name="T14" fmla="*/ 0 60000 65536"/>
                  <a:gd name="T15" fmla="*/ 0 60000 65536"/>
                  <a:gd name="T16" fmla="*/ 0 60000 65536"/>
                  <a:gd name="T17" fmla="*/ 0 60000 65536"/>
                  <a:gd name="T18" fmla="*/ 0 w 94"/>
                  <a:gd name="T19" fmla="*/ 0 h 141"/>
                  <a:gd name="T20" fmla="*/ 94 w 94"/>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94" h="141">
                    <a:moveTo>
                      <a:pt x="12" y="12"/>
                    </a:moveTo>
                    <a:cubicBezTo>
                      <a:pt x="31" y="0"/>
                      <a:pt x="47" y="4"/>
                      <a:pt x="65" y="16"/>
                    </a:cubicBezTo>
                    <a:cubicBezTo>
                      <a:pt x="72" y="39"/>
                      <a:pt x="87" y="59"/>
                      <a:pt x="94" y="83"/>
                    </a:cubicBezTo>
                    <a:cubicBezTo>
                      <a:pt x="87" y="141"/>
                      <a:pt x="93" y="130"/>
                      <a:pt x="33" y="125"/>
                    </a:cubicBezTo>
                    <a:cubicBezTo>
                      <a:pt x="15" y="96"/>
                      <a:pt x="32" y="96"/>
                      <a:pt x="19" y="65"/>
                    </a:cubicBezTo>
                    <a:cubicBezTo>
                      <a:pt x="23" y="55"/>
                      <a:pt x="0" y="12"/>
                      <a:pt x="12" y="12"/>
                    </a:cubicBezTo>
                    <a:close/>
                  </a:path>
                </a:pathLst>
              </a:custGeom>
              <a:solidFill>
                <a:srgbClr val="FFCC66"/>
              </a:solidFill>
              <a:ln w="9525">
                <a:solidFill>
                  <a:srgbClr val="000066"/>
                </a:solidFill>
                <a:round/>
                <a:headEnd/>
                <a:tailEnd/>
              </a:ln>
            </p:spPr>
            <p:txBody>
              <a:bodyPr/>
              <a:lstStyle/>
              <a:p>
                <a:endParaRPr lang="zh-CN" altLang="en-US"/>
              </a:p>
            </p:txBody>
          </p:sp>
          <p:sp>
            <p:nvSpPr>
              <p:cNvPr id="75816" name="Freeform 40"/>
              <p:cNvSpPr>
                <a:spLocks/>
              </p:cNvSpPr>
              <p:nvPr/>
            </p:nvSpPr>
            <p:spPr bwMode="auto">
              <a:xfrm>
                <a:off x="4272" y="971"/>
                <a:ext cx="281" cy="199"/>
              </a:xfrm>
              <a:custGeom>
                <a:avLst/>
                <a:gdLst>
                  <a:gd name="T0" fmla="*/ 799 w 141"/>
                  <a:gd name="T1" fmla="*/ 68 h 94"/>
                  <a:gd name="T2" fmla="*/ 775 w 141"/>
                  <a:gd name="T3" fmla="*/ 370 h 94"/>
                  <a:gd name="T4" fmla="*/ 362 w 141"/>
                  <a:gd name="T5" fmla="*/ 536 h 94"/>
                  <a:gd name="T6" fmla="*/ 97 w 141"/>
                  <a:gd name="T7" fmla="*/ 188 h 94"/>
                  <a:gd name="T8" fmla="*/ 483 w 141"/>
                  <a:gd name="T9" fmla="*/ 80 h 94"/>
                  <a:gd name="T10" fmla="*/ 799 w 141"/>
                  <a:gd name="T11" fmla="*/ 68 h 94"/>
                  <a:gd name="T12" fmla="*/ 0 60000 65536"/>
                  <a:gd name="T13" fmla="*/ 0 60000 65536"/>
                  <a:gd name="T14" fmla="*/ 0 60000 65536"/>
                  <a:gd name="T15" fmla="*/ 0 60000 65536"/>
                  <a:gd name="T16" fmla="*/ 0 60000 65536"/>
                  <a:gd name="T17" fmla="*/ 0 60000 65536"/>
                  <a:gd name="T18" fmla="*/ 0 w 141"/>
                  <a:gd name="T19" fmla="*/ 0 h 94"/>
                  <a:gd name="T20" fmla="*/ 141 w 141"/>
                  <a:gd name="T21" fmla="*/ 94 h 94"/>
                </a:gdLst>
                <a:ahLst/>
                <a:cxnLst>
                  <a:cxn ang="T12">
                    <a:pos x="T0" y="T1"/>
                  </a:cxn>
                  <a:cxn ang="T13">
                    <a:pos x="T2" y="T3"/>
                  </a:cxn>
                  <a:cxn ang="T14">
                    <a:pos x="T4" y="T5"/>
                  </a:cxn>
                  <a:cxn ang="T15">
                    <a:pos x="T6" y="T7"/>
                  </a:cxn>
                  <a:cxn ang="T16">
                    <a:pos x="T8" y="T9"/>
                  </a:cxn>
                  <a:cxn ang="T17">
                    <a:pos x="T10" y="T11"/>
                  </a:cxn>
                </a:cxnLst>
                <a:rect l="T18" t="T19" r="T20" b="T21"/>
                <a:pathLst>
                  <a:path w="141" h="94">
                    <a:moveTo>
                      <a:pt x="129" y="12"/>
                    </a:moveTo>
                    <a:cubicBezTo>
                      <a:pt x="141" y="31"/>
                      <a:pt x="137" y="47"/>
                      <a:pt x="125" y="65"/>
                    </a:cubicBezTo>
                    <a:cubicBezTo>
                      <a:pt x="102" y="72"/>
                      <a:pt x="82" y="87"/>
                      <a:pt x="58" y="94"/>
                    </a:cubicBezTo>
                    <a:cubicBezTo>
                      <a:pt x="0" y="87"/>
                      <a:pt x="11" y="93"/>
                      <a:pt x="16" y="33"/>
                    </a:cubicBezTo>
                    <a:cubicBezTo>
                      <a:pt x="45" y="15"/>
                      <a:pt x="47" y="27"/>
                      <a:pt x="78" y="14"/>
                    </a:cubicBezTo>
                    <a:cubicBezTo>
                      <a:pt x="88" y="18"/>
                      <a:pt x="129" y="0"/>
                      <a:pt x="129" y="12"/>
                    </a:cubicBezTo>
                    <a:close/>
                  </a:path>
                </a:pathLst>
              </a:custGeom>
              <a:solidFill>
                <a:srgbClr val="FFCC66"/>
              </a:solidFill>
              <a:ln w="9525">
                <a:solidFill>
                  <a:srgbClr val="000066"/>
                </a:solidFill>
                <a:round/>
                <a:headEnd/>
                <a:tailEnd/>
              </a:ln>
            </p:spPr>
            <p:txBody>
              <a:bodyPr/>
              <a:lstStyle/>
              <a:p>
                <a:endParaRPr lang="zh-CN" altLang="en-US"/>
              </a:p>
            </p:txBody>
          </p:sp>
          <p:sp>
            <p:nvSpPr>
              <p:cNvPr id="75817" name="Freeform 41"/>
              <p:cNvSpPr>
                <a:spLocks/>
              </p:cNvSpPr>
              <p:nvPr/>
            </p:nvSpPr>
            <p:spPr bwMode="auto">
              <a:xfrm>
                <a:off x="5060" y="973"/>
                <a:ext cx="271" cy="392"/>
              </a:xfrm>
              <a:custGeom>
                <a:avLst/>
                <a:gdLst>
                  <a:gd name="T0" fmla="*/ 81 w 127"/>
                  <a:gd name="T1" fmla="*/ 69 h 124"/>
                  <a:gd name="T2" fmla="*/ 362 w 127"/>
                  <a:gd name="T3" fmla="*/ 38 h 124"/>
                  <a:gd name="T4" fmla="*/ 513 w 127"/>
                  <a:gd name="T5" fmla="*/ 296 h 124"/>
                  <a:gd name="T6" fmla="*/ 224 w 127"/>
                  <a:gd name="T7" fmla="*/ 330 h 124"/>
                  <a:gd name="T8" fmla="*/ 34 w 127"/>
                  <a:gd name="T9" fmla="*/ 232 h 124"/>
                  <a:gd name="T10" fmla="*/ 81 w 127"/>
                  <a:gd name="T11" fmla="*/ 69 h 124"/>
                  <a:gd name="T12" fmla="*/ 0 60000 65536"/>
                  <a:gd name="T13" fmla="*/ 0 60000 65536"/>
                  <a:gd name="T14" fmla="*/ 0 60000 65536"/>
                  <a:gd name="T15" fmla="*/ 0 60000 65536"/>
                  <a:gd name="T16" fmla="*/ 0 60000 65536"/>
                  <a:gd name="T17" fmla="*/ 0 60000 65536"/>
                  <a:gd name="T18" fmla="*/ 0 w 127"/>
                  <a:gd name="T19" fmla="*/ 0 h 124"/>
                  <a:gd name="T20" fmla="*/ 127 w 127"/>
                  <a:gd name="T21" fmla="*/ 124 h 124"/>
                </a:gdLst>
                <a:ahLst/>
                <a:cxnLst>
                  <a:cxn ang="T12">
                    <a:pos x="T0" y="T1"/>
                  </a:cxn>
                  <a:cxn ang="T13">
                    <a:pos x="T2" y="T3"/>
                  </a:cxn>
                  <a:cxn ang="T14">
                    <a:pos x="T4" y="T5"/>
                  </a:cxn>
                  <a:cxn ang="T15">
                    <a:pos x="T6" y="T7"/>
                  </a:cxn>
                  <a:cxn ang="T16">
                    <a:pos x="T8" y="T9"/>
                  </a:cxn>
                  <a:cxn ang="T17">
                    <a:pos x="T10" y="T11"/>
                  </a:cxn>
                </a:cxnLst>
                <a:rect l="T18" t="T19" r="T20" b="T21"/>
                <a:pathLst>
                  <a:path w="127" h="124">
                    <a:moveTo>
                      <a:pt x="19" y="22"/>
                    </a:moveTo>
                    <a:cubicBezTo>
                      <a:pt x="29" y="12"/>
                      <a:pt x="69" y="0"/>
                      <a:pt x="86" y="12"/>
                    </a:cubicBezTo>
                    <a:cubicBezTo>
                      <a:pt x="103" y="24"/>
                      <a:pt x="127" y="79"/>
                      <a:pt x="122" y="95"/>
                    </a:cubicBezTo>
                    <a:cubicBezTo>
                      <a:pt x="112" y="124"/>
                      <a:pt x="77" y="109"/>
                      <a:pt x="53" y="106"/>
                    </a:cubicBezTo>
                    <a:cubicBezTo>
                      <a:pt x="36" y="95"/>
                      <a:pt x="24" y="87"/>
                      <a:pt x="8" y="75"/>
                    </a:cubicBezTo>
                    <a:cubicBezTo>
                      <a:pt x="0" y="47"/>
                      <a:pt x="19" y="52"/>
                      <a:pt x="19" y="22"/>
                    </a:cubicBezTo>
                    <a:close/>
                  </a:path>
                </a:pathLst>
              </a:custGeom>
              <a:solidFill>
                <a:srgbClr val="FFCC66"/>
              </a:solidFill>
              <a:ln w="9525">
                <a:solidFill>
                  <a:srgbClr val="000066"/>
                </a:solidFill>
                <a:round/>
                <a:headEnd/>
                <a:tailEnd/>
              </a:ln>
            </p:spPr>
            <p:txBody>
              <a:bodyPr/>
              <a:lstStyle/>
              <a:p>
                <a:endParaRPr lang="zh-CN" altLang="en-US"/>
              </a:p>
            </p:txBody>
          </p:sp>
          <p:sp>
            <p:nvSpPr>
              <p:cNvPr id="75818" name="Freeform 42"/>
              <p:cNvSpPr>
                <a:spLocks/>
              </p:cNvSpPr>
              <p:nvPr/>
            </p:nvSpPr>
            <p:spPr bwMode="auto">
              <a:xfrm rot="14530167">
                <a:off x="4914" y="1203"/>
                <a:ext cx="242" cy="164"/>
              </a:xfrm>
              <a:custGeom>
                <a:avLst/>
                <a:gdLst>
                  <a:gd name="T0" fmla="*/ 110 w 127"/>
                  <a:gd name="T1" fmla="*/ 33 h 124"/>
                  <a:gd name="T2" fmla="*/ 495 w 127"/>
                  <a:gd name="T3" fmla="*/ 18 h 124"/>
                  <a:gd name="T4" fmla="*/ 706 w 127"/>
                  <a:gd name="T5" fmla="*/ 143 h 124"/>
                  <a:gd name="T6" fmla="*/ 307 w 127"/>
                  <a:gd name="T7" fmla="*/ 159 h 124"/>
                  <a:gd name="T8" fmla="*/ 45 w 127"/>
                  <a:gd name="T9" fmla="*/ 112 h 124"/>
                  <a:gd name="T10" fmla="*/ 110 w 127"/>
                  <a:gd name="T11" fmla="*/ 33 h 124"/>
                  <a:gd name="T12" fmla="*/ 0 60000 65536"/>
                  <a:gd name="T13" fmla="*/ 0 60000 65536"/>
                  <a:gd name="T14" fmla="*/ 0 60000 65536"/>
                  <a:gd name="T15" fmla="*/ 0 60000 65536"/>
                  <a:gd name="T16" fmla="*/ 0 60000 65536"/>
                  <a:gd name="T17" fmla="*/ 0 60000 65536"/>
                  <a:gd name="T18" fmla="*/ 0 w 127"/>
                  <a:gd name="T19" fmla="*/ 0 h 124"/>
                  <a:gd name="T20" fmla="*/ 127 w 127"/>
                  <a:gd name="T21" fmla="*/ 124 h 124"/>
                </a:gdLst>
                <a:ahLst/>
                <a:cxnLst>
                  <a:cxn ang="T12">
                    <a:pos x="T0" y="T1"/>
                  </a:cxn>
                  <a:cxn ang="T13">
                    <a:pos x="T2" y="T3"/>
                  </a:cxn>
                  <a:cxn ang="T14">
                    <a:pos x="T4" y="T5"/>
                  </a:cxn>
                  <a:cxn ang="T15">
                    <a:pos x="T6" y="T7"/>
                  </a:cxn>
                  <a:cxn ang="T16">
                    <a:pos x="T8" y="T9"/>
                  </a:cxn>
                  <a:cxn ang="T17">
                    <a:pos x="T10" y="T11"/>
                  </a:cxn>
                </a:cxnLst>
                <a:rect l="T18" t="T19" r="T20" b="T21"/>
                <a:pathLst>
                  <a:path w="127" h="124">
                    <a:moveTo>
                      <a:pt x="19" y="22"/>
                    </a:moveTo>
                    <a:cubicBezTo>
                      <a:pt x="29" y="12"/>
                      <a:pt x="69" y="0"/>
                      <a:pt x="86" y="12"/>
                    </a:cubicBezTo>
                    <a:cubicBezTo>
                      <a:pt x="103" y="24"/>
                      <a:pt x="127" y="79"/>
                      <a:pt x="122" y="95"/>
                    </a:cubicBezTo>
                    <a:cubicBezTo>
                      <a:pt x="112" y="124"/>
                      <a:pt x="77" y="109"/>
                      <a:pt x="53" y="106"/>
                    </a:cubicBezTo>
                    <a:cubicBezTo>
                      <a:pt x="36" y="95"/>
                      <a:pt x="24" y="87"/>
                      <a:pt x="8" y="75"/>
                    </a:cubicBezTo>
                    <a:cubicBezTo>
                      <a:pt x="0" y="47"/>
                      <a:pt x="19" y="52"/>
                      <a:pt x="19" y="22"/>
                    </a:cubicBezTo>
                    <a:close/>
                  </a:path>
                </a:pathLst>
              </a:custGeom>
              <a:solidFill>
                <a:srgbClr val="FFCC66"/>
              </a:solidFill>
              <a:ln w="9525">
                <a:solidFill>
                  <a:srgbClr val="000066"/>
                </a:solidFill>
                <a:round/>
                <a:headEnd/>
                <a:tailEnd/>
              </a:ln>
            </p:spPr>
            <p:txBody>
              <a:bodyPr/>
              <a:lstStyle/>
              <a:p>
                <a:endParaRPr lang="zh-CN" altLang="en-US"/>
              </a:p>
            </p:txBody>
          </p:sp>
          <p:sp>
            <p:nvSpPr>
              <p:cNvPr id="75819" name="Freeform 43"/>
              <p:cNvSpPr>
                <a:spLocks/>
              </p:cNvSpPr>
              <p:nvPr/>
            </p:nvSpPr>
            <p:spPr bwMode="auto">
              <a:xfrm>
                <a:off x="4550" y="2014"/>
                <a:ext cx="219" cy="161"/>
              </a:xfrm>
              <a:custGeom>
                <a:avLst/>
                <a:gdLst>
                  <a:gd name="T0" fmla="*/ 110 w 127"/>
                  <a:gd name="T1" fmla="*/ 33 h 124"/>
                  <a:gd name="T2" fmla="*/ 495 w 127"/>
                  <a:gd name="T3" fmla="*/ 18 h 124"/>
                  <a:gd name="T4" fmla="*/ 706 w 127"/>
                  <a:gd name="T5" fmla="*/ 143 h 124"/>
                  <a:gd name="T6" fmla="*/ 307 w 127"/>
                  <a:gd name="T7" fmla="*/ 159 h 124"/>
                  <a:gd name="T8" fmla="*/ 45 w 127"/>
                  <a:gd name="T9" fmla="*/ 112 h 124"/>
                  <a:gd name="T10" fmla="*/ 110 w 127"/>
                  <a:gd name="T11" fmla="*/ 33 h 124"/>
                  <a:gd name="T12" fmla="*/ 0 60000 65536"/>
                  <a:gd name="T13" fmla="*/ 0 60000 65536"/>
                  <a:gd name="T14" fmla="*/ 0 60000 65536"/>
                  <a:gd name="T15" fmla="*/ 0 60000 65536"/>
                  <a:gd name="T16" fmla="*/ 0 60000 65536"/>
                  <a:gd name="T17" fmla="*/ 0 60000 65536"/>
                  <a:gd name="T18" fmla="*/ 0 w 127"/>
                  <a:gd name="T19" fmla="*/ 0 h 124"/>
                  <a:gd name="T20" fmla="*/ 127 w 127"/>
                  <a:gd name="T21" fmla="*/ 124 h 124"/>
                  <a:gd name="connsiteX0" fmla="*/ 1021 w 9183"/>
                  <a:gd name="connsiteY0" fmla="*/ 1212 h 8739"/>
                  <a:gd name="connsiteX1" fmla="*/ 6297 w 9183"/>
                  <a:gd name="connsiteY1" fmla="*/ 406 h 8739"/>
                  <a:gd name="connsiteX2" fmla="*/ 9131 w 9183"/>
                  <a:gd name="connsiteY2" fmla="*/ 7099 h 8739"/>
                  <a:gd name="connsiteX3" fmla="*/ 3564 w 9183"/>
                  <a:gd name="connsiteY3" fmla="*/ 8421 h 8739"/>
                  <a:gd name="connsiteX4" fmla="*/ 155 w 9183"/>
                  <a:gd name="connsiteY4" fmla="*/ 5486 h 8739"/>
                  <a:gd name="connsiteX5" fmla="*/ 1021 w 9183"/>
                  <a:gd name="connsiteY5" fmla="*/ 1212 h 8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83" h="8739">
                    <a:moveTo>
                      <a:pt x="1021" y="1212"/>
                    </a:moveTo>
                    <a:cubicBezTo>
                      <a:pt x="1808" y="406"/>
                      <a:pt x="4958" y="-562"/>
                      <a:pt x="6297" y="406"/>
                    </a:cubicBezTo>
                    <a:cubicBezTo>
                      <a:pt x="7635" y="1373"/>
                      <a:pt x="9525" y="5809"/>
                      <a:pt x="9131" y="7099"/>
                    </a:cubicBezTo>
                    <a:cubicBezTo>
                      <a:pt x="8344" y="9438"/>
                      <a:pt x="5454" y="8663"/>
                      <a:pt x="3564" y="8421"/>
                    </a:cubicBezTo>
                    <a:cubicBezTo>
                      <a:pt x="2226" y="7534"/>
                      <a:pt x="1415" y="6454"/>
                      <a:pt x="155" y="5486"/>
                    </a:cubicBezTo>
                    <a:cubicBezTo>
                      <a:pt x="-475" y="3228"/>
                      <a:pt x="1021" y="3632"/>
                      <a:pt x="1021" y="1212"/>
                    </a:cubicBezTo>
                    <a:close/>
                  </a:path>
                </a:pathLst>
              </a:custGeom>
              <a:solidFill>
                <a:srgbClr val="FFCC66"/>
              </a:solidFill>
              <a:ln w="9525">
                <a:solidFill>
                  <a:srgbClr val="000066"/>
                </a:solidFill>
                <a:round/>
                <a:headEnd/>
                <a:tailEnd/>
              </a:ln>
            </p:spPr>
            <p:txBody>
              <a:bodyPr/>
              <a:lstStyle/>
              <a:p>
                <a:endParaRPr lang="zh-CN" altLang="en-US"/>
              </a:p>
            </p:txBody>
          </p:sp>
          <p:sp>
            <p:nvSpPr>
              <p:cNvPr id="75820" name="Rectangle 44"/>
              <p:cNvSpPr>
                <a:spLocks noChangeArrowheads="1"/>
              </p:cNvSpPr>
              <p:nvPr/>
            </p:nvSpPr>
            <p:spPr bwMode="auto">
              <a:xfrm>
                <a:off x="3779" y="988"/>
                <a:ext cx="1548" cy="1499"/>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 name="Freeform 39"/>
              <p:cNvSpPr>
                <a:spLocks/>
              </p:cNvSpPr>
              <p:nvPr/>
            </p:nvSpPr>
            <p:spPr bwMode="auto">
              <a:xfrm rot="18901079">
                <a:off x="4122" y="2083"/>
                <a:ext cx="142" cy="175"/>
              </a:xfrm>
              <a:custGeom>
                <a:avLst/>
                <a:gdLst>
                  <a:gd name="T0" fmla="*/ 74 w 94"/>
                  <a:gd name="T1" fmla="*/ 66 h 141"/>
                  <a:gd name="T2" fmla="*/ 407 w 94"/>
                  <a:gd name="T3" fmla="*/ 89 h 141"/>
                  <a:gd name="T4" fmla="*/ 585 w 94"/>
                  <a:gd name="T5" fmla="*/ 468 h 141"/>
                  <a:gd name="T6" fmla="*/ 206 w 94"/>
                  <a:gd name="T7" fmla="*/ 707 h 141"/>
                  <a:gd name="T8" fmla="*/ 118 w 94"/>
                  <a:gd name="T9" fmla="*/ 367 h 141"/>
                  <a:gd name="T10" fmla="*/ 74 w 94"/>
                  <a:gd name="T11" fmla="*/ 66 h 141"/>
                  <a:gd name="T12" fmla="*/ 0 60000 65536"/>
                  <a:gd name="T13" fmla="*/ 0 60000 65536"/>
                  <a:gd name="T14" fmla="*/ 0 60000 65536"/>
                  <a:gd name="T15" fmla="*/ 0 60000 65536"/>
                  <a:gd name="T16" fmla="*/ 0 60000 65536"/>
                  <a:gd name="T17" fmla="*/ 0 60000 65536"/>
                  <a:gd name="T18" fmla="*/ 0 w 94"/>
                  <a:gd name="T19" fmla="*/ 0 h 141"/>
                  <a:gd name="T20" fmla="*/ 94 w 94"/>
                  <a:gd name="T21" fmla="*/ 141 h 141"/>
                  <a:gd name="connsiteX0" fmla="*/ 607 w 8087"/>
                  <a:gd name="connsiteY0" fmla="*/ 1972 h 8258"/>
                  <a:gd name="connsiteX1" fmla="*/ 5002 w 8087"/>
                  <a:gd name="connsiteY1" fmla="*/ 228 h 8258"/>
                  <a:gd name="connsiteX2" fmla="*/ 8087 w 8087"/>
                  <a:gd name="connsiteY2" fmla="*/ 4980 h 8258"/>
                  <a:gd name="connsiteX3" fmla="*/ 1598 w 8087"/>
                  <a:gd name="connsiteY3" fmla="*/ 7958 h 8258"/>
                  <a:gd name="connsiteX4" fmla="*/ 108 w 8087"/>
                  <a:gd name="connsiteY4" fmla="*/ 3703 h 8258"/>
                  <a:gd name="connsiteX5" fmla="*/ 607 w 8087"/>
                  <a:gd name="connsiteY5" fmla="*/ 1972 h 8258"/>
                  <a:gd name="connsiteX0" fmla="*/ 751 w 10000"/>
                  <a:gd name="connsiteY0" fmla="*/ 688 h 8301"/>
                  <a:gd name="connsiteX1" fmla="*/ 5540 w 10000"/>
                  <a:gd name="connsiteY1" fmla="*/ 872 h 8301"/>
                  <a:gd name="connsiteX2" fmla="*/ 10000 w 10000"/>
                  <a:gd name="connsiteY2" fmla="*/ 4331 h 8301"/>
                  <a:gd name="connsiteX3" fmla="*/ 1976 w 10000"/>
                  <a:gd name="connsiteY3" fmla="*/ 7937 h 8301"/>
                  <a:gd name="connsiteX4" fmla="*/ 134 w 10000"/>
                  <a:gd name="connsiteY4" fmla="*/ 2784 h 8301"/>
                  <a:gd name="connsiteX5" fmla="*/ 751 w 10000"/>
                  <a:gd name="connsiteY5" fmla="*/ 688 h 8301"/>
                  <a:gd name="connsiteX0" fmla="*/ 751 w 10123"/>
                  <a:gd name="connsiteY0" fmla="*/ 828 h 10185"/>
                  <a:gd name="connsiteX1" fmla="*/ 5540 w 10123"/>
                  <a:gd name="connsiteY1" fmla="*/ 1049 h 10185"/>
                  <a:gd name="connsiteX2" fmla="*/ 10000 w 10123"/>
                  <a:gd name="connsiteY2" fmla="*/ 5216 h 10185"/>
                  <a:gd name="connsiteX3" fmla="*/ 8103 w 10123"/>
                  <a:gd name="connsiteY3" fmla="*/ 9430 h 10185"/>
                  <a:gd name="connsiteX4" fmla="*/ 1976 w 10123"/>
                  <a:gd name="connsiteY4" fmla="*/ 9560 h 10185"/>
                  <a:gd name="connsiteX5" fmla="*/ 134 w 10123"/>
                  <a:gd name="connsiteY5" fmla="*/ 3353 h 10185"/>
                  <a:gd name="connsiteX6" fmla="*/ 751 w 10123"/>
                  <a:gd name="connsiteY6" fmla="*/ 828 h 10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23" h="10185">
                    <a:moveTo>
                      <a:pt x="751" y="828"/>
                    </a:moveTo>
                    <a:cubicBezTo>
                      <a:pt x="3250" y="-414"/>
                      <a:pt x="3172" y="-191"/>
                      <a:pt x="5540" y="1049"/>
                    </a:cubicBezTo>
                    <a:cubicBezTo>
                      <a:pt x="6461" y="3429"/>
                      <a:pt x="9079" y="2731"/>
                      <a:pt x="10000" y="5216"/>
                    </a:cubicBezTo>
                    <a:cubicBezTo>
                      <a:pt x="10494" y="6668"/>
                      <a:pt x="9440" y="8706"/>
                      <a:pt x="8103" y="9430"/>
                    </a:cubicBezTo>
                    <a:cubicBezTo>
                      <a:pt x="6766" y="10154"/>
                      <a:pt x="3372" y="10628"/>
                      <a:pt x="1976" y="9560"/>
                    </a:cubicBezTo>
                    <a:cubicBezTo>
                      <a:pt x="-392" y="6561"/>
                      <a:pt x="1844" y="6561"/>
                      <a:pt x="134" y="3353"/>
                    </a:cubicBezTo>
                    <a:cubicBezTo>
                      <a:pt x="660" y="2319"/>
                      <a:pt x="-828" y="828"/>
                      <a:pt x="751" y="828"/>
                    </a:cubicBezTo>
                    <a:close/>
                  </a:path>
                </a:pathLst>
              </a:custGeom>
              <a:solidFill>
                <a:srgbClr val="FFCC66"/>
              </a:solidFill>
              <a:ln w="9525">
                <a:solidFill>
                  <a:srgbClr val="000066"/>
                </a:solidFill>
                <a:round/>
                <a:headEnd/>
                <a:tailEnd/>
              </a:ln>
            </p:spPr>
            <p:txBody>
              <a:bodyPr/>
              <a:lstStyle/>
              <a:p>
                <a:endParaRPr lang="zh-CN" altLang="en-US"/>
              </a:p>
            </p:txBody>
          </p:sp>
          <p:sp>
            <p:nvSpPr>
              <p:cNvPr id="47" name="Freeform 43"/>
              <p:cNvSpPr>
                <a:spLocks/>
              </p:cNvSpPr>
              <p:nvPr/>
            </p:nvSpPr>
            <p:spPr bwMode="auto">
              <a:xfrm rot="1763506">
                <a:off x="4344" y="2310"/>
                <a:ext cx="180" cy="157"/>
              </a:xfrm>
              <a:custGeom>
                <a:avLst/>
                <a:gdLst>
                  <a:gd name="T0" fmla="*/ 110 w 127"/>
                  <a:gd name="T1" fmla="*/ 33 h 124"/>
                  <a:gd name="T2" fmla="*/ 495 w 127"/>
                  <a:gd name="T3" fmla="*/ 18 h 124"/>
                  <a:gd name="T4" fmla="*/ 706 w 127"/>
                  <a:gd name="T5" fmla="*/ 143 h 124"/>
                  <a:gd name="T6" fmla="*/ 307 w 127"/>
                  <a:gd name="T7" fmla="*/ 159 h 124"/>
                  <a:gd name="T8" fmla="*/ 45 w 127"/>
                  <a:gd name="T9" fmla="*/ 112 h 124"/>
                  <a:gd name="T10" fmla="*/ 110 w 127"/>
                  <a:gd name="T11" fmla="*/ 33 h 124"/>
                  <a:gd name="T12" fmla="*/ 0 60000 65536"/>
                  <a:gd name="T13" fmla="*/ 0 60000 65536"/>
                  <a:gd name="T14" fmla="*/ 0 60000 65536"/>
                  <a:gd name="T15" fmla="*/ 0 60000 65536"/>
                  <a:gd name="T16" fmla="*/ 0 60000 65536"/>
                  <a:gd name="T17" fmla="*/ 0 60000 65536"/>
                  <a:gd name="T18" fmla="*/ 0 w 127"/>
                  <a:gd name="T19" fmla="*/ 0 h 124"/>
                  <a:gd name="T20" fmla="*/ 127 w 127"/>
                  <a:gd name="T21" fmla="*/ 124 h 124"/>
                  <a:gd name="connsiteX0" fmla="*/ 0 w 8162"/>
                  <a:gd name="connsiteY0" fmla="*/ 1212 h 8514"/>
                  <a:gd name="connsiteX1" fmla="*/ 5276 w 8162"/>
                  <a:gd name="connsiteY1" fmla="*/ 406 h 8514"/>
                  <a:gd name="connsiteX2" fmla="*/ 8110 w 8162"/>
                  <a:gd name="connsiteY2" fmla="*/ 7099 h 8514"/>
                  <a:gd name="connsiteX3" fmla="*/ 2677 w 8162"/>
                  <a:gd name="connsiteY3" fmla="*/ 7986 h 8514"/>
                  <a:gd name="connsiteX4" fmla="*/ 835 w 8162"/>
                  <a:gd name="connsiteY4" fmla="*/ 4714 h 8514"/>
                  <a:gd name="connsiteX5" fmla="*/ 0 w 8162"/>
                  <a:gd name="connsiteY5" fmla="*/ 1212 h 8514"/>
                  <a:gd name="connsiteX0" fmla="*/ 1043 w 9181"/>
                  <a:gd name="connsiteY0" fmla="*/ 1565 h 9955"/>
                  <a:gd name="connsiteX1" fmla="*/ 5651 w 9181"/>
                  <a:gd name="connsiteY1" fmla="*/ 433 h 9955"/>
                  <a:gd name="connsiteX2" fmla="*/ 9123 w 9181"/>
                  <a:gd name="connsiteY2" fmla="*/ 8294 h 9955"/>
                  <a:gd name="connsiteX3" fmla="*/ 2467 w 9181"/>
                  <a:gd name="connsiteY3" fmla="*/ 9336 h 9955"/>
                  <a:gd name="connsiteX4" fmla="*/ 210 w 9181"/>
                  <a:gd name="connsiteY4" fmla="*/ 5493 h 9955"/>
                  <a:gd name="connsiteX5" fmla="*/ 1043 w 9181"/>
                  <a:gd name="connsiteY5" fmla="*/ 1565 h 9955"/>
                  <a:gd name="connsiteX0" fmla="*/ 1136 w 10001"/>
                  <a:gd name="connsiteY0" fmla="*/ 1572 h 10000"/>
                  <a:gd name="connsiteX1" fmla="*/ 6155 w 10001"/>
                  <a:gd name="connsiteY1" fmla="*/ 435 h 10000"/>
                  <a:gd name="connsiteX2" fmla="*/ 9937 w 10001"/>
                  <a:gd name="connsiteY2" fmla="*/ 8331 h 10000"/>
                  <a:gd name="connsiteX3" fmla="*/ 2687 w 10001"/>
                  <a:gd name="connsiteY3" fmla="*/ 9378 h 10000"/>
                  <a:gd name="connsiteX4" fmla="*/ 229 w 10001"/>
                  <a:gd name="connsiteY4" fmla="*/ 5518 h 10000"/>
                  <a:gd name="connsiteX5" fmla="*/ 1136 w 10001"/>
                  <a:gd name="connsiteY5" fmla="*/ 1572 h 10000"/>
                  <a:gd name="connsiteX0" fmla="*/ 907 w 9772"/>
                  <a:gd name="connsiteY0" fmla="*/ 1572 h 10000"/>
                  <a:gd name="connsiteX1" fmla="*/ 5926 w 9772"/>
                  <a:gd name="connsiteY1" fmla="*/ 435 h 10000"/>
                  <a:gd name="connsiteX2" fmla="*/ 9708 w 9772"/>
                  <a:gd name="connsiteY2" fmla="*/ 8331 h 10000"/>
                  <a:gd name="connsiteX3" fmla="*/ 2458 w 9772"/>
                  <a:gd name="connsiteY3" fmla="*/ 9378 h 10000"/>
                  <a:gd name="connsiteX4" fmla="*/ 0 w 9772"/>
                  <a:gd name="connsiteY4" fmla="*/ 5518 h 10000"/>
                  <a:gd name="connsiteX5" fmla="*/ 907 w 9772"/>
                  <a:gd name="connsiteY5" fmla="*/ 157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72" h="10000">
                    <a:moveTo>
                      <a:pt x="907" y="1572"/>
                    </a:moveTo>
                    <a:cubicBezTo>
                      <a:pt x="1957" y="621"/>
                      <a:pt x="4459" y="-691"/>
                      <a:pt x="5926" y="435"/>
                    </a:cubicBezTo>
                    <a:cubicBezTo>
                      <a:pt x="7393" y="1561"/>
                      <a:pt x="10234" y="6810"/>
                      <a:pt x="9708" y="8331"/>
                    </a:cubicBezTo>
                    <a:cubicBezTo>
                      <a:pt x="8658" y="11091"/>
                      <a:pt x="4980" y="9663"/>
                      <a:pt x="2458" y="9378"/>
                    </a:cubicBezTo>
                    <a:lnTo>
                      <a:pt x="0" y="5518"/>
                    </a:lnTo>
                    <a:lnTo>
                      <a:pt x="907" y="1572"/>
                    </a:lnTo>
                    <a:close/>
                  </a:path>
                </a:pathLst>
              </a:custGeom>
              <a:solidFill>
                <a:srgbClr val="FFCC66"/>
              </a:solidFill>
              <a:ln w="9525">
                <a:solidFill>
                  <a:srgbClr val="000066"/>
                </a:solidFill>
                <a:round/>
                <a:headEnd/>
                <a:tailEnd/>
              </a:ln>
            </p:spPr>
            <p:txBody>
              <a:bodyPr/>
              <a:lstStyle/>
              <a:p>
                <a:endParaRPr lang="zh-CN" altLang="en-US"/>
              </a:p>
            </p:txBody>
          </p:sp>
          <p:sp>
            <p:nvSpPr>
              <p:cNvPr id="48" name="Freeform 9"/>
              <p:cNvSpPr>
                <a:spLocks/>
              </p:cNvSpPr>
              <p:nvPr/>
            </p:nvSpPr>
            <p:spPr bwMode="auto">
              <a:xfrm>
                <a:off x="5143" y="1876"/>
                <a:ext cx="152" cy="137"/>
              </a:xfrm>
              <a:custGeom>
                <a:avLst/>
                <a:gdLst>
                  <a:gd name="T0" fmla="*/ 118 w 127"/>
                  <a:gd name="T1" fmla="*/ 122 h 124"/>
                  <a:gd name="T2" fmla="*/ 536 w 127"/>
                  <a:gd name="T3" fmla="*/ 66 h 124"/>
                  <a:gd name="T4" fmla="*/ 765 w 127"/>
                  <a:gd name="T5" fmla="*/ 532 h 124"/>
                  <a:gd name="T6" fmla="*/ 333 w 127"/>
                  <a:gd name="T7" fmla="*/ 593 h 124"/>
                  <a:gd name="T8" fmla="*/ 52 w 127"/>
                  <a:gd name="T9" fmla="*/ 419 h 124"/>
                  <a:gd name="T10" fmla="*/ 118 w 127"/>
                  <a:gd name="T11" fmla="*/ 122 h 124"/>
                  <a:gd name="T12" fmla="*/ 0 60000 65536"/>
                  <a:gd name="T13" fmla="*/ 0 60000 65536"/>
                  <a:gd name="T14" fmla="*/ 0 60000 65536"/>
                  <a:gd name="T15" fmla="*/ 0 60000 65536"/>
                  <a:gd name="T16" fmla="*/ 0 60000 65536"/>
                  <a:gd name="T17" fmla="*/ 0 60000 65536"/>
                  <a:gd name="T18" fmla="*/ 0 w 127"/>
                  <a:gd name="T19" fmla="*/ 0 h 124"/>
                  <a:gd name="T20" fmla="*/ 127 w 127"/>
                  <a:gd name="T21" fmla="*/ 124 h 124"/>
                  <a:gd name="connsiteX0" fmla="*/ 866 w 9028"/>
                  <a:gd name="connsiteY0" fmla="*/ 1212 h 8514"/>
                  <a:gd name="connsiteX1" fmla="*/ 6142 w 9028"/>
                  <a:gd name="connsiteY1" fmla="*/ 406 h 8514"/>
                  <a:gd name="connsiteX2" fmla="*/ 8976 w 9028"/>
                  <a:gd name="connsiteY2" fmla="*/ 7099 h 8514"/>
                  <a:gd name="connsiteX3" fmla="*/ 3543 w 9028"/>
                  <a:gd name="connsiteY3" fmla="*/ 7986 h 8514"/>
                  <a:gd name="connsiteX4" fmla="*/ 0 w 9028"/>
                  <a:gd name="connsiteY4" fmla="*/ 5486 h 8514"/>
                  <a:gd name="connsiteX5" fmla="*/ 866 w 9028"/>
                  <a:gd name="connsiteY5" fmla="*/ 1212 h 8514"/>
                  <a:gd name="connsiteX0" fmla="*/ 1054 w 10000"/>
                  <a:gd name="connsiteY0" fmla="*/ 1728 h 9903"/>
                  <a:gd name="connsiteX1" fmla="*/ 6803 w 10000"/>
                  <a:gd name="connsiteY1" fmla="*/ 381 h 9903"/>
                  <a:gd name="connsiteX2" fmla="*/ 9942 w 10000"/>
                  <a:gd name="connsiteY2" fmla="*/ 8242 h 9903"/>
                  <a:gd name="connsiteX3" fmla="*/ 3924 w 10000"/>
                  <a:gd name="connsiteY3" fmla="*/ 9284 h 9903"/>
                  <a:gd name="connsiteX4" fmla="*/ 0 w 10000"/>
                  <a:gd name="connsiteY4" fmla="*/ 6348 h 9903"/>
                  <a:gd name="connsiteX5" fmla="*/ 1054 w 10000"/>
                  <a:gd name="connsiteY5" fmla="*/ 1728 h 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903">
                    <a:moveTo>
                      <a:pt x="1054" y="1728"/>
                    </a:moveTo>
                    <a:cubicBezTo>
                      <a:pt x="1926" y="781"/>
                      <a:pt x="5322" y="-705"/>
                      <a:pt x="6803" y="381"/>
                    </a:cubicBezTo>
                    <a:cubicBezTo>
                      <a:pt x="8284" y="1467"/>
                      <a:pt x="10379" y="6727"/>
                      <a:pt x="9942" y="8242"/>
                    </a:cubicBezTo>
                    <a:cubicBezTo>
                      <a:pt x="9071" y="10989"/>
                      <a:pt x="6018" y="9568"/>
                      <a:pt x="3924" y="9284"/>
                    </a:cubicBezTo>
                    <a:cubicBezTo>
                      <a:pt x="2442" y="8242"/>
                      <a:pt x="1396" y="7484"/>
                      <a:pt x="0" y="6348"/>
                    </a:cubicBezTo>
                    <a:lnTo>
                      <a:pt x="1054" y="1728"/>
                    </a:lnTo>
                    <a:close/>
                  </a:path>
                </a:pathLst>
              </a:custGeom>
              <a:solidFill>
                <a:srgbClr val="FFCC66"/>
              </a:solidFill>
              <a:ln w="9525">
                <a:solidFill>
                  <a:srgbClr val="000066"/>
                </a:solidFill>
                <a:round/>
                <a:headEnd/>
                <a:tailEnd/>
              </a:ln>
            </p:spPr>
            <p:txBody>
              <a:bodyPr/>
              <a:lstStyle/>
              <a:p>
                <a:endParaRPr lang="zh-CN" altLang="en-US"/>
              </a:p>
            </p:txBody>
          </p:sp>
          <p:sp>
            <p:nvSpPr>
              <p:cNvPr id="49" name="Freeform 25"/>
              <p:cNvSpPr>
                <a:spLocks/>
              </p:cNvSpPr>
              <p:nvPr/>
            </p:nvSpPr>
            <p:spPr bwMode="auto">
              <a:xfrm>
                <a:off x="4550" y="988"/>
                <a:ext cx="224" cy="162"/>
              </a:xfrm>
              <a:custGeom>
                <a:avLst/>
                <a:gdLst>
                  <a:gd name="T0" fmla="*/ 750 w 130"/>
                  <a:gd name="T1" fmla="*/ 577 h 127"/>
                  <a:gd name="T2" fmla="*/ 636 w 130"/>
                  <a:gd name="T3" fmla="*/ 703 h 127"/>
                  <a:gd name="T4" fmla="*/ 199 w 130"/>
                  <a:gd name="T5" fmla="*/ 626 h 127"/>
                  <a:gd name="T6" fmla="*/ 51 w 130"/>
                  <a:gd name="T7" fmla="*/ 165 h 127"/>
                  <a:gd name="T8" fmla="*/ 480 w 130"/>
                  <a:gd name="T9" fmla="*/ 101 h 127"/>
                  <a:gd name="T10" fmla="*/ 757 w 130"/>
                  <a:gd name="T11" fmla="*/ 276 h 127"/>
                  <a:gd name="T12" fmla="*/ 750 w 130"/>
                  <a:gd name="T13" fmla="*/ 577 h 127"/>
                  <a:gd name="T14" fmla="*/ 0 60000 65536"/>
                  <a:gd name="T15" fmla="*/ 0 60000 65536"/>
                  <a:gd name="T16" fmla="*/ 0 60000 65536"/>
                  <a:gd name="T17" fmla="*/ 0 60000 65536"/>
                  <a:gd name="T18" fmla="*/ 0 60000 65536"/>
                  <a:gd name="T19" fmla="*/ 0 60000 65536"/>
                  <a:gd name="T20" fmla="*/ 0 60000 65536"/>
                  <a:gd name="T21" fmla="*/ 0 w 130"/>
                  <a:gd name="T22" fmla="*/ 0 h 127"/>
                  <a:gd name="T23" fmla="*/ 130 w 130"/>
                  <a:gd name="T24" fmla="*/ 127 h 127"/>
                  <a:gd name="connsiteX0" fmla="*/ 8857 w 9188"/>
                  <a:gd name="connsiteY0" fmla="*/ 7130 h 8263"/>
                  <a:gd name="connsiteX1" fmla="*/ 2011 w 9188"/>
                  <a:gd name="connsiteY1" fmla="*/ 7839 h 8263"/>
                  <a:gd name="connsiteX2" fmla="*/ 164 w 9188"/>
                  <a:gd name="connsiteY2" fmla="*/ 1382 h 8263"/>
                  <a:gd name="connsiteX3" fmla="*/ 5472 w 9188"/>
                  <a:gd name="connsiteY3" fmla="*/ 516 h 8263"/>
                  <a:gd name="connsiteX4" fmla="*/ 8934 w 9188"/>
                  <a:gd name="connsiteY4" fmla="*/ 2957 h 8263"/>
                  <a:gd name="connsiteX5" fmla="*/ 8857 w 9188"/>
                  <a:gd name="connsiteY5" fmla="*/ 7130 h 8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88" h="8263">
                    <a:moveTo>
                      <a:pt x="8857" y="7130"/>
                    </a:moveTo>
                    <a:cubicBezTo>
                      <a:pt x="7703" y="7944"/>
                      <a:pt x="3460" y="8797"/>
                      <a:pt x="2011" y="7839"/>
                    </a:cubicBezTo>
                    <a:cubicBezTo>
                      <a:pt x="780" y="6579"/>
                      <a:pt x="-451" y="2642"/>
                      <a:pt x="164" y="1382"/>
                    </a:cubicBezTo>
                    <a:cubicBezTo>
                      <a:pt x="934" y="-901"/>
                      <a:pt x="3626" y="280"/>
                      <a:pt x="5472" y="516"/>
                    </a:cubicBezTo>
                    <a:cubicBezTo>
                      <a:pt x="6780" y="1382"/>
                      <a:pt x="7703" y="2012"/>
                      <a:pt x="8934" y="2957"/>
                    </a:cubicBezTo>
                    <a:cubicBezTo>
                      <a:pt x="9549" y="5162"/>
                      <a:pt x="8857" y="4768"/>
                      <a:pt x="8857" y="7130"/>
                    </a:cubicBezTo>
                    <a:close/>
                  </a:path>
                </a:pathLst>
              </a:custGeom>
              <a:solidFill>
                <a:srgbClr val="FFCC66"/>
              </a:solidFill>
              <a:ln w="9525">
                <a:solidFill>
                  <a:srgbClr val="000066"/>
                </a:solidFill>
                <a:round/>
                <a:headEnd/>
                <a:tailEnd/>
              </a:ln>
            </p:spPr>
            <p:txBody>
              <a:bodyPr/>
              <a:lstStyle/>
              <a:p>
                <a:endParaRPr lang="zh-CN" altLang="en-US"/>
              </a:p>
            </p:txBody>
          </p:sp>
        </p:grpSp>
      </p:grpSp>
      <p:sp>
        <p:nvSpPr>
          <p:cNvPr id="45"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1335075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16196"/>
                                        </p:tgtEl>
                                        <p:attrNameLst>
                                          <p:attrName>style.visibility</p:attrName>
                                        </p:attrNameLst>
                                      </p:cBhvr>
                                      <p:to>
                                        <p:strVal val="visible"/>
                                      </p:to>
                                    </p:set>
                                    <p:animEffect transition="in" filter="wipe(up)">
                                      <p:cBhvr>
                                        <p:cTn id="7" dur="500"/>
                                        <p:tgtEl>
                                          <p:spTgt spid="141619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619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2781300" y="5780088"/>
            <a:ext cx="5537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buFont typeface="Wingdings" pitchFamily="2" charset="2"/>
              <a:buNone/>
            </a:pPr>
            <a:r>
              <a:rPr kumimoji="1" lang="zh-CN" altLang="en-US" sz="4000" b="1">
                <a:solidFill>
                  <a:srgbClr val="000066"/>
                </a:solidFill>
                <a:latin typeface="黑体" pitchFamily="2" charset="-122"/>
                <a:ea typeface="黑体" pitchFamily="2" charset="-122"/>
              </a:rPr>
              <a:t>细土颗粒间的作用力   </a:t>
            </a:r>
          </a:p>
        </p:txBody>
      </p:sp>
      <p:sp>
        <p:nvSpPr>
          <p:cNvPr id="1415171" name="Rectangle 3"/>
          <p:cNvSpPr>
            <a:spLocks noChangeArrowheads="1"/>
          </p:cNvSpPr>
          <p:nvPr/>
        </p:nvSpPr>
        <p:spPr bwMode="auto">
          <a:xfrm>
            <a:off x="1363374" y="1822738"/>
            <a:ext cx="7292253" cy="347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cap="rnd">
                <a:solidFill>
                  <a:srgbClr val="000000"/>
                </a:solidFill>
                <a:prstDash val="sysDot"/>
                <a:miter lim="800000"/>
                <a:headEnd/>
                <a:tailEnd/>
              </a14:hiddenLine>
            </a:ext>
          </a:extLst>
        </p:spPr>
        <p:txBody>
          <a:bodyPr wrap="square">
            <a:spAutoFit/>
          </a:bodyPr>
          <a:lstStyle/>
          <a:p>
            <a:pPr marL="266700" indent="-266700">
              <a:lnSpc>
                <a:spcPct val="120000"/>
              </a:lnSpc>
              <a:spcBef>
                <a:spcPct val="25000"/>
              </a:spcBef>
              <a:spcAft>
                <a:spcPct val="0"/>
              </a:spcAft>
              <a:buSzPct val="140000"/>
              <a:buFont typeface="Arial" pitchFamily="34" charset="0"/>
              <a:buChar char="•"/>
            </a:pPr>
            <a:r>
              <a:rPr kumimoji="1" lang="zh-CN" altLang="en-US" sz="2400" b="1" dirty="0">
                <a:solidFill>
                  <a:srgbClr val="C00000"/>
                </a:solidFill>
                <a:ea typeface="幼圆" pitchFamily="49" charset="-122"/>
              </a:rPr>
              <a:t>范德华力：</a:t>
            </a:r>
            <a:r>
              <a:rPr kumimoji="1" lang="zh-CN" altLang="en-US" sz="2400" b="1" dirty="0">
                <a:solidFill>
                  <a:srgbClr val="000066"/>
                </a:solidFill>
                <a:ea typeface="幼圆" pitchFamily="49" charset="-122"/>
              </a:rPr>
              <a:t>接触点处的分子引力，作用范围为几个分子的距离，是</a:t>
            </a:r>
            <a:r>
              <a:rPr kumimoji="1" lang="zh-CN" altLang="en-US" sz="2400" b="1" dirty="0" smtClean="0">
                <a:solidFill>
                  <a:srgbClr val="000066"/>
                </a:solidFill>
                <a:ea typeface="幼圆" pitchFamily="49" charset="-122"/>
              </a:rPr>
              <a:t>细粒土黏结</a:t>
            </a:r>
            <a:r>
              <a:rPr kumimoji="1" lang="zh-CN" altLang="en-US" sz="2400" b="1" dirty="0">
                <a:solidFill>
                  <a:srgbClr val="000066"/>
                </a:solidFill>
                <a:ea typeface="幼圆" pitchFamily="49" charset="-122"/>
              </a:rPr>
              <a:t>在一起的主因</a:t>
            </a:r>
            <a:endParaRPr kumimoji="1" lang="en-US" altLang="zh-CN" sz="2400" b="1" dirty="0">
              <a:solidFill>
                <a:srgbClr val="000066"/>
              </a:solidFill>
              <a:ea typeface="幼圆" pitchFamily="49" charset="-122"/>
            </a:endParaRPr>
          </a:p>
          <a:p>
            <a:pPr marL="266700" indent="-266700">
              <a:lnSpc>
                <a:spcPct val="120000"/>
              </a:lnSpc>
              <a:spcBef>
                <a:spcPct val="25000"/>
              </a:spcBef>
              <a:spcAft>
                <a:spcPct val="0"/>
              </a:spcAft>
              <a:buSzPct val="140000"/>
              <a:buFont typeface="Arial" pitchFamily="34" charset="0"/>
              <a:buChar char="•"/>
            </a:pPr>
            <a:r>
              <a:rPr kumimoji="1" lang="zh-CN" altLang="en-US" sz="2400" b="1" dirty="0">
                <a:solidFill>
                  <a:srgbClr val="C00000"/>
                </a:solidFill>
                <a:ea typeface="幼圆" pitchFamily="49" charset="-122"/>
              </a:rPr>
              <a:t>库仑力：</a:t>
            </a:r>
            <a:r>
              <a:rPr kumimoji="1" lang="zh-CN" altLang="en-US" sz="2400" b="1" dirty="0">
                <a:solidFill>
                  <a:srgbClr val="000066"/>
                </a:solidFill>
                <a:ea typeface="幼圆" pitchFamily="49" charset="-122"/>
              </a:rPr>
              <a:t>颗粒表面的静电引力或斥力，由于结合水和阳离子的存在</a:t>
            </a:r>
            <a:r>
              <a:rPr kumimoji="1" lang="zh-CN" altLang="en-US" sz="2400" b="1" dirty="0" smtClean="0">
                <a:solidFill>
                  <a:srgbClr val="000066"/>
                </a:solidFill>
                <a:ea typeface="幼圆" pitchFamily="49" charset="-122"/>
              </a:rPr>
              <a:t>，颗粒</a:t>
            </a:r>
            <a:r>
              <a:rPr kumimoji="1" lang="zh-CN" altLang="en-US" sz="2400" b="1" dirty="0">
                <a:solidFill>
                  <a:srgbClr val="000066"/>
                </a:solidFill>
                <a:ea typeface="幼圆" pitchFamily="49" charset="-122"/>
              </a:rPr>
              <a:t>间的静电力呈复杂的关系</a:t>
            </a:r>
          </a:p>
          <a:p>
            <a:pPr marL="266700" indent="-266700">
              <a:lnSpc>
                <a:spcPct val="120000"/>
              </a:lnSpc>
              <a:spcBef>
                <a:spcPct val="25000"/>
              </a:spcBef>
              <a:spcAft>
                <a:spcPct val="0"/>
              </a:spcAft>
              <a:buSzPct val="140000"/>
              <a:buFont typeface="Arial" pitchFamily="34" charset="0"/>
              <a:buChar char="•"/>
            </a:pPr>
            <a:r>
              <a:rPr kumimoji="1" lang="zh-CN" altLang="en-US" sz="2400" b="1" dirty="0">
                <a:solidFill>
                  <a:srgbClr val="C00000"/>
                </a:solidFill>
                <a:ea typeface="幼圆" pitchFamily="49" charset="-122"/>
              </a:rPr>
              <a:t>胶结力：</a:t>
            </a:r>
            <a:r>
              <a:rPr kumimoji="1" lang="zh-CN" altLang="en-US" sz="2400" b="1" dirty="0">
                <a:solidFill>
                  <a:srgbClr val="000066"/>
                </a:solidFill>
                <a:ea typeface="幼圆" pitchFamily="49" charset="-122"/>
              </a:rPr>
              <a:t>土粒间通过胶体连结在一起，作用力是化合键，具有较高的强度</a:t>
            </a:r>
          </a:p>
          <a:p>
            <a:pPr marL="266700" indent="-266700">
              <a:lnSpc>
                <a:spcPct val="120000"/>
              </a:lnSpc>
              <a:spcBef>
                <a:spcPct val="25000"/>
              </a:spcBef>
              <a:spcAft>
                <a:spcPct val="0"/>
              </a:spcAft>
              <a:buSzPct val="140000"/>
              <a:buFont typeface="Arial" pitchFamily="34" charset="0"/>
              <a:buChar char="•"/>
            </a:pPr>
            <a:r>
              <a:rPr kumimoji="1" lang="zh-CN" altLang="en-US" sz="2400" b="1" dirty="0">
                <a:solidFill>
                  <a:srgbClr val="C00000"/>
                </a:solidFill>
                <a:ea typeface="幼圆" pitchFamily="49" charset="-122"/>
              </a:rPr>
              <a:t>毛细力：</a:t>
            </a:r>
            <a:r>
              <a:rPr kumimoji="1" lang="zh-CN" altLang="en-US" sz="2400" b="1" dirty="0">
                <a:solidFill>
                  <a:srgbClr val="000066"/>
                </a:solidFill>
                <a:ea typeface="幼圆" pitchFamily="49" charset="-122"/>
              </a:rPr>
              <a:t>土中毛细作用形成的力   </a:t>
            </a:r>
            <a:endParaRPr kumimoji="1" lang="zh-CN" altLang="en-US" sz="2400" b="1" dirty="0">
              <a:solidFill>
                <a:srgbClr val="000066"/>
              </a:solidFill>
              <a:latin typeface="幼圆" pitchFamily="49" charset="-122"/>
              <a:ea typeface="幼圆" pitchFamily="49" charset="-122"/>
            </a:endParaRPr>
          </a:p>
        </p:txBody>
      </p:sp>
      <p:sp>
        <p:nvSpPr>
          <p:cNvPr id="1415172" name="Text Box 4"/>
          <p:cNvSpPr txBox="1">
            <a:spLocks noChangeArrowheads="1"/>
          </p:cNvSpPr>
          <p:nvPr/>
        </p:nvSpPr>
        <p:spPr bwMode="auto">
          <a:xfrm>
            <a:off x="1153391" y="685800"/>
            <a:ext cx="7616536"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lang="zh-CN" altLang="en-US" sz="2400" b="1" dirty="0">
                <a:solidFill>
                  <a:srgbClr val="000066"/>
                </a:solidFill>
                <a:ea typeface="幼圆" pitchFamily="49" charset="-122"/>
              </a:rPr>
              <a:t>土中细颗粒，比表面积大，重量轻，重力不起重要的作用，其他粒间力起主导作用：</a:t>
            </a:r>
            <a:endParaRPr lang="en-US" altLang="zh-CN" sz="2400" b="1" dirty="0">
              <a:solidFill>
                <a:srgbClr val="000066"/>
              </a:solidFill>
              <a:ea typeface="幼圆" pitchFamily="49" charset="-122"/>
            </a:endParaRPr>
          </a:p>
        </p:txBody>
      </p:sp>
      <p:sp>
        <p:nvSpPr>
          <p:cNvPr id="6"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5914007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15172"/>
                                        </p:tgtEl>
                                        <p:attrNameLst>
                                          <p:attrName>style.visibility</p:attrName>
                                        </p:attrNameLst>
                                      </p:cBhvr>
                                      <p:to>
                                        <p:strVal val="visible"/>
                                      </p:to>
                                    </p:set>
                                    <p:anim calcmode="lin" valueType="num">
                                      <p:cBhvr additive="base">
                                        <p:cTn id="7" dur="1000" fill="hold"/>
                                        <p:tgtEl>
                                          <p:spTgt spid="1415172"/>
                                        </p:tgtEl>
                                        <p:attrNameLst>
                                          <p:attrName>ppt_x</p:attrName>
                                        </p:attrNameLst>
                                      </p:cBhvr>
                                      <p:tavLst>
                                        <p:tav tm="0">
                                          <p:val>
                                            <p:strVal val="0-#ppt_w/2"/>
                                          </p:val>
                                        </p:tav>
                                        <p:tav tm="100000">
                                          <p:val>
                                            <p:strVal val="#ppt_x"/>
                                          </p:val>
                                        </p:tav>
                                      </p:tavLst>
                                    </p:anim>
                                    <p:anim calcmode="lin" valueType="num">
                                      <p:cBhvr additive="base">
                                        <p:cTn id="8" dur="1000" fill="hold"/>
                                        <p:tgtEl>
                                          <p:spTgt spid="1415172"/>
                                        </p:tgtEl>
                                        <p:attrNameLst>
                                          <p:attrName>ppt_y</p:attrName>
                                        </p:attrNameLst>
                                      </p:cBhvr>
                                      <p:tavLst>
                                        <p:tav tm="0">
                                          <p:val>
                                            <p:strVal val="#ppt_y"/>
                                          </p:val>
                                        </p:tav>
                                        <p:tav tm="100000">
                                          <p:val>
                                            <p:strVal val="#ppt_y"/>
                                          </p:val>
                                        </p:tav>
                                      </p:tavLst>
                                    </p:anim>
                                  </p:childTnLst>
                                </p:cTn>
                              </p:par>
                            </p:childTnLst>
                          </p:cTn>
                        </p:par>
                        <p:par>
                          <p:cTn id="9" fill="hold" nodeType="withGroup">
                            <p:stCondLst>
                              <p:cond delay="1000"/>
                            </p:stCondLst>
                            <p:childTnLst>
                              <p:par>
                                <p:cTn id="10" presetID="22" presetClass="entr" presetSubtype="8" fill="hold" grpId="0" nodeType="afterEffect">
                                  <p:stCondLst>
                                    <p:cond delay="0"/>
                                  </p:stCondLst>
                                  <p:childTnLst>
                                    <p:set>
                                      <p:cBhvr>
                                        <p:cTn id="11" dur="1" fill="hold">
                                          <p:stCondLst>
                                            <p:cond delay="0"/>
                                          </p:stCondLst>
                                        </p:cTn>
                                        <p:tgtEl>
                                          <p:spTgt spid="1415171">
                                            <p:txEl>
                                              <p:pRg st="0" end="0"/>
                                            </p:txEl>
                                          </p:spTgt>
                                        </p:tgtEl>
                                        <p:attrNameLst>
                                          <p:attrName>style.visibility</p:attrName>
                                        </p:attrNameLst>
                                      </p:cBhvr>
                                      <p:to>
                                        <p:strVal val="visible"/>
                                      </p:to>
                                    </p:set>
                                    <p:animEffect transition="in" filter="wipe(left)">
                                      <p:cBhvr>
                                        <p:cTn id="12" dur="1000"/>
                                        <p:tgtEl>
                                          <p:spTgt spid="1415171">
                                            <p:txEl>
                                              <p:pRg st="0" end="0"/>
                                            </p:txEl>
                                          </p:spTgt>
                                        </p:tgtEl>
                                      </p:cBhvr>
                                    </p:animEffect>
                                  </p:childTnLst>
                                </p:cTn>
                              </p:par>
                            </p:childTnLst>
                          </p:cTn>
                        </p:par>
                        <p:par>
                          <p:cTn id="13" fill="hold" nodeType="withGroup">
                            <p:stCondLst>
                              <p:cond delay="2000"/>
                            </p:stCondLst>
                            <p:childTnLst>
                              <p:par>
                                <p:cTn id="14" presetID="22" presetClass="entr" presetSubtype="8" fill="hold" grpId="0" nodeType="afterEffect">
                                  <p:stCondLst>
                                    <p:cond delay="0"/>
                                  </p:stCondLst>
                                  <p:childTnLst>
                                    <p:set>
                                      <p:cBhvr>
                                        <p:cTn id="15" dur="1" fill="hold">
                                          <p:stCondLst>
                                            <p:cond delay="0"/>
                                          </p:stCondLst>
                                        </p:cTn>
                                        <p:tgtEl>
                                          <p:spTgt spid="1415171">
                                            <p:txEl>
                                              <p:pRg st="1" end="1"/>
                                            </p:txEl>
                                          </p:spTgt>
                                        </p:tgtEl>
                                        <p:attrNameLst>
                                          <p:attrName>style.visibility</p:attrName>
                                        </p:attrNameLst>
                                      </p:cBhvr>
                                      <p:to>
                                        <p:strVal val="visible"/>
                                      </p:to>
                                    </p:set>
                                    <p:animEffect transition="in" filter="wipe(left)">
                                      <p:cBhvr>
                                        <p:cTn id="16" dur="1000"/>
                                        <p:tgtEl>
                                          <p:spTgt spid="1415171">
                                            <p:txEl>
                                              <p:pRg st="1" end="1"/>
                                            </p:txEl>
                                          </p:spTgt>
                                        </p:tgtEl>
                                      </p:cBhvr>
                                    </p:animEffect>
                                  </p:childTnLst>
                                </p:cTn>
                              </p:par>
                            </p:childTnLst>
                          </p:cTn>
                        </p:par>
                        <p:par>
                          <p:cTn id="17" fill="hold" nodeType="withGroup">
                            <p:stCondLst>
                              <p:cond delay="3000"/>
                            </p:stCondLst>
                            <p:childTnLst>
                              <p:par>
                                <p:cTn id="18" presetID="22" presetClass="entr" presetSubtype="8" fill="hold" grpId="0" nodeType="afterEffect">
                                  <p:stCondLst>
                                    <p:cond delay="0"/>
                                  </p:stCondLst>
                                  <p:childTnLst>
                                    <p:set>
                                      <p:cBhvr>
                                        <p:cTn id="19" dur="1" fill="hold">
                                          <p:stCondLst>
                                            <p:cond delay="0"/>
                                          </p:stCondLst>
                                        </p:cTn>
                                        <p:tgtEl>
                                          <p:spTgt spid="1415171">
                                            <p:txEl>
                                              <p:pRg st="2" end="2"/>
                                            </p:txEl>
                                          </p:spTgt>
                                        </p:tgtEl>
                                        <p:attrNameLst>
                                          <p:attrName>style.visibility</p:attrName>
                                        </p:attrNameLst>
                                      </p:cBhvr>
                                      <p:to>
                                        <p:strVal val="visible"/>
                                      </p:to>
                                    </p:set>
                                    <p:animEffect transition="in" filter="wipe(left)">
                                      <p:cBhvr>
                                        <p:cTn id="20" dur="1000"/>
                                        <p:tgtEl>
                                          <p:spTgt spid="1415171">
                                            <p:txEl>
                                              <p:pRg st="2" end="2"/>
                                            </p:txEl>
                                          </p:spTgt>
                                        </p:tgtEl>
                                      </p:cBhvr>
                                    </p:animEffect>
                                  </p:childTnLst>
                                </p:cTn>
                              </p:par>
                            </p:childTnLst>
                          </p:cTn>
                        </p:par>
                        <p:par>
                          <p:cTn id="21" fill="hold" nodeType="withGroup">
                            <p:stCondLst>
                              <p:cond delay="4000"/>
                            </p:stCondLst>
                            <p:childTnLst>
                              <p:par>
                                <p:cTn id="22" presetID="22" presetClass="entr" presetSubtype="8" fill="hold" grpId="0" nodeType="afterEffect">
                                  <p:stCondLst>
                                    <p:cond delay="0"/>
                                  </p:stCondLst>
                                  <p:childTnLst>
                                    <p:set>
                                      <p:cBhvr>
                                        <p:cTn id="23" dur="1" fill="hold">
                                          <p:stCondLst>
                                            <p:cond delay="0"/>
                                          </p:stCondLst>
                                        </p:cTn>
                                        <p:tgtEl>
                                          <p:spTgt spid="1415171">
                                            <p:txEl>
                                              <p:pRg st="3" end="3"/>
                                            </p:txEl>
                                          </p:spTgt>
                                        </p:tgtEl>
                                        <p:attrNameLst>
                                          <p:attrName>style.visibility</p:attrName>
                                        </p:attrNameLst>
                                      </p:cBhvr>
                                      <p:to>
                                        <p:strVal val="visible"/>
                                      </p:to>
                                    </p:set>
                                    <p:animEffect transition="in" filter="wipe(left)">
                                      <p:cBhvr>
                                        <p:cTn id="24" dur="1000"/>
                                        <p:tgtEl>
                                          <p:spTgt spid="1415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5171" grpId="0" build="p" autoUpdateAnimBg="0"/>
      <p:bldP spid="141517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4147" name="Rectangle 3"/>
          <p:cNvSpPr>
            <a:spLocks noChangeArrowheads="1"/>
          </p:cNvSpPr>
          <p:nvPr/>
        </p:nvSpPr>
        <p:spPr bwMode="auto">
          <a:xfrm>
            <a:off x="2263775" y="942975"/>
            <a:ext cx="6042025" cy="1724025"/>
          </a:xfrm>
          <a:prstGeom prst="rect">
            <a:avLst/>
          </a:prstGeom>
          <a:solidFill>
            <a:schemeClr val="accent5">
              <a:lumMod val="40000"/>
              <a:lumOff val="60000"/>
            </a:schemeClr>
          </a:solidFill>
          <a:ln>
            <a:noFill/>
          </a:ln>
          <a:extLst/>
        </p:spPr>
        <p:txBody>
          <a:bodyPr wrap="none" anchor="ctr"/>
          <a:lstStyle/>
          <a:p>
            <a:endParaRPr lang="zh-CN" altLang="en-US"/>
          </a:p>
        </p:txBody>
      </p:sp>
      <p:sp>
        <p:nvSpPr>
          <p:cNvPr id="77828" name="Rectangle 4"/>
          <p:cNvSpPr>
            <a:spLocks noChangeArrowheads="1"/>
          </p:cNvSpPr>
          <p:nvPr/>
        </p:nvSpPr>
        <p:spPr bwMode="auto">
          <a:xfrm>
            <a:off x="3097213" y="5834063"/>
            <a:ext cx="41021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50000"/>
              </a:spcBef>
              <a:spcAft>
                <a:spcPct val="0"/>
              </a:spcAft>
              <a:buFont typeface="Wingdings" pitchFamily="2" charset="2"/>
              <a:buNone/>
            </a:pPr>
            <a:r>
              <a:rPr kumimoji="1" lang="zh-CN" altLang="en-US" sz="4000" b="1">
                <a:solidFill>
                  <a:srgbClr val="000066"/>
                </a:solidFill>
                <a:latin typeface="黑体" pitchFamily="2" charset="-122"/>
                <a:ea typeface="黑体" pitchFamily="2" charset="-122"/>
              </a:rPr>
              <a:t>细粒土的结构</a:t>
            </a:r>
          </a:p>
        </p:txBody>
      </p:sp>
      <p:sp>
        <p:nvSpPr>
          <p:cNvPr id="1414149" name="Rectangle 5"/>
          <p:cNvSpPr>
            <a:spLocks noChangeArrowheads="1"/>
          </p:cNvSpPr>
          <p:nvPr/>
        </p:nvSpPr>
        <p:spPr bwMode="auto">
          <a:xfrm>
            <a:off x="730250" y="2805113"/>
            <a:ext cx="1920875"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nSpc>
                <a:spcPct val="135000"/>
              </a:lnSpc>
              <a:spcBef>
                <a:spcPct val="25000"/>
              </a:spcBef>
              <a:spcAft>
                <a:spcPct val="45000"/>
              </a:spcAft>
              <a:buFontTx/>
              <a:buChar char="•"/>
            </a:pPr>
            <a:r>
              <a:rPr kumimoji="1" lang="zh-CN" altLang="en-US" sz="2200" b="1" dirty="0">
                <a:solidFill>
                  <a:srgbClr val="A50021"/>
                </a:solidFill>
                <a:latin typeface="幼圆" pitchFamily="49" charset="-122"/>
                <a:ea typeface="幼圆" pitchFamily="49" charset="-122"/>
              </a:rPr>
              <a:t> 形成环境</a:t>
            </a:r>
          </a:p>
          <a:p>
            <a:pPr>
              <a:lnSpc>
                <a:spcPct val="135000"/>
              </a:lnSpc>
              <a:spcBef>
                <a:spcPct val="40000"/>
              </a:spcBef>
              <a:spcAft>
                <a:spcPct val="100000"/>
              </a:spcAft>
              <a:buFontTx/>
              <a:buChar char="•"/>
            </a:pPr>
            <a:r>
              <a:rPr kumimoji="1" lang="zh-CN" altLang="en-US" sz="2200" b="1" dirty="0">
                <a:solidFill>
                  <a:srgbClr val="A50021"/>
                </a:solidFill>
                <a:latin typeface="幼圆" pitchFamily="49" charset="-122"/>
                <a:ea typeface="幼圆" pitchFamily="49" charset="-122"/>
              </a:rPr>
              <a:t> 粒间作用力</a:t>
            </a:r>
          </a:p>
          <a:p>
            <a:pPr>
              <a:lnSpc>
                <a:spcPct val="135000"/>
              </a:lnSpc>
              <a:spcBef>
                <a:spcPct val="25000"/>
              </a:spcBef>
              <a:spcAft>
                <a:spcPct val="75000"/>
              </a:spcAft>
              <a:buFontTx/>
              <a:buChar char="•"/>
            </a:pPr>
            <a:r>
              <a:rPr kumimoji="1" lang="zh-CN" altLang="en-US" sz="2200" b="1" dirty="0">
                <a:solidFill>
                  <a:srgbClr val="A50021"/>
                </a:solidFill>
                <a:latin typeface="幼圆" pitchFamily="49" charset="-122"/>
                <a:ea typeface="幼圆" pitchFamily="49" charset="-122"/>
              </a:rPr>
              <a:t> 排列形式</a:t>
            </a:r>
          </a:p>
        </p:txBody>
      </p:sp>
      <p:sp>
        <p:nvSpPr>
          <p:cNvPr id="1414150" name="Rectangle 6"/>
          <p:cNvSpPr>
            <a:spLocks noChangeArrowheads="1"/>
          </p:cNvSpPr>
          <p:nvPr/>
        </p:nvSpPr>
        <p:spPr bwMode="auto">
          <a:xfrm>
            <a:off x="2659063" y="2843645"/>
            <a:ext cx="2682875"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gn="ctr">
              <a:lnSpc>
                <a:spcPct val="100000"/>
              </a:lnSpc>
              <a:spcBef>
                <a:spcPct val="0"/>
              </a:spcBef>
              <a:spcAft>
                <a:spcPct val="25000"/>
              </a:spcAft>
            </a:pPr>
            <a:r>
              <a:rPr kumimoji="1" lang="zh-CN" altLang="en-US" sz="2200" b="1" dirty="0">
                <a:solidFill>
                  <a:srgbClr val="000066"/>
                </a:solidFill>
                <a:latin typeface="幼圆" pitchFamily="49" charset="-122"/>
                <a:ea typeface="幼圆" pitchFamily="49" charset="-122"/>
              </a:rPr>
              <a:t>淡水中沉积</a:t>
            </a:r>
          </a:p>
          <a:p>
            <a:pPr algn="ctr">
              <a:lnSpc>
                <a:spcPct val="100000"/>
              </a:lnSpc>
              <a:spcBef>
                <a:spcPct val="50000"/>
              </a:spcBef>
              <a:spcAft>
                <a:spcPct val="0"/>
              </a:spcAft>
            </a:pPr>
            <a:r>
              <a:rPr kumimoji="1" lang="zh-CN" altLang="en-US" sz="2200" b="1" dirty="0">
                <a:solidFill>
                  <a:srgbClr val="000066"/>
                </a:solidFill>
                <a:latin typeface="幼圆" pitchFamily="49" charset="-122"/>
                <a:ea typeface="幼圆" pitchFamily="49" charset="-122"/>
              </a:rPr>
              <a:t>表面力、胶结力</a:t>
            </a:r>
          </a:p>
          <a:p>
            <a:pPr algn="ctr">
              <a:lnSpc>
                <a:spcPct val="100000"/>
              </a:lnSpc>
              <a:spcBef>
                <a:spcPct val="0"/>
              </a:spcBef>
              <a:spcAft>
                <a:spcPct val="60000"/>
              </a:spcAft>
            </a:pPr>
            <a:r>
              <a:rPr kumimoji="1" lang="zh-CN" altLang="en-US" sz="2200" b="1" dirty="0">
                <a:solidFill>
                  <a:srgbClr val="000066"/>
                </a:solidFill>
                <a:latin typeface="幼圆" pitchFamily="49" charset="-122"/>
                <a:ea typeface="幼圆" pitchFamily="49" charset="-122"/>
              </a:rPr>
              <a:t>（粒间斥力占优势</a:t>
            </a:r>
            <a:r>
              <a:rPr kumimoji="1" lang="en-US" altLang="zh-CN" sz="2200" b="1" dirty="0">
                <a:solidFill>
                  <a:srgbClr val="000066"/>
                </a:solidFill>
                <a:latin typeface="幼圆" pitchFamily="49" charset="-122"/>
                <a:ea typeface="幼圆" pitchFamily="49" charset="-122"/>
              </a:rPr>
              <a:t>)</a:t>
            </a:r>
          </a:p>
          <a:p>
            <a:pPr algn="ctr">
              <a:lnSpc>
                <a:spcPct val="100000"/>
              </a:lnSpc>
              <a:spcBef>
                <a:spcPct val="50000"/>
              </a:spcBef>
              <a:spcAft>
                <a:spcPct val="0"/>
              </a:spcAft>
            </a:pPr>
            <a:r>
              <a:rPr kumimoji="1" lang="zh-CN" altLang="en-US" sz="2200" b="1" dirty="0">
                <a:solidFill>
                  <a:srgbClr val="000066"/>
                </a:solidFill>
                <a:latin typeface="幼圆" pitchFamily="49" charset="-122"/>
                <a:ea typeface="幼圆" pitchFamily="49" charset="-122"/>
              </a:rPr>
              <a:t>面与面</a:t>
            </a:r>
          </a:p>
        </p:txBody>
      </p:sp>
      <p:grpSp>
        <p:nvGrpSpPr>
          <p:cNvPr id="2" name="Group 8"/>
          <p:cNvGrpSpPr>
            <a:grpSpLocks/>
          </p:cNvGrpSpPr>
          <p:nvPr/>
        </p:nvGrpSpPr>
        <p:grpSpPr bwMode="auto">
          <a:xfrm>
            <a:off x="6042025" y="1031875"/>
            <a:ext cx="1509713" cy="1587501"/>
            <a:chOff x="3806" y="500"/>
            <a:chExt cx="942" cy="1000"/>
          </a:xfrm>
        </p:grpSpPr>
        <p:sp>
          <p:nvSpPr>
            <p:cNvPr id="77874" name="Text Box 9"/>
            <p:cNvSpPr txBox="1">
              <a:spLocks noChangeArrowheads="1"/>
            </p:cNvSpPr>
            <p:nvPr/>
          </p:nvSpPr>
          <p:spPr bwMode="auto">
            <a:xfrm>
              <a:off x="3860" y="1209"/>
              <a:ext cx="8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dirty="0" smtClean="0">
                  <a:solidFill>
                    <a:srgbClr val="000066"/>
                  </a:solidFill>
                  <a:ea typeface="幼圆" pitchFamily="49" charset="-122"/>
                </a:rPr>
                <a:t>絮凝结构</a:t>
              </a:r>
              <a:endParaRPr kumimoji="1" lang="zh-CN" altLang="en-US" sz="2400" b="1" dirty="0">
                <a:solidFill>
                  <a:srgbClr val="000066"/>
                </a:solidFill>
                <a:ea typeface="幼圆" pitchFamily="49" charset="-122"/>
              </a:endParaRPr>
            </a:p>
          </p:txBody>
        </p:sp>
        <p:grpSp>
          <p:nvGrpSpPr>
            <p:cNvPr id="77875" name="Group 10"/>
            <p:cNvGrpSpPr>
              <a:grpSpLocks/>
            </p:cNvGrpSpPr>
            <p:nvPr/>
          </p:nvGrpSpPr>
          <p:grpSpPr bwMode="auto">
            <a:xfrm>
              <a:off x="4151" y="968"/>
              <a:ext cx="517" cy="167"/>
              <a:chOff x="1469" y="710"/>
              <a:chExt cx="517" cy="167"/>
            </a:xfrm>
          </p:grpSpPr>
          <p:sp>
            <p:nvSpPr>
              <p:cNvPr id="77905" name="Freeform 11"/>
              <p:cNvSpPr>
                <a:spLocks/>
              </p:cNvSpPr>
              <p:nvPr/>
            </p:nvSpPr>
            <p:spPr bwMode="auto">
              <a:xfrm>
                <a:off x="1469" y="710"/>
                <a:ext cx="517" cy="167"/>
              </a:xfrm>
              <a:custGeom>
                <a:avLst/>
                <a:gdLst>
                  <a:gd name="T0" fmla="*/ 0 w 517"/>
                  <a:gd name="T1" fmla="*/ 141 h 167"/>
                  <a:gd name="T2" fmla="*/ 54 w 517"/>
                  <a:gd name="T3" fmla="*/ 167 h 167"/>
                  <a:gd name="T4" fmla="*/ 401 w 517"/>
                  <a:gd name="T5" fmla="*/ 167 h 167"/>
                  <a:gd name="T6" fmla="*/ 496 w 517"/>
                  <a:gd name="T7" fmla="*/ 125 h 167"/>
                  <a:gd name="T8" fmla="*/ 517 w 517"/>
                  <a:gd name="T9" fmla="*/ 103 h 167"/>
                  <a:gd name="T10" fmla="*/ 510 w 517"/>
                  <a:gd name="T11" fmla="*/ 26 h 167"/>
                  <a:gd name="T12" fmla="*/ 461 w 517"/>
                  <a:gd name="T13" fmla="*/ 0 h 167"/>
                  <a:gd name="T14" fmla="*/ 128 w 517"/>
                  <a:gd name="T15" fmla="*/ 8 h 167"/>
                  <a:gd name="T16" fmla="*/ 53 w 517"/>
                  <a:gd name="T17" fmla="*/ 32 h 167"/>
                  <a:gd name="T18" fmla="*/ 8 w 517"/>
                  <a:gd name="T19" fmla="*/ 68 h 167"/>
                  <a:gd name="T20" fmla="*/ 0 w 517"/>
                  <a:gd name="T21" fmla="*/ 14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
                  <a:gd name="T34" fmla="*/ 0 h 167"/>
                  <a:gd name="T35" fmla="*/ 517 w 517"/>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 h="167">
                    <a:moveTo>
                      <a:pt x="0" y="141"/>
                    </a:moveTo>
                    <a:lnTo>
                      <a:pt x="54" y="167"/>
                    </a:lnTo>
                    <a:lnTo>
                      <a:pt x="401" y="167"/>
                    </a:lnTo>
                    <a:lnTo>
                      <a:pt x="496" y="125"/>
                    </a:lnTo>
                    <a:lnTo>
                      <a:pt x="517" y="103"/>
                    </a:lnTo>
                    <a:lnTo>
                      <a:pt x="510" y="26"/>
                    </a:lnTo>
                    <a:lnTo>
                      <a:pt x="461" y="0"/>
                    </a:lnTo>
                    <a:lnTo>
                      <a:pt x="128" y="8"/>
                    </a:lnTo>
                    <a:lnTo>
                      <a:pt x="53" y="32"/>
                    </a:lnTo>
                    <a:lnTo>
                      <a:pt x="8" y="68"/>
                    </a:lnTo>
                    <a:lnTo>
                      <a:pt x="0" y="141"/>
                    </a:lnTo>
                    <a:close/>
                  </a:path>
                </a:pathLst>
              </a:custGeom>
              <a:solidFill>
                <a:srgbClr val="FFCC99"/>
              </a:solidFill>
              <a:ln w="9525">
                <a:solidFill>
                  <a:schemeClr val="tx1"/>
                </a:solidFill>
                <a:round/>
                <a:headEnd/>
                <a:tailEnd/>
              </a:ln>
            </p:spPr>
            <p:txBody>
              <a:bodyPr/>
              <a:lstStyle/>
              <a:p>
                <a:endParaRPr lang="zh-CN" altLang="en-US"/>
              </a:p>
            </p:txBody>
          </p:sp>
          <p:sp>
            <p:nvSpPr>
              <p:cNvPr id="77906" name="Freeform 12"/>
              <p:cNvSpPr>
                <a:spLocks/>
              </p:cNvSpPr>
              <p:nvPr/>
            </p:nvSpPr>
            <p:spPr bwMode="auto">
              <a:xfrm>
                <a:off x="1477" y="736"/>
                <a:ext cx="502" cy="67"/>
              </a:xfrm>
              <a:custGeom>
                <a:avLst/>
                <a:gdLst>
                  <a:gd name="T0" fmla="*/ 0 w 502"/>
                  <a:gd name="T1" fmla="*/ 45 h 67"/>
                  <a:gd name="T2" fmla="*/ 53 w 502"/>
                  <a:gd name="T3" fmla="*/ 67 h 67"/>
                  <a:gd name="T4" fmla="*/ 389 w 502"/>
                  <a:gd name="T5" fmla="*/ 59 h 67"/>
                  <a:gd name="T6" fmla="*/ 481 w 502"/>
                  <a:gd name="T7" fmla="*/ 29 h 67"/>
                  <a:gd name="T8" fmla="*/ 502 w 502"/>
                  <a:gd name="T9" fmla="*/ 0 h 67"/>
                  <a:gd name="T10" fmla="*/ 0 60000 65536"/>
                  <a:gd name="T11" fmla="*/ 0 60000 65536"/>
                  <a:gd name="T12" fmla="*/ 0 60000 65536"/>
                  <a:gd name="T13" fmla="*/ 0 60000 65536"/>
                  <a:gd name="T14" fmla="*/ 0 60000 65536"/>
                  <a:gd name="T15" fmla="*/ 0 w 502"/>
                  <a:gd name="T16" fmla="*/ 0 h 67"/>
                  <a:gd name="T17" fmla="*/ 502 w 502"/>
                  <a:gd name="T18" fmla="*/ 67 h 67"/>
                </a:gdLst>
                <a:ahLst/>
                <a:cxnLst>
                  <a:cxn ang="T10">
                    <a:pos x="T0" y="T1"/>
                  </a:cxn>
                  <a:cxn ang="T11">
                    <a:pos x="T2" y="T3"/>
                  </a:cxn>
                  <a:cxn ang="T12">
                    <a:pos x="T4" y="T5"/>
                  </a:cxn>
                  <a:cxn ang="T13">
                    <a:pos x="T6" y="T7"/>
                  </a:cxn>
                  <a:cxn ang="T14">
                    <a:pos x="T8" y="T9"/>
                  </a:cxn>
                </a:cxnLst>
                <a:rect l="T15" t="T16" r="T17" b="T18"/>
                <a:pathLst>
                  <a:path w="502" h="67">
                    <a:moveTo>
                      <a:pt x="0" y="45"/>
                    </a:moveTo>
                    <a:lnTo>
                      <a:pt x="53" y="67"/>
                    </a:lnTo>
                    <a:lnTo>
                      <a:pt x="389" y="59"/>
                    </a:lnTo>
                    <a:lnTo>
                      <a:pt x="481" y="29"/>
                    </a:lnTo>
                    <a:lnTo>
                      <a:pt x="502" y="0"/>
                    </a:lnTo>
                  </a:path>
                </a:pathLst>
              </a:custGeom>
              <a:solidFill>
                <a:srgbClr val="FFCC99"/>
              </a:solidFill>
              <a:ln w="9525">
                <a:solidFill>
                  <a:schemeClr val="tx1"/>
                </a:solidFill>
                <a:round/>
                <a:headEnd/>
                <a:tailEnd/>
              </a:ln>
            </p:spPr>
            <p:txBody>
              <a:bodyPr/>
              <a:lstStyle/>
              <a:p>
                <a:endParaRPr lang="zh-CN" altLang="en-US"/>
              </a:p>
            </p:txBody>
          </p:sp>
          <p:sp>
            <p:nvSpPr>
              <p:cNvPr id="77907" name="Line 13"/>
              <p:cNvSpPr>
                <a:spLocks noChangeShapeType="1"/>
              </p:cNvSpPr>
              <p:nvPr/>
            </p:nvSpPr>
            <p:spPr bwMode="auto">
              <a:xfrm flipH="1">
                <a:off x="1525" y="803"/>
                <a:ext cx="5"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8" name="Line 14"/>
              <p:cNvSpPr>
                <a:spLocks noChangeShapeType="1"/>
              </p:cNvSpPr>
              <p:nvPr/>
            </p:nvSpPr>
            <p:spPr bwMode="auto">
              <a:xfrm>
                <a:off x="1864" y="797"/>
                <a:ext cx="0" cy="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9" name="Line 15"/>
              <p:cNvSpPr>
                <a:spLocks noChangeShapeType="1"/>
              </p:cNvSpPr>
              <p:nvPr/>
            </p:nvSpPr>
            <p:spPr bwMode="auto">
              <a:xfrm>
                <a:off x="1957" y="766"/>
                <a:ext cx="3"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76" name="Group 16"/>
            <p:cNvGrpSpPr>
              <a:grpSpLocks/>
            </p:cNvGrpSpPr>
            <p:nvPr/>
          </p:nvGrpSpPr>
          <p:grpSpPr bwMode="auto">
            <a:xfrm>
              <a:off x="3863" y="817"/>
              <a:ext cx="338" cy="217"/>
              <a:chOff x="3590" y="817"/>
              <a:chExt cx="338" cy="217"/>
            </a:xfrm>
          </p:grpSpPr>
          <p:sp>
            <p:nvSpPr>
              <p:cNvPr id="77901" name="Freeform 17"/>
              <p:cNvSpPr>
                <a:spLocks/>
              </p:cNvSpPr>
              <p:nvPr/>
            </p:nvSpPr>
            <p:spPr bwMode="auto">
              <a:xfrm>
                <a:off x="3590" y="817"/>
                <a:ext cx="338" cy="217"/>
              </a:xfrm>
              <a:custGeom>
                <a:avLst/>
                <a:gdLst>
                  <a:gd name="T0" fmla="*/ 92 w 338"/>
                  <a:gd name="T1" fmla="*/ 217 h 217"/>
                  <a:gd name="T2" fmla="*/ 303 w 338"/>
                  <a:gd name="T3" fmla="*/ 95 h 217"/>
                  <a:gd name="T4" fmla="*/ 338 w 338"/>
                  <a:gd name="T5" fmla="*/ 64 h 217"/>
                  <a:gd name="T6" fmla="*/ 292 w 338"/>
                  <a:gd name="T7" fmla="*/ 3 h 217"/>
                  <a:gd name="T8" fmla="*/ 248 w 338"/>
                  <a:gd name="T9" fmla="*/ 0 h 217"/>
                  <a:gd name="T10" fmla="*/ 60 w 338"/>
                  <a:gd name="T11" fmla="*/ 106 h 217"/>
                  <a:gd name="T12" fmla="*/ 0 w 338"/>
                  <a:gd name="T13" fmla="*/ 154 h 217"/>
                  <a:gd name="T14" fmla="*/ 28 w 338"/>
                  <a:gd name="T15" fmla="*/ 217 h 217"/>
                  <a:gd name="T16" fmla="*/ 92 w 338"/>
                  <a:gd name="T17" fmla="*/ 217 h 2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8"/>
                  <a:gd name="T28" fmla="*/ 0 h 217"/>
                  <a:gd name="T29" fmla="*/ 338 w 338"/>
                  <a:gd name="T30" fmla="*/ 217 h 2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8" h="217">
                    <a:moveTo>
                      <a:pt x="92" y="217"/>
                    </a:moveTo>
                    <a:lnTo>
                      <a:pt x="303" y="95"/>
                    </a:lnTo>
                    <a:lnTo>
                      <a:pt x="338" y="64"/>
                    </a:lnTo>
                    <a:lnTo>
                      <a:pt x="292" y="3"/>
                    </a:lnTo>
                    <a:lnTo>
                      <a:pt x="248" y="0"/>
                    </a:lnTo>
                    <a:lnTo>
                      <a:pt x="60" y="106"/>
                    </a:lnTo>
                    <a:lnTo>
                      <a:pt x="0" y="154"/>
                    </a:lnTo>
                    <a:lnTo>
                      <a:pt x="28" y="217"/>
                    </a:lnTo>
                    <a:lnTo>
                      <a:pt x="92" y="217"/>
                    </a:lnTo>
                    <a:close/>
                  </a:path>
                </a:pathLst>
              </a:custGeom>
              <a:solidFill>
                <a:srgbClr val="FFCC99"/>
              </a:solidFill>
              <a:ln w="9525">
                <a:solidFill>
                  <a:schemeClr val="tx1"/>
                </a:solidFill>
                <a:round/>
                <a:headEnd/>
                <a:tailEnd/>
              </a:ln>
            </p:spPr>
            <p:txBody>
              <a:bodyPr/>
              <a:lstStyle/>
              <a:p>
                <a:endParaRPr lang="zh-CN" altLang="en-US"/>
              </a:p>
            </p:txBody>
          </p:sp>
          <p:sp>
            <p:nvSpPr>
              <p:cNvPr id="77902" name="Freeform 18"/>
              <p:cNvSpPr>
                <a:spLocks/>
              </p:cNvSpPr>
              <p:nvPr/>
            </p:nvSpPr>
            <p:spPr bwMode="auto">
              <a:xfrm>
                <a:off x="3590" y="819"/>
                <a:ext cx="291" cy="154"/>
              </a:xfrm>
              <a:custGeom>
                <a:avLst/>
                <a:gdLst>
                  <a:gd name="T0" fmla="*/ 0 w 291"/>
                  <a:gd name="T1" fmla="*/ 154 h 154"/>
                  <a:gd name="T2" fmla="*/ 53 w 291"/>
                  <a:gd name="T3" fmla="*/ 151 h 154"/>
                  <a:gd name="T4" fmla="*/ 261 w 291"/>
                  <a:gd name="T5" fmla="*/ 39 h 154"/>
                  <a:gd name="T6" fmla="*/ 291 w 291"/>
                  <a:gd name="T7" fmla="*/ 0 h 154"/>
                  <a:gd name="T8" fmla="*/ 0 60000 65536"/>
                  <a:gd name="T9" fmla="*/ 0 60000 65536"/>
                  <a:gd name="T10" fmla="*/ 0 60000 65536"/>
                  <a:gd name="T11" fmla="*/ 0 60000 65536"/>
                  <a:gd name="T12" fmla="*/ 0 w 291"/>
                  <a:gd name="T13" fmla="*/ 0 h 154"/>
                  <a:gd name="T14" fmla="*/ 291 w 291"/>
                  <a:gd name="T15" fmla="*/ 154 h 154"/>
                </a:gdLst>
                <a:ahLst/>
                <a:cxnLst>
                  <a:cxn ang="T8">
                    <a:pos x="T0" y="T1"/>
                  </a:cxn>
                  <a:cxn ang="T9">
                    <a:pos x="T2" y="T3"/>
                  </a:cxn>
                  <a:cxn ang="T10">
                    <a:pos x="T4" y="T5"/>
                  </a:cxn>
                  <a:cxn ang="T11">
                    <a:pos x="T6" y="T7"/>
                  </a:cxn>
                </a:cxnLst>
                <a:rect l="T12" t="T13" r="T14" b="T15"/>
                <a:pathLst>
                  <a:path w="291" h="154">
                    <a:moveTo>
                      <a:pt x="0" y="154"/>
                    </a:moveTo>
                    <a:lnTo>
                      <a:pt x="53" y="151"/>
                    </a:lnTo>
                    <a:lnTo>
                      <a:pt x="261" y="39"/>
                    </a:lnTo>
                    <a:lnTo>
                      <a:pt x="291" y="0"/>
                    </a:lnTo>
                  </a:path>
                </a:pathLst>
              </a:custGeom>
              <a:solidFill>
                <a:srgbClr val="FFCC99"/>
              </a:solidFill>
              <a:ln w="9525">
                <a:solidFill>
                  <a:schemeClr val="tx1"/>
                </a:solidFill>
                <a:round/>
                <a:headEnd/>
                <a:tailEnd/>
              </a:ln>
            </p:spPr>
            <p:txBody>
              <a:bodyPr/>
              <a:lstStyle/>
              <a:p>
                <a:endParaRPr lang="zh-CN" altLang="en-US"/>
              </a:p>
            </p:txBody>
          </p:sp>
          <p:sp>
            <p:nvSpPr>
              <p:cNvPr id="77903" name="Freeform 19"/>
              <p:cNvSpPr>
                <a:spLocks/>
              </p:cNvSpPr>
              <p:nvPr/>
            </p:nvSpPr>
            <p:spPr bwMode="auto">
              <a:xfrm>
                <a:off x="3644" y="967"/>
                <a:ext cx="36" cy="63"/>
              </a:xfrm>
              <a:custGeom>
                <a:avLst/>
                <a:gdLst>
                  <a:gd name="T0" fmla="*/ 0 w 36"/>
                  <a:gd name="T1" fmla="*/ 0 h 63"/>
                  <a:gd name="T2" fmla="*/ 36 w 36"/>
                  <a:gd name="T3" fmla="*/ 63 h 63"/>
                  <a:gd name="T4" fmla="*/ 0 60000 65536"/>
                  <a:gd name="T5" fmla="*/ 0 60000 65536"/>
                  <a:gd name="T6" fmla="*/ 0 w 36"/>
                  <a:gd name="T7" fmla="*/ 0 h 63"/>
                  <a:gd name="T8" fmla="*/ 36 w 36"/>
                  <a:gd name="T9" fmla="*/ 63 h 63"/>
                </a:gdLst>
                <a:ahLst/>
                <a:cxnLst>
                  <a:cxn ang="T4">
                    <a:pos x="T0" y="T1"/>
                  </a:cxn>
                  <a:cxn ang="T5">
                    <a:pos x="T2" y="T3"/>
                  </a:cxn>
                </a:cxnLst>
                <a:rect l="T6" t="T7" r="T8" b="T9"/>
                <a:pathLst>
                  <a:path w="36" h="63">
                    <a:moveTo>
                      <a:pt x="0" y="0"/>
                    </a:moveTo>
                    <a:lnTo>
                      <a:pt x="36" y="63"/>
                    </a:lnTo>
                  </a:path>
                </a:pathLst>
              </a:custGeom>
              <a:solidFill>
                <a:srgbClr val="FFCC99"/>
              </a:solidFill>
              <a:ln w="9525">
                <a:solidFill>
                  <a:schemeClr val="tx1"/>
                </a:solidFill>
                <a:round/>
                <a:headEnd/>
                <a:tailEnd/>
              </a:ln>
            </p:spPr>
            <p:txBody>
              <a:bodyPr/>
              <a:lstStyle/>
              <a:p>
                <a:endParaRPr lang="zh-CN" altLang="en-US"/>
              </a:p>
            </p:txBody>
          </p:sp>
          <p:sp>
            <p:nvSpPr>
              <p:cNvPr id="77904" name="Freeform 20"/>
              <p:cNvSpPr>
                <a:spLocks/>
              </p:cNvSpPr>
              <p:nvPr/>
            </p:nvSpPr>
            <p:spPr bwMode="auto">
              <a:xfrm>
                <a:off x="3852" y="857"/>
                <a:ext cx="41" cy="57"/>
              </a:xfrm>
              <a:custGeom>
                <a:avLst/>
                <a:gdLst>
                  <a:gd name="T0" fmla="*/ 0 w 41"/>
                  <a:gd name="T1" fmla="*/ 0 h 57"/>
                  <a:gd name="T2" fmla="*/ 41 w 41"/>
                  <a:gd name="T3" fmla="*/ 57 h 57"/>
                  <a:gd name="T4" fmla="*/ 0 60000 65536"/>
                  <a:gd name="T5" fmla="*/ 0 60000 65536"/>
                  <a:gd name="T6" fmla="*/ 0 w 41"/>
                  <a:gd name="T7" fmla="*/ 0 h 57"/>
                  <a:gd name="T8" fmla="*/ 41 w 41"/>
                  <a:gd name="T9" fmla="*/ 57 h 57"/>
                </a:gdLst>
                <a:ahLst/>
                <a:cxnLst>
                  <a:cxn ang="T4">
                    <a:pos x="T0" y="T1"/>
                  </a:cxn>
                  <a:cxn ang="T5">
                    <a:pos x="T2" y="T3"/>
                  </a:cxn>
                </a:cxnLst>
                <a:rect l="T6" t="T7" r="T8" b="T9"/>
                <a:pathLst>
                  <a:path w="41" h="57">
                    <a:moveTo>
                      <a:pt x="0" y="0"/>
                    </a:moveTo>
                    <a:lnTo>
                      <a:pt x="41" y="57"/>
                    </a:lnTo>
                  </a:path>
                </a:pathLst>
              </a:custGeom>
              <a:solidFill>
                <a:srgbClr val="FFCC99"/>
              </a:solidFill>
              <a:ln w="9525">
                <a:solidFill>
                  <a:schemeClr val="tx1"/>
                </a:solidFill>
                <a:round/>
                <a:headEnd/>
                <a:tailEnd/>
              </a:ln>
            </p:spPr>
            <p:txBody>
              <a:bodyPr/>
              <a:lstStyle/>
              <a:p>
                <a:endParaRPr lang="zh-CN" altLang="en-US"/>
              </a:p>
            </p:txBody>
          </p:sp>
        </p:grpSp>
        <p:grpSp>
          <p:nvGrpSpPr>
            <p:cNvPr id="77877" name="Group 21"/>
            <p:cNvGrpSpPr>
              <a:grpSpLocks/>
            </p:cNvGrpSpPr>
            <p:nvPr/>
          </p:nvGrpSpPr>
          <p:grpSpPr bwMode="auto">
            <a:xfrm rot="3689243">
              <a:off x="4062" y="742"/>
              <a:ext cx="367" cy="167"/>
              <a:chOff x="1469" y="710"/>
              <a:chExt cx="517" cy="167"/>
            </a:xfrm>
          </p:grpSpPr>
          <p:sp>
            <p:nvSpPr>
              <p:cNvPr id="77896" name="Freeform 22"/>
              <p:cNvSpPr>
                <a:spLocks/>
              </p:cNvSpPr>
              <p:nvPr/>
            </p:nvSpPr>
            <p:spPr bwMode="auto">
              <a:xfrm>
                <a:off x="1469" y="710"/>
                <a:ext cx="517" cy="167"/>
              </a:xfrm>
              <a:custGeom>
                <a:avLst/>
                <a:gdLst>
                  <a:gd name="T0" fmla="*/ 0 w 517"/>
                  <a:gd name="T1" fmla="*/ 141 h 167"/>
                  <a:gd name="T2" fmla="*/ 54 w 517"/>
                  <a:gd name="T3" fmla="*/ 167 h 167"/>
                  <a:gd name="T4" fmla="*/ 401 w 517"/>
                  <a:gd name="T5" fmla="*/ 167 h 167"/>
                  <a:gd name="T6" fmla="*/ 496 w 517"/>
                  <a:gd name="T7" fmla="*/ 125 h 167"/>
                  <a:gd name="T8" fmla="*/ 517 w 517"/>
                  <a:gd name="T9" fmla="*/ 103 h 167"/>
                  <a:gd name="T10" fmla="*/ 510 w 517"/>
                  <a:gd name="T11" fmla="*/ 26 h 167"/>
                  <a:gd name="T12" fmla="*/ 461 w 517"/>
                  <a:gd name="T13" fmla="*/ 0 h 167"/>
                  <a:gd name="T14" fmla="*/ 128 w 517"/>
                  <a:gd name="T15" fmla="*/ 8 h 167"/>
                  <a:gd name="T16" fmla="*/ 53 w 517"/>
                  <a:gd name="T17" fmla="*/ 32 h 167"/>
                  <a:gd name="T18" fmla="*/ 8 w 517"/>
                  <a:gd name="T19" fmla="*/ 68 h 167"/>
                  <a:gd name="T20" fmla="*/ 0 w 517"/>
                  <a:gd name="T21" fmla="*/ 14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
                  <a:gd name="T34" fmla="*/ 0 h 167"/>
                  <a:gd name="T35" fmla="*/ 517 w 517"/>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 h="167">
                    <a:moveTo>
                      <a:pt x="0" y="141"/>
                    </a:moveTo>
                    <a:lnTo>
                      <a:pt x="54" y="167"/>
                    </a:lnTo>
                    <a:lnTo>
                      <a:pt x="401" y="167"/>
                    </a:lnTo>
                    <a:lnTo>
                      <a:pt x="496" y="125"/>
                    </a:lnTo>
                    <a:lnTo>
                      <a:pt x="517" y="103"/>
                    </a:lnTo>
                    <a:lnTo>
                      <a:pt x="510" y="26"/>
                    </a:lnTo>
                    <a:lnTo>
                      <a:pt x="461" y="0"/>
                    </a:lnTo>
                    <a:lnTo>
                      <a:pt x="128" y="8"/>
                    </a:lnTo>
                    <a:lnTo>
                      <a:pt x="53" y="32"/>
                    </a:lnTo>
                    <a:lnTo>
                      <a:pt x="8" y="68"/>
                    </a:lnTo>
                    <a:lnTo>
                      <a:pt x="0" y="141"/>
                    </a:lnTo>
                    <a:close/>
                  </a:path>
                </a:pathLst>
              </a:custGeom>
              <a:solidFill>
                <a:srgbClr val="FFCC99"/>
              </a:solidFill>
              <a:ln w="9525">
                <a:solidFill>
                  <a:schemeClr val="tx1"/>
                </a:solidFill>
                <a:round/>
                <a:headEnd/>
                <a:tailEnd/>
              </a:ln>
            </p:spPr>
            <p:txBody>
              <a:bodyPr/>
              <a:lstStyle/>
              <a:p>
                <a:endParaRPr lang="zh-CN" altLang="en-US"/>
              </a:p>
            </p:txBody>
          </p:sp>
          <p:sp>
            <p:nvSpPr>
              <p:cNvPr id="77897" name="Freeform 23"/>
              <p:cNvSpPr>
                <a:spLocks/>
              </p:cNvSpPr>
              <p:nvPr/>
            </p:nvSpPr>
            <p:spPr bwMode="auto">
              <a:xfrm>
                <a:off x="1477" y="736"/>
                <a:ext cx="502" cy="67"/>
              </a:xfrm>
              <a:custGeom>
                <a:avLst/>
                <a:gdLst>
                  <a:gd name="T0" fmla="*/ 0 w 502"/>
                  <a:gd name="T1" fmla="*/ 45 h 67"/>
                  <a:gd name="T2" fmla="*/ 53 w 502"/>
                  <a:gd name="T3" fmla="*/ 67 h 67"/>
                  <a:gd name="T4" fmla="*/ 389 w 502"/>
                  <a:gd name="T5" fmla="*/ 59 h 67"/>
                  <a:gd name="T6" fmla="*/ 481 w 502"/>
                  <a:gd name="T7" fmla="*/ 29 h 67"/>
                  <a:gd name="T8" fmla="*/ 502 w 502"/>
                  <a:gd name="T9" fmla="*/ 0 h 67"/>
                  <a:gd name="T10" fmla="*/ 0 60000 65536"/>
                  <a:gd name="T11" fmla="*/ 0 60000 65536"/>
                  <a:gd name="T12" fmla="*/ 0 60000 65536"/>
                  <a:gd name="T13" fmla="*/ 0 60000 65536"/>
                  <a:gd name="T14" fmla="*/ 0 60000 65536"/>
                  <a:gd name="T15" fmla="*/ 0 w 502"/>
                  <a:gd name="T16" fmla="*/ 0 h 67"/>
                  <a:gd name="T17" fmla="*/ 502 w 502"/>
                  <a:gd name="T18" fmla="*/ 67 h 67"/>
                </a:gdLst>
                <a:ahLst/>
                <a:cxnLst>
                  <a:cxn ang="T10">
                    <a:pos x="T0" y="T1"/>
                  </a:cxn>
                  <a:cxn ang="T11">
                    <a:pos x="T2" y="T3"/>
                  </a:cxn>
                  <a:cxn ang="T12">
                    <a:pos x="T4" y="T5"/>
                  </a:cxn>
                  <a:cxn ang="T13">
                    <a:pos x="T6" y="T7"/>
                  </a:cxn>
                  <a:cxn ang="T14">
                    <a:pos x="T8" y="T9"/>
                  </a:cxn>
                </a:cxnLst>
                <a:rect l="T15" t="T16" r="T17" b="T18"/>
                <a:pathLst>
                  <a:path w="502" h="67">
                    <a:moveTo>
                      <a:pt x="0" y="45"/>
                    </a:moveTo>
                    <a:lnTo>
                      <a:pt x="53" y="67"/>
                    </a:lnTo>
                    <a:lnTo>
                      <a:pt x="389" y="59"/>
                    </a:lnTo>
                    <a:lnTo>
                      <a:pt x="481" y="29"/>
                    </a:lnTo>
                    <a:lnTo>
                      <a:pt x="502" y="0"/>
                    </a:lnTo>
                  </a:path>
                </a:pathLst>
              </a:custGeom>
              <a:solidFill>
                <a:srgbClr val="FFCC99"/>
              </a:solidFill>
              <a:ln w="9525">
                <a:solidFill>
                  <a:schemeClr val="tx1"/>
                </a:solidFill>
                <a:round/>
                <a:headEnd/>
                <a:tailEnd/>
              </a:ln>
            </p:spPr>
            <p:txBody>
              <a:bodyPr/>
              <a:lstStyle/>
              <a:p>
                <a:endParaRPr lang="zh-CN" altLang="en-US"/>
              </a:p>
            </p:txBody>
          </p:sp>
          <p:sp>
            <p:nvSpPr>
              <p:cNvPr id="77898" name="Line 24"/>
              <p:cNvSpPr>
                <a:spLocks noChangeShapeType="1"/>
              </p:cNvSpPr>
              <p:nvPr/>
            </p:nvSpPr>
            <p:spPr bwMode="auto">
              <a:xfrm flipH="1">
                <a:off x="1525" y="803"/>
                <a:ext cx="5"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9" name="Line 25"/>
              <p:cNvSpPr>
                <a:spLocks noChangeShapeType="1"/>
              </p:cNvSpPr>
              <p:nvPr/>
            </p:nvSpPr>
            <p:spPr bwMode="auto">
              <a:xfrm>
                <a:off x="1864" y="797"/>
                <a:ext cx="0" cy="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0" name="Line 26"/>
              <p:cNvSpPr>
                <a:spLocks noChangeShapeType="1"/>
              </p:cNvSpPr>
              <p:nvPr/>
            </p:nvSpPr>
            <p:spPr bwMode="auto">
              <a:xfrm>
                <a:off x="1957" y="766"/>
                <a:ext cx="3"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78" name="Group 27"/>
            <p:cNvGrpSpPr>
              <a:grpSpLocks/>
            </p:cNvGrpSpPr>
            <p:nvPr/>
          </p:nvGrpSpPr>
          <p:grpSpPr bwMode="auto">
            <a:xfrm rot="5400000">
              <a:off x="4274" y="747"/>
              <a:ext cx="367" cy="167"/>
              <a:chOff x="1469" y="710"/>
              <a:chExt cx="517" cy="167"/>
            </a:xfrm>
          </p:grpSpPr>
          <p:sp>
            <p:nvSpPr>
              <p:cNvPr id="77891" name="Freeform 28"/>
              <p:cNvSpPr>
                <a:spLocks/>
              </p:cNvSpPr>
              <p:nvPr/>
            </p:nvSpPr>
            <p:spPr bwMode="auto">
              <a:xfrm>
                <a:off x="1469" y="710"/>
                <a:ext cx="517" cy="167"/>
              </a:xfrm>
              <a:custGeom>
                <a:avLst/>
                <a:gdLst>
                  <a:gd name="T0" fmla="*/ 0 w 517"/>
                  <a:gd name="T1" fmla="*/ 141 h 167"/>
                  <a:gd name="T2" fmla="*/ 54 w 517"/>
                  <a:gd name="T3" fmla="*/ 167 h 167"/>
                  <a:gd name="T4" fmla="*/ 401 w 517"/>
                  <a:gd name="T5" fmla="*/ 167 h 167"/>
                  <a:gd name="T6" fmla="*/ 496 w 517"/>
                  <a:gd name="T7" fmla="*/ 125 h 167"/>
                  <a:gd name="T8" fmla="*/ 517 w 517"/>
                  <a:gd name="T9" fmla="*/ 103 h 167"/>
                  <a:gd name="T10" fmla="*/ 510 w 517"/>
                  <a:gd name="T11" fmla="*/ 26 h 167"/>
                  <a:gd name="T12" fmla="*/ 461 w 517"/>
                  <a:gd name="T13" fmla="*/ 0 h 167"/>
                  <a:gd name="T14" fmla="*/ 128 w 517"/>
                  <a:gd name="T15" fmla="*/ 8 h 167"/>
                  <a:gd name="T16" fmla="*/ 53 w 517"/>
                  <a:gd name="T17" fmla="*/ 32 h 167"/>
                  <a:gd name="T18" fmla="*/ 8 w 517"/>
                  <a:gd name="T19" fmla="*/ 68 h 167"/>
                  <a:gd name="T20" fmla="*/ 0 w 517"/>
                  <a:gd name="T21" fmla="*/ 14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
                  <a:gd name="T34" fmla="*/ 0 h 167"/>
                  <a:gd name="T35" fmla="*/ 517 w 517"/>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 h="167">
                    <a:moveTo>
                      <a:pt x="0" y="141"/>
                    </a:moveTo>
                    <a:lnTo>
                      <a:pt x="54" y="167"/>
                    </a:lnTo>
                    <a:lnTo>
                      <a:pt x="401" y="167"/>
                    </a:lnTo>
                    <a:lnTo>
                      <a:pt x="496" y="125"/>
                    </a:lnTo>
                    <a:lnTo>
                      <a:pt x="517" y="103"/>
                    </a:lnTo>
                    <a:lnTo>
                      <a:pt x="510" y="26"/>
                    </a:lnTo>
                    <a:lnTo>
                      <a:pt x="461" y="0"/>
                    </a:lnTo>
                    <a:lnTo>
                      <a:pt x="128" y="8"/>
                    </a:lnTo>
                    <a:lnTo>
                      <a:pt x="53" y="32"/>
                    </a:lnTo>
                    <a:lnTo>
                      <a:pt x="8" y="68"/>
                    </a:lnTo>
                    <a:lnTo>
                      <a:pt x="0" y="141"/>
                    </a:lnTo>
                    <a:close/>
                  </a:path>
                </a:pathLst>
              </a:custGeom>
              <a:solidFill>
                <a:srgbClr val="FFCC99"/>
              </a:solidFill>
              <a:ln w="9525">
                <a:solidFill>
                  <a:schemeClr val="tx1"/>
                </a:solidFill>
                <a:round/>
                <a:headEnd/>
                <a:tailEnd/>
              </a:ln>
            </p:spPr>
            <p:txBody>
              <a:bodyPr/>
              <a:lstStyle/>
              <a:p>
                <a:endParaRPr lang="zh-CN" altLang="en-US"/>
              </a:p>
            </p:txBody>
          </p:sp>
          <p:sp>
            <p:nvSpPr>
              <p:cNvPr id="77892" name="Freeform 29"/>
              <p:cNvSpPr>
                <a:spLocks/>
              </p:cNvSpPr>
              <p:nvPr/>
            </p:nvSpPr>
            <p:spPr bwMode="auto">
              <a:xfrm>
                <a:off x="1477" y="736"/>
                <a:ext cx="502" cy="67"/>
              </a:xfrm>
              <a:custGeom>
                <a:avLst/>
                <a:gdLst>
                  <a:gd name="T0" fmla="*/ 0 w 502"/>
                  <a:gd name="T1" fmla="*/ 45 h 67"/>
                  <a:gd name="T2" fmla="*/ 53 w 502"/>
                  <a:gd name="T3" fmla="*/ 67 h 67"/>
                  <a:gd name="T4" fmla="*/ 389 w 502"/>
                  <a:gd name="T5" fmla="*/ 59 h 67"/>
                  <a:gd name="T6" fmla="*/ 481 w 502"/>
                  <a:gd name="T7" fmla="*/ 29 h 67"/>
                  <a:gd name="T8" fmla="*/ 502 w 502"/>
                  <a:gd name="T9" fmla="*/ 0 h 67"/>
                  <a:gd name="T10" fmla="*/ 0 60000 65536"/>
                  <a:gd name="T11" fmla="*/ 0 60000 65536"/>
                  <a:gd name="T12" fmla="*/ 0 60000 65536"/>
                  <a:gd name="T13" fmla="*/ 0 60000 65536"/>
                  <a:gd name="T14" fmla="*/ 0 60000 65536"/>
                  <a:gd name="T15" fmla="*/ 0 w 502"/>
                  <a:gd name="T16" fmla="*/ 0 h 67"/>
                  <a:gd name="T17" fmla="*/ 502 w 502"/>
                  <a:gd name="T18" fmla="*/ 67 h 67"/>
                </a:gdLst>
                <a:ahLst/>
                <a:cxnLst>
                  <a:cxn ang="T10">
                    <a:pos x="T0" y="T1"/>
                  </a:cxn>
                  <a:cxn ang="T11">
                    <a:pos x="T2" y="T3"/>
                  </a:cxn>
                  <a:cxn ang="T12">
                    <a:pos x="T4" y="T5"/>
                  </a:cxn>
                  <a:cxn ang="T13">
                    <a:pos x="T6" y="T7"/>
                  </a:cxn>
                  <a:cxn ang="T14">
                    <a:pos x="T8" y="T9"/>
                  </a:cxn>
                </a:cxnLst>
                <a:rect l="T15" t="T16" r="T17" b="T18"/>
                <a:pathLst>
                  <a:path w="502" h="67">
                    <a:moveTo>
                      <a:pt x="0" y="45"/>
                    </a:moveTo>
                    <a:lnTo>
                      <a:pt x="53" y="67"/>
                    </a:lnTo>
                    <a:lnTo>
                      <a:pt x="389" y="59"/>
                    </a:lnTo>
                    <a:lnTo>
                      <a:pt x="481" y="29"/>
                    </a:lnTo>
                    <a:lnTo>
                      <a:pt x="502" y="0"/>
                    </a:lnTo>
                  </a:path>
                </a:pathLst>
              </a:custGeom>
              <a:solidFill>
                <a:srgbClr val="FFCC99"/>
              </a:solidFill>
              <a:ln w="9525">
                <a:solidFill>
                  <a:schemeClr val="tx1"/>
                </a:solidFill>
                <a:round/>
                <a:headEnd/>
                <a:tailEnd/>
              </a:ln>
            </p:spPr>
            <p:txBody>
              <a:bodyPr/>
              <a:lstStyle/>
              <a:p>
                <a:endParaRPr lang="zh-CN" altLang="en-US"/>
              </a:p>
            </p:txBody>
          </p:sp>
          <p:sp>
            <p:nvSpPr>
              <p:cNvPr id="77893" name="Line 30"/>
              <p:cNvSpPr>
                <a:spLocks noChangeShapeType="1"/>
              </p:cNvSpPr>
              <p:nvPr/>
            </p:nvSpPr>
            <p:spPr bwMode="auto">
              <a:xfrm flipH="1">
                <a:off x="1525" y="803"/>
                <a:ext cx="5"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4" name="Line 31"/>
              <p:cNvSpPr>
                <a:spLocks noChangeShapeType="1"/>
              </p:cNvSpPr>
              <p:nvPr/>
            </p:nvSpPr>
            <p:spPr bwMode="auto">
              <a:xfrm>
                <a:off x="1864" y="797"/>
                <a:ext cx="0" cy="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5" name="Line 32"/>
              <p:cNvSpPr>
                <a:spLocks noChangeShapeType="1"/>
              </p:cNvSpPr>
              <p:nvPr/>
            </p:nvSpPr>
            <p:spPr bwMode="auto">
              <a:xfrm>
                <a:off x="1957" y="766"/>
                <a:ext cx="3"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79" name="Group 33"/>
            <p:cNvGrpSpPr>
              <a:grpSpLocks/>
            </p:cNvGrpSpPr>
            <p:nvPr/>
          </p:nvGrpSpPr>
          <p:grpSpPr bwMode="auto">
            <a:xfrm>
              <a:off x="4113" y="500"/>
              <a:ext cx="517" cy="167"/>
              <a:chOff x="1469" y="710"/>
              <a:chExt cx="517" cy="167"/>
            </a:xfrm>
          </p:grpSpPr>
          <p:sp>
            <p:nvSpPr>
              <p:cNvPr id="77886" name="Freeform 34"/>
              <p:cNvSpPr>
                <a:spLocks/>
              </p:cNvSpPr>
              <p:nvPr/>
            </p:nvSpPr>
            <p:spPr bwMode="auto">
              <a:xfrm>
                <a:off x="1469" y="710"/>
                <a:ext cx="517" cy="167"/>
              </a:xfrm>
              <a:custGeom>
                <a:avLst/>
                <a:gdLst>
                  <a:gd name="T0" fmla="*/ 0 w 517"/>
                  <a:gd name="T1" fmla="*/ 141 h 167"/>
                  <a:gd name="T2" fmla="*/ 54 w 517"/>
                  <a:gd name="T3" fmla="*/ 167 h 167"/>
                  <a:gd name="T4" fmla="*/ 401 w 517"/>
                  <a:gd name="T5" fmla="*/ 167 h 167"/>
                  <a:gd name="T6" fmla="*/ 496 w 517"/>
                  <a:gd name="T7" fmla="*/ 125 h 167"/>
                  <a:gd name="T8" fmla="*/ 517 w 517"/>
                  <a:gd name="T9" fmla="*/ 103 h 167"/>
                  <a:gd name="T10" fmla="*/ 510 w 517"/>
                  <a:gd name="T11" fmla="*/ 26 h 167"/>
                  <a:gd name="T12" fmla="*/ 461 w 517"/>
                  <a:gd name="T13" fmla="*/ 0 h 167"/>
                  <a:gd name="T14" fmla="*/ 128 w 517"/>
                  <a:gd name="T15" fmla="*/ 8 h 167"/>
                  <a:gd name="T16" fmla="*/ 53 w 517"/>
                  <a:gd name="T17" fmla="*/ 32 h 167"/>
                  <a:gd name="T18" fmla="*/ 8 w 517"/>
                  <a:gd name="T19" fmla="*/ 68 h 167"/>
                  <a:gd name="T20" fmla="*/ 0 w 517"/>
                  <a:gd name="T21" fmla="*/ 14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
                  <a:gd name="T34" fmla="*/ 0 h 167"/>
                  <a:gd name="T35" fmla="*/ 517 w 517"/>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 h="167">
                    <a:moveTo>
                      <a:pt x="0" y="141"/>
                    </a:moveTo>
                    <a:lnTo>
                      <a:pt x="54" y="167"/>
                    </a:lnTo>
                    <a:lnTo>
                      <a:pt x="401" y="167"/>
                    </a:lnTo>
                    <a:lnTo>
                      <a:pt x="496" y="125"/>
                    </a:lnTo>
                    <a:lnTo>
                      <a:pt x="517" y="103"/>
                    </a:lnTo>
                    <a:lnTo>
                      <a:pt x="510" y="26"/>
                    </a:lnTo>
                    <a:lnTo>
                      <a:pt x="461" y="0"/>
                    </a:lnTo>
                    <a:lnTo>
                      <a:pt x="128" y="8"/>
                    </a:lnTo>
                    <a:lnTo>
                      <a:pt x="53" y="32"/>
                    </a:lnTo>
                    <a:lnTo>
                      <a:pt x="8" y="68"/>
                    </a:lnTo>
                    <a:lnTo>
                      <a:pt x="0" y="141"/>
                    </a:lnTo>
                    <a:close/>
                  </a:path>
                </a:pathLst>
              </a:custGeom>
              <a:solidFill>
                <a:srgbClr val="FFCC99"/>
              </a:solidFill>
              <a:ln w="9525">
                <a:solidFill>
                  <a:schemeClr val="tx1"/>
                </a:solidFill>
                <a:round/>
                <a:headEnd/>
                <a:tailEnd/>
              </a:ln>
            </p:spPr>
            <p:txBody>
              <a:bodyPr/>
              <a:lstStyle/>
              <a:p>
                <a:endParaRPr lang="zh-CN" altLang="en-US"/>
              </a:p>
            </p:txBody>
          </p:sp>
          <p:sp>
            <p:nvSpPr>
              <p:cNvPr id="77887" name="Freeform 35"/>
              <p:cNvSpPr>
                <a:spLocks/>
              </p:cNvSpPr>
              <p:nvPr/>
            </p:nvSpPr>
            <p:spPr bwMode="auto">
              <a:xfrm>
                <a:off x="1477" y="736"/>
                <a:ext cx="502" cy="67"/>
              </a:xfrm>
              <a:custGeom>
                <a:avLst/>
                <a:gdLst>
                  <a:gd name="T0" fmla="*/ 0 w 502"/>
                  <a:gd name="T1" fmla="*/ 45 h 67"/>
                  <a:gd name="T2" fmla="*/ 53 w 502"/>
                  <a:gd name="T3" fmla="*/ 67 h 67"/>
                  <a:gd name="T4" fmla="*/ 389 w 502"/>
                  <a:gd name="T5" fmla="*/ 59 h 67"/>
                  <a:gd name="T6" fmla="*/ 481 w 502"/>
                  <a:gd name="T7" fmla="*/ 29 h 67"/>
                  <a:gd name="T8" fmla="*/ 502 w 502"/>
                  <a:gd name="T9" fmla="*/ 0 h 67"/>
                  <a:gd name="T10" fmla="*/ 0 60000 65536"/>
                  <a:gd name="T11" fmla="*/ 0 60000 65536"/>
                  <a:gd name="T12" fmla="*/ 0 60000 65536"/>
                  <a:gd name="T13" fmla="*/ 0 60000 65536"/>
                  <a:gd name="T14" fmla="*/ 0 60000 65536"/>
                  <a:gd name="T15" fmla="*/ 0 w 502"/>
                  <a:gd name="T16" fmla="*/ 0 h 67"/>
                  <a:gd name="T17" fmla="*/ 502 w 502"/>
                  <a:gd name="T18" fmla="*/ 67 h 67"/>
                </a:gdLst>
                <a:ahLst/>
                <a:cxnLst>
                  <a:cxn ang="T10">
                    <a:pos x="T0" y="T1"/>
                  </a:cxn>
                  <a:cxn ang="T11">
                    <a:pos x="T2" y="T3"/>
                  </a:cxn>
                  <a:cxn ang="T12">
                    <a:pos x="T4" y="T5"/>
                  </a:cxn>
                  <a:cxn ang="T13">
                    <a:pos x="T6" y="T7"/>
                  </a:cxn>
                  <a:cxn ang="T14">
                    <a:pos x="T8" y="T9"/>
                  </a:cxn>
                </a:cxnLst>
                <a:rect l="T15" t="T16" r="T17" b="T18"/>
                <a:pathLst>
                  <a:path w="502" h="67">
                    <a:moveTo>
                      <a:pt x="0" y="45"/>
                    </a:moveTo>
                    <a:lnTo>
                      <a:pt x="53" y="67"/>
                    </a:lnTo>
                    <a:lnTo>
                      <a:pt x="389" y="59"/>
                    </a:lnTo>
                    <a:lnTo>
                      <a:pt x="481" y="29"/>
                    </a:lnTo>
                    <a:lnTo>
                      <a:pt x="502" y="0"/>
                    </a:lnTo>
                  </a:path>
                </a:pathLst>
              </a:custGeom>
              <a:solidFill>
                <a:srgbClr val="FFCC99"/>
              </a:solidFill>
              <a:ln w="9525">
                <a:solidFill>
                  <a:schemeClr val="tx1"/>
                </a:solidFill>
                <a:round/>
                <a:headEnd/>
                <a:tailEnd/>
              </a:ln>
            </p:spPr>
            <p:txBody>
              <a:bodyPr/>
              <a:lstStyle/>
              <a:p>
                <a:endParaRPr lang="zh-CN" altLang="en-US"/>
              </a:p>
            </p:txBody>
          </p:sp>
          <p:sp>
            <p:nvSpPr>
              <p:cNvPr id="77888" name="Line 36"/>
              <p:cNvSpPr>
                <a:spLocks noChangeShapeType="1"/>
              </p:cNvSpPr>
              <p:nvPr/>
            </p:nvSpPr>
            <p:spPr bwMode="auto">
              <a:xfrm flipH="1">
                <a:off x="1525" y="803"/>
                <a:ext cx="5"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9" name="Line 37"/>
              <p:cNvSpPr>
                <a:spLocks noChangeShapeType="1"/>
              </p:cNvSpPr>
              <p:nvPr/>
            </p:nvSpPr>
            <p:spPr bwMode="auto">
              <a:xfrm>
                <a:off x="1864" y="797"/>
                <a:ext cx="0" cy="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0" name="Line 38"/>
              <p:cNvSpPr>
                <a:spLocks noChangeShapeType="1"/>
              </p:cNvSpPr>
              <p:nvPr/>
            </p:nvSpPr>
            <p:spPr bwMode="auto">
              <a:xfrm>
                <a:off x="1957" y="766"/>
                <a:ext cx="3"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80" name="Group 39"/>
            <p:cNvGrpSpPr>
              <a:grpSpLocks/>
            </p:cNvGrpSpPr>
            <p:nvPr/>
          </p:nvGrpSpPr>
          <p:grpSpPr bwMode="auto">
            <a:xfrm>
              <a:off x="3806" y="517"/>
              <a:ext cx="325" cy="451"/>
              <a:chOff x="3806" y="517"/>
              <a:chExt cx="325" cy="451"/>
            </a:xfrm>
          </p:grpSpPr>
          <p:sp>
            <p:nvSpPr>
              <p:cNvPr id="77881" name="Freeform 40"/>
              <p:cNvSpPr>
                <a:spLocks/>
              </p:cNvSpPr>
              <p:nvPr/>
            </p:nvSpPr>
            <p:spPr bwMode="auto">
              <a:xfrm>
                <a:off x="3806" y="517"/>
                <a:ext cx="325" cy="451"/>
              </a:xfrm>
              <a:custGeom>
                <a:avLst/>
                <a:gdLst>
                  <a:gd name="T0" fmla="*/ 1 w 325"/>
                  <a:gd name="T1" fmla="*/ 392 h 451"/>
                  <a:gd name="T2" fmla="*/ 225 w 325"/>
                  <a:gd name="T3" fmla="*/ 24 h 451"/>
                  <a:gd name="T4" fmla="*/ 272 w 325"/>
                  <a:gd name="T5" fmla="*/ 0 h 451"/>
                  <a:gd name="T6" fmla="*/ 318 w 325"/>
                  <a:gd name="T7" fmla="*/ 29 h 451"/>
                  <a:gd name="T8" fmla="*/ 325 w 325"/>
                  <a:gd name="T9" fmla="*/ 53 h 451"/>
                  <a:gd name="T10" fmla="*/ 297 w 325"/>
                  <a:gd name="T11" fmla="*/ 126 h 451"/>
                  <a:gd name="T12" fmla="*/ 104 w 325"/>
                  <a:gd name="T13" fmla="*/ 427 h 451"/>
                  <a:gd name="T14" fmla="*/ 59 w 325"/>
                  <a:gd name="T15" fmla="*/ 451 h 451"/>
                  <a:gd name="T16" fmla="*/ 0 w 325"/>
                  <a:gd name="T17" fmla="*/ 430 h 451"/>
                  <a:gd name="T18" fmla="*/ 1 w 325"/>
                  <a:gd name="T19" fmla="*/ 392 h 4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5"/>
                  <a:gd name="T31" fmla="*/ 0 h 451"/>
                  <a:gd name="T32" fmla="*/ 325 w 325"/>
                  <a:gd name="T33" fmla="*/ 451 h 4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5" h="451">
                    <a:moveTo>
                      <a:pt x="1" y="392"/>
                    </a:moveTo>
                    <a:lnTo>
                      <a:pt x="225" y="24"/>
                    </a:lnTo>
                    <a:lnTo>
                      <a:pt x="272" y="0"/>
                    </a:lnTo>
                    <a:lnTo>
                      <a:pt x="318" y="29"/>
                    </a:lnTo>
                    <a:lnTo>
                      <a:pt x="325" y="53"/>
                    </a:lnTo>
                    <a:lnTo>
                      <a:pt x="297" y="126"/>
                    </a:lnTo>
                    <a:lnTo>
                      <a:pt x="104" y="427"/>
                    </a:lnTo>
                    <a:lnTo>
                      <a:pt x="59" y="451"/>
                    </a:lnTo>
                    <a:lnTo>
                      <a:pt x="0" y="430"/>
                    </a:lnTo>
                    <a:lnTo>
                      <a:pt x="1" y="392"/>
                    </a:lnTo>
                    <a:close/>
                  </a:path>
                </a:pathLst>
              </a:custGeom>
              <a:solidFill>
                <a:srgbClr val="FFCC99"/>
              </a:solidFill>
              <a:ln w="9525">
                <a:solidFill>
                  <a:schemeClr val="tx1"/>
                </a:solidFill>
                <a:round/>
                <a:headEnd/>
                <a:tailEnd/>
              </a:ln>
            </p:spPr>
            <p:txBody>
              <a:bodyPr/>
              <a:lstStyle/>
              <a:p>
                <a:endParaRPr lang="zh-CN" altLang="en-US"/>
              </a:p>
            </p:txBody>
          </p:sp>
          <p:sp>
            <p:nvSpPr>
              <p:cNvPr id="77882" name="Line 41"/>
              <p:cNvSpPr>
                <a:spLocks noChangeShapeType="1"/>
              </p:cNvSpPr>
              <p:nvPr/>
            </p:nvSpPr>
            <p:spPr bwMode="auto">
              <a:xfrm flipV="1">
                <a:off x="4094" y="558"/>
                <a:ext cx="30" cy="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3" name="Line 42"/>
              <p:cNvSpPr>
                <a:spLocks noChangeShapeType="1"/>
              </p:cNvSpPr>
              <p:nvPr/>
            </p:nvSpPr>
            <p:spPr bwMode="auto">
              <a:xfrm>
                <a:off x="3868" y="939"/>
                <a:ext cx="0" cy="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4" name="Freeform 43"/>
              <p:cNvSpPr>
                <a:spLocks/>
              </p:cNvSpPr>
              <p:nvPr/>
            </p:nvSpPr>
            <p:spPr bwMode="auto">
              <a:xfrm>
                <a:off x="3806" y="542"/>
                <a:ext cx="291" cy="400"/>
              </a:xfrm>
              <a:custGeom>
                <a:avLst/>
                <a:gdLst>
                  <a:gd name="T0" fmla="*/ 227 w 291"/>
                  <a:gd name="T1" fmla="*/ 0 h 400"/>
                  <a:gd name="T2" fmla="*/ 291 w 291"/>
                  <a:gd name="T3" fmla="*/ 37 h 400"/>
                  <a:gd name="T4" fmla="*/ 61 w 291"/>
                  <a:gd name="T5" fmla="*/ 400 h 400"/>
                  <a:gd name="T6" fmla="*/ 0 w 291"/>
                  <a:gd name="T7" fmla="*/ 369 h 400"/>
                  <a:gd name="T8" fmla="*/ 0 60000 65536"/>
                  <a:gd name="T9" fmla="*/ 0 60000 65536"/>
                  <a:gd name="T10" fmla="*/ 0 60000 65536"/>
                  <a:gd name="T11" fmla="*/ 0 60000 65536"/>
                  <a:gd name="T12" fmla="*/ 0 w 291"/>
                  <a:gd name="T13" fmla="*/ 0 h 400"/>
                  <a:gd name="T14" fmla="*/ 291 w 291"/>
                  <a:gd name="T15" fmla="*/ 400 h 400"/>
                </a:gdLst>
                <a:ahLst/>
                <a:cxnLst>
                  <a:cxn ang="T8">
                    <a:pos x="T0" y="T1"/>
                  </a:cxn>
                  <a:cxn ang="T9">
                    <a:pos x="T2" y="T3"/>
                  </a:cxn>
                  <a:cxn ang="T10">
                    <a:pos x="T4" y="T5"/>
                  </a:cxn>
                  <a:cxn ang="T11">
                    <a:pos x="T6" y="T7"/>
                  </a:cxn>
                </a:cxnLst>
                <a:rect l="T12" t="T13" r="T14" b="T15"/>
                <a:pathLst>
                  <a:path w="291" h="400">
                    <a:moveTo>
                      <a:pt x="227" y="0"/>
                    </a:moveTo>
                    <a:lnTo>
                      <a:pt x="291" y="37"/>
                    </a:lnTo>
                    <a:lnTo>
                      <a:pt x="61" y="400"/>
                    </a:lnTo>
                    <a:lnTo>
                      <a:pt x="0" y="369"/>
                    </a:lnTo>
                  </a:path>
                </a:pathLst>
              </a:custGeom>
              <a:solidFill>
                <a:srgbClr val="FFCC99"/>
              </a:solidFill>
              <a:ln w="9525">
                <a:solidFill>
                  <a:schemeClr val="tx1"/>
                </a:solidFill>
                <a:round/>
                <a:headEnd/>
                <a:tailEnd/>
              </a:ln>
            </p:spPr>
            <p:txBody>
              <a:bodyPr/>
              <a:lstStyle/>
              <a:p>
                <a:endParaRPr lang="zh-CN" altLang="en-US"/>
              </a:p>
            </p:txBody>
          </p:sp>
          <p:sp>
            <p:nvSpPr>
              <p:cNvPr id="77885" name="Freeform 44"/>
              <p:cNvSpPr>
                <a:spLocks/>
              </p:cNvSpPr>
              <p:nvPr/>
            </p:nvSpPr>
            <p:spPr bwMode="auto">
              <a:xfrm>
                <a:off x="3806" y="542"/>
                <a:ext cx="224" cy="366"/>
              </a:xfrm>
              <a:custGeom>
                <a:avLst/>
                <a:gdLst>
                  <a:gd name="T0" fmla="*/ 224 w 224"/>
                  <a:gd name="T1" fmla="*/ 0 h 366"/>
                  <a:gd name="T2" fmla="*/ 0 w 224"/>
                  <a:gd name="T3" fmla="*/ 366 h 366"/>
                  <a:gd name="T4" fmla="*/ 0 60000 65536"/>
                  <a:gd name="T5" fmla="*/ 0 60000 65536"/>
                  <a:gd name="T6" fmla="*/ 0 w 224"/>
                  <a:gd name="T7" fmla="*/ 0 h 366"/>
                  <a:gd name="T8" fmla="*/ 224 w 224"/>
                  <a:gd name="T9" fmla="*/ 366 h 366"/>
                </a:gdLst>
                <a:ahLst/>
                <a:cxnLst>
                  <a:cxn ang="T4">
                    <a:pos x="T0" y="T1"/>
                  </a:cxn>
                  <a:cxn ang="T5">
                    <a:pos x="T2" y="T3"/>
                  </a:cxn>
                </a:cxnLst>
                <a:rect l="T6" t="T7" r="T8" b="T9"/>
                <a:pathLst>
                  <a:path w="224" h="366">
                    <a:moveTo>
                      <a:pt x="224" y="0"/>
                    </a:moveTo>
                    <a:lnTo>
                      <a:pt x="0" y="366"/>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414189" name="Rectangle 45"/>
          <p:cNvSpPr>
            <a:spLocks noChangeArrowheads="1"/>
          </p:cNvSpPr>
          <p:nvPr/>
        </p:nvSpPr>
        <p:spPr bwMode="auto">
          <a:xfrm>
            <a:off x="5589588" y="2838017"/>
            <a:ext cx="2889250" cy="227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gn="ctr">
              <a:lnSpc>
                <a:spcPct val="100000"/>
              </a:lnSpc>
              <a:spcBef>
                <a:spcPct val="0"/>
              </a:spcBef>
              <a:spcAft>
                <a:spcPct val="25000"/>
              </a:spcAft>
            </a:pPr>
            <a:r>
              <a:rPr kumimoji="1" lang="zh-CN" altLang="en-US" sz="2200" b="1" dirty="0">
                <a:solidFill>
                  <a:srgbClr val="000066"/>
                </a:solidFill>
                <a:latin typeface="幼圆" pitchFamily="49" charset="-122"/>
                <a:ea typeface="幼圆" pitchFamily="49" charset="-122"/>
              </a:rPr>
              <a:t>海水中沉积</a:t>
            </a:r>
          </a:p>
          <a:p>
            <a:pPr algn="ctr">
              <a:lnSpc>
                <a:spcPct val="100000"/>
              </a:lnSpc>
              <a:spcBef>
                <a:spcPct val="50000"/>
              </a:spcBef>
              <a:spcAft>
                <a:spcPct val="0"/>
              </a:spcAft>
            </a:pPr>
            <a:r>
              <a:rPr kumimoji="1" lang="zh-CN" altLang="en-US" sz="2200" b="1" dirty="0">
                <a:solidFill>
                  <a:srgbClr val="000066"/>
                </a:solidFill>
                <a:latin typeface="幼圆" pitchFamily="49" charset="-122"/>
                <a:ea typeface="幼圆" pitchFamily="49" charset="-122"/>
              </a:rPr>
              <a:t>表面力、胶结力</a:t>
            </a:r>
          </a:p>
          <a:p>
            <a:pPr algn="ctr">
              <a:lnSpc>
                <a:spcPct val="100000"/>
              </a:lnSpc>
              <a:spcBef>
                <a:spcPct val="0"/>
              </a:spcBef>
              <a:spcAft>
                <a:spcPct val="25000"/>
              </a:spcAft>
            </a:pPr>
            <a:r>
              <a:rPr kumimoji="1" lang="zh-CN" altLang="en-US" sz="2200" b="1" dirty="0">
                <a:solidFill>
                  <a:srgbClr val="000066"/>
                </a:solidFill>
                <a:latin typeface="幼圆" pitchFamily="49" charset="-122"/>
                <a:ea typeface="幼圆" pitchFamily="49" charset="-122"/>
              </a:rPr>
              <a:t>（斥力减小引力增加</a:t>
            </a:r>
            <a:r>
              <a:rPr kumimoji="1" lang="en-US" altLang="zh-CN" sz="2200" b="1" dirty="0">
                <a:solidFill>
                  <a:srgbClr val="000066"/>
                </a:solidFill>
                <a:latin typeface="幼圆" pitchFamily="49" charset="-122"/>
                <a:ea typeface="幼圆" pitchFamily="49" charset="-122"/>
              </a:rPr>
              <a:t>)</a:t>
            </a:r>
          </a:p>
          <a:p>
            <a:pPr algn="ctr">
              <a:lnSpc>
                <a:spcPct val="100000"/>
              </a:lnSpc>
              <a:spcBef>
                <a:spcPct val="50000"/>
              </a:spcBef>
              <a:spcAft>
                <a:spcPct val="0"/>
              </a:spcAft>
            </a:pPr>
            <a:r>
              <a:rPr kumimoji="1" lang="zh-CN" altLang="en-US" sz="2200" b="1" dirty="0">
                <a:solidFill>
                  <a:srgbClr val="000066"/>
                </a:solidFill>
                <a:latin typeface="幼圆" pitchFamily="49" charset="-122"/>
                <a:ea typeface="幼圆" pitchFamily="49" charset="-122"/>
              </a:rPr>
              <a:t>边、角与面</a:t>
            </a:r>
          </a:p>
          <a:p>
            <a:pPr algn="ctr">
              <a:lnSpc>
                <a:spcPct val="100000"/>
              </a:lnSpc>
              <a:spcBef>
                <a:spcPct val="0"/>
              </a:spcBef>
              <a:spcAft>
                <a:spcPct val="0"/>
              </a:spcAft>
            </a:pPr>
            <a:r>
              <a:rPr kumimoji="1" lang="zh-CN" altLang="en-US" sz="2200" b="1" dirty="0">
                <a:solidFill>
                  <a:srgbClr val="000066"/>
                </a:solidFill>
                <a:ea typeface="幼圆" pitchFamily="49" charset="-122"/>
              </a:rPr>
              <a:t>边、角与边</a:t>
            </a:r>
          </a:p>
        </p:txBody>
      </p:sp>
      <p:sp>
        <p:nvSpPr>
          <p:cNvPr id="1414190" name="Text Box 46"/>
          <p:cNvSpPr txBox="1">
            <a:spLocks noChangeArrowheads="1"/>
          </p:cNvSpPr>
          <p:nvPr/>
        </p:nvSpPr>
        <p:spPr bwMode="auto">
          <a:xfrm>
            <a:off x="863600" y="1674813"/>
            <a:ext cx="1103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dirty="0">
                <a:solidFill>
                  <a:srgbClr val="000066"/>
                </a:solidFill>
                <a:ea typeface="幼圆" pitchFamily="49" charset="-122"/>
              </a:rPr>
              <a:t>示意图</a:t>
            </a:r>
          </a:p>
        </p:txBody>
      </p:sp>
      <p:grpSp>
        <p:nvGrpSpPr>
          <p:cNvPr id="9" name="Group 48"/>
          <p:cNvGrpSpPr>
            <a:grpSpLocks/>
          </p:cNvGrpSpPr>
          <p:nvPr/>
        </p:nvGrpSpPr>
        <p:grpSpPr bwMode="auto">
          <a:xfrm>
            <a:off x="2836863" y="1206500"/>
            <a:ext cx="1881187" cy="1439863"/>
            <a:chOff x="1787" y="610"/>
            <a:chExt cx="1185" cy="907"/>
          </a:xfrm>
        </p:grpSpPr>
        <p:grpSp>
          <p:nvGrpSpPr>
            <p:cNvPr id="77837" name="Group 49"/>
            <p:cNvGrpSpPr>
              <a:grpSpLocks/>
            </p:cNvGrpSpPr>
            <p:nvPr/>
          </p:nvGrpSpPr>
          <p:grpSpPr bwMode="auto">
            <a:xfrm>
              <a:off x="1892" y="942"/>
              <a:ext cx="517" cy="167"/>
              <a:chOff x="1469" y="710"/>
              <a:chExt cx="517" cy="167"/>
            </a:xfrm>
          </p:grpSpPr>
          <p:sp>
            <p:nvSpPr>
              <p:cNvPr id="77869" name="Freeform 50"/>
              <p:cNvSpPr>
                <a:spLocks/>
              </p:cNvSpPr>
              <p:nvPr/>
            </p:nvSpPr>
            <p:spPr bwMode="auto">
              <a:xfrm>
                <a:off x="1469" y="710"/>
                <a:ext cx="517" cy="167"/>
              </a:xfrm>
              <a:custGeom>
                <a:avLst/>
                <a:gdLst>
                  <a:gd name="T0" fmla="*/ 0 w 517"/>
                  <a:gd name="T1" fmla="*/ 141 h 167"/>
                  <a:gd name="T2" fmla="*/ 54 w 517"/>
                  <a:gd name="T3" fmla="*/ 167 h 167"/>
                  <a:gd name="T4" fmla="*/ 401 w 517"/>
                  <a:gd name="T5" fmla="*/ 167 h 167"/>
                  <a:gd name="T6" fmla="*/ 496 w 517"/>
                  <a:gd name="T7" fmla="*/ 125 h 167"/>
                  <a:gd name="T8" fmla="*/ 517 w 517"/>
                  <a:gd name="T9" fmla="*/ 103 h 167"/>
                  <a:gd name="T10" fmla="*/ 510 w 517"/>
                  <a:gd name="T11" fmla="*/ 26 h 167"/>
                  <a:gd name="T12" fmla="*/ 461 w 517"/>
                  <a:gd name="T13" fmla="*/ 0 h 167"/>
                  <a:gd name="T14" fmla="*/ 128 w 517"/>
                  <a:gd name="T15" fmla="*/ 8 h 167"/>
                  <a:gd name="T16" fmla="*/ 53 w 517"/>
                  <a:gd name="T17" fmla="*/ 32 h 167"/>
                  <a:gd name="T18" fmla="*/ 8 w 517"/>
                  <a:gd name="T19" fmla="*/ 68 h 167"/>
                  <a:gd name="T20" fmla="*/ 0 w 517"/>
                  <a:gd name="T21" fmla="*/ 14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
                  <a:gd name="T34" fmla="*/ 0 h 167"/>
                  <a:gd name="T35" fmla="*/ 517 w 517"/>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 h="167">
                    <a:moveTo>
                      <a:pt x="0" y="141"/>
                    </a:moveTo>
                    <a:lnTo>
                      <a:pt x="54" y="167"/>
                    </a:lnTo>
                    <a:lnTo>
                      <a:pt x="401" y="167"/>
                    </a:lnTo>
                    <a:lnTo>
                      <a:pt x="496" y="125"/>
                    </a:lnTo>
                    <a:lnTo>
                      <a:pt x="517" y="103"/>
                    </a:lnTo>
                    <a:lnTo>
                      <a:pt x="510" y="26"/>
                    </a:lnTo>
                    <a:lnTo>
                      <a:pt x="461" y="0"/>
                    </a:lnTo>
                    <a:lnTo>
                      <a:pt x="128" y="8"/>
                    </a:lnTo>
                    <a:lnTo>
                      <a:pt x="53" y="32"/>
                    </a:lnTo>
                    <a:lnTo>
                      <a:pt x="8" y="68"/>
                    </a:lnTo>
                    <a:lnTo>
                      <a:pt x="0" y="141"/>
                    </a:lnTo>
                    <a:close/>
                  </a:path>
                </a:pathLst>
              </a:custGeom>
              <a:solidFill>
                <a:srgbClr val="FFCC99"/>
              </a:solidFill>
              <a:ln w="9525">
                <a:solidFill>
                  <a:schemeClr val="tx1"/>
                </a:solidFill>
                <a:round/>
                <a:headEnd/>
                <a:tailEnd/>
              </a:ln>
            </p:spPr>
            <p:txBody>
              <a:bodyPr/>
              <a:lstStyle/>
              <a:p>
                <a:endParaRPr lang="zh-CN" altLang="en-US"/>
              </a:p>
            </p:txBody>
          </p:sp>
          <p:sp>
            <p:nvSpPr>
              <p:cNvPr id="77870" name="Freeform 51"/>
              <p:cNvSpPr>
                <a:spLocks/>
              </p:cNvSpPr>
              <p:nvPr/>
            </p:nvSpPr>
            <p:spPr bwMode="auto">
              <a:xfrm>
                <a:off x="1477" y="736"/>
                <a:ext cx="502" cy="67"/>
              </a:xfrm>
              <a:custGeom>
                <a:avLst/>
                <a:gdLst>
                  <a:gd name="T0" fmla="*/ 0 w 502"/>
                  <a:gd name="T1" fmla="*/ 45 h 67"/>
                  <a:gd name="T2" fmla="*/ 53 w 502"/>
                  <a:gd name="T3" fmla="*/ 67 h 67"/>
                  <a:gd name="T4" fmla="*/ 389 w 502"/>
                  <a:gd name="T5" fmla="*/ 59 h 67"/>
                  <a:gd name="T6" fmla="*/ 481 w 502"/>
                  <a:gd name="T7" fmla="*/ 29 h 67"/>
                  <a:gd name="T8" fmla="*/ 502 w 502"/>
                  <a:gd name="T9" fmla="*/ 0 h 67"/>
                  <a:gd name="T10" fmla="*/ 0 60000 65536"/>
                  <a:gd name="T11" fmla="*/ 0 60000 65536"/>
                  <a:gd name="T12" fmla="*/ 0 60000 65536"/>
                  <a:gd name="T13" fmla="*/ 0 60000 65536"/>
                  <a:gd name="T14" fmla="*/ 0 60000 65536"/>
                  <a:gd name="T15" fmla="*/ 0 w 502"/>
                  <a:gd name="T16" fmla="*/ 0 h 67"/>
                  <a:gd name="T17" fmla="*/ 502 w 502"/>
                  <a:gd name="T18" fmla="*/ 67 h 67"/>
                </a:gdLst>
                <a:ahLst/>
                <a:cxnLst>
                  <a:cxn ang="T10">
                    <a:pos x="T0" y="T1"/>
                  </a:cxn>
                  <a:cxn ang="T11">
                    <a:pos x="T2" y="T3"/>
                  </a:cxn>
                  <a:cxn ang="T12">
                    <a:pos x="T4" y="T5"/>
                  </a:cxn>
                  <a:cxn ang="T13">
                    <a:pos x="T6" y="T7"/>
                  </a:cxn>
                  <a:cxn ang="T14">
                    <a:pos x="T8" y="T9"/>
                  </a:cxn>
                </a:cxnLst>
                <a:rect l="T15" t="T16" r="T17" b="T18"/>
                <a:pathLst>
                  <a:path w="502" h="67">
                    <a:moveTo>
                      <a:pt x="0" y="45"/>
                    </a:moveTo>
                    <a:lnTo>
                      <a:pt x="53" y="67"/>
                    </a:lnTo>
                    <a:lnTo>
                      <a:pt x="389" y="59"/>
                    </a:lnTo>
                    <a:lnTo>
                      <a:pt x="481" y="29"/>
                    </a:lnTo>
                    <a:lnTo>
                      <a:pt x="502" y="0"/>
                    </a:lnTo>
                  </a:path>
                </a:pathLst>
              </a:custGeom>
              <a:solidFill>
                <a:srgbClr val="FFCC99"/>
              </a:solidFill>
              <a:ln w="9525">
                <a:solidFill>
                  <a:schemeClr val="tx1"/>
                </a:solidFill>
                <a:round/>
                <a:headEnd/>
                <a:tailEnd/>
              </a:ln>
            </p:spPr>
            <p:txBody>
              <a:bodyPr/>
              <a:lstStyle/>
              <a:p>
                <a:endParaRPr lang="zh-CN" altLang="en-US"/>
              </a:p>
            </p:txBody>
          </p:sp>
          <p:sp>
            <p:nvSpPr>
              <p:cNvPr id="77871" name="Line 52"/>
              <p:cNvSpPr>
                <a:spLocks noChangeShapeType="1"/>
              </p:cNvSpPr>
              <p:nvPr/>
            </p:nvSpPr>
            <p:spPr bwMode="auto">
              <a:xfrm flipH="1">
                <a:off x="1525" y="803"/>
                <a:ext cx="5"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2" name="Line 53"/>
              <p:cNvSpPr>
                <a:spLocks noChangeShapeType="1"/>
              </p:cNvSpPr>
              <p:nvPr/>
            </p:nvSpPr>
            <p:spPr bwMode="auto">
              <a:xfrm>
                <a:off x="1864" y="797"/>
                <a:ext cx="0" cy="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3" name="Line 54"/>
              <p:cNvSpPr>
                <a:spLocks noChangeShapeType="1"/>
              </p:cNvSpPr>
              <p:nvPr/>
            </p:nvSpPr>
            <p:spPr bwMode="auto">
              <a:xfrm>
                <a:off x="1957" y="766"/>
                <a:ext cx="3"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38" name="Group 55"/>
            <p:cNvGrpSpPr>
              <a:grpSpLocks/>
            </p:cNvGrpSpPr>
            <p:nvPr/>
          </p:nvGrpSpPr>
          <p:grpSpPr bwMode="auto">
            <a:xfrm>
              <a:off x="2455" y="935"/>
              <a:ext cx="517" cy="167"/>
              <a:chOff x="1469" y="710"/>
              <a:chExt cx="517" cy="167"/>
            </a:xfrm>
          </p:grpSpPr>
          <p:sp>
            <p:nvSpPr>
              <p:cNvPr id="77864" name="Freeform 56"/>
              <p:cNvSpPr>
                <a:spLocks/>
              </p:cNvSpPr>
              <p:nvPr/>
            </p:nvSpPr>
            <p:spPr bwMode="auto">
              <a:xfrm>
                <a:off x="1469" y="710"/>
                <a:ext cx="517" cy="167"/>
              </a:xfrm>
              <a:custGeom>
                <a:avLst/>
                <a:gdLst>
                  <a:gd name="T0" fmla="*/ 0 w 517"/>
                  <a:gd name="T1" fmla="*/ 141 h 167"/>
                  <a:gd name="T2" fmla="*/ 54 w 517"/>
                  <a:gd name="T3" fmla="*/ 167 h 167"/>
                  <a:gd name="T4" fmla="*/ 401 w 517"/>
                  <a:gd name="T5" fmla="*/ 167 h 167"/>
                  <a:gd name="T6" fmla="*/ 496 w 517"/>
                  <a:gd name="T7" fmla="*/ 125 h 167"/>
                  <a:gd name="T8" fmla="*/ 517 w 517"/>
                  <a:gd name="T9" fmla="*/ 103 h 167"/>
                  <a:gd name="T10" fmla="*/ 510 w 517"/>
                  <a:gd name="T11" fmla="*/ 26 h 167"/>
                  <a:gd name="T12" fmla="*/ 461 w 517"/>
                  <a:gd name="T13" fmla="*/ 0 h 167"/>
                  <a:gd name="T14" fmla="*/ 128 w 517"/>
                  <a:gd name="T15" fmla="*/ 8 h 167"/>
                  <a:gd name="T16" fmla="*/ 53 w 517"/>
                  <a:gd name="T17" fmla="*/ 32 h 167"/>
                  <a:gd name="T18" fmla="*/ 8 w 517"/>
                  <a:gd name="T19" fmla="*/ 68 h 167"/>
                  <a:gd name="T20" fmla="*/ 0 w 517"/>
                  <a:gd name="T21" fmla="*/ 14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
                  <a:gd name="T34" fmla="*/ 0 h 167"/>
                  <a:gd name="T35" fmla="*/ 517 w 517"/>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 h="167">
                    <a:moveTo>
                      <a:pt x="0" y="141"/>
                    </a:moveTo>
                    <a:lnTo>
                      <a:pt x="54" y="167"/>
                    </a:lnTo>
                    <a:lnTo>
                      <a:pt x="401" y="167"/>
                    </a:lnTo>
                    <a:lnTo>
                      <a:pt x="496" y="125"/>
                    </a:lnTo>
                    <a:lnTo>
                      <a:pt x="517" y="103"/>
                    </a:lnTo>
                    <a:lnTo>
                      <a:pt x="510" y="26"/>
                    </a:lnTo>
                    <a:lnTo>
                      <a:pt x="461" y="0"/>
                    </a:lnTo>
                    <a:lnTo>
                      <a:pt x="128" y="8"/>
                    </a:lnTo>
                    <a:lnTo>
                      <a:pt x="53" y="32"/>
                    </a:lnTo>
                    <a:lnTo>
                      <a:pt x="8" y="68"/>
                    </a:lnTo>
                    <a:lnTo>
                      <a:pt x="0" y="141"/>
                    </a:lnTo>
                    <a:close/>
                  </a:path>
                </a:pathLst>
              </a:custGeom>
              <a:solidFill>
                <a:srgbClr val="FFCC99"/>
              </a:solidFill>
              <a:ln w="9525">
                <a:solidFill>
                  <a:schemeClr val="tx1"/>
                </a:solidFill>
                <a:round/>
                <a:headEnd/>
                <a:tailEnd/>
              </a:ln>
            </p:spPr>
            <p:txBody>
              <a:bodyPr/>
              <a:lstStyle/>
              <a:p>
                <a:endParaRPr lang="zh-CN" altLang="en-US"/>
              </a:p>
            </p:txBody>
          </p:sp>
          <p:sp>
            <p:nvSpPr>
              <p:cNvPr id="77865" name="Freeform 57"/>
              <p:cNvSpPr>
                <a:spLocks/>
              </p:cNvSpPr>
              <p:nvPr/>
            </p:nvSpPr>
            <p:spPr bwMode="auto">
              <a:xfrm>
                <a:off x="1477" y="736"/>
                <a:ext cx="502" cy="67"/>
              </a:xfrm>
              <a:custGeom>
                <a:avLst/>
                <a:gdLst>
                  <a:gd name="T0" fmla="*/ 0 w 502"/>
                  <a:gd name="T1" fmla="*/ 45 h 67"/>
                  <a:gd name="T2" fmla="*/ 53 w 502"/>
                  <a:gd name="T3" fmla="*/ 67 h 67"/>
                  <a:gd name="T4" fmla="*/ 389 w 502"/>
                  <a:gd name="T5" fmla="*/ 59 h 67"/>
                  <a:gd name="T6" fmla="*/ 481 w 502"/>
                  <a:gd name="T7" fmla="*/ 29 h 67"/>
                  <a:gd name="T8" fmla="*/ 502 w 502"/>
                  <a:gd name="T9" fmla="*/ 0 h 67"/>
                  <a:gd name="T10" fmla="*/ 0 60000 65536"/>
                  <a:gd name="T11" fmla="*/ 0 60000 65536"/>
                  <a:gd name="T12" fmla="*/ 0 60000 65536"/>
                  <a:gd name="T13" fmla="*/ 0 60000 65536"/>
                  <a:gd name="T14" fmla="*/ 0 60000 65536"/>
                  <a:gd name="T15" fmla="*/ 0 w 502"/>
                  <a:gd name="T16" fmla="*/ 0 h 67"/>
                  <a:gd name="T17" fmla="*/ 502 w 502"/>
                  <a:gd name="T18" fmla="*/ 67 h 67"/>
                </a:gdLst>
                <a:ahLst/>
                <a:cxnLst>
                  <a:cxn ang="T10">
                    <a:pos x="T0" y="T1"/>
                  </a:cxn>
                  <a:cxn ang="T11">
                    <a:pos x="T2" y="T3"/>
                  </a:cxn>
                  <a:cxn ang="T12">
                    <a:pos x="T4" y="T5"/>
                  </a:cxn>
                  <a:cxn ang="T13">
                    <a:pos x="T6" y="T7"/>
                  </a:cxn>
                  <a:cxn ang="T14">
                    <a:pos x="T8" y="T9"/>
                  </a:cxn>
                </a:cxnLst>
                <a:rect l="T15" t="T16" r="T17" b="T18"/>
                <a:pathLst>
                  <a:path w="502" h="67">
                    <a:moveTo>
                      <a:pt x="0" y="45"/>
                    </a:moveTo>
                    <a:lnTo>
                      <a:pt x="53" y="67"/>
                    </a:lnTo>
                    <a:lnTo>
                      <a:pt x="389" y="59"/>
                    </a:lnTo>
                    <a:lnTo>
                      <a:pt x="481" y="29"/>
                    </a:lnTo>
                    <a:lnTo>
                      <a:pt x="502" y="0"/>
                    </a:lnTo>
                  </a:path>
                </a:pathLst>
              </a:custGeom>
              <a:solidFill>
                <a:srgbClr val="FFCC99"/>
              </a:solidFill>
              <a:ln w="9525">
                <a:solidFill>
                  <a:schemeClr val="tx1"/>
                </a:solidFill>
                <a:round/>
                <a:headEnd/>
                <a:tailEnd/>
              </a:ln>
            </p:spPr>
            <p:txBody>
              <a:bodyPr/>
              <a:lstStyle/>
              <a:p>
                <a:endParaRPr lang="zh-CN" altLang="en-US"/>
              </a:p>
            </p:txBody>
          </p:sp>
          <p:sp>
            <p:nvSpPr>
              <p:cNvPr id="77866" name="Line 58"/>
              <p:cNvSpPr>
                <a:spLocks noChangeShapeType="1"/>
              </p:cNvSpPr>
              <p:nvPr/>
            </p:nvSpPr>
            <p:spPr bwMode="auto">
              <a:xfrm flipH="1">
                <a:off x="1525" y="803"/>
                <a:ext cx="5"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7" name="Line 59"/>
              <p:cNvSpPr>
                <a:spLocks noChangeShapeType="1"/>
              </p:cNvSpPr>
              <p:nvPr/>
            </p:nvSpPr>
            <p:spPr bwMode="auto">
              <a:xfrm>
                <a:off x="1864" y="797"/>
                <a:ext cx="0" cy="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8" name="Line 60"/>
              <p:cNvSpPr>
                <a:spLocks noChangeShapeType="1"/>
              </p:cNvSpPr>
              <p:nvPr/>
            </p:nvSpPr>
            <p:spPr bwMode="auto">
              <a:xfrm>
                <a:off x="1957" y="766"/>
                <a:ext cx="3"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39" name="Group 61"/>
            <p:cNvGrpSpPr>
              <a:grpSpLocks/>
            </p:cNvGrpSpPr>
            <p:nvPr/>
          </p:nvGrpSpPr>
          <p:grpSpPr bwMode="auto">
            <a:xfrm>
              <a:off x="2092" y="831"/>
              <a:ext cx="578" cy="167"/>
              <a:chOff x="1469" y="710"/>
              <a:chExt cx="517" cy="167"/>
            </a:xfrm>
          </p:grpSpPr>
          <p:sp>
            <p:nvSpPr>
              <p:cNvPr id="77859" name="Freeform 62"/>
              <p:cNvSpPr>
                <a:spLocks/>
              </p:cNvSpPr>
              <p:nvPr/>
            </p:nvSpPr>
            <p:spPr bwMode="auto">
              <a:xfrm>
                <a:off x="1469" y="710"/>
                <a:ext cx="517" cy="167"/>
              </a:xfrm>
              <a:custGeom>
                <a:avLst/>
                <a:gdLst>
                  <a:gd name="T0" fmla="*/ 0 w 517"/>
                  <a:gd name="T1" fmla="*/ 141 h 167"/>
                  <a:gd name="T2" fmla="*/ 54 w 517"/>
                  <a:gd name="T3" fmla="*/ 167 h 167"/>
                  <a:gd name="T4" fmla="*/ 401 w 517"/>
                  <a:gd name="T5" fmla="*/ 167 h 167"/>
                  <a:gd name="T6" fmla="*/ 496 w 517"/>
                  <a:gd name="T7" fmla="*/ 125 h 167"/>
                  <a:gd name="T8" fmla="*/ 517 w 517"/>
                  <a:gd name="T9" fmla="*/ 103 h 167"/>
                  <a:gd name="T10" fmla="*/ 510 w 517"/>
                  <a:gd name="T11" fmla="*/ 26 h 167"/>
                  <a:gd name="T12" fmla="*/ 461 w 517"/>
                  <a:gd name="T13" fmla="*/ 0 h 167"/>
                  <a:gd name="T14" fmla="*/ 128 w 517"/>
                  <a:gd name="T15" fmla="*/ 8 h 167"/>
                  <a:gd name="T16" fmla="*/ 53 w 517"/>
                  <a:gd name="T17" fmla="*/ 32 h 167"/>
                  <a:gd name="T18" fmla="*/ 8 w 517"/>
                  <a:gd name="T19" fmla="*/ 68 h 167"/>
                  <a:gd name="T20" fmla="*/ 0 w 517"/>
                  <a:gd name="T21" fmla="*/ 14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
                  <a:gd name="T34" fmla="*/ 0 h 167"/>
                  <a:gd name="T35" fmla="*/ 517 w 517"/>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 h="167">
                    <a:moveTo>
                      <a:pt x="0" y="141"/>
                    </a:moveTo>
                    <a:lnTo>
                      <a:pt x="54" y="167"/>
                    </a:lnTo>
                    <a:lnTo>
                      <a:pt x="401" y="167"/>
                    </a:lnTo>
                    <a:lnTo>
                      <a:pt x="496" y="125"/>
                    </a:lnTo>
                    <a:lnTo>
                      <a:pt x="517" y="103"/>
                    </a:lnTo>
                    <a:lnTo>
                      <a:pt x="510" y="26"/>
                    </a:lnTo>
                    <a:lnTo>
                      <a:pt x="461" y="0"/>
                    </a:lnTo>
                    <a:lnTo>
                      <a:pt x="128" y="8"/>
                    </a:lnTo>
                    <a:lnTo>
                      <a:pt x="53" y="32"/>
                    </a:lnTo>
                    <a:lnTo>
                      <a:pt x="8" y="68"/>
                    </a:lnTo>
                    <a:lnTo>
                      <a:pt x="0" y="141"/>
                    </a:lnTo>
                    <a:close/>
                  </a:path>
                </a:pathLst>
              </a:custGeom>
              <a:solidFill>
                <a:srgbClr val="FFCC99"/>
              </a:solidFill>
              <a:ln w="9525">
                <a:solidFill>
                  <a:schemeClr val="tx1"/>
                </a:solidFill>
                <a:round/>
                <a:headEnd/>
                <a:tailEnd/>
              </a:ln>
            </p:spPr>
            <p:txBody>
              <a:bodyPr/>
              <a:lstStyle/>
              <a:p>
                <a:endParaRPr lang="zh-CN" altLang="en-US"/>
              </a:p>
            </p:txBody>
          </p:sp>
          <p:sp>
            <p:nvSpPr>
              <p:cNvPr id="77860" name="Freeform 63"/>
              <p:cNvSpPr>
                <a:spLocks/>
              </p:cNvSpPr>
              <p:nvPr/>
            </p:nvSpPr>
            <p:spPr bwMode="auto">
              <a:xfrm>
                <a:off x="1477" y="736"/>
                <a:ext cx="502" cy="67"/>
              </a:xfrm>
              <a:custGeom>
                <a:avLst/>
                <a:gdLst>
                  <a:gd name="T0" fmla="*/ 0 w 502"/>
                  <a:gd name="T1" fmla="*/ 45 h 67"/>
                  <a:gd name="T2" fmla="*/ 53 w 502"/>
                  <a:gd name="T3" fmla="*/ 67 h 67"/>
                  <a:gd name="T4" fmla="*/ 389 w 502"/>
                  <a:gd name="T5" fmla="*/ 59 h 67"/>
                  <a:gd name="T6" fmla="*/ 481 w 502"/>
                  <a:gd name="T7" fmla="*/ 29 h 67"/>
                  <a:gd name="T8" fmla="*/ 502 w 502"/>
                  <a:gd name="T9" fmla="*/ 0 h 67"/>
                  <a:gd name="T10" fmla="*/ 0 60000 65536"/>
                  <a:gd name="T11" fmla="*/ 0 60000 65536"/>
                  <a:gd name="T12" fmla="*/ 0 60000 65536"/>
                  <a:gd name="T13" fmla="*/ 0 60000 65536"/>
                  <a:gd name="T14" fmla="*/ 0 60000 65536"/>
                  <a:gd name="T15" fmla="*/ 0 w 502"/>
                  <a:gd name="T16" fmla="*/ 0 h 67"/>
                  <a:gd name="T17" fmla="*/ 502 w 502"/>
                  <a:gd name="T18" fmla="*/ 67 h 67"/>
                </a:gdLst>
                <a:ahLst/>
                <a:cxnLst>
                  <a:cxn ang="T10">
                    <a:pos x="T0" y="T1"/>
                  </a:cxn>
                  <a:cxn ang="T11">
                    <a:pos x="T2" y="T3"/>
                  </a:cxn>
                  <a:cxn ang="T12">
                    <a:pos x="T4" y="T5"/>
                  </a:cxn>
                  <a:cxn ang="T13">
                    <a:pos x="T6" y="T7"/>
                  </a:cxn>
                  <a:cxn ang="T14">
                    <a:pos x="T8" y="T9"/>
                  </a:cxn>
                </a:cxnLst>
                <a:rect l="T15" t="T16" r="T17" b="T18"/>
                <a:pathLst>
                  <a:path w="502" h="67">
                    <a:moveTo>
                      <a:pt x="0" y="45"/>
                    </a:moveTo>
                    <a:lnTo>
                      <a:pt x="53" y="67"/>
                    </a:lnTo>
                    <a:lnTo>
                      <a:pt x="389" y="59"/>
                    </a:lnTo>
                    <a:lnTo>
                      <a:pt x="481" y="29"/>
                    </a:lnTo>
                    <a:lnTo>
                      <a:pt x="502" y="0"/>
                    </a:lnTo>
                  </a:path>
                </a:pathLst>
              </a:custGeom>
              <a:solidFill>
                <a:srgbClr val="FFCC99"/>
              </a:solidFill>
              <a:ln w="9525">
                <a:solidFill>
                  <a:schemeClr val="tx1"/>
                </a:solidFill>
                <a:round/>
                <a:headEnd/>
                <a:tailEnd/>
              </a:ln>
            </p:spPr>
            <p:txBody>
              <a:bodyPr/>
              <a:lstStyle/>
              <a:p>
                <a:endParaRPr lang="zh-CN" altLang="en-US"/>
              </a:p>
            </p:txBody>
          </p:sp>
          <p:sp>
            <p:nvSpPr>
              <p:cNvPr id="77861" name="Line 64"/>
              <p:cNvSpPr>
                <a:spLocks noChangeShapeType="1"/>
              </p:cNvSpPr>
              <p:nvPr/>
            </p:nvSpPr>
            <p:spPr bwMode="auto">
              <a:xfrm flipH="1">
                <a:off x="1525" y="803"/>
                <a:ext cx="5"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2" name="Line 65"/>
              <p:cNvSpPr>
                <a:spLocks noChangeShapeType="1"/>
              </p:cNvSpPr>
              <p:nvPr/>
            </p:nvSpPr>
            <p:spPr bwMode="auto">
              <a:xfrm>
                <a:off x="1864" y="797"/>
                <a:ext cx="0" cy="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3" name="Line 66"/>
              <p:cNvSpPr>
                <a:spLocks noChangeShapeType="1"/>
              </p:cNvSpPr>
              <p:nvPr/>
            </p:nvSpPr>
            <p:spPr bwMode="auto">
              <a:xfrm>
                <a:off x="1957" y="766"/>
                <a:ext cx="3"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40" name="Group 67"/>
            <p:cNvGrpSpPr>
              <a:grpSpLocks/>
            </p:cNvGrpSpPr>
            <p:nvPr/>
          </p:nvGrpSpPr>
          <p:grpSpPr bwMode="auto">
            <a:xfrm>
              <a:off x="2359" y="717"/>
              <a:ext cx="578" cy="167"/>
              <a:chOff x="1469" y="710"/>
              <a:chExt cx="517" cy="167"/>
            </a:xfrm>
          </p:grpSpPr>
          <p:sp>
            <p:nvSpPr>
              <p:cNvPr id="77854" name="Freeform 68"/>
              <p:cNvSpPr>
                <a:spLocks/>
              </p:cNvSpPr>
              <p:nvPr/>
            </p:nvSpPr>
            <p:spPr bwMode="auto">
              <a:xfrm>
                <a:off x="1469" y="710"/>
                <a:ext cx="517" cy="167"/>
              </a:xfrm>
              <a:custGeom>
                <a:avLst/>
                <a:gdLst>
                  <a:gd name="T0" fmla="*/ 0 w 517"/>
                  <a:gd name="T1" fmla="*/ 141 h 167"/>
                  <a:gd name="T2" fmla="*/ 54 w 517"/>
                  <a:gd name="T3" fmla="*/ 167 h 167"/>
                  <a:gd name="T4" fmla="*/ 401 w 517"/>
                  <a:gd name="T5" fmla="*/ 167 h 167"/>
                  <a:gd name="T6" fmla="*/ 496 w 517"/>
                  <a:gd name="T7" fmla="*/ 125 h 167"/>
                  <a:gd name="T8" fmla="*/ 517 w 517"/>
                  <a:gd name="T9" fmla="*/ 103 h 167"/>
                  <a:gd name="T10" fmla="*/ 510 w 517"/>
                  <a:gd name="T11" fmla="*/ 26 h 167"/>
                  <a:gd name="T12" fmla="*/ 461 w 517"/>
                  <a:gd name="T13" fmla="*/ 0 h 167"/>
                  <a:gd name="T14" fmla="*/ 128 w 517"/>
                  <a:gd name="T15" fmla="*/ 8 h 167"/>
                  <a:gd name="T16" fmla="*/ 53 w 517"/>
                  <a:gd name="T17" fmla="*/ 32 h 167"/>
                  <a:gd name="T18" fmla="*/ 8 w 517"/>
                  <a:gd name="T19" fmla="*/ 68 h 167"/>
                  <a:gd name="T20" fmla="*/ 0 w 517"/>
                  <a:gd name="T21" fmla="*/ 14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
                  <a:gd name="T34" fmla="*/ 0 h 167"/>
                  <a:gd name="T35" fmla="*/ 517 w 517"/>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 h="167">
                    <a:moveTo>
                      <a:pt x="0" y="141"/>
                    </a:moveTo>
                    <a:lnTo>
                      <a:pt x="54" y="167"/>
                    </a:lnTo>
                    <a:lnTo>
                      <a:pt x="401" y="167"/>
                    </a:lnTo>
                    <a:lnTo>
                      <a:pt x="496" y="125"/>
                    </a:lnTo>
                    <a:lnTo>
                      <a:pt x="517" y="103"/>
                    </a:lnTo>
                    <a:lnTo>
                      <a:pt x="510" y="26"/>
                    </a:lnTo>
                    <a:lnTo>
                      <a:pt x="461" y="0"/>
                    </a:lnTo>
                    <a:lnTo>
                      <a:pt x="128" y="8"/>
                    </a:lnTo>
                    <a:lnTo>
                      <a:pt x="53" y="32"/>
                    </a:lnTo>
                    <a:lnTo>
                      <a:pt x="8" y="68"/>
                    </a:lnTo>
                    <a:lnTo>
                      <a:pt x="0" y="141"/>
                    </a:lnTo>
                    <a:close/>
                  </a:path>
                </a:pathLst>
              </a:custGeom>
              <a:solidFill>
                <a:srgbClr val="FFCC99"/>
              </a:solidFill>
              <a:ln w="9525">
                <a:solidFill>
                  <a:schemeClr val="tx1"/>
                </a:solidFill>
                <a:round/>
                <a:headEnd/>
                <a:tailEnd/>
              </a:ln>
            </p:spPr>
            <p:txBody>
              <a:bodyPr/>
              <a:lstStyle/>
              <a:p>
                <a:endParaRPr lang="zh-CN" altLang="en-US"/>
              </a:p>
            </p:txBody>
          </p:sp>
          <p:sp>
            <p:nvSpPr>
              <p:cNvPr id="77855" name="Freeform 69"/>
              <p:cNvSpPr>
                <a:spLocks/>
              </p:cNvSpPr>
              <p:nvPr/>
            </p:nvSpPr>
            <p:spPr bwMode="auto">
              <a:xfrm>
                <a:off x="1477" y="736"/>
                <a:ext cx="502" cy="67"/>
              </a:xfrm>
              <a:custGeom>
                <a:avLst/>
                <a:gdLst>
                  <a:gd name="T0" fmla="*/ 0 w 502"/>
                  <a:gd name="T1" fmla="*/ 45 h 67"/>
                  <a:gd name="T2" fmla="*/ 53 w 502"/>
                  <a:gd name="T3" fmla="*/ 67 h 67"/>
                  <a:gd name="T4" fmla="*/ 389 w 502"/>
                  <a:gd name="T5" fmla="*/ 59 h 67"/>
                  <a:gd name="T6" fmla="*/ 481 w 502"/>
                  <a:gd name="T7" fmla="*/ 29 h 67"/>
                  <a:gd name="T8" fmla="*/ 502 w 502"/>
                  <a:gd name="T9" fmla="*/ 0 h 67"/>
                  <a:gd name="T10" fmla="*/ 0 60000 65536"/>
                  <a:gd name="T11" fmla="*/ 0 60000 65536"/>
                  <a:gd name="T12" fmla="*/ 0 60000 65536"/>
                  <a:gd name="T13" fmla="*/ 0 60000 65536"/>
                  <a:gd name="T14" fmla="*/ 0 60000 65536"/>
                  <a:gd name="T15" fmla="*/ 0 w 502"/>
                  <a:gd name="T16" fmla="*/ 0 h 67"/>
                  <a:gd name="T17" fmla="*/ 502 w 502"/>
                  <a:gd name="T18" fmla="*/ 67 h 67"/>
                </a:gdLst>
                <a:ahLst/>
                <a:cxnLst>
                  <a:cxn ang="T10">
                    <a:pos x="T0" y="T1"/>
                  </a:cxn>
                  <a:cxn ang="T11">
                    <a:pos x="T2" y="T3"/>
                  </a:cxn>
                  <a:cxn ang="T12">
                    <a:pos x="T4" y="T5"/>
                  </a:cxn>
                  <a:cxn ang="T13">
                    <a:pos x="T6" y="T7"/>
                  </a:cxn>
                  <a:cxn ang="T14">
                    <a:pos x="T8" y="T9"/>
                  </a:cxn>
                </a:cxnLst>
                <a:rect l="T15" t="T16" r="T17" b="T18"/>
                <a:pathLst>
                  <a:path w="502" h="67">
                    <a:moveTo>
                      <a:pt x="0" y="45"/>
                    </a:moveTo>
                    <a:lnTo>
                      <a:pt x="53" y="67"/>
                    </a:lnTo>
                    <a:lnTo>
                      <a:pt x="389" y="59"/>
                    </a:lnTo>
                    <a:lnTo>
                      <a:pt x="481" y="29"/>
                    </a:lnTo>
                    <a:lnTo>
                      <a:pt x="502" y="0"/>
                    </a:lnTo>
                  </a:path>
                </a:pathLst>
              </a:custGeom>
              <a:solidFill>
                <a:srgbClr val="FFCC99"/>
              </a:solidFill>
              <a:ln w="9525">
                <a:solidFill>
                  <a:schemeClr val="tx1"/>
                </a:solidFill>
                <a:round/>
                <a:headEnd/>
                <a:tailEnd/>
              </a:ln>
            </p:spPr>
            <p:txBody>
              <a:bodyPr/>
              <a:lstStyle/>
              <a:p>
                <a:endParaRPr lang="zh-CN" altLang="en-US"/>
              </a:p>
            </p:txBody>
          </p:sp>
          <p:sp>
            <p:nvSpPr>
              <p:cNvPr id="77856" name="Line 70"/>
              <p:cNvSpPr>
                <a:spLocks noChangeShapeType="1"/>
              </p:cNvSpPr>
              <p:nvPr/>
            </p:nvSpPr>
            <p:spPr bwMode="auto">
              <a:xfrm flipH="1">
                <a:off x="1525" y="803"/>
                <a:ext cx="5"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7" name="Line 71"/>
              <p:cNvSpPr>
                <a:spLocks noChangeShapeType="1"/>
              </p:cNvSpPr>
              <p:nvPr/>
            </p:nvSpPr>
            <p:spPr bwMode="auto">
              <a:xfrm>
                <a:off x="1864" y="797"/>
                <a:ext cx="0" cy="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8" name="Line 72"/>
              <p:cNvSpPr>
                <a:spLocks noChangeShapeType="1"/>
              </p:cNvSpPr>
              <p:nvPr/>
            </p:nvSpPr>
            <p:spPr bwMode="auto">
              <a:xfrm>
                <a:off x="1957" y="766"/>
                <a:ext cx="3"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41" name="Group 73"/>
            <p:cNvGrpSpPr>
              <a:grpSpLocks/>
            </p:cNvGrpSpPr>
            <p:nvPr/>
          </p:nvGrpSpPr>
          <p:grpSpPr bwMode="auto">
            <a:xfrm>
              <a:off x="1787" y="739"/>
              <a:ext cx="517" cy="167"/>
              <a:chOff x="1469" y="710"/>
              <a:chExt cx="517" cy="167"/>
            </a:xfrm>
          </p:grpSpPr>
          <p:sp>
            <p:nvSpPr>
              <p:cNvPr id="77849" name="Freeform 74"/>
              <p:cNvSpPr>
                <a:spLocks/>
              </p:cNvSpPr>
              <p:nvPr/>
            </p:nvSpPr>
            <p:spPr bwMode="auto">
              <a:xfrm>
                <a:off x="1469" y="710"/>
                <a:ext cx="517" cy="167"/>
              </a:xfrm>
              <a:custGeom>
                <a:avLst/>
                <a:gdLst>
                  <a:gd name="T0" fmla="*/ 0 w 517"/>
                  <a:gd name="T1" fmla="*/ 141 h 167"/>
                  <a:gd name="T2" fmla="*/ 54 w 517"/>
                  <a:gd name="T3" fmla="*/ 167 h 167"/>
                  <a:gd name="T4" fmla="*/ 401 w 517"/>
                  <a:gd name="T5" fmla="*/ 167 h 167"/>
                  <a:gd name="T6" fmla="*/ 496 w 517"/>
                  <a:gd name="T7" fmla="*/ 125 h 167"/>
                  <a:gd name="T8" fmla="*/ 517 w 517"/>
                  <a:gd name="T9" fmla="*/ 103 h 167"/>
                  <a:gd name="T10" fmla="*/ 510 w 517"/>
                  <a:gd name="T11" fmla="*/ 26 h 167"/>
                  <a:gd name="T12" fmla="*/ 461 w 517"/>
                  <a:gd name="T13" fmla="*/ 0 h 167"/>
                  <a:gd name="T14" fmla="*/ 128 w 517"/>
                  <a:gd name="T15" fmla="*/ 8 h 167"/>
                  <a:gd name="T16" fmla="*/ 53 w 517"/>
                  <a:gd name="T17" fmla="*/ 32 h 167"/>
                  <a:gd name="T18" fmla="*/ 8 w 517"/>
                  <a:gd name="T19" fmla="*/ 68 h 167"/>
                  <a:gd name="T20" fmla="*/ 0 w 517"/>
                  <a:gd name="T21" fmla="*/ 14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
                  <a:gd name="T34" fmla="*/ 0 h 167"/>
                  <a:gd name="T35" fmla="*/ 517 w 517"/>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 h="167">
                    <a:moveTo>
                      <a:pt x="0" y="141"/>
                    </a:moveTo>
                    <a:lnTo>
                      <a:pt x="54" y="167"/>
                    </a:lnTo>
                    <a:lnTo>
                      <a:pt x="401" y="167"/>
                    </a:lnTo>
                    <a:lnTo>
                      <a:pt x="496" y="125"/>
                    </a:lnTo>
                    <a:lnTo>
                      <a:pt x="517" y="103"/>
                    </a:lnTo>
                    <a:lnTo>
                      <a:pt x="510" y="26"/>
                    </a:lnTo>
                    <a:lnTo>
                      <a:pt x="461" y="0"/>
                    </a:lnTo>
                    <a:lnTo>
                      <a:pt x="128" y="8"/>
                    </a:lnTo>
                    <a:lnTo>
                      <a:pt x="53" y="32"/>
                    </a:lnTo>
                    <a:lnTo>
                      <a:pt x="8" y="68"/>
                    </a:lnTo>
                    <a:lnTo>
                      <a:pt x="0" y="141"/>
                    </a:lnTo>
                    <a:close/>
                  </a:path>
                </a:pathLst>
              </a:custGeom>
              <a:solidFill>
                <a:srgbClr val="FFCC99"/>
              </a:solidFill>
              <a:ln w="9525">
                <a:solidFill>
                  <a:schemeClr val="tx1"/>
                </a:solidFill>
                <a:round/>
                <a:headEnd/>
                <a:tailEnd/>
              </a:ln>
            </p:spPr>
            <p:txBody>
              <a:bodyPr/>
              <a:lstStyle/>
              <a:p>
                <a:endParaRPr lang="zh-CN" altLang="en-US"/>
              </a:p>
            </p:txBody>
          </p:sp>
          <p:sp>
            <p:nvSpPr>
              <p:cNvPr id="77850" name="Freeform 75"/>
              <p:cNvSpPr>
                <a:spLocks/>
              </p:cNvSpPr>
              <p:nvPr/>
            </p:nvSpPr>
            <p:spPr bwMode="auto">
              <a:xfrm>
                <a:off x="1477" y="736"/>
                <a:ext cx="502" cy="67"/>
              </a:xfrm>
              <a:custGeom>
                <a:avLst/>
                <a:gdLst>
                  <a:gd name="T0" fmla="*/ 0 w 502"/>
                  <a:gd name="T1" fmla="*/ 45 h 67"/>
                  <a:gd name="T2" fmla="*/ 53 w 502"/>
                  <a:gd name="T3" fmla="*/ 67 h 67"/>
                  <a:gd name="T4" fmla="*/ 389 w 502"/>
                  <a:gd name="T5" fmla="*/ 59 h 67"/>
                  <a:gd name="T6" fmla="*/ 481 w 502"/>
                  <a:gd name="T7" fmla="*/ 29 h 67"/>
                  <a:gd name="T8" fmla="*/ 502 w 502"/>
                  <a:gd name="T9" fmla="*/ 0 h 67"/>
                  <a:gd name="T10" fmla="*/ 0 60000 65536"/>
                  <a:gd name="T11" fmla="*/ 0 60000 65536"/>
                  <a:gd name="T12" fmla="*/ 0 60000 65536"/>
                  <a:gd name="T13" fmla="*/ 0 60000 65536"/>
                  <a:gd name="T14" fmla="*/ 0 60000 65536"/>
                  <a:gd name="T15" fmla="*/ 0 w 502"/>
                  <a:gd name="T16" fmla="*/ 0 h 67"/>
                  <a:gd name="T17" fmla="*/ 502 w 502"/>
                  <a:gd name="T18" fmla="*/ 67 h 67"/>
                </a:gdLst>
                <a:ahLst/>
                <a:cxnLst>
                  <a:cxn ang="T10">
                    <a:pos x="T0" y="T1"/>
                  </a:cxn>
                  <a:cxn ang="T11">
                    <a:pos x="T2" y="T3"/>
                  </a:cxn>
                  <a:cxn ang="T12">
                    <a:pos x="T4" y="T5"/>
                  </a:cxn>
                  <a:cxn ang="T13">
                    <a:pos x="T6" y="T7"/>
                  </a:cxn>
                  <a:cxn ang="T14">
                    <a:pos x="T8" y="T9"/>
                  </a:cxn>
                </a:cxnLst>
                <a:rect l="T15" t="T16" r="T17" b="T18"/>
                <a:pathLst>
                  <a:path w="502" h="67">
                    <a:moveTo>
                      <a:pt x="0" y="45"/>
                    </a:moveTo>
                    <a:lnTo>
                      <a:pt x="53" y="67"/>
                    </a:lnTo>
                    <a:lnTo>
                      <a:pt x="389" y="59"/>
                    </a:lnTo>
                    <a:lnTo>
                      <a:pt x="481" y="29"/>
                    </a:lnTo>
                    <a:lnTo>
                      <a:pt x="502" y="0"/>
                    </a:lnTo>
                  </a:path>
                </a:pathLst>
              </a:custGeom>
              <a:solidFill>
                <a:srgbClr val="FFCC99"/>
              </a:solidFill>
              <a:ln w="9525">
                <a:solidFill>
                  <a:schemeClr val="tx1"/>
                </a:solidFill>
                <a:round/>
                <a:headEnd/>
                <a:tailEnd/>
              </a:ln>
            </p:spPr>
            <p:txBody>
              <a:bodyPr/>
              <a:lstStyle/>
              <a:p>
                <a:endParaRPr lang="zh-CN" altLang="en-US"/>
              </a:p>
            </p:txBody>
          </p:sp>
          <p:sp>
            <p:nvSpPr>
              <p:cNvPr id="77851" name="Line 76"/>
              <p:cNvSpPr>
                <a:spLocks noChangeShapeType="1"/>
              </p:cNvSpPr>
              <p:nvPr/>
            </p:nvSpPr>
            <p:spPr bwMode="auto">
              <a:xfrm flipH="1">
                <a:off x="1525" y="803"/>
                <a:ext cx="5"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2" name="Line 77"/>
              <p:cNvSpPr>
                <a:spLocks noChangeShapeType="1"/>
              </p:cNvSpPr>
              <p:nvPr/>
            </p:nvSpPr>
            <p:spPr bwMode="auto">
              <a:xfrm>
                <a:off x="1864" y="797"/>
                <a:ext cx="0" cy="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3" name="Line 78"/>
              <p:cNvSpPr>
                <a:spLocks noChangeShapeType="1"/>
              </p:cNvSpPr>
              <p:nvPr/>
            </p:nvSpPr>
            <p:spPr bwMode="auto">
              <a:xfrm>
                <a:off x="1957" y="766"/>
                <a:ext cx="3"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42" name="Group 79"/>
            <p:cNvGrpSpPr>
              <a:grpSpLocks/>
            </p:cNvGrpSpPr>
            <p:nvPr/>
          </p:nvGrpSpPr>
          <p:grpSpPr bwMode="auto">
            <a:xfrm>
              <a:off x="2173" y="610"/>
              <a:ext cx="517" cy="167"/>
              <a:chOff x="1469" y="710"/>
              <a:chExt cx="517" cy="167"/>
            </a:xfrm>
          </p:grpSpPr>
          <p:sp>
            <p:nvSpPr>
              <p:cNvPr id="77844" name="Freeform 80"/>
              <p:cNvSpPr>
                <a:spLocks/>
              </p:cNvSpPr>
              <p:nvPr/>
            </p:nvSpPr>
            <p:spPr bwMode="auto">
              <a:xfrm>
                <a:off x="1469" y="710"/>
                <a:ext cx="517" cy="167"/>
              </a:xfrm>
              <a:custGeom>
                <a:avLst/>
                <a:gdLst>
                  <a:gd name="T0" fmla="*/ 0 w 517"/>
                  <a:gd name="T1" fmla="*/ 141 h 167"/>
                  <a:gd name="T2" fmla="*/ 54 w 517"/>
                  <a:gd name="T3" fmla="*/ 167 h 167"/>
                  <a:gd name="T4" fmla="*/ 401 w 517"/>
                  <a:gd name="T5" fmla="*/ 167 h 167"/>
                  <a:gd name="T6" fmla="*/ 496 w 517"/>
                  <a:gd name="T7" fmla="*/ 125 h 167"/>
                  <a:gd name="T8" fmla="*/ 517 w 517"/>
                  <a:gd name="T9" fmla="*/ 103 h 167"/>
                  <a:gd name="T10" fmla="*/ 510 w 517"/>
                  <a:gd name="T11" fmla="*/ 26 h 167"/>
                  <a:gd name="T12" fmla="*/ 461 w 517"/>
                  <a:gd name="T13" fmla="*/ 0 h 167"/>
                  <a:gd name="T14" fmla="*/ 128 w 517"/>
                  <a:gd name="T15" fmla="*/ 8 h 167"/>
                  <a:gd name="T16" fmla="*/ 53 w 517"/>
                  <a:gd name="T17" fmla="*/ 32 h 167"/>
                  <a:gd name="T18" fmla="*/ 8 w 517"/>
                  <a:gd name="T19" fmla="*/ 68 h 167"/>
                  <a:gd name="T20" fmla="*/ 0 w 517"/>
                  <a:gd name="T21" fmla="*/ 14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
                  <a:gd name="T34" fmla="*/ 0 h 167"/>
                  <a:gd name="T35" fmla="*/ 517 w 517"/>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 h="167">
                    <a:moveTo>
                      <a:pt x="0" y="141"/>
                    </a:moveTo>
                    <a:lnTo>
                      <a:pt x="54" y="167"/>
                    </a:lnTo>
                    <a:lnTo>
                      <a:pt x="401" y="167"/>
                    </a:lnTo>
                    <a:lnTo>
                      <a:pt x="496" y="125"/>
                    </a:lnTo>
                    <a:lnTo>
                      <a:pt x="517" y="103"/>
                    </a:lnTo>
                    <a:lnTo>
                      <a:pt x="510" y="26"/>
                    </a:lnTo>
                    <a:lnTo>
                      <a:pt x="461" y="0"/>
                    </a:lnTo>
                    <a:lnTo>
                      <a:pt x="128" y="8"/>
                    </a:lnTo>
                    <a:lnTo>
                      <a:pt x="53" y="32"/>
                    </a:lnTo>
                    <a:lnTo>
                      <a:pt x="8" y="68"/>
                    </a:lnTo>
                    <a:lnTo>
                      <a:pt x="0" y="141"/>
                    </a:lnTo>
                    <a:close/>
                  </a:path>
                </a:pathLst>
              </a:custGeom>
              <a:solidFill>
                <a:srgbClr val="FFCC99"/>
              </a:solidFill>
              <a:ln w="9525">
                <a:solidFill>
                  <a:schemeClr val="tx1"/>
                </a:solidFill>
                <a:round/>
                <a:headEnd/>
                <a:tailEnd/>
              </a:ln>
            </p:spPr>
            <p:txBody>
              <a:bodyPr/>
              <a:lstStyle/>
              <a:p>
                <a:endParaRPr lang="zh-CN" altLang="en-US"/>
              </a:p>
            </p:txBody>
          </p:sp>
          <p:sp>
            <p:nvSpPr>
              <p:cNvPr id="77845" name="Freeform 81"/>
              <p:cNvSpPr>
                <a:spLocks/>
              </p:cNvSpPr>
              <p:nvPr/>
            </p:nvSpPr>
            <p:spPr bwMode="auto">
              <a:xfrm>
                <a:off x="1477" y="736"/>
                <a:ext cx="502" cy="67"/>
              </a:xfrm>
              <a:custGeom>
                <a:avLst/>
                <a:gdLst>
                  <a:gd name="T0" fmla="*/ 0 w 502"/>
                  <a:gd name="T1" fmla="*/ 45 h 67"/>
                  <a:gd name="T2" fmla="*/ 53 w 502"/>
                  <a:gd name="T3" fmla="*/ 67 h 67"/>
                  <a:gd name="T4" fmla="*/ 389 w 502"/>
                  <a:gd name="T5" fmla="*/ 59 h 67"/>
                  <a:gd name="T6" fmla="*/ 481 w 502"/>
                  <a:gd name="T7" fmla="*/ 29 h 67"/>
                  <a:gd name="T8" fmla="*/ 502 w 502"/>
                  <a:gd name="T9" fmla="*/ 0 h 67"/>
                  <a:gd name="T10" fmla="*/ 0 60000 65536"/>
                  <a:gd name="T11" fmla="*/ 0 60000 65536"/>
                  <a:gd name="T12" fmla="*/ 0 60000 65536"/>
                  <a:gd name="T13" fmla="*/ 0 60000 65536"/>
                  <a:gd name="T14" fmla="*/ 0 60000 65536"/>
                  <a:gd name="T15" fmla="*/ 0 w 502"/>
                  <a:gd name="T16" fmla="*/ 0 h 67"/>
                  <a:gd name="T17" fmla="*/ 502 w 502"/>
                  <a:gd name="T18" fmla="*/ 67 h 67"/>
                </a:gdLst>
                <a:ahLst/>
                <a:cxnLst>
                  <a:cxn ang="T10">
                    <a:pos x="T0" y="T1"/>
                  </a:cxn>
                  <a:cxn ang="T11">
                    <a:pos x="T2" y="T3"/>
                  </a:cxn>
                  <a:cxn ang="T12">
                    <a:pos x="T4" y="T5"/>
                  </a:cxn>
                  <a:cxn ang="T13">
                    <a:pos x="T6" y="T7"/>
                  </a:cxn>
                  <a:cxn ang="T14">
                    <a:pos x="T8" y="T9"/>
                  </a:cxn>
                </a:cxnLst>
                <a:rect l="T15" t="T16" r="T17" b="T18"/>
                <a:pathLst>
                  <a:path w="502" h="67">
                    <a:moveTo>
                      <a:pt x="0" y="45"/>
                    </a:moveTo>
                    <a:lnTo>
                      <a:pt x="53" y="67"/>
                    </a:lnTo>
                    <a:lnTo>
                      <a:pt x="389" y="59"/>
                    </a:lnTo>
                    <a:lnTo>
                      <a:pt x="481" y="29"/>
                    </a:lnTo>
                    <a:lnTo>
                      <a:pt x="502" y="0"/>
                    </a:lnTo>
                  </a:path>
                </a:pathLst>
              </a:custGeom>
              <a:solidFill>
                <a:srgbClr val="FFCC99"/>
              </a:solidFill>
              <a:ln w="9525">
                <a:solidFill>
                  <a:schemeClr val="tx1"/>
                </a:solidFill>
                <a:round/>
                <a:headEnd/>
                <a:tailEnd/>
              </a:ln>
            </p:spPr>
            <p:txBody>
              <a:bodyPr/>
              <a:lstStyle/>
              <a:p>
                <a:endParaRPr lang="zh-CN" altLang="en-US"/>
              </a:p>
            </p:txBody>
          </p:sp>
          <p:sp>
            <p:nvSpPr>
              <p:cNvPr id="77846" name="Line 82"/>
              <p:cNvSpPr>
                <a:spLocks noChangeShapeType="1"/>
              </p:cNvSpPr>
              <p:nvPr/>
            </p:nvSpPr>
            <p:spPr bwMode="auto">
              <a:xfrm flipH="1">
                <a:off x="1525" y="803"/>
                <a:ext cx="5"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7" name="Line 83"/>
              <p:cNvSpPr>
                <a:spLocks noChangeShapeType="1"/>
              </p:cNvSpPr>
              <p:nvPr/>
            </p:nvSpPr>
            <p:spPr bwMode="auto">
              <a:xfrm>
                <a:off x="1864" y="797"/>
                <a:ext cx="0" cy="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8" name="Line 84"/>
              <p:cNvSpPr>
                <a:spLocks noChangeShapeType="1"/>
              </p:cNvSpPr>
              <p:nvPr/>
            </p:nvSpPr>
            <p:spPr bwMode="auto">
              <a:xfrm>
                <a:off x="1957" y="766"/>
                <a:ext cx="3"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43" name="Text Box 85"/>
            <p:cNvSpPr txBox="1">
              <a:spLocks noChangeArrowheads="1"/>
            </p:cNvSpPr>
            <p:nvPr/>
          </p:nvSpPr>
          <p:spPr bwMode="auto">
            <a:xfrm>
              <a:off x="1922" y="1229"/>
              <a:ext cx="9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b="1">
                  <a:solidFill>
                    <a:srgbClr val="000066"/>
                  </a:solidFill>
                  <a:ea typeface="幼圆" pitchFamily="49" charset="-122"/>
                </a:rPr>
                <a:t>分散结构 </a:t>
              </a:r>
            </a:p>
          </p:txBody>
        </p:sp>
      </p:grpSp>
      <p:sp>
        <p:nvSpPr>
          <p:cNvPr id="86"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17815942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14190"/>
                                        </p:tgtEl>
                                        <p:attrNameLst>
                                          <p:attrName>style.visibility</p:attrName>
                                        </p:attrNameLst>
                                      </p:cBhvr>
                                      <p:to>
                                        <p:strVal val="visible"/>
                                      </p:to>
                                    </p:set>
                                    <p:anim calcmode="lin" valueType="num">
                                      <p:cBhvr additive="base">
                                        <p:cTn id="7" dur="1000" fill="hold"/>
                                        <p:tgtEl>
                                          <p:spTgt spid="1414190"/>
                                        </p:tgtEl>
                                        <p:attrNameLst>
                                          <p:attrName>ppt_x</p:attrName>
                                        </p:attrNameLst>
                                      </p:cBhvr>
                                      <p:tavLst>
                                        <p:tav tm="0">
                                          <p:val>
                                            <p:strVal val="0-#ppt_w/2"/>
                                          </p:val>
                                        </p:tav>
                                        <p:tav tm="100000">
                                          <p:val>
                                            <p:strVal val="#ppt_x"/>
                                          </p:val>
                                        </p:tav>
                                      </p:tavLst>
                                    </p:anim>
                                    <p:anim calcmode="lin" valueType="num">
                                      <p:cBhvr additive="base">
                                        <p:cTn id="8" dur="1000" fill="hold"/>
                                        <p:tgtEl>
                                          <p:spTgt spid="1414190"/>
                                        </p:tgtEl>
                                        <p:attrNameLst>
                                          <p:attrName>ppt_y</p:attrName>
                                        </p:attrNameLst>
                                      </p:cBhvr>
                                      <p:tavLst>
                                        <p:tav tm="0">
                                          <p:val>
                                            <p:strVal val="#ppt_y"/>
                                          </p:val>
                                        </p:tav>
                                        <p:tav tm="100000">
                                          <p:val>
                                            <p:strVal val="#ppt_y"/>
                                          </p:val>
                                        </p:tav>
                                      </p:tavLst>
                                    </p:anim>
                                  </p:childTnLst>
                                </p:cTn>
                              </p:par>
                              <p:par>
                                <p:cTn id="9" presetID="22" presetClass="entr" presetSubtype="1" fill="hold" grpId="0" nodeType="withEffect">
                                  <p:stCondLst>
                                    <p:cond delay="0"/>
                                  </p:stCondLst>
                                  <p:childTnLst>
                                    <p:set>
                                      <p:cBhvr>
                                        <p:cTn id="10" dur="1" fill="hold">
                                          <p:stCondLst>
                                            <p:cond delay="0"/>
                                          </p:stCondLst>
                                        </p:cTn>
                                        <p:tgtEl>
                                          <p:spTgt spid="1414147"/>
                                        </p:tgtEl>
                                        <p:attrNameLst>
                                          <p:attrName>style.visibility</p:attrName>
                                        </p:attrNameLst>
                                      </p:cBhvr>
                                      <p:to>
                                        <p:strVal val="visible"/>
                                      </p:to>
                                    </p:set>
                                    <p:animEffect transition="in" filter="wipe(up)">
                                      <p:cBhvr>
                                        <p:cTn id="11" dur="1000"/>
                                        <p:tgtEl>
                                          <p:spTgt spid="1414147"/>
                                        </p:tgtEl>
                                      </p:cBhvr>
                                    </p:animEffect>
                                  </p:childTnLst>
                                </p:cTn>
                              </p:par>
                              <p:par>
                                <p:cTn id="12" presetID="2" presetClass="entr" presetSubtype="8" fill="hold" grpId="0" nodeType="withEffect">
                                  <p:stCondLst>
                                    <p:cond delay="0"/>
                                  </p:stCondLst>
                                  <p:childTnLst>
                                    <p:set>
                                      <p:cBhvr>
                                        <p:cTn id="13" dur="1" fill="hold">
                                          <p:stCondLst>
                                            <p:cond delay="0"/>
                                          </p:stCondLst>
                                        </p:cTn>
                                        <p:tgtEl>
                                          <p:spTgt spid="1414149"/>
                                        </p:tgtEl>
                                        <p:attrNameLst>
                                          <p:attrName>style.visibility</p:attrName>
                                        </p:attrNameLst>
                                      </p:cBhvr>
                                      <p:to>
                                        <p:strVal val="visible"/>
                                      </p:to>
                                    </p:set>
                                    <p:anim calcmode="lin" valueType="num">
                                      <p:cBhvr additive="base">
                                        <p:cTn id="14" dur="1000" fill="hold"/>
                                        <p:tgtEl>
                                          <p:spTgt spid="1414149"/>
                                        </p:tgtEl>
                                        <p:attrNameLst>
                                          <p:attrName>ppt_x</p:attrName>
                                        </p:attrNameLst>
                                      </p:cBhvr>
                                      <p:tavLst>
                                        <p:tav tm="0">
                                          <p:val>
                                            <p:strVal val="0-#ppt_w/2"/>
                                          </p:val>
                                        </p:tav>
                                        <p:tav tm="100000">
                                          <p:val>
                                            <p:strVal val="#ppt_x"/>
                                          </p:val>
                                        </p:tav>
                                      </p:tavLst>
                                    </p:anim>
                                    <p:anim calcmode="lin" valueType="num">
                                      <p:cBhvr additive="base">
                                        <p:cTn id="15" dur="1000" fill="hold"/>
                                        <p:tgtEl>
                                          <p:spTgt spid="1414149"/>
                                        </p:tgtEl>
                                        <p:attrNameLst>
                                          <p:attrName>ppt_y</p:attrName>
                                        </p:attrNameLst>
                                      </p:cBhvr>
                                      <p:tavLst>
                                        <p:tav tm="0">
                                          <p:val>
                                            <p:strVal val="#ppt_y"/>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6" presetClass="entr" presetSubtype="16"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circle(in)">
                                      <p:cBhvr>
                                        <p:cTn id="20" dur="1000"/>
                                        <p:tgtEl>
                                          <p:spTgt spid="9"/>
                                        </p:tgtEl>
                                      </p:cBhvr>
                                    </p:animEffect>
                                  </p:childTnLst>
                                </p:cTn>
                              </p:par>
                            </p:childTnLst>
                          </p:cTn>
                        </p:par>
                        <p:par>
                          <p:cTn id="21" fill="hold" nodeType="afterGroup">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1414150"/>
                                        </p:tgtEl>
                                        <p:attrNameLst>
                                          <p:attrName>style.visibility</p:attrName>
                                        </p:attrNameLst>
                                      </p:cBhvr>
                                      <p:to>
                                        <p:strVal val="visible"/>
                                      </p:to>
                                    </p:set>
                                    <p:animEffect transition="in" filter="wipe(up)">
                                      <p:cBhvr>
                                        <p:cTn id="24" dur="1000"/>
                                        <p:tgtEl>
                                          <p:spTgt spid="141415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6" presetClass="entr" presetSubtype="16"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circle(in)">
                                      <p:cBhvr>
                                        <p:cTn id="29" dur="1000"/>
                                        <p:tgtEl>
                                          <p:spTgt spid="2"/>
                                        </p:tgtEl>
                                      </p:cBhvr>
                                    </p:animEffect>
                                  </p:childTnLst>
                                </p:cTn>
                              </p:par>
                            </p:childTnLst>
                          </p:cTn>
                        </p:par>
                        <p:par>
                          <p:cTn id="30" fill="hold" nodeType="afterGroup">
                            <p:stCondLst>
                              <p:cond delay="1000"/>
                            </p:stCondLst>
                            <p:childTnLst>
                              <p:par>
                                <p:cTn id="31" presetID="22" presetClass="entr" presetSubtype="1" fill="hold" grpId="0" nodeType="afterEffect">
                                  <p:stCondLst>
                                    <p:cond delay="0"/>
                                  </p:stCondLst>
                                  <p:childTnLst>
                                    <p:set>
                                      <p:cBhvr>
                                        <p:cTn id="32" dur="1" fill="hold">
                                          <p:stCondLst>
                                            <p:cond delay="0"/>
                                          </p:stCondLst>
                                        </p:cTn>
                                        <p:tgtEl>
                                          <p:spTgt spid="1414189"/>
                                        </p:tgtEl>
                                        <p:attrNameLst>
                                          <p:attrName>style.visibility</p:attrName>
                                        </p:attrNameLst>
                                      </p:cBhvr>
                                      <p:to>
                                        <p:strVal val="visible"/>
                                      </p:to>
                                    </p:set>
                                    <p:animEffect transition="in" filter="wipe(up)">
                                      <p:cBhvr>
                                        <p:cTn id="33" dur="1000"/>
                                        <p:tgtEl>
                                          <p:spTgt spid="1414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4147" grpId="0" animBg="1"/>
      <p:bldP spid="1414149" grpId="0" autoUpdateAnimBg="0"/>
      <p:bldP spid="1414150" grpId="0" autoUpdateAnimBg="0"/>
      <p:bldP spid="1414189" grpId="0" autoUpdateAnimBg="0"/>
      <p:bldP spid="1414190"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4"/>
          <p:cNvSpPr>
            <a:spLocks noChangeArrowheads="1"/>
          </p:cNvSpPr>
          <p:nvPr/>
        </p:nvSpPr>
        <p:spPr bwMode="auto">
          <a:xfrm>
            <a:off x="3097213" y="5834063"/>
            <a:ext cx="41021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50000"/>
              </a:spcBef>
              <a:spcAft>
                <a:spcPct val="0"/>
              </a:spcAft>
              <a:buFont typeface="Wingdings" pitchFamily="2" charset="2"/>
              <a:buNone/>
            </a:pPr>
            <a:r>
              <a:rPr kumimoji="1" lang="zh-CN" altLang="en-US" sz="4000" b="1">
                <a:solidFill>
                  <a:srgbClr val="000066"/>
                </a:solidFill>
                <a:latin typeface="黑体" pitchFamily="2" charset="-122"/>
                <a:ea typeface="黑体" pitchFamily="2" charset="-122"/>
              </a:rPr>
              <a:t>细粒土的结构</a:t>
            </a:r>
          </a:p>
        </p:txBody>
      </p:sp>
      <p:sp>
        <p:nvSpPr>
          <p:cNvPr id="86"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84" name="Rectangle 4"/>
          <p:cNvSpPr>
            <a:spLocks noChangeArrowheads="1"/>
          </p:cNvSpPr>
          <p:nvPr/>
        </p:nvSpPr>
        <p:spPr bwMode="auto">
          <a:xfrm>
            <a:off x="1205346" y="1214728"/>
            <a:ext cx="6743699" cy="371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625475" indent="-625475">
              <a:lnSpc>
                <a:spcPct val="125000"/>
              </a:lnSpc>
              <a:buClr>
                <a:srgbClr val="A50021"/>
              </a:buClr>
              <a:buSzPct val="130000"/>
              <a:buFont typeface="Wingdings" panose="05000000000000000000" pitchFamily="2" charset="2"/>
              <a:buChar char=""/>
            </a:pPr>
            <a:r>
              <a:rPr kumimoji="1" lang="zh-CN" altLang="en-US" sz="2600" b="1" dirty="0">
                <a:solidFill>
                  <a:srgbClr val="000066"/>
                </a:solidFill>
                <a:latin typeface="幼圆" pitchFamily="49" charset="-122"/>
                <a:ea typeface="幼圆" pitchFamily="49" charset="-122"/>
              </a:rPr>
              <a:t>当孔隙比相同时，凝聚结构较分散结构具有较高的强度、较低的压缩性和较大的</a:t>
            </a:r>
            <a:r>
              <a:rPr kumimoji="1" lang="zh-CN" altLang="en-US" sz="2600" b="1" dirty="0" smtClean="0">
                <a:solidFill>
                  <a:srgbClr val="000066"/>
                </a:solidFill>
                <a:latin typeface="幼圆" pitchFamily="49" charset="-122"/>
                <a:ea typeface="幼圆" pitchFamily="49" charset="-122"/>
              </a:rPr>
              <a:t>渗透性</a:t>
            </a:r>
            <a:endParaRPr kumimoji="1" lang="en-US" altLang="zh-CN" sz="2600" b="1" dirty="0" smtClean="0">
              <a:solidFill>
                <a:srgbClr val="000066"/>
              </a:solidFill>
              <a:latin typeface="幼圆" pitchFamily="49" charset="-122"/>
              <a:ea typeface="幼圆" pitchFamily="49" charset="-122"/>
            </a:endParaRPr>
          </a:p>
          <a:p>
            <a:pPr marL="625475" indent="-625475">
              <a:lnSpc>
                <a:spcPct val="125000"/>
              </a:lnSpc>
              <a:buClr>
                <a:srgbClr val="A50021"/>
              </a:buClr>
              <a:buSzPct val="130000"/>
              <a:buFont typeface="Wingdings" panose="05000000000000000000" pitchFamily="2" charset="2"/>
              <a:buChar char=""/>
            </a:pPr>
            <a:r>
              <a:rPr kumimoji="1" lang="zh-CN" altLang="en-US" sz="2600" b="1" dirty="0">
                <a:solidFill>
                  <a:srgbClr val="000066"/>
                </a:solidFill>
                <a:ea typeface="幼圆" pitchFamily="49" charset="-122"/>
              </a:rPr>
              <a:t>天然土的结构要复杂得多</a:t>
            </a:r>
            <a:r>
              <a:rPr kumimoji="1" lang="zh-CN" altLang="en-US" sz="2600" b="1" dirty="0" smtClean="0">
                <a:solidFill>
                  <a:srgbClr val="000066"/>
                </a:solidFill>
                <a:ea typeface="幼圆" pitchFamily="49" charset="-122"/>
              </a:rPr>
              <a:t>。往往</a:t>
            </a:r>
            <a:r>
              <a:rPr kumimoji="1" lang="zh-CN" altLang="en-US" sz="2600" b="1" dirty="0">
                <a:solidFill>
                  <a:srgbClr val="000066"/>
                </a:solidFill>
                <a:ea typeface="幼圆" pitchFamily="49" charset="-122"/>
              </a:rPr>
              <a:t>是先由颗粒连结成大小不等的团粒或片组，再由各种团粒</a:t>
            </a:r>
            <a:r>
              <a:rPr kumimoji="1" lang="zh-CN" altLang="en-US" sz="2600" b="1" dirty="0" smtClean="0">
                <a:solidFill>
                  <a:srgbClr val="000066"/>
                </a:solidFill>
                <a:ea typeface="幼圆" pitchFamily="49" charset="-122"/>
              </a:rPr>
              <a:t>和颗粒组成</a:t>
            </a:r>
            <a:r>
              <a:rPr kumimoji="1" lang="zh-CN" altLang="en-US" sz="2600" b="1" dirty="0">
                <a:solidFill>
                  <a:srgbClr val="000066"/>
                </a:solidFill>
                <a:ea typeface="幼圆" pitchFamily="49" charset="-122"/>
              </a:rPr>
              <a:t>不同</a:t>
            </a:r>
            <a:r>
              <a:rPr kumimoji="1" lang="zh-CN" altLang="en-US" sz="2600" b="1" dirty="0" smtClean="0">
                <a:solidFill>
                  <a:srgbClr val="000066"/>
                </a:solidFill>
                <a:ea typeface="幼圆" pitchFamily="49" charset="-122"/>
              </a:rPr>
              <a:t>的综合结构形式</a:t>
            </a:r>
            <a:endParaRPr kumimoji="1" lang="zh-CN" altLang="en-US" sz="2600" b="1" dirty="0">
              <a:solidFill>
                <a:srgbClr val="000066"/>
              </a:solidFill>
              <a:ea typeface="幼圆" pitchFamily="49" charset="-122"/>
            </a:endParaRPr>
          </a:p>
        </p:txBody>
      </p:sp>
    </p:spTree>
    <p:extLst>
      <p:ext uri="{BB962C8B-B14F-4D97-AF65-F5344CB8AC3E}">
        <p14:creationId xmlns:p14="http://schemas.microsoft.com/office/powerpoint/2010/main" val="98579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1000" fill="hold"/>
                                        <p:tgtEl>
                                          <p:spTgt spid="84"/>
                                        </p:tgtEl>
                                        <p:attrNameLst>
                                          <p:attrName>ppt_x</p:attrName>
                                        </p:attrNameLst>
                                      </p:cBhvr>
                                      <p:tavLst>
                                        <p:tav tm="0">
                                          <p:val>
                                            <p:strVal val="0-#ppt_w/2"/>
                                          </p:val>
                                        </p:tav>
                                        <p:tav tm="100000">
                                          <p:val>
                                            <p:strVal val="#ppt_x"/>
                                          </p:val>
                                        </p:tav>
                                      </p:tavLst>
                                    </p:anim>
                                    <p:anim calcmode="lin" valueType="num">
                                      <p:cBhvr additive="base">
                                        <p:cTn id="8" dur="1000" fill="hold"/>
                                        <p:tgtEl>
                                          <p:spTgt spid="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24"/>
          <p:cNvSpPr>
            <a:spLocks noChangeArrowheads="1"/>
          </p:cNvSpPr>
          <p:nvPr/>
        </p:nvSpPr>
        <p:spPr bwMode="auto">
          <a:xfrm>
            <a:off x="465137" y="858816"/>
            <a:ext cx="1798637" cy="511197"/>
          </a:xfrm>
          <a:prstGeom prst="rect">
            <a:avLst/>
          </a:prstGeom>
          <a:solidFill>
            <a:schemeClr val="accent6">
              <a:lumMod val="60000"/>
              <a:lumOff val="40000"/>
            </a:schemeClr>
          </a:solidFill>
          <a:ln>
            <a:noFill/>
          </a:ln>
        </p:spPr>
        <p:txBody>
          <a:bodyPr wrap="none" anchor="ctr"/>
          <a:lstStyle/>
          <a:p>
            <a:endParaRPr lang="zh-CN" altLang="en-US"/>
          </a:p>
        </p:txBody>
      </p:sp>
      <p:sp>
        <p:nvSpPr>
          <p:cNvPr id="1413123" name="Rectangle 3"/>
          <p:cNvSpPr>
            <a:spLocks noChangeArrowheads="1"/>
          </p:cNvSpPr>
          <p:nvPr/>
        </p:nvSpPr>
        <p:spPr bwMode="auto">
          <a:xfrm>
            <a:off x="2070100" y="5689600"/>
            <a:ext cx="61182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nSpc>
                <a:spcPct val="100000"/>
              </a:lnSpc>
              <a:spcBef>
                <a:spcPct val="50000"/>
              </a:spcBef>
              <a:spcAft>
                <a:spcPct val="0"/>
              </a:spcAft>
              <a:buFont typeface="Wingdings" pitchFamily="2" charset="2"/>
              <a:buNone/>
            </a:pPr>
            <a:r>
              <a:rPr kumimoji="1" lang="zh-CN" altLang="en-US" sz="4000" b="1" dirty="0" smtClean="0">
                <a:solidFill>
                  <a:srgbClr val="000066"/>
                </a:solidFill>
                <a:ea typeface="黑体" pitchFamily="2" charset="-122"/>
              </a:rPr>
              <a:t>反映黏性</a:t>
            </a:r>
            <a:r>
              <a:rPr kumimoji="1" lang="zh-CN" altLang="en-US" sz="4000" b="1" dirty="0">
                <a:solidFill>
                  <a:srgbClr val="000066"/>
                </a:solidFill>
                <a:ea typeface="黑体" pitchFamily="2" charset="-122"/>
              </a:rPr>
              <a:t>土结构性</a:t>
            </a:r>
            <a:r>
              <a:rPr kumimoji="1" lang="zh-CN" altLang="en-US" sz="4000" b="1" dirty="0" smtClean="0">
                <a:solidFill>
                  <a:srgbClr val="000066"/>
                </a:solidFill>
                <a:ea typeface="黑体" pitchFamily="2" charset="-122"/>
              </a:rPr>
              <a:t>的性质</a:t>
            </a:r>
            <a:endParaRPr kumimoji="1" lang="en-US" altLang="zh-CN" sz="4000" b="1" baseline="-25000" dirty="0">
              <a:solidFill>
                <a:srgbClr val="000066"/>
              </a:solidFill>
              <a:latin typeface="Arial Black" pitchFamily="34" charset="0"/>
              <a:ea typeface="黑体" pitchFamily="2" charset="-122"/>
            </a:endParaRPr>
          </a:p>
        </p:txBody>
      </p:sp>
      <p:sp>
        <p:nvSpPr>
          <p:cNvPr id="78852" name="Text Box 4"/>
          <p:cNvSpPr txBox="1">
            <a:spLocks noChangeArrowheads="1"/>
          </p:cNvSpPr>
          <p:nvPr/>
        </p:nvSpPr>
        <p:spPr bwMode="auto">
          <a:xfrm>
            <a:off x="517525" y="792163"/>
            <a:ext cx="1619250"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45000"/>
              </a:lnSpc>
              <a:buClr>
                <a:srgbClr val="C00000"/>
              </a:buClr>
              <a:buSzPct val="140000"/>
              <a:buFont typeface="Arial" pitchFamily="34" charset="0"/>
              <a:buChar char="•"/>
            </a:pPr>
            <a:r>
              <a:rPr kumimoji="1" lang="zh-CN" altLang="en-US" sz="2400" b="1" dirty="0">
                <a:solidFill>
                  <a:srgbClr val="000066"/>
                </a:solidFill>
                <a:latin typeface="幼圆" pitchFamily="49" charset="-122"/>
                <a:ea typeface="幼圆" pitchFamily="49" charset="-122"/>
              </a:rPr>
              <a:t> 灵敏度</a:t>
            </a:r>
          </a:p>
          <a:p>
            <a:pPr marL="342900" indent="-342900" eaLnBrk="1" hangingPunct="1">
              <a:lnSpc>
                <a:spcPct val="145000"/>
              </a:lnSpc>
              <a:buClr>
                <a:srgbClr val="C00000"/>
              </a:buClr>
              <a:buSzPct val="140000"/>
              <a:buFont typeface="Arial" pitchFamily="34" charset="0"/>
              <a:buChar char="•"/>
            </a:pPr>
            <a:r>
              <a:rPr kumimoji="1" lang="zh-CN" altLang="en-US" sz="2400" b="1" dirty="0">
                <a:solidFill>
                  <a:srgbClr val="000066"/>
                </a:solidFill>
                <a:latin typeface="幼圆" pitchFamily="49" charset="-122"/>
                <a:ea typeface="幼圆" pitchFamily="49" charset="-122"/>
              </a:rPr>
              <a:t> 触变性</a:t>
            </a:r>
            <a:endParaRPr lang="zh-CN" altLang="en-US" sz="2400" b="1" dirty="0">
              <a:solidFill>
                <a:srgbClr val="000066"/>
              </a:solidFill>
              <a:latin typeface="幼圆" pitchFamily="49" charset="-122"/>
              <a:ea typeface="幼圆" pitchFamily="49" charset="-122"/>
            </a:endParaRPr>
          </a:p>
        </p:txBody>
      </p:sp>
      <p:sp>
        <p:nvSpPr>
          <p:cNvPr id="1413127" name="AutoShape 7"/>
          <p:cNvSpPr>
            <a:spLocks noChangeArrowheads="1"/>
          </p:cNvSpPr>
          <p:nvPr/>
        </p:nvSpPr>
        <p:spPr bwMode="auto">
          <a:xfrm>
            <a:off x="2524919" y="936625"/>
            <a:ext cx="360363" cy="341313"/>
          </a:xfrm>
          <a:prstGeom prst="homePlate">
            <a:avLst>
              <a:gd name="adj" fmla="val 26395"/>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grpSp>
        <p:nvGrpSpPr>
          <p:cNvPr id="2" name="Group 8"/>
          <p:cNvGrpSpPr>
            <a:grpSpLocks/>
          </p:cNvGrpSpPr>
          <p:nvPr/>
        </p:nvGrpSpPr>
        <p:grpSpPr bwMode="auto">
          <a:xfrm>
            <a:off x="6153002" y="2355850"/>
            <a:ext cx="2292350" cy="3114675"/>
            <a:chOff x="4156" y="1589"/>
            <a:chExt cx="1444" cy="1962"/>
          </a:xfrm>
        </p:grpSpPr>
        <p:sp>
          <p:nvSpPr>
            <p:cNvPr id="78882" name="AutoShape 9"/>
            <p:cNvSpPr>
              <a:spLocks noChangeArrowheads="1"/>
            </p:cNvSpPr>
            <p:nvPr/>
          </p:nvSpPr>
          <p:spPr bwMode="auto">
            <a:xfrm>
              <a:off x="4156" y="1589"/>
              <a:ext cx="1444" cy="1962"/>
            </a:xfrm>
            <a:prstGeom prst="roundRect">
              <a:avLst>
                <a:gd name="adj" fmla="val 16667"/>
              </a:avLst>
            </a:prstGeom>
            <a:noFill/>
            <a:ln w="28575">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8883" name="Text Box 10"/>
            <p:cNvSpPr txBox="1">
              <a:spLocks noChangeArrowheads="1"/>
            </p:cNvSpPr>
            <p:nvPr/>
          </p:nvSpPr>
          <p:spPr bwMode="auto">
            <a:xfrm>
              <a:off x="4325" y="1612"/>
              <a:ext cx="385" cy="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35000"/>
                </a:spcBef>
                <a:spcAft>
                  <a:spcPct val="0"/>
                </a:spcAft>
              </a:pPr>
              <a:r>
                <a:rPr kumimoji="1" lang="en-US" altLang="zh-CN" sz="2200" b="1" i="1" dirty="0">
                  <a:solidFill>
                    <a:srgbClr val="000066"/>
                  </a:solidFill>
                  <a:ea typeface="幼圆" pitchFamily="49" charset="-122"/>
                  <a:cs typeface="Times New Roman" panose="02020603050405020304" pitchFamily="18" charset="0"/>
                </a:rPr>
                <a:t>S</a:t>
              </a:r>
              <a:r>
                <a:rPr kumimoji="1" lang="en-US" altLang="zh-CN" sz="2200" b="1" baseline="-25000" dirty="0">
                  <a:solidFill>
                    <a:srgbClr val="000066"/>
                  </a:solidFill>
                  <a:ea typeface="幼圆" pitchFamily="49" charset="-122"/>
                  <a:cs typeface="Times New Roman" panose="02020603050405020304" pitchFamily="18" charset="0"/>
                </a:rPr>
                <a:t>t</a:t>
              </a:r>
            </a:p>
            <a:p>
              <a:pPr eaLnBrk="1" hangingPunct="1">
                <a:lnSpc>
                  <a:spcPct val="120000"/>
                </a:lnSpc>
                <a:spcBef>
                  <a:spcPct val="35000"/>
                </a:spcBef>
                <a:spcAft>
                  <a:spcPct val="0"/>
                </a:spcAft>
              </a:pPr>
              <a:r>
                <a:rPr kumimoji="1" lang="en-US" altLang="zh-CN" sz="2200" b="1" dirty="0">
                  <a:solidFill>
                    <a:srgbClr val="000066"/>
                  </a:solidFill>
                  <a:ea typeface="幼圆" pitchFamily="49" charset="-122"/>
                  <a:cs typeface="Times New Roman" panose="02020603050405020304" pitchFamily="18" charset="0"/>
                </a:rPr>
                <a:t>1</a:t>
              </a:r>
            </a:p>
            <a:p>
              <a:pPr eaLnBrk="1" hangingPunct="1">
                <a:lnSpc>
                  <a:spcPct val="120000"/>
                </a:lnSpc>
                <a:spcBef>
                  <a:spcPct val="0"/>
                </a:spcBef>
                <a:spcAft>
                  <a:spcPct val="0"/>
                </a:spcAft>
              </a:pPr>
              <a:r>
                <a:rPr kumimoji="1" lang="en-US" altLang="zh-CN" sz="2200" b="1" dirty="0">
                  <a:solidFill>
                    <a:srgbClr val="000066"/>
                  </a:solidFill>
                  <a:ea typeface="幼圆" pitchFamily="49" charset="-122"/>
                  <a:cs typeface="Times New Roman" panose="02020603050405020304" pitchFamily="18" charset="0"/>
                </a:rPr>
                <a:t>1-2</a:t>
              </a:r>
            </a:p>
            <a:p>
              <a:pPr eaLnBrk="1" hangingPunct="1">
                <a:lnSpc>
                  <a:spcPct val="120000"/>
                </a:lnSpc>
                <a:spcBef>
                  <a:spcPct val="0"/>
                </a:spcBef>
                <a:spcAft>
                  <a:spcPct val="0"/>
                </a:spcAft>
              </a:pPr>
              <a:r>
                <a:rPr kumimoji="1" lang="en-US" altLang="zh-CN" sz="2200" b="1" dirty="0">
                  <a:solidFill>
                    <a:srgbClr val="000066"/>
                  </a:solidFill>
                  <a:ea typeface="幼圆" pitchFamily="49" charset="-122"/>
                  <a:cs typeface="Times New Roman" panose="02020603050405020304" pitchFamily="18" charset="0"/>
                </a:rPr>
                <a:t>2-4</a:t>
              </a:r>
            </a:p>
            <a:p>
              <a:pPr eaLnBrk="1" hangingPunct="1">
                <a:lnSpc>
                  <a:spcPct val="120000"/>
                </a:lnSpc>
                <a:spcBef>
                  <a:spcPct val="0"/>
                </a:spcBef>
                <a:spcAft>
                  <a:spcPct val="0"/>
                </a:spcAft>
              </a:pPr>
              <a:r>
                <a:rPr kumimoji="1" lang="en-US" altLang="zh-CN" sz="2200" b="1" dirty="0">
                  <a:solidFill>
                    <a:srgbClr val="000066"/>
                  </a:solidFill>
                  <a:ea typeface="幼圆" pitchFamily="49" charset="-122"/>
                  <a:cs typeface="Times New Roman" panose="02020603050405020304" pitchFamily="18" charset="0"/>
                </a:rPr>
                <a:t>4-8</a:t>
              </a:r>
            </a:p>
            <a:p>
              <a:pPr eaLnBrk="1" hangingPunct="1">
                <a:lnSpc>
                  <a:spcPct val="120000"/>
                </a:lnSpc>
                <a:spcBef>
                  <a:spcPct val="0"/>
                </a:spcBef>
                <a:spcAft>
                  <a:spcPct val="0"/>
                </a:spcAft>
              </a:pPr>
              <a:r>
                <a:rPr kumimoji="1" lang="en-US" altLang="zh-CN" sz="2200" b="1" dirty="0">
                  <a:solidFill>
                    <a:srgbClr val="000066"/>
                  </a:solidFill>
                  <a:ea typeface="幼圆" pitchFamily="49" charset="-122"/>
                  <a:cs typeface="Times New Roman" panose="02020603050405020304" pitchFamily="18" charset="0"/>
                </a:rPr>
                <a:t>8-16</a:t>
              </a:r>
            </a:p>
            <a:p>
              <a:pPr eaLnBrk="1" hangingPunct="1">
                <a:lnSpc>
                  <a:spcPct val="120000"/>
                </a:lnSpc>
                <a:spcBef>
                  <a:spcPct val="0"/>
                </a:spcBef>
                <a:spcAft>
                  <a:spcPct val="0"/>
                </a:spcAft>
              </a:pPr>
              <a:r>
                <a:rPr kumimoji="1" lang="en-US" altLang="zh-CN" sz="2200" b="1" dirty="0">
                  <a:solidFill>
                    <a:srgbClr val="000066"/>
                  </a:solidFill>
                  <a:ea typeface="幼圆" pitchFamily="49" charset="-122"/>
                  <a:cs typeface="Times New Roman" panose="02020603050405020304" pitchFamily="18" charset="0"/>
                </a:rPr>
                <a:t>&gt;16</a:t>
              </a:r>
            </a:p>
          </p:txBody>
        </p:sp>
        <p:sp>
          <p:nvSpPr>
            <p:cNvPr id="78884" name="Text Box 11"/>
            <p:cNvSpPr txBox="1">
              <a:spLocks noChangeArrowheads="1"/>
            </p:cNvSpPr>
            <p:nvPr/>
          </p:nvSpPr>
          <p:spPr bwMode="auto">
            <a:xfrm>
              <a:off x="4814" y="1607"/>
              <a:ext cx="768" cy="1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30000"/>
                </a:spcAft>
              </a:pPr>
              <a:r>
                <a:rPr kumimoji="1" lang="zh-CN" altLang="en-US" sz="2200" b="1" dirty="0" smtClean="0">
                  <a:solidFill>
                    <a:srgbClr val="000066"/>
                  </a:solidFill>
                  <a:latin typeface="幼圆" pitchFamily="49" charset="-122"/>
                  <a:ea typeface="幼圆" pitchFamily="49" charset="-122"/>
                </a:rPr>
                <a:t>黏性</a:t>
              </a:r>
              <a:r>
                <a:rPr kumimoji="1" lang="zh-CN" altLang="en-US" sz="2200" b="1" dirty="0">
                  <a:solidFill>
                    <a:srgbClr val="000066"/>
                  </a:solidFill>
                  <a:latin typeface="幼圆" pitchFamily="49" charset="-122"/>
                  <a:ea typeface="幼圆" pitchFamily="49" charset="-122"/>
                </a:rPr>
                <a:t>土</a:t>
              </a:r>
            </a:p>
            <a:p>
              <a:pPr eaLnBrk="1" hangingPunct="1">
                <a:lnSpc>
                  <a:spcPct val="120000"/>
                </a:lnSpc>
                <a:spcBef>
                  <a:spcPct val="0"/>
                </a:spcBef>
                <a:spcAft>
                  <a:spcPct val="0"/>
                </a:spcAft>
              </a:pPr>
              <a:r>
                <a:rPr kumimoji="1" lang="zh-CN" altLang="en-US" sz="2200" b="1" dirty="0">
                  <a:solidFill>
                    <a:srgbClr val="000066"/>
                  </a:solidFill>
                  <a:latin typeface="幼圆" pitchFamily="49" charset="-122"/>
                  <a:ea typeface="幼圆" pitchFamily="49" charset="-122"/>
                </a:rPr>
                <a:t>不灵敏</a:t>
              </a:r>
            </a:p>
            <a:p>
              <a:pPr eaLnBrk="1" hangingPunct="1">
                <a:lnSpc>
                  <a:spcPct val="120000"/>
                </a:lnSpc>
                <a:spcBef>
                  <a:spcPct val="0"/>
                </a:spcBef>
                <a:spcAft>
                  <a:spcPct val="0"/>
                </a:spcAft>
              </a:pPr>
              <a:r>
                <a:rPr kumimoji="1" lang="zh-CN" altLang="en-US" sz="2200" b="1" dirty="0">
                  <a:solidFill>
                    <a:srgbClr val="000066"/>
                  </a:solidFill>
                  <a:latin typeface="幼圆" pitchFamily="49" charset="-122"/>
                  <a:ea typeface="幼圆" pitchFamily="49" charset="-122"/>
                </a:rPr>
                <a:t>低灵敏</a:t>
              </a:r>
            </a:p>
            <a:p>
              <a:pPr eaLnBrk="1" hangingPunct="1">
                <a:lnSpc>
                  <a:spcPct val="120000"/>
                </a:lnSpc>
                <a:spcBef>
                  <a:spcPct val="0"/>
                </a:spcBef>
                <a:spcAft>
                  <a:spcPct val="0"/>
                </a:spcAft>
              </a:pPr>
              <a:r>
                <a:rPr kumimoji="1" lang="zh-CN" altLang="en-US" sz="2200" b="1" dirty="0">
                  <a:solidFill>
                    <a:srgbClr val="000066"/>
                  </a:solidFill>
                  <a:latin typeface="幼圆" pitchFamily="49" charset="-122"/>
                  <a:ea typeface="幼圆" pitchFamily="49" charset="-122"/>
                </a:rPr>
                <a:t>中等灵敏</a:t>
              </a:r>
            </a:p>
            <a:p>
              <a:pPr eaLnBrk="1" hangingPunct="1">
                <a:lnSpc>
                  <a:spcPct val="120000"/>
                </a:lnSpc>
                <a:spcBef>
                  <a:spcPct val="0"/>
                </a:spcBef>
                <a:spcAft>
                  <a:spcPct val="0"/>
                </a:spcAft>
              </a:pPr>
              <a:r>
                <a:rPr kumimoji="1" lang="zh-CN" altLang="en-US" sz="2200" b="1" dirty="0">
                  <a:solidFill>
                    <a:srgbClr val="000066"/>
                  </a:solidFill>
                  <a:latin typeface="幼圆" pitchFamily="49" charset="-122"/>
                  <a:ea typeface="幼圆" pitchFamily="49" charset="-122"/>
                </a:rPr>
                <a:t>灵敏</a:t>
              </a:r>
            </a:p>
            <a:p>
              <a:pPr eaLnBrk="1" hangingPunct="1">
                <a:lnSpc>
                  <a:spcPct val="120000"/>
                </a:lnSpc>
                <a:spcBef>
                  <a:spcPct val="0"/>
                </a:spcBef>
                <a:spcAft>
                  <a:spcPct val="0"/>
                </a:spcAft>
              </a:pPr>
              <a:r>
                <a:rPr kumimoji="1" lang="zh-CN" altLang="en-US" sz="2200" b="1" dirty="0">
                  <a:solidFill>
                    <a:srgbClr val="000066"/>
                  </a:solidFill>
                  <a:latin typeface="幼圆" pitchFamily="49" charset="-122"/>
                  <a:ea typeface="幼圆" pitchFamily="49" charset="-122"/>
                </a:rPr>
                <a:t>很灵敏</a:t>
              </a:r>
            </a:p>
            <a:p>
              <a:pPr eaLnBrk="1" hangingPunct="1">
                <a:lnSpc>
                  <a:spcPct val="120000"/>
                </a:lnSpc>
                <a:spcBef>
                  <a:spcPct val="0"/>
                </a:spcBef>
                <a:spcAft>
                  <a:spcPct val="0"/>
                </a:spcAft>
              </a:pPr>
              <a:r>
                <a:rPr kumimoji="1" lang="zh-CN" altLang="en-US" sz="2200" b="1" dirty="0">
                  <a:solidFill>
                    <a:srgbClr val="000066"/>
                  </a:solidFill>
                  <a:latin typeface="幼圆" pitchFamily="49" charset="-122"/>
                  <a:ea typeface="幼圆" pitchFamily="49" charset="-122"/>
                </a:rPr>
                <a:t>流动</a:t>
              </a:r>
            </a:p>
          </p:txBody>
        </p:sp>
      </p:grpSp>
      <p:grpSp>
        <p:nvGrpSpPr>
          <p:cNvPr id="3" name="Group 12"/>
          <p:cNvGrpSpPr>
            <a:grpSpLocks/>
          </p:cNvGrpSpPr>
          <p:nvPr/>
        </p:nvGrpSpPr>
        <p:grpSpPr bwMode="auto">
          <a:xfrm>
            <a:off x="335541" y="2593975"/>
            <a:ext cx="5245100" cy="2801938"/>
            <a:chOff x="147" y="1682"/>
            <a:chExt cx="3304" cy="1765"/>
          </a:xfrm>
        </p:grpSpPr>
        <p:sp>
          <p:nvSpPr>
            <p:cNvPr id="78860" name="AutoShape 13"/>
            <p:cNvSpPr>
              <a:spLocks noChangeArrowheads="1"/>
            </p:cNvSpPr>
            <p:nvPr/>
          </p:nvSpPr>
          <p:spPr bwMode="auto">
            <a:xfrm>
              <a:off x="684" y="2246"/>
              <a:ext cx="385" cy="674"/>
            </a:xfrm>
            <a:prstGeom prst="flowChartMagneticDisk">
              <a:avLst/>
            </a:prstGeom>
            <a:solidFill>
              <a:schemeClr val="accent6">
                <a:lumMod val="75000"/>
              </a:schemeClr>
            </a:solidFill>
            <a:ln w="22225">
              <a:solidFill>
                <a:srgbClr val="000066"/>
              </a:solidFill>
              <a:miter lim="800000"/>
              <a:headEnd/>
              <a:tailEnd/>
            </a:ln>
          </p:spPr>
          <p:txBody>
            <a:bodyPr lIns="0" rIns="0" anchor="ctr">
              <a:spAutoFit/>
            </a:bodyPr>
            <a:lstStyle/>
            <a:p>
              <a:endParaRPr lang="zh-CN" altLang="en-US"/>
            </a:p>
          </p:txBody>
        </p:sp>
        <p:sp>
          <p:nvSpPr>
            <p:cNvPr id="78861" name="Line 14"/>
            <p:cNvSpPr>
              <a:spLocks noChangeShapeType="1"/>
            </p:cNvSpPr>
            <p:nvPr/>
          </p:nvSpPr>
          <p:spPr bwMode="auto">
            <a:xfrm flipV="1">
              <a:off x="413" y="2565"/>
              <a:ext cx="336" cy="200"/>
            </a:xfrm>
            <a:prstGeom prst="line">
              <a:avLst/>
            </a:prstGeom>
            <a:noFill/>
            <a:ln w="38100">
              <a:solidFill>
                <a:srgbClr val="000066"/>
              </a:solidFill>
              <a:miter lim="800000"/>
              <a:headEnd/>
              <a:tailEnd type="triangle" w="med" len="lg"/>
            </a:ln>
            <a:extLst>
              <a:ext uri="{909E8E84-426E-40DD-AFC4-6F175D3DCCD1}">
                <a14:hiddenFill xmlns:a14="http://schemas.microsoft.com/office/drawing/2010/main">
                  <a:noFill/>
                </a14:hiddenFill>
              </a:ext>
            </a:extLst>
          </p:spPr>
          <p:txBody>
            <a:bodyPr lIns="0" rIns="0">
              <a:spAutoFit/>
            </a:bodyPr>
            <a:lstStyle/>
            <a:p>
              <a:endParaRPr lang="zh-CN" altLang="en-US"/>
            </a:p>
          </p:txBody>
        </p:sp>
        <p:sp>
          <p:nvSpPr>
            <p:cNvPr id="78862" name="Line 15"/>
            <p:cNvSpPr>
              <a:spLocks noChangeShapeType="1"/>
            </p:cNvSpPr>
            <p:nvPr/>
          </p:nvSpPr>
          <p:spPr bwMode="auto">
            <a:xfrm>
              <a:off x="887" y="2053"/>
              <a:ext cx="0" cy="289"/>
            </a:xfrm>
            <a:prstGeom prst="line">
              <a:avLst/>
            </a:prstGeom>
            <a:noFill/>
            <a:ln w="38100">
              <a:solidFill>
                <a:srgbClr val="000066"/>
              </a:solidFill>
              <a:miter lim="800000"/>
              <a:headEnd/>
              <a:tailEnd type="triangle" w="med" len="lg"/>
            </a:ln>
            <a:extLst>
              <a:ext uri="{909E8E84-426E-40DD-AFC4-6F175D3DCCD1}">
                <a14:hiddenFill xmlns:a14="http://schemas.microsoft.com/office/drawing/2010/main">
                  <a:noFill/>
                </a14:hiddenFill>
              </a:ext>
            </a:extLst>
          </p:spPr>
          <p:txBody>
            <a:bodyPr lIns="0" rIns="0">
              <a:spAutoFit/>
            </a:bodyPr>
            <a:lstStyle/>
            <a:p>
              <a:endParaRPr lang="zh-CN" altLang="en-US"/>
            </a:p>
          </p:txBody>
        </p:sp>
        <p:sp>
          <p:nvSpPr>
            <p:cNvPr id="78863" name="Line 16"/>
            <p:cNvSpPr>
              <a:spLocks noChangeShapeType="1"/>
            </p:cNvSpPr>
            <p:nvPr/>
          </p:nvSpPr>
          <p:spPr bwMode="auto">
            <a:xfrm flipV="1">
              <a:off x="883" y="2932"/>
              <a:ext cx="0" cy="253"/>
            </a:xfrm>
            <a:prstGeom prst="line">
              <a:avLst/>
            </a:prstGeom>
            <a:noFill/>
            <a:ln w="38100">
              <a:solidFill>
                <a:srgbClr val="000066"/>
              </a:solidFill>
              <a:miter lim="800000"/>
              <a:headEnd/>
              <a:tailEnd type="triangle" w="med" len="lg"/>
            </a:ln>
            <a:extLst>
              <a:ext uri="{909E8E84-426E-40DD-AFC4-6F175D3DCCD1}">
                <a14:hiddenFill xmlns:a14="http://schemas.microsoft.com/office/drawing/2010/main">
                  <a:noFill/>
                </a14:hiddenFill>
              </a:ext>
            </a:extLst>
          </p:spPr>
          <p:txBody>
            <a:bodyPr lIns="0" rIns="0">
              <a:spAutoFit/>
            </a:bodyPr>
            <a:lstStyle/>
            <a:p>
              <a:endParaRPr lang="zh-CN" altLang="en-US"/>
            </a:p>
          </p:txBody>
        </p:sp>
        <p:sp>
          <p:nvSpPr>
            <p:cNvPr id="78864" name="Text Box 17"/>
            <p:cNvSpPr txBox="1">
              <a:spLocks noChangeArrowheads="1"/>
            </p:cNvSpPr>
            <p:nvPr/>
          </p:nvSpPr>
          <p:spPr bwMode="auto">
            <a:xfrm>
              <a:off x="639" y="1890"/>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i="1" dirty="0">
                  <a:solidFill>
                    <a:srgbClr val="000066"/>
                  </a:solidFill>
                  <a:ea typeface="幼圆" pitchFamily="49" charset="-122"/>
                  <a:sym typeface="Symbol" pitchFamily="18" charset="2"/>
                </a:rPr>
                <a:t></a:t>
              </a:r>
            </a:p>
          </p:txBody>
        </p:sp>
        <p:sp>
          <p:nvSpPr>
            <p:cNvPr id="78865" name="Text Box 18"/>
            <p:cNvSpPr txBox="1">
              <a:spLocks noChangeArrowheads="1"/>
            </p:cNvSpPr>
            <p:nvPr/>
          </p:nvSpPr>
          <p:spPr bwMode="auto">
            <a:xfrm>
              <a:off x="571" y="2958"/>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i="1" dirty="0">
                  <a:solidFill>
                    <a:srgbClr val="000066"/>
                  </a:solidFill>
                  <a:ea typeface="幼圆" pitchFamily="49" charset="-122"/>
                  <a:sym typeface="Symbol" pitchFamily="18" charset="2"/>
                </a:rPr>
                <a:t></a:t>
              </a:r>
            </a:p>
          </p:txBody>
        </p:sp>
        <p:sp>
          <p:nvSpPr>
            <p:cNvPr id="78866" name="Text Box 19"/>
            <p:cNvSpPr txBox="1">
              <a:spLocks noChangeArrowheads="1"/>
            </p:cNvSpPr>
            <p:nvPr/>
          </p:nvSpPr>
          <p:spPr bwMode="auto">
            <a:xfrm>
              <a:off x="147" y="2286"/>
              <a:ext cx="5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i="1" dirty="0">
                  <a:solidFill>
                    <a:srgbClr val="000066"/>
                  </a:solidFill>
                  <a:ea typeface="幼圆" pitchFamily="49" charset="-122"/>
                  <a:sym typeface="Symbol" pitchFamily="18" charset="2"/>
                </a:rPr>
                <a:t></a:t>
              </a:r>
              <a:r>
                <a:rPr lang="en-US" altLang="zh-CN" sz="2400" b="1" baseline="-25000" dirty="0">
                  <a:solidFill>
                    <a:srgbClr val="000066"/>
                  </a:solidFill>
                  <a:ea typeface="幼圆" pitchFamily="49" charset="-122"/>
                  <a:sym typeface="Symbol" pitchFamily="18" charset="2"/>
                </a:rPr>
                <a:t>3</a:t>
              </a:r>
              <a:r>
                <a:rPr lang="en-US" altLang="zh-CN" sz="2400" b="1" dirty="0">
                  <a:solidFill>
                    <a:srgbClr val="000066"/>
                  </a:solidFill>
                  <a:ea typeface="幼圆" pitchFamily="49" charset="-122"/>
                  <a:sym typeface="Symbol" pitchFamily="18" charset="2"/>
                </a:rPr>
                <a:t>=0</a:t>
              </a:r>
            </a:p>
          </p:txBody>
        </p:sp>
        <p:sp>
          <p:nvSpPr>
            <p:cNvPr id="78867" name="Freeform 20"/>
            <p:cNvSpPr>
              <a:spLocks/>
            </p:cNvSpPr>
            <p:nvPr/>
          </p:nvSpPr>
          <p:spPr bwMode="auto">
            <a:xfrm>
              <a:off x="1681" y="2474"/>
              <a:ext cx="1170" cy="689"/>
            </a:xfrm>
            <a:custGeom>
              <a:avLst/>
              <a:gdLst>
                <a:gd name="T0" fmla="*/ 0 w 1776"/>
                <a:gd name="T1" fmla="*/ 533 h 784"/>
                <a:gd name="T2" fmla="*/ 55 w 1776"/>
                <a:gd name="T3" fmla="*/ 304 h 784"/>
                <a:gd name="T4" fmla="*/ 151 w 1776"/>
                <a:gd name="T5" fmla="*/ 76 h 784"/>
                <a:gd name="T6" fmla="*/ 329 w 1776"/>
                <a:gd name="T7" fmla="*/ 11 h 784"/>
                <a:gd name="T8" fmla="*/ 508 w 1776"/>
                <a:gd name="T9" fmla="*/ 11 h 784"/>
                <a:gd name="T10" fmla="*/ 0 60000 65536"/>
                <a:gd name="T11" fmla="*/ 0 60000 65536"/>
                <a:gd name="T12" fmla="*/ 0 60000 65536"/>
                <a:gd name="T13" fmla="*/ 0 60000 65536"/>
                <a:gd name="T14" fmla="*/ 0 60000 65536"/>
                <a:gd name="T15" fmla="*/ 0 w 1776"/>
                <a:gd name="T16" fmla="*/ 0 h 784"/>
                <a:gd name="T17" fmla="*/ 1776 w 1776"/>
                <a:gd name="T18" fmla="*/ 784 h 784"/>
              </a:gdLst>
              <a:ahLst/>
              <a:cxnLst>
                <a:cxn ang="T10">
                  <a:pos x="T0" y="T1"/>
                </a:cxn>
                <a:cxn ang="T11">
                  <a:pos x="T2" y="T3"/>
                </a:cxn>
                <a:cxn ang="T12">
                  <a:pos x="T4" y="T5"/>
                </a:cxn>
                <a:cxn ang="T13">
                  <a:pos x="T6" y="T7"/>
                </a:cxn>
                <a:cxn ang="T14">
                  <a:pos x="T8" y="T9"/>
                </a:cxn>
              </a:cxnLst>
              <a:rect l="T15" t="T16" r="T17" b="T18"/>
              <a:pathLst>
                <a:path w="1776" h="784">
                  <a:moveTo>
                    <a:pt x="0" y="784"/>
                  </a:moveTo>
                  <a:cubicBezTo>
                    <a:pt x="52" y="672"/>
                    <a:pt x="104" y="560"/>
                    <a:pt x="192" y="448"/>
                  </a:cubicBezTo>
                  <a:cubicBezTo>
                    <a:pt x="280" y="336"/>
                    <a:pt x="368" y="184"/>
                    <a:pt x="528" y="112"/>
                  </a:cubicBezTo>
                  <a:cubicBezTo>
                    <a:pt x="688" y="40"/>
                    <a:pt x="944" y="32"/>
                    <a:pt x="1152" y="16"/>
                  </a:cubicBezTo>
                  <a:cubicBezTo>
                    <a:pt x="1360" y="0"/>
                    <a:pt x="1672" y="16"/>
                    <a:pt x="1776" y="16"/>
                  </a:cubicBezTo>
                </a:path>
              </a:pathLst>
            </a:cu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endParaRPr lang="zh-CN" altLang="en-US"/>
            </a:p>
          </p:txBody>
        </p:sp>
        <p:sp>
          <p:nvSpPr>
            <p:cNvPr id="78868" name="Freeform 21"/>
            <p:cNvSpPr>
              <a:spLocks/>
            </p:cNvSpPr>
            <p:nvPr/>
          </p:nvSpPr>
          <p:spPr bwMode="auto">
            <a:xfrm>
              <a:off x="1681" y="2068"/>
              <a:ext cx="1170" cy="1095"/>
            </a:xfrm>
            <a:custGeom>
              <a:avLst/>
              <a:gdLst>
                <a:gd name="T0" fmla="*/ 0 w 1776"/>
                <a:gd name="T1" fmla="*/ 2136 h 784"/>
                <a:gd name="T2" fmla="*/ 55 w 1776"/>
                <a:gd name="T3" fmla="*/ 1221 h 784"/>
                <a:gd name="T4" fmla="*/ 151 w 1776"/>
                <a:gd name="T5" fmla="*/ 304 h 784"/>
                <a:gd name="T6" fmla="*/ 329 w 1776"/>
                <a:gd name="T7" fmla="*/ 43 h 784"/>
                <a:gd name="T8" fmla="*/ 508 w 1776"/>
                <a:gd name="T9" fmla="*/ 43 h 784"/>
                <a:gd name="T10" fmla="*/ 0 60000 65536"/>
                <a:gd name="T11" fmla="*/ 0 60000 65536"/>
                <a:gd name="T12" fmla="*/ 0 60000 65536"/>
                <a:gd name="T13" fmla="*/ 0 60000 65536"/>
                <a:gd name="T14" fmla="*/ 0 60000 65536"/>
                <a:gd name="T15" fmla="*/ 0 w 1776"/>
                <a:gd name="T16" fmla="*/ 0 h 784"/>
                <a:gd name="T17" fmla="*/ 1776 w 1776"/>
                <a:gd name="T18" fmla="*/ 784 h 784"/>
              </a:gdLst>
              <a:ahLst/>
              <a:cxnLst>
                <a:cxn ang="T10">
                  <a:pos x="T0" y="T1"/>
                </a:cxn>
                <a:cxn ang="T11">
                  <a:pos x="T2" y="T3"/>
                </a:cxn>
                <a:cxn ang="T12">
                  <a:pos x="T4" y="T5"/>
                </a:cxn>
                <a:cxn ang="T13">
                  <a:pos x="T6" y="T7"/>
                </a:cxn>
                <a:cxn ang="T14">
                  <a:pos x="T8" y="T9"/>
                </a:cxn>
              </a:cxnLst>
              <a:rect l="T15" t="T16" r="T17" b="T18"/>
              <a:pathLst>
                <a:path w="1776" h="784">
                  <a:moveTo>
                    <a:pt x="0" y="784"/>
                  </a:moveTo>
                  <a:cubicBezTo>
                    <a:pt x="52" y="672"/>
                    <a:pt x="104" y="560"/>
                    <a:pt x="192" y="448"/>
                  </a:cubicBezTo>
                  <a:cubicBezTo>
                    <a:pt x="280" y="336"/>
                    <a:pt x="368" y="184"/>
                    <a:pt x="528" y="112"/>
                  </a:cubicBezTo>
                  <a:cubicBezTo>
                    <a:pt x="688" y="40"/>
                    <a:pt x="944" y="32"/>
                    <a:pt x="1152" y="16"/>
                  </a:cubicBezTo>
                  <a:cubicBezTo>
                    <a:pt x="1360" y="0"/>
                    <a:pt x="1672" y="16"/>
                    <a:pt x="1776" y="16"/>
                  </a:cubicBezTo>
                </a:path>
              </a:pathLst>
            </a:cu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endParaRPr lang="zh-CN" altLang="en-US"/>
            </a:p>
          </p:txBody>
        </p:sp>
        <p:sp>
          <p:nvSpPr>
            <p:cNvPr id="78869" name="Line 22"/>
            <p:cNvSpPr>
              <a:spLocks noChangeShapeType="1"/>
            </p:cNvSpPr>
            <p:nvPr/>
          </p:nvSpPr>
          <p:spPr bwMode="auto">
            <a:xfrm>
              <a:off x="1681" y="2489"/>
              <a:ext cx="1170" cy="0"/>
            </a:xfrm>
            <a:prstGeom prst="line">
              <a:avLst/>
            </a:prstGeom>
            <a:noFill/>
            <a:ln w="31750">
              <a:solidFill>
                <a:srgbClr val="000066"/>
              </a:solidFill>
              <a:prstDash val="sysDot"/>
              <a:miter lim="800000"/>
              <a:headEnd/>
              <a:tailEnd/>
            </a:ln>
            <a:extLst>
              <a:ext uri="{909E8E84-426E-40DD-AFC4-6F175D3DCCD1}">
                <a14:hiddenFill xmlns:a14="http://schemas.microsoft.com/office/drawing/2010/main">
                  <a:noFill/>
                </a14:hiddenFill>
              </a:ext>
            </a:extLst>
          </p:spPr>
          <p:txBody>
            <a:bodyPr lIns="0" rIns="0">
              <a:spAutoFit/>
            </a:bodyPr>
            <a:lstStyle/>
            <a:p>
              <a:endParaRPr lang="zh-CN" altLang="en-US"/>
            </a:p>
          </p:txBody>
        </p:sp>
        <p:sp>
          <p:nvSpPr>
            <p:cNvPr id="78870" name="Line 23"/>
            <p:cNvSpPr>
              <a:spLocks noChangeShapeType="1"/>
            </p:cNvSpPr>
            <p:nvPr/>
          </p:nvSpPr>
          <p:spPr bwMode="auto">
            <a:xfrm>
              <a:off x="1681" y="2068"/>
              <a:ext cx="1170" cy="0"/>
            </a:xfrm>
            <a:prstGeom prst="line">
              <a:avLst/>
            </a:prstGeom>
            <a:noFill/>
            <a:ln w="31750">
              <a:solidFill>
                <a:srgbClr val="000066"/>
              </a:solidFill>
              <a:prstDash val="sysDot"/>
              <a:miter lim="800000"/>
              <a:headEnd/>
              <a:tailEnd/>
            </a:ln>
            <a:extLst>
              <a:ext uri="{909E8E84-426E-40DD-AFC4-6F175D3DCCD1}">
                <a14:hiddenFill xmlns:a14="http://schemas.microsoft.com/office/drawing/2010/main">
                  <a:noFill/>
                </a14:hiddenFill>
              </a:ext>
            </a:extLst>
          </p:spPr>
          <p:txBody>
            <a:bodyPr lIns="0" rIns="0">
              <a:spAutoFit/>
            </a:bodyPr>
            <a:lstStyle/>
            <a:p>
              <a:endParaRPr lang="zh-CN" altLang="en-US"/>
            </a:p>
          </p:txBody>
        </p:sp>
        <p:sp>
          <p:nvSpPr>
            <p:cNvPr id="78872" name="Text Box 25"/>
            <p:cNvSpPr txBox="1">
              <a:spLocks noChangeArrowheads="1"/>
            </p:cNvSpPr>
            <p:nvPr/>
          </p:nvSpPr>
          <p:spPr bwMode="auto">
            <a:xfrm>
              <a:off x="1683" y="1682"/>
              <a:ext cx="232"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a:solidFill>
                    <a:srgbClr val="000066"/>
                  </a:solidFill>
                  <a:ea typeface="幼圆" pitchFamily="49" charset="-122"/>
                  <a:sym typeface="Symbol" pitchFamily="18" charset="2"/>
                </a:rPr>
                <a:t></a:t>
              </a:r>
            </a:p>
          </p:txBody>
        </p:sp>
        <p:sp>
          <p:nvSpPr>
            <p:cNvPr id="78873" name="Text Box 26"/>
            <p:cNvSpPr txBox="1">
              <a:spLocks noChangeArrowheads="1"/>
            </p:cNvSpPr>
            <p:nvPr/>
          </p:nvSpPr>
          <p:spPr bwMode="auto">
            <a:xfrm>
              <a:off x="2750" y="3156"/>
              <a:ext cx="2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i="1" dirty="0">
                  <a:solidFill>
                    <a:srgbClr val="000066"/>
                  </a:solidFill>
                  <a:ea typeface="幼圆" pitchFamily="49" charset="-122"/>
                  <a:sym typeface="Symbol" pitchFamily="18" charset="2"/>
                </a:rPr>
                <a:t></a:t>
              </a:r>
            </a:p>
          </p:txBody>
        </p:sp>
        <p:sp>
          <p:nvSpPr>
            <p:cNvPr id="78874" name="Text Box 27"/>
            <p:cNvSpPr txBox="1">
              <a:spLocks noChangeArrowheads="1"/>
            </p:cNvSpPr>
            <p:nvPr/>
          </p:nvSpPr>
          <p:spPr bwMode="auto">
            <a:xfrm>
              <a:off x="1344" y="1863"/>
              <a:ext cx="3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400" b="1" i="1" dirty="0" smtClean="0">
                  <a:solidFill>
                    <a:srgbClr val="000066"/>
                  </a:solidFill>
                  <a:ea typeface="幼圆" pitchFamily="49" charset="-122"/>
                </a:rPr>
                <a:t>q</a:t>
              </a:r>
              <a:r>
                <a:rPr lang="en-US" altLang="zh-CN" sz="2400" b="1" baseline="-25000" dirty="0" smtClean="0">
                  <a:solidFill>
                    <a:srgbClr val="000066"/>
                  </a:solidFill>
                  <a:ea typeface="幼圆" pitchFamily="49" charset="-122"/>
                </a:rPr>
                <a:t>u1</a:t>
              </a:r>
              <a:endParaRPr lang="en-US" altLang="zh-CN" sz="2400" b="1" dirty="0">
                <a:solidFill>
                  <a:srgbClr val="000066"/>
                </a:solidFill>
                <a:ea typeface="幼圆" pitchFamily="49" charset="-122"/>
              </a:endParaRPr>
            </a:p>
          </p:txBody>
        </p:sp>
        <p:grpSp>
          <p:nvGrpSpPr>
            <p:cNvPr id="78875" name="Group 28"/>
            <p:cNvGrpSpPr>
              <a:grpSpLocks/>
            </p:cNvGrpSpPr>
            <p:nvPr/>
          </p:nvGrpSpPr>
          <p:grpSpPr bwMode="auto">
            <a:xfrm>
              <a:off x="1340" y="2281"/>
              <a:ext cx="361" cy="291"/>
              <a:chOff x="1840" y="1770"/>
              <a:chExt cx="361" cy="246"/>
            </a:xfrm>
          </p:grpSpPr>
          <p:sp>
            <p:nvSpPr>
              <p:cNvPr id="78880" name="Text Box 29"/>
              <p:cNvSpPr txBox="1">
                <a:spLocks noChangeArrowheads="1"/>
              </p:cNvSpPr>
              <p:nvPr/>
            </p:nvSpPr>
            <p:spPr bwMode="auto">
              <a:xfrm>
                <a:off x="1840" y="1770"/>
                <a:ext cx="361"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400" b="1" i="1" dirty="0" smtClean="0">
                    <a:solidFill>
                      <a:srgbClr val="000066"/>
                    </a:solidFill>
                    <a:ea typeface="幼圆" pitchFamily="49" charset="-122"/>
                  </a:rPr>
                  <a:t>q</a:t>
                </a:r>
                <a:r>
                  <a:rPr lang="en-US" altLang="zh-CN" sz="2400" b="1" baseline="-25000" dirty="0" smtClean="0">
                    <a:solidFill>
                      <a:srgbClr val="000066"/>
                    </a:solidFill>
                    <a:ea typeface="幼圆" pitchFamily="49" charset="-122"/>
                  </a:rPr>
                  <a:t>u2</a:t>
                </a:r>
                <a:endParaRPr lang="en-US" altLang="zh-CN" sz="2400" b="1" dirty="0">
                  <a:solidFill>
                    <a:srgbClr val="000066"/>
                  </a:solidFill>
                  <a:ea typeface="幼圆" pitchFamily="49" charset="-122"/>
                </a:endParaRPr>
              </a:p>
            </p:txBody>
          </p:sp>
          <p:sp>
            <p:nvSpPr>
              <p:cNvPr id="78881" name="Line 30"/>
              <p:cNvSpPr>
                <a:spLocks noChangeShapeType="1"/>
              </p:cNvSpPr>
              <p:nvPr/>
            </p:nvSpPr>
            <p:spPr bwMode="auto">
              <a:xfrm>
                <a:off x="1920" y="1862"/>
                <a:ext cx="8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8876" name="Freeform 31"/>
            <p:cNvSpPr>
              <a:spLocks/>
            </p:cNvSpPr>
            <p:nvPr/>
          </p:nvSpPr>
          <p:spPr bwMode="auto">
            <a:xfrm>
              <a:off x="1658" y="1878"/>
              <a:ext cx="1268" cy="1289"/>
            </a:xfrm>
            <a:custGeom>
              <a:avLst/>
              <a:gdLst>
                <a:gd name="T0" fmla="*/ 0 w 1268"/>
                <a:gd name="T1" fmla="*/ 0 h 1013"/>
                <a:gd name="T2" fmla="*/ 0 w 1268"/>
                <a:gd name="T3" fmla="*/ 2087 h 1013"/>
                <a:gd name="T4" fmla="*/ 1268 w 1268"/>
                <a:gd name="T5" fmla="*/ 2087 h 1013"/>
                <a:gd name="T6" fmla="*/ 0 60000 65536"/>
                <a:gd name="T7" fmla="*/ 0 60000 65536"/>
                <a:gd name="T8" fmla="*/ 0 60000 65536"/>
                <a:gd name="T9" fmla="*/ 0 w 1268"/>
                <a:gd name="T10" fmla="*/ 0 h 1013"/>
                <a:gd name="T11" fmla="*/ 1268 w 1268"/>
                <a:gd name="T12" fmla="*/ 1013 h 1013"/>
              </a:gdLst>
              <a:ahLst/>
              <a:cxnLst>
                <a:cxn ang="T6">
                  <a:pos x="T0" y="T1"/>
                </a:cxn>
                <a:cxn ang="T7">
                  <a:pos x="T2" y="T3"/>
                </a:cxn>
                <a:cxn ang="T8">
                  <a:pos x="T4" y="T5"/>
                </a:cxn>
              </a:cxnLst>
              <a:rect l="T9" t="T10" r="T11" b="T12"/>
              <a:pathLst>
                <a:path w="1268" h="1013">
                  <a:moveTo>
                    <a:pt x="0" y="0"/>
                  </a:moveTo>
                  <a:lnTo>
                    <a:pt x="0" y="1013"/>
                  </a:lnTo>
                  <a:lnTo>
                    <a:pt x="1268" y="1013"/>
                  </a:lnTo>
                </a:path>
              </a:pathLst>
            </a:custGeom>
            <a:noFill/>
            <a:ln w="28575">
              <a:solidFill>
                <a:srgbClr val="000066"/>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77" name="Text Box 32"/>
            <p:cNvSpPr txBox="1">
              <a:spLocks noChangeArrowheads="1"/>
            </p:cNvSpPr>
            <p:nvPr/>
          </p:nvSpPr>
          <p:spPr bwMode="auto">
            <a:xfrm>
              <a:off x="2833" y="1936"/>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a:solidFill>
                    <a:srgbClr val="000066"/>
                  </a:solidFill>
                  <a:ea typeface="幼圆" pitchFamily="49" charset="-122"/>
                </a:rPr>
                <a:t>原状土</a:t>
              </a:r>
              <a:endParaRPr lang="en-US" altLang="zh-CN" sz="2000" b="1">
                <a:solidFill>
                  <a:srgbClr val="000066"/>
                </a:solidFill>
                <a:ea typeface="幼圆" pitchFamily="49" charset="-122"/>
              </a:endParaRPr>
            </a:p>
          </p:txBody>
        </p:sp>
        <p:sp>
          <p:nvSpPr>
            <p:cNvPr id="78878" name="Text Box 33"/>
            <p:cNvSpPr txBox="1">
              <a:spLocks noChangeArrowheads="1"/>
            </p:cNvSpPr>
            <p:nvPr/>
          </p:nvSpPr>
          <p:spPr bwMode="auto">
            <a:xfrm>
              <a:off x="2852" y="2356"/>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dirty="0">
                  <a:solidFill>
                    <a:srgbClr val="000066"/>
                  </a:solidFill>
                  <a:ea typeface="幼圆" pitchFamily="49" charset="-122"/>
                </a:rPr>
                <a:t>重塑土</a:t>
              </a:r>
              <a:endParaRPr lang="en-US" altLang="zh-CN" sz="2000" b="1" dirty="0">
                <a:solidFill>
                  <a:srgbClr val="000066"/>
                </a:solidFill>
                <a:ea typeface="幼圆" pitchFamily="49" charset="-122"/>
              </a:endParaRPr>
            </a:p>
          </p:txBody>
        </p:sp>
      </p:grpSp>
      <p:grpSp>
        <p:nvGrpSpPr>
          <p:cNvPr id="5" name="Group 35"/>
          <p:cNvGrpSpPr>
            <a:grpSpLocks/>
          </p:cNvGrpSpPr>
          <p:nvPr/>
        </p:nvGrpSpPr>
        <p:grpSpPr bwMode="auto">
          <a:xfrm>
            <a:off x="3159125" y="869950"/>
            <a:ext cx="5273675" cy="1016000"/>
            <a:chOff x="1990" y="548"/>
            <a:chExt cx="3322" cy="640"/>
          </a:xfrm>
        </p:grpSpPr>
        <p:sp>
          <p:nvSpPr>
            <p:cNvPr id="78858" name="Text Box 36"/>
            <p:cNvSpPr txBox="1">
              <a:spLocks noChangeArrowheads="1"/>
            </p:cNvSpPr>
            <p:nvPr/>
          </p:nvSpPr>
          <p:spPr bwMode="auto">
            <a:xfrm>
              <a:off x="1990" y="548"/>
              <a:ext cx="3322"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zh-CN" altLang="en-US" sz="2400" b="1" dirty="0">
                  <a:solidFill>
                    <a:srgbClr val="A50021"/>
                  </a:solidFill>
                  <a:ea typeface="幼圆" pitchFamily="49" charset="-122"/>
                </a:rPr>
                <a:t>灵敏度</a:t>
              </a:r>
              <a:r>
                <a:rPr kumimoji="1" lang="en-US" altLang="zh-CN" sz="2400" b="1" i="1" dirty="0">
                  <a:solidFill>
                    <a:srgbClr val="A50021"/>
                  </a:solidFill>
                  <a:ea typeface="幼圆" pitchFamily="49" charset="-122"/>
                </a:rPr>
                <a:t>S</a:t>
              </a:r>
              <a:r>
                <a:rPr kumimoji="1" lang="en-US" altLang="zh-CN" sz="2400" b="1" baseline="-25000" dirty="0">
                  <a:solidFill>
                    <a:srgbClr val="A50021"/>
                  </a:solidFill>
                  <a:ea typeface="幼圆" pitchFamily="49" charset="-122"/>
                </a:rPr>
                <a:t>t</a:t>
              </a:r>
              <a:r>
                <a:rPr kumimoji="1" lang="zh-CN" altLang="en-US" sz="2400" b="1" dirty="0">
                  <a:solidFill>
                    <a:srgbClr val="A50021"/>
                  </a:solidFill>
                  <a:ea typeface="幼圆" pitchFamily="49" charset="-122"/>
                </a:rPr>
                <a:t>：</a:t>
              </a:r>
              <a:r>
                <a:rPr kumimoji="1" lang="zh-CN" altLang="en-US" sz="2400" b="1" dirty="0">
                  <a:solidFill>
                    <a:srgbClr val="000066"/>
                  </a:solidFill>
                  <a:ea typeface="幼圆" pitchFamily="49" charset="-122"/>
                </a:rPr>
                <a:t>原状土的无侧限抗压强度</a:t>
              </a:r>
              <a:r>
                <a:rPr kumimoji="1" lang="en-US" altLang="zh-CN" sz="2400" b="1" i="1" dirty="0" smtClean="0">
                  <a:solidFill>
                    <a:srgbClr val="000066"/>
                  </a:solidFill>
                  <a:ea typeface="幼圆" pitchFamily="49" charset="-122"/>
                </a:rPr>
                <a:t>q</a:t>
              </a:r>
              <a:r>
                <a:rPr kumimoji="1" lang="en-US" altLang="zh-CN" sz="2400" b="1" baseline="-25000" dirty="0" smtClean="0">
                  <a:solidFill>
                    <a:srgbClr val="000066"/>
                  </a:solidFill>
                  <a:ea typeface="幼圆" pitchFamily="49" charset="-122"/>
                </a:rPr>
                <a:t>u1</a:t>
              </a:r>
              <a:r>
                <a:rPr kumimoji="1" lang="zh-CN" altLang="en-US" sz="2400" b="1" dirty="0" smtClean="0">
                  <a:solidFill>
                    <a:srgbClr val="000066"/>
                  </a:solidFill>
                  <a:ea typeface="幼圆" pitchFamily="49" charset="-122"/>
                </a:rPr>
                <a:t>和</a:t>
              </a:r>
              <a:r>
                <a:rPr kumimoji="1" lang="zh-CN" altLang="en-US" sz="2400" b="1" dirty="0">
                  <a:solidFill>
                    <a:srgbClr val="000066"/>
                  </a:solidFill>
                  <a:ea typeface="幼圆" pitchFamily="49" charset="-122"/>
                </a:rPr>
                <a:t>重塑土的无侧限抗压强度</a:t>
              </a:r>
              <a:r>
                <a:rPr kumimoji="1" lang="en-US" altLang="zh-CN" sz="2400" b="1" i="1" dirty="0" smtClean="0">
                  <a:solidFill>
                    <a:srgbClr val="000066"/>
                  </a:solidFill>
                  <a:ea typeface="幼圆" pitchFamily="49" charset="-122"/>
                </a:rPr>
                <a:t>q</a:t>
              </a:r>
              <a:r>
                <a:rPr kumimoji="1" lang="en-US" altLang="zh-CN" sz="2400" b="1" baseline="-25000" dirty="0" smtClean="0">
                  <a:solidFill>
                    <a:srgbClr val="000066"/>
                  </a:solidFill>
                  <a:ea typeface="幼圆" pitchFamily="49" charset="-122"/>
                </a:rPr>
                <a:t>u2</a:t>
              </a:r>
              <a:r>
                <a:rPr kumimoji="1" lang="zh-CN" altLang="en-US" sz="2400" b="1" dirty="0" smtClean="0">
                  <a:solidFill>
                    <a:srgbClr val="000066"/>
                  </a:solidFill>
                  <a:ea typeface="幼圆" pitchFamily="49" charset="-122"/>
                </a:rPr>
                <a:t>之</a:t>
              </a:r>
              <a:r>
                <a:rPr kumimoji="1" lang="zh-CN" altLang="en-US" sz="2400" b="1" dirty="0">
                  <a:solidFill>
                    <a:srgbClr val="000066"/>
                  </a:solidFill>
                  <a:ea typeface="幼圆" pitchFamily="49" charset="-122"/>
                </a:rPr>
                <a:t>比</a:t>
              </a:r>
              <a:endParaRPr lang="zh-CN" altLang="en-US" sz="2400" b="1" dirty="0">
                <a:solidFill>
                  <a:srgbClr val="000066"/>
                </a:solidFill>
                <a:ea typeface="幼圆" pitchFamily="49" charset="-122"/>
              </a:endParaRPr>
            </a:p>
          </p:txBody>
        </p:sp>
        <p:sp>
          <p:nvSpPr>
            <p:cNvPr id="78859" name="Line 37"/>
            <p:cNvSpPr>
              <a:spLocks noChangeShapeType="1"/>
            </p:cNvSpPr>
            <p:nvPr/>
          </p:nvSpPr>
          <p:spPr bwMode="auto">
            <a:xfrm>
              <a:off x="4682" y="980"/>
              <a:ext cx="102"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8857" name="Rectangle 42"/>
          <p:cNvSpPr>
            <a:spLocks noChangeArrowheads="1"/>
          </p:cNvSpPr>
          <p:nvPr/>
        </p:nvSpPr>
        <p:spPr bwMode="auto">
          <a:xfrm>
            <a:off x="465138" y="746125"/>
            <a:ext cx="1798637" cy="1662113"/>
          </a:xfrm>
          <a:prstGeom prst="rect">
            <a:avLst/>
          </a:prstGeom>
          <a:noFill/>
          <a:ln w="38100" cmpd="dbl" algn="ctr">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38"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2440861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1000"/>
                                        <p:tgtEl>
                                          <p:spTgt spid="37"/>
                                        </p:tgtEl>
                                      </p:cBhvr>
                                    </p:animEffect>
                                  </p:childTnLst>
                                </p:cTn>
                              </p:par>
                            </p:childTnLst>
                          </p:cTn>
                        </p:par>
                        <p:par>
                          <p:cTn id="8" fill="hold" nodeType="with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413127"/>
                                        </p:tgtEl>
                                        <p:attrNameLst>
                                          <p:attrName>style.visibility</p:attrName>
                                        </p:attrNameLst>
                                      </p:cBhvr>
                                      <p:to>
                                        <p:strVal val="visible"/>
                                      </p:to>
                                    </p:set>
                                    <p:animEffect transition="in" filter="wipe(left)">
                                      <p:cBhvr>
                                        <p:cTn id="11" dur="1000"/>
                                        <p:tgtEl>
                                          <p:spTgt spid="1413127"/>
                                        </p:tgtEl>
                                      </p:cBhvr>
                                    </p:animEffect>
                                  </p:childTnLst>
                                </p:cTn>
                              </p:par>
                            </p:childTnLst>
                          </p:cTn>
                        </p:par>
                        <p:par>
                          <p:cTn id="12" fill="hold" nodeType="afterGroup">
                            <p:stCondLst>
                              <p:cond delay="2000"/>
                            </p:stCondLst>
                            <p:childTnLst>
                              <p:par>
                                <p:cTn id="13" presetID="2" presetClass="entr" presetSubtype="2"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1+#ppt_w/2"/>
                                          </p:val>
                                        </p:tav>
                                        <p:tav tm="100000">
                                          <p:val>
                                            <p:strVal val="#ppt_x"/>
                                          </p:val>
                                        </p:tav>
                                      </p:tavLst>
                                    </p:anim>
                                    <p:anim calcmode="lin" valueType="num">
                                      <p:cBhvr additive="base">
                                        <p:cTn id="16"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nodeType="afterGroup">
                            <p:stCondLst>
                              <p:cond delay="0"/>
                            </p:stCondLst>
                            <p:childTnLst>
                              <p:par>
                                <p:cTn id="19" presetID="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0-#ppt_w/2"/>
                                          </p:val>
                                        </p:tav>
                                        <p:tav tm="100000">
                                          <p:val>
                                            <p:strVal val="#ppt_x"/>
                                          </p:val>
                                        </p:tav>
                                      </p:tavLst>
                                    </p:anim>
                                    <p:anim calcmode="lin" valueType="num">
                                      <p:cBhvr additive="base">
                                        <p:cTn id="22"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nodeType="afterGroup">
                            <p:stCondLst>
                              <p:cond delay="0"/>
                            </p:stCondLst>
                            <p:childTnLst>
                              <p:par>
                                <p:cTn id="25" presetID="2" presetClass="entr" presetSubtype="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1000" fill="hold"/>
                                        <p:tgtEl>
                                          <p:spTgt spid="2"/>
                                        </p:tgtEl>
                                        <p:attrNameLst>
                                          <p:attrName>ppt_x</p:attrName>
                                        </p:attrNameLst>
                                      </p:cBhvr>
                                      <p:tavLst>
                                        <p:tav tm="0">
                                          <p:val>
                                            <p:strVal val="1+#ppt_w/2"/>
                                          </p:val>
                                        </p:tav>
                                        <p:tav tm="100000">
                                          <p:val>
                                            <p:strVal val="#ppt_x"/>
                                          </p:val>
                                        </p:tav>
                                      </p:tavLst>
                                    </p:anim>
                                    <p:anim calcmode="lin" valueType="num">
                                      <p:cBhvr additive="base">
                                        <p:cTn id="28"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1413127"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135" name="Rectangle 39"/>
          <p:cNvSpPr>
            <a:spLocks noChangeArrowheads="1"/>
          </p:cNvSpPr>
          <p:nvPr/>
        </p:nvSpPr>
        <p:spPr bwMode="auto">
          <a:xfrm>
            <a:off x="3090863" y="960438"/>
            <a:ext cx="563880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0"/>
              </a:spcBef>
              <a:spcAft>
                <a:spcPct val="0"/>
              </a:spcAft>
            </a:pPr>
            <a:r>
              <a:rPr kumimoji="1" lang="zh-CN" altLang="en-US" sz="2400" b="1" dirty="0">
                <a:solidFill>
                  <a:srgbClr val="000066"/>
                </a:solidFill>
                <a:ea typeface="幼圆" pitchFamily="49" charset="-122"/>
              </a:rPr>
              <a:t>含水量不变，密度不变，因重塑而强度降低，又因静置而逐渐强化，强度逐渐恢复的性质，称为</a:t>
            </a:r>
            <a:r>
              <a:rPr kumimoji="1" lang="zh-CN" altLang="en-US" sz="2400" b="1" dirty="0">
                <a:solidFill>
                  <a:srgbClr val="A50021"/>
                </a:solidFill>
                <a:ea typeface="幼圆" pitchFamily="49" charset="-122"/>
              </a:rPr>
              <a:t>触变性</a:t>
            </a:r>
            <a:r>
              <a:rPr kumimoji="1" lang="zh-CN" altLang="en-US" sz="2400" b="1" dirty="0">
                <a:solidFill>
                  <a:srgbClr val="000066"/>
                </a:solidFill>
                <a:ea typeface="幼圆" pitchFamily="49" charset="-122"/>
              </a:rPr>
              <a:t>。</a:t>
            </a:r>
          </a:p>
        </p:txBody>
      </p:sp>
      <p:sp>
        <p:nvSpPr>
          <p:cNvPr id="79876" name="Rectangle 3"/>
          <p:cNvSpPr>
            <a:spLocks noChangeArrowheads="1"/>
          </p:cNvSpPr>
          <p:nvPr/>
        </p:nvSpPr>
        <p:spPr bwMode="auto">
          <a:xfrm>
            <a:off x="2290762" y="5705475"/>
            <a:ext cx="61182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nSpc>
                <a:spcPct val="100000"/>
              </a:lnSpc>
              <a:spcBef>
                <a:spcPct val="50000"/>
              </a:spcBef>
              <a:spcAft>
                <a:spcPct val="0"/>
              </a:spcAft>
              <a:buFont typeface="Wingdings" pitchFamily="2" charset="2"/>
              <a:buNone/>
            </a:pPr>
            <a:r>
              <a:rPr kumimoji="1" lang="zh-CN" altLang="en-US" sz="4000" b="1" dirty="0" smtClean="0">
                <a:solidFill>
                  <a:srgbClr val="000066"/>
                </a:solidFill>
                <a:ea typeface="黑体" pitchFamily="2" charset="-122"/>
              </a:rPr>
              <a:t>反映黏性</a:t>
            </a:r>
            <a:r>
              <a:rPr kumimoji="1" lang="zh-CN" altLang="en-US" sz="4000" b="1" dirty="0">
                <a:solidFill>
                  <a:srgbClr val="000066"/>
                </a:solidFill>
                <a:ea typeface="黑体" pitchFamily="2" charset="-122"/>
              </a:rPr>
              <a:t>土结构性的指标</a:t>
            </a:r>
            <a:endParaRPr kumimoji="1" lang="en-US" altLang="zh-CN" sz="4000" b="1" baseline="-25000" dirty="0">
              <a:solidFill>
                <a:srgbClr val="000066"/>
              </a:solidFill>
              <a:latin typeface="Arial Black" pitchFamily="34" charset="0"/>
              <a:ea typeface="黑体" pitchFamily="2" charset="-122"/>
            </a:endParaRPr>
          </a:p>
        </p:txBody>
      </p:sp>
      <p:sp>
        <p:nvSpPr>
          <p:cNvPr id="1412134" name="Rectangle 38"/>
          <p:cNvSpPr>
            <a:spLocks noChangeArrowheads="1"/>
          </p:cNvSpPr>
          <p:nvPr/>
        </p:nvSpPr>
        <p:spPr bwMode="auto">
          <a:xfrm>
            <a:off x="2530475" y="2776538"/>
            <a:ext cx="56388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41325" indent="-441325">
              <a:lnSpc>
                <a:spcPct val="120000"/>
              </a:lnSpc>
              <a:spcBef>
                <a:spcPct val="0"/>
              </a:spcBef>
              <a:spcAft>
                <a:spcPct val="0"/>
              </a:spcAft>
              <a:buClr>
                <a:srgbClr val="C00000"/>
              </a:buClr>
              <a:buSzPct val="130000"/>
              <a:buFont typeface="Wingdings" pitchFamily="2" charset="2"/>
              <a:buChar char="F"/>
            </a:pPr>
            <a:r>
              <a:rPr kumimoji="1" lang="zh-CN" altLang="en-US" sz="2400" b="1" dirty="0">
                <a:solidFill>
                  <a:srgbClr val="000066"/>
                </a:solidFill>
                <a:ea typeface="幼圆" pitchFamily="49" charset="-122"/>
              </a:rPr>
              <a:t>土的触变性是土结构中联结形态发生变化引起的，是土结构随时间变化的宏观</a:t>
            </a:r>
            <a:r>
              <a:rPr kumimoji="1" lang="zh-CN" altLang="en-US" sz="2400" b="1" dirty="0" smtClean="0">
                <a:solidFill>
                  <a:srgbClr val="000066"/>
                </a:solidFill>
                <a:ea typeface="幼圆" pitchFamily="49" charset="-122"/>
              </a:rPr>
              <a:t>表现</a:t>
            </a:r>
            <a:endParaRPr kumimoji="1" lang="zh-CN" altLang="en-US" sz="2400" b="1" dirty="0">
              <a:solidFill>
                <a:srgbClr val="000066"/>
              </a:solidFill>
              <a:ea typeface="幼圆" pitchFamily="49" charset="-122"/>
            </a:endParaRPr>
          </a:p>
          <a:p>
            <a:pPr marL="441325" indent="-441325">
              <a:lnSpc>
                <a:spcPct val="120000"/>
              </a:lnSpc>
              <a:spcBef>
                <a:spcPct val="0"/>
              </a:spcBef>
              <a:spcAft>
                <a:spcPct val="0"/>
              </a:spcAft>
              <a:buClr>
                <a:srgbClr val="C00000"/>
              </a:buClr>
              <a:buSzPct val="130000"/>
              <a:buFont typeface="Wingdings" pitchFamily="2" charset="2"/>
              <a:buChar char="F"/>
            </a:pPr>
            <a:r>
              <a:rPr kumimoji="1" lang="zh-CN" altLang="en-US" sz="2400" b="1" dirty="0">
                <a:solidFill>
                  <a:srgbClr val="000066"/>
                </a:solidFill>
                <a:ea typeface="幼圆" pitchFamily="49" charset="-122"/>
              </a:rPr>
              <a:t>目前尚没有合理的描述土触变性的方法和</a:t>
            </a:r>
            <a:r>
              <a:rPr kumimoji="1" lang="zh-CN" altLang="en-US" sz="2400" b="1" dirty="0" smtClean="0">
                <a:solidFill>
                  <a:srgbClr val="000066"/>
                </a:solidFill>
                <a:ea typeface="幼圆" pitchFamily="49" charset="-122"/>
              </a:rPr>
              <a:t>指标</a:t>
            </a:r>
            <a:endParaRPr kumimoji="1" lang="zh-CN" altLang="en-US" sz="2400" b="1" dirty="0">
              <a:solidFill>
                <a:srgbClr val="000066"/>
              </a:solidFill>
              <a:ea typeface="幼圆" pitchFamily="49" charset="-122"/>
            </a:endParaRPr>
          </a:p>
        </p:txBody>
      </p:sp>
      <p:sp>
        <p:nvSpPr>
          <p:cNvPr id="9" name="Rectangle 24"/>
          <p:cNvSpPr>
            <a:spLocks noChangeArrowheads="1"/>
          </p:cNvSpPr>
          <p:nvPr/>
        </p:nvSpPr>
        <p:spPr bwMode="auto">
          <a:xfrm>
            <a:off x="465137" y="1506516"/>
            <a:ext cx="1798637" cy="511197"/>
          </a:xfrm>
          <a:prstGeom prst="rect">
            <a:avLst/>
          </a:prstGeom>
          <a:solidFill>
            <a:schemeClr val="accent6">
              <a:lumMod val="60000"/>
              <a:lumOff val="40000"/>
            </a:schemeClr>
          </a:solidFill>
          <a:ln>
            <a:noFill/>
          </a:ln>
        </p:spPr>
        <p:txBody>
          <a:bodyPr wrap="none" anchor="ctr"/>
          <a:lstStyle/>
          <a:p>
            <a:endParaRPr lang="zh-CN" altLang="en-US"/>
          </a:p>
        </p:txBody>
      </p:sp>
      <p:sp>
        <p:nvSpPr>
          <p:cNvPr id="10" name="Text Box 4"/>
          <p:cNvSpPr txBox="1">
            <a:spLocks noChangeArrowheads="1"/>
          </p:cNvSpPr>
          <p:nvPr/>
        </p:nvSpPr>
        <p:spPr bwMode="auto">
          <a:xfrm>
            <a:off x="517525" y="792163"/>
            <a:ext cx="1619250"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45000"/>
              </a:lnSpc>
              <a:buClr>
                <a:srgbClr val="C00000"/>
              </a:buClr>
              <a:buSzPct val="140000"/>
              <a:buFont typeface="Arial" pitchFamily="34" charset="0"/>
              <a:buChar char="•"/>
            </a:pPr>
            <a:r>
              <a:rPr kumimoji="1" lang="zh-CN" altLang="en-US" sz="2400" b="1" dirty="0">
                <a:solidFill>
                  <a:srgbClr val="000066"/>
                </a:solidFill>
                <a:latin typeface="幼圆" pitchFamily="49" charset="-122"/>
                <a:ea typeface="幼圆" pitchFamily="49" charset="-122"/>
              </a:rPr>
              <a:t> 灵敏度</a:t>
            </a:r>
          </a:p>
          <a:p>
            <a:pPr marL="342900" indent="-342900" eaLnBrk="1" hangingPunct="1">
              <a:lnSpc>
                <a:spcPct val="145000"/>
              </a:lnSpc>
              <a:buClr>
                <a:srgbClr val="C00000"/>
              </a:buClr>
              <a:buSzPct val="140000"/>
              <a:buFont typeface="Arial" pitchFamily="34" charset="0"/>
              <a:buChar char="•"/>
            </a:pPr>
            <a:r>
              <a:rPr kumimoji="1" lang="zh-CN" altLang="en-US" sz="2400" b="1" dirty="0">
                <a:solidFill>
                  <a:srgbClr val="000066"/>
                </a:solidFill>
                <a:latin typeface="幼圆" pitchFamily="49" charset="-122"/>
                <a:ea typeface="幼圆" pitchFamily="49" charset="-122"/>
              </a:rPr>
              <a:t> 触变性</a:t>
            </a:r>
            <a:endParaRPr lang="zh-CN" altLang="en-US" sz="2400" b="1" dirty="0">
              <a:solidFill>
                <a:srgbClr val="000066"/>
              </a:solidFill>
              <a:latin typeface="幼圆" pitchFamily="49" charset="-122"/>
              <a:ea typeface="幼圆" pitchFamily="49" charset="-122"/>
            </a:endParaRPr>
          </a:p>
        </p:txBody>
      </p:sp>
      <p:sp>
        <p:nvSpPr>
          <p:cNvPr id="11" name="AutoShape 7"/>
          <p:cNvSpPr>
            <a:spLocks noChangeArrowheads="1"/>
          </p:cNvSpPr>
          <p:nvPr/>
        </p:nvSpPr>
        <p:spPr bwMode="auto">
          <a:xfrm>
            <a:off x="2524919" y="1603375"/>
            <a:ext cx="360363" cy="341313"/>
          </a:xfrm>
          <a:prstGeom prst="homePlate">
            <a:avLst>
              <a:gd name="adj" fmla="val 26395"/>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12" name="Rectangle 42"/>
          <p:cNvSpPr>
            <a:spLocks noChangeArrowheads="1"/>
          </p:cNvSpPr>
          <p:nvPr/>
        </p:nvSpPr>
        <p:spPr bwMode="auto">
          <a:xfrm>
            <a:off x="465138" y="746125"/>
            <a:ext cx="1798637" cy="1662113"/>
          </a:xfrm>
          <a:prstGeom prst="rect">
            <a:avLst/>
          </a:prstGeom>
          <a:noFill/>
          <a:ln w="38100" cmpd="dbl" algn="ctr">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13"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3517199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1000"/>
                                        <p:tgtEl>
                                          <p:spTgt spid="11"/>
                                        </p:tgtEl>
                                      </p:cBhvr>
                                    </p:animEffect>
                                  </p:childTnLst>
                                </p:cTn>
                              </p:par>
                            </p:childTnLst>
                          </p:cTn>
                        </p:par>
                        <p:par>
                          <p:cTn id="12" fill="hold">
                            <p:stCondLst>
                              <p:cond delay="2000"/>
                            </p:stCondLst>
                            <p:childTnLst>
                              <p:par>
                                <p:cTn id="13" presetID="47" presetClass="entr" presetSubtype="0" fill="hold" grpId="0" nodeType="afterEffect">
                                  <p:stCondLst>
                                    <p:cond delay="0"/>
                                  </p:stCondLst>
                                  <p:childTnLst>
                                    <p:set>
                                      <p:cBhvr>
                                        <p:cTn id="14" dur="1" fill="hold">
                                          <p:stCondLst>
                                            <p:cond delay="0"/>
                                          </p:stCondLst>
                                        </p:cTn>
                                        <p:tgtEl>
                                          <p:spTgt spid="1412135">
                                            <p:txEl>
                                              <p:pRg st="0" end="0"/>
                                            </p:txEl>
                                          </p:spTgt>
                                        </p:tgtEl>
                                        <p:attrNameLst>
                                          <p:attrName>style.visibility</p:attrName>
                                        </p:attrNameLst>
                                      </p:cBhvr>
                                      <p:to>
                                        <p:strVal val="visible"/>
                                      </p:to>
                                    </p:set>
                                    <p:animEffect transition="in" filter="fade">
                                      <p:cBhvr>
                                        <p:cTn id="15" dur="1000"/>
                                        <p:tgtEl>
                                          <p:spTgt spid="1412135">
                                            <p:txEl>
                                              <p:pRg st="0" end="0"/>
                                            </p:txEl>
                                          </p:spTgt>
                                        </p:tgtEl>
                                      </p:cBhvr>
                                    </p:animEffect>
                                    <p:anim calcmode="lin" valueType="num">
                                      <p:cBhvr>
                                        <p:cTn id="16" dur="1000" fill="hold"/>
                                        <p:tgtEl>
                                          <p:spTgt spid="1412135">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1412135">
                                            <p:txEl>
                                              <p:pRg st="0" end="0"/>
                                            </p:txEl>
                                          </p:spTgt>
                                        </p:tgtEl>
                                        <p:attrNameLst>
                                          <p:attrName>ppt_y</p:attrName>
                                        </p:attrNameLst>
                                      </p:cBhvr>
                                      <p:tavLst>
                                        <p:tav tm="0">
                                          <p:val>
                                            <p:strVal val="#ppt_y-.1"/>
                                          </p:val>
                                        </p:tav>
                                        <p:tav tm="100000">
                                          <p:val>
                                            <p:strVal val="#ppt_y"/>
                                          </p:val>
                                        </p:tav>
                                      </p:tavLst>
                                    </p:anim>
                                  </p:childTnLst>
                                </p:cTn>
                              </p:par>
                            </p:childTnLst>
                          </p:cTn>
                        </p:par>
                        <p:par>
                          <p:cTn id="18" fill="hold" nodeType="afterGroup">
                            <p:stCondLst>
                              <p:cond delay="3000"/>
                            </p:stCondLst>
                            <p:childTnLst>
                              <p:par>
                                <p:cTn id="19" presetID="47" presetClass="entr" presetSubtype="0" fill="hold" grpId="0" nodeType="afterEffect">
                                  <p:stCondLst>
                                    <p:cond delay="0"/>
                                  </p:stCondLst>
                                  <p:childTnLst>
                                    <p:set>
                                      <p:cBhvr>
                                        <p:cTn id="20" dur="1" fill="hold">
                                          <p:stCondLst>
                                            <p:cond delay="0"/>
                                          </p:stCondLst>
                                        </p:cTn>
                                        <p:tgtEl>
                                          <p:spTgt spid="1412134">
                                            <p:txEl>
                                              <p:pRg st="0" end="0"/>
                                            </p:txEl>
                                          </p:spTgt>
                                        </p:tgtEl>
                                        <p:attrNameLst>
                                          <p:attrName>style.visibility</p:attrName>
                                        </p:attrNameLst>
                                      </p:cBhvr>
                                      <p:to>
                                        <p:strVal val="visible"/>
                                      </p:to>
                                    </p:set>
                                    <p:animEffect transition="in" filter="fade">
                                      <p:cBhvr>
                                        <p:cTn id="21" dur="1000"/>
                                        <p:tgtEl>
                                          <p:spTgt spid="1412134">
                                            <p:txEl>
                                              <p:pRg st="0" end="0"/>
                                            </p:txEl>
                                          </p:spTgt>
                                        </p:tgtEl>
                                      </p:cBhvr>
                                    </p:animEffect>
                                    <p:anim calcmode="lin" valueType="num">
                                      <p:cBhvr>
                                        <p:cTn id="22" dur="1000" fill="hold"/>
                                        <p:tgtEl>
                                          <p:spTgt spid="1412134">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412134">
                                            <p:txEl>
                                              <p:pRg st="0" end="0"/>
                                            </p:txEl>
                                          </p:spTgt>
                                        </p:tgtEl>
                                        <p:attrNameLst>
                                          <p:attrName>ppt_y</p:attrName>
                                        </p:attrNameLst>
                                      </p:cBhvr>
                                      <p:tavLst>
                                        <p:tav tm="0">
                                          <p:val>
                                            <p:strVal val="#ppt_y-.1"/>
                                          </p:val>
                                        </p:tav>
                                        <p:tav tm="100000">
                                          <p:val>
                                            <p:strVal val="#ppt_y"/>
                                          </p:val>
                                        </p:tav>
                                      </p:tavLst>
                                    </p:anim>
                                  </p:childTnLst>
                                </p:cTn>
                              </p:par>
                            </p:childTnLst>
                          </p:cTn>
                        </p:par>
                        <p:par>
                          <p:cTn id="24" fill="hold" nodeType="afterGroup">
                            <p:stCondLst>
                              <p:cond delay="4000"/>
                            </p:stCondLst>
                            <p:childTnLst>
                              <p:par>
                                <p:cTn id="25" presetID="47" presetClass="entr" presetSubtype="0" fill="hold" grpId="0" nodeType="afterEffect">
                                  <p:stCondLst>
                                    <p:cond delay="0"/>
                                  </p:stCondLst>
                                  <p:childTnLst>
                                    <p:set>
                                      <p:cBhvr>
                                        <p:cTn id="26" dur="1" fill="hold">
                                          <p:stCondLst>
                                            <p:cond delay="0"/>
                                          </p:stCondLst>
                                        </p:cTn>
                                        <p:tgtEl>
                                          <p:spTgt spid="1412134">
                                            <p:txEl>
                                              <p:pRg st="1" end="1"/>
                                            </p:txEl>
                                          </p:spTgt>
                                        </p:tgtEl>
                                        <p:attrNameLst>
                                          <p:attrName>style.visibility</p:attrName>
                                        </p:attrNameLst>
                                      </p:cBhvr>
                                      <p:to>
                                        <p:strVal val="visible"/>
                                      </p:to>
                                    </p:set>
                                    <p:animEffect transition="in" filter="fade">
                                      <p:cBhvr>
                                        <p:cTn id="27" dur="1000"/>
                                        <p:tgtEl>
                                          <p:spTgt spid="1412134">
                                            <p:txEl>
                                              <p:pRg st="1" end="1"/>
                                            </p:txEl>
                                          </p:spTgt>
                                        </p:tgtEl>
                                      </p:cBhvr>
                                    </p:animEffect>
                                    <p:anim calcmode="lin" valueType="num">
                                      <p:cBhvr>
                                        <p:cTn id="28" dur="1000" fill="hold"/>
                                        <p:tgtEl>
                                          <p:spTgt spid="1412134">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141213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2135" grpId="0" build="p" autoUpdateAnimBg="0"/>
      <p:bldP spid="1412134" grpId="0" build="p" autoUpdateAnimBg="0"/>
      <p:bldP spid="9" grpId="0" animBg="1"/>
      <p:bldP spid="11"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841375" y="1164001"/>
            <a:ext cx="2422525" cy="841375"/>
            <a:chOff x="1181" y="691"/>
            <a:chExt cx="1516" cy="530"/>
          </a:xfrm>
        </p:grpSpPr>
        <p:sp>
          <p:nvSpPr>
            <p:cNvPr id="3" name="Text Box 4"/>
            <p:cNvSpPr txBox="1">
              <a:spLocks noChangeArrowheads="1"/>
            </p:cNvSpPr>
            <p:nvPr/>
          </p:nvSpPr>
          <p:spPr bwMode="auto">
            <a:xfrm>
              <a:off x="1220" y="722"/>
              <a:ext cx="140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SzPct val="60000"/>
                <a:buFont typeface="Wingdings" pitchFamily="2" charset="2"/>
                <a:buNone/>
              </a:pPr>
              <a:r>
                <a:rPr kumimoji="1" lang="zh-CN" altLang="en-US" sz="4000" b="1" dirty="0">
                  <a:solidFill>
                    <a:srgbClr val="000066"/>
                  </a:solidFill>
                  <a:ea typeface="黑体" pitchFamily="2" charset="-122"/>
                </a:rPr>
                <a:t>土的结构</a:t>
              </a:r>
              <a:endParaRPr lang="zh-CN" altLang="en-US" sz="4000" b="1" dirty="0">
                <a:solidFill>
                  <a:srgbClr val="000066"/>
                </a:solidFill>
                <a:ea typeface="黑体" pitchFamily="2" charset="-122"/>
              </a:endParaRPr>
            </a:p>
          </p:txBody>
        </p:sp>
        <p:sp>
          <p:nvSpPr>
            <p:cNvPr id="4" name="AutoShape 5"/>
            <p:cNvSpPr>
              <a:spLocks noChangeArrowheads="1"/>
            </p:cNvSpPr>
            <p:nvPr/>
          </p:nvSpPr>
          <p:spPr bwMode="auto">
            <a:xfrm>
              <a:off x="1181" y="691"/>
              <a:ext cx="1516" cy="530"/>
            </a:xfrm>
            <a:prstGeom prst="roundRect">
              <a:avLst>
                <a:gd name="adj" fmla="val 25380"/>
              </a:avLst>
            </a:prstGeom>
            <a:noFill/>
            <a:ln w="28575">
              <a:solidFill>
                <a:srgbClr val="00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 name="Text Box 6"/>
          <p:cNvSpPr txBox="1">
            <a:spLocks noChangeArrowheads="1"/>
          </p:cNvSpPr>
          <p:nvPr/>
        </p:nvSpPr>
        <p:spPr bwMode="auto">
          <a:xfrm>
            <a:off x="4449762" y="1116376"/>
            <a:ext cx="34607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800" b="1" dirty="0">
                <a:solidFill>
                  <a:srgbClr val="000066"/>
                </a:solidFill>
                <a:ea typeface="幼圆" pitchFamily="49" charset="-122"/>
              </a:rPr>
              <a:t>土颗粒或粒团的</a:t>
            </a:r>
          </a:p>
          <a:p>
            <a:pPr eaLnBrk="1" hangingPunct="1">
              <a:lnSpc>
                <a:spcPct val="100000"/>
              </a:lnSpc>
              <a:spcBef>
                <a:spcPct val="0"/>
              </a:spcBef>
              <a:spcAft>
                <a:spcPct val="0"/>
              </a:spcAft>
            </a:pPr>
            <a:r>
              <a:rPr kumimoji="1" lang="zh-CN" altLang="en-US" sz="2800" b="1" dirty="0">
                <a:solidFill>
                  <a:srgbClr val="000066"/>
                </a:solidFill>
                <a:ea typeface="幼圆" pitchFamily="49" charset="-122"/>
              </a:rPr>
              <a:t>空间排列和相互联结</a:t>
            </a:r>
          </a:p>
        </p:txBody>
      </p:sp>
      <p:sp>
        <p:nvSpPr>
          <p:cNvPr id="6" name="AutoShape 7"/>
          <p:cNvSpPr>
            <a:spLocks noChangeArrowheads="1"/>
          </p:cNvSpPr>
          <p:nvPr/>
        </p:nvSpPr>
        <p:spPr bwMode="auto">
          <a:xfrm>
            <a:off x="3613150" y="1319576"/>
            <a:ext cx="633412" cy="488950"/>
          </a:xfrm>
          <a:prstGeom prst="homePlate">
            <a:avLst>
              <a:gd name="adj" fmla="val 37424"/>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24" name="Rectangle 4"/>
          <p:cNvSpPr>
            <a:spLocks noChangeArrowheads="1"/>
          </p:cNvSpPr>
          <p:nvPr/>
        </p:nvSpPr>
        <p:spPr bwMode="auto">
          <a:xfrm>
            <a:off x="1189761" y="2574341"/>
            <a:ext cx="18181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lnSpc>
                <a:spcPct val="100000"/>
              </a:lnSpc>
              <a:spcBef>
                <a:spcPct val="25000"/>
              </a:spcBef>
              <a:spcAft>
                <a:spcPct val="0"/>
              </a:spcAft>
              <a:buClr>
                <a:srgbClr val="A50021"/>
              </a:buClr>
              <a:buSzPct val="130000"/>
              <a:buFont typeface="Wingdings" panose="05000000000000000000" pitchFamily="2" charset="2"/>
              <a:buChar char="F"/>
            </a:pPr>
            <a:r>
              <a:rPr kumimoji="1" lang="zh-CN" altLang="en-US" sz="2800" b="1" dirty="0">
                <a:solidFill>
                  <a:srgbClr val="000066"/>
                </a:solidFill>
                <a:ea typeface="幼圆" pitchFamily="49" charset="-122"/>
                <a:cs typeface="Times New Roman" panose="02020603050405020304" pitchFamily="18" charset="0"/>
              </a:rPr>
              <a:t> </a:t>
            </a:r>
            <a:r>
              <a:rPr kumimoji="1" lang="zh-CN" altLang="en-US" sz="2800" b="1" dirty="0" smtClean="0">
                <a:solidFill>
                  <a:srgbClr val="000066"/>
                </a:solidFill>
                <a:ea typeface="幼圆" pitchFamily="49" charset="-122"/>
                <a:cs typeface="Times New Roman" panose="02020603050405020304" pitchFamily="18" charset="0"/>
              </a:rPr>
              <a:t>粗粒土</a:t>
            </a:r>
            <a:endParaRPr kumimoji="1" lang="en-US" altLang="zh-CN" sz="2400" b="1" i="1" baseline="-25000" dirty="0">
              <a:solidFill>
                <a:srgbClr val="000066"/>
              </a:solidFill>
              <a:ea typeface="幼圆" pitchFamily="49" charset="-122"/>
              <a:cs typeface="Times New Roman" panose="02020603050405020304" pitchFamily="18" charset="0"/>
            </a:endParaRPr>
          </a:p>
        </p:txBody>
      </p:sp>
      <p:sp>
        <p:nvSpPr>
          <p:cNvPr id="25" name="Text Box 14"/>
          <p:cNvSpPr txBox="1">
            <a:spLocks noChangeArrowheads="1"/>
          </p:cNvSpPr>
          <p:nvPr/>
        </p:nvSpPr>
        <p:spPr bwMode="auto">
          <a:xfrm>
            <a:off x="3313491" y="2380453"/>
            <a:ext cx="4916109"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0"/>
              </a:spcAft>
              <a:buClr>
                <a:srgbClr val="C00000"/>
              </a:buClr>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粒间力</a:t>
            </a:r>
            <a:r>
              <a:rPr kumimoji="1" lang="zh-CN" altLang="en-US" sz="2400" b="1" dirty="0">
                <a:solidFill>
                  <a:srgbClr val="000066"/>
                </a:solidFill>
                <a:latin typeface="幼圆" pitchFamily="49" charset="-122"/>
                <a:ea typeface="幼圆" pitchFamily="49" charset="-122"/>
              </a:rPr>
              <a:t>：</a:t>
            </a:r>
            <a:r>
              <a:rPr kumimoji="1" lang="zh-CN" altLang="en-US" sz="2400" b="1" dirty="0" smtClean="0">
                <a:solidFill>
                  <a:srgbClr val="000066"/>
                </a:solidFill>
                <a:latin typeface="幼圆" pitchFamily="49" charset="-122"/>
                <a:ea typeface="幼圆" pitchFamily="49" charset="-122"/>
              </a:rPr>
              <a:t>重力起</a:t>
            </a:r>
            <a:r>
              <a:rPr kumimoji="1" lang="zh-CN" altLang="en-US" sz="2400" b="1" dirty="0">
                <a:solidFill>
                  <a:srgbClr val="000066"/>
                </a:solidFill>
                <a:latin typeface="幼圆" pitchFamily="49" charset="-122"/>
                <a:ea typeface="幼圆" pitchFamily="49" charset="-122"/>
              </a:rPr>
              <a:t>主导作用</a:t>
            </a:r>
          </a:p>
          <a:p>
            <a:pPr marL="342900" indent="-342900" eaLnBrk="1" hangingPunct="1">
              <a:lnSpc>
                <a:spcPct val="120000"/>
              </a:lnSpc>
              <a:spcBef>
                <a:spcPct val="0"/>
              </a:spcBef>
              <a:spcAft>
                <a:spcPct val="0"/>
              </a:spcAft>
              <a:buClr>
                <a:srgbClr val="C00000"/>
              </a:buClr>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结构</a:t>
            </a:r>
            <a:r>
              <a:rPr kumimoji="1" lang="zh-CN" altLang="en-US" sz="2400" b="1" dirty="0">
                <a:solidFill>
                  <a:srgbClr val="000066"/>
                </a:solidFill>
                <a:latin typeface="幼圆" pitchFamily="49" charset="-122"/>
                <a:ea typeface="幼圆" pitchFamily="49" charset="-122"/>
              </a:rPr>
              <a:t>形式：</a:t>
            </a:r>
            <a:r>
              <a:rPr kumimoji="1" lang="zh-CN" altLang="en-US" sz="2400" b="1" dirty="0" smtClean="0">
                <a:solidFill>
                  <a:srgbClr val="000066"/>
                </a:solidFill>
                <a:latin typeface="幼圆" pitchFamily="49" charset="-122"/>
                <a:ea typeface="幼圆" pitchFamily="49" charset="-122"/>
              </a:rPr>
              <a:t>单粒结构</a:t>
            </a:r>
            <a:endParaRPr kumimoji="1" lang="zh-CN" altLang="en-US" sz="2400" b="1" dirty="0">
              <a:solidFill>
                <a:srgbClr val="000066"/>
              </a:solidFill>
              <a:latin typeface="幼圆" pitchFamily="49" charset="-122"/>
              <a:ea typeface="幼圆" pitchFamily="49" charset="-122"/>
            </a:endParaRPr>
          </a:p>
        </p:txBody>
      </p:sp>
      <p:sp>
        <p:nvSpPr>
          <p:cNvPr id="26" name="Rectangle 4"/>
          <p:cNvSpPr>
            <a:spLocks noChangeArrowheads="1"/>
          </p:cNvSpPr>
          <p:nvPr/>
        </p:nvSpPr>
        <p:spPr bwMode="auto">
          <a:xfrm>
            <a:off x="1193298" y="3747471"/>
            <a:ext cx="18181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lnSpc>
                <a:spcPct val="100000"/>
              </a:lnSpc>
              <a:spcBef>
                <a:spcPct val="25000"/>
              </a:spcBef>
              <a:spcAft>
                <a:spcPct val="0"/>
              </a:spcAft>
              <a:buClr>
                <a:srgbClr val="A50021"/>
              </a:buClr>
              <a:buSzPct val="130000"/>
              <a:buFont typeface="Wingdings" panose="05000000000000000000" pitchFamily="2" charset="2"/>
              <a:buChar char="F"/>
            </a:pPr>
            <a:r>
              <a:rPr kumimoji="1" lang="zh-CN" altLang="en-US" sz="2800" b="1" dirty="0">
                <a:solidFill>
                  <a:srgbClr val="000066"/>
                </a:solidFill>
                <a:ea typeface="幼圆" pitchFamily="49" charset="-122"/>
                <a:cs typeface="Times New Roman" panose="02020603050405020304" pitchFamily="18" charset="0"/>
              </a:rPr>
              <a:t> 细</a:t>
            </a:r>
            <a:r>
              <a:rPr kumimoji="1" lang="zh-CN" altLang="en-US" sz="2800" b="1" dirty="0" smtClean="0">
                <a:solidFill>
                  <a:srgbClr val="000066"/>
                </a:solidFill>
                <a:ea typeface="幼圆" pitchFamily="49" charset="-122"/>
                <a:cs typeface="Times New Roman" panose="02020603050405020304" pitchFamily="18" charset="0"/>
              </a:rPr>
              <a:t>粒土</a:t>
            </a:r>
            <a:endParaRPr kumimoji="1" lang="en-US" altLang="zh-CN" sz="2400" b="1" i="1" baseline="-25000" dirty="0">
              <a:solidFill>
                <a:srgbClr val="000066"/>
              </a:solidFill>
              <a:ea typeface="幼圆" pitchFamily="49" charset="-122"/>
              <a:cs typeface="Times New Roman" panose="02020603050405020304" pitchFamily="18" charset="0"/>
            </a:endParaRPr>
          </a:p>
        </p:txBody>
      </p:sp>
      <p:sp>
        <p:nvSpPr>
          <p:cNvPr id="27" name="Text Box 14"/>
          <p:cNvSpPr txBox="1">
            <a:spLocks noChangeArrowheads="1"/>
          </p:cNvSpPr>
          <p:nvPr/>
        </p:nvSpPr>
        <p:spPr bwMode="auto">
          <a:xfrm>
            <a:off x="3306399" y="3564208"/>
            <a:ext cx="4916109"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0"/>
              </a:spcAft>
              <a:buClr>
                <a:srgbClr val="C00000"/>
              </a:buClr>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粒间力：其他</a:t>
            </a:r>
            <a:r>
              <a:rPr kumimoji="1" lang="zh-CN" altLang="en-US" sz="2400" b="1" dirty="0">
                <a:solidFill>
                  <a:srgbClr val="000066"/>
                </a:solidFill>
                <a:latin typeface="幼圆" pitchFamily="49" charset="-122"/>
                <a:ea typeface="幼圆" pitchFamily="49" charset="-122"/>
              </a:rPr>
              <a:t>粒间力起主导</a:t>
            </a:r>
            <a:r>
              <a:rPr kumimoji="1" lang="zh-CN" altLang="en-US" sz="2400" b="1" dirty="0" smtClean="0">
                <a:solidFill>
                  <a:srgbClr val="000066"/>
                </a:solidFill>
                <a:latin typeface="幼圆" pitchFamily="49" charset="-122"/>
                <a:ea typeface="幼圆" pitchFamily="49" charset="-122"/>
              </a:rPr>
              <a:t>作用</a:t>
            </a:r>
          </a:p>
          <a:p>
            <a:pPr marL="342900" indent="-342900" eaLnBrk="1" hangingPunct="1">
              <a:lnSpc>
                <a:spcPct val="120000"/>
              </a:lnSpc>
              <a:spcBef>
                <a:spcPct val="0"/>
              </a:spcBef>
              <a:spcAft>
                <a:spcPct val="0"/>
              </a:spcAft>
              <a:buClr>
                <a:srgbClr val="C00000"/>
              </a:buClr>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结构</a:t>
            </a:r>
            <a:r>
              <a:rPr kumimoji="1" lang="zh-CN" altLang="en-US" sz="2400" b="1" dirty="0">
                <a:solidFill>
                  <a:srgbClr val="000066"/>
                </a:solidFill>
                <a:latin typeface="幼圆" pitchFamily="49" charset="-122"/>
                <a:ea typeface="幼圆" pitchFamily="49" charset="-122"/>
              </a:rPr>
              <a:t>形式：分散</a:t>
            </a:r>
            <a:r>
              <a:rPr kumimoji="1" lang="zh-CN" altLang="en-US" sz="2400" b="1" dirty="0" smtClean="0">
                <a:solidFill>
                  <a:srgbClr val="000066"/>
                </a:solidFill>
                <a:latin typeface="幼圆" pitchFamily="49" charset="-122"/>
                <a:ea typeface="幼圆" pitchFamily="49" charset="-122"/>
              </a:rPr>
              <a:t>结构和絮凝结构</a:t>
            </a:r>
            <a:endParaRPr kumimoji="1" lang="en-US" altLang="zh-CN" sz="2400" b="1" dirty="0" smtClean="0">
              <a:solidFill>
                <a:srgbClr val="000066"/>
              </a:solidFill>
              <a:latin typeface="幼圆" pitchFamily="49" charset="-122"/>
              <a:ea typeface="幼圆" pitchFamily="49" charset="-122"/>
            </a:endParaRPr>
          </a:p>
          <a:p>
            <a:pPr marL="342900" indent="-342900" eaLnBrk="1" hangingPunct="1">
              <a:lnSpc>
                <a:spcPct val="120000"/>
              </a:lnSpc>
              <a:spcBef>
                <a:spcPct val="0"/>
              </a:spcBef>
              <a:spcAft>
                <a:spcPct val="0"/>
              </a:spcAft>
              <a:buClr>
                <a:srgbClr val="C00000"/>
              </a:buClr>
              <a:buFont typeface="Arial" panose="020B0604020202020204" pitchFamily="34" charset="0"/>
              <a:buChar char="•"/>
            </a:pPr>
            <a:r>
              <a:rPr kumimoji="1" lang="zh-CN" altLang="en-US" sz="2400" b="1" dirty="0">
                <a:solidFill>
                  <a:srgbClr val="000066"/>
                </a:solidFill>
                <a:latin typeface="幼圆" pitchFamily="49" charset="-122"/>
                <a:ea typeface="幼圆" pitchFamily="49" charset="-122"/>
              </a:rPr>
              <a:t>结构特性：</a:t>
            </a:r>
            <a:r>
              <a:rPr kumimoji="1" lang="zh-CN" altLang="en-US" sz="2400" b="1" dirty="0" smtClean="0">
                <a:solidFill>
                  <a:srgbClr val="000066"/>
                </a:solidFill>
                <a:latin typeface="幼圆" pitchFamily="49" charset="-122"/>
                <a:ea typeface="幼圆" pitchFamily="49" charset="-122"/>
              </a:rPr>
              <a:t>灵敏度和触变性</a:t>
            </a:r>
            <a:endParaRPr kumimoji="1" lang="zh-CN" altLang="en-US" sz="2400" b="1" dirty="0">
              <a:solidFill>
                <a:srgbClr val="000066"/>
              </a:solidFill>
              <a:latin typeface="幼圆" pitchFamily="49" charset="-122"/>
              <a:ea typeface="幼圆" pitchFamily="49" charset="-122"/>
            </a:endParaRPr>
          </a:p>
        </p:txBody>
      </p:sp>
      <p:sp>
        <p:nvSpPr>
          <p:cNvPr id="13"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4" name="Text Box 20"/>
          <p:cNvSpPr txBox="1">
            <a:spLocks noChangeArrowheads="1"/>
          </p:cNvSpPr>
          <p:nvPr/>
        </p:nvSpPr>
        <p:spPr bwMode="auto">
          <a:xfrm>
            <a:off x="3629819" y="5832475"/>
            <a:ext cx="20843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Arial" charset="0"/>
                <a:ea typeface="黑体" pitchFamily="2" charset="-122"/>
              </a:rPr>
              <a:t>小       结</a:t>
            </a:r>
          </a:p>
        </p:txBody>
      </p:sp>
    </p:spTree>
    <p:extLst>
      <p:ext uri="{BB962C8B-B14F-4D97-AF65-F5344CB8AC3E}">
        <p14:creationId xmlns:p14="http://schemas.microsoft.com/office/powerpoint/2010/main" val="3744290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1000"/>
                                        <p:tgtEl>
                                          <p:spTgt spid="6"/>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1000" fill="hold"/>
                                        <p:tgtEl>
                                          <p:spTgt spid="24"/>
                                        </p:tgtEl>
                                        <p:attrNameLst>
                                          <p:attrName>ppt_x</p:attrName>
                                        </p:attrNameLst>
                                      </p:cBhvr>
                                      <p:tavLst>
                                        <p:tav tm="0">
                                          <p:val>
                                            <p:strVal val="0-#ppt_w/2"/>
                                          </p:val>
                                        </p:tav>
                                        <p:tav tm="100000">
                                          <p:val>
                                            <p:strVal val="#ppt_x"/>
                                          </p:val>
                                        </p:tav>
                                      </p:tavLst>
                                    </p:anim>
                                    <p:anim calcmode="lin" valueType="num">
                                      <p:cBhvr additive="base">
                                        <p:cTn id="21" dur="1000" fill="hold"/>
                                        <p:tgtEl>
                                          <p:spTgt spid="24"/>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left)">
                                      <p:cBhvr>
                                        <p:cTn id="25" dur="10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1000" fill="hold"/>
                                        <p:tgtEl>
                                          <p:spTgt spid="26"/>
                                        </p:tgtEl>
                                        <p:attrNameLst>
                                          <p:attrName>ppt_x</p:attrName>
                                        </p:attrNameLst>
                                      </p:cBhvr>
                                      <p:tavLst>
                                        <p:tav tm="0">
                                          <p:val>
                                            <p:strVal val="0-#ppt_w/2"/>
                                          </p:val>
                                        </p:tav>
                                        <p:tav tm="100000">
                                          <p:val>
                                            <p:strVal val="#ppt_x"/>
                                          </p:val>
                                        </p:tav>
                                      </p:tavLst>
                                    </p:anim>
                                    <p:anim calcmode="lin" valueType="num">
                                      <p:cBhvr additive="base">
                                        <p:cTn id="31" dur="1000" fill="hold"/>
                                        <p:tgtEl>
                                          <p:spTgt spid="26"/>
                                        </p:tgtEl>
                                        <p:attrNameLst>
                                          <p:attrName>ppt_y</p:attrName>
                                        </p:attrNameLst>
                                      </p:cBhvr>
                                      <p:tavLst>
                                        <p:tav tm="0">
                                          <p:val>
                                            <p:strVal val="#ppt_y"/>
                                          </p:val>
                                        </p:tav>
                                        <p:tav tm="100000">
                                          <p:val>
                                            <p:strVal val="#ppt_y"/>
                                          </p:val>
                                        </p:tav>
                                      </p:tavLst>
                                    </p:anim>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24" grpId="0"/>
      <p:bldP spid="25" grpId="0"/>
      <p:bldP spid="26" grpId="0"/>
      <p:bldP spid="2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8019" y="4348815"/>
            <a:ext cx="4253023" cy="53162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50" name="Text Box 24"/>
          <p:cNvSpPr txBox="1">
            <a:spLocks noChangeArrowheads="1"/>
          </p:cNvSpPr>
          <p:nvPr/>
        </p:nvSpPr>
        <p:spPr bwMode="auto">
          <a:xfrm>
            <a:off x="1163638" y="968375"/>
            <a:ext cx="715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a:solidFill>
                  <a:srgbClr val="000066"/>
                </a:solidFill>
                <a:latin typeface="黑体" pitchFamily="2" charset="-122"/>
                <a:ea typeface="黑体" pitchFamily="2" charset="-122"/>
              </a:rPr>
              <a:t>第一章：土的物理性质与工程分类</a:t>
            </a:r>
            <a:endParaRPr lang="en-US" altLang="zh-CN" sz="3600" b="1">
              <a:solidFill>
                <a:srgbClr val="000066"/>
              </a:solidFill>
              <a:latin typeface="黑体" pitchFamily="2" charset="-122"/>
              <a:ea typeface="黑体" pitchFamily="2" charset="-122"/>
            </a:endParaRPr>
          </a:p>
        </p:txBody>
      </p:sp>
      <p:sp>
        <p:nvSpPr>
          <p:cNvPr id="1344537" name="Text Box 25"/>
          <p:cNvSpPr txBox="1">
            <a:spLocks noChangeArrowheads="1"/>
          </p:cNvSpPr>
          <p:nvPr/>
        </p:nvSpPr>
        <p:spPr bwMode="auto">
          <a:xfrm>
            <a:off x="2413000" y="1892300"/>
            <a:ext cx="451961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§1.1  </a:t>
            </a:r>
            <a:r>
              <a:rPr kumimoji="1" lang="zh-CN" altLang="en-US" sz="3200" b="1" dirty="0">
                <a:solidFill>
                  <a:srgbClr val="000066"/>
                </a:solidFill>
                <a:latin typeface="黑体" panose="02010609060101010101" pitchFamily="49" charset="-122"/>
                <a:ea typeface="黑体" panose="02010609060101010101" pitchFamily="49" charset="-122"/>
              </a:rPr>
              <a:t>土的</a:t>
            </a:r>
            <a:r>
              <a:rPr kumimoji="1" lang="zh-CN" altLang="en-US" sz="3200" b="1" dirty="0" smtClean="0">
                <a:solidFill>
                  <a:srgbClr val="000066"/>
                </a:solidFill>
                <a:latin typeface="黑体" panose="02010609060101010101" pitchFamily="49" charset="-122"/>
                <a:ea typeface="黑体" panose="02010609060101010101" pitchFamily="49" charset="-122"/>
              </a:rPr>
              <a:t>形成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§1.2  </a:t>
            </a:r>
            <a:r>
              <a:rPr kumimoji="1" lang="zh-CN" altLang="en-US" sz="3200" b="1" dirty="0">
                <a:solidFill>
                  <a:srgbClr val="000066"/>
                </a:solidFill>
                <a:latin typeface="黑体" panose="02010609060101010101" pitchFamily="49" charset="-122"/>
                <a:ea typeface="黑体" panose="02010609060101010101" pitchFamily="49" charset="-122"/>
              </a:rPr>
              <a:t>土的三相</a:t>
            </a:r>
            <a:r>
              <a:rPr kumimoji="1" lang="zh-CN" altLang="en-US" sz="3200" b="1" dirty="0" smtClean="0">
                <a:solidFill>
                  <a:srgbClr val="000066"/>
                </a:solidFill>
                <a:latin typeface="黑体" panose="02010609060101010101" pitchFamily="49" charset="-122"/>
                <a:ea typeface="黑体" panose="02010609060101010101" pitchFamily="49" charset="-122"/>
              </a:rPr>
              <a:t>组成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§1.3  </a:t>
            </a:r>
            <a:r>
              <a:rPr kumimoji="1" lang="zh-CN" altLang="en-US" sz="3200" b="1" dirty="0">
                <a:solidFill>
                  <a:srgbClr val="000066"/>
                </a:solidFill>
                <a:latin typeface="黑体" panose="02010609060101010101" pitchFamily="49" charset="-122"/>
                <a:ea typeface="黑体" panose="02010609060101010101" pitchFamily="49" charset="-122"/>
              </a:rPr>
              <a:t>土的物理</a:t>
            </a:r>
            <a:r>
              <a:rPr kumimoji="1" lang="zh-CN" altLang="en-US" sz="3200" b="1" dirty="0" smtClean="0">
                <a:solidFill>
                  <a:srgbClr val="000066"/>
                </a:solidFill>
                <a:latin typeface="黑体" panose="02010609060101010101" pitchFamily="49" charset="-122"/>
                <a:ea typeface="黑体" panose="02010609060101010101" pitchFamily="49" charset="-122"/>
              </a:rPr>
              <a:t>状态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§1.4  </a:t>
            </a:r>
            <a:r>
              <a:rPr kumimoji="1" lang="zh-CN" altLang="en-US" sz="3200" b="1" dirty="0">
                <a:solidFill>
                  <a:srgbClr val="000066"/>
                </a:solidFill>
                <a:latin typeface="黑体" panose="02010609060101010101" pitchFamily="49" charset="-122"/>
                <a:ea typeface="黑体" panose="02010609060101010101" pitchFamily="49" charset="-122"/>
              </a:rPr>
              <a:t>土的</a:t>
            </a:r>
            <a:r>
              <a:rPr kumimoji="1" lang="zh-CN" altLang="en-US" sz="3200" b="1" dirty="0" smtClean="0">
                <a:solidFill>
                  <a:srgbClr val="000066"/>
                </a:solidFill>
                <a:latin typeface="黑体" panose="02010609060101010101" pitchFamily="49" charset="-122"/>
                <a:ea typeface="黑体" panose="02010609060101010101" pitchFamily="49" charset="-122"/>
              </a:rPr>
              <a:t>结构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§1.5  </a:t>
            </a:r>
            <a:r>
              <a:rPr kumimoji="1" lang="zh-CN" altLang="en-US" sz="3200" b="1" dirty="0">
                <a:solidFill>
                  <a:srgbClr val="000066"/>
                </a:solidFill>
                <a:latin typeface="黑体" panose="02010609060101010101" pitchFamily="49" charset="-122"/>
                <a:ea typeface="黑体" panose="02010609060101010101" pitchFamily="49" charset="-122"/>
              </a:rPr>
              <a:t>土的工程分类</a:t>
            </a: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§1.6  </a:t>
            </a:r>
            <a:r>
              <a:rPr kumimoji="1" lang="zh-CN" altLang="en-US" sz="3200" b="1" dirty="0">
                <a:solidFill>
                  <a:srgbClr val="000066"/>
                </a:solidFill>
                <a:latin typeface="黑体" panose="02010609060101010101" pitchFamily="49" charset="-122"/>
                <a:ea typeface="黑体" panose="02010609060101010101" pitchFamily="49" charset="-122"/>
              </a:rPr>
              <a:t>土的压实性 </a:t>
            </a:r>
          </a:p>
        </p:txBody>
      </p:sp>
    </p:spTree>
    <p:extLst>
      <p:ext uri="{BB962C8B-B14F-4D97-AF65-F5344CB8AC3E}">
        <p14:creationId xmlns:p14="http://schemas.microsoft.com/office/powerpoint/2010/main" val="36833688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50" name="Text Box 8"/>
          <p:cNvSpPr txBox="1">
            <a:spLocks noChangeArrowheads="1"/>
          </p:cNvSpPr>
          <p:nvPr/>
        </p:nvSpPr>
        <p:spPr bwMode="auto">
          <a:xfrm>
            <a:off x="3687763" y="5811838"/>
            <a:ext cx="34083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ea typeface="黑体" pitchFamily="2" charset="-122"/>
              </a:rPr>
              <a:t>土的工程分类</a:t>
            </a:r>
            <a:endParaRPr kumimoji="1" lang="en-US" altLang="zh-CN" sz="4000" b="1" dirty="0">
              <a:solidFill>
                <a:srgbClr val="000066"/>
              </a:solidFill>
              <a:ea typeface="黑体" pitchFamily="2" charset="-122"/>
            </a:endParaRPr>
          </a:p>
        </p:txBody>
      </p:sp>
      <p:sp>
        <p:nvSpPr>
          <p:cNvPr id="1421321" name="Text Box 9"/>
          <p:cNvSpPr txBox="1">
            <a:spLocks noChangeArrowheads="1"/>
          </p:cNvSpPr>
          <p:nvPr/>
        </p:nvSpPr>
        <p:spPr bwMode="auto">
          <a:xfrm>
            <a:off x="515496" y="1020633"/>
            <a:ext cx="8288262"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62547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10000"/>
              </a:spcBef>
              <a:spcAft>
                <a:spcPct val="10000"/>
              </a:spcAft>
              <a:buClr>
                <a:srgbClr val="A50021"/>
              </a:buClr>
              <a:buSzPct val="130000"/>
              <a:buFont typeface="Wingdings" panose="05000000000000000000" pitchFamily="2" charset="2"/>
              <a:buChar char="n"/>
            </a:pPr>
            <a:r>
              <a:rPr kumimoji="1" lang="zh-CN" altLang="en-US" sz="2600" b="1" dirty="0" smtClean="0">
                <a:solidFill>
                  <a:srgbClr val="C00000"/>
                </a:solidFill>
                <a:latin typeface="幼圆" pitchFamily="49" charset="-122"/>
                <a:ea typeface="幼圆" pitchFamily="49" charset="-122"/>
              </a:rPr>
              <a:t>土的工程分类：</a:t>
            </a:r>
            <a:r>
              <a:rPr kumimoji="1" lang="zh-CN" altLang="en-US" sz="2600" b="1" dirty="0" smtClean="0">
                <a:solidFill>
                  <a:srgbClr val="000066"/>
                </a:solidFill>
                <a:latin typeface="幼圆" pitchFamily="49" charset="-122"/>
                <a:ea typeface="幼圆" pitchFamily="49" charset="-122"/>
              </a:rPr>
              <a:t>将</a:t>
            </a:r>
            <a:r>
              <a:rPr kumimoji="1" lang="zh-CN" altLang="en-US" sz="2600" b="1" dirty="0">
                <a:solidFill>
                  <a:srgbClr val="000066"/>
                </a:solidFill>
                <a:latin typeface="幼圆" pitchFamily="49" charset="-122"/>
                <a:ea typeface="幼圆" pitchFamily="49" charset="-122"/>
              </a:rPr>
              <a:t>工程性质相近的土进行归类和</a:t>
            </a:r>
            <a:r>
              <a:rPr kumimoji="1" lang="zh-CN" altLang="en-US" sz="2600" b="1" dirty="0" smtClean="0">
                <a:solidFill>
                  <a:srgbClr val="000066"/>
                </a:solidFill>
                <a:latin typeface="幼圆" pitchFamily="49" charset="-122"/>
                <a:ea typeface="幼圆" pitchFamily="49" charset="-122"/>
              </a:rPr>
              <a:t>定名</a:t>
            </a:r>
            <a:endParaRPr kumimoji="1" lang="zh-CN" altLang="en-US" sz="2600" b="1" dirty="0">
              <a:solidFill>
                <a:srgbClr val="000066"/>
              </a:solidFill>
              <a:latin typeface="幼圆" pitchFamily="49" charset="-122"/>
              <a:ea typeface="幼圆" pitchFamily="49" charset="-122"/>
            </a:endParaRPr>
          </a:p>
        </p:txBody>
      </p:sp>
      <p:sp>
        <p:nvSpPr>
          <p:cNvPr id="10" name="Text Box 7"/>
          <p:cNvSpPr txBox="1">
            <a:spLocks noChangeArrowheads="1"/>
          </p:cNvSpPr>
          <p:nvPr/>
        </p:nvSpPr>
        <p:spPr bwMode="auto">
          <a:xfrm>
            <a:off x="1" y="0"/>
            <a:ext cx="368776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§1.5  </a:t>
            </a:r>
            <a:r>
              <a:rPr lang="zh-CN" altLang="en-US" sz="2000" b="1" kern="900" spc="-140" dirty="0" smtClean="0">
                <a:solidFill>
                  <a:srgbClr val="C00000"/>
                </a:solidFill>
                <a:latin typeface="宋体" pitchFamily="2" charset="-122"/>
              </a:rPr>
              <a:t>土的工程分类</a:t>
            </a:r>
            <a:endParaRPr lang="zh-CN" altLang="en-US" sz="2000" b="1" kern="900" spc="-140" dirty="0">
              <a:solidFill>
                <a:srgbClr val="C00000"/>
              </a:solidFill>
              <a:latin typeface="宋体" pitchFamily="2" charset="-122"/>
            </a:endParaRPr>
          </a:p>
        </p:txBody>
      </p:sp>
      <p:sp>
        <p:nvSpPr>
          <p:cNvPr id="11" name="Text Box 9"/>
          <p:cNvSpPr txBox="1">
            <a:spLocks noChangeArrowheads="1"/>
          </p:cNvSpPr>
          <p:nvPr/>
        </p:nvSpPr>
        <p:spPr bwMode="auto">
          <a:xfrm>
            <a:off x="930432" y="1919081"/>
            <a:ext cx="7533085" cy="2905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62547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lvl="1" indent="-342900" eaLnBrk="1" hangingPunct="1">
              <a:lnSpc>
                <a:spcPct val="120000"/>
              </a:lnSpc>
              <a:spcBef>
                <a:spcPts val="300"/>
              </a:spcBef>
              <a:spcAft>
                <a:spcPts val="300"/>
              </a:spcAft>
              <a:buClr>
                <a:srgbClr val="A50021"/>
              </a:buClr>
              <a:buSzPct val="130000"/>
              <a:buFont typeface="Wingdings" panose="05000000000000000000" pitchFamily="2" charset="2"/>
              <a:buChar char="F"/>
              <a:tabLst>
                <a:tab pos="1339850" algn="l"/>
              </a:tabLst>
            </a:pPr>
            <a:r>
              <a:rPr kumimoji="1" lang="zh-CN" altLang="en-US" sz="2400" b="1" dirty="0" smtClean="0">
                <a:solidFill>
                  <a:srgbClr val="000066"/>
                </a:solidFill>
                <a:latin typeface="幼圆" pitchFamily="49" charset="-122"/>
                <a:ea typeface="幼圆" pitchFamily="49" charset="-122"/>
              </a:rPr>
              <a:t>目的：</a:t>
            </a:r>
            <a:r>
              <a:rPr kumimoji="1" lang="en-US" altLang="zh-CN" sz="2400" b="1" dirty="0" smtClean="0">
                <a:solidFill>
                  <a:srgbClr val="000066"/>
                </a:solidFill>
                <a:latin typeface="幼圆" pitchFamily="49" charset="-122"/>
                <a:ea typeface="幼圆" pitchFamily="49" charset="-122"/>
              </a:rPr>
              <a:t>	</a:t>
            </a:r>
            <a:r>
              <a:rPr kumimoji="1" lang="zh-CN" altLang="en-US" sz="2400" b="1" dirty="0" smtClean="0">
                <a:solidFill>
                  <a:srgbClr val="000066"/>
                </a:solidFill>
                <a:latin typeface="幼圆" pitchFamily="49" charset="-122"/>
                <a:ea typeface="幼圆" pitchFamily="49" charset="-122"/>
              </a:rPr>
              <a:t>便于</a:t>
            </a:r>
            <a:r>
              <a:rPr kumimoji="1" lang="zh-CN" altLang="en-US" sz="2400" b="1" dirty="0">
                <a:solidFill>
                  <a:srgbClr val="000066"/>
                </a:solidFill>
                <a:latin typeface="幼圆" pitchFamily="49" charset="-122"/>
                <a:ea typeface="幼圆" pitchFamily="49" charset="-122"/>
              </a:rPr>
              <a:t>调查</a:t>
            </a:r>
            <a:r>
              <a:rPr kumimoji="1" lang="zh-CN" altLang="en-US" sz="2400" b="1" dirty="0" smtClean="0">
                <a:solidFill>
                  <a:srgbClr val="000066"/>
                </a:solidFill>
                <a:latin typeface="幼圆" pitchFamily="49" charset="-122"/>
                <a:ea typeface="幼圆" pitchFamily="49" charset="-122"/>
              </a:rPr>
              <a:t>分析</a:t>
            </a:r>
            <a:r>
              <a:rPr kumimoji="1" lang="en-US" altLang="zh-CN" sz="2400" b="1" dirty="0" smtClean="0">
                <a:solidFill>
                  <a:srgbClr val="000066"/>
                </a:solidFill>
                <a:latin typeface="幼圆" pitchFamily="49" charset="-122"/>
                <a:ea typeface="幼圆" pitchFamily="49" charset="-122"/>
              </a:rPr>
              <a:t/>
            </a:r>
            <a:br>
              <a:rPr kumimoji="1" lang="en-US" altLang="zh-CN" sz="2400" b="1" dirty="0" smtClean="0">
                <a:solidFill>
                  <a:srgbClr val="000066"/>
                </a:solidFill>
                <a:latin typeface="幼圆" pitchFamily="49" charset="-122"/>
                <a:ea typeface="幼圆" pitchFamily="49" charset="-122"/>
              </a:rPr>
            </a:br>
            <a:r>
              <a:rPr kumimoji="1" lang="en-US" altLang="zh-CN" sz="2400" b="1" dirty="0" smtClean="0">
                <a:solidFill>
                  <a:srgbClr val="000066"/>
                </a:solidFill>
                <a:latin typeface="幼圆" pitchFamily="49" charset="-122"/>
                <a:ea typeface="幼圆" pitchFamily="49" charset="-122"/>
              </a:rPr>
              <a:t>	</a:t>
            </a:r>
            <a:r>
              <a:rPr kumimoji="1" lang="zh-CN" altLang="en-US" sz="2400" b="1" dirty="0" smtClean="0">
                <a:solidFill>
                  <a:srgbClr val="000066"/>
                </a:solidFill>
                <a:latin typeface="幼圆" pitchFamily="49" charset="-122"/>
                <a:ea typeface="幼圆" pitchFamily="49" charset="-122"/>
              </a:rPr>
              <a:t>便于</a:t>
            </a:r>
            <a:r>
              <a:rPr kumimoji="1" lang="zh-CN" altLang="en-US" sz="2400" b="1" dirty="0">
                <a:solidFill>
                  <a:srgbClr val="000066"/>
                </a:solidFill>
                <a:latin typeface="幼圆" pitchFamily="49" charset="-122"/>
                <a:ea typeface="幼圆" pitchFamily="49" charset="-122"/>
              </a:rPr>
              <a:t>研究</a:t>
            </a:r>
            <a:r>
              <a:rPr kumimoji="1" lang="zh-CN" altLang="en-US" sz="2400" b="1" dirty="0" smtClean="0">
                <a:solidFill>
                  <a:srgbClr val="000066"/>
                </a:solidFill>
                <a:latin typeface="幼圆" pitchFamily="49" charset="-122"/>
                <a:ea typeface="幼圆" pitchFamily="49" charset="-122"/>
              </a:rPr>
              <a:t>评价</a:t>
            </a:r>
            <a:r>
              <a:rPr kumimoji="1" lang="en-US" altLang="zh-CN" sz="2400" b="1" dirty="0" smtClean="0">
                <a:solidFill>
                  <a:srgbClr val="000066"/>
                </a:solidFill>
                <a:latin typeface="幼圆" pitchFamily="49" charset="-122"/>
                <a:ea typeface="幼圆" pitchFamily="49" charset="-122"/>
              </a:rPr>
              <a:t/>
            </a:r>
            <a:br>
              <a:rPr kumimoji="1" lang="en-US" altLang="zh-CN" sz="2400" b="1" dirty="0" smtClean="0">
                <a:solidFill>
                  <a:srgbClr val="000066"/>
                </a:solidFill>
                <a:latin typeface="幼圆" pitchFamily="49" charset="-122"/>
                <a:ea typeface="幼圆" pitchFamily="49" charset="-122"/>
              </a:rPr>
            </a:br>
            <a:r>
              <a:rPr kumimoji="1" lang="en-US" altLang="zh-CN" sz="2400" b="1" dirty="0" smtClean="0">
                <a:solidFill>
                  <a:srgbClr val="000066"/>
                </a:solidFill>
                <a:latin typeface="幼圆" pitchFamily="49" charset="-122"/>
                <a:ea typeface="幼圆" pitchFamily="49" charset="-122"/>
              </a:rPr>
              <a:t>	</a:t>
            </a:r>
            <a:r>
              <a:rPr kumimoji="1" lang="zh-CN" altLang="en-US" sz="2400" b="1" dirty="0" smtClean="0">
                <a:solidFill>
                  <a:srgbClr val="000066"/>
                </a:solidFill>
                <a:latin typeface="幼圆" pitchFamily="49" charset="-122"/>
                <a:ea typeface="幼圆" pitchFamily="49" charset="-122"/>
              </a:rPr>
              <a:t>便于交流（基于</a:t>
            </a:r>
            <a:r>
              <a:rPr kumimoji="1" lang="zh-CN" altLang="en-US" sz="2400" b="1" dirty="0">
                <a:solidFill>
                  <a:srgbClr val="000066"/>
                </a:solidFill>
                <a:latin typeface="幼圆" pitchFamily="49" charset="-122"/>
                <a:ea typeface="幼圆" pitchFamily="49" charset="-122"/>
              </a:rPr>
              <a:t>共同的</a:t>
            </a:r>
            <a:r>
              <a:rPr kumimoji="1" lang="zh-CN" altLang="en-US" sz="2400" b="1" dirty="0" smtClean="0">
                <a:solidFill>
                  <a:srgbClr val="000066"/>
                </a:solidFill>
                <a:latin typeface="幼圆" pitchFamily="49" charset="-122"/>
                <a:ea typeface="幼圆" pitchFamily="49" charset="-122"/>
              </a:rPr>
              <a:t>概念）</a:t>
            </a:r>
            <a:endParaRPr kumimoji="1" lang="en-US" altLang="zh-CN" sz="2400" b="1" dirty="0" smtClean="0">
              <a:solidFill>
                <a:srgbClr val="000066"/>
              </a:solidFill>
              <a:latin typeface="幼圆" pitchFamily="49" charset="-122"/>
              <a:ea typeface="幼圆" pitchFamily="49" charset="-122"/>
            </a:endParaRPr>
          </a:p>
          <a:p>
            <a:pPr marL="342900" lvl="1" indent="-342900" eaLnBrk="1" hangingPunct="1">
              <a:lnSpc>
                <a:spcPct val="120000"/>
              </a:lnSpc>
              <a:spcBef>
                <a:spcPts val="300"/>
              </a:spcBef>
              <a:spcAft>
                <a:spcPts val="300"/>
              </a:spcAft>
              <a:buClr>
                <a:srgbClr val="A50021"/>
              </a:buClr>
              <a:buSzPct val="130000"/>
              <a:buFont typeface="Wingdings" panose="05000000000000000000" pitchFamily="2" charset="2"/>
              <a:buChar char="F"/>
              <a:tabLst>
                <a:tab pos="1339850" algn="l"/>
              </a:tabLst>
            </a:pPr>
            <a:r>
              <a:rPr kumimoji="1" lang="zh-CN" altLang="en-US" sz="2400" b="1" dirty="0" smtClean="0">
                <a:solidFill>
                  <a:srgbClr val="000066"/>
                </a:solidFill>
                <a:latin typeface="幼圆" pitchFamily="49" charset="-122"/>
                <a:ea typeface="幼圆" pitchFamily="49" charset="-122"/>
              </a:rPr>
              <a:t>要求</a:t>
            </a:r>
            <a:r>
              <a:rPr kumimoji="1" lang="zh-CN" altLang="en-US" sz="2400" b="1" dirty="0">
                <a:solidFill>
                  <a:srgbClr val="000066"/>
                </a:solidFill>
                <a:latin typeface="幼圆" pitchFamily="49" charset="-122"/>
                <a:ea typeface="幼圆" pitchFamily="49" charset="-122"/>
              </a:rPr>
              <a:t>：要有一定的逻辑性、系统性，纲目分明</a:t>
            </a:r>
            <a:r>
              <a:rPr kumimoji="1" lang="zh-CN" altLang="en-US" sz="2400" b="1" dirty="0" smtClean="0">
                <a:solidFill>
                  <a:srgbClr val="000066"/>
                </a:solidFill>
                <a:latin typeface="幼圆" pitchFamily="49" charset="-122"/>
                <a:ea typeface="幼圆" pitchFamily="49" charset="-122"/>
              </a:rPr>
              <a:t>，</a:t>
            </a:r>
            <a:r>
              <a:rPr kumimoji="1" lang="en-US" altLang="zh-CN" sz="2400" b="1" dirty="0" smtClean="0">
                <a:solidFill>
                  <a:srgbClr val="000066"/>
                </a:solidFill>
                <a:latin typeface="幼圆" pitchFamily="49" charset="-122"/>
                <a:ea typeface="幼圆" pitchFamily="49" charset="-122"/>
              </a:rPr>
              <a:t/>
            </a:r>
            <a:br>
              <a:rPr kumimoji="1" lang="en-US" altLang="zh-CN" sz="2400" b="1" dirty="0" smtClean="0">
                <a:solidFill>
                  <a:srgbClr val="000066"/>
                </a:solidFill>
                <a:latin typeface="幼圆" pitchFamily="49" charset="-122"/>
                <a:ea typeface="幼圆" pitchFamily="49" charset="-122"/>
              </a:rPr>
            </a:br>
            <a:r>
              <a:rPr kumimoji="1" lang="en-US" altLang="zh-CN" sz="2400" b="1" dirty="0" smtClean="0">
                <a:solidFill>
                  <a:srgbClr val="000066"/>
                </a:solidFill>
                <a:latin typeface="幼圆" pitchFamily="49" charset="-122"/>
                <a:ea typeface="幼圆" pitchFamily="49" charset="-122"/>
              </a:rPr>
              <a:t>	</a:t>
            </a:r>
            <a:r>
              <a:rPr kumimoji="1" lang="zh-CN" altLang="en-US" sz="2400" b="1" dirty="0" smtClean="0">
                <a:solidFill>
                  <a:srgbClr val="000066"/>
                </a:solidFill>
                <a:latin typeface="幼圆" pitchFamily="49" charset="-122"/>
                <a:ea typeface="幼圆" pitchFamily="49" charset="-122"/>
              </a:rPr>
              <a:t>简单</a:t>
            </a:r>
            <a:r>
              <a:rPr kumimoji="1" lang="zh-CN" altLang="en-US" sz="2400" b="1" dirty="0">
                <a:solidFill>
                  <a:srgbClr val="000066"/>
                </a:solidFill>
                <a:latin typeface="幼圆" pitchFamily="49" charset="-122"/>
                <a:ea typeface="幼圆" pitchFamily="49" charset="-122"/>
              </a:rPr>
              <a:t>易记，便于运用</a:t>
            </a:r>
          </a:p>
          <a:p>
            <a:pPr marL="342900" lvl="1" indent="-342900" eaLnBrk="1" hangingPunct="1">
              <a:lnSpc>
                <a:spcPct val="120000"/>
              </a:lnSpc>
              <a:spcBef>
                <a:spcPts val="300"/>
              </a:spcBef>
              <a:spcAft>
                <a:spcPts val="300"/>
              </a:spcAft>
              <a:buClr>
                <a:srgbClr val="A50021"/>
              </a:buClr>
              <a:buSzPct val="130000"/>
              <a:buFont typeface="Wingdings" panose="05000000000000000000" pitchFamily="2" charset="2"/>
              <a:buChar char="F"/>
            </a:pPr>
            <a:r>
              <a:rPr kumimoji="1" lang="zh-CN" altLang="en-US" sz="2400" b="1" dirty="0" smtClean="0">
                <a:solidFill>
                  <a:srgbClr val="000066"/>
                </a:solidFill>
                <a:latin typeface="幼圆" pitchFamily="49" charset="-122"/>
                <a:ea typeface="幼圆" pitchFamily="49" charset="-122"/>
              </a:rPr>
              <a:t>依据</a:t>
            </a:r>
            <a:r>
              <a:rPr kumimoji="1" lang="zh-CN" altLang="en-US" sz="2400" b="1" dirty="0">
                <a:solidFill>
                  <a:srgbClr val="000066"/>
                </a:solidFill>
                <a:latin typeface="幼圆" pitchFamily="49" charset="-122"/>
                <a:ea typeface="幼圆" pitchFamily="49" charset="-122"/>
              </a:rPr>
              <a:t>：最能反映土的物理力学性质的</a:t>
            </a:r>
            <a:r>
              <a:rPr kumimoji="1" lang="zh-CN" altLang="en-US" sz="2400" b="1" dirty="0" smtClean="0">
                <a:solidFill>
                  <a:srgbClr val="000066"/>
                </a:solidFill>
                <a:latin typeface="幼圆" pitchFamily="49" charset="-122"/>
                <a:ea typeface="幼圆" pitchFamily="49" charset="-122"/>
              </a:rPr>
              <a:t>指标</a:t>
            </a:r>
            <a:endParaRPr kumimoji="1" lang="en-US" altLang="zh-CN" sz="2400" b="1" dirty="0" smtClean="0">
              <a:solidFill>
                <a:srgbClr val="000066"/>
              </a:solidFill>
              <a:latin typeface="幼圆" pitchFamily="49" charset="-122"/>
              <a:ea typeface="幼圆" pitchFamily="49" charset="-122"/>
            </a:endParaRPr>
          </a:p>
        </p:txBody>
      </p:sp>
    </p:spTree>
    <p:extLst>
      <p:ext uri="{BB962C8B-B14F-4D97-AF65-F5344CB8AC3E}">
        <p14:creationId xmlns:p14="http://schemas.microsoft.com/office/powerpoint/2010/main" val="2577895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21321"/>
                                        </p:tgtEl>
                                        <p:attrNameLst>
                                          <p:attrName>style.visibility</p:attrName>
                                        </p:attrNameLst>
                                      </p:cBhvr>
                                      <p:to>
                                        <p:strVal val="visible"/>
                                      </p:to>
                                    </p:set>
                                    <p:anim calcmode="lin" valueType="num">
                                      <p:cBhvr additive="base">
                                        <p:cTn id="7" dur="500" fill="hold"/>
                                        <p:tgtEl>
                                          <p:spTgt spid="1421321"/>
                                        </p:tgtEl>
                                        <p:attrNameLst>
                                          <p:attrName>ppt_x</p:attrName>
                                        </p:attrNameLst>
                                      </p:cBhvr>
                                      <p:tavLst>
                                        <p:tav tm="0">
                                          <p:val>
                                            <p:strVal val="0-#ppt_w/2"/>
                                          </p:val>
                                        </p:tav>
                                        <p:tav tm="100000">
                                          <p:val>
                                            <p:strVal val="#ppt_x"/>
                                          </p:val>
                                        </p:tav>
                                      </p:tavLst>
                                    </p:anim>
                                    <p:anim calcmode="lin" valueType="num">
                                      <p:cBhvr additive="base">
                                        <p:cTn id="8" dur="500" fill="hold"/>
                                        <p:tgtEl>
                                          <p:spTgt spid="14213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up)">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1321" grpId="0"/>
      <p:bldP spid="11"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gray">
          <a:xfrm rot="5400000">
            <a:off x="5039010" y="369915"/>
            <a:ext cx="3603171" cy="4410855"/>
          </a:xfrm>
          <a:prstGeom prst="rightArrow">
            <a:avLst>
              <a:gd name="adj1" fmla="val 84735"/>
              <a:gd name="adj2" fmla="val 26764"/>
            </a:avLst>
          </a:prstGeom>
          <a:gradFill rotWithShape="1">
            <a:gsLst>
              <a:gs pos="0">
                <a:schemeClr val="accent1">
                  <a:gamma/>
                  <a:tint val="0"/>
                  <a:invGamma/>
                  <a:alpha val="24001"/>
                </a:schemeClr>
              </a:gs>
              <a:gs pos="100000">
                <a:schemeClr val="accent3">
                  <a:lumMod val="40000"/>
                  <a:lumOff val="60000"/>
                </a:schemeClr>
              </a:gs>
            </a:gsLst>
            <a:lin ang="0" scaled="1"/>
          </a:gradFill>
          <a:ln w="9525">
            <a:solidFill>
              <a:schemeClr val="tx1"/>
            </a:solidFill>
            <a:miter lim="800000"/>
            <a:headEnd/>
            <a:tailEnd/>
          </a:ln>
          <a:effectLst/>
          <a:extLst/>
        </p:spPr>
        <p:txBody>
          <a:bodyPr wrap="none" anchor="ctr"/>
          <a:lstStyle/>
          <a:p>
            <a:endParaRPr lang="zh-CN" altLang="en-US"/>
          </a:p>
        </p:txBody>
      </p:sp>
      <p:sp>
        <p:nvSpPr>
          <p:cNvPr id="18" name="AutoShape 5"/>
          <p:cNvSpPr>
            <a:spLocks noChangeArrowheads="1"/>
          </p:cNvSpPr>
          <p:nvPr/>
        </p:nvSpPr>
        <p:spPr bwMode="gray">
          <a:xfrm rot="5400000">
            <a:off x="632892" y="514027"/>
            <a:ext cx="3603171" cy="4100860"/>
          </a:xfrm>
          <a:prstGeom prst="rightArrow">
            <a:avLst>
              <a:gd name="adj1" fmla="val 84735"/>
              <a:gd name="adj2" fmla="val 26764"/>
            </a:avLst>
          </a:prstGeom>
          <a:gradFill rotWithShape="1">
            <a:gsLst>
              <a:gs pos="0">
                <a:schemeClr val="accent1">
                  <a:gamma/>
                  <a:tint val="0"/>
                  <a:invGamma/>
                  <a:alpha val="24001"/>
                </a:schemeClr>
              </a:gs>
              <a:gs pos="100000">
                <a:srgbClr val="FFC000"/>
              </a:gs>
            </a:gsLst>
            <a:lin ang="0" scaled="1"/>
          </a:gradFill>
          <a:ln w="9525">
            <a:solidFill>
              <a:schemeClr val="tx1"/>
            </a:solidFill>
            <a:miter lim="800000"/>
            <a:headEnd/>
            <a:tailEnd/>
          </a:ln>
          <a:effectLst/>
          <a:extLst/>
        </p:spPr>
        <p:txBody>
          <a:bodyPr wrap="none" anchor="ctr"/>
          <a:lstStyle/>
          <a:p>
            <a:endParaRPr lang="zh-CN" altLang="en-US"/>
          </a:p>
        </p:txBody>
      </p:sp>
      <p:sp>
        <p:nvSpPr>
          <p:cNvPr id="82950" name="Text Box 8"/>
          <p:cNvSpPr txBox="1">
            <a:spLocks noChangeArrowheads="1"/>
          </p:cNvSpPr>
          <p:nvPr/>
        </p:nvSpPr>
        <p:spPr bwMode="auto">
          <a:xfrm>
            <a:off x="1654629" y="5744781"/>
            <a:ext cx="707571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3600" b="1" dirty="0">
                <a:solidFill>
                  <a:srgbClr val="000066"/>
                </a:solidFill>
                <a:ea typeface="黑体" pitchFamily="2" charset="-122"/>
              </a:rPr>
              <a:t>最能反映土的物理力学性质的指标</a:t>
            </a:r>
          </a:p>
        </p:txBody>
      </p:sp>
      <p:sp>
        <p:nvSpPr>
          <p:cNvPr id="10" name="Text Box 7"/>
          <p:cNvSpPr txBox="1">
            <a:spLocks noChangeArrowheads="1"/>
          </p:cNvSpPr>
          <p:nvPr/>
        </p:nvSpPr>
        <p:spPr bwMode="auto">
          <a:xfrm>
            <a:off x="1" y="0"/>
            <a:ext cx="368776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§1.5  </a:t>
            </a:r>
            <a:r>
              <a:rPr lang="zh-CN" altLang="en-US" sz="2000" b="1" kern="900" spc="-140" dirty="0" smtClean="0">
                <a:solidFill>
                  <a:srgbClr val="C00000"/>
                </a:solidFill>
                <a:latin typeface="宋体" pitchFamily="2" charset="-122"/>
              </a:rPr>
              <a:t>土的工程分类</a:t>
            </a:r>
            <a:endParaRPr lang="zh-CN" altLang="en-US" sz="2000" b="1" kern="900" spc="-140" dirty="0">
              <a:solidFill>
                <a:srgbClr val="C00000"/>
              </a:solidFill>
              <a:latin typeface="宋体" pitchFamily="2" charset="-122"/>
            </a:endParaRPr>
          </a:p>
        </p:txBody>
      </p:sp>
      <p:sp>
        <p:nvSpPr>
          <p:cNvPr id="12" name="Rectangle 5"/>
          <p:cNvSpPr>
            <a:spLocks noChangeArrowheads="1"/>
          </p:cNvSpPr>
          <p:nvPr/>
        </p:nvSpPr>
        <p:spPr bwMode="auto">
          <a:xfrm>
            <a:off x="1870341" y="775820"/>
            <a:ext cx="1110603" cy="483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50000"/>
              </a:spcBef>
              <a:buClr>
                <a:srgbClr val="990000"/>
              </a:buClr>
              <a:buSzPts val="2400"/>
            </a:pPr>
            <a:r>
              <a:rPr kumimoji="0" lang="zh-CN" altLang="en-US" sz="2400" b="1" dirty="0" smtClean="0">
                <a:solidFill>
                  <a:srgbClr val="C00000"/>
                </a:solidFill>
                <a:ea typeface="微软雅黑" pitchFamily="34" charset="-122"/>
              </a:rPr>
              <a:t>粗粒土</a:t>
            </a:r>
            <a:endParaRPr kumimoji="0" lang="zh-CN" altLang="en-US" sz="2400" b="1" dirty="0">
              <a:solidFill>
                <a:srgbClr val="C00000"/>
              </a:solidFill>
              <a:ea typeface="微软雅黑" pitchFamily="34" charset="-122"/>
            </a:endParaRPr>
          </a:p>
        </p:txBody>
      </p:sp>
      <p:sp>
        <p:nvSpPr>
          <p:cNvPr id="13" name="Rectangle 6"/>
          <p:cNvSpPr>
            <a:spLocks noChangeArrowheads="1"/>
          </p:cNvSpPr>
          <p:nvPr/>
        </p:nvSpPr>
        <p:spPr bwMode="auto">
          <a:xfrm>
            <a:off x="6150614" y="767796"/>
            <a:ext cx="1384042" cy="51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50000"/>
              </a:spcBef>
              <a:buClr>
                <a:srgbClr val="990000"/>
              </a:buClr>
              <a:buSzPts val="2400"/>
            </a:pPr>
            <a:r>
              <a:rPr kumimoji="0" lang="zh-CN" altLang="en-US" sz="2400" b="1" dirty="0" smtClean="0">
                <a:solidFill>
                  <a:srgbClr val="C00000"/>
                </a:solidFill>
                <a:ea typeface="微软雅黑" pitchFamily="34" charset="-122"/>
              </a:rPr>
              <a:t>细粒土</a:t>
            </a:r>
            <a:endParaRPr kumimoji="0" lang="zh-CN" altLang="en-US" sz="2400" b="1" dirty="0">
              <a:solidFill>
                <a:srgbClr val="C00000"/>
              </a:solidFill>
              <a:ea typeface="微软雅黑" pitchFamily="34" charset="-122"/>
            </a:endParaRPr>
          </a:p>
        </p:txBody>
      </p:sp>
      <p:sp>
        <p:nvSpPr>
          <p:cNvPr id="2" name="矩形 1"/>
          <p:cNvSpPr/>
          <p:nvPr/>
        </p:nvSpPr>
        <p:spPr>
          <a:xfrm>
            <a:off x="1121228" y="1433881"/>
            <a:ext cx="2697598" cy="2108269"/>
          </a:xfrm>
          <a:prstGeom prst="rect">
            <a:avLst/>
          </a:prstGeom>
        </p:spPr>
        <p:txBody>
          <a:bodyPr wrap="square">
            <a:spAutoFit/>
          </a:bodyPr>
          <a:lstStyle/>
          <a:p>
            <a:pPr marL="265113" indent="-265113">
              <a:lnSpc>
                <a:spcPct val="110000"/>
              </a:lnSpc>
              <a:spcBef>
                <a:spcPts val="300"/>
              </a:spcBef>
              <a:spcAft>
                <a:spcPts val="300"/>
              </a:spcAft>
              <a:buClr>
                <a:srgbClr val="C00000"/>
              </a:buClr>
              <a:buSzPct val="140000"/>
              <a:buFont typeface="Arial" panose="020B0604020202020204" pitchFamily="34" charset="0"/>
              <a:buChar char="•"/>
            </a:pP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无黏性</a:t>
            </a:r>
            <a:endParaRPr lang="en-US" altLang="zh-CN"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endParaRPr>
          </a:p>
          <a:p>
            <a:pPr marL="265113" indent="-265113">
              <a:lnSpc>
                <a:spcPct val="110000"/>
              </a:lnSpc>
              <a:spcBef>
                <a:spcPts val="300"/>
              </a:spcBef>
              <a:spcAft>
                <a:spcPts val="300"/>
              </a:spcAft>
              <a:buClr>
                <a:srgbClr val="C00000"/>
              </a:buClr>
              <a:buSzPct val="140000"/>
              <a:buFont typeface="Arial" panose="020B0604020202020204" pitchFamily="34" charset="0"/>
              <a:buChar char="•"/>
            </a:pP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粒</a:t>
            </a:r>
            <a:r>
              <a:rPr lang="zh-CN" altLang="en-US" sz="2200" b="1" dirty="0">
                <a:solidFill>
                  <a:srgbClr val="000066"/>
                </a:solidFill>
                <a:latin typeface="幼圆" panose="02010509060101010101" pitchFamily="49" charset="-122"/>
                <a:ea typeface="幼圆" panose="02010509060101010101" pitchFamily="49" charset="-122"/>
                <a:cs typeface="Browallia New" panose="020B0604020202020204" pitchFamily="34" charset="-34"/>
              </a:rPr>
              <a:t>间力以重力和毛细力为主</a:t>
            </a:r>
            <a:endParaRPr lang="en-US" altLang="zh-CN" sz="2200" b="1" dirty="0">
              <a:solidFill>
                <a:srgbClr val="000066"/>
              </a:solidFill>
              <a:latin typeface="幼圆" panose="02010509060101010101" pitchFamily="49" charset="-122"/>
              <a:ea typeface="幼圆" panose="02010509060101010101" pitchFamily="49" charset="-122"/>
              <a:cs typeface="Browallia New" panose="020B0604020202020204" pitchFamily="34" charset="-34"/>
            </a:endParaRPr>
          </a:p>
          <a:p>
            <a:pPr marL="265113" indent="-265113">
              <a:lnSpc>
                <a:spcPct val="110000"/>
              </a:lnSpc>
              <a:spcBef>
                <a:spcPts val="300"/>
              </a:spcBef>
              <a:spcAft>
                <a:spcPts val="300"/>
              </a:spcAft>
              <a:buClr>
                <a:srgbClr val="C00000"/>
              </a:buClr>
              <a:buSzPct val="140000"/>
              <a:buFont typeface="Arial" panose="020B0604020202020204" pitchFamily="34" charset="0"/>
              <a:buChar char="•"/>
            </a:pP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颗粒</a:t>
            </a:r>
            <a:r>
              <a:rPr lang="zh-CN" altLang="en-US" sz="2200" b="1" dirty="0">
                <a:solidFill>
                  <a:srgbClr val="000066"/>
                </a:solidFill>
                <a:latin typeface="幼圆" panose="02010509060101010101" pitchFamily="49" charset="-122"/>
                <a:ea typeface="幼圆" panose="02010509060101010101" pitchFamily="49" charset="-122"/>
                <a:cs typeface="Browallia New" panose="020B0604020202020204" pitchFamily="34" charset="-34"/>
              </a:rPr>
              <a:t>通过接触点</a:t>
            </a: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直接接触</a:t>
            </a:r>
            <a:endParaRPr lang="en-US" altLang="zh-CN"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endParaRPr>
          </a:p>
        </p:txBody>
      </p:sp>
      <p:sp>
        <p:nvSpPr>
          <p:cNvPr id="16" name="矩形 15"/>
          <p:cNvSpPr/>
          <p:nvPr/>
        </p:nvSpPr>
        <p:spPr>
          <a:xfrm>
            <a:off x="1670384" y="4490976"/>
            <a:ext cx="1490829" cy="517065"/>
          </a:xfrm>
          <a:prstGeom prst="rect">
            <a:avLst/>
          </a:prstGeom>
          <a:solidFill>
            <a:srgbClr val="FFCC00"/>
          </a:solidFill>
        </p:spPr>
        <p:txBody>
          <a:bodyPr wrap="square">
            <a:spAutoFit/>
          </a:bodyPr>
          <a:lstStyle/>
          <a:p>
            <a:pPr>
              <a:buClr>
                <a:srgbClr val="C00000"/>
              </a:buClr>
              <a:buSzPct val="140000"/>
            </a:pPr>
            <a:r>
              <a:rPr lang="zh-CN" altLang="en-US" sz="2400" b="1" dirty="0" smtClean="0">
                <a:solidFill>
                  <a:srgbClr val="C00000"/>
                </a:solidFill>
                <a:latin typeface="微软雅黑" panose="020B0503020204020204" pitchFamily="34" charset="-122"/>
                <a:ea typeface="微软雅黑" panose="020B0503020204020204" pitchFamily="34" charset="-122"/>
                <a:cs typeface="Browallia New" panose="020B0604020202020204" pitchFamily="34" charset="-34"/>
              </a:rPr>
              <a:t>粒径级配</a:t>
            </a:r>
            <a:endParaRPr lang="en-US" altLang="zh-CN" sz="2400" b="1" dirty="0">
              <a:solidFill>
                <a:srgbClr val="C00000"/>
              </a:solidFill>
              <a:latin typeface="微软雅黑" panose="020B0503020204020204" pitchFamily="34" charset="-122"/>
              <a:ea typeface="微软雅黑" panose="020B0503020204020204" pitchFamily="34" charset="-122"/>
              <a:cs typeface="Browallia New" panose="020B0604020202020204" pitchFamily="34" charset="-34"/>
            </a:endParaRPr>
          </a:p>
        </p:txBody>
      </p:sp>
      <p:sp>
        <p:nvSpPr>
          <p:cNvPr id="17" name="矩形 16"/>
          <p:cNvSpPr/>
          <p:nvPr/>
        </p:nvSpPr>
        <p:spPr>
          <a:xfrm>
            <a:off x="5072025" y="1361046"/>
            <a:ext cx="3689496" cy="2435218"/>
          </a:xfrm>
          <a:prstGeom prst="rect">
            <a:avLst/>
          </a:prstGeom>
        </p:spPr>
        <p:txBody>
          <a:bodyPr wrap="square">
            <a:spAutoFit/>
          </a:bodyPr>
          <a:lstStyle/>
          <a:p>
            <a:pPr marL="265113" indent="-265113">
              <a:lnSpc>
                <a:spcPct val="110000"/>
              </a:lnSpc>
              <a:spcBef>
                <a:spcPts val="300"/>
              </a:spcBef>
              <a:spcAft>
                <a:spcPts val="300"/>
              </a:spcAft>
              <a:buClr>
                <a:srgbClr val="C00000"/>
              </a:buClr>
              <a:buSzPct val="140000"/>
              <a:buFont typeface="Arial" panose="020B0604020202020204" pitchFamily="34" charset="0"/>
              <a:buChar char="•"/>
            </a:pP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黏性：粒间有分子</a:t>
            </a:r>
            <a:r>
              <a:rPr lang="zh-CN" altLang="en-US" sz="2200" b="1" dirty="0">
                <a:solidFill>
                  <a:srgbClr val="000066"/>
                </a:solidFill>
                <a:latin typeface="幼圆" panose="02010509060101010101" pitchFamily="49" charset="-122"/>
                <a:ea typeface="幼圆" panose="02010509060101010101" pitchFamily="49" charset="-122"/>
                <a:cs typeface="Browallia New" panose="020B0604020202020204" pitchFamily="34" charset="-34"/>
              </a:rPr>
              <a:t>引力及</a:t>
            </a: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静电力等，存在</a:t>
            </a:r>
            <a:r>
              <a:rPr lang="zh-CN" altLang="en-US" sz="2200" b="1" dirty="0">
                <a:solidFill>
                  <a:srgbClr val="000066"/>
                </a:solidFill>
                <a:latin typeface="幼圆" panose="02010509060101010101" pitchFamily="49" charset="-122"/>
                <a:ea typeface="幼圆" panose="02010509060101010101" pitchFamily="49" charset="-122"/>
                <a:cs typeface="Browallia New" panose="020B0604020202020204" pitchFamily="34" charset="-34"/>
              </a:rPr>
              <a:t>相互</a:t>
            </a: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联结</a:t>
            </a:r>
            <a:endParaRPr lang="en-US" altLang="zh-CN"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endParaRPr>
          </a:p>
          <a:p>
            <a:pPr marL="265113" indent="-265113">
              <a:lnSpc>
                <a:spcPct val="110000"/>
              </a:lnSpc>
              <a:spcBef>
                <a:spcPts val="300"/>
              </a:spcBef>
              <a:spcAft>
                <a:spcPts val="300"/>
              </a:spcAft>
              <a:buClr>
                <a:srgbClr val="C00000"/>
              </a:buClr>
              <a:buSzPct val="140000"/>
              <a:buFont typeface="Arial" panose="020B0604020202020204" pitchFamily="34" charset="0"/>
              <a:buChar char="•"/>
            </a:pP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可塑性：黏粒吸引结合水</a:t>
            </a:r>
            <a:r>
              <a:rPr lang="zh-CN" altLang="en-US" sz="2200" b="1" dirty="0">
                <a:solidFill>
                  <a:srgbClr val="000066"/>
                </a:solidFill>
                <a:latin typeface="幼圆" panose="02010509060101010101" pitchFamily="49" charset="-122"/>
                <a:ea typeface="幼圆" panose="02010509060101010101" pitchFamily="49" charset="-122"/>
                <a:cs typeface="Browallia New" panose="020B0604020202020204" pitchFamily="34" charset="-34"/>
              </a:rPr>
              <a:t>膜</a:t>
            </a: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，通常不直接接触</a:t>
            </a:r>
            <a:endParaRPr lang="en-US" altLang="zh-CN"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endParaRPr>
          </a:p>
          <a:p>
            <a:pPr marL="265113" indent="-265113">
              <a:lnSpc>
                <a:spcPct val="110000"/>
              </a:lnSpc>
              <a:spcBef>
                <a:spcPts val="300"/>
              </a:spcBef>
              <a:spcAft>
                <a:spcPts val="300"/>
              </a:spcAft>
              <a:buClr>
                <a:srgbClr val="C00000"/>
              </a:buClr>
              <a:buSzPct val="140000"/>
              <a:buFont typeface="Arial" panose="020B0604020202020204" pitchFamily="34" charset="0"/>
              <a:buChar char="•"/>
            </a:pPr>
            <a:r>
              <a:rPr lang="zh-CN" altLang="en-US" sz="2200" b="1" dirty="0">
                <a:solidFill>
                  <a:srgbClr val="000066"/>
                </a:solidFill>
                <a:latin typeface="幼圆" panose="02010509060101010101" pitchFamily="49" charset="-122"/>
                <a:ea typeface="幼圆" panose="02010509060101010101" pitchFamily="49" charset="-122"/>
                <a:cs typeface="Browallia New" panose="020B0604020202020204" pitchFamily="34" charset="-34"/>
              </a:rPr>
              <a:t>胀缩性：</a:t>
            </a: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黏土矿物吸水</a:t>
            </a:r>
            <a:r>
              <a:rPr lang="zh-CN" altLang="en-US" sz="2200" b="1" dirty="0">
                <a:solidFill>
                  <a:srgbClr val="000066"/>
                </a:solidFill>
                <a:latin typeface="幼圆" panose="02010509060101010101" pitchFamily="49" charset="-122"/>
                <a:ea typeface="幼圆" panose="02010509060101010101" pitchFamily="49" charset="-122"/>
                <a:cs typeface="Browallia New" panose="020B0604020202020204" pitchFamily="34" charset="-34"/>
              </a:rPr>
              <a:t>膨胀、失水</a:t>
            </a:r>
            <a:r>
              <a:rPr lang="zh-CN" altLang="en-US" sz="2200" b="1" dirty="0" smtClean="0">
                <a:solidFill>
                  <a:srgbClr val="000066"/>
                </a:solidFill>
                <a:latin typeface="幼圆" panose="02010509060101010101" pitchFamily="49" charset="-122"/>
                <a:ea typeface="幼圆" panose="02010509060101010101" pitchFamily="49" charset="-122"/>
                <a:cs typeface="Browallia New" panose="020B0604020202020204" pitchFamily="34" charset="-34"/>
              </a:rPr>
              <a:t>收缩</a:t>
            </a:r>
            <a:endParaRPr lang="en-US" altLang="zh-CN" sz="2200" b="1" dirty="0">
              <a:solidFill>
                <a:srgbClr val="000066"/>
              </a:solidFill>
              <a:latin typeface="幼圆" panose="02010509060101010101" pitchFamily="49" charset="-122"/>
              <a:ea typeface="幼圆" panose="02010509060101010101" pitchFamily="49" charset="-122"/>
              <a:cs typeface="Browallia New" panose="020B0604020202020204" pitchFamily="34" charset="-34"/>
            </a:endParaRPr>
          </a:p>
        </p:txBody>
      </p:sp>
      <p:sp>
        <p:nvSpPr>
          <p:cNvPr id="5" name="矩形 4"/>
          <p:cNvSpPr/>
          <p:nvPr/>
        </p:nvSpPr>
        <p:spPr>
          <a:xfrm>
            <a:off x="5647054" y="4479549"/>
            <a:ext cx="2412992" cy="830997"/>
          </a:xfrm>
          <a:prstGeom prst="rect">
            <a:avLst/>
          </a:prstGeom>
          <a:solidFill>
            <a:schemeClr val="accent3">
              <a:lumMod val="60000"/>
              <a:lumOff val="40000"/>
            </a:schemeClr>
          </a:solidFill>
        </p:spPr>
        <p:txBody>
          <a:bodyPr wrap="square">
            <a:spAutoFit/>
          </a:bodyPr>
          <a:lstStyle/>
          <a:p>
            <a:pPr>
              <a:lnSpc>
                <a:spcPct val="100000"/>
              </a:lnSpc>
              <a:spcBef>
                <a:spcPts val="0"/>
              </a:spcBef>
              <a:spcAft>
                <a:spcPts val="0"/>
              </a:spcAft>
            </a:pPr>
            <a:r>
              <a:rPr lang="en-US" altLang="zh-CN" sz="2400" b="1" dirty="0" err="1"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吸附结合水能力</a:t>
            </a:r>
            <a:endParaRPr lang="en-US" altLang="zh-CN" sz="2400" b="1"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00000"/>
              </a:lnSpc>
              <a:spcBef>
                <a:spcPts val="0"/>
              </a:spcBef>
              <a:spcAft>
                <a:spcPts val="0"/>
              </a:spcAft>
            </a:pPr>
            <a:r>
              <a:rPr lang="en-US" altLang="zh-CN" sz="2400" b="1" i="1" dirty="0" err="1"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w</a:t>
            </a:r>
            <a:r>
              <a:rPr lang="en-US" altLang="zh-CN" sz="2400" b="1" baseline="-25000" dirty="0" err="1"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L</a:t>
            </a:r>
            <a:r>
              <a:rPr lang="en-US" altLang="zh-CN" sz="2400" b="1" dirty="0" err="1"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i="1" dirty="0" err="1"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w</a:t>
            </a:r>
            <a:r>
              <a:rPr lang="en-US" altLang="zh-CN" sz="2400" b="1" baseline="-25000" dirty="0" err="1"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2400" b="1"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i="1" dirty="0" err="1"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2400" b="1" baseline="-25000" dirty="0" err="1"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p</a:t>
            </a:r>
            <a:endParaRPr lang="en-US" altLang="zh-CN" sz="2400" b="1" baseline="-25000"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872347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dissolve">
                                      <p:cBhvr>
                                        <p:cTn id="7" dur="500"/>
                                        <p:tgtEl>
                                          <p:spTgt spid="1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up)">
                                      <p:cBhvr>
                                        <p:cTn id="16" dur="1000"/>
                                        <p:tgtEl>
                                          <p:spTgt spid="18"/>
                                        </p:tgtEl>
                                      </p:cBhvr>
                                    </p:animEffect>
                                  </p:childTnLst>
                                </p:cTn>
                              </p:par>
                            </p:childTnLst>
                          </p:cTn>
                        </p:par>
                        <p:par>
                          <p:cTn id="17" fill="hold">
                            <p:stCondLst>
                              <p:cond delay="1000"/>
                            </p:stCondLst>
                            <p:childTnLst>
                              <p:par>
                                <p:cTn id="18" presetID="31" presetClass="entr" presetSubtype="0"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1000" fill="hold"/>
                                        <p:tgtEl>
                                          <p:spTgt spid="16"/>
                                        </p:tgtEl>
                                        <p:attrNameLst>
                                          <p:attrName>ppt_w</p:attrName>
                                        </p:attrNameLst>
                                      </p:cBhvr>
                                      <p:tavLst>
                                        <p:tav tm="0">
                                          <p:val>
                                            <p:fltVal val="0"/>
                                          </p:val>
                                        </p:tav>
                                        <p:tav tm="100000">
                                          <p:val>
                                            <p:strVal val="#ppt_w"/>
                                          </p:val>
                                        </p:tav>
                                      </p:tavLst>
                                    </p:anim>
                                    <p:anim calcmode="lin" valueType="num">
                                      <p:cBhvr>
                                        <p:cTn id="21" dur="1000" fill="hold"/>
                                        <p:tgtEl>
                                          <p:spTgt spid="16"/>
                                        </p:tgtEl>
                                        <p:attrNameLst>
                                          <p:attrName>ppt_h</p:attrName>
                                        </p:attrNameLst>
                                      </p:cBhvr>
                                      <p:tavLst>
                                        <p:tav tm="0">
                                          <p:val>
                                            <p:fltVal val="0"/>
                                          </p:val>
                                        </p:tav>
                                        <p:tav tm="100000">
                                          <p:val>
                                            <p:strVal val="#ppt_h"/>
                                          </p:val>
                                        </p:tav>
                                      </p:tavLst>
                                    </p:anim>
                                    <p:anim calcmode="lin" valueType="num">
                                      <p:cBhvr>
                                        <p:cTn id="22" dur="1000" fill="hold"/>
                                        <p:tgtEl>
                                          <p:spTgt spid="16"/>
                                        </p:tgtEl>
                                        <p:attrNameLst>
                                          <p:attrName>style.rotation</p:attrName>
                                        </p:attrNameLst>
                                      </p:cBhvr>
                                      <p:tavLst>
                                        <p:tav tm="0">
                                          <p:val>
                                            <p:fltVal val="90"/>
                                          </p:val>
                                        </p:tav>
                                        <p:tav tm="100000">
                                          <p:val>
                                            <p:fltVal val="0"/>
                                          </p:val>
                                        </p:tav>
                                      </p:tavLst>
                                    </p:anim>
                                    <p:animEffect transition="in" filter="fade">
                                      <p:cBhvr>
                                        <p:cTn id="23" dur="10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animEffect transition="in" filter="dissolve">
                                      <p:cBhvr>
                                        <p:cTn id="28" dur="500"/>
                                        <p:tgtEl>
                                          <p:spTgt spid="13">
                                            <p:txEl>
                                              <p:pRg st="0" end="0"/>
                                            </p:txEl>
                                          </p:spTgt>
                                        </p:tgtEl>
                                      </p:cBhvr>
                                    </p:animEffect>
                                  </p:childTnLst>
                                </p:cTn>
                              </p:par>
                            </p:childTnLst>
                          </p:cTn>
                        </p:par>
                        <p:par>
                          <p:cTn id="29" fill="hold">
                            <p:stCondLst>
                              <p:cond delay="500"/>
                            </p:stCondLst>
                            <p:childTnLst>
                              <p:par>
                                <p:cTn id="30" presetID="22" presetClass="entr" presetSubtype="1"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up)">
                                      <p:cBhvr>
                                        <p:cTn id="32" dur="10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up)">
                                      <p:cBhvr>
                                        <p:cTn id="37" dur="1000"/>
                                        <p:tgtEl>
                                          <p:spTgt spid="15"/>
                                        </p:tgtEl>
                                      </p:cBhvr>
                                    </p:animEffect>
                                  </p:childTnLst>
                                </p:cTn>
                              </p:par>
                            </p:childTnLst>
                          </p:cTn>
                        </p:par>
                        <p:par>
                          <p:cTn id="38" fill="hold">
                            <p:stCondLst>
                              <p:cond delay="1000"/>
                            </p:stCondLst>
                            <p:childTnLst>
                              <p:par>
                                <p:cTn id="39" presetID="31" presetClass="entr" presetSubtype="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p:cTn id="41" dur="1000" fill="hold"/>
                                        <p:tgtEl>
                                          <p:spTgt spid="5"/>
                                        </p:tgtEl>
                                        <p:attrNameLst>
                                          <p:attrName>ppt_w</p:attrName>
                                        </p:attrNameLst>
                                      </p:cBhvr>
                                      <p:tavLst>
                                        <p:tav tm="0">
                                          <p:val>
                                            <p:fltVal val="0"/>
                                          </p:val>
                                        </p:tav>
                                        <p:tav tm="100000">
                                          <p:val>
                                            <p:strVal val="#ppt_w"/>
                                          </p:val>
                                        </p:tav>
                                      </p:tavLst>
                                    </p:anim>
                                    <p:anim calcmode="lin" valueType="num">
                                      <p:cBhvr>
                                        <p:cTn id="42" dur="1000" fill="hold"/>
                                        <p:tgtEl>
                                          <p:spTgt spid="5"/>
                                        </p:tgtEl>
                                        <p:attrNameLst>
                                          <p:attrName>ppt_h</p:attrName>
                                        </p:attrNameLst>
                                      </p:cBhvr>
                                      <p:tavLst>
                                        <p:tav tm="0">
                                          <p:val>
                                            <p:fltVal val="0"/>
                                          </p:val>
                                        </p:tav>
                                        <p:tav tm="100000">
                                          <p:val>
                                            <p:strVal val="#ppt_h"/>
                                          </p:val>
                                        </p:tav>
                                      </p:tavLst>
                                    </p:anim>
                                    <p:anim calcmode="lin" valueType="num">
                                      <p:cBhvr>
                                        <p:cTn id="43" dur="1000" fill="hold"/>
                                        <p:tgtEl>
                                          <p:spTgt spid="5"/>
                                        </p:tgtEl>
                                        <p:attrNameLst>
                                          <p:attrName>style.rotation</p:attrName>
                                        </p:attrNameLst>
                                      </p:cBhvr>
                                      <p:tavLst>
                                        <p:tav tm="0">
                                          <p:val>
                                            <p:fltVal val="90"/>
                                          </p:val>
                                        </p:tav>
                                        <p:tav tm="100000">
                                          <p:val>
                                            <p:fltVal val="0"/>
                                          </p:val>
                                        </p:tav>
                                      </p:tavLst>
                                    </p:anim>
                                    <p:animEffect transition="in" filter="fade">
                                      <p:cBhvr>
                                        <p:cTn id="4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12" grpId="0" build="p" autoUpdateAnimBg="0" advAuto="0"/>
      <p:bldP spid="13" grpId="0" build="p" autoUpdateAnimBg="0" advAuto="0"/>
      <p:bldP spid="2" grpId="0"/>
      <p:bldP spid="16" grpId="0" animBg="1"/>
      <p:bldP spid="17" grpId="0"/>
      <p:bldP spid="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7" name="Rectangle 4"/>
          <p:cNvSpPr>
            <a:spLocks noChangeArrowheads="1"/>
          </p:cNvSpPr>
          <p:nvPr/>
        </p:nvSpPr>
        <p:spPr bwMode="auto">
          <a:xfrm>
            <a:off x="346074" y="1471282"/>
            <a:ext cx="1662113" cy="941717"/>
          </a:xfrm>
          <a:prstGeom prst="rect">
            <a:avLst/>
          </a:prstGeom>
          <a:solidFill>
            <a:schemeClr val="accent6">
              <a:lumMod val="60000"/>
              <a:lumOff val="40000"/>
            </a:schemeClr>
          </a:solidFill>
          <a:ln>
            <a:noFill/>
          </a:ln>
          <a:extLst/>
        </p:spPr>
        <p:txBody>
          <a:bodyPr wrap="none" anchor="ctr"/>
          <a:lstStyle/>
          <a:p>
            <a:endParaRPr lang="zh-CN" altLang="en-US"/>
          </a:p>
        </p:txBody>
      </p:sp>
      <p:grpSp>
        <p:nvGrpSpPr>
          <p:cNvPr id="2" name="组合 1"/>
          <p:cNvGrpSpPr/>
          <p:nvPr/>
        </p:nvGrpSpPr>
        <p:grpSpPr>
          <a:xfrm>
            <a:off x="346075" y="558800"/>
            <a:ext cx="1662113" cy="3422650"/>
            <a:chOff x="346075" y="558800"/>
            <a:chExt cx="1662113" cy="3422650"/>
          </a:xfrm>
        </p:grpSpPr>
        <p:sp>
          <p:nvSpPr>
            <p:cNvPr id="83970" name="Rectangle 5"/>
            <p:cNvSpPr>
              <a:spLocks noChangeArrowheads="1"/>
            </p:cNvSpPr>
            <p:nvPr/>
          </p:nvSpPr>
          <p:spPr bwMode="auto">
            <a:xfrm>
              <a:off x="346075" y="1406525"/>
              <a:ext cx="1662113" cy="2574925"/>
            </a:xfrm>
            <a:prstGeom prst="rect">
              <a:avLst/>
            </a:prstGeom>
            <a:noFill/>
            <a:ln w="38100" cmpd="dbl">
              <a:solidFill>
                <a:srgbClr val="000066"/>
              </a:solidFill>
              <a:miter lim="800000"/>
              <a:headEnd/>
              <a:tailEnd/>
            </a:ln>
          </p:spPr>
          <p:txBody>
            <a:bodyPr wrap="none" anchor="ctr"/>
            <a:lstStyle/>
            <a:p>
              <a:endParaRPr lang="zh-CN" altLang="en-US"/>
            </a:p>
          </p:txBody>
        </p:sp>
        <p:sp>
          <p:nvSpPr>
            <p:cNvPr id="83972" name="Text Box 3"/>
            <p:cNvSpPr txBox="1">
              <a:spLocks noChangeArrowheads="1"/>
            </p:cNvSpPr>
            <p:nvPr/>
          </p:nvSpPr>
          <p:spPr bwMode="auto">
            <a:xfrm>
              <a:off x="384175" y="1438275"/>
              <a:ext cx="1479550" cy="2477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r" eaLnBrk="1" hangingPunct="1">
                <a:spcBef>
                  <a:spcPct val="0"/>
                </a:spcBef>
                <a:spcAft>
                  <a:spcPct val="0"/>
                </a:spcAft>
              </a:pPr>
              <a:r>
                <a:rPr kumimoji="1" lang="zh-CN" altLang="en-US" sz="2800" b="1" dirty="0" smtClean="0">
                  <a:solidFill>
                    <a:srgbClr val="000066"/>
                  </a:solidFill>
                  <a:latin typeface="Arial" charset="0"/>
                  <a:ea typeface="幼圆" pitchFamily="49" charset="-122"/>
                </a:rPr>
                <a:t>碎石</a:t>
              </a:r>
              <a:r>
                <a:rPr kumimoji="1" lang="zh-CN" altLang="en-US" sz="2800" b="1" dirty="0">
                  <a:solidFill>
                    <a:srgbClr val="000066"/>
                  </a:solidFill>
                  <a:latin typeface="Arial" charset="0"/>
                  <a:ea typeface="幼圆" pitchFamily="49" charset="-122"/>
                </a:rPr>
                <a:t>土</a:t>
              </a:r>
            </a:p>
            <a:p>
              <a:pPr algn="r" eaLnBrk="1" hangingPunct="1">
                <a:spcBef>
                  <a:spcPct val="0"/>
                </a:spcBef>
                <a:spcAft>
                  <a:spcPct val="0"/>
                </a:spcAft>
              </a:pPr>
              <a:r>
                <a:rPr kumimoji="1" lang="zh-CN" altLang="en-US" sz="2800" b="1" dirty="0">
                  <a:solidFill>
                    <a:srgbClr val="000066"/>
                  </a:solidFill>
                  <a:latin typeface="Arial" charset="0"/>
                  <a:ea typeface="幼圆" pitchFamily="49" charset="-122"/>
                </a:rPr>
                <a:t>砂土</a:t>
              </a:r>
            </a:p>
            <a:p>
              <a:pPr algn="r" eaLnBrk="1" hangingPunct="1">
                <a:spcBef>
                  <a:spcPct val="0"/>
                </a:spcBef>
                <a:spcAft>
                  <a:spcPct val="0"/>
                </a:spcAft>
              </a:pPr>
              <a:r>
                <a:rPr kumimoji="1" lang="zh-CN" altLang="en-US" sz="2800" b="1" dirty="0">
                  <a:solidFill>
                    <a:srgbClr val="000066"/>
                  </a:solidFill>
                  <a:latin typeface="Arial" charset="0"/>
                  <a:ea typeface="幼圆" pitchFamily="49" charset="-122"/>
                </a:rPr>
                <a:t>粉土</a:t>
              </a:r>
            </a:p>
            <a:p>
              <a:pPr algn="r" eaLnBrk="1" hangingPunct="1">
                <a:spcBef>
                  <a:spcPct val="0"/>
                </a:spcBef>
                <a:spcAft>
                  <a:spcPct val="0"/>
                </a:spcAft>
              </a:pPr>
              <a:r>
                <a:rPr kumimoji="1" lang="zh-CN" altLang="en-US" sz="2800" b="1" dirty="0" smtClean="0">
                  <a:solidFill>
                    <a:srgbClr val="000066"/>
                  </a:solidFill>
                  <a:latin typeface="Arial" charset="0"/>
                  <a:ea typeface="幼圆" pitchFamily="49" charset="-122"/>
                </a:rPr>
                <a:t>黏性</a:t>
              </a:r>
              <a:r>
                <a:rPr kumimoji="1" lang="zh-CN" altLang="en-US" sz="2800" b="1" dirty="0">
                  <a:solidFill>
                    <a:srgbClr val="000066"/>
                  </a:solidFill>
                  <a:latin typeface="Arial" charset="0"/>
                  <a:ea typeface="幼圆" pitchFamily="49" charset="-122"/>
                </a:rPr>
                <a:t>土</a:t>
              </a:r>
            </a:p>
            <a:p>
              <a:pPr algn="r" eaLnBrk="1" hangingPunct="1">
                <a:spcBef>
                  <a:spcPct val="0"/>
                </a:spcBef>
                <a:spcAft>
                  <a:spcPct val="0"/>
                </a:spcAft>
              </a:pPr>
              <a:r>
                <a:rPr kumimoji="1" lang="zh-CN" altLang="en-US" sz="2800" b="1" dirty="0">
                  <a:solidFill>
                    <a:srgbClr val="000066"/>
                  </a:solidFill>
                  <a:latin typeface="Arial" charset="0"/>
                  <a:ea typeface="幼圆" pitchFamily="49" charset="-122"/>
                </a:rPr>
                <a:t>人工填土</a:t>
              </a:r>
            </a:p>
          </p:txBody>
        </p:sp>
        <p:sp>
          <p:nvSpPr>
            <p:cNvPr id="83973" name="Text Box 6"/>
            <p:cNvSpPr txBox="1">
              <a:spLocks noChangeArrowheads="1"/>
            </p:cNvSpPr>
            <p:nvPr/>
          </p:nvSpPr>
          <p:spPr bwMode="auto">
            <a:xfrm>
              <a:off x="777875" y="558800"/>
              <a:ext cx="7239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dirty="0">
                  <a:solidFill>
                    <a:srgbClr val="C00000"/>
                  </a:solidFill>
                  <a:ea typeface="黑体" pitchFamily="2" charset="-122"/>
                </a:rPr>
                <a:t>土</a:t>
              </a:r>
            </a:p>
          </p:txBody>
        </p:sp>
      </p:grpSp>
      <p:sp>
        <p:nvSpPr>
          <p:cNvPr id="31" name="AutoShape 11"/>
          <p:cNvSpPr>
            <a:spLocks noChangeArrowheads="1"/>
          </p:cNvSpPr>
          <p:nvPr/>
        </p:nvSpPr>
        <p:spPr bwMode="auto">
          <a:xfrm>
            <a:off x="2151064" y="1495888"/>
            <a:ext cx="554036" cy="548811"/>
          </a:xfrm>
          <a:prstGeom prst="homePlate">
            <a:avLst>
              <a:gd name="adj" fmla="val 35521"/>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32" name="Text Box 7"/>
          <p:cNvSpPr txBox="1">
            <a:spLocks noChangeArrowheads="1"/>
          </p:cNvSpPr>
          <p:nvPr/>
        </p:nvSpPr>
        <p:spPr bwMode="auto">
          <a:xfrm>
            <a:off x="1" y="0"/>
            <a:ext cx="368776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§1.5  </a:t>
            </a:r>
            <a:r>
              <a:rPr lang="zh-CN" altLang="en-US" sz="2000" b="1" kern="900" spc="-140" dirty="0" smtClean="0">
                <a:solidFill>
                  <a:srgbClr val="C00000"/>
                </a:solidFill>
                <a:latin typeface="宋体" pitchFamily="2" charset="-122"/>
              </a:rPr>
              <a:t>土的工程分类</a:t>
            </a:r>
            <a:endParaRPr lang="zh-CN" altLang="en-US" sz="2000" b="1" kern="900" spc="-140" dirty="0">
              <a:solidFill>
                <a:srgbClr val="C00000"/>
              </a:solidFill>
              <a:latin typeface="宋体" pitchFamily="2" charset="-122"/>
            </a:endParaRPr>
          </a:p>
        </p:txBody>
      </p:sp>
      <p:sp>
        <p:nvSpPr>
          <p:cNvPr id="34" name="Text Box 9"/>
          <p:cNvSpPr txBox="1">
            <a:spLocks noChangeArrowheads="1"/>
          </p:cNvSpPr>
          <p:nvPr/>
        </p:nvSpPr>
        <p:spPr bwMode="auto">
          <a:xfrm>
            <a:off x="2929967" y="1389063"/>
            <a:ext cx="5337733"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62547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10000"/>
              </a:spcBef>
              <a:spcAft>
                <a:spcPct val="10000"/>
              </a:spcAft>
              <a:buClr>
                <a:srgbClr val="A50021"/>
              </a:buClr>
              <a:buSzPct val="130000"/>
              <a:buFont typeface="Wingdings" panose="05000000000000000000" pitchFamily="2" charset="2"/>
              <a:buChar char="F"/>
            </a:pPr>
            <a:r>
              <a:rPr kumimoji="1" lang="zh-CN" altLang="en-US" sz="2200" b="1" dirty="0">
                <a:solidFill>
                  <a:srgbClr val="C00000"/>
                </a:solidFill>
                <a:ea typeface="幼圆" pitchFamily="49" charset="-122"/>
                <a:cs typeface="Times New Roman" panose="02020603050405020304" pitchFamily="18" charset="0"/>
              </a:rPr>
              <a:t>碎石</a:t>
            </a:r>
            <a:r>
              <a:rPr kumimoji="1" lang="zh-CN" altLang="en-US" sz="2200" b="1" dirty="0" smtClean="0">
                <a:solidFill>
                  <a:srgbClr val="C00000"/>
                </a:solidFill>
                <a:ea typeface="幼圆" pitchFamily="49" charset="-122"/>
                <a:cs typeface="Times New Roman" panose="02020603050405020304" pitchFamily="18" charset="0"/>
              </a:rPr>
              <a:t>土：</a:t>
            </a:r>
            <a:r>
              <a:rPr kumimoji="1" lang="zh-CN" altLang="en-US" sz="2200" b="1" dirty="0" smtClean="0">
                <a:solidFill>
                  <a:srgbClr val="000066"/>
                </a:solidFill>
                <a:ea typeface="幼圆" pitchFamily="49" charset="-122"/>
                <a:cs typeface="Times New Roman" panose="02020603050405020304" pitchFamily="18" charset="0"/>
              </a:rPr>
              <a:t>指粒径大于</a:t>
            </a:r>
            <a:r>
              <a:rPr kumimoji="1" lang="en-US" altLang="zh-CN" sz="2200" b="1" dirty="0" smtClean="0">
                <a:solidFill>
                  <a:srgbClr val="000066"/>
                </a:solidFill>
                <a:ea typeface="幼圆" pitchFamily="49" charset="-122"/>
                <a:cs typeface="Times New Roman" panose="02020603050405020304" pitchFamily="18" charset="0"/>
              </a:rPr>
              <a:t>2mm的颗粒含量超过全重50%的土</a:t>
            </a:r>
            <a:endParaRPr kumimoji="1" lang="zh-CN" altLang="en-US" sz="2200" b="1" dirty="0">
              <a:solidFill>
                <a:srgbClr val="000066"/>
              </a:solidFill>
              <a:ea typeface="幼圆" pitchFamily="49" charset="-122"/>
              <a:cs typeface="Times New Roman" panose="02020603050405020304" pitchFamily="18" charset="0"/>
            </a:endParaRPr>
          </a:p>
        </p:txBody>
      </p:sp>
      <p:sp>
        <p:nvSpPr>
          <p:cNvPr id="35" name="Text Box 9"/>
          <p:cNvSpPr txBox="1">
            <a:spLocks noChangeArrowheads="1"/>
          </p:cNvSpPr>
          <p:nvPr/>
        </p:nvSpPr>
        <p:spPr bwMode="auto">
          <a:xfrm>
            <a:off x="2904567" y="743051"/>
            <a:ext cx="488053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62547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10000"/>
              </a:spcBef>
              <a:spcAft>
                <a:spcPct val="10000"/>
              </a:spcAft>
              <a:buClr>
                <a:srgbClr val="A50021"/>
              </a:buClr>
              <a:buSzPct val="100000"/>
              <a:buFont typeface="Wingdings" panose="05000000000000000000" pitchFamily="2" charset="2"/>
              <a:buChar char="n"/>
            </a:pPr>
            <a:r>
              <a:rPr kumimoji="1" lang="zh-CN" altLang="en-US" sz="2400" b="1" dirty="0" smtClean="0">
                <a:solidFill>
                  <a:srgbClr val="C00000"/>
                </a:solidFill>
                <a:ea typeface="幼圆" pitchFamily="49" charset="-122"/>
                <a:cs typeface="Times New Roman" panose="02020603050405020304" pitchFamily="18" charset="0"/>
              </a:rPr>
              <a:t>粗粒土：</a:t>
            </a:r>
            <a:r>
              <a:rPr kumimoji="1" lang="zh-CN" altLang="en-US" sz="2400" b="1" dirty="0" smtClean="0">
                <a:solidFill>
                  <a:srgbClr val="000066"/>
                </a:solidFill>
                <a:ea typeface="幼圆" pitchFamily="49" charset="-122"/>
                <a:cs typeface="Times New Roman" panose="02020603050405020304" pitchFamily="18" charset="0"/>
              </a:rPr>
              <a:t>按</a:t>
            </a:r>
            <a:r>
              <a:rPr kumimoji="1" lang="zh-CN" altLang="en-US" sz="2400" b="1" dirty="0">
                <a:solidFill>
                  <a:srgbClr val="000066"/>
                </a:solidFill>
                <a:ea typeface="幼圆" pitchFamily="49" charset="-122"/>
                <a:cs typeface="Times New Roman" panose="02020603050405020304" pitchFamily="18" charset="0"/>
              </a:rPr>
              <a:t>粒径级配分类</a:t>
            </a:r>
          </a:p>
        </p:txBody>
      </p:sp>
      <p:sp>
        <p:nvSpPr>
          <p:cNvPr id="36" name="矩形 35"/>
          <p:cNvSpPr/>
          <p:nvPr/>
        </p:nvSpPr>
        <p:spPr>
          <a:xfrm>
            <a:off x="3233760" y="2273478"/>
            <a:ext cx="4957740" cy="837152"/>
          </a:xfrm>
          <a:prstGeom prst="rect">
            <a:avLst/>
          </a:prstGeom>
        </p:spPr>
        <p:txBody>
          <a:bodyPr wrap="square">
            <a:spAutoFit/>
          </a:bodyPr>
          <a:lstStyle/>
          <a:p>
            <a:pPr marL="265113" indent="-265113">
              <a:lnSpc>
                <a:spcPct val="110000"/>
              </a:lnSpc>
              <a:spcBef>
                <a:spcPts val="300"/>
              </a:spcBef>
              <a:spcAft>
                <a:spcPts val="300"/>
              </a:spcAft>
              <a:buClr>
                <a:srgbClr val="C00000"/>
              </a:buClr>
              <a:buSzPct val="140000"/>
              <a:buFont typeface="Arial" panose="020B0604020202020204" pitchFamily="34" charset="0"/>
              <a:buChar char="•"/>
            </a:pPr>
            <a:r>
              <a:rPr lang="zh-CN" altLang="en-US" sz="2200" b="1" dirty="0" smtClean="0">
                <a:solidFill>
                  <a:srgbClr val="000066"/>
                </a:solidFill>
                <a:ea typeface="幼圆" panose="02010509060101010101" pitchFamily="49" charset="-122"/>
                <a:cs typeface="Times New Roman" panose="02020603050405020304" pitchFamily="18" charset="0"/>
              </a:rPr>
              <a:t>细分为：漂石、块石、卵石、碎石</a:t>
            </a:r>
            <a:r>
              <a:rPr lang="zh-CN" altLang="en-US" sz="2200" b="1" dirty="0">
                <a:solidFill>
                  <a:srgbClr val="000066"/>
                </a:solidFill>
                <a:ea typeface="幼圆" panose="02010509060101010101" pitchFamily="49" charset="-122"/>
                <a:cs typeface="Times New Roman" panose="02020603050405020304" pitchFamily="18" charset="0"/>
              </a:rPr>
              <a:t>、圆</a:t>
            </a:r>
            <a:r>
              <a:rPr lang="zh-CN" altLang="en-US" sz="2200" b="1" dirty="0" smtClean="0">
                <a:solidFill>
                  <a:srgbClr val="000066"/>
                </a:solidFill>
                <a:ea typeface="幼圆" panose="02010509060101010101" pitchFamily="49" charset="-122"/>
                <a:cs typeface="Times New Roman" panose="02020603050405020304" pitchFamily="18" charset="0"/>
              </a:rPr>
              <a:t>砾和角砾共六类</a:t>
            </a:r>
            <a:endParaRPr lang="en-US" altLang="zh-CN" sz="2200" b="1" dirty="0" smtClean="0">
              <a:solidFill>
                <a:srgbClr val="000066"/>
              </a:solidFill>
              <a:ea typeface="幼圆" panose="02010509060101010101" pitchFamily="49" charset="-122"/>
              <a:cs typeface="Times New Roman" panose="02020603050405020304" pitchFamily="18" charset="0"/>
            </a:endParaRPr>
          </a:p>
        </p:txBody>
      </p:sp>
      <p:sp>
        <p:nvSpPr>
          <p:cNvPr id="37" name="Text Box 9"/>
          <p:cNvSpPr txBox="1">
            <a:spLocks noChangeArrowheads="1"/>
          </p:cNvSpPr>
          <p:nvPr/>
        </p:nvSpPr>
        <p:spPr bwMode="auto">
          <a:xfrm>
            <a:off x="2917267" y="3233738"/>
            <a:ext cx="5629833"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62547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10000"/>
              </a:spcBef>
              <a:spcAft>
                <a:spcPct val="10000"/>
              </a:spcAft>
              <a:buClr>
                <a:srgbClr val="A50021"/>
              </a:buClr>
              <a:buSzPct val="130000"/>
              <a:buFont typeface="Wingdings" panose="05000000000000000000" pitchFamily="2" charset="2"/>
              <a:buChar char="F"/>
            </a:pPr>
            <a:r>
              <a:rPr kumimoji="1" lang="zh-CN" altLang="en-US" sz="2200" b="1" dirty="0" smtClean="0">
                <a:solidFill>
                  <a:srgbClr val="C00000"/>
                </a:solidFill>
                <a:ea typeface="幼圆" pitchFamily="49" charset="-122"/>
                <a:cs typeface="Times New Roman" panose="02020603050405020304" pitchFamily="18" charset="0"/>
              </a:rPr>
              <a:t>砂土：</a:t>
            </a:r>
            <a:r>
              <a:rPr kumimoji="1" lang="zh-CN" altLang="en-US" sz="2200" b="1" dirty="0" smtClean="0">
                <a:solidFill>
                  <a:srgbClr val="000066"/>
                </a:solidFill>
                <a:ea typeface="幼圆" pitchFamily="49" charset="-122"/>
                <a:cs typeface="Times New Roman" panose="02020603050405020304" pitchFamily="18" charset="0"/>
              </a:rPr>
              <a:t>指粒径大于</a:t>
            </a:r>
            <a:r>
              <a:rPr kumimoji="1" lang="en-US" altLang="zh-CN" sz="2200" b="1" dirty="0" smtClean="0">
                <a:solidFill>
                  <a:srgbClr val="000066"/>
                </a:solidFill>
                <a:ea typeface="幼圆" pitchFamily="49" charset="-122"/>
                <a:cs typeface="Times New Roman" panose="02020603050405020304" pitchFamily="18" charset="0"/>
              </a:rPr>
              <a:t>2mm的颗粒含量</a:t>
            </a:r>
            <a:r>
              <a:rPr kumimoji="1" lang="zh-CN" altLang="en-US" sz="2200" b="1" dirty="0" smtClean="0">
                <a:solidFill>
                  <a:srgbClr val="000066"/>
                </a:solidFill>
                <a:ea typeface="幼圆" pitchFamily="49" charset="-122"/>
                <a:cs typeface="Times New Roman" panose="02020603050405020304" pitchFamily="18" charset="0"/>
              </a:rPr>
              <a:t>不</a:t>
            </a:r>
            <a:r>
              <a:rPr kumimoji="1" lang="en-US" altLang="zh-CN" sz="2200" b="1" dirty="0" smtClean="0">
                <a:solidFill>
                  <a:srgbClr val="000066"/>
                </a:solidFill>
                <a:ea typeface="幼圆" pitchFamily="49" charset="-122"/>
                <a:cs typeface="Times New Roman" panose="02020603050405020304" pitchFamily="18" charset="0"/>
              </a:rPr>
              <a:t>超过全重50%</a:t>
            </a:r>
            <a:r>
              <a:rPr kumimoji="1" lang="zh-CN" altLang="en-US" sz="2200" b="1" dirty="0">
                <a:solidFill>
                  <a:srgbClr val="000066"/>
                </a:solidFill>
                <a:ea typeface="幼圆" pitchFamily="49" charset="-122"/>
                <a:cs typeface="Times New Roman" panose="02020603050405020304" pitchFamily="18" charset="0"/>
              </a:rPr>
              <a:t>，粒径</a:t>
            </a:r>
            <a:r>
              <a:rPr kumimoji="1" lang="zh-CN" altLang="en-US" sz="2200" b="1" dirty="0" smtClean="0">
                <a:solidFill>
                  <a:srgbClr val="000066"/>
                </a:solidFill>
                <a:ea typeface="幼圆" pitchFamily="49" charset="-122"/>
                <a:cs typeface="Times New Roman" panose="02020603050405020304" pitchFamily="18" charset="0"/>
              </a:rPr>
              <a:t>大于</a:t>
            </a:r>
            <a:r>
              <a:rPr kumimoji="1" lang="en-US" altLang="zh-CN" sz="2200" b="1" dirty="0" smtClean="0">
                <a:solidFill>
                  <a:srgbClr val="000066"/>
                </a:solidFill>
                <a:ea typeface="幼圆" pitchFamily="49" charset="-122"/>
                <a:cs typeface="Times New Roman" panose="02020603050405020304" pitchFamily="18" charset="0"/>
              </a:rPr>
              <a:t>0.075mm</a:t>
            </a:r>
            <a:r>
              <a:rPr kumimoji="1" lang="zh-CN" altLang="en-US" sz="2200" b="1" dirty="0">
                <a:solidFill>
                  <a:srgbClr val="000066"/>
                </a:solidFill>
                <a:ea typeface="幼圆" pitchFamily="49" charset="-122"/>
                <a:cs typeface="Times New Roman" panose="02020603050405020304" pitchFamily="18" charset="0"/>
              </a:rPr>
              <a:t>的颗粒</a:t>
            </a:r>
            <a:r>
              <a:rPr kumimoji="1" lang="zh-CN" altLang="en-US" sz="2200" b="1" dirty="0" smtClean="0">
                <a:solidFill>
                  <a:srgbClr val="000066"/>
                </a:solidFill>
                <a:ea typeface="幼圆" pitchFamily="49" charset="-122"/>
                <a:cs typeface="Times New Roman" panose="02020603050405020304" pitchFamily="18" charset="0"/>
              </a:rPr>
              <a:t>含量超过全</a:t>
            </a:r>
            <a:r>
              <a:rPr kumimoji="1" lang="zh-CN" altLang="en-US" sz="2200" b="1" dirty="0">
                <a:solidFill>
                  <a:srgbClr val="000066"/>
                </a:solidFill>
                <a:ea typeface="幼圆" pitchFamily="49" charset="-122"/>
                <a:cs typeface="Times New Roman" panose="02020603050405020304" pitchFamily="18" charset="0"/>
              </a:rPr>
              <a:t>重</a:t>
            </a:r>
            <a:r>
              <a:rPr kumimoji="1" lang="en-US" altLang="zh-CN" sz="2200" b="1" dirty="0">
                <a:solidFill>
                  <a:srgbClr val="000066"/>
                </a:solidFill>
                <a:ea typeface="幼圆" pitchFamily="49" charset="-122"/>
                <a:cs typeface="Times New Roman" panose="02020603050405020304" pitchFamily="18" charset="0"/>
              </a:rPr>
              <a:t>50%的土</a:t>
            </a:r>
            <a:endParaRPr kumimoji="1" lang="zh-CN" altLang="en-US" sz="2200" b="1" dirty="0">
              <a:solidFill>
                <a:srgbClr val="000066"/>
              </a:solidFill>
              <a:ea typeface="幼圆" pitchFamily="49" charset="-122"/>
              <a:cs typeface="Times New Roman" panose="02020603050405020304" pitchFamily="18" charset="0"/>
            </a:endParaRPr>
          </a:p>
        </p:txBody>
      </p:sp>
      <p:sp>
        <p:nvSpPr>
          <p:cNvPr id="38" name="矩形 37"/>
          <p:cNvSpPr/>
          <p:nvPr/>
        </p:nvSpPr>
        <p:spPr>
          <a:xfrm>
            <a:off x="3341710" y="4553128"/>
            <a:ext cx="4957740" cy="837152"/>
          </a:xfrm>
          <a:prstGeom prst="rect">
            <a:avLst/>
          </a:prstGeom>
        </p:spPr>
        <p:txBody>
          <a:bodyPr wrap="square">
            <a:spAutoFit/>
          </a:bodyPr>
          <a:lstStyle/>
          <a:p>
            <a:pPr marL="265113" indent="-265113">
              <a:lnSpc>
                <a:spcPct val="110000"/>
              </a:lnSpc>
              <a:spcBef>
                <a:spcPts val="300"/>
              </a:spcBef>
              <a:spcAft>
                <a:spcPts val="300"/>
              </a:spcAft>
              <a:buClr>
                <a:srgbClr val="C00000"/>
              </a:buClr>
              <a:buSzPct val="140000"/>
              <a:buFont typeface="Arial" panose="020B0604020202020204" pitchFamily="34" charset="0"/>
              <a:buChar char="•"/>
            </a:pPr>
            <a:r>
              <a:rPr lang="zh-CN" altLang="en-US" sz="2200" b="1" dirty="0" smtClean="0">
                <a:solidFill>
                  <a:srgbClr val="000066"/>
                </a:solidFill>
                <a:ea typeface="幼圆" panose="02010509060101010101" pitchFamily="49" charset="-122"/>
                <a:cs typeface="Times New Roman" panose="02020603050405020304" pitchFamily="18" charset="0"/>
              </a:rPr>
              <a:t>细分</a:t>
            </a:r>
            <a:r>
              <a:rPr lang="zh-CN" altLang="en-US" sz="2200" b="1" dirty="0">
                <a:solidFill>
                  <a:srgbClr val="000066"/>
                </a:solidFill>
                <a:ea typeface="幼圆" panose="02010509060101010101" pitchFamily="49" charset="-122"/>
                <a:cs typeface="Times New Roman" panose="02020603050405020304" pitchFamily="18" charset="0"/>
              </a:rPr>
              <a:t>为：砾</a:t>
            </a:r>
            <a:r>
              <a:rPr lang="zh-CN" altLang="en-US" sz="2200" b="1" dirty="0" smtClean="0">
                <a:solidFill>
                  <a:srgbClr val="000066"/>
                </a:solidFill>
                <a:ea typeface="幼圆" panose="02010509060101010101" pitchFamily="49" charset="-122"/>
                <a:cs typeface="Times New Roman" panose="02020603050405020304" pitchFamily="18" charset="0"/>
              </a:rPr>
              <a:t>砂、粗砂、中砂、细砂和粉砂，共五类</a:t>
            </a:r>
            <a:endParaRPr lang="en-US" altLang="zh-CN" sz="2200" b="1" dirty="0" smtClean="0">
              <a:solidFill>
                <a:srgbClr val="000066"/>
              </a:solidFill>
              <a:ea typeface="幼圆" panose="02010509060101010101" pitchFamily="49" charset="-122"/>
              <a:cs typeface="Times New Roman" panose="02020603050405020304" pitchFamily="18" charset="0"/>
            </a:endParaRPr>
          </a:p>
        </p:txBody>
      </p:sp>
      <p:sp>
        <p:nvSpPr>
          <p:cNvPr id="39" name="Rectangle 28"/>
          <p:cNvSpPr>
            <a:spLocks noChangeArrowheads="1"/>
          </p:cNvSpPr>
          <p:nvPr/>
        </p:nvSpPr>
        <p:spPr bwMode="auto">
          <a:xfrm>
            <a:off x="1466850" y="5820352"/>
            <a:ext cx="73723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type="none" w="sm" len="lg"/>
              </a14:hiddenLine>
            </a:ext>
          </a:extLst>
        </p:spPr>
        <p:txBody>
          <a:bodyPr wrap="square">
            <a:spAutoFit/>
          </a:bodyPr>
          <a:lstStyle/>
          <a:p>
            <a:pPr algn="ctr">
              <a:lnSpc>
                <a:spcPct val="100000"/>
              </a:lnSpc>
              <a:spcBef>
                <a:spcPct val="0"/>
              </a:spcBef>
              <a:spcAft>
                <a:spcPct val="0"/>
              </a:spcAft>
            </a:pPr>
            <a:r>
              <a:rPr kumimoji="1" lang="en-US" altLang="zh-CN" sz="2800" b="1" dirty="0" smtClean="0">
                <a:solidFill>
                  <a:srgbClr val="000066"/>
                </a:solidFill>
                <a:ea typeface="黑体" pitchFamily="2" charset="-122"/>
                <a:cs typeface="Times New Roman" panose="02020603050405020304" pitchFamily="18" charset="0"/>
              </a:rPr>
              <a:t>《</a:t>
            </a:r>
            <a:r>
              <a:rPr kumimoji="1" lang="zh-CN" altLang="en-US" sz="2800" b="1" dirty="0" smtClean="0">
                <a:solidFill>
                  <a:srgbClr val="000066"/>
                </a:solidFill>
                <a:ea typeface="黑体" pitchFamily="2" charset="-122"/>
                <a:cs typeface="Times New Roman" panose="02020603050405020304" pitchFamily="18" charset="0"/>
              </a:rPr>
              <a:t>建筑地基基础规范</a:t>
            </a:r>
            <a:r>
              <a:rPr kumimoji="1" lang="en-US" altLang="zh-CN" sz="2800" b="1" dirty="0" smtClean="0">
                <a:solidFill>
                  <a:srgbClr val="000066"/>
                </a:solidFill>
                <a:ea typeface="黑体" pitchFamily="2" charset="-122"/>
                <a:cs typeface="Times New Roman" panose="02020603050405020304" pitchFamily="18" charset="0"/>
              </a:rPr>
              <a:t>》(GB50007-2011)</a:t>
            </a:r>
            <a:r>
              <a:rPr kumimoji="1" lang="zh-CN" altLang="en-US" sz="2800" b="1" dirty="0" smtClean="0">
                <a:solidFill>
                  <a:srgbClr val="000066"/>
                </a:solidFill>
                <a:ea typeface="黑体" pitchFamily="2" charset="-122"/>
                <a:cs typeface="Times New Roman" panose="02020603050405020304" pitchFamily="18" charset="0"/>
              </a:rPr>
              <a:t>分类法</a:t>
            </a:r>
            <a:endParaRPr kumimoji="1" lang="en-US" altLang="zh-CN" sz="2800" b="1" dirty="0">
              <a:solidFill>
                <a:srgbClr val="000066"/>
              </a:solidFill>
              <a:ea typeface="黑体" pitchFamily="2" charset="-122"/>
              <a:cs typeface="Times New Roman" panose="02020603050405020304" pitchFamily="18" charset="0"/>
            </a:endParaRPr>
          </a:p>
        </p:txBody>
      </p:sp>
    </p:spTree>
    <p:extLst>
      <p:ext uri="{BB962C8B-B14F-4D97-AF65-F5344CB8AC3E}">
        <p14:creationId xmlns:p14="http://schemas.microsoft.com/office/powerpoint/2010/main" val="34818203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977"/>
                                        </p:tgtEl>
                                        <p:attrNameLst>
                                          <p:attrName>style.visibility</p:attrName>
                                        </p:attrNameLst>
                                      </p:cBhvr>
                                      <p:to>
                                        <p:strVal val="visible"/>
                                      </p:to>
                                    </p:set>
                                    <p:animEffect transition="in" filter="wipe(left)">
                                      <p:cBhvr>
                                        <p:cTn id="12" dur="500"/>
                                        <p:tgtEl>
                                          <p:spTgt spid="83977"/>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1000"/>
                                        <p:tgtEl>
                                          <p:spTgt spid="31"/>
                                        </p:tgtEl>
                                      </p:cBhvr>
                                    </p:animEffect>
                                  </p:childTnLst>
                                </p:cTn>
                              </p:par>
                            </p:childTnLst>
                          </p:cTn>
                        </p:par>
                        <p:par>
                          <p:cTn id="17" fill="hold">
                            <p:stCondLst>
                              <p:cond delay="1500"/>
                            </p:stCondLst>
                            <p:childTnLst>
                              <p:par>
                                <p:cTn id="18" presetID="2" presetClass="entr" presetSubtype="8" fill="hold" grpId="0" nodeType="afterEffect">
                                  <p:stCondLst>
                                    <p:cond delay="0"/>
                                  </p:stCondLst>
                                  <p:childTnLst>
                                    <p:set>
                                      <p:cBhvr>
                                        <p:cTn id="19" dur="1" fill="hold">
                                          <p:stCondLst>
                                            <p:cond delay="0"/>
                                          </p:stCondLst>
                                        </p:cTn>
                                        <p:tgtEl>
                                          <p:spTgt spid="35"/>
                                        </p:tgtEl>
                                        <p:attrNameLst>
                                          <p:attrName>style.visibility</p:attrName>
                                        </p:attrNameLst>
                                      </p:cBhvr>
                                      <p:to>
                                        <p:strVal val="visible"/>
                                      </p:to>
                                    </p:set>
                                    <p:anim calcmode="lin" valueType="num">
                                      <p:cBhvr additive="base">
                                        <p:cTn id="20" dur="500" fill="hold"/>
                                        <p:tgtEl>
                                          <p:spTgt spid="35"/>
                                        </p:tgtEl>
                                        <p:attrNameLst>
                                          <p:attrName>ppt_x</p:attrName>
                                        </p:attrNameLst>
                                      </p:cBhvr>
                                      <p:tavLst>
                                        <p:tav tm="0">
                                          <p:val>
                                            <p:strVal val="0-#ppt_w/2"/>
                                          </p:val>
                                        </p:tav>
                                        <p:tav tm="100000">
                                          <p:val>
                                            <p:strVal val="#ppt_x"/>
                                          </p:val>
                                        </p:tav>
                                      </p:tavLst>
                                    </p:anim>
                                    <p:anim calcmode="lin" valueType="num">
                                      <p:cBhvr additive="base">
                                        <p:cTn id="21"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 calcmode="lin" valueType="num">
                                      <p:cBhvr additive="base">
                                        <p:cTn id="26" dur="500" fill="hold"/>
                                        <p:tgtEl>
                                          <p:spTgt spid="34"/>
                                        </p:tgtEl>
                                        <p:attrNameLst>
                                          <p:attrName>ppt_x</p:attrName>
                                        </p:attrNameLst>
                                      </p:cBhvr>
                                      <p:tavLst>
                                        <p:tav tm="0">
                                          <p:val>
                                            <p:strVal val="0-#ppt_w/2"/>
                                          </p:val>
                                        </p:tav>
                                        <p:tav tm="100000">
                                          <p:val>
                                            <p:strVal val="#ppt_x"/>
                                          </p:val>
                                        </p:tav>
                                      </p:tavLst>
                                    </p:anim>
                                    <p:anim calcmode="lin" valueType="num">
                                      <p:cBhvr additive="base">
                                        <p:cTn id="27" dur="500" fill="hold"/>
                                        <p:tgtEl>
                                          <p:spTgt spid="34"/>
                                        </p:tgtEl>
                                        <p:attrNameLst>
                                          <p:attrName>ppt_y</p:attrName>
                                        </p:attrNameLst>
                                      </p:cBhvr>
                                      <p:tavLst>
                                        <p:tav tm="0">
                                          <p:val>
                                            <p:strVal val="#ppt_y"/>
                                          </p:val>
                                        </p:tav>
                                        <p:tav tm="100000">
                                          <p:val>
                                            <p:strVal val="#ppt_y"/>
                                          </p:val>
                                        </p:tav>
                                      </p:tavLst>
                                    </p:anim>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left)">
                                      <p:cBhvr>
                                        <p:cTn id="31" dur="1000"/>
                                        <p:tgtEl>
                                          <p:spTgt spid="36"/>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additive="base">
                                        <p:cTn id="36" dur="500" fill="hold"/>
                                        <p:tgtEl>
                                          <p:spTgt spid="37"/>
                                        </p:tgtEl>
                                        <p:attrNameLst>
                                          <p:attrName>ppt_x</p:attrName>
                                        </p:attrNameLst>
                                      </p:cBhvr>
                                      <p:tavLst>
                                        <p:tav tm="0">
                                          <p:val>
                                            <p:strVal val="0-#ppt_w/2"/>
                                          </p:val>
                                        </p:tav>
                                        <p:tav tm="100000">
                                          <p:val>
                                            <p:strVal val="#ppt_x"/>
                                          </p:val>
                                        </p:tav>
                                      </p:tavLst>
                                    </p:anim>
                                    <p:anim calcmode="lin" valueType="num">
                                      <p:cBhvr additive="base">
                                        <p:cTn id="37" dur="500" fill="hold"/>
                                        <p:tgtEl>
                                          <p:spTgt spid="37"/>
                                        </p:tgtEl>
                                        <p:attrNameLst>
                                          <p:attrName>ppt_y</p:attrName>
                                        </p:attrNameLst>
                                      </p:cBhvr>
                                      <p:tavLst>
                                        <p:tav tm="0">
                                          <p:val>
                                            <p:strVal val="#ppt_y"/>
                                          </p:val>
                                        </p:tav>
                                        <p:tav tm="100000">
                                          <p:val>
                                            <p:strVal val="#ppt_y"/>
                                          </p:val>
                                        </p:tav>
                                      </p:tavLst>
                                    </p:anim>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wipe(left)">
                                      <p:cBhvr>
                                        <p:cTn id="41"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7" grpId="0" animBg="1"/>
      <p:bldP spid="31" grpId="0" animBg="1"/>
      <p:bldP spid="34" grpId="0"/>
      <p:bldP spid="35" grpId="0"/>
      <p:bldP spid="36" grpId="0"/>
      <p:bldP spid="37" grpId="0"/>
      <p:bldP spid="3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2" name="Text Box 6"/>
          <p:cNvSpPr txBox="1">
            <a:spLocks noChangeArrowheads="1"/>
          </p:cNvSpPr>
          <p:nvPr/>
        </p:nvSpPr>
        <p:spPr bwMode="auto">
          <a:xfrm>
            <a:off x="777875" y="558800"/>
            <a:ext cx="69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a:solidFill>
                  <a:schemeClr val="bg1"/>
                </a:solidFill>
                <a:ea typeface="黑体" pitchFamily="2" charset="-122"/>
              </a:rPr>
              <a:t>土</a:t>
            </a:r>
          </a:p>
        </p:txBody>
      </p:sp>
      <p:sp>
        <p:nvSpPr>
          <p:cNvPr id="86024" name="Text Box 8"/>
          <p:cNvSpPr txBox="1">
            <a:spLocks noChangeArrowheads="1"/>
          </p:cNvSpPr>
          <p:nvPr/>
        </p:nvSpPr>
        <p:spPr bwMode="auto">
          <a:xfrm>
            <a:off x="2811961" y="3271209"/>
            <a:ext cx="47174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algn="ctr" eaLnBrk="1" hangingPunct="1">
              <a:lnSpc>
                <a:spcPct val="100000"/>
              </a:lnSpc>
              <a:spcBef>
                <a:spcPct val="0"/>
              </a:spcBef>
              <a:spcAft>
                <a:spcPct val="0"/>
              </a:spcAft>
              <a:buSzPct val="130000"/>
              <a:buFont typeface="Wingdings" panose="05000000000000000000" pitchFamily="2" charset="2"/>
              <a:buChar char="F"/>
            </a:pPr>
            <a:r>
              <a:rPr kumimoji="1" lang="zh-CN" altLang="en-US" sz="2400" b="1" dirty="0" smtClean="0">
                <a:solidFill>
                  <a:srgbClr val="A50021"/>
                </a:solidFill>
                <a:latin typeface="幼圆" pitchFamily="49" charset="-122"/>
                <a:ea typeface="幼圆" pitchFamily="49" charset="-122"/>
              </a:rPr>
              <a:t>黏性</a:t>
            </a:r>
            <a:r>
              <a:rPr kumimoji="1" lang="zh-CN" altLang="en-US" sz="2400" b="1" dirty="0">
                <a:solidFill>
                  <a:srgbClr val="A50021"/>
                </a:solidFill>
                <a:latin typeface="幼圆" pitchFamily="49" charset="-122"/>
                <a:ea typeface="幼圆" pitchFamily="49" charset="-122"/>
              </a:rPr>
              <a:t>土：</a:t>
            </a:r>
            <a:r>
              <a:rPr kumimoji="1" lang="zh-CN" altLang="en-US" sz="2400" b="1" dirty="0">
                <a:solidFill>
                  <a:srgbClr val="000066"/>
                </a:solidFill>
                <a:ea typeface="幼圆" pitchFamily="49" charset="-122"/>
              </a:rPr>
              <a:t>塑性指数</a:t>
            </a:r>
            <a:r>
              <a:rPr kumimoji="1" lang="en-US" altLang="zh-CN" sz="2400" b="1" i="1" dirty="0" err="1">
                <a:solidFill>
                  <a:srgbClr val="000066"/>
                </a:solidFill>
                <a:ea typeface="幼圆" pitchFamily="49" charset="-122"/>
              </a:rPr>
              <a:t>I</a:t>
            </a:r>
            <a:r>
              <a:rPr kumimoji="1" lang="en-US" altLang="zh-CN" sz="2400" b="1" baseline="-25000" dirty="0" err="1">
                <a:solidFill>
                  <a:srgbClr val="000066"/>
                </a:solidFill>
                <a:ea typeface="幼圆" pitchFamily="49" charset="-122"/>
              </a:rPr>
              <a:t>p</a:t>
            </a:r>
            <a:r>
              <a:rPr kumimoji="1" lang="en-US" altLang="zh-CN" sz="2400" b="1" dirty="0">
                <a:solidFill>
                  <a:srgbClr val="000066"/>
                </a:solidFill>
                <a:ea typeface="幼圆" pitchFamily="49" charset="-122"/>
              </a:rPr>
              <a:t>&gt;10</a:t>
            </a:r>
            <a:r>
              <a:rPr kumimoji="1" lang="zh-CN" altLang="en-US" sz="2400" b="1" dirty="0">
                <a:solidFill>
                  <a:srgbClr val="000066"/>
                </a:solidFill>
                <a:ea typeface="幼圆" pitchFamily="49" charset="-122"/>
              </a:rPr>
              <a:t>的土</a:t>
            </a:r>
          </a:p>
        </p:txBody>
      </p:sp>
      <p:sp>
        <p:nvSpPr>
          <p:cNvPr id="86025" name="Text Box 9"/>
          <p:cNvSpPr txBox="1">
            <a:spLocks noChangeArrowheads="1"/>
          </p:cNvSpPr>
          <p:nvPr/>
        </p:nvSpPr>
        <p:spPr bwMode="auto">
          <a:xfrm>
            <a:off x="3551728" y="3977647"/>
            <a:ext cx="4184362" cy="889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10000"/>
              </a:lnSpc>
              <a:spcBef>
                <a:spcPts val="300"/>
              </a:spcBef>
              <a:spcAft>
                <a:spcPts val="300"/>
              </a:spcAft>
              <a:buClr>
                <a:srgbClr val="C00000"/>
              </a:buClr>
              <a:buSzPct val="140000"/>
              <a:buFont typeface="Arial" panose="020B0604020202020204" pitchFamily="34" charset="0"/>
              <a:buChar char="•"/>
              <a:tabLst>
                <a:tab pos="1790700" algn="l"/>
              </a:tabLst>
            </a:pPr>
            <a:r>
              <a:rPr kumimoji="1" lang="zh-CN" altLang="en-US" sz="2400" b="1" dirty="0" smtClean="0">
                <a:solidFill>
                  <a:srgbClr val="000066"/>
                </a:solidFill>
                <a:ea typeface="幼圆" pitchFamily="49" charset="-122"/>
                <a:cs typeface="Times New Roman" panose="02020603050405020304" pitchFamily="18" charset="0"/>
              </a:rPr>
              <a:t>粉质黏土：</a:t>
            </a:r>
            <a:r>
              <a:rPr kumimoji="1" lang="en-US" altLang="zh-CN" sz="2400" b="1" dirty="0" smtClean="0">
                <a:solidFill>
                  <a:srgbClr val="000066"/>
                </a:solidFill>
                <a:ea typeface="幼圆" pitchFamily="49" charset="-122"/>
                <a:cs typeface="Times New Roman" panose="02020603050405020304" pitchFamily="18" charset="0"/>
              </a:rPr>
              <a:t>10&lt;</a:t>
            </a:r>
            <a:r>
              <a:rPr kumimoji="1" lang="en-US" altLang="zh-CN" sz="2400" b="1" i="1" dirty="0" smtClean="0">
                <a:solidFill>
                  <a:srgbClr val="000066"/>
                </a:solidFill>
                <a:ea typeface="幼圆" pitchFamily="49" charset="-122"/>
                <a:cs typeface="Times New Roman" panose="02020603050405020304" pitchFamily="18" charset="0"/>
              </a:rPr>
              <a:t>I</a:t>
            </a:r>
            <a:r>
              <a:rPr kumimoji="1" lang="en-US" altLang="zh-CN" sz="2400" b="1" baseline="-25000" dirty="0" smtClean="0">
                <a:solidFill>
                  <a:srgbClr val="000066"/>
                </a:solidFill>
                <a:ea typeface="幼圆" pitchFamily="49" charset="-122"/>
                <a:cs typeface="Times New Roman" panose="02020603050405020304" pitchFamily="18" charset="0"/>
              </a:rPr>
              <a:t>p</a:t>
            </a:r>
            <a:r>
              <a:rPr kumimoji="1" lang="en-US" altLang="zh-CN" sz="2400" b="1" dirty="0">
                <a:solidFill>
                  <a:srgbClr val="000066"/>
                </a:solidFill>
                <a:ea typeface="幼圆" pitchFamily="49" charset="-122"/>
                <a:cs typeface="Times New Roman" panose="02020603050405020304" pitchFamily="18" charset="0"/>
                <a:sym typeface="Symbol" pitchFamily="18" charset="2"/>
              </a:rPr>
              <a:t></a:t>
            </a:r>
            <a:r>
              <a:rPr kumimoji="1" lang="en-US" altLang="zh-CN" sz="2400" b="1" dirty="0">
                <a:solidFill>
                  <a:srgbClr val="000066"/>
                </a:solidFill>
                <a:ea typeface="幼圆" pitchFamily="49" charset="-122"/>
                <a:cs typeface="Times New Roman" panose="02020603050405020304" pitchFamily="18" charset="0"/>
              </a:rPr>
              <a:t>17</a:t>
            </a:r>
            <a:r>
              <a:rPr kumimoji="1" lang="zh-CN" altLang="en-US" sz="2400" b="1" dirty="0">
                <a:solidFill>
                  <a:srgbClr val="000066"/>
                </a:solidFill>
                <a:ea typeface="幼圆" pitchFamily="49" charset="-122"/>
                <a:cs typeface="Times New Roman" panose="02020603050405020304" pitchFamily="18" charset="0"/>
              </a:rPr>
              <a:t>的土</a:t>
            </a:r>
          </a:p>
          <a:p>
            <a:pPr marL="342900" indent="-342900" eaLnBrk="1" hangingPunct="1">
              <a:lnSpc>
                <a:spcPct val="110000"/>
              </a:lnSpc>
              <a:spcBef>
                <a:spcPts val="300"/>
              </a:spcBef>
              <a:spcAft>
                <a:spcPts val="300"/>
              </a:spcAft>
              <a:buClr>
                <a:srgbClr val="C00000"/>
              </a:buClr>
              <a:buSzPct val="140000"/>
              <a:buFont typeface="Arial" panose="020B0604020202020204" pitchFamily="34" charset="0"/>
              <a:buChar char="•"/>
              <a:tabLst>
                <a:tab pos="1790700" algn="l"/>
              </a:tabLst>
            </a:pPr>
            <a:r>
              <a:rPr kumimoji="1" lang="zh-CN" altLang="en-US" sz="2400" b="1" dirty="0" smtClean="0">
                <a:solidFill>
                  <a:srgbClr val="000066"/>
                </a:solidFill>
                <a:ea typeface="幼圆" pitchFamily="49" charset="-122"/>
                <a:cs typeface="Times New Roman" panose="02020603050405020304" pitchFamily="18" charset="0"/>
              </a:rPr>
              <a:t>黏     土   </a:t>
            </a:r>
            <a:r>
              <a:rPr kumimoji="1" lang="zh-CN" altLang="en-US" sz="2400" b="1" dirty="0">
                <a:solidFill>
                  <a:srgbClr val="000066"/>
                </a:solidFill>
                <a:ea typeface="幼圆" pitchFamily="49" charset="-122"/>
                <a:cs typeface="Times New Roman" panose="02020603050405020304" pitchFamily="18" charset="0"/>
              </a:rPr>
              <a:t>：</a:t>
            </a:r>
            <a:r>
              <a:rPr kumimoji="1" lang="zh-CN" altLang="en-US" sz="2400" b="1" i="1" dirty="0">
                <a:solidFill>
                  <a:srgbClr val="000066"/>
                </a:solidFill>
                <a:ea typeface="幼圆" pitchFamily="49" charset="-122"/>
                <a:cs typeface="Times New Roman" panose="02020603050405020304" pitchFamily="18" charset="0"/>
              </a:rPr>
              <a:t> </a:t>
            </a:r>
            <a:r>
              <a:rPr kumimoji="1" lang="en-US" altLang="zh-CN" sz="2400" b="1" i="1" dirty="0" err="1" smtClean="0">
                <a:solidFill>
                  <a:srgbClr val="000066"/>
                </a:solidFill>
                <a:ea typeface="幼圆" pitchFamily="49" charset="-122"/>
                <a:cs typeface="Times New Roman" panose="02020603050405020304" pitchFamily="18" charset="0"/>
              </a:rPr>
              <a:t>I</a:t>
            </a:r>
            <a:r>
              <a:rPr kumimoji="1" lang="en-US" altLang="zh-CN" sz="2400" b="1" baseline="-25000" dirty="0" err="1" smtClean="0">
                <a:solidFill>
                  <a:srgbClr val="000066"/>
                </a:solidFill>
                <a:ea typeface="幼圆" pitchFamily="49" charset="-122"/>
                <a:cs typeface="Times New Roman" panose="02020603050405020304" pitchFamily="18" charset="0"/>
              </a:rPr>
              <a:t>p</a:t>
            </a:r>
            <a:r>
              <a:rPr kumimoji="1" lang="en-US" altLang="zh-CN" sz="2400" b="1" dirty="0" smtClean="0">
                <a:solidFill>
                  <a:srgbClr val="000066"/>
                </a:solidFill>
                <a:ea typeface="幼圆" pitchFamily="49" charset="-122"/>
                <a:cs typeface="Times New Roman" panose="02020603050405020304" pitchFamily="18" charset="0"/>
              </a:rPr>
              <a:t>&gt;17</a:t>
            </a:r>
            <a:r>
              <a:rPr kumimoji="1" lang="zh-CN" altLang="en-US" sz="2400" b="1" dirty="0">
                <a:solidFill>
                  <a:srgbClr val="000066"/>
                </a:solidFill>
                <a:ea typeface="幼圆" pitchFamily="49" charset="-122"/>
                <a:cs typeface="Times New Roman" panose="02020603050405020304" pitchFamily="18" charset="0"/>
              </a:rPr>
              <a:t>的土</a:t>
            </a:r>
          </a:p>
        </p:txBody>
      </p:sp>
      <p:sp>
        <p:nvSpPr>
          <p:cNvPr id="86028" name="Text Box 12"/>
          <p:cNvSpPr txBox="1">
            <a:spLocks noChangeArrowheads="1"/>
          </p:cNvSpPr>
          <p:nvPr/>
        </p:nvSpPr>
        <p:spPr bwMode="auto">
          <a:xfrm>
            <a:off x="2942136" y="1783722"/>
            <a:ext cx="5778043"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ct val="0"/>
              </a:spcBef>
              <a:spcAft>
                <a:spcPct val="0"/>
              </a:spcAft>
              <a:buClr>
                <a:srgbClr val="C00000"/>
              </a:buClr>
              <a:buSzPct val="130000"/>
              <a:buFont typeface="Wingdings" panose="05000000000000000000" pitchFamily="2" charset="2"/>
              <a:buChar char="F"/>
            </a:pPr>
            <a:r>
              <a:rPr kumimoji="1" lang="zh-CN" altLang="en-US" sz="2400" b="1" dirty="0">
                <a:solidFill>
                  <a:srgbClr val="A50021"/>
                </a:solidFill>
                <a:ea typeface="幼圆" pitchFamily="49" charset="-122"/>
              </a:rPr>
              <a:t>粉土：</a:t>
            </a:r>
            <a:r>
              <a:rPr kumimoji="1" lang="zh-CN" altLang="en-US" sz="2400" b="1" dirty="0">
                <a:solidFill>
                  <a:srgbClr val="000066"/>
                </a:solidFill>
                <a:ea typeface="幼圆" pitchFamily="49" charset="-122"/>
              </a:rPr>
              <a:t>粒径大于</a:t>
            </a:r>
            <a:r>
              <a:rPr kumimoji="1" lang="en-US" altLang="zh-CN" sz="2400" b="1" dirty="0">
                <a:solidFill>
                  <a:srgbClr val="000066"/>
                </a:solidFill>
                <a:ea typeface="幼圆" pitchFamily="49" charset="-122"/>
              </a:rPr>
              <a:t>0.075mm</a:t>
            </a:r>
            <a:r>
              <a:rPr kumimoji="1" lang="zh-CN" altLang="en-US" sz="2400" b="1" dirty="0">
                <a:solidFill>
                  <a:srgbClr val="000066"/>
                </a:solidFill>
                <a:ea typeface="幼圆" pitchFamily="49" charset="-122"/>
              </a:rPr>
              <a:t>的颗粒含量小于全质量</a:t>
            </a:r>
            <a:r>
              <a:rPr kumimoji="1" lang="en-US" altLang="zh-CN" sz="2400" b="1" dirty="0">
                <a:solidFill>
                  <a:srgbClr val="000066"/>
                </a:solidFill>
                <a:ea typeface="幼圆" pitchFamily="49" charset="-122"/>
              </a:rPr>
              <a:t>50</a:t>
            </a:r>
            <a:r>
              <a:rPr kumimoji="1" lang="en-US" altLang="zh-CN" sz="2400" b="1" dirty="0" smtClean="0">
                <a:solidFill>
                  <a:srgbClr val="000066"/>
                </a:solidFill>
                <a:ea typeface="幼圆" pitchFamily="49" charset="-122"/>
              </a:rPr>
              <a:t>%</a:t>
            </a:r>
            <a:r>
              <a:rPr kumimoji="1" lang="zh-CN" altLang="en-US" sz="2400" b="1" dirty="0" smtClean="0">
                <a:solidFill>
                  <a:srgbClr val="000066"/>
                </a:solidFill>
                <a:ea typeface="幼圆" pitchFamily="49" charset="-122"/>
              </a:rPr>
              <a:t>而</a:t>
            </a:r>
            <a:r>
              <a:rPr kumimoji="1" lang="zh-CN" altLang="en-US" sz="2400" b="1" dirty="0">
                <a:solidFill>
                  <a:srgbClr val="000066"/>
                </a:solidFill>
                <a:ea typeface="幼圆" pitchFamily="49" charset="-122"/>
              </a:rPr>
              <a:t>塑性指数</a:t>
            </a:r>
            <a:r>
              <a:rPr kumimoji="1" lang="en-US" altLang="zh-CN" sz="2400" b="1" i="1" dirty="0">
                <a:solidFill>
                  <a:srgbClr val="000066"/>
                </a:solidFill>
                <a:ea typeface="幼圆" pitchFamily="49" charset="-122"/>
              </a:rPr>
              <a:t>I</a:t>
            </a:r>
            <a:r>
              <a:rPr kumimoji="1" lang="en-US" altLang="zh-CN" sz="2400" b="1" baseline="-25000" dirty="0">
                <a:solidFill>
                  <a:srgbClr val="000066"/>
                </a:solidFill>
                <a:ea typeface="幼圆" pitchFamily="49" charset="-122"/>
              </a:rPr>
              <a:t>p</a:t>
            </a:r>
            <a:r>
              <a:rPr kumimoji="1" lang="en-US" altLang="zh-CN" sz="2400" b="1" dirty="0">
                <a:solidFill>
                  <a:srgbClr val="000066"/>
                </a:solidFill>
                <a:ea typeface="幼圆" pitchFamily="49" charset="-122"/>
                <a:sym typeface="Symbol" pitchFamily="18" charset="2"/>
              </a:rPr>
              <a:t></a:t>
            </a:r>
            <a:r>
              <a:rPr kumimoji="1" lang="en-US" altLang="zh-CN" sz="2400" b="1" dirty="0">
                <a:solidFill>
                  <a:srgbClr val="000066"/>
                </a:solidFill>
                <a:ea typeface="幼圆" pitchFamily="49" charset="-122"/>
              </a:rPr>
              <a:t>10</a:t>
            </a:r>
            <a:r>
              <a:rPr kumimoji="1" lang="zh-CN" altLang="en-US" sz="2400" b="1" dirty="0">
                <a:solidFill>
                  <a:srgbClr val="000066"/>
                </a:solidFill>
                <a:ea typeface="幼圆" pitchFamily="49" charset="-122"/>
              </a:rPr>
              <a:t>的土</a:t>
            </a:r>
          </a:p>
        </p:txBody>
      </p:sp>
      <p:sp>
        <p:nvSpPr>
          <p:cNvPr id="14" name="Rectangle 4"/>
          <p:cNvSpPr>
            <a:spLocks noChangeArrowheads="1"/>
          </p:cNvSpPr>
          <p:nvPr/>
        </p:nvSpPr>
        <p:spPr bwMode="auto">
          <a:xfrm>
            <a:off x="346074" y="2468615"/>
            <a:ext cx="1662113" cy="932245"/>
          </a:xfrm>
          <a:prstGeom prst="rect">
            <a:avLst/>
          </a:prstGeom>
          <a:solidFill>
            <a:schemeClr val="accent6">
              <a:lumMod val="60000"/>
              <a:lumOff val="40000"/>
            </a:schemeClr>
          </a:solidFill>
          <a:ln>
            <a:noFill/>
          </a:ln>
          <a:extLst/>
        </p:spPr>
        <p:txBody>
          <a:bodyPr wrap="none" anchor="ctr"/>
          <a:lstStyle/>
          <a:p>
            <a:endParaRPr lang="zh-CN" altLang="en-US"/>
          </a:p>
        </p:txBody>
      </p:sp>
      <p:sp>
        <p:nvSpPr>
          <p:cNvPr id="19" name="Text Box 7"/>
          <p:cNvSpPr txBox="1">
            <a:spLocks noChangeArrowheads="1"/>
          </p:cNvSpPr>
          <p:nvPr/>
        </p:nvSpPr>
        <p:spPr bwMode="auto">
          <a:xfrm>
            <a:off x="1" y="0"/>
            <a:ext cx="368776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§1.5  </a:t>
            </a:r>
            <a:r>
              <a:rPr lang="zh-CN" altLang="en-US" sz="2000" b="1" kern="900" spc="-140" dirty="0" smtClean="0">
                <a:solidFill>
                  <a:srgbClr val="C00000"/>
                </a:solidFill>
                <a:latin typeface="宋体" pitchFamily="2" charset="-122"/>
              </a:rPr>
              <a:t>土的工程分类</a:t>
            </a:r>
            <a:endParaRPr lang="zh-CN" altLang="en-US" sz="2000" b="1" kern="900" spc="-140" dirty="0">
              <a:solidFill>
                <a:srgbClr val="C00000"/>
              </a:solidFill>
              <a:latin typeface="宋体" pitchFamily="2" charset="-122"/>
            </a:endParaRPr>
          </a:p>
        </p:txBody>
      </p:sp>
      <p:sp>
        <p:nvSpPr>
          <p:cNvPr id="13" name="Text Box 9"/>
          <p:cNvSpPr txBox="1">
            <a:spLocks noChangeArrowheads="1"/>
          </p:cNvSpPr>
          <p:nvPr/>
        </p:nvSpPr>
        <p:spPr bwMode="auto">
          <a:xfrm>
            <a:off x="2942667" y="755751"/>
            <a:ext cx="4880533"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62547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10000"/>
              </a:spcBef>
              <a:spcAft>
                <a:spcPct val="10000"/>
              </a:spcAft>
              <a:buClr>
                <a:srgbClr val="A50021"/>
              </a:buClr>
              <a:buSzPct val="100000"/>
              <a:buFont typeface="Wingdings" panose="05000000000000000000" pitchFamily="2" charset="2"/>
              <a:buChar char="n"/>
            </a:pPr>
            <a:r>
              <a:rPr kumimoji="1" lang="zh-CN" altLang="en-US" sz="2800" b="1" dirty="0" smtClean="0">
                <a:solidFill>
                  <a:srgbClr val="C00000"/>
                </a:solidFill>
                <a:ea typeface="幼圆" pitchFamily="49" charset="-122"/>
                <a:cs typeface="Times New Roman" panose="02020603050405020304" pitchFamily="18" charset="0"/>
              </a:rPr>
              <a:t>细粒土：</a:t>
            </a:r>
            <a:r>
              <a:rPr kumimoji="1" lang="zh-CN" altLang="en-US" sz="2800" b="1" dirty="0" smtClean="0">
                <a:solidFill>
                  <a:srgbClr val="000066"/>
                </a:solidFill>
                <a:ea typeface="幼圆" pitchFamily="49" charset="-122"/>
                <a:cs typeface="Times New Roman" panose="02020603050405020304" pitchFamily="18" charset="0"/>
              </a:rPr>
              <a:t>按塑性指数 </a:t>
            </a:r>
            <a:r>
              <a:rPr kumimoji="1" lang="en-US" altLang="zh-CN" sz="2800" b="1" i="1" dirty="0" err="1" smtClean="0">
                <a:solidFill>
                  <a:srgbClr val="000066"/>
                </a:solidFill>
                <a:ea typeface="幼圆" pitchFamily="49" charset="-122"/>
                <a:cs typeface="Times New Roman" panose="02020603050405020304" pitchFamily="18" charset="0"/>
              </a:rPr>
              <a:t>I</a:t>
            </a:r>
            <a:r>
              <a:rPr kumimoji="1" lang="en-US" altLang="zh-CN" sz="2800" b="1" baseline="-25000" dirty="0" err="1" smtClean="0">
                <a:solidFill>
                  <a:srgbClr val="000066"/>
                </a:solidFill>
                <a:ea typeface="幼圆" pitchFamily="49" charset="-122"/>
                <a:cs typeface="Times New Roman" panose="02020603050405020304" pitchFamily="18" charset="0"/>
              </a:rPr>
              <a:t>p</a:t>
            </a:r>
            <a:r>
              <a:rPr kumimoji="1" lang="zh-CN" altLang="en-US" sz="2800" b="1" dirty="0">
                <a:solidFill>
                  <a:srgbClr val="000066"/>
                </a:solidFill>
                <a:ea typeface="幼圆" pitchFamily="49" charset="-122"/>
                <a:cs typeface="Times New Roman" panose="02020603050405020304" pitchFamily="18" charset="0"/>
              </a:rPr>
              <a:t>分类</a:t>
            </a:r>
          </a:p>
        </p:txBody>
      </p:sp>
      <p:grpSp>
        <p:nvGrpSpPr>
          <p:cNvPr id="22" name="组合 21"/>
          <p:cNvGrpSpPr/>
          <p:nvPr/>
        </p:nvGrpSpPr>
        <p:grpSpPr>
          <a:xfrm>
            <a:off x="346075" y="558800"/>
            <a:ext cx="1662113" cy="3422650"/>
            <a:chOff x="346075" y="558800"/>
            <a:chExt cx="1662113" cy="3422650"/>
          </a:xfrm>
        </p:grpSpPr>
        <p:sp>
          <p:nvSpPr>
            <p:cNvPr id="23" name="Rectangle 5"/>
            <p:cNvSpPr>
              <a:spLocks noChangeArrowheads="1"/>
            </p:cNvSpPr>
            <p:nvPr/>
          </p:nvSpPr>
          <p:spPr bwMode="auto">
            <a:xfrm>
              <a:off x="346075" y="1406525"/>
              <a:ext cx="1662113" cy="2574925"/>
            </a:xfrm>
            <a:prstGeom prst="rect">
              <a:avLst/>
            </a:prstGeom>
            <a:noFill/>
            <a:ln w="38100" cmpd="dbl">
              <a:solidFill>
                <a:srgbClr val="000066"/>
              </a:solidFill>
              <a:miter lim="800000"/>
              <a:headEnd/>
              <a:tailEnd/>
            </a:ln>
          </p:spPr>
          <p:txBody>
            <a:bodyPr wrap="none" anchor="ctr"/>
            <a:lstStyle/>
            <a:p>
              <a:endParaRPr lang="zh-CN" altLang="en-US"/>
            </a:p>
          </p:txBody>
        </p:sp>
        <p:sp>
          <p:nvSpPr>
            <p:cNvPr id="24" name="Text Box 3"/>
            <p:cNvSpPr txBox="1">
              <a:spLocks noChangeArrowheads="1"/>
            </p:cNvSpPr>
            <p:nvPr/>
          </p:nvSpPr>
          <p:spPr bwMode="auto">
            <a:xfrm>
              <a:off x="384175" y="1438275"/>
              <a:ext cx="1479550" cy="2477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r" eaLnBrk="1" hangingPunct="1">
                <a:spcBef>
                  <a:spcPct val="0"/>
                </a:spcBef>
                <a:spcAft>
                  <a:spcPct val="0"/>
                </a:spcAft>
              </a:pPr>
              <a:r>
                <a:rPr kumimoji="1" lang="zh-CN" altLang="en-US" sz="2800" b="1" dirty="0" smtClean="0">
                  <a:solidFill>
                    <a:srgbClr val="000066"/>
                  </a:solidFill>
                  <a:latin typeface="Arial" charset="0"/>
                  <a:ea typeface="幼圆" pitchFamily="49" charset="-122"/>
                </a:rPr>
                <a:t>碎石</a:t>
              </a:r>
              <a:r>
                <a:rPr kumimoji="1" lang="zh-CN" altLang="en-US" sz="2800" b="1" dirty="0">
                  <a:solidFill>
                    <a:srgbClr val="000066"/>
                  </a:solidFill>
                  <a:latin typeface="Arial" charset="0"/>
                  <a:ea typeface="幼圆" pitchFamily="49" charset="-122"/>
                </a:rPr>
                <a:t>土</a:t>
              </a:r>
            </a:p>
            <a:p>
              <a:pPr algn="r" eaLnBrk="1" hangingPunct="1">
                <a:spcBef>
                  <a:spcPct val="0"/>
                </a:spcBef>
                <a:spcAft>
                  <a:spcPct val="0"/>
                </a:spcAft>
              </a:pPr>
              <a:r>
                <a:rPr kumimoji="1" lang="zh-CN" altLang="en-US" sz="2800" b="1" dirty="0">
                  <a:solidFill>
                    <a:srgbClr val="000066"/>
                  </a:solidFill>
                  <a:latin typeface="Arial" charset="0"/>
                  <a:ea typeface="幼圆" pitchFamily="49" charset="-122"/>
                </a:rPr>
                <a:t>砂土</a:t>
              </a:r>
            </a:p>
            <a:p>
              <a:pPr algn="r" eaLnBrk="1" hangingPunct="1">
                <a:spcBef>
                  <a:spcPct val="0"/>
                </a:spcBef>
                <a:spcAft>
                  <a:spcPct val="0"/>
                </a:spcAft>
              </a:pPr>
              <a:r>
                <a:rPr kumimoji="1" lang="zh-CN" altLang="en-US" sz="2800" b="1" dirty="0">
                  <a:solidFill>
                    <a:srgbClr val="000066"/>
                  </a:solidFill>
                  <a:latin typeface="Arial" charset="0"/>
                  <a:ea typeface="幼圆" pitchFamily="49" charset="-122"/>
                </a:rPr>
                <a:t>粉土</a:t>
              </a:r>
            </a:p>
            <a:p>
              <a:pPr algn="r" eaLnBrk="1" hangingPunct="1">
                <a:spcBef>
                  <a:spcPct val="0"/>
                </a:spcBef>
                <a:spcAft>
                  <a:spcPct val="0"/>
                </a:spcAft>
              </a:pPr>
              <a:r>
                <a:rPr kumimoji="1" lang="zh-CN" altLang="en-US" sz="2800" b="1" dirty="0" smtClean="0">
                  <a:solidFill>
                    <a:srgbClr val="000066"/>
                  </a:solidFill>
                  <a:latin typeface="Arial" charset="0"/>
                  <a:ea typeface="幼圆" pitchFamily="49" charset="-122"/>
                </a:rPr>
                <a:t>黏性</a:t>
              </a:r>
              <a:r>
                <a:rPr kumimoji="1" lang="zh-CN" altLang="en-US" sz="2800" b="1" dirty="0">
                  <a:solidFill>
                    <a:srgbClr val="000066"/>
                  </a:solidFill>
                  <a:latin typeface="Arial" charset="0"/>
                  <a:ea typeface="幼圆" pitchFamily="49" charset="-122"/>
                </a:rPr>
                <a:t>土</a:t>
              </a:r>
            </a:p>
            <a:p>
              <a:pPr algn="r" eaLnBrk="1" hangingPunct="1">
                <a:spcBef>
                  <a:spcPct val="0"/>
                </a:spcBef>
                <a:spcAft>
                  <a:spcPct val="0"/>
                </a:spcAft>
              </a:pPr>
              <a:r>
                <a:rPr kumimoji="1" lang="zh-CN" altLang="en-US" sz="2800" b="1" dirty="0">
                  <a:solidFill>
                    <a:srgbClr val="000066"/>
                  </a:solidFill>
                  <a:latin typeface="Arial" charset="0"/>
                  <a:ea typeface="幼圆" pitchFamily="49" charset="-122"/>
                </a:rPr>
                <a:t>人工填土</a:t>
              </a:r>
            </a:p>
          </p:txBody>
        </p:sp>
        <p:sp>
          <p:nvSpPr>
            <p:cNvPr id="25" name="Text Box 6"/>
            <p:cNvSpPr txBox="1">
              <a:spLocks noChangeArrowheads="1"/>
            </p:cNvSpPr>
            <p:nvPr/>
          </p:nvSpPr>
          <p:spPr bwMode="auto">
            <a:xfrm>
              <a:off x="777875" y="558800"/>
              <a:ext cx="7239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dirty="0">
                  <a:solidFill>
                    <a:srgbClr val="C00000"/>
                  </a:solidFill>
                  <a:ea typeface="黑体" pitchFamily="2" charset="-122"/>
                </a:rPr>
                <a:t>土</a:t>
              </a:r>
            </a:p>
          </p:txBody>
        </p:sp>
      </p:grpSp>
      <p:sp>
        <p:nvSpPr>
          <p:cNvPr id="26" name="AutoShape 11"/>
          <p:cNvSpPr>
            <a:spLocks noChangeArrowheads="1"/>
          </p:cNvSpPr>
          <p:nvPr/>
        </p:nvSpPr>
        <p:spPr bwMode="auto">
          <a:xfrm>
            <a:off x="2151064" y="2524588"/>
            <a:ext cx="554036" cy="548811"/>
          </a:xfrm>
          <a:prstGeom prst="homePlate">
            <a:avLst>
              <a:gd name="adj" fmla="val 35521"/>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27" name="Rectangle 28"/>
          <p:cNvSpPr>
            <a:spLocks noChangeArrowheads="1"/>
          </p:cNvSpPr>
          <p:nvPr/>
        </p:nvSpPr>
        <p:spPr bwMode="auto">
          <a:xfrm>
            <a:off x="1466850" y="5820352"/>
            <a:ext cx="73723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type="none" w="sm" len="lg"/>
              </a14:hiddenLine>
            </a:ext>
          </a:extLst>
        </p:spPr>
        <p:txBody>
          <a:bodyPr wrap="square">
            <a:spAutoFit/>
          </a:bodyPr>
          <a:lstStyle/>
          <a:p>
            <a:pPr algn="ctr">
              <a:lnSpc>
                <a:spcPct val="100000"/>
              </a:lnSpc>
              <a:spcBef>
                <a:spcPct val="0"/>
              </a:spcBef>
              <a:spcAft>
                <a:spcPct val="0"/>
              </a:spcAft>
            </a:pPr>
            <a:r>
              <a:rPr kumimoji="1" lang="en-US" altLang="zh-CN" sz="2800" b="1" dirty="0" smtClean="0">
                <a:solidFill>
                  <a:srgbClr val="000066"/>
                </a:solidFill>
                <a:ea typeface="黑体" pitchFamily="2" charset="-122"/>
                <a:cs typeface="Times New Roman" panose="02020603050405020304" pitchFamily="18" charset="0"/>
              </a:rPr>
              <a:t>《</a:t>
            </a:r>
            <a:r>
              <a:rPr kumimoji="1" lang="zh-CN" altLang="en-US" sz="2800" b="1" dirty="0" smtClean="0">
                <a:solidFill>
                  <a:srgbClr val="000066"/>
                </a:solidFill>
                <a:ea typeface="黑体" pitchFamily="2" charset="-122"/>
                <a:cs typeface="Times New Roman" panose="02020603050405020304" pitchFamily="18" charset="0"/>
              </a:rPr>
              <a:t>建筑地基基础规范</a:t>
            </a:r>
            <a:r>
              <a:rPr kumimoji="1" lang="en-US" altLang="zh-CN" sz="2800" b="1" dirty="0" smtClean="0">
                <a:solidFill>
                  <a:srgbClr val="000066"/>
                </a:solidFill>
                <a:ea typeface="黑体" pitchFamily="2" charset="-122"/>
                <a:cs typeface="Times New Roman" panose="02020603050405020304" pitchFamily="18" charset="0"/>
              </a:rPr>
              <a:t>》(GB50007-2011)</a:t>
            </a:r>
            <a:r>
              <a:rPr kumimoji="1" lang="zh-CN" altLang="en-US" sz="2800" b="1" dirty="0" smtClean="0">
                <a:solidFill>
                  <a:srgbClr val="000066"/>
                </a:solidFill>
                <a:ea typeface="黑体" pitchFamily="2" charset="-122"/>
                <a:cs typeface="Times New Roman" panose="02020603050405020304" pitchFamily="18" charset="0"/>
              </a:rPr>
              <a:t>分类法</a:t>
            </a:r>
            <a:endParaRPr kumimoji="1" lang="en-US" altLang="zh-CN" sz="2800" b="1" dirty="0">
              <a:solidFill>
                <a:srgbClr val="000066"/>
              </a:solidFill>
              <a:ea typeface="黑体" pitchFamily="2" charset="-122"/>
              <a:cs typeface="Times New Roman" panose="02020603050405020304" pitchFamily="18" charset="0"/>
            </a:endParaRPr>
          </a:p>
        </p:txBody>
      </p:sp>
    </p:spTree>
    <p:extLst>
      <p:ext uri="{BB962C8B-B14F-4D97-AF65-F5344CB8AC3E}">
        <p14:creationId xmlns:p14="http://schemas.microsoft.com/office/powerpoint/2010/main" val="30983165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1000"/>
                                        <p:tgtEl>
                                          <p:spTgt spid="26"/>
                                        </p:tgtEl>
                                      </p:cBhvr>
                                    </p:animEffect>
                                  </p:childTnLst>
                                </p:cTn>
                              </p:par>
                            </p:childTnLst>
                          </p:cTn>
                        </p:par>
                        <p:par>
                          <p:cTn id="12" fill="hold">
                            <p:stCondLst>
                              <p:cond delay="1500"/>
                            </p:stCondLst>
                            <p:childTnLst>
                              <p:par>
                                <p:cTn id="13" presetID="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6028"/>
                                        </p:tgtEl>
                                        <p:attrNameLst>
                                          <p:attrName>style.visibility</p:attrName>
                                        </p:attrNameLst>
                                      </p:cBhvr>
                                      <p:to>
                                        <p:strVal val="visible"/>
                                      </p:to>
                                    </p:set>
                                    <p:animEffect transition="in" filter="wipe(left)">
                                      <p:cBhvr>
                                        <p:cTn id="21" dur="500"/>
                                        <p:tgtEl>
                                          <p:spTgt spid="8602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6024"/>
                                        </p:tgtEl>
                                        <p:attrNameLst>
                                          <p:attrName>style.visibility</p:attrName>
                                        </p:attrNameLst>
                                      </p:cBhvr>
                                      <p:to>
                                        <p:strVal val="visible"/>
                                      </p:to>
                                    </p:set>
                                    <p:animEffect transition="in" filter="wipe(left)">
                                      <p:cBhvr>
                                        <p:cTn id="26" dur="1000"/>
                                        <p:tgtEl>
                                          <p:spTgt spid="86024"/>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86025"/>
                                        </p:tgtEl>
                                        <p:attrNameLst>
                                          <p:attrName>style.visibility</p:attrName>
                                        </p:attrNameLst>
                                      </p:cBhvr>
                                      <p:to>
                                        <p:strVal val="visible"/>
                                      </p:to>
                                    </p:set>
                                    <p:animEffect transition="in" filter="wipe(left)">
                                      <p:cBhvr>
                                        <p:cTn id="30" dur="1000"/>
                                        <p:tgtEl>
                                          <p:spTgt spid="86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4" grpId="0"/>
      <p:bldP spid="86025" grpId="0"/>
      <p:bldP spid="86028" grpId="0"/>
      <p:bldP spid="14" grpId="0" animBg="1"/>
      <p:bldP spid="13" grpId="0"/>
      <p:bldP spid="2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3048000" y="3102429"/>
            <a:ext cx="2405743" cy="891721"/>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047999" y="1190625"/>
            <a:ext cx="2688772" cy="1813832"/>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7043" name="Rectangle 3"/>
          <p:cNvSpPr>
            <a:spLocks noChangeArrowheads="1"/>
          </p:cNvSpPr>
          <p:nvPr/>
        </p:nvSpPr>
        <p:spPr bwMode="auto">
          <a:xfrm>
            <a:off x="1743076" y="5768199"/>
            <a:ext cx="72675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type="none" w="sm" len="lg"/>
              </a14:hiddenLine>
            </a:ext>
          </a:extLst>
        </p:spPr>
        <p:txBody>
          <a:bodyPr wrap="square">
            <a:spAutoFit/>
          </a:bodyPr>
          <a:lstStyle/>
          <a:p>
            <a:pPr algn="ctr">
              <a:lnSpc>
                <a:spcPct val="100000"/>
              </a:lnSpc>
              <a:spcBef>
                <a:spcPct val="0"/>
              </a:spcBef>
              <a:spcAft>
                <a:spcPct val="0"/>
              </a:spcAft>
            </a:pPr>
            <a:r>
              <a:rPr kumimoji="1" lang="zh-CN" altLang="en-US" sz="2800" b="1" dirty="0" smtClean="0">
                <a:solidFill>
                  <a:srgbClr val="000066"/>
                </a:solidFill>
                <a:ea typeface="黑体" pitchFamily="2" charset="-122"/>
                <a:cs typeface="Times New Roman" panose="02020603050405020304" pitchFamily="18" charset="0"/>
              </a:rPr>
              <a:t>水利部</a:t>
            </a:r>
            <a:r>
              <a:rPr kumimoji="1" lang="en-US" altLang="zh-CN" sz="2800" b="1" dirty="0" smtClean="0">
                <a:solidFill>
                  <a:srgbClr val="000066"/>
                </a:solidFill>
                <a:ea typeface="黑体" pitchFamily="2" charset="-122"/>
                <a:cs typeface="Times New Roman" panose="02020603050405020304" pitchFamily="18" charset="0"/>
              </a:rPr>
              <a:t>《</a:t>
            </a:r>
            <a:r>
              <a:rPr kumimoji="1" lang="zh-CN" altLang="en-US" sz="2800" b="1" dirty="0" smtClean="0">
                <a:solidFill>
                  <a:srgbClr val="000066"/>
                </a:solidFill>
                <a:ea typeface="黑体" pitchFamily="2" charset="-122"/>
                <a:cs typeface="Times New Roman" panose="02020603050405020304" pitchFamily="18" charset="0"/>
              </a:rPr>
              <a:t>土工试验规程</a:t>
            </a:r>
            <a:r>
              <a:rPr kumimoji="1" lang="en-US" altLang="zh-CN" sz="2800" b="1" dirty="0" smtClean="0">
                <a:solidFill>
                  <a:srgbClr val="000066"/>
                </a:solidFill>
                <a:ea typeface="黑体" pitchFamily="2" charset="-122"/>
                <a:cs typeface="Times New Roman" panose="02020603050405020304" pitchFamily="18" charset="0"/>
              </a:rPr>
              <a:t>》</a:t>
            </a:r>
            <a:r>
              <a:rPr kumimoji="1" lang="en-US" altLang="zh-CN" sz="2800" b="1" dirty="0">
                <a:solidFill>
                  <a:srgbClr val="000066"/>
                </a:solidFill>
                <a:ea typeface="黑体" pitchFamily="2" charset="-122"/>
                <a:cs typeface="Times New Roman" panose="02020603050405020304" pitchFamily="18" charset="0"/>
              </a:rPr>
              <a:t>(</a:t>
            </a:r>
            <a:r>
              <a:rPr kumimoji="1" lang="en-US" altLang="zh-CN" sz="2800" b="1" dirty="0" smtClean="0">
                <a:solidFill>
                  <a:srgbClr val="000066"/>
                </a:solidFill>
                <a:ea typeface="黑体" pitchFamily="2" charset="-122"/>
                <a:cs typeface="Times New Roman" panose="02020603050405020304" pitchFamily="18" charset="0"/>
              </a:rPr>
              <a:t>SL237-1999</a:t>
            </a:r>
            <a:r>
              <a:rPr kumimoji="1" lang="en-US" altLang="zh-CN" sz="2800" b="1" dirty="0">
                <a:solidFill>
                  <a:srgbClr val="000066"/>
                </a:solidFill>
                <a:ea typeface="黑体" pitchFamily="2" charset="-122"/>
                <a:cs typeface="Times New Roman" panose="02020603050405020304" pitchFamily="18" charset="0"/>
              </a:rPr>
              <a:t>)</a:t>
            </a:r>
            <a:r>
              <a:rPr kumimoji="1" lang="zh-CN" altLang="en-US" sz="2800" b="1" dirty="0" smtClean="0">
                <a:solidFill>
                  <a:srgbClr val="000066"/>
                </a:solidFill>
                <a:ea typeface="黑体" pitchFamily="2" charset="-122"/>
                <a:cs typeface="Times New Roman" panose="02020603050405020304" pitchFamily="18" charset="0"/>
              </a:rPr>
              <a:t>分类法</a:t>
            </a:r>
            <a:endParaRPr kumimoji="1" lang="zh-CN" altLang="en-US" sz="2800" b="1" dirty="0">
              <a:solidFill>
                <a:srgbClr val="000066"/>
              </a:solidFill>
              <a:ea typeface="黑体" pitchFamily="2" charset="-122"/>
              <a:cs typeface="Times New Roman" panose="02020603050405020304" pitchFamily="18" charset="0"/>
            </a:endParaRPr>
          </a:p>
        </p:txBody>
      </p:sp>
      <p:sp>
        <p:nvSpPr>
          <p:cNvPr id="1425412" name="Text Box 4"/>
          <p:cNvSpPr txBox="1">
            <a:spLocks noChangeArrowheads="1"/>
          </p:cNvSpPr>
          <p:nvPr/>
        </p:nvSpPr>
        <p:spPr bwMode="auto">
          <a:xfrm>
            <a:off x="838200" y="946602"/>
            <a:ext cx="201385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ct val="10000"/>
              </a:spcBef>
              <a:spcAft>
                <a:spcPct val="10000"/>
              </a:spcAft>
              <a:buClr>
                <a:srgbClr val="C00000"/>
              </a:buClr>
              <a:buSzPct val="120000"/>
            </a:pPr>
            <a:r>
              <a:rPr kumimoji="1" lang="zh-CN" altLang="en-US" sz="2000" b="1" dirty="0" smtClean="0">
                <a:solidFill>
                  <a:srgbClr val="C00000"/>
                </a:solidFill>
                <a:ea typeface="幼圆" pitchFamily="49" charset="-122"/>
                <a:cs typeface="Times New Roman" panose="02020603050405020304" pitchFamily="18" charset="0"/>
              </a:rPr>
              <a:t>有机质含量分类</a:t>
            </a:r>
            <a:endParaRPr lang="zh-CN" altLang="en-US" sz="2000" b="1" dirty="0">
              <a:solidFill>
                <a:srgbClr val="C00000"/>
              </a:solidFill>
              <a:ea typeface="幼圆" pitchFamily="49" charset="-122"/>
              <a:cs typeface="Times New Roman" panose="02020603050405020304" pitchFamily="18" charset="0"/>
            </a:endParaRPr>
          </a:p>
        </p:txBody>
      </p:sp>
      <p:sp>
        <p:nvSpPr>
          <p:cNvPr id="1425414" name="Text Box 6"/>
          <p:cNvSpPr txBox="1">
            <a:spLocks noChangeArrowheads="1"/>
          </p:cNvSpPr>
          <p:nvPr/>
        </p:nvSpPr>
        <p:spPr bwMode="auto">
          <a:xfrm>
            <a:off x="3072927" y="1524826"/>
            <a:ext cx="1120835"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ts val="2400"/>
              </a:spcBef>
              <a:spcAft>
                <a:spcPts val="2400"/>
              </a:spcAft>
              <a:buClr>
                <a:srgbClr val="C00000"/>
              </a:buClr>
              <a:buSzPct val="120000"/>
            </a:pPr>
            <a:r>
              <a:rPr kumimoji="1" lang="zh-CN" altLang="en-US" sz="2000" b="1" dirty="0" smtClean="0">
                <a:solidFill>
                  <a:srgbClr val="000066"/>
                </a:solidFill>
                <a:ea typeface="幼圆" pitchFamily="49" charset="-122"/>
                <a:cs typeface="Times New Roman" panose="02020603050405020304" pitchFamily="18" charset="0"/>
              </a:rPr>
              <a:t>巨粒土</a:t>
            </a:r>
            <a:endParaRPr kumimoji="1" lang="zh-CN" altLang="en-US" sz="2000" b="1" dirty="0">
              <a:solidFill>
                <a:srgbClr val="000066"/>
              </a:solidFill>
              <a:ea typeface="幼圆" pitchFamily="49" charset="-122"/>
              <a:cs typeface="Times New Roman" panose="02020603050405020304" pitchFamily="18" charset="0"/>
            </a:endParaRPr>
          </a:p>
          <a:p>
            <a:pPr eaLnBrk="1" hangingPunct="1">
              <a:lnSpc>
                <a:spcPct val="100000"/>
              </a:lnSpc>
              <a:spcBef>
                <a:spcPts val="2400"/>
              </a:spcBef>
              <a:spcAft>
                <a:spcPts val="2400"/>
              </a:spcAft>
              <a:buClr>
                <a:srgbClr val="C00000"/>
              </a:buClr>
              <a:buSzPct val="120000"/>
            </a:pPr>
            <a:r>
              <a:rPr kumimoji="1" lang="zh-CN" altLang="en-US" sz="2000" b="1" dirty="0" smtClean="0">
                <a:solidFill>
                  <a:srgbClr val="000066"/>
                </a:solidFill>
                <a:ea typeface="幼圆" pitchFamily="49" charset="-122"/>
                <a:cs typeface="Times New Roman" panose="02020603050405020304" pitchFamily="18" charset="0"/>
              </a:rPr>
              <a:t>粗粒土</a:t>
            </a:r>
            <a:endParaRPr kumimoji="1" lang="en-US" altLang="zh-CN" sz="2000" b="1" dirty="0" smtClean="0">
              <a:solidFill>
                <a:srgbClr val="000066"/>
              </a:solidFill>
              <a:ea typeface="幼圆" pitchFamily="49" charset="-122"/>
              <a:cs typeface="Times New Roman" panose="02020603050405020304" pitchFamily="18" charset="0"/>
            </a:endParaRPr>
          </a:p>
          <a:p>
            <a:pPr eaLnBrk="1" hangingPunct="1">
              <a:lnSpc>
                <a:spcPct val="100000"/>
              </a:lnSpc>
              <a:spcBef>
                <a:spcPts val="2400"/>
              </a:spcBef>
              <a:spcAft>
                <a:spcPts val="2400"/>
              </a:spcAft>
              <a:buClr>
                <a:srgbClr val="C00000"/>
              </a:buClr>
              <a:buSzPct val="120000"/>
            </a:pPr>
            <a:r>
              <a:rPr kumimoji="1" lang="zh-CN" altLang="en-US" sz="2000" b="1" dirty="0" smtClean="0">
                <a:solidFill>
                  <a:srgbClr val="000066"/>
                </a:solidFill>
                <a:ea typeface="幼圆" pitchFamily="49" charset="-122"/>
                <a:cs typeface="Times New Roman" panose="02020603050405020304" pitchFamily="18" charset="0"/>
              </a:rPr>
              <a:t>细粒土</a:t>
            </a:r>
            <a:endParaRPr kumimoji="1" lang="zh-CN" altLang="en-US" sz="2000" b="1" dirty="0">
              <a:solidFill>
                <a:srgbClr val="000066"/>
              </a:solidFill>
              <a:ea typeface="幼圆" pitchFamily="49" charset="-122"/>
              <a:cs typeface="Times New Roman" panose="02020603050405020304" pitchFamily="18" charset="0"/>
            </a:endParaRPr>
          </a:p>
        </p:txBody>
      </p:sp>
      <p:sp>
        <p:nvSpPr>
          <p:cNvPr id="8" name="Text Box 7"/>
          <p:cNvSpPr txBox="1">
            <a:spLocks noChangeArrowheads="1"/>
          </p:cNvSpPr>
          <p:nvPr/>
        </p:nvSpPr>
        <p:spPr bwMode="auto">
          <a:xfrm>
            <a:off x="1" y="0"/>
            <a:ext cx="368776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§1.5  </a:t>
            </a:r>
            <a:r>
              <a:rPr lang="zh-CN" altLang="en-US" sz="2000" b="1" kern="900" spc="-140" dirty="0" smtClean="0">
                <a:solidFill>
                  <a:srgbClr val="C00000"/>
                </a:solidFill>
                <a:latin typeface="宋体" pitchFamily="2" charset="-122"/>
              </a:rPr>
              <a:t>土的工程分类</a:t>
            </a:r>
            <a:endParaRPr lang="zh-CN" altLang="en-US" sz="2000" b="1" kern="900" spc="-140" dirty="0">
              <a:solidFill>
                <a:srgbClr val="C00000"/>
              </a:solidFill>
              <a:latin typeface="宋体" pitchFamily="2" charset="-122"/>
            </a:endParaRPr>
          </a:p>
        </p:txBody>
      </p:sp>
      <p:sp>
        <p:nvSpPr>
          <p:cNvPr id="9" name="Text Box 6"/>
          <p:cNvSpPr txBox="1">
            <a:spLocks noChangeArrowheads="1"/>
          </p:cNvSpPr>
          <p:nvPr/>
        </p:nvSpPr>
        <p:spPr bwMode="auto">
          <a:xfrm>
            <a:off x="992644" y="2813939"/>
            <a:ext cx="375583" cy="664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5000"/>
              </a:spcBef>
              <a:spcAft>
                <a:spcPct val="5000"/>
              </a:spcAft>
              <a:buClr>
                <a:srgbClr val="C00000"/>
              </a:buClr>
              <a:buSzPct val="120000"/>
            </a:pPr>
            <a:r>
              <a:rPr kumimoji="1" lang="zh-CN" altLang="en-US" sz="3600" b="1" dirty="0" smtClean="0">
                <a:solidFill>
                  <a:srgbClr val="C00000"/>
                </a:solidFill>
                <a:ea typeface="黑体" panose="02010609060101010101" pitchFamily="49" charset="-122"/>
                <a:cs typeface="Times New Roman" panose="02020603050405020304" pitchFamily="18" charset="0"/>
              </a:rPr>
              <a:t>土</a:t>
            </a:r>
            <a:endParaRPr kumimoji="1" lang="zh-CN" altLang="en-US" sz="3600" b="1" dirty="0">
              <a:solidFill>
                <a:srgbClr val="C00000"/>
              </a:solidFill>
              <a:ea typeface="黑体" panose="02010609060101010101" pitchFamily="49" charset="-122"/>
              <a:cs typeface="Times New Roman" panose="02020603050405020304" pitchFamily="18" charset="0"/>
            </a:endParaRPr>
          </a:p>
        </p:txBody>
      </p:sp>
      <p:sp>
        <p:nvSpPr>
          <p:cNvPr id="2" name="左大括号 1"/>
          <p:cNvSpPr/>
          <p:nvPr/>
        </p:nvSpPr>
        <p:spPr>
          <a:xfrm>
            <a:off x="1543336" y="2589047"/>
            <a:ext cx="233627" cy="1340611"/>
          </a:xfrm>
          <a:prstGeom prst="leftBrace">
            <a:avLst>
              <a:gd name="adj1" fmla="val 28658"/>
              <a:gd name="adj2" fmla="val 4242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0" name="Text Box 6"/>
          <p:cNvSpPr txBox="1">
            <a:spLocks noChangeArrowheads="1"/>
          </p:cNvSpPr>
          <p:nvPr/>
        </p:nvSpPr>
        <p:spPr bwMode="auto">
          <a:xfrm>
            <a:off x="1846016" y="2405417"/>
            <a:ext cx="970948" cy="1726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5000"/>
              </a:spcBef>
              <a:spcAft>
                <a:spcPct val="5000"/>
              </a:spcAft>
              <a:buClr>
                <a:srgbClr val="C00000"/>
              </a:buClr>
              <a:buSzPct val="120000"/>
            </a:pPr>
            <a:r>
              <a:rPr kumimoji="1" lang="zh-CN" altLang="en-US" sz="2200" b="1" dirty="0" smtClean="0">
                <a:solidFill>
                  <a:srgbClr val="000066"/>
                </a:solidFill>
                <a:ea typeface="幼圆" pitchFamily="49" charset="-122"/>
                <a:cs typeface="Times New Roman" panose="02020603050405020304" pitchFamily="18" charset="0"/>
              </a:rPr>
              <a:t>无机土</a:t>
            </a:r>
            <a:endParaRPr kumimoji="1" lang="en-US" altLang="zh-CN" sz="2200" b="1" dirty="0" smtClean="0">
              <a:solidFill>
                <a:srgbClr val="000066"/>
              </a:solidFill>
              <a:ea typeface="幼圆" pitchFamily="49" charset="-122"/>
              <a:cs typeface="Times New Roman" panose="02020603050405020304" pitchFamily="18" charset="0"/>
            </a:endParaRPr>
          </a:p>
          <a:p>
            <a:pPr eaLnBrk="1" hangingPunct="1">
              <a:lnSpc>
                <a:spcPct val="120000"/>
              </a:lnSpc>
              <a:spcBef>
                <a:spcPct val="5000"/>
              </a:spcBef>
              <a:spcAft>
                <a:spcPct val="5000"/>
              </a:spcAft>
              <a:buClr>
                <a:srgbClr val="C00000"/>
              </a:buClr>
              <a:buSzPct val="120000"/>
            </a:pPr>
            <a:endParaRPr kumimoji="1" lang="en-US" altLang="zh-CN" sz="2200" b="1" dirty="0">
              <a:solidFill>
                <a:srgbClr val="000066"/>
              </a:solidFill>
              <a:ea typeface="幼圆" pitchFamily="49" charset="-122"/>
              <a:cs typeface="Times New Roman" panose="02020603050405020304" pitchFamily="18" charset="0"/>
            </a:endParaRPr>
          </a:p>
          <a:p>
            <a:pPr eaLnBrk="1" hangingPunct="1">
              <a:lnSpc>
                <a:spcPct val="120000"/>
              </a:lnSpc>
              <a:spcBef>
                <a:spcPct val="5000"/>
              </a:spcBef>
              <a:spcAft>
                <a:spcPct val="5000"/>
              </a:spcAft>
              <a:buClr>
                <a:srgbClr val="C00000"/>
              </a:buClr>
              <a:buSzPct val="120000"/>
            </a:pPr>
            <a:endParaRPr kumimoji="1" lang="en-US" altLang="zh-CN" sz="2200" b="1" dirty="0" smtClean="0">
              <a:solidFill>
                <a:srgbClr val="000066"/>
              </a:solidFill>
              <a:ea typeface="幼圆" pitchFamily="49" charset="-122"/>
              <a:cs typeface="Times New Roman" panose="02020603050405020304" pitchFamily="18" charset="0"/>
            </a:endParaRPr>
          </a:p>
          <a:p>
            <a:pPr eaLnBrk="1" hangingPunct="1">
              <a:lnSpc>
                <a:spcPct val="120000"/>
              </a:lnSpc>
              <a:spcBef>
                <a:spcPct val="5000"/>
              </a:spcBef>
              <a:spcAft>
                <a:spcPct val="5000"/>
              </a:spcAft>
              <a:buClr>
                <a:srgbClr val="C00000"/>
              </a:buClr>
              <a:buSzPct val="120000"/>
            </a:pPr>
            <a:r>
              <a:rPr kumimoji="1" lang="zh-CN" altLang="en-US" sz="2200" b="1" dirty="0" smtClean="0">
                <a:solidFill>
                  <a:srgbClr val="000066"/>
                </a:solidFill>
                <a:ea typeface="幼圆" pitchFamily="49" charset="-122"/>
                <a:cs typeface="Times New Roman" panose="02020603050405020304" pitchFamily="18" charset="0"/>
              </a:rPr>
              <a:t>有机土</a:t>
            </a:r>
            <a:endParaRPr kumimoji="1" lang="zh-CN" altLang="en-US" sz="2200" b="1" dirty="0">
              <a:solidFill>
                <a:srgbClr val="000066"/>
              </a:solidFill>
              <a:ea typeface="幼圆" pitchFamily="49" charset="-122"/>
              <a:cs typeface="Times New Roman" panose="02020603050405020304" pitchFamily="18" charset="0"/>
            </a:endParaRPr>
          </a:p>
        </p:txBody>
      </p:sp>
      <p:sp>
        <p:nvSpPr>
          <p:cNvPr id="11" name="左大括号 10"/>
          <p:cNvSpPr/>
          <p:nvPr/>
        </p:nvSpPr>
        <p:spPr>
          <a:xfrm>
            <a:off x="2742489" y="1752599"/>
            <a:ext cx="267956" cy="1759528"/>
          </a:xfrm>
          <a:prstGeom prst="leftBrace">
            <a:avLst>
              <a:gd name="adj1" fmla="val 28658"/>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grpSp>
        <p:nvGrpSpPr>
          <p:cNvPr id="3" name="组合 2"/>
          <p:cNvGrpSpPr/>
          <p:nvPr/>
        </p:nvGrpSpPr>
        <p:grpSpPr>
          <a:xfrm>
            <a:off x="3947182" y="1319295"/>
            <a:ext cx="1802079" cy="769441"/>
            <a:chOff x="3947182" y="1319295"/>
            <a:chExt cx="1802079" cy="769441"/>
          </a:xfrm>
        </p:grpSpPr>
        <p:sp>
          <p:nvSpPr>
            <p:cNvPr id="13" name="左大括号 12"/>
            <p:cNvSpPr/>
            <p:nvPr/>
          </p:nvSpPr>
          <p:spPr>
            <a:xfrm>
              <a:off x="3947182" y="1413163"/>
              <a:ext cx="125679" cy="576874"/>
            </a:xfrm>
            <a:prstGeom prst="leftBrace">
              <a:avLst>
                <a:gd name="adj1" fmla="val 28658"/>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4" name="Text Box 6"/>
            <p:cNvSpPr txBox="1">
              <a:spLocks noChangeArrowheads="1"/>
            </p:cNvSpPr>
            <p:nvPr/>
          </p:nvSpPr>
          <p:spPr bwMode="auto">
            <a:xfrm>
              <a:off x="4146237" y="1319295"/>
              <a:ext cx="160302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5000"/>
                </a:spcBef>
                <a:spcAft>
                  <a:spcPct val="5000"/>
                </a:spcAft>
                <a:buClr>
                  <a:srgbClr val="C00000"/>
                </a:buClr>
                <a:buSzPct val="120000"/>
              </a:pPr>
              <a:r>
                <a:rPr kumimoji="1" lang="en-US" altLang="zh-CN" sz="2000" b="1" dirty="0" err="1" smtClean="0">
                  <a:solidFill>
                    <a:srgbClr val="000066"/>
                  </a:solidFill>
                  <a:ea typeface="幼圆" pitchFamily="49" charset="-122"/>
                  <a:cs typeface="Times New Roman" panose="02020603050405020304" pitchFamily="18" charset="0"/>
                </a:rPr>
                <a:t>漂石类土</a:t>
              </a:r>
              <a:r>
                <a:rPr kumimoji="1" lang="en-US" altLang="zh-CN" sz="2000" b="1" dirty="0" smtClean="0">
                  <a:solidFill>
                    <a:srgbClr val="000066"/>
                  </a:solidFill>
                  <a:ea typeface="幼圆" pitchFamily="49" charset="-122"/>
                  <a:cs typeface="Times New Roman" panose="02020603050405020304" pitchFamily="18" charset="0"/>
                </a:rPr>
                <a:t>(B)</a:t>
              </a:r>
            </a:p>
            <a:p>
              <a:pPr eaLnBrk="1" hangingPunct="1">
                <a:lnSpc>
                  <a:spcPct val="120000"/>
                </a:lnSpc>
                <a:spcBef>
                  <a:spcPct val="5000"/>
                </a:spcBef>
                <a:spcAft>
                  <a:spcPct val="5000"/>
                </a:spcAft>
                <a:buClr>
                  <a:srgbClr val="C00000"/>
                </a:buClr>
                <a:buSzPct val="120000"/>
              </a:pPr>
              <a:r>
                <a:rPr kumimoji="1" lang="en-US" altLang="zh-CN" sz="2000" b="1" dirty="0" err="1" smtClean="0">
                  <a:solidFill>
                    <a:srgbClr val="000066"/>
                  </a:solidFill>
                  <a:ea typeface="幼圆" pitchFamily="49" charset="-122"/>
                  <a:cs typeface="Times New Roman" panose="02020603050405020304" pitchFamily="18" charset="0"/>
                </a:rPr>
                <a:t>卵石类土</a:t>
              </a:r>
              <a:r>
                <a:rPr kumimoji="1" lang="en-US" altLang="zh-CN" sz="2000" b="1" dirty="0" smtClean="0">
                  <a:solidFill>
                    <a:srgbClr val="000066"/>
                  </a:solidFill>
                  <a:ea typeface="幼圆" pitchFamily="49" charset="-122"/>
                  <a:cs typeface="Times New Roman" panose="02020603050405020304" pitchFamily="18" charset="0"/>
                </a:rPr>
                <a:t>(</a:t>
              </a:r>
              <a:r>
                <a:rPr kumimoji="1" lang="en-US" altLang="zh-CN" sz="2000" b="1" dirty="0" err="1" smtClean="0">
                  <a:solidFill>
                    <a:srgbClr val="000066"/>
                  </a:solidFill>
                  <a:ea typeface="幼圆" pitchFamily="49" charset="-122"/>
                  <a:cs typeface="Times New Roman" panose="02020603050405020304" pitchFamily="18" charset="0"/>
                </a:rPr>
                <a:t>C</a:t>
              </a:r>
              <a:r>
                <a:rPr kumimoji="1" lang="en-US" altLang="zh-CN" sz="2000" b="1" baseline="-25000" dirty="0" err="1" smtClean="0">
                  <a:solidFill>
                    <a:srgbClr val="000066"/>
                  </a:solidFill>
                  <a:ea typeface="幼圆" pitchFamily="49" charset="-122"/>
                  <a:cs typeface="Times New Roman" panose="02020603050405020304" pitchFamily="18" charset="0"/>
                </a:rPr>
                <a:t>b</a:t>
              </a:r>
              <a:r>
                <a:rPr kumimoji="1" lang="en-US" altLang="zh-CN" sz="2000" b="1" dirty="0" smtClean="0">
                  <a:solidFill>
                    <a:srgbClr val="000066"/>
                  </a:solidFill>
                  <a:ea typeface="幼圆" pitchFamily="49" charset="-122"/>
                  <a:cs typeface="Times New Roman" panose="02020603050405020304" pitchFamily="18" charset="0"/>
                </a:rPr>
                <a:t>)</a:t>
              </a:r>
            </a:p>
          </p:txBody>
        </p:sp>
      </p:grpSp>
      <p:grpSp>
        <p:nvGrpSpPr>
          <p:cNvPr id="4" name="组合 3"/>
          <p:cNvGrpSpPr/>
          <p:nvPr/>
        </p:nvGrpSpPr>
        <p:grpSpPr>
          <a:xfrm>
            <a:off x="3955097" y="2185617"/>
            <a:ext cx="1503218" cy="769441"/>
            <a:chOff x="3955097" y="2185617"/>
            <a:chExt cx="1503218" cy="769441"/>
          </a:xfrm>
        </p:grpSpPr>
        <p:sp>
          <p:nvSpPr>
            <p:cNvPr id="16" name="Text Box 6"/>
            <p:cNvSpPr txBox="1">
              <a:spLocks noChangeArrowheads="1"/>
            </p:cNvSpPr>
            <p:nvPr/>
          </p:nvSpPr>
          <p:spPr bwMode="auto">
            <a:xfrm>
              <a:off x="4154154" y="2185617"/>
              <a:ext cx="1304161"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5000"/>
                </a:spcBef>
                <a:spcAft>
                  <a:spcPct val="5000"/>
                </a:spcAft>
                <a:buClr>
                  <a:srgbClr val="C00000"/>
                </a:buClr>
                <a:buSzPct val="120000"/>
              </a:pPr>
              <a:r>
                <a:rPr kumimoji="1" lang="en-US" altLang="zh-CN" sz="2000" b="1" dirty="0" err="1" smtClean="0">
                  <a:solidFill>
                    <a:srgbClr val="000066"/>
                  </a:solidFill>
                  <a:ea typeface="幼圆" pitchFamily="49" charset="-122"/>
                  <a:cs typeface="Times New Roman" panose="02020603050405020304" pitchFamily="18" charset="0"/>
                </a:rPr>
                <a:t>砾类土</a:t>
              </a:r>
              <a:r>
                <a:rPr kumimoji="1" lang="en-US" altLang="zh-CN" sz="2000" b="1" dirty="0" smtClean="0">
                  <a:solidFill>
                    <a:srgbClr val="000066"/>
                  </a:solidFill>
                  <a:ea typeface="幼圆" pitchFamily="49" charset="-122"/>
                  <a:cs typeface="Times New Roman" panose="02020603050405020304" pitchFamily="18" charset="0"/>
                </a:rPr>
                <a:t>(G)</a:t>
              </a:r>
            </a:p>
            <a:p>
              <a:pPr eaLnBrk="1" hangingPunct="1">
                <a:lnSpc>
                  <a:spcPct val="120000"/>
                </a:lnSpc>
                <a:spcBef>
                  <a:spcPct val="5000"/>
                </a:spcBef>
                <a:spcAft>
                  <a:spcPct val="5000"/>
                </a:spcAft>
                <a:buClr>
                  <a:srgbClr val="C00000"/>
                </a:buClr>
                <a:buSzPct val="120000"/>
              </a:pPr>
              <a:r>
                <a:rPr kumimoji="1" lang="en-US" altLang="zh-CN" sz="2000" b="1" dirty="0" err="1" smtClean="0">
                  <a:solidFill>
                    <a:srgbClr val="000066"/>
                  </a:solidFill>
                  <a:ea typeface="幼圆" pitchFamily="49" charset="-122"/>
                  <a:cs typeface="Times New Roman" panose="02020603050405020304" pitchFamily="18" charset="0"/>
                </a:rPr>
                <a:t>砂类土</a:t>
              </a:r>
              <a:r>
                <a:rPr kumimoji="1" lang="en-US" altLang="zh-CN" sz="2000" b="1" dirty="0" smtClean="0">
                  <a:solidFill>
                    <a:srgbClr val="000066"/>
                  </a:solidFill>
                  <a:ea typeface="幼圆" pitchFamily="49" charset="-122"/>
                  <a:cs typeface="Times New Roman" panose="02020603050405020304" pitchFamily="18" charset="0"/>
                </a:rPr>
                <a:t>(S)</a:t>
              </a:r>
              <a:endParaRPr kumimoji="1" lang="zh-CN" altLang="en-US" sz="2000" b="1" dirty="0">
                <a:solidFill>
                  <a:srgbClr val="000066"/>
                </a:solidFill>
                <a:ea typeface="幼圆" pitchFamily="49" charset="-122"/>
                <a:cs typeface="Times New Roman" panose="02020603050405020304" pitchFamily="18" charset="0"/>
              </a:endParaRPr>
            </a:p>
          </p:txBody>
        </p:sp>
        <p:sp>
          <p:nvSpPr>
            <p:cNvPr id="19" name="左大括号 18"/>
            <p:cNvSpPr/>
            <p:nvPr/>
          </p:nvSpPr>
          <p:spPr>
            <a:xfrm>
              <a:off x="3955097" y="2292926"/>
              <a:ext cx="125679" cy="576874"/>
            </a:xfrm>
            <a:prstGeom prst="leftBrace">
              <a:avLst>
                <a:gd name="adj1" fmla="val 28658"/>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grpSp>
      <p:grpSp>
        <p:nvGrpSpPr>
          <p:cNvPr id="5" name="组合 4"/>
          <p:cNvGrpSpPr/>
          <p:nvPr/>
        </p:nvGrpSpPr>
        <p:grpSpPr>
          <a:xfrm>
            <a:off x="3955097" y="3110528"/>
            <a:ext cx="1253838" cy="769441"/>
            <a:chOff x="3955097" y="3110528"/>
            <a:chExt cx="1253838" cy="769441"/>
          </a:xfrm>
        </p:grpSpPr>
        <p:sp>
          <p:nvSpPr>
            <p:cNvPr id="18" name="Text Box 6"/>
            <p:cNvSpPr txBox="1">
              <a:spLocks noChangeArrowheads="1"/>
            </p:cNvSpPr>
            <p:nvPr/>
          </p:nvSpPr>
          <p:spPr bwMode="auto">
            <a:xfrm>
              <a:off x="4192751" y="3110528"/>
              <a:ext cx="101618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5000"/>
                </a:spcBef>
                <a:spcAft>
                  <a:spcPct val="5000"/>
                </a:spcAft>
                <a:buClr>
                  <a:srgbClr val="C00000"/>
                </a:buClr>
                <a:buSzPct val="120000"/>
              </a:pPr>
              <a:r>
                <a:rPr kumimoji="1" lang="zh-CN" altLang="en-US" sz="2000" b="1" dirty="0" smtClean="0">
                  <a:solidFill>
                    <a:srgbClr val="000066"/>
                  </a:solidFill>
                  <a:ea typeface="幼圆" pitchFamily="49" charset="-122"/>
                  <a:cs typeface="Times New Roman" panose="02020603050405020304" pitchFamily="18" charset="0"/>
                </a:rPr>
                <a:t>粉</a:t>
              </a:r>
              <a:r>
                <a:rPr kumimoji="1" lang="en-US" altLang="zh-CN" sz="2000" b="1" dirty="0" smtClean="0">
                  <a:solidFill>
                    <a:srgbClr val="000066"/>
                  </a:solidFill>
                  <a:ea typeface="幼圆" pitchFamily="49" charset="-122"/>
                  <a:cs typeface="Times New Roman" panose="02020603050405020304" pitchFamily="18" charset="0"/>
                </a:rPr>
                <a:t>土</a:t>
              </a:r>
              <a:r>
                <a:rPr kumimoji="1" lang="en-US" altLang="zh-CN" sz="2000" b="1" dirty="0">
                  <a:solidFill>
                    <a:srgbClr val="000066"/>
                  </a:solidFill>
                  <a:ea typeface="幼圆" pitchFamily="49" charset="-122"/>
                  <a:cs typeface="Times New Roman" panose="02020603050405020304" pitchFamily="18" charset="0"/>
                </a:rPr>
                <a:t>(</a:t>
              </a:r>
              <a:r>
                <a:rPr kumimoji="1" lang="en-US" altLang="zh-CN" sz="2000" b="1" dirty="0" smtClean="0">
                  <a:solidFill>
                    <a:srgbClr val="000066"/>
                  </a:solidFill>
                  <a:ea typeface="幼圆" pitchFamily="49" charset="-122"/>
                  <a:cs typeface="Times New Roman" panose="02020603050405020304" pitchFamily="18" charset="0"/>
                </a:rPr>
                <a:t>M</a:t>
              </a:r>
              <a:r>
                <a:rPr kumimoji="1" lang="en-US" altLang="zh-CN" sz="2000" b="1" dirty="0">
                  <a:solidFill>
                    <a:srgbClr val="000066"/>
                  </a:solidFill>
                  <a:ea typeface="幼圆" pitchFamily="49" charset="-122"/>
                  <a:cs typeface="Times New Roman" panose="02020603050405020304" pitchFamily="18" charset="0"/>
                </a:rPr>
                <a:t>)</a:t>
              </a:r>
              <a:endParaRPr kumimoji="1" lang="en-US" altLang="zh-CN" sz="2000" b="1" dirty="0" smtClean="0">
                <a:solidFill>
                  <a:srgbClr val="000066"/>
                </a:solidFill>
                <a:ea typeface="幼圆" pitchFamily="49" charset="-122"/>
                <a:cs typeface="Times New Roman" panose="02020603050405020304" pitchFamily="18" charset="0"/>
              </a:endParaRPr>
            </a:p>
            <a:p>
              <a:pPr eaLnBrk="1" hangingPunct="1">
                <a:lnSpc>
                  <a:spcPct val="120000"/>
                </a:lnSpc>
                <a:spcBef>
                  <a:spcPct val="5000"/>
                </a:spcBef>
                <a:spcAft>
                  <a:spcPct val="5000"/>
                </a:spcAft>
                <a:buClr>
                  <a:srgbClr val="C00000"/>
                </a:buClr>
                <a:buSzPct val="120000"/>
              </a:pPr>
              <a:r>
                <a:rPr kumimoji="1" lang="zh-CN" altLang="en-US" sz="2000" b="1" dirty="0" smtClean="0">
                  <a:solidFill>
                    <a:srgbClr val="000066"/>
                  </a:solidFill>
                  <a:ea typeface="幼圆" pitchFamily="49" charset="-122"/>
                  <a:cs typeface="Times New Roman" panose="02020603050405020304" pitchFamily="18" charset="0"/>
                </a:rPr>
                <a:t>黏土</a:t>
              </a:r>
              <a:r>
                <a:rPr kumimoji="1" lang="en-US" altLang="zh-CN" sz="2000" b="1" dirty="0" smtClean="0">
                  <a:solidFill>
                    <a:srgbClr val="000066"/>
                  </a:solidFill>
                  <a:ea typeface="幼圆" pitchFamily="49" charset="-122"/>
                  <a:cs typeface="Times New Roman" panose="02020603050405020304" pitchFamily="18" charset="0"/>
                </a:rPr>
                <a:t>(C)</a:t>
              </a:r>
              <a:endParaRPr kumimoji="1" lang="zh-CN" altLang="en-US" sz="2000" b="1" dirty="0">
                <a:solidFill>
                  <a:srgbClr val="000066"/>
                </a:solidFill>
                <a:ea typeface="幼圆" pitchFamily="49" charset="-122"/>
                <a:cs typeface="Times New Roman" panose="02020603050405020304" pitchFamily="18" charset="0"/>
              </a:endParaRPr>
            </a:p>
          </p:txBody>
        </p:sp>
        <p:sp>
          <p:nvSpPr>
            <p:cNvPr id="20" name="左大括号 19"/>
            <p:cNvSpPr/>
            <p:nvPr/>
          </p:nvSpPr>
          <p:spPr>
            <a:xfrm>
              <a:off x="3955097" y="3235036"/>
              <a:ext cx="125679" cy="576874"/>
            </a:xfrm>
            <a:prstGeom prst="leftBrace">
              <a:avLst>
                <a:gd name="adj1" fmla="val 28658"/>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grpSp>
      <p:sp>
        <p:nvSpPr>
          <p:cNvPr id="23" name="Text Box 4"/>
          <p:cNvSpPr txBox="1">
            <a:spLocks noChangeArrowheads="1"/>
          </p:cNvSpPr>
          <p:nvPr/>
        </p:nvSpPr>
        <p:spPr bwMode="auto">
          <a:xfrm>
            <a:off x="5032676" y="4255860"/>
            <a:ext cx="368799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ct val="10000"/>
              </a:spcBef>
              <a:spcAft>
                <a:spcPct val="10000"/>
              </a:spcAft>
              <a:buClr>
                <a:srgbClr val="C00000"/>
              </a:buClr>
              <a:buSzPct val="120000"/>
              <a:tabLst>
                <a:tab pos="1077913" algn="l"/>
              </a:tabLst>
            </a:pPr>
            <a:r>
              <a:rPr kumimoji="1" lang="zh-CN" altLang="en-US" sz="2000" b="1" dirty="0" smtClean="0">
                <a:solidFill>
                  <a:srgbClr val="C00000"/>
                </a:solidFill>
                <a:ea typeface="幼圆" pitchFamily="49" charset="-122"/>
              </a:rPr>
              <a:t>塑性图分类：以液限</a:t>
            </a:r>
            <a:r>
              <a:rPr kumimoji="1" lang="en-US" altLang="zh-CN" sz="2000" b="1" i="1" dirty="0" err="1" smtClean="0">
                <a:solidFill>
                  <a:srgbClr val="C00000"/>
                </a:solidFill>
                <a:ea typeface="幼圆" pitchFamily="49" charset="-122"/>
              </a:rPr>
              <a:t>w</a:t>
            </a:r>
            <a:r>
              <a:rPr kumimoji="1" lang="en-US" altLang="zh-CN" sz="2000" b="1" baseline="-25000" dirty="0" err="1" smtClean="0">
                <a:solidFill>
                  <a:srgbClr val="C00000"/>
                </a:solidFill>
                <a:ea typeface="幼圆" pitchFamily="49" charset="-122"/>
              </a:rPr>
              <a:t>L</a:t>
            </a:r>
            <a:r>
              <a:rPr kumimoji="1" lang="zh-CN" altLang="en-US" sz="2000" b="1" dirty="0" smtClean="0">
                <a:solidFill>
                  <a:srgbClr val="C00000"/>
                </a:solidFill>
                <a:ea typeface="幼圆" pitchFamily="49" charset="-122"/>
              </a:rPr>
              <a:t>为横坐标，塑性指数</a:t>
            </a:r>
            <a:r>
              <a:rPr kumimoji="1" lang="en-US" altLang="zh-CN" sz="2000" b="1" i="1" dirty="0" err="1" smtClean="0">
                <a:solidFill>
                  <a:srgbClr val="C00000"/>
                </a:solidFill>
                <a:ea typeface="幼圆" pitchFamily="49" charset="-122"/>
              </a:rPr>
              <a:t>I</a:t>
            </a:r>
            <a:r>
              <a:rPr kumimoji="1" lang="en-US" altLang="zh-CN" sz="2000" b="1" baseline="-25000" dirty="0" err="1" smtClean="0">
                <a:solidFill>
                  <a:srgbClr val="C00000"/>
                </a:solidFill>
                <a:ea typeface="幼圆" pitchFamily="49" charset="-122"/>
              </a:rPr>
              <a:t>p</a:t>
            </a:r>
            <a:r>
              <a:rPr kumimoji="1" lang="zh-CN" altLang="en-US" sz="2000" b="1" dirty="0" smtClean="0">
                <a:solidFill>
                  <a:srgbClr val="C00000"/>
                </a:solidFill>
                <a:ea typeface="幼圆" pitchFamily="49" charset="-122"/>
              </a:rPr>
              <a:t>为纵坐标的一种分类图</a:t>
            </a:r>
            <a:endParaRPr kumimoji="1" lang="zh-CN" altLang="en-US" sz="2000" b="1" dirty="0">
              <a:solidFill>
                <a:srgbClr val="C00000"/>
              </a:solidFill>
              <a:ea typeface="幼圆" pitchFamily="49" charset="-122"/>
            </a:endParaRPr>
          </a:p>
        </p:txBody>
      </p:sp>
      <p:cxnSp>
        <p:nvCxnSpPr>
          <p:cNvPr id="6" name="直接箭头连接符 5"/>
          <p:cNvCxnSpPr/>
          <p:nvPr/>
        </p:nvCxnSpPr>
        <p:spPr>
          <a:xfrm flipV="1">
            <a:off x="1850571" y="1480457"/>
            <a:ext cx="0" cy="70757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rot="5400000" flipV="1">
            <a:off x="6106885" y="2308906"/>
            <a:ext cx="0" cy="70757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 Box 4"/>
          <p:cNvSpPr txBox="1">
            <a:spLocks noChangeArrowheads="1"/>
          </p:cNvSpPr>
          <p:nvPr/>
        </p:nvSpPr>
        <p:spPr bwMode="auto">
          <a:xfrm>
            <a:off x="6491360" y="2459716"/>
            <a:ext cx="106090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ct val="10000"/>
              </a:spcBef>
              <a:spcAft>
                <a:spcPct val="10000"/>
              </a:spcAft>
              <a:buClr>
                <a:srgbClr val="C00000"/>
              </a:buClr>
              <a:buSzPct val="120000"/>
            </a:pPr>
            <a:r>
              <a:rPr kumimoji="1" lang="zh-CN" altLang="en-US" sz="2000" b="1" dirty="0" smtClean="0">
                <a:solidFill>
                  <a:srgbClr val="C00000"/>
                </a:solidFill>
                <a:ea typeface="幼圆" pitchFamily="49" charset="-122"/>
              </a:rPr>
              <a:t>颗粒级配分类</a:t>
            </a:r>
            <a:endParaRPr kumimoji="1" lang="zh-CN" altLang="en-US" sz="2000" b="1" dirty="0">
              <a:solidFill>
                <a:srgbClr val="C00000"/>
              </a:solidFill>
              <a:ea typeface="幼圆" pitchFamily="49" charset="-122"/>
            </a:endParaRPr>
          </a:p>
        </p:txBody>
      </p:sp>
      <p:sp>
        <p:nvSpPr>
          <p:cNvPr id="22" name="任意多边形 21"/>
          <p:cNvSpPr/>
          <p:nvPr/>
        </p:nvSpPr>
        <p:spPr>
          <a:xfrm>
            <a:off x="4005944" y="3994150"/>
            <a:ext cx="936171" cy="479879"/>
          </a:xfrm>
          <a:custGeom>
            <a:avLst/>
            <a:gdLst>
              <a:gd name="connsiteX0" fmla="*/ 0 w 936171"/>
              <a:gd name="connsiteY0" fmla="*/ 0 h 587828"/>
              <a:gd name="connsiteX1" fmla="*/ 0 w 936171"/>
              <a:gd name="connsiteY1" fmla="*/ 587828 h 587828"/>
              <a:gd name="connsiteX2" fmla="*/ 936171 w 936171"/>
              <a:gd name="connsiteY2" fmla="*/ 587828 h 587828"/>
            </a:gdLst>
            <a:ahLst/>
            <a:cxnLst>
              <a:cxn ang="0">
                <a:pos x="connsiteX0" y="connsiteY0"/>
              </a:cxn>
              <a:cxn ang="0">
                <a:pos x="connsiteX1" y="connsiteY1"/>
              </a:cxn>
              <a:cxn ang="0">
                <a:pos x="connsiteX2" y="connsiteY2"/>
              </a:cxn>
            </a:cxnLst>
            <a:rect l="l" t="t" r="r" b="b"/>
            <a:pathLst>
              <a:path w="936171" h="587828">
                <a:moveTo>
                  <a:pt x="0" y="0"/>
                </a:moveTo>
                <a:lnTo>
                  <a:pt x="0" y="587828"/>
                </a:lnTo>
                <a:lnTo>
                  <a:pt x="936171" y="587828"/>
                </a:lnTo>
              </a:path>
            </a:pathLst>
          </a:custGeom>
          <a:noFill/>
          <a:ln w="28575">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333365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fltVal val="0"/>
                                          </p:val>
                                        </p:tav>
                                        <p:tav tm="100000">
                                          <p:val>
                                            <p:strVal val="#ppt_w"/>
                                          </p:val>
                                        </p:tav>
                                      </p:tavLst>
                                    </p:anim>
                                    <p:anim calcmode="lin" valueType="num">
                                      <p:cBhvr>
                                        <p:cTn id="14" dur="1000" fill="hold"/>
                                        <p:tgtEl>
                                          <p:spTgt spid="2"/>
                                        </p:tgtEl>
                                        <p:attrNameLst>
                                          <p:attrName>ppt_h</p:attrName>
                                        </p:attrNameLst>
                                      </p:cBhvr>
                                      <p:tavLst>
                                        <p:tav tm="0">
                                          <p:val>
                                            <p:fltVal val="0"/>
                                          </p:val>
                                        </p:tav>
                                        <p:tav tm="100000">
                                          <p:val>
                                            <p:strVal val="#ppt_h"/>
                                          </p:val>
                                        </p:tav>
                                      </p:tavLst>
                                    </p:anim>
                                    <p:anim calcmode="lin" valueType="num">
                                      <p:cBhvr>
                                        <p:cTn id="15" dur="1000" fill="hold"/>
                                        <p:tgtEl>
                                          <p:spTgt spid="2"/>
                                        </p:tgtEl>
                                        <p:attrNameLst>
                                          <p:attrName>style.rotation</p:attrName>
                                        </p:attrNameLst>
                                      </p:cBhvr>
                                      <p:tavLst>
                                        <p:tav tm="0">
                                          <p:val>
                                            <p:fltVal val="90"/>
                                          </p:val>
                                        </p:tav>
                                        <p:tav tm="100000">
                                          <p:val>
                                            <p:fltVal val="0"/>
                                          </p:val>
                                        </p:tav>
                                      </p:tavLst>
                                    </p:anim>
                                    <p:animEffect transition="in" filter="fade">
                                      <p:cBhvr>
                                        <p:cTn id="16" dur="1000"/>
                                        <p:tgtEl>
                                          <p:spTgt spid="2"/>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up)">
                                      <p:cBhvr>
                                        <p:cTn id="20" dur="10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childTnLst>
                          </p:cTn>
                        </p:par>
                        <p:par>
                          <p:cTn id="26" fill="hold">
                            <p:stCondLst>
                              <p:cond delay="500"/>
                            </p:stCondLst>
                            <p:childTnLst>
                              <p:par>
                                <p:cTn id="27" presetID="31" presetClass="entr" presetSubtype="0" fill="hold" grpId="0" nodeType="afterEffect">
                                  <p:stCondLst>
                                    <p:cond delay="0"/>
                                  </p:stCondLst>
                                  <p:childTnLst>
                                    <p:set>
                                      <p:cBhvr>
                                        <p:cTn id="28" dur="1" fill="hold">
                                          <p:stCondLst>
                                            <p:cond delay="0"/>
                                          </p:stCondLst>
                                        </p:cTn>
                                        <p:tgtEl>
                                          <p:spTgt spid="1425412"/>
                                        </p:tgtEl>
                                        <p:attrNameLst>
                                          <p:attrName>style.visibility</p:attrName>
                                        </p:attrNameLst>
                                      </p:cBhvr>
                                      <p:to>
                                        <p:strVal val="visible"/>
                                      </p:to>
                                    </p:set>
                                    <p:anim calcmode="lin" valueType="num">
                                      <p:cBhvr>
                                        <p:cTn id="29" dur="1000" fill="hold"/>
                                        <p:tgtEl>
                                          <p:spTgt spid="1425412"/>
                                        </p:tgtEl>
                                        <p:attrNameLst>
                                          <p:attrName>ppt_w</p:attrName>
                                        </p:attrNameLst>
                                      </p:cBhvr>
                                      <p:tavLst>
                                        <p:tav tm="0">
                                          <p:val>
                                            <p:fltVal val="0"/>
                                          </p:val>
                                        </p:tav>
                                        <p:tav tm="100000">
                                          <p:val>
                                            <p:strVal val="#ppt_w"/>
                                          </p:val>
                                        </p:tav>
                                      </p:tavLst>
                                    </p:anim>
                                    <p:anim calcmode="lin" valueType="num">
                                      <p:cBhvr>
                                        <p:cTn id="30" dur="1000" fill="hold"/>
                                        <p:tgtEl>
                                          <p:spTgt spid="1425412"/>
                                        </p:tgtEl>
                                        <p:attrNameLst>
                                          <p:attrName>ppt_h</p:attrName>
                                        </p:attrNameLst>
                                      </p:cBhvr>
                                      <p:tavLst>
                                        <p:tav tm="0">
                                          <p:val>
                                            <p:fltVal val="0"/>
                                          </p:val>
                                        </p:tav>
                                        <p:tav tm="100000">
                                          <p:val>
                                            <p:strVal val="#ppt_h"/>
                                          </p:val>
                                        </p:tav>
                                      </p:tavLst>
                                    </p:anim>
                                    <p:anim calcmode="lin" valueType="num">
                                      <p:cBhvr>
                                        <p:cTn id="31" dur="1000" fill="hold"/>
                                        <p:tgtEl>
                                          <p:spTgt spid="1425412"/>
                                        </p:tgtEl>
                                        <p:attrNameLst>
                                          <p:attrName>style.rotation</p:attrName>
                                        </p:attrNameLst>
                                      </p:cBhvr>
                                      <p:tavLst>
                                        <p:tav tm="0">
                                          <p:val>
                                            <p:fltVal val="90"/>
                                          </p:val>
                                        </p:tav>
                                        <p:tav tm="100000">
                                          <p:val>
                                            <p:fltVal val="0"/>
                                          </p:val>
                                        </p:tav>
                                      </p:tavLst>
                                    </p:anim>
                                    <p:animEffect transition="in" filter="fade">
                                      <p:cBhvr>
                                        <p:cTn id="32" dur="1000"/>
                                        <p:tgtEl>
                                          <p:spTgt spid="1425412"/>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1000" fill="hold"/>
                                        <p:tgtEl>
                                          <p:spTgt spid="11"/>
                                        </p:tgtEl>
                                        <p:attrNameLst>
                                          <p:attrName>ppt_w</p:attrName>
                                        </p:attrNameLst>
                                      </p:cBhvr>
                                      <p:tavLst>
                                        <p:tav tm="0">
                                          <p:val>
                                            <p:fltVal val="0"/>
                                          </p:val>
                                        </p:tav>
                                        <p:tav tm="100000">
                                          <p:val>
                                            <p:strVal val="#ppt_w"/>
                                          </p:val>
                                        </p:tav>
                                      </p:tavLst>
                                    </p:anim>
                                    <p:anim calcmode="lin" valueType="num">
                                      <p:cBhvr>
                                        <p:cTn id="38" dur="1000" fill="hold"/>
                                        <p:tgtEl>
                                          <p:spTgt spid="11"/>
                                        </p:tgtEl>
                                        <p:attrNameLst>
                                          <p:attrName>ppt_h</p:attrName>
                                        </p:attrNameLst>
                                      </p:cBhvr>
                                      <p:tavLst>
                                        <p:tav tm="0">
                                          <p:val>
                                            <p:fltVal val="0"/>
                                          </p:val>
                                        </p:tav>
                                        <p:tav tm="100000">
                                          <p:val>
                                            <p:strVal val="#ppt_h"/>
                                          </p:val>
                                        </p:tav>
                                      </p:tavLst>
                                    </p:anim>
                                    <p:anim calcmode="lin" valueType="num">
                                      <p:cBhvr>
                                        <p:cTn id="39" dur="1000" fill="hold"/>
                                        <p:tgtEl>
                                          <p:spTgt spid="11"/>
                                        </p:tgtEl>
                                        <p:attrNameLst>
                                          <p:attrName>style.rotation</p:attrName>
                                        </p:attrNameLst>
                                      </p:cBhvr>
                                      <p:tavLst>
                                        <p:tav tm="0">
                                          <p:val>
                                            <p:fltVal val="90"/>
                                          </p:val>
                                        </p:tav>
                                        <p:tav tm="100000">
                                          <p:val>
                                            <p:fltVal val="0"/>
                                          </p:val>
                                        </p:tav>
                                      </p:tavLst>
                                    </p:anim>
                                    <p:animEffect transition="in" filter="fade">
                                      <p:cBhvr>
                                        <p:cTn id="40" dur="1000"/>
                                        <p:tgtEl>
                                          <p:spTgt spid="11"/>
                                        </p:tgtEl>
                                      </p:cBhvr>
                                    </p:animEffect>
                                  </p:childTnLst>
                                </p:cTn>
                              </p:par>
                            </p:childTnLst>
                          </p:cTn>
                        </p:par>
                        <p:par>
                          <p:cTn id="41" fill="hold">
                            <p:stCondLst>
                              <p:cond delay="1000"/>
                            </p:stCondLst>
                            <p:childTnLst>
                              <p:par>
                                <p:cTn id="42" presetID="22" presetClass="entr" presetSubtype="1" fill="hold" grpId="0" nodeType="afterEffect">
                                  <p:stCondLst>
                                    <p:cond delay="0"/>
                                  </p:stCondLst>
                                  <p:childTnLst>
                                    <p:set>
                                      <p:cBhvr>
                                        <p:cTn id="43" dur="1" fill="hold">
                                          <p:stCondLst>
                                            <p:cond delay="0"/>
                                          </p:stCondLst>
                                        </p:cTn>
                                        <p:tgtEl>
                                          <p:spTgt spid="1425414">
                                            <p:txEl>
                                              <p:pRg st="0" end="0"/>
                                            </p:txEl>
                                          </p:spTgt>
                                        </p:tgtEl>
                                        <p:attrNameLst>
                                          <p:attrName>style.visibility</p:attrName>
                                        </p:attrNameLst>
                                      </p:cBhvr>
                                      <p:to>
                                        <p:strVal val="visible"/>
                                      </p:to>
                                    </p:set>
                                    <p:animEffect transition="in" filter="wipe(up)">
                                      <p:cBhvr>
                                        <p:cTn id="44" dur="1000"/>
                                        <p:tgtEl>
                                          <p:spTgt spid="1425414">
                                            <p:txEl>
                                              <p:pRg st="0" end="0"/>
                                            </p:txEl>
                                          </p:spTgt>
                                        </p:tgtEl>
                                      </p:cBhvr>
                                    </p:animEffect>
                                  </p:childTnLst>
                                </p:cTn>
                              </p:par>
                            </p:childTnLst>
                          </p:cTn>
                        </p:par>
                        <p:par>
                          <p:cTn id="45" fill="hold">
                            <p:stCondLst>
                              <p:cond delay="2000"/>
                            </p:stCondLst>
                            <p:childTnLst>
                              <p:par>
                                <p:cTn id="46" presetID="31" presetClass="entr" presetSubtype="0" fill="hold" nodeType="afterEffect">
                                  <p:stCondLst>
                                    <p:cond delay="0"/>
                                  </p:stCondLst>
                                  <p:childTnLst>
                                    <p:set>
                                      <p:cBhvr>
                                        <p:cTn id="47" dur="1" fill="hold">
                                          <p:stCondLst>
                                            <p:cond delay="0"/>
                                          </p:stCondLst>
                                        </p:cTn>
                                        <p:tgtEl>
                                          <p:spTgt spid="3"/>
                                        </p:tgtEl>
                                        <p:attrNameLst>
                                          <p:attrName>style.visibility</p:attrName>
                                        </p:attrNameLst>
                                      </p:cBhvr>
                                      <p:to>
                                        <p:strVal val="visible"/>
                                      </p:to>
                                    </p:set>
                                    <p:anim calcmode="lin" valueType="num">
                                      <p:cBhvr>
                                        <p:cTn id="48" dur="1000" fill="hold"/>
                                        <p:tgtEl>
                                          <p:spTgt spid="3"/>
                                        </p:tgtEl>
                                        <p:attrNameLst>
                                          <p:attrName>ppt_w</p:attrName>
                                        </p:attrNameLst>
                                      </p:cBhvr>
                                      <p:tavLst>
                                        <p:tav tm="0">
                                          <p:val>
                                            <p:fltVal val="0"/>
                                          </p:val>
                                        </p:tav>
                                        <p:tav tm="100000">
                                          <p:val>
                                            <p:strVal val="#ppt_w"/>
                                          </p:val>
                                        </p:tav>
                                      </p:tavLst>
                                    </p:anim>
                                    <p:anim calcmode="lin" valueType="num">
                                      <p:cBhvr>
                                        <p:cTn id="49" dur="1000" fill="hold"/>
                                        <p:tgtEl>
                                          <p:spTgt spid="3"/>
                                        </p:tgtEl>
                                        <p:attrNameLst>
                                          <p:attrName>ppt_h</p:attrName>
                                        </p:attrNameLst>
                                      </p:cBhvr>
                                      <p:tavLst>
                                        <p:tav tm="0">
                                          <p:val>
                                            <p:fltVal val="0"/>
                                          </p:val>
                                        </p:tav>
                                        <p:tav tm="100000">
                                          <p:val>
                                            <p:strVal val="#ppt_h"/>
                                          </p:val>
                                        </p:tav>
                                      </p:tavLst>
                                    </p:anim>
                                    <p:anim calcmode="lin" valueType="num">
                                      <p:cBhvr>
                                        <p:cTn id="50" dur="1000" fill="hold"/>
                                        <p:tgtEl>
                                          <p:spTgt spid="3"/>
                                        </p:tgtEl>
                                        <p:attrNameLst>
                                          <p:attrName>style.rotation</p:attrName>
                                        </p:attrNameLst>
                                      </p:cBhvr>
                                      <p:tavLst>
                                        <p:tav tm="0">
                                          <p:val>
                                            <p:fltVal val="90"/>
                                          </p:val>
                                        </p:tav>
                                        <p:tav tm="100000">
                                          <p:val>
                                            <p:fltVal val="0"/>
                                          </p:val>
                                        </p:tav>
                                      </p:tavLst>
                                    </p:anim>
                                    <p:animEffect transition="in" filter="fade">
                                      <p:cBhvr>
                                        <p:cTn id="51" dur="1000"/>
                                        <p:tgtEl>
                                          <p:spTgt spid="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425414">
                                            <p:txEl>
                                              <p:pRg st="2" end="2"/>
                                            </p:txEl>
                                          </p:spTgt>
                                        </p:tgtEl>
                                        <p:attrNameLst>
                                          <p:attrName>style.visibility</p:attrName>
                                        </p:attrNameLst>
                                      </p:cBhvr>
                                      <p:to>
                                        <p:strVal val="visible"/>
                                      </p:to>
                                    </p:set>
                                    <p:animEffect transition="in" filter="wipe(up)">
                                      <p:cBhvr>
                                        <p:cTn id="56" dur="1000"/>
                                        <p:tgtEl>
                                          <p:spTgt spid="1425414">
                                            <p:txEl>
                                              <p:pRg st="2" end="2"/>
                                            </p:txEl>
                                          </p:spTgt>
                                        </p:tgtEl>
                                      </p:cBhvr>
                                    </p:animEffect>
                                  </p:childTnLst>
                                </p:cTn>
                              </p:par>
                            </p:childTnLst>
                          </p:cTn>
                        </p:par>
                        <p:par>
                          <p:cTn id="57" fill="hold">
                            <p:stCondLst>
                              <p:cond delay="1000"/>
                            </p:stCondLst>
                            <p:childTnLst>
                              <p:par>
                                <p:cTn id="58" presetID="31" presetClass="entr" presetSubtype="0" fill="hold" nodeType="afterEffect">
                                  <p:stCondLst>
                                    <p:cond delay="0"/>
                                  </p:stCondLst>
                                  <p:childTnLst>
                                    <p:set>
                                      <p:cBhvr>
                                        <p:cTn id="59" dur="1" fill="hold">
                                          <p:stCondLst>
                                            <p:cond delay="0"/>
                                          </p:stCondLst>
                                        </p:cTn>
                                        <p:tgtEl>
                                          <p:spTgt spid="5"/>
                                        </p:tgtEl>
                                        <p:attrNameLst>
                                          <p:attrName>style.visibility</p:attrName>
                                        </p:attrNameLst>
                                      </p:cBhvr>
                                      <p:to>
                                        <p:strVal val="visible"/>
                                      </p:to>
                                    </p:set>
                                    <p:anim calcmode="lin" valueType="num">
                                      <p:cBhvr>
                                        <p:cTn id="60" dur="1000" fill="hold"/>
                                        <p:tgtEl>
                                          <p:spTgt spid="5"/>
                                        </p:tgtEl>
                                        <p:attrNameLst>
                                          <p:attrName>ppt_w</p:attrName>
                                        </p:attrNameLst>
                                      </p:cBhvr>
                                      <p:tavLst>
                                        <p:tav tm="0">
                                          <p:val>
                                            <p:fltVal val="0"/>
                                          </p:val>
                                        </p:tav>
                                        <p:tav tm="100000">
                                          <p:val>
                                            <p:strVal val="#ppt_w"/>
                                          </p:val>
                                        </p:tav>
                                      </p:tavLst>
                                    </p:anim>
                                    <p:anim calcmode="lin" valueType="num">
                                      <p:cBhvr>
                                        <p:cTn id="61" dur="1000" fill="hold"/>
                                        <p:tgtEl>
                                          <p:spTgt spid="5"/>
                                        </p:tgtEl>
                                        <p:attrNameLst>
                                          <p:attrName>ppt_h</p:attrName>
                                        </p:attrNameLst>
                                      </p:cBhvr>
                                      <p:tavLst>
                                        <p:tav tm="0">
                                          <p:val>
                                            <p:fltVal val="0"/>
                                          </p:val>
                                        </p:tav>
                                        <p:tav tm="100000">
                                          <p:val>
                                            <p:strVal val="#ppt_h"/>
                                          </p:val>
                                        </p:tav>
                                      </p:tavLst>
                                    </p:anim>
                                    <p:anim calcmode="lin" valueType="num">
                                      <p:cBhvr>
                                        <p:cTn id="62" dur="1000" fill="hold"/>
                                        <p:tgtEl>
                                          <p:spTgt spid="5"/>
                                        </p:tgtEl>
                                        <p:attrNameLst>
                                          <p:attrName>style.rotation</p:attrName>
                                        </p:attrNameLst>
                                      </p:cBhvr>
                                      <p:tavLst>
                                        <p:tav tm="0">
                                          <p:val>
                                            <p:fltVal val="90"/>
                                          </p:val>
                                        </p:tav>
                                        <p:tav tm="100000">
                                          <p:val>
                                            <p:fltVal val="0"/>
                                          </p:val>
                                        </p:tav>
                                      </p:tavLst>
                                    </p:anim>
                                    <p:animEffect transition="in" filter="fade">
                                      <p:cBhvr>
                                        <p:cTn id="63" dur="1000"/>
                                        <p:tgtEl>
                                          <p:spTgt spid="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1425414">
                                            <p:txEl>
                                              <p:pRg st="1" end="1"/>
                                            </p:txEl>
                                          </p:spTgt>
                                        </p:tgtEl>
                                        <p:attrNameLst>
                                          <p:attrName>style.visibility</p:attrName>
                                        </p:attrNameLst>
                                      </p:cBhvr>
                                      <p:to>
                                        <p:strVal val="visible"/>
                                      </p:to>
                                    </p:set>
                                    <p:animEffect transition="in" filter="wipe(up)">
                                      <p:cBhvr>
                                        <p:cTn id="68" dur="1000"/>
                                        <p:tgtEl>
                                          <p:spTgt spid="1425414">
                                            <p:txEl>
                                              <p:pRg st="1" end="1"/>
                                            </p:txEl>
                                          </p:spTgt>
                                        </p:tgtEl>
                                      </p:cBhvr>
                                    </p:animEffect>
                                  </p:childTnLst>
                                </p:cTn>
                              </p:par>
                            </p:childTnLst>
                          </p:cTn>
                        </p:par>
                        <p:par>
                          <p:cTn id="69" fill="hold">
                            <p:stCondLst>
                              <p:cond delay="1000"/>
                            </p:stCondLst>
                            <p:childTnLst>
                              <p:par>
                                <p:cTn id="70" presetID="31" presetClass="entr" presetSubtype="0" fill="hold" nodeType="afterEffect">
                                  <p:stCondLst>
                                    <p:cond delay="0"/>
                                  </p:stCondLst>
                                  <p:childTnLst>
                                    <p:set>
                                      <p:cBhvr>
                                        <p:cTn id="71" dur="1" fill="hold">
                                          <p:stCondLst>
                                            <p:cond delay="0"/>
                                          </p:stCondLst>
                                        </p:cTn>
                                        <p:tgtEl>
                                          <p:spTgt spid="4"/>
                                        </p:tgtEl>
                                        <p:attrNameLst>
                                          <p:attrName>style.visibility</p:attrName>
                                        </p:attrNameLst>
                                      </p:cBhvr>
                                      <p:to>
                                        <p:strVal val="visible"/>
                                      </p:to>
                                    </p:set>
                                    <p:anim calcmode="lin" valueType="num">
                                      <p:cBhvr>
                                        <p:cTn id="72" dur="1000" fill="hold"/>
                                        <p:tgtEl>
                                          <p:spTgt spid="4"/>
                                        </p:tgtEl>
                                        <p:attrNameLst>
                                          <p:attrName>ppt_w</p:attrName>
                                        </p:attrNameLst>
                                      </p:cBhvr>
                                      <p:tavLst>
                                        <p:tav tm="0">
                                          <p:val>
                                            <p:fltVal val="0"/>
                                          </p:val>
                                        </p:tav>
                                        <p:tav tm="100000">
                                          <p:val>
                                            <p:strVal val="#ppt_w"/>
                                          </p:val>
                                        </p:tav>
                                      </p:tavLst>
                                    </p:anim>
                                    <p:anim calcmode="lin" valueType="num">
                                      <p:cBhvr>
                                        <p:cTn id="73" dur="1000" fill="hold"/>
                                        <p:tgtEl>
                                          <p:spTgt spid="4"/>
                                        </p:tgtEl>
                                        <p:attrNameLst>
                                          <p:attrName>ppt_h</p:attrName>
                                        </p:attrNameLst>
                                      </p:cBhvr>
                                      <p:tavLst>
                                        <p:tav tm="0">
                                          <p:val>
                                            <p:fltVal val="0"/>
                                          </p:val>
                                        </p:tav>
                                        <p:tav tm="100000">
                                          <p:val>
                                            <p:strVal val="#ppt_h"/>
                                          </p:val>
                                        </p:tav>
                                      </p:tavLst>
                                    </p:anim>
                                    <p:anim calcmode="lin" valueType="num">
                                      <p:cBhvr>
                                        <p:cTn id="74" dur="1000" fill="hold"/>
                                        <p:tgtEl>
                                          <p:spTgt spid="4"/>
                                        </p:tgtEl>
                                        <p:attrNameLst>
                                          <p:attrName>style.rotation</p:attrName>
                                        </p:attrNameLst>
                                      </p:cBhvr>
                                      <p:tavLst>
                                        <p:tav tm="0">
                                          <p:val>
                                            <p:fltVal val="90"/>
                                          </p:val>
                                        </p:tav>
                                        <p:tav tm="100000">
                                          <p:val>
                                            <p:fltVal val="0"/>
                                          </p:val>
                                        </p:tav>
                                      </p:tavLst>
                                    </p:anim>
                                    <p:animEffect transition="in" filter="fade">
                                      <p:cBhvr>
                                        <p:cTn id="75" dur="1000"/>
                                        <p:tgtEl>
                                          <p:spTgt spid="4"/>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wipe(left)">
                                      <p:cBhvr>
                                        <p:cTn id="80" dur="1000"/>
                                        <p:tgtEl>
                                          <p:spTgt spid="7"/>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wipe(left)">
                                      <p:cBhvr>
                                        <p:cTn id="84" dur="1000"/>
                                        <p:tgtEl>
                                          <p:spTgt spid="27"/>
                                        </p:tgtEl>
                                      </p:cBhvr>
                                    </p:animEffect>
                                  </p:childTnLst>
                                </p:cTn>
                              </p:par>
                            </p:childTnLst>
                          </p:cTn>
                        </p:par>
                        <p:par>
                          <p:cTn id="85" fill="hold">
                            <p:stCondLst>
                              <p:cond delay="2000"/>
                            </p:stCondLst>
                            <p:childTnLst>
                              <p:par>
                                <p:cTn id="86" presetID="31" presetClass="entr" presetSubtype="0" fill="hold" grpId="0" nodeType="afterEffect">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cBhvr>
                                        <p:cTn id="88" dur="1000" fill="hold"/>
                                        <p:tgtEl>
                                          <p:spTgt spid="28"/>
                                        </p:tgtEl>
                                        <p:attrNameLst>
                                          <p:attrName>ppt_w</p:attrName>
                                        </p:attrNameLst>
                                      </p:cBhvr>
                                      <p:tavLst>
                                        <p:tav tm="0">
                                          <p:val>
                                            <p:fltVal val="0"/>
                                          </p:val>
                                        </p:tav>
                                        <p:tav tm="100000">
                                          <p:val>
                                            <p:strVal val="#ppt_w"/>
                                          </p:val>
                                        </p:tav>
                                      </p:tavLst>
                                    </p:anim>
                                    <p:anim calcmode="lin" valueType="num">
                                      <p:cBhvr>
                                        <p:cTn id="89" dur="1000" fill="hold"/>
                                        <p:tgtEl>
                                          <p:spTgt spid="28"/>
                                        </p:tgtEl>
                                        <p:attrNameLst>
                                          <p:attrName>ppt_h</p:attrName>
                                        </p:attrNameLst>
                                      </p:cBhvr>
                                      <p:tavLst>
                                        <p:tav tm="0">
                                          <p:val>
                                            <p:fltVal val="0"/>
                                          </p:val>
                                        </p:tav>
                                        <p:tav tm="100000">
                                          <p:val>
                                            <p:strVal val="#ppt_h"/>
                                          </p:val>
                                        </p:tav>
                                      </p:tavLst>
                                    </p:anim>
                                    <p:anim calcmode="lin" valueType="num">
                                      <p:cBhvr>
                                        <p:cTn id="90" dur="1000" fill="hold"/>
                                        <p:tgtEl>
                                          <p:spTgt spid="28"/>
                                        </p:tgtEl>
                                        <p:attrNameLst>
                                          <p:attrName>style.rotation</p:attrName>
                                        </p:attrNameLst>
                                      </p:cBhvr>
                                      <p:tavLst>
                                        <p:tav tm="0">
                                          <p:val>
                                            <p:fltVal val="90"/>
                                          </p:val>
                                        </p:tav>
                                        <p:tav tm="100000">
                                          <p:val>
                                            <p:fltVal val="0"/>
                                          </p:val>
                                        </p:tav>
                                      </p:tavLst>
                                    </p:anim>
                                    <p:animEffect transition="in" filter="fade">
                                      <p:cBhvr>
                                        <p:cTn id="91" dur="1000"/>
                                        <p:tgtEl>
                                          <p:spTgt spid="2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1"/>
                                        </p:tgtEl>
                                        <p:attrNameLst>
                                          <p:attrName>style.visibility</p:attrName>
                                        </p:attrNameLst>
                                      </p:cBhvr>
                                      <p:to>
                                        <p:strVal val="visible"/>
                                      </p:to>
                                    </p:set>
                                    <p:animEffect transition="in" filter="wipe(left)">
                                      <p:cBhvr>
                                        <p:cTn id="96" dur="1000"/>
                                        <p:tgtEl>
                                          <p:spTgt spid="21"/>
                                        </p:tgtEl>
                                      </p:cBhvr>
                                    </p:animEffect>
                                  </p:childTnLst>
                                </p:cTn>
                              </p:par>
                            </p:childTnLst>
                          </p:cTn>
                        </p:par>
                        <p:par>
                          <p:cTn id="97" fill="hold">
                            <p:stCondLst>
                              <p:cond delay="1000"/>
                            </p:stCondLst>
                            <p:childTnLst>
                              <p:par>
                                <p:cTn id="98" presetID="22" presetClass="entr" presetSubtype="8" fill="hold" grpId="0" nodeType="after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ipe(left)">
                                      <p:cBhvr>
                                        <p:cTn id="100" dur="1000"/>
                                        <p:tgtEl>
                                          <p:spTgt spid="22"/>
                                        </p:tgtEl>
                                      </p:cBhvr>
                                    </p:animEffect>
                                  </p:childTnLst>
                                </p:cTn>
                              </p:par>
                            </p:childTnLst>
                          </p:cTn>
                        </p:par>
                        <p:par>
                          <p:cTn id="101" fill="hold">
                            <p:stCondLst>
                              <p:cond delay="2000"/>
                            </p:stCondLst>
                            <p:childTnLst>
                              <p:par>
                                <p:cTn id="102" presetID="31" presetClass="entr" presetSubtype="0" fill="hold" grpId="0" nodeType="afterEffect">
                                  <p:stCondLst>
                                    <p:cond delay="0"/>
                                  </p:stCondLst>
                                  <p:childTnLst>
                                    <p:set>
                                      <p:cBhvr>
                                        <p:cTn id="103" dur="1" fill="hold">
                                          <p:stCondLst>
                                            <p:cond delay="0"/>
                                          </p:stCondLst>
                                        </p:cTn>
                                        <p:tgtEl>
                                          <p:spTgt spid="23"/>
                                        </p:tgtEl>
                                        <p:attrNameLst>
                                          <p:attrName>style.visibility</p:attrName>
                                        </p:attrNameLst>
                                      </p:cBhvr>
                                      <p:to>
                                        <p:strVal val="visible"/>
                                      </p:to>
                                    </p:set>
                                    <p:anim calcmode="lin" valueType="num">
                                      <p:cBhvr>
                                        <p:cTn id="104" dur="1000" fill="hold"/>
                                        <p:tgtEl>
                                          <p:spTgt spid="23"/>
                                        </p:tgtEl>
                                        <p:attrNameLst>
                                          <p:attrName>ppt_w</p:attrName>
                                        </p:attrNameLst>
                                      </p:cBhvr>
                                      <p:tavLst>
                                        <p:tav tm="0">
                                          <p:val>
                                            <p:fltVal val="0"/>
                                          </p:val>
                                        </p:tav>
                                        <p:tav tm="100000">
                                          <p:val>
                                            <p:strVal val="#ppt_w"/>
                                          </p:val>
                                        </p:tav>
                                      </p:tavLst>
                                    </p:anim>
                                    <p:anim calcmode="lin" valueType="num">
                                      <p:cBhvr>
                                        <p:cTn id="105" dur="1000" fill="hold"/>
                                        <p:tgtEl>
                                          <p:spTgt spid="23"/>
                                        </p:tgtEl>
                                        <p:attrNameLst>
                                          <p:attrName>ppt_h</p:attrName>
                                        </p:attrNameLst>
                                      </p:cBhvr>
                                      <p:tavLst>
                                        <p:tav tm="0">
                                          <p:val>
                                            <p:fltVal val="0"/>
                                          </p:val>
                                        </p:tav>
                                        <p:tav tm="100000">
                                          <p:val>
                                            <p:strVal val="#ppt_h"/>
                                          </p:val>
                                        </p:tav>
                                      </p:tavLst>
                                    </p:anim>
                                    <p:anim calcmode="lin" valueType="num">
                                      <p:cBhvr>
                                        <p:cTn id="106" dur="1000" fill="hold"/>
                                        <p:tgtEl>
                                          <p:spTgt spid="23"/>
                                        </p:tgtEl>
                                        <p:attrNameLst>
                                          <p:attrName>style.rotation</p:attrName>
                                        </p:attrNameLst>
                                      </p:cBhvr>
                                      <p:tavLst>
                                        <p:tav tm="0">
                                          <p:val>
                                            <p:fltVal val="90"/>
                                          </p:val>
                                        </p:tav>
                                        <p:tav tm="100000">
                                          <p:val>
                                            <p:fltVal val="0"/>
                                          </p:val>
                                        </p:tav>
                                      </p:tavLst>
                                    </p:anim>
                                    <p:animEffect transition="in" filter="fade">
                                      <p:cBhvr>
                                        <p:cTn id="107"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7" grpId="0" animBg="1"/>
      <p:bldP spid="1425412" grpId="0"/>
      <p:bldP spid="1425414" grpId="0" build="p"/>
      <p:bldP spid="9" grpId="0"/>
      <p:bldP spid="2" grpId="0" animBg="1"/>
      <p:bldP spid="10" grpId="0"/>
      <p:bldP spid="11" grpId="0" animBg="1"/>
      <p:bldP spid="23" grpId="0"/>
      <p:bldP spid="28" grpId="0"/>
      <p:bldP spid="22"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8019" y="4976162"/>
            <a:ext cx="4253023" cy="53162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50" name="Text Box 24"/>
          <p:cNvSpPr txBox="1">
            <a:spLocks noChangeArrowheads="1"/>
          </p:cNvSpPr>
          <p:nvPr/>
        </p:nvSpPr>
        <p:spPr bwMode="auto">
          <a:xfrm>
            <a:off x="1163638" y="968375"/>
            <a:ext cx="715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a:solidFill>
                  <a:srgbClr val="000066"/>
                </a:solidFill>
                <a:latin typeface="黑体" pitchFamily="2" charset="-122"/>
                <a:ea typeface="黑体" pitchFamily="2" charset="-122"/>
              </a:rPr>
              <a:t>第一章：土的物理性质与工程分类</a:t>
            </a:r>
            <a:endParaRPr lang="en-US" altLang="zh-CN" sz="3600" b="1">
              <a:solidFill>
                <a:srgbClr val="000066"/>
              </a:solidFill>
              <a:latin typeface="黑体" pitchFamily="2" charset="-122"/>
              <a:ea typeface="黑体" pitchFamily="2" charset="-122"/>
            </a:endParaRPr>
          </a:p>
        </p:txBody>
      </p:sp>
      <p:sp>
        <p:nvSpPr>
          <p:cNvPr id="1344537" name="Text Box 25"/>
          <p:cNvSpPr txBox="1">
            <a:spLocks noChangeArrowheads="1"/>
          </p:cNvSpPr>
          <p:nvPr/>
        </p:nvSpPr>
        <p:spPr bwMode="auto">
          <a:xfrm>
            <a:off x="2413000" y="1892300"/>
            <a:ext cx="451961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§1.1  </a:t>
            </a:r>
            <a:r>
              <a:rPr kumimoji="1" lang="zh-CN" altLang="en-US" sz="3200" b="1" dirty="0">
                <a:solidFill>
                  <a:srgbClr val="000066"/>
                </a:solidFill>
                <a:latin typeface="黑体" panose="02010609060101010101" pitchFamily="49" charset="-122"/>
                <a:ea typeface="黑体" panose="02010609060101010101" pitchFamily="49" charset="-122"/>
              </a:rPr>
              <a:t>土的</a:t>
            </a:r>
            <a:r>
              <a:rPr kumimoji="1" lang="zh-CN" altLang="en-US" sz="3200" b="1" dirty="0" smtClean="0">
                <a:solidFill>
                  <a:srgbClr val="000066"/>
                </a:solidFill>
                <a:latin typeface="黑体" panose="02010609060101010101" pitchFamily="49" charset="-122"/>
                <a:ea typeface="黑体" panose="02010609060101010101" pitchFamily="49" charset="-122"/>
              </a:rPr>
              <a:t>形成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§1.2  </a:t>
            </a:r>
            <a:r>
              <a:rPr kumimoji="1" lang="zh-CN" altLang="en-US" sz="3200" b="1" dirty="0">
                <a:solidFill>
                  <a:srgbClr val="000066"/>
                </a:solidFill>
                <a:latin typeface="黑体" panose="02010609060101010101" pitchFamily="49" charset="-122"/>
                <a:ea typeface="黑体" panose="02010609060101010101" pitchFamily="49" charset="-122"/>
              </a:rPr>
              <a:t>土的三相</a:t>
            </a:r>
            <a:r>
              <a:rPr kumimoji="1" lang="zh-CN" altLang="en-US" sz="3200" b="1" dirty="0" smtClean="0">
                <a:solidFill>
                  <a:srgbClr val="000066"/>
                </a:solidFill>
                <a:latin typeface="黑体" panose="02010609060101010101" pitchFamily="49" charset="-122"/>
                <a:ea typeface="黑体" panose="02010609060101010101" pitchFamily="49" charset="-122"/>
              </a:rPr>
              <a:t>组成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§1.3  </a:t>
            </a:r>
            <a:r>
              <a:rPr kumimoji="1" lang="zh-CN" altLang="en-US" sz="3200" b="1" dirty="0">
                <a:solidFill>
                  <a:srgbClr val="000066"/>
                </a:solidFill>
                <a:latin typeface="黑体" panose="02010609060101010101" pitchFamily="49" charset="-122"/>
                <a:ea typeface="黑体" panose="02010609060101010101" pitchFamily="49" charset="-122"/>
              </a:rPr>
              <a:t>土的物理</a:t>
            </a:r>
            <a:r>
              <a:rPr kumimoji="1" lang="zh-CN" altLang="en-US" sz="3200" b="1" dirty="0" smtClean="0">
                <a:solidFill>
                  <a:srgbClr val="000066"/>
                </a:solidFill>
                <a:latin typeface="黑体" panose="02010609060101010101" pitchFamily="49" charset="-122"/>
                <a:ea typeface="黑体" panose="02010609060101010101" pitchFamily="49" charset="-122"/>
              </a:rPr>
              <a:t>状态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§1.4  </a:t>
            </a:r>
            <a:r>
              <a:rPr kumimoji="1" lang="zh-CN" altLang="en-US" sz="3200" b="1" dirty="0">
                <a:solidFill>
                  <a:srgbClr val="000066"/>
                </a:solidFill>
                <a:latin typeface="黑体" panose="02010609060101010101" pitchFamily="49" charset="-122"/>
                <a:ea typeface="黑体" panose="02010609060101010101" pitchFamily="49" charset="-122"/>
              </a:rPr>
              <a:t>土的</a:t>
            </a:r>
            <a:r>
              <a:rPr kumimoji="1" lang="zh-CN" altLang="en-US" sz="3200" b="1" dirty="0" smtClean="0">
                <a:solidFill>
                  <a:srgbClr val="000066"/>
                </a:solidFill>
                <a:latin typeface="黑体" panose="02010609060101010101" pitchFamily="49" charset="-122"/>
                <a:ea typeface="黑体" panose="02010609060101010101" pitchFamily="49" charset="-122"/>
              </a:rPr>
              <a:t>结构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§1.5  </a:t>
            </a:r>
            <a:r>
              <a:rPr kumimoji="1" lang="zh-CN" altLang="en-US" sz="3200" b="1" dirty="0" smtClean="0">
                <a:solidFill>
                  <a:srgbClr val="000066"/>
                </a:solidFill>
                <a:latin typeface="黑体" panose="02010609060101010101" pitchFamily="49" charset="-122"/>
                <a:ea typeface="黑体" panose="02010609060101010101" pitchFamily="49" charset="-122"/>
              </a:rPr>
              <a:t>土的工程分类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§1.6  </a:t>
            </a:r>
            <a:r>
              <a:rPr kumimoji="1" lang="zh-CN" altLang="en-US" sz="3200" b="1" dirty="0">
                <a:solidFill>
                  <a:srgbClr val="000066"/>
                </a:solidFill>
                <a:latin typeface="黑体" panose="02010609060101010101" pitchFamily="49" charset="-122"/>
                <a:ea typeface="黑体" panose="02010609060101010101" pitchFamily="49" charset="-122"/>
              </a:rPr>
              <a:t>土的压实性 </a:t>
            </a:r>
          </a:p>
        </p:txBody>
      </p:sp>
    </p:spTree>
    <p:extLst>
      <p:ext uri="{BB962C8B-B14F-4D97-AF65-F5344CB8AC3E}">
        <p14:creationId xmlns:p14="http://schemas.microsoft.com/office/powerpoint/2010/main" val="29644035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Text Box 4"/>
          <p:cNvSpPr txBox="1">
            <a:spLocks noChangeArrowheads="1"/>
          </p:cNvSpPr>
          <p:nvPr/>
        </p:nvSpPr>
        <p:spPr bwMode="auto">
          <a:xfrm>
            <a:off x="3216457" y="5742202"/>
            <a:ext cx="27320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ea typeface="黑体" pitchFamily="2" charset="-122"/>
              </a:rPr>
              <a:t>土的压实性</a:t>
            </a:r>
          </a:p>
        </p:txBody>
      </p:sp>
      <p:sp>
        <p:nvSpPr>
          <p:cNvPr id="5" name="Text Box 5"/>
          <p:cNvSpPr txBox="1">
            <a:spLocks noChangeArrowheads="1"/>
          </p:cNvSpPr>
          <p:nvPr/>
        </p:nvSpPr>
        <p:spPr bwMode="auto">
          <a:xfrm>
            <a:off x="2235668" y="1732742"/>
            <a:ext cx="3712876"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50000"/>
              </a:lnSpc>
              <a:spcBef>
                <a:spcPct val="0"/>
              </a:spcBef>
              <a:spcAft>
                <a:spcPct val="0"/>
              </a:spcAft>
              <a:buClr>
                <a:srgbClr val="A50021"/>
              </a:buClr>
              <a:buSzPct val="140000"/>
              <a:buFont typeface="Wingdings" pitchFamily="2" charset="2"/>
              <a:buChar char="F"/>
            </a:pPr>
            <a:r>
              <a:rPr kumimoji="1" lang="zh-CN" altLang="en-US" sz="3200" b="1" dirty="0">
                <a:solidFill>
                  <a:srgbClr val="000066"/>
                </a:solidFill>
                <a:ea typeface="幼圆" pitchFamily="49" charset="-122"/>
              </a:rPr>
              <a:t> 室内击实试验</a:t>
            </a:r>
          </a:p>
          <a:p>
            <a:pPr marL="457200" indent="-457200" eaLnBrk="1" hangingPunct="1">
              <a:lnSpc>
                <a:spcPct val="150000"/>
              </a:lnSpc>
              <a:spcBef>
                <a:spcPct val="0"/>
              </a:spcBef>
              <a:spcAft>
                <a:spcPct val="0"/>
              </a:spcAft>
              <a:buClr>
                <a:srgbClr val="A50021"/>
              </a:buClr>
              <a:buSzPct val="140000"/>
              <a:buFont typeface="Wingdings" pitchFamily="2" charset="2"/>
              <a:buChar char="F"/>
            </a:pPr>
            <a:r>
              <a:rPr kumimoji="1" lang="zh-CN" altLang="en-US" sz="3200" b="1" dirty="0">
                <a:solidFill>
                  <a:srgbClr val="000066"/>
                </a:solidFill>
                <a:ea typeface="幼圆" pitchFamily="49" charset="-122"/>
              </a:rPr>
              <a:t> 细粒土的压实性</a:t>
            </a:r>
          </a:p>
          <a:p>
            <a:pPr marL="457200" indent="-457200" eaLnBrk="1" hangingPunct="1">
              <a:lnSpc>
                <a:spcPct val="150000"/>
              </a:lnSpc>
              <a:spcBef>
                <a:spcPct val="0"/>
              </a:spcBef>
              <a:spcAft>
                <a:spcPct val="0"/>
              </a:spcAft>
              <a:buClr>
                <a:srgbClr val="A50021"/>
              </a:buClr>
              <a:buSzPct val="140000"/>
              <a:buFont typeface="Wingdings" pitchFamily="2" charset="2"/>
              <a:buChar char="F"/>
            </a:pPr>
            <a:r>
              <a:rPr kumimoji="1" lang="zh-CN" altLang="en-US" sz="3200" b="1" dirty="0">
                <a:solidFill>
                  <a:srgbClr val="000066"/>
                </a:solidFill>
                <a:ea typeface="幼圆" pitchFamily="49" charset="-122"/>
              </a:rPr>
              <a:t> 粗粒土的压实性</a:t>
            </a:r>
          </a:p>
        </p:txBody>
      </p:sp>
      <p:sp>
        <p:nvSpPr>
          <p:cNvPr id="7" name="Text Box 7"/>
          <p:cNvSpPr txBox="1">
            <a:spLocks noChangeArrowheads="1"/>
          </p:cNvSpPr>
          <p:nvPr/>
        </p:nvSpPr>
        <p:spPr bwMode="auto">
          <a:xfrm>
            <a:off x="1" y="0"/>
            <a:ext cx="351957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土的压实性</a:t>
            </a:r>
            <a:endParaRPr lang="zh-CN" altLang="en-US" sz="2000" b="1" kern="900" spc="-140" dirty="0">
              <a:solidFill>
                <a:srgbClr val="C00000"/>
              </a:solidFill>
              <a:latin typeface="宋体" pitchFamily="2" charset="-122"/>
            </a:endParaRPr>
          </a:p>
        </p:txBody>
      </p:sp>
    </p:spTree>
    <p:extLst>
      <p:ext uri="{BB962C8B-B14F-4D97-AF65-F5344CB8AC3E}">
        <p14:creationId xmlns:p14="http://schemas.microsoft.com/office/powerpoint/2010/main" val="27187575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3" name="Text Box 3"/>
          <p:cNvSpPr txBox="1">
            <a:spLocks noChangeArrowheads="1"/>
          </p:cNvSpPr>
          <p:nvPr/>
        </p:nvSpPr>
        <p:spPr bwMode="auto">
          <a:xfrm>
            <a:off x="712671" y="682839"/>
            <a:ext cx="7851775" cy="489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eaLnBrk="0" hangingPunct="0">
              <a:defRPr sz="1400">
                <a:solidFill>
                  <a:schemeClr val="tx1"/>
                </a:solidFill>
                <a:latin typeface="Times New Roman" pitchFamily="18" charset="0"/>
                <a:ea typeface="宋体" charset="-122"/>
              </a:defRPr>
            </a:lvl1pPr>
            <a:lvl2pPr marL="712788"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buFont typeface="Wingdings" pitchFamily="2" charset="2"/>
              <a:buChar char="n"/>
            </a:pPr>
            <a:r>
              <a:rPr kumimoji="1" lang="zh-CN" altLang="en-US" sz="2400" b="1" dirty="0">
                <a:solidFill>
                  <a:srgbClr val="A50021"/>
                </a:solidFill>
                <a:latin typeface="幼圆" pitchFamily="49" charset="-122"/>
                <a:ea typeface="幼圆" pitchFamily="49" charset="-122"/>
              </a:rPr>
              <a:t>土的压实</a:t>
            </a:r>
            <a:r>
              <a:rPr kumimoji="1" lang="zh-CN" altLang="en-US" sz="2400" b="1" dirty="0" smtClean="0">
                <a:solidFill>
                  <a:srgbClr val="A50021"/>
                </a:solidFill>
                <a:latin typeface="幼圆" pitchFamily="49" charset="-122"/>
                <a:ea typeface="幼圆" pitchFamily="49" charset="-122"/>
              </a:rPr>
              <a:t>：</a:t>
            </a:r>
            <a:r>
              <a:rPr kumimoji="1" lang="en-US" altLang="zh-CN" sz="2800" b="1" dirty="0" smtClean="0">
                <a:solidFill>
                  <a:srgbClr val="A50021"/>
                </a:solidFill>
                <a:latin typeface="幼圆" pitchFamily="49" charset="-122"/>
                <a:ea typeface="幼圆" pitchFamily="49" charset="-122"/>
              </a:rPr>
              <a:t/>
            </a:r>
            <a:br>
              <a:rPr kumimoji="1" lang="en-US" altLang="zh-CN" sz="2800" b="1" dirty="0" smtClean="0">
                <a:solidFill>
                  <a:srgbClr val="A50021"/>
                </a:solidFill>
                <a:latin typeface="幼圆" pitchFamily="49" charset="-122"/>
                <a:ea typeface="幼圆" pitchFamily="49" charset="-122"/>
              </a:rPr>
            </a:br>
            <a:r>
              <a:rPr kumimoji="1" lang="zh-CN" altLang="en-US" sz="2400" b="1" dirty="0" smtClean="0">
                <a:solidFill>
                  <a:srgbClr val="000066"/>
                </a:solidFill>
                <a:latin typeface="幼圆" pitchFamily="49" charset="-122"/>
                <a:ea typeface="幼圆" pitchFamily="49" charset="-122"/>
              </a:rPr>
              <a:t>指</a:t>
            </a:r>
            <a:r>
              <a:rPr kumimoji="1" lang="zh-CN" altLang="en-US" sz="2400" b="1" dirty="0">
                <a:solidFill>
                  <a:srgbClr val="000066"/>
                </a:solidFill>
                <a:latin typeface="幼圆" pitchFamily="49" charset="-122"/>
                <a:ea typeface="幼圆" pitchFamily="49" charset="-122"/>
              </a:rPr>
              <a:t>通过夯打、振动、碾压等，使土体变得密实、以提高土的强度、减小土的压缩性和渗透性</a:t>
            </a:r>
          </a:p>
          <a:p>
            <a:pPr eaLnBrk="1" hangingPunct="1">
              <a:buFont typeface="Wingdings" pitchFamily="2" charset="2"/>
              <a:buChar char="n"/>
            </a:pPr>
            <a:r>
              <a:rPr kumimoji="1" lang="zh-CN" altLang="en-US" sz="2400" b="1" dirty="0">
                <a:solidFill>
                  <a:srgbClr val="A50021"/>
                </a:solidFill>
                <a:latin typeface="幼圆" pitchFamily="49" charset="-122"/>
                <a:ea typeface="幼圆" pitchFamily="49" charset="-122"/>
              </a:rPr>
              <a:t>土的</a:t>
            </a:r>
            <a:r>
              <a:rPr kumimoji="1" lang="zh-CN" altLang="en-US" sz="2400" b="1" dirty="0" smtClean="0">
                <a:solidFill>
                  <a:srgbClr val="A50021"/>
                </a:solidFill>
                <a:latin typeface="幼圆" pitchFamily="49" charset="-122"/>
                <a:ea typeface="幼圆" pitchFamily="49" charset="-122"/>
              </a:rPr>
              <a:t>压实</a:t>
            </a:r>
            <a:r>
              <a:rPr kumimoji="1" lang="zh-CN" altLang="en-US" sz="2400" b="1" dirty="0">
                <a:solidFill>
                  <a:srgbClr val="A50021"/>
                </a:solidFill>
                <a:latin typeface="幼圆" pitchFamily="49" charset="-122"/>
                <a:ea typeface="幼圆" pitchFamily="49" charset="-122"/>
              </a:rPr>
              <a:t>性</a:t>
            </a:r>
            <a:r>
              <a:rPr kumimoji="1" lang="zh-CN" altLang="en-US" sz="2400" b="1" dirty="0" smtClean="0">
                <a:solidFill>
                  <a:srgbClr val="A50021"/>
                </a:solidFill>
                <a:latin typeface="幼圆" pitchFamily="49" charset="-122"/>
                <a:ea typeface="幼圆" pitchFamily="49" charset="-122"/>
              </a:rPr>
              <a:t>：</a:t>
            </a:r>
            <a:r>
              <a:rPr kumimoji="1" lang="en-US" altLang="zh-CN" sz="2400" b="1" dirty="0" smtClean="0">
                <a:solidFill>
                  <a:srgbClr val="A50021"/>
                </a:solidFill>
                <a:latin typeface="幼圆" pitchFamily="49" charset="-122"/>
                <a:ea typeface="幼圆" pitchFamily="49" charset="-122"/>
              </a:rPr>
              <a:t/>
            </a:r>
            <a:br>
              <a:rPr kumimoji="1" lang="en-US" altLang="zh-CN" sz="2400" b="1" dirty="0" smtClean="0">
                <a:solidFill>
                  <a:srgbClr val="A50021"/>
                </a:solidFill>
                <a:latin typeface="幼圆" pitchFamily="49" charset="-122"/>
                <a:ea typeface="幼圆" pitchFamily="49" charset="-122"/>
              </a:rPr>
            </a:br>
            <a:r>
              <a:rPr kumimoji="1" lang="en-US" altLang="zh-CN" sz="2400" b="1" dirty="0" smtClean="0">
                <a:solidFill>
                  <a:srgbClr val="A50021"/>
                </a:solidFill>
                <a:latin typeface="幼圆" pitchFamily="49" charset="-122"/>
                <a:ea typeface="幼圆" pitchFamily="49" charset="-122"/>
              </a:rPr>
              <a:t>  </a:t>
            </a:r>
            <a:r>
              <a:rPr kumimoji="1" lang="zh-CN" altLang="en-US" sz="2400" b="1" dirty="0" smtClean="0">
                <a:solidFill>
                  <a:srgbClr val="000066"/>
                </a:solidFill>
                <a:latin typeface="幼圆" pitchFamily="49" charset="-122"/>
                <a:ea typeface="幼圆" pitchFamily="49" charset="-122"/>
              </a:rPr>
              <a:t>指</a:t>
            </a:r>
            <a:r>
              <a:rPr kumimoji="1" lang="zh-CN" altLang="en-US" sz="2400" b="1" dirty="0">
                <a:solidFill>
                  <a:srgbClr val="000066"/>
                </a:solidFill>
                <a:latin typeface="幼圆" pitchFamily="49" charset="-122"/>
                <a:ea typeface="幼圆" pitchFamily="49" charset="-122"/>
              </a:rPr>
              <a:t>土在一定压实能量作用下密度增长的特性</a:t>
            </a:r>
          </a:p>
          <a:p>
            <a:pPr eaLnBrk="1" hangingPunct="1">
              <a:buFont typeface="Wingdings" pitchFamily="2" charset="2"/>
              <a:buChar char="n"/>
            </a:pPr>
            <a:r>
              <a:rPr kumimoji="1" lang="zh-CN" altLang="en-US" sz="2400" b="1" dirty="0" smtClean="0">
                <a:solidFill>
                  <a:srgbClr val="A50021"/>
                </a:solidFill>
                <a:latin typeface="幼圆" pitchFamily="49" charset="-122"/>
                <a:ea typeface="幼圆" pitchFamily="49" charset="-122"/>
              </a:rPr>
              <a:t>研究</a:t>
            </a:r>
            <a:r>
              <a:rPr kumimoji="1" lang="zh-CN" altLang="en-US" sz="2400" b="1" dirty="0">
                <a:solidFill>
                  <a:srgbClr val="A50021"/>
                </a:solidFill>
                <a:latin typeface="幼圆" pitchFamily="49" charset="-122"/>
                <a:ea typeface="幼圆" pitchFamily="49" charset="-122"/>
              </a:rPr>
              <a:t>击实性的目的：</a:t>
            </a:r>
            <a:r>
              <a:rPr kumimoji="1" lang="zh-CN" altLang="en-US" sz="2400" b="1" dirty="0">
                <a:solidFill>
                  <a:srgbClr val="000066"/>
                </a:solidFill>
                <a:latin typeface="幼圆" pitchFamily="49" charset="-122"/>
                <a:ea typeface="幼圆" pitchFamily="49" charset="-122"/>
              </a:rPr>
              <a:t/>
            </a:r>
            <a:br>
              <a:rPr kumimoji="1" lang="zh-CN" altLang="en-US" sz="2400" b="1" dirty="0">
                <a:solidFill>
                  <a:srgbClr val="000066"/>
                </a:solidFill>
                <a:latin typeface="幼圆" pitchFamily="49" charset="-122"/>
                <a:ea typeface="幼圆" pitchFamily="49" charset="-122"/>
              </a:rPr>
            </a:br>
            <a:r>
              <a:rPr kumimoji="1" lang="zh-CN" altLang="en-US" sz="2400" b="1" dirty="0">
                <a:solidFill>
                  <a:srgbClr val="000066"/>
                </a:solidFill>
                <a:latin typeface="幼圆" pitchFamily="49" charset="-122"/>
                <a:ea typeface="幼圆" pitchFamily="49" charset="-122"/>
              </a:rPr>
              <a:t>	以最小的能量消耗获得最大的压实密度</a:t>
            </a:r>
          </a:p>
          <a:p>
            <a:pPr eaLnBrk="1" hangingPunct="1">
              <a:buFont typeface="Wingdings" pitchFamily="2" charset="2"/>
              <a:buChar char="n"/>
            </a:pPr>
            <a:r>
              <a:rPr kumimoji="1" lang="zh-CN" altLang="en-US" sz="2400" b="1" dirty="0" smtClean="0">
                <a:solidFill>
                  <a:srgbClr val="A50021"/>
                </a:solidFill>
                <a:latin typeface="幼圆" pitchFamily="49" charset="-122"/>
                <a:ea typeface="幼圆" pitchFamily="49" charset="-122"/>
              </a:rPr>
              <a:t>研究的方法：</a:t>
            </a:r>
            <a:endParaRPr kumimoji="1" lang="zh-CN" altLang="en-US" sz="2400" b="1" dirty="0">
              <a:solidFill>
                <a:srgbClr val="A50021"/>
              </a:solidFill>
              <a:latin typeface="幼圆" pitchFamily="49" charset="-122"/>
              <a:ea typeface="幼圆" pitchFamily="49" charset="-122"/>
            </a:endParaRPr>
          </a:p>
          <a:p>
            <a:pPr lvl="1" eaLnBrk="1" hangingPunct="1">
              <a:lnSpc>
                <a:spcPct val="120000"/>
              </a:lnSpc>
              <a:spcBef>
                <a:spcPct val="5000"/>
              </a:spcBef>
              <a:spcAft>
                <a:spcPct val="5000"/>
              </a:spcAft>
              <a:buClr>
                <a:srgbClr val="C00000"/>
              </a:buClr>
              <a:buFontTx/>
              <a:buChar char="•"/>
            </a:pPr>
            <a:r>
              <a:rPr kumimoji="1" lang="zh-CN" altLang="en-US" sz="2400" b="1" dirty="0">
                <a:solidFill>
                  <a:srgbClr val="000066"/>
                </a:solidFill>
                <a:latin typeface="幼圆" pitchFamily="49" charset="-122"/>
                <a:ea typeface="幼圆" pitchFamily="49" charset="-122"/>
              </a:rPr>
              <a:t> 室内击实试验</a:t>
            </a:r>
          </a:p>
          <a:p>
            <a:pPr lvl="1" eaLnBrk="1" hangingPunct="1">
              <a:lnSpc>
                <a:spcPct val="120000"/>
              </a:lnSpc>
              <a:spcBef>
                <a:spcPct val="5000"/>
              </a:spcBef>
              <a:spcAft>
                <a:spcPct val="5000"/>
              </a:spcAft>
              <a:buClr>
                <a:srgbClr val="C00000"/>
              </a:buClr>
              <a:buFontTx/>
              <a:buChar char="•"/>
            </a:pPr>
            <a:r>
              <a:rPr kumimoji="1" lang="zh-CN" altLang="en-US" sz="2400" b="1" dirty="0">
                <a:solidFill>
                  <a:srgbClr val="000066"/>
                </a:solidFill>
                <a:latin typeface="幼圆" pitchFamily="49" charset="-122"/>
                <a:ea typeface="幼圆" pitchFamily="49" charset="-122"/>
              </a:rPr>
              <a:t> 现场试验</a:t>
            </a:r>
            <a:r>
              <a:rPr kumimoji="1" lang="en-US" altLang="zh-CN" sz="2400" b="1" dirty="0">
                <a:solidFill>
                  <a:srgbClr val="000066"/>
                </a:solidFill>
                <a:latin typeface="幼圆" pitchFamily="49" charset="-122"/>
                <a:ea typeface="幼圆" pitchFamily="49" charset="-122"/>
              </a:rPr>
              <a:t>: </a:t>
            </a:r>
            <a:r>
              <a:rPr kumimoji="1" lang="zh-CN" altLang="en-US" sz="2400" b="1" dirty="0">
                <a:solidFill>
                  <a:srgbClr val="000066"/>
                </a:solidFill>
                <a:latin typeface="幼圆" pitchFamily="49" charset="-122"/>
                <a:ea typeface="幼圆" pitchFamily="49" charset="-122"/>
              </a:rPr>
              <a:t>夯打、振动、</a:t>
            </a:r>
            <a:r>
              <a:rPr kumimoji="1" lang="zh-CN" altLang="en-US" sz="2400" b="1" dirty="0" smtClean="0">
                <a:solidFill>
                  <a:srgbClr val="000066"/>
                </a:solidFill>
                <a:latin typeface="幼圆" pitchFamily="49" charset="-122"/>
                <a:ea typeface="幼圆" pitchFamily="49" charset="-122"/>
              </a:rPr>
              <a:t>碾压试验</a:t>
            </a:r>
            <a:endParaRPr lang="zh-CN" altLang="en-US" sz="2400" dirty="0">
              <a:solidFill>
                <a:srgbClr val="000066"/>
              </a:solidFill>
              <a:latin typeface="幼圆" pitchFamily="49" charset="-122"/>
              <a:ea typeface="幼圆" pitchFamily="49" charset="-122"/>
            </a:endParaRPr>
          </a:p>
        </p:txBody>
      </p:sp>
      <p:sp>
        <p:nvSpPr>
          <p:cNvPr id="89092" name="Text Box 4"/>
          <p:cNvSpPr txBox="1">
            <a:spLocks noChangeArrowheads="1"/>
          </p:cNvSpPr>
          <p:nvPr/>
        </p:nvSpPr>
        <p:spPr bwMode="auto">
          <a:xfrm>
            <a:off x="3216457" y="5742202"/>
            <a:ext cx="27320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ea typeface="黑体" pitchFamily="2" charset="-122"/>
              </a:rPr>
              <a:t>土的压实性</a:t>
            </a:r>
          </a:p>
        </p:txBody>
      </p:sp>
      <p:sp>
        <p:nvSpPr>
          <p:cNvPr id="5"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室内</a:t>
            </a:r>
            <a:r>
              <a:rPr lang="zh-CN" altLang="en-US" sz="2000" b="1" kern="900" spc="-140" dirty="0">
                <a:solidFill>
                  <a:srgbClr val="C00000"/>
                </a:solidFill>
                <a:latin typeface="宋体" pitchFamily="2" charset="-122"/>
              </a:rPr>
              <a:t>击实试验</a:t>
            </a:r>
          </a:p>
        </p:txBody>
      </p:sp>
    </p:spTree>
    <p:extLst>
      <p:ext uri="{BB962C8B-B14F-4D97-AF65-F5344CB8AC3E}">
        <p14:creationId xmlns:p14="http://schemas.microsoft.com/office/powerpoint/2010/main" val="4582417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1423363">
                                            <p:txEl>
                                              <p:pRg st="0" end="0"/>
                                            </p:txEl>
                                          </p:spTgt>
                                        </p:tgtEl>
                                        <p:attrNameLst>
                                          <p:attrName>style.visibility</p:attrName>
                                        </p:attrNameLst>
                                      </p:cBhvr>
                                      <p:to>
                                        <p:strVal val="visible"/>
                                      </p:to>
                                    </p:set>
                                    <p:anim calcmode="lin" valueType="num">
                                      <p:cBhvr additive="base">
                                        <p:cTn id="7" dur="1000" fill="hold"/>
                                        <p:tgtEl>
                                          <p:spTgt spid="1423363">
                                            <p:txEl>
                                              <p:pRg st="0" end="0"/>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142336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2" presetClass="entr" presetSubtype="2" fill="hold" grpId="0" nodeType="afterEffect">
                                  <p:stCondLst>
                                    <p:cond delay="0"/>
                                  </p:stCondLst>
                                  <p:childTnLst>
                                    <p:set>
                                      <p:cBhvr>
                                        <p:cTn id="11" dur="1" fill="hold">
                                          <p:stCondLst>
                                            <p:cond delay="0"/>
                                          </p:stCondLst>
                                        </p:cTn>
                                        <p:tgtEl>
                                          <p:spTgt spid="1423363">
                                            <p:txEl>
                                              <p:pRg st="1" end="1"/>
                                            </p:txEl>
                                          </p:spTgt>
                                        </p:tgtEl>
                                        <p:attrNameLst>
                                          <p:attrName>style.visibility</p:attrName>
                                        </p:attrNameLst>
                                      </p:cBhvr>
                                      <p:to>
                                        <p:strVal val="visible"/>
                                      </p:to>
                                    </p:set>
                                    <p:anim calcmode="lin" valueType="num">
                                      <p:cBhvr additive="base">
                                        <p:cTn id="12" dur="1000" fill="hold"/>
                                        <p:tgtEl>
                                          <p:spTgt spid="1423363">
                                            <p:txEl>
                                              <p:pRg st="1" end="1"/>
                                            </p:txEl>
                                          </p:spTgt>
                                        </p:tgtEl>
                                        <p:attrNameLst>
                                          <p:attrName>ppt_x</p:attrName>
                                        </p:attrNameLst>
                                      </p:cBhvr>
                                      <p:tavLst>
                                        <p:tav tm="0">
                                          <p:val>
                                            <p:strVal val="1+#ppt_w/2"/>
                                          </p:val>
                                        </p:tav>
                                        <p:tav tm="100000">
                                          <p:val>
                                            <p:strVal val="#ppt_x"/>
                                          </p:val>
                                        </p:tav>
                                      </p:tavLst>
                                    </p:anim>
                                    <p:anim calcmode="lin" valueType="num">
                                      <p:cBhvr additive="base">
                                        <p:cTn id="13" dur="1000" fill="hold"/>
                                        <p:tgtEl>
                                          <p:spTgt spid="1423363">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2000"/>
                            </p:stCondLst>
                            <p:childTnLst>
                              <p:par>
                                <p:cTn id="15" presetID="2" presetClass="entr" presetSubtype="2" fill="hold" grpId="0" nodeType="afterEffect">
                                  <p:stCondLst>
                                    <p:cond delay="0"/>
                                  </p:stCondLst>
                                  <p:childTnLst>
                                    <p:set>
                                      <p:cBhvr>
                                        <p:cTn id="16" dur="1" fill="hold">
                                          <p:stCondLst>
                                            <p:cond delay="0"/>
                                          </p:stCondLst>
                                        </p:cTn>
                                        <p:tgtEl>
                                          <p:spTgt spid="1423363">
                                            <p:txEl>
                                              <p:pRg st="2" end="2"/>
                                            </p:txEl>
                                          </p:spTgt>
                                        </p:tgtEl>
                                        <p:attrNameLst>
                                          <p:attrName>style.visibility</p:attrName>
                                        </p:attrNameLst>
                                      </p:cBhvr>
                                      <p:to>
                                        <p:strVal val="visible"/>
                                      </p:to>
                                    </p:set>
                                    <p:anim calcmode="lin" valueType="num">
                                      <p:cBhvr additive="base">
                                        <p:cTn id="17" dur="1000" fill="hold"/>
                                        <p:tgtEl>
                                          <p:spTgt spid="1423363">
                                            <p:txEl>
                                              <p:pRg st="2" end="2"/>
                                            </p:txEl>
                                          </p:spTgt>
                                        </p:tgtEl>
                                        <p:attrNameLst>
                                          <p:attrName>ppt_x</p:attrName>
                                        </p:attrNameLst>
                                      </p:cBhvr>
                                      <p:tavLst>
                                        <p:tav tm="0">
                                          <p:val>
                                            <p:strVal val="1+#ppt_w/2"/>
                                          </p:val>
                                        </p:tav>
                                        <p:tav tm="100000">
                                          <p:val>
                                            <p:strVal val="#ppt_x"/>
                                          </p:val>
                                        </p:tav>
                                      </p:tavLst>
                                    </p:anim>
                                    <p:anim calcmode="lin" valueType="num">
                                      <p:cBhvr additive="base">
                                        <p:cTn id="18" dur="1000" fill="hold"/>
                                        <p:tgtEl>
                                          <p:spTgt spid="1423363">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3000"/>
                            </p:stCondLst>
                            <p:childTnLst>
                              <p:par>
                                <p:cTn id="20" presetID="2" presetClass="entr" presetSubtype="2" fill="hold" grpId="0" nodeType="afterEffect">
                                  <p:stCondLst>
                                    <p:cond delay="0"/>
                                  </p:stCondLst>
                                  <p:childTnLst>
                                    <p:set>
                                      <p:cBhvr>
                                        <p:cTn id="21" dur="1" fill="hold">
                                          <p:stCondLst>
                                            <p:cond delay="0"/>
                                          </p:stCondLst>
                                        </p:cTn>
                                        <p:tgtEl>
                                          <p:spTgt spid="1423363">
                                            <p:txEl>
                                              <p:pRg st="3" end="3"/>
                                            </p:txEl>
                                          </p:spTgt>
                                        </p:tgtEl>
                                        <p:attrNameLst>
                                          <p:attrName>style.visibility</p:attrName>
                                        </p:attrNameLst>
                                      </p:cBhvr>
                                      <p:to>
                                        <p:strVal val="visible"/>
                                      </p:to>
                                    </p:set>
                                    <p:anim calcmode="lin" valueType="num">
                                      <p:cBhvr additive="base">
                                        <p:cTn id="22" dur="1000" fill="hold"/>
                                        <p:tgtEl>
                                          <p:spTgt spid="1423363">
                                            <p:txEl>
                                              <p:pRg st="3" end="3"/>
                                            </p:txEl>
                                          </p:spTgt>
                                        </p:tgtEl>
                                        <p:attrNameLst>
                                          <p:attrName>ppt_x</p:attrName>
                                        </p:attrNameLst>
                                      </p:cBhvr>
                                      <p:tavLst>
                                        <p:tav tm="0">
                                          <p:val>
                                            <p:strVal val="1+#ppt_w/2"/>
                                          </p:val>
                                        </p:tav>
                                        <p:tav tm="100000">
                                          <p:val>
                                            <p:strVal val="#ppt_x"/>
                                          </p:val>
                                        </p:tav>
                                      </p:tavLst>
                                    </p:anim>
                                    <p:anim calcmode="lin" valueType="num">
                                      <p:cBhvr additive="base">
                                        <p:cTn id="23" dur="1000" fill="hold"/>
                                        <p:tgtEl>
                                          <p:spTgt spid="1423363">
                                            <p:txEl>
                                              <p:pRg st="3" end="3"/>
                                            </p:txEl>
                                          </p:spTgt>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4000"/>
                            </p:stCondLst>
                            <p:childTnLst>
                              <p:par>
                                <p:cTn id="25" presetID="2" presetClass="entr" presetSubtype="2" fill="hold" grpId="0" nodeType="afterEffect">
                                  <p:stCondLst>
                                    <p:cond delay="0"/>
                                  </p:stCondLst>
                                  <p:childTnLst>
                                    <p:set>
                                      <p:cBhvr>
                                        <p:cTn id="26" dur="1" fill="hold">
                                          <p:stCondLst>
                                            <p:cond delay="0"/>
                                          </p:stCondLst>
                                        </p:cTn>
                                        <p:tgtEl>
                                          <p:spTgt spid="1423363">
                                            <p:txEl>
                                              <p:pRg st="4" end="4"/>
                                            </p:txEl>
                                          </p:spTgt>
                                        </p:tgtEl>
                                        <p:attrNameLst>
                                          <p:attrName>style.visibility</p:attrName>
                                        </p:attrNameLst>
                                      </p:cBhvr>
                                      <p:to>
                                        <p:strVal val="visible"/>
                                      </p:to>
                                    </p:set>
                                    <p:anim calcmode="lin" valueType="num">
                                      <p:cBhvr additive="base">
                                        <p:cTn id="27" dur="1000" fill="hold"/>
                                        <p:tgtEl>
                                          <p:spTgt spid="1423363">
                                            <p:txEl>
                                              <p:pRg st="4" end="4"/>
                                            </p:txEl>
                                          </p:spTgt>
                                        </p:tgtEl>
                                        <p:attrNameLst>
                                          <p:attrName>ppt_x</p:attrName>
                                        </p:attrNameLst>
                                      </p:cBhvr>
                                      <p:tavLst>
                                        <p:tav tm="0">
                                          <p:val>
                                            <p:strVal val="1+#ppt_w/2"/>
                                          </p:val>
                                        </p:tav>
                                        <p:tav tm="100000">
                                          <p:val>
                                            <p:strVal val="#ppt_x"/>
                                          </p:val>
                                        </p:tav>
                                      </p:tavLst>
                                    </p:anim>
                                    <p:anim calcmode="lin" valueType="num">
                                      <p:cBhvr additive="base">
                                        <p:cTn id="28" dur="1000" fill="hold"/>
                                        <p:tgtEl>
                                          <p:spTgt spid="1423363">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423363">
                                            <p:txEl>
                                              <p:pRg st="5" end="5"/>
                                            </p:txEl>
                                          </p:spTgt>
                                        </p:tgtEl>
                                        <p:attrNameLst>
                                          <p:attrName>style.visibility</p:attrName>
                                        </p:attrNameLst>
                                      </p:cBhvr>
                                      <p:to>
                                        <p:strVal val="visible"/>
                                      </p:to>
                                    </p:set>
                                    <p:anim calcmode="lin" valueType="num">
                                      <p:cBhvr additive="base">
                                        <p:cTn id="31" dur="1000" fill="hold"/>
                                        <p:tgtEl>
                                          <p:spTgt spid="1423363">
                                            <p:txEl>
                                              <p:pRg st="5" end="5"/>
                                            </p:txEl>
                                          </p:spTgt>
                                        </p:tgtEl>
                                        <p:attrNameLst>
                                          <p:attrName>ppt_x</p:attrName>
                                        </p:attrNameLst>
                                      </p:cBhvr>
                                      <p:tavLst>
                                        <p:tav tm="0">
                                          <p:val>
                                            <p:strVal val="1+#ppt_w/2"/>
                                          </p:val>
                                        </p:tav>
                                        <p:tav tm="100000">
                                          <p:val>
                                            <p:strVal val="#ppt_x"/>
                                          </p:val>
                                        </p:tav>
                                      </p:tavLst>
                                    </p:anim>
                                    <p:anim calcmode="lin" valueType="num">
                                      <p:cBhvr additive="base">
                                        <p:cTn id="32" dur="1000" fill="hold"/>
                                        <p:tgtEl>
                                          <p:spTgt spid="142336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63" grpId="0" uiExpand="1"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2356" name="Rectangle 20"/>
          <p:cNvSpPr>
            <a:spLocks noChangeArrowheads="1"/>
          </p:cNvSpPr>
          <p:nvPr/>
        </p:nvSpPr>
        <p:spPr bwMode="auto">
          <a:xfrm>
            <a:off x="7575125" y="5421313"/>
            <a:ext cx="973137" cy="503237"/>
          </a:xfrm>
          <a:prstGeom prst="rect">
            <a:avLst/>
          </a:prstGeom>
          <a:solidFill>
            <a:schemeClr val="accent6">
              <a:lumMod val="75000"/>
            </a:schemeClr>
          </a:solidFill>
          <a:ln w="38100" algn="ctr">
            <a:noFill/>
            <a:miter lim="800000"/>
            <a:headEnd/>
            <a:tailEnd/>
          </a:ln>
        </p:spPr>
        <p:txBody>
          <a:bodyPr wrap="square" lIns="0" tIns="0" rIns="0" bIns="0" anchor="ctr">
            <a:spAutoFit/>
          </a:bodyPr>
          <a:lstStyle/>
          <a:p>
            <a:endParaRPr lang="zh-CN" altLang="en-US"/>
          </a:p>
        </p:txBody>
      </p:sp>
      <p:sp>
        <p:nvSpPr>
          <p:cNvPr id="16388" name="Text Box 3"/>
          <p:cNvSpPr txBox="1">
            <a:spLocks noChangeArrowheads="1"/>
          </p:cNvSpPr>
          <p:nvPr/>
        </p:nvSpPr>
        <p:spPr bwMode="auto">
          <a:xfrm>
            <a:off x="2473325" y="5729288"/>
            <a:ext cx="450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4000" b="1" dirty="0">
                <a:solidFill>
                  <a:srgbClr val="000066"/>
                </a:solidFill>
                <a:latin typeface="黑体" pitchFamily="2" charset="-122"/>
                <a:ea typeface="黑体" pitchFamily="2" charset="-122"/>
              </a:rPr>
              <a:t>室内标准击实试验 </a:t>
            </a:r>
          </a:p>
        </p:txBody>
      </p:sp>
      <p:sp>
        <p:nvSpPr>
          <p:cNvPr id="1422340" name="Rectangle 4"/>
          <p:cNvSpPr>
            <a:spLocks noChangeArrowheads="1"/>
          </p:cNvSpPr>
          <p:nvPr/>
        </p:nvSpPr>
        <p:spPr bwMode="auto">
          <a:xfrm>
            <a:off x="420720" y="645996"/>
            <a:ext cx="7366000" cy="2843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35000"/>
              </a:spcBef>
              <a:spcAft>
                <a:spcPct val="0"/>
              </a:spcAft>
              <a:buClr>
                <a:srgbClr val="A50021"/>
              </a:buClr>
              <a:buSzPct val="135000"/>
              <a:buFont typeface="Wingdings" pitchFamily="2" charset="2"/>
              <a:buChar char="F"/>
            </a:pPr>
            <a:r>
              <a:rPr kumimoji="1" lang="zh-CN" altLang="en-US" sz="2400" b="1" dirty="0">
                <a:solidFill>
                  <a:srgbClr val="000066"/>
                </a:solidFill>
                <a:cs typeface="Times New Roman" panose="02020603050405020304" pitchFamily="18" charset="0"/>
              </a:rPr>
              <a:t> </a:t>
            </a:r>
            <a:r>
              <a:rPr kumimoji="1" lang="zh-CN" altLang="en-US" sz="2400" b="1" dirty="0">
                <a:solidFill>
                  <a:srgbClr val="C00000"/>
                </a:solidFill>
                <a:ea typeface="幼圆" pitchFamily="49" charset="-122"/>
                <a:cs typeface="Times New Roman" panose="02020603050405020304" pitchFamily="18" charset="0"/>
              </a:rPr>
              <a:t>试验设备</a:t>
            </a:r>
            <a:r>
              <a:rPr kumimoji="1" lang="zh-CN" altLang="en-US" sz="2400" b="1" dirty="0">
                <a:solidFill>
                  <a:srgbClr val="000066"/>
                </a:solidFill>
                <a:ea typeface="幼圆" pitchFamily="49" charset="-122"/>
                <a:cs typeface="Times New Roman" panose="02020603050405020304" pitchFamily="18" charset="0"/>
              </a:rPr>
              <a:t>：击实</a:t>
            </a:r>
            <a:r>
              <a:rPr kumimoji="1" lang="zh-CN" altLang="en-US" sz="2400" b="1" dirty="0" smtClean="0">
                <a:solidFill>
                  <a:srgbClr val="000066"/>
                </a:solidFill>
                <a:ea typeface="幼圆" pitchFamily="49" charset="-122"/>
                <a:cs typeface="Times New Roman" panose="02020603050405020304" pitchFamily="18" charset="0"/>
              </a:rPr>
              <a:t>筒体积</a:t>
            </a:r>
            <a:r>
              <a:rPr kumimoji="1" lang="en-US" altLang="zh-CN" sz="2400" b="1" i="1" dirty="0" smtClean="0">
                <a:solidFill>
                  <a:srgbClr val="000066"/>
                </a:solidFill>
                <a:ea typeface="幼圆" pitchFamily="49" charset="-122"/>
                <a:cs typeface="Times New Roman" panose="02020603050405020304" pitchFamily="18" charset="0"/>
              </a:rPr>
              <a:t>V</a:t>
            </a:r>
            <a:r>
              <a:rPr kumimoji="1" lang="en-US" altLang="zh-CN" sz="2400" b="1" dirty="0" smtClean="0">
                <a:solidFill>
                  <a:srgbClr val="000066"/>
                </a:solidFill>
                <a:ea typeface="幼圆" pitchFamily="49" charset="-122"/>
                <a:cs typeface="Times New Roman" panose="02020603050405020304" pitchFamily="18" charset="0"/>
              </a:rPr>
              <a:t>=947.4</a:t>
            </a:r>
            <a:r>
              <a:rPr kumimoji="1" lang="en-US" altLang="zh-CN" sz="2400" b="1" dirty="0" smtClean="0">
                <a:solidFill>
                  <a:srgbClr val="000066"/>
                </a:solidFill>
                <a:cs typeface="Times New Roman" panose="02020603050405020304" pitchFamily="18" charset="0"/>
              </a:rPr>
              <a:t>cm</a:t>
            </a:r>
            <a:r>
              <a:rPr kumimoji="1" lang="en-US" altLang="zh-CN" sz="2400" b="1" baseline="30000" dirty="0" smtClean="0">
                <a:solidFill>
                  <a:srgbClr val="000066"/>
                </a:solidFill>
                <a:cs typeface="Times New Roman" panose="02020603050405020304" pitchFamily="18" charset="0"/>
              </a:rPr>
              <a:t>3</a:t>
            </a:r>
            <a:r>
              <a:rPr kumimoji="1" lang="zh-CN" altLang="en-US" sz="2400" b="1" dirty="0" smtClean="0">
                <a:solidFill>
                  <a:srgbClr val="000066"/>
                </a:solidFill>
                <a:ea typeface="幼圆" pitchFamily="49" charset="-122"/>
                <a:cs typeface="Times New Roman" panose="02020603050405020304" pitchFamily="18" charset="0"/>
              </a:rPr>
              <a:t>；</a:t>
            </a:r>
            <a:r>
              <a:rPr kumimoji="1" lang="en-US" altLang="zh-CN" sz="2400" b="1" dirty="0" smtClean="0">
                <a:solidFill>
                  <a:srgbClr val="000066"/>
                </a:solidFill>
                <a:ea typeface="幼圆" pitchFamily="49" charset="-122"/>
                <a:cs typeface="Times New Roman" panose="02020603050405020304" pitchFamily="18" charset="0"/>
              </a:rPr>
              <a:t/>
            </a:r>
            <a:br>
              <a:rPr kumimoji="1" lang="en-US" altLang="zh-CN" sz="2400" b="1" dirty="0" smtClean="0">
                <a:solidFill>
                  <a:srgbClr val="000066"/>
                </a:solidFill>
                <a:ea typeface="幼圆" pitchFamily="49" charset="-122"/>
                <a:cs typeface="Times New Roman" panose="02020603050405020304" pitchFamily="18" charset="0"/>
              </a:rPr>
            </a:br>
            <a:r>
              <a:rPr kumimoji="1" lang="en-US" altLang="zh-CN" sz="2400" b="1" dirty="0" smtClean="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击</a:t>
            </a:r>
            <a:r>
              <a:rPr kumimoji="1" lang="zh-CN" altLang="en-US" sz="2400" b="1" dirty="0">
                <a:solidFill>
                  <a:srgbClr val="000066"/>
                </a:solidFill>
                <a:ea typeface="幼圆" pitchFamily="49" charset="-122"/>
                <a:cs typeface="Times New Roman" panose="02020603050405020304" pitchFamily="18" charset="0"/>
              </a:rPr>
              <a:t>实</a:t>
            </a:r>
            <a:r>
              <a:rPr kumimoji="1" lang="zh-CN" altLang="en-US" sz="2400" b="1" dirty="0" smtClean="0">
                <a:solidFill>
                  <a:srgbClr val="000066"/>
                </a:solidFill>
                <a:ea typeface="幼圆" pitchFamily="49" charset="-122"/>
                <a:cs typeface="Times New Roman" panose="02020603050405020304" pitchFamily="18" charset="0"/>
              </a:rPr>
              <a:t>锤质量</a:t>
            </a:r>
            <a:r>
              <a:rPr kumimoji="1" lang="en-US" altLang="zh-CN" sz="2400" b="1" i="1" dirty="0" smtClean="0">
                <a:solidFill>
                  <a:srgbClr val="000066"/>
                </a:solidFill>
                <a:ea typeface="幼圆" pitchFamily="49" charset="-122"/>
                <a:cs typeface="Times New Roman" panose="02020603050405020304" pitchFamily="18" charset="0"/>
              </a:rPr>
              <a:t>W</a:t>
            </a:r>
            <a:r>
              <a:rPr kumimoji="1" lang="en-US" altLang="zh-CN" sz="2400" b="1" dirty="0" smtClean="0">
                <a:solidFill>
                  <a:srgbClr val="000066"/>
                </a:solidFill>
                <a:cs typeface="Times New Roman" panose="02020603050405020304" pitchFamily="18" charset="0"/>
              </a:rPr>
              <a:t>=2.5kg</a:t>
            </a:r>
            <a:endParaRPr kumimoji="1" lang="zh-CN" altLang="en-US" sz="2400" b="1" dirty="0">
              <a:solidFill>
                <a:srgbClr val="000066"/>
              </a:solidFill>
              <a:cs typeface="Times New Roman" panose="02020603050405020304" pitchFamily="18" charset="0"/>
            </a:endParaRPr>
          </a:p>
          <a:p>
            <a:pPr>
              <a:spcBef>
                <a:spcPct val="10000"/>
              </a:spcBef>
              <a:spcAft>
                <a:spcPct val="10000"/>
              </a:spcAft>
              <a:buClr>
                <a:srgbClr val="A50021"/>
              </a:buClr>
              <a:buSzPct val="135000"/>
              <a:buFont typeface="Wingdings" pitchFamily="2" charset="2"/>
              <a:buChar char="F"/>
            </a:pPr>
            <a:r>
              <a:rPr kumimoji="1" lang="zh-CN" altLang="en-US" sz="2400" b="1" dirty="0">
                <a:solidFill>
                  <a:srgbClr val="000066"/>
                </a:solidFill>
                <a:cs typeface="Times New Roman" panose="02020603050405020304" pitchFamily="18" charset="0"/>
              </a:rPr>
              <a:t> </a:t>
            </a:r>
            <a:r>
              <a:rPr kumimoji="1" lang="zh-CN" altLang="en-US" sz="2400" b="1" dirty="0">
                <a:solidFill>
                  <a:srgbClr val="C00000"/>
                </a:solidFill>
                <a:ea typeface="幼圆" pitchFamily="49" charset="-122"/>
                <a:cs typeface="Times New Roman" panose="02020603050405020304" pitchFamily="18" charset="0"/>
              </a:rPr>
              <a:t>试验条件</a:t>
            </a:r>
            <a:r>
              <a:rPr kumimoji="1" lang="zh-CN" altLang="en-US" sz="2400" b="1" dirty="0">
                <a:solidFill>
                  <a:srgbClr val="000066"/>
                </a:solidFill>
                <a:ea typeface="幼圆" pitchFamily="49" charset="-122"/>
                <a:cs typeface="Times New Roman" panose="02020603050405020304" pitchFamily="18" charset="0"/>
              </a:rPr>
              <a:t>：土样分层</a:t>
            </a:r>
            <a:r>
              <a:rPr kumimoji="1" lang="en-US" altLang="zh-CN" sz="2400" b="1" i="1" dirty="0">
                <a:solidFill>
                  <a:srgbClr val="000066"/>
                </a:solidFill>
                <a:cs typeface="Times New Roman" panose="02020603050405020304" pitchFamily="18" charset="0"/>
              </a:rPr>
              <a:t>n</a:t>
            </a:r>
            <a:r>
              <a:rPr kumimoji="1" lang="en-US" altLang="zh-CN" sz="2400" b="1" dirty="0">
                <a:solidFill>
                  <a:srgbClr val="000066"/>
                </a:solidFill>
                <a:cs typeface="Times New Roman" panose="02020603050405020304" pitchFamily="18" charset="0"/>
              </a:rPr>
              <a:t>=3</a:t>
            </a:r>
            <a:r>
              <a:rPr kumimoji="1" lang="zh-CN" altLang="en-US" sz="2400" b="1" dirty="0" smtClean="0">
                <a:solidFill>
                  <a:srgbClr val="000066"/>
                </a:solidFill>
                <a:ea typeface="幼圆" pitchFamily="49" charset="-122"/>
                <a:cs typeface="Times New Roman" panose="02020603050405020304" pitchFamily="18" charset="0"/>
              </a:rPr>
              <a:t>层，</a:t>
            </a:r>
            <a:r>
              <a:rPr kumimoji="1" lang="en-US" altLang="zh-CN" sz="2400" b="1" dirty="0" smtClean="0">
                <a:solidFill>
                  <a:srgbClr val="000066"/>
                </a:solidFill>
                <a:ea typeface="幼圆" pitchFamily="49" charset="-122"/>
                <a:cs typeface="Times New Roman" panose="02020603050405020304" pitchFamily="18" charset="0"/>
              </a:rPr>
              <a:t/>
            </a:r>
            <a:br>
              <a:rPr kumimoji="1" lang="en-US" altLang="zh-CN" sz="2400" b="1" dirty="0" smtClean="0">
                <a:solidFill>
                  <a:srgbClr val="000066"/>
                </a:solidFill>
                <a:ea typeface="幼圆" pitchFamily="49" charset="-122"/>
                <a:cs typeface="Times New Roman" panose="02020603050405020304" pitchFamily="18" charset="0"/>
              </a:rPr>
            </a:br>
            <a:r>
              <a:rPr kumimoji="1" lang="en-US" altLang="zh-CN" sz="2400" b="1" dirty="0" smtClean="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落</a:t>
            </a:r>
            <a:r>
              <a:rPr kumimoji="1" lang="zh-CN" altLang="en-US" sz="2400" b="1" dirty="0">
                <a:solidFill>
                  <a:srgbClr val="000066"/>
                </a:solidFill>
                <a:ea typeface="幼圆" pitchFamily="49" charset="-122"/>
                <a:cs typeface="Times New Roman" panose="02020603050405020304" pitchFamily="18" charset="0"/>
              </a:rPr>
              <a:t>高</a:t>
            </a:r>
            <a:r>
              <a:rPr kumimoji="1" lang="en-US" altLang="zh-CN" sz="2400" b="1" i="1" dirty="0" smtClean="0">
                <a:solidFill>
                  <a:srgbClr val="000066"/>
                </a:solidFill>
                <a:cs typeface="Times New Roman" panose="02020603050405020304" pitchFamily="18" charset="0"/>
              </a:rPr>
              <a:t>d</a:t>
            </a:r>
            <a:r>
              <a:rPr kumimoji="1" lang="en-US" altLang="zh-CN" sz="2400" b="1" dirty="0" smtClean="0">
                <a:solidFill>
                  <a:srgbClr val="000066"/>
                </a:solidFill>
                <a:cs typeface="Times New Roman" panose="02020603050405020304" pitchFamily="18" charset="0"/>
              </a:rPr>
              <a:t>=30.5cm</a:t>
            </a:r>
            <a:r>
              <a:rPr kumimoji="1" lang="zh-CN" altLang="en-US" sz="2400" b="1" dirty="0" smtClean="0">
                <a:solidFill>
                  <a:srgbClr val="000066"/>
                </a:solidFill>
                <a:cs typeface="Times New Roman" panose="02020603050405020304" pitchFamily="18" charset="0"/>
              </a:rPr>
              <a:t>，</a:t>
            </a:r>
            <a:r>
              <a:rPr kumimoji="1" lang="zh-CN" altLang="en-US" sz="2400" b="1" dirty="0" smtClean="0">
                <a:solidFill>
                  <a:srgbClr val="000066"/>
                </a:solidFill>
                <a:ea typeface="幼圆" pitchFamily="49" charset="-122"/>
                <a:cs typeface="Times New Roman" panose="02020603050405020304" pitchFamily="18" charset="0"/>
              </a:rPr>
              <a:t> </a:t>
            </a:r>
            <a:r>
              <a:rPr kumimoji="1" lang="en-US" altLang="zh-CN" sz="2400" b="1" dirty="0" smtClean="0">
                <a:solidFill>
                  <a:srgbClr val="000066"/>
                </a:solidFill>
                <a:ea typeface="幼圆" pitchFamily="49" charset="-122"/>
                <a:cs typeface="Times New Roman" panose="02020603050405020304" pitchFamily="18" charset="0"/>
              </a:rPr>
              <a:t/>
            </a:r>
            <a:br>
              <a:rPr kumimoji="1" lang="en-US" altLang="zh-CN" sz="2400" b="1" dirty="0" smtClean="0">
                <a:solidFill>
                  <a:srgbClr val="000066"/>
                </a:solidFill>
                <a:ea typeface="幼圆" pitchFamily="49" charset="-122"/>
                <a:cs typeface="Times New Roman" panose="02020603050405020304" pitchFamily="18" charset="0"/>
              </a:rPr>
            </a:br>
            <a:r>
              <a:rPr kumimoji="1" lang="en-US" altLang="zh-CN" sz="2400" b="1" dirty="0" smtClean="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击</a:t>
            </a:r>
            <a:r>
              <a:rPr kumimoji="1" lang="zh-CN" altLang="en-US" sz="2400" b="1" dirty="0">
                <a:solidFill>
                  <a:srgbClr val="000066"/>
                </a:solidFill>
                <a:ea typeface="幼圆" pitchFamily="49" charset="-122"/>
                <a:cs typeface="Times New Roman" panose="02020603050405020304" pitchFamily="18" charset="0"/>
              </a:rPr>
              <a:t>数</a:t>
            </a:r>
            <a:r>
              <a:rPr kumimoji="1" lang="en-US" altLang="zh-CN" sz="2400" b="1" i="1" dirty="0" smtClean="0">
                <a:solidFill>
                  <a:srgbClr val="000066"/>
                </a:solidFill>
                <a:cs typeface="Times New Roman" panose="02020603050405020304" pitchFamily="18" charset="0"/>
              </a:rPr>
              <a:t>N</a:t>
            </a:r>
            <a:r>
              <a:rPr kumimoji="1" lang="en-US" altLang="zh-CN" sz="2400" b="1" dirty="0" smtClean="0">
                <a:solidFill>
                  <a:srgbClr val="000066"/>
                </a:solidFill>
                <a:cs typeface="Times New Roman" panose="02020603050405020304" pitchFamily="18" charset="0"/>
              </a:rPr>
              <a:t>=25</a:t>
            </a:r>
            <a:r>
              <a:rPr kumimoji="1" lang="en-US" altLang="zh-CN" sz="2400" b="1" dirty="0" smtClean="0">
                <a:solidFill>
                  <a:srgbClr val="000066"/>
                </a:solidFill>
                <a:ea typeface="幼圆" pitchFamily="49" charset="-122"/>
                <a:cs typeface="Times New Roman" panose="02020603050405020304" pitchFamily="18" charset="0"/>
              </a:rPr>
              <a:t>/</a:t>
            </a:r>
            <a:r>
              <a:rPr kumimoji="1" lang="zh-CN" altLang="en-US" sz="2400" b="1" dirty="0">
                <a:solidFill>
                  <a:srgbClr val="000066"/>
                </a:solidFill>
                <a:ea typeface="幼圆" pitchFamily="49" charset="-122"/>
                <a:cs typeface="Times New Roman" panose="02020603050405020304" pitchFamily="18" charset="0"/>
              </a:rPr>
              <a:t>层</a:t>
            </a:r>
          </a:p>
          <a:p>
            <a:pPr>
              <a:spcBef>
                <a:spcPct val="35000"/>
              </a:spcBef>
              <a:spcAft>
                <a:spcPct val="0"/>
              </a:spcAft>
              <a:buClr>
                <a:srgbClr val="A50021"/>
              </a:buClr>
              <a:buSzPct val="135000"/>
              <a:buFont typeface="Wingdings" pitchFamily="2" charset="2"/>
              <a:buChar char="F"/>
            </a:pPr>
            <a:r>
              <a:rPr kumimoji="1" lang="zh-CN" altLang="en-US" sz="2400" b="1" dirty="0">
                <a:solidFill>
                  <a:srgbClr val="000066"/>
                </a:solidFill>
                <a:cs typeface="Times New Roman" panose="02020603050405020304" pitchFamily="18" charset="0"/>
              </a:rPr>
              <a:t> </a:t>
            </a:r>
            <a:r>
              <a:rPr kumimoji="1" lang="zh-CN" altLang="en-US" sz="2400" b="1" dirty="0">
                <a:solidFill>
                  <a:srgbClr val="C00000"/>
                </a:solidFill>
                <a:ea typeface="幼圆" pitchFamily="49" charset="-122"/>
                <a:cs typeface="Times New Roman" panose="02020603050405020304" pitchFamily="18" charset="0"/>
              </a:rPr>
              <a:t>击实能量 </a:t>
            </a:r>
            <a:r>
              <a:rPr kumimoji="1" lang="zh-CN" altLang="en-US" sz="2400" b="1" dirty="0" smtClean="0">
                <a:solidFill>
                  <a:srgbClr val="000066"/>
                </a:solidFill>
                <a:ea typeface="幼圆" pitchFamily="49" charset="-122"/>
                <a:cs typeface="Times New Roman" panose="02020603050405020304" pitchFamily="18" charset="0"/>
              </a:rPr>
              <a:t>：</a:t>
            </a:r>
            <a:endParaRPr kumimoji="1" lang="zh-CN" altLang="en-US" sz="2400" b="1" dirty="0">
              <a:solidFill>
                <a:srgbClr val="000066"/>
              </a:solidFill>
              <a:ea typeface="幼圆" pitchFamily="49" charset="-122"/>
              <a:cs typeface="Times New Roman" panose="02020603050405020304" pitchFamily="18" charset="0"/>
            </a:endParaRPr>
          </a:p>
        </p:txBody>
      </p:sp>
      <p:sp>
        <p:nvSpPr>
          <p:cNvPr id="1422342" name="Rectangle 6"/>
          <p:cNvSpPr>
            <a:spLocks noChangeArrowheads="1"/>
          </p:cNvSpPr>
          <p:nvPr/>
        </p:nvSpPr>
        <p:spPr bwMode="auto">
          <a:xfrm>
            <a:off x="445161" y="4285245"/>
            <a:ext cx="558349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10000"/>
              </a:spcBef>
              <a:spcAft>
                <a:spcPct val="10000"/>
              </a:spcAft>
              <a:buClr>
                <a:srgbClr val="A50021"/>
              </a:buClr>
              <a:buSzPct val="135000"/>
              <a:buFont typeface="Wingdings" pitchFamily="2" charset="2"/>
              <a:buChar char="F"/>
            </a:pPr>
            <a:r>
              <a:rPr kumimoji="1" lang="zh-CN" altLang="en-US" sz="2400" b="1" dirty="0">
                <a:solidFill>
                  <a:srgbClr val="C00000"/>
                </a:solidFill>
                <a:ea typeface="幼圆" pitchFamily="49" charset="-122"/>
                <a:cs typeface="Times New Roman" panose="02020603050405020304" pitchFamily="18" charset="0"/>
              </a:rPr>
              <a:t>注意</a:t>
            </a:r>
            <a:r>
              <a:rPr kumimoji="1" lang="zh-CN" altLang="en-US" sz="2400" b="1" dirty="0">
                <a:solidFill>
                  <a:srgbClr val="000066"/>
                </a:solidFill>
                <a:ea typeface="幼圆" pitchFamily="49" charset="-122"/>
                <a:cs typeface="Times New Roman" panose="02020603050405020304" pitchFamily="18" charset="0"/>
              </a:rPr>
              <a:t>：标准</a:t>
            </a:r>
            <a:r>
              <a:rPr kumimoji="1" lang="zh-CN" altLang="en-US" sz="2400" b="1" dirty="0" smtClean="0">
                <a:solidFill>
                  <a:srgbClr val="000066"/>
                </a:solidFill>
                <a:ea typeface="幼圆" pitchFamily="49" charset="-122"/>
                <a:cs typeface="Times New Roman" panose="02020603050405020304" pitchFamily="18" charset="0"/>
              </a:rPr>
              <a:t>击实仪仅</a:t>
            </a:r>
            <a:r>
              <a:rPr kumimoji="1" lang="zh-CN" altLang="en-US" sz="2400" b="1" dirty="0">
                <a:solidFill>
                  <a:srgbClr val="000066"/>
                </a:solidFill>
                <a:ea typeface="幼圆" pitchFamily="49" charset="-122"/>
                <a:cs typeface="Times New Roman" panose="02020603050405020304" pitchFamily="18" charset="0"/>
              </a:rPr>
              <a:t>适用于</a:t>
            </a:r>
            <a:r>
              <a:rPr kumimoji="1" lang="zh-CN" altLang="en-US" sz="2400" b="1" dirty="0" smtClean="0">
                <a:solidFill>
                  <a:srgbClr val="000066"/>
                </a:solidFill>
                <a:ea typeface="幼圆" pitchFamily="49" charset="-122"/>
                <a:cs typeface="Times New Roman" panose="02020603050405020304" pitchFamily="18" charset="0"/>
              </a:rPr>
              <a:t>细粒土，</a:t>
            </a:r>
            <a:endParaRPr kumimoji="1" lang="zh-CN" altLang="en-US" sz="2400" b="1" dirty="0">
              <a:solidFill>
                <a:srgbClr val="000066"/>
              </a:solidFill>
              <a:ea typeface="幼圆" pitchFamily="49" charset="-122"/>
              <a:cs typeface="Times New Roman" panose="02020603050405020304" pitchFamily="18" charset="0"/>
            </a:endParaRPr>
          </a:p>
          <a:p>
            <a:pPr lvl="2">
              <a:spcBef>
                <a:spcPct val="10000"/>
              </a:spcBef>
              <a:spcAft>
                <a:spcPct val="10000"/>
              </a:spcAft>
              <a:buClr>
                <a:srgbClr val="A50021"/>
              </a:buClr>
              <a:buSzPct val="135000"/>
            </a:pPr>
            <a:r>
              <a:rPr kumimoji="1" lang="zh-CN" altLang="en-US" sz="2400" b="1" dirty="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粗粒土可用大</a:t>
            </a:r>
            <a:r>
              <a:rPr kumimoji="1" lang="zh-CN" altLang="en-US" sz="2400" b="1" dirty="0">
                <a:solidFill>
                  <a:srgbClr val="000066"/>
                </a:solidFill>
                <a:ea typeface="幼圆" pitchFamily="49" charset="-122"/>
                <a:cs typeface="Times New Roman" panose="02020603050405020304" pitchFamily="18" charset="0"/>
              </a:rPr>
              <a:t>尺寸的击实仪</a:t>
            </a:r>
            <a:endParaRPr kumimoji="1" lang="en-US" altLang="zh-CN" sz="2400" b="1" dirty="0">
              <a:solidFill>
                <a:srgbClr val="000066"/>
              </a:solidFill>
              <a:ea typeface="幼圆" pitchFamily="49" charset="-122"/>
              <a:cs typeface="Times New Roman" panose="02020603050405020304" pitchFamily="18" charset="0"/>
            </a:endParaRPr>
          </a:p>
        </p:txBody>
      </p:sp>
      <p:grpSp>
        <p:nvGrpSpPr>
          <p:cNvPr id="2" name="Group 7"/>
          <p:cNvGrpSpPr>
            <a:grpSpLocks/>
          </p:cNvGrpSpPr>
          <p:nvPr/>
        </p:nvGrpSpPr>
        <p:grpSpPr bwMode="auto">
          <a:xfrm>
            <a:off x="7354888" y="4700588"/>
            <a:ext cx="1439862" cy="1439862"/>
            <a:chOff x="1263" y="2160"/>
            <a:chExt cx="907" cy="907"/>
          </a:xfrm>
        </p:grpSpPr>
        <p:sp>
          <p:nvSpPr>
            <p:cNvPr id="16402" name="Line 8"/>
            <p:cNvSpPr>
              <a:spLocks noChangeShapeType="1"/>
            </p:cNvSpPr>
            <p:nvPr/>
          </p:nvSpPr>
          <p:spPr bwMode="auto">
            <a:xfrm flipV="1">
              <a:off x="1405" y="2160"/>
              <a:ext cx="0" cy="771"/>
            </a:xfrm>
            <a:prstGeom prst="line">
              <a:avLst/>
            </a:prstGeom>
            <a:noFill/>
            <a:ln w="38100">
              <a:solidFill>
                <a:schemeClr val="accent4">
                  <a:lumMod val="50000"/>
                </a:schemeClr>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403" name="Line 9"/>
            <p:cNvSpPr>
              <a:spLocks noChangeShapeType="1"/>
            </p:cNvSpPr>
            <p:nvPr/>
          </p:nvSpPr>
          <p:spPr bwMode="auto">
            <a:xfrm flipV="1">
              <a:off x="2018" y="2160"/>
              <a:ext cx="0" cy="771"/>
            </a:xfrm>
            <a:prstGeom prst="line">
              <a:avLst/>
            </a:prstGeom>
            <a:noFill/>
            <a:ln w="38100">
              <a:solidFill>
                <a:schemeClr val="accent4">
                  <a:lumMod val="50000"/>
                </a:schemeClr>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404" name="Rectangle 10"/>
            <p:cNvSpPr>
              <a:spLocks noChangeArrowheads="1"/>
            </p:cNvSpPr>
            <p:nvPr/>
          </p:nvSpPr>
          <p:spPr bwMode="auto">
            <a:xfrm>
              <a:off x="1263" y="2931"/>
              <a:ext cx="907" cy="136"/>
            </a:xfrm>
            <a:prstGeom prst="rect">
              <a:avLst/>
            </a:prstGeom>
            <a:solidFill>
              <a:schemeClr val="accent4">
                <a:lumMod val="50000"/>
              </a:schemeClr>
            </a:solidFill>
            <a:ln w="9525" algn="ctr">
              <a:solidFill>
                <a:schemeClr val="accent4">
                  <a:lumMod val="50000"/>
                </a:schemeClr>
              </a:solidFill>
              <a:miter lim="800000"/>
              <a:headEnd/>
              <a:tailEnd/>
            </a:ln>
          </p:spPr>
          <p:txBody>
            <a:bodyPr lIns="0" tIns="0" rIns="0" bIns="0" anchor="ctr">
              <a:spAutoFit/>
            </a:bodyPr>
            <a:lstStyle/>
            <a:p>
              <a:endParaRPr lang="zh-CN" altLang="en-US"/>
            </a:p>
          </p:txBody>
        </p:sp>
      </p:grpSp>
      <p:grpSp>
        <p:nvGrpSpPr>
          <p:cNvPr id="3" name="Group 11"/>
          <p:cNvGrpSpPr>
            <a:grpSpLocks/>
          </p:cNvGrpSpPr>
          <p:nvPr/>
        </p:nvGrpSpPr>
        <p:grpSpPr bwMode="auto">
          <a:xfrm>
            <a:off x="7910513" y="1531938"/>
            <a:ext cx="865187" cy="3887787"/>
            <a:chOff x="2426" y="1117"/>
            <a:chExt cx="545" cy="2449"/>
          </a:xfrm>
        </p:grpSpPr>
        <p:sp>
          <p:nvSpPr>
            <p:cNvPr id="16399" name="Line 12"/>
            <p:cNvSpPr>
              <a:spLocks noChangeShapeType="1"/>
            </p:cNvSpPr>
            <p:nvPr/>
          </p:nvSpPr>
          <p:spPr bwMode="auto">
            <a:xfrm flipV="1">
              <a:off x="2699" y="1344"/>
              <a:ext cx="0" cy="1995"/>
            </a:xfrm>
            <a:prstGeom prst="line">
              <a:avLst/>
            </a:prstGeom>
            <a:noFill/>
            <a:ln w="76200">
              <a:solidFill>
                <a:srgbClr val="000066"/>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400" name="Rectangle 13"/>
            <p:cNvSpPr>
              <a:spLocks noChangeArrowheads="1"/>
            </p:cNvSpPr>
            <p:nvPr/>
          </p:nvSpPr>
          <p:spPr bwMode="auto">
            <a:xfrm>
              <a:off x="2606" y="3294"/>
              <a:ext cx="182" cy="272"/>
            </a:xfrm>
            <a:prstGeom prst="rect">
              <a:avLst/>
            </a:prstGeom>
            <a:solidFill>
              <a:srgbClr val="666699"/>
            </a:solidFill>
            <a:ln w="9525" algn="ctr">
              <a:solidFill>
                <a:srgbClr val="000066"/>
              </a:solidFill>
              <a:miter lim="800000"/>
              <a:headEnd/>
              <a:tailEnd/>
            </a:ln>
          </p:spPr>
          <p:txBody>
            <a:bodyPr wrap="none" lIns="0" tIns="0" rIns="0" bIns="0" anchor="ctr">
              <a:spAutoFit/>
            </a:bodyPr>
            <a:lstStyle/>
            <a:p>
              <a:endParaRPr lang="zh-CN" altLang="en-US"/>
            </a:p>
          </p:txBody>
        </p:sp>
        <p:sp>
          <p:nvSpPr>
            <p:cNvPr id="16401" name="Oval 14"/>
            <p:cNvSpPr>
              <a:spLocks noChangeArrowheads="1"/>
            </p:cNvSpPr>
            <p:nvPr/>
          </p:nvSpPr>
          <p:spPr bwMode="auto">
            <a:xfrm>
              <a:off x="2426" y="1117"/>
              <a:ext cx="545" cy="235"/>
            </a:xfrm>
            <a:prstGeom prst="ellipse">
              <a:avLst/>
            </a:prstGeom>
            <a:noFill/>
            <a:ln w="38100" algn="ctr">
              <a:solidFill>
                <a:srgbClr val="000066"/>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zh-CN" altLang="en-US"/>
            </a:p>
          </p:txBody>
        </p:sp>
      </p:grpSp>
      <p:grpSp>
        <p:nvGrpSpPr>
          <p:cNvPr id="4" name="Group 15"/>
          <p:cNvGrpSpPr>
            <a:grpSpLocks noChangeAspect="1"/>
          </p:cNvGrpSpPr>
          <p:nvPr/>
        </p:nvGrpSpPr>
        <p:grpSpPr bwMode="auto">
          <a:xfrm>
            <a:off x="8186738" y="2392363"/>
            <a:ext cx="309562" cy="3027362"/>
            <a:chOff x="2604" y="1480"/>
            <a:chExt cx="185" cy="1816"/>
          </a:xfrm>
        </p:grpSpPr>
        <p:sp>
          <p:nvSpPr>
            <p:cNvPr id="16396" name="Line 16"/>
            <p:cNvSpPr>
              <a:spLocks noChangeAspect="1" noChangeShapeType="1"/>
            </p:cNvSpPr>
            <p:nvPr/>
          </p:nvSpPr>
          <p:spPr bwMode="auto">
            <a:xfrm flipV="1">
              <a:off x="2604" y="1480"/>
              <a:ext cx="0" cy="1815"/>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397" name="Line 17"/>
            <p:cNvSpPr>
              <a:spLocks noChangeAspect="1" noChangeShapeType="1"/>
            </p:cNvSpPr>
            <p:nvPr/>
          </p:nvSpPr>
          <p:spPr bwMode="auto">
            <a:xfrm flipV="1">
              <a:off x="2789" y="1481"/>
              <a:ext cx="0" cy="1815"/>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398" name="Line 18"/>
            <p:cNvSpPr>
              <a:spLocks noChangeAspect="1" noChangeShapeType="1"/>
            </p:cNvSpPr>
            <p:nvPr/>
          </p:nvSpPr>
          <p:spPr bwMode="auto">
            <a:xfrm>
              <a:off x="2608" y="1480"/>
              <a:ext cx="181" cy="0"/>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grpSp>
      <p:sp>
        <p:nvSpPr>
          <p:cNvPr id="1422355" name="AutoShape 19"/>
          <p:cNvSpPr>
            <a:spLocks noChangeArrowheads="1"/>
          </p:cNvSpPr>
          <p:nvPr/>
        </p:nvSpPr>
        <p:spPr bwMode="auto">
          <a:xfrm>
            <a:off x="7700963" y="3836988"/>
            <a:ext cx="688975" cy="923925"/>
          </a:xfrm>
          <a:prstGeom prst="downArrowCallout">
            <a:avLst>
              <a:gd name="adj1" fmla="val 25000"/>
              <a:gd name="adj2" fmla="val 25000"/>
              <a:gd name="adj3" fmla="val 22350"/>
              <a:gd name="adj4" fmla="val 66667"/>
            </a:avLst>
          </a:prstGeom>
          <a:solidFill>
            <a:schemeClr val="accent6">
              <a:lumMod val="75000"/>
            </a:schemeClr>
          </a:solidFill>
          <a:ln w="9525" algn="ctr">
            <a:solidFill>
              <a:schemeClr val="accent2"/>
            </a:solidFill>
            <a:miter lim="800000"/>
            <a:headEnd/>
            <a:tailEnd/>
          </a:ln>
        </p:spPr>
        <p:txBody>
          <a:bodyPr lIns="0" tIns="0" rIns="0" bIns="0">
            <a:spAutoFit/>
          </a:bodyPr>
          <a:lstStyle/>
          <a:p>
            <a:pPr algn="ctr">
              <a:lnSpc>
                <a:spcPct val="100000"/>
              </a:lnSpc>
              <a:spcBef>
                <a:spcPct val="0"/>
              </a:spcBef>
              <a:spcAft>
                <a:spcPct val="0"/>
              </a:spcAft>
            </a:pPr>
            <a:r>
              <a:rPr kumimoji="1" lang="zh-CN" altLang="en-US" sz="4000" b="1">
                <a:solidFill>
                  <a:srgbClr val="000066"/>
                </a:solidFill>
                <a:latin typeface="Arial" charset="0"/>
                <a:ea typeface="华文新魏" pitchFamily="2" charset="-122"/>
              </a:rPr>
              <a:t>土</a:t>
            </a:r>
          </a:p>
        </p:txBody>
      </p:sp>
      <p:sp>
        <p:nvSpPr>
          <p:cNvPr id="23"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室内</a:t>
            </a:r>
            <a:r>
              <a:rPr lang="zh-CN" altLang="en-US" sz="2000" b="1" kern="900" spc="-140" dirty="0">
                <a:solidFill>
                  <a:srgbClr val="C00000"/>
                </a:solidFill>
                <a:latin typeface="宋体" pitchFamily="2" charset="-122"/>
              </a:rPr>
              <a:t>击实试验</a:t>
            </a:r>
          </a:p>
        </p:txBody>
      </p:sp>
      <p:graphicFrame>
        <p:nvGraphicFramePr>
          <p:cNvPr id="5" name="对象 4"/>
          <p:cNvGraphicFramePr>
            <a:graphicFrameLocks noChangeAspect="1"/>
          </p:cNvGraphicFramePr>
          <p:nvPr>
            <p:extLst>
              <p:ext uri="{D42A27DB-BD31-4B8C-83A1-F6EECF244321}">
                <p14:modId xmlns:p14="http://schemas.microsoft.com/office/powerpoint/2010/main" val="4284063295"/>
              </p:ext>
            </p:extLst>
          </p:nvPr>
        </p:nvGraphicFramePr>
        <p:xfrm>
          <a:off x="2571781" y="2985263"/>
          <a:ext cx="3282229" cy="833582"/>
        </p:xfrm>
        <a:graphic>
          <a:graphicData uri="http://schemas.openxmlformats.org/presentationml/2006/ole">
            <mc:AlternateContent xmlns:mc="http://schemas.openxmlformats.org/markup-compatibility/2006">
              <mc:Choice xmlns:v="urn:schemas-microsoft-com:vml" Requires="v">
                <p:oleObj spid="_x0000_s87045" name="Equation" r:id="rId4" imgW="1600200" imgH="406080" progId="Equation.DSMT4">
                  <p:embed/>
                </p:oleObj>
              </mc:Choice>
              <mc:Fallback>
                <p:oleObj name="Equation" r:id="rId4" imgW="1600200" imgH="406080" progId="Equation.DSMT4">
                  <p:embed/>
                  <p:pic>
                    <p:nvPicPr>
                      <p:cNvPr id="5" name="对象 4"/>
                      <p:cNvPicPr/>
                      <p:nvPr/>
                    </p:nvPicPr>
                    <p:blipFill>
                      <a:blip r:embed="rId5"/>
                      <a:stretch>
                        <a:fillRect/>
                      </a:stretch>
                    </p:blipFill>
                    <p:spPr>
                      <a:xfrm>
                        <a:off x="2571781" y="2985263"/>
                        <a:ext cx="3282229" cy="833582"/>
                      </a:xfrm>
                      <a:prstGeom prst="rect">
                        <a:avLst/>
                      </a:prstGeom>
                    </p:spPr>
                  </p:pic>
                </p:oleObj>
              </mc:Fallback>
            </mc:AlternateContent>
          </a:graphicData>
        </a:graphic>
      </p:graphicFrame>
    </p:spTree>
    <p:extLst>
      <p:ext uri="{BB962C8B-B14F-4D97-AF65-F5344CB8AC3E}">
        <p14:creationId xmlns:p14="http://schemas.microsoft.com/office/powerpoint/2010/main" val="12965863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422340"/>
                                        </p:tgtEl>
                                        <p:attrNameLst>
                                          <p:attrName>style.visibility</p:attrName>
                                        </p:attrNameLst>
                                      </p:cBhvr>
                                      <p:to>
                                        <p:strVal val="visible"/>
                                      </p:to>
                                    </p:set>
                                    <p:animEffect transition="in" filter="blinds(horizontal)">
                                      <p:cBhvr>
                                        <p:cTn id="7" dur="500"/>
                                        <p:tgtEl>
                                          <p:spTgt spid="1422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7"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900" decel="100000" fill="hold"/>
                                        <p:tgtEl>
                                          <p:spTgt spid="2"/>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par>
                          <p:cTn id="16" fill="hold" nodeType="afterGroup">
                            <p:stCondLst>
                              <p:cond delay="1000"/>
                            </p:stCondLst>
                            <p:childTnLst>
                              <p:par>
                                <p:cTn id="17" presetID="1" presetClass="entr" presetSubtype="0" fill="hold" grpId="0" nodeType="afterEffect">
                                  <p:stCondLst>
                                    <p:cond delay="1000"/>
                                  </p:stCondLst>
                                  <p:childTnLst>
                                    <p:set>
                                      <p:cBhvr>
                                        <p:cTn id="18" dur="1" fill="hold">
                                          <p:stCondLst>
                                            <p:cond delay="0"/>
                                          </p:stCondLst>
                                        </p:cTn>
                                        <p:tgtEl>
                                          <p:spTgt spid="1422355"/>
                                        </p:tgtEl>
                                        <p:attrNameLst>
                                          <p:attrName>style.visibility</p:attrName>
                                        </p:attrNameLst>
                                      </p:cBhvr>
                                      <p:to>
                                        <p:strVal val="visible"/>
                                      </p:to>
                                    </p:set>
                                  </p:childTnLst>
                                </p:cTn>
                              </p:par>
                            </p:childTnLst>
                          </p:cTn>
                        </p:par>
                        <p:par>
                          <p:cTn id="19" fill="hold" nodeType="afterGroup">
                            <p:stCondLst>
                              <p:cond delay="2000"/>
                            </p:stCondLst>
                            <p:childTnLst>
                              <p:par>
                                <p:cTn id="20" presetID="37" presetClass="exit" presetSubtype="0" fill="hold" grpId="1" nodeType="afterEffect">
                                  <p:stCondLst>
                                    <p:cond delay="500"/>
                                  </p:stCondLst>
                                  <p:childTnLst>
                                    <p:animEffect transition="out" filter="fade">
                                      <p:cBhvr>
                                        <p:cTn id="21" dur="1000"/>
                                        <p:tgtEl>
                                          <p:spTgt spid="1422355"/>
                                        </p:tgtEl>
                                      </p:cBhvr>
                                    </p:animEffect>
                                    <p:anim calcmode="lin" valueType="num">
                                      <p:cBhvr>
                                        <p:cTn id="22" dur="1000"/>
                                        <p:tgtEl>
                                          <p:spTgt spid="1422355"/>
                                        </p:tgtEl>
                                        <p:attrNameLst>
                                          <p:attrName>ppt_x</p:attrName>
                                        </p:attrNameLst>
                                      </p:cBhvr>
                                      <p:tavLst>
                                        <p:tav tm="0">
                                          <p:val>
                                            <p:strVal val="ppt_x"/>
                                          </p:val>
                                        </p:tav>
                                        <p:tav tm="100000">
                                          <p:val>
                                            <p:strVal val="ppt_x"/>
                                          </p:val>
                                        </p:tav>
                                      </p:tavLst>
                                    </p:anim>
                                    <p:anim calcmode="lin" valueType="num">
                                      <p:cBhvr>
                                        <p:cTn id="23" dur="100" decel="100000"/>
                                        <p:tgtEl>
                                          <p:spTgt spid="1422355"/>
                                        </p:tgtEl>
                                        <p:attrNameLst>
                                          <p:attrName>ppt_y</p:attrName>
                                        </p:attrNameLst>
                                      </p:cBhvr>
                                      <p:tavLst>
                                        <p:tav tm="0">
                                          <p:val>
                                            <p:strVal val="ppt_y"/>
                                          </p:val>
                                        </p:tav>
                                        <p:tav tm="100000">
                                          <p:val>
                                            <p:strVal val="ppt_y-.03"/>
                                          </p:val>
                                        </p:tav>
                                      </p:tavLst>
                                    </p:anim>
                                    <p:anim calcmode="lin" valueType="num">
                                      <p:cBhvr>
                                        <p:cTn id="24" dur="900" accel="100000">
                                          <p:stCondLst>
                                            <p:cond delay="100"/>
                                          </p:stCondLst>
                                        </p:cTn>
                                        <p:tgtEl>
                                          <p:spTgt spid="1422355"/>
                                        </p:tgtEl>
                                        <p:attrNameLst>
                                          <p:attrName>ppt_y</p:attrName>
                                        </p:attrNameLst>
                                      </p:cBhvr>
                                      <p:tavLst>
                                        <p:tav tm="0">
                                          <p:val>
                                            <p:strVal val="ppt_y"/>
                                          </p:val>
                                        </p:tav>
                                        <p:tav tm="100000">
                                          <p:val>
                                            <p:strVal val="ppt_y+1"/>
                                          </p:val>
                                        </p:tav>
                                      </p:tavLst>
                                    </p:anim>
                                    <p:set>
                                      <p:cBhvr>
                                        <p:cTn id="25" dur="1" fill="hold">
                                          <p:stCondLst>
                                            <p:cond delay="999"/>
                                          </p:stCondLst>
                                        </p:cTn>
                                        <p:tgtEl>
                                          <p:spTgt spid="1422355"/>
                                        </p:tgtEl>
                                        <p:attrNameLst>
                                          <p:attrName>style.visibility</p:attrName>
                                        </p:attrNameLst>
                                      </p:cBhvr>
                                      <p:to>
                                        <p:strVal val="hidden"/>
                                      </p:to>
                                    </p:set>
                                  </p:childTnLst>
                                </p:cTn>
                              </p:par>
                            </p:childTnLst>
                          </p:cTn>
                        </p:par>
                        <p:par>
                          <p:cTn id="26" fill="hold" nodeType="afterGroup">
                            <p:stCondLst>
                              <p:cond delay="3500"/>
                            </p:stCondLst>
                            <p:childTnLst>
                              <p:par>
                                <p:cTn id="27" presetID="1" presetClass="entr" presetSubtype="0" fill="hold" grpId="0" nodeType="afterEffect">
                                  <p:stCondLst>
                                    <p:cond delay="500"/>
                                  </p:stCondLst>
                                  <p:childTnLst>
                                    <p:set>
                                      <p:cBhvr>
                                        <p:cTn id="28" dur="1" fill="hold">
                                          <p:stCondLst>
                                            <p:cond delay="0"/>
                                          </p:stCondLst>
                                        </p:cTn>
                                        <p:tgtEl>
                                          <p:spTgt spid="1422356"/>
                                        </p:tgtEl>
                                        <p:attrNameLst>
                                          <p:attrName>style.visibility</p:attrName>
                                        </p:attrNameLst>
                                      </p:cBhvr>
                                      <p:to>
                                        <p:strVal val="visible"/>
                                      </p:to>
                                    </p:set>
                                  </p:childTnLst>
                                </p:cTn>
                              </p:par>
                            </p:childTnLst>
                          </p:cTn>
                        </p:par>
                        <p:par>
                          <p:cTn id="29" fill="hold" nodeType="withGroup">
                            <p:stCondLst>
                              <p:cond delay="4000"/>
                            </p:stCondLst>
                            <p:childTnLst>
                              <p:par>
                                <p:cTn id="30" presetID="1" presetClass="entr" presetSubtype="0"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par>
                          <p:cTn id="34" fill="hold" nodeType="afterGroup">
                            <p:stCondLst>
                              <p:cond delay="4000"/>
                            </p:stCondLst>
                            <p:childTnLst>
                              <p:par>
                                <p:cTn id="35" presetID="64" presetClass="path" presetSubtype="0" accel="50000" decel="50000" fill="hold" nodeType="afterEffect">
                                  <p:stCondLst>
                                    <p:cond delay="1000"/>
                                  </p:stCondLst>
                                  <p:childTnLst>
                                    <p:animMotion origin="layout" path="M 0.00052 -2.96296E-6 L 0.00052 -0.3331 " pathEditMode="relative" rAng="0" ptsTypes="AA">
                                      <p:cBhvr>
                                        <p:cTn id="36" dur="3000" fill="hold"/>
                                        <p:tgtEl>
                                          <p:spTgt spid="3"/>
                                        </p:tgtEl>
                                        <p:attrNameLst>
                                          <p:attrName>ppt_x</p:attrName>
                                          <p:attrName>ppt_y</p:attrName>
                                        </p:attrNameLst>
                                      </p:cBhvr>
                                      <p:rCtr x="0" y="-16667"/>
                                    </p:animMotion>
                                  </p:childTnLst>
                                </p:cTn>
                              </p:par>
                            </p:childTnLst>
                          </p:cTn>
                        </p:par>
                        <p:par>
                          <p:cTn id="37" fill="hold" nodeType="afterGroup">
                            <p:stCondLst>
                              <p:cond delay="8000"/>
                            </p:stCondLst>
                            <p:childTnLst>
                              <p:par>
                                <p:cTn id="38" presetID="42" presetClass="path" presetSubtype="0" accel="50000" decel="50000" fill="hold" nodeType="afterEffect">
                                  <p:stCondLst>
                                    <p:cond delay="0"/>
                                  </p:stCondLst>
                                  <p:childTnLst>
                                    <p:animMotion origin="layout" path="M 0.00052 -0.33125 L 0.00052 0.00185 " pathEditMode="relative" rAng="0" ptsTypes="AA">
                                      <p:cBhvr>
                                        <p:cTn id="39" dur="500" fill="hold"/>
                                        <p:tgtEl>
                                          <p:spTgt spid="3"/>
                                        </p:tgtEl>
                                        <p:attrNameLst>
                                          <p:attrName>ppt_x</p:attrName>
                                          <p:attrName>ppt_y</p:attrName>
                                        </p:attrNameLst>
                                      </p:cBhvr>
                                      <p:rCtr x="0" y="16644"/>
                                    </p:animMotion>
                                  </p:childTnLst>
                                </p:cTn>
                              </p:par>
                            </p:childTnLst>
                          </p:cTn>
                        </p:par>
                        <p:par>
                          <p:cTn id="40" fill="hold" nodeType="afterGroup">
                            <p:stCondLst>
                              <p:cond delay="8500"/>
                            </p:stCondLst>
                            <p:childTnLst>
                              <p:par>
                                <p:cTn id="41" presetID="0" presetClass="path" presetSubtype="0" accel="50000" decel="50000" fill="hold" nodeType="afterEffect">
                                  <p:stCondLst>
                                    <p:cond delay="0"/>
                                  </p:stCondLst>
                                  <p:childTnLst>
                                    <p:animMotion origin="layout" path="M -0.00052 -4.44444E-6 L -0.02413 -4.44444E-6 " pathEditMode="relative" rAng="0" ptsTypes="AA">
                                      <p:cBhvr>
                                        <p:cTn id="42" dur="2000" fill="hold"/>
                                        <p:tgtEl>
                                          <p:spTgt spid="4"/>
                                        </p:tgtEl>
                                        <p:attrNameLst>
                                          <p:attrName>ppt_x</p:attrName>
                                          <p:attrName>ppt_y</p:attrName>
                                        </p:attrNameLst>
                                      </p:cBhvr>
                                      <p:rCtr x="-1181" y="0"/>
                                    </p:animMotion>
                                  </p:childTnLst>
                                </p:cTn>
                              </p:par>
                              <p:par>
                                <p:cTn id="43" presetID="0" presetClass="path" presetSubtype="0" accel="50000" decel="50000" fill="hold" nodeType="withEffect">
                                  <p:stCondLst>
                                    <p:cond delay="0"/>
                                  </p:stCondLst>
                                  <p:childTnLst>
                                    <p:animMotion origin="layout" path="M -0.00052 -2.96296E-6 L -0.02413 -2.96296E-6 " pathEditMode="relative" rAng="0" ptsTypes="AA">
                                      <p:cBhvr>
                                        <p:cTn id="44" dur="2000" fill="hold"/>
                                        <p:tgtEl>
                                          <p:spTgt spid="3"/>
                                        </p:tgtEl>
                                        <p:attrNameLst>
                                          <p:attrName>ppt_x</p:attrName>
                                          <p:attrName>ppt_y</p:attrName>
                                        </p:attrNameLst>
                                      </p:cBhvr>
                                      <p:rCtr x="-1181" y="0"/>
                                    </p:animMotion>
                                  </p:childTnLst>
                                </p:cTn>
                              </p:par>
                            </p:childTnLst>
                          </p:cTn>
                        </p:par>
                        <p:par>
                          <p:cTn id="45" fill="hold" nodeType="afterGroup">
                            <p:stCondLst>
                              <p:cond delay="10500"/>
                            </p:stCondLst>
                            <p:childTnLst>
                              <p:par>
                                <p:cTn id="46" presetID="64" presetClass="path" presetSubtype="0" accel="50000" decel="50000" fill="hold" nodeType="afterEffect">
                                  <p:stCondLst>
                                    <p:cond delay="0"/>
                                  </p:stCondLst>
                                  <p:childTnLst>
                                    <p:animMotion origin="layout" path="M -0.02395 -2.96296E-6 L -0.02395 -0.33333 " pathEditMode="relative" rAng="0" ptsTypes="AA">
                                      <p:cBhvr>
                                        <p:cTn id="47" dur="2000" fill="hold"/>
                                        <p:tgtEl>
                                          <p:spTgt spid="3"/>
                                        </p:tgtEl>
                                        <p:attrNameLst>
                                          <p:attrName>ppt_x</p:attrName>
                                          <p:attrName>ppt_y</p:attrName>
                                        </p:attrNameLst>
                                      </p:cBhvr>
                                      <p:rCtr x="0" y="-16667"/>
                                    </p:animMotion>
                                  </p:childTnLst>
                                </p:cTn>
                              </p:par>
                            </p:childTnLst>
                          </p:cTn>
                        </p:par>
                        <p:par>
                          <p:cTn id="48" fill="hold" nodeType="afterGroup">
                            <p:stCondLst>
                              <p:cond delay="12500"/>
                            </p:stCondLst>
                            <p:childTnLst>
                              <p:par>
                                <p:cTn id="49" presetID="42" presetClass="path" presetSubtype="0" accel="50000" decel="50000" fill="hold" nodeType="afterEffect">
                                  <p:stCondLst>
                                    <p:cond delay="0"/>
                                  </p:stCondLst>
                                  <p:childTnLst>
                                    <p:animMotion origin="layout" path="M -0.02395 -0.33287 L -0.02395 0.00047 " pathEditMode="relative" rAng="0" ptsTypes="AA">
                                      <p:cBhvr>
                                        <p:cTn id="50" dur="500" fill="hold"/>
                                        <p:tgtEl>
                                          <p:spTgt spid="3"/>
                                        </p:tgtEl>
                                        <p:attrNameLst>
                                          <p:attrName>ppt_x</p:attrName>
                                          <p:attrName>ppt_y</p:attrName>
                                        </p:attrNameLst>
                                      </p:cBhvr>
                                      <p:rCtr x="0" y="16667"/>
                                    </p:animMotion>
                                  </p:childTnLst>
                                </p:cTn>
                              </p:par>
                            </p:childTnLst>
                          </p:cTn>
                        </p:par>
                        <p:par>
                          <p:cTn id="51" fill="hold" nodeType="afterGroup">
                            <p:stCondLst>
                              <p:cond delay="13000"/>
                            </p:stCondLst>
                            <p:childTnLst>
                              <p:par>
                                <p:cTn id="52" presetID="0" presetClass="path" presetSubtype="0" accel="50000" decel="50000" fill="hold" nodeType="afterEffect">
                                  <p:stCondLst>
                                    <p:cond delay="0"/>
                                  </p:stCondLst>
                                  <p:childTnLst>
                                    <p:animMotion origin="layout" path="M -0.02379 -4.44444E-6 L -0.0474 -4.44444E-6 " pathEditMode="relative" rAng="0" ptsTypes="AA">
                                      <p:cBhvr>
                                        <p:cTn id="53" dur="2000" fill="hold"/>
                                        <p:tgtEl>
                                          <p:spTgt spid="4"/>
                                        </p:tgtEl>
                                        <p:attrNameLst>
                                          <p:attrName>ppt_x</p:attrName>
                                          <p:attrName>ppt_y</p:attrName>
                                        </p:attrNameLst>
                                      </p:cBhvr>
                                      <p:rCtr x="-1181" y="0"/>
                                    </p:animMotion>
                                  </p:childTnLst>
                                </p:cTn>
                              </p:par>
                              <p:par>
                                <p:cTn id="54" presetID="0" presetClass="path" presetSubtype="0" accel="50000" decel="50000" fill="hold" nodeType="withEffect">
                                  <p:stCondLst>
                                    <p:cond delay="0"/>
                                  </p:stCondLst>
                                  <p:childTnLst>
                                    <p:animMotion origin="layout" path="M -0.02396 -2.96296E-6 L -0.04757 -2.96296E-6 " pathEditMode="relative" rAng="0" ptsTypes="AA">
                                      <p:cBhvr>
                                        <p:cTn id="55" dur="2000" fill="hold"/>
                                        <p:tgtEl>
                                          <p:spTgt spid="3"/>
                                        </p:tgtEl>
                                        <p:attrNameLst>
                                          <p:attrName>ppt_x</p:attrName>
                                          <p:attrName>ppt_y</p:attrName>
                                        </p:attrNameLst>
                                      </p:cBhvr>
                                      <p:rCtr x="-1181" y="0"/>
                                    </p:animMotion>
                                  </p:childTnLst>
                                </p:cTn>
                              </p:par>
                            </p:childTnLst>
                          </p:cTn>
                        </p:par>
                        <p:par>
                          <p:cTn id="56" fill="hold" nodeType="afterGroup">
                            <p:stCondLst>
                              <p:cond delay="15000"/>
                            </p:stCondLst>
                            <p:childTnLst>
                              <p:par>
                                <p:cTn id="57" presetID="64" presetClass="path" presetSubtype="0" accel="50000" decel="50000" fill="hold" nodeType="afterEffect">
                                  <p:stCondLst>
                                    <p:cond delay="0"/>
                                  </p:stCondLst>
                                  <p:childTnLst>
                                    <p:animMotion origin="layout" path="M -0.04705 -2.96296E-6 L -0.04705 -0.33333 " pathEditMode="relative" rAng="0" ptsTypes="AA">
                                      <p:cBhvr>
                                        <p:cTn id="58" dur="2000" fill="hold"/>
                                        <p:tgtEl>
                                          <p:spTgt spid="3"/>
                                        </p:tgtEl>
                                        <p:attrNameLst>
                                          <p:attrName>ppt_x</p:attrName>
                                          <p:attrName>ppt_y</p:attrName>
                                        </p:attrNameLst>
                                      </p:cBhvr>
                                      <p:rCtr x="0" y="-16667"/>
                                    </p:animMotion>
                                  </p:childTnLst>
                                </p:cTn>
                              </p:par>
                            </p:childTnLst>
                          </p:cTn>
                        </p:par>
                        <p:par>
                          <p:cTn id="59" fill="hold" nodeType="afterGroup">
                            <p:stCondLst>
                              <p:cond delay="17000"/>
                            </p:stCondLst>
                            <p:childTnLst>
                              <p:par>
                                <p:cTn id="60" presetID="42" presetClass="path" presetSubtype="0" accel="50000" decel="50000" fill="hold" nodeType="afterEffect">
                                  <p:stCondLst>
                                    <p:cond delay="0"/>
                                  </p:stCondLst>
                                  <p:childTnLst>
                                    <p:animMotion origin="layout" path="M -0.04705 -0.33356 L -0.04705 -0.00023 " pathEditMode="relative" rAng="0" ptsTypes="AA">
                                      <p:cBhvr>
                                        <p:cTn id="61" dur="500" fill="hold"/>
                                        <p:tgtEl>
                                          <p:spTgt spid="3"/>
                                        </p:tgtEl>
                                        <p:attrNameLst>
                                          <p:attrName>ppt_x</p:attrName>
                                          <p:attrName>ppt_y</p:attrName>
                                        </p:attrNameLst>
                                      </p:cBhvr>
                                      <p:rCtr x="0" y="16667"/>
                                    </p:animMotion>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422342"/>
                                        </p:tgtEl>
                                        <p:attrNameLst>
                                          <p:attrName>style.visibility</p:attrName>
                                        </p:attrNameLst>
                                      </p:cBhvr>
                                      <p:to>
                                        <p:strVal val="visible"/>
                                      </p:to>
                                    </p:set>
                                    <p:animEffect transition="in" filter="blinds(horizontal)">
                                      <p:cBhvr>
                                        <p:cTn id="66" dur="500"/>
                                        <p:tgtEl>
                                          <p:spTgt spid="1422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2356" grpId="0" animBg="1"/>
      <p:bldP spid="1422340" grpId="0"/>
      <p:bldP spid="1422342" grpId="0"/>
      <p:bldP spid="1422355" grpId="0" animBg="1"/>
      <p:bldP spid="1422355" grpId="1"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细粒土</a:t>
            </a:r>
            <a:r>
              <a:rPr lang="zh-CN" altLang="en-US" sz="2000" b="1" kern="900" spc="-140" dirty="0">
                <a:solidFill>
                  <a:srgbClr val="C00000"/>
                </a:solidFill>
                <a:latin typeface="宋体" pitchFamily="2" charset="-122"/>
              </a:rPr>
              <a:t>的压实性</a:t>
            </a:r>
          </a:p>
        </p:txBody>
      </p:sp>
      <p:sp>
        <p:nvSpPr>
          <p:cNvPr id="99" name="Rectangle 6"/>
          <p:cNvSpPr>
            <a:spLocks noChangeArrowheads="1"/>
          </p:cNvSpPr>
          <p:nvPr/>
        </p:nvSpPr>
        <p:spPr bwMode="auto">
          <a:xfrm>
            <a:off x="328199" y="616987"/>
            <a:ext cx="2351206"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10000"/>
              </a:spcBef>
              <a:spcAft>
                <a:spcPct val="10000"/>
              </a:spcAft>
              <a:buClr>
                <a:srgbClr val="A50021"/>
              </a:buClr>
              <a:buSzPct val="135000"/>
              <a:buFont typeface="Wingdings" pitchFamily="2" charset="2"/>
              <a:buChar char="F"/>
            </a:pPr>
            <a:r>
              <a:rPr kumimoji="1" lang="zh-CN" altLang="en-US" sz="2400" b="1" dirty="0">
                <a:solidFill>
                  <a:srgbClr val="000066"/>
                </a:solidFill>
                <a:cs typeface="Times New Roman" panose="02020603050405020304" pitchFamily="18" charset="0"/>
              </a:rPr>
              <a:t> </a:t>
            </a:r>
            <a:r>
              <a:rPr kumimoji="1" lang="zh-CN" altLang="en-US" sz="2400" b="1" dirty="0">
                <a:solidFill>
                  <a:srgbClr val="000066"/>
                </a:solidFill>
                <a:ea typeface="幼圆" pitchFamily="49" charset="-122"/>
                <a:cs typeface="Times New Roman" panose="02020603050405020304" pitchFamily="18" charset="0"/>
              </a:rPr>
              <a:t>试验方法</a:t>
            </a:r>
            <a:r>
              <a:rPr kumimoji="1" lang="zh-CN" altLang="en-US" sz="2400" b="1" dirty="0" smtClean="0">
                <a:solidFill>
                  <a:srgbClr val="000066"/>
                </a:solidFill>
                <a:ea typeface="幼圆" pitchFamily="49" charset="-122"/>
                <a:cs typeface="Times New Roman" panose="02020603050405020304" pitchFamily="18" charset="0"/>
              </a:rPr>
              <a:t>：</a:t>
            </a:r>
            <a:endParaRPr kumimoji="1" lang="en-US" altLang="zh-CN" sz="2400" b="1" dirty="0">
              <a:solidFill>
                <a:srgbClr val="000066"/>
              </a:solidFill>
              <a:ea typeface="幼圆" pitchFamily="49" charset="-122"/>
              <a:cs typeface="Times New Roman" panose="02020603050405020304" pitchFamily="18" charset="0"/>
            </a:endParaRPr>
          </a:p>
        </p:txBody>
      </p:sp>
      <p:sp>
        <p:nvSpPr>
          <p:cNvPr id="100" name="Rectangle 6"/>
          <p:cNvSpPr>
            <a:spLocks noChangeArrowheads="1"/>
          </p:cNvSpPr>
          <p:nvPr/>
        </p:nvSpPr>
        <p:spPr bwMode="auto">
          <a:xfrm>
            <a:off x="744266" y="1215952"/>
            <a:ext cx="3125971" cy="386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65113" indent="-265113">
              <a:spcBef>
                <a:spcPct val="10000"/>
              </a:spcBef>
              <a:spcAft>
                <a:spcPct val="10000"/>
              </a:spcAft>
              <a:buClr>
                <a:srgbClr val="A50021"/>
              </a:buClr>
              <a:buSzPct val="135000"/>
              <a:buFont typeface="Arial" panose="020B0604020202020204" pitchFamily="34" charset="0"/>
              <a:buChar char="•"/>
            </a:pPr>
            <a:r>
              <a:rPr kumimoji="1" lang="zh-CN" altLang="en-US" sz="2200" b="1" dirty="0" smtClean="0">
                <a:solidFill>
                  <a:srgbClr val="000066"/>
                </a:solidFill>
                <a:ea typeface="幼圆" pitchFamily="49" charset="-122"/>
                <a:cs typeface="Times New Roman" panose="02020603050405020304" pitchFamily="18" charset="0"/>
              </a:rPr>
              <a:t>制备</a:t>
            </a:r>
            <a:r>
              <a:rPr kumimoji="1" lang="en-US" altLang="zh-CN" sz="2200" b="1" dirty="0">
                <a:solidFill>
                  <a:srgbClr val="000066"/>
                </a:solidFill>
                <a:ea typeface="幼圆" pitchFamily="49" charset="-122"/>
                <a:cs typeface="Times New Roman" panose="02020603050405020304" pitchFamily="18" charset="0"/>
              </a:rPr>
              <a:t>6~8</a:t>
            </a:r>
            <a:r>
              <a:rPr kumimoji="1" lang="zh-CN" altLang="en-US" sz="2200" b="1" dirty="0">
                <a:solidFill>
                  <a:srgbClr val="000066"/>
                </a:solidFill>
                <a:ea typeface="幼圆" pitchFamily="49" charset="-122"/>
                <a:cs typeface="Times New Roman" panose="02020603050405020304" pitchFamily="18" charset="0"/>
              </a:rPr>
              <a:t>个</a:t>
            </a:r>
            <a:r>
              <a:rPr kumimoji="1" lang="zh-CN" altLang="en-US" sz="2200" b="1" dirty="0" smtClean="0">
                <a:solidFill>
                  <a:srgbClr val="000066"/>
                </a:solidFill>
                <a:ea typeface="幼圆" pitchFamily="49" charset="-122"/>
                <a:cs typeface="Times New Roman" panose="02020603050405020304" pitchFamily="18" charset="0"/>
              </a:rPr>
              <a:t>不同</a:t>
            </a:r>
            <a:r>
              <a:rPr kumimoji="1" lang="zh-CN" altLang="en-US" sz="2200" b="1" dirty="0">
                <a:solidFill>
                  <a:srgbClr val="000066"/>
                </a:solidFill>
                <a:ea typeface="幼圆" pitchFamily="49" charset="-122"/>
                <a:cs typeface="Times New Roman" panose="02020603050405020304" pitchFamily="18" charset="0"/>
              </a:rPr>
              <a:t>含水量的</a:t>
            </a:r>
            <a:r>
              <a:rPr kumimoji="1" lang="zh-CN" altLang="en-US" sz="2200" b="1" dirty="0" smtClean="0">
                <a:solidFill>
                  <a:srgbClr val="000066"/>
                </a:solidFill>
                <a:ea typeface="幼圆" pitchFamily="49" charset="-122"/>
                <a:cs typeface="Times New Roman" panose="02020603050405020304" pitchFamily="18" charset="0"/>
              </a:rPr>
              <a:t>土样</a:t>
            </a:r>
            <a:endParaRPr kumimoji="1" lang="en-US" altLang="zh-CN" sz="2200" b="1" dirty="0" smtClean="0">
              <a:solidFill>
                <a:srgbClr val="000066"/>
              </a:solidFill>
              <a:ea typeface="幼圆" pitchFamily="49" charset="-122"/>
              <a:cs typeface="Times New Roman" panose="02020603050405020304" pitchFamily="18" charset="0"/>
            </a:endParaRPr>
          </a:p>
          <a:p>
            <a:pPr marL="265113" indent="-265113">
              <a:spcBef>
                <a:spcPct val="10000"/>
              </a:spcBef>
              <a:spcAft>
                <a:spcPct val="10000"/>
              </a:spcAft>
              <a:buClr>
                <a:srgbClr val="A50021"/>
              </a:buClr>
              <a:buSzPct val="135000"/>
              <a:buFont typeface="Arial" panose="020B0604020202020204" pitchFamily="34" charset="0"/>
              <a:buChar char="•"/>
            </a:pPr>
            <a:r>
              <a:rPr kumimoji="1" lang="zh-CN" altLang="en-US" sz="2200" b="1" dirty="0">
                <a:solidFill>
                  <a:srgbClr val="000066"/>
                </a:solidFill>
                <a:ea typeface="幼圆" pitchFamily="49" charset="-122"/>
                <a:cs typeface="Times New Roman" panose="02020603050405020304" pitchFamily="18" charset="0"/>
              </a:rPr>
              <a:t>用完全同样的</a:t>
            </a:r>
            <a:r>
              <a:rPr kumimoji="1" lang="zh-CN" altLang="en-US" sz="2200" b="1" dirty="0" smtClean="0">
                <a:solidFill>
                  <a:srgbClr val="000066"/>
                </a:solidFill>
                <a:ea typeface="幼圆" pitchFamily="49" charset="-122"/>
                <a:cs typeface="Times New Roman" panose="02020603050405020304" pitchFamily="18" charset="0"/>
              </a:rPr>
              <a:t>方法</a:t>
            </a:r>
            <a:r>
              <a:rPr kumimoji="1" lang="zh-CN" altLang="en-US" sz="2200" b="1" dirty="0">
                <a:solidFill>
                  <a:srgbClr val="000066"/>
                </a:solidFill>
                <a:ea typeface="幼圆" pitchFamily="49" charset="-122"/>
                <a:cs typeface="Times New Roman" panose="02020603050405020304" pitchFamily="18" charset="0"/>
              </a:rPr>
              <a:t>分别</a:t>
            </a:r>
            <a:r>
              <a:rPr kumimoji="1" lang="zh-CN" altLang="en-US" sz="2200" b="1" dirty="0" smtClean="0">
                <a:solidFill>
                  <a:srgbClr val="000066"/>
                </a:solidFill>
                <a:ea typeface="幼圆" pitchFamily="49" charset="-122"/>
                <a:cs typeface="Times New Roman" panose="02020603050405020304" pitchFamily="18" charset="0"/>
              </a:rPr>
              <a:t>进行</a:t>
            </a:r>
            <a:r>
              <a:rPr kumimoji="1" lang="zh-CN" altLang="en-US" sz="2200" b="1" dirty="0">
                <a:solidFill>
                  <a:srgbClr val="000066"/>
                </a:solidFill>
                <a:ea typeface="幼圆" pitchFamily="49" charset="-122"/>
                <a:cs typeface="Times New Roman" panose="02020603050405020304" pitchFamily="18" charset="0"/>
              </a:rPr>
              <a:t>击实</a:t>
            </a:r>
            <a:endParaRPr kumimoji="1" lang="en-US" altLang="zh-CN" sz="2200" b="1" dirty="0">
              <a:solidFill>
                <a:srgbClr val="000066"/>
              </a:solidFill>
              <a:ea typeface="幼圆" pitchFamily="49" charset="-122"/>
              <a:cs typeface="Times New Roman" panose="02020603050405020304" pitchFamily="18" charset="0"/>
            </a:endParaRPr>
          </a:p>
          <a:p>
            <a:pPr marL="265113" indent="-265113">
              <a:spcBef>
                <a:spcPct val="10000"/>
              </a:spcBef>
              <a:spcAft>
                <a:spcPct val="10000"/>
              </a:spcAft>
              <a:buClr>
                <a:srgbClr val="A50021"/>
              </a:buClr>
              <a:buSzPct val="135000"/>
              <a:buFont typeface="Arial" panose="020B0604020202020204" pitchFamily="34" charset="0"/>
              <a:buChar char="•"/>
            </a:pPr>
            <a:r>
              <a:rPr kumimoji="1" lang="zh-CN" altLang="en-US" sz="2200" b="1" dirty="0">
                <a:solidFill>
                  <a:srgbClr val="000066"/>
                </a:solidFill>
                <a:ea typeface="幼圆" pitchFamily="49" charset="-122"/>
                <a:cs typeface="Times New Roman" panose="02020603050405020304" pitchFamily="18" charset="0"/>
              </a:rPr>
              <a:t>测定击实后土样的含水量</a:t>
            </a:r>
            <a:r>
              <a:rPr kumimoji="1" lang="en-US" altLang="zh-CN" sz="2200" b="1" dirty="0">
                <a:solidFill>
                  <a:srgbClr val="000066"/>
                </a:solidFill>
                <a:ea typeface="幼圆" pitchFamily="49" charset="-122"/>
                <a:cs typeface="Times New Roman" panose="02020603050405020304" pitchFamily="18" charset="0"/>
              </a:rPr>
              <a:t>w</a:t>
            </a:r>
            <a:r>
              <a:rPr kumimoji="1" lang="zh-CN" altLang="en-US" sz="2200" b="1" dirty="0">
                <a:solidFill>
                  <a:srgbClr val="000066"/>
                </a:solidFill>
                <a:ea typeface="幼圆" pitchFamily="49" charset="-122"/>
                <a:cs typeface="Times New Roman" panose="02020603050405020304" pitchFamily="18" charset="0"/>
              </a:rPr>
              <a:t>和密度</a:t>
            </a:r>
            <a:r>
              <a:rPr kumimoji="1" lang="zh-CN" altLang="en-US" sz="2200" b="1" dirty="0">
                <a:solidFill>
                  <a:srgbClr val="000066"/>
                </a:solidFill>
                <a:ea typeface="幼圆" pitchFamily="49" charset="-122"/>
                <a:cs typeface="Times New Roman" panose="02020603050405020304" pitchFamily="18" charset="0"/>
                <a:sym typeface="Symbol" pitchFamily="18" charset="2"/>
              </a:rPr>
              <a:t></a:t>
            </a:r>
            <a:endParaRPr kumimoji="1" lang="en-US" altLang="zh-CN" sz="2200" b="1" dirty="0">
              <a:solidFill>
                <a:srgbClr val="000066"/>
              </a:solidFill>
              <a:ea typeface="幼圆" pitchFamily="49" charset="-122"/>
              <a:cs typeface="Times New Roman" panose="02020603050405020304" pitchFamily="18" charset="0"/>
              <a:sym typeface="Symbol" pitchFamily="18" charset="2"/>
            </a:endParaRPr>
          </a:p>
          <a:p>
            <a:pPr marL="265113" indent="-265113">
              <a:spcBef>
                <a:spcPct val="10000"/>
              </a:spcBef>
              <a:spcAft>
                <a:spcPct val="10000"/>
              </a:spcAft>
              <a:buClr>
                <a:srgbClr val="A50021"/>
              </a:buClr>
              <a:buSzPct val="135000"/>
              <a:buFont typeface="Arial" panose="020B0604020202020204" pitchFamily="34" charset="0"/>
              <a:buChar char="•"/>
            </a:pPr>
            <a:r>
              <a:rPr kumimoji="1" lang="zh-CN" altLang="en-US" sz="2200" b="1" dirty="0">
                <a:solidFill>
                  <a:srgbClr val="000066"/>
                </a:solidFill>
                <a:ea typeface="幼圆" pitchFamily="49" charset="-122"/>
                <a:cs typeface="Times New Roman" panose="02020603050405020304" pitchFamily="18" charset="0"/>
              </a:rPr>
              <a:t>计算击实干密度</a:t>
            </a:r>
            <a:r>
              <a:rPr kumimoji="1" lang="zh-CN" altLang="en-US" sz="2200" b="1" dirty="0">
                <a:solidFill>
                  <a:srgbClr val="000066"/>
                </a:solidFill>
                <a:ea typeface="幼圆" pitchFamily="49" charset="-122"/>
                <a:cs typeface="Times New Roman" panose="02020603050405020304" pitchFamily="18" charset="0"/>
                <a:sym typeface="Symbol" pitchFamily="18" charset="2"/>
              </a:rPr>
              <a:t></a:t>
            </a:r>
            <a:r>
              <a:rPr kumimoji="1" lang="en-US" altLang="zh-CN" sz="2200" b="1" dirty="0">
                <a:solidFill>
                  <a:srgbClr val="000066"/>
                </a:solidFill>
                <a:ea typeface="幼圆" pitchFamily="49" charset="-122"/>
                <a:cs typeface="Times New Roman" panose="02020603050405020304" pitchFamily="18" charset="0"/>
              </a:rPr>
              <a:t>d</a:t>
            </a:r>
          </a:p>
          <a:p>
            <a:pPr marL="265113" indent="-265113">
              <a:spcBef>
                <a:spcPct val="10000"/>
              </a:spcBef>
              <a:spcAft>
                <a:spcPct val="10000"/>
              </a:spcAft>
              <a:buClr>
                <a:srgbClr val="A50021"/>
              </a:buClr>
              <a:buSzPct val="135000"/>
              <a:buFont typeface="Arial" panose="020B0604020202020204" pitchFamily="34" charset="0"/>
              <a:buChar char="•"/>
            </a:pPr>
            <a:r>
              <a:rPr kumimoji="1" lang="zh-CN" altLang="en-US" sz="2200" b="1" dirty="0">
                <a:solidFill>
                  <a:srgbClr val="000066"/>
                </a:solidFill>
                <a:ea typeface="幼圆" pitchFamily="49" charset="-122"/>
                <a:cs typeface="Times New Roman" panose="02020603050405020304" pitchFamily="18" charset="0"/>
              </a:rPr>
              <a:t>绘制试验</a:t>
            </a:r>
            <a:r>
              <a:rPr kumimoji="1" lang="zh-CN" altLang="en-US" sz="2200" b="1" dirty="0" smtClean="0">
                <a:solidFill>
                  <a:srgbClr val="000066"/>
                </a:solidFill>
                <a:ea typeface="幼圆" pitchFamily="49" charset="-122"/>
                <a:cs typeface="Times New Roman" panose="02020603050405020304" pitchFamily="18" charset="0"/>
              </a:rPr>
              <a:t>结果</a:t>
            </a:r>
            <a:r>
              <a:rPr kumimoji="1" lang="en-US" altLang="zh-CN" sz="2200" b="1" dirty="0" smtClean="0">
                <a:solidFill>
                  <a:srgbClr val="000066"/>
                </a:solidFill>
                <a:ea typeface="幼圆" pitchFamily="49" charset="-122"/>
                <a:cs typeface="Times New Roman" panose="02020603050405020304" pitchFamily="18" charset="0"/>
              </a:rPr>
              <a:t>:</a:t>
            </a:r>
            <a:br>
              <a:rPr kumimoji="1" lang="en-US" altLang="zh-CN" sz="2200" b="1" dirty="0" smtClean="0">
                <a:solidFill>
                  <a:srgbClr val="000066"/>
                </a:solidFill>
                <a:ea typeface="幼圆" pitchFamily="49" charset="-122"/>
                <a:cs typeface="Times New Roman" panose="02020603050405020304" pitchFamily="18" charset="0"/>
              </a:rPr>
            </a:br>
            <a:r>
              <a:rPr kumimoji="1" lang="zh-CN" altLang="en-US" sz="2200" b="1" dirty="0" smtClean="0">
                <a:solidFill>
                  <a:srgbClr val="000066"/>
                </a:solidFill>
                <a:ea typeface="幼圆" pitchFamily="49" charset="-122"/>
                <a:cs typeface="Times New Roman" panose="02020603050405020304" pitchFamily="18" charset="0"/>
              </a:rPr>
              <a:t>击</a:t>
            </a:r>
            <a:r>
              <a:rPr kumimoji="1" lang="zh-CN" altLang="en-US" sz="2200" b="1" dirty="0">
                <a:solidFill>
                  <a:srgbClr val="000066"/>
                </a:solidFill>
                <a:ea typeface="幼圆" pitchFamily="49" charset="-122"/>
                <a:cs typeface="Times New Roman" panose="02020603050405020304" pitchFamily="18" charset="0"/>
              </a:rPr>
              <a:t>实曲线</a:t>
            </a:r>
            <a:endParaRPr kumimoji="1" lang="en-US" altLang="zh-CN" sz="2200" b="1" dirty="0">
              <a:solidFill>
                <a:srgbClr val="000066"/>
              </a:solidFill>
              <a:ea typeface="幼圆" pitchFamily="49" charset="-122"/>
              <a:cs typeface="Times New Roman" panose="02020603050405020304" pitchFamily="18" charset="0"/>
            </a:endParaRPr>
          </a:p>
        </p:txBody>
      </p:sp>
      <p:grpSp>
        <p:nvGrpSpPr>
          <p:cNvPr id="104" name="Group 5"/>
          <p:cNvGrpSpPr>
            <a:grpSpLocks/>
          </p:cNvGrpSpPr>
          <p:nvPr/>
        </p:nvGrpSpPr>
        <p:grpSpPr bwMode="auto">
          <a:xfrm>
            <a:off x="4974962" y="781682"/>
            <a:ext cx="3825875" cy="3024187"/>
            <a:chOff x="2699" y="845"/>
            <a:chExt cx="2782" cy="1905"/>
          </a:xfrm>
        </p:grpSpPr>
        <p:sp>
          <p:nvSpPr>
            <p:cNvPr id="105" name="Rectangle 6"/>
            <p:cNvSpPr>
              <a:spLocks noChangeArrowheads="1"/>
            </p:cNvSpPr>
            <p:nvPr/>
          </p:nvSpPr>
          <p:spPr bwMode="auto">
            <a:xfrm>
              <a:off x="5083"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06" name="Rectangle 7"/>
            <p:cNvSpPr>
              <a:spLocks noChangeArrowheads="1"/>
            </p:cNvSpPr>
            <p:nvPr/>
          </p:nvSpPr>
          <p:spPr bwMode="auto">
            <a:xfrm>
              <a:off x="4686" y="2459"/>
              <a:ext cx="397"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07" name="Rectangle 8"/>
            <p:cNvSpPr>
              <a:spLocks noChangeArrowheads="1"/>
            </p:cNvSpPr>
            <p:nvPr/>
          </p:nvSpPr>
          <p:spPr bwMode="auto">
            <a:xfrm>
              <a:off x="4288"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08" name="Rectangle 9"/>
            <p:cNvSpPr>
              <a:spLocks noChangeArrowheads="1"/>
            </p:cNvSpPr>
            <p:nvPr/>
          </p:nvSpPr>
          <p:spPr bwMode="auto">
            <a:xfrm>
              <a:off x="3892" y="2459"/>
              <a:ext cx="396"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09" name="Rectangle 10"/>
            <p:cNvSpPr>
              <a:spLocks noChangeArrowheads="1"/>
            </p:cNvSpPr>
            <p:nvPr/>
          </p:nvSpPr>
          <p:spPr bwMode="auto">
            <a:xfrm>
              <a:off x="3494"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10" name="Rectangle 11"/>
            <p:cNvSpPr>
              <a:spLocks noChangeArrowheads="1"/>
            </p:cNvSpPr>
            <p:nvPr/>
          </p:nvSpPr>
          <p:spPr bwMode="auto">
            <a:xfrm>
              <a:off x="3097" y="2459"/>
              <a:ext cx="397"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11" name="Rectangle 12"/>
            <p:cNvSpPr>
              <a:spLocks noChangeArrowheads="1"/>
            </p:cNvSpPr>
            <p:nvPr/>
          </p:nvSpPr>
          <p:spPr bwMode="auto">
            <a:xfrm>
              <a:off x="2699"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12" name="Rectangle 13"/>
            <p:cNvSpPr>
              <a:spLocks noChangeArrowheads="1"/>
            </p:cNvSpPr>
            <p:nvPr/>
          </p:nvSpPr>
          <p:spPr bwMode="auto">
            <a:xfrm>
              <a:off x="5083"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13" name="Rectangle 14"/>
            <p:cNvSpPr>
              <a:spLocks noChangeArrowheads="1"/>
            </p:cNvSpPr>
            <p:nvPr/>
          </p:nvSpPr>
          <p:spPr bwMode="auto">
            <a:xfrm>
              <a:off x="4686" y="2190"/>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14" name="Rectangle 15"/>
            <p:cNvSpPr>
              <a:spLocks noChangeArrowheads="1"/>
            </p:cNvSpPr>
            <p:nvPr/>
          </p:nvSpPr>
          <p:spPr bwMode="auto">
            <a:xfrm>
              <a:off x="4288"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15" name="Rectangle 16"/>
            <p:cNvSpPr>
              <a:spLocks noChangeArrowheads="1"/>
            </p:cNvSpPr>
            <p:nvPr/>
          </p:nvSpPr>
          <p:spPr bwMode="auto">
            <a:xfrm>
              <a:off x="3892" y="2190"/>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16" name="Rectangle 17"/>
            <p:cNvSpPr>
              <a:spLocks noChangeArrowheads="1"/>
            </p:cNvSpPr>
            <p:nvPr/>
          </p:nvSpPr>
          <p:spPr bwMode="auto">
            <a:xfrm>
              <a:off x="3494"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17" name="Rectangle 18"/>
            <p:cNvSpPr>
              <a:spLocks noChangeArrowheads="1"/>
            </p:cNvSpPr>
            <p:nvPr/>
          </p:nvSpPr>
          <p:spPr bwMode="auto">
            <a:xfrm>
              <a:off x="3097" y="2190"/>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18" name="Rectangle 19"/>
            <p:cNvSpPr>
              <a:spLocks noChangeArrowheads="1"/>
            </p:cNvSpPr>
            <p:nvPr/>
          </p:nvSpPr>
          <p:spPr bwMode="auto">
            <a:xfrm>
              <a:off x="2699"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19" name="Rectangle 20"/>
            <p:cNvSpPr>
              <a:spLocks noChangeArrowheads="1"/>
            </p:cNvSpPr>
            <p:nvPr/>
          </p:nvSpPr>
          <p:spPr bwMode="auto">
            <a:xfrm>
              <a:off x="5083"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20" name="Rectangle 21"/>
            <p:cNvSpPr>
              <a:spLocks noChangeArrowheads="1"/>
            </p:cNvSpPr>
            <p:nvPr/>
          </p:nvSpPr>
          <p:spPr bwMode="auto">
            <a:xfrm>
              <a:off x="4686" y="1921"/>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21" name="Rectangle 22"/>
            <p:cNvSpPr>
              <a:spLocks noChangeArrowheads="1"/>
            </p:cNvSpPr>
            <p:nvPr/>
          </p:nvSpPr>
          <p:spPr bwMode="auto">
            <a:xfrm>
              <a:off x="4288"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22" name="Rectangle 23"/>
            <p:cNvSpPr>
              <a:spLocks noChangeArrowheads="1"/>
            </p:cNvSpPr>
            <p:nvPr/>
          </p:nvSpPr>
          <p:spPr bwMode="auto">
            <a:xfrm>
              <a:off x="3892" y="1921"/>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23" name="Rectangle 24"/>
            <p:cNvSpPr>
              <a:spLocks noChangeArrowheads="1"/>
            </p:cNvSpPr>
            <p:nvPr/>
          </p:nvSpPr>
          <p:spPr bwMode="auto">
            <a:xfrm>
              <a:off x="3494"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24" name="Rectangle 25"/>
            <p:cNvSpPr>
              <a:spLocks noChangeArrowheads="1"/>
            </p:cNvSpPr>
            <p:nvPr/>
          </p:nvSpPr>
          <p:spPr bwMode="auto">
            <a:xfrm>
              <a:off x="3097" y="1921"/>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25" name="Rectangle 26"/>
            <p:cNvSpPr>
              <a:spLocks noChangeArrowheads="1"/>
            </p:cNvSpPr>
            <p:nvPr/>
          </p:nvSpPr>
          <p:spPr bwMode="auto">
            <a:xfrm>
              <a:off x="2699"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26" name="Rectangle 27"/>
            <p:cNvSpPr>
              <a:spLocks noChangeArrowheads="1"/>
            </p:cNvSpPr>
            <p:nvPr/>
          </p:nvSpPr>
          <p:spPr bwMode="auto">
            <a:xfrm>
              <a:off x="5083"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27" name="Rectangle 28"/>
            <p:cNvSpPr>
              <a:spLocks noChangeArrowheads="1"/>
            </p:cNvSpPr>
            <p:nvPr/>
          </p:nvSpPr>
          <p:spPr bwMode="auto">
            <a:xfrm>
              <a:off x="4686" y="1652"/>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28" name="Rectangle 29"/>
            <p:cNvSpPr>
              <a:spLocks noChangeArrowheads="1"/>
            </p:cNvSpPr>
            <p:nvPr/>
          </p:nvSpPr>
          <p:spPr bwMode="auto">
            <a:xfrm>
              <a:off x="4288"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29" name="Rectangle 30"/>
            <p:cNvSpPr>
              <a:spLocks noChangeArrowheads="1"/>
            </p:cNvSpPr>
            <p:nvPr/>
          </p:nvSpPr>
          <p:spPr bwMode="auto">
            <a:xfrm>
              <a:off x="3892" y="1652"/>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30" name="Rectangle 31"/>
            <p:cNvSpPr>
              <a:spLocks noChangeArrowheads="1"/>
            </p:cNvSpPr>
            <p:nvPr/>
          </p:nvSpPr>
          <p:spPr bwMode="auto">
            <a:xfrm>
              <a:off x="3494"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31" name="Rectangle 32"/>
            <p:cNvSpPr>
              <a:spLocks noChangeArrowheads="1"/>
            </p:cNvSpPr>
            <p:nvPr/>
          </p:nvSpPr>
          <p:spPr bwMode="auto">
            <a:xfrm>
              <a:off x="3097" y="1652"/>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32" name="Rectangle 33"/>
            <p:cNvSpPr>
              <a:spLocks noChangeArrowheads="1"/>
            </p:cNvSpPr>
            <p:nvPr/>
          </p:nvSpPr>
          <p:spPr bwMode="auto">
            <a:xfrm>
              <a:off x="2699"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33" name="Rectangle 34"/>
            <p:cNvSpPr>
              <a:spLocks noChangeArrowheads="1"/>
            </p:cNvSpPr>
            <p:nvPr/>
          </p:nvSpPr>
          <p:spPr bwMode="auto">
            <a:xfrm>
              <a:off x="5083"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34" name="Rectangle 35"/>
            <p:cNvSpPr>
              <a:spLocks noChangeArrowheads="1"/>
            </p:cNvSpPr>
            <p:nvPr/>
          </p:nvSpPr>
          <p:spPr bwMode="auto">
            <a:xfrm>
              <a:off x="4686" y="1383"/>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35" name="Rectangle 36"/>
            <p:cNvSpPr>
              <a:spLocks noChangeArrowheads="1"/>
            </p:cNvSpPr>
            <p:nvPr/>
          </p:nvSpPr>
          <p:spPr bwMode="auto">
            <a:xfrm>
              <a:off x="4288"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36" name="Rectangle 37"/>
            <p:cNvSpPr>
              <a:spLocks noChangeArrowheads="1"/>
            </p:cNvSpPr>
            <p:nvPr/>
          </p:nvSpPr>
          <p:spPr bwMode="auto">
            <a:xfrm>
              <a:off x="3892" y="1383"/>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37" name="Rectangle 38"/>
            <p:cNvSpPr>
              <a:spLocks noChangeArrowheads="1"/>
            </p:cNvSpPr>
            <p:nvPr/>
          </p:nvSpPr>
          <p:spPr bwMode="auto">
            <a:xfrm>
              <a:off x="3494"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38" name="Rectangle 39"/>
            <p:cNvSpPr>
              <a:spLocks noChangeArrowheads="1"/>
            </p:cNvSpPr>
            <p:nvPr/>
          </p:nvSpPr>
          <p:spPr bwMode="auto">
            <a:xfrm>
              <a:off x="3097" y="1383"/>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39" name="Rectangle 40"/>
            <p:cNvSpPr>
              <a:spLocks noChangeArrowheads="1"/>
            </p:cNvSpPr>
            <p:nvPr/>
          </p:nvSpPr>
          <p:spPr bwMode="auto">
            <a:xfrm>
              <a:off x="2699"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40" name="Rectangle 41"/>
            <p:cNvSpPr>
              <a:spLocks noChangeArrowheads="1"/>
            </p:cNvSpPr>
            <p:nvPr/>
          </p:nvSpPr>
          <p:spPr bwMode="auto">
            <a:xfrm>
              <a:off x="5083"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41" name="Rectangle 42"/>
            <p:cNvSpPr>
              <a:spLocks noChangeArrowheads="1"/>
            </p:cNvSpPr>
            <p:nvPr/>
          </p:nvSpPr>
          <p:spPr bwMode="auto">
            <a:xfrm>
              <a:off x="4686" y="1114"/>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42" name="Rectangle 43"/>
            <p:cNvSpPr>
              <a:spLocks noChangeArrowheads="1"/>
            </p:cNvSpPr>
            <p:nvPr/>
          </p:nvSpPr>
          <p:spPr bwMode="auto">
            <a:xfrm>
              <a:off x="4288"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43" name="Rectangle 44"/>
            <p:cNvSpPr>
              <a:spLocks noChangeArrowheads="1"/>
            </p:cNvSpPr>
            <p:nvPr/>
          </p:nvSpPr>
          <p:spPr bwMode="auto">
            <a:xfrm>
              <a:off x="3892" y="1114"/>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44" name="Rectangle 45"/>
            <p:cNvSpPr>
              <a:spLocks noChangeArrowheads="1"/>
            </p:cNvSpPr>
            <p:nvPr/>
          </p:nvSpPr>
          <p:spPr bwMode="auto">
            <a:xfrm>
              <a:off x="3494"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45" name="Rectangle 46"/>
            <p:cNvSpPr>
              <a:spLocks noChangeArrowheads="1"/>
            </p:cNvSpPr>
            <p:nvPr/>
          </p:nvSpPr>
          <p:spPr bwMode="auto">
            <a:xfrm>
              <a:off x="3097" y="1114"/>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46" name="Rectangle 47"/>
            <p:cNvSpPr>
              <a:spLocks noChangeArrowheads="1"/>
            </p:cNvSpPr>
            <p:nvPr/>
          </p:nvSpPr>
          <p:spPr bwMode="auto">
            <a:xfrm>
              <a:off x="2699"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47" name="Rectangle 48"/>
            <p:cNvSpPr>
              <a:spLocks noChangeArrowheads="1"/>
            </p:cNvSpPr>
            <p:nvPr/>
          </p:nvSpPr>
          <p:spPr bwMode="auto">
            <a:xfrm>
              <a:off x="5083"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48" name="Rectangle 49"/>
            <p:cNvSpPr>
              <a:spLocks noChangeArrowheads="1"/>
            </p:cNvSpPr>
            <p:nvPr/>
          </p:nvSpPr>
          <p:spPr bwMode="auto">
            <a:xfrm>
              <a:off x="4686" y="845"/>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49" name="Rectangle 50"/>
            <p:cNvSpPr>
              <a:spLocks noChangeArrowheads="1"/>
            </p:cNvSpPr>
            <p:nvPr/>
          </p:nvSpPr>
          <p:spPr bwMode="auto">
            <a:xfrm>
              <a:off x="4288"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50" name="Rectangle 51"/>
            <p:cNvSpPr>
              <a:spLocks noChangeArrowheads="1"/>
            </p:cNvSpPr>
            <p:nvPr/>
          </p:nvSpPr>
          <p:spPr bwMode="auto">
            <a:xfrm>
              <a:off x="3892" y="845"/>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51" name="Rectangle 52"/>
            <p:cNvSpPr>
              <a:spLocks noChangeArrowheads="1"/>
            </p:cNvSpPr>
            <p:nvPr/>
          </p:nvSpPr>
          <p:spPr bwMode="auto">
            <a:xfrm>
              <a:off x="3494"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52" name="Rectangle 53"/>
            <p:cNvSpPr>
              <a:spLocks noChangeArrowheads="1"/>
            </p:cNvSpPr>
            <p:nvPr/>
          </p:nvSpPr>
          <p:spPr bwMode="auto">
            <a:xfrm>
              <a:off x="3097" y="845"/>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53" name="Rectangle 54"/>
            <p:cNvSpPr>
              <a:spLocks noChangeArrowheads="1"/>
            </p:cNvSpPr>
            <p:nvPr/>
          </p:nvSpPr>
          <p:spPr bwMode="auto">
            <a:xfrm>
              <a:off x="2699"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54" name="Line 55"/>
            <p:cNvSpPr>
              <a:spLocks noChangeShapeType="1"/>
            </p:cNvSpPr>
            <p:nvPr/>
          </p:nvSpPr>
          <p:spPr bwMode="auto">
            <a:xfrm>
              <a:off x="2699" y="845"/>
              <a:ext cx="2782" cy="0"/>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55" name="Line 56"/>
            <p:cNvSpPr>
              <a:spLocks noChangeShapeType="1"/>
            </p:cNvSpPr>
            <p:nvPr/>
          </p:nvSpPr>
          <p:spPr bwMode="auto">
            <a:xfrm>
              <a:off x="2699" y="1114"/>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56" name="Line 57"/>
            <p:cNvSpPr>
              <a:spLocks noChangeShapeType="1"/>
            </p:cNvSpPr>
            <p:nvPr/>
          </p:nvSpPr>
          <p:spPr bwMode="auto">
            <a:xfrm>
              <a:off x="2699" y="1383"/>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57" name="Line 58"/>
            <p:cNvSpPr>
              <a:spLocks noChangeShapeType="1"/>
            </p:cNvSpPr>
            <p:nvPr/>
          </p:nvSpPr>
          <p:spPr bwMode="auto">
            <a:xfrm>
              <a:off x="2699" y="1652"/>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58" name="Line 59"/>
            <p:cNvSpPr>
              <a:spLocks noChangeShapeType="1"/>
            </p:cNvSpPr>
            <p:nvPr/>
          </p:nvSpPr>
          <p:spPr bwMode="auto">
            <a:xfrm>
              <a:off x="2699" y="1921"/>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59" name="Line 60"/>
            <p:cNvSpPr>
              <a:spLocks noChangeShapeType="1"/>
            </p:cNvSpPr>
            <p:nvPr/>
          </p:nvSpPr>
          <p:spPr bwMode="auto">
            <a:xfrm>
              <a:off x="2699" y="2190"/>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0" name="Line 61"/>
            <p:cNvSpPr>
              <a:spLocks noChangeShapeType="1"/>
            </p:cNvSpPr>
            <p:nvPr/>
          </p:nvSpPr>
          <p:spPr bwMode="auto">
            <a:xfrm>
              <a:off x="2699" y="2459"/>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1" name="Line 62"/>
            <p:cNvSpPr>
              <a:spLocks noChangeShapeType="1"/>
            </p:cNvSpPr>
            <p:nvPr/>
          </p:nvSpPr>
          <p:spPr bwMode="auto">
            <a:xfrm>
              <a:off x="2699" y="2750"/>
              <a:ext cx="2782" cy="0"/>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2" name="Line 63"/>
            <p:cNvSpPr>
              <a:spLocks noChangeShapeType="1"/>
            </p:cNvSpPr>
            <p:nvPr/>
          </p:nvSpPr>
          <p:spPr bwMode="auto">
            <a:xfrm>
              <a:off x="2699" y="845"/>
              <a:ext cx="0" cy="1905"/>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3" name="Line 64"/>
            <p:cNvSpPr>
              <a:spLocks noChangeShapeType="1"/>
            </p:cNvSpPr>
            <p:nvPr/>
          </p:nvSpPr>
          <p:spPr bwMode="auto">
            <a:xfrm>
              <a:off x="3097"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4" name="Line 65"/>
            <p:cNvSpPr>
              <a:spLocks noChangeShapeType="1"/>
            </p:cNvSpPr>
            <p:nvPr/>
          </p:nvSpPr>
          <p:spPr bwMode="auto">
            <a:xfrm>
              <a:off x="3494"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5" name="Line 66"/>
            <p:cNvSpPr>
              <a:spLocks noChangeShapeType="1"/>
            </p:cNvSpPr>
            <p:nvPr/>
          </p:nvSpPr>
          <p:spPr bwMode="auto">
            <a:xfrm>
              <a:off x="3892"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6" name="Line 67"/>
            <p:cNvSpPr>
              <a:spLocks noChangeShapeType="1"/>
            </p:cNvSpPr>
            <p:nvPr/>
          </p:nvSpPr>
          <p:spPr bwMode="auto">
            <a:xfrm>
              <a:off x="4288"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7" name="Line 68"/>
            <p:cNvSpPr>
              <a:spLocks noChangeShapeType="1"/>
            </p:cNvSpPr>
            <p:nvPr/>
          </p:nvSpPr>
          <p:spPr bwMode="auto">
            <a:xfrm>
              <a:off x="4686"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8" name="Line 69"/>
            <p:cNvSpPr>
              <a:spLocks noChangeShapeType="1"/>
            </p:cNvSpPr>
            <p:nvPr/>
          </p:nvSpPr>
          <p:spPr bwMode="auto">
            <a:xfrm>
              <a:off x="5083"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69" name="Line 70"/>
            <p:cNvSpPr>
              <a:spLocks noChangeShapeType="1"/>
            </p:cNvSpPr>
            <p:nvPr/>
          </p:nvSpPr>
          <p:spPr bwMode="auto">
            <a:xfrm>
              <a:off x="5481" y="845"/>
              <a:ext cx="0" cy="1905"/>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grpSp>
      <p:sp>
        <p:nvSpPr>
          <p:cNvPr id="170" name="Text Box 79"/>
          <p:cNvSpPr txBox="1">
            <a:spLocks noChangeArrowheads="1"/>
          </p:cNvSpPr>
          <p:nvPr/>
        </p:nvSpPr>
        <p:spPr bwMode="auto">
          <a:xfrm>
            <a:off x="4861284" y="3945990"/>
            <a:ext cx="403956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0     </a:t>
            </a:r>
            <a:r>
              <a:rPr kumimoji="1" lang="en-US" altLang="zh-CN" sz="2000" b="1" dirty="0" smtClean="0">
                <a:solidFill>
                  <a:srgbClr val="000066"/>
                </a:solidFill>
                <a:ea typeface="华文新魏" pitchFamily="2" charset="-122"/>
                <a:cs typeface="Times New Roman" pitchFamily="18" charset="0"/>
              </a:rPr>
              <a:t>  </a:t>
            </a:r>
            <a:r>
              <a:rPr kumimoji="1" lang="en-US" altLang="zh-CN" sz="2000" b="1" dirty="0">
                <a:solidFill>
                  <a:srgbClr val="000066"/>
                </a:solidFill>
                <a:ea typeface="华文新魏" pitchFamily="2" charset="-122"/>
                <a:cs typeface="Times New Roman" pitchFamily="18" charset="0"/>
              </a:rPr>
              <a:t>4     </a:t>
            </a:r>
            <a:r>
              <a:rPr kumimoji="1" lang="en-US" altLang="zh-CN" sz="2000" b="1" dirty="0" smtClean="0">
                <a:solidFill>
                  <a:srgbClr val="000066"/>
                </a:solidFill>
                <a:ea typeface="华文新魏" pitchFamily="2" charset="-122"/>
                <a:cs typeface="Times New Roman" pitchFamily="18" charset="0"/>
              </a:rPr>
              <a:t>  </a:t>
            </a:r>
            <a:r>
              <a:rPr kumimoji="1" lang="en-US" altLang="zh-CN" sz="2000" b="1" dirty="0">
                <a:solidFill>
                  <a:srgbClr val="000066"/>
                </a:solidFill>
                <a:ea typeface="华文新魏" pitchFamily="2" charset="-122"/>
                <a:cs typeface="Times New Roman" pitchFamily="18" charset="0"/>
              </a:rPr>
              <a:t>8   </a:t>
            </a:r>
            <a:r>
              <a:rPr kumimoji="1" lang="en-US" altLang="zh-CN" sz="2000" b="1" dirty="0" smtClean="0">
                <a:solidFill>
                  <a:srgbClr val="000066"/>
                </a:solidFill>
                <a:ea typeface="华文新魏" pitchFamily="2" charset="-122"/>
                <a:cs typeface="Times New Roman" pitchFamily="18" charset="0"/>
              </a:rPr>
              <a:t>  </a:t>
            </a:r>
            <a:r>
              <a:rPr kumimoji="1" lang="en-US" altLang="zh-CN" sz="2000" b="1" dirty="0">
                <a:solidFill>
                  <a:srgbClr val="000066"/>
                </a:solidFill>
                <a:ea typeface="华文新魏" pitchFamily="2" charset="-122"/>
                <a:cs typeface="Times New Roman" pitchFamily="18" charset="0"/>
              </a:rPr>
              <a:t>12   </a:t>
            </a:r>
            <a:r>
              <a:rPr kumimoji="1" lang="en-US" altLang="zh-CN" sz="2000" b="1" dirty="0" smtClean="0">
                <a:solidFill>
                  <a:srgbClr val="000066"/>
                </a:solidFill>
                <a:ea typeface="华文新魏" pitchFamily="2" charset="-122"/>
                <a:cs typeface="Times New Roman" pitchFamily="18" charset="0"/>
              </a:rPr>
              <a:t> 16     20     24    28</a:t>
            </a:r>
            <a:endParaRPr kumimoji="1" lang="en-US" altLang="zh-CN" sz="2000" b="1" dirty="0">
              <a:solidFill>
                <a:srgbClr val="000066"/>
              </a:solidFill>
              <a:ea typeface="华文新魏" pitchFamily="2" charset="-122"/>
              <a:cs typeface="Times New Roman" pitchFamily="18" charset="0"/>
            </a:endParaRPr>
          </a:p>
          <a:p>
            <a:pPr eaLnBrk="1" hangingPunct="1">
              <a:lnSpc>
                <a:spcPct val="100000"/>
              </a:lnSpc>
              <a:spcBef>
                <a:spcPct val="0"/>
              </a:spcBef>
              <a:spcAft>
                <a:spcPct val="0"/>
              </a:spcAft>
            </a:pPr>
            <a:r>
              <a:rPr kumimoji="1" lang="zh-CN" altLang="en-US" sz="2000" b="1" dirty="0" smtClean="0">
                <a:solidFill>
                  <a:srgbClr val="000066"/>
                </a:solidFill>
                <a:ea typeface="幼圆" pitchFamily="49" charset="-122"/>
                <a:cs typeface="Times New Roman" pitchFamily="18" charset="0"/>
              </a:rPr>
              <a:t>                        含水量 </a:t>
            </a:r>
            <a:r>
              <a:rPr kumimoji="1" lang="en-US" altLang="zh-CN" sz="2000" b="1" i="1" dirty="0" smtClean="0">
                <a:solidFill>
                  <a:srgbClr val="000066"/>
                </a:solidFill>
                <a:ea typeface="幼圆" pitchFamily="49" charset="-122"/>
                <a:cs typeface="Times New Roman" pitchFamily="18" charset="0"/>
              </a:rPr>
              <a:t>w</a:t>
            </a:r>
            <a:r>
              <a:rPr kumimoji="1" lang="en-US" altLang="zh-CN" sz="2000" b="1" dirty="0" smtClean="0">
                <a:solidFill>
                  <a:srgbClr val="000066"/>
                </a:solidFill>
                <a:ea typeface="幼圆" pitchFamily="49" charset="-122"/>
                <a:cs typeface="Times New Roman" pitchFamily="18" charset="0"/>
              </a:rPr>
              <a:t> (%)</a:t>
            </a:r>
            <a:endParaRPr kumimoji="1" lang="en-US" altLang="zh-CN" sz="2000" b="1" dirty="0">
              <a:solidFill>
                <a:srgbClr val="000066"/>
              </a:solidFill>
              <a:ea typeface="幼圆" pitchFamily="49" charset="-122"/>
              <a:cs typeface="Times New Roman" pitchFamily="18" charset="0"/>
            </a:endParaRPr>
          </a:p>
        </p:txBody>
      </p:sp>
      <p:grpSp>
        <p:nvGrpSpPr>
          <p:cNvPr id="171" name="Group 80"/>
          <p:cNvGrpSpPr>
            <a:grpSpLocks/>
          </p:cNvGrpSpPr>
          <p:nvPr/>
        </p:nvGrpSpPr>
        <p:grpSpPr bwMode="auto">
          <a:xfrm>
            <a:off x="4144701" y="983295"/>
            <a:ext cx="689707" cy="3016249"/>
            <a:chOff x="2090" y="973"/>
            <a:chExt cx="501" cy="1900"/>
          </a:xfrm>
        </p:grpSpPr>
        <p:sp>
          <p:nvSpPr>
            <p:cNvPr id="172" name="Text Box 81"/>
            <p:cNvSpPr txBox="1">
              <a:spLocks noChangeArrowheads="1"/>
            </p:cNvSpPr>
            <p:nvPr/>
          </p:nvSpPr>
          <p:spPr bwMode="auto">
            <a:xfrm>
              <a:off x="2358" y="973"/>
              <a:ext cx="233" cy="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2.0</a:t>
              </a:r>
            </a:p>
            <a:p>
              <a:pPr algn="ctr" eaLnBrk="1" hangingPunct="1">
                <a:lnSpc>
                  <a:spcPct val="140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1.8</a:t>
              </a:r>
            </a:p>
            <a:p>
              <a:pPr algn="ctr" eaLnBrk="1" hangingPunct="1">
                <a:lnSpc>
                  <a:spcPct val="140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1.6</a:t>
              </a:r>
            </a:p>
            <a:p>
              <a:pPr algn="ctr" eaLnBrk="1" hangingPunct="1">
                <a:lnSpc>
                  <a:spcPct val="140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1.4</a:t>
              </a:r>
            </a:p>
          </p:txBody>
        </p:sp>
        <p:sp>
          <p:nvSpPr>
            <p:cNvPr id="173" name="Text Box 82"/>
            <p:cNvSpPr txBox="1">
              <a:spLocks noChangeArrowheads="1"/>
            </p:cNvSpPr>
            <p:nvPr/>
          </p:nvSpPr>
          <p:spPr bwMode="auto">
            <a:xfrm rot="16200000">
              <a:off x="1583" y="1845"/>
              <a:ext cx="1237"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smtClean="0">
                  <a:solidFill>
                    <a:srgbClr val="000066"/>
                  </a:solidFill>
                  <a:latin typeface="幼圆" pitchFamily="49" charset="-122"/>
                  <a:ea typeface="幼圆" pitchFamily="49" charset="-122"/>
                </a:rPr>
                <a:t>干密度 </a:t>
              </a:r>
              <a:r>
                <a:rPr kumimoji="1" lang="zh-CN" altLang="en-US" sz="2000" b="1" i="1" dirty="0" smtClean="0">
                  <a:solidFill>
                    <a:srgbClr val="000066"/>
                  </a:solidFill>
                  <a:ea typeface="幼圆" pitchFamily="49" charset="-122"/>
                  <a:sym typeface="Symbol" pitchFamily="18" charset="2"/>
                </a:rPr>
                <a:t></a:t>
              </a:r>
              <a:r>
                <a:rPr kumimoji="1" lang="en-US" altLang="zh-CN" sz="2000" b="1" baseline="-25000" dirty="0" smtClean="0">
                  <a:solidFill>
                    <a:srgbClr val="000066"/>
                  </a:solidFill>
                  <a:ea typeface="幼圆" pitchFamily="49" charset="-122"/>
                  <a:sym typeface="Symbol" pitchFamily="18" charset="2"/>
                </a:rPr>
                <a:t>d </a:t>
              </a:r>
              <a:r>
                <a:rPr kumimoji="1" lang="en-US" altLang="zh-CN" sz="2000" b="1" dirty="0" smtClean="0">
                  <a:solidFill>
                    <a:srgbClr val="000066"/>
                  </a:solidFill>
                  <a:ea typeface="幼圆" pitchFamily="49" charset="-122"/>
                  <a:sym typeface="Symbol" pitchFamily="18" charset="2"/>
                </a:rPr>
                <a:t>(</a:t>
              </a:r>
              <a:r>
                <a:rPr kumimoji="1" lang="en-US" altLang="zh-CN" sz="2000" b="1" dirty="0">
                  <a:solidFill>
                    <a:srgbClr val="000066"/>
                  </a:solidFill>
                  <a:ea typeface="幼圆" pitchFamily="49" charset="-122"/>
                  <a:sym typeface="Symbol" pitchFamily="18" charset="2"/>
                </a:rPr>
                <a:t>g/cm</a:t>
              </a:r>
              <a:r>
                <a:rPr kumimoji="1" lang="en-US" altLang="zh-CN" sz="2000" b="1" baseline="30000" dirty="0">
                  <a:solidFill>
                    <a:srgbClr val="000066"/>
                  </a:solidFill>
                  <a:ea typeface="幼圆" pitchFamily="49" charset="-122"/>
                  <a:sym typeface="Symbol" pitchFamily="18" charset="2"/>
                </a:rPr>
                <a:t>3</a:t>
              </a:r>
              <a:r>
                <a:rPr kumimoji="1" lang="en-US" altLang="zh-CN" sz="2000" b="1" dirty="0">
                  <a:solidFill>
                    <a:srgbClr val="000066"/>
                  </a:solidFill>
                  <a:ea typeface="幼圆" pitchFamily="49" charset="-122"/>
                  <a:sym typeface="Symbol" pitchFamily="18" charset="2"/>
                </a:rPr>
                <a:t>)</a:t>
              </a:r>
            </a:p>
          </p:txBody>
        </p:sp>
      </p:grpSp>
      <p:sp>
        <p:nvSpPr>
          <p:cNvPr id="174" name="Freeform 83"/>
          <p:cNvSpPr>
            <a:spLocks/>
          </p:cNvSpPr>
          <p:nvPr/>
        </p:nvSpPr>
        <p:spPr bwMode="auto">
          <a:xfrm>
            <a:off x="5286112" y="1814485"/>
            <a:ext cx="2682875" cy="1127784"/>
          </a:xfrm>
          <a:custGeom>
            <a:avLst/>
            <a:gdLst>
              <a:gd name="T0" fmla="*/ 0 w 1951"/>
              <a:gd name="T1" fmla="*/ 2147483647 h 716"/>
              <a:gd name="T2" fmla="*/ 2147483647 w 1951"/>
              <a:gd name="T3" fmla="*/ 2147483647 h 716"/>
              <a:gd name="T4" fmla="*/ 2147483647 w 1951"/>
              <a:gd name="T5" fmla="*/ 2147483647 h 716"/>
              <a:gd name="T6" fmla="*/ 2147483647 w 1951"/>
              <a:gd name="T7" fmla="*/ 2147483647 h 716"/>
              <a:gd name="T8" fmla="*/ 2147483647 w 1951"/>
              <a:gd name="T9" fmla="*/ 2147483647 h 716"/>
              <a:gd name="T10" fmla="*/ 2147483647 w 1951"/>
              <a:gd name="T11" fmla="*/ 2147483647 h 716"/>
              <a:gd name="T12" fmla="*/ 2147483647 w 1951"/>
              <a:gd name="T13" fmla="*/ 2147483647 h 716"/>
              <a:gd name="T14" fmla="*/ 2147483647 w 1951"/>
              <a:gd name="T15" fmla="*/ 2147483647 h 716"/>
              <a:gd name="T16" fmla="*/ 2147483647 w 1951"/>
              <a:gd name="T17" fmla="*/ 2147483647 h 716"/>
              <a:gd name="T18" fmla="*/ 2147483647 w 1951"/>
              <a:gd name="T19" fmla="*/ 2147483647 h 716"/>
              <a:gd name="T20" fmla="*/ 2147483647 w 1951"/>
              <a:gd name="T21" fmla="*/ 2147483647 h 716"/>
              <a:gd name="T22" fmla="*/ 2147483647 w 1951"/>
              <a:gd name="T23" fmla="*/ 2147483647 h 716"/>
              <a:gd name="T24" fmla="*/ 2147483647 w 1951"/>
              <a:gd name="T25" fmla="*/ 2147483647 h 7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51"/>
              <a:gd name="T40" fmla="*/ 0 h 716"/>
              <a:gd name="T41" fmla="*/ 1951 w 1951"/>
              <a:gd name="T42" fmla="*/ 716 h 716"/>
              <a:gd name="connsiteX0" fmla="*/ 0 w 10000"/>
              <a:gd name="connsiteY0" fmla="*/ 9922 h 9922"/>
              <a:gd name="connsiteX1" fmla="*/ 1369 w 10000"/>
              <a:gd name="connsiteY1" fmla="*/ 6766 h 9922"/>
              <a:gd name="connsiteX2" fmla="*/ 2260 w 10000"/>
              <a:gd name="connsiteY2" fmla="*/ 4671 h 9922"/>
              <a:gd name="connsiteX3" fmla="*/ 2937 w 10000"/>
              <a:gd name="connsiteY3" fmla="*/ 3037 h 9922"/>
              <a:gd name="connsiteX4" fmla="*/ 3767 w 10000"/>
              <a:gd name="connsiteY4" fmla="*/ 1361 h 9922"/>
              <a:gd name="connsiteX5" fmla="*/ 4380 w 10000"/>
              <a:gd name="connsiteY5" fmla="*/ 439 h 9922"/>
              <a:gd name="connsiteX6" fmla="*/ 5090 w 10000"/>
              <a:gd name="connsiteY6" fmla="*/ 20 h 9922"/>
              <a:gd name="connsiteX7" fmla="*/ 5935 w 10000"/>
              <a:gd name="connsiteY7" fmla="*/ 1025 h 9922"/>
              <a:gd name="connsiteX8" fmla="*/ 7058 w 10000"/>
              <a:gd name="connsiteY8" fmla="*/ 3497 h 9922"/>
              <a:gd name="connsiteX9" fmla="*/ 7981 w 10000"/>
              <a:gd name="connsiteY9" fmla="*/ 5718 h 9922"/>
              <a:gd name="connsiteX10" fmla="*/ 8719 w 10000"/>
              <a:gd name="connsiteY10" fmla="*/ 7394 h 9922"/>
              <a:gd name="connsiteX11" fmla="*/ 9457 w 10000"/>
              <a:gd name="connsiteY11" fmla="*/ 8902 h 9922"/>
              <a:gd name="connsiteX12" fmla="*/ 10000 w 10000"/>
              <a:gd name="connsiteY12" fmla="*/ 9922 h 9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9922">
                <a:moveTo>
                  <a:pt x="0" y="9922"/>
                </a:moveTo>
                <a:cubicBezTo>
                  <a:pt x="226" y="9391"/>
                  <a:pt x="989" y="7645"/>
                  <a:pt x="1369" y="6766"/>
                </a:cubicBezTo>
                <a:cubicBezTo>
                  <a:pt x="1748" y="5886"/>
                  <a:pt x="1999" y="5299"/>
                  <a:pt x="2260" y="4671"/>
                </a:cubicBezTo>
                <a:cubicBezTo>
                  <a:pt x="2522" y="4042"/>
                  <a:pt x="2686" y="3581"/>
                  <a:pt x="2937" y="3037"/>
                </a:cubicBezTo>
                <a:cubicBezTo>
                  <a:pt x="3188" y="2492"/>
                  <a:pt x="3527" y="1794"/>
                  <a:pt x="3767" y="1361"/>
                </a:cubicBezTo>
                <a:cubicBezTo>
                  <a:pt x="4007" y="928"/>
                  <a:pt x="4159" y="662"/>
                  <a:pt x="4380" y="439"/>
                </a:cubicBezTo>
                <a:cubicBezTo>
                  <a:pt x="4600" y="215"/>
                  <a:pt x="4831" y="-78"/>
                  <a:pt x="5090" y="20"/>
                </a:cubicBezTo>
                <a:cubicBezTo>
                  <a:pt x="5349" y="118"/>
                  <a:pt x="5607" y="439"/>
                  <a:pt x="5935" y="1025"/>
                </a:cubicBezTo>
                <a:cubicBezTo>
                  <a:pt x="6263" y="1612"/>
                  <a:pt x="6720" y="2715"/>
                  <a:pt x="7058" y="3497"/>
                </a:cubicBezTo>
                <a:cubicBezTo>
                  <a:pt x="7396" y="4280"/>
                  <a:pt x="7704" y="5076"/>
                  <a:pt x="7981" y="5718"/>
                </a:cubicBezTo>
                <a:cubicBezTo>
                  <a:pt x="8257" y="6361"/>
                  <a:pt x="8473" y="6863"/>
                  <a:pt x="8719" y="7394"/>
                </a:cubicBezTo>
                <a:cubicBezTo>
                  <a:pt x="8965" y="7925"/>
                  <a:pt x="9241" y="8483"/>
                  <a:pt x="9457" y="8902"/>
                </a:cubicBezTo>
                <a:cubicBezTo>
                  <a:pt x="9672" y="9321"/>
                  <a:pt x="9887" y="9713"/>
                  <a:pt x="10000" y="9922"/>
                </a:cubicBezTo>
              </a:path>
            </a:pathLst>
          </a:custGeom>
          <a:noFill/>
          <a:ln w="28575">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p>
            <a:endParaRPr lang="zh-CN" altLang="en-US"/>
          </a:p>
        </p:txBody>
      </p:sp>
      <p:sp>
        <p:nvSpPr>
          <p:cNvPr id="181" name="Oval 71"/>
          <p:cNvSpPr>
            <a:spLocks noChangeArrowheads="1"/>
          </p:cNvSpPr>
          <p:nvPr/>
        </p:nvSpPr>
        <p:spPr bwMode="auto">
          <a:xfrm>
            <a:off x="5235312" y="2856544"/>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82" name="Oval 72"/>
          <p:cNvSpPr>
            <a:spLocks noChangeArrowheads="1"/>
          </p:cNvSpPr>
          <p:nvPr/>
        </p:nvSpPr>
        <p:spPr bwMode="auto">
          <a:xfrm>
            <a:off x="5722675" y="2351719"/>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83" name="Oval 73"/>
          <p:cNvSpPr>
            <a:spLocks noChangeArrowheads="1"/>
          </p:cNvSpPr>
          <p:nvPr/>
        </p:nvSpPr>
        <p:spPr bwMode="auto">
          <a:xfrm>
            <a:off x="6097325" y="2005644"/>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84" name="Oval 74"/>
          <p:cNvSpPr>
            <a:spLocks noChangeArrowheads="1"/>
          </p:cNvSpPr>
          <p:nvPr/>
        </p:nvSpPr>
        <p:spPr bwMode="auto">
          <a:xfrm>
            <a:off x="6479912" y="1788157"/>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85" name="Oval 75"/>
          <p:cNvSpPr>
            <a:spLocks noChangeArrowheads="1"/>
          </p:cNvSpPr>
          <p:nvPr/>
        </p:nvSpPr>
        <p:spPr bwMode="auto">
          <a:xfrm>
            <a:off x="6808525" y="1905632"/>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86" name="Oval 76"/>
          <p:cNvSpPr>
            <a:spLocks noChangeArrowheads="1"/>
          </p:cNvSpPr>
          <p:nvPr/>
        </p:nvSpPr>
        <p:spPr bwMode="auto">
          <a:xfrm>
            <a:off x="7221275" y="2235832"/>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87" name="Oval 77"/>
          <p:cNvSpPr>
            <a:spLocks noChangeArrowheads="1"/>
          </p:cNvSpPr>
          <p:nvPr/>
        </p:nvSpPr>
        <p:spPr bwMode="auto">
          <a:xfrm>
            <a:off x="7718162" y="2610482"/>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88" name="Oval 78"/>
          <p:cNvSpPr>
            <a:spLocks noChangeArrowheads="1"/>
          </p:cNvSpPr>
          <p:nvPr/>
        </p:nvSpPr>
        <p:spPr bwMode="auto">
          <a:xfrm>
            <a:off x="7905487" y="2869244"/>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91" name="Text Box 3"/>
          <p:cNvSpPr txBox="1">
            <a:spLocks noChangeArrowheads="1"/>
          </p:cNvSpPr>
          <p:nvPr/>
        </p:nvSpPr>
        <p:spPr bwMode="auto">
          <a:xfrm>
            <a:off x="2473325" y="5729288"/>
            <a:ext cx="450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4000" b="1" dirty="0">
                <a:solidFill>
                  <a:srgbClr val="000066"/>
                </a:solidFill>
                <a:latin typeface="黑体" pitchFamily="2" charset="-122"/>
                <a:ea typeface="黑体" pitchFamily="2" charset="-122"/>
              </a:rPr>
              <a:t>室内标准击实试验 </a:t>
            </a:r>
          </a:p>
        </p:txBody>
      </p:sp>
    </p:spTree>
    <p:extLst>
      <p:ext uri="{BB962C8B-B14F-4D97-AF65-F5344CB8AC3E}">
        <p14:creationId xmlns:p14="http://schemas.microsoft.com/office/powerpoint/2010/main" val="10902896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blinds(horizontal)">
                                      <p:cBhvr>
                                        <p:cTn id="7" dur="500"/>
                                        <p:tgtEl>
                                          <p:spTgt spid="99"/>
                                        </p:tgtEl>
                                      </p:cBhvr>
                                    </p:animEffect>
                                  </p:childTnLst>
                                </p:cTn>
                              </p:par>
                            </p:childTnLst>
                          </p:cTn>
                        </p:par>
                        <p:par>
                          <p:cTn id="8" fill="hold">
                            <p:stCondLst>
                              <p:cond delay="500"/>
                            </p:stCondLst>
                            <p:childTnLst>
                              <p:par>
                                <p:cTn id="9" presetID="3" presetClass="entr" presetSubtype="10" fill="hold" grpId="0" nodeType="afterEffect">
                                  <p:stCondLst>
                                    <p:cond delay="500"/>
                                  </p:stCondLst>
                                  <p:childTnLst>
                                    <p:set>
                                      <p:cBhvr>
                                        <p:cTn id="10" dur="1" fill="hold">
                                          <p:stCondLst>
                                            <p:cond delay="0"/>
                                          </p:stCondLst>
                                        </p:cTn>
                                        <p:tgtEl>
                                          <p:spTgt spid="100">
                                            <p:txEl>
                                              <p:pRg st="0" end="0"/>
                                            </p:txEl>
                                          </p:spTgt>
                                        </p:tgtEl>
                                        <p:attrNameLst>
                                          <p:attrName>style.visibility</p:attrName>
                                        </p:attrNameLst>
                                      </p:cBhvr>
                                      <p:to>
                                        <p:strVal val="visible"/>
                                      </p:to>
                                    </p:set>
                                    <p:animEffect transition="in" filter="blinds(horizontal)">
                                      <p:cBhvr>
                                        <p:cTn id="11" dur="500"/>
                                        <p:tgtEl>
                                          <p:spTgt spid="100">
                                            <p:txEl>
                                              <p:pRg st="0" end="0"/>
                                            </p:txEl>
                                          </p:spTgt>
                                        </p:tgtEl>
                                      </p:cBhvr>
                                    </p:animEffect>
                                  </p:childTnLst>
                                </p:cTn>
                              </p:par>
                            </p:childTnLst>
                          </p:cTn>
                        </p:par>
                        <p:par>
                          <p:cTn id="12" fill="hold">
                            <p:stCondLst>
                              <p:cond delay="1500"/>
                            </p:stCondLst>
                            <p:childTnLst>
                              <p:par>
                                <p:cTn id="13" presetID="3" presetClass="entr" presetSubtype="10" fill="hold" grpId="0" nodeType="afterEffect">
                                  <p:stCondLst>
                                    <p:cond delay="500"/>
                                  </p:stCondLst>
                                  <p:childTnLst>
                                    <p:set>
                                      <p:cBhvr>
                                        <p:cTn id="14" dur="1" fill="hold">
                                          <p:stCondLst>
                                            <p:cond delay="0"/>
                                          </p:stCondLst>
                                        </p:cTn>
                                        <p:tgtEl>
                                          <p:spTgt spid="100">
                                            <p:txEl>
                                              <p:pRg st="1" end="1"/>
                                            </p:txEl>
                                          </p:spTgt>
                                        </p:tgtEl>
                                        <p:attrNameLst>
                                          <p:attrName>style.visibility</p:attrName>
                                        </p:attrNameLst>
                                      </p:cBhvr>
                                      <p:to>
                                        <p:strVal val="visible"/>
                                      </p:to>
                                    </p:set>
                                    <p:animEffect transition="in" filter="blinds(horizontal)">
                                      <p:cBhvr>
                                        <p:cTn id="15" dur="500"/>
                                        <p:tgtEl>
                                          <p:spTgt spid="100">
                                            <p:txEl>
                                              <p:pRg st="1" end="1"/>
                                            </p:txEl>
                                          </p:spTgt>
                                        </p:tgtEl>
                                      </p:cBhvr>
                                    </p:animEffect>
                                  </p:childTnLst>
                                </p:cTn>
                              </p:par>
                            </p:childTnLst>
                          </p:cTn>
                        </p:par>
                        <p:par>
                          <p:cTn id="16" fill="hold">
                            <p:stCondLst>
                              <p:cond delay="2500"/>
                            </p:stCondLst>
                            <p:childTnLst>
                              <p:par>
                                <p:cTn id="17" presetID="3" presetClass="entr" presetSubtype="10" fill="hold" grpId="0" nodeType="afterEffect">
                                  <p:stCondLst>
                                    <p:cond delay="500"/>
                                  </p:stCondLst>
                                  <p:childTnLst>
                                    <p:set>
                                      <p:cBhvr>
                                        <p:cTn id="18" dur="1" fill="hold">
                                          <p:stCondLst>
                                            <p:cond delay="0"/>
                                          </p:stCondLst>
                                        </p:cTn>
                                        <p:tgtEl>
                                          <p:spTgt spid="100">
                                            <p:txEl>
                                              <p:pRg st="2" end="2"/>
                                            </p:txEl>
                                          </p:spTgt>
                                        </p:tgtEl>
                                        <p:attrNameLst>
                                          <p:attrName>style.visibility</p:attrName>
                                        </p:attrNameLst>
                                      </p:cBhvr>
                                      <p:to>
                                        <p:strVal val="visible"/>
                                      </p:to>
                                    </p:set>
                                    <p:animEffect transition="in" filter="blinds(horizontal)">
                                      <p:cBhvr>
                                        <p:cTn id="19" dur="500"/>
                                        <p:tgtEl>
                                          <p:spTgt spid="100">
                                            <p:txEl>
                                              <p:pRg st="2" end="2"/>
                                            </p:txEl>
                                          </p:spTgt>
                                        </p:tgtEl>
                                      </p:cBhvr>
                                    </p:animEffect>
                                  </p:childTnLst>
                                </p:cTn>
                              </p:par>
                            </p:childTnLst>
                          </p:cTn>
                        </p:par>
                        <p:par>
                          <p:cTn id="20" fill="hold">
                            <p:stCondLst>
                              <p:cond delay="3500"/>
                            </p:stCondLst>
                            <p:childTnLst>
                              <p:par>
                                <p:cTn id="21" presetID="3" presetClass="entr" presetSubtype="10" fill="hold" grpId="0" nodeType="afterEffect">
                                  <p:stCondLst>
                                    <p:cond delay="500"/>
                                  </p:stCondLst>
                                  <p:childTnLst>
                                    <p:set>
                                      <p:cBhvr>
                                        <p:cTn id="22" dur="1" fill="hold">
                                          <p:stCondLst>
                                            <p:cond delay="0"/>
                                          </p:stCondLst>
                                        </p:cTn>
                                        <p:tgtEl>
                                          <p:spTgt spid="100">
                                            <p:txEl>
                                              <p:pRg st="3" end="3"/>
                                            </p:txEl>
                                          </p:spTgt>
                                        </p:tgtEl>
                                        <p:attrNameLst>
                                          <p:attrName>style.visibility</p:attrName>
                                        </p:attrNameLst>
                                      </p:cBhvr>
                                      <p:to>
                                        <p:strVal val="visible"/>
                                      </p:to>
                                    </p:set>
                                    <p:animEffect transition="in" filter="blinds(horizontal)">
                                      <p:cBhvr>
                                        <p:cTn id="23" dur="500"/>
                                        <p:tgtEl>
                                          <p:spTgt spid="10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00">
                                            <p:txEl>
                                              <p:pRg st="4" end="4"/>
                                            </p:txEl>
                                          </p:spTgt>
                                        </p:tgtEl>
                                        <p:attrNameLst>
                                          <p:attrName>style.visibility</p:attrName>
                                        </p:attrNameLst>
                                      </p:cBhvr>
                                      <p:to>
                                        <p:strVal val="visible"/>
                                      </p:to>
                                    </p:set>
                                    <p:animEffect transition="in" filter="blinds(horizontal)">
                                      <p:cBhvr>
                                        <p:cTn id="28" dur="500"/>
                                        <p:tgtEl>
                                          <p:spTgt spid="100">
                                            <p:txEl>
                                              <p:pRg st="4" end="4"/>
                                            </p:txEl>
                                          </p:spTgt>
                                        </p:tgtEl>
                                      </p:cBhvr>
                                    </p:animEffect>
                                  </p:childTnLst>
                                </p:cTn>
                              </p:par>
                            </p:childTnLst>
                          </p:cTn>
                        </p:par>
                        <p:par>
                          <p:cTn id="29" fill="hold">
                            <p:stCondLst>
                              <p:cond delay="500"/>
                            </p:stCondLst>
                            <p:childTnLst>
                              <p:par>
                                <p:cTn id="30" presetID="6" presetClass="entr" presetSubtype="32" fill="hold" nodeType="afterEffect">
                                  <p:stCondLst>
                                    <p:cond delay="0"/>
                                  </p:stCondLst>
                                  <p:childTnLst>
                                    <p:set>
                                      <p:cBhvr>
                                        <p:cTn id="31" dur="1" fill="hold">
                                          <p:stCondLst>
                                            <p:cond delay="0"/>
                                          </p:stCondLst>
                                        </p:cTn>
                                        <p:tgtEl>
                                          <p:spTgt spid="104"/>
                                        </p:tgtEl>
                                        <p:attrNameLst>
                                          <p:attrName>style.visibility</p:attrName>
                                        </p:attrNameLst>
                                      </p:cBhvr>
                                      <p:to>
                                        <p:strVal val="visible"/>
                                      </p:to>
                                    </p:set>
                                    <p:animEffect transition="in" filter="circle(out)">
                                      <p:cBhvr>
                                        <p:cTn id="32" dur="2000"/>
                                        <p:tgtEl>
                                          <p:spTgt spid="104"/>
                                        </p:tgtEl>
                                      </p:cBhvr>
                                    </p:animEffect>
                                  </p:childTnLst>
                                </p:cTn>
                              </p:par>
                            </p:childTnLst>
                          </p:cTn>
                        </p:par>
                        <p:par>
                          <p:cTn id="33" fill="hold">
                            <p:stCondLst>
                              <p:cond delay="2500"/>
                            </p:stCondLst>
                            <p:childTnLst>
                              <p:par>
                                <p:cTn id="34" presetID="47" presetClass="entr" presetSubtype="0" fill="hold" grpId="0" nodeType="afterEffect">
                                  <p:stCondLst>
                                    <p:cond delay="2000"/>
                                  </p:stCondLst>
                                  <p:childTnLst>
                                    <p:set>
                                      <p:cBhvr>
                                        <p:cTn id="35" dur="1" fill="hold">
                                          <p:stCondLst>
                                            <p:cond delay="0"/>
                                          </p:stCondLst>
                                        </p:cTn>
                                        <p:tgtEl>
                                          <p:spTgt spid="170"/>
                                        </p:tgtEl>
                                        <p:attrNameLst>
                                          <p:attrName>style.visibility</p:attrName>
                                        </p:attrNameLst>
                                      </p:cBhvr>
                                      <p:to>
                                        <p:strVal val="visible"/>
                                      </p:to>
                                    </p:set>
                                    <p:animEffect transition="in" filter="fade">
                                      <p:cBhvr>
                                        <p:cTn id="36" dur="1000"/>
                                        <p:tgtEl>
                                          <p:spTgt spid="170"/>
                                        </p:tgtEl>
                                      </p:cBhvr>
                                    </p:animEffect>
                                    <p:anim calcmode="lin" valueType="num">
                                      <p:cBhvr>
                                        <p:cTn id="37" dur="1000" fill="hold"/>
                                        <p:tgtEl>
                                          <p:spTgt spid="170"/>
                                        </p:tgtEl>
                                        <p:attrNameLst>
                                          <p:attrName>ppt_x</p:attrName>
                                        </p:attrNameLst>
                                      </p:cBhvr>
                                      <p:tavLst>
                                        <p:tav tm="0">
                                          <p:val>
                                            <p:strVal val="#ppt_x"/>
                                          </p:val>
                                        </p:tav>
                                        <p:tav tm="100000">
                                          <p:val>
                                            <p:strVal val="#ppt_x"/>
                                          </p:val>
                                        </p:tav>
                                      </p:tavLst>
                                    </p:anim>
                                    <p:anim calcmode="lin" valueType="num">
                                      <p:cBhvr>
                                        <p:cTn id="38" dur="1000" fill="hold"/>
                                        <p:tgtEl>
                                          <p:spTgt spid="170"/>
                                        </p:tgtEl>
                                        <p:attrNameLst>
                                          <p:attrName>ppt_y</p:attrName>
                                        </p:attrNameLst>
                                      </p:cBhvr>
                                      <p:tavLst>
                                        <p:tav tm="0">
                                          <p:val>
                                            <p:strVal val="#ppt_y-.1"/>
                                          </p:val>
                                        </p:tav>
                                        <p:tav tm="100000">
                                          <p:val>
                                            <p:strVal val="#ppt_y"/>
                                          </p:val>
                                        </p:tav>
                                      </p:tavLst>
                                    </p:anim>
                                  </p:childTnLst>
                                </p:cTn>
                              </p:par>
                            </p:childTnLst>
                          </p:cTn>
                        </p:par>
                        <p:par>
                          <p:cTn id="39" fill="hold">
                            <p:stCondLst>
                              <p:cond delay="5500"/>
                            </p:stCondLst>
                            <p:childTnLst>
                              <p:par>
                                <p:cTn id="40" presetID="2" presetClass="entr" presetSubtype="8" fill="hold" nodeType="afterEffect">
                                  <p:stCondLst>
                                    <p:cond delay="2000"/>
                                  </p:stCondLst>
                                  <p:childTnLst>
                                    <p:set>
                                      <p:cBhvr>
                                        <p:cTn id="41" dur="1" fill="hold">
                                          <p:stCondLst>
                                            <p:cond delay="0"/>
                                          </p:stCondLst>
                                        </p:cTn>
                                        <p:tgtEl>
                                          <p:spTgt spid="171"/>
                                        </p:tgtEl>
                                        <p:attrNameLst>
                                          <p:attrName>style.visibility</p:attrName>
                                        </p:attrNameLst>
                                      </p:cBhvr>
                                      <p:to>
                                        <p:strVal val="visible"/>
                                      </p:to>
                                    </p:set>
                                    <p:anim calcmode="lin" valueType="num">
                                      <p:cBhvr additive="base">
                                        <p:cTn id="42" dur="500" fill="hold"/>
                                        <p:tgtEl>
                                          <p:spTgt spid="171"/>
                                        </p:tgtEl>
                                        <p:attrNameLst>
                                          <p:attrName>ppt_x</p:attrName>
                                        </p:attrNameLst>
                                      </p:cBhvr>
                                      <p:tavLst>
                                        <p:tav tm="0">
                                          <p:val>
                                            <p:strVal val="0-#ppt_w/2"/>
                                          </p:val>
                                        </p:tav>
                                        <p:tav tm="100000">
                                          <p:val>
                                            <p:strVal val="#ppt_x"/>
                                          </p:val>
                                        </p:tav>
                                      </p:tavLst>
                                    </p:anim>
                                    <p:anim calcmode="lin" valueType="num">
                                      <p:cBhvr additive="base">
                                        <p:cTn id="43" dur="500" fill="hold"/>
                                        <p:tgtEl>
                                          <p:spTgt spid="171"/>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6" presetClass="entr" presetSubtype="32" fill="hold" grpId="0" nodeType="clickEffect">
                                  <p:stCondLst>
                                    <p:cond delay="0"/>
                                  </p:stCondLst>
                                  <p:childTnLst>
                                    <p:set>
                                      <p:cBhvr>
                                        <p:cTn id="47" dur="1" fill="hold">
                                          <p:stCondLst>
                                            <p:cond delay="0"/>
                                          </p:stCondLst>
                                        </p:cTn>
                                        <p:tgtEl>
                                          <p:spTgt spid="181"/>
                                        </p:tgtEl>
                                        <p:attrNameLst>
                                          <p:attrName>style.visibility</p:attrName>
                                        </p:attrNameLst>
                                      </p:cBhvr>
                                      <p:to>
                                        <p:strVal val="visible"/>
                                      </p:to>
                                    </p:set>
                                    <p:animEffect transition="in" filter="circle(out)">
                                      <p:cBhvr>
                                        <p:cTn id="48" dur="2000"/>
                                        <p:tgtEl>
                                          <p:spTgt spid="181"/>
                                        </p:tgtEl>
                                      </p:cBhvr>
                                    </p:animEffect>
                                  </p:childTnLst>
                                </p:cTn>
                              </p:par>
                            </p:childTnLst>
                          </p:cTn>
                        </p:par>
                        <p:par>
                          <p:cTn id="49" fill="hold">
                            <p:stCondLst>
                              <p:cond delay="2000"/>
                            </p:stCondLst>
                            <p:childTnLst>
                              <p:par>
                                <p:cTn id="50" presetID="6" presetClass="entr" presetSubtype="32" fill="hold" grpId="0" nodeType="afterEffect">
                                  <p:stCondLst>
                                    <p:cond delay="0"/>
                                  </p:stCondLst>
                                  <p:childTnLst>
                                    <p:set>
                                      <p:cBhvr>
                                        <p:cTn id="51" dur="1" fill="hold">
                                          <p:stCondLst>
                                            <p:cond delay="0"/>
                                          </p:stCondLst>
                                        </p:cTn>
                                        <p:tgtEl>
                                          <p:spTgt spid="182"/>
                                        </p:tgtEl>
                                        <p:attrNameLst>
                                          <p:attrName>style.visibility</p:attrName>
                                        </p:attrNameLst>
                                      </p:cBhvr>
                                      <p:to>
                                        <p:strVal val="visible"/>
                                      </p:to>
                                    </p:set>
                                    <p:animEffect transition="in" filter="circle(out)">
                                      <p:cBhvr>
                                        <p:cTn id="52" dur="2000"/>
                                        <p:tgtEl>
                                          <p:spTgt spid="182"/>
                                        </p:tgtEl>
                                      </p:cBhvr>
                                    </p:animEffect>
                                  </p:childTnLst>
                                </p:cTn>
                              </p:par>
                            </p:childTnLst>
                          </p:cTn>
                        </p:par>
                        <p:par>
                          <p:cTn id="53" fill="hold">
                            <p:stCondLst>
                              <p:cond delay="4000"/>
                            </p:stCondLst>
                            <p:childTnLst>
                              <p:par>
                                <p:cTn id="54" presetID="6" presetClass="entr" presetSubtype="32" fill="hold" grpId="0" nodeType="afterEffect">
                                  <p:stCondLst>
                                    <p:cond delay="0"/>
                                  </p:stCondLst>
                                  <p:childTnLst>
                                    <p:set>
                                      <p:cBhvr>
                                        <p:cTn id="55" dur="1" fill="hold">
                                          <p:stCondLst>
                                            <p:cond delay="0"/>
                                          </p:stCondLst>
                                        </p:cTn>
                                        <p:tgtEl>
                                          <p:spTgt spid="183"/>
                                        </p:tgtEl>
                                        <p:attrNameLst>
                                          <p:attrName>style.visibility</p:attrName>
                                        </p:attrNameLst>
                                      </p:cBhvr>
                                      <p:to>
                                        <p:strVal val="visible"/>
                                      </p:to>
                                    </p:set>
                                    <p:animEffect transition="in" filter="circle(out)">
                                      <p:cBhvr>
                                        <p:cTn id="56" dur="2000"/>
                                        <p:tgtEl>
                                          <p:spTgt spid="183"/>
                                        </p:tgtEl>
                                      </p:cBhvr>
                                    </p:animEffect>
                                  </p:childTnLst>
                                </p:cTn>
                              </p:par>
                            </p:childTnLst>
                          </p:cTn>
                        </p:par>
                        <p:par>
                          <p:cTn id="57" fill="hold">
                            <p:stCondLst>
                              <p:cond delay="6000"/>
                            </p:stCondLst>
                            <p:childTnLst>
                              <p:par>
                                <p:cTn id="58" presetID="6" presetClass="entr" presetSubtype="32" fill="hold" grpId="0" nodeType="afterEffect">
                                  <p:stCondLst>
                                    <p:cond delay="0"/>
                                  </p:stCondLst>
                                  <p:childTnLst>
                                    <p:set>
                                      <p:cBhvr>
                                        <p:cTn id="59" dur="1" fill="hold">
                                          <p:stCondLst>
                                            <p:cond delay="0"/>
                                          </p:stCondLst>
                                        </p:cTn>
                                        <p:tgtEl>
                                          <p:spTgt spid="184"/>
                                        </p:tgtEl>
                                        <p:attrNameLst>
                                          <p:attrName>style.visibility</p:attrName>
                                        </p:attrNameLst>
                                      </p:cBhvr>
                                      <p:to>
                                        <p:strVal val="visible"/>
                                      </p:to>
                                    </p:set>
                                    <p:animEffect transition="in" filter="circle(out)">
                                      <p:cBhvr>
                                        <p:cTn id="60" dur="2000"/>
                                        <p:tgtEl>
                                          <p:spTgt spid="184"/>
                                        </p:tgtEl>
                                      </p:cBhvr>
                                    </p:animEffect>
                                  </p:childTnLst>
                                </p:cTn>
                              </p:par>
                            </p:childTnLst>
                          </p:cTn>
                        </p:par>
                        <p:par>
                          <p:cTn id="61" fill="hold">
                            <p:stCondLst>
                              <p:cond delay="8000"/>
                            </p:stCondLst>
                            <p:childTnLst>
                              <p:par>
                                <p:cTn id="62" presetID="6" presetClass="entr" presetSubtype="32" fill="hold" grpId="0" nodeType="afterEffect">
                                  <p:stCondLst>
                                    <p:cond delay="0"/>
                                  </p:stCondLst>
                                  <p:childTnLst>
                                    <p:set>
                                      <p:cBhvr>
                                        <p:cTn id="63" dur="1" fill="hold">
                                          <p:stCondLst>
                                            <p:cond delay="0"/>
                                          </p:stCondLst>
                                        </p:cTn>
                                        <p:tgtEl>
                                          <p:spTgt spid="185"/>
                                        </p:tgtEl>
                                        <p:attrNameLst>
                                          <p:attrName>style.visibility</p:attrName>
                                        </p:attrNameLst>
                                      </p:cBhvr>
                                      <p:to>
                                        <p:strVal val="visible"/>
                                      </p:to>
                                    </p:set>
                                    <p:animEffect transition="in" filter="circle(out)">
                                      <p:cBhvr>
                                        <p:cTn id="64" dur="2000"/>
                                        <p:tgtEl>
                                          <p:spTgt spid="185"/>
                                        </p:tgtEl>
                                      </p:cBhvr>
                                    </p:animEffect>
                                  </p:childTnLst>
                                </p:cTn>
                              </p:par>
                            </p:childTnLst>
                          </p:cTn>
                        </p:par>
                        <p:par>
                          <p:cTn id="65" fill="hold">
                            <p:stCondLst>
                              <p:cond delay="10000"/>
                            </p:stCondLst>
                            <p:childTnLst>
                              <p:par>
                                <p:cTn id="66" presetID="6" presetClass="entr" presetSubtype="32" fill="hold" grpId="0" nodeType="afterEffect">
                                  <p:stCondLst>
                                    <p:cond delay="0"/>
                                  </p:stCondLst>
                                  <p:childTnLst>
                                    <p:set>
                                      <p:cBhvr>
                                        <p:cTn id="67" dur="1" fill="hold">
                                          <p:stCondLst>
                                            <p:cond delay="0"/>
                                          </p:stCondLst>
                                        </p:cTn>
                                        <p:tgtEl>
                                          <p:spTgt spid="186"/>
                                        </p:tgtEl>
                                        <p:attrNameLst>
                                          <p:attrName>style.visibility</p:attrName>
                                        </p:attrNameLst>
                                      </p:cBhvr>
                                      <p:to>
                                        <p:strVal val="visible"/>
                                      </p:to>
                                    </p:set>
                                    <p:animEffect transition="in" filter="circle(out)">
                                      <p:cBhvr>
                                        <p:cTn id="68" dur="2000"/>
                                        <p:tgtEl>
                                          <p:spTgt spid="186"/>
                                        </p:tgtEl>
                                      </p:cBhvr>
                                    </p:animEffect>
                                  </p:childTnLst>
                                </p:cTn>
                              </p:par>
                            </p:childTnLst>
                          </p:cTn>
                        </p:par>
                        <p:par>
                          <p:cTn id="69" fill="hold">
                            <p:stCondLst>
                              <p:cond delay="12000"/>
                            </p:stCondLst>
                            <p:childTnLst>
                              <p:par>
                                <p:cTn id="70" presetID="6" presetClass="entr" presetSubtype="32" fill="hold" grpId="0" nodeType="afterEffect">
                                  <p:stCondLst>
                                    <p:cond delay="0"/>
                                  </p:stCondLst>
                                  <p:childTnLst>
                                    <p:set>
                                      <p:cBhvr>
                                        <p:cTn id="71" dur="1" fill="hold">
                                          <p:stCondLst>
                                            <p:cond delay="0"/>
                                          </p:stCondLst>
                                        </p:cTn>
                                        <p:tgtEl>
                                          <p:spTgt spid="187"/>
                                        </p:tgtEl>
                                        <p:attrNameLst>
                                          <p:attrName>style.visibility</p:attrName>
                                        </p:attrNameLst>
                                      </p:cBhvr>
                                      <p:to>
                                        <p:strVal val="visible"/>
                                      </p:to>
                                    </p:set>
                                    <p:animEffect transition="in" filter="circle(out)">
                                      <p:cBhvr>
                                        <p:cTn id="72" dur="2000"/>
                                        <p:tgtEl>
                                          <p:spTgt spid="187"/>
                                        </p:tgtEl>
                                      </p:cBhvr>
                                    </p:animEffect>
                                  </p:childTnLst>
                                </p:cTn>
                              </p:par>
                            </p:childTnLst>
                          </p:cTn>
                        </p:par>
                        <p:par>
                          <p:cTn id="73" fill="hold">
                            <p:stCondLst>
                              <p:cond delay="14000"/>
                            </p:stCondLst>
                            <p:childTnLst>
                              <p:par>
                                <p:cTn id="74" presetID="6" presetClass="entr" presetSubtype="32" fill="hold" grpId="0" nodeType="afterEffect">
                                  <p:stCondLst>
                                    <p:cond delay="0"/>
                                  </p:stCondLst>
                                  <p:childTnLst>
                                    <p:set>
                                      <p:cBhvr>
                                        <p:cTn id="75" dur="1" fill="hold">
                                          <p:stCondLst>
                                            <p:cond delay="0"/>
                                          </p:stCondLst>
                                        </p:cTn>
                                        <p:tgtEl>
                                          <p:spTgt spid="188"/>
                                        </p:tgtEl>
                                        <p:attrNameLst>
                                          <p:attrName>style.visibility</p:attrName>
                                        </p:attrNameLst>
                                      </p:cBhvr>
                                      <p:to>
                                        <p:strVal val="visible"/>
                                      </p:to>
                                    </p:set>
                                    <p:animEffect transition="in" filter="circle(out)">
                                      <p:cBhvr>
                                        <p:cTn id="76" dur="2000"/>
                                        <p:tgtEl>
                                          <p:spTgt spid="188"/>
                                        </p:tgtEl>
                                      </p:cBhvr>
                                    </p:animEffect>
                                  </p:childTnLst>
                                </p:cTn>
                              </p:par>
                            </p:childTnLst>
                          </p:cTn>
                        </p:par>
                        <p:par>
                          <p:cTn id="77" fill="hold">
                            <p:stCondLst>
                              <p:cond delay="16000"/>
                            </p:stCondLst>
                            <p:childTnLst>
                              <p:par>
                                <p:cTn id="78" presetID="22" presetClass="entr" presetSubtype="8" fill="hold" grpId="0" nodeType="afterEffect">
                                  <p:stCondLst>
                                    <p:cond delay="1000"/>
                                  </p:stCondLst>
                                  <p:childTnLst>
                                    <p:set>
                                      <p:cBhvr>
                                        <p:cTn id="79" dur="1" fill="hold">
                                          <p:stCondLst>
                                            <p:cond delay="0"/>
                                          </p:stCondLst>
                                        </p:cTn>
                                        <p:tgtEl>
                                          <p:spTgt spid="174"/>
                                        </p:tgtEl>
                                        <p:attrNameLst>
                                          <p:attrName>style.visibility</p:attrName>
                                        </p:attrNameLst>
                                      </p:cBhvr>
                                      <p:to>
                                        <p:strVal val="visible"/>
                                      </p:to>
                                    </p:set>
                                    <p:animEffect transition="in" filter="wipe(left)">
                                      <p:cBhvr>
                                        <p:cTn id="80" dur="20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0" grpId="0" build="p"/>
      <p:bldP spid="170" grpId="0"/>
      <p:bldP spid="174" grpId="0" animBg="1"/>
      <p:bldP spid="181" grpId="0" animBg="1"/>
      <p:bldP spid="182" grpId="0" animBg="1"/>
      <p:bldP spid="183" grpId="0" animBg="1"/>
      <p:bldP spid="184" grpId="0" animBg="1"/>
      <p:bldP spid="185" grpId="0" animBg="1"/>
      <p:bldP spid="186" grpId="0" animBg="1"/>
      <p:bldP spid="187" grpId="0" animBg="1"/>
      <p:bldP spid="188"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5060026" y="781682"/>
            <a:ext cx="3825875" cy="3024187"/>
            <a:chOff x="2699" y="845"/>
            <a:chExt cx="2782" cy="1905"/>
          </a:xfrm>
        </p:grpSpPr>
        <p:sp>
          <p:nvSpPr>
            <p:cNvPr id="17442" name="Rectangle 6"/>
            <p:cNvSpPr>
              <a:spLocks noChangeArrowheads="1"/>
            </p:cNvSpPr>
            <p:nvPr/>
          </p:nvSpPr>
          <p:spPr bwMode="auto">
            <a:xfrm>
              <a:off x="5083"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3" name="Rectangle 7"/>
            <p:cNvSpPr>
              <a:spLocks noChangeArrowheads="1"/>
            </p:cNvSpPr>
            <p:nvPr/>
          </p:nvSpPr>
          <p:spPr bwMode="auto">
            <a:xfrm>
              <a:off x="4686" y="2459"/>
              <a:ext cx="397"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4" name="Rectangle 8"/>
            <p:cNvSpPr>
              <a:spLocks noChangeArrowheads="1"/>
            </p:cNvSpPr>
            <p:nvPr/>
          </p:nvSpPr>
          <p:spPr bwMode="auto">
            <a:xfrm>
              <a:off x="4288"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5" name="Rectangle 9"/>
            <p:cNvSpPr>
              <a:spLocks noChangeArrowheads="1"/>
            </p:cNvSpPr>
            <p:nvPr/>
          </p:nvSpPr>
          <p:spPr bwMode="auto">
            <a:xfrm>
              <a:off x="3892" y="2459"/>
              <a:ext cx="396"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6" name="Rectangle 10"/>
            <p:cNvSpPr>
              <a:spLocks noChangeArrowheads="1"/>
            </p:cNvSpPr>
            <p:nvPr/>
          </p:nvSpPr>
          <p:spPr bwMode="auto">
            <a:xfrm>
              <a:off x="3494"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7" name="Rectangle 11"/>
            <p:cNvSpPr>
              <a:spLocks noChangeArrowheads="1"/>
            </p:cNvSpPr>
            <p:nvPr/>
          </p:nvSpPr>
          <p:spPr bwMode="auto">
            <a:xfrm>
              <a:off x="3097" y="2459"/>
              <a:ext cx="397"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8" name="Rectangle 12"/>
            <p:cNvSpPr>
              <a:spLocks noChangeArrowheads="1"/>
            </p:cNvSpPr>
            <p:nvPr/>
          </p:nvSpPr>
          <p:spPr bwMode="auto">
            <a:xfrm>
              <a:off x="2699"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9" name="Rectangle 13"/>
            <p:cNvSpPr>
              <a:spLocks noChangeArrowheads="1"/>
            </p:cNvSpPr>
            <p:nvPr/>
          </p:nvSpPr>
          <p:spPr bwMode="auto">
            <a:xfrm>
              <a:off x="5083"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0" name="Rectangle 14"/>
            <p:cNvSpPr>
              <a:spLocks noChangeArrowheads="1"/>
            </p:cNvSpPr>
            <p:nvPr/>
          </p:nvSpPr>
          <p:spPr bwMode="auto">
            <a:xfrm>
              <a:off x="4686" y="2190"/>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1" name="Rectangle 15"/>
            <p:cNvSpPr>
              <a:spLocks noChangeArrowheads="1"/>
            </p:cNvSpPr>
            <p:nvPr/>
          </p:nvSpPr>
          <p:spPr bwMode="auto">
            <a:xfrm>
              <a:off x="4288"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2" name="Rectangle 16"/>
            <p:cNvSpPr>
              <a:spLocks noChangeArrowheads="1"/>
            </p:cNvSpPr>
            <p:nvPr/>
          </p:nvSpPr>
          <p:spPr bwMode="auto">
            <a:xfrm>
              <a:off x="3892" y="2190"/>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3" name="Rectangle 17"/>
            <p:cNvSpPr>
              <a:spLocks noChangeArrowheads="1"/>
            </p:cNvSpPr>
            <p:nvPr/>
          </p:nvSpPr>
          <p:spPr bwMode="auto">
            <a:xfrm>
              <a:off x="3494"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4" name="Rectangle 18"/>
            <p:cNvSpPr>
              <a:spLocks noChangeArrowheads="1"/>
            </p:cNvSpPr>
            <p:nvPr/>
          </p:nvSpPr>
          <p:spPr bwMode="auto">
            <a:xfrm>
              <a:off x="3097" y="2190"/>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5" name="Rectangle 19"/>
            <p:cNvSpPr>
              <a:spLocks noChangeArrowheads="1"/>
            </p:cNvSpPr>
            <p:nvPr/>
          </p:nvSpPr>
          <p:spPr bwMode="auto">
            <a:xfrm>
              <a:off x="2699"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6" name="Rectangle 20"/>
            <p:cNvSpPr>
              <a:spLocks noChangeArrowheads="1"/>
            </p:cNvSpPr>
            <p:nvPr/>
          </p:nvSpPr>
          <p:spPr bwMode="auto">
            <a:xfrm>
              <a:off x="5083"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7" name="Rectangle 21"/>
            <p:cNvSpPr>
              <a:spLocks noChangeArrowheads="1"/>
            </p:cNvSpPr>
            <p:nvPr/>
          </p:nvSpPr>
          <p:spPr bwMode="auto">
            <a:xfrm>
              <a:off x="4686" y="1921"/>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8" name="Rectangle 22"/>
            <p:cNvSpPr>
              <a:spLocks noChangeArrowheads="1"/>
            </p:cNvSpPr>
            <p:nvPr/>
          </p:nvSpPr>
          <p:spPr bwMode="auto">
            <a:xfrm>
              <a:off x="4288"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9" name="Rectangle 23"/>
            <p:cNvSpPr>
              <a:spLocks noChangeArrowheads="1"/>
            </p:cNvSpPr>
            <p:nvPr/>
          </p:nvSpPr>
          <p:spPr bwMode="auto">
            <a:xfrm>
              <a:off x="3892" y="1921"/>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0" name="Rectangle 24"/>
            <p:cNvSpPr>
              <a:spLocks noChangeArrowheads="1"/>
            </p:cNvSpPr>
            <p:nvPr/>
          </p:nvSpPr>
          <p:spPr bwMode="auto">
            <a:xfrm>
              <a:off x="3494"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1" name="Rectangle 25"/>
            <p:cNvSpPr>
              <a:spLocks noChangeArrowheads="1"/>
            </p:cNvSpPr>
            <p:nvPr/>
          </p:nvSpPr>
          <p:spPr bwMode="auto">
            <a:xfrm>
              <a:off x="3097" y="1921"/>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2" name="Rectangle 26"/>
            <p:cNvSpPr>
              <a:spLocks noChangeArrowheads="1"/>
            </p:cNvSpPr>
            <p:nvPr/>
          </p:nvSpPr>
          <p:spPr bwMode="auto">
            <a:xfrm>
              <a:off x="2699"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3" name="Rectangle 27"/>
            <p:cNvSpPr>
              <a:spLocks noChangeArrowheads="1"/>
            </p:cNvSpPr>
            <p:nvPr/>
          </p:nvSpPr>
          <p:spPr bwMode="auto">
            <a:xfrm>
              <a:off x="5083"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4" name="Rectangle 28"/>
            <p:cNvSpPr>
              <a:spLocks noChangeArrowheads="1"/>
            </p:cNvSpPr>
            <p:nvPr/>
          </p:nvSpPr>
          <p:spPr bwMode="auto">
            <a:xfrm>
              <a:off x="4686" y="1652"/>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5" name="Rectangle 29"/>
            <p:cNvSpPr>
              <a:spLocks noChangeArrowheads="1"/>
            </p:cNvSpPr>
            <p:nvPr/>
          </p:nvSpPr>
          <p:spPr bwMode="auto">
            <a:xfrm>
              <a:off x="4288"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6" name="Rectangle 30"/>
            <p:cNvSpPr>
              <a:spLocks noChangeArrowheads="1"/>
            </p:cNvSpPr>
            <p:nvPr/>
          </p:nvSpPr>
          <p:spPr bwMode="auto">
            <a:xfrm>
              <a:off x="3892" y="1652"/>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7" name="Rectangle 31"/>
            <p:cNvSpPr>
              <a:spLocks noChangeArrowheads="1"/>
            </p:cNvSpPr>
            <p:nvPr/>
          </p:nvSpPr>
          <p:spPr bwMode="auto">
            <a:xfrm>
              <a:off x="3494"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8" name="Rectangle 32"/>
            <p:cNvSpPr>
              <a:spLocks noChangeArrowheads="1"/>
            </p:cNvSpPr>
            <p:nvPr/>
          </p:nvSpPr>
          <p:spPr bwMode="auto">
            <a:xfrm>
              <a:off x="3097" y="1652"/>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9" name="Rectangle 33"/>
            <p:cNvSpPr>
              <a:spLocks noChangeArrowheads="1"/>
            </p:cNvSpPr>
            <p:nvPr/>
          </p:nvSpPr>
          <p:spPr bwMode="auto">
            <a:xfrm>
              <a:off x="2699"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0" name="Rectangle 34"/>
            <p:cNvSpPr>
              <a:spLocks noChangeArrowheads="1"/>
            </p:cNvSpPr>
            <p:nvPr/>
          </p:nvSpPr>
          <p:spPr bwMode="auto">
            <a:xfrm>
              <a:off x="5083"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1" name="Rectangle 35"/>
            <p:cNvSpPr>
              <a:spLocks noChangeArrowheads="1"/>
            </p:cNvSpPr>
            <p:nvPr/>
          </p:nvSpPr>
          <p:spPr bwMode="auto">
            <a:xfrm>
              <a:off x="4686" y="1383"/>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2" name="Rectangle 36"/>
            <p:cNvSpPr>
              <a:spLocks noChangeArrowheads="1"/>
            </p:cNvSpPr>
            <p:nvPr/>
          </p:nvSpPr>
          <p:spPr bwMode="auto">
            <a:xfrm>
              <a:off x="4288"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3" name="Rectangle 37"/>
            <p:cNvSpPr>
              <a:spLocks noChangeArrowheads="1"/>
            </p:cNvSpPr>
            <p:nvPr/>
          </p:nvSpPr>
          <p:spPr bwMode="auto">
            <a:xfrm>
              <a:off x="3892" y="1383"/>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4" name="Rectangle 38"/>
            <p:cNvSpPr>
              <a:spLocks noChangeArrowheads="1"/>
            </p:cNvSpPr>
            <p:nvPr/>
          </p:nvSpPr>
          <p:spPr bwMode="auto">
            <a:xfrm>
              <a:off x="3494"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5" name="Rectangle 39"/>
            <p:cNvSpPr>
              <a:spLocks noChangeArrowheads="1"/>
            </p:cNvSpPr>
            <p:nvPr/>
          </p:nvSpPr>
          <p:spPr bwMode="auto">
            <a:xfrm>
              <a:off x="3097" y="1383"/>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6" name="Rectangle 40"/>
            <p:cNvSpPr>
              <a:spLocks noChangeArrowheads="1"/>
            </p:cNvSpPr>
            <p:nvPr/>
          </p:nvSpPr>
          <p:spPr bwMode="auto">
            <a:xfrm>
              <a:off x="2699"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7" name="Rectangle 41"/>
            <p:cNvSpPr>
              <a:spLocks noChangeArrowheads="1"/>
            </p:cNvSpPr>
            <p:nvPr/>
          </p:nvSpPr>
          <p:spPr bwMode="auto">
            <a:xfrm>
              <a:off x="5083"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8" name="Rectangle 42"/>
            <p:cNvSpPr>
              <a:spLocks noChangeArrowheads="1"/>
            </p:cNvSpPr>
            <p:nvPr/>
          </p:nvSpPr>
          <p:spPr bwMode="auto">
            <a:xfrm>
              <a:off x="4686" y="1114"/>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9" name="Rectangle 43"/>
            <p:cNvSpPr>
              <a:spLocks noChangeArrowheads="1"/>
            </p:cNvSpPr>
            <p:nvPr/>
          </p:nvSpPr>
          <p:spPr bwMode="auto">
            <a:xfrm>
              <a:off x="4288"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0" name="Rectangle 44"/>
            <p:cNvSpPr>
              <a:spLocks noChangeArrowheads="1"/>
            </p:cNvSpPr>
            <p:nvPr/>
          </p:nvSpPr>
          <p:spPr bwMode="auto">
            <a:xfrm>
              <a:off x="3892" y="1114"/>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1" name="Rectangle 45"/>
            <p:cNvSpPr>
              <a:spLocks noChangeArrowheads="1"/>
            </p:cNvSpPr>
            <p:nvPr/>
          </p:nvSpPr>
          <p:spPr bwMode="auto">
            <a:xfrm>
              <a:off x="3494"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2" name="Rectangle 46"/>
            <p:cNvSpPr>
              <a:spLocks noChangeArrowheads="1"/>
            </p:cNvSpPr>
            <p:nvPr/>
          </p:nvSpPr>
          <p:spPr bwMode="auto">
            <a:xfrm>
              <a:off x="3097" y="1114"/>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3" name="Rectangle 47"/>
            <p:cNvSpPr>
              <a:spLocks noChangeArrowheads="1"/>
            </p:cNvSpPr>
            <p:nvPr/>
          </p:nvSpPr>
          <p:spPr bwMode="auto">
            <a:xfrm>
              <a:off x="2699"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4" name="Rectangle 48"/>
            <p:cNvSpPr>
              <a:spLocks noChangeArrowheads="1"/>
            </p:cNvSpPr>
            <p:nvPr/>
          </p:nvSpPr>
          <p:spPr bwMode="auto">
            <a:xfrm>
              <a:off x="5083"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5" name="Rectangle 49"/>
            <p:cNvSpPr>
              <a:spLocks noChangeArrowheads="1"/>
            </p:cNvSpPr>
            <p:nvPr/>
          </p:nvSpPr>
          <p:spPr bwMode="auto">
            <a:xfrm>
              <a:off x="4686" y="845"/>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6" name="Rectangle 50"/>
            <p:cNvSpPr>
              <a:spLocks noChangeArrowheads="1"/>
            </p:cNvSpPr>
            <p:nvPr/>
          </p:nvSpPr>
          <p:spPr bwMode="auto">
            <a:xfrm>
              <a:off x="4288"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7" name="Rectangle 51"/>
            <p:cNvSpPr>
              <a:spLocks noChangeArrowheads="1"/>
            </p:cNvSpPr>
            <p:nvPr/>
          </p:nvSpPr>
          <p:spPr bwMode="auto">
            <a:xfrm>
              <a:off x="3892" y="845"/>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8" name="Rectangle 52"/>
            <p:cNvSpPr>
              <a:spLocks noChangeArrowheads="1"/>
            </p:cNvSpPr>
            <p:nvPr/>
          </p:nvSpPr>
          <p:spPr bwMode="auto">
            <a:xfrm>
              <a:off x="3494"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9" name="Rectangle 53"/>
            <p:cNvSpPr>
              <a:spLocks noChangeArrowheads="1"/>
            </p:cNvSpPr>
            <p:nvPr/>
          </p:nvSpPr>
          <p:spPr bwMode="auto">
            <a:xfrm>
              <a:off x="3097" y="845"/>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90" name="Rectangle 54"/>
            <p:cNvSpPr>
              <a:spLocks noChangeArrowheads="1"/>
            </p:cNvSpPr>
            <p:nvPr/>
          </p:nvSpPr>
          <p:spPr bwMode="auto">
            <a:xfrm>
              <a:off x="2699"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91" name="Line 55"/>
            <p:cNvSpPr>
              <a:spLocks noChangeShapeType="1"/>
            </p:cNvSpPr>
            <p:nvPr/>
          </p:nvSpPr>
          <p:spPr bwMode="auto">
            <a:xfrm>
              <a:off x="2699" y="845"/>
              <a:ext cx="2782" cy="0"/>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2" name="Line 56"/>
            <p:cNvSpPr>
              <a:spLocks noChangeShapeType="1"/>
            </p:cNvSpPr>
            <p:nvPr/>
          </p:nvSpPr>
          <p:spPr bwMode="auto">
            <a:xfrm>
              <a:off x="2699" y="1114"/>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3" name="Line 57"/>
            <p:cNvSpPr>
              <a:spLocks noChangeShapeType="1"/>
            </p:cNvSpPr>
            <p:nvPr/>
          </p:nvSpPr>
          <p:spPr bwMode="auto">
            <a:xfrm>
              <a:off x="2699" y="1383"/>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4" name="Line 58"/>
            <p:cNvSpPr>
              <a:spLocks noChangeShapeType="1"/>
            </p:cNvSpPr>
            <p:nvPr/>
          </p:nvSpPr>
          <p:spPr bwMode="auto">
            <a:xfrm>
              <a:off x="2699" y="1652"/>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5" name="Line 59"/>
            <p:cNvSpPr>
              <a:spLocks noChangeShapeType="1"/>
            </p:cNvSpPr>
            <p:nvPr/>
          </p:nvSpPr>
          <p:spPr bwMode="auto">
            <a:xfrm>
              <a:off x="2699" y="1921"/>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6" name="Line 60"/>
            <p:cNvSpPr>
              <a:spLocks noChangeShapeType="1"/>
            </p:cNvSpPr>
            <p:nvPr/>
          </p:nvSpPr>
          <p:spPr bwMode="auto">
            <a:xfrm>
              <a:off x="2699" y="2190"/>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7" name="Line 61"/>
            <p:cNvSpPr>
              <a:spLocks noChangeShapeType="1"/>
            </p:cNvSpPr>
            <p:nvPr/>
          </p:nvSpPr>
          <p:spPr bwMode="auto">
            <a:xfrm>
              <a:off x="2699" y="2459"/>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8" name="Line 62"/>
            <p:cNvSpPr>
              <a:spLocks noChangeShapeType="1"/>
            </p:cNvSpPr>
            <p:nvPr/>
          </p:nvSpPr>
          <p:spPr bwMode="auto">
            <a:xfrm>
              <a:off x="2699" y="2750"/>
              <a:ext cx="2782" cy="0"/>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9" name="Line 63"/>
            <p:cNvSpPr>
              <a:spLocks noChangeShapeType="1"/>
            </p:cNvSpPr>
            <p:nvPr/>
          </p:nvSpPr>
          <p:spPr bwMode="auto">
            <a:xfrm>
              <a:off x="2699" y="845"/>
              <a:ext cx="0" cy="1905"/>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0" name="Line 64"/>
            <p:cNvSpPr>
              <a:spLocks noChangeShapeType="1"/>
            </p:cNvSpPr>
            <p:nvPr/>
          </p:nvSpPr>
          <p:spPr bwMode="auto">
            <a:xfrm>
              <a:off x="3097"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1" name="Line 65"/>
            <p:cNvSpPr>
              <a:spLocks noChangeShapeType="1"/>
            </p:cNvSpPr>
            <p:nvPr/>
          </p:nvSpPr>
          <p:spPr bwMode="auto">
            <a:xfrm>
              <a:off x="3494"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2" name="Line 66"/>
            <p:cNvSpPr>
              <a:spLocks noChangeShapeType="1"/>
            </p:cNvSpPr>
            <p:nvPr/>
          </p:nvSpPr>
          <p:spPr bwMode="auto">
            <a:xfrm>
              <a:off x="3892"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3" name="Line 67"/>
            <p:cNvSpPr>
              <a:spLocks noChangeShapeType="1"/>
            </p:cNvSpPr>
            <p:nvPr/>
          </p:nvSpPr>
          <p:spPr bwMode="auto">
            <a:xfrm>
              <a:off x="4288"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4" name="Line 68"/>
            <p:cNvSpPr>
              <a:spLocks noChangeShapeType="1"/>
            </p:cNvSpPr>
            <p:nvPr/>
          </p:nvSpPr>
          <p:spPr bwMode="auto">
            <a:xfrm>
              <a:off x="4686"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5" name="Line 69"/>
            <p:cNvSpPr>
              <a:spLocks noChangeShapeType="1"/>
            </p:cNvSpPr>
            <p:nvPr/>
          </p:nvSpPr>
          <p:spPr bwMode="auto">
            <a:xfrm>
              <a:off x="5083"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6" name="Line 70"/>
            <p:cNvSpPr>
              <a:spLocks noChangeShapeType="1"/>
            </p:cNvSpPr>
            <p:nvPr/>
          </p:nvSpPr>
          <p:spPr bwMode="auto">
            <a:xfrm>
              <a:off x="5481" y="845"/>
              <a:ext cx="0" cy="1905"/>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grpSp>
      <p:sp>
        <p:nvSpPr>
          <p:cNvPr id="1429583" name="Text Box 79"/>
          <p:cNvSpPr txBox="1">
            <a:spLocks noChangeArrowheads="1"/>
          </p:cNvSpPr>
          <p:nvPr/>
        </p:nvSpPr>
        <p:spPr bwMode="auto">
          <a:xfrm>
            <a:off x="4946348" y="3945990"/>
            <a:ext cx="403956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0     </a:t>
            </a:r>
            <a:r>
              <a:rPr kumimoji="1" lang="en-US" altLang="zh-CN" sz="2000" b="1" dirty="0" smtClean="0">
                <a:solidFill>
                  <a:srgbClr val="000066"/>
                </a:solidFill>
                <a:ea typeface="华文新魏" pitchFamily="2" charset="-122"/>
                <a:cs typeface="Times New Roman" pitchFamily="18" charset="0"/>
              </a:rPr>
              <a:t>  </a:t>
            </a:r>
            <a:r>
              <a:rPr kumimoji="1" lang="en-US" altLang="zh-CN" sz="2000" b="1" dirty="0">
                <a:solidFill>
                  <a:srgbClr val="000066"/>
                </a:solidFill>
                <a:ea typeface="华文新魏" pitchFamily="2" charset="-122"/>
                <a:cs typeface="Times New Roman" pitchFamily="18" charset="0"/>
              </a:rPr>
              <a:t>4     </a:t>
            </a:r>
            <a:r>
              <a:rPr kumimoji="1" lang="en-US" altLang="zh-CN" sz="2000" b="1" dirty="0" smtClean="0">
                <a:solidFill>
                  <a:srgbClr val="000066"/>
                </a:solidFill>
                <a:ea typeface="华文新魏" pitchFamily="2" charset="-122"/>
                <a:cs typeface="Times New Roman" pitchFamily="18" charset="0"/>
              </a:rPr>
              <a:t>  </a:t>
            </a:r>
            <a:r>
              <a:rPr kumimoji="1" lang="en-US" altLang="zh-CN" sz="2000" b="1" dirty="0">
                <a:solidFill>
                  <a:srgbClr val="000066"/>
                </a:solidFill>
                <a:ea typeface="华文新魏" pitchFamily="2" charset="-122"/>
                <a:cs typeface="Times New Roman" pitchFamily="18" charset="0"/>
              </a:rPr>
              <a:t>8   </a:t>
            </a:r>
            <a:r>
              <a:rPr kumimoji="1" lang="en-US" altLang="zh-CN" sz="2000" b="1" dirty="0" smtClean="0">
                <a:solidFill>
                  <a:srgbClr val="000066"/>
                </a:solidFill>
                <a:ea typeface="华文新魏" pitchFamily="2" charset="-122"/>
                <a:cs typeface="Times New Roman" pitchFamily="18" charset="0"/>
              </a:rPr>
              <a:t>  </a:t>
            </a:r>
            <a:r>
              <a:rPr kumimoji="1" lang="en-US" altLang="zh-CN" sz="2000" b="1" dirty="0">
                <a:solidFill>
                  <a:srgbClr val="000066"/>
                </a:solidFill>
                <a:ea typeface="华文新魏" pitchFamily="2" charset="-122"/>
                <a:cs typeface="Times New Roman" pitchFamily="18" charset="0"/>
              </a:rPr>
              <a:t>12   </a:t>
            </a:r>
            <a:r>
              <a:rPr kumimoji="1" lang="en-US" altLang="zh-CN" sz="2000" b="1" dirty="0" smtClean="0">
                <a:solidFill>
                  <a:srgbClr val="000066"/>
                </a:solidFill>
                <a:ea typeface="华文新魏" pitchFamily="2" charset="-122"/>
                <a:cs typeface="Times New Roman" pitchFamily="18" charset="0"/>
              </a:rPr>
              <a:t> 16     20     24    28</a:t>
            </a:r>
            <a:endParaRPr kumimoji="1" lang="en-US" altLang="zh-CN" sz="2000" b="1" dirty="0">
              <a:solidFill>
                <a:srgbClr val="000066"/>
              </a:solidFill>
              <a:ea typeface="华文新魏" pitchFamily="2" charset="-122"/>
              <a:cs typeface="Times New Roman" pitchFamily="18" charset="0"/>
            </a:endParaRPr>
          </a:p>
          <a:p>
            <a:pPr eaLnBrk="1" hangingPunct="1">
              <a:lnSpc>
                <a:spcPct val="100000"/>
              </a:lnSpc>
              <a:spcBef>
                <a:spcPct val="0"/>
              </a:spcBef>
              <a:spcAft>
                <a:spcPct val="0"/>
              </a:spcAft>
            </a:pPr>
            <a:r>
              <a:rPr kumimoji="1" lang="zh-CN" altLang="en-US" sz="2000" b="1" dirty="0" smtClean="0">
                <a:solidFill>
                  <a:srgbClr val="000066"/>
                </a:solidFill>
                <a:ea typeface="幼圆" pitchFamily="49" charset="-122"/>
                <a:cs typeface="Times New Roman" pitchFamily="18" charset="0"/>
              </a:rPr>
              <a:t>                        含水量 </a:t>
            </a:r>
            <a:r>
              <a:rPr kumimoji="1" lang="en-US" altLang="zh-CN" sz="2000" b="1" i="1" dirty="0" smtClean="0">
                <a:solidFill>
                  <a:srgbClr val="000066"/>
                </a:solidFill>
                <a:ea typeface="幼圆" pitchFamily="49" charset="-122"/>
                <a:cs typeface="Times New Roman" pitchFamily="18" charset="0"/>
              </a:rPr>
              <a:t>w</a:t>
            </a:r>
            <a:r>
              <a:rPr kumimoji="1" lang="en-US" altLang="zh-CN" sz="2000" b="1" dirty="0" smtClean="0">
                <a:solidFill>
                  <a:srgbClr val="000066"/>
                </a:solidFill>
                <a:ea typeface="幼圆" pitchFamily="49" charset="-122"/>
                <a:cs typeface="Times New Roman" pitchFamily="18" charset="0"/>
              </a:rPr>
              <a:t> (%)</a:t>
            </a:r>
            <a:endParaRPr kumimoji="1" lang="en-US" altLang="zh-CN" sz="2000" b="1" dirty="0">
              <a:solidFill>
                <a:srgbClr val="000066"/>
              </a:solidFill>
              <a:ea typeface="幼圆" pitchFamily="49" charset="-122"/>
              <a:cs typeface="Times New Roman" pitchFamily="18" charset="0"/>
            </a:endParaRPr>
          </a:p>
        </p:txBody>
      </p:sp>
      <p:grpSp>
        <p:nvGrpSpPr>
          <p:cNvPr id="3" name="Group 80"/>
          <p:cNvGrpSpPr>
            <a:grpSpLocks/>
          </p:cNvGrpSpPr>
          <p:nvPr/>
        </p:nvGrpSpPr>
        <p:grpSpPr bwMode="auto">
          <a:xfrm>
            <a:off x="4229765" y="983295"/>
            <a:ext cx="689707" cy="3016249"/>
            <a:chOff x="2090" y="973"/>
            <a:chExt cx="501" cy="1900"/>
          </a:xfrm>
        </p:grpSpPr>
        <p:sp>
          <p:nvSpPr>
            <p:cNvPr id="17440" name="Text Box 81"/>
            <p:cNvSpPr txBox="1">
              <a:spLocks noChangeArrowheads="1"/>
            </p:cNvSpPr>
            <p:nvPr/>
          </p:nvSpPr>
          <p:spPr bwMode="auto">
            <a:xfrm>
              <a:off x="2358" y="973"/>
              <a:ext cx="233" cy="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2.0</a:t>
              </a:r>
            </a:p>
            <a:p>
              <a:pPr algn="ctr" eaLnBrk="1" hangingPunct="1">
                <a:lnSpc>
                  <a:spcPct val="140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1.8</a:t>
              </a:r>
            </a:p>
            <a:p>
              <a:pPr algn="ctr" eaLnBrk="1" hangingPunct="1">
                <a:lnSpc>
                  <a:spcPct val="140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1.6</a:t>
              </a:r>
            </a:p>
            <a:p>
              <a:pPr algn="ctr" eaLnBrk="1" hangingPunct="1">
                <a:lnSpc>
                  <a:spcPct val="140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1.4</a:t>
              </a:r>
            </a:p>
          </p:txBody>
        </p:sp>
        <p:sp>
          <p:nvSpPr>
            <p:cNvPr id="17441" name="Text Box 82"/>
            <p:cNvSpPr txBox="1">
              <a:spLocks noChangeArrowheads="1"/>
            </p:cNvSpPr>
            <p:nvPr/>
          </p:nvSpPr>
          <p:spPr bwMode="auto">
            <a:xfrm rot="16200000">
              <a:off x="1583" y="1845"/>
              <a:ext cx="1237"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smtClean="0">
                  <a:solidFill>
                    <a:srgbClr val="000066"/>
                  </a:solidFill>
                  <a:latin typeface="幼圆" pitchFamily="49" charset="-122"/>
                  <a:ea typeface="幼圆" pitchFamily="49" charset="-122"/>
                </a:rPr>
                <a:t>干密度 </a:t>
              </a:r>
              <a:r>
                <a:rPr kumimoji="1" lang="zh-CN" altLang="en-US" sz="2000" b="1" i="1" dirty="0" smtClean="0">
                  <a:solidFill>
                    <a:srgbClr val="000066"/>
                  </a:solidFill>
                  <a:ea typeface="幼圆" pitchFamily="49" charset="-122"/>
                  <a:sym typeface="Symbol" pitchFamily="18" charset="2"/>
                </a:rPr>
                <a:t></a:t>
              </a:r>
              <a:r>
                <a:rPr kumimoji="1" lang="en-US" altLang="zh-CN" sz="2000" b="1" baseline="-25000" dirty="0" smtClean="0">
                  <a:solidFill>
                    <a:srgbClr val="000066"/>
                  </a:solidFill>
                  <a:ea typeface="幼圆" pitchFamily="49" charset="-122"/>
                  <a:sym typeface="Symbol" pitchFamily="18" charset="2"/>
                </a:rPr>
                <a:t>d </a:t>
              </a:r>
              <a:r>
                <a:rPr kumimoji="1" lang="en-US" altLang="zh-CN" sz="2000" b="1" dirty="0" smtClean="0">
                  <a:solidFill>
                    <a:srgbClr val="000066"/>
                  </a:solidFill>
                  <a:ea typeface="幼圆" pitchFamily="49" charset="-122"/>
                  <a:sym typeface="Symbol" pitchFamily="18" charset="2"/>
                </a:rPr>
                <a:t>(</a:t>
              </a:r>
              <a:r>
                <a:rPr kumimoji="1" lang="en-US" altLang="zh-CN" sz="2000" b="1" dirty="0">
                  <a:solidFill>
                    <a:srgbClr val="000066"/>
                  </a:solidFill>
                  <a:ea typeface="幼圆" pitchFamily="49" charset="-122"/>
                  <a:sym typeface="Symbol" pitchFamily="18" charset="2"/>
                </a:rPr>
                <a:t>g/cm</a:t>
              </a:r>
              <a:r>
                <a:rPr kumimoji="1" lang="en-US" altLang="zh-CN" sz="2000" b="1" baseline="30000" dirty="0">
                  <a:solidFill>
                    <a:srgbClr val="000066"/>
                  </a:solidFill>
                  <a:ea typeface="幼圆" pitchFamily="49" charset="-122"/>
                  <a:sym typeface="Symbol" pitchFamily="18" charset="2"/>
                </a:rPr>
                <a:t>3</a:t>
              </a:r>
              <a:r>
                <a:rPr kumimoji="1" lang="en-US" altLang="zh-CN" sz="2000" b="1" dirty="0">
                  <a:solidFill>
                    <a:srgbClr val="000066"/>
                  </a:solidFill>
                  <a:ea typeface="幼圆" pitchFamily="49" charset="-122"/>
                  <a:sym typeface="Symbol" pitchFamily="18" charset="2"/>
                </a:rPr>
                <a:t>)</a:t>
              </a:r>
            </a:p>
          </p:txBody>
        </p:sp>
      </p:grpSp>
      <p:sp>
        <p:nvSpPr>
          <p:cNvPr id="1429587" name="Freeform 83"/>
          <p:cNvSpPr>
            <a:spLocks/>
          </p:cNvSpPr>
          <p:nvPr/>
        </p:nvSpPr>
        <p:spPr bwMode="auto">
          <a:xfrm>
            <a:off x="5371176" y="1814485"/>
            <a:ext cx="2682875" cy="1127784"/>
          </a:xfrm>
          <a:custGeom>
            <a:avLst/>
            <a:gdLst>
              <a:gd name="T0" fmla="*/ 0 w 1951"/>
              <a:gd name="T1" fmla="*/ 2147483647 h 716"/>
              <a:gd name="T2" fmla="*/ 2147483647 w 1951"/>
              <a:gd name="T3" fmla="*/ 2147483647 h 716"/>
              <a:gd name="T4" fmla="*/ 2147483647 w 1951"/>
              <a:gd name="T5" fmla="*/ 2147483647 h 716"/>
              <a:gd name="T6" fmla="*/ 2147483647 w 1951"/>
              <a:gd name="T7" fmla="*/ 2147483647 h 716"/>
              <a:gd name="T8" fmla="*/ 2147483647 w 1951"/>
              <a:gd name="T9" fmla="*/ 2147483647 h 716"/>
              <a:gd name="T10" fmla="*/ 2147483647 w 1951"/>
              <a:gd name="T11" fmla="*/ 2147483647 h 716"/>
              <a:gd name="T12" fmla="*/ 2147483647 w 1951"/>
              <a:gd name="T13" fmla="*/ 2147483647 h 716"/>
              <a:gd name="T14" fmla="*/ 2147483647 w 1951"/>
              <a:gd name="T15" fmla="*/ 2147483647 h 716"/>
              <a:gd name="T16" fmla="*/ 2147483647 w 1951"/>
              <a:gd name="T17" fmla="*/ 2147483647 h 716"/>
              <a:gd name="T18" fmla="*/ 2147483647 w 1951"/>
              <a:gd name="T19" fmla="*/ 2147483647 h 716"/>
              <a:gd name="T20" fmla="*/ 2147483647 w 1951"/>
              <a:gd name="T21" fmla="*/ 2147483647 h 716"/>
              <a:gd name="T22" fmla="*/ 2147483647 w 1951"/>
              <a:gd name="T23" fmla="*/ 2147483647 h 716"/>
              <a:gd name="T24" fmla="*/ 2147483647 w 1951"/>
              <a:gd name="T25" fmla="*/ 2147483647 h 7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51"/>
              <a:gd name="T40" fmla="*/ 0 h 716"/>
              <a:gd name="T41" fmla="*/ 1951 w 1951"/>
              <a:gd name="T42" fmla="*/ 716 h 716"/>
              <a:gd name="connsiteX0" fmla="*/ 0 w 10000"/>
              <a:gd name="connsiteY0" fmla="*/ 9922 h 9922"/>
              <a:gd name="connsiteX1" fmla="*/ 1369 w 10000"/>
              <a:gd name="connsiteY1" fmla="*/ 6766 h 9922"/>
              <a:gd name="connsiteX2" fmla="*/ 2260 w 10000"/>
              <a:gd name="connsiteY2" fmla="*/ 4671 h 9922"/>
              <a:gd name="connsiteX3" fmla="*/ 2937 w 10000"/>
              <a:gd name="connsiteY3" fmla="*/ 3037 h 9922"/>
              <a:gd name="connsiteX4" fmla="*/ 3767 w 10000"/>
              <a:gd name="connsiteY4" fmla="*/ 1361 h 9922"/>
              <a:gd name="connsiteX5" fmla="*/ 4380 w 10000"/>
              <a:gd name="connsiteY5" fmla="*/ 439 h 9922"/>
              <a:gd name="connsiteX6" fmla="*/ 5090 w 10000"/>
              <a:gd name="connsiteY6" fmla="*/ 20 h 9922"/>
              <a:gd name="connsiteX7" fmla="*/ 5935 w 10000"/>
              <a:gd name="connsiteY7" fmla="*/ 1025 h 9922"/>
              <a:gd name="connsiteX8" fmla="*/ 7058 w 10000"/>
              <a:gd name="connsiteY8" fmla="*/ 3497 h 9922"/>
              <a:gd name="connsiteX9" fmla="*/ 7981 w 10000"/>
              <a:gd name="connsiteY9" fmla="*/ 5718 h 9922"/>
              <a:gd name="connsiteX10" fmla="*/ 8719 w 10000"/>
              <a:gd name="connsiteY10" fmla="*/ 7394 h 9922"/>
              <a:gd name="connsiteX11" fmla="*/ 9457 w 10000"/>
              <a:gd name="connsiteY11" fmla="*/ 8902 h 9922"/>
              <a:gd name="connsiteX12" fmla="*/ 10000 w 10000"/>
              <a:gd name="connsiteY12" fmla="*/ 9922 h 9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9922">
                <a:moveTo>
                  <a:pt x="0" y="9922"/>
                </a:moveTo>
                <a:cubicBezTo>
                  <a:pt x="226" y="9391"/>
                  <a:pt x="989" y="7645"/>
                  <a:pt x="1369" y="6766"/>
                </a:cubicBezTo>
                <a:cubicBezTo>
                  <a:pt x="1748" y="5886"/>
                  <a:pt x="1999" y="5299"/>
                  <a:pt x="2260" y="4671"/>
                </a:cubicBezTo>
                <a:cubicBezTo>
                  <a:pt x="2522" y="4042"/>
                  <a:pt x="2686" y="3581"/>
                  <a:pt x="2937" y="3037"/>
                </a:cubicBezTo>
                <a:cubicBezTo>
                  <a:pt x="3188" y="2492"/>
                  <a:pt x="3527" y="1794"/>
                  <a:pt x="3767" y="1361"/>
                </a:cubicBezTo>
                <a:cubicBezTo>
                  <a:pt x="4007" y="928"/>
                  <a:pt x="4159" y="662"/>
                  <a:pt x="4380" y="439"/>
                </a:cubicBezTo>
                <a:cubicBezTo>
                  <a:pt x="4600" y="215"/>
                  <a:pt x="4831" y="-78"/>
                  <a:pt x="5090" y="20"/>
                </a:cubicBezTo>
                <a:cubicBezTo>
                  <a:pt x="5349" y="118"/>
                  <a:pt x="5607" y="439"/>
                  <a:pt x="5935" y="1025"/>
                </a:cubicBezTo>
                <a:cubicBezTo>
                  <a:pt x="6263" y="1612"/>
                  <a:pt x="6720" y="2715"/>
                  <a:pt x="7058" y="3497"/>
                </a:cubicBezTo>
                <a:cubicBezTo>
                  <a:pt x="7396" y="4280"/>
                  <a:pt x="7704" y="5076"/>
                  <a:pt x="7981" y="5718"/>
                </a:cubicBezTo>
                <a:cubicBezTo>
                  <a:pt x="8257" y="6361"/>
                  <a:pt x="8473" y="6863"/>
                  <a:pt x="8719" y="7394"/>
                </a:cubicBezTo>
                <a:cubicBezTo>
                  <a:pt x="8965" y="7925"/>
                  <a:pt x="9241" y="8483"/>
                  <a:pt x="9457" y="8902"/>
                </a:cubicBezTo>
                <a:cubicBezTo>
                  <a:pt x="9672" y="9321"/>
                  <a:pt x="9887" y="9713"/>
                  <a:pt x="10000" y="9922"/>
                </a:cubicBezTo>
              </a:path>
            </a:pathLst>
          </a:custGeom>
          <a:noFill/>
          <a:ln w="28575">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p>
            <a:endParaRPr lang="zh-CN" altLang="en-US"/>
          </a:p>
        </p:txBody>
      </p:sp>
      <p:sp>
        <p:nvSpPr>
          <p:cNvPr id="1429590" name="Text Box 86"/>
          <p:cNvSpPr txBox="1">
            <a:spLocks noChangeArrowheads="1"/>
          </p:cNvSpPr>
          <p:nvPr/>
        </p:nvSpPr>
        <p:spPr bwMode="auto">
          <a:xfrm>
            <a:off x="5605062" y="1446844"/>
            <a:ext cx="5482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l-GR" altLang="zh-CN" sz="2000" b="1" i="1" dirty="0">
                <a:solidFill>
                  <a:srgbClr val="000066"/>
                </a:solidFill>
                <a:ea typeface="华文新魏" pitchFamily="2" charset="-122"/>
                <a:cs typeface="Times New Roman" panose="02020603050405020304" pitchFamily="18" charset="0"/>
                <a:sym typeface="Symbol" pitchFamily="18" charset="2"/>
              </a:rPr>
              <a:t></a:t>
            </a:r>
            <a:r>
              <a:rPr kumimoji="1" lang="en-US" altLang="zh-CN" sz="2000" b="1" baseline="-25000" dirty="0" err="1">
                <a:solidFill>
                  <a:srgbClr val="000066"/>
                </a:solidFill>
                <a:ea typeface="华文新魏" pitchFamily="2" charset="-122"/>
                <a:cs typeface="Times New Roman" panose="02020603050405020304" pitchFamily="18" charset="0"/>
                <a:sym typeface="Symbol" pitchFamily="18" charset="2"/>
              </a:rPr>
              <a:t>dmax</a:t>
            </a:r>
            <a:endParaRPr kumimoji="1" lang="el-GR" altLang="zh-CN" sz="2000" b="1" dirty="0">
              <a:solidFill>
                <a:srgbClr val="000066"/>
              </a:solidFill>
              <a:ea typeface="华文新魏" pitchFamily="2" charset="-122"/>
              <a:cs typeface="Times New Roman" panose="02020603050405020304" pitchFamily="18" charset="0"/>
              <a:sym typeface="Symbol" pitchFamily="18" charset="2"/>
            </a:endParaRPr>
          </a:p>
        </p:txBody>
      </p:sp>
      <p:sp>
        <p:nvSpPr>
          <p:cNvPr id="1429591" name="Text Box 87"/>
          <p:cNvSpPr txBox="1">
            <a:spLocks noChangeArrowheads="1"/>
          </p:cNvSpPr>
          <p:nvPr/>
        </p:nvSpPr>
        <p:spPr bwMode="auto">
          <a:xfrm>
            <a:off x="6851410" y="3421694"/>
            <a:ext cx="3510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2000" b="1" i="1" dirty="0" smtClean="0">
                <a:solidFill>
                  <a:srgbClr val="000066"/>
                </a:solidFill>
                <a:ea typeface="华文新魏" pitchFamily="2" charset="-122"/>
                <a:cs typeface="Times New Roman" panose="02020603050405020304" pitchFamily="18" charset="0"/>
              </a:rPr>
              <a:t>w</a:t>
            </a:r>
            <a:r>
              <a:rPr kumimoji="1" lang="en-US" altLang="zh-CN" sz="2000" b="1" baseline="-25000" dirty="0" smtClean="0">
                <a:solidFill>
                  <a:srgbClr val="000066"/>
                </a:solidFill>
                <a:ea typeface="华文新魏" pitchFamily="2" charset="-122"/>
                <a:cs typeface="Times New Roman" panose="02020603050405020304" pitchFamily="18" charset="0"/>
              </a:rPr>
              <a:t>op</a:t>
            </a:r>
            <a:endParaRPr kumimoji="1" lang="en-US" altLang="zh-CN" sz="2000" b="1" dirty="0">
              <a:solidFill>
                <a:srgbClr val="000066"/>
              </a:solidFill>
              <a:ea typeface="华文新魏" pitchFamily="2" charset="-122"/>
              <a:cs typeface="Times New Roman" panose="02020603050405020304" pitchFamily="18" charset="0"/>
            </a:endParaRPr>
          </a:p>
        </p:txBody>
      </p:sp>
      <p:sp>
        <p:nvSpPr>
          <p:cNvPr id="1429592" name="Line 88"/>
          <p:cNvSpPr>
            <a:spLocks noChangeShapeType="1"/>
          </p:cNvSpPr>
          <p:nvPr/>
        </p:nvSpPr>
        <p:spPr bwMode="auto">
          <a:xfrm>
            <a:off x="5060026" y="1803060"/>
            <a:ext cx="1682750" cy="1587"/>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429593" name="Line 89"/>
          <p:cNvSpPr>
            <a:spLocks noChangeShapeType="1"/>
          </p:cNvSpPr>
          <p:nvPr/>
        </p:nvSpPr>
        <p:spPr bwMode="auto">
          <a:xfrm>
            <a:off x="6726901" y="1861182"/>
            <a:ext cx="0" cy="1944687"/>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32" name="Text Box 90"/>
          <p:cNvSpPr txBox="1">
            <a:spLocks noChangeArrowheads="1"/>
          </p:cNvSpPr>
          <p:nvPr/>
        </p:nvSpPr>
        <p:spPr bwMode="auto">
          <a:xfrm>
            <a:off x="2676703" y="5683078"/>
            <a:ext cx="378661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细粒土的压实</a:t>
            </a:r>
            <a:r>
              <a:rPr kumimoji="1" lang="zh-CN" altLang="en-US" sz="4000" b="1" dirty="0" smtClean="0">
                <a:solidFill>
                  <a:srgbClr val="000066"/>
                </a:solidFill>
                <a:latin typeface="黑体" pitchFamily="2" charset="-122"/>
                <a:ea typeface="黑体" pitchFamily="2" charset="-122"/>
              </a:rPr>
              <a:t>性</a:t>
            </a:r>
            <a:endParaRPr kumimoji="1" lang="en-US" altLang="zh-CN" sz="4000" dirty="0">
              <a:solidFill>
                <a:srgbClr val="000066"/>
              </a:solidFill>
              <a:latin typeface="黑体" pitchFamily="2" charset="-122"/>
              <a:ea typeface="黑体" pitchFamily="2" charset="-122"/>
            </a:endParaRPr>
          </a:p>
        </p:txBody>
      </p:sp>
      <p:sp>
        <p:nvSpPr>
          <p:cNvPr id="1429595" name="Text Box 91"/>
          <p:cNvSpPr txBox="1">
            <a:spLocks noChangeArrowheads="1"/>
          </p:cNvSpPr>
          <p:nvPr/>
        </p:nvSpPr>
        <p:spPr bwMode="auto">
          <a:xfrm>
            <a:off x="437517" y="1255871"/>
            <a:ext cx="3432736"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61950" indent="-361950" eaLnBrk="1" hangingPunct="1">
              <a:lnSpc>
                <a:spcPct val="120000"/>
              </a:lnSpc>
              <a:spcBef>
                <a:spcPct val="0"/>
              </a:spcBef>
              <a:spcAft>
                <a:spcPct val="0"/>
              </a:spcAft>
              <a:buFont typeface="+mj-lt"/>
              <a:buAutoNum type="arabicPeriod"/>
            </a:pPr>
            <a:r>
              <a:rPr kumimoji="1" lang="zh-CN" altLang="en-US" sz="2400" b="1" dirty="0">
                <a:solidFill>
                  <a:srgbClr val="A50021"/>
                </a:solidFill>
                <a:ea typeface="幼圆" pitchFamily="49" charset="-122"/>
                <a:cs typeface="Times New Roman" panose="02020603050405020304" pitchFamily="18" charset="0"/>
              </a:rPr>
              <a:t>细颗粒土击实</a:t>
            </a:r>
            <a:r>
              <a:rPr kumimoji="1" lang="zh-CN" altLang="en-US" sz="2400" b="1" dirty="0" smtClean="0">
                <a:solidFill>
                  <a:srgbClr val="A50021"/>
                </a:solidFill>
                <a:ea typeface="幼圆" pitchFamily="49" charset="-122"/>
                <a:cs typeface="Times New Roman" panose="02020603050405020304" pitchFamily="18" charset="0"/>
              </a:rPr>
              <a:t>曲线具有峰值</a:t>
            </a:r>
            <a:endParaRPr kumimoji="1" lang="zh-CN" altLang="en-US" sz="2400" b="1" dirty="0">
              <a:solidFill>
                <a:srgbClr val="A50021"/>
              </a:solidFill>
              <a:ea typeface="幼圆" pitchFamily="49" charset="-122"/>
              <a:cs typeface="Times New Roman" panose="02020603050405020304" pitchFamily="18" charset="0"/>
            </a:endParaRPr>
          </a:p>
        </p:txBody>
      </p:sp>
      <p:sp>
        <p:nvSpPr>
          <p:cNvPr id="1429575" name="Oval 71"/>
          <p:cNvSpPr>
            <a:spLocks noChangeArrowheads="1"/>
          </p:cNvSpPr>
          <p:nvPr/>
        </p:nvSpPr>
        <p:spPr bwMode="auto">
          <a:xfrm>
            <a:off x="5320376" y="2856544"/>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76" name="Oval 72"/>
          <p:cNvSpPr>
            <a:spLocks noChangeArrowheads="1"/>
          </p:cNvSpPr>
          <p:nvPr/>
        </p:nvSpPr>
        <p:spPr bwMode="auto">
          <a:xfrm>
            <a:off x="5807739" y="2351719"/>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77" name="Oval 73"/>
          <p:cNvSpPr>
            <a:spLocks noChangeArrowheads="1"/>
          </p:cNvSpPr>
          <p:nvPr/>
        </p:nvSpPr>
        <p:spPr bwMode="auto">
          <a:xfrm>
            <a:off x="6182389" y="2005644"/>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78" name="Oval 74"/>
          <p:cNvSpPr>
            <a:spLocks noChangeArrowheads="1"/>
          </p:cNvSpPr>
          <p:nvPr/>
        </p:nvSpPr>
        <p:spPr bwMode="auto">
          <a:xfrm>
            <a:off x="6564976" y="1788157"/>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79" name="Oval 75"/>
          <p:cNvSpPr>
            <a:spLocks noChangeArrowheads="1"/>
          </p:cNvSpPr>
          <p:nvPr/>
        </p:nvSpPr>
        <p:spPr bwMode="auto">
          <a:xfrm>
            <a:off x="6893589" y="1905632"/>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80" name="Oval 76"/>
          <p:cNvSpPr>
            <a:spLocks noChangeArrowheads="1"/>
          </p:cNvSpPr>
          <p:nvPr/>
        </p:nvSpPr>
        <p:spPr bwMode="auto">
          <a:xfrm>
            <a:off x="7306339" y="2235832"/>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81" name="Oval 77"/>
          <p:cNvSpPr>
            <a:spLocks noChangeArrowheads="1"/>
          </p:cNvSpPr>
          <p:nvPr/>
        </p:nvSpPr>
        <p:spPr bwMode="auto">
          <a:xfrm>
            <a:off x="7803226" y="2610482"/>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82" name="Oval 78"/>
          <p:cNvSpPr>
            <a:spLocks noChangeArrowheads="1"/>
          </p:cNvSpPr>
          <p:nvPr/>
        </p:nvSpPr>
        <p:spPr bwMode="auto">
          <a:xfrm>
            <a:off x="7990551" y="2869244"/>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01"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细粒土</a:t>
            </a:r>
            <a:r>
              <a:rPr lang="zh-CN" altLang="en-US" sz="2000" b="1" kern="900" spc="-140" dirty="0">
                <a:solidFill>
                  <a:srgbClr val="C00000"/>
                </a:solidFill>
                <a:latin typeface="宋体" pitchFamily="2" charset="-122"/>
              </a:rPr>
              <a:t>的压实性</a:t>
            </a:r>
          </a:p>
        </p:txBody>
      </p:sp>
      <p:sp>
        <p:nvSpPr>
          <p:cNvPr id="99" name="Text Box 91"/>
          <p:cNvSpPr txBox="1">
            <a:spLocks noChangeArrowheads="1"/>
          </p:cNvSpPr>
          <p:nvPr/>
        </p:nvSpPr>
        <p:spPr bwMode="auto">
          <a:xfrm>
            <a:off x="235495" y="588151"/>
            <a:ext cx="308610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20000"/>
              </a:lnSpc>
              <a:spcBef>
                <a:spcPct val="0"/>
              </a:spcBef>
              <a:spcAft>
                <a:spcPct val="0"/>
              </a:spcAft>
              <a:buFont typeface="Wingdings" pitchFamily="2" charset="2"/>
              <a:buChar char="n"/>
            </a:pPr>
            <a:r>
              <a:rPr kumimoji="1" lang="zh-CN" altLang="en-US" sz="2800" b="1" dirty="0">
                <a:solidFill>
                  <a:srgbClr val="A50021"/>
                </a:solidFill>
                <a:ea typeface="幼圆" pitchFamily="49" charset="-122"/>
                <a:cs typeface="Times New Roman" panose="02020603050405020304" pitchFamily="18" charset="0"/>
              </a:rPr>
              <a:t> </a:t>
            </a:r>
            <a:r>
              <a:rPr kumimoji="1" lang="zh-CN" altLang="en-US" sz="2800" b="1" dirty="0" smtClean="0">
                <a:solidFill>
                  <a:srgbClr val="A50021"/>
                </a:solidFill>
                <a:ea typeface="幼圆" pitchFamily="49" charset="-122"/>
                <a:cs typeface="Times New Roman" panose="02020603050405020304" pitchFamily="18" charset="0"/>
              </a:rPr>
              <a:t>击</a:t>
            </a:r>
            <a:r>
              <a:rPr kumimoji="1" lang="zh-CN" altLang="en-US" sz="2800" b="1" dirty="0">
                <a:solidFill>
                  <a:srgbClr val="A50021"/>
                </a:solidFill>
                <a:ea typeface="幼圆" pitchFamily="49" charset="-122"/>
                <a:cs typeface="Times New Roman" panose="02020603050405020304" pitchFamily="18" charset="0"/>
              </a:rPr>
              <a:t>实曲线</a:t>
            </a:r>
            <a:r>
              <a:rPr kumimoji="1" lang="zh-CN" altLang="en-US" sz="2800" b="1" dirty="0" smtClean="0">
                <a:solidFill>
                  <a:srgbClr val="A50021"/>
                </a:solidFill>
                <a:ea typeface="幼圆" pitchFamily="49" charset="-122"/>
                <a:cs typeface="Times New Roman" panose="02020603050405020304" pitchFamily="18" charset="0"/>
              </a:rPr>
              <a:t>特性</a:t>
            </a:r>
            <a:endParaRPr kumimoji="1" lang="zh-CN" altLang="en-US" sz="2800" b="1" dirty="0">
              <a:solidFill>
                <a:srgbClr val="A50021"/>
              </a:solidFill>
              <a:ea typeface="幼圆" pitchFamily="49" charset="-122"/>
              <a:cs typeface="Times New Roman" panose="02020603050405020304" pitchFamily="18" charset="0"/>
            </a:endParaRPr>
          </a:p>
        </p:txBody>
      </p:sp>
      <p:sp>
        <p:nvSpPr>
          <p:cNvPr id="100" name="Text Box 91"/>
          <p:cNvSpPr txBox="1">
            <a:spLocks noChangeArrowheads="1"/>
          </p:cNvSpPr>
          <p:nvPr/>
        </p:nvSpPr>
        <p:spPr bwMode="auto">
          <a:xfrm>
            <a:off x="685611" y="2195074"/>
            <a:ext cx="3407925" cy="334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5113" lvl="1" indent="-265113" eaLnBrk="1" hangingPunct="1">
              <a:lnSpc>
                <a:spcPct val="120000"/>
              </a:lnSpc>
              <a:spcBef>
                <a:spcPct val="0"/>
              </a:spcBef>
              <a:spcAft>
                <a:spcPct val="0"/>
              </a:spcAft>
              <a:buClr>
                <a:srgbClr val="C00000"/>
              </a:buClr>
              <a:buSzPct val="130000"/>
              <a:buFont typeface="Arial" panose="020B0604020202020204" pitchFamily="34" charset="0"/>
              <a:buChar char="•"/>
            </a:pPr>
            <a:r>
              <a:rPr kumimoji="1" lang="zh-CN" altLang="en-US" sz="2200" b="1" dirty="0" smtClean="0">
                <a:solidFill>
                  <a:srgbClr val="000066"/>
                </a:solidFill>
                <a:ea typeface="幼圆" pitchFamily="49" charset="-122"/>
                <a:cs typeface="Times New Roman" panose="02020603050405020304" pitchFamily="18" charset="0"/>
              </a:rPr>
              <a:t>峰值</a:t>
            </a:r>
            <a:r>
              <a:rPr kumimoji="1" lang="zh-CN" altLang="en-US" sz="2200" b="1" dirty="0">
                <a:solidFill>
                  <a:srgbClr val="000066"/>
                </a:solidFill>
                <a:ea typeface="幼圆" pitchFamily="49" charset="-122"/>
                <a:cs typeface="Times New Roman" panose="02020603050405020304" pitchFamily="18" charset="0"/>
              </a:rPr>
              <a:t>干密度称为该种土体的最大干密度</a:t>
            </a:r>
            <a:r>
              <a:rPr kumimoji="1" lang="zh-CN" altLang="en-US" sz="2200" b="1" i="1" dirty="0">
                <a:solidFill>
                  <a:srgbClr val="000066"/>
                </a:solidFill>
                <a:ea typeface="幼圆" pitchFamily="49" charset="-122"/>
                <a:cs typeface="Times New Roman" panose="02020603050405020304" pitchFamily="18" charset="0"/>
                <a:sym typeface="Symbol" pitchFamily="18" charset="2"/>
              </a:rPr>
              <a:t></a:t>
            </a:r>
            <a:r>
              <a:rPr kumimoji="1" lang="en-US" altLang="zh-CN" sz="2200" b="1" baseline="-25000" dirty="0" err="1" smtClean="0">
                <a:solidFill>
                  <a:srgbClr val="000066"/>
                </a:solidFill>
                <a:ea typeface="幼圆" pitchFamily="49" charset="-122"/>
                <a:cs typeface="Times New Roman" panose="02020603050405020304" pitchFamily="18" charset="0"/>
                <a:sym typeface="Symbol" pitchFamily="18" charset="2"/>
              </a:rPr>
              <a:t>dmax</a:t>
            </a:r>
            <a:r>
              <a:rPr kumimoji="1" lang="zh-CN" altLang="en-US" sz="2200" b="1" dirty="0" smtClean="0">
                <a:solidFill>
                  <a:srgbClr val="000066"/>
                </a:solidFill>
                <a:ea typeface="幼圆" pitchFamily="49" charset="-122"/>
                <a:cs typeface="Times New Roman" panose="02020603050405020304" pitchFamily="18" charset="0"/>
                <a:sym typeface="Symbol" pitchFamily="18" charset="2"/>
              </a:rPr>
              <a:t>，也应着试样所</a:t>
            </a:r>
            <a:r>
              <a:rPr kumimoji="1" lang="zh-CN" altLang="en-US" sz="2200" b="1" dirty="0">
                <a:solidFill>
                  <a:srgbClr val="000066"/>
                </a:solidFill>
                <a:ea typeface="幼圆" pitchFamily="49" charset="-122"/>
                <a:cs typeface="Times New Roman" panose="02020603050405020304" pitchFamily="18" charset="0"/>
                <a:sym typeface="Symbol" pitchFamily="18" charset="2"/>
              </a:rPr>
              <a:t>达到的最小孔隙比</a:t>
            </a:r>
            <a:endParaRPr kumimoji="1" lang="en-US" altLang="zh-CN" sz="2200" b="1" dirty="0" smtClean="0">
              <a:solidFill>
                <a:srgbClr val="000066"/>
              </a:solidFill>
              <a:ea typeface="幼圆" pitchFamily="49" charset="-122"/>
              <a:cs typeface="Times New Roman" panose="02020603050405020304" pitchFamily="18" charset="0"/>
              <a:sym typeface="Symbol" pitchFamily="18" charset="2"/>
            </a:endParaRPr>
          </a:p>
          <a:p>
            <a:pPr marL="265113" lvl="1" indent="-265113" eaLnBrk="1" hangingPunct="1">
              <a:lnSpc>
                <a:spcPct val="120000"/>
              </a:lnSpc>
              <a:spcBef>
                <a:spcPct val="0"/>
              </a:spcBef>
              <a:spcAft>
                <a:spcPct val="0"/>
              </a:spcAft>
              <a:buClr>
                <a:srgbClr val="C00000"/>
              </a:buClr>
              <a:buSzPct val="130000"/>
              <a:buFont typeface="Arial" panose="020B0604020202020204" pitchFamily="34" charset="0"/>
              <a:buChar char="•"/>
            </a:pPr>
            <a:r>
              <a:rPr kumimoji="1" lang="zh-CN" altLang="en-US" sz="2200" b="1" dirty="0" smtClean="0">
                <a:solidFill>
                  <a:srgbClr val="000066"/>
                </a:solidFill>
                <a:ea typeface="幼圆" pitchFamily="49" charset="-122"/>
                <a:cs typeface="Times New Roman" panose="02020603050405020304" pitchFamily="18" charset="0"/>
                <a:sym typeface="Symbol" pitchFamily="18" charset="2"/>
              </a:rPr>
              <a:t>对应的含水量称为</a:t>
            </a:r>
            <a:r>
              <a:rPr kumimoji="1" lang="zh-CN" altLang="en-US" sz="2200" b="1" dirty="0" smtClean="0">
                <a:solidFill>
                  <a:srgbClr val="000066"/>
                </a:solidFill>
                <a:ea typeface="幼圆" pitchFamily="49" charset="-122"/>
                <a:cs typeface="Times New Roman" panose="02020603050405020304" pitchFamily="18" charset="0"/>
              </a:rPr>
              <a:t>最优含水量</a:t>
            </a:r>
            <a:r>
              <a:rPr kumimoji="1" lang="en-US" altLang="zh-CN" sz="2200" b="1" i="1" dirty="0" smtClean="0">
                <a:solidFill>
                  <a:srgbClr val="000066"/>
                </a:solidFill>
                <a:ea typeface="幼圆" pitchFamily="49" charset="-122"/>
                <a:cs typeface="Times New Roman" panose="02020603050405020304" pitchFamily="18" charset="0"/>
                <a:sym typeface="Symbol" pitchFamily="18" charset="2"/>
              </a:rPr>
              <a:t>w</a:t>
            </a:r>
            <a:r>
              <a:rPr kumimoji="1" lang="en-US" altLang="zh-CN" sz="2200" b="1" baseline="-25000" dirty="0" smtClean="0">
                <a:solidFill>
                  <a:srgbClr val="000066"/>
                </a:solidFill>
                <a:ea typeface="幼圆" pitchFamily="49" charset="-122"/>
                <a:cs typeface="Times New Roman" panose="02020603050405020304" pitchFamily="18" charset="0"/>
                <a:sym typeface="Symbol" pitchFamily="18" charset="2"/>
              </a:rPr>
              <a:t>op</a:t>
            </a:r>
            <a:r>
              <a:rPr kumimoji="1" lang="zh-CN" altLang="en-US" sz="2200" b="1" dirty="0" smtClean="0">
                <a:solidFill>
                  <a:srgbClr val="000066"/>
                </a:solidFill>
                <a:ea typeface="幼圆" pitchFamily="49" charset="-122"/>
                <a:cs typeface="Times New Roman" panose="02020603050405020304" pitchFamily="18" charset="0"/>
                <a:sym typeface="Symbol" pitchFamily="18" charset="2"/>
              </a:rPr>
              <a:t>，在该种含水量条件下，该种土体最容易被压实</a:t>
            </a:r>
            <a:endParaRPr kumimoji="1" lang="en-US" altLang="zh-CN" sz="2200" b="1" dirty="0" smtClean="0">
              <a:solidFill>
                <a:srgbClr val="000066"/>
              </a:solidFill>
              <a:ea typeface="幼圆" pitchFamily="49" charset="-122"/>
              <a:cs typeface="Times New Roman" panose="02020603050405020304" pitchFamily="18" charset="0"/>
              <a:sym typeface="Symbol" pitchFamily="18" charset="2"/>
            </a:endParaRPr>
          </a:p>
        </p:txBody>
      </p:sp>
    </p:spTree>
    <p:extLst>
      <p:ext uri="{BB962C8B-B14F-4D97-AF65-F5344CB8AC3E}">
        <p14:creationId xmlns:p14="http://schemas.microsoft.com/office/powerpoint/2010/main" val="17202843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animEffect transition="in" filter="barn(outVertical)">
                                      <p:cBhvr>
                                        <p:cTn id="7" dur="500"/>
                                        <p:tgtEl>
                                          <p:spTgt spid="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429595">
                                            <p:txEl>
                                              <p:pRg st="0" end="0"/>
                                            </p:txEl>
                                          </p:spTgt>
                                        </p:tgtEl>
                                        <p:attrNameLst>
                                          <p:attrName>style.visibility</p:attrName>
                                        </p:attrNameLst>
                                      </p:cBhvr>
                                      <p:to>
                                        <p:strVal val="visible"/>
                                      </p:to>
                                    </p:set>
                                    <p:animEffect transition="in" filter="barn(outVertical)">
                                      <p:cBhvr>
                                        <p:cTn id="12" dur="500"/>
                                        <p:tgtEl>
                                          <p:spTgt spid="1429595">
                                            <p:txEl>
                                              <p:pRg st="0" end="0"/>
                                            </p:txEl>
                                          </p:spTgt>
                                        </p:tgtEl>
                                      </p:cBhvr>
                                    </p:animEffect>
                                  </p:childTnLst>
                                </p:cTn>
                              </p:par>
                            </p:childTnLst>
                          </p:cTn>
                        </p:par>
                        <p:par>
                          <p:cTn id="13" fill="hold" nodeType="withGroup">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429592"/>
                                        </p:tgtEl>
                                        <p:attrNameLst>
                                          <p:attrName>style.visibility</p:attrName>
                                        </p:attrNameLst>
                                      </p:cBhvr>
                                      <p:to>
                                        <p:strVal val="visible"/>
                                      </p:to>
                                    </p:set>
                                    <p:anim calcmode="lin" valueType="num">
                                      <p:cBhvr additive="base">
                                        <p:cTn id="16" dur="500" fill="hold"/>
                                        <p:tgtEl>
                                          <p:spTgt spid="1429592"/>
                                        </p:tgtEl>
                                        <p:attrNameLst>
                                          <p:attrName>ppt_x</p:attrName>
                                        </p:attrNameLst>
                                      </p:cBhvr>
                                      <p:tavLst>
                                        <p:tav tm="0">
                                          <p:val>
                                            <p:strVal val="0-#ppt_w/2"/>
                                          </p:val>
                                        </p:tav>
                                        <p:tav tm="100000">
                                          <p:val>
                                            <p:strVal val="#ppt_x"/>
                                          </p:val>
                                        </p:tav>
                                      </p:tavLst>
                                    </p:anim>
                                    <p:anim calcmode="lin" valueType="num">
                                      <p:cBhvr additive="base">
                                        <p:cTn id="17" dur="500" fill="hold"/>
                                        <p:tgtEl>
                                          <p:spTgt spid="1429592"/>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100">
                                            <p:txEl>
                                              <p:pRg st="0" end="0"/>
                                            </p:txEl>
                                          </p:spTgt>
                                        </p:tgtEl>
                                        <p:attrNameLst>
                                          <p:attrName>style.visibility</p:attrName>
                                        </p:attrNameLst>
                                      </p:cBhvr>
                                      <p:to>
                                        <p:strVal val="visible"/>
                                      </p:to>
                                    </p:set>
                                    <p:animEffect transition="in" filter="barn(outVertical)">
                                      <p:cBhvr>
                                        <p:cTn id="21" dur="500"/>
                                        <p:tgtEl>
                                          <p:spTgt spid="100">
                                            <p:txEl>
                                              <p:pRg st="0" end="0"/>
                                            </p:txEl>
                                          </p:spTgt>
                                        </p:tgtEl>
                                      </p:cBhvr>
                                    </p:animEffect>
                                  </p:childTnLst>
                                </p:cTn>
                              </p:par>
                            </p:childTnLst>
                          </p:cTn>
                        </p:par>
                        <p:par>
                          <p:cTn id="22" fill="hold">
                            <p:stCondLst>
                              <p:cond delay="1500"/>
                            </p:stCondLst>
                            <p:childTnLst>
                              <p:par>
                                <p:cTn id="23" presetID="38" presetClass="entr" presetSubtype="0" accel="50000" fill="hold" grpId="0" nodeType="afterEffect">
                                  <p:stCondLst>
                                    <p:cond delay="0"/>
                                  </p:stCondLst>
                                  <p:iterate type="lt">
                                    <p:tmPct val="50000"/>
                                  </p:iterate>
                                  <p:childTnLst>
                                    <p:set>
                                      <p:cBhvr>
                                        <p:cTn id="24" dur="1" fill="hold">
                                          <p:stCondLst>
                                            <p:cond delay="0"/>
                                          </p:stCondLst>
                                        </p:cTn>
                                        <p:tgtEl>
                                          <p:spTgt spid="1429590"/>
                                        </p:tgtEl>
                                        <p:attrNameLst>
                                          <p:attrName>style.visibility</p:attrName>
                                        </p:attrNameLst>
                                      </p:cBhvr>
                                      <p:to>
                                        <p:strVal val="visible"/>
                                      </p:to>
                                    </p:set>
                                    <p:set>
                                      <p:cBhvr>
                                        <p:cTn id="25" dur="455" fill="hold">
                                          <p:stCondLst>
                                            <p:cond delay="0"/>
                                          </p:stCondLst>
                                        </p:cTn>
                                        <p:tgtEl>
                                          <p:spTgt spid="1429590"/>
                                        </p:tgtEl>
                                        <p:attrNameLst>
                                          <p:attrName>style.rotation</p:attrName>
                                        </p:attrNameLst>
                                      </p:cBhvr>
                                      <p:to>
                                        <p:strVal val="-45.0"/>
                                      </p:to>
                                    </p:set>
                                    <p:anim calcmode="lin" valueType="num">
                                      <p:cBhvr>
                                        <p:cTn id="26" dur="455" fill="hold">
                                          <p:stCondLst>
                                            <p:cond delay="455"/>
                                          </p:stCondLst>
                                        </p:cTn>
                                        <p:tgtEl>
                                          <p:spTgt spid="1429590"/>
                                        </p:tgtEl>
                                        <p:attrNameLst>
                                          <p:attrName>style.rotation</p:attrName>
                                        </p:attrNameLst>
                                      </p:cBhvr>
                                      <p:tavLst>
                                        <p:tav tm="0">
                                          <p:val>
                                            <p:fltVal val="-45"/>
                                          </p:val>
                                        </p:tav>
                                        <p:tav tm="69900">
                                          <p:val>
                                            <p:fltVal val="45"/>
                                          </p:val>
                                        </p:tav>
                                        <p:tav tm="100000">
                                          <p:val>
                                            <p:fltVal val="0"/>
                                          </p:val>
                                        </p:tav>
                                      </p:tavLst>
                                    </p:anim>
                                    <p:anim calcmode="lin" valueType="num">
                                      <p:cBhvr>
                                        <p:cTn id="27" dur="455" fill="hold">
                                          <p:stCondLst>
                                            <p:cond delay="0"/>
                                          </p:stCondLst>
                                        </p:cTn>
                                        <p:tgtEl>
                                          <p:spTgt spid="1429590"/>
                                        </p:tgtEl>
                                        <p:attrNameLst>
                                          <p:attrName>ppt_y</p:attrName>
                                        </p:attrNameLst>
                                      </p:cBhvr>
                                      <p:tavLst>
                                        <p:tav tm="0">
                                          <p:val>
                                            <p:strVal val="#ppt_y-1"/>
                                          </p:val>
                                        </p:tav>
                                        <p:tav tm="100000">
                                          <p:val>
                                            <p:strVal val="#ppt_y-(0.354*#ppt_w-0.172*#ppt_h)"/>
                                          </p:val>
                                        </p:tav>
                                      </p:tavLst>
                                    </p:anim>
                                    <p:anim calcmode="lin" valueType="num">
                                      <p:cBhvr>
                                        <p:cTn id="28" dur="156" decel="50000" autoRev="1" fill="hold">
                                          <p:stCondLst>
                                            <p:cond delay="455"/>
                                          </p:stCondLst>
                                        </p:cTn>
                                        <p:tgtEl>
                                          <p:spTgt spid="1429590"/>
                                        </p:tgtEl>
                                        <p:attrNameLst>
                                          <p:attrName>ppt_y</p:attrName>
                                        </p:attrNameLst>
                                      </p:cBhvr>
                                      <p:tavLst>
                                        <p:tav tm="0">
                                          <p:val>
                                            <p:strVal val="#ppt_y-(0.354*#ppt_w-0.172*#ppt_h)"/>
                                          </p:val>
                                        </p:tav>
                                        <p:tav tm="100000">
                                          <p:val>
                                            <p:strVal val="#ppt_y-(0.354*#ppt_w-0.172*#ppt_h)-#ppt_h/2"/>
                                          </p:val>
                                        </p:tav>
                                      </p:tavLst>
                                    </p:anim>
                                    <p:anim calcmode="lin" valueType="num">
                                      <p:cBhvr>
                                        <p:cTn id="29" dur="136" fill="hold">
                                          <p:stCondLst>
                                            <p:cond delay="864"/>
                                          </p:stCondLst>
                                        </p:cTn>
                                        <p:tgtEl>
                                          <p:spTgt spid="1429590"/>
                                        </p:tgtEl>
                                        <p:attrNameLst>
                                          <p:attrName>ppt_y</p:attrName>
                                        </p:attrNameLst>
                                      </p:cBhvr>
                                      <p:tavLst>
                                        <p:tav tm="0">
                                          <p:val>
                                            <p:strVal val="#ppt_y-(0.354*#ppt_w-0.172*#ppt_h)"/>
                                          </p:val>
                                        </p:tav>
                                        <p:tav tm="100000">
                                          <p:val>
                                            <p:strVal val="#ppt_y"/>
                                          </p:val>
                                        </p:tav>
                                      </p:tavLst>
                                    </p:anim>
                                  </p:childTnLst>
                                </p:cTn>
                              </p:par>
                            </p:childTnLst>
                          </p:cTn>
                        </p:par>
                        <p:par>
                          <p:cTn id="30" fill="hold">
                            <p:stCondLst>
                              <p:cond delay="4500"/>
                            </p:stCondLst>
                            <p:childTnLst>
                              <p:par>
                                <p:cTn id="31" presetID="47" presetClass="entr" presetSubtype="0" fill="hold" grpId="0" nodeType="afterEffect">
                                  <p:stCondLst>
                                    <p:cond delay="0"/>
                                  </p:stCondLst>
                                  <p:childTnLst>
                                    <p:set>
                                      <p:cBhvr>
                                        <p:cTn id="32" dur="1" fill="hold">
                                          <p:stCondLst>
                                            <p:cond delay="0"/>
                                          </p:stCondLst>
                                        </p:cTn>
                                        <p:tgtEl>
                                          <p:spTgt spid="1429593"/>
                                        </p:tgtEl>
                                        <p:attrNameLst>
                                          <p:attrName>style.visibility</p:attrName>
                                        </p:attrNameLst>
                                      </p:cBhvr>
                                      <p:to>
                                        <p:strVal val="visible"/>
                                      </p:to>
                                    </p:set>
                                    <p:animEffect transition="in" filter="fade">
                                      <p:cBhvr>
                                        <p:cTn id="33" dur="1000"/>
                                        <p:tgtEl>
                                          <p:spTgt spid="1429593"/>
                                        </p:tgtEl>
                                      </p:cBhvr>
                                    </p:animEffect>
                                    <p:anim calcmode="lin" valueType="num">
                                      <p:cBhvr>
                                        <p:cTn id="34" dur="1000" fill="hold"/>
                                        <p:tgtEl>
                                          <p:spTgt spid="1429593"/>
                                        </p:tgtEl>
                                        <p:attrNameLst>
                                          <p:attrName>ppt_x</p:attrName>
                                        </p:attrNameLst>
                                      </p:cBhvr>
                                      <p:tavLst>
                                        <p:tav tm="0">
                                          <p:val>
                                            <p:strVal val="#ppt_x"/>
                                          </p:val>
                                        </p:tav>
                                        <p:tav tm="100000">
                                          <p:val>
                                            <p:strVal val="#ppt_x"/>
                                          </p:val>
                                        </p:tav>
                                      </p:tavLst>
                                    </p:anim>
                                    <p:anim calcmode="lin" valueType="num">
                                      <p:cBhvr>
                                        <p:cTn id="35" dur="1000" fill="hold"/>
                                        <p:tgtEl>
                                          <p:spTgt spid="1429593"/>
                                        </p:tgtEl>
                                        <p:attrNameLst>
                                          <p:attrName>ppt_y</p:attrName>
                                        </p:attrNameLst>
                                      </p:cBhvr>
                                      <p:tavLst>
                                        <p:tav tm="0">
                                          <p:val>
                                            <p:strVal val="#ppt_y-.1"/>
                                          </p:val>
                                        </p:tav>
                                        <p:tav tm="100000">
                                          <p:val>
                                            <p:strVal val="#ppt_y"/>
                                          </p:val>
                                        </p:tav>
                                      </p:tavLst>
                                    </p:anim>
                                  </p:childTnLst>
                                </p:cTn>
                              </p:par>
                            </p:childTnLst>
                          </p:cTn>
                        </p:par>
                        <p:par>
                          <p:cTn id="36" fill="hold" nodeType="afterGroup">
                            <p:stCondLst>
                              <p:cond delay="5500"/>
                            </p:stCondLst>
                            <p:childTnLst>
                              <p:par>
                                <p:cTn id="37" presetID="38" presetClass="entr" presetSubtype="0" accel="50000" fill="hold" grpId="0" nodeType="afterEffect">
                                  <p:stCondLst>
                                    <p:cond delay="1500"/>
                                  </p:stCondLst>
                                  <p:iterate type="lt">
                                    <p:tmPct val="50000"/>
                                  </p:iterate>
                                  <p:childTnLst>
                                    <p:set>
                                      <p:cBhvr>
                                        <p:cTn id="38" dur="1" fill="hold">
                                          <p:stCondLst>
                                            <p:cond delay="0"/>
                                          </p:stCondLst>
                                        </p:cTn>
                                        <p:tgtEl>
                                          <p:spTgt spid="1429591"/>
                                        </p:tgtEl>
                                        <p:attrNameLst>
                                          <p:attrName>style.visibility</p:attrName>
                                        </p:attrNameLst>
                                      </p:cBhvr>
                                      <p:to>
                                        <p:strVal val="visible"/>
                                      </p:to>
                                    </p:set>
                                    <p:set>
                                      <p:cBhvr>
                                        <p:cTn id="39" dur="455" fill="hold">
                                          <p:stCondLst>
                                            <p:cond delay="0"/>
                                          </p:stCondLst>
                                        </p:cTn>
                                        <p:tgtEl>
                                          <p:spTgt spid="1429591"/>
                                        </p:tgtEl>
                                        <p:attrNameLst>
                                          <p:attrName>style.rotation</p:attrName>
                                        </p:attrNameLst>
                                      </p:cBhvr>
                                      <p:to>
                                        <p:strVal val="-45.0"/>
                                      </p:to>
                                    </p:set>
                                    <p:anim calcmode="lin" valueType="num">
                                      <p:cBhvr>
                                        <p:cTn id="40" dur="455" fill="hold">
                                          <p:stCondLst>
                                            <p:cond delay="455"/>
                                          </p:stCondLst>
                                        </p:cTn>
                                        <p:tgtEl>
                                          <p:spTgt spid="1429591"/>
                                        </p:tgtEl>
                                        <p:attrNameLst>
                                          <p:attrName>style.rotation</p:attrName>
                                        </p:attrNameLst>
                                      </p:cBhvr>
                                      <p:tavLst>
                                        <p:tav tm="0">
                                          <p:val>
                                            <p:fltVal val="-45"/>
                                          </p:val>
                                        </p:tav>
                                        <p:tav tm="69900">
                                          <p:val>
                                            <p:fltVal val="45"/>
                                          </p:val>
                                        </p:tav>
                                        <p:tav tm="100000">
                                          <p:val>
                                            <p:fltVal val="0"/>
                                          </p:val>
                                        </p:tav>
                                      </p:tavLst>
                                    </p:anim>
                                    <p:anim calcmode="lin" valueType="num">
                                      <p:cBhvr>
                                        <p:cTn id="41" dur="455" fill="hold">
                                          <p:stCondLst>
                                            <p:cond delay="0"/>
                                          </p:stCondLst>
                                        </p:cTn>
                                        <p:tgtEl>
                                          <p:spTgt spid="1429591"/>
                                        </p:tgtEl>
                                        <p:attrNameLst>
                                          <p:attrName>ppt_y</p:attrName>
                                        </p:attrNameLst>
                                      </p:cBhvr>
                                      <p:tavLst>
                                        <p:tav tm="0">
                                          <p:val>
                                            <p:strVal val="#ppt_y-1"/>
                                          </p:val>
                                        </p:tav>
                                        <p:tav tm="100000">
                                          <p:val>
                                            <p:strVal val="#ppt_y-(0.354*#ppt_w-0.172*#ppt_h)"/>
                                          </p:val>
                                        </p:tav>
                                      </p:tavLst>
                                    </p:anim>
                                    <p:anim calcmode="lin" valueType="num">
                                      <p:cBhvr>
                                        <p:cTn id="42" dur="156" decel="50000" autoRev="1" fill="hold">
                                          <p:stCondLst>
                                            <p:cond delay="455"/>
                                          </p:stCondLst>
                                        </p:cTn>
                                        <p:tgtEl>
                                          <p:spTgt spid="1429591"/>
                                        </p:tgtEl>
                                        <p:attrNameLst>
                                          <p:attrName>ppt_y</p:attrName>
                                        </p:attrNameLst>
                                      </p:cBhvr>
                                      <p:tavLst>
                                        <p:tav tm="0">
                                          <p:val>
                                            <p:strVal val="#ppt_y-(0.354*#ppt_w-0.172*#ppt_h)"/>
                                          </p:val>
                                        </p:tav>
                                        <p:tav tm="100000">
                                          <p:val>
                                            <p:strVal val="#ppt_y-(0.354*#ppt_w-0.172*#ppt_h)-#ppt_h/2"/>
                                          </p:val>
                                        </p:tav>
                                      </p:tavLst>
                                    </p:anim>
                                    <p:anim calcmode="lin" valueType="num">
                                      <p:cBhvr>
                                        <p:cTn id="43" dur="136" fill="hold">
                                          <p:stCondLst>
                                            <p:cond delay="864"/>
                                          </p:stCondLst>
                                        </p:cTn>
                                        <p:tgtEl>
                                          <p:spTgt spid="1429591"/>
                                        </p:tgtEl>
                                        <p:attrNameLst>
                                          <p:attrName>ppt_y</p:attrName>
                                        </p:attrNameLst>
                                      </p:cBhvr>
                                      <p:tavLst>
                                        <p:tav tm="0">
                                          <p:val>
                                            <p:strVal val="#ppt_y-(0.354*#ppt_w-0.172*#ppt_h)"/>
                                          </p:val>
                                        </p:tav>
                                        <p:tav tm="100000">
                                          <p:val>
                                            <p:strVal val="#ppt_y"/>
                                          </p:val>
                                        </p:tav>
                                      </p:tavLst>
                                    </p:anim>
                                  </p:childTnLst>
                                </p:cTn>
                              </p:par>
                              <p:par>
                                <p:cTn id="44" presetID="16" presetClass="entr" presetSubtype="37" fill="hold" grpId="0" nodeType="withEffect">
                                  <p:stCondLst>
                                    <p:cond delay="0"/>
                                  </p:stCondLst>
                                  <p:childTnLst>
                                    <p:set>
                                      <p:cBhvr>
                                        <p:cTn id="45" dur="1" fill="hold">
                                          <p:stCondLst>
                                            <p:cond delay="0"/>
                                          </p:stCondLst>
                                        </p:cTn>
                                        <p:tgtEl>
                                          <p:spTgt spid="100">
                                            <p:txEl>
                                              <p:pRg st="1" end="1"/>
                                            </p:txEl>
                                          </p:spTgt>
                                        </p:tgtEl>
                                        <p:attrNameLst>
                                          <p:attrName>style.visibility</p:attrName>
                                        </p:attrNameLst>
                                      </p:cBhvr>
                                      <p:to>
                                        <p:strVal val="visible"/>
                                      </p:to>
                                    </p:set>
                                    <p:animEffect transition="in" filter="barn(outVertical)">
                                      <p:cBhvr>
                                        <p:cTn id="46" dur="500"/>
                                        <p:tgtEl>
                                          <p:spTgt spid="1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9590" grpId="0"/>
      <p:bldP spid="1429591" grpId="0"/>
      <p:bldP spid="1429592" grpId="0" animBg="1"/>
      <p:bldP spid="1429593" grpId="0" animBg="1"/>
      <p:bldP spid="1429595" grpId="0" build="p" autoUpdateAnimBg="0" advAuto="0"/>
      <p:bldP spid="99" grpId="0" build="p" autoUpdateAnimBg="0" advAuto="0"/>
      <p:bldP spid="100" grpId="0" build="p" autoUpdateAnimBg="0" advAuto="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5006861" y="781682"/>
            <a:ext cx="3825875" cy="3024187"/>
            <a:chOff x="2699" y="845"/>
            <a:chExt cx="2782" cy="1905"/>
          </a:xfrm>
        </p:grpSpPr>
        <p:sp>
          <p:nvSpPr>
            <p:cNvPr id="17442" name="Rectangle 6"/>
            <p:cNvSpPr>
              <a:spLocks noChangeArrowheads="1"/>
            </p:cNvSpPr>
            <p:nvPr/>
          </p:nvSpPr>
          <p:spPr bwMode="auto">
            <a:xfrm>
              <a:off x="5083"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3" name="Rectangle 7"/>
            <p:cNvSpPr>
              <a:spLocks noChangeArrowheads="1"/>
            </p:cNvSpPr>
            <p:nvPr/>
          </p:nvSpPr>
          <p:spPr bwMode="auto">
            <a:xfrm>
              <a:off x="4686" y="2459"/>
              <a:ext cx="397"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4" name="Rectangle 8"/>
            <p:cNvSpPr>
              <a:spLocks noChangeArrowheads="1"/>
            </p:cNvSpPr>
            <p:nvPr/>
          </p:nvSpPr>
          <p:spPr bwMode="auto">
            <a:xfrm>
              <a:off x="4288"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5" name="Rectangle 9"/>
            <p:cNvSpPr>
              <a:spLocks noChangeArrowheads="1"/>
            </p:cNvSpPr>
            <p:nvPr/>
          </p:nvSpPr>
          <p:spPr bwMode="auto">
            <a:xfrm>
              <a:off x="3892" y="2459"/>
              <a:ext cx="396"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6" name="Rectangle 10"/>
            <p:cNvSpPr>
              <a:spLocks noChangeArrowheads="1"/>
            </p:cNvSpPr>
            <p:nvPr/>
          </p:nvSpPr>
          <p:spPr bwMode="auto">
            <a:xfrm>
              <a:off x="3494"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7" name="Rectangle 11"/>
            <p:cNvSpPr>
              <a:spLocks noChangeArrowheads="1"/>
            </p:cNvSpPr>
            <p:nvPr/>
          </p:nvSpPr>
          <p:spPr bwMode="auto">
            <a:xfrm>
              <a:off x="3097" y="2459"/>
              <a:ext cx="397"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8" name="Rectangle 12"/>
            <p:cNvSpPr>
              <a:spLocks noChangeArrowheads="1"/>
            </p:cNvSpPr>
            <p:nvPr/>
          </p:nvSpPr>
          <p:spPr bwMode="auto">
            <a:xfrm>
              <a:off x="2699" y="2459"/>
              <a:ext cx="39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49" name="Rectangle 13"/>
            <p:cNvSpPr>
              <a:spLocks noChangeArrowheads="1"/>
            </p:cNvSpPr>
            <p:nvPr/>
          </p:nvSpPr>
          <p:spPr bwMode="auto">
            <a:xfrm>
              <a:off x="5083"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0" name="Rectangle 14"/>
            <p:cNvSpPr>
              <a:spLocks noChangeArrowheads="1"/>
            </p:cNvSpPr>
            <p:nvPr/>
          </p:nvSpPr>
          <p:spPr bwMode="auto">
            <a:xfrm>
              <a:off x="4686" y="2190"/>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1" name="Rectangle 15"/>
            <p:cNvSpPr>
              <a:spLocks noChangeArrowheads="1"/>
            </p:cNvSpPr>
            <p:nvPr/>
          </p:nvSpPr>
          <p:spPr bwMode="auto">
            <a:xfrm>
              <a:off x="4288"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2" name="Rectangle 16"/>
            <p:cNvSpPr>
              <a:spLocks noChangeArrowheads="1"/>
            </p:cNvSpPr>
            <p:nvPr/>
          </p:nvSpPr>
          <p:spPr bwMode="auto">
            <a:xfrm>
              <a:off x="3892" y="2190"/>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3" name="Rectangle 17"/>
            <p:cNvSpPr>
              <a:spLocks noChangeArrowheads="1"/>
            </p:cNvSpPr>
            <p:nvPr/>
          </p:nvSpPr>
          <p:spPr bwMode="auto">
            <a:xfrm>
              <a:off x="3494"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4" name="Rectangle 18"/>
            <p:cNvSpPr>
              <a:spLocks noChangeArrowheads="1"/>
            </p:cNvSpPr>
            <p:nvPr/>
          </p:nvSpPr>
          <p:spPr bwMode="auto">
            <a:xfrm>
              <a:off x="3097" y="2190"/>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5" name="Rectangle 19"/>
            <p:cNvSpPr>
              <a:spLocks noChangeArrowheads="1"/>
            </p:cNvSpPr>
            <p:nvPr/>
          </p:nvSpPr>
          <p:spPr bwMode="auto">
            <a:xfrm>
              <a:off x="2699" y="2190"/>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6" name="Rectangle 20"/>
            <p:cNvSpPr>
              <a:spLocks noChangeArrowheads="1"/>
            </p:cNvSpPr>
            <p:nvPr/>
          </p:nvSpPr>
          <p:spPr bwMode="auto">
            <a:xfrm>
              <a:off x="5083"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7" name="Rectangle 21"/>
            <p:cNvSpPr>
              <a:spLocks noChangeArrowheads="1"/>
            </p:cNvSpPr>
            <p:nvPr/>
          </p:nvSpPr>
          <p:spPr bwMode="auto">
            <a:xfrm>
              <a:off x="4686" y="1921"/>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8" name="Rectangle 22"/>
            <p:cNvSpPr>
              <a:spLocks noChangeArrowheads="1"/>
            </p:cNvSpPr>
            <p:nvPr/>
          </p:nvSpPr>
          <p:spPr bwMode="auto">
            <a:xfrm>
              <a:off x="4288"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59" name="Rectangle 23"/>
            <p:cNvSpPr>
              <a:spLocks noChangeArrowheads="1"/>
            </p:cNvSpPr>
            <p:nvPr/>
          </p:nvSpPr>
          <p:spPr bwMode="auto">
            <a:xfrm>
              <a:off x="3892" y="1921"/>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0" name="Rectangle 24"/>
            <p:cNvSpPr>
              <a:spLocks noChangeArrowheads="1"/>
            </p:cNvSpPr>
            <p:nvPr/>
          </p:nvSpPr>
          <p:spPr bwMode="auto">
            <a:xfrm>
              <a:off x="3494"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1" name="Rectangle 25"/>
            <p:cNvSpPr>
              <a:spLocks noChangeArrowheads="1"/>
            </p:cNvSpPr>
            <p:nvPr/>
          </p:nvSpPr>
          <p:spPr bwMode="auto">
            <a:xfrm>
              <a:off x="3097" y="1921"/>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2" name="Rectangle 26"/>
            <p:cNvSpPr>
              <a:spLocks noChangeArrowheads="1"/>
            </p:cNvSpPr>
            <p:nvPr/>
          </p:nvSpPr>
          <p:spPr bwMode="auto">
            <a:xfrm>
              <a:off x="2699" y="1921"/>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3" name="Rectangle 27"/>
            <p:cNvSpPr>
              <a:spLocks noChangeArrowheads="1"/>
            </p:cNvSpPr>
            <p:nvPr/>
          </p:nvSpPr>
          <p:spPr bwMode="auto">
            <a:xfrm>
              <a:off x="5083"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4" name="Rectangle 28"/>
            <p:cNvSpPr>
              <a:spLocks noChangeArrowheads="1"/>
            </p:cNvSpPr>
            <p:nvPr/>
          </p:nvSpPr>
          <p:spPr bwMode="auto">
            <a:xfrm>
              <a:off x="4686" y="1652"/>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5" name="Rectangle 29"/>
            <p:cNvSpPr>
              <a:spLocks noChangeArrowheads="1"/>
            </p:cNvSpPr>
            <p:nvPr/>
          </p:nvSpPr>
          <p:spPr bwMode="auto">
            <a:xfrm>
              <a:off x="4288"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6" name="Rectangle 30"/>
            <p:cNvSpPr>
              <a:spLocks noChangeArrowheads="1"/>
            </p:cNvSpPr>
            <p:nvPr/>
          </p:nvSpPr>
          <p:spPr bwMode="auto">
            <a:xfrm>
              <a:off x="3892" y="1652"/>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7" name="Rectangle 31"/>
            <p:cNvSpPr>
              <a:spLocks noChangeArrowheads="1"/>
            </p:cNvSpPr>
            <p:nvPr/>
          </p:nvSpPr>
          <p:spPr bwMode="auto">
            <a:xfrm>
              <a:off x="3494"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8" name="Rectangle 32"/>
            <p:cNvSpPr>
              <a:spLocks noChangeArrowheads="1"/>
            </p:cNvSpPr>
            <p:nvPr/>
          </p:nvSpPr>
          <p:spPr bwMode="auto">
            <a:xfrm>
              <a:off x="3097" y="1652"/>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69" name="Rectangle 33"/>
            <p:cNvSpPr>
              <a:spLocks noChangeArrowheads="1"/>
            </p:cNvSpPr>
            <p:nvPr/>
          </p:nvSpPr>
          <p:spPr bwMode="auto">
            <a:xfrm>
              <a:off x="2699" y="1652"/>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0" name="Rectangle 34"/>
            <p:cNvSpPr>
              <a:spLocks noChangeArrowheads="1"/>
            </p:cNvSpPr>
            <p:nvPr/>
          </p:nvSpPr>
          <p:spPr bwMode="auto">
            <a:xfrm>
              <a:off x="5083"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1" name="Rectangle 35"/>
            <p:cNvSpPr>
              <a:spLocks noChangeArrowheads="1"/>
            </p:cNvSpPr>
            <p:nvPr/>
          </p:nvSpPr>
          <p:spPr bwMode="auto">
            <a:xfrm>
              <a:off x="4686" y="1383"/>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2" name="Rectangle 36"/>
            <p:cNvSpPr>
              <a:spLocks noChangeArrowheads="1"/>
            </p:cNvSpPr>
            <p:nvPr/>
          </p:nvSpPr>
          <p:spPr bwMode="auto">
            <a:xfrm>
              <a:off x="4288"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3" name="Rectangle 37"/>
            <p:cNvSpPr>
              <a:spLocks noChangeArrowheads="1"/>
            </p:cNvSpPr>
            <p:nvPr/>
          </p:nvSpPr>
          <p:spPr bwMode="auto">
            <a:xfrm>
              <a:off x="3892" y="1383"/>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4" name="Rectangle 38"/>
            <p:cNvSpPr>
              <a:spLocks noChangeArrowheads="1"/>
            </p:cNvSpPr>
            <p:nvPr/>
          </p:nvSpPr>
          <p:spPr bwMode="auto">
            <a:xfrm>
              <a:off x="3494"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5" name="Rectangle 39"/>
            <p:cNvSpPr>
              <a:spLocks noChangeArrowheads="1"/>
            </p:cNvSpPr>
            <p:nvPr/>
          </p:nvSpPr>
          <p:spPr bwMode="auto">
            <a:xfrm>
              <a:off x="3097" y="1383"/>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6" name="Rectangle 40"/>
            <p:cNvSpPr>
              <a:spLocks noChangeArrowheads="1"/>
            </p:cNvSpPr>
            <p:nvPr/>
          </p:nvSpPr>
          <p:spPr bwMode="auto">
            <a:xfrm>
              <a:off x="2699" y="1383"/>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7" name="Rectangle 41"/>
            <p:cNvSpPr>
              <a:spLocks noChangeArrowheads="1"/>
            </p:cNvSpPr>
            <p:nvPr/>
          </p:nvSpPr>
          <p:spPr bwMode="auto">
            <a:xfrm>
              <a:off x="5083"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8" name="Rectangle 42"/>
            <p:cNvSpPr>
              <a:spLocks noChangeArrowheads="1"/>
            </p:cNvSpPr>
            <p:nvPr/>
          </p:nvSpPr>
          <p:spPr bwMode="auto">
            <a:xfrm>
              <a:off x="4686" y="1114"/>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79" name="Rectangle 43"/>
            <p:cNvSpPr>
              <a:spLocks noChangeArrowheads="1"/>
            </p:cNvSpPr>
            <p:nvPr/>
          </p:nvSpPr>
          <p:spPr bwMode="auto">
            <a:xfrm>
              <a:off x="4288"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0" name="Rectangle 44"/>
            <p:cNvSpPr>
              <a:spLocks noChangeArrowheads="1"/>
            </p:cNvSpPr>
            <p:nvPr/>
          </p:nvSpPr>
          <p:spPr bwMode="auto">
            <a:xfrm>
              <a:off x="3892" y="1114"/>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1" name="Rectangle 45"/>
            <p:cNvSpPr>
              <a:spLocks noChangeArrowheads="1"/>
            </p:cNvSpPr>
            <p:nvPr/>
          </p:nvSpPr>
          <p:spPr bwMode="auto">
            <a:xfrm>
              <a:off x="3494"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2" name="Rectangle 46"/>
            <p:cNvSpPr>
              <a:spLocks noChangeArrowheads="1"/>
            </p:cNvSpPr>
            <p:nvPr/>
          </p:nvSpPr>
          <p:spPr bwMode="auto">
            <a:xfrm>
              <a:off x="3097" y="1114"/>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3" name="Rectangle 47"/>
            <p:cNvSpPr>
              <a:spLocks noChangeArrowheads="1"/>
            </p:cNvSpPr>
            <p:nvPr/>
          </p:nvSpPr>
          <p:spPr bwMode="auto">
            <a:xfrm>
              <a:off x="2699" y="1114"/>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4" name="Rectangle 48"/>
            <p:cNvSpPr>
              <a:spLocks noChangeArrowheads="1"/>
            </p:cNvSpPr>
            <p:nvPr/>
          </p:nvSpPr>
          <p:spPr bwMode="auto">
            <a:xfrm>
              <a:off x="5083"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5" name="Rectangle 49"/>
            <p:cNvSpPr>
              <a:spLocks noChangeArrowheads="1"/>
            </p:cNvSpPr>
            <p:nvPr/>
          </p:nvSpPr>
          <p:spPr bwMode="auto">
            <a:xfrm>
              <a:off x="4686" y="845"/>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6" name="Rectangle 50"/>
            <p:cNvSpPr>
              <a:spLocks noChangeArrowheads="1"/>
            </p:cNvSpPr>
            <p:nvPr/>
          </p:nvSpPr>
          <p:spPr bwMode="auto">
            <a:xfrm>
              <a:off x="4288"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7" name="Rectangle 51"/>
            <p:cNvSpPr>
              <a:spLocks noChangeArrowheads="1"/>
            </p:cNvSpPr>
            <p:nvPr/>
          </p:nvSpPr>
          <p:spPr bwMode="auto">
            <a:xfrm>
              <a:off x="3892" y="845"/>
              <a:ext cx="396"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8" name="Rectangle 52"/>
            <p:cNvSpPr>
              <a:spLocks noChangeArrowheads="1"/>
            </p:cNvSpPr>
            <p:nvPr/>
          </p:nvSpPr>
          <p:spPr bwMode="auto">
            <a:xfrm>
              <a:off x="3494"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89" name="Rectangle 53"/>
            <p:cNvSpPr>
              <a:spLocks noChangeArrowheads="1"/>
            </p:cNvSpPr>
            <p:nvPr/>
          </p:nvSpPr>
          <p:spPr bwMode="auto">
            <a:xfrm>
              <a:off x="3097" y="845"/>
              <a:ext cx="397"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90" name="Rectangle 54"/>
            <p:cNvSpPr>
              <a:spLocks noChangeArrowheads="1"/>
            </p:cNvSpPr>
            <p:nvPr/>
          </p:nvSpPr>
          <p:spPr bwMode="auto">
            <a:xfrm>
              <a:off x="2699" y="845"/>
              <a:ext cx="398" cy="269"/>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solidFill>
                  <a:srgbClr val="000066"/>
                </a:solidFill>
                <a:latin typeface="Verdana" pitchFamily="34" charset="0"/>
              </a:endParaRPr>
            </a:p>
          </p:txBody>
        </p:sp>
        <p:sp>
          <p:nvSpPr>
            <p:cNvPr id="17491" name="Line 55"/>
            <p:cNvSpPr>
              <a:spLocks noChangeShapeType="1"/>
            </p:cNvSpPr>
            <p:nvPr/>
          </p:nvSpPr>
          <p:spPr bwMode="auto">
            <a:xfrm>
              <a:off x="2699" y="845"/>
              <a:ext cx="2782" cy="0"/>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2" name="Line 56"/>
            <p:cNvSpPr>
              <a:spLocks noChangeShapeType="1"/>
            </p:cNvSpPr>
            <p:nvPr/>
          </p:nvSpPr>
          <p:spPr bwMode="auto">
            <a:xfrm>
              <a:off x="2699" y="1114"/>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3" name="Line 57"/>
            <p:cNvSpPr>
              <a:spLocks noChangeShapeType="1"/>
            </p:cNvSpPr>
            <p:nvPr/>
          </p:nvSpPr>
          <p:spPr bwMode="auto">
            <a:xfrm>
              <a:off x="2699" y="1383"/>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4" name="Line 58"/>
            <p:cNvSpPr>
              <a:spLocks noChangeShapeType="1"/>
            </p:cNvSpPr>
            <p:nvPr/>
          </p:nvSpPr>
          <p:spPr bwMode="auto">
            <a:xfrm>
              <a:off x="2699" y="1652"/>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5" name="Line 59"/>
            <p:cNvSpPr>
              <a:spLocks noChangeShapeType="1"/>
            </p:cNvSpPr>
            <p:nvPr/>
          </p:nvSpPr>
          <p:spPr bwMode="auto">
            <a:xfrm>
              <a:off x="2699" y="1921"/>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6" name="Line 60"/>
            <p:cNvSpPr>
              <a:spLocks noChangeShapeType="1"/>
            </p:cNvSpPr>
            <p:nvPr/>
          </p:nvSpPr>
          <p:spPr bwMode="auto">
            <a:xfrm>
              <a:off x="2699" y="2190"/>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7" name="Line 61"/>
            <p:cNvSpPr>
              <a:spLocks noChangeShapeType="1"/>
            </p:cNvSpPr>
            <p:nvPr/>
          </p:nvSpPr>
          <p:spPr bwMode="auto">
            <a:xfrm>
              <a:off x="2699" y="2459"/>
              <a:ext cx="278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8" name="Line 62"/>
            <p:cNvSpPr>
              <a:spLocks noChangeShapeType="1"/>
            </p:cNvSpPr>
            <p:nvPr/>
          </p:nvSpPr>
          <p:spPr bwMode="auto">
            <a:xfrm>
              <a:off x="2699" y="2750"/>
              <a:ext cx="2782" cy="0"/>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499" name="Line 63"/>
            <p:cNvSpPr>
              <a:spLocks noChangeShapeType="1"/>
            </p:cNvSpPr>
            <p:nvPr/>
          </p:nvSpPr>
          <p:spPr bwMode="auto">
            <a:xfrm>
              <a:off x="2699" y="845"/>
              <a:ext cx="0" cy="1905"/>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0" name="Line 64"/>
            <p:cNvSpPr>
              <a:spLocks noChangeShapeType="1"/>
            </p:cNvSpPr>
            <p:nvPr/>
          </p:nvSpPr>
          <p:spPr bwMode="auto">
            <a:xfrm>
              <a:off x="3097"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1" name="Line 65"/>
            <p:cNvSpPr>
              <a:spLocks noChangeShapeType="1"/>
            </p:cNvSpPr>
            <p:nvPr/>
          </p:nvSpPr>
          <p:spPr bwMode="auto">
            <a:xfrm>
              <a:off x="3494"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2" name="Line 66"/>
            <p:cNvSpPr>
              <a:spLocks noChangeShapeType="1"/>
            </p:cNvSpPr>
            <p:nvPr/>
          </p:nvSpPr>
          <p:spPr bwMode="auto">
            <a:xfrm>
              <a:off x="3892"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3" name="Line 67"/>
            <p:cNvSpPr>
              <a:spLocks noChangeShapeType="1"/>
            </p:cNvSpPr>
            <p:nvPr/>
          </p:nvSpPr>
          <p:spPr bwMode="auto">
            <a:xfrm>
              <a:off x="4288"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4" name="Line 68"/>
            <p:cNvSpPr>
              <a:spLocks noChangeShapeType="1"/>
            </p:cNvSpPr>
            <p:nvPr/>
          </p:nvSpPr>
          <p:spPr bwMode="auto">
            <a:xfrm>
              <a:off x="4686"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5" name="Line 69"/>
            <p:cNvSpPr>
              <a:spLocks noChangeShapeType="1"/>
            </p:cNvSpPr>
            <p:nvPr/>
          </p:nvSpPr>
          <p:spPr bwMode="auto">
            <a:xfrm>
              <a:off x="5083" y="845"/>
              <a:ext cx="0" cy="1905"/>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7506" name="Line 70"/>
            <p:cNvSpPr>
              <a:spLocks noChangeShapeType="1"/>
            </p:cNvSpPr>
            <p:nvPr/>
          </p:nvSpPr>
          <p:spPr bwMode="auto">
            <a:xfrm>
              <a:off x="5481" y="845"/>
              <a:ext cx="0" cy="1905"/>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grpSp>
      <p:sp>
        <p:nvSpPr>
          <p:cNvPr id="1429583" name="Text Box 79"/>
          <p:cNvSpPr txBox="1">
            <a:spLocks noChangeArrowheads="1"/>
          </p:cNvSpPr>
          <p:nvPr/>
        </p:nvSpPr>
        <p:spPr bwMode="auto">
          <a:xfrm>
            <a:off x="4893183" y="3945990"/>
            <a:ext cx="403956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0     </a:t>
            </a:r>
            <a:r>
              <a:rPr kumimoji="1" lang="en-US" altLang="zh-CN" sz="2000" b="1" dirty="0" smtClean="0">
                <a:solidFill>
                  <a:srgbClr val="000066"/>
                </a:solidFill>
                <a:ea typeface="华文新魏" pitchFamily="2" charset="-122"/>
                <a:cs typeface="Times New Roman" pitchFamily="18" charset="0"/>
              </a:rPr>
              <a:t>  </a:t>
            </a:r>
            <a:r>
              <a:rPr kumimoji="1" lang="en-US" altLang="zh-CN" sz="2000" b="1" dirty="0">
                <a:solidFill>
                  <a:srgbClr val="000066"/>
                </a:solidFill>
                <a:ea typeface="华文新魏" pitchFamily="2" charset="-122"/>
                <a:cs typeface="Times New Roman" pitchFamily="18" charset="0"/>
              </a:rPr>
              <a:t>4     </a:t>
            </a:r>
            <a:r>
              <a:rPr kumimoji="1" lang="en-US" altLang="zh-CN" sz="2000" b="1" dirty="0" smtClean="0">
                <a:solidFill>
                  <a:srgbClr val="000066"/>
                </a:solidFill>
                <a:ea typeface="华文新魏" pitchFamily="2" charset="-122"/>
                <a:cs typeface="Times New Roman" pitchFamily="18" charset="0"/>
              </a:rPr>
              <a:t>  </a:t>
            </a:r>
            <a:r>
              <a:rPr kumimoji="1" lang="en-US" altLang="zh-CN" sz="2000" b="1" dirty="0">
                <a:solidFill>
                  <a:srgbClr val="000066"/>
                </a:solidFill>
                <a:ea typeface="华文新魏" pitchFamily="2" charset="-122"/>
                <a:cs typeface="Times New Roman" pitchFamily="18" charset="0"/>
              </a:rPr>
              <a:t>8   </a:t>
            </a:r>
            <a:r>
              <a:rPr kumimoji="1" lang="en-US" altLang="zh-CN" sz="2000" b="1" dirty="0" smtClean="0">
                <a:solidFill>
                  <a:srgbClr val="000066"/>
                </a:solidFill>
                <a:ea typeface="华文新魏" pitchFamily="2" charset="-122"/>
                <a:cs typeface="Times New Roman" pitchFamily="18" charset="0"/>
              </a:rPr>
              <a:t>  </a:t>
            </a:r>
            <a:r>
              <a:rPr kumimoji="1" lang="en-US" altLang="zh-CN" sz="2000" b="1" dirty="0">
                <a:solidFill>
                  <a:srgbClr val="000066"/>
                </a:solidFill>
                <a:ea typeface="华文新魏" pitchFamily="2" charset="-122"/>
                <a:cs typeface="Times New Roman" pitchFamily="18" charset="0"/>
              </a:rPr>
              <a:t>12   </a:t>
            </a:r>
            <a:r>
              <a:rPr kumimoji="1" lang="en-US" altLang="zh-CN" sz="2000" b="1" dirty="0" smtClean="0">
                <a:solidFill>
                  <a:srgbClr val="000066"/>
                </a:solidFill>
                <a:ea typeface="华文新魏" pitchFamily="2" charset="-122"/>
                <a:cs typeface="Times New Roman" pitchFamily="18" charset="0"/>
              </a:rPr>
              <a:t> 16     20     24    28</a:t>
            </a:r>
            <a:endParaRPr kumimoji="1" lang="en-US" altLang="zh-CN" sz="2000" b="1" dirty="0">
              <a:solidFill>
                <a:srgbClr val="000066"/>
              </a:solidFill>
              <a:ea typeface="华文新魏" pitchFamily="2" charset="-122"/>
              <a:cs typeface="Times New Roman" pitchFamily="18" charset="0"/>
            </a:endParaRPr>
          </a:p>
          <a:p>
            <a:pPr eaLnBrk="1" hangingPunct="1">
              <a:lnSpc>
                <a:spcPct val="100000"/>
              </a:lnSpc>
              <a:spcBef>
                <a:spcPct val="0"/>
              </a:spcBef>
              <a:spcAft>
                <a:spcPct val="0"/>
              </a:spcAft>
            </a:pPr>
            <a:r>
              <a:rPr kumimoji="1" lang="zh-CN" altLang="en-US" sz="2000" b="1" dirty="0" smtClean="0">
                <a:solidFill>
                  <a:srgbClr val="000066"/>
                </a:solidFill>
                <a:ea typeface="幼圆" pitchFamily="49" charset="-122"/>
                <a:cs typeface="Times New Roman" pitchFamily="18" charset="0"/>
              </a:rPr>
              <a:t>                        含水量 </a:t>
            </a:r>
            <a:r>
              <a:rPr kumimoji="1" lang="en-US" altLang="zh-CN" sz="2000" b="1" i="1" dirty="0" smtClean="0">
                <a:solidFill>
                  <a:srgbClr val="000066"/>
                </a:solidFill>
                <a:ea typeface="幼圆" pitchFamily="49" charset="-122"/>
                <a:cs typeface="Times New Roman" pitchFamily="18" charset="0"/>
              </a:rPr>
              <a:t>w</a:t>
            </a:r>
            <a:r>
              <a:rPr kumimoji="1" lang="en-US" altLang="zh-CN" sz="2000" b="1" dirty="0" smtClean="0">
                <a:solidFill>
                  <a:srgbClr val="000066"/>
                </a:solidFill>
                <a:ea typeface="幼圆" pitchFamily="49" charset="-122"/>
                <a:cs typeface="Times New Roman" pitchFamily="18" charset="0"/>
              </a:rPr>
              <a:t> (%)</a:t>
            </a:r>
            <a:endParaRPr kumimoji="1" lang="en-US" altLang="zh-CN" sz="2000" b="1" dirty="0">
              <a:solidFill>
                <a:srgbClr val="000066"/>
              </a:solidFill>
              <a:ea typeface="幼圆" pitchFamily="49" charset="-122"/>
              <a:cs typeface="Times New Roman" pitchFamily="18" charset="0"/>
            </a:endParaRPr>
          </a:p>
        </p:txBody>
      </p:sp>
      <p:grpSp>
        <p:nvGrpSpPr>
          <p:cNvPr id="3" name="Group 80"/>
          <p:cNvGrpSpPr>
            <a:grpSpLocks/>
          </p:cNvGrpSpPr>
          <p:nvPr/>
        </p:nvGrpSpPr>
        <p:grpSpPr bwMode="auto">
          <a:xfrm>
            <a:off x="4176600" y="983295"/>
            <a:ext cx="689707" cy="3016249"/>
            <a:chOff x="2090" y="973"/>
            <a:chExt cx="501" cy="1900"/>
          </a:xfrm>
        </p:grpSpPr>
        <p:sp>
          <p:nvSpPr>
            <p:cNvPr id="17440" name="Text Box 81"/>
            <p:cNvSpPr txBox="1">
              <a:spLocks noChangeArrowheads="1"/>
            </p:cNvSpPr>
            <p:nvPr/>
          </p:nvSpPr>
          <p:spPr bwMode="auto">
            <a:xfrm>
              <a:off x="2358" y="973"/>
              <a:ext cx="233" cy="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2.0</a:t>
              </a:r>
            </a:p>
            <a:p>
              <a:pPr algn="ctr" eaLnBrk="1" hangingPunct="1">
                <a:lnSpc>
                  <a:spcPct val="140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1.8</a:t>
              </a:r>
            </a:p>
            <a:p>
              <a:pPr algn="ctr" eaLnBrk="1" hangingPunct="1">
                <a:lnSpc>
                  <a:spcPct val="140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1.6</a:t>
              </a:r>
            </a:p>
            <a:p>
              <a:pPr algn="ctr" eaLnBrk="1" hangingPunct="1">
                <a:lnSpc>
                  <a:spcPct val="140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40000"/>
                </a:lnSpc>
                <a:spcBef>
                  <a:spcPct val="0"/>
                </a:spcBef>
                <a:spcAft>
                  <a:spcPct val="0"/>
                </a:spcAft>
              </a:pPr>
              <a:r>
                <a:rPr kumimoji="1" lang="en-US" altLang="zh-CN" sz="2000" b="1" dirty="0">
                  <a:solidFill>
                    <a:srgbClr val="000066"/>
                  </a:solidFill>
                  <a:ea typeface="华文新魏" pitchFamily="2" charset="-122"/>
                  <a:cs typeface="Times New Roman" pitchFamily="18" charset="0"/>
                </a:rPr>
                <a:t>1.4</a:t>
              </a:r>
            </a:p>
          </p:txBody>
        </p:sp>
        <p:sp>
          <p:nvSpPr>
            <p:cNvPr id="17441" name="Text Box 82"/>
            <p:cNvSpPr txBox="1">
              <a:spLocks noChangeArrowheads="1"/>
            </p:cNvSpPr>
            <p:nvPr/>
          </p:nvSpPr>
          <p:spPr bwMode="auto">
            <a:xfrm rot="16200000">
              <a:off x="1583" y="1845"/>
              <a:ext cx="1237"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smtClean="0">
                  <a:solidFill>
                    <a:srgbClr val="000066"/>
                  </a:solidFill>
                  <a:latin typeface="幼圆" pitchFamily="49" charset="-122"/>
                  <a:ea typeface="幼圆" pitchFamily="49" charset="-122"/>
                </a:rPr>
                <a:t>干密度 </a:t>
              </a:r>
              <a:r>
                <a:rPr kumimoji="1" lang="zh-CN" altLang="en-US" sz="2000" b="1" i="1" dirty="0" smtClean="0">
                  <a:solidFill>
                    <a:srgbClr val="000066"/>
                  </a:solidFill>
                  <a:ea typeface="幼圆" pitchFamily="49" charset="-122"/>
                  <a:sym typeface="Symbol" pitchFamily="18" charset="2"/>
                </a:rPr>
                <a:t></a:t>
              </a:r>
              <a:r>
                <a:rPr kumimoji="1" lang="en-US" altLang="zh-CN" sz="2000" b="1" baseline="-25000" dirty="0" smtClean="0">
                  <a:solidFill>
                    <a:srgbClr val="000066"/>
                  </a:solidFill>
                  <a:ea typeface="幼圆" pitchFamily="49" charset="-122"/>
                  <a:sym typeface="Symbol" pitchFamily="18" charset="2"/>
                </a:rPr>
                <a:t>d </a:t>
              </a:r>
              <a:r>
                <a:rPr kumimoji="1" lang="en-US" altLang="zh-CN" sz="2000" b="1" dirty="0" smtClean="0">
                  <a:solidFill>
                    <a:srgbClr val="000066"/>
                  </a:solidFill>
                  <a:ea typeface="幼圆" pitchFamily="49" charset="-122"/>
                  <a:sym typeface="Symbol" pitchFamily="18" charset="2"/>
                </a:rPr>
                <a:t>(</a:t>
              </a:r>
              <a:r>
                <a:rPr kumimoji="1" lang="en-US" altLang="zh-CN" sz="2000" b="1" dirty="0">
                  <a:solidFill>
                    <a:srgbClr val="000066"/>
                  </a:solidFill>
                  <a:ea typeface="幼圆" pitchFamily="49" charset="-122"/>
                  <a:sym typeface="Symbol" pitchFamily="18" charset="2"/>
                </a:rPr>
                <a:t>g/cm</a:t>
              </a:r>
              <a:r>
                <a:rPr kumimoji="1" lang="en-US" altLang="zh-CN" sz="2000" b="1" baseline="30000" dirty="0">
                  <a:solidFill>
                    <a:srgbClr val="000066"/>
                  </a:solidFill>
                  <a:ea typeface="幼圆" pitchFamily="49" charset="-122"/>
                  <a:sym typeface="Symbol" pitchFamily="18" charset="2"/>
                </a:rPr>
                <a:t>3</a:t>
              </a:r>
              <a:r>
                <a:rPr kumimoji="1" lang="en-US" altLang="zh-CN" sz="2000" b="1" dirty="0">
                  <a:solidFill>
                    <a:srgbClr val="000066"/>
                  </a:solidFill>
                  <a:ea typeface="幼圆" pitchFamily="49" charset="-122"/>
                  <a:sym typeface="Symbol" pitchFamily="18" charset="2"/>
                </a:rPr>
                <a:t>)</a:t>
              </a:r>
            </a:p>
          </p:txBody>
        </p:sp>
      </p:grpSp>
      <p:sp>
        <p:nvSpPr>
          <p:cNvPr id="1429587" name="Freeform 83"/>
          <p:cNvSpPr>
            <a:spLocks/>
          </p:cNvSpPr>
          <p:nvPr/>
        </p:nvSpPr>
        <p:spPr bwMode="auto">
          <a:xfrm>
            <a:off x="5318011" y="1814485"/>
            <a:ext cx="2682875" cy="1127784"/>
          </a:xfrm>
          <a:custGeom>
            <a:avLst/>
            <a:gdLst>
              <a:gd name="T0" fmla="*/ 0 w 1951"/>
              <a:gd name="T1" fmla="*/ 2147483647 h 716"/>
              <a:gd name="T2" fmla="*/ 2147483647 w 1951"/>
              <a:gd name="T3" fmla="*/ 2147483647 h 716"/>
              <a:gd name="T4" fmla="*/ 2147483647 w 1951"/>
              <a:gd name="T5" fmla="*/ 2147483647 h 716"/>
              <a:gd name="T6" fmla="*/ 2147483647 w 1951"/>
              <a:gd name="T7" fmla="*/ 2147483647 h 716"/>
              <a:gd name="T8" fmla="*/ 2147483647 w 1951"/>
              <a:gd name="T9" fmla="*/ 2147483647 h 716"/>
              <a:gd name="T10" fmla="*/ 2147483647 w 1951"/>
              <a:gd name="T11" fmla="*/ 2147483647 h 716"/>
              <a:gd name="T12" fmla="*/ 2147483647 w 1951"/>
              <a:gd name="T13" fmla="*/ 2147483647 h 716"/>
              <a:gd name="T14" fmla="*/ 2147483647 w 1951"/>
              <a:gd name="T15" fmla="*/ 2147483647 h 716"/>
              <a:gd name="T16" fmla="*/ 2147483647 w 1951"/>
              <a:gd name="T17" fmla="*/ 2147483647 h 716"/>
              <a:gd name="T18" fmla="*/ 2147483647 w 1951"/>
              <a:gd name="T19" fmla="*/ 2147483647 h 716"/>
              <a:gd name="T20" fmla="*/ 2147483647 w 1951"/>
              <a:gd name="T21" fmla="*/ 2147483647 h 716"/>
              <a:gd name="T22" fmla="*/ 2147483647 w 1951"/>
              <a:gd name="T23" fmla="*/ 2147483647 h 716"/>
              <a:gd name="T24" fmla="*/ 2147483647 w 1951"/>
              <a:gd name="T25" fmla="*/ 2147483647 h 7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51"/>
              <a:gd name="T40" fmla="*/ 0 h 716"/>
              <a:gd name="T41" fmla="*/ 1951 w 1951"/>
              <a:gd name="T42" fmla="*/ 716 h 716"/>
              <a:gd name="connsiteX0" fmla="*/ 0 w 10000"/>
              <a:gd name="connsiteY0" fmla="*/ 9922 h 9922"/>
              <a:gd name="connsiteX1" fmla="*/ 1369 w 10000"/>
              <a:gd name="connsiteY1" fmla="*/ 6766 h 9922"/>
              <a:gd name="connsiteX2" fmla="*/ 2260 w 10000"/>
              <a:gd name="connsiteY2" fmla="*/ 4671 h 9922"/>
              <a:gd name="connsiteX3" fmla="*/ 2937 w 10000"/>
              <a:gd name="connsiteY3" fmla="*/ 3037 h 9922"/>
              <a:gd name="connsiteX4" fmla="*/ 3767 w 10000"/>
              <a:gd name="connsiteY4" fmla="*/ 1361 h 9922"/>
              <a:gd name="connsiteX5" fmla="*/ 4380 w 10000"/>
              <a:gd name="connsiteY5" fmla="*/ 439 h 9922"/>
              <a:gd name="connsiteX6" fmla="*/ 5090 w 10000"/>
              <a:gd name="connsiteY6" fmla="*/ 20 h 9922"/>
              <a:gd name="connsiteX7" fmla="*/ 5935 w 10000"/>
              <a:gd name="connsiteY7" fmla="*/ 1025 h 9922"/>
              <a:gd name="connsiteX8" fmla="*/ 7058 w 10000"/>
              <a:gd name="connsiteY8" fmla="*/ 3497 h 9922"/>
              <a:gd name="connsiteX9" fmla="*/ 7981 w 10000"/>
              <a:gd name="connsiteY9" fmla="*/ 5718 h 9922"/>
              <a:gd name="connsiteX10" fmla="*/ 8719 w 10000"/>
              <a:gd name="connsiteY10" fmla="*/ 7394 h 9922"/>
              <a:gd name="connsiteX11" fmla="*/ 9457 w 10000"/>
              <a:gd name="connsiteY11" fmla="*/ 8902 h 9922"/>
              <a:gd name="connsiteX12" fmla="*/ 10000 w 10000"/>
              <a:gd name="connsiteY12" fmla="*/ 9922 h 9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9922">
                <a:moveTo>
                  <a:pt x="0" y="9922"/>
                </a:moveTo>
                <a:cubicBezTo>
                  <a:pt x="226" y="9391"/>
                  <a:pt x="989" y="7645"/>
                  <a:pt x="1369" y="6766"/>
                </a:cubicBezTo>
                <a:cubicBezTo>
                  <a:pt x="1748" y="5886"/>
                  <a:pt x="1999" y="5299"/>
                  <a:pt x="2260" y="4671"/>
                </a:cubicBezTo>
                <a:cubicBezTo>
                  <a:pt x="2522" y="4042"/>
                  <a:pt x="2686" y="3581"/>
                  <a:pt x="2937" y="3037"/>
                </a:cubicBezTo>
                <a:cubicBezTo>
                  <a:pt x="3188" y="2492"/>
                  <a:pt x="3527" y="1794"/>
                  <a:pt x="3767" y="1361"/>
                </a:cubicBezTo>
                <a:cubicBezTo>
                  <a:pt x="4007" y="928"/>
                  <a:pt x="4159" y="662"/>
                  <a:pt x="4380" y="439"/>
                </a:cubicBezTo>
                <a:cubicBezTo>
                  <a:pt x="4600" y="215"/>
                  <a:pt x="4831" y="-78"/>
                  <a:pt x="5090" y="20"/>
                </a:cubicBezTo>
                <a:cubicBezTo>
                  <a:pt x="5349" y="118"/>
                  <a:pt x="5607" y="439"/>
                  <a:pt x="5935" y="1025"/>
                </a:cubicBezTo>
                <a:cubicBezTo>
                  <a:pt x="6263" y="1612"/>
                  <a:pt x="6720" y="2715"/>
                  <a:pt x="7058" y="3497"/>
                </a:cubicBezTo>
                <a:cubicBezTo>
                  <a:pt x="7396" y="4280"/>
                  <a:pt x="7704" y="5076"/>
                  <a:pt x="7981" y="5718"/>
                </a:cubicBezTo>
                <a:cubicBezTo>
                  <a:pt x="8257" y="6361"/>
                  <a:pt x="8473" y="6863"/>
                  <a:pt x="8719" y="7394"/>
                </a:cubicBezTo>
                <a:cubicBezTo>
                  <a:pt x="8965" y="7925"/>
                  <a:pt x="9241" y="8483"/>
                  <a:pt x="9457" y="8902"/>
                </a:cubicBezTo>
                <a:cubicBezTo>
                  <a:pt x="9672" y="9321"/>
                  <a:pt x="9887" y="9713"/>
                  <a:pt x="10000" y="9922"/>
                </a:cubicBezTo>
              </a:path>
            </a:pathLst>
          </a:custGeom>
          <a:noFill/>
          <a:ln w="28575">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p>
            <a:endParaRPr lang="zh-CN" altLang="en-US"/>
          </a:p>
        </p:txBody>
      </p:sp>
      <p:sp>
        <p:nvSpPr>
          <p:cNvPr id="1429588" name="Freeform 84"/>
          <p:cNvSpPr>
            <a:spLocks/>
          </p:cNvSpPr>
          <p:nvPr/>
        </p:nvSpPr>
        <p:spPr bwMode="auto">
          <a:xfrm>
            <a:off x="6340361" y="999169"/>
            <a:ext cx="2386013" cy="2225675"/>
          </a:xfrm>
          <a:custGeom>
            <a:avLst/>
            <a:gdLst>
              <a:gd name="T0" fmla="*/ 0 w 1503"/>
              <a:gd name="T1" fmla="*/ 0 h 1402"/>
              <a:gd name="T2" fmla="*/ 2147483647 w 1503"/>
              <a:gd name="T3" fmla="*/ 2147483647 h 1402"/>
              <a:gd name="T4" fmla="*/ 2147483647 w 1503"/>
              <a:gd name="T5" fmla="*/ 2147483647 h 1402"/>
              <a:gd name="T6" fmla="*/ 2147483647 w 1503"/>
              <a:gd name="T7" fmla="*/ 2147483647 h 1402"/>
              <a:gd name="T8" fmla="*/ 2147483647 w 1503"/>
              <a:gd name="T9" fmla="*/ 2147483647 h 1402"/>
              <a:gd name="T10" fmla="*/ 2147483647 w 1503"/>
              <a:gd name="T11" fmla="*/ 2147483647 h 1402"/>
              <a:gd name="T12" fmla="*/ 2147483647 w 1503"/>
              <a:gd name="T13" fmla="*/ 2147483647 h 1402"/>
              <a:gd name="T14" fmla="*/ 2147483647 w 1503"/>
              <a:gd name="T15" fmla="*/ 2147483647 h 1402"/>
              <a:gd name="T16" fmla="*/ 0 60000 65536"/>
              <a:gd name="T17" fmla="*/ 0 60000 65536"/>
              <a:gd name="T18" fmla="*/ 0 60000 65536"/>
              <a:gd name="T19" fmla="*/ 0 60000 65536"/>
              <a:gd name="T20" fmla="*/ 0 60000 65536"/>
              <a:gd name="T21" fmla="*/ 0 60000 65536"/>
              <a:gd name="T22" fmla="*/ 0 60000 65536"/>
              <a:gd name="T23" fmla="*/ 0 60000 65536"/>
              <a:gd name="T24" fmla="*/ 0 w 1503"/>
              <a:gd name="T25" fmla="*/ 0 h 1402"/>
              <a:gd name="T26" fmla="*/ 1503 w 1503"/>
              <a:gd name="T27" fmla="*/ 1402 h 14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03" h="1402">
                <a:moveTo>
                  <a:pt x="0" y="0"/>
                </a:moveTo>
                <a:cubicBezTo>
                  <a:pt x="26" y="26"/>
                  <a:pt x="104" y="107"/>
                  <a:pt x="154" y="159"/>
                </a:cubicBezTo>
                <a:cubicBezTo>
                  <a:pt x="204" y="211"/>
                  <a:pt x="250" y="261"/>
                  <a:pt x="298" y="312"/>
                </a:cubicBezTo>
                <a:cubicBezTo>
                  <a:pt x="346" y="363"/>
                  <a:pt x="383" y="405"/>
                  <a:pt x="442" y="466"/>
                </a:cubicBezTo>
                <a:cubicBezTo>
                  <a:pt x="501" y="527"/>
                  <a:pt x="558" y="587"/>
                  <a:pt x="652" y="679"/>
                </a:cubicBezTo>
                <a:cubicBezTo>
                  <a:pt x="746" y="771"/>
                  <a:pt x="896" y="919"/>
                  <a:pt x="1003" y="1017"/>
                </a:cubicBezTo>
                <a:cubicBezTo>
                  <a:pt x="1111" y="1115"/>
                  <a:pt x="1216" y="1205"/>
                  <a:pt x="1299" y="1269"/>
                </a:cubicBezTo>
                <a:cubicBezTo>
                  <a:pt x="1382" y="1333"/>
                  <a:pt x="1461" y="1374"/>
                  <a:pt x="1503" y="1402"/>
                </a:cubicBezTo>
              </a:path>
            </a:pathLst>
          </a:custGeom>
          <a:noFill/>
          <a:ln w="28575">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p>
            <a:endParaRPr lang="zh-CN" altLang="en-US"/>
          </a:p>
        </p:txBody>
      </p:sp>
      <p:sp>
        <p:nvSpPr>
          <p:cNvPr id="1429589" name="Text Box 85"/>
          <p:cNvSpPr txBox="1">
            <a:spLocks noChangeArrowheads="1"/>
          </p:cNvSpPr>
          <p:nvPr/>
        </p:nvSpPr>
        <p:spPr bwMode="auto">
          <a:xfrm rot="2678910">
            <a:off x="6962710" y="1743143"/>
            <a:ext cx="12259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a:solidFill>
                  <a:srgbClr val="C00000"/>
                </a:solidFill>
                <a:latin typeface="Arial" charset="0"/>
                <a:ea typeface="幼圆" pitchFamily="49" charset="-122"/>
              </a:rPr>
              <a:t>饱和曲线</a:t>
            </a:r>
          </a:p>
        </p:txBody>
      </p:sp>
      <p:sp>
        <p:nvSpPr>
          <p:cNvPr id="1429590" name="Text Box 86"/>
          <p:cNvSpPr txBox="1">
            <a:spLocks noChangeArrowheads="1"/>
          </p:cNvSpPr>
          <p:nvPr/>
        </p:nvSpPr>
        <p:spPr bwMode="auto">
          <a:xfrm>
            <a:off x="5551897" y="1446844"/>
            <a:ext cx="5482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l-GR" altLang="zh-CN" sz="2000" b="1" i="1" dirty="0">
                <a:solidFill>
                  <a:srgbClr val="000066"/>
                </a:solidFill>
                <a:ea typeface="华文新魏" pitchFamily="2" charset="-122"/>
                <a:cs typeface="Times New Roman" panose="02020603050405020304" pitchFamily="18" charset="0"/>
                <a:sym typeface="Symbol" pitchFamily="18" charset="2"/>
              </a:rPr>
              <a:t></a:t>
            </a:r>
            <a:r>
              <a:rPr kumimoji="1" lang="en-US" altLang="zh-CN" sz="2000" b="1" baseline="-25000" dirty="0" err="1">
                <a:solidFill>
                  <a:srgbClr val="000066"/>
                </a:solidFill>
                <a:ea typeface="华文新魏" pitchFamily="2" charset="-122"/>
                <a:cs typeface="Times New Roman" panose="02020603050405020304" pitchFamily="18" charset="0"/>
                <a:sym typeface="Symbol" pitchFamily="18" charset="2"/>
              </a:rPr>
              <a:t>dmax</a:t>
            </a:r>
            <a:endParaRPr kumimoji="1" lang="el-GR" altLang="zh-CN" sz="2000" b="1" dirty="0">
              <a:solidFill>
                <a:srgbClr val="000066"/>
              </a:solidFill>
              <a:ea typeface="华文新魏" pitchFamily="2" charset="-122"/>
              <a:cs typeface="Times New Roman" panose="02020603050405020304" pitchFamily="18" charset="0"/>
              <a:sym typeface="Symbol" pitchFamily="18" charset="2"/>
            </a:endParaRPr>
          </a:p>
        </p:txBody>
      </p:sp>
      <p:sp>
        <p:nvSpPr>
          <p:cNvPr id="1429591" name="Text Box 87"/>
          <p:cNvSpPr txBox="1">
            <a:spLocks noChangeArrowheads="1"/>
          </p:cNvSpPr>
          <p:nvPr/>
        </p:nvSpPr>
        <p:spPr bwMode="auto">
          <a:xfrm>
            <a:off x="6798245" y="3421694"/>
            <a:ext cx="3510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2000" b="1" i="1" dirty="0">
                <a:solidFill>
                  <a:srgbClr val="000066"/>
                </a:solidFill>
                <a:ea typeface="华文新魏" pitchFamily="2" charset="-122"/>
                <a:cs typeface="Times New Roman" panose="02020603050405020304" pitchFamily="18" charset="0"/>
              </a:rPr>
              <a:t>w</a:t>
            </a:r>
            <a:r>
              <a:rPr kumimoji="1" lang="en-US" altLang="zh-CN" sz="2000" b="1" baseline="-25000" dirty="0">
                <a:solidFill>
                  <a:srgbClr val="000066"/>
                </a:solidFill>
                <a:ea typeface="华文新魏" pitchFamily="2" charset="-122"/>
                <a:cs typeface="Times New Roman" panose="02020603050405020304" pitchFamily="18" charset="0"/>
              </a:rPr>
              <a:t>op</a:t>
            </a:r>
            <a:endParaRPr kumimoji="1" lang="en-US" altLang="zh-CN" sz="2000" b="1" dirty="0">
              <a:solidFill>
                <a:srgbClr val="000066"/>
              </a:solidFill>
              <a:ea typeface="华文新魏" pitchFamily="2" charset="-122"/>
              <a:cs typeface="Times New Roman" panose="02020603050405020304" pitchFamily="18" charset="0"/>
            </a:endParaRPr>
          </a:p>
        </p:txBody>
      </p:sp>
      <p:sp>
        <p:nvSpPr>
          <p:cNvPr id="1429592" name="Line 88"/>
          <p:cNvSpPr>
            <a:spLocks noChangeShapeType="1"/>
          </p:cNvSpPr>
          <p:nvPr/>
        </p:nvSpPr>
        <p:spPr bwMode="auto">
          <a:xfrm>
            <a:off x="5006861" y="1796187"/>
            <a:ext cx="1682750" cy="1587"/>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1429593" name="Line 89"/>
          <p:cNvSpPr>
            <a:spLocks noChangeShapeType="1"/>
          </p:cNvSpPr>
          <p:nvPr/>
        </p:nvSpPr>
        <p:spPr bwMode="auto">
          <a:xfrm>
            <a:off x="6673736" y="1861182"/>
            <a:ext cx="0" cy="1944687"/>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graphicFrame>
        <p:nvGraphicFramePr>
          <p:cNvPr id="1429600" name="Object 96"/>
          <p:cNvGraphicFramePr>
            <a:graphicFrameLocks noChangeAspect="1"/>
          </p:cNvGraphicFramePr>
          <p:nvPr>
            <p:extLst>
              <p:ext uri="{D42A27DB-BD31-4B8C-83A1-F6EECF244321}">
                <p14:modId xmlns:p14="http://schemas.microsoft.com/office/powerpoint/2010/main" val="2324107321"/>
              </p:ext>
            </p:extLst>
          </p:nvPr>
        </p:nvGraphicFramePr>
        <p:xfrm>
          <a:off x="7025435" y="4772399"/>
          <a:ext cx="2039937" cy="841375"/>
        </p:xfrm>
        <a:graphic>
          <a:graphicData uri="http://schemas.openxmlformats.org/presentationml/2006/ole">
            <mc:AlternateContent xmlns:mc="http://schemas.openxmlformats.org/markup-compatibility/2006">
              <mc:Choice xmlns:v="urn:schemas-microsoft-com:vml" Requires="v">
                <p:oleObj spid="_x0000_s74858" name="公式" r:id="rId4" imgW="1079280" imgH="444240" progId="Equation.3">
                  <p:embed/>
                </p:oleObj>
              </mc:Choice>
              <mc:Fallback>
                <p:oleObj name="公式" r:id="rId4" imgW="1079280" imgH="444240" progId="Equation.3">
                  <p:embed/>
                  <p:pic>
                    <p:nvPicPr>
                      <p:cNvPr id="0" name=""/>
                      <p:cNvPicPr>
                        <a:picLocks noChangeAspect="1" noChangeArrowheads="1"/>
                      </p:cNvPicPr>
                      <p:nvPr/>
                    </p:nvPicPr>
                    <p:blipFill>
                      <a:blip r:embed="rId5"/>
                      <a:srcRect/>
                      <a:stretch>
                        <a:fillRect/>
                      </a:stretch>
                    </p:blipFill>
                    <p:spPr bwMode="auto">
                      <a:xfrm>
                        <a:off x="7025435" y="4772399"/>
                        <a:ext cx="2039937" cy="84137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9575" name="Oval 71"/>
          <p:cNvSpPr>
            <a:spLocks noChangeArrowheads="1"/>
          </p:cNvSpPr>
          <p:nvPr/>
        </p:nvSpPr>
        <p:spPr bwMode="auto">
          <a:xfrm>
            <a:off x="5267211" y="2856544"/>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76" name="Oval 72"/>
          <p:cNvSpPr>
            <a:spLocks noChangeArrowheads="1"/>
          </p:cNvSpPr>
          <p:nvPr/>
        </p:nvSpPr>
        <p:spPr bwMode="auto">
          <a:xfrm>
            <a:off x="5754574" y="2351719"/>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77" name="Oval 73"/>
          <p:cNvSpPr>
            <a:spLocks noChangeArrowheads="1"/>
          </p:cNvSpPr>
          <p:nvPr/>
        </p:nvSpPr>
        <p:spPr bwMode="auto">
          <a:xfrm>
            <a:off x="6129224" y="2005644"/>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78" name="Oval 74"/>
          <p:cNvSpPr>
            <a:spLocks noChangeArrowheads="1"/>
          </p:cNvSpPr>
          <p:nvPr/>
        </p:nvSpPr>
        <p:spPr bwMode="auto">
          <a:xfrm>
            <a:off x="6511811" y="1788157"/>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79" name="Oval 75"/>
          <p:cNvSpPr>
            <a:spLocks noChangeArrowheads="1"/>
          </p:cNvSpPr>
          <p:nvPr/>
        </p:nvSpPr>
        <p:spPr bwMode="auto">
          <a:xfrm>
            <a:off x="6840424" y="1905632"/>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80" name="Oval 76"/>
          <p:cNvSpPr>
            <a:spLocks noChangeArrowheads="1"/>
          </p:cNvSpPr>
          <p:nvPr/>
        </p:nvSpPr>
        <p:spPr bwMode="auto">
          <a:xfrm>
            <a:off x="7253174" y="2235832"/>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81" name="Oval 77"/>
          <p:cNvSpPr>
            <a:spLocks noChangeArrowheads="1"/>
          </p:cNvSpPr>
          <p:nvPr/>
        </p:nvSpPr>
        <p:spPr bwMode="auto">
          <a:xfrm>
            <a:off x="7750061" y="2610482"/>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429582" name="Oval 78"/>
          <p:cNvSpPr>
            <a:spLocks noChangeArrowheads="1"/>
          </p:cNvSpPr>
          <p:nvPr/>
        </p:nvSpPr>
        <p:spPr bwMode="auto">
          <a:xfrm>
            <a:off x="7937386" y="2869244"/>
            <a:ext cx="108000" cy="108000"/>
          </a:xfrm>
          <a:prstGeom prst="ellipse">
            <a:avLst/>
          </a:prstGeom>
          <a:solidFill>
            <a:srgbClr val="FFFF00"/>
          </a:solidFill>
          <a:ln w="9525" algn="ctr">
            <a:solidFill>
              <a:srgbClr val="C00000"/>
            </a:solidFill>
            <a:round/>
            <a:headEnd/>
            <a:tailEnd/>
          </a:ln>
        </p:spPr>
        <p:txBody>
          <a:bodyPr lIns="0" tIns="0" rIns="0" bIns="0" anchor="ctr">
            <a:spAutoFit/>
          </a:bodyPr>
          <a:lstStyle/>
          <a:p>
            <a:endParaRPr lang="zh-CN" altLang="en-US"/>
          </a:p>
        </p:txBody>
      </p:sp>
      <p:sp>
        <p:nvSpPr>
          <p:cNvPr id="101"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细粒土</a:t>
            </a:r>
            <a:r>
              <a:rPr lang="zh-CN" altLang="en-US" sz="2000" b="1" kern="900" spc="-140" dirty="0">
                <a:solidFill>
                  <a:srgbClr val="C00000"/>
                </a:solidFill>
                <a:latin typeface="宋体" pitchFamily="2" charset="-122"/>
              </a:rPr>
              <a:t>的压实性</a:t>
            </a:r>
          </a:p>
        </p:txBody>
      </p:sp>
      <p:sp>
        <p:nvSpPr>
          <p:cNvPr id="99" name="Text Box 91"/>
          <p:cNvSpPr txBox="1">
            <a:spLocks noChangeArrowheads="1"/>
          </p:cNvSpPr>
          <p:nvPr/>
        </p:nvSpPr>
        <p:spPr bwMode="auto">
          <a:xfrm>
            <a:off x="437517" y="1255871"/>
            <a:ext cx="3432736"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ct val="0"/>
              </a:spcBef>
              <a:spcAft>
                <a:spcPct val="0"/>
              </a:spcAft>
              <a:buFont typeface="+mj-lt"/>
              <a:buAutoNum type="arabicPeriod" startAt="2"/>
            </a:pPr>
            <a:r>
              <a:rPr kumimoji="1" lang="zh-CN" altLang="en-US" sz="2400" b="1" dirty="0">
                <a:solidFill>
                  <a:srgbClr val="A50021"/>
                </a:solidFill>
                <a:ea typeface="幼圆" pitchFamily="49" charset="-122"/>
                <a:cs typeface="Times New Roman" panose="02020603050405020304" pitchFamily="18" charset="0"/>
              </a:rPr>
              <a:t>击</a:t>
            </a:r>
            <a:r>
              <a:rPr kumimoji="1" lang="zh-CN" altLang="en-US" sz="2400" b="1" dirty="0" smtClean="0">
                <a:solidFill>
                  <a:srgbClr val="A50021"/>
                </a:solidFill>
                <a:ea typeface="幼圆" pitchFamily="49" charset="-122"/>
                <a:cs typeface="Times New Roman" panose="02020603050405020304" pitchFamily="18" charset="0"/>
              </a:rPr>
              <a:t>实曲线总是位于</a:t>
            </a:r>
            <a:r>
              <a:rPr kumimoji="1" lang="zh-CN" altLang="en-US" sz="2400" b="1" dirty="0">
                <a:solidFill>
                  <a:srgbClr val="A50021"/>
                </a:solidFill>
                <a:ea typeface="幼圆" pitchFamily="49" charset="-122"/>
                <a:cs typeface="Times New Roman" panose="02020603050405020304" pitchFamily="18" charset="0"/>
              </a:rPr>
              <a:t>饱和曲线之下 </a:t>
            </a:r>
          </a:p>
        </p:txBody>
      </p:sp>
      <p:sp>
        <p:nvSpPr>
          <p:cNvPr id="100" name="Text Box 91"/>
          <p:cNvSpPr txBox="1">
            <a:spLocks noChangeArrowheads="1"/>
          </p:cNvSpPr>
          <p:nvPr/>
        </p:nvSpPr>
        <p:spPr bwMode="auto">
          <a:xfrm>
            <a:off x="235495" y="588151"/>
            <a:ext cx="308610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20000"/>
              </a:lnSpc>
              <a:spcBef>
                <a:spcPct val="0"/>
              </a:spcBef>
              <a:spcAft>
                <a:spcPct val="0"/>
              </a:spcAft>
              <a:buFont typeface="Wingdings" pitchFamily="2" charset="2"/>
              <a:buChar char="n"/>
            </a:pPr>
            <a:r>
              <a:rPr kumimoji="1" lang="zh-CN" altLang="en-US" sz="2800" b="1" dirty="0">
                <a:solidFill>
                  <a:srgbClr val="A50021"/>
                </a:solidFill>
                <a:ea typeface="幼圆" pitchFamily="49" charset="-122"/>
                <a:cs typeface="Times New Roman" panose="02020603050405020304" pitchFamily="18" charset="0"/>
              </a:rPr>
              <a:t> </a:t>
            </a:r>
            <a:r>
              <a:rPr kumimoji="1" lang="zh-CN" altLang="en-US" sz="2800" b="1" dirty="0" smtClean="0">
                <a:solidFill>
                  <a:srgbClr val="A50021"/>
                </a:solidFill>
                <a:ea typeface="幼圆" pitchFamily="49" charset="-122"/>
                <a:cs typeface="Times New Roman" panose="02020603050405020304" pitchFamily="18" charset="0"/>
              </a:rPr>
              <a:t>击</a:t>
            </a:r>
            <a:r>
              <a:rPr kumimoji="1" lang="zh-CN" altLang="en-US" sz="2800" b="1" dirty="0">
                <a:solidFill>
                  <a:srgbClr val="A50021"/>
                </a:solidFill>
                <a:ea typeface="幼圆" pitchFamily="49" charset="-122"/>
                <a:cs typeface="Times New Roman" panose="02020603050405020304" pitchFamily="18" charset="0"/>
              </a:rPr>
              <a:t>实曲线</a:t>
            </a:r>
            <a:r>
              <a:rPr kumimoji="1" lang="zh-CN" altLang="en-US" sz="2800" b="1" dirty="0" smtClean="0">
                <a:solidFill>
                  <a:srgbClr val="A50021"/>
                </a:solidFill>
                <a:ea typeface="幼圆" pitchFamily="49" charset="-122"/>
                <a:cs typeface="Times New Roman" panose="02020603050405020304" pitchFamily="18" charset="0"/>
              </a:rPr>
              <a:t>特性</a:t>
            </a:r>
            <a:endParaRPr kumimoji="1" lang="zh-CN" altLang="en-US" sz="2800" b="1" dirty="0">
              <a:solidFill>
                <a:srgbClr val="A50021"/>
              </a:solidFill>
              <a:ea typeface="幼圆" pitchFamily="49" charset="-122"/>
              <a:cs typeface="Times New Roman" panose="02020603050405020304" pitchFamily="18" charset="0"/>
            </a:endParaRPr>
          </a:p>
        </p:txBody>
      </p:sp>
      <p:sp>
        <p:nvSpPr>
          <p:cNvPr id="102" name="Text Box 91"/>
          <p:cNvSpPr txBox="1">
            <a:spLocks noChangeArrowheads="1"/>
          </p:cNvSpPr>
          <p:nvPr/>
        </p:nvSpPr>
        <p:spPr bwMode="auto">
          <a:xfrm>
            <a:off x="736694" y="2229942"/>
            <a:ext cx="3306389"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5113" lvl="1" indent="-265113" eaLnBrk="1" hangingPunct="1">
              <a:lnSpc>
                <a:spcPct val="120000"/>
              </a:lnSpc>
              <a:spcBef>
                <a:spcPct val="0"/>
              </a:spcBef>
              <a:spcAft>
                <a:spcPct val="0"/>
              </a:spcAft>
              <a:buClr>
                <a:srgbClr val="C00000"/>
              </a:buClr>
              <a:buSzPct val="130000"/>
              <a:buFont typeface="Arial" panose="020B0604020202020204" pitchFamily="34" charset="0"/>
              <a:buChar char="•"/>
            </a:pPr>
            <a:r>
              <a:rPr kumimoji="1" lang="zh-CN" altLang="en-US" sz="2200" b="1" dirty="0" smtClean="0">
                <a:solidFill>
                  <a:srgbClr val="000066"/>
                </a:solidFill>
                <a:ea typeface="幼圆" pitchFamily="49" charset="-122"/>
              </a:rPr>
              <a:t>黏性</a:t>
            </a:r>
            <a:r>
              <a:rPr kumimoji="1" lang="zh-CN" altLang="en-US" sz="2200" b="1" dirty="0">
                <a:solidFill>
                  <a:srgbClr val="000066"/>
                </a:solidFill>
                <a:ea typeface="幼圆" pitchFamily="49" charset="-122"/>
              </a:rPr>
              <a:t>土透水性小，击</a:t>
            </a:r>
            <a:r>
              <a:rPr kumimoji="1" lang="zh-CN" altLang="en-US" sz="2200" b="1" dirty="0" smtClean="0">
                <a:solidFill>
                  <a:srgbClr val="000066"/>
                </a:solidFill>
                <a:ea typeface="幼圆" pitchFamily="49" charset="-122"/>
              </a:rPr>
              <a:t>实时含水量</a:t>
            </a:r>
            <a:r>
              <a:rPr kumimoji="1" lang="zh-CN" altLang="en-US" sz="2200" b="1" dirty="0">
                <a:solidFill>
                  <a:srgbClr val="000066"/>
                </a:solidFill>
                <a:ea typeface="幼圆" pitchFamily="49" charset="-122"/>
              </a:rPr>
              <a:t>几乎不变</a:t>
            </a:r>
            <a:endParaRPr kumimoji="1" lang="en-US" altLang="zh-CN" sz="2200" b="1" dirty="0" smtClean="0">
              <a:solidFill>
                <a:srgbClr val="000066"/>
              </a:solidFill>
              <a:ea typeface="幼圆" pitchFamily="49" charset="-122"/>
              <a:cs typeface="Times New Roman" panose="02020603050405020304" pitchFamily="18" charset="0"/>
            </a:endParaRPr>
          </a:p>
          <a:p>
            <a:pPr marL="265113" lvl="1" indent="-265113" eaLnBrk="1" hangingPunct="1">
              <a:lnSpc>
                <a:spcPct val="120000"/>
              </a:lnSpc>
              <a:spcBef>
                <a:spcPct val="0"/>
              </a:spcBef>
              <a:spcAft>
                <a:spcPct val="0"/>
              </a:spcAft>
              <a:buClr>
                <a:srgbClr val="C00000"/>
              </a:buClr>
              <a:buSzPct val="130000"/>
              <a:buFont typeface="Arial" panose="020B0604020202020204" pitchFamily="34" charset="0"/>
              <a:buChar char="•"/>
            </a:pPr>
            <a:r>
              <a:rPr kumimoji="1" lang="zh-CN" altLang="en-US" sz="2200" b="1" dirty="0">
                <a:solidFill>
                  <a:srgbClr val="000066"/>
                </a:solidFill>
                <a:ea typeface="幼圆" pitchFamily="49" charset="-122"/>
                <a:cs typeface="Times New Roman" panose="02020603050405020304" pitchFamily="18" charset="0"/>
              </a:rPr>
              <a:t>在一定含水量情况下</a:t>
            </a:r>
            <a:r>
              <a:rPr kumimoji="1" lang="zh-CN" altLang="en-US" sz="2200" b="1" dirty="0" smtClean="0">
                <a:solidFill>
                  <a:srgbClr val="000066"/>
                </a:solidFill>
                <a:ea typeface="幼圆" pitchFamily="49" charset="-122"/>
                <a:cs typeface="Times New Roman" panose="02020603050405020304" pitchFamily="18" charset="0"/>
              </a:rPr>
              <a:t>，</a:t>
            </a:r>
            <a:r>
              <a:rPr kumimoji="1" lang="zh-CN" altLang="en-US" sz="2200" b="1" dirty="0">
                <a:solidFill>
                  <a:srgbClr val="000066"/>
                </a:solidFill>
                <a:ea typeface="幼圆" pitchFamily="49" charset="-122"/>
                <a:cs typeface="Times New Roman" panose="02020603050405020304" pitchFamily="18" charset="0"/>
              </a:rPr>
              <a:t>土样</a:t>
            </a:r>
            <a:r>
              <a:rPr kumimoji="1" lang="zh-CN" altLang="en-US" sz="2200" b="1" dirty="0" smtClean="0">
                <a:solidFill>
                  <a:srgbClr val="000066"/>
                </a:solidFill>
                <a:ea typeface="幼圆" pitchFamily="49" charset="-122"/>
                <a:cs typeface="Times New Roman" panose="02020603050405020304" pitchFamily="18" charset="0"/>
              </a:rPr>
              <a:t>理论上最密的状态就是被击</a:t>
            </a:r>
            <a:r>
              <a:rPr kumimoji="1" lang="zh-CN" altLang="en-US" sz="2200" b="1" dirty="0">
                <a:solidFill>
                  <a:srgbClr val="000066"/>
                </a:solidFill>
                <a:ea typeface="幼圆" pitchFamily="49" charset="-122"/>
                <a:cs typeface="Times New Roman" panose="02020603050405020304" pitchFamily="18" charset="0"/>
              </a:rPr>
              <a:t>实</a:t>
            </a:r>
            <a:r>
              <a:rPr kumimoji="1" lang="zh-CN" altLang="en-US" sz="2200" b="1" dirty="0" smtClean="0">
                <a:solidFill>
                  <a:srgbClr val="000066"/>
                </a:solidFill>
                <a:ea typeface="幼圆" pitchFamily="49" charset="-122"/>
                <a:cs typeface="Times New Roman" panose="02020603050405020304" pitchFamily="18" charset="0"/>
              </a:rPr>
              <a:t>到饱和状态</a:t>
            </a:r>
            <a:endParaRPr kumimoji="1" lang="en-US" altLang="zh-CN" sz="2200" b="1" dirty="0" smtClean="0">
              <a:solidFill>
                <a:srgbClr val="000066"/>
              </a:solidFill>
              <a:ea typeface="幼圆" pitchFamily="49" charset="-122"/>
              <a:cs typeface="Times New Roman" panose="02020603050405020304" pitchFamily="18" charset="0"/>
            </a:endParaRPr>
          </a:p>
        </p:txBody>
      </p:sp>
      <p:sp>
        <p:nvSpPr>
          <p:cNvPr id="103" name="Text Box 90"/>
          <p:cNvSpPr txBox="1">
            <a:spLocks noChangeArrowheads="1"/>
          </p:cNvSpPr>
          <p:nvPr/>
        </p:nvSpPr>
        <p:spPr bwMode="auto">
          <a:xfrm>
            <a:off x="2676703" y="5709973"/>
            <a:ext cx="378661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细粒土的压实</a:t>
            </a:r>
            <a:r>
              <a:rPr kumimoji="1" lang="zh-CN" altLang="en-US" sz="4000" b="1" dirty="0" smtClean="0">
                <a:solidFill>
                  <a:srgbClr val="000066"/>
                </a:solidFill>
                <a:latin typeface="黑体" pitchFamily="2" charset="-122"/>
                <a:ea typeface="黑体" pitchFamily="2" charset="-122"/>
              </a:rPr>
              <a:t>性</a:t>
            </a:r>
            <a:endParaRPr kumimoji="1" lang="en-US" altLang="zh-CN" sz="4000" dirty="0">
              <a:solidFill>
                <a:srgbClr val="000066"/>
              </a:solidFill>
              <a:latin typeface="黑体" pitchFamily="2" charset="-122"/>
              <a:ea typeface="黑体" pitchFamily="2" charset="-122"/>
            </a:endParaRPr>
          </a:p>
        </p:txBody>
      </p:sp>
      <p:sp>
        <p:nvSpPr>
          <p:cNvPr id="5" name="矩形 4"/>
          <p:cNvSpPr/>
          <p:nvPr/>
        </p:nvSpPr>
        <p:spPr>
          <a:xfrm>
            <a:off x="4452287" y="4908461"/>
            <a:ext cx="2727029" cy="517065"/>
          </a:xfrm>
          <a:prstGeom prst="rect">
            <a:avLst/>
          </a:prstGeom>
        </p:spPr>
        <p:txBody>
          <a:bodyPr wrap="none">
            <a:spAutoFit/>
          </a:bodyPr>
          <a:lstStyle/>
          <a:p>
            <a:pPr marL="342900" indent="-342900">
              <a:buClr>
                <a:srgbClr val="C00000"/>
              </a:buClr>
              <a:buSzPct val="130000"/>
              <a:buFont typeface="Wingdings" panose="05000000000000000000" pitchFamily="2" charset="2"/>
              <a:buChar char="F"/>
            </a:pPr>
            <a:r>
              <a:rPr lang="zh-CN" altLang="en-US" sz="2400" b="1" dirty="0" smtClean="0">
                <a:solidFill>
                  <a:srgbClr val="C00000"/>
                </a:solidFill>
                <a:latin typeface="幼圆" panose="02010509060101010101" pitchFamily="49" charset="-122"/>
                <a:ea typeface="幼圆" panose="02010509060101010101" pitchFamily="49" charset="-122"/>
              </a:rPr>
              <a:t>饱和曲线方程：</a:t>
            </a:r>
            <a:endParaRPr lang="zh-CN" altLang="en-US" sz="2400" b="1" dirty="0">
              <a:solidFill>
                <a:srgbClr val="C00000"/>
              </a:solidFill>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3769391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animEffect transition="in" filter="barn(outVertical)">
                                      <p:cBhvr>
                                        <p:cTn id="7" dur="500"/>
                                        <p:tgtEl>
                                          <p:spTgt spid="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1429600"/>
                                        </p:tgtEl>
                                        <p:attrNameLst>
                                          <p:attrName>style.visibility</p:attrName>
                                        </p:attrNameLst>
                                      </p:cBhvr>
                                      <p:to>
                                        <p:strVal val="visible"/>
                                      </p:to>
                                    </p:set>
                                    <p:anim calcmode="lin" valueType="num">
                                      <p:cBhvr additive="base">
                                        <p:cTn id="16" dur="500" fill="hold"/>
                                        <p:tgtEl>
                                          <p:spTgt spid="1429600"/>
                                        </p:tgtEl>
                                        <p:attrNameLst>
                                          <p:attrName>ppt_x</p:attrName>
                                        </p:attrNameLst>
                                      </p:cBhvr>
                                      <p:tavLst>
                                        <p:tav tm="0">
                                          <p:val>
                                            <p:strVal val="1+#ppt_w/2"/>
                                          </p:val>
                                        </p:tav>
                                        <p:tav tm="100000">
                                          <p:val>
                                            <p:strVal val="#ppt_x"/>
                                          </p:val>
                                        </p:tav>
                                      </p:tavLst>
                                    </p:anim>
                                    <p:anim calcmode="lin" valueType="num">
                                      <p:cBhvr additive="base">
                                        <p:cTn id="17" dur="500" fill="hold"/>
                                        <p:tgtEl>
                                          <p:spTgt spid="142960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3" fill="hold" grpId="0" nodeType="afterEffect">
                                  <p:stCondLst>
                                    <p:cond delay="0"/>
                                  </p:stCondLst>
                                  <p:childTnLst>
                                    <p:set>
                                      <p:cBhvr>
                                        <p:cTn id="20" dur="1" fill="hold">
                                          <p:stCondLst>
                                            <p:cond delay="0"/>
                                          </p:stCondLst>
                                        </p:cTn>
                                        <p:tgtEl>
                                          <p:spTgt spid="1429588"/>
                                        </p:tgtEl>
                                        <p:attrNameLst>
                                          <p:attrName>style.visibility</p:attrName>
                                        </p:attrNameLst>
                                      </p:cBhvr>
                                      <p:to>
                                        <p:strVal val="visible"/>
                                      </p:to>
                                    </p:set>
                                    <p:anim calcmode="lin" valueType="num">
                                      <p:cBhvr additive="base">
                                        <p:cTn id="21" dur="2000" fill="hold"/>
                                        <p:tgtEl>
                                          <p:spTgt spid="1429588"/>
                                        </p:tgtEl>
                                        <p:attrNameLst>
                                          <p:attrName>ppt_x</p:attrName>
                                        </p:attrNameLst>
                                      </p:cBhvr>
                                      <p:tavLst>
                                        <p:tav tm="0">
                                          <p:val>
                                            <p:strVal val="1+#ppt_w/2"/>
                                          </p:val>
                                        </p:tav>
                                        <p:tav tm="100000">
                                          <p:val>
                                            <p:strVal val="#ppt_x"/>
                                          </p:val>
                                        </p:tav>
                                      </p:tavLst>
                                    </p:anim>
                                    <p:anim calcmode="lin" valueType="num">
                                      <p:cBhvr additive="base">
                                        <p:cTn id="22" dur="2000" fill="hold"/>
                                        <p:tgtEl>
                                          <p:spTgt spid="1429588"/>
                                        </p:tgtEl>
                                        <p:attrNameLst>
                                          <p:attrName>ppt_y</p:attrName>
                                        </p:attrNameLst>
                                      </p:cBhvr>
                                      <p:tavLst>
                                        <p:tav tm="0">
                                          <p:val>
                                            <p:strVal val="0-#ppt_h/2"/>
                                          </p:val>
                                        </p:tav>
                                        <p:tav tm="100000">
                                          <p:val>
                                            <p:strVal val="#ppt_y"/>
                                          </p:val>
                                        </p:tav>
                                      </p:tavLst>
                                    </p:anim>
                                  </p:childTnLst>
                                </p:cTn>
                              </p:par>
                            </p:childTnLst>
                          </p:cTn>
                        </p:par>
                        <p:par>
                          <p:cTn id="23" fill="hold">
                            <p:stCondLst>
                              <p:cond delay="3500"/>
                            </p:stCondLst>
                            <p:childTnLst>
                              <p:par>
                                <p:cTn id="24" presetID="2" presetClass="entr" presetSubtype="3" fill="hold" grpId="0" nodeType="afterEffect">
                                  <p:stCondLst>
                                    <p:cond delay="0"/>
                                  </p:stCondLst>
                                  <p:childTnLst>
                                    <p:set>
                                      <p:cBhvr>
                                        <p:cTn id="25" dur="1" fill="hold">
                                          <p:stCondLst>
                                            <p:cond delay="0"/>
                                          </p:stCondLst>
                                        </p:cTn>
                                        <p:tgtEl>
                                          <p:spTgt spid="1429589"/>
                                        </p:tgtEl>
                                        <p:attrNameLst>
                                          <p:attrName>style.visibility</p:attrName>
                                        </p:attrNameLst>
                                      </p:cBhvr>
                                      <p:to>
                                        <p:strVal val="visible"/>
                                      </p:to>
                                    </p:set>
                                    <p:anim calcmode="lin" valueType="num">
                                      <p:cBhvr additive="base">
                                        <p:cTn id="26" dur="500" fill="hold"/>
                                        <p:tgtEl>
                                          <p:spTgt spid="1429589"/>
                                        </p:tgtEl>
                                        <p:attrNameLst>
                                          <p:attrName>ppt_x</p:attrName>
                                        </p:attrNameLst>
                                      </p:cBhvr>
                                      <p:tavLst>
                                        <p:tav tm="0">
                                          <p:val>
                                            <p:strVal val="1+#ppt_w/2"/>
                                          </p:val>
                                        </p:tav>
                                        <p:tav tm="100000">
                                          <p:val>
                                            <p:strVal val="#ppt_x"/>
                                          </p:val>
                                        </p:tav>
                                      </p:tavLst>
                                    </p:anim>
                                    <p:anim calcmode="lin" valueType="num">
                                      <p:cBhvr additive="base">
                                        <p:cTn id="27" dur="500" fill="hold"/>
                                        <p:tgtEl>
                                          <p:spTgt spid="1429589"/>
                                        </p:tgtEl>
                                        <p:attrNameLst>
                                          <p:attrName>ppt_y</p:attrName>
                                        </p:attrNameLst>
                                      </p:cBhvr>
                                      <p:tavLst>
                                        <p:tav tm="0">
                                          <p:val>
                                            <p:strVal val="0-#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102">
                                            <p:txEl>
                                              <p:pRg st="0" end="0"/>
                                            </p:txEl>
                                          </p:spTgt>
                                        </p:tgtEl>
                                        <p:attrNameLst>
                                          <p:attrName>style.visibility</p:attrName>
                                        </p:attrNameLst>
                                      </p:cBhvr>
                                      <p:to>
                                        <p:strVal val="visible"/>
                                      </p:to>
                                    </p:set>
                                    <p:animEffect transition="in" filter="barn(outVertical)">
                                      <p:cBhvr>
                                        <p:cTn id="32" dur="500"/>
                                        <p:tgtEl>
                                          <p:spTgt spid="10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102">
                                            <p:txEl>
                                              <p:pRg st="1" end="1"/>
                                            </p:txEl>
                                          </p:spTgt>
                                        </p:tgtEl>
                                        <p:attrNameLst>
                                          <p:attrName>style.visibility</p:attrName>
                                        </p:attrNameLst>
                                      </p:cBhvr>
                                      <p:to>
                                        <p:strVal val="visible"/>
                                      </p:to>
                                    </p:set>
                                    <p:animEffect transition="in" filter="barn(outVertical)">
                                      <p:cBhvr>
                                        <p:cTn id="37" dur="500"/>
                                        <p:tgtEl>
                                          <p:spTgt spid="10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9588" grpId="0" animBg="1"/>
      <p:bldP spid="1429589" grpId="0"/>
      <p:bldP spid="99" grpId="0" build="p" autoUpdateAnimBg="0" advAuto="0"/>
      <p:bldP spid="102" grpId="0" build="p" autoUpdateAnimBg="0" advAuto="0"/>
      <p:bldP spid="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0532" name="Rectangle 4"/>
          <p:cNvSpPr>
            <a:spLocks noChangeArrowheads="1"/>
          </p:cNvSpPr>
          <p:nvPr/>
        </p:nvSpPr>
        <p:spPr bwMode="auto">
          <a:xfrm>
            <a:off x="634172" y="819645"/>
            <a:ext cx="2488781"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10000"/>
              </a:lnSpc>
              <a:spcBef>
                <a:spcPct val="0"/>
              </a:spcBef>
              <a:spcAft>
                <a:spcPct val="0"/>
              </a:spcAft>
              <a:buFont typeface="Wingdings" pitchFamily="2" charset="2"/>
              <a:buChar char="n"/>
            </a:pPr>
            <a:r>
              <a:rPr kumimoji="1" lang="zh-CN" altLang="en-US" sz="2800" b="1" dirty="0">
                <a:solidFill>
                  <a:srgbClr val="A50021"/>
                </a:solidFill>
                <a:latin typeface="幼圆" pitchFamily="49" charset="-122"/>
                <a:ea typeface="幼圆" pitchFamily="49" charset="-122"/>
              </a:rPr>
              <a:t> 压实</a:t>
            </a:r>
            <a:r>
              <a:rPr kumimoji="1" lang="zh-CN" altLang="en-US" sz="2800" b="1" dirty="0" smtClean="0">
                <a:solidFill>
                  <a:srgbClr val="A50021"/>
                </a:solidFill>
                <a:latin typeface="幼圆" pitchFamily="49" charset="-122"/>
                <a:ea typeface="幼圆" pitchFamily="49" charset="-122"/>
              </a:rPr>
              <a:t>机理</a:t>
            </a:r>
            <a:endParaRPr kumimoji="1" lang="zh-CN" altLang="en-US" sz="2800" b="1" dirty="0">
              <a:solidFill>
                <a:srgbClr val="A50021"/>
              </a:solidFill>
              <a:latin typeface="幼圆" pitchFamily="49" charset="-122"/>
              <a:ea typeface="幼圆" pitchFamily="49" charset="-122"/>
            </a:endParaRPr>
          </a:p>
        </p:txBody>
      </p:sp>
      <p:sp>
        <p:nvSpPr>
          <p:cNvPr id="92" name="Rectangle 4"/>
          <p:cNvSpPr>
            <a:spLocks noChangeArrowheads="1"/>
          </p:cNvSpPr>
          <p:nvPr/>
        </p:nvSpPr>
        <p:spPr bwMode="auto">
          <a:xfrm>
            <a:off x="1745848" y="1720218"/>
            <a:ext cx="5709311" cy="293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1" indent="-457200">
              <a:lnSpc>
                <a:spcPct val="125000"/>
              </a:lnSpc>
              <a:spcBef>
                <a:spcPts val="300"/>
              </a:spcBef>
              <a:spcAft>
                <a:spcPts val="300"/>
              </a:spcAft>
              <a:buClr>
                <a:srgbClr val="C00000"/>
              </a:buClr>
              <a:buSzPct val="130000"/>
              <a:buFont typeface="Wingdings" panose="05000000000000000000" pitchFamily="2" charset="2"/>
              <a:buChar char="F"/>
            </a:pPr>
            <a:r>
              <a:rPr kumimoji="1" lang="zh-CN" altLang="en-US" sz="2800" b="1" dirty="0" smtClean="0">
                <a:solidFill>
                  <a:srgbClr val="000066"/>
                </a:solidFill>
                <a:latin typeface="幼圆" pitchFamily="49" charset="-122"/>
                <a:ea typeface="幼圆" pitchFamily="49" charset="-122"/>
              </a:rPr>
              <a:t>粒</a:t>
            </a:r>
            <a:r>
              <a:rPr kumimoji="1" lang="zh-CN" altLang="en-US" sz="2800" b="1" dirty="0">
                <a:solidFill>
                  <a:srgbClr val="000066"/>
                </a:solidFill>
                <a:latin typeface="幼圆" pitchFamily="49" charset="-122"/>
                <a:ea typeface="幼圆" pitchFamily="49" charset="-122"/>
              </a:rPr>
              <a:t>间联结力被破坏，颗</a:t>
            </a:r>
            <a:r>
              <a:rPr kumimoji="1" lang="zh-CN" altLang="en-US" sz="2800" b="1" dirty="0" smtClean="0">
                <a:solidFill>
                  <a:srgbClr val="000066"/>
                </a:solidFill>
                <a:latin typeface="幼圆" pitchFamily="49" charset="-122"/>
                <a:ea typeface="幼圆" pitchFamily="49" charset="-122"/>
              </a:rPr>
              <a:t>粒间孔隙</a:t>
            </a:r>
            <a:r>
              <a:rPr kumimoji="1" lang="zh-CN" altLang="en-US" sz="2800" b="1" dirty="0">
                <a:solidFill>
                  <a:srgbClr val="000066"/>
                </a:solidFill>
                <a:latin typeface="幼圆" pitchFamily="49" charset="-122"/>
                <a:ea typeface="幼圆" pitchFamily="49" charset="-122"/>
              </a:rPr>
              <a:t>被压缩</a:t>
            </a:r>
          </a:p>
          <a:p>
            <a:pPr lvl="1" indent="-457200">
              <a:lnSpc>
                <a:spcPct val="125000"/>
              </a:lnSpc>
              <a:spcBef>
                <a:spcPts val="300"/>
              </a:spcBef>
              <a:spcAft>
                <a:spcPts val="300"/>
              </a:spcAft>
              <a:buClr>
                <a:srgbClr val="C00000"/>
              </a:buClr>
              <a:buSzPct val="130000"/>
              <a:buFont typeface="Wingdings" panose="05000000000000000000" pitchFamily="2" charset="2"/>
              <a:buChar char="F"/>
            </a:pPr>
            <a:r>
              <a:rPr kumimoji="1" lang="zh-CN" altLang="en-US" sz="2800" b="1" dirty="0">
                <a:solidFill>
                  <a:srgbClr val="000066"/>
                </a:solidFill>
                <a:latin typeface="幼圆" pitchFamily="49" charset="-122"/>
                <a:ea typeface="幼圆" pitchFamily="49" charset="-122"/>
              </a:rPr>
              <a:t>土粒间发生滑移或转动，形成定向</a:t>
            </a:r>
            <a:r>
              <a:rPr kumimoji="1" lang="zh-CN" altLang="en-US" sz="2800" b="1" dirty="0" smtClean="0">
                <a:solidFill>
                  <a:srgbClr val="000066"/>
                </a:solidFill>
                <a:latin typeface="幼圆" pitchFamily="49" charset="-122"/>
                <a:ea typeface="幼圆" pitchFamily="49" charset="-122"/>
              </a:rPr>
              <a:t>排列</a:t>
            </a:r>
            <a:endParaRPr kumimoji="1" lang="en-US" altLang="zh-CN" sz="2800" b="1" dirty="0" smtClean="0">
              <a:solidFill>
                <a:srgbClr val="000066"/>
              </a:solidFill>
              <a:latin typeface="幼圆" pitchFamily="49" charset="-122"/>
              <a:ea typeface="幼圆" pitchFamily="49" charset="-122"/>
            </a:endParaRPr>
          </a:p>
          <a:p>
            <a:pPr lvl="1" indent="-457200">
              <a:lnSpc>
                <a:spcPct val="125000"/>
              </a:lnSpc>
              <a:spcBef>
                <a:spcPts val="300"/>
              </a:spcBef>
              <a:spcAft>
                <a:spcPts val="300"/>
              </a:spcAft>
              <a:buClr>
                <a:srgbClr val="C00000"/>
              </a:buClr>
              <a:buSzPct val="130000"/>
              <a:buFont typeface="Wingdings" panose="05000000000000000000" pitchFamily="2" charset="2"/>
              <a:buChar char="F"/>
            </a:pPr>
            <a:r>
              <a:rPr kumimoji="1" lang="zh-CN" altLang="en-US" sz="2800" b="1" dirty="0" smtClean="0">
                <a:solidFill>
                  <a:srgbClr val="000066"/>
                </a:solidFill>
                <a:latin typeface="幼圆" pitchFamily="49" charset="-122"/>
                <a:ea typeface="幼圆" pitchFamily="49" charset="-122"/>
              </a:rPr>
              <a:t>粒</a:t>
            </a:r>
            <a:r>
              <a:rPr kumimoji="1" lang="zh-CN" altLang="en-US" sz="2800" b="1" dirty="0">
                <a:solidFill>
                  <a:srgbClr val="000066"/>
                </a:solidFill>
                <a:latin typeface="幼圆" pitchFamily="49" charset="-122"/>
                <a:ea typeface="幼圆" pitchFamily="49" charset="-122"/>
              </a:rPr>
              <a:t>破碎（</a:t>
            </a:r>
            <a:r>
              <a:rPr kumimoji="1" lang="zh-CN" altLang="en-US" sz="2800" b="1" dirty="0" smtClean="0">
                <a:solidFill>
                  <a:srgbClr val="000066"/>
                </a:solidFill>
                <a:latin typeface="幼圆" pitchFamily="49" charset="-122"/>
                <a:ea typeface="幼圆" pitchFamily="49" charset="-122"/>
              </a:rPr>
              <a:t>细粒土颗粒破碎较少）</a:t>
            </a:r>
            <a:endParaRPr kumimoji="1" lang="zh-CN" altLang="en-US" sz="2800" b="1" dirty="0">
              <a:solidFill>
                <a:srgbClr val="000066"/>
              </a:solidFill>
              <a:latin typeface="幼圆" pitchFamily="49" charset="-122"/>
              <a:ea typeface="幼圆" pitchFamily="49" charset="-122"/>
            </a:endParaRPr>
          </a:p>
        </p:txBody>
      </p:sp>
      <p:sp>
        <p:nvSpPr>
          <p:cNvPr id="96"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细粒土</a:t>
            </a:r>
            <a:r>
              <a:rPr lang="zh-CN" altLang="en-US" sz="2000" b="1" kern="900" spc="-140" dirty="0">
                <a:solidFill>
                  <a:srgbClr val="C00000"/>
                </a:solidFill>
                <a:latin typeface="宋体" pitchFamily="2" charset="-122"/>
              </a:rPr>
              <a:t>的压实性</a:t>
            </a:r>
          </a:p>
        </p:txBody>
      </p:sp>
      <p:sp>
        <p:nvSpPr>
          <p:cNvPr id="8" name="Text Box 90"/>
          <p:cNvSpPr txBox="1">
            <a:spLocks noChangeArrowheads="1"/>
          </p:cNvSpPr>
          <p:nvPr/>
        </p:nvSpPr>
        <p:spPr bwMode="auto">
          <a:xfrm>
            <a:off x="2676703" y="5709973"/>
            <a:ext cx="378661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细粒土的压实</a:t>
            </a:r>
            <a:r>
              <a:rPr kumimoji="1" lang="zh-CN" altLang="en-US" sz="4000" b="1" dirty="0" smtClean="0">
                <a:solidFill>
                  <a:srgbClr val="000066"/>
                </a:solidFill>
                <a:latin typeface="黑体" pitchFamily="2" charset="-122"/>
                <a:ea typeface="黑体" pitchFamily="2" charset="-122"/>
              </a:rPr>
              <a:t>性</a:t>
            </a:r>
            <a:endParaRPr kumimoji="1" lang="en-US" altLang="zh-CN" sz="4000"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38476350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2">
                                            <p:txEl>
                                              <p:pRg st="0" end="0"/>
                                            </p:txEl>
                                          </p:spTgt>
                                        </p:tgtEl>
                                        <p:attrNameLst>
                                          <p:attrName>style.visibility</p:attrName>
                                        </p:attrNameLst>
                                      </p:cBhvr>
                                      <p:to>
                                        <p:strVal val="visible"/>
                                      </p:to>
                                    </p:set>
                                    <p:anim calcmode="lin" valueType="num">
                                      <p:cBhvr additive="base">
                                        <p:cTn id="7" dur="1000" fill="hold"/>
                                        <p:tgtEl>
                                          <p:spTgt spid="92">
                                            <p:txEl>
                                              <p:pRg st="0" end="0"/>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92">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2" fill="hold" grpId="0" nodeType="afterEffect">
                                  <p:stCondLst>
                                    <p:cond delay="0"/>
                                  </p:stCondLst>
                                  <p:childTnLst>
                                    <p:set>
                                      <p:cBhvr>
                                        <p:cTn id="11" dur="1" fill="hold">
                                          <p:stCondLst>
                                            <p:cond delay="0"/>
                                          </p:stCondLst>
                                        </p:cTn>
                                        <p:tgtEl>
                                          <p:spTgt spid="92">
                                            <p:txEl>
                                              <p:pRg st="1" end="1"/>
                                            </p:txEl>
                                          </p:spTgt>
                                        </p:tgtEl>
                                        <p:attrNameLst>
                                          <p:attrName>style.visibility</p:attrName>
                                        </p:attrNameLst>
                                      </p:cBhvr>
                                      <p:to>
                                        <p:strVal val="visible"/>
                                      </p:to>
                                    </p:set>
                                    <p:anim calcmode="lin" valueType="num">
                                      <p:cBhvr additive="base">
                                        <p:cTn id="12" dur="1000" fill="hold"/>
                                        <p:tgtEl>
                                          <p:spTgt spid="92">
                                            <p:txEl>
                                              <p:pRg st="1" end="1"/>
                                            </p:txEl>
                                          </p:spTgt>
                                        </p:tgtEl>
                                        <p:attrNameLst>
                                          <p:attrName>ppt_x</p:attrName>
                                        </p:attrNameLst>
                                      </p:cBhvr>
                                      <p:tavLst>
                                        <p:tav tm="0">
                                          <p:val>
                                            <p:strVal val="1+#ppt_w/2"/>
                                          </p:val>
                                        </p:tav>
                                        <p:tav tm="100000">
                                          <p:val>
                                            <p:strVal val="#ppt_x"/>
                                          </p:val>
                                        </p:tav>
                                      </p:tavLst>
                                    </p:anim>
                                    <p:anim calcmode="lin" valueType="num">
                                      <p:cBhvr additive="base">
                                        <p:cTn id="13" dur="1000" fill="hold"/>
                                        <p:tgtEl>
                                          <p:spTgt spid="92">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2" fill="hold" grpId="0" nodeType="afterEffect">
                                  <p:stCondLst>
                                    <p:cond delay="0"/>
                                  </p:stCondLst>
                                  <p:childTnLst>
                                    <p:set>
                                      <p:cBhvr>
                                        <p:cTn id="16" dur="1" fill="hold">
                                          <p:stCondLst>
                                            <p:cond delay="0"/>
                                          </p:stCondLst>
                                        </p:cTn>
                                        <p:tgtEl>
                                          <p:spTgt spid="92">
                                            <p:txEl>
                                              <p:pRg st="2" end="2"/>
                                            </p:txEl>
                                          </p:spTgt>
                                        </p:tgtEl>
                                        <p:attrNameLst>
                                          <p:attrName>style.visibility</p:attrName>
                                        </p:attrNameLst>
                                      </p:cBhvr>
                                      <p:to>
                                        <p:strVal val="visible"/>
                                      </p:to>
                                    </p:set>
                                    <p:anim calcmode="lin" valueType="num">
                                      <p:cBhvr additive="base">
                                        <p:cTn id="17" dur="1000" fill="hold"/>
                                        <p:tgtEl>
                                          <p:spTgt spid="92">
                                            <p:txEl>
                                              <p:pRg st="2" end="2"/>
                                            </p:txEl>
                                          </p:spTgt>
                                        </p:tgtEl>
                                        <p:attrNameLst>
                                          <p:attrName>ppt_x</p:attrName>
                                        </p:attrNameLst>
                                      </p:cBhvr>
                                      <p:tavLst>
                                        <p:tav tm="0">
                                          <p:val>
                                            <p:strVal val="1+#ppt_w/2"/>
                                          </p:val>
                                        </p:tav>
                                        <p:tav tm="100000">
                                          <p:val>
                                            <p:strVal val="#ppt_x"/>
                                          </p:val>
                                        </p:tav>
                                      </p:tavLst>
                                    </p:anim>
                                    <p:anim calcmode="lin" valueType="num">
                                      <p:cBhvr additive="base">
                                        <p:cTn id="18" dur="1000" fill="hold"/>
                                        <p:tgtEl>
                                          <p:spTgt spid="9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0531" name="Rectangle 3"/>
          <p:cNvSpPr>
            <a:spLocks noChangeArrowheads="1"/>
          </p:cNvSpPr>
          <p:nvPr/>
        </p:nvSpPr>
        <p:spPr bwMode="auto">
          <a:xfrm>
            <a:off x="967211" y="1826354"/>
            <a:ext cx="7626283"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20000"/>
              </a:lnSpc>
              <a:spcBef>
                <a:spcPts val="600"/>
              </a:spcBef>
              <a:spcAft>
                <a:spcPts val="600"/>
              </a:spcAft>
              <a:buClr>
                <a:srgbClr val="C00000"/>
              </a:buClr>
              <a:buSzPct val="130000"/>
              <a:buFont typeface="Wingdings" panose="05000000000000000000" pitchFamily="2" charset="2"/>
              <a:buChar char="F"/>
              <a:tabLst>
                <a:tab pos="1889125" algn="l"/>
              </a:tabLst>
            </a:pPr>
            <a:r>
              <a:rPr kumimoji="1" lang="zh-CN" altLang="en-US" sz="2400" b="1" dirty="0">
                <a:solidFill>
                  <a:srgbClr val="C00000"/>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含水量 </a:t>
            </a:r>
            <a:r>
              <a:rPr kumimoji="1" lang="en-US" altLang="zh-CN" sz="2400" b="1" dirty="0" smtClean="0">
                <a:solidFill>
                  <a:srgbClr val="000066"/>
                </a:solidFill>
                <a:ea typeface="幼圆" pitchFamily="49" charset="-122"/>
                <a:cs typeface="Times New Roman" panose="02020603050405020304" pitchFamily="18" charset="0"/>
                <a:sym typeface="Symbol" pitchFamily="18" charset="2"/>
              </a:rPr>
              <a:t> </a:t>
            </a:r>
            <a:r>
              <a:rPr kumimoji="1" lang="en-US" altLang="zh-CN" sz="2400" b="1" i="1" dirty="0" smtClean="0">
                <a:solidFill>
                  <a:srgbClr val="000066"/>
                </a:solidFill>
                <a:ea typeface="幼圆" pitchFamily="49" charset="-122"/>
                <a:cs typeface="Times New Roman" panose="02020603050405020304" pitchFamily="18" charset="0"/>
              </a:rPr>
              <a:t>w</a:t>
            </a:r>
            <a:r>
              <a:rPr kumimoji="1" lang="en-US" altLang="zh-CN" sz="2400" b="1" baseline="-25000" dirty="0" smtClean="0">
                <a:solidFill>
                  <a:srgbClr val="000066"/>
                </a:solidFill>
                <a:ea typeface="幼圆" pitchFamily="49" charset="-122"/>
                <a:cs typeface="Times New Roman" panose="02020603050405020304" pitchFamily="18" charset="0"/>
              </a:rPr>
              <a:t>op</a:t>
            </a:r>
            <a:r>
              <a:rPr kumimoji="1" lang="zh-CN" altLang="en-US" sz="2400" b="1" dirty="0">
                <a:solidFill>
                  <a:srgbClr val="000066"/>
                </a:solidFill>
                <a:ea typeface="幼圆" pitchFamily="49" charset="-122"/>
                <a:cs typeface="Times New Roman" panose="02020603050405020304" pitchFamily="18" charset="0"/>
              </a:rPr>
              <a:t>：</a:t>
            </a:r>
            <a:r>
              <a:rPr kumimoji="1" lang="zh-CN" altLang="en-US" sz="2400" b="1" dirty="0" smtClean="0">
                <a:solidFill>
                  <a:srgbClr val="000066"/>
                </a:solidFill>
                <a:ea typeface="幼圆" pitchFamily="49" charset="-122"/>
                <a:cs typeface="Times New Roman" panose="02020603050405020304" pitchFamily="18" charset="0"/>
              </a:rPr>
              <a:t>颗粒</a:t>
            </a:r>
            <a:r>
              <a:rPr kumimoji="1" lang="zh-CN" altLang="en-US" sz="2400" b="1" dirty="0">
                <a:solidFill>
                  <a:srgbClr val="000066"/>
                </a:solidFill>
                <a:ea typeface="幼圆" pitchFamily="49" charset="-122"/>
                <a:cs typeface="Times New Roman" panose="02020603050405020304" pitchFamily="18" charset="0"/>
              </a:rPr>
              <a:t>表面水膜很薄，相对移动困难  </a:t>
            </a:r>
          </a:p>
          <a:p>
            <a:pPr marL="342900" indent="-342900">
              <a:lnSpc>
                <a:spcPct val="120000"/>
              </a:lnSpc>
              <a:spcBef>
                <a:spcPts val="600"/>
              </a:spcBef>
              <a:spcAft>
                <a:spcPts val="600"/>
              </a:spcAft>
              <a:buClr>
                <a:srgbClr val="C00000"/>
              </a:buClr>
              <a:buSzPct val="130000"/>
              <a:buFont typeface="Wingdings" panose="05000000000000000000" pitchFamily="2" charset="2"/>
              <a:buChar char="F"/>
              <a:tabLst>
                <a:tab pos="1889125" algn="l"/>
              </a:tabLst>
            </a:pPr>
            <a:r>
              <a:rPr kumimoji="1" lang="zh-CN" altLang="en-US" sz="2400" b="1" dirty="0">
                <a:solidFill>
                  <a:srgbClr val="C00000"/>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含水量 </a:t>
            </a:r>
            <a:r>
              <a:rPr kumimoji="1" lang="en-US" altLang="zh-CN" sz="2400" b="1" dirty="0" smtClean="0">
                <a:solidFill>
                  <a:srgbClr val="000066"/>
                </a:solidFill>
                <a:ea typeface="幼圆" pitchFamily="49" charset="-122"/>
                <a:cs typeface="Times New Roman" panose="02020603050405020304" pitchFamily="18" charset="0"/>
              </a:rPr>
              <a:t>= </a:t>
            </a:r>
            <a:r>
              <a:rPr kumimoji="1" lang="en-US" altLang="zh-CN" sz="2400" b="1" i="1" dirty="0" smtClean="0">
                <a:solidFill>
                  <a:srgbClr val="000066"/>
                </a:solidFill>
                <a:ea typeface="幼圆" pitchFamily="49" charset="-122"/>
                <a:cs typeface="Times New Roman" panose="02020603050405020304" pitchFamily="18" charset="0"/>
              </a:rPr>
              <a:t>w</a:t>
            </a:r>
            <a:r>
              <a:rPr kumimoji="1" lang="en-US" altLang="zh-CN" sz="2400" b="1" baseline="-25000" dirty="0" smtClean="0">
                <a:solidFill>
                  <a:srgbClr val="000066"/>
                </a:solidFill>
                <a:ea typeface="幼圆" pitchFamily="49" charset="-122"/>
                <a:cs typeface="Times New Roman" panose="02020603050405020304" pitchFamily="18" charset="0"/>
              </a:rPr>
              <a:t>op</a:t>
            </a:r>
            <a:r>
              <a:rPr kumimoji="1" lang="zh-CN" altLang="en-US" sz="2400" b="1" dirty="0">
                <a:solidFill>
                  <a:srgbClr val="000066"/>
                </a:solidFill>
                <a:ea typeface="幼圆" pitchFamily="49" charset="-122"/>
                <a:cs typeface="Times New Roman" panose="02020603050405020304" pitchFamily="18" charset="0"/>
              </a:rPr>
              <a:t>：</a:t>
            </a:r>
            <a:r>
              <a:rPr kumimoji="1" lang="zh-CN" altLang="en-US" sz="2400" b="1" dirty="0" smtClean="0">
                <a:solidFill>
                  <a:srgbClr val="000066"/>
                </a:solidFill>
                <a:ea typeface="幼圆" pitchFamily="49" charset="-122"/>
                <a:cs typeface="Times New Roman" panose="02020603050405020304" pitchFamily="18" charset="0"/>
              </a:rPr>
              <a:t>水</a:t>
            </a:r>
            <a:r>
              <a:rPr kumimoji="1" lang="zh-CN" altLang="en-US" sz="2400" b="1" dirty="0">
                <a:solidFill>
                  <a:srgbClr val="000066"/>
                </a:solidFill>
                <a:ea typeface="幼圆" pitchFamily="49" charset="-122"/>
                <a:cs typeface="Times New Roman" panose="02020603050405020304" pitchFamily="18" charset="0"/>
              </a:rPr>
              <a:t>膜润滑作用</a:t>
            </a:r>
            <a:r>
              <a:rPr kumimoji="1" lang="zh-CN" altLang="en-US" sz="2400" b="1" dirty="0" smtClean="0">
                <a:solidFill>
                  <a:srgbClr val="000066"/>
                </a:solidFill>
                <a:ea typeface="幼圆" pitchFamily="49" charset="-122"/>
                <a:cs typeface="Times New Roman" panose="02020603050405020304" pitchFamily="18" charset="0"/>
              </a:rPr>
              <a:t>效果好，</a:t>
            </a:r>
            <a:r>
              <a:rPr kumimoji="1" lang="zh-CN" altLang="en-US" sz="2400" b="1" dirty="0">
                <a:solidFill>
                  <a:srgbClr val="000066"/>
                </a:solidFill>
                <a:ea typeface="幼圆" pitchFamily="49" charset="-122"/>
                <a:cs typeface="Times New Roman" panose="02020603050405020304" pitchFamily="18" charset="0"/>
              </a:rPr>
              <a:t>孔隙气</a:t>
            </a:r>
            <a:r>
              <a:rPr kumimoji="1" lang="zh-CN" altLang="en-US" sz="2400" b="1" dirty="0" smtClean="0">
                <a:solidFill>
                  <a:srgbClr val="000066"/>
                </a:solidFill>
                <a:ea typeface="幼圆" pitchFamily="49" charset="-122"/>
                <a:cs typeface="Times New Roman" panose="02020603050405020304" pitchFamily="18" charset="0"/>
              </a:rPr>
              <a:t>尚</a:t>
            </a:r>
            <a:r>
              <a:rPr kumimoji="1" lang="en-US" altLang="zh-CN" sz="2400" b="1" dirty="0" smtClean="0">
                <a:solidFill>
                  <a:srgbClr val="000066"/>
                </a:solidFill>
                <a:ea typeface="幼圆" pitchFamily="49" charset="-122"/>
                <a:cs typeface="Times New Roman" panose="02020603050405020304" pitchFamily="18" charset="0"/>
              </a:rPr>
              <a:t/>
            </a:r>
            <a:br>
              <a:rPr kumimoji="1" lang="en-US" altLang="zh-CN" sz="2400" b="1" dirty="0" smtClean="0">
                <a:solidFill>
                  <a:srgbClr val="000066"/>
                </a:solidFill>
                <a:ea typeface="幼圆" pitchFamily="49" charset="-122"/>
                <a:cs typeface="Times New Roman" panose="02020603050405020304" pitchFamily="18" charset="0"/>
              </a:rPr>
            </a:br>
            <a:r>
              <a:rPr kumimoji="1" lang="en-US" altLang="zh-CN" sz="2400" b="1" dirty="0" smtClean="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没有</a:t>
            </a:r>
            <a:r>
              <a:rPr kumimoji="1" lang="zh-CN" altLang="en-US" sz="2400" b="1" dirty="0">
                <a:solidFill>
                  <a:srgbClr val="000066"/>
                </a:solidFill>
                <a:ea typeface="幼圆" pitchFamily="49" charset="-122"/>
                <a:cs typeface="Times New Roman" panose="02020603050405020304" pitchFamily="18" charset="0"/>
              </a:rPr>
              <a:t>形成</a:t>
            </a:r>
            <a:r>
              <a:rPr kumimoji="1" lang="zh-CN" altLang="en-US" sz="2400" b="1" dirty="0" smtClean="0">
                <a:solidFill>
                  <a:srgbClr val="000066"/>
                </a:solidFill>
                <a:ea typeface="幼圆" pitchFamily="49" charset="-122"/>
                <a:cs typeface="Times New Roman" panose="02020603050405020304" pitchFamily="18" charset="0"/>
              </a:rPr>
              <a:t>封闭气泡</a:t>
            </a:r>
            <a:r>
              <a:rPr kumimoji="1" lang="zh-CN" altLang="en-US" sz="2400" b="1" dirty="0">
                <a:solidFill>
                  <a:srgbClr val="000066"/>
                </a:solidFill>
                <a:ea typeface="幼圆" pitchFamily="49" charset="-122"/>
                <a:cs typeface="Times New Roman" panose="02020603050405020304" pitchFamily="18" charset="0"/>
              </a:rPr>
              <a:t>，易排出</a:t>
            </a:r>
            <a:endParaRPr kumimoji="1" lang="zh-CN" altLang="en-US" sz="2400" b="1" baseline="-25000" dirty="0">
              <a:solidFill>
                <a:srgbClr val="000066"/>
              </a:solidFill>
              <a:ea typeface="幼圆" pitchFamily="49" charset="-122"/>
              <a:cs typeface="Times New Roman" panose="02020603050405020304" pitchFamily="18" charset="0"/>
            </a:endParaRPr>
          </a:p>
          <a:p>
            <a:pPr marL="342900" indent="-342900">
              <a:lnSpc>
                <a:spcPct val="120000"/>
              </a:lnSpc>
              <a:spcBef>
                <a:spcPts val="600"/>
              </a:spcBef>
              <a:spcAft>
                <a:spcPts val="600"/>
              </a:spcAft>
              <a:buClr>
                <a:srgbClr val="C00000"/>
              </a:buClr>
              <a:buSzPct val="130000"/>
              <a:buFont typeface="Wingdings" panose="05000000000000000000" pitchFamily="2" charset="2"/>
              <a:buChar char="F"/>
              <a:tabLst>
                <a:tab pos="1889125" algn="l"/>
              </a:tabLst>
            </a:pPr>
            <a:r>
              <a:rPr kumimoji="1" lang="zh-CN" altLang="en-US" sz="2400" b="1" dirty="0">
                <a:solidFill>
                  <a:srgbClr val="C00000"/>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含水量 </a:t>
            </a:r>
            <a:r>
              <a:rPr kumimoji="1" lang="en-US" altLang="zh-CN" sz="2400" b="1" dirty="0" smtClean="0">
                <a:solidFill>
                  <a:srgbClr val="000066"/>
                </a:solidFill>
                <a:ea typeface="幼圆" pitchFamily="49" charset="-122"/>
                <a:cs typeface="Times New Roman" panose="02020603050405020304" pitchFamily="18" charset="0"/>
              </a:rPr>
              <a:t>&gt; </a:t>
            </a:r>
            <a:r>
              <a:rPr kumimoji="1" lang="en-US" altLang="zh-CN" sz="2400" b="1" i="1" dirty="0" smtClean="0">
                <a:solidFill>
                  <a:srgbClr val="000066"/>
                </a:solidFill>
                <a:ea typeface="幼圆" pitchFamily="49" charset="-122"/>
                <a:cs typeface="Times New Roman" panose="02020603050405020304" pitchFamily="18" charset="0"/>
              </a:rPr>
              <a:t>w</a:t>
            </a:r>
            <a:r>
              <a:rPr kumimoji="1" lang="en-US" altLang="zh-CN" sz="2400" b="1" baseline="-25000" dirty="0" smtClean="0">
                <a:solidFill>
                  <a:srgbClr val="000066"/>
                </a:solidFill>
                <a:ea typeface="幼圆" pitchFamily="49" charset="-122"/>
                <a:cs typeface="Times New Roman" panose="02020603050405020304" pitchFamily="18" charset="0"/>
              </a:rPr>
              <a:t>op</a:t>
            </a:r>
            <a:r>
              <a:rPr kumimoji="1" lang="zh-CN" altLang="en-US" sz="2400" b="1" dirty="0">
                <a:solidFill>
                  <a:srgbClr val="000066"/>
                </a:solidFill>
                <a:ea typeface="幼圆" pitchFamily="49" charset="-122"/>
                <a:cs typeface="Times New Roman" panose="02020603050405020304" pitchFamily="18" charset="0"/>
              </a:rPr>
              <a:t>：</a:t>
            </a:r>
            <a:r>
              <a:rPr kumimoji="1" lang="zh-CN" altLang="en-US" sz="2400" b="1" dirty="0" smtClean="0">
                <a:solidFill>
                  <a:srgbClr val="000066"/>
                </a:solidFill>
                <a:ea typeface="幼圆" pitchFamily="49" charset="-122"/>
                <a:cs typeface="Times New Roman" panose="02020603050405020304" pitchFamily="18" charset="0"/>
              </a:rPr>
              <a:t>水</a:t>
            </a:r>
            <a:r>
              <a:rPr kumimoji="1" lang="zh-CN" altLang="en-US" sz="2400" b="1" dirty="0">
                <a:solidFill>
                  <a:srgbClr val="000066"/>
                </a:solidFill>
                <a:ea typeface="幼圆" pitchFamily="49" charset="-122"/>
                <a:cs typeface="Times New Roman" panose="02020603050405020304" pitchFamily="18" charset="0"/>
              </a:rPr>
              <a:t>膜润滑作用不再明显增加；</a:t>
            </a:r>
            <a:r>
              <a:rPr kumimoji="1" lang="zh-CN" altLang="en-US" sz="2400" b="1" dirty="0" smtClean="0">
                <a:solidFill>
                  <a:srgbClr val="000066"/>
                </a:solidFill>
                <a:ea typeface="幼圆" pitchFamily="49" charset="-122"/>
                <a:cs typeface="Times New Roman" panose="02020603050405020304" pitchFamily="18" charset="0"/>
              </a:rPr>
              <a:t>封闭</a:t>
            </a:r>
            <a:r>
              <a:rPr kumimoji="1" lang="en-US" altLang="zh-CN" sz="2400" b="1" dirty="0" smtClean="0">
                <a:solidFill>
                  <a:srgbClr val="000066"/>
                </a:solidFill>
                <a:ea typeface="幼圆" pitchFamily="49" charset="-122"/>
                <a:cs typeface="Times New Roman" panose="02020603050405020304" pitchFamily="18" charset="0"/>
              </a:rPr>
              <a:t/>
            </a:r>
            <a:br>
              <a:rPr kumimoji="1" lang="en-US" altLang="zh-CN" sz="2400" b="1" dirty="0" smtClean="0">
                <a:solidFill>
                  <a:srgbClr val="000066"/>
                </a:solidFill>
                <a:ea typeface="幼圆" pitchFamily="49" charset="-122"/>
                <a:cs typeface="Times New Roman" panose="02020603050405020304" pitchFamily="18" charset="0"/>
              </a:rPr>
            </a:br>
            <a:r>
              <a:rPr kumimoji="1" lang="en-US" altLang="zh-CN" sz="2400" b="1" dirty="0" smtClean="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气泡</a:t>
            </a:r>
            <a:r>
              <a:rPr kumimoji="1" lang="zh-CN" altLang="en-US" sz="2400" b="1" dirty="0">
                <a:solidFill>
                  <a:srgbClr val="000066"/>
                </a:solidFill>
                <a:ea typeface="幼圆" pitchFamily="49" charset="-122"/>
                <a:cs typeface="Times New Roman" panose="02020603050405020304" pitchFamily="18" charset="0"/>
              </a:rPr>
              <a:t>难以</a:t>
            </a:r>
            <a:r>
              <a:rPr kumimoji="1" lang="zh-CN" altLang="en-US" sz="2400" b="1" dirty="0" smtClean="0">
                <a:solidFill>
                  <a:srgbClr val="000066"/>
                </a:solidFill>
                <a:ea typeface="幼圆" pitchFamily="49" charset="-122"/>
                <a:cs typeface="Times New Roman" panose="02020603050405020304" pitchFamily="18" charset="0"/>
              </a:rPr>
              <a:t>排出；水</a:t>
            </a:r>
            <a:r>
              <a:rPr kumimoji="1" lang="zh-CN" altLang="en-US" sz="2400" b="1" dirty="0">
                <a:solidFill>
                  <a:srgbClr val="000066"/>
                </a:solidFill>
                <a:ea typeface="幼圆" pitchFamily="49" charset="-122"/>
                <a:cs typeface="Times New Roman" panose="02020603050405020304" pitchFamily="18" charset="0"/>
              </a:rPr>
              <a:t>的相对含量增加</a:t>
            </a:r>
          </a:p>
        </p:txBody>
      </p:sp>
      <p:sp>
        <p:nvSpPr>
          <p:cNvPr id="1430618" name="Rectangle 90"/>
          <p:cNvSpPr>
            <a:spLocks noChangeArrowheads="1"/>
          </p:cNvSpPr>
          <p:nvPr/>
        </p:nvSpPr>
        <p:spPr bwMode="auto">
          <a:xfrm>
            <a:off x="576587" y="812755"/>
            <a:ext cx="3838095"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10000"/>
              </a:lnSpc>
              <a:spcBef>
                <a:spcPct val="0"/>
              </a:spcBef>
              <a:spcAft>
                <a:spcPct val="0"/>
              </a:spcAft>
              <a:buFont typeface="Wingdings" pitchFamily="2" charset="2"/>
              <a:buChar char="n"/>
            </a:pPr>
            <a:r>
              <a:rPr kumimoji="1" lang="zh-CN" altLang="en-US" sz="2800" b="1" dirty="0">
                <a:solidFill>
                  <a:srgbClr val="A50021"/>
                </a:solidFill>
                <a:latin typeface="幼圆" pitchFamily="49" charset="-122"/>
                <a:ea typeface="幼圆" pitchFamily="49" charset="-122"/>
              </a:rPr>
              <a:t> 压实与</a:t>
            </a:r>
            <a:r>
              <a:rPr kumimoji="1" lang="zh-CN" altLang="en-US" sz="2800" b="1" dirty="0" smtClean="0">
                <a:solidFill>
                  <a:srgbClr val="A50021"/>
                </a:solidFill>
                <a:latin typeface="幼圆" pitchFamily="49" charset="-122"/>
                <a:ea typeface="幼圆" pitchFamily="49" charset="-122"/>
              </a:rPr>
              <a:t>含水量关系</a:t>
            </a:r>
            <a:endParaRPr kumimoji="1" lang="en-US" altLang="zh-CN" sz="2400" b="1" dirty="0">
              <a:solidFill>
                <a:srgbClr val="A50021"/>
              </a:solidFill>
              <a:latin typeface="幼圆" pitchFamily="49" charset="-122"/>
              <a:ea typeface="幼圆" pitchFamily="49" charset="-122"/>
            </a:endParaRPr>
          </a:p>
        </p:txBody>
      </p:sp>
      <p:sp>
        <p:nvSpPr>
          <p:cNvPr id="96"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细粒土</a:t>
            </a:r>
            <a:r>
              <a:rPr lang="zh-CN" altLang="en-US" sz="2000" b="1" kern="900" spc="-140" dirty="0">
                <a:solidFill>
                  <a:srgbClr val="C00000"/>
                </a:solidFill>
                <a:latin typeface="宋体" pitchFamily="2" charset="-122"/>
              </a:rPr>
              <a:t>的压实性</a:t>
            </a:r>
          </a:p>
        </p:txBody>
      </p:sp>
      <p:sp>
        <p:nvSpPr>
          <p:cNvPr id="8" name="Text Box 90"/>
          <p:cNvSpPr txBox="1">
            <a:spLocks noChangeArrowheads="1"/>
          </p:cNvSpPr>
          <p:nvPr/>
        </p:nvSpPr>
        <p:spPr bwMode="auto">
          <a:xfrm>
            <a:off x="2676703" y="5709973"/>
            <a:ext cx="378661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细粒土的压实</a:t>
            </a:r>
            <a:r>
              <a:rPr kumimoji="1" lang="zh-CN" altLang="en-US" sz="4000" b="1" dirty="0" smtClean="0">
                <a:solidFill>
                  <a:srgbClr val="000066"/>
                </a:solidFill>
                <a:latin typeface="黑体" pitchFamily="2" charset="-122"/>
                <a:ea typeface="黑体" pitchFamily="2" charset="-122"/>
              </a:rPr>
              <a:t>性</a:t>
            </a:r>
            <a:endParaRPr kumimoji="1" lang="en-US" altLang="zh-CN" sz="4000"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7894459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0618">
                                            <p:txEl>
                                              <p:pRg st="0" end="0"/>
                                            </p:txEl>
                                          </p:spTgt>
                                        </p:tgtEl>
                                        <p:attrNameLst>
                                          <p:attrName>style.visibility</p:attrName>
                                        </p:attrNameLst>
                                      </p:cBhvr>
                                      <p:to>
                                        <p:strVal val="visible"/>
                                      </p:to>
                                    </p:set>
                                    <p:anim calcmode="lin" valueType="num">
                                      <p:cBhvr additive="base">
                                        <p:cTn id="7" dur="1000" fill="hold"/>
                                        <p:tgtEl>
                                          <p:spTgt spid="1430618">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430618">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2" presetClass="entr" presetSubtype="2" fill="hold" grpId="0" nodeType="afterEffect">
                                  <p:stCondLst>
                                    <p:cond delay="0"/>
                                  </p:stCondLst>
                                  <p:childTnLst>
                                    <p:set>
                                      <p:cBhvr>
                                        <p:cTn id="11" dur="1" fill="hold">
                                          <p:stCondLst>
                                            <p:cond delay="0"/>
                                          </p:stCondLst>
                                        </p:cTn>
                                        <p:tgtEl>
                                          <p:spTgt spid="1430531">
                                            <p:txEl>
                                              <p:pRg st="0" end="0"/>
                                            </p:txEl>
                                          </p:spTgt>
                                        </p:tgtEl>
                                        <p:attrNameLst>
                                          <p:attrName>style.visibility</p:attrName>
                                        </p:attrNameLst>
                                      </p:cBhvr>
                                      <p:to>
                                        <p:strVal val="visible"/>
                                      </p:to>
                                    </p:set>
                                    <p:anim calcmode="lin" valueType="num">
                                      <p:cBhvr additive="base">
                                        <p:cTn id="12" dur="1000" fill="hold"/>
                                        <p:tgtEl>
                                          <p:spTgt spid="1430531">
                                            <p:txEl>
                                              <p:pRg st="0" end="0"/>
                                            </p:txEl>
                                          </p:spTgt>
                                        </p:tgtEl>
                                        <p:attrNameLst>
                                          <p:attrName>ppt_x</p:attrName>
                                        </p:attrNameLst>
                                      </p:cBhvr>
                                      <p:tavLst>
                                        <p:tav tm="0">
                                          <p:val>
                                            <p:strVal val="1+#ppt_w/2"/>
                                          </p:val>
                                        </p:tav>
                                        <p:tav tm="100000">
                                          <p:val>
                                            <p:strVal val="#ppt_x"/>
                                          </p:val>
                                        </p:tav>
                                      </p:tavLst>
                                    </p:anim>
                                    <p:anim calcmode="lin" valueType="num">
                                      <p:cBhvr additive="base">
                                        <p:cTn id="13" dur="1000" fill="hold"/>
                                        <p:tgtEl>
                                          <p:spTgt spid="14305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nodeType="after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430531">
                                            <p:txEl>
                                              <p:pRg st="1" end="1"/>
                                            </p:txEl>
                                          </p:spTgt>
                                        </p:tgtEl>
                                        <p:attrNameLst>
                                          <p:attrName>style.visibility</p:attrName>
                                        </p:attrNameLst>
                                      </p:cBhvr>
                                      <p:to>
                                        <p:strVal val="visible"/>
                                      </p:to>
                                    </p:set>
                                    <p:anim calcmode="lin" valueType="num">
                                      <p:cBhvr additive="base">
                                        <p:cTn id="18" dur="1000" fill="hold"/>
                                        <p:tgtEl>
                                          <p:spTgt spid="1430531">
                                            <p:txEl>
                                              <p:pRg st="1" end="1"/>
                                            </p:txEl>
                                          </p:spTgt>
                                        </p:tgtEl>
                                        <p:attrNameLst>
                                          <p:attrName>ppt_x</p:attrName>
                                        </p:attrNameLst>
                                      </p:cBhvr>
                                      <p:tavLst>
                                        <p:tav tm="0">
                                          <p:val>
                                            <p:strVal val="1+#ppt_w/2"/>
                                          </p:val>
                                        </p:tav>
                                        <p:tav tm="100000">
                                          <p:val>
                                            <p:strVal val="#ppt_x"/>
                                          </p:val>
                                        </p:tav>
                                      </p:tavLst>
                                    </p:anim>
                                    <p:anim calcmode="lin" valueType="num">
                                      <p:cBhvr additive="base">
                                        <p:cTn id="19" dur="1000" fill="hold"/>
                                        <p:tgtEl>
                                          <p:spTgt spid="14305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nodeType="afterGroup">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430531">
                                            <p:txEl>
                                              <p:pRg st="2" end="2"/>
                                            </p:txEl>
                                          </p:spTgt>
                                        </p:tgtEl>
                                        <p:attrNameLst>
                                          <p:attrName>style.visibility</p:attrName>
                                        </p:attrNameLst>
                                      </p:cBhvr>
                                      <p:to>
                                        <p:strVal val="visible"/>
                                      </p:to>
                                    </p:set>
                                    <p:anim calcmode="lin" valueType="num">
                                      <p:cBhvr additive="base">
                                        <p:cTn id="24" dur="1000" fill="hold"/>
                                        <p:tgtEl>
                                          <p:spTgt spid="1430531">
                                            <p:txEl>
                                              <p:pRg st="2" end="2"/>
                                            </p:txEl>
                                          </p:spTgt>
                                        </p:tgtEl>
                                        <p:attrNameLst>
                                          <p:attrName>ppt_x</p:attrName>
                                        </p:attrNameLst>
                                      </p:cBhvr>
                                      <p:tavLst>
                                        <p:tav tm="0">
                                          <p:val>
                                            <p:strVal val="1+#ppt_w/2"/>
                                          </p:val>
                                        </p:tav>
                                        <p:tav tm="100000">
                                          <p:val>
                                            <p:strVal val="#ppt_x"/>
                                          </p:val>
                                        </p:tav>
                                      </p:tavLst>
                                    </p:anim>
                                    <p:anim calcmode="lin" valueType="num">
                                      <p:cBhvr additive="base">
                                        <p:cTn id="25" dur="1000" fill="hold"/>
                                        <p:tgtEl>
                                          <p:spTgt spid="143053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0531" grpId="0" build="p" autoUpdateAnimBg="0" advAuto="2000"/>
      <p:bldP spid="1430618"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6744" name="Text Box 72"/>
          <p:cNvSpPr txBox="1">
            <a:spLocks noChangeArrowheads="1"/>
          </p:cNvSpPr>
          <p:nvPr/>
        </p:nvSpPr>
        <p:spPr bwMode="auto">
          <a:xfrm>
            <a:off x="311068" y="1240494"/>
            <a:ext cx="3962400" cy="406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eaLnBrk="0" hangingPunct="0">
              <a:tabLst>
                <a:tab pos="92075" algn="l"/>
              </a:tabLst>
              <a:defRPr sz="1400">
                <a:solidFill>
                  <a:schemeClr val="tx1"/>
                </a:solidFill>
                <a:latin typeface="Times New Roman" pitchFamily="18" charset="0"/>
                <a:ea typeface="宋体" charset="-122"/>
              </a:defRPr>
            </a:lvl1pPr>
            <a:lvl2pPr marL="742950" indent="-285750" eaLnBrk="0" hangingPunct="0">
              <a:tabLst>
                <a:tab pos="92075" algn="l"/>
              </a:tabLst>
              <a:defRPr sz="1400">
                <a:solidFill>
                  <a:schemeClr val="tx1"/>
                </a:solidFill>
                <a:latin typeface="Times New Roman" pitchFamily="18" charset="0"/>
                <a:ea typeface="宋体" charset="-122"/>
              </a:defRPr>
            </a:lvl2pPr>
            <a:lvl3pPr marL="1143000" indent="-228600" eaLnBrk="0" hangingPunct="0">
              <a:tabLst>
                <a:tab pos="92075" algn="l"/>
              </a:tabLst>
              <a:defRPr sz="1400">
                <a:solidFill>
                  <a:schemeClr val="tx1"/>
                </a:solidFill>
                <a:latin typeface="Times New Roman" pitchFamily="18" charset="0"/>
                <a:ea typeface="宋体" charset="-122"/>
              </a:defRPr>
            </a:lvl3pPr>
            <a:lvl4pPr marL="1600200" indent="-228600" eaLnBrk="0" hangingPunct="0">
              <a:tabLst>
                <a:tab pos="92075" algn="l"/>
              </a:tabLst>
              <a:defRPr sz="1400">
                <a:solidFill>
                  <a:schemeClr val="tx1"/>
                </a:solidFill>
                <a:latin typeface="Times New Roman" pitchFamily="18" charset="0"/>
                <a:ea typeface="宋体" charset="-122"/>
              </a:defRPr>
            </a:lvl4pPr>
            <a:lvl5pPr marL="2057400" indent="-228600" eaLnBrk="0" hangingPunct="0">
              <a:tabLst>
                <a:tab pos="92075" algn="l"/>
              </a:tabLst>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tabLst>
                <a:tab pos="92075" algn="l"/>
              </a:tabLs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tabLst>
                <a:tab pos="92075" algn="l"/>
              </a:tabLs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tabLst>
                <a:tab pos="92075" algn="l"/>
              </a:tabLs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tabLst>
                <a:tab pos="92075" algn="l"/>
              </a:tabLst>
              <a:defRPr sz="1400">
                <a:solidFill>
                  <a:schemeClr val="tx1"/>
                </a:solidFill>
                <a:latin typeface="Times New Roman" pitchFamily="18" charset="0"/>
                <a:ea typeface="宋体" charset="-122"/>
              </a:defRPr>
            </a:lvl9pPr>
          </a:lstStyle>
          <a:p>
            <a:pPr eaLnBrk="1" hangingPunct="1">
              <a:lnSpc>
                <a:spcPct val="105000"/>
              </a:lnSpc>
              <a:spcBef>
                <a:spcPct val="10000"/>
              </a:spcBef>
              <a:spcAft>
                <a:spcPct val="25000"/>
              </a:spcAft>
              <a:buClr>
                <a:srgbClr val="A50021"/>
              </a:buClr>
              <a:buSzPct val="135000"/>
              <a:buFont typeface="Wingdings" pitchFamily="2" charset="2"/>
              <a:buChar char="F"/>
            </a:pPr>
            <a:r>
              <a:rPr lang="zh-CN" altLang="en-US" sz="2400" b="1" dirty="0">
                <a:solidFill>
                  <a:srgbClr val="000066"/>
                </a:solidFill>
                <a:latin typeface="幼圆" pitchFamily="49" charset="-122"/>
                <a:ea typeface="幼圆" pitchFamily="49" charset="-122"/>
              </a:rPr>
              <a:t>对于同一种土</a:t>
            </a:r>
            <a:r>
              <a:rPr lang="en-US" altLang="zh-CN" sz="2400" b="1" dirty="0">
                <a:solidFill>
                  <a:srgbClr val="000066"/>
                </a:solidFill>
                <a:latin typeface="幼圆" pitchFamily="49" charset="-122"/>
                <a:ea typeface="幼圆" pitchFamily="49" charset="-122"/>
              </a:rPr>
              <a:t>,</a:t>
            </a:r>
            <a:r>
              <a:rPr lang="zh-CN" altLang="en-US" sz="2400" b="1" dirty="0">
                <a:solidFill>
                  <a:srgbClr val="000066"/>
                </a:solidFill>
                <a:latin typeface="幼圆" pitchFamily="49" charset="-122"/>
                <a:ea typeface="幼圆" pitchFamily="49" charset="-122"/>
              </a:rPr>
              <a:t>最优含水量和最大干密度并不恒定</a:t>
            </a:r>
            <a:r>
              <a:rPr lang="en-US" altLang="zh-CN" sz="2400" b="1" dirty="0">
                <a:solidFill>
                  <a:srgbClr val="000066"/>
                </a:solidFill>
                <a:latin typeface="幼圆" pitchFamily="49" charset="-122"/>
                <a:ea typeface="幼圆" pitchFamily="49" charset="-122"/>
              </a:rPr>
              <a:t>,</a:t>
            </a:r>
            <a:r>
              <a:rPr lang="zh-CN" altLang="en-US" sz="2400" b="1" dirty="0">
                <a:solidFill>
                  <a:srgbClr val="000066"/>
                </a:solidFill>
                <a:latin typeface="幼圆" pitchFamily="49" charset="-122"/>
                <a:ea typeface="幼圆" pitchFamily="49" charset="-122"/>
              </a:rPr>
              <a:t>而随压密功能变化，压实功能愈大</a:t>
            </a:r>
            <a:r>
              <a:rPr lang="en-US" altLang="zh-CN" sz="2400" b="1" dirty="0">
                <a:solidFill>
                  <a:srgbClr val="000066"/>
                </a:solidFill>
                <a:latin typeface="幼圆" pitchFamily="49" charset="-122"/>
                <a:ea typeface="幼圆" pitchFamily="49" charset="-122"/>
              </a:rPr>
              <a:t>,</a:t>
            </a:r>
            <a:r>
              <a:rPr lang="zh-CN" altLang="en-US" sz="2400" b="1" dirty="0">
                <a:solidFill>
                  <a:srgbClr val="000066"/>
                </a:solidFill>
                <a:latin typeface="幼圆" pitchFamily="49" charset="-122"/>
                <a:ea typeface="幼圆" pitchFamily="49" charset="-122"/>
              </a:rPr>
              <a:t>最优含水量愈小，相应的最大干密度愈高</a:t>
            </a:r>
          </a:p>
          <a:p>
            <a:pPr eaLnBrk="1" hangingPunct="1">
              <a:lnSpc>
                <a:spcPct val="105000"/>
              </a:lnSpc>
              <a:spcBef>
                <a:spcPct val="10000"/>
              </a:spcBef>
              <a:spcAft>
                <a:spcPct val="25000"/>
              </a:spcAft>
              <a:buClr>
                <a:srgbClr val="A50021"/>
              </a:buClr>
              <a:buSzPct val="135000"/>
              <a:buFont typeface="Wingdings" pitchFamily="2" charset="2"/>
              <a:buChar char="F"/>
            </a:pPr>
            <a:r>
              <a:rPr lang="zh-CN" altLang="en-US" sz="2400" b="1" dirty="0">
                <a:solidFill>
                  <a:srgbClr val="000066"/>
                </a:solidFill>
                <a:latin typeface="幼圆" pitchFamily="49" charset="-122"/>
                <a:ea typeface="幼圆" pitchFamily="49" charset="-122"/>
              </a:rPr>
              <a:t>超过最优含水量后，压实功能的影响随含水量的增加逐渐减小。击实曲线均靠近于饱和曲线</a:t>
            </a:r>
          </a:p>
        </p:txBody>
      </p:sp>
      <p:grpSp>
        <p:nvGrpSpPr>
          <p:cNvPr id="2" name="Group 73"/>
          <p:cNvGrpSpPr>
            <a:grpSpLocks/>
          </p:cNvGrpSpPr>
          <p:nvPr/>
        </p:nvGrpSpPr>
        <p:grpSpPr bwMode="auto">
          <a:xfrm>
            <a:off x="4329588" y="1124510"/>
            <a:ext cx="4644083" cy="3976688"/>
            <a:chOff x="2614" y="615"/>
            <a:chExt cx="2961" cy="2505"/>
          </a:xfrm>
        </p:grpSpPr>
        <p:sp>
          <p:nvSpPr>
            <p:cNvPr id="91143" name="Rectangle 75"/>
            <p:cNvSpPr>
              <a:spLocks noChangeArrowheads="1"/>
            </p:cNvSpPr>
            <p:nvPr/>
          </p:nvSpPr>
          <p:spPr bwMode="auto">
            <a:xfrm>
              <a:off x="5182" y="2363"/>
              <a:ext cx="339" cy="315"/>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44" name="Rectangle 76"/>
            <p:cNvSpPr>
              <a:spLocks noChangeArrowheads="1"/>
            </p:cNvSpPr>
            <p:nvPr/>
          </p:nvSpPr>
          <p:spPr bwMode="auto">
            <a:xfrm>
              <a:off x="4844" y="2363"/>
              <a:ext cx="338" cy="315"/>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45" name="Rectangle 77"/>
            <p:cNvSpPr>
              <a:spLocks noChangeArrowheads="1"/>
            </p:cNvSpPr>
            <p:nvPr/>
          </p:nvSpPr>
          <p:spPr bwMode="auto">
            <a:xfrm>
              <a:off x="4504" y="2363"/>
              <a:ext cx="340" cy="315"/>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46" name="Rectangle 78"/>
            <p:cNvSpPr>
              <a:spLocks noChangeArrowheads="1"/>
            </p:cNvSpPr>
            <p:nvPr/>
          </p:nvSpPr>
          <p:spPr bwMode="auto">
            <a:xfrm>
              <a:off x="4167" y="2363"/>
              <a:ext cx="337" cy="315"/>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47" name="Rectangle 79"/>
            <p:cNvSpPr>
              <a:spLocks noChangeArrowheads="1"/>
            </p:cNvSpPr>
            <p:nvPr/>
          </p:nvSpPr>
          <p:spPr bwMode="auto">
            <a:xfrm>
              <a:off x="3827" y="2363"/>
              <a:ext cx="340" cy="315"/>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48" name="Rectangle 80"/>
            <p:cNvSpPr>
              <a:spLocks noChangeArrowheads="1"/>
            </p:cNvSpPr>
            <p:nvPr/>
          </p:nvSpPr>
          <p:spPr bwMode="auto">
            <a:xfrm>
              <a:off x="3488" y="2363"/>
              <a:ext cx="339" cy="315"/>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49" name="Rectangle 81"/>
            <p:cNvSpPr>
              <a:spLocks noChangeArrowheads="1"/>
            </p:cNvSpPr>
            <p:nvPr/>
          </p:nvSpPr>
          <p:spPr bwMode="auto">
            <a:xfrm>
              <a:off x="3149" y="2363"/>
              <a:ext cx="339" cy="315"/>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50" name="Rectangle 82"/>
            <p:cNvSpPr>
              <a:spLocks noChangeArrowheads="1"/>
            </p:cNvSpPr>
            <p:nvPr/>
          </p:nvSpPr>
          <p:spPr bwMode="auto">
            <a:xfrm>
              <a:off x="5182" y="2072"/>
              <a:ext cx="339"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51" name="Rectangle 83"/>
            <p:cNvSpPr>
              <a:spLocks noChangeArrowheads="1"/>
            </p:cNvSpPr>
            <p:nvPr/>
          </p:nvSpPr>
          <p:spPr bwMode="auto">
            <a:xfrm>
              <a:off x="4844" y="2072"/>
              <a:ext cx="33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52" name="Rectangle 84"/>
            <p:cNvSpPr>
              <a:spLocks noChangeArrowheads="1"/>
            </p:cNvSpPr>
            <p:nvPr/>
          </p:nvSpPr>
          <p:spPr bwMode="auto">
            <a:xfrm>
              <a:off x="4504" y="2072"/>
              <a:ext cx="340"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53" name="Rectangle 85"/>
            <p:cNvSpPr>
              <a:spLocks noChangeArrowheads="1"/>
            </p:cNvSpPr>
            <p:nvPr/>
          </p:nvSpPr>
          <p:spPr bwMode="auto">
            <a:xfrm>
              <a:off x="4167" y="2072"/>
              <a:ext cx="337"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54" name="Rectangle 86"/>
            <p:cNvSpPr>
              <a:spLocks noChangeArrowheads="1"/>
            </p:cNvSpPr>
            <p:nvPr/>
          </p:nvSpPr>
          <p:spPr bwMode="auto">
            <a:xfrm>
              <a:off x="3827" y="2072"/>
              <a:ext cx="340"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55" name="Rectangle 87"/>
            <p:cNvSpPr>
              <a:spLocks noChangeArrowheads="1"/>
            </p:cNvSpPr>
            <p:nvPr/>
          </p:nvSpPr>
          <p:spPr bwMode="auto">
            <a:xfrm>
              <a:off x="3488" y="2072"/>
              <a:ext cx="339"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56" name="Rectangle 88"/>
            <p:cNvSpPr>
              <a:spLocks noChangeArrowheads="1"/>
            </p:cNvSpPr>
            <p:nvPr/>
          </p:nvSpPr>
          <p:spPr bwMode="auto">
            <a:xfrm>
              <a:off x="3149" y="2072"/>
              <a:ext cx="339"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57" name="Rectangle 89"/>
            <p:cNvSpPr>
              <a:spLocks noChangeArrowheads="1"/>
            </p:cNvSpPr>
            <p:nvPr/>
          </p:nvSpPr>
          <p:spPr bwMode="auto">
            <a:xfrm>
              <a:off x="3149" y="1781"/>
              <a:ext cx="339"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58" name="Rectangle 90"/>
            <p:cNvSpPr>
              <a:spLocks noChangeArrowheads="1"/>
            </p:cNvSpPr>
            <p:nvPr/>
          </p:nvSpPr>
          <p:spPr bwMode="auto">
            <a:xfrm>
              <a:off x="3149" y="1489"/>
              <a:ext cx="339" cy="292"/>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59" name="Rectangle 91"/>
            <p:cNvSpPr>
              <a:spLocks noChangeArrowheads="1"/>
            </p:cNvSpPr>
            <p:nvPr/>
          </p:nvSpPr>
          <p:spPr bwMode="auto">
            <a:xfrm>
              <a:off x="5182" y="1198"/>
              <a:ext cx="339"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60" name="Rectangle 92"/>
            <p:cNvSpPr>
              <a:spLocks noChangeArrowheads="1"/>
            </p:cNvSpPr>
            <p:nvPr/>
          </p:nvSpPr>
          <p:spPr bwMode="auto">
            <a:xfrm>
              <a:off x="4844" y="1198"/>
              <a:ext cx="33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61" name="Rectangle 93"/>
            <p:cNvSpPr>
              <a:spLocks noChangeArrowheads="1"/>
            </p:cNvSpPr>
            <p:nvPr/>
          </p:nvSpPr>
          <p:spPr bwMode="auto">
            <a:xfrm>
              <a:off x="4504" y="1198"/>
              <a:ext cx="340"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62" name="Rectangle 94"/>
            <p:cNvSpPr>
              <a:spLocks noChangeArrowheads="1"/>
            </p:cNvSpPr>
            <p:nvPr/>
          </p:nvSpPr>
          <p:spPr bwMode="auto">
            <a:xfrm>
              <a:off x="4167" y="1198"/>
              <a:ext cx="337"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63" name="Rectangle 95"/>
            <p:cNvSpPr>
              <a:spLocks noChangeArrowheads="1"/>
            </p:cNvSpPr>
            <p:nvPr/>
          </p:nvSpPr>
          <p:spPr bwMode="auto">
            <a:xfrm>
              <a:off x="3488" y="1198"/>
              <a:ext cx="339"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64" name="Rectangle 96"/>
            <p:cNvSpPr>
              <a:spLocks noChangeArrowheads="1"/>
            </p:cNvSpPr>
            <p:nvPr/>
          </p:nvSpPr>
          <p:spPr bwMode="auto">
            <a:xfrm>
              <a:off x="3149" y="1198"/>
              <a:ext cx="339"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65" name="Rectangle 97"/>
            <p:cNvSpPr>
              <a:spLocks noChangeArrowheads="1"/>
            </p:cNvSpPr>
            <p:nvPr/>
          </p:nvSpPr>
          <p:spPr bwMode="auto">
            <a:xfrm>
              <a:off x="5182" y="907"/>
              <a:ext cx="339"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66" name="Rectangle 98"/>
            <p:cNvSpPr>
              <a:spLocks noChangeArrowheads="1"/>
            </p:cNvSpPr>
            <p:nvPr/>
          </p:nvSpPr>
          <p:spPr bwMode="auto">
            <a:xfrm>
              <a:off x="4844" y="907"/>
              <a:ext cx="338"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67" name="Rectangle 99"/>
            <p:cNvSpPr>
              <a:spLocks noChangeArrowheads="1"/>
            </p:cNvSpPr>
            <p:nvPr/>
          </p:nvSpPr>
          <p:spPr bwMode="auto">
            <a:xfrm>
              <a:off x="4504" y="907"/>
              <a:ext cx="340"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68" name="Rectangle 100"/>
            <p:cNvSpPr>
              <a:spLocks noChangeArrowheads="1"/>
            </p:cNvSpPr>
            <p:nvPr/>
          </p:nvSpPr>
          <p:spPr bwMode="auto">
            <a:xfrm>
              <a:off x="4167" y="907"/>
              <a:ext cx="337"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69" name="Rectangle 101"/>
            <p:cNvSpPr>
              <a:spLocks noChangeArrowheads="1"/>
            </p:cNvSpPr>
            <p:nvPr/>
          </p:nvSpPr>
          <p:spPr bwMode="auto">
            <a:xfrm>
              <a:off x="3827" y="907"/>
              <a:ext cx="340"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70" name="Rectangle 102"/>
            <p:cNvSpPr>
              <a:spLocks noChangeArrowheads="1"/>
            </p:cNvSpPr>
            <p:nvPr/>
          </p:nvSpPr>
          <p:spPr bwMode="auto">
            <a:xfrm>
              <a:off x="3488" y="907"/>
              <a:ext cx="339"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71" name="Rectangle 103"/>
            <p:cNvSpPr>
              <a:spLocks noChangeArrowheads="1"/>
            </p:cNvSpPr>
            <p:nvPr/>
          </p:nvSpPr>
          <p:spPr bwMode="auto">
            <a:xfrm>
              <a:off x="3149" y="907"/>
              <a:ext cx="339" cy="291"/>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72" name="Rectangle 104"/>
            <p:cNvSpPr>
              <a:spLocks noChangeArrowheads="1"/>
            </p:cNvSpPr>
            <p:nvPr/>
          </p:nvSpPr>
          <p:spPr bwMode="auto">
            <a:xfrm>
              <a:off x="5182" y="615"/>
              <a:ext cx="339" cy="292"/>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73" name="Rectangle 105"/>
            <p:cNvSpPr>
              <a:spLocks noChangeArrowheads="1"/>
            </p:cNvSpPr>
            <p:nvPr/>
          </p:nvSpPr>
          <p:spPr bwMode="auto">
            <a:xfrm>
              <a:off x="4844" y="615"/>
              <a:ext cx="338" cy="292"/>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74" name="Rectangle 106"/>
            <p:cNvSpPr>
              <a:spLocks noChangeArrowheads="1"/>
            </p:cNvSpPr>
            <p:nvPr/>
          </p:nvSpPr>
          <p:spPr bwMode="auto">
            <a:xfrm>
              <a:off x="4504" y="615"/>
              <a:ext cx="340" cy="292"/>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75" name="Rectangle 107"/>
            <p:cNvSpPr>
              <a:spLocks noChangeArrowheads="1"/>
            </p:cNvSpPr>
            <p:nvPr/>
          </p:nvSpPr>
          <p:spPr bwMode="auto">
            <a:xfrm>
              <a:off x="4167" y="615"/>
              <a:ext cx="337" cy="292"/>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76" name="Rectangle 108"/>
            <p:cNvSpPr>
              <a:spLocks noChangeArrowheads="1"/>
            </p:cNvSpPr>
            <p:nvPr/>
          </p:nvSpPr>
          <p:spPr bwMode="auto">
            <a:xfrm>
              <a:off x="3827" y="615"/>
              <a:ext cx="340" cy="292"/>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77" name="Rectangle 109"/>
            <p:cNvSpPr>
              <a:spLocks noChangeArrowheads="1"/>
            </p:cNvSpPr>
            <p:nvPr/>
          </p:nvSpPr>
          <p:spPr bwMode="auto">
            <a:xfrm>
              <a:off x="3488" y="615"/>
              <a:ext cx="339" cy="292"/>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78" name="Rectangle 110"/>
            <p:cNvSpPr>
              <a:spLocks noChangeArrowheads="1"/>
            </p:cNvSpPr>
            <p:nvPr/>
          </p:nvSpPr>
          <p:spPr bwMode="auto">
            <a:xfrm>
              <a:off x="3149" y="615"/>
              <a:ext cx="339" cy="292"/>
            </a:xfrm>
            <a:prstGeom prst="rect">
              <a:avLst/>
            </a:prstGeom>
            <a:noFill/>
            <a:ln w="9525" algn="ctr">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nSpc>
                  <a:spcPct val="100000"/>
                </a:lnSpc>
                <a:spcBef>
                  <a:spcPct val="20000"/>
                </a:spcBef>
                <a:spcAft>
                  <a:spcPct val="0"/>
                </a:spcAft>
                <a:buClr>
                  <a:schemeClr val="tx2"/>
                </a:buClr>
                <a:buSzPct val="70000"/>
                <a:buFont typeface="Wingdings" pitchFamily="2" charset="2"/>
                <a:buNone/>
              </a:pPr>
              <a:endParaRPr lang="zh-CN" altLang="en-US" sz="2500">
                <a:latin typeface="Verdana" pitchFamily="34" charset="0"/>
              </a:endParaRPr>
            </a:p>
          </p:txBody>
        </p:sp>
        <p:sp>
          <p:nvSpPr>
            <p:cNvPr id="91179" name="Line 111"/>
            <p:cNvSpPr>
              <a:spLocks noChangeShapeType="1"/>
            </p:cNvSpPr>
            <p:nvPr/>
          </p:nvSpPr>
          <p:spPr bwMode="auto">
            <a:xfrm>
              <a:off x="3149" y="615"/>
              <a:ext cx="2372" cy="0"/>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80" name="Line 112"/>
            <p:cNvSpPr>
              <a:spLocks noChangeShapeType="1"/>
            </p:cNvSpPr>
            <p:nvPr/>
          </p:nvSpPr>
          <p:spPr bwMode="auto">
            <a:xfrm>
              <a:off x="3149" y="907"/>
              <a:ext cx="237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81" name="Line 113"/>
            <p:cNvSpPr>
              <a:spLocks noChangeShapeType="1"/>
            </p:cNvSpPr>
            <p:nvPr/>
          </p:nvSpPr>
          <p:spPr bwMode="auto">
            <a:xfrm>
              <a:off x="3149" y="1198"/>
              <a:ext cx="237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82" name="Line 114"/>
            <p:cNvSpPr>
              <a:spLocks noChangeShapeType="1"/>
            </p:cNvSpPr>
            <p:nvPr/>
          </p:nvSpPr>
          <p:spPr bwMode="auto">
            <a:xfrm>
              <a:off x="3149" y="1489"/>
              <a:ext cx="237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83" name="Line 115"/>
            <p:cNvSpPr>
              <a:spLocks noChangeShapeType="1"/>
            </p:cNvSpPr>
            <p:nvPr/>
          </p:nvSpPr>
          <p:spPr bwMode="auto">
            <a:xfrm>
              <a:off x="3149" y="1781"/>
              <a:ext cx="237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84" name="Line 116"/>
            <p:cNvSpPr>
              <a:spLocks noChangeShapeType="1"/>
            </p:cNvSpPr>
            <p:nvPr/>
          </p:nvSpPr>
          <p:spPr bwMode="auto">
            <a:xfrm>
              <a:off x="3149" y="2072"/>
              <a:ext cx="237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85" name="Line 117"/>
            <p:cNvSpPr>
              <a:spLocks noChangeShapeType="1"/>
            </p:cNvSpPr>
            <p:nvPr/>
          </p:nvSpPr>
          <p:spPr bwMode="auto">
            <a:xfrm>
              <a:off x="3149" y="2363"/>
              <a:ext cx="2372" cy="0"/>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86" name="Line 118"/>
            <p:cNvSpPr>
              <a:spLocks noChangeShapeType="1"/>
            </p:cNvSpPr>
            <p:nvPr/>
          </p:nvSpPr>
          <p:spPr bwMode="auto">
            <a:xfrm>
              <a:off x="3149" y="2678"/>
              <a:ext cx="2372" cy="0"/>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87" name="Line 119"/>
            <p:cNvSpPr>
              <a:spLocks noChangeShapeType="1"/>
            </p:cNvSpPr>
            <p:nvPr/>
          </p:nvSpPr>
          <p:spPr bwMode="auto">
            <a:xfrm>
              <a:off x="3149" y="615"/>
              <a:ext cx="0" cy="2063"/>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88" name="Line 120"/>
            <p:cNvSpPr>
              <a:spLocks noChangeShapeType="1"/>
            </p:cNvSpPr>
            <p:nvPr/>
          </p:nvSpPr>
          <p:spPr bwMode="auto">
            <a:xfrm>
              <a:off x="3488" y="615"/>
              <a:ext cx="0" cy="2063"/>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89" name="Line 121"/>
            <p:cNvSpPr>
              <a:spLocks noChangeShapeType="1"/>
            </p:cNvSpPr>
            <p:nvPr/>
          </p:nvSpPr>
          <p:spPr bwMode="auto">
            <a:xfrm>
              <a:off x="3827" y="615"/>
              <a:ext cx="0" cy="2063"/>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90" name="Line 122"/>
            <p:cNvSpPr>
              <a:spLocks noChangeShapeType="1"/>
            </p:cNvSpPr>
            <p:nvPr/>
          </p:nvSpPr>
          <p:spPr bwMode="auto">
            <a:xfrm>
              <a:off x="4167" y="615"/>
              <a:ext cx="0" cy="2063"/>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91" name="Line 123"/>
            <p:cNvSpPr>
              <a:spLocks noChangeShapeType="1"/>
            </p:cNvSpPr>
            <p:nvPr/>
          </p:nvSpPr>
          <p:spPr bwMode="auto">
            <a:xfrm>
              <a:off x="4504" y="615"/>
              <a:ext cx="0" cy="2063"/>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92" name="Line 124"/>
            <p:cNvSpPr>
              <a:spLocks noChangeShapeType="1"/>
            </p:cNvSpPr>
            <p:nvPr/>
          </p:nvSpPr>
          <p:spPr bwMode="auto">
            <a:xfrm>
              <a:off x="4844" y="615"/>
              <a:ext cx="0" cy="2063"/>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93" name="Line 125"/>
            <p:cNvSpPr>
              <a:spLocks noChangeShapeType="1"/>
            </p:cNvSpPr>
            <p:nvPr/>
          </p:nvSpPr>
          <p:spPr bwMode="auto">
            <a:xfrm>
              <a:off x="5182" y="615"/>
              <a:ext cx="0" cy="2063"/>
            </a:xfrm>
            <a:prstGeom prst="line">
              <a:avLst/>
            </a:prstGeom>
            <a:noFill/>
            <a:ln w="12700">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94" name="Line 126"/>
            <p:cNvSpPr>
              <a:spLocks noChangeShapeType="1"/>
            </p:cNvSpPr>
            <p:nvPr/>
          </p:nvSpPr>
          <p:spPr bwMode="auto">
            <a:xfrm>
              <a:off x="5521" y="615"/>
              <a:ext cx="0" cy="2063"/>
            </a:xfrm>
            <a:prstGeom prst="line">
              <a:avLst/>
            </a:prstGeom>
            <a:noFill/>
            <a:ln w="28575" cap="sq">
              <a:solidFill>
                <a:srgbClr val="993366"/>
              </a:solidFill>
              <a:round/>
              <a:headEnd/>
              <a:tailEn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1195" name="Text Box 127"/>
            <p:cNvSpPr txBox="1">
              <a:spLocks noChangeArrowheads="1"/>
            </p:cNvSpPr>
            <p:nvPr/>
          </p:nvSpPr>
          <p:spPr bwMode="auto">
            <a:xfrm>
              <a:off x="3122" y="2732"/>
              <a:ext cx="245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000" b="1" dirty="0">
                  <a:solidFill>
                    <a:srgbClr val="000066"/>
                  </a:solidFill>
                  <a:ea typeface="华文新魏" pitchFamily="2" charset="-122"/>
                  <a:cs typeface="Times New Roman" pitchFamily="18" charset="0"/>
                </a:rPr>
                <a:t>0      4      8    </a:t>
              </a:r>
              <a:r>
                <a:rPr kumimoji="1" lang="en-US" altLang="zh-CN" sz="2000" b="1" dirty="0" smtClean="0">
                  <a:solidFill>
                    <a:srgbClr val="000066"/>
                  </a:solidFill>
                  <a:ea typeface="华文新魏" pitchFamily="2" charset="-122"/>
                  <a:cs typeface="Times New Roman" pitchFamily="18" charset="0"/>
                </a:rPr>
                <a:t> 12     </a:t>
              </a:r>
              <a:r>
                <a:rPr kumimoji="1" lang="en-US" altLang="zh-CN" sz="2000" b="1" dirty="0">
                  <a:solidFill>
                    <a:srgbClr val="000066"/>
                  </a:solidFill>
                  <a:ea typeface="华文新魏" pitchFamily="2" charset="-122"/>
                  <a:cs typeface="Times New Roman" pitchFamily="18" charset="0"/>
                </a:rPr>
                <a:t>16    20    24  </a:t>
              </a:r>
              <a:r>
                <a:rPr kumimoji="1" lang="en-US" altLang="zh-CN" sz="2000" b="1" dirty="0" smtClean="0">
                  <a:solidFill>
                    <a:srgbClr val="000066"/>
                  </a:solidFill>
                  <a:ea typeface="华文新魏" pitchFamily="2" charset="-122"/>
                  <a:cs typeface="Times New Roman" pitchFamily="18" charset="0"/>
                </a:rPr>
                <a:t>  </a:t>
              </a:r>
              <a:r>
                <a:rPr kumimoji="1" lang="en-US" altLang="zh-CN" sz="2000" b="1" dirty="0">
                  <a:solidFill>
                    <a:srgbClr val="000066"/>
                  </a:solidFill>
                  <a:ea typeface="华文新魏" pitchFamily="2" charset="-122"/>
                  <a:cs typeface="Times New Roman" pitchFamily="18" charset="0"/>
                </a:rPr>
                <a:t>28</a:t>
              </a:r>
            </a:p>
            <a:p>
              <a:pPr eaLnBrk="1" hangingPunct="1">
                <a:lnSpc>
                  <a:spcPct val="100000"/>
                </a:lnSpc>
                <a:spcBef>
                  <a:spcPct val="0"/>
                </a:spcBef>
                <a:spcAft>
                  <a:spcPct val="0"/>
                </a:spcAft>
              </a:pPr>
              <a:r>
                <a:rPr kumimoji="1" lang="zh-CN" altLang="en-US" sz="2000" b="1" dirty="0">
                  <a:solidFill>
                    <a:srgbClr val="000066"/>
                  </a:solidFill>
                  <a:ea typeface="幼圆" pitchFamily="49" charset="-122"/>
                  <a:cs typeface="Times New Roman" pitchFamily="18" charset="0"/>
                </a:rPr>
                <a:t>         </a:t>
              </a:r>
              <a:r>
                <a:rPr kumimoji="1" lang="zh-CN" altLang="en-US" sz="2000" b="1" dirty="0" smtClean="0">
                  <a:solidFill>
                    <a:srgbClr val="000066"/>
                  </a:solidFill>
                  <a:ea typeface="幼圆" pitchFamily="49" charset="-122"/>
                  <a:cs typeface="Times New Roman" pitchFamily="18" charset="0"/>
                </a:rPr>
                <a:t>     含水量    </a:t>
              </a:r>
              <a:r>
                <a:rPr kumimoji="1" lang="en-US" altLang="zh-CN" sz="2000" b="1" i="1" dirty="0" smtClean="0">
                  <a:solidFill>
                    <a:srgbClr val="000066"/>
                  </a:solidFill>
                  <a:ea typeface="幼圆" pitchFamily="49" charset="-122"/>
                  <a:cs typeface="Times New Roman" pitchFamily="18" charset="0"/>
                </a:rPr>
                <a:t>w</a:t>
              </a:r>
              <a:r>
                <a:rPr kumimoji="1" lang="en-US" altLang="zh-CN" sz="2000" b="1" dirty="0" smtClean="0">
                  <a:solidFill>
                    <a:srgbClr val="000066"/>
                  </a:solidFill>
                  <a:ea typeface="幼圆" pitchFamily="49" charset="-122"/>
                  <a:cs typeface="Times New Roman" pitchFamily="18" charset="0"/>
                </a:rPr>
                <a:t> (%)</a:t>
              </a:r>
              <a:endParaRPr kumimoji="1" lang="en-US" altLang="zh-CN" sz="2000" b="1" dirty="0">
                <a:solidFill>
                  <a:srgbClr val="000066"/>
                </a:solidFill>
                <a:ea typeface="幼圆" pitchFamily="49" charset="-122"/>
                <a:cs typeface="Times New Roman" pitchFamily="18" charset="0"/>
              </a:endParaRPr>
            </a:p>
          </p:txBody>
        </p:sp>
        <p:sp>
          <p:nvSpPr>
            <p:cNvPr id="91196" name="Text Box 128"/>
            <p:cNvSpPr txBox="1">
              <a:spLocks noChangeArrowheads="1"/>
            </p:cNvSpPr>
            <p:nvPr/>
          </p:nvSpPr>
          <p:spPr bwMode="auto">
            <a:xfrm>
              <a:off x="2872" y="715"/>
              <a:ext cx="204" cy="2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55000"/>
                </a:lnSpc>
                <a:spcBef>
                  <a:spcPct val="0"/>
                </a:spcBef>
                <a:spcAft>
                  <a:spcPct val="0"/>
                </a:spcAft>
              </a:pPr>
              <a:r>
                <a:rPr kumimoji="1" lang="en-US" altLang="zh-CN" sz="2000" b="1" dirty="0">
                  <a:solidFill>
                    <a:srgbClr val="000066"/>
                  </a:solidFill>
                  <a:ea typeface="华文新魏" pitchFamily="2" charset="-122"/>
                  <a:cs typeface="Times New Roman" pitchFamily="18" charset="0"/>
                </a:rPr>
                <a:t>1.9</a:t>
              </a:r>
            </a:p>
            <a:p>
              <a:pPr algn="ctr" eaLnBrk="1" hangingPunct="1">
                <a:lnSpc>
                  <a:spcPct val="155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55000"/>
                </a:lnSpc>
                <a:spcBef>
                  <a:spcPct val="0"/>
                </a:spcBef>
                <a:spcAft>
                  <a:spcPct val="0"/>
                </a:spcAft>
              </a:pPr>
              <a:r>
                <a:rPr kumimoji="1" lang="en-US" altLang="zh-CN" sz="2000" b="1" dirty="0">
                  <a:solidFill>
                    <a:srgbClr val="000066"/>
                  </a:solidFill>
                  <a:ea typeface="华文新魏" pitchFamily="2" charset="-122"/>
                  <a:cs typeface="Times New Roman" pitchFamily="18" charset="0"/>
                </a:rPr>
                <a:t>1.7</a:t>
              </a:r>
            </a:p>
            <a:p>
              <a:pPr algn="ctr" eaLnBrk="1" hangingPunct="1">
                <a:lnSpc>
                  <a:spcPct val="155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55000"/>
                </a:lnSpc>
                <a:spcBef>
                  <a:spcPct val="0"/>
                </a:spcBef>
                <a:spcAft>
                  <a:spcPct val="0"/>
                </a:spcAft>
              </a:pPr>
              <a:r>
                <a:rPr kumimoji="1" lang="en-US" altLang="zh-CN" sz="2000" b="1" dirty="0">
                  <a:solidFill>
                    <a:srgbClr val="000066"/>
                  </a:solidFill>
                  <a:ea typeface="华文新魏" pitchFamily="2" charset="-122"/>
                  <a:cs typeface="Times New Roman" pitchFamily="18" charset="0"/>
                </a:rPr>
                <a:t>1.5</a:t>
              </a:r>
            </a:p>
            <a:p>
              <a:pPr algn="ctr" eaLnBrk="1" hangingPunct="1">
                <a:lnSpc>
                  <a:spcPct val="155000"/>
                </a:lnSpc>
                <a:spcBef>
                  <a:spcPct val="0"/>
                </a:spcBef>
                <a:spcAft>
                  <a:spcPct val="0"/>
                </a:spcAft>
              </a:pPr>
              <a:endParaRPr kumimoji="1" lang="en-US" altLang="zh-CN" sz="2000" b="1" dirty="0">
                <a:solidFill>
                  <a:srgbClr val="000066"/>
                </a:solidFill>
                <a:ea typeface="华文新魏" pitchFamily="2" charset="-122"/>
                <a:cs typeface="Times New Roman" pitchFamily="18" charset="0"/>
              </a:endParaRPr>
            </a:p>
            <a:p>
              <a:pPr algn="ctr" eaLnBrk="1" hangingPunct="1">
                <a:lnSpc>
                  <a:spcPct val="155000"/>
                </a:lnSpc>
                <a:spcBef>
                  <a:spcPct val="0"/>
                </a:spcBef>
                <a:spcAft>
                  <a:spcPct val="0"/>
                </a:spcAft>
              </a:pPr>
              <a:r>
                <a:rPr kumimoji="1" lang="en-US" altLang="zh-CN" sz="2000" b="1" dirty="0">
                  <a:solidFill>
                    <a:srgbClr val="000066"/>
                  </a:solidFill>
                  <a:ea typeface="华文新魏" pitchFamily="2" charset="-122"/>
                  <a:cs typeface="Times New Roman" pitchFamily="18" charset="0"/>
                </a:rPr>
                <a:t>1.3</a:t>
              </a:r>
            </a:p>
          </p:txBody>
        </p:sp>
        <p:sp>
          <p:nvSpPr>
            <p:cNvPr id="91197" name="Text Box 129"/>
            <p:cNvSpPr txBox="1">
              <a:spLocks noChangeArrowheads="1"/>
            </p:cNvSpPr>
            <p:nvPr/>
          </p:nvSpPr>
          <p:spPr bwMode="auto">
            <a:xfrm rot="16200000">
              <a:off x="2039" y="1719"/>
              <a:ext cx="134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000" b="1" dirty="0" smtClean="0">
                  <a:solidFill>
                    <a:srgbClr val="000066"/>
                  </a:solidFill>
                  <a:latin typeface="幼圆" pitchFamily="49" charset="-122"/>
                  <a:ea typeface="幼圆" pitchFamily="49" charset="-122"/>
                </a:rPr>
                <a:t>干密度  </a:t>
              </a:r>
              <a:r>
                <a:rPr kumimoji="1" lang="zh-CN" altLang="en-US" sz="2000" b="1" i="1" dirty="0" smtClean="0">
                  <a:solidFill>
                    <a:srgbClr val="000066"/>
                  </a:solidFill>
                  <a:ea typeface="幼圆" pitchFamily="49" charset="-122"/>
                  <a:sym typeface="Symbol" pitchFamily="18" charset="2"/>
                </a:rPr>
                <a:t></a:t>
              </a:r>
              <a:r>
                <a:rPr kumimoji="1" lang="en-US" altLang="zh-CN" sz="2000" b="1" baseline="-25000" dirty="0" smtClean="0">
                  <a:solidFill>
                    <a:srgbClr val="000066"/>
                  </a:solidFill>
                  <a:ea typeface="幼圆" pitchFamily="49" charset="-122"/>
                  <a:sym typeface="Symbol" pitchFamily="18" charset="2"/>
                </a:rPr>
                <a:t>d  </a:t>
              </a:r>
              <a:r>
                <a:rPr kumimoji="1" lang="en-US" altLang="zh-CN" sz="2000" b="1" dirty="0" smtClean="0">
                  <a:solidFill>
                    <a:srgbClr val="000066"/>
                  </a:solidFill>
                  <a:ea typeface="幼圆" pitchFamily="49" charset="-122"/>
                  <a:sym typeface="Symbol" pitchFamily="18" charset="2"/>
                </a:rPr>
                <a:t>(</a:t>
              </a:r>
              <a:r>
                <a:rPr kumimoji="1" lang="en-US" altLang="zh-CN" sz="2000" b="1" dirty="0">
                  <a:solidFill>
                    <a:srgbClr val="000066"/>
                  </a:solidFill>
                  <a:ea typeface="幼圆" pitchFamily="49" charset="-122"/>
                  <a:sym typeface="Symbol" pitchFamily="18" charset="2"/>
                </a:rPr>
                <a:t>g/cm</a:t>
              </a:r>
              <a:r>
                <a:rPr kumimoji="1" lang="en-US" altLang="zh-CN" sz="2000" b="1" baseline="30000" dirty="0">
                  <a:solidFill>
                    <a:srgbClr val="000066"/>
                  </a:solidFill>
                  <a:ea typeface="幼圆" pitchFamily="49" charset="-122"/>
                  <a:sym typeface="Symbol" pitchFamily="18" charset="2"/>
                </a:rPr>
                <a:t>3</a:t>
              </a:r>
              <a:r>
                <a:rPr kumimoji="1" lang="en-US" altLang="zh-CN" sz="2000" b="1" dirty="0">
                  <a:solidFill>
                    <a:srgbClr val="000066"/>
                  </a:solidFill>
                  <a:ea typeface="幼圆" pitchFamily="49" charset="-122"/>
                  <a:sym typeface="Symbol" pitchFamily="18" charset="2"/>
                </a:rPr>
                <a:t>)</a:t>
              </a:r>
            </a:p>
          </p:txBody>
        </p:sp>
        <p:sp>
          <p:nvSpPr>
            <p:cNvPr id="91198" name="Freeform 130"/>
            <p:cNvSpPr>
              <a:spLocks/>
            </p:cNvSpPr>
            <p:nvPr/>
          </p:nvSpPr>
          <p:spPr bwMode="auto">
            <a:xfrm>
              <a:off x="3641" y="1393"/>
              <a:ext cx="1101" cy="530"/>
            </a:xfrm>
            <a:custGeom>
              <a:avLst/>
              <a:gdLst>
                <a:gd name="T0" fmla="*/ 0 w 1101"/>
                <a:gd name="T1" fmla="*/ 530 h 530"/>
                <a:gd name="T2" fmla="*/ 147 w 1101"/>
                <a:gd name="T3" fmla="*/ 368 h 530"/>
                <a:gd name="T4" fmla="*/ 258 w 1101"/>
                <a:gd name="T5" fmla="*/ 241 h 530"/>
                <a:gd name="T6" fmla="*/ 396 w 1101"/>
                <a:gd name="T7" fmla="*/ 111 h 530"/>
                <a:gd name="T8" fmla="*/ 504 w 1101"/>
                <a:gd name="T9" fmla="*/ 37 h 530"/>
                <a:gd name="T10" fmla="*/ 614 w 1101"/>
                <a:gd name="T11" fmla="*/ 8 h 530"/>
                <a:gd name="T12" fmla="*/ 754 w 1101"/>
                <a:gd name="T13" fmla="*/ 86 h 530"/>
                <a:gd name="T14" fmla="*/ 939 w 1101"/>
                <a:gd name="T15" fmla="*/ 277 h 530"/>
                <a:gd name="T16" fmla="*/ 1101 w 1101"/>
                <a:gd name="T17" fmla="*/ 450 h 5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01"/>
                <a:gd name="T28" fmla="*/ 0 h 530"/>
                <a:gd name="T29" fmla="*/ 1101 w 1101"/>
                <a:gd name="T30" fmla="*/ 530 h 5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01" h="530">
                  <a:moveTo>
                    <a:pt x="0" y="530"/>
                  </a:moveTo>
                  <a:cubicBezTo>
                    <a:pt x="24" y="503"/>
                    <a:pt x="104" y="417"/>
                    <a:pt x="147" y="368"/>
                  </a:cubicBezTo>
                  <a:cubicBezTo>
                    <a:pt x="190" y="319"/>
                    <a:pt x="218" y="284"/>
                    <a:pt x="258" y="241"/>
                  </a:cubicBezTo>
                  <a:cubicBezTo>
                    <a:pt x="300" y="199"/>
                    <a:pt x="356" y="145"/>
                    <a:pt x="396" y="111"/>
                  </a:cubicBezTo>
                  <a:cubicBezTo>
                    <a:pt x="437" y="77"/>
                    <a:pt x="467" y="54"/>
                    <a:pt x="504" y="37"/>
                  </a:cubicBezTo>
                  <a:cubicBezTo>
                    <a:pt x="540" y="20"/>
                    <a:pt x="572" y="0"/>
                    <a:pt x="614" y="8"/>
                  </a:cubicBezTo>
                  <a:cubicBezTo>
                    <a:pt x="655" y="16"/>
                    <a:pt x="700" y="40"/>
                    <a:pt x="754" y="86"/>
                  </a:cubicBezTo>
                  <a:cubicBezTo>
                    <a:pt x="808" y="131"/>
                    <a:pt x="882" y="216"/>
                    <a:pt x="939" y="277"/>
                  </a:cubicBezTo>
                  <a:cubicBezTo>
                    <a:pt x="997" y="338"/>
                    <a:pt x="1067" y="414"/>
                    <a:pt x="1101" y="450"/>
                  </a:cubicBezTo>
                </a:path>
              </a:pathLst>
            </a:custGeom>
            <a:noFill/>
            <a:ln w="19050">
              <a:solidFill>
                <a:srgbClr val="0000CC"/>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1199" name="Freeform 131"/>
            <p:cNvSpPr>
              <a:spLocks/>
            </p:cNvSpPr>
            <p:nvPr/>
          </p:nvSpPr>
          <p:spPr bwMode="auto">
            <a:xfrm>
              <a:off x="4076" y="761"/>
              <a:ext cx="1328" cy="1346"/>
            </a:xfrm>
            <a:custGeom>
              <a:avLst/>
              <a:gdLst>
                <a:gd name="T0" fmla="*/ 0 w 1328"/>
                <a:gd name="T1" fmla="*/ 0 h 1346"/>
                <a:gd name="T2" fmla="*/ 141 w 1328"/>
                <a:gd name="T3" fmla="*/ 166 h 1346"/>
                <a:gd name="T4" fmla="*/ 283 w 1328"/>
                <a:gd name="T5" fmla="*/ 333 h 1346"/>
                <a:gd name="T6" fmla="*/ 490 w 1328"/>
                <a:gd name="T7" fmla="*/ 563 h 1346"/>
                <a:gd name="T8" fmla="*/ 836 w 1328"/>
                <a:gd name="T9" fmla="*/ 929 h 1346"/>
                <a:gd name="T10" fmla="*/ 1127 w 1328"/>
                <a:gd name="T11" fmla="*/ 1202 h 1346"/>
                <a:gd name="T12" fmla="*/ 1328 w 1328"/>
                <a:gd name="T13" fmla="*/ 1346 h 1346"/>
                <a:gd name="T14" fmla="*/ 0 60000 65536"/>
                <a:gd name="T15" fmla="*/ 0 60000 65536"/>
                <a:gd name="T16" fmla="*/ 0 60000 65536"/>
                <a:gd name="T17" fmla="*/ 0 60000 65536"/>
                <a:gd name="T18" fmla="*/ 0 60000 65536"/>
                <a:gd name="T19" fmla="*/ 0 60000 65536"/>
                <a:gd name="T20" fmla="*/ 0 60000 65536"/>
                <a:gd name="T21" fmla="*/ 0 w 1328"/>
                <a:gd name="T22" fmla="*/ 0 h 1346"/>
                <a:gd name="T23" fmla="*/ 1328 w 1328"/>
                <a:gd name="T24" fmla="*/ 1346 h 13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28" h="1346">
                  <a:moveTo>
                    <a:pt x="0" y="0"/>
                  </a:moveTo>
                  <a:cubicBezTo>
                    <a:pt x="24" y="28"/>
                    <a:pt x="94" y="111"/>
                    <a:pt x="141" y="166"/>
                  </a:cubicBezTo>
                  <a:cubicBezTo>
                    <a:pt x="189" y="221"/>
                    <a:pt x="225" y="267"/>
                    <a:pt x="283" y="333"/>
                  </a:cubicBezTo>
                  <a:cubicBezTo>
                    <a:pt x="341" y="399"/>
                    <a:pt x="397" y="464"/>
                    <a:pt x="490" y="563"/>
                  </a:cubicBezTo>
                  <a:cubicBezTo>
                    <a:pt x="583" y="663"/>
                    <a:pt x="730" y="823"/>
                    <a:pt x="836" y="929"/>
                  </a:cubicBezTo>
                  <a:cubicBezTo>
                    <a:pt x="942" y="1035"/>
                    <a:pt x="1045" y="1133"/>
                    <a:pt x="1127" y="1202"/>
                  </a:cubicBezTo>
                  <a:cubicBezTo>
                    <a:pt x="1209" y="1271"/>
                    <a:pt x="1287" y="1316"/>
                    <a:pt x="1328" y="1346"/>
                  </a:cubicBezTo>
                </a:path>
              </a:pathLst>
            </a:custGeom>
            <a:noFill/>
            <a:ln w="28575">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p>
              <a:endParaRPr lang="zh-CN" altLang="en-US"/>
            </a:p>
          </p:txBody>
        </p:sp>
        <p:sp>
          <p:nvSpPr>
            <p:cNvPr id="91200" name="Text Box 132"/>
            <p:cNvSpPr txBox="1">
              <a:spLocks noChangeArrowheads="1"/>
            </p:cNvSpPr>
            <p:nvPr/>
          </p:nvSpPr>
          <p:spPr bwMode="auto">
            <a:xfrm rot="2803174">
              <a:off x="4371" y="1129"/>
              <a:ext cx="7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2400" b="1">
                  <a:solidFill>
                    <a:srgbClr val="A50021"/>
                  </a:solidFill>
                  <a:latin typeface="Arial" charset="0"/>
                  <a:ea typeface="幼圆" pitchFamily="49" charset="-122"/>
                </a:rPr>
                <a:t>饱和曲线</a:t>
              </a:r>
            </a:p>
          </p:txBody>
        </p:sp>
        <p:sp>
          <p:nvSpPr>
            <p:cNvPr id="91201" name="Freeform 133"/>
            <p:cNvSpPr>
              <a:spLocks/>
            </p:cNvSpPr>
            <p:nvPr/>
          </p:nvSpPr>
          <p:spPr bwMode="auto">
            <a:xfrm>
              <a:off x="3614" y="1170"/>
              <a:ext cx="1088" cy="579"/>
            </a:xfrm>
            <a:custGeom>
              <a:avLst/>
              <a:gdLst>
                <a:gd name="T0" fmla="*/ 0 w 1088"/>
                <a:gd name="T1" fmla="*/ 356 h 579"/>
                <a:gd name="T2" fmla="*/ 126 w 1088"/>
                <a:gd name="T3" fmla="*/ 241 h 579"/>
                <a:gd name="T4" fmla="*/ 265 w 1088"/>
                <a:gd name="T5" fmla="*/ 111 h 579"/>
                <a:gd name="T6" fmla="*/ 375 w 1088"/>
                <a:gd name="T7" fmla="*/ 39 h 579"/>
                <a:gd name="T8" fmla="*/ 484 w 1088"/>
                <a:gd name="T9" fmla="*/ 8 h 579"/>
                <a:gd name="T10" fmla="*/ 625 w 1088"/>
                <a:gd name="T11" fmla="*/ 86 h 579"/>
                <a:gd name="T12" fmla="*/ 812 w 1088"/>
                <a:gd name="T13" fmla="*/ 277 h 579"/>
                <a:gd name="T14" fmla="*/ 965 w 1088"/>
                <a:gd name="T15" fmla="*/ 449 h 579"/>
                <a:gd name="T16" fmla="*/ 1088 w 1088"/>
                <a:gd name="T17" fmla="*/ 579 h 5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88"/>
                <a:gd name="T28" fmla="*/ 0 h 579"/>
                <a:gd name="T29" fmla="*/ 1088 w 1088"/>
                <a:gd name="T30" fmla="*/ 579 h 5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88" h="579">
                  <a:moveTo>
                    <a:pt x="0" y="356"/>
                  </a:moveTo>
                  <a:cubicBezTo>
                    <a:pt x="21" y="337"/>
                    <a:pt x="82" y="282"/>
                    <a:pt x="126" y="241"/>
                  </a:cubicBezTo>
                  <a:cubicBezTo>
                    <a:pt x="170" y="200"/>
                    <a:pt x="223" y="145"/>
                    <a:pt x="265" y="111"/>
                  </a:cubicBezTo>
                  <a:cubicBezTo>
                    <a:pt x="307" y="77"/>
                    <a:pt x="338" y="56"/>
                    <a:pt x="375" y="39"/>
                  </a:cubicBezTo>
                  <a:cubicBezTo>
                    <a:pt x="412" y="22"/>
                    <a:pt x="442" y="0"/>
                    <a:pt x="484" y="8"/>
                  </a:cubicBezTo>
                  <a:cubicBezTo>
                    <a:pt x="526" y="16"/>
                    <a:pt x="571" y="40"/>
                    <a:pt x="625" y="86"/>
                  </a:cubicBezTo>
                  <a:cubicBezTo>
                    <a:pt x="680" y="131"/>
                    <a:pt x="755" y="216"/>
                    <a:pt x="812" y="277"/>
                  </a:cubicBezTo>
                  <a:cubicBezTo>
                    <a:pt x="868" y="338"/>
                    <a:pt x="919" y="399"/>
                    <a:pt x="965" y="449"/>
                  </a:cubicBezTo>
                  <a:cubicBezTo>
                    <a:pt x="1011" y="499"/>
                    <a:pt x="1068" y="557"/>
                    <a:pt x="1088" y="579"/>
                  </a:cubicBezTo>
                </a:path>
              </a:pathLst>
            </a:custGeom>
            <a:noFill/>
            <a:ln w="19050">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p>
              <a:endParaRPr lang="zh-CN" altLang="en-US"/>
            </a:p>
          </p:txBody>
        </p:sp>
        <p:sp>
          <p:nvSpPr>
            <p:cNvPr id="91202" name="Freeform 134"/>
            <p:cNvSpPr>
              <a:spLocks/>
            </p:cNvSpPr>
            <p:nvPr/>
          </p:nvSpPr>
          <p:spPr bwMode="auto">
            <a:xfrm>
              <a:off x="3848" y="1852"/>
              <a:ext cx="1084" cy="460"/>
            </a:xfrm>
            <a:custGeom>
              <a:avLst/>
              <a:gdLst>
                <a:gd name="T0" fmla="*/ 0 w 1084"/>
                <a:gd name="T1" fmla="*/ 460 h 460"/>
                <a:gd name="T2" fmla="*/ 168 w 1084"/>
                <a:gd name="T3" fmla="*/ 317 h 460"/>
                <a:gd name="T4" fmla="*/ 295 w 1084"/>
                <a:gd name="T5" fmla="*/ 206 h 460"/>
                <a:gd name="T6" fmla="*/ 452 w 1084"/>
                <a:gd name="T7" fmla="*/ 91 h 460"/>
                <a:gd name="T8" fmla="*/ 585 w 1084"/>
                <a:gd name="T9" fmla="*/ 29 h 460"/>
                <a:gd name="T10" fmla="*/ 713 w 1084"/>
                <a:gd name="T11" fmla="*/ 6 h 460"/>
                <a:gd name="T12" fmla="*/ 859 w 1084"/>
                <a:gd name="T13" fmla="*/ 68 h 460"/>
                <a:gd name="T14" fmla="*/ 1084 w 1084"/>
                <a:gd name="T15" fmla="*/ 224 h 460"/>
                <a:gd name="T16" fmla="*/ 0 60000 65536"/>
                <a:gd name="T17" fmla="*/ 0 60000 65536"/>
                <a:gd name="T18" fmla="*/ 0 60000 65536"/>
                <a:gd name="T19" fmla="*/ 0 60000 65536"/>
                <a:gd name="T20" fmla="*/ 0 60000 65536"/>
                <a:gd name="T21" fmla="*/ 0 60000 65536"/>
                <a:gd name="T22" fmla="*/ 0 60000 65536"/>
                <a:gd name="T23" fmla="*/ 0 60000 65536"/>
                <a:gd name="T24" fmla="*/ 0 w 1084"/>
                <a:gd name="T25" fmla="*/ 0 h 460"/>
                <a:gd name="T26" fmla="*/ 1084 w 1084"/>
                <a:gd name="T27" fmla="*/ 460 h 4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84" h="460">
                  <a:moveTo>
                    <a:pt x="0" y="460"/>
                  </a:moveTo>
                  <a:cubicBezTo>
                    <a:pt x="28" y="436"/>
                    <a:pt x="119" y="360"/>
                    <a:pt x="168" y="317"/>
                  </a:cubicBezTo>
                  <a:cubicBezTo>
                    <a:pt x="217" y="274"/>
                    <a:pt x="248" y="243"/>
                    <a:pt x="295" y="206"/>
                  </a:cubicBezTo>
                  <a:cubicBezTo>
                    <a:pt x="343" y="169"/>
                    <a:pt x="404" y="120"/>
                    <a:pt x="452" y="91"/>
                  </a:cubicBezTo>
                  <a:cubicBezTo>
                    <a:pt x="500" y="62"/>
                    <a:pt x="541" y="43"/>
                    <a:pt x="585" y="29"/>
                  </a:cubicBezTo>
                  <a:cubicBezTo>
                    <a:pt x="629" y="15"/>
                    <a:pt x="667" y="0"/>
                    <a:pt x="713" y="6"/>
                  </a:cubicBezTo>
                  <a:cubicBezTo>
                    <a:pt x="759" y="12"/>
                    <a:pt x="797" y="32"/>
                    <a:pt x="859" y="68"/>
                  </a:cubicBezTo>
                  <a:cubicBezTo>
                    <a:pt x="921" y="104"/>
                    <a:pt x="1037" y="191"/>
                    <a:pt x="1084" y="224"/>
                  </a:cubicBezTo>
                </a:path>
              </a:pathLst>
            </a:custGeom>
            <a:noFill/>
            <a:ln w="19050">
              <a:solidFill>
                <a:srgbClr val="0000CC"/>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1203" name="Freeform 135"/>
            <p:cNvSpPr>
              <a:spLocks/>
            </p:cNvSpPr>
            <p:nvPr/>
          </p:nvSpPr>
          <p:spPr bwMode="auto">
            <a:xfrm>
              <a:off x="3769" y="1630"/>
              <a:ext cx="1131" cy="524"/>
            </a:xfrm>
            <a:custGeom>
              <a:avLst/>
              <a:gdLst>
                <a:gd name="T0" fmla="*/ 0 w 1131"/>
                <a:gd name="T1" fmla="*/ 524 h 524"/>
                <a:gd name="T2" fmla="*/ 156 w 1131"/>
                <a:gd name="T3" fmla="*/ 373 h 524"/>
                <a:gd name="T4" fmla="*/ 274 w 1131"/>
                <a:gd name="T5" fmla="*/ 255 h 524"/>
                <a:gd name="T6" fmla="*/ 421 w 1131"/>
                <a:gd name="T7" fmla="*/ 135 h 524"/>
                <a:gd name="T8" fmla="*/ 537 w 1131"/>
                <a:gd name="T9" fmla="*/ 48 h 524"/>
                <a:gd name="T10" fmla="*/ 658 w 1131"/>
                <a:gd name="T11" fmla="*/ 10 h 524"/>
                <a:gd name="T12" fmla="*/ 799 w 1131"/>
                <a:gd name="T13" fmla="*/ 106 h 524"/>
                <a:gd name="T14" fmla="*/ 955 w 1131"/>
                <a:gd name="T15" fmla="*/ 237 h 524"/>
                <a:gd name="T16" fmla="*/ 1131 w 1131"/>
                <a:gd name="T17" fmla="*/ 386 h 5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31"/>
                <a:gd name="T28" fmla="*/ 0 h 524"/>
                <a:gd name="T29" fmla="*/ 1131 w 1131"/>
                <a:gd name="T30" fmla="*/ 524 h 5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31" h="524">
                  <a:moveTo>
                    <a:pt x="0" y="524"/>
                  </a:moveTo>
                  <a:cubicBezTo>
                    <a:pt x="26" y="499"/>
                    <a:pt x="110" y="419"/>
                    <a:pt x="156" y="373"/>
                  </a:cubicBezTo>
                  <a:cubicBezTo>
                    <a:pt x="201" y="328"/>
                    <a:pt x="231" y="295"/>
                    <a:pt x="274" y="255"/>
                  </a:cubicBezTo>
                  <a:cubicBezTo>
                    <a:pt x="318" y="216"/>
                    <a:pt x="377" y="169"/>
                    <a:pt x="421" y="135"/>
                  </a:cubicBezTo>
                  <a:cubicBezTo>
                    <a:pt x="465" y="101"/>
                    <a:pt x="498" y="69"/>
                    <a:pt x="537" y="48"/>
                  </a:cubicBezTo>
                  <a:cubicBezTo>
                    <a:pt x="576" y="27"/>
                    <a:pt x="614" y="0"/>
                    <a:pt x="658" y="10"/>
                  </a:cubicBezTo>
                  <a:cubicBezTo>
                    <a:pt x="702" y="20"/>
                    <a:pt x="750" y="68"/>
                    <a:pt x="799" y="106"/>
                  </a:cubicBezTo>
                  <a:cubicBezTo>
                    <a:pt x="848" y="144"/>
                    <a:pt x="900" y="190"/>
                    <a:pt x="955" y="237"/>
                  </a:cubicBezTo>
                  <a:cubicBezTo>
                    <a:pt x="1010" y="284"/>
                    <a:pt x="1094" y="355"/>
                    <a:pt x="1131" y="386"/>
                  </a:cubicBezTo>
                </a:path>
              </a:pathLst>
            </a:custGeom>
            <a:noFill/>
            <a:ln w="19050">
              <a:solidFill>
                <a:srgbClr val="0000CC"/>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1204" name="Freeform 136"/>
            <p:cNvSpPr>
              <a:spLocks/>
            </p:cNvSpPr>
            <p:nvPr/>
          </p:nvSpPr>
          <p:spPr bwMode="auto">
            <a:xfrm>
              <a:off x="3952" y="954"/>
              <a:ext cx="1005" cy="1399"/>
            </a:xfrm>
            <a:custGeom>
              <a:avLst/>
              <a:gdLst>
                <a:gd name="T0" fmla="*/ 0 w 1005"/>
                <a:gd name="T1" fmla="*/ 0 h 1399"/>
                <a:gd name="T2" fmla="*/ 153 w 1005"/>
                <a:gd name="T3" fmla="*/ 237 h 1399"/>
                <a:gd name="T4" fmla="*/ 275 w 1005"/>
                <a:gd name="T5" fmla="*/ 423 h 1399"/>
                <a:gd name="T6" fmla="*/ 464 w 1005"/>
                <a:gd name="T7" fmla="*/ 685 h 1399"/>
                <a:gd name="T8" fmla="*/ 685 w 1005"/>
                <a:gd name="T9" fmla="*/ 986 h 1399"/>
                <a:gd name="T10" fmla="*/ 1005 w 1005"/>
                <a:gd name="T11" fmla="*/ 1399 h 1399"/>
                <a:gd name="T12" fmla="*/ 0 60000 65536"/>
                <a:gd name="T13" fmla="*/ 0 60000 65536"/>
                <a:gd name="T14" fmla="*/ 0 60000 65536"/>
                <a:gd name="T15" fmla="*/ 0 60000 65536"/>
                <a:gd name="T16" fmla="*/ 0 60000 65536"/>
                <a:gd name="T17" fmla="*/ 0 60000 65536"/>
                <a:gd name="T18" fmla="*/ 0 w 1005"/>
                <a:gd name="T19" fmla="*/ 0 h 1399"/>
                <a:gd name="T20" fmla="*/ 1005 w 1005"/>
                <a:gd name="T21" fmla="*/ 1399 h 1399"/>
              </a:gdLst>
              <a:ahLst/>
              <a:cxnLst>
                <a:cxn ang="T12">
                  <a:pos x="T0" y="T1"/>
                </a:cxn>
                <a:cxn ang="T13">
                  <a:pos x="T2" y="T3"/>
                </a:cxn>
                <a:cxn ang="T14">
                  <a:pos x="T4" y="T5"/>
                </a:cxn>
                <a:cxn ang="T15">
                  <a:pos x="T6" y="T7"/>
                </a:cxn>
                <a:cxn ang="T16">
                  <a:pos x="T8" y="T9"/>
                </a:cxn>
                <a:cxn ang="T17">
                  <a:pos x="T10" y="T11"/>
                </a:cxn>
              </a:cxnLst>
              <a:rect l="T18" t="T19" r="T20" b="T21"/>
              <a:pathLst>
                <a:path w="1005" h="1399">
                  <a:moveTo>
                    <a:pt x="0" y="0"/>
                  </a:moveTo>
                  <a:cubicBezTo>
                    <a:pt x="25" y="39"/>
                    <a:pt x="107" y="167"/>
                    <a:pt x="153" y="237"/>
                  </a:cubicBezTo>
                  <a:cubicBezTo>
                    <a:pt x="199" y="307"/>
                    <a:pt x="223" y="348"/>
                    <a:pt x="275" y="423"/>
                  </a:cubicBezTo>
                  <a:cubicBezTo>
                    <a:pt x="327" y="498"/>
                    <a:pt x="396" y="591"/>
                    <a:pt x="464" y="685"/>
                  </a:cubicBezTo>
                  <a:cubicBezTo>
                    <a:pt x="532" y="779"/>
                    <a:pt x="595" y="867"/>
                    <a:pt x="685" y="986"/>
                  </a:cubicBezTo>
                  <a:cubicBezTo>
                    <a:pt x="775" y="1105"/>
                    <a:pt x="951" y="1330"/>
                    <a:pt x="1005" y="1399"/>
                  </a:cubicBezTo>
                </a:path>
              </a:pathLst>
            </a:custGeom>
            <a:noFill/>
            <a:ln w="19050">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205" name="Text Box 137"/>
            <p:cNvSpPr txBox="1">
              <a:spLocks noChangeArrowheads="1"/>
            </p:cNvSpPr>
            <p:nvPr/>
          </p:nvSpPr>
          <p:spPr bwMode="auto">
            <a:xfrm rot="-2421536">
              <a:off x="3484" y="1124"/>
              <a:ext cx="4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i="1" dirty="0">
                  <a:ea typeface="幼圆" pitchFamily="49" charset="-122"/>
                </a:rPr>
                <a:t>N</a:t>
              </a:r>
              <a:r>
                <a:rPr lang="en-US" altLang="zh-CN" sz="2000" dirty="0">
                  <a:ea typeface="幼圆" pitchFamily="49" charset="-122"/>
                </a:rPr>
                <a:t>=36</a:t>
              </a:r>
            </a:p>
          </p:txBody>
        </p:sp>
        <p:sp>
          <p:nvSpPr>
            <p:cNvPr id="91206" name="Text Box 138"/>
            <p:cNvSpPr txBox="1">
              <a:spLocks noChangeArrowheads="1"/>
            </p:cNvSpPr>
            <p:nvPr/>
          </p:nvSpPr>
          <p:spPr bwMode="auto">
            <a:xfrm rot="-2807800">
              <a:off x="3528" y="1518"/>
              <a:ext cx="482"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i="1" dirty="0">
                  <a:ea typeface="幼圆" pitchFamily="49" charset="-122"/>
                </a:rPr>
                <a:t>N</a:t>
              </a:r>
              <a:r>
                <a:rPr lang="en-US" altLang="zh-CN" sz="2000" dirty="0">
                  <a:ea typeface="幼圆" pitchFamily="49" charset="-122"/>
                </a:rPr>
                <a:t>=29</a:t>
              </a:r>
            </a:p>
          </p:txBody>
        </p:sp>
        <p:sp>
          <p:nvSpPr>
            <p:cNvPr id="91207" name="Text Box 139"/>
            <p:cNvSpPr txBox="1">
              <a:spLocks noChangeArrowheads="1"/>
            </p:cNvSpPr>
            <p:nvPr/>
          </p:nvSpPr>
          <p:spPr bwMode="auto">
            <a:xfrm rot="-2671161">
              <a:off x="3599" y="1819"/>
              <a:ext cx="4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i="1" dirty="0">
                  <a:ea typeface="幼圆" pitchFamily="49" charset="-122"/>
                </a:rPr>
                <a:t>N</a:t>
              </a:r>
              <a:r>
                <a:rPr lang="en-US" altLang="zh-CN" sz="2000" dirty="0">
                  <a:ea typeface="幼圆" pitchFamily="49" charset="-122"/>
                </a:rPr>
                <a:t>=25</a:t>
              </a:r>
            </a:p>
          </p:txBody>
        </p:sp>
        <p:sp>
          <p:nvSpPr>
            <p:cNvPr id="91208" name="Text Box 140"/>
            <p:cNvSpPr txBox="1">
              <a:spLocks noChangeArrowheads="1"/>
            </p:cNvSpPr>
            <p:nvPr/>
          </p:nvSpPr>
          <p:spPr bwMode="auto">
            <a:xfrm rot="-2421536">
              <a:off x="3575" y="2094"/>
              <a:ext cx="4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i="1" dirty="0">
                  <a:ea typeface="幼圆" pitchFamily="49" charset="-122"/>
                </a:rPr>
                <a:t>N</a:t>
              </a:r>
              <a:r>
                <a:rPr lang="en-US" altLang="zh-CN" sz="2000" dirty="0">
                  <a:ea typeface="幼圆" pitchFamily="49" charset="-122"/>
                </a:rPr>
                <a:t>=18</a:t>
              </a:r>
            </a:p>
          </p:txBody>
        </p:sp>
      </p:grpSp>
      <p:sp>
        <p:nvSpPr>
          <p:cNvPr id="75"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细粒土</a:t>
            </a:r>
            <a:r>
              <a:rPr lang="zh-CN" altLang="en-US" sz="2000" b="1" kern="900" spc="-140" dirty="0">
                <a:solidFill>
                  <a:srgbClr val="C00000"/>
                </a:solidFill>
                <a:latin typeface="宋体" pitchFamily="2" charset="-122"/>
              </a:rPr>
              <a:t>的压实性</a:t>
            </a:r>
          </a:p>
        </p:txBody>
      </p:sp>
      <p:sp>
        <p:nvSpPr>
          <p:cNvPr id="73" name="Rectangle 90"/>
          <p:cNvSpPr>
            <a:spLocks noChangeArrowheads="1"/>
          </p:cNvSpPr>
          <p:nvPr/>
        </p:nvSpPr>
        <p:spPr bwMode="auto">
          <a:xfrm>
            <a:off x="458788" y="512584"/>
            <a:ext cx="3838095"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10000"/>
              </a:lnSpc>
              <a:spcBef>
                <a:spcPct val="0"/>
              </a:spcBef>
              <a:spcAft>
                <a:spcPct val="0"/>
              </a:spcAft>
              <a:buFont typeface="Wingdings" pitchFamily="2" charset="2"/>
              <a:buChar char="n"/>
            </a:pPr>
            <a:r>
              <a:rPr kumimoji="1" lang="zh-CN" altLang="en-US" sz="2800" b="1" dirty="0">
                <a:solidFill>
                  <a:srgbClr val="A50021"/>
                </a:solidFill>
                <a:latin typeface="幼圆" pitchFamily="49" charset="-122"/>
                <a:ea typeface="幼圆" pitchFamily="49" charset="-122"/>
              </a:rPr>
              <a:t> </a:t>
            </a:r>
            <a:r>
              <a:rPr kumimoji="1" lang="zh-CN" altLang="en-US" sz="2800" b="1" dirty="0" smtClean="0">
                <a:solidFill>
                  <a:srgbClr val="A50021"/>
                </a:solidFill>
                <a:latin typeface="幼圆" pitchFamily="49" charset="-122"/>
                <a:ea typeface="幼圆" pitchFamily="49" charset="-122"/>
              </a:rPr>
              <a:t>压实</a:t>
            </a:r>
            <a:r>
              <a:rPr kumimoji="1" lang="zh-CN" altLang="en-US" sz="2800" b="1" dirty="0">
                <a:solidFill>
                  <a:srgbClr val="A50021"/>
                </a:solidFill>
                <a:latin typeface="幼圆" pitchFamily="49" charset="-122"/>
                <a:ea typeface="幼圆" pitchFamily="49" charset="-122"/>
              </a:rPr>
              <a:t>功影响</a:t>
            </a:r>
            <a:endParaRPr kumimoji="1" lang="en-US" altLang="zh-CN" sz="2400" b="1" dirty="0">
              <a:solidFill>
                <a:srgbClr val="A50021"/>
              </a:solidFill>
              <a:latin typeface="幼圆" pitchFamily="49" charset="-122"/>
              <a:ea typeface="幼圆" pitchFamily="49" charset="-122"/>
            </a:endParaRPr>
          </a:p>
        </p:txBody>
      </p:sp>
      <p:sp>
        <p:nvSpPr>
          <p:cNvPr id="76" name="Text Box 90"/>
          <p:cNvSpPr txBox="1">
            <a:spLocks noChangeArrowheads="1"/>
          </p:cNvSpPr>
          <p:nvPr/>
        </p:nvSpPr>
        <p:spPr bwMode="auto">
          <a:xfrm>
            <a:off x="2676703" y="5709973"/>
            <a:ext cx="378661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细粒土的压实</a:t>
            </a:r>
            <a:r>
              <a:rPr kumimoji="1" lang="zh-CN" altLang="en-US" sz="4000" b="1" dirty="0" smtClean="0">
                <a:solidFill>
                  <a:srgbClr val="000066"/>
                </a:solidFill>
                <a:latin typeface="黑体" pitchFamily="2" charset="-122"/>
                <a:ea typeface="黑体" pitchFamily="2" charset="-122"/>
              </a:rPr>
              <a:t>性</a:t>
            </a:r>
            <a:endParaRPr kumimoji="1" lang="en-US" altLang="zh-CN" sz="4000"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1872480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36744"/>
                                        </p:tgtEl>
                                        <p:attrNameLst>
                                          <p:attrName>style.visibility</p:attrName>
                                        </p:attrNameLst>
                                      </p:cBhvr>
                                      <p:to>
                                        <p:strVal val="visible"/>
                                      </p:to>
                                    </p:set>
                                    <p:anim calcmode="lin" valueType="num">
                                      <p:cBhvr additive="base">
                                        <p:cTn id="7" dur="1000" fill="hold"/>
                                        <p:tgtEl>
                                          <p:spTgt spid="1436744"/>
                                        </p:tgtEl>
                                        <p:attrNameLst>
                                          <p:attrName>ppt_x</p:attrName>
                                        </p:attrNameLst>
                                      </p:cBhvr>
                                      <p:tavLst>
                                        <p:tav tm="0">
                                          <p:val>
                                            <p:strVal val="0-#ppt_w/2"/>
                                          </p:val>
                                        </p:tav>
                                        <p:tav tm="100000">
                                          <p:val>
                                            <p:strVal val="#ppt_x"/>
                                          </p:val>
                                        </p:tav>
                                      </p:tavLst>
                                    </p:anim>
                                    <p:anim calcmode="lin" valueType="num">
                                      <p:cBhvr additive="base">
                                        <p:cTn id="8" dur="1000" fill="hold"/>
                                        <p:tgtEl>
                                          <p:spTgt spid="143674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1+#ppt_w/2"/>
                                          </p:val>
                                        </p:tav>
                                        <p:tav tm="100000">
                                          <p:val>
                                            <p:strVal val="#ppt_x"/>
                                          </p:val>
                                        </p:tav>
                                      </p:tavLst>
                                    </p:anim>
                                    <p:anim calcmode="lin" valueType="num">
                                      <p:cBhvr additive="base">
                                        <p:cTn id="12"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6744"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5651" name="Object 3"/>
          <p:cNvGraphicFramePr>
            <a:graphicFrameLocks noChangeAspect="1"/>
          </p:cNvGraphicFramePr>
          <p:nvPr>
            <p:extLst>
              <p:ext uri="{D42A27DB-BD31-4B8C-83A1-F6EECF244321}">
                <p14:modId xmlns:p14="http://schemas.microsoft.com/office/powerpoint/2010/main" val="1774253644"/>
              </p:ext>
            </p:extLst>
          </p:nvPr>
        </p:nvGraphicFramePr>
        <p:xfrm>
          <a:off x="2970213" y="5054600"/>
          <a:ext cx="2951162" cy="585788"/>
        </p:xfrm>
        <a:graphic>
          <a:graphicData uri="http://schemas.openxmlformats.org/presentationml/2006/ole">
            <mc:AlternateContent xmlns:mc="http://schemas.openxmlformats.org/markup-compatibility/2006">
              <mc:Choice xmlns:v="urn:schemas-microsoft-com:vml" Requires="v">
                <p:oleObj spid="_x0000_s75881" name="公式" r:id="rId4" imgW="1218960" imgH="241200" progId="Equation.3">
                  <p:embed/>
                </p:oleObj>
              </mc:Choice>
              <mc:Fallback>
                <p:oleObj name="公式" r:id="rId4" imgW="1218960" imgH="241200" progId="Equation.3">
                  <p:embed/>
                  <p:pic>
                    <p:nvPicPr>
                      <p:cNvPr id="0" name=""/>
                      <p:cNvPicPr>
                        <a:picLocks noChangeAspect="1" noChangeArrowheads="1"/>
                      </p:cNvPicPr>
                      <p:nvPr/>
                    </p:nvPicPr>
                    <p:blipFill>
                      <a:blip r:embed="rId5"/>
                      <a:srcRect/>
                      <a:stretch>
                        <a:fillRect/>
                      </a:stretch>
                    </p:blipFill>
                    <p:spPr bwMode="auto">
                      <a:xfrm>
                        <a:off x="2970213" y="5054600"/>
                        <a:ext cx="2951162" cy="5857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6" name="Text Box 4"/>
          <p:cNvSpPr txBox="1">
            <a:spLocks noChangeArrowheads="1"/>
          </p:cNvSpPr>
          <p:nvPr/>
        </p:nvSpPr>
        <p:spPr bwMode="auto">
          <a:xfrm>
            <a:off x="2608952" y="5748427"/>
            <a:ext cx="4514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细粒土的压实标准</a:t>
            </a:r>
            <a:r>
              <a:rPr kumimoji="1" lang="en-US" altLang="zh-CN" sz="4000" dirty="0">
                <a:solidFill>
                  <a:srgbClr val="000066"/>
                </a:solidFill>
                <a:latin typeface="黑体" pitchFamily="2" charset="-122"/>
                <a:ea typeface="黑体" pitchFamily="2" charset="-122"/>
              </a:rPr>
              <a:t> </a:t>
            </a:r>
          </a:p>
        </p:txBody>
      </p:sp>
      <p:sp>
        <p:nvSpPr>
          <p:cNvPr id="1435653" name="Text Box 5"/>
          <p:cNvSpPr txBox="1">
            <a:spLocks noChangeArrowheads="1"/>
          </p:cNvSpPr>
          <p:nvPr/>
        </p:nvSpPr>
        <p:spPr bwMode="auto">
          <a:xfrm>
            <a:off x="906050" y="1165163"/>
            <a:ext cx="7900021" cy="3822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808038" indent="-350838"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buClr>
                <a:srgbClr val="C00000"/>
              </a:buClr>
              <a:buSzPct val="130000"/>
              <a:buFont typeface="Arial" panose="020B0604020202020204" pitchFamily="34" charset="0"/>
              <a:buChar char="•"/>
            </a:pPr>
            <a:r>
              <a:rPr lang="zh-CN" altLang="en-US" sz="2400" b="1" dirty="0" smtClean="0">
                <a:solidFill>
                  <a:srgbClr val="000066"/>
                </a:solidFill>
                <a:ea typeface="幼圆" pitchFamily="49" charset="-122"/>
              </a:rPr>
              <a:t>土</a:t>
            </a:r>
            <a:r>
              <a:rPr lang="zh-CN" altLang="en-US" sz="2400" b="1" dirty="0">
                <a:solidFill>
                  <a:srgbClr val="000066"/>
                </a:solidFill>
                <a:ea typeface="幼圆" pitchFamily="49" charset="-122"/>
              </a:rPr>
              <a:t>料含水量应控制</a:t>
            </a:r>
            <a:r>
              <a:rPr lang="zh-CN" altLang="en-US" sz="2400" b="1" dirty="0" smtClean="0">
                <a:solidFill>
                  <a:srgbClr val="000066"/>
                </a:solidFill>
                <a:ea typeface="幼圆" pitchFamily="49" charset="-122"/>
              </a:rPr>
              <a:t>在</a:t>
            </a:r>
            <a:r>
              <a:rPr lang="en-US" altLang="zh-CN" sz="2400" b="1" i="1" dirty="0" smtClean="0">
                <a:solidFill>
                  <a:srgbClr val="000066"/>
                </a:solidFill>
                <a:ea typeface="幼圆" pitchFamily="49" charset="-122"/>
              </a:rPr>
              <a:t>w</a:t>
            </a:r>
            <a:r>
              <a:rPr lang="en-US" altLang="zh-CN" sz="2400" b="1" baseline="-25000" dirty="0" smtClean="0">
                <a:solidFill>
                  <a:srgbClr val="000066"/>
                </a:solidFill>
                <a:ea typeface="幼圆" pitchFamily="49" charset="-122"/>
              </a:rPr>
              <a:t>op</a:t>
            </a:r>
            <a:r>
              <a:rPr lang="zh-CN" altLang="en-US" sz="2400" b="1" dirty="0">
                <a:solidFill>
                  <a:srgbClr val="000066"/>
                </a:solidFill>
                <a:ea typeface="幼圆" pitchFamily="49" charset="-122"/>
              </a:rPr>
              <a:t>左右，以期用较小的能量获得最好的</a:t>
            </a:r>
            <a:r>
              <a:rPr lang="zh-CN" altLang="en-US" sz="2400" b="1" dirty="0" smtClean="0">
                <a:solidFill>
                  <a:srgbClr val="000066"/>
                </a:solidFill>
                <a:ea typeface="幼圆" pitchFamily="49" charset="-122"/>
              </a:rPr>
              <a:t>密度</a:t>
            </a:r>
            <a:endParaRPr lang="en-US" altLang="zh-CN" sz="2400" b="1" dirty="0" smtClean="0">
              <a:solidFill>
                <a:srgbClr val="000066"/>
              </a:solidFill>
              <a:ea typeface="幼圆" pitchFamily="49" charset="-122"/>
            </a:endParaRPr>
          </a:p>
          <a:p>
            <a:pPr marL="342900" indent="-342900" eaLnBrk="1" hangingPunct="1">
              <a:buClr>
                <a:srgbClr val="C00000"/>
              </a:buClr>
              <a:buSzPct val="130000"/>
              <a:buFont typeface="Arial" panose="020B0604020202020204" pitchFamily="34" charset="0"/>
              <a:buChar char="•"/>
            </a:pPr>
            <a:r>
              <a:rPr lang="zh-CN" altLang="en-US" sz="2400" b="1" dirty="0" smtClean="0">
                <a:solidFill>
                  <a:srgbClr val="000066"/>
                </a:solidFill>
                <a:ea typeface="幼圆" pitchFamily="49" charset="-122"/>
              </a:rPr>
              <a:t>在</a:t>
            </a:r>
            <a:r>
              <a:rPr lang="en-US" altLang="zh-CN" sz="2400" b="1" i="1" dirty="0" smtClean="0">
                <a:solidFill>
                  <a:srgbClr val="000066"/>
                </a:solidFill>
                <a:ea typeface="幼圆" pitchFamily="49" charset="-122"/>
              </a:rPr>
              <a:t>w</a:t>
            </a:r>
            <a:r>
              <a:rPr lang="en-US" altLang="zh-CN" sz="2400" b="1" baseline="-25000" dirty="0" smtClean="0">
                <a:solidFill>
                  <a:srgbClr val="000066"/>
                </a:solidFill>
                <a:ea typeface="幼圆" pitchFamily="49" charset="-122"/>
              </a:rPr>
              <a:t>op</a:t>
            </a:r>
            <a:r>
              <a:rPr lang="zh-CN" altLang="en-US" sz="2400" b="1" dirty="0" smtClean="0">
                <a:solidFill>
                  <a:srgbClr val="000066"/>
                </a:solidFill>
                <a:ea typeface="幼圆" pitchFamily="49" charset="-122"/>
              </a:rPr>
              <a:t>干侧时，击实土常</a:t>
            </a:r>
            <a:r>
              <a:rPr lang="zh-CN" altLang="en-US" sz="2400" b="1" dirty="0">
                <a:solidFill>
                  <a:srgbClr val="000066"/>
                </a:solidFill>
                <a:ea typeface="幼圆" pitchFamily="49" charset="-122"/>
              </a:rPr>
              <a:t>具有</a:t>
            </a:r>
            <a:r>
              <a:rPr lang="zh-CN" altLang="en-US" sz="2400" b="1" dirty="0">
                <a:solidFill>
                  <a:srgbClr val="C00000"/>
                </a:solidFill>
                <a:ea typeface="幼圆" pitchFamily="49" charset="-122"/>
              </a:rPr>
              <a:t>凝聚结构</a:t>
            </a:r>
            <a:r>
              <a:rPr lang="zh-CN" altLang="en-US" sz="2400" b="1" dirty="0">
                <a:solidFill>
                  <a:srgbClr val="000066"/>
                </a:solidFill>
                <a:ea typeface="幼圆" pitchFamily="49" charset="-122"/>
              </a:rPr>
              <a:t>。土质比较均匀，强度较高，较脆硬，不易压密</a:t>
            </a:r>
            <a:r>
              <a:rPr lang="zh-CN" altLang="en-US" sz="2400" b="1" dirty="0" smtClean="0">
                <a:solidFill>
                  <a:srgbClr val="000066"/>
                </a:solidFill>
                <a:ea typeface="幼圆" pitchFamily="49" charset="-122"/>
              </a:rPr>
              <a:t>。浸水</a:t>
            </a:r>
            <a:r>
              <a:rPr lang="zh-CN" altLang="en-US" sz="2400" b="1" dirty="0">
                <a:solidFill>
                  <a:srgbClr val="000066"/>
                </a:solidFill>
                <a:ea typeface="幼圆" pitchFamily="49" charset="-122"/>
              </a:rPr>
              <a:t>时易产生附加</a:t>
            </a:r>
            <a:r>
              <a:rPr lang="zh-CN" altLang="en-US" sz="2400" b="1" dirty="0" smtClean="0">
                <a:solidFill>
                  <a:srgbClr val="000066"/>
                </a:solidFill>
                <a:ea typeface="幼圆" pitchFamily="49" charset="-122"/>
              </a:rPr>
              <a:t>沉降</a:t>
            </a:r>
            <a:endParaRPr lang="en-US" altLang="zh-CN" sz="2400" b="1" dirty="0" smtClean="0">
              <a:solidFill>
                <a:srgbClr val="000066"/>
              </a:solidFill>
              <a:ea typeface="幼圆" pitchFamily="49" charset="-122"/>
            </a:endParaRPr>
          </a:p>
          <a:p>
            <a:pPr marL="342900" indent="-342900" eaLnBrk="1" hangingPunct="1">
              <a:buClr>
                <a:srgbClr val="C00000"/>
              </a:buClr>
              <a:buSzPct val="130000"/>
              <a:buFont typeface="Arial" panose="020B0604020202020204" pitchFamily="34" charset="0"/>
              <a:buChar char="•"/>
            </a:pPr>
            <a:r>
              <a:rPr lang="zh-CN" altLang="en-US" sz="2400" b="1" dirty="0" smtClean="0">
                <a:solidFill>
                  <a:srgbClr val="000066"/>
                </a:solidFill>
                <a:ea typeface="幼圆" pitchFamily="49" charset="-122"/>
              </a:rPr>
              <a:t>在</a:t>
            </a:r>
            <a:r>
              <a:rPr lang="en-US" altLang="zh-CN" sz="2400" b="1" i="1" dirty="0" smtClean="0">
                <a:solidFill>
                  <a:srgbClr val="000066"/>
                </a:solidFill>
                <a:ea typeface="幼圆" pitchFamily="49" charset="-122"/>
              </a:rPr>
              <a:t>w</a:t>
            </a:r>
            <a:r>
              <a:rPr lang="en-US" altLang="zh-CN" sz="2400" b="1" baseline="-25000" dirty="0" smtClean="0">
                <a:solidFill>
                  <a:srgbClr val="000066"/>
                </a:solidFill>
                <a:ea typeface="幼圆" pitchFamily="49" charset="-122"/>
              </a:rPr>
              <a:t>op</a:t>
            </a:r>
            <a:r>
              <a:rPr lang="zh-CN" altLang="en-US" sz="2400" b="1" dirty="0" smtClean="0">
                <a:solidFill>
                  <a:srgbClr val="000066"/>
                </a:solidFill>
                <a:ea typeface="幼圆" pitchFamily="49" charset="-122"/>
              </a:rPr>
              <a:t>湿</a:t>
            </a:r>
            <a:r>
              <a:rPr lang="zh-CN" altLang="en-US" sz="2400" b="1" dirty="0">
                <a:solidFill>
                  <a:srgbClr val="000066"/>
                </a:solidFill>
                <a:ea typeface="幼圆" pitchFamily="49" charset="-122"/>
              </a:rPr>
              <a:t>侧：常具有</a:t>
            </a:r>
            <a:r>
              <a:rPr lang="zh-CN" altLang="en-US" sz="2400" b="1" dirty="0">
                <a:solidFill>
                  <a:srgbClr val="C00000"/>
                </a:solidFill>
                <a:ea typeface="幼圆" pitchFamily="49" charset="-122"/>
              </a:rPr>
              <a:t>分散结构</a:t>
            </a:r>
            <a:r>
              <a:rPr lang="zh-CN" altLang="en-US" sz="2400" b="1" dirty="0">
                <a:solidFill>
                  <a:srgbClr val="000066"/>
                </a:solidFill>
                <a:ea typeface="幼圆" pitchFamily="49" charset="-122"/>
              </a:rPr>
              <a:t>。土体可塑性大，适应变形的能力强</a:t>
            </a:r>
            <a:r>
              <a:rPr lang="zh-CN" altLang="en-US" sz="2400" b="1" dirty="0" smtClean="0">
                <a:solidFill>
                  <a:srgbClr val="000066"/>
                </a:solidFill>
                <a:ea typeface="幼圆" pitchFamily="49" charset="-122"/>
              </a:rPr>
              <a:t>。强度</a:t>
            </a:r>
            <a:r>
              <a:rPr lang="zh-CN" altLang="en-US" sz="2400" b="1" dirty="0">
                <a:solidFill>
                  <a:srgbClr val="000066"/>
                </a:solidFill>
                <a:ea typeface="幼圆" pitchFamily="49" charset="-122"/>
              </a:rPr>
              <a:t>较低，具有不等</a:t>
            </a:r>
            <a:r>
              <a:rPr lang="zh-CN" altLang="en-US" sz="2400" b="1" dirty="0" smtClean="0">
                <a:solidFill>
                  <a:srgbClr val="000066"/>
                </a:solidFill>
                <a:ea typeface="幼圆" pitchFamily="49" charset="-122"/>
              </a:rPr>
              <a:t>向性</a:t>
            </a:r>
            <a:endParaRPr lang="zh-CN" altLang="en-US" sz="2400" b="1" dirty="0">
              <a:solidFill>
                <a:srgbClr val="000066"/>
              </a:solidFill>
              <a:ea typeface="幼圆" pitchFamily="49" charset="-122"/>
            </a:endParaRPr>
          </a:p>
          <a:p>
            <a:pPr marL="342900" indent="-342900" eaLnBrk="1" hangingPunct="1">
              <a:buClr>
                <a:srgbClr val="C00000"/>
              </a:buClr>
              <a:buSzPct val="130000"/>
              <a:buFont typeface="Arial" panose="020B0604020202020204" pitchFamily="34" charset="0"/>
              <a:buChar char="•"/>
            </a:pPr>
            <a:r>
              <a:rPr lang="zh-CN" altLang="en-US" sz="2400" b="1" dirty="0" smtClean="0">
                <a:solidFill>
                  <a:srgbClr val="000066"/>
                </a:solidFill>
                <a:ea typeface="幼圆" pitchFamily="49" charset="-122"/>
              </a:rPr>
              <a:t>设计</a:t>
            </a:r>
            <a:r>
              <a:rPr lang="zh-CN" altLang="en-US" sz="2400" b="1" dirty="0">
                <a:solidFill>
                  <a:srgbClr val="000066"/>
                </a:solidFill>
                <a:ea typeface="幼圆" pitchFamily="49" charset="-122"/>
              </a:rPr>
              <a:t>土料</a:t>
            </a:r>
            <a:r>
              <a:rPr lang="zh-CN" altLang="en-US" sz="2400" b="1" dirty="0" smtClean="0">
                <a:solidFill>
                  <a:srgbClr val="000066"/>
                </a:solidFill>
                <a:ea typeface="幼圆" pitchFamily="49" charset="-122"/>
              </a:rPr>
              <a:t>时，应</a:t>
            </a:r>
            <a:r>
              <a:rPr lang="zh-CN" altLang="en-US" sz="2400" b="1" dirty="0">
                <a:solidFill>
                  <a:srgbClr val="000066"/>
                </a:solidFill>
                <a:ea typeface="幼圆" pitchFamily="49" charset="-122"/>
              </a:rPr>
              <a:t>根据填土的要求和当地土料的天然含水量，选定合适的含水量，一般要求为：</a:t>
            </a:r>
          </a:p>
        </p:txBody>
      </p:sp>
      <p:sp>
        <p:nvSpPr>
          <p:cNvPr id="1435654" name="AutoShape 6"/>
          <p:cNvSpPr>
            <a:spLocks noChangeArrowheads="1"/>
          </p:cNvSpPr>
          <p:nvPr/>
        </p:nvSpPr>
        <p:spPr bwMode="auto">
          <a:xfrm>
            <a:off x="2238375" y="5110584"/>
            <a:ext cx="601663" cy="425450"/>
          </a:xfrm>
          <a:prstGeom prst="homePlate">
            <a:avLst>
              <a:gd name="adj" fmla="val 35355"/>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9"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细粒土</a:t>
            </a:r>
            <a:r>
              <a:rPr lang="zh-CN" altLang="en-US" sz="2000" b="1" kern="900" spc="-140" dirty="0">
                <a:solidFill>
                  <a:srgbClr val="C00000"/>
                </a:solidFill>
                <a:latin typeface="宋体" pitchFamily="2" charset="-122"/>
              </a:rPr>
              <a:t>的压实性</a:t>
            </a:r>
          </a:p>
        </p:txBody>
      </p:sp>
      <p:sp>
        <p:nvSpPr>
          <p:cNvPr id="7" name="Rectangle 90"/>
          <p:cNvSpPr>
            <a:spLocks noChangeArrowheads="1"/>
          </p:cNvSpPr>
          <p:nvPr/>
        </p:nvSpPr>
        <p:spPr bwMode="auto">
          <a:xfrm>
            <a:off x="468727" y="592096"/>
            <a:ext cx="3838095"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10000"/>
              </a:lnSpc>
              <a:spcBef>
                <a:spcPct val="0"/>
              </a:spcBef>
              <a:spcAft>
                <a:spcPct val="0"/>
              </a:spcAft>
              <a:buFont typeface="Wingdings" pitchFamily="2" charset="2"/>
              <a:buChar char="n"/>
            </a:pPr>
            <a:r>
              <a:rPr kumimoji="1" lang="zh-CN" altLang="en-US" sz="2800" b="1" dirty="0">
                <a:solidFill>
                  <a:srgbClr val="A50021"/>
                </a:solidFill>
                <a:latin typeface="幼圆" pitchFamily="49" charset="-122"/>
                <a:ea typeface="幼圆" pitchFamily="49" charset="-122"/>
              </a:rPr>
              <a:t> </a:t>
            </a:r>
            <a:r>
              <a:rPr kumimoji="1" lang="zh-CN" altLang="en-US" sz="2800" b="1" dirty="0" smtClean="0">
                <a:solidFill>
                  <a:srgbClr val="A50021"/>
                </a:solidFill>
                <a:latin typeface="幼圆" pitchFamily="49" charset="-122"/>
                <a:ea typeface="幼圆" pitchFamily="49" charset="-122"/>
              </a:rPr>
              <a:t>填土的含水量选择</a:t>
            </a:r>
            <a:endParaRPr kumimoji="1" lang="en-US" altLang="zh-CN" sz="2400" b="1" dirty="0">
              <a:solidFill>
                <a:srgbClr val="A50021"/>
              </a:solidFill>
              <a:latin typeface="幼圆" pitchFamily="49" charset="-122"/>
              <a:ea typeface="幼圆" pitchFamily="49" charset="-122"/>
            </a:endParaRPr>
          </a:p>
        </p:txBody>
      </p:sp>
    </p:spTree>
    <p:extLst>
      <p:ext uri="{BB962C8B-B14F-4D97-AF65-F5344CB8AC3E}">
        <p14:creationId xmlns:p14="http://schemas.microsoft.com/office/powerpoint/2010/main" val="7590982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35653">
                                            <p:txEl>
                                              <p:pRg st="0" end="0"/>
                                            </p:txEl>
                                          </p:spTgt>
                                        </p:tgtEl>
                                        <p:attrNameLst>
                                          <p:attrName>style.visibility</p:attrName>
                                        </p:attrNameLst>
                                      </p:cBhvr>
                                      <p:to>
                                        <p:strVal val="visible"/>
                                      </p:to>
                                    </p:set>
                                    <p:animEffect transition="in" filter="wipe(up)">
                                      <p:cBhvr>
                                        <p:cTn id="7" dur="1000"/>
                                        <p:tgtEl>
                                          <p:spTgt spid="1435653">
                                            <p:txEl>
                                              <p:pRg st="0" end="0"/>
                                            </p:txEl>
                                          </p:spTgt>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435653">
                                            <p:txEl>
                                              <p:pRg st="1" end="1"/>
                                            </p:txEl>
                                          </p:spTgt>
                                        </p:tgtEl>
                                        <p:attrNameLst>
                                          <p:attrName>style.visibility</p:attrName>
                                        </p:attrNameLst>
                                      </p:cBhvr>
                                      <p:to>
                                        <p:strVal val="visible"/>
                                      </p:to>
                                    </p:set>
                                    <p:animEffect transition="in" filter="wipe(up)">
                                      <p:cBhvr>
                                        <p:cTn id="11" dur="1000"/>
                                        <p:tgtEl>
                                          <p:spTgt spid="1435653">
                                            <p:txEl>
                                              <p:pRg st="1" end="1"/>
                                            </p:txEl>
                                          </p:spTgt>
                                        </p:tgtEl>
                                      </p:cBhvr>
                                    </p:animEffect>
                                  </p:childTnLst>
                                </p:cTn>
                              </p:par>
                            </p:childTnLst>
                          </p:cTn>
                        </p:par>
                        <p:par>
                          <p:cTn id="12" fill="hold">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1435653">
                                            <p:txEl>
                                              <p:pRg st="2" end="2"/>
                                            </p:txEl>
                                          </p:spTgt>
                                        </p:tgtEl>
                                        <p:attrNameLst>
                                          <p:attrName>style.visibility</p:attrName>
                                        </p:attrNameLst>
                                      </p:cBhvr>
                                      <p:to>
                                        <p:strVal val="visible"/>
                                      </p:to>
                                    </p:set>
                                    <p:animEffect transition="in" filter="wipe(up)">
                                      <p:cBhvr>
                                        <p:cTn id="15" dur="1000"/>
                                        <p:tgtEl>
                                          <p:spTgt spid="143565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435653">
                                            <p:txEl>
                                              <p:pRg st="3" end="3"/>
                                            </p:txEl>
                                          </p:spTgt>
                                        </p:tgtEl>
                                        <p:attrNameLst>
                                          <p:attrName>style.visibility</p:attrName>
                                        </p:attrNameLst>
                                      </p:cBhvr>
                                      <p:to>
                                        <p:strVal val="visible"/>
                                      </p:to>
                                    </p:set>
                                    <p:animEffect transition="in" filter="wipe(up)">
                                      <p:cBhvr>
                                        <p:cTn id="20" dur="1000"/>
                                        <p:tgtEl>
                                          <p:spTgt spid="1435653">
                                            <p:txEl>
                                              <p:pRg st="3" end="3"/>
                                            </p:txEl>
                                          </p:spTgt>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1435654"/>
                                        </p:tgtEl>
                                        <p:attrNameLst>
                                          <p:attrName>style.visibility</p:attrName>
                                        </p:attrNameLst>
                                      </p:cBhvr>
                                      <p:to>
                                        <p:strVal val="visible"/>
                                      </p:to>
                                    </p:set>
                                    <p:animEffect transition="in" filter="wipe(left)">
                                      <p:cBhvr>
                                        <p:cTn id="24" dur="1000"/>
                                        <p:tgtEl>
                                          <p:spTgt spid="1435654"/>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1435651"/>
                                        </p:tgtEl>
                                        <p:attrNameLst>
                                          <p:attrName>style.visibility</p:attrName>
                                        </p:attrNameLst>
                                      </p:cBhvr>
                                      <p:to>
                                        <p:strVal val="visible"/>
                                      </p:to>
                                    </p:set>
                                    <p:animEffect transition="in" filter="wipe(left)">
                                      <p:cBhvr>
                                        <p:cTn id="28" dur="1000"/>
                                        <p:tgtEl>
                                          <p:spTgt spid="1435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653" grpId="0" build="p"/>
      <p:bldP spid="143565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4627" name="Object 3"/>
          <p:cNvGraphicFramePr>
            <a:graphicFrameLocks noChangeAspect="1"/>
          </p:cNvGraphicFramePr>
          <p:nvPr>
            <p:extLst>
              <p:ext uri="{D42A27DB-BD31-4B8C-83A1-F6EECF244321}">
                <p14:modId xmlns:p14="http://schemas.microsoft.com/office/powerpoint/2010/main" val="2451790241"/>
              </p:ext>
            </p:extLst>
          </p:nvPr>
        </p:nvGraphicFramePr>
        <p:xfrm>
          <a:off x="1592332" y="2970213"/>
          <a:ext cx="6259513" cy="1035050"/>
        </p:xfrm>
        <a:graphic>
          <a:graphicData uri="http://schemas.openxmlformats.org/presentationml/2006/ole">
            <mc:AlternateContent xmlns:mc="http://schemas.openxmlformats.org/markup-compatibility/2006">
              <mc:Choice xmlns:v="urn:schemas-microsoft-com:vml" Requires="v">
                <p:oleObj spid="_x0000_s76905" name="公式" r:id="rId4" imgW="2628720" imgH="444240" progId="Equation.3">
                  <p:embed/>
                </p:oleObj>
              </mc:Choice>
              <mc:Fallback>
                <p:oleObj name="公式" r:id="rId4" imgW="2628720" imgH="444240" progId="Equation.3">
                  <p:embed/>
                  <p:pic>
                    <p:nvPicPr>
                      <p:cNvPr id="0" name=""/>
                      <p:cNvPicPr>
                        <a:picLocks noChangeAspect="1" noChangeArrowheads="1"/>
                      </p:cNvPicPr>
                      <p:nvPr/>
                    </p:nvPicPr>
                    <p:blipFill>
                      <a:blip r:embed="rId5"/>
                      <a:srcRect/>
                      <a:stretch>
                        <a:fillRect/>
                      </a:stretch>
                    </p:blipFill>
                    <p:spPr bwMode="auto">
                      <a:xfrm>
                        <a:off x="1592332" y="2970213"/>
                        <a:ext cx="6259513" cy="10350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1" name="Text Box 5"/>
          <p:cNvSpPr txBox="1">
            <a:spLocks noChangeArrowheads="1"/>
          </p:cNvSpPr>
          <p:nvPr/>
        </p:nvSpPr>
        <p:spPr bwMode="auto">
          <a:xfrm>
            <a:off x="2936761" y="5614777"/>
            <a:ext cx="4514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细粒土的压实标准</a:t>
            </a:r>
            <a:r>
              <a:rPr kumimoji="1" lang="en-US" altLang="zh-CN" sz="4000" dirty="0">
                <a:solidFill>
                  <a:srgbClr val="000066"/>
                </a:solidFill>
                <a:latin typeface="黑体" pitchFamily="2" charset="-122"/>
                <a:ea typeface="黑体" pitchFamily="2" charset="-122"/>
              </a:rPr>
              <a:t> </a:t>
            </a:r>
          </a:p>
        </p:txBody>
      </p:sp>
      <p:sp>
        <p:nvSpPr>
          <p:cNvPr id="1434630" name="Text Box 6"/>
          <p:cNvSpPr txBox="1">
            <a:spLocks noChangeArrowheads="1"/>
          </p:cNvSpPr>
          <p:nvPr/>
        </p:nvSpPr>
        <p:spPr bwMode="auto">
          <a:xfrm>
            <a:off x="891209" y="1441657"/>
            <a:ext cx="6338888"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ct val="0"/>
              </a:spcBef>
              <a:spcAft>
                <a:spcPct val="0"/>
              </a:spcAft>
              <a:buClr>
                <a:srgbClr val="A50021"/>
              </a:buClr>
              <a:buSzPct val="130000"/>
              <a:buFont typeface="Wingdings" panose="05000000000000000000" pitchFamily="2" charset="2"/>
              <a:buChar char="F"/>
            </a:pPr>
            <a:r>
              <a:rPr kumimoji="1" lang="zh-CN" altLang="en-US" sz="2800" b="1" dirty="0">
                <a:solidFill>
                  <a:srgbClr val="000066"/>
                </a:solidFill>
                <a:ea typeface="幼圆" pitchFamily="49" charset="-122"/>
              </a:rPr>
              <a:t>工程上常采用</a:t>
            </a:r>
            <a:r>
              <a:rPr kumimoji="1" lang="zh-CN" altLang="en-US" sz="2800" b="1" dirty="0">
                <a:solidFill>
                  <a:srgbClr val="A50021"/>
                </a:solidFill>
                <a:ea typeface="幼圆" pitchFamily="49" charset="-122"/>
              </a:rPr>
              <a:t>压实度</a:t>
            </a:r>
            <a:r>
              <a:rPr kumimoji="1" lang="en-US" altLang="zh-CN" sz="2800" b="1" i="1" dirty="0">
                <a:solidFill>
                  <a:srgbClr val="A50021"/>
                </a:solidFill>
                <a:ea typeface="幼圆" pitchFamily="49" charset="-122"/>
              </a:rPr>
              <a:t>D</a:t>
            </a:r>
            <a:r>
              <a:rPr kumimoji="1" lang="en-US" altLang="zh-CN" sz="2800" b="1" baseline="-25000" dirty="0">
                <a:solidFill>
                  <a:srgbClr val="A50021"/>
                </a:solidFill>
                <a:ea typeface="幼圆" pitchFamily="49" charset="-122"/>
              </a:rPr>
              <a:t>c</a:t>
            </a:r>
            <a:r>
              <a:rPr kumimoji="1" lang="zh-CN" altLang="en-US" sz="2800" b="1" dirty="0">
                <a:solidFill>
                  <a:srgbClr val="000066"/>
                </a:solidFill>
                <a:ea typeface="幼圆" pitchFamily="49" charset="-122"/>
              </a:rPr>
              <a:t>，作为填方压实密度控制的标准：</a:t>
            </a:r>
          </a:p>
        </p:txBody>
      </p:sp>
      <p:sp>
        <p:nvSpPr>
          <p:cNvPr id="10"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细粒土</a:t>
            </a:r>
            <a:r>
              <a:rPr lang="zh-CN" altLang="en-US" sz="2000" b="1" kern="900" spc="-140" dirty="0">
                <a:solidFill>
                  <a:srgbClr val="C00000"/>
                </a:solidFill>
                <a:latin typeface="宋体" pitchFamily="2" charset="-122"/>
              </a:rPr>
              <a:t>的压实性</a:t>
            </a:r>
          </a:p>
        </p:txBody>
      </p:sp>
      <p:sp>
        <p:nvSpPr>
          <p:cNvPr id="9" name="Rectangle 90"/>
          <p:cNvSpPr>
            <a:spLocks noChangeArrowheads="1"/>
          </p:cNvSpPr>
          <p:nvPr/>
        </p:nvSpPr>
        <p:spPr bwMode="auto">
          <a:xfrm>
            <a:off x="468727" y="681547"/>
            <a:ext cx="3838095"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10000"/>
              </a:lnSpc>
              <a:spcBef>
                <a:spcPct val="0"/>
              </a:spcBef>
              <a:spcAft>
                <a:spcPct val="0"/>
              </a:spcAft>
              <a:buFont typeface="Wingdings" pitchFamily="2" charset="2"/>
              <a:buChar char="n"/>
            </a:pPr>
            <a:r>
              <a:rPr kumimoji="1" lang="zh-CN" altLang="en-US" sz="2800" b="1" dirty="0">
                <a:solidFill>
                  <a:srgbClr val="A50021"/>
                </a:solidFill>
                <a:latin typeface="幼圆" pitchFamily="49" charset="-122"/>
                <a:ea typeface="幼圆" pitchFamily="49" charset="-122"/>
              </a:rPr>
              <a:t> </a:t>
            </a:r>
            <a:r>
              <a:rPr kumimoji="1" lang="zh-CN" altLang="en-US" sz="2800" b="1" dirty="0" smtClean="0">
                <a:solidFill>
                  <a:srgbClr val="A50021"/>
                </a:solidFill>
                <a:latin typeface="幼圆" pitchFamily="49" charset="-122"/>
                <a:ea typeface="幼圆" pitchFamily="49" charset="-122"/>
              </a:rPr>
              <a:t>填土的碾压标准</a:t>
            </a:r>
            <a:endParaRPr kumimoji="1" lang="en-US" altLang="zh-CN" sz="2400" b="1" dirty="0">
              <a:solidFill>
                <a:srgbClr val="A50021"/>
              </a:solidFill>
              <a:latin typeface="幼圆" pitchFamily="49" charset="-122"/>
              <a:ea typeface="幼圆" pitchFamily="49" charset="-122"/>
            </a:endParaRPr>
          </a:p>
        </p:txBody>
      </p:sp>
    </p:spTree>
    <p:extLst>
      <p:ext uri="{BB962C8B-B14F-4D97-AF65-F5344CB8AC3E}">
        <p14:creationId xmlns:p14="http://schemas.microsoft.com/office/powerpoint/2010/main" val="18182901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34630"/>
                                        </p:tgtEl>
                                        <p:attrNameLst>
                                          <p:attrName>style.visibility</p:attrName>
                                        </p:attrNameLst>
                                      </p:cBhvr>
                                      <p:to>
                                        <p:strVal val="visible"/>
                                      </p:to>
                                    </p:set>
                                    <p:anim calcmode="lin" valueType="num">
                                      <p:cBhvr additive="base">
                                        <p:cTn id="7" dur="1000" fill="hold"/>
                                        <p:tgtEl>
                                          <p:spTgt spid="1434630"/>
                                        </p:tgtEl>
                                        <p:attrNameLst>
                                          <p:attrName>ppt_x</p:attrName>
                                        </p:attrNameLst>
                                      </p:cBhvr>
                                      <p:tavLst>
                                        <p:tav tm="0">
                                          <p:val>
                                            <p:strVal val="0-#ppt_w/2"/>
                                          </p:val>
                                        </p:tav>
                                        <p:tav tm="100000">
                                          <p:val>
                                            <p:strVal val="#ppt_x"/>
                                          </p:val>
                                        </p:tav>
                                      </p:tavLst>
                                    </p:anim>
                                    <p:anim calcmode="lin" valueType="num">
                                      <p:cBhvr additive="base">
                                        <p:cTn id="8" dur="1000" fill="hold"/>
                                        <p:tgtEl>
                                          <p:spTgt spid="143463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2" presetClass="entr" presetSubtype="8" fill="hold" nodeType="afterEffect">
                                  <p:stCondLst>
                                    <p:cond delay="1000"/>
                                  </p:stCondLst>
                                  <p:childTnLst>
                                    <p:set>
                                      <p:cBhvr>
                                        <p:cTn id="11" dur="1" fill="hold">
                                          <p:stCondLst>
                                            <p:cond delay="0"/>
                                          </p:stCondLst>
                                        </p:cTn>
                                        <p:tgtEl>
                                          <p:spTgt spid="1434627"/>
                                        </p:tgtEl>
                                        <p:attrNameLst>
                                          <p:attrName>style.visibility</p:attrName>
                                        </p:attrNameLst>
                                      </p:cBhvr>
                                      <p:to>
                                        <p:strVal val="visible"/>
                                      </p:to>
                                    </p:set>
                                    <p:anim calcmode="lin" valueType="num">
                                      <p:cBhvr additive="base">
                                        <p:cTn id="12" dur="1000" fill="hold"/>
                                        <p:tgtEl>
                                          <p:spTgt spid="1434627"/>
                                        </p:tgtEl>
                                        <p:attrNameLst>
                                          <p:attrName>ppt_x</p:attrName>
                                        </p:attrNameLst>
                                      </p:cBhvr>
                                      <p:tavLst>
                                        <p:tav tm="0">
                                          <p:val>
                                            <p:strVal val="0-#ppt_w/2"/>
                                          </p:val>
                                        </p:tav>
                                        <p:tav tm="100000">
                                          <p:val>
                                            <p:strVal val="#ppt_x"/>
                                          </p:val>
                                        </p:tav>
                                      </p:tavLst>
                                    </p:anim>
                                    <p:anim calcmode="lin" valueType="num">
                                      <p:cBhvr additive="base">
                                        <p:cTn id="13" dur="1000" fill="hold"/>
                                        <p:tgtEl>
                                          <p:spTgt spid="14346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630"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Text Box 8"/>
          <p:cNvSpPr txBox="1">
            <a:spLocks noChangeArrowheads="1"/>
          </p:cNvSpPr>
          <p:nvPr/>
        </p:nvSpPr>
        <p:spPr bwMode="auto">
          <a:xfrm>
            <a:off x="2970042" y="5662021"/>
            <a:ext cx="3978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None/>
            </a:pPr>
            <a:r>
              <a:rPr kumimoji="1" lang="zh-CN" altLang="en-US" sz="4000" b="1" dirty="0">
                <a:solidFill>
                  <a:srgbClr val="000066"/>
                </a:solidFill>
                <a:latin typeface="黑体" pitchFamily="2" charset="-122"/>
                <a:ea typeface="黑体" pitchFamily="2" charset="-122"/>
              </a:rPr>
              <a:t>粗粒土的压实性</a:t>
            </a:r>
            <a:r>
              <a:rPr kumimoji="1" lang="en-US" altLang="zh-CN" sz="4000" b="1" dirty="0">
                <a:solidFill>
                  <a:srgbClr val="000066"/>
                </a:solidFill>
                <a:latin typeface="黑体" pitchFamily="2" charset="-122"/>
                <a:ea typeface="黑体" pitchFamily="2" charset="-122"/>
              </a:rPr>
              <a:t>  </a:t>
            </a:r>
          </a:p>
        </p:txBody>
      </p:sp>
      <p:sp>
        <p:nvSpPr>
          <p:cNvPr id="1433609" name="Text Box 9"/>
          <p:cNvSpPr txBox="1">
            <a:spLocks noChangeArrowheads="1"/>
          </p:cNvSpPr>
          <p:nvPr/>
        </p:nvSpPr>
        <p:spPr bwMode="auto">
          <a:xfrm>
            <a:off x="368300" y="641982"/>
            <a:ext cx="2160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Clr>
                <a:srgbClr val="A50021"/>
              </a:buClr>
              <a:buFont typeface="Wingdings" pitchFamily="2" charset="2"/>
              <a:buChar char="n"/>
            </a:pPr>
            <a:r>
              <a:rPr kumimoji="1" lang="zh-CN" altLang="en-US" sz="2800" b="1" dirty="0">
                <a:solidFill>
                  <a:srgbClr val="000066"/>
                </a:solidFill>
                <a:latin typeface="幼圆" pitchFamily="49" charset="-122"/>
                <a:ea typeface="幼圆" pitchFamily="49" charset="-122"/>
              </a:rPr>
              <a:t> </a:t>
            </a:r>
            <a:r>
              <a:rPr kumimoji="1" lang="zh-CN" altLang="en-US" sz="2800" b="1" dirty="0">
                <a:solidFill>
                  <a:srgbClr val="C00000"/>
                </a:solidFill>
                <a:latin typeface="幼圆" pitchFamily="49" charset="-122"/>
                <a:ea typeface="幼圆" pitchFamily="49" charset="-122"/>
              </a:rPr>
              <a:t>击实曲线</a:t>
            </a:r>
          </a:p>
        </p:txBody>
      </p:sp>
      <p:sp>
        <p:nvSpPr>
          <p:cNvPr id="1433610" name="Rectangle 10"/>
          <p:cNvSpPr>
            <a:spLocks noChangeArrowheads="1"/>
          </p:cNvSpPr>
          <p:nvPr/>
        </p:nvSpPr>
        <p:spPr bwMode="auto">
          <a:xfrm>
            <a:off x="358776" y="4679148"/>
            <a:ext cx="5454196"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spcAft>
                <a:spcPct val="0"/>
              </a:spcAft>
              <a:buClr>
                <a:srgbClr val="A50021"/>
              </a:buClr>
              <a:buFont typeface="Wingdings" pitchFamily="2" charset="2"/>
              <a:buChar char="n"/>
            </a:pPr>
            <a:r>
              <a:rPr kumimoji="1" lang="zh-CN" altLang="en-US" sz="2800" b="1" dirty="0">
                <a:solidFill>
                  <a:srgbClr val="000066"/>
                </a:solidFill>
                <a:latin typeface="幼圆" pitchFamily="49" charset="-122"/>
                <a:ea typeface="幼圆" pitchFamily="49" charset="-122"/>
              </a:rPr>
              <a:t> </a:t>
            </a:r>
            <a:r>
              <a:rPr kumimoji="1" lang="zh-CN" altLang="en-US" sz="2800" b="1" dirty="0">
                <a:solidFill>
                  <a:srgbClr val="C00000"/>
                </a:solidFill>
                <a:latin typeface="幼圆" pitchFamily="49" charset="-122"/>
                <a:ea typeface="幼圆" pitchFamily="49" charset="-122"/>
              </a:rPr>
              <a:t>压实标准</a:t>
            </a:r>
            <a:r>
              <a:rPr kumimoji="1" lang="zh-CN" altLang="en-US" sz="2800" b="1" dirty="0">
                <a:solidFill>
                  <a:srgbClr val="000066"/>
                </a:solidFill>
                <a:latin typeface="幼圆" pitchFamily="49" charset="-122"/>
                <a:ea typeface="幼圆" pitchFamily="49" charset="-122"/>
              </a:rPr>
              <a:t>：</a:t>
            </a:r>
            <a:r>
              <a:rPr kumimoji="1" lang="zh-CN" altLang="en-US" sz="2400" b="1" dirty="0">
                <a:solidFill>
                  <a:srgbClr val="000066"/>
                </a:solidFill>
                <a:latin typeface="幼圆" pitchFamily="49" charset="-122"/>
                <a:ea typeface="幼圆" pitchFamily="49" charset="-122"/>
              </a:rPr>
              <a:t>常用</a:t>
            </a:r>
            <a:r>
              <a:rPr kumimoji="1" lang="zh-CN" altLang="en-US" sz="2400" b="1" dirty="0">
                <a:solidFill>
                  <a:srgbClr val="A50021"/>
                </a:solidFill>
                <a:latin typeface="幼圆" pitchFamily="49" charset="-122"/>
                <a:ea typeface="幼圆" pitchFamily="49" charset="-122"/>
              </a:rPr>
              <a:t>相对密度</a:t>
            </a:r>
            <a:r>
              <a:rPr kumimoji="1" lang="zh-CN" altLang="en-US" sz="2400" b="1" dirty="0" smtClean="0">
                <a:solidFill>
                  <a:srgbClr val="000066"/>
                </a:solidFill>
                <a:latin typeface="幼圆" pitchFamily="49" charset="-122"/>
                <a:ea typeface="幼圆" pitchFamily="49" charset="-122"/>
              </a:rPr>
              <a:t>控制</a:t>
            </a:r>
            <a:endParaRPr kumimoji="1" lang="zh-CN" altLang="en-US" sz="2400" b="1" dirty="0">
              <a:solidFill>
                <a:srgbClr val="000066"/>
              </a:solidFill>
              <a:ea typeface="幼圆" pitchFamily="49" charset="-122"/>
              <a:cs typeface="Times New Roman" panose="02020603050405020304" pitchFamily="18" charset="0"/>
            </a:endParaRPr>
          </a:p>
        </p:txBody>
      </p:sp>
      <p:sp>
        <p:nvSpPr>
          <p:cNvPr id="1433611" name="Text Box 11"/>
          <p:cNvSpPr txBox="1">
            <a:spLocks noChangeArrowheads="1"/>
          </p:cNvSpPr>
          <p:nvPr/>
        </p:nvSpPr>
        <p:spPr bwMode="auto">
          <a:xfrm>
            <a:off x="512763" y="1234119"/>
            <a:ext cx="4851400"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4638" indent="-2746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5000"/>
              </a:lnSpc>
              <a:spcBef>
                <a:spcPct val="10000"/>
              </a:spcBef>
              <a:spcAft>
                <a:spcPct val="10000"/>
              </a:spcAft>
              <a:buClr>
                <a:srgbClr val="A50021"/>
              </a:buClr>
              <a:buSzPct val="120000"/>
              <a:buFontTx/>
              <a:buChar char="•"/>
            </a:pPr>
            <a:r>
              <a:rPr kumimoji="1" lang="zh-CN" altLang="en-US" sz="2400" b="1" dirty="0">
                <a:solidFill>
                  <a:srgbClr val="000066"/>
                </a:solidFill>
                <a:ea typeface="幼圆" pitchFamily="49" charset="-122"/>
              </a:rPr>
              <a:t>不存在最优含水量，在完全风干或饱和状态下易于击实。在潮湿状态下，存在假凝聚力，加大了阻力</a:t>
            </a:r>
          </a:p>
          <a:p>
            <a:pPr eaLnBrk="1" hangingPunct="1">
              <a:lnSpc>
                <a:spcPct val="105000"/>
              </a:lnSpc>
              <a:spcBef>
                <a:spcPct val="10000"/>
              </a:spcBef>
              <a:spcAft>
                <a:spcPct val="10000"/>
              </a:spcAft>
              <a:buClr>
                <a:srgbClr val="A50021"/>
              </a:buClr>
              <a:buSzPct val="120000"/>
              <a:buFontTx/>
              <a:buChar char="•"/>
            </a:pPr>
            <a:r>
              <a:rPr kumimoji="1" lang="zh-CN" altLang="en-US" sz="2400" b="1" dirty="0">
                <a:solidFill>
                  <a:srgbClr val="000066"/>
                </a:solidFill>
                <a:ea typeface="幼圆" pitchFamily="49" charset="-122"/>
              </a:rPr>
              <a:t>同细粒土不同，粗粒土在击实过程中可以自由排水</a:t>
            </a:r>
          </a:p>
          <a:p>
            <a:pPr eaLnBrk="1" hangingPunct="1">
              <a:lnSpc>
                <a:spcPct val="105000"/>
              </a:lnSpc>
              <a:spcBef>
                <a:spcPct val="10000"/>
              </a:spcBef>
              <a:spcAft>
                <a:spcPct val="10000"/>
              </a:spcAft>
              <a:buClr>
                <a:srgbClr val="A50021"/>
              </a:buClr>
              <a:buSzPct val="120000"/>
              <a:buFontTx/>
              <a:buChar char="•"/>
            </a:pPr>
            <a:r>
              <a:rPr kumimoji="1" lang="zh-CN" altLang="en-US" sz="2400" b="1" dirty="0">
                <a:solidFill>
                  <a:srgbClr val="000066"/>
                </a:solidFill>
                <a:ea typeface="幼圆" pitchFamily="49" charset="-122"/>
              </a:rPr>
              <a:t>粗砂</a:t>
            </a:r>
            <a:r>
              <a:rPr kumimoji="1" lang="en-US" altLang="zh-CN" sz="2400" b="1" i="1" dirty="0">
                <a:solidFill>
                  <a:srgbClr val="000066"/>
                </a:solidFill>
                <a:ea typeface="幼圆" pitchFamily="49" charset="-122"/>
              </a:rPr>
              <a:t>w</a:t>
            </a:r>
            <a:r>
              <a:rPr kumimoji="1" lang="en-US" altLang="zh-CN" sz="2400" b="1" dirty="0">
                <a:solidFill>
                  <a:srgbClr val="000066"/>
                </a:solidFill>
                <a:ea typeface="幼圆" pitchFamily="49" charset="-122"/>
              </a:rPr>
              <a:t>=4~5%</a:t>
            </a:r>
            <a:r>
              <a:rPr kumimoji="1" lang="zh-CN" altLang="en-US" sz="2400" b="1" dirty="0">
                <a:solidFill>
                  <a:srgbClr val="000066"/>
                </a:solidFill>
                <a:ea typeface="幼圆" pitchFamily="49" charset="-122"/>
              </a:rPr>
              <a:t>，中砂</a:t>
            </a:r>
            <a:r>
              <a:rPr kumimoji="1" lang="en-US" altLang="zh-CN" sz="2400" b="1" i="1" dirty="0">
                <a:solidFill>
                  <a:srgbClr val="000066"/>
                </a:solidFill>
                <a:ea typeface="幼圆" pitchFamily="49" charset="-122"/>
              </a:rPr>
              <a:t>w</a:t>
            </a:r>
            <a:r>
              <a:rPr kumimoji="1" lang="en-US" altLang="zh-CN" sz="2400" b="1" dirty="0">
                <a:solidFill>
                  <a:srgbClr val="000066"/>
                </a:solidFill>
                <a:ea typeface="幼圆" pitchFamily="49" charset="-122"/>
              </a:rPr>
              <a:t>=7%</a:t>
            </a:r>
            <a:r>
              <a:rPr kumimoji="1" lang="zh-CN" altLang="en-US" sz="2400" b="1" dirty="0">
                <a:solidFill>
                  <a:srgbClr val="000066"/>
                </a:solidFill>
                <a:ea typeface="幼圆" pitchFamily="49" charset="-122"/>
              </a:rPr>
              <a:t>时，干密度最小</a:t>
            </a:r>
            <a:r>
              <a:rPr kumimoji="1" lang="en-US" altLang="zh-CN" sz="2400" dirty="0">
                <a:solidFill>
                  <a:srgbClr val="000066"/>
                </a:solidFill>
                <a:ea typeface="幼圆" pitchFamily="49" charset="-122"/>
              </a:rPr>
              <a:t> </a:t>
            </a:r>
            <a:r>
              <a:rPr kumimoji="1" lang="zh-CN" altLang="en-US" sz="2400" b="1" dirty="0">
                <a:solidFill>
                  <a:srgbClr val="000066"/>
                </a:solidFill>
                <a:ea typeface="幼圆" pitchFamily="49" charset="-122"/>
              </a:rPr>
              <a:t>，</a:t>
            </a:r>
            <a:r>
              <a:rPr kumimoji="1" lang="zh-CN" altLang="en-US" sz="2400" dirty="0">
                <a:solidFill>
                  <a:srgbClr val="000066"/>
                </a:solidFill>
                <a:ea typeface="幼圆" pitchFamily="49" charset="-122"/>
              </a:rPr>
              <a:t> </a:t>
            </a:r>
          </a:p>
        </p:txBody>
      </p:sp>
      <p:grpSp>
        <p:nvGrpSpPr>
          <p:cNvPr id="2" name="Group 12"/>
          <p:cNvGrpSpPr>
            <a:grpSpLocks/>
          </p:cNvGrpSpPr>
          <p:nvPr/>
        </p:nvGrpSpPr>
        <p:grpSpPr bwMode="auto">
          <a:xfrm>
            <a:off x="5564188" y="1341438"/>
            <a:ext cx="3436938" cy="2743200"/>
            <a:chOff x="3505" y="865"/>
            <a:chExt cx="2165" cy="1728"/>
          </a:xfrm>
        </p:grpSpPr>
        <p:grpSp>
          <p:nvGrpSpPr>
            <p:cNvPr id="92168" name="Group 13"/>
            <p:cNvGrpSpPr>
              <a:grpSpLocks/>
            </p:cNvGrpSpPr>
            <p:nvPr/>
          </p:nvGrpSpPr>
          <p:grpSpPr bwMode="auto">
            <a:xfrm>
              <a:off x="3505" y="865"/>
              <a:ext cx="2165" cy="1728"/>
              <a:chOff x="3505" y="865"/>
              <a:chExt cx="2165" cy="1728"/>
            </a:xfrm>
          </p:grpSpPr>
          <p:sp>
            <p:nvSpPr>
              <p:cNvPr id="92173" name="Freeform 14"/>
              <p:cNvSpPr>
                <a:spLocks/>
              </p:cNvSpPr>
              <p:nvPr/>
            </p:nvSpPr>
            <p:spPr bwMode="auto">
              <a:xfrm>
                <a:off x="3942" y="1157"/>
                <a:ext cx="1593" cy="383"/>
              </a:xfrm>
              <a:custGeom>
                <a:avLst/>
                <a:gdLst>
                  <a:gd name="T0" fmla="*/ 0 w 1296"/>
                  <a:gd name="T1" fmla="*/ 0 h 336"/>
                  <a:gd name="T2" fmla="*/ 178 w 1296"/>
                  <a:gd name="T3" fmla="*/ 356 h 336"/>
                  <a:gd name="T4" fmla="*/ 535 w 1296"/>
                  <a:gd name="T5" fmla="*/ 498 h 336"/>
                  <a:gd name="T6" fmla="*/ 1248 w 1296"/>
                  <a:gd name="T7" fmla="*/ 356 h 336"/>
                  <a:gd name="T8" fmla="*/ 2407 w 1296"/>
                  <a:gd name="T9" fmla="*/ 0 h 336"/>
                  <a:gd name="T10" fmla="*/ 0 60000 65536"/>
                  <a:gd name="T11" fmla="*/ 0 60000 65536"/>
                  <a:gd name="T12" fmla="*/ 0 60000 65536"/>
                  <a:gd name="T13" fmla="*/ 0 60000 65536"/>
                  <a:gd name="T14" fmla="*/ 0 60000 65536"/>
                  <a:gd name="T15" fmla="*/ 0 w 1296"/>
                  <a:gd name="T16" fmla="*/ 0 h 336"/>
                  <a:gd name="T17" fmla="*/ 1296 w 1296"/>
                  <a:gd name="T18" fmla="*/ 336 h 336"/>
                </a:gdLst>
                <a:ahLst/>
                <a:cxnLst>
                  <a:cxn ang="T10">
                    <a:pos x="T0" y="T1"/>
                  </a:cxn>
                  <a:cxn ang="T11">
                    <a:pos x="T2" y="T3"/>
                  </a:cxn>
                  <a:cxn ang="T12">
                    <a:pos x="T4" y="T5"/>
                  </a:cxn>
                  <a:cxn ang="T13">
                    <a:pos x="T6" y="T7"/>
                  </a:cxn>
                  <a:cxn ang="T14">
                    <a:pos x="T8" y="T9"/>
                  </a:cxn>
                </a:cxnLst>
                <a:rect l="T15" t="T16" r="T17" b="T18"/>
                <a:pathLst>
                  <a:path w="1296" h="336">
                    <a:moveTo>
                      <a:pt x="0" y="0"/>
                    </a:moveTo>
                    <a:cubicBezTo>
                      <a:pt x="24" y="92"/>
                      <a:pt x="48" y="184"/>
                      <a:pt x="96" y="240"/>
                    </a:cubicBezTo>
                    <a:cubicBezTo>
                      <a:pt x="144" y="296"/>
                      <a:pt x="192" y="336"/>
                      <a:pt x="288" y="336"/>
                    </a:cubicBezTo>
                    <a:cubicBezTo>
                      <a:pt x="384" y="336"/>
                      <a:pt x="504" y="296"/>
                      <a:pt x="672" y="240"/>
                    </a:cubicBezTo>
                    <a:cubicBezTo>
                      <a:pt x="840" y="184"/>
                      <a:pt x="1068" y="92"/>
                      <a:pt x="1296" y="0"/>
                    </a:cubicBezTo>
                  </a:path>
                </a:pathLst>
              </a:cu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2174" name="Freeform 15"/>
              <p:cNvSpPr>
                <a:spLocks/>
              </p:cNvSpPr>
              <p:nvPr/>
            </p:nvSpPr>
            <p:spPr bwMode="auto">
              <a:xfrm>
                <a:off x="3889" y="1327"/>
                <a:ext cx="1652" cy="532"/>
              </a:xfrm>
              <a:custGeom>
                <a:avLst/>
                <a:gdLst>
                  <a:gd name="T0" fmla="*/ 0 w 1344"/>
                  <a:gd name="T1" fmla="*/ 0 h 400"/>
                  <a:gd name="T2" fmla="*/ 268 w 1344"/>
                  <a:gd name="T3" fmla="*/ 564 h 400"/>
                  <a:gd name="T4" fmla="*/ 713 w 1344"/>
                  <a:gd name="T5" fmla="*/ 904 h 400"/>
                  <a:gd name="T6" fmla="*/ 1337 w 1344"/>
                  <a:gd name="T7" fmla="*/ 791 h 400"/>
                  <a:gd name="T8" fmla="*/ 2228 w 1344"/>
                  <a:gd name="T9" fmla="*/ 339 h 400"/>
                  <a:gd name="T10" fmla="*/ 2496 w 1344"/>
                  <a:gd name="T11" fmla="*/ 226 h 400"/>
                  <a:gd name="T12" fmla="*/ 0 60000 65536"/>
                  <a:gd name="T13" fmla="*/ 0 60000 65536"/>
                  <a:gd name="T14" fmla="*/ 0 60000 65536"/>
                  <a:gd name="T15" fmla="*/ 0 60000 65536"/>
                  <a:gd name="T16" fmla="*/ 0 60000 65536"/>
                  <a:gd name="T17" fmla="*/ 0 60000 65536"/>
                  <a:gd name="T18" fmla="*/ 0 w 1344"/>
                  <a:gd name="T19" fmla="*/ 0 h 400"/>
                  <a:gd name="T20" fmla="*/ 1344 w 1344"/>
                  <a:gd name="T21" fmla="*/ 400 h 400"/>
                </a:gdLst>
                <a:ahLst/>
                <a:cxnLst>
                  <a:cxn ang="T12">
                    <a:pos x="T0" y="T1"/>
                  </a:cxn>
                  <a:cxn ang="T13">
                    <a:pos x="T2" y="T3"/>
                  </a:cxn>
                  <a:cxn ang="T14">
                    <a:pos x="T4" y="T5"/>
                  </a:cxn>
                  <a:cxn ang="T15">
                    <a:pos x="T6" y="T7"/>
                  </a:cxn>
                  <a:cxn ang="T16">
                    <a:pos x="T8" y="T9"/>
                  </a:cxn>
                  <a:cxn ang="T17">
                    <a:pos x="T10" y="T11"/>
                  </a:cxn>
                </a:cxnLst>
                <a:rect l="T18" t="T19" r="T20" b="T21"/>
                <a:pathLst>
                  <a:path w="1344" h="400">
                    <a:moveTo>
                      <a:pt x="0" y="0"/>
                    </a:moveTo>
                    <a:cubicBezTo>
                      <a:pt x="40" y="88"/>
                      <a:pt x="80" y="176"/>
                      <a:pt x="144" y="240"/>
                    </a:cubicBezTo>
                    <a:cubicBezTo>
                      <a:pt x="208" y="304"/>
                      <a:pt x="288" y="368"/>
                      <a:pt x="384" y="384"/>
                    </a:cubicBezTo>
                    <a:cubicBezTo>
                      <a:pt x="480" y="400"/>
                      <a:pt x="584" y="376"/>
                      <a:pt x="720" y="336"/>
                    </a:cubicBezTo>
                    <a:cubicBezTo>
                      <a:pt x="856" y="296"/>
                      <a:pt x="1096" y="184"/>
                      <a:pt x="1200" y="144"/>
                    </a:cubicBezTo>
                    <a:cubicBezTo>
                      <a:pt x="1304" y="104"/>
                      <a:pt x="1324" y="100"/>
                      <a:pt x="1344" y="96"/>
                    </a:cubicBezTo>
                  </a:path>
                </a:pathLst>
              </a:custGeom>
              <a:noFill/>
              <a:ln w="28575">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2175" name="Freeform 16"/>
              <p:cNvSpPr>
                <a:spLocks/>
              </p:cNvSpPr>
              <p:nvPr/>
            </p:nvSpPr>
            <p:spPr bwMode="auto">
              <a:xfrm>
                <a:off x="3893" y="865"/>
                <a:ext cx="1777" cy="1417"/>
              </a:xfrm>
              <a:custGeom>
                <a:avLst/>
                <a:gdLst>
                  <a:gd name="T0" fmla="*/ 0 w 1632"/>
                  <a:gd name="T1" fmla="*/ 0 h 1066"/>
                  <a:gd name="T2" fmla="*/ 0 w 1632"/>
                  <a:gd name="T3" fmla="*/ 2504 h 1066"/>
                  <a:gd name="T4" fmla="*/ 2107 w 1632"/>
                  <a:gd name="T5" fmla="*/ 2504 h 1066"/>
                  <a:gd name="T6" fmla="*/ 0 60000 65536"/>
                  <a:gd name="T7" fmla="*/ 0 60000 65536"/>
                  <a:gd name="T8" fmla="*/ 0 60000 65536"/>
                  <a:gd name="T9" fmla="*/ 0 w 1632"/>
                  <a:gd name="T10" fmla="*/ 0 h 1066"/>
                  <a:gd name="T11" fmla="*/ 1632 w 1632"/>
                  <a:gd name="T12" fmla="*/ 1066 h 1066"/>
                </a:gdLst>
                <a:ahLst/>
                <a:cxnLst>
                  <a:cxn ang="T6">
                    <a:pos x="T0" y="T1"/>
                  </a:cxn>
                  <a:cxn ang="T7">
                    <a:pos x="T2" y="T3"/>
                  </a:cxn>
                  <a:cxn ang="T8">
                    <a:pos x="T4" y="T5"/>
                  </a:cxn>
                </a:cxnLst>
                <a:rect l="T9" t="T10" r="T11" b="T12"/>
                <a:pathLst>
                  <a:path w="1632" h="1066">
                    <a:moveTo>
                      <a:pt x="0" y="0"/>
                    </a:moveTo>
                    <a:lnTo>
                      <a:pt x="0" y="1066"/>
                    </a:lnTo>
                    <a:lnTo>
                      <a:pt x="1632" y="1066"/>
                    </a:lnTo>
                  </a:path>
                </a:pathLst>
              </a:custGeom>
              <a:noFill/>
              <a:ln w="28575">
                <a:solidFill>
                  <a:srgbClr val="000066"/>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76" name="Text Box 17"/>
              <p:cNvSpPr txBox="1">
                <a:spLocks noChangeArrowheads="1"/>
              </p:cNvSpPr>
              <p:nvPr/>
            </p:nvSpPr>
            <p:spPr bwMode="auto">
              <a:xfrm>
                <a:off x="4814" y="2324"/>
                <a:ext cx="77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200" b="1" dirty="0">
                    <a:solidFill>
                      <a:srgbClr val="000066"/>
                    </a:solidFill>
                    <a:ea typeface="幼圆" pitchFamily="49" charset="-122"/>
                  </a:rPr>
                  <a:t>含水量</a:t>
                </a:r>
                <a:r>
                  <a:rPr lang="en-US" altLang="zh-CN" sz="2200" b="1" i="1" dirty="0">
                    <a:solidFill>
                      <a:srgbClr val="000066"/>
                    </a:solidFill>
                    <a:ea typeface="幼圆" pitchFamily="49" charset="-122"/>
                  </a:rPr>
                  <a:t>w</a:t>
                </a:r>
                <a:endParaRPr lang="en-US" altLang="zh-CN" sz="2200" b="1" i="1" dirty="0">
                  <a:solidFill>
                    <a:srgbClr val="000066"/>
                  </a:solidFill>
                  <a:ea typeface="幼圆" pitchFamily="49" charset="-122"/>
                  <a:sym typeface="Symbol" pitchFamily="18" charset="2"/>
                </a:endParaRPr>
              </a:p>
            </p:txBody>
          </p:sp>
          <p:sp>
            <p:nvSpPr>
              <p:cNvPr id="92177" name="Text Box 18"/>
              <p:cNvSpPr txBox="1">
                <a:spLocks noChangeArrowheads="1"/>
              </p:cNvSpPr>
              <p:nvPr/>
            </p:nvSpPr>
            <p:spPr bwMode="auto">
              <a:xfrm rot="16200000">
                <a:off x="3243" y="1432"/>
                <a:ext cx="79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200" b="1" dirty="0">
                    <a:solidFill>
                      <a:srgbClr val="000066"/>
                    </a:solidFill>
                    <a:ea typeface="幼圆" pitchFamily="49" charset="-122"/>
                  </a:rPr>
                  <a:t>干密度 </a:t>
                </a:r>
                <a:r>
                  <a:rPr lang="zh-CN" altLang="en-US" sz="2200" b="1" i="1" dirty="0">
                    <a:solidFill>
                      <a:srgbClr val="000066"/>
                    </a:solidFill>
                    <a:ea typeface="幼圆" pitchFamily="49" charset="-122"/>
                    <a:cs typeface="Times New Roman" panose="02020603050405020304" pitchFamily="18" charset="0"/>
                    <a:sym typeface="Symbol" pitchFamily="18" charset="2"/>
                  </a:rPr>
                  <a:t></a:t>
                </a:r>
              </a:p>
            </p:txBody>
          </p:sp>
        </p:grpSp>
        <p:sp>
          <p:nvSpPr>
            <p:cNvPr id="92169" name="Text Box 19"/>
            <p:cNvSpPr txBox="1">
              <a:spLocks noChangeArrowheads="1"/>
            </p:cNvSpPr>
            <p:nvPr/>
          </p:nvSpPr>
          <p:spPr bwMode="auto">
            <a:xfrm>
              <a:off x="4570" y="919"/>
              <a:ext cx="47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200" b="1" dirty="0">
                  <a:solidFill>
                    <a:srgbClr val="000066"/>
                  </a:solidFill>
                  <a:ea typeface="幼圆" pitchFamily="49" charset="-122"/>
                </a:rPr>
                <a:t>粗砂</a:t>
              </a:r>
              <a:endParaRPr lang="en-US" altLang="zh-CN" sz="2200" b="1" dirty="0">
                <a:solidFill>
                  <a:srgbClr val="000066"/>
                </a:solidFill>
                <a:ea typeface="幼圆" pitchFamily="49" charset="-122"/>
              </a:endParaRPr>
            </a:p>
          </p:txBody>
        </p:sp>
        <p:sp>
          <p:nvSpPr>
            <p:cNvPr id="92170" name="Text Box 20"/>
            <p:cNvSpPr txBox="1">
              <a:spLocks noChangeArrowheads="1"/>
            </p:cNvSpPr>
            <p:nvPr/>
          </p:nvSpPr>
          <p:spPr bwMode="auto">
            <a:xfrm>
              <a:off x="5118" y="1697"/>
              <a:ext cx="47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200" b="1">
                  <a:solidFill>
                    <a:srgbClr val="A50021"/>
                  </a:solidFill>
                  <a:ea typeface="幼圆" pitchFamily="49" charset="-122"/>
                </a:rPr>
                <a:t>中砂</a:t>
              </a:r>
            </a:p>
          </p:txBody>
        </p:sp>
        <p:sp>
          <p:nvSpPr>
            <p:cNvPr id="92171" name="Line 21"/>
            <p:cNvSpPr>
              <a:spLocks noChangeShapeType="1"/>
            </p:cNvSpPr>
            <p:nvPr/>
          </p:nvSpPr>
          <p:spPr bwMode="auto">
            <a:xfrm flipH="1" flipV="1">
              <a:off x="5060" y="1079"/>
              <a:ext cx="192" cy="147"/>
            </a:xfrm>
            <a:prstGeom prst="line">
              <a:avLst/>
            </a:prstGeom>
            <a:noFill/>
            <a:ln w="952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2" name="Line 22"/>
            <p:cNvSpPr>
              <a:spLocks noChangeShapeType="1"/>
            </p:cNvSpPr>
            <p:nvPr/>
          </p:nvSpPr>
          <p:spPr bwMode="auto">
            <a:xfrm>
              <a:off x="4993" y="1753"/>
              <a:ext cx="154" cy="136"/>
            </a:xfrm>
            <a:prstGeom prst="line">
              <a:avLst/>
            </a:prstGeom>
            <a:noFill/>
            <a:ln w="9525">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 name="Text Box 7"/>
          <p:cNvSpPr txBox="1">
            <a:spLocks noChangeArrowheads="1"/>
          </p:cNvSpPr>
          <p:nvPr/>
        </p:nvSpPr>
        <p:spPr bwMode="auto">
          <a:xfrm>
            <a:off x="1" y="0"/>
            <a:ext cx="47767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压实性 </a:t>
            </a:r>
            <a:r>
              <a:rPr lang="en-US" altLang="zh-CN" sz="2000" b="1" kern="900" spc="-140" dirty="0" smtClean="0">
                <a:solidFill>
                  <a:srgbClr val="C00000"/>
                </a:solidFill>
                <a:latin typeface="宋体" pitchFamily="2" charset="-122"/>
              </a:rPr>
              <a:t>– </a:t>
            </a:r>
            <a:r>
              <a:rPr lang="zh-CN" altLang="en-US" sz="2000" b="1" kern="900" spc="-140" dirty="0">
                <a:solidFill>
                  <a:srgbClr val="C00000"/>
                </a:solidFill>
                <a:latin typeface="宋体" pitchFamily="2" charset="-122"/>
              </a:rPr>
              <a:t>粗</a:t>
            </a:r>
            <a:r>
              <a:rPr lang="zh-CN" altLang="en-US" sz="2000" b="1" kern="900" spc="-140" dirty="0" smtClean="0">
                <a:solidFill>
                  <a:srgbClr val="C00000"/>
                </a:solidFill>
                <a:latin typeface="宋体" pitchFamily="2" charset="-122"/>
              </a:rPr>
              <a:t>粒土</a:t>
            </a:r>
            <a:r>
              <a:rPr lang="zh-CN" altLang="en-US" sz="2000" b="1" kern="900" spc="-140" dirty="0">
                <a:solidFill>
                  <a:srgbClr val="C00000"/>
                </a:solidFill>
                <a:latin typeface="宋体" pitchFamily="2" charset="-122"/>
              </a:rPr>
              <a:t>的压实性</a:t>
            </a:r>
          </a:p>
        </p:txBody>
      </p:sp>
    </p:spTree>
    <p:extLst>
      <p:ext uri="{BB962C8B-B14F-4D97-AF65-F5344CB8AC3E}">
        <p14:creationId xmlns:p14="http://schemas.microsoft.com/office/powerpoint/2010/main" val="36398057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3609"/>
                                        </p:tgtEl>
                                        <p:attrNameLst>
                                          <p:attrName>style.visibility</p:attrName>
                                        </p:attrNameLst>
                                      </p:cBhvr>
                                      <p:to>
                                        <p:strVal val="visible"/>
                                      </p:to>
                                    </p:set>
                                    <p:animEffect transition="in" filter="wipe(left)">
                                      <p:cBhvr>
                                        <p:cTn id="7" dur="1000"/>
                                        <p:tgtEl>
                                          <p:spTgt spid="1433609"/>
                                        </p:tgtEl>
                                      </p:cBhvr>
                                    </p:animEffect>
                                  </p:childTnLst>
                                </p:cTn>
                              </p:par>
                              <p:par>
                                <p:cTn id="8" presetID="22" presetClass="entr" presetSubtype="1"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childTnLst>
                          </p:cTn>
                        </p:par>
                        <p:par>
                          <p:cTn id="11" fill="hold" nodeType="afterGroup">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1433611">
                                            <p:txEl>
                                              <p:pRg st="0" end="0"/>
                                            </p:txEl>
                                          </p:spTgt>
                                        </p:tgtEl>
                                        <p:attrNameLst>
                                          <p:attrName>style.visibility</p:attrName>
                                        </p:attrNameLst>
                                      </p:cBhvr>
                                      <p:to>
                                        <p:strVal val="visible"/>
                                      </p:to>
                                    </p:set>
                                    <p:anim calcmode="lin" valueType="num">
                                      <p:cBhvr additive="base">
                                        <p:cTn id="14" dur="1000" fill="hold"/>
                                        <p:tgtEl>
                                          <p:spTgt spid="1433611">
                                            <p:txEl>
                                              <p:pRg st="0" end="0"/>
                                            </p:txEl>
                                          </p:spTgt>
                                        </p:tgtEl>
                                        <p:attrNameLst>
                                          <p:attrName>ppt_x</p:attrName>
                                        </p:attrNameLst>
                                      </p:cBhvr>
                                      <p:tavLst>
                                        <p:tav tm="0">
                                          <p:val>
                                            <p:strVal val="0-#ppt_w/2"/>
                                          </p:val>
                                        </p:tav>
                                        <p:tav tm="100000">
                                          <p:val>
                                            <p:strVal val="#ppt_x"/>
                                          </p:val>
                                        </p:tav>
                                      </p:tavLst>
                                    </p:anim>
                                    <p:anim calcmode="lin" valueType="num">
                                      <p:cBhvr additive="base">
                                        <p:cTn id="15" dur="1000" fill="hold"/>
                                        <p:tgtEl>
                                          <p:spTgt spid="1433611">
                                            <p:txEl>
                                              <p:pRg st="0" end="0"/>
                                            </p:txEl>
                                          </p:spTgt>
                                        </p:tgtEl>
                                        <p:attrNameLst>
                                          <p:attrName>ppt_y</p:attrName>
                                        </p:attrNameLst>
                                      </p:cBhvr>
                                      <p:tavLst>
                                        <p:tav tm="0">
                                          <p:val>
                                            <p:strVal val="#ppt_y"/>
                                          </p:val>
                                        </p:tav>
                                        <p:tav tm="100000">
                                          <p:val>
                                            <p:strVal val="#ppt_y"/>
                                          </p:val>
                                        </p:tav>
                                      </p:tavLst>
                                    </p:anim>
                                  </p:childTnLst>
                                </p:cTn>
                              </p:par>
                            </p:childTnLst>
                          </p:cTn>
                        </p:par>
                        <p:par>
                          <p:cTn id="16" fill="hold" nodeType="afterGroup">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1433611">
                                            <p:txEl>
                                              <p:pRg st="1" end="1"/>
                                            </p:txEl>
                                          </p:spTgt>
                                        </p:tgtEl>
                                        <p:attrNameLst>
                                          <p:attrName>style.visibility</p:attrName>
                                        </p:attrNameLst>
                                      </p:cBhvr>
                                      <p:to>
                                        <p:strVal val="visible"/>
                                      </p:to>
                                    </p:set>
                                    <p:anim calcmode="lin" valueType="num">
                                      <p:cBhvr additive="base">
                                        <p:cTn id="19" dur="1000" fill="hold"/>
                                        <p:tgtEl>
                                          <p:spTgt spid="1433611">
                                            <p:txEl>
                                              <p:pRg st="1" end="1"/>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1433611">
                                            <p:txEl>
                                              <p:pRg st="1" end="1"/>
                                            </p:txEl>
                                          </p:spTgt>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3000"/>
                            </p:stCondLst>
                            <p:childTnLst>
                              <p:par>
                                <p:cTn id="22" presetID="2" presetClass="entr" presetSubtype="8" fill="hold" grpId="0" nodeType="afterEffect">
                                  <p:stCondLst>
                                    <p:cond delay="0"/>
                                  </p:stCondLst>
                                  <p:childTnLst>
                                    <p:set>
                                      <p:cBhvr>
                                        <p:cTn id="23" dur="1" fill="hold">
                                          <p:stCondLst>
                                            <p:cond delay="0"/>
                                          </p:stCondLst>
                                        </p:cTn>
                                        <p:tgtEl>
                                          <p:spTgt spid="1433611">
                                            <p:txEl>
                                              <p:pRg st="2" end="2"/>
                                            </p:txEl>
                                          </p:spTgt>
                                        </p:tgtEl>
                                        <p:attrNameLst>
                                          <p:attrName>style.visibility</p:attrName>
                                        </p:attrNameLst>
                                      </p:cBhvr>
                                      <p:to>
                                        <p:strVal val="visible"/>
                                      </p:to>
                                    </p:set>
                                    <p:anim calcmode="lin" valueType="num">
                                      <p:cBhvr additive="base">
                                        <p:cTn id="24" dur="1000" fill="hold"/>
                                        <p:tgtEl>
                                          <p:spTgt spid="1433611">
                                            <p:txEl>
                                              <p:pRg st="2" end="2"/>
                                            </p:txEl>
                                          </p:spTgt>
                                        </p:tgtEl>
                                        <p:attrNameLst>
                                          <p:attrName>ppt_x</p:attrName>
                                        </p:attrNameLst>
                                      </p:cBhvr>
                                      <p:tavLst>
                                        <p:tav tm="0">
                                          <p:val>
                                            <p:strVal val="0-#ppt_w/2"/>
                                          </p:val>
                                        </p:tav>
                                        <p:tav tm="100000">
                                          <p:val>
                                            <p:strVal val="#ppt_x"/>
                                          </p:val>
                                        </p:tav>
                                      </p:tavLst>
                                    </p:anim>
                                    <p:anim calcmode="lin" valueType="num">
                                      <p:cBhvr additive="base">
                                        <p:cTn id="25" dur="1000" fill="hold"/>
                                        <p:tgtEl>
                                          <p:spTgt spid="14336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433610"/>
                                        </p:tgtEl>
                                        <p:attrNameLst>
                                          <p:attrName>style.visibility</p:attrName>
                                        </p:attrNameLst>
                                      </p:cBhvr>
                                      <p:to>
                                        <p:strVal val="visible"/>
                                      </p:to>
                                    </p:set>
                                    <p:anim calcmode="lin" valueType="num">
                                      <p:cBhvr additive="base">
                                        <p:cTn id="30" dur="1000" fill="hold"/>
                                        <p:tgtEl>
                                          <p:spTgt spid="1433610"/>
                                        </p:tgtEl>
                                        <p:attrNameLst>
                                          <p:attrName>ppt_x</p:attrName>
                                        </p:attrNameLst>
                                      </p:cBhvr>
                                      <p:tavLst>
                                        <p:tav tm="0">
                                          <p:val>
                                            <p:strVal val="0-#ppt_w/2"/>
                                          </p:val>
                                        </p:tav>
                                        <p:tav tm="100000">
                                          <p:val>
                                            <p:strVal val="#ppt_x"/>
                                          </p:val>
                                        </p:tav>
                                      </p:tavLst>
                                    </p:anim>
                                    <p:anim calcmode="lin" valueType="num">
                                      <p:cBhvr additive="base">
                                        <p:cTn id="31" dur="1000" fill="hold"/>
                                        <p:tgtEl>
                                          <p:spTgt spid="14336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09" grpId="0"/>
      <p:bldP spid="1433610" grpId="0"/>
      <p:bldP spid="1433611" grpId="0" build="p" advAuto="300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Text Box 3"/>
          <p:cNvSpPr txBox="1">
            <a:spLocks noChangeArrowheads="1"/>
          </p:cNvSpPr>
          <p:nvPr/>
        </p:nvSpPr>
        <p:spPr bwMode="auto">
          <a:xfrm>
            <a:off x="3280933" y="5669368"/>
            <a:ext cx="23891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小 </a:t>
            </a:r>
            <a:r>
              <a:rPr kumimoji="1" lang="zh-CN" altLang="en-US" sz="4000" b="1" dirty="0" smtClean="0">
                <a:solidFill>
                  <a:srgbClr val="000066"/>
                </a:solidFill>
                <a:latin typeface="黑体" pitchFamily="2" charset="-122"/>
                <a:ea typeface="黑体" pitchFamily="2" charset="-122"/>
              </a:rPr>
              <a:t>  </a:t>
            </a:r>
            <a:r>
              <a:rPr kumimoji="1" lang="zh-CN" altLang="en-US" sz="4000" b="1" dirty="0">
                <a:solidFill>
                  <a:srgbClr val="000066"/>
                </a:solidFill>
                <a:latin typeface="黑体" pitchFamily="2" charset="-122"/>
                <a:ea typeface="黑体" pitchFamily="2" charset="-122"/>
              </a:rPr>
              <a:t>结</a:t>
            </a:r>
          </a:p>
        </p:txBody>
      </p:sp>
      <p:sp>
        <p:nvSpPr>
          <p:cNvPr id="9" name="Text Box 7"/>
          <p:cNvSpPr txBox="1">
            <a:spLocks noChangeArrowheads="1"/>
          </p:cNvSpPr>
          <p:nvPr/>
        </p:nvSpPr>
        <p:spPr bwMode="auto">
          <a:xfrm>
            <a:off x="1" y="0"/>
            <a:ext cx="351957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土的压实性</a:t>
            </a:r>
            <a:endParaRPr lang="zh-CN" altLang="en-US" sz="2000" b="1" kern="900" spc="-140" dirty="0">
              <a:solidFill>
                <a:srgbClr val="C00000"/>
              </a:solidFill>
              <a:latin typeface="宋体" pitchFamily="2" charset="-122"/>
            </a:endParaRPr>
          </a:p>
        </p:txBody>
      </p:sp>
      <p:sp>
        <p:nvSpPr>
          <p:cNvPr id="10" name="Text Box 4"/>
          <p:cNvSpPr txBox="1">
            <a:spLocks noChangeArrowheads="1"/>
          </p:cNvSpPr>
          <p:nvPr/>
        </p:nvSpPr>
        <p:spPr bwMode="auto">
          <a:xfrm>
            <a:off x="1171822" y="1694812"/>
            <a:ext cx="3833812"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42925" indent="-542925" eaLnBrk="1" hangingPunct="1">
              <a:lnSpc>
                <a:spcPct val="125000"/>
              </a:lnSpc>
              <a:spcBef>
                <a:spcPct val="0"/>
              </a:spcBef>
              <a:spcAft>
                <a:spcPct val="0"/>
              </a:spcAft>
              <a:buClr>
                <a:srgbClr val="A50021"/>
              </a:buClr>
              <a:buSzPct val="135000"/>
              <a:buFont typeface="Wingdings" pitchFamily="2" charset="2"/>
              <a:buChar char="F"/>
            </a:pPr>
            <a:r>
              <a:rPr kumimoji="1" lang="zh-CN" altLang="en-US" sz="2800" b="1" dirty="0" smtClean="0">
                <a:solidFill>
                  <a:srgbClr val="000066"/>
                </a:solidFill>
                <a:latin typeface="华文新魏" pitchFamily="2" charset="-122"/>
                <a:ea typeface="幼圆" pitchFamily="49" charset="-122"/>
              </a:rPr>
              <a:t>室内击实试验</a:t>
            </a:r>
            <a:endParaRPr kumimoji="1" lang="zh-CN" altLang="en-US" sz="2800" b="1" dirty="0">
              <a:solidFill>
                <a:srgbClr val="000066"/>
              </a:solidFill>
              <a:latin typeface="华文新魏" pitchFamily="2" charset="-122"/>
              <a:ea typeface="幼圆" pitchFamily="49" charset="-122"/>
            </a:endParaRPr>
          </a:p>
          <a:p>
            <a:pPr marL="542925" indent="-542925" eaLnBrk="1" hangingPunct="1">
              <a:lnSpc>
                <a:spcPct val="125000"/>
              </a:lnSpc>
              <a:spcBef>
                <a:spcPct val="0"/>
              </a:spcBef>
              <a:spcAft>
                <a:spcPct val="0"/>
              </a:spcAft>
              <a:buClr>
                <a:srgbClr val="A50021"/>
              </a:buClr>
              <a:buSzPct val="135000"/>
              <a:buFont typeface="Wingdings" pitchFamily="2" charset="2"/>
              <a:buChar char="F"/>
            </a:pPr>
            <a:endParaRPr kumimoji="1" lang="zh-CN" altLang="en-US" sz="2800" b="1" dirty="0">
              <a:solidFill>
                <a:srgbClr val="A50021"/>
              </a:solidFill>
              <a:latin typeface="华文新魏" pitchFamily="2" charset="-122"/>
              <a:ea typeface="幼圆" pitchFamily="49" charset="-122"/>
            </a:endParaRPr>
          </a:p>
          <a:p>
            <a:pPr marL="542925" indent="-542925" eaLnBrk="1" hangingPunct="1">
              <a:lnSpc>
                <a:spcPct val="125000"/>
              </a:lnSpc>
              <a:spcBef>
                <a:spcPct val="0"/>
              </a:spcBef>
              <a:spcAft>
                <a:spcPct val="0"/>
              </a:spcAft>
              <a:buClr>
                <a:srgbClr val="A50021"/>
              </a:buClr>
              <a:buSzPct val="135000"/>
              <a:buFont typeface="Wingdings" pitchFamily="2" charset="2"/>
              <a:buChar char="F"/>
            </a:pPr>
            <a:r>
              <a:rPr kumimoji="1" lang="zh-CN" altLang="en-US" sz="2800" b="1" dirty="0" smtClean="0">
                <a:solidFill>
                  <a:srgbClr val="000066"/>
                </a:solidFill>
                <a:ea typeface="幼圆" pitchFamily="49" charset="-122"/>
              </a:rPr>
              <a:t>细粒土的压实</a:t>
            </a:r>
            <a:r>
              <a:rPr kumimoji="1" lang="zh-CN" altLang="en-US" sz="2800" b="1" dirty="0">
                <a:solidFill>
                  <a:srgbClr val="000066"/>
                </a:solidFill>
                <a:ea typeface="幼圆" pitchFamily="49" charset="-122"/>
              </a:rPr>
              <a:t>性</a:t>
            </a:r>
          </a:p>
          <a:p>
            <a:pPr marL="542925" indent="-542925" eaLnBrk="1" hangingPunct="1">
              <a:lnSpc>
                <a:spcPct val="125000"/>
              </a:lnSpc>
              <a:spcBef>
                <a:spcPct val="0"/>
              </a:spcBef>
              <a:spcAft>
                <a:spcPct val="0"/>
              </a:spcAft>
              <a:buClr>
                <a:srgbClr val="A50021"/>
              </a:buClr>
              <a:buSzPct val="135000"/>
              <a:buFont typeface="Wingdings" pitchFamily="2" charset="2"/>
              <a:buChar char="F"/>
            </a:pPr>
            <a:endParaRPr kumimoji="1" lang="zh-CN" altLang="en-US" sz="2800" b="1" dirty="0">
              <a:solidFill>
                <a:srgbClr val="A50021"/>
              </a:solidFill>
              <a:ea typeface="幼圆" pitchFamily="49" charset="-122"/>
            </a:endParaRPr>
          </a:p>
          <a:p>
            <a:pPr marL="542925" indent="-542925" eaLnBrk="1" hangingPunct="1">
              <a:lnSpc>
                <a:spcPct val="125000"/>
              </a:lnSpc>
              <a:spcBef>
                <a:spcPct val="0"/>
              </a:spcBef>
              <a:spcAft>
                <a:spcPct val="0"/>
              </a:spcAft>
              <a:buClr>
                <a:srgbClr val="A50021"/>
              </a:buClr>
              <a:buSzPct val="135000"/>
              <a:buFont typeface="Wingdings" pitchFamily="2" charset="2"/>
              <a:buChar char="F"/>
            </a:pPr>
            <a:endParaRPr kumimoji="1" lang="en-US" altLang="zh-CN" sz="2800" b="1" dirty="0" smtClean="0">
              <a:solidFill>
                <a:srgbClr val="A50021"/>
              </a:solidFill>
              <a:ea typeface="幼圆" pitchFamily="49" charset="-122"/>
            </a:endParaRPr>
          </a:p>
          <a:p>
            <a:pPr marL="542925" indent="-542925" eaLnBrk="1" hangingPunct="1">
              <a:lnSpc>
                <a:spcPct val="125000"/>
              </a:lnSpc>
              <a:spcBef>
                <a:spcPct val="0"/>
              </a:spcBef>
              <a:spcAft>
                <a:spcPct val="0"/>
              </a:spcAft>
              <a:buClr>
                <a:srgbClr val="A50021"/>
              </a:buClr>
              <a:buSzPct val="135000"/>
              <a:buFont typeface="Wingdings" pitchFamily="2" charset="2"/>
              <a:buChar char="F"/>
            </a:pPr>
            <a:r>
              <a:rPr kumimoji="1" lang="zh-CN" altLang="en-US" sz="2800" b="1" dirty="0" smtClean="0">
                <a:solidFill>
                  <a:srgbClr val="000066"/>
                </a:solidFill>
                <a:ea typeface="幼圆" pitchFamily="49" charset="-122"/>
              </a:rPr>
              <a:t>粗粒土的压实</a:t>
            </a:r>
            <a:r>
              <a:rPr kumimoji="1" lang="zh-CN" altLang="en-US" sz="2800" b="1" dirty="0">
                <a:solidFill>
                  <a:srgbClr val="000066"/>
                </a:solidFill>
                <a:ea typeface="幼圆" pitchFamily="49" charset="-122"/>
              </a:rPr>
              <a:t>性</a:t>
            </a:r>
          </a:p>
        </p:txBody>
      </p:sp>
      <p:sp>
        <p:nvSpPr>
          <p:cNvPr id="11" name="Text Box 5"/>
          <p:cNvSpPr txBox="1">
            <a:spLocks noChangeArrowheads="1"/>
          </p:cNvSpPr>
          <p:nvPr/>
        </p:nvSpPr>
        <p:spPr bwMode="auto">
          <a:xfrm>
            <a:off x="5217563" y="2177477"/>
            <a:ext cx="3277836"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击实</a:t>
            </a:r>
            <a:r>
              <a:rPr kumimoji="1" lang="zh-CN" altLang="en-US" sz="2400" b="1" dirty="0" smtClean="0">
                <a:solidFill>
                  <a:srgbClr val="000066"/>
                </a:solidFill>
                <a:ea typeface="幼圆" pitchFamily="49" charset="-122"/>
                <a:cs typeface="Times New Roman" panose="02020603050405020304" pitchFamily="18" charset="0"/>
              </a:rPr>
              <a:t>曲线特点</a:t>
            </a:r>
            <a:endParaRPr kumimoji="1" lang="zh-CN" altLang="en-US" sz="2400" b="1" dirty="0">
              <a:solidFill>
                <a:srgbClr val="000066"/>
              </a:solidFill>
              <a:ea typeface="幼圆" pitchFamily="49" charset="-122"/>
              <a:cs typeface="Times New Roman" panose="02020603050405020304" pitchFamily="18" charset="0"/>
            </a:endParaRPr>
          </a:p>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最优含水量</a:t>
            </a:r>
          </a:p>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最大干密度</a:t>
            </a:r>
            <a:endParaRPr kumimoji="1" lang="zh-CN" altLang="en-US" sz="2400" b="1" dirty="0">
              <a:solidFill>
                <a:srgbClr val="000066"/>
              </a:solidFill>
              <a:ea typeface="幼圆" pitchFamily="49" charset="-122"/>
              <a:cs typeface="Times New Roman" panose="02020603050405020304" pitchFamily="18" charset="0"/>
            </a:endParaRPr>
          </a:p>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压实标准：压实度</a:t>
            </a:r>
            <a:r>
              <a:rPr kumimoji="1" lang="en-US" altLang="zh-CN" sz="2400" b="1" i="1" dirty="0" smtClean="0">
                <a:solidFill>
                  <a:srgbClr val="000066"/>
                </a:solidFill>
                <a:ea typeface="幼圆" pitchFamily="49" charset="-122"/>
                <a:cs typeface="Times New Roman" panose="02020603050405020304" pitchFamily="18" charset="0"/>
              </a:rPr>
              <a:t>D</a:t>
            </a:r>
            <a:r>
              <a:rPr kumimoji="1" lang="en-US" altLang="zh-CN" sz="2400" b="1" baseline="-25000" dirty="0" smtClean="0">
                <a:solidFill>
                  <a:srgbClr val="000066"/>
                </a:solidFill>
                <a:ea typeface="幼圆" pitchFamily="49" charset="-122"/>
                <a:cs typeface="Times New Roman" panose="02020603050405020304" pitchFamily="18" charset="0"/>
              </a:rPr>
              <a:t>c</a:t>
            </a:r>
            <a:endParaRPr kumimoji="1" lang="en-US" altLang="zh-CN" sz="2400" b="1" baseline="-25000" dirty="0">
              <a:solidFill>
                <a:srgbClr val="000066"/>
              </a:solidFill>
              <a:ea typeface="幼圆" pitchFamily="49" charset="-122"/>
              <a:cs typeface="Times New Roman" panose="02020603050405020304" pitchFamily="18" charset="0"/>
            </a:endParaRPr>
          </a:p>
        </p:txBody>
      </p:sp>
      <p:sp>
        <p:nvSpPr>
          <p:cNvPr id="12" name="Text Box 6"/>
          <p:cNvSpPr txBox="1">
            <a:spLocks noChangeArrowheads="1"/>
          </p:cNvSpPr>
          <p:nvPr/>
        </p:nvSpPr>
        <p:spPr bwMode="auto">
          <a:xfrm>
            <a:off x="5245177" y="4249923"/>
            <a:ext cx="3760599"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latin typeface="幼圆" pitchFamily="49" charset="-122"/>
                <a:ea typeface="幼圆" pitchFamily="49" charset="-122"/>
              </a:rPr>
              <a:t> 击实曲线</a:t>
            </a:r>
          </a:p>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ea typeface="幼圆" pitchFamily="49" charset="-122"/>
              </a:rPr>
              <a:t>  压实标准：</a:t>
            </a:r>
            <a:r>
              <a:rPr kumimoji="1" lang="zh-CN" altLang="en-US" sz="2400" b="1" dirty="0" smtClean="0">
                <a:solidFill>
                  <a:srgbClr val="000066"/>
                </a:solidFill>
                <a:ea typeface="幼圆" pitchFamily="49" charset="-122"/>
              </a:rPr>
              <a:t>相对密度 </a:t>
            </a:r>
            <a:r>
              <a:rPr kumimoji="1" lang="en-US" altLang="zh-CN" sz="2400" b="1" i="1" dirty="0" err="1" smtClean="0">
                <a:solidFill>
                  <a:srgbClr val="000066"/>
                </a:solidFill>
                <a:ea typeface="幼圆" pitchFamily="49" charset="-122"/>
              </a:rPr>
              <a:t>D</a:t>
            </a:r>
            <a:r>
              <a:rPr kumimoji="1" lang="en-US" altLang="zh-CN" sz="2400" b="1" baseline="-25000" dirty="0" err="1" smtClean="0">
                <a:solidFill>
                  <a:srgbClr val="000066"/>
                </a:solidFill>
                <a:ea typeface="幼圆" pitchFamily="49" charset="-122"/>
              </a:rPr>
              <a:t>r</a:t>
            </a:r>
            <a:endParaRPr kumimoji="1" lang="zh-CN" altLang="en-US" sz="2400" b="1" baseline="-25000" dirty="0">
              <a:solidFill>
                <a:srgbClr val="000066"/>
              </a:solidFill>
              <a:ea typeface="幼圆" pitchFamily="49" charset="-122"/>
            </a:endParaRPr>
          </a:p>
        </p:txBody>
      </p:sp>
      <p:sp>
        <p:nvSpPr>
          <p:cNvPr id="13" name="AutoShape 7"/>
          <p:cNvSpPr>
            <a:spLocks noChangeArrowheads="1"/>
          </p:cNvSpPr>
          <p:nvPr/>
        </p:nvSpPr>
        <p:spPr bwMode="auto">
          <a:xfrm>
            <a:off x="4572195" y="2889734"/>
            <a:ext cx="541338" cy="427037"/>
          </a:xfrm>
          <a:prstGeom prst="homePlate">
            <a:avLst>
              <a:gd name="adj" fmla="val 31692"/>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14" name="AutoShape 8"/>
          <p:cNvSpPr>
            <a:spLocks noChangeArrowheads="1"/>
          </p:cNvSpPr>
          <p:nvPr/>
        </p:nvSpPr>
        <p:spPr bwMode="auto">
          <a:xfrm>
            <a:off x="4570608" y="4513448"/>
            <a:ext cx="541337" cy="427038"/>
          </a:xfrm>
          <a:prstGeom prst="homePlate">
            <a:avLst>
              <a:gd name="adj" fmla="val 31691"/>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fade">
                                      <p:cBhvr>
                                        <p:cTn id="13" dur="1000"/>
                                        <p:tgtEl>
                                          <p:spTgt spid="10">
                                            <p:txEl>
                                              <p:pRg st="2" end="2"/>
                                            </p:txEl>
                                          </p:spTgt>
                                        </p:tgtEl>
                                      </p:cBhvr>
                                    </p:animEffect>
                                    <p:anim calcmode="lin" valueType="num">
                                      <p:cBhvr>
                                        <p:cTn id="14"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grpId="0" nodeType="after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animEffect transition="in" filter="fade">
                                      <p:cBhvr>
                                        <p:cTn id="19" dur="1000"/>
                                        <p:tgtEl>
                                          <p:spTgt spid="10">
                                            <p:txEl>
                                              <p:pRg st="5" end="5"/>
                                            </p:txEl>
                                          </p:spTgt>
                                        </p:tgtEl>
                                      </p:cBhvr>
                                    </p:animEffect>
                                    <p:anim calcmode="lin" valueType="num">
                                      <p:cBhvr>
                                        <p:cTn id="20"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1000"/>
                                        <p:tgtEl>
                                          <p:spTgt spid="13"/>
                                        </p:tgtEl>
                                      </p:cBhvr>
                                    </p:animEffect>
                                  </p:childTnLst>
                                </p:cTn>
                              </p:par>
                            </p:childTnLst>
                          </p:cTn>
                        </p:par>
                        <p:par>
                          <p:cTn id="27" fill="hold">
                            <p:stCondLst>
                              <p:cond delay="1000"/>
                            </p:stCondLst>
                            <p:childTnLst>
                              <p:par>
                                <p:cTn id="28" presetID="2" presetClass="entr" presetSubtype="2"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1000" fill="hold"/>
                                        <p:tgtEl>
                                          <p:spTgt spid="11"/>
                                        </p:tgtEl>
                                        <p:attrNameLst>
                                          <p:attrName>ppt_x</p:attrName>
                                        </p:attrNameLst>
                                      </p:cBhvr>
                                      <p:tavLst>
                                        <p:tav tm="0">
                                          <p:val>
                                            <p:strVal val="1+#ppt_w/2"/>
                                          </p:val>
                                        </p:tav>
                                        <p:tav tm="100000">
                                          <p:val>
                                            <p:strVal val="#ppt_x"/>
                                          </p:val>
                                        </p:tav>
                                      </p:tavLst>
                                    </p:anim>
                                    <p:anim calcmode="lin" valueType="num">
                                      <p:cBhvr additive="base">
                                        <p:cTn id="31" dur="10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1000"/>
                                        <p:tgtEl>
                                          <p:spTgt spid="14"/>
                                        </p:tgtEl>
                                      </p:cBhvr>
                                    </p:animEffect>
                                  </p:childTnLst>
                                </p:cTn>
                              </p:par>
                            </p:childTnLst>
                          </p:cTn>
                        </p:par>
                        <p:par>
                          <p:cTn id="37" fill="hold">
                            <p:stCondLst>
                              <p:cond delay="1000"/>
                            </p:stCondLst>
                            <p:childTnLst>
                              <p:par>
                                <p:cTn id="38" presetID="2" presetClass="entr" presetSubtype="2"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1000" fill="hold"/>
                                        <p:tgtEl>
                                          <p:spTgt spid="12"/>
                                        </p:tgtEl>
                                        <p:attrNameLst>
                                          <p:attrName>ppt_x</p:attrName>
                                        </p:attrNameLst>
                                      </p:cBhvr>
                                      <p:tavLst>
                                        <p:tav tm="0">
                                          <p:val>
                                            <p:strVal val="1+#ppt_w/2"/>
                                          </p:val>
                                        </p:tav>
                                        <p:tav tm="100000">
                                          <p:val>
                                            <p:strVal val="#ppt_x"/>
                                          </p:val>
                                        </p:tav>
                                      </p:tavLst>
                                    </p:anim>
                                    <p:anim calcmode="lin" valueType="num">
                                      <p:cBhvr additive="base">
                                        <p:cTn id="41"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dvAuto="1000"/>
      <p:bldP spid="11" grpId="0"/>
      <p:bldP spid="12" grpId="0"/>
      <p:bldP spid="13" grpId="0" animBg="1"/>
      <p:bldP spid="14"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4"/>
          <p:cNvSpPr txBox="1">
            <a:spLocks noChangeArrowheads="1"/>
          </p:cNvSpPr>
          <p:nvPr/>
        </p:nvSpPr>
        <p:spPr bwMode="auto">
          <a:xfrm>
            <a:off x="1163638" y="968375"/>
            <a:ext cx="715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a:solidFill>
                  <a:srgbClr val="000066"/>
                </a:solidFill>
                <a:latin typeface="黑体" pitchFamily="2" charset="-122"/>
                <a:ea typeface="黑体" pitchFamily="2" charset="-122"/>
              </a:rPr>
              <a:t>第一章：土的物理性质与工程分类</a:t>
            </a:r>
            <a:endParaRPr lang="en-US" altLang="zh-CN" sz="3600" b="1">
              <a:solidFill>
                <a:srgbClr val="000066"/>
              </a:solidFill>
              <a:latin typeface="黑体" pitchFamily="2" charset="-122"/>
              <a:ea typeface="黑体" pitchFamily="2" charset="-122"/>
            </a:endParaRPr>
          </a:p>
        </p:txBody>
      </p:sp>
      <p:sp>
        <p:nvSpPr>
          <p:cNvPr id="1344537" name="Text Box 25"/>
          <p:cNvSpPr txBox="1">
            <a:spLocks noChangeArrowheads="1"/>
          </p:cNvSpPr>
          <p:nvPr/>
        </p:nvSpPr>
        <p:spPr bwMode="auto">
          <a:xfrm>
            <a:off x="2413000" y="1892300"/>
            <a:ext cx="451961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§1.1  </a:t>
            </a:r>
            <a:r>
              <a:rPr kumimoji="1" lang="zh-CN" altLang="en-US" sz="3200" b="1" dirty="0">
                <a:solidFill>
                  <a:srgbClr val="000066"/>
                </a:solidFill>
                <a:latin typeface="黑体" panose="02010609060101010101" pitchFamily="49" charset="-122"/>
                <a:ea typeface="黑体" panose="02010609060101010101" pitchFamily="49" charset="-122"/>
              </a:rPr>
              <a:t>土的</a:t>
            </a:r>
            <a:r>
              <a:rPr kumimoji="1" lang="zh-CN" altLang="en-US" sz="3200" b="1" dirty="0" smtClean="0">
                <a:solidFill>
                  <a:srgbClr val="000066"/>
                </a:solidFill>
                <a:latin typeface="黑体" panose="02010609060101010101" pitchFamily="49" charset="-122"/>
                <a:ea typeface="黑体" panose="02010609060101010101" pitchFamily="49" charset="-122"/>
              </a:rPr>
              <a:t>形成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§1.2  </a:t>
            </a:r>
            <a:r>
              <a:rPr kumimoji="1" lang="zh-CN" altLang="en-US" sz="3200" b="1" dirty="0">
                <a:solidFill>
                  <a:srgbClr val="000066"/>
                </a:solidFill>
                <a:latin typeface="黑体" panose="02010609060101010101" pitchFamily="49" charset="-122"/>
                <a:ea typeface="黑体" panose="02010609060101010101" pitchFamily="49" charset="-122"/>
              </a:rPr>
              <a:t>土的三相</a:t>
            </a:r>
            <a:r>
              <a:rPr kumimoji="1" lang="zh-CN" altLang="en-US" sz="3200" b="1" dirty="0" smtClean="0">
                <a:solidFill>
                  <a:srgbClr val="000066"/>
                </a:solidFill>
                <a:latin typeface="黑体" panose="02010609060101010101" pitchFamily="49" charset="-122"/>
                <a:ea typeface="黑体" panose="02010609060101010101" pitchFamily="49" charset="-122"/>
              </a:rPr>
              <a:t>组成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§1.3  </a:t>
            </a:r>
            <a:r>
              <a:rPr kumimoji="1" lang="zh-CN" altLang="en-US" sz="3200" b="1" dirty="0">
                <a:solidFill>
                  <a:srgbClr val="000066"/>
                </a:solidFill>
                <a:latin typeface="黑体" panose="02010609060101010101" pitchFamily="49" charset="-122"/>
                <a:ea typeface="黑体" panose="02010609060101010101" pitchFamily="49" charset="-122"/>
              </a:rPr>
              <a:t>土的物理</a:t>
            </a:r>
            <a:r>
              <a:rPr kumimoji="1" lang="zh-CN" altLang="en-US" sz="3200" b="1" dirty="0" smtClean="0">
                <a:solidFill>
                  <a:srgbClr val="000066"/>
                </a:solidFill>
                <a:latin typeface="黑体" panose="02010609060101010101" pitchFamily="49" charset="-122"/>
                <a:ea typeface="黑体" panose="02010609060101010101" pitchFamily="49" charset="-122"/>
              </a:rPr>
              <a:t>状态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§1.4  </a:t>
            </a:r>
            <a:r>
              <a:rPr kumimoji="1" lang="zh-CN" altLang="en-US" sz="3200" b="1" dirty="0">
                <a:solidFill>
                  <a:srgbClr val="000066"/>
                </a:solidFill>
                <a:latin typeface="黑体" panose="02010609060101010101" pitchFamily="49" charset="-122"/>
                <a:ea typeface="黑体" panose="02010609060101010101" pitchFamily="49" charset="-122"/>
              </a:rPr>
              <a:t>土的</a:t>
            </a:r>
            <a:r>
              <a:rPr kumimoji="1" lang="zh-CN" altLang="en-US" sz="3200" b="1" dirty="0" smtClean="0">
                <a:solidFill>
                  <a:srgbClr val="000066"/>
                </a:solidFill>
                <a:latin typeface="黑体" panose="02010609060101010101" pitchFamily="49" charset="-122"/>
                <a:ea typeface="黑体" panose="02010609060101010101" pitchFamily="49" charset="-122"/>
              </a:rPr>
              <a:t>结构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§1.5  </a:t>
            </a:r>
            <a:r>
              <a:rPr kumimoji="1" lang="zh-CN" altLang="en-US" sz="3200" b="1" dirty="0" smtClean="0">
                <a:solidFill>
                  <a:srgbClr val="000066"/>
                </a:solidFill>
                <a:latin typeface="黑体" panose="02010609060101010101" pitchFamily="49" charset="-122"/>
                <a:ea typeface="黑体" panose="02010609060101010101" pitchFamily="49" charset="-122"/>
              </a:rPr>
              <a:t>土的工程分类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a:p>
            <a:pPr eaLnBrk="1" hangingPunct="1">
              <a:lnSpc>
                <a:spcPct val="125000"/>
              </a:lnSpc>
              <a:spcBef>
                <a:spcPct val="0"/>
              </a:spcBef>
              <a:spcAft>
                <a:spcPct val="0"/>
              </a:spcAft>
            </a:pPr>
            <a:r>
              <a:rPr kumimoji="1" lang="en-US" altLang="zh-CN" sz="3200" b="1" dirty="0">
                <a:solidFill>
                  <a:srgbClr val="000066"/>
                </a:solidFill>
                <a:latin typeface="黑体" panose="02010609060101010101" pitchFamily="49" charset="-122"/>
                <a:ea typeface="黑体" panose="02010609060101010101" pitchFamily="49" charset="-122"/>
              </a:rPr>
              <a:t>§1.6  </a:t>
            </a:r>
            <a:r>
              <a:rPr kumimoji="1" lang="zh-CN" altLang="en-US" sz="3200" b="1" dirty="0">
                <a:solidFill>
                  <a:srgbClr val="000066"/>
                </a:solidFill>
                <a:latin typeface="黑体" panose="02010609060101010101" pitchFamily="49" charset="-122"/>
                <a:ea typeface="黑体" panose="02010609060101010101" pitchFamily="49" charset="-122"/>
              </a:rPr>
              <a:t>土的压实性 </a:t>
            </a:r>
            <a:r>
              <a:rPr kumimoji="1" lang="zh-CN" altLang="en-US" sz="3200" b="1" dirty="0">
                <a:solidFill>
                  <a:srgbClr val="CC0000"/>
                </a:solidFill>
                <a:latin typeface="幼圆" pitchFamily="49" charset="-122"/>
                <a:ea typeface="幼圆" pitchFamily="49" charset="-122"/>
                <a:sym typeface="Wingdings" pitchFamily="2" charset="2"/>
              </a:rPr>
              <a:t></a:t>
            </a:r>
            <a:endParaRPr kumimoji="1" lang="zh-CN" altLang="en-US" sz="3200" b="1" dirty="0">
              <a:solidFill>
                <a:srgbClr val="000066"/>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326834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1" y="0"/>
            <a:ext cx="351957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§1.1  </a:t>
            </a:r>
            <a:r>
              <a:rPr lang="zh-CN" altLang="en-US" sz="2000" b="1" kern="900" spc="-140" dirty="0" smtClean="0">
                <a:solidFill>
                  <a:srgbClr val="C00000"/>
                </a:solidFill>
                <a:latin typeface="宋体" pitchFamily="2" charset="-122"/>
              </a:rPr>
              <a:t>土的形成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总结</a:t>
            </a:r>
            <a:endParaRPr lang="zh-CN" altLang="en-US" sz="2000" b="1" kern="900" spc="-140" dirty="0">
              <a:solidFill>
                <a:srgbClr val="C00000"/>
              </a:solidFill>
              <a:latin typeface="宋体" pitchFamily="2" charset="-122"/>
            </a:endParaRPr>
          </a:p>
        </p:txBody>
      </p:sp>
      <p:grpSp>
        <p:nvGrpSpPr>
          <p:cNvPr id="257" name="Group 15"/>
          <p:cNvGrpSpPr>
            <a:grpSpLocks/>
          </p:cNvGrpSpPr>
          <p:nvPr/>
        </p:nvGrpSpPr>
        <p:grpSpPr bwMode="auto">
          <a:xfrm>
            <a:off x="1227838" y="1792982"/>
            <a:ext cx="2047875" cy="1265238"/>
            <a:chOff x="556" y="600"/>
            <a:chExt cx="1290" cy="797"/>
          </a:xfrm>
        </p:grpSpPr>
        <p:sp>
          <p:nvSpPr>
            <p:cNvPr id="258" name="Freeform 16" descr="新闻纸"/>
            <p:cNvSpPr>
              <a:spLocks/>
            </p:cNvSpPr>
            <p:nvPr/>
          </p:nvSpPr>
          <p:spPr bwMode="auto">
            <a:xfrm>
              <a:off x="557" y="601"/>
              <a:ext cx="1289" cy="795"/>
            </a:xfrm>
            <a:custGeom>
              <a:avLst/>
              <a:gdLst>
                <a:gd name="T0" fmla="*/ 0 w 2661"/>
                <a:gd name="T1" fmla="*/ 143 h 1639"/>
                <a:gd name="T2" fmla="*/ 28 w 2661"/>
                <a:gd name="T3" fmla="*/ 152 h 1639"/>
                <a:gd name="T4" fmla="*/ 57 w 2661"/>
                <a:gd name="T5" fmla="*/ 164 h 1639"/>
                <a:gd name="T6" fmla="*/ 77 w 2661"/>
                <a:gd name="T7" fmla="*/ 172 h 1639"/>
                <a:gd name="T8" fmla="*/ 96 w 2661"/>
                <a:gd name="T9" fmla="*/ 178 h 1639"/>
                <a:gd name="T10" fmla="*/ 105 w 2661"/>
                <a:gd name="T11" fmla="*/ 183 h 1639"/>
                <a:gd name="T12" fmla="*/ 127 w 2661"/>
                <a:gd name="T13" fmla="*/ 187 h 1639"/>
                <a:gd name="T14" fmla="*/ 141 w 2661"/>
                <a:gd name="T15" fmla="*/ 181 h 1639"/>
                <a:gd name="T16" fmla="*/ 157 w 2661"/>
                <a:gd name="T17" fmla="*/ 173 h 1639"/>
                <a:gd name="T18" fmla="*/ 179 w 2661"/>
                <a:gd name="T19" fmla="*/ 178 h 1639"/>
                <a:gd name="T20" fmla="*/ 206 w 2661"/>
                <a:gd name="T21" fmla="*/ 164 h 1639"/>
                <a:gd name="T22" fmla="*/ 211 w 2661"/>
                <a:gd name="T23" fmla="*/ 162 h 1639"/>
                <a:gd name="T24" fmla="*/ 221 w 2661"/>
                <a:gd name="T25" fmla="*/ 158 h 1639"/>
                <a:gd name="T26" fmla="*/ 233 w 2661"/>
                <a:gd name="T27" fmla="*/ 155 h 1639"/>
                <a:gd name="T28" fmla="*/ 241 w 2661"/>
                <a:gd name="T29" fmla="*/ 151 h 1639"/>
                <a:gd name="T30" fmla="*/ 256 w 2661"/>
                <a:gd name="T31" fmla="*/ 154 h 1639"/>
                <a:gd name="T32" fmla="*/ 260 w 2661"/>
                <a:gd name="T33" fmla="*/ 153 h 1639"/>
                <a:gd name="T34" fmla="*/ 266 w 2661"/>
                <a:gd name="T35" fmla="*/ 152 h 1639"/>
                <a:gd name="T36" fmla="*/ 273 w 2661"/>
                <a:gd name="T37" fmla="*/ 147 h 1639"/>
                <a:gd name="T38" fmla="*/ 287 w 2661"/>
                <a:gd name="T39" fmla="*/ 143 h 1639"/>
                <a:gd name="T40" fmla="*/ 295 w 2661"/>
                <a:gd name="T41" fmla="*/ 140 h 1639"/>
                <a:gd name="T42" fmla="*/ 302 w 2661"/>
                <a:gd name="T43" fmla="*/ 135 h 1639"/>
                <a:gd name="T44" fmla="*/ 291 w 2661"/>
                <a:gd name="T45" fmla="*/ 117 h 1639"/>
                <a:gd name="T46" fmla="*/ 291 w 2661"/>
                <a:gd name="T47" fmla="*/ 113 h 1639"/>
                <a:gd name="T48" fmla="*/ 288 w 2661"/>
                <a:gd name="T49" fmla="*/ 109 h 1639"/>
                <a:gd name="T50" fmla="*/ 270 w 2661"/>
                <a:gd name="T51" fmla="*/ 83 h 1639"/>
                <a:gd name="T52" fmla="*/ 255 w 2661"/>
                <a:gd name="T53" fmla="*/ 76 h 1639"/>
                <a:gd name="T54" fmla="*/ 235 w 2661"/>
                <a:gd name="T55" fmla="*/ 47 h 1639"/>
                <a:gd name="T56" fmla="*/ 220 w 2661"/>
                <a:gd name="T57" fmla="*/ 43 h 1639"/>
                <a:gd name="T58" fmla="*/ 206 w 2661"/>
                <a:gd name="T59" fmla="*/ 37 h 1639"/>
                <a:gd name="T60" fmla="*/ 196 w 2661"/>
                <a:gd name="T61" fmla="*/ 33 h 1639"/>
                <a:gd name="T62" fmla="*/ 181 w 2661"/>
                <a:gd name="T63" fmla="*/ 29 h 1639"/>
                <a:gd name="T64" fmla="*/ 163 w 2661"/>
                <a:gd name="T65" fmla="*/ 21 h 1639"/>
                <a:gd name="T66" fmla="*/ 162 w 2661"/>
                <a:gd name="T67" fmla="*/ 8 h 1639"/>
                <a:gd name="T68" fmla="*/ 148 w 2661"/>
                <a:gd name="T69" fmla="*/ 1 h 1639"/>
                <a:gd name="T70" fmla="*/ 144 w 2661"/>
                <a:gd name="T71" fmla="*/ 0 h 1639"/>
                <a:gd name="T72" fmla="*/ 130 w 2661"/>
                <a:gd name="T73" fmla="*/ 5 h 1639"/>
                <a:gd name="T74" fmla="*/ 126 w 2661"/>
                <a:gd name="T75" fmla="*/ 5 h 1639"/>
                <a:gd name="T76" fmla="*/ 119 w 2661"/>
                <a:gd name="T77" fmla="*/ 11 h 1639"/>
                <a:gd name="T78" fmla="*/ 102 w 2661"/>
                <a:gd name="T79" fmla="*/ 18 h 1639"/>
                <a:gd name="T80" fmla="*/ 86 w 2661"/>
                <a:gd name="T81" fmla="*/ 23 h 1639"/>
                <a:gd name="T82" fmla="*/ 74 w 2661"/>
                <a:gd name="T83" fmla="*/ 29 h 1639"/>
                <a:gd name="T84" fmla="*/ 61 w 2661"/>
                <a:gd name="T85" fmla="*/ 35 h 1639"/>
                <a:gd name="T86" fmla="*/ 58 w 2661"/>
                <a:gd name="T87" fmla="*/ 37 h 1639"/>
                <a:gd name="T88" fmla="*/ 55 w 2661"/>
                <a:gd name="T89" fmla="*/ 55 h 1639"/>
                <a:gd name="T90" fmla="*/ 34 w 2661"/>
                <a:gd name="T91" fmla="*/ 63 h 1639"/>
                <a:gd name="T92" fmla="*/ 0 w 2661"/>
                <a:gd name="T93" fmla="*/ 78 h 1639"/>
                <a:gd name="T94" fmla="*/ 1 w 2661"/>
                <a:gd name="T95" fmla="*/ 96 h 1639"/>
                <a:gd name="T96" fmla="*/ 0 w 2661"/>
                <a:gd name="T97" fmla="*/ 111 h 1639"/>
                <a:gd name="T98" fmla="*/ 0 w 2661"/>
                <a:gd name="T99" fmla="*/ 134 h 1639"/>
                <a:gd name="T100" fmla="*/ 0 w 2661"/>
                <a:gd name="T101" fmla="*/ 143 h 163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661"/>
                <a:gd name="T154" fmla="*/ 0 h 1639"/>
                <a:gd name="T155" fmla="*/ 2661 w 2661"/>
                <a:gd name="T156" fmla="*/ 1639 h 163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661" h="1639">
                  <a:moveTo>
                    <a:pt x="5" y="1253"/>
                  </a:moveTo>
                  <a:lnTo>
                    <a:pt x="242" y="1335"/>
                  </a:lnTo>
                  <a:lnTo>
                    <a:pt x="497" y="1440"/>
                  </a:lnTo>
                  <a:lnTo>
                    <a:pt x="679" y="1507"/>
                  </a:lnTo>
                  <a:lnTo>
                    <a:pt x="847" y="1565"/>
                  </a:lnTo>
                  <a:lnTo>
                    <a:pt x="924" y="1603"/>
                  </a:lnTo>
                  <a:lnTo>
                    <a:pt x="1118" y="1639"/>
                  </a:lnTo>
                  <a:lnTo>
                    <a:pt x="1243" y="1589"/>
                  </a:lnTo>
                  <a:lnTo>
                    <a:pt x="1380" y="1515"/>
                  </a:lnTo>
                  <a:lnTo>
                    <a:pt x="1572" y="1560"/>
                  </a:lnTo>
                  <a:lnTo>
                    <a:pt x="1817" y="1440"/>
                  </a:lnTo>
                  <a:lnTo>
                    <a:pt x="1855" y="1416"/>
                  </a:lnTo>
                  <a:lnTo>
                    <a:pt x="1946" y="1383"/>
                  </a:lnTo>
                  <a:lnTo>
                    <a:pt x="2047" y="1354"/>
                  </a:lnTo>
                  <a:lnTo>
                    <a:pt x="2124" y="1325"/>
                  </a:lnTo>
                  <a:lnTo>
                    <a:pt x="2249" y="1349"/>
                  </a:lnTo>
                  <a:lnTo>
                    <a:pt x="2287" y="1339"/>
                  </a:lnTo>
                  <a:lnTo>
                    <a:pt x="2345" y="1335"/>
                  </a:lnTo>
                  <a:lnTo>
                    <a:pt x="2402" y="1287"/>
                  </a:lnTo>
                  <a:lnTo>
                    <a:pt x="2527" y="1253"/>
                  </a:lnTo>
                  <a:lnTo>
                    <a:pt x="2594" y="1229"/>
                  </a:lnTo>
                  <a:lnTo>
                    <a:pt x="2661" y="1186"/>
                  </a:lnTo>
                  <a:lnTo>
                    <a:pt x="2561" y="1027"/>
                  </a:lnTo>
                  <a:lnTo>
                    <a:pt x="2561" y="989"/>
                  </a:lnTo>
                  <a:lnTo>
                    <a:pt x="2532" y="955"/>
                  </a:lnTo>
                  <a:lnTo>
                    <a:pt x="2373" y="730"/>
                  </a:lnTo>
                  <a:lnTo>
                    <a:pt x="2244" y="663"/>
                  </a:lnTo>
                  <a:lnTo>
                    <a:pt x="2066" y="408"/>
                  </a:lnTo>
                  <a:lnTo>
                    <a:pt x="1941" y="379"/>
                  </a:lnTo>
                  <a:lnTo>
                    <a:pt x="1812" y="327"/>
                  </a:lnTo>
                  <a:lnTo>
                    <a:pt x="1725" y="288"/>
                  </a:lnTo>
                  <a:lnTo>
                    <a:pt x="1591" y="255"/>
                  </a:lnTo>
                  <a:lnTo>
                    <a:pt x="1433" y="183"/>
                  </a:lnTo>
                  <a:lnTo>
                    <a:pt x="1423" y="72"/>
                  </a:lnTo>
                  <a:lnTo>
                    <a:pt x="1298" y="10"/>
                  </a:lnTo>
                  <a:lnTo>
                    <a:pt x="1265" y="0"/>
                  </a:lnTo>
                  <a:lnTo>
                    <a:pt x="1145" y="43"/>
                  </a:lnTo>
                  <a:lnTo>
                    <a:pt x="1111" y="43"/>
                  </a:lnTo>
                  <a:lnTo>
                    <a:pt x="1044" y="96"/>
                  </a:lnTo>
                  <a:lnTo>
                    <a:pt x="900" y="159"/>
                  </a:lnTo>
                  <a:lnTo>
                    <a:pt x="756" y="202"/>
                  </a:lnTo>
                  <a:lnTo>
                    <a:pt x="650" y="250"/>
                  </a:lnTo>
                  <a:lnTo>
                    <a:pt x="535" y="312"/>
                  </a:lnTo>
                  <a:lnTo>
                    <a:pt x="506" y="327"/>
                  </a:lnTo>
                  <a:lnTo>
                    <a:pt x="487" y="483"/>
                  </a:lnTo>
                  <a:lnTo>
                    <a:pt x="300" y="547"/>
                  </a:lnTo>
                  <a:lnTo>
                    <a:pt x="0" y="682"/>
                  </a:lnTo>
                  <a:lnTo>
                    <a:pt x="12" y="838"/>
                  </a:lnTo>
                  <a:lnTo>
                    <a:pt x="2" y="970"/>
                  </a:lnTo>
                  <a:lnTo>
                    <a:pt x="2" y="1174"/>
                  </a:lnTo>
                  <a:lnTo>
                    <a:pt x="5" y="1253"/>
                  </a:lnTo>
                  <a:close/>
                </a:path>
              </a:pathLst>
            </a:custGeom>
            <a:blipFill dpi="0" rotWithShape="1">
              <a:blip r:embed="rId3"/>
              <a:srcRect/>
              <a:tile tx="0" ty="0" sx="100000" sy="100000" flip="none" algn="tl"/>
            </a:blipFill>
            <a:ln w="6350">
              <a:solidFill>
                <a:schemeClr val="tx1"/>
              </a:solidFill>
              <a:round/>
              <a:headEnd/>
              <a:tailEnd/>
            </a:ln>
          </p:spPr>
          <p:txBody>
            <a:bodyPr/>
            <a:lstStyle/>
            <a:p>
              <a:endParaRPr lang="zh-CN" altLang="en-US"/>
            </a:p>
          </p:txBody>
        </p:sp>
        <p:sp>
          <p:nvSpPr>
            <p:cNvPr id="259" name="Freeform 17" descr="Großes Konfetti"/>
            <p:cNvSpPr>
              <a:spLocks/>
            </p:cNvSpPr>
            <p:nvPr/>
          </p:nvSpPr>
          <p:spPr bwMode="auto">
            <a:xfrm>
              <a:off x="763" y="929"/>
              <a:ext cx="216" cy="236"/>
            </a:xfrm>
            <a:custGeom>
              <a:avLst/>
              <a:gdLst>
                <a:gd name="T0" fmla="*/ 0 w 639"/>
                <a:gd name="T1" fmla="*/ 8 h 696"/>
                <a:gd name="T2" fmla="*/ 2 w 639"/>
                <a:gd name="T3" fmla="*/ 6 h 696"/>
                <a:gd name="T4" fmla="*/ 5 w 639"/>
                <a:gd name="T5" fmla="*/ 5 h 696"/>
                <a:gd name="T6" fmla="*/ 6 w 639"/>
                <a:gd name="T7" fmla="*/ 4 h 696"/>
                <a:gd name="T8" fmla="*/ 8 w 639"/>
                <a:gd name="T9" fmla="*/ 3 h 696"/>
                <a:gd name="T10" fmla="*/ 11 w 639"/>
                <a:gd name="T11" fmla="*/ 2 h 696"/>
                <a:gd name="T12" fmla="*/ 12 w 639"/>
                <a:gd name="T13" fmla="*/ 1 h 696"/>
                <a:gd name="T14" fmla="*/ 14 w 639"/>
                <a:gd name="T15" fmla="*/ 1 h 696"/>
                <a:gd name="T16" fmla="*/ 15 w 639"/>
                <a:gd name="T17" fmla="*/ 0 h 696"/>
                <a:gd name="T18" fmla="*/ 17 w 639"/>
                <a:gd name="T19" fmla="*/ 3 h 696"/>
                <a:gd name="T20" fmla="*/ 18 w 639"/>
                <a:gd name="T21" fmla="*/ 6 h 696"/>
                <a:gd name="T22" fmla="*/ 20 w 639"/>
                <a:gd name="T23" fmla="*/ 12 h 696"/>
                <a:gd name="T24" fmla="*/ 22 w 639"/>
                <a:gd name="T25" fmla="*/ 15 h 696"/>
                <a:gd name="T26" fmla="*/ 24 w 639"/>
                <a:gd name="T27" fmla="*/ 19 h 696"/>
                <a:gd name="T28" fmla="*/ 25 w 639"/>
                <a:gd name="T29" fmla="*/ 20 h 696"/>
                <a:gd name="T30" fmla="*/ 22 w 639"/>
                <a:gd name="T31" fmla="*/ 22 h 696"/>
                <a:gd name="T32" fmla="*/ 20 w 639"/>
                <a:gd name="T33" fmla="*/ 23 h 696"/>
                <a:gd name="T34" fmla="*/ 17 w 639"/>
                <a:gd name="T35" fmla="*/ 25 h 696"/>
                <a:gd name="T36" fmla="*/ 14 w 639"/>
                <a:gd name="T37" fmla="*/ 26 h 696"/>
                <a:gd name="T38" fmla="*/ 13 w 639"/>
                <a:gd name="T39" fmla="*/ 27 h 696"/>
                <a:gd name="T40" fmla="*/ 10 w 639"/>
                <a:gd name="T41" fmla="*/ 25 h 696"/>
                <a:gd name="T42" fmla="*/ 9 w 639"/>
                <a:gd name="T43" fmla="*/ 22 h 696"/>
                <a:gd name="T44" fmla="*/ 8 w 639"/>
                <a:gd name="T45" fmla="*/ 20 h 696"/>
                <a:gd name="T46" fmla="*/ 7 w 639"/>
                <a:gd name="T47" fmla="*/ 18 h 696"/>
                <a:gd name="T48" fmla="*/ 6 w 639"/>
                <a:gd name="T49" fmla="*/ 16 h 696"/>
                <a:gd name="T50" fmla="*/ 4 w 639"/>
                <a:gd name="T51" fmla="*/ 14 h 696"/>
                <a:gd name="T52" fmla="*/ 3 w 639"/>
                <a:gd name="T53" fmla="*/ 12 h 696"/>
                <a:gd name="T54" fmla="*/ 2 w 639"/>
                <a:gd name="T55" fmla="*/ 10 h 696"/>
                <a:gd name="T56" fmla="*/ 0 w 639"/>
                <a:gd name="T57" fmla="*/ 8 h 69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9"/>
                <a:gd name="T88" fmla="*/ 0 h 696"/>
                <a:gd name="T89" fmla="*/ 639 w 639"/>
                <a:gd name="T90" fmla="*/ 696 h 69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9" h="696">
                  <a:moveTo>
                    <a:pt x="0" y="200"/>
                  </a:moveTo>
                  <a:lnTo>
                    <a:pt x="62" y="151"/>
                  </a:lnTo>
                  <a:lnTo>
                    <a:pt x="124" y="123"/>
                  </a:lnTo>
                  <a:lnTo>
                    <a:pt x="165" y="99"/>
                  </a:lnTo>
                  <a:lnTo>
                    <a:pt x="222" y="67"/>
                  </a:lnTo>
                  <a:lnTo>
                    <a:pt x="280" y="61"/>
                  </a:lnTo>
                  <a:lnTo>
                    <a:pt x="318" y="35"/>
                  </a:lnTo>
                  <a:lnTo>
                    <a:pt x="357" y="23"/>
                  </a:lnTo>
                  <a:lnTo>
                    <a:pt x="395" y="0"/>
                  </a:lnTo>
                  <a:lnTo>
                    <a:pt x="432" y="67"/>
                  </a:lnTo>
                  <a:lnTo>
                    <a:pt x="466" y="163"/>
                  </a:lnTo>
                  <a:lnTo>
                    <a:pt x="517" y="291"/>
                  </a:lnTo>
                  <a:lnTo>
                    <a:pt x="581" y="394"/>
                  </a:lnTo>
                  <a:lnTo>
                    <a:pt x="632" y="483"/>
                  </a:lnTo>
                  <a:lnTo>
                    <a:pt x="638" y="515"/>
                  </a:lnTo>
                  <a:lnTo>
                    <a:pt x="562" y="560"/>
                  </a:lnTo>
                  <a:lnTo>
                    <a:pt x="517" y="586"/>
                  </a:lnTo>
                  <a:lnTo>
                    <a:pt x="440" y="637"/>
                  </a:lnTo>
                  <a:lnTo>
                    <a:pt x="363" y="669"/>
                  </a:lnTo>
                  <a:lnTo>
                    <a:pt x="325" y="695"/>
                  </a:lnTo>
                  <a:lnTo>
                    <a:pt x="274" y="631"/>
                  </a:lnTo>
                  <a:lnTo>
                    <a:pt x="242" y="567"/>
                  </a:lnTo>
                  <a:lnTo>
                    <a:pt x="203" y="515"/>
                  </a:lnTo>
                  <a:lnTo>
                    <a:pt x="178" y="464"/>
                  </a:lnTo>
                  <a:lnTo>
                    <a:pt x="146" y="419"/>
                  </a:lnTo>
                  <a:lnTo>
                    <a:pt x="114" y="362"/>
                  </a:lnTo>
                  <a:lnTo>
                    <a:pt x="75" y="291"/>
                  </a:lnTo>
                  <a:lnTo>
                    <a:pt x="48" y="254"/>
                  </a:lnTo>
                  <a:lnTo>
                    <a:pt x="0" y="200"/>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60" name="Freeform 18" descr="Großes Konfetti"/>
            <p:cNvSpPr>
              <a:spLocks/>
            </p:cNvSpPr>
            <p:nvPr/>
          </p:nvSpPr>
          <p:spPr bwMode="auto">
            <a:xfrm>
              <a:off x="1018" y="926"/>
              <a:ext cx="248" cy="230"/>
            </a:xfrm>
            <a:custGeom>
              <a:avLst/>
              <a:gdLst>
                <a:gd name="T0" fmla="*/ 0 w 730"/>
                <a:gd name="T1" fmla="*/ 7 h 679"/>
                <a:gd name="T2" fmla="*/ 2 w 730"/>
                <a:gd name="T3" fmla="*/ 5 h 679"/>
                <a:gd name="T4" fmla="*/ 4 w 730"/>
                <a:gd name="T5" fmla="*/ 4 h 679"/>
                <a:gd name="T6" fmla="*/ 6 w 730"/>
                <a:gd name="T7" fmla="*/ 3 h 679"/>
                <a:gd name="T8" fmla="*/ 8 w 730"/>
                <a:gd name="T9" fmla="*/ 3 h 679"/>
                <a:gd name="T10" fmla="*/ 14 w 730"/>
                <a:gd name="T11" fmla="*/ 1 h 679"/>
                <a:gd name="T12" fmla="*/ 15 w 730"/>
                <a:gd name="T13" fmla="*/ 0 h 679"/>
                <a:gd name="T14" fmla="*/ 16 w 730"/>
                <a:gd name="T15" fmla="*/ 0 h 679"/>
                <a:gd name="T16" fmla="*/ 16 w 730"/>
                <a:gd name="T17" fmla="*/ 1 h 679"/>
                <a:gd name="T18" fmla="*/ 18 w 730"/>
                <a:gd name="T19" fmla="*/ 2 h 679"/>
                <a:gd name="T20" fmla="*/ 18 w 730"/>
                <a:gd name="T21" fmla="*/ 4 h 679"/>
                <a:gd name="T22" fmla="*/ 20 w 730"/>
                <a:gd name="T23" fmla="*/ 5 h 679"/>
                <a:gd name="T24" fmla="*/ 21 w 730"/>
                <a:gd name="T25" fmla="*/ 7 h 679"/>
                <a:gd name="T26" fmla="*/ 23 w 730"/>
                <a:gd name="T27" fmla="*/ 9 h 679"/>
                <a:gd name="T28" fmla="*/ 23 w 730"/>
                <a:gd name="T29" fmla="*/ 12 h 679"/>
                <a:gd name="T30" fmla="*/ 25 w 730"/>
                <a:gd name="T31" fmla="*/ 15 h 679"/>
                <a:gd name="T32" fmla="*/ 26 w 730"/>
                <a:gd name="T33" fmla="*/ 16 h 679"/>
                <a:gd name="T34" fmla="*/ 28 w 730"/>
                <a:gd name="T35" fmla="*/ 18 h 679"/>
                <a:gd name="T36" fmla="*/ 29 w 730"/>
                <a:gd name="T37" fmla="*/ 19 h 679"/>
                <a:gd name="T38" fmla="*/ 26 w 730"/>
                <a:gd name="T39" fmla="*/ 20 h 679"/>
                <a:gd name="T40" fmla="*/ 24 w 730"/>
                <a:gd name="T41" fmla="*/ 20 h 679"/>
                <a:gd name="T42" fmla="*/ 22 w 730"/>
                <a:gd name="T43" fmla="*/ 22 h 679"/>
                <a:gd name="T44" fmla="*/ 18 w 730"/>
                <a:gd name="T45" fmla="*/ 24 h 679"/>
                <a:gd name="T46" fmla="*/ 15 w 730"/>
                <a:gd name="T47" fmla="*/ 25 h 679"/>
                <a:gd name="T48" fmla="*/ 12 w 730"/>
                <a:gd name="T49" fmla="*/ 26 h 679"/>
                <a:gd name="T50" fmla="*/ 11 w 730"/>
                <a:gd name="T51" fmla="*/ 24 h 679"/>
                <a:gd name="T52" fmla="*/ 10 w 730"/>
                <a:gd name="T53" fmla="*/ 22 h 679"/>
                <a:gd name="T54" fmla="*/ 8 w 730"/>
                <a:gd name="T55" fmla="*/ 20 h 679"/>
                <a:gd name="T56" fmla="*/ 6 w 730"/>
                <a:gd name="T57" fmla="*/ 18 h 679"/>
                <a:gd name="T58" fmla="*/ 5 w 730"/>
                <a:gd name="T59" fmla="*/ 16 h 679"/>
                <a:gd name="T60" fmla="*/ 4 w 730"/>
                <a:gd name="T61" fmla="*/ 15 h 679"/>
                <a:gd name="T62" fmla="*/ 3 w 730"/>
                <a:gd name="T63" fmla="*/ 12 h 679"/>
                <a:gd name="T64" fmla="*/ 2 w 730"/>
                <a:gd name="T65" fmla="*/ 9 h 679"/>
                <a:gd name="T66" fmla="*/ 0 w 730"/>
                <a:gd name="T67" fmla="*/ 7 h 67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30"/>
                <a:gd name="T103" fmla="*/ 0 h 679"/>
                <a:gd name="T104" fmla="*/ 730 w 730"/>
                <a:gd name="T105" fmla="*/ 679 h 67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30" h="679">
                  <a:moveTo>
                    <a:pt x="0" y="172"/>
                  </a:moveTo>
                  <a:lnTo>
                    <a:pt x="51" y="128"/>
                  </a:lnTo>
                  <a:lnTo>
                    <a:pt x="102" y="108"/>
                  </a:lnTo>
                  <a:lnTo>
                    <a:pt x="147" y="89"/>
                  </a:lnTo>
                  <a:lnTo>
                    <a:pt x="211" y="70"/>
                  </a:lnTo>
                  <a:lnTo>
                    <a:pt x="345" y="25"/>
                  </a:lnTo>
                  <a:lnTo>
                    <a:pt x="371" y="12"/>
                  </a:lnTo>
                  <a:lnTo>
                    <a:pt x="396" y="0"/>
                  </a:lnTo>
                  <a:lnTo>
                    <a:pt x="416" y="25"/>
                  </a:lnTo>
                  <a:lnTo>
                    <a:pt x="456" y="61"/>
                  </a:lnTo>
                  <a:lnTo>
                    <a:pt x="467" y="102"/>
                  </a:lnTo>
                  <a:lnTo>
                    <a:pt x="505" y="128"/>
                  </a:lnTo>
                  <a:lnTo>
                    <a:pt x="537" y="185"/>
                  </a:lnTo>
                  <a:lnTo>
                    <a:pt x="576" y="243"/>
                  </a:lnTo>
                  <a:lnTo>
                    <a:pt x="601" y="300"/>
                  </a:lnTo>
                  <a:lnTo>
                    <a:pt x="633" y="371"/>
                  </a:lnTo>
                  <a:lnTo>
                    <a:pt x="672" y="409"/>
                  </a:lnTo>
                  <a:lnTo>
                    <a:pt x="710" y="460"/>
                  </a:lnTo>
                  <a:lnTo>
                    <a:pt x="729" y="492"/>
                  </a:lnTo>
                  <a:lnTo>
                    <a:pt x="665" y="512"/>
                  </a:lnTo>
                  <a:lnTo>
                    <a:pt x="614" y="524"/>
                  </a:lnTo>
                  <a:lnTo>
                    <a:pt x="556" y="576"/>
                  </a:lnTo>
                  <a:lnTo>
                    <a:pt x="460" y="620"/>
                  </a:lnTo>
                  <a:lnTo>
                    <a:pt x="377" y="652"/>
                  </a:lnTo>
                  <a:lnTo>
                    <a:pt x="313" y="678"/>
                  </a:lnTo>
                  <a:lnTo>
                    <a:pt x="275" y="633"/>
                  </a:lnTo>
                  <a:lnTo>
                    <a:pt x="249" y="576"/>
                  </a:lnTo>
                  <a:lnTo>
                    <a:pt x="217" y="512"/>
                  </a:lnTo>
                  <a:lnTo>
                    <a:pt x="166" y="460"/>
                  </a:lnTo>
                  <a:lnTo>
                    <a:pt x="134" y="422"/>
                  </a:lnTo>
                  <a:lnTo>
                    <a:pt x="102" y="384"/>
                  </a:lnTo>
                  <a:lnTo>
                    <a:pt x="76" y="307"/>
                  </a:lnTo>
                  <a:lnTo>
                    <a:pt x="64" y="249"/>
                  </a:lnTo>
                  <a:lnTo>
                    <a:pt x="0" y="172"/>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61" name="Freeform 19" descr="Großes Konfetti"/>
            <p:cNvSpPr>
              <a:spLocks/>
            </p:cNvSpPr>
            <p:nvPr/>
          </p:nvSpPr>
          <p:spPr bwMode="auto">
            <a:xfrm>
              <a:off x="1163" y="869"/>
              <a:ext cx="220" cy="218"/>
            </a:xfrm>
            <a:custGeom>
              <a:avLst/>
              <a:gdLst>
                <a:gd name="T0" fmla="*/ 0 w 648"/>
                <a:gd name="T1" fmla="*/ 5 h 641"/>
                <a:gd name="T2" fmla="*/ 3 w 648"/>
                <a:gd name="T3" fmla="*/ 5 h 641"/>
                <a:gd name="T4" fmla="*/ 5 w 648"/>
                <a:gd name="T5" fmla="*/ 4 h 641"/>
                <a:gd name="T6" fmla="*/ 7 w 648"/>
                <a:gd name="T7" fmla="*/ 2 h 641"/>
                <a:gd name="T8" fmla="*/ 9 w 648"/>
                <a:gd name="T9" fmla="*/ 1 h 641"/>
                <a:gd name="T10" fmla="*/ 12 w 648"/>
                <a:gd name="T11" fmla="*/ 1 h 641"/>
                <a:gd name="T12" fmla="*/ 13 w 648"/>
                <a:gd name="T13" fmla="*/ 0 h 641"/>
                <a:gd name="T14" fmla="*/ 14 w 648"/>
                <a:gd name="T15" fmla="*/ 1 h 641"/>
                <a:gd name="T16" fmla="*/ 16 w 648"/>
                <a:gd name="T17" fmla="*/ 3 h 641"/>
                <a:gd name="T18" fmla="*/ 17 w 648"/>
                <a:gd name="T19" fmla="*/ 6 h 641"/>
                <a:gd name="T20" fmla="*/ 18 w 648"/>
                <a:gd name="T21" fmla="*/ 8 h 641"/>
                <a:gd name="T22" fmla="*/ 19 w 648"/>
                <a:gd name="T23" fmla="*/ 11 h 641"/>
                <a:gd name="T24" fmla="*/ 20 w 648"/>
                <a:gd name="T25" fmla="*/ 12 h 641"/>
                <a:gd name="T26" fmla="*/ 21 w 648"/>
                <a:gd name="T27" fmla="*/ 15 h 641"/>
                <a:gd name="T28" fmla="*/ 23 w 648"/>
                <a:gd name="T29" fmla="*/ 17 h 641"/>
                <a:gd name="T30" fmla="*/ 25 w 648"/>
                <a:gd name="T31" fmla="*/ 19 h 641"/>
                <a:gd name="T32" fmla="*/ 25 w 648"/>
                <a:gd name="T33" fmla="*/ 19 h 641"/>
                <a:gd name="T34" fmla="*/ 22 w 648"/>
                <a:gd name="T35" fmla="*/ 21 h 641"/>
                <a:gd name="T36" fmla="*/ 19 w 648"/>
                <a:gd name="T37" fmla="*/ 22 h 641"/>
                <a:gd name="T38" fmla="*/ 16 w 648"/>
                <a:gd name="T39" fmla="*/ 23 h 641"/>
                <a:gd name="T40" fmla="*/ 13 w 648"/>
                <a:gd name="T41" fmla="*/ 24 h 641"/>
                <a:gd name="T42" fmla="*/ 12 w 648"/>
                <a:gd name="T43" fmla="*/ 25 h 641"/>
                <a:gd name="T44" fmla="*/ 11 w 648"/>
                <a:gd name="T45" fmla="*/ 24 h 641"/>
                <a:gd name="T46" fmla="*/ 10 w 648"/>
                <a:gd name="T47" fmla="*/ 22 h 641"/>
                <a:gd name="T48" fmla="*/ 9 w 648"/>
                <a:gd name="T49" fmla="*/ 20 h 641"/>
                <a:gd name="T50" fmla="*/ 8 w 648"/>
                <a:gd name="T51" fmla="*/ 19 h 641"/>
                <a:gd name="T52" fmla="*/ 6 w 648"/>
                <a:gd name="T53" fmla="*/ 17 h 641"/>
                <a:gd name="T54" fmla="*/ 5 w 648"/>
                <a:gd name="T55" fmla="*/ 15 h 641"/>
                <a:gd name="T56" fmla="*/ 4 w 648"/>
                <a:gd name="T57" fmla="*/ 13 h 641"/>
                <a:gd name="T58" fmla="*/ 2 w 648"/>
                <a:gd name="T59" fmla="*/ 10 h 641"/>
                <a:gd name="T60" fmla="*/ 2 w 648"/>
                <a:gd name="T61" fmla="*/ 9 h 641"/>
                <a:gd name="T62" fmla="*/ 0 w 648"/>
                <a:gd name="T63" fmla="*/ 5 h 6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48"/>
                <a:gd name="T97" fmla="*/ 0 h 641"/>
                <a:gd name="T98" fmla="*/ 648 w 648"/>
                <a:gd name="T99" fmla="*/ 641 h 6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48" h="641">
                  <a:moveTo>
                    <a:pt x="0" y="141"/>
                  </a:moveTo>
                  <a:lnTo>
                    <a:pt x="84" y="122"/>
                  </a:lnTo>
                  <a:lnTo>
                    <a:pt x="128" y="90"/>
                  </a:lnTo>
                  <a:lnTo>
                    <a:pt x="192" y="64"/>
                  </a:lnTo>
                  <a:lnTo>
                    <a:pt x="231" y="32"/>
                  </a:lnTo>
                  <a:lnTo>
                    <a:pt x="314" y="26"/>
                  </a:lnTo>
                  <a:lnTo>
                    <a:pt x="327" y="0"/>
                  </a:lnTo>
                  <a:lnTo>
                    <a:pt x="359" y="39"/>
                  </a:lnTo>
                  <a:lnTo>
                    <a:pt x="404" y="83"/>
                  </a:lnTo>
                  <a:lnTo>
                    <a:pt x="436" y="154"/>
                  </a:lnTo>
                  <a:lnTo>
                    <a:pt x="455" y="199"/>
                  </a:lnTo>
                  <a:lnTo>
                    <a:pt x="487" y="269"/>
                  </a:lnTo>
                  <a:lnTo>
                    <a:pt x="519" y="307"/>
                  </a:lnTo>
                  <a:lnTo>
                    <a:pt x="544" y="371"/>
                  </a:lnTo>
                  <a:lnTo>
                    <a:pt x="596" y="429"/>
                  </a:lnTo>
                  <a:lnTo>
                    <a:pt x="634" y="474"/>
                  </a:lnTo>
                  <a:lnTo>
                    <a:pt x="647" y="493"/>
                  </a:lnTo>
                  <a:lnTo>
                    <a:pt x="570" y="525"/>
                  </a:lnTo>
                  <a:lnTo>
                    <a:pt x="487" y="563"/>
                  </a:lnTo>
                  <a:lnTo>
                    <a:pt x="416" y="583"/>
                  </a:lnTo>
                  <a:lnTo>
                    <a:pt x="333" y="627"/>
                  </a:lnTo>
                  <a:lnTo>
                    <a:pt x="308" y="640"/>
                  </a:lnTo>
                  <a:lnTo>
                    <a:pt x="269" y="615"/>
                  </a:lnTo>
                  <a:lnTo>
                    <a:pt x="244" y="551"/>
                  </a:lnTo>
                  <a:lnTo>
                    <a:pt x="231" y="506"/>
                  </a:lnTo>
                  <a:lnTo>
                    <a:pt x="205" y="474"/>
                  </a:lnTo>
                  <a:lnTo>
                    <a:pt x="167" y="435"/>
                  </a:lnTo>
                  <a:lnTo>
                    <a:pt x="135" y="378"/>
                  </a:lnTo>
                  <a:lnTo>
                    <a:pt x="90" y="320"/>
                  </a:lnTo>
                  <a:lnTo>
                    <a:pt x="58" y="263"/>
                  </a:lnTo>
                  <a:lnTo>
                    <a:pt x="52" y="218"/>
                  </a:lnTo>
                  <a:lnTo>
                    <a:pt x="0" y="141"/>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62" name="Freeform 20" descr="Großes Konfetti"/>
            <p:cNvSpPr>
              <a:spLocks/>
            </p:cNvSpPr>
            <p:nvPr/>
          </p:nvSpPr>
          <p:spPr bwMode="auto">
            <a:xfrm>
              <a:off x="1368" y="800"/>
              <a:ext cx="282" cy="209"/>
            </a:xfrm>
            <a:custGeom>
              <a:avLst/>
              <a:gdLst>
                <a:gd name="T0" fmla="*/ 8 w 833"/>
                <a:gd name="T1" fmla="*/ 24 h 616"/>
                <a:gd name="T2" fmla="*/ 7 w 833"/>
                <a:gd name="T3" fmla="*/ 22 h 616"/>
                <a:gd name="T4" fmla="*/ 6 w 833"/>
                <a:gd name="T5" fmla="*/ 20 h 616"/>
                <a:gd name="T6" fmla="*/ 6 w 833"/>
                <a:gd name="T7" fmla="*/ 18 h 616"/>
                <a:gd name="T8" fmla="*/ 5 w 833"/>
                <a:gd name="T9" fmla="*/ 16 h 616"/>
                <a:gd name="T10" fmla="*/ 4 w 833"/>
                <a:gd name="T11" fmla="*/ 14 h 616"/>
                <a:gd name="T12" fmla="*/ 2 w 833"/>
                <a:gd name="T13" fmla="*/ 11 h 616"/>
                <a:gd name="T14" fmla="*/ 0 w 833"/>
                <a:gd name="T15" fmla="*/ 10 h 616"/>
                <a:gd name="T16" fmla="*/ 2 w 833"/>
                <a:gd name="T17" fmla="*/ 9 h 616"/>
                <a:gd name="T18" fmla="*/ 4 w 833"/>
                <a:gd name="T19" fmla="*/ 8 h 616"/>
                <a:gd name="T20" fmla="*/ 7 w 833"/>
                <a:gd name="T21" fmla="*/ 6 h 616"/>
                <a:gd name="T22" fmla="*/ 9 w 833"/>
                <a:gd name="T23" fmla="*/ 6 h 616"/>
                <a:gd name="T24" fmla="*/ 12 w 833"/>
                <a:gd name="T25" fmla="*/ 5 h 616"/>
                <a:gd name="T26" fmla="*/ 14 w 833"/>
                <a:gd name="T27" fmla="*/ 4 h 616"/>
                <a:gd name="T28" fmla="*/ 17 w 833"/>
                <a:gd name="T29" fmla="*/ 3 h 616"/>
                <a:gd name="T30" fmla="*/ 18 w 833"/>
                <a:gd name="T31" fmla="*/ 2 h 616"/>
                <a:gd name="T32" fmla="*/ 21 w 833"/>
                <a:gd name="T33" fmla="*/ 1 h 616"/>
                <a:gd name="T34" fmla="*/ 22 w 833"/>
                <a:gd name="T35" fmla="*/ 0 h 616"/>
                <a:gd name="T36" fmla="*/ 24 w 833"/>
                <a:gd name="T37" fmla="*/ 2 h 616"/>
                <a:gd name="T38" fmla="*/ 26 w 833"/>
                <a:gd name="T39" fmla="*/ 5 h 616"/>
                <a:gd name="T40" fmla="*/ 28 w 833"/>
                <a:gd name="T41" fmla="*/ 8 h 616"/>
                <a:gd name="T42" fmla="*/ 30 w 833"/>
                <a:gd name="T43" fmla="*/ 11 h 616"/>
                <a:gd name="T44" fmla="*/ 31 w 833"/>
                <a:gd name="T45" fmla="*/ 14 h 616"/>
                <a:gd name="T46" fmla="*/ 32 w 833"/>
                <a:gd name="T47" fmla="*/ 15 h 616"/>
                <a:gd name="T48" fmla="*/ 28 w 833"/>
                <a:gd name="T49" fmla="*/ 16 h 616"/>
                <a:gd name="T50" fmla="*/ 24 w 833"/>
                <a:gd name="T51" fmla="*/ 18 h 616"/>
                <a:gd name="T52" fmla="*/ 23 w 833"/>
                <a:gd name="T53" fmla="*/ 18 h 616"/>
                <a:gd name="T54" fmla="*/ 21 w 833"/>
                <a:gd name="T55" fmla="*/ 17 h 616"/>
                <a:gd name="T56" fmla="*/ 18 w 833"/>
                <a:gd name="T57" fmla="*/ 15 h 616"/>
                <a:gd name="T58" fmla="*/ 17 w 833"/>
                <a:gd name="T59" fmla="*/ 13 h 616"/>
                <a:gd name="T60" fmla="*/ 16 w 833"/>
                <a:gd name="T61" fmla="*/ 11 h 616"/>
                <a:gd name="T62" fmla="*/ 14 w 833"/>
                <a:gd name="T63" fmla="*/ 10 h 616"/>
                <a:gd name="T64" fmla="*/ 13 w 833"/>
                <a:gd name="T65" fmla="*/ 10 h 616"/>
                <a:gd name="T66" fmla="*/ 14 w 833"/>
                <a:gd name="T67" fmla="*/ 12 h 616"/>
                <a:gd name="T68" fmla="*/ 15 w 833"/>
                <a:gd name="T69" fmla="*/ 12 h 616"/>
                <a:gd name="T70" fmla="*/ 16 w 833"/>
                <a:gd name="T71" fmla="*/ 13 h 616"/>
                <a:gd name="T72" fmla="*/ 16 w 833"/>
                <a:gd name="T73" fmla="*/ 14 h 616"/>
                <a:gd name="T74" fmla="*/ 18 w 833"/>
                <a:gd name="T75" fmla="*/ 16 h 616"/>
                <a:gd name="T76" fmla="*/ 20 w 833"/>
                <a:gd name="T77" fmla="*/ 17 h 616"/>
                <a:gd name="T78" fmla="*/ 21 w 833"/>
                <a:gd name="T79" fmla="*/ 19 h 616"/>
                <a:gd name="T80" fmla="*/ 18 w 833"/>
                <a:gd name="T81" fmla="*/ 20 h 616"/>
                <a:gd name="T82" fmla="*/ 15 w 833"/>
                <a:gd name="T83" fmla="*/ 21 h 616"/>
                <a:gd name="T84" fmla="*/ 13 w 833"/>
                <a:gd name="T85" fmla="*/ 23 h 616"/>
                <a:gd name="T86" fmla="*/ 8 w 833"/>
                <a:gd name="T87" fmla="*/ 24 h 6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33"/>
                <a:gd name="T133" fmla="*/ 0 h 616"/>
                <a:gd name="T134" fmla="*/ 833 w 833"/>
                <a:gd name="T135" fmla="*/ 616 h 6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33" h="616">
                  <a:moveTo>
                    <a:pt x="216" y="615"/>
                  </a:moveTo>
                  <a:lnTo>
                    <a:pt x="177" y="557"/>
                  </a:lnTo>
                  <a:lnTo>
                    <a:pt x="164" y="500"/>
                  </a:lnTo>
                  <a:lnTo>
                    <a:pt x="145" y="461"/>
                  </a:lnTo>
                  <a:lnTo>
                    <a:pt x="139" y="416"/>
                  </a:lnTo>
                  <a:lnTo>
                    <a:pt x="107" y="365"/>
                  </a:lnTo>
                  <a:lnTo>
                    <a:pt x="43" y="288"/>
                  </a:lnTo>
                  <a:lnTo>
                    <a:pt x="0" y="251"/>
                  </a:lnTo>
                  <a:lnTo>
                    <a:pt x="56" y="231"/>
                  </a:lnTo>
                  <a:lnTo>
                    <a:pt x="107" y="205"/>
                  </a:lnTo>
                  <a:lnTo>
                    <a:pt x="171" y="167"/>
                  </a:lnTo>
                  <a:lnTo>
                    <a:pt x="248" y="154"/>
                  </a:lnTo>
                  <a:lnTo>
                    <a:pt x="312" y="122"/>
                  </a:lnTo>
                  <a:lnTo>
                    <a:pt x="369" y="96"/>
                  </a:lnTo>
                  <a:lnTo>
                    <a:pt x="427" y="77"/>
                  </a:lnTo>
                  <a:lnTo>
                    <a:pt x="472" y="51"/>
                  </a:lnTo>
                  <a:lnTo>
                    <a:pt x="528" y="19"/>
                  </a:lnTo>
                  <a:lnTo>
                    <a:pt x="561" y="0"/>
                  </a:lnTo>
                  <a:lnTo>
                    <a:pt x="632" y="64"/>
                  </a:lnTo>
                  <a:lnTo>
                    <a:pt x="676" y="141"/>
                  </a:lnTo>
                  <a:lnTo>
                    <a:pt x="728" y="199"/>
                  </a:lnTo>
                  <a:lnTo>
                    <a:pt x="766" y="269"/>
                  </a:lnTo>
                  <a:lnTo>
                    <a:pt x="816" y="349"/>
                  </a:lnTo>
                  <a:lnTo>
                    <a:pt x="832" y="377"/>
                  </a:lnTo>
                  <a:lnTo>
                    <a:pt x="734" y="410"/>
                  </a:lnTo>
                  <a:lnTo>
                    <a:pt x="625" y="461"/>
                  </a:lnTo>
                  <a:lnTo>
                    <a:pt x="587" y="465"/>
                  </a:lnTo>
                  <a:lnTo>
                    <a:pt x="542" y="442"/>
                  </a:lnTo>
                  <a:lnTo>
                    <a:pt x="472" y="384"/>
                  </a:lnTo>
                  <a:lnTo>
                    <a:pt x="438" y="339"/>
                  </a:lnTo>
                  <a:lnTo>
                    <a:pt x="408" y="288"/>
                  </a:lnTo>
                  <a:lnTo>
                    <a:pt x="363" y="256"/>
                  </a:lnTo>
                  <a:lnTo>
                    <a:pt x="337" y="256"/>
                  </a:lnTo>
                  <a:lnTo>
                    <a:pt x="369" y="295"/>
                  </a:lnTo>
                  <a:lnTo>
                    <a:pt x="390" y="312"/>
                  </a:lnTo>
                  <a:lnTo>
                    <a:pt x="398" y="328"/>
                  </a:lnTo>
                  <a:lnTo>
                    <a:pt x="413" y="361"/>
                  </a:lnTo>
                  <a:lnTo>
                    <a:pt x="452" y="397"/>
                  </a:lnTo>
                  <a:lnTo>
                    <a:pt x="510" y="442"/>
                  </a:lnTo>
                  <a:lnTo>
                    <a:pt x="548" y="474"/>
                  </a:lnTo>
                  <a:lnTo>
                    <a:pt x="472" y="512"/>
                  </a:lnTo>
                  <a:lnTo>
                    <a:pt x="388" y="551"/>
                  </a:lnTo>
                  <a:lnTo>
                    <a:pt x="324" y="596"/>
                  </a:lnTo>
                  <a:lnTo>
                    <a:pt x="216" y="615"/>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63" name="Freeform 21" descr="Großes Konfetti"/>
            <p:cNvSpPr>
              <a:spLocks/>
            </p:cNvSpPr>
            <p:nvPr/>
          </p:nvSpPr>
          <p:spPr bwMode="auto">
            <a:xfrm>
              <a:off x="1531" y="956"/>
              <a:ext cx="313" cy="298"/>
            </a:xfrm>
            <a:custGeom>
              <a:avLst/>
              <a:gdLst>
                <a:gd name="T0" fmla="*/ 0 w 923"/>
                <a:gd name="T1" fmla="*/ 9 h 878"/>
                <a:gd name="T2" fmla="*/ 3 w 923"/>
                <a:gd name="T3" fmla="*/ 8 h 878"/>
                <a:gd name="T4" fmla="*/ 7 w 923"/>
                <a:gd name="T5" fmla="*/ 6 h 878"/>
                <a:gd name="T6" fmla="*/ 8 w 923"/>
                <a:gd name="T7" fmla="*/ 5 h 878"/>
                <a:gd name="T8" fmla="*/ 9 w 923"/>
                <a:gd name="T9" fmla="*/ 5 h 878"/>
                <a:gd name="T10" fmla="*/ 11 w 923"/>
                <a:gd name="T11" fmla="*/ 6 h 878"/>
                <a:gd name="T12" fmla="*/ 13 w 923"/>
                <a:gd name="T13" fmla="*/ 9 h 878"/>
                <a:gd name="T14" fmla="*/ 14 w 923"/>
                <a:gd name="T15" fmla="*/ 11 h 878"/>
                <a:gd name="T16" fmla="*/ 13 w 923"/>
                <a:gd name="T17" fmla="*/ 9 h 878"/>
                <a:gd name="T18" fmla="*/ 13 w 923"/>
                <a:gd name="T19" fmla="*/ 8 h 878"/>
                <a:gd name="T20" fmla="*/ 12 w 923"/>
                <a:gd name="T21" fmla="*/ 7 h 878"/>
                <a:gd name="T22" fmla="*/ 12 w 923"/>
                <a:gd name="T23" fmla="*/ 6 h 878"/>
                <a:gd name="T24" fmla="*/ 10 w 923"/>
                <a:gd name="T25" fmla="*/ 4 h 878"/>
                <a:gd name="T26" fmla="*/ 13 w 923"/>
                <a:gd name="T27" fmla="*/ 3 h 878"/>
                <a:gd name="T28" fmla="*/ 15 w 923"/>
                <a:gd name="T29" fmla="*/ 2 h 878"/>
                <a:gd name="T30" fmla="*/ 19 w 923"/>
                <a:gd name="T31" fmla="*/ 1 h 878"/>
                <a:gd name="T32" fmla="*/ 20 w 923"/>
                <a:gd name="T33" fmla="*/ 0 h 878"/>
                <a:gd name="T34" fmla="*/ 21 w 923"/>
                <a:gd name="T35" fmla="*/ 0 h 878"/>
                <a:gd name="T36" fmla="*/ 23 w 923"/>
                <a:gd name="T37" fmla="*/ 3 h 878"/>
                <a:gd name="T38" fmla="*/ 25 w 923"/>
                <a:gd name="T39" fmla="*/ 5 h 878"/>
                <a:gd name="T40" fmla="*/ 26 w 923"/>
                <a:gd name="T41" fmla="*/ 8 h 878"/>
                <a:gd name="T42" fmla="*/ 28 w 923"/>
                <a:gd name="T43" fmla="*/ 11 h 878"/>
                <a:gd name="T44" fmla="*/ 29 w 923"/>
                <a:gd name="T45" fmla="*/ 13 h 878"/>
                <a:gd name="T46" fmla="*/ 31 w 923"/>
                <a:gd name="T47" fmla="*/ 15 h 878"/>
                <a:gd name="T48" fmla="*/ 31 w 923"/>
                <a:gd name="T49" fmla="*/ 17 h 878"/>
                <a:gd name="T50" fmla="*/ 33 w 923"/>
                <a:gd name="T51" fmla="*/ 19 h 878"/>
                <a:gd name="T52" fmla="*/ 34 w 923"/>
                <a:gd name="T53" fmla="*/ 22 h 878"/>
                <a:gd name="T54" fmla="*/ 36 w 923"/>
                <a:gd name="T55" fmla="*/ 25 h 878"/>
                <a:gd name="T56" fmla="*/ 36 w 923"/>
                <a:gd name="T57" fmla="*/ 26 h 878"/>
                <a:gd name="T58" fmla="*/ 32 w 923"/>
                <a:gd name="T59" fmla="*/ 27 h 878"/>
                <a:gd name="T60" fmla="*/ 29 w 923"/>
                <a:gd name="T61" fmla="*/ 29 h 878"/>
                <a:gd name="T62" fmla="*/ 26 w 923"/>
                <a:gd name="T63" fmla="*/ 30 h 878"/>
                <a:gd name="T64" fmla="*/ 23 w 923"/>
                <a:gd name="T65" fmla="*/ 31 h 878"/>
                <a:gd name="T66" fmla="*/ 21 w 923"/>
                <a:gd name="T67" fmla="*/ 32 h 878"/>
                <a:gd name="T68" fmla="*/ 18 w 923"/>
                <a:gd name="T69" fmla="*/ 34 h 878"/>
                <a:gd name="T70" fmla="*/ 15 w 923"/>
                <a:gd name="T71" fmla="*/ 34 h 878"/>
                <a:gd name="T72" fmla="*/ 14 w 923"/>
                <a:gd name="T73" fmla="*/ 31 h 878"/>
                <a:gd name="T74" fmla="*/ 12 w 923"/>
                <a:gd name="T75" fmla="*/ 29 h 878"/>
                <a:gd name="T76" fmla="*/ 10 w 923"/>
                <a:gd name="T77" fmla="*/ 25 h 878"/>
                <a:gd name="T78" fmla="*/ 8 w 923"/>
                <a:gd name="T79" fmla="*/ 23 h 878"/>
                <a:gd name="T80" fmla="*/ 6 w 923"/>
                <a:gd name="T81" fmla="*/ 20 h 878"/>
                <a:gd name="T82" fmla="*/ 5 w 923"/>
                <a:gd name="T83" fmla="*/ 18 h 878"/>
                <a:gd name="T84" fmla="*/ 4 w 923"/>
                <a:gd name="T85" fmla="*/ 15 h 878"/>
                <a:gd name="T86" fmla="*/ 0 w 923"/>
                <a:gd name="T87" fmla="*/ 9 h 8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923"/>
                <a:gd name="T133" fmla="*/ 0 h 878"/>
                <a:gd name="T134" fmla="*/ 923 w 923"/>
                <a:gd name="T135" fmla="*/ 878 h 8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923" h="878">
                  <a:moveTo>
                    <a:pt x="0" y="237"/>
                  </a:moveTo>
                  <a:lnTo>
                    <a:pt x="77" y="199"/>
                  </a:lnTo>
                  <a:lnTo>
                    <a:pt x="173" y="160"/>
                  </a:lnTo>
                  <a:lnTo>
                    <a:pt x="211" y="135"/>
                  </a:lnTo>
                  <a:lnTo>
                    <a:pt x="224" y="122"/>
                  </a:lnTo>
                  <a:lnTo>
                    <a:pt x="275" y="167"/>
                  </a:lnTo>
                  <a:lnTo>
                    <a:pt x="320" y="237"/>
                  </a:lnTo>
                  <a:lnTo>
                    <a:pt x="352" y="269"/>
                  </a:lnTo>
                  <a:lnTo>
                    <a:pt x="339" y="237"/>
                  </a:lnTo>
                  <a:lnTo>
                    <a:pt x="326" y="205"/>
                  </a:lnTo>
                  <a:lnTo>
                    <a:pt x="313" y="177"/>
                  </a:lnTo>
                  <a:lnTo>
                    <a:pt x="299" y="145"/>
                  </a:lnTo>
                  <a:lnTo>
                    <a:pt x="259" y="108"/>
                  </a:lnTo>
                  <a:lnTo>
                    <a:pt x="320" y="71"/>
                  </a:lnTo>
                  <a:lnTo>
                    <a:pt x="390" y="51"/>
                  </a:lnTo>
                  <a:lnTo>
                    <a:pt x="493" y="32"/>
                  </a:lnTo>
                  <a:lnTo>
                    <a:pt x="525" y="0"/>
                  </a:lnTo>
                  <a:lnTo>
                    <a:pt x="538" y="0"/>
                  </a:lnTo>
                  <a:lnTo>
                    <a:pt x="595" y="71"/>
                  </a:lnTo>
                  <a:lnTo>
                    <a:pt x="640" y="141"/>
                  </a:lnTo>
                  <a:lnTo>
                    <a:pt x="672" y="211"/>
                  </a:lnTo>
                  <a:lnTo>
                    <a:pt x="710" y="269"/>
                  </a:lnTo>
                  <a:lnTo>
                    <a:pt x="742" y="333"/>
                  </a:lnTo>
                  <a:lnTo>
                    <a:pt x="794" y="378"/>
                  </a:lnTo>
                  <a:lnTo>
                    <a:pt x="800" y="429"/>
                  </a:lnTo>
                  <a:lnTo>
                    <a:pt x="838" y="499"/>
                  </a:lnTo>
                  <a:lnTo>
                    <a:pt x="877" y="576"/>
                  </a:lnTo>
                  <a:lnTo>
                    <a:pt x="915" y="634"/>
                  </a:lnTo>
                  <a:lnTo>
                    <a:pt x="922" y="666"/>
                  </a:lnTo>
                  <a:lnTo>
                    <a:pt x="819" y="704"/>
                  </a:lnTo>
                  <a:lnTo>
                    <a:pt x="736" y="749"/>
                  </a:lnTo>
                  <a:lnTo>
                    <a:pt x="672" y="775"/>
                  </a:lnTo>
                  <a:lnTo>
                    <a:pt x="595" y="794"/>
                  </a:lnTo>
                  <a:lnTo>
                    <a:pt x="538" y="813"/>
                  </a:lnTo>
                  <a:lnTo>
                    <a:pt x="467" y="871"/>
                  </a:lnTo>
                  <a:lnTo>
                    <a:pt x="390" y="877"/>
                  </a:lnTo>
                  <a:lnTo>
                    <a:pt x="352" y="794"/>
                  </a:lnTo>
                  <a:lnTo>
                    <a:pt x="307" y="749"/>
                  </a:lnTo>
                  <a:lnTo>
                    <a:pt x="256" y="653"/>
                  </a:lnTo>
                  <a:lnTo>
                    <a:pt x="218" y="589"/>
                  </a:lnTo>
                  <a:lnTo>
                    <a:pt x="166" y="519"/>
                  </a:lnTo>
                  <a:lnTo>
                    <a:pt x="141" y="455"/>
                  </a:lnTo>
                  <a:lnTo>
                    <a:pt x="90" y="378"/>
                  </a:lnTo>
                  <a:lnTo>
                    <a:pt x="0" y="237"/>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64" name="Freeform 22" descr="Großes Konfetti"/>
            <p:cNvSpPr>
              <a:spLocks/>
            </p:cNvSpPr>
            <p:nvPr/>
          </p:nvSpPr>
          <p:spPr bwMode="auto">
            <a:xfrm>
              <a:off x="1217" y="1127"/>
              <a:ext cx="231" cy="233"/>
            </a:xfrm>
            <a:custGeom>
              <a:avLst/>
              <a:gdLst>
                <a:gd name="T0" fmla="*/ 0 w 680"/>
                <a:gd name="T1" fmla="*/ 6 h 686"/>
                <a:gd name="T2" fmla="*/ 2 w 680"/>
                <a:gd name="T3" fmla="*/ 5 h 686"/>
                <a:gd name="T4" fmla="*/ 4 w 680"/>
                <a:gd name="T5" fmla="*/ 4 h 686"/>
                <a:gd name="T6" fmla="*/ 8 w 680"/>
                <a:gd name="T7" fmla="*/ 3 h 686"/>
                <a:gd name="T8" fmla="*/ 11 w 680"/>
                <a:gd name="T9" fmla="*/ 1 h 686"/>
                <a:gd name="T10" fmla="*/ 12 w 680"/>
                <a:gd name="T11" fmla="*/ 1 h 686"/>
                <a:gd name="T12" fmla="*/ 13 w 680"/>
                <a:gd name="T13" fmla="*/ 0 h 686"/>
                <a:gd name="T14" fmla="*/ 14 w 680"/>
                <a:gd name="T15" fmla="*/ 0 h 686"/>
                <a:gd name="T16" fmla="*/ 15 w 680"/>
                <a:gd name="T17" fmla="*/ 2 h 686"/>
                <a:gd name="T18" fmla="*/ 16 w 680"/>
                <a:gd name="T19" fmla="*/ 3 h 686"/>
                <a:gd name="T20" fmla="*/ 17 w 680"/>
                <a:gd name="T21" fmla="*/ 5 h 686"/>
                <a:gd name="T22" fmla="*/ 15 w 680"/>
                <a:gd name="T23" fmla="*/ 2 h 686"/>
                <a:gd name="T24" fmla="*/ 14 w 680"/>
                <a:gd name="T25" fmla="*/ 2 h 686"/>
                <a:gd name="T26" fmla="*/ 15 w 680"/>
                <a:gd name="T27" fmla="*/ 3 h 686"/>
                <a:gd name="T28" fmla="*/ 16 w 680"/>
                <a:gd name="T29" fmla="*/ 4 h 686"/>
                <a:gd name="T30" fmla="*/ 17 w 680"/>
                <a:gd name="T31" fmla="*/ 6 h 686"/>
                <a:gd name="T32" fmla="*/ 19 w 680"/>
                <a:gd name="T33" fmla="*/ 9 h 686"/>
                <a:gd name="T34" fmla="*/ 20 w 680"/>
                <a:gd name="T35" fmla="*/ 11 h 686"/>
                <a:gd name="T36" fmla="*/ 22 w 680"/>
                <a:gd name="T37" fmla="*/ 13 h 686"/>
                <a:gd name="T38" fmla="*/ 24 w 680"/>
                <a:gd name="T39" fmla="*/ 17 h 686"/>
                <a:gd name="T40" fmla="*/ 25 w 680"/>
                <a:gd name="T41" fmla="*/ 19 h 686"/>
                <a:gd name="T42" fmla="*/ 26 w 680"/>
                <a:gd name="T43" fmla="*/ 20 h 686"/>
                <a:gd name="T44" fmla="*/ 24 w 680"/>
                <a:gd name="T45" fmla="*/ 20 h 686"/>
                <a:gd name="T46" fmla="*/ 20 w 680"/>
                <a:gd name="T47" fmla="*/ 22 h 686"/>
                <a:gd name="T48" fmla="*/ 18 w 680"/>
                <a:gd name="T49" fmla="*/ 23 h 686"/>
                <a:gd name="T50" fmla="*/ 16 w 680"/>
                <a:gd name="T51" fmla="*/ 24 h 686"/>
                <a:gd name="T52" fmla="*/ 14 w 680"/>
                <a:gd name="T53" fmla="*/ 26 h 686"/>
                <a:gd name="T54" fmla="*/ 12 w 680"/>
                <a:gd name="T55" fmla="*/ 27 h 686"/>
                <a:gd name="T56" fmla="*/ 11 w 680"/>
                <a:gd name="T57" fmla="*/ 25 h 686"/>
                <a:gd name="T58" fmla="*/ 7 w 680"/>
                <a:gd name="T59" fmla="*/ 21 h 686"/>
                <a:gd name="T60" fmla="*/ 6 w 680"/>
                <a:gd name="T61" fmla="*/ 18 h 686"/>
                <a:gd name="T62" fmla="*/ 5 w 680"/>
                <a:gd name="T63" fmla="*/ 16 h 686"/>
                <a:gd name="T64" fmla="*/ 3 w 680"/>
                <a:gd name="T65" fmla="*/ 13 h 686"/>
                <a:gd name="T66" fmla="*/ 1 w 680"/>
                <a:gd name="T67" fmla="*/ 10 h 686"/>
                <a:gd name="T68" fmla="*/ 0 w 680"/>
                <a:gd name="T69" fmla="*/ 6 h 6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80"/>
                <a:gd name="T106" fmla="*/ 0 h 686"/>
                <a:gd name="T107" fmla="*/ 680 w 680"/>
                <a:gd name="T108" fmla="*/ 686 h 68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80" h="686">
                  <a:moveTo>
                    <a:pt x="0" y="160"/>
                  </a:moveTo>
                  <a:lnTo>
                    <a:pt x="58" y="121"/>
                  </a:lnTo>
                  <a:lnTo>
                    <a:pt x="116" y="102"/>
                  </a:lnTo>
                  <a:lnTo>
                    <a:pt x="205" y="70"/>
                  </a:lnTo>
                  <a:lnTo>
                    <a:pt x="271" y="39"/>
                  </a:lnTo>
                  <a:lnTo>
                    <a:pt x="308" y="20"/>
                  </a:lnTo>
                  <a:lnTo>
                    <a:pt x="333" y="0"/>
                  </a:lnTo>
                  <a:lnTo>
                    <a:pt x="354" y="11"/>
                  </a:lnTo>
                  <a:lnTo>
                    <a:pt x="384" y="43"/>
                  </a:lnTo>
                  <a:lnTo>
                    <a:pt x="410" y="77"/>
                  </a:lnTo>
                  <a:lnTo>
                    <a:pt x="428" y="121"/>
                  </a:lnTo>
                  <a:lnTo>
                    <a:pt x="375" y="41"/>
                  </a:lnTo>
                  <a:lnTo>
                    <a:pt x="357" y="42"/>
                  </a:lnTo>
                  <a:lnTo>
                    <a:pt x="388" y="82"/>
                  </a:lnTo>
                  <a:lnTo>
                    <a:pt x="410" y="115"/>
                  </a:lnTo>
                  <a:lnTo>
                    <a:pt x="442" y="160"/>
                  </a:lnTo>
                  <a:lnTo>
                    <a:pt x="480" y="224"/>
                  </a:lnTo>
                  <a:lnTo>
                    <a:pt x="512" y="269"/>
                  </a:lnTo>
                  <a:lnTo>
                    <a:pt x="557" y="326"/>
                  </a:lnTo>
                  <a:lnTo>
                    <a:pt x="608" y="422"/>
                  </a:lnTo>
                  <a:lnTo>
                    <a:pt x="653" y="473"/>
                  </a:lnTo>
                  <a:lnTo>
                    <a:pt x="679" y="512"/>
                  </a:lnTo>
                  <a:lnTo>
                    <a:pt x="621" y="518"/>
                  </a:lnTo>
                  <a:lnTo>
                    <a:pt x="525" y="569"/>
                  </a:lnTo>
                  <a:lnTo>
                    <a:pt x="468" y="595"/>
                  </a:lnTo>
                  <a:lnTo>
                    <a:pt x="410" y="627"/>
                  </a:lnTo>
                  <a:lnTo>
                    <a:pt x="346" y="659"/>
                  </a:lnTo>
                  <a:lnTo>
                    <a:pt x="295" y="685"/>
                  </a:lnTo>
                  <a:lnTo>
                    <a:pt x="269" y="640"/>
                  </a:lnTo>
                  <a:lnTo>
                    <a:pt x="192" y="537"/>
                  </a:lnTo>
                  <a:lnTo>
                    <a:pt x="167" y="454"/>
                  </a:lnTo>
                  <a:lnTo>
                    <a:pt x="128" y="403"/>
                  </a:lnTo>
                  <a:lnTo>
                    <a:pt x="77" y="320"/>
                  </a:lnTo>
                  <a:lnTo>
                    <a:pt x="39" y="256"/>
                  </a:lnTo>
                  <a:lnTo>
                    <a:pt x="0" y="160"/>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65" name="Freeform 23" descr="Großes Konfetti"/>
            <p:cNvSpPr>
              <a:spLocks/>
            </p:cNvSpPr>
            <p:nvPr/>
          </p:nvSpPr>
          <p:spPr bwMode="auto">
            <a:xfrm>
              <a:off x="1340" y="1060"/>
              <a:ext cx="245" cy="235"/>
            </a:xfrm>
            <a:custGeom>
              <a:avLst/>
              <a:gdLst>
                <a:gd name="T0" fmla="*/ 0 w 721"/>
                <a:gd name="T1" fmla="*/ 7 h 693"/>
                <a:gd name="T2" fmla="*/ 2 w 721"/>
                <a:gd name="T3" fmla="*/ 6 h 693"/>
                <a:gd name="T4" fmla="*/ 4 w 721"/>
                <a:gd name="T5" fmla="*/ 5 h 693"/>
                <a:gd name="T6" fmla="*/ 6 w 721"/>
                <a:gd name="T7" fmla="*/ 4 h 693"/>
                <a:gd name="T8" fmla="*/ 8 w 721"/>
                <a:gd name="T9" fmla="*/ 3 h 693"/>
                <a:gd name="T10" fmla="*/ 11 w 721"/>
                <a:gd name="T11" fmla="*/ 2 h 693"/>
                <a:gd name="T12" fmla="*/ 13 w 721"/>
                <a:gd name="T13" fmla="*/ 1 h 693"/>
                <a:gd name="T14" fmla="*/ 15 w 721"/>
                <a:gd name="T15" fmla="*/ 1 h 693"/>
                <a:gd name="T16" fmla="*/ 15 w 721"/>
                <a:gd name="T17" fmla="*/ 0 h 693"/>
                <a:gd name="T18" fmla="*/ 18 w 721"/>
                <a:gd name="T19" fmla="*/ 3 h 693"/>
                <a:gd name="T20" fmla="*/ 18 w 721"/>
                <a:gd name="T21" fmla="*/ 4 h 693"/>
                <a:gd name="T22" fmla="*/ 19 w 721"/>
                <a:gd name="T23" fmla="*/ 7 h 693"/>
                <a:gd name="T24" fmla="*/ 20 w 721"/>
                <a:gd name="T25" fmla="*/ 8 h 693"/>
                <a:gd name="T26" fmla="*/ 22 w 721"/>
                <a:gd name="T27" fmla="*/ 10 h 693"/>
                <a:gd name="T28" fmla="*/ 25 w 721"/>
                <a:gd name="T29" fmla="*/ 13 h 693"/>
                <a:gd name="T30" fmla="*/ 26 w 721"/>
                <a:gd name="T31" fmla="*/ 16 h 693"/>
                <a:gd name="T32" fmla="*/ 27 w 721"/>
                <a:gd name="T33" fmla="*/ 18 h 693"/>
                <a:gd name="T34" fmla="*/ 28 w 721"/>
                <a:gd name="T35" fmla="*/ 19 h 693"/>
                <a:gd name="T36" fmla="*/ 28 w 721"/>
                <a:gd name="T37" fmla="*/ 20 h 693"/>
                <a:gd name="T38" fmla="*/ 28 w 721"/>
                <a:gd name="T39" fmla="*/ 21 h 693"/>
                <a:gd name="T40" fmla="*/ 26 w 721"/>
                <a:gd name="T41" fmla="*/ 22 h 693"/>
                <a:gd name="T42" fmla="*/ 22 w 721"/>
                <a:gd name="T43" fmla="*/ 24 h 693"/>
                <a:gd name="T44" fmla="*/ 19 w 721"/>
                <a:gd name="T45" fmla="*/ 24 h 693"/>
                <a:gd name="T46" fmla="*/ 15 w 721"/>
                <a:gd name="T47" fmla="*/ 25 h 693"/>
                <a:gd name="T48" fmla="*/ 13 w 721"/>
                <a:gd name="T49" fmla="*/ 26 h 693"/>
                <a:gd name="T50" fmla="*/ 13 w 721"/>
                <a:gd name="T51" fmla="*/ 27 h 693"/>
                <a:gd name="T52" fmla="*/ 11 w 721"/>
                <a:gd name="T53" fmla="*/ 24 h 693"/>
                <a:gd name="T54" fmla="*/ 10 w 721"/>
                <a:gd name="T55" fmla="*/ 22 h 693"/>
                <a:gd name="T56" fmla="*/ 8 w 721"/>
                <a:gd name="T57" fmla="*/ 19 h 693"/>
                <a:gd name="T58" fmla="*/ 7 w 721"/>
                <a:gd name="T59" fmla="*/ 17 h 693"/>
                <a:gd name="T60" fmla="*/ 6 w 721"/>
                <a:gd name="T61" fmla="*/ 15 h 693"/>
                <a:gd name="T62" fmla="*/ 4 w 721"/>
                <a:gd name="T63" fmla="*/ 13 h 693"/>
                <a:gd name="T64" fmla="*/ 3 w 721"/>
                <a:gd name="T65" fmla="*/ 10 h 693"/>
                <a:gd name="T66" fmla="*/ 0 w 721"/>
                <a:gd name="T67" fmla="*/ 7 h 69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21"/>
                <a:gd name="T103" fmla="*/ 0 h 693"/>
                <a:gd name="T104" fmla="*/ 721 w 721"/>
                <a:gd name="T105" fmla="*/ 693 h 69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21" h="693">
                  <a:moveTo>
                    <a:pt x="0" y="173"/>
                  </a:moveTo>
                  <a:lnTo>
                    <a:pt x="53" y="145"/>
                  </a:lnTo>
                  <a:lnTo>
                    <a:pt x="99" y="121"/>
                  </a:lnTo>
                  <a:lnTo>
                    <a:pt x="154" y="109"/>
                  </a:lnTo>
                  <a:lnTo>
                    <a:pt x="208" y="77"/>
                  </a:lnTo>
                  <a:lnTo>
                    <a:pt x="278" y="64"/>
                  </a:lnTo>
                  <a:lnTo>
                    <a:pt x="323" y="39"/>
                  </a:lnTo>
                  <a:lnTo>
                    <a:pt x="374" y="20"/>
                  </a:lnTo>
                  <a:lnTo>
                    <a:pt x="387" y="0"/>
                  </a:lnTo>
                  <a:lnTo>
                    <a:pt x="451" y="77"/>
                  </a:lnTo>
                  <a:lnTo>
                    <a:pt x="458" y="116"/>
                  </a:lnTo>
                  <a:lnTo>
                    <a:pt x="490" y="173"/>
                  </a:lnTo>
                  <a:lnTo>
                    <a:pt x="515" y="212"/>
                  </a:lnTo>
                  <a:lnTo>
                    <a:pt x="554" y="250"/>
                  </a:lnTo>
                  <a:lnTo>
                    <a:pt x="630" y="340"/>
                  </a:lnTo>
                  <a:lnTo>
                    <a:pt x="662" y="404"/>
                  </a:lnTo>
                  <a:lnTo>
                    <a:pt x="694" y="468"/>
                  </a:lnTo>
                  <a:lnTo>
                    <a:pt x="701" y="487"/>
                  </a:lnTo>
                  <a:lnTo>
                    <a:pt x="714" y="525"/>
                  </a:lnTo>
                  <a:lnTo>
                    <a:pt x="720" y="544"/>
                  </a:lnTo>
                  <a:lnTo>
                    <a:pt x="662" y="570"/>
                  </a:lnTo>
                  <a:lnTo>
                    <a:pt x="554" y="615"/>
                  </a:lnTo>
                  <a:lnTo>
                    <a:pt x="477" y="628"/>
                  </a:lnTo>
                  <a:lnTo>
                    <a:pt x="374" y="653"/>
                  </a:lnTo>
                  <a:lnTo>
                    <a:pt x="330" y="679"/>
                  </a:lnTo>
                  <a:lnTo>
                    <a:pt x="317" y="692"/>
                  </a:lnTo>
                  <a:lnTo>
                    <a:pt x="278" y="628"/>
                  </a:lnTo>
                  <a:lnTo>
                    <a:pt x="246" y="564"/>
                  </a:lnTo>
                  <a:lnTo>
                    <a:pt x="208" y="493"/>
                  </a:lnTo>
                  <a:lnTo>
                    <a:pt x="176" y="429"/>
                  </a:lnTo>
                  <a:lnTo>
                    <a:pt x="144" y="378"/>
                  </a:lnTo>
                  <a:lnTo>
                    <a:pt x="99" y="320"/>
                  </a:lnTo>
                  <a:lnTo>
                    <a:pt x="74" y="256"/>
                  </a:lnTo>
                  <a:lnTo>
                    <a:pt x="0" y="173"/>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66" name="Freeform 24" descr="Großes Konfetti"/>
            <p:cNvSpPr>
              <a:spLocks/>
            </p:cNvSpPr>
            <p:nvPr/>
          </p:nvSpPr>
          <p:spPr bwMode="auto">
            <a:xfrm>
              <a:off x="998" y="1158"/>
              <a:ext cx="224" cy="239"/>
            </a:xfrm>
            <a:custGeom>
              <a:avLst/>
              <a:gdLst>
                <a:gd name="T0" fmla="*/ 0 w 660"/>
                <a:gd name="T1" fmla="*/ 7 h 705"/>
                <a:gd name="T2" fmla="*/ 2 w 660"/>
                <a:gd name="T3" fmla="*/ 6 h 705"/>
                <a:gd name="T4" fmla="*/ 4 w 660"/>
                <a:gd name="T5" fmla="*/ 5 h 705"/>
                <a:gd name="T6" fmla="*/ 6 w 660"/>
                <a:gd name="T7" fmla="*/ 4 h 705"/>
                <a:gd name="T8" fmla="*/ 7 w 660"/>
                <a:gd name="T9" fmla="*/ 4 h 705"/>
                <a:gd name="T10" fmla="*/ 8 w 660"/>
                <a:gd name="T11" fmla="*/ 5 h 705"/>
                <a:gd name="T12" fmla="*/ 10 w 660"/>
                <a:gd name="T13" fmla="*/ 7 h 705"/>
                <a:gd name="T14" fmla="*/ 11 w 660"/>
                <a:gd name="T15" fmla="*/ 8 h 705"/>
                <a:gd name="T16" fmla="*/ 11 w 660"/>
                <a:gd name="T17" fmla="*/ 9 h 705"/>
                <a:gd name="T18" fmla="*/ 11 w 660"/>
                <a:gd name="T19" fmla="*/ 8 h 705"/>
                <a:gd name="T20" fmla="*/ 10 w 660"/>
                <a:gd name="T21" fmla="*/ 7 h 705"/>
                <a:gd name="T22" fmla="*/ 10 w 660"/>
                <a:gd name="T23" fmla="*/ 5 h 705"/>
                <a:gd name="T24" fmla="*/ 8 w 660"/>
                <a:gd name="T25" fmla="*/ 4 h 705"/>
                <a:gd name="T26" fmla="*/ 8 w 660"/>
                <a:gd name="T27" fmla="*/ 3 h 705"/>
                <a:gd name="T28" fmla="*/ 10 w 660"/>
                <a:gd name="T29" fmla="*/ 2 h 705"/>
                <a:gd name="T30" fmla="*/ 12 w 660"/>
                <a:gd name="T31" fmla="*/ 1 h 705"/>
                <a:gd name="T32" fmla="*/ 13 w 660"/>
                <a:gd name="T33" fmla="*/ 1 h 705"/>
                <a:gd name="T34" fmla="*/ 15 w 660"/>
                <a:gd name="T35" fmla="*/ 0 h 705"/>
                <a:gd name="T36" fmla="*/ 15 w 660"/>
                <a:gd name="T37" fmla="*/ 2 h 705"/>
                <a:gd name="T38" fmla="*/ 16 w 660"/>
                <a:gd name="T39" fmla="*/ 4 h 705"/>
                <a:gd name="T40" fmla="*/ 17 w 660"/>
                <a:gd name="T41" fmla="*/ 7 h 705"/>
                <a:gd name="T42" fmla="*/ 19 w 660"/>
                <a:gd name="T43" fmla="*/ 9 h 705"/>
                <a:gd name="T44" fmla="*/ 20 w 660"/>
                <a:gd name="T45" fmla="*/ 12 h 705"/>
                <a:gd name="T46" fmla="*/ 22 w 660"/>
                <a:gd name="T47" fmla="*/ 14 h 705"/>
                <a:gd name="T48" fmla="*/ 23 w 660"/>
                <a:gd name="T49" fmla="*/ 17 h 705"/>
                <a:gd name="T50" fmla="*/ 25 w 660"/>
                <a:gd name="T51" fmla="*/ 19 h 705"/>
                <a:gd name="T52" fmla="*/ 26 w 660"/>
                <a:gd name="T53" fmla="*/ 20 h 705"/>
                <a:gd name="T54" fmla="*/ 25 w 660"/>
                <a:gd name="T55" fmla="*/ 21 h 705"/>
                <a:gd name="T56" fmla="*/ 23 w 660"/>
                <a:gd name="T57" fmla="*/ 23 h 705"/>
                <a:gd name="T58" fmla="*/ 21 w 660"/>
                <a:gd name="T59" fmla="*/ 23 h 705"/>
                <a:gd name="T60" fmla="*/ 20 w 660"/>
                <a:gd name="T61" fmla="*/ 23 h 705"/>
                <a:gd name="T62" fmla="*/ 19 w 660"/>
                <a:gd name="T63" fmla="*/ 21 h 705"/>
                <a:gd name="T64" fmla="*/ 17 w 660"/>
                <a:gd name="T65" fmla="*/ 20 h 705"/>
                <a:gd name="T66" fmla="*/ 16 w 660"/>
                <a:gd name="T67" fmla="*/ 18 h 705"/>
                <a:gd name="T68" fmla="*/ 15 w 660"/>
                <a:gd name="T69" fmla="*/ 16 h 705"/>
                <a:gd name="T70" fmla="*/ 16 w 660"/>
                <a:gd name="T71" fmla="*/ 19 h 705"/>
                <a:gd name="T72" fmla="*/ 17 w 660"/>
                <a:gd name="T73" fmla="*/ 20 h 705"/>
                <a:gd name="T74" fmla="*/ 19 w 660"/>
                <a:gd name="T75" fmla="*/ 23 h 705"/>
                <a:gd name="T76" fmla="*/ 19 w 660"/>
                <a:gd name="T77" fmla="*/ 25 h 705"/>
                <a:gd name="T78" fmla="*/ 14 w 660"/>
                <a:gd name="T79" fmla="*/ 26 h 705"/>
                <a:gd name="T80" fmla="*/ 12 w 660"/>
                <a:gd name="T81" fmla="*/ 27 h 705"/>
                <a:gd name="T82" fmla="*/ 11 w 660"/>
                <a:gd name="T83" fmla="*/ 27 h 705"/>
                <a:gd name="T84" fmla="*/ 10 w 660"/>
                <a:gd name="T85" fmla="*/ 25 h 705"/>
                <a:gd name="T86" fmla="*/ 8 w 660"/>
                <a:gd name="T87" fmla="*/ 23 h 705"/>
                <a:gd name="T88" fmla="*/ 7 w 660"/>
                <a:gd name="T89" fmla="*/ 20 h 705"/>
                <a:gd name="T90" fmla="*/ 7 w 660"/>
                <a:gd name="T91" fmla="*/ 19 h 705"/>
                <a:gd name="T92" fmla="*/ 6 w 660"/>
                <a:gd name="T93" fmla="*/ 15 h 705"/>
                <a:gd name="T94" fmla="*/ 4 w 660"/>
                <a:gd name="T95" fmla="*/ 13 h 705"/>
                <a:gd name="T96" fmla="*/ 1 w 660"/>
                <a:gd name="T97" fmla="*/ 10 h 705"/>
                <a:gd name="T98" fmla="*/ 0 w 660"/>
                <a:gd name="T99" fmla="*/ 7 h 7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60"/>
                <a:gd name="T151" fmla="*/ 0 h 705"/>
                <a:gd name="T152" fmla="*/ 660 w 660"/>
                <a:gd name="T153" fmla="*/ 705 h 70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60" h="705">
                  <a:moveTo>
                    <a:pt x="0" y="189"/>
                  </a:moveTo>
                  <a:lnTo>
                    <a:pt x="51" y="167"/>
                  </a:lnTo>
                  <a:lnTo>
                    <a:pt x="97" y="134"/>
                  </a:lnTo>
                  <a:lnTo>
                    <a:pt x="156" y="112"/>
                  </a:lnTo>
                  <a:lnTo>
                    <a:pt x="187" y="107"/>
                  </a:lnTo>
                  <a:lnTo>
                    <a:pt x="217" y="129"/>
                  </a:lnTo>
                  <a:lnTo>
                    <a:pt x="256" y="192"/>
                  </a:lnTo>
                  <a:lnTo>
                    <a:pt x="275" y="218"/>
                  </a:lnTo>
                  <a:lnTo>
                    <a:pt x="288" y="244"/>
                  </a:lnTo>
                  <a:lnTo>
                    <a:pt x="281" y="212"/>
                  </a:lnTo>
                  <a:lnTo>
                    <a:pt x="262" y="180"/>
                  </a:lnTo>
                  <a:lnTo>
                    <a:pt x="243" y="141"/>
                  </a:lnTo>
                  <a:lnTo>
                    <a:pt x="217" y="105"/>
                  </a:lnTo>
                  <a:lnTo>
                    <a:pt x="203" y="83"/>
                  </a:lnTo>
                  <a:lnTo>
                    <a:pt x="249" y="45"/>
                  </a:lnTo>
                  <a:lnTo>
                    <a:pt x="294" y="32"/>
                  </a:lnTo>
                  <a:lnTo>
                    <a:pt x="326" y="26"/>
                  </a:lnTo>
                  <a:lnTo>
                    <a:pt x="372" y="0"/>
                  </a:lnTo>
                  <a:lnTo>
                    <a:pt x="396" y="58"/>
                  </a:lnTo>
                  <a:lnTo>
                    <a:pt x="409" y="116"/>
                  </a:lnTo>
                  <a:lnTo>
                    <a:pt x="435" y="180"/>
                  </a:lnTo>
                  <a:lnTo>
                    <a:pt x="480" y="244"/>
                  </a:lnTo>
                  <a:lnTo>
                    <a:pt x="524" y="295"/>
                  </a:lnTo>
                  <a:lnTo>
                    <a:pt x="576" y="352"/>
                  </a:lnTo>
                  <a:lnTo>
                    <a:pt x="595" y="429"/>
                  </a:lnTo>
                  <a:lnTo>
                    <a:pt x="640" y="487"/>
                  </a:lnTo>
                  <a:lnTo>
                    <a:pt x="659" y="512"/>
                  </a:lnTo>
                  <a:lnTo>
                    <a:pt x="652" y="538"/>
                  </a:lnTo>
                  <a:lnTo>
                    <a:pt x="582" y="583"/>
                  </a:lnTo>
                  <a:lnTo>
                    <a:pt x="531" y="602"/>
                  </a:lnTo>
                  <a:lnTo>
                    <a:pt x="512" y="602"/>
                  </a:lnTo>
                  <a:lnTo>
                    <a:pt x="480" y="551"/>
                  </a:lnTo>
                  <a:lnTo>
                    <a:pt x="441" y="506"/>
                  </a:lnTo>
                  <a:lnTo>
                    <a:pt x="416" y="455"/>
                  </a:lnTo>
                  <a:lnTo>
                    <a:pt x="371" y="416"/>
                  </a:lnTo>
                  <a:lnTo>
                    <a:pt x="409" y="474"/>
                  </a:lnTo>
                  <a:lnTo>
                    <a:pt x="441" y="525"/>
                  </a:lnTo>
                  <a:lnTo>
                    <a:pt x="473" y="589"/>
                  </a:lnTo>
                  <a:lnTo>
                    <a:pt x="480" y="634"/>
                  </a:lnTo>
                  <a:lnTo>
                    <a:pt x="345" y="679"/>
                  </a:lnTo>
                  <a:lnTo>
                    <a:pt x="300" y="698"/>
                  </a:lnTo>
                  <a:lnTo>
                    <a:pt x="288" y="704"/>
                  </a:lnTo>
                  <a:lnTo>
                    <a:pt x="256" y="653"/>
                  </a:lnTo>
                  <a:lnTo>
                    <a:pt x="217" y="583"/>
                  </a:lnTo>
                  <a:lnTo>
                    <a:pt x="185" y="512"/>
                  </a:lnTo>
                  <a:lnTo>
                    <a:pt x="179" y="474"/>
                  </a:lnTo>
                  <a:lnTo>
                    <a:pt x="147" y="391"/>
                  </a:lnTo>
                  <a:lnTo>
                    <a:pt x="96" y="327"/>
                  </a:lnTo>
                  <a:lnTo>
                    <a:pt x="19" y="256"/>
                  </a:lnTo>
                  <a:lnTo>
                    <a:pt x="0" y="189"/>
                  </a:lnTo>
                </a:path>
              </a:pathLst>
            </a:custGeom>
            <a:pattFill prst="lgConfetti">
              <a:fgClr>
                <a:srgbClr val="CCCCFF"/>
              </a:fgClr>
              <a:bgClr>
                <a:schemeClr val="bg1"/>
              </a:bgClr>
            </a:pattFill>
            <a:ln w="6350" cap="rnd">
              <a:solidFill>
                <a:schemeClr val="tx1"/>
              </a:solidFill>
              <a:round/>
              <a:headEnd/>
              <a:tailEnd/>
            </a:ln>
          </p:spPr>
          <p:txBody>
            <a:bodyPr/>
            <a:lstStyle/>
            <a:p>
              <a:endParaRPr lang="zh-CN" altLang="en-US"/>
            </a:p>
          </p:txBody>
        </p:sp>
        <p:sp>
          <p:nvSpPr>
            <p:cNvPr id="267" name="Freeform 25" descr="5%"/>
            <p:cNvSpPr>
              <a:spLocks/>
            </p:cNvSpPr>
            <p:nvPr/>
          </p:nvSpPr>
          <p:spPr bwMode="auto">
            <a:xfrm>
              <a:off x="799" y="600"/>
              <a:ext cx="451" cy="186"/>
            </a:xfrm>
            <a:custGeom>
              <a:avLst/>
              <a:gdLst>
                <a:gd name="T0" fmla="*/ 0 w 1332"/>
                <a:gd name="T1" fmla="*/ 18 h 547"/>
                <a:gd name="T2" fmla="*/ 3 w 1332"/>
                <a:gd name="T3" fmla="*/ 17 h 547"/>
                <a:gd name="T4" fmla="*/ 8 w 1332"/>
                <a:gd name="T5" fmla="*/ 14 h 547"/>
                <a:gd name="T6" fmla="*/ 10 w 1332"/>
                <a:gd name="T7" fmla="*/ 14 h 547"/>
                <a:gd name="T8" fmla="*/ 13 w 1332"/>
                <a:gd name="T9" fmla="*/ 12 h 547"/>
                <a:gd name="T10" fmla="*/ 17 w 1332"/>
                <a:gd name="T11" fmla="*/ 11 h 547"/>
                <a:gd name="T12" fmla="*/ 22 w 1332"/>
                <a:gd name="T13" fmla="*/ 9 h 547"/>
                <a:gd name="T14" fmla="*/ 25 w 1332"/>
                <a:gd name="T15" fmla="*/ 8 h 547"/>
                <a:gd name="T16" fmla="*/ 30 w 1332"/>
                <a:gd name="T17" fmla="*/ 5 h 547"/>
                <a:gd name="T18" fmla="*/ 32 w 1332"/>
                <a:gd name="T19" fmla="*/ 6 h 547"/>
                <a:gd name="T20" fmla="*/ 33 w 1332"/>
                <a:gd name="T21" fmla="*/ 7 h 547"/>
                <a:gd name="T22" fmla="*/ 34 w 1332"/>
                <a:gd name="T23" fmla="*/ 7 h 547"/>
                <a:gd name="T24" fmla="*/ 36 w 1332"/>
                <a:gd name="T25" fmla="*/ 8 h 547"/>
                <a:gd name="T26" fmla="*/ 35 w 1332"/>
                <a:gd name="T27" fmla="*/ 7 h 547"/>
                <a:gd name="T28" fmla="*/ 34 w 1332"/>
                <a:gd name="T29" fmla="*/ 6 h 547"/>
                <a:gd name="T30" fmla="*/ 32 w 1332"/>
                <a:gd name="T31" fmla="*/ 6 h 547"/>
                <a:gd name="T32" fmla="*/ 30 w 1332"/>
                <a:gd name="T33" fmla="*/ 5 h 547"/>
                <a:gd name="T34" fmla="*/ 33 w 1332"/>
                <a:gd name="T35" fmla="*/ 4 h 547"/>
                <a:gd name="T36" fmla="*/ 35 w 1332"/>
                <a:gd name="T37" fmla="*/ 2 h 547"/>
                <a:gd name="T38" fmla="*/ 37 w 1332"/>
                <a:gd name="T39" fmla="*/ 2 h 547"/>
                <a:gd name="T40" fmla="*/ 39 w 1332"/>
                <a:gd name="T41" fmla="*/ 1 h 547"/>
                <a:gd name="T42" fmla="*/ 41 w 1332"/>
                <a:gd name="T43" fmla="*/ 0 h 547"/>
                <a:gd name="T44" fmla="*/ 42 w 1332"/>
                <a:gd name="T45" fmla="*/ 0 h 547"/>
                <a:gd name="T46" fmla="*/ 45 w 1332"/>
                <a:gd name="T47" fmla="*/ 1 h 547"/>
                <a:gd name="T48" fmla="*/ 49 w 1332"/>
                <a:gd name="T49" fmla="*/ 3 h 547"/>
                <a:gd name="T50" fmla="*/ 52 w 1332"/>
                <a:gd name="T51" fmla="*/ 4 h 547"/>
                <a:gd name="T52" fmla="*/ 50 w 1332"/>
                <a:gd name="T53" fmla="*/ 5 h 547"/>
                <a:gd name="T54" fmla="*/ 47 w 1332"/>
                <a:gd name="T55" fmla="*/ 6 h 547"/>
                <a:gd name="T56" fmla="*/ 43 w 1332"/>
                <a:gd name="T57" fmla="*/ 8 h 547"/>
                <a:gd name="T58" fmla="*/ 42 w 1332"/>
                <a:gd name="T59" fmla="*/ 9 h 547"/>
                <a:gd name="T60" fmla="*/ 40 w 1332"/>
                <a:gd name="T61" fmla="*/ 10 h 547"/>
                <a:gd name="T62" fmla="*/ 39 w 1332"/>
                <a:gd name="T63" fmla="*/ 9 h 547"/>
                <a:gd name="T64" fmla="*/ 37 w 1332"/>
                <a:gd name="T65" fmla="*/ 9 h 547"/>
                <a:gd name="T66" fmla="*/ 36 w 1332"/>
                <a:gd name="T67" fmla="*/ 8 h 547"/>
                <a:gd name="T68" fmla="*/ 38 w 1332"/>
                <a:gd name="T69" fmla="*/ 9 h 547"/>
                <a:gd name="T70" fmla="*/ 39 w 1332"/>
                <a:gd name="T71" fmla="*/ 10 h 547"/>
                <a:gd name="T72" fmla="*/ 37 w 1332"/>
                <a:gd name="T73" fmla="*/ 11 h 547"/>
                <a:gd name="T74" fmla="*/ 32 w 1332"/>
                <a:gd name="T75" fmla="*/ 13 h 547"/>
                <a:gd name="T76" fmla="*/ 30 w 1332"/>
                <a:gd name="T77" fmla="*/ 14 h 547"/>
                <a:gd name="T78" fmla="*/ 27 w 1332"/>
                <a:gd name="T79" fmla="*/ 15 h 547"/>
                <a:gd name="T80" fmla="*/ 25 w 1332"/>
                <a:gd name="T81" fmla="*/ 16 h 547"/>
                <a:gd name="T82" fmla="*/ 23 w 1332"/>
                <a:gd name="T83" fmla="*/ 14 h 547"/>
                <a:gd name="T84" fmla="*/ 21 w 1332"/>
                <a:gd name="T85" fmla="*/ 13 h 547"/>
                <a:gd name="T86" fmla="*/ 20 w 1332"/>
                <a:gd name="T87" fmla="*/ 13 h 547"/>
                <a:gd name="T88" fmla="*/ 18 w 1332"/>
                <a:gd name="T89" fmla="*/ 12 h 547"/>
                <a:gd name="T90" fmla="*/ 16 w 1332"/>
                <a:gd name="T91" fmla="*/ 12 h 547"/>
                <a:gd name="T92" fmla="*/ 17 w 1332"/>
                <a:gd name="T93" fmla="*/ 13 h 547"/>
                <a:gd name="T94" fmla="*/ 19 w 1332"/>
                <a:gd name="T95" fmla="*/ 13 h 547"/>
                <a:gd name="T96" fmla="*/ 20 w 1332"/>
                <a:gd name="T97" fmla="*/ 14 h 547"/>
                <a:gd name="T98" fmla="*/ 22 w 1332"/>
                <a:gd name="T99" fmla="*/ 15 h 547"/>
                <a:gd name="T100" fmla="*/ 23 w 1332"/>
                <a:gd name="T101" fmla="*/ 15 h 547"/>
                <a:gd name="T102" fmla="*/ 24 w 1332"/>
                <a:gd name="T103" fmla="*/ 16 h 547"/>
                <a:gd name="T104" fmla="*/ 22 w 1332"/>
                <a:gd name="T105" fmla="*/ 17 h 547"/>
                <a:gd name="T106" fmla="*/ 18 w 1332"/>
                <a:gd name="T107" fmla="*/ 18 h 547"/>
                <a:gd name="T108" fmla="*/ 15 w 1332"/>
                <a:gd name="T109" fmla="*/ 19 h 547"/>
                <a:gd name="T110" fmla="*/ 12 w 1332"/>
                <a:gd name="T111" fmla="*/ 21 h 547"/>
                <a:gd name="T112" fmla="*/ 9 w 1332"/>
                <a:gd name="T113" fmla="*/ 21 h 547"/>
                <a:gd name="T114" fmla="*/ 7 w 1332"/>
                <a:gd name="T115" fmla="*/ 20 h 547"/>
                <a:gd name="T116" fmla="*/ 4 w 1332"/>
                <a:gd name="T117" fmla="*/ 20 h 547"/>
                <a:gd name="T118" fmla="*/ 0 w 1332"/>
                <a:gd name="T119" fmla="*/ 18 h 54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332"/>
                <a:gd name="T181" fmla="*/ 0 h 547"/>
                <a:gd name="T182" fmla="*/ 1332 w 1332"/>
                <a:gd name="T183" fmla="*/ 547 h 54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332" h="547">
                  <a:moveTo>
                    <a:pt x="0" y="467"/>
                  </a:moveTo>
                  <a:lnTo>
                    <a:pt x="90" y="435"/>
                  </a:lnTo>
                  <a:lnTo>
                    <a:pt x="199" y="364"/>
                  </a:lnTo>
                  <a:lnTo>
                    <a:pt x="250" y="345"/>
                  </a:lnTo>
                  <a:lnTo>
                    <a:pt x="339" y="307"/>
                  </a:lnTo>
                  <a:lnTo>
                    <a:pt x="435" y="275"/>
                  </a:lnTo>
                  <a:lnTo>
                    <a:pt x="576" y="230"/>
                  </a:lnTo>
                  <a:lnTo>
                    <a:pt x="653" y="198"/>
                  </a:lnTo>
                  <a:lnTo>
                    <a:pt x="768" y="140"/>
                  </a:lnTo>
                  <a:lnTo>
                    <a:pt x="817" y="152"/>
                  </a:lnTo>
                  <a:lnTo>
                    <a:pt x="855" y="186"/>
                  </a:lnTo>
                  <a:lnTo>
                    <a:pt x="877" y="195"/>
                  </a:lnTo>
                  <a:lnTo>
                    <a:pt x="923" y="209"/>
                  </a:lnTo>
                  <a:lnTo>
                    <a:pt x="896" y="185"/>
                  </a:lnTo>
                  <a:lnTo>
                    <a:pt x="858" y="166"/>
                  </a:lnTo>
                  <a:lnTo>
                    <a:pt x="826" y="147"/>
                  </a:lnTo>
                  <a:lnTo>
                    <a:pt x="788" y="128"/>
                  </a:lnTo>
                  <a:lnTo>
                    <a:pt x="839" y="102"/>
                  </a:lnTo>
                  <a:lnTo>
                    <a:pt x="896" y="64"/>
                  </a:lnTo>
                  <a:lnTo>
                    <a:pt x="954" y="57"/>
                  </a:lnTo>
                  <a:lnTo>
                    <a:pt x="1011" y="32"/>
                  </a:lnTo>
                  <a:lnTo>
                    <a:pt x="1063" y="12"/>
                  </a:lnTo>
                  <a:lnTo>
                    <a:pt x="1088" y="0"/>
                  </a:lnTo>
                  <a:lnTo>
                    <a:pt x="1165" y="25"/>
                  </a:lnTo>
                  <a:lnTo>
                    <a:pt x="1267" y="70"/>
                  </a:lnTo>
                  <a:lnTo>
                    <a:pt x="1331" y="102"/>
                  </a:lnTo>
                  <a:lnTo>
                    <a:pt x="1287" y="140"/>
                  </a:lnTo>
                  <a:lnTo>
                    <a:pt x="1216" y="160"/>
                  </a:lnTo>
                  <a:lnTo>
                    <a:pt x="1107" y="211"/>
                  </a:lnTo>
                  <a:lnTo>
                    <a:pt x="1082" y="236"/>
                  </a:lnTo>
                  <a:lnTo>
                    <a:pt x="1040" y="251"/>
                  </a:lnTo>
                  <a:lnTo>
                    <a:pt x="1010" y="235"/>
                  </a:lnTo>
                  <a:lnTo>
                    <a:pt x="954" y="220"/>
                  </a:lnTo>
                  <a:lnTo>
                    <a:pt x="920" y="211"/>
                  </a:lnTo>
                  <a:lnTo>
                    <a:pt x="967" y="236"/>
                  </a:lnTo>
                  <a:lnTo>
                    <a:pt x="1011" y="256"/>
                  </a:lnTo>
                  <a:lnTo>
                    <a:pt x="960" y="275"/>
                  </a:lnTo>
                  <a:lnTo>
                    <a:pt x="832" y="320"/>
                  </a:lnTo>
                  <a:lnTo>
                    <a:pt x="775" y="352"/>
                  </a:lnTo>
                  <a:lnTo>
                    <a:pt x="691" y="390"/>
                  </a:lnTo>
                  <a:lnTo>
                    <a:pt x="656" y="397"/>
                  </a:lnTo>
                  <a:lnTo>
                    <a:pt x="583" y="352"/>
                  </a:lnTo>
                  <a:lnTo>
                    <a:pt x="551" y="339"/>
                  </a:lnTo>
                  <a:lnTo>
                    <a:pt x="512" y="332"/>
                  </a:lnTo>
                  <a:lnTo>
                    <a:pt x="467" y="313"/>
                  </a:lnTo>
                  <a:lnTo>
                    <a:pt x="405" y="296"/>
                  </a:lnTo>
                  <a:lnTo>
                    <a:pt x="429" y="318"/>
                  </a:lnTo>
                  <a:lnTo>
                    <a:pt x="480" y="339"/>
                  </a:lnTo>
                  <a:lnTo>
                    <a:pt x="525" y="352"/>
                  </a:lnTo>
                  <a:lnTo>
                    <a:pt x="557" y="371"/>
                  </a:lnTo>
                  <a:lnTo>
                    <a:pt x="592" y="380"/>
                  </a:lnTo>
                  <a:lnTo>
                    <a:pt x="630" y="409"/>
                  </a:lnTo>
                  <a:lnTo>
                    <a:pt x="557" y="441"/>
                  </a:lnTo>
                  <a:lnTo>
                    <a:pt x="461" y="460"/>
                  </a:lnTo>
                  <a:lnTo>
                    <a:pt x="371" y="492"/>
                  </a:lnTo>
                  <a:lnTo>
                    <a:pt x="307" y="531"/>
                  </a:lnTo>
                  <a:lnTo>
                    <a:pt x="248" y="546"/>
                  </a:lnTo>
                  <a:lnTo>
                    <a:pt x="173" y="512"/>
                  </a:lnTo>
                  <a:lnTo>
                    <a:pt x="109" y="505"/>
                  </a:lnTo>
                  <a:lnTo>
                    <a:pt x="0" y="467"/>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68" name="Freeform 26" descr="25%"/>
            <p:cNvSpPr>
              <a:spLocks/>
            </p:cNvSpPr>
            <p:nvPr/>
          </p:nvSpPr>
          <p:spPr bwMode="auto">
            <a:xfrm>
              <a:off x="634" y="693"/>
              <a:ext cx="656" cy="561"/>
            </a:xfrm>
            <a:custGeom>
              <a:avLst/>
              <a:gdLst>
                <a:gd name="T0" fmla="*/ 72 w 1934"/>
                <a:gd name="T1" fmla="*/ 0 h 1652"/>
                <a:gd name="T2" fmla="*/ 65 w 1934"/>
                <a:gd name="T3" fmla="*/ 2 h 1652"/>
                <a:gd name="T4" fmla="*/ 63 w 1934"/>
                <a:gd name="T5" fmla="*/ 3 h 1652"/>
                <a:gd name="T6" fmla="*/ 61 w 1934"/>
                <a:gd name="T7" fmla="*/ 4 h 1652"/>
                <a:gd name="T8" fmla="*/ 58 w 1934"/>
                <a:gd name="T9" fmla="*/ 6 h 1652"/>
                <a:gd name="T10" fmla="*/ 54 w 1934"/>
                <a:gd name="T11" fmla="*/ 7 h 1652"/>
                <a:gd name="T12" fmla="*/ 50 w 1934"/>
                <a:gd name="T13" fmla="*/ 10 h 1652"/>
                <a:gd name="T14" fmla="*/ 47 w 1934"/>
                <a:gd name="T15" fmla="*/ 11 h 1652"/>
                <a:gd name="T16" fmla="*/ 46 w 1934"/>
                <a:gd name="T17" fmla="*/ 11 h 1652"/>
                <a:gd name="T18" fmla="*/ 43 w 1934"/>
                <a:gd name="T19" fmla="*/ 12 h 1652"/>
                <a:gd name="T20" fmla="*/ 39 w 1934"/>
                <a:gd name="T21" fmla="*/ 14 h 1652"/>
                <a:gd name="T22" fmla="*/ 34 w 1934"/>
                <a:gd name="T23" fmla="*/ 17 h 1652"/>
                <a:gd name="T24" fmla="*/ 28 w 1934"/>
                <a:gd name="T25" fmla="*/ 19 h 1652"/>
                <a:gd name="T26" fmla="*/ 16 w 1934"/>
                <a:gd name="T27" fmla="*/ 23 h 1652"/>
                <a:gd name="T28" fmla="*/ 11 w 1934"/>
                <a:gd name="T29" fmla="*/ 25 h 1652"/>
                <a:gd name="T30" fmla="*/ 4 w 1934"/>
                <a:gd name="T31" fmla="*/ 29 h 1652"/>
                <a:gd name="T32" fmla="*/ 0 w 1934"/>
                <a:gd name="T33" fmla="*/ 30 h 1652"/>
                <a:gd name="T34" fmla="*/ 1 w 1934"/>
                <a:gd name="T35" fmla="*/ 35 h 1652"/>
                <a:gd name="T36" fmla="*/ 0 w 1934"/>
                <a:gd name="T37" fmla="*/ 41 h 1652"/>
                <a:gd name="T38" fmla="*/ 1 w 1934"/>
                <a:gd name="T39" fmla="*/ 50 h 1652"/>
                <a:gd name="T40" fmla="*/ 1 w 1934"/>
                <a:gd name="T41" fmla="*/ 57 h 1652"/>
                <a:gd name="T42" fmla="*/ 2 w 1934"/>
                <a:gd name="T43" fmla="*/ 60 h 1652"/>
                <a:gd name="T44" fmla="*/ 1 w 1934"/>
                <a:gd name="T45" fmla="*/ 63 h 1652"/>
                <a:gd name="T46" fmla="*/ 6 w 1934"/>
                <a:gd name="T47" fmla="*/ 65 h 1652"/>
                <a:gd name="T48" fmla="*/ 5 w 1934"/>
                <a:gd name="T49" fmla="*/ 59 h 1652"/>
                <a:gd name="T50" fmla="*/ 6 w 1934"/>
                <a:gd name="T51" fmla="*/ 54 h 1652"/>
                <a:gd name="T52" fmla="*/ 6 w 1934"/>
                <a:gd name="T53" fmla="*/ 48 h 1652"/>
                <a:gd name="T54" fmla="*/ 6 w 1934"/>
                <a:gd name="T55" fmla="*/ 44 h 1652"/>
                <a:gd name="T56" fmla="*/ 6 w 1934"/>
                <a:gd name="T57" fmla="*/ 41 h 1652"/>
                <a:gd name="T58" fmla="*/ 6 w 1934"/>
                <a:gd name="T59" fmla="*/ 37 h 1652"/>
                <a:gd name="T60" fmla="*/ 6 w 1934"/>
                <a:gd name="T61" fmla="*/ 32 h 1652"/>
                <a:gd name="T62" fmla="*/ 7 w 1934"/>
                <a:gd name="T63" fmla="*/ 30 h 1652"/>
                <a:gd name="T64" fmla="*/ 13 w 1934"/>
                <a:gd name="T65" fmla="*/ 28 h 1652"/>
                <a:gd name="T66" fmla="*/ 21 w 1934"/>
                <a:gd name="T67" fmla="*/ 24 h 1652"/>
                <a:gd name="T68" fmla="*/ 27 w 1934"/>
                <a:gd name="T69" fmla="*/ 23 h 1652"/>
                <a:gd name="T70" fmla="*/ 34 w 1934"/>
                <a:gd name="T71" fmla="*/ 20 h 1652"/>
                <a:gd name="T72" fmla="*/ 39 w 1934"/>
                <a:gd name="T73" fmla="*/ 17 h 1652"/>
                <a:gd name="T74" fmla="*/ 43 w 1934"/>
                <a:gd name="T75" fmla="*/ 15 h 1652"/>
                <a:gd name="T76" fmla="*/ 47 w 1934"/>
                <a:gd name="T77" fmla="*/ 14 h 1652"/>
                <a:gd name="T78" fmla="*/ 53 w 1934"/>
                <a:gd name="T79" fmla="*/ 11 h 1652"/>
                <a:gd name="T80" fmla="*/ 60 w 1934"/>
                <a:gd name="T81" fmla="*/ 8 h 1652"/>
                <a:gd name="T82" fmla="*/ 70 w 1934"/>
                <a:gd name="T83" fmla="*/ 4 h 1652"/>
                <a:gd name="T84" fmla="*/ 76 w 1934"/>
                <a:gd name="T85" fmla="*/ 1 h 1652"/>
                <a:gd name="T86" fmla="*/ 72 w 1934"/>
                <a:gd name="T87" fmla="*/ 0 h 165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652"/>
                <a:gd name="T134" fmla="*/ 1934 w 1934"/>
                <a:gd name="T135" fmla="*/ 1652 h 165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652">
                  <a:moveTo>
                    <a:pt x="1837" y="0"/>
                  </a:moveTo>
                  <a:lnTo>
                    <a:pt x="1677" y="45"/>
                  </a:lnTo>
                  <a:lnTo>
                    <a:pt x="1625" y="89"/>
                  </a:lnTo>
                  <a:lnTo>
                    <a:pt x="1568" y="109"/>
                  </a:lnTo>
                  <a:lnTo>
                    <a:pt x="1478" y="153"/>
                  </a:lnTo>
                  <a:lnTo>
                    <a:pt x="1382" y="185"/>
                  </a:lnTo>
                  <a:lnTo>
                    <a:pt x="1280" y="256"/>
                  </a:lnTo>
                  <a:lnTo>
                    <a:pt x="1216" y="269"/>
                  </a:lnTo>
                  <a:lnTo>
                    <a:pt x="1177" y="281"/>
                  </a:lnTo>
                  <a:lnTo>
                    <a:pt x="1113" y="313"/>
                  </a:lnTo>
                  <a:lnTo>
                    <a:pt x="998" y="365"/>
                  </a:lnTo>
                  <a:lnTo>
                    <a:pt x="877" y="422"/>
                  </a:lnTo>
                  <a:lnTo>
                    <a:pt x="717" y="493"/>
                  </a:lnTo>
                  <a:lnTo>
                    <a:pt x="409" y="595"/>
                  </a:lnTo>
                  <a:lnTo>
                    <a:pt x="281" y="653"/>
                  </a:lnTo>
                  <a:lnTo>
                    <a:pt x="102" y="723"/>
                  </a:lnTo>
                  <a:lnTo>
                    <a:pt x="13" y="768"/>
                  </a:lnTo>
                  <a:lnTo>
                    <a:pt x="25" y="896"/>
                  </a:lnTo>
                  <a:lnTo>
                    <a:pt x="0" y="1049"/>
                  </a:lnTo>
                  <a:lnTo>
                    <a:pt x="25" y="1273"/>
                  </a:lnTo>
                  <a:lnTo>
                    <a:pt x="38" y="1465"/>
                  </a:lnTo>
                  <a:lnTo>
                    <a:pt x="45" y="1542"/>
                  </a:lnTo>
                  <a:lnTo>
                    <a:pt x="38" y="1606"/>
                  </a:lnTo>
                  <a:lnTo>
                    <a:pt x="147" y="1651"/>
                  </a:lnTo>
                  <a:lnTo>
                    <a:pt x="141" y="1510"/>
                  </a:lnTo>
                  <a:lnTo>
                    <a:pt x="153" y="1389"/>
                  </a:lnTo>
                  <a:lnTo>
                    <a:pt x="153" y="1229"/>
                  </a:lnTo>
                  <a:lnTo>
                    <a:pt x="147" y="1133"/>
                  </a:lnTo>
                  <a:lnTo>
                    <a:pt x="147" y="1043"/>
                  </a:lnTo>
                  <a:lnTo>
                    <a:pt x="147" y="934"/>
                  </a:lnTo>
                  <a:lnTo>
                    <a:pt x="147" y="813"/>
                  </a:lnTo>
                  <a:lnTo>
                    <a:pt x="195" y="761"/>
                  </a:lnTo>
                  <a:lnTo>
                    <a:pt x="339" y="710"/>
                  </a:lnTo>
                  <a:lnTo>
                    <a:pt x="550" y="627"/>
                  </a:lnTo>
                  <a:lnTo>
                    <a:pt x="704" y="576"/>
                  </a:lnTo>
                  <a:lnTo>
                    <a:pt x="877" y="505"/>
                  </a:lnTo>
                  <a:lnTo>
                    <a:pt x="992" y="441"/>
                  </a:lnTo>
                  <a:lnTo>
                    <a:pt x="1113" y="390"/>
                  </a:lnTo>
                  <a:lnTo>
                    <a:pt x="1222" y="345"/>
                  </a:lnTo>
                  <a:lnTo>
                    <a:pt x="1363" y="281"/>
                  </a:lnTo>
                  <a:lnTo>
                    <a:pt x="1549" y="217"/>
                  </a:lnTo>
                  <a:lnTo>
                    <a:pt x="1783" y="93"/>
                  </a:lnTo>
                  <a:lnTo>
                    <a:pt x="1933" y="38"/>
                  </a:lnTo>
                  <a:lnTo>
                    <a:pt x="1837" y="0"/>
                  </a:lnTo>
                </a:path>
              </a:pathLst>
            </a:custGeom>
            <a:pattFill prst="pct25">
              <a:fgClr>
                <a:schemeClr val="tx1"/>
              </a:fgClr>
              <a:bgClr>
                <a:schemeClr val="bg1"/>
              </a:bgClr>
            </a:pattFill>
            <a:ln w="6350" cap="rnd">
              <a:solidFill>
                <a:schemeClr val="tx1"/>
              </a:solidFill>
              <a:round/>
              <a:headEnd/>
              <a:tailEnd/>
            </a:ln>
          </p:spPr>
          <p:txBody>
            <a:bodyPr/>
            <a:lstStyle/>
            <a:p>
              <a:endParaRPr lang="zh-CN" altLang="en-US"/>
            </a:p>
          </p:txBody>
        </p:sp>
        <p:sp>
          <p:nvSpPr>
            <p:cNvPr id="269" name="Freeform 27" descr="5%"/>
            <p:cNvSpPr>
              <a:spLocks/>
            </p:cNvSpPr>
            <p:nvPr/>
          </p:nvSpPr>
          <p:spPr bwMode="auto">
            <a:xfrm>
              <a:off x="558" y="832"/>
              <a:ext cx="326" cy="120"/>
            </a:xfrm>
            <a:custGeom>
              <a:avLst/>
              <a:gdLst>
                <a:gd name="T0" fmla="*/ 27 w 961"/>
                <a:gd name="T1" fmla="*/ 0 h 353"/>
                <a:gd name="T2" fmla="*/ 31 w 961"/>
                <a:gd name="T3" fmla="*/ 1 h 353"/>
                <a:gd name="T4" fmla="*/ 35 w 961"/>
                <a:gd name="T5" fmla="*/ 2 h 353"/>
                <a:gd name="T6" fmla="*/ 38 w 961"/>
                <a:gd name="T7" fmla="*/ 2 h 353"/>
                <a:gd name="T8" fmla="*/ 28 w 961"/>
                <a:gd name="T9" fmla="*/ 6 h 353"/>
                <a:gd name="T10" fmla="*/ 24 w 961"/>
                <a:gd name="T11" fmla="*/ 7 h 353"/>
                <a:gd name="T12" fmla="*/ 19 w 961"/>
                <a:gd name="T13" fmla="*/ 10 h 353"/>
                <a:gd name="T14" fmla="*/ 13 w 961"/>
                <a:gd name="T15" fmla="*/ 12 h 353"/>
                <a:gd name="T16" fmla="*/ 9 w 961"/>
                <a:gd name="T17" fmla="*/ 14 h 353"/>
                <a:gd name="T18" fmla="*/ 3 w 961"/>
                <a:gd name="T19" fmla="*/ 13 h 353"/>
                <a:gd name="T20" fmla="*/ 0 w 961"/>
                <a:gd name="T21" fmla="*/ 12 h 353"/>
                <a:gd name="T22" fmla="*/ 3 w 961"/>
                <a:gd name="T23" fmla="*/ 10 h 353"/>
                <a:gd name="T24" fmla="*/ 7 w 961"/>
                <a:gd name="T25" fmla="*/ 8 h 353"/>
                <a:gd name="T26" fmla="*/ 12 w 961"/>
                <a:gd name="T27" fmla="*/ 6 h 353"/>
                <a:gd name="T28" fmla="*/ 15 w 961"/>
                <a:gd name="T29" fmla="*/ 5 h 353"/>
                <a:gd name="T30" fmla="*/ 18 w 961"/>
                <a:gd name="T31" fmla="*/ 3 h 353"/>
                <a:gd name="T32" fmla="*/ 22 w 961"/>
                <a:gd name="T33" fmla="*/ 2 h 353"/>
                <a:gd name="T34" fmla="*/ 27 w 961"/>
                <a:gd name="T35" fmla="*/ 0 h 3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61"/>
                <a:gd name="T55" fmla="*/ 0 h 353"/>
                <a:gd name="T56" fmla="*/ 961 w 961"/>
                <a:gd name="T57" fmla="*/ 353 h 35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61" h="353">
                  <a:moveTo>
                    <a:pt x="697" y="0"/>
                  </a:moveTo>
                  <a:lnTo>
                    <a:pt x="787" y="26"/>
                  </a:lnTo>
                  <a:lnTo>
                    <a:pt x="909" y="52"/>
                  </a:lnTo>
                  <a:lnTo>
                    <a:pt x="960" y="64"/>
                  </a:lnTo>
                  <a:lnTo>
                    <a:pt x="710" y="160"/>
                  </a:lnTo>
                  <a:lnTo>
                    <a:pt x="608" y="192"/>
                  </a:lnTo>
                  <a:lnTo>
                    <a:pt x="493" y="244"/>
                  </a:lnTo>
                  <a:lnTo>
                    <a:pt x="333" y="308"/>
                  </a:lnTo>
                  <a:lnTo>
                    <a:pt x="230" y="352"/>
                  </a:lnTo>
                  <a:lnTo>
                    <a:pt x="77" y="327"/>
                  </a:lnTo>
                  <a:lnTo>
                    <a:pt x="0" y="295"/>
                  </a:lnTo>
                  <a:lnTo>
                    <a:pt x="83" y="237"/>
                  </a:lnTo>
                  <a:lnTo>
                    <a:pt x="192" y="205"/>
                  </a:lnTo>
                  <a:lnTo>
                    <a:pt x="294" y="160"/>
                  </a:lnTo>
                  <a:lnTo>
                    <a:pt x="371" y="128"/>
                  </a:lnTo>
                  <a:lnTo>
                    <a:pt x="454" y="84"/>
                  </a:lnTo>
                  <a:lnTo>
                    <a:pt x="576" y="45"/>
                  </a:lnTo>
                  <a:lnTo>
                    <a:pt x="697" y="0"/>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70" name="Freeform 28" descr="5%"/>
            <p:cNvSpPr>
              <a:spLocks/>
            </p:cNvSpPr>
            <p:nvPr/>
          </p:nvSpPr>
          <p:spPr bwMode="auto">
            <a:xfrm>
              <a:off x="685" y="897"/>
              <a:ext cx="210" cy="101"/>
            </a:xfrm>
            <a:custGeom>
              <a:avLst/>
              <a:gdLst>
                <a:gd name="T0" fmla="*/ 9 w 622"/>
                <a:gd name="T1" fmla="*/ 12 h 297"/>
                <a:gd name="T2" fmla="*/ 11 w 622"/>
                <a:gd name="T3" fmla="*/ 10 h 297"/>
                <a:gd name="T4" fmla="*/ 13 w 622"/>
                <a:gd name="T5" fmla="*/ 9 h 297"/>
                <a:gd name="T6" fmla="*/ 15 w 622"/>
                <a:gd name="T7" fmla="*/ 8 h 297"/>
                <a:gd name="T8" fmla="*/ 14 w 622"/>
                <a:gd name="T9" fmla="*/ 7 h 297"/>
                <a:gd name="T10" fmla="*/ 13 w 622"/>
                <a:gd name="T11" fmla="*/ 5 h 297"/>
                <a:gd name="T12" fmla="*/ 12 w 622"/>
                <a:gd name="T13" fmla="*/ 4 h 297"/>
                <a:gd name="T14" fmla="*/ 14 w 622"/>
                <a:gd name="T15" fmla="*/ 6 h 297"/>
                <a:gd name="T16" fmla="*/ 15 w 622"/>
                <a:gd name="T17" fmla="*/ 7 h 297"/>
                <a:gd name="T18" fmla="*/ 15 w 622"/>
                <a:gd name="T19" fmla="*/ 7 h 297"/>
                <a:gd name="T20" fmla="*/ 18 w 622"/>
                <a:gd name="T21" fmla="*/ 6 h 297"/>
                <a:gd name="T22" fmla="*/ 20 w 622"/>
                <a:gd name="T23" fmla="*/ 6 h 297"/>
                <a:gd name="T24" fmla="*/ 22 w 622"/>
                <a:gd name="T25" fmla="*/ 4 h 297"/>
                <a:gd name="T26" fmla="*/ 24 w 622"/>
                <a:gd name="T27" fmla="*/ 3 h 297"/>
                <a:gd name="T28" fmla="*/ 23 w 622"/>
                <a:gd name="T29" fmla="*/ 3 h 297"/>
                <a:gd name="T30" fmla="*/ 22 w 622"/>
                <a:gd name="T31" fmla="*/ 2 h 297"/>
                <a:gd name="T32" fmla="*/ 20 w 622"/>
                <a:gd name="T33" fmla="*/ 1 h 297"/>
                <a:gd name="T34" fmla="*/ 19 w 622"/>
                <a:gd name="T35" fmla="*/ 1 h 297"/>
                <a:gd name="T36" fmla="*/ 19 w 622"/>
                <a:gd name="T37" fmla="*/ 0 h 297"/>
                <a:gd name="T38" fmla="*/ 13 w 622"/>
                <a:gd name="T39" fmla="*/ 2 h 297"/>
                <a:gd name="T40" fmla="*/ 8 w 622"/>
                <a:gd name="T41" fmla="*/ 3 h 297"/>
                <a:gd name="T42" fmla="*/ 5 w 622"/>
                <a:gd name="T43" fmla="*/ 5 h 297"/>
                <a:gd name="T44" fmla="*/ 2 w 622"/>
                <a:gd name="T45" fmla="*/ 6 h 297"/>
                <a:gd name="T46" fmla="*/ 0 w 622"/>
                <a:gd name="T47" fmla="*/ 8 h 297"/>
                <a:gd name="T48" fmla="*/ 2 w 622"/>
                <a:gd name="T49" fmla="*/ 9 h 297"/>
                <a:gd name="T50" fmla="*/ 5 w 622"/>
                <a:gd name="T51" fmla="*/ 11 h 297"/>
                <a:gd name="T52" fmla="*/ 9 w 622"/>
                <a:gd name="T53" fmla="*/ 12 h 29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22"/>
                <a:gd name="T82" fmla="*/ 0 h 297"/>
                <a:gd name="T83" fmla="*/ 622 w 622"/>
                <a:gd name="T84" fmla="*/ 297 h 29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22" h="297">
                  <a:moveTo>
                    <a:pt x="224" y="296"/>
                  </a:moveTo>
                  <a:lnTo>
                    <a:pt x="286" y="246"/>
                  </a:lnTo>
                  <a:lnTo>
                    <a:pt x="331" y="220"/>
                  </a:lnTo>
                  <a:lnTo>
                    <a:pt x="382" y="201"/>
                  </a:lnTo>
                  <a:lnTo>
                    <a:pt x="356" y="175"/>
                  </a:lnTo>
                  <a:lnTo>
                    <a:pt x="332" y="142"/>
                  </a:lnTo>
                  <a:lnTo>
                    <a:pt x="304" y="111"/>
                  </a:lnTo>
                  <a:lnTo>
                    <a:pt x="350" y="150"/>
                  </a:lnTo>
                  <a:lnTo>
                    <a:pt x="381" y="172"/>
                  </a:lnTo>
                  <a:lnTo>
                    <a:pt x="396" y="184"/>
                  </a:lnTo>
                  <a:lnTo>
                    <a:pt x="459" y="162"/>
                  </a:lnTo>
                  <a:lnTo>
                    <a:pt x="523" y="143"/>
                  </a:lnTo>
                  <a:lnTo>
                    <a:pt x="574" y="111"/>
                  </a:lnTo>
                  <a:lnTo>
                    <a:pt x="621" y="87"/>
                  </a:lnTo>
                  <a:lnTo>
                    <a:pt x="597" y="74"/>
                  </a:lnTo>
                  <a:lnTo>
                    <a:pt x="569" y="55"/>
                  </a:lnTo>
                  <a:lnTo>
                    <a:pt x="518" y="31"/>
                  </a:lnTo>
                  <a:lnTo>
                    <a:pt x="497" y="19"/>
                  </a:lnTo>
                  <a:lnTo>
                    <a:pt x="481" y="0"/>
                  </a:lnTo>
                  <a:lnTo>
                    <a:pt x="344" y="41"/>
                  </a:lnTo>
                  <a:lnTo>
                    <a:pt x="222" y="79"/>
                  </a:lnTo>
                  <a:lnTo>
                    <a:pt x="139" y="130"/>
                  </a:lnTo>
                  <a:lnTo>
                    <a:pt x="56" y="169"/>
                  </a:lnTo>
                  <a:lnTo>
                    <a:pt x="0" y="213"/>
                  </a:lnTo>
                  <a:lnTo>
                    <a:pt x="43" y="233"/>
                  </a:lnTo>
                  <a:lnTo>
                    <a:pt x="128" y="264"/>
                  </a:lnTo>
                  <a:lnTo>
                    <a:pt x="224" y="296"/>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71" name="Freeform 29" descr="5%"/>
            <p:cNvSpPr>
              <a:spLocks/>
            </p:cNvSpPr>
            <p:nvPr/>
          </p:nvSpPr>
          <p:spPr bwMode="auto">
            <a:xfrm>
              <a:off x="853" y="838"/>
              <a:ext cx="300" cy="143"/>
            </a:xfrm>
            <a:custGeom>
              <a:avLst/>
              <a:gdLst>
                <a:gd name="T0" fmla="*/ 0 w 885"/>
                <a:gd name="T1" fmla="*/ 7 h 421"/>
                <a:gd name="T2" fmla="*/ 4 w 885"/>
                <a:gd name="T3" fmla="*/ 8 h 421"/>
                <a:gd name="T4" fmla="*/ 8 w 885"/>
                <a:gd name="T5" fmla="*/ 10 h 421"/>
                <a:gd name="T6" fmla="*/ 11 w 885"/>
                <a:gd name="T7" fmla="*/ 11 h 421"/>
                <a:gd name="T8" fmla="*/ 14 w 885"/>
                <a:gd name="T9" fmla="*/ 14 h 421"/>
                <a:gd name="T10" fmla="*/ 17 w 885"/>
                <a:gd name="T11" fmla="*/ 15 h 421"/>
                <a:gd name="T12" fmla="*/ 19 w 885"/>
                <a:gd name="T13" fmla="*/ 17 h 421"/>
                <a:gd name="T14" fmla="*/ 21 w 885"/>
                <a:gd name="T15" fmla="*/ 15 h 421"/>
                <a:gd name="T16" fmla="*/ 27 w 885"/>
                <a:gd name="T17" fmla="*/ 13 h 421"/>
                <a:gd name="T18" fmla="*/ 31 w 885"/>
                <a:gd name="T19" fmla="*/ 12 h 421"/>
                <a:gd name="T20" fmla="*/ 34 w 885"/>
                <a:gd name="T21" fmla="*/ 11 h 421"/>
                <a:gd name="T22" fmla="*/ 35 w 885"/>
                <a:gd name="T23" fmla="*/ 10 h 421"/>
                <a:gd name="T24" fmla="*/ 33 w 885"/>
                <a:gd name="T25" fmla="*/ 8 h 421"/>
                <a:gd name="T26" fmla="*/ 28 w 885"/>
                <a:gd name="T27" fmla="*/ 7 h 421"/>
                <a:gd name="T28" fmla="*/ 26 w 885"/>
                <a:gd name="T29" fmla="*/ 6 h 421"/>
                <a:gd name="T30" fmla="*/ 24 w 885"/>
                <a:gd name="T31" fmla="*/ 4 h 421"/>
                <a:gd name="T32" fmla="*/ 20 w 885"/>
                <a:gd name="T33" fmla="*/ 2 h 421"/>
                <a:gd name="T34" fmla="*/ 17 w 885"/>
                <a:gd name="T35" fmla="*/ 1 h 421"/>
                <a:gd name="T36" fmla="*/ 15 w 885"/>
                <a:gd name="T37" fmla="*/ 0 h 421"/>
                <a:gd name="T38" fmla="*/ 12 w 885"/>
                <a:gd name="T39" fmla="*/ 1 h 421"/>
                <a:gd name="T40" fmla="*/ 10 w 885"/>
                <a:gd name="T41" fmla="*/ 3 h 421"/>
                <a:gd name="T42" fmla="*/ 5 w 885"/>
                <a:gd name="T43" fmla="*/ 5 h 421"/>
                <a:gd name="T44" fmla="*/ 0 w 885"/>
                <a:gd name="T45" fmla="*/ 7 h 42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85"/>
                <a:gd name="T70" fmla="*/ 0 h 421"/>
                <a:gd name="T71" fmla="*/ 885 w 885"/>
                <a:gd name="T72" fmla="*/ 421 h 42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85" h="421">
                  <a:moveTo>
                    <a:pt x="0" y="170"/>
                  </a:moveTo>
                  <a:lnTo>
                    <a:pt x="96" y="215"/>
                  </a:lnTo>
                  <a:lnTo>
                    <a:pt x="199" y="253"/>
                  </a:lnTo>
                  <a:lnTo>
                    <a:pt x="269" y="285"/>
                  </a:lnTo>
                  <a:lnTo>
                    <a:pt x="359" y="343"/>
                  </a:lnTo>
                  <a:lnTo>
                    <a:pt x="442" y="375"/>
                  </a:lnTo>
                  <a:lnTo>
                    <a:pt x="487" y="420"/>
                  </a:lnTo>
                  <a:lnTo>
                    <a:pt x="551" y="375"/>
                  </a:lnTo>
                  <a:lnTo>
                    <a:pt x="691" y="336"/>
                  </a:lnTo>
                  <a:lnTo>
                    <a:pt x="781" y="298"/>
                  </a:lnTo>
                  <a:lnTo>
                    <a:pt x="858" y="272"/>
                  </a:lnTo>
                  <a:lnTo>
                    <a:pt x="884" y="253"/>
                  </a:lnTo>
                  <a:lnTo>
                    <a:pt x="831" y="200"/>
                  </a:lnTo>
                  <a:lnTo>
                    <a:pt x="730" y="183"/>
                  </a:lnTo>
                  <a:lnTo>
                    <a:pt x="672" y="144"/>
                  </a:lnTo>
                  <a:lnTo>
                    <a:pt x="615" y="106"/>
                  </a:lnTo>
                  <a:lnTo>
                    <a:pt x="522" y="57"/>
                  </a:lnTo>
                  <a:lnTo>
                    <a:pt x="440" y="25"/>
                  </a:lnTo>
                  <a:lnTo>
                    <a:pt x="396" y="0"/>
                  </a:lnTo>
                  <a:lnTo>
                    <a:pt x="314" y="36"/>
                  </a:lnTo>
                  <a:lnTo>
                    <a:pt x="256" y="80"/>
                  </a:lnTo>
                  <a:lnTo>
                    <a:pt x="141" y="119"/>
                  </a:lnTo>
                  <a:lnTo>
                    <a:pt x="0" y="170"/>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72" name="Freeform 30" descr="5%"/>
            <p:cNvSpPr>
              <a:spLocks/>
            </p:cNvSpPr>
            <p:nvPr/>
          </p:nvSpPr>
          <p:spPr bwMode="auto">
            <a:xfrm>
              <a:off x="999" y="778"/>
              <a:ext cx="278" cy="143"/>
            </a:xfrm>
            <a:custGeom>
              <a:avLst/>
              <a:gdLst>
                <a:gd name="T0" fmla="*/ 32 w 820"/>
                <a:gd name="T1" fmla="*/ 10 h 424"/>
                <a:gd name="T2" fmla="*/ 31 w 820"/>
                <a:gd name="T3" fmla="*/ 8 h 424"/>
                <a:gd name="T4" fmla="*/ 30 w 820"/>
                <a:gd name="T5" fmla="*/ 7 h 424"/>
                <a:gd name="T6" fmla="*/ 28 w 820"/>
                <a:gd name="T7" fmla="*/ 7 h 424"/>
                <a:gd name="T8" fmla="*/ 26 w 820"/>
                <a:gd name="T9" fmla="*/ 6 h 424"/>
                <a:gd name="T10" fmla="*/ 24 w 820"/>
                <a:gd name="T11" fmla="*/ 5 h 424"/>
                <a:gd name="T12" fmla="*/ 21 w 820"/>
                <a:gd name="T13" fmla="*/ 4 h 424"/>
                <a:gd name="T14" fmla="*/ 16 w 820"/>
                <a:gd name="T15" fmla="*/ 2 h 424"/>
                <a:gd name="T16" fmla="*/ 16 w 820"/>
                <a:gd name="T17" fmla="*/ 1 h 424"/>
                <a:gd name="T18" fmla="*/ 14 w 820"/>
                <a:gd name="T19" fmla="*/ 0 h 424"/>
                <a:gd name="T20" fmla="*/ 11 w 820"/>
                <a:gd name="T21" fmla="*/ 1 h 424"/>
                <a:gd name="T22" fmla="*/ 7 w 820"/>
                <a:gd name="T23" fmla="*/ 3 h 424"/>
                <a:gd name="T24" fmla="*/ 4 w 820"/>
                <a:gd name="T25" fmla="*/ 4 h 424"/>
                <a:gd name="T26" fmla="*/ 1 w 820"/>
                <a:gd name="T27" fmla="*/ 5 h 424"/>
                <a:gd name="T28" fmla="*/ 0 w 820"/>
                <a:gd name="T29" fmla="*/ 6 h 424"/>
                <a:gd name="T30" fmla="*/ 2 w 820"/>
                <a:gd name="T31" fmla="*/ 7 h 424"/>
                <a:gd name="T32" fmla="*/ 4 w 820"/>
                <a:gd name="T33" fmla="*/ 8 h 424"/>
                <a:gd name="T34" fmla="*/ 7 w 820"/>
                <a:gd name="T35" fmla="*/ 9 h 424"/>
                <a:gd name="T36" fmla="*/ 8 w 820"/>
                <a:gd name="T37" fmla="*/ 10 h 424"/>
                <a:gd name="T38" fmla="*/ 10 w 820"/>
                <a:gd name="T39" fmla="*/ 11 h 424"/>
                <a:gd name="T40" fmla="*/ 12 w 820"/>
                <a:gd name="T41" fmla="*/ 12 h 424"/>
                <a:gd name="T42" fmla="*/ 15 w 820"/>
                <a:gd name="T43" fmla="*/ 13 h 424"/>
                <a:gd name="T44" fmla="*/ 17 w 820"/>
                <a:gd name="T45" fmla="*/ 14 h 424"/>
                <a:gd name="T46" fmla="*/ 19 w 820"/>
                <a:gd name="T47" fmla="*/ 15 h 424"/>
                <a:gd name="T48" fmla="*/ 19 w 820"/>
                <a:gd name="T49" fmla="*/ 16 h 424"/>
                <a:gd name="T50" fmla="*/ 22 w 820"/>
                <a:gd name="T51" fmla="*/ 15 h 424"/>
                <a:gd name="T52" fmla="*/ 25 w 820"/>
                <a:gd name="T53" fmla="*/ 13 h 424"/>
                <a:gd name="T54" fmla="*/ 26 w 820"/>
                <a:gd name="T55" fmla="*/ 13 h 424"/>
                <a:gd name="T56" fmla="*/ 27 w 820"/>
                <a:gd name="T57" fmla="*/ 12 h 424"/>
                <a:gd name="T58" fmla="*/ 28 w 820"/>
                <a:gd name="T59" fmla="*/ 11 h 424"/>
                <a:gd name="T60" fmla="*/ 32 w 820"/>
                <a:gd name="T61" fmla="*/ 10 h 42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20"/>
                <a:gd name="T94" fmla="*/ 0 h 424"/>
                <a:gd name="T95" fmla="*/ 820 w 820"/>
                <a:gd name="T96" fmla="*/ 424 h 42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20" h="424">
                  <a:moveTo>
                    <a:pt x="819" y="276"/>
                  </a:moveTo>
                  <a:lnTo>
                    <a:pt x="800" y="218"/>
                  </a:lnTo>
                  <a:lnTo>
                    <a:pt x="768" y="192"/>
                  </a:lnTo>
                  <a:lnTo>
                    <a:pt x="717" y="173"/>
                  </a:lnTo>
                  <a:lnTo>
                    <a:pt x="678" y="160"/>
                  </a:lnTo>
                  <a:lnTo>
                    <a:pt x="612" y="123"/>
                  </a:lnTo>
                  <a:lnTo>
                    <a:pt x="540" y="96"/>
                  </a:lnTo>
                  <a:lnTo>
                    <a:pt x="422" y="45"/>
                  </a:lnTo>
                  <a:lnTo>
                    <a:pt x="397" y="20"/>
                  </a:lnTo>
                  <a:lnTo>
                    <a:pt x="358" y="0"/>
                  </a:lnTo>
                  <a:lnTo>
                    <a:pt x="275" y="26"/>
                  </a:lnTo>
                  <a:lnTo>
                    <a:pt x="179" y="71"/>
                  </a:lnTo>
                  <a:lnTo>
                    <a:pt x="96" y="109"/>
                  </a:lnTo>
                  <a:lnTo>
                    <a:pt x="32" y="141"/>
                  </a:lnTo>
                  <a:lnTo>
                    <a:pt x="0" y="152"/>
                  </a:lnTo>
                  <a:lnTo>
                    <a:pt x="45" y="186"/>
                  </a:lnTo>
                  <a:lnTo>
                    <a:pt x="98" y="217"/>
                  </a:lnTo>
                  <a:lnTo>
                    <a:pt x="173" y="244"/>
                  </a:lnTo>
                  <a:lnTo>
                    <a:pt x="218" y="276"/>
                  </a:lnTo>
                  <a:lnTo>
                    <a:pt x="262" y="282"/>
                  </a:lnTo>
                  <a:lnTo>
                    <a:pt x="298" y="326"/>
                  </a:lnTo>
                  <a:lnTo>
                    <a:pt x="371" y="340"/>
                  </a:lnTo>
                  <a:lnTo>
                    <a:pt x="435" y="359"/>
                  </a:lnTo>
                  <a:lnTo>
                    <a:pt x="475" y="392"/>
                  </a:lnTo>
                  <a:lnTo>
                    <a:pt x="499" y="423"/>
                  </a:lnTo>
                  <a:lnTo>
                    <a:pt x="557" y="384"/>
                  </a:lnTo>
                  <a:lnTo>
                    <a:pt x="640" y="352"/>
                  </a:lnTo>
                  <a:lnTo>
                    <a:pt x="678" y="340"/>
                  </a:lnTo>
                  <a:lnTo>
                    <a:pt x="704" y="308"/>
                  </a:lnTo>
                  <a:lnTo>
                    <a:pt x="730" y="301"/>
                  </a:lnTo>
                  <a:lnTo>
                    <a:pt x="819" y="276"/>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73" name="Freeform 31" descr="5%"/>
            <p:cNvSpPr>
              <a:spLocks/>
            </p:cNvSpPr>
            <p:nvPr/>
          </p:nvSpPr>
          <p:spPr bwMode="auto">
            <a:xfrm>
              <a:off x="1129" y="707"/>
              <a:ext cx="428" cy="180"/>
            </a:xfrm>
            <a:custGeom>
              <a:avLst/>
              <a:gdLst>
                <a:gd name="T0" fmla="*/ 0 w 1264"/>
                <a:gd name="T1" fmla="*/ 8 h 529"/>
                <a:gd name="T2" fmla="*/ 2 w 1264"/>
                <a:gd name="T3" fmla="*/ 7 h 529"/>
                <a:gd name="T4" fmla="*/ 5 w 1264"/>
                <a:gd name="T5" fmla="*/ 6 h 529"/>
                <a:gd name="T6" fmla="*/ 8 w 1264"/>
                <a:gd name="T7" fmla="*/ 4 h 529"/>
                <a:gd name="T8" fmla="*/ 10 w 1264"/>
                <a:gd name="T9" fmla="*/ 3 h 529"/>
                <a:gd name="T10" fmla="*/ 14 w 1264"/>
                <a:gd name="T11" fmla="*/ 2 h 529"/>
                <a:gd name="T12" fmla="*/ 17 w 1264"/>
                <a:gd name="T13" fmla="*/ 1 h 529"/>
                <a:gd name="T14" fmla="*/ 19 w 1264"/>
                <a:gd name="T15" fmla="*/ 0 h 529"/>
                <a:gd name="T16" fmla="*/ 21 w 1264"/>
                <a:gd name="T17" fmla="*/ 1 h 529"/>
                <a:gd name="T18" fmla="*/ 24 w 1264"/>
                <a:gd name="T19" fmla="*/ 2 h 529"/>
                <a:gd name="T20" fmla="*/ 26 w 1264"/>
                <a:gd name="T21" fmla="*/ 3 h 529"/>
                <a:gd name="T22" fmla="*/ 31 w 1264"/>
                <a:gd name="T23" fmla="*/ 4 h 529"/>
                <a:gd name="T24" fmla="*/ 37 w 1264"/>
                <a:gd name="T25" fmla="*/ 7 h 529"/>
                <a:gd name="T26" fmla="*/ 42 w 1264"/>
                <a:gd name="T27" fmla="*/ 9 h 529"/>
                <a:gd name="T28" fmla="*/ 46 w 1264"/>
                <a:gd name="T29" fmla="*/ 10 h 529"/>
                <a:gd name="T30" fmla="*/ 49 w 1264"/>
                <a:gd name="T31" fmla="*/ 11 h 529"/>
                <a:gd name="T32" fmla="*/ 47 w 1264"/>
                <a:gd name="T33" fmla="*/ 12 h 529"/>
                <a:gd name="T34" fmla="*/ 43 w 1264"/>
                <a:gd name="T35" fmla="*/ 14 h 529"/>
                <a:gd name="T36" fmla="*/ 39 w 1264"/>
                <a:gd name="T37" fmla="*/ 15 h 529"/>
                <a:gd name="T38" fmla="*/ 37 w 1264"/>
                <a:gd name="T39" fmla="*/ 17 h 529"/>
                <a:gd name="T40" fmla="*/ 36 w 1264"/>
                <a:gd name="T41" fmla="*/ 17 h 529"/>
                <a:gd name="T42" fmla="*/ 35 w 1264"/>
                <a:gd name="T43" fmla="*/ 17 h 529"/>
                <a:gd name="T44" fmla="*/ 34 w 1264"/>
                <a:gd name="T45" fmla="*/ 17 h 529"/>
                <a:gd name="T46" fmla="*/ 31 w 1264"/>
                <a:gd name="T47" fmla="*/ 19 h 529"/>
                <a:gd name="T48" fmla="*/ 27 w 1264"/>
                <a:gd name="T49" fmla="*/ 21 h 529"/>
                <a:gd name="T50" fmla="*/ 25 w 1264"/>
                <a:gd name="T51" fmla="*/ 21 h 529"/>
                <a:gd name="T52" fmla="*/ 22 w 1264"/>
                <a:gd name="T53" fmla="*/ 20 h 529"/>
                <a:gd name="T54" fmla="*/ 21 w 1264"/>
                <a:gd name="T55" fmla="*/ 18 h 529"/>
                <a:gd name="T56" fmla="*/ 18 w 1264"/>
                <a:gd name="T57" fmla="*/ 18 h 529"/>
                <a:gd name="T58" fmla="*/ 16 w 1264"/>
                <a:gd name="T59" fmla="*/ 16 h 529"/>
                <a:gd name="T60" fmla="*/ 14 w 1264"/>
                <a:gd name="T61" fmla="*/ 14 h 529"/>
                <a:gd name="T62" fmla="*/ 11 w 1264"/>
                <a:gd name="T63" fmla="*/ 14 h 529"/>
                <a:gd name="T64" fmla="*/ 10 w 1264"/>
                <a:gd name="T65" fmla="*/ 13 h 529"/>
                <a:gd name="T66" fmla="*/ 8 w 1264"/>
                <a:gd name="T67" fmla="*/ 12 h 529"/>
                <a:gd name="T68" fmla="*/ 6 w 1264"/>
                <a:gd name="T69" fmla="*/ 11 h 529"/>
                <a:gd name="T70" fmla="*/ 3 w 1264"/>
                <a:gd name="T71" fmla="*/ 11 h 529"/>
                <a:gd name="T72" fmla="*/ 0 w 1264"/>
                <a:gd name="T73" fmla="*/ 8 h 52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64"/>
                <a:gd name="T112" fmla="*/ 0 h 529"/>
                <a:gd name="T113" fmla="*/ 1264 w 1264"/>
                <a:gd name="T114" fmla="*/ 529 h 52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64" h="529">
                  <a:moveTo>
                    <a:pt x="0" y="208"/>
                  </a:moveTo>
                  <a:lnTo>
                    <a:pt x="64" y="183"/>
                  </a:lnTo>
                  <a:lnTo>
                    <a:pt x="134" y="157"/>
                  </a:lnTo>
                  <a:lnTo>
                    <a:pt x="198" y="106"/>
                  </a:lnTo>
                  <a:lnTo>
                    <a:pt x="262" y="80"/>
                  </a:lnTo>
                  <a:lnTo>
                    <a:pt x="353" y="50"/>
                  </a:lnTo>
                  <a:lnTo>
                    <a:pt x="435" y="16"/>
                  </a:lnTo>
                  <a:lnTo>
                    <a:pt x="477" y="0"/>
                  </a:lnTo>
                  <a:lnTo>
                    <a:pt x="550" y="36"/>
                  </a:lnTo>
                  <a:lnTo>
                    <a:pt x="614" y="61"/>
                  </a:lnTo>
                  <a:lnTo>
                    <a:pt x="678" y="80"/>
                  </a:lnTo>
                  <a:lnTo>
                    <a:pt x="806" y="106"/>
                  </a:lnTo>
                  <a:lnTo>
                    <a:pt x="947" y="170"/>
                  </a:lnTo>
                  <a:lnTo>
                    <a:pt x="1069" y="221"/>
                  </a:lnTo>
                  <a:lnTo>
                    <a:pt x="1184" y="253"/>
                  </a:lnTo>
                  <a:lnTo>
                    <a:pt x="1263" y="272"/>
                  </a:lnTo>
                  <a:lnTo>
                    <a:pt x="1210" y="298"/>
                  </a:lnTo>
                  <a:lnTo>
                    <a:pt x="1114" y="343"/>
                  </a:lnTo>
                  <a:lnTo>
                    <a:pt x="1011" y="388"/>
                  </a:lnTo>
                  <a:lnTo>
                    <a:pt x="941" y="432"/>
                  </a:lnTo>
                  <a:lnTo>
                    <a:pt x="922" y="432"/>
                  </a:lnTo>
                  <a:lnTo>
                    <a:pt x="902" y="432"/>
                  </a:lnTo>
                  <a:lnTo>
                    <a:pt x="870" y="432"/>
                  </a:lnTo>
                  <a:lnTo>
                    <a:pt x="806" y="477"/>
                  </a:lnTo>
                  <a:lnTo>
                    <a:pt x="698" y="522"/>
                  </a:lnTo>
                  <a:lnTo>
                    <a:pt x="634" y="528"/>
                  </a:lnTo>
                  <a:lnTo>
                    <a:pt x="570" y="503"/>
                  </a:lnTo>
                  <a:lnTo>
                    <a:pt x="538" y="471"/>
                  </a:lnTo>
                  <a:lnTo>
                    <a:pt x="474" y="452"/>
                  </a:lnTo>
                  <a:lnTo>
                    <a:pt x="410" y="400"/>
                  </a:lnTo>
                  <a:lnTo>
                    <a:pt x="352" y="362"/>
                  </a:lnTo>
                  <a:lnTo>
                    <a:pt x="288" y="343"/>
                  </a:lnTo>
                  <a:lnTo>
                    <a:pt x="250" y="330"/>
                  </a:lnTo>
                  <a:lnTo>
                    <a:pt x="202" y="304"/>
                  </a:lnTo>
                  <a:lnTo>
                    <a:pt x="151" y="288"/>
                  </a:lnTo>
                  <a:lnTo>
                    <a:pt x="91" y="268"/>
                  </a:lnTo>
                  <a:lnTo>
                    <a:pt x="0" y="208"/>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74" name="Freeform 32" descr="5%"/>
            <p:cNvSpPr>
              <a:spLocks/>
            </p:cNvSpPr>
            <p:nvPr/>
          </p:nvSpPr>
          <p:spPr bwMode="auto">
            <a:xfrm>
              <a:off x="873" y="1131"/>
              <a:ext cx="187" cy="90"/>
            </a:xfrm>
            <a:custGeom>
              <a:avLst/>
              <a:gdLst>
                <a:gd name="T0" fmla="*/ 0 w 551"/>
                <a:gd name="T1" fmla="*/ 4 h 267"/>
                <a:gd name="T2" fmla="*/ 3 w 551"/>
                <a:gd name="T3" fmla="*/ 2 h 267"/>
                <a:gd name="T4" fmla="*/ 6 w 551"/>
                <a:gd name="T5" fmla="*/ 1 h 267"/>
                <a:gd name="T6" fmla="*/ 8 w 551"/>
                <a:gd name="T7" fmla="*/ 0 h 267"/>
                <a:gd name="T8" fmla="*/ 10 w 551"/>
                <a:gd name="T9" fmla="*/ 1 h 267"/>
                <a:gd name="T10" fmla="*/ 12 w 551"/>
                <a:gd name="T11" fmla="*/ 2 h 267"/>
                <a:gd name="T12" fmla="*/ 15 w 551"/>
                <a:gd name="T13" fmla="*/ 4 h 267"/>
                <a:gd name="T14" fmla="*/ 20 w 551"/>
                <a:gd name="T15" fmla="*/ 6 h 267"/>
                <a:gd name="T16" fmla="*/ 21 w 551"/>
                <a:gd name="T17" fmla="*/ 7 h 267"/>
                <a:gd name="T18" fmla="*/ 18 w 551"/>
                <a:gd name="T19" fmla="*/ 8 h 267"/>
                <a:gd name="T20" fmla="*/ 15 w 551"/>
                <a:gd name="T21" fmla="*/ 10 h 267"/>
                <a:gd name="T22" fmla="*/ 14 w 551"/>
                <a:gd name="T23" fmla="*/ 10 h 267"/>
                <a:gd name="T24" fmla="*/ 12 w 551"/>
                <a:gd name="T25" fmla="*/ 9 h 267"/>
                <a:gd name="T26" fmla="*/ 7 w 551"/>
                <a:gd name="T27" fmla="*/ 7 h 267"/>
                <a:gd name="T28" fmla="*/ 4 w 551"/>
                <a:gd name="T29" fmla="*/ 6 h 267"/>
                <a:gd name="T30" fmla="*/ 0 w 551"/>
                <a:gd name="T31" fmla="*/ 4 h 2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1"/>
                <a:gd name="T49" fmla="*/ 0 h 267"/>
                <a:gd name="T50" fmla="*/ 551 w 551"/>
                <a:gd name="T51" fmla="*/ 267 h 2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1" h="267">
                  <a:moveTo>
                    <a:pt x="0" y="100"/>
                  </a:moveTo>
                  <a:lnTo>
                    <a:pt x="89" y="61"/>
                  </a:lnTo>
                  <a:lnTo>
                    <a:pt x="147" y="16"/>
                  </a:lnTo>
                  <a:lnTo>
                    <a:pt x="198" y="0"/>
                  </a:lnTo>
                  <a:lnTo>
                    <a:pt x="246" y="32"/>
                  </a:lnTo>
                  <a:lnTo>
                    <a:pt x="304" y="62"/>
                  </a:lnTo>
                  <a:lnTo>
                    <a:pt x="392" y="99"/>
                  </a:lnTo>
                  <a:lnTo>
                    <a:pt x="504" y="150"/>
                  </a:lnTo>
                  <a:lnTo>
                    <a:pt x="550" y="181"/>
                  </a:lnTo>
                  <a:lnTo>
                    <a:pt x="454" y="221"/>
                  </a:lnTo>
                  <a:lnTo>
                    <a:pt x="377" y="253"/>
                  </a:lnTo>
                  <a:lnTo>
                    <a:pt x="358" y="266"/>
                  </a:lnTo>
                  <a:lnTo>
                    <a:pt x="307" y="247"/>
                  </a:lnTo>
                  <a:lnTo>
                    <a:pt x="173" y="196"/>
                  </a:lnTo>
                  <a:lnTo>
                    <a:pt x="115" y="164"/>
                  </a:lnTo>
                  <a:lnTo>
                    <a:pt x="0" y="100"/>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75" name="Freeform 33" descr="5%"/>
            <p:cNvSpPr>
              <a:spLocks/>
            </p:cNvSpPr>
            <p:nvPr/>
          </p:nvSpPr>
          <p:spPr bwMode="auto">
            <a:xfrm>
              <a:off x="944" y="1105"/>
              <a:ext cx="176" cy="80"/>
            </a:xfrm>
            <a:custGeom>
              <a:avLst/>
              <a:gdLst>
                <a:gd name="T0" fmla="*/ 14 w 520"/>
                <a:gd name="T1" fmla="*/ 9 h 236"/>
                <a:gd name="T2" fmla="*/ 17 w 520"/>
                <a:gd name="T3" fmla="*/ 7 h 236"/>
                <a:gd name="T4" fmla="*/ 20 w 520"/>
                <a:gd name="T5" fmla="*/ 6 h 236"/>
                <a:gd name="T6" fmla="*/ 19 w 520"/>
                <a:gd name="T7" fmla="*/ 5 h 236"/>
                <a:gd name="T8" fmla="*/ 16 w 520"/>
                <a:gd name="T9" fmla="*/ 5 h 236"/>
                <a:gd name="T10" fmla="*/ 14 w 520"/>
                <a:gd name="T11" fmla="*/ 5 h 236"/>
                <a:gd name="T12" fmla="*/ 12 w 520"/>
                <a:gd name="T13" fmla="*/ 3 h 236"/>
                <a:gd name="T14" fmla="*/ 8 w 520"/>
                <a:gd name="T15" fmla="*/ 2 h 236"/>
                <a:gd name="T16" fmla="*/ 5 w 520"/>
                <a:gd name="T17" fmla="*/ 1 h 236"/>
                <a:gd name="T18" fmla="*/ 4 w 520"/>
                <a:gd name="T19" fmla="*/ 0 h 236"/>
                <a:gd name="T20" fmla="*/ 3 w 520"/>
                <a:gd name="T21" fmla="*/ 1 h 236"/>
                <a:gd name="T22" fmla="*/ 1 w 520"/>
                <a:gd name="T23" fmla="*/ 2 h 236"/>
                <a:gd name="T24" fmla="*/ 0 w 520"/>
                <a:gd name="T25" fmla="*/ 2 h 236"/>
                <a:gd name="T26" fmla="*/ 3 w 520"/>
                <a:gd name="T27" fmla="*/ 4 h 236"/>
                <a:gd name="T28" fmla="*/ 5 w 520"/>
                <a:gd name="T29" fmla="*/ 5 h 236"/>
                <a:gd name="T30" fmla="*/ 6 w 520"/>
                <a:gd name="T31" fmla="*/ 7 h 236"/>
                <a:gd name="T32" fmla="*/ 9 w 520"/>
                <a:gd name="T33" fmla="*/ 7 h 236"/>
                <a:gd name="T34" fmla="*/ 12 w 520"/>
                <a:gd name="T35" fmla="*/ 8 h 236"/>
                <a:gd name="T36" fmla="*/ 14 w 520"/>
                <a:gd name="T37" fmla="*/ 9 h 2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20"/>
                <a:gd name="T58" fmla="*/ 0 h 236"/>
                <a:gd name="T59" fmla="*/ 520 w 520"/>
                <a:gd name="T60" fmla="*/ 236 h 2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20" h="236">
                  <a:moveTo>
                    <a:pt x="354" y="235"/>
                  </a:moveTo>
                  <a:lnTo>
                    <a:pt x="431" y="181"/>
                  </a:lnTo>
                  <a:lnTo>
                    <a:pt x="519" y="156"/>
                  </a:lnTo>
                  <a:lnTo>
                    <a:pt x="482" y="140"/>
                  </a:lnTo>
                  <a:lnTo>
                    <a:pt x="405" y="143"/>
                  </a:lnTo>
                  <a:lnTo>
                    <a:pt x="348" y="123"/>
                  </a:lnTo>
                  <a:lnTo>
                    <a:pt x="296" y="85"/>
                  </a:lnTo>
                  <a:lnTo>
                    <a:pt x="220" y="53"/>
                  </a:lnTo>
                  <a:lnTo>
                    <a:pt x="143" y="27"/>
                  </a:lnTo>
                  <a:lnTo>
                    <a:pt x="108" y="0"/>
                  </a:lnTo>
                  <a:lnTo>
                    <a:pt x="79" y="15"/>
                  </a:lnTo>
                  <a:lnTo>
                    <a:pt x="26" y="50"/>
                  </a:lnTo>
                  <a:lnTo>
                    <a:pt x="0" y="61"/>
                  </a:lnTo>
                  <a:lnTo>
                    <a:pt x="79" y="111"/>
                  </a:lnTo>
                  <a:lnTo>
                    <a:pt x="117" y="136"/>
                  </a:lnTo>
                  <a:lnTo>
                    <a:pt x="167" y="176"/>
                  </a:lnTo>
                  <a:lnTo>
                    <a:pt x="241" y="185"/>
                  </a:lnTo>
                  <a:lnTo>
                    <a:pt x="297" y="214"/>
                  </a:lnTo>
                  <a:lnTo>
                    <a:pt x="354" y="235"/>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76" name="Freeform 34" descr="5%"/>
            <p:cNvSpPr>
              <a:spLocks/>
            </p:cNvSpPr>
            <p:nvPr/>
          </p:nvSpPr>
          <p:spPr bwMode="auto">
            <a:xfrm>
              <a:off x="1127" y="1093"/>
              <a:ext cx="204" cy="91"/>
            </a:xfrm>
            <a:custGeom>
              <a:avLst/>
              <a:gdLst>
                <a:gd name="T0" fmla="*/ 0 w 601"/>
                <a:gd name="T1" fmla="*/ 7 h 270"/>
                <a:gd name="T2" fmla="*/ 4 w 601"/>
                <a:gd name="T3" fmla="*/ 5 h 270"/>
                <a:gd name="T4" fmla="*/ 7 w 601"/>
                <a:gd name="T5" fmla="*/ 4 h 270"/>
                <a:gd name="T6" fmla="*/ 9 w 601"/>
                <a:gd name="T7" fmla="*/ 4 h 270"/>
                <a:gd name="T8" fmla="*/ 10 w 601"/>
                <a:gd name="T9" fmla="*/ 2 h 270"/>
                <a:gd name="T10" fmla="*/ 12 w 601"/>
                <a:gd name="T11" fmla="*/ 1 h 270"/>
                <a:gd name="T12" fmla="*/ 14 w 601"/>
                <a:gd name="T13" fmla="*/ 1 h 270"/>
                <a:gd name="T14" fmla="*/ 16 w 601"/>
                <a:gd name="T15" fmla="*/ 0 h 270"/>
                <a:gd name="T16" fmla="*/ 19 w 601"/>
                <a:gd name="T17" fmla="*/ 1 h 270"/>
                <a:gd name="T18" fmla="*/ 21 w 601"/>
                <a:gd name="T19" fmla="*/ 3 h 270"/>
                <a:gd name="T20" fmla="*/ 23 w 601"/>
                <a:gd name="T21" fmla="*/ 4 h 270"/>
                <a:gd name="T22" fmla="*/ 21 w 601"/>
                <a:gd name="T23" fmla="*/ 5 h 270"/>
                <a:gd name="T24" fmla="*/ 18 w 601"/>
                <a:gd name="T25" fmla="*/ 6 h 270"/>
                <a:gd name="T26" fmla="*/ 14 w 601"/>
                <a:gd name="T27" fmla="*/ 8 h 270"/>
                <a:gd name="T28" fmla="*/ 11 w 601"/>
                <a:gd name="T29" fmla="*/ 9 h 270"/>
                <a:gd name="T30" fmla="*/ 10 w 601"/>
                <a:gd name="T31" fmla="*/ 10 h 270"/>
                <a:gd name="T32" fmla="*/ 7 w 601"/>
                <a:gd name="T33" fmla="*/ 9 h 270"/>
                <a:gd name="T34" fmla="*/ 4 w 601"/>
                <a:gd name="T35" fmla="*/ 8 h 270"/>
                <a:gd name="T36" fmla="*/ 0 w 601"/>
                <a:gd name="T37" fmla="*/ 7 h 2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1"/>
                <a:gd name="T58" fmla="*/ 0 h 270"/>
                <a:gd name="T59" fmla="*/ 601 w 601"/>
                <a:gd name="T60" fmla="*/ 270 h 2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1" h="270">
                  <a:moveTo>
                    <a:pt x="0" y="185"/>
                  </a:moveTo>
                  <a:lnTo>
                    <a:pt x="107" y="141"/>
                  </a:lnTo>
                  <a:lnTo>
                    <a:pt x="171" y="116"/>
                  </a:lnTo>
                  <a:lnTo>
                    <a:pt x="229" y="96"/>
                  </a:lnTo>
                  <a:lnTo>
                    <a:pt x="261" y="64"/>
                  </a:lnTo>
                  <a:lnTo>
                    <a:pt x="299" y="32"/>
                  </a:lnTo>
                  <a:lnTo>
                    <a:pt x="363" y="20"/>
                  </a:lnTo>
                  <a:lnTo>
                    <a:pt x="408" y="0"/>
                  </a:lnTo>
                  <a:lnTo>
                    <a:pt x="479" y="32"/>
                  </a:lnTo>
                  <a:lnTo>
                    <a:pt x="549" y="71"/>
                  </a:lnTo>
                  <a:lnTo>
                    <a:pt x="600" y="96"/>
                  </a:lnTo>
                  <a:lnTo>
                    <a:pt x="536" y="135"/>
                  </a:lnTo>
                  <a:lnTo>
                    <a:pt x="461" y="166"/>
                  </a:lnTo>
                  <a:lnTo>
                    <a:pt x="351" y="205"/>
                  </a:lnTo>
                  <a:lnTo>
                    <a:pt x="274" y="244"/>
                  </a:lnTo>
                  <a:lnTo>
                    <a:pt x="261" y="269"/>
                  </a:lnTo>
                  <a:lnTo>
                    <a:pt x="189" y="249"/>
                  </a:lnTo>
                  <a:lnTo>
                    <a:pt x="92" y="209"/>
                  </a:lnTo>
                  <a:lnTo>
                    <a:pt x="0" y="185"/>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77" name="Freeform 35" descr="5%"/>
            <p:cNvSpPr>
              <a:spLocks/>
            </p:cNvSpPr>
            <p:nvPr/>
          </p:nvSpPr>
          <p:spPr bwMode="auto">
            <a:xfrm>
              <a:off x="1274" y="1034"/>
              <a:ext cx="193" cy="85"/>
            </a:xfrm>
            <a:custGeom>
              <a:avLst/>
              <a:gdLst>
                <a:gd name="T0" fmla="*/ 0 w 570"/>
                <a:gd name="T1" fmla="*/ 6 h 250"/>
                <a:gd name="T2" fmla="*/ 3 w 570"/>
                <a:gd name="T3" fmla="*/ 4 h 250"/>
                <a:gd name="T4" fmla="*/ 6 w 570"/>
                <a:gd name="T5" fmla="*/ 3 h 250"/>
                <a:gd name="T6" fmla="*/ 9 w 570"/>
                <a:gd name="T7" fmla="*/ 2 h 250"/>
                <a:gd name="T8" fmla="*/ 10 w 570"/>
                <a:gd name="T9" fmla="*/ 1 h 250"/>
                <a:gd name="T10" fmla="*/ 13 w 570"/>
                <a:gd name="T11" fmla="*/ 0 h 250"/>
                <a:gd name="T12" fmla="*/ 15 w 570"/>
                <a:gd name="T13" fmla="*/ 1 h 250"/>
                <a:gd name="T14" fmla="*/ 19 w 570"/>
                <a:gd name="T15" fmla="*/ 2 h 250"/>
                <a:gd name="T16" fmla="*/ 22 w 570"/>
                <a:gd name="T17" fmla="*/ 3 h 250"/>
                <a:gd name="T18" fmla="*/ 21 w 570"/>
                <a:gd name="T19" fmla="*/ 3 h 250"/>
                <a:gd name="T20" fmla="*/ 19 w 570"/>
                <a:gd name="T21" fmla="*/ 5 h 250"/>
                <a:gd name="T22" fmla="*/ 15 w 570"/>
                <a:gd name="T23" fmla="*/ 6 h 250"/>
                <a:gd name="T24" fmla="*/ 12 w 570"/>
                <a:gd name="T25" fmla="*/ 7 h 250"/>
                <a:gd name="T26" fmla="*/ 8 w 570"/>
                <a:gd name="T27" fmla="*/ 9 h 250"/>
                <a:gd name="T28" fmla="*/ 7 w 570"/>
                <a:gd name="T29" fmla="*/ 10 h 250"/>
                <a:gd name="T30" fmla="*/ 6 w 570"/>
                <a:gd name="T31" fmla="*/ 8 h 250"/>
                <a:gd name="T32" fmla="*/ 5 w 570"/>
                <a:gd name="T33" fmla="*/ 7 h 250"/>
                <a:gd name="T34" fmla="*/ 2 w 570"/>
                <a:gd name="T35" fmla="*/ 7 h 250"/>
                <a:gd name="T36" fmla="*/ 0 w 570"/>
                <a:gd name="T37" fmla="*/ 6 h 2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0"/>
                <a:gd name="T58" fmla="*/ 0 h 250"/>
                <a:gd name="T59" fmla="*/ 570 w 570"/>
                <a:gd name="T60" fmla="*/ 250 h 2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0" h="250">
                  <a:moveTo>
                    <a:pt x="0" y="147"/>
                  </a:moveTo>
                  <a:lnTo>
                    <a:pt x="77" y="102"/>
                  </a:lnTo>
                  <a:lnTo>
                    <a:pt x="160" y="83"/>
                  </a:lnTo>
                  <a:lnTo>
                    <a:pt x="237" y="57"/>
                  </a:lnTo>
                  <a:lnTo>
                    <a:pt x="275" y="32"/>
                  </a:lnTo>
                  <a:lnTo>
                    <a:pt x="320" y="0"/>
                  </a:lnTo>
                  <a:lnTo>
                    <a:pt x="384" y="32"/>
                  </a:lnTo>
                  <a:lnTo>
                    <a:pt x="480" y="44"/>
                  </a:lnTo>
                  <a:lnTo>
                    <a:pt x="569" y="70"/>
                  </a:lnTo>
                  <a:lnTo>
                    <a:pt x="550" y="89"/>
                  </a:lnTo>
                  <a:lnTo>
                    <a:pt x="480" y="128"/>
                  </a:lnTo>
                  <a:lnTo>
                    <a:pt x="390" y="160"/>
                  </a:lnTo>
                  <a:lnTo>
                    <a:pt x="301" y="185"/>
                  </a:lnTo>
                  <a:lnTo>
                    <a:pt x="217" y="224"/>
                  </a:lnTo>
                  <a:lnTo>
                    <a:pt x="185" y="249"/>
                  </a:lnTo>
                  <a:lnTo>
                    <a:pt x="153" y="204"/>
                  </a:lnTo>
                  <a:lnTo>
                    <a:pt x="128" y="192"/>
                  </a:lnTo>
                  <a:lnTo>
                    <a:pt x="57" y="172"/>
                  </a:lnTo>
                  <a:lnTo>
                    <a:pt x="0" y="147"/>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78" name="Freeform 36" descr="5%"/>
            <p:cNvSpPr>
              <a:spLocks/>
            </p:cNvSpPr>
            <p:nvPr/>
          </p:nvSpPr>
          <p:spPr bwMode="auto">
            <a:xfrm>
              <a:off x="1444" y="963"/>
              <a:ext cx="161" cy="74"/>
            </a:xfrm>
            <a:custGeom>
              <a:avLst/>
              <a:gdLst>
                <a:gd name="T0" fmla="*/ 10 w 474"/>
                <a:gd name="T1" fmla="*/ 8 h 218"/>
                <a:gd name="T2" fmla="*/ 7 w 474"/>
                <a:gd name="T3" fmla="*/ 7 h 218"/>
                <a:gd name="T4" fmla="*/ 5 w 474"/>
                <a:gd name="T5" fmla="*/ 7 h 218"/>
                <a:gd name="T6" fmla="*/ 1 w 474"/>
                <a:gd name="T7" fmla="*/ 6 h 218"/>
                <a:gd name="T8" fmla="*/ 0 w 474"/>
                <a:gd name="T9" fmla="*/ 6 h 218"/>
                <a:gd name="T10" fmla="*/ 2 w 474"/>
                <a:gd name="T11" fmla="*/ 4 h 218"/>
                <a:gd name="T12" fmla="*/ 4 w 474"/>
                <a:gd name="T13" fmla="*/ 4 h 218"/>
                <a:gd name="T14" fmla="*/ 6 w 474"/>
                <a:gd name="T15" fmla="*/ 3 h 218"/>
                <a:gd name="T16" fmla="*/ 8 w 474"/>
                <a:gd name="T17" fmla="*/ 2 h 218"/>
                <a:gd name="T18" fmla="*/ 10 w 474"/>
                <a:gd name="T19" fmla="*/ 1 h 218"/>
                <a:gd name="T20" fmla="*/ 13 w 474"/>
                <a:gd name="T21" fmla="*/ 0 h 218"/>
                <a:gd name="T22" fmla="*/ 14 w 474"/>
                <a:gd name="T23" fmla="*/ 1 h 218"/>
                <a:gd name="T24" fmla="*/ 16 w 474"/>
                <a:gd name="T25" fmla="*/ 2 h 218"/>
                <a:gd name="T26" fmla="*/ 17 w 474"/>
                <a:gd name="T27" fmla="*/ 3 h 218"/>
                <a:gd name="T28" fmla="*/ 19 w 474"/>
                <a:gd name="T29" fmla="*/ 4 h 218"/>
                <a:gd name="T30" fmla="*/ 16 w 474"/>
                <a:gd name="T31" fmla="*/ 6 h 218"/>
                <a:gd name="T32" fmla="*/ 10 w 474"/>
                <a:gd name="T33" fmla="*/ 8 h 2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4"/>
                <a:gd name="T52" fmla="*/ 0 h 218"/>
                <a:gd name="T53" fmla="*/ 474 w 474"/>
                <a:gd name="T54" fmla="*/ 218 h 21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4" h="218">
                  <a:moveTo>
                    <a:pt x="241" y="217"/>
                  </a:moveTo>
                  <a:lnTo>
                    <a:pt x="184" y="191"/>
                  </a:lnTo>
                  <a:lnTo>
                    <a:pt x="126" y="172"/>
                  </a:lnTo>
                  <a:lnTo>
                    <a:pt x="33" y="162"/>
                  </a:lnTo>
                  <a:lnTo>
                    <a:pt x="0" y="146"/>
                  </a:lnTo>
                  <a:lnTo>
                    <a:pt x="43" y="115"/>
                  </a:lnTo>
                  <a:lnTo>
                    <a:pt x="100" y="95"/>
                  </a:lnTo>
                  <a:lnTo>
                    <a:pt x="164" y="70"/>
                  </a:lnTo>
                  <a:lnTo>
                    <a:pt x="209" y="44"/>
                  </a:lnTo>
                  <a:lnTo>
                    <a:pt x="254" y="25"/>
                  </a:lnTo>
                  <a:lnTo>
                    <a:pt x="328" y="0"/>
                  </a:lnTo>
                  <a:lnTo>
                    <a:pt x="357" y="21"/>
                  </a:lnTo>
                  <a:lnTo>
                    <a:pt x="401" y="57"/>
                  </a:lnTo>
                  <a:lnTo>
                    <a:pt x="441" y="87"/>
                  </a:lnTo>
                  <a:lnTo>
                    <a:pt x="473" y="100"/>
                  </a:lnTo>
                  <a:lnTo>
                    <a:pt x="408" y="147"/>
                  </a:lnTo>
                  <a:lnTo>
                    <a:pt x="241" y="217"/>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79" name="Freeform 37" descr="5%"/>
            <p:cNvSpPr>
              <a:spLocks/>
            </p:cNvSpPr>
            <p:nvPr/>
          </p:nvSpPr>
          <p:spPr bwMode="auto">
            <a:xfrm>
              <a:off x="1569" y="926"/>
              <a:ext cx="139" cy="67"/>
            </a:xfrm>
            <a:custGeom>
              <a:avLst/>
              <a:gdLst>
                <a:gd name="T0" fmla="*/ 0 w 412"/>
                <a:gd name="T1" fmla="*/ 4 h 197"/>
                <a:gd name="T2" fmla="*/ 2 w 412"/>
                <a:gd name="T3" fmla="*/ 3 h 197"/>
                <a:gd name="T4" fmla="*/ 4 w 412"/>
                <a:gd name="T5" fmla="*/ 2 h 197"/>
                <a:gd name="T6" fmla="*/ 7 w 412"/>
                <a:gd name="T7" fmla="*/ 1 h 197"/>
                <a:gd name="T8" fmla="*/ 9 w 412"/>
                <a:gd name="T9" fmla="*/ 0 h 197"/>
                <a:gd name="T10" fmla="*/ 12 w 412"/>
                <a:gd name="T11" fmla="*/ 1 h 197"/>
                <a:gd name="T12" fmla="*/ 15 w 412"/>
                <a:gd name="T13" fmla="*/ 3 h 197"/>
                <a:gd name="T14" fmla="*/ 16 w 412"/>
                <a:gd name="T15" fmla="*/ 4 h 197"/>
                <a:gd name="T16" fmla="*/ 15 w 412"/>
                <a:gd name="T17" fmla="*/ 5 h 197"/>
                <a:gd name="T18" fmla="*/ 11 w 412"/>
                <a:gd name="T19" fmla="*/ 5 h 197"/>
                <a:gd name="T20" fmla="*/ 8 w 412"/>
                <a:gd name="T21" fmla="*/ 6 h 197"/>
                <a:gd name="T22" fmla="*/ 6 w 412"/>
                <a:gd name="T23" fmla="*/ 7 h 197"/>
                <a:gd name="T24" fmla="*/ 5 w 412"/>
                <a:gd name="T25" fmla="*/ 8 h 197"/>
                <a:gd name="T26" fmla="*/ 4 w 412"/>
                <a:gd name="T27" fmla="*/ 7 h 197"/>
                <a:gd name="T28" fmla="*/ 2 w 412"/>
                <a:gd name="T29" fmla="*/ 6 h 197"/>
                <a:gd name="T30" fmla="*/ 0 w 412"/>
                <a:gd name="T31" fmla="*/ 4 h 19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12"/>
                <a:gd name="T49" fmla="*/ 0 h 197"/>
                <a:gd name="T50" fmla="*/ 412 w 412"/>
                <a:gd name="T51" fmla="*/ 197 h 19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12" h="197">
                  <a:moveTo>
                    <a:pt x="0" y="95"/>
                  </a:moveTo>
                  <a:lnTo>
                    <a:pt x="59" y="83"/>
                  </a:lnTo>
                  <a:lnTo>
                    <a:pt x="116" y="51"/>
                  </a:lnTo>
                  <a:lnTo>
                    <a:pt x="180" y="32"/>
                  </a:lnTo>
                  <a:lnTo>
                    <a:pt x="244" y="0"/>
                  </a:lnTo>
                  <a:lnTo>
                    <a:pt x="315" y="25"/>
                  </a:lnTo>
                  <a:lnTo>
                    <a:pt x="384" y="73"/>
                  </a:lnTo>
                  <a:lnTo>
                    <a:pt x="411" y="90"/>
                  </a:lnTo>
                  <a:lnTo>
                    <a:pt x="372" y="128"/>
                  </a:lnTo>
                  <a:lnTo>
                    <a:pt x="289" y="140"/>
                  </a:lnTo>
                  <a:lnTo>
                    <a:pt x="219" y="147"/>
                  </a:lnTo>
                  <a:lnTo>
                    <a:pt x="168" y="185"/>
                  </a:lnTo>
                  <a:lnTo>
                    <a:pt x="137" y="196"/>
                  </a:lnTo>
                  <a:lnTo>
                    <a:pt x="115" y="188"/>
                  </a:lnTo>
                  <a:lnTo>
                    <a:pt x="54" y="146"/>
                  </a:lnTo>
                  <a:lnTo>
                    <a:pt x="0" y="95"/>
                  </a:lnTo>
                </a:path>
              </a:pathLst>
            </a:custGeom>
            <a:pattFill prst="pct5">
              <a:fgClr>
                <a:srgbClr val="3399FF"/>
              </a:fgClr>
              <a:bgClr>
                <a:schemeClr val="bg1"/>
              </a:bgClr>
            </a:pattFill>
            <a:ln w="6350" cap="rnd">
              <a:solidFill>
                <a:schemeClr val="tx1"/>
              </a:solidFill>
              <a:round/>
              <a:headEnd/>
              <a:tailEnd/>
            </a:ln>
          </p:spPr>
          <p:txBody>
            <a:bodyPr/>
            <a:lstStyle/>
            <a:p>
              <a:endParaRPr lang="zh-CN" altLang="en-US"/>
            </a:p>
          </p:txBody>
        </p:sp>
        <p:sp>
          <p:nvSpPr>
            <p:cNvPr id="280" name="Freeform 38"/>
            <p:cNvSpPr>
              <a:spLocks/>
            </p:cNvSpPr>
            <p:nvPr/>
          </p:nvSpPr>
          <p:spPr bwMode="auto">
            <a:xfrm>
              <a:off x="732" y="1045"/>
              <a:ext cx="65" cy="20"/>
            </a:xfrm>
            <a:custGeom>
              <a:avLst/>
              <a:gdLst>
                <a:gd name="T0" fmla="*/ 0 w 193"/>
                <a:gd name="T1" fmla="*/ 0 h 58"/>
                <a:gd name="T2" fmla="*/ 2 w 193"/>
                <a:gd name="T3" fmla="*/ 0 h 58"/>
                <a:gd name="T4" fmla="*/ 3 w 193"/>
                <a:gd name="T5" fmla="*/ 0 h 58"/>
                <a:gd name="T6" fmla="*/ 6 w 193"/>
                <a:gd name="T7" fmla="*/ 2 h 58"/>
                <a:gd name="T8" fmla="*/ 7 w 193"/>
                <a:gd name="T9" fmla="*/ 2 h 58"/>
                <a:gd name="T10" fmla="*/ 0 60000 65536"/>
                <a:gd name="T11" fmla="*/ 0 60000 65536"/>
                <a:gd name="T12" fmla="*/ 0 60000 65536"/>
                <a:gd name="T13" fmla="*/ 0 60000 65536"/>
                <a:gd name="T14" fmla="*/ 0 60000 65536"/>
                <a:gd name="T15" fmla="*/ 0 w 193"/>
                <a:gd name="T16" fmla="*/ 0 h 58"/>
                <a:gd name="T17" fmla="*/ 193 w 193"/>
                <a:gd name="T18" fmla="*/ 58 h 58"/>
              </a:gdLst>
              <a:ahLst/>
              <a:cxnLst>
                <a:cxn ang="T10">
                  <a:pos x="T0" y="T1"/>
                </a:cxn>
                <a:cxn ang="T11">
                  <a:pos x="T2" y="T3"/>
                </a:cxn>
                <a:cxn ang="T12">
                  <a:pos x="T4" y="T5"/>
                </a:cxn>
                <a:cxn ang="T13">
                  <a:pos x="T6" y="T7"/>
                </a:cxn>
                <a:cxn ang="T14">
                  <a:pos x="T8" y="T9"/>
                </a:cxn>
              </a:cxnLst>
              <a:rect l="T15" t="T16" r="T17" b="T18"/>
              <a:pathLst>
                <a:path w="193" h="58">
                  <a:moveTo>
                    <a:pt x="0" y="12"/>
                  </a:moveTo>
                  <a:lnTo>
                    <a:pt x="45" y="0"/>
                  </a:lnTo>
                  <a:lnTo>
                    <a:pt x="83" y="12"/>
                  </a:lnTo>
                  <a:lnTo>
                    <a:pt x="153" y="57"/>
                  </a:lnTo>
                  <a:lnTo>
                    <a:pt x="192" y="5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1" name="Freeform 39"/>
            <p:cNvSpPr>
              <a:spLocks/>
            </p:cNvSpPr>
            <p:nvPr/>
          </p:nvSpPr>
          <p:spPr bwMode="auto">
            <a:xfrm>
              <a:off x="686" y="1021"/>
              <a:ext cx="42" cy="74"/>
            </a:xfrm>
            <a:custGeom>
              <a:avLst/>
              <a:gdLst>
                <a:gd name="T0" fmla="*/ 0 w 123"/>
                <a:gd name="T1" fmla="*/ 0 h 219"/>
                <a:gd name="T2" fmla="*/ 1 w 123"/>
                <a:gd name="T3" fmla="*/ 2 h 219"/>
                <a:gd name="T4" fmla="*/ 2 w 123"/>
                <a:gd name="T5" fmla="*/ 4 h 219"/>
                <a:gd name="T6" fmla="*/ 4 w 123"/>
                <a:gd name="T7" fmla="*/ 6 h 219"/>
                <a:gd name="T8" fmla="*/ 5 w 123"/>
                <a:gd name="T9" fmla="*/ 8 h 219"/>
                <a:gd name="T10" fmla="*/ 0 60000 65536"/>
                <a:gd name="T11" fmla="*/ 0 60000 65536"/>
                <a:gd name="T12" fmla="*/ 0 60000 65536"/>
                <a:gd name="T13" fmla="*/ 0 60000 65536"/>
                <a:gd name="T14" fmla="*/ 0 60000 65536"/>
                <a:gd name="T15" fmla="*/ 0 w 123"/>
                <a:gd name="T16" fmla="*/ 0 h 219"/>
                <a:gd name="T17" fmla="*/ 123 w 123"/>
                <a:gd name="T18" fmla="*/ 219 h 219"/>
              </a:gdLst>
              <a:ahLst/>
              <a:cxnLst>
                <a:cxn ang="T10">
                  <a:pos x="T0" y="T1"/>
                </a:cxn>
                <a:cxn ang="T11">
                  <a:pos x="T2" y="T3"/>
                </a:cxn>
                <a:cxn ang="T12">
                  <a:pos x="T4" y="T5"/>
                </a:cxn>
                <a:cxn ang="T13">
                  <a:pos x="T6" y="T7"/>
                </a:cxn>
                <a:cxn ang="T14">
                  <a:pos x="T8" y="T9"/>
                </a:cxn>
              </a:cxnLst>
              <a:rect l="T15" t="T16" r="T17" b="T18"/>
              <a:pathLst>
                <a:path w="123" h="219">
                  <a:moveTo>
                    <a:pt x="0" y="0"/>
                  </a:moveTo>
                  <a:lnTo>
                    <a:pt x="32" y="58"/>
                  </a:lnTo>
                  <a:lnTo>
                    <a:pt x="58" y="103"/>
                  </a:lnTo>
                  <a:lnTo>
                    <a:pt x="90" y="160"/>
                  </a:lnTo>
                  <a:lnTo>
                    <a:pt x="122" y="21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2" name="Freeform 40"/>
            <p:cNvSpPr>
              <a:spLocks/>
            </p:cNvSpPr>
            <p:nvPr/>
          </p:nvSpPr>
          <p:spPr bwMode="auto">
            <a:xfrm>
              <a:off x="684" y="1084"/>
              <a:ext cx="68" cy="9"/>
            </a:xfrm>
            <a:custGeom>
              <a:avLst/>
              <a:gdLst>
                <a:gd name="T0" fmla="*/ 0 w 199"/>
                <a:gd name="T1" fmla="*/ 0 h 26"/>
                <a:gd name="T2" fmla="*/ 2 w 199"/>
                <a:gd name="T3" fmla="*/ 1 h 26"/>
                <a:gd name="T4" fmla="*/ 4 w 199"/>
                <a:gd name="T5" fmla="*/ 1 h 26"/>
                <a:gd name="T6" fmla="*/ 6 w 199"/>
                <a:gd name="T7" fmla="*/ 0 h 26"/>
                <a:gd name="T8" fmla="*/ 8 w 199"/>
                <a:gd name="T9" fmla="*/ 1 h 26"/>
                <a:gd name="T10" fmla="*/ 0 60000 65536"/>
                <a:gd name="T11" fmla="*/ 0 60000 65536"/>
                <a:gd name="T12" fmla="*/ 0 60000 65536"/>
                <a:gd name="T13" fmla="*/ 0 60000 65536"/>
                <a:gd name="T14" fmla="*/ 0 60000 65536"/>
                <a:gd name="T15" fmla="*/ 0 w 199"/>
                <a:gd name="T16" fmla="*/ 0 h 26"/>
                <a:gd name="T17" fmla="*/ 199 w 199"/>
                <a:gd name="T18" fmla="*/ 26 h 26"/>
              </a:gdLst>
              <a:ahLst/>
              <a:cxnLst>
                <a:cxn ang="T10">
                  <a:pos x="T0" y="T1"/>
                </a:cxn>
                <a:cxn ang="T11">
                  <a:pos x="T2" y="T3"/>
                </a:cxn>
                <a:cxn ang="T12">
                  <a:pos x="T4" y="T5"/>
                </a:cxn>
                <a:cxn ang="T13">
                  <a:pos x="T6" y="T7"/>
                </a:cxn>
                <a:cxn ang="T14">
                  <a:pos x="T8" y="T9"/>
                </a:cxn>
              </a:cxnLst>
              <a:rect l="T15" t="T16" r="T17" b="T18"/>
              <a:pathLst>
                <a:path w="199" h="26">
                  <a:moveTo>
                    <a:pt x="0" y="0"/>
                  </a:moveTo>
                  <a:lnTo>
                    <a:pt x="51" y="13"/>
                  </a:lnTo>
                  <a:lnTo>
                    <a:pt x="109" y="19"/>
                  </a:lnTo>
                  <a:lnTo>
                    <a:pt x="154" y="6"/>
                  </a:lnTo>
                  <a:lnTo>
                    <a:pt x="198" y="2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3" name="Freeform 41"/>
            <p:cNvSpPr>
              <a:spLocks/>
            </p:cNvSpPr>
            <p:nvPr/>
          </p:nvSpPr>
          <p:spPr bwMode="auto">
            <a:xfrm>
              <a:off x="699" y="1112"/>
              <a:ext cx="1" cy="50"/>
            </a:xfrm>
            <a:custGeom>
              <a:avLst/>
              <a:gdLst>
                <a:gd name="T0" fmla="*/ 0 w 1"/>
                <a:gd name="T1" fmla="*/ 0 h 148"/>
                <a:gd name="T2" fmla="*/ 0 w 1"/>
                <a:gd name="T3" fmla="*/ 3 h 148"/>
                <a:gd name="T4" fmla="*/ 0 w 1"/>
                <a:gd name="T5" fmla="*/ 6 h 148"/>
                <a:gd name="T6" fmla="*/ 0 60000 65536"/>
                <a:gd name="T7" fmla="*/ 0 60000 65536"/>
                <a:gd name="T8" fmla="*/ 0 60000 65536"/>
                <a:gd name="T9" fmla="*/ 0 w 1"/>
                <a:gd name="T10" fmla="*/ 0 h 148"/>
                <a:gd name="T11" fmla="*/ 1 w 1"/>
                <a:gd name="T12" fmla="*/ 148 h 148"/>
              </a:gdLst>
              <a:ahLst/>
              <a:cxnLst>
                <a:cxn ang="T6">
                  <a:pos x="T0" y="T1"/>
                </a:cxn>
                <a:cxn ang="T7">
                  <a:pos x="T2" y="T3"/>
                </a:cxn>
                <a:cxn ang="T8">
                  <a:pos x="T4" y="T5"/>
                </a:cxn>
              </a:cxnLst>
              <a:rect l="T9" t="T10" r="T11" b="T12"/>
              <a:pathLst>
                <a:path w="1" h="148">
                  <a:moveTo>
                    <a:pt x="0" y="0"/>
                  </a:moveTo>
                  <a:lnTo>
                    <a:pt x="0" y="70"/>
                  </a:lnTo>
                  <a:lnTo>
                    <a:pt x="0" y="14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4" name="Freeform 42"/>
            <p:cNvSpPr>
              <a:spLocks/>
            </p:cNvSpPr>
            <p:nvPr/>
          </p:nvSpPr>
          <p:spPr bwMode="auto">
            <a:xfrm>
              <a:off x="684" y="1158"/>
              <a:ext cx="55" cy="111"/>
            </a:xfrm>
            <a:custGeom>
              <a:avLst/>
              <a:gdLst>
                <a:gd name="T0" fmla="*/ 0 w 161"/>
                <a:gd name="T1" fmla="*/ 0 h 328"/>
                <a:gd name="T2" fmla="*/ 1 w 161"/>
                <a:gd name="T3" fmla="*/ 1 h 328"/>
                <a:gd name="T4" fmla="*/ 2 w 161"/>
                <a:gd name="T5" fmla="*/ 3 h 328"/>
                <a:gd name="T6" fmla="*/ 3 w 161"/>
                <a:gd name="T7" fmla="*/ 6 h 328"/>
                <a:gd name="T8" fmla="*/ 4 w 161"/>
                <a:gd name="T9" fmla="*/ 8 h 328"/>
                <a:gd name="T10" fmla="*/ 5 w 161"/>
                <a:gd name="T11" fmla="*/ 10 h 328"/>
                <a:gd name="T12" fmla="*/ 6 w 161"/>
                <a:gd name="T13" fmla="*/ 13 h 328"/>
                <a:gd name="T14" fmla="*/ 0 60000 65536"/>
                <a:gd name="T15" fmla="*/ 0 60000 65536"/>
                <a:gd name="T16" fmla="*/ 0 60000 65536"/>
                <a:gd name="T17" fmla="*/ 0 60000 65536"/>
                <a:gd name="T18" fmla="*/ 0 60000 65536"/>
                <a:gd name="T19" fmla="*/ 0 60000 65536"/>
                <a:gd name="T20" fmla="*/ 0 60000 65536"/>
                <a:gd name="T21" fmla="*/ 0 w 161"/>
                <a:gd name="T22" fmla="*/ 0 h 328"/>
                <a:gd name="T23" fmla="*/ 161 w 161"/>
                <a:gd name="T24" fmla="*/ 328 h 3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1" h="328">
                  <a:moveTo>
                    <a:pt x="0" y="0"/>
                  </a:moveTo>
                  <a:lnTo>
                    <a:pt x="38" y="32"/>
                  </a:lnTo>
                  <a:lnTo>
                    <a:pt x="45" y="90"/>
                  </a:lnTo>
                  <a:lnTo>
                    <a:pt x="83" y="148"/>
                  </a:lnTo>
                  <a:lnTo>
                    <a:pt x="102" y="218"/>
                  </a:lnTo>
                  <a:lnTo>
                    <a:pt x="141" y="276"/>
                  </a:lnTo>
                  <a:lnTo>
                    <a:pt x="160" y="32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5" name="Freeform 43"/>
            <p:cNvSpPr>
              <a:spLocks/>
            </p:cNvSpPr>
            <p:nvPr/>
          </p:nvSpPr>
          <p:spPr bwMode="auto">
            <a:xfrm>
              <a:off x="697" y="1227"/>
              <a:ext cx="7" cy="11"/>
            </a:xfrm>
            <a:custGeom>
              <a:avLst/>
              <a:gdLst>
                <a:gd name="T0" fmla="*/ 0 w 21"/>
                <a:gd name="T1" fmla="*/ 0 h 33"/>
                <a:gd name="T2" fmla="*/ 1 w 21"/>
                <a:gd name="T3" fmla="*/ 1 h 33"/>
                <a:gd name="T4" fmla="*/ 0 60000 65536"/>
                <a:gd name="T5" fmla="*/ 0 60000 65536"/>
                <a:gd name="T6" fmla="*/ 0 w 21"/>
                <a:gd name="T7" fmla="*/ 0 h 33"/>
                <a:gd name="T8" fmla="*/ 21 w 21"/>
                <a:gd name="T9" fmla="*/ 33 h 33"/>
              </a:gdLst>
              <a:ahLst/>
              <a:cxnLst>
                <a:cxn ang="T4">
                  <a:pos x="T0" y="T1"/>
                </a:cxn>
                <a:cxn ang="T5">
                  <a:pos x="T2" y="T3"/>
                </a:cxn>
              </a:cxnLst>
              <a:rect l="T6" t="T7" r="T8" b="T9"/>
              <a:pathLst>
                <a:path w="21" h="33">
                  <a:moveTo>
                    <a:pt x="0" y="0"/>
                  </a:moveTo>
                  <a:lnTo>
                    <a:pt x="20"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6" name="Freeform 44"/>
            <p:cNvSpPr>
              <a:spLocks/>
            </p:cNvSpPr>
            <p:nvPr/>
          </p:nvSpPr>
          <p:spPr bwMode="auto">
            <a:xfrm>
              <a:off x="556" y="934"/>
              <a:ext cx="534" cy="463"/>
            </a:xfrm>
            <a:custGeom>
              <a:avLst/>
              <a:gdLst>
                <a:gd name="T0" fmla="*/ 0 w 1576"/>
                <a:gd name="T1" fmla="*/ 0 h 1364"/>
                <a:gd name="T2" fmla="*/ 0 w 1576"/>
                <a:gd name="T3" fmla="*/ 5 h 1364"/>
                <a:gd name="T4" fmla="*/ 1 w 1576"/>
                <a:gd name="T5" fmla="*/ 8 h 1364"/>
                <a:gd name="T6" fmla="*/ 0 w 1576"/>
                <a:gd name="T7" fmla="*/ 13 h 1364"/>
                <a:gd name="T8" fmla="*/ 0 w 1576"/>
                <a:gd name="T9" fmla="*/ 18 h 1364"/>
                <a:gd name="T10" fmla="*/ 0 w 1576"/>
                <a:gd name="T11" fmla="*/ 22 h 1364"/>
                <a:gd name="T12" fmla="*/ 0 w 1576"/>
                <a:gd name="T13" fmla="*/ 27 h 1364"/>
                <a:gd name="T14" fmla="*/ 0 w 1576"/>
                <a:gd name="T15" fmla="*/ 31 h 1364"/>
                <a:gd name="T16" fmla="*/ 0 w 1576"/>
                <a:gd name="T17" fmla="*/ 32 h 1364"/>
                <a:gd name="T18" fmla="*/ 3 w 1576"/>
                <a:gd name="T19" fmla="*/ 33 h 1364"/>
                <a:gd name="T20" fmla="*/ 7 w 1576"/>
                <a:gd name="T21" fmla="*/ 34 h 1364"/>
                <a:gd name="T22" fmla="*/ 13 w 1576"/>
                <a:gd name="T23" fmla="*/ 36 h 1364"/>
                <a:gd name="T24" fmla="*/ 18 w 1576"/>
                <a:gd name="T25" fmla="*/ 38 h 1364"/>
                <a:gd name="T26" fmla="*/ 25 w 1576"/>
                <a:gd name="T27" fmla="*/ 41 h 1364"/>
                <a:gd name="T28" fmla="*/ 30 w 1576"/>
                <a:gd name="T29" fmla="*/ 43 h 1364"/>
                <a:gd name="T30" fmla="*/ 34 w 1576"/>
                <a:gd name="T31" fmla="*/ 44 h 1364"/>
                <a:gd name="T32" fmla="*/ 39 w 1576"/>
                <a:gd name="T33" fmla="*/ 46 h 1364"/>
                <a:gd name="T34" fmla="*/ 44 w 1576"/>
                <a:gd name="T35" fmla="*/ 48 h 1364"/>
                <a:gd name="T36" fmla="*/ 48 w 1576"/>
                <a:gd name="T37" fmla="*/ 49 h 1364"/>
                <a:gd name="T38" fmla="*/ 52 w 1576"/>
                <a:gd name="T39" fmla="*/ 51 h 1364"/>
                <a:gd name="T40" fmla="*/ 58 w 1576"/>
                <a:gd name="T41" fmla="*/ 52 h 1364"/>
                <a:gd name="T42" fmla="*/ 61 w 1576"/>
                <a:gd name="T43" fmla="*/ 53 h 13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76"/>
                <a:gd name="T67" fmla="*/ 0 h 1364"/>
                <a:gd name="T68" fmla="*/ 1576 w 1576"/>
                <a:gd name="T69" fmla="*/ 1364 h 13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76" h="1364">
                  <a:moveTo>
                    <a:pt x="0" y="0"/>
                  </a:moveTo>
                  <a:lnTo>
                    <a:pt x="13" y="135"/>
                  </a:lnTo>
                  <a:lnTo>
                    <a:pt x="20" y="218"/>
                  </a:lnTo>
                  <a:lnTo>
                    <a:pt x="13" y="327"/>
                  </a:lnTo>
                  <a:lnTo>
                    <a:pt x="7" y="448"/>
                  </a:lnTo>
                  <a:lnTo>
                    <a:pt x="7" y="570"/>
                  </a:lnTo>
                  <a:lnTo>
                    <a:pt x="13" y="691"/>
                  </a:lnTo>
                  <a:lnTo>
                    <a:pt x="13" y="787"/>
                  </a:lnTo>
                  <a:lnTo>
                    <a:pt x="13" y="819"/>
                  </a:lnTo>
                  <a:lnTo>
                    <a:pt x="84" y="845"/>
                  </a:lnTo>
                  <a:lnTo>
                    <a:pt x="180" y="877"/>
                  </a:lnTo>
                  <a:lnTo>
                    <a:pt x="320" y="922"/>
                  </a:lnTo>
                  <a:lnTo>
                    <a:pt x="448" y="960"/>
                  </a:lnTo>
                  <a:lnTo>
                    <a:pt x="647" y="1050"/>
                  </a:lnTo>
                  <a:lnTo>
                    <a:pt x="768" y="1095"/>
                  </a:lnTo>
                  <a:lnTo>
                    <a:pt x="858" y="1133"/>
                  </a:lnTo>
                  <a:lnTo>
                    <a:pt x="999" y="1178"/>
                  </a:lnTo>
                  <a:lnTo>
                    <a:pt x="1133" y="1223"/>
                  </a:lnTo>
                  <a:lnTo>
                    <a:pt x="1229" y="1261"/>
                  </a:lnTo>
                  <a:lnTo>
                    <a:pt x="1338" y="1312"/>
                  </a:lnTo>
                  <a:lnTo>
                    <a:pt x="1485" y="1338"/>
                  </a:lnTo>
                  <a:lnTo>
                    <a:pt x="1575" y="1363"/>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 name="Freeform 45"/>
            <p:cNvSpPr>
              <a:spLocks/>
            </p:cNvSpPr>
            <p:nvPr/>
          </p:nvSpPr>
          <p:spPr bwMode="auto">
            <a:xfrm>
              <a:off x="727" y="1108"/>
              <a:ext cx="107" cy="187"/>
            </a:xfrm>
            <a:custGeom>
              <a:avLst/>
              <a:gdLst>
                <a:gd name="T0" fmla="*/ 0 w 315"/>
                <a:gd name="T1" fmla="*/ 0 h 552"/>
                <a:gd name="T2" fmla="*/ 2 w 315"/>
                <a:gd name="T3" fmla="*/ 3 h 552"/>
                <a:gd name="T4" fmla="*/ 3 w 315"/>
                <a:gd name="T5" fmla="*/ 5 h 552"/>
                <a:gd name="T6" fmla="*/ 4 w 315"/>
                <a:gd name="T7" fmla="*/ 7 h 552"/>
                <a:gd name="T8" fmla="*/ 6 w 315"/>
                <a:gd name="T9" fmla="*/ 9 h 552"/>
                <a:gd name="T10" fmla="*/ 7 w 315"/>
                <a:gd name="T11" fmla="*/ 12 h 552"/>
                <a:gd name="T12" fmla="*/ 8 w 315"/>
                <a:gd name="T13" fmla="*/ 15 h 552"/>
                <a:gd name="T14" fmla="*/ 10 w 315"/>
                <a:gd name="T15" fmla="*/ 18 h 552"/>
                <a:gd name="T16" fmla="*/ 11 w 315"/>
                <a:gd name="T17" fmla="*/ 20 h 552"/>
                <a:gd name="T18" fmla="*/ 12 w 315"/>
                <a:gd name="T19" fmla="*/ 21 h 5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5"/>
                <a:gd name="T31" fmla="*/ 0 h 552"/>
                <a:gd name="T32" fmla="*/ 315 w 315"/>
                <a:gd name="T33" fmla="*/ 552 h 5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5" h="552">
                  <a:moveTo>
                    <a:pt x="0" y="0"/>
                  </a:moveTo>
                  <a:lnTo>
                    <a:pt x="58" y="83"/>
                  </a:lnTo>
                  <a:lnTo>
                    <a:pt x="77" y="135"/>
                  </a:lnTo>
                  <a:lnTo>
                    <a:pt x="115" y="192"/>
                  </a:lnTo>
                  <a:lnTo>
                    <a:pt x="154" y="231"/>
                  </a:lnTo>
                  <a:lnTo>
                    <a:pt x="179" y="295"/>
                  </a:lnTo>
                  <a:lnTo>
                    <a:pt x="205" y="384"/>
                  </a:lnTo>
                  <a:lnTo>
                    <a:pt x="243" y="461"/>
                  </a:lnTo>
                  <a:lnTo>
                    <a:pt x="288" y="512"/>
                  </a:lnTo>
                  <a:lnTo>
                    <a:pt x="314" y="551"/>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8" name="Freeform 46"/>
            <p:cNvSpPr>
              <a:spLocks/>
            </p:cNvSpPr>
            <p:nvPr/>
          </p:nvSpPr>
          <p:spPr bwMode="auto">
            <a:xfrm>
              <a:off x="764" y="1227"/>
              <a:ext cx="77" cy="20"/>
            </a:xfrm>
            <a:custGeom>
              <a:avLst/>
              <a:gdLst>
                <a:gd name="T0" fmla="*/ 0 w 225"/>
                <a:gd name="T1" fmla="*/ 0 h 59"/>
                <a:gd name="T2" fmla="*/ 3 w 225"/>
                <a:gd name="T3" fmla="*/ 0 h 59"/>
                <a:gd name="T4" fmla="*/ 5 w 225"/>
                <a:gd name="T5" fmla="*/ 2 h 59"/>
                <a:gd name="T6" fmla="*/ 7 w 225"/>
                <a:gd name="T7" fmla="*/ 2 h 59"/>
                <a:gd name="T8" fmla="*/ 9 w 225"/>
                <a:gd name="T9" fmla="*/ 2 h 59"/>
                <a:gd name="T10" fmla="*/ 0 60000 65536"/>
                <a:gd name="T11" fmla="*/ 0 60000 65536"/>
                <a:gd name="T12" fmla="*/ 0 60000 65536"/>
                <a:gd name="T13" fmla="*/ 0 60000 65536"/>
                <a:gd name="T14" fmla="*/ 0 60000 65536"/>
                <a:gd name="T15" fmla="*/ 0 w 225"/>
                <a:gd name="T16" fmla="*/ 0 h 59"/>
                <a:gd name="T17" fmla="*/ 225 w 225"/>
                <a:gd name="T18" fmla="*/ 59 h 59"/>
              </a:gdLst>
              <a:ahLst/>
              <a:cxnLst>
                <a:cxn ang="T10">
                  <a:pos x="T0" y="T1"/>
                </a:cxn>
                <a:cxn ang="T11">
                  <a:pos x="T2" y="T3"/>
                </a:cxn>
                <a:cxn ang="T12">
                  <a:pos x="T4" y="T5"/>
                </a:cxn>
                <a:cxn ang="T13">
                  <a:pos x="T6" y="T7"/>
                </a:cxn>
                <a:cxn ang="T14">
                  <a:pos x="T8" y="T9"/>
                </a:cxn>
              </a:cxnLst>
              <a:rect l="T15" t="T16" r="T17" b="T18"/>
              <a:pathLst>
                <a:path w="225" h="59">
                  <a:moveTo>
                    <a:pt x="0" y="0"/>
                  </a:moveTo>
                  <a:lnTo>
                    <a:pt x="70" y="0"/>
                  </a:lnTo>
                  <a:lnTo>
                    <a:pt x="134" y="45"/>
                  </a:lnTo>
                  <a:lnTo>
                    <a:pt x="173" y="45"/>
                  </a:lnTo>
                  <a:lnTo>
                    <a:pt x="224" y="5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9" name="Freeform 47"/>
            <p:cNvSpPr>
              <a:spLocks/>
            </p:cNvSpPr>
            <p:nvPr/>
          </p:nvSpPr>
          <p:spPr bwMode="auto">
            <a:xfrm>
              <a:off x="732" y="1045"/>
              <a:ext cx="63" cy="20"/>
            </a:xfrm>
            <a:custGeom>
              <a:avLst/>
              <a:gdLst>
                <a:gd name="T0" fmla="*/ 0 w 186"/>
                <a:gd name="T1" fmla="*/ 0 h 58"/>
                <a:gd name="T2" fmla="*/ 1 w 186"/>
                <a:gd name="T3" fmla="*/ 0 h 58"/>
                <a:gd name="T4" fmla="*/ 3 w 186"/>
                <a:gd name="T5" fmla="*/ 1 h 58"/>
                <a:gd name="T6" fmla="*/ 6 w 186"/>
                <a:gd name="T7" fmla="*/ 2 h 58"/>
                <a:gd name="T8" fmla="*/ 7 w 186"/>
                <a:gd name="T9" fmla="*/ 2 h 58"/>
                <a:gd name="T10" fmla="*/ 0 60000 65536"/>
                <a:gd name="T11" fmla="*/ 0 60000 65536"/>
                <a:gd name="T12" fmla="*/ 0 60000 65536"/>
                <a:gd name="T13" fmla="*/ 0 60000 65536"/>
                <a:gd name="T14" fmla="*/ 0 60000 65536"/>
                <a:gd name="T15" fmla="*/ 0 w 186"/>
                <a:gd name="T16" fmla="*/ 0 h 58"/>
                <a:gd name="T17" fmla="*/ 186 w 186"/>
                <a:gd name="T18" fmla="*/ 58 h 58"/>
              </a:gdLst>
              <a:ahLst/>
              <a:cxnLst>
                <a:cxn ang="T10">
                  <a:pos x="T0" y="T1"/>
                </a:cxn>
                <a:cxn ang="T11">
                  <a:pos x="T2" y="T3"/>
                </a:cxn>
                <a:cxn ang="T12">
                  <a:pos x="T4" y="T5"/>
                </a:cxn>
                <a:cxn ang="T13">
                  <a:pos x="T6" y="T7"/>
                </a:cxn>
                <a:cxn ang="T14">
                  <a:pos x="T8" y="T9"/>
                </a:cxn>
              </a:cxnLst>
              <a:rect l="T15" t="T16" r="T17" b="T18"/>
              <a:pathLst>
                <a:path w="186" h="58">
                  <a:moveTo>
                    <a:pt x="0" y="0"/>
                  </a:moveTo>
                  <a:lnTo>
                    <a:pt x="38" y="0"/>
                  </a:lnTo>
                  <a:lnTo>
                    <a:pt x="89" y="19"/>
                  </a:lnTo>
                  <a:lnTo>
                    <a:pt x="147" y="57"/>
                  </a:lnTo>
                  <a:lnTo>
                    <a:pt x="185" y="5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0" name="Freeform 48"/>
            <p:cNvSpPr>
              <a:spLocks/>
            </p:cNvSpPr>
            <p:nvPr/>
          </p:nvSpPr>
          <p:spPr bwMode="auto">
            <a:xfrm>
              <a:off x="818" y="1089"/>
              <a:ext cx="29" cy="87"/>
            </a:xfrm>
            <a:custGeom>
              <a:avLst/>
              <a:gdLst>
                <a:gd name="T0" fmla="*/ 0 w 84"/>
                <a:gd name="T1" fmla="*/ 0 h 257"/>
                <a:gd name="T2" fmla="*/ 1 w 84"/>
                <a:gd name="T3" fmla="*/ 2 h 257"/>
                <a:gd name="T4" fmla="*/ 2 w 84"/>
                <a:gd name="T5" fmla="*/ 5 h 257"/>
                <a:gd name="T6" fmla="*/ 3 w 84"/>
                <a:gd name="T7" fmla="*/ 7 h 257"/>
                <a:gd name="T8" fmla="*/ 3 w 84"/>
                <a:gd name="T9" fmla="*/ 8 h 257"/>
                <a:gd name="T10" fmla="*/ 3 w 84"/>
                <a:gd name="T11" fmla="*/ 10 h 257"/>
                <a:gd name="T12" fmla="*/ 0 60000 65536"/>
                <a:gd name="T13" fmla="*/ 0 60000 65536"/>
                <a:gd name="T14" fmla="*/ 0 60000 65536"/>
                <a:gd name="T15" fmla="*/ 0 60000 65536"/>
                <a:gd name="T16" fmla="*/ 0 60000 65536"/>
                <a:gd name="T17" fmla="*/ 0 60000 65536"/>
                <a:gd name="T18" fmla="*/ 0 w 84"/>
                <a:gd name="T19" fmla="*/ 0 h 257"/>
                <a:gd name="T20" fmla="*/ 84 w 84"/>
                <a:gd name="T21" fmla="*/ 257 h 257"/>
              </a:gdLst>
              <a:ahLst/>
              <a:cxnLst>
                <a:cxn ang="T12">
                  <a:pos x="T0" y="T1"/>
                </a:cxn>
                <a:cxn ang="T13">
                  <a:pos x="T2" y="T3"/>
                </a:cxn>
                <a:cxn ang="T14">
                  <a:pos x="T4" y="T5"/>
                </a:cxn>
                <a:cxn ang="T15">
                  <a:pos x="T6" y="T7"/>
                </a:cxn>
                <a:cxn ang="T16">
                  <a:pos x="T8" y="T9"/>
                </a:cxn>
                <a:cxn ang="T17">
                  <a:pos x="T10" y="T11"/>
                </a:cxn>
              </a:cxnLst>
              <a:rect l="T18" t="T19" r="T20" b="T21"/>
              <a:pathLst>
                <a:path w="84" h="257">
                  <a:moveTo>
                    <a:pt x="0" y="0"/>
                  </a:moveTo>
                  <a:lnTo>
                    <a:pt x="38" y="57"/>
                  </a:lnTo>
                  <a:lnTo>
                    <a:pt x="51" y="140"/>
                  </a:lnTo>
                  <a:lnTo>
                    <a:pt x="77" y="192"/>
                  </a:lnTo>
                  <a:lnTo>
                    <a:pt x="77" y="211"/>
                  </a:lnTo>
                  <a:lnTo>
                    <a:pt x="83" y="25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1" name="Freeform 49"/>
            <p:cNvSpPr>
              <a:spLocks/>
            </p:cNvSpPr>
            <p:nvPr/>
          </p:nvSpPr>
          <p:spPr bwMode="auto">
            <a:xfrm>
              <a:off x="812" y="1104"/>
              <a:ext cx="9" cy="9"/>
            </a:xfrm>
            <a:custGeom>
              <a:avLst/>
              <a:gdLst>
                <a:gd name="T0" fmla="*/ 0 w 26"/>
                <a:gd name="T1" fmla="*/ 0 h 27"/>
                <a:gd name="T2" fmla="*/ 1 w 26"/>
                <a:gd name="T3" fmla="*/ 1 h 27"/>
                <a:gd name="T4" fmla="*/ 0 60000 65536"/>
                <a:gd name="T5" fmla="*/ 0 60000 65536"/>
                <a:gd name="T6" fmla="*/ 0 w 26"/>
                <a:gd name="T7" fmla="*/ 0 h 27"/>
                <a:gd name="T8" fmla="*/ 26 w 26"/>
                <a:gd name="T9" fmla="*/ 27 h 27"/>
              </a:gdLst>
              <a:ahLst/>
              <a:cxnLst>
                <a:cxn ang="T4">
                  <a:pos x="T0" y="T1"/>
                </a:cxn>
                <a:cxn ang="T5">
                  <a:pos x="T2" y="T3"/>
                </a:cxn>
              </a:cxnLst>
              <a:rect l="T6" t="T7" r="T8" b="T9"/>
              <a:pathLst>
                <a:path w="26" h="27">
                  <a:moveTo>
                    <a:pt x="0" y="0"/>
                  </a:moveTo>
                  <a:lnTo>
                    <a:pt x="25" y="2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2" name="Freeform 50"/>
            <p:cNvSpPr>
              <a:spLocks/>
            </p:cNvSpPr>
            <p:nvPr/>
          </p:nvSpPr>
          <p:spPr bwMode="auto">
            <a:xfrm>
              <a:off x="810" y="1147"/>
              <a:ext cx="83" cy="61"/>
            </a:xfrm>
            <a:custGeom>
              <a:avLst/>
              <a:gdLst>
                <a:gd name="T0" fmla="*/ 0 w 244"/>
                <a:gd name="T1" fmla="*/ 0 h 181"/>
                <a:gd name="T2" fmla="*/ 2 w 244"/>
                <a:gd name="T3" fmla="*/ 0 h 181"/>
                <a:gd name="T4" fmla="*/ 4 w 244"/>
                <a:gd name="T5" fmla="*/ 0 h 181"/>
                <a:gd name="T6" fmla="*/ 6 w 244"/>
                <a:gd name="T7" fmla="*/ 1 h 181"/>
                <a:gd name="T8" fmla="*/ 6 w 244"/>
                <a:gd name="T9" fmla="*/ 1 h 181"/>
                <a:gd name="T10" fmla="*/ 7 w 244"/>
                <a:gd name="T11" fmla="*/ 3 h 181"/>
                <a:gd name="T12" fmla="*/ 8 w 244"/>
                <a:gd name="T13" fmla="*/ 5 h 181"/>
                <a:gd name="T14" fmla="*/ 10 w 244"/>
                <a:gd name="T15" fmla="*/ 7 h 181"/>
                <a:gd name="T16" fmla="*/ 0 60000 65536"/>
                <a:gd name="T17" fmla="*/ 0 60000 65536"/>
                <a:gd name="T18" fmla="*/ 0 60000 65536"/>
                <a:gd name="T19" fmla="*/ 0 60000 65536"/>
                <a:gd name="T20" fmla="*/ 0 60000 65536"/>
                <a:gd name="T21" fmla="*/ 0 60000 65536"/>
                <a:gd name="T22" fmla="*/ 0 60000 65536"/>
                <a:gd name="T23" fmla="*/ 0 60000 65536"/>
                <a:gd name="T24" fmla="*/ 0 w 244"/>
                <a:gd name="T25" fmla="*/ 0 h 181"/>
                <a:gd name="T26" fmla="*/ 244 w 244"/>
                <a:gd name="T27" fmla="*/ 181 h 1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4" h="181">
                  <a:moveTo>
                    <a:pt x="0" y="0"/>
                  </a:moveTo>
                  <a:lnTo>
                    <a:pt x="64" y="7"/>
                  </a:lnTo>
                  <a:lnTo>
                    <a:pt x="109" y="13"/>
                  </a:lnTo>
                  <a:lnTo>
                    <a:pt x="147" y="32"/>
                  </a:lnTo>
                  <a:lnTo>
                    <a:pt x="167" y="39"/>
                  </a:lnTo>
                  <a:lnTo>
                    <a:pt x="186" y="84"/>
                  </a:lnTo>
                  <a:lnTo>
                    <a:pt x="211" y="135"/>
                  </a:lnTo>
                  <a:lnTo>
                    <a:pt x="243" y="18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3" name="Freeform 51"/>
            <p:cNvSpPr>
              <a:spLocks/>
            </p:cNvSpPr>
            <p:nvPr/>
          </p:nvSpPr>
          <p:spPr bwMode="auto">
            <a:xfrm>
              <a:off x="949" y="1210"/>
              <a:ext cx="11" cy="33"/>
            </a:xfrm>
            <a:custGeom>
              <a:avLst/>
              <a:gdLst>
                <a:gd name="T0" fmla="*/ 0 w 33"/>
                <a:gd name="T1" fmla="*/ 0 h 97"/>
                <a:gd name="T2" fmla="*/ 1 w 33"/>
                <a:gd name="T3" fmla="*/ 2 h 97"/>
                <a:gd name="T4" fmla="*/ 1 w 33"/>
                <a:gd name="T5" fmla="*/ 4 h 97"/>
                <a:gd name="T6" fmla="*/ 0 60000 65536"/>
                <a:gd name="T7" fmla="*/ 0 60000 65536"/>
                <a:gd name="T8" fmla="*/ 0 60000 65536"/>
                <a:gd name="T9" fmla="*/ 0 w 33"/>
                <a:gd name="T10" fmla="*/ 0 h 97"/>
                <a:gd name="T11" fmla="*/ 33 w 33"/>
                <a:gd name="T12" fmla="*/ 97 h 97"/>
              </a:gdLst>
              <a:ahLst/>
              <a:cxnLst>
                <a:cxn ang="T6">
                  <a:pos x="T0" y="T1"/>
                </a:cxn>
                <a:cxn ang="T7">
                  <a:pos x="T2" y="T3"/>
                </a:cxn>
                <a:cxn ang="T8">
                  <a:pos x="T4" y="T5"/>
                </a:cxn>
              </a:cxnLst>
              <a:rect l="T9" t="T10" r="T11" b="T12"/>
              <a:pathLst>
                <a:path w="33" h="97">
                  <a:moveTo>
                    <a:pt x="0" y="0"/>
                  </a:moveTo>
                  <a:lnTo>
                    <a:pt x="25" y="58"/>
                  </a:lnTo>
                  <a:lnTo>
                    <a:pt x="32" y="9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4" name="Freeform 52"/>
            <p:cNvSpPr>
              <a:spLocks/>
            </p:cNvSpPr>
            <p:nvPr/>
          </p:nvSpPr>
          <p:spPr bwMode="auto">
            <a:xfrm>
              <a:off x="932" y="1260"/>
              <a:ext cx="39" cy="85"/>
            </a:xfrm>
            <a:custGeom>
              <a:avLst/>
              <a:gdLst>
                <a:gd name="T0" fmla="*/ 0 w 116"/>
                <a:gd name="T1" fmla="*/ 0 h 251"/>
                <a:gd name="T2" fmla="*/ 2 w 116"/>
                <a:gd name="T3" fmla="*/ 5 h 251"/>
                <a:gd name="T4" fmla="*/ 4 w 116"/>
                <a:gd name="T5" fmla="*/ 8 h 251"/>
                <a:gd name="T6" fmla="*/ 4 w 116"/>
                <a:gd name="T7" fmla="*/ 10 h 251"/>
                <a:gd name="T8" fmla="*/ 0 60000 65536"/>
                <a:gd name="T9" fmla="*/ 0 60000 65536"/>
                <a:gd name="T10" fmla="*/ 0 60000 65536"/>
                <a:gd name="T11" fmla="*/ 0 60000 65536"/>
                <a:gd name="T12" fmla="*/ 0 w 116"/>
                <a:gd name="T13" fmla="*/ 0 h 251"/>
                <a:gd name="T14" fmla="*/ 116 w 116"/>
                <a:gd name="T15" fmla="*/ 251 h 251"/>
              </a:gdLst>
              <a:ahLst/>
              <a:cxnLst>
                <a:cxn ang="T8">
                  <a:pos x="T0" y="T1"/>
                </a:cxn>
                <a:cxn ang="T9">
                  <a:pos x="T2" y="T3"/>
                </a:cxn>
                <a:cxn ang="T10">
                  <a:pos x="T4" y="T5"/>
                </a:cxn>
                <a:cxn ang="T11">
                  <a:pos x="T6" y="T7"/>
                </a:cxn>
              </a:cxnLst>
              <a:rect l="T12" t="T13" r="T14" b="T15"/>
              <a:pathLst>
                <a:path w="116" h="251">
                  <a:moveTo>
                    <a:pt x="0" y="0"/>
                  </a:moveTo>
                  <a:lnTo>
                    <a:pt x="44" y="122"/>
                  </a:lnTo>
                  <a:lnTo>
                    <a:pt x="96" y="199"/>
                  </a:lnTo>
                  <a:lnTo>
                    <a:pt x="115" y="25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5" name="Freeform 53"/>
            <p:cNvSpPr>
              <a:spLocks/>
            </p:cNvSpPr>
            <p:nvPr/>
          </p:nvSpPr>
          <p:spPr bwMode="auto">
            <a:xfrm>
              <a:off x="916" y="1286"/>
              <a:ext cx="55" cy="11"/>
            </a:xfrm>
            <a:custGeom>
              <a:avLst/>
              <a:gdLst>
                <a:gd name="T0" fmla="*/ 0 w 161"/>
                <a:gd name="T1" fmla="*/ 0 h 33"/>
                <a:gd name="T2" fmla="*/ 3 w 161"/>
                <a:gd name="T3" fmla="*/ 0 h 33"/>
                <a:gd name="T4" fmla="*/ 6 w 161"/>
                <a:gd name="T5" fmla="*/ 1 h 33"/>
                <a:gd name="T6" fmla="*/ 0 60000 65536"/>
                <a:gd name="T7" fmla="*/ 0 60000 65536"/>
                <a:gd name="T8" fmla="*/ 0 60000 65536"/>
                <a:gd name="T9" fmla="*/ 0 w 161"/>
                <a:gd name="T10" fmla="*/ 0 h 33"/>
                <a:gd name="T11" fmla="*/ 161 w 161"/>
                <a:gd name="T12" fmla="*/ 33 h 33"/>
              </a:gdLst>
              <a:ahLst/>
              <a:cxnLst>
                <a:cxn ang="T6">
                  <a:pos x="T0" y="T1"/>
                </a:cxn>
                <a:cxn ang="T7">
                  <a:pos x="T2" y="T3"/>
                </a:cxn>
                <a:cxn ang="T8">
                  <a:pos x="T4" y="T5"/>
                </a:cxn>
              </a:cxnLst>
              <a:rect l="T9" t="T10" r="T11" b="T12"/>
              <a:pathLst>
                <a:path w="161" h="33">
                  <a:moveTo>
                    <a:pt x="0" y="0"/>
                  </a:moveTo>
                  <a:lnTo>
                    <a:pt x="64" y="6"/>
                  </a:lnTo>
                  <a:lnTo>
                    <a:pt x="160"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6" name="Freeform 54"/>
            <p:cNvSpPr>
              <a:spLocks/>
            </p:cNvSpPr>
            <p:nvPr/>
          </p:nvSpPr>
          <p:spPr bwMode="auto">
            <a:xfrm>
              <a:off x="944" y="1208"/>
              <a:ext cx="23" cy="33"/>
            </a:xfrm>
            <a:custGeom>
              <a:avLst/>
              <a:gdLst>
                <a:gd name="T0" fmla="*/ 0 w 65"/>
                <a:gd name="T1" fmla="*/ 0 h 97"/>
                <a:gd name="T2" fmla="*/ 2 w 65"/>
                <a:gd name="T3" fmla="*/ 2 h 97"/>
                <a:gd name="T4" fmla="*/ 3 w 65"/>
                <a:gd name="T5" fmla="*/ 4 h 97"/>
                <a:gd name="T6" fmla="*/ 0 60000 65536"/>
                <a:gd name="T7" fmla="*/ 0 60000 65536"/>
                <a:gd name="T8" fmla="*/ 0 60000 65536"/>
                <a:gd name="T9" fmla="*/ 0 w 65"/>
                <a:gd name="T10" fmla="*/ 0 h 97"/>
                <a:gd name="T11" fmla="*/ 65 w 65"/>
                <a:gd name="T12" fmla="*/ 97 h 97"/>
              </a:gdLst>
              <a:ahLst/>
              <a:cxnLst>
                <a:cxn ang="T6">
                  <a:pos x="T0" y="T1"/>
                </a:cxn>
                <a:cxn ang="T7">
                  <a:pos x="T2" y="T3"/>
                </a:cxn>
                <a:cxn ang="T8">
                  <a:pos x="T4" y="T5"/>
                </a:cxn>
              </a:cxnLst>
              <a:rect l="T9" t="T10" r="T11" b="T12"/>
              <a:pathLst>
                <a:path w="65" h="97">
                  <a:moveTo>
                    <a:pt x="0" y="0"/>
                  </a:moveTo>
                  <a:lnTo>
                    <a:pt x="38" y="51"/>
                  </a:lnTo>
                  <a:lnTo>
                    <a:pt x="64" y="9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 name="Freeform 55"/>
            <p:cNvSpPr>
              <a:spLocks/>
            </p:cNvSpPr>
            <p:nvPr/>
          </p:nvSpPr>
          <p:spPr bwMode="auto">
            <a:xfrm>
              <a:off x="1003" y="1310"/>
              <a:ext cx="30" cy="61"/>
            </a:xfrm>
            <a:custGeom>
              <a:avLst/>
              <a:gdLst>
                <a:gd name="T0" fmla="*/ 0 w 90"/>
                <a:gd name="T1" fmla="*/ 0 h 181"/>
                <a:gd name="T2" fmla="*/ 2 w 90"/>
                <a:gd name="T3" fmla="*/ 3 h 181"/>
                <a:gd name="T4" fmla="*/ 2 w 90"/>
                <a:gd name="T5" fmla="*/ 5 h 181"/>
                <a:gd name="T6" fmla="*/ 3 w 90"/>
                <a:gd name="T7" fmla="*/ 7 h 181"/>
                <a:gd name="T8" fmla="*/ 0 60000 65536"/>
                <a:gd name="T9" fmla="*/ 0 60000 65536"/>
                <a:gd name="T10" fmla="*/ 0 60000 65536"/>
                <a:gd name="T11" fmla="*/ 0 60000 65536"/>
                <a:gd name="T12" fmla="*/ 0 w 90"/>
                <a:gd name="T13" fmla="*/ 0 h 181"/>
                <a:gd name="T14" fmla="*/ 90 w 90"/>
                <a:gd name="T15" fmla="*/ 181 h 181"/>
              </a:gdLst>
              <a:ahLst/>
              <a:cxnLst>
                <a:cxn ang="T8">
                  <a:pos x="T0" y="T1"/>
                </a:cxn>
                <a:cxn ang="T9">
                  <a:pos x="T2" y="T3"/>
                </a:cxn>
                <a:cxn ang="T10">
                  <a:pos x="T4" y="T5"/>
                </a:cxn>
                <a:cxn ang="T11">
                  <a:pos x="T6" y="T7"/>
                </a:cxn>
              </a:cxnLst>
              <a:rect l="T12" t="T13" r="T14" b="T15"/>
              <a:pathLst>
                <a:path w="90" h="181">
                  <a:moveTo>
                    <a:pt x="0" y="0"/>
                  </a:moveTo>
                  <a:lnTo>
                    <a:pt x="45" y="71"/>
                  </a:lnTo>
                  <a:lnTo>
                    <a:pt x="64" y="128"/>
                  </a:lnTo>
                  <a:lnTo>
                    <a:pt x="89" y="18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8" name="Freeform 56"/>
            <p:cNvSpPr>
              <a:spLocks/>
            </p:cNvSpPr>
            <p:nvPr/>
          </p:nvSpPr>
          <p:spPr bwMode="auto">
            <a:xfrm>
              <a:off x="1025" y="1303"/>
              <a:ext cx="24" cy="12"/>
            </a:xfrm>
            <a:custGeom>
              <a:avLst/>
              <a:gdLst>
                <a:gd name="T0" fmla="*/ 0 w 71"/>
                <a:gd name="T1" fmla="*/ 0 h 33"/>
                <a:gd name="T2" fmla="*/ 2 w 71"/>
                <a:gd name="T3" fmla="*/ 1 h 33"/>
                <a:gd name="T4" fmla="*/ 3 w 71"/>
                <a:gd name="T5" fmla="*/ 1 h 33"/>
                <a:gd name="T6" fmla="*/ 0 60000 65536"/>
                <a:gd name="T7" fmla="*/ 0 60000 65536"/>
                <a:gd name="T8" fmla="*/ 0 60000 65536"/>
                <a:gd name="T9" fmla="*/ 0 w 71"/>
                <a:gd name="T10" fmla="*/ 0 h 33"/>
                <a:gd name="T11" fmla="*/ 71 w 71"/>
                <a:gd name="T12" fmla="*/ 33 h 33"/>
              </a:gdLst>
              <a:ahLst/>
              <a:cxnLst>
                <a:cxn ang="T6">
                  <a:pos x="T0" y="T1"/>
                </a:cxn>
                <a:cxn ang="T7">
                  <a:pos x="T2" y="T3"/>
                </a:cxn>
                <a:cxn ang="T8">
                  <a:pos x="T4" y="T5"/>
                </a:cxn>
              </a:cxnLst>
              <a:rect l="T9" t="T10" r="T11" b="T12"/>
              <a:pathLst>
                <a:path w="71" h="33">
                  <a:moveTo>
                    <a:pt x="0" y="0"/>
                  </a:moveTo>
                  <a:lnTo>
                    <a:pt x="45" y="13"/>
                  </a:lnTo>
                  <a:lnTo>
                    <a:pt x="70"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9" name="Freeform 57"/>
            <p:cNvSpPr>
              <a:spLocks/>
            </p:cNvSpPr>
            <p:nvPr/>
          </p:nvSpPr>
          <p:spPr bwMode="auto">
            <a:xfrm>
              <a:off x="699" y="1110"/>
              <a:ext cx="6" cy="74"/>
            </a:xfrm>
            <a:custGeom>
              <a:avLst/>
              <a:gdLst>
                <a:gd name="T0" fmla="*/ 0 w 17"/>
                <a:gd name="T1" fmla="*/ 0 h 218"/>
                <a:gd name="T2" fmla="*/ 1 w 17"/>
                <a:gd name="T3" fmla="*/ 2 h 218"/>
                <a:gd name="T4" fmla="*/ 0 w 17"/>
                <a:gd name="T5" fmla="*/ 6 h 218"/>
                <a:gd name="T6" fmla="*/ 0 w 17"/>
                <a:gd name="T7" fmla="*/ 8 h 218"/>
                <a:gd name="T8" fmla="*/ 0 60000 65536"/>
                <a:gd name="T9" fmla="*/ 0 60000 65536"/>
                <a:gd name="T10" fmla="*/ 0 60000 65536"/>
                <a:gd name="T11" fmla="*/ 0 60000 65536"/>
                <a:gd name="T12" fmla="*/ 0 w 17"/>
                <a:gd name="T13" fmla="*/ 0 h 218"/>
                <a:gd name="T14" fmla="*/ 17 w 17"/>
                <a:gd name="T15" fmla="*/ 218 h 218"/>
              </a:gdLst>
              <a:ahLst/>
              <a:cxnLst>
                <a:cxn ang="T8">
                  <a:pos x="T0" y="T1"/>
                </a:cxn>
                <a:cxn ang="T9">
                  <a:pos x="T2" y="T3"/>
                </a:cxn>
                <a:cxn ang="T10">
                  <a:pos x="T4" y="T5"/>
                </a:cxn>
                <a:cxn ang="T11">
                  <a:pos x="T6" y="T7"/>
                </a:cxn>
              </a:cxnLst>
              <a:rect l="T12" t="T13" r="T14" b="T15"/>
              <a:pathLst>
                <a:path w="17" h="218">
                  <a:moveTo>
                    <a:pt x="0" y="0"/>
                  </a:moveTo>
                  <a:lnTo>
                    <a:pt x="16" y="57"/>
                  </a:lnTo>
                  <a:lnTo>
                    <a:pt x="0" y="147"/>
                  </a:lnTo>
                  <a:lnTo>
                    <a:pt x="0" y="21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0" name="Freeform 58"/>
            <p:cNvSpPr>
              <a:spLocks/>
            </p:cNvSpPr>
            <p:nvPr/>
          </p:nvSpPr>
          <p:spPr bwMode="auto">
            <a:xfrm>
              <a:off x="602" y="948"/>
              <a:ext cx="32" cy="98"/>
            </a:xfrm>
            <a:custGeom>
              <a:avLst/>
              <a:gdLst>
                <a:gd name="T0" fmla="*/ 0 w 97"/>
                <a:gd name="T1" fmla="*/ 0 h 289"/>
                <a:gd name="T2" fmla="*/ 1 w 97"/>
                <a:gd name="T3" fmla="*/ 3 h 289"/>
                <a:gd name="T4" fmla="*/ 2 w 97"/>
                <a:gd name="T5" fmla="*/ 6 h 289"/>
                <a:gd name="T6" fmla="*/ 3 w 97"/>
                <a:gd name="T7" fmla="*/ 9 h 289"/>
                <a:gd name="T8" fmla="*/ 4 w 97"/>
                <a:gd name="T9" fmla="*/ 11 h 289"/>
                <a:gd name="T10" fmla="*/ 0 60000 65536"/>
                <a:gd name="T11" fmla="*/ 0 60000 65536"/>
                <a:gd name="T12" fmla="*/ 0 60000 65536"/>
                <a:gd name="T13" fmla="*/ 0 60000 65536"/>
                <a:gd name="T14" fmla="*/ 0 60000 65536"/>
                <a:gd name="T15" fmla="*/ 0 w 97"/>
                <a:gd name="T16" fmla="*/ 0 h 289"/>
                <a:gd name="T17" fmla="*/ 97 w 97"/>
                <a:gd name="T18" fmla="*/ 289 h 289"/>
              </a:gdLst>
              <a:ahLst/>
              <a:cxnLst>
                <a:cxn ang="T10">
                  <a:pos x="T0" y="T1"/>
                </a:cxn>
                <a:cxn ang="T11">
                  <a:pos x="T2" y="T3"/>
                </a:cxn>
                <a:cxn ang="T12">
                  <a:pos x="T4" y="T5"/>
                </a:cxn>
                <a:cxn ang="T13">
                  <a:pos x="T6" y="T7"/>
                </a:cxn>
                <a:cxn ang="T14">
                  <a:pos x="T8" y="T9"/>
                </a:cxn>
              </a:cxnLst>
              <a:rect l="T15" t="T16" r="T17" b="T18"/>
              <a:pathLst>
                <a:path w="97" h="289">
                  <a:moveTo>
                    <a:pt x="0" y="0"/>
                  </a:moveTo>
                  <a:lnTo>
                    <a:pt x="38" y="76"/>
                  </a:lnTo>
                  <a:lnTo>
                    <a:pt x="51" y="160"/>
                  </a:lnTo>
                  <a:lnTo>
                    <a:pt x="77" y="230"/>
                  </a:lnTo>
                  <a:lnTo>
                    <a:pt x="96" y="28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1" name="Freeform 59"/>
            <p:cNvSpPr>
              <a:spLocks/>
            </p:cNvSpPr>
            <p:nvPr/>
          </p:nvSpPr>
          <p:spPr bwMode="auto">
            <a:xfrm>
              <a:off x="595" y="988"/>
              <a:ext cx="37" cy="14"/>
            </a:xfrm>
            <a:custGeom>
              <a:avLst/>
              <a:gdLst>
                <a:gd name="T0" fmla="*/ 0 w 109"/>
                <a:gd name="T1" fmla="*/ 0 h 40"/>
                <a:gd name="T2" fmla="*/ 3 w 109"/>
                <a:gd name="T3" fmla="*/ 1 h 40"/>
                <a:gd name="T4" fmla="*/ 4 w 109"/>
                <a:gd name="T5" fmla="*/ 2 h 40"/>
                <a:gd name="T6" fmla="*/ 0 60000 65536"/>
                <a:gd name="T7" fmla="*/ 0 60000 65536"/>
                <a:gd name="T8" fmla="*/ 0 60000 65536"/>
                <a:gd name="T9" fmla="*/ 0 w 109"/>
                <a:gd name="T10" fmla="*/ 0 h 40"/>
                <a:gd name="T11" fmla="*/ 109 w 109"/>
                <a:gd name="T12" fmla="*/ 40 h 40"/>
              </a:gdLst>
              <a:ahLst/>
              <a:cxnLst>
                <a:cxn ang="T6">
                  <a:pos x="T0" y="T1"/>
                </a:cxn>
                <a:cxn ang="T7">
                  <a:pos x="T2" y="T3"/>
                </a:cxn>
                <a:cxn ang="T8">
                  <a:pos x="T4" y="T5"/>
                </a:cxn>
              </a:cxnLst>
              <a:rect l="T9" t="T10" r="T11" b="T12"/>
              <a:pathLst>
                <a:path w="109" h="40">
                  <a:moveTo>
                    <a:pt x="0" y="0"/>
                  </a:moveTo>
                  <a:lnTo>
                    <a:pt x="76" y="13"/>
                  </a:lnTo>
                  <a:lnTo>
                    <a:pt x="108" y="39"/>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2" name="Freeform 60"/>
            <p:cNvSpPr>
              <a:spLocks/>
            </p:cNvSpPr>
            <p:nvPr/>
          </p:nvSpPr>
          <p:spPr bwMode="auto">
            <a:xfrm>
              <a:off x="560" y="1064"/>
              <a:ext cx="53" cy="155"/>
            </a:xfrm>
            <a:custGeom>
              <a:avLst/>
              <a:gdLst>
                <a:gd name="T0" fmla="*/ 0 w 155"/>
                <a:gd name="T1" fmla="*/ 0 h 456"/>
                <a:gd name="T2" fmla="*/ 2 w 155"/>
                <a:gd name="T3" fmla="*/ 4 h 456"/>
                <a:gd name="T4" fmla="*/ 3 w 155"/>
                <a:gd name="T5" fmla="*/ 9 h 456"/>
                <a:gd name="T6" fmla="*/ 4 w 155"/>
                <a:gd name="T7" fmla="*/ 13 h 456"/>
                <a:gd name="T8" fmla="*/ 6 w 155"/>
                <a:gd name="T9" fmla="*/ 18 h 456"/>
                <a:gd name="T10" fmla="*/ 0 60000 65536"/>
                <a:gd name="T11" fmla="*/ 0 60000 65536"/>
                <a:gd name="T12" fmla="*/ 0 60000 65536"/>
                <a:gd name="T13" fmla="*/ 0 60000 65536"/>
                <a:gd name="T14" fmla="*/ 0 60000 65536"/>
                <a:gd name="T15" fmla="*/ 0 w 155"/>
                <a:gd name="T16" fmla="*/ 0 h 456"/>
                <a:gd name="T17" fmla="*/ 155 w 155"/>
                <a:gd name="T18" fmla="*/ 456 h 456"/>
              </a:gdLst>
              <a:ahLst/>
              <a:cxnLst>
                <a:cxn ang="T10">
                  <a:pos x="T0" y="T1"/>
                </a:cxn>
                <a:cxn ang="T11">
                  <a:pos x="T2" y="T3"/>
                </a:cxn>
                <a:cxn ang="T12">
                  <a:pos x="T4" y="T5"/>
                </a:cxn>
                <a:cxn ang="T13">
                  <a:pos x="T6" y="T7"/>
                </a:cxn>
                <a:cxn ang="T14">
                  <a:pos x="T8" y="T9"/>
                </a:cxn>
              </a:cxnLst>
              <a:rect l="T15" t="T16" r="T17" b="T18"/>
              <a:pathLst>
                <a:path w="155" h="456">
                  <a:moveTo>
                    <a:pt x="0" y="0"/>
                  </a:moveTo>
                  <a:lnTo>
                    <a:pt x="51" y="103"/>
                  </a:lnTo>
                  <a:lnTo>
                    <a:pt x="77" y="231"/>
                  </a:lnTo>
                  <a:lnTo>
                    <a:pt x="109" y="339"/>
                  </a:lnTo>
                  <a:lnTo>
                    <a:pt x="154" y="45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3" name="Freeform 61"/>
            <p:cNvSpPr>
              <a:spLocks/>
            </p:cNvSpPr>
            <p:nvPr/>
          </p:nvSpPr>
          <p:spPr bwMode="auto">
            <a:xfrm>
              <a:off x="582" y="1101"/>
              <a:ext cx="48" cy="21"/>
            </a:xfrm>
            <a:custGeom>
              <a:avLst/>
              <a:gdLst>
                <a:gd name="T0" fmla="*/ 0 w 142"/>
                <a:gd name="T1" fmla="*/ 0 h 59"/>
                <a:gd name="T2" fmla="*/ 1 w 142"/>
                <a:gd name="T3" fmla="*/ 1 h 59"/>
                <a:gd name="T4" fmla="*/ 2 w 142"/>
                <a:gd name="T5" fmla="*/ 1 h 59"/>
                <a:gd name="T6" fmla="*/ 4 w 142"/>
                <a:gd name="T7" fmla="*/ 2 h 59"/>
                <a:gd name="T8" fmla="*/ 5 w 142"/>
                <a:gd name="T9" fmla="*/ 1 h 59"/>
                <a:gd name="T10" fmla="*/ 0 60000 65536"/>
                <a:gd name="T11" fmla="*/ 0 60000 65536"/>
                <a:gd name="T12" fmla="*/ 0 60000 65536"/>
                <a:gd name="T13" fmla="*/ 0 60000 65536"/>
                <a:gd name="T14" fmla="*/ 0 60000 65536"/>
                <a:gd name="T15" fmla="*/ 0 w 142"/>
                <a:gd name="T16" fmla="*/ 0 h 59"/>
                <a:gd name="T17" fmla="*/ 142 w 142"/>
                <a:gd name="T18" fmla="*/ 59 h 59"/>
              </a:gdLst>
              <a:ahLst/>
              <a:cxnLst>
                <a:cxn ang="T10">
                  <a:pos x="T0" y="T1"/>
                </a:cxn>
                <a:cxn ang="T11">
                  <a:pos x="T2" y="T3"/>
                </a:cxn>
                <a:cxn ang="T12">
                  <a:pos x="T4" y="T5"/>
                </a:cxn>
                <a:cxn ang="T13">
                  <a:pos x="T6" y="T7"/>
                </a:cxn>
                <a:cxn ang="T14">
                  <a:pos x="T8" y="T9"/>
                </a:cxn>
              </a:cxnLst>
              <a:rect l="T15" t="T16" r="T17" b="T18"/>
              <a:pathLst>
                <a:path w="142" h="59">
                  <a:moveTo>
                    <a:pt x="0" y="0"/>
                  </a:moveTo>
                  <a:lnTo>
                    <a:pt x="26" y="13"/>
                  </a:lnTo>
                  <a:lnTo>
                    <a:pt x="64" y="19"/>
                  </a:lnTo>
                  <a:lnTo>
                    <a:pt x="103" y="58"/>
                  </a:lnTo>
                  <a:lnTo>
                    <a:pt x="141"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4" name="Freeform 62"/>
            <p:cNvSpPr>
              <a:spLocks/>
            </p:cNvSpPr>
            <p:nvPr/>
          </p:nvSpPr>
          <p:spPr bwMode="auto">
            <a:xfrm>
              <a:off x="558" y="1167"/>
              <a:ext cx="61" cy="26"/>
            </a:xfrm>
            <a:custGeom>
              <a:avLst/>
              <a:gdLst>
                <a:gd name="T0" fmla="*/ 0 w 180"/>
                <a:gd name="T1" fmla="*/ 0 h 78"/>
                <a:gd name="T2" fmla="*/ 3 w 180"/>
                <a:gd name="T3" fmla="*/ 1 h 78"/>
                <a:gd name="T4" fmla="*/ 5 w 180"/>
                <a:gd name="T5" fmla="*/ 2 h 78"/>
                <a:gd name="T6" fmla="*/ 7 w 180"/>
                <a:gd name="T7" fmla="*/ 3 h 78"/>
                <a:gd name="T8" fmla="*/ 0 60000 65536"/>
                <a:gd name="T9" fmla="*/ 0 60000 65536"/>
                <a:gd name="T10" fmla="*/ 0 60000 65536"/>
                <a:gd name="T11" fmla="*/ 0 60000 65536"/>
                <a:gd name="T12" fmla="*/ 0 w 180"/>
                <a:gd name="T13" fmla="*/ 0 h 78"/>
                <a:gd name="T14" fmla="*/ 180 w 180"/>
                <a:gd name="T15" fmla="*/ 78 h 78"/>
              </a:gdLst>
              <a:ahLst/>
              <a:cxnLst>
                <a:cxn ang="T8">
                  <a:pos x="T0" y="T1"/>
                </a:cxn>
                <a:cxn ang="T9">
                  <a:pos x="T2" y="T3"/>
                </a:cxn>
                <a:cxn ang="T10">
                  <a:pos x="T4" y="T5"/>
                </a:cxn>
                <a:cxn ang="T11">
                  <a:pos x="T6" y="T7"/>
                </a:cxn>
              </a:cxnLst>
              <a:rect l="T12" t="T13" r="T14" b="T15"/>
              <a:pathLst>
                <a:path w="180" h="78">
                  <a:moveTo>
                    <a:pt x="0" y="0"/>
                  </a:moveTo>
                  <a:lnTo>
                    <a:pt x="77" y="26"/>
                  </a:lnTo>
                  <a:lnTo>
                    <a:pt x="134" y="64"/>
                  </a:lnTo>
                  <a:lnTo>
                    <a:pt x="179" y="7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5" name="Freeform 63"/>
            <p:cNvSpPr>
              <a:spLocks/>
            </p:cNvSpPr>
            <p:nvPr/>
          </p:nvSpPr>
          <p:spPr bwMode="auto">
            <a:xfrm>
              <a:off x="955" y="967"/>
              <a:ext cx="37" cy="70"/>
            </a:xfrm>
            <a:custGeom>
              <a:avLst/>
              <a:gdLst>
                <a:gd name="T0" fmla="*/ 0 w 110"/>
                <a:gd name="T1" fmla="*/ 0 h 206"/>
                <a:gd name="T2" fmla="*/ 3 w 110"/>
                <a:gd name="T3" fmla="*/ 4 h 206"/>
                <a:gd name="T4" fmla="*/ 3 w 110"/>
                <a:gd name="T5" fmla="*/ 6 h 206"/>
                <a:gd name="T6" fmla="*/ 4 w 110"/>
                <a:gd name="T7" fmla="*/ 8 h 206"/>
                <a:gd name="T8" fmla="*/ 0 60000 65536"/>
                <a:gd name="T9" fmla="*/ 0 60000 65536"/>
                <a:gd name="T10" fmla="*/ 0 60000 65536"/>
                <a:gd name="T11" fmla="*/ 0 60000 65536"/>
                <a:gd name="T12" fmla="*/ 0 w 110"/>
                <a:gd name="T13" fmla="*/ 0 h 206"/>
                <a:gd name="T14" fmla="*/ 110 w 110"/>
                <a:gd name="T15" fmla="*/ 206 h 206"/>
              </a:gdLst>
              <a:ahLst/>
              <a:cxnLst>
                <a:cxn ang="T8">
                  <a:pos x="T0" y="T1"/>
                </a:cxn>
                <a:cxn ang="T9">
                  <a:pos x="T2" y="T3"/>
                </a:cxn>
                <a:cxn ang="T10">
                  <a:pos x="T4" y="T5"/>
                </a:cxn>
                <a:cxn ang="T11">
                  <a:pos x="T6" y="T7"/>
                </a:cxn>
              </a:cxnLst>
              <a:rect l="T12" t="T13" r="T14" b="T15"/>
              <a:pathLst>
                <a:path w="110" h="206">
                  <a:moveTo>
                    <a:pt x="0" y="0"/>
                  </a:moveTo>
                  <a:lnTo>
                    <a:pt x="70" y="90"/>
                  </a:lnTo>
                  <a:lnTo>
                    <a:pt x="90" y="147"/>
                  </a:lnTo>
                  <a:lnTo>
                    <a:pt x="109" y="20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6" name="Freeform 64"/>
            <p:cNvSpPr>
              <a:spLocks/>
            </p:cNvSpPr>
            <p:nvPr/>
          </p:nvSpPr>
          <p:spPr bwMode="auto">
            <a:xfrm>
              <a:off x="927" y="988"/>
              <a:ext cx="42" cy="38"/>
            </a:xfrm>
            <a:custGeom>
              <a:avLst/>
              <a:gdLst>
                <a:gd name="T0" fmla="*/ 0 w 122"/>
                <a:gd name="T1" fmla="*/ 0 h 110"/>
                <a:gd name="T2" fmla="*/ 2 w 122"/>
                <a:gd name="T3" fmla="*/ 3 h 110"/>
                <a:gd name="T4" fmla="*/ 3 w 122"/>
                <a:gd name="T5" fmla="*/ 4 h 110"/>
                <a:gd name="T6" fmla="*/ 5 w 122"/>
                <a:gd name="T7" fmla="*/ 4 h 110"/>
                <a:gd name="T8" fmla="*/ 0 60000 65536"/>
                <a:gd name="T9" fmla="*/ 0 60000 65536"/>
                <a:gd name="T10" fmla="*/ 0 60000 65536"/>
                <a:gd name="T11" fmla="*/ 0 60000 65536"/>
                <a:gd name="T12" fmla="*/ 0 w 122"/>
                <a:gd name="T13" fmla="*/ 0 h 110"/>
                <a:gd name="T14" fmla="*/ 122 w 122"/>
                <a:gd name="T15" fmla="*/ 110 h 110"/>
              </a:gdLst>
              <a:ahLst/>
              <a:cxnLst>
                <a:cxn ang="T8">
                  <a:pos x="T0" y="T1"/>
                </a:cxn>
                <a:cxn ang="T9">
                  <a:pos x="T2" y="T3"/>
                </a:cxn>
                <a:cxn ang="T10">
                  <a:pos x="T4" y="T5"/>
                </a:cxn>
                <a:cxn ang="T11">
                  <a:pos x="T6" y="T7"/>
                </a:cxn>
              </a:cxnLst>
              <a:rect l="T12" t="T13" r="T14" b="T15"/>
              <a:pathLst>
                <a:path w="122" h="110">
                  <a:moveTo>
                    <a:pt x="0" y="0"/>
                  </a:moveTo>
                  <a:lnTo>
                    <a:pt x="45" y="64"/>
                  </a:lnTo>
                  <a:lnTo>
                    <a:pt x="64" y="103"/>
                  </a:lnTo>
                  <a:lnTo>
                    <a:pt x="121" y="109"/>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 name="Freeform 65"/>
            <p:cNvSpPr>
              <a:spLocks/>
            </p:cNvSpPr>
            <p:nvPr/>
          </p:nvSpPr>
          <p:spPr bwMode="auto">
            <a:xfrm>
              <a:off x="1014" y="1043"/>
              <a:ext cx="28" cy="16"/>
            </a:xfrm>
            <a:custGeom>
              <a:avLst/>
              <a:gdLst>
                <a:gd name="T0" fmla="*/ 0 w 84"/>
                <a:gd name="T1" fmla="*/ 0 h 46"/>
                <a:gd name="T2" fmla="*/ 2 w 84"/>
                <a:gd name="T3" fmla="*/ 1 h 46"/>
                <a:gd name="T4" fmla="*/ 3 w 84"/>
                <a:gd name="T5" fmla="*/ 2 h 46"/>
                <a:gd name="T6" fmla="*/ 0 60000 65536"/>
                <a:gd name="T7" fmla="*/ 0 60000 65536"/>
                <a:gd name="T8" fmla="*/ 0 60000 65536"/>
                <a:gd name="T9" fmla="*/ 0 w 84"/>
                <a:gd name="T10" fmla="*/ 0 h 46"/>
                <a:gd name="T11" fmla="*/ 84 w 84"/>
                <a:gd name="T12" fmla="*/ 46 h 46"/>
              </a:gdLst>
              <a:ahLst/>
              <a:cxnLst>
                <a:cxn ang="T6">
                  <a:pos x="T0" y="T1"/>
                </a:cxn>
                <a:cxn ang="T7">
                  <a:pos x="T2" y="T3"/>
                </a:cxn>
                <a:cxn ang="T8">
                  <a:pos x="T4" y="T5"/>
                </a:cxn>
              </a:cxnLst>
              <a:rect l="T9" t="T10" r="T11" b="T12"/>
              <a:pathLst>
                <a:path w="84" h="46">
                  <a:moveTo>
                    <a:pt x="0" y="0"/>
                  </a:moveTo>
                  <a:lnTo>
                    <a:pt x="45" y="26"/>
                  </a:lnTo>
                  <a:lnTo>
                    <a:pt x="83" y="4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 name="Freeform 66"/>
            <p:cNvSpPr>
              <a:spLocks/>
            </p:cNvSpPr>
            <p:nvPr/>
          </p:nvSpPr>
          <p:spPr bwMode="auto">
            <a:xfrm>
              <a:off x="966" y="1073"/>
              <a:ext cx="42" cy="9"/>
            </a:xfrm>
            <a:custGeom>
              <a:avLst/>
              <a:gdLst>
                <a:gd name="T0" fmla="*/ 0 w 123"/>
                <a:gd name="T1" fmla="*/ 0 h 26"/>
                <a:gd name="T2" fmla="*/ 3 w 123"/>
                <a:gd name="T3" fmla="*/ 1 h 26"/>
                <a:gd name="T4" fmla="*/ 5 w 123"/>
                <a:gd name="T5" fmla="*/ 1 h 26"/>
                <a:gd name="T6" fmla="*/ 0 60000 65536"/>
                <a:gd name="T7" fmla="*/ 0 60000 65536"/>
                <a:gd name="T8" fmla="*/ 0 60000 65536"/>
                <a:gd name="T9" fmla="*/ 0 w 123"/>
                <a:gd name="T10" fmla="*/ 0 h 26"/>
                <a:gd name="T11" fmla="*/ 123 w 123"/>
                <a:gd name="T12" fmla="*/ 26 h 26"/>
              </a:gdLst>
              <a:ahLst/>
              <a:cxnLst>
                <a:cxn ang="T6">
                  <a:pos x="T0" y="T1"/>
                </a:cxn>
                <a:cxn ang="T7">
                  <a:pos x="T2" y="T3"/>
                </a:cxn>
                <a:cxn ang="T8">
                  <a:pos x="T4" y="T5"/>
                </a:cxn>
              </a:cxnLst>
              <a:rect l="T9" t="T10" r="T11" b="T12"/>
              <a:pathLst>
                <a:path w="123" h="26">
                  <a:moveTo>
                    <a:pt x="0" y="0"/>
                  </a:moveTo>
                  <a:lnTo>
                    <a:pt x="70" y="25"/>
                  </a:lnTo>
                  <a:lnTo>
                    <a:pt x="122" y="2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9" name="Freeform 67"/>
            <p:cNvSpPr>
              <a:spLocks/>
            </p:cNvSpPr>
            <p:nvPr/>
          </p:nvSpPr>
          <p:spPr bwMode="auto">
            <a:xfrm>
              <a:off x="1031" y="1099"/>
              <a:ext cx="39" cy="11"/>
            </a:xfrm>
            <a:custGeom>
              <a:avLst/>
              <a:gdLst>
                <a:gd name="T0" fmla="*/ 0 w 116"/>
                <a:gd name="T1" fmla="*/ 0 h 33"/>
                <a:gd name="T2" fmla="*/ 2 w 116"/>
                <a:gd name="T3" fmla="*/ 0 h 33"/>
                <a:gd name="T4" fmla="*/ 4 w 116"/>
                <a:gd name="T5" fmla="*/ 1 h 33"/>
                <a:gd name="T6" fmla="*/ 0 60000 65536"/>
                <a:gd name="T7" fmla="*/ 0 60000 65536"/>
                <a:gd name="T8" fmla="*/ 0 60000 65536"/>
                <a:gd name="T9" fmla="*/ 0 w 116"/>
                <a:gd name="T10" fmla="*/ 0 h 33"/>
                <a:gd name="T11" fmla="*/ 116 w 116"/>
                <a:gd name="T12" fmla="*/ 33 h 33"/>
              </a:gdLst>
              <a:ahLst/>
              <a:cxnLst>
                <a:cxn ang="T6">
                  <a:pos x="T0" y="T1"/>
                </a:cxn>
                <a:cxn ang="T7">
                  <a:pos x="T2" y="T3"/>
                </a:cxn>
                <a:cxn ang="T8">
                  <a:pos x="T4" y="T5"/>
                </a:cxn>
              </a:cxnLst>
              <a:rect l="T9" t="T10" r="T11" b="T12"/>
              <a:pathLst>
                <a:path w="116" h="33">
                  <a:moveTo>
                    <a:pt x="0" y="0"/>
                  </a:moveTo>
                  <a:lnTo>
                    <a:pt x="58" y="12"/>
                  </a:lnTo>
                  <a:lnTo>
                    <a:pt x="115"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 name="Freeform 68"/>
            <p:cNvSpPr>
              <a:spLocks/>
            </p:cNvSpPr>
            <p:nvPr/>
          </p:nvSpPr>
          <p:spPr bwMode="auto">
            <a:xfrm>
              <a:off x="1022" y="1073"/>
              <a:ext cx="31" cy="53"/>
            </a:xfrm>
            <a:custGeom>
              <a:avLst/>
              <a:gdLst>
                <a:gd name="T0" fmla="*/ 0 w 91"/>
                <a:gd name="T1" fmla="*/ 0 h 154"/>
                <a:gd name="T2" fmla="*/ 2 w 91"/>
                <a:gd name="T3" fmla="*/ 4 h 154"/>
                <a:gd name="T4" fmla="*/ 4 w 91"/>
                <a:gd name="T5" fmla="*/ 6 h 154"/>
                <a:gd name="T6" fmla="*/ 0 60000 65536"/>
                <a:gd name="T7" fmla="*/ 0 60000 65536"/>
                <a:gd name="T8" fmla="*/ 0 60000 65536"/>
                <a:gd name="T9" fmla="*/ 0 w 91"/>
                <a:gd name="T10" fmla="*/ 0 h 154"/>
                <a:gd name="T11" fmla="*/ 91 w 91"/>
                <a:gd name="T12" fmla="*/ 154 h 154"/>
              </a:gdLst>
              <a:ahLst/>
              <a:cxnLst>
                <a:cxn ang="T6">
                  <a:pos x="T0" y="T1"/>
                </a:cxn>
                <a:cxn ang="T7">
                  <a:pos x="T2" y="T3"/>
                </a:cxn>
                <a:cxn ang="T8">
                  <a:pos x="T4" y="T5"/>
                </a:cxn>
              </a:cxnLst>
              <a:rect l="T9" t="T10" r="T11" b="T12"/>
              <a:pathLst>
                <a:path w="91" h="154">
                  <a:moveTo>
                    <a:pt x="0" y="0"/>
                  </a:moveTo>
                  <a:lnTo>
                    <a:pt x="58" y="89"/>
                  </a:lnTo>
                  <a:lnTo>
                    <a:pt x="90" y="153"/>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 name="Freeform 69"/>
            <p:cNvSpPr>
              <a:spLocks/>
            </p:cNvSpPr>
            <p:nvPr/>
          </p:nvSpPr>
          <p:spPr bwMode="auto">
            <a:xfrm>
              <a:off x="803" y="791"/>
              <a:ext cx="27" cy="39"/>
            </a:xfrm>
            <a:custGeom>
              <a:avLst/>
              <a:gdLst>
                <a:gd name="T0" fmla="*/ 0 w 78"/>
                <a:gd name="T1" fmla="*/ 0 h 116"/>
                <a:gd name="T2" fmla="*/ 1 w 78"/>
                <a:gd name="T3" fmla="*/ 3 h 116"/>
                <a:gd name="T4" fmla="*/ 3 w 78"/>
                <a:gd name="T5" fmla="*/ 4 h 116"/>
                <a:gd name="T6" fmla="*/ 0 60000 65536"/>
                <a:gd name="T7" fmla="*/ 0 60000 65536"/>
                <a:gd name="T8" fmla="*/ 0 60000 65536"/>
                <a:gd name="T9" fmla="*/ 0 w 78"/>
                <a:gd name="T10" fmla="*/ 0 h 116"/>
                <a:gd name="T11" fmla="*/ 78 w 78"/>
                <a:gd name="T12" fmla="*/ 116 h 116"/>
              </a:gdLst>
              <a:ahLst/>
              <a:cxnLst>
                <a:cxn ang="T6">
                  <a:pos x="T0" y="T1"/>
                </a:cxn>
                <a:cxn ang="T7">
                  <a:pos x="T2" y="T3"/>
                </a:cxn>
                <a:cxn ang="T8">
                  <a:pos x="T4" y="T5"/>
                </a:cxn>
              </a:cxnLst>
              <a:rect l="T9" t="T10" r="T11" b="T12"/>
              <a:pathLst>
                <a:path w="78" h="116">
                  <a:moveTo>
                    <a:pt x="0" y="0"/>
                  </a:moveTo>
                  <a:lnTo>
                    <a:pt x="38" y="70"/>
                  </a:lnTo>
                  <a:lnTo>
                    <a:pt x="77" y="115"/>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 name="Freeform 70"/>
            <p:cNvSpPr>
              <a:spLocks/>
            </p:cNvSpPr>
            <p:nvPr/>
          </p:nvSpPr>
          <p:spPr bwMode="auto">
            <a:xfrm>
              <a:off x="849" y="778"/>
              <a:ext cx="20" cy="50"/>
            </a:xfrm>
            <a:custGeom>
              <a:avLst/>
              <a:gdLst>
                <a:gd name="T0" fmla="*/ 0 w 59"/>
                <a:gd name="T1" fmla="*/ 0 h 149"/>
                <a:gd name="T2" fmla="*/ 1 w 59"/>
                <a:gd name="T3" fmla="*/ 2 h 149"/>
                <a:gd name="T4" fmla="*/ 2 w 59"/>
                <a:gd name="T5" fmla="*/ 6 h 149"/>
                <a:gd name="T6" fmla="*/ 0 60000 65536"/>
                <a:gd name="T7" fmla="*/ 0 60000 65536"/>
                <a:gd name="T8" fmla="*/ 0 60000 65536"/>
                <a:gd name="T9" fmla="*/ 0 w 59"/>
                <a:gd name="T10" fmla="*/ 0 h 149"/>
                <a:gd name="T11" fmla="*/ 59 w 59"/>
                <a:gd name="T12" fmla="*/ 149 h 149"/>
              </a:gdLst>
              <a:ahLst/>
              <a:cxnLst>
                <a:cxn ang="T6">
                  <a:pos x="T0" y="T1"/>
                </a:cxn>
                <a:cxn ang="T7">
                  <a:pos x="T2" y="T3"/>
                </a:cxn>
                <a:cxn ang="T8">
                  <a:pos x="T4" y="T5"/>
                </a:cxn>
              </a:cxnLst>
              <a:rect l="T9" t="T10" r="T11" b="T12"/>
              <a:pathLst>
                <a:path w="59" h="149">
                  <a:moveTo>
                    <a:pt x="0" y="0"/>
                  </a:moveTo>
                  <a:lnTo>
                    <a:pt x="26" y="64"/>
                  </a:lnTo>
                  <a:lnTo>
                    <a:pt x="58" y="14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3" name="Freeform 71"/>
            <p:cNvSpPr>
              <a:spLocks/>
            </p:cNvSpPr>
            <p:nvPr/>
          </p:nvSpPr>
          <p:spPr bwMode="auto">
            <a:xfrm>
              <a:off x="918" y="767"/>
              <a:ext cx="57" cy="13"/>
            </a:xfrm>
            <a:custGeom>
              <a:avLst/>
              <a:gdLst>
                <a:gd name="T0" fmla="*/ 6 w 168"/>
                <a:gd name="T1" fmla="*/ 0 h 40"/>
                <a:gd name="T2" fmla="*/ 5 w 168"/>
                <a:gd name="T3" fmla="*/ 1 h 40"/>
                <a:gd name="T4" fmla="*/ 2 w 168"/>
                <a:gd name="T5" fmla="*/ 1 h 40"/>
                <a:gd name="T6" fmla="*/ 0 w 168"/>
                <a:gd name="T7" fmla="*/ 1 h 40"/>
                <a:gd name="T8" fmla="*/ 0 60000 65536"/>
                <a:gd name="T9" fmla="*/ 0 60000 65536"/>
                <a:gd name="T10" fmla="*/ 0 60000 65536"/>
                <a:gd name="T11" fmla="*/ 0 60000 65536"/>
                <a:gd name="T12" fmla="*/ 0 w 168"/>
                <a:gd name="T13" fmla="*/ 0 h 40"/>
                <a:gd name="T14" fmla="*/ 168 w 168"/>
                <a:gd name="T15" fmla="*/ 40 h 40"/>
              </a:gdLst>
              <a:ahLst/>
              <a:cxnLst>
                <a:cxn ang="T8">
                  <a:pos x="T0" y="T1"/>
                </a:cxn>
                <a:cxn ang="T9">
                  <a:pos x="T2" y="T3"/>
                </a:cxn>
                <a:cxn ang="T10">
                  <a:pos x="T4" y="T5"/>
                </a:cxn>
                <a:cxn ang="T11">
                  <a:pos x="T6" y="T7"/>
                </a:cxn>
              </a:cxnLst>
              <a:rect l="T12" t="T13" r="T14" b="T15"/>
              <a:pathLst>
                <a:path w="168" h="40">
                  <a:moveTo>
                    <a:pt x="167" y="0"/>
                  </a:moveTo>
                  <a:lnTo>
                    <a:pt x="122" y="26"/>
                  </a:lnTo>
                  <a:lnTo>
                    <a:pt x="51" y="32"/>
                  </a:lnTo>
                  <a:lnTo>
                    <a:pt x="0" y="39"/>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4" name="Freeform 72"/>
            <p:cNvSpPr>
              <a:spLocks/>
            </p:cNvSpPr>
            <p:nvPr/>
          </p:nvSpPr>
          <p:spPr bwMode="auto">
            <a:xfrm>
              <a:off x="910" y="778"/>
              <a:ext cx="0" cy="18"/>
            </a:xfrm>
            <a:custGeom>
              <a:avLst/>
              <a:gdLst>
                <a:gd name="T0" fmla="*/ 0 w 1"/>
                <a:gd name="T1" fmla="*/ 0 h 53"/>
                <a:gd name="T2" fmla="*/ 0 w 1"/>
                <a:gd name="T3" fmla="*/ 2 h 53"/>
                <a:gd name="T4" fmla="*/ 0 60000 65536"/>
                <a:gd name="T5" fmla="*/ 0 60000 65536"/>
                <a:gd name="T6" fmla="*/ 0 w 1"/>
                <a:gd name="T7" fmla="*/ 0 h 53"/>
                <a:gd name="T8" fmla="*/ 0 w 1"/>
                <a:gd name="T9" fmla="*/ 53 h 53"/>
              </a:gdLst>
              <a:ahLst/>
              <a:cxnLst>
                <a:cxn ang="T4">
                  <a:pos x="T0" y="T1"/>
                </a:cxn>
                <a:cxn ang="T5">
                  <a:pos x="T2" y="T3"/>
                </a:cxn>
              </a:cxnLst>
              <a:rect l="T6" t="T7" r="T8" b="T9"/>
              <a:pathLst>
                <a:path w="1" h="53">
                  <a:moveTo>
                    <a:pt x="0" y="0"/>
                  </a:moveTo>
                  <a:lnTo>
                    <a:pt x="0" y="5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5" name="Freeform 73"/>
            <p:cNvSpPr>
              <a:spLocks/>
            </p:cNvSpPr>
            <p:nvPr/>
          </p:nvSpPr>
          <p:spPr bwMode="auto">
            <a:xfrm>
              <a:off x="1290" y="865"/>
              <a:ext cx="123" cy="113"/>
            </a:xfrm>
            <a:custGeom>
              <a:avLst/>
              <a:gdLst>
                <a:gd name="T0" fmla="*/ 0 w 365"/>
                <a:gd name="T1" fmla="*/ 0 h 334"/>
                <a:gd name="T2" fmla="*/ 2 w 365"/>
                <a:gd name="T3" fmla="*/ 2 h 334"/>
                <a:gd name="T4" fmla="*/ 3 w 365"/>
                <a:gd name="T5" fmla="*/ 5 h 334"/>
                <a:gd name="T6" fmla="*/ 4 w 365"/>
                <a:gd name="T7" fmla="*/ 8 h 334"/>
                <a:gd name="T8" fmla="*/ 6 w 365"/>
                <a:gd name="T9" fmla="*/ 10 h 334"/>
                <a:gd name="T10" fmla="*/ 9 w 365"/>
                <a:gd name="T11" fmla="*/ 11 h 334"/>
                <a:gd name="T12" fmla="*/ 10 w 365"/>
                <a:gd name="T13" fmla="*/ 12 h 334"/>
                <a:gd name="T14" fmla="*/ 12 w 365"/>
                <a:gd name="T15" fmla="*/ 13 h 334"/>
                <a:gd name="T16" fmla="*/ 14 w 365"/>
                <a:gd name="T17" fmla="*/ 13 h 3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5"/>
                <a:gd name="T28" fmla="*/ 0 h 334"/>
                <a:gd name="T29" fmla="*/ 365 w 365"/>
                <a:gd name="T30" fmla="*/ 334 h 3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5" h="334">
                  <a:moveTo>
                    <a:pt x="0" y="0"/>
                  </a:moveTo>
                  <a:lnTo>
                    <a:pt x="44" y="64"/>
                  </a:lnTo>
                  <a:lnTo>
                    <a:pt x="76" y="135"/>
                  </a:lnTo>
                  <a:lnTo>
                    <a:pt x="108" y="212"/>
                  </a:lnTo>
                  <a:lnTo>
                    <a:pt x="147" y="263"/>
                  </a:lnTo>
                  <a:lnTo>
                    <a:pt x="243" y="288"/>
                  </a:lnTo>
                  <a:lnTo>
                    <a:pt x="275" y="308"/>
                  </a:lnTo>
                  <a:lnTo>
                    <a:pt x="313" y="320"/>
                  </a:lnTo>
                  <a:lnTo>
                    <a:pt x="364" y="333"/>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6" name="Freeform 74"/>
            <p:cNvSpPr>
              <a:spLocks/>
            </p:cNvSpPr>
            <p:nvPr/>
          </p:nvSpPr>
          <p:spPr bwMode="auto">
            <a:xfrm>
              <a:off x="1226" y="1336"/>
              <a:ext cx="97" cy="20"/>
            </a:xfrm>
            <a:custGeom>
              <a:avLst/>
              <a:gdLst>
                <a:gd name="T0" fmla="*/ 0 w 283"/>
                <a:gd name="T1" fmla="*/ 0 h 58"/>
                <a:gd name="T2" fmla="*/ 2 w 283"/>
                <a:gd name="T3" fmla="*/ 0 h 58"/>
                <a:gd name="T4" fmla="*/ 4 w 283"/>
                <a:gd name="T5" fmla="*/ 1 h 58"/>
                <a:gd name="T6" fmla="*/ 7 w 283"/>
                <a:gd name="T7" fmla="*/ 2 h 58"/>
                <a:gd name="T8" fmla="*/ 11 w 283"/>
                <a:gd name="T9" fmla="*/ 2 h 58"/>
                <a:gd name="T10" fmla="*/ 0 60000 65536"/>
                <a:gd name="T11" fmla="*/ 0 60000 65536"/>
                <a:gd name="T12" fmla="*/ 0 60000 65536"/>
                <a:gd name="T13" fmla="*/ 0 60000 65536"/>
                <a:gd name="T14" fmla="*/ 0 60000 65536"/>
                <a:gd name="T15" fmla="*/ 0 w 283"/>
                <a:gd name="T16" fmla="*/ 0 h 58"/>
                <a:gd name="T17" fmla="*/ 283 w 283"/>
                <a:gd name="T18" fmla="*/ 58 h 58"/>
              </a:gdLst>
              <a:ahLst/>
              <a:cxnLst>
                <a:cxn ang="T10">
                  <a:pos x="T0" y="T1"/>
                </a:cxn>
                <a:cxn ang="T11">
                  <a:pos x="T2" y="T3"/>
                </a:cxn>
                <a:cxn ang="T12">
                  <a:pos x="T4" y="T5"/>
                </a:cxn>
                <a:cxn ang="T13">
                  <a:pos x="T6" y="T7"/>
                </a:cxn>
                <a:cxn ang="T14">
                  <a:pos x="T8" y="T9"/>
                </a:cxn>
              </a:cxnLst>
              <a:rect l="T15" t="T16" r="T17" b="T18"/>
              <a:pathLst>
                <a:path w="283" h="58">
                  <a:moveTo>
                    <a:pt x="0" y="0"/>
                  </a:moveTo>
                  <a:lnTo>
                    <a:pt x="45" y="7"/>
                  </a:lnTo>
                  <a:lnTo>
                    <a:pt x="102" y="26"/>
                  </a:lnTo>
                  <a:lnTo>
                    <a:pt x="179" y="45"/>
                  </a:lnTo>
                  <a:lnTo>
                    <a:pt x="282" y="5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 name="Freeform 75"/>
            <p:cNvSpPr>
              <a:spLocks/>
            </p:cNvSpPr>
            <p:nvPr/>
          </p:nvSpPr>
          <p:spPr bwMode="auto">
            <a:xfrm>
              <a:off x="1339" y="954"/>
              <a:ext cx="77" cy="24"/>
            </a:xfrm>
            <a:custGeom>
              <a:avLst/>
              <a:gdLst>
                <a:gd name="T0" fmla="*/ 0 w 225"/>
                <a:gd name="T1" fmla="*/ 0 h 71"/>
                <a:gd name="T2" fmla="*/ 3 w 225"/>
                <a:gd name="T3" fmla="*/ 0 h 71"/>
                <a:gd name="T4" fmla="*/ 6 w 225"/>
                <a:gd name="T5" fmla="*/ 2 h 71"/>
                <a:gd name="T6" fmla="*/ 9 w 225"/>
                <a:gd name="T7" fmla="*/ 3 h 71"/>
                <a:gd name="T8" fmla="*/ 0 60000 65536"/>
                <a:gd name="T9" fmla="*/ 0 60000 65536"/>
                <a:gd name="T10" fmla="*/ 0 60000 65536"/>
                <a:gd name="T11" fmla="*/ 0 60000 65536"/>
                <a:gd name="T12" fmla="*/ 0 w 225"/>
                <a:gd name="T13" fmla="*/ 0 h 71"/>
                <a:gd name="T14" fmla="*/ 225 w 225"/>
                <a:gd name="T15" fmla="*/ 71 h 71"/>
              </a:gdLst>
              <a:ahLst/>
              <a:cxnLst>
                <a:cxn ang="T8">
                  <a:pos x="T0" y="T1"/>
                </a:cxn>
                <a:cxn ang="T9">
                  <a:pos x="T2" y="T3"/>
                </a:cxn>
                <a:cxn ang="T10">
                  <a:pos x="T4" y="T5"/>
                </a:cxn>
                <a:cxn ang="T11">
                  <a:pos x="T6" y="T7"/>
                </a:cxn>
              </a:cxnLst>
              <a:rect l="T12" t="T13" r="T14" b="T15"/>
              <a:pathLst>
                <a:path w="225" h="71">
                  <a:moveTo>
                    <a:pt x="0" y="0"/>
                  </a:moveTo>
                  <a:lnTo>
                    <a:pt x="89" y="13"/>
                  </a:lnTo>
                  <a:lnTo>
                    <a:pt x="147" y="51"/>
                  </a:lnTo>
                  <a:lnTo>
                    <a:pt x="224" y="7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8" name="Freeform 76"/>
            <p:cNvSpPr>
              <a:spLocks/>
            </p:cNvSpPr>
            <p:nvPr/>
          </p:nvSpPr>
          <p:spPr bwMode="auto">
            <a:xfrm>
              <a:off x="1394" y="995"/>
              <a:ext cx="43" cy="11"/>
            </a:xfrm>
            <a:custGeom>
              <a:avLst/>
              <a:gdLst>
                <a:gd name="T0" fmla="*/ 0 w 129"/>
                <a:gd name="T1" fmla="*/ 0 h 33"/>
                <a:gd name="T2" fmla="*/ 3 w 129"/>
                <a:gd name="T3" fmla="*/ 0 h 33"/>
                <a:gd name="T4" fmla="*/ 5 w 129"/>
                <a:gd name="T5" fmla="*/ 1 h 33"/>
                <a:gd name="T6" fmla="*/ 0 60000 65536"/>
                <a:gd name="T7" fmla="*/ 0 60000 65536"/>
                <a:gd name="T8" fmla="*/ 0 60000 65536"/>
                <a:gd name="T9" fmla="*/ 0 w 129"/>
                <a:gd name="T10" fmla="*/ 0 h 33"/>
                <a:gd name="T11" fmla="*/ 129 w 129"/>
                <a:gd name="T12" fmla="*/ 33 h 33"/>
              </a:gdLst>
              <a:ahLst/>
              <a:cxnLst>
                <a:cxn ang="T6">
                  <a:pos x="T0" y="T1"/>
                </a:cxn>
                <a:cxn ang="T7">
                  <a:pos x="T2" y="T3"/>
                </a:cxn>
                <a:cxn ang="T8">
                  <a:pos x="T4" y="T5"/>
                </a:cxn>
              </a:cxnLst>
              <a:rect l="T9" t="T10" r="T11" b="T12"/>
              <a:pathLst>
                <a:path w="129" h="33">
                  <a:moveTo>
                    <a:pt x="0" y="0"/>
                  </a:moveTo>
                  <a:lnTo>
                    <a:pt x="83" y="13"/>
                  </a:lnTo>
                  <a:lnTo>
                    <a:pt x="128" y="32"/>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9" name="Freeform 77"/>
            <p:cNvSpPr>
              <a:spLocks/>
            </p:cNvSpPr>
            <p:nvPr/>
          </p:nvSpPr>
          <p:spPr bwMode="auto">
            <a:xfrm>
              <a:off x="1424" y="1008"/>
              <a:ext cx="13" cy="7"/>
            </a:xfrm>
            <a:custGeom>
              <a:avLst/>
              <a:gdLst>
                <a:gd name="T0" fmla="*/ 0 w 40"/>
                <a:gd name="T1" fmla="*/ 0 h 20"/>
                <a:gd name="T2" fmla="*/ 1 w 40"/>
                <a:gd name="T3" fmla="*/ 1 h 20"/>
                <a:gd name="T4" fmla="*/ 1 w 40"/>
                <a:gd name="T5" fmla="*/ 0 h 20"/>
                <a:gd name="T6" fmla="*/ 0 60000 65536"/>
                <a:gd name="T7" fmla="*/ 0 60000 65536"/>
                <a:gd name="T8" fmla="*/ 0 60000 65536"/>
                <a:gd name="T9" fmla="*/ 0 w 40"/>
                <a:gd name="T10" fmla="*/ 0 h 20"/>
                <a:gd name="T11" fmla="*/ 40 w 40"/>
                <a:gd name="T12" fmla="*/ 20 h 20"/>
              </a:gdLst>
              <a:ahLst/>
              <a:cxnLst>
                <a:cxn ang="T6">
                  <a:pos x="T0" y="T1"/>
                </a:cxn>
                <a:cxn ang="T7">
                  <a:pos x="T2" y="T3"/>
                </a:cxn>
                <a:cxn ang="T8">
                  <a:pos x="T4" y="T5"/>
                </a:cxn>
              </a:cxnLst>
              <a:rect l="T9" t="T10" r="T11" b="T12"/>
              <a:pathLst>
                <a:path w="40" h="20">
                  <a:moveTo>
                    <a:pt x="0" y="6"/>
                  </a:moveTo>
                  <a:lnTo>
                    <a:pt x="32" y="19"/>
                  </a:lnTo>
                  <a:lnTo>
                    <a:pt x="39"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0" name="Freeform 78"/>
            <p:cNvSpPr>
              <a:spLocks/>
            </p:cNvSpPr>
            <p:nvPr/>
          </p:nvSpPr>
          <p:spPr bwMode="auto">
            <a:xfrm>
              <a:off x="1459" y="1054"/>
              <a:ext cx="102" cy="54"/>
            </a:xfrm>
            <a:custGeom>
              <a:avLst/>
              <a:gdLst>
                <a:gd name="T0" fmla="*/ 0 w 302"/>
                <a:gd name="T1" fmla="*/ 0 h 161"/>
                <a:gd name="T2" fmla="*/ 2 w 302"/>
                <a:gd name="T3" fmla="*/ 1 h 161"/>
                <a:gd name="T4" fmla="*/ 4 w 302"/>
                <a:gd name="T5" fmla="*/ 1 h 161"/>
                <a:gd name="T6" fmla="*/ 6 w 302"/>
                <a:gd name="T7" fmla="*/ 1 h 161"/>
                <a:gd name="T8" fmla="*/ 8 w 302"/>
                <a:gd name="T9" fmla="*/ 2 h 161"/>
                <a:gd name="T10" fmla="*/ 9 w 302"/>
                <a:gd name="T11" fmla="*/ 3 h 161"/>
                <a:gd name="T12" fmla="*/ 10 w 302"/>
                <a:gd name="T13" fmla="*/ 5 h 161"/>
                <a:gd name="T14" fmla="*/ 11 w 302"/>
                <a:gd name="T15" fmla="*/ 6 h 161"/>
                <a:gd name="T16" fmla="*/ 0 60000 65536"/>
                <a:gd name="T17" fmla="*/ 0 60000 65536"/>
                <a:gd name="T18" fmla="*/ 0 60000 65536"/>
                <a:gd name="T19" fmla="*/ 0 60000 65536"/>
                <a:gd name="T20" fmla="*/ 0 60000 65536"/>
                <a:gd name="T21" fmla="*/ 0 60000 65536"/>
                <a:gd name="T22" fmla="*/ 0 60000 65536"/>
                <a:gd name="T23" fmla="*/ 0 60000 65536"/>
                <a:gd name="T24" fmla="*/ 0 w 302"/>
                <a:gd name="T25" fmla="*/ 0 h 161"/>
                <a:gd name="T26" fmla="*/ 302 w 302"/>
                <a:gd name="T27" fmla="*/ 161 h 16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2" h="161">
                  <a:moveTo>
                    <a:pt x="0" y="0"/>
                  </a:moveTo>
                  <a:lnTo>
                    <a:pt x="57" y="19"/>
                  </a:lnTo>
                  <a:lnTo>
                    <a:pt x="102" y="19"/>
                  </a:lnTo>
                  <a:lnTo>
                    <a:pt x="160" y="32"/>
                  </a:lnTo>
                  <a:lnTo>
                    <a:pt x="198" y="51"/>
                  </a:lnTo>
                  <a:lnTo>
                    <a:pt x="243" y="83"/>
                  </a:lnTo>
                  <a:lnTo>
                    <a:pt x="262" y="128"/>
                  </a:lnTo>
                  <a:lnTo>
                    <a:pt x="301" y="16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1" name="Freeform 79"/>
            <p:cNvSpPr>
              <a:spLocks/>
            </p:cNvSpPr>
            <p:nvPr/>
          </p:nvSpPr>
          <p:spPr bwMode="auto">
            <a:xfrm>
              <a:off x="1482" y="1071"/>
              <a:ext cx="53" cy="22"/>
            </a:xfrm>
            <a:custGeom>
              <a:avLst/>
              <a:gdLst>
                <a:gd name="T0" fmla="*/ 0 w 155"/>
                <a:gd name="T1" fmla="*/ 0 h 65"/>
                <a:gd name="T2" fmla="*/ 2 w 155"/>
                <a:gd name="T3" fmla="*/ 0 h 65"/>
                <a:gd name="T4" fmla="*/ 4 w 155"/>
                <a:gd name="T5" fmla="*/ 1 h 65"/>
                <a:gd name="T6" fmla="*/ 6 w 155"/>
                <a:gd name="T7" fmla="*/ 2 h 65"/>
                <a:gd name="T8" fmla="*/ 0 60000 65536"/>
                <a:gd name="T9" fmla="*/ 0 60000 65536"/>
                <a:gd name="T10" fmla="*/ 0 60000 65536"/>
                <a:gd name="T11" fmla="*/ 0 60000 65536"/>
                <a:gd name="T12" fmla="*/ 0 w 155"/>
                <a:gd name="T13" fmla="*/ 0 h 65"/>
                <a:gd name="T14" fmla="*/ 155 w 155"/>
                <a:gd name="T15" fmla="*/ 65 h 65"/>
              </a:gdLst>
              <a:ahLst/>
              <a:cxnLst>
                <a:cxn ang="T8">
                  <a:pos x="T0" y="T1"/>
                </a:cxn>
                <a:cxn ang="T9">
                  <a:pos x="T2" y="T3"/>
                </a:cxn>
                <a:cxn ang="T10">
                  <a:pos x="T4" y="T5"/>
                </a:cxn>
                <a:cxn ang="T11">
                  <a:pos x="T6" y="T7"/>
                </a:cxn>
              </a:cxnLst>
              <a:rect l="T12" t="T13" r="T14" b="T15"/>
              <a:pathLst>
                <a:path w="155" h="65">
                  <a:moveTo>
                    <a:pt x="0" y="0"/>
                  </a:moveTo>
                  <a:lnTo>
                    <a:pt x="51" y="13"/>
                  </a:lnTo>
                  <a:lnTo>
                    <a:pt x="96" y="32"/>
                  </a:lnTo>
                  <a:lnTo>
                    <a:pt x="154" y="64"/>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2" name="Freeform 80"/>
            <p:cNvSpPr>
              <a:spLocks/>
            </p:cNvSpPr>
            <p:nvPr/>
          </p:nvSpPr>
          <p:spPr bwMode="auto">
            <a:xfrm>
              <a:off x="1528" y="1139"/>
              <a:ext cx="61" cy="21"/>
            </a:xfrm>
            <a:custGeom>
              <a:avLst/>
              <a:gdLst>
                <a:gd name="T0" fmla="*/ 0 w 180"/>
                <a:gd name="T1" fmla="*/ 0 h 65"/>
                <a:gd name="T2" fmla="*/ 2 w 180"/>
                <a:gd name="T3" fmla="*/ 1 h 65"/>
                <a:gd name="T4" fmla="*/ 7 w 180"/>
                <a:gd name="T5" fmla="*/ 2 h 65"/>
                <a:gd name="T6" fmla="*/ 0 60000 65536"/>
                <a:gd name="T7" fmla="*/ 0 60000 65536"/>
                <a:gd name="T8" fmla="*/ 0 60000 65536"/>
                <a:gd name="T9" fmla="*/ 0 w 180"/>
                <a:gd name="T10" fmla="*/ 0 h 65"/>
                <a:gd name="T11" fmla="*/ 180 w 180"/>
                <a:gd name="T12" fmla="*/ 65 h 65"/>
              </a:gdLst>
              <a:ahLst/>
              <a:cxnLst>
                <a:cxn ang="T6">
                  <a:pos x="T0" y="T1"/>
                </a:cxn>
                <a:cxn ang="T7">
                  <a:pos x="T2" y="T3"/>
                </a:cxn>
                <a:cxn ang="T8">
                  <a:pos x="T4" y="T5"/>
                </a:cxn>
              </a:cxnLst>
              <a:rect l="T9" t="T10" r="T11" b="T12"/>
              <a:pathLst>
                <a:path w="180" h="65">
                  <a:moveTo>
                    <a:pt x="0" y="0"/>
                  </a:moveTo>
                  <a:lnTo>
                    <a:pt x="64" y="25"/>
                  </a:lnTo>
                  <a:lnTo>
                    <a:pt x="179" y="64"/>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3" name="Freeform 81"/>
            <p:cNvSpPr>
              <a:spLocks/>
            </p:cNvSpPr>
            <p:nvPr/>
          </p:nvSpPr>
          <p:spPr bwMode="auto">
            <a:xfrm>
              <a:off x="1589" y="1243"/>
              <a:ext cx="82" cy="13"/>
            </a:xfrm>
            <a:custGeom>
              <a:avLst/>
              <a:gdLst>
                <a:gd name="T0" fmla="*/ 0 w 243"/>
                <a:gd name="T1" fmla="*/ 0 h 39"/>
                <a:gd name="T2" fmla="*/ 6 w 243"/>
                <a:gd name="T3" fmla="*/ 1 h 39"/>
                <a:gd name="T4" fmla="*/ 9 w 243"/>
                <a:gd name="T5" fmla="*/ 1 h 39"/>
                <a:gd name="T6" fmla="*/ 0 60000 65536"/>
                <a:gd name="T7" fmla="*/ 0 60000 65536"/>
                <a:gd name="T8" fmla="*/ 0 60000 65536"/>
                <a:gd name="T9" fmla="*/ 0 w 243"/>
                <a:gd name="T10" fmla="*/ 0 h 39"/>
                <a:gd name="T11" fmla="*/ 243 w 243"/>
                <a:gd name="T12" fmla="*/ 39 h 39"/>
              </a:gdLst>
              <a:ahLst/>
              <a:cxnLst>
                <a:cxn ang="T6">
                  <a:pos x="T0" y="T1"/>
                </a:cxn>
                <a:cxn ang="T7">
                  <a:pos x="T2" y="T3"/>
                </a:cxn>
                <a:cxn ang="T8">
                  <a:pos x="T4" y="T5"/>
                </a:cxn>
              </a:cxnLst>
              <a:rect l="T9" t="T10" r="T11" b="T12"/>
              <a:pathLst>
                <a:path w="243" h="39">
                  <a:moveTo>
                    <a:pt x="0" y="0"/>
                  </a:moveTo>
                  <a:lnTo>
                    <a:pt x="153" y="38"/>
                  </a:lnTo>
                  <a:lnTo>
                    <a:pt x="242" y="3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4" name="Freeform 82"/>
            <p:cNvSpPr>
              <a:spLocks/>
            </p:cNvSpPr>
            <p:nvPr/>
          </p:nvSpPr>
          <p:spPr bwMode="auto">
            <a:xfrm>
              <a:off x="1010" y="740"/>
              <a:ext cx="11" cy="53"/>
            </a:xfrm>
            <a:custGeom>
              <a:avLst/>
              <a:gdLst>
                <a:gd name="T0" fmla="*/ 0 w 31"/>
                <a:gd name="T1" fmla="*/ 0 h 158"/>
                <a:gd name="T2" fmla="*/ 1 w 31"/>
                <a:gd name="T3" fmla="*/ 2 h 158"/>
                <a:gd name="T4" fmla="*/ 1 w 31"/>
                <a:gd name="T5" fmla="*/ 4 h 158"/>
                <a:gd name="T6" fmla="*/ 1 w 31"/>
                <a:gd name="T7" fmla="*/ 6 h 158"/>
                <a:gd name="T8" fmla="*/ 0 60000 65536"/>
                <a:gd name="T9" fmla="*/ 0 60000 65536"/>
                <a:gd name="T10" fmla="*/ 0 60000 65536"/>
                <a:gd name="T11" fmla="*/ 0 60000 65536"/>
                <a:gd name="T12" fmla="*/ 0 w 31"/>
                <a:gd name="T13" fmla="*/ 0 h 158"/>
                <a:gd name="T14" fmla="*/ 31 w 31"/>
                <a:gd name="T15" fmla="*/ 158 h 158"/>
              </a:gdLst>
              <a:ahLst/>
              <a:cxnLst>
                <a:cxn ang="T8">
                  <a:pos x="T0" y="T1"/>
                </a:cxn>
                <a:cxn ang="T9">
                  <a:pos x="T2" y="T3"/>
                </a:cxn>
                <a:cxn ang="T10">
                  <a:pos x="T4" y="T5"/>
                </a:cxn>
                <a:cxn ang="T11">
                  <a:pos x="T6" y="T7"/>
                </a:cxn>
              </a:cxnLst>
              <a:rect l="T12" t="T13" r="T14" b="T15"/>
              <a:pathLst>
                <a:path w="31" h="158">
                  <a:moveTo>
                    <a:pt x="0" y="0"/>
                  </a:moveTo>
                  <a:lnTo>
                    <a:pt x="19" y="45"/>
                  </a:lnTo>
                  <a:lnTo>
                    <a:pt x="17" y="100"/>
                  </a:lnTo>
                  <a:lnTo>
                    <a:pt x="30" y="15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5" name="Freeform 83"/>
            <p:cNvSpPr>
              <a:spLocks/>
            </p:cNvSpPr>
            <p:nvPr/>
          </p:nvSpPr>
          <p:spPr bwMode="auto">
            <a:xfrm>
              <a:off x="1021" y="736"/>
              <a:ext cx="6" cy="53"/>
            </a:xfrm>
            <a:custGeom>
              <a:avLst/>
              <a:gdLst>
                <a:gd name="T0" fmla="*/ 0 w 19"/>
                <a:gd name="T1" fmla="*/ 0 h 157"/>
                <a:gd name="T2" fmla="*/ 0 w 19"/>
                <a:gd name="T3" fmla="*/ 2 h 157"/>
                <a:gd name="T4" fmla="*/ 0 w 19"/>
                <a:gd name="T5" fmla="*/ 4 h 157"/>
                <a:gd name="T6" fmla="*/ 1 w 19"/>
                <a:gd name="T7" fmla="*/ 6 h 157"/>
                <a:gd name="T8" fmla="*/ 0 60000 65536"/>
                <a:gd name="T9" fmla="*/ 0 60000 65536"/>
                <a:gd name="T10" fmla="*/ 0 60000 65536"/>
                <a:gd name="T11" fmla="*/ 0 60000 65536"/>
                <a:gd name="T12" fmla="*/ 0 w 19"/>
                <a:gd name="T13" fmla="*/ 0 h 157"/>
                <a:gd name="T14" fmla="*/ 19 w 19"/>
                <a:gd name="T15" fmla="*/ 157 h 157"/>
              </a:gdLst>
              <a:ahLst/>
              <a:cxnLst>
                <a:cxn ang="T8">
                  <a:pos x="T0" y="T1"/>
                </a:cxn>
                <a:cxn ang="T9">
                  <a:pos x="T2" y="T3"/>
                </a:cxn>
                <a:cxn ang="T10">
                  <a:pos x="T4" y="T5"/>
                </a:cxn>
                <a:cxn ang="T11">
                  <a:pos x="T6" y="T7"/>
                </a:cxn>
              </a:cxnLst>
              <a:rect l="T12" t="T13" r="T14" b="T15"/>
              <a:pathLst>
                <a:path w="19" h="157">
                  <a:moveTo>
                    <a:pt x="0" y="0"/>
                  </a:moveTo>
                  <a:lnTo>
                    <a:pt x="0" y="52"/>
                  </a:lnTo>
                  <a:lnTo>
                    <a:pt x="14" y="103"/>
                  </a:lnTo>
                  <a:lnTo>
                    <a:pt x="18" y="15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6" name="Freeform 84"/>
            <p:cNvSpPr>
              <a:spLocks/>
            </p:cNvSpPr>
            <p:nvPr/>
          </p:nvSpPr>
          <p:spPr bwMode="auto">
            <a:xfrm>
              <a:off x="1141" y="685"/>
              <a:ext cx="25" cy="48"/>
            </a:xfrm>
            <a:custGeom>
              <a:avLst/>
              <a:gdLst>
                <a:gd name="T0" fmla="*/ 0 w 72"/>
                <a:gd name="T1" fmla="*/ 0 h 140"/>
                <a:gd name="T2" fmla="*/ 1 w 72"/>
                <a:gd name="T3" fmla="*/ 1 h 140"/>
                <a:gd name="T4" fmla="*/ 2 w 72"/>
                <a:gd name="T5" fmla="*/ 3 h 140"/>
                <a:gd name="T6" fmla="*/ 2 w 72"/>
                <a:gd name="T7" fmla="*/ 4 h 140"/>
                <a:gd name="T8" fmla="*/ 2 w 72"/>
                <a:gd name="T9" fmla="*/ 5 h 140"/>
                <a:gd name="T10" fmla="*/ 3 w 72"/>
                <a:gd name="T11" fmla="*/ 5 h 140"/>
                <a:gd name="T12" fmla="*/ 3 w 72"/>
                <a:gd name="T13" fmla="*/ 3 h 140"/>
                <a:gd name="T14" fmla="*/ 2 w 72"/>
                <a:gd name="T15" fmla="*/ 1 h 140"/>
                <a:gd name="T16" fmla="*/ 1 w 72"/>
                <a:gd name="T17" fmla="*/ 0 h 1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140"/>
                <a:gd name="T29" fmla="*/ 72 w 72"/>
                <a:gd name="T30" fmla="*/ 140 h 1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140">
                  <a:moveTo>
                    <a:pt x="0" y="5"/>
                  </a:moveTo>
                  <a:lnTo>
                    <a:pt x="32" y="37"/>
                  </a:lnTo>
                  <a:lnTo>
                    <a:pt x="39" y="75"/>
                  </a:lnTo>
                  <a:lnTo>
                    <a:pt x="52" y="113"/>
                  </a:lnTo>
                  <a:lnTo>
                    <a:pt x="52" y="139"/>
                  </a:lnTo>
                  <a:lnTo>
                    <a:pt x="71" y="126"/>
                  </a:lnTo>
                  <a:lnTo>
                    <a:pt x="64" y="69"/>
                  </a:lnTo>
                  <a:lnTo>
                    <a:pt x="51" y="29"/>
                  </a:lnTo>
                  <a:lnTo>
                    <a:pt x="3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 name="Freeform 85"/>
            <p:cNvSpPr>
              <a:spLocks/>
            </p:cNvSpPr>
            <p:nvPr/>
          </p:nvSpPr>
          <p:spPr bwMode="auto">
            <a:xfrm>
              <a:off x="1251" y="637"/>
              <a:ext cx="6" cy="57"/>
            </a:xfrm>
            <a:custGeom>
              <a:avLst/>
              <a:gdLst>
                <a:gd name="T0" fmla="*/ 0 w 17"/>
                <a:gd name="T1" fmla="*/ 0 h 167"/>
                <a:gd name="T2" fmla="*/ 0 w 17"/>
                <a:gd name="T3" fmla="*/ 3 h 167"/>
                <a:gd name="T4" fmla="*/ 0 w 17"/>
                <a:gd name="T5" fmla="*/ 4 h 167"/>
                <a:gd name="T6" fmla="*/ 1 w 17"/>
                <a:gd name="T7" fmla="*/ 6 h 167"/>
                <a:gd name="T8" fmla="*/ 0 60000 65536"/>
                <a:gd name="T9" fmla="*/ 0 60000 65536"/>
                <a:gd name="T10" fmla="*/ 0 60000 65536"/>
                <a:gd name="T11" fmla="*/ 0 60000 65536"/>
                <a:gd name="T12" fmla="*/ 0 w 17"/>
                <a:gd name="T13" fmla="*/ 0 h 167"/>
                <a:gd name="T14" fmla="*/ 17 w 17"/>
                <a:gd name="T15" fmla="*/ 167 h 167"/>
              </a:gdLst>
              <a:ahLst/>
              <a:cxnLst>
                <a:cxn ang="T8">
                  <a:pos x="T0" y="T1"/>
                </a:cxn>
                <a:cxn ang="T9">
                  <a:pos x="T2" y="T3"/>
                </a:cxn>
                <a:cxn ang="T10">
                  <a:pos x="T4" y="T5"/>
                </a:cxn>
                <a:cxn ang="T11">
                  <a:pos x="T6" y="T7"/>
                </a:cxn>
              </a:cxnLst>
              <a:rect l="T12" t="T13" r="T14" b="T15"/>
              <a:pathLst>
                <a:path w="17" h="167">
                  <a:moveTo>
                    <a:pt x="0" y="0"/>
                  </a:moveTo>
                  <a:lnTo>
                    <a:pt x="0" y="65"/>
                  </a:lnTo>
                  <a:lnTo>
                    <a:pt x="8" y="115"/>
                  </a:lnTo>
                  <a:lnTo>
                    <a:pt x="16" y="166"/>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8" name="Freeform 86"/>
            <p:cNvSpPr>
              <a:spLocks/>
            </p:cNvSpPr>
            <p:nvPr/>
          </p:nvSpPr>
          <p:spPr bwMode="auto">
            <a:xfrm>
              <a:off x="636" y="951"/>
              <a:ext cx="49" cy="18"/>
            </a:xfrm>
            <a:custGeom>
              <a:avLst/>
              <a:gdLst>
                <a:gd name="T0" fmla="*/ 0 w 145"/>
                <a:gd name="T1" fmla="*/ 0 h 52"/>
                <a:gd name="T2" fmla="*/ 2 w 145"/>
                <a:gd name="T3" fmla="*/ 1 h 52"/>
                <a:gd name="T4" fmla="*/ 4 w 145"/>
                <a:gd name="T5" fmla="*/ 1 h 52"/>
                <a:gd name="T6" fmla="*/ 6 w 145"/>
                <a:gd name="T7" fmla="*/ 2 h 52"/>
                <a:gd name="T8" fmla="*/ 0 60000 65536"/>
                <a:gd name="T9" fmla="*/ 0 60000 65536"/>
                <a:gd name="T10" fmla="*/ 0 60000 65536"/>
                <a:gd name="T11" fmla="*/ 0 60000 65536"/>
                <a:gd name="T12" fmla="*/ 0 w 145"/>
                <a:gd name="T13" fmla="*/ 0 h 52"/>
                <a:gd name="T14" fmla="*/ 145 w 145"/>
                <a:gd name="T15" fmla="*/ 52 h 52"/>
              </a:gdLst>
              <a:ahLst/>
              <a:cxnLst>
                <a:cxn ang="T8">
                  <a:pos x="T0" y="T1"/>
                </a:cxn>
                <a:cxn ang="T9">
                  <a:pos x="T2" y="T3"/>
                </a:cxn>
                <a:cxn ang="T10">
                  <a:pos x="T4" y="T5"/>
                </a:cxn>
                <a:cxn ang="T11">
                  <a:pos x="T6" y="T7"/>
                </a:cxn>
              </a:cxnLst>
              <a:rect l="T12" t="T13" r="T14" b="T15"/>
              <a:pathLst>
                <a:path w="145" h="52">
                  <a:moveTo>
                    <a:pt x="0" y="0"/>
                  </a:moveTo>
                  <a:lnTo>
                    <a:pt x="51" y="32"/>
                  </a:lnTo>
                  <a:lnTo>
                    <a:pt x="103" y="35"/>
                  </a:lnTo>
                  <a:lnTo>
                    <a:pt x="144" y="51"/>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9" name="Freeform 87"/>
            <p:cNvSpPr>
              <a:spLocks/>
            </p:cNvSpPr>
            <p:nvPr/>
          </p:nvSpPr>
          <p:spPr bwMode="auto">
            <a:xfrm>
              <a:off x="795" y="759"/>
              <a:ext cx="6" cy="76"/>
            </a:xfrm>
            <a:custGeom>
              <a:avLst/>
              <a:gdLst>
                <a:gd name="T0" fmla="*/ 1 w 17"/>
                <a:gd name="T1" fmla="*/ 0 h 225"/>
                <a:gd name="T2" fmla="*/ 1 w 17"/>
                <a:gd name="T3" fmla="*/ 3 h 225"/>
                <a:gd name="T4" fmla="*/ 0 w 17"/>
                <a:gd name="T5" fmla="*/ 5 h 225"/>
                <a:gd name="T6" fmla="*/ 0 w 17"/>
                <a:gd name="T7" fmla="*/ 9 h 225"/>
                <a:gd name="T8" fmla="*/ 0 60000 65536"/>
                <a:gd name="T9" fmla="*/ 0 60000 65536"/>
                <a:gd name="T10" fmla="*/ 0 60000 65536"/>
                <a:gd name="T11" fmla="*/ 0 60000 65536"/>
                <a:gd name="T12" fmla="*/ 0 w 17"/>
                <a:gd name="T13" fmla="*/ 0 h 225"/>
                <a:gd name="T14" fmla="*/ 17 w 17"/>
                <a:gd name="T15" fmla="*/ 225 h 225"/>
              </a:gdLst>
              <a:ahLst/>
              <a:cxnLst>
                <a:cxn ang="T8">
                  <a:pos x="T0" y="T1"/>
                </a:cxn>
                <a:cxn ang="T9">
                  <a:pos x="T2" y="T3"/>
                </a:cxn>
                <a:cxn ang="T10">
                  <a:pos x="T4" y="T5"/>
                </a:cxn>
                <a:cxn ang="T11">
                  <a:pos x="T6" y="T7"/>
                </a:cxn>
              </a:cxnLst>
              <a:rect l="T12" t="T13" r="T14" b="T15"/>
              <a:pathLst>
                <a:path w="17" h="225">
                  <a:moveTo>
                    <a:pt x="16" y="0"/>
                  </a:moveTo>
                  <a:lnTo>
                    <a:pt x="16" y="70"/>
                  </a:lnTo>
                  <a:lnTo>
                    <a:pt x="8" y="128"/>
                  </a:lnTo>
                  <a:lnTo>
                    <a:pt x="0" y="224"/>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0" name="Freeform 88"/>
            <p:cNvSpPr>
              <a:spLocks/>
            </p:cNvSpPr>
            <p:nvPr/>
          </p:nvSpPr>
          <p:spPr bwMode="auto">
            <a:xfrm>
              <a:off x="1055" y="1295"/>
              <a:ext cx="35" cy="22"/>
            </a:xfrm>
            <a:custGeom>
              <a:avLst/>
              <a:gdLst>
                <a:gd name="T0" fmla="*/ 0 w 104"/>
                <a:gd name="T1" fmla="*/ 2 h 65"/>
                <a:gd name="T2" fmla="*/ 2 w 104"/>
                <a:gd name="T3" fmla="*/ 1 h 65"/>
                <a:gd name="T4" fmla="*/ 3 w 104"/>
                <a:gd name="T5" fmla="*/ 0 h 65"/>
                <a:gd name="T6" fmla="*/ 4 w 104"/>
                <a:gd name="T7" fmla="*/ 0 h 65"/>
                <a:gd name="T8" fmla="*/ 0 60000 65536"/>
                <a:gd name="T9" fmla="*/ 0 60000 65536"/>
                <a:gd name="T10" fmla="*/ 0 60000 65536"/>
                <a:gd name="T11" fmla="*/ 0 60000 65536"/>
                <a:gd name="T12" fmla="*/ 0 w 104"/>
                <a:gd name="T13" fmla="*/ 0 h 65"/>
                <a:gd name="T14" fmla="*/ 104 w 104"/>
                <a:gd name="T15" fmla="*/ 65 h 65"/>
              </a:gdLst>
              <a:ahLst/>
              <a:cxnLst>
                <a:cxn ang="T8">
                  <a:pos x="T0" y="T1"/>
                </a:cxn>
                <a:cxn ang="T9">
                  <a:pos x="T2" y="T3"/>
                </a:cxn>
                <a:cxn ang="T10">
                  <a:pos x="T4" y="T5"/>
                </a:cxn>
                <a:cxn ang="T11">
                  <a:pos x="T6" y="T7"/>
                </a:cxn>
              </a:cxnLst>
              <a:rect l="T12" t="T13" r="T14" b="T15"/>
              <a:pathLst>
                <a:path w="104" h="65">
                  <a:moveTo>
                    <a:pt x="0" y="64"/>
                  </a:moveTo>
                  <a:lnTo>
                    <a:pt x="52" y="32"/>
                  </a:lnTo>
                  <a:lnTo>
                    <a:pt x="84" y="6"/>
                  </a:lnTo>
                  <a:lnTo>
                    <a:pt x="103"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1" name="Freeform 89"/>
            <p:cNvSpPr>
              <a:spLocks/>
            </p:cNvSpPr>
            <p:nvPr/>
          </p:nvSpPr>
          <p:spPr bwMode="auto">
            <a:xfrm>
              <a:off x="1118" y="1255"/>
              <a:ext cx="46" cy="20"/>
            </a:xfrm>
            <a:custGeom>
              <a:avLst/>
              <a:gdLst>
                <a:gd name="T0" fmla="*/ 0 w 135"/>
                <a:gd name="T1" fmla="*/ 2 h 59"/>
                <a:gd name="T2" fmla="*/ 3 w 135"/>
                <a:gd name="T3" fmla="*/ 1 h 59"/>
                <a:gd name="T4" fmla="*/ 4 w 135"/>
                <a:gd name="T5" fmla="*/ 0 h 59"/>
                <a:gd name="T6" fmla="*/ 5 w 135"/>
                <a:gd name="T7" fmla="*/ 0 h 59"/>
                <a:gd name="T8" fmla="*/ 0 60000 65536"/>
                <a:gd name="T9" fmla="*/ 0 60000 65536"/>
                <a:gd name="T10" fmla="*/ 0 60000 65536"/>
                <a:gd name="T11" fmla="*/ 0 60000 65536"/>
                <a:gd name="T12" fmla="*/ 0 w 135"/>
                <a:gd name="T13" fmla="*/ 0 h 59"/>
                <a:gd name="T14" fmla="*/ 135 w 135"/>
                <a:gd name="T15" fmla="*/ 59 h 59"/>
              </a:gdLst>
              <a:ahLst/>
              <a:cxnLst>
                <a:cxn ang="T8">
                  <a:pos x="T0" y="T1"/>
                </a:cxn>
                <a:cxn ang="T9">
                  <a:pos x="T2" y="T3"/>
                </a:cxn>
                <a:cxn ang="T10">
                  <a:pos x="T4" y="T5"/>
                </a:cxn>
                <a:cxn ang="T11">
                  <a:pos x="T6" y="T7"/>
                </a:cxn>
              </a:cxnLst>
              <a:rect l="T12" t="T13" r="T14" b="T15"/>
              <a:pathLst>
                <a:path w="135" h="59">
                  <a:moveTo>
                    <a:pt x="0" y="58"/>
                  </a:moveTo>
                  <a:lnTo>
                    <a:pt x="70" y="32"/>
                  </a:lnTo>
                  <a:lnTo>
                    <a:pt x="109" y="13"/>
                  </a:lnTo>
                  <a:lnTo>
                    <a:pt x="13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2" name="Freeform 90"/>
            <p:cNvSpPr>
              <a:spLocks/>
            </p:cNvSpPr>
            <p:nvPr/>
          </p:nvSpPr>
          <p:spPr bwMode="auto">
            <a:xfrm>
              <a:off x="817" y="1038"/>
              <a:ext cx="34" cy="18"/>
            </a:xfrm>
            <a:custGeom>
              <a:avLst/>
              <a:gdLst>
                <a:gd name="T0" fmla="*/ 0 w 104"/>
                <a:gd name="T1" fmla="*/ 2 h 53"/>
                <a:gd name="T2" fmla="*/ 2 w 104"/>
                <a:gd name="T3" fmla="*/ 1 h 53"/>
                <a:gd name="T4" fmla="*/ 3 w 104"/>
                <a:gd name="T5" fmla="*/ 0 h 53"/>
                <a:gd name="T6" fmla="*/ 4 w 104"/>
                <a:gd name="T7" fmla="*/ 0 h 53"/>
                <a:gd name="T8" fmla="*/ 0 60000 65536"/>
                <a:gd name="T9" fmla="*/ 0 60000 65536"/>
                <a:gd name="T10" fmla="*/ 0 60000 65536"/>
                <a:gd name="T11" fmla="*/ 0 60000 65536"/>
                <a:gd name="T12" fmla="*/ 0 w 104"/>
                <a:gd name="T13" fmla="*/ 0 h 53"/>
                <a:gd name="T14" fmla="*/ 104 w 104"/>
                <a:gd name="T15" fmla="*/ 53 h 53"/>
              </a:gdLst>
              <a:ahLst/>
              <a:cxnLst>
                <a:cxn ang="T8">
                  <a:pos x="T0" y="T1"/>
                </a:cxn>
                <a:cxn ang="T9">
                  <a:pos x="T2" y="T3"/>
                </a:cxn>
                <a:cxn ang="T10">
                  <a:pos x="T4" y="T5"/>
                </a:cxn>
                <a:cxn ang="T11">
                  <a:pos x="T6" y="T7"/>
                </a:cxn>
              </a:cxnLst>
              <a:rect l="T12" t="T13" r="T14" b="T15"/>
              <a:pathLst>
                <a:path w="104" h="53">
                  <a:moveTo>
                    <a:pt x="0" y="52"/>
                  </a:moveTo>
                  <a:lnTo>
                    <a:pt x="58" y="32"/>
                  </a:lnTo>
                  <a:lnTo>
                    <a:pt x="77" y="13"/>
                  </a:lnTo>
                  <a:lnTo>
                    <a:pt x="103"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3" name="Freeform 91"/>
            <p:cNvSpPr>
              <a:spLocks/>
            </p:cNvSpPr>
            <p:nvPr/>
          </p:nvSpPr>
          <p:spPr bwMode="auto">
            <a:xfrm>
              <a:off x="849" y="1110"/>
              <a:ext cx="11" cy="6"/>
            </a:xfrm>
            <a:custGeom>
              <a:avLst/>
              <a:gdLst>
                <a:gd name="T0" fmla="*/ 0 w 33"/>
                <a:gd name="T1" fmla="*/ 1 h 17"/>
                <a:gd name="T2" fmla="*/ 1 w 33"/>
                <a:gd name="T3" fmla="*/ 0 h 17"/>
                <a:gd name="T4" fmla="*/ 0 60000 65536"/>
                <a:gd name="T5" fmla="*/ 0 60000 65536"/>
                <a:gd name="T6" fmla="*/ 0 w 33"/>
                <a:gd name="T7" fmla="*/ 0 h 17"/>
                <a:gd name="T8" fmla="*/ 33 w 33"/>
                <a:gd name="T9" fmla="*/ 17 h 17"/>
              </a:gdLst>
              <a:ahLst/>
              <a:cxnLst>
                <a:cxn ang="T4">
                  <a:pos x="T0" y="T1"/>
                </a:cxn>
                <a:cxn ang="T5">
                  <a:pos x="T2" y="T3"/>
                </a:cxn>
              </a:cxnLst>
              <a:rect l="T6" t="T7" r="T8" b="T9"/>
              <a:pathLst>
                <a:path w="33" h="17">
                  <a:moveTo>
                    <a:pt x="0" y="16"/>
                  </a:moveTo>
                  <a:lnTo>
                    <a:pt x="3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4" name="Freeform 92"/>
            <p:cNvSpPr>
              <a:spLocks/>
            </p:cNvSpPr>
            <p:nvPr/>
          </p:nvSpPr>
          <p:spPr bwMode="auto">
            <a:xfrm>
              <a:off x="892" y="1003"/>
              <a:ext cx="24" cy="15"/>
            </a:xfrm>
            <a:custGeom>
              <a:avLst/>
              <a:gdLst>
                <a:gd name="T0" fmla="*/ 0 w 70"/>
                <a:gd name="T1" fmla="*/ 2 h 45"/>
                <a:gd name="T2" fmla="*/ 1 w 70"/>
                <a:gd name="T3" fmla="*/ 1 h 45"/>
                <a:gd name="T4" fmla="*/ 2 w 70"/>
                <a:gd name="T5" fmla="*/ 1 h 45"/>
                <a:gd name="T6" fmla="*/ 3 w 70"/>
                <a:gd name="T7" fmla="*/ 0 h 45"/>
                <a:gd name="T8" fmla="*/ 0 60000 65536"/>
                <a:gd name="T9" fmla="*/ 0 60000 65536"/>
                <a:gd name="T10" fmla="*/ 0 60000 65536"/>
                <a:gd name="T11" fmla="*/ 0 60000 65536"/>
                <a:gd name="T12" fmla="*/ 0 w 70"/>
                <a:gd name="T13" fmla="*/ 0 h 45"/>
                <a:gd name="T14" fmla="*/ 70 w 70"/>
                <a:gd name="T15" fmla="*/ 45 h 45"/>
              </a:gdLst>
              <a:ahLst/>
              <a:cxnLst>
                <a:cxn ang="T8">
                  <a:pos x="T0" y="T1"/>
                </a:cxn>
                <a:cxn ang="T9">
                  <a:pos x="T2" y="T3"/>
                </a:cxn>
                <a:cxn ang="T10">
                  <a:pos x="T4" y="T5"/>
                </a:cxn>
                <a:cxn ang="T11">
                  <a:pos x="T6" y="T7"/>
                </a:cxn>
              </a:cxnLst>
              <a:rect l="T12" t="T13" r="T14" b="T15"/>
              <a:pathLst>
                <a:path w="70" h="45">
                  <a:moveTo>
                    <a:pt x="0" y="44"/>
                  </a:moveTo>
                  <a:lnTo>
                    <a:pt x="32" y="29"/>
                  </a:lnTo>
                  <a:lnTo>
                    <a:pt x="53" y="15"/>
                  </a:lnTo>
                  <a:lnTo>
                    <a:pt x="69"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5" name="Freeform 93"/>
            <p:cNvSpPr>
              <a:spLocks/>
            </p:cNvSpPr>
            <p:nvPr/>
          </p:nvSpPr>
          <p:spPr bwMode="auto">
            <a:xfrm>
              <a:off x="924" y="1069"/>
              <a:ext cx="23" cy="15"/>
            </a:xfrm>
            <a:custGeom>
              <a:avLst/>
              <a:gdLst>
                <a:gd name="T0" fmla="*/ 0 w 69"/>
                <a:gd name="T1" fmla="*/ 2 h 46"/>
                <a:gd name="T2" fmla="*/ 1 w 69"/>
                <a:gd name="T3" fmla="*/ 1 h 46"/>
                <a:gd name="T4" fmla="*/ 1 w 69"/>
                <a:gd name="T5" fmla="*/ 1 h 46"/>
                <a:gd name="T6" fmla="*/ 2 w 69"/>
                <a:gd name="T7" fmla="*/ 0 h 46"/>
                <a:gd name="T8" fmla="*/ 3 w 69"/>
                <a:gd name="T9" fmla="*/ 0 h 46"/>
                <a:gd name="T10" fmla="*/ 0 60000 65536"/>
                <a:gd name="T11" fmla="*/ 0 60000 65536"/>
                <a:gd name="T12" fmla="*/ 0 60000 65536"/>
                <a:gd name="T13" fmla="*/ 0 60000 65536"/>
                <a:gd name="T14" fmla="*/ 0 60000 65536"/>
                <a:gd name="T15" fmla="*/ 0 w 69"/>
                <a:gd name="T16" fmla="*/ 0 h 46"/>
                <a:gd name="T17" fmla="*/ 69 w 69"/>
                <a:gd name="T18" fmla="*/ 46 h 46"/>
              </a:gdLst>
              <a:ahLst/>
              <a:cxnLst>
                <a:cxn ang="T10">
                  <a:pos x="T0" y="T1"/>
                </a:cxn>
                <a:cxn ang="T11">
                  <a:pos x="T2" y="T3"/>
                </a:cxn>
                <a:cxn ang="T12">
                  <a:pos x="T4" y="T5"/>
                </a:cxn>
                <a:cxn ang="T13">
                  <a:pos x="T6" y="T7"/>
                </a:cxn>
                <a:cxn ang="T14">
                  <a:pos x="T8" y="T9"/>
                </a:cxn>
              </a:cxnLst>
              <a:rect l="T15" t="T16" r="T17" b="T18"/>
              <a:pathLst>
                <a:path w="69" h="46">
                  <a:moveTo>
                    <a:pt x="0" y="45"/>
                  </a:moveTo>
                  <a:lnTo>
                    <a:pt x="22" y="30"/>
                  </a:lnTo>
                  <a:lnTo>
                    <a:pt x="35" y="21"/>
                  </a:lnTo>
                  <a:lnTo>
                    <a:pt x="49" y="8"/>
                  </a:lnTo>
                  <a:lnTo>
                    <a:pt x="68"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6" name="Freeform 94"/>
            <p:cNvSpPr>
              <a:spLocks/>
            </p:cNvSpPr>
            <p:nvPr/>
          </p:nvSpPr>
          <p:spPr bwMode="auto">
            <a:xfrm>
              <a:off x="883" y="785"/>
              <a:ext cx="6" cy="71"/>
            </a:xfrm>
            <a:custGeom>
              <a:avLst/>
              <a:gdLst>
                <a:gd name="T0" fmla="*/ 1 w 17"/>
                <a:gd name="T1" fmla="*/ 0 h 211"/>
                <a:gd name="T2" fmla="*/ 0 w 17"/>
                <a:gd name="T3" fmla="*/ 2 h 211"/>
                <a:gd name="T4" fmla="*/ 0 w 17"/>
                <a:gd name="T5" fmla="*/ 4 h 211"/>
                <a:gd name="T6" fmla="*/ 0 w 17"/>
                <a:gd name="T7" fmla="*/ 5 h 211"/>
                <a:gd name="T8" fmla="*/ 0 w 17"/>
                <a:gd name="T9" fmla="*/ 7 h 211"/>
                <a:gd name="T10" fmla="*/ 0 w 17"/>
                <a:gd name="T11" fmla="*/ 8 h 211"/>
                <a:gd name="T12" fmla="*/ 0 60000 65536"/>
                <a:gd name="T13" fmla="*/ 0 60000 65536"/>
                <a:gd name="T14" fmla="*/ 0 60000 65536"/>
                <a:gd name="T15" fmla="*/ 0 60000 65536"/>
                <a:gd name="T16" fmla="*/ 0 60000 65536"/>
                <a:gd name="T17" fmla="*/ 0 60000 65536"/>
                <a:gd name="T18" fmla="*/ 0 w 17"/>
                <a:gd name="T19" fmla="*/ 0 h 211"/>
                <a:gd name="T20" fmla="*/ 17 w 17"/>
                <a:gd name="T21" fmla="*/ 211 h 211"/>
              </a:gdLst>
              <a:ahLst/>
              <a:cxnLst>
                <a:cxn ang="T12">
                  <a:pos x="T0" y="T1"/>
                </a:cxn>
                <a:cxn ang="T13">
                  <a:pos x="T2" y="T3"/>
                </a:cxn>
                <a:cxn ang="T14">
                  <a:pos x="T4" y="T5"/>
                </a:cxn>
                <a:cxn ang="T15">
                  <a:pos x="T6" y="T7"/>
                </a:cxn>
                <a:cxn ang="T16">
                  <a:pos x="T8" y="T9"/>
                </a:cxn>
                <a:cxn ang="T17">
                  <a:pos x="T10" y="T11"/>
                </a:cxn>
              </a:cxnLst>
              <a:rect l="T18" t="T19" r="T20" b="T21"/>
              <a:pathLst>
                <a:path w="17" h="211">
                  <a:moveTo>
                    <a:pt x="16" y="0"/>
                  </a:moveTo>
                  <a:lnTo>
                    <a:pt x="0" y="58"/>
                  </a:lnTo>
                  <a:lnTo>
                    <a:pt x="0" y="96"/>
                  </a:lnTo>
                  <a:lnTo>
                    <a:pt x="0" y="139"/>
                  </a:lnTo>
                  <a:lnTo>
                    <a:pt x="12" y="171"/>
                  </a:lnTo>
                  <a:lnTo>
                    <a:pt x="6" y="21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7" name="Freeform 95"/>
            <p:cNvSpPr>
              <a:spLocks/>
            </p:cNvSpPr>
            <p:nvPr/>
          </p:nvSpPr>
          <p:spPr bwMode="auto">
            <a:xfrm>
              <a:off x="1062" y="712"/>
              <a:ext cx="56" cy="39"/>
            </a:xfrm>
            <a:custGeom>
              <a:avLst/>
              <a:gdLst>
                <a:gd name="T0" fmla="*/ 0 w 164"/>
                <a:gd name="T1" fmla="*/ 4 h 116"/>
                <a:gd name="T2" fmla="*/ 2 w 164"/>
                <a:gd name="T3" fmla="*/ 3 h 116"/>
                <a:gd name="T4" fmla="*/ 4 w 164"/>
                <a:gd name="T5" fmla="*/ 2 h 116"/>
                <a:gd name="T6" fmla="*/ 5 w 164"/>
                <a:gd name="T7" fmla="*/ 0 h 116"/>
                <a:gd name="T8" fmla="*/ 6 w 164"/>
                <a:gd name="T9" fmla="*/ 0 h 116"/>
                <a:gd name="T10" fmla="*/ 0 60000 65536"/>
                <a:gd name="T11" fmla="*/ 0 60000 65536"/>
                <a:gd name="T12" fmla="*/ 0 60000 65536"/>
                <a:gd name="T13" fmla="*/ 0 60000 65536"/>
                <a:gd name="T14" fmla="*/ 0 60000 65536"/>
                <a:gd name="T15" fmla="*/ 0 w 164"/>
                <a:gd name="T16" fmla="*/ 0 h 116"/>
                <a:gd name="T17" fmla="*/ 164 w 164"/>
                <a:gd name="T18" fmla="*/ 116 h 116"/>
              </a:gdLst>
              <a:ahLst/>
              <a:cxnLst>
                <a:cxn ang="T10">
                  <a:pos x="T0" y="T1"/>
                </a:cxn>
                <a:cxn ang="T11">
                  <a:pos x="T2" y="T3"/>
                </a:cxn>
                <a:cxn ang="T12">
                  <a:pos x="T4" y="T5"/>
                </a:cxn>
                <a:cxn ang="T13">
                  <a:pos x="T6" y="T7"/>
                </a:cxn>
                <a:cxn ang="T14">
                  <a:pos x="T8" y="T9"/>
                </a:cxn>
              </a:cxnLst>
              <a:rect l="T15" t="T16" r="T17" b="T18"/>
              <a:pathLst>
                <a:path w="164" h="116">
                  <a:moveTo>
                    <a:pt x="0" y="115"/>
                  </a:moveTo>
                  <a:lnTo>
                    <a:pt x="58" y="91"/>
                  </a:lnTo>
                  <a:lnTo>
                    <a:pt x="91" y="63"/>
                  </a:lnTo>
                  <a:lnTo>
                    <a:pt x="120" y="10"/>
                  </a:lnTo>
                  <a:lnTo>
                    <a:pt x="163"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 name="Freeform 96"/>
            <p:cNvSpPr>
              <a:spLocks/>
            </p:cNvSpPr>
            <p:nvPr/>
          </p:nvSpPr>
          <p:spPr bwMode="auto">
            <a:xfrm>
              <a:off x="1208" y="668"/>
              <a:ext cx="6" cy="10"/>
            </a:xfrm>
            <a:custGeom>
              <a:avLst/>
              <a:gdLst>
                <a:gd name="T0" fmla="*/ 0 w 17"/>
                <a:gd name="T1" fmla="*/ 0 h 29"/>
                <a:gd name="T2" fmla="*/ 1 w 17"/>
                <a:gd name="T3" fmla="*/ 1 h 29"/>
                <a:gd name="T4" fmla="*/ 0 60000 65536"/>
                <a:gd name="T5" fmla="*/ 0 60000 65536"/>
                <a:gd name="T6" fmla="*/ 0 w 17"/>
                <a:gd name="T7" fmla="*/ 0 h 29"/>
                <a:gd name="T8" fmla="*/ 17 w 17"/>
                <a:gd name="T9" fmla="*/ 29 h 29"/>
              </a:gdLst>
              <a:ahLst/>
              <a:cxnLst>
                <a:cxn ang="T4">
                  <a:pos x="T0" y="T1"/>
                </a:cxn>
                <a:cxn ang="T5">
                  <a:pos x="T2" y="T3"/>
                </a:cxn>
              </a:cxnLst>
              <a:rect l="T6" t="T7" r="T8" b="T9"/>
              <a:pathLst>
                <a:path w="17" h="29">
                  <a:moveTo>
                    <a:pt x="0" y="0"/>
                  </a:moveTo>
                  <a:lnTo>
                    <a:pt x="16" y="2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9" name="Freeform 97" descr="5%"/>
            <p:cNvSpPr>
              <a:spLocks/>
            </p:cNvSpPr>
            <p:nvPr/>
          </p:nvSpPr>
          <p:spPr bwMode="auto">
            <a:xfrm>
              <a:off x="986" y="669"/>
              <a:ext cx="109" cy="43"/>
            </a:xfrm>
            <a:custGeom>
              <a:avLst/>
              <a:gdLst>
                <a:gd name="T0" fmla="*/ 0 w 322"/>
                <a:gd name="T1" fmla="*/ 5 h 126"/>
                <a:gd name="T2" fmla="*/ 4 w 322"/>
                <a:gd name="T3" fmla="*/ 4 h 126"/>
                <a:gd name="T4" fmla="*/ 4 w 322"/>
                <a:gd name="T5" fmla="*/ 3 h 126"/>
                <a:gd name="T6" fmla="*/ 6 w 322"/>
                <a:gd name="T7" fmla="*/ 3 h 126"/>
                <a:gd name="T8" fmla="*/ 8 w 322"/>
                <a:gd name="T9" fmla="*/ 2 h 126"/>
                <a:gd name="T10" fmla="*/ 10 w 322"/>
                <a:gd name="T11" fmla="*/ 1 h 126"/>
                <a:gd name="T12" fmla="*/ 13 w 322"/>
                <a:gd name="T13" fmla="*/ 0 h 126"/>
                <a:gd name="T14" fmla="*/ 0 60000 65536"/>
                <a:gd name="T15" fmla="*/ 0 60000 65536"/>
                <a:gd name="T16" fmla="*/ 0 60000 65536"/>
                <a:gd name="T17" fmla="*/ 0 60000 65536"/>
                <a:gd name="T18" fmla="*/ 0 60000 65536"/>
                <a:gd name="T19" fmla="*/ 0 60000 65536"/>
                <a:gd name="T20" fmla="*/ 0 60000 65536"/>
                <a:gd name="T21" fmla="*/ 0 w 322"/>
                <a:gd name="T22" fmla="*/ 0 h 126"/>
                <a:gd name="T23" fmla="*/ 322 w 322"/>
                <a:gd name="T24" fmla="*/ 126 h 1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2" h="126">
                  <a:moveTo>
                    <a:pt x="0" y="125"/>
                  </a:moveTo>
                  <a:lnTo>
                    <a:pt x="100" y="101"/>
                  </a:lnTo>
                  <a:lnTo>
                    <a:pt x="110" y="72"/>
                  </a:lnTo>
                  <a:lnTo>
                    <a:pt x="163" y="68"/>
                  </a:lnTo>
                  <a:lnTo>
                    <a:pt x="201" y="48"/>
                  </a:lnTo>
                  <a:lnTo>
                    <a:pt x="273" y="29"/>
                  </a:lnTo>
                  <a:lnTo>
                    <a:pt x="321" y="0"/>
                  </a:lnTo>
                </a:path>
              </a:pathLst>
            </a:custGeom>
            <a:pattFill prst="pct5">
              <a:fgClr>
                <a:srgbClr val="3399FF"/>
              </a:fgClr>
              <a:bgClr>
                <a:schemeClr val="bg1"/>
              </a:bgClr>
            </a:pattFill>
            <a:ln w="6350" cap="rnd">
              <a:solidFill>
                <a:schemeClr val="tx1"/>
              </a:solidFill>
              <a:round/>
              <a:headEnd type="none" w="sm" len="sm"/>
              <a:tailEnd type="none" w="sm" len="sm"/>
            </a:ln>
          </p:spPr>
          <p:txBody>
            <a:bodyPr/>
            <a:lstStyle/>
            <a:p>
              <a:endParaRPr lang="zh-CN" altLang="en-US"/>
            </a:p>
          </p:txBody>
        </p:sp>
        <p:sp>
          <p:nvSpPr>
            <p:cNvPr id="340" name="Freeform 98"/>
            <p:cNvSpPr>
              <a:spLocks/>
            </p:cNvSpPr>
            <p:nvPr/>
          </p:nvSpPr>
          <p:spPr bwMode="auto">
            <a:xfrm>
              <a:off x="1109" y="660"/>
              <a:ext cx="9" cy="6"/>
            </a:xfrm>
            <a:custGeom>
              <a:avLst/>
              <a:gdLst>
                <a:gd name="T0" fmla="*/ 0 w 25"/>
                <a:gd name="T1" fmla="*/ 1 h 20"/>
                <a:gd name="T2" fmla="*/ 1 w 25"/>
                <a:gd name="T3" fmla="*/ 0 h 20"/>
                <a:gd name="T4" fmla="*/ 0 60000 65536"/>
                <a:gd name="T5" fmla="*/ 0 60000 65536"/>
                <a:gd name="T6" fmla="*/ 0 w 25"/>
                <a:gd name="T7" fmla="*/ 0 h 20"/>
                <a:gd name="T8" fmla="*/ 25 w 25"/>
                <a:gd name="T9" fmla="*/ 20 h 20"/>
              </a:gdLst>
              <a:ahLst/>
              <a:cxnLst>
                <a:cxn ang="T4">
                  <a:pos x="T0" y="T1"/>
                </a:cxn>
                <a:cxn ang="T5">
                  <a:pos x="T2" y="T3"/>
                </a:cxn>
              </a:cxnLst>
              <a:rect l="T6" t="T7" r="T8" b="T9"/>
              <a:pathLst>
                <a:path w="25" h="20">
                  <a:moveTo>
                    <a:pt x="0" y="19"/>
                  </a:moveTo>
                  <a:lnTo>
                    <a:pt x="2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1" name="Freeform 99"/>
            <p:cNvSpPr>
              <a:spLocks/>
            </p:cNvSpPr>
            <p:nvPr/>
          </p:nvSpPr>
          <p:spPr bwMode="auto">
            <a:xfrm>
              <a:off x="848" y="759"/>
              <a:ext cx="19" cy="12"/>
            </a:xfrm>
            <a:custGeom>
              <a:avLst/>
              <a:gdLst>
                <a:gd name="T0" fmla="*/ 0 w 58"/>
                <a:gd name="T1" fmla="*/ 1 h 35"/>
                <a:gd name="T2" fmla="*/ 1 w 58"/>
                <a:gd name="T3" fmla="*/ 0 h 35"/>
                <a:gd name="T4" fmla="*/ 2 w 58"/>
                <a:gd name="T5" fmla="*/ 0 h 35"/>
                <a:gd name="T6" fmla="*/ 0 60000 65536"/>
                <a:gd name="T7" fmla="*/ 0 60000 65536"/>
                <a:gd name="T8" fmla="*/ 0 60000 65536"/>
                <a:gd name="T9" fmla="*/ 0 w 58"/>
                <a:gd name="T10" fmla="*/ 0 h 35"/>
                <a:gd name="T11" fmla="*/ 58 w 58"/>
                <a:gd name="T12" fmla="*/ 35 h 35"/>
              </a:gdLst>
              <a:ahLst/>
              <a:cxnLst>
                <a:cxn ang="T6">
                  <a:pos x="T0" y="T1"/>
                </a:cxn>
                <a:cxn ang="T7">
                  <a:pos x="T2" y="T3"/>
                </a:cxn>
                <a:cxn ang="T8">
                  <a:pos x="T4" y="T5"/>
                </a:cxn>
              </a:cxnLst>
              <a:rect l="T9" t="T10" r="T11" b="T12"/>
              <a:pathLst>
                <a:path w="58" h="35">
                  <a:moveTo>
                    <a:pt x="0" y="34"/>
                  </a:moveTo>
                  <a:lnTo>
                    <a:pt x="28" y="10"/>
                  </a:lnTo>
                  <a:lnTo>
                    <a:pt x="57"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2" name="Freeform 100"/>
            <p:cNvSpPr>
              <a:spLocks/>
            </p:cNvSpPr>
            <p:nvPr/>
          </p:nvSpPr>
          <p:spPr bwMode="auto">
            <a:xfrm>
              <a:off x="600" y="917"/>
              <a:ext cx="65" cy="30"/>
            </a:xfrm>
            <a:custGeom>
              <a:avLst/>
              <a:gdLst>
                <a:gd name="T0" fmla="*/ 0 w 193"/>
                <a:gd name="T1" fmla="*/ 3 h 87"/>
                <a:gd name="T2" fmla="*/ 2 w 193"/>
                <a:gd name="T3" fmla="*/ 2 h 87"/>
                <a:gd name="T4" fmla="*/ 3 w 193"/>
                <a:gd name="T5" fmla="*/ 2 h 87"/>
                <a:gd name="T6" fmla="*/ 4 w 193"/>
                <a:gd name="T7" fmla="*/ 1 h 87"/>
                <a:gd name="T8" fmla="*/ 6 w 193"/>
                <a:gd name="T9" fmla="*/ 0 h 87"/>
                <a:gd name="T10" fmla="*/ 7 w 193"/>
                <a:gd name="T11" fmla="*/ 0 h 87"/>
                <a:gd name="T12" fmla="*/ 0 60000 65536"/>
                <a:gd name="T13" fmla="*/ 0 60000 65536"/>
                <a:gd name="T14" fmla="*/ 0 60000 65536"/>
                <a:gd name="T15" fmla="*/ 0 60000 65536"/>
                <a:gd name="T16" fmla="*/ 0 60000 65536"/>
                <a:gd name="T17" fmla="*/ 0 60000 65536"/>
                <a:gd name="T18" fmla="*/ 0 w 193"/>
                <a:gd name="T19" fmla="*/ 0 h 87"/>
                <a:gd name="T20" fmla="*/ 193 w 193"/>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193" h="87">
                  <a:moveTo>
                    <a:pt x="0" y="86"/>
                  </a:moveTo>
                  <a:lnTo>
                    <a:pt x="62" y="58"/>
                  </a:lnTo>
                  <a:lnTo>
                    <a:pt x="86" y="48"/>
                  </a:lnTo>
                  <a:lnTo>
                    <a:pt x="115" y="24"/>
                  </a:lnTo>
                  <a:lnTo>
                    <a:pt x="154" y="10"/>
                  </a:lnTo>
                  <a:lnTo>
                    <a:pt x="19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3" name="Freeform 101"/>
            <p:cNvSpPr>
              <a:spLocks/>
            </p:cNvSpPr>
            <p:nvPr/>
          </p:nvSpPr>
          <p:spPr bwMode="auto">
            <a:xfrm>
              <a:off x="743" y="850"/>
              <a:ext cx="65" cy="31"/>
            </a:xfrm>
            <a:custGeom>
              <a:avLst/>
              <a:gdLst>
                <a:gd name="T0" fmla="*/ 0 w 193"/>
                <a:gd name="T1" fmla="*/ 3 h 92"/>
                <a:gd name="T2" fmla="*/ 1 w 193"/>
                <a:gd name="T3" fmla="*/ 3 h 92"/>
                <a:gd name="T4" fmla="*/ 3 w 193"/>
                <a:gd name="T5" fmla="*/ 2 h 92"/>
                <a:gd name="T6" fmla="*/ 4 w 193"/>
                <a:gd name="T7" fmla="*/ 1 h 92"/>
                <a:gd name="T8" fmla="*/ 6 w 193"/>
                <a:gd name="T9" fmla="*/ 0 h 92"/>
                <a:gd name="T10" fmla="*/ 7 w 193"/>
                <a:gd name="T11" fmla="*/ 0 h 92"/>
                <a:gd name="T12" fmla="*/ 0 60000 65536"/>
                <a:gd name="T13" fmla="*/ 0 60000 65536"/>
                <a:gd name="T14" fmla="*/ 0 60000 65536"/>
                <a:gd name="T15" fmla="*/ 0 60000 65536"/>
                <a:gd name="T16" fmla="*/ 0 60000 65536"/>
                <a:gd name="T17" fmla="*/ 0 60000 65536"/>
                <a:gd name="T18" fmla="*/ 0 w 193"/>
                <a:gd name="T19" fmla="*/ 0 h 92"/>
                <a:gd name="T20" fmla="*/ 193 w 193"/>
                <a:gd name="T21" fmla="*/ 92 h 92"/>
              </a:gdLst>
              <a:ahLst/>
              <a:cxnLst>
                <a:cxn ang="T12">
                  <a:pos x="T0" y="T1"/>
                </a:cxn>
                <a:cxn ang="T13">
                  <a:pos x="T2" y="T3"/>
                </a:cxn>
                <a:cxn ang="T14">
                  <a:pos x="T4" y="T5"/>
                </a:cxn>
                <a:cxn ang="T15">
                  <a:pos x="T6" y="T7"/>
                </a:cxn>
                <a:cxn ang="T16">
                  <a:pos x="T8" y="T9"/>
                </a:cxn>
                <a:cxn ang="T17">
                  <a:pos x="T10" y="T11"/>
                </a:cxn>
              </a:cxnLst>
              <a:rect l="T18" t="T19" r="T20" b="T21"/>
              <a:pathLst>
                <a:path w="193" h="92">
                  <a:moveTo>
                    <a:pt x="0" y="91"/>
                  </a:moveTo>
                  <a:lnTo>
                    <a:pt x="34" y="72"/>
                  </a:lnTo>
                  <a:lnTo>
                    <a:pt x="72" y="48"/>
                  </a:lnTo>
                  <a:lnTo>
                    <a:pt x="120" y="34"/>
                  </a:lnTo>
                  <a:lnTo>
                    <a:pt x="159" y="10"/>
                  </a:lnTo>
                  <a:lnTo>
                    <a:pt x="19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4" name="Freeform 102"/>
            <p:cNvSpPr>
              <a:spLocks/>
            </p:cNvSpPr>
            <p:nvPr/>
          </p:nvSpPr>
          <p:spPr bwMode="auto">
            <a:xfrm>
              <a:off x="698" y="871"/>
              <a:ext cx="21" cy="16"/>
            </a:xfrm>
            <a:custGeom>
              <a:avLst/>
              <a:gdLst>
                <a:gd name="T0" fmla="*/ 0 w 63"/>
                <a:gd name="T1" fmla="*/ 0 h 44"/>
                <a:gd name="T2" fmla="*/ 1 w 63"/>
                <a:gd name="T3" fmla="*/ 1 h 44"/>
                <a:gd name="T4" fmla="*/ 2 w 63"/>
                <a:gd name="T5" fmla="*/ 2 h 44"/>
                <a:gd name="T6" fmla="*/ 0 60000 65536"/>
                <a:gd name="T7" fmla="*/ 0 60000 65536"/>
                <a:gd name="T8" fmla="*/ 0 60000 65536"/>
                <a:gd name="T9" fmla="*/ 0 w 63"/>
                <a:gd name="T10" fmla="*/ 0 h 44"/>
                <a:gd name="T11" fmla="*/ 63 w 63"/>
                <a:gd name="T12" fmla="*/ 44 h 44"/>
              </a:gdLst>
              <a:ahLst/>
              <a:cxnLst>
                <a:cxn ang="T6">
                  <a:pos x="T0" y="T1"/>
                </a:cxn>
                <a:cxn ang="T7">
                  <a:pos x="T2" y="T3"/>
                </a:cxn>
                <a:cxn ang="T8">
                  <a:pos x="T4" y="T5"/>
                </a:cxn>
              </a:cxnLst>
              <a:rect l="T9" t="T10" r="T11" b="T12"/>
              <a:pathLst>
                <a:path w="63" h="44">
                  <a:moveTo>
                    <a:pt x="0" y="0"/>
                  </a:moveTo>
                  <a:lnTo>
                    <a:pt x="38" y="14"/>
                  </a:lnTo>
                  <a:lnTo>
                    <a:pt x="62" y="43"/>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5" name="Freeform 103"/>
            <p:cNvSpPr>
              <a:spLocks/>
            </p:cNvSpPr>
            <p:nvPr/>
          </p:nvSpPr>
          <p:spPr bwMode="auto">
            <a:xfrm>
              <a:off x="914" y="897"/>
              <a:ext cx="46" cy="20"/>
            </a:xfrm>
            <a:custGeom>
              <a:avLst/>
              <a:gdLst>
                <a:gd name="T0" fmla="*/ 0 w 136"/>
                <a:gd name="T1" fmla="*/ 2 h 59"/>
                <a:gd name="T2" fmla="*/ 2 w 136"/>
                <a:gd name="T3" fmla="*/ 1 h 59"/>
                <a:gd name="T4" fmla="*/ 3 w 136"/>
                <a:gd name="T5" fmla="*/ 1 h 59"/>
                <a:gd name="T6" fmla="*/ 5 w 136"/>
                <a:gd name="T7" fmla="*/ 0 h 59"/>
                <a:gd name="T8" fmla="*/ 0 60000 65536"/>
                <a:gd name="T9" fmla="*/ 0 60000 65536"/>
                <a:gd name="T10" fmla="*/ 0 60000 65536"/>
                <a:gd name="T11" fmla="*/ 0 60000 65536"/>
                <a:gd name="T12" fmla="*/ 0 w 136"/>
                <a:gd name="T13" fmla="*/ 0 h 59"/>
                <a:gd name="T14" fmla="*/ 136 w 136"/>
                <a:gd name="T15" fmla="*/ 59 h 59"/>
              </a:gdLst>
              <a:ahLst/>
              <a:cxnLst>
                <a:cxn ang="T8">
                  <a:pos x="T0" y="T1"/>
                </a:cxn>
                <a:cxn ang="T9">
                  <a:pos x="T2" y="T3"/>
                </a:cxn>
                <a:cxn ang="T10">
                  <a:pos x="T4" y="T5"/>
                </a:cxn>
                <a:cxn ang="T11">
                  <a:pos x="T6" y="T7"/>
                </a:cxn>
              </a:cxnLst>
              <a:rect l="T12" t="T13" r="T14" b="T15"/>
              <a:pathLst>
                <a:path w="136" h="59">
                  <a:moveTo>
                    <a:pt x="0" y="58"/>
                  </a:moveTo>
                  <a:lnTo>
                    <a:pt x="48" y="39"/>
                  </a:lnTo>
                  <a:lnTo>
                    <a:pt x="82" y="15"/>
                  </a:lnTo>
                  <a:lnTo>
                    <a:pt x="135"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 name="Freeform 104"/>
            <p:cNvSpPr>
              <a:spLocks/>
            </p:cNvSpPr>
            <p:nvPr/>
          </p:nvSpPr>
          <p:spPr bwMode="auto">
            <a:xfrm>
              <a:off x="1030" y="887"/>
              <a:ext cx="57" cy="35"/>
            </a:xfrm>
            <a:custGeom>
              <a:avLst/>
              <a:gdLst>
                <a:gd name="T0" fmla="*/ 0 w 169"/>
                <a:gd name="T1" fmla="*/ 4 h 101"/>
                <a:gd name="T2" fmla="*/ 3 w 169"/>
                <a:gd name="T3" fmla="*/ 3 h 101"/>
                <a:gd name="T4" fmla="*/ 4 w 169"/>
                <a:gd name="T5" fmla="*/ 2 h 101"/>
                <a:gd name="T6" fmla="*/ 5 w 169"/>
                <a:gd name="T7" fmla="*/ 1 h 101"/>
                <a:gd name="T8" fmla="*/ 6 w 169"/>
                <a:gd name="T9" fmla="*/ 1 h 101"/>
                <a:gd name="T10" fmla="*/ 6 w 169"/>
                <a:gd name="T11" fmla="*/ 0 h 101"/>
                <a:gd name="T12" fmla="*/ 0 60000 65536"/>
                <a:gd name="T13" fmla="*/ 0 60000 65536"/>
                <a:gd name="T14" fmla="*/ 0 60000 65536"/>
                <a:gd name="T15" fmla="*/ 0 60000 65536"/>
                <a:gd name="T16" fmla="*/ 0 60000 65536"/>
                <a:gd name="T17" fmla="*/ 0 60000 65536"/>
                <a:gd name="T18" fmla="*/ 0 w 169"/>
                <a:gd name="T19" fmla="*/ 0 h 101"/>
                <a:gd name="T20" fmla="*/ 169 w 169"/>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169" h="101">
                  <a:moveTo>
                    <a:pt x="0" y="100"/>
                  </a:moveTo>
                  <a:lnTo>
                    <a:pt x="72" y="76"/>
                  </a:lnTo>
                  <a:lnTo>
                    <a:pt x="106" y="57"/>
                  </a:lnTo>
                  <a:lnTo>
                    <a:pt x="135" y="33"/>
                  </a:lnTo>
                  <a:lnTo>
                    <a:pt x="149" y="14"/>
                  </a:lnTo>
                  <a:lnTo>
                    <a:pt x="168"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7" name="Freeform 105"/>
            <p:cNvSpPr>
              <a:spLocks/>
            </p:cNvSpPr>
            <p:nvPr/>
          </p:nvSpPr>
          <p:spPr bwMode="auto">
            <a:xfrm>
              <a:off x="1100" y="858"/>
              <a:ext cx="27" cy="17"/>
            </a:xfrm>
            <a:custGeom>
              <a:avLst/>
              <a:gdLst>
                <a:gd name="T0" fmla="*/ 0 w 82"/>
                <a:gd name="T1" fmla="*/ 2 h 49"/>
                <a:gd name="T2" fmla="*/ 1 w 82"/>
                <a:gd name="T3" fmla="*/ 2 h 49"/>
                <a:gd name="T4" fmla="*/ 2 w 82"/>
                <a:gd name="T5" fmla="*/ 1 h 49"/>
                <a:gd name="T6" fmla="*/ 3 w 82"/>
                <a:gd name="T7" fmla="*/ 0 h 49"/>
                <a:gd name="T8" fmla="*/ 0 60000 65536"/>
                <a:gd name="T9" fmla="*/ 0 60000 65536"/>
                <a:gd name="T10" fmla="*/ 0 60000 65536"/>
                <a:gd name="T11" fmla="*/ 0 60000 65536"/>
                <a:gd name="T12" fmla="*/ 0 w 82"/>
                <a:gd name="T13" fmla="*/ 0 h 49"/>
                <a:gd name="T14" fmla="*/ 82 w 82"/>
                <a:gd name="T15" fmla="*/ 49 h 49"/>
              </a:gdLst>
              <a:ahLst/>
              <a:cxnLst>
                <a:cxn ang="T8">
                  <a:pos x="T0" y="T1"/>
                </a:cxn>
                <a:cxn ang="T9">
                  <a:pos x="T2" y="T3"/>
                </a:cxn>
                <a:cxn ang="T10">
                  <a:pos x="T4" y="T5"/>
                </a:cxn>
                <a:cxn ang="T11">
                  <a:pos x="T6" y="T7"/>
                </a:cxn>
              </a:cxnLst>
              <a:rect l="T12" t="T13" r="T14" b="T15"/>
              <a:pathLst>
                <a:path w="82" h="49">
                  <a:moveTo>
                    <a:pt x="0" y="48"/>
                  </a:moveTo>
                  <a:lnTo>
                    <a:pt x="24" y="39"/>
                  </a:lnTo>
                  <a:lnTo>
                    <a:pt x="52" y="19"/>
                  </a:lnTo>
                  <a:lnTo>
                    <a:pt x="81"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 name="Freeform 106"/>
            <p:cNvSpPr>
              <a:spLocks/>
            </p:cNvSpPr>
            <p:nvPr/>
          </p:nvSpPr>
          <p:spPr bwMode="auto">
            <a:xfrm>
              <a:off x="1101" y="811"/>
              <a:ext cx="56" cy="28"/>
            </a:xfrm>
            <a:custGeom>
              <a:avLst/>
              <a:gdLst>
                <a:gd name="T0" fmla="*/ 0 w 165"/>
                <a:gd name="T1" fmla="*/ 3 h 83"/>
                <a:gd name="T2" fmla="*/ 3 w 165"/>
                <a:gd name="T3" fmla="*/ 3 h 83"/>
                <a:gd name="T4" fmla="*/ 4 w 165"/>
                <a:gd name="T5" fmla="*/ 2 h 83"/>
                <a:gd name="T6" fmla="*/ 5 w 165"/>
                <a:gd name="T7" fmla="*/ 1 h 83"/>
                <a:gd name="T8" fmla="*/ 6 w 165"/>
                <a:gd name="T9" fmla="*/ 1 h 83"/>
                <a:gd name="T10" fmla="*/ 6 w 165"/>
                <a:gd name="T11" fmla="*/ 0 h 83"/>
                <a:gd name="T12" fmla="*/ 0 60000 65536"/>
                <a:gd name="T13" fmla="*/ 0 60000 65536"/>
                <a:gd name="T14" fmla="*/ 0 60000 65536"/>
                <a:gd name="T15" fmla="*/ 0 60000 65536"/>
                <a:gd name="T16" fmla="*/ 0 60000 65536"/>
                <a:gd name="T17" fmla="*/ 0 60000 65536"/>
                <a:gd name="T18" fmla="*/ 0 w 165"/>
                <a:gd name="T19" fmla="*/ 0 h 83"/>
                <a:gd name="T20" fmla="*/ 165 w 165"/>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165" h="83">
                  <a:moveTo>
                    <a:pt x="0" y="82"/>
                  </a:moveTo>
                  <a:lnTo>
                    <a:pt x="82" y="72"/>
                  </a:lnTo>
                  <a:lnTo>
                    <a:pt x="101" y="43"/>
                  </a:lnTo>
                  <a:lnTo>
                    <a:pt x="120" y="34"/>
                  </a:lnTo>
                  <a:lnTo>
                    <a:pt x="149" y="14"/>
                  </a:lnTo>
                  <a:lnTo>
                    <a:pt x="16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 name="Freeform 107"/>
            <p:cNvSpPr>
              <a:spLocks/>
            </p:cNvSpPr>
            <p:nvPr/>
          </p:nvSpPr>
          <p:spPr bwMode="auto">
            <a:xfrm>
              <a:off x="1259" y="731"/>
              <a:ext cx="65" cy="44"/>
            </a:xfrm>
            <a:custGeom>
              <a:avLst/>
              <a:gdLst>
                <a:gd name="T0" fmla="*/ 0 w 193"/>
                <a:gd name="T1" fmla="*/ 5 h 130"/>
                <a:gd name="T2" fmla="*/ 3 w 193"/>
                <a:gd name="T3" fmla="*/ 4 h 130"/>
                <a:gd name="T4" fmla="*/ 4 w 193"/>
                <a:gd name="T5" fmla="*/ 3 h 130"/>
                <a:gd name="T6" fmla="*/ 5 w 193"/>
                <a:gd name="T7" fmla="*/ 1 h 130"/>
                <a:gd name="T8" fmla="*/ 7 w 193"/>
                <a:gd name="T9" fmla="*/ 1 h 130"/>
                <a:gd name="T10" fmla="*/ 7 w 193"/>
                <a:gd name="T11" fmla="*/ 0 h 130"/>
                <a:gd name="T12" fmla="*/ 0 60000 65536"/>
                <a:gd name="T13" fmla="*/ 0 60000 65536"/>
                <a:gd name="T14" fmla="*/ 0 60000 65536"/>
                <a:gd name="T15" fmla="*/ 0 60000 65536"/>
                <a:gd name="T16" fmla="*/ 0 60000 65536"/>
                <a:gd name="T17" fmla="*/ 0 60000 65536"/>
                <a:gd name="T18" fmla="*/ 0 w 193"/>
                <a:gd name="T19" fmla="*/ 0 h 130"/>
                <a:gd name="T20" fmla="*/ 193 w 193"/>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193" h="130">
                  <a:moveTo>
                    <a:pt x="0" y="129"/>
                  </a:moveTo>
                  <a:lnTo>
                    <a:pt x="72" y="110"/>
                  </a:lnTo>
                  <a:lnTo>
                    <a:pt x="120" y="72"/>
                  </a:lnTo>
                  <a:lnTo>
                    <a:pt x="144" y="29"/>
                  </a:lnTo>
                  <a:lnTo>
                    <a:pt x="173" y="14"/>
                  </a:lnTo>
                  <a:lnTo>
                    <a:pt x="19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0" name="Freeform 108"/>
            <p:cNvSpPr>
              <a:spLocks/>
            </p:cNvSpPr>
            <p:nvPr/>
          </p:nvSpPr>
          <p:spPr bwMode="auto">
            <a:xfrm>
              <a:off x="1288" y="768"/>
              <a:ext cx="128" cy="61"/>
            </a:xfrm>
            <a:custGeom>
              <a:avLst/>
              <a:gdLst>
                <a:gd name="T0" fmla="*/ 0 w 377"/>
                <a:gd name="T1" fmla="*/ 0 h 180"/>
                <a:gd name="T2" fmla="*/ 0 w 377"/>
                <a:gd name="T3" fmla="*/ 1 h 180"/>
                <a:gd name="T4" fmla="*/ 1 w 377"/>
                <a:gd name="T5" fmla="*/ 1 h 180"/>
                <a:gd name="T6" fmla="*/ 3 w 377"/>
                <a:gd name="T7" fmla="*/ 1 h 180"/>
                <a:gd name="T8" fmla="*/ 4 w 377"/>
                <a:gd name="T9" fmla="*/ 2 h 180"/>
                <a:gd name="T10" fmla="*/ 4 w 377"/>
                <a:gd name="T11" fmla="*/ 2 h 180"/>
                <a:gd name="T12" fmla="*/ 6 w 377"/>
                <a:gd name="T13" fmla="*/ 3 h 180"/>
                <a:gd name="T14" fmla="*/ 7 w 377"/>
                <a:gd name="T15" fmla="*/ 3 h 180"/>
                <a:gd name="T16" fmla="*/ 8 w 377"/>
                <a:gd name="T17" fmla="*/ 4 h 180"/>
                <a:gd name="T18" fmla="*/ 10 w 377"/>
                <a:gd name="T19" fmla="*/ 5 h 180"/>
                <a:gd name="T20" fmla="*/ 11 w 377"/>
                <a:gd name="T21" fmla="*/ 5 h 180"/>
                <a:gd name="T22" fmla="*/ 13 w 377"/>
                <a:gd name="T23" fmla="*/ 6 h 180"/>
                <a:gd name="T24" fmla="*/ 14 w 377"/>
                <a:gd name="T25" fmla="*/ 6 h 180"/>
                <a:gd name="T26" fmla="*/ 14 w 377"/>
                <a:gd name="T27" fmla="*/ 7 h 180"/>
                <a:gd name="T28" fmla="*/ 15 w 377"/>
                <a:gd name="T29" fmla="*/ 7 h 180"/>
                <a:gd name="T30" fmla="*/ 15 w 377"/>
                <a:gd name="T31" fmla="*/ 7 h 180"/>
                <a:gd name="T32" fmla="*/ 14 w 377"/>
                <a:gd name="T33" fmla="*/ 6 h 180"/>
                <a:gd name="T34" fmla="*/ 13 w 377"/>
                <a:gd name="T35" fmla="*/ 6 h 180"/>
                <a:gd name="T36" fmla="*/ 13 w 377"/>
                <a:gd name="T37" fmla="*/ 6 h 180"/>
                <a:gd name="T38" fmla="*/ 12 w 377"/>
                <a:gd name="T39" fmla="*/ 5 h 180"/>
                <a:gd name="T40" fmla="*/ 11 w 377"/>
                <a:gd name="T41" fmla="*/ 5 h 180"/>
                <a:gd name="T42" fmla="*/ 10 w 377"/>
                <a:gd name="T43" fmla="*/ 5 h 180"/>
                <a:gd name="T44" fmla="*/ 10 w 377"/>
                <a:gd name="T45" fmla="*/ 4 h 180"/>
                <a:gd name="T46" fmla="*/ 9 w 377"/>
                <a:gd name="T47" fmla="*/ 4 h 180"/>
                <a:gd name="T48" fmla="*/ 8 w 377"/>
                <a:gd name="T49" fmla="*/ 4 h 180"/>
                <a:gd name="T50" fmla="*/ 7 w 377"/>
                <a:gd name="T51" fmla="*/ 3 h 180"/>
                <a:gd name="T52" fmla="*/ 7 w 377"/>
                <a:gd name="T53" fmla="*/ 3 h 180"/>
                <a:gd name="T54" fmla="*/ 6 w 377"/>
                <a:gd name="T55" fmla="*/ 3 h 180"/>
                <a:gd name="T56" fmla="*/ 5 w 377"/>
                <a:gd name="T57" fmla="*/ 2 h 180"/>
                <a:gd name="T58" fmla="*/ 5 w 377"/>
                <a:gd name="T59" fmla="*/ 2 h 180"/>
                <a:gd name="T60" fmla="*/ 4 w 377"/>
                <a:gd name="T61" fmla="*/ 2 h 180"/>
                <a:gd name="T62" fmla="*/ 3 w 377"/>
                <a:gd name="T63" fmla="*/ 1 h 180"/>
                <a:gd name="T64" fmla="*/ 3 w 377"/>
                <a:gd name="T65" fmla="*/ 1 h 180"/>
                <a:gd name="T66" fmla="*/ 2 w 377"/>
                <a:gd name="T67" fmla="*/ 1 h 180"/>
                <a:gd name="T68" fmla="*/ 2 w 377"/>
                <a:gd name="T69" fmla="*/ 1 h 180"/>
                <a:gd name="T70" fmla="*/ 0 w 377"/>
                <a:gd name="T71" fmla="*/ 1 h 180"/>
                <a:gd name="T72" fmla="*/ 0 w 377"/>
                <a:gd name="T73" fmla="*/ 0 h 18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77"/>
                <a:gd name="T112" fmla="*/ 0 h 180"/>
                <a:gd name="T113" fmla="*/ 377 w 377"/>
                <a:gd name="T114" fmla="*/ 180 h 18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77" h="180">
                  <a:moveTo>
                    <a:pt x="0" y="0"/>
                  </a:moveTo>
                  <a:lnTo>
                    <a:pt x="13" y="18"/>
                  </a:lnTo>
                  <a:lnTo>
                    <a:pt x="35" y="26"/>
                  </a:lnTo>
                  <a:lnTo>
                    <a:pt x="75" y="35"/>
                  </a:lnTo>
                  <a:lnTo>
                    <a:pt x="97" y="48"/>
                  </a:lnTo>
                  <a:lnTo>
                    <a:pt x="112" y="56"/>
                  </a:lnTo>
                  <a:lnTo>
                    <a:pt x="149" y="72"/>
                  </a:lnTo>
                  <a:lnTo>
                    <a:pt x="177" y="85"/>
                  </a:lnTo>
                  <a:lnTo>
                    <a:pt x="219" y="104"/>
                  </a:lnTo>
                  <a:lnTo>
                    <a:pt x="240" y="125"/>
                  </a:lnTo>
                  <a:lnTo>
                    <a:pt x="280" y="138"/>
                  </a:lnTo>
                  <a:lnTo>
                    <a:pt x="328" y="155"/>
                  </a:lnTo>
                  <a:lnTo>
                    <a:pt x="345" y="163"/>
                  </a:lnTo>
                  <a:lnTo>
                    <a:pt x="357" y="170"/>
                  </a:lnTo>
                  <a:lnTo>
                    <a:pt x="376" y="179"/>
                  </a:lnTo>
                  <a:lnTo>
                    <a:pt x="371" y="173"/>
                  </a:lnTo>
                  <a:lnTo>
                    <a:pt x="361" y="166"/>
                  </a:lnTo>
                  <a:lnTo>
                    <a:pt x="342" y="157"/>
                  </a:lnTo>
                  <a:lnTo>
                    <a:pt x="321" y="147"/>
                  </a:lnTo>
                  <a:lnTo>
                    <a:pt x="310" y="142"/>
                  </a:lnTo>
                  <a:lnTo>
                    <a:pt x="272" y="133"/>
                  </a:lnTo>
                  <a:lnTo>
                    <a:pt x="251" y="125"/>
                  </a:lnTo>
                  <a:lnTo>
                    <a:pt x="248" y="114"/>
                  </a:lnTo>
                  <a:lnTo>
                    <a:pt x="235" y="104"/>
                  </a:lnTo>
                  <a:lnTo>
                    <a:pt x="206" y="93"/>
                  </a:lnTo>
                  <a:lnTo>
                    <a:pt x="195" y="85"/>
                  </a:lnTo>
                  <a:lnTo>
                    <a:pt x="182" y="82"/>
                  </a:lnTo>
                  <a:lnTo>
                    <a:pt x="152" y="69"/>
                  </a:lnTo>
                  <a:lnTo>
                    <a:pt x="121" y="62"/>
                  </a:lnTo>
                  <a:lnTo>
                    <a:pt x="118" y="59"/>
                  </a:lnTo>
                  <a:lnTo>
                    <a:pt x="107" y="46"/>
                  </a:lnTo>
                  <a:lnTo>
                    <a:pt x="80" y="38"/>
                  </a:lnTo>
                  <a:lnTo>
                    <a:pt x="67" y="30"/>
                  </a:lnTo>
                  <a:lnTo>
                    <a:pt x="56" y="29"/>
                  </a:lnTo>
                  <a:lnTo>
                    <a:pt x="40" y="24"/>
                  </a:lnTo>
                  <a:lnTo>
                    <a:pt x="13" y="18"/>
                  </a:lnTo>
                  <a:lnTo>
                    <a:pt x="0" y="0"/>
                  </a:lnTo>
                </a:path>
              </a:pathLst>
            </a:custGeom>
            <a:solidFill>
              <a:schemeClr val="bg1"/>
            </a:solidFill>
            <a:ln w="6350" cap="rnd">
              <a:solidFill>
                <a:schemeClr val="tx1"/>
              </a:solidFill>
              <a:round/>
              <a:headEnd/>
              <a:tailEnd/>
            </a:ln>
          </p:spPr>
          <p:txBody>
            <a:bodyPr/>
            <a:lstStyle/>
            <a:p>
              <a:endParaRPr lang="zh-CN" altLang="en-US"/>
            </a:p>
          </p:txBody>
        </p:sp>
        <p:sp>
          <p:nvSpPr>
            <p:cNvPr id="351" name="Freeform 109"/>
            <p:cNvSpPr>
              <a:spLocks/>
            </p:cNvSpPr>
            <p:nvPr/>
          </p:nvSpPr>
          <p:spPr bwMode="auto">
            <a:xfrm>
              <a:off x="1293" y="772"/>
              <a:ext cx="90" cy="49"/>
            </a:xfrm>
            <a:custGeom>
              <a:avLst/>
              <a:gdLst>
                <a:gd name="T0" fmla="*/ 0 w 265"/>
                <a:gd name="T1" fmla="*/ 6 h 145"/>
                <a:gd name="T2" fmla="*/ 2 w 265"/>
                <a:gd name="T3" fmla="*/ 5 h 145"/>
                <a:gd name="T4" fmla="*/ 3 w 265"/>
                <a:gd name="T5" fmla="*/ 4 h 145"/>
                <a:gd name="T6" fmla="*/ 4 w 265"/>
                <a:gd name="T7" fmla="*/ 3 h 145"/>
                <a:gd name="T8" fmla="*/ 7 w 265"/>
                <a:gd name="T9" fmla="*/ 2 h 145"/>
                <a:gd name="T10" fmla="*/ 8 w 265"/>
                <a:gd name="T11" fmla="*/ 1 h 145"/>
                <a:gd name="T12" fmla="*/ 11 w 265"/>
                <a:gd name="T13" fmla="*/ 0 h 145"/>
                <a:gd name="T14" fmla="*/ 0 60000 65536"/>
                <a:gd name="T15" fmla="*/ 0 60000 65536"/>
                <a:gd name="T16" fmla="*/ 0 60000 65536"/>
                <a:gd name="T17" fmla="*/ 0 60000 65536"/>
                <a:gd name="T18" fmla="*/ 0 60000 65536"/>
                <a:gd name="T19" fmla="*/ 0 60000 65536"/>
                <a:gd name="T20" fmla="*/ 0 60000 65536"/>
                <a:gd name="T21" fmla="*/ 0 w 265"/>
                <a:gd name="T22" fmla="*/ 0 h 145"/>
                <a:gd name="T23" fmla="*/ 265 w 265"/>
                <a:gd name="T24" fmla="*/ 145 h 1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5" h="145">
                  <a:moveTo>
                    <a:pt x="0" y="144"/>
                  </a:moveTo>
                  <a:lnTo>
                    <a:pt x="48" y="134"/>
                  </a:lnTo>
                  <a:lnTo>
                    <a:pt x="81" y="110"/>
                  </a:lnTo>
                  <a:lnTo>
                    <a:pt x="115" y="91"/>
                  </a:lnTo>
                  <a:lnTo>
                    <a:pt x="182" y="62"/>
                  </a:lnTo>
                  <a:lnTo>
                    <a:pt x="216" y="24"/>
                  </a:lnTo>
                  <a:lnTo>
                    <a:pt x="26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2" name="Freeform 110"/>
            <p:cNvSpPr>
              <a:spLocks/>
            </p:cNvSpPr>
            <p:nvPr/>
          </p:nvSpPr>
          <p:spPr bwMode="auto">
            <a:xfrm>
              <a:off x="1428" y="943"/>
              <a:ext cx="72" cy="25"/>
            </a:xfrm>
            <a:custGeom>
              <a:avLst/>
              <a:gdLst>
                <a:gd name="T0" fmla="*/ 0 w 212"/>
                <a:gd name="T1" fmla="*/ 3 h 73"/>
                <a:gd name="T2" fmla="*/ 2 w 212"/>
                <a:gd name="T3" fmla="*/ 2 h 73"/>
                <a:gd name="T4" fmla="*/ 5 w 212"/>
                <a:gd name="T5" fmla="*/ 1 h 73"/>
                <a:gd name="T6" fmla="*/ 7 w 212"/>
                <a:gd name="T7" fmla="*/ 1 h 73"/>
                <a:gd name="T8" fmla="*/ 8 w 212"/>
                <a:gd name="T9" fmla="*/ 0 h 73"/>
                <a:gd name="T10" fmla="*/ 0 60000 65536"/>
                <a:gd name="T11" fmla="*/ 0 60000 65536"/>
                <a:gd name="T12" fmla="*/ 0 60000 65536"/>
                <a:gd name="T13" fmla="*/ 0 60000 65536"/>
                <a:gd name="T14" fmla="*/ 0 60000 65536"/>
                <a:gd name="T15" fmla="*/ 0 w 212"/>
                <a:gd name="T16" fmla="*/ 0 h 73"/>
                <a:gd name="T17" fmla="*/ 212 w 212"/>
                <a:gd name="T18" fmla="*/ 73 h 73"/>
              </a:gdLst>
              <a:ahLst/>
              <a:cxnLst>
                <a:cxn ang="T10">
                  <a:pos x="T0" y="T1"/>
                </a:cxn>
                <a:cxn ang="T11">
                  <a:pos x="T2" y="T3"/>
                </a:cxn>
                <a:cxn ang="T12">
                  <a:pos x="T4" y="T5"/>
                </a:cxn>
                <a:cxn ang="T13">
                  <a:pos x="T6" y="T7"/>
                </a:cxn>
                <a:cxn ang="T14">
                  <a:pos x="T8" y="T9"/>
                </a:cxn>
              </a:cxnLst>
              <a:rect l="T15" t="T16" r="T17" b="T18"/>
              <a:pathLst>
                <a:path w="212" h="73">
                  <a:moveTo>
                    <a:pt x="0" y="72"/>
                  </a:moveTo>
                  <a:lnTo>
                    <a:pt x="48" y="53"/>
                  </a:lnTo>
                  <a:lnTo>
                    <a:pt x="120" y="38"/>
                  </a:lnTo>
                  <a:lnTo>
                    <a:pt x="192" y="19"/>
                  </a:lnTo>
                  <a:lnTo>
                    <a:pt x="211"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3" name="Freeform 111"/>
            <p:cNvSpPr>
              <a:spLocks/>
            </p:cNvSpPr>
            <p:nvPr/>
          </p:nvSpPr>
          <p:spPr bwMode="auto">
            <a:xfrm>
              <a:off x="1540" y="878"/>
              <a:ext cx="55" cy="42"/>
            </a:xfrm>
            <a:custGeom>
              <a:avLst/>
              <a:gdLst>
                <a:gd name="T0" fmla="*/ 0 w 160"/>
                <a:gd name="T1" fmla="*/ 5 h 126"/>
                <a:gd name="T2" fmla="*/ 3 w 160"/>
                <a:gd name="T3" fmla="*/ 3 h 126"/>
                <a:gd name="T4" fmla="*/ 3 w 160"/>
                <a:gd name="T5" fmla="*/ 2 h 126"/>
                <a:gd name="T6" fmla="*/ 6 w 160"/>
                <a:gd name="T7" fmla="*/ 1 h 126"/>
                <a:gd name="T8" fmla="*/ 7 w 160"/>
                <a:gd name="T9" fmla="*/ 0 h 126"/>
                <a:gd name="T10" fmla="*/ 0 60000 65536"/>
                <a:gd name="T11" fmla="*/ 0 60000 65536"/>
                <a:gd name="T12" fmla="*/ 0 60000 65536"/>
                <a:gd name="T13" fmla="*/ 0 60000 65536"/>
                <a:gd name="T14" fmla="*/ 0 60000 65536"/>
                <a:gd name="T15" fmla="*/ 0 w 160"/>
                <a:gd name="T16" fmla="*/ 0 h 126"/>
                <a:gd name="T17" fmla="*/ 160 w 160"/>
                <a:gd name="T18" fmla="*/ 126 h 126"/>
              </a:gdLst>
              <a:ahLst/>
              <a:cxnLst>
                <a:cxn ang="T10">
                  <a:pos x="T0" y="T1"/>
                </a:cxn>
                <a:cxn ang="T11">
                  <a:pos x="T2" y="T3"/>
                </a:cxn>
                <a:cxn ang="T12">
                  <a:pos x="T4" y="T5"/>
                </a:cxn>
                <a:cxn ang="T13">
                  <a:pos x="T6" y="T7"/>
                </a:cxn>
                <a:cxn ang="T14">
                  <a:pos x="T8" y="T9"/>
                </a:cxn>
              </a:cxnLst>
              <a:rect l="T15" t="T16" r="T17" b="T18"/>
              <a:pathLst>
                <a:path w="160" h="126">
                  <a:moveTo>
                    <a:pt x="0" y="125"/>
                  </a:moveTo>
                  <a:lnTo>
                    <a:pt x="63" y="77"/>
                  </a:lnTo>
                  <a:lnTo>
                    <a:pt x="87" y="57"/>
                  </a:lnTo>
                  <a:lnTo>
                    <a:pt x="135" y="29"/>
                  </a:lnTo>
                  <a:lnTo>
                    <a:pt x="159"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4" name="Freeform 112"/>
            <p:cNvSpPr>
              <a:spLocks/>
            </p:cNvSpPr>
            <p:nvPr/>
          </p:nvSpPr>
          <p:spPr bwMode="auto">
            <a:xfrm>
              <a:off x="1059" y="1023"/>
              <a:ext cx="93" cy="38"/>
            </a:xfrm>
            <a:custGeom>
              <a:avLst/>
              <a:gdLst>
                <a:gd name="T0" fmla="*/ 0 w 274"/>
                <a:gd name="T1" fmla="*/ 4 h 111"/>
                <a:gd name="T2" fmla="*/ 2 w 274"/>
                <a:gd name="T3" fmla="*/ 3 h 111"/>
                <a:gd name="T4" fmla="*/ 3 w 274"/>
                <a:gd name="T5" fmla="*/ 3 h 111"/>
                <a:gd name="T6" fmla="*/ 5 w 274"/>
                <a:gd name="T7" fmla="*/ 2 h 111"/>
                <a:gd name="T8" fmla="*/ 6 w 274"/>
                <a:gd name="T9" fmla="*/ 2 h 111"/>
                <a:gd name="T10" fmla="*/ 7 w 274"/>
                <a:gd name="T11" fmla="*/ 1 h 111"/>
                <a:gd name="T12" fmla="*/ 9 w 274"/>
                <a:gd name="T13" fmla="*/ 1 h 111"/>
                <a:gd name="T14" fmla="*/ 11 w 274"/>
                <a:gd name="T15" fmla="*/ 0 h 111"/>
                <a:gd name="T16" fmla="*/ 0 60000 65536"/>
                <a:gd name="T17" fmla="*/ 0 60000 65536"/>
                <a:gd name="T18" fmla="*/ 0 60000 65536"/>
                <a:gd name="T19" fmla="*/ 0 60000 65536"/>
                <a:gd name="T20" fmla="*/ 0 60000 65536"/>
                <a:gd name="T21" fmla="*/ 0 60000 65536"/>
                <a:gd name="T22" fmla="*/ 0 60000 65536"/>
                <a:gd name="T23" fmla="*/ 0 60000 65536"/>
                <a:gd name="T24" fmla="*/ 0 w 274"/>
                <a:gd name="T25" fmla="*/ 0 h 111"/>
                <a:gd name="T26" fmla="*/ 274 w 274"/>
                <a:gd name="T27" fmla="*/ 111 h 1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4" h="111">
                  <a:moveTo>
                    <a:pt x="0" y="110"/>
                  </a:moveTo>
                  <a:lnTo>
                    <a:pt x="52" y="86"/>
                  </a:lnTo>
                  <a:lnTo>
                    <a:pt x="81" y="72"/>
                  </a:lnTo>
                  <a:lnTo>
                    <a:pt x="120" y="62"/>
                  </a:lnTo>
                  <a:lnTo>
                    <a:pt x="168" y="58"/>
                  </a:lnTo>
                  <a:lnTo>
                    <a:pt x="187" y="38"/>
                  </a:lnTo>
                  <a:lnTo>
                    <a:pt x="225" y="19"/>
                  </a:lnTo>
                  <a:lnTo>
                    <a:pt x="273"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5" name="Freeform 113"/>
            <p:cNvSpPr>
              <a:spLocks/>
            </p:cNvSpPr>
            <p:nvPr/>
          </p:nvSpPr>
          <p:spPr bwMode="auto">
            <a:xfrm>
              <a:off x="1249" y="951"/>
              <a:ext cx="51" cy="28"/>
            </a:xfrm>
            <a:custGeom>
              <a:avLst/>
              <a:gdLst>
                <a:gd name="T0" fmla="*/ 0 w 150"/>
                <a:gd name="T1" fmla="*/ 3 h 82"/>
                <a:gd name="T2" fmla="*/ 1 w 150"/>
                <a:gd name="T3" fmla="*/ 2 h 82"/>
                <a:gd name="T4" fmla="*/ 3 w 150"/>
                <a:gd name="T5" fmla="*/ 2 h 82"/>
                <a:gd name="T6" fmla="*/ 4 w 150"/>
                <a:gd name="T7" fmla="*/ 1 h 82"/>
                <a:gd name="T8" fmla="*/ 6 w 150"/>
                <a:gd name="T9" fmla="*/ 0 h 82"/>
                <a:gd name="T10" fmla="*/ 0 60000 65536"/>
                <a:gd name="T11" fmla="*/ 0 60000 65536"/>
                <a:gd name="T12" fmla="*/ 0 60000 65536"/>
                <a:gd name="T13" fmla="*/ 0 60000 65536"/>
                <a:gd name="T14" fmla="*/ 0 60000 65536"/>
                <a:gd name="T15" fmla="*/ 0 w 150"/>
                <a:gd name="T16" fmla="*/ 0 h 82"/>
                <a:gd name="T17" fmla="*/ 150 w 150"/>
                <a:gd name="T18" fmla="*/ 82 h 82"/>
              </a:gdLst>
              <a:ahLst/>
              <a:cxnLst>
                <a:cxn ang="T10">
                  <a:pos x="T0" y="T1"/>
                </a:cxn>
                <a:cxn ang="T11">
                  <a:pos x="T2" y="T3"/>
                </a:cxn>
                <a:cxn ang="T12">
                  <a:pos x="T4" y="T5"/>
                </a:cxn>
                <a:cxn ang="T13">
                  <a:pos x="T6" y="T7"/>
                </a:cxn>
                <a:cxn ang="T14">
                  <a:pos x="T8" y="T9"/>
                </a:cxn>
              </a:cxnLst>
              <a:rect l="T15" t="T16" r="T17" b="T18"/>
              <a:pathLst>
                <a:path w="150" h="82">
                  <a:moveTo>
                    <a:pt x="0" y="81"/>
                  </a:moveTo>
                  <a:lnTo>
                    <a:pt x="39" y="57"/>
                  </a:lnTo>
                  <a:lnTo>
                    <a:pt x="72" y="43"/>
                  </a:lnTo>
                  <a:lnTo>
                    <a:pt x="115" y="14"/>
                  </a:lnTo>
                  <a:lnTo>
                    <a:pt x="149"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6" name="Freeform 114"/>
            <p:cNvSpPr>
              <a:spLocks/>
            </p:cNvSpPr>
            <p:nvPr/>
          </p:nvSpPr>
          <p:spPr bwMode="auto">
            <a:xfrm>
              <a:off x="1129" y="1055"/>
              <a:ext cx="75" cy="30"/>
            </a:xfrm>
            <a:custGeom>
              <a:avLst/>
              <a:gdLst>
                <a:gd name="T0" fmla="*/ 0 w 222"/>
                <a:gd name="T1" fmla="*/ 3 h 87"/>
                <a:gd name="T2" fmla="*/ 3 w 222"/>
                <a:gd name="T3" fmla="*/ 3 h 87"/>
                <a:gd name="T4" fmla="*/ 4 w 222"/>
                <a:gd name="T5" fmla="*/ 2 h 87"/>
                <a:gd name="T6" fmla="*/ 7 w 222"/>
                <a:gd name="T7" fmla="*/ 1 h 87"/>
                <a:gd name="T8" fmla="*/ 8 w 222"/>
                <a:gd name="T9" fmla="*/ 0 h 87"/>
                <a:gd name="T10" fmla="*/ 0 60000 65536"/>
                <a:gd name="T11" fmla="*/ 0 60000 65536"/>
                <a:gd name="T12" fmla="*/ 0 60000 65536"/>
                <a:gd name="T13" fmla="*/ 0 60000 65536"/>
                <a:gd name="T14" fmla="*/ 0 60000 65536"/>
                <a:gd name="T15" fmla="*/ 0 w 222"/>
                <a:gd name="T16" fmla="*/ 0 h 87"/>
                <a:gd name="T17" fmla="*/ 222 w 222"/>
                <a:gd name="T18" fmla="*/ 87 h 87"/>
              </a:gdLst>
              <a:ahLst/>
              <a:cxnLst>
                <a:cxn ang="T10">
                  <a:pos x="T0" y="T1"/>
                </a:cxn>
                <a:cxn ang="T11">
                  <a:pos x="T2" y="T3"/>
                </a:cxn>
                <a:cxn ang="T12">
                  <a:pos x="T4" y="T5"/>
                </a:cxn>
                <a:cxn ang="T13">
                  <a:pos x="T6" y="T7"/>
                </a:cxn>
                <a:cxn ang="T14">
                  <a:pos x="T8" y="T9"/>
                </a:cxn>
              </a:cxnLst>
              <a:rect l="T15" t="T16" r="T17" b="T18"/>
              <a:pathLst>
                <a:path w="222" h="87">
                  <a:moveTo>
                    <a:pt x="0" y="86"/>
                  </a:moveTo>
                  <a:lnTo>
                    <a:pt x="82" y="77"/>
                  </a:lnTo>
                  <a:lnTo>
                    <a:pt x="115" y="48"/>
                  </a:lnTo>
                  <a:lnTo>
                    <a:pt x="178" y="24"/>
                  </a:lnTo>
                  <a:lnTo>
                    <a:pt x="221"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7" name="Freeform 115"/>
            <p:cNvSpPr>
              <a:spLocks/>
            </p:cNvSpPr>
            <p:nvPr/>
          </p:nvSpPr>
          <p:spPr bwMode="auto">
            <a:xfrm>
              <a:off x="1246" y="994"/>
              <a:ext cx="90" cy="41"/>
            </a:xfrm>
            <a:custGeom>
              <a:avLst/>
              <a:gdLst>
                <a:gd name="T0" fmla="*/ 0 w 265"/>
                <a:gd name="T1" fmla="*/ 5 h 121"/>
                <a:gd name="T2" fmla="*/ 2 w 265"/>
                <a:gd name="T3" fmla="*/ 5 h 121"/>
                <a:gd name="T4" fmla="*/ 4 w 265"/>
                <a:gd name="T5" fmla="*/ 4 h 121"/>
                <a:gd name="T6" fmla="*/ 6 w 265"/>
                <a:gd name="T7" fmla="*/ 2 h 121"/>
                <a:gd name="T8" fmla="*/ 6 w 265"/>
                <a:gd name="T9" fmla="*/ 2 h 121"/>
                <a:gd name="T10" fmla="*/ 7 w 265"/>
                <a:gd name="T11" fmla="*/ 1 h 121"/>
                <a:gd name="T12" fmla="*/ 8 w 265"/>
                <a:gd name="T13" fmla="*/ 1 h 121"/>
                <a:gd name="T14" fmla="*/ 10 w 265"/>
                <a:gd name="T15" fmla="*/ 1 h 121"/>
                <a:gd name="T16" fmla="*/ 11 w 265"/>
                <a:gd name="T17" fmla="*/ 0 h 1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5"/>
                <a:gd name="T28" fmla="*/ 0 h 121"/>
                <a:gd name="T29" fmla="*/ 265 w 265"/>
                <a:gd name="T30" fmla="*/ 121 h 1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5" h="121">
                  <a:moveTo>
                    <a:pt x="0" y="120"/>
                  </a:moveTo>
                  <a:lnTo>
                    <a:pt x="48" y="120"/>
                  </a:lnTo>
                  <a:lnTo>
                    <a:pt x="115" y="110"/>
                  </a:lnTo>
                  <a:lnTo>
                    <a:pt x="144" y="57"/>
                  </a:lnTo>
                  <a:lnTo>
                    <a:pt x="168" y="43"/>
                  </a:lnTo>
                  <a:lnTo>
                    <a:pt x="192" y="38"/>
                  </a:lnTo>
                  <a:lnTo>
                    <a:pt x="220" y="19"/>
                  </a:lnTo>
                  <a:lnTo>
                    <a:pt x="244" y="14"/>
                  </a:lnTo>
                  <a:lnTo>
                    <a:pt x="264"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 name="Freeform 116"/>
            <p:cNvSpPr>
              <a:spLocks/>
            </p:cNvSpPr>
            <p:nvPr/>
          </p:nvSpPr>
          <p:spPr bwMode="auto">
            <a:xfrm>
              <a:off x="1290" y="1222"/>
              <a:ext cx="95" cy="42"/>
            </a:xfrm>
            <a:custGeom>
              <a:avLst/>
              <a:gdLst>
                <a:gd name="T0" fmla="*/ 0 w 280"/>
                <a:gd name="T1" fmla="*/ 5 h 125"/>
                <a:gd name="T2" fmla="*/ 2 w 280"/>
                <a:gd name="T3" fmla="*/ 4 h 125"/>
                <a:gd name="T4" fmla="*/ 5 w 280"/>
                <a:gd name="T5" fmla="*/ 3 h 125"/>
                <a:gd name="T6" fmla="*/ 7 w 280"/>
                <a:gd name="T7" fmla="*/ 2 h 125"/>
                <a:gd name="T8" fmla="*/ 8 w 280"/>
                <a:gd name="T9" fmla="*/ 1 h 125"/>
                <a:gd name="T10" fmla="*/ 9 w 280"/>
                <a:gd name="T11" fmla="*/ 1 h 125"/>
                <a:gd name="T12" fmla="*/ 11 w 280"/>
                <a:gd name="T13" fmla="*/ 0 h 125"/>
                <a:gd name="T14" fmla="*/ 0 60000 65536"/>
                <a:gd name="T15" fmla="*/ 0 60000 65536"/>
                <a:gd name="T16" fmla="*/ 0 60000 65536"/>
                <a:gd name="T17" fmla="*/ 0 60000 65536"/>
                <a:gd name="T18" fmla="*/ 0 60000 65536"/>
                <a:gd name="T19" fmla="*/ 0 60000 65536"/>
                <a:gd name="T20" fmla="*/ 0 60000 65536"/>
                <a:gd name="T21" fmla="*/ 0 w 280"/>
                <a:gd name="T22" fmla="*/ 0 h 125"/>
                <a:gd name="T23" fmla="*/ 280 w 280"/>
                <a:gd name="T24" fmla="*/ 125 h 1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0" h="125">
                  <a:moveTo>
                    <a:pt x="0" y="124"/>
                  </a:moveTo>
                  <a:lnTo>
                    <a:pt x="53" y="110"/>
                  </a:lnTo>
                  <a:lnTo>
                    <a:pt x="135" y="86"/>
                  </a:lnTo>
                  <a:lnTo>
                    <a:pt x="183" y="57"/>
                  </a:lnTo>
                  <a:lnTo>
                    <a:pt x="221" y="33"/>
                  </a:lnTo>
                  <a:lnTo>
                    <a:pt x="245" y="14"/>
                  </a:lnTo>
                  <a:lnTo>
                    <a:pt x="279"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 name="Freeform 117"/>
            <p:cNvSpPr>
              <a:spLocks/>
            </p:cNvSpPr>
            <p:nvPr/>
          </p:nvSpPr>
          <p:spPr bwMode="auto">
            <a:xfrm>
              <a:off x="1407" y="1202"/>
              <a:ext cx="22" cy="8"/>
            </a:xfrm>
            <a:custGeom>
              <a:avLst/>
              <a:gdLst>
                <a:gd name="T0" fmla="*/ 0 w 63"/>
                <a:gd name="T1" fmla="*/ 1 h 25"/>
                <a:gd name="T2" fmla="*/ 2 w 63"/>
                <a:gd name="T3" fmla="*/ 1 h 25"/>
                <a:gd name="T4" fmla="*/ 3 w 63"/>
                <a:gd name="T5" fmla="*/ 0 h 25"/>
                <a:gd name="T6" fmla="*/ 0 60000 65536"/>
                <a:gd name="T7" fmla="*/ 0 60000 65536"/>
                <a:gd name="T8" fmla="*/ 0 60000 65536"/>
                <a:gd name="T9" fmla="*/ 0 w 63"/>
                <a:gd name="T10" fmla="*/ 0 h 25"/>
                <a:gd name="T11" fmla="*/ 63 w 63"/>
                <a:gd name="T12" fmla="*/ 25 h 25"/>
              </a:gdLst>
              <a:ahLst/>
              <a:cxnLst>
                <a:cxn ang="T6">
                  <a:pos x="T0" y="T1"/>
                </a:cxn>
                <a:cxn ang="T7">
                  <a:pos x="T2" y="T3"/>
                </a:cxn>
                <a:cxn ang="T8">
                  <a:pos x="T4" y="T5"/>
                </a:cxn>
              </a:cxnLst>
              <a:rect l="T9" t="T10" r="T11" b="T12"/>
              <a:pathLst>
                <a:path w="63" h="25">
                  <a:moveTo>
                    <a:pt x="0" y="24"/>
                  </a:moveTo>
                  <a:lnTo>
                    <a:pt x="38" y="19"/>
                  </a:lnTo>
                  <a:lnTo>
                    <a:pt x="6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0" name="Freeform 118"/>
            <p:cNvSpPr>
              <a:spLocks/>
            </p:cNvSpPr>
            <p:nvPr/>
          </p:nvSpPr>
          <p:spPr bwMode="auto">
            <a:xfrm>
              <a:off x="1459" y="1163"/>
              <a:ext cx="75" cy="25"/>
            </a:xfrm>
            <a:custGeom>
              <a:avLst/>
              <a:gdLst>
                <a:gd name="T0" fmla="*/ 0 w 222"/>
                <a:gd name="T1" fmla="*/ 3 h 73"/>
                <a:gd name="T2" fmla="*/ 1 w 222"/>
                <a:gd name="T3" fmla="*/ 3 h 73"/>
                <a:gd name="T4" fmla="*/ 3 w 222"/>
                <a:gd name="T5" fmla="*/ 2 h 73"/>
                <a:gd name="T6" fmla="*/ 5 w 222"/>
                <a:gd name="T7" fmla="*/ 1 h 73"/>
                <a:gd name="T8" fmla="*/ 6 w 222"/>
                <a:gd name="T9" fmla="*/ 0 h 73"/>
                <a:gd name="T10" fmla="*/ 8 w 222"/>
                <a:gd name="T11" fmla="*/ 0 h 73"/>
                <a:gd name="T12" fmla="*/ 0 60000 65536"/>
                <a:gd name="T13" fmla="*/ 0 60000 65536"/>
                <a:gd name="T14" fmla="*/ 0 60000 65536"/>
                <a:gd name="T15" fmla="*/ 0 60000 65536"/>
                <a:gd name="T16" fmla="*/ 0 60000 65536"/>
                <a:gd name="T17" fmla="*/ 0 60000 65536"/>
                <a:gd name="T18" fmla="*/ 0 w 222"/>
                <a:gd name="T19" fmla="*/ 0 h 73"/>
                <a:gd name="T20" fmla="*/ 222 w 222"/>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222" h="73">
                  <a:moveTo>
                    <a:pt x="0" y="72"/>
                  </a:moveTo>
                  <a:lnTo>
                    <a:pt x="39" y="67"/>
                  </a:lnTo>
                  <a:lnTo>
                    <a:pt x="77" y="53"/>
                  </a:lnTo>
                  <a:lnTo>
                    <a:pt x="120" y="24"/>
                  </a:lnTo>
                  <a:lnTo>
                    <a:pt x="149" y="9"/>
                  </a:lnTo>
                  <a:lnTo>
                    <a:pt x="221"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1" name="Freeform 119"/>
            <p:cNvSpPr>
              <a:spLocks/>
            </p:cNvSpPr>
            <p:nvPr/>
          </p:nvSpPr>
          <p:spPr bwMode="auto">
            <a:xfrm>
              <a:off x="1493" y="1166"/>
              <a:ext cx="28" cy="53"/>
            </a:xfrm>
            <a:custGeom>
              <a:avLst/>
              <a:gdLst>
                <a:gd name="T0" fmla="*/ 0 w 83"/>
                <a:gd name="T1" fmla="*/ 0 h 155"/>
                <a:gd name="T2" fmla="*/ 1 w 83"/>
                <a:gd name="T3" fmla="*/ 2 h 155"/>
                <a:gd name="T4" fmla="*/ 2 w 83"/>
                <a:gd name="T5" fmla="*/ 3 h 155"/>
                <a:gd name="T6" fmla="*/ 2 w 83"/>
                <a:gd name="T7" fmla="*/ 5 h 155"/>
                <a:gd name="T8" fmla="*/ 3 w 83"/>
                <a:gd name="T9" fmla="*/ 6 h 155"/>
                <a:gd name="T10" fmla="*/ 0 60000 65536"/>
                <a:gd name="T11" fmla="*/ 0 60000 65536"/>
                <a:gd name="T12" fmla="*/ 0 60000 65536"/>
                <a:gd name="T13" fmla="*/ 0 60000 65536"/>
                <a:gd name="T14" fmla="*/ 0 60000 65536"/>
                <a:gd name="T15" fmla="*/ 0 w 83"/>
                <a:gd name="T16" fmla="*/ 0 h 155"/>
                <a:gd name="T17" fmla="*/ 83 w 83"/>
                <a:gd name="T18" fmla="*/ 155 h 155"/>
              </a:gdLst>
              <a:ahLst/>
              <a:cxnLst>
                <a:cxn ang="T10">
                  <a:pos x="T0" y="T1"/>
                </a:cxn>
                <a:cxn ang="T11">
                  <a:pos x="T2" y="T3"/>
                </a:cxn>
                <a:cxn ang="T12">
                  <a:pos x="T4" y="T5"/>
                </a:cxn>
                <a:cxn ang="T13">
                  <a:pos x="T6" y="T7"/>
                </a:cxn>
                <a:cxn ang="T14">
                  <a:pos x="T8" y="T9"/>
                </a:cxn>
              </a:cxnLst>
              <a:rect l="T15" t="T16" r="T17" b="T18"/>
              <a:pathLst>
                <a:path w="83" h="155">
                  <a:moveTo>
                    <a:pt x="0" y="0"/>
                  </a:moveTo>
                  <a:lnTo>
                    <a:pt x="29" y="48"/>
                  </a:lnTo>
                  <a:lnTo>
                    <a:pt x="43" y="87"/>
                  </a:lnTo>
                  <a:lnTo>
                    <a:pt x="63" y="116"/>
                  </a:lnTo>
                  <a:lnTo>
                    <a:pt x="82" y="154"/>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2" name="Freeform 120"/>
            <p:cNvSpPr>
              <a:spLocks/>
            </p:cNvSpPr>
            <p:nvPr/>
          </p:nvSpPr>
          <p:spPr bwMode="auto">
            <a:xfrm>
              <a:off x="1583" y="1088"/>
              <a:ext cx="65" cy="26"/>
            </a:xfrm>
            <a:custGeom>
              <a:avLst/>
              <a:gdLst>
                <a:gd name="T0" fmla="*/ 0 w 193"/>
                <a:gd name="T1" fmla="*/ 3 h 78"/>
                <a:gd name="T2" fmla="*/ 4 w 193"/>
                <a:gd name="T3" fmla="*/ 2 h 78"/>
                <a:gd name="T4" fmla="*/ 4 w 193"/>
                <a:gd name="T5" fmla="*/ 2 h 78"/>
                <a:gd name="T6" fmla="*/ 5 w 193"/>
                <a:gd name="T7" fmla="*/ 1 h 78"/>
                <a:gd name="T8" fmla="*/ 7 w 193"/>
                <a:gd name="T9" fmla="*/ 0 h 78"/>
                <a:gd name="T10" fmla="*/ 0 60000 65536"/>
                <a:gd name="T11" fmla="*/ 0 60000 65536"/>
                <a:gd name="T12" fmla="*/ 0 60000 65536"/>
                <a:gd name="T13" fmla="*/ 0 60000 65536"/>
                <a:gd name="T14" fmla="*/ 0 60000 65536"/>
                <a:gd name="T15" fmla="*/ 0 w 193"/>
                <a:gd name="T16" fmla="*/ 0 h 78"/>
                <a:gd name="T17" fmla="*/ 193 w 193"/>
                <a:gd name="T18" fmla="*/ 78 h 78"/>
              </a:gdLst>
              <a:ahLst/>
              <a:cxnLst>
                <a:cxn ang="T10">
                  <a:pos x="T0" y="T1"/>
                </a:cxn>
                <a:cxn ang="T11">
                  <a:pos x="T2" y="T3"/>
                </a:cxn>
                <a:cxn ang="T12">
                  <a:pos x="T4" y="T5"/>
                </a:cxn>
                <a:cxn ang="T13">
                  <a:pos x="T6" y="T7"/>
                </a:cxn>
                <a:cxn ang="T14">
                  <a:pos x="T8" y="T9"/>
                </a:cxn>
              </a:cxnLst>
              <a:rect l="T15" t="T16" r="T17" b="T18"/>
              <a:pathLst>
                <a:path w="193" h="78">
                  <a:moveTo>
                    <a:pt x="0" y="77"/>
                  </a:moveTo>
                  <a:lnTo>
                    <a:pt x="96" y="62"/>
                  </a:lnTo>
                  <a:lnTo>
                    <a:pt x="115" y="43"/>
                  </a:lnTo>
                  <a:lnTo>
                    <a:pt x="144" y="24"/>
                  </a:lnTo>
                  <a:lnTo>
                    <a:pt x="192"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3" name="Freeform 121"/>
            <p:cNvSpPr>
              <a:spLocks/>
            </p:cNvSpPr>
            <p:nvPr/>
          </p:nvSpPr>
          <p:spPr bwMode="auto">
            <a:xfrm>
              <a:off x="1596" y="1159"/>
              <a:ext cx="95" cy="42"/>
            </a:xfrm>
            <a:custGeom>
              <a:avLst/>
              <a:gdLst>
                <a:gd name="T0" fmla="*/ 0 w 279"/>
                <a:gd name="T1" fmla="*/ 3 h 123"/>
                <a:gd name="T2" fmla="*/ 1 w 279"/>
                <a:gd name="T3" fmla="*/ 4 h 123"/>
                <a:gd name="T4" fmla="*/ 3 w 279"/>
                <a:gd name="T5" fmla="*/ 5 h 123"/>
                <a:gd name="T6" fmla="*/ 4 w 279"/>
                <a:gd name="T7" fmla="*/ 5 h 123"/>
                <a:gd name="T8" fmla="*/ 6 w 279"/>
                <a:gd name="T9" fmla="*/ 4 h 123"/>
                <a:gd name="T10" fmla="*/ 7 w 279"/>
                <a:gd name="T11" fmla="*/ 3 h 123"/>
                <a:gd name="T12" fmla="*/ 10 w 279"/>
                <a:gd name="T13" fmla="*/ 1 h 123"/>
                <a:gd name="T14" fmla="*/ 11 w 279"/>
                <a:gd name="T15" fmla="*/ 0 h 123"/>
                <a:gd name="T16" fmla="*/ 0 60000 65536"/>
                <a:gd name="T17" fmla="*/ 0 60000 65536"/>
                <a:gd name="T18" fmla="*/ 0 60000 65536"/>
                <a:gd name="T19" fmla="*/ 0 60000 65536"/>
                <a:gd name="T20" fmla="*/ 0 60000 65536"/>
                <a:gd name="T21" fmla="*/ 0 60000 65536"/>
                <a:gd name="T22" fmla="*/ 0 60000 65536"/>
                <a:gd name="T23" fmla="*/ 0 60000 65536"/>
                <a:gd name="T24" fmla="*/ 0 w 279"/>
                <a:gd name="T25" fmla="*/ 0 h 123"/>
                <a:gd name="T26" fmla="*/ 279 w 279"/>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9" h="123">
                  <a:moveTo>
                    <a:pt x="0" y="77"/>
                  </a:moveTo>
                  <a:lnTo>
                    <a:pt x="38" y="101"/>
                  </a:lnTo>
                  <a:lnTo>
                    <a:pt x="80" y="117"/>
                  </a:lnTo>
                  <a:lnTo>
                    <a:pt x="100" y="122"/>
                  </a:lnTo>
                  <a:lnTo>
                    <a:pt x="153" y="90"/>
                  </a:lnTo>
                  <a:lnTo>
                    <a:pt x="187" y="74"/>
                  </a:lnTo>
                  <a:lnTo>
                    <a:pt x="254" y="34"/>
                  </a:lnTo>
                  <a:lnTo>
                    <a:pt x="278"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4" name="Freeform 122"/>
            <p:cNvSpPr>
              <a:spLocks/>
            </p:cNvSpPr>
            <p:nvPr/>
          </p:nvSpPr>
          <p:spPr bwMode="auto">
            <a:xfrm>
              <a:off x="1705" y="1049"/>
              <a:ext cx="55" cy="28"/>
            </a:xfrm>
            <a:custGeom>
              <a:avLst/>
              <a:gdLst>
                <a:gd name="T0" fmla="*/ 0 w 164"/>
                <a:gd name="T1" fmla="*/ 3 h 82"/>
                <a:gd name="T2" fmla="*/ 2 w 164"/>
                <a:gd name="T3" fmla="*/ 2 h 82"/>
                <a:gd name="T4" fmla="*/ 3 w 164"/>
                <a:gd name="T5" fmla="*/ 2 h 82"/>
                <a:gd name="T6" fmla="*/ 4 w 164"/>
                <a:gd name="T7" fmla="*/ 1 h 82"/>
                <a:gd name="T8" fmla="*/ 6 w 164"/>
                <a:gd name="T9" fmla="*/ 0 h 82"/>
                <a:gd name="T10" fmla="*/ 0 60000 65536"/>
                <a:gd name="T11" fmla="*/ 0 60000 65536"/>
                <a:gd name="T12" fmla="*/ 0 60000 65536"/>
                <a:gd name="T13" fmla="*/ 0 60000 65536"/>
                <a:gd name="T14" fmla="*/ 0 60000 65536"/>
                <a:gd name="T15" fmla="*/ 0 w 164"/>
                <a:gd name="T16" fmla="*/ 0 h 82"/>
                <a:gd name="T17" fmla="*/ 164 w 164"/>
                <a:gd name="T18" fmla="*/ 82 h 82"/>
              </a:gdLst>
              <a:ahLst/>
              <a:cxnLst>
                <a:cxn ang="T10">
                  <a:pos x="T0" y="T1"/>
                </a:cxn>
                <a:cxn ang="T11">
                  <a:pos x="T2" y="T3"/>
                </a:cxn>
                <a:cxn ang="T12">
                  <a:pos x="T4" y="T5"/>
                </a:cxn>
                <a:cxn ang="T13">
                  <a:pos x="T6" y="T7"/>
                </a:cxn>
                <a:cxn ang="T14">
                  <a:pos x="T8" y="T9"/>
                </a:cxn>
              </a:cxnLst>
              <a:rect l="T15" t="T16" r="T17" b="T18"/>
              <a:pathLst>
                <a:path w="164" h="82">
                  <a:moveTo>
                    <a:pt x="0" y="81"/>
                  </a:moveTo>
                  <a:lnTo>
                    <a:pt x="43" y="62"/>
                  </a:lnTo>
                  <a:lnTo>
                    <a:pt x="91" y="43"/>
                  </a:lnTo>
                  <a:lnTo>
                    <a:pt x="120" y="24"/>
                  </a:lnTo>
                  <a:lnTo>
                    <a:pt x="163"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5" name="Freeform 123"/>
            <p:cNvSpPr>
              <a:spLocks/>
            </p:cNvSpPr>
            <p:nvPr/>
          </p:nvSpPr>
          <p:spPr bwMode="auto">
            <a:xfrm>
              <a:off x="1740" y="1127"/>
              <a:ext cx="69" cy="25"/>
            </a:xfrm>
            <a:custGeom>
              <a:avLst/>
              <a:gdLst>
                <a:gd name="T0" fmla="*/ 0 w 202"/>
                <a:gd name="T1" fmla="*/ 3 h 73"/>
                <a:gd name="T2" fmla="*/ 4 w 202"/>
                <a:gd name="T3" fmla="*/ 2 h 73"/>
                <a:gd name="T4" fmla="*/ 5 w 202"/>
                <a:gd name="T5" fmla="*/ 1 h 73"/>
                <a:gd name="T6" fmla="*/ 7 w 202"/>
                <a:gd name="T7" fmla="*/ 1 h 73"/>
                <a:gd name="T8" fmla="*/ 8 w 202"/>
                <a:gd name="T9" fmla="*/ 0 h 73"/>
                <a:gd name="T10" fmla="*/ 0 60000 65536"/>
                <a:gd name="T11" fmla="*/ 0 60000 65536"/>
                <a:gd name="T12" fmla="*/ 0 60000 65536"/>
                <a:gd name="T13" fmla="*/ 0 60000 65536"/>
                <a:gd name="T14" fmla="*/ 0 60000 65536"/>
                <a:gd name="T15" fmla="*/ 0 w 202"/>
                <a:gd name="T16" fmla="*/ 0 h 73"/>
                <a:gd name="T17" fmla="*/ 202 w 202"/>
                <a:gd name="T18" fmla="*/ 73 h 73"/>
              </a:gdLst>
              <a:ahLst/>
              <a:cxnLst>
                <a:cxn ang="T10">
                  <a:pos x="T0" y="T1"/>
                </a:cxn>
                <a:cxn ang="T11">
                  <a:pos x="T2" y="T3"/>
                </a:cxn>
                <a:cxn ang="T12">
                  <a:pos x="T4" y="T5"/>
                </a:cxn>
                <a:cxn ang="T13">
                  <a:pos x="T6" y="T7"/>
                </a:cxn>
                <a:cxn ang="T14">
                  <a:pos x="T8" y="T9"/>
                </a:cxn>
              </a:cxnLst>
              <a:rect l="T15" t="T16" r="T17" b="T18"/>
              <a:pathLst>
                <a:path w="202" h="73">
                  <a:moveTo>
                    <a:pt x="0" y="72"/>
                  </a:moveTo>
                  <a:lnTo>
                    <a:pt x="91" y="53"/>
                  </a:lnTo>
                  <a:lnTo>
                    <a:pt x="134" y="29"/>
                  </a:lnTo>
                  <a:lnTo>
                    <a:pt x="177" y="19"/>
                  </a:lnTo>
                  <a:lnTo>
                    <a:pt x="201" y="0"/>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6" name="Freeform 124"/>
            <p:cNvSpPr>
              <a:spLocks/>
            </p:cNvSpPr>
            <p:nvPr/>
          </p:nvSpPr>
          <p:spPr bwMode="auto">
            <a:xfrm>
              <a:off x="1670" y="1083"/>
              <a:ext cx="63" cy="134"/>
            </a:xfrm>
            <a:custGeom>
              <a:avLst/>
              <a:gdLst>
                <a:gd name="T0" fmla="*/ 0 w 186"/>
                <a:gd name="T1" fmla="*/ 0 h 394"/>
                <a:gd name="T2" fmla="*/ 0 w 186"/>
                <a:gd name="T3" fmla="*/ 1 h 394"/>
                <a:gd name="T4" fmla="*/ 1 w 186"/>
                <a:gd name="T5" fmla="*/ 2 h 394"/>
                <a:gd name="T6" fmla="*/ 1 w 186"/>
                <a:gd name="T7" fmla="*/ 3 h 394"/>
                <a:gd name="T8" fmla="*/ 3 w 186"/>
                <a:gd name="T9" fmla="*/ 4 h 394"/>
                <a:gd name="T10" fmla="*/ 3 w 186"/>
                <a:gd name="T11" fmla="*/ 6 h 394"/>
                <a:gd name="T12" fmla="*/ 4 w 186"/>
                <a:gd name="T13" fmla="*/ 8 h 394"/>
                <a:gd name="T14" fmla="*/ 4 w 186"/>
                <a:gd name="T15" fmla="*/ 9 h 394"/>
                <a:gd name="T16" fmla="*/ 5 w 186"/>
                <a:gd name="T17" fmla="*/ 11 h 394"/>
                <a:gd name="T18" fmla="*/ 6 w 186"/>
                <a:gd name="T19" fmla="*/ 13 h 394"/>
                <a:gd name="T20" fmla="*/ 6 w 186"/>
                <a:gd name="T21" fmla="*/ 13 h 394"/>
                <a:gd name="T22" fmla="*/ 6 w 186"/>
                <a:gd name="T23" fmla="*/ 14 h 394"/>
                <a:gd name="T24" fmla="*/ 7 w 186"/>
                <a:gd name="T25" fmla="*/ 16 h 394"/>
                <a:gd name="T26" fmla="*/ 7 w 186"/>
                <a:gd name="T27" fmla="*/ 16 h 394"/>
                <a:gd name="T28" fmla="*/ 7 w 186"/>
                <a:gd name="T29" fmla="*/ 15 h 394"/>
                <a:gd name="T30" fmla="*/ 7 w 186"/>
                <a:gd name="T31" fmla="*/ 15 h 394"/>
                <a:gd name="T32" fmla="*/ 7 w 186"/>
                <a:gd name="T33" fmla="*/ 14 h 394"/>
                <a:gd name="T34" fmla="*/ 7 w 186"/>
                <a:gd name="T35" fmla="*/ 14 h 394"/>
                <a:gd name="T36" fmla="*/ 6 w 186"/>
                <a:gd name="T37" fmla="*/ 13 h 394"/>
                <a:gd name="T38" fmla="*/ 6 w 186"/>
                <a:gd name="T39" fmla="*/ 12 h 394"/>
                <a:gd name="T40" fmla="*/ 6 w 186"/>
                <a:gd name="T41" fmla="*/ 12 h 394"/>
                <a:gd name="T42" fmla="*/ 5 w 186"/>
                <a:gd name="T43" fmla="*/ 11 h 394"/>
                <a:gd name="T44" fmla="*/ 5 w 186"/>
                <a:gd name="T45" fmla="*/ 10 h 394"/>
                <a:gd name="T46" fmla="*/ 4 w 186"/>
                <a:gd name="T47" fmla="*/ 9 h 394"/>
                <a:gd name="T48" fmla="*/ 4 w 186"/>
                <a:gd name="T49" fmla="*/ 8 h 394"/>
                <a:gd name="T50" fmla="*/ 4 w 186"/>
                <a:gd name="T51" fmla="*/ 7 h 394"/>
                <a:gd name="T52" fmla="*/ 3 w 186"/>
                <a:gd name="T53" fmla="*/ 6 h 394"/>
                <a:gd name="T54" fmla="*/ 3 w 186"/>
                <a:gd name="T55" fmla="*/ 6 h 394"/>
                <a:gd name="T56" fmla="*/ 3 w 186"/>
                <a:gd name="T57" fmla="*/ 5 h 394"/>
                <a:gd name="T58" fmla="*/ 3 w 186"/>
                <a:gd name="T59" fmla="*/ 4 h 394"/>
                <a:gd name="T60" fmla="*/ 2 w 186"/>
                <a:gd name="T61" fmla="*/ 4 h 394"/>
                <a:gd name="T62" fmla="*/ 2 w 186"/>
                <a:gd name="T63" fmla="*/ 3 h 394"/>
                <a:gd name="T64" fmla="*/ 2 w 186"/>
                <a:gd name="T65" fmla="*/ 3 h 394"/>
                <a:gd name="T66" fmla="*/ 1 w 186"/>
                <a:gd name="T67" fmla="*/ 2 h 394"/>
                <a:gd name="T68" fmla="*/ 1 w 186"/>
                <a:gd name="T69" fmla="*/ 2 h 394"/>
                <a:gd name="T70" fmla="*/ 0 w 186"/>
                <a:gd name="T71" fmla="*/ 1 h 39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86"/>
                <a:gd name="T109" fmla="*/ 0 h 394"/>
                <a:gd name="T110" fmla="*/ 186 w 186"/>
                <a:gd name="T111" fmla="*/ 394 h 39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86" h="394">
                  <a:moveTo>
                    <a:pt x="0" y="0"/>
                  </a:moveTo>
                  <a:lnTo>
                    <a:pt x="13" y="22"/>
                  </a:lnTo>
                  <a:lnTo>
                    <a:pt x="24" y="44"/>
                  </a:lnTo>
                  <a:lnTo>
                    <a:pt x="37" y="83"/>
                  </a:lnTo>
                  <a:lnTo>
                    <a:pt x="69" y="110"/>
                  </a:lnTo>
                  <a:lnTo>
                    <a:pt x="78" y="155"/>
                  </a:lnTo>
                  <a:lnTo>
                    <a:pt x="94" y="209"/>
                  </a:lnTo>
                  <a:lnTo>
                    <a:pt x="107" y="236"/>
                  </a:lnTo>
                  <a:lnTo>
                    <a:pt x="133" y="280"/>
                  </a:lnTo>
                  <a:lnTo>
                    <a:pt x="153" y="320"/>
                  </a:lnTo>
                  <a:lnTo>
                    <a:pt x="161" y="336"/>
                  </a:lnTo>
                  <a:lnTo>
                    <a:pt x="168" y="356"/>
                  </a:lnTo>
                  <a:lnTo>
                    <a:pt x="185" y="393"/>
                  </a:lnTo>
                  <a:lnTo>
                    <a:pt x="184" y="393"/>
                  </a:lnTo>
                  <a:lnTo>
                    <a:pt x="184" y="385"/>
                  </a:lnTo>
                  <a:lnTo>
                    <a:pt x="181" y="372"/>
                  </a:lnTo>
                  <a:lnTo>
                    <a:pt x="177" y="361"/>
                  </a:lnTo>
                  <a:lnTo>
                    <a:pt x="174" y="347"/>
                  </a:lnTo>
                  <a:lnTo>
                    <a:pt x="169" y="332"/>
                  </a:lnTo>
                  <a:lnTo>
                    <a:pt x="163" y="316"/>
                  </a:lnTo>
                  <a:lnTo>
                    <a:pt x="153" y="294"/>
                  </a:lnTo>
                  <a:lnTo>
                    <a:pt x="142" y="275"/>
                  </a:lnTo>
                  <a:lnTo>
                    <a:pt x="131" y="248"/>
                  </a:lnTo>
                  <a:lnTo>
                    <a:pt x="112" y="224"/>
                  </a:lnTo>
                  <a:lnTo>
                    <a:pt x="104" y="208"/>
                  </a:lnTo>
                  <a:lnTo>
                    <a:pt x="96" y="188"/>
                  </a:lnTo>
                  <a:lnTo>
                    <a:pt x="91" y="169"/>
                  </a:lnTo>
                  <a:lnTo>
                    <a:pt x="83" y="153"/>
                  </a:lnTo>
                  <a:lnTo>
                    <a:pt x="80" y="139"/>
                  </a:lnTo>
                  <a:lnTo>
                    <a:pt x="70" y="112"/>
                  </a:lnTo>
                  <a:lnTo>
                    <a:pt x="62" y="100"/>
                  </a:lnTo>
                  <a:lnTo>
                    <a:pt x="48" y="89"/>
                  </a:lnTo>
                  <a:lnTo>
                    <a:pt x="41" y="83"/>
                  </a:lnTo>
                  <a:lnTo>
                    <a:pt x="32" y="64"/>
                  </a:lnTo>
                  <a:lnTo>
                    <a:pt x="22" y="43"/>
                  </a:lnTo>
                  <a:lnTo>
                    <a:pt x="13" y="27"/>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7" name="Freeform 125"/>
            <p:cNvSpPr>
              <a:spLocks/>
            </p:cNvSpPr>
            <p:nvPr/>
          </p:nvSpPr>
          <p:spPr bwMode="auto">
            <a:xfrm>
              <a:off x="1183" y="1252"/>
              <a:ext cx="57" cy="13"/>
            </a:xfrm>
            <a:custGeom>
              <a:avLst/>
              <a:gdLst>
                <a:gd name="T0" fmla="*/ 0 w 167"/>
                <a:gd name="T1" fmla="*/ 0 h 39"/>
                <a:gd name="T2" fmla="*/ 3 w 167"/>
                <a:gd name="T3" fmla="*/ 1 h 39"/>
                <a:gd name="T4" fmla="*/ 5 w 167"/>
                <a:gd name="T5" fmla="*/ 1 h 39"/>
                <a:gd name="T6" fmla="*/ 6 w 167"/>
                <a:gd name="T7" fmla="*/ 1 h 39"/>
                <a:gd name="T8" fmla="*/ 0 60000 65536"/>
                <a:gd name="T9" fmla="*/ 0 60000 65536"/>
                <a:gd name="T10" fmla="*/ 0 60000 65536"/>
                <a:gd name="T11" fmla="*/ 0 60000 65536"/>
                <a:gd name="T12" fmla="*/ 0 w 167"/>
                <a:gd name="T13" fmla="*/ 0 h 39"/>
                <a:gd name="T14" fmla="*/ 167 w 167"/>
                <a:gd name="T15" fmla="*/ 39 h 39"/>
              </a:gdLst>
              <a:ahLst/>
              <a:cxnLst>
                <a:cxn ang="T8">
                  <a:pos x="T0" y="T1"/>
                </a:cxn>
                <a:cxn ang="T9">
                  <a:pos x="T2" y="T3"/>
                </a:cxn>
                <a:cxn ang="T10">
                  <a:pos x="T4" y="T5"/>
                </a:cxn>
                <a:cxn ang="T11">
                  <a:pos x="T6" y="T7"/>
                </a:cxn>
              </a:cxnLst>
              <a:rect l="T12" t="T13" r="T14" b="T15"/>
              <a:pathLst>
                <a:path w="167" h="39">
                  <a:moveTo>
                    <a:pt x="0" y="0"/>
                  </a:moveTo>
                  <a:lnTo>
                    <a:pt x="83" y="32"/>
                  </a:lnTo>
                  <a:lnTo>
                    <a:pt x="122" y="38"/>
                  </a:lnTo>
                  <a:lnTo>
                    <a:pt x="166" y="38"/>
                  </a:lnTo>
                </a:path>
              </a:pathLst>
            </a:custGeom>
            <a:noFill/>
            <a:ln w="635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 name="Freeform 126"/>
            <p:cNvSpPr>
              <a:spLocks/>
            </p:cNvSpPr>
            <p:nvPr/>
          </p:nvSpPr>
          <p:spPr bwMode="auto">
            <a:xfrm>
              <a:off x="917" y="1092"/>
              <a:ext cx="28" cy="37"/>
            </a:xfrm>
            <a:custGeom>
              <a:avLst/>
              <a:gdLst>
                <a:gd name="T0" fmla="*/ 3 w 82"/>
                <a:gd name="T1" fmla="*/ 4 h 111"/>
                <a:gd name="T2" fmla="*/ 2 w 82"/>
                <a:gd name="T3" fmla="*/ 4 h 111"/>
                <a:gd name="T4" fmla="*/ 2 w 82"/>
                <a:gd name="T5" fmla="*/ 3 h 111"/>
                <a:gd name="T6" fmla="*/ 1 w 82"/>
                <a:gd name="T7" fmla="*/ 3 h 111"/>
                <a:gd name="T8" fmla="*/ 1 w 82"/>
                <a:gd name="T9" fmla="*/ 2 h 111"/>
                <a:gd name="T10" fmla="*/ 0 w 82"/>
                <a:gd name="T11" fmla="*/ 1 h 111"/>
                <a:gd name="T12" fmla="*/ 0 w 82"/>
                <a:gd name="T13" fmla="*/ 0 h 111"/>
                <a:gd name="T14" fmla="*/ 0 w 82"/>
                <a:gd name="T15" fmla="*/ 0 h 111"/>
                <a:gd name="T16" fmla="*/ 0 w 82"/>
                <a:gd name="T17" fmla="*/ 1 h 111"/>
                <a:gd name="T18" fmla="*/ 1 w 82"/>
                <a:gd name="T19" fmla="*/ 1 h 111"/>
                <a:gd name="T20" fmla="*/ 1 w 82"/>
                <a:gd name="T21" fmla="*/ 2 h 111"/>
                <a:gd name="T22" fmla="*/ 2 w 82"/>
                <a:gd name="T23" fmla="*/ 2 h 111"/>
                <a:gd name="T24" fmla="*/ 2 w 82"/>
                <a:gd name="T25" fmla="*/ 3 h 111"/>
                <a:gd name="T26" fmla="*/ 3 w 82"/>
                <a:gd name="T27" fmla="*/ 3 h 111"/>
                <a:gd name="T28" fmla="*/ 3 w 82"/>
                <a:gd name="T29" fmla="*/ 3 h 111"/>
                <a:gd name="T30" fmla="*/ 3 w 82"/>
                <a:gd name="T31" fmla="*/ 4 h 111"/>
                <a:gd name="T32" fmla="*/ 3 w 82"/>
                <a:gd name="T33" fmla="*/ 4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111"/>
                <a:gd name="T53" fmla="*/ 82 w 82"/>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111">
                  <a:moveTo>
                    <a:pt x="64" y="110"/>
                  </a:moveTo>
                  <a:lnTo>
                    <a:pt x="52" y="100"/>
                  </a:lnTo>
                  <a:lnTo>
                    <a:pt x="46" y="88"/>
                  </a:lnTo>
                  <a:lnTo>
                    <a:pt x="36" y="75"/>
                  </a:lnTo>
                  <a:lnTo>
                    <a:pt x="24" y="43"/>
                  </a:lnTo>
                  <a:lnTo>
                    <a:pt x="8" y="17"/>
                  </a:lnTo>
                  <a:lnTo>
                    <a:pt x="0" y="0"/>
                  </a:lnTo>
                  <a:lnTo>
                    <a:pt x="9" y="12"/>
                  </a:lnTo>
                  <a:lnTo>
                    <a:pt x="12" y="22"/>
                  </a:lnTo>
                  <a:lnTo>
                    <a:pt x="22" y="36"/>
                  </a:lnTo>
                  <a:lnTo>
                    <a:pt x="30" y="51"/>
                  </a:lnTo>
                  <a:lnTo>
                    <a:pt x="40" y="64"/>
                  </a:lnTo>
                  <a:lnTo>
                    <a:pt x="49" y="76"/>
                  </a:lnTo>
                  <a:lnTo>
                    <a:pt x="64" y="88"/>
                  </a:lnTo>
                  <a:lnTo>
                    <a:pt x="75" y="92"/>
                  </a:lnTo>
                  <a:lnTo>
                    <a:pt x="81" y="99"/>
                  </a:lnTo>
                  <a:lnTo>
                    <a:pt x="64" y="110"/>
                  </a:lnTo>
                </a:path>
              </a:pathLst>
            </a:custGeom>
            <a:solidFill>
              <a:schemeClr val="bg1"/>
            </a:solidFill>
            <a:ln w="6350" cap="rnd">
              <a:solidFill>
                <a:schemeClr val="tx1"/>
              </a:solidFill>
              <a:round/>
              <a:headEnd/>
              <a:tailEnd/>
            </a:ln>
          </p:spPr>
          <p:txBody>
            <a:bodyPr/>
            <a:lstStyle/>
            <a:p>
              <a:endParaRPr lang="zh-CN" altLang="en-US"/>
            </a:p>
          </p:txBody>
        </p:sp>
        <p:sp>
          <p:nvSpPr>
            <p:cNvPr id="369" name="Freeform 127"/>
            <p:cNvSpPr>
              <a:spLocks/>
            </p:cNvSpPr>
            <p:nvPr/>
          </p:nvSpPr>
          <p:spPr bwMode="auto">
            <a:xfrm>
              <a:off x="814" y="961"/>
              <a:ext cx="38" cy="60"/>
            </a:xfrm>
            <a:custGeom>
              <a:avLst/>
              <a:gdLst>
                <a:gd name="T0" fmla="*/ 0 w 114"/>
                <a:gd name="T1" fmla="*/ 0 h 177"/>
                <a:gd name="T2" fmla="*/ 1 w 114"/>
                <a:gd name="T3" fmla="*/ 2 h 177"/>
                <a:gd name="T4" fmla="*/ 2 w 114"/>
                <a:gd name="T5" fmla="*/ 2 h 177"/>
                <a:gd name="T6" fmla="*/ 2 w 114"/>
                <a:gd name="T7" fmla="*/ 3 h 177"/>
                <a:gd name="T8" fmla="*/ 3 w 114"/>
                <a:gd name="T9" fmla="*/ 4 h 177"/>
                <a:gd name="T10" fmla="*/ 4 w 114"/>
                <a:gd name="T11" fmla="*/ 6 h 177"/>
                <a:gd name="T12" fmla="*/ 4 w 114"/>
                <a:gd name="T13" fmla="*/ 6 h 177"/>
                <a:gd name="T14" fmla="*/ 4 w 114"/>
                <a:gd name="T15" fmla="*/ 7 h 177"/>
                <a:gd name="T16" fmla="*/ 4 w 114"/>
                <a:gd name="T17" fmla="*/ 6 h 177"/>
                <a:gd name="T18" fmla="*/ 4 w 114"/>
                <a:gd name="T19" fmla="*/ 6 h 177"/>
                <a:gd name="T20" fmla="*/ 4 w 114"/>
                <a:gd name="T21" fmla="*/ 5 h 177"/>
                <a:gd name="T22" fmla="*/ 3 w 114"/>
                <a:gd name="T23" fmla="*/ 5 h 177"/>
                <a:gd name="T24" fmla="*/ 3 w 114"/>
                <a:gd name="T25" fmla="*/ 4 h 177"/>
                <a:gd name="T26" fmla="*/ 3 w 114"/>
                <a:gd name="T27" fmla="*/ 4 h 177"/>
                <a:gd name="T28" fmla="*/ 2 w 114"/>
                <a:gd name="T29" fmla="*/ 3 h 177"/>
                <a:gd name="T30" fmla="*/ 2 w 114"/>
                <a:gd name="T31" fmla="*/ 2 h 177"/>
                <a:gd name="T32" fmla="*/ 2 w 114"/>
                <a:gd name="T33" fmla="*/ 1 h 177"/>
                <a:gd name="T34" fmla="*/ 1 w 114"/>
                <a:gd name="T35" fmla="*/ 0 h 177"/>
                <a:gd name="T36" fmla="*/ 1 w 114"/>
                <a:gd name="T37" fmla="*/ 0 h 177"/>
                <a:gd name="T38" fmla="*/ 1 w 114"/>
                <a:gd name="T39" fmla="*/ 0 h 177"/>
                <a:gd name="T40" fmla="*/ 1 w 114"/>
                <a:gd name="T41" fmla="*/ 0 h 177"/>
                <a:gd name="T42" fmla="*/ 0 w 114"/>
                <a:gd name="T43" fmla="*/ 0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
                <a:gd name="T67" fmla="*/ 0 h 177"/>
                <a:gd name="T68" fmla="*/ 114 w 114"/>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 h="177">
                  <a:moveTo>
                    <a:pt x="0" y="10"/>
                  </a:moveTo>
                  <a:lnTo>
                    <a:pt x="40" y="41"/>
                  </a:lnTo>
                  <a:lnTo>
                    <a:pt x="45" y="57"/>
                  </a:lnTo>
                  <a:lnTo>
                    <a:pt x="58" y="82"/>
                  </a:lnTo>
                  <a:lnTo>
                    <a:pt x="79" y="101"/>
                  </a:lnTo>
                  <a:lnTo>
                    <a:pt x="95" y="146"/>
                  </a:lnTo>
                  <a:lnTo>
                    <a:pt x="102" y="164"/>
                  </a:lnTo>
                  <a:lnTo>
                    <a:pt x="113" y="176"/>
                  </a:lnTo>
                  <a:lnTo>
                    <a:pt x="106" y="161"/>
                  </a:lnTo>
                  <a:lnTo>
                    <a:pt x="101" y="146"/>
                  </a:lnTo>
                  <a:lnTo>
                    <a:pt x="96" y="130"/>
                  </a:lnTo>
                  <a:lnTo>
                    <a:pt x="87" y="118"/>
                  </a:lnTo>
                  <a:lnTo>
                    <a:pt x="79" y="103"/>
                  </a:lnTo>
                  <a:lnTo>
                    <a:pt x="72" y="93"/>
                  </a:lnTo>
                  <a:lnTo>
                    <a:pt x="57" y="77"/>
                  </a:lnTo>
                  <a:lnTo>
                    <a:pt x="52" y="51"/>
                  </a:lnTo>
                  <a:lnTo>
                    <a:pt x="43" y="37"/>
                  </a:lnTo>
                  <a:lnTo>
                    <a:pt x="35" y="12"/>
                  </a:lnTo>
                  <a:lnTo>
                    <a:pt x="28" y="4"/>
                  </a:lnTo>
                  <a:lnTo>
                    <a:pt x="25" y="0"/>
                  </a:lnTo>
                  <a:lnTo>
                    <a:pt x="19" y="0"/>
                  </a:lnTo>
                  <a:lnTo>
                    <a:pt x="0" y="10"/>
                  </a:lnTo>
                </a:path>
              </a:pathLst>
            </a:custGeom>
            <a:solidFill>
              <a:schemeClr val="bg1"/>
            </a:solidFill>
            <a:ln w="6350" cap="rnd">
              <a:solidFill>
                <a:schemeClr val="tx1"/>
              </a:solidFill>
              <a:round/>
              <a:headEnd/>
              <a:tailEnd/>
            </a:ln>
          </p:spPr>
          <p:txBody>
            <a:bodyPr/>
            <a:lstStyle/>
            <a:p>
              <a:endParaRPr lang="zh-CN" altLang="en-US"/>
            </a:p>
          </p:txBody>
        </p:sp>
      </p:grpSp>
      <p:grpSp>
        <p:nvGrpSpPr>
          <p:cNvPr id="370" name="Group 128"/>
          <p:cNvGrpSpPr>
            <a:grpSpLocks/>
          </p:cNvGrpSpPr>
          <p:nvPr/>
        </p:nvGrpSpPr>
        <p:grpSpPr bwMode="auto">
          <a:xfrm>
            <a:off x="6110988" y="2104132"/>
            <a:ext cx="2093913" cy="766763"/>
            <a:chOff x="3472" y="796"/>
            <a:chExt cx="1319" cy="483"/>
          </a:xfrm>
        </p:grpSpPr>
        <p:sp>
          <p:nvSpPr>
            <p:cNvPr id="371" name="Freeform 129" descr="沙滩"/>
            <p:cNvSpPr>
              <a:spLocks/>
            </p:cNvSpPr>
            <p:nvPr/>
          </p:nvSpPr>
          <p:spPr bwMode="auto">
            <a:xfrm>
              <a:off x="3657" y="796"/>
              <a:ext cx="909" cy="483"/>
            </a:xfrm>
            <a:custGeom>
              <a:avLst/>
              <a:gdLst>
                <a:gd name="T0" fmla="*/ 0 w 909"/>
                <a:gd name="T1" fmla="*/ 476 h 483"/>
                <a:gd name="T2" fmla="*/ 64 w 909"/>
                <a:gd name="T3" fmla="*/ 374 h 483"/>
                <a:gd name="T4" fmla="*/ 141 w 909"/>
                <a:gd name="T5" fmla="*/ 252 h 483"/>
                <a:gd name="T6" fmla="*/ 249 w 909"/>
                <a:gd name="T7" fmla="*/ 144 h 483"/>
                <a:gd name="T8" fmla="*/ 326 w 909"/>
                <a:gd name="T9" fmla="*/ 48 h 483"/>
                <a:gd name="T10" fmla="*/ 461 w 909"/>
                <a:gd name="T11" fmla="*/ 3 h 483"/>
                <a:gd name="T12" fmla="*/ 550 w 909"/>
                <a:gd name="T13" fmla="*/ 67 h 483"/>
                <a:gd name="T14" fmla="*/ 659 w 909"/>
                <a:gd name="T15" fmla="*/ 188 h 483"/>
                <a:gd name="T16" fmla="*/ 736 w 909"/>
                <a:gd name="T17" fmla="*/ 297 h 483"/>
                <a:gd name="T18" fmla="*/ 800 w 909"/>
                <a:gd name="T19" fmla="*/ 355 h 483"/>
                <a:gd name="T20" fmla="*/ 832 w 909"/>
                <a:gd name="T21" fmla="*/ 412 h 483"/>
                <a:gd name="T22" fmla="*/ 909 w 909"/>
                <a:gd name="T23" fmla="*/ 483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09"/>
                <a:gd name="T37" fmla="*/ 0 h 483"/>
                <a:gd name="T38" fmla="*/ 909 w 909"/>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09" h="483">
                  <a:moveTo>
                    <a:pt x="0" y="476"/>
                  </a:moveTo>
                  <a:cubicBezTo>
                    <a:pt x="20" y="443"/>
                    <a:pt x="41" y="411"/>
                    <a:pt x="64" y="374"/>
                  </a:cubicBezTo>
                  <a:cubicBezTo>
                    <a:pt x="87" y="337"/>
                    <a:pt x="110" y="290"/>
                    <a:pt x="141" y="252"/>
                  </a:cubicBezTo>
                  <a:cubicBezTo>
                    <a:pt x="172" y="214"/>
                    <a:pt x="218" y="178"/>
                    <a:pt x="249" y="144"/>
                  </a:cubicBezTo>
                  <a:cubicBezTo>
                    <a:pt x="280" y="110"/>
                    <a:pt x="291" y="71"/>
                    <a:pt x="326" y="48"/>
                  </a:cubicBezTo>
                  <a:cubicBezTo>
                    <a:pt x="361" y="25"/>
                    <a:pt x="424" y="0"/>
                    <a:pt x="461" y="3"/>
                  </a:cubicBezTo>
                  <a:cubicBezTo>
                    <a:pt x="498" y="6"/>
                    <a:pt x="517" y="36"/>
                    <a:pt x="550" y="67"/>
                  </a:cubicBezTo>
                  <a:cubicBezTo>
                    <a:pt x="583" y="98"/>
                    <a:pt x="628" y="150"/>
                    <a:pt x="659" y="188"/>
                  </a:cubicBezTo>
                  <a:cubicBezTo>
                    <a:pt x="690" y="226"/>
                    <a:pt x="713" y="269"/>
                    <a:pt x="736" y="297"/>
                  </a:cubicBezTo>
                  <a:cubicBezTo>
                    <a:pt x="759" y="325"/>
                    <a:pt x="784" y="336"/>
                    <a:pt x="800" y="355"/>
                  </a:cubicBezTo>
                  <a:cubicBezTo>
                    <a:pt x="816" y="374"/>
                    <a:pt x="814" y="391"/>
                    <a:pt x="832" y="412"/>
                  </a:cubicBezTo>
                  <a:cubicBezTo>
                    <a:pt x="850" y="433"/>
                    <a:pt x="879" y="458"/>
                    <a:pt x="909" y="483"/>
                  </a:cubicBezTo>
                </a:path>
              </a:pathLst>
            </a:custGeom>
            <a:blipFill dpi="0" rotWithShape="1">
              <a:blip r:embed="rId4"/>
              <a:srcRect/>
              <a:tile tx="0" ty="0" sx="100000" sy="100000" flip="none" algn="tl"/>
            </a:blipFill>
            <a:ln w="9525">
              <a:noFill/>
              <a:round/>
              <a:headEnd/>
              <a:tailEnd/>
            </a:ln>
          </p:spPr>
          <p:txBody>
            <a:bodyPr/>
            <a:lstStyle/>
            <a:p>
              <a:endParaRPr lang="zh-CN" altLang="en-US"/>
            </a:p>
          </p:txBody>
        </p:sp>
        <p:sp>
          <p:nvSpPr>
            <p:cNvPr id="372" name="Line 130"/>
            <p:cNvSpPr>
              <a:spLocks noChangeShapeType="1"/>
            </p:cNvSpPr>
            <p:nvPr/>
          </p:nvSpPr>
          <p:spPr bwMode="auto">
            <a:xfrm>
              <a:off x="3472" y="1271"/>
              <a:ext cx="1319" cy="0"/>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73" name="Text Box 131"/>
          <p:cNvSpPr txBox="1">
            <a:spLocks noChangeArrowheads="1"/>
          </p:cNvSpPr>
          <p:nvPr/>
        </p:nvSpPr>
        <p:spPr bwMode="auto">
          <a:xfrm>
            <a:off x="6846001" y="3093145"/>
            <a:ext cx="5921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200" b="1">
                <a:solidFill>
                  <a:srgbClr val="000066"/>
                </a:solidFill>
                <a:latin typeface="幼圆" pitchFamily="49" charset="-122"/>
                <a:ea typeface="幼圆" pitchFamily="49" charset="-122"/>
              </a:rPr>
              <a:t>土</a:t>
            </a:r>
          </a:p>
        </p:txBody>
      </p:sp>
      <p:sp>
        <p:nvSpPr>
          <p:cNvPr id="374" name="Text Box 132"/>
          <p:cNvSpPr txBox="1">
            <a:spLocks noChangeArrowheads="1"/>
          </p:cNvSpPr>
          <p:nvPr/>
        </p:nvSpPr>
        <p:spPr bwMode="auto">
          <a:xfrm>
            <a:off x="1627888" y="3099495"/>
            <a:ext cx="1138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200" b="1">
                <a:solidFill>
                  <a:srgbClr val="000066"/>
                </a:solidFill>
                <a:latin typeface="幼圆" pitchFamily="49" charset="-122"/>
                <a:ea typeface="幼圆" pitchFamily="49" charset="-122"/>
              </a:rPr>
              <a:t>岩石</a:t>
            </a:r>
          </a:p>
        </p:txBody>
      </p:sp>
      <p:sp>
        <p:nvSpPr>
          <p:cNvPr id="375" name="Text Box 133"/>
          <p:cNvSpPr txBox="1">
            <a:spLocks noChangeArrowheads="1"/>
          </p:cNvSpPr>
          <p:nvPr/>
        </p:nvSpPr>
        <p:spPr bwMode="auto">
          <a:xfrm>
            <a:off x="3417001" y="1918362"/>
            <a:ext cx="2695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a:solidFill>
                  <a:srgbClr val="000066"/>
                </a:solidFill>
                <a:latin typeface="幼圆" pitchFamily="49" charset="-122"/>
                <a:ea typeface="幼圆" pitchFamily="49" charset="-122"/>
              </a:rPr>
              <a:t>风化、搬运、沉积</a:t>
            </a:r>
          </a:p>
        </p:txBody>
      </p:sp>
      <p:sp>
        <p:nvSpPr>
          <p:cNvPr id="376" name="Line 134"/>
          <p:cNvSpPr>
            <a:spLocks noChangeShapeType="1"/>
          </p:cNvSpPr>
          <p:nvPr/>
        </p:nvSpPr>
        <p:spPr bwMode="auto">
          <a:xfrm>
            <a:off x="3675763" y="2604162"/>
            <a:ext cx="2211388" cy="0"/>
          </a:xfrm>
          <a:prstGeom prst="line">
            <a:avLst/>
          </a:prstGeom>
          <a:noFill/>
          <a:ln w="28575">
            <a:solidFill>
              <a:srgbClr val="A5002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1" name="Rectangle 2"/>
          <p:cNvSpPr txBox="1">
            <a:spLocks noChangeArrowheads="1"/>
          </p:cNvSpPr>
          <p:nvPr/>
        </p:nvSpPr>
        <p:spPr>
          <a:xfrm>
            <a:off x="479835" y="698580"/>
            <a:ext cx="4336718" cy="747454"/>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00000"/>
              </a:lnSpc>
              <a:spcBef>
                <a:spcPts val="0"/>
              </a:spcBef>
              <a:spcAft>
                <a:spcPts val="0"/>
              </a:spcAft>
            </a:pPr>
            <a:r>
              <a:rPr lang="en-US" altLang="zh-CN"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§1.1  </a:t>
            </a:r>
            <a:r>
              <a:rPr lang="zh-CN" altLang="en-US"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土的形成</a:t>
            </a:r>
          </a:p>
        </p:txBody>
      </p:sp>
      <p:sp>
        <p:nvSpPr>
          <p:cNvPr id="132" name="Rectangle 3"/>
          <p:cNvSpPr txBox="1">
            <a:spLocks noChangeArrowheads="1"/>
          </p:cNvSpPr>
          <p:nvPr/>
        </p:nvSpPr>
        <p:spPr>
          <a:xfrm>
            <a:off x="1473791" y="3927034"/>
            <a:ext cx="6404935" cy="1384995"/>
          </a:xfrm>
          <a:prstGeom prst="rect">
            <a:avLst/>
          </a:prstGeom>
          <a:noFill/>
        </p:spPr>
        <p:txBody>
          <a:bodyPr wrap="square">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46088" indent="-446088">
              <a:lnSpc>
                <a:spcPct val="150000"/>
              </a:lnSpc>
              <a:spcBef>
                <a:spcPts val="0"/>
              </a:spcBef>
              <a:spcAft>
                <a:spcPts val="0"/>
              </a:spcAft>
              <a:buClr>
                <a:srgbClr val="C00000"/>
              </a:buClr>
              <a:buSzPct val="130000"/>
            </a:pPr>
            <a:r>
              <a:rPr lang="zh-CN" altLang="en-US" sz="28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风化过程：物理、化学、生物</a:t>
            </a:r>
          </a:p>
          <a:p>
            <a:pPr marL="446088" indent="-446088">
              <a:lnSpc>
                <a:spcPct val="150000"/>
              </a:lnSpc>
              <a:spcBef>
                <a:spcPts val="0"/>
              </a:spcBef>
              <a:spcAft>
                <a:spcPts val="0"/>
              </a:spcAft>
              <a:buClr>
                <a:srgbClr val="C00000"/>
              </a:buClr>
              <a:buSzPct val="130000"/>
            </a:pPr>
            <a:r>
              <a:rPr lang="zh-CN" altLang="en-US" sz="28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搬运沉积方式：残积土、运积土</a:t>
            </a:r>
          </a:p>
        </p:txBody>
      </p:sp>
    </p:spTree>
    <p:extLst>
      <p:ext uri="{BB962C8B-B14F-4D97-AF65-F5344CB8AC3E}">
        <p14:creationId xmlns:p14="http://schemas.microsoft.com/office/powerpoint/2010/main" val="2503127070"/>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 Box 13"/>
          <p:cNvSpPr txBox="1">
            <a:spLocks noChangeArrowheads="1"/>
          </p:cNvSpPr>
          <p:nvPr/>
        </p:nvSpPr>
        <p:spPr bwMode="auto">
          <a:xfrm>
            <a:off x="1428802" y="1389675"/>
            <a:ext cx="5439852"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5000"/>
              </a:lnSpc>
              <a:spcBef>
                <a:spcPct val="10000"/>
              </a:spcBef>
              <a:spcAft>
                <a:spcPct val="10000"/>
              </a:spcAft>
              <a:buClr>
                <a:srgbClr val="C00000"/>
              </a:buClr>
              <a:buSzPct val="100000"/>
              <a:buFont typeface="Wingdings" panose="05000000000000000000" pitchFamily="2" charset="2"/>
              <a:buChar char="n"/>
            </a:pPr>
            <a:r>
              <a:rPr kumimoji="1" lang="zh-CN" altLang="en-US" sz="2400" b="1" dirty="0">
                <a:solidFill>
                  <a:srgbClr val="C00000"/>
                </a:solidFill>
                <a:latin typeface="黑体" panose="02010609060101010101" pitchFamily="49" charset="-122"/>
                <a:ea typeface="黑体" panose="02010609060101010101" pitchFamily="49" charset="-122"/>
              </a:rPr>
              <a:t>固体</a:t>
            </a:r>
            <a:r>
              <a:rPr kumimoji="1" lang="zh-CN" altLang="en-US" sz="2400" b="1" dirty="0" smtClean="0">
                <a:solidFill>
                  <a:srgbClr val="C00000"/>
                </a:solidFill>
                <a:latin typeface="黑体" panose="02010609060101010101" pitchFamily="49" charset="-122"/>
                <a:ea typeface="黑体" panose="02010609060101010101" pitchFamily="49" charset="-122"/>
              </a:rPr>
              <a:t>颗粒</a:t>
            </a:r>
            <a:r>
              <a:rPr kumimoji="1" lang="zh-CN" altLang="en-US" sz="2400" b="1" dirty="0" smtClean="0">
                <a:solidFill>
                  <a:srgbClr val="000066"/>
                </a:solidFill>
                <a:ea typeface="幼圆" pitchFamily="49" charset="-122"/>
              </a:rPr>
              <a:t>：对</a:t>
            </a:r>
            <a:r>
              <a:rPr kumimoji="1" lang="zh-CN" altLang="en-US" sz="2400" b="1" dirty="0">
                <a:solidFill>
                  <a:srgbClr val="000066"/>
                </a:solidFill>
                <a:ea typeface="幼圆" pitchFamily="49" charset="-122"/>
              </a:rPr>
              <a:t>土的性质起决定作用</a:t>
            </a:r>
          </a:p>
        </p:txBody>
      </p:sp>
      <p:sp>
        <p:nvSpPr>
          <p:cNvPr id="130" name="Text Box 14"/>
          <p:cNvSpPr txBox="1">
            <a:spLocks noChangeArrowheads="1"/>
          </p:cNvSpPr>
          <p:nvPr/>
        </p:nvSpPr>
        <p:spPr bwMode="auto">
          <a:xfrm>
            <a:off x="1956410" y="1966829"/>
            <a:ext cx="640080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5113" indent="-265113" eaLnBrk="1" hangingPunct="1">
              <a:lnSpc>
                <a:spcPct val="120000"/>
              </a:lnSpc>
              <a:spcBef>
                <a:spcPct val="0"/>
              </a:spcBef>
              <a:spcAft>
                <a:spcPct val="0"/>
              </a:spcAft>
              <a:buClr>
                <a:srgbClr val="C00000"/>
              </a:buClr>
              <a:buSzPct val="130000"/>
              <a:buFont typeface="Arial" panose="020B0604020202020204" pitchFamily="34" charset="0"/>
              <a:buChar char="•"/>
            </a:pPr>
            <a:r>
              <a:rPr kumimoji="1" lang="zh-CN" altLang="en-US" sz="2400" b="1" dirty="0">
                <a:solidFill>
                  <a:srgbClr val="000066"/>
                </a:solidFill>
                <a:ea typeface="幼圆" pitchFamily="49" charset="-122"/>
                <a:cs typeface="Times New Roman" panose="02020603050405020304" pitchFamily="18" charset="0"/>
              </a:rPr>
              <a:t>粒径级配：粒</a:t>
            </a:r>
            <a:r>
              <a:rPr kumimoji="1" lang="zh-CN" altLang="en-US" sz="2400" b="1" dirty="0" smtClean="0">
                <a:solidFill>
                  <a:srgbClr val="000066"/>
                </a:solidFill>
                <a:ea typeface="幼圆" pitchFamily="49" charset="-122"/>
                <a:cs typeface="Times New Roman" panose="02020603050405020304" pitchFamily="18" charset="0"/>
              </a:rPr>
              <a:t>组，分析方法，</a:t>
            </a:r>
            <a:r>
              <a:rPr kumimoji="1" lang="zh-CN" altLang="en-US" sz="2400" b="1" dirty="0">
                <a:solidFill>
                  <a:srgbClr val="000066"/>
                </a:solidFill>
                <a:ea typeface="幼圆" pitchFamily="49" charset="-122"/>
                <a:cs typeface="Times New Roman" panose="02020603050405020304" pitchFamily="18" charset="0"/>
              </a:rPr>
              <a:t>级配曲线，特征粒径</a:t>
            </a:r>
            <a:r>
              <a:rPr kumimoji="1" lang="zh-CN" altLang="en-US" sz="2400" b="1" dirty="0" smtClean="0">
                <a:solidFill>
                  <a:srgbClr val="000066"/>
                </a:solidFill>
                <a:ea typeface="幼圆" pitchFamily="49" charset="-122"/>
                <a:cs typeface="Times New Roman" panose="02020603050405020304" pitchFamily="18" charset="0"/>
              </a:rPr>
              <a:t>，级配优劣指标</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u</a:t>
            </a:r>
            <a:r>
              <a:rPr kumimoji="1" lang="zh-CN" altLang="en-US" sz="2400" b="1" dirty="0">
                <a:solidFill>
                  <a:srgbClr val="000066"/>
                </a:solidFill>
                <a:ea typeface="幼圆" pitchFamily="49" charset="-122"/>
                <a:cs typeface="Times New Roman" panose="02020603050405020304" pitchFamily="18" charset="0"/>
              </a:rPr>
              <a:t>和</a:t>
            </a:r>
            <a:r>
              <a:rPr kumimoji="1" lang="en-US" altLang="zh-CN" sz="2400" b="1" i="1" dirty="0">
                <a:solidFill>
                  <a:srgbClr val="000066"/>
                </a:solidFill>
                <a:ea typeface="幼圆" pitchFamily="49" charset="-122"/>
                <a:cs typeface="Times New Roman" panose="02020603050405020304" pitchFamily="18" charset="0"/>
              </a:rPr>
              <a:t>C</a:t>
            </a:r>
            <a:r>
              <a:rPr kumimoji="1" lang="en-US" altLang="zh-CN" sz="2400" b="1" baseline="-25000" dirty="0">
                <a:solidFill>
                  <a:srgbClr val="000066"/>
                </a:solidFill>
                <a:ea typeface="幼圆" pitchFamily="49" charset="-122"/>
                <a:cs typeface="Times New Roman" panose="02020603050405020304" pitchFamily="18" charset="0"/>
              </a:rPr>
              <a:t>c</a:t>
            </a:r>
            <a:r>
              <a:rPr kumimoji="1" lang="zh-CN" altLang="en-US" sz="2400" b="1" dirty="0" smtClean="0">
                <a:solidFill>
                  <a:srgbClr val="000066"/>
                </a:solidFill>
                <a:ea typeface="幼圆" pitchFamily="49" charset="-122"/>
                <a:cs typeface="Times New Roman" panose="02020603050405020304" pitchFamily="18" charset="0"/>
              </a:rPr>
              <a:t>等</a:t>
            </a:r>
            <a:endParaRPr kumimoji="1" lang="zh-CN" altLang="en-US" sz="2400" b="1" dirty="0">
              <a:solidFill>
                <a:srgbClr val="000066"/>
              </a:solidFill>
              <a:ea typeface="幼圆" pitchFamily="49" charset="-122"/>
              <a:cs typeface="Times New Roman" panose="02020603050405020304" pitchFamily="18" charset="0"/>
            </a:endParaRPr>
          </a:p>
          <a:p>
            <a:pPr marL="265113" indent="-265113" eaLnBrk="1" hangingPunct="1">
              <a:lnSpc>
                <a:spcPct val="120000"/>
              </a:lnSpc>
              <a:spcBef>
                <a:spcPct val="0"/>
              </a:spcBef>
              <a:spcAft>
                <a:spcPct val="0"/>
              </a:spcAft>
              <a:buClr>
                <a:srgbClr val="C00000"/>
              </a:buClr>
              <a:buSzPct val="130000"/>
              <a:buFont typeface="Arial" panose="020B0604020202020204" pitchFamily="34" charset="0"/>
              <a:buChar char="•"/>
            </a:pPr>
            <a:r>
              <a:rPr kumimoji="1" lang="zh-CN" altLang="en-US" sz="2400" b="1" dirty="0" smtClean="0">
                <a:solidFill>
                  <a:srgbClr val="000066"/>
                </a:solidFill>
                <a:ea typeface="幼圆" pitchFamily="49" charset="-122"/>
                <a:cs typeface="Times New Roman" panose="02020603050405020304" pitchFamily="18" charset="0"/>
              </a:rPr>
              <a:t>矿物</a:t>
            </a:r>
            <a:r>
              <a:rPr kumimoji="1" lang="zh-CN" altLang="en-US" sz="2400" b="1" dirty="0">
                <a:solidFill>
                  <a:srgbClr val="000066"/>
                </a:solidFill>
                <a:ea typeface="幼圆" pitchFamily="49" charset="-122"/>
                <a:cs typeface="Times New Roman" panose="02020603050405020304" pitchFamily="18" charset="0"/>
              </a:rPr>
              <a:t>成分</a:t>
            </a:r>
            <a:r>
              <a:rPr kumimoji="1" lang="zh-CN" altLang="en-US" sz="2400" b="1" dirty="0" smtClean="0">
                <a:solidFill>
                  <a:srgbClr val="000066"/>
                </a:solidFill>
                <a:ea typeface="幼圆" pitchFamily="49" charset="-122"/>
                <a:cs typeface="Times New Roman" panose="02020603050405020304" pitchFamily="18" charset="0"/>
              </a:rPr>
              <a:t>：</a:t>
            </a:r>
            <a:r>
              <a:rPr kumimoji="1" lang="zh-CN" altLang="en-US" sz="2400" b="1" dirty="0">
                <a:solidFill>
                  <a:srgbClr val="000066"/>
                </a:solidFill>
                <a:ea typeface="幼圆" pitchFamily="49" charset="-122"/>
                <a:cs typeface="Times New Roman" panose="02020603050405020304" pitchFamily="18" charset="0"/>
              </a:rPr>
              <a:t>三种</a:t>
            </a:r>
            <a:r>
              <a:rPr kumimoji="1" lang="zh-CN" altLang="en-US" sz="2400" b="1" dirty="0" smtClean="0">
                <a:solidFill>
                  <a:srgbClr val="000066"/>
                </a:solidFill>
                <a:ea typeface="幼圆" pitchFamily="49" charset="-122"/>
                <a:cs typeface="Times New Roman" panose="02020603050405020304" pitchFamily="18" charset="0"/>
              </a:rPr>
              <a:t>黏土矿物（高岭、伊利、蒙脱），黏土颗粒带电现象</a:t>
            </a:r>
            <a:endParaRPr kumimoji="1" lang="en-US" altLang="zh-CN" sz="2400" b="1" dirty="0" smtClean="0">
              <a:solidFill>
                <a:srgbClr val="000066"/>
              </a:solidFill>
              <a:ea typeface="幼圆" pitchFamily="49" charset="-122"/>
              <a:cs typeface="Times New Roman" panose="02020603050405020304" pitchFamily="18" charset="0"/>
            </a:endParaRPr>
          </a:p>
          <a:p>
            <a:pPr marL="265113" indent="-265113" eaLnBrk="1" hangingPunct="1">
              <a:lnSpc>
                <a:spcPct val="120000"/>
              </a:lnSpc>
              <a:spcBef>
                <a:spcPct val="0"/>
              </a:spcBef>
              <a:spcAft>
                <a:spcPct val="0"/>
              </a:spcAft>
              <a:buClr>
                <a:srgbClr val="C00000"/>
              </a:buClr>
              <a:buSzPct val="130000"/>
              <a:buFont typeface="Arial" panose="020B0604020202020204" pitchFamily="34" charset="0"/>
              <a:buChar char="•"/>
            </a:pPr>
            <a:r>
              <a:rPr kumimoji="1" lang="zh-CN" altLang="en-US" sz="2400" b="1" dirty="0" smtClean="0">
                <a:solidFill>
                  <a:srgbClr val="000066"/>
                </a:solidFill>
                <a:ea typeface="幼圆" pitchFamily="49" charset="-122"/>
                <a:cs typeface="Times New Roman" panose="02020603050405020304" pitchFamily="18" charset="0"/>
              </a:rPr>
              <a:t>颗粒形状：形状</a:t>
            </a:r>
            <a:r>
              <a:rPr kumimoji="1" lang="zh-CN" altLang="en-US" sz="2400" b="1" dirty="0">
                <a:solidFill>
                  <a:srgbClr val="000066"/>
                </a:solidFill>
                <a:ea typeface="幼圆" pitchFamily="49" charset="-122"/>
                <a:cs typeface="Times New Roman" panose="02020603050405020304" pitchFamily="18" charset="0"/>
              </a:rPr>
              <a:t>和</a:t>
            </a:r>
            <a:r>
              <a:rPr kumimoji="1" lang="zh-CN" altLang="en-US" sz="2400" b="1" dirty="0" smtClean="0">
                <a:solidFill>
                  <a:srgbClr val="000066"/>
                </a:solidFill>
                <a:ea typeface="幼圆" pitchFamily="49" charset="-122"/>
                <a:cs typeface="Times New Roman" panose="02020603050405020304" pitchFamily="18" charset="0"/>
              </a:rPr>
              <a:t>比表面积</a:t>
            </a:r>
            <a:endParaRPr kumimoji="1" lang="zh-CN" altLang="en-US" sz="2400" b="1" dirty="0">
              <a:solidFill>
                <a:srgbClr val="000066"/>
              </a:solidFill>
              <a:ea typeface="幼圆" pitchFamily="49" charset="-122"/>
              <a:cs typeface="Times New Roman" panose="02020603050405020304" pitchFamily="18" charset="0"/>
            </a:endParaRPr>
          </a:p>
        </p:txBody>
      </p:sp>
      <p:sp>
        <p:nvSpPr>
          <p:cNvPr id="136" name="Text Box 7"/>
          <p:cNvSpPr txBox="1">
            <a:spLocks noChangeArrowheads="1"/>
          </p:cNvSpPr>
          <p:nvPr/>
        </p:nvSpPr>
        <p:spPr bwMode="auto">
          <a:xfrm>
            <a:off x="0" y="0"/>
            <a:ext cx="430260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a:t>
            </a:r>
            <a:r>
              <a:rPr lang="en-US" altLang="zh-CN" sz="2000" b="1" kern="900" spc="-140" dirty="0">
                <a:solidFill>
                  <a:srgbClr val="C00000"/>
                </a:solidFill>
                <a:latin typeface="宋体" pitchFamily="2" charset="-122"/>
              </a:rPr>
              <a:t>1.2  </a:t>
            </a:r>
            <a:r>
              <a:rPr lang="zh-CN" altLang="en-US" sz="2000" b="1" kern="900" spc="-140" dirty="0" smtClean="0">
                <a:solidFill>
                  <a:srgbClr val="C00000"/>
                </a:solidFill>
                <a:latin typeface="宋体" pitchFamily="2" charset="-122"/>
              </a:rPr>
              <a:t>土</a:t>
            </a:r>
            <a:r>
              <a:rPr lang="zh-CN" altLang="en-US" sz="2000" b="1" kern="900" spc="-140" dirty="0">
                <a:solidFill>
                  <a:srgbClr val="C00000"/>
                </a:solidFill>
                <a:latin typeface="宋体" pitchFamily="2" charset="-122"/>
              </a:rPr>
              <a:t>的三相组成</a:t>
            </a:r>
            <a:r>
              <a:rPr lang="en-US" altLang="zh-CN" sz="2000" b="1" kern="900" spc="-140" dirty="0" smtClean="0">
                <a:solidFill>
                  <a:srgbClr val="C00000"/>
                </a:solidFill>
                <a:latin typeface="宋体" pitchFamily="2" charset="-122"/>
              </a:rPr>
              <a:t>–</a:t>
            </a:r>
            <a:r>
              <a:rPr lang="zh-CN" altLang="en-US" sz="2000" b="1" kern="900" spc="-140" dirty="0">
                <a:solidFill>
                  <a:srgbClr val="C00000"/>
                </a:solidFill>
                <a:latin typeface="宋体" pitchFamily="2" charset="-122"/>
              </a:rPr>
              <a:t>总</a:t>
            </a:r>
            <a:r>
              <a:rPr lang="zh-CN" altLang="en-US" sz="2000" b="1" kern="900" spc="-140" dirty="0" smtClean="0">
                <a:solidFill>
                  <a:srgbClr val="C00000"/>
                </a:solidFill>
                <a:latin typeface="宋体" pitchFamily="2" charset="-122"/>
              </a:rPr>
              <a:t>结</a:t>
            </a:r>
            <a:endParaRPr lang="zh-CN" altLang="en-US" sz="2000" b="1" kern="900" spc="-140" dirty="0">
              <a:solidFill>
                <a:srgbClr val="C00000"/>
              </a:solidFill>
              <a:latin typeface="宋体" pitchFamily="2" charset="-122"/>
            </a:endParaRPr>
          </a:p>
        </p:txBody>
      </p:sp>
      <p:sp>
        <p:nvSpPr>
          <p:cNvPr id="13" name="Rectangle 2"/>
          <p:cNvSpPr txBox="1">
            <a:spLocks noChangeArrowheads="1"/>
          </p:cNvSpPr>
          <p:nvPr/>
        </p:nvSpPr>
        <p:spPr>
          <a:xfrm>
            <a:off x="479835" y="698580"/>
            <a:ext cx="4336718" cy="747454"/>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00000"/>
              </a:lnSpc>
              <a:spcBef>
                <a:spcPts val="0"/>
              </a:spcBef>
              <a:spcAft>
                <a:spcPts val="0"/>
              </a:spcAft>
            </a:pPr>
            <a:r>
              <a:rPr lang="en-US" altLang="zh-CN"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§1.2  </a:t>
            </a:r>
            <a:r>
              <a:rPr lang="zh-CN" altLang="en-US"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土</a:t>
            </a:r>
            <a:r>
              <a:rPr lang="zh-CN" altLang="en-US" sz="36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的三相组成</a:t>
            </a:r>
          </a:p>
        </p:txBody>
      </p:sp>
      <p:sp>
        <p:nvSpPr>
          <p:cNvPr id="17" name="Text Box 13"/>
          <p:cNvSpPr txBox="1">
            <a:spLocks noChangeArrowheads="1"/>
          </p:cNvSpPr>
          <p:nvPr/>
        </p:nvSpPr>
        <p:spPr bwMode="auto">
          <a:xfrm>
            <a:off x="1432343" y="4285286"/>
            <a:ext cx="5393779"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5000"/>
              </a:lnSpc>
              <a:spcBef>
                <a:spcPct val="10000"/>
              </a:spcBef>
              <a:spcAft>
                <a:spcPct val="10000"/>
              </a:spcAft>
              <a:buClr>
                <a:srgbClr val="C00000"/>
              </a:buClr>
              <a:buSzPct val="100000"/>
              <a:buFont typeface="Wingdings" panose="05000000000000000000" pitchFamily="2" charset="2"/>
              <a:buChar char="n"/>
            </a:pPr>
            <a:r>
              <a:rPr kumimoji="1" lang="zh-CN" altLang="en-US" sz="2400" b="1" dirty="0" smtClean="0">
                <a:solidFill>
                  <a:srgbClr val="C00000"/>
                </a:solidFill>
                <a:latin typeface="黑体" panose="02010609060101010101" pitchFamily="49" charset="-122"/>
                <a:ea typeface="黑体" panose="02010609060101010101" pitchFamily="49" charset="-122"/>
              </a:rPr>
              <a:t>土</a:t>
            </a:r>
            <a:r>
              <a:rPr kumimoji="1" lang="zh-CN" altLang="en-US" sz="2400" b="1" dirty="0">
                <a:solidFill>
                  <a:srgbClr val="C00000"/>
                </a:solidFill>
                <a:latin typeface="黑体" panose="02010609060101010101" pitchFamily="49" charset="-122"/>
                <a:ea typeface="黑体" panose="02010609060101010101" pitchFamily="49" charset="-122"/>
              </a:rPr>
              <a:t>中</a:t>
            </a:r>
            <a:r>
              <a:rPr kumimoji="1" lang="zh-CN" altLang="en-US" sz="2400" b="1" dirty="0" smtClean="0">
                <a:solidFill>
                  <a:srgbClr val="C00000"/>
                </a:solidFill>
                <a:latin typeface="黑体" panose="02010609060101010101" pitchFamily="49" charset="-122"/>
                <a:ea typeface="黑体" panose="02010609060101010101" pitchFamily="49" charset="-122"/>
              </a:rPr>
              <a:t>水</a:t>
            </a:r>
            <a:r>
              <a:rPr kumimoji="1" lang="zh-CN" altLang="en-US" sz="2400" b="1" dirty="0" smtClean="0">
                <a:solidFill>
                  <a:srgbClr val="000066"/>
                </a:solidFill>
                <a:ea typeface="幼圆" pitchFamily="49" charset="-122"/>
              </a:rPr>
              <a:t>：对</a:t>
            </a:r>
            <a:r>
              <a:rPr kumimoji="1" lang="zh-CN" altLang="en-US" sz="2400" b="1" dirty="0">
                <a:solidFill>
                  <a:srgbClr val="000066"/>
                </a:solidFill>
                <a:ea typeface="幼圆" pitchFamily="49" charset="-122"/>
              </a:rPr>
              <a:t>土的</a:t>
            </a:r>
            <a:r>
              <a:rPr kumimoji="1" lang="zh-CN" altLang="en-US" sz="2400" b="1" dirty="0" smtClean="0">
                <a:solidFill>
                  <a:srgbClr val="000066"/>
                </a:solidFill>
                <a:ea typeface="幼圆" pitchFamily="49" charset="-122"/>
              </a:rPr>
              <a:t>性质有重要</a:t>
            </a:r>
            <a:r>
              <a:rPr kumimoji="1" lang="zh-CN" altLang="en-US" sz="2400" b="1" dirty="0">
                <a:solidFill>
                  <a:srgbClr val="000066"/>
                </a:solidFill>
                <a:ea typeface="幼圆" pitchFamily="49" charset="-122"/>
              </a:rPr>
              <a:t>影响</a:t>
            </a:r>
          </a:p>
        </p:txBody>
      </p:sp>
      <p:sp>
        <p:nvSpPr>
          <p:cNvPr id="18" name="Text Box 14"/>
          <p:cNvSpPr txBox="1">
            <a:spLocks noChangeArrowheads="1"/>
          </p:cNvSpPr>
          <p:nvPr/>
        </p:nvSpPr>
        <p:spPr bwMode="auto">
          <a:xfrm>
            <a:off x="1981216" y="4777383"/>
            <a:ext cx="6429137"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5113" indent="-265113" eaLnBrk="1" hangingPunct="1">
              <a:lnSpc>
                <a:spcPct val="120000"/>
              </a:lnSpc>
              <a:spcBef>
                <a:spcPct val="0"/>
              </a:spcBef>
              <a:spcAft>
                <a:spcPct val="0"/>
              </a:spcAft>
              <a:buClr>
                <a:srgbClr val="C00000"/>
              </a:buClr>
              <a:buSzPct val="130000"/>
              <a:buFont typeface="Arial" panose="020B0604020202020204" pitchFamily="34" charset="0"/>
              <a:buChar char="•"/>
            </a:pPr>
            <a:r>
              <a:rPr kumimoji="1" lang="zh-CN" altLang="en-US" sz="2400" b="1" dirty="0" smtClean="0">
                <a:solidFill>
                  <a:srgbClr val="000066"/>
                </a:solidFill>
                <a:ea typeface="幼圆" pitchFamily="49" charset="-122"/>
                <a:cs typeface="Times New Roman" panose="02020603050405020304" pitchFamily="18" charset="0"/>
              </a:rPr>
              <a:t>结合水（强、弱）、</a:t>
            </a:r>
            <a:r>
              <a:rPr kumimoji="1" lang="zh-CN" altLang="en-US" sz="2400" b="1" dirty="0">
                <a:solidFill>
                  <a:srgbClr val="000066"/>
                </a:solidFill>
                <a:ea typeface="幼圆" pitchFamily="49" charset="-122"/>
                <a:cs typeface="Times New Roman" panose="02020603050405020304" pitchFamily="18" charset="0"/>
              </a:rPr>
              <a:t>自由水（</a:t>
            </a:r>
            <a:r>
              <a:rPr kumimoji="1" lang="zh-CN" altLang="en-US" sz="2400" b="1" dirty="0" smtClean="0">
                <a:solidFill>
                  <a:srgbClr val="000066"/>
                </a:solidFill>
                <a:ea typeface="幼圆" pitchFamily="49" charset="-122"/>
                <a:cs typeface="Times New Roman" panose="02020603050405020304" pitchFamily="18" charset="0"/>
              </a:rPr>
              <a:t>重力、毛细）</a:t>
            </a:r>
            <a:endParaRPr kumimoji="1" lang="zh-CN" altLang="en-US" sz="2400" b="1" dirty="0">
              <a:solidFill>
                <a:srgbClr val="000066"/>
              </a:solidFill>
              <a:ea typeface="幼圆" pitchFamily="49" charset="-122"/>
              <a:cs typeface="Times New Roman" panose="02020603050405020304" pitchFamily="18" charset="0"/>
            </a:endParaRPr>
          </a:p>
        </p:txBody>
      </p:sp>
      <p:sp>
        <p:nvSpPr>
          <p:cNvPr id="19" name="Text Box 13"/>
          <p:cNvSpPr txBox="1">
            <a:spLocks noChangeArrowheads="1"/>
          </p:cNvSpPr>
          <p:nvPr/>
        </p:nvSpPr>
        <p:spPr bwMode="auto">
          <a:xfrm>
            <a:off x="1439435" y="5320183"/>
            <a:ext cx="4865693"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5000"/>
              </a:lnSpc>
              <a:spcBef>
                <a:spcPct val="10000"/>
              </a:spcBef>
              <a:spcAft>
                <a:spcPct val="10000"/>
              </a:spcAft>
              <a:buClr>
                <a:srgbClr val="C00000"/>
              </a:buClr>
              <a:buSzPct val="100000"/>
              <a:buFont typeface="Wingdings" panose="05000000000000000000" pitchFamily="2" charset="2"/>
              <a:buChar char="n"/>
            </a:pPr>
            <a:r>
              <a:rPr kumimoji="1" lang="zh-CN" altLang="en-US" sz="2400" b="1" dirty="0" smtClean="0">
                <a:solidFill>
                  <a:srgbClr val="C00000"/>
                </a:solidFill>
                <a:latin typeface="黑体" panose="02010609060101010101" pitchFamily="49" charset="-122"/>
                <a:ea typeface="黑体" panose="02010609060101010101" pitchFamily="49" charset="-122"/>
              </a:rPr>
              <a:t>土中气</a:t>
            </a:r>
            <a:r>
              <a:rPr kumimoji="1" lang="zh-CN" altLang="en-US" sz="2400" b="1" dirty="0">
                <a:solidFill>
                  <a:srgbClr val="000066"/>
                </a:solidFill>
                <a:ea typeface="幼圆" pitchFamily="49" charset="-122"/>
              </a:rPr>
              <a:t>：对土的性质次要作用</a:t>
            </a:r>
          </a:p>
        </p:txBody>
      </p:sp>
    </p:spTree>
    <p:extLst>
      <p:ext uri="{BB962C8B-B14F-4D97-AF65-F5344CB8AC3E}">
        <p14:creationId xmlns:p14="http://schemas.microsoft.com/office/powerpoint/2010/main" val="271059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1000"/>
                                  </p:stCondLst>
                                  <p:childTnLst>
                                    <p:set>
                                      <p:cBhvr>
                                        <p:cTn id="6" dur="1" fill="hold">
                                          <p:stCondLst>
                                            <p:cond delay="0"/>
                                          </p:stCondLst>
                                        </p:cTn>
                                        <p:tgtEl>
                                          <p:spTgt spid="129"/>
                                        </p:tgtEl>
                                        <p:attrNameLst>
                                          <p:attrName>style.visibility</p:attrName>
                                        </p:attrNameLst>
                                      </p:cBhvr>
                                      <p:to>
                                        <p:strVal val="visible"/>
                                      </p:to>
                                    </p:set>
                                    <p:anim calcmode="lin" valueType="num">
                                      <p:cBhvr additive="base">
                                        <p:cTn id="7" dur="500" fill="hold"/>
                                        <p:tgtEl>
                                          <p:spTgt spid="129"/>
                                        </p:tgtEl>
                                        <p:attrNameLst>
                                          <p:attrName>ppt_x</p:attrName>
                                        </p:attrNameLst>
                                      </p:cBhvr>
                                      <p:tavLst>
                                        <p:tav tm="0">
                                          <p:val>
                                            <p:strVal val="0-#ppt_w/2"/>
                                          </p:val>
                                        </p:tav>
                                        <p:tav tm="100000">
                                          <p:val>
                                            <p:strVal val="#ppt_x"/>
                                          </p:val>
                                        </p:tav>
                                      </p:tavLst>
                                    </p:anim>
                                    <p:anim calcmode="lin" valueType="num">
                                      <p:cBhvr additive="base">
                                        <p:cTn id="8" dur="500" fill="hold"/>
                                        <p:tgtEl>
                                          <p:spTgt spid="129"/>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ID="22" presetClass="entr" presetSubtype="8" fill="hold" grpId="0" nodeType="afterEffect">
                                  <p:stCondLst>
                                    <p:cond delay="0"/>
                                  </p:stCondLst>
                                  <p:childTnLst>
                                    <p:set>
                                      <p:cBhvr>
                                        <p:cTn id="11" dur="1" fill="hold">
                                          <p:stCondLst>
                                            <p:cond delay="0"/>
                                          </p:stCondLst>
                                        </p:cTn>
                                        <p:tgtEl>
                                          <p:spTgt spid="130"/>
                                        </p:tgtEl>
                                        <p:attrNameLst>
                                          <p:attrName>style.visibility</p:attrName>
                                        </p:attrNameLst>
                                      </p:cBhvr>
                                      <p:to>
                                        <p:strVal val="visible"/>
                                      </p:to>
                                    </p:set>
                                    <p:animEffect transition="in" filter="wipe(left)">
                                      <p:cBhvr>
                                        <p:cTn id="12" dur="3000"/>
                                        <p:tgtEl>
                                          <p:spTgt spid="130"/>
                                        </p:tgtEl>
                                      </p:cBhvr>
                                    </p:animEffect>
                                  </p:childTnLst>
                                </p:cTn>
                              </p:par>
                            </p:childTnLst>
                          </p:cTn>
                        </p:par>
                        <p:par>
                          <p:cTn id="13" fill="hold">
                            <p:stCondLst>
                              <p:cond delay="4500"/>
                            </p:stCondLst>
                            <p:childTnLst>
                              <p:par>
                                <p:cTn id="14" presetID="2" presetClass="entr" presetSubtype="8" fill="hold" grpId="0" nodeType="afterEffect">
                                  <p:stCondLst>
                                    <p:cond delay="100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fill="hold"/>
                                        <p:tgtEl>
                                          <p:spTgt spid="17"/>
                                        </p:tgtEl>
                                        <p:attrNameLst>
                                          <p:attrName>ppt_x</p:attrName>
                                        </p:attrNameLst>
                                      </p:cBhvr>
                                      <p:tavLst>
                                        <p:tav tm="0">
                                          <p:val>
                                            <p:strVal val="0-#ppt_w/2"/>
                                          </p:val>
                                        </p:tav>
                                        <p:tav tm="100000">
                                          <p:val>
                                            <p:strVal val="#ppt_x"/>
                                          </p:val>
                                        </p:tav>
                                      </p:tavLst>
                                    </p:anim>
                                    <p:anim calcmode="lin" valueType="num">
                                      <p:cBhvr additive="base">
                                        <p:cTn id="17" dur="500" fill="hold"/>
                                        <p:tgtEl>
                                          <p:spTgt spid="17"/>
                                        </p:tgtEl>
                                        <p:attrNameLst>
                                          <p:attrName>ppt_y</p:attrName>
                                        </p:attrNameLst>
                                      </p:cBhvr>
                                      <p:tavLst>
                                        <p:tav tm="0">
                                          <p:val>
                                            <p:strVal val="#ppt_y"/>
                                          </p:val>
                                        </p:tav>
                                        <p:tav tm="100000">
                                          <p:val>
                                            <p:strVal val="#ppt_y"/>
                                          </p:val>
                                        </p:tav>
                                      </p:tavLst>
                                    </p:anim>
                                  </p:childTnLst>
                                </p:cTn>
                              </p:par>
                            </p:childTnLst>
                          </p:cTn>
                        </p:par>
                        <p:par>
                          <p:cTn id="18" fill="hold">
                            <p:stCondLst>
                              <p:cond delay="6000"/>
                            </p:stCondLst>
                            <p:childTnLst>
                              <p:par>
                                <p:cTn id="19" presetID="22" presetClass="entr" presetSubtype="8" fill="hold" grpId="0"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3000"/>
                                        <p:tgtEl>
                                          <p:spTgt spid="18"/>
                                        </p:tgtEl>
                                      </p:cBhvr>
                                    </p:animEffect>
                                  </p:childTnLst>
                                </p:cTn>
                              </p:par>
                            </p:childTnLst>
                          </p:cTn>
                        </p:par>
                        <p:par>
                          <p:cTn id="22" fill="hold">
                            <p:stCondLst>
                              <p:cond delay="9000"/>
                            </p:stCondLst>
                            <p:childTnLst>
                              <p:par>
                                <p:cTn id="23" presetID="2" presetClass="entr" presetSubtype="8" fill="hold" grpId="0" nodeType="afterEffect">
                                  <p:stCondLst>
                                    <p:cond delay="100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0-#ppt_w/2"/>
                                          </p:val>
                                        </p:tav>
                                        <p:tav tm="100000">
                                          <p:val>
                                            <p:strVal val="#ppt_x"/>
                                          </p:val>
                                        </p:tav>
                                      </p:tavLst>
                                    </p:anim>
                                    <p:anim calcmode="lin" valueType="num">
                                      <p:cBhvr additive="base">
                                        <p:cTn id="26"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utoUpdateAnimBg="0"/>
      <p:bldP spid="130" grpId="0"/>
      <p:bldP spid="17" grpId="0" autoUpdateAnimBg="0"/>
      <p:bldP spid="18" grpId="0"/>
      <p:bldP spid="19" grpId="0"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6"/>
          <p:cNvSpPr>
            <a:spLocks noChangeArrowheads="1"/>
          </p:cNvSpPr>
          <p:nvPr/>
        </p:nvSpPr>
        <p:spPr bwMode="auto">
          <a:xfrm>
            <a:off x="3375174" y="3700500"/>
            <a:ext cx="2773363" cy="971550"/>
          </a:xfrm>
          <a:prstGeom prst="octagon">
            <a:avLst>
              <a:gd name="adj" fmla="val 47134"/>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 name="AutoShape 10"/>
          <p:cNvSpPr>
            <a:spLocks noChangeArrowheads="1"/>
          </p:cNvSpPr>
          <p:nvPr/>
        </p:nvSpPr>
        <p:spPr bwMode="auto">
          <a:xfrm>
            <a:off x="3659337" y="3975138"/>
            <a:ext cx="2281237" cy="47307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p>
            <a:pPr algn="ctr">
              <a:lnSpc>
                <a:spcPct val="100000"/>
              </a:lnSpc>
              <a:spcBef>
                <a:spcPct val="0"/>
              </a:spcBef>
              <a:spcAft>
                <a:spcPct val="0"/>
              </a:spcAft>
            </a:pPr>
            <a:r>
              <a:rPr kumimoji="1" lang="zh-CN" altLang="en-US" sz="2800" b="1" dirty="0">
                <a:solidFill>
                  <a:srgbClr val="800000"/>
                </a:solidFill>
                <a:latin typeface="Arial" charset="0"/>
                <a:ea typeface="幼圆" pitchFamily="49" charset="-122"/>
              </a:rPr>
              <a:t>三相草图法</a:t>
            </a:r>
          </a:p>
        </p:txBody>
      </p:sp>
      <p:grpSp>
        <p:nvGrpSpPr>
          <p:cNvPr id="6" name="Group 11"/>
          <p:cNvGrpSpPr>
            <a:grpSpLocks/>
          </p:cNvGrpSpPr>
          <p:nvPr/>
        </p:nvGrpSpPr>
        <p:grpSpPr bwMode="auto">
          <a:xfrm>
            <a:off x="493862" y="3132175"/>
            <a:ext cx="2684462" cy="2082800"/>
            <a:chOff x="291" y="1418"/>
            <a:chExt cx="1691" cy="1312"/>
          </a:xfrm>
        </p:grpSpPr>
        <p:sp>
          <p:nvSpPr>
            <p:cNvPr id="7" name="Text Box 12"/>
            <p:cNvSpPr txBox="1">
              <a:spLocks noChangeArrowheads="1"/>
            </p:cNvSpPr>
            <p:nvPr/>
          </p:nvSpPr>
          <p:spPr bwMode="auto">
            <a:xfrm>
              <a:off x="376" y="1418"/>
              <a:ext cx="1606" cy="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182563"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5000"/>
                </a:lnSpc>
                <a:spcBef>
                  <a:spcPct val="5000"/>
                </a:spcBef>
                <a:spcAft>
                  <a:spcPct val="5000"/>
                </a:spcAft>
              </a:pPr>
              <a:r>
                <a:rPr lang="zh-CN" altLang="en-US" sz="2200" b="1" dirty="0">
                  <a:solidFill>
                    <a:srgbClr val="000066"/>
                  </a:solidFill>
                  <a:ea typeface="幼圆" pitchFamily="49" charset="-122"/>
                </a:rPr>
                <a:t>室内测定三个基本物理性质指标：</a:t>
              </a:r>
            </a:p>
            <a:p>
              <a:pPr lvl="1" eaLnBrk="1" hangingPunct="1">
                <a:lnSpc>
                  <a:spcPct val="105000"/>
                </a:lnSpc>
                <a:spcBef>
                  <a:spcPct val="5000"/>
                </a:spcBef>
                <a:spcAft>
                  <a:spcPct val="5000"/>
                </a:spcAft>
                <a:buClr>
                  <a:srgbClr val="C00000"/>
                </a:buClr>
                <a:buFont typeface="Wingdings" pitchFamily="2" charset="2"/>
                <a:buChar char="²"/>
              </a:pPr>
              <a:r>
                <a:rPr kumimoji="1" lang="zh-CN" altLang="en-US" sz="2200" b="1" dirty="0">
                  <a:solidFill>
                    <a:srgbClr val="000066"/>
                  </a:solidFill>
                  <a:ea typeface="幼圆" pitchFamily="49" charset="-122"/>
                </a:rPr>
                <a:t>土的密度 </a:t>
              </a:r>
            </a:p>
            <a:p>
              <a:pPr lvl="1" eaLnBrk="1" hangingPunct="1">
                <a:lnSpc>
                  <a:spcPct val="105000"/>
                </a:lnSpc>
                <a:spcBef>
                  <a:spcPct val="5000"/>
                </a:spcBef>
                <a:spcAft>
                  <a:spcPct val="5000"/>
                </a:spcAft>
                <a:buClr>
                  <a:srgbClr val="C00000"/>
                </a:buClr>
                <a:buFont typeface="Wingdings" pitchFamily="2" charset="2"/>
                <a:buChar char="²"/>
              </a:pPr>
              <a:r>
                <a:rPr kumimoji="1" lang="zh-CN" altLang="en-US" sz="2200" b="1" dirty="0">
                  <a:solidFill>
                    <a:srgbClr val="000066"/>
                  </a:solidFill>
                  <a:ea typeface="幼圆" pitchFamily="49" charset="-122"/>
                </a:rPr>
                <a:t>土粒比重</a:t>
              </a:r>
            </a:p>
            <a:p>
              <a:pPr lvl="1" eaLnBrk="1" hangingPunct="1">
                <a:lnSpc>
                  <a:spcPct val="105000"/>
                </a:lnSpc>
                <a:spcBef>
                  <a:spcPct val="5000"/>
                </a:spcBef>
                <a:spcAft>
                  <a:spcPct val="5000"/>
                </a:spcAft>
                <a:buClr>
                  <a:srgbClr val="C00000"/>
                </a:buClr>
                <a:buFont typeface="Wingdings" pitchFamily="2" charset="2"/>
                <a:buChar char="²"/>
              </a:pPr>
              <a:r>
                <a:rPr kumimoji="1" lang="zh-CN" altLang="en-US" sz="2200" b="1" dirty="0">
                  <a:solidFill>
                    <a:srgbClr val="000066"/>
                  </a:solidFill>
                  <a:ea typeface="幼圆" pitchFamily="49" charset="-122"/>
                </a:rPr>
                <a:t>土的含水量</a:t>
              </a:r>
            </a:p>
          </p:txBody>
        </p:sp>
        <p:sp>
          <p:nvSpPr>
            <p:cNvPr id="8" name="AutoShape 13"/>
            <p:cNvSpPr>
              <a:spLocks noChangeArrowheads="1"/>
            </p:cNvSpPr>
            <p:nvPr/>
          </p:nvSpPr>
          <p:spPr bwMode="auto">
            <a:xfrm>
              <a:off x="291" y="1418"/>
              <a:ext cx="1661" cy="1312"/>
            </a:xfrm>
            <a:prstGeom prst="roundRect">
              <a:avLst>
                <a:gd name="adj" fmla="val 16667"/>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9" name="Group 14"/>
          <p:cNvGrpSpPr>
            <a:grpSpLocks/>
          </p:cNvGrpSpPr>
          <p:nvPr/>
        </p:nvGrpSpPr>
        <p:grpSpPr bwMode="auto">
          <a:xfrm>
            <a:off x="6256487" y="3195675"/>
            <a:ext cx="2651125" cy="1870075"/>
            <a:chOff x="3921" y="1458"/>
            <a:chExt cx="1661" cy="1178"/>
          </a:xfrm>
        </p:grpSpPr>
        <p:sp>
          <p:nvSpPr>
            <p:cNvPr id="10" name="Text Box 15"/>
            <p:cNvSpPr txBox="1">
              <a:spLocks noChangeArrowheads="1"/>
            </p:cNvSpPr>
            <p:nvPr/>
          </p:nvSpPr>
          <p:spPr bwMode="auto">
            <a:xfrm>
              <a:off x="4087" y="1548"/>
              <a:ext cx="1416" cy="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1400">
                  <a:solidFill>
                    <a:schemeClr val="tx1"/>
                  </a:solidFill>
                  <a:latin typeface="Times New Roman" pitchFamily="18" charset="0"/>
                  <a:ea typeface="宋体" charset="-122"/>
                </a:defRPr>
              </a:lvl1pPr>
              <a:lvl2pPr marL="182563"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ct val="5000"/>
                </a:spcBef>
                <a:spcAft>
                  <a:spcPct val="0"/>
                </a:spcAft>
                <a:buFont typeface="Wingdings" pitchFamily="2" charset="2"/>
                <a:buNone/>
              </a:pPr>
              <a:r>
                <a:rPr kumimoji="1" lang="zh-CN" altLang="en-US" sz="2200" b="1" dirty="0" smtClean="0">
                  <a:solidFill>
                    <a:srgbClr val="000066"/>
                  </a:solidFill>
                  <a:latin typeface="宋体" charset="-122"/>
                  <a:ea typeface="幼圆" pitchFamily="49" charset="-122"/>
                </a:rPr>
                <a:t>物理性质</a:t>
              </a:r>
              <a:r>
                <a:rPr kumimoji="1" lang="zh-CN" altLang="en-US" sz="2200" b="1" dirty="0">
                  <a:solidFill>
                    <a:srgbClr val="000066"/>
                  </a:solidFill>
                  <a:latin typeface="宋体" charset="-122"/>
                  <a:ea typeface="幼圆" pitchFamily="49" charset="-122"/>
                </a:rPr>
                <a:t>指标</a:t>
              </a:r>
            </a:p>
            <a:p>
              <a:pPr lvl="1" eaLnBrk="1" hangingPunct="1">
                <a:lnSpc>
                  <a:spcPct val="110000"/>
                </a:lnSpc>
                <a:spcBef>
                  <a:spcPct val="5000"/>
                </a:spcBef>
                <a:spcAft>
                  <a:spcPct val="0"/>
                </a:spcAft>
                <a:buClr>
                  <a:srgbClr val="C00000"/>
                </a:buClr>
                <a:buFont typeface="Wingdings" pitchFamily="2" charset="2"/>
                <a:buChar char="²"/>
              </a:pPr>
              <a:r>
                <a:rPr kumimoji="1" lang="zh-CN" altLang="en-US" sz="2200" b="1" dirty="0">
                  <a:solidFill>
                    <a:srgbClr val="000066"/>
                  </a:solidFill>
                  <a:latin typeface="Arial" charset="0"/>
                  <a:ea typeface="幼圆" pitchFamily="49" charset="-122"/>
                </a:rPr>
                <a:t>孔隙含量</a:t>
              </a:r>
            </a:p>
            <a:p>
              <a:pPr lvl="1" eaLnBrk="1" hangingPunct="1">
                <a:lnSpc>
                  <a:spcPct val="110000"/>
                </a:lnSpc>
                <a:spcBef>
                  <a:spcPct val="5000"/>
                </a:spcBef>
                <a:spcAft>
                  <a:spcPct val="0"/>
                </a:spcAft>
                <a:buClr>
                  <a:srgbClr val="C00000"/>
                </a:buClr>
                <a:buFont typeface="Wingdings" pitchFamily="2" charset="2"/>
                <a:buChar char="²"/>
              </a:pPr>
              <a:r>
                <a:rPr kumimoji="1" lang="zh-CN" altLang="en-US" sz="2200" b="1" dirty="0">
                  <a:solidFill>
                    <a:srgbClr val="000066"/>
                  </a:solidFill>
                  <a:latin typeface="Arial" charset="0"/>
                  <a:ea typeface="幼圆" pitchFamily="49" charset="-122"/>
                </a:rPr>
                <a:t>含水程度</a:t>
              </a:r>
            </a:p>
            <a:p>
              <a:pPr lvl="1" eaLnBrk="1" hangingPunct="1">
                <a:lnSpc>
                  <a:spcPct val="110000"/>
                </a:lnSpc>
                <a:spcBef>
                  <a:spcPct val="5000"/>
                </a:spcBef>
                <a:spcAft>
                  <a:spcPct val="0"/>
                </a:spcAft>
                <a:buClr>
                  <a:srgbClr val="C00000"/>
                </a:buClr>
                <a:buFont typeface="Wingdings" pitchFamily="2" charset="2"/>
                <a:buChar char="²"/>
              </a:pPr>
              <a:r>
                <a:rPr kumimoji="1" lang="zh-CN" altLang="en-US" sz="2200" b="1" dirty="0">
                  <a:solidFill>
                    <a:srgbClr val="000066"/>
                  </a:solidFill>
                  <a:latin typeface="Arial" charset="0"/>
                  <a:ea typeface="幼圆" pitchFamily="49" charset="-122"/>
                </a:rPr>
                <a:t>密度</a:t>
              </a:r>
              <a:r>
                <a:rPr kumimoji="1" lang="zh-CN" altLang="en-US" sz="2200" b="1" dirty="0" smtClean="0">
                  <a:solidFill>
                    <a:srgbClr val="000066"/>
                  </a:solidFill>
                  <a:latin typeface="Arial" charset="0"/>
                  <a:ea typeface="幼圆" pitchFamily="49" charset="-122"/>
                </a:rPr>
                <a:t>和重度</a:t>
              </a:r>
              <a:endParaRPr kumimoji="1" lang="zh-CN" altLang="en-US" sz="2200" b="1" dirty="0">
                <a:solidFill>
                  <a:srgbClr val="000066"/>
                </a:solidFill>
                <a:latin typeface="Arial" charset="0"/>
                <a:ea typeface="幼圆" pitchFamily="49" charset="-122"/>
              </a:endParaRPr>
            </a:p>
          </p:txBody>
        </p:sp>
        <p:sp>
          <p:nvSpPr>
            <p:cNvPr id="11" name="AutoShape 16"/>
            <p:cNvSpPr>
              <a:spLocks noChangeArrowheads="1"/>
            </p:cNvSpPr>
            <p:nvPr/>
          </p:nvSpPr>
          <p:spPr bwMode="auto">
            <a:xfrm>
              <a:off x="3921" y="1458"/>
              <a:ext cx="1661" cy="1178"/>
            </a:xfrm>
            <a:prstGeom prst="roundRect">
              <a:avLst>
                <a:gd name="adj" fmla="val 16667"/>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7" name="Text Box 7"/>
          <p:cNvSpPr txBox="1">
            <a:spLocks noChangeArrowheads="1"/>
          </p:cNvSpPr>
          <p:nvPr/>
        </p:nvSpPr>
        <p:spPr bwMode="auto">
          <a:xfrm>
            <a:off x="1" y="0"/>
            <a:ext cx="35679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总结</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9" name="Rectangle 2"/>
          <p:cNvSpPr txBox="1">
            <a:spLocks noChangeArrowheads="1"/>
          </p:cNvSpPr>
          <p:nvPr/>
        </p:nvSpPr>
        <p:spPr>
          <a:xfrm>
            <a:off x="479835" y="698580"/>
            <a:ext cx="4336718" cy="747454"/>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00000"/>
              </a:lnSpc>
              <a:spcBef>
                <a:spcPts val="0"/>
              </a:spcBef>
              <a:spcAft>
                <a:spcPts val="0"/>
              </a:spcAft>
            </a:pPr>
            <a:r>
              <a:rPr lang="en-US" altLang="zh-CN"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§1.3  </a:t>
            </a:r>
            <a:r>
              <a:rPr lang="zh-CN" altLang="en-US" sz="36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土的物理状态</a:t>
            </a:r>
          </a:p>
        </p:txBody>
      </p:sp>
      <p:sp>
        <p:nvSpPr>
          <p:cNvPr id="12" name="矩形 11"/>
          <p:cNvSpPr/>
          <p:nvPr/>
        </p:nvSpPr>
        <p:spPr>
          <a:xfrm>
            <a:off x="659214" y="1537779"/>
            <a:ext cx="7567008" cy="1224951"/>
          </a:xfrm>
          <a:prstGeom prst="rect">
            <a:avLst/>
          </a:prstGeom>
        </p:spPr>
        <p:txBody>
          <a:bodyPr wrap="square">
            <a:spAutoFit/>
          </a:bodyPr>
          <a:lstStyle/>
          <a:p>
            <a:pPr marL="457200" indent="-457200">
              <a:buClr>
                <a:srgbClr val="C00000"/>
              </a:buClr>
              <a:buFont typeface="Wingdings" panose="05000000000000000000" pitchFamily="2" charset="2"/>
              <a:buChar char="n"/>
            </a:pPr>
            <a:r>
              <a:rPr lang="zh-CN" altLang="en-US" sz="3200" b="1" dirty="0">
                <a:solidFill>
                  <a:srgbClr val="C00000"/>
                </a:solidFill>
                <a:latin typeface="幼圆" panose="02010509060101010101" pitchFamily="49" charset="-122"/>
                <a:ea typeface="幼圆" panose="02010509060101010101" pitchFamily="49" charset="-122"/>
              </a:rPr>
              <a:t>土的物理性质</a:t>
            </a:r>
            <a:r>
              <a:rPr lang="zh-CN" altLang="en-US" sz="3200" b="1" dirty="0" smtClean="0">
                <a:solidFill>
                  <a:srgbClr val="C00000"/>
                </a:solidFill>
                <a:latin typeface="幼圆" panose="02010509060101010101" pitchFamily="49" charset="-122"/>
                <a:ea typeface="幼圆" panose="02010509060101010101" pitchFamily="49" charset="-122"/>
              </a:rPr>
              <a:t>指标</a:t>
            </a:r>
            <a:r>
              <a:rPr lang="zh-CN" altLang="en-US" sz="3200" b="1" dirty="0" smtClean="0">
                <a:solidFill>
                  <a:srgbClr val="000066"/>
                </a:solidFill>
                <a:latin typeface="幼圆" panose="02010509060101010101" pitchFamily="49" charset="-122"/>
                <a:ea typeface="幼圆" panose="02010509060101010101" pitchFamily="49" charset="-122"/>
              </a:rPr>
              <a:t>：土</a:t>
            </a:r>
            <a:r>
              <a:rPr lang="zh-CN" altLang="en-US" sz="3200" b="1" dirty="0">
                <a:solidFill>
                  <a:srgbClr val="000066"/>
                </a:solidFill>
                <a:latin typeface="幼圆" panose="02010509060101010101" pitchFamily="49" charset="-122"/>
                <a:ea typeface="幼圆" panose="02010509060101010101" pitchFamily="49" charset="-122"/>
              </a:rPr>
              <a:t>的三个组成相的体积和质量上的比例关系</a:t>
            </a:r>
          </a:p>
        </p:txBody>
      </p:sp>
    </p:spTree>
    <p:extLst>
      <p:ext uri="{BB962C8B-B14F-4D97-AF65-F5344CB8AC3E}">
        <p14:creationId xmlns:p14="http://schemas.microsoft.com/office/powerpoint/2010/main" val="380864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1+#ppt_w/2"/>
                                          </p:val>
                                        </p:tav>
                                        <p:tav tm="100000">
                                          <p:val>
                                            <p:strVal val="#ppt_x"/>
                                          </p:val>
                                        </p:tav>
                                      </p:tavLst>
                                    </p:anim>
                                    <p:anim calcmode="lin" valueType="num">
                                      <p:cBhvr additive="base">
                                        <p:cTn id="12" dur="1000" fill="hold"/>
                                        <p:tgtEl>
                                          <p:spTgt spid="9"/>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9" presetClass="entr" presetSubtype="1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1000" fill="hold"/>
                                        <p:tgtEl>
                                          <p:spTgt spid="2"/>
                                        </p:tgtEl>
                                        <p:attrNameLst>
                                          <p:attrName>ppt_w</p:attrName>
                                        </p:attrNameLst>
                                      </p:cBhvr>
                                      <p:tavLst>
                                        <p:tav tm="0" fmla="#ppt_w*sin(2.5*pi*$)">
                                          <p:val>
                                            <p:fltVal val="0"/>
                                          </p:val>
                                        </p:tav>
                                        <p:tav tm="100000">
                                          <p:val>
                                            <p:fltVal val="1"/>
                                          </p:val>
                                        </p:tav>
                                      </p:tavLst>
                                    </p:anim>
                                    <p:anim calcmode="lin" valueType="num">
                                      <p:cBhvr>
                                        <p:cTn id="17" dur="1000" fill="hold"/>
                                        <p:tgtEl>
                                          <p:spTgt spid="2"/>
                                        </p:tgtEl>
                                        <p:attrNameLst>
                                          <p:attrName>ppt_h</p:attrName>
                                        </p:attrNameLst>
                                      </p:cBhvr>
                                      <p:tavLst>
                                        <p:tav tm="0">
                                          <p:val>
                                            <p:strVal val="#ppt_h"/>
                                          </p:val>
                                        </p:tav>
                                        <p:tav tm="100000">
                                          <p:val>
                                            <p:strVal val="#ppt_h"/>
                                          </p:val>
                                        </p:tav>
                                      </p:tavLst>
                                    </p:anim>
                                  </p:childTnLst>
                                </p:cTn>
                              </p:par>
                            </p:childTnLst>
                          </p:cTn>
                        </p:par>
                        <p:par>
                          <p:cTn id="18" fill="hold">
                            <p:stCondLst>
                              <p:cond delay="2000"/>
                            </p:stCondLst>
                            <p:childTnLst>
                              <p:par>
                                <p:cTn id="19" presetID="38" presetClass="entr" presetSubtype="0" accel="50000" fill="hold" grpId="0" nodeType="afterEffect">
                                  <p:stCondLst>
                                    <p:cond delay="0"/>
                                  </p:stCondLst>
                                  <p:iterate type="lt">
                                    <p:tmPct val="50000"/>
                                  </p:iterate>
                                  <p:childTnLst>
                                    <p:set>
                                      <p:cBhvr>
                                        <p:cTn id="20" dur="1" fill="hold">
                                          <p:stCondLst>
                                            <p:cond delay="0"/>
                                          </p:stCondLst>
                                        </p:cTn>
                                        <p:tgtEl>
                                          <p:spTgt spid="5"/>
                                        </p:tgtEl>
                                        <p:attrNameLst>
                                          <p:attrName>style.visibility</p:attrName>
                                        </p:attrNameLst>
                                      </p:cBhvr>
                                      <p:to>
                                        <p:strVal val="visible"/>
                                      </p:to>
                                    </p:set>
                                    <p:set>
                                      <p:cBhvr>
                                        <p:cTn id="21" dur="455" fill="hold">
                                          <p:stCondLst>
                                            <p:cond delay="0"/>
                                          </p:stCondLst>
                                        </p:cTn>
                                        <p:tgtEl>
                                          <p:spTgt spid="5"/>
                                        </p:tgtEl>
                                        <p:attrNameLst>
                                          <p:attrName>style.rotation</p:attrName>
                                        </p:attrNameLst>
                                      </p:cBhvr>
                                      <p:to>
                                        <p:strVal val="-45.0"/>
                                      </p:to>
                                    </p:set>
                                    <p:anim calcmode="lin" valueType="num">
                                      <p:cBhvr>
                                        <p:cTn id="22" dur="455" fill="hold">
                                          <p:stCondLst>
                                            <p:cond delay="455"/>
                                          </p:stCondLst>
                                        </p:cTn>
                                        <p:tgtEl>
                                          <p:spTgt spid="5"/>
                                        </p:tgtEl>
                                        <p:attrNameLst>
                                          <p:attrName>style.rotation</p:attrName>
                                        </p:attrNameLst>
                                      </p:cBhvr>
                                      <p:tavLst>
                                        <p:tav tm="0">
                                          <p:val>
                                            <p:fltVal val="-45"/>
                                          </p:val>
                                        </p:tav>
                                        <p:tav tm="69900">
                                          <p:val>
                                            <p:fltVal val="45"/>
                                          </p:val>
                                        </p:tav>
                                        <p:tav tm="100000">
                                          <p:val>
                                            <p:fltVal val="0"/>
                                          </p:val>
                                        </p:tav>
                                      </p:tavLst>
                                    </p:anim>
                                    <p:anim calcmode="lin" valueType="num">
                                      <p:cBhvr>
                                        <p:cTn id="23" dur="455" fill="hold">
                                          <p:stCondLst>
                                            <p:cond delay="0"/>
                                          </p:stCondLst>
                                        </p:cTn>
                                        <p:tgtEl>
                                          <p:spTgt spid="5"/>
                                        </p:tgtEl>
                                        <p:attrNameLst>
                                          <p:attrName>ppt_y</p:attrName>
                                        </p:attrNameLst>
                                      </p:cBhvr>
                                      <p:tavLst>
                                        <p:tav tm="0">
                                          <p:val>
                                            <p:strVal val="#ppt_y-1"/>
                                          </p:val>
                                        </p:tav>
                                        <p:tav tm="100000">
                                          <p:val>
                                            <p:strVal val="#ppt_y-(0.354*#ppt_w-0.172*#ppt_h)"/>
                                          </p:val>
                                        </p:tav>
                                      </p:tavLst>
                                    </p:anim>
                                    <p:anim calcmode="lin" valueType="num">
                                      <p:cBhvr>
                                        <p:cTn id="24" dur="156" decel="50000" autoRev="1" fill="hold">
                                          <p:stCondLst>
                                            <p:cond delay="455"/>
                                          </p:stCondLst>
                                        </p:cTn>
                                        <p:tgtEl>
                                          <p:spTgt spid="5"/>
                                        </p:tgtEl>
                                        <p:attrNameLst>
                                          <p:attrName>ppt_y</p:attrName>
                                        </p:attrNameLst>
                                      </p:cBhvr>
                                      <p:tavLst>
                                        <p:tav tm="0">
                                          <p:val>
                                            <p:strVal val="#ppt_y-(0.354*#ppt_w-0.172*#ppt_h)"/>
                                          </p:val>
                                        </p:tav>
                                        <p:tav tm="100000">
                                          <p:val>
                                            <p:strVal val="#ppt_y-(0.354*#ppt_w-0.172*#ppt_h)-#ppt_h/2"/>
                                          </p:val>
                                        </p:tav>
                                      </p:tavLst>
                                    </p:anim>
                                    <p:anim calcmode="lin" valueType="num">
                                      <p:cBhvr>
                                        <p:cTn id="25" dur="136" fill="hold">
                                          <p:stCondLst>
                                            <p:cond delay="864"/>
                                          </p:stCondLst>
                                        </p:cTn>
                                        <p:tgtEl>
                                          <p:spTgt spid="5"/>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690032" y="2446777"/>
            <a:ext cx="37417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lnSpc>
                <a:spcPct val="100000"/>
              </a:lnSpc>
              <a:spcBef>
                <a:spcPct val="25000"/>
              </a:spcBef>
              <a:spcAft>
                <a:spcPct val="0"/>
              </a:spcAft>
              <a:buClr>
                <a:srgbClr val="A50021"/>
              </a:buClr>
              <a:buSzPct val="130000"/>
              <a:buFont typeface="Wingdings" panose="05000000000000000000" pitchFamily="2" charset="2"/>
              <a:buChar char="F"/>
            </a:pPr>
            <a:r>
              <a:rPr kumimoji="1" lang="zh-CN" altLang="en-US" sz="2800" b="1" dirty="0">
                <a:solidFill>
                  <a:srgbClr val="000066"/>
                </a:solidFill>
                <a:ea typeface="幼圆" pitchFamily="49" charset="-122"/>
                <a:cs typeface="Times New Roman" panose="02020603050405020304" pitchFamily="18" charset="0"/>
              </a:rPr>
              <a:t> 粗粒土的密实</a:t>
            </a:r>
            <a:r>
              <a:rPr kumimoji="1" lang="zh-CN" altLang="en-US" sz="2800" b="1" dirty="0" smtClean="0">
                <a:solidFill>
                  <a:srgbClr val="000066"/>
                </a:solidFill>
                <a:ea typeface="幼圆" pitchFamily="49" charset="-122"/>
                <a:cs typeface="Times New Roman" panose="02020603050405020304" pitchFamily="18" charset="0"/>
              </a:rPr>
              <a:t>状态</a:t>
            </a:r>
            <a:r>
              <a:rPr kumimoji="1" lang="en-US" altLang="zh-CN" sz="2800" b="1" dirty="0" smtClean="0">
                <a:solidFill>
                  <a:srgbClr val="000066"/>
                </a:solidFill>
                <a:ea typeface="幼圆" pitchFamily="49" charset="-122"/>
                <a:cs typeface="Times New Roman" panose="02020603050405020304" pitchFamily="18" charset="0"/>
              </a:rPr>
              <a:t>:</a:t>
            </a:r>
            <a:endParaRPr kumimoji="1" lang="en-US" altLang="zh-CN" sz="2400" b="1" i="1" baseline="-25000" dirty="0">
              <a:solidFill>
                <a:srgbClr val="000066"/>
              </a:solidFill>
              <a:ea typeface="幼圆" pitchFamily="49" charset="-122"/>
              <a:cs typeface="Times New Roman" panose="02020603050405020304" pitchFamily="18" charset="0"/>
            </a:endParaRPr>
          </a:p>
        </p:txBody>
      </p:sp>
      <p:sp>
        <p:nvSpPr>
          <p:cNvPr id="4" name="Rectangle 5"/>
          <p:cNvSpPr>
            <a:spLocks noChangeArrowheads="1"/>
          </p:cNvSpPr>
          <p:nvPr/>
        </p:nvSpPr>
        <p:spPr bwMode="auto">
          <a:xfrm>
            <a:off x="703691" y="3542826"/>
            <a:ext cx="382577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lnSpc>
                <a:spcPct val="100000"/>
              </a:lnSpc>
              <a:spcBef>
                <a:spcPct val="25000"/>
              </a:spcBef>
              <a:spcAft>
                <a:spcPct val="0"/>
              </a:spcAft>
              <a:buClr>
                <a:srgbClr val="A50021"/>
              </a:buClr>
              <a:buSzPct val="130000"/>
              <a:buFont typeface="Wingdings" panose="05000000000000000000" pitchFamily="2" charset="2"/>
              <a:buChar char="F"/>
            </a:pPr>
            <a:r>
              <a:rPr kumimoji="1" lang="zh-CN" altLang="en-US" sz="2800" b="1" dirty="0">
                <a:solidFill>
                  <a:srgbClr val="000066"/>
                </a:solidFill>
                <a:ea typeface="幼圆" pitchFamily="49" charset="-122"/>
                <a:cs typeface="Times New Roman" panose="02020603050405020304" pitchFamily="18" charset="0"/>
              </a:rPr>
              <a:t> 细粒土的稠度</a:t>
            </a:r>
            <a:r>
              <a:rPr kumimoji="1" lang="zh-CN" altLang="en-US" sz="2800" b="1" dirty="0" smtClean="0">
                <a:solidFill>
                  <a:srgbClr val="000066"/>
                </a:solidFill>
                <a:ea typeface="幼圆" pitchFamily="49" charset="-122"/>
                <a:cs typeface="Times New Roman" panose="02020603050405020304" pitchFamily="18" charset="0"/>
              </a:rPr>
              <a:t>状态</a:t>
            </a:r>
            <a:r>
              <a:rPr kumimoji="1" lang="en-US" altLang="zh-CN" sz="2800" b="1" dirty="0" smtClean="0">
                <a:solidFill>
                  <a:srgbClr val="000066"/>
                </a:solidFill>
                <a:ea typeface="幼圆" pitchFamily="49" charset="-122"/>
                <a:cs typeface="Times New Roman" panose="02020603050405020304" pitchFamily="18" charset="0"/>
              </a:rPr>
              <a:t>:</a:t>
            </a:r>
            <a:r>
              <a:rPr kumimoji="1" lang="en-US" altLang="zh-CN" sz="2400" b="1" dirty="0" smtClean="0">
                <a:solidFill>
                  <a:srgbClr val="000066"/>
                </a:solidFill>
                <a:ea typeface="幼圆" pitchFamily="49" charset="-122"/>
                <a:cs typeface="Times New Roman" panose="02020603050405020304" pitchFamily="18" charset="0"/>
              </a:rPr>
              <a:t>  </a:t>
            </a:r>
            <a:endParaRPr kumimoji="1" lang="en-US" altLang="zh-CN" sz="2800" b="1" i="1" baseline="-25000" dirty="0">
              <a:solidFill>
                <a:srgbClr val="000066"/>
              </a:solidFill>
              <a:ea typeface="幼圆" pitchFamily="49" charset="-122"/>
              <a:cs typeface="Times New Roman" panose="02020603050405020304" pitchFamily="18" charset="0"/>
            </a:endParaRPr>
          </a:p>
        </p:txBody>
      </p:sp>
      <p:sp>
        <p:nvSpPr>
          <p:cNvPr id="6" name="Rectangle 7"/>
          <p:cNvSpPr>
            <a:spLocks noChangeArrowheads="1"/>
          </p:cNvSpPr>
          <p:nvPr/>
        </p:nvSpPr>
        <p:spPr bwMode="auto">
          <a:xfrm>
            <a:off x="1453670" y="4469725"/>
            <a:ext cx="573393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type="none" w="sm" len="lg"/>
              </a14:hiddenLine>
            </a:ext>
          </a:extLst>
        </p:spPr>
        <p:txBody>
          <a:bodyPr wrap="square">
            <a:spAutoFit/>
          </a:bodyPr>
          <a:lstStyle/>
          <a:p>
            <a:pPr algn="just">
              <a:lnSpc>
                <a:spcPct val="100000"/>
              </a:lnSpc>
              <a:spcBef>
                <a:spcPct val="50000"/>
              </a:spcBef>
              <a:spcAft>
                <a:spcPct val="0"/>
              </a:spcAft>
              <a:buClr>
                <a:srgbClr val="C00000"/>
              </a:buClr>
              <a:buSzPct val="120000"/>
              <a:buFontTx/>
              <a:buChar char="•"/>
            </a:pPr>
            <a:r>
              <a:rPr kumimoji="1" lang="zh-CN" altLang="en-US" sz="2400" b="1" dirty="0" smtClean="0">
                <a:solidFill>
                  <a:srgbClr val="000066"/>
                </a:solidFill>
                <a:ea typeface="幼圆" pitchFamily="49" charset="-122"/>
                <a:cs typeface="Times New Roman" panose="02020603050405020304" pitchFamily="18" charset="0"/>
              </a:rPr>
              <a:t> 稠度界限</a:t>
            </a:r>
            <a:r>
              <a:rPr kumimoji="1" lang="en-US" altLang="zh-CN" sz="2400" b="1" dirty="0" smtClean="0">
                <a:solidFill>
                  <a:srgbClr val="000066"/>
                </a:solidFill>
                <a:ea typeface="幼圆" pitchFamily="49" charset="-122"/>
                <a:cs typeface="Times New Roman" panose="02020603050405020304" pitchFamily="18" charset="0"/>
              </a:rPr>
              <a:t>: </a:t>
            </a:r>
            <a:r>
              <a:rPr kumimoji="1" lang="zh-CN" altLang="en-US" sz="2400" b="1" i="1" dirty="0" smtClean="0">
                <a:solidFill>
                  <a:srgbClr val="000066"/>
                </a:solidFill>
                <a:ea typeface="幼圆" pitchFamily="49" charset="-122"/>
                <a:cs typeface="Times New Roman" panose="02020603050405020304" pitchFamily="18" charset="0"/>
                <a:sym typeface="Symbol" pitchFamily="18" charset="2"/>
              </a:rPr>
              <a:t>  </a:t>
            </a:r>
            <a:r>
              <a:rPr kumimoji="1" lang="en-US" altLang="zh-CN" sz="2400" b="1" i="1" dirty="0" err="1" smtClean="0">
                <a:solidFill>
                  <a:srgbClr val="000066"/>
                </a:solidFill>
                <a:ea typeface="幼圆" pitchFamily="49" charset="-122"/>
                <a:cs typeface="Times New Roman" panose="02020603050405020304" pitchFamily="18" charset="0"/>
                <a:sym typeface="Symbol" pitchFamily="18" charset="2"/>
              </a:rPr>
              <a:t>w</a:t>
            </a:r>
            <a:r>
              <a:rPr kumimoji="1" lang="en-US" altLang="zh-CN" sz="2400" b="1" baseline="-25000" dirty="0" err="1" smtClean="0">
                <a:solidFill>
                  <a:srgbClr val="000066"/>
                </a:solidFill>
                <a:ea typeface="幼圆" pitchFamily="49" charset="-122"/>
                <a:cs typeface="Times New Roman" panose="02020603050405020304" pitchFamily="18" charset="0"/>
              </a:rPr>
              <a:t>p</a:t>
            </a:r>
            <a:r>
              <a:rPr kumimoji="1" lang="zh-CN" altLang="en-US" sz="2400" b="1" dirty="0" smtClean="0">
                <a:solidFill>
                  <a:srgbClr val="000066"/>
                </a:solidFill>
                <a:ea typeface="幼圆" pitchFamily="49" charset="-122"/>
                <a:cs typeface="Times New Roman" panose="02020603050405020304" pitchFamily="18" charset="0"/>
              </a:rPr>
              <a:t>、</a:t>
            </a:r>
            <a:r>
              <a:rPr kumimoji="1" lang="en-US" altLang="zh-CN" sz="2400" b="1" i="1" dirty="0" err="1">
                <a:solidFill>
                  <a:srgbClr val="000066"/>
                </a:solidFill>
                <a:ea typeface="幼圆" pitchFamily="49" charset="-122"/>
                <a:cs typeface="Times New Roman" panose="02020603050405020304" pitchFamily="18" charset="0"/>
              </a:rPr>
              <a:t>w</a:t>
            </a:r>
            <a:r>
              <a:rPr kumimoji="1" lang="en-US" altLang="zh-CN" sz="2400" b="1" baseline="-25000" dirty="0" err="1">
                <a:solidFill>
                  <a:srgbClr val="000066"/>
                </a:solidFill>
                <a:ea typeface="幼圆" pitchFamily="49" charset="-122"/>
                <a:cs typeface="Times New Roman" panose="02020603050405020304" pitchFamily="18" charset="0"/>
              </a:rPr>
              <a:t>L</a:t>
            </a:r>
            <a:r>
              <a:rPr kumimoji="1" lang="en-US" altLang="zh-CN" sz="2400" b="1" baseline="-25000" dirty="0">
                <a:solidFill>
                  <a:srgbClr val="000066"/>
                </a:solidFill>
                <a:ea typeface="幼圆" pitchFamily="49" charset="-122"/>
                <a:cs typeface="Times New Roman" panose="02020603050405020304" pitchFamily="18" charset="0"/>
              </a:rPr>
              <a:t>  </a:t>
            </a:r>
            <a:r>
              <a:rPr kumimoji="1" lang="en-US" altLang="zh-CN" sz="2400" b="1" baseline="-25000" dirty="0" smtClean="0">
                <a:solidFill>
                  <a:srgbClr val="000066"/>
                </a:solidFill>
                <a:ea typeface="幼圆" pitchFamily="49" charset="-122"/>
                <a:cs typeface="Times New Roman" panose="02020603050405020304" pitchFamily="18" charset="0"/>
              </a:rPr>
              <a:t> </a:t>
            </a:r>
            <a:r>
              <a:rPr kumimoji="1" lang="en-US" altLang="zh-CN" sz="2400" b="1" dirty="0">
                <a:solidFill>
                  <a:srgbClr val="000066"/>
                </a:solidFill>
                <a:ea typeface="幼圆" pitchFamily="49" charset="-122"/>
                <a:cs typeface="Times New Roman" panose="02020603050405020304" pitchFamily="18" charset="0"/>
                <a:sym typeface="Symbol" pitchFamily="18" charset="2"/>
              </a:rPr>
              <a:t> </a:t>
            </a:r>
            <a:r>
              <a:rPr lang="zh-CN" altLang="en-US" sz="2400" b="1" dirty="0">
                <a:solidFill>
                  <a:srgbClr val="000066"/>
                </a:solidFill>
                <a:ea typeface="幼圆" pitchFamily="49" charset="-122"/>
                <a:cs typeface="Times New Roman" panose="02020603050405020304" pitchFamily="18" charset="0"/>
              </a:rPr>
              <a:t>土中水形态</a:t>
            </a:r>
            <a:endParaRPr kumimoji="1" lang="en-US" altLang="zh-CN" sz="2400" b="1" dirty="0">
              <a:solidFill>
                <a:srgbClr val="000066"/>
              </a:solidFill>
              <a:ea typeface="幼圆" pitchFamily="49" charset="-122"/>
              <a:cs typeface="Times New Roman" panose="02020603050405020304" pitchFamily="18" charset="0"/>
            </a:endParaRPr>
          </a:p>
          <a:p>
            <a:pPr algn="just">
              <a:lnSpc>
                <a:spcPct val="100000"/>
              </a:lnSpc>
              <a:spcBef>
                <a:spcPct val="50000"/>
              </a:spcBef>
              <a:spcAft>
                <a:spcPct val="0"/>
              </a:spcAft>
              <a:buClr>
                <a:srgbClr val="C00000"/>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塑性指数</a:t>
            </a:r>
            <a:r>
              <a:rPr kumimoji="1" lang="en-US" altLang="zh-CN" sz="2400" b="1" dirty="0" smtClean="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  </a:t>
            </a:r>
            <a:r>
              <a:rPr kumimoji="1" lang="en-US" altLang="zh-CN" sz="2400" b="1" i="1" dirty="0" err="1" smtClean="0">
                <a:solidFill>
                  <a:srgbClr val="000066"/>
                </a:solidFill>
                <a:ea typeface="幼圆" pitchFamily="49" charset="-122"/>
                <a:cs typeface="Times New Roman" panose="02020603050405020304" pitchFamily="18" charset="0"/>
              </a:rPr>
              <a:t>I</a:t>
            </a:r>
            <a:r>
              <a:rPr kumimoji="1" lang="en-US" altLang="zh-CN" sz="2400" b="1" baseline="-25000" dirty="0" err="1" smtClean="0">
                <a:solidFill>
                  <a:srgbClr val="000066"/>
                </a:solidFill>
                <a:ea typeface="幼圆" pitchFamily="49" charset="-122"/>
                <a:cs typeface="Times New Roman" panose="02020603050405020304" pitchFamily="18" charset="0"/>
              </a:rPr>
              <a:t>p</a:t>
            </a:r>
            <a:r>
              <a:rPr kumimoji="1" lang="en-US" altLang="zh-CN" sz="2400" b="1" dirty="0" smtClean="0">
                <a:solidFill>
                  <a:srgbClr val="000066"/>
                </a:solidFill>
                <a:ea typeface="幼圆" pitchFamily="49" charset="-122"/>
                <a:cs typeface="Times New Roman" panose="02020603050405020304" pitchFamily="18" charset="0"/>
              </a:rPr>
              <a:t>   </a:t>
            </a:r>
            <a:r>
              <a:rPr kumimoji="1" lang="en-US" altLang="zh-CN" sz="2400" b="1" dirty="0">
                <a:solidFill>
                  <a:srgbClr val="000066"/>
                </a:solidFill>
                <a:ea typeface="幼圆" pitchFamily="49" charset="-122"/>
                <a:cs typeface="Times New Roman" panose="02020603050405020304" pitchFamily="18" charset="0"/>
                <a:sym typeface="Symbol" pitchFamily="18" charset="2"/>
              </a:rPr>
              <a:t> </a:t>
            </a:r>
            <a:r>
              <a:rPr lang="zh-CN" altLang="en-US" sz="2400" b="1" dirty="0">
                <a:solidFill>
                  <a:srgbClr val="000066"/>
                </a:solidFill>
                <a:ea typeface="幼圆" pitchFamily="49" charset="-122"/>
                <a:cs typeface="Times New Roman" panose="02020603050405020304" pitchFamily="18" charset="0"/>
              </a:rPr>
              <a:t>吸附结合水的能力</a:t>
            </a:r>
            <a:endParaRPr lang="en-US" altLang="zh-CN" sz="2400" b="1" dirty="0">
              <a:solidFill>
                <a:srgbClr val="000066"/>
              </a:solidFill>
              <a:ea typeface="幼圆" pitchFamily="49" charset="-122"/>
              <a:cs typeface="Times New Roman" panose="02020603050405020304" pitchFamily="18" charset="0"/>
            </a:endParaRPr>
          </a:p>
        </p:txBody>
      </p:sp>
      <p:sp>
        <p:nvSpPr>
          <p:cNvPr id="11" name="Text Box 7"/>
          <p:cNvSpPr txBox="1">
            <a:spLocks noChangeArrowheads="1"/>
          </p:cNvSpPr>
          <p:nvPr/>
        </p:nvSpPr>
        <p:spPr bwMode="auto">
          <a:xfrm>
            <a:off x="1" y="0"/>
            <a:ext cx="35679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§1.3  </a:t>
            </a:r>
            <a:r>
              <a:rPr lang="zh-CN" altLang="en-US" sz="2000" b="1" kern="900" spc="-140" dirty="0" smtClean="0">
                <a:solidFill>
                  <a:srgbClr val="C00000"/>
                </a:solidFill>
                <a:latin typeface="宋体" pitchFamily="2" charset="-122"/>
              </a:rPr>
              <a:t>土的</a:t>
            </a:r>
            <a:r>
              <a:rPr lang="zh-CN" altLang="en-US" sz="2000" b="1" kern="900" spc="-140" dirty="0">
                <a:solidFill>
                  <a:srgbClr val="C00000"/>
                </a:solidFill>
                <a:latin typeface="宋体" pitchFamily="2" charset="-122"/>
              </a:rPr>
              <a:t>物理状态</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总结</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13" name="Rectangle 2"/>
          <p:cNvSpPr txBox="1">
            <a:spLocks noChangeArrowheads="1"/>
          </p:cNvSpPr>
          <p:nvPr/>
        </p:nvSpPr>
        <p:spPr>
          <a:xfrm>
            <a:off x="479835" y="698580"/>
            <a:ext cx="4336718" cy="747454"/>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00000"/>
              </a:lnSpc>
              <a:spcBef>
                <a:spcPts val="0"/>
              </a:spcBef>
              <a:spcAft>
                <a:spcPts val="0"/>
              </a:spcAft>
            </a:pPr>
            <a:r>
              <a:rPr lang="en-US" altLang="zh-CN"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§1.3  </a:t>
            </a:r>
            <a:r>
              <a:rPr lang="zh-CN" altLang="en-US" sz="36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土的物理状态</a:t>
            </a:r>
          </a:p>
        </p:txBody>
      </p:sp>
      <p:sp>
        <p:nvSpPr>
          <p:cNvPr id="14" name="矩形 13"/>
          <p:cNvSpPr/>
          <p:nvPr/>
        </p:nvSpPr>
        <p:spPr>
          <a:xfrm>
            <a:off x="659213" y="1537779"/>
            <a:ext cx="8165809" cy="658642"/>
          </a:xfrm>
          <a:prstGeom prst="rect">
            <a:avLst/>
          </a:prstGeom>
        </p:spPr>
        <p:txBody>
          <a:bodyPr wrap="square">
            <a:spAutoFit/>
          </a:bodyPr>
          <a:lstStyle/>
          <a:p>
            <a:pPr marL="457200" indent="-457200">
              <a:buClr>
                <a:srgbClr val="C00000"/>
              </a:buClr>
              <a:buFont typeface="Wingdings" panose="05000000000000000000" pitchFamily="2" charset="2"/>
              <a:buChar char="n"/>
            </a:pPr>
            <a:r>
              <a:rPr lang="zh-CN" altLang="en-US" sz="3200" b="1" dirty="0">
                <a:solidFill>
                  <a:srgbClr val="C00000"/>
                </a:solidFill>
                <a:latin typeface="幼圆" panose="02010509060101010101" pitchFamily="49" charset="-122"/>
                <a:ea typeface="幼圆" panose="02010509060101010101" pitchFamily="49" charset="-122"/>
              </a:rPr>
              <a:t>土的</a:t>
            </a:r>
            <a:r>
              <a:rPr lang="zh-CN" altLang="en-US" sz="3200" b="1" dirty="0" smtClean="0">
                <a:solidFill>
                  <a:srgbClr val="C00000"/>
                </a:solidFill>
                <a:latin typeface="幼圆" panose="02010509060101010101" pitchFamily="49" charset="-122"/>
                <a:ea typeface="幼圆" panose="02010509060101010101" pitchFamily="49" charset="-122"/>
              </a:rPr>
              <a:t>物理状态</a:t>
            </a:r>
            <a:r>
              <a:rPr lang="zh-CN" altLang="en-US" sz="3200" b="1" dirty="0" smtClean="0">
                <a:solidFill>
                  <a:srgbClr val="000066"/>
                </a:solidFill>
                <a:latin typeface="幼圆" panose="02010509060101010101" pitchFamily="49" charset="-122"/>
                <a:ea typeface="幼圆" panose="02010509060101010101" pitchFamily="49" charset="-122"/>
              </a:rPr>
              <a:t>：指</a:t>
            </a:r>
            <a:r>
              <a:rPr lang="zh-CN" altLang="en-US" sz="3200" b="1" dirty="0">
                <a:solidFill>
                  <a:srgbClr val="000066"/>
                </a:solidFill>
                <a:latin typeface="幼圆" panose="02010509060101010101" pitchFamily="49" charset="-122"/>
                <a:ea typeface="幼圆" panose="02010509060101010101" pitchFamily="49" charset="-122"/>
              </a:rPr>
              <a:t>土的松密和软硬状态</a:t>
            </a:r>
          </a:p>
        </p:txBody>
      </p:sp>
      <p:grpSp>
        <p:nvGrpSpPr>
          <p:cNvPr id="5" name="组合 4"/>
          <p:cNvGrpSpPr/>
          <p:nvPr/>
        </p:nvGrpSpPr>
        <p:grpSpPr>
          <a:xfrm>
            <a:off x="4641277" y="3385653"/>
            <a:ext cx="3394852" cy="984250"/>
            <a:chOff x="4641277" y="3385653"/>
            <a:chExt cx="3394852" cy="984250"/>
          </a:xfrm>
        </p:grpSpPr>
        <p:graphicFrame>
          <p:nvGraphicFramePr>
            <p:cNvPr id="2" name="Object 3"/>
            <p:cNvGraphicFramePr>
              <a:graphicFrameLocks noChangeAspect="1"/>
            </p:cNvGraphicFramePr>
            <p:nvPr>
              <p:extLst>
                <p:ext uri="{D42A27DB-BD31-4B8C-83A1-F6EECF244321}">
                  <p14:modId xmlns:p14="http://schemas.microsoft.com/office/powerpoint/2010/main" val="1566960743"/>
                </p:ext>
              </p:extLst>
            </p:nvPr>
          </p:nvGraphicFramePr>
          <p:xfrm>
            <a:off x="6177167" y="3385653"/>
            <a:ext cx="1858962" cy="984250"/>
          </p:xfrm>
          <a:graphic>
            <a:graphicData uri="http://schemas.openxmlformats.org/presentationml/2006/ole">
              <mc:AlternateContent xmlns:mc="http://schemas.openxmlformats.org/markup-compatibility/2006">
                <mc:Choice xmlns:v="urn:schemas-microsoft-com:vml" Requires="v">
                  <p:oleObj spid="_x0000_s80074" name="公式" r:id="rId4" imgW="888840" imgH="469800" progId="Equation.3">
                    <p:embed/>
                  </p:oleObj>
                </mc:Choice>
                <mc:Fallback>
                  <p:oleObj name="公式" r:id="rId4" imgW="888840" imgH="469800" progId="Equation.3">
                    <p:embed/>
                    <p:pic>
                      <p:nvPicPr>
                        <p:cNvPr id="0" name=""/>
                        <p:cNvPicPr>
                          <a:picLocks noChangeAspect="1" noChangeArrowheads="1"/>
                        </p:cNvPicPr>
                        <p:nvPr/>
                      </p:nvPicPr>
                      <p:blipFill>
                        <a:blip r:embed="rId5"/>
                        <a:srcRect/>
                        <a:stretch>
                          <a:fillRect/>
                        </a:stretch>
                      </p:blipFill>
                      <p:spPr bwMode="auto">
                        <a:xfrm>
                          <a:off x="6177167" y="3385653"/>
                          <a:ext cx="1858962" cy="984250"/>
                        </a:xfrm>
                        <a:prstGeom prst="rect">
                          <a:avLst/>
                        </a:prstGeom>
                        <a:noFill/>
                        <a:ln>
                          <a:noFill/>
                        </a:ln>
                        <a:effectLst/>
                        <a:extLst/>
                      </p:spPr>
                    </p:pic>
                  </p:oleObj>
                </mc:Fallback>
              </mc:AlternateContent>
            </a:graphicData>
          </a:graphic>
        </p:graphicFrame>
        <p:sp>
          <p:nvSpPr>
            <p:cNvPr id="16" name="Rectangle 5"/>
            <p:cNvSpPr>
              <a:spLocks noChangeArrowheads="1"/>
            </p:cNvSpPr>
            <p:nvPr/>
          </p:nvSpPr>
          <p:spPr bwMode="auto">
            <a:xfrm>
              <a:off x="4641277" y="3528202"/>
              <a:ext cx="173825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25000"/>
                </a:spcBef>
                <a:spcAft>
                  <a:spcPct val="0"/>
                </a:spcAft>
                <a:buClr>
                  <a:srgbClr val="A50021"/>
                </a:buClr>
                <a:buSzPct val="130000"/>
              </a:pPr>
              <a:r>
                <a:rPr kumimoji="1" lang="zh-CN" altLang="en-US" sz="2800" b="1" dirty="0" smtClean="0">
                  <a:solidFill>
                    <a:srgbClr val="000066"/>
                  </a:solidFill>
                  <a:ea typeface="幼圆" pitchFamily="49" charset="-122"/>
                  <a:cs typeface="Times New Roman" panose="02020603050405020304" pitchFamily="18" charset="0"/>
                </a:rPr>
                <a:t>液性指数</a:t>
              </a:r>
              <a:endParaRPr kumimoji="1" lang="en-US" altLang="zh-CN" sz="2800" b="1" i="1" baseline="-25000" dirty="0">
                <a:solidFill>
                  <a:srgbClr val="000066"/>
                </a:solidFill>
                <a:ea typeface="幼圆" pitchFamily="49" charset="-122"/>
                <a:cs typeface="Times New Roman" panose="02020603050405020304" pitchFamily="18" charset="0"/>
              </a:endParaRPr>
            </a:p>
          </p:txBody>
        </p:sp>
      </p:grpSp>
      <p:grpSp>
        <p:nvGrpSpPr>
          <p:cNvPr id="19" name="组合 18"/>
          <p:cNvGrpSpPr/>
          <p:nvPr/>
        </p:nvGrpSpPr>
        <p:grpSpPr>
          <a:xfrm>
            <a:off x="4612927" y="2306723"/>
            <a:ext cx="3634963" cy="928688"/>
            <a:chOff x="4612927" y="2306723"/>
            <a:chExt cx="3634963" cy="928688"/>
          </a:xfrm>
        </p:grpSpPr>
        <p:graphicFrame>
          <p:nvGraphicFramePr>
            <p:cNvPr id="7" name="Object 8"/>
            <p:cNvGraphicFramePr>
              <a:graphicFrameLocks noChangeAspect="1"/>
            </p:cNvGraphicFramePr>
            <p:nvPr>
              <p:extLst>
                <p:ext uri="{D42A27DB-BD31-4B8C-83A1-F6EECF244321}">
                  <p14:modId xmlns:p14="http://schemas.microsoft.com/office/powerpoint/2010/main" val="3064510308"/>
                </p:ext>
              </p:extLst>
            </p:nvPr>
          </p:nvGraphicFramePr>
          <p:xfrm>
            <a:off x="6125403" y="2306723"/>
            <a:ext cx="2122487" cy="928688"/>
          </p:xfrm>
          <a:graphic>
            <a:graphicData uri="http://schemas.openxmlformats.org/presentationml/2006/ole">
              <mc:AlternateContent xmlns:mc="http://schemas.openxmlformats.org/markup-compatibility/2006">
                <mc:Choice xmlns:v="urn:schemas-microsoft-com:vml" Requires="v">
                  <p:oleObj spid="_x0000_s80075" name="公式" r:id="rId6" imgW="1015920" imgH="444240" progId="Equation.3">
                    <p:embed/>
                  </p:oleObj>
                </mc:Choice>
                <mc:Fallback>
                  <p:oleObj name="公式" r:id="rId6" imgW="1015920" imgH="444240" progId="Equation.3">
                    <p:embed/>
                    <p:pic>
                      <p:nvPicPr>
                        <p:cNvPr id="0" name=""/>
                        <p:cNvPicPr>
                          <a:picLocks noChangeAspect="1" noChangeArrowheads="1"/>
                        </p:cNvPicPr>
                        <p:nvPr/>
                      </p:nvPicPr>
                      <p:blipFill>
                        <a:blip r:embed="rId7"/>
                        <a:srcRect/>
                        <a:stretch>
                          <a:fillRect/>
                        </a:stretch>
                      </p:blipFill>
                      <p:spPr bwMode="auto">
                        <a:xfrm>
                          <a:off x="6125403" y="2306723"/>
                          <a:ext cx="2122487" cy="928688"/>
                        </a:xfrm>
                        <a:prstGeom prst="rect">
                          <a:avLst/>
                        </a:prstGeom>
                        <a:noFill/>
                        <a:ln>
                          <a:noFill/>
                        </a:ln>
                        <a:effectLst/>
                        <a:extLst/>
                      </p:spPr>
                    </p:pic>
                  </p:oleObj>
                </mc:Fallback>
              </mc:AlternateContent>
            </a:graphicData>
          </a:graphic>
        </p:graphicFrame>
        <p:sp>
          <p:nvSpPr>
            <p:cNvPr id="18" name="Rectangle 5"/>
            <p:cNvSpPr>
              <a:spLocks noChangeArrowheads="1"/>
            </p:cNvSpPr>
            <p:nvPr/>
          </p:nvSpPr>
          <p:spPr bwMode="auto">
            <a:xfrm>
              <a:off x="4612927" y="2436591"/>
              <a:ext cx="17382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25000"/>
                </a:spcBef>
                <a:spcAft>
                  <a:spcPct val="0"/>
                </a:spcAft>
                <a:buClr>
                  <a:srgbClr val="A50021"/>
                </a:buClr>
                <a:buSzPct val="130000"/>
              </a:pPr>
              <a:r>
                <a:rPr kumimoji="1" lang="zh-CN" altLang="en-US" sz="2800" b="1" dirty="0" smtClean="0">
                  <a:solidFill>
                    <a:srgbClr val="000066"/>
                  </a:solidFill>
                  <a:ea typeface="幼圆" pitchFamily="49" charset="-122"/>
                  <a:cs typeface="Times New Roman" panose="02020603050405020304" pitchFamily="18" charset="0"/>
                </a:rPr>
                <a:t>相对密度</a:t>
              </a:r>
              <a:endParaRPr kumimoji="1" lang="en-US" altLang="zh-CN" sz="2800" b="1" i="1" baseline="-25000" dirty="0">
                <a:solidFill>
                  <a:srgbClr val="000066"/>
                </a:solidFill>
                <a:ea typeface="幼圆" pitchFamily="49" charset="-122"/>
                <a:cs typeface="Times New Roman" panose="02020603050405020304" pitchFamily="18" charset="0"/>
              </a:endParaRPr>
            </a:p>
          </p:txBody>
        </p:sp>
      </p:grpSp>
    </p:spTree>
    <p:extLst>
      <p:ext uri="{BB962C8B-B14F-4D97-AF65-F5344CB8AC3E}">
        <p14:creationId xmlns:p14="http://schemas.microsoft.com/office/powerpoint/2010/main" val="65057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1+#ppt_w/2"/>
                                          </p:val>
                                        </p:tav>
                                        <p:tav tm="100000">
                                          <p:val>
                                            <p:strVal val="#ppt_x"/>
                                          </p:val>
                                        </p:tav>
                                      </p:tavLst>
                                    </p:anim>
                                    <p:anim calcmode="lin" valueType="num">
                                      <p:cBhvr additive="base">
                                        <p:cTn id="1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0-#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1+#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heckerboard(across)">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841375" y="1823247"/>
            <a:ext cx="2422525" cy="841375"/>
            <a:chOff x="1181" y="691"/>
            <a:chExt cx="1516" cy="530"/>
          </a:xfrm>
        </p:grpSpPr>
        <p:sp>
          <p:nvSpPr>
            <p:cNvPr id="3" name="Text Box 4"/>
            <p:cNvSpPr txBox="1">
              <a:spLocks noChangeArrowheads="1"/>
            </p:cNvSpPr>
            <p:nvPr/>
          </p:nvSpPr>
          <p:spPr bwMode="auto">
            <a:xfrm>
              <a:off x="1220" y="722"/>
              <a:ext cx="140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SzPct val="60000"/>
                <a:buFont typeface="Wingdings" pitchFamily="2" charset="2"/>
                <a:buNone/>
              </a:pPr>
              <a:r>
                <a:rPr kumimoji="1" lang="zh-CN" altLang="en-US" sz="4000" b="1" dirty="0">
                  <a:solidFill>
                    <a:srgbClr val="000066"/>
                  </a:solidFill>
                  <a:ea typeface="黑体" pitchFamily="2" charset="-122"/>
                </a:rPr>
                <a:t>土的结构</a:t>
              </a:r>
              <a:endParaRPr lang="zh-CN" altLang="en-US" sz="4000" b="1" dirty="0">
                <a:solidFill>
                  <a:srgbClr val="000066"/>
                </a:solidFill>
                <a:ea typeface="黑体" pitchFamily="2" charset="-122"/>
              </a:endParaRPr>
            </a:p>
          </p:txBody>
        </p:sp>
        <p:sp>
          <p:nvSpPr>
            <p:cNvPr id="4" name="AutoShape 5"/>
            <p:cNvSpPr>
              <a:spLocks noChangeArrowheads="1"/>
            </p:cNvSpPr>
            <p:nvPr/>
          </p:nvSpPr>
          <p:spPr bwMode="auto">
            <a:xfrm>
              <a:off x="1181" y="691"/>
              <a:ext cx="1516" cy="530"/>
            </a:xfrm>
            <a:prstGeom prst="roundRect">
              <a:avLst>
                <a:gd name="adj" fmla="val 25380"/>
              </a:avLst>
            </a:prstGeom>
            <a:noFill/>
            <a:ln w="28575">
              <a:solidFill>
                <a:srgbClr val="00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 name="Text Box 6"/>
          <p:cNvSpPr txBox="1">
            <a:spLocks noChangeArrowheads="1"/>
          </p:cNvSpPr>
          <p:nvPr/>
        </p:nvSpPr>
        <p:spPr bwMode="auto">
          <a:xfrm>
            <a:off x="4449762" y="1775622"/>
            <a:ext cx="34607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800" b="1" dirty="0">
                <a:solidFill>
                  <a:srgbClr val="000066"/>
                </a:solidFill>
                <a:ea typeface="幼圆" pitchFamily="49" charset="-122"/>
              </a:rPr>
              <a:t>土颗粒或粒团的</a:t>
            </a:r>
          </a:p>
          <a:p>
            <a:pPr eaLnBrk="1" hangingPunct="1">
              <a:lnSpc>
                <a:spcPct val="100000"/>
              </a:lnSpc>
              <a:spcBef>
                <a:spcPct val="0"/>
              </a:spcBef>
              <a:spcAft>
                <a:spcPct val="0"/>
              </a:spcAft>
            </a:pPr>
            <a:r>
              <a:rPr kumimoji="1" lang="zh-CN" altLang="en-US" sz="2800" b="1" dirty="0">
                <a:solidFill>
                  <a:srgbClr val="000066"/>
                </a:solidFill>
                <a:ea typeface="幼圆" pitchFamily="49" charset="-122"/>
              </a:rPr>
              <a:t>空间排列和相互联结</a:t>
            </a:r>
          </a:p>
        </p:txBody>
      </p:sp>
      <p:sp>
        <p:nvSpPr>
          <p:cNvPr id="6" name="AutoShape 7"/>
          <p:cNvSpPr>
            <a:spLocks noChangeArrowheads="1"/>
          </p:cNvSpPr>
          <p:nvPr/>
        </p:nvSpPr>
        <p:spPr bwMode="auto">
          <a:xfrm>
            <a:off x="3613150" y="1978822"/>
            <a:ext cx="633412" cy="488950"/>
          </a:xfrm>
          <a:prstGeom prst="homePlate">
            <a:avLst>
              <a:gd name="adj" fmla="val 37424"/>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19" name="Text Box 7"/>
          <p:cNvSpPr txBox="1">
            <a:spLocks noChangeArrowheads="1"/>
          </p:cNvSpPr>
          <p:nvPr/>
        </p:nvSpPr>
        <p:spPr bwMode="auto">
          <a:xfrm>
            <a:off x="1" y="0"/>
            <a:ext cx="365160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§1.4  </a:t>
            </a:r>
            <a:r>
              <a:rPr lang="zh-CN" altLang="en-US" sz="2000" b="1" kern="900" spc="-140" dirty="0" smtClean="0">
                <a:solidFill>
                  <a:srgbClr val="C00000"/>
                </a:solidFill>
                <a:latin typeface="宋体" pitchFamily="2" charset="-122"/>
              </a:rPr>
              <a:t>土的结构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总结</a:t>
            </a:r>
            <a:r>
              <a:rPr lang="en-US" altLang="zh-CN" sz="2000" b="1" kern="900" spc="-140" dirty="0" smtClean="0">
                <a:solidFill>
                  <a:srgbClr val="C00000"/>
                </a:solidFill>
                <a:latin typeface="宋体" pitchFamily="2" charset="-122"/>
              </a:rPr>
              <a:t> </a:t>
            </a:r>
            <a:endParaRPr lang="zh-CN" altLang="en-US" sz="2000" b="1" kern="900" spc="-140" dirty="0">
              <a:solidFill>
                <a:srgbClr val="C00000"/>
              </a:solidFill>
              <a:latin typeface="宋体" pitchFamily="2" charset="-122"/>
            </a:endParaRPr>
          </a:p>
        </p:txBody>
      </p:sp>
      <p:sp>
        <p:nvSpPr>
          <p:cNvPr id="23" name="Rectangle 2"/>
          <p:cNvSpPr txBox="1">
            <a:spLocks noChangeArrowheads="1"/>
          </p:cNvSpPr>
          <p:nvPr/>
        </p:nvSpPr>
        <p:spPr>
          <a:xfrm>
            <a:off x="479835" y="698580"/>
            <a:ext cx="4336718" cy="747454"/>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00000"/>
              </a:lnSpc>
              <a:spcBef>
                <a:spcPts val="0"/>
              </a:spcBef>
              <a:spcAft>
                <a:spcPts val="0"/>
              </a:spcAft>
            </a:pPr>
            <a:r>
              <a:rPr lang="en-US" altLang="zh-CN"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§1.4  </a:t>
            </a:r>
            <a:r>
              <a:rPr lang="zh-CN" altLang="en-US" sz="36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土</a:t>
            </a:r>
            <a:r>
              <a:rPr lang="zh-CN" altLang="en-US"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的结构</a:t>
            </a:r>
            <a:endParaRPr lang="zh-CN" altLang="en-US" sz="36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4" name="Rectangle 4"/>
          <p:cNvSpPr>
            <a:spLocks noChangeArrowheads="1"/>
          </p:cNvSpPr>
          <p:nvPr/>
        </p:nvSpPr>
        <p:spPr bwMode="auto">
          <a:xfrm>
            <a:off x="1189761" y="3233587"/>
            <a:ext cx="18181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lnSpc>
                <a:spcPct val="100000"/>
              </a:lnSpc>
              <a:spcBef>
                <a:spcPct val="25000"/>
              </a:spcBef>
              <a:spcAft>
                <a:spcPct val="0"/>
              </a:spcAft>
              <a:buClr>
                <a:srgbClr val="A50021"/>
              </a:buClr>
              <a:buSzPct val="130000"/>
              <a:buFont typeface="Wingdings" panose="05000000000000000000" pitchFamily="2" charset="2"/>
              <a:buChar char="F"/>
            </a:pPr>
            <a:r>
              <a:rPr kumimoji="1" lang="zh-CN" altLang="en-US" sz="2800" b="1" dirty="0">
                <a:solidFill>
                  <a:srgbClr val="000066"/>
                </a:solidFill>
                <a:ea typeface="幼圆" pitchFamily="49" charset="-122"/>
                <a:cs typeface="Times New Roman" panose="02020603050405020304" pitchFamily="18" charset="0"/>
              </a:rPr>
              <a:t> </a:t>
            </a:r>
            <a:r>
              <a:rPr kumimoji="1" lang="zh-CN" altLang="en-US" sz="2800" b="1" dirty="0" smtClean="0">
                <a:solidFill>
                  <a:srgbClr val="000066"/>
                </a:solidFill>
                <a:ea typeface="幼圆" pitchFamily="49" charset="-122"/>
                <a:cs typeface="Times New Roman" panose="02020603050405020304" pitchFamily="18" charset="0"/>
              </a:rPr>
              <a:t>粗粒土</a:t>
            </a:r>
            <a:endParaRPr kumimoji="1" lang="en-US" altLang="zh-CN" sz="2400" b="1" i="1" baseline="-25000" dirty="0">
              <a:solidFill>
                <a:srgbClr val="000066"/>
              </a:solidFill>
              <a:ea typeface="幼圆" pitchFamily="49" charset="-122"/>
              <a:cs typeface="Times New Roman" panose="02020603050405020304" pitchFamily="18" charset="0"/>
            </a:endParaRPr>
          </a:p>
        </p:txBody>
      </p:sp>
      <p:sp>
        <p:nvSpPr>
          <p:cNvPr id="25" name="Text Box 14"/>
          <p:cNvSpPr txBox="1">
            <a:spLocks noChangeArrowheads="1"/>
          </p:cNvSpPr>
          <p:nvPr/>
        </p:nvSpPr>
        <p:spPr bwMode="auto">
          <a:xfrm>
            <a:off x="3313491" y="3039699"/>
            <a:ext cx="4916109"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0"/>
              </a:spcAft>
              <a:buClr>
                <a:srgbClr val="C00000"/>
              </a:buClr>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粒间力</a:t>
            </a:r>
            <a:r>
              <a:rPr kumimoji="1" lang="zh-CN" altLang="en-US" sz="2400" b="1" dirty="0">
                <a:solidFill>
                  <a:srgbClr val="000066"/>
                </a:solidFill>
                <a:latin typeface="幼圆" pitchFamily="49" charset="-122"/>
                <a:ea typeface="幼圆" pitchFamily="49" charset="-122"/>
              </a:rPr>
              <a:t>：</a:t>
            </a:r>
            <a:r>
              <a:rPr kumimoji="1" lang="zh-CN" altLang="en-US" sz="2400" b="1" dirty="0" smtClean="0">
                <a:solidFill>
                  <a:srgbClr val="000066"/>
                </a:solidFill>
                <a:latin typeface="幼圆" pitchFamily="49" charset="-122"/>
                <a:ea typeface="幼圆" pitchFamily="49" charset="-122"/>
              </a:rPr>
              <a:t>重力起</a:t>
            </a:r>
            <a:r>
              <a:rPr kumimoji="1" lang="zh-CN" altLang="en-US" sz="2400" b="1" dirty="0">
                <a:solidFill>
                  <a:srgbClr val="000066"/>
                </a:solidFill>
                <a:latin typeface="幼圆" pitchFamily="49" charset="-122"/>
                <a:ea typeface="幼圆" pitchFamily="49" charset="-122"/>
              </a:rPr>
              <a:t>主导作用</a:t>
            </a:r>
          </a:p>
          <a:p>
            <a:pPr marL="342900" indent="-342900" eaLnBrk="1" hangingPunct="1">
              <a:lnSpc>
                <a:spcPct val="120000"/>
              </a:lnSpc>
              <a:spcBef>
                <a:spcPct val="0"/>
              </a:spcBef>
              <a:spcAft>
                <a:spcPct val="0"/>
              </a:spcAft>
              <a:buClr>
                <a:srgbClr val="C00000"/>
              </a:buClr>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结构</a:t>
            </a:r>
            <a:r>
              <a:rPr kumimoji="1" lang="zh-CN" altLang="en-US" sz="2400" b="1" dirty="0">
                <a:solidFill>
                  <a:srgbClr val="000066"/>
                </a:solidFill>
                <a:latin typeface="幼圆" pitchFamily="49" charset="-122"/>
                <a:ea typeface="幼圆" pitchFamily="49" charset="-122"/>
              </a:rPr>
              <a:t>形式：</a:t>
            </a:r>
            <a:r>
              <a:rPr kumimoji="1" lang="zh-CN" altLang="en-US" sz="2400" b="1" dirty="0" smtClean="0">
                <a:solidFill>
                  <a:srgbClr val="000066"/>
                </a:solidFill>
                <a:latin typeface="幼圆" pitchFamily="49" charset="-122"/>
                <a:ea typeface="幼圆" pitchFamily="49" charset="-122"/>
              </a:rPr>
              <a:t>单粒结构</a:t>
            </a:r>
            <a:endParaRPr kumimoji="1" lang="zh-CN" altLang="en-US" sz="2400" b="1" dirty="0">
              <a:solidFill>
                <a:srgbClr val="000066"/>
              </a:solidFill>
              <a:latin typeface="幼圆" pitchFamily="49" charset="-122"/>
              <a:ea typeface="幼圆" pitchFamily="49" charset="-122"/>
            </a:endParaRPr>
          </a:p>
        </p:txBody>
      </p:sp>
      <p:sp>
        <p:nvSpPr>
          <p:cNvPr id="26" name="Rectangle 4"/>
          <p:cNvSpPr>
            <a:spLocks noChangeArrowheads="1"/>
          </p:cNvSpPr>
          <p:nvPr/>
        </p:nvSpPr>
        <p:spPr bwMode="auto">
          <a:xfrm>
            <a:off x="1193298" y="4406717"/>
            <a:ext cx="18181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lnSpc>
                <a:spcPct val="100000"/>
              </a:lnSpc>
              <a:spcBef>
                <a:spcPct val="25000"/>
              </a:spcBef>
              <a:spcAft>
                <a:spcPct val="0"/>
              </a:spcAft>
              <a:buClr>
                <a:srgbClr val="A50021"/>
              </a:buClr>
              <a:buSzPct val="130000"/>
              <a:buFont typeface="Wingdings" panose="05000000000000000000" pitchFamily="2" charset="2"/>
              <a:buChar char="F"/>
            </a:pPr>
            <a:r>
              <a:rPr kumimoji="1" lang="zh-CN" altLang="en-US" sz="2800" b="1" dirty="0">
                <a:solidFill>
                  <a:srgbClr val="000066"/>
                </a:solidFill>
                <a:ea typeface="幼圆" pitchFamily="49" charset="-122"/>
                <a:cs typeface="Times New Roman" panose="02020603050405020304" pitchFamily="18" charset="0"/>
              </a:rPr>
              <a:t> 细</a:t>
            </a:r>
            <a:r>
              <a:rPr kumimoji="1" lang="zh-CN" altLang="en-US" sz="2800" b="1" dirty="0" smtClean="0">
                <a:solidFill>
                  <a:srgbClr val="000066"/>
                </a:solidFill>
                <a:ea typeface="幼圆" pitchFamily="49" charset="-122"/>
                <a:cs typeface="Times New Roman" panose="02020603050405020304" pitchFamily="18" charset="0"/>
              </a:rPr>
              <a:t>粒土</a:t>
            </a:r>
            <a:endParaRPr kumimoji="1" lang="en-US" altLang="zh-CN" sz="2400" b="1" i="1" baseline="-25000" dirty="0">
              <a:solidFill>
                <a:srgbClr val="000066"/>
              </a:solidFill>
              <a:ea typeface="幼圆" pitchFamily="49" charset="-122"/>
              <a:cs typeface="Times New Roman" panose="02020603050405020304" pitchFamily="18" charset="0"/>
            </a:endParaRPr>
          </a:p>
        </p:txBody>
      </p:sp>
      <p:sp>
        <p:nvSpPr>
          <p:cNvPr id="27" name="Text Box 14"/>
          <p:cNvSpPr txBox="1">
            <a:spLocks noChangeArrowheads="1"/>
          </p:cNvSpPr>
          <p:nvPr/>
        </p:nvSpPr>
        <p:spPr bwMode="auto">
          <a:xfrm>
            <a:off x="3306399" y="4223454"/>
            <a:ext cx="4916109"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0"/>
              </a:spcAft>
              <a:buClr>
                <a:srgbClr val="C00000"/>
              </a:buClr>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粒间力：其他</a:t>
            </a:r>
            <a:r>
              <a:rPr kumimoji="1" lang="zh-CN" altLang="en-US" sz="2400" b="1" dirty="0">
                <a:solidFill>
                  <a:srgbClr val="000066"/>
                </a:solidFill>
                <a:latin typeface="幼圆" pitchFamily="49" charset="-122"/>
                <a:ea typeface="幼圆" pitchFamily="49" charset="-122"/>
              </a:rPr>
              <a:t>粒间力起主导</a:t>
            </a:r>
            <a:r>
              <a:rPr kumimoji="1" lang="zh-CN" altLang="en-US" sz="2400" b="1" dirty="0" smtClean="0">
                <a:solidFill>
                  <a:srgbClr val="000066"/>
                </a:solidFill>
                <a:latin typeface="幼圆" pitchFamily="49" charset="-122"/>
                <a:ea typeface="幼圆" pitchFamily="49" charset="-122"/>
              </a:rPr>
              <a:t>作用</a:t>
            </a:r>
          </a:p>
          <a:p>
            <a:pPr marL="342900" indent="-342900" eaLnBrk="1" hangingPunct="1">
              <a:lnSpc>
                <a:spcPct val="120000"/>
              </a:lnSpc>
              <a:spcBef>
                <a:spcPct val="0"/>
              </a:spcBef>
              <a:spcAft>
                <a:spcPct val="0"/>
              </a:spcAft>
              <a:buClr>
                <a:srgbClr val="C00000"/>
              </a:buClr>
              <a:buFont typeface="Arial" panose="020B0604020202020204" pitchFamily="34" charset="0"/>
              <a:buChar char="•"/>
            </a:pPr>
            <a:r>
              <a:rPr kumimoji="1" lang="zh-CN" altLang="en-US" sz="2400" b="1" dirty="0" smtClean="0">
                <a:solidFill>
                  <a:srgbClr val="000066"/>
                </a:solidFill>
                <a:latin typeface="幼圆" pitchFamily="49" charset="-122"/>
                <a:ea typeface="幼圆" pitchFamily="49" charset="-122"/>
              </a:rPr>
              <a:t>结构</a:t>
            </a:r>
            <a:r>
              <a:rPr kumimoji="1" lang="zh-CN" altLang="en-US" sz="2400" b="1" dirty="0">
                <a:solidFill>
                  <a:srgbClr val="000066"/>
                </a:solidFill>
                <a:latin typeface="幼圆" pitchFamily="49" charset="-122"/>
                <a:ea typeface="幼圆" pitchFamily="49" charset="-122"/>
              </a:rPr>
              <a:t>形式：分散</a:t>
            </a:r>
            <a:r>
              <a:rPr kumimoji="1" lang="zh-CN" altLang="en-US" sz="2400" b="1" dirty="0" smtClean="0">
                <a:solidFill>
                  <a:srgbClr val="000066"/>
                </a:solidFill>
                <a:latin typeface="幼圆" pitchFamily="49" charset="-122"/>
                <a:ea typeface="幼圆" pitchFamily="49" charset="-122"/>
              </a:rPr>
              <a:t>结构和絮凝结构</a:t>
            </a:r>
            <a:endParaRPr kumimoji="1" lang="en-US" altLang="zh-CN" sz="2400" b="1" dirty="0" smtClean="0">
              <a:solidFill>
                <a:srgbClr val="000066"/>
              </a:solidFill>
              <a:latin typeface="幼圆" pitchFamily="49" charset="-122"/>
              <a:ea typeface="幼圆" pitchFamily="49" charset="-122"/>
            </a:endParaRPr>
          </a:p>
          <a:p>
            <a:pPr marL="342900" indent="-342900" eaLnBrk="1" hangingPunct="1">
              <a:lnSpc>
                <a:spcPct val="120000"/>
              </a:lnSpc>
              <a:spcBef>
                <a:spcPct val="0"/>
              </a:spcBef>
              <a:spcAft>
                <a:spcPct val="0"/>
              </a:spcAft>
              <a:buClr>
                <a:srgbClr val="C00000"/>
              </a:buClr>
              <a:buFont typeface="Arial" panose="020B0604020202020204" pitchFamily="34" charset="0"/>
              <a:buChar char="•"/>
            </a:pPr>
            <a:r>
              <a:rPr kumimoji="1" lang="zh-CN" altLang="en-US" sz="2400" b="1" dirty="0">
                <a:solidFill>
                  <a:srgbClr val="000066"/>
                </a:solidFill>
                <a:latin typeface="幼圆" pitchFamily="49" charset="-122"/>
                <a:ea typeface="幼圆" pitchFamily="49" charset="-122"/>
              </a:rPr>
              <a:t>结构特性：</a:t>
            </a:r>
            <a:r>
              <a:rPr kumimoji="1" lang="zh-CN" altLang="en-US" sz="2400" b="1" dirty="0" smtClean="0">
                <a:solidFill>
                  <a:srgbClr val="000066"/>
                </a:solidFill>
                <a:latin typeface="幼圆" pitchFamily="49" charset="-122"/>
                <a:ea typeface="幼圆" pitchFamily="49" charset="-122"/>
              </a:rPr>
              <a:t>灵敏度和触变性</a:t>
            </a:r>
            <a:endParaRPr kumimoji="1" lang="zh-CN" altLang="en-US" sz="2400" b="1" dirty="0">
              <a:solidFill>
                <a:srgbClr val="000066"/>
              </a:solidFill>
              <a:latin typeface="幼圆" pitchFamily="49" charset="-122"/>
              <a:ea typeface="幼圆" pitchFamily="49" charset="-122"/>
            </a:endParaRPr>
          </a:p>
        </p:txBody>
      </p:sp>
    </p:spTree>
    <p:extLst>
      <p:ext uri="{BB962C8B-B14F-4D97-AF65-F5344CB8AC3E}">
        <p14:creationId xmlns:p14="http://schemas.microsoft.com/office/powerpoint/2010/main" val="1737452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25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2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fill="hold"/>
                                        <p:tgtEl>
                                          <p:spTgt spid="24"/>
                                        </p:tgtEl>
                                        <p:attrNameLst>
                                          <p:attrName>ppt_x</p:attrName>
                                        </p:attrNameLst>
                                      </p:cBhvr>
                                      <p:tavLst>
                                        <p:tav tm="0">
                                          <p:val>
                                            <p:strVal val="0-#ppt_w/2"/>
                                          </p:val>
                                        </p:tav>
                                        <p:tav tm="100000">
                                          <p:val>
                                            <p:strVal val="#ppt_x"/>
                                          </p:val>
                                        </p:tav>
                                      </p:tavLst>
                                    </p:anim>
                                    <p:anim calcmode="lin" valueType="num">
                                      <p:cBhvr additive="base">
                                        <p:cTn id="21" dur="500" fill="hold"/>
                                        <p:tgtEl>
                                          <p:spTgt spid="24"/>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left)">
                                      <p:cBhvr>
                                        <p:cTn id="25" dur="30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500" fill="hold"/>
                                        <p:tgtEl>
                                          <p:spTgt spid="26"/>
                                        </p:tgtEl>
                                        <p:attrNameLst>
                                          <p:attrName>ppt_x</p:attrName>
                                        </p:attrNameLst>
                                      </p:cBhvr>
                                      <p:tavLst>
                                        <p:tav tm="0">
                                          <p:val>
                                            <p:strVal val="0-#ppt_w/2"/>
                                          </p:val>
                                        </p:tav>
                                        <p:tav tm="100000">
                                          <p:val>
                                            <p:strVal val="#ppt_x"/>
                                          </p:val>
                                        </p:tav>
                                      </p:tavLst>
                                    </p:anim>
                                    <p:anim calcmode="lin" valueType="num">
                                      <p:cBhvr additive="base">
                                        <p:cTn id="31" dur="500" fill="hold"/>
                                        <p:tgtEl>
                                          <p:spTgt spid="26"/>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3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24" grpId="0"/>
      <p:bldP spid="25" grpId="0"/>
      <p:bldP spid="26" grpId="0"/>
      <p:bldP spid="27"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6"/>
          <p:cNvSpPr>
            <a:spLocks noChangeArrowheads="1"/>
          </p:cNvSpPr>
          <p:nvPr/>
        </p:nvSpPr>
        <p:spPr bwMode="auto">
          <a:xfrm>
            <a:off x="1969264" y="4703297"/>
            <a:ext cx="6326412" cy="510778"/>
          </a:xfrm>
          <a:prstGeom prst="roundRect">
            <a:avLst>
              <a:gd name="adj" fmla="val 16667"/>
            </a:avLst>
          </a:prstGeom>
          <a:solidFill>
            <a:schemeClr val="accent6">
              <a:lumMod val="60000"/>
              <a:lumOff val="40000"/>
            </a:schemeClr>
          </a:solidFill>
          <a:ln w="9525">
            <a:noFill/>
            <a:round/>
            <a:headEnd/>
            <a:tailEnd/>
          </a:ln>
        </p:spPr>
        <p:txBody>
          <a:bodyPr wrap="none">
            <a:spAutoFit/>
          </a:bodyPr>
          <a:lstStyle/>
          <a:p>
            <a:pPr>
              <a:lnSpc>
                <a:spcPct val="100000"/>
              </a:lnSpc>
              <a:spcBef>
                <a:spcPct val="0"/>
              </a:spcBef>
              <a:spcAft>
                <a:spcPct val="0"/>
              </a:spcAft>
            </a:pPr>
            <a:r>
              <a:rPr kumimoji="1" lang="en-US" altLang="zh-CN" sz="2400" b="1" dirty="0" smtClean="0">
                <a:solidFill>
                  <a:srgbClr val="000066"/>
                </a:solidFill>
                <a:ea typeface="幼圆" pitchFamily="49" charset="-122"/>
                <a:cs typeface="Times New Roman" panose="02020603050405020304" pitchFamily="18" charset="0"/>
              </a:rPr>
              <a:t>《</a:t>
            </a:r>
            <a:r>
              <a:rPr kumimoji="1" lang="zh-CN" altLang="en-US" sz="2400" b="1" dirty="0">
                <a:solidFill>
                  <a:srgbClr val="000066"/>
                </a:solidFill>
                <a:ea typeface="幼圆" pitchFamily="49" charset="-122"/>
                <a:cs typeface="Times New Roman" panose="02020603050405020304" pitchFamily="18" charset="0"/>
              </a:rPr>
              <a:t>建筑地基基础规范</a:t>
            </a:r>
            <a:r>
              <a:rPr kumimoji="1" lang="en-US" altLang="zh-CN" sz="2400" b="1" dirty="0">
                <a:solidFill>
                  <a:srgbClr val="000066"/>
                </a:solidFill>
                <a:ea typeface="幼圆" pitchFamily="49" charset="-122"/>
                <a:cs typeface="Times New Roman" panose="02020603050405020304" pitchFamily="18" charset="0"/>
              </a:rPr>
              <a:t>》(GB50007-2011)</a:t>
            </a:r>
            <a:r>
              <a:rPr kumimoji="1" lang="zh-CN" altLang="en-US" sz="2400" b="1" dirty="0" smtClean="0">
                <a:solidFill>
                  <a:srgbClr val="000066"/>
                </a:solidFill>
                <a:ea typeface="幼圆" pitchFamily="49" charset="-122"/>
                <a:cs typeface="Times New Roman" panose="02020603050405020304" pitchFamily="18" charset="0"/>
              </a:rPr>
              <a:t>分类法</a:t>
            </a:r>
            <a:endParaRPr kumimoji="1" lang="zh-CN" altLang="en-US" sz="2400" b="1" dirty="0">
              <a:solidFill>
                <a:srgbClr val="000066"/>
              </a:solidFill>
              <a:ea typeface="幼圆" pitchFamily="49" charset="-122"/>
              <a:cs typeface="Times New Roman" panose="02020603050405020304" pitchFamily="18" charset="0"/>
            </a:endParaRPr>
          </a:p>
        </p:txBody>
      </p:sp>
      <p:sp>
        <p:nvSpPr>
          <p:cNvPr id="4" name="AutoShape 7"/>
          <p:cNvSpPr>
            <a:spLocks noChangeArrowheads="1"/>
          </p:cNvSpPr>
          <p:nvPr/>
        </p:nvSpPr>
        <p:spPr bwMode="auto">
          <a:xfrm>
            <a:off x="1966089" y="5356420"/>
            <a:ext cx="6277681" cy="510778"/>
          </a:xfrm>
          <a:prstGeom prst="roundRect">
            <a:avLst>
              <a:gd name="adj" fmla="val 16667"/>
            </a:avLst>
          </a:prstGeom>
          <a:solidFill>
            <a:schemeClr val="accent6">
              <a:lumMod val="60000"/>
              <a:lumOff val="40000"/>
            </a:schemeClr>
          </a:solidFill>
          <a:ln w="9525">
            <a:noFill/>
            <a:round/>
            <a:headEnd/>
            <a:tailEnd/>
          </a:ln>
        </p:spPr>
        <p:txBody>
          <a:bodyPr wrap="none">
            <a:spAutoFit/>
          </a:bodyPr>
          <a:lstStyle/>
          <a:p>
            <a:pPr>
              <a:lnSpc>
                <a:spcPct val="100000"/>
              </a:lnSpc>
              <a:spcBef>
                <a:spcPct val="0"/>
              </a:spcBef>
              <a:spcAft>
                <a:spcPct val="0"/>
              </a:spcAft>
            </a:pPr>
            <a:r>
              <a:rPr kumimoji="1" lang="zh-CN" altLang="en-US" sz="2400" b="1" dirty="0">
                <a:solidFill>
                  <a:srgbClr val="000066"/>
                </a:solidFill>
                <a:ea typeface="幼圆" pitchFamily="49" charset="-122"/>
                <a:cs typeface="Times New Roman" panose="02020603050405020304" pitchFamily="18" charset="0"/>
              </a:rPr>
              <a:t>水利部</a:t>
            </a:r>
            <a:r>
              <a:rPr kumimoji="1" lang="en-US" altLang="zh-CN" sz="2400" b="1" dirty="0">
                <a:solidFill>
                  <a:srgbClr val="000066"/>
                </a:solidFill>
                <a:ea typeface="幼圆" pitchFamily="49" charset="-122"/>
                <a:cs typeface="Times New Roman" panose="02020603050405020304" pitchFamily="18" charset="0"/>
              </a:rPr>
              <a:t>《</a:t>
            </a:r>
            <a:r>
              <a:rPr kumimoji="1" lang="zh-CN" altLang="en-US" sz="2400" b="1" dirty="0">
                <a:solidFill>
                  <a:srgbClr val="000066"/>
                </a:solidFill>
                <a:ea typeface="幼圆" pitchFamily="49" charset="-122"/>
                <a:cs typeface="Times New Roman" panose="02020603050405020304" pitchFamily="18" charset="0"/>
              </a:rPr>
              <a:t>土工试验规程</a:t>
            </a:r>
            <a:r>
              <a:rPr kumimoji="1" lang="en-US" altLang="zh-CN" sz="2400" b="1" dirty="0">
                <a:solidFill>
                  <a:srgbClr val="000066"/>
                </a:solidFill>
                <a:ea typeface="幼圆" pitchFamily="49" charset="-122"/>
                <a:cs typeface="Times New Roman" panose="02020603050405020304" pitchFamily="18" charset="0"/>
              </a:rPr>
              <a:t>》(SL237-1999)</a:t>
            </a:r>
            <a:r>
              <a:rPr kumimoji="1" lang="zh-CN" altLang="en-US" sz="2400" b="1" dirty="0">
                <a:solidFill>
                  <a:srgbClr val="000066"/>
                </a:solidFill>
                <a:ea typeface="幼圆" pitchFamily="49" charset="-122"/>
                <a:cs typeface="Times New Roman" panose="02020603050405020304" pitchFamily="18" charset="0"/>
              </a:rPr>
              <a:t>分类法</a:t>
            </a:r>
          </a:p>
        </p:txBody>
      </p:sp>
      <p:sp>
        <p:nvSpPr>
          <p:cNvPr id="8" name="AutoShape 11"/>
          <p:cNvSpPr>
            <a:spLocks noChangeArrowheads="1"/>
          </p:cNvSpPr>
          <p:nvPr/>
        </p:nvSpPr>
        <p:spPr bwMode="auto">
          <a:xfrm>
            <a:off x="1256477" y="4743794"/>
            <a:ext cx="541337" cy="381000"/>
          </a:xfrm>
          <a:prstGeom prst="homePlate">
            <a:avLst>
              <a:gd name="adj" fmla="val 35521"/>
            </a:avLst>
          </a:prstGeom>
          <a:solidFill>
            <a:srgbClr val="FF9900"/>
          </a:solidFill>
          <a:ln w="9525">
            <a:solidFill>
              <a:srgbClr val="000066"/>
            </a:solidFill>
            <a:miter lim="800000"/>
            <a:headEnd/>
            <a:tailEnd/>
          </a:ln>
        </p:spPr>
        <p:txBody>
          <a:bodyPr wrap="none" anchor="ctr"/>
          <a:lstStyle/>
          <a:p>
            <a:endParaRPr lang="zh-CN" altLang="en-US"/>
          </a:p>
        </p:txBody>
      </p:sp>
      <p:sp>
        <p:nvSpPr>
          <p:cNvPr id="9" name="Text Box 7"/>
          <p:cNvSpPr txBox="1">
            <a:spLocks noChangeArrowheads="1"/>
          </p:cNvSpPr>
          <p:nvPr/>
        </p:nvSpPr>
        <p:spPr bwMode="auto">
          <a:xfrm>
            <a:off x="1" y="0"/>
            <a:ext cx="368776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§1.5  </a:t>
            </a:r>
            <a:r>
              <a:rPr lang="zh-CN" altLang="en-US" sz="2000" b="1" kern="900" spc="-140" dirty="0" smtClean="0">
                <a:solidFill>
                  <a:srgbClr val="C00000"/>
                </a:solidFill>
                <a:latin typeface="宋体" pitchFamily="2" charset="-122"/>
              </a:rPr>
              <a:t>土的工程分类 </a:t>
            </a:r>
            <a:r>
              <a:rPr lang="en-US" altLang="zh-CN" sz="2000" b="1" kern="900" spc="-140" dirty="0" smtClean="0">
                <a:solidFill>
                  <a:srgbClr val="C00000"/>
                </a:solidFill>
                <a:latin typeface="宋体" pitchFamily="2" charset="-122"/>
              </a:rPr>
              <a:t>– </a:t>
            </a:r>
            <a:r>
              <a:rPr lang="zh-CN" altLang="en-US" sz="2000" b="1" kern="900" spc="-140" dirty="0" smtClean="0">
                <a:solidFill>
                  <a:srgbClr val="C00000"/>
                </a:solidFill>
                <a:latin typeface="宋体" pitchFamily="2" charset="-122"/>
              </a:rPr>
              <a:t>总结</a:t>
            </a:r>
            <a:endParaRPr lang="zh-CN" altLang="en-US" sz="2000" b="1" kern="900" spc="-140" dirty="0">
              <a:solidFill>
                <a:srgbClr val="C00000"/>
              </a:solidFill>
              <a:latin typeface="宋体" pitchFamily="2" charset="-122"/>
            </a:endParaRPr>
          </a:p>
        </p:txBody>
      </p:sp>
      <p:sp>
        <p:nvSpPr>
          <p:cNvPr id="11" name="Rectangle 2"/>
          <p:cNvSpPr txBox="1">
            <a:spLocks noChangeArrowheads="1"/>
          </p:cNvSpPr>
          <p:nvPr/>
        </p:nvSpPr>
        <p:spPr>
          <a:xfrm>
            <a:off x="479835" y="698580"/>
            <a:ext cx="4613160" cy="747454"/>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00000"/>
              </a:lnSpc>
              <a:spcBef>
                <a:spcPts val="0"/>
              </a:spcBef>
              <a:spcAft>
                <a:spcPts val="0"/>
              </a:spcAft>
            </a:pPr>
            <a:r>
              <a:rPr lang="en-US" altLang="zh-CN"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§1.5  </a:t>
            </a:r>
            <a:r>
              <a:rPr lang="zh-CN" altLang="en-US"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土的工程分类</a:t>
            </a:r>
            <a:endParaRPr lang="zh-CN" altLang="en-US" sz="36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 name="Text Box 9"/>
          <p:cNvSpPr txBox="1">
            <a:spLocks noChangeArrowheads="1"/>
          </p:cNvSpPr>
          <p:nvPr/>
        </p:nvSpPr>
        <p:spPr bwMode="auto">
          <a:xfrm>
            <a:off x="930432" y="1546926"/>
            <a:ext cx="7533085" cy="194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62547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lvl="1" indent="-342900" eaLnBrk="1" hangingPunct="1">
              <a:lnSpc>
                <a:spcPct val="120000"/>
              </a:lnSpc>
              <a:spcBef>
                <a:spcPts val="300"/>
              </a:spcBef>
              <a:spcAft>
                <a:spcPts val="300"/>
              </a:spcAft>
              <a:buClr>
                <a:srgbClr val="A50021"/>
              </a:buClr>
              <a:buSzPct val="130000"/>
              <a:buFont typeface="Wingdings" panose="05000000000000000000" pitchFamily="2" charset="2"/>
              <a:buChar char="F"/>
              <a:tabLst>
                <a:tab pos="1339850" algn="l"/>
              </a:tabLst>
            </a:pPr>
            <a:r>
              <a:rPr kumimoji="1" lang="zh-CN" altLang="en-US" sz="2400" b="1" dirty="0" smtClean="0">
                <a:solidFill>
                  <a:srgbClr val="000066"/>
                </a:solidFill>
                <a:latin typeface="幼圆" pitchFamily="49" charset="-122"/>
                <a:ea typeface="幼圆" pitchFamily="49" charset="-122"/>
              </a:rPr>
              <a:t>目的：</a:t>
            </a:r>
            <a:r>
              <a:rPr kumimoji="1" lang="en-US" altLang="zh-CN" sz="2400" b="1" dirty="0" smtClean="0">
                <a:solidFill>
                  <a:srgbClr val="000066"/>
                </a:solidFill>
                <a:latin typeface="幼圆" pitchFamily="49" charset="-122"/>
                <a:ea typeface="幼圆" pitchFamily="49" charset="-122"/>
              </a:rPr>
              <a:t>	</a:t>
            </a:r>
            <a:r>
              <a:rPr kumimoji="1" lang="zh-CN" altLang="en-US" sz="2400" b="1" dirty="0" smtClean="0">
                <a:solidFill>
                  <a:srgbClr val="000066"/>
                </a:solidFill>
                <a:latin typeface="幼圆" pitchFamily="49" charset="-122"/>
                <a:ea typeface="幼圆" pitchFamily="49" charset="-122"/>
              </a:rPr>
              <a:t>便于</a:t>
            </a:r>
            <a:r>
              <a:rPr kumimoji="1" lang="zh-CN" altLang="en-US" sz="2400" b="1" dirty="0">
                <a:solidFill>
                  <a:srgbClr val="000066"/>
                </a:solidFill>
                <a:latin typeface="幼圆" pitchFamily="49" charset="-122"/>
                <a:ea typeface="幼圆" pitchFamily="49" charset="-122"/>
              </a:rPr>
              <a:t>调查</a:t>
            </a:r>
            <a:r>
              <a:rPr kumimoji="1" lang="zh-CN" altLang="en-US" sz="2400" b="1" dirty="0" smtClean="0">
                <a:solidFill>
                  <a:srgbClr val="000066"/>
                </a:solidFill>
                <a:latin typeface="幼圆" pitchFamily="49" charset="-122"/>
                <a:ea typeface="幼圆" pitchFamily="49" charset="-122"/>
              </a:rPr>
              <a:t>分析</a:t>
            </a:r>
            <a:r>
              <a:rPr kumimoji="1" lang="en-US" altLang="zh-CN" sz="2400" b="1" dirty="0" smtClean="0">
                <a:solidFill>
                  <a:srgbClr val="000066"/>
                </a:solidFill>
                <a:latin typeface="幼圆" pitchFamily="49" charset="-122"/>
                <a:ea typeface="幼圆" pitchFamily="49" charset="-122"/>
              </a:rPr>
              <a:t/>
            </a:r>
            <a:br>
              <a:rPr kumimoji="1" lang="en-US" altLang="zh-CN" sz="2400" b="1" dirty="0" smtClean="0">
                <a:solidFill>
                  <a:srgbClr val="000066"/>
                </a:solidFill>
                <a:latin typeface="幼圆" pitchFamily="49" charset="-122"/>
                <a:ea typeface="幼圆" pitchFamily="49" charset="-122"/>
              </a:rPr>
            </a:br>
            <a:r>
              <a:rPr kumimoji="1" lang="en-US" altLang="zh-CN" sz="2400" b="1" dirty="0" smtClean="0">
                <a:solidFill>
                  <a:srgbClr val="000066"/>
                </a:solidFill>
                <a:latin typeface="幼圆" pitchFamily="49" charset="-122"/>
                <a:ea typeface="幼圆" pitchFamily="49" charset="-122"/>
              </a:rPr>
              <a:t>	</a:t>
            </a:r>
            <a:r>
              <a:rPr kumimoji="1" lang="zh-CN" altLang="en-US" sz="2400" b="1" dirty="0" smtClean="0">
                <a:solidFill>
                  <a:srgbClr val="000066"/>
                </a:solidFill>
                <a:latin typeface="幼圆" pitchFamily="49" charset="-122"/>
                <a:ea typeface="幼圆" pitchFamily="49" charset="-122"/>
              </a:rPr>
              <a:t>便于</a:t>
            </a:r>
            <a:r>
              <a:rPr kumimoji="1" lang="zh-CN" altLang="en-US" sz="2400" b="1" dirty="0">
                <a:solidFill>
                  <a:srgbClr val="000066"/>
                </a:solidFill>
                <a:latin typeface="幼圆" pitchFamily="49" charset="-122"/>
                <a:ea typeface="幼圆" pitchFamily="49" charset="-122"/>
              </a:rPr>
              <a:t>研究</a:t>
            </a:r>
            <a:r>
              <a:rPr kumimoji="1" lang="zh-CN" altLang="en-US" sz="2400" b="1" dirty="0" smtClean="0">
                <a:solidFill>
                  <a:srgbClr val="000066"/>
                </a:solidFill>
                <a:latin typeface="幼圆" pitchFamily="49" charset="-122"/>
                <a:ea typeface="幼圆" pitchFamily="49" charset="-122"/>
              </a:rPr>
              <a:t>评价</a:t>
            </a:r>
            <a:r>
              <a:rPr kumimoji="1" lang="en-US" altLang="zh-CN" sz="2400" b="1" dirty="0" smtClean="0">
                <a:solidFill>
                  <a:srgbClr val="000066"/>
                </a:solidFill>
                <a:latin typeface="幼圆" pitchFamily="49" charset="-122"/>
                <a:ea typeface="幼圆" pitchFamily="49" charset="-122"/>
              </a:rPr>
              <a:t/>
            </a:r>
            <a:br>
              <a:rPr kumimoji="1" lang="en-US" altLang="zh-CN" sz="2400" b="1" dirty="0" smtClean="0">
                <a:solidFill>
                  <a:srgbClr val="000066"/>
                </a:solidFill>
                <a:latin typeface="幼圆" pitchFamily="49" charset="-122"/>
                <a:ea typeface="幼圆" pitchFamily="49" charset="-122"/>
              </a:rPr>
            </a:br>
            <a:r>
              <a:rPr kumimoji="1" lang="en-US" altLang="zh-CN" sz="2400" b="1" dirty="0" smtClean="0">
                <a:solidFill>
                  <a:srgbClr val="000066"/>
                </a:solidFill>
                <a:latin typeface="幼圆" pitchFamily="49" charset="-122"/>
                <a:ea typeface="幼圆" pitchFamily="49" charset="-122"/>
              </a:rPr>
              <a:t>	</a:t>
            </a:r>
            <a:r>
              <a:rPr kumimoji="1" lang="zh-CN" altLang="en-US" sz="2400" b="1" dirty="0" smtClean="0">
                <a:solidFill>
                  <a:srgbClr val="000066"/>
                </a:solidFill>
                <a:latin typeface="幼圆" pitchFamily="49" charset="-122"/>
                <a:ea typeface="幼圆" pitchFamily="49" charset="-122"/>
              </a:rPr>
              <a:t>便于交流（基于</a:t>
            </a:r>
            <a:r>
              <a:rPr kumimoji="1" lang="zh-CN" altLang="en-US" sz="2400" b="1" dirty="0">
                <a:solidFill>
                  <a:srgbClr val="000066"/>
                </a:solidFill>
                <a:latin typeface="幼圆" pitchFamily="49" charset="-122"/>
                <a:ea typeface="幼圆" pitchFamily="49" charset="-122"/>
              </a:rPr>
              <a:t>共同的</a:t>
            </a:r>
            <a:r>
              <a:rPr kumimoji="1" lang="zh-CN" altLang="en-US" sz="2400" b="1" dirty="0" smtClean="0">
                <a:solidFill>
                  <a:srgbClr val="000066"/>
                </a:solidFill>
                <a:latin typeface="幼圆" pitchFamily="49" charset="-122"/>
                <a:ea typeface="幼圆" pitchFamily="49" charset="-122"/>
              </a:rPr>
              <a:t>概念）</a:t>
            </a:r>
            <a:endParaRPr kumimoji="1" lang="en-US" altLang="zh-CN" sz="2400" b="1" dirty="0" smtClean="0">
              <a:solidFill>
                <a:srgbClr val="000066"/>
              </a:solidFill>
              <a:latin typeface="幼圆" pitchFamily="49" charset="-122"/>
              <a:ea typeface="幼圆" pitchFamily="49" charset="-122"/>
            </a:endParaRPr>
          </a:p>
          <a:p>
            <a:pPr marL="342900" lvl="1" indent="-342900" eaLnBrk="1" hangingPunct="1">
              <a:lnSpc>
                <a:spcPct val="120000"/>
              </a:lnSpc>
              <a:spcBef>
                <a:spcPts val="300"/>
              </a:spcBef>
              <a:spcAft>
                <a:spcPts val="300"/>
              </a:spcAft>
              <a:buClr>
                <a:srgbClr val="A50021"/>
              </a:buClr>
              <a:buSzPct val="130000"/>
              <a:buFont typeface="Wingdings" panose="05000000000000000000" pitchFamily="2" charset="2"/>
              <a:buChar char="F"/>
            </a:pPr>
            <a:r>
              <a:rPr kumimoji="1" lang="zh-CN" altLang="en-US" sz="2400" b="1" dirty="0" smtClean="0">
                <a:solidFill>
                  <a:srgbClr val="000066"/>
                </a:solidFill>
                <a:latin typeface="幼圆" pitchFamily="49" charset="-122"/>
                <a:ea typeface="幼圆" pitchFamily="49" charset="-122"/>
              </a:rPr>
              <a:t>依据</a:t>
            </a:r>
            <a:r>
              <a:rPr kumimoji="1" lang="zh-CN" altLang="en-US" sz="2400" b="1" dirty="0">
                <a:solidFill>
                  <a:srgbClr val="000066"/>
                </a:solidFill>
                <a:latin typeface="幼圆" pitchFamily="49" charset="-122"/>
                <a:ea typeface="幼圆" pitchFamily="49" charset="-122"/>
              </a:rPr>
              <a:t>：最能反映土的物理力学性质的</a:t>
            </a:r>
            <a:r>
              <a:rPr kumimoji="1" lang="zh-CN" altLang="en-US" sz="2400" b="1" dirty="0" smtClean="0">
                <a:solidFill>
                  <a:srgbClr val="000066"/>
                </a:solidFill>
                <a:latin typeface="幼圆" pitchFamily="49" charset="-122"/>
                <a:ea typeface="幼圆" pitchFamily="49" charset="-122"/>
              </a:rPr>
              <a:t>指标</a:t>
            </a:r>
            <a:endParaRPr kumimoji="1" lang="en-US" altLang="zh-CN" sz="2400" b="1" dirty="0" smtClean="0">
              <a:solidFill>
                <a:srgbClr val="000066"/>
              </a:solidFill>
              <a:latin typeface="幼圆" pitchFamily="49" charset="-122"/>
              <a:ea typeface="幼圆" pitchFamily="49" charset="-122"/>
            </a:endParaRPr>
          </a:p>
        </p:txBody>
      </p:sp>
      <p:sp>
        <p:nvSpPr>
          <p:cNvPr id="13" name="矩形 12"/>
          <p:cNvSpPr/>
          <p:nvPr/>
        </p:nvSpPr>
        <p:spPr>
          <a:xfrm>
            <a:off x="2265769" y="3518181"/>
            <a:ext cx="6442296" cy="941796"/>
          </a:xfrm>
          <a:prstGeom prst="rect">
            <a:avLst/>
          </a:prstGeom>
          <a:noFill/>
        </p:spPr>
        <p:txBody>
          <a:bodyPr wrap="square">
            <a:spAutoFit/>
          </a:bodyPr>
          <a:lstStyle/>
          <a:p>
            <a:pPr marL="342900" indent="-342900">
              <a:buClr>
                <a:srgbClr val="C00000"/>
              </a:buClr>
              <a:buSzPct val="130000"/>
              <a:buFont typeface="Arial" panose="020B0604020202020204" pitchFamily="34" charset="0"/>
              <a:buChar char="•"/>
            </a:pPr>
            <a:r>
              <a:rPr lang="zh-CN" altLang="en-US" sz="2400" b="1" dirty="0" smtClean="0">
                <a:solidFill>
                  <a:srgbClr val="000066"/>
                </a:solidFill>
                <a:ea typeface="幼圆" panose="02010509060101010101" pitchFamily="49" charset="-122"/>
                <a:cs typeface="Times New Roman" panose="02020603050405020304" pitchFamily="18" charset="0"/>
              </a:rPr>
              <a:t>粗粒土：粒径级配</a:t>
            </a:r>
            <a:endParaRPr lang="en-US" altLang="zh-CN" sz="2400" b="1" dirty="0" smtClean="0">
              <a:solidFill>
                <a:srgbClr val="000066"/>
              </a:solidFill>
              <a:ea typeface="幼圆" panose="02010509060101010101" pitchFamily="49" charset="-122"/>
              <a:cs typeface="Times New Roman" panose="02020603050405020304" pitchFamily="18" charset="0"/>
            </a:endParaRPr>
          </a:p>
          <a:p>
            <a:pPr marL="342900" indent="-342900">
              <a:lnSpc>
                <a:spcPct val="100000"/>
              </a:lnSpc>
              <a:spcBef>
                <a:spcPts val="0"/>
              </a:spcBef>
              <a:spcAft>
                <a:spcPts val="0"/>
              </a:spcAft>
              <a:buClr>
                <a:srgbClr val="C00000"/>
              </a:buClr>
              <a:buSzPct val="130000"/>
              <a:buFont typeface="Arial" panose="020B0604020202020204" pitchFamily="34" charset="0"/>
              <a:buChar char="•"/>
            </a:pPr>
            <a:r>
              <a:rPr lang="zh-CN" altLang="en-US" sz="2400" b="1" dirty="0" smtClean="0">
                <a:solidFill>
                  <a:srgbClr val="000066"/>
                </a:solidFill>
                <a:ea typeface="幼圆" panose="02010509060101010101" pitchFamily="49" charset="-122"/>
                <a:cs typeface="Times New Roman" panose="02020603050405020304" pitchFamily="18" charset="0"/>
              </a:rPr>
              <a:t>细颗粒土：</a:t>
            </a:r>
            <a:r>
              <a:rPr lang="en-US" altLang="zh-CN" sz="2400" b="1" dirty="0" err="1" smtClean="0">
                <a:solidFill>
                  <a:srgbClr val="000066"/>
                </a:solidFill>
                <a:ea typeface="幼圆" panose="02010509060101010101" pitchFamily="49" charset="-122"/>
                <a:cs typeface="Times New Roman" panose="02020603050405020304" pitchFamily="18" charset="0"/>
              </a:rPr>
              <a:t>吸附结合水能力</a:t>
            </a:r>
            <a:r>
              <a:rPr lang="zh-CN" altLang="en-US" sz="2400" b="1" dirty="0" smtClean="0">
                <a:solidFill>
                  <a:srgbClr val="000066"/>
                </a:solidFill>
                <a:ea typeface="幼圆" panose="02010509060101010101" pitchFamily="49" charset="-122"/>
                <a:cs typeface="Times New Roman" panose="02020603050405020304" pitchFamily="18" charset="0"/>
              </a:rPr>
              <a:t>：</a:t>
            </a:r>
            <a:r>
              <a:rPr lang="en-US" altLang="zh-CN" sz="2400" b="1" i="1" dirty="0" err="1" smtClean="0">
                <a:solidFill>
                  <a:srgbClr val="000066"/>
                </a:solidFill>
                <a:ea typeface="幼圆" panose="02010509060101010101" pitchFamily="49" charset="-122"/>
                <a:cs typeface="Times New Roman" panose="02020603050405020304" pitchFamily="18" charset="0"/>
              </a:rPr>
              <a:t>w</a:t>
            </a:r>
            <a:r>
              <a:rPr lang="en-US" altLang="zh-CN" sz="2400" b="1" baseline="-25000" dirty="0" err="1" smtClean="0">
                <a:solidFill>
                  <a:srgbClr val="000066"/>
                </a:solidFill>
                <a:ea typeface="幼圆" panose="02010509060101010101" pitchFamily="49" charset="-122"/>
                <a:cs typeface="Times New Roman" panose="02020603050405020304" pitchFamily="18" charset="0"/>
              </a:rPr>
              <a:t>L</a:t>
            </a:r>
            <a:r>
              <a:rPr lang="en-US" altLang="zh-CN" sz="2400" b="1" dirty="0" err="1" smtClean="0">
                <a:solidFill>
                  <a:srgbClr val="000066"/>
                </a:solidFill>
                <a:ea typeface="幼圆" panose="02010509060101010101" pitchFamily="49" charset="-122"/>
                <a:cs typeface="Times New Roman" panose="02020603050405020304" pitchFamily="18" charset="0"/>
              </a:rPr>
              <a:t>，</a:t>
            </a:r>
            <a:r>
              <a:rPr lang="en-US" altLang="zh-CN" sz="2400" b="1" i="1" dirty="0" err="1" smtClean="0">
                <a:solidFill>
                  <a:srgbClr val="000066"/>
                </a:solidFill>
                <a:ea typeface="幼圆" panose="02010509060101010101" pitchFamily="49" charset="-122"/>
                <a:cs typeface="Times New Roman" panose="02020603050405020304" pitchFamily="18" charset="0"/>
              </a:rPr>
              <a:t>w</a:t>
            </a:r>
            <a:r>
              <a:rPr lang="en-US" altLang="zh-CN" sz="2400" b="1" baseline="-25000" dirty="0" err="1" smtClean="0">
                <a:solidFill>
                  <a:srgbClr val="000066"/>
                </a:solidFill>
                <a:ea typeface="幼圆" panose="02010509060101010101" pitchFamily="49" charset="-122"/>
                <a:cs typeface="Times New Roman" panose="02020603050405020304" pitchFamily="18" charset="0"/>
              </a:rPr>
              <a:t>p</a:t>
            </a:r>
            <a:r>
              <a:rPr lang="zh-CN" altLang="en-US" sz="2400" b="1" dirty="0">
                <a:solidFill>
                  <a:srgbClr val="000066"/>
                </a:solidFill>
                <a:ea typeface="幼圆" panose="02010509060101010101" pitchFamily="49" charset="-122"/>
                <a:cs typeface="Times New Roman" panose="02020603050405020304" pitchFamily="18" charset="0"/>
              </a:rPr>
              <a:t>，</a:t>
            </a:r>
            <a:r>
              <a:rPr lang="en-US" altLang="zh-CN" sz="2400" b="1" i="1" dirty="0" err="1" smtClean="0">
                <a:solidFill>
                  <a:srgbClr val="000066"/>
                </a:solidFill>
                <a:ea typeface="幼圆" panose="02010509060101010101" pitchFamily="49" charset="-122"/>
                <a:cs typeface="Times New Roman" panose="02020603050405020304" pitchFamily="18" charset="0"/>
              </a:rPr>
              <a:t>I</a:t>
            </a:r>
            <a:r>
              <a:rPr lang="en-US" altLang="zh-CN" sz="2400" b="1" baseline="-25000" dirty="0" err="1" smtClean="0">
                <a:solidFill>
                  <a:srgbClr val="000066"/>
                </a:solidFill>
                <a:ea typeface="幼圆" panose="02010509060101010101" pitchFamily="49" charset="-122"/>
                <a:cs typeface="Times New Roman" panose="02020603050405020304" pitchFamily="18" charset="0"/>
              </a:rPr>
              <a:t>p</a:t>
            </a:r>
            <a:endParaRPr lang="en-US" altLang="zh-CN" sz="2400" b="1" baseline="-25000" dirty="0">
              <a:solidFill>
                <a:srgbClr val="000066"/>
              </a:solidFill>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2550974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0-#ppt_w/2"/>
                                          </p:val>
                                        </p:tav>
                                        <p:tav tm="100000">
                                          <p:val>
                                            <p:strVal val="#ppt_x"/>
                                          </p:val>
                                        </p:tav>
                                      </p:tavLst>
                                    </p:anim>
                                    <p:anim calcmode="lin" valueType="num">
                                      <p:cBhvr additive="base">
                                        <p:cTn id="8" dur="100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31"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1000" fill="hold"/>
                                        <p:tgtEl>
                                          <p:spTgt spid="13"/>
                                        </p:tgtEl>
                                        <p:attrNameLst>
                                          <p:attrName>ppt_w</p:attrName>
                                        </p:attrNameLst>
                                      </p:cBhvr>
                                      <p:tavLst>
                                        <p:tav tm="0">
                                          <p:val>
                                            <p:fltVal val="0"/>
                                          </p:val>
                                        </p:tav>
                                        <p:tav tm="100000">
                                          <p:val>
                                            <p:strVal val="#ppt_w"/>
                                          </p:val>
                                        </p:tav>
                                      </p:tavLst>
                                    </p:anim>
                                    <p:anim calcmode="lin" valueType="num">
                                      <p:cBhvr>
                                        <p:cTn id="13" dur="1000" fill="hold"/>
                                        <p:tgtEl>
                                          <p:spTgt spid="13"/>
                                        </p:tgtEl>
                                        <p:attrNameLst>
                                          <p:attrName>ppt_h</p:attrName>
                                        </p:attrNameLst>
                                      </p:cBhvr>
                                      <p:tavLst>
                                        <p:tav tm="0">
                                          <p:val>
                                            <p:fltVal val="0"/>
                                          </p:val>
                                        </p:tav>
                                        <p:tav tm="100000">
                                          <p:val>
                                            <p:strVal val="#ppt_h"/>
                                          </p:val>
                                        </p:tav>
                                      </p:tavLst>
                                    </p:anim>
                                    <p:anim calcmode="lin" valueType="num">
                                      <p:cBhvr>
                                        <p:cTn id="14" dur="1000" fill="hold"/>
                                        <p:tgtEl>
                                          <p:spTgt spid="13"/>
                                        </p:tgtEl>
                                        <p:attrNameLst>
                                          <p:attrName>style.rotation</p:attrName>
                                        </p:attrNameLst>
                                      </p:cBhvr>
                                      <p:tavLst>
                                        <p:tav tm="0">
                                          <p:val>
                                            <p:fltVal val="90"/>
                                          </p:val>
                                        </p:tav>
                                        <p:tav tm="100000">
                                          <p:val>
                                            <p:fltVal val="0"/>
                                          </p:val>
                                        </p:tav>
                                      </p:tavLst>
                                    </p:anim>
                                    <p:animEffect transition="in" filter="fade">
                                      <p:cBhvr>
                                        <p:cTn id="15" dur="10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1000"/>
                                        <p:tgtEl>
                                          <p:spTgt spid="8"/>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12" grpId="0"/>
      <p:bldP spid="1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171822" y="1694812"/>
            <a:ext cx="3833812"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42925" indent="-542925" eaLnBrk="1" hangingPunct="1">
              <a:lnSpc>
                <a:spcPct val="125000"/>
              </a:lnSpc>
              <a:spcBef>
                <a:spcPct val="0"/>
              </a:spcBef>
              <a:spcAft>
                <a:spcPct val="0"/>
              </a:spcAft>
              <a:buClr>
                <a:srgbClr val="A50021"/>
              </a:buClr>
              <a:buSzPct val="135000"/>
              <a:buFont typeface="Wingdings" pitchFamily="2" charset="2"/>
              <a:buChar char="F"/>
            </a:pPr>
            <a:r>
              <a:rPr kumimoji="1" lang="zh-CN" altLang="en-US" sz="2800" b="1" dirty="0" smtClean="0">
                <a:solidFill>
                  <a:srgbClr val="000066"/>
                </a:solidFill>
                <a:latin typeface="华文新魏" pitchFamily="2" charset="-122"/>
                <a:ea typeface="幼圆" pitchFamily="49" charset="-122"/>
              </a:rPr>
              <a:t>室内击实试验</a:t>
            </a:r>
            <a:endParaRPr kumimoji="1" lang="zh-CN" altLang="en-US" sz="2800" b="1" dirty="0">
              <a:solidFill>
                <a:srgbClr val="000066"/>
              </a:solidFill>
              <a:latin typeface="华文新魏" pitchFamily="2" charset="-122"/>
              <a:ea typeface="幼圆" pitchFamily="49" charset="-122"/>
            </a:endParaRPr>
          </a:p>
          <a:p>
            <a:pPr marL="542925" indent="-542925" eaLnBrk="1" hangingPunct="1">
              <a:lnSpc>
                <a:spcPct val="125000"/>
              </a:lnSpc>
              <a:spcBef>
                <a:spcPct val="0"/>
              </a:spcBef>
              <a:spcAft>
                <a:spcPct val="0"/>
              </a:spcAft>
              <a:buClr>
                <a:srgbClr val="A50021"/>
              </a:buClr>
              <a:buSzPct val="135000"/>
              <a:buFont typeface="Wingdings" pitchFamily="2" charset="2"/>
              <a:buChar char="F"/>
            </a:pPr>
            <a:endParaRPr kumimoji="1" lang="zh-CN" altLang="en-US" sz="2800" b="1" dirty="0">
              <a:solidFill>
                <a:srgbClr val="A50021"/>
              </a:solidFill>
              <a:latin typeface="华文新魏" pitchFamily="2" charset="-122"/>
              <a:ea typeface="幼圆" pitchFamily="49" charset="-122"/>
            </a:endParaRPr>
          </a:p>
          <a:p>
            <a:pPr marL="542925" indent="-542925" eaLnBrk="1" hangingPunct="1">
              <a:lnSpc>
                <a:spcPct val="125000"/>
              </a:lnSpc>
              <a:spcBef>
                <a:spcPct val="0"/>
              </a:spcBef>
              <a:spcAft>
                <a:spcPct val="0"/>
              </a:spcAft>
              <a:buClr>
                <a:srgbClr val="A50021"/>
              </a:buClr>
              <a:buSzPct val="135000"/>
              <a:buFont typeface="Wingdings" pitchFamily="2" charset="2"/>
              <a:buChar char="F"/>
            </a:pPr>
            <a:r>
              <a:rPr kumimoji="1" lang="zh-CN" altLang="en-US" sz="2800" b="1" dirty="0" smtClean="0">
                <a:solidFill>
                  <a:srgbClr val="000066"/>
                </a:solidFill>
                <a:ea typeface="幼圆" pitchFamily="49" charset="-122"/>
              </a:rPr>
              <a:t>细粒土的压实</a:t>
            </a:r>
            <a:r>
              <a:rPr kumimoji="1" lang="zh-CN" altLang="en-US" sz="2800" b="1" dirty="0">
                <a:solidFill>
                  <a:srgbClr val="000066"/>
                </a:solidFill>
                <a:ea typeface="幼圆" pitchFamily="49" charset="-122"/>
              </a:rPr>
              <a:t>性</a:t>
            </a:r>
          </a:p>
          <a:p>
            <a:pPr marL="542925" indent="-542925" eaLnBrk="1" hangingPunct="1">
              <a:lnSpc>
                <a:spcPct val="125000"/>
              </a:lnSpc>
              <a:spcBef>
                <a:spcPct val="0"/>
              </a:spcBef>
              <a:spcAft>
                <a:spcPct val="0"/>
              </a:spcAft>
              <a:buClr>
                <a:srgbClr val="A50021"/>
              </a:buClr>
              <a:buSzPct val="135000"/>
              <a:buFont typeface="Wingdings" pitchFamily="2" charset="2"/>
              <a:buChar char="F"/>
            </a:pPr>
            <a:endParaRPr kumimoji="1" lang="zh-CN" altLang="en-US" sz="2800" b="1" dirty="0">
              <a:solidFill>
                <a:srgbClr val="A50021"/>
              </a:solidFill>
              <a:ea typeface="幼圆" pitchFamily="49" charset="-122"/>
            </a:endParaRPr>
          </a:p>
          <a:p>
            <a:pPr marL="542925" indent="-542925" eaLnBrk="1" hangingPunct="1">
              <a:lnSpc>
                <a:spcPct val="125000"/>
              </a:lnSpc>
              <a:spcBef>
                <a:spcPct val="0"/>
              </a:spcBef>
              <a:spcAft>
                <a:spcPct val="0"/>
              </a:spcAft>
              <a:buClr>
                <a:srgbClr val="A50021"/>
              </a:buClr>
              <a:buSzPct val="135000"/>
              <a:buFont typeface="Wingdings" pitchFamily="2" charset="2"/>
              <a:buChar char="F"/>
            </a:pPr>
            <a:endParaRPr kumimoji="1" lang="en-US" altLang="zh-CN" sz="2800" b="1" dirty="0" smtClean="0">
              <a:solidFill>
                <a:srgbClr val="A50021"/>
              </a:solidFill>
              <a:ea typeface="幼圆" pitchFamily="49" charset="-122"/>
            </a:endParaRPr>
          </a:p>
          <a:p>
            <a:pPr marL="542925" indent="-542925" eaLnBrk="1" hangingPunct="1">
              <a:lnSpc>
                <a:spcPct val="125000"/>
              </a:lnSpc>
              <a:spcBef>
                <a:spcPct val="0"/>
              </a:spcBef>
              <a:spcAft>
                <a:spcPct val="0"/>
              </a:spcAft>
              <a:buClr>
                <a:srgbClr val="A50021"/>
              </a:buClr>
              <a:buSzPct val="135000"/>
              <a:buFont typeface="Wingdings" pitchFamily="2" charset="2"/>
              <a:buChar char="F"/>
            </a:pPr>
            <a:r>
              <a:rPr kumimoji="1" lang="zh-CN" altLang="en-US" sz="2800" b="1" dirty="0" smtClean="0">
                <a:solidFill>
                  <a:srgbClr val="000066"/>
                </a:solidFill>
                <a:ea typeface="幼圆" pitchFamily="49" charset="-122"/>
              </a:rPr>
              <a:t>粗粒土的压实</a:t>
            </a:r>
            <a:r>
              <a:rPr kumimoji="1" lang="zh-CN" altLang="en-US" sz="2800" b="1" dirty="0">
                <a:solidFill>
                  <a:srgbClr val="000066"/>
                </a:solidFill>
                <a:ea typeface="幼圆" pitchFamily="49" charset="-122"/>
              </a:rPr>
              <a:t>性</a:t>
            </a:r>
          </a:p>
        </p:txBody>
      </p:sp>
      <p:sp>
        <p:nvSpPr>
          <p:cNvPr id="3" name="Text Box 5"/>
          <p:cNvSpPr txBox="1">
            <a:spLocks noChangeArrowheads="1"/>
          </p:cNvSpPr>
          <p:nvPr/>
        </p:nvSpPr>
        <p:spPr bwMode="auto">
          <a:xfrm>
            <a:off x="5217563" y="2177477"/>
            <a:ext cx="3277836"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击实</a:t>
            </a:r>
            <a:r>
              <a:rPr kumimoji="1" lang="zh-CN" altLang="en-US" sz="2400" b="1" dirty="0" smtClean="0">
                <a:solidFill>
                  <a:srgbClr val="000066"/>
                </a:solidFill>
                <a:ea typeface="幼圆" pitchFamily="49" charset="-122"/>
                <a:cs typeface="Times New Roman" panose="02020603050405020304" pitchFamily="18" charset="0"/>
              </a:rPr>
              <a:t>曲线特点</a:t>
            </a:r>
            <a:endParaRPr kumimoji="1" lang="zh-CN" altLang="en-US" sz="2400" b="1" dirty="0">
              <a:solidFill>
                <a:srgbClr val="000066"/>
              </a:solidFill>
              <a:ea typeface="幼圆" pitchFamily="49" charset="-122"/>
              <a:cs typeface="Times New Roman" panose="02020603050405020304" pitchFamily="18" charset="0"/>
            </a:endParaRPr>
          </a:p>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最优含水量</a:t>
            </a:r>
          </a:p>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最大干密度</a:t>
            </a:r>
            <a:endParaRPr kumimoji="1" lang="zh-CN" altLang="en-US" sz="2400" b="1" dirty="0">
              <a:solidFill>
                <a:srgbClr val="000066"/>
              </a:solidFill>
              <a:ea typeface="幼圆" pitchFamily="49" charset="-122"/>
              <a:cs typeface="Times New Roman" panose="02020603050405020304" pitchFamily="18" charset="0"/>
            </a:endParaRPr>
          </a:p>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ea typeface="幼圆" pitchFamily="49" charset="-122"/>
                <a:cs typeface="Times New Roman" panose="02020603050405020304" pitchFamily="18" charset="0"/>
              </a:rPr>
              <a:t> </a:t>
            </a:r>
            <a:r>
              <a:rPr kumimoji="1" lang="zh-CN" altLang="en-US" sz="2400" b="1" dirty="0" smtClean="0">
                <a:solidFill>
                  <a:srgbClr val="000066"/>
                </a:solidFill>
                <a:ea typeface="幼圆" pitchFamily="49" charset="-122"/>
                <a:cs typeface="Times New Roman" panose="02020603050405020304" pitchFamily="18" charset="0"/>
              </a:rPr>
              <a:t>压实标准：压实度</a:t>
            </a:r>
            <a:r>
              <a:rPr kumimoji="1" lang="en-US" altLang="zh-CN" sz="2400" b="1" i="1" dirty="0" smtClean="0">
                <a:solidFill>
                  <a:srgbClr val="000066"/>
                </a:solidFill>
                <a:ea typeface="幼圆" pitchFamily="49" charset="-122"/>
                <a:cs typeface="Times New Roman" panose="02020603050405020304" pitchFamily="18" charset="0"/>
              </a:rPr>
              <a:t>D</a:t>
            </a:r>
            <a:r>
              <a:rPr kumimoji="1" lang="en-US" altLang="zh-CN" sz="2400" b="1" baseline="-25000" dirty="0" smtClean="0">
                <a:solidFill>
                  <a:srgbClr val="000066"/>
                </a:solidFill>
                <a:ea typeface="幼圆" pitchFamily="49" charset="-122"/>
                <a:cs typeface="Times New Roman" panose="02020603050405020304" pitchFamily="18" charset="0"/>
              </a:rPr>
              <a:t>c</a:t>
            </a:r>
            <a:endParaRPr kumimoji="1" lang="en-US" altLang="zh-CN" sz="2400" b="1" baseline="-25000" dirty="0">
              <a:solidFill>
                <a:srgbClr val="000066"/>
              </a:solidFill>
              <a:ea typeface="幼圆" pitchFamily="49" charset="-122"/>
              <a:cs typeface="Times New Roman" panose="02020603050405020304" pitchFamily="18" charset="0"/>
            </a:endParaRPr>
          </a:p>
        </p:txBody>
      </p:sp>
      <p:sp>
        <p:nvSpPr>
          <p:cNvPr id="4" name="Text Box 6"/>
          <p:cNvSpPr txBox="1">
            <a:spLocks noChangeArrowheads="1"/>
          </p:cNvSpPr>
          <p:nvPr/>
        </p:nvSpPr>
        <p:spPr bwMode="auto">
          <a:xfrm>
            <a:off x="5245177" y="4249923"/>
            <a:ext cx="3760599"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latin typeface="幼圆" pitchFamily="49" charset="-122"/>
                <a:ea typeface="幼圆" pitchFamily="49" charset="-122"/>
              </a:rPr>
              <a:t> 击实曲线</a:t>
            </a:r>
          </a:p>
          <a:p>
            <a:pPr eaLnBrk="1" hangingPunct="1">
              <a:lnSpc>
                <a:spcPct val="120000"/>
              </a:lnSpc>
              <a:spcBef>
                <a:spcPct val="0"/>
              </a:spcBef>
              <a:spcAft>
                <a:spcPct val="0"/>
              </a:spcAft>
              <a:buClr>
                <a:srgbClr val="A50021"/>
              </a:buClr>
              <a:buSzPct val="120000"/>
              <a:buFontTx/>
              <a:buChar char="•"/>
            </a:pPr>
            <a:r>
              <a:rPr kumimoji="1" lang="zh-CN" altLang="en-US" sz="2400" b="1" dirty="0">
                <a:solidFill>
                  <a:srgbClr val="000066"/>
                </a:solidFill>
                <a:ea typeface="幼圆" pitchFamily="49" charset="-122"/>
              </a:rPr>
              <a:t>  压实标准：</a:t>
            </a:r>
            <a:r>
              <a:rPr kumimoji="1" lang="zh-CN" altLang="en-US" sz="2400" b="1" dirty="0" smtClean="0">
                <a:solidFill>
                  <a:srgbClr val="000066"/>
                </a:solidFill>
                <a:ea typeface="幼圆" pitchFamily="49" charset="-122"/>
              </a:rPr>
              <a:t>相对密度 </a:t>
            </a:r>
            <a:r>
              <a:rPr kumimoji="1" lang="en-US" altLang="zh-CN" sz="2400" b="1" i="1" dirty="0" err="1" smtClean="0">
                <a:solidFill>
                  <a:srgbClr val="000066"/>
                </a:solidFill>
                <a:ea typeface="幼圆" pitchFamily="49" charset="-122"/>
              </a:rPr>
              <a:t>D</a:t>
            </a:r>
            <a:r>
              <a:rPr kumimoji="1" lang="en-US" altLang="zh-CN" sz="2400" b="1" baseline="-25000" dirty="0" err="1" smtClean="0">
                <a:solidFill>
                  <a:srgbClr val="000066"/>
                </a:solidFill>
                <a:ea typeface="幼圆" pitchFamily="49" charset="-122"/>
              </a:rPr>
              <a:t>r</a:t>
            </a:r>
            <a:endParaRPr kumimoji="1" lang="zh-CN" altLang="en-US" sz="2400" b="1" baseline="-25000" dirty="0">
              <a:solidFill>
                <a:srgbClr val="000066"/>
              </a:solidFill>
              <a:ea typeface="幼圆" pitchFamily="49" charset="-122"/>
            </a:endParaRPr>
          </a:p>
        </p:txBody>
      </p:sp>
      <p:sp>
        <p:nvSpPr>
          <p:cNvPr id="5" name="AutoShape 7"/>
          <p:cNvSpPr>
            <a:spLocks noChangeArrowheads="1"/>
          </p:cNvSpPr>
          <p:nvPr/>
        </p:nvSpPr>
        <p:spPr bwMode="auto">
          <a:xfrm>
            <a:off x="4572195" y="2889734"/>
            <a:ext cx="541338" cy="427037"/>
          </a:xfrm>
          <a:prstGeom prst="homePlate">
            <a:avLst>
              <a:gd name="adj" fmla="val 31692"/>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6" name="AutoShape 8"/>
          <p:cNvSpPr>
            <a:spLocks noChangeArrowheads="1"/>
          </p:cNvSpPr>
          <p:nvPr/>
        </p:nvSpPr>
        <p:spPr bwMode="auto">
          <a:xfrm>
            <a:off x="4570608" y="4513448"/>
            <a:ext cx="541337" cy="427038"/>
          </a:xfrm>
          <a:prstGeom prst="homePlate">
            <a:avLst>
              <a:gd name="adj" fmla="val 31691"/>
            </a:avLst>
          </a:prstGeom>
          <a:solidFill>
            <a:schemeClr val="accent6">
              <a:lumMod val="60000"/>
              <a:lumOff val="40000"/>
            </a:schemeClr>
          </a:solidFill>
          <a:ln w="9525">
            <a:solidFill>
              <a:srgbClr val="000066"/>
            </a:solidFill>
            <a:miter lim="800000"/>
            <a:headEnd/>
            <a:tailEnd/>
          </a:ln>
        </p:spPr>
        <p:txBody>
          <a:bodyPr wrap="none" anchor="ctr"/>
          <a:lstStyle/>
          <a:p>
            <a:endParaRPr lang="zh-CN" altLang="en-US"/>
          </a:p>
        </p:txBody>
      </p:sp>
      <p:sp>
        <p:nvSpPr>
          <p:cNvPr id="7" name="Text Box 7"/>
          <p:cNvSpPr txBox="1">
            <a:spLocks noChangeArrowheads="1"/>
          </p:cNvSpPr>
          <p:nvPr/>
        </p:nvSpPr>
        <p:spPr bwMode="auto">
          <a:xfrm>
            <a:off x="1" y="0"/>
            <a:ext cx="351957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2000" b="1" kern="900" spc="-140" dirty="0" smtClean="0">
                <a:solidFill>
                  <a:srgbClr val="C00000"/>
                </a:solidFill>
                <a:latin typeface="宋体" pitchFamily="2" charset="-122"/>
              </a:rPr>
              <a:t>§1.6  </a:t>
            </a:r>
            <a:r>
              <a:rPr lang="zh-CN" altLang="en-US" sz="2000" b="1" kern="900" spc="-140" dirty="0" smtClean="0">
                <a:solidFill>
                  <a:srgbClr val="C00000"/>
                </a:solidFill>
                <a:latin typeface="宋体" pitchFamily="2" charset="-122"/>
              </a:rPr>
              <a:t>土的压实性 </a:t>
            </a:r>
            <a:r>
              <a:rPr lang="en-US" altLang="zh-CN" sz="2000" b="1" kern="900" spc="-140" dirty="0" smtClean="0">
                <a:solidFill>
                  <a:srgbClr val="C00000"/>
                </a:solidFill>
                <a:latin typeface="宋体" pitchFamily="2" charset="-122"/>
              </a:rPr>
              <a:t>–</a:t>
            </a:r>
            <a:r>
              <a:rPr lang="zh-CN" altLang="en-US" sz="2000" b="1" kern="900" spc="-140" dirty="0" smtClean="0">
                <a:solidFill>
                  <a:srgbClr val="C00000"/>
                </a:solidFill>
                <a:latin typeface="宋体" pitchFamily="2" charset="-122"/>
              </a:rPr>
              <a:t>总结</a:t>
            </a:r>
            <a:endParaRPr lang="zh-CN" altLang="en-US" sz="2000" b="1" kern="900" spc="-140" dirty="0">
              <a:solidFill>
                <a:srgbClr val="C00000"/>
              </a:solidFill>
              <a:latin typeface="宋体" pitchFamily="2" charset="-122"/>
            </a:endParaRPr>
          </a:p>
        </p:txBody>
      </p:sp>
      <p:sp>
        <p:nvSpPr>
          <p:cNvPr id="10" name="Rectangle 2"/>
          <p:cNvSpPr txBox="1">
            <a:spLocks noChangeArrowheads="1"/>
          </p:cNvSpPr>
          <p:nvPr/>
        </p:nvSpPr>
        <p:spPr>
          <a:xfrm>
            <a:off x="479835" y="698580"/>
            <a:ext cx="4613160" cy="747454"/>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00000"/>
              </a:lnSpc>
              <a:spcBef>
                <a:spcPts val="0"/>
              </a:spcBef>
              <a:spcAft>
                <a:spcPts val="0"/>
              </a:spcAft>
            </a:pPr>
            <a:r>
              <a:rPr lang="en-US" altLang="zh-CN"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§1.6  </a:t>
            </a:r>
            <a:r>
              <a:rPr lang="zh-CN" altLang="en-US" sz="36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土的压实</a:t>
            </a:r>
            <a:r>
              <a:rPr lang="zh-CN" altLang="en-US" sz="36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性</a:t>
            </a:r>
            <a:endParaRPr lang="zh-CN" altLang="en-US" sz="36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409377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1000"/>
                                        <p:tgtEl>
                                          <p:spTgt spid="2">
                                            <p:txEl>
                                              <p:pRg st="2" end="2"/>
                                            </p:txEl>
                                          </p:spTgt>
                                        </p:tgtEl>
                                      </p:cBhvr>
                                    </p:animEffect>
                                    <p:anim calcmode="lin" valueType="num">
                                      <p:cBhvr>
                                        <p:cTn id="1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grpId="0" nodeType="after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fade">
                                      <p:cBhvr>
                                        <p:cTn id="19" dur="1000"/>
                                        <p:tgtEl>
                                          <p:spTgt spid="2">
                                            <p:txEl>
                                              <p:pRg st="5" end="5"/>
                                            </p:txEl>
                                          </p:spTgt>
                                        </p:tgtEl>
                                      </p:cBhvr>
                                    </p:animEffect>
                                    <p:anim calcmode="lin" valueType="num">
                                      <p:cBhvr>
                                        <p:cTn id="2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1000"/>
                                        <p:tgtEl>
                                          <p:spTgt spid="5"/>
                                        </p:tgtEl>
                                      </p:cBhvr>
                                    </p:animEffect>
                                  </p:childTnLst>
                                </p:cTn>
                              </p:par>
                            </p:childTnLst>
                          </p:cTn>
                        </p:par>
                        <p:par>
                          <p:cTn id="27" fill="hold">
                            <p:stCondLst>
                              <p:cond delay="1000"/>
                            </p:stCondLst>
                            <p:childTnLst>
                              <p:par>
                                <p:cTn id="28" presetID="2" presetClass="entr" presetSubtype="2" fill="hold" grpId="0" nodeType="after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1000" fill="hold"/>
                                        <p:tgtEl>
                                          <p:spTgt spid="3"/>
                                        </p:tgtEl>
                                        <p:attrNameLst>
                                          <p:attrName>ppt_x</p:attrName>
                                        </p:attrNameLst>
                                      </p:cBhvr>
                                      <p:tavLst>
                                        <p:tav tm="0">
                                          <p:val>
                                            <p:strVal val="1+#ppt_w/2"/>
                                          </p:val>
                                        </p:tav>
                                        <p:tav tm="100000">
                                          <p:val>
                                            <p:strVal val="#ppt_x"/>
                                          </p:val>
                                        </p:tav>
                                      </p:tavLst>
                                    </p:anim>
                                    <p:anim calcmode="lin" valueType="num">
                                      <p:cBhvr additive="base">
                                        <p:cTn id="31"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1000"/>
                                        <p:tgtEl>
                                          <p:spTgt spid="6"/>
                                        </p:tgtEl>
                                      </p:cBhvr>
                                    </p:animEffect>
                                  </p:childTnLst>
                                </p:cTn>
                              </p:par>
                            </p:childTnLst>
                          </p:cTn>
                        </p:par>
                        <p:par>
                          <p:cTn id="37" fill="hold">
                            <p:stCondLst>
                              <p:cond delay="1000"/>
                            </p:stCondLst>
                            <p:childTnLst>
                              <p:par>
                                <p:cTn id="38" presetID="2" presetClass="entr" presetSubtype="2" fill="hold" grpId="0" nodeType="after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1000" fill="hold"/>
                                        <p:tgtEl>
                                          <p:spTgt spid="4"/>
                                        </p:tgtEl>
                                        <p:attrNameLst>
                                          <p:attrName>ppt_x</p:attrName>
                                        </p:attrNameLst>
                                      </p:cBhvr>
                                      <p:tavLst>
                                        <p:tav tm="0">
                                          <p:val>
                                            <p:strVal val="1+#ppt_w/2"/>
                                          </p:val>
                                        </p:tav>
                                        <p:tav tm="100000">
                                          <p:val>
                                            <p:strVal val="#ppt_x"/>
                                          </p:val>
                                        </p:tav>
                                      </p:tavLst>
                                    </p:anim>
                                    <p:anim calcmode="lin" valueType="num">
                                      <p:cBhvr additive="base">
                                        <p:cTn id="41" dur="1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dvAuto="1000"/>
      <p:bldP spid="3" grpId="0"/>
      <p:bldP spid="4" grpId="0"/>
      <p:bldP spid="5" grpId="0" animBg="1"/>
      <p:bldP spid="6"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8"/>
          <p:cNvSpPr>
            <a:spLocks noChangeArrowheads="1"/>
          </p:cNvSpPr>
          <p:nvPr/>
        </p:nvSpPr>
        <p:spPr bwMode="auto">
          <a:xfrm>
            <a:off x="1283476" y="1797451"/>
            <a:ext cx="371475" cy="849313"/>
          </a:xfrm>
          <a:prstGeom prst="cube">
            <a:avLst>
              <a:gd name="adj" fmla="val 25000"/>
            </a:avLst>
          </a:prstGeom>
          <a:solidFill>
            <a:srgbClr val="FFFF66"/>
          </a:solidFill>
          <a:ln w="9525">
            <a:solidFill>
              <a:schemeClr val="tx1"/>
            </a:solidFill>
            <a:miter lim="800000"/>
            <a:headEnd/>
            <a:tailEnd/>
          </a:ln>
        </p:spPr>
        <p:txBody>
          <a:bodyPr wrap="none" anchor="ctr"/>
          <a:lstStyle/>
          <a:p>
            <a:endParaRPr lang="zh-CN" altLang="en-US"/>
          </a:p>
        </p:txBody>
      </p:sp>
      <p:sp>
        <p:nvSpPr>
          <p:cNvPr id="3" name="Freeform 39"/>
          <p:cNvSpPr>
            <a:spLocks/>
          </p:cNvSpPr>
          <p:nvPr/>
        </p:nvSpPr>
        <p:spPr bwMode="auto">
          <a:xfrm flipH="1">
            <a:off x="777063" y="1130701"/>
            <a:ext cx="1423988" cy="950913"/>
          </a:xfrm>
          <a:custGeom>
            <a:avLst/>
            <a:gdLst>
              <a:gd name="T0" fmla="*/ 2147483647 w 783"/>
              <a:gd name="T1" fmla="*/ 2147483647 h 551"/>
              <a:gd name="T2" fmla="*/ 2147483647 w 783"/>
              <a:gd name="T3" fmla="*/ 2147483647 h 551"/>
              <a:gd name="T4" fmla="*/ 2147483647 w 783"/>
              <a:gd name="T5" fmla="*/ 2147483647 h 551"/>
              <a:gd name="T6" fmla="*/ 2147483647 w 783"/>
              <a:gd name="T7" fmla="*/ 2147483647 h 551"/>
              <a:gd name="T8" fmla="*/ 2147483647 w 783"/>
              <a:gd name="T9" fmla="*/ 2147483647 h 551"/>
              <a:gd name="T10" fmla="*/ 2147483647 w 783"/>
              <a:gd name="T11" fmla="*/ 2147483647 h 551"/>
              <a:gd name="T12" fmla="*/ 2147483647 w 783"/>
              <a:gd name="T13" fmla="*/ 2147483647 h 551"/>
              <a:gd name="T14" fmla="*/ 2147483647 w 783"/>
              <a:gd name="T15" fmla="*/ 2147483647 h 551"/>
              <a:gd name="T16" fmla="*/ 2147483647 w 783"/>
              <a:gd name="T17" fmla="*/ 2147483647 h 551"/>
              <a:gd name="T18" fmla="*/ 2147483647 w 783"/>
              <a:gd name="T19" fmla="*/ 2147483647 h 551"/>
              <a:gd name="T20" fmla="*/ 2147483647 w 783"/>
              <a:gd name="T21" fmla="*/ 2147483647 h 551"/>
              <a:gd name="T22" fmla="*/ 2147483647 w 783"/>
              <a:gd name="T23" fmla="*/ 2147483647 h 551"/>
              <a:gd name="T24" fmla="*/ 2147483647 w 783"/>
              <a:gd name="T25" fmla="*/ 2147483647 h 5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83"/>
              <a:gd name="T40" fmla="*/ 0 h 551"/>
              <a:gd name="T41" fmla="*/ 783 w 783"/>
              <a:gd name="T42" fmla="*/ 551 h 5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83" h="551">
                <a:moveTo>
                  <a:pt x="130" y="133"/>
                </a:moveTo>
                <a:cubicBezTo>
                  <a:pt x="171" y="121"/>
                  <a:pt x="228" y="121"/>
                  <a:pt x="293" y="108"/>
                </a:cubicBezTo>
                <a:cubicBezTo>
                  <a:pt x="358" y="95"/>
                  <a:pt x="455" y="72"/>
                  <a:pt x="520" y="56"/>
                </a:cubicBezTo>
                <a:cubicBezTo>
                  <a:pt x="585" y="40"/>
                  <a:pt x="646" y="0"/>
                  <a:pt x="686" y="12"/>
                </a:cubicBezTo>
                <a:cubicBezTo>
                  <a:pt x="726" y="24"/>
                  <a:pt x="748" y="76"/>
                  <a:pt x="763" y="130"/>
                </a:cubicBezTo>
                <a:cubicBezTo>
                  <a:pt x="778" y="184"/>
                  <a:pt x="783" y="276"/>
                  <a:pt x="779" y="338"/>
                </a:cubicBezTo>
                <a:cubicBezTo>
                  <a:pt x="775" y="400"/>
                  <a:pt x="783" y="469"/>
                  <a:pt x="738" y="504"/>
                </a:cubicBezTo>
                <a:cubicBezTo>
                  <a:pt x="693" y="539"/>
                  <a:pt x="590" y="541"/>
                  <a:pt x="507" y="546"/>
                </a:cubicBezTo>
                <a:cubicBezTo>
                  <a:pt x="424" y="551"/>
                  <a:pt x="316" y="546"/>
                  <a:pt x="238" y="533"/>
                </a:cubicBezTo>
                <a:cubicBezTo>
                  <a:pt x="160" y="520"/>
                  <a:pt x="74" y="508"/>
                  <a:pt x="37" y="469"/>
                </a:cubicBezTo>
                <a:cubicBezTo>
                  <a:pt x="0" y="430"/>
                  <a:pt x="13" y="344"/>
                  <a:pt x="14" y="296"/>
                </a:cubicBezTo>
                <a:cubicBezTo>
                  <a:pt x="15" y="248"/>
                  <a:pt x="27" y="205"/>
                  <a:pt x="46" y="178"/>
                </a:cubicBezTo>
                <a:cubicBezTo>
                  <a:pt x="65" y="151"/>
                  <a:pt x="89" y="145"/>
                  <a:pt x="130" y="133"/>
                </a:cubicBezTo>
                <a:close/>
              </a:path>
            </a:pathLst>
          </a:custGeom>
          <a:solidFill>
            <a:srgbClr val="DBC9FF"/>
          </a:solidFill>
          <a:ln w="28575">
            <a:solidFill>
              <a:schemeClr val="tx1"/>
            </a:solidFill>
            <a:round/>
            <a:headEnd/>
            <a:tailEnd/>
          </a:ln>
        </p:spPr>
        <p:txBody>
          <a:bodyPr wrap="none"/>
          <a:lstStyle/>
          <a:p>
            <a:endParaRPr lang="zh-CN" altLang="en-US"/>
          </a:p>
        </p:txBody>
      </p:sp>
      <p:sp>
        <p:nvSpPr>
          <p:cNvPr id="4" name="WordArt 40"/>
          <p:cNvSpPr>
            <a:spLocks noChangeArrowheads="1" noChangeShapeType="1" noTextEdit="1"/>
          </p:cNvSpPr>
          <p:nvPr/>
        </p:nvSpPr>
        <p:spPr bwMode="auto">
          <a:xfrm>
            <a:off x="921526" y="1151339"/>
            <a:ext cx="1065212" cy="822325"/>
          </a:xfrm>
          <a:prstGeom prst="rect">
            <a:avLst/>
          </a:prstGeom>
        </p:spPr>
        <p:txBody>
          <a:bodyPr wrap="none" fromWordArt="1">
            <a:prstTxWarp prst="textCurveDown">
              <a:avLst>
                <a:gd name="adj" fmla="val 43477"/>
              </a:avLst>
            </a:prstTxWarp>
          </a:bodyPr>
          <a:lstStyle/>
          <a:p>
            <a:pPr algn="ctr"/>
            <a:r>
              <a:rPr lang="zh-CN" altLang="en-US" sz="3600" kern="10">
                <a:ln w="12700">
                  <a:solidFill>
                    <a:srgbClr val="000000"/>
                  </a:solidFill>
                  <a:round/>
                  <a:headEnd/>
                  <a:tailEnd/>
                </a:ln>
                <a:solidFill>
                  <a:srgbClr val="FFCC00"/>
                </a:solidFill>
                <a:effectLst>
                  <a:outerShdw dist="45791" dir="2021404" algn="ctr" rotWithShape="0">
                    <a:srgbClr val="808080">
                      <a:alpha val="79999"/>
                    </a:srgbClr>
                  </a:outerShdw>
                </a:effectLst>
                <a:latin typeface="华文新魏"/>
                <a:ea typeface="华文新魏"/>
              </a:rPr>
              <a:t>作业</a:t>
            </a:r>
          </a:p>
        </p:txBody>
      </p:sp>
      <p:sp>
        <p:nvSpPr>
          <p:cNvPr id="5" name="Text Box 41"/>
          <p:cNvSpPr txBox="1">
            <a:spLocks noChangeArrowheads="1"/>
          </p:cNvSpPr>
          <p:nvPr/>
        </p:nvSpPr>
        <p:spPr bwMode="auto">
          <a:xfrm>
            <a:off x="2868319" y="1426558"/>
            <a:ext cx="522811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400" b="1" dirty="0" smtClean="0">
                <a:solidFill>
                  <a:srgbClr val="000066"/>
                </a:solidFill>
                <a:ea typeface="幼圆" pitchFamily="49" charset="-122"/>
              </a:rPr>
              <a:t>1-1 </a:t>
            </a:r>
            <a:r>
              <a:rPr lang="zh-CN" altLang="en-US" sz="2400" b="1" dirty="0" smtClean="0">
                <a:solidFill>
                  <a:srgbClr val="000066"/>
                </a:solidFill>
                <a:ea typeface="幼圆" pitchFamily="49" charset="-122"/>
              </a:rPr>
              <a:t>，</a:t>
            </a:r>
            <a:r>
              <a:rPr lang="en-US" altLang="zh-CN" sz="2400" b="1" dirty="0" smtClean="0">
                <a:solidFill>
                  <a:srgbClr val="000066"/>
                </a:solidFill>
                <a:ea typeface="幼圆" pitchFamily="49" charset="-122"/>
              </a:rPr>
              <a:t>1-2</a:t>
            </a:r>
            <a:r>
              <a:rPr lang="zh-CN" altLang="en-US" sz="2400" b="1" dirty="0" smtClean="0">
                <a:solidFill>
                  <a:srgbClr val="000066"/>
                </a:solidFill>
                <a:ea typeface="幼圆" pitchFamily="49" charset="-122"/>
              </a:rPr>
              <a:t>，</a:t>
            </a:r>
            <a:r>
              <a:rPr lang="en-US" altLang="zh-CN" sz="2400" b="1" dirty="0" smtClean="0">
                <a:solidFill>
                  <a:srgbClr val="000066"/>
                </a:solidFill>
                <a:ea typeface="幼圆" pitchFamily="49" charset="-122"/>
              </a:rPr>
              <a:t>1-3</a:t>
            </a:r>
            <a:r>
              <a:rPr lang="zh-CN" altLang="en-US" sz="2400" b="1" dirty="0" smtClean="0">
                <a:solidFill>
                  <a:srgbClr val="000066"/>
                </a:solidFill>
                <a:ea typeface="幼圆" pitchFamily="49" charset="-122"/>
              </a:rPr>
              <a:t>，</a:t>
            </a:r>
            <a:r>
              <a:rPr lang="en-US" altLang="zh-CN" sz="2400" b="1" dirty="0" smtClean="0">
                <a:solidFill>
                  <a:srgbClr val="000066"/>
                </a:solidFill>
                <a:ea typeface="幼圆" pitchFamily="49" charset="-122"/>
              </a:rPr>
              <a:t>1-5</a:t>
            </a:r>
            <a:r>
              <a:rPr lang="zh-CN" altLang="en-US" sz="2400" b="1" dirty="0" smtClean="0">
                <a:solidFill>
                  <a:srgbClr val="000066"/>
                </a:solidFill>
                <a:ea typeface="幼圆" pitchFamily="49" charset="-122"/>
              </a:rPr>
              <a:t>，</a:t>
            </a:r>
            <a:r>
              <a:rPr lang="en-US" altLang="zh-CN" sz="2400" b="1" dirty="0" smtClean="0">
                <a:solidFill>
                  <a:srgbClr val="000066"/>
                </a:solidFill>
                <a:ea typeface="幼圆" pitchFamily="49" charset="-122"/>
              </a:rPr>
              <a:t>1-6</a:t>
            </a:r>
          </a:p>
          <a:p>
            <a:pPr eaLnBrk="1" hangingPunct="1">
              <a:lnSpc>
                <a:spcPct val="100000"/>
              </a:lnSpc>
              <a:spcBef>
                <a:spcPct val="0"/>
              </a:spcBef>
              <a:spcAft>
                <a:spcPct val="0"/>
              </a:spcAft>
            </a:pPr>
            <a:endParaRPr lang="en-US" altLang="zh-CN" sz="2400" b="1" dirty="0">
              <a:solidFill>
                <a:srgbClr val="000066"/>
              </a:solidFill>
              <a:ea typeface="幼圆" pitchFamily="49" charset="-122"/>
            </a:endParaRPr>
          </a:p>
          <a:p>
            <a:pPr eaLnBrk="1" hangingPunct="1">
              <a:lnSpc>
                <a:spcPct val="100000"/>
              </a:lnSpc>
              <a:spcBef>
                <a:spcPct val="0"/>
              </a:spcBef>
              <a:spcAft>
                <a:spcPct val="0"/>
              </a:spcAft>
            </a:pPr>
            <a:r>
              <a:rPr lang="en-US" altLang="zh-CN" sz="2400" b="1" dirty="0">
                <a:solidFill>
                  <a:srgbClr val="000066"/>
                </a:solidFill>
                <a:ea typeface="幼圆" pitchFamily="49" charset="-122"/>
              </a:rPr>
              <a:t>1-4 </a:t>
            </a:r>
            <a:r>
              <a:rPr lang="zh-CN" altLang="en-US" sz="2400" b="1" dirty="0" smtClean="0">
                <a:solidFill>
                  <a:srgbClr val="000066"/>
                </a:solidFill>
                <a:ea typeface="幼圆" pitchFamily="49" charset="-122"/>
              </a:rPr>
              <a:t>，</a:t>
            </a:r>
            <a:r>
              <a:rPr lang="en-US" altLang="zh-CN" sz="2400" b="1" dirty="0" smtClean="0">
                <a:solidFill>
                  <a:srgbClr val="000066"/>
                </a:solidFill>
                <a:ea typeface="幼圆" pitchFamily="49" charset="-122"/>
              </a:rPr>
              <a:t>1-8</a:t>
            </a:r>
            <a:r>
              <a:rPr lang="zh-CN" altLang="en-US" sz="2400" b="1" dirty="0" smtClean="0">
                <a:solidFill>
                  <a:srgbClr val="000066"/>
                </a:solidFill>
                <a:ea typeface="幼圆" pitchFamily="49" charset="-122"/>
              </a:rPr>
              <a:t>，</a:t>
            </a:r>
            <a:r>
              <a:rPr lang="en-US" altLang="zh-CN" sz="2400" b="1" dirty="0" smtClean="0">
                <a:solidFill>
                  <a:srgbClr val="000066"/>
                </a:solidFill>
                <a:ea typeface="幼圆" pitchFamily="49" charset="-122"/>
              </a:rPr>
              <a:t>1-9</a:t>
            </a:r>
            <a:r>
              <a:rPr lang="zh-CN" altLang="en-US" sz="2400" b="1" dirty="0" smtClean="0">
                <a:solidFill>
                  <a:srgbClr val="000066"/>
                </a:solidFill>
                <a:ea typeface="幼圆" pitchFamily="49" charset="-122"/>
              </a:rPr>
              <a:t>，</a:t>
            </a:r>
            <a:r>
              <a:rPr lang="en-US" altLang="zh-CN" sz="2400" b="1" dirty="0" smtClean="0">
                <a:solidFill>
                  <a:srgbClr val="000066"/>
                </a:solidFill>
                <a:ea typeface="幼圆" pitchFamily="49" charset="-122"/>
              </a:rPr>
              <a:t>1-10</a:t>
            </a:r>
            <a:r>
              <a:rPr lang="zh-CN" altLang="en-US" sz="2400" b="1" dirty="0" smtClean="0">
                <a:solidFill>
                  <a:srgbClr val="000066"/>
                </a:solidFill>
                <a:ea typeface="幼圆" pitchFamily="49" charset="-122"/>
              </a:rPr>
              <a:t>，</a:t>
            </a:r>
            <a:r>
              <a:rPr lang="en-US" altLang="zh-CN" sz="2400" b="1" dirty="0" smtClean="0">
                <a:solidFill>
                  <a:srgbClr val="000066"/>
                </a:solidFill>
                <a:ea typeface="幼圆" pitchFamily="49" charset="-122"/>
              </a:rPr>
              <a:t>1-12</a:t>
            </a:r>
            <a:endParaRPr lang="zh-CN" altLang="en-US" sz="2400" b="1" dirty="0">
              <a:solidFill>
                <a:srgbClr val="000066"/>
              </a:solidFill>
              <a:ea typeface="幼圆" pitchFamily="49" charset="-122"/>
            </a:endParaRPr>
          </a:p>
        </p:txBody>
      </p:sp>
      <p:sp>
        <p:nvSpPr>
          <p:cNvPr id="6" name="AutoShape 15"/>
          <p:cNvSpPr>
            <a:spLocks noChangeArrowheads="1"/>
          </p:cNvSpPr>
          <p:nvPr/>
        </p:nvSpPr>
        <p:spPr bwMode="auto">
          <a:xfrm>
            <a:off x="115613" y="2881664"/>
            <a:ext cx="8881241" cy="2591348"/>
          </a:xfrm>
          <a:prstGeom prst="roundRect">
            <a:avLst>
              <a:gd name="adj" fmla="val 16667"/>
            </a:avLst>
          </a:prstGeom>
          <a:solidFill>
            <a:srgbClr val="FFFF99"/>
          </a:solidFill>
          <a:ln w="28575" algn="ctr">
            <a:solidFill>
              <a:srgbClr val="A50021"/>
            </a:solidFill>
            <a:round/>
            <a:headEnd/>
            <a:tailEnd/>
          </a:ln>
        </p:spPr>
        <p:txBody>
          <a:bodyPr wrap="square" lIns="0" tIns="0" rIns="0" bIns="0">
            <a:spAutoFit/>
          </a:bodyPr>
          <a:lstStyle>
            <a:lvl1pPr marL="457200" indent="-457200"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hangingPunct="1">
              <a:lnSpc>
                <a:spcPct val="125000"/>
              </a:lnSpc>
              <a:spcBef>
                <a:spcPct val="0"/>
              </a:spcBef>
              <a:spcAft>
                <a:spcPct val="0"/>
              </a:spcAft>
            </a:pPr>
            <a:r>
              <a:rPr kumimoji="1" lang="zh-CN" altLang="en-US" sz="3600" b="1" dirty="0">
                <a:solidFill>
                  <a:srgbClr val="000066"/>
                </a:solidFill>
                <a:ea typeface="幼圆" pitchFamily="49" charset="-122"/>
                <a:cs typeface="Times New Roman" panose="02020603050405020304" pitchFamily="18" charset="0"/>
              </a:rPr>
              <a:t>提醒：</a:t>
            </a:r>
            <a:r>
              <a:rPr kumimoji="1" lang="zh-CN" altLang="en-US" sz="2800" b="1" dirty="0">
                <a:solidFill>
                  <a:srgbClr val="000066"/>
                </a:solidFill>
                <a:ea typeface="幼圆" pitchFamily="49" charset="-122"/>
                <a:cs typeface="Times New Roman" panose="02020603050405020304" pitchFamily="18" charset="0"/>
              </a:rPr>
              <a:t>请</a:t>
            </a:r>
            <a:r>
              <a:rPr kumimoji="1" lang="zh-CN" altLang="en-US" sz="2800" b="1" dirty="0" smtClean="0">
                <a:solidFill>
                  <a:srgbClr val="000066"/>
                </a:solidFill>
                <a:ea typeface="幼圆" pitchFamily="49" charset="-122"/>
                <a:cs typeface="Times New Roman" panose="02020603050405020304" pitchFamily="18" charset="0"/>
              </a:rPr>
              <a:t>同学们</a:t>
            </a:r>
            <a:r>
              <a:rPr kumimoji="1" lang="zh-CN" altLang="en-US" sz="2800" b="1" dirty="0">
                <a:solidFill>
                  <a:srgbClr val="000066"/>
                </a:solidFill>
                <a:ea typeface="幼圆" pitchFamily="49" charset="-122"/>
                <a:cs typeface="Times New Roman" panose="02020603050405020304" pitchFamily="18" charset="0"/>
              </a:rPr>
              <a:t>注意</a:t>
            </a:r>
            <a:r>
              <a:rPr kumimoji="1" lang="zh-CN" altLang="en-US" sz="2800" b="1" dirty="0" smtClean="0">
                <a:solidFill>
                  <a:srgbClr val="000066"/>
                </a:solidFill>
                <a:ea typeface="幼圆" pitchFamily="49" charset="-122"/>
                <a:cs typeface="Times New Roman" panose="02020603050405020304" pitchFamily="18" charset="0"/>
              </a:rPr>
              <a:t>进行土力学</a:t>
            </a:r>
            <a:r>
              <a:rPr kumimoji="1" lang="zh-CN" altLang="en-US" sz="2800" b="1" dirty="0">
                <a:solidFill>
                  <a:srgbClr val="000066"/>
                </a:solidFill>
                <a:ea typeface="幼圆" pitchFamily="49" charset="-122"/>
                <a:cs typeface="Times New Roman" panose="02020603050405020304" pitchFamily="18" charset="0"/>
              </a:rPr>
              <a:t>实验预习</a:t>
            </a:r>
          </a:p>
          <a:p>
            <a:r>
              <a:rPr kumimoji="1" lang="zh-CN" altLang="en-US" sz="4000" b="1" dirty="0">
                <a:solidFill>
                  <a:srgbClr val="000066"/>
                </a:solidFill>
                <a:ea typeface="幼圆" pitchFamily="49" charset="-122"/>
                <a:cs typeface="Times New Roman" panose="02020603050405020304" pitchFamily="18" charset="0"/>
              </a:rPr>
              <a:t>预习网站：  </a:t>
            </a:r>
            <a:r>
              <a:rPr kumimoji="1" lang="en-US" altLang="zh-CN" sz="4000" b="1" dirty="0" smtClean="0">
                <a:solidFill>
                  <a:srgbClr val="000066"/>
                </a:solidFill>
                <a:ea typeface="幼圆" pitchFamily="49" charset="-122"/>
                <a:cs typeface="Times New Roman" panose="02020603050405020304" pitchFamily="18" charset="0"/>
              </a:rPr>
              <a:t/>
            </a:r>
            <a:br>
              <a:rPr kumimoji="1" lang="en-US" altLang="zh-CN" sz="4000" b="1" dirty="0" smtClean="0">
                <a:solidFill>
                  <a:srgbClr val="000066"/>
                </a:solidFill>
                <a:ea typeface="幼圆" pitchFamily="49" charset="-122"/>
                <a:cs typeface="Times New Roman" panose="02020603050405020304" pitchFamily="18" charset="0"/>
              </a:rPr>
            </a:br>
            <a:r>
              <a:rPr kumimoji="1" lang="en-US" altLang="zh-CN" sz="2400" b="1" dirty="0">
                <a:solidFill>
                  <a:srgbClr val="000066"/>
                </a:solidFill>
                <a:ea typeface="幼圆" pitchFamily="49" charset="-122"/>
                <a:cs typeface="Times New Roman" panose="02020603050405020304" pitchFamily="18" charset="0"/>
              </a:rPr>
              <a:t> http://218.241.129.138:8081/eol/homepage/common/index.jsp </a:t>
            </a:r>
            <a:r>
              <a:rPr kumimoji="1" lang="en-US" altLang="zh-CN" sz="2400" b="1" dirty="0" smtClean="0">
                <a:solidFill>
                  <a:srgbClr val="000066"/>
                </a:solidFill>
                <a:ea typeface="幼圆" pitchFamily="49" charset="-122"/>
                <a:cs typeface="Times New Roman" panose="02020603050405020304" pitchFamily="18" charset="0"/>
              </a:rPr>
              <a:t/>
            </a:r>
            <a:br>
              <a:rPr kumimoji="1" lang="en-US" altLang="zh-CN" sz="2400" b="1" dirty="0" smtClean="0">
                <a:solidFill>
                  <a:srgbClr val="000066"/>
                </a:solidFill>
                <a:ea typeface="幼圆" pitchFamily="49" charset="-122"/>
                <a:cs typeface="Times New Roman" panose="02020603050405020304" pitchFamily="18" charset="0"/>
              </a:rPr>
            </a:br>
            <a:r>
              <a:rPr kumimoji="1" lang="zh-CN" altLang="en-US" sz="2400" b="1" dirty="0" smtClean="0">
                <a:solidFill>
                  <a:srgbClr val="000066"/>
                </a:solidFill>
                <a:ea typeface="幼圆" pitchFamily="49" charset="-122"/>
                <a:cs typeface="Times New Roman" panose="02020603050405020304" pitchFamily="18" charset="0"/>
              </a:rPr>
              <a:t>用户名</a:t>
            </a:r>
            <a:r>
              <a:rPr kumimoji="1" lang="en-US" altLang="zh-CN" sz="2400" b="1" dirty="0">
                <a:solidFill>
                  <a:srgbClr val="000066"/>
                </a:solidFill>
                <a:ea typeface="幼圆" pitchFamily="49" charset="-122"/>
                <a:cs typeface="Times New Roman" panose="02020603050405020304" pitchFamily="18" charset="0"/>
              </a:rPr>
              <a:t>/</a:t>
            </a:r>
            <a:r>
              <a:rPr kumimoji="1" lang="zh-CN" altLang="en-US" sz="2400" b="1" dirty="0">
                <a:solidFill>
                  <a:srgbClr val="000066"/>
                </a:solidFill>
                <a:ea typeface="幼圆" pitchFamily="49" charset="-122"/>
                <a:cs typeface="Times New Roman" panose="02020603050405020304" pitchFamily="18" charset="0"/>
              </a:rPr>
              <a:t>密码：学</a:t>
            </a:r>
            <a:r>
              <a:rPr kumimoji="1" lang="zh-CN" altLang="en-US" sz="2400" b="1" dirty="0" smtClean="0">
                <a:solidFill>
                  <a:srgbClr val="000066"/>
                </a:solidFill>
                <a:ea typeface="幼圆" pitchFamily="49" charset="-122"/>
                <a:cs typeface="Times New Roman" panose="02020603050405020304" pitchFamily="18" charset="0"/>
              </a:rPr>
              <a:t>号</a:t>
            </a:r>
            <a:endParaRPr kumimoji="1" lang="zh-CN" altLang="en-US" sz="2400" b="1" dirty="0">
              <a:solidFill>
                <a:srgbClr val="000066"/>
              </a:solidFill>
              <a:ea typeface="幼圆" pitchFamily="49" charset="-122"/>
              <a:cs typeface="Times New Roman" panose="02020603050405020304" pitchFamily="18" charset="0"/>
            </a:endParaRPr>
          </a:p>
        </p:txBody>
      </p:sp>
    </p:spTree>
    <p:extLst>
      <p:ext uri="{BB962C8B-B14F-4D97-AF65-F5344CB8AC3E}">
        <p14:creationId xmlns:p14="http://schemas.microsoft.com/office/powerpoint/2010/main" val="360167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华文新魏"/>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
      <a:clrScheme name="吉祥如意 9">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0066"/>
        </a:hlink>
        <a:folHlink>
          <a:srgbClr val="B2B2B2"/>
        </a:folHlink>
      </a:clrScheme>
      <a:clrMap bg1="lt1" tx1="dk1" bg2="lt2" tx2="dk2" accent1="accent1" accent2="accent2" accent3="accent3" accent4="accent4" accent5="accent5" accent6="accent6" hlink="hlink" folHlink="folHlink"/>
    </a:extraClrScheme>
    <a:extraClrScheme>
      <a:clrScheme name="吉祥如意 10">
        <a:dk1>
          <a:srgbClr val="000000"/>
        </a:dk1>
        <a:lt1>
          <a:srgbClr val="FFFFFF"/>
        </a:lt1>
        <a:dk2>
          <a:srgbClr val="006666"/>
        </a:dk2>
        <a:lt2>
          <a:srgbClr val="5F5F5F"/>
        </a:lt2>
        <a:accent1>
          <a:srgbClr val="FFFF66"/>
        </a:accent1>
        <a:accent2>
          <a:srgbClr val="99CCCC"/>
        </a:accent2>
        <a:accent3>
          <a:srgbClr val="FFFFFF"/>
        </a:accent3>
        <a:accent4>
          <a:srgbClr val="000000"/>
        </a:accent4>
        <a:accent5>
          <a:srgbClr val="FFFFB8"/>
        </a:accent5>
        <a:accent6>
          <a:srgbClr val="8AB9B9"/>
        </a:accent6>
        <a:hlink>
          <a:srgbClr val="FF0000"/>
        </a:hlink>
        <a:folHlink>
          <a:srgbClr val="B2B2B2"/>
        </a:folHlink>
      </a:clrScheme>
      <a:clrMap bg1="lt1" tx1="dk1" bg2="lt2" tx2="dk2" accent1="accent1" accent2="accent2" accent3="accent3" accent4="accent4" accent5="accent5" accent6="accent6" hlink="hlink" folHlink="folHlink"/>
    </a:extraClrScheme>
    <a:extraClrScheme>
      <a:clrScheme name="吉祥如意 11">
        <a:dk1>
          <a:srgbClr val="000000"/>
        </a:dk1>
        <a:lt1>
          <a:srgbClr val="FFFFFF"/>
        </a:lt1>
        <a:dk2>
          <a:srgbClr val="006666"/>
        </a:dk2>
        <a:lt2>
          <a:srgbClr val="5F5F5F"/>
        </a:lt2>
        <a:accent1>
          <a:srgbClr val="FFFF66"/>
        </a:accent1>
        <a:accent2>
          <a:srgbClr val="FF9933"/>
        </a:accent2>
        <a:accent3>
          <a:srgbClr val="FFFFFF"/>
        </a:accent3>
        <a:accent4>
          <a:srgbClr val="000000"/>
        </a:accent4>
        <a:accent5>
          <a:srgbClr val="FFFFB8"/>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
      <a:clrScheme name="吉祥如意 12">
        <a:dk1>
          <a:srgbClr val="000000"/>
        </a:dk1>
        <a:lt1>
          <a:srgbClr val="FFFFFF"/>
        </a:lt1>
        <a:dk2>
          <a:srgbClr val="006666"/>
        </a:dk2>
        <a:lt2>
          <a:srgbClr val="5F5F5F"/>
        </a:lt2>
        <a:accent1>
          <a:srgbClr val="FFFF99"/>
        </a:accent1>
        <a:accent2>
          <a:srgbClr val="FF9933"/>
        </a:accent2>
        <a:accent3>
          <a:srgbClr val="FFFFFF"/>
        </a:accent3>
        <a:accent4>
          <a:srgbClr val="000000"/>
        </a:accent4>
        <a:accent5>
          <a:srgbClr val="FFFFCA"/>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30544</TotalTime>
  <Words>8748</Words>
  <Application>Microsoft Office PowerPoint</Application>
  <PresentationFormat>全屏显示(4:3)</PresentationFormat>
  <Paragraphs>1686</Paragraphs>
  <Slides>117</Slides>
  <Notes>117</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2</vt:i4>
      </vt:variant>
      <vt:variant>
        <vt:lpstr>幻灯片标题</vt:lpstr>
      </vt:variant>
      <vt:variant>
        <vt:i4>117</vt:i4>
      </vt:variant>
    </vt:vector>
  </HeadingPairs>
  <TitlesOfParts>
    <vt:vector size="140" baseType="lpstr">
      <vt:lpstr>Arial Unicode MS</vt:lpstr>
      <vt:lpstr>MS Mincho</vt:lpstr>
      <vt:lpstr>黑体</vt:lpstr>
      <vt:lpstr>华文新魏</vt:lpstr>
      <vt:lpstr>楷体_GB2312</vt:lpstr>
      <vt:lpstr>宋体</vt:lpstr>
      <vt:lpstr>微软雅黑</vt:lpstr>
      <vt:lpstr>幼圆</vt:lpstr>
      <vt:lpstr>Arial</vt:lpstr>
      <vt:lpstr>Arial Black</vt:lpstr>
      <vt:lpstr>Arial Narrow</vt:lpstr>
      <vt:lpstr>Browallia New</vt:lpstr>
      <vt:lpstr>Calibri</vt:lpstr>
      <vt:lpstr>Comic Sans MS</vt:lpstr>
      <vt:lpstr>Symbol</vt:lpstr>
      <vt:lpstr>Times New Roman</vt:lpstr>
      <vt:lpstr>Verdana</vt:lpstr>
      <vt:lpstr>Wingdings</vt:lpstr>
      <vt:lpstr>Wingdings 2</vt:lpstr>
      <vt:lpstr>吉祥如意</vt:lpstr>
      <vt:lpstr>1_自定义设计方案</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zhang0</dc:creator>
  <cp:lastModifiedBy>Administrator</cp:lastModifiedBy>
  <cp:revision>2448</cp:revision>
  <cp:lastPrinted>2017-09-12T02:35:38Z</cp:lastPrinted>
  <dcterms:created xsi:type="dcterms:W3CDTF">1601-01-01T00:00:00Z</dcterms:created>
  <dcterms:modified xsi:type="dcterms:W3CDTF">2020-09-07T07:46:16Z</dcterms:modified>
</cp:coreProperties>
</file>