
<file path=[Content_Types].xml><?xml version="1.0" encoding="utf-8"?>
<Types xmlns="http://schemas.openxmlformats.org/package/2006/content-types">
  <Default Extension="png" ContentType="image/png"/>
  <Default Extension="bin" ContentType="application/vnd.openxmlformats-officedocument.oleObject"/>
  <Default Extension="jfif" ContentType="image/jpeg"/>
  <Default Extension="jpeg" ContentType="image/jpeg"/>
  <Default Extension="wmf" ContentType="image/x-wmf"/>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7" r:id="rId2"/>
    <p:sldId id="258" r:id="rId3"/>
    <p:sldId id="259" r:id="rId4"/>
    <p:sldId id="260" r:id="rId5"/>
    <p:sldId id="261" r:id="rId6"/>
    <p:sldId id="262" r:id="rId7"/>
    <p:sldId id="286" r:id="rId8"/>
    <p:sldId id="263" r:id="rId9"/>
    <p:sldId id="285"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60"/>
  </p:normalViewPr>
  <p:slideViewPr>
    <p:cSldViewPr snapToGrid="0">
      <p:cViewPr varScale="1">
        <p:scale>
          <a:sx n="87" d="100"/>
          <a:sy n="87" d="100"/>
        </p:scale>
        <p:origin x="38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image" Target="../media/image14.wmf"/><Relationship Id="rId1" Type="http://schemas.openxmlformats.org/officeDocument/2006/relationships/image" Target="../media/image13.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DFD2FF-15DC-4A84-81A1-E6B201D3C29E}" type="datetimeFigureOut">
              <a:rPr lang="zh-CN" altLang="en-US" smtClean="0"/>
              <a:t>2023/4/24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301860-3915-4D1B-AABE-CE1BE1C638B4}" type="slidenum">
              <a:rPr lang="zh-CN" altLang="en-US" smtClean="0"/>
              <a:t>‹#›</a:t>
            </a:fld>
            <a:endParaRPr lang="zh-CN" altLang="en-US"/>
          </a:p>
        </p:txBody>
      </p:sp>
    </p:spTree>
    <p:extLst>
      <p:ext uri="{BB962C8B-B14F-4D97-AF65-F5344CB8AC3E}">
        <p14:creationId xmlns:p14="http://schemas.microsoft.com/office/powerpoint/2010/main" val="2723686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说起</a:t>
            </a:r>
            <a:r>
              <a:rPr lang="en-US" altLang="zh-CN" dirty="0" err="1" smtClean="0"/>
              <a:t>piv</a:t>
            </a:r>
            <a:r>
              <a:rPr lang="zh-CN" altLang="en-US" dirty="0" smtClean="0"/>
              <a:t>，也许大家都觉得这已经是很平常的测试技术而已，但如果认真探究，会发现要用好</a:t>
            </a:r>
            <a:r>
              <a:rPr lang="en-US" altLang="zh-CN" dirty="0" smtClean="0"/>
              <a:t>PIV</a:t>
            </a:r>
            <a:r>
              <a:rPr lang="zh-CN" altLang="en-US" dirty="0" smtClean="0"/>
              <a:t>并不是一件很简单的事。 大家好！我是徐胜金，我今天想针对风洞实验中，特别是低速风洞实验中，</a:t>
            </a:r>
            <a:r>
              <a:rPr lang="en-US" altLang="zh-CN" dirty="0" smtClean="0"/>
              <a:t>PIV</a:t>
            </a:r>
            <a:r>
              <a:rPr lang="zh-CN" altLang="en-US" dirty="0" smtClean="0"/>
              <a:t>测量谈一点自己的看法。</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ABBB3C-C6F8-47B6-BB74-30A47253930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71815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43272CE-A105-49E7-A1FA-51CBDBF202B2}" type="datetime1">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2023/4/24</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645984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stretch>
            <a:fillRect/>
          </a:stretch>
        </p:blipFill>
        <p:spPr>
          <a:xfrm>
            <a:off x="0" y="4709682"/>
            <a:ext cx="701310" cy="2148318"/>
          </a:xfrm>
          <a:prstGeom prst="rect">
            <a:avLst/>
          </a:prstGeom>
        </p:spPr>
      </p:pic>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BF3B356-08BD-4C5F-8B26-D0C670148BEA}" type="datetime1">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2023/4/24</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cxnSp>
        <p:nvCxnSpPr>
          <p:cNvPr id="7" name="直接连接符 6"/>
          <p:cNvCxnSpPr/>
          <p:nvPr userDrawn="1"/>
        </p:nvCxnSpPr>
        <p:spPr>
          <a:xfrm>
            <a:off x="6503670" y="1199660"/>
            <a:ext cx="5097780"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userDrawn="1"/>
        </p:nvSpPr>
        <p:spPr>
          <a:xfrm>
            <a:off x="8870303" y="861106"/>
            <a:ext cx="2483497"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n-cs"/>
              </a:rPr>
              <a:t>实验流体力学</a:t>
            </a:r>
            <a:endParaRPr kumimoji="0" lang="zh-CN" altLang="en-US" sz="1600" b="0"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endParaRPr>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429770" y="363761"/>
            <a:ext cx="720000" cy="720942"/>
          </a:xfrm>
          <a:prstGeom prst="rect">
            <a:avLst/>
          </a:prstGeom>
        </p:spPr>
      </p:pic>
    </p:spTree>
    <p:extLst>
      <p:ext uri="{BB962C8B-B14F-4D97-AF65-F5344CB8AC3E}">
        <p14:creationId xmlns:p14="http://schemas.microsoft.com/office/powerpoint/2010/main" val="134175075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DE91316-77C5-4C08-AE5B-8529922A8EE1}" type="datetime1">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2023/4/24</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38475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92E4E5F-2CA3-4AE4-B352-1C04DEEAFD01}" type="datetime1">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2023/4/24</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08486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00785AE-B4DA-4481-B2DB-4B647B9D51ED}" type="datetime1">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2023/4/24</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32540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154DAC5-1DEA-4961-9F72-AD58D011D570}" type="datetime1">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2023/4/24</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78526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5349AED-D8D9-4CCC-855C-4364AC3D532F}" type="datetime1">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2023/4/24</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33483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4A52285-B0EE-440D-8DC1-47358132D022}" type="datetime1">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2023/4/24</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817142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AF32EA7-E61A-4A7D-A71A-1CA1E78A52A9}" type="datetime1">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2023/4/24</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30874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5F918B7-1155-491C-9938-22BE039457D5}" type="datetime1">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2023/4/24</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85335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088618F-9094-4CD0-B5DE-9F586946A16A}" type="datetime1">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2023/4/24</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28463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F33F9E3-2BB1-42E6-95D3-1B2EEC68E28C}" type="datetime1">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2023/4/24</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5761483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oleObject" Target="../embeddings/oleObject5.bin"/><Relationship Id="rId18" Type="http://schemas.openxmlformats.org/officeDocument/2006/relationships/image" Target="../media/image19.wmf"/><Relationship Id="rId3" Type="http://schemas.openxmlformats.org/officeDocument/2006/relationships/oleObject" Target="../embeddings/oleObject1.bin"/><Relationship Id="rId7" Type="http://schemas.openxmlformats.org/officeDocument/2006/relationships/image" Target="../media/image20.png"/><Relationship Id="rId12" Type="http://schemas.openxmlformats.org/officeDocument/2006/relationships/image" Target="../media/image16.wmf"/><Relationship Id="rId17" Type="http://schemas.openxmlformats.org/officeDocument/2006/relationships/oleObject" Target="../embeddings/oleObject7.bin"/><Relationship Id="rId2" Type="http://schemas.openxmlformats.org/officeDocument/2006/relationships/slideLayout" Target="../slideLayouts/slideLayout2.xml"/><Relationship Id="rId16" Type="http://schemas.openxmlformats.org/officeDocument/2006/relationships/image" Target="../media/image18.wmf"/><Relationship Id="rId20" Type="http://schemas.openxmlformats.org/officeDocument/2006/relationships/image" Target="../media/image22.png"/><Relationship Id="rId1" Type="http://schemas.openxmlformats.org/officeDocument/2006/relationships/vmlDrawing" Target="../drawings/vmlDrawing1.vml"/><Relationship Id="rId6" Type="http://schemas.openxmlformats.org/officeDocument/2006/relationships/image" Target="../media/image14.wmf"/><Relationship Id="rId11" Type="http://schemas.openxmlformats.org/officeDocument/2006/relationships/oleObject" Target="../embeddings/oleObject4.bin"/><Relationship Id="rId5" Type="http://schemas.openxmlformats.org/officeDocument/2006/relationships/oleObject" Target="../embeddings/oleObject2.bin"/><Relationship Id="rId15" Type="http://schemas.openxmlformats.org/officeDocument/2006/relationships/oleObject" Target="../embeddings/oleObject6.bin"/><Relationship Id="rId10" Type="http://schemas.openxmlformats.org/officeDocument/2006/relationships/image" Target="../media/image15.wmf"/><Relationship Id="rId19" Type="http://schemas.openxmlformats.org/officeDocument/2006/relationships/image" Target="../media/image10.png"/><Relationship Id="rId4" Type="http://schemas.openxmlformats.org/officeDocument/2006/relationships/image" Target="../media/image13.wmf"/><Relationship Id="rId9" Type="http://schemas.openxmlformats.org/officeDocument/2006/relationships/oleObject" Target="../embeddings/oleObject3.bin"/><Relationship Id="rId14" Type="http://schemas.openxmlformats.org/officeDocument/2006/relationships/image" Target="../media/image17.wmf"/></Relationships>
</file>

<file path=ppt/slides/_rels/slide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fif"/><Relationship Id="rId1" Type="http://schemas.openxmlformats.org/officeDocument/2006/relationships/slideLayout" Target="../slideLayouts/slideLayout2.xml"/><Relationship Id="rId5" Type="http://schemas.openxmlformats.org/officeDocument/2006/relationships/image" Target="../media/image26.jpeg"/><Relationship Id="rId4" Type="http://schemas.openxmlformats.org/officeDocument/2006/relationships/image" Target="../media/image25.jpe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emf"/><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4.tiff"/><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49.png"/><Relationship Id="rId5" Type="http://schemas.openxmlformats.org/officeDocument/2006/relationships/image" Target="../media/image47.wmf"/><Relationship Id="rId4" Type="http://schemas.openxmlformats.org/officeDocument/2006/relationships/oleObject" Target="../embeddings/oleObject8.bin"/></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gif"/><Relationship Id="rId1" Type="http://schemas.openxmlformats.org/officeDocument/2006/relationships/slideLayout" Target="../slideLayouts/slideLayout2.xml"/><Relationship Id="rId5" Type="http://schemas.openxmlformats.org/officeDocument/2006/relationships/image" Target="../media/image51.wmf"/><Relationship Id="rId4" Type="http://schemas.openxmlformats.org/officeDocument/2006/relationships/image" Target="../media/image5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jpe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23.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67.jpeg"/><Relationship Id="rId3" Type="http://schemas.openxmlformats.org/officeDocument/2006/relationships/image" Target="../media/image62.jpeg"/><Relationship Id="rId7" Type="http://schemas.openxmlformats.org/officeDocument/2006/relationships/image" Target="../media/image66.jpe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2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2152923" y="820416"/>
            <a:ext cx="9310629" cy="2387600"/>
          </a:xfrm>
        </p:spPr>
        <p:txBody>
          <a:bodyPr>
            <a:normAutofit/>
          </a:bodyPr>
          <a:lstStyle/>
          <a:p>
            <a:r>
              <a:rPr lang="zh-CN" altLang="en-US" sz="4400" b="1" dirty="0" smtClean="0">
                <a:solidFill>
                  <a:srgbClr val="7030A0"/>
                </a:solidFill>
                <a:latin typeface="微软雅黑" panose="020B0503020204020204" pitchFamily="34" charset="-122"/>
                <a:ea typeface="微软雅黑" panose="020B0503020204020204" pitchFamily="34" charset="-122"/>
              </a:rPr>
              <a:t>实验流体力学</a:t>
            </a:r>
            <a:endParaRPr lang="zh-CN" altLang="en-US" sz="4400" b="1" dirty="0">
              <a:solidFill>
                <a:srgbClr val="7030A0"/>
              </a:solidFill>
              <a:latin typeface="微软雅黑" panose="020B0503020204020204" pitchFamily="34" charset="-122"/>
              <a:ea typeface="微软雅黑" panose="020B0503020204020204" pitchFamily="34" charset="-122"/>
            </a:endParaRPr>
          </a:p>
        </p:txBody>
      </p:sp>
      <p:sp>
        <p:nvSpPr>
          <p:cNvPr id="3" name="副标题 2"/>
          <p:cNvSpPr>
            <a:spLocks noGrp="1"/>
          </p:cNvSpPr>
          <p:nvPr>
            <p:ph type="subTitle" idx="1"/>
          </p:nvPr>
        </p:nvSpPr>
        <p:spPr>
          <a:xfrm>
            <a:off x="2089931" y="3783591"/>
            <a:ext cx="9144000" cy="2167226"/>
          </a:xfrm>
        </p:spPr>
        <p:txBody>
          <a:bodyPr>
            <a:normAutofit lnSpcReduction="10000"/>
          </a:bodyPr>
          <a:lstStyle/>
          <a:p>
            <a:endParaRPr lang="en-US" altLang="zh-CN" b="1" dirty="0" smtClean="0"/>
          </a:p>
          <a:p>
            <a:r>
              <a:rPr lang="zh-CN" altLang="en-US" b="1" dirty="0" smtClean="0"/>
              <a:t>任课教师：徐胜金</a:t>
            </a:r>
            <a:endParaRPr lang="en-US" altLang="zh-CN" b="1" dirty="0" smtClean="0"/>
          </a:p>
          <a:p>
            <a:r>
              <a:rPr lang="zh-CN" altLang="en-US" b="1" dirty="0" smtClean="0"/>
              <a:t>实验教师：贾永霞</a:t>
            </a:r>
            <a:endParaRPr lang="en-US" altLang="zh-CN" b="1" dirty="0"/>
          </a:p>
          <a:p>
            <a:r>
              <a:rPr lang="zh-CN" altLang="en-US" b="1" dirty="0" smtClean="0"/>
              <a:t>航天航空学院</a:t>
            </a:r>
            <a:endParaRPr lang="en-US" altLang="zh-CN" b="1" dirty="0" smtClean="0"/>
          </a:p>
          <a:p>
            <a:r>
              <a:rPr lang="en-US" altLang="zh-CN" dirty="0" smtClean="0">
                <a:latin typeface="Times New Roman" panose="02020603050405020304" pitchFamily="18" charset="0"/>
                <a:cs typeface="Times New Roman" panose="02020603050405020304" pitchFamily="18" charset="0"/>
              </a:rPr>
              <a:t>E-mail: xu_shengjin@Tsinghua.edu.cn</a:t>
            </a:r>
          </a:p>
          <a:p>
            <a:endParaRPr lang="en-US" altLang="zh-CN" sz="2000" b="1" dirty="0" smtClean="0"/>
          </a:p>
        </p:txBody>
      </p:sp>
      <p:pic>
        <p:nvPicPr>
          <p:cNvPr id="8" name="图片 7"/>
          <p:cNvPicPr>
            <a:picLocks noChangeAspect="1"/>
          </p:cNvPicPr>
          <p:nvPr/>
        </p:nvPicPr>
        <p:blipFill>
          <a:blip r:embed="rId3"/>
          <a:stretch>
            <a:fillRect/>
          </a:stretch>
        </p:blipFill>
        <p:spPr>
          <a:xfrm>
            <a:off x="0" y="1871611"/>
            <a:ext cx="1964668" cy="3062867"/>
          </a:xfrm>
          <a:prstGeom prst="rect">
            <a:avLst/>
          </a:prstGeom>
        </p:spPr>
      </p:pic>
      <p:cxnSp>
        <p:nvCxnSpPr>
          <p:cNvPr id="5" name="直接连接符 4"/>
          <p:cNvCxnSpPr/>
          <p:nvPr/>
        </p:nvCxnSpPr>
        <p:spPr>
          <a:xfrm>
            <a:off x="6503670" y="1199660"/>
            <a:ext cx="5097780"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7069015" y="861106"/>
            <a:ext cx="465113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Nature </a:t>
            </a: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and nature's laws, hidden in the dark</a:t>
            </a:r>
            <a:r>
              <a:rPr kumimoji="0" lang="en-US" altLang="zh-CN" sz="1800" b="1"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Alexander Pope</a:t>
            </a:r>
            <a:endParaRPr kumimoji="0" lang="zh-CN" altLang="en-US" sz="1600" b="1" i="0" u="none" strike="noStrike" kern="1200" cap="none" spc="0" normalizeH="0" baseline="0" noProof="0" dirty="0">
              <a:ln>
                <a:noFill/>
              </a:ln>
              <a:solidFill>
                <a:srgbClr val="00B0F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538062041"/>
      </p:ext>
    </p:extLst>
  </p:cSld>
  <p:clrMapOvr>
    <a:masterClrMapping/>
  </p:clrMapOvr>
  <mc:AlternateContent xmlns:mc="http://schemas.openxmlformats.org/markup-compatibility/2006" xmlns:p14="http://schemas.microsoft.com/office/powerpoint/2010/main">
    <mc:Choice Requires="p14">
      <p:transition spd="slow" p14:dur="2000" advTm="3088"/>
    </mc:Choice>
    <mc:Fallback xmlns="">
      <p:transition spd="slow" advTm="3088"/>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矩形 4"/>
          <p:cNvSpPr/>
          <p:nvPr/>
        </p:nvSpPr>
        <p:spPr>
          <a:xfrm>
            <a:off x="2206868" y="1556239"/>
            <a:ext cx="8880232" cy="4524315"/>
          </a:xfrm>
          <a:prstGeom prst="rect">
            <a:avLst/>
          </a:prstGeom>
        </p:spPr>
        <p:txBody>
          <a:bodyPr wrap="square">
            <a:spAutoFit/>
          </a:bodyPr>
          <a:lstStyle/>
          <a:p>
            <a:pPr marL="0" marR="0" lvl="0" indent="89535" algn="just"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第四部分 流体力学实验技术</a:t>
            </a:r>
            <a:endPar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89535" algn="just"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第十四章</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实验流体力学基本理论</a:t>
            </a:r>
            <a:r>
              <a:rPr kumimoji="0" lang="zh-CN" altLang="zh-CN" sz="1800" b="0" i="0" u="none" strike="noStrike" kern="100" cap="none" spc="0" normalizeH="0" baseline="0" noProof="0" dirty="0" smtClean="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1800" b="0" i="0" u="none" strike="noStrike" kern="100" cap="none" spc="0" normalizeH="0" baseline="0" noProof="0" dirty="0" smtClean="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8</a:t>
            </a:r>
            <a:r>
              <a:rPr kumimoji="0" lang="zh-CN" altLang="zh-CN" sz="1800" b="0" i="0" u="none" strike="noStrike" kern="100" cap="none" spc="0" normalizeH="0" baseline="0" noProof="0" dirty="0" smtClean="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学时</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学科定位与研究内容</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流体运动和受力分析（</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风洞</a:t>
            </a:r>
            <a:r>
              <a:rPr kumimoji="0" lang="zh-CN" altLang="zh-CN" sz="1800" b="0" i="0" u="none" strike="noStrike" kern="100" cap="none" spc="0" normalizeH="0" baseline="0" noProof="0" dirty="0" smtClean="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与</a:t>
            </a:r>
            <a:r>
              <a:rPr kumimoji="0" lang="zh-CN" altLang="en-US" sz="1800" b="0" i="0" u="none" strike="noStrike" kern="100" cap="none" spc="0" normalizeH="0" baseline="0" noProof="0" dirty="0" smtClean="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风洞</a:t>
            </a:r>
            <a:r>
              <a:rPr kumimoji="0" lang="zh-CN" altLang="zh-CN" sz="1800" b="0" i="0" u="none" strike="noStrike" kern="100" cap="none" spc="0" normalizeH="0" baseline="0" noProof="0" dirty="0" smtClean="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实验</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0" marR="0" lvl="0" indent="89535" algn="just"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第十五章</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流动压强与剪应力测量</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smtClean="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1800" b="0" i="0" u="none" strike="noStrike" kern="100" cap="none" spc="0" normalizeH="0" baseline="0" noProof="0" dirty="0" smtClean="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6</a:t>
            </a:r>
            <a:r>
              <a:rPr kumimoji="0" lang="zh-CN" altLang="zh-CN" sz="1800" b="0" i="0" u="none" strike="noStrike" kern="100" cap="none" spc="0" normalizeH="0" baseline="0" noProof="0" dirty="0" smtClean="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学时</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流体测压技术（</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流体测速技术（</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剪应力与摩擦应力测量方法（</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0" marR="0" lvl="0" indent="89535" algn="just"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第十六章</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流动结构测量方法</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16</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学时】</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流动结构的形成与表征（</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涡量与涡模型理论（</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流动结构与流体力的关联（</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大尺度流动结构几何学特征测量（</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大尺度流动结构运动学特征测量（</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随机流动结构捕捉方法（</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p:txBody>
      </p:sp>
      <p:sp>
        <p:nvSpPr>
          <p:cNvPr id="2" name="文本框 1"/>
          <p:cNvSpPr txBox="1"/>
          <p:nvPr/>
        </p:nvSpPr>
        <p:spPr>
          <a:xfrm>
            <a:off x="8133346" y="1756148"/>
            <a:ext cx="3050469"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理论</a:t>
            </a: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400" b="1"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技术</a:t>
            </a:r>
            <a:r>
              <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400" b="1"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应用</a:t>
            </a:r>
            <a:endParaRPr kumimoji="0" lang="en-US" altLang="zh-CN" sz="2400" b="1"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遵循实用原则</a:t>
            </a:r>
            <a:endParaRPr kumimoji="0" lang="en-US" altLang="zh-CN" sz="2400" b="1"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2400" b="1" dirty="0">
              <a:solidFill>
                <a:prstClr val="black"/>
              </a:solidFill>
              <a:latin typeface="等线" panose="020F0502020204030204"/>
              <a:ea typeface="等线"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交叉性</a:t>
            </a:r>
            <a:endParaRPr kumimoji="0" lang="zh-CN" altLang="en-US" sz="24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0931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标题 1"/>
          <p:cNvSpPr txBox="1">
            <a:spLocks/>
          </p:cNvSpPr>
          <p:nvPr/>
        </p:nvSpPr>
        <p:spPr>
          <a:xfrm>
            <a:off x="721658" y="3206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第十四章 </a:t>
            </a:r>
            <a:r>
              <a:rPr kumimoji="0" lang="en-US" altLang="zh-CN"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 </a:t>
            </a: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实验</a:t>
            </a:r>
            <a:r>
              <a:rPr kumimoji="0" lang="zh-CN" altLang="en-US" sz="2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j-cs"/>
              </a:rPr>
              <a:t>流体力学</a:t>
            </a: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基本理论</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cxnSp>
        <p:nvCxnSpPr>
          <p:cNvPr id="12" name="直接连接符 11"/>
          <p:cNvCxnSpPr/>
          <p:nvPr/>
        </p:nvCxnSpPr>
        <p:spPr>
          <a:xfrm flipH="1">
            <a:off x="9180643" y="1770060"/>
            <a:ext cx="8964" cy="4892674"/>
          </a:xfrm>
          <a:prstGeom prst="line">
            <a:avLst/>
          </a:prstGeom>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1179433" y="1914679"/>
            <a:ext cx="299920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什么是实验？</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 name="文本框 18"/>
          <p:cNvSpPr txBox="1"/>
          <p:nvPr/>
        </p:nvSpPr>
        <p:spPr>
          <a:xfrm>
            <a:off x="9103483" y="1914679"/>
            <a:ext cx="299920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什么是实验研究？</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 name="文本框 20"/>
          <p:cNvSpPr txBox="1"/>
          <p:nvPr/>
        </p:nvSpPr>
        <p:spPr>
          <a:xfrm>
            <a:off x="975946" y="2568878"/>
            <a:ext cx="5140866" cy="707886"/>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20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认识事物的阶段：感性认识、理性认识</a:t>
            </a:r>
            <a:endParaRPr kumimoji="0" lang="en-US" altLang="zh-CN" sz="20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 </a:t>
            </a:r>
            <a:r>
              <a:rPr kumimoji="0" lang="zh-CN" altLang="en-US" sz="1800" b="0" i="0" u="none" strike="noStrike" kern="1200" cap="none" spc="0" normalizeH="0" baseline="0" noProof="0" dirty="0" smtClean="0">
                <a:ln>
                  <a:noFill/>
                </a:ln>
                <a:solidFill>
                  <a:srgbClr val="C00000"/>
                </a:solidFill>
                <a:effectLst/>
                <a:uLnTx/>
                <a:uFillTx/>
                <a:latin typeface="等线" panose="020F0502020204030204"/>
                <a:ea typeface="等线" panose="02010600030101010101" pitchFamily="2" charset="-122"/>
                <a:cs typeface="+mn-cs"/>
              </a:rPr>
              <a:t>观测</a:t>
            </a:r>
            <a:r>
              <a:rPr kumimoji="0" lang="zh-CN" altLang="en-US" sz="1800" b="0" i="0" u="none" strike="noStrike" kern="1200" cap="none" spc="0" normalizeH="0" baseline="0" noProof="0" dirty="0" smtClean="0">
                <a:ln>
                  <a:noFill/>
                </a:ln>
                <a:solidFill>
                  <a:srgbClr val="00B0F0"/>
                </a:solidFill>
                <a:effectLst/>
                <a:uLnTx/>
                <a:uFillTx/>
                <a:latin typeface="等线" panose="020F0502020204030204"/>
                <a:ea typeface="等线" panose="02010600030101010101" pitchFamily="2" charset="-122"/>
                <a:cs typeface="+mn-cs"/>
              </a:rPr>
              <a:t>（获得表象）、</a:t>
            </a:r>
            <a:r>
              <a:rPr kumimoji="0" lang="zh-CN" altLang="en-US" sz="1800" b="0" i="0" u="none" strike="noStrike" kern="1200" cap="none" spc="0" normalizeH="0" baseline="0" noProof="0" dirty="0" smtClean="0">
                <a:ln>
                  <a:noFill/>
                </a:ln>
                <a:solidFill>
                  <a:srgbClr val="C00000"/>
                </a:solidFill>
                <a:effectLst/>
                <a:uLnTx/>
                <a:uFillTx/>
                <a:latin typeface="等线" panose="020F0502020204030204"/>
                <a:ea typeface="等线" panose="02010600030101010101" pitchFamily="2" charset="-122"/>
                <a:cs typeface="+mn-cs"/>
              </a:rPr>
              <a:t>唯象</a:t>
            </a:r>
            <a:r>
              <a:rPr kumimoji="0" lang="zh-CN" altLang="en-US" sz="1800" b="0" i="0" u="none" strike="noStrike" kern="1200" cap="none" spc="0" normalizeH="0" baseline="0" noProof="0" dirty="0" smtClean="0">
                <a:ln>
                  <a:noFill/>
                </a:ln>
                <a:solidFill>
                  <a:srgbClr val="00B0F0"/>
                </a:solidFill>
                <a:effectLst/>
                <a:uLnTx/>
                <a:uFillTx/>
                <a:latin typeface="等线" panose="020F0502020204030204"/>
                <a:ea typeface="等线" panose="02010600030101010101" pitchFamily="2" charset="-122"/>
                <a:cs typeface="+mn-cs"/>
              </a:rPr>
              <a:t>、</a:t>
            </a:r>
            <a:r>
              <a:rPr kumimoji="0" lang="zh-CN" altLang="en-US" sz="1800" b="0" i="0" u="none" strike="noStrike" kern="1200" cap="none" spc="0" normalizeH="0" baseline="0" noProof="0" dirty="0" smtClean="0">
                <a:ln>
                  <a:noFill/>
                </a:ln>
                <a:solidFill>
                  <a:srgbClr val="C00000"/>
                </a:solidFill>
                <a:effectLst/>
                <a:uLnTx/>
                <a:uFillTx/>
                <a:latin typeface="等线" panose="020F0502020204030204"/>
                <a:ea typeface="等线" panose="02010600030101010101" pitchFamily="2" charset="-122"/>
                <a:cs typeface="+mn-cs"/>
              </a:rPr>
              <a:t>理论</a:t>
            </a:r>
            <a:r>
              <a:rPr kumimoji="0" lang="zh-CN" altLang="en-US" sz="1800" b="0" i="0" u="none" strike="noStrike" kern="1200" cap="none" spc="0" normalizeH="0" baseline="0" noProof="0" dirty="0" smtClean="0">
                <a:ln>
                  <a:noFill/>
                </a:ln>
                <a:solidFill>
                  <a:srgbClr val="00B0F0"/>
                </a:solidFill>
                <a:effectLst/>
                <a:uLnTx/>
                <a:uFillTx/>
                <a:latin typeface="等线" panose="020F0502020204030204"/>
                <a:ea typeface="等线" panose="02010600030101010101" pitchFamily="2" charset="-122"/>
                <a:cs typeface="+mn-cs"/>
              </a:rPr>
              <a:t>、抽象（纯数学）</a:t>
            </a:r>
            <a:endParaRPr kumimoji="0" lang="en-US" altLang="zh-CN" sz="2000" b="0" i="0" u="none" strike="noStrike" kern="1200" cap="none" spc="0" normalizeH="0" baseline="0" noProof="0" dirty="0">
              <a:ln>
                <a:noFill/>
              </a:ln>
              <a:solidFill>
                <a:srgbClr val="00B0F0"/>
              </a:solidFill>
              <a:effectLst/>
              <a:uLnTx/>
              <a:uFillTx/>
              <a:latin typeface="等线" panose="020F0502020204030204"/>
              <a:ea typeface="等线" panose="02010600030101010101" pitchFamily="2" charset="-122"/>
              <a:cs typeface="+mn-cs"/>
            </a:endParaRPr>
          </a:p>
        </p:txBody>
      </p:sp>
      <p:sp>
        <p:nvSpPr>
          <p:cNvPr id="17" name="文本框 16"/>
          <p:cNvSpPr txBox="1"/>
          <p:nvPr/>
        </p:nvSpPr>
        <p:spPr>
          <a:xfrm>
            <a:off x="975946" y="3482118"/>
            <a:ext cx="5140866" cy="954107"/>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20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人认识事物的凭借：</a:t>
            </a:r>
            <a:endParaRPr kumimoji="0" lang="en-US" altLang="zh-CN" sz="20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srgbClr val="00B0F0"/>
                </a:solidFill>
                <a:effectLst/>
                <a:uLnTx/>
                <a:uFillTx/>
                <a:latin typeface="等线" panose="020F0502020204030204"/>
                <a:ea typeface="等线" panose="02010600030101010101" pitchFamily="2" charset="-122"/>
                <a:cs typeface="+mn-cs"/>
              </a:rPr>
              <a:t>五感、延拓五感的人造仪器、抽象思维、数学工具</a:t>
            </a:r>
            <a:endParaRPr kumimoji="0" lang="en-US" altLang="zh-CN" sz="2000" b="0" i="0" u="none" strike="noStrike" kern="1200" cap="none" spc="0" normalizeH="0" baseline="0" noProof="0" dirty="0">
              <a:ln>
                <a:noFill/>
              </a:ln>
              <a:solidFill>
                <a:srgbClr val="00B0F0"/>
              </a:solidFill>
              <a:effectLst/>
              <a:uLnTx/>
              <a:uFillTx/>
              <a:latin typeface="等线" panose="020F0502020204030204"/>
              <a:ea typeface="等线" panose="02010600030101010101" pitchFamily="2" charset="-122"/>
              <a:cs typeface="+mn-cs"/>
            </a:endParaRPr>
          </a:p>
        </p:txBody>
      </p:sp>
      <p:sp>
        <p:nvSpPr>
          <p:cNvPr id="18" name="文本框 17"/>
          <p:cNvSpPr txBox="1"/>
          <p:nvPr/>
        </p:nvSpPr>
        <p:spPr>
          <a:xfrm>
            <a:off x="974747" y="4574172"/>
            <a:ext cx="5140866" cy="677108"/>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20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实验 </a:t>
            </a:r>
            <a:r>
              <a:rPr kumimoji="0" lang="en-US" altLang="zh-CN" sz="20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(Experiments)</a:t>
            </a:r>
            <a:r>
              <a:rPr kumimoji="0" lang="zh-CN" altLang="en-US" sz="20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a:t>
            </a:r>
            <a:endParaRPr kumimoji="0" lang="en-US" altLang="zh-CN" sz="20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srgbClr val="00B0F0"/>
                </a:solidFill>
                <a:effectLst/>
                <a:uLnTx/>
                <a:uFillTx/>
                <a:latin typeface="等线" panose="020F0502020204030204"/>
                <a:ea typeface="等线" panose="02010600030101010101" pitchFamily="2" charset="-122"/>
                <a:cs typeface="+mn-cs"/>
              </a:rPr>
              <a:t>凭借各种手段</a:t>
            </a:r>
            <a:r>
              <a:rPr lang="zh-CN" altLang="en-US" dirty="0">
                <a:solidFill>
                  <a:srgbClr val="00B0F0"/>
                </a:solidFill>
                <a:latin typeface="等线" panose="020F0502020204030204"/>
                <a:ea typeface="等线" panose="02010600030101010101" pitchFamily="2" charset="-122"/>
              </a:rPr>
              <a:t>反</a:t>
            </a:r>
            <a:r>
              <a:rPr kumimoji="0" lang="zh-CN" altLang="en-US" sz="1800" b="0" i="0" u="none" strike="noStrike" kern="1200" cap="none" spc="0" normalizeH="0" baseline="0" noProof="0" dirty="0" smtClean="0">
                <a:ln>
                  <a:noFill/>
                </a:ln>
                <a:solidFill>
                  <a:srgbClr val="00B0F0"/>
                </a:solidFill>
                <a:effectLst/>
                <a:uLnTx/>
                <a:uFillTx/>
                <a:latin typeface="等线" panose="020F0502020204030204"/>
                <a:ea typeface="等线" panose="02010600030101010101" pitchFamily="2" charset="-122"/>
                <a:cs typeface="+mn-cs"/>
              </a:rPr>
              <a:t>复认识事物的全过程</a:t>
            </a:r>
            <a:endParaRPr kumimoji="0" lang="en-US" altLang="zh-CN" sz="2000" b="0" i="0" u="none" strike="noStrike" kern="1200" cap="none" spc="0" normalizeH="0" baseline="0" noProof="0" dirty="0">
              <a:ln>
                <a:noFill/>
              </a:ln>
              <a:solidFill>
                <a:srgbClr val="00B0F0"/>
              </a:solidFill>
              <a:effectLst/>
              <a:uLnTx/>
              <a:uFillTx/>
              <a:latin typeface="等线" panose="020F0502020204030204"/>
              <a:ea typeface="等线" panose="02010600030101010101" pitchFamily="2" charset="-122"/>
              <a:cs typeface="+mn-cs"/>
            </a:endParaRPr>
          </a:p>
        </p:txBody>
      </p:sp>
      <p:sp>
        <p:nvSpPr>
          <p:cNvPr id="20" name="文本框 19"/>
          <p:cNvSpPr txBox="1"/>
          <p:nvPr/>
        </p:nvSpPr>
        <p:spPr>
          <a:xfrm>
            <a:off x="974747" y="5358449"/>
            <a:ext cx="5140866" cy="954107"/>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20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试验（</a:t>
            </a:r>
            <a:r>
              <a:rPr kumimoji="0" lang="en-US" altLang="zh-CN" sz="20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test</a:t>
            </a:r>
            <a:r>
              <a:rPr kumimoji="0" lang="zh-CN" altLang="en-US" sz="20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a:t>
            </a:r>
            <a:r>
              <a:rPr kumimoji="0" lang="en-US" altLang="zh-CN" sz="20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justify</a:t>
            </a:r>
            <a:r>
              <a:rPr kumimoji="0" lang="zh-CN" altLang="en-US" sz="20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a:t>
            </a:r>
            <a:endParaRPr kumimoji="0" lang="en-US" altLang="zh-CN" sz="20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srgbClr val="00B0F0"/>
                </a:solidFill>
                <a:effectLst/>
                <a:uLnTx/>
                <a:uFillTx/>
                <a:latin typeface="等线" panose="020F0502020204030204"/>
                <a:ea typeface="等线" panose="02010600030101010101" pitchFamily="2" charset="-122"/>
                <a:cs typeface="+mn-cs"/>
              </a:rPr>
              <a:t>带有验证或确认目的的单次或有限次数的实验</a:t>
            </a:r>
            <a:r>
              <a:rPr kumimoji="0" lang="en-US" altLang="zh-CN" sz="1800" b="0" i="0" u="none" strike="noStrike" kern="1200" cap="none" spc="0" normalizeH="0" baseline="0" noProof="0" dirty="0" smtClean="0">
                <a:ln>
                  <a:noFill/>
                </a:ln>
                <a:solidFill>
                  <a:srgbClr val="00B0F0"/>
                </a:solidFill>
                <a:effectLst/>
                <a:uLnTx/>
                <a:uFillTx/>
                <a:latin typeface="等线" panose="020F0502020204030204"/>
                <a:ea typeface="等线" panose="02010600030101010101" pitchFamily="2" charset="-122"/>
                <a:cs typeface="+mn-cs"/>
              </a:rPr>
              <a:t>,</a:t>
            </a:r>
            <a:r>
              <a:rPr kumimoji="0" lang="zh-CN" altLang="en-US" sz="1800" b="0" i="0" u="none" strike="noStrike" kern="1200" cap="none" spc="0" normalizeH="0" baseline="0" noProof="0" dirty="0" smtClean="0">
                <a:ln>
                  <a:noFill/>
                </a:ln>
                <a:solidFill>
                  <a:srgbClr val="00B0F0"/>
                </a:solidFill>
                <a:effectLst/>
                <a:uLnTx/>
                <a:uFillTx/>
                <a:latin typeface="等线" panose="020F0502020204030204"/>
                <a:ea typeface="等线" panose="02010600030101010101" pitchFamily="2" charset="-122"/>
                <a:cs typeface="+mn-cs"/>
              </a:rPr>
              <a:t>多见于工程领域、型号研制等</a:t>
            </a:r>
            <a:endParaRPr kumimoji="0" lang="en-US" altLang="zh-CN" sz="2000" b="0" i="0" u="none" strike="noStrike" kern="1200" cap="none" spc="0" normalizeH="0" baseline="0" noProof="0" dirty="0">
              <a:ln>
                <a:noFill/>
              </a:ln>
              <a:solidFill>
                <a:srgbClr val="00B0F0"/>
              </a:solidFill>
              <a:effectLst/>
              <a:uLnTx/>
              <a:uFillTx/>
              <a:latin typeface="等线" panose="020F0502020204030204"/>
              <a:ea typeface="等线" panose="02010600030101010101" pitchFamily="2" charset="-122"/>
              <a:cs typeface="+mn-cs"/>
            </a:endParaRPr>
          </a:p>
        </p:txBody>
      </p:sp>
      <p:grpSp>
        <p:nvGrpSpPr>
          <p:cNvPr id="10" name="组合 9"/>
          <p:cNvGrpSpPr/>
          <p:nvPr/>
        </p:nvGrpSpPr>
        <p:grpSpPr>
          <a:xfrm>
            <a:off x="6639121" y="1110150"/>
            <a:ext cx="2055471" cy="5744467"/>
            <a:chOff x="6639121" y="1110150"/>
            <a:chExt cx="2055471" cy="5744467"/>
          </a:xfrm>
        </p:grpSpPr>
        <p:sp>
          <p:nvSpPr>
            <p:cNvPr id="23" name="圆角矩形 22"/>
            <p:cNvSpPr/>
            <p:nvPr/>
          </p:nvSpPr>
          <p:spPr>
            <a:xfrm>
              <a:off x="6694971" y="3049421"/>
              <a:ext cx="1956707" cy="1860368"/>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圆角矩形 6"/>
            <p:cNvSpPr/>
            <p:nvPr/>
          </p:nvSpPr>
          <p:spPr>
            <a:xfrm>
              <a:off x="6639121" y="1110150"/>
              <a:ext cx="1956707" cy="1860368"/>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 name="图片 1"/>
            <p:cNvPicPr>
              <a:picLocks noChangeAspect="1"/>
            </p:cNvPicPr>
            <p:nvPr/>
          </p:nvPicPr>
          <p:blipFill>
            <a:blip r:embed="rId2"/>
            <a:stretch>
              <a:fillRect/>
            </a:stretch>
          </p:blipFill>
          <p:spPr>
            <a:xfrm>
              <a:off x="7080425" y="1483701"/>
              <a:ext cx="1136605" cy="1426907"/>
            </a:xfrm>
            <a:prstGeom prst="rect">
              <a:avLst/>
            </a:prstGeom>
          </p:spPr>
        </p:pic>
        <p:sp>
          <p:nvSpPr>
            <p:cNvPr id="3" name="文本框 2"/>
            <p:cNvSpPr txBox="1"/>
            <p:nvPr/>
          </p:nvSpPr>
          <p:spPr>
            <a:xfrm>
              <a:off x="6670373" y="1180599"/>
              <a:ext cx="1956707"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第谷，丹麦</a:t>
              </a:r>
              <a:r>
                <a:rPr kumimoji="0" lang="en-US" altLang="zh-CN" sz="1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 </a:t>
              </a:r>
              <a:r>
                <a:rPr kumimoji="0" lang="zh-CN" altLang="en-US" sz="1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天文学家</a:t>
              </a:r>
              <a:endParaRPr kumimoji="0" lang="zh-CN" altLang="en-US" sz="1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6" name="图片 5"/>
            <p:cNvPicPr>
              <a:picLocks noChangeAspect="1"/>
            </p:cNvPicPr>
            <p:nvPr/>
          </p:nvPicPr>
          <p:blipFill>
            <a:blip r:embed="rId3"/>
            <a:stretch>
              <a:fillRect/>
            </a:stretch>
          </p:blipFill>
          <p:spPr>
            <a:xfrm>
              <a:off x="6802348" y="3425489"/>
              <a:ext cx="1704289" cy="1280268"/>
            </a:xfrm>
            <a:prstGeom prst="rect">
              <a:avLst/>
            </a:prstGeom>
          </p:spPr>
        </p:pic>
        <p:sp>
          <p:nvSpPr>
            <p:cNvPr id="22" name="文本框 21"/>
            <p:cNvSpPr txBox="1"/>
            <p:nvPr/>
          </p:nvSpPr>
          <p:spPr>
            <a:xfrm>
              <a:off x="6762275" y="3117712"/>
              <a:ext cx="1932317"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开普勒，德</a:t>
              </a:r>
              <a:r>
                <a:rPr kumimoji="0" lang="en-US" altLang="zh-CN" sz="1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 </a:t>
              </a:r>
              <a:r>
                <a:rPr kumimoji="0" lang="zh-CN" altLang="en-US" sz="1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天文学家</a:t>
              </a:r>
              <a:endParaRPr kumimoji="0" lang="zh-CN" altLang="en-US" sz="1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4" name="圆角矩形 23"/>
            <p:cNvSpPr/>
            <p:nvPr/>
          </p:nvSpPr>
          <p:spPr>
            <a:xfrm>
              <a:off x="6685656" y="4994249"/>
              <a:ext cx="1956707" cy="1860368"/>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9" name="图片 8"/>
            <p:cNvPicPr>
              <a:picLocks noChangeAspect="1"/>
            </p:cNvPicPr>
            <p:nvPr/>
          </p:nvPicPr>
          <p:blipFill>
            <a:blip r:embed="rId4"/>
            <a:stretch>
              <a:fillRect/>
            </a:stretch>
          </p:blipFill>
          <p:spPr>
            <a:xfrm>
              <a:off x="6859505" y="5524484"/>
              <a:ext cx="1647131" cy="1180920"/>
            </a:xfrm>
            <a:prstGeom prst="rect">
              <a:avLst/>
            </a:prstGeom>
          </p:spPr>
        </p:pic>
        <p:sp>
          <p:nvSpPr>
            <p:cNvPr id="25" name="文本框 24"/>
            <p:cNvSpPr txBox="1"/>
            <p:nvPr/>
          </p:nvSpPr>
          <p:spPr>
            <a:xfrm>
              <a:off x="6822940" y="5093857"/>
              <a:ext cx="1810988"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牛顿，英</a:t>
              </a:r>
              <a:r>
                <a:rPr kumimoji="0" lang="en-US" altLang="zh-CN" sz="1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 </a:t>
              </a:r>
              <a:r>
                <a:rPr kumimoji="0" lang="zh-CN" altLang="en-US" sz="1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大科学家</a:t>
              </a:r>
              <a:endParaRPr kumimoji="0" lang="zh-CN" altLang="en-US" sz="1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grpSp>
      <p:sp>
        <p:nvSpPr>
          <p:cNvPr id="26" name="文本框 25"/>
          <p:cNvSpPr txBox="1"/>
          <p:nvPr/>
        </p:nvSpPr>
        <p:spPr>
          <a:xfrm>
            <a:off x="9523504" y="2455993"/>
            <a:ext cx="2192005" cy="3970318"/>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利用各种实验工具、方法、技术，对未知物理现象进行观测，做出唯象解释，形成理论的过程。</a:t>
            </a:r>
            <a:endPar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0" lang="zh-CN" altLang="en-US" sz="1800" b="0" i="0" u="none" strike="noStrike" kern="1200" cap="none" spc="0" normalizeH="0" baseline="0" noProof="0" dirty="0" smtClean="0">
                <a:ln>
                  <a:noFill/>
                </a:ln>
                <a:solidFill>
                  <a:srgbClr val="00B0F0"/>
                </a:solidFill>
                <a:effectLst/>
                <a:uLnTx/>
                <a:uFillTx/>
                <a:latin typeface="等线" panose="020F0502020204030204"/>
                <a:ea typeface="等线" panose="02010600030101010101" pitchFamily="2" charset="-122"/>
                <a:cs typeface="+mn-cs"/>
              </a:rPr>
              <a:t>价值观导向，寻找基本问题、重要问题、重大问题。</a:t>
            </a:r>
            <a:r>
              <a:rPr kumimoji="0" lang="zh-CN" altLang="en-US" sz="1800" b="0" i="0" u="none" strike="noStrike" kern="1200" cap="none" spc="0" normalizeH="0" baseline="0" noProof="0" dirty="0" smtClean="0">
                <a:ln>
                  <a:noFill/>
                </a:ln>
                <a:solidFill>
                  <a:srgbClr val="C00000"/>
                </a:solidFill>
                <a:effectLst/>
                <a:uLnTx/>
                <a:uFillTx/>
                <a:latin typeface="等线" panose="020F0502020204030204"/>
                <a:ea typeface="等线" panose="02010600030101010101" pitchFamily="2" charset="-122"/>
                <a:cs typeface="+mn-cs"/>
              </a:rPr>
              <a:t>通过研究追求美，追求真相，满足好奇心，追求为国服务都是价值观。</a:t>
            </a:r>
            <a:endParaRPr kumimoji="0" lang="en-US" altLang="zh-CN" sz="1800" b="0" i="0" u="none" strike="noStrike" kern="120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63255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ppt_x"/>
                                          </p:val>
                                        </p:tav>
                                        <p:tav tm="100000">
                                          <p:val>
                                            <p:strVal val="#ppt_x"/>
                                          </p:val>
                                        </p:tav>
                                      </p:tavLst>
                                    </p:anim>
                                    <p:anim calcmode="lin" valueType="num">
                                      <p:cBhvr additive="base">
                                        <p:cTn id="4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ppt_x"/>
                                          </p:val>
                                        </p:tav>
                                        <p:tav tm="100000">
                                          <p:val>
                                            <p:strVal val="#ppt_x"/>
                                          </p:val>
                                        </p:tav>
                                      </p:tavLst>
                                    </p:anim>
                                    <p:anim calcmode="lin" valueType="num">
                                      <p:cBhvr additive="base">
                                        <p:cTn id="5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9" grpId="0"/>
      <p:bldP spid="21" grpId="0"/>
      <p:bldP spid="17" grpId="0"/>
      <p:bldP spid="18" grpId="0"/>
      <p:bldP spid="20" grpId="0"/>
      <p:bldP spid="2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文本框 4"/>
          <p:cNvSpPr txBox="1"/>
          <p:nvPr/>
        </p:nvSpPr>
        <p:spPr>
          <a:xfrm>
            <a:off x="1574157" y="2831856"/>
            <a:ext cx="9294471"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与</a:t>
            </a:r>
            <a:r>
              <a:rPr kumimoji="0" lang="zh-CN" altLang="en-US" sz="6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力学</a:t>
            </a:r>
            <a:r>
              <a:rPr kumimoji="0" lang="zh-CN" altLang="en-US" sz="3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有关的</a:t>
            </a:r>
            <a:r>
              <a:rPr kumimoji="0" lang="zh-CN" altLang="en-US" sz="3600" b="0"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名词</a:t>
            </a:r>
            <a:r>
              <a:rPr kumimoji="0" lang="zh-CN" altLang="en-US" sz="6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6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 name="标题 1"/>
          <p:cNvSpPr txBox="1">
            <a:spLocks/>
          </p:cNvSpPr>
          <p:nvPr/>
        </p:nvSpPr>
        <p:spPr>
          <a:xfrm>
            <a:off x="838200" y="2661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1 </a:t>
            </a: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学科定位与研究内容</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23342884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882842" y="3611713"/>
            <a:ext cx="8460940" cy="387792"/>
          </a:xfrm>
          <a:prstGeom prst="rect">
            <a:avLst/>
          </a:prstGeom>
          <a:solidFill>
            <a:schemeClr val="accent2">
              <a:lumMod val="20000"/>
              <a:lumOff val="80000"/>
            </a:schemeClr>
          </a:solidFill>
          <a:effectLst>
            <a:softEdge rad="12700"/>
          </a:effectLst>
        </p:spPr>
        <p:txBody>
          <a:bodyPr wrap="square" lIns="79242" tIns="39621" rIns="79242" bIns="39621"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50" normalizeH="0" baseline="0" noProof="0" dirty="0">
              <a:ln>
                <a:noFill/>
              </a:ln>
              <a:solidFill>
                <a:srgbClr val="C00000"/>
              </a:solidFill>
              <a:effectLst/>
              <a:uLnTx/>
              <a:uFillTx/>
              <a:latin typeface="微软雅黑" pitchFamily="34" charset="-122"/>
              <a:ea typeface="微软雅黑" pitchFamily="34" charset="-122"/>
              <a:cs typeface="Times New Roman"/>
            </a:endParaRPr>
          </a:p>
        </p:txBody>
      </p:sp>
      <p:sp>
        <p:nvSpPr>
          <p:cNvPr id="6" name="文本框 2"/>
          <p:cNvSpPr txBox="1">
            <a:spLocks noChangeArrowheads="1"/>
          </p:cNvSpPr>
          <p:nvPr/>
        </p:nvSpPr>
        <p:spPr bwMode="auto">
          <a:xfrm>
            <a:off x="722805" y="2251715"/>
            <a:ext cx="3850058" cy="144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流体力学是研究流体介质的特性、状态和在各种</a:t>
            </a:r>
            <a:r>
              <a:rPr kumimoji="0" lang="zh-CN" altLang="en-US" sz="16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力的驱动</a:t>
            </a:r>
            <a:r>
              <a:rPr kumimoji="0" lang="zh-CN" altLang="en-US" sz="16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下发生的</a:t>
            </a:r>
            <a:r>
              <a:rPr kumimoji="0" lang="zh-CN" altLang="en-US" sz="16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流动</a:t>
            </a:r>
            <a:r>
              <a:rPr kumimoji="0" lang="zh-CN" altLang="en-US" sz="16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以及</a:t>
            </a:r>
            <a:r>
              <a:rPr kumimoji="0" lang="zh-CN" altLang="en-US" sz="16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质量、动量、能量输运</a:t>
            </a:r>
            <a:r>
              <a:rPr kumimoji="0" lang="zh-CN" altLang="en-US" sz="16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规律的力学分支</a:t>
            </a:r>
            <a:r>
              <a:rPr kumimoji="0" lang="zh-CN" altLang="en-US" sz="1600" b="0" i="0" u="none" strike="noStrike" kern="1200" cap="none" spc="0" normalizeH="0" baseline="0" noProof="0" dirty="0" smtClean="0">
                <a:ln>
                  <a:noFill/>
                </a:ln>
                <a:solidFill>
                  <a:srgbClr val="0070C0"/>
                </a:solidFill>
                <a:effectLst/>
                <a:uLnTx/>
                <a:uFillTx/>
                <a:latin typeface="微软雅黑" panose="020B0503020204020204" pitchFamily="34" charset="-122"/>
                <a:ea typeface="微软雅黑" panose="020B0503020204020204" pitchFamily="34" charset="-122"/>
                <a:cs typeface="+mn-cs"/>
              </a:rPr>
              <a:t>学科</a:t>
            </a:r>
            <a:endParaRPr kumimoji="0" lang="en-US" altLang="zh-CN" sz="1600" b="0" i="0" u="none" strike="noStrike" kern="1200" cap="none" spc="0" normalizeH="0" baseline="0" noProof="0" dirty="0" smtClean="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zh-CN" sz="2000" b="1" i="0" u="none" strike="noStrike" kern="1200" cap="none" spc="0" normalizeH="0" baseline="0" noProof="0" dirty="0">
              <a:ln>
                <a:noFill/>
              </a:ln>
              <a:solidFill>
                <a:srgbClr val="0000CC"/>
              </a:solidFill>
              <a:effectLst/>
              <a:uLnTx/>
              <a:uFillTx/>
              <a:latin typeface="Arial" panose="020B0604020202020204" pitchFamily="34" charset="0"/>
              <a:ea typeface="宋体"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zh-CN" sz="2000" b="1" i="0" u="none" strike="noStrike" kern="1200" cap="none" spc="0" normalizeH="0" baseline="0" noProof="0" dirty="0">
              <a:ln>
                <a:noFill/>
              </a:ln>
              <a:solidFill>
                <a:srgbClr val="0000CC"/>
              </a:solidFill>
              <a:effectLst/>
              <a:uLnTx/>
              <a:uFillTx/>
              <a:latin typeface="Arial" panose="020B0604020202020204" pitchFamily="34" charset="0"/>
              <a:ea typeface="宋体" panose="02010600030101010101" pitchFamily="2" charset="-122"/>
              <a:cs typeface="+mn-cs"/>
            </a:endParaRPr>
          </a:p>
        </p:txBody>
      </p:sp>
      <p:sp>
        <p:nvSpPr>
          <p:cNvPr id="7" name="文本框 6"/>
          <p:cNvSpPr txBox="1"/>
          <p:nvPr/>
        </p:nvSpPr>
        <p:spPr>
          <a:xfrm>
            <a:off x="5753272" y="1631493"/>
            <a:ext cx="1710190" cy="387792"/>
          </a:xfrm>
          <a:prstGeom prst="rect">
            <a:avLst/>
          </a:prstGeom>
          <a:noFill/>
          <a:effectLst>
            <a:softEdge rad="12700"/>
          </a:effectLst>
        </p:spPr>
        <p:txBody>
          <a:bodyPr wrap="square" lIns="79242" tIns="39621" rIns="79242" bIns="3962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50" normalizeH="0" baseline="0" noProof="0" dirty="0">
                <a:ln>
                  <a:noFill/>
                </a:ln>
                <a:solidFill>
                  <a:srgbClr val="C00000"/>
                </a:solidFill>
                <a:effectLst/>
                <a:uLnTx/>
                <a:uFillTx/>
                <a:latin typeface="微软雅黑" pitchFamily="34" charset="-122"/>
                <a:ea typeface="微软雅黑" pitchFamily="34" charset="-122"/>
                <a:cs typeface="Times New Roman"/>
              </a:rPr>
              <a:t>力学</a:t>
            </a:r>
          </a:p>
        </p:txBody>
      </p:sp>
      <p:sp>
        <p:nvSpPr>
          <p:cNvPr id="8" name="右大括号 7"/>
          <p:cNvSpPr/>
          <p:nvPr/>
        </p:nvSpPr>
        <p:spPr>
          <a:xfrm rot="16200000">
            <a:off x="6315835" y="936540"/>
            <a:ext cx="585065" cy="2767809"/>
          </a:xfrm>
          <a:prstGeom prst="rightBrace">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4144342" y="2621601"/>
            <a:ext cx="2160240" cy="387792"/>
          </a:xfrm>
          <a:prstGeom prst="rect">
            <a:avLst/>
          </a:prstGeom>
          <a:noFill/>
          <a:effectLst>
            <a:softEdge rad="12700"/>
          </a:effectLst>
        </p:spPr>
        <p:txBody>
          <a:bodyPr wrap="square" lIns="79242" tIns="39621" rIns="79242" bIns="3962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50" normalizeH="0" baseline="0" noProof="0" dirty="0">
                <a:ln>
                  <a:noFill/>
                </a:ln>
                <a:solidFill>
                  <a:srgbClr val="C00000"/>
                </a:solidFill>
                <a:effectLst/>
                <a:uLnTx/>
                <a:uFillTx/>
                <a:latin typeface="微软雅黑" pitchFamily="34" charset="-122"/>
                <a:ea typeface="微软雅黑" pitchFamily="34" charset="-122"/>
                <a:cs typeface="Times New Roman"/>
              </a:rPr>
              <a:t>流体力学</a:t>
            </a:r>
          </a:p>
        </p:txBody>
      </p:sp>
      <p:sp>
        <p:nvSpPr>
          <p:cNvPr id="10" name="文本框 9"/>
          <p:cNvSpPr txBox="1"/>
          <p:nvPr/>
        </p:nvSpPr>
        <p:spPr>
          <a:xfrm>
            <a:off x="7328447" y="2604970"/>
            <a:ext cx="2160240" cy="387792"/>
          </a:xfrm>
          <a:prstGeom prst="rect">
            <a:avLst/>
          </a:prstGeom>
          <a:noFill/>
          <a:effectLst>
            <a:softEdge rad="12700"/>
          </a:effectLst>
        </p:spPr>
        <p:txBody>
          <a:bodyPr wrap="square" lIns="79242" tIns="39621" rIns="79242" bIns="3962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5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Times New Roman"/>
              </a:rPr>
              <a:t>固体力学   </a:t>
            </a:r>
            <a:r>
              <a:rPr kumimoji="0" lang="en-US" altLang="zh-CN" sz="2000" b="0" i="0" u="none" strike="noStrike" kern="1200" cap="none" spc="5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Times New Roman"/>
              </a:rPr>
              <a:t>……</a:t>
            </a:r>
            <a:endParaRPr kumimoji="0" lang="zh-CN" altLang="en-US" sz="2000" b="0" i="0" u="none" strike="noStrike" kern="1200" cap="none" spc="5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Times New Roman"/>
            </a:endParaRPr>
          </a:p>
        </p:txBody>
      </p:sp>
      <p:sp>
        <p:nvSpPr>
          <p:cNvPr id="11" name="右大括号 10"/>
          <p:cNvSpPr/>
          <p:nvPr/>
        </p:nvSpPr>
        <p:spPr>
          <a:xfrm rot="16200000">
            <a:off x="4976061" y="67198"/>
            <a:ext cx="585065" cy="6492932"/>
          </a:xfrm>
          <a:prstGeom prst="rightBrace">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 name="文本框 11"/>
          <p:cNvSpPr txBox="1"/>
          <p:nvPr/>
        </p:nvSpPr>
        <p:spPr>
          <a:xfrm>
            <a:off x="2005710" y="3650061"/>
            <a:ext cx="1962000" cy="387792"/>
          </a:xfrm>
          <a:prstGeom prst="rect">
            <a:avLst/>
          </a:prstGeom>
          <a:noFill/>
          <a:effectLst>
            <a:softEdge rad="12700"/>
          </a:effectLst>
        </p:spPr>
        <p:txBody>
          <a:bodyPr wrap="square" lIns="79242" tIns="39621" rIns="79242" bIns="39621"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50" normalizeH="0" baseline="0" noProof="0" dirty="0">
                <a:ln>
                  <a:noFill/>
                </a:ln>
                <a:solidFill>
                  <a:prstClr val="black"/>
                </a:solidFill>
                <a:effectLst/>
                <a:uLnTx/>
                <a:uFillTx/>
                <a:latin typeface="微软雅黑" pitchFamily="34" charset="-122"/>
                <a:ea typeface="微软雅黑" pitchFamily="34" charset="-122"/>
                <a:cs typeface="Times New Roman"/>
              </a:rPr>
              <a:t>空气动力学</a:t>
            </a:r>
          </a:p>
        </p:txBody>
      </p:sp>
      <p:sp>
        <p:nvSpPr>
          <p:cNvPr id="13" name="文本框 12"/>
          <p:cNvSpPr txBox="1"/>
          <p:nvPr/>
        </p:nvSpPr>
        <p:spPr>
          <a:xfrm>
            <a:off x="4358284" y="3635817"/>
            <a:ext cx="1766445" cy="387792"/>
          </a:xfrm>
          <a:prstGeom prst="rect">
            <a:avLst/>
          </a:prstGeom>
          <a:noFill/>
          <a:effectLst>
            <a:softEdge rad="12700"/>
          </a:effectLst>
        </p:spPr>
        <p:txBody>
          <a:bodyPr wrap="square" lIns="79242" tIns="39621" rIns="79242" bIns="39621"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50" normalizeH="0" baseline="0" noProof="0" dirty="0">
                <a:ln>
                  <a:noFill/>
                </a:ln>
                <a:solidFill>
                  <a:srgbClr val="C00000"/>
                </a:solidFill>
                <a:effectLst/>
                <a:uLnTx/>
                <a:uFillTx/>
                <a:latin typeface="微软雅黑" pitchFamily="34" charset="-122"/>
                <a:ea typeface="微软雅黑" pitchFamily="34" charset="-122"/>
                <a:cs typeface="Times New Roman"/>
              </a:rPr>
              <a:t>实验流体力学</a:t>
            </a:r>
          </a:p>
        </p:txBody>
      </p:sp>
      <p:sp>
        <p:nvSpPr>
          <p:cNvPr id="14" name="文本框 13"/>
          <p:cNvSpPr txBox="1"/>
          <p:nvPr/>
        </p:nvSpPr>
        <p:spPr>
          <a:xfrm>
            <a:off x="6515301" y="3633850"/>
            <a:ext cx="1935216" cy="387792"/>
          </a:xfrm>
          <a:prstGeom prst="rect">
            <a:avLst/>
          </a:prstGeom>
          <a:noFill/>
          <a:effectLst>
            <a:softEdge rad="12700"/>
          </a:effectLst>
        </p:spPr>
        <p:txBody>
          <a:bodyPr wrap="square" lIns="79242" tIns="39621" rIns="79242" bIns="39621"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50" normalizeH="0" baseline="0" noProof="0" dirty="0">
                <a:ln>
                  <a:noFill/>
                </a:ln>
                <a:solidFill>
                  <a:prstClr val="black"/>
                </a:solidFill>
                <a:effectLst/>
                <a:uLnTx/>
                <a:uFillTx/>
                <a:latin typeface="微软雅黑" pitchFamily="34" charset="-122"/>
                <a:ea typeface="微软雅黑" pitchFamily="34" charset="-122"/>
                <a:cs typeface="Times New Roman"/>
              </a:rPr>
              <a:t>计算流体力学</a:t>
            </a:r>
          </a:p>
        </p:txBody>
      </p:sp>
      <p:sp>
        <p:nvSpPr>
          <p:cNvPr id="15" name="文本框 14"/>
          <p:cNvSpPr txBox="1"/>
          <p:nvPr/>
        </p:nvSpPr>
        <p:spPr>
          <a:xfrm>
            <a:off x="8610949" y="3625638"/>
            <a:ext cx="2566088" cy="387792"/>
          </a:xfrm>
          <a:prstGeom prst="rect">
            <a:avLst/>
          </a:prstGeom>
          <a:noFill/>
          <a:effectLst>
            <a:softEdge rad="12700"/>
          </a:effectLst>
        </p:spPr>
        <p:txBody>
          <a:bodyPr wrap="square" lIns="79242" tIns="39621" rIns="79242" bIns="39621"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50" normalizeH="0" baseline="0" noProof="0" dirty="0">
                <a:ln>
                  <a:noFill/>
                </a:ln>
                <a:solidFill>
                  <a:prstClr val="black"/>
                </a:solidFill>
                <a:effectLst/>
                <a:uLnTx/>
                <a:uFillTx/>
                <a:latin typeface="微软雅黑" pitchFamily="34" charset="-122"/>
                <a:ea typeface="微软雅黑" pitchFamily="34" charset="-122"/>
                <a:cs typeface="Times New Roman"/>
              </a:rPr>
              <a:t>粘性流体</a:t>
            </a:r>
            <a:r>
              <a:rPr kumimoji="0" lang="zh-CN" altLang="en-US" sz="2000" b="0" i="0" u="none" strike="noStrike" kern="1200" cap="none" spc="50" normalizeH="0" baseline="0" noProof="0" dirty="0" smtClean="0">
                <a:ln>
                  <a:noFill/>
                </a:ln>
                <a:solidFill>
                  <a:prstClr val="black"/>
                </a:solidFill>
                <a:effectLst/>
                <a:uLnTx/>
                <a:uFillTx/>
                <a:latin typeface="微软雅黑" pitchFamily="34" charset="-122"/>
                <a:ea typeface="微软雅黑" pitchFamily="34" charset="-122"/>
                <a:cs typeface="Times New Roman"/>
              </a:rPr>
              <a:t>力学 </a:t>
            </a:r>
            <a:r>
              <a:rPr kumimoji="0" lang="en-US" altLang="zh-CN" sz="2000" b="0" i="0" u="none" strike="noStrike" kern="1200" cap="none" spc="50" normalizeH="0" baseline="0" noProof="0" dirty="0" smtClean="0">
                <a:ln>
                  <a:noFill/>
                </a:ln>
                <a:solidFill>
                  <a:srgbClr val="0000CC"/>
                </a:solidFill>
                <a:effectLst/>
                <a:uLnTx/>
                <a:uFillTx/>
                <a:latin typeface="微软雅黑" pitchFamily="34" charset="-122"/>
                <a:ea typeface="微软雅黑" pitchFamily="34" charset="-122"/>
                <a:cs typeface="Times New Roman"/>
              </a:rPr>
              <a:t>……</a:t>
            </a:r>
            <a:endParaRPr kumimoji="0" lang="zh-CN" altLang="en-US" sz="2000" b="0" i="0" u="none" strike="noStrike" kern="1200" cap="none" spc="50" normalizeH="0" baseline="0" noProof="0" dirty="0">
              <a:ln>
                <a:noFill/>
              </a:ln>
              <a:solidFill>
                <a:srgbClr val="0000CC"/>
              </a:solidFill>
              <a:effectLst/>
              <a:uLnTx/>
              <a:uFillTx/>
              <a:latin typeface="微软雅黑" pitchFamily="34" charset="-122"/>
              <a:ea typeface="微软雅黑" pitchFamily="34" charset="-122"/>
              <a:cs typeface="Times New Roman"/>
            </a:endParaRPr>
          </a:p>
        </p:txBody>
      </p:sp>
      <p:sp>
        <p:nvSpPr>
          <p:cNvPr id="16" name="文本框 15"/>
          <p:cNvSpPr txBox="1"/>
          <p:nvPr/>
        </p:nvSpPr>
        <p:spPr>
          <a:xfrm>
            <a:off x="1882842" y="4301236"/>
            <a:ext cx="8460940" cy="387792"/>
          </a:xfrm>
          <a:prstGeom prst="rect">
            <a:avLst/>
          </a:prstGeom>
          <a:noFill/>
          <a:effectLst>
            <a:softEdge rad="12700"/>
          </a:effectLst>
        </p:spPr>
        <p:txBody>
          <a:bodyPr wrap="square" lIns="79242" tIns="39621" rIns="79242" bIns="39621"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50" normalizeH="0" baseline="0" noProof="0" dirty="0">
                <a:ln>
                  <a:noFill/>
                </a:ln>
                <a:solidFill>
                  <a:prstClr val="black"/>
                </a:solidFill>
                <a:effectLst/>
                <a:uLnTx/>
                <a:uFillTx/>
                <a:latin typeface="微软雅黑" pitchFamily="34" charset="-122"/>
                <a:ea typeface="微软雅黑" pitchFamily="34" charset="-122"/>
                <a:cs typeface="Times New Roman"/>
              </a:rPr>
              <a:t>不可压缩（低速）、可压缩（高速）、边界层、绕流、湍流、流固耦合</a:t>
            </a:r>
            <a:r>
              <a:rPr kumimoji="0" lang="en-US" altLang="zh-CN" sz="2000" b="0" i="0" u="none" strike="noStrike" kern="1200" cap="none" spc="50" normalizeH="0" baseline="0" noProof="0" dirty="0">
                <a:ln>
                  <a:noFill/>
                </a:ln>
                <a:solidFill>
                  <a:prstClr val="black"/>
                </a:solidFill>
                <a:effectLst/>
                <a:uLnTx/>
                <a:uFillTx/>
                <a:latin typeface="微软雅黑" pitchFamily="34" charset="-122"/>
                <a:ea typeface="微软雅黑" pitchFamily="34" charset="-122"/>
                <a:cs typeface="Times New Roman"/>
              </a:rPr>
              <a:t>…</a:t>
            </a:r>
            <a:endParaRPr kumimoji="0" lang="zh-CN" altLang="en-US" sz="2000" b="0" i="0" u="none" strike="noStrike" kern="1200" cap="none" spc="50" normalizeH="0" baseline="0" noProof="0" dirty="0">
              <a:ln>
                <a:noFill/>
              </a:ln>
              <a:solidFill>
                <a:prstClr val="black"/>
              </a:solidFill>
              <a:effectLst/>
              <a:uLnTx/>
              <a:uFillTx/>
              <a:latin typeface="微软雅黑" pitchFamily="34" charset="-122"/>
              <a:ea typeface="微软雅黑" pitchFamily="34" charset="-122"/>
              <a:cs typeface="Times New Roman"/>
            </a:endParaRPr>
          </a:p>
        </p:txBody>
      </p:sp>
      <p:sp>
        <p:nvSpPr>
          <p:cNvPr id="18" name="矩形 17"/>
          <p:cNvSpPr/>
          <p:nvPr/>
        </p:nvSpPr>
        <p:spPr>
          <a:xfrm>
            <a:off x="7328447" y="1678322"/>
            <a:ext cx="3206327" cy="369332"/>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800" b="1" i="0" u="none" strike="noStrike" kern="1200" cap="none" spc="0" normalizeH="0" baseline="0" noProof="0" dirty="0">
                <a:ln>
                  <a:noFill/>
                </a:ln>
                <a:solidFill>
                  <a:prstClr val="black"/>
                </a:solidFill>
                <a:effectLst/>
                <a:uLnTx/>
                <a:uFillTx/>
                <a:latin typeface="黑体" pitchFamily="2" charset="-122"/>
                <a:ea typeface="黑体" pitchFamily="2" charset="-122"/>
                <a:cs typeface="+mn-cs"/>
              </a:rPr>
              <a:t>关于力、运动及其关系的科学</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20" name="图片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79549" y="5581865"/>
            <a:ext cx="1448948" cy="938918"/>
          </a:xfrm>
          <a:prstGeom prst="rect">
            <a:avLst/>
          </a:prstGeom>
        </p:spPr>
      </p:pic>
      <p:sp>
        <p:nvSpPr>
          <p:cNvPr id="2" name="灯片编号占位符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D8DD02-547D-47A5-AAEA-525C7BEEAE57}"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3" name="矩形 2"/>
          <p:cNvSpPr/>
          <p:nvPr/>
        </p:nvSpPr>
        <p:spPr>
          <a:xfrm>
            <a:off x="1964851" y="5045778"/>
            <a:ext cx="7757746" cy="1200329"/>
          </a:xfrm>
          <a:prstGeom prst="rect">
            <a:avLst/>
          </a:prstGeom>
          <a:effectLst/>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实验流体力学：</a:t>
            </a:r>
            <a:r>
              <a:rPr kumimoji="0" lang="en-US" altLang="zh-CN" sz="1800" b="0"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1</a:t>
            </a:r>
            <a:r>
              <a:rPr kumimoji="0" lang="zh-CN" altLang="en-US" sz="1800" b="0"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）利用实验手段研究流体介质的特性、状态和在各种力的驱动下发生的流动以及质量、动量、能量输运规律的力学分支学科（</a:t>
            </a:r>
            <a:r>
              <a:rPr kumimoji="0" lang="zh-CN" altLang="en-US" sz="1800" b="0"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n-cs"/>
              </a:rPr>
              <a:t>手段）</a:t>
            </a:r>
            <a:r>
              <a:rPr kumimoji="0" lang="zh-CN" altLang="en-US" sz="1800" b="0"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n-cs"/>
              </a:rPr>
              <a:t>2</a:t>
            </a:r>
            <a:r>
              <a:rPr kumimoji="0" lang="zh-CN" altLang="en-US" sz="1800" b="0"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n-cs"/>
              </a:rPr>
              <a:t>）研究与流体相互作用的物体的动力学</a:t>
            </a:r>
            <a:r>
              <a:rPr kumimoji="0" lang="zh-CN" altLang="en-US" sz="1800" b="0"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（理论）</a:t>
            </a:r>
            <a:r>
              <a:rPr kumimoji="0" lang="zh-CN" altLang="en-US" sz="1800" b="0"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n-cs"/>
              </a:rPr>
              <a:t>3</a:t>
            </a:r>
            <a:r>
              <a:rPr kumimoji="0" lang="zh-CN" altLang="en-US" sz="1800" b="0"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rPr>
              <a:t>运用多种学科的前沿技术</a:t>
            </a:r>
            <a:r>
              <a:rPr kumimoji="0" lang="zh-CN" altLang="en-US" sz="1800" b="0"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n-cs"/>
              </a:rPr>
              <a:t>，发展</a:t>
            </a:r>
            <a:r>
              <a:rPr kumimoji="0" lang="zh-CN" altLang="en-US" sz="1800" b="0"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rPr>
              <a:t>流体力学测量</a:t>
            </a:r>
            <a:r>
              <a:rPr kumimoji="0" lang="zh-CN" altLang="en-US" sz="1800" b="0"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n-cs"/>
              </a:rPr>
              <a:t>技术</a:t>
            </a:r>
            <a:r>
              <a:rPr kumimoji="0" lang="zh-CN" altLang="en-US" sz="1800" b="0"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（技术）</a:t>
            </a:r>
            <a:r>
              <a:rPr kumimoji="0" lang="zh-CN" altLang="en-US" sz="1800" b="0"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n-cs"/>
              </a:rPr>
              <a:t>。</a:t>
            </a:r>
            <a:endParaRPr kumimoji="0" lang="en-US" altLang="zh-CN" sz="1800" b="0"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endParaRPr>
          </a:p>
        </p:txBody>
      </p:sp>
      <p:sp>
        <p:nvSpPr>
          <p:cNvPr id="19" name="标题 1"/>
          <p:cNvSpPr txBox="1">
            <a:spLocks/>
          </p:cNvSpPr>
          <p:nvPr/>
        </p:nvSpPr>
        <p:spPr>
          <a:xfrm>
            <a:off x="838200" y="2661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1 </a:t>
            </a: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学科定位与研究内容</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1511162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8" grpId="0"/>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标题 1"/>
          <p:cNvSpPr txBox="1">
            <a:spLocks/>
          </p:cNvSpPr>
          <p:nvPr/>
        </p:nvSpPr>
        <p:spPr>
          <a:xfrm>
            <a:off x="721658" y="3206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2 </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流体</a:t>
            </a: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运动和受力分析</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pic>
        <p:nvPicPr>
          <p:cNvPr id="3074" name="Picture 2" descr="https://img1.baidu.com/it/u=169863673,164459497&amp;fm=253&amp;fmt=auto&amp;app=138&amp;f=GIF?w=484&amp;h=49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78722" y="2858878"/>
            <a:ext cx="1108075" cy="1142416"/>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接连接符 7"/>
          <p:cNvCxnSpPr/>
          <p:nvPr/>
        </p:nvCxnSpPr>
        <p:spPr>
          <a:xfrm flipV="1">
            <a:off x="1120588" y="2366682"/>
            <a:ext cx="10730753" cy="448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3334871" y="1646238"/>
            <a:ext cx="8964" cy="48926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7828878" y="1554957"/>
            <a:ext cx="8964" cy="4892674"/>
          </a:xfrm>
          <a:prstGeom prst="line">
            <a:avLst/>
          </a:prstGeom>
        </p:spPr>
        <p:style>
          <a:lnRef idx="1">
            <a:schemeClr val="accent1"/>
          </a:lnRef>
          <a:fillRef idx="0">
            <a:schemeClr val="accent1"/>
          </a:fillRef>
          <a:effectRef idx="0">
            <a:schemeClr val="accent1"/>
          </a:effectRef>
          <a:fontRef idx="minor">
            <a:schemeClr val="tx1"/>
          </a:fontRef>
        </p:style>
      </p:cxnSp>
      <p:pic>
        <p:nvPicPr>
          <p:cNvPr id="3076" name="Picture 4" descr="https://gimg2.baidu.com/image_search/src=http%3A%2F%2Fx0.ifengimg.com%2Fres%2F2021%2FBB8BFB4100BE04F0A99FCB08BA3B85CB2630477A_size1047_w5714_h2857.jpeg&amp;refer=http%3A%2F%2Fx0.ifengimg.com&amp;app=2002&amp;size=f9999,10000&amp;q=a80&amp;n=0&amp;g=0n&amp;fmt=auto?sec=1669774219&amp;t=498b34c0d4989ab4f47f351752b6056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65742" y="4934362"/>
            <a:ext cx="1749235" cy="874618"/>
          </a:xfrm>
          <a:prstGeom prst="rect">
            <a:avLst/>
          </a:prstGeom>
          <a:noFill/>
          <a:extLst>
            <a:ext uri="{909E8E84-426E-40DD-AFC4-6F175D3DCCD1}">
              <a14:hiddenFill xmlns:a14="http://schemas.microsoft.com/office/drawing/2010/main">
                <a:solidFill>
                  <a:srgbClr val="FFFFFF"/>
                </a:solidFill>
              </a14:hiddenFill>
            </a:ext>
          </a:extLst>
        </p:spPr>
      </p:pic>
      <p:sp>
        <p:nvSpPr>
          <p:cNvPr id="11" name="十字形 10"/>
          <p:cNvSpPr/>
          <p:nvPr/>
        </p:nvSpPr>
        <p:spPr>
          <a:xfrm>
            <a:off x="1909823" y="4282633"/>
            <a:ext cx="381964" cy="370390"/>
          </a:xfrm>
          <a:prstGeom prst="plus">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3" name="文本框 12"/>
          <p:cNvSpPr txBox="1"/>
          <p:nvPr/>
        </p:nvSpPr>
        <p:spPr>
          <a:xfrm>
            <a:off x="3508700" y="3309362"/>
            <a:ext cx="4155312"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流动：丰富的状态、结构</a:t>
            </a:r>
            <a:endParaRPr kumimoji="0" lang="en-US" altLang="zh-CN" sz="2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物体：运动、变形</a:t>
            </a:r>
            <a:endParaRPr kumimoji="0" lang="zh-CN" altLang="en-US"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 name="上下箭头 13"/>
          <p:cNvSpPr/>
          <p:nvPr/>
        </p:nvSpPr>
        <p:spPr>
          <a:xfrm>
            <a:off x="3663729" y="4113852"/>
            <a:ext cx="328180" cy="701216"/>
          </a:xfrm>
          <a:prstGeom prst="up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5" name="矩形 14"/>
          <p:cNvSpPr/>
          <p:nvPr/>
        </p:nvSpPr>
        <p:spPr>
          <a:xfrm>
            <a:off x="4301054" y="4278858"/>
            <a:ext cx="441146"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力</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3991909" y="1821794"/>
            <a:ext cx="299920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物理描述</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 name="文本框 18"/>
          <p:cNvSpPr txBox="1"/>
          <p:nvPr/>
        </p:nvSpPr>
        <p:spPr>
          <a:xfrm>
            <a:off x="8476952" y="1744850"/>
            <a:ext cx="299920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理论</a:t>
            </a: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描述</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 name="文本框 20"/>
          <p:cNvSpPr txBox="1"/>
          <p:nvPr/>
        </p:nvSpPr>
        <p:spPr>
          <a:xfrm>
            <a:off x="8002708" y="3270954"/>
            <a:ext cx="4155312"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层流、湍流、涡、波</a:t>
            </a:r>
            <a:endParaRPr kumimoji="0" lang="en-US" altLang="zh-CN" sz="2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smtClean="0">
                <a:ln>
                  <a:noFill/>
                </a:ln>
                <a:solidFill>
                  <a:srgbClr val="00B0F0"/>
                </a:solidFill>
                <a:effectLst/>
                <a:uLnTx/>
                <a:uFillTx/>
                <a:latin typeface="等线" panose="020F0502020204030204"/>
                <a:ea typeface="等线" panose="02010600030101010101" pitchFamily="2" charset="-122"/>
                <a:cs typeface="+mn-cs"/>
              </a:rPr>
              <a:t>流体压强、剪切力、物体受到的气动力、重力及其它场力</a:t>
            </a:r>
            <a:endParaRPr kumimoji="0" lang="en-US" altLang="zh-CN" sz="2400" b="0" i="0" u="none" strike="noStrike" kern="1200" cap="none" spc="0" normalizeH="0" baseline="0" noProof="0" dirty="0" smtClean="0">
              <a:ln>
                <a:noFill/>
              </a:ln>
              <a:solidFill>
                <a:srgbClr val="00B0F0"/>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平动、转动、振动、弹性变形</a:t>
            </a:r>
            <a:endParaRPr kumimoji="0" lang="zh-CN" altLang="en-US"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8" name="文本框 17"/>
          <p:cNvSpPr txBox="1"/>
          <p:nvPr/>
        </p:nvSpPr>
        <p:spPr>
          <a:xfrm>
            <a:off x="601205" y="1767346"/>
            <a:ext cx="299920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以汽车为例</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183681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ppt_x"/>
                                          </p:val>
                                        </p:tav>
                                        <p:tav tm="100000">
                                          <p:val>
                                            <p:strVal val="#ppt_x"/>
                                          </p:val>
                                        </p:tav>
                                      </p:tavLst>
                                    </p:anim>
                                    <p:anim calcmode="lin" valueType="num">
                                      <p:cBhvr additive="base">
                                        <p:cTn id="36" dur="500" fill="hold"/>
                                        <p:tgtEl>
                                          <p:spTgt spid="16"/>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 calcmode="lin" valueType="num">
                                      <p:cBhvr additive="base">
                                        <p:cTn id="39" dur="500" fill="hold"/>
                                        <p:tgtEl>
                                          <p:spTgt spid="19"/>
                                        </p:tgtEl>
                                        <p:attrNameLst>
                                          <p:attrName>ppt_x</p:attrName>
                                        </p:attrNameLst>
                                      </p:cBhvr>
                                      <p:tavLst>
                                        <p:tav tm="0">
                                          <p:val>
                                            <p:strVal val="#ppt_x"/>
                                          </p:val>
                                        </p:tav>
                                        <p:tav tm="100000">
                                          <p:val>
                                            <p:strVal val="#ppt_x"/>
                                          </p:val>
                                        </p:tav>
                                      </p:tavLst>
                                    </p:anim>
                                    <p:anim calcmode="lin" valueType="num">
                                      <p:cBhvr additive="base">
                                        <p:cTn id="40" dur="500" fill="hold"/>
                                        <p:tgtEl>
                                          <p:spTgt spid="1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additive="base">
                                        <p:cTn id="43" dur="500" fill="hold"/>
                                        <p:tgtEl>
                                          <p:spTgt spid="21"/>
                                        </p:tgtEl>
                                        <p:attrNameLst>
                                          <p:attrName>ppt_x</p:attrName>
                                        </p:attrNameLst>
                                      </p:cBhvr>
                                      <p:tavLst>
                                        <p:tav tm="0">
                                          <p:val>
                                            <p:strVal val="#ppt_x"/>
                                          </p:val>
                                        </p:tav>
                                        <p:tav tm="100000">
                                          <p:val>
                                            <p:strVal val="#ppt_x"/>
                                          </p:val>
                                        </p:tav>
                                      </p:tavLst>
                                    </p:anim>
                                    <p:anim calcmode="lin" valueType="num">
                                      <p:cBhvr additive="base">
                                        <p:cTn id="44" dur="500" fill="hold"/>
                                        <p:tgtEl>
                                          <p:spTgt spid="2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500" fill="hold"/>
                                        <p:tgtEl>
                                          <p:spTgt spid="18"/>
                                        </p:tgtEl>
                                        <p:attrNameLst>
                                          <p:attrName>ppt_x</p:attrName>
                                        </p:attrNameLst>
                                      </p:cBhvr>
                                      <p:tavLst>
                                        <p:tav tm="0">
                                          <p:val>
                                            <p:strVal val="#ppt_x"/>
                                          </p:val>
                                        </p:tav>
                                        <p:tav tm="100000">
                                          <p:val>
                                            <p:strVal val="#ppt_x"/>
                                          </p:val>
                                        </p:tav>
                                      </p:tavLst>
                                    </p:anim>
                                    <p:anim calcmode="lin" valueType="num">
                                      <p:cBhvr additive="base">
                                        <p:cTn id="4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14" grpId="0" animBg="1"/>
      <p:bldP spid="15" grpId="0"/>
      <p:bldP spid="16" grpId="0"/>
      <p:bldP spid="19" grpId="0"/>
      <p:bldP spid="21"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标题 1"/>
          <p:cNvSpPr txBox="1">
            <a:spLocks/>
          </p:cNvSpPr>
          <p:nvPr/>
        </p:nvSpPr>
        <p:spPr>
          <a:xfrm>
            <a:off x="954612" y="95520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marR="0" lvl="0" indent="-342900" algn="l" defTabSz="914400" rtl="0" eaLnBrk="1" fontAlgn="auto" latinLnBrk="0" hangingPunct="1">
              <a:lnSpc>
                <a:spcPct val="90000"/>
              </a:lnSpc>
              <a:spcBef>
                <a:spcPct val="0"/>
              </a:spcBef>
              <a:spcAft>
                <a:spcPts val="0"/>
              </a:spcAft>
              <a:buClrTx/>
              <a:buSzTx/>
              <a:buFont typeface="Wingdings" panose="05000000000000000000" pitchFamily="2" charset="2"/>
              <a:buChar char="n"/>
              <a:tabLst/>
              <a:defRPr/>
            </a:pPr>
            <a:r>
              <a:rPr kumimoji="0" lang="zh-CN" altLang="en-US" sz="2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欧拉</a:t>
            </a:r>
            <a:r>
              <a:rPr kumimoji="0" lang="en-US" altLang="zh-CN" sz="2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a:t>
            </a:r>
            <a:r>
              <a:rPr kumimoji="0" lang="zh-CN" altLang="en-US" sz="2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柯西应力原理</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cxnSp>
        <p:nvCxnSpPr>
          <p:cNvPr id="8" name="直接连接符 7"/>
          <p:cNvCxnSpPr/>
          <p:nvPr/>
        </p:nvCxnSpPr>
        <p:spPr>
          <a:xfrm flipV="1">
            <a:off x="1120588" y="2366682"/>
            <a:ext cx="10730753" cy="44824"/>
          </a:xfrm>
          <a:prstGeom prst="line">
            <a:avLst/>
          </a:prstGeom>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954611" y="1904924"/>
            <a:ext cx="1028264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2060"/>
                </a:solidFill>
                <a:effectLst/>
                <a:uLnTx/>
                <a:uFillTx/>
                <a:latin typeface="华文仿宋" panose="02010600040101010101" pitchFamily="2" charset="-122"/>
                <a:ea typeface="华文仿宋" panose="02010600040101010101" pitchFamily="2" charset="-122"/>
                <a:cs typeface="+mn-cs"/>
              </a:rPr>
              <a:t>流体内任意封闭曲面分成的两部分流体之间的相互作用可以等效为一个力场。</a:t>
            </a:r>
          </a:p>
        </p:txBody>
      </p:sp>
      <p:sp>
        <p:nvSpPr>
          <p:cNvPr id="21" name="文本框 20"/>
          <p:cNvSpPr txBox="1"/>
          <p:nvPr/>
        </p:nvSpPr>
        <p:spPr>
          <a:xfrm>
            <a:off x="8610600" y="2640996"/>
            <a:ext cx="3052665" cy="36933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华文仿宋" panose="02010600040101010101" pitchFamily="2" charset="-122"/>
                <a:ea typeface="华文仿宋" panose="02010600040101010101" pitchFamily="2" charset="-122"/>
                <a:cs typeface="+mn-cs"/>
              </a:rPr>
              <a:t>注意：原理在流体与物体接触面也适用</a:t>
            </a:r>
            <a:endParaRPr kumimoji="0" lang="en-US" altLang="zh-CN" sz="1800" b="0" i="0" u="none" strike="noStrike" kern="1200" cap="none" spc="0" normalizeH="0" baseline="0" noProof="0" dirty="0" smtClean="0">
              <a:ln>
                <a:noFill/>
              </a:ln>
              <a:solidFill>
                <a:prstClr val="black"/>
              </a:solidFill>
              <a:effectLst/>
              <a:uLnTx/>
              <a:uFillTx/>
              <a:latin typeface="华文仿宋" panose="02010600040101010101" pitchFamily="2" charset="-122"/>
              <a:ea typeface="华文仿宋" panose="0201060004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依据这个原理，可以利用微元体的假设，对正六面体表面上流体之间的作用用法向力和切向力描述。然后就顺利成章地可以用牛顿定律，对微元体建立动量守恒的方程了。</a:t>
            </a:r>
            <a:endPar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也</a:t>
            </a: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可建立连续性方程和能量方程。</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14" name="图片 13"/>
          <p:cNvPicPr>
            <a:picLocks noChangeAspect="1"/>
          </p:cNvPicPr>
          <p:nvPr/>
        </p:nvPicPr>
        <p:blipFill>
          <a:blip r:embed="rId2"/>
          <a:stretch>
            <a:fillRect/>
          </a:stretch>
        </p:blipFill>
        <p:spPr>
          <a:xfrm>
            <a:off x="448047" y="2913224"/>
            <a:ext cx="3415799" cy="2259683"/>
          </a:xfrm>
          <a:prstGeom prst="rect">
            <a:avLst/>
          </a:prstGeom>
        </p:spPr>
      </p:pic>
      <p:pic>
        <p:nvPicPr>
          <p:cNvPr id="15" name="内容占位符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3521" y="2504723"/>
            <a:ext cx="4027793" cy="2496566"/>
          </a:xfrm>
          <a:prstGeom prst="rect">
            <a:avLst/>
          </a:prstGeom>
        </p:spPr>
      </p:pic>
      <p:sp>
        <p:nvSpPr>
          <p:cNvPr id="2" name="文本框 1"/>
          <p:cNvSpPr txBox="1"/>
          <p:nvPr/>
        </p:nvSpPr>
        <p:spPr>
          <a:xfrm>
            <a:off x="1120588" y="5396742"/>
            <a:ext cx="395617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The 2</a:t>
            </a:r>
            <a:r>
              <a:rPr kumimoji="0" lang="en-US" altLang="zh-CN" sz="1800" b="1" i="0" u="none" strike="noStrike" kern="1200" cap="none" spc="0" normalizeH="0" baseline="30000" noProof="0" dirty="0" smtClean="0">
                <a:ln>
                  <a:noFill/>
                </a:ln>
                <a:solidFill>
                  <a:prstClr val="black"/>
                </a:solidFill>
                <a:effectLst/>
                <a:uLnTx/>
                <a:uFillTx/>
                <a:latin typeface="等线" panose="020F0502020204030204"/>
                <a:ea typeface="等线" panose="02010600030101010101" pitchFamily="2" charset="-122"/>
                <a:cs typeface="+mn-cs"/>
              </a:rPr>
              <a:t>nd</a:t>
            </a:r>
            <a:r>
              <a:rPr kumimoji="0" lang="en-US" altLang="zh-CN" sz="1800" b="1"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 Newton’s law   </a:t>
            </a:r>
            <a:r>
              <a:rPr kumimoji="0" lang="en-US" altLang="zh-CN" sz="1800" b="1" i="1"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F </a:t>
            </a:r>
            <a:r>
              <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 </a:t>
            </a:r>
            <a:r>
              <a:rPr kumimoji="0" lang="en-US" altLang="zh-CN" sz="1800" b="0" i="0" u="none" strike="noStrike" kern="1200" cap="none" spc="0" normalizeH="0" baseline="0" noProof="0" dirty="0" err="1" smtClean="0">
                <a:ln>
                  <a:noFill/>
                </a:ln>
                <a:solidFill>
                  <a:prstClr val="black"/>
                </a:solidFill>
                <a:effectLst/>
                <a:uLnTx/>
                <a:uFillTx/>
                <a:latin typeface="等线" panose="020F0502020204030204"/>
                <a:ea typeface="等线" panose="02010600030101010101" pitchFamily="2" charset="-122"/>
                <a:cs typeface="+mn-cs"/>
              </a:rPr>
              <a:t>M·</a:t>
            </a:r>
            <a:r>
              <a:rPr kumimoji="0" lang="en-US" altLang="zh-CN" sz="1800" b="1" i="0" u="none" strike="noStrike" kern="1200" cap="none" spc="0" normalizeH="0" baseline="0" noProof="0" dirty="0" err="1" smtClean="0">
                <a:ln>
                  <a:noFill/>
                </a:ln>
                <a:solidFill>
                  <a:prstClr val="black"/>
                </a:solidFill>
                <a:effectLst/>
                <a:uLnTx/>
                <a:uFillTx/>
                <a:latin typeface="等线" panose="020F0502020204030204"/>
                <a:ea typeface="等线" panose="02010600030101010101" pitchFamily="2" charset="-122"/>
                <a:cs typeface="+mn-cs"/>
              </a:rPr>
              <a:t>a</a:t>
            </a:r>
            <a:endParaRPr kumimoji="0" lang="zh-CN" altLang="en-US" sz="1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3" name="图片 2"/>
          <p:cNvPicPr>
            <a:picLocks noChangeAspect="1"/>
          </p:cNvPicPr>
          <p:nvPr/>
        </p:nvPicPr>
        <p:blipFill>
          <a:blip r:embed="rId4"/>
          <a:stretch>
            <a:fillRect/>
          </a:stretch>
        </p:blipFill>
        <p:spPr>
          <a:xfrm>
            <a:off x="2558026" y="5803226"/>
            <a:ext cx="4696480" cy="552527"/>
          </a:xfrm>
          <a:prstGeom prst="rect">
            <a:avLst/>
          </a:prstGeom>
        </p:spPr>
      </p:pic>
      <p:sp>
        <p:nvSpPr>
          <p:cNvPr id="11" name="标题 1"/>
          <p:cNvSpPr txBox="1">
            <a:spLocks/>
          </p:cNvSpPr>
          <p:nvPr/>
        </p:nvSpPr>
        <p:spPr>
          <a:xfrm>
            <a:off x="721658" y="3206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2 </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流体</a:t>
            </a: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运动和受力分析</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
        <p:nvSpPr>
          <p:cNvPr id="6" name="矩形 5"/>
          <p:cNvSpPr/>
          <p:nvPr/>
        </p:nvSpPr>
        <p:spPr>
          <a:xfrm>
            <a:off x="954611" y="2524308"/>
            <a:ext cx="1569660"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smtClean="0">
                <a:ln>
                  <a:noFill/>
                </a:ln>
                <a:solidFill>
                  <a:srgbClr val="002060"/>
                </a:solidFill>
                <a:effectLst/>
                <a:uLnTx/>
                <a:uFillTx/>
                <a:latin typeface="华文仿宋" panose="02010600040101010101" pitchFamily="2" charset="-122"/>
                <a:ea typeface="华文仿宋" panose="02010600040101010101" pitchFamily="2" charset="-122"/>
                <a:cs typeface="+mn-cs"/>
              </a:rPr>
              <a:t>理解流体微元</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8770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cxnSp>
        <p:nvCxnSpPr>
          <p:cNvPr id="8" name="直接连接符 7"/>
          <p:cNvCxnSpPr/>
          <p:nvPr/>
        </p:nvCxnSpPr>
        <p:spPr>
          <a:xfrm flipV="1">
            <a:off x="1120588" y="2366682"/>
            <a:ext cx="10730753" cy="448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4203171" y="1965326"/>
            <a:ext cx="8964" cy="48926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7828878" y="1924232"/>
            <a:ext cx="8964" cy="4892674"/>
          </a:xfrm>
          <a:prstGeom prst="line">
            <a:avLst/>
          </a:prstGeom>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1776267" y="3737069"/>
            <a:ext cx="215902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6" name="文本框 15"/>
          <p:cNvSpPr txBox="1"/>
          <p:nvPr/>
        </p:nvSpPr>
        <p:spPr>
          <a:xfrm>
            <a:off x="3991909" y="1821794"/>
            <a:ext cx="299920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运动</a:t>
            </a: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描述</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 name="文本框 18"/>
          <p:cNvSpPr txBox="1"/>
          <p:nvPr/>
        </p:nvSpPr>
        <p:spPr>
          <a:xfrm>
            <a:off x="8476952" y="1744850"/>
            <a:ext cx="299920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受力分析</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8" name="文本框 17"/>
          <p:cNvSpPr txBox="1"/>
          <p:nvPr/>
        </p:nvSpPr>
        <p:spPr>
          <a:xfrm>
            <a:off x="573825" y="1794156"/>
            <a:ext cx="299920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观察方法</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22" name="对象 21"/>
          <p:cNvGraphicFramePr>
            <a:graphicFrameLocks noChangeAspect="1"/>
          </p:cNvGraphicFramePr>
          <p:nvPr>
            <p:extLst/>
          </p:nvPr>
        </p:nvGraphicFramePr>
        <p:xfrm>
          <a:off x="1865644" y="3170305"/>
          <a:ext cx="1621115" cy="511931"/>
        </p:xfrm>
        <a:graphic>
          <a:graphicData uri="http://schemas.openxmlformats.org/presentationml/2006/ole">
            <mc:AlternateContent xmlns:mc="http://schemas.openxmlformats.org/markup-compatibility/2006">
              <mc:Choice xmlns:v="urn:schemas-microsoft-com:vml" Requires="v">
                <p:oleObj spid="_x0000_s1187" name="Equation" r:id="rId3" imgW="723600" imgH="228600" progId="Equation.DSMT4">
                  <p:embed/>
                </p:oleObj>
              </mc:Choice>
              <mc:Fallback>
                <p:oleObj name="Equation" r:id="rId3" imgW="723600" imgH="228600" progId="Equation.DSMT4">
                  <p:embed/>
                  <p:pic>
                    <p:nvPicPr>
                      <p:cNvPr id="22" name="对象 21"/>
                      <p:cNvPicPr/>
                      <p:nvPr/>
                    </p:nvPicPr>
                    <p:blipFill>
                      <a:blip r:embed="rId4"/>
                      <a:stretch>
                        <a:fillRect/>
                      </a:stretch>
                    </p:blipFill>
                    <p:spPr>
                      <a:xfrm>
                        <a:off x="1865644" y="3170305"/>
                        <a:ext cx="1621115" cy="511931"/>
                      </a:xfrm>
                      <a:prstGeom prst="rect">
                        <a:avLst/>
                      </a:prstGeom>
                    </p:spPr>
                  </p:pic>
                </p:oleObj>
              </mc:Fallback>
            </mc:AlternateContent>
          </a:graphicData>
        </a:graphic>
      </p:graphicFrame>
      <p:graphicFrame>
        <p:nvGraphicFramePr>
          <p:cNvPr id="23" name="对象 22"/>
          <p:cNvGraphicFramePr>
            <a:graphicFrameLocks noChangeAspect="1"/>
          </p:cNvGraphicFramePr>
          <p:nvPr>
            <p:extLst/>
          </p:nvPr>
        </p:nvGraphicFramePr>
        <p:xfrm>
          <a:off x="1393784" y="5151475"/>
          <a:ext cx="2217737" cy="511175"/>
        </p:xfrm>
        <a:graphic>
          <a:graphicData uri="http://schemas.openxmlformats.org/presentationml/2006/ole">
            <mc:AlternateContent xmlns:mc="http://schemas.openxmlformats.org/markup-compatibility/2006">
              <mc:Choice xmlns:v="urn:schemas-microsoft-com:vml" Requires="v">
                <p:oleObj spid="_x0000_s1188" name="Equation" r:id="rId5" imgW="990360" imgH="228600" progId="Equation.DSMT4">
                  <p:embed/>
                </p:oleObj>
              </mc:Choice>
              <mc:Fallback>
                <p:oleObj name="Equation" r:id="rId5" imgW="990360" imgH="228600" progId="Equation.DSMT4">
                  <p:embed/>
                  <p:pic>
                    <p:nvPicPr>
                      <p:cNvPr id="23" name="对象 22"/>
                      <p:cNvPicPr/>
                      <p:nvPr/>
                    </p:nvPicPr>
                    <p:blipFill>
                      <a:blip r:embed="rId6"/>
                      <a:stretch>
                        <a:fillRect/>
                      </a:stretch>
                    </p:blipFill>
                    <p:spPr>
                      <a:xfrm>
                        <a:off x="1393784" y="5151475"/>
                        <a:ext cx="2217737" cy="511175"/>
                      </a:xfrm>
                      <a:prstGeom prst="rect">
                        <a:avLst/>
                      </a:prstGeom>
                    </p:spPr>
                  </p:pic>
                </p:oleObj>
              </mc:Fallback>
            </mc:AlternateContent>
          </a:graphicData>
        </a:graphic>
      </p:graphicFrame>
      <p:cxnSp>
        <p:nvCxnSpPr>
          <p:cNvPr id="24" name="直接连接符 23"/>
          <p:cNvCxnSpPr/>
          <p:nvPr/>
        </p:nvCxnSpPr>
        <p:spPr>
          <a:xfrm flipV="1">
            <a:off x="1130806" y="4377581"/>
            <a:ext cx="3081329" cy="25910"/>
          </a:xfrm>
          <a:prstGeom prst="line">
            <a:avLst/>
          </a:prstGeom>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776267" y="2500768"/>
            <a:ext cx="1859944"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拉格朗日</a:t>
            </a:r>
            <a:r>
              <a:rPr kumimoji="0" lang="zh-CN" altLang="en-US" sz="20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方法</a:t>
            </a:r>
            <a:endParaRPr kumimoji="0" lang="en-US" altLang="zh-CN"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 name="矩形 2"/>
          <p:cNvSpPr/>
          <p:nvPr/>
        </p:nvSpPr>
        <p:spPr>
          <a:xfrm>
            <a:off x="1786580" y="4423540"/>
            <a:ext cx="1824941"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7030A0"/>
                </a:solidFill>
                <a:effectLst/>
                <a:uLnTx/>
                <a:uFillTx/>
                <a:latin typeface="等线" panose="020F0502020204030204"/>
                <a:ea typeface="等线" panose="02010600030101010101" pitchFamily="2" charset="-122"/>
                <a:cs typeface="+mn-cs"/>
              </a:rPr>
              <a:t>欧拉方法</a:t>
            </a:r>
            <a:endParaRPr kumimoji="0" lang="en-US" altLang="zh-CN" sz="2000" b="0" i="0" u="none" strike="noStrike" kern="1200" cap="none" spc="0" normalizeH="0" baseline="0" noProof="0" dirty="0">
              <a:ln>
                <a:noFill/>
              </a:ln>
              <a:solidFill>
                <a:srgbClr val="7030A0"/>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25" name="Picture 5"/>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94398" y="3775258"/>
            <a:ext cx="2612425" cy="510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8"/>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94933" y="5894841"/>
            <a:ext cx="3795713"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p:cNvSpPr/>
          <p:nvPr/>
        </p:nvSpPr>
        <p:spPr>
          <a:xfrm>
            <a:off x="4307782" y="2492890"/>
            <a:ext cx="324800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运动轨迹 </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：迹线、脉线、流线</a:t>
            </a: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7" name="矩形 6"/>
          <p:cNvSpPr/>
          <p:nvPr/>
        </p:nvSpPr>
        <p:spPr>
          <a:xfrm>
            <a:off x="4252811" y="4464905"/>
            <a:ext cx="3416320"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旋转与变形：涡与涡量，应变率</a:t>
            </a:r>
          </a:p>
        </p:txBody>
      </p:sp>
      <p:graphicFrame>
        <p:nvGraphicFramePr>
          <p:cNvPr id="28" name="对象 27"/>
          <p:cNvGraphicFramePr>
            <a:graphicFrameLocks noChangeAspect="1"/>
          </p:cNvGraphicFramePr>
          <p:nvPr>
            <p:extLst/>
          </p:nvPr>
        </p:nvGraphicFramePr>
        <p:xfrm>
          <a:off x="4352623" y="2809688"/>
          <a:ext cx="1740393" cy="562002"/>
        </p:xfrm>
        <a:graphic>
          <a:graphicData uri="http://schemas.openxmlformats.org/presentationml/2006/ole">
            <mc:AlternateContent xmlns:mc="http://schemas.openxmlformats.org/markup-compatibility/2006">
              <mc:Choice xmlns:v="urn:schemas-microsoft-com:vml" Requires="v">
                <p:oleObj spid="_x0000_s1189" name="Equation" r:id="rId9" imgW="1218960" imgH="393480" progId="Equation.DSMT4">
                  <p:embed/>
                </p:oleObj>
              </mc:Choice>
              <mc:Fallback>
                <p:oleObj name="Equation" r:id="rId9" imgW="1218960" imgH="393480" progId="Equation.DSMT4">
                  <p:embed/>
                  <p:pic>
                    <p:nvPicPr>
                      <p:cNvPr id="28" name="对象 27"/>
                      <p:cNvPicPr/>
                      <p:nvPr/>
                    </p:nvPicPr>
                    <p:blipFill>
                      <a:blip r:embed="rId10"/>
                      <a:stretch>
                        <a:fillRect/>
                      </a:stretch>
                    </p:blipFill>
                    <p:spPr>
                      <a:xfrm>
                        <a:off x="4352623" y="2809688"/>
                        <a:ext cx="1740393" cy="562002"/>
                      </a:xfrm>
                      <a:prstGeom prst="rect">
                        <a:avLst/>
                      </a:prstGeom>
                    </p:spPr>
                  </p:pic>
                </p:oleObj>
              </mc:Fallback>
            </mc:AlternateContent>
          </a:graphicData>
        </a:graphic>
      </p:graphicFrame>
      <p:graphicFrame>
        <p:nvGraphicFramePr>
          <p:cNvPr id="29" name="对象 28"/>
          <p:cNvGraphicFramePr>
            <a:graphicFrameLocks noChangeAspect="1"/>
          </p:cNvGraphicFramePr>
          <p:nvPr>
            <p:extLst/>
          </p:nvPr>
        </p:nvGraphicFramePr>
        <p:xfrm>
          <a:off x="4371285" y="3411588"/>
          <a:ext cx="1630363" cy="327025"/>
        </p:xfrm>
        <a:graphic>
          <a:graphicData uri="http://schemas.openxmlformats.org/presentationml/2006/ole">
            <mc:AlternateContent xmlns:mc="http://schemas.openxmlformats.org/markup-compatibility/2006">
              <mc:Choice xmlns:v="urn:schemas-microsoft-com:vml" Requires="v">
                <p:oleObj spid="_x0000_s1190" name="Equation" r:id="rId11" imgW="1143000" imgH="228600" progId="Equation.DSMT4">
                  <p:embed/>
                </p:oleObj>
              </mc:Choice>
              <mc:Fallback>
                <p:oleObj name="Equation" r:id="rId11" imgW="1143000" imgH="228600" progId="Equation.DSMT4">
                  <p:embed/>
                  <p:pic>
                    <p:nvPicPr>
                      <p:cNvPr id="29" name="对象 28"/>
                      <p:cNvPicPr/>
                      <p:nvPr/>
                    </p:nvPicPr>
                    <p:blipFill>
                      <a:blip r:embed="rId12"/>
                      <a:stretch>
                        <a:fillRect/>
                      </a:stretch>
                    </p:blipFill>
                    <p:spPr>
                      <a:xfrm>
                        <a:off x="4371285" y="3411588"/>
                        <a:ext cx="1630363" cy="327025"/>
                      </a:xfrm>
                      <a:prstGeom prst="rect">
                        <a:avLst/>
                      </a:prstGeom>
                    </p:spPr>
                  </p:pic>
                </p:oleObj>
              </mc:Fallback>
            </mc:AlternateContent>
          </a:graphicData>
        </a:graphic>
      </p:graphicFrame>
      <p:graphicFrame>
        <p:nvGraphicFramePr>
          <p:cNvPr id="30" name="对象 29"/>
          <p:cNvGraphicFramePr>
            <a:graphicFrameLocks noChangeAspect="1"/>
          </p:cNvGraphicFramePr>
          <p:nvPr>
            <p:extLst/>
          </p:nvPr>
        </p:nvGraphicFramePr>
        <p:xfrm>
          <a:off x="4351984" y="3800027"/>
          <a:ext cx="1866900" cy="615950"/>
        </p:xfrm>
        <a:graphic>
          <a:graphicData uri="http://schemas.openxmlformats.org/presentationml/2006/ole">
            <mc:AlternateContent xmlns:mc="http://schemas.openxmlformats.org/markup-compatibility/2006">
              <mc:Choice xmlns:v="urn:schemas-microsoft-com:vml" Requires="v">
                <p:oleObj spid="_x0000_s1191" name="Equation" r:id="rId13" imgW="1307880" imgH="431640" progId="Equation.DSMT4">
                  <p:embed/>
                </p:oleObj>
              </mc:Choice>
              <mc:Fallback>
                <p:oleObj name="Equation" r:id="rId13" imgW="1307880" imgH="431640" progId="Equation.DSMT4">
                  <p:embed/>
                  <p:pic>
                    <p:nvPicPr>
                      <p:cNvPr id="30" name="对象 29"/>
                      <p:cNvPicPr/>
                      <p:nvPr/>
                    </p:nvPicPr>
                    <p:blipFill>
                      <a:blip r:embed="rId14"/>
                      <a:stretch>
                        <a:fillRect/>
                      </a:stretch>
                    </p:blipFill>
                    <p:spPr>
                      <a:xfrm>
                        <a:off x="4351984" y="3800027"/>
                        <a:ext cx="1866900" cy="615950"/>
                      </a:xfrm>
                      <a:prstGeom prst="rect">
                        <a:avLst/>
                      </a:prstGeom>
                    </p:spPr>
                  </p:pic>
                </p:oleObj>
              </mc:Fallback>
            </mc:AlternateContent>
          </a:graphicData>
        </a:graphic>
      </p:graphicFrame>
      <p:graphicFrame>
        <p:nvGraphicFramePr>
          <p:cNvPr id="31" name="对象 30"/>
          <p:cNvGraphicFramePr>
            <a:graphicFrameLocks noChangeAspect="1"/>
          </p:cNvGraphicFramePr>
          <p:nvPr>
            <p:extLst/>
          </p:nvPr>
        </p:nvGraphicFramePr>
        <p:xfrm>
          <a:off x="4547386" y="5380491"/>
          <a:ext cx="2728913" cy="1498600"/>
        </p:xfrm>
        <a:graphic>
          <a:graphicData uri="http://schemas.openxmlformats.org/presentationml/2006/ole">
            <mc:AlternateContent xmlns:mc="http://schemas.openxmlformats.org/markup-compatibility/2006">
              <mc:Choice xmlns:v="urn:schemas-microsoft-com:vml" Requires="v">
                <p:oleObj spid="_x0000_s1192" name="Equation" r:id="rId15" imgW="1638000" imgH="901440" progId="Equation.DSMT4">
                  <p:embed/>
                </p:oleObj>
              </mc:Choice>
              <mc:Fallback>
                <p:oleObj name="Equation" r:id="rId15" imgW="1638000" imgH="901440" progId="Equation.DSMT4">
                  <p:embed/>
                  <p:pic>
                    <p:nvPicPr>
                      <p:cNvPr id="31" name="对象 30"/>
                      <p:cNvPicPr/>
                      <p:nvPr/>
                    </p:nvPicPr>
                    <p:blipFill>
                      <a:blip r:embed="rId16"/>
                      <a:stretch>
                        <a:fillRect/>
                      </a:stretch>
                    </p:blipFill>
                    <p:spPr>
                      <a:xfrm>
                        <a:off x="4547386" y="5380491"/>
                        <a:ext cx="2728913" cy="1498600"/>
                      </a:xfrm>
                      <a:prstGeom prst="rect">
                        <a:avLst/>
                      </a:prstGeom>
                    </p:spPr>
                  </p:pic>
                </p:oleObj>
              </mc:Fallback>
            </mc:AlternateContent>
          </a:graphicData>
        </a:graphic>
      </p:graphicFrame>
      <p:graphicFrame>
        <p:nvGraphicFramePr>
          <p:cNvPr id="32" name="对象 31"/>
          <p:cNvGraphicFramePr>
            <a:graphicFrameLocks noChangeAspect="1"/>
          </p:cNvGraphicFramePr>
          <p:nvPr>
            <p:extLst>
              <p:ext uri="{D42A27DB-BD31-4B8C-83A1-F6EECF244321}">
                <p14:modId xmlns:p14="http://schemas.microsoft.com/office/powerpoint/2010/main" val="2447932339"/>
              </p:ext>
            </p:extLst>
          </p:nvPr>
        </p:nvGraphicFramePr>
        <p:xfrm>
          <a:off x="4957646" y="4812140"/>
          <a:ext cx="2112279" cy="697052"/>
        </p:xfrm>
        <a:graphic>
          <a:graphicData uri="http://schemas.openxmlformats.org/presentationml/2006/ole">
            <mc:AlternateContent xmlns:mc="http://schemas.openxmlformats.org/markup-compatibility/2006">
              <mc:Choice xmlns:v="urn:schemas-microsoft-com:vml" Requires="v">
                <p:oleObj spid="_x0000_s1193" name="Equation" r:id="rId17" imgW="1269720" imgH="419040" progId="Equation.DSMT4">
                  <p:embed/>
                </p:oleObj>
              </mc:Choice>
              <mc:Fallback>
                <p:oleObj name="Equation" r:id="rId17" imgW="1269720" imgH="419040" progId="Equation.DSMT4">
                  <p:embed/>
                  <p:pic>
                    <p:nvPicPr>
                      <p:cNvPr id="32" name="对象 31"/>
                      <p:cNvPicPr/>
                      <p:nvPr/>
                    </p:nvPicPr>
                    <p:blipFill>
                      <a:blip r:embed="rId18"/>
                      <a:stretch>
                        <a:fillRect/>
                      </a:stretch>
                    </p:blipFill>
                    <p:spPr>
                      <a:xfrm>
                        <a:off x="4957646" y="4812140"/>
                        <a:ext cx="2112279" cy="697052"/>
                      </a:xfrm>
                      <a:prstGeom prst="rect">
                        <a:avLst/>
                      </a:prstGeom>
                    </p:spPr>
                  </p:pic>
                </p:oleObj>
              </mc:Fallback>
            </mc:AlternateContent>
          </a:graphicData>
        </a:graphic>
      </p:graphicFrame>
      <p:sp>
        <p:nvSpPr>
          <p:cNvPr id="9" name="矩形 8"/>
          <p:cNvSpPr/>
          <p:nvPr/>
        </p:nvSpPr>
        <p:spPr>
          <a:xfrm>
            <a:off x="8132194" y="2411506"/>
            <a:ext cx="295465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小尺度分析，即微元</a:t>
            </a: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体分析</a:t>
            </a: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7" name="矩形 26"/>
          <p:cNvSpPr/>
          <p:nvPr/>
        </p:nvSpPr>
        <p:spPr>
          <a:xfrm>
            <a:off x="8046114" y="4377581"/>
            <a:ext cx="295465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大尺度分析，即控制</a:t>
            </a: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体分析</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35" name="图片 34"/>
          <p:cNvPicPr>
            <a:picLocks noChangeAspect="1"/>
          </p:cNvPicPr>
          <p:nvPr/>
        </p:nvPicPr>
        <p:blipFill>
          <a:blip r:embed="rId19"/>
          <a:stretch>
            <a:fillRect/>
          </a:stretch>
        </p:blipFill>
        <p:spPr>
          <a:xfrm>
            <a:off x="8776941" y="2853811"/>
            <a:ext cx="1933924" cy="1279365"/>
          </a:xfrm>
          <a:prstGeom prst="rect">
            <a:avLst/>
          </a:prstGeom>
        </p:spPr>
      </p:pic>
      <p:pic>
        <p:nvPicPr>
          <p:cNvPr id="33" name="图片 32"/>
          <p:cNvPicPr>
            <a:picLocks noChangeAspect="1"/>
          </p:cNvPicPr>
          <p:nvPr/>
        </p:nvPicPr>
        <p:blipFill>
          <a:blip r:embed="rId20"/>
          <a:stretch>
            <a:fillRect/>
          </a:stretch>
        </p:blipFill>
        <p:spPr>
          <a:xfrm>
            <a:off x="8675611" y="4920133"/>
            <a:ext cx="2227181" cy="1592295"/>
          </a:xfrm>
          <a:prstGeom prst="rect">
            <a:avLst/>
          </a:prstGeom>
        </p:spPr>
      </p:pic>
      <p:sp>
        <p:nvSpPr>
          <p:cNvPr id="34" name="标题 1"/>
          <p:cNvSpPr txBox="1">
            <a:spLocks/>
          </p:cNvSpPr>
          <p:nvPr/>
        </p:nvSpPr>
        <p:spPr>
          <a:xfrm>
            <a:off x="721658" y="3206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2 </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流体</a:t>
            </a: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运动和受力分析</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4247523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标题 1"/>
          <p:cNvSpPr txBox="1">
            <a:spLocks/>
          </p:cNvSpPr>
          <p:nvPr/>
        </p:nvSpPr>
        <p:spPr>
          <a:xfrm>
            <a:off x="954612" y="95520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marR="0" lvl="0" indent="-342900" algn="l" defTabSz="914400" rtl="0" eaLnBrk="1" fontAlgn="auto" latinLnBrk="0" hangingPunct="1">
              <a:lnSpc>
                <a:spcPct val="90000"/>
              </a:lnSpc>
              <a:spcBef>
                <a:spcPct val="0"/>
              </a:spcBef>
              <a:spcAft>
                <a:spcPts val="0"/>
              </a:spcAft>
              <a:buClrTx/>
              <a:buSzTx/>
              <a:buFont typeface="Wingdings" panose="05000000000000000000" pitchFamily="2" charset="2"/>
              <a:buChar char="n"/>
              <a:tabLst/>
              <a:defRPr/>
            </a:pPr>
            <a:r>
              <a:rPr kumimoji="0" lang="zh-CN" altLang="en-US" sz="2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古代中国对流体的认识</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cxnSp>
        <p:nvCxnSpPr>
          <p:cNvPr id="8" name="直接连接符 7"/>
          <p:cNvCxnSpPr/>
          <p:nvPr/>
        </p:nvCxnSpPr>
        <p:spPr>
          <a:xfrm flipV="1">
            <a:off x="1120588" y="2366682"/>
            <a:ext cx="10730753" cy="44824"/>
          </a:xfrm>
          <a:prstGeom prst="line">
            <a:avLst/>
          </a:prstGeom>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954611" y="1904924"/>
            <a:ext cx="1028264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smtClean="0">
                <a:ln>
                  <a:noFill/>
                </a:ln>
                <a:solidFill>
                  <a:srgbClr val="002060"/>
                </a:solidFill>
                <a:effectLst/>
                <a:uLnTx/>
                <a:uFillTx/>
                <a:latin typeface="华文仿宋" panose="02010600040101010101" pitchFamily="2" charset="-122"/>
                <a:ea typeface="华文仿宋" panose="02010600040101010101" pitchFamily="2" charset="-122"/>
                <a:cs typeface="+mn-cs"/>
              </a:rPr>
              <a:t>长期生产实践，人们学会了观察流动、利用和控制流动的方法。</a:t>
            </a:r>
            <a:endParaRPr kumimoji="0" lang="zh-CN" altLang="en-US" sz="2400" b="1" i="0" u="none" strike="noStrike" kern="1200" cap="none" spc="0" normalizeH="0" baseline="0" noProof="0" dirty="0">
              <a:ln>
                <a:noFill/>
              </a:ln>
              <a:solidFill>
                <a:srgbClr val="002060"/>
              </a:solidFill>
              <a:effectLst/>
              <a:uLnTx/>
              <a:uFillTx/>
              <a:latin typeface="华文仿宋" panose="02010600040101010101" pitchFamily="2" charset="-122"/>
              <a:ea typeface="华文仿宋" panose="02010600040101010101" pitchFamily="2" charset="-122"/>
              <a:cs typeface="+mn-cs"/>
            </a:endParaRPr>
          </a:p>
        </p:txBody>
      </p:sp>
      <p:sp>
        <p:nvSpPr>
          <p:cNvPr id="21" name="文本框 20"/>
          <p:cNvSpPr txBox="1"/>
          <p:nvPr/>
        </p:nvSpPr>
        <p:spPr>
          <a:xfrm>
            <a:off x="8610600" y="2640996"/>
            <a:ext cx="3052665"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华文仿宋" panose="02010600040101010101" pitchFamily="2" charset="-122"/>
                <a:ea typeface="华文仿宋" panose="02010600040101010101" pitchFamily="2" charset="-122"/>
                <a:cs typeface="+mn-cs"/>
              </a:rPr>
              <a:t>问题：没有形成理论，容易失传</a:t>
            </a:r>
            <a:endParaRPr kumimoji="0" lang="en-US" altLang="zh-CN" sz="1800" b="0" i="0" u="none" strike="noStrike" kern="1200" cap="none" spc="0" normalizeH="0" baseline="0" noProof="0" dirty="0" smtClean="0">
              <a:ln>
                <a:noFill/>
              </a:ln>
              <a:solidFill>
                <a:prstClr val="black"/>
              </a:solidFill>
              <a:effectLst/>
              <a:uLnTx/>
              <a:uFillTx/>
              <a:latin typeface="华文仿宋" panose="02010600040101010101" pitchFamily="2" charset="-122"/>
              <a:ea typeface="华文仿宋" panose="0201060004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p:txBody>
      </p:sp>
      <p:sp>
        <p:nvSpPr>
          <p:cNvPr id="11" name="标题 1"/>
          <p:cNvSpPr txBox="1">
            <a:spLocks/>
          </p:cNvSpPr>
          <p:nvPr/>
        </p:nvSpPr>
        <p:spPr>
          <a:xfrm>
            <a:off x="721658" y="3206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2 </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流体</a:t>
            </a: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运动和受力分析</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pic>
        <p:nvPicPr>
          <p:cNvPr id="13" name="图片 12"/>
          <p:cNvPicPr/>
          <p:nvPr/>
        </p:nvPicPr>
        <p:blipFill>
          <a:blip r:embed="rId2">
            <a:extLst>
              <a:ext uri="{28A0092B-C50C-407E-A947-70E740481C1C}">
                <a14:useLocalDpi xmlns:a14="http://schemas.microsoft.com/office/drawing/2010/main" val="0"/>
              </a:ext>
            </a:extLst>
          </a:blip>
          <a:stretch>
            <a:fillRect/>
          </a:stretch>
        </p:blipFill>
        <p:spPr>
          <a:xfrm>
            <a:off x="1050250" y="2640996"/>
            <a:ext cx="2528220" cy="1834289"/>
          </a:xfrm>
          <a:prstGeom prst="rect">
            <a:avLst/>
          </a:prstGeom>
        </p:spPr>
      </p:pic>
      <p:pic>
        <p:nvPicPr>
          <p:cNvPr id="3074" name="Picture 2" descr="https://n.sinaimg.cn/sinacn13/222/w640h382/20180424/71a4-fzqvvsa436417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3108" y="2640996"/>
            <a:ext cx="3073154" cy="183428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5b0988e595225.cdn.sohucs.com/images/20171120/f5e4d3b0026f4a2b85e7fe2a050fafeb.jpe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0250" y="4633546"/>
            <a:ext cx="3062763" cy="1722804"/>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https://gimg2.baidu.com/image_search/src=http%3A%2F%2Fsafe-img.xhscdn.com%2Fbw1%2Fdfa548ad-0fa7-43cf-82f5-a4ea3bd0773e%3FimageView2%2F2%2Fw%2F1080%2Fformat%2Fjpg&amp;refer=http%3A%2F%2Fsafe-img.xhscdn.com&amp;app=2002&amp;size=f9999,10000&amp;q=a80&amp;n=0&amp;g=0n&amp;fmt=auto?sec=1684995606&amp;t=827c7386f1e79fd2ef7702874af74dca"/>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40929" y="4562461"/>
            <a:ext cx="1335618" cy="1793889"/>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7033489" y="3494028"/>
            <a:ext cx="5158511" cy="2862322"/>
          </a:xfrm>
          <a:prstGeom prst="rect">
            <a:avLst/>
          </a:prstGeom>
        </p:spPr>
        <p:txBody>
          <a:bodyPr wrap="square">
            <a:spAutoFit/>
          </a:bodyPr>
          <a:lstStyle/>
          <a:p>
            <a:r>
              <a:rPr lang="zh-CN" altLang="zh-CN" kern="0" dirty="0">
                <a:solidFill>
                  <a:srgbClr val="333333"/>
                </a:solidFill>
                <a:ea typeface="仿宋" panose="02010609060101010101" pitchFamily="49" charset="-122"/>
                <a:cs typeface="宋体" panose="02010600030101010101" pitchFamily="2" charset="-122"/>
              </a:rPr>
              <a:t>老子《道德经》第八篇通过水比喻至善的道理时是这样描述的：上善若水，水善利万物而不争，处众人之所恶，故几于道。老子通过对处于不同时空水流的观察，引申到人性与品质，这反映了老子观察水流时是跟随水的运动的，与拉朗格日方法一样，但却早了两千多年。同样，孔子的《论语》记载：子在川上曰，逝者如斯夫，不舍昼夜。这表明，孔子的观察视角是通过观察经过眼前视野范围内水的变化，与欧拉方法一致，但同样也早了两千多年。</a:t>
            </a:r>
            <a:endParaRPr lang="zh-CN" altLang="en-US" dirty="0"/>
          </a:p>
        </p:txBody>
      </p:sp>
    </p:spTree>
    <p:extLst>
      <p:ext uri="{BB962C8B-B14F-4D97-AF65-F5344CB8AC3E}">
        <p14:creationId xmlns:p14="http://schemas.microsoft.com/office/powerpoint/2010/main" val="3935562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标题 1"/>
          <p:cNvSpPr txBox="1">
            <a:spLocks/>
          </p:cNvSpPr>
          <p:nvPr/>
        </p:nvSpPr>
        <p:spPr>
          <a:xfrm>
            <a:off x="954612" y="95520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marR="0" lvl="0" indent="-342900" algn="l" defTabSz="914400" rtl="0" eaLnBrk="1" fontAlgn="auto" latinLnBrk="0" hangingPunct="1">
              <a:lnSpc>
                <a:spcPct val="90000"/>
              </a:lnSpc>
              <a:spcBef>
                <a:spcPct val="0"/>
              </a:spcBef>
              <a:spcAft>
                <a:spcPts val="0"/>
              </a:spcAft>
              <a:buClrTx/>
              <a:buSzTx/>
              <a:buFont typeface="Wingdings" panose="05000000000000000000" pitchFamily="2" charset="2"/>
              <a:buChar char="n"/>
              <a:tabLst/>
              <a:defRPr/>
            </a:pPr>
            <a:r>
              <a:rPr kumimoji="0" lang="zh-CN" altLang="en-US" sz="2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雷诺输运定理</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cxnSp>
        <p:nvCxnSpPr>
          <p:cNvPr id="8" name="直接连接符 7"/>
          <p:cNvCxnSpPr/>
          <p:nvPr/>
        </p:nvCxnSpPr>
        <p:spPr>
          <a:xfrm flipV="1">
            <a:off x="1120588" y="2549898"/>
            <a:ext cx="10730753" cy="44824"/>
          </a:xfrm>
          <a:prstGeom prst="line">
            <a:avLst/>
          </a:prstGeom>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954612" y="1810821"/>
            <a:ext cx="10282646"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smtClean="0">
                <a:ln>
                  <a:noFill/>
                </a:ln>
                <a:solidFill>
                  <a:srgbClr val="002060"/>
                </a:solidFill>
                <a:effectLst/>
                <a:uLnTx/>
                <a:uFillTx/>
                <a:latin typeface="华文仿宋" panose="02010600040101010101" pitchFamily="2" charset="-122"/>
                <a:ea typeface="华文仿宋" panose="02010600040101010101" pitchFamily="2" charset="-122"/>
                <a:cs typeface="+mn-cs"/>
              </a:rPr>
              <a:t>一个物质体系内某种流体广延量的增长率，等于体系在该时刻所占的空间域中同一物理量的增长率加上单位时间内由该区域边界流出的该物理量的总通量。</a:t>
            </a:r>
            <a:endParaRPr kumimoji="0" lang="zh-CN" altLang="en-US" sz="2000" b="1" i="0" u="none" strike="noStrike" kern="1200" cap="none" spc="0" normalizeH="0" baseline="0" noProof="0" dirty="0">
              <a:ln>
                <a:noFill/>
              </a:ln>
              <a:solidFill>
                <a:srgbClr val="002060"/>
              </a:solidFill>
              <a:effectLst/>
              <a:uLnTx/>
              <a:uFillTx/>
              <a:latin typeface="华文仿宋" panose="02010600040101010101" pitchFamily="2" charset="-122"/>
              <a:ea typeface="华文仿宋" panose="02010600040101010101" pitchFamily="2" charset="-122"/>
              <a:cs typeface="+mn-cs"/>
            </a:endParaRPr>
          </a:p>
        </p:txBody>
      </p:sp>
      <p:sp>
        <p:nvSpPr>
          <p:cNvPr id="21" name="文本框 20"/>
          <p:cNvSpPr txBox="1"/>
          <p:nvPr/>
        </p:nvSpPr>
        <p:spPr>
          <a:xfrm>
            <a:off x="1514750" y="5073001"/>
            <a:ext cx="1012804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依据这个原理，可以利用</a:t>
            </a: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控制</a:t>
            </a: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体的假设，对流动输运量，如密度分布，动量，能量等，运用这个方程后获得这些物理量的变化率与受力之间的关系，获得如连续性方程、动量方程、能量方程等。</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1" name="标题 1"/>
          <p:cNvSpPr txBox="1">
            <a:spLocks/>
          </p:cNvSpPr>
          <p:nvPr/>
        </p:nvSpPr>
        <p:spPr>
          <a:xfrm>
            <a:off x="721658" y="3206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2 </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流体</a:t>
            </a: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运动和受力分析</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pic>
        <p:nvPicPr>
          <p:cNvPr id="6" name="图片 5"/>
          <p:cNvPicPr>
            <a:picLocks noChangeAspect="1"/>
          </p:cNvPicPr>
          <p:nvPr/>
        </p:nvPicPr>
        <p:blipFill rotWithShape="1">
          <a:blip r:embed="rId2"/>
          <a:srcRect l="4788"/>
          <a:stretch/>
        </p:blipFill>
        <p:spPr>
          <a:xfrm>
            <a:off x="954612" y="2787723"/>
            <a:ext cx="3265085" cy="2278992"/>
          </a:xfrm>
          <a:prstGeom prst="rect">
            <a:avLst/>
          </a:prstGeom>
        </p:spPr>
      </p:pic>
      <p:pic>
        <p:nvPicPr>
          <p:cNvPr id="7" name="图片 6"/>
          <p:cNvPicPr>
            <a:picLocks noChangeAspect="1"/>
          </p:cNvPicPr>
          <p:nvPr/>
        </p:nvPicPr>
        <p:blipFill>
          <a:blip r:embed="rId3"/>
          <a:stretch>
            <a:fillRect/>
          </a:stretch>
        </p:blipFill>
        <p:spPr>
          <a:xfrm>
            <a:off x="4501111" y="2750308"/>
            <a:ext cx="7484683" cy="1401813"/>
          </a:xfrm>
          <a:prstGeom prst="rect">
            <a:avLst/>
          </a:prstGeom>
        </p:spPr>
      </p:pic>
      <p:sp>
        <p:nvSpPr>
          <p:cNvPr id="9" name="矩形 8"/>
          <p:cNvSpPr/>
          <p:nvPr/>
        </p:nvSpPr>
        <p:spPr>
          <a:xfrm>
            <a:off x="11353800" y="3552092"/>
            <a:ext cx="497541" cy="4220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10" name="图片 9"/>
          <p:cNvPicPr>
            <a:picLocks noChangeAspect="1"/>
          </p:cNvPicPr>
          <p:nvPr/>
        </p:nvPicPr>
        <p:blipFill>
          <a:blip r:embed="rId4"/>
          <a:stretch>
            <a:fillRect/>
          </a:stretch>
        </p:blipFill>
        <p:spPr>
          <a:xfrm>
            <a:off x="5133107" y="4289008"/>
            <a:ext cx="6220693" cy="762106"/>
          </a:xfrm>
          <a:prstGeom prst="rect">
            <a:avLst/>
          </a:prstGeom>
        </p:spPr>
      </p:pic>
      <p:sp>
        <p:nvSpPr>
          <p:cNvPr id="2" name="矩形 1"/>
          <p:cNvSpPr/>
          <p:nvPr/>
        </p:nvSpPr>
        <p:spPr>
          <a:xfrm>
            <a:off x="2072053" y="6316987"/>
            <a:ext cx="8636977" cy="369332"/>
          </a:xfrm>
          <a:prstGeom prst="rect">
            <a:avLst/>
          </a:prstGeom>
        </p:spPr>
        <p:txBody>
          <a:bodyPr wrap="square">
            <a:spAutoFit/>
          </a:bodyPr>
          <a:lstStyle/>
          <a:p>
            <a:pPr lvl="0"/>
            <a:r>
              <a:rPr lang="en-US" altLang="zh-CN" dirty="0">
                <a:latin typeface="Times New Roman" panose="02020603050405020304" pitchFamily="18" charset="0"/>
                <a:ea typeface="宋体" panose="02010600030101010101" pitchFamily="2" charset="-122"/>
                <a:cs typeface="Times New Roman" panose="02020603050405020304" pitchFamily="18" charset="0"/>
              </a:rPr>
              <a:t>Frank M. White, Fluid mechanics, international edition, Mc GRAW. HILL, 2003</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第三章。</a:t>
            </a:r>
            <a:endParaRPr lang="zh-CN"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4489481" y="338394"/>
            <a:ext cx="7507942" cy="1323439"/>
          </a:xfrm>
          <a:prstGeom prst="rect">
            <a:avLst/>
          </a:prstGeom>
          <a:solidFill>
            <a:schemeClr val="accent2">
              <a:lumMod val="60000"/>
              <a:lumOff val="40000"/>
            </a:schemeClr>
          </a:solidFill>
        </p:spPr>
        <p:txBody>
          <a:bodyPr wrap="square">
            <a:spAutoFit/>
          </a:bodyPr>
          <a:lstStyle/>
          <a:p>
            <a:r>
              <a:rPr lang="en-US" altLang="zh-CN" sz="1600" dirty="0" smtClean="0">
                <a:effectLst/>
                <a:latin typeface="Times New Roman" panose="02020603050405020304" pitchFamily="18" charset="0"/>
              </a:rPr>
              <a:t>In analyzing fluid motion, we might take one of two paths: (1) seeking to describe the detailed flow pattern at every point (x, y, z) in the field or (2) working with a finite region, making a balance of flow in versus flow out, and determining gross flow effects such as the force or torque on a body or the total energy exchange. The second is the “control-volume” method.</a:t>
            </a:r>
            <a:endParaRPr lang="zh-CN" altLang="en-US" sz="1600" dirty="0"/>
          </a:p>
        </p:txBody>
      </p:sp>
      <p:sp>
        <p:nvSpPr>
          <p:cNvPr id="14" name="文本框 13"/>
          <p:cNvSpPr txBox="1"/>
          <p:nvPr/>
        </p:nvSpPr>
        <p:spPr>
          <a:xfrm>
            <a:off x="823418" y="5699300"/>
            <a:ext cx="8056814" cy="646331"/>
          </a:xfrm>
          <a:prstGeom prst="rect">
            <a:avLst/>
          </a:prstGeom>
          <a:solidFill>
            <a:schemeClr val="accent6">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solidFill>
                  <a:prstClr val="black"/>
                </a:solidFill>
                <a:latin typeface="等线" panose="020F0502020204030204"/>
                <a:ea typeface="等线" panose="02010600030101010101" pitchFamily="2" charset="-122"/>
              </a:rPr>
              <a:t>著名的伯努利方程就可以根据控制体分析建立出来。</a:t>
            </a:r>
            <a:endParaRPr lang="en-US" altLang="zh-CN" dirty="0" smtClean="0">
              <a:solidFill>
                <a:prstClr val="black"/>
              </a:solidFill>
              <a:latin typeface="等线" panose="020F0502020204030204"/>
              <a:ea typeface="等线"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srgbClr val="00B0F0"/>
                </a:solidFill>
                <a:effectLst/>
                <a:uLnTx/>
                <a:uFillTx/>
                <a:latin typeface="仿宋" panose="02010609060101010101" pitchFamily="49" charset="-122"/>
                <a:ea typeface="仿宋" panose="02010609060101010101" pitchFamily="49" charset="-122"/>
              </a:rPr>
              <a:t>注：伯努利方程经常给人美好的印象，但在具体应用时应保持警惕甚至怀疑。</a:t>
            </a:r>
            <a:endParaRPr kumimoji="0" lang="zh-CN" altLang="en-US" sz="1800" b="0" i="0" u="none" strike="noStrike" kern="1200" cap="none" spc="0" normalizeH="0" baseline="0" noProof="0" dirty="0">
              <a:ln>
                <a:noFill/>
              </a:ln>
              <a:solidFill>
                <a:srgbClr val="00B0F0"/>
              </a:solidFill>
              <a:effectLst/>
              <a:uLnTx/>
              <a:uFillTx/>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102925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6848666" y="4131579"/>
            <a:ext cx="4904640" cy="1638265"/>
          </a:xfrm>
          <a:prstGeom prst="rect">
            <a:avLst/>
          </a:prstGeom>
          <a:noFill/>
          <a:ln w="381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0" name="灯片编号占位符 2"/>
          <p:cNvSpPr>
            <a:spLocks noGrp="1"/>
          </p:cNvSpPr>
          <p:nvPr>
            <p:ph type="sldNum" sz="quarter" idx="12"/>
          </p:nvPr>
        </p:nvSpPr>
        <p:spPr>
          <a:xfrm>
            <a:off x="8770590" y="626725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31" name="文本框 30"/>
          <p:cNvSpPr txBox="1"/>
          <p:nvPr/>
        </p:nvSpPr>
        <p:spPr>
          <a:xfrm>
            <a:off x="721658" y="1584251"/>
            <a:ext cx="787680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zh-CN" altLang="en-US"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经常讲，流场是理解气动力形成和被影响机制</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a:t>
            </a:r>
            <a:r>
              <a:rPr kumimoji="0" lang="zh-CN" altLang="en-US"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关键。</a:t>
            </a: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33" name="内容占位符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3355" y="1578380"/>
            <a:ext cx="3430445" cy="2126309"/>
          </a:xfrm>
          <a:prstGeom prst="rect">
            <a:avLst/>
          </a:prstGeom>
        </p:spPr>
      </p:pic>
      <p:sp>
        <p:nvSpPr>
          <p:cNvPr id="35" name="文本框 34"/>
          <p:cNvSpPr txBox="1"/>
          <p:nvPr/>
        </p:nvSpPr>
        <p:spPr>
          <a:xfrm>
            <a:off x="766034" y="2105045"/>
            <a:ext cx="573340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Q1 </a:t>
            </a:r>
            <a:r>
              <a:rPr kumimoji="0" lang="zh-CN" altLang="en-US"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为什么流动有丰富的物理现象？涡，层流，湍流，非定常，与其它物理场耦合，流</a:t>
            </a:r>
            <a:r>
              <a:rPr kumimoji="0" lang="en-US" altLang="zh-CN"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热</a:t>
            </a:r>
            <a:r>
              <a:rPr kumimoji="0" lang="en-US" altLang="zh-CN"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力</a:t>
            </a:r>
            <a:r>
              <a:rPr kumimoji="0" lang="en-US" altLang="zh-CN"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声</a:t>
            </a:r>
            <a:r>
              <a:rPr kumimoji="0" lang="en-US" altLang="zh-CN"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振。</a:t>
            </a:r>
            <a:endParaRPr kumimoji="0" lang="en-US" altLang="zh-CN"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答案：力。</a:t>
            </a:r>
            <a:endParaRPr kumimoji="0" lang="en-US" altLang="zh-CN"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pic>
        <p:nvPicPr>
          <p:cNvPr id="36" name="图片 35"/>
          <p:cNvPicPr>
            <a:picLocks noChangeAspect="1"/>
          </p:cNvPicPr>
          <p:nvPr/>
        </p:nvPicPr>
        <p:blipFill>
          <a:blip r:embed="rId3"/>
          <a:stretch>
            <a:fillRect/>
          </a:stretch>
        </p:blipFill>
        <p:spPr>
          <a:xfrm>
            <a:off x="1575334" y="4106001"/>
            <a:ext cx="3267013" cy="2161255"/>
          </a:xfrm>
          <a:prstGeom prst="rect">
            <a:avLst/>
          </a:prstGeom>
        </p:spPr>
      </p:pic>
      <p:pic>
        <p:nvPicPr>
          <p:cNvPr id="39" name="图片 38"/>
          <p:cNvPicPr>
            <a:picLocks noChangeAspect="1"/>
          </p:cNvPicPr>
          <p:nvPr/>
        </p:nvPicPr>
        <p:blipFill>
          <a:blip r:embed="rId4"/>
          <a:stretch>
            <a:fillRect/>
          </a:stretch>
        </p:blipFill>
        <p:spPr>
          <a:xfrm>
            <a:off x="7439451" y="4908372"/>
            <a:ext cx="4074339" cy="740788"/>
          </a:xfrm>
          <a:prstGeom prst="rect">
            <a:avLst/>
          </a:prstGeom>
        </p:spPr>
      </p:pic>
      <p:sp>
        <p:nvSpPr>
          <p:cNvPr id="41" name="文本框 40"/>
          <p:cNvSpPr txBox="1"/>
          <p:nvPr/>
        </p:nvSpPr>
        <p:spPr>
          <a:xfrm>
            <a:off x="7547889" y="5164847"/>
            <a:ext cx="59201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F+</a:t>
            </a:r>
            <a:endParaRPr kumimoji="0" lang="zh-CN" altLang="en-US" sz="1800" b="0" i="1"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7594292" y="4597234"/>
            <a:ext cx="64633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外力</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42" name="矩形 41"/>
          <p:cNvSpPr/>
          <p:nvPr/>
        </p:nvSpPr>
        <p:spPr>
          <a:xfrm>
            <a:off x="9152809" y="4619660"/>
            <a:ext cx="64633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内力</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43" name="矩形 42"/>
          <p:cNvSpPr/>
          <p:nvPr/>
        </p:nvSpPr>
        <p:spPr>
          <a:xfrm>
            <a:off x="10302458" y="4619660"/>
            <a:ext cx="87716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惯性力</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6" name="左大括号 5"/>
          <p:cNvSpPr/>
          <p:nvPr/>
        </p:nvSpPr>
        <p:spPr>
          <a:xfrm rot="5400000">
            <a:off x="7887176" y="4672002"/>
            <a:ext cx="93076" cy="788920"/>
          </a:xfrm>
          <a:prstGeom prst="leftBrace">
            <a:avLst>
              <a:gd name="adj1" fmla="val 8333"/>
              <a:gd name="adj2" fmla="val 51476"/>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 name="左大括号 43"/>
          <p:cNvSpPr/>
          <p:nvPr/>
        </p:nvSpPr>
        <p:spPr>
          <a:xfrm rot="5400000">
            <a:off x="9279865" y="4434066"/>
            <a:ext cx="191487" cy="1216607"/>
          </a:xfrm>
          <a:prstGeom prst="leftBrace">
            <a:avLst>
              <a:gd name="adj1" fmla="val 8333"/>
              <a:gd name="adj2" fmla="val 51476"/>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 name="文本框 44"/>
          <p:cNvSpPr txBox="1"/>
          <p:nvPr/>
        </p:nvSpPr>
        <p:spPr>
          <a:xfrm>
            <a:off x="766034" y="3105523"/>
            <a:ext cx="5733402"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smtClean="0">
                <a:ln>
                  <a:noFill/>
                </a:ln>
                <a:solidFill>
                  <a:srgbClr val="00B0F0"/>
                </a:solidFill>
                <a:effectLst/>
                <a:uLnTx/>
                <a:uFillTx/>
                <a:latin typeface="华文仿宋" panose="02010600040101010101" pitchFamily="2" charset="-122"/>
                <a:ea typeface="华文仿宋" panose="02010600040101010101" pitchFamily="2" charset="-122"/>
                <a:cs typeface="+mn-cs"/>
              </a:rPr>
              <a:t>欧拉</a:t>
            </a:r>
            <a:r>
              <a:rPr kumimoji="0" lang="en-US" altLang="zh-CN" sz="2000" b="0" i="0" u="none" strike="noStrike" kern="1200" cap="none" spc="0" normalizeH="0" baseline="0" noProof="0" dirty="0" smtClean="0">
                <a:ln>
                  <a:noFill/>
                </a:ln>
                <a:solidFill>
                  <a:srgbClr val="00B0F0"/>
                </a:solidFill>
                <a:effectLst/>
                <a:uLnTx/>
                <a:uFillTx/>
                <a:latin typeface="华文仿宋" panose="02010600040101010101" pitchFamily="2" charset="-122"/>
                <a:ea typeface="华文仿宋" panose="02010600040101010101" pitchFamily="2" charset="-122"/>
                <a:cs typeface="+mn-cs"/>
              </a:rPr>
              <a:t>-</a:t>
            </a:r>
            <a:r>
              <a:rPr kumimoji="0" lang="zh-CN" altLang="en-US" sz="2000" b="0" i="0" u="none" strike="noStrike" kern="1200" cap="none" spc="0" normalizeH="0" baseline="0" noProof="0" dirty="0" smtClean="0">
                <a:ln>
                  <a:noFill/>
                </a:ln>
                <a:solidFill>
                  <a:srgbClr val="00B0F0"/>
                </a:solidFill>
                <a:effectLst/>
                <a:uLnTx/>
                <a:uFillTx/>
                <a:latin typeface="华文仿宋" panose="02010600040101010101" pitchFamily="2" charset="-122"/>
                <a:ea typeface="华文仿宋" panose="02010600040101010101" pitchFamily="2" charset="-122"/>
                <a:cs typeface="+mn-cs"/>
              </a:rPr>
              <a:t>柯西应力原理 流体内任意封闭曲面分成的两部分流体之间的相互作用可以等效为一个力场。流体与固体接触面上也适用。</a:t>
            </a:r>
            <a:endParaRPr kumimoji="0" lang="en-US" altLang="zh-CN" sz="2000" b="0" i="0" u="none" strike="noStrike" kern="1200" cap="none" spc="0" normalizeH="0" baseline="0" noProof="0" dirty="0" smtClean="0">
              <a:ln>
                <a:noFill/>
              </a:ln>
              <a:solidFill>
                <a:srgbClr val="00B0F0"/>
              </a:solidFill>
              <a:effectLst/>
              <a:uLnTx/>
              <a:uFillTx/>
              <a:latin typeface="华文仿宋" panose="02010600040101010101" pitchFamily="2" charset="-122"/>
              <a:ea typeface="华文仿宋" panose="02010600040101010101" pitchFamily="2" charset="-122"/>
              <a:cs typeface="+mn-cs"/>
            </a:endParaRPr>
          </a:p>
        </p:txBody>
      </p:sp>
      <p:sp>
        <p:nvSpPr>
          <p:cNvPr id="46" name="文本框 45"/>
          <p:cNvSpPr txBox="1"/>
          <p:nvPr/>
        </p:nvSpPr>
        <p:spPr>
          <a:xfrm>
            <a:off x="8026678" y="3743120"/>
            <a:ext cx="289859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内力最重要，最难获取</a:t>
            </a: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4" name="图片 3"/>
          <p:cNvPicPr>
            <a:picLocks noChangeAspect="1"/>
          </p:cNvPicPr>
          <p:nvPr/>
        </p:nvPicPr>
        <p:blipFill rotWithShape="1">
          <a:blip r:embed="rId5"/>
          <a:srcRect t="14109"/>
          <a:stretch/>
        </p:blipFill>
        <p:spPr>
          <a:xfrm>
            <a:off x="7917457" y="5871473"/>
            <a:ext cx="2848373" cy="548214"/>
          </a:xfrm>
          <a:prstGeom prst="rect">
            <a:avLst/>
          </a:prstGeom>
        </p:spPr>
      </p:pic>
      <p:sp>
        <p:nvSpPr>
          <p:cNvPr id="20" name="标题 1"/>
          <p:cNvSpPr txBox="1">
            <a:spLocks/>
          </p:cNvSpPr>
          <p:nvPr/>
        </p:nvSpPr>
        <p:spPr>
          <a:xfrm>
            <a:off x="721658" y="3206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2 </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流体</a:t>
            </a: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运动和受力分析</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112952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ppt_x"/>
                                          </p:val>
                                        </p:tav>
                                        <p:tav tm="100000">
                                          <p:val>
                                            <p:strVal val="#ppt_x"/>
                                          </p:val>
                                        </p:tav>
                                      </p:tavLst>
                                    </p:anim>
                                    <p:anim calcmode="lin" valueType="num">
                                      <p:cBhvr additive="base">
                                        <p:cTn id="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barn(inVertical)">
                                      <p:cBhvr>
                                        <p:cTn id="1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4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灯片编号占位符 2"/>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32" name="文本框 31"/>
          <p:cNvSpPr txBox="1"/>
          <p:nvPr/>
        </p:nvSpPr>
        <p:spPr>
          <a:xfrm>
            <a:off x="7055715" y="5661009"/>
            <a:ext cx="494816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剪应力的测量转化为流速的测量。知道流速随时间和空间的全部变化，就知道了全部的剪应力。</a:t>
            </a:r>
            <a:r>
              <a:rPr kumimoji="0" lang="zh-CN" altLang="en-US" sz="1600" b="0"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n-cs"/>
              </a:rPr>
              <a:t>遗憾的是，获得流速的全时空变化非常。</a:t>
            </a:r>
            <a:endParaRPr kumimoji="0" lang="zh-CN" altLang="en-US" sz="1800" b="0"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endParaRPr>
          </a:p>
        </p:txBody>
      </p:sp>
      <p:sp>
        <p:nvSpPr>
          <p:cNvPr id="35" name="文本框 34"/>
          <p:cNvSpPr txBox="1"/>
          <p:nvPr/>
        </p:nvSpPr>
        <p:spPr>
          <a:xfrm>
            <a:off x="779587" y="1531762"/>
            <a:ext cx="536928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Q2 </a:t>
            </a:r>
            <a:r>
              <a:rPr kumimoji="0" lang="zh-CN" altLang="en-US"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如何测量流体的内力？压强可以引出，剪应力应怎样测量？</a:t>
            </a:r>
            <a:endParaRPr kumimoji="0" lang="en-US" altLang="zh-CN"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pic>
        <p:nvPicPr>
          <p:cNvPr id="37" name="图片 36"/>
          <p:cNvPicPr>
            <a:picLocks noChangeAspect="1"/>
          </p:cNvPicPr>
          <p:nvPr/>
        </p:nvPicPr>
        <p:blipFill rotWithShape="1">
          <a:blip r:embed="rId2"/>
          <a:srcRect l="17493" r="5996"/>
          <a:stretch/>
        </p:blipFill>
        <p:spPr>
          <a:xfrm>
            <a:off x="6897690" y="3673667"/>
            <a:ext cx="4645581" cy="1923364"/>
          </a:xfrm>
          <a:prstGeom prst="rect">
            <a:avLst/>
          </a:prstGeom>
        </p:spPr>
      </p:pic>
      <p:pic>
        <p:nvPicPr>
          <p:cNvPr id="38" name="图片 37"/>
          <p:cNvPicPr>
            <a:picLocks noChangeAspect="1"/>
          </p:cNvPicPr>
          <p:nvPr/>
        </p:nvPicPr>
        <p:blipFill>
          <a:blip r:embed="rId3"/>
          <a:stretch>
            <a:fillRect/>
          </a:stretch>
        </p:blipFill>
        <p:spPr>
          <a:xfrm>
            <a:off x="6652191" y="2062070"/>
            <a:ext cx="4648524" cy="1509521"/>
          </a:xfrm>
          <a:prstGeom prst="rect">
            <a:avLst/>
          </a:prstGeom>
        </p:spPr>
      </p:pic>
      <p:pic>
        <p:nvPicPr>
          <p:cNvPr id="39" name="图片 38"/>
          <p:cNvPicPr>
            <a:picLocks noChangeAspect="1"/>
          </p:cNvPicPr>
          <p:nvPr/>
        </p:nvPicPr>
        <p:blipFill>
          <a:blip r:embed="rId4"/>
          <a:stretch>
            <a:fillRect/>
          </a:stretch>
        </p:blipFill>
        <p:spPr>
          <a:xfrm>
            <a:off x="870700" y="2945785"/>
            <a:ext cx="4074339" cy="740788"/>
          </a:xfrm>
          <a:prstGeom prst="rect">
            <a:avLst/>
          </a:prstGeom>
        </p:spPr>
      </p:pic>
      <p:sp>
        <p:nvSpPr>
          <p:cNvPr id="41" name="文本框 40"/>
          <p:cNvSpPr txBox="1"/>
          <p:nvPr/>
        </p:nvSpPr>
        <p:spPr>
          <a:xfrm>
            <a:off x="979138" y="3202260"/>
            <a:ext cx="59201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F+</a:t>
            </a:r>
            <a:endParaRPr kumimoji="0" lang="zh-CN" altLang="en-US" sz="1800" b="0" i="1"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1025541" y="2634647"/>
            <a:ext cx="64633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外力</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42" name="矩形 41"/>
          <p:cNvSpPr/>
          <p:nvPr/>
        </p:nvSpPr>
        <p:spPr>
          <a:xfrm>
            <a:off x="2584058" y="2657073"/>
            <a:ext cx="64633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内力</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43" name="矩形 42"/>
          <p:cNvSpPr/>
          <p:nvPr/>
        </p:nvSpPr>
        <p:spPr>
          <a:xfrm>
            <a:off x="3733707" y="2657073"/>
            <a:ext cx="87716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惯性力</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6" name="左大括号 5"/>
          <p:cNvSpPr/>
          <p:nvPr/>
        </p:nvSpPr>
        <p:spPr>
          <a:xfrm rot="5400000">
            <a:off x="1318425" y="2709415"/>
            <a:ext cx="93076" cy="788920"/>
          </a:xfrm>
          <a:prstGeom prst="leftBrace">
            <a:avLst>
              <a:gd name="adj1" fmla="val 8333"/>
              <a:gd name="adj2" fmla="val 51476"/>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 name="左大括号 43"/>
          <p:cNvSpPr/>
          <p:nvPr/>
        </p:nvSpPr>
        <p:spPr>
          <a:xfrm rot="5400000">
            <a:off x="2711114" y="2471479"/>
            <a:ext cx="191487" cy="1216607"/>
          </a:xfrm>
          <a:prstGeom prst="leftBrace">
            <a:avLst>
              <a:gd name="adj1" fmla="val 8333"/>
              <a:gd name="adj2" fmla="val 51476"/>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pic>
        <p:nvPicPr>
          <p:cNvPr id="4" name="图片 3"/>
          <p:cNvPicPr>
            <a:picLocks noChangeAspect="1"/>
          </p:cNvPicPr>
          <p:nvPr/>
        </p:nvPicPr>
        <p:blipFill>
          <a:blip r:embed="rId5"/>
          <a:stretch>
            <a:fillRect/>
          </a:stretch>
        </p:blipFill>
        <p:spPr>
          <a:xfrm>
            <a:off x="0" y="4161107"/>
            <a:ext cx="3012579" cy="2083639"/>
          </a:xfrm>
          <a:prstGeom prst="rect">
            <a:avLst/>
          </a:prstGeom>
        </p:spPr>
      </p:pic>
      <p:sp>
        <p:nvSpPr>
          <p:cNvPr id="21" name="文本框 20"/>
          <p:cNvSpPr txBox="1"/>
          <p:nvPr/>
        </p:nvSpPr>
        <p:spPr>
          <a:xfrm>
            <a:off x="6802016" y="1636681"/>
            <a:ext cx="259391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牛顿流体本构关系</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5" name="图片 4"/>
          <p:cNvPicPr>
            <a:picLocks noChangeAspect="1"/>
          </p:cNvPicPr>
          <p:nvPr/>
        </p:nvPicPr>
        <p:blipFill>
          <a:blip r:embed="rId6"/>
          <a:stretch>
            <a:fillRect/>
          </a:stretch>
        </p:blipFill>
        <p:spPr>
          <a:xfrm>
            <a:off x="5539211" y="124704"/>
            <a:ext cx="3794930" cy="1394975"/>
          </a:xfrm>
          <a:prstGeom prst="rect">
            <a:avLst/>
          </a:prstGeom>
        </p:spPr>
      </p:pic>
      <p:pic>
        <p:nvPicPr>
          <p:cNvPr id="19"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57343" y="4123721"/>
            <a:ext cx="4294848" cy="2083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图片 19"/>
          <p:cNvPicPr>
            <a:picLocks noChangeAspect="1"/>
          </p:cNvPicPr>
          <p:nvPr/>
        </p:nvPicPr>
        <p:blipFill>
          <a:blip r:embed="rId8"/>
          <a:stretch>
            <a:fillRect/>
          </a:stretch>
        </p:blipFill>
        <p:spPr>
          <a:xfrm>
            <a:off x="5008298" y="2081216"/>
            <a:ext cx="2281149" cy="1509068"/>
          </a:xfrm>
          <a:prstGeom prst="rect">
            <a:avLst/>
          </a:prstGeom>
        </p:spPr>
      </p:pic>
      <p:sp>
        <p:nvSpPr>
          <p:cNvPr id="22" name="标题 1"/>
          <p:cNvSpPr txBox="1">
            <a:spLocks/>
          </p:cNvSpPr>
          <p:nvPr/>
        </p:nvSpPr>
        <p:spPr>
          <a:xfrm>
            <a:off x="721658" y="3206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2 </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流体</a:t>
            </a: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运动和受力分析</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34076034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灯片编号占位符 2"/>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32" name="文本框 31"/>
          <p:cNvSpPr txBox="1"/>
          <p:nvPr/>
        </p:nvSpPr>
        <p:spPr>
          <a:xfrm>
            <a:off x="6926035" y="2460838"/>
            <a:ext cx="4476471" cy="286232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显然，流体内力与其它外力（包括物体施加给流体的外力）与惯性力保持平衡。利用该性质，可以定性解释物体受力原因。</a:t>
            </a: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流场的变化是所有力共同导致的。</a:t>
            </a: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0" lang="zh-CN" altLang="en-US" sz="1800" b="0"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控制流体力问题，可转化为控制物体表面不同空间位置、不同时间段的流场内力、惯性力。</a:t>
            </a:r>
            <a:endPar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5" name="文本框 34"/>
          <p:cNvSpPr txBox="1"/>
          <p:nvPr/>
        </p:nvSpPr>
        <p:spPr>
          <a:xfrm>
            <a:off x="1283441" y="1531762"/>
            <a:ext cx="536928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Q3 </a:t>
            </a:r>
            <a:r>
              <a:rPr kumimoji="0" lang="zh-CN" altLang="en-US"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流体内力与其它力的关联</a:t>
            </a:r>
            <a:endParaRPr kumimoji="0" lang="en-US" altLang="zh-CN"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pic>
        <p:nvPicPr>
          <p:cNvPr id="39" name="图片 38"/>
          <p:cNvPicPr>
            <a:picLocks noChangeAspect="1"/>
          </p:cNvPicPr>
          <p:nvPr/>
        </p:nvPicPr>
        <p:blipFill>
          <a:blip r:embed="rId2"/>
          <a:stretch>
            <a:fillRect/>
          </a:stretch>
        </p:blipFill>
        <p:spPr>
          <a:xfrm>
            <a:off x="2027696" y="2908461"/>
            <a:ext cx="4074339" cy="740788"/>
          </a:xfrm>
          <a:prstGeom prst="rect">
            <a:avLst/>
          </a:prstGeom>
        </p:spPr>
      </p:pic>
      <p:sp>
        <p:nvSpPr>
          <p:cNvPr id="41" name="文本框 40"/>
          <p:cNvSpPr txBox="1"/>
          <p:nvPr/>
        </p:nvSpPr>
        <p:spPr>
          <a:xfrm>
            <a:off x="2136134" y="3164936"/>
            <a:ext cx="59201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smtClean="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rPr>
              <a:t>F</a:t>
            </a:r>
            <a:r>
              <a:rPr kumimoji="0" lang="en-US" altLang="zh-CN" sz="18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endParaRPr kumimoji="0" lang="zh-CN" altLang="en-US" sz="1800" b="0" i="1"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p:cNvSpPr/>
          <p:nvPr/>
        </p:nvSpPr>
        <p:spPr>
          <a:xfrm>
            <a:off x="2182537" y="2597323"/>
            <a:ext cx="64633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外力</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42" name="矩形 41"/>
          <p:cNvSpPr/>
          <p:nvPr/>
        </p:nvSpPr>
        <p:spPr>
          <a:xfrm>
            <a:off x="3741054" y="2619749"/>
            <a:ext cx="64633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内力</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43" name="矩形 42"/>
          <p:cNvSpPr/>
          <p:nvPr/>
        </p:nvSpPr>
        <p:spPr>
          <a:xfrm>
            <a:off x="4890703" y="2619749"/>
            <a:ext cx="87716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惯性力</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6" name="左大括号 5"/>
          <p:cNvSpPr/>
          <p:nvPr/>
        </p:nvSpPr>
        <p:spPr>
          <a:xfrm rot="5400000">
            <a:off x="2475421" y="2672091"/>
            <a:ext cx="93076" cy="788920"/>
          </a:xfrm>
          <a:prstGeom prst="leftBrace">
            <a:avLst>
              <a:gd name="adj1" fmla="val 8333"/>
              <a:gd name="adj2" fmla="val 51476"/>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 name="左大括号 43"/>
          <p:cNvSpPr/>
          <p:nvPr/>
        </p:nvSpPr>
        <p:spPr>
          <a:xfrm rot="5400000">
            <a:off x="3868110" y="2434155"/>
            <a:ext cx="191487" cy="1216607"/>
          </a:xfrm>
          <a:prstGeom prst="leftBrace">
            <a:avLst>
              <a:gd name="adj1" fmla="val 8333"/>
              <a:gd name="adj2" fmla="val 51476"/>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 name="文本框 17"/>
          <p:cNvSpPr txBox="1"/>
          <p:nvPr/>
        </p:nvSpPr>
        <p:spPr>
          <a:xfrm>
            <a:off x="1383161" y="4016677"/>
            <a:ext cx="5161384"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其中，</a:t>
            </a:r>
            <a:r>
              <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F</a:t>
            </a: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是流体</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作用在物体上的</a:t>
            </a: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力的反作用力，</a:t>
            </a:r>
            <a:r>
              <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对流体而言是外力，在物体表面上分为法向力和切向力，即与流体内力具有相同的形式。其中，法向力沿物体整个表面积分获得流体力的合力，合力在流动方向的分力即为阻力。切向力沿整个物体表面积分则是摩擦力。</a:t>
            </a: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14" name="图片 13"/>
          <p:cNvPicPr>
            <a:picLocks noChangeAspect="1"/>
          </p:cNvPicPr>
          <p:nvPr/>
        </p:nvPicPr>
        <p:blipFill>
          <a:blip r:embed="rId3"/>
          <a:stretch>
            <a:fillRect/>
          </a:stretch>
        </p:blipFill>
        <p:spPr>
          <a:xfrm>
            <a:off x="6544545" y="413543"/>
            <a:ext cx="2300875" cy="1644982"/>
          </a:xfrm>
          <a:prstGeom prst="rect">
            <a:avLst/>
          </a:prstGeom>
        </p:spPr>
      </p:pic>
      <p:sp>
        <p:nvSpPr>
          <p:cNvPr id="16" name="标题 1"/>
          <p:cNvSpPr txBox="1">
            <a:spLocks/>
          </p:cNvSpPr>
          <p:nvPr/>
        </p:nvSpPr>
        <p:spPr>
          <a:xfrm>
            <a:off x="721658" y="3206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2 </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流体</a:t>
            </a: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运动和受力分析</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
        <p:nvSpPr>
          <p:cNvPr id="2" name="文本框 1"/>
          <p:cNvSpPr txBox="1"/>
          <p:nvPr/>
        </p:nvSpPr>
        <p:spPr>
          <a:xfrm>
            <a:off x="1855177" y="5769099"/>
            <a:ext cx="9020907" cy="646331"/>
          </a:xfrm>
          <a:prstGeom prst="rect">
            <a:avLst/>
          </a:prstGeom>
          <a:solidFill>
            <a:schemeClr val="accent6">
              <a:lumMod val="20000"/>
              <a:lumOff val="80000"/>
            </a:schemeClr>
          </a:solidFill>
        </p:spPr>
        <p:txBody>
          <a:bodyPr wrap="square" rtlCol="0">
            <a:spAutoFit/>
          </a:bodyPr>
          <a:lstStyle/>
          <a:p>
            <a:r>
              <a:rPr lang="zh-CN" altLang="en-US" dirty="0" smtClean="0">
                <a:solidFill>
                  <a:schemeClr val="accent2">
                    <a:lumMod val="75000"/>
                  </a:schemeClr>
                </a:solidFill>
                <a:latin typeface="仿宋" panose="02010609060101010101" pitchFamily="49" charset="-122"/>
                <a:ea typeface="仿宋" panose="02010609060101010101" pitchFamily="49" charset="-122"/>
              </a:rPr>
              <a:t>几种特殊情况：无重力影响时无粘，零压力梯度，流体匀速直线运动。参考结构动力学方程的简化。</a:t>
            </a:r>
            <a:endParaRPr lang="zh-CN" altLang="en-US" dirty="0">
              <a:solidFill>
                <a:schemeClr val="accent2">
                  <a:lumMod val="75000"/>
                </a:schemeClr>
              </a:solidFill>
            </a:endParaRPr>
          </a:p>
        </p:txBody>
      </p:sp>
    </p:spTree>
    <p:extLst>
      <p:ext uri="{BB962C8B-B14F-4D97-AF65-F5344CB8AC3E}">
        <p14:creationId xmlns:p14="http://schemas.microsoft.com/office/powerpoint/2010/main" val="2136811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anim calcmode="lin" valueType="num">
                                      <p:cBhvr additive="base">
                                        <p:cTn id="11" dur="500" fill="hold"/>
                                        <p:tgtEl>
                                          <p:spTgt spid="41"/>
                                        </p:tgtEl>
                                        <p:attrNameLst>
                                          <p:attrName>ppt_x</p:attrName>
                                        </p:attrNameLst>
                                      </p:cBhvr>
                                      <p:tavLst>
                                        <p:tav tm="0">
                                          <p:val>
                                            <p:strVal val="#ppt_x"/>
                                          </p:val>
                                        </p:tav>
                                        <p:tav tm="100000">
                                          <p:val>
                                            <p:strVal val="#ppt_x"/>
                                          </p:val>
                                        </p:tav>
                                      </p:tavLst>
                                    </p:anim>
                                    <p:anim calcmode="lin" valueType="num">
                                      <p:cBhvr additive="base">
                                        <p:cTn id="12" dur="500" fill="hold"/>
                                        <p:tgtEl>
                                          <p:spTgt spid="4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fill="hold"/>
                                        <p:tgtEl>
                                          <p:spTgt spid="42"/>
                                        </p:tgtEl>
                                        <p:attrNameLst>
                                          <p:attrName>ppt_x</p:attrName>
                                        </p:attrNameLst>
                                      </p:cBhvr>
                                      <p:tavLst>
                                        <p:tav tm="0">
                                          <p:val>
                                            <p:strVal val="#ppt_x"/>
                                          </p:val>
                                        </p:tav>
                                        <p:tav tm="100000">
                                          <p:val>
                                            <p:strVal val="#ppt_x"/>
                                          </p:val>
                                        </p:tav>
                                      </p:tavLst>
                                    </p:anim>
                                    <p:anim calcmode="lin" valueType="num">
                                      <p:cBhvr additive="base">
                                        <p:cTn id="20" dur="500" fill="hold"/>
                                        <p:tgtEl>
                                          <p:spTgt spid="4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anim calcmode="lin" valueType="num">
                                      <p:cBhvr additive="base">
                                        <p:cTn id="23" dur="500" fill="hold"/>
                                        <p:tgtEl>
                                          <p:spTgt spid="43"/>
                                        </p:tgtEl>
                                        <p:attrNameLst>
                                          <p:attrName>ppt_x</p:attrName>
                                        </p:attrNameLst>
                                      </p:cBhvr>
                                      <p:tavLst>
                                        <p:tav tm="0">
                                          <p:val>
                                            <p:strVal val="#ppt_x"/>
                                          </p:val>
                                        </p:tav>
                                        <p:tav tm="100000">
                                          <p:val>
                                            <p:strVal val="#ppt_x"/>
                                          </p:val>
                                        </p:tav>
                                      </p:tavLst>
                                    </p:anim>
                                    <p:anim calcmode="lin" valueType="num">
                                      <p:cBhvr additive="base">
                                        <p:cTn id="24" dur="500" fill="hold"/>
                                        <p:tgtEl>
                                          <p:spTgt spid="4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4"/>
                                        </p:tgtEl>
                                        <p:attrNameLst>
                                          <p:attrName>style.visibility</p:attrName>
                                        </p:attrNameLst>
                                      </p:cBhvr>
                                      <p:to>
                                        <p:strVal val="visible"/>
                                      </p:to>
                                    </p:set>
                                    <p:anim calcmode="lin" valueType="num">
                                      <p:cBhvr additive="base">
                                        <p:cTn id="31" dur="500" fill="hold"/>
                                        <p:tgtEl>
                                          <p:spTgt spid="44"/>
                                        </p:tgtEl>
                                        <p:attrNameLst>
                                          <p:attrName>ppt_x</p:attrName>
                                        </p:attrNameLst>
                                      </p:cBhvr>
                                      <p:tavLst>
                                        <p:tav tm="0">
                                          <p:val>
                                            <p:strVal val="#ppt_x"/>
                                          </p:val>
                                        </p:tav>
                                        <p:tav tm="100000">
                                          <p:val>
                                            <p:strVal val="#ppt_x"/>
                                          </p:val>
                                        </p:tav>
                                      </p:tavLst>
                                    </p:anim>
                                    <p:anim calcmode="lin" valueType="num">
                                      <p:cBhvr additive="base">
                                        <p:cTn id="32"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fill="hold"/>
                                        <p:tgtEl>
                                          <p:spTgt spid="32"/>
                                        </p:tgtEl>
                                        <p:attrNameLst>
                                          <p:attrName>ppt_x</p:attrName>
                                        </p:attrNameLst>
                                      </p:cBhvr>
                                      <p:tavLst>
                                        <p:tav tm="0">
                                          <p:val>
                                            <p:strVal val="#ppt_x"/>
                                          </p:val>
                                        </p:tav>
                                        <p:tav tm="100000">
                                          <p:val>
                                            <p:strVal val="#ppt_x"/>
                                          </p:val>
                                        </p:tav>
                                      </p:tavLst>
                                    </p:anim>
                                    <p:anim calcmode="lin" valueType="num">
                                      <p:cBhvr additive="base">
                                        <p:cTn id="4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1" grpId="0"/>
      <p:bldP spid="3" grpId="0"/>
      <p:bldP spid="42" grpId="0"/>
      <p:bldP spid="43" grpId="0"/>
      <p:bldP spid="6" grpId="0" animBg="1"/>
      <p:bldP spid="44" grpId="0" animBg="1"/>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88671" y="860257"/>
            <a:ext cx="10515600" cy="1325563"/>
          </a:xfrm>
        </p:spPr>
        <p:txBody>
          <a:bodyPr>
            <a:normAutofit/>
          </a:bodyPr>
          <a:lstStyle/>
          <a:p>
            <a:r>
              <a:rPr lang="en-US" altLang="zh-CN" sz="2000" dirty="0" smtClean="0">
                <a:solidFill>
                  <a:srgbClr val="7030A0"/>
                </a:solidFill>
                <a:latin typeface="微软雅黑" panose="020B0503020204020204" pitchFamily="34" charset="-122"/>
                <a:ea typeface="微软雅黑" panose="020B0503020204020204" pitchFamily="34" charset="-122"/>
              </a:rPr>
              <a:t>Q4 </a:t>
            </a:r>
            <a:r>
              <a:rPr lang="zh-CN" altLang="en-US" sz="2000" dirty="0" smtClean="0">
                <a:solidFill>
                  <a:srgbClr val="7030A0"/>
                </a:solidFill>
                <a:latin typeface="微软雅黑" panose="020B0503020204020204" pitchFamily="34" charset="-122"/>
                <a:ea typeface="微软雅黑" panose="020B0503020204020204" pitchFamily="34" charset="-122"/>
              </a:rPr>
              <a:t>如何利用物体附近的流场解释物体受力</a:t>
            </a:r>
            <a:endParaRPr lang="zh-CN" altLang="en-US" sz="2000" dirty="0">
              <a:solidFill>
                <a:srgbClr val="7030A0"/>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838200" y="2119061"/>
            <a:ext cx="5887272" cy="809738"/>
          </a:xfrm>
          <a:prstGeom prst="rect">
            <a:avLst/>
          </a:prstGeom>
        </p:spPr>
      </p:pic>
      <p:sp>
        <p:nvSpPr>
          <p:cNvPr id="5" name="矩形 4"/>
          <p:cNvSpPr/>
          <p:nvPr/>
        </p:nvSpPr>
        <p:spPr>
          <a:xfrm>
            <a:off x="1393328" y="1749729"/>
            <a:ext cx="4397358" cy="369332"/>
          </a:xfrm>
          <a:prstGeom prst="rect">
            <a:avLst/>
          </a:prstGeom>
        </p:spPr>
        <p:txBody>
          <a:bodyPr wrap="non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选定合适的控制体，运用雷诺输运定理</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6" name="矩形 5"/>
          <p:cNvSpPr/>
          <p:nvPr/>
        </p:nvSpPr>
        <p:spPr>
          <a:xfrm>
            <a:off x="1393328" y="3015828"/>
            <a:ext cx="2509020" cy="369332"/>
          </a:xfrm>
          <a:prstGeom prst="rect">
            <a:avLst/>
          </a:prstGeom>
        </p:spPr>
        <p:txBody>
          <a:bodyPr wrap="non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以及</a:t>
            </a:r>
            <a:r>
              <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N-S</a:t>
            </a: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方程的理解</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7" name="图片 6"/>
          <p:cNvPicPr>
            <a:picLocks noChangeAspect="1"/>
          </p:cNvPicPr>
          <p:nvPr/>
        </p:nvPicPr>
        <p:blipFill>
          <a:blip r:embed="rId3"/>
          <a:stretch>
            <a:fillRect/>
          </a:stretch>
        </p:blipFill>
        <p:spPr>
          <a:xfrm>
            <a:off x="1374554" y="3813533"/>
            <a:ext cx="4074339" cy="740788"/>
          </a:xfrm>
          <a:prstGeom prst="rect">
            <a:avLst/>
          </a:prstGeom>
        </p:spPr>
      </p:pic>
      <p:sp>
        <p:nvSpPr>
          <p:cNvPr id="8" name="文本框 7"/>
          <p:cNvSpPr txBox="1"/>
          <p:nvPr/>
        </p:nvSpPr>
        <p:spPr>
          <a:xfrm>
            <a:off x="1482992" y="4070008"/>
            <a:ext cx="59201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F+</a:t>
            </a:r>
            <a:endParaRPr kumimoji="0" lang="zh-CN" altLang="en-US" sz="1800" b="0" i="1"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9" name="矩形 8"/>
          <p:cNvSpPr/>
          <p:nvPr/>
        </p:nvSpPr>
        <p:spPr>
          <a:xfrm>
            <a:off x="1529395" y="3502395"/>
            <a:ext cx="64633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外力</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0" name="矩形 9"/>
          <p:cNvSpPr/>
          <p:nvPr/>
        </p:nvSpPr>
        <p:spPr>
          <a:xfrm>
            <a:off x="3087912" y="3524821"/>
            <a:ext cx="64633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内力</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1" name="矩形 10"/>
          <p:cNvSpPr/>
          <p:nvPr/>
        </p:nvSpPr>
        <p:spPr>
          <a:xfrm>
            <a:off x="4237561" y="3524821"/>
            <a:ext cx="87716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惯性力</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2" name="左大括号 11"/>
          <p:cNvSpPr/>
          <p:nvPr/>
        </p:nvSpPr>
        <p:spPr>
          <a:xfrm rot="5400000">
            <a:off x="1822279" y="3577163"/>
            <a:ext cx="93076" cy="788920"/>
          </a:xfrm>
          <a:prstGeom prst="leftBrace">
            <a:avLst>
              <a:gd name="adj1" fmla="val 8333"/>
              <a:gd name="adj2" fmla="val 51476"/>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 name="左大括号 12"/>
          <p:cNvSpPr/>
          <p:nvPr/>
        </p:nvSpPr>
        <p:spPr>
          <a:xfrm rot="5400000">
            <a:off x="3214968" y="3339227"/>
            <a:ext cx="191487" cy="1216607"/>
          </a:xfrm>
          <a:prstGeom prst="leftBrace">
            <a:avLst>
              <a:gd name="adj1" fmla="val 8333"/>
              <a:gd name="adj2" fmla="val 51476"/>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 name="矩形 13"/>
          <p:cNvSpPr/>
          <p:nvPr/>
        </p:nvSpPr>
        <p:spPr>
          <a:xfrm>
            <a:off x="1393328" y="4680793"/>
            <a:ext cx="4568933" cy="646331"/>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特别留意局部</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大</a:t>
            </a: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尺度流动结构，剪切强，压力弱。</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15" name="图片 14"/>
          <p:cNvPicPr/>
          <p:nvPr/>
        </p:nvPicPr>
        <p:blipFill>
          <a:blip r:embed="rId4"/>
          <a:stretch>
            <a:fillRect/>
          </a:stretch>
        </p:blipFill>
        <p:spPr>
          <a:xfrm>
            <a:off x="8795124" y="1275472"/>
            <a:ext cx="3242388" cy="3720186"/>
          </a:xfrm>
          <a:prstGeom prst="rect">
            <a:avLst/>
          </a:prstGeom>
        </p:spPr>
      </p:pic>
      <p:pic>
        <p:nvPicPr>
          <p:cNvPr id="16" name="图片 15" descr="K:\2018年博士毕业论文准备\图\第三章图\15.emf"/>
          <p:cNvPicPr/>
          <p:nvPr/>
        </p:nvPicPr>
        <p:blipFill rotWithShape="1">
          <a:blip r:embed="rId5">
            <a:extLst>
              <a:ext uri="{28A0092B-C50C-407E-A947-70E740481C1C}">
                <a14:useLocalDpi xmlns:a14="http://schemas.microsoft.com/office/drawing/2010/main" val="0"/>
              </a:ext>
            </a:extLst>
          </a:blip>
          <a:srcRect l="3358" r="3578" b="1703"/>
          <a:stretch/>
        </p:blipFill>
        <p:spPr bwMode="auto">
          <a:xfrm>
            <a:off x="6445232" y="1378738"/>
            <a:ext cx="3239770" cy="2571750"/>
          </a:xfrm>
          <a:prstGeom prst="rect">
            <a:avLst/>
          </a:prstGeom>
          <a:noFill/>
          <a:ln>
            <a:noFill/>
          </a:ln>
          <a:extLst>
            <a:ext uri="{53640926-AAD7-44D8-BBD7-CCE9431645EC}">
              <a14:shadowObscured xmlns:a14="http://schemas.microsoft.com/office/drawing/2010/main"/>
            </a:ext>
          </a:extLst>
        </p:spPr>
      </p:pic>
      <p:pic>
        <p:nvPicPr>
          <p:cNvPr id="17" name="图片 16"/>
          <p:cNvPicPr/>
          <p:nvPr/>
        </p:nvPicPr>
        <p:blipFill>
          <a:blip r:embed="rId6">
            <a:extLst>
              <a:ext uri="{28A0092B-C50C-407E-A947-70E740481C1C}">
                <a14:useLocalDpi xmlns:a14="http://schemas.microsoft.com/office/drawing/2010/main" val="0"/>
              </a:ext>
            </a:extLst>
          </a:blip>
          <a:stretch>
            <a:fillRect/>
          </a:stretch>
        </p:blipFill>
        <p:spPr>
          <a:xfrm>
            <a:off x="6096000" y="4439340"/>
            <a:ext cx="3627665" cy="2481818"/>
          </a:xfrm>
          <a:prstGeom prst="rect">
            <a:avLst/>
          </a:prstGeom>
        </p:spPr>
      </p:pic>
      <p:sp>
        <p:nvSpPr>
          <p:cNvPr id="3" name="文本框 2"/>
          <p:cNvSpPr txBox="1"/>
          <p:nvPr/>
        </p:nvSpPr>
        <p:spPr>
          <a:xfrm>
            <a:off x="1374554" y="5327124"/>
            <a:ext cx="4416132"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华文仿宋" panose="02010600040101010101" pitchFamily="2" charset="-122"/>
                <a:ea typeface="华文仿宋" panose="02010600040101010101" pitchFamily="2" charset="-122"/>
                <a:cs typeface="+mn-cs"/>
              </a:rPr>
              <a:t>注意： </a:t>
            </a:r>
            <a:r>
              <a:rPr kumimoji="0" lang="en-US" altLang="zh-CN" sz="1800" b="0" i="0" u="none" strike="noStrike" kern="1200" cap="none" spc="0" normalizeH="0" baseline="0" noProof="0" dirty="0" smtClean="0">
                <a:ln>
                  <a:noFill/>
                </a:ln>
                <a:solidFill>
                  <a:prstClr val="black"/>
                </a:solidFill>
                <a:effectLst/>
                <a:uLnTx/>
                <a:uFillTx/>
                <a:latin typeface="华文仿宋" panose="02010600040101010101" pitchFamily="2" charset="-122"/>
                <a:ea typeface="华文仿宋" panose="02010600040101010101" pitchFamily="2" charset="-122"/>
                <a:cs typeface="+mn-cs"/>
              </a:rPr>
              <a:t>N-S</a:t>
            </a:r>
            <a:r>
              <a:rPr kumimoji="0" lang="zh-CN" altLang="en-US" sz="1800" b="0" i="0" u="none" strike="noStrike" kern="1200" cap="none" spc="0" normalizeH="0" baseline="0" noProof="0" dirty="0" smtClean="0">
                <a:ln>
                  <a:noFill/>
                </a:ln>
                <a:solidFill>
                  <a:prstClr val="black"/>
                </a:solidFill>
                <a:effectLst/>
                <a:uLnTx/>
                <a:uFillTx/>
                <a:latin typeface="华文仿宋" panose="02010600040101010101" pitchFamily="2" charset="-122"/>
                <a:ea typeface="华文仿宋" panose="02010600040101010101" pitchFamily="2" charset="-122"/>
                <a:cs typeface="+mn-cs"/>
              </a:rPr>
              <a:t>方程基于微元体建立的却应用到整个流场区域，属于小尺度分析；雷诺</a:t>
            </a:r>
            <a:r>
              <a:rPr kumimoji="0" lang="zh-CN" altLang="en-US" sz="18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cs typeface="+mn-cs"/>
              </a:rPr>
              <a:t>输运</a:t>
            </a:r>
            <a:r>
              <a:rPr kumimoji="0" lang="zh-CN" altLang="en-US" sz="1800" b="0" i="0" u="none" strike="noStrike" kern="1200" cap="none" spc="0" normalizeH="0" baseline="0" noProof="0" dirty="0" smtClean="0">
                <a:ln>
                  <a:noFill/>
                </a:ln>
                <a:solidFill>
                  <a:prstClr val="black"/>
                </a:solidFill>
                <a:effectLst/>
                <a:uLnTx/>
                <a:uFillTx/>
                <a:latin typeface="华文仿宋" panose="02010600040101010101" pitchFamily="2" charset="-122"/>
                <a:ea typeface="华文仿宋" panose="02010600040101010101" pitchFamily="2" charset="-122"/>
                <a:cs typeface="+mn-cs"/>
              </a:rPr>
              <a:t>定理定理基于控制体建立的，主要应用与局部，属于大尺度分析。具体问题根据具体情况择分析方法。</a:t>
            </a:r>
            <a:endParaRPr kumimoji="0" lang="zh-CN" altLang="en-US" sz="1800" b="0" i="0" u="none" strike="noStrike" kern="1200" cap="none" spc="0" normalizeH="0" baseline="0" noProof="0" dirty="0">
              <a:ln>
                <a:noFill/>
              </a:ln>
              <a:solidFill>
                <a:prstClr val="black"/>
              </a:solidFill>
              <a:effectLst/>
              <a:uLnTx/>
              <a:uFillTx/>
              <a:latin typeface="华文仿宋" panose="02010600040101010101" pitchFamily="2" charset="-122"/>
              <a:ea typeface="华文仿宋" panose="02010600040101010101" pitchFamily="2" charset="-122"/>
              <a:cs typeface="+mn-cs"/>
            </a:endParaRPr>
          </a:p>
        </p:txBody>
      </p:sp>
      <p:sp>
        <p:nvSpPr>
          <p:cNvPr id="19" name="标题 1"/>
          <p:cNvSpPr txBox="1">
            <a:spLocks/>
          </p:cNvSpPr>
          <p:nvPr/>
        </p:nvSpPr>
        <p:spPr>
          <a:xfrm>
            <a:off x="721658" y="3206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2 </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流体</a:t>
            </a: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运动和受力分析</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4784278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63364" y="1436600"/>
            <a:ext cx="4823182" cy="517064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重视大尺度流动结构：</a:t>
            </a:r>
            <a:endParaRPr kumimoji="0" lang="en-US" altLang="zh-CN" sz="20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因为物体形状或壁面摩擦，流体（</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通常</a:t>
            </a: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含涡量）卷曲形成尺度较大的流动结构</a:t>
            </a: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可能具有周期性、准周期性、随机性、拟序性。含能高，对流动演化、结构受力有重要影响</a:t>
            </a: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对传热有重要影响</a:t>
            </a: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分析方法：</a:t>
            </a:r>
            <a:endParaRPr kumimoji="0" lang="en-US" altLang="zh-CN"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在大尺度结构出现的时间里，对附近一定的空间范围内的流动和物体产生动态作用力，影响力的平衡（或者说动量输运）。工程上，因经常取平均，对该作用力的幅值和频率均进行了过滤，漏掉气动力产生的一个影响因素。</a:t>
            </a: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应用：</a:t>
            </a:r>
            <a:endParaRPr kumimoji="0" lang="en-US" altLang="zh-CN"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通过控制大尺度流动结构出现的频率、空间位置，可实现阻力控制。实车上已有成功案例。</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10" name="图片 9"/>
          <p:cNvPicPr/>
          <p:nvPr/>
        </p:nvPicPr>
        <p:blipFill>
          <a:blip r:embed="rId2"/>
          <a:stretch>
            <a:fillRect/>
          </a:stretch>
        </p:blipFill>
        <p:spPr>
          <a:xfrm>
            <a:off x="6096000" y="1228513"/>
            <a:ext cx="3964305" cy="2954020"/>
          </a:xfrm>
          <a:prstGeom prst="rect">
            <a:avLst/>
          </a:prstGeom>
        </p:spPr>
      </p:pic>
      <p:pic>
        <p:nvPicPr>
          <p:cNvPr id="11" name="图片 10"/>
          <p:cNvPicPr/>
          <p:nvPr/>
        </p:nvPicPr>
        <p:blipFill>
          <a:blip r:embed="rId3">
            <a:extLst>
              <a:ext uri="{28A0092B-C50C-407E-A947-70E740481C1C}">
                <a14:useLocalDpi xmlns:a14="http://schemas.microsoft.com/office/drawing/2010/main" val="0"/>
              </a:ext>
            </a:extLst>
          </a:blip>
          <a:stretch>
            <a:fillRect/>
          </a:stretch>
        </p:blipFill>
        <p:spPr>
          <a:xfrm>
            <a:off x="7966537" y="1318858"/>
            <a:ext cx="3785899" cy="2841564"/>
          </a:xfrm>
          <a:prstGeom prst="rect">
            <a:avLst/>
          </a:prstGeom>
        </p:spPr>
      </p:pic>
      <p:pic>
        <p:nvPicPr>
          <p:cNvPr id="8" name="图片 7"/>
          <p:cNvPicPr>
            <a:picLocks noChangeAspect="1"/>
          </p:cNvPicPr>
          <p:nvPr/>
        </p:nvPicPr>
        <p:blipFill>
          <a:blip r:embed="rId4"/>
          <a:stretch>
            <a:fillRect/>
          </a:stretch>
        </p:blipFill>
        <p:spPr>
          <a:xfrm>
            <a:off x="7520473" y="4293084"/>
            <a:ext cx="2083328" cy="2263995"/>
          </a:xfrm>
          <a:prstGeom prst="rect">
            <a:avLst/>
          </a:prstGeom>
        </p:spPr>
      </p:pic>
      <p:pic>
        <p:nvPicPr>
          <p:cNvPr id="9" name="图片 8"/>
          <p:cNvPicPr>
            <a:picLocks noChangeAspect="1"/>
          </p:cNvPicPr>
          <p:nvPr/>
        </p:nvPicPr>
        <p:blipFill>
          <a:blip r:embed="rId5"/>
          <a:stretch>
            <a:fillRect/>
          </a:stretch>
        </p:blipFill>
        <p:spPr>
          <a:xfrm>
            <a:off x="6176518" y="4261803"/>
            <a:ext cx="1586659" cy="2295276"/>
          </a:xfrm>
          <a:prstGeom prst="rect">
            <a:avLst/>
          </a:prstGeom>
        </p:spPr>
      </p:pic>
      <p:pic>
        <p:nvPicPr>
          <p:cNvPr id="13" name="图片 12"/>
          <p:cNvPicPr/>
          <p:nvPr/>
        </p:nvPicPr>
        <p:blipFill>
          <a:blip r:embed="rId6" cstate="print">
            <a:extLst>
              <a:ext uri="{28A0092B-C50C-407E-A947-70E740481C1C}">
                <a14:useLocalDpi xmlns:a14="http://schemas.microsoft.com/office/drawing/2010/main" val="0"/>
              </a:ext>
            </a:extLst>
          </a:blip>
          <a:stretch>
            <a:fillRect/>
          </a:stretch>
        </p:blipFill>
        <p:spPr>
          <a:xfrm>
            <a:off x="9526834" y="4494875"/>
            <a:ext cx="2412214" cy="1964444"/>
          </a:xfrm>
          <a:prstGeom prst="rect">
            <a:avLst/>
          </a:prstGeom>
        </p:spPr>
      </p:pic>
      <p:sp>
        <p:nvSpPr>
          <p:cNvPr id="14" name="标题 1"/>
          <p:cNvSpPr txBox="1">
            <a:spLocks/>
          </p:cNvSpPr>
          <p:nvPr/>
        </p:nvSpPr>
        <p:spPr>
          <a:xfrm>
            <a:off x="721658" y="3206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2 </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流体</a:t>
            </a: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运动和受力分析</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3884207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874411"/>
            <a:ext cx="10515600" cy="1325563"/>
          </a:xfrm>
        </p:spPr>
        <p:txBody>
          <a:bodyPr>
            <a:normAutofit/>
          </a:bodyPr>
          <a:lstStyle/>
          <a:p>
            <a:r>
              <a:rPr lang="en-US" altLang="zh-CN" sz="2000" dirty="0" smtClean="0">
                <a:solidFill>
                  <a:srgbClr val="7030A0"/>
                </a:solidFill>
                <a:latin typeface="微软雅黑" panose="020B0503020204020204" pitchFamily="34" charset="-122"/>
                <a:ea typeface="微软雅黑" panose="020B0503020204020204" pitchFamily="34" charset="-122"/>
              </a:rPr>
              <a:t>Q5 </a:t>
            </a:r>
            <a:r>
              <a:rPr lang="zh-CN" altLang="en-US" sz="2000" dirty="0" smtClean="0">
                <a:solidFill>
                  <a:srgbClr val="7030A0"/>
                </a:solidFill>
                <a:latin typeface="微软雅黑" panose="020B0503020204020204" pitchFamily="34" charset="-122"/>
                <a:ea typeface="微软雅黑" panose="020B0503020204020204" pitchFamily="34" charset="-122"/>
              </a:rPr>
              <a:t>涡量的重要性</a:t>
            </a:r>
            <a:endParaRPr lang="zh-CN" altLang="en-US" sz="2000" dirty="0">
              <a:solidFill>
                <a:srgbClr val="7030A0"/>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a:buFont typeface="Wingdings" panose="05000000000000000000" pitchFamily="2" charset="2"/>
              <a:buChar char="p"/>
            </a:pPr>
            <a:r>
              <a:rPr lang="zh-CN" altLang="en-US" sz="1800" dirty="0" smtClean="0">
                <a:latin typeface="微软雅黑" panose="020B0503020204020204" pitchFamily="34" charset="-122"/>
                <a:ea typeface="微软雅黑" panose="020B0503020204020204" pitchFamily="34" charset="-122"/>
              </a:rPr>
              <a:t>涡量是剪应力作用的量值表征。</a:t>
            </a:r>
            <a:endParaRPr lang="en-US" altLang="zh-CN" sz="1800" dirty="0" smtClean="0">
              <a:latin typeface="微软雅黑" panose="020B0503020204020204" pitchFamily="34" charset="-122"/>
              <a:ea typeface="微软雅黑" panose="020B0503020204020204" pitchFamily="34" charset="-122"/>
            </a:endParaRPr>
          </a:p>
          <a:p>
            <a:pPr>
              <a:buFont typeface="Wingdings" panose="05000000000000000000" pitchFamily="2" charset="2"/>
              <a:buChar char="p"/>
            </a:pPr>
            <a:r>
              <a:rPr lang="zh-CN" altLang="en-US" sz="1800" dirty="0" smtClean="0">
                <a:latin typeface="微软雅黑" panose="020B0503020204020204" pitchFamily="34" charset="-122"/>
                <a:ea typeface="微软雅黑" panose="020B0503020204020204" pitchFamily="34" charset="-122"/>
              </a:rPr>
              <a:t>涡量是表征涡特征的重要物理量，是</a:t>
            </a:r>
            <a:r>
              <a:rPr lang="en-US" altLang="zh-CN" sz="1800" dirty="0" smtClean="0">
                <a:latin typeface="微软雅黑" panose="020B0503020204020204" pitchFamily="34" charset="-122"/>
                <a:ea typeface="微软雅黑" panose="020B0503020204020204" pitchFamily="34" charset="-122"/>
              </a:rPr>
              <a:t>n-s</a:t>
            </a:r>
            <a:r>
              <a:rPr lang="zh-CN" altLang="en-US" sz="1800" dirty="0" smtClean="0">
                <a:latin typeface="微软雅黑" panose="020B0503020204020204" pitchFamily="34" charset="-122"/>
                <a:ea typeface="微软雅黑" panose="020B0503020204020204" pitchFamily="34" charset="-122"/>
              </a:rPr>
              <a:t>方程的数学解。</a:t>
            </a:r>
            <a:endParaRPr lang="en-US" altLang="zh-CN" sz="1800" dirty="0" smtClean="0">
              <a:latin typeface="微软雅黑" panose="020B0503020204020204" pitchFamily="34" charset="-122"/>
              <a:ea typeface="微软雅黑" panose="020B0503020204020204" pitchFamily="34" charset="-122"/>
            </a:endParaRPr>
          </a:p>
          <a:p>
            <a:pPr>
              <a:buFont typeface="Wingdings" panose="05000000000000000000" pitchFamily="2" charset="2"/>
              <a:buChar char="p"/>
            </a:pPr>
            <a:r>
              <a:rPr lang="zh-CN" altLang="en-US" sz="1800" dirty="0">
                <a:latin typeface="微软雅黑" panose="020B0503020204020204" pitchFamily="34" charset="-122"/>
                <a:ea typeface="微软雅黑" panose="020B0503020204020204" pitchFamily="34" charset="-122"/>
              </a:rPr>
              <a:t>流体不抗搓，一搓就有</a:t>
            </a:r>
            <a:r>
              <a:rPr lang="zh-CN" altLang="en-US" sz="1800" dirty="0" smtClean="0">
                <a:latin typeface="微软雅黑" panose="020B0503020204020204" pitchFamily="34" charset="-122"/>
                <a:ea typeface="微软雅黑" panose="020B0503020204020204" pitchFamily="34" charset="-122"/>
              </a:rPr>
              <a:t>涡。涡</a:t>
            </a:r>
            <a:r>
              <a:rPr lang="zh-CN" altLang="en-US" sz="1800" dirty="0">
                <a:latin typeface="微软雅黑" panose="020B0503020204020204" pitchFamily="34" charset="-122"/>
                <a:ea typeface="微软雅黑" panose="020B0503020204020204" pitchFamily="34" charset="-122"/>
              </a:rPr>
              <a:t>（通常含有涡量）是流体运动的肌腱，它一端与剪应力有关，一端与流动现象</a:t>
            </a:r>
            <a:r>
              <a:rPr lang="zh-CN" altLang="en-US" sz="1800" dirty="0" smtClean="0">
                <a:latin typeface="微软雅黑" panose="020B0503020204020204" pitchFamily="34" charset="-122"/>
                <a:ea typeface="微软雅黑" panose="020B0503020204020204" pitchFamily="34" charset="-122"/>
              </a:rPr>
              <a:t>有关。</a:t>
            </a:r>
            <a:endParaRPr lang="en-US" altLang="zh-CN" sz="1800" dirty="0" smtClean="0">
              <a:latin typeface="微软雅黑" panose="020B0503020204020204" pitchFamily="34" charset="-122"/>
              <a:ea typeface="微软雅黑" panose="020B0503020204020204" pitchFamily="34" charset="-122"/>
            </a:endParaRPr>
          </a:p>
          <a:p>
            <a:pPr>
              <a:buFont typeface="Wingdings" panose="05000000000000000000" pitchFamily="2" charset="2"/>
              <a:buChar char="p"/>
            </a:pPr>
            <a:r>
              <a:rPr lang="zh-CN" altLang="en-US" sz="1800" dirty="0" smtClean="0">
                <a:latin typeface="微软雅黑" panose="020B0503020204020204" pitchFamily="34" charset="-122"/>
                <a:ea typeface="微软雅黑" panose="020B0503020204020204" pitchFamily="34" charset="-122"/>
              </a:rPr>
              <a:t>涡</a:t>
            </a:r>
            <a:r>
              <a:rPr lang="zh-CN" altLang="en-US" sz="1800" dirty="0">
                <a:latin typeface="微软雅黑" panose="020B0503020204020204" pitchFamily="34" charset="-122"/>
                <a:ea typeface="微软雅黑" panose="020B0503020204020204" pitchFamily="34" charset="-122"/>
              </a:rPr>
              <a:t>的出现意味着流动状态出现了改变，可能出现湍流。</a:t>
            </a:r>
            <a:endParaRPr lang="en-US" altLang="zh-CN" sz="1800" dirty="0">
              <a:latin typeface="微软雅黑" panose="020B0503020204020204" pitchFamily="34" charset="-122"/>
              <a:ea typeface="微软雅黑" panose="020B0503020204020204" pitchFamily="34" charset="-122"/>
            </a:endParaRPr>
          </a:p>
          <a:p>
            <a:pPr marL="0" indent="0">
              <a:buNone/>
            </a:pPr>
            <a:endParaRPr lang="en-US" altLang="zh-CN" sz="2000" dirty="0" smtClean="0">
              <a:solidFill>
                <a:srgbClr val="7030A0"/>
              </a:solidFill>
              <a:latin typeface="华文仿宋" panose="02010600040101010101" pitchFamily="2" charset="-122"/>
              <a:ea typeface="华文仿宋" panose="02010600040101010101" pitchFamily="2" charset="-122"/>
            </a:endParaRPr>
          </a:p>
          <a:p>
            <a:pPr marL="0" indent="0">
              <a:buNone/>
            </a:pPr>
            <a:r>
              <a:rPr lang="zh-CN" altLang="en-US" sz="2000" dirty="0" smtClean="0">
                <a:solidFill>
                  <a:srgbClr val="00B0F0"/>
                </a:solidFill>
                <a:latin typeface="华文仿宋" panose="02010600040101010101" pitchFamily="2" charset="-122"/>
                <a:ea typeface="华文仿宋" panose="02010600040101010101" pitchFamily="2" charset="-122"/>
              </a:rPr>
              <a:t>注意，当流体正压、体积力有势、不考虑粘性耗散时，涡量与真实流体涡一致。常压室温平静的状态下，涡量对涡的描述具有足够的近似。</a:t>
            </a:r>
            <a:endParaRPr lang="zh-CN" altLang="en-US" sz="2000" dirty="0">
              <a:solidFill>
                <a:srgbClr val="00B0F0"/>
              </a:solidFill>
              <a:latin typeface="华文仿宋" panose="02010600040101010101" pitchFamily="2" charset="-122"/>
              <a:ea typeface="华文仿宋" panose="02010600040101010101" pitchFamily="2" charset="-122"/>
            </a:endParaRPr>
          </a:p>
        </p:txBody>
      </p:sp>
      <p:grpSp>
        <p:nvGrpSpPr>
          <p:cNvPr id="8" name="组合 7"/>
          <p:cNvGrpSpPr/>
          <p:nvPr/>
        </p:nvGrpSpPr>
        <p:grpSpPr>
          <a:xfrm>
            <a:off x="5114608" y="11658"/>
            <a:ext cx="6613003" cy="1813967"/>
            <a:chOff x="4095095" y="3288901"/>
            <a:chExt cx="7942576" cy="2126359"/>
          </a:xfrm>
        </p:grpSpPr>
        <p:pic>
          <p:nvPicPr>
            <p:cNvPr id="5" name="图片 4"/>
            <p:cNvPicPr>
              <a:picLocks noChangeAspect="1"/>
            </p:cNvPicPr>
            <p:nvPr/>
          </p:nvPicPr>
          <p:blipFill>
            <a:blip r:embed="rId2"/>
            <a:stretch>
              <a:fillRect/>
            </a:stretch>
          </p:blipFill>
          <p:spPr>
            <a:xfrm>
              <a:off x="4095095" y="3288901"/>
              <a:ext cx="7942576" cy="2126359"/>
            </a:xfrm>
            <a:prstGeom prst="rect">
              <a:avLst/>
            </a:prstGeom>
          </p:spPr>
        </p:pic>
        <p:sp>
          <p:nvSpPr>
            <p:cNvPr id="6" name="矩形 5"/>
            <p:cNvSpPr/>
            <p:nvPr/>
          </p:nvSpPr>
          <p:spPr>
            <a:xfrm>
              <a:off x="11169570" y="4352081"/>
              <a:ext cx="868101" cy="671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矩形 6"/>
            <p:cNvSpPr/>
            <p:nvPr/>
          </p:nvSpPr>
          <p:spPr>
            <a:xfrm>
              <a:off x="11030673" y="4433104"/>
              <a:ext cx="879676" cy="590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2761" y="4657044"/>
            <a:ext cx="5523715" cy="1175258"/>
          </a:xfrm>
          <a:prstGeom prst="rect">
            <a:avLst/>
          </a:prstGeom>
        </p:spPr>
      </p:pic>
      <p:sp>
        <p:nvSpPr>
          <p:cNvPr id="10" name="矩形 9"/>
          <p:cNvSpPr/>
          <p:nvPr/>
        </p:nvSpPr>
        <p:spPr>
          <a:xfrm>
            <a:off x="5074687" y="4657044"/>
            <a:ext cx="1315452" cy="177531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 name="矩形 10"/>
          <p:cNvSpPr/>
          <p:nvPr/>
        </p:nvSpPr>
        <p:spPr>
          <a:xfrm>
            <a:off x="6662855" y="4657043"/>
            <a:ext cx="759210" cy="1775311"/>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矩形 11"/>
          <p:cNvSpPr/>
          <p:nvPr/>
        </p:nvSpPr>
        <p:spPr>
          <a:xfrm>
            <a:off x="7729656" y="4657043"/>
            <a:ext cx="1836820" cy="1775312"/>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3" name="文本框 12"/>
          <p:cNvSpPr txBox="1"/>
          <p:nvPr/>
        </p:nvSpPr>
        <p:spPr>
          <a:xfrm>
            <a:off x="5074687" y="5858312"/>
            <a:ext cx="1339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彻体力做功</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 name="文本框 13"/>
          <p:cNvSpPr txBox="1"/>
          <p:nvPr/>
        </p:nvSpPr>
        <p:spPr>
          <a:xfrm>
            <a:off x="6697730" y="5786023"/>
            <a:ext cx="133951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压强</a:t>
            </a:r>
            <a:endPar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影响</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5" name="文本框 14"/>
          <p:cNvSpPr txBox="1"/>
          <p:nvPr/>
        </p:nvSpPr>
        <p:spPr>
          <a:xfrm>
            <a:off x="8132103" y="5858312"/>
            <a:ext cx="1339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粘性影响</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6" name="矩形 15"/>
          <p:cNvSpPr/>
          <p:nvPr/>
        </p:nvSpPr>
        <p:spPr>
          <a:xfrm>
            <a:off x="1780603" y="5060007"/>
            <a:ext cx="226215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华文细黑" panose="02010600040101010101" pitchFamily="2" charset="-122"/>
                <a:ea typeface="华文细黑" panose="02010600040101010101" pitchFamily="2" charset="-122"/>
                <a:cs typeface="+mn-cs"/>
              </a:rPr>
              <a:t>开尔文速度环量定理</a:t>
            </a:r>
          </a:p>
        </p:txBody>
      </p:sp>
      <p:sp>
        <p:nvSpPr>
          <p:cNvPr id="17" name="标题 1"/>
          <p:cNvSpPr txBox="1">
            <a:spLocks/>
          </p:cNvSpPr>
          <p:nvPr/>
        </p:nvSpPr>
        <p:spPr>
          <a:xfrm>
            <a:off x="721658" y="3206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2 </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流体</a:t>
            </a: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运动和受力分析</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38172146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33217"/>
            <a:ext cx="10515600" cy="1325563"/>
          </a:xfrm>
        </p:spPr>
        <p:txBody>
          <a:bodyPr>
            <a:normAutofit/>
          </a:bodyPr>
          <a:lstStyle/>
          <a:p>
            <a:r>
              <a:rPr lang="en-US" altLang="zh-CN" sz="2000" dirty="0" smtClean="0">
                <a:solidFill>
                  <a:srgbClr val="7030A0"/>
                </a:solidFill>
                <a:latin typeface="微软雅黑" panose="020B0503020204020204" pitchFamily="34" charset="-122"/>
                <a:ea typeface="微软雅黑" panose="020B0503020204020204" pitchFamily="34" charset="-122"/>
              </a:rPr>
              <a:t>Q6 : </a:t>
            </a:r>
            <a:r>
              <a:rPr lang="zh-CN" altLang="en-US" sz="2000" dirty="0" smtClean="0">
                <a:solidFill>
                  <a:srgbClr val="7030A0"/>
                </a:solidFill>
                <a:latin typeface="微软雅黑" panose="020B0503020204020204" pitchFamily="34" charset="-122"/>
                <a:ea typeface="微软雅黑" panose="020B0503020204020204" pitchFamily="34" charset="-122"/>
              </a:rPr>
              <a:t>重视边界层</a:t>
            </a:r>
            <a:endParaRPr lang="zh-CN" altLang="en-US" sz="2000" dirty="0">
              <a:solidFill>
                <a:srgbClr val="7030A0"/>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3"/>
          <a:stretch>
            <a:fillRect/>
          </a:stretch>
        </p:blipFill>
        <p:spPr>
          <a:xfrm>
            <a:off x="684708" y="1903089"/>
            <a:ext cx="4496427" cy="2305372"/>
          </a:xfrm>
          <a:prstGeom prst="rect">
            <a:avLst/>
          </a:prstGeom>
        </p:spPr>
      </p:pic>
      <p:sp>
        <p:nvSpPr>
          <p:cNvPr id="4" name="文本框 3"/>
          <p:cNvSpPr txBox="1"/>
          <p:nvPr/>
        </p:nvSpPr>
        <p:spPr>
          <a:xfrm>
            <a:off x="838200" y="4208461"/>
            <a:ext cx="5161384"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边界层是流动结构的起源地。</a:t>
            </a: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因粘性作用，壁面流体运动速度与壁面一致，即无滑移假设规定的内容。此时，壁面上的流体微团，只可能存在转动，没有任何平动。</a:t>
            </a: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理解位移厚度。</a:t>
            </a:r>
            <a:endParaRPr kumimoji="0" lang="en-US" altLang="zh-CN"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最</a:t>
            </a: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靠近壁面的流线划分了流动的边界。</a:t>
            </a: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5" name="对象 4"/>
          <p:cNvGraphicFramePr>
            <a:graphicFrameLocks noChangeAspect="1"/>
          </p:cNvGraphicFramePr>
          <p:nvPr>
            <p:extLst/>
          </p:nvPr>
        </p:nvGraphicFramePr>
        <p:xfrm>
          <a:off x="8036505" y="1799602"/>
          <a:ext cx="1620679" cy="814706"/>
        </p:xfrm>
        <a:graphic>
          <a:graphicData uri="http://schemas.openxmlformats.org/presentationml/2006/ole">
            <mc:AlternateContent xmlns:mc="http://schemas.openxmlformats.org/markup-compatibility/2006">
              <mc:Choice xmlns:v="urn:schemas-microsoft-com:vml" Requires="v">
                <p:oleObj spid="_x0000_s2073" name="Equation" r:id="rId4" imgW="952200" imgH="380880" progId="Equation.DSMT4">
                  <p:embed/>
                </p:oleObj>
              </mc:Choice>
              <mc:Fallback>
                <p:oleObj name="Equation" r:id="rId4" imgW="952200" imgH="380880" progId="Equation.DSMT4">
                  <p:embed/>
                  <p:pic>
                    <p:nvPicPr>
                      <p:cNvPr id="5" name="对象 4"/>
                      <p:cNvPicPr/>
                      <p:nvPr/>
                    </p:nvPicPr>
                    <p:blipFill>
                      <a:blip r:embed="rId5"/>
                      <a:stretch>
                        <a:fillRect/>
                      </a:stretch>
                    </p:blipFill>
                    <p:spPr>
                      <a:xfrm>
                        <a:off x="8036505" y="1799602"/>
                        <a:ext cx="1620679" cy="814706"/>
                      </a:xfrm>
                      <a:prstGeom prst="rect">
                        <a:avLst/>
                      </a:prstGeom>
                    </p:spPr>
                  </p:pic>
                </p:oleObj>
              </mc:Fallback>
            </mc:AlternateContent>
          </a:graphicData>
        </a:graphic>
      </p:graphicFrame>
      <p:sp>
        <p:nvSpPr>
          <p:cNvPr id="6" name="矩形 5"/>
          <p:cNvSpPr/>
          <p:nvPr/>
        </p:nvSpPr>
        <p:spPr>
          <a:xfrm>
            <a:off x="6249912" y="2898350"/>
            <a:ext cx="5623249" cy="378565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如果存在转动，则出现壁面涡量。在压力梯度的作用下，壁面涡量可能离开壁面，进入流体内部，形成带有涡量的流动结构</a:t>
            </a:r>
            <a:r>
              <a:rPr kumimoji="0" lang="zh-CN" altLang="en-US"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（大多数人认为是涡，周培源认为其也具有波的物理特征）</a:t>
            </a:r>
            <a:endParaRPr kumimoji="0" lang="en-US" altLang="zh-CN"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smtClean="0">
                <a:ln>
                  <a:noFill/>
                </a:ln>
                <a:solidFill>
                  <a:srgbClr val="00B0F0"/>
                </a:solidFill>
                <a:effectLst/>
                <a:uLnTx/>
                <a:uFillTx/>
                <a:latin typeface="华文仿宋" panose="02010600040101010101" pitchFamily="2" charset="-122"/>
                <a:ea typeface="华文仿宋" panose="02010600040101010101" pitchFamily="2" charset="-122"/>
                <a:cs typeface="+mn-cs"/>
              </a:rPr>
              <a:t>注意</a:t>
            </a:r>
            <a:endParaRPr kumimoji="0" lang="en-US" altLang="zh-CN" sz="2000" b="0" i="0" u="none" strike="noStrike" kern="1200" cap="none" spc="0" normalizeH="0" baseline="0" noProof="0" dirty="0" smtClean="0">
              <a:ln>
                <a:noFill/>
              </a:ln>
              <a:solidFill>
                <a:srgbClr val="00B0F0"/>
              </a:solidFill>
              <a:effectLst/>
              <a:uLnTx/>
              <a:uFillTx/>
              <a:latin typeface="华文仿宋" panose="02010600040101010101" pitchFamily="2" charset="-122"/>
              <a:ea typeface="华文仿宋" panose="0201060004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smtClean="0">
                <a:ln>
                  <a:noFill/>
                </a:ln>
                <a:solidFill>
                  <a:srgbClr val="00B0F0"/>
                </a:solidFill>
                <a:effectLst/>
                <a:uLnTx/>
                <a:uFillTx/>
                <a:latin typeface="华文仿宋" panose="02010600040101010101" pitchFamily="2" charset="-122"/>
                <a:ea typeface="华文仿宋" panose="02010600040101010101" pitchFamily="2" charset="-122"/>
                <a:cs typeface="+mn-cs"/>
              </a:rPr>
              <a:t>边界层流动特征一定是三维、动态的。教科书中的二维理论、利用外层流动分析边界层内的内力，均是机械的、理想的、不全面的推导，在面对真正三维、动态、高速、非正压、甚至是曲面附近的边界层时是苍白无力的，已有理论仅可作为参考而不能作为指导。</a:t>
            </a:r>
            <a:endParaRPr kumimoji="0" lang="en-US" altLang="zh-CN" sz="2000" b="0" i="0" u="none" strike="noStrike" kern="1200" cap="none" spc="0" normalizeH="0" baseline="0" noProof="0" dirty="0">
              <a:ln>
                <a:noFill/>
              </a:ln>
              <a:solidFill>
                <a:srgbClr val="00B0F0"/>
              </a:solidFill>
              <a:effectLst/>
              <a:uLnTx/>
              <a:uFillTx/>
              <a:latin typeface="华文仿宋" panose="02010600040101010101" pitchFamily="2" charset="-122"/>
              <a:ea typeface="华文仿宋" panose="0201060004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 name="TextBox 32"/>
          <p:cNvSpPr txBox="1"/>
          <p:nvPr/>
        </p:nvSpPr>
        <p:spPr>
          <a:xfrm>
            <a:off x="6249912" y="1321211"/>
            <a:ext cx="3146015" cy="337011"/>
          </a:xfrm>
          <a:prstGeom prst="rect">
            <a:avLst/>
          </a:prstGeom>
          <a:noFill/>
          <a:effectLst>
            <a:softEdge rad="12700"/>
          </a:effectLst>
        </p:spPr>
        <p:txBody>
          <a:bodyPr wrap="square" lIns="59432" tIns="29716" rIns="59432" bIns="29716" rtlCol="0">
            <a:spAutoFit/>
          </a:bodyPr>
          <a:lstStyle/>
          <a:p>
            <a:pPr marL="0" marR="0" lvl="0" indent="0" algn="l" defTabSz="914400" rtl="0" eaLnBrk="1" fontAlgn="auto" latinLnBrk="0" hangingPunct="1">
              <a:lnSpc>
                <a:spcPct val="100000"/>
              </a:lnSpc>
              <a:spcBef>
                <a:spcPts val="0"/>
              </a:spcBef>
              <a:spcAft>
                <a:spcPts val="450"/>
              </a:spcAft>
              <a:buClrTx/>
              <a:buSzTx/>
              <a:buFontTx/>
              <a:buNone/>
              <a:tabLst/>
              <a:defRPr/>
            </a:pPr>
            <a:r>
              <a:rPr kumimoji="0" lang="en-US" altLang="zh-CN" sz="1800" b="0" i="0" u="none" strike="noStrike" kern="1200" cap="none" spc="38" normalizeH="0" baseline="0" noProof="0" dirty="0" err="1"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Lighthill</a:t>
            </a:r>
            <a:r>
              <a:rPr kumimoji="0" lang="en-US" altLang="zh-CN" sz="1800" b="0" i="0" u="none" strike="noStrike" kern="1200" cap="none" spc="38" normalizeH="0" baseline="0" noProof="0" dirty="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0" i="0" u="none" strike="noStrike" kern="1200" cap="none" spc="38" normalizeH="0" baseline="0" noProof="0" dirty="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壁</a:t>
            </a:r>
            <a:r>
              <a:rPr kumimoji="0" lang="zh-CN" altLang="en-US" sz="1800" b="0" i="0" u="none" strike="noStrike" kern="1200" cap="none" spc="38"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面涡量流率</a:t>
            </a:r>
            <a:r>
              <a:rPr kumimoji="0" lang="zh-CN" altLang="en-US" sz="1800" b="0" i="0" u="none" strike="noStrike" kern="1200" cap="none" spc="38" normalizeH="0" baseline="0" noProof="0" dirty="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理论</a:t>
            </a:r>
            <a:endParaRPr kumimoji="0" lang="en-US" altLang="zh-CN" sz="1800" b="0" i="0" u="none" strike="noStrike" kern="1200" cap="none" spc="38"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p:cNvPicPr>
            <a:picLocks noChangeAspect="1"/>
          </p:cNvPicPr>
          <p:nvPr/>
        </p:nvPicPr>
        <p:blipFill>
          <a:blip r:embed="rId6"/>
          <a:stretch>
            <a:fillRect/>
          </a:stretch>
        </p:blipFill>
        <p:spPr>
          <a:xfrm>
            <a:off x="275563" y="1903089"/>
            <a:ext cx="5523354" cy="2209341"/>
          </a:xfrm>
          <a:prstGeom prst="rect">
            <a:avLst/>
          </a:prstGeom>
        </p:spPr>
      </p:pic>
      <p:sp>
        <p:nvSpPr>
          <p:cNvPr id="10" name="标题 1"/>
          <p:cNvSpPr txBox="1">
            <a:spLocks/>
          </p:cNvSpPr>
          <p:nvPr/>
        </p:nvSpPr>
        <p:spPr>
          <a:xfrm>
            <a:off x="721658" y="3206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2 </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流体</a:t>
            </a: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运动和受力分析</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3272889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3074" name="Picture 2" descr="https://img1.baidu.com/it/u=169863673,164459497&amp;fm=253&amp;fmt=auto&amp;app=138&amp;f=GIF?w=484&amp;h=49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8401" y="3264523"/>
            <a:ext cx="440954" cy="45462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gimg2.baidu.com/image_search/src=http%3A%2F%2Fx0.ifengimg.com%2Fres%2F2021%2FBB8BFB4100BE04F0A99FCB08BA3B85CB2630477A_size1047_w5714_h2857.jpeg&amp;refer=http%3A%2F%2Fx0.ifengimg.com&amp;app=2002&amp;size=f9999,10000&amp;q=a80&amp;n=0&amp;g=0n&amp;fmt=auto?sec=1669774219&amp;t=498b34c0d4989ab4f47f351752b6056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41782" y="3054525"/>
            <a:ext cx="1749235" cy="874618"/>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p:cNvSpPr txBox="1"/>
          <p:nvPr/>
        </p:nvSpPr>
        <p:spPr>
          <a:xfrm>
            <a:off x="1088401" y="1309815"/>
            <a:ext cx="10336725"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有关阻力系数：</a:t>
            </a:r>
            <a:endParaRPr kumimoji="0" lang="en-US" altLang="zh-CN" sz="2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err="1" smtClean="0">
                <a:ln>
                  <a:noFill/>
                </a:ln>
                <a:solidFill>
                  <a:srgbClr val="00B0F0"/>
                </a:solidFill>
                <a:effectLst/>
                <a:uLnTx/>
                <a:uFillTx/>
                <a:latin typeface="Times New Roman" panose="02020603050405020304" pitchFamily="18" charset="0"/>
                <a:ea typeface="等线" panose="02010600030101010101" pitchFamily="2" charset="-122"/>
                <a:cs typeface="Times New Roman" panose="02020603050405020304" pitchFamily="18" charset="0"/>
              </a:rPr>
              <a:t>U</a:t>
            </a:r>
            <a:r>
              <a:rPr kumimoji="0" lang="en-US" altLang="zh-CN" sz="2000" b="0" i="0" u="none" strike="noStrike" kern="1200" cap="none" spc="0" normalizeH="0" baseline="-25000" noProof="0" dirty="0" err="1" smtClean="0">
                <a:ln>
                  <a:noFill/>
                </a:ln>
                <a:solidFill>
                  <a:srgbClr val="00B0F0"/>
                </a:solidFill>
                <a:effectLst/>
                <a:uLnTx/>
                <a:uFillTx/>
                <a:latin typeface="Times New Roman" panose="02020603050405020304" pitchFamily="18" charset="0"/>
                <a:ea typeface="等线" panose="02010600030101010101" pitchFamily="2" charset="-122"/>
                <a:cs typeface="Times New Roman" panose="02020603050405020304" pitchFamily="18" charset="0"/>
              </a:rPr>
              <a:t>car</a:t>
            </a:r>
            <a:r>
              <a:rPr kumimoji="0" lang="zh-CN" altLang="en-US" sz="2000" b="0" i="0" u="none" strike="noStrike" kern="1200" cap="none" spc="0" normalizeH="0" baseline="0" noProof="0" dirty="0" smtClean="0">
                <a:ln>
                  <a:noFill/>
                </a:ln>
                <a:solidFill>
                  <a:srgbClr val="00B0F0"/>
                </a:solidFill>
                <a:effectLst/>
                <a:uLnTx/>
                <a:uFillTx/>
                <a:latin typeface="等线" panose="020F0502020204030204"/>
                <a:ea typeface="等线" panose="02010600030101010101" pitchFamily="2" charset="-122"/>
                <a:cs typeface="+mn-cs"/>
              </a:rPr>
              <a:t>汽车对地速度，或行驶速度，</a:t>
            </a:r>
            <a:r>
              <a:rPr kumimoji="0" lang="en-US" altLang="zh-CN" sz="2000" b="0" i="1" u="none" strike="noStrike" kern="1200" cap="none" spc="0" normalizeH="0" baseline="0" noProof="0" dirty="0" err="1" smtClean="0">
                <a:ln>
                  <a:noFill/>
                </a:ln>
                <a:solidFill>
                  <a:srgbClr val="00B0F0"/>
                </a:solidFill>
                <a:effectLst/>
                <a:uLnTx/>
                <a:uFillTx/>
                <a:latin typeface="Times New Roman" panose="02020603050405020304" pitchFamily="18" charset="0"/>
                <a:ea typeface="等线" panose="02010600030101010101" pitchFamily="2" charset="-122"/>
                <a:cs typeface="Times New Roman" panose="02020603050405020304" pitchFamily="18" charset="0"/>
              </a:rPr>
              <a:t>U</a:t>
            </a:r>
            <a:r>
              <a:rPr kumimoji="0" lang="en-US" altLang="zh-CN" sz="2000" b="0" i="1" u="none" strike="noStrike" kern="1200" cap="none" spc="0" normalizeH="0" baseline="-25000" noProof="0" dirty="0" err="1" smtClean="0">
                <a:ln>
                  <a:noFill/>
                </a:ln>
                <a:solidFill>
                  <a:srgbClr val="00B0F0"/>
                </a:solidFill>
                <a:effectLst/>
                <a:uLnTx/>
                <a:uFillTx/>
                <a:latin typeface="Times New Roman" panose="02020603050405020304" pitchFamily="18" charset="0"/>
                <a:ea typeface="等线" panose="02010600030101010101" pitchFamily="2" charset="-122"/>
                <a:cs typeface="Times New Roman" panose="02020603050405020304" pitchFamily="18" charset="0"/>
              </a:rPr>
              <a:t>air</a:t>
            </a:r>
            <a:r>
              <a:rPr kumimoji="0" lang="zh-CN" altLang="en-US" sz="2000" b="0" i="0" u="none" strike="noStrike" kern="1200" cap="none" spc="0" normalizeH="0" baseline="0" noProof="0" dirty="0" smtClean="0">
                <a:ln>
                  <a:noFill/>
                </a:ln>
                <a:solidFill>
                  <a:srgbClr val="00B0F0"/>
                </a:solidFill>
                <a:effectLst/>
                <a:uLnTx/>
                <a:uFillTx/>
                <a:latin typeface="等线" panose="020F0502020204030204"/>
                <a:ea typeface="等线" panose="02010600030101010101" pitchFamily="2" charset="-122"/>
                <a:cs typeface="+mn-cs"/>
              </a:rPr>
              <a:t>气流对地速度，</a:t>
            </a:r>
            <a:r>
              <a:rPr kumimoji="0" lang="en-US" altLang="zh-CN" sz="2000" b="0" i="1" u="none" strike="noStrike" kern="1200" cap="none" spc="0" normalizeH="0" baseline="0" noProof="0" dirty="0" smtClean="0">
                <a:ln>
                  <a:noFill/>
                </a:ln>
                <a:solidFill>
                  <a:srgbClr val="00B0F0"/>
                </a:solidFill>
                <a:effectLst/>
                <a:uLnTx/>
                <a:uFillTx/>
                <a:latin typeface="Times New Roman" panose="02020603050405020304" pitchFamily="18" charset="0"/>
                <a:ea typeface="等线" panose="02010600030101010101" pitchFamily="2" charset="-122"/>
                <a:cs typeface="Times New Roman" panose="02020603050405020304" pitchFamily="18" charset="0"/>
              </a:rPr>
              <a:t>U</a:t>
            </a:r>
            <a:r>
              <a:rPr kumimoji="0" lang="zh-CN" altLang="en-US" sz="2000" b="0" i="0" u="none" strike="noStrike" kern="1200" cap="none" spc="0" normalizeH="0" baseline="0" noProof="0" dirty="0" smtClean="0">
                <a:ln>
                  <a:noFill/>
                </a:ln>
                <a:solidFill>
                  <a:srgbClr val="00B0F0"/>
                </a:solidFill>
                <a:effectLst/>
                <a:uLnTx/>
                <a:uFillTx/>
                <a:latin typeface="等线" panose="020F0502020204030204"/>
                <a:ea typeface="等线" panose="02010600030101010101" pitchFamily="2" charset="-122"/>
                <a:cs typeface="+mn-cs"/>
              </a:rPr>
              <a:t>表示汽车与气流的相对速度。</a:t>
            </a:r>
            <a:endParaRPr kumimoji="0" lang="en-US" altLang="zh-CN" sz="2000" b="0" i="0" u="none" strike="noStrike" kern="1200" cap="none" spc="0" normalizeH="0" baseline="0" noProof="0" dirty="0" smtClean="0">
              <a:ln>
                <a:noFill/>
              </a:ln>
              <a:solidFill>
                <a:srgbClr val="00B0F0"/>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右箭头 1"/>
          <p:cNvSpPr/>
          <p:nvPr/>
        </p:nvSpPr>
        <p:spPr>
          <a:xfrm>
            <a:off x="1867551" y="3109869"/>
            <a:ext cx="1236035" cy="763929"/>
          </a:xfrm>
          <a:prstGeom prst="rightArrow">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 name="文本框 2"/>
          <p:cNvSpPr txBox="1"/>
          <p:nvPr/>
        </p:nvSpPr>
        <p:spPr>
          <a:xfrm>
            <a:off x="2029597" y="2808794"/>
            <a:ext cx="61801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1" u="none" strike="noStrike" kern="1200" cap="none" spc="0" normalizeH="0" baseline="0" noProof="0" dirty="0" err="1"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U</a:t>
            </a:r>
            <a:r>
              <a:rPr kumimoji="0" lang="en-US" altLang="zh-CN" sz="1800" b="0" i="1" u="none" strike="noStrike" kern="1200" cap="none" spc="0" normalizeH="0" baseline="-25000" noProof="0" dirty="0" err="1"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air</a:t>
            </a:r>
            <a:endParaRPr kumimoji="0" lang="zh-CN" altLang="en-US" sz="1800" b="0" i="1" u="none" strike="noStrike" kern="1200" cap="none" spc="0" normalizeH="0" baseline="-2500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0" name="文本框 19"/>
          <p:cNvSpPr txBox="1"/>
          <p:nvPr/>
        </p:nvSpPr>
        <p:spPr>
          <a:xfrm>
            <a:off x="946053" y="4214358"/>
            <a:ext cx="4315065" cy="2246769"/>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600"/>
              </a:spcAft>
              <a:buClrTx/>
              <a:buSzTx/>
              <a:buFont typeface="Wingdings" panose="05000000000000000000" pitchFamily="2" charset="2"/>
              <a:buChar char="p"/>
              <a:tabLst/>
              <a:defRPr/>
            </a:pPr>
            <a:r>
              <a:rPr kumimoji="0" lang="zh-CN" altLang="en-US" sz="2400" b="0" i="0" u="none" strike="noStrike" kern="1200" cap="none" spc="0" normalizeH="0" baseline="0" noProof="0" dirty="0" smtClean="0">
                <a:ln>
                  <a:noFill/>
                </a:ln>
                <a:solidFill>
                  <a:srgbClr val="7030A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道路：</a:t>
            </a:r>
            <a:endParaRPr kumimoji="0" lang="en-US" altLang="zh-CN" sz="2400" b="0" i="0" u="none" strike="noStrike" kern="1200" cap="none" spc="0" normalizeH="0" baseline="0" noProof="0" dirty="0" smtClean="0">
              <a:ln>
                <a:noFill/>
              </a:ln>
              <a:solidFill>
                <a:srgbClr val="7030A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altLang="zh-CN" sz="2400" b="0" i="1" u="none" strike="noStrike" kern="1200" cap="none" spc="0" normalizeH="0" baseline="0" noProof="0" dirty="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U = </a:t>
            </a:r>
            <a:r>
              <a:rPr kumimoji="0" lang="en-US" altLang="zh-CN" sz="2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U</a:t>
            </a:r>
            <a:r>
              <a:rPr kumimoji="0" lang="en-US" altLang="zh-CN" sz="2400" b="0" i="0" u="none" strike="noStrike" kern="1200" cap="none" spc="0" normalizeH="0" baseline="-25000" noProof="0" dirty="0" err="1"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car</a:t>
            </a:r>
            <a:r>
              <a:rPr kumimoji="0" lang="en-US" altLang="zh-CN" sz="2400" b="0" i="0" u="none" strike="noStrike" kern="1200" cap="none" spc="0" normalizeH="0" baseline="0" noProof="0" dirty="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400" b="0" i="1"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400" b="0" i="1" u="none" strike="noStrike" kern="120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U</a:t>
            </a:r>
            <a:r>
              <a:rPr kumimoji="0" lang="en-US" altLang="zh-CN" sz="2400" b="0" i="1" u="none" strike="noStrike" kern="120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air</a:t>
            </a:r>
            <a:endPar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600"/>
              </a:spcAft>
              <a:buClrTx/>
              <a:buSzTx/>
              <a:buFont typeface="Wingdings" panose="05000000000000000000" pitchFamily="2" charset="2"/>
              <a:buChar char="p"/>
              <a:tabLst/>
              <a:defRPr/>
            </a:pPr>
            <a:r>
              <a:rPr kumimoji="0" lang="zh-CN" altLang="en-US" sz="2400" b="0" i="0" u="none" strike="noStrike" kern="1200" cap="none" spc="0" normalizeH="0" baseline="0" noProof="0" dirty="0" smtClean="0">
                <a:ln>
                  <a:noFill/>
                </a:ln>
                <a:solidFill>
                  <a:srgbClr val="7030A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风洞：</a:t>
            </a:r>
            <a:endParaRPr kumimoji="0" lang="en-US" altLang="zh-CN" sz="2400" b="0" i="0" u="none" strike="noStrike" kern="1200" cap="none" spc="0" normalizeH="0" baseline="0" noProof="0" dirty="0" smtClean="0">
              <a:ln>
                <a:noFill/>
              </a:ln>
              <a:solidFill>
                <a:srgbClr val="7030A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altLang="zh-CN" sz="2400" b="0" i="1"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U = </a:t>
            </a:r>
            <a:r>
              <a:rPr kumimoji="0" lang="en-US" altLang="zh-CN" sz="2400" b="0" i="1" u="none" strike="noStrike" kern="1200" cap="none" spc="0" normalizeH="0" baseline="0" noProof="0" dirty="0" err="1"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U</a:t>
            </a:r>
            <a:r>
              <a:rPr kumimoji="0" lang="en-US" altLang="zh-CN" sz="2400" b="0" i="1" u="none" strike="noStrike" kern="1200" cap="none" spc="0" normalizeH="0" baseline="-25000" noProof="0" dirty="0" err="1"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air</a:t>
            </a:r>
            <a:r>
              <a:rPr kumimoji="0" lang="en-US" altLang="zh-CN" sz="2400" b="0" i="1" u="none" strike="noStrike" kern="1200" cap="none" spc="0" normalizeH="0" baseline="0" noProof="0" dirty="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400" b="0" i="0" u="none" strike="noStrike" kern="120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U</a:t>
            </a:r>
            <a:r>
              <a:rPr kumimoji="0" lang="en-US" altLang="zh-CN" sz="2400" b="0" i="0" u="none" strike="noStrike" kern="120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car</a:t>
            </a: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2400" b="0" i="0" u="none" strike="noStrike" kern="1200" cap="none" spc="0" normalizeH="0" baseline="0" noProof="0" dirty="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（相对性原理）</a:t>
            </a:r>
            <a:endPar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altLang="zh-CN"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cxnSp>
        <p:nvCxnSpPr>
          <p:cNvPr id="7" name="直接箭头连接符 6"/>
          <p:cNvCxnSpPr/>
          <p:nvPr/>
        </p:nvCxnSpPr>
        <p:spPr>
          <a:xfrm flipH="1">
            <a:off x="4016415" y="2967790"/>
            <a:ext cx="67133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4106316" y="2511724"/>
            <a:ext cx="54053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U</a:t>
            </a:r>
            <a:r>
              <a:rPr kumimoji="0" lang="en-US" altLang="zh-CN" sz="1800" b="0" i="0" u="none" strike="noStrike" kern="1200" cap="none" spc="0" normalizeH="0" baseline="-2500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car</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24" name="图片 23"/>
          <p:cNvPicPr>
            <a:picLocks noChangeAspect="1"/>
          </p:cNvPicPr>
          <p:nvPr/>
        </p:nvPicPr>
        <p:blipFill rotWithShape="1">
          <a:blip r:embed="rId4"/>
          <a:srcRect t="88415" r="54369"/>
          <a:stretch/>
        </p:blipFill>
        <p:spPr>
          <a:xfrm>
            <a:off x="6146449" y="2309896"/>
            <a:ext cx="4462589" cy="1359985"/>
          </a:xfrm>
          <a:prstGeom prst="rect">
            <a:avLst/>
          </a:prstGeom>
        </p:spPr>
      </p:pic>
      <p:sp>
        <p:nvSpPr>
          <p:cNvPr id="25" name="矩形 24"/>
          <p:cNvSpPr/>
          <p:nvPr/>
        </p:nvSpPr>
        <p:spPr>
          <a:xfrm>
            <a:off x="7026694" y="5809940"/>
            <a:ext cx="3912243" cy="80800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 name="内容占位符 2"/>
          <p:cNvSpPr>
            <a:spLocks noGrp="1"/>
          </p:cNvSpPr>
          <p:nvPr>
            <p:ph idx="1"/>
          </p:nvPr>
        </p:nvSpPr>
        <p:spPr>
          <a:xfrm>
            <a:off x="6055286" y="3601681"/>
            <a:ext cx="6477632" cy="1834215"/>
          </a:xfrm>
        </p:spPr>
        <p:txBody>
          <a:bodyPr>
            <a:noAutofit/>
          </a:bodyPr>
          <a:lstStyle/>
          <a:p>
            <a:pPr marL="0" indent="0">
              <a:buNone/>
            </a:pPr>
            <a:r>
              <a:rPr lang="zh-CN" altLang="en-US" sz="1800" dirty="0" smtClean="0">
                <a:solidFill>
                  <a:srgbClr val="00B0F0"/>
                </a:solidFill>
                <a:latin typeface="微软雅黑" panose="020B0503020204020204" pitchFamily="34" charset="-122"/>
                <a:ea typeface="微软雅黑" panose="020B0503020204020204" pitchFamily="34" charset="-122"/>
              </a:rPr>
              <a:t>平均阻力与单位时间内正投影面积内流体动能的比较</a:t>
            </a:r>
            <a:endParaRPr lang="en-US" altLang="zh-CN" sz="1800" dirty="0" smtClean="0">
              <a:solidFill>
                <a:srgbClr val="00B0F0"/>
              </a:solidFill>
              <a:latin typeface="微软雅黑" panose="020B0503020204020204" pitchFamily="34" charset="-122"/>
              <a:ea typeface="微软雅黑" panose="020B0503020204020204" pitchFamily="34" charset="-122"/>
            </a:endParaRPr>
          </a:p>
          <a:p>
            <a:pPr>
              <a:buFont typeface="Wingdings" panose="05000000000000000000" pitchFamily="2" charset="2"/>
              <a:buChar char="p"/>
            </a:pPr>
            <a:r>
              <a:rPr lang="zh-CN" altLang="en-US" sz="1800" dirty="0" smtClean="0">
                <a:latin typeface="微软雅黑" panose="020B0503020204020204" pitchFamily="34" charset="-122"/>
                <a:ea typeface="微软雅黑" panose="020B0503020204020204" pitchFamily="34" charset="-122"/>
              </a:rPr>
              <a:t>正投影面积的定义很关键</a:t>
            </a:r>
            <a:endParaRPr lang="en-US" altLang="zh-CN" sz="1800" dirty="0" smtClean="0">
              <a:latin typeface="微软雅黑" panose="020B0503020204020204" pitchFamily="34" charset="-122"/>
              <a:ea typeface="微软雅黑" panose="020B0503020204020204" pitchFamily="34" charset="-122"/>
            </a:endParaRPr>
          </a:p>
          <a:p>
            <a:pPr>
              <a:buFont typeface="Wingdings" panose="05000000000000000000" pitchFamily="2" charset="2"/>
              <a:buChar char="p"/>
            </a:pPr>
            <a:r>
              <a:rPr lang="zh-CN" altLang="en-US" sz="1800" dirty="0" smtClean="0">
                <a:latin typeface="微软雅黑" panose="020B0503020204020204" pitchFamily="34" charset="-122"/>
                <a:ea typeface="微软雅黑" panose="020B0503020204020204" pitchFamily="34" charset="-122"/>
              </a:rPr>
              <a:t>动能中的速度是物体与气流的相对速度</a:t>
            </a:r>
            <a:endParaRPr lang="en-US" altLang="zh-CN" sz="1800" dirty="0" smtClean="0">
              <a:latin typeface="微软雅黑" panose="020B0503020204020204" pitchFamily="34" charset="-122"/>
              <a:ea typeface="微软雅黑" panose="020B0503020204020204" pitchFamily="34" charset="-122"/>
            </a:endParaRPr>
          </a:p>
          <a:p>
            <a:pPr>
              <a:buFont typeface="Wingdings" panose="05000000000000000000" pitchFamily="2" charset="2"/>
              <a:buChar char="p"/>
            </a:pPr>
            <a:r>
              <a:rPr lang="zh-CN" altLang="en-US" sz="1800" dirty="0" smtClean="0">
                <a:latin typeface="微软雅黑" panose="020B0503020204020204" pitchFamily="34" charset="-122"/>
                <a:ea typeface="微软雅黑" panose="020B0503020204020204" pitchFamily="34" charset="-122"/>
              </a:rPr>
              <a:t>与雷诺数、来流湍流度、表面粗糙度有关</a:t>
            </a:r>
            <a:endParaRPr lang="en-US" altLang="zh-CN" sz="1800" dirty="0" smtClean="0">
              <a:latin typeface="微软雅黑" panose="020B0503020204020204" pitchFamily="34" charset="-122"/>
              <a:ea typeface="微软雅黑" panose="020B0503020204020204" pitchFamily="34" charset="-122"/>
            </a:endParaRPr>
          </a:p>
          <a:p>
            <a:pPr>
              <a:buFont typeface="Wingdings" panose="05000000000000000000" pitchFamily="2" charset="2"/>
              <a:buChar char="p"/>
            </a:pPr>
            <a:r>
              <a:rPr lang="zh-CN" altLang="en-US" sz="1800" dirty="0" smtClean="0">
                <a:latin typeface="微软雅黑" panose="020B0503020204020204" pitchFamily="34" charset="-122"/>
                <a:ea typeface="微软雅黑" panose="020B0503020204020204" pitchFamily="34" charset="-122"/>
              </a:rPr>
              <a:t>雷诺数无关的假设是非常武断、非常主观的</a:t>
            </a:r>
            <a:endParaRPr lang="en-US" altLang="zh-CN" sz="1800" dirty="0" smtClean="0">
              <a:latin typeface="微软雅黑" panose="020B0503020204020204" pitchFamily="34" charset="-122"/>
              <a:ea typeface="微软雅黑" panose="020B0503020204020204" pitchFamily="34" charset="-122"/>
            </a:endParaRPr>
          </a:p>
          <a:p>
            <a:pPr marL="0" indent="0">
              <a:buNone/>
            </a:pPr>
            <a:endParaRPr lang="en-US" altLang="zh-CN" sz="2000" dirty="0">
              <a:latin typeface="微软雅黑" panose="020B0503020204020204" pitchFamily="34" charset="-122"/>
              <a:ea typeface="微软雅黑" panose="020B0503020204020204" pitchFamily="34" charset="-122"/>
            </a:endParaRPr>
          </a:p>
        </p:txBody>
      </p:sp>
      <p:sp>
        <p:nvSpPr>
          <p:cNvPr id="27" name="文本框 26"/>
          <p:cNvSpPr txBox="1"/>
          <p:nvPr/>
        </p:nvSpPr>
        <p:spPr>
          <a:xfrm>
            <a:off x="7026694" y="6054367"/>
            <a:ext cx="3935393"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C</a:t>
            </a:r>
            <a:r>
              <a:rPr kumimoji="0" lang="en-US" altLang="zh-CN" sz="2000" b="0" i="0" u="none" strike="noStrike" kern="1200" cap="none" spc="0" normalizeH="0" baseline="-25000" noProof="0" dirty="0"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D</a:t>
            </a: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 </a:t>
            </a:r>
            <a:r>
              <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f(Re, </a:t>
            </a:r>
            <a:r>
              <a:rPr kumimoji="0" lang="en-US" altLang="zh-CN" sz="2000" b="0" i="1" u="none" strike="noStrike" kern="1200" cap="none" spc="0" normalizeH="0" baseline="0" noProof="0" dirty="0" err="1"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T</a:t>
            </a:r>
            <a:r>
              <a:rPr kumimoji="0" lang="en-US" altLang="zh-CN" sz="2000" b="0" i="1" u="none" strike="noStrike" kern="1200" cap="none" spc="0" normalizeH="0" baseline="-25000" noProof="0" dirty="0" err="1"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u</a:t>
            </a:r>
            <a:r>
              <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sym typeface="Symbol" panose="05050102010706020507" pitchFamily="18" charset="2"/>
              </a:rPr>
              <a:t>)</a:t>
            </a:r>
            <a:endParaRPr kumimoji="0" lang="zh-CN" altLang="en-US" sz="2000" b="0" i="1"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6165" name="Picture 2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82900" y="4165600"/>
            <a:ext cx="27051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标题 1"/>
          <p:cNvSpPr txBox="1">
            <a:spLocks/>
          </p:cNvSpPr>
          <p:nvPr/>
        </p:nvSpPr>
        <p:spPr>
          <a:xfrm>
            <a:off x="721658" y="3206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2 </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流体</a:t>
            </a:r>
            <a:r>
              <a:rPr kumimoji="0" lang="zh-CN" altLang="en-US" sz="2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j-cs"/>
              </a:rPr>
              <a:t>运动和受力分析</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8369170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矩形 4"/>
          <p:cNvSpPr/>
          <p:nvPr/>
        </p:nvSpPr>
        <p:spPr>
          <a:xfrm>
            <a:off x="2206868" y="1556239"/>
            <a:ext cx="8880232" cy="4524315"/>
          </a:xfrm>
          <a:prstGeom prst="rect">
            <a:avLst/>
          </a:prstGeom>
        </p:spPr>
        <p:txBody>
          <a:bodyPr wrap="square">
            <a:spAutoFit/>
          </a:bodyPr>
          <a:lstStyle/>
          <a:p>
            <a:pPr marL="0" marR="0" lvl="0" indent="89535" algn="just"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第四部分 流体力学实验技术</a:t>
            </a:r>
            <a:endPar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89535" algn="just"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第十四章</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实验流体力学基本理论</a:t>
            </a:r>
            <a:r>
              <a:rPr kumimoji="0" lang="zh-CN" altLang="zh-CN" sz="1800" b="0" i="0" u="none" strike="noStrike" kern="100" cap="none" spc="0" normalizeH="0" baseline="0" noProof="0" dirty="0" smtClean="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1800" b="0" i="0" u="none" strike="noStrike" kern="100" cap="none" spc="0" normalizeH="0" baseline="0" noProof="0" dirty="0" smtClean="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8</a:t>
            </a:r>
            <a:r>
              <a:rPr kumimoji="0" lang="zh-CN" altLang="zh-CN" sz="1800" b="0" i="0" u="none" strike="noStrike" kern="100" cap="none" spc="0" normalizeH="0" baseline="0" noProof="0" dirty="0" smtClean="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学时</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学科定位与研究内容</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流体运动和受力分析（</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风洞</a:t>
            </a:r>
            <a:r>
              <a:rPr kumimoji="0" lang="zh-CN" altLang="zh-CN" sz="1800" b="0" i="0" u="none" strike="noStrike" kern="100" cap="none" spc="0" normalizeH="0" baseline="0" noProof="0" dirty="0" smtClean="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与</a:t>
            </a:r>
            <a:r>
              <a:rPr kumimoji="0" lang="zh-CN" altLang="en-US" sz="1800" b="0" i="0" u="none" strike="noStrike" kern="100" cap="none" spc="0" normalizeH="0" baseline="0" noProof="0" dirty="0" smtClean="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风洞</a:t>
            </a:r>
            <a:r>
              <a:rPr kumimoji="0" lang="zh-CN" altLang="zh-CN" sz="1800" b="0" i="0" u="none" strike="noStrike" kern="100" cap="none" spc="0" normalizeH="0" baseline="0" noProof="0" dirty="0" smtClean="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实验</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0" marR="0" lvl="0" indent="89535" algn="just"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第十五章</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流动压强与剪应力测量</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smtClean="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1800" b="0" i="0" u="none" strike="noStrike" kern="100" cap="none" spc="0" normalizeH="0" baseline="0" noProof="0" dirty="0" smtClean="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6</a:t>
            </a:r>
            <a:r>
              <a:rPr kumimoji="0" lang="zh-CN" altLang="zh-CN" sz="1800" b="0" i="0" u="none" strike="noStrike" kern="100" cap="none" spc="0" normalizeH="0" baseline="0" noProof="0" dirty="0" smtClean="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学时</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流体测压技术（</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流体测速技术（</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剪应力与摩擦应力测量方法（</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0" marR="0" lvl="0" indent="89535" algn="just"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第十六章</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流动结构测量方法</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16</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学时】</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流动结构的形成与表征（</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涡量与涡模型理论（</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流动结构与流体力的关联（</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大尺度流动结构几何学特征测量（</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大尺度流动结构运动学特征测量（</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随机流动结构捕捉方法（</a:t>
            </a:r>
            <a:r>
              <a:rPr kumimoji="0" lang="en-US"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zh-CN" sz="18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8870880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43708" y="1324464"/>
            <a:ext cx="10515600" cy="4351338"/>
          </a:xfrm>
        </p:spPr>
        <p:txBody>
          <a:bodyPr>
            <a:normAutofit/>
          </a:bodyPr>
          <a:lstStyle/>
          <a:p>
            <a:pPr marL="0" indent="0">
              <a:buNone/>
            </a:pPr>
            <a:r>
              <a:rPr lang="zh-CN" altLang="en-US" sz="1800" dirty="0" smtClean="0">
                <a:latin typeface="微软雅黑" panose="020B0503020204020204" pitchFamily="34" charset="-122"/>
                <a:ea typeface="微软雅黑" panose="020B0503020204020204" pitchFamily="34" charset="-122"/>
              </a:rPr>
              <a:t>风洞能人为制造的已知并可控的流场，一般要保证试验段风速是</a:t>
            </a:r>
            <a:r>
              <a:rPr lang="zh-CN" altLang="en-US" sz="1800" dirty="0" smtClean="0">
                <a:solidFill>
                  <a:srgbClr val="C00000"/>
                </a:solidFill>
                <a:latin typeface="微软雅黑" panose="020B0503020204020204" pitchFamily="34" charset="-122"/>
                <a:ea typeface="微软雅黑" panose="020B0503020204020204" pitchFamily="34" charset="-122"/>
              </a:rPr>
              <a:t>匀速直线运动</a:t>
            </a:r>
            <a:r>
              <a:rPr lang="zh-CN" altLang="en-US" sz="1800" dirty="0" smtClean="0">
                <a:latin typeface="微软雅黑" panose="020B0503020204020204" pitchFamily="34" charset="-122"/>
                <a:ea typeface="微软雅黑" panose="020B0503020204020204" pitchFamily="34" charset="-122"/>
              </a:rPr>
              <a:t>，用来模拟研究环境，例如，</a:t>
            </a:r>
            <a:r>
              <a:rPr lang="zh-CN" altLang="en-US" sz="1800" dirty="0" smtClean="0">
                <a:solidFill>
                  <a:srgbClr val="00B0F0"/>
                </a:solidFill>
                <a:latin typeface="微软雅黑" panose="020B0503020204020204" pitchFamily="34" charset="-122"/>
                <a:ea typeface="微软雅黑" panose="020B0503020204020204" pitchFamily="34" charset="-122"/>
              </a:rPr>
              <a:t>飞机飞行的流动环境，汽车行驶的流动环境，</a:t>
            </a:r>
            <a:r>
              <a:rPr lang="zh-CN" altLang="en-US" sz="1800" dirty="0" smtClean="0">
                <a:latin typeface="微软雅黑" panose="020B0503020204020204" pitchFamily="34" charset="-122"/>
                <a:ea typeface="微软雅黑" panose="020B0503020204020204" pitchFamily="34" charset="-122"/>
              </a:rPr>
              <a:t>建筑物所处的流动环境等，因此，会有不同的指标衡量是否模拟的准确。</a:t>
            </a:r>
            <a:endParaRPr lang="en-US" altLang="zh-CN" sz="1800" dirty="0" smtClean="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graphicFrame>
        <p:nvGraphicFramePr>
          <p:cNvPr id="5" name="表格 4"/>
          <p:cNvGraphicFramePr>
            <a:graphicFrameLocks noGrp="1"/>
          </p:cNvGraphicFramePr>
          <p:nvPr>
            <p:extLst/>
          </p:nvPr>
        </p:nvGraphicFramePr>
        <p:xfrm>
          <a:off x="1137627" y="2307698"/>
          <a:ext cx="9758484" cy="3966120"/>
        </p:xfrm>
        <a:graphic>
          <a:graphicData uri="http://schemas.openxmlformats.org/drawingml/2006/table">
            <a:tbl>
              <a:tblPr firstRow="1" bandRow="1">
                <a:tableStyleId>{FABFCF23-3B69-468F-B69F-88F6DE6A72F2}</a:tableStyleId>
              </a:tblPr>
              <a:tblGrid>
                <a:gridCol w="1810238">
                  <a:extLst>
                    <a:ext uri="{9D8B030D-6E8A-4147-A177-3AD203B41FA5}">
                      <a16:colId xmlns:a16="http://schemas.microsoft.com/office/drawing/2014/main" val="510793229"/>
                    </a:ext>
                  </a:extLst>
                </a:gridCol>
                <a:gridCol w="3681535">
                  <a:extLst>
                    <a:ext uri="{9D8B030D-6E8A-4147-A177-3AD203B41FA5}">
                      <a16:colId xmlns:a16="http://schemas.microsoft.com/office/drawing/2014/main" val="932881501"/>
                    </a:ext>
                  </a:extLst>
                </a:gridCol>
                <a:gridCol w="1827090">
                  <a:extLst>
                    <a:ext uri="{9D8B030D-6E8A-4147-A177-3AD203B41FA5}">
                      <a16:colId xmlns:a16="http://schemas.microsoft.com/office/drawing/2014/main" val="2463603326"/>
                    </a:ext>
                  </a:extLst>
                </a:gridCol>
                <a:gridCol w="2439621">
                  <a:extLst>
                    <a:ext uri="{9D8B030D-6E8A-4147-A177-3AD203B41FA5}">
                      <a16:colId xmlns:a16="http://schemas.microsoft.com/office/drawing/2014/main" val="3699964938"/>
                    </a:ext>
                  </a:extLst>
                </a:gridCol>
              </a:tblGrid>
              <a:tr h="496230">
                <a:tc>
                  <a:txBody>
                    <a:bodyPr/>
                    <a:lstStyle/>
                    <a:p>
                      <a:pPr algn="ctr"/>
                      <a:r>
                        <a:rPr lang="zh-CN" altLang="en-US" sz="1600" dirty="0" smtClean="0"/>
                        <a:t>名称</a:t>
                      </a:r>
                      <a:endParaRPr lang="zh-CN" altLang="en-US" sz="1600" dirty="0"/>
                    </a:p>
                  </a:txBody>
                  <a:tcPr/>
                </a:tc>
                <a:tc>
                  <a:txBody>
                    <a:bodyPr/>
                    <a:lstStyle/>
                    <a:p>
                      <a:pPr algn="ctr"/>
                      <a:r>
                        <a:rPr lang="zh-CN" altLang="en-US" sz="1600" dirty="0" smtClean="0"/>
                        <a:t>物理含义</a:t>
                      </a:r>
                      <a:endParaRPr lang="zh-CN" altLang="en-US" sz="1600" dirty="0"/>
                    </a:p>
                  </a:txBody>
                  <a:tcPr/>
                </a:tc>
                <a:tc>
                  <a:txBody>
                    <a:bodyPr/>
                    <a:lstStyle/>
                    <a:p>
                      <a:pPr algn="ctr"/>
                      <a:r>
                        <a:rPr lang="zh-CN" altLang="en-US" sz="1600" dirty="0" smtClean="0"/>
                        <a:t>航空风洞要求</a:t>
                      </a:r>
                      <a:endParaRPr lang="zh-CN" altLang="en-US" sz="1600" dirty="0"/>
                    </a:p>
                  </a:txBody>
                  <a:tcPr/>
                </a:tc>
                <a:tc>
                  <a:txBody>
                    <a:bodyPr/>
                    <a:lstStyle/>
                    <a:p>
                      <a:pPr algn="ctr"/>
                      <a:r>
                        <a:rPr lang="zh-CN" altLang="en-US" sz="1600" dirty="0" smtClean="0"/>
                        <a:t>汽车风洞要求</a:t>
                      </a:r>
                      <a:endParaRPr lang="zh-CN" altLang="en-US" sz="1600" dirty="0"/>
                    </a:p>
                  </a:txBody>
                  <a:tcPr/>
                </a:tc>
                <a:extLst>
                  <a:ext uri="{0D108BD9-81ED-4DB2-BD59-A6C34878D82A}">
                    <a16:rowId xmlns:a16="http://schemas.microsoft.com/office/drawing/2014/main" val="1175373023"/>
                  </a:ext>
                </a:extLst>
              </a:tr>
              <a:tr h="496230">
                <a:tc>
                  <a:txBody>
                    <a:bodyPr/>
                    <a:lstStyle/>
                    <a:p>
                      <a:pPr algn="ctr"/>
                      <a:r>
                        <a:rPr lang="zh-CN" altLang="en-US" sz="1600" dirty="0" smtClean="0"/>
                        <a:t>风速范围</a:t>
                      </a:r>
                      <a:endParaRPr lang="zh-CN" altLang="en-US" sz="1600" dirty="0"/>
                    </a:p>
                  </a:txBody>
                  <a:tcPr/>
                </a:tc>
                <a:tc>
                  <a:txBody>
                    <a:bodyPr/>
                    <a:lstStyle/>
                    <a:p>
                      <a:pPr algn="ctr"/>
                      <a:r>
                        <a:rPr lang="zh-CN" altLang="en-US" sz="1600" dirty="0" smtClean="0"/>
                        <a:t>模拟的速度范围</a:t>
                      </a:r>
                      <a:endParaRPr lang="zh-CN" altLang="en-US" sz="1600" dirty="0"/>
                    </a:p>
                  </a:txBody>
                  <a:tcPr/>
                </a:tc>
                <a:tc>
                  <a:txBody>
                    <a:bodyPr/>
                    <a:lstStyle/>
                    <a:p>
                      <a:pPr algn="ctr"/>
                      <a:r>
                        <a:rPr lang="zh-CN" altLang="en-US" sz="1600" dirty="0" smtClean="0"/>
                        <a:t>低速</a:t>
                      </a:r>
                      <a:r>
                        <a:rPr lang="en-US" altLang="zh-CN" sz="1600" dirty="0" smtClean="0"/>
                        <a:t>90m/s</a:t>
                      </a:r>
                      <a:endParaRPr lang="zh-CN" altLang="en-US" sz="1600" dirty="0"/>
                    </a:p>
                  </a:txBody>
                  <a:tcPr/>
                </a:tc>
                <a:tc>
                  <a:txBody>
                    <a:bodyPr/>
                    <a:lstStyle/>
                    <a:p>
                      <a:pPr algn="ctr"/>
                      <a:r>
                        <a:rPr lang="en-US" altLang="zh-CN" sz="1600" dirty="0" smtClean="0"/>
                        <a:t>70m/s</a:t>
                      </a:r>
                      <a:endParaRPr lang="zh-CN" altLang="en-US" sz="1600" dirty="0"/>
                    </a:p>
                  </a:txBody>
                  <a:tcPr/>
                </a:tc>
                <a:extLst>
                  <a:ext uri="{0D108BD9-81ED-4DB2-BD59-A6C34878D82A}">
                    <a16:rowId xmlns:a16="http://schemas.microsoft.com/office/drawing/2014/main" val="1229054761"/>
                  </a:ext>
                </a:extLst>
              </a:tr>
              <a:tr h="496230">
                <a:tc>
                  <a:txBody>
                    <a:bodyPr/>
                    <a:lstStyle/>
                    <a:p>
                      <a:pPr algn="ctr"/>
                      <a:r>
                        <a:rPr lang="zh-CN" altLang="en-US" sz="1600" dirty="0" smtClean="0"/>
                        <a:t>试验段截面积</a:t>
                      </a:r>
                      <a:endParaRPr lang="zh-CN" altLang="en-US" sz="1600" dirty="0"/>
                    </a:p>
                  </a:txBody>
                  <a:tcPr/>
                </a:tc>
                <a:tc>
                  <a:txBody>
                    <a:bodyPr/>
                    <a:lstStyle/>
                    <a:p>
                      <a:pPr algn="ctr"/>
                      <a:r>
                        <a:rPr lang="zh-CN" altLang="en-US" sz="1600" dirty="0" smtClean="0"/>
                        <a:t>最大可能容纳模型，并保证雷诺数</a:t>
                      </a:r>
                      <a:endParaRPr lang="zh-CN" altLang="en-US" sz="1600" dirty="0"/>
                    </a:p>
                  </a:txBody>
                  <a:tcPr/>
                </a:tc>
                <a:tc>
                  <a:txBody>
                    <a:bodyPr/>
                    <a:lstStyle/>
                    <a:p>
                      <a:pPr algn="ctr"/>
                      <a:r>
                        <a:rPr lang="zh-CN" altLang="en-US" sz="1600" dirty="0" smtClean="0"/>
                        <a:t>最大</a:t>
                      </a:r>
                      <a:r>
                        <a:rPr lang="en-US" altLang="zh-CN" sz="1600" dirty="0" smtClean="0"/>
                        <a:t>3:1</a:t>
                      </a:r>
                      <a:r>
                        <a:rPr lang="zh-CN" altLang="en-US" sz="1600" dirty="0" smtClean="0"/>
                        <a:t>模型</a:t>
                      </a:r>
                      <a:endParaRPr lang="zh-CN" altLang="en-US" sz="1600" dirty="0"/>
                    </a:p>
                  </a:txBody>
                  <a:tcPr/>
                </a:tc>
                <a:tc>
                  <a:txBody>
                    <a:bodyPr/>
                    <a:lstStyle/>
                    <a:p>
                      <a:pPr algn="ctr"/>
                      <a:r>
                        <a:rPr lang="zh-CN" altLang="en-US" sz="1600" dirty="0" smtClean="0"/>
                        <a:t>最大</a:t>
                      </a:r>
                      <a:r>
                        <a:rPr lang="en-US" altLang="zh-CN" sz="1600" dirty="0" smtClean="0"/>
                        <a:t>1:1</a:t>
                      </a:r>
                      <a:r>
                        <a:rPr lang="zh-CN" altLang="en-US" sz="1600" dirty="0" smtClean="0"/>
                        <a:t>模型</a:t>
                      </a:r>
                      <a:endParaRPr lang="zh-CN" altLang="en-US" sz="1600" dirty="0"/>
                    </a:p>
                  </a:txBody>
                  <a:tcPr/>
                </a:tc>
                <a:extLst>
                  <a:ext uri="{0D108BD9-81ED-4DB2-BD59-A6C34878D82A}">
                    <a16:rowId xmlns:a16="http://schemas.microsoft.com/office/drawing/2014/main" val="3227545602"/>
                  </a:ext>
                </a:extLst>
              </a:tr>
              <a:tr h="496230">
                <a:tc>
                  <a:txBody>
                    <a:bodyPr/>
                    <a:lstStyle/>
                    <a:p>
                      <a:pPr algn="ctr"/>
                      <a:r>
                        <a:rPr lang="zh-CN" altLang="en-US" sz="1600" dirty="0" smtClean="0"/>
                        <a:t>湍流度</a:t>
                      </a:r>
                      <a:endParaRPr lang="zh-CN" altLang="en-US" sz="1600" dirty="0"/>
                    </a:p>
                  </a:txBody>
                  <a:tcPr/>
                </a:tc>
                <a:tc>
                  <a:txBody>
                    <a:bodyPr/>
                    <a:lstStyle/>
                    <a:p>
                      <a:pPr algn="ctr"/>
                      <a:r>
                        <a:rPr lang="zh-CN" altLang="en-US" sz="1600" dirty="0" smtClean="0"/>
                        <a:t>脉动速度均方根与平均速度的比值</a:t>
                      </a:r>
                      <a:endParaRPr lang="en-US" altLang="zh-CN" sz="1600" dirty="0" smtClean="0"/>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i="0" baseline="0" dirty="0" err="1" smtClean="0">
                          <a:latin typeface="Times New Roman" panose="02020603050405020304" pitchFamily="18" charset="0"/>
                          <a:cs typeface="Times New Roman" panose="02020603050405020304" pitchFamily="18" charset="0"/>
                        </a:rPr>
                        <a:t>Sqrt</a:t>
                      </a:r>
                      <a:r>
                        <a:rPr lang="en-US" altLang="zh-CN" sz="1600" i="0" baseline="0" dirty="0" smtClean="0">
                          <a:latin typeface="Times New Roman" panose="02020603050405020304" pitchFamily="18" charset="0"/>
                          <a:cs typeface="Times New Roman" panose="02020603050405020304" pitchFamily="18" charset="0"/>
                        </a:rPr>
                        <a:t>[</a:t>
                      </a:r>
                      <a:r>
                        <a:rPr lang="en-US" altLang="zh-CN" sz="1600" i="0" baseline="0" dirty="0" err="1" smtClean="0">
                          <a:latin typeface="Times New Roman" panose="02020603050405020304" pitchFamily="18" charset="0"/>
                          <a:cs typeface="Times New Roman" panose="02020603050405020304" pitchFamily="18" charset="0"/>
                        </a:rPr>
                        <a:t>Avg</a:t>
                      </a:r>
                      <a:r>
                        <a:rPr lang="en-US" altLang="zh-CN" sz="1600" i="0" baseline="0" dirty="0" smtClean="0">
                          <a:latin typeface="Times New Roman" panose="02020603050405020304" pitchFamily="18" charset="0"/>
                          <a:cs typeface="Times New Roman" panose="02020603050405020304" pitchFamily="18" charset="0"/>
                        </a:rPr>
                        <a:t>(</a:t>
                      </a:r>
                      <a:r>
                        <a:rPr lang="en-US" altLang="zh-CN" sz="1600" i="1" baseline="0" dirty="0" smtClean="0">
                          <a:latin typeface="Times New Roman" panose="02020603050405020304" pitchFamily="18" charset="0"/>
                          <a:cs typeface="Times New Roman" panose="02020603050405020304" pitchFamily="18" charset="0"/>
                        </a:rPr>
                        <a:t>u</a:t>
                      </a:r>
                      <a:r>
                        <a:rPr lang="en-US" altLang="zh-CN" sz="1600" i="0" baseline="30000" dirty="0" smtClean="0">
                          <a:latin typeface="Times New Roman" panose="02020603050405020304" pitchFamily="18" charset="0"/>
                          <a:cs typeface="Times New Roman" panose="02020603050405020304" pitchFamily="18" charset="0"/>
                        </a:rPr>
                        <a:t>2</a:t>
                      </a:r>
                      <a:r>
                        <a:rPr lang="en-US" altLang="zh-CN" sz="1600" i="0" baseline="0" dirty="0" smtClean="0">
                          <a:latin typeface="Times New Roman" panose="02020603050405020304" pitchFamily="18" charset="0"/>
                          <a:cs typeface="Times New Roman" panose="02020603050405020304" pitchFamily="18" charset="0"/>
                        </a:rPr>
                        <a:t>)]/</a:t>
                      </a:r>
                      <a:r>
                        <a:rPr lang="en-US" altLang="zh-CN" sz="1600" i="1" baseline="0" dirty="0" smtClean="0">
                          <a:latin typeface="Times New Roman" panose="02020603050405020304" pitchFamily="18" charset="0"/>
                          <a:cs typeface="Times New Roman" panose="02020603050405020304" pitchFamily="18" charset="0"/>
                        </a:rPr>
                        <a:t>U</a:t>
                      </a:r>
                      <a:r>
                        <a:rPr lang="en-US" altLang="zh-CN" sz="1600" i="1" baseline="-25000" dirty="0" smtClean="0">
                          <a:latin typeface="Times New Roman" panose="02020603050405020304" pitchFamily="18" charset="0"/>
                          <a:cs typeface="Times New Roman" panose="02020603050405020304" pitchFamily="18" charset="0"/>
                          <a:sym typeface="Symbol" panose="05050102010706020507" pitchFamily="18" charset="2"/>
                        </a:rPr>
                        <a:t></a:t>
                      </a:r>
                      <a:endParaRPr lang="en-US" altLang="zh-CN" sz="1600" i="1" baseline="-25000" dirty="0" smtClean="0">
                        <a:latin typeface="Times New Roman" panose="02020603050405020304" pitchFamily="18" charset="0"/>
                        <a:cs typeface="Times New Roman" panose="02020603050405020304" pitchFamily="18" charset="0"/>
                      </a:endParaRPr>
                    </a:p>
                  </a:txBody>
                  <a:tcPr/>
                </a:tc>
                <a:tc>
                  <a:txBody>
                    <a:bodyPr/>
                    <a:lstStyle/>
                    <a:p>
                      <a:pPr algn="ctr"/>
                      <a:r>
                        <a:rPr lang="zh-CN" altLang="en-US" sz="1600" dirty="0" smtClean="0"/>
                        <a:t>高空气流模拟必需</a:t>
                      </a:r>
                      <a:endParaRPr lang="en-US" altLang="zh-CN" sz="1600" dirty="0" smtClean="0"/>
                    </a:p>
                    <a:p>
                      <a:pPr algn="ctr"/>
                      <a:r>
                        <a:rPr lang="en-US" altLang="zh-CN" sz="1600" dirty="0" smtClean="0"/>
                        <a:t>&lt;0.1%</a:t>
                      </a:r>
                      <a:endParaRPr lang="zh-CN" altLang="en-US" sz="1600" dirty="0"/>
                    </a:p>
                  </a:txBody>
                  <a:tcPr/>
                </a:tc>
                <a:tc>
                  <a:txBody>
                    <a:bodyPr/>
                    <a:lstStyle/>
                    <a:p>
                      <a:pPr algn="ctr"/>
                      <a:r>
                        <a:rPr lang="zh-CN" altLang="en-US" sz="1600" dirty="0" smtClean="0"/>
                        <a:t>地面模拟指标略低</a:t>
                      </a:r>
                      <a:endParaRPr lang="en-US" altLang="zh-CN" sz="1600" dirty="0" smtClean="0"/>
                    </a:p>
                    <a:p>
                      <a:pPr algn="ctr"/>
                      <a:r>
                        <a:rPr lang="en-US" altLang="zh-CN" sz="1600" dirty="0" smtClean="0"/>
                        <a:t>&lt;0.5%</a:t>
                      </a:r>
                      <a:endParaRPr lang="zh-CN" altLang="en-US" sz="1600" dirty="0"/>
                    </a:p>
                  </a:txBody>
                  <a:tcPr/>
                </a:tc>
                <a:extLst>
                  <a:ext uri="{0D108BD9-81ED-4DB2-BD59-A6C34878D82A}">
                    <a16:rowId xmlns:a16="http://schemas.microsoft.com/office/drawing/2014/main" val="3501043716"/>
                  </a:ext>
                </a:extLst>
              </a:tr>
              <a:tr h="496230">
                <a:tc>
                  <a:txBody>
                    <a:bodyPr/>
                    <a:lstStyle/>
                    <a:p>
                      <a:pPr algn="ctr"/>
                      <a:r>
                        <a:rPr lang="zh-CN" altLang="en-US" sz="1600" dirty="0" smtClean="0"/>
                        <a:t>流向压力梯度</a:t>
                      </a:r>
                      <a:endParaRPr lang="zh-CN" altLang="en-US" sz="1600" dirty="0"/>
                    </a:p>
                  </a:txBody>
                  <a:tcPr/>
                </a:tc>
                <a:tc>
                  <a:txBody>
                    <a:bodyPr/>
                    <a:lstStyle/>
                    <a:p>
                      <a:pPr algn="ctr"/>
                      <a:r>
                        <a:rPr lang="zh-CN" altLang="en-US" sz="1600" dirty="0" smtClean="0"/>
                        <a:t>判断是否有加速度，沿流向单位长度的压力差</a:t>
                      </a:r>
                      <a:endParaRPr lang="zh-CN" altLang="en-US" sz="1600" dirty="0"/>
                    </a:p>
                  </a:txBody>
                  <a:tcPr/>
                </a:tc>
                <a:tc>
                  <a:txBody>
                    <a:bodyPr/>
                    <a:lstStyle/>
                    <a:p>
                      <a:pPr algn="ctr"/>
                      <a:r>
                        <a:rPr lang="en-US" altLang="zh-CN" sz="1600" dirty="0" err="1" smtClean="0"/>
                        <a:t>dCp</a:t>
                      </a:r>
                      <a:r>
                        <a:rPr lang="en-US" altLang="zh-CN" sz="1600" dirty="0" smtClean="0"/>
                        <a:t>(x)/dx&lt;0.5%</a:t>
                      </a:r>
                      <a:endParaRPr lang="zh-CN" altLang="en-US" sz="1600" dirty="0"/>
                    </a:p>
                  </a:txBody>
                  <a:tcPr/>
                </a:tc>
                <a:tc>
                  <a:txBody>
                    <a:bodyPr/>
                    <a:lstStyle/>
                    <a:p>
                      <a:pPr algn="ctr"/>
                      <a:endParaRPr lang="zh-CN" altLang="en-US" sz="1600"/>
                    </a:p>
                  </a:txBody>
                  <a:tcPr/>
                </a:tc>
                <a:extLst>
                  <a:ext uri="{0D108BD9-81ED-4DB2-BD59-A6C34878D82A}">
                    <a16:rowId xmlns:a16="http://schemas.microsoft.com/office/drawing/2014/main" val="3258822512"/>
                  </a:ext>
                </a:extLst>
              </a:tr>
              <a:tr h="496230">
                <a:tc>
                  <a:txBody>
                    <a:bodyPr/>
                    <a:lstStyle/>
                    <a:p>
                      <a:pPr algn="ctr"/>
                      <a:r>
                        <a:rPr lang="zh-CN" altLang="en-US" sz="1600" dirty="0" smtClean="0"/>
                        <a:t>气流偏角</a:t>
                      </a:r>
                      <a:endParaRPr lang="zh-CN" altLang="en-US" sz="1600" dirty="0"/>
                    </a:p>
                  </a:txBody>
                  <a:tcPr/>
                </a:tc>
                <a:tc>
                  <a:txBody>
                    <a:bodyPr/>
                    <a:lstStyle/>
                    <a:p>
                      <a:pPr algn="ctr"/>
                      <a:r>
                        <a:rPr lang="zh-CN" altLang="en-US" sz="1600" dirty="0" smtClean="0"/>
                        <a:t>流动方向控制指标</a:t>
                      </a:r>
                      <a:endParaRPr lang="zh-CN" altLang="en-US" sz="1600" dirty="0"/>
                    </a:p>
                  </a:txBody>
                  <a:tcPr/>
                </a:tc>
                <a:tc>
                  <a:txBody>
                    <a:bodyPr/>
                    <a:lstStyle/>
                    <a:p>
                      <a:pPr algn="ctr"/>
                      <a:r>
                        <a:rPr lang="en-US" altLang="zh-CN" sz="1600" dirty="0" smtClean="0"/>
                        <a:t>GJB</a:t>
                      </a:r>
                      <a:endParaRPr lang="zh-CN"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t>GJB</a:t>
                      </a:r>
                      <a:endParaRPr lang="zh-CN" altLang="en-US" sz="1600" dirty="0"/>
                    </a:p>
                  </a:txBody>
                  <a:tcPr/>
                </a:tc>
                <a:extLst>
                  <a:ext uri="{0D108BD9-81ED-4DB2-BD59-A6C34878D82A}">
                    <a16:rowId xmlns:a16="http://schemas.microsoft.com/office/drawing/2014/main" val="2402290288"/>
                  </a:ext>
                </a:extLst>
              </a:tr>
              <a:tr h="496230">
                <a:tc>
                  <a:txBody>
                    <a:bodyPr/>
                    <a:lstStyle/>
                    <a:p>
                      <a:pPr algn="ctr"/>
                      <a:r>
                        <a:rPr lang="zh-CN" altLang="en-US" sz="1600" dirty="0" smtClean="0"/>
                        <a:t>边界层厚度</a:t>
                      </a:r>
                      <a:endParaRPr lang="zh-CN" altLang="en-US" sz="1600" dirty="0"/>
                    </a:p>
                  </a:txBody>
                  <a:tcPr/>
                </a:tc>
                <a:tc>
                  <a:txBody>
                    <a:bodyPr/>
                    <a:lstStyle/>
                    <a:p>
                      <a:pPr algn="ctr"/>
                      <a:r>
                        <a:rPr lang="zh-CN" altLang="en-US" sz="1600" dirty="0" smtClean="0"/>
                        <a:t>一般用位移厚度，反映最靠近壁面的流线与壁面之间的距离，越薄对流动和力的测量干扰越小</a:t>
                      </a:r>
                      <a:endParaRPr lang="zh-CN" altLang="en-US" sz="1600" dirty="0"/>
                    </a:p>
                  </a:txBody>
                  <a:tcPr/>
                </a:tc>
                <a:tc>
                  <a:txBody>
                    <a:bodyPr/>
                    <a:lstStyle/>
                    <a:p>
                      <a:pPr algn="ctr"/>
                      <a:r>
                        <a:rPr lang="zh-CN" altLang="en-US" sz="1600" dirty="0" smtClean="0"/>
                        <a:t>只要模型距离地面足够远，边界层没有大规模分离</a:t>
                      </a:r>
                      <a:endParaRPr lang="zh-CN" altLang="en-US" sz="1600" dirty="0"/>
                    </a:p>
                  </a:txBody>
                  <a:tcPr/>
                </a:tc>
                <a:tc>
                  <a:txBody>
                    <a:bodyPr/>
                    <a:lstStyle/>
                    <a:p>
                      <a:pPr algn="ctr"/>
                      <a:r>
                        <a:rPr lang="zh-CN" altLang="en-US" sz="1600" dirty="0" smtClean="0"/>
                        <a:t>地面与空气相对静止，风洞中需要对移动路面边界层进行控制接近相对静止</a:t>
                      </a:r>
                      <a:endParaRPr lang="zh-CN" altLang="en-US" sz="1600" dirty="0"/>
                    </a:p>
                  </a:txBody>
                  <a:tcPr/>
                </a:tc>
                <a:extLst>
                  <a:ext uri="{0D108BD9-81ED-4DB2-BD59-A6C34878D82A}">
                    <a16:rowId xmlns:a16="http://schemas.microsoft.com/office/drawing/2014/main" val="3037451106"/>
                  </a:ext>
                </a:extLst>
              </a:tr>
            </a:tbl>
          </a:graphicData>
        </a:graphic>
      </p:graphicFrame>
      <p:sp>
        <p:nvSpPr>
          <p:cNvPr id="8" name="Rectangle 5"/>
          <p:cNvSpPr>
            <a:spLocks noChangeArrowheads="1"/>
          </p:cNvSpPr>
          <p:nvPr/>
        </p:nvSpPr>
        <p:spPr bwMode="auto">
          <a:xfrm>
            <a:off x="4290646" y="3956538"/>
            <a:ext cx="1425149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 name="文本框 9"/>
          <p:cNvSpPr txBox="1"/>
          <p:nvPr/>
        </p:nvSpPr>
        <p:spPr>
          <a:xfrm>
            <a:off x="2708030" y="6354246"/>
            <a:ext cx="51171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此外，还有动压稳定性，温升，最大温度等指标。</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 name="标题 1"/>
          <p:cNvSpPr>
            <a:spLocks noGrp="1"/>
          </p:cNvSpPr>
          <p:nvPr>
            <p:ph type="title"/>
          </p:nvPr>
        </p:nvSpPr>
        <p:spPr>
          <a:xfrm>
            <a:off x="838200" y="365125"/>
            <a:ext cx="10515600" cy="1325563"/>
          </a:xfrm>
        </p:spPr>
        <p:txBody>
          <a:bodyPr>
            <a:normAutofit/>
          </a:bodyPr>
          <a:lstStyle/>
          <a:p>
            <a:r>
              <a:rPr lang="en-US" altLang="zh-CN" sz="2800" dirty="0" smtClean="0">
                <a:latin typeface="微软雅黑" panose="020B0503020204020204" pitchFamily="34" charset="-122"/>
                <a:ea typeface="微软雅黑" panose="020B0503020204020204" pitchFamily="34" charset="-122"/>
              </a:rPr>
              <a:t>3 </a:t>
            </a:r>
            <a:r>
              <a:rPr lang="zh-CN" altLang="en-US" sz="2800" dirty="0" smtClean="0">
                <a:latin typeface="微软雅黑" panose="020B0503020204020204" pitchFamily="34" charset="-122"/>
                <a:ea typeface="微软雅黑" panose="020B0503020204020204" pitchFamily="34" charset="-122"/>
              </a:rPr>
              <a:t>风洞与风洞实验</a:t>
            </a:r>
            <a:endParaRPr lang="zh-CN" altLang="en-US"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80661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smtClean="0">
                <a:latin typeface="微软雅黑" panose="020B0503020204020204" pitchFamily="34" charset="-122"/>
                <a:ea typeface="微软雅黑" panose="020B0503020204020204" pitchFamily="34" charset="-122"/>
              </a:rPr>
              <a:t>清华大学的风洞</a:t>
            </a:r>
            <a:endParaRPr lang="zh-CN" altLang="en-US" sz="3200"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lstStyle/>
          <a:p>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D8DD02-547D-47A5-AAEA-525C7BEEAE57}"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9283" y="1463676"/>
            <a:ext cx="7666879" cy="3858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9154" y="2429785"/>
            <a:ext cx="7256462" cy="290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3216" y="1463676"/>
            <a:ext cx="9720713" cy="41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65282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D8DD02-547D-47A5-AAEA-525C7BEEAE57}"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grpSp>
        <p:nvGrpSpPr>
          <p:cNvPr id="5" name="组合 4"/>
          <p:cNvGrpSpPr/>
          <p:nvPr/>
        </p:nvGrpSpPr>
        <p:grpSpPr>
          <a:xfrm>
            <a:off x="1054646" y="1419336"/>
            <a:ext cx="3198575" cy="4365086"/>
            <a:chOff x="1054646" y="1413570"/>
            <a:chExt cx="3198575" cy="4365086"/>
          </a:xfrm>
        </p:grpSpPr>
        <p:pic>
          <p:nvPicPr>
            <p:cNvPr id="6" name="Picture 2" descr="DJI0000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5102" t="20377" r="21631" b="3635"/>
            <a:stretch/>
          </p:blipFill>
          <p:spPr bwMode="auto">
            <a:xfrm>
              <a:off x="1054646" y="3645818"/>
              <a:ext cx="3198575" cy="21328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7" name="Picture 2" descr="G:\室里事务\临急任务\宣传画册\三维模型图1.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923"/>
            <a:stretch/>
          </p:blipFill>
          <p:spPr bwMode="auto">
            <a:xfrm>
              <a:off x="1054646" y="1413570"/>
              <a:ext cx="3198575" cy="212943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grpSp>
      <p:pic>
        <p:nvPicPr>
          <p:cNvPr id="8"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15071" y="1413570"/>
            <a:ext cx="6768752" cy="4376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p:nvPr/>
        </p:nvSpPr>
        <p:spPr>
          <a:xfrm>
            <a:off x="478582" y="5894001"/>
            <a:ext cx="4392488"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rPr>
              <a:t>国家重大科技基础设施</a:t>
            </a:r>
            <a:r>
              <a:rPr kumimoji="0" lang="en-US" altLang="zh-CN" sz="20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rPr>
              <a:t>-</a:t>
            </a:r>
            <a:r>
              <a:rPr kumimoji="0" lang="zh-CN" altLang="en-US" sz="20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rPr>
              <a:t>大型结冰风洞</a:t>
            </a:r>
            <a:endParaRPr kumimoji="0" lang="zh-CN" altLang="en-US" sz="2000" b="0" i="0" u="none" strike="noStrike" kern="1200" cap="none" spc="0" normalizeH="0" baseline="0" noProof="0" dirty="0">
              <a:ln>
                <a:noFill/>
              </a:ln>
              <a:solidFill>
                <a:srgbClr val="ED7D31"/>
              </a:solidFill>
              <a:effectLst/>
              <a:uLnTx/>
              <a:uFillTx/>
              <a:latin typeface="等线" panose="020F0502020204030204"/>
              <a:ea typeface="等线" panose="02010600030101010101" pitchFamily="2" charset="-122"/>
              <a:cs typeface="+mn-cs"/>
            </a:endParaRPr>
          </a:p>
        </p:txBody>
      </p:sp>
      <p:sp>
        <p:nvSpPr>
          <p:cNvPr id="10" name="矩形 9"/>
          <p:cNvSpPr/>
          <p:nvPr/>
        </p:nvSpPr>
        <p:spPr>
          <a:xfrm>
            <a:off x="6601303" y="5894001"/>
            <a:ext cx="2996288"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ED7D31"/>
                </a:solidFill>
                <a:effectLst/>
                <a:uLnTx/>
                <a:uFillTx/>
                <a:latin typeface="微软雅黑" panose="020B0503020204020204" pitchFamily="34" charset="-122"/>
                <a:ea typeface="微软雅黑" panose="020B0503020204020204" pitchFamily="34" charset="-122"/>
                <a:cs typeface="+mn-cs"/>
              </a:rPr>
              <a:t>国内外大型结冰风洞对比</a:t>
            </a:r>
            <a:endParaRPr kumimoji="0" lang="zh-CN" altLang="en-US" sz="2000" b="0" i="0" u="none" strike="noStrike" kern="1200" cap="none" spc="0" normalizeH="0" baseline="0" noProof="0" dirty="0">
              <a:ln>
                <a:noFill/>
              </a:ln>
              <a:solidFill>
                <a:srgbClr val="ED7D31"/>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230117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D8DD02-547D-47A5-AAEA-525C7BEEAE57}"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5" name="图片 4"/>
          <p:cNvPicPr/>
          <p:nvPr/>
        </p:nvPicPr>
        <p:blipFill rotWithShape="1">
          <a:blip r:embed="rId2" cstate="print">
            <a:extLst>
              <a:ext uri="{28A0092B-C50C-407E-A947-70E740481C1C}">
                <a14:useLocalDpi xmlns:a14="http://schemas.microsoft.com/office/drawing/2010/main" val="0"/>
              </a:ext>
            </a:extLst>
          </a:blip>
          <a:srcRect t="1536" b="4167"/>
          <a:stretch/>
        </p:blipFill>
        <p:spPr bwMode="auto">
          <a:xfrm>
            <a:off x="7482729" y="765498"/>
            <a:ext cx="3220989" cy="2736304"/>
          </a:xfrm>
          <a:prstGeom prst="rect">
            <a:avLst/>
          </a:prstGeom>
          <a:ln>
            <a:noFill/>
          </a:ln>
          <a:extLst>
            <a:ext uri="{53640926-AAD7-44D8-BBD7-CCE9431645EC}">
              <a14:shadowObscured xmlns:a14="http://schemas.microsoft.com/office/drawing/2010/main"/>
            </a:ext>
          </a:extLst>
        </p:spPr>
      </p:pic>
      <p:pic>
        <p:nvPicPr>
          <p:cNvPr id="6" name="图片 5"/>
          <p:cNvPicPr/>
          <p:nvPr/>
        </p:nvPicPr>
        <p:blipFill rotWithShape="1">
          <a:blip r:embed="rId3" cstate="print">
            <a:extLst>
              <a:ext uri="{28A0092B-C50C-407E-A947-70E740481C1C}">
                <a14:useLocalDpi xmlns:a14="http://schemas.microsoft.com/office/drawing/2010/main" val="0"/>
              </a:ext>
            </a:extLst>
          </a:blip>
          <a:srcRect l="3686" r="6132"/>
          <a:stretch/>
        </p:blipFill>
        <p:spPr bwMode="auto">
          <a:xfrm>
            <a:off x="860222" y="2637706"/>
            <a:ext cx="4030648" cy="3682373"/>
          </a:xfrm>
          <a:prstGeom prst="rect">
            <a:avLst/>
          </a:prstGeom>
          <a:ln>
            <a:noFill/>
          </a:ln>
          <a:extLst>
            <a:ext uri="{53640926-AAD7-44D8-BBD7-CCE9431645EC}">
              <a14:shadowObscured xmlns:a14="http://schemas.microsoft.com/office/drawing/2010/main"/>
            </a:ext>
          </a:extLst>
        </p:spPr>
      </p:pic>
      <p:graphicFrame>
        <p:nvGraphicFramePr>
          <p:cNvPr id="7" name="Group 227"/>
          <p:cNvGraphicFramePr>
            <a:graphicFrameLocks noGrp="1"/>
          </p:cNvGraphicFramePr>
          <p:nvPr>
            <p:extLst/>
          </p:nvPr>
        </p:nvGraphicFramePr>
        <p:xfrm>
          <a:off x="7016580" y="4149874"/>
          <a:ext cx="4047178" cy="2210928"/>
        </p:xfrm>
        <a:graphic>
          <a:graphicData uri="http://schemas.openxmlformats.org/drawingml/2006/table">
            <a:tbl>
              <a:tblPr>
                <a:tableStyleId>{C4B1156A-380E-4F78-BDF5-A606A8083BF9}</a:tableStyleId>
              </a:tblPr>
              <a:tblGrid>
                <a:gridCol w="2030954">
                  <a:extLst>
                    <a:ext uri="{9D8B030D-6E8A-4147-A177-3AD203B41FA5}">
                      <a16:colId xmlns:a16="http://schemas.microsoft.com/office/drawing/2014/main" val="20000"/>
                    </a:ext>
                  </a:extLst>
                </a:gridCol>
                <a:gridCol w="2016224">
                  <a:extLst>
                    <a:ext uri="{9D8B030D-6E8A-4147-A177-3AD203B41FA5}">
                      <a16:colId xmlns:a16="http://schemas.microsoft.com/office/drawing/2014/main" val="20001"/>
                    </a:ext>
                  </a:extLst>
                </a:gridCol>
              </a:tblGrid>
              <a:tr h="552732">
                <a:tc>
                  <a:txBody>
                    <a:bodyPr/>
                    <a:lstStyle/>
                    <a:p>
                      <a:pPr marL="49213" marR="0" lvl="0" indent="12700" algn="ctr" defTabSz="914400" rtl="0" eaLnBrk="1" fontAlgn="base" latinLnBrk="0" hangingPunct="1">
                        <a:lnSpc>
                          <a:spcPct val="100000"/>
                        </a:lnSpc>
                        <a:spcBef>
                          <a:spcPct val="0"/>
                        </a:spcBef>
                        <a:spcAft>
                          <a:spcPct val="0"/>
                        </a:spcAft>
                        <a:buClrTx/>
                        <a:buSzTx/>
                        <a:buFontTx/>
                        <a:buNone/>
                        <a:tabLst/>
                      </a:pPr>
                      <a:r>
                        <a:rPr kumimoji="0" lang="zh-CN" altLang="en-US" sz="1400" b="1" u="none" strike="noStrike" kern="1200" cap="none" normalizeH="0" baseline="0" dirty="0">
                          <a:ln>
                            <a:noFill/>
                          </a:ln>
                          <a:solidFill>
                            <a:srgbClr val="1F3173"/>
                          </a:solidFill>
                          <a:effectLst/>
                          <a:latin typeface="微软雅黑" pitchFamily="34" charset="-122"/>
                          <a:ea typeface="微软雅黑" pitchFamily="34" charset="-122"/>
                        </a:rPr>
                        <a:t>旋翼模型直径</a:t>
                      </a:r>
                      <a:endParaRPr kumimoji="0" lang="zh-CN" altLang="zh-CN" sz="1400" b="1" u="none" strike="noStrike" kern="1200" cap="none" normalizeH="0" baseline="0" dirty="0">
                        <a:ln>
                          <a:noFill/>
                        </a:ln>
                        <a:solidFill>
                          <a:srgbClr val="1F3173"/>
                        </a:solidFill>
                        <a:effectLst/>
                        <a:latin typeface="微软雅黑" pitchFamily="34" charset="-122"/>
                        <a:ea typeface="微软雅黑" pitchFamily="34" charset="-122"/>
                        <a:cs typeface="+mn-cs"/>
                      </a:endParaRPr>
                    </a:p>
                  </a:txBody>
                  <a:tcPr marL="0" marR="0" marT="0" marB="0" anchor="ctr" horzOverflow="overflow"/>
                </a:tc>
                <a:tc>
                  <a:txBody>
                    <a:bodyPr/>
                    <a:lstStyle/>
                    <a:p>
                      <a:pPr marL="49213" marR="0" lvl="0" indent="12700" algn="ctr" defTabSz="914400" rtl="0" eaLnBrk="1" fontAlgn="base" latinLnBrk="0" hangingPunct="1">
                        <a:lnSpc>
                          <a:spcPct val="100000"/>
                        </a:lnSpc>
                        <a:spcBef>
                          <a:spcPct val="0"/>
                        </a:spcBef>
                        <a:spcAft>
                          <a:spcPct val="0"/>
                        </a:spcAft>
                        <a:buClrTx/>
                        <a:buSzTx/>
                        <a:buFontTx/>
                        <a:buNone/>
                        <a:tabLst/>
                      </a:pPr>
                      <a:r>
                        <a:rPr kumimoji="0" lang="en-US" altLang="zh-CN" sz="1400" b="1" u="none" strike="noStrike" kern="1200" cap="none" normalizeH="0" baseline="0" dirty="0">
                          <a:ln>
                            <a:noFill/>
                          </a:ln>
                          <a:solidFill>
                            <a:srgbClr val="1F3173"/>
                          </a:solidFill>
                          <a:effectLst/>
                          <a:latin typeface="微软雅黑" pitchFamily="34" charset="-122"/>
                          <a:ea typeface="微软雅黑" pitchFamily="34" charset="-122"/>
                        </a:rPr>
                        <a:t>2m</a:t>
                      </a:r>
                      <a:endParaRPr kumimoji="0" lang="zh-CN" altLang="zh-CN" sz="1400" b="1" u="none" strike="noStrike" kern="1200" cap="none" normalizeH="0" baseline="0" dirty="0">
                        <a:ln>
                          <a:noFill/>
                        </a:ln>
                        <a:solidFill>
                          <a:srgbClr val="1F3173"/>
                        </a:solidFill>
                        <a:effectLst/>
                        <a:latin typeface="微软雅黑" pitchFamily="34" charset="-122"/>
                        <a:ea typeface="微软雅黑" pitchFamily="34" charset="-122"/>
                        <a:cs typeface="+mn-cs"/>
                      </a:endParaRPr>
                    </a:p>
                  </a:txBody>
                  <a:tcPr marL="0" marR="0" marT="0" marB="0" anchor="ctr" horzOverflow="overflow"/>
                </a:tc>
                <a:extLst>
                  <a:ext uri="{0D108BD9-81ED-4DB2-BD59-A6C34878D82A}">
                    <a16:rowId xmlns:a16="http://schemas.microsoft.com/office/drawing/2014/main" val="10000"/>
                  </a:ext>
                </a:extLst>
              </a:tr>
              <a:tr h="552732">
                <a:tc>
                  <a:txBody>
                    <a:bodyPr/>
                    <a:lstStyle/>
                    <a:p>
                      <a:pPr marL="49213" marR="0" lvl="0" indent="12700" algn="ctr" defTabSz="914400" rtl="0" eaLnBrk="1" fontAlgn="base" latinLnBrk="0" hangingPunct="1">
                        <a:lnSpc>
                          <a:spcPct val="100000"/>
                        </a:lnSpc>
                        <a:spcBef>
                          <a:spcPct val="0"/>
                        </a:spcBef>
                        <a:spcAft>
                          <a:spcPct val="0"/>
                        </a:spcAft>
                        <a:buClrTx/>
                        <a:buSzTx/>
                        <a:buFontTx/>
                        <a:buNone/>
                        <a:tabLst/>
                      </a:pPr>
                      <a:r>
                        <a:rPr kumimoji="0" lang="zh-CN" altLang="en-US" sz="1400" b="1" u="none" strike="noStrike" kern="1200" cap="none" normalizeH="0" baseline="0" dirty="0">
                          <a:ln>
                            <a:noFill/>
                          </a:ln>
                          <a:solidFill>
                            <a:srgbClr val="1F3173"/>
                          </a:solidFill>
                          <a:effectLst/>
                          <a:latin typeface="微软雅黑" pitchFamily="34" charset="-122"/>
                          <a:ea typeface="微软雅黑" pitchFamily="34" charset="-122"/>
                        </a:rPr>
                        <a:t>最大驱动功率</a:t>
                      </a:r>
                      <a:endParaRPr kumimoji="0" lang="zh-CN" altLang="zh-CN" sz="1400" b="1" u="none" strike="noStrike" kern="1200" cap="none" normalizeH="0" baseline="0" dirty="0">
                        <a:ln>
                          <a:noFill/>
                        </a:ln>
                        <a:solidFill>
                          <a:srgbClr val="1F3173"/>
                        </a:solidFill>
                        <a:effectLst/>
                        <a:latin typeface="微软雅黑" pitchFamily="34" charset="-122"/>
                        <a:ea typeface="微软雅黑" pitchFamily="34" charset="-122"/>
                        <a:cs typeface="+mn-cs"/>
                      </a:endParaRPr>
                    </a:p>
                  </a:txBody>
                  <a:tcPr marL="0" marR="0" marT="0" marB="0" anchor="ctr" horzOverflow="overflow"/>
                </a:tc>
                <a:tc>
                  <a:txBody>
                    <a:bodyPr/>
                    <a:lstStyle/>
                    <a:p>
                      <a:pPr marL="49213" marR="0" lvl="0" indent="12700" algn="ctr" defTabSz="914400" rtl="0" eaLnBrk="1" fontAlgn="base" latinLnBrk="0" hangingPunct="1">
                        <a:lnSpc>
                          <a:spcPct val="100000"/>
                        </a:lnSpc>
                        <a:spcBef>
                          <a:spcPct val="0"/>
                        </a:spcBef>
                        <a:spcAft>
                          <a:spcPct val="0"/>
                        </a:spcAft>
                        <a:buClrTx/>
                        <a:buSzTx/>
                        <a:buFontTx/>
                        <a:buNone/>
                        <a:tabLst/>
                      </a:pPr>
                      <a:r>
                        <a:rPr kumimoji="0" lang="en-US" altLang="zh-CN" sz="1400" b="1" u="none" strike="noStrike" kern="1200" cap="none" normalizeH="0" baseline="0" dirty="0">
                          <a:ln>
                            <a:noFill/>
                          </a:ln>
                          <a:solidFill>
                            <a:srgbClr val="1F3173"/>
                          </a:solidFill>
                          <a:effectLst/>
                          <a:latin typeface="微软雅黑" pitchFamily="34" charset="-122"/>
                          <a:ea typeface="微软雅黑" pitchFamily="34" charset="-122"/>
                        </a:rPr>
                        <a:t>90kW</a:t>
                      </a:r>
                      <a:endParaRPr kumimoji="0" lang="zh-CN" altLang="zh-CN" sz="1400" b="1" u="none" strike="noStrike" kern="1200" cap="none" normalizeH="0" baseline="30000" dirty="0">
                        <a:ln>
                          <a:noFill/>
                        </a:ln>
                        <a:solidFill>
                          <a:srgbClr val="1F3173"/>
                        </a:solidFill>
                        <a:effectLst/>
                        <a:latin typeface="微软雅黑" pitchFamily="34" charset="-122"/>
                        <a:ea typeface="微软雅黑" pitchFamily="34" charset="-122"/>
                        <a:cs typeface="+mn-cs"/>
                      </a:endParaRPr>
                    </a:p>
                  </a:txBody>
                  <a:tcPr marL="0" marR="0" marT="0" marB="0" anchor="ctr" horzOverflow="overflow"/>
                </a:tc>
                <a:extLst>
                  <a:ext uri="{0D108BD9-81ED-4DB2-BD59-A6C34878D82A}">
                    <a16:rowId xmlns:a16="http://schemas.microsoft.com/office/drawing/2014/main" val="10001"/>
                  </a:ext>
                </a:extLst>
              </a:tr>
              <a:tr h="552732">
                <a:tc>
                  <a:txBody>
                    <a:bodyPr/>
                    <a:lstStyle/>
                    <a:p>
                      <a:pPr marL="49213" marR="0" lvl="0" indent="12700" algn="ctr" defTabSz="914400" rtl="0" eaLnBrk="1" fontAlgn="base" latinLnBrk="0" hangingPunct="1">
                        <a:lnSpc>
                          <a:spcPct val="100000"/>
                        </a:lnSpc>
                        <a:spcBef>
                          <a:spcPct val="0"/>
                        </a:spcBef>
                        <a:spcAft>
                          <a:spcPct val="0"/>
                        </a:spcAft>
                        <a:buClrTx/>
                        <a:buSzTx/>
                        <a:buFontTx/>
                        <a:buNone/>
                        <a:tabLst/>
                      </a:pPr>
                      <a:r>
                        <a:rPr kumimoji="0" lang="zh-CN" altLang="en-US" sz="1400" b="1" u="none" strike="noStrike" kern="1200" cap="none" normalizeH="0" baseline="0" dirty="0">
                          <a:ln>
                            <a:noFill/>
                          </a:ln>
                          <a:solidFill>
                            <a:srgbClr val="1F3173"/>
                          </a:solidFill>
                          <a:effectLst/>
                          <a:latin typeface="微软雅黑" pitchFamily="34" charset="-122"/>
                          <a:ea typeface="微软雅黑" pitchFamily="34" charset="-122"/>
                        </a:rPr>
                        <a:t>旋翼额定转速</a:t>
                      </a:r>
                      <a:endParaRPr kumimoji="0" lang="zh-CN" altLang="zh-CN" sz="1400" b="1" u="none" strike="noStrike" kern="1200" cap="none" normalizeH="0" baseline="0" dirty="0">
                        <a:ln>
                          <a:noFill/>
                        </a:ln>
                        <a:solidFill>
                          <a:srgbClr val="1F3173"/>
                        </a:solidFill>
                        <a:effectLst/>
                        <a:latin typeface="微软雅黑" pitchFamily="34" charset="-122"/>
                        <a:ea typeface="微软雅黑" pitchFamily="34" charset="-122"/>
                        <a:cs typeface="+mn-cs"/>
                      </a:endParaRPr>
                    </a:p>
                  </a:txBody>
                  <a:tcPr marL="0" marR="0" marT="0" marB="0" anchor="ctr" horzOverflow="overflow"/>
                </a:tc>
                <a:tc>
                  <a:txBody>
                    <a:bodyPr/>
                    <a:lstStyle/>
                    <a:p>
                      <a:pPr marL="49213" marR="0" lvl="0" indent="12700" algn="ctr" defTabSz="914400" rtl="0" eaLnBrk="1" fontAlgn="base" latinLnBrk="0" hangingPunct="1">
                        <a:lnSpc>
                          <a:spcPct val="100000"/>
                        </a:lnSpc>
                        <a:spcBef>
                          <a:spcPct val="0"/>
                        </a:spcBef>
                        <a:spcAft>
                          <a:spcPct val="0"/>
                        </a:spcAft>
                        <a:buClrTx/>
                        <a:buSzTx/>
                        <a:buFontTx/>
                        <a:buNone/>
                        <a:tabLst/>
                      </a:pPr>
                      <a:r>
                        <a:rPr kumimoji="0" lang="en-US" altLang="zh-CN" sz="1400" b="1" u="none" strike="noStrike" kern="1200" cap="none" normalizeH="0" baseline="0" dirty="0">
                          <a:ln>
                            <a:noFill/>
                          </a:ln>
                          <a:solidFill>
                            <a:srgbClr val="1F3173"/>
                          </a:solidFill>
                          <a:effectLst/>
                          <a:latin typeface="微软雅黑" pitchFamily="34" charset="-122"/>
                          <a:ea typeface="微软雅黑" pitchFamily="34" charset="-122"/>
                        </a:rPr>
                        <a:t>2100r/min</a:t>
                      </a:r>
                      <a:endParaRPr kumimoji="0" lang="zh-CN" altLang="zh-CN" sz="1400" b="1" u="none" strike="noStrike" kern="1200" cap="none" normalizeH="0" baseline="0" dirty="0">
                        <a:ln>
                          <a:noFill/>
                        </a:ln>
                        <a:solidFill>
                          <a:srgbClr val="1F3173"/>
                        </a:solidFill>
                        <a:effectLst/>
                        <a:latin typeface="微软雅黑" pitchFamily="34" charset="-122"/>
                        <a:ea typeface="微软雅黑" pitchFamily="34" charset="-122"/>
                        <a:cs typeface="+mn-cs"/>
                      </a:endParaRPr>
                    </a:p>
                  </a:txBody>
                  <a:tcPr marL="0" marR="0" marT="0" marB="0" anchor="ctr" horzOverflow="overflow"/>
                </a:tc>
                <a:extLst>
                  <a:ext uri="{0D108BD9-81ED-4DB2-BD59-A6C34878D82A}">
                    <a16:rowId xmlns:a16="http://schemas.microsoft.com/office/drawing/2014/main" val="10002"/>
                  </a:ext>
                </a:extLst>
              </a:tr>
              <a:tr h="552732">
                <a:tc>
                  <a:txBody>
                    <a:bodyPr/>
                    <a:lstStyle/>
                    <a:p>
                      <a:pPr marL="49213" marR="0" lvl="0" indent="12700" algn="ctr" defTabSz="914400" rtl="0" eaLnBrk="1" fontAlgn="base" latinLnBrk="0" hangingPunct="1">
                        <a:lnSpc>
                          <a:spcPct val="100000"/>
                        </a:lnSpc>
                        <a:spcBef>
                          <a:spcPct val="0"/>
                        </a:spcBef>
                        <a:spcAft>
                          <a:spcPct val="0"/>
                        </a:spcAft>
                        <a:buClrTx/>
                        <a:buSzTx/>
                        <a:buFontTx/>
                        <a:buNone/>
                        <a:tabLst/>
                      </a:pPr>
                      <a:r>
                        <a:rPr kumimoji="0" lang="zh-CN" altLang="en-US" sz="1400" b="1" u="none" strike="noStrike" kern="1200" cap="none" normalizeH="0" baseline="0" dirty="0">
                          <a:ln>
                            <a:noFill/>
                          </a:ln>
                          <a:solidFill>
                            <a:srgbClr val="1F3173"/>
                          </a:solidFill>
                          <a:effectLst/>
                          <a:latin typeface="微软雅黑" pitchFamily="34" charset="-122"/>
                          <a:ea typeface="微软雅黑" pitchFamily="34" charset="-122"/>
                        </a:rPr>
                        <a:t>旋翼最大拉力</a:t>
                      </a:r>
                      <a:endParaRPr kumimoji="0" lang="zh-CN" altLang="zh-CN" sz="1400" b="1" u="none" strike="noStrike" kern="1200" cap="none" normalizeH="0" baseline="0" dirty="0">
                        <a:ln>
                          <a:noFill/>
                        </a:ln>
                        <a:solidFill>
                          <a:srgbClr val="1F3173"/>
                        </a:solidFill>
                        <a:effectLst/>
                        <a:latin typeface="微软雅黑" pitchFamily="34" charset="-122"/>
                        <a:ea typeface="微软雅黑" pitchFamily="34" charset="-122"/>
                        <a:cs typeface="+mn-cs"/>
                      </a:endParaRPr>
                    </a:p>
                  </a:txBody>
                  <a:tcPr marL="0" marR="0" marT="0" marB="0" anchor="ctr" horzOverflow="overflow"/>
                </a:tc>
                <a:tc>
                  <a:txBody>
                    <a:bodyPr/>
                    <a:lstStyle/>
                    <a:p>
                      <a:pPr marL="49213" marR="0" lvl="0" indent="12700" algn="ctr" defTabSz="914400" rtl="0" eaLnBrk="1" fontAlgn="base" latinLnBrk="0" hangingPunct="1">
                        <a:lnSpc>
                          <a:spcPct val="100000"/>
                        </a:lnSpc>
                        <a:spcBef>
                          <a:spcPct val="0"/>
                        </a:spcBef>
                        <a:spcAft>
                          <a:spcPct val="0"/>
                        </a:spcAft>
                        <a:buClrTx/>
                        <a:buSzTx/>
                        <a:buFontTx/>
                        <a:buNone/>
                        <a:tabLst/>
                      </a:pPr>
                      <a:r>
                        <a:rPr kumimoji="0" lang="en-US" altLang="zh-CN" sz="1400" b="1" u="none" strike="noStrike" kern="1200" cap="none" normalizeH="0" baseline="0" dirty="0">
                          <a:ln>
                            <a:noFill/>
                          </a:ln>
                          <a:solidFill>
                            <a:srgbClr val="1F3173"/>
                          </a:solidFill>
                          <a:effectLst/>
                          <a:latin typeface="微软雅黑" pitchFamily="34" charset="-122"/>
                          <a:ea typeface="微软雅黑" pitchFamily="34" charset="-122"/>
                        </a:rPr>
                        <a:t>3500N</a:t>
                      </a:r>
                      <a:endParaRPr kumimoji="0" lang="zh-CN" altLang="zh-CN" sz="1400" b="1" u="none" strike="noStrike" kern="1200" cap="none" normalizeH="0" baseline="0" dirty="0">
                        <a:ln>
                          <a:noFill/>
                        </a:ln>
                        <a:solidFill>
                          <a:srgbClr val="1F3173"/>
                        </a:solidFill>
                        <a:effectLst/>
                        <a:latin typeface="微软雅黑" pitchFamily="34" charset="-122"/>
                        <a:ea typeface="微软雅黑" pitchFamily="34" charset="-122"/>
                        <a:cs typeface="+mn-cs"/>
                      </a:endParaRPr>
                    </a:p>
                  </a:txBody>
                  <a:tcPr marL="0" marR="0" marT="0" marB="0" anchor="ctr" horzOverflow="overflow"/>
                </a:tc>
                <a:extLst>
                  <a:ext uri="{0D108BD9-81ED-4DB2-BD59-A6C34878D82A}">
                    <a16:rowId xmlns:a16="http://schemas.microsoft.com/office/drawing/2014/main" val="10003"/>
                  </a:ext>
                </a:extLst>
              </a:tr>
            </a:tbl>
          </a:graphicData>
        </a:graphic>
      </p:graphicFrame>
      <p:sp>
        <p:nvSpPr>
          <p:cNvPr id="8" name="矩形 7"/>
          <p:cNvSpPr/>
          <p:nvPr/>
        </p:nvSpPr>
        <p:spPr>
          <a:xfrm>
            <a:off x="771684" y="1332727"/>
            <a:ext cx="5611554" cy="944939"/>
          </a:xfrm>
          <a:prstGeom prst="rect">
            <a:avLst/>
          </a:prstGeom>
        </p:spPr>
        <p:txBody>
          <a:bodyPr wrap="square">
            <a:spAutoFit/>
          </a:bodyPr>
          <a:lstStyle/>
          <a:p>
            <a:pPr marL="0" marR="0" lvl="0" indent="0" algn="l" defTabSz="914400" rtl="0" eaLnBrk="1" fontAlgn="auto" latinLnBrk="0" hangingPunct="1">
              <a:lnSpc>
                <a:spcPts val="35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1F3173"/>
                </a:solidFill>
                <a:effectLst/>
                <a:uLnTx/>
                <a:uFillTx/>
                <a:latin typeface="微软雅黑" pitchFamily="34" charset="-122"/>
                <a:ea typeface="微软雅黑" pitchFamily="34" charset="-122"/>
                <a:cs typeface="+mn-cs"/>
              </a:rPr>
              <a:t>试验台主要由动力、传动、主轴倾斜、旋翼操纵控制、测量、安全监控等</a:t>
            </a:r>
            <a:r>
              <a:rPr kumimoji="0" lang="zh-CN" altLang="en-US" sz="2200" b="1" i="0" u="none" strike="noStrike" kern="1200" cap="none" spc="0" normalizeH="0" baseline="0" noProof="0">
                <a:ln>
                  <a:noFill/>
                </a:ln>
                <a:solidFill>
                  <a:srgbClr val="1F3173"/>
                </a:solidFill>
                <a:effectLst/>
                <a:uLnTx/>
                <a:uFillTx/>
                <a:latin typeface="微软雅黑" pitchFamily="34" charset="-122"/>
                <a:ea typeface="微软雅黑" pitchFamily="34" charset="-122"/>
                <a:cs typeface="+mn-cs"/>
              </a:rPr>
              <a:t>系统组成。</a:t>
            </a:r>
            <a:endParaRPr kumimoji="0" lang="zh-CN" altLang="en-US" sz="2200" b="1" i="0" u="none" strike="noStrike" kern="1200" cap="none" spc="0" normalizeH="0" baseline="0" noProof="0" dirty="0">
              <a:ln>
                <a:noFill/>
              </a:ln>
              <a:solidFill>
                <a:srgbClr val="1F3173"/>
              </a:solidFill>
              <a:effectLst/>
              <a:uLnTx/>
              <a:uFillTx/>
              <a:latin typeface="微软雅黑" pitchFamily="34" charset="-122"/>
              <a:ea typeface="微软雅黑" pitchFamily="34" charset="-122"/>
              <a:cs typeface="+mn-cs"/>
            </a:endParaRPr>
          </a:p>
        </p:txBody>
      </p:sp>
      <p:sp>
        <p:nvSpPr>
          <p:cNvPr id="9" name="矩形 8"/>
          <p:cNvSpPr/>
          <p:nvPr/>
        </p:nvSpPr>
        <p:spPr>
          <a:xfrm>
            <a:off x="8140594" y="3717826"/>
            <a:ext cx="1905259" cy="43088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主要技术指标</a:t>
            </a:r>
          </a:p>
        </p:txBody>
      </p:sp>
      <p:sp>
        <p:nvSpPr>
          <p:cNvPr id="10" name="椭圆 9"/>
          <p:cNvSpPr/>
          <p:nvPr/>
        </p:nvSpPr>
        <p:spPr bwMode="auto">
          <a:xfrm>
            <a:off x="2062758" y="4010840"/>
            <a:ext cx="936104" cy="936104"/>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srgbClr val="FF0000"/>
              </a:solidFill>
              <a:effectLst/>
              <a:uLnTx/>
              <a:uFillTx/>
              <a:latin typeface="方正大黑简体" pitchFamily="2" charset="-122"/>
              <a:ea typeface="方正大黑简体" pitchFamily="2" charset="-122"/>
              <a:cs typeface="+mn-cs"/>
            </a:endParaRPr>
          </a:p>
        </p:txBody>
      </p:sp>
      <p:cxnSp>
        <p:nvCxnSpPr>
          <p:cNvPr id="11" name="直接箭头连接符 10"/>
          <p:cNvCxnSpPr/>
          <p:nvPr/>
        </p:nvCxnSpPr>
        <p:spPr bwMode="auto">
          <a:xfrm flipV="1">
            <a:off x="2998862" y="2205658"/>
            <a:ext cx="4248472" cy="2014560"/>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12" name="矩形 11"/>
          <p:cNvSpPr/>
          <p:nvPr/>
        </p:nvSpPr>
        <p:spPr>
          <a:xfrm>
            <a:off x="422969" y="777111"/>
            <a:ext cx="9865096" cy="492443"/>
          </a:xfrm>
          <a:prstGeom prst="rect">
            <a:avLst/>
          </a:prstGeom>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itchFamily="2" charset="2"/>
              <a:buChar char="u"/>
              <a:tabLst/>
              <a:defRPr/>
            </a:pPr>
            <a:r>
              <a:rPr kumimoji="0" lang="zh-CN" altLang="en-US" sz="26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直升机</a:t>
            </a:r>
            <a:r>
              <a:rPr kumimoji="0" lang="zh-CN" altLang="en-US" sz="2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旋翼结冰</a:t>
            </a:r>
            <a:r>
              <a:rPr kumimoji="0" lang="zh-CN" altLang="en-US" sz="26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风洞</a:t>
            </a:r>
            <a:endParaRPr kumimoji="0" lang="zh-CN" altLang="en-US" sz="2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15318033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smtClean="0">
                <a:latin typeface="微软雅黑" panose="020B0503020204020204" pitchFamily="34" charset="-122"/>
                <a:ea typeface="微软雅黑" panose="020B0503020204020204" pitchFamily="34" charset="-122"/>
              </a:rPr>
              <a:t>3 </a:t>
            </a:r>
            <a:r>
              <a:rPr lang="zh-CN" altLang="en-US" sz="2800" dirty="0" smtClean="0">
                <a:latin typeface="微软雅黑" panose="020B0503020204020204" pitchFamily="34" charset="-122"/>
                <a:ea typeface="微软雅黑" panose="020B0503020204020204" pitchFamily="34" charset="-122"/>
              </a:rPr>
              <a:t>风洞与风洞实验</a:t>
            </a:r>
            <a:endParaRPr lang="zh-CN" altLang="en-US" sz="28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a:xfrm>
            <a:off x="8610600" y="6417894"/>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10" name="文本框 9"/>
          <p:cNvSpPr txBox="1"/>
          <p:nvPr/>
        </p:nvSpPr>
        <p:spPr>
          <a:xfrm>
            <a:off x="3499703" y="3884379"/>
            <a:ext cx="511712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风洞实验</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7" name="立方体 6"/>
          <p:cNvSpPr/>
          <p:nvPr/>
        </p:nvSpPr>
        <p:spPr>
          <a:xfrm>
            <a:off x="5167311" y="2090364"/>
            <a:ext cx="1635369" cy="1525479"/>
          </a:xfrm>
          <a:prstGeom prst="cub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 name="立方体 10"/>
          <p:cNvSpPr/>
          <p:nvPr/>
        </p:nvSpPr>
        <p:spPr>
          <a:xfrm>
            <a:off x="5167311" y="4527290"/>
            <a:ext cx="1635369" cy="1525479"/>
          </a:xfrm>
          <a:prstGeom prst="cube">
            <a:avLst/>
          </a:prstGeom>
          <a:solidFill>
            <a:srgbClr val="7030A0"/>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3" name="文本框 12"/>
          <p:cNvSpPr txBox="1"/>
          <p:nvPr/>
        </p:nvSpPr>
        <p:spPr>
          <a:xfrm>
            <a:off x="3341076" y="1294661"/>
            <a:ext cx="511712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拆</a:t>
            </a:r>
            <a:r>
              <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black box</a:t>
            </a: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实验</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 name="文本框 13"/>
          <p:cNvSpPr txBox="1"/>
          <p:nvPr/>
        </p:nvSpPr>
        <p:spPr>
          <a:xfrm>
            <a:off x="2749061" y="2325281"/>
            <a:ext cx="2151185" cy="120032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敲击</a:t>
            </a:r>
            <a:endPar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食物诱惑</a:t>
            </a:r>
            <a:endPar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放</a:t>
            </a: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音乐</a:t>
            </a:r>
            <a:endPar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5" name="文本框 14"/>
          <p:cNvSpPr txBox="1"/>
          <p:nvPr/>
        </p:nvSpPr>
        <p:spPr>
          <a:xfrm>
            <a:off x="7376378" y="2114439"/>
            <a:ext cx="2151185" cy="147732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听声音</a:t>
            </a:r>
            <a:endPar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观察盒子振动</a:t>
            </a:r>
            <a:endPar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称</a:t>
            </a: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重量</a:t>
            </a:r>
            <a:endPar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测密度</a:t>
            </a:r>
            <a:endPar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6" name="右箭头 15"/>
          <p:cNvSpPr/>
          <p:nvPr/>
        </p:nvSpPr>
        <p:spPr>
          <a:xfrm>
            <a:off x="4325815" y="2690446"/>
            <a:ext cx="574431" cy="3253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右箭头 16"/>
          <p:cNvSpPr/>
          <p:nvPr/>
        </p:nvSpPr>
        <p:spPr>
          <a:xfrm>
            <a:off x="9497892" y="2770389"/>
            <a:ext cx="574431" cy="3253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9" name="矩形 18"/>
          <p:cNvSpPr/>
          <p:nvPr/>
        </p:nvSpPr>
        <p:spPr>
          <a:xfrm>
            <a:off x="2268415" y="1705763"/>
            <a:ext cx="8159261" cy="2083722"/>
          </a:xfrm>
          <a:prstGeom prst="rect">
            <a:avLst/>
          </a:prstGeom>
          <a:noFill/>
          <a:ln w="28575">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0" name="文本框 19"/>
          <p:cNvSpPr txBox="1"/>
          <p:nvPr/>
        </p:nvSpPr>
        <p:spPr>
          <a:xfrm>
            <a:off x="2749061" y="4763678"/>
            <a:ext cx="2151185" cy="120032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风速</a:t>
            </a:r>
            <a:endPar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迎角</a:t>
            </a:r>
            <a:endPar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主动激励</a:t>
            </a:r>
            <a:endPar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1" name="右箭头 20"/>
          <p:cNvSpPr/>
          <p:nvPr/>
        </p:nvSpPr>
        <p:spPr>
          <a:xfrm>
            <a:off x="4325814" y="5101368"/>
            <a:ext cx="574431" cy="3253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2" name="右箭头 21"/>
          <p:cNvSpPr/>
          <p:nvPr/>
        </p:nvSpPr>
        <p:spPr>
          <a:xfrm>
            <a:off x="7244859" y="5101368"/>
            <a:ext cx="574431" cy="3253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3" name="文本框 22"/>
          <p:cNvSpPr txBox="1"/>
          <p:nvPr/>
        </p:nvSpPr>
        <p:spPr>
          <a:xfrm>
            <a:off x="8276491" y="4527290"/>
            <a:ext cx="2151185" cy="147732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压强</a:t>
            </a:r>
            <a:endPar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气动力</a:t>
            </a:r>
            <a:endPar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振动、位移</a:t>
            </a:r>
            <a:endPar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流场</a:t>
            </a:r>
            <a:endPar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4" name="矩形 23"/>
          <p:cNvSpPr/>
          <p:nvPr/>
        </p:nvSpPr>
        <p:spPr>
          <a:xfrm>
            <a:off x="2268415" y="4229070"/>
            <a:ext cx="8159261" cy="2083722"/>
          </a:xfrm>
          <a:prstGeom prst="rect">
            <a:avLst/>
          </a:prstGeom>
          <a:noFill/>
          <a:ln w="28575">
            <a:solidFill>
              <a:srgbClr val="7030A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5" name="文本框 24"/>
          <p:cNvSpPr txBox="1"/>
          <p:nvPr/>
        </p:nvSpPr>
        <p:spPr>
          <a:xfrm>
            <a:off x="4246687" y="2352036"/>
            <a:ext cx="69459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input</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6" name="文本框 25"/>
          <p:cNvSpPr txBox="1"/>
          <p:nvPr/>
        </p:nvSpPr>
        <p:spPr>
          <a:xfrm>
            <a:off x="9359412" y="2418506"/>
            <a:ext cx="85138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output</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7" name="文本框 26"/>
          <p:cNvSpPr txBox="1"/>
          <p:nvPr/>
        </p:nvSpPr>
        <p:spPr>
          <a:xfrm>
            <a:off x="4248885" y="4666339"/>
            <a:ext cx="69459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input</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8" name="文本框 27"/>
          <p:cNvSpPr txBox="1"/>
          <p:nvPr/>
        </p:nvSpPr>
        <p:spPr>
          <a:xfrm>
            <a:off x="7112977" y="4639731"/>
            <a:ext cx="85138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output</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 name="文本框 2"/>
          <p:cNvSpPr txBox="1"/>
          <p:nvPr/>
        </p:nvSpPr>
        <p:spPr>
          <a:xfrm>
            <a:off x="10566156" y="1816844"/>
            <a:ext cx="1015663" cy="4394412"/>
          </a:xfrm>
          <a:prstGeom prst="rect">
            <a:avLst/>
          </a:prstGeom>
          <a:noFill/>
        </p:spPr>
        <p:txBody>
          <a:bodyPr vert="ea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n-cs"/>
              </a:rPr>
              <a:t>二者道理相同</a:t>
            </a: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。均是通过建立可控已知的输入与可观测并已知的输出之间的关联，推断盒子里的物理真相。</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98228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500" fill="hold"/>
                                        <p:tgtEl>
                                          <p:spTgt spid="26"/>
                                        </p:tgtEl>
                                        <p:attrNameLst>
                                          <p:attrName>ppt_x</p:attrName>
                                        </p:attrNameLst>
                                      </p:cBhvr>
                                      <p:tavLst>
                                        <p:tav tm="0">
                                          <p:val>
                                            <p:strVal val="#ppt_x"/>
                                          </p:val>
                                        </p:tav>
                                        <p:tav tm="100000">
                                          <p:val>
                                            <p:strVal val="#ppt_x"/>
                                          </p:val>
                                        </p:tav>
                                      </p:tavLst>
                                    </p:anim>
                                    <p:anim calcmode="lin" valueType="num">
                                      <p:cBhvr additive="base">
                                        <p:cTn id="18" dur="500" fill="hold"/>
                                        <p:tgtEl>
                                          <p:spTgt spid="2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ppt_x"/>
                                          </p:val>
                                        </p:tav>
                                        <p:tav tm="100000">
                                          <p:val>
                                            <p:strVal val="#ppt_x"/>
                                          </p:val>
                                        </p:tav>
                                      </p:tavLst>
                                    </p:anim>
                                    <p:anim calcmode="lin" valueType="num">
                                      <p:cBhvr additive="base">
                                        <p:cTn id="40" dur="500" fill="hold"/>
                                        <p:tgtEl>
                                          <p:spTgt spid="2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500" fill="hold"/>
                                        <p:tgtEl>
                                          <p:spTgt spid="22"/>
                                        </p:tgtEl>
                                        <p:attrNameLst>
                                          <p:attrName>ppt_x</p:attrName>
                                        </p:attrNameLst>
                                      </p:cBhvr>
                                      <p:tavLst>
                                        <p:tav tm="0">
                                          <p:val>
                                            <p:strVal val="#ppt_x"/>
                                          </p:val>
                                        </p:tav>
                                        <p:tav tm="100000">
                                          <p:val>
                                            <p:strVal val="#ppt_x"/>
                                          </p:val>
                                        </p:tav>
                                      </p:tavLst>
                                    </p:anim>
                                    <p:anim calcmode="lin" valueType="num">
                                      <p:cBhvr additive="base">
                                        <p:cTn id="44" dur="500" fill="hold"/>
                                        <p:tgtEl>
                                          <p:spTgt spid="2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additive="base">
                                        <p:cTn id="47" dur="500" fill="hold"/>
                                        <p:tgtEl>
                                          <p:spTgt spid="23"/>
                                        </p:tgtEl>
                                        <p:attrNameLst>
                                          <p:attrName>ppt_x</p:attrName>
                                        </p:attrNameLst>
                                      </p:cBhvr>
                                      <p:tavLst>
                                        <p:tav tm="0">
                                          <p:val>
                                            <p:strVal val="#ppt_x"/>
                                          </p:val>
                                        </p:tav>
                                        <p:tav tm="100000">
                                          <p:val>
                                            <p:strVal val="#ppt_x"/>
                                          </p:val>
                                        </p:tav>
                                      </p:tavLst>
                                    </p:anim>
                                    <p:anim calcmode="lin" valueType="num">
                                      <p:cBhvr additive="base">
                                        <p:cTn id="48" dur="500" fill="hold"/>
                                        <p:tgtEl>
                                          <p:spTgt spid="2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 calcmode="lin" valueType="num">
                                      <p:cBhvr additive="base">
                                        <p:cTn id="51" dur="500" fill="hold"/>
                                        <p:tgtEl>
                                          <p:spTgt spid="24"/>
                                        </p:tgtEl>
                                        <p:attrNameLst>
                                          <p:attrName>ppt_x</p:attrName>
                                        </p:attrNameLst>
                                      </p:cBhvr>
                                      <p:tavLst>
                                        <p:tav tm="0">
                                          <p:val>
                                            <p:strVal val="#ppt_x"/>
                                          </p:val>
                                        </p:tav>
                                        <p:tav tm="100000">
                                          <p:val>
                                            <p:strVal val="#ppt_x"/>
                                          </p:val>
                                        </p:tav>
                                      </p:tavLst>
                                    </p:anim>
                                    <p:anim calcmode="lin" valueType="num">
                                      <p:cBhvr additive="base">
                                        <p:cTn id="52" dur="500" fill="hold"/>
                                        <p:tgtEl>
                                          <p:spTgt spid="24"/>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 calcmode="lin" valueType="num">
                                      <p:cBhvr additive="base">
                                        <p:cTn id="55" dur="500" fill="hold"/>
                                        <p:tgtEl>
                                          <p:spTgt spid="27"/>
                                        </p:tgtEl>
                                        <p:attrNameLst>
                                          <p:attrName>ppt_x</p:attrName>
                                        </p:attrNameLst>
                                      </p:cBhvr>
                                      <p:tavLst>
                                        <p:tav tm="0">
                                          <p:val>
                                            <p:strVal val="#ppt_x"/>
                                          </p:val>
                                        </p:tav>
                                        <p:tav tm="100000">
                                          <p:val>
                                            <p:strVal val="#ppt_x"/>
                                          </p:val>
                                        </p:tav>
                                      </p:tavLst>
                                    </p:anim>
                                    <p:anim calcmode="lin" valueType="num">
                                      <p:cBhvr additive="base">
                                        <p:cTn id="56" dur="500" fill="hold"/>
                                        <p:tgtEl>
                                          <p:spTgt spid="27"/>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anim calcmode="lin" valueType="num">
                                      <p:cBhvr additive="base">
                                        <p:cTn id="59" dur="500" fill="hold"/>
                                        <p:tgtEl>
                                          <p:spTgt spid="28"/>
                                        </p:tgtEl>
                                        <p:attrNameLst>
                                          <p:attrName>ppt_x</p:attrName>
                                        </p:attrNameLst>
                                      </p:cBhvr>
                                      <p:tavLst>
                                        <p:tav tm="0">
                                          <p:val>
                                            <p:strVal val="#ppt_x"/>
                                          </p:val>
                                        </p:tav>
                                        <p:tav tm="100000">
                                          <p:val>
                                            <p:strVal val="#ppt_x"/>
                                          </p:val>
                                        </p:tav>
                                      </p:tavLst>
                                    </p:anim>
                                    <p:anim calcmode="lin" valueType="num">
                                      <p:cBhvr additive="base">
                                        <p:cTn id="60"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6" grpId="0" animBg="1"/>
      <p:bldP spid="17" grpId="0" animBg="1"/>
      <p:bldP spid="20" grpId="0"/>
      <p:bldP spid="21" grpId="0" animBg="1"/>
      <p:bldP spid="22" grpId="0" animBg="1"/>
      <p:bldP spid="23" grpId="0"/>
      <p:bldP spid="24" grpId="0" animBg="1"/>
      <p:bldP spid="25" grpId="0"/>
      <p:bldP spid="26" grpId="0"/>
      <p:bldP spid="27" grpId="0"/>
      <p:bldP spid="2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610600" y="6417894"/>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13" name="文本框 12"/>
          <p:cNvSpPr txBox="1"/>
          <p:nvPr/>
        </p:nvSpPr>
        <p:spPr>
          <a:xfrm>
            <a:off x="1090127" y="1459855"/>
            <a:ext cx="511712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有关比例模型实验</a:t>
            </a:r>
            <a:endParaRPr kumimoji="0" lang="zh-CN" altLang="en-US"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29" name="内容占位符 2"/>
          <p:cNvSpPr>
            <a:spLocks noGrp="1"/>
          </p:cNvSpPr>
          <p:nvPr>
            <p:ph idx="1"/>
          </p:nvPr>
        </p:nvSpPr>
        <p:spPr>
          <a:xfrm>
            <a:off x="1090126" y="1992131"/>
            <a:ext cx="5805195" cy="1609705"/>
          </a:xfrm>
        </p:spPr>
        <p:txBody>
          <a:bodyPr>
            <a:normAutofit/>
          </a:bodyPr>
          <a:lstStyle/>
          <a:p>
            <a:pPr marL="0" indent="0">
              <a:buNone/>
            </a:pPr>
            <a:r>
              <a:rPr lang="zh-CN" altLang="en-US" sz="1800" dirty="0" smtClean="0">
                <a:latin typeface="微软雅黑" panose="020B0503020204020204" pitchFamily="34" charset="-122"/>
                <a:ea typeface="微软雅黑" panose="020B0503020204020204" pitchFamily="34" charset="-122"/>
              </a:rPr>
              <a:t>与原型之间：</a:t>
            </a:r>
            <a:endParaRPr lang="en-US" altLang="zh-CN" sz="1800" dirty="0" smtClean="0">
              <a:latin typeface="微软雅黑" panose="020B0503020204020204" pitchFamily="34" charset="-122"/>
              <a:ea typeface="微软雅黑" panose="020B0503020204020204" pitchFamily="34" charset="-122"/>
            </a:endParaRPr>
          </a:p>
          <a:p>
            <a:pPr>
              <a:buFont typeface="Wingdings" panose="05000000000000000000" pitchFamily="2" charset="2"/>
              <a:buChar char="p"/>
            </a:pPr>
            <a:r>
              <a:rPr lang="zh-CN" altLang="en-US" sz="1800" dirty="0" smtClean="0">
                <a:latin typeface="微软雅黑" panose="020B0503020204020204" pitchFamily="34" charset="-122"/>
                <a:ea typeface="微软雅黑" panose="020B0503020204020204" pitchFamily="34" charset="-122"/>
              </a:rPr>
              <a:t>支配的物理定律相同</a:t>
            </a:r>
            <a:endParaRPr lang="en-US" altLang="zh-CN" sz="1800" dirty="0" smtClean="0">
              <a:latin typeface="微软雅黑" panose="020B0503020204020204" pitchFamily="34" charset="-122"/>
              <a:ea typeface="微软雅黑" panose="020B0503020204020204" pitchFamily="34" charset="-122"/>
            </a:endParaRPr>
          </a:p>
          <a:p>
            <a:pPr>
              <a:buFont typeface="Wingdings" panose="05000000000000000000" pitchFamily="2" charset="2"/>
              <a:buChar char="p"/>
            </a:pPr>
            <a:r>
              <a:rPr lang="zh-CN" altLang="en-US" sz="1800" dirty="0" smtClean="0">
                <a:latin typeface="微软雅黑" panose="020B0503020204020204" pitchFamily="34" charset="-122"/>
                <a:ea typeface="微软雅黑" panose="020B0503020204020204" pitchFamily="34" charset="-122"/>
              </a:rPr>
              <a:t>边界条件一致或相似</a:t>
            </a:r>
            <a:endParaRPr lang="en-US" altLang="zh-CN" sz="1800" dirty="0" smtClean="0">
              <a:latin typeface="微软雅黑" panose="020B0503020204020204" pitchFamily="34" charset="-122"/>
              <a:ea typeface="微软雅黑" panose="020B0503020204020204" pitchFamily="34" charset="-122"/>
            </a:endParaRPr>
          </a:p>
          <a:p>
            <a:pPr>
              <a:buFont typeface="Wingdings" panose="05000000000000000000" pitchFamily="2" charset="2"/>
              <a:buChar char="p"/>
            </a:pPr>
            <a:r>
              <a:rPr lang="zh-CN" altLang="en-US" sz="1800" dirty="0" smtClean="0">
                <a:latin typeface="微软雅黑" panose="020B0503020204020204" pitchFamily="34" charset="-122"/>
                <a:ea typeface="微软雅黑" panose="020B0503020204020204" pitchFamily="34" charset="-122"/>
              </a:rPr>
              <a:t>物理场关联性一致</a:t>
            </a:r>
            <a:endParaRPr lang="en-US" altLang="zh-CN" sz="1800" dirty="0" smtClean="0">
              <a:latin typeface="微软雅黑" panose="020B0503020204020204" pitchFamily="34" charset="-122"/>
              <a:ea typeface="微软雅黑" panose="020B0503020204020204" pitchFamily="34" charset="-122"/>
            </a:endParaRPr>
          </a:p>
          <a:p>
            <a:pPr marL="0" indent="0">
              <a:buNone/>
            </a:pPr>
            <a:endParaRPr lang="en-US" altLang="zh-CN" sz="200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7680252" y="1380271"/>
            <a:ext cx="4348964" cy="5220185"/>
          </a:xfrm>
          <a:prstGeom prst="rect">
            <a:avLst/>
          </a:prstGeom>
        </p:spPr>
      </p:pic>
      <p:sp>
        <p:nvSpPr>
          <p:cNvPr id="30" name="内容占位符 2"/>
          <p:cNvSpPr txBox="1">
            <a:spLocks/>
          </p:cNvSpPr>
          <p:nvPr/>
        </p:nvSpPr>
        <p:spPr>
          <a:xfrm>
            <a:off x="1090127" y="3676260"/>
            <a:ext cx="5805195" cy="30044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1600" b="0"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n-cs"/>
              </a:rPr>
              <a:t>相关理论：</a:t>
            </a:r>
            <a:endParaRPr kumimoji="0" lang="en-US" altLang="zh-CN" sz="1600" b="0"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p"/>
              <a:tabLst/>
              <a:defRPr/>
            </a:pPr>
            <a:r>
              <a:rPr kumimoji="0" lang="zh-CN" altLang="en-US" sz="1600" b="0" i="0" u="none" strike="noStrike" kern="12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mn-cs"/>
              </a:rPr>
              <a:t>量纲分析与方程无量纲化</a:t>
            </a:r>
            <a:endParaRPr kumimoji="0" lang="en-US" altLang="zh-CN" sz="1600" b="0" i="0" u="none" strike="noStrike" kern="12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1600" b="0"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n-cs"/>
              </a:rPr>
              <a:t>物理方程不会因为量纲选择不同导致方程不平衡</a:t>
            </a:r>
            <a:endParaRPr kumimoji="0" lang="en-US" altLang="zh-CN" sz="1600" b="0"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p"/>
              <a:tabLst/>
              <a:defRPr/>
            </a:pPr>
            <a:r>
              <a:rPr kumimoji="0" lang="en-US" altLang="zh-CN" sz="1600" b="0" i="0" u="none" strike="noStrike" kern="12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mn-cs"/>
              </a:rPr>
              <a:t>Pi</a:t>
            </a:r>
            <a:r>
              <a:rPr kumimoji="0" lang="zh-CN" altLang="en-US" sz="1600" b="0" i="0" u="none" strike="noStrike" kern="12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mn-cs"/>
              </a:rPr>
              <a:t>定理</a:t>
            </a:r>
            <a:endParaRPr kumimoji="0" lang="en-US" altLang="zh-CN" sz="1600" b="0" i="0" u="none" strike="noStrike" kern="12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1600" b="0"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n-cs"/>
              </a:rPr>
              <a:t>通过选取基本物理量，可对未知物理关系的问题进行参数简化，并可能根据量纲分析获得物理关系的显示形式</a:t>
            </a:r>
            <a:endParaRPr kumimoji="0" lang="en-US" altLang="zh-CN" sz="1600" b="0"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600" b="0" i="0" u="none" strike="noStrike" kern="12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mn-cs"/>
              </a:rPr>
              <a:t>N-S</a:t>
            </a:r>
            <a:r>
              <a:rPr kumimoji="0" lang="zh-CN" altLang="en-US" sz="1600" b="0" i="0" u="none" strike="noStrike" kern="12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mn-cs"/>
              </a:rPr>
              <a:t>方程、状态方程、结构动力学方程等无量纲化</a:t>
            </a:r>
            <a:endParaRPr kumimoji="0" lang="en-US" altLang="zh-CN" sz="1600" b="0" i="0" u="none" strike="noStrike" kern="1200" cap="none" spc="0" normalizeH="0" baseline="0" noProof="0" dirty="0" smtClean="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1600" b="0"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n-cs"/>
              </a:rPr>
              <a:t>可获得指导实验设计的重要无量纲数</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文本框 4"/>
          <p:cNvSpPr txBox="1"/>
          <p:nvPr/>
        </p:nvSpPr>
        <p:spPr>
          <a:xfrm>
            <a:off x="3760237" y="2785418"/>
            <a:ext cx="273386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相似是其中的特殊情况</a:t>
            </a:r>
            <a:endPar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1" name="Rectangle 2"/>
          <p:cNvSpPr txBox="1">
            <a:spLocks noChangeArrowheads="1"/>
          </p:cNvSpPr>
          <p:nvPr/>
        </p:nvSpPr>
        <p:spPr>
          <a:xfrm>
            <a:off x="6872499" y="4119551"/>
            <a:ext cx="5156717" cy="2298343"/>
          </a:xfrm>
          <a:prstGeom prst="rect">
            <a:avLst/>
          </a:prstGeom>
          <a:solidFill>
            <a:schemeClr val="bg1"/>
          </a:solidFill>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457200" algn="l" defTabSz="914400" rtl="0" eaLnBrk="1" fontAlgn="auto" latinLnBrk="0" hangingPunct="1">
              <a:lnSpc>
                <a:spcPct val="80000"/>
              </a:lnSpc>
              <a:spcBef>
                <a:spcPts val="1000"/>
              </a:spcBef>
              <a:spcAft>
                <a:spcPts val="0"/>
              </a:spcAft>
              <a:buClrTx/>
              <a:buSzTx/>
              <a:buFontTx/>
              <a:buNone/>
              <a:tabLst/>
              <a:defRPr/>
            </a:pP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1  </a:t>
            </a:r>
            <a:r>
              <a:rPr kumimoji="0" lang="en-US" altLang="zh-CN" sz="2000" b="0" i="1" u="none" strike="noStrike" kern="1200" cap="none" spc="0" normalizeH="0" baseline="0" noProof="0" dirty="0" err="1" smtClean="0">
                <a:ln>
                  <a:noFill/>
                </a:ln>
                <a:solidFill>
                  <a:prstClr val="black"/>
                </a:solidFill>
                <a:effectLst/>
                <a:uLnTx/>
                <a:uFillTx/>
                <a:latin typeface="Times New Roman" panose="02020603050405020304" pitchFamily="18" charset="0"/>
                <a:ea typeface="等线" panose="02010600030101010101" pitchFamily="2" charset="-122"/>
                <a:cs typeface="+mn-cs"/>
              </a:rPr>
              <a:t>Strouhal</a:t>
            </a:r>
            <a:r>
              <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 </a:t>
            </a:r>
            <a:r>
              <a:rPr kumimoji="0" lang="zh-CN" altLang="en-US"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相似准数   </a:t>
            </a:r>
            <a:r>
              <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St=l/</a:t>
            </a:r>
            <a:r>
              <a:rPr kumimoji="0" lang="en-US" altLang="zh-CN" sz="2000" b="0" i="1" u="none" strike="noStrike" kern="1200" cap="none" spc="0" normalizeH="0" baseline="0" noProof="0" dirty="0" err="1" smtClean="0">
                <a:ln>
                  <a:noFill/>
                </a:ln>
                <a:solidFill>
                  <a:prstClr val="black"/>
                </a:solidFill>
                <a:effectLst/>
                <a:uLnTx/>
                <a:uFillTx/>
                <a:latin typeface="Times New Roman" panose="02020603050405020304" pitchFamily="18" charset="0"/>
                <a:ea typeface="等线" panose="02010600030101010101" pitchFamily="2" charset="-122"/>
                <a:cs typeface="+mn-cs"/>
              </a:rPr>
              <a:t>vt</a:t>
            </a:r>
            <a:r>
              <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 </a:t>
            </a:r>
            <a:r>
              <a:rPr kumimoji="0" lang="zh-CN" altLang="en-US"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也有也成</a:t>
            </a:r>
            <a:r>
              <a:rPr kumimoji="0" lang="en-US" altLang="zh-CN" sz="2000" b="0" i="1" u="none" strike="noStrike" kern="1200" cap="none" spc="0" normalizeH="0" baseline="0" noProof="0" dirty="0" err="1" smtClean="0">
                <a:ln>
                  <a:noFill/>
                </a:ln>
                <a:solidFill>
                  <a:prstClr val="black"/>
                </a:solidFill>
                <a:effectLst/>
                <a:uLnTx/>
                <a:uFillTx/>
                <a:latin typeface="Times New Roman" panose="02020603050405020304" pitchFamily="18" charset="0"/>
                <a:ea typeface="等线" panose="02010600030101010101" pitchFamily="2" charset="-122"/>
                <a:cs typeface="+mn-cs"/>
              </a:rPr>
              <a:t>Sr</a:t>
            </a:r>
            <a:endPar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endParaRPr>
          </a:p>
          <a:p>
            <a:pPr marL="457200" marR="0" lvl="0" indent="-457200" algn="l" defTabSz="914400" rtl="0" eaLnBrk="1" fontAlgn="auto" latinLnBrk="0" hangingPunct="1">
              <a:lnSpc>
                <a:spcPct val="80000"/>
              </a:lnSpc>
              <a:spcBef>
                <a:spcPts val="1000"/>
              </a:spcBef>
              <a:spcAft>
                <a:spcPts val="0"/>
              </a:spcAft>
              <a:buClrTx/>
              <a:buSzTx/>
              <a:buFontTx/>
              <a:buNone/>
              <a:tabLst/>
              <a:defRPr/>
            </a:pP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   </a:t>
            </a:r>
            <a:r>
              <a:rPr kumimoji="0" lang="zh-CN" altLang="en-US" sz="2000" b="0" i="0" u="none" strike="noStrike" kern="1200" cap="none" spc="0" normalizeH="0" baseline="0" noProof="0" dirty="0" smtClean="0">
                <a:ln>
                  <a:noFill/>
                </a:ln>
                <a:solidFill>
                  <a:srgbClr val="C00000"/>
                </a:solidFill>
                <a:effectLst/>
                <a:uLnTx/>
                <a:uFillTx/>
                <a:latin typeface="Times New Roman" panose="02020603050405020304" pitchFamily="18" charset="0"/>
                <a:ea typeface="等线" panose="02010600030101010101" pitchFamily="2" charset="-122"/>
                <a:cs typeface="+mn-cs"/>
              </a:rPr>
              <a:t>时变惯性力和位变惯性力</a:t>
            </a:r>
            <a:r>
              <a:rPr kumimoji="0" lang="zh-CN" altLang="en-US"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之比，反映流体运动周期性变化</a:t>
            </a:r>
          </a:p>
          <a:p>
            <a:pPr marL="457200" marR="0" lvl="0" indent="-457200" algn="l" defTabSz="914400" rtl="0" eaLnBrk="1" fontAlgn="auto" latinLnBrk="0" hangingPunct="1">
              <a:lnSpc>
                <a:spcPct val="80000"/>
              </a:lnSpc>
              <a:spcBef>
                <a:spcPts val="1000"/>
              </a:spcBef>
              <a:spcAft>
                <a:spcPts val="0"/>
              </a:spcAft>
              <a:buClrTx/>
              <a:buSzTx/>
              <a:buFontTx/>
              <a:buNone/>
              <a:tabLst/>
              <a:defRPr/>
            </a:pP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2 </a:t>
            </a:r>
            <a:r>
              <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 Froude</a:t>
            </a: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 </a:t>
            </a:r>
            <a:r>
              <a:rPr kumimoji="0" lang="zh-CN" altLang="en-US"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相似准数     </a:t>
            </a:r>
            <a:r>
              <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Fr=v</a:t>
            </a:r>
            <a:r>
              <a:rPr kumimoji="0" lang="en-US" altLang="zh-CN" sz="2000" b="0" i="1" u="none" strike="noStrike" kern="1200" cap="none" spc="0" normalizeH="0" baseline="3000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2</a:t>
            </a:r>
            <a:r>
              <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a:t>
            </a:r>
            <a:r>
              <a:rPr kumimoji="0" lang="en-US" altLang="zh-CN" sz="2000" b="0" i="1" u="none" strike="noStrike" kern="1200" cap="none" spc="0" normalizeH="0" baseline="0" noProof="0" dirty="0" err="1" smtClean="0">
                <a:ln>
                  <a:noFill/>
                </a:ln>
                <a:solidFill>
                  <a:prstClr val="black"/>
                </a:solidFill>
                <a:effectLst/>
                <a:uLnTx/>
                <a:uFillTx/>
                <a:latin typeface="Times New Roman" panose="02020603050405020304" pitchFamily="18" charset="0"/>
                <a:ea typeface="等线" panose="02010600030101010101" pitchFamily="2" charset="-122"/>
                <a:cs typeface="+mn-cs"/>
              </a:rPr>
              <a:t>gl</a:t>
            </a:r>
            <a:endPar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endParaRPr>
          </a:p>
          <a:p>
            <a:pPr marL="457200" marR="0" lvl="0" indent="-457200" algn="l" defTabSz="914400" rtl="0" eaLnBrk="1" fontAlgn="auto" latinLnBrk="0" hangingPunct="1">
              <a:lnSpc>
                <a:spcPct val="80000"/>
              </a:lnSpc>
              <a:spcBef>
                <a:spcPts val="1000"/>
              </a:spcBef>
              <a:spcAft>
                <a:spcPts val="0"/>
              </a:spcAft>
              <a:buClrTx/>
              <a:buSzTx/>
              <a:buFontTx/>
              <a:buNone/>
              <a:tabLst/>
              <a:defRPr/>
            </a:pP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   </a:t>
            </a:r>
            <a:r>
              <a:rPr kumimoji="0" lang="zh-CN" altLang="en-US" sz="2000" b="0" i="0" u="none" strike="noStrike" kern="1200" cap="none" spc="0" normalizeH="0" baseline="0" noProof="0" dirty="0" smtClean="0">
                <a:ln>
                  <a:noFill/>
                </a:ln>
                <a:solidFill>
                  <a:srgbClr val="C00000"/>
                </a:solidFill>
                <a:effectLst/>
                <a:uLnTx/>
                <a:uFillTx/>
                <a:latin typeface="Times New Roman" panose="02020603050405020304" pitchFamily="18" charset="0"/>
                <a:ea typeface="等线" panose="02010600030101010101" pitchFamily="2" charset="-122"/>
                <a:cs typeface="+mn-cs"/>
              </a:rPr>
              <a:t>惯性力和重力</a:t>
            </a:r>
            <a:r>
              <a:rPr kumimoji="0" lang="zh-CN" altLang="en-US"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之比，反映流体流动中重力的影响</a:t>
            </a:r>
          </a:p>
          <a:p>
            <a:pPr marL="457200" marR="0" lvl="0" indent="-457200" algn="l" defTabSz="914400" rtl="0" eaLnBrk="1" fontAlgn="auto" latinLnBrk="0" hangingPunct="1">
              <a:lnSpc>
                <a:spcPct val="80000"/>
              </a:lnSpc>
              <a:spcBef>
                <a:spcPts val="1000"/>
              </a:spcBef>
              <a:spcAft>
                <a:spcPts val="0"/>
              </a:spcAft>
              <a:buClrTx/>
              <a:buSzTx/>
              <a:buFontTx/>
              <a:buNone/>
              <a:tabLst/>
              <a:defRPr/>
            </a:pP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3 </a:t>
            </a:r>
            <a:r>
              <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 Euler</a:t>
            </a: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 </a:t>
            </a:r>
            <a:r>
              <a:rPr kumimoji="0" lang="zh-CN" altLang="en-US"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相似准数        </a:t>
            </a:r>
            <a:r>
              <a:rPr kumimoji="0" lang="en-US" altLang="zh-CN" sz="2000" b="0" i="1" u="none" strike="noStrike" kern="1200" cap="none" spc="0" normalizeH="0" baseline="0" noProof="0" dirty="0" err="1" smtClean="0">
                <a:ln>
                  <a:noFill/>
                </a:ln>
                <a:solidFill>
                  <a:prstClr val="black"/>
                </a:solidFill>
                <a:effectLst/>
                <a:uLnTx/>
                <a:uFillTx/>
                <a:latin typeface="Times New Roman" panose="02020603050405020304" pitchFamily="18" charset="0"/>
                <a:ea typeface="等线" panose="02010600030101010101" pitchFamily="2" charset="-122"/>
                <a:cs typeface="+mn-cs"/>
              </a:rPr>
              <a:t>Eu</a:t>
            </a:r>
            <a:r>
              <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=p/</a:t>
            </a:r>
            <a:r>
              <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sym typeface="Symbol" panose="05050102010706020507" pitchFamily="18" charset="2"/>
              </a:rPr>
              <a:t>v</a:t>
            </a:r>
            <a:r>
              <a:rPr kumimoji="0" lang="en-US" altLang="zh-CN" sz="2000" b="0" i="1" u="none" strike="noStrike" kern="1200" cap="none" spc="0" normalizeH="0" baseline="3000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sym typeface="Symbol" panose="05050102010706020507" pitchFamily="18" charset="2"/>
              </a:rPr>
              <a:t>2</a:t>
            </a:r>
          </a:p>
          <a:p>
            <a:pPr marL="457200" marR="0" lvl="0" indent="-457200" algn="l" defTabSz="914400" rtl="0" eaLnBrk="1" fontAlgn="auto" latinLnBrk="0" hangingPunct="1">
              <a:lnSpc>
                <a:spcPct val="80000"/>
              </a:lnSpc>
              <a:spcBef>
                <a:spcPts val="1000"/>
              </a:spcBef>
              <a:spcAft>
                <a:spcPts val="0"/>
              </a:spcAft>
              <a:buClrTx/>
              <a:buSzTx/>
              <a:buFontTx/>
              <a:buNone/>
              <a:tabLst/>
              <a:defRPr/>
            </a:pP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   </a:t>
            </a:r>
            <a:r>
              <a:rPr kumimoji="0" lang="zh-CN" altLang="en-US" sz="2000" b="0" i="0" u="none" strike="noStrike" kern="1200" cap="none" spc="0" normalizeH="0" baseline="0" noProof="0" dirty="0" smtClean="0">
                <a:ln>
                  <a:noFill/>
                </a:ln>
                <a:solidFill>
                  <a:srgbClr val="C00000"/>
                </a:solidFill>
                <a:effectLst/>
                <a:uLnTx/>
                <a:uFillTx/>
                <a:latin typeface="Times New Roman" panose="02020603050405020304" pitchFamily="18" charset="0"/>
                <a:ea typeface="等线" panose="02010600030101010101" pitchFamily="2" charset="-122"/>
                <a:cs typeface="+mn-cs"/>
              </a:rPr>
              <a:t>压力和惯性力</a:t>
            </a:r>
            <a:r>
              <a:rPr kumimoji="0" lang="zh-CN" altLang="en-US"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的比值</a:t>
            </a:r>
          </a:p>
          <a:p>
            <a:pPr marL="457200" marR="0" lvl="0" indent="-457200" algn="l" defTabSz="914400" rtl="0" eaLnBrk="1" fontAlgn="auto" latinLnBrk="0" hangingPunct="1">
              <a:lnSpc>
                <a:spcPct val="80000"/>
              </a:lnSpc>
              <a:spcBef>
                <a:spcPts val="1000"/>
              </a:spcBef>
              <a:spcAft>
                <a:spcPts val="0"/>
              </a:spcAft>
              <a:buClrTx/>
              <a:buSzTx/>
              <a:buFontTx/>
              <a:buNone/>
              <a:tabLst/>
              <a:defRPr/>
            </a:pP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4  </a:t>
            </a:r>
            <a:r>
              <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Reynolds </a:t>
            </a:r>
            <a:r>
              <a:rPr kumimoji="0" lang="zh-CN" altLang="en-US"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相似准数   </a:t>
            </a:r>
            <a:r>
              <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Re=</a:t>
            </a:r>
            <a:r>
              <a:rPr kumimoji="0" lang="en-US" altLang="zh-CN" sz="2000" b="0" i="1" u="none" strike="noStrike" kern="1200" cap="none" spc="0" normalizeH="0" baseline="0" noProof="0" dirty="0" err="1" smtClean="0">
                <a:ln>
                  <a:noFill/>
                </a:ln>
                <a:solidFill>
                  <a:prstClr val="black"/>
                </a:solidFill>
                <a:effectLst/>
                <a:uLnTx/>
                <a:uFillTx/>
                <a:latin typeface="Times New Roman" panose="02020603050405020304" pitchFamily="18" charset="0"/>
                <a:ea typeface="等线" panose="02010600030101010101" pitchFamily="2" charset="-122"/>
                <a:cs typeface="+mn-cs"/>
              </a:rPr>
              <a:t>vl</a:t>
            </a:r>
            <a:r>
              <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a:t>
            </a:r>
            <a:r>
              <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sym typeface="Symbol" panose="05050102010706020507" pitchFamily="18" charset="2"/>
              </a:rPr>
              <a:t>= </a:t>
            </a:r>
            <a:r>
              <a:rPr kumimoji="0" lang="en-US" altLang="zh-CN" sz="2000" b="0" i="1" u="none" strike="noStrike" kern="1200" cap="none" spc="0" normalizeH="0" baseline="0" noProof="0" dirty="0" err="1" smtClean="0">
                <a:ln>
                  <a:noFill/>
                </a:ln>
                <a:solidFill>
                  <a:prstClr val="black"/>
                </a:solidFill>
                <a:effectLst/>
                <a:uLnTx/>
                <a:uFillTx/>
                <a:latin typeface="Times New Roman" panose="02020603050405020304" pitchFamily="18" charset="0"/>
                <a:ea typeface="等线" panose="02010600030101010101" pitchFamily="2" charset="-122"/>
                <a:cs typeface="+mn-cs"/>
                <a:sym typeface="Symbol" panose="05050102010706020507" pitchFamily="18" charset="2"/>
              </a:rPr>
              <a:t>vl</a:t>
            </a:r>
            <a:r>
              <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sym typeface="Symbol" panose="05050102010706020507" pitchFamily="18" charset="2"/>
              </a:rPr>
              <a:t>/</a:t>
            </a:r>
          </a:p>
          <a:p>
            <a:pPr marL="457200" marR="0" lvl="0" indent="-457200" algn="l" defTabSz="914400" rtl="0" eaLnBrk="1" fontAlgn="auto" latinLnBrk="0" hangingPunct="1">
              <a:lnSpc>
                <a:spcPct val="80000"/>
              </a:lnSpc>
              <a:spcBef>
                <a:spcPts val="1000"/>
              </a:spcBef>
              <a:spcAft>
                <a:spcPts val="0"/>
              </a:spcAft>
              <a:buClrTx/>
              <a:buSzTx/>
              <a:buFontTx/>
              <a:buNone/>
              <a:tabLst/>
              <a:defRPr/>
            </a:pP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   </a:t>
            </a:r>
            <a:r>
              <a:rPr kumimoji="0" lang="zh-CN" altLang="en-US" sz="2000" b="0" i="0" u="none" strike="noStrike" kern="1200" cap="none" spc="0" normalizeH="0" baseline="0" noProof="0" dirty="0" smtClean="0">
                <a:ln>
                  <a:noFill/>
                </a:ln>
                <a:solidFill>
                  <a:srgbClr val="C00000"/>
                </a:solidFill>
                <a:effectLst/>
                <a:uLnTx/>
                <a:uFillTx/>
                <a:latin typeface="Times New Roman" panose="02020603050405020304" pitchFamily="18" charset="0"/>
                <a:ea typeface="等线" panose="02010600030101010101" pitchFamily="2" charset="-122"/>
                <a:cs typeface="+mn-cs"/>
              </a:rPr>
              <a:t>惯性力和粘性力</a:t>
            </a:r>
            <a:r>
              <a:rPr kumimoji="0" lang="zh-CN" altLang="en-US"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之比</a:t>
            </a:r>
          </a:p>
          <a:p>
            <a:pPr marL="457200" marR="0" lvl="0" indent="-457200" algn="l" defTabSz="914400" rtl="0" eaLnBrk="1" fontAlgn="auto" latinLnBrk="0" hangingPunct="1">
              <a:lnSpc>
                <a:spcPct val="80000"/>
              </a:lnSpc>
              <a:spcBef>
                <a:spcPts val="1000"/>
              </a:spcBef>
              <a:spcAft>
                <a:spcPts val="0"/>
              </a:spcAft>
              <a:buClrTx/>
              <a:buSzTx/>
              <a:buFontTx/>
              <a:buNone/>
              <a:tabLst/>
              <a:defRPr/>
            </a:pP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5  </a:t>
            </a:r>
            <a:r>
              <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Mach</a:t>
            </a: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 </a:t>
            </a:r>
            <a:r>
              <a:rPr kumimoji="0" lang="zh-CN" altLang="en-US"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相似准数        </a:t>
            </a:r>
            <a:r>
              <a:rPr kumimoji="0" lang="en-US" altLang="zh-CN" sz="2000" b="0" i="1"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rPr>
              <a:t>Ma=v/c</a:t>
            </a:r>
          </a:p>
          <a:p>
            <a:pPr marL="457200" marR="0" lvl="0" indent="-457200" algn="l" defTabSz="914400" rtl="0" eaLnBrk="1" fontAlgn="auto" latinLnBrk="0" hangingPunct="1">
              <a:lnSpc>
                <a:spcPct val="80000"/>
              </a:lnSpc>
              <a:spcBef>
                <a:spcPts val="1000"/>
              </a:spcBef>
              <a:spcAft>
                <a:spcPts val="0"/>
              </a:spcAft>
              <a:buClrTx/>
              <a:buSzTx/>
              <a:buFontTx/>
              <a:buNone/>
              <a:tabLst/>
              <a:defRPr/>
            </a:pP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sym typeface="Symbol" panose="05050102010706020507" pitchFamily="18" charset="2"/>
              </a:rPr>
              <a:t>   </a:t>
            </a:r>
            <a:r>
              <a:rPr kumimoji="0" lang="zh-CN" altLang="en-US" sz="2000" b="0" i="0" u="none" strike="noStrike" kern="1200" cap="none" spc="0" normalizeH="0" baseline="0" noProof="0" dirty="0" smtClean="0">
                <a:ln>
                  <a:noFill/>
                </a:ln>
                <a:solidFill>
                  <a:srgbClr val="C00000"/>
                </a:solidFill>
                <a:effectLst/>
                <a:uLnTx/>
                <a:uFillTx/>
                <a:latin typeface="Times New Roman" panose="02020603050405020304" pitchFamily="18" charset="0"/>
                <a:ea typeface="等线" panose="02010600030101010101" pitchFamily="2" charset="-122"/>
                <a:cs typeface="+mn-cs"/>
                <a:sym typeface="Symbol" panose="05050102010706020507" pitchFamily="18" charset="2"/>
              </a:rPr>
              <a:t>弹性力和惯性力之比</a:t>
            </a:r>
            <a:r>
              <a:rPr kumimoji="0" lang="zh-CN" altLang="en-US"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sym typeface="Symbol" panose="05050102010706020507" pitchFamily="18" charset="2"/>
              </a:rPr>
              <a:t>，</a:t>
            </a:r>
            <a:r>
              <a:rPr kumimoji="0" lang="en-US" altLang="zh-CN"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sym typeface="Symbol" panose="05050102010706020507" pitchFamily="18" charset="2"/>
              </a:rPr>
              <a:t>c</a:t>
            </a:r>
            <a:r>
              <a:rPr kumimoji="0" lang="zh-CN" altLang="en-US" sz="20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mn-cs"/>
                <a:sym typeface="Symbol" panose="05050102010706020507" pitchFamily="18" charset="2"/>
              </a:rPr>
              <a:t>为声速，反映流动可压缩程度</a:t>
            </a:r>
          </a:p>
          <a:p>
            <a:pPr marL="457200" marR="0" lvl="0" indent="-457200" algn="l" defTabSz="914400" rtl="0" eaLnBrk="1" fontAlgn="auto" latinLnBrk="0" hangingPunct="1">
              <a:lnSpc>
                <a:spcPct val="80000"/>
              </a:lnSpc>
              <a:spcBef>
                <a:spcPts val="1000"/>
              </a:spcBef>
              <a:spcAft>
                <a:spcPts val="0"/>
              </a:spcAft>
              <a:buClrTx/>
              <a:buSzTx/>
              <a:buFontTx/>
              <a:buNone/>
              <a:tabLst/>
              <a:defRPr/>
            </a:pPr>
            <a:endParaRPr kumimoji="0" lang="zh-CN" altLang="en-US" sz="2400" b="0" i="0" u="none" strike="noStrike" kern="1200" cap="none" spc="0" normalizeH="0" baseline="0" noProof="0" dirty="0" smtClean="0">
              <a:ln>
                <a:noFill/>
              </a:ln>
              <a:solidFill>
                <a:srgbClr val="0000FF"/>
              </a:solidFill>
              <a:effectLst/>
              <a:uLnTx/>
              <a:uFillTx/>
              <a:latin typeface="等线" panose="020F0502020204030204"/>
              <a:ea typeface="等线" panose="02010600030101010101" pitchFamily="2" charset="-122"/>
              <a:cs typeface="+mn-cs"/>
            </a:endParaRPr>
          </a:p>
          <a:p>
            <a:pPr marL="457200" marR="0" lvl="0" indent="-457200" algn="l" defTabSz="914400" rtl="0" eaLnBrk="1" fontAlgn="auto" latinLnBrk="0" hangingPunct="1">
              <a:lnSpc>
                <a:spcPct val="80000"/>
              </a:lnSpc>
              <a:spcBef>
                <a:spcPts val="1000"/>
              </a:spcBef>
              <a:spcAft>
                <a:spcPts val="0"/>
              </a:spcAft>
              <a:buClrTx/>
              <a:buSzTx/>
              <a:buFontTx/>
              <a:buNone/>
              <a:tabLst/>
              <a:defRPr/>
            </a:pPr>
            <a:endParaRPr kumimoji="0" lang="en-US" altLang="zh-CN" sz="2400" b="0" i="0" u="none" strike="noStrike" kern="1200" cap="none" spc="0" normalizeH="0" baseline="0" noProof="0" dirty="0" smtClean="0">
              <a:ln>
                <a:noFill/>
              </a:ln>
              <a:solidFill>
                <a:srgbClr val="FF0000"/>
              </a:solidFill>
              <a:effectLst/>
              <a:uLnTx/>
              <a:uFillTx/>
              <a:latin typeface="等线" panose="020F0502020204030204"/>
              <a:ea typeface="等线" panose="02010600030101010101" pitchFamily="2" charset="-122"/>
              <a:cs typeface="+mn-cs"/>
            </a:endParaRPr>
          </a:p>
        </p:txBody>
      </p:sp>
      <p:sp>
        <p:nvSpPr>
          <p:cNvPr id="11" name="标题 1"/>
          <p:cNvSpPr>
            <a:spLocks noGrp="1"/>
          </p:cNvSpPr>
          <p:nvPr>
            <p:ph type="title"/>
          </p:nvPr>
        </p:nvSpPr>
        <p:spPr>
          <a:xfrm>
            <a:off x="838200" y="365125"/>
            <a:ext cx="10515600" cy="1325563"/>
          </a:xfrm>
        </p:spPr>
        <p:txBody>
          <a:bodyPr>
            <a:normAutofit/>
          </a:bodyPr>
          <a:lstStyle/>
          <a:p>
            <a:r>
              <a:rPr lang="en-US" altLang="zh-CN" sz="2800" dirty="0" smtClean="0">
                <a:latin typeface="微软雅黑" panose="020B0503020204020204" pitchFamily="34" charset="-122"/>
                <a:ea typeface="微软雅黑" panose="020B0503020204020204" pitchFamily="34" charset="-122"/>
              </a:rPr>
              <a:t>3 </a:t>
            </a:r>
            <a:r>
              <a:rPr lang="zh-CN" altLang="en-US" sz="2800" dirty="0" smtClean="0">
                <a:latin typeface="微软雅黑" panose="020B0503020204020204" pitchFamily="34" charset="-122"/>
                <a:ea typeface="微软雅黑" panose="020B0503020204020204" pitchFamily="34" charset="-122"/>
              </a:rPr>
              <a:t>风洞与风洞实验</a:t>
            </a:r>
            <a:endParaRPr lang="zh-CN" altLang="en-US"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33910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0793" y="1506510"/>
            <a:ext cx="10515600" cy="4351338"/>
          </a:xfrm>
        </p:spPr>
        <p:txBody>
          <a:bodyPr>
            <a:normAutofit/>
          </a:bodyPr>
          <a:lstStyle/>
          <a:p>
            <a:pPr marL="0" indent="0">
              <a:buNone/>
            </a:pPr>
            <a:r>
              <a:rPr lang="zh-CN" altLang="en-US" sz="2000" dirty="0" smtClean="0">
                <a:solidFill>
                  <a:srgbClr val="7030A0"/>
                </a:solidFill>
                <a:latin typeface="微软雅黑" panose="020B0503020204020204" pitchFamily="34" charset="-122"/>
                <a:ea typeface="微软雅黑" panose="020B0503020204020204" pitchFamily="34" charset="-122"/>
              </a:rPr>
              <a:t>汽车风洞移动带上为什么要尽量减少边界层的厚度？</a:t>
            </a:r>
            <a:endParaRPr lang="en-US" altLang="zh-CN" sz="2000" dirty="0" smtClean="0">
              <a:solidFill>
                <a:srgbClr val="7030A0"/>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8" name="Rectangle 5"/>
          <p:cNvSpPr>
            <a:spLocks noChangeArrowheads="1"/>
          </p:cNvSpPr>
          <p:nvPr/>
        </p:nvSpPr>
        <p:spPr bwMode="auto">
          <a:xfrm>
            <a:off x="4290646" y="3956538"/>
            <a:ext cx="1425149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nvGrpSpPr>
          <p:cNvPr id="9" name="组合 8"/>
          <p:cNvGrpSpPr/>
          <p:nvPr/>
        </p:nvGrpSpPr>
        <p:grpSpPr>
          <a:xfrm>
            <a:off x="1149460" y="2420914"/>
            <a:ext cx="4600639" cy="2710922"/>
            <a:chOff x="4975901" y="2586779"/>
            <a:chExt cx="6842510" cy="3947217"/>
          </a:xfrm>
        </p:grpSpPr>
        <p:sp>
          <p:nvSpPr>
            <p:cNvPr id="11" name="右箭头 10"/>
            <p:cNvSpPr/>
            <p:nvPr/>
          </p:nvSpPr>
          <p:spPr>
            <a:xfrm>
              <a:off x="5066597" y="5093507"/>
              <a:ext cx="532382" cy="449254"/>
            </a:xfrm>
            <a:prstGeom prst="rightArrow">
              <a:avLst>
                <a:gd name="adj1" fmla="val 42830"/>
                <a:gd name="adj2" fmla="val 5258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矩形 11"/>
            <p:cNvSpPr/>
            <p:nvPr/>
          </p:nvSpPr>
          <p:spPr>
            <a:xfrm>
              <a:off x="4975901" y="4588262"/>
              <a:ext cx="808701" cy="44813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来流</a:t>
              </a:r>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6524" y="4559092"/>
              <a:ext cx="6013973" cy="1974904"/>
            </a:xfrm>
            <a:prstGeom prst="rect">
              <a:avLst/>
            </a:prstGeom>
          </p:spPr>
        </p:pic>
        <p:sp>
          <p:nvSpPr>
            <p:cNvPr id="14" name="矩形 13"/>
            <p:cNvSpPr/>
            <p:nvPr/>
          </p:nvSpPr>
          <p:spPr>
            <a:xfrm>
              <a:off x="8815808" y="2586779"/>
              <a:ext cx="1419039" cy="40332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smtClean="0">
                  <a:ln>
                    <a:noFill/>
                  </a:ln>
                  <a:solidFill>
                    <a:prstClr val="black"/>
                  </a:solidFill>
                  <a:effectLst/>
                  <a:uLnTx/>
                  <a:uFillTx/>
                  <a:latin typeface="黑体" panose="02010609060101010101" pitchFamily="49" charset="-122"/>
                  <a:ea typeface="黑体" panose="02010609060101010101" pitchFamily="49" charset="-122"/>
                  <a:cs typeface="+mn-cs"/>
                </a:rPr>
                <a:t>法向作用力</a:t>
              </a:r>
              <a:endParaRPr kumimoji="0" lang="zh-CN" altLang="en-US" sz="12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
          <p:nvSpPr>
            <p:cNvPr id="15" name="矩形 14"/>
            <p:cNvSpPr/>
            <p:nvPr/>
          </p:nvSpPr>
          <p:spPr>
            <a:xfrm>
              <a:off x="9598301" y="3272878"/>
              <a:ext cx="2220110" cy="40332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smtClean="0">
                  <a:ln>
                    <a:noFill/>
                  </a:ln>
                  <a:solidFill>
                    <a:prstClr val="black"/>
                  </a:solidFill>
                  <a:effectLst/>
                  <a:uLnTx/>
                  <a:uFillTx/>
                  <a:latin typeface="黑体" panose="02010609060101010101" pitchFamily="49" charset="-122"/>
                  <a:ea typeface="黑体" panose="02010609060101010101" pitchFamily="49" charset="-122"/>
                  <a:cs typeface="+mn-cs"/>
                </a:rPr>
                <a:t>切向作用力</a:t>
              </a:r>
              <a:r>
                <a:rPr kumimoji="0" lang="en-US" altLang="zh-CN" sz="1200" b="0" i="0" u="none" strike="noStrike" kern="1200" cap="none" spc="0" normalizeH="0" baseline="0" noProof="0" dirty="0" smtClean="0">
                  <a:ln>
                    <a:noFill/>
                  </a:ln>
                  <a:solidFill>
                    <a:prstClr val="black"/>
                  </a:solidFill>
                  <a:effectLst/>
                  <a:uLnTx/>
                  <a:uFillTx/>
                  <a:latin typeface="黑体" panose="02010609060101010101" pitchFamily="49" charset="-122"/>
                  <a:ea typeface="黑体" panose="02010609060101010101" pitchFamily="49" charset="-122"/>
                  <a:cs typeface="+mn-cs"/>
                </a:rPr>
                <a:t>=</a:t>
              </a:r>
              <a:r>
                <a:rPr kumimoji="0" lang="zh-CN" altLang="en-US" sz="1200" b="0" i="0" u="none" strike="noStrike" kern="1200" cap="none" spc="0" normalizeH="0" baseline="0" noProof="0" dirty="0" smtClean="0">
                  <a:ln>
                    <a:noFill/>
                  </a:ln>
                  <a:solidFill>
                    <a:prstClr val="black"/>
                  </a:solidFill>
                  <a:effectLst/>
                  <a:uLnTx/>
                  <a:uFillTx/>
                  <a:latin typeface="黑体" panose="02010609060101010101" pitchFamily="49" charset="-122"/>
                  <a:ea typeface="黑体" panose="02010609060101010101" pitchFamily="49" charset="-122"/>
                  <a:cs typeface="+mn-cs"/>
                </a:rPr>
                <a:t>摩擦力</a:t>
              </a:r>
              <a:endParaRPr kumimoji="0" lang="zh-CN" altLang="en-US" sz="12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
          <p:nvSpPr>
            <p:cNvPr id="16" name="椭圆 15"/>
            <p:cNvSpPr/>
            <p:nvPr/>
          </p:nvSpPr>
          <p:spPr>
            <a:xfrm>
              <a:off x="9266621" y="4564982"/>
              <a:ext cx="176745" cy="7390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任意多边形 16"/>
            <p:cNvSpPr/>
            <p:nvPr/>
          </p:nvSpPr>
          <p:spPr>
            <a:xfrm>
              <a:off x="7615729" y="4162907"/>
              <a:ext cx="109186" cy="747713"/>
            </a:xfrm>
            <a:custGeom>
              <a:avLst/>
              <a:gdLst>
                <a:gd name="connsiteX0" fmla="*/ 0 w 109186"/>
                <a:gd name="connsiteY0" fmla="*/ 747713 h 747713"/>
                <a:gd name="connsiteX1" fmla="*/ 66675 w 109186"/>
                <a:gd name="connsiteY1" fmla="*/ 666750 h 747713"/>
                <a:gd name="connsiteX2" fmla="*/ 102393 w 109186"/>
                <a:gd name="connsiteY2" fmla="*/ 531019 h 747713"/>
                <a:gd name="connsiteX3" fmla="*/ 107156 w 109186"/>
                <a:gd name="connsiteY3" fmla="*/ 381000 h 747713"/>
                <a:gd name="connsiteX4" fmla="*/ 78581 w 109186"/>
                <a:gd name="connsiteY4" fmla="*/ 169069 h 747713"/>
                <a:gd name="connsiteX5" fmla="*/ 38100 w 109186"/>
                <a:gd name="connsiteY5" fmla="*/ 0 h 74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186" h="747713">
                  <a:moveTo>
                    <a:pt x="0" y="747713"/>
                  </a:moveTo>
                  <a:cubicBezTo>
                    <a:pt x="24805" y="725289"/>
                    <a:pt x="49610" y="702866"/>
                    <a:pt x="66675" y="666750"/>
                  </a:cubicBezTo>
                  <a:cubicBezTo>
                    <a:pt x="83740" y="630634"/>
                    <a:pt x="95646" y="578644"/>
                    <a:pt x="102393" y="531019"/>
                  </a:cubicBezTo>
                  <a:cubicBezTo>
                    <a:pt x="109140" y="483394"/>
                    <a:pt x="111125" y="441325"/>
                    <a:pt x="107156" y="381000"/>
                  </a:cubicBezTo>
                  <a:cubicBezTo>
                    <a:pt x="103187" y="320675"/>
                    <a:pt x="90090" y="232569"/>
                    <a:pt x="78581" y="169069"/>
                  </a:cubicBezTo>
                  <a:cubicBezTo>
                    <a:pt x="67072" y="105569"/>
                    <a:pt x="52586" y="52784"/>
                    <a:pt x="38100" y="0"/>
                  </a:cubicBez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18" name="直接连接符 17"/>
            <p:cNvCxnSpPr/>
            <p:nvPr/>
          </p:nvCxnSpPr>
          <p:spPr>
            <a:xfrm flipH="1" flipV="1">
              <a:off x="7412831" y="4217194"/>
              <a:ext cx="202898" cy="69342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V="1">
              <a:off x="7434263" y="4200718"/>
              <a:ext cx="236448" cy="72369"/>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7453557" y="4309872"/>
              <a:ext cx="236448" cy="72369"/>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V="1">
              <a:off x="7496543" y="4423234"/>
              <a:ext cx="210222" cy="64341"/>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V="1">
              <a:off x="7520233" y="4530680"/>
              <a:ext cx="198700" cy="60814"/>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7552098" y="4658326"/>
              <a:ext cx="166332" cy="50908"/>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V="1">
              <a:off x="7590186" y="4779900"/>
              <a:ext cx="116579" cy="35679"/>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rot="21296896">
              <a:off x="6405952" y="4521013"/>
              <a:ext cx="341213" cy="747713"/>
              <a:chOff x="7014498" y="4978681"/>
              <a:chExt cx="341213" cy="747713"/>
            </a:xfrm>
          </p:grpSpPr>
          <p:sp>
            <p:nvSpPr>
              <p:cNvPr id="58" name="任意多边形 57"/>
              <p:cNvSpPr/>
              <p:nvPr/>
            </p:nvSpPr>
            <p:spPr>
              <a:xfrm rot="900000">
                <a:off x="7219104" y="4978681"/>
                <a:ext cx="109186" cy="747713"/>
              </a:xfrm>
              <a:custGeom>
                <a:avLst/>
                <a:gdLst>
                  <a:gd name="connsiteX0" fmla="*/ 0 w 109186"/>
                  <a:gd name="connsiteY0" fmla="*/ 747713 h 747713"/>
                  <a:gd name="connsiteX1" fmla="*/ 66675 w 109186"/>
                  <a:gd name="connsiteY1" fmla="*/ 666750 h 747713"/>
                  <a:gd name="connsiteX2" fmla="*/ 102393 w 109186"/>
                  <a:gd name="connsiteY2" fmla="*/ 531019 h 747713"/>
                  <a:gd name="connsiteX3" fmla="*/ 107156 w 109186"/>
                  <a:gd name="connsiteY3" fmla="*/ 381000 h 747713"/>
                  <a:gd name="connsiteX4" fmla="*/ 78581 w 109186"/>
                  <a:gd name="connsiteY4" fmla="*/ 169069 h 747713"/>
                  <a:gd name="connsiteX5" fmla="*/ 38100 w 109186"/>
                  <a:gd name="connsiteY5" fmla="*/ 0 h 74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186" h="747713">
                    <a:moveTo>
                      <a:pt x="0" y="747713"/>
                    </a:moveTo>
                    <a:cubicBezTo>
                      <a:pt x="24805" y="725289"/>
                      <a:pt x="49610" y="702866"/>
                      <a:pt x="66675" y="666750"/>
                    </a:cubicBezTo>
                    <a:cubicBezTo>
                      <a:pt x="83740" y="630634"/>
                      <a:pt x="95646" y="578644"/>
                      <a:pt x="102393" y="531019"/>
                    </a:cubicBezTo>
                    <a:cubicBezTo>
                      <a:pt x="109140" y="483394"/>
                      <a:pt x="111125" y="441325"/>
                      <a:pt x="107156" y="381000"/>
                    </a:cubicBezTo>
                    <a:cubicBezTo>
                      <a:pt x="103187" y="320675"/>
                      <a:pt x="90090" y="232569"/>
                      <a:pt x="78581" y="169069"/>
                    </a:cubicBezTo>
                    <a:cubicBezTo>
                      <a:pt x="67072" y="105569"/>
                      <a:pt x="52586" y="52784"/>
                      <a:pt x="38100" y="0"/>
                    </a:cubicBez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59" name="直接连接符 58"/>
              <p:cNvCxnSpPr/>
              <p:nvPr/>
            </p:nvCxnSpPr>
            <p:spPr>
              <a:xfrm rot="900000" flipH="1" flipV="1">
                <a:off x="7014498" y="4991656"/>
                <a:ext cx="202898" cy="69342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rot="900000" flipV="1">
                <a:off x="7119263" y="4996212"/>
                <a:ext cx="236448" cy="72369"/>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rot="900000" flipV="1">
                <a:off x="7109649" y="5106640"/>
                <a:ext cx="236448" cy="72369"/>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rot="900000" flipV="1">
                <a:off x="7123315" y="5224008"/>
                <a:ext cx="210222" cy="64341"/>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rot="900000" flipV="1">
                <a:off x="7119042" y="5332493"/>
                <a:ext cx="198700" cy="60814"/>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rot="900000" flipV="1">
                <a:off x="7118617" y="5460017"/>
                <a:ext cx="166332" cy="50908"/>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rot="900000" flipV="1">
                <a:off x="7126760" y="5581127"/>
                <a:ext cx="116579" cy="35679"/>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rot="21439914">
              <a:off x="8458082" y="3878257"/>
              <a:ext cx="341213" cy="747713"/>
              <a:chOff x="7014498" y="4978681"/>
              <a:chExt cx="341213" cy="747713"/>
            </a:xfrm>
          </p:grpSpPr>
          <p:sp>
            <p:nvSpPr>
              <p:cNvPr id="50" name="任意多边形 49"/>
              <p:cNvSpPr/>
              <p:nvPr/>
            </p:nvSpPr>
            <p:spPr>
              <a:xfrm rot="900000">
                <a:off x="7219104" y="4978681"/>
                <a:ext cx="109186" cy="747713"/>
              </a:xfrm>
              <a:custGeom>
                <a:avLst/>
                <a:gdLst>
                  <a:gd name="connsiteX0" fmla="*/ 0 w 109186"/>
                  <a:gd name="connsiteY0" fmla="*/ 747713 h 747713"/>
                  <a:gd name="connsiteX1" fmla="*/ 66675 w 109186"/>
                  <a:gd name="connsiteY1" fmla="*/ 666750 h 747713"/>
                  <a:gd name="connsiteX2" fmla="*/ 102393 w 109186"/>
                  <a:gd name="connsiteY2" fmla="*/ 531019 h 747713"/>
                  <a:gd name="connsiteX3" fmla="*/ 107156 w 109186"/>
                  <a:gd name="connsiteY3" fmla="*/ 381000 h 747713"/>
                  <a:gd name="connsiteX4" fmla="*/ 78581 w 109186"/>
                  <a:gd name="connsiteY4" fmla="*/ 169069 h 747713"/>
                  <a:gd name="connsiteX5" fmla="*/ 38100 w 109186"/>
                  <a:gd name="connsiteY5" fmla="*/ 0 h 74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186" h="747713">
                    <a:moveTo>
                      <a:pt x="0" y="747713"/>
                    </a:moveTo>
                    <a:cubicBezTo>
                      <a:pt x="24805" y="725289"/>
                      <a:pt x="49610" y="702866"/>
                      <a:pt x="66675" y="666750"/>
                    </a:cubicBezTo>
                    <a:cubicBezTo>
                      <a:pt x="83740" y="630634"/>
                      <a:pt x="95646" y="578644"/>
                      <a:pt x="102393" y="531019"/>
                    </a:cubicBezTo>
                    <a:cubicBezTo>
                      <a:pt x="109140" y="483394"/>
                      <a:pt x="111125" y="441325"/>
                      <a:pt x="107156" y="381000"/>
                    </a:cubicBezTo>
                    <a:cubicBezTo>
                      <a:pt x="103187" y="320675"/>
                      <a:pt x="90090" y="232569"/>
                      <a:pt x="78581" y="169069"/>
                    </a:cubicBezTo>
                    <a:cubicBezTo>
                      <a:pt x="67072" y="105569"/>
                      <a:pt x="52586" y="52784"/>
                      <a:pt x="38100" y="0"/>
                    </a:cubicBez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51" name="直接连接符 50"/>
              <p:cNvCxnSpPr/>
              <p:nvPr/>
            </p:nvCxnSpPr>
            <p:spPr>
              <a:xfrm rot="900000" flipH="1" flipV="1">
                <a:off x="7014498" y="4991656"/>
                <a:ext cx="202898" cy="69342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rot="900000" flipV="1">
                <a:off x="7119263" y="4996212"/>
                <a:ext cx="236448" cy="72369"/>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rot="900000" flipV="1">
                <a:off x="7109649" y="5106640"/>
                <a:ext cx="236448" cy="72369"/>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a:xfrm rot="900000" flipV="1">
                <a:off x="7123315" y="5224008"/>
                <a:ext cx="210222" cy="64341"/>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rot="900000" flipV="1">
                <a:off x="7119042" y="5332493"/>
                <a:ext cx="198700" cy="60814"/>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rot="900000" flipV="1">
                <a:off x="7118617" y="5460017"/>
                <a:ext cx="166332" cy="50908"/>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rot="900000" flipV="1">
                <a:off x="7126760" y="5581127"/>
                <a:ext cx="116579" cy="35679"/>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rot="532211">
              <a:off x="9611103" y="3890445"/>
              <a:ext cx="341213" cy="747713"/>
              <a:chOff x="7014498" y="4978681"/>
              <a:chExt cx="341213" cy="747713"/>
            </a:xfrm>
          </p:grpSpPr>
          <p:sp>
            <p:nvSpPr>
              <p:cNvPr id="42" name="任意多边形 41"/>
              <p:cNvSpPr/>
              <p:nvPr/>
            </p:nvSpPr>
            <p:spPr>
              <a:xfrm rot="900000">
                <a:off x="7219104" y="4978681"/>
                <a:ext cx="109186" cy="747713"/>
              </a:xfrm>
              <a:custGeom>
                <a:avLst/>
                <a:gdLst>
                  <a:gd name="connsiteX0" fmla="*/ 0 w 109186"/>
                  <a:gd name="connsiteY0" fmla="*/ 747713 h 747713"/>
                  <a:gd name="connsiteX1" fmla="*/ 66675 w 109186"/>
                  <a:gd name="connsiteY1" fmla="*/ 666750 h 747713"/>
                  <a:gd name="connsiteX2" fmla="*/ 102393 w 109186"/>
                  <a:gd name="connsiteY2" fmla="*/ 531019 h 747713"/>
                  <a:gd name="connsiteX3" fmla="*/ 107156 w 109186"/>
                  <a:gd name="connsiteY3" fmla="*/ 381000 h 747713"/>
                  <a:gd name="connsiteX4" fmla="*/ 78581 w 109186"/>
                  <a:gd name="connsiteY4" fmla="*/ 169069 h 747713"/>
                  <a:gd name="connsiteX5" fmla="*/ 38100 w 109186"/>
                  <a:gd name="connsiteY5" fmla="*/ 0 h 74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186" h="747713">
                    <a:moveTo>
                      <a:pt x="0" y="747713"/>
                    </a:moveTo>
                    <a:cubicBezTo>
                      <a:pt x="24805" y="725289"/>
                      <a:pt x="49610" y="702866"/>
                      <a:pt x="66675" y="666750"/>
                    </a:cubicBezTo>
                    <a:cubicBezTo>
                      <a:pt x="83740" y="630634"/>
                      <a:pt x="95646" y="578644"/>
                      <a:pt x="102393" y="531019"/>
                    </a:cubicBezTo>
                    <a:cubicBezTo>
                      <a:pt x="109140" y="483394"/>
                      <a:pt x="111125" y="441325"/>
                      <a:pt x="107156" y="381000"/>
                    </a:cubicBezTo>
                    <a:cubicBezTo>
                      <a:pt x="103187" y="320675"/>
                      <a:pt x="90090" y="232569"/>
                      <a:pt x="78581" y="169069"/>
                    </a:cubicBezTo>
                    <a:cubicBezTo>
                      <a:pt x="67072" y="105569"/>
                      <a:pt x="52586" y="52784"/>
                      <a:pt x="38100" y="0"/>
                    </a:cubicBez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43" name="直接连接符 42"/>
              <p:cNvCxnSpPr/>
              <p:nvPr/>
            </p:nvCxnSpPr>
            <p:spPr>
              <a:xfrm rot="900000" flipH="1" flipV="1">
                <a:off x="7014498" y="4991656"/>
                <a:ext cx="202898" cy="69342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rot="900000" flipV="1">
                <a:off x="7119263" y="4996212"/>
                <a:ext cx="236448" cy="72369"/>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rot="900000" flipV="1">
                <a:off x="7109649" y="5106640"/>
                <a:ext cx="236448" cy="72369"/>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rot="900000" flipV="1">
                <a:off x="7123315" y="5224008"/>
                <a:ext cx="210222" cy="64341"/>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rot="900000" flipV="1">
                <a:off x="7119042" y="5332493"/>
                <a:ext cx="198700" cy="60814"/>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rot="900000" flipV="1">
                <a:off x="7118617" y="5460017"/>
                <a:ext cx="166332" cy="50908"/>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rot="900000" flipV="1">
                <a:off x="7126760" y="5581127"/>
                <a:ext cx="116579" cy="35679"/>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p:nvGrpSpPr>
          <p:grpSpPr>
            <a:xfrm rot="1511692">
              <a:off x="10553055" y="4136858"/>
              <a:ext cx="341213" cy="747713"/>
              <a:chOff x="7014498" y="4978681"/>
              <a:chExt cx="341213" cy="747713"/>
            </a:xfrm>
          </p:grpSpPr>
          <p:sp>
            <p:nvSpPr>
              <p:cNvPr id="34" name="任意多边形 33"/>
              <p:cNvSpPr/>
              <p:nvPr/>
            </p:nvSpPr>
            <p:spPr>
              <a:xfrm rot="900000">
                <a:off x="7219104" y="4978681"/>
                <a:ext cx="109186" cy="747713"/>
              </a:xfrm>
              <a:custGeom>
                <a:avLst/>
                <a:gdLst>
                  <a:gd name="connsiteX0" fmla="*/ 0 w 109186"/>
                  <a:gd name="connsiteY0" fmla="*/ 747713 h 747713"/>
                  <a:gd name="connsiteX1" fmla="*/ 66675 w 109186"/>
                  <a:gd name="connsiteY1" fmla="*/ 666750 h 747713"/>
                  <a:gd name="connsiteX2" fmla="*/ 102393 w 109186"/>
                  <a:gd name="connsiteY2" fmla="*/ 531019 h 747713"/>
                  <a:gd name="connsiteX3" fmla="*/ 107156 w 109186"/>
                  <a:gd name="connsiteY3" fmla="*/ 381000 h 747713"/>
                  <a:gd name="connsiteX4" fmla="*/ 78581 w 109186"/>
                  <a:gd name="connsiteY4" fmla="*/ 169069 h 747713"/>
                  <a:gd name="connsiteX5" fmla="*/ 38100 w 109186"/>
                  <a:gd name="connsiteY5" fmla="*/ 0 h 74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186" h="747713">
                    <a:moveTo>
                      <a:pt x="0" y="747713"/>
                    </a:moveTo>
                    <a:cubicBezTo>
                      <a:pt x="24805" y="725289"/>
                      <a:pt x="49610" y="702866"/>
                      <a:pt x="66675" y="666750"/>
                    </a:cubicBezTo>
                    <a:cubicBezTo>
                      <a:pt x="83740" y="630634"/>
                      <a:pt x="95646" y="578644"/>
                      <a:pt x="102393" y="531019"/>
                    </a:cubicBezTo>
                    <a:cubicBezTo>
                      <a:pt x="109140" y="483394"/>
                      <a:pt x="111125" y="441325"/>
                      <a:pt x="107156" y="381000"/>
                    </a:cubicBezTo>
                    <a:cubicBezTo>
                      <a:pt x="103187" y="320675"/>
                      <a:pt x="90090" y="232569"/>
                      <a:pt x="78581" y="169069"/>
                    </a:cubicBezTo>
                    <a:cubicBezTo>
                      <a:pt x="67072" y="105569"/>
                      <a:pt x="52586" y="52784"/>
                      <a:pt x="38100" y="0"/>
                    </a:cubicBez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35" name="直接连接符 34"/>
              <p:cNvCxnSpPr/>
              <p:nvPr/>
            </p:nvCxnSpPr>
            <p:spPr>
              <a:xfrm rot="900000" flipH="1" flipV="1">
                <a:off x="7014498" y="4991656"/>
                <a:ext cx="202898" cy="69342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rot="900000" flipV="1">
                <a:off x="7119263" y="4996212"/>
                <a:ext cx="236448" cy="72369"/>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rot="900000" flipV="1">
                <a:off x="7109649" y="5106640"/>
                <a:ext cx="236448" cy="72369"/>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rot="900000" flipV="1">
                <a:off x="7123315" y="5224008"/>
                <a:ext cx="210222" cy="64341"/>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rot="900000" flipV="1">
                <a:off x="7119042" y="5332493"/>
                <a:ext cx="198700" cy="60814"/>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rot="900000" flipV="1">
                <a:off x="7118617" y="5460017"/>
                <a:ext cx="166332" cy="50908"/>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rot="900000" flipV="1">
                <a:off x="7126760" y="5581127"/>
                <a:ext cx="116579" cy="35679"/>
              </a:xfrm>
              <a:prstGeom prst="straightConnector1">
                <a:avLst/>
              </a:prstGeom>
              <a:ln w="6350">
                <a:solidFill>
                  <a:schemeClr val="tx1"/>
                </a:solidFill>
                <a:headEnd w="sm" len="sm"/>
                <a:tailEnd type="arrow" w="sm" len="sm"/>
              </a:ln>
            </p:spPr>
            <p:style>
              <a:lnRef idx="1">
                <a:schemeClr val="accent1"/>
              </a:lnRef>
              <a:fillRef idx="0">
                <a:schemeClr val="accent1"/>
              </a:fillRef>
              <a:effectRef idx="0">
                <a:schemeClr val="accent1"/>
              </a:effectRef>
              <a:fontRef idx="minor">
                <a:schemeClr val="tx1"/>
              </a:fontRef>
            </p:style>
          </p:cxnSp>
        </p:grpSp>
        <p:cxnSp>
          <p:nvCxnSpPr>
            <p:cNvPr id="29" name="直接连接符 28"/>
            <p:cNvCxnSpPr>
              <a:stCxn id="16" idx="2"/>
              <a:endCxn id="31" idx="2"/>
            </p:cNvCxnSpPr>
            <p:nvPr/>
          </p:nvCxnSpPr>
          <p:spPr>
            <a:xfrm flipH="1" flipV="1">
              <a:off x="8972289" y="3567959"/>
              <a:ext cx="294332" cy="10339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endCxn id="31" idx="6"/>
            </p:cNvCxnSpPr>
            <p:nvPr/>
          </p:nvCxnSpPr>
          <p:spPr>
            <a:xfrm flipV="1">
              <a:off x="9421102" y="3648971"/>
              <a:ext cx="219104" cy="9627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椭圆 30"/>
            <p:cNvSpPr/>
            <p:nvPr/>
          </p:nvSpPr>
          <p:spPr>
            <a:xfrm rot="414941">
              <a:off x="8969841" y="3495371"/>
              <a:ext cx="672813" cy="22618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32" name="直接箭头连接符 31"/>
            <p:cNvCxnSpPr/>
            <p:nvPr/>
          </p:nvCxnSpPr>
          <p:spPr>
            <a:xfrm>
              <a:off x="9294423" y="3580141"/>
              <a:ext cx="550296" cy="109810"/>
            </a:xfrm>
            <a:prstGeom prst="straightConnector1">
              <a:avLst/>
            </a:prstGeom>
            <a:ln w="9525">
              <a:solidFill>
                <a:schemeClr val="tx1"/>
              </a:solidFill>
              <a:headEnd w="sm" len="med"/>
              <a:tailEnd type="stealth" w="sm" len="med"/>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flipV="1">
              <a:off x="9307164" y="2909018"/>
              <a:ext cx="130044" cy="672440"/>
            </a:xfrm>
            <a:prstGeom prst="straightConnector1">
              <a:avLst/>
            </a:prstGeom>
            <a:ln w="9525">
              <a:solidFill>
                <a:schemeClr val="tx1"/>
              </a:solidFill>
              <a:headEnd w="sm" len="med"/>
              <a:tailEnd type="stealth" w="sm" len="med"/>
            </a:ln>
          </p:spPr>
          <p:style>
            <a:lnRef idx="1">
              <a:schemeClr val="accent1"/>
            </a:lnRef>
            <a:fillRef idx="0">
              <a:schemeClr val="accent1"/>
            </a:fillRef>
            <a:effectRef idx="0">
              <a:schemeClr val="accent1"/>
            </a:effectRef>
            <a:fontRef idx="minor">
              <a:schemeClr val="tx1"/>
            </a:fontRef>
          </p:style>
        </p:cxnSp>
      </p:grpSp>
      <p:sp>
        <p:nvSpPr>
          <p:cNvPr id="66" name="文本框 65"/>
          <p:cNvSpPr txBox="1"/>
          <p:nvPr/>
        </p:nvSpPr>
        <p:spPr>
          <a:xfrm>
            <a:off x="6208437" y="2167559"/>
            <a:ext cx="5430621" cy="3939540"/>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1200"/>
              </a:spcAft>
              <a:buClrTx/>
              <a:buSzTx/>
              <a:buFont typeface="Wingdings" panose="05000000000000000000" pitchFamily="2" charset="2"/>
              <a:buChar char="p"/>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相对性原理表明，风洞吹风给汽车的力与汽车行驶空气不动时受力相同。</a:t>
            </a: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ts val="0"/>
              </a:spcBef>
              <a:spcAft>
                <a:spcPts val="1200"/>
              </a:spcAft>
              <a:buClrTx/>
              <a:buSzTx/>
              <a:buFont typeface="Wingdings" panose="05000000000000000000" pitchFamily="2" charset="2"/>
              <a:buChar char="p"/>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行驶时</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，车</a:t>
            </a: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底部空气与地面 “相对静止”，</a:t>
            </a:r>
            <a:r>
              <a:rPr kumimoji="0" lang="zh-CN" altLang="en-US"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没有边界层</a:t>
            </a: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ts val="0"/>
              </a:spcBef>
              <a:spcAft>
                <a:spcPts val="1200"/>
              </a:spcAft>
              <a:buClrTx/>
              <a:buSzTx/>
              <a:buFont typeface="Wingdings" panose="05000000000000000000" pitchFamily="2" charset="2"/>
              <a:buChar char="p"/>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风洞模拟时，移动地板与风洞吹风有“相对运动”，</a:t>
            </a:r>
            <a:r>
              <a:rPr kumimoji="0" lang="zh-CN" altLang="en-US" sz="1800" b="0" i="0" u="none" strike="noStrike" kern="1200" cap="none" spc="0" normalizeH="0" baseline="0" noProof="0" dirty="0" smtClean="0">
                <a:ln>
                  <a:noFill/>
                </a:ln>
                <a:solidFill>
                  <a:srgbClr val="7030A0"/>
                </a:solidFill>
                <a:effectLst/>
                <a:uLnTx/>
                <a:uFillTx/>
                <a:latin typeface="微软雅黑" panose="020B0503020204020204" pitchFamily="34" charset="-122"/>
                <a:ea typeface="微软雅黑" panose="020B0503020204020204" pitchFamily="34" charset="-122"/>
                <a:cs typeface="+mn-cs"/>
              </a:rPr>
              <a:t>产生了边界层</a:t>
            </a: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。因此，需要把产生的边界层去除掉。</a:t>
            </a: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ts val="0"/>
              </a:spcBef>
              <a:spcAft>
                <a:spcPts val="1200"/>
              </a:spcAft>
              <a:buClrTx/>
              <a:buSzTx/>
              <a:buFont typeface="Wingdings" panose="05000000000000000000" pitchFamily="2" charset="2"/>
              <a:buChar char="p"/>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抽吸边界层：将流动额外的动能在壁面附近抽离出风洞，保持流动与地面“相对静止”</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US" altLang="zh-CN"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文本框 4"/>
          <p:cNvSpPr txBox="1"/>
          <p:nvPr/>
        </p:nvSpPr>
        <p:spPr>
          <a:xfrm>
            <a:off x="2787957" y="5688035"/>
            <a:ext cx="811019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smtClean="0">
                <a:ln>
                  <a:noFill/>
                </a:ln>
                <a:solidFill>
                  <a:srgbClr val="00B0F0"/>
                </a:solidFill>
                <a:effectLst/>
                <a:uLnTx/>
                <a:uFillTx/>
                <a:latin typeface="华文仿宋" panose="02010600040101010101" pitchFamily="2" charset="-122"/>
                <a:ea typeface="华文仿宋" panose="02010600040101010101" pitchFamily="2" charset="-122"/>
                <a:cs typeface="+mn-cs"/>
              </a:rPr>
              <a:t>边界层控制效果用位移厚度衡量科学合理，用边界层厚度评价太粗略</a:t>
            </a:r>
            <a:endParaRPr kumimoji="0" lang="zh-CN" altLang="en-US" sz="2000" b="0" i="0" u="none" strike="noStrike" kern="1200" cap="none" spc="0" normalizeH="0" baseline="0" noProof="0" dirty="0">
              <a:ln>
                <a:noFill/>
              </a:ln>
              <a:solidFill>
                <a:srgbClr val="00B0F0"/>
              </a:solidFill>
              <a:effectLst/>
              <a:uLnTx/>
              <a:uFillTx/>
              <a:latin typeface="华文仿宋" panose="02010600040101010101" pitchFamily="2" charset="-122"/>
              <a:ea typeface="华文仿宋" panose="02010600040101010101" pitchFamily="2" charset="-122"/>
              <a:cs typeface="+mn-cs"/>
            </a:endParaRPr>
          </a:p>
        </p:txBody>
      </p:sp>
      <p:sp>
        <p:nvSpPr>
          <p:cNvPr id="67" name="标题 1"/>
          <p:cNvSpPr>
            <a:spLocks noGrp="1"/>
          </p:cNvSpPr>
          <p:nvPr>
            <p:ph type="title"/>
          </p:nvPr>
        </p:nvSpPr>
        <p:spPr>
          <a:xfrm>
            <a:off x="838200" y="365125"/>
            <a:ext cx="10515600" cy="1325563"/>
          </a:xfrm>
        </p:spPr>
        <p:txBody>
          <a:bodyPr>
            <a:normAutofit/>
          </a:bodyPr>
          <a:lstStyle/>
          <a:p>
            <a:r>
              <a:rPr lang="en-US" altLang="zh-CN" sz="2800" dirty="0" smtClean="0">
                <a:latin typeface="微软雅黑" panose="020B0503020204020204" pitchFamily="34" charset="-122"/>
                <a:ea typeface="微软雅黑" panose="020B0503020204020204" pitchFamily="34" charset="-122"/>
              </a:rPr>
              <a:t>3 </a:t>
            </a:r>
            <a:r>
              <a:rPr lang="zh-CN" altLang="en-US" sz="2800" dirty="0" smtClean="0">
                <a:latin typeface="微软雅黑" panose="020B0503020204020204" pitchFamily="34" charset="-122"/>
                <a:ea typeface="微软雅黑" panose="020B0503020204020204" pitchFamily="34" charset="-122"/>
              </a:rPr>
              <a:t>风洞与风洞实验</a:t>
            </a:r>
            <a:endParaRPr lang="zh-CN" altLang="en-US"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244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2453" y="850486"/>
            <a:ext cx="10515600" cy="1325563"/>
          </a:xfrm>
        </p:spPr>
        <p:txBody>
          <a:bodyPr>
            <a:normAutofit/>
          </a:bodyPr>
          <a:lstStyle/>
          <a:p>
            <a:r>
              <a:rPr lang="zh-CN" altLang="en-US" sz="2400" dirty="0" smtClean="0">
                <a:solidFill>
                  <a:srgbClr val="7030A0"/>
                </a:solidFill>
                <a:latin typeface="微软雅黑" panose="020B0503020204020204" pitchFamily="34" charset="-122"/>
                <a:ea typeface="微软雅黑" panose="020B0503020204020204" pitchFamily="34" charset="-122"/>
              </a:rPr>
              <a:t>   </a:t>
            </a:r>
            <a:r>
              <a:rPr lang="zh-CN" altLang="en-US" sz="2000" dirty="0" smtClean="0">
                <a:solidFill>
                  <a:srgbClr val="7030A0"/>
                </a:solidFill>
                <a:latin typeface="微软雅黑" panose="020B0503020204020204" pitchFamily="34" charset="-122"/>
                <a:ea typeface="微软雅黑" panose="020B0503020204020204" pitchFamily="34" charset="-122"/>
              </a:rPr>
              <a:t>流动显示原理</a:t>
            </a:r>
            <a:endParaRPr lang="zh-CN" altLang="en-US" sz="2000" dirty="0">
              <a:solidFill>
                <a:srgbClr val="7030A0"/>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883130" y="1773525"/>
            <a:ext cx="5161384" cy="280076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方法：激光照明烟线、雾滴，散射</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形成</a:t>
            </a:r>
            <a:r>
              <a:rPr kumimoji="0" lang="zh-CN" altLang="en-US"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光斑；激光诱导荧光染色剂，油膜，升华法等。</a:t>
            </a:r>
            <a:endParaRPr kumimoji="0" lang="en-US" altLang="zh-CN"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特点：</a:t>
            </a:r>
            <a:endParaRPr kumimoji="0" lang="en-US" altLang="zh-CN"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0" lang="zh-CN" altLang="en-US"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存在介入，需撒播示踪粒子。壁面附近示踪粒子进入存在难度</a:t>
            </a:r>
            <a:endParaRPr kumimoji="0" lang="en-US" altLang="zh-CN"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0" lang="zh-CN" altLang="en-US"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产生轨迹的是脉线，与流线有区别，近壁区域脉线不能真实反映流动分离、卷曲，以及涡量集中等物理问题，更不能反映物体受力</a:t>
            </a:r>
            <a:endParaRPr kumimoji="0" lang="en-US" altLang="zh-CN"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0" lang="zh-CN" altLang="en-US"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可定性地反映一些物理事实，如利用奈升华方法判断转捩边界；油膜的聚集反映摩擦力强弱等。</a:t>
            </a:r>
            <a:endParaRPr kumimoji="0" lang="en-US" altLang="zh-CN"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8" name="内容占位符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21980" y="3952824"/>
            <a:ext cx="3712643" cy="2998673"/>
          </a:xfrm>
        </p:spPr>
      </p:pic>
      <p:pic>
        <p:nvPicPr>
          <p:cNvPr id="9" name="Picture 2" descr="J:\横流转捩\升华法实验\5.jpg"/>
          <p:cNvPicPr>
            <a:picLocks noChangeAspect="1" noChangeArrowheads="1"/>
          </p:cNvPicPr>
          <p:nvPr/>
        </p:nvPicPr>
        <p:blipFill>
          <a:blip r:embed="rId3"/>
          <a:srcRect/>
          <a:stretch>
            <a:fillRect/>
          </a:stretch>
        </p:blipFill>
        <p:spPr bwMode="auto">
          <a:xfrm>
            <a:off x="7585788" y="1337122"/>
            <a:ext cx="3768012" cy="2512889"/>
          </a:xfrm>
          <a:prstGeom prst="rect">
            <a:avLst/>
          </a:prstGeom>
          <a:noFill/>
          <a:ln w="9525">
            <a:noFill/>
            <a:miter lim="800000"/>
            <a:headEnd/>
            <a:tailEnd/>
          </a:ln>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42988" y="6032174"/>
            <a:ext cx="3060442" cy="763376"/>
          </a:xfrm>
          <a:prstGeom prst="rect">
            <a:avLst/>
          </a:prstGeom>
        </p:spPr>
      </p:pic>
      <p:pic>
        <p:nvPicPr>
          <p:cNvPr id="11"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24781" y="4822008"/>
            <a:ext cx="2897199" cy="2044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34277" y="4822008"/>
            <a:ext cx="3287962" cy="186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图片 3" descr="IMG_20191205_150539"/>
          <p:cNvPicPr>
            <a:picLocks noChangeAspect="1" noChangeArrowheads="1"/>
          </p:cNvPicPr>
          <p:nvPr/>
        </p:nvPicPr>
        <p:blipFill>
          <a:blip r:embed="rId7" cstate="print">
            <a:extLst>
              <a:ext uri="{28A0092B-C50C-407E-A947-70E740481C1C}">
                <a14:useLocalDpi xmlns:a14="http://schemas.microsoft.com/office/drawing/2010/main" val="0"/>
              </a:ext>
            </a:extLst>
          </a:blip>
          <a:srcRect t="36462" b="33223"/>
          <a:stretch>
            <a:fillRect/>
          </a:stretch>
        </p:blipFill>
        <p:spPr bwMode="auto">
          <a:xfrm rot="10800000">
            <a:off x="6044514" y="1294199"/>
            <a:ext cx="3354927" cy="938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10" descr="IMG_20191205_152359"/>
          <p:cNvPicPr>
            <a:picLocks noChangeAspect="1" noChangeArrowheads="1"/>
          </p:cNvPicPr>
          <p:nvPr/>
        </p:nvPicPr>
        <p:blipFill>
          <a:blip r:embed="rId8" cstate="print">
            <a:extLst>
              <a:ext uri="{28A0092B-C50C-407E-A947-70E740481C1C}">
                <a14:useLocalDpi xmlns:a14="http://schemas.microsoft.com/office/drawing/2010/main" val="0"/>
              </a:ext>
            </a:extLst>
          </a:blip>
          <a:srcRect t="35812" r="38652" b="35323"/>
          <a:stretch>
            <a:fillRect/>
          </a:stretch>
        </p:blipFill>
        <p:spPr bwMode="auto">
          <a:xfrm rot="10800000">
            <a:off x="6044517" y="120257"/>
            <a:ext cx="3354925" cy="113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标题 1"/>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j-cs"/>
              </a:rPr>
              <a:t>3 </a:t>
            </a:r>
            <a:r>
              <a:rPr kumimoji="0" lang="zh-CN" altLang="en-US" sz="28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j-cs"/>
              </a:rPr>
              <a:t>风洞与风洞实验</a:t>
            </a:r>
            <a:endPar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278003026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330879" y="1518239"/>
            <a:ext cx="4065836" cy="37856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1 </a:t>
            </a:r>
            <a:r>
              <a:rPr kumimoji="0" lang="zh-CN" altLang="en-US"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注意事项：</a:t>
            </a:r>
            <a:endParaRPr kumimoji="0" lang="en-US" altLang="zh-CN"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0" lang="zh-CN" altLang="en-US"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不跨界且界内规律已知。</a:t>
            </a:r>
            <a:endParaRPr kumimoji="0" lang="en-US" altLang="zh-CN"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0" lang="zh-CN" altLang="en-US"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不同被考察的物理量可能有不同的界。</a:t>
            </a:r>
            <a:endParaRPr kumimoji="0" lang="en-US" altLang="zh-CN"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0" lang="zh-CN" altLang="en-US"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在考察的雷诺数范围内，做雷诺数无关性的界限分析、不确定度分析，根据合理不确定范围，设计实验，且应指出实验数据使用的雷诺数范围</a:t>
            </a:r>
            <a:endParaRPr kumimoji="0" lang="en-US" altLang="zh-CN"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endParaRPr kumimoji="0" lang="en-US" altLang="zh-CN"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3 </a:t>
            </a:r>
            <a:r>
              <a:rPr kumimoji="0" lang="zh-CN" altLang="en-US"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界的解释：</a:t>
            </a:r>
            <a:endParaRPr kumimoji="0" lang="en-US" altLang="zh-CN"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0" lang="zh-CN" altLang="en-US"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层流一个界限，层流内物理规律与转捩、完全湍流不同，反之亦然。</a:t>
            </a:r>
            <a:endParaRPr kumimoji="0" lang="en-US" altLang="zh-CN"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0" lang="zh-CN" altLang="en-US" sz="16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层流到湍流的界称为亚临界；完全湍流且物理规律已知并稳态，称超临界；完全湍流且超出了超临界物理规律表达范围，称超超临界。</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13" name="内容占位符 22"/>
          <p:cNvPicPr>
            <a:picLocks noGrp="1" noChangeAspect="1"/>
          </p:cNvPicPr>
          <p:nvPr>
            <p:ph idx="1"/>
          </p:nvPr>
        </p:nvPicPr>
        <p:blipFill>
          <a:blip r:embed="rId2"/>
          <a:stretch>
            <a:fillRect/>
          </a:stretch>
        </p:blipFill>
        <p:spPr>
          <a:xfrm>
            <a:off x="5428527" y="1332428"/>
            <a:ext cx="6439382" cy="3501287"/>
          </a:xfrm>
          <a:prstGeom prst="rect">
            <a:avLst/>
          </a:prstGeom>
        </p:spPr>
      </p:pic>
      <p:sp>
        <p:nvSpPr>
          <p:cNvPr id="14" name="文本框 13"/>
          <p:cNvSpPr txBox="1"/>
          <p:nvPr/>
        </p:nvSpPr>
        <p:spPr>
          <a:xfrm>
            <a:off x="5608878" y="4896356"/>
            <a:ext cx="6459467" cy="95410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1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对于光滑二维圆柱，</a:t>
            </a:r>
            <a:r>
              <a:rPr kumimoji="0" lang="en-US" altLang="zh-CN" sz="1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Re = 10</a:t>
            </a:r>
            <a:r>
              <a:rPr kumimoji="0" lang="en-US" altLang="zh-CN" sz="1400" b="0" i="0" u="none" strike="noStrike" kern="1200" cap="none" spc="0" normalizeH="0" baseline="3000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en-US" altLang="zh-CN" sz="1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 ~2</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1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10</a:t>
            </a:r>
            <a:r>
              <a:rPr kumimoji="0" lang="en-US" altLang="zh-CN" sz="1400" b="0" i="0" u="none" strike="noStrike" kern="1200" cap="none" spc="0" normalizeH="0" baseline="3000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范围，阻力系数上下波动可能超过</a:t>
            </a:r>
            <a:r>
              <a:rPr kumimoji="0" lang="en-US" altLang="zh-CN" sz="1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10%</a:t>
            </a:r>
            <a:r>
              <a:rPr kumimoji="0" lang="zh-CN" altLang="en-US" sz="1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，除此之外，表面粗糙度会增加数据分散度。</a:t>
            </a:r>
            <a:endParaRPr kumimoji="0" lang="en-US" altLang="zh-CN" sz="1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1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固定湍流度时，汽车风阻系数在巡航速度域至少相差</a:t>
            </a:r>
            <a:r>
              <a:rPr kumimoji="0" lang="en-US" altLang="zh-CN" sz="1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0.01</a:t>
            </a:r>
            <a:r>
              <a:rPr kumimoji="0" lang="zh-CN" altLang="en-US" sz="1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，湍流度的影响会加强差别，但目前缺少实验数据支持。</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 name="圆角矩形 2"/>
          <p:cNvSpPr/>
          <p:nvPr/>
        </p:nvSpPr>
        <p:spPr>
          <a:xfrm>
            <a:off x="9974674" y="3572525"/>
            <a:ext cx="1078326" cy="59167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 name="文本框 4"/>
          <p:cNvSpPr txBox="1"/>
          <p:nvPr/>
        </p:nvSpPr>
        <p:spPr>
          <a:xfrm>
            <a:off x="9000962" y="3509884"/>
            <a:ext cx="123713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汽车巡航</a:t>
            </a:r>
            <a:r>
              <a:rPr kumimoji="0" lang="en-US" altLang="zh-CN" sz="12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40~180km/h</a:t>
            </a:r>
            <a:endParaRPr kumimoji="0" lang="zh-CN"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6" name="文本框 5"/>
          <p:cNvSpPr txBox="1"/>
          <p:nvPr/>
        </p:nvSpPr>
        <p:spPr>
          <a:xfrm>
            <a:off x="1477598" y="6088143"/>
            <a:ext cx="987620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srgbClr val="00B0F0"/>
                </a:solidFill>
                <a:effectLst/>
                <a:uLnTx/>
                <a:uFillTx/>
                <a:latin typeface="华文仿宋" panose="02010600040101010101" pitchFamily="2" charset="-122"/>
                <a:ea typeface="华文仿宋" panose="02010600040101010101" pitchFamily="2" charset="-122"/>
                <a:cs typeface="+mn-cs"/>
              </a:rPr>
              <a:t>阻力系数小，不等于阻力小，阻力与速度平方成正比，要结合车速考虑阻力及阻力做功问题。</a:t>
            </a:r>
            <a:endParaRPr kumimoji="0" lang="zh-CN" altLang="en-US" sz="1800" b="0" i="0" u="none" strike="noStrike" kern="1200" cap="none" spc="0" normalizeH="0" baseline="0" noProof="0" dirty="0">
              <a:ln>
                <a:noFill/>
              </a:ln>
              <a:solidFill>
                <a:srgbClr val="00B0F0"/>
              </a:solidFill>
              <a:effectLst/>
              <a:uLnTx/>
              <a:uFillTx/>
              <a:latin typeface="华文仿宋" panose="02010600040101010101" pitchFamily="2" charset="-122"/>
              <a:ea typeface="华文仿宋" panose="02010600040101010101" pitchFamily="2" charset="-122"/>
              <a:cs typeface="+mn-cs"/>
            </a:endParaRPr>
          </a:p>
        </p:txBody>
      </p:sp>
      <p:sp>
        <p:nvSpPr>
          <p:cNvPr id="10" name="标题 1"/>
          <p:cNvSpPr>
            <a:spLocks noGrp="1"/>
          </p:cNvSpPr>
          <p:nvPr>
            <p:ph type="title"/>
          </p:nvPr>
        </p:nvSpPr>
        <p:spPr>
          <a:xfrm>
            <a:off x="838200" y="365125"/>
            <a:ext cx="10515600" cy="1325563"/>
          </a:xfrm>
        </p:spPr>
        <p:txBody>
          <a:bodyPr>
            <a:normAutofit/>
          </a:bodyPr>
          <a:lstStyle/>
          <a:p>
            <a:r>
              <a:rPr lang="en-US" altLang="zh-CN" sz="2800" dirty="0" smtClean="0">
                <a:latin typeface="微软雅黑" panose="020B0503020204020204" pitchFamily="34" charset="-122"/>
                <a:ea typeface="微软雅黑" panose="020B0503020204020204" pitchFamily="34" charset="-122"/>
              </a:rPr>
              <a:t>3 </a:t>
            </a:r>
            <a:r>
              <a:rPr lang="zh-CN" altLang="en-US" sz="2800" dirty="0" smtClean="0">
                <a:latin typeface="微软雅黑" panose="020B0503020204020204" pitchFamily="34" charset="-122"/>
                <a:ea typeface="微软雅黑" panose="020B0503020204020204" pitchFamily="34" charset="-122"/>
              </a:rPr>
              <a:t>风洞与风洞实验</a:t>
            </a:r>
            <a:endParaRPr lang="zh-CN" altLang="en-US"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1454419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smtClean="0">
                <a:latin typeface="微软雅黑" panose="020B0503020204020204" pitchFamily="34" charset="-122"/>
                <a:ea typeface="微软雅黑" panose="020B0503020204020204" pitchFamily="34" charset="-122"/>
              </a:rPr>
              <a:t>第</a:t>
            </a:r>
            <a:r>
              <a:rPr lang="en-US" altLang="zh-CN" sz="3200" dirty="0" smtClean="0">
                <a:latin typeface="微软雅黑" panose="020B0503020204020204" pitchFamily="34" charset="-122"/>
                <a:ea typeface="微软雅黑" panose="020B0503020204020204" pitchFamily="34" charset="-122"/>
              </a:rPr>
              <a:t>14</a:t>
            </a:r>
            <a:r>
              <a:rPr lang="zh-CN" altLang="en-US" sz="3200" dirty="0" smtClean="0">
                <a:latin typeface="微软雅黑" panose="020B0503020204020204" pitchFamily="34" charset="-122"/>
                <a:ea typeface="微软雅黑" panose="020B0503020204020204" pitchFamily="34" charset="-122"/>
              </a:rPr>
              <a:t>章小结</a:t>
            </a:r>
            <a:endParaRPr lang="zh-CN" altLang="en-US" sz="3200"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lstStyle/>
          <a:p>
            <a:r>
              <a:rPr lang="zh-CN" altLang="en-US" dirty="0" smtClean="0"/>
              <a:t>以“力”学思维看待流体力学实验</a:t>
            </a:r>
            <a:endParaRPr lang="en-US" altLang="zh-CN" dirty="0" smtClean="0"/>
          </a:p>
          <a:p>
            <a:r>
              <a:rPr lang="zh-CN" altLang="en-US" dirty="0" smtClean="0"/>
              <a:t>对理论与实际的区别保持清醒</a:t>
            </a:r>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71FD36-7B18-46DA-9EA5-6A2166C7C971}"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矩形 4"/>
          <p:cNvSpPr/>
          <p:nvPr/>
        </p:nvSpPr>
        <p:spPr>
          <a:xfrm>
            <a:off x="1004595" y="3597846"/>
            <a:ext cx="9343053" cy="1846659"/>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参考文献</a:t>
            </a:r>
            <a:endParaRPr kumimoji="0" lang="zh-CN" altLang="zh-CN" sz="18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600" b="0" i="0" u="none" strike="noStrike" kern="1200" cap="none" spc="0" normalizeH="0" baseline="0" noProof="0" dirty="0" smtClean="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庄</a:t>
            </a:r>
            <a:r>
              <a:rPr kumimoji="0" lang="zh-CN"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礼贤，尹协远，马晖扬 编著，流体力学，中国科学技术大学出版社，第</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zh-CN"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版，</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2009</a:t>
            </a:r>
            <a:r>
              <a:rPr kumimoji="0" lang="zh-CN"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年</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刘佩清 编著，空气动力学，科学出版社，</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2021</a:t>
            </a:r>
            <a:r>
              <a:rPr kumimoji="0" lang="zh-CN"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年</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申功炘，康琦 著，流动显示与测量技术及应用，科学出版社，</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2020</a:t>
            </a:r>
            <a:r>
              <a:rPr kumimoji="0" lang="zh-CN"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年</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Frank M. White, Fluid mechanics, international edition, Mc GRAW. HILL, 2003.</a:t>
            </a:r>
            <a:endParaRPr kumimoji="0" lang="zh-CN"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姜楠，田砚，唐湛棋 编著，工程中的流动测试技术及应用，天津大学出版社，</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2018.</a:t>
            </a:r>
            <a:endParaRPr kumimoji="0" lang="zh-CN"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zh-CN"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颜大椿 编著，实验流体力学，第二版，北京大学出版社，</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2019</a:t>
            </a:r>
            <a:r>
              <a:rPr kumimoji="0" lang="zh-CN"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年</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40536962"/>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1639</TotalTime>
  <Words>3339</Words>
  <Application>Microsoft Office PowerPoint</Application>
  <PresentationFormat>宽屏</PresentationFormat>
  <Paragraphs>378</Paragraphs>
  <Slides>29</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29</vt:i4>
      </vt:variant>
    </vt:vector>
  </HeadingPairs>
  <TitlesOfParts>
    <vt:vector size="45" baseType="lpstr">
      <vt:lpstr>等线</vt:lpstr>
      <vt:lpstr>等线 Light</vt:lpstr>
      <vt:lpstr>方正大黑简体</vt:lpstr>
      <vt:lpstr>仿宋</vt:lpstr>
      <vt:lpstr>黑体</vt:lpstr>
      <vt:lpstr>华文仿宋</vt:lpstr>
      <vt:lpstr>华文细黑</vt:lpstr>
      <vt:lpstr>宋体</vt:lpstr>
      <vt:lpstr>微软雅黑</vt:lpstr>
      <vt:lpstr>Arial</vt:lpstr>
      <vt:lpstr>Calibri</vt:lpstr>
      <vt:lpstr>Symbol</vt:lpstr>
      <vt:lpstr>Times New Roman</vt:lpstr>
      <vt:lpstr>Wingdings</vt:lpstr>
      <vt:lpstr>1_Office 主题​​</vt:lpstr>
      <vt:lpstr>Equation</vt:lpstr>
      <vt:lpstr>实验流体力学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Q4 如何利用物体附近的流场解释物体受力</vt:lpstr>
      <vt:lpstr>PowerPoint 演示文稿</vt:lpstr>
      <vt:lpstr>Q5 涡量的重要性</vt:lpstr>
      <vt:lpstr>Q6 : 重视边界层</vt:lpstr>
      <vt:lpstr>PowerPoint 演示文稿</vt:lpstr>
      <vt:lpstr>PowerPoint 演示文稿</vt:lpstr>
      <vt:lpstr>3 风洞与风洞实验</vt:lpstr>
      <vt:lpstr>清华大学的风洞</vt:lpstr>
      <vt:lpstr>PowerPoint 演示文稿</vt:lpstr>
      <vt:lpstr>PowerPoint 演示文稿</vt:lpstr>
      <vt:lpstr>3 风洞与风洞实验</vt:lpstr>
      <vt:lpstr>3 风洞与风洞实验</vt:lpstr>
      <vt:lpstr>3 风洞与风洞实验</vt:lpstr>
      <vt:lpstr>   流动显示原理</vt:lpstr>
      <vt:lpstr>3 风洞与风洞实验</vt:lpstr>
      <vt:lpstr>第14章小结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admin</cp:lastModifiedBy>
  <cp:revision>18</cp:revision>
  <dcterms:created xsi:type="dcterms:W3CDTF">2023-04-24T04:58:06Z</dcterms:created>
  <dcterms:modified xsi:type="dcterms:W3CDTF">2023-04-25T08:17:22Z</dcterms:modified>
</cp:coreProperties>
</file>