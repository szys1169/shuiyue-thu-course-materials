
<file path=[Content_Types].xml><?xml version="1.0" encoding="utf-8"?>
<Types xmlns="http://schemas.openxmlformats.org/package/2006/content-types">
  <Default Extension="xml" ContentType="application/xml"/>
  <Default Extension="bin" ContentType="application/vnd.openxmlformats-officedocument.oleObject"/>
  <Default Extension="jpeg" ContentType="image/jpeg"/>
  <Default Extension="jpg" ContentType="image/jpeg"/>
  <Default Extension="rels" ContentType="application/vnd.openxmlformats-package.relationships+xml"/>
  <Default Extension="vml" ContentType="application/vnd.openxmlformats-officedocument.vmlDrawing"/>
  <Default Extension="png" ContentType="image/png"/>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3"/>
  </p:notesMasterIdLst>
  <p:handoutMasterIdLst>
    <p:handoutMasterId r:id="rId64"/>
  </p:handoutMasterIdLst>
  <p:sldIdLst>
    <p:sldId id="362" r:id="rId2"/>
    <p:sldId id="363" r:id="rId3"/>
    <p:sldId id="364" r:id="rId4"/>
    <p:sldId id="369" r:id="rId5"/>
    <p:sldId id="366" r:id="rId6"/>
    <p:sldId id="370" r:id="rId7"/>
    <p:sldId id="367" r:id="rId8"/>
    <p:sldId id="361" r:id="rId9"/>
    <p:sldId id="306" r:id="rId10"/>
    <p:sldId id="311" r:id="rId11"/>
    <p:sldId id="317" r:id="rId12"/>
    <p:sldId id="314" r:id="rId13"/>
    <p:sldId id="280" r:id="rId14"/>
    <p:sldId id="330" r:id="rId15"/>
    <p:sldId id="282" r:id="rId16"/>
    <p:sldId id="318" r:id="rId17"/>
    <p:sldId id="319" r:id="rId18"/>
    <p:sldId id="320" r:id="rId19"/>
    <p:sldId id="302" r:id="rId20"/>
    <p:sldId id="323" r:id="rId21"/>
    <p:sldId id="329" r:id="rId22"/>
    <p:sldId id="286" r:id="rId23"/>
    <p:sldId id="324" r:id="rId24"/>
    <p:sldId id="310" r:id="rId25"/>
    <p:sldId id="287" r:id="rId26"/>
    <p:sldId id="288" r:id="rId27"/>
    <p:sldId id="289" r:id="rId28"/>
    <p:sldId id="326" r:id="rId29"/>
    <p:sldId id="290" r:id="rId30"/>
    <p:sldId id="325" r:id="rId31"/>
    <p:sldId id="293" r:id="rId32"/>
    <p:sldId id="291" r:id="rId33"/>
    <p:sldId id="327"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7" r:id="rId58"/>
    <p:sldId id="358" r:id="rId59"/>
    <p:sldId id="354" r:id="rId60"/>
    <p:sldId id="359" r:id="rId61"/>
    <p:sldId id="355" r:id="rId62"/>
  </p:sldIdLst>
  <p:sldSz cx="9144000" cy="6858000" type="screen4x3"/>
  <p:notesSz cx="7099300" cy="10234613"/>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5pPr>
    <a:lvl6pPr marL="2286000" algn="l" defTabSz="914400" rtl="0" eaLnBrk="1" latinLnBrk="0" hangingPunct="1">
      <a:defRPr sz="2400" kern="1200">
        <a:solidFill>
          <a:schemeClr val="tx1"/>
        </a:solidFill>
        <a:latin typeface="Arial" panose="020B0604020202020204" pitchFamily="34" charset="0"/>
        <a:ea typeface="楷体_GB2312" charset="-122"/>
        <a:cs typeface="+mn-cs"/>
      </a:defRPr>
    </a:lvl6pPr>
    <a:lvl7pPr marL="2743200" algn="l" defTabSz="914400" rtl="0" eaLnBrk="1" latinLnBrk="0" hangingPunct="1">
      <a:defRPr sz="2400" kern="1200">
        <a:solidFill>
          <a:schemeClr val="tx1"/>
        </a:solidFill>
        <a:latin typeface="Arial" panose="020B0604020202020204" pitchFamily="34" charset="0"/>
        <a:ea typeface="楷体_GB2312" charset="-122"/>
        <a:cs typeface="+mn-cs"/>
      </a:defRPr>
    </a:lvl7pPr>
    <a:lvl8pPr marL="3200400" algn="l" defTabSz="914400" rtl="0" eaLnBrk="1" latinLnBrk="0" hangingPunct="1">
      <a:defRPr sz="2400" kern="1200">
        <a:solidFill>
          <a:schemeClr val="tx1"/>
        </a:solidFill>
        <a:latin typeface="Arial" panose="020B0604020202020204" pitchFamily="34" charset="0"/>
        <a:ea typeface="楷体_GB2312" charset="-122"/>
        <a:cs typeface="+mn-cs"/>
      </a:defRPr>
    </a:lvl8pPr>
    <a:lvl9pPr marL="3657600" algn="l" defTabSz="914400" rtl="0" eaLnBrk="1" latinLnBrk="0" hangingPunct="1">
      <a:defRPr sz="2400" kern="1200">
        <a:solidFill>
          <a:schemeClr val="tx1"/>
        </a:solidFill>
        <a:latin typeface="Arial" panose="020B0604020202020204" pitchFamily="34" charset="0"/>
        <a:ea typeface="楷体_GB231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0BFD9"/>
    <a:srgbClr val="7BC3F7"/>
    <a:srgbClr val="F4BA4A"/>
    <a:srgbClr val="CD5134"/>
    <a:srgbClr val="0000FF"/>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76" autoAdjust="0"/>
    <p:restoredTop sz="96569" autoAdjust="0"/>
  </p:normalViewPr>
  <p:slideViewPr>
    <p:cSldViewPr snapToGrid="0" snapToObjects="1">
      <p:cViewPr varScale="1">
        <p:scale>
          <a:sx n="98" d="100"/>
          <a:sy n="98" d="100"/>
        </p:scale>
        <p:origin x="824" y="19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 Id="rId2"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 Id="rId2" Type="http://schemas.openxmlformats.org/officeDocument/2006/relationships/image" Target="../media/image16.wmf"/><Relationship Id="rId3"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 Id="rId2"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 Id="rId2"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wmf"/><Relationship Id="rId2" Type="http://schemas.openxmlformats.org/officeDocument/2006/relationships/image" Target="../media/image19.wmf"/><Relationship Id="rId3"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 Id="rId3"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4.wmf"/><Relationship Id="rId2" Type="http://schemas.openxmlformats.org/officeDocument/2006/relationships/image" Target="../media/image3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6.wmf"/><Relationship Id="rId2"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8.wmf"/><Relationship Id="rId2"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a:defRPr sz="1300">
                <a:latin typeface="Times"/>
                <a:ea typeface="+mn-ea"/>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a:defRPr sz="1300">
                <a:latin typeface="Times"/>
                <a:ea typeface="+mn-ea"/>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a:defRPr sz="1300">
                <a:latin typeface="Times"/>
                <a:ea typeface="+mn-ea"/>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a:latin typeface="Times" panose="02020603050405020304" pitchFamily="18" charset="0"/>
                <a:ea typeface="宋体" panose="02010600030101010101" pitchFamily="2" charset="-122"/>
                <a:cs typeface="楷体_GB2312"/>
              </a:defRPr>
            </a:lvl1pPr>
          </a:lstStyle>
          <a:p>
            <a:pPr>
              <a:defRPr/>
            </a:pPr>
            <a:fld id="{2A12FE35-CF20-4EDC-AE10-46BC6107B904}" type="slidenum">
              <a:rPr lang="zh-CN" altLang="en-US"/>
              <a:pPr>
                <a:defRPr/>
              </a:pPr>
              <a:t>‹#›</a:t>
            </a:fld>
            <a:endParaRPr lang="en-US" altLang="zh-CN"/>
          </a:p>
        </p:txBody>
      </p:sp>
    </p:spTree>
    <p:extLst>
      <p:ext uri="{BB962C8B-B14F-4D97-AF65-F5344CB8AC3E}">
        <p14:creationId xmlns:p14="http://schemas.microsoft.com/office/powerpoint/2010/main" val="1708627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a:defRPr sz="1300">
                <a:latin typeface="Times"/>
                <a:ea typeface="+mn-ea"/>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a:defRPr sz="1300">
                <a:latin typeface="Times"/>
                <a:ea typeface="+mn-ea"/>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a:defRPr sz="1300">
                <a:latin typeface="Times"/>
                <a:ea typeface="+mn-ea"/>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a:defRPr sz="1300">
                <a:latin typeface="Times" panose="02020603050405020304" pitchFamily="18" charset="0"/>
                <a:ea typeface="宋体" panose="02010600030101010101" pitchFamily="2" charset="-122"/>
                <a:cs typeface="楷体_GB2312"/>
              </a:defRPr>
            </a:lvl1pPr>
          </a:lstStyle>
          <a:p>
            <a:pPr>
              <a:defRPr/>
            </a:pPr>
            <a:fld id="{B61F0316-CA78-4F03-B091-C6CC3731E7BF}" type="slidenum">
              <a:rPr lang="zh-CN" altLang="en-US"/>
              <a:pPr>
                <a:defRPr/>
              </a:pPr>
              <a:t>‹#›</a:t>
            </a:fld>
            <a:endParaRPr lang="en-US" altLang="zh-CN"/>
          </a:p>
        </p:txBody>
      </p:sp>
    </p:spTree>
    <p:extLst>
      <p:ext uri="{BB962C8B-B14F-4D97-AF65-F5344CB8AC3E}">
        <p14:creationId xmlns:p14="http://schemas.microsoft.com/office/powerpoint/2010/main" val="2208344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pitchFamily="49" charset="-122"/>
              </a:defRPr>
            </a:lvl1pPr>
            <a:lvl2pPr marL="742950" indent="-285750" defTabSz="990600">
              <a:defRPr sz="2400">
                <a:solidFill>
                  <a:schemeClr val="tx1"/>
                </a:solidFill>
                <a:latin typeface="Arial" panose="020B0604020202020204" pitchFamily="34" charset="0"/>
                <a:ea typeface="楷体_GB2312" pitchFamily="49" charset="-122"/>
              </a:defRPr>
            </a:lvl2pPr>
            <a:lvl3pPr marL="1143000" indent="-228600" defTabSz="990600">
              <a:defRPr sz="2400">
                <a:solidFill>
                  <a:schemeClr val="tx1"/>
                </a:solidFill>
                <a:latin typeface="Arial" panose="020B0604020202020204" pitchFamily="34" charset="0"/>
                <a:ea typeface="楷体_GB2312" pitchFamily="49" charset="-122"/>
              </a:defRPr>
            </a:lvl3pPr>
            <a:lvl4pPr marL="1600200" indent="-228600" defTabSz="990600">
              <a:defRPr sz="2400">
                <a:solidFill>
                  <a:schemeClr val="tx1"/>
                </a:solidFill>
                <a:latin typeface="Arial" panose="020B0604020202020204" pitchFamily="34" charset="0"/>
                <a:ea typeface="楷体_GB2312" pitchFamily="49" charset="-122"/>
              </a:defRPr>
            </a:lvl4pPr>
            <a:lvl5pPr marL="2057400" indent="-228600" defTabSz="990600">
              <a:defRPr sz="2400">
                <a:solidFill>
                  <a:schemeClr val="tx1"/>
                </a:solidFill>
                <a:latin typeface="Arial" panose="020B0604020202020204" pitchFamily="34" charset="0"/>
                <a:ea typeface="楷体_GB2312" pitchFamily="49"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t>2</a:t>
            </a:fld>
            <a:endParaRPr lang="en-US" altLang="zh-CN" sz="1300">
              <a:solidFill>
                <a:srgbClr val="000000"/>
              </a:solidFill>
              <a:latin typeface="Times" panose="02020603050405020304" pitchFamily="18" charset="0"/>
              <a:ea typeface="宋体" panose="02010600030101010101" pitchFamily="2" charset="-122"/>
            </a:endParaRPr>
          </a:p>
        </p:txBody>
      </p:sp>
    </p:spTree>
    <p:extLst>
      <p:ext uri="{BB962C8B-B14F-4D97-AF65-F5344CB8AC3E}">
        <p14:creationId xmlns:p14="http://schemas.microsoft.com/office/powerpoint/2010/main" val="2662196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pitchFamily="49" charset="-122"/>
              </a:defRPr>
            </a:lvl1pPr>
            <a:lvl2pPr marL="742950" indent="-285750" defTabSz="990600">
              <a:defRPr sz="2400">
                <a:solidFill>
                  <a:schemeClr val="tx1"/>
                </a:solidFill>
                <a:latin typeface="Arial" panose="020B0604020202020204" pitchFamily="34" charset="0"/>
                <a:ea typeface="楷体_GB2312" pitchFamily="49" charset="-122"/>
              </a:defRPr>
            </a:lvl2pPr>
            <a:lvl3pPr marL="1143000" indent="-228600" defTabSz="990600">
              <a:defRPr sz="2400">
                <a:solidFill>
                  <a:schemeClr val="tx1"/>
                </a:solidFill>
                <a:latin typeface="Arial" panose="020B0604020202020204" pitchFamily="34" charset="0"/>
                <a:ea typeface="楷体_GB2312" pitchFamily="49" charset="-122"/>
              </a:defRPr>
            </a:lvl3pPr>
            <a:lvl4pPr marL="1600200" indent="-228600" defTabSz="990600">
              <a:defRPr sz="2400">
                <a:solidFill>
                  <a:schemeClr val="tx1"/>
                </a:solidFill>
                <a:latin typeface="Arial" panose="020B0604020202020204" pitchFamily="34" charset="0"/>
                <a:ea typeface="楷体_GB2312" pitchFamily="49" charset="-122"/>
              </a:defRPr>
            </a:lvl4pPr>
            <a:lvl5pPr marL="2057400" indent="-228600" defTabSz="990600">
              <a:defRPr sz="2400">
                <a:solidFill>
                  <a:schemeClr val="tx1"/>
                </a:solidFill>
                <a:latin typeface="Arial" panose="020B0604020202020204" pitchFamily="34" charset="0"/>
                <a:ea typeface="楷体_GB2312" pitchFamily="49"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t>3</a:t>
            </a:fld>
            <a:endParaRPr lang="en-US" altLang="zh-CN" sz="1300">
              <a:solidFill>
                <a:srgbClr val="000000"/>
              </a:solidFill>
              <a:latin typeface="Times"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2840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pitchFamily="49" charset="-122"/>
              </a:defRPr>
            </a:lvl1pPr>
            <a:lvl2pPr marL="742950" indent="-285750" defTabSz="990600">
              <a:defRPr sz="2400">
                <a:solidFill>
                  <a:schemeClr val="tx1"/>
                </a:solidFill>
                <a:latin typeface="Arial" panose="020B0604020202020204" pitchFamily="34" charset="0"/>
                <a:ea typeface="楷体_GB2312" pitchFamily="49" charset="-122"/>
              </a:defRPr>
            </a:lvl2pPr>
            <a:lvl3pPr marL="1143000" indent="-228600" defTabSz="990600">
              <a:defRPr sz="2400">
                <a:solidFill>
                  <a:schemeClr val="tx1"/>
                </a:solidFill>
                <a:latin typeface="Arial" panose="020B0604020202020204" pitchFamily="34" charset="0"/>
                <a:ea typeface="楷体_GB2312" pitchFamily="49" charset="-122"/>
              </a:defRPr>
            </a:lvl3pPr>
            <a:lvl4pPr marL="1600200" indent="-228600" defTabSz="990600">
              <a:defRPr sz="2400">
                <a:solidFill>
                  <a:schemeClr val="tx1"/>
                </a:solidFill>
                <a:latin typeface="Arial" panose="020B0604020202020204" pitchFamily="34" charset="0"/>
                <a:ea typeface="楷体_GB2312" pitchFamily="49" charset="-122"/>
              </a:defRPr>
            </a:lvl4pPr>
            <a:lvl5pPr marL="2057400" indent="-228600" defTabSz="990600">
              <a:defRPr sz="2400">
                <a:solidFill>
                  <a:schemeClr val="tx1"/>
                </a:solidFill>
                <a:latin typeface="Arial" panose="020B0604020202020204" pitchFamily="34" charset="0"/>
                <a:ea typeface="楷体_GB2312" pitchFamily="49"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t>4</a:t>
            </a:fld>
            <a:endParaRPr lang="en-US" altLang="zh-CN" sz="1300">
              <a:solidFill>
                <a:srgbClr val="000000"/>
              </a:solidFill>
              <a:latin typeface="Times" panose="02020603050405020304" pitchFamily="18" charset="0"/>
              <a:ea typeface="宋体" panose="02010600030101010101" pitchFamily="2" charset="-122"/>
            </a:endParaRPr>
          </a:p>
        </p:txBody>
      </p:sp>
    </p:spTree>
    <p:extLst>
      <p:ext uri="{BB962C8B-B14F-4D97-AF65-F5344CB8AC3E}">
        <p14:creationId xmlns:p14="http://schemas.microsoft.com/office/powerpoint/2010/main" val="304652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F09DA204-3E92-49B4-9F29-81827A50512E}" type="slidenum">
              <a:rPr lang="zh-CN" altLang="en-US" sz="1300" smtClean="0">
                <a:latin typeface="Times" panose="02020603050405020304" pitchFamily="18" charset="0"/>
                <a:ea typeface="宋体" panose="02010600030101010101" pitchFamily="2" charset="-122"/>
              </a:rPr>
              <a:pPr/>
              <a:t>10</a:t>
            </a:fld>
            <a:endParaRPr lang="en-US" altLang="zh-CN" sz="1300" smtClean="0">
              <a:latin typeface="Times" panose="02020603050405020304" pitchFamily="18" charset="0"/>
              <a:ea typeface="宋体" panose="02010600030101010101" pitchFamily="2" charset="-122"/>
            </a:endParaRPr>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456716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EDA92EA-B5DB-40A5-B0F5-C460603004E0}" type="slidenum">
              <a:rPr lang="zh-CN" altLang="en-US" sz="1300" smtClean="0">
                <a:latin typeface="Times" panose="02020603050405020304" pitchFamily="18" charset="0"/>
                <a:ea typeface="宋体" panose="02010600030101010101" pitchFamily="2" charset="-122"/>
              </a:rPr>
              <a:pPr/>
              <a:t>13</a:t>
            </a:fld>
            <a:endParaRPr lang="en-US" altLang="zh-CN" sz="1300" smtClean="0">
              <a:latin typeface="Times" panose="02020603050405020304" pitchFamily="18" charset="0"/>
              <a:ea typeface="宋体" panose="02010600030101010101" pitchFamily="2" charset="-122"/>
            </a:endParaRPr>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1181287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69FBB00-91F5-4873-808C-221F298A31E5}" type="slidenum">
              <a:rPr lang="zh-CN" altLang="en-US" sz="1300" smtClean="0">
                <a:latin typeface="Times" panose="02020603050405020304" pitchFamily="18" charset="0"/>
                <a:ea typeface="宋体" panose="02010600030101010101" pitchFamily="2" charset="-122"/>
              </a:rPr>
              <a:pPr/>
              <a:t>15</a:t>
            </a:fld>
            <a:endParaRPr lang="en-US" altLang="zh-CN" sz="1300" smtClean="0">
              <a:latin typeface="Times" panose="02020603050405020304" pitchFamily="18" charset="0"/>
              <a:ea typeface="宋体" panose="02010600030101010101" pitchFamily="2" charset="-122"/>
            </a:endParaRPr>
          </a:p>
        </p:txBody>
      </p:sp>
      <p:sp>
        <p:nvSpPr>
          <p:cNvPr id="16387" name="Rectangle 2"/>
          <p:cNvSpPr>
            <a:spLocks noGrp="1" noRot="1" noChangeAspect="1" noChangeArrowheads="1" noTextEdit="1"/>
          </p:cNvSpPr>
          <p:nvPr>
            <p:ph type="sldImg"/>
          </p:nvPr>
        </p:nvSpPr>
        <p:spPr>
          <a:xfrm>
            <a:off x="992188" y="768350"/>
            <a:ext cx="5114925" cy="3836988"/>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2355612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4C4977C3-6D25-415C-91E6-E25DFB932374}" type="slidenum">
              <a:rPr lang="zh-CN" altLang="en-US" sz="1300" smtClean="0">
                <a:latin typeface="Times" panose="02020603050405020304" pitchFamily="18" charset="0"/>
                <a:ea typeface="宋体" panose="02010600030101010101" pitchFamily="2" charset="-122"/>
              </a:rPr>
              <a:pPr/>
              <a:t>19</a:t>
            </a:fld>
            <a:endParaRPr lang="en-US" altLang="zh-CN" sz="1300" smtClean="0">
              <a:latin typeface="Times" panose="02020603050405020304" pitchFamily="18" charset="0"/>
              <a:ea typeface="宋体" panose="02010600030101010101" pitchFamily="2" charset="-122"/>
            </a:endParaRPr>
          </a:p>
        </p:txBody>
      </p:sp>
      <p:sp>
        <p:nvSpPr>
          <p:cNvPr id="21507" name="Rectangle 2"/>
          <p:cNvSpPr>
            <a:spLocks noGrp="1" noRot="1" noChangeAspect="1" noChangeArrowheads="1" noTextEdit="1"/>
          </p:cNvSpPr>
          <p:nvPr>
            <p:ph type="sldImg"/>
          </p:nvPr>
        </p:nvSpPr>
        <p:spPr>
          <a:xfrm>
            <a:off x="992188" y="768350"/>
            <a:ext cx="5114925" cy="38369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86983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11AAFEE8-D4D3-498A-8F81-CC4FB7458156}" type="slidenum">
              <a:rPr lang="zh-CN" altLang="en-US" sz="1300" smtClean="0">
                <a:latin typeface="Times" panose="02020603050405020304" pitchFamily="18" charset="0"/>
                <a:ea typeface="宋体" panose="02010600030101010101" pitchFamily="2" charset="-122"/>
              </a:rPr>
              <a:pPr/>
              <a:t>22</a:t>
            </a:fld>
            <a:endParaRPr lang="en-US" altLang="zh-CN" sz="1300" smtClean="0">
              <a:latin typeface="Times" panose="02020603050405020304" pitchFamily="18" charset="0"/>
              <a:ea typeface="宋体" panose="02010600030101010101" pitchFamily="2" charset="-122"/>
            </a:endParaRPr>
          </a:p>
        </p:txBody>
      </p:sp>
      <p:sp>
        <p:nvSpPr>
          <p:cNvPr id="25603" name="Rectangle 2"/>
          <p:cNvSpPr>
            <a:spLocks noGrp="1" noRot="1" noChangeAspect="1" noChangeArrowheads="1" noTextEdit="1"/>
          </p:cNvSpPr>
          <p:nvPr>
            <p:ph type="sldImg"/>
          </p:nvPr>
        </p:nvSpPr>
        <p:spPr>
          <a:xfrm>
            <a:off x="992188" y="768350"/>
            <a:ext cx="5114925" cy="38369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2564240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BEA70FCC-9E88-4E96-A401-2CD002CE97E8}" type="slidenum">
              <a:rPr lang="zh-CN" altLang="en-US" sz="1300" smtClean="0">
                <a:latin typeface="Times" panose="02020603050405020304" pitchFamily="18" charset="0"/>
                <a:ea typeface="宋体" panose="02010600030101010101" pitchFamily="2" charset="-122"/>
              </a:rPr>
              <a:pPr/>
              <a:t>25</a:t>
            </a:fld>
            <a:endParaRPr lang="en-US" altLang="zh-CN" sz="1300" smtClean="0">
              <a:latin typeface="Times" panose="02020603050405020304" pitchFamily="18" charset="0"/>
              <a:ea typeface="宋体" panose="02010600030101010101" pitchFamily="2" charset="-122"/>
            </a:endParaRPr>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3311783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46E9063-B968-426B-87CF-A15A70D08E02}" type="slidenum">
              <a:rPr lang="zh-CN" altLang="en-US" sz="1300" smtClean="0">
                <a:latin typeface="Times" panose="02020603050405020304" pitchFamily="18" charset="0"/>
                <a:ea typeface="宋体" panose="02010600030101010101" pitchFamily="2" charset="-122"/>
              </a:rPr>
              <a:pPr/>
              <a:t>26</a:t>
            </a:fld>
            <a:endParaRPr lang="en-US" altLang="zh-CN" sz="1300" smtClean="0">
              <a:latin typeface="Times" panose="02020603050405020304" pitchFamily="18" charset="0"/>
              <a:ea typeface="宋体" panose="02010600030101010101" pitchFamily="2" charset="-122"/>
            </a:endParaRPr>
          </a:p>
        </p:txBody>
      </p:sp>
      <p:sp>
        <p:nvSpPr>
          <p:cNvPr id="31747" name="Rectangle 2"/>
          <p:cNvSpPr>
            <a:spLocks noGrp="1" noRot="1" noChangeAspect="1" noChangeArrowheads="1" noTextEdit="1"/>
          </p:cNvSpPr>
          <p:nvPr>
            <p:ph type="sldImg"/>
          </p:nvPr>
        </p:nvSpPr>
        <p:spPr>
          <a:xfrm>
            <a:off x="992188" y="768350"/>
            <a:ext cx="5114925" cy="383698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3514256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9B3892B-B7C5-42D5-AF36-FB30C5F6DDCC}" type="slidenum">
              <a:rPr lang="zh-CN" altLang="en-US" sz="1300" smtClean="0">
                <a:latin typeface="Times" panose="02020603050405020304" pitchFamily="18" charset="0"/>
                <a:ea typeface="宋体" panose="02010600030101010101" pitchFamily="2" charset="-122"/>
              </a:rPr>
              <a:pPr/>
              <a:t>27</a:t>
            </a:fld>
            <a:endParaRPr lang="en-US" altLang="zh-CN" sz="1300" smtClean="0">
              <a:latin typeface="Times" panose="02020603050405020304" pitchFamily="18" charset="0"/>
              <a:ea typeface="宋体" panose="02010600030101010101" pitchFamily="2" charset="-122"/>
            </a:endParaRPr>
          </a:p>
        </p:txBody>
      </p:sp>
      <p:sp>
        <p:nvSpPr>
          <p:cNvPr id="33795" name="Rectangle 2"/>
          <p:cNvSpPr>
            <a:spLocks noGrp="1" noRot="1" noChangeAspect="1" noChangeArrowheads="1" noTextEdit="1"/>
          </p:cNvSpPr>
          <p:nvPr>
            <p:ph type="sldImg"/>
          </p:nvPr>
        </p:nvSpPr>
        <p:spPr>
          <a:xfrm>
            <a:off x="992188" y="768350"/>
            <a:ext cx="5114925" cy="3836988"/>
          </a:xfrm>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2431310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98B777C-4BB3-45D9-893C-704B9B7CBAC4}" type="slidenum">
              <a:rPr lang="zh-CN" altLang="en-US" sz="1300" smtClean="0">
                <a:latin typeface="Times" panose="02020603050405020304" pitchFamily="18" charset="0"/>
                <a:ea typeface="宋体" panose="02010600030101010101" pitchFamily="2" charset="-122"/>
              </a:rPr>
              <a:pPr/>
              <a:t>29</a:t>
            </a:fld>
            <a:endParaRPr lang="en-US" altLang="zh-CN" sz="1300" smtClean="0">
              <a:latin typeface="Times" panose="02020603050405020304" pitchFamily="18" charset="0"/>
              <a:ea typeface="宋体" panose="02010600030101010101" pitchFamily="2" charset="-122"/>
            </a:endParaRPr>
          </a:p>
        </p:txBody>
      </p:sp>
      <p:sp>
        <p:nvSpPr>
          <p:cNvPr id="36867" name="Rectangle 2"/>
          <p:cNvSpPr>
            <a:spLocks noGrp="1" noRot="1" noChangeAspect="1" noChangeArrowheads="1" noTextEdit="1"/>
          </p:cNvSpPr>
          <p:nvPr>
            <p:ph type="sldImg"/>
          </p:nvPr>
        </p:nvSpPr>
        <p:spPr>
          <a:xfrm>
            <a:off x="992188" y="768350"/>
            <a:ext cx="5114925" cy="3836988"/>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1851025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B47913DD-38FD-4C45-A5F2-0A8C19A28EB0}" type="slidenum">
              <a:rPr lang="zh-CN" altLang="en-US" sz="1300" smtClean="0">
                <a:latin typeface="Times" panose="02020603050405020304" pitchFamily="18" charset="0"/>
                <a:ea typeface="宋体" panose="02010600030101010101" pitchFamily="2" charset="-122"/>
              </a:rPr>
              <a:pPr/>
              <a:t>31</a:t>
            </a:fld>
            <a:endParaRPr lang="en-US" altLang="zh-CN" sz="1300" smtClean="0">
              <a:latin typeface="Times" panose="02020603050405020304" pitchFamily="18" charset="0"/>
              <a:ea typeface="宋体" panose="02010600030101010101" pitchFamily="2" charset="-122"/>
            </a:endParaRPr>
          </a:p>
        </p:txBody>
      </p:sp>
      <p:sp>
        <p:nvSpPr>
          <p:cNvPr id="39939" name="Rectangle 2"/>
          <p:cNvSpPr>
            <a:spLocks noGrp="1" noRot="1" noChangeAspect="1" noChangeArrowheads="1" noTextEdit="1"/>
          </p:cNvSpPr>
          <p:nvPr>
            <p:ph type="sldImg"/>
          </p:nvPr>
        </p:nvSpPr>
        <p:spPr>
          <a:xfrm>
            <a:off x="992188" y="768350"/>
            <a:ext cx="5114925" cy="3836988"/>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1772641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8AEEB295-E6EC-4D88-96F3-C19F662A47C8}" type="slidenum">
              <a:rPr lang="zh-CN" altLang="en-US" sz="1300" smtClean="0">
                <a:latin typeface="Times" panose="02020603050405020304" pitchFamily="18" charset="0"/>
                <a:ea typeface="宋体" panose="02010600030101010101" pitchFamily="2" charset="-122"/>
              </a:rPr>
              <a:pPr/>
              <a:t>32</a:t>
            </a:fld>
            <a:endParaRPr lang="en-US" altLang="zh-CN" sz="1300" smtClean="0">
              <a:latin typeface="Times" panose="02020603050405020304" pitchFamily="18" charset="0"/>
              <a:ea typeface="宋体" panose="02010600030101010101" pitchFamily="2" charset="-122"/>
            </a:endParaRPr>
          </a:p>
        </p:txBody>
      </p:sp>
      <p:sp>
        <p:nvSpPr>
          <p:cNvPr id="41987" name="Rectangle 2"/>
          <p:cNvSpPr>
            <a:spLocks noGrp="1" noRot="1" noChangeAspect="1" noChangeArrowheads="1" noTextEdit="1"/>
          </p:cNvSpPr>
          <p:nvPr>
            <p:ph type="sldImg"/>
          </p:nvPr>
        </p:nvSpPr>
        <p:spPr>
          <a:xfrm>
            <a:off x="992188" y="768350"/>
            <a:ext cx="5114925" cy="38369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extLst>
      <p:ext uri="{BB962C8B-B14F-4D97-AF65-F5344CB8AC3E}">
        <p14:creationId xmlns:p14="http://schemas.microsoft.com/office/powerpoint/2010/main" val="2365333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latin typeface="Times" panose="02020603050405020304" pitchFamily="18" charset="0"/>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latin typeface="Times" panose="02020603050405020304" pitchFamily="18" charset="0"/>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latin typeface="Times" panose="02020603050405020304" pitchFamily="18" charset="0"/>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extLst>
      <p:ext uri="{BB962C8B-B14F-4D97-AF65-F5344CB8AC3E}">
        <p14:creationId xmlns:p14="http://schemas.microsoft.com/office/powerpoint/2010/main" val="419127983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22012501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1015991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50486451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5032914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3742130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93739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8795887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4488140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776065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2224877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346200"/>
            <a:ext cx="4495800" cy="2527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25900"/>
            <a:ext cx="4495800" cy="2527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4052000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a:lstStyle/>
          <a:p>
            <a:pPr lvl="0"/>
            <a:endParaRPr lang="zh-CN" altLang="en-US" noProof="0" smtClean="0"/>
          </a:p>
        </p:txBody>
      </p:sp>
    </p:spTree>
    <p:extLst>
      <p:ext uri="{BB962C8B-B14F-4D97-AF65-F5344CB8AC3E}">
        <p14:creationId xmlns:p14="http://schemas.microsoft.com/office/powerpoint/2010/main" val="12060933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758183094"/>
      </p:ext>
    </p:extLst>
  </p:cSld>
  <p:clrMapOvr>
    <a:masterClrMapping/>
  </p:clrMapOv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1346200"/>
            <a:ext cx="9144000" cy="5207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latin typeface="Times" panose="02020603050405020304" pitchFamily="18" charset="0"/>
              <a:ea typeface="宋体" panose="02010600030101010101" pitchFamily="2" charset="-122"/>
            </a:endParaRPr>
          </a:p>
        </p:txBody>
      </p:sp>
      <p:sp>
        <p:nvSpPr>
          <p:cNvPr id="1028" name="Rectangle 11"/>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latin typeface="Times" panose="02020603050405020304" pitchFamily="18" charset="0"/>
              <a:ea typeface="宋体" panose="02010600030101010101" pitchFamily="2" charset="-122"/>
            </a:endParaRPr>
          </a:p>
        </p:txBody>
      </p:sp>
      <p:sp>
        <p:nvSpPr>
          <p:cNvPr id="1029" name="Rectangle 14"/>
          <p:cNvSpPr>
            <a:spLocks noChangeArrowheads="1"/>
          </p:cNvSpPr>
          <p:nvPr userDrawn="1"/>
        </p:nvSpPr>
        <p:spPr bwMode="auto">
          <a:xfrm>
            <a:off x="-12700" y="1193800"/>
            <a:ext cx="9144000" cy="152400"/>
          </a:xfrm>
          <a:prstGeom prst="rect">
            <a:avLst/>
          </a:prstGeom>
          <a:solidFill>
            <a:srgbClr val="800000"/>
          </a:solidFill>
          <a:ln w="9525">
            <a:solidFill>
              <a:srgbClr val="800000"/>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p>
        </p:txBody>
      </p:sp>
      <p:sp>
        <p:nvSpPr>
          <p:cNvPr id="1030" name="Rectangle 16"/>
          <p:cNvSpPr>
            <a:spLocks noChangeArrowheads="1"/>
          </p:cNvSpPr>
          <p:nvPr userDrawn="1"/>
        </p:nvSpPr>
        <p:spPr bwMode="auto">
          <a:xfrm>
            <a:off x="-15875" y="12700"/>
            <a:ext cx="9144000" cy="119380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smtClean="0"/>
          </a:p>
        </p:txBody>
      </p:sp>
      <p:sp>
        <p:nvSpPr>
          <p:cNvPr id="1031" name="Rectangle 2"/>
          <p:cNvSpPr>
            <a:spLocks noGrp="1" noChangeArrowheads="1"/>
          </p:cNvSpPr>
          <p:nvPr>
            <p:ph type="title"/>
          </p:nvPr>
        </p:nvSpPr>
        <p:spPr bwMode="auto">
          <a:xfrm>
            <a:off x="282575" y="12700"/>
            <a:ext cx="8178800" cy="11811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Tree>
  </p:cSld>
  <p:clrMap bg1="dk2" tx1="lt1" bg2="dk1" tx2="lt2" accent1="accent1" accent2="accent2" accent3="accent3" accent4="accent4" accent5="accent5" accent6="accent6" hlink="hlink" folHlink="folHlink"/>
  <p:sldLayoutIdLst>
    <p:sldLayoutId id="2147483797"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Lst>
  <p:transition/>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itchFamily="34" charset="0"/>
          <a:ea typeface="楷体_GB2312"/>
          <a:cs typeface="楷体_GB2312"/>
        </a:defRPr>
      </a:lvl2pPr>
      <a:lvl3pPr algn="l" rtl="0" eaLnBrk="0" fontAlgn="base" hangingPunct="0">
        <a:spcBef>
          <a:spcPct val="0"/>
        </a:spcBef>
        <a:spcAft>
          <a:spcPct val="0"/>
        </a:spcAft>
        <a:defRPr sz="4400" b="1">
          <a:solidFill>
            <a:srgbClr val="990000"/>
          </a:solidFill>
          <a:latin typeface="Arial" pitchFamily="34" charset="0"/>
          <a:ea typeface="楷体_GB2312"/>
          <a:cs typeface="楷体_GB2312"/>
        </a:defRPr>
      </a:lvl3pPr>
      <a:lvl4pPr algn="l" rtl="0" eaLnBrk="0" fontAlgn="base" hangingPunct="0">
        <a:spcBef>
          <a:spcPct val="0"/>
        </a:spcBef>
        <a:spcAft>
          <a:spcPct val="0"/>
        </a:spcAft>
        <a:defRPr sz="4400" b="1">
          <a:solidFill>
            <a:srgbClr val="990000"/>
          </a:solidFill>
          <a:latin typeface="Arial" pitchFamily="34" charset="0"/>
          <a:ea typeface="楷体_GB2312"/>
          <a:cs typeface="楷体_GB2312"/>
        </a:defRPr>
      </a:lvl4pPr>
      <a:lvl5pPr algn="l" rtl="0" eaLnBrk="0" fontAlgn="base" hangingPunct="0">
        <a:spcBef>
          <a:spcPct val="0"/>
        </a:spcBef>
        <a:spcAft>
          <a:spcPct val="0"/>
        </a:spcAft>
        <a:defRPr sz="4400" b="1">
          <a:solidFill>
            <a:srgbClr val="990000"/>
          </a:solidFill>
          <a:latin typeface="Arial" pitchFamily="34" charset="0"/>
          <a:ea typeface="楷体_GB2312"/>
          <a:cs typeface="楷体_GB2312"/>
        </a:defRPr>
      </a:lvl5pPr>
      <a:lvl6pPr marL="457200" algn="l" rtl="0" fontAlgn="base">
        <a:spcBef>
          <a:spcPct val="0"/>
        </a:spcBef>
        <a:spcAft>
          <a:spcPct val="0"/>
        </a:spcAft>
        <a:defRPr sz="4400" b="1">
          <a:solidFill>
            <a:srgbClr val="990000"/>
          </a:solidFill>
          <a:latin typeface="Arial" pitchFamily="34" charset="0"/>
          <a:ea typeface="楷体_GB2312"/>
          <a:cs typeface="楷体_GB2312"/>
        </a:defRPr>
      </a:lvl6pPr>
      <a:lvl7pPr marL="914400" algn="l" rtl="0" fontAlgn="base">
        <a:spcBef>
          <a:spcPct val="0"/>
        </a:spcBef>
        <a:spcAft>
          <a:spcPct val="0"/>
        </a:spcAft>
        <a:defRPr sz="4400" b="1">
          <a:solidFill>
            <a:srgbClr val="990000"/>
          </a:solidFill>
          <a:latin typeface="Arial" pitchFamily="34" charset="0"/>
          <a:ea typeface="楷体_GB2312"/>
          <a:cs typeface="楷体_GB2312"/>
        </a:defRPr>
      </a:lvl7pPr>
      <a:lvl8pPr marL="1371600" algn="l" rtl="0" fontAlgn="base">
        <a:spcBef>
          <a:spcPct val="0"/>
        </a:spcBef>
        <a:spcAft>
          <a:spcPct val="0"/>
        </a:spcAft>
        <a:defRPr sz="4400" b="1">
          <a:solidFill>
            <a:srgbClr val="990000"/>
          </a:solidFill>
          <a:latin typeface="Arial" pitchFamily="34" charset="0"/>
          <a:ea typeface="楷体_GB2312"/>
          <a:cs typeface="楷体_GB2312"/>
        </a:defRPr>
      </a:lvl8pPr>
      <a:lvl9pPr marL="1828800" algn="l" rtl="0" fontAlgn="base">
        <a:spcBef>
          <a:spcPct val="0"/>
        </a:spcBef>
        <a:spcAft>
          <a:spcPct val="0"/>
        </a:spcAft>
        <a:defRPr sz="4400" b="1">
          <a:solidFill>
            <a:srgbClr val="990000"/>
          </a:solidFill>
          <a:latin typeface="Arial"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cs typeface="+mn-cs"/>
        </a:defRPr>
      </a:lvl2pPr>
      <a:lvl3pPr marL="1143000" indent="-228600" algn="l" rtl="0" eaLnBrk="0" fontAlgn="base" hangingPunct="0">
        <a:spcBef>
          <a:spcPct val="20000"/>
        </a:spcBef>
        <a:spcAft>
          <a:spcPct val="0"/>
        </a:spcAft>
        <a:buChar char="•"/>
        <a:defRPr sz="2400">
          <a:solidFill>
            <a:srgbClr val="000000"/>
          </a:solidFill>
          <a:latin typeface="+mn-lt"/>
          <a:ea typeface="+mn-ea"/>
          <a:cs typeface="+mn-cs"/>
        </a:defRPr>
      </a:lvl3pPr>
      <a:lvl4pPr marL="1600200" indent="-228600" algn="l" rtl="0" eaLnBrk="0" fontAlgn="base" hangingPunct="0">
        <a:spcBef>
          <a:spcPct val="20000"/>
        </a:spcBef>
        <a:spcAft>
          <a:spcPct val="0"/>
        </a:spcAft>
        <a:buChar char="–"/>
        <a:defRPr sz="2000">
          <a:solidFill>
            <a:srgbClr val="000000"/>
          </a:solidFill>
          <a:latin typeface="+mn-lt"/>
          <a:ea typeface="+mn-ea"/>
          <a:cs typeface="+mn-cs"/>
        </a:defRPr>
      </a:lvl4pPr>
      <a:lvl5pPr marL="2057400" indent="-228600" algn="l" rtl="0" eaLnBrk="0" fontAlgn="base" hangingPunct="0">
        <a:spcBef>
          <a:spcPct val="20000"/>
        </a:spcBef>
        <a:spcAft>
          <a:spcPct val="0"/>
        </a:spcAft>
        <a:buChar char="»"/>
        <a:defRPr sz="2000">
          <a:solidFill>
            <a:srgbClr val="000000"/>
          </a:solidFill>
          <a:latin typeface="+mn-lt"/>
          <a:ea typeface="+mn-ea"/>
          <a:cs typeface="+mn-cs"/>
        </a:defRPr>
      </a:lvl5pPr>
      <a:lvl6pPr marL="2514600" indent="-228600" algn="l" rtl="0" fontAlgn="base">
        <a:spcBef>
          <a:spcPct val="20000"/>
        </a:spcBef>
        <a:spcAft>
          <a:spcPct val="0"/>
        </a:spcAft>
        <a:buChar char="»"/>
        <a:defRPr sz="2000">
          <a:solidFill>
            <a:srgbClr val="000000"/>
          </a:solidFill>
          <a:latin typeface="+mn-lt"/>
          <a:ea typeface="+mn-ea"/>
          <a:cs typeface="+mn-cs"/>
        </a:defRPr>
      </a:lvl6pPr>
      <a:lvl7pPr marL="2971800" indent="-228600" algn="l" rtl="0" fontAlgn="base">
        <a:spcBef>
          <a:spcPct val="20000"/>
        </a:spcBef>
        <a:spcAft>
          <a:spcPct val="0"/>
        </a:spcAft>
        <a:buChar char="»"/>
        <a:defRPr sz="2000">
          <a:solidFill>
            <a:srgbClr val="000000"/>
          </a:solidFill>
          <a:latin typeface="+mn-lt"/>
          <a:ea typeface="+mn-ea"/>
          <a:cs typeface="+mn-cs"/>
        </a:defRPr>
      </a:lvl7pPr>
      <a:lvl8pPr marL="3429000" indent="-228600" algn="l" rtl="0" fontAlgn="base">
        <a:spcBef>
          <a:spcPct val="20000"/>
        </a:spcBef>
        <a:spcAft>
          <a:spcPct val="0"/>
        </a:spcAft>
        <a:buChar char="»"/>
        <a:defRPr sz="2000">
          <a:solidFill>
            <a:srgbClr val="000000"/>
          </a:solidFill>
          <a:latin typeface="+mn-lt"/>
          <a:ea typeface="+mn-ea"/>
          <a:cs typeface="+mn-cs"/>
        </a:defRPr>
      </a:lvl8pPr>
      <a:lvl9pPr marL="3886200" indent="-228600" algn="l" rtl="0" fontAlgn="base">
        <a:spcBef>
          <a:spcPct val="20000"/>
        </a:spcBef>
        <a:spcAft>
          <a:spcPct val="0"/>
        </a:spcAft>
        <a:buChar char="»"/>
        <a:defRPr sz="2000">
          <a:solidFill>
            <a:srgbClr val="000000"/>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image" Target="../media/image3.jp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oleObject" Target="../embeddings/oleObject1.bin"/><Relationship Id="rId5" Type="http://schemas.openxmlformats.org/officeDocument/2006/relationships/image" Target="../media/image10.wmf"/><Relationship Id="rId6" Type="http://schemas.openxmlformats.org/officeDocument/2006/relationships/oleObject" Target="../embeddings/oleObject2.bin"/><Relationship Id="rId7" Type="http://schemas.openxmlformats.org/officeDocument/2006/relationships/image" Target="../media/image11.wmf"/><Relationship Id="rId1" Type="http://schemas.openxmlformats.org/officeDocument/2006/relationships/vmlDrawing" Target="../drawings/vmlDrawing1.vml"/><Relationship Id="rId2"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12.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13.wmf"/><Relationship Id="rId5" Type="http://schemas.openxmlformats.org/officeDocument/2006/relationships/oleObject" Target="../embeddings/oleObject5.bin"/><Relationship Id="rId6" Type="http://schemas.openxmlformats.org/officeDocument/2006/relationships/image" Target="../media/image14.wmf"/><Relationship Id="rId1" Type="http://schemas.openxmlformats.org/officeDocument/2006/relationships/vmlDrawing" Target="../drawings/vmlDrawing3.vml"/><Relationship Id="rId2"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4" Type="http://schemas.openxmlformats.org/officeDocument/2006/relationships/oleObject" Target="../embeddings/oleObject6.bin"/><Relationship Id="rId5" Type="http://schemas.openxmlformats.org/officeDocument/2006/relationships/image" Target="../media/image15.wmf"/><Relationship Id="rId6" Type="http://schemas.openxmlformats.org/officeDocument/2006/relationships/oleObject" Target="../embeddings/oleObject7.bin"/><Relationship Id="rId7" Type="http://schemas.openxmlformats.org/officeDocument/2006/relationships/image" Target="../media/image16.wmf"/><Relationship Id="rId8" Type="http://schemas.openxmlformats.org/officeDocument/2006/relationships/oleObject" Target="../embeddings/oleObject8.bin"/><Relationship Id="rId9" Type="http://schemas.openxmlformats.org/officeDocument/2006/relationships/image" Target="../media/image17.wmf"/><Relationship Id="rId1" Type="http://schemas.openxmlformats.org/officeDocument/2006/relationships/vmlDrawing" Target="../drawings/vmlDrawing4.vml"/><Relationship Id="rId2"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4" Type="http://schemas.openxmlformats.org/officeDocument/2006/relationships/oleObject" Target="../embeddings/oleObject9.bin"/><Relationship Id="rId5" Type="http://schemas.openxmlformats.org/officeDocument/2006/relationships/image" Target="../media/image18.wmf"/><Relationship Id="rId1" Type="http://schemas.openxmlformats.org/officeDocument/2006/relationships/vmlDrawing" Target="../drawings/vmlDrawing5.vml"/><Relationship Id="rId2"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9.wmf"/><Relationship Id="rId5" Type="http://schemas.openxmlformats.org/officeDocument/2006/relationships/oleObject" Target="../embeddings/oleObject11.bin"/><Relationship Id="rId6" Type="http://schemas.openxmlformats.org/officeDocument/2006/relationships/image" Target="../media/image20.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4" Type="http://schemas.openxmlformats.org/officeDocument/2006/relationships/oleObject" Target="../embeddings/oleObject12.bin"/><Relationship Id="rId5" Type="http://schemas.openxmlformats.org/officeDocument/2006/relationships/image" Target="../media/image21.wmf"/><Relationship Id="rId1" Type="http://schemas.openxmlformats.org/officeDocument/2006/relationships/vmlDrawing" Target="../drawings/vmlDrawing7.vml"/><Relationship Id="rId2"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4" Type="http://schemas.openxmlformats.org/officeDocument/2006/relationships/oleObject" Target="../embeddings/oleObject13.bin"/><Relationship Id="rId5" Type="http://schemas.openxmlformats.org/officeDocument/2006/relationships/image" Target="../media/image22.wmf"/><Relationship Id="rId6" Type="http://schemas.openxmlformats.org/officeDocument/2006/relationships/oleObject" Target="../embeddings/oleObject14.bin"/><Relationship Id="rId7" Type="http://schemas.openxmlformats.org/officeDocument/2006/relationships/image" Target="../media/image23.wmf"/><Relationship Id="rId1" Type="http://schemas.openxmlformats.org/officeDocument/2006/relationships/vmlDrawing" Target="../drawings/vmlDrawing8.vml"/><Relationship Id="rId2"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24.wmf"/><Relationship Id="rId5" Type="http://schemas.openxmlformats.org/officeDocument/2006/relationships/oleObject" Target="../embeddings/oleObject16.bin"/><Relationship Id="rId6" Type="http://schemas.openxmlformats.org/officeDocument/2006/relationships/image" Target="../media/image25.wmf"/><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7.bin"/><Relationship Id="rId4" Type="http://schemas.openxmlformats.org/officeDocument/2006/relationships/image" Target="../media/image18.wmf"/><Relationship Id="rId5" Type="http://schemas.openxmlformats.org/officeDocument/2006/relationships/oleObject" Target="../embeddings/oleObject18.bin"/><Relationship Id="rId6" Type="http://schemas.openxmlformats.org/officeDocument/2006/relationships/image" Target="../media/image19.wmf"/><Relationship Id="rId7" Type="http://schemas.openxmlformats.org/officeDocument/2006/relationships/oleObject" Target="../embeddings/oleObject19.bin"/><Relationship Id="rId8" Type="http://schemas.openxmlformats.org/officeDocument/2006/relationships/image" Target="../media/image20.wmf"/><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0.bin"/><Relationship Id="rId4" Type="http://schemas.openxmlformats.org/officeDocument/2006/relationships/image" Target="../media/image26.wmf"/><Relationship Id="rId5" Type="http://schemas.openxmlformats.org/officeDocument/2006/relationships/oleObject" Target="../embeddings/oleObject21.bin"/><Relationship Id="rId6" Type="http://schemas.openxmlformats.org/officeDocument/2006/relationships/image" Target="../media/image27.wmf"/><Relationship Id="rId7" Type="http://schemas.openxmlformats.org/officeDocument/2006/relationships/oleObject" Target="../embeddings/oleObject22.bin"/><Relationship Id="rId8" Type="http://schemas.openxmlformats.org/officeDocument/2006/relationships/image" Target="../media/image28.wmf"/><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3.bin"/><Relationship Id="rId4" Type="http://schemas.openxmlformats.org/officeDocument/2006/relationships/image" Target="../media/image29.wmf"/><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4.bin"/><Relationship Id="rId4" Type="http://schemas.openxmlformats.org/officeDocument/2006/relationships/image" Target="../media/image21.wmf"/><Relationship Id="rId5" Type="http://schemas.openxmlformats.org/officeDocument/2006/relationships/oleObject" Target="../embeddings/oleObject25.bin"/><Relationship Id="rId6" Type="http://schemas.openxmlformats.org/officeDocument/2006/relationships/image" Target="../media/image30.wmf"/><Relationship Id="rId1" Type="http://schemas.openxmlformats.org/officeDocument/2006/relationships/vmlDrawing" Target="../drawings/vmlDrawing13.vml"/><Relationship Id="rId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6.bin"/><Relationship Id="rId4" Type="http://schemas.openxmlformats.org/officeDocument/2006/relationships/image" Target="../media/image24.wmf"/><Relationship Id="rId5" Type="http://schemas.openxmlformats.org/officeDocument/2006/relationships/oleObject" Target="../embeddings/oleObject27.bin"/><Relationship Id="rId6" Type="http://schemas.openxmlformats.org/officeDocument/2006/relationships/image" Target="../media/image25.wmf"/><Relationship Id="rId1" Type="http://schemas.openxmlformats.org/officeDocument/2006/relationships/vmlDrawing" Target="../drawings/vmlDrawing14.vml"/><Relationship Id="rId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8.bin"/><Relationship Id="rId4" Type="http://schemas.openxmlformats.org/officeDocument/2006/relationships/image" Target="../media/image31.wmf"/><Relationship Id="rId1" Type="http://schemas.openxmlformats.org/officeDocument/2006/relationships/vmlDrawing" Target="../drawings/vmlDrawing15.vml"/><Relationship Id="rId2"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e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9.bin"/><Relationship Id="rId4" Type="http://schemas.openxmlformats.org/officeDocument/2006/relationships/image" Target="../media/image33.wmf"/><Relationship Id="rId1" Type="http://schemas.openxmlformats.org/officeDocument/2006/relationships/vmlDrawing" Target="../drawings/vmlDrawing16.vml"/><Relationship Id="rId2"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0.bin"/><Relationship Id="rId4" Type="http://schemas.openxmlformats.org/officeDocument/2006/relationships/image" Target="../media/image34.wmf"/><Relationship Id="rId5" Type="http://schemas.openxmlformats.org/officeDocument/2006/relationships/oleObject" Target="../embeddings/oleObject31.bin"/><Relationship Id="rId6" Type="http://schemas.openxmlformats.org/officeDocument/2006/relationships/image" Target="../media/image35.wmf"/><Relationship Id="rId1" Type="http://schemas.openxmlformats.org/officeDocument/2006/relationships/vmlDrawing" Target="../drawings/vmlDrawing17.vml"/><Relationship Id="rId2"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2.bin"/><Relationship Id="rId4" Type="http://schemas.openxmlformats.org/officeDocument/2006/relationships/image" Target="../media/image36.wmf"/><Relationship Id="rId5" Type="http://schemas.openxmlformats.org/officeDocument/2006/relationships/oleObject" Target="../embeddings/oleObject33.bin"/><Relationship Id="rId6" Type="http://schemas.openxmlformats.org/officeDocument/2006/relationships/image" Target="../media/image37.wmf"/><Relationship Id="rId1" Type="http://schemas.openxmlformats.org/officeDocument/2006/relationships/vmlDrawing" Target="../drawings/vmlDrawing18.vml"/><Relationship Id="rId2"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4.bin"/><Relationship Id="rId4" Type="http://schemas.openxmlformats.org/officeDocument/2006/relationships/image" Target="../media/image38.wmf"/><Relationship Id="rId5" Type="http://schemas.openxmlformats.org/officeDocument/2006/relationships/oleObject" Target="../embeddings/oleObject35.bin"/><Relationship Id="rId6" Type="http://schemas.openxmlformats.org/officeDocument/2006/relationships/image" Target="../media/image39.wmf"/><Relationship Id="rId1" Type="http://schemas.openxmlformats.org/officeDocument/2006/relationships/vmlDrawing" Target="../drawings/vmlDrawing19.vml"/><Relationship Id="rId2"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jpeg"/><Relationship Id="rId3" Type="http://schemas.openxmlformats.org/officeDocument/2006/relationships/image" Target="../media/image4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finance.sina.com.cn/realstock/company/sh601186/nc.s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zh-CN" altLang="en-US" sz="3000" dirty="0"/>
              <a:t>北京大兴国际机场（</a:t>
            </a:r>
            <a:r>
              <a:rPr lang="en-US" altLang="zh-CN" sz="3000" dirty="0"/>
              <a:t>Beijing </a:t>
            </a:r>
            <a:r>
              <a:rPr lang="en-US" altLang="zh-CN" sz="3000" dirty="0" err="1"/>
              <a:t>Daxing</a:t>
            </a:r>
            <a:r>
              <a:rPr lang="en-US" altLang="zh-CN" sz="3000" dirty="0"/>
              <a:t> International </a:t>
            </a:r>
            <a:r>
              <a:rPr lang="en-US" altLang="zh-CN" sz="3000" dirty="0" smtClean="0"/>
              <a:t>Airport</a:t>
            </a:r>
            <a:r>
              <a:rPr lang="zh-CN" altLang="en-US" sz="3000" dirty="0" smtClean="0"/>
              <a:t>）位于</a:t>
            </a:r>
            <a:r>
              <a:rPr lang="zh-CN" altLang="en-US" sz="3000" dirty="0"/>
              <a:t>中国北京市大兴区及河北省廊坊市广阳区之间，是一座跨地域、超大型的国际航空综合交通枢纽</a:t>
            </a:r>
            <a:r>
              <a:rPr lang="zh-CN" altLang="en-US" sz="3000" dirty="0" smtClean="0"/>
              <a:t>。</a:t>
            </a:r>
            <a:endParaRPr lang="en-US" altLang="zh-CN" sz="3000" dirty="0"/>
          </a:p>
          <a:p>
            <a:pPr lvl="1"/>
            <a:r>
              <a:rPr lang="zh-CN" altLang="en-US" sz="2200" dirty="0"/>
              <a:t>航站楼面积</a:t>
            </a:r>
            <a:r>
              <a:rPr lang="zh-CN" altLang="en-US" sz="2200" dirty="0" smtClean="0"/>
              <a:t>：</a:t>
            </a:r>
            <a:r>
              <a:rPr lang="en-US" altLang="zh-CN" sz="2200" dirty="0" smtClean="0"/>
              <a:t>70</a:t>
            </a:r>
            <a:r>
              <a:rPr lang="zh-CN" altLang="en-US" sz="2200" dirty="0" smtClean="0"/>
              <a:t>万平方米</a:t>
            </a:r>
            <a:endParaRPr lang="en-US" altLang="zh-CN" sz="2200" dirty="0" smtClean="0"/>
          </a:p>
          <a:p>
            <a:pPr lvl="1"/>
            <a:r>
              <a:rPr lang="zh-CN" altLang="en-US" sz="2200" dirty="0"/>
              <a:t>机位数量</a:t>
            </a:r>
            <a:r>
              <a:rPr lang="zh-CN" altLang="en-US" sz="2200" dirty="0" smtClean="0"/>
              <a:t>：</a:t>
            </a:r>
            <a:r>
              <a:rPr lang="en-US" altLang="zh-CN" sz="2200" dirty="0" smtClean="0"/>
              <a:t>268</a:t>
            </a:r>
            <a:r>
              <a:rPr lang="zh-CN" altLang="en-US" sz="2200" dirty="0" smtClean="0"/>
              <a:t>个</a:t>
            </a:r>
            <a:endParaRPr lang="en-US" altLang="zh-CN" sz="2200" dirty="0" smtClean="0"/>
          </a:p>
          <a:p>
            <a:pPr lvl="1"/>
            <a:r>
              <a:rPr lang="zh-CN" altLang="en-US" sz="2200" dirty="0"/>
              <a:t>跑道</a:t>
            </a:r>
            <a:r>
              <a:rPr lang="zh-CN" altLang="en-US" sz="2200" dirty="0" smtClean="0"/>
              <a:t>长度：</a:t>
            </a:r>
            <a:r>
              <a:rPr lang="en-US" altLang="zh-CN" sz="2200" dirty="0" smtClean="0"/>
              <a:t>3800</a:t>
            </a:r>
            <a:r>
              <a:rPr lang="zh-CN" altLang="en-US" sz="2200" dirty="0" smtClean="0"/>
              <a:t>米</a:t>
            </a:r>
            <a:endParaRPr lang="en-US" altLang="zh-CN" sz="2200" dirty="0" smtClean="0"/>
          </a:p>
          <a:p>
            <a:pPr lvl="1"/>
            <a:r>
              <a:rPr lang="zh-CN" altLang="en-US" sz="2200" dirty="0"/>
              <a:t>航线</a:t>
            </a:r>
            <a:r>
              <a:rPr lang="zh-CN" altLang="en-US" sz="2200" dirty="0" smtClean="0"/>
              <a:t>数量：</a:t>
            </a:r>
            <a:r>
              <a:rPr lang="en-US" altLang="zh-CN" sz="2200" dirty="0" smtClean="0"/>
              <a:t>116</a:t>
            </a:r>
            <a:r>
              <a:rPr lang="zh-CN" altLang="en-US" sz="2200" dirty="0" smtClean="0"/>
              <a:t>条</a:t>
            </a:r>
            <a:endParaRPr lang="en-US" altLang="zh-CN" sz="2200" dirty="0" smtClean="0"/>
          </a:p>
          <a:p>
            <a:pPr lvl="1"/>
            <a:r>
              <a:rPr lang="zh-CN" altLang="en-US" sz="2200" dirty="0"/>
              <a:t>通航</a:t>
            </a:r>
            <a:r>
              <a:rPr lang="zh-CN" altLang="en-US" sz="2200" dirty="0" smtClean="0"/>
              <a:t>城市：</a:t>
            </a:r>
            <a:r>
              <a:rPr lang="en-US" altLang="zh-CN" sz="2200" dirty="0" smtClean="0"/>
              <a:t>112</a:t>
            </a:r>
            <a:r>
              <a:rPr lang="zh-CN" altLang="en-US" sz="2200" dirty="0" smtClean="0"/>
              <a:t>个</a:t>
            </a:r>
            <a:endParaRPr lang="en-US" altLang="zh-CN" sz="2200" dirty="0" smtClean="0"/>
          </a:p>
          <a:p>
            <a:pPr lvl="1"/>
            <a:r>
              <a:rPr lang="zh-CN" altLang="en-US" sz="2200" dirty="0"/>
              <a:t>动工</a:t>
            </a:r>
            <a:r>
              <a:rPr lang="zh-CN" altLang="en-US" sz="2200" dirty="0" smtClean="0"/>
              <a:t>日期：</a:t>
            </a:r>
            <a:r>
              <a:rPr lang="en-US" altLang="zh-CN" sz="2200" dirty="0" smtClean="0"/>
              <a:t>2014.12.26</a:t>
            </a:r>
          </a:p>
          <a:p>
            <a:pPr lvl="1"/>
            <a:r>
              <a:rPr lang="zh-CN" altLang="en-US" sz="2200" dirty="0" smtClean="0"/>
              <a:t>通航日期：</a:t>
            </a:r>
            <a:r>
              <a:rPr lang="en-US" altLang="zh-CN" sz="2200" dirty="0" smtClean="0"/>
              <a:t>2019.9.25</a:t>
            </a:r>
            <a:endParaRPr lang="en-US" altLang="zh-CN" sz="2200" dirty="0"/>
          </a:p>
        </p:txBody>
      </p:sp>
      <p:sp>
        <p:nvSpPr>
          <p:cNvPr id="3" name="标题 2"/>
          <p:cNvSpPr>
            <a:spLocks noGrp="1"/>
          </p:cNvSpPr>
          <p:nvPr>
            <p:ph type="title"/>
          </p:nvPr>
        </p:nvSpPr>
        <p:spPr/>
        <p:txBody>
          <a:bodyPr/>
          <a:lstStyle/>
          <a:p>
            <a:r>
              <a:rPr lang="zh-CN" altLang="en-US" dirty="0"/>
              <a:t>北京大兴国际机场</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6586" y="2715783"/>
            <a:ext cx="4945092" cy="2844757"/>
          </a:xfrm>
          <a:prstGeom prst="rect">
            <a:avLst/>
          </a:prstGeom>
          <a:ln>
            <a:noFill/>
          </a:ln>
          <a:effectLst>
            <a:softEdge rad="112500"/>
          </a:effectLst>
        </p:spPr>
      </p:pic>
    </p:spTree>
    <p:extLst>
      <p:ext uri="{BB962C8B-B14F-4D97-AF65-F5344CB8AC3E}">
        <p14:creationId xmlns:p14="http://schemas.microsoft.com/office/powerpoint/2010/main" val="300924308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工程项目总投资</a:t>
            </a:r>
            <a:endParaRPr lang="en-US" altLang="zh-CN" sz="3000" b="1" dirty="0">
              <a:solidFill>
                <a:srgbClr val="990000"/>
              </a:solidFill>
              <a:latin typeface="+mj-lt"/>
              <a:ea typeface="+mj-ea"/>
            </a:endParaRPr>
          </a:p>
          <a:p>
            <a:pPr lvl="1">
              <a:defRPr/>
            </a:pPr>
            <a:r>
              <a:rPr lang="zh-CN" altLang="en-US" sz="2400" dirty="0" smtClean="0">
                <a:latin typeface="Times New Roman" panose="02020603050405020304" pitchFamily="18" charset="0"/>
                <a:cs typeface="Times New Roman" panose="02020603050405020304" pitchFamily="18" charset="0"/>
              </a:rPr>
              <a:t>国家</a:t>
            </a:r>
            <a:r>
              <a:rPr lang="zh-CN" altLang="en-US" sz="2400" dirty="0">
                <a:latin typeface="Times New Roman" panose="02020603050405020304" pitchFamily="18" charset="0"/>
                <a:cs typeface="Times New Roman" panose="02020603050405020304" pitchFamily="18" charset="0"/>
              </a:rPr>
              <a:t>发改委批文显示</a:t>
            </a:r>
            <a:r>
              <a:rPr lang="zh-CN" altLang="en-US" sz="2400" dirty="0" smtClean="0">
                <a:latin typeface="Times New Roman" panose="02020603050405020304" pitchFamily="18" charset="0"/>
                <a:cs typeface="Times New Roman" panose="02020603050405020304" pitchFamily="18" charset="0"/>
              </a:rPr>
              <a:t>，</a:t>
            </a:r>
            <a:r>
              <a:rPr lang="zh-CN" altLang="en-US" sz="2400" b="1" u="sng" dirty="0" smtClean="0">
                <a:latin typeface="Times New Roman" panose="02020603050405020304" pitchFamily="18" charset="0"/>
                <a:cs typeface="Times New Roman" panose="02020603050405020304" pitchFamily="18" charset="0"/>
              </a:rPr>
              <a:t>机场工程</a:t>
            </a:r>
            <a:r>
              <a:rPr lang="zh-CN" altLang="en-US" sz="2400" dirty="0" smtClean="0">
                <a:latin typeface="Times New Roman" panose="02020603050405020304" pitchFamily="18" charset="0"/>
                <a:cs typeface="Times New Roman" panose="02020603050405020304" pitchFamily="18" charset="0"/>
              </a:rPr>
              <a:t>预计总</a:t>
            </a:r>
            <a:r>
              <a:rPr lang="zh-CN" altLang="en-US" sz="2400" dirty="0">
                <a:latin typeface="Times New Roman" panose="02020603050405020304" pitchFamily="18" charset="0"/>
                <a:cs typeface="Times New Roman" panose="02020603050405020304" pitchFamily="18" charset="0"/>
              </a:rPr>
              <a:t>投资</a:t>
            </a:r>
            <a:r>
              <a:rPr lang="en-US" altLang="zh-CN" sz="2400" dirty="0">
                <a:latin typeface="Times New Roman" panose="02020603050405020304" pitchFamily="18" charset="0"/>
                <a:cs typeface="Times New Roman" panose="02020603050405020304" pitchFamily="18" charset="0"/>
              </a:rPr>
              <a:t>799.8</a:t>
            </a:r>
            <a:r>
              <a:rPr lang="zh-CN" altLang="en-US" sz="2400" dirty="0">
                <a:latin typeface="Times New Roman" panose="02020603050405020304" pitchFamily="18" charset="0"/>
                <a:cs typeface="Times New Roman" panose="02020603050405020304" pitchFamily="18" charset="0"/>
              </a:rPr>
              <a:t>亿</a:t>
            </a:r>
            <a:r>
              <a:rPr lang="zh-CN" altLang="en-US" sz="2400" dirty="0" smtClean="0">
                <a:latin typeface="Times New Roman" panose="02020603050405020304" pitchFamily="18" charset="0"/>
                <a:cs typeface="Times New Roman" panose="02020603050405020304" pitchFamily="18" charset="0"/>
              </a:rPr>
              <a:t>元。其中，资本金占比约</a:t>
            </a:r>
            <a:r>
              <a:rPr lang="en-US" altLang="zh-CN" sz="2400" dirty="0" smtClean="0">
                <a:latin typeface="Times New Roman" panose="02020603050405020304" pitchFamily="18" charset="0"/>
                <a:cs typeface="Times New Roman" panose="02020603050405020304" pitchFamily="18" charset="0"/>
              </a:rPr>
              <a:t>50%</a:t>
            </a:r>
            <a:r>
              <a:rPr lang="zh-CN" altLang="en-US" sz="2400" dirty="0" smtClean="0">
                <a:latin typeface="Times New Roman" panose="02020603050405020304" pitchFamily="18" charset="0"/>
                <a:cs typeface="Times New Roman" panose="02020603050405020304" pitchFamily="18" charset="0"/>
              </a:rPr>
              <a:t>：民航发展基金</a:t>
            </a:r>
            <a:r>
              <a:rPr lang="en-US" altLang="zh-CN" sz="2400" dirty="0" smtClean="0">
                <a:latin typeface="Times New Roman" panose="02020603050405020304" pitchFamily="18" charset="0"/>
                <a:cs typeface="Times New Roman" panose="02020603050405020304" pitchFamily="18" charset="0"/>
              </a:rPr>
              <a:t>180</a:t>
            </a:r>
            <a:r>
              <a:rPr lang="zh-CN" altLang="en-US" sz="2400" dirty="0" smtClean="0">
                <a:latin typeface="Times New Roman" panose="02020603050405020304" pitchFamily="18" charset="0"/>
                <a:cs typeface="Times New Roman" panose="02020603050405020304" pitchFamily="18" charset="0"/>
              </a:rPr>
              <a:t>亿元、首都机场集团公司自有资金</a:t>
            </a:r>
            <a:r>
              <a:rPr lang="en-US" altLang="zh-CN" sz="2400" dirty="0" smtClean="0">
                <a:latin typeface="Times New Roman" panose="02020603050405020304" pitchFamily="18" charset="0"/>
                <a:cs typeface="Times New Roman" panose="02020603050405020304" pitchFamily="18" charset="0"/>
              </a:rPr>
              <a:t>60</a:t>
            </a:r>
            <a:r>
              <a:rPr lang="zh-CN" altLang="en-US" sz="2400" dirty="0" smtClean="0">
                <a:latin typeface="Times New Roman" panose="02020603050405020304" pitchFamily="18" charset="0"/>
                <a:cs typeface="Times New Roman" panose="02020603050405020304" pitchFamily="18" charset="0"/>
              </a:rPr>
              <a:t>亿元，同时积极</a:t>
            </a:r>
            <a:r>
              <a:rPr lang="zh-CN" altLang="en-US" sz="2400" dirty="0">
                <a:latin typeface="Times New Roman" panose="02020603050405020304" pitchFamily="18" charset="0"/>
                <a:cs typeface="Times New Roman" panose="02020603050405020304" pitchFamily="18" charset="0"/>
              </a:rPr>
              <a:t>吸引社会资本参与，不足部分由发改委和</a:t>
            </a:r>
            <a:r>
              <a:rPr lang="zh-CN" altLang="en-US" sz="2400" dirty="0" smtClean="0">
                <a:latin typeface="Times New Roman" panose="02020603050405020304" pitchFamily="18" charset="0"/>
                <a:cs typeface="Times New Roman" panose="02020603050405020304" pitchFamily="18" charset="0"/>
              </a:rPr>
              <a:t>财政部解决。资本金以外部分通过</a:t>
            </a:r>
            <a:r>
              <a:rPr lang="zh-CN" altLang="en-US" sz="2400" dirty="0">
                <a:latin typeface="Times New Roman" panose="02020603050405020304" pitchFamily="18" charset="0"/>
                <a:cs typeface="Times New Roman" panose="02020603050405020304" pitchFamily="18" charset="0"/>
              </a:rPr>
              <a:t>银行贷款</a:t>
            </a:r>
            <a:r>
              <a:rPr lang="zh-CN" altLang="en-US" sz="2400" dirty="0" smtClean="0">
                <a:latin typeface="Times New Roman" panose="02020603050405020304" pitchFamily="18" charset="0"/>
                <a:cs typeface="Times New Roman" panose="02020603050405020304" pitchFamily="18" charset="0"/>
              </a:rPr>
              <a:t>等渠道融资</a:t>
            </a:r>
            <a:r>
              <a:rPr lang="zh-CN" altLang="en-US" sz="2400" dirty="0">
                <a:latin typeface="Times New Roman" panose="02020603050405020304" pitchFamily="18" charset="0"/>
                <a:cs typeface="Times New Roman" panose="02020603050405020304" pitchFamily="18" charset="0"/>
              </a:rPr>
              <a:t>解决</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lvl="1">
              <a:defRPr/>
            </a:pPr>
            <a:r>
              <a:rPr lang="zh-CN" altLang="en-US" sz="2400" b="1" u="sng" dirty="0" smtClean="0">
                <a:latin typeface="Times New Roman" panose="02020603050405020304" pitchFamily="18" charset="0"/>
                <a:cs typeface="Times New Roman" panose="02020603050405020304" pitchFamily="18" charset="0"/>
              </a:rPr>
              <a:t>空</a:t>
            </a:r>
            <a:r>
              <a:rPr lang="zh-CN" altLang="en-US" sz="2400" b="1" u="sng" dirty="0">
                <a:latin typeface="Times New Roman" panose="02020603050405020304" pitchFamily="18" charset="0"/>
                <a:cs typeface="Times New Roman" panose="02020603050405020304" pitchFamily="18" charset="0"/>
              </a:rPr>
              <a:t>管</a:t>
            </a:r>
            <a:r>
              <a:rPr lang="zh-CN" altLang="en-US" sz="2400" b="1" u="sng" dirty="0" smtClean="0">
                <a:latin typeface="Times New Roman" panose="02020603050405020304" pitchFamily="18" charset="0"/>
                <a:cs typeface="Times New Roman" panose="02020603050405020304" pitchFamily="18" charset="0"/>
              </a:rPr>
              <a:t>工程</a:t>
            </a:r>
            <a:r>
              <a:rPr lang="zh-CN" altLang="en-US" sz="2400" dirty="0" smtClean="0">
                <a:latin typeface="Times New Roman" panose="02020603050405020304" pitchFamily="18" charset="0"/>
                <a:cs typeface="Times New Roman" panose="02020603050405020304" pitchFamily="18" charset="0"/>
              </a:rPr>
              <a:t>预计总</a:t>
            </a:r>
            <a:r>
              <a:rPr lang="zh-CN" altLang="en-US" sz="2400" dirty="0">
                <a:latin typeface="Times New Roman" panose="02020603050405020304" pitchFamily="18" charset="0"/>
                <a:cs typeface="Times New Roman" panose="02020603050405020304" pitchFamily="18" charset="0"/>
              </a:rPr>
              <a:t>投资</a:t>
            </a:r>
            <a:r>
              <a:rPr lang="en-US" altLang="zh-CN" sz="2400" dirty="0">
                <a:latin typeface="Times New Roman" panose="02020603050405020304" pitchFamily="18" charset="0"/>
                <a:cs typeface="Times New Roman" panose="02020603050405020304" pitchFamily="18" charset="0"/>
              </a:rPr>
              <a:t>41.6</a:t>
            </a:r>
            <a:r>
              <a:rPr lang="zh-CN" altLang="en-US" sz="2400" dirty="0">
                <a:latin typeface="Times New Roman" panose="02020603050405020304" pitchFamily="18" charset="0"/>
                <a:cs typeface="Times New Roman" panose="02020603050405020304" pitchFamily="18" charset="0"/>
              </a:rPr>
              <a:t>亿元，</a:t>
            </a:r>
            <a:r>
              <a:rPr lang="zh-CN" altLang="en-US" sz="2400" dirty="0" smtClean="0">
                <a:latin typeface="Times New Roman" panose="02020603050405020304" pitchFamily="18" charset="0"/>
                <a:cs typeface="Times New Roman" panose="02020603050405020304" pitchFamily="18" charset="0"/>
              </a:rPr>
              <a:t>由民航</a:t>
            </a:r>
            <a:r>
              <a:rPr lang="zh-CN" altLang="en-US" sz="2400" dirty="0">
                <a:latin typeface="Times New Roman" panose="02020603050405020304" pitchFamily="18" charset="0"/>
                <a:cs typeface="Times New Roman" panose="02020603050405020304" pitchFamily="18" charset="0"/>
              </a:rPr>
              <a:t>发展基金</a:t>
            </a:r>
            <a:r>
              <a:rPr lang="zh-CN" altLang="en-US" sz="2400" dirty="0" smtClean="0">
                <a:latin typeface="Times New Roman" panose="02020603050405020304" pitchFamily="18" charset="0"/>
                <a:cs typeface="Times New Roman" panose="02020603050405020304" pitchFamily="18" charset="0"/>
              </a:rPr>
              <a:t>解决。</a:t>
            </a:r>
            <a:endParaRPr lang="en-US" altLang="zh-CN" sz="2400" dirty="0" smtClean="0">
              <a:latin typeface="Times New Roman" panose="02020603050405020304" pitchFamily="18" charset="0"/>
              <a:cs typeface="Times New Roman" panose="02020603050405020304" pitchFamily="18" charset="0"/>
            </a:endParaRPr>
          </a:p>
          <a:p>
            <a:pPr lvl="1">
              <a:defRPr/>
            </a:pPr>
            <a:r>
              <a:rPr lang="zh-CN" altLang="en-US" sz="2400" b="1" u="sng" dirty="0" smtClean="0">
                <a:latin typeface="Times New Roman" panose="02020603050405020304" pitchFamily="18" charset="0"/>
                <a:cs typeface="Times New Roman" panose="02020603050405020304" pitchFamily="18" charset="0"/>
              </a:rPr>
              <a:t>供</a:t>
            </a:r>
            <a:r>
              <a:rPr lang="zh-CN" altLang="en-US" sz="2400" b="1" u="sng" dirty="0">
                <a:latin typeface="Times New Roman" panose="02020603050405020304" pitchFamily="18" charset="0"/>
                <a:cs typeface="Times New Roman" panose="02020603050405020304" pitchFamily="18" charset="0"/>
              </a:rPr>
              <a:t>油工程机场场区内</a:t>
            </a:r>
            <a:r>
              <a:rPr lang="zh-CN" altLang="en-US" sz="2400" b="1" u="sng" dirty="0" smtClean="0">
                <a:latin typeface="Times New Roman" panose="02020603050405020304" pitchFamily="18" charset="0"/>
                <a:cs typeface="Times New Roman" panose="02020603050405020304" pitchFamily="18" charset="0"/>
              </a:rPr>
              <a:t>项目</a:t>
            </a:r>
            <a:r>
              <a:rPr lang="zh-CN" altLang="en-US" sz="2400" dirty="0" smtClean="0">
                <a:latin typeface="Times New Roman" panose="02020603050405020304" pitchFamily="18" charset="0"/>
                <a:cs typeface="Times New Roman" panose="02020603050405020304" pitchFamily="18" charset="0"/>
              </a:rPr>
              <a:t>预计投资</a:t>
            </a:r>
            <a:r>
              <a:rPr lang="en-US" altLang="zh-CN" sz="2400" dirty="0">
                <a:latin typeface="Times New Roman" panose="02020603050405020304" pitchFamily="18" charset="0"/>
                <a:cs typeface="Times New Roman" panose="02020603050405020304" pitchFamily="18" charset="0"/>
              </a:rPr>
              <a:t>22</a:t>
            </a:r>
            <a:r>
              <a:rPr lang="zh-CN" altLang="en-US" sz="2400" dirty="0">
                <a:latin typeface="Times New Roman" panose="02020603050405020304" pitchFamily="18" charset="0"/>
                <a:cs typeface="Times New Roman" panose="02020603050405020304" pitchFamily="18" charset="0"/>
              </a:rPr>
              <a:t>亿元，</a:t>
            </a:r>
            <a:r>
              <a:rPr lang="zh-CN" altLang="en-US" sz="2400" dirty="0" smtClean="0">
                <a:latin typeface="Times New Roman" panose="02020603050405020304" pitchFamily="18" charset="0"/>
                <a:cs typeface="Times New Roman" panose="02020603050405020304" pitchFamily="18" charset="0"/>
              </a:rPr>
              <a:t>资本金占比约</a:t>
            </a:r>
            <a:r>
              <a:rPr lang="en-US" altLang="zh-CN" sz="2400" dirty="0" smtClean="0">
                <a:latin typeface="Times New Roman" panose="02020603050405020304" pitchFamily="18" charset="0"/>
                <a:cs typeface="Times New Roman" panose="02020603050405020304" pitchFamily="18" charset="0"/>
              </a:rPr>
              <a:t>35%</a:t>
            </a:r>
            <a:r>
              <a:rPr lang="zh-CN" altLang="en-US" sz="2400" dirty="0" smtClean="0">
                <a:latin typeface="Times New Roman" panose="02020603050405020304" pitchFamily="18" charset="0"/>
                <a:cs typeface="Times New Roman" panose="02020603050405020304" pitchFamily="18" charset="0"/>
              </a:rPr>
              <a:t>：首都机场集团公司</a:t>
            </a:r>
            <a:r>
              <a:rPr lang="zh-CN" altLang="en-US" sz="2400" dirty="0">
                <a:latin typeface="Times New Roman" panose="02020603050405020304" pitchFamily="18" charset="0"/>
                <a:cs typeface="Times New Roman" panose="02020603050405020304" pitchFamily="18" charset="0"/>
              </a:rPr>
              <a:t>和中国航空油料集团公司组建的合资</a:t>
            </a:r>
            <a:r>
              <a:rPr lang="zh-CN" altLang="en-US" sz="2400" dirty="0" smtClean="0">
                <a:latin typeface="Times New Roman" panose="02020603050405020304" pitchFamily="18" charset="0"/>
                <a:cs typeface="Times New Roman" panose="02020603050405020304" pitchFamily="18" charset="0"/>
              </a:rPr>
              <a:t>公司投入自</a:t>
            </a:r>
            <a:r>
              <a:rPr lang="zh-CN" altLang="en-US" sz="2400" dirty="0">
                <a:latin typeface="Times New Roman" panose="02020603050405020304" pitchFamily="18" charset="0"/>
                <a:cs typeface="Times New Roman" panose="02020603050405020304" pitchFamily="18" charset="0"/>
              </a:rPr>
              <a:t>有</a:t>
            </a:r>
            <a:r>
              <a:rPr lang="zh-CN" altLang="en-US" sz="2400" dirty="0" smtClean="0">
                <a:latin typeface="Times New Roman" panose="02020603050405020304" pitchFamily="18" charset="0"/>
                <a:cs typeface="Times New Roman" panose="02020603050405020304" pitchFamily="18" charset="0"/>
              </a:rPr>
              <a:t>资金。资本金以外部分由银行贷款</a:t>
            </a:r>
            <a:r>
              <a:rPr lang="zh-CN" altLang="en-US" sz="2400" dirty="0">
                <a:latin typeface="Times New Roman" panose="02020603050405020304" pitchFamily="18" charset="0"/>
                <a:cs typeface="Times New Roman" panose="02020603050405020304" pitchFamily="18" charset="0"/>
              </a:rPr>
              <a:t>解决</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lvl="1">
              <a:defRPr/>
            </a:pPr>
            <a:r>
              <a:rPr lang="zh-CN" altLang="en-US" sz="24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最新资料统计，工程实际投资</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1167</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亿元人民币，带动交通等市政配套投资</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3000</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多亿元，总投资达</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4500</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亿元人民币</a:t>
            </a:r>
            <a:r>
              <a:rPr lang="zh-CN" altLang="en-US" sz="2400" b="1" dirty="0" smtClea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solidFill>
                <a:srgbClr val="C00000"/>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dirty="0"/>
              <a:t>北京大兴国际机场</a:t>
            </a:r>
          </a:p>
        </p:txBody>
      </p:sp>
    </p:spTree>
    <p:extLst>
      <p:ext uri="{BB962C8B-B14F-4D97-AF65-F5344CB8AC3E}">
        <p14:creationId xmlns:p14="http://schemas.microsoft.com/office/powerpoint/2010/main" val="224620158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新“世界七大奇迹”之首</a:t>
            </a:r>
            <a:endParaRPr lang="en-US" altLang="zh-CN" sz="3000" b="1" dirty="0" smtClean="0">
              <a:solidFill>
                <a:srgbClr val="990000"/>
              </a:solidFill>
              <a:latin typeface="+mj-lt"/>
              <a:ea typeface="+mj-ea"/>
            </a:endParaRPr>
          </a:p>
          <a:p>
            <a:pPr lvl="1">
              <a:defRPr/>
            </a:pPr>
            <a:r>
              <a:rPr lang="zh-CN" altLang="en-US" sz="2250" dirty="0"/>
              <a:t>全球建设规模最大的新建机场</a:t>
            </a:r>
            <a:r>
              <a:rPr lang="zh-CN" altLang="en-US" sz="2250" dirty="0" smtClean="0"/>
              <a:t>。</a:t>
            </a:r>
            <a:endParaRPr lang="en-US" altLang="zh-CN" sz="2250" dirty="0" smtClean="0"/>
          </a:p>
          <a:p>
            <a:pPr lvl="1">
              <a:defRPr/>
            </a:pPr>
            <a:r>
              <a:rPr lang="zh-CN" altLang="en-US" sz="2250" dirty="0"/>
              <a:t>大兴机场航站</a:t>
            </a:r>
            <a:r>
              <a:rPr lang="zh-CN" altLang="en-US" sz="2250" dirty="0" smtClean="0"/>
              <a:t>楼：世界</a:t>
            </a:r>
            <a:r>
              <a:rPr lang="zh-CN" altLang="en-US" sz="2250" dirty="0"/>
              <a:t>最大的减隔震</a:t>
            </a:r>
            <a:r>
              <a:rPr lang="zh-CN" altLang="en-US" sz="2250" dirty="0" smtClean="0"/>
              <a:t>建筑、世界</a:t>
            </a:r>
            <a:r>
              <a:rPr lang="zh-CN" altLang="en-US" sz="2250" dirty="0"/>
              <a:t>最大单块混凝土板</a:t>
            </a:r>
            <a:r>
              <a:rPr lang="zh-CN" altLang="en-US" sz="2250" dirty="0" smtClean="0"/>
              <a:t>、世界最大</a:t>
            </a:r>
            <a:r>
              <a:rPr lang="zh-CN" altLang="en-US" sz="2250" dirty="0"/>
              <a:t>单体航站楼。</a:t>
            </a:r>
            <a:endParaRPr lang="en-US" altLang="zh-CN" sz="2250" dirty="0" smtClean="0"/>
          </a:p>
          <a:p>
            <a:pPr lvl="1">
              <a:defRPr/>
            </a:pPr>
            <a:r>
              <a:rPr lang="zh-CN" altLang="en-US" sz="2250" dirty="0"/>
              <a:t>机场目前已创造了</a:t>
            </a:r>
            <a:r>
              <a:rPr lang="en-US" altLang="zh-CN" sz="2250" dirty="0"/>
              <a:t>40</a:t>
            </a:r>
            <a:r>
              <a:rPr lang="zh-CN" altLang="en-US" sz="2250" dirty="0"/>
              <a:t>余项国际、国内第一，工程验收一次合格率</a:t>
            </a:r>
            <a:r>
              <a:rPr lang="en-US" altLang="zh-CN" sz="2250" dirty="0"/>
              <a:t>100%</a:t>
            </a:r>
            <a:r>
              <a:rPr lang="zh-CN" altLang="en-US" sz="2250" dirty="0"/>
              <a:t>，</a:t>
            </a:r>
            <a:r>
              <a:rPr lang="en-US" altLang="zh-CN" sz="2250" dirty="0"/>
              <a:t>13</a:t>
            </a:r>
            <a:r>
              <a:rPr lang="zh-CN" altLang="en-US" sz="2250" dirty="0"/>
              <a:t>项关键建设指标达到世界一流</a:t>
            </a:r>
            <a:r>
              <a:rPr lang="zh-CN" altLang="en-US" sz="2250" dirty="0" smtClean="0"/>
              <a:t>。</a:t>
            </a:r>
            <a:endParaRPr lang="en-US" altLang="zh-CN" sz="2250" dirty="0" smtClean="0"/>
          </a:p>
        </p:txBody>
      </p:sp>
      <p:sp>
        <p:nvSpPr>
          <p:cNvPr id="7" name="标题 6"/>
          <p:cNvSpPr>
            <a:spLocks noGrp="1"/>
          </p:cNvSpPr>
          <p:nvPr>
            <p:ph type="title"/>
          </p:nvPr>
        </p:nvSpPr>
        <p:spPr/>
        <p:txBody>
          <a:bodyPr/>
          <a:lstStyle/>
          <a:p>
            <a:r>
              <a:rPr lang="zh-CN" altLang="en-US" dirty="0"/>
              <a:t>北京大兴国际机场</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179" y="3844300"/>
            <a:ext cx="3636796" cy="2309366"/>
          </a:xfrm>
          <a:prstGeom prst="rect">
            <a:avLst/>
          </a:prstGeom>
          <a:ln>
            <a:noFill/>
          </a:ln>
          <a:effectLst>
            <a:softEdge rad="112500"/>
          </a:effectLst>
        </p:spPr>
      </p:pic>
      <p:sp>
        <p:nvSpPr>
          <p:cNvPr id="9" name="TextBox 8"/>
          <p:cNvSpPr txBox="1">
            <a:spLocks noChangeArrowheads="1"/>
          </p:cNvSpPr>
          <p:nvPr/>
        </p:nvSpPr>
        <p:spPr bwMode="auto">
          <a:xfrm>
            <a:off x="938494" y="6061674"/>
            <a:ext cx="32301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北京大兴国际机场航站楼内部</a:t>
            </a: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1968" y="3844300"/>
            <a:ext cx="3252350" cy="2309366"/>
          </a:xfrm>
          <a:prstGeom prst="rect">
            <a:avLst/>
          </a:prstGeom>
          <a:ln>
            <a:noFill/>
          </a:ln>
          <a:effectLst>
            <a:softEdge rad="112500"/>
          </a:effectLst>
        </p:spPr>
      </p:pic>
      <p:sp>
        <p:nvSpPr>
          <p:cNvPr id="12" name="TextBox 8"/>
          <p:cNvSpPr txBox="1">
            <a:spLocks noChangeArrowheads="1"/>
          </p:cNvSpPr>
          <p:nvPr/>
        </p:nvSpPr>
        <p:spPr bwMode="auto">
          <a:xfrm>
            <a:off x="4531778" y="6057546"/>
            <a:ext cx="419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北京大兴国际机场航站楼中心区</a:t>
            </a:r>
            <a:r>
              <a:rPr lang="en-US" altLang="zh-CN" sz="1800" b="0" dirty="0">
                <a:solidFill>
                  <a:srgbClr val="002060"/>
                </a:solidFill>
                <a:latin typeface="仿宋" panose="02010609060101010101" pitchFamily="49" charset="-122"/>
                <a:ea typeface="仿宋" panose="02010609060101010101" pitchFamily="49" charset="-122"/>
              </a:rPr>
              <a:t>C</a:t>
            </a:r>
            <a:r>
              <a:rPr lang="zh-CN" altLang="en-US" sz="1800" b="0" dirty="0">
                <a:solidFill>
                  <a:srgbClr val="002060"/>
                </a:solidFill>
                <a:latin typeface="仿宋" panose="02010609060101010101" pitchFamily="49" charset="-122"/>
                <a:ea typeface="仿宋" panose="02010609060101010101" pitchFamily="49" charset="-122"/>
              </a:rPr>
              <a:t>型柱</a:t>
            </a:r>
          </a:p>
        </p:txBody>
      </p:sp>
    </p:spTree>
    <p:extLst>
      <p:ext uri="{BB962C8B-B14F-4D97-AF65-F5344CB8AC3E}">
        <p14:creationId xmlns:p14="http://schemas.microsoft.com/office/powerpoint/2010/main" val="257090101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运营效率</a:t>
            </a:r>
            <a:endParaRPr lang="en-US" altLang="zh-CN" sz="3000" b="1" dirty="0">
              <a:solidFill>
                <a:srgbClr val="990000"/>
              </a:solidFill>
              <a:latin typeface="+mj-lt"/>
              <a:ea typeface="+mj-ea"/>
            </a:endParaRPr>
          </a:p>
          <a:p>
            <a:pPr lvl="1">
              <a:defRPr/>
            </a:pPr>
            <a:r>
              <a:rPr lang="zh-CN" altLang="en-US" sz="2400" dirty="0">
                <a:latin typeface="Times New Roman" panose="02020603050405020304" pitchFamily="18" charset="0"/>
                <a:cs typeface="Times New Roman" panose="02020603050405020304" pitchFamily="18" charset="0"/>
              </a:rPr>
              <a:t>机场航站楼是世界首个实现高铁下穿的航站楼，机场跑道在国内首次采用“全向型”布局，采用了世界最大的空管自动化</a:t>
            </a:r>
            <a:r>
              <a:rPr lang="zh-CN" altLang="en-US" sz="2400" dirty="0" smtClean="0">
                <a:latin typeface="Times New Roman" panose="02020603050405020304" pitchFamily="18" charset="0"/>
                <a:cs typeface="Times New Roman" panose="02020603050405020304" pitchFamily="18" charset="0"/>
              </a:rPr>
              <a:t>系统。</a:t>
            </a:r>
            <a:endParaRPr lang="en-US" altLang="zh-CN" sz="2400" dirty="0" smtClean="0">
              <a:latin typeface="Times New Roman" panose="02020603050405020304" pitchFamily="18" charset="0"/>
              <a:cs typeface="Times New Roman" panose="02020603050405020304" pitchFamily="18" charset="0"/>
            </a:endParaRPr>
          </a:p>
          <a:p>
            <a:pPr lvl="1">
              <a:defRPr/>
            </a:pPr>
            <a:r>
              <a:rPr lang="zh-CN" altLang="en-US" sz="2400" dirty="0">
                <a:latin typeface="Times New Roman" panose="02020603050405020304" pitchFamily="18" charset="0"/>
                <a:cs typeface="Times New Roman" panose="02020603050405020304" pitchFamily="18" charset="0"/>
              </a:rPr>
              <a:t>预计到</a:t>
            </a:r>
            <a:r>
              <a:rPr lang="en-US" altLang="zh-CN" sz="2400" dirty="0">
                <a:latin typeface="Times New Roman" panose="02020603050405020304" pitchFamily="18" charset="0"/>
                <a:cs typeface="Times New Roman" panose="02020603050405020304" pitchFamily="18" charset="0"/>
              </a:rPr>
              <a:t>2022</a:t>
            </a:r>
            <a:r>
              <a:rPr lang="zh-CN" altLang="en-US" sz="2400" dirty="0">
                <a:latin typeface="Times New Roman" panose="02020603050405020304" pitchFamily="18" charset="0"/>
                <a:cs typeface="Times New Roman" panose="02020603050405020304" pitchFamily="18" charset="0"/>
              </a:rPr>
              <a:t>年，机场旅客吞吐量将达到</a:t>
            </a:r>
            <a:r>
              <a:rPr lang="en-US" altLang="zh-CN" sz="2400" dirty="0">
                <a:latin typeface="Times New Roman" panose="02020603050405020304" pitchFamily="18" charset="0"/>
                <a:cs typeface="Times New Roman" panose="02020603050405020304" pitchFamily="18" charset="0"/>
              </a:rPr>
              <a:t>4500</a:t>
            </a:r>
            <a:r>
              <a:rPr lang="zh-CN" altLang="en-US" sz="2400" dirty="0">
                <a:latin typeface="Times New Roman" panose="02020603050405020304" pitchFamily="18" charset="0"/>
                <a:cs typeface="Times New Roman" panose="02020603050405020304" pitchFamily="18" charset="0"/>
              </a:rPr>
              <a:t>万人次，国际航班占比</a:t>
            </a:r>
            <a:r>
              <a:rPr lang="en-US" altLang="zh-CN" sz="2400" dirty="0">
                <a:latin typeface="Times New Roman" panose="02020603050405020304" pitchFamily="18" charset="0"/>
                <a:cs typeface="Times New Roman" panose="02020603050405020304" pitchFamily="18" charset="0"/>
              </a:rPr>
              <a:t>20%</a:t>
            </a:r>
            <a:r>
              <a:rPr lang="zh-CN" altLang="en-US" sz="2400" dirty="0">
                <a:latin typeface="Times New Roman" panose="02020603050405020304" pitchFamily="18" charset="0"/>
                <a:cs typeface="Times New Roman" panose="02020603050405020304" pitchFamily="18" charset="0"/>
              </a:rPr>
              <a:t>；到</a:t>
            </a:r>
            <a:r>
              <a:rPr lang="en-US" altLang="zh-CN" sz="2400" dirty="0">
                <a:latin typeface="Times New Roman" panose="02020603050405020304" pitchFamily="18" charset="0"/>
                <a:cs typeface="Times New Roman" panose="02020603050405020304" pitchFamily="18" charset="0"/>
              </a:rPr>
              <a:t>2025</a:t>
            </a:r>
            <a:r>
              <a:rPr lang="zh-CN" altLang="en-US" sz="2400" dirty="0">
                <a:latin typeface="Times New Roman" panose="02020603050405020304" pitchFamily="18" charset="0"/>
                <a:cs typeface="Times New Roman" panose="02020603050405020304" pitchFamily="18" charset="0"/>
              </a:rPr>
              <a:t>年，旅客吞吐量将达到</a:t>
            </a:r>
            <a:r>
              <a:rPr lang="en-US" altLang="zh-CN" sz="2400" dirty="0">
                <a:latin typeface="Times New Roman" panose="02020603050405020304" pitchFamily="18" charset="0"/>
                <a:cs typeface="Times New Roman" panose="02020603050405020304" pitchFamily="18" charset="0"/>
              </a:rPr>
              <a:t>7200</a:t>
            </a:r>
            <a:r>
              <a:rPr lang="zh-CN" altLang="en-US" sz="2400" dirty="0">
                <a:latin typeface="Times New Roman" panose="02020603050405020304" pitchFamily="18" charset="0"/>
                <a:cs typeface="Times New Roman" panose="02020603050405020304" pitchFamily="18" charset="0"/>
              </a:rPr>
              <a:t>万人次，国际航班占比有望达到</a:t>
            </a:r>
            <a:r>
              <a:rPr lang="en-US" altLang="zh-CN" sz="2400" dirty="0">
                <a:latin typeface="Times New Roman" panose="02020603050405020304" pitchFamily="18" charset="0"/>
                <a:cs typeface="Times New Roman" panose="02020603050405020304" pitchFamily="18" charset="0"/>
              </a:rPr>
              <a:t>30%</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lvl="0">
              <a:defRPr/>
            </a:pPr>
            <a:r>
              <a:rPr lang="zh-CN" altLang="en-US" sz="3000" b="1" dirty="0" smtClean="0">
                <a:solidFill>
                  <a:srgbClr val="990000"/>
                </a:solidFill>
                <a:ea typeface="+mj-ea"/>
              </a:rPr>
              <a:t>绿色指标</a:t>
            </a:r>
            <a:endParaRPr lang="en-US" altLang="zh-CN" sz="3000" b="1" dirty="0">
              <a:solidFill>
                <a:srgbClr val="990000"/>
              </a:solidFill>
              <a:ea typeface="+mj-ea"/>
            </a:endParaRPr>
          </a:p>
          <a:p>
            <a:pPr lvl="1">
              <a:defRPr/>
            </a:pPr>
            <a:r>
              <a:rPr lang="zh-CN" altLang="en-US" sz="2400" dirty="0" smtClean="0">
                <a:latin typeface="Times New Roman" panose="02020603050405020304" pitchFamily="18" charset="0"/>
                <a:cs typeface="Times New Roman" panose="02020603050405020304" pitchFamily="18" charset="0"/>
              </a:rPr>
              <a:t>航站</a:t>
            </a:r>
            <a:r>
              <a:rPr lang="zh-CN" altLang="en-US" sz="2400" dirty="0">
                <a:latin typeface="Times New Roman" panose="02020603050405020304" pitchFamily="18" charset="0"/>
                <a:cs typeface="Times New Roman" panose="02020603050405020304" pitchFamily="18" charset="0"/>
              </a:rPr>
              <a:t>楼及停车楼工程获绿色建筑三星级认证和全国首个节能建筑</a:t>
            </a:r>
            <a:r>
              <a:rPr lang="en-US" altLang="zh-CN" sz="2400" dirty="0">
                <a:latin typeface="Times New Roman" panose="02020603050405020304" pitchFamily="18" charset="0"/>
                <a:cs typeface="Times New Roman" panose="02020603050405020304" pitchFamily="18" charset="0"/>
              </a:rPr>
              <a:t>3A</a:t>
            </a:r>
            <a:r>
              <a:rPr lang="zh-CN" altLang="en-US" sz="2400" dirty="0">
                <a:latin typeface="Times New Roman" panose="02020603050405020304" pitchFamily="18" charset="0"/>
                <a:cs typeface="Times New Roman" panose="02020603050405020304" pitchFamily="18" charset="0"/>
              </a:rPr>
              <a:t>级认证</a:t>
            </a:r>
            <a:r>
              <a:rPr lang="zh-CN" altLang="en-US" sz="2400" dirty="0" smtClean="0">
                <a:latin typeface="Times New Roman" panose="02020603050405020304" pitchFamily="18" charset="0"/>
                <a:cs typeface="Times New Roman" panose="02020603050405020304" pitchFamily="18" charset="0"/>
              </a:rPr>
              <a:t>，在</a:t>
            </a:r>
            <a:r>
              <a:rPr lang="zh-CN" altLang="en-US" sz="2400" dirty="0">
                <a:latin typeface="Times New Roman" panose="02020603050405020304" pitchFamily="18" charset="0"/>
                <a:cs typeface="Times New Roman" panose="02020603050405020304" pitchFamily="18" charset="0"/>
              </a:rPr>
              <a:t>全球枢纽机场中首次</a:t>
            </a:r>
            <a:r>
              <a:rPr lang="zh-CN" altLang="en-US" sz="2400" dirty="0" smtClean="0">
                <a:latin typeface="Times New Roman" panose="02020603050405020304" pitchFamily="18" charset="0"/>
                <a:cs typeface="Times New Roman" panose="02020603050405020304" pitchFamily="18" charset="0"/>
              </a:rPr>
              <a:t>实现场</a:t>
            </a:r>
            <a:r>
              <a:rPr lang="zh-CN" altLang="en-US" sz="2400" dirty="0">
                <a:latin typeface="Times New Roman" panose="02020603050405020304" pitchFamily="18" charset="0"/>
                <a:cs typeface="Times New Roman" panose="02020603050405020304" pitchFamily="18" charset="0"/>
              </a:rPr>
              <a:t>内通用车辆</a:t>
            </a:r>
            <a:r>
              <a:rPr lang="en-US" altLang="zh-CN" sz="2400" dirty="0">
                <a:latin typeface="Times New Roman" panose="02020603050405020304" pitchFamily="18" charset="0"/>
                <a:cs typeface="Times New Roman" panose="02020603050405020304" pitchFamily="18" charset="0"/>
              </a:rPr>
              <a:t>100%</a:t>
            </a:r>
            <a:r>
              <a:rPr lang="zh-CN" altLang="en-US" sz="2400" dirty="0">
                <a:latin typeface="Times New Roman" panose="02020603050405020304" pitchFamily="18" charset="0"/>
                <a:cs typeface="Times New Roman" panose="02020603050405020304" pitchFamily="18" charset="0"/>
              </a:rPr>
              <a:t>新能源，拥有世界最大的耦合式浅层地温能利用项目，是全国可再生能源利用率最高的机场。</a:t>
            </a:r>
            <a:endParaRPr lang="en-US" altLang="zh-CN" sz="2400" dirty="0" smtClean="0">
              <a:latin typeface="Times New Roman" panose="02020603050405020304" pitchFamily="18" charset="0"/>
              <a:cs typeface="Times New Roman" panose="02020603050405020304" pitchFamily="18" charset="0"/>
            </a:endParaRPr>
          </a:p>
          <a:p>
            <a:pPr lvl="1">
              <a:defRPr/>
            </a:pPr>
            <a:endParaRPr lang="en-US" altLang="zh-CN" sz="240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t>北京大兴国际机场</a:t>
            </a:r>
          </a:p>
        </p:txBody>
      </p:sp>
    </p:spTree>
    <p:extLst>
      <p:ext uri="{BB962C8B-B14F-4D97-AF65-F5344CB8AC3E}">
        <p14:creationId xmlns:p14="http://schemas.microsoft.com/office/powerpoint/2010/main" val="327330286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4457" y="2026507"/>
            <a:ext cx="4612471" cy="3360550"/>
          </a:xfrm>
          <a:prstGeom prst="rect">
            <a:avLst/>
          </a:prstGeom>
          <a:ln>
            <a:noFill/>
          </a:ln>
          <a:effectLst>
            <a:outerShdw blurRad="190500" algn="tl" rotWithShape="0">
              <a:srgbClr val="000000">
                <a:alpha val="70000"/>
              </a:srgbClr>
            </a:outerShdw>
          </a:effectLst>
        </p:spPr>
      </p:pic>
      <p:sp>
        <p:nvSpPr>
          <p:cNvPr id="55298" name="标题 1"/>
          <p:cNvSpPr>
            <a:spLocks noGrp="1" noChangeArrowheads="1"/>
          </p:cNvSpPr>
          <p:nvPr>
            <p:ph type="title"/>
          </p:nvPr>
        </p:nvSpPr>
        <p:spPr/>
        <p:txBody>
          <a:bodyPr/>
          <a:lstStyle/>
          <a:p>
            <a:r>
              <a:rPr lang="zh-CN" altLang="en-US" dirty="0"/>
              <a:t>北京大兴国际机场</a:t>
            </a:r>
          </a:p>
        </p:txBody>
      </p:sp>
      <p:sp>
        <p:nvSpPr>
          <p:cNvPr id="55301" name="TextBox 4"/>
          <p:cNvSpPr txBox="1">
            <a:spLocks noChangeArrowheads="1"/>
          </p:cNvSpPr>
          <p:nvPr/>
        </p:nvSpPr>
        <p:spPr bwMode="auto">
          <a:xfrm>
            <a:off x="637072" y="5476170"/>
            <a:ext cx="32433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大兴国际机场交通辐射范围</a:t>
            </a:r>
          </a:p>
        </p:txBody>
      </p:sp>
      <p:sp>
        <p:nvSpPr>
          <p:cNvPr id="55303" name="TextBox 6"/>
          <p:cNvSpPr txBox="1">
            <a:spLocks noChangeArrowheads="1"/>
          </p:cNvSpPr>
          <p:nvPr/>
        </p:nvSpPr>
        <p:spPr bwMode="auto">
          <a:xfrm>
            <a:off x="5130245" y="5481955"/>
            <a:ext cx="33408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“五纵两横”交通主干网</a:t>
            </a:r>
          </a:p>
        </p:txBody>
      </p:sp>
      <p:sp>
        <p:nvSpPr>
          <p:cNvPr id="55306" name="AutoShape 8"/>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7" name="AutoShape 10"/>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8" name="AutoShape 12"/>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9" name="AutoShape 14"/>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10" name="AutoShape 16"/>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40" y="2026507"/>
            <a:ext cx="4471418" cy="33605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82809786"/>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zh-CN" altLang="en-US" dirty="0"/>
              <a:t>北京大兴国际机场</a:t>
            </a:r>
          </a:p>
        </p:txBody>
      </p:sp>
      <p:sp>
        <p:nvSpPr>
          <p:cNvPr id="55301" name="TextBox 4"/>
          <p:cNvSpPr txBox="1">
            <a:spLocks noChangeArrowheads="1"/>
          </p:cNvSpPr>
          <p:nvPr/>
        </p:nvSpPr>
        <p:spPr bwMode="auto">
          <a:xfrm>
            <a:off x="642586" y="5476170"/>
            <a:ext cx="32433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大兴国际机场双层出发高架桥</a:t>
            </a:r>
          </a:p>
        </p:txBody>
      </p:sp>
      <p:sp>
        <p:nvSpPr>
          <p:cNvPr id="55303" name="TextBox 6"/>
          <p:cNvSpPr txBox="1">
            <a:spLocks noChangeArrowheads="1"/>
          </p:cNvSpPr>
          <p:nvPr/>
        </p:nvSpPr>
        <p:spPr bwMode="auto">
          <a:xfrm>
            <a:off x="4906727" y="5481955"/>
            <a:ext cx="3775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大兴国际机场“最强大脑”西</a:t>
            </a:r>
            <a:r>
              <a:rPr lang="zh-CN" altLang="en-US" sz="1800" b="0" dirty="0" smtClean="0">
                <a:solidFill>
                  <a:srgbClr val="002060"/>
                </a:solidFill>
                <a:latin typeface="仿宋" panose="02010609060101010101" pitchFamily="49" charset="-122"/>
                <a:ea typeface="仿宋" panose="02010609060101010101" pitchFamily="49" charset="-122"/>
              </a:rPr>
              <a:t>塔台</a:t>
            </a:r>
            <a:endParaRPr lang="zh-CN" altLang="en-US" sz="1800" b="0" dirty="0">
              <a:solidFill>
                <a:srgbClr val="002060"/>
              </a:solidFill>
              <a:latin typeface="仿宋" panose="02010609060101010101" pitchFamily="49" charset="-122"/>
              <a:ea typeface="仿宋" panose="02010609060101010101" pitchFamily="49" charset="-122"/>
            </a:endParaRPr>
          </a:p>
        </p:txBody>
      </p:sp>
      <p:sp>
        <p:nvSpPr>
          <p:cNvPr id="55306" name="AutoShape 8"/>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7" name="AutoShape 10"/>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8" name="AutoShape 12"/>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9" name="AutoShape 14"/>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10" name="AutoShape 16"/>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pitchFamily="49" charset="-122"/>
              </a:defRPr>
            </a:lvl1pPr>
            <a:lvl2pPr marL="742950" indent="-285750">
              <a:spcBef>
                <a:spcPct val="20000"/>
              </a:spcBef>
              <a:buChar char="–"/>
              <a:defRPr sz="3200" b="1">
                <a:solidFill>
                  <a:srgbClr val="000000"/>
                </a:solidFill>
                <a:latin typeface="Arial" panose="020B0604020202020204" pitchFamily="34" charset="0"/>
                <a:ea typeface="楷体_GB2312" pitchFamily="49" charset="-122"/>
              </a:defRPr>
            </a:lvl2pPr>
            <a:lvl3pPr marL="1143000" indent="-228600">
              <a:spcBef>
                <a:spcPct val="20000"/>
              </a:spcBef>
              <a:buChar char="•"/>
              <a:defRPr sz="2800" b="1">
                <a:solidFill>
                  <a:srgbClr val="000000"/>
                </a:solidFill>
                <a:latin typeface="Arial" panose="020B0604020202020204" pitchFamily="34" charset="0"/>
                <a:ea typeface="楷体_GB2312" pitchFamily="49" charset="-122"/>
              </a:defRPr>
            </a:lvl3pPr>
            <a:lvl4pPr marL="1600200" indent="-228600">
              <a:spcBef>
                <a:spcPct val="20000"/>
              </a:spcBef>
              <a:buChar char="–"/>
              <a:defRPr sz="2000" b="1">
                <a:solidFill>
                  <a:srgbClr val="000000"/>
                </a:solidFill>
                <a:latin typeface="Arial" panose="020B0604020202020204" pitchFamily="34" charset="0"/>
                <a:ea typeface="楷体_GB2312" pitchFamily="49" charset="-122"/>
              </a:defRPr>
            </a:lvl4pPr>
            <a:lvl5pPr marL="2057400" indent="-228600">
              <a:spcBef>
                <a:spcPct val="20000"/>
              </a:spcBef>
              <a:buChar char="»"/>
              <a:defRPr sz="2000" b="1">
                <a:solidFill>
                  <a:srgbClr val="00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pitchFamily="49" charset="-122"/>
              </a:defRPr>
            </a:lvl9pPr>
          </a:lstStyle>
          <a:p>
            <a:pPr eaLnBrk="0" fontAlgn="base" hangingPunct="0">
              <a:spcBef>
                <a:spcPct val="0"/>
              </a:spcBef>
              <a:spcAft>
                <a:spcPct val="0"/>
              </a:spcAft>
              <a:buFontTx/>
              <a:buNone/>
            </a:pPr>
            <a:endParaRPr lang="zh-CN" altLang="en-US" sz="1800" b="0">
              <a:solidFill>
                <a:srgbClr val="FFFFFF"/>
              </a:solidFill>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2" y="1930003"/>
            <a:ext cx="4460384" cy="3551952"/>
          </a:xfrm>
          <a:prstGeom prst="rect">
            <a:avLst/>
          </a:prstGeom>
          <a:ln>
            <a:noFill/>
          </a:ln>
          <a:effectLst>
            <a:softEdge rad="112500"/>
          </a:effectLst>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4456" y="1930003"/>
            <a:ext cx="4600115" cy="3551952"/>
          </a:xfrm>
          <a:prstGeom prst="rect">
            <a:avLst/>
          </a:prstGeom>
          <a:ln>
            <a:noFill/>
          </a:ln>
          <a:effectLst>
            <a:softEdge rad="112500"/>
          </a:effectLst>
        </p:spPr>
      </p:pic>
    </p:spTree>
    <p:extLst>
      <p:ext uri="{BB962C8B-B14F-4D97-AF65-F5344CB8AC3E}">
        <p14:creationId xmlns:p14="http://schemas.microsoft.com/office/powerpoint/2010/main" val="2959278994"/>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Times New Roman" panose="02020603050405020304" pitchFamily="18" charset="0"/>
                <a:ea typeface="+mj-ea"/>
                <a:cs typeface="Times New Roman" panose="02020603050405020304" pitchFamily="18" charset="0"/>
              </a:rPr>
              <a:t>价值意义</a:t>
            </a:r>
          </a:p>
          <a:p>
            <a:pPr lvl="1">
              <a:defRPr/>
            </a:pPr>
            <a:r>
              <a:rPr lang="zh-CN" altLang="en-US" dirty="0">
                <a:latin typeface="Times New Roman" panose="02020603050405020304" pitchFamily="18" charset="0"/>
                <a:cs typeface="Times New Roman" panose="02020603050405020304" pitchFamily="18" charset="0"/>
              </a:rPr>
              <a:t>北京大兴机场与北京首都机场未来将共同打造世界首座拥有双国际枢纽的城市，两机场年旅客吞吐量将突破</a:t>
            </a:r>
            <a:r>
              <a:rPr lang="en-US" altLang="zh-CN" dirty="0">
                <a:latin typeface="Times New Roman" panose="02020603050405020304" pitchFamily="18" charset="0"/>
                <a:cs typeface="Times New Roman" panose="02020603050405020304" pitchFamily="18" charset="0"/>
              </a:rPr>
              <a:t>2.5</a:t>
            </a:r>
            <a:r>
              <a:rPr lang="zh-CN" altLang="en-US" dirty="0">
                <a:latin typeface="Times New Roman" panose="02020603050405020304" pitchFamily="18" charset="0"/>
                <a:cs typeface="Times New Roman" panose="02020603050405020304" pitchFamily="18" charset="0"/>
              </a:rPr>
              <a:t>亿人次，带动人流、物流、资金流、信息流等生产要素高效聚集，激活</a:t>
            </a:r>
            <a:r>
              <a:rPr lang="en-US" altLang="zh-CN" dirty="0">
                <a:latin typeface="Times New Roman" panose="02020603050405020304" pitchFamily="18" charset="0"/>
                <a:cs typeface="Times New Roman" panose="02020603050405020304" pitchFamily="18" charset="0"/>
              </a:rPr>
              <a:t>150</a:t>
            </a:r>
            <a:r>
              <a:rPr lang="zh-CN" altLang="en-US" dirty="0">
                <a:latin typeface="Times New Roman" panose="02020603050405020304" pitchFamily="18" charset="0"/>
                <a:cs typeface="Times New Roman" panose="02020603050405020304" pitchFamily="18" charset="0"/>
              </a:rPr>
              <a:t>平方公里的临空经济区，服务北京四个中心和雄安新区建设，为京津冀区域协调发展提供新动力。</a:t>
            </a:r>
          </a:p>
        </p:txBody>
      </p:sp>
      <p:sp>
        <p:nvSpPr>
          <p:cNvPr id="2" name="标题 1"/>
          <p:cNvSpPr>
            <a:spLocks noGrp="1"/>
          </p:cNvSpPr>
          <p:nvPr>
            <p:ph type="title"/>
          </p:nvPr>
        </p:nvSpPr>
        <p:spPr/>
        <p:txBody>
          <a:bodyPr/>
          <a:lstStyle/>
          <a:p>
            <a:r>
              <a:rPr lang="zh-CN" altLang="en-US" dirty="0"/>
              <a:t>北京大兴国际机场</a:t>
            </a:r>
          </a:p>
        </p:txBody>
      </p:sp>
    </p:spTree>
    <p:extLst>
      <p:ext uri="{BB962C8B-B14F-4D97-AF65-F5344CB8AC3E}">
        <p14:creationId xmlns:p14="http://schemas.microsoft.com/office/powerpoint/2010/main" val="199240259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2863" y="0"/>
            <a:ext cx="9186863" cy="4141788"/>
          </a:xfrm>
          <a:prstGeom prst="rect">
            <a:avLst/>
          </a:prstGeom>
          <a:noFill/>
        </p:spPr>
        <p:txBody>
          <a:bodyPr/>
          <a:lstStyle/>
          <a:p>
            <a:pPr algn="ctr" eaLnBrk="1" hangingPunct="1">
              <a:defRPr/>
            </a:pPr>
            <a:r>
              <a:rPr lang="zh-CN" altLang="en-US" sz="7200" b="1" kern="0" dirty="0">
                <a:solidFill>
                  <a:srgbClr val="000000"/>
                </a:solidFill>
                <a:latin typeface="+mj-lt"/>
                <a:ea typeface="+mj-ea"/>
                <a:cs typeface="+mj-cs"/>
              </a:rPr>
              <a:t>工程经济学</a:t>
            </a:r>
            <a:r>
              <a:rPr lang="zh-CN" altLang="en-US" sz="6600" b="1" kern="0" dirty="0">
                <a:solidFill>
                  <a:srgbClr val="000000"/>
                </a:solidFill>
                <a:latin typeface="+mj-lt"/>
                <a:ea typeface="+mj-ea"/>
                <a:cs typeface="+mj-cs"/>
              </a:rPr>
              <a:t/>
            </a:r>
            <a:br>
              <a:rPr lang="zh-CN" altLang="en-US" sz="6600" b="1" kern="0" dirty="0">
                <a:solidFill>
                  <a:srgbClr val="000000"/>
                </a:solidFill>
                <a:latin typeface="+mj-lt"/>
                <a:ea typeface="+mj-ea"/>
                <a:cs typeface="+mj-cs"/>
              </a:rPr>
            </a:br>
            <a:r>
              <a:rPr lang="zh-CN" altLang="en-US" sz="4400" b="1" kern="0" dirty="0">
                <a:solidFill>
                  <a:srgbClr val="000000"/>
                </a:solidFill>
                <a:latin typeface="+mj-lt"/>
                <a:ea typeface="+mj-ea"/>
                <a:cs typeface="+mj-cs"/>
              </a:rPr>
              <a:t/>
            </a:r>
            <a:br>
              <a:rPr lang="zh-CN" altLang="en-US" sz="4400" b="1" kern="0" dirty="0">
                <a:solidFill>
                  <a:srgbClr val="000000"/>
                </a:solidFill>
                <a:latin typeface="+mj-lt"/>
                <a:ea typeface="+mj-ea"/>
                <a:cs typeface="+mj-cs"/>
              </a:rPr>
            </a:br>
            <a:r>
              <a:rPr lang="zh-CN" altLang="en-US" sz="4000" b="1" kern="0" dirty="0">
                <a:solidFill>
                  <a:srgbClr val="000000"/>
                </a:solidFill>
                <a:latin typeface="+mj-lt"/>
                <a:ea typeface="+mj-ea"/>
                <a:cs typeface="+mj-cs"/>
              </a:rPr>
              <a:t>经济效果评价的指标和方法</a:t>
            </a:r>
            <a:endParaRPr lang="zh-CN" altLang="en-US" sz="4000" b="1" u="sng" kern="0" dirty="0">
              <a:solidFill>
                <a:srgbClr val="000000"/>
              </a:solidFill>
              <a:latin typeface="+mj-lt"/>
              <a:ea typeface="+mj-ea"/>
              <a:cs typeface="+mj-cs"/>
            </a:endParaRPr>
          </a:p>
        </p:txBody>
      </p:sp>
      <p:sp>
        <p:nvSpPr>
          <p:cNvPr id="3" name="Rectangle 3"/>
          <p:cNvSpPr txBox="1">
            <a:spLocks noChangeArrowheads="1"/>
          </p:cNvSpPr>
          <p:nvPr/>
        </p:nvSpPr>
        <p:spPr>
          <a:xfrm>
            <a:off x="733424" y="4510088"/>
            <a:ext cx="7634287" cy="1373188"/>
          </a:xfrm>
          <a:prstGeom prst="rect">
            <a:avLst/>
          </a:prstGeom>
          <a:ln>
            <a:noFill/>
          </a:ln>
        </p:spPr>
        <p:txBody>
          <a:bodyPr/>
          <a:lstStyle/>
          <a:p>
            <a:pPr algn="ctr" eaLnBrk="1" hangingPunct="1">
              <a:lnSpc>
                <a:spcPct val="90000"/>
              </a:lnSpc>
              <a:spcBef>
                <a:spcPct val="20000"/>
              </a:spcBef>
              <a:defRPr/>
            </a:pPr>
            <a:r>
              <a:rPr lang="zh-CN" altLang="en-US" b="1" kern="0" dirty="0" smtClean="0">
                <a:solidFill>
                  <a:srgbClr val="000000"/>
                </a:solidFill>
                <a:latin typeface="+mn-lt"/>
                <a:ea typeface="+mn-ea"/>
              </a:rPr>
              <a:t>唐文哲 教授</a:t>
            </a:r>
            <a:endParaRPr lang="en-US" altLang="zh-CN" b="1" kern="0" dirty="0" smtClean="0">
              <a:solidFill>
                <a:srgbClr val="000000"/>
              </a:solidFill>
              <a:latin typeface="+mn-lt"/>
              <a:ea typeface="+mn-ea"/>
            </a:endParaRPr>
          </a:p>
          <a:p>
            <a:pPr marL="342900" indent="-342900" algn="ctr" eaLnBrk="1" hangingPunct="1">
              <a:lnSpc>
                <a:spcPct val="90000"/>
              </a:lnSpc>
              <a:spcBef>
                <a:spcPct val="20000"/>
              </a:spcBef>
              <a:buFontTx/>
              <a:buChar char="•"/>
              <a:defRPr/>
            </a:pPr>
            <a:r>
              <a:rPr lang="zh-CN" altLang="en-US" b="1" kern="0" dirty="0" smtClean="0">
                <a:solidFill>
                  <a:srgbClr val="000000"/>
                </a:solidFill>
                <a:latin typeface="+mn-lt"/>
                <a:ea typeface="+mn-ea"/>
              </a:rPr>
              <a:t>清华大学土木水利学院</a:t>
            </a:r>
            <a:endParaRPr lang="zh-CN" altLang="en-US" b="1" kern="0" dirty="0">
              <a:solidFill>
                <a:srgbClr val="000000"/>
              </a:solidFill>
              <a:latin typeface="+mn-lt"/>
              <a:ea typeface="+mn-ea"/>
            </a:endParaRPr>
          </a:p>
          <a:p>
            <a:pPr marL="342900" indent="-342900" algn="ctr" eaLnBrk="1" hangingPunct="1">
              <a:lnSpc>
                <a:spcPct val="90000"/>
              </a:lnSpc>
              <a:spcBef>
                <a:spcPct val="20000"/>
              </a:spcBef>
              <a:buFontTx/>
              <a:buChar char="•"/>
              <a:defRPr/>
            </a:pPr>
            <a:r>
              <a:rPr lang="en-US" altLang="zh-CN" b="1" kern="0" dirty="0" smtClean="0">
                <a:solidFill>
                  <a:srgbClr val="000000"/>
                </a:solidFill>
                <a:latin typeface="+mn-lt"/>
                <a:ea typeface="+mn-ea"/>
              </a:rPr>
              <a:t>2019</a:t>
            </a:r>
            <a:r>
              <a:rPr lang="zh-CN" altLang="en-US" b="1" kern="0" dirty="0" smtClean="0">
                <a:solidFill>
                  <a:srgbClr val="000000"/>
                </a:solidFill>
                <a:latin typeface="+mn-lt"/>
                <a:ea typeface="+mn-ea"/>
              </a:rPr>
              <a:t>年</a:t>
            </a:r>
            <a:r>
              <a:rPr lang="en-US" altLang="zh-CN" b="1" kern="0" dirty="0">
                <a:solidFill>
                  <a:srgbClr val="000000"/>
                </a:solidFill>
                <a:latin typeface="+mn-lt"/>
                <a:ea typeface="+mn-ea"/>
              </a:rPr>
              <a:t>10</a:t>
            </a:r>
            <a:r>
              <a:rPr lang="zh-CN" altLang="en-US" b="1" kern="0" dirty="0" smtClean="0">
                <a:solidFill>
                  <a:srgbClr val="000000"/>
                </a:solidFill>
                <a:latin typeface="+mn-lt"/>
                <a:ea typeface="+mn-ea"/>
              </a:rPr>
              <a:t>月</a:t>
            </a:r>
            <a:r>
              <a:rPr lang="en-US" altLang="zh-CN" b="1" kern="0" dirty="0" smtClean="0">
                <a:solidFill>
                  <a:srgbClr val="000000"/>
                </a:solidFill>
                <a:latin typeface="+mn-lt"/>
                <a:ea typeface="+mn-ea"/>
              </a:rPr>
              <a:t>24</a:t>
            </a:r>
            <a:r>
              <a:rPr lang="zh-CN" altLang="en-US" b="1" kern="0" dirty="0" smtClean="0">
                <a:solidFill>
                  <a:srgbClr val="000000"/>
                </a:solidFill>
                <a:latin typeface="+mn-lt"/>
                <a:ea typeface="+mn-ea"/>
              </a:rPr>
              <a:t>日</a:t>
            </a:r>
            <a:endParaRPr lang="zh-CN" altLang="en-US" b="1" kern="0" dirty="0">
              <a:solidFill>
                <a:srgbClr val="000000"/>
              </a:solidFill>
              <a:latin typeface="+mn-lt"/>
              <a:ea typeface="+mn-ea"/>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pPr eaLnBrk="1" hangingPunct="1"/>
            <a:r>
              <a:rPr lang="zh-CN" altLang="en-US" smtClean="0"/>
              <a:t>本讲内容</a:t>
            </a:r>
          </a:p>
        </p:txBody>
      </p:sp>
      <p:sp>
        <p:nvSpPr>
          <p:cNvPr id="596995" name="Rectangle 3"/>
          <p:cNvSpPr>
            <a:spLocks noGrp="1" noChangeArrowheads="1"/>
          </p:cNvSpPr>
          <p:nvPr>
            <p:ph type="body" idx="1"/>
          </p:nvPr>
        </p:nvSpPr>
        <p:spPr/>
        <p:txBody>
          <a:bodyPr/>
          <a:lstStyle/>
          <a:p>
            <a:pPr eaLnBrk="1" hangingPunct="1"/>
            <a:r>
              <a:rPr lang="zh-CN" altLang="en-US" b="1" smtClean="0"/>
              <a:t>经济效果评价是工程经济分析的核心内容</a:t>
            </a:r>
          </a:p>
          <a:p>
            <a:pPr eaLnBrk="1" hangingPunct="1"/>
            <a:r>
              <a:rPr lang="zh-CN" altLang="en-US" b="1" smtClean="0"/>
              <a:t>经济效果评价的基本指标和方法</a:t>
            </a:r>
          </a:p>
          <a:p>
            <a:pPr lvl="1" eaLnBrk="1" hangingPunct="1">
              <a:lnSpc>
                <a:spcPct val="120000"/>
              </a:lnSpc>
            </a:pPr>
            <a:r>
              <a:rPr lang="en-US" altLang="zh-CN" b="1" smtClean="0"/>
              <a:t>1. </a:t>
            </a:r>
            <a:r>
              <a:rPr lang="zh-CN" altLang="en-US" b="1" smtClean="0"/>
              <a:t>经济效果评价的基本思路</a:t>
            </a:r>
            <a:endParaRPr lang="en-US" altLang="zh-CN" b="1" smtClean="0"/>
          </a:p>
          <a:p>
            <a:pPr lvl="1" eaLnBrk="1" hangingPunct="1">
              <a:lnSpc>
                <a:spcPct val="120000"/>
              </a:lnSpc>
            </a:pPr>
            <a:r>
              <a:rPr lang="en-US" altLang="zh-CN" b="1" smtClean="0"/>
              <a:t>2.</a:t>
            </a:r>
            <a:r>
              <a:rPr lang="zh-CN" altLang="en-US" b="1" smtClean="0"/>
              <a:t>经济效果评价指标体系的构成</a:t>
            </a:r>
            <a:endParaRPr lang="en-US" altLang="zh-CN" b="1" smtClean="0"/>
          </a:p>
          <a:p>
            <a:pPr lvl="1" eaLnBrk="1" hangingPunct="1">
              <a:lnSpc>
                <a:spcPct val="120000"/>
              </a:lnSpc>
              <a:buFontTx/>
              <a:buNone/>
            </a:pPr>
            <a:r>
              <a:rPr lang="zh-CN" altLang="en-US" b="1" smtClean="0"/>
              <a:t>（其中</a:t>
            </a:r>
            <a:r>
              <a:rPr lang="en-US" altLang="zh-CN" b="1" smtClean="0"/>
              <a:t>NPV</a:t>
            </a:r>
            <a:r>
              <a:rPr lang="zh-CN" altLang="en-US" b="1" smtClean="0"/>
              <a:t>，</a:t>
            </a:r>
            <a:r>
              <a:rPr lang="en-US" altLang="zh-CN" b="1" smtClean="0"/>
              <a:t>IRR</a:t>
            </a:r>
            <a:r>
              <a:rPr lang="zh-CN" altLang="en-US" b="1" smtClean="0"/>
              <a:t>为重点）</a:t>
            </a:r>
          </a:p>
          <a:p>
            <a:pPr eaLnBrk="1" hangingPunct="1"/>
            <a:endParaRPr lang="zh-CN" altLang="en-US" b="1"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0" fill="hold">
                                          <p:stCondLst>
                                            <p:cond delay="0"/>
                                          </p:stCondLst>
                                        </p:cTn>
                                        <p:tgtEl>
                                          <p:spTgt spid="596994">
                                            <p:txEl>
                                              <p:charRg st="4294967295" end="4294967295"/>
                                            </p:txEl>
                                          </p:spTgt>
                                        </p:tgtEl>
                                        <p:attrNameLst>
                                          <p:attrName>style.visibility</p:attrName>
                                        </p:attrNameLst>
                                      </p:cBhvr>
                                      <p:to>
                                        <p:strVal val="visible"/>
                                      </p:to>
                                    </p:set>
                                    <p:anim calcmode="lin" valueType="num">
                                      <p:cBhvr>
                                        <p:cTn id="7" dur="1000" fill="hold"/>
                                        <p:tgtEl>
                                          <p:spTgt spid="596994">
                                            <p:txEl>
                                              <p:charRg st="4294967295" end="4294967295"/>
                                            </p:txEl>
                                          </p:spTgt>
                                        </p:tgtEl>
                                        <p:attrNameLst>
                                          <p:attrName>ppt_x</p:attrName>
                                        </p:attrNameLst>
                                      </p:cBhvr>
                                      <p:tavLst>
                                        <p:tav tm="0">
                                          <p:val>
                                            <p:strVal val="#ppt_x-.2"/>
                                          </p:val>
                                        </p:tav>
                                        <p:tav tm="100000">
                                          <p:val>
                                            <p:strVal val="#ppt_x"/>
                                          </p:val>
                                        </p:tav>
                                      </p:tavLst>
                                    </p:anim>
                                    <p:anim calcmode="lin" valueType="num">
                                      <p:cBhvr>
                                        <p:cTn id="8" dur="1000" fill="hold"/>
                                        <p:tgtEl>
                                          <p:spTgt spid="596994">
                                            <p:txEl>
                                              <p:charRg st="4294967295" end="4294967295"/>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96994">
                                            <p:txEl>
                                              <p:charRg st="4294967295" end="4294967295"/>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596995">
                                            <p:txEl>
                                              <p:pRg st="0" end="0"/>
                                            </p:txEl>
                                          </p:spTgt>
                                        </p:tgtEl>
                                        <p:attrNameLst>
                                          <p:attrName>style.visibility</p:attrName>
                                        </p:attrNameLst>
                                      </p:cBhvr>
                                      <p:to>
                                        <p:strVal val="visible"/>
                                      </p:to>
                                    </p:set>
                                    <p:animEffect transition="in" filter="fade">
                                      <p:cBhvr>
                                        <p:cTn id="14" dur="500"/>
                                        <p:tgtEl>
                                          <p:spTgt spid="596995">
                                            <p:txEl>
                                              <p:pRg st="0" end="0"/>
                                            </p:txEl>
                                          </p:spTgt>
                                        </p:tgtEl>
                                      </p:cBhvr>
                                    </p:animEffect>
                                    <p:anim calcmode="lin" valueType="num">
                                      <p:cBhvr>
                                        <p:cTn id="15" dur="500" fill="hold"/>
                                        <p:tgtEl>
                                          <p:spTgt spid="596995">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59699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596995">
                                            <p:txEl>
                                              <p:pRg st="1" end="1"/>
                                            </p:txEl>
                                          </p:spTgt>
                                        </p:tgtEl>
                                        <p:attrNameLst>
                                          <p:attrName>style.visibility</p:attrName>
                                        </p:attrNameLst>
                                      </p:cBhvr>
                                      <p:to>
                                        <p:strVal val="visible"/>
                                      </p:to>
                                    </p:set>
                                    <p:animEffect transition="in" filter="fade">
                                      <p:cBhvr>
                                        <p:cTn id="21" dur="500"/>
                                        <p:tgtEl>
                                          <p:spTgt spid="596995">
                                            <p:txEl>
                                              <p:pRg st="1" end="1"/>
                                            </p:txEl>
                                          </p:spTgt>
                                        </p:tgtEl>
                                      </p:cBhvr>
                                    </p:animEffect>
                                    <p:anim calcmode="lin" valueType="num">
                                      <p:cBhvr>
                                        <p:cTn id="22" dur="500" fill="hold"/>
                                        <p:tgtEl>
                                          <p:spTgt spid="596995">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596995">
                                            <p:txEl>
                                              <p:pRg st="1" end="1"/>
                                            </p:txEl>
                                          </p:spTgt>
                                        </p:tgtEl>
                                        <p:attrNameLst>
                                          <p:attrName>ppt_y</p:attrName>
                                        </p:attrNameLst>
                                      </p:cBhvr>
                                      <p:tavLst>
                                        <p:tav tm="0">
                                          <p:val>
                                            <p:strVal val="#ppt_y+.05"/>
                                          </p:val>
                                        </p:tav>
                                        <p:tav tm="100000">
                                          <p:val>
                                            <p:strVal val="#ppt_y"/>
                                          </p:val>
                                        </p:tav>
                                      </p:tavLst>
                                    </p:anim>
                                  </p:childTnLst>
                                </p:cTn>
                              </p:par>
                              <p:par>
                                <p:cTn id="24" presetID="44" presetClass="entr" presetSubtype="0" fill="hold" grpId="0" nodeType="withEffect">
                                  <p:stCondLst>
                                    <p:cond delay="0"/>
                                  </p:stCondLst>
                                  <p:childTnLst>
                                    <p:set>
                                      <p:cBhvr>
                                        <p:cTn id="25" dur="0" fill="hold">
                                          <p:stCondLst>
                                            <p:cond delay="0"/>
                                          </p:stCondLst>
                                        </p:cTn>
                                        <p:tgtEl>
                                          <p:spTgt spid="596995">
                                            <p:txEl>
                                              <p:pRg st="2" end="2"/>
                                            </p:txEl>
                                          </p:spTgt>
                                        </p:tgtEl>
                                        <p:attrNameLst>
                                          <p:attrName>style.visibility</p:attrName>
                                        </p:attrNameLst>
                                      </p:cBhvr>
                                      <p:to>
                                        <p:strVal val="visible"/>
                                      </p:to>
                                    </p:set>
                                    <p:animEffect transition="in" filter="fade">
                                      <p:cBhvr>
                                        <p:cTn id="26" dur="500"/>
                                        <p:tgtEl>
                                          <p:spTgt spid="596995">
                                            <p:txEl>
                                              <p:pRg st="2" end="2"/>
                                            </p:txEl>
                                          </p:spTgt>
                                        </p:tgtEl>
                                      </p:cBhvr>
                                    </p:animEffect>
                                    <p:anim calcmode="lin" valueType="num">
                                      <p:cBhvr>
                                        <p:cTn id="27" dur="500" fill="hold"/>
                                        <p:tgtEl>
                                          <p:spTgt spid="596995">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596995">
                                            <p:txEl>
                                              <p:pRg st="2" end="2"/>
                                            </p:txEl>
                                          </p:spTgt>
                                        </p:tgtEl>
                                        <p:attrNameLst>
                                          <p:attrName>ppt_y</p:attrName>
                                        </p:attrNameLst>
                                      </p:cBhvr>
                                      <p:tavLst>
                                        <p:tav tm="0">
                                          <p:val>
                                            <p:strVal val="#ppt_y+.05"/>
                                          </p:val>
                                        </p:tav>
                                        <p:tav tm="100000">
                                          <p:val>
                                            <p:strVal val="#ppt_y"/>
                                          </p:val>
                                        </p:tav>
                                      </p:tavLst>
                                    </p:anim>
                                  </p:childTnLst>
                                </p:cTn>
                              </p:par>
                              <p:par>
                                <p:cTn id="29" presetID="44" presetClass="entr" presetSubtype="0" fill="hold" grpId="0" nodeType="withEffect">
                                  <p:stCondLst>
                                    <p:cond delay="0"/>
                                  </p:stCondLst>
                                  <p:childTnLst>
                                    <p:set>
                                      <p:cBhvr>
                                        <p:cTn id="30" dur="0" fill="hold">
                                          <p:stCondLst>
                                            <p:cond delay="0"/>
                                          </p:stCondLst>
                                        </p:cTn>
                                        <p:tgtEl>
                                          <p:spTgt spid="596995">
                                            <p:txEl>
                                              <p:pRg st="3" end="3"/>
                                            </p:txEl>
                                          </p:spTgt>
                                        </p:tgtEl>
                                        <p:attrNameLst>
                                          <p:attrName>style.visibility</p:attrName>
                                        </p:attrNameLst>
                                      </p:cBhvr>
                                      <p:to>
                                        <p:strVal val="visible"/>
                                      </p:to>
                                    </p:set>
                                    <p:animEffect transition="in" filter="fade">
                                      <p:cBhvr>
                                        <p:cTn id="31" dur="500"/>
                                        <p:tgtEl>
                                          <p:spTgt spid="596995">
                                            <p:txEl>
                                              <p:pRg st="3" end="3"/>
                                            </p:txEl>
                                          </p:spTgt>
                                        </p:tgtEl>
                                      </p:cBhvr>
                                    </p:animEffect>
                                    <p:anim calcmode="lin" valueType="num">
                                      <p:cBhvr>
                                        <p:cTn id="32" dur="500" fill="hold"/>
                                        <p:tgtEl>
                                          <p:spTgt spid="596995">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596995">
                                            <p:txEl>
                                              <p:pRg st="3" end="3"/>
                                            </p:txEl>
                                          </p:spTgt>
                                        </p:tgtEl>
                                        <p:attrNameLst>
                                          <p:attrName>ppt_y</p:attrName>
                                        </p:attrNameLst>
                                      </p:cBhvr>
                                      <p:tavLst>
                                        <p:tav tm="0">
                                          <p:val>
                                            <p:strVal val="#ppt_y+.05"/>
                                          </p:val>
                                        </p:tav>
                                        <p:tav tm="100000">
                                          <p:val>
                                            <p:strVal val="#ppt_y"/>
                                          </p:val>
                                        </p:tav>
                                      </p:tavLst>
                                    </p:anim>
                                  </p:childTnLst>
                                </p:cTn>
                              </p:par>
                              <p:par>
                                <p:cTn id="34" presetID="44" presetClass="entr" presetSubtype="0" fill="hold" grpId="0" nodeType="withEffect">
                                  <p:stCondLst>
                                    <p:cond delay="0"/>
                                  </p:stCondLst>
                                  <p:childTnLst>
                                    <p:set>
                                      <p:cBhvr>
                                        <p:cTn id="35" dur="0" fill="hold">
                                          <p:stCondLst>
                                            <p:cond delay="0"/>
                                          </p:stCondLst>
                                        </p:cTn>
                                        <p:tgtEl>
                                          <p:spTgt spid="596995">
                                            <p:txEl>
                                              <p:pRg st="4" end="4"/>
                                            </p:txEl>
                                          </p:spTgt>
                                        </p:tgtEl>
                                        <p:attrNameLst>
                                          <p:attrName>style.visibility</p:attrName>
                                        </p:attrNameLst>
                                      </p:cBhvr>
                                      <p:to>
                                        <p:strVal val="visible"/>
                                      </p:to>
                                    </p:set>
                                    <p:animEffect transition="in" filter="fade">
                                      <p:cBhvr>
                                        <p:cTn id="36" dur="500"/>
                                        <p:tgtEl>
                                          <p:spTgt spid="596995">
                                            <p:txEl>
                                              <p:pRg st="4" end="4"/>
                                            </p:txEl>
                                          </p:spTgt>
                                        </p:tgtEl>
                                      </p:cBhvr>
                                    </p:animEffect>
                                    <p:anim calcmode="lin" valueType="num">
                                      <p:cBhvr>
                                        <p:cTn id="37" dur="500" fill="hold"/>
                                        <p:tgtEl>
                                          <p:spTgt spid="596995">
                                            <p:txEl>
                                              <p:pRg st="4" end="4"/>
                                            </p:txEl>
                                          </p:spTgt>
                                        </p:tgtEl>
                                        <p:attrNameLst>
                                          <p:attrName>ppt_x</p:attrName>
                                        </p:attrNameLst>
                                      </p:cBhvr>
                                      <p:tavLst>
                                        <p:tav tm="0">
                                          <p:val>
                                            <p:strVal val="#ppt_x"/>
                                          </p:val>
                                        </p:tav>
                                        <p:tav tm="100000">
                                          <p:val>
                                            <p:strVal val="#ppt_x"/>
                                          </p:val>
                                        </p:tav>
                                      </p:tavLst>
                                    </p:anim>
                                    <p:anim calcmode="lin" valueType="num">
                                      <p:cBhvr>
                                        <p:cTn id="38" dur="500" fill="hold"/>
                                        <p:tgtEl>
                                          <p:spTgt spid="596995">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4" grpId="0"/>
      <p:bldP spid="5969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82575" y="12700"/>
            <a:ext cx="8861425" cy="1181100"/>
          </a:xfrm>
        </p:spPr>
        <p:txBody>
          <a:bodyPr/>
          <a:lstStyle/>
          <a:p>
            <a:pPr eaLnBrk="1" hangingPunct="1"/>
            <a:r>
              <a:rPr lang="zh-CN" altLang="en-US" smtClean="0"/>
              <a:t>经济效果评价的基本思路</a:t>
            </a:r>
            <a:endParaRPr lang="en-US" altLang="zh-CN" smtClean="0"/>
          </a:p>
        </p:txBody>
      </p:sp>
      <p:sp>
        <p:nvSpPr>
          <p:cNvPr id="602115" name="Rectangle 3"/>
          <p:cNvSpPr>
            <a:spLocks noGrp="1" noChangeArrowheads="1"/>
          </p:cNvSpPr>
          <p:nvPr>
            <p:ph type="body" idx="1"/>
          </p:nvPr>
        </p:nvSpPr>
        <p:spPr/>
        <p:txBody>
          <a:bodyPr/>
          <a:lstStyle/>
          <a:p>
            <a:pPr eaLnBrk="1" hangingPunct="1"/>
            <a:r>
              <a:rPr lang="zh-CN" altLang="en-US" sz="3400" b="1" dirty="0" smtClean="0"/>
              <a:t>成本效益分析 </a:t>
            </a:r>
            <a:r>
              <a:rPr lang="en-US" altLang="zh-CN" sz="3400" b="1" dirty="0" smtClean="0"/>
              <a:t>Benefit-Cost Analysis (BCA)</a:t>
            </a:r>
          </a:p>
          <a:p>
            <a:pPr eaLnBrk="1" hangingPunct="1"/>
            <a:r>
              <a:rPr lang="en-US" altLang="zh-CN" sz="3400" b="1" dirty="0" smtClean="0"/>
              <a:t>BCA</a:t>
            </a:r>
            <a:r>
              <a:rPr lang="zh-CN" altLang="en-US" sz="3400" b="1" dirty="0" smtClean="0"/>
              <a:t>的本质：效益与成本的比较</a:t>
            </a:r>
          </a:p>
          <a:p>
            <a:pPr lvl="1" algn="ctr" eaLnBrk="1" hangingPunct="1">
              <a:buFontTx/>
              <a:buNone/>
            </a:pPr>
            <a:r>
              <a:rPr lang="zh-CN" altLang="en-US" sz="3000" b="1" dirty="0" smtClean="0"/>
              <a:t>效益</a:t>
            </a:r>
            <a:r>
              <a:rPr lang="zh-CN" altLang="en-US" sz="3200" b="1" dirty="0" smtClean="0"/>
              <a:t>－成本    </a:t>
            </a:r>
            <a:r>
              <a:rPr lang="en-US" altLang="zh-CN" sz="3200" b="1" dirty="0" smtClean="0"/>
              <a:t>&gt;0</a:t>
            </a:r>
          </a:p>
          <a:p>
            <a:pPr lvl="1" algn="ctr" eaLnBrk="1" hangingPunct="1">
              <a:buFontTx/>
              <a:buNone/>
            </a:pPr>
            <a:r>
              <a:rPr lang="zh-CN" altLang="en-US" sz="3000" b="1" dirty="0" smtClean="0"/>
              <a:t>效益</a:t>
            </a:r>
            <a:r>
              <a:rPr lang="en-US" altLang="zh-CN" sz="3200" b="1" dirty="0" smtClean="0"/>
              <a:t>/</a:t>
            </a:r>
            <a:r>
              <a:rPr lang="zh-CN" altLang="en-US" sz="3200" b="1" dirty="0" smtClean="0"/>
              <a:t>成本       </a:t>
            </a:r>
            <a:r>
              <a:rPr lang="en-US" altLang="zh-CN" sz="3200" b="1" dirty="0" smtClean="0"/>
              <a:t>&gt;1</a:t>
            </a:r>
          </a:p>
          <a:p>
            <a:pPr lvl="1" algn="ctr" eaLnBrk="1" hangingPunct="1">
              <a:buFontTx/>
              <a:buNone/>
            </a:pPr>
            <a:endParaRPr lang="en-US" altLang="zh-CN" sz="3200" b="1" dirty="0" smtClean="0"/>
          </a:p>
          <a:p>
            <a:pPr eaLnBrk="1" hangingPunct="1"/>
            <a:r>
              <a:rPr lang="zh-CN" altLang="en-US" sz="3600" b="1" dirty="0" smtClean="0"/>
              <a:t>关键点：效益和成本发生在不同时间点上</a:t>
            </a:r>
          </a:p>
          <a:p>
            <a:pPr lvl="1" eaLnBrk="1" hangingPunct="1"/>
            <a:r>
              <a:rPr lang="zh-CN" altLang="en-US" sz="3000" b="1" dirty="0" smtClean="0"/>
              <a:t>静态分析：不考虑资金的时间价值</a:t>
            </a:r>
          </a:p>
          <a:p>
            <a:pPr lvl="1" eaLnBrk="1" hangingPunct="1"/>
            <a:r>
              <a:rPr lang="zh-CN" altLang="en-US" sz="3000" b="1" dirty="0" smtClean="0"/>
              <a:t>动态分析：考虑资金的时间价值</a:t>
            </a:r>
          </a:p>
          <a:p>
            <a:pPr lvl="1" eaLnBrk="1" hangingPunct="1"/>
            <a:endParaRPr lang="zh-CN" altLang="en-US" sz="30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2115">
                                            <p:txEl>
                                              <p:pRg st="5" end="5"/>
                                            </p:txEl>
                                          </p:spTgt>
                                        </p:tgtEl>
                                        <p:attrNameLst>
                                          <p:attrName>style.visibility</p:attrName>
                                        </p:attrNameLst>
                                      </p:cBhvr>
                                      <p:to>
                                        <p:strVal val="visible"/>
                                      </p:to>
                                    </p:set>
                                    <p:animEffect transition="in" filter="blinds(horizontal)">
                                      <p:cBhvr>
                                        <p:cTn id="7" dur="500"/>
                                        <p:tgtEl>
                                          <p:spTgt spid="60211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2115">
                                            <p:txEl>
                                              <p:pRg st="6" end="6"/>
                                            </p:txEl>
                                          </p:spTgt>
                                        </p:tgtEl>
                                        <p:attrNameLst>
                                          <p:attrName>style.visibility</p:attrName>
                                        </p:attrNameLst>
                                      </p:cBhvr>
                                      <p:to>
                                        <p:strVal val="visible"/>
                                      </p:to>
                                    </p:set>
                                    <p:animEffect transition="in" filter="blinds(horizontal)">
                                      <p:cBhvr>
                                        <p:cTn id="10" dur="500"/>
                                        <p:tgtEl>
                                          <p:spTgt spid="602115">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2115">
                                            <p:txEl>
                                              <p:pRg st="7" end="7"/>
                                            </p:txEl>
                                          </p:spTgt>
                                        </p:tgtEl>
                                        <p:attrNameLst>
                                          <p:attrName>style.visibility</p:attrName>
                                        </p:attrNameLst>
                                      </p:cBhvr>
                                      <p:to>
                                        <p:strVal val="visible"/>
                                      </p:to>
                                    </p:set>
                                    <p:animEffect transition="in" filter="blinds(horizontal)">
                                      <p:cBhvr>
                                        <p:cTn id="13" dur="500"/>
                                        <p:tgtEl>
                                          <p:spTgt spid="6021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mtClean="0"/>
              <a:t>一个简单的投资项目</a:t>
            </a:r>
          </a:p>
        </p:txBody>
      </p:sp>
      <p:sp>
        <p:nvSpPr>
          <p:cNvPr id="10243" name="Rectangle 3"/>
          <p:cNvSpPr>
            <a:spLocks noGrp="1" noChangeArrowheads="1"/>
          </p:cNvSpPr>
          <p:nvPr>
            <p:ph type="body" idx="1"/>
          </p:nvPr>
        </p:nvSpPr>
        <p:spPr/>
        <p:txBody>
          <a:bodyPr/>
          <a:lstStyle/>
          <a:p>
            <a:pPr eaLnBrk="1" hangingPunct="1"/>
            <a:r>
              <a:rPr lang="zh-CN" altLang="en-US" b="1" smtClean="0"/>
              <a:t>打算在五道口买房投资。看重了一套</a:t>
            </a:r>
            <a:r>
              <a:rPr lang="en-US" altLang="zh-CN" b="1" smtClean="0"/>
              <a:t>120</a:t>
            </a:r>
            <a:r>
              <a:rPr lang="zh-CN" altLang="en-US" b="1" smtClean="0"/>
              <a:t>平方米的二手房，房价</a:t>
            </a:r>
            <a:r>
              <a:rPr lang="en-US" altLang="zh-CN" b="1" smtClean="0"/>
              <a:t>120</a:t>
            </a:r>
            <a:r>
              <a:rPr lang="zh-CN" altLang="en-US" b="1" smtClean="0"/>
              <a:t>万，月租金</a:t>
            </a:r>
            <a:r>
              <a:rPr lang="en-US" altLang="zh-CN" b="1" smtClean="0"/>
              <a:t>6000</a:t>
            </a:r>
            <a:r>
              <a:rPr lang="zh-CN" altLang="en-US" b="1" smtClean="0"/>
              <a:t>元，</a:t>
            </a:r>
            <a:r>
              <a:rPr lang="en-US" altLang="zh-CN" b="1" smtClean="0"/>
              <a:t>20</a:t>
            </a:r>
            <a:r>
              <a:rPr lang="zh-CN" altLang="en-US" b="1" smtClean="0"/>
              <a:t>年后卖出，预计升值</a:t>
            </a:r>
            <a:r>
              <a:rPr lang="en-US" altLang="zh-CN" b="1" smtClean="0"/>
              <a:t>100%</a:t>
            </a:r>
            <a:r>
              <a:rPr lang="zh-CN" altLang="en-US" b="1" smtClean="0"/>
              <a:t>。请问这笔投资值得么？</a:t>
            </a:r>
          </a:p>
        </p:txBody>
      </p:sp>
      <p:sp>
        <p:nvSpPr>
          <p:cNvPr id="611333" name="Line 5"/>
          <p:cNvSpPr>
            <a:spLocks noChangeShapeType="1"/>
          </p:cNvSpPr>
          <p:nvPr/>
        </p:nvSpPr>
        <p:spPr bwMode="auto">
          <a:xfrm>
            <a:off x="1504950" y="4749800"/>
            <a:ext cx="6956425"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11337" name="Text Box 9"/>
          <p:cNvSpPr txBox="1">
            <a:spLocks noChangeArrowheads="1"/>
          </p:cNvSpPr>
          <p:nvPr/>
        </p:nvSpPr>
        <p:spPr bwMode="auto">
          <a:xfrm>
            <a:off x="450850" y="5511800"/>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p>
        </p:txBody>
      </p:sp>
      <p:sp>
        <p:nvSpPr>
          <p:cNvPr id="611338" name="Text Box 10"/>
          <p:cNvSpPr txBox="1">
            <a:spLocks noChangeArrowheads="1"/>
          </p:cNvSpPr>
          <p:nvPr/>
        </p:nvSpPr>
        <p:spPr bwMode="auto">
          <a:xfrm>
            <a:off x="1095375" y="47498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611339" name="Text Box 11"/>
          <p:cNvSpPr txBox="1">
            <a:spLocks noChangeArrowheads="1"/>
          </p:cNvSpPr>
          <p:nvPr/>
        </p:nvSpPr>
        <p:spPr bwMode="auto">
          <a:xfrm>
            <a:off x="1892300" y="47625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611340" name="Text Box 12"/>
          <p:cNvSpPr txBox="1">
            <a:spLocks noChangeArrowheads="1"/>
          </p:cNvSpPr>
          <p:nvPr/>
        </p:nvSpPr>
        <p:spPr bwMode="auto">
          <a:xfrm>
            <a:off x="2597150" y="47625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611341" name="Text Box 13"/>
          <p:cNvSpPr txBox="1">
            <a:spLocks noChangeArrowheads="1"/>
          </p:cNvSpPr>
          <p:nvPr/>
        </p:nvSpPr>
        <p:spPr bwMode="auto">
          <a:xfrm>
            <a:off x="3349625" y="47498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611342" name="Line 14"/>
          <p:cNvSpPr>
            <a:spLocks noChangeShapeType="1"/>
          </p:cNvSpPr>
          <p:nvPr/>
        </p:nvSpPr>
        <p:spPr bwMode="auto">
          <a:xfrm flipV="1">
            <a:off x="2108200" y="43434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3" name="Line 15"/>
          <p:cNvSpPr>
            <a:spLocks noChangeShapeType="1"/>
          </p:cNvSpPr>
          <p:nvPr/>
        </p:nvSpPr>
        <p:spPr bwMode="auto">
          <a:xfrm flipV="1">
            <a:off x="2832100" y="43434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4" name="Line 16"/>
          <p:cNvSpPr>
            <a:spLocks noChangeShapeType="1"/>
          </p:cNvSpPr>
          <p:nvPr/>
        </p:nvSpPr>
        <p:spPr bwMode="auto">
          <a:xfrm flipV="1">
            <a:off x="3524250" y="43561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7" name="Text Box 19"/>
          <p:cNvSpPr txBox="1">
            <a:spLocks noChangeArrowheads="1"/>
          </p:cNvSpPr>
          <p:nvPr/>
        </p:nvSpPr>
        <p:spPr bwMode="auto">
          <a:xfrm>
            <a:off x="2470150"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grpSp>
        <p:nvGrpSpPr>
          <p:cNvPr id="2" name="Group 24"/>
          <p:cNvGrpSpPr>
            <a:grpSpLocks/>
          </p:cNvGrpSpPr>
          <p:nvPr/>
        </p:nvGrpSpPr>
        <p:grpSpPr bwMode="auto">
          <a:xfrm>
            <a:off x="7915275" y="3911600"/>
            <a:ext cx="457200" cy="307975"/>
            <a:chOff x="1104" y="3432"/>
            <a:chExt cx="400" cy="408"/>
          </a:xfrm>
        </p:grpSpPr>
        <p:sp>
          <p:nvSpPr>
            <p:cNvPr id="10272" name="Line 21"/>
            <p:cNvSpPr>
              <a:spLocks noChangeShapeType="1"/>
            </p:cNvSpPr>
            <p:nvPr/>
          </p:nvSpPr>
          <p:spPr bwMode="auto">
            <a:xfrm>
              <a:off x="1312" y="3432"/>
              <a:ext cx="192"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3" name="Line 22"/>
            <p:cNvSpPr>
              <a:spLocks noChangeShapeType="1"/>
            </p:cNvSpPr>
            <p:nvPr/>
          </p:nvSpPr>
          <p:spPr bwMode="auto">
            <a:xfrm flipH="1">
              <a:off x="1104" y="3432"/>
              <a:ext cx="400" cy="40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4" name="Line 23"/>
            <p:cNvSpPr>
              <a:spLocks noChangeShapeType="1"/>
            </p:cNvSpPr>
            <p:nvPr/>
          </p:nvSpPr>
          <p:spPr bwMode="auto">
            <a:xfrm flipV="1">
              <a:off x="1104" y="3832"/>
              <a:ext cx="208" cy="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1353" name="Line 25"/>
          <p:cNvSpPr>
            <a:spLocks noChangeShapeType="1"/>
          </p:cNvSpPr>
          <p:nvPr/>
        </p:nvSpPr>
        <p:spPr bwMode="auto">
          <a:xfrm>
            <a:off x="1504950" y="4749800"/>
            <a:ext cx="0" cy="762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1354" name="Line 26"/>
          <p:cNvSpPr>
            <a:spLocks noChangeShapeType="1"/>
          </p:cNvSpPr>
          <p:nvPr/>
        </p:nvSpPr>
        <p:spPr bwMode="auto">
          <a:xfrm flipV="1">
            <a:off x="7346950" y="43053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5" name="Line 27"/>
          <p:cNvSpPr>
            <a:spLocks noChangeShapeType="1"/>
          </p:cNvSpPr>
          <p:nvPr/>
        </p:nvSpPr>
        <p:spPr bwMode="auto">
          <a:xfrm flipV="1">
            <a:off x="8223250" y="43434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6" name="Line 28"/>
          <p:cNvSpPr>
            <a:spLocks noChangeShapeType="1"/>
          </p:cNvSpPr>
          <p:nvPr/>
        </p:nvSpPr>
        <p:spPr bwMode="auto">
          <a:xfrm flipV="1">
            <a:off x="8140700" y="2971800"/>
            <a:ext cx="0" cy="9398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7" name="Line 29"/>
          <p:cNvSpPr>
            <a:spLocks noChangeShapeType="1"/>
          </p:cNvSpPr>
          <p:nvPr/>
        </p:nvSpPr>
        <p:spPr bwMode="auto">
          <a:xfrm>
            <a:off x="8156575" y="4206875"/>
            <a:ext cx="0" cy="55562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1358" name="Text Box 30"/>
          <p:cNvSpPr txBox="1">
            <a:spLocks noChangeArrowheads="1"/>
          </p:cNvSpPr>
          <p:nvPr/>
        </p:nvSpPr>
        <p:spPr bwMode="auto">
          <a:xfrm>
            <a:off x="7038975" y="47625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611359" name="Text Box 31"/>
          <p:cNvSpPr txBox="1">
            <a:spLocks noChangeArrowheads="1"/>
          </p:cNvSpPr>
          <p:nvPr/>
        </p:nvSpPr>
        <p:spPr bwMode="auto">
          <a:xfrm>
            <a:off x="7915275" y="47625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grpSp>
        <p:nvGrpSpPr>
          <p:cNvPr id="3" name="Group 32"/>
          <p:cNvGrpSpPr>
            <a:grpSpLocks/>
          </p:cNvGrpSpPr>
          <p:nvPr/>
        </p:nvGrpSpPr>
        <p:grpSpPr bwMode="auto">
          <a:xfrm>
            <a:off x="1279525" y="5511800"/>
            <a:ext cx="431800" cy="396875"/>
            <a:chOff x="1104" y="3432"/>
            <a:chExt cx="400" cy="408"/>
          </a:xfrm>
        </p:grpSpPr>
        <p:sp>
          <p:nvSpPr>
            <p:cNvPr id="10269" name="Line 33"/>
            <p:cNvSpPr>
              <a:spLocks noChangeShapeType="1"/>
            </p:cNvSpPr>
            <p:nvPr/>
          </p:nvSpPr>
          <p:spPr bwMode="auto">
            <a:xfrm>
              <a:off x="1312" y="3432"/>
              <a:ext cx="19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0" name="Line 34"/>
            <p:cNvSpPr>
              <a:spLocks noChangeShapeType="1"/>
            </p:cNvSpPr>
            <p:nvPr/>
          </p:nvSpPr>
          <p:spPr bwMode="auto">
            <a:xfrm flipH="1">
              <a:off x="1104" y="3432"/>
              <a:ext cx="400" cy="40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1" name="Line 35"/>
            <p:cNvSpPr>
              <a:spLocks noChangeShapeType="1"/>
            </p:cNvSpPr>
            <p:nvPr/>
          </p:nvSpPr>
          <p:spPr bwMode="auto">
            <a:xfrm flipV="1">
              <a:off x="1104" y="3832"/>
              <a:ext cx="208" cy="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1364" name="Line 36"/>
          <p:cNvSpPr>
            <a:spLocks noChangeShapeType="1"/>
          </p:cNvSpPr>
          <p:nvPr/>
        </p:nvSpPr>
        <p:spPr bwMode="auto">
          <a:xfrm>
            <a:off x="1517650" y="5908675"/>
            <a:ext cx="0" cy="6445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65" name="Text Box 37"/>
          <p:cNvSpPr txBox="1">
            <a:spLocks noChangeArrowheads="1"/>
          </p:cNvSpPr>
          <p:nvPr/>
        </p:nvSpPr>
        <p:spPr bwMode="auto">
          <a:xfrm>
            <a:off x="8140700" y="3149600"/>
            <a:ext cx="105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240</a:t>
            </a:r>
            <a:r>
              <a:rPr lang="zh-CN" altLang="en-US" sz="2000" b="1">
                <a:solidFill>
                  <a:srgbClr val="0000CC"/>
                </a:solidFill>
                <a:ea typeface="宋体" panose="02010600030101010101" pitchFamily="2" charset="-122"/>
              </a:rPr>
              <a:t>万</a:t>
            </a:r>
          </a:p>
        </p:txBody>
      </p:sp>
      <p:sp>
        <p:nvSpPr>
          <p:cNvPr id="611366" name="Text Box 38"/>
          <p:cNvSpPr txBox="1">
            <a:spLocks noChangeArrowheads="1"/>
          </p:cNvSpPr>
          <p:nvPr/>
        </p:nvSpPr>
        <p:spPr bwMode="auto">
          <a:xfrm>
            <a:off x="6848475" y="38100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11367" name="Text Box 39"/>
          <p:cNvSpPr txBox="1">
            <a:spLocks noChangeArrowheads="1"/>
          </p:cNvSpPr>
          <p:nvPr/>
        </p:nvSpPr>
        <p:spPr bwMode="auto">
          <a:xfrm>
            <a:off x="1619250"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11368" name="Text Box 40"/>
          <p:cNvSpPr txBox="1">
            <a:spLocks noChangeArrowheads="1"/>
          </p:cNvSpPr>
          <p:nvPr/>
        </p:nvSpPr>
        <p:spPr bwMode="auto">
          <a:xfrm>
            <a:off x="3349625"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11369" name="Text Box 41"/>
          <p:cNvSpPr txBox="1">
            <a:spLocks noChangeArrowheads="1"/>
          </p:cNvSpPr>
          <p:nvPr/>
        </p:nvSpPr>
        <p:spPr bwMode="auto">
          <a:xfrm>
            <a:off x="8140700" y="39624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1333"/>
                                        </p:tgtEl>
                                        <p:attrNameLst>
                                          <p:attrName>style.visibility</p:attrName>
                                        </p:attrNameLst>
                                      </p:cBhvr>
                                      <p:to>
                                        <p:strVal val="visible"/>
                                      </p:to>
                                    </p:set>
                                    <p:animEffect transition="in" filter="blinds(horizontal)">
                                      <p:cBhvr>
                                        <p:cTn id="7" dur="500"/>
                                        <p:tgtEl>
                                          <p:spTgt spid="61133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1337"/>
                                        </p:tgtEl>
                                        <p:attrNameLst>
                                          <p:attrName>style.visibility</p:attrName>
                                        </p:attrNameLst>
                                      </p:cBhvr>
                                      <p:to>
                                        <p:strVal val="visible"/>
                                      </p:to>
                                    </p:set>
                                    <p:animEffect transition="in" filter="blinds(horizontal)">
                                      <p:cBhvr>
                                        <p:cTn id="10" dur="500"/>
                                        <p:tgtEl>
                                          <p:spTgt spid="61133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1338"/>
                                        </p:tgtEl>
                                        <p:attrNameLst>
                                          <p:attrName>style.visibility</p:attrName>
                                        </p:attrNameLst>
                                      </p:cBhvr>
                                      <p:to>
                                        <p:strVal val="visible"/>
                                      </p:to>
                                    </p:set>
                                    <p:animEffect transition="in" filter="blinds(horizontal)">
                                      <p:cBhvr>
                                        <p:cTn id="13" dur="500"/>
                                        <p:tgtEl>
                                          <p:spTgt spid="61133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11339"/>
                                        </p:tgtEl>
                                        <p:attrNameLst>
                                          <p:attrName>style.visibility</p:attrName>
                                        </p:attrNameLst>
                                      </p:cBhvr>
                                      <p:to>
                                        <p:strVal val="visible"/>
                                      </p:to>
                                    </p:set>
                                    <p:animEffect transition="in" filter="blinds(horizontal)">
                                      <p:cBhvr>
                                        <p:cTn id="16" dur="500"/>
                                        <p:tgtEl>
                                          <p:spTgt spid="61133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11340"/>
                                        </p:tgtEl>
                                        <p:attrNameLst>
                                          <p:attrName>style.visibility</p:attrName>
                                        </p:attrNameLst>
                                      </p:cBhvr>
                                      <p:to>
                                        <p:strVal val="visible"/>
                                      </p:to>
                                    </p:set>
                                    <p:animEffect transition="in" filter="blinds(horizontal)">
                                      <p:cBhvr>
                                        <p:cTn id="19" dur="500"/>
                                        <p:tgtEl>
                                          <p:spTgt spid="61134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11341"/>
                                        </p:tgtEl>
                                        <p:attrNameLst>
                                          <p:attrName>style.visibility</p:attrName>
                                        </p:attrNameLst>
                                      </p:cBhvr>
                                      <p:to>
                                        <p:strVal val="visible"/>
                                      </p:to>
                                    </p:set>
                                    <p:animEffect transition="in" filter="blinds(horizontal)">
                                      <p:cBhvr>
                                        <p:cTn id="22" dur="500"/>
                                        <p:tgtEl>
                                          <p:spTgt spid="61134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11342"/>
                                        </p:tgtEl>
                                        <p:attrNameLst>
                                          <p:attrName>style.visibility</p:attrName>
                                        </p:attrNameLst>
                                      </p:cBhvr>
                                      <p:to>
                                        <p:strVal val="visible"/>
                                      </p:to>
                                    </p:set>
                                    <p:animEffect transition="in" filter="blinds(horizontal)">
                                      <p:cBhvr>
                                        <p:cTn id="25" dur="500"/>
                                        <p:tgtEl>
                                          <p:spTgt spid="61134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11343"/>
                                        </p:tgtEl>
                                        <p:attrNameLst>
                                          <p:attrName>style.visibility</p:attrName>
                                        </p:attrNameLst>
                                      </p:cBhvr>
                                      <p:to>
                                        <p:strVal val="visible"/>
                                      </p:to>
                                    </p:set>
                                    <p:animEffect transition="in" filter="blinds(horizontal)">
                                      <p:cBhvr>
                                        <p:cTn id="28" dur="500"/>
                                        <p:tgtEl>
                                          <p:spTgt spid="61134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11344"/>
                                        </p:tgtEl>
                                        <p:attrNameLst>
                                          <p:attrName>style.visibility</p:attrName>
                                        </p:attrNameLst>
                                      </p:cBhvr>
                                      <p:to>
                                        <p:strVal val="visible"/>
                                      </p:to>
                                    </p:set>
                                    <p:animEffect transition="in" filter="blinds(horizontal)">
                                      <p:cBhvr>
                                        <p:cTn id="31" dur="500"/>
                                        <p:tgtEl>
                                          <p:spTgt spid="61134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11347"/>
                                        </p:tgtEl>
                                        <p:attrNameLst>
                                          <p:attrName>style.visibility</p:attrName>
                                        </p:attrNameLst>
                                      </p:cBhvr>
                                      <p:to>
                                        <p:strVal val="visible"/>
                                      </p:to>
                                    </p:set>
                                    <p:animEffect transition="in" filter="blinds(horizontal)">
                                      <p:cBhvr>
                                        <p:cTn id="34" dur="500"/>
                                        <p:tgtEl>
                                          <p:spTgt spid="611347"/>
                                        </p:tgtEl>
                                      </p:cBhvr>
                                    </p:animEffect>
                                  </p:childTnLst>
                                </p:cTn>
                              </p:par>
                              <p:par>
                                <p:cTn id="35" presetID="3" presetClass="entr" presetSubtype="1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11353"/>
                                        </p:tgtEl>
                                        <p:attrNameLst>
                                          <p:attrName>style.visibility</p:attrName>
                                        </p:attrNameLst>
                                      </p:cBhvr>
                                      <p:to>
                                        <p:strVal val="visible"/>
                                      </p:to>
                                    </p:set>
                                    <p:animEffect transition="in" filter="blinds(horizontal)">
                                      <p:cBhvr>
                                        <p:cTn id="40" dur="500"/>
                                        <p:tgtEl>
                                          <p:spTgt spid="61135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11354"/>
                                        </p:tgtEl>
                                        <p:attrNameLst>
                                          <p:attrName>style.visibility</p:attrName>
                                        </p:attrNameLst>
                                      </p:cBhvr>
                                      <p:to>
                                        <p:strVal val="visible"/>
                                      </p:to>
                                    </p:set>
                                    <p:animEffect transition="in" filter="blinds(horizontal)">
                                      <p:cBhvr>
                                        <p:cTn id="43" dur="500"/>
                                        <p:tgtEl>
                                          <p:spTgt spid="61135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11355"/>
                                        </p:tgtEl>
                                        <p:attrNameLst>
                                          <p:attrName>style.visibility</p:attrName>
                                        </p:attrNameLst>
                                      </p:cBhvr>
                                      <p:to>
                                        <p:strVal val="visible"/>
                                      </p:to>
                                    </p:set>
                                    <p:animEffect transition="in" filter="blinds(horizontal)">
                                      <p:cBhvr>
                                        <p:cTn id="46" dur="500"/>
                                        <p:tgtEl>
                                          <p:spTgt spid="611355"/>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11356"/>
                                        </p:tgtEl>
                                        <p:attrNameLst>
                                          <p:attrName>style.visibility</p:attrName>
                                        </p:attrNameLst>
                                      </p:cBhvr>
                                      <p:to>
                                        <p:strVal val="visible"/>
                                      </p:to>
                                    </p:set>
                                    <p:animEffect transition="in" filter="blinds(horizontal)">
                                      <p:cBhvr>
                                        <p:cTn id="49" dur="500"/>
                                        <p:tgtEl>
                                          <p:spTgt spid="611356"/>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11357"/>
                                        </p:tgtEl>
                                        <p:attrNameLst>
                                          <p:attrName>style.visibility</p:attrName>
                                        </p:attrNameLst>
                                      </p:cBhvr>
                                      <p:to>
                                        <p:strVal val="visible"/>
                                      </p:to>
                                    </p:set>
                                    <p:animEffect transition="in" filter="blinds(horizontal)">
                                      <p:cBhvr>
                                        <p:cTn id="52" dur="500"/>
                                        <p:tgtEl>
                                          <p:spTgt spid="611357"/>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11358"/>
                                        </p:tgtEl>
                                        <p:attrNameLst>
                                          <p:attrName>style.visibility</p:attrName>
                                        </p:attrNameLst>
                                      </p:cBhvr>
                                      <p:to>
                                        <p:strVal val="visible"/>
                                      </p:to>
                                    </p:set>
                                    <p:animEffect transition="in" filter="blinds(horizontal)">
                                      <p:cBhvr>
                                        <p:cTn id="55" dur="500"/>
                                        <p:tgtEl>
                                          <p:spTgt spid="611358"/>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11359"/>
                                        </p:tgtEl>
                                        <p:attrNameLst>
                                          <p:attrName>style.visibility</p:attrName>
                                        </p:attrNameLst>
                                      </p:cBhvr>
                                      <p:to>
                                        <p:strVal val="visible"/>
                                      </p:to>
                                    </p:set>
                                    <p:animEffect transition="in" filter="blinds(horizontal)">
                                      <p:cBhvr>
                                        <p:cTn id="58" dur="500"/>
                                        <p:tgtEl>
                                          <p:spTgt spid="611359"/>
                                        </p:tgtEl>
                                      </p:cBhvr>
                                    </p:animEffect>
                                  </p:childTnLst>
                                </p:cTn>
                              </p:par>
                              <p:par>
                                <p:cTn id="59" presetID="3" presetClass="entr" presetSubtype="1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linds(horizontal)">
                                      <p:cBhvr>
                                        <p:cTn id="61" dur="500"/>
                                        <p:tgtEl>
                                          <p:spTgt spid="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611364"/>
                                        </p:tgtEl>
                                        <p:attrNameLst>
                                          <p:attrName>style.visibility</p:attrName>
                                        </p:attrNameLst>
                                      </p:cBhvr>
                                      <p:to>
                                        <p:strVal val="visible"/>
                                      </p:to>
                                    </p:set>
                                    <p:animEffect transition="in" filter="blinds(horizontal)">
                                      <p:cBhvr>
                                        <p:cTn id="64" dur="500"/>
                                        <p:tgtEl>
                                          <p:spTgt spid="611364"/>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11365"/>
                                        </p:tgtEl>
                                        <p:attrNameLst>
                                          <p:attrName>style.visibility</p:attrName>
                                        </p:attrNameLst>
                                      </p:cBhvr>
                                      <p:to>
                                        <p:strVal val="visible"/>
                                      </p:to>
                                    </p:set>
                                    <p:animEffect transition="in" filter="blinds(horizontal)">
                                      <p:cBhvr>
                                        <p:cTn id="67" dur="500"/>
                                        <p:tgtEl>
                                          <p:spTgt spid="61136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11366"/>
                                        </p:tgtEl>
                                        <p:attrNameLst>
                                          <p:attrName>style.visibility</p:attrName>
                                        </p:attrNameLst>
                                      </p:cBhvr>
                                      <p:to>
                                        <p:strVal val="visible"/>
                                      </p:to>
                                    </p:set>
                                    <p:animEffect transition="in" filter="blinds(horizontal)">
                                      <p:cBhvr>
                                        <p:cTn id="70" dur="500"/>
                                        <p:tgtEl>
                                          <p:spTgt spid="611366"/>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11367"/>
                                        </p:tgtEl>
                                        <p:attrNameLst>
                                          <p:attrName>style.visibility</p:attrName>
                                        </p:attrNameLst>
                                      </p:cBhvr>
                                      <p:to>
                                        <p:strVal val="visible"/>
                                      </p:to>
                                    </p:set>
                                    <p:animEffect transition="in" filter="blinds(horizontal)">
                                      <p:cBhvr>
                                        <p:cTn id="73" dur="500"/>
                                        <p:tgtEl>
                                          <p:spTgt spid="611367"/>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611368"/>
                                        </p:tgtEl>
                                        <p:attrNameLst>
                                          <p:attrName>style.visibility</p:attrName>
                                        </p:attrNameLst>
                                      </p:cBhvr>
                                      <p:to>
                                        <p:strVal val="visible"/>
                                      </p:to>
                                    </p:set>
                                    <p:animEffect transition="in" filter="blinds(horizontal)">
                                      <p:cBhvr>
                                        <p:cTn id="76" dur="500"/>
                                        <p:tgtEl>
                                          <p:spTgt spid="611368"/>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611369"/>
                                        </p:tgtEl>
                                        <p:attrNameLst>
                                          <p:attrName>style.visibility</p:attrName>
                                        </p:attrNameLst>
                                      </p:cBhvr>
                                      <p:to>
                                        <p:strVal val="visible"/>
                                      </p:to>
                                    </p:set>
                                    <p:animEffect transition="in" filter="blinds(horizontal)">
                                      <p:cBhvr>
                                        <p:cTn id="79" dur="500"/>
                                        <p:tgtEl>
                                          <p:spTgt spid="611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3" grpId="0" animBg="1"/>
      <p:bldP spid="611337" grpId="0"/>
      <p:bldP spid="611338" grpId="0"/>
      <p:bldP spid="611339" grpId="0"/>
      <p:bldP spid="611340" grpId="0"/>
      <p:bldP spid="611341" grpId="0"/>
      <p:bldP spid="611342" grpId="0" animBg="1"/>
      <p:bldP spid="611343" grpId="0" animBg="1"/>
      <p:bldP spid="611344" grpId="0" animBg="1"/>
      <p:bldP spid="611347" grpId="0"/>
      <p:bldP spid="611353" grpId="0" animBg="1"/>
      <p:bldP spid="611354" grpId="0" animBg="1"/>
      <p:bldP spid="611355" grpId="0" animBg="1"/>
      <p:bldP spid="611356" grpId="0" animBg="1"/>
      <p:bldP spid="611357" grpId="0" animBg="1"/>
      <p:bldP spid="611358" grpId="0"/>
      <p:bldP spid="611359" grpId="0"/>
      <p:bldP spid="611364" grpId="0" animBg="1"/>
      <p:bldP spid="611365" grpId="0"/>
      <p:bldP spid="611366" grpId="0"/>
      <p:bldP spid="611367" grpId="0"/>
      <p:bldP spid="611368" grpId="0"/>
      <p:bldP spid="6113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mtClean="0"/>
              <a:t>一个简单的投资项目</a:t>
            </a:r>
          </a:p>
        </p:txBody>
      </p:sp>
      <p:sp>
        <p:nvSpPr>
          <p:cNvPr id="607235" name="Rectangle 3"/>
          <p:cNvSpPr>
            <a:spLocks noGrp="1" noChangeArrowheads="1"/>
          </p:cNvSpPr>
          <p:nvPr>
            <p:ph type="body" idx="1"/>
          </p:nvPr>
        </p:nvSpPr>
        <p:spPr/>
        <p:txBody>
          <a:bodyPr/>
          <a:lstStyle/>
          <a:p>
            <a:pPr eaLnBrk="1" hangingPunct="1"/>
            <a:r>
              <a:rPr lang="zh-CN" altLang="en-US" sz="3600" b="1" smtClean="0"/>
              <a:t>静态</a:t>
            </a:r>
          </a:p>
          <a:p>
            <a:pPr lvl="1" eaLnBrk="1" hangingPunct="1"/>
            <a:r>
              <a:rPr lang="zh-CN" altLang="en-US" sz="3200" b="1" smtClean="0"/>
              <a:t>支出</a:t>
            </a:r>
            <a:r>
              <a:rPr lang="en-US" altLang="zh-CN" sz="3200" b="1" smtClean="0"/>
              <a:t>120</a:t>
            </a:r>
            <a:r>
              <a:rPr lang="zh-CN" altLang="en-US" sz="3200" b="1" smtClean="0"/>
              <a:t>万，收入</a:t>
            </a:r>
            <a:r>
              <a:rPr lang="en-US" altLang="zh-CN" sz="3200" b="1" smtClean="0"/>
              <a:t>384</a:t>
            </a:r>
            <a:r>
              <a:rPr lang="zh-CN" altLang="en-US" sz="3200" b="1" smtClean="0"/>
              <a:t>万，摇钱树！</a:t>
            </a:r>
          </a:p>
          <a:p>
            <a:pPr eaLnBrk="1" hangingPunct="1"/>
            <a:endParaRPr lang="zh-CN" altLang="en-US" b="1" smtClean="0"/>
          </a:p>
          <a:p>
            <a:pPr eaLnBrk="1" hangingPunct="1"/>
            <a:r>
              <a:rPr lang="zh-CN" altLang="en-US" sz="3600" b="1" smtClean="0"/>
              <a:t>动态：如何评价？</a:t>
            </a:r>
          </a:p>
          <a:p>
            <a:pPr lvl="1" eaLnBrk="1" hangingPunct="1"/>
            <a:endParaRPr lang="zh-CN" altLang="en-US" b="1" smtClean="0"/>
          </a:p>
          <a:p>
            <a:pPr lvl="1" eaLnBrk="1" hangingPunct="1"/>
            <a:endParaRPr lang="en-US" altLang="zh-CN" b="1" smtClean="0"/>
          </a:p>
        </p:txBody>
      </p:sp>
      <p:pic>
        <p:nvPicPr>
          <p:cNvPr id="11268" name="Picture 5" descr="FI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13" y="4656138"/>
            <a:ext cx="1524000"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descr="FI0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1788" y="4759325"/>
            <a:ext cx="1311275" cy="14335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1270" name="Picture 8" descr="FI0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0363" y="4759325"/>
            <a:ext cx="1312862"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9" descr="FI0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225" y="4706938"/>
            <a:ext cx="1311275"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7235">
                                            <p:txEl>
                                              <p:pRg st="3" end="3"/>
                                            </p:txEl>
                                          </p:spTgt>
                                        </p:tgtEl>
                                        <p:attrNameLst>
                                          <p:attrName>style.visibility</p:attrName>
                                        </p:attrNameLst>
                                      </p:cBhvr>
                                      <p:to>
                                        <p:strVal val="visible"/>
                                      </p:to>
                                    </p:set>
                                    <p:animEffect transition="in" filter="blinds(horizontal)">
                                      <p:cBhvr>
                                        <p:cTn id="7" dur="500"/>
                                        <p:tgtEl>
                                          <p:spTgt spid="6072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mtClean="0"/>
              <a:t>经济效果评价指标体系</a:t>
            </a:r>
          </a:p>
        </p:txBody>
      </p:sp>
      <p:sp>
        <p:nvSpPr>
          <p:cNvPr id="12291" name="Rectangle 3"/>
          <p:cNvSpPr>
            <a:spLocks noGrp="1" noChangeArrowheads="1"/>
          </p:cNvSpPr>
          <p:nvPr>
            <p:ph type="body" idx="1"/>
          </p:nvPr>
        </p:nvSpPr>
        <p:spPr/>
        <p:txBody>
          <a:bodyPr/>
          <a:lstStyle/>
          <a:p>
            <a:pPr eaLnBrk="1" hangingPunct="1"/>
            <a:r>
              <a:rPr lang="zh-CN" altLang="en-US" b="1" smtClean="0"/>
              <a:t>首先是</a:t>
            </a:r>
            <a:r>
              <a:rPr lang="zh-CN" altLang="en-US" b="1" u="sng" smtClean="0"/>
              <a:t>指标</a:t>
            </a:r>
            <a:r>
              <a:rPr lang="zh-CN" altLang="en-US" b="1" smtClean="0"/>
              <a:t>，第二是</a:t>
            </a:r>
            <a:r>
              <a:rPr lang="zh-CN" altLang="en-US" b="1" u="sng" smtClean="0"/>
              <a:t>方法</a:t>
            </a:r>
          </a:p>
          <a:p>
            <a:pPr lvl="1" eaLnBrk="1" hangingPunct="1"/>
            <a:r>
              <a:rPr lang="zh-CN" altLang="en-US" b="1" smtClean="0"/>
              <a:t>指标多种多样，从不同角度反映项目的经济性</a:t>
            </a:r>
          </a:p>
          <a:p>
            <a:pPr eaLnBrk="1" hangingPunct="1"/>
            <a:endParaRPr lang="zh-CN" altLang="en-US" b="1" smtClean="0"/>
          </a:p>
          <a:p>
            <a:pPr eaLnBrk="1" hangingPunct="1"/>
            <a:r>
              <a:rPr lang="zh-CN" altLang="en-US" b="1" smtClean="0"/>
              <a:t>如何选择指标？</a:t>
            </a:r>
          </a:p>
          <a:p>
            <a:pPr lvl="1" eaLnBrk="1" hangingPunct="1"/>
            <a:r>
              <a:rPr lang="zh-CN" altLang="en-US" b="1" smtClean="0"/>
              <a:t>数据的完整性和可靠性</a:t>
            </a:r>
          </a:p>
          <a:p>
            <a:pPr lvl="1" eaLnBrk="1" hangingPunct="1"/>
            <a:r>
              <a:rPr lang="zh-CN" altLang="en-US" b="1" smtClean="0"/>
              <a:t>在哪个阶段进行评价，是初选还是最后决策</a:t>
            </a:r>
          </a:p>
          <a:p>
            <a:pPr lvl="2" eaLnBrk="1" hangingPunct="1"/>
            <a:r>
              <a:rPr lang="zh-CN" altLang="en-US" b="1" smtClean="0"/>
              <a:t>静态评价：在技术经济数据不完备和不精确，或初步评价时使用</a:t>
            </a:r>
          </a:p>
          <a:p>
            <a:pPr lvl="2" eaLnBrk="1" hangingPunct="1"/>
            <a:r>
              <a:rPr lang="zh-CN" altLang="en-US" b="1" smtClean="0"/>
              <a:t>动态评价：在数据完备，和最后决策时使用</a:t>
            </a:r>
          </a:p>
          <a:p>
            <a:pPr lvl="2" eaLnBrk="1" hangingPunct="1"/>
            <a:endParaRPr lang="zh-CN" altLang="en-US" b="1" smtClean="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kumimoji="1" lang="zh-CN" altLang="en-US" smtClean="0">
                <a:solidFill>
                  <a:srgbClr val="000000"/>
                </a:solidFill>
              </a:rPr>
              <a:t>投资回收期</a:t>
            </a:r>
          </a:p>
        </p:txBody>
      </p:sp>
      <p:sp>
        <p:nvSpPr>
          <p:cNvPr id="14339" name="Rectangle 3"/>
          <p:cNvSpPr>
            <a:spLocks noGrp="1" noChangeArrowheads="1"/>
          </p:cNvSpPr>
          <p:nvPr>
            <p:ph type="body" idx="1"/>
          </p:nvPr>
        </p:nvSpPr>
        <p:spPr/>
        <p:txBody>
          <a:bodyPr/>
          <a:lstStyle/>
          <a:p>
            <a:pPr eaLnBrk="1" hangingPunct="1"/>
            <a:r>
              <a:rPr kumimoji="1" lang="zh-CN" altLang="en-US" smtClean="0"/>
              <a:t>投资回收期（</a:t>
            </a:r>
            <a:r>
              <a:rPr kumimoji="1" lang="en-US" altLang="zh-CN" smtClean="0"/>
              <a:t>pay back period</a:t>
            </a:r>
            <a:r>
              <a:rPr kumimoji="1" lang="zh-CN" altLang="en-US" smtClean="0"/>
              <a:t>）亦称返本期，是反映投资项目资金回收的重要指标。它是指通过项目的净收益（包括利润、折旧等）来回收总投资（包括建设投资和流动资金的投资）所需的时间。投资回收期一般从投资开始年算起。</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mtClean="0"/>
              <a:t>静态评价指标：静态投资回收期</a:t>
            </a:r>
          </a:p>
        </p:txBody>
      </p:sp>
      <p:sp>
        <p:nvSpPr>
          <p:cNvPr id="519171" name="Rectangle 3"/>
          <p:cNvSpPr>
            <a:spLocks noGrp="1" noChangeArrowheads="1"/>
          </p:cNvSpPr>
          <p:nvPr>
            <p:ph type="body" sz="half" idx="1"/>
          </p:nvPr>
        </p:nvSpPr>
        <p:spPr>
          <a:xfrm>
            <a:off x="0" y="1346200"/>
            <a:ext cx="9144000" cy="5003800"/>
          </a:xfrm>
        </p:spPr>
        <p:txBody>
          <a:bodyPr/>
          <a:lstStyle/>
          <a:p>
            <a:pPr eaLnBrk="1" hangingPunct="1"/>
            <a:r>
              <a:rPr lang="zh-CN" altLang="en-US" sz="2800" b="1" smtClean="0"/>
              <a:t>含义</a:t>
            </a:r>
          </a:p>
          <a:p>
            <a:pPr lvl="1" eaLnBrk="1" hangingPunct="1"/>
            <a:r>
              <a:rPr lang="zh-CN" altLang="en-US" sz="2400" b="1" smtClean="0"/>
              <a:t>在不考虑资金时间价值的条件下，以方案的净收益回收项目全部投入资金所需要的时间。</a:t>
            </a:r>
          </a:p>
          <a:p>
            <a:pPr eaLnBrk="1" hangingPunct="1"/>
            <a:r>
              <a:rPr lang="zh-CN" altLang="en-US" sz="2800" b="1" smtClean="0"/>
              <a:t>计算公式</a:t>
            </a:r>
          </a:p>
          <a:p>
            <a:pPr lvl="1" eaLnBrk="1" hangingPunct="1"/>
            <a:r>
              <a:rPr lang="zh-CN" altLang="en-US" sz="2400" b="1" smtClean="0"/>
              <a:t>设静态投资回收期为</a:t>
            </a:r>
            <a:r>
              <a:rPr lang="en-US" altLang="zh-CN" sz="2400" b="1" smtClean="0"/>
              <a:t>P</a:t>
            </a:r>
            <a:r>
              <a:rPr lang="en-US" altLang="zh-CN" sz="2400" b="1" baseline="-25000" smtClean="0"/>
              <a:t>t</a:t>
            </a:r>
            <a:r>
              <a:rPr lang="zh-CN" altLang="en-US" sz="2400" b="1" smtClean="0"/>
              <a:t>（以年表示），</a:t>
            </a:r>
            <a:r>
              <a:rPr lang="en-US" altLang="zh-CN" sz="2400" b="1" smtClean="0"/>
              <a:t>CI</a:t>
            </a:r>
            <a:r>
              <a:rPr lang="zh-CN" altLang="en-US" sz="2400" b="1" smtClean="0"/>
              <a:t>为现金流入，</a:t>
            </a:r>
            <a:r>
              <a:rPr lang="en-US" altLang="zh-CN" sz="2400" b="1" smtClean="0"/>
              <a:t>CO</a:t>
            </a:r>
            <a:r>
              <a:rPr lang="zh-CN" altLang="en-US" sz="2400" b="1" smtClean="0"/>
              <a:t>为现金流出（包括初始投资），</a:t>
            </a:r>
            <a:r>
              <a:rPr lang="en-US" altLang="zh-CN" sz="2400" b="1" smtClean="0"/>
              <a:t>NI</a:t>
            </a:r>
            <a:r>
              <a:rPr lang="zh-CN" altLang="en-US" sz="2400" b="1" smtClean="0"/>
              <a:t>为净现金流入</a:t>
            </a:r>
          </a:p>
          <a:p>
            <a:pPr lvl="1" eaLnBrk="1" hangingPunct="1"/>
            <a:endParaRPr lang="zh-CN" altLang="en-US" sz="2400" b="1" smtClean="0"/>
          </a:p>
          <a:p>
            <a:pPr lvl="1" eaLnBrk="1" hangingPunct="1"/>
            <a:endParaRPr lang="zh-CN" altLang="en-US" sz="2400" b="1" smtClean="0"/>
          </a:p>
          <a:p>
            <a:pPr lvl="1" eaLnBrk="1" hangingPunct="1"/>
            <a:r>
              <a:rPr lang="zh-CN" altLang="en-US" sz="2400" b="1" smtClean="0"/>
              <a:t>若单独设初始投资为</a:t>
            </a:r>
            <a:r>
              <a:rPr lang="en-US" altLang="zh-CN" sz="2400" b="1" smtClean="0"/>
              <a:t>K</a:t>
            </a:r>
            <a:r>
              <a:rPr lang="zh-CN" altLang="en-US" sz="2400" b="1" smtClean="0"/>
              <a:t>，</a:t>
            </a:r>
          </a:p>
        </p:txBody>
      </p:sp>
      <p:graphicFrame>
        <p:nvGraphicFramePr>
          <p:cNvPr id="519172" name="Object 4"/>
          <p:cNvGraphicFramePr>
            <a:graphicFrameLocks noGrp="1" noChangeAspect="1"/>
          </p:cNvGraphicFramePr>
          <p:nvPr>
            <p:ph sz="quarter" idx="2"/>
          </p:nvPr>
        </p:nvGraphicFramePr>
        <p:xfrm>
          <a:off x="2984500" y="3822700"/>
          <a:ext cx="3065463" cy="838200"/>
        </p:xfrm>
        <a:graphic>
          <a:graphicData uri="http://schemas.openxmlformats.org/presentationml/2006/ole">
            <mc:AlternateContent xmlns:mc="http://schemas.openxmlformats.org/markup-compatibility/2006">
              <mc:Choice xmlns:v="urn:schemas-microsoft-com:vml" Requires="v">
                <p:oleObj spid="_x0000_s15401" name="Equation" r:id="rId4" imgW="1624895" imgH="444307" progId="Equation.DSMT4">
                  <p:embed/>
                </p:oleObj>
              </mc:Choice>
              <mc:Fallback>
                <p:oleObj name="Equation" r:id="rId4" imgW="1624895" imgH="444307"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4500" y="3822700"/>
                        <a:ext cx="306546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9174" name="Object 6"/>
          <p:cNvGraphicFramePr>
            <a:graphicFrameLocks noGrp="1" noChangeAspect="1"/>
          </p:cNvGraphicFramePr>
          <p:nvPr>
            <p:ph sz="quarter" idx="3"/>
          </p:nvPr>
        </p:nvGraphicFramePr>
        <p:xfrm>
          <a:off x="2984500" y="5530850"/>
          <a:ext cx="3065463" cy="819150"/>
        </p:xfrm>
        <a:graphic>
          <a:graphicData uri="http://schemas.openxmlformats.org/presentationml/2006/ole">
            <mc:AlternateContent xmlns:mc="http://schemas.openxmlformats.org/markup-compatibility/2006">
              <mc:Choice xmlns:v="urn:schemas-microsoft-com:vml" Requires="v">
                <p:oleObj spid="_x0000_s15402" name="Equation" r:id="rId6" imgW="1663700" imgH="444500" progId="Equation.DSMT4">
                  <p:embed/>
                </p:oleObj>
              </mc:Choice>
              <mc:Fallback>
                <p:oleObj name="Equation" r:id="rId6" imgW="1663700" imgH="4445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4500" y="5530850"/>
                        <a:ext cx="3065463"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9171">
                                            <p:txEl>
                                              <p:pRg st="2" end="2"/>
                                            </p:txEl>
                                          </p:spTgt>
                                        </p:tgtEl>
                                        <p:attrNameLst>
                                          <p:attrName>style.visibility</p:attrName>
                                        </p:attrNameLst>
                                      </p:cBhvr>
                                      <p:to>
                                        <p:strVal val="visible"/>
                                      </p:to>
                                    </p:set>
                                    <p:animEffect transition="in" filter="blinds(horizontal)">
                                      <p:cBhvr>
                                        <p:cTn id="7" dur="500"/>
                                        <p:tgtEl>
                                          <p:spTgt spid="5191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9171">
                                            <p:txEl>
                                              <p:pRg st="3" end="3"/>
                                            </p:txEl>
                                          </p:spTgt>
                                        </p:tgtEl>
                                        <p:attrNameLst>
                                          <p:attrName>style.visibility</p:attrName>
                                        </p:attrNameLst>
                                      </p:cBhvr>
                                      <p:to>
                                        <p:strVal val="visible"/>
                                      </p:to>
                                    </p:set>
                                    <p:animEffect transition="in" filter="blinds(horizontal)">
                                      <p:cBhvr>
                                        <p:cTn id="10" dur="500"/>
                                        <p:tgtEl>
                                          <p:spTgt spid="519171">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519172"/>
                                        </p:tgtEl>
                                        <p:attrNameLst>
                                          <p:attrName>style.visibility</p:attrName>
                                        </p:attrNameLst>
                                      </p:cBhvr>
                                      <p:to>
                                        <p:strVal val="visible"/>
                                      </p:to>
                                    </p:set>
                                    <p:anim calcmode="lin" valueType="num">
                                      <p:cBhvr additive="base">
                                        <p:cTn id="15" dur="500" fill="hold"/>
                                        <p:tgtEl>
                                          <p:spTgt spid="519172"/>
                                        </p:tgtEl>
                                        <p:attrNameLst>
                                          <p:attrName>ppt_x</p:attrName>
                                        </p:attrNameLst>
                                      </p:cBhvr>
                                      <p:tavLst>
                                        <p:tav tm="0">
                                          <p:val>
                                            <p:strVal val="#ppt_x"/>
                                          </p:val>
                                        </p:tav>
                                        <p:tav tm="100000">
                                          <p:val>
                                            <p:strVal val="#ppt_x"/>
                                          </p:val>
                                        </p:tav>
                                      </p:tavLst>
                                    </p:anim>
                                    <p:anim calcmode="lin" valueType="num">
                                      <p:cBhvr additive="base">
                                        <p:cTn id="16" dur="500" fill="hold"/>
                                        <p:tgtEl>
                                          <p:spTgt spid="519172"/>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19171">
                                            <p:txEl>
                                              <p:pRg st="6" end="6"/>
                                            </p:txEl>
                                          </p:spTgt>
                                        </p:tgtEl>
                                        <p:attrNameLst>
                                          <p:attrName>style.visibility</p:attrName>
                                        </p:attrNameLst>
                                      </p:cBhvr>
                                      <p:to>
                                        <p:strVal val="visible"/>
                                      </p:to>
                                    </p:set>
                                    <p:animEffect transition="in" filter="blinds(horizontal)">
                                      <p:cBhvr>
                                        <p:cTn id="21" dur="500"/>
                                        <p:tgtEl>
                                          <p:spTgt spid="519171">
                                            <p:txEl>
                                              <p:pRg st="6" end="6"/>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519174"/>
                                        </p:tgtEl>
                                        <p:attrNameLst>
                                          <p:attrName>style.visibility</p:attrName>
                                        </p:attrNameLst>
                                      </p:cBhvr>
                                      <p:to>
                                        <p:strVal val="visible"/>
                                      </p:to>
                                    </p:set>
                                    <p:anim calcmode="lin" valueType="num">
                                      <p:cBhvr additive="base">
                                        <p:cTn id="26" dur="500" fill="hold"/>
                                        <p:tgtEl>
                                          <p:spTgt spid="519174"/>
                                        </p:tgtEl>
                                        <p:attrNameLst>
                                          <p:attrName>ppt_x</p:attrName>
                                        </p:attrNameLst>
                                      </p:cBhvr>
                                      <p:tavLst>
                                        <p:tav tm="0">
                                          <p:val>
                                            <p:strVal val="#ppt_x"/>
                                          </p:val>
                                        </p:tav>
                                        <p:tav tm="100000">
                                          <p:val>
                                            <p:strVal val="#ppt_x"/>
                                          </p:val>
                                        </p:tav>
                                      </p:tavLst>
                                    </p:anim>
                                    <p:anim calcmode="lin" valueType="num">
                                      <p:cBhvr additive="base">
                                        <p:cTn id="27" dur="500" fill="hold"/>
                                        <p:tgtEl>
                                          <p:spTgt spid="5191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9"/>
          <p:cNvSpPr>
            <a:spLocks noGrp="1" noChangeArrowheads="1"/>
          </p:cNvSpPr>
          <p:nvPr>
            <p:ph type="title"/>
          </p:nvPr>
        </p:nvSpPr>
        <p:spPr/>
        <p:txBody>
          <a:bodyPr/>
          <a:lstStyle/>
          <a:p>
            <a:pPr eaLnBrk="1" hangingPunct="1"/>
            <a:r>
              <a:rPr lang="zh-CN" altLang="en-US" smtClean="0"/>
              <a:t>静态投资回收期</a:t>
            </a:r>
            <a:r>
              <a:rPr lang="en-US" altLang="zh-CN" smtClean="0"/>
              <a:t>P</a:t>
            </a:r>
            <a:r>
              <a:rPr lang="en-US" altLang="zh-CN" baseline="-25000" smtClean="0"/>
              <a:t>t</a:t>
            </a:r>
            <a:r>
              <a:rPr lang="zh-CN" altLang="en-US" smtClean="0"/>
              <a:t>的计算</a:t>
            </a:r>
          </a:p>
        </p:txBody>
      </p:sp>
      <p:graphicFrame>
        <p:nvGraphicFramePr>
          <p:cNvPr id="612825" name="Group 473"/>
          <p:cNvGraphicFramePr>
            <a:graphicFrameLocks noGrp="1"/>
          </p:cNvGraphicFramePr>
          <p:nvPr>
            <p:ph idx="1"/>
          </p:nvPr>
        </p:nvGraphicFramePr>
        <p:xfrm>
          <a:off x="561975" y="1317625"/>
          <a:ext cx="7899400" cy="5121273"/>
        </p:xfrm>
        <a:graphic>
          <a:graphicData uri="http://schemas.openxmlformats.org/drawingml/2006/table">
            <a:tbl>
              <a:tblPr/>
              <a:tblGrid>
                <a:gridCol w="1316038">
                  <a:extLst>
                    <a:ext uri="{9D8B030D-6E8A-4147-A177-3AD203B41FA5}">
                      <a16:colId xmlns:a16="http://schemas.microsoft.com/office/drawing/2014/main" xmlns="" val="20000"/>
                    </a:ext>
                  </a:extLst>
                </a:gridCol>
                <a:gridCol w="1317625">
                  <a:extLst>
                    <a:ext uri="{9D8B030D-6E8A-4147-A177-3AD203B41FA5}">
                      <a16:colId xmlns:a16="http://schemas.microsoft.com/office/drawing/2014/main" xmlns="" val="20001"/>
                    </a:ext>
                  </a:extLst>
                </a:gridCol>
                <a:gridCol w="1316037">
                  <a:extLst>
                    <a:ext uri="{9D8B030D-6E8A-4147-A177-3AD203B41FA5}">
                      <a16:colId xmlns:a16="http://schemas.microsoft.com/office/drawing/2014/main" xmlns="" val="20002"/>
                    </a:ext>
                  </a:extLst>
                </a:gridCol>
                <a:gridCol w="1316038">
                  <a:extLst>
                    <a:ext uri="{9D8B030D-6E8A-4147-A177-3AD203B41FA5}">
                      <a16:colId xmlns:a16="http://schemas.microsoft.com/office/drawing/2014/main" xmlns="" val="20003"/>
                    </a:ext>
                  </a:extLst>
                </a:gridCol>
                <a:gridCol w="1317625">
                  <a:extLst>
                    <a:ext uri="{9D8B030D-6E8A-4147-A177-3AD203B41FA5}">
                      <a16:colId xmlns:a16="http://schemas.microsoft.com/office/drawing/2014/main" xmlns="" val="20004"/>
                    </a:ext>
                  </a:extLst>
                </a:gridCol>
                <a:gridCol w="1316037">
                  <a:extLst>
                    <a:ext uri="{9D8B030D-6E8A-4147-A177-3AD203B41FA5}">
                      <a16:colId xmlns:a16="http://schemas.microsoft.com/office/drawing/2014/main" xmlns="" val="20005"/>
                    </a:ext>
                  </a:extLst>
                </a:gridCol>
              </a:tblGrid>
              <a:tr h="762094">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年份</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现金流量</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累计现金流量</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年份</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现金流量</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累计现金流量</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20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-120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-120</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11</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-40.8</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-112.8</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12</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-33.6</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-105.6</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13</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-26.4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3</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-98.4</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14</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-19.2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-91.2</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15</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-12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5</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-84</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16</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-4.8</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6</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-76.8</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17</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2.4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-69.6</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18</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9.6</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8</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-62.4</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19</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16.8</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9</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-55.2</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20</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247.2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264</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39628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10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2000" b="1" i="0" u="none" strike="noStrike" cap="none" normalizeH="0" baseline="0" smtClean="0">
                        <a:ln>
                          <a:noFill/>
                        </a:ln>
                        <a:solidFill>
                          <a:srgbClr val="000000"/>
                        </a:solidFill>
                        <a:effectLst/>
                        <a:latin typeface="Arial"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FF0000"/>
                          </a:solidFill>
                          <a:effectLst/>
                          <a:latin typeface="Arial" pitchFamily="34" charset="0"/>
                          <a:ea typeface="楷体_GB2312"/>
                          <a:cs typeface="楷体_GB2312"/>
                        </a:rPr>
                        <a:t>-48</a:t>
                      </a: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rgbClr val="0000CC"/>
                          </a:solidFill>
                          <a:effectLst/>
                          <a:latin typeface="Arial" pitchFamily="34" charset="0"/>
                          <a:ea typeface="楷体_GB2312"/>
                          <a:cs typeface="楷体_GB2312"/>
                        </a:rPr>
                        <a:t>静态投资回收期</a:t>
                      </a: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rgbClr val="0000CC"/>
                          </a:solidFill>
                          <a:effectLst/>
                          <a:latin typeface="Arial" pitchFamily="34" charset="0"/>
                          <a:ea typeface="楷体_GB2312"/>
                          <a:cs typeface="楷体_GB2312"/>
                        </a:rPr>
                        <a:t>16.67</a:t>
                      </a:r>
                      <a:r>
                        <a:rPr kumimoji="0" lang="zh-CN" altLang="en-US" sz="2000" b="1" i="0" u="none" strike="noStrike" cap="none" normalizeH="0" baseline="0" smtClean="0">
                          <a:ln>
                            <a:noFill/>
                          </a:ln>
                          <a:solidFill>
                            <a:srgbClr val="0000CC"/>
                          </a:solidFill>
                          <a:effectLst/>
                          <a:latin typeface="Arial" pitchFamily="34" charset="0"/>
                          <a:ea typeface="楷体_GB2312"/>
                          <a:cs typeface="楷体_GB2312"/>
                        </a:rPr>
                        <a:t>年</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mtClean="0"/>
              <a:t>插值法计算静态投资回收期</a:t>
            </a:r>
            <a:r>
              <a:rPr lang="en-US" altLang="zh-CN" smtClean="0"/>
              <a:t>P</a:t>
            </a:r>
            <a:r>
              <a:rPr lang="en-US" altLang="zh-CN" baseline="-25000" smtClean="0"/>
              <a:t>t</a:t>
            </a:r>
          </a:p>
        </p:txBody>
      </p:sp>
      <p:sp>
        <p:nvSpPr>
          <p:cNvPr id="18435" name="Rectangle 3"/>
          <p:cNvSpPr>
            <a:spLocks noGrp="1" noChangeArrowheads="1"/>
          </p:cNvSpPr>
          <p:nvPr>
            <p:ph type="body" idx="1"/>
          </p:nvPr>
        </p:nvSpPr>
        <p:spPr>
          <a:xfrm>
            <a:off x="0" y="1058863"/>
            <a:ext cx="9144000" cy="5207000"/>
          </a:xfrm>
        </p:spPr>
        <p:txBody>
          <a:bodyPr/>
          <a:lstStyle/>
          <a:p>
            <a:pPr eaLnBrk="1" hangingPunct="1"/>
            <a:endParaRPr lang="zh-CN" altLang="en-US" smtClean="0"/>
          </a:p>
        </p:txBody>
      </p:sp>
      <p:sp>
        <p:nvSpPr>
          <p:cNvPr id="18436" name="Line 4"/>
          <p:cNvSpPr>
            <a:spLocks noChangeShapeType="1"/>
          </p:cNvSpPr>
          <p:nvPr/>
        </p:nvSpPr>
        <p:spPr bwMode="auto">
          <a:xfrm>
            <a:off x="1200150" y="3259138"/>
            <a:ext cx="6956425"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8437" name="Text Box 5"/>
          <p:cNvSpPr txBox="1">
            <a:spLocks noChangeArrowheads="1"/>
          </p:cNvSpPr>
          <p:nvPr/>
        </p:nvSpPr>
        <p:spPr bwMode="auto">
          <a:xfrm>
            <a:off x="146050" y="4021138"/>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p>
        </p:txBody>
      </p:sp>
      <p:sp>
        <p:nvSpPr>
          <p:cNvPr id="18438" name="Text Box 6"/>
          <p:cNvSpPr txBox="1">
            <a:spLocks noChangeArrowheads="1"/>
          </p:cNvSpPr>
          <p:nvPr/>
        </p:nvSpPr>
        <p:spPr bwMode="auto">
          <a:xfrm>
            <a:off x="790575"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18439" name="Text Box 7"/>
          <p:cNvSpPr txBox="1">
            <a:spLocks noChangeArrowheads="1"/>
          </p:cNvSpPr>
          <p:nvPr/>
        </p:nvSpPr>
        <p:spPr bwMode="auto">
          <a:xfrm>
            <a:off x="1450975" y="32718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18440" name="Text Box 8"/>
          <p:cNvSpPr txBox="1">
            <a:spLocks noChangeArrowheads="1"/>
          </p:cNvSpPr>
          <p:nvPr/>
        </p:nvSpPr>
        <p:spPr bwMode="auto">
          <a:xfrm>
            <a:off x="2019300"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18441" name="Text Box 9"/>
          <p:cNvSpPr txBox="1">
            <a:spLocks noChangeArrowheads="1"/>
          </p:cNvSpPr>
          <p:nvPr/>
        </p:nvSpPr>
        <p:spPr bwMode="auto">
          <a:xfrm>
            <a:off x="2511425"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18442" name="Text Box 23"/>
          <p:cNvSpPr txBox="1">
            <a:spLocks noChangeArrowheads="1"/>
          </p:cNvSpPr>
          <p:nvPr/>
        </p:nvSpPr>
        <p:spPr bwMode="auto">
          <a:xfrm>
            <a:off x="6734175"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18443" name="Text Box 24"/>
          <p:cNvSpPr txBox="1">
            <a:spLocks noChangeArrowheads="1"/>
          </p:cNvSpPr>
          <p:nvPr/>
        </p:nvSpPr>
        <p:spPr bwMode="auto">
          <a:xfrm>
            <a:off x="7302500"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sp>
        <p:nvSpPr>
          <p:cNvPr id="18444" name="Line 29"/>
          <p:cNvSpPr>
            <a:spLocks noChangeShapeType="1"/>
          </p:cNvSpPr>
          <p:nvPr/>
        </p:nvSpPr>
        <p:spPr bwMode="auto">
          <a:xfrm>
            <a:off x="1200150" y="3259138"/>
            <a:ext cx="0" cy="20240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5" name="Text Box 35"/>
          <p:cNvSpPr txBox="1">
            <a:spLocks noChangeArrowheads="1"/>
          </p:cNvSpPr>
          <p:nvPr/>
        </p:nvSpPr>
        <p:spPr bwMode="auto">
          <a:xfrm>
            <a:off x="4924425" y="32591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16</a:t>
            </a:r>
            <a:endParaRPr lang="zh-CN" altLang="en-US" sz="2000">
              <a:ea typeface="宋体" panose="02010600030101010101" pitchFamily="2" charset="-122"/>
            </a:endParaRPr>
          </a:p>
        </p:txBody>
      </p:sp>
      <p:sp>
        <p:nvSpPr>
          <p:cNvPr id="18446" name="Text Box 36"/>
          <p:cNvSpPr txBox="1">
            <a:spLocks noChangeArrowheads="1"/>
          </p:cNvSpPr>
          <p:nvPr/>
        </p:nvSpPr>
        <p:spPr bwMode="auto">
          <a:xfrm>
            <a:off x="5540375" y="32591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17</a:t>
            </a:r>
            <a:endParaRPr lang="zh-CN" altLang="en-US" sz="2000">
              <a:ea typeface="宋体" panose="02010600030101010101" pitchFamily="2" charset="-122"/>
            </a:endParaRPr>
          </a:p>
        </p:txBody>
      </p:sp>
      <p:sp>
        <p:nvSpPr>
          <p:cNvPr id="18447" name="Text Box 37"/>
          <p:cNvSpPr txBox="1">
            <a:spLocks noChangeArrowheads="1"/>
          </p:cNvSpPr>
          <p:nvPr/>
        </p:nvSpPr>
        <p:spPr bwMode="auto">
          <a:xfrm>
            <a:off x="6156325"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18</a:t>
            </a:r>
            <a:endParaRPr lang="zh-CN" altLang="en-US" sz="2000">
              <a:ea typeface="宋体" panose="02010600030101010101" pitchFamily="2" charset="-122"/>
            </a:endParaRPr>
          </a:p>
        </p:txBody>
      </p:sp>
      <p:sp>
        <p:nvSpPr>
          <p:cNvPr id="18448" name="Line 39"/>
          <p:cNvSpPr>
            <a:spLocks noChangeShapeType="1"/>
          </p:cNvSpPr>
          <p:nvPr/>
        </p:nvSpPr>
        <p:spPr bwMode="auto">
          <a:xfrm flipV="1">
            <a:off x="1214438" y="2463800"/>
            <a:ext cx="6088062" cy="2819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40"/>
          <p:cNvSpPr>
            <a:spLocks noChangeShapeType="1"/>
          </p:cNvSpPr>
          <p:nvPr/>
        </p:nvSpPr>
        <p:spPr bwMode="auto">
          <a:xfrm flipV="1">
            <a:off x="7350125" y="1058863"/>
            <a:ext cx="0" cy="140493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Oval 41"/>
          <p:cNvSpPr>
            <a:spLocks noChangeArrowheads="1"/>
          </p:cNvSpPr>
          <p:nvPr/>
        </p:nvSpPr>
        <p:spPr bwMode="auto">
          <a:xfrm>
            <a:off x="5514975" y="3170238"/>
            <a:ext cx="149225" cy="152400"/>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613418" name="Line 42"/>
          <p:cNvSpPr>
            <a:spLocks noChangeShapeType="1"/>
          </p:cNvSpPr>
          <p:nvPr/>
        </p:nvSpPr>
        <p:spPr bwMode="auto">
          <a:xfrm>
            <a:off x="5241925" y="4579938"/>
            <a:ext cx="18351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3419" name="Text Box 43"/>
          <p:cNvSpPr txBox="1">
            <a:spLocks noChangeArrowheads="1"/>
          </p:cNvSpPr>
          <p:nvPr/>
        </p:nvSpPr>
        <p:spPr bwMode="auto">
          <a:xfrm>
            <a:off x="7007225" y="427196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17</a:t>
            </a:r>
            <a:r>
              <a:rPr lang="zh-CN" altLang="en-US" sz="1800">
                <a:ea typeface="宋体" panose="02010600030101010101" pitchFamily="2" charset="-122"/>
              </a:rPr>
              <a:t>年</a:t>
            </a:r>
          </a:p>
        </p:txBody>
      </p:sp>
      <p:sp>
        <p:nvSpPr>
          <p:cNvPr id="613420" name="Text Box 44"/>
          <p:cNvSpPr txBox="1">
            <a:spLocks noChangeArrowheads="1"/>
          </p:cNvSpPr>
          <p:nvPr/>
        </p:nvSpPr>
        <p:spPr bwMode="auto">
          <a:xfrm>
            <a:off x="4752975" y="427196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16</a:t>
            </a:r>
            <a:r>
              <a:rPr lang="zh-CN" altLang="en-US" sz="1800">
                <a:ea typeface="宋体" panose="02010600030101010101" pitchFamily="2" charset="-122"/>
              </a:rPr>
              <a:t>年</a:t>
            </a:r>
          </a:p>
        </p:txBody>
      </p:sp>
      <p:sp>
        <p:nvSpPr>
          <p:cNvPr id="613421" name="Line 45"/>
          <p:cNvSpPr>
            <a:spLocks noChangeShapeType="1"/>
          </p:cNvSpPr>
          <p:nvPr/>
        </p:nvSpPr>
        <p:spPr bwMode="auto">
          <a:xfrm>
            <a:off x="5241925" y="4579938"/>
            <a:ext cx="0" cy="10033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3422" name="Line 46"/>
          <p:cNvSpPr>
            <a:spLocks noChangeShapeType="1"/>
          </p:cNvSpPr>
          <p:nvPr/>
        </p:nvSpPr>
        <p:spPr bwMode="auto">
          <a:xfrm>
            <a:off x="7070725" y="4052888"/>
            <a:ext cx="0" cy="5381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3423" name="Line 47"/>
          <p:cNvSpPr>
            <a:spLocks noChangeShapeType="1"/>
          </p:cNvSpPr>
          <p:nvPr/>
        </p:nvSpPr>
        <p:spPr bwMode="auto">
          <a:xfrm flipV="1">
            <a:off x="5241925" y="4089400"/>
            <a:ext cx="1828800" cy="149383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3424" name="Text Box 48"/>
          <p:cNvSpPr txBox="1">
            <a:spLocks noChangeArrowheads="1"/>
          </p:cNvSpPr>
          <p:nvPr/>
        </p:nvSpPr>
        <p:spPr bwMode="auto">
          <a:xfrm>
            <a:off x="4391025" y="5216525"/>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-4.8</a:t>
            </a:r>
            <a:r>
              <a:rPr lang="zh-CN" altLang="en-US" sz="1800">
                <a:ea typeface="宋体" panose="02010600030101010101" pitchFamily="2" charset="-122"/>
              </a:rPr>
              <a:t>万</a:t>
            </a:r>
          </a:p>
        </p:txBody>
      </p:sp>
      <p:sp>
        <p:nvSpPr>
          <p:cNvPr id="613425" name="Text Box 49"/>
          <p:cNvSpPr txBox="1">
            <a:spLocks noChangeArrowheads="1"/>
          </p:cNvSpPr>
          <p:nvPr/>
        </p:nvSpPr>
        <p:spPr bwMode="auto">
          <a:xfrm>
            <a:off x="6864350" y="365601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2.4</a:t>
            </a:r>
            <a:r>
              <a:rPr lang="zh-CN" altLang="en-US" sz="1800">
                <a:ea typeface="宋体" panose="02010600030101010101" pitchFamily="2" charset="-122"/>
              </a:rPr>
              <a:t>万</a:t>
            </a:r>
          </a:p>
        </p:txBody>
      </p:sp>
      <p:sp>
        <p:nvSpPr>
          <p:cNvPr id="613426" name="Text Box 50"/>
          <p:cNvSpPr txBox="1">
            <a:spLocks noChangeArrowheads="1"/>
          </p:cNvSpPr>
          <p:nvPr/>
        </p:nvSpPr>
        <p:spPr bwMode="auto">
          <a:xfrm>
            <a:off x="6156325" y="4608513"/>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16.67</a:t>
            </a:r>
            <a:r>
              <a:rPr lang="zh-CN" altLang="en-US" sz="1800">
                <a:ea typeface="宋体" panose="02010600030101010101" pitchFamily="2" charset="-122"/>
              </a:rPr>
              <a:t>年</a:t>
            </a:r>
          </a:p>
        </p:txBody>
      </p:sp>
      <p:sp>
        <p:nvSpPr>
          <p:cNvPr id="613427" name="Oval 51"/>
          <p:cNvSpPr>
            <a:spLocks noChangeArrowheads="1"/>
          </p:cNvSpPr>
          <p:nvPr/>
        </p:nvSpPr>
        <p:spPr bwMode="auto">
          <a:xfrm>
            <a:off x="6394450" y="4494213"/>
            <a:ext cx="149225" cy="152400"/>
          </a:xfrm>
          <a:prstGeom prst="ellipse">
            <a:avLst/>
          </a:prstGeom>
          <a:solidFill>
            <a:srgbClr val="0000FF"/>
          </a:solidFill>
          <a:ln w="9525">
            <a:solidFill>
              <a:schemeClr val="tx1"/>
            </a:solidFill>
            <a:round/>
            <a:headEnd/>
            <a:tailEnd/>
          </a:ln>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18461" name="Line 52"/>
          <p:cNvSpPr>
            <a:spLocks noChangeShapeType="1"/>
          </p:cNvSpPr>
          <p:nvPr/>
        </p:nvSpPr>
        <p:spPr bwMode="auto">
          <a:xfrm>
            <a:off x="7350125" y="2163763"/>
            <a:ext cx="0" cy="1108075"/>
          </a:xfrm>
          <a:prstGeom prst="line">
            <a:avLst/>
          </a:prstGeom>
          <a:noFill/>
          <a:ln w="9525">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2" name="Rectangle 55"/>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613430" name="Object 54"/>
          <p:cNvGraphicFramePr>
            <a:graphicFrameLocks noChangeAspect="1"/>
          </p:cNvGraphicFramePr>
          <p:nvPr/>
        </p:nvGraphicFramePr>
        <p:xfrm>
          <a:off x="282575" y="5664200"/>
          <a:ext cx="8351838" cy="674688"/>
        </p:xfrm>
        <a:graphic>
          <a:graphicData uri="http://schemas.openxmlformats.org/presentationml/2006/ole">
            <mc:AlternateContent xmlns:mc="http://schemas.openxmlformats.org/markup-compatibility/2006">
              <mc:Choice xmlns:v="urn:schemas-microsoft-com:vml" Requires="v">
                <p:oleObj spid="_x0000_s18482" name="公式" r:id="rId3" imgW="5181600" imgH="419100" progId="Equation.3">
                  <p:embed/>
                </p:oleObj>
              </mc:Choice>
              <mc:Fallback>
                <p:oleObj name="公式" r:id="rId3" imgW="5181600" imgH="419100"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75" y="5664200"/>
                        <a:ext cx="835183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3418"/>
                                        </p:tgtEl>
                                        <p:attrNameLst>
                                          <p:attrName>style.visibility</p:attrName>
                                        </p:attrNameLst>
                                      </p:cBhvr>
                                      <p:to>
                                        <p:strVal val="visible"/>
                                      </p:to>
                                    </p:set>
                                    <p:animEffect transition="in" filter="blinds(horizontal)">
                                      <p:cBhvr>
                                        <p:cTn id="7" dur="500"/>
                                        <p:tgtEl>
                                          <p:spTgt spid="6134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3420"/>
                                        </p:tgtEl>
                                        <p:attrNameLst>
                                          <p:attrName>style.visibility</p:attrName>
                                        </p:attrNameLst>
                                      </p:cBhvr>
                                      <p:to>
                                        <p:strVal val="visible"/>
                                      </p:to>
                                    </p:set>
                                    <p:animEffect transition="in" filter="blinds(horizontal)">
                                      <p:cBhvr>
                                        <p:cTn id="10" dur="500"/>
                                        <p:tgtEl>
                                          <p:spTgt spid="6134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3419"/>
                                        </p:tgtEl>
                                        <p:attrNameLst>
                                          <p:attrName>style.visibility</p:attrName>
                                        </p:attrNameLst>
                                      </p:cBhvr>
                                      <p:to>
                                        <p:strVal val="visible"/>
                                      </p:to>
                                    </p:set>
                                    <p:animEffect transition="in" filter="blinds(horizontal)">
                                      <p:cBhvr>
                                        <p:cTn id="13" dur="500"/>
                                        <p:tgtEl>
                                          <p:spTgt spid="6134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13424"/>
                                        </p:tgtEl>
                                        <p:attrNameLst>
                                          <p:attrName>style.visibility</p:attrName>
                                        </p:attrNameLst>
                                      </p:cBhvr>
                                      <p:to>
                                        <p:strVal val="visible"/>
                                      </p:to>
                                    </p:set>
                                    <p:animEffect transition="in" filter="blinds(horizontal)">
                                      <p:cBhvr>
                                        <p:cTn id="18" dur="500"/>
                                        <p:tgtEl>
                                          <p:spTgt spid="61342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13421"/>
                                        </p:tgtEl>
                                        <p:attrNameLst>
                                          <p:attrName>style.visibility</p:attrName>
                                        </p:attrNameLst>
                                      </p:cBhvr>
                                      <p:to>
                                        <p:strVal val="visible"/>
                                      </p:to>
                                    </p:set>
                                    <p:animEffect transition="in" filter="blinds(horizontal)">
                                      <p:cBhvr>
                                        <p:cTn id="21" dur="500"/>
                                        <p:tgtEl>
                                          <p:spTgt spid="6134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13425"/>
                                        </p:tgtEl>
                                        <p:attrNameLst>
                                          <p:attrName>style.visibility</p:attrName>
                                        </p:attrNameLst>
                                      </p:cBhvr>
                                      <p:to>
                                        <p:strVal val="visible"/>
                                      </p:to>
                                    </p:set>
                                    <p:animEffect transition="in" filter="blinds(horizontal)">
                                      <p:cBhvr>
                                        <p:cTn id="26" dur="500"/>
                                        <p:tgtEl>
                                          <p:spTgt spid="61342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13422"/>
                                        </p:tgtEl>
                                        <p:attrNameLst>
                                          <p:attrName>style.visibility</p:attrName>
                                        </p:attrNameLst>
                                      </p:cBhvr>
                                      <p:to>
                                        <p:strVal val="visible"/>
                                      </p:to>
                                    </p:set>
                                    <p:animEffect transition="in" filter="blinds(horizontal)">
                                      <p:cBhvr>
                                        <p:cTn id="29" dur="500"/>
                                        <p:tgtEl>
                                          <p:spTgt spid="6134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13423"/>
                                        </p:tgtEl>
                                        <p:attrNameLst>
                                          <p:attrName>style.visibility</p:attrName>
                                        </p:attrNameLst>
                                      </p:cBhvr>
                                      <p:to>
                                        <p:strVal val="visible"/>
                                      </p:to>
                                    </p:set>
                                    <p:animEffect transition="in" filter="blinds(horizontal)">
                                      <p:cBhvr>
                                        <p:cTn id="34" dur="500"/>
                                        <p:tgtEl>
                                          <p:spTgt spid="6134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13427"/>
                                        </p:tgtEl>
                                        <p:attrNameLst>
                                          <p:attrName>style.visibility</p:attrName>
                                        </p:attrNameLst>
                                      </p:cBhvr>
                                      <p:to>
                                        <p:strVal val="visible"/>
                                      </p:to>
                                    </p:set>
                                    <p:animEffect transition="in" filter="blinds(horizontal)">
                                      <p:cBhvr>
                                        <p:cTn id="39" dur="500"/>
                                        <p:tgtEl>
                                          <p:spTgt spid="61342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13426"/>
                                        </p:tgtEl>
                                        <p:attrNameLst>
                                          <p:attrName>style.visibility</p:attrName>
                                        </p:attrNameLst>
                                      </p:cBhvr>
                                      <p:to>
                                        <p:strVal val="visible"/>
                                      </p:to>
                                    </p:set>
                                    <p:animEffect transition="in" filter="blinds(horizontal)">
                                      <p:cBhvr>
                                        <p:cTn id="42" dur="500"/>
                                        <p:tgtEl>
                                          <p:spTgt spid="6134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613430"/>
                                        </p:tgtEl>
                                        <p:attrNameLst>
                                          <p:attrName>style.visibility</p:attrName>
                                        </p:attrNameLst>
                                      </p:cBhvr>
                                      <p:to>
                                        <p:strVal val="visible"/>
                                      </p:to>
                                    </p:set>
                                    <p:anim calcmode="lin" valueType="num">
                                      <p:cBhvr additive="base">
                                        <p:cTn id="47" dur="500" fill="hold"/>
                                        <p:tgtEl>
                                          <p:spTgt spid="613430"/>
                                        </p:tgtEl>
                                        <p:attrNameLst>
                                          <p:attrName>ppt_x</p:attrName>
                                        </p:attrNameLst>
                                      </p:cBhvr>
                                      <p:tavLst>
                                        <p:tav tm="0">
                                          <p:val>
                                            <p:strVal val="#ppt_x"/>
                                          </p:val>
                                        </p:tav>
                                        <p:tav tm="100000">
                                          <p:val>
                                            <p:strVal val="#ppt_x"/>
                                          </p:val>
                                        </p:tav>
                                      </p:tavLst>
                                    </p:anim>
                                    <p:anim calcmode="lin" valueType="num">
                                      <p:cBhvr additive="base">
                                        <p:cTn id="48" dur="500" fill="hold"/>
                                        <p:tgtEl>
                                          <p:spTgt spid="613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418" grpId="0" animBg="1"/>
      <p:bldP spid="613419" grpId="0"/>
      <p:bldP spid="613420" grpId="0"/>
      <p:bldP spid="613421" grpId="0" animBg="1"/>
      <p:bldP spid="613422" grpId="0" animBg="1"/>
      <p:bldP spid="613423" grpId="0" animBg="1"/>
      <p:bldP spid="613424" grpId="0"/>
      <p:bldP spid="613425" grpId="0"/>
      <p:bldP spid="613426" grpId="0"/>
      <p:bldP spid="6134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82575" y="12700"/>
            <a:ext cx="8861425" cy="1181100"/>
          </a:xfrm>
        </p:spPr>
        <p:txBody>
          <a:bodyPr/>
          <a:lstStyle/>
          <a:p>
            <a:pPr eaLnBrk="1" hangingPunct="1"/>
            <a:r>
              <a:rPr lang="zh-CN" altLang="en-US" sz="4000" smtClean="0"/>
              <a:t>利用静态投资回收期</a:t>
            </a:r>
            <a:r>
              <a:rPr lang="en-US" altLang="zh-CN" sz="4000" smtClean="0"/>
              <a:t>P</a:t>
            </a:r>
            <a:r>
              <a:rPr lang="en-US" altLang="zh-CN" sz="4000" baseline="-25000" smtClean="0"/>
              <a:t>t</a:t>
            </a:r>
            <a:r>
              <a:rPr lang="zh-CN" altLang="en-US" sz="4000" smtClean="0"/>
              <a:t>的进行方案评价</a:t>
            </a:r>
          </a:p>
        </p:txBody>
      </p:sp>
      <p:sp>
        <p:nvSpPr>
          <p:cNvPr id="615427" name="Rectangle 3"/>
          <p:cNvSpPr>
            <a:spLocks noGrp="1" noChangeArrowheads="1"/>
          </p:cNvSpPr>
          <p:nvPr>
            <p:ph type="body" sz="half" idx="1"/>
          </p:nvPr>
        </p:nvSpPr>
        <p:spPr>
          <a:xfrm>
            <a:off x="0" y="1346200"/>
            <a:ext cx="9144000" cy="5029200"/>
          </a:xfrm>
        </p:spPr>
        <p:txBody>
          <a:bodyPr/>
          <a:lstStyle/>
          <a:p>
            <a:pPr eaLnBrk="1" hangingPunct="1"/>
            <a:r>
              <a:rPr lang="zh-CN" altLang="en-US" b="1" smtClean="0"/>
              <a:t>将计算出的</a:t>
            </a:r>
            <a:r>
              <a:rPr lang="en-US" altLang="zh-CN" b="1" smtClean="0"/>
              <a:t>P</a:t>
            </a:r>
            <a:r>
              <a:rPr lang="en-US" altLang="zh-CN" b="1" baseline="-25000" smtClean="0"/>
              <a:t>t</a:t>
            </a:r>
            <a:r>
              <a:rPr lang="zh-CN" altLang="en-US" b="1" smtClean="0"/>
              <a:t>与事先确定的基准投资回收期</a:t>
            </a:r>
            <a:r>
              <a:rPr lang="en-US" altLang="zh-CN" b="1" smtClean="0"/>
              <a:t>P</a:t>
            </a:r>
            <a:r>
              <a:rPr lang="en-US" altLang="zh-CN" b="1" baseline="-25000" smtClean="0"/>
              <a:t>c</a:t>
            </a:r>
            <a:r>
              <a:rPr lang="zh-CN" altLang="en-US" b="1" smtClean="0"/>
              <a:t>进行比较。</a:t>
            </a:r>
          </a:p>
          <a:p>
            <a:pPr lvl="1" eaLnBrk="1" hangingPunct="1"/>
            <a:r>
              <a:rPr lang="zh-CN" altLang="en-US" b="1" smtClean="0"/>
              <a:t>如果          ，表明项目投入的总资金能够在规定的时间内收回，可以考虑接受这个方案；</a:t>
            </a:r>
          </a:p>
          <a:p>
            <a:pPr lvl="1" eaLnBrk="1" hangingPunct="1"/>
            <a:r>
              <a:rPr lang="zh-CN" altLang="en-US" b="1" smtClean="0"/>
              <a:t>如果          ，方案不可接受。</a:t>
            </a:r>
          </a:p>
          <a:p>
            <a:pPr lvl="1" eaLnBrk="1" hangingPunct="1"/>
            <a:endParaRPr lang="zh-CN" altLang="en-US" b="1" smtClean="0"/>
          </a:p>
          <a:p>
            <a:pPr eaLnBrk="1" hangingPunct="1"/>
            <a:r>
              <a:rPr lang="zh-CN" altLang="en-US" b="1" smtClean="0"/>
              <a:t>五道口房产投资</a:t>
            </a:r>
          </a:p>
          <a:p>
            <a:pPr lvl="1" eaLnBrk="1" hangingPunct="1"/>
            <a:r>
              <a:rPr lang="zh-CN" altLang="en-US" b="1" smtClean="0"/>
              <a:t>若设定</a:t>
            </a:r>
            <a:r>
              <a:rPr lang="en-US" altLang="zh-CN" b="1" smtClean="0"/>
              <a:t>P</a:t>
            </a:r>
            <a:r>
              <a:rPr lang="en-US" altLang="zh-CN" sz="3200" b="1" baseline="-25000" smtClean="0"/>
              <a:t>c</a:t>
            </a:r>
            <a:r>
              <a:rPr lang="en-US" altLang="zh-CN" b="1" smtClean="0"/>
              <a:t>=18</a:t>
            </a:r>
            <a:r>
              <a:rPr lang="zh-CN" altLang="en-US" b="1" smtClean="0"/>
              <a:t>年，则项目可以接受；</a:t>
            </a:r>
          </a:p>
          <a:p>
            <a:pPr lvl="1" eaLnBrk="1" hangingPunct="1"/>
            <a:r>
              <a:rPr lang="zh-CN" altLang="en-US" b="1" smtClean="0"/>
              <a:t>若设定</a:t>
            </a:r>
            <a:r>
              <a:rPr lang="en-US" altLang="zh-CN" b="1" smtClean="0"/>
              <a:t>P</a:t>
            </a:r>
            <a:r>
              <a:rPr lang="en-US" altLang="zh-CN" sz="3200" b="1" baseline="-25000" smtClean="0"/>
              <a:t>c</a:t>
            </a:r>
            <a:r>
              <a:rPr lang="en-US" altLang="zh-CN" b="1" smtClean="0"/>
              <a:t>=15</a:t>
            </a:r>
            <a:r>
              <a:rPr lang="zh-CN" altLang="en-US" b="1" smtClean="0"/>
              <a:t>年，则项目不可以接受。</a:t>
            </a:r>
          </a:p>
        </p:txBody>
      </p:sp>
      <p:sp>
        <p:nvSpPr>
          <p:cNvPr id="19460" name="Rectangle 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19461" name="Object 4"/>
          <p:cNvGraphicFramePr>
            <a:graphicFrameLocks noChangeAspect="1"/>
          </p:cNvGraphicFramePr>
          <p:nvPr/>
        </p:nvGraphicFramePr>
        <p:xfrm>
          <a:off x="1549400" y="2447925"/>
          <a:ext cx="977900" cy="500063"/>
        </p:xfrm>
        <a:graphic>
          <a:graphicData uri="http://schemas.openxmlformats.org/presentationml/2006/ole">
            <mc:AlternateContent xmlns:mc="http://schemas.openxmlformats.org/markup-compatibility/2006">
              <mc:Choice xmlns:v="urn:schemas-microsoft-com:vml" Requires="v">
                <p:oleObj spid="_x0000_s19498" name="公式" r:id="rId3" imgW="444307" imgH="228501" progId="Equation.3">
                  <p:embed/>
                </p:oleObj>
              </mc:Choice>
              <mc:Fallback>
                <p:oleObj name="公式" r:id="rId3" imgW="444307" imgH="22850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2447925"/>
                        <a:ext cx="9779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2" name="Object 6"/>
          <p:cNvGraphicFramePr>
            <a:graphicFrameLocks noGrp="1" noChangeAspect="1"/>
          </p:cNvGraphicFramePr>
          <p:nvPr>
            <p:ph sz="half" idx="2"/>
          </p:nvPr>
        </p:nvGraphicFramePr>
        <p:xfrm>
          <a:off x="1549400" y="3314700"/>
          <a:ext cx="977900" cy="503238"/>
        </p:xfrm>
        <a:graphic>
          <a:graphicData uri="http://schemas.openxmlformats.org/presentationml/2006/ole">
            <mc:AlternateContent xmlns:mc="http://schemas.openxmlformats.org/markup-compatibility/2006">
              <mc:Choice xmlns:v="urn:schemas-microsoft-com:vml" Requires="v">
                <p:oleObj spid="_x0000_s19499" name="公式" r:id="rId5" imgW="444307" imgH="228501" progId="Equation.3">
                  <p:embed/>
                </p:oleObj>
              </mc:Choice>
              <mc:Fallback>
                <p:oleObj name="公式" r:id="rId5" imgW="444307" imgH="22850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9400" y="3314700"/>
                        <a:ext cx="97790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5427">
                                            <p:txEl>
                                              <p:pRg st="4" end="4"/>
                                            </p:txEl>
                                          </p:spTgt>
                                        </p:tgtEl>
                                        <p:attrNameLst>
                                          <p:attrName>style.visibility</p:attrName>
                                        </p:attrNameLst>
                                      </p:cBhvr>
                                      <p:to>
                                        <p:strVal val="visible"/>
                                      </p:to>
                                    </p:set>
                                    <p:animEffect transition="in" filter="blinds(horizontal)">
                                      <p:cBhvr>
                                        <p:cTn id="7" dur="500"/>
                                        <p:tgtEl>
                                          <p:spTgt spid="615427">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5427">
                                            <p:txEl>
                                              <p:pRg st="5" end="5"/>
                                            </p:txEl>
                                          </p:spTgt>
                                        </p:tgtEl>
                                        <p:attrNameLst>
                                          <p:attrName>style.visibility</p:attrName>
                                        </p:attrNameLst>
                                      </p:cBhvr>
                                      <p:to>
                                        <p:strVal val="visible"/>
                                      </p:to>
                                    </p:set>
                                    <p:animEffect transition="in" filter="blinds(horizontal)">
                                      <p:cBhvr>
                                        <p:cTn id="10" dur="500"/>
                                        <p:tgtEl>
                                          <p:spTgt spid="615427">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5427">
                                            <p:txEl>
                                              <p:pRg st="6" end="6"/>
                                            </p:txEl>
                                          </p:spTgt>
                                        </p:tgtEl>
                                        <p:attrNameLst>
                                          <p:attrName>style.visibility</p:attrName>
                                        </p:attrNameLst>
                                      </p:cBhvr>
                                      <p:to>
                                        <p:strVal val="visible"/>
                                      </p:to>
                                    </p:set>
                                    <p:animEffect transition="in" filter="blinds(horizontal)">
                                      <p:cBhvr>
                                        <p:cTn id="13" dur="500"/>
                                        <p:tgtEl>
                                          <p:spTgt spid="6154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z="4000" smtClean="0"/>
              <a:t>动态评价指标：动态投资回收期</a:t>
            </a:r>
            <a:r>
              <a:rPr lang="en-US" altLang="zh-CN" sz="4000" smtClean="0"/>
              <a:t>P</a:t>
            </a:r>
            <a:r>
              <a:rPr lang="en-US" altLang="zh-CN" sz="4000" baseline="-25000" smtClean="0"/>
              <a:t>t</a:t>
            </a:r>
            <a:r>
              <a:rPr lang="en-US" altLang="zh-CN" sz="4000" smtClean="0"/>
              <a:t>’</a:t>
            </a:r>
          </a:p>
        </p:txBody>
      </p:sp>
      <p:sp>
        <p:nvSpPr>
          <p:cNvPr id="20483" name="Rectangle 3"/>
          <p:cNvSpPr>
            <a:spLocks noGrp="1" noChangeArrowheads="1"/>
          </p:cNvSpPr>
          <p:nvPr>
            <p:ph type="body" sz="half" idx="1"/>
          </p:nvPr>
        </p:nvSpPr>
        <p:spPr>
          <a:xfrm>
            <a:off x="0" y="1346200"/>
            <a:ext cx="9144000" cy="5041900"/>
          </a:xfrm>
        </p:spPr>
        <p:txBody>
          <a:bodyPr/>
          <a:lstStyle/>
          <a:p>
            <a:pPr eaLnBrk="1" hangingPunct="1"/>
            <a:r>
              <a:rPr lang="zh-CN" altLang="en-US" sz="2800" b="1" smtClean="0"/>
              <a:t>为了克服静态投资回收期未考虑资金时间价值的缺点，在项目评价时有时采用动态投资回收期。它是能使下式成立的</a:t>
            </a:r>
            <a:r>
              <a:rPr lang="en-US" altLang="zh-CN" sz="2800" b="1" smtClean="0"/>
              <a:t>P</a:t>
            </a:r>
            <a:r>
              <a:rPr lang="en-US" altLang="zh-CN" sz="2800" b="1" baseline="-25000" smtClean="0"/>
              <a:t>t</a:t>
            </a:r>
            <a:r>
              <a:rPr lang="en-US" altLang="zh-CN" sz="2800" b="1" smtClean="0"/>
              <a:t>’</a:t>
            </a:r>
          </a:p>
          <a:p>
            <a:pPr eaLnBrk="1" hangingPunct="1"/>
            <a:endParaRPr lang="en-US" altLang="zh-CN" sz="2800" b="1" smtClean="0"/>
          </a:p>
          <a:p>
            <a:pPr eaLnBrk="1" hangingPunct="1"/>
            <a:endParaRPr lang="en-US" altLang="zh-CN" sz="2800" b="1" smtClean="0"/>
          </a:p>
          <a:p>
            <a:pPr lvl="1" eaLnBrk="1" hangingPunct="1"/>
            <a:r>
              <a:rPr lang="en-US" altLang="zh-CN" sz="2400" b="1" i="1" smtClean="0">
                <a:latin typeface="Times New Roman" panose="02020603050405020304" pitchFamily="18" charset="0"/>
              </a:rPr>
              <a:t>i</a:t>
            </a:r>
            <a:r>
              <a:rPr lang="en-US" altLang="zh-CN" sz="1800" b="1" i="1" smtClean="0">
                <a:latin typeface="Times New Roman" panose="02020603050405020304" pitchFamily="18" charset="0"/>
              </a:rPr>
              <a:t>c</a:t>
            </a:r>
            <a:r>
              <a:rPr lang="zh-CN" altLang="en-US" sz="2400" b="1" smtClean="0"/>
              <a:t>为折现率</a:t>
            </a:r>
          </a:p>
          <a:p>
            <a:pPr eaLnBrk="1" hangingPunct="1"/>
            <a:endParaRPr lang="zh-CN" altLang="en-US" sz="2800" b="1" smtClean="0"/>
          </a:p>
          <a:p>
            <a:pPr eaLnBrk="1" hangingPunct="1"/>
            <a:r>
              <a:rPr lang="zh-CN" altLang="en-US" sz="2800" b="1" smtClean="0"/>
              <a:t>设基准动态投资回收期为</a:t>
            </a:r>
            <a:r>
              <a:rPr lang="en-US" altLang="zh-CN" sz="2800" b="1" smtClean="0"/>
              <a:t>P</a:t>
            </a:r>
            <a:r>
              <a:rPr lang="en-US" altLang="zh-CN" sz="2800" b="1" baseline="-25000" smtClean="0"/>
              <a:t>c</a:t>
            </a:r>
            <a:r>
              <a:rPr lang="en-US" altLang="zh-CN" sz="2800" b="1" smtClean="0"/>
              <a:t>’</a:t>
            </a:r>
            <a:r>
              <a:rPr lang="zh-CN" altLang="en-US" sz="2800" b="1" smtClean="0"/>
              <a:t>，判别准则为：</a:t>
            </a:r>
          </a:p>
          <a:p>
            <a:pPr lvl="1" eaLnBrk="1" hangingPunct="1"/>
            <a:r>
              <a:rPr lang="zh-CN" altLang="en-US" sz="2400" b="1" smtClean="0"/>
              <a:t>若            ，则可以考虑接受该项目；</a:t>
            </a:r>
          </a:p>
          <a:p>
            <a:pPr lvl="1" eaLnBrk="1" hangingPunct="1"/>
            <a:r>
              <a:rPr lang="zh-CN" altLang="en-US" sz="2400" b="1" smtClean="0"/>
              <a:t>若            ，则应该拒绝项目。</a:t>
            </a:r>
          </a:p>
        </p:txBody>
      </p:sp>
      <p:graphicFrame>
        <p:nvGraphicFramePr>
          <p:cNvPr id="20484" name="Object 4"/>
          <p:cNvGraphicFramePr>
            <a:graphicFrameLocks noGrp="1" noChangeAspect="1"/>
          </p:cNvGraphicFramePr>
          <p:nvPr>
            <p:ph sz="quarter" idx="2"/>
          </p:nvPr>
        </p:nvGraphicFramePr>
        <p:xfrm>
          <a:off x="2149475" y="2838450"/>
          <a:ext cx="3328988" cy="958850"/>
        </p:xfrm>
        <a:graphic>
          <a:graphicData uri="http://schemas.openxmlformats.org/presentationml/2006/ole">
            <mc:AlternateContent xmlns:mc="http://schemas.openxmlformats.org/markup-compatibility/2006">
              <mc:Choice xmlns:v="urn:schemas-microsoft-com:vml" Requires="v">
                <p:oleObj spid="_x0000_s20539" name="公式" r:id="rId4" imgW="1587500" imgH="457200" progId="Equation.3">
                  <p:embed/>
                </p:oleObj>
              </mc:Choice>
              <mc:Fallback>
                <p:oleObj name="公式" r:id="rId4" imgW="15875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9475" y="2838450"/>
                        <a:ext cx="3328988"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5" name="Object 5"/>
          <p:cNvGraphicFramePr>
            <a:graphicFrameLocks noGrp="1" noChangeAspect="1"/>
          </p:cNvGraphicFramePr>
          <p:nvPr>
            <p:ph sz="quarter" idx="3"/>
          </p:nvPr>
        </p:nvGraphicFramePr>
        <p:xfrm>
          <a:off x="1130300" y="5141913"/>
          <a:ext cx="1019175" cy="482600"/>
        </p:xfrm>
        <a:graphic>
          <a:graphicData uri="http://schemas.openxmlformats.org/presentationml/2006/ole">
            <mc:AlternateContent xmlns:mc="http://schemas.openxmlformats.org/markup-compatibility/2006">
              <mc:Choice xmlns:v="urn:schemas-microsoft-com:vml" Requires="v">
                <p:oleObj spid="_x0000_s20540" name="公式" r:id="rId6" imgW="482391" imgH="228501" progId="Equation.3">
                  <p:embed/>
                </p:oleObj>
              </mc:Choice>
              <mc:Fallback>
                <p:oleObj name="公式" r:id="rId6" imgW="482391" imgH="228501"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0300" y="5141913"/>
                        <a:ext cx="10191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7"/>
          <p:cNvGraphicFramePr>
            <a:graphicFrameLocks noChangeAspect="1"/>
          </p:cNvGraphicFramePr>
          <p:nvPr/>
        </p:nvGraphicFramePr>
        <p:xfrm>
          <a:off x="1130300" y="5624513"/>
          <a:ext cx="1019175" cy="482600"/>
        </p:xfrm>
        <a:graphic>
          <a:graphicData uri="http://schemas.openxmlformats.org/presentationml/2006/ole">
            <mc:AlternateContent xmlns:mc="http://schemas.openxmlformats.org/markup-compatibility/2006">
              <mc:Choice xmlns:v="urn:schemas-microsoft-com:vml" Requires="v">
                <p:oleObj spid="_x0000_s20541" name="公式" r:id="rId8" imgW="482391" imgH="228501" progId="Equation.3">
                  <p:embed/>
                </p:oleObj>
              </mc:Choice>
              <mc:Fallback>
                <p:oleObj name="公式" r:id="rId8" imgW="482391" imgH="228501"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0300" y="5624513"/>
                        <a:ext cx="10191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mtClean="0"/>
              <a:t>动态投资回收期 </a:t>
            </a:r>
            <a:r>
              <a:rPr lang="en-US" altLang="zh-CN" smtClean="0"/>
              <a:t>(</a:t>
            </a:r>
            <a:r>
              <a:rPr lang="en-US" altLang="zh-CN" i="1" smtClean="0"/>
              <a:t>i</a:t>
            </a:r>
            <a:r>
              <a:rPr lang="en-US" altLang="zh-CN" i="1" baseline="-25000" smtClean="0"/>
              <a:t>c</a:t>
            </a:r>
            <a:r>
              <a:rPr lang="en-US" altLang="zh-CN" smtClean="0"/>
              <a:t>=5%)</a:t>
            </a:r>
          </a:p>
        </p:txBody>
      </p:sp>
      <p:graphicFrame>
        <p:nvGraphicFramePr>
          <p:cNvPr id="619759" name="Group 239"/>
          <p:cNvGraphicFramePr>
            <a:graphicFrameLocks noGrp="1"/>
          </p:cNvGraphicFramePr>
          <p:nvPr>
            <p:ph idx="1"/>
          </p:nvPr>
        </p:nvGraphicFramePr>
        <p:xfrm>
          <a:off x="25400" y="1409700"/>
          <a:ext cx="9017000" cy="4718112"/>
        </p:xfrm>
        <a:graphic>
          <a:graphicData uri="http://schemas.openxmlformats.org/drawingml/2006/table">
            <a:tbl>
              <a:tblPr/>
              <a:tblGrid>
                <a:gridCol w="863600">
                  <a:extLst>
                    <a:ext uri="{9D8B030D-6E8A-4147-A177-3AD203B41FA5}">
                      <a16:colId xmlns:a16="http://schemas.microsoft.com/office/drawing/2014/main" xmlns="" val="20000"/>
                    </a:ext>
                  </a:extLst>
                </a:gridCol>
                <a:gridCol w="1104900">
                  <a:extLst>
                    <a:ext uri="{9D8B030D-6E8A-4147-A177-3AD203B41FA5}">
                      <a16:colId xmlns:a16="http://schemas.microsoft.com/office/drawing/2014/main" xmlns="" val="20001"/>
                    </a:ext>
                  </a:extLst>
                </a:gridCol>
                <a:gridCol w="1282700">
                  <a:extLst>
                    <a:ext uri="{9D8B030D-6E8A-4147-A177-3AD203B41FA5}">
                      <a16:colId xmlns:a16="http://schemas.microsoft.com/office/drawing/2014/main" xmlns="" val="20002"/>
                    </a:ext>
                  </a:extLst>
                </a:gridCol>
                <a:gridCol w="1257300">
                  <a:extLst>
                    <a:ext uri="{9D8B030D-6E8A-4147-A177-3AD203B41FA5}">
                      <a16:colId xmlns:a16="http://schemas.microsoft.com/office/drawing/2014/main" xmlns="" val="20003"/>
                    </a:ext>
                  </a:extLst>
                </a:gridCol>
                <a:gridCol w="1003300">
                  <a:extLst>
                    <a:ext uri="{9D8B030D-6E8A-4147-A177-3AD203B41FA5}">
                      <a16:colId xmlns:a16="http://schemas.microsoft.com/office/drawing/2014/main" xmlns="" val="20004"/>
                    </a:ext>
                  </a:extLst>
                </a:gridCol>
                <a:gridCol w="1130300">
                  <a:extLst>
                    <a:ext uri="{9D8B030D-6E8A-4147-A177-3AD203B41FA5}">
                      <a16:colId xmlns:a16="http://schemas.microsoft.com/office/drawing/2014/main" xmlns="" val="20005"/>
                    </a:ext>
                  </a:extLst>
                </a:gridCol>
                <a:gridCol w="1257300">
                  <a:extLst>
                    <a:ext uri="{9D8B030D-6E8A-4147-A177-3AD203B41FA5}">
                      <a16:colId xmlns:a16="http://schemas.microsoft.com/office/drawing/2014/main" xmlns="" val="20006"/>
                    </a:ext>
                  </a:extLst>
                </a:gridCol>
                <a:gridCol w="1117600">
                  <a:extLst>
                    <a:ext uri="{9D8B030D-6E8A-4147-A177-3AD203B41FA5}">
                      <a16:colId xmlns:a16="http://schemas.microsoft.com/office/drawing/2014/main" xmlns="" val="20007"/>
                    </a:ext>
                  </a:extLst>
                </a:gridCol>
              </a:tblGrid>
              <a:tr h="694917">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年份</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现金流量</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现金流量折现值</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累计现金流量</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年份</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现金流量</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现金流量折现值</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累计现金流量</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r>
                        <a:rPr kumimoji="0" lang="zh-CN" altLang="en-US" sz="1800" b="1" i="0" u="none" strike="noStrike" cap="none" normalizeH="0" baseline="0" smtClean="0">
                          <a:ln>
                            <a:noFill/>
                          </a:ln>
                          <a:solidFill>
                            <a:srgbClr val="000000"/>
                          </a:solidFill>
                          <a:effectLst/>
                          <a:latin typeface="Arial" pitchFamily="34" charset="0"/>
                          <a:ea typeface="楷体_GB2312"/>
                          <a:cs typeface="楷体_GB2312"/>
                        </a:rPr>
                        <a:t>万</a:t>
                      </a: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0</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-120</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-120</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-120</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11</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4.21</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-60.19</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6.86</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-113.14</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12</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4.01</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-56.18</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2</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6.53</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-106.61</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13</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3.82</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-52.37</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6.22</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-100.39</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14</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3.64</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-48.73</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5.92</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-94.47</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15</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3.46</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-45.27</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5</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5.64</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-88.83</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16</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3.30</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-41.97</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6</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5.37</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-83.46</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17</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3.14</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-38.83</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5.12</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-78.34</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18</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2.99</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-35.83</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8</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4.87</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-73.46</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19</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2.85</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-32.99</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9</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4.64</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-68.82</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20</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247.2</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93.17</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60.18</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365739">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10</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7.2</a:t>
                      </a:r>
                      <a:endParaRPr kumimoji="0" lang="zh-CN" altLang="en-US" sz="1800" b="1" i="0" u="none" strike="noStrike" cap="none" normalizeH="0" baseline="0" smtClean="0">
                        <a:ln>
                          <a:noFill/>
                        </a:ln>
                        <a:solidFill>
                          <a:srgbClr val="000000"/>
                        </a:solidFill>
                        <a:effectLst/>
                        <a:latin typeface="Arial"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Arial" pitchFamily="34" charset="0"/>
                          <a:ea typeface="楷体_GB2312"/>
                          <a:cs typeface="楷体_GB2312"/>
                        </a:rPr>
                        <a:t>4.42</a:t>
                      </a: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FF0000"/>
                          </a:solidFill>
                          <a:effectLst/>
                          <a:latin typeface="Arial" pitchFamily="34" charset="0"/>
                          <a:ea typeface="楷体_GB2312"/>
                          <a:cs typeface="楷体_GB2312"/>
                        </a:rPr>
                        <a:t>-64.40</a:t>
                      </a: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rgbClr val="0000CC"/>
                          </a:solidFill>
                          <a:effectLst/>
                          <a:latin typeface="Arial" pitchFamily="34" charset="0"/>
                          <a:ea typeface="楷体_GB2312"/>
                          <a:cs typeface="楷体_GB2312"/>
                        </a:rPr>
                        <a:t>动态投资回收期</a:t>
                      </a: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rgbClr val="0000CC"/>
                          </a:solidFill>
                          <a:effectLst/>
                          <a:latin typeface="Arial" pitchFamily="34" charset="0"/>
                          <a:ea typeface="楷体_GB2312"/>
                          <a:cs typeface="楷体_GB2312"/>
                        </a:rPr>
                        <a:t>19.35</a:t>
                      </a:r>
                      <a:r>
                        <a:rPr kumimoji="0" lang="zh-CN" altLang="en-US" sz="1800" b="1" i="0" u="none" strike="noStrike" cap="none" normalizeH="0" baseline="0" smtClean="0">
                          <a:ln>
                            <a:noFill/>
                          </a:ln>
                          <a:solidFill>
                            <a:srgbClr val="0000CC"/>
                          </a:solidFill>
                          <a:effectLst/>
                          <a:latin typeface="Arial" pitchFamily="34" charset="0"/>
                          <a:ea typeface="楷体_GB2312"/>
                          <a:cs typeface="楷体_GB2312"/>
                        </a:rPr>
                        <a:t>年</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bl>
          </a:graphicData>
        </a:graphic>
      </p:graphicFrame>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kumimoji="1" lang="zh-CN" altLang="en-US" smtClean="0"/>
              <a:t>投资回收期</a:t>
            </a:r>
          </a:p>
        </p:txBody>
      </p:sp>
      <p:sp>
        <p:nvSpPr>
          <p:cNvPr id="23555" name="Rectangle 3"/>
          <p:cNvSpPr>
            <a:spLocks noGrp="1" noChangeArrowheads="1"/>
          </p:cNvSpPr>
          <p:nvPr>
            <p:ph type="body" idx="1"/>
          </p:nvPr>
        </p:nvSpPr>
        <p:spPr/>
        <p:txBody>
          <a:bodyPr/>
          <a:lstStyle/>
          <a:p>
            <a:pPr eaLnBrk="1" hangingPunct="1"/>
            <a:r>
              <a:rPr kumimoji="1" lang="zh-CN" altLang="en-US" smtClean="0"/>
              <a:t>投资回收期指标的优点是直观、简单，尤其是静态投资回收期，表明投资需要多少年才能回收，便于为投资者衡量风险。</a:t>
            </a:r>
          </a:p>
          <a:p>
            <a:pPr eaLnBrk="1" hangingPunct="1"/>
            <a:r>
              <a:rPr kumimoji="1" lang="zh-CN" altLang="en-US" smtClean="0"/>
              <a:t>投资回收期指标最大的缺点是没有反映投资回收期以后方案的情况</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mtClean="0"/>
              <a:t>动态评价指标二：净现值</a:t>
            </a:r>
            <a:r>
              <a:rPr lang="en-US" altLang="zh-CN" smtClean="0"/>
              <a:t>(NPV)</a:t>
            </a:r>
          </a:p>
        </p:txBody>
      </p:sp>
      <p:sp>
        <p:nvSpPr>
          <p:cNvPr id="523267" name="Rectangle 3"/>
          <p:cNvSpPr>
            <a:spLocks noGrp="1" noChangeArrowheads="1"/>
          </p:cNvSpPr>
          <p:nvPr>
            <p:ph type="body" sz="half" idx="1"/>
          </p:nvPr>
        </p:nvSpPr>
        <p:spPr>
          <a:xfrm>
            <a:off x="0" y="1346200"/>
            <a:ext cx="9144000" cy="5029200"/>
          </a:xfrm>
        </p:spPr>
        <p:txBody>
          <a:bodyPr/>
          <a:lstStyle/>
          <a:p>
            <a:pPr eaLnBrk="1" hangingPunct="1"/>
            <a:r>
              <a:rPr lang="zh-CN" altLang="en-US" b="1" smtClean="0"/>
              <a:t>净现值</a:t>
            </a:r>
            <a:r>
              <a:rPr lang="en-US" altLang="zh-CN" b="1" smtClean="0"/>
              <a:t>(Net Present Value, NPV)</a:t>
            </a:r>
            <a:r>
              <a:rPr lang="zh-CN" altLang="en-US" b="1" smtClean="0"/>
              <a:t>是对投资项目进行动态评价的最重要指标之一。</a:t>
            </a:r>
          </a:p>
          <a:p>
            <a:pPr lvl="1" eaLnBrk="1" hangingPunct="1"/>
            <a:endParaRPr lang="zh-CN" altLang="en-US" b="1" smtClean="0"/>
          </a:p>
          <a:p>
            <a:pPr lvl="1" eaLnBrk="1" hangingPunct="1"/>
            <a:r>
              <a:rPr lang="zh-CN" altLang="en-US" b="1" smtClean="0"/>
              <a:t>用一个预定的基准折现率</a:t>
            </a:r>
            <a:r>
              <a:rPr lang="en-US" altLang="zh-CN" b="1" smtClean="0"/>
              <a:t>i</a:t>
            </a:r>
            <a:r>
              <a:rPr lang="en-US" altLang="zh-CN" b="1" baseline="-25000" smtClean="0"/>
              <a:t>c</a:t>
            </a:r>
            <a:r>
              <a:rPr lang="zh-CN" altLang="en-US" b="1" smtClean="0"/>
              <a:t>，分别把整个计算期内各年所发生的净现金流量都折现到同一时点（通常是期初）的现值之和。</a:t>
            </a:r>
          </a:p>
          <a:p>
            <a:pPr lvl="1" eaLnBrk="1" hangingPunct="1"/>
            <a:endParaRPr lang="zh-CN" altLang="en-US" b="1" smtClean="0"/>
          </a:p>
          <a:p>
            <a:pPr lvl="1" eaLnBrk="1" hangingPunct="1"/>
            <a:endParaRPr lang="zh-CN" altLang="en-US" sz="2400" b="1" smtClean="0"/>
          </a:p>
        </p:txBody>
      </p:sp>
      <p:graphicFrame>
        <p:nvGraphicFramePr>
          <p:cNvPr id="523268" name="Object 4"/>
          <p:cNvGraphicFramePr>
            <a:graphicFrameLocks noGrp="1" noChangeAspect="1"/>
          </p:cNvGraphicFramePr>
          <p:nvPr>
            <p:ph sz="quarter" idx="2"/>
            <p:extLst>
              <p:ext uri="{D42A27DB-BD31-4B8C-83A1-F6EECF244321}">
                <p14:modId xmlns:p14="http://schemas.microsoft.com/office/powerpoint/2010/main" val="382108230"/>
              </p:ext>
            </p:extLst>
          </p:nvPr>
        </p:nvGraphicFramePr>
        <p:xfrm>
          <a:off x="2324100" y="4852125"/>
          <a:ext cx="3979863" cy="939800"/>
        </p:xfrm>
        <a:graphic>
          <a:graphicData uri="http://schemas.openxmlformats.org/presentationml/2006/ole">
            <mc:AlternateContent xmlns:mc="http://schemas.openxmlformats.org/markup-compatibility/2006">
              <mc:Choice xmlns:v="urn:schemas-microsoft-com:vml" Requires="v">
                <p:oleObj spid="_x0000_s24599" name="Equation" r:id="rId4" imgW="1828800" imgH="431800" progId="Equation.DSMT4">
                  <p:embed/>
                </p:oleObj>
              </mc:Choice>
              <mc:Fallback>
                <p:oleObj name="Equation" r:id="rId4" imgW="1828800" imgH="4318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4100" y="4852125"/>
                        <a:ext cx="39798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3267">
                                            <p:txEl>
                                              <p:pRg st="2" end="2"/>
                                            </p:txEl>
                                          </p:spTgt>
                                        </p:tgtEl>
                                        <p:attrNameLst>
                                          <p:attrName>style.visibility</p:attrName>
                                        </p:attrNameLst>
                                      </p:cBhvr>
                                      <p:to>
                                        <p:strVal val="visible"/>
                                      </p:to>
                                    </p:set>
                                    <p:animEffect transition="in" filter="blinds(horizontal)">
                                      <p:cBhvr>
                                        <p:cTn id="7" dur="500"/>
                                        <p:tgtEl>
                                          <p:spTgt spid="523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23268"/>
                                        </p:tgtEl>
                                        <p:attrNameLst>
                                          <p:attrName>style.visibility</p:attrName>
                                        </p:attrNameLst>
                                      </p:cBhvr>
                                      <p:to>
                                        <p:strVal val="visible"/>
                                      </p:to>
                                    </p:set>
                                    <p:anim calcmode="lin" valueType="num">
                                      <p:cBhvr additive="base">
                                        <p:cTn id="12" dur="500" fill="hold"/>
                                        <p:tgtEl>
                                          <p:spTgt spid="523268"/>
                                        </p:tgtEl>
                                        <p:attrNameLst>
                                          <p:attrName>ppt_x</p:attrName>
                                        </p:attrNameLst>
                                      </p:cBhvr>
                                      <p:tavLst>
                                        <p:tav tm="0">
                                          <p:val>
                                            <p:strVal val="#ppt_x"/>
                                          </p:val>
                                        </p:tav>
                                        <p:tav tm="100000">
                                          <p:val>
                                            <p:strVal val="#ppt_x"/>
                                          </p:val>
                                        </p:tav>
                                      </p:tavLst>
                                    </p:anim>
                                    <p:anim calcmode="lin" valueType="num">
                                      <p:cBhvr additive="base">
                                        <p:cTn id="13" dur="500" fill="hold"/>
                                        <p:tgtEl>
                                          <p:spTgt spid="523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mtClean="0"/>
              <a:t>净现值</a:t>
            </a:r>
            <a:r>
              <a:rPr lang="en-US" altLang="zh-CN" smtClean="0"/>
              <a:t>(NPV)</a:t>
            </a:r>
            <a:r>
              <a:rPr lang="zh-CN" altLang="en-US" smtClean="0"/>
              <a:t>的评价准则</a:t>
            </a:r>
          </a:p>
        </p:txBody>
      </p:sp>
      <p:sp>
        <p:nvSpPr>
          <p:cNvPr id="26627" name="Rectangle 3"/>
          <p:cNvSpPr>
            <a:spLocks noGrp="1" noChangeArrowheads="1"/>
          </p:cNvSpPr>
          <p:nvPr>
            <p:ph type="body" idx="1"/>
          </p:nvPr>
        </p:nvSpPr>
        <p:spPr/>
        <p:txBody>
          <a:bodyPr/>
          <a:lstStyle/>
          <a:p>
            <a:pPr eaLnBrk="1" hangingPunct="1"/>
            <a:r>
              <a:rPr lang="zh-CN" altLang="en-US" b="1" smtClean="0"/>
              <a:t>评价准则</a:t>
            </a:r>
          </a:p>
          <a:p>
            <a:pPr lvl="1" eaLnBrk="1" hangingPunct="1"/>
            <a:r>
              <a:rPr lang="zh-CN" altLang="en-US" b="1" smtClean="0"/>
              <a:t>若                ，则项目应予以考虑接受；</a:t>
            </a:r>
          </a:p>
          <a:p>
            <a:pPr lvl="1" eaLnBrk="1" hangingPunct="1"/>
            <a:r>
              <a:rPr lang="zh-CN" altLang="en-US" b="1" smtClean="0"/>
              <a:t>若                ，则项目应予以拒绝。</a:t>
            </a:r>
          </a:p>
          <a:p>
            <a:pPr lvl="1" eaLnBrk="1" hangingPunct="1"/>
            <a:r>
              <a:rPr lang="zh-CN" altLang="en-US" b="1" smtClean="0"/>
              <a:t>若为多方案比选，净现值越大的方案相对越优（</a:t>
            </a:r>
            <a:r>
              <a:rPr lang="zh-CN" altLang="en-US" b="1" smtClean="0">
                <a:solidFill>
                  <a:srgbClr val="0000FF"/>
                </a:solidFill>
              </a:rPr>
              <a:t>净现值最大准则</a:t>
            </a:r>
            <a:r>
              <a:rPr lang="zh-CN" altLang="en-US" b="1" smtClean="0"/>
              <a:t>）</a:t>
            </a:r>
          </a:p>
          <a:p>
            <a:pPr eaLnBrk="1" hangingPunct="1"/>
            <a:endParaRPr lang="zh-CN" altLang="en-US" smtClean="0"/>
          </a:p>
        </p:txBody>
      </p:sp>
      <p:graphicFrame>
        <p:nvGraphicFramePr>
          <p:cNvPr id="26628" name="Object 4"/>
          <p:cNvGraphicFramePr>
            <a:graphicFrameLocks noChangeAspect="1"/>
          </p:cNvGraphicFramePr>
          <p:nvPr/>
        </p:nvGraphicFramePr>
        <p:xfrm>
          <a:off x="1263650" y="1993900"/>
          <a:ext cx="1250950" cy="381000"/>
        </p:xfrm>
        <a:graphic>
          <a:graphicData uri="http://schemas.openxmlformats.org/presentationml/2006/ole">
            <mc:AlternateContent xmlns:mc="http://schemas.openxmlformats.org/markup-compatibility/2006">
              <mc:Choice xmlns:v="urn:schemas-microsoft-com:vml" Requires="v">
                <p:oleObj spid="_x0000_s26665" name="公式" r:id="rId3" imgW="583693" imgH="177646" progId="Equation.3">
                  <p:embed/>
                </p:oleObj>
              </mc:Choice>
              <mc:Fallback>
                <p:oleObj name="公式" r:id="rId3" imgW="583693" imgH="17764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650" y="1993900"/>
                        <a:ext cx="12509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5"/>
          <p:cNvGraphicFramePr>
            <a:graphicFrameLocks noChangeAspect="1"/>
          </p:cNvGraphicFramePr>
          <p:nvPr/>
        </p:nvGraphicFramePr>
        <p:xfrm>
          <a:off x="1276350" y="2501900"/>
          <a:ext cx="1238250" cy="377825"/>
        </p:xfrm>
        <a:graphic>
          <a:graphicData uri="http://schemas.openxmlformats.org/presentationml/2006/ole">
            <mc:AlternateContent xmlns:mc="http://schemas.openxmlformats.org/markup-compatibility/2006">
              <mc:Choice xmlns:v="urn:schemas-microsoft-com:vml" Requires="v">
                <p:oleObj spid="_x0000_s26666" name="公式" r:id="rId5" imgW="583693" imgH="177646" progId="Equation.3">
                  <p:embed/>
                </p:oleObj>
              </mc:Choice>
              <mc:Fallback>
                <p:oleObj name="公式" r:id="rId5" imgW="583693" imgH="177646"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6350" y="2501900"/>
                        <a:ext cx="1238250"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smtClean="0"/>
              <a:t>NPV</a:t>
            </a:r>
            <a:r>
              <a:rPr lang="zh-CN" altLang="en-US" smtClean="0"/>
              <a:t>的计算</a:t>
            </a:r>
          </a:p>
        </p:txBody>
      </p:sp>
      <p:sp>
        <p:nvSpPr>
          <p:cNvPr id="601091" name="Rectangle 3"/>
          <p:cNvSpPr>
            <a:spLocks noGrp="1" noChangeArrowheads="1"/>
          </p:cNvSpPr>
          <p:nvPr>
            <p:ph type="body" idx="1"/>
          </p:nvPr>
        </p:nvSpPr>
        <p:spPr>
          <a:xfrm>
            <a:off x="0" y="1346200"/>
            <a:ext cx="9144000" cy="5054600"/>
          </a:xfrm>
        </p:spPr>
        <p:txBody>
          <a:bodyPr/>
          <a:lstStyle/>
          <a:p>
            <a:pPr eaLnBrk="1" hangingPunct="1"/>
            <a:r>
              <a:rPr lang="zh-CN" altLang="en-US" b="1" smtClean="0"/>
              <a:t>对于五道口的房子，计算折现率为</a:t>
            </a:r>
            <a:r>
              <a:rPr lang="en-US" altLang="zh-CN" b="1" smtClean="0"/>
              <a:t>5%</a:t>
            </a:r>
            <a:r>
              <a:rPr lang="zh-CN" altLang="en-US" b="1" smtClean="0"/>
              <a:t>和</a:t>
            </a:r>
            <a:r>
              <a:rPr lang="en-US" altLang="zh-CN" b="1" smtClean="0"/>
              <a:t>10%</a:t>
            </a:r>
            <a:r>
              <a:rPr lang="zh-CN" altLang="en-US" b="1" smtClean="0"/>
              <a:t>时投资的 </a:t>
            </a:r>
            <a:r>
              <a:rPr lang="en-US" altLang="zh-CN" b="1" smtClean="0"/>
              <a:t>NPV</a:t>
            </a:r>
            <a:r>
              <a:rPr lang="zh-CN" altLang="en-US" b="1" smtClean="0"/>
              <a:t>。</a:t>
            </a:r>
          </a:p>
          <a:p>
            <a:pPr eaLnBrk="1" hangingPunct="1"/>
            <a:endParaRPr lang="zh-CN" altLang="en-US" sz="2800" b="1" smtClean="0"/>
          </a:p>
          <a:p>
            <a:pPr eaLnBrk="1" hangingPunct="1"/>
            <a:r>
              <a:rPr lang="zh-CN" altLang="en-US" sz="2800" b="1" smtClean="0"/>
              <a:t>折现率 </a:t>
            </a:r>
            <a:r>
              <a:rPr lang="en-US" altLang="zh-CN" sz="2800" b="1" smtClean="0"/>
              <a:t>5% </a:t>
            </a:r>
            <a:r>
              <a:rPr lang="zh-CN" altLang="en-US" sz="2800" b="1" smtClean="0"/>
              <a:t>时：</a:t>
            </a:r>
          </a:p>
          <a:p>
            <a:pPr eaLnBrk="1" hangingPunct="1"/>
            <a:r>
              <a:rPr lang="en-US" altLang="zh-CN" sz="2800" b="1" smtClean="0"/>
              <a:t>NPV = -120 + 7.2 * (1+5%)</a:t>
            </a:r>
            <a:r>
              <a:rPr lang="en-US" altLang="zh-CN" sz="2800" b="1" baseline="30000" smtClean="0"/>
              <a:t>-1</a:t>
            </a:r>
            <a:r>
              <a:rPr lang="en-US" altLang="zh-CN" sz="2800" b="1" smtClean="0"/>
              <a:t> + 7.2 * (1+5%)</a:t>
            </a:r>
            <a:r>
              <a:rPr lang="en-US" altLang="zh-CN" sz="2800" b="1" baseline="30000" smtClean="0"/>
              <a:t>-2</a:t>
            </a:r>
            <a:r>
              <a:rPr lang="en-US" altLang="zh-CN" sz="2800" b="1" smtClean="0"/>
              <a:t> + … </a:t>
            </a:r>
          </a:p>
          <a:p>
            <a:pPr eaLnBrk="1" hangingPunct="1">
              <a:buFontTx/>
              <a:buNone/>
            </a:pPr>
            <a:r>
              <a:rPr lang="en-US" altLang="zh-CN" sz="2800" b="1" smtClean="0"/>
              <a:t>                + 247.2* (1+5%)</a:t>
            </a:r>
            <a:r>
              <a:rPr lang="en-US" altLang="zh-CN" sz="2800" b="1" baseline="30000" smtClean="0"/>
              <a:t>-20</a:t>
            </a:r>
            <a:r>
              <a:rPr lang="en-US" altLang="zh-CN" sz="2800" b="1" smtClean="0"/>
              <a:t>  = </a:t>
            </a:r>
            <a:r>
              <a:rPr lang="en-US" altLang="zh-CN" sz="2800" b="1" smtClean="0">
                <a:solidFill>
                  <a:srgbClr val="FF0000"/>
                </a:solidFill>
              </a:rPr>
              <a:t>57.32</a:t>
            </a:r>
            <a:r>
              <a:rPr lang="zh-CN" altLang="en-US" sz="2800" b="1" smtClean="0">
                <a:solidFill>
                  <a:srgbClr val="FF0000"/>
                </a:solidFill>
              </a:rPr>
              <a:t>万元</a:t>
            </a:r>
          </a:p>
          <a:p>
            <a:pPr eaLnBrk="1" hangingPunct="1"/>
            <a:r>
              <a:rPr lang="zh-CN" altLang="en-US" sz="2800" b="1" smtClean="0"/>
              <a:t>折现率 </a:t>
            </a:r>
            <a:r>
              <a:rPr lang="en-US" altLang="zh-CN" sz="2800" b="1" smtClean="0"/>
              <a:t>10% </a:t>
            </a:r>
            <a:r>
              <a:rPr lang="zh-CN" altLang="en-US" sz="2800" b="1" smtClean="0"/>
              <a:t>时：</a:t>
            </a:r>
          </a:p>
          <a:p>
            <a:pPr eaLnBrk="1" hangingPunct="1"/>
            <a:r>
              <a:rPr lang="en-US" altLang="zh-CN" sz="2800" b="1" smtClean="0"/>
              <a:t>NPV = -120 + 7.2 * (1+10%)</a:t>
            </a:r>
            <a:r>
              <a:rPr lang="en-US" altLang="zh-CN" sz="2800" b="1" baseline="30000" smtClean="0"/>
              <a:t>-1</a:t>
            </a:r>
            <a:r>
              <a:rPr lang="en-US" altLang="zh-CN" sz="2800" b="1" smtClean="0"/>
              <a:t> + 7.2 * (1+10%)</a:t>
            </a:r>
            <a:r>
              <a:rPr lang="en-US" altLang="zh-CN" sz="2800" b="1" baseline="30000" smtClean="0"/>
              <a:t>-2</a:t>
            </a:r>
            <a:r>
              <a:rPr lang="en-US" altLang="zh-CN" sz="2800" b="1" smtClean="0"/>
              <a:t> + … </a:t>
            </a:r>
          </a:p>
          <a:p>
            <a:pPr eaLnBrk="1" hangingPunct="1">
              <a:buFontTx/>
              <a:buNone/>
            </a:pPr>
            <a:r>
              <a:rPr lang="en-US" altLang="zh-CN" sz="2800" b="1" smtClean="0"/>
              <a:t>                + 247.2* (1+10%)</a:t>
            </a:r>
            <a:r>
              <a:rPr lang="en-US" altLang="zh-CN" sz="2800" b="1" baseline="30000" smtClean="0"/>
              <a:t>-20</a:t>
            </a:r>
            <a:r>
              <a:rPr lang="en-US" altLang="zh-CN" sz="2800" b="1" smtClean="0"/>
              <a:t>  = </a:t>
            </a:r>
            <a:r>
              <a:rPr lang="en-US" altLang="zh-CN" sz="2800" b="1" smtClean="0">
                <a:solidFill>
                  <a:srgbClr val="FF0000"/>
                </a:solidFill>
              </a:rPr>
              <a:t>-20.93</a:t>
            </a:r>
            <a:r>
              <a:rPr lang="zh-CN" altLang="en-US" sz="2800" b="1" smtClean="0">
                <a:solidFill>
                  <a:srgbClr val="FF0000"/>
                </a:solidFill>
              </a:rPr>
              <a:t>万元</a:t>
            </a:r>
          </a:p>
          <a:p>
            <a:pPr eaLnBrk="1" hangingPunct="1">
              <a:buFontTx/>
              <a:buNone/>
            </a:pPr>
            <a:endParaRPr lang="zh-CN" altLang="en-US" sz="28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1091">
                                            <p:txEl>
                                              <p:pRg st="2" end="2"/>
                                            </p:txEl>
                                          </p:spTgt>
                                        </p:tgtEl>
                                        <p:attrNameLst>
                                          <p:attrName>style.visibility</p:attrName>
                                        </p:attrNameLst>
                                      </p:cBhvr>
                                      <p:to>
                                        <p:strVal val="visible"/>
                                      </p:to>
                                    </p:set>
                                    <p:animEffect transition="in" filter="blinds(horizontal)">
                                      <p:cBhvr>
                                        <p:cTn id="7" dur="500"/>
                                        <p:tgtEl>
                                          <p:spTgt spid="60109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1091">
                                            <p:txEl>
                                              <p:pRg st="3" end="3"/>
                                            </p:txEl>
                                          </p:spTgt>
                                        </p:tgtEl>
                                        <p:attrNameLst>
                                          <p:attrName>style.visibility</p:attrName>
                                        </p:attrNameLst>
                                      </p:cBhvr>
                                      <p:to>
                                        <p:strVal val="visible"/>
                                      </p:to>
                                    </p:set>
                                    <p:animEffect transition="in" filter="blinds(horizontal)">
                                      <p:cBhvr>
                                        <p:cTn id="10" dur="500"/>
                                        <p:tgtEl>
                                          <p:spTgt spid="60109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1091">
                                            <p:txEl>
                                              <p:pRg st="4" end="4"/>
                                            </p:txEl>
                                          </p:spTgt>
                                        </p:tgtEl>
                                        <p:attrNameLst>
                                          <p:attrName>style.visibility</p:attrName>
                                        </p:attrNameLst>
                                      </p:cBhvr>
                                      <p:to>
                                        <p:strVal val="visible"/>
                                      </p:to>
                                    </p:set>
                                    <p:animEffect transition="in" filter="blinds(horizontal)">
                                      <p:cBhvr>
                                        <p:cTn id="13" dur="500"/>
                                        <p:tgtEl>
                                          <p:spTgt spid="601091">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01091">
                                            <p:txEl>
                                              <p:pRg st="5" end="5"/>
                                            </p:txEl>
                                          </p:spTgt>
                                        </p:tgtEl>
                                        <p:attrNameLst>
                                          <p:attrName>style.visibility</p:attrName>
                                        </p:attrNameLst>
                                      </p:cBhvr>
                                      <p:to>
                                        <p:strVal val="visible"/>
                                      </p:to>
                                    </p:set>
                                    <p:animEffect transition="in" filter="blinds(horizontal)">
                                      <p:cBhvr>
                                        <p:cTn id="18" dur="500"/>
                                        <p:tgtEl>
                                          <p:spTgt spid="601091">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01091">
                                            <p:txEl>
                                              <p:pRg st="6" end="6"/>
                                            </p:txEl>
                                          </p:spTgt>
                                        </p:tgtEl>
                                        <p:attrNameLst>
                                          <p:attrName>style.visibility</p:attrName>
                                        </p:attrNameLst>
                                      </p:cBhvr>
                                      <p:to>
                                        <p:strVal val="visible"/>
                                      </p:to>
                                    </p:set>
                                    <p:animEffect transition="in" filter="blinds(horizontal)">
                                      <p:cBhvr>
                                        <p:cTn id="21" dur="500"/>
                                        <p:tgtEl>
                                          <p:spTgt spid="601091">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01091">
                                            <p:txEl>
                                              <p:pRg st="7" end="7"/>
                                            </p:txEl>
                                          </p:spTgt>
                                        </p:tgtEl>
                                        <p:attrNameLst>
                                          <p:attrName>style.visibility</p:attrName>
                                        </p:attrNameLst>
                                      </p:cBhvr>
                                      <p:to>
                                        <p:strVal val="visible"/>
                                      </p:to>
                                    </p:set>
                                    <p:animEffect transition="in" filter="blinds(horizontal)">
                                      <p:cBhvr>
                                        <p:cTn id="24" dur="500"/>
                                        <p:tgtEl>
                                          <p:spTgt spid="6010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t>对</a:t>
            </a:r>
            <a:r>
              <a:rPr lang="en-US" altLang="zh-CN" smtClean="0"/>
              <a:t>NPV</a:t>
            </a:r>
            <a:r>
              <a:rPr lang="zh-CN" altLang="en-US" smtClean="0"/>
              <a:t>的讨论</a:t>
            </a:r>
          </a:p>
        </p:txBody>
      </p:sp>
      <p:sp>
        <p:nvSpPr>
          <p:cNvPr id="524291" name="Rectangle 3"/>
          <p:cNvSpPr>
            <a:spLocks noGrp="1" noChangeArrowheads="1"/>
          </p:cNvSpPr>
          <p:nvPr>
            <p:ph type="body" idx="1"/>
          </p:nvPr>
        </p:nvSpPr>
        <p:spPr/>
        <p:txBody>
          <a:bodyPr/>
          <a:lstStyle/>
          <a:p>
            <a:pPr eaLnBrk="1" hangingPunct="1"/>
            <a:r>
              <a:rPr lang="en-US" altLang="zh-CN" b="1" smtClean="0"/>
              <a:t>NPV</a:t>
            </a:r>
            <a:r>
              <a:rPr lang="zh-CN" altLang="en-US" b="1" smtClean="0"/>
              <a:t>是评价项目盈利能力的绝对指标。</a:t>
            </a:r>
          </a:p>
          <a:p>
            <a:pPr eaLnBrk="1" hangingPunct="1"/>
            <a:r>
              <a:rPr lang="zh-CN" altLang="en-US" b="1" smtClean="0"/>
              <a:t>优点</a:t>
            </a:r>
          </a:p>
          <a:p>
            <a:pPr lvl="1" eaLnBrk="1" hangingPunct="1"/>
            <a:r>
              <a:rPr lang="zh-CN" altLang="en-US" b="1" smtClean="0"/>
              <a:t>考虑了资金的时间价值</a:t>
            </a:r>
          </a:p>
          <a:p>
            <a:pPr lvl="1" eaLnBrk="1" hangingPunct="1"/>
            <a:r>
              <a:rPr lang="zh-CN" altLang="en-US" b="1" smtClean="0"/>
              <a:t>以货币额表示项目的盈利水平，经济意义明确</a:t>
            </a:r>
          </a:p>
          <a:p>
            <a:pPr lvl="1" eaLnBrk="1" hangingPunct="1"/>
            <a:r>
              <a:rPr lang="zh-CN" altLang="en-US" b="1" smtClean="0"/>
              <a:t>评价标准容易确定，判断直观</a:t>
            </a:r>
          </a:p>
          <a:p>
            <a:pPr eaLnBrk="1" hangingPunct="1"/>
            <a:r>
              <a:rPr lang="zh-CN" altLang="en-US" b="1" smtClean="0"/>
              <a:t>不足</a:t>
            </a:r>
          </a:p>
          <a:p>
            <a:pPr lvl="1" eaLnBrk="1" hangingPunct="1"/>
            <a:r>
              <a:rPr lang="zh-CN" altLang="en-US" b="1" smtClean="0"/>
              <a:t>必须首先确定一个合适的基准收益率</a:t>
            </a:r>
          </a:p>
          <a:p>
            <a:pPr lvl="1" eaLnBrk="1" hangingPunct="1"/>
            <a:r>
              <a:rPr lang="zh-CN" altLang="en-US" b="1" smtClean="0"/>
              <a:t>用于多方案比较时，不考虑各方案投资额的大小，因而不直接反映资金的利用效率</a:t>
            </a:r>
          </a:p>
          <a:p>
            <a:pPr lvl="1" eaLnBrk="1" hangingPunct="1"/>
            <a:endParaRPr lang="zh-CN" altLang="en-US" b="1" smtClean="0"/>
          </a:p>
          <a:p>
            <a:pPr lvl="1" eaLnBrk="1" hangingPunct="1"/>
            <a:endParaRPr lang="zh-CN" altLang="en-US" sz="24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4291">
                                            <p:txEl>
                                              <p:pRg st="5" end="5"/>
                                            </p:txEl>
                                          </p:spTgt>
                                        </p:tgtEl>
                                        <p:attrNameLst>
                                          <p:attrName>style.visibility</p:attrName>
                                        </p:attrNameLst>
                                      </p:cBhvr>
                                      <p:to>
                                        <p:strVal val="visible"/>
                                      </p:to>
                                    </p:set>
                                    <p:animEffect transition="in" filter="blinds(horizontal)">
                                      <p:cBhvr>
                                        <p:cTn id="7" dur="500"/>
                                        <p:tgtEl>
                                          <p:spTgt spid="524291">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4291">
                                            <p:txEl>
                                              <p:pRg st="6" end="6"/>
                                            </p:txEl>
                                          </p:spTgt>
                                        </p:tgtEl>
                                        <p:attrNameLst>
                                          <p:attrName>style.visibility</p:attrName>
                                        </p:attrNameLst>
                                      </p:cBhvr>
                                      <p:to>
                                        <p:strVal val="visible"/>
                                      </p:to>
                                    </p:set>
                                    <p:animEffect transition="in" filter="blinds(horizontal)">
                                      <p:cBhvr>
                                        <p:cTn id="10" dur="500"/>
                                        <p:tgtEl>
                                          <p:spTgt spid="524291">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4291">
                                            <p:txEl>
                                              <p:pRg st="7" end="7"/>
                                            </p:txEl>
                                          </p:spTgt>
                                        </p:tgtEl>
                                        <p:attrNameLst>
                                          <p:attrName>style.visibility</p:attrName>
                                        </p:attrNameLst>
                                      </p:cBhvr>
                                      <p:to>
                                        <p:strVal val="visible"/>
                                      </p:to>
                                    </p:set>
                                    <p:animEffect transition="in" filter="blinds(horizontal)">
                                      <p:cBhvr>
                                        <p:cTn id="13" dur="500"/>
                                        <p:tgtEl>
                                          <p:spTgt spid="524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mtClean="0"/>
              <a:t>NPV(i)——</a:t>
            </a:r>
            <a:r>
              <a:rPr lang="zh-CN" altLang="en-US" smtClean="0"/>
              <a:t>净现值函数</a:t>
            </a:r>
          </a:p>
        </p:txBody>
      </p:sp>
      <p:sp>
        <p:nvSpPr>
          <p:cNvPr id="30723" name="Rectangle 3"/>
          <p:cNvSpPr>
            <a:spLocks noGrp="1" noChangeArrowheads="1"/>
          </p:cNvSpPr>
          <p:nvPr>
            <p:ph type="body" sz="half" idx="1"/>
          </p:nvPr>
        </p:nvSpPr>
        <p:spPr>
          <a:xfrm>
            <a:off x="0" y="1346200"/>
            <a:ext cx="9144000" cy="4986338"/>
          </a:xfrm>
        </p:spPr>
        <p:txBody>
          <a:bodyPr/>
          <a:lstStyle/>
          <a:p>
            <a:pPr eaLnBrk="1" hangingPunct="1"/>
            <a:r>
              <a:rPr lang="zh-CN" altLang="en-US" sz="2400" b="1" smtClean="0"/>
              <a:t>当</a:t>
            </a:r>
            <a:r>
              <a:rPr lang="en-US" altLang="zh-CN" sz="2400" b="1" smtClean="0"/>
              <a:t>A</a:t>
            </a:r>
            <a:r>
              <a:rPr lang="en-US" altLang="zh-CN" sz="2400" b="1" baseline="-25000" smtClean="0"/>
              <a:t>0</a:t>
            </a:r>
            <a:r>
              <a:rPr lang="en-US" altLang="zh-CN" sz="2400" b="1" smtClean="0"/>
              <a:t>&lt;0</a:t>
            </a:r>
            <a:r>
              <a:rPr lang="zh-CN" altLang="en-US" sz="2400" b="1" smtClean="0"/>
              <a:t>，</a:t>
            </a:r>
            <a:r>
              <a:rPr lang="en-US" altLang="zh-CN" sz="2400" b="1" smtClean="0"/>
              <a:t>A</a:t>
            </a:r>
            <a:r>
              <a:rPr lang="en-US" altLang="zh-CN" sz="2400" b="1" baseline="-25000" smtClean="0"/>
              <a:t>t</a:t>
            </a:r>
            <a:r>
              <a:rPr lang="en-US" altLang="zh-CN" sz="2400" b="1" smtClean="0"/>
              <a:t>&gt;0</a:t>
            </a:r>
            <a:r>
              <a:rPr lang="zh-CN" altLang="en-US" sz="2400" b="1" smtClean="0"/>
              <a:t>时，</a:t>
            </a:r>
            <a:r>
              <a:rPr lang="en-US" altLang="zh-CN" sz="2400" b="1" smtClean="0"/>
              <a:t>NPV(i)</a:t>
            </a:r>
            <a:r>
              <a:rPr lang="zh-CN" altLang="en-US" sz="2400" b="1" smtClean="0"/>
              <a:t>是</a:t>
            </a:r>
            <a:r>
              <a:rPr lang="en-US" altLang="zh-CN" sz="2400" b="1" smtClean="0"/>
              <a:t>i</a:t>
            </a:r>
            <a:r>
              <a:rPr lang="zh-CN" altLang="en-US" sz="2400" b="1" smtClean="0"/>
              <a:t>的递减函数；对于一般的工程项目，</a:t>
            </a:r>
            <a:r>
              <a:rPr lang="en-US" altLang="zh-CN" sz="2400" b="1" smtClean="0"/>
              <a:t>NPV</a:t>
            </a:r>
            <a:r>
              <a:rPr lang="zh-CN" altLang="en-US" sz="2400" b="1" smtClean="0"/>
              <a:t>随着</a:t>
            </a:r>
            <a:r>
              <a:rPr lang="en-US" altLang="zh-CN" sz="2400" b="1" smtClean="0"/>
              <a:t>i</a:t>
            </a:r>
            <a:r>
              <a:rPr lang="zh-CN" altLang="en-US" sz="2400" b="1" smtClean="0"/>
              <a:t>的增加而减小</a:t>
            </a:r>
          </a:p>
        </p:txBody>
      </p:sp>
      <p:grpSp>
        <p:nvGrpSpPr>
          <p:cNvPr id="30724" name="Group 23"/>
          <p:cNvGrpSpPr>
            <a:grpSpLocks/>
          </p:cNvGrpSpPr>
          <p:nvPr/>
        </p:nvGrpSpPr>
        <p:grpSpPr bwMode="auto">
          <a:xfrm>
            <a:off x="77788" y="2578100"/>
            <a:ext cx="4611687" cy="3662363"/>
            <a:chOff x="49" y="1624"/>
            <a:chExt cx="2905" cy="2307"/>
          </a:xfrm>
        </p:grpSpPr>
        <p:grpSp>
          <p:nvGrpSpPr>
            <p:cNvPr id="30760" name="Group 20"/>
            <p:cNvGrpSpPr>
              <a:grpSpLocks/>
            </p:cNvGrpSpPr>
            <p:nvPr/>
          </p:nvGrpSpPr>
          <p:grpSpPr bwMode="auto">
            <a:xfrm>
              <a:off x="49" y="1624"/>
              <a:ext cx="2905" cy="2307"/>
              <a:chOff x="737" y="1264"/>
              <a:chExt cx="4305" cy="2864"/>
            </a:xfrm>
          </p:grpSpPr>
          <p:sp>
            <p:nvSpPr>
              <p:cNvPr id="30763" name="Line 4"/>
              <p:cNvSpPr>
                <a:spLocks noChangeShapeType="1"/>
              </p:cNvSpPr>
              <p:nvPr/>
            </p:nvSpPr>
            <p:spPr bwMode="auto">
              <a:xfrm flipV="1">
                <a:off x="1327" y="3400"/>
                <a:ext cx="356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64" name="Line 5"/>
              <p:cNvSpPr>
                <a:spLocks noChangeShapeType="1"/>
              </p:cNvSpPr>
              <p:nvPr/>
            </p:nvSpPr>
            <p:spPr bwMode="auto">
              <a:xfrm flipV="1">
                <a:off x="1335" y="1264"/>
                <a:ext cx="0" cy="2672"/>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65" name="Freeform 6"/>
              <p:cNvSpPr>
                <a:spLocks/>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6" name="Line 7"/>
              <p:cNvSpPr>
                <a:spLocks noChangeShapeType="1"/>
              </p:cNvSpPr>
              <p:nvPr/>
            </p:nvSpPr>
            <p:spPr bwMode="auto">
              <a:xfrm>
                <a:off x="1335" y="3096"/>
                <a:ext cx="1080"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7" name="Line 8"/>
              <p:cNvSpPr>
                <a:spLocks noChangeShapeType="1"/>
              </p:cNvSpPr>
              <p:nvPr/>
            </p:nvSpPr>
            <p:spPr bwMode="auto">
              <a:xfrm>
                <a:off x="2415" y="3096"/>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8" name="Line 9"/>
              <p:cNvSpPr>
                <a:spLocks noChangeShapeType="1"/>
              </p:cNvSpPr>
              <p:nvPr/>
            </p:nvSpPr>
            <p:spPr bwMode="auto">
              <a:xfrm>
                <a:off x="1327" y="3696"/>
                <a:ext cx="2176"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9" name="Line 10"/>
              <p:cNvSpPr>
                <a:spLocks noChangeShapeType="1"/>
              </p:cNvSpPr>
              <p:nvPr/>
            </p:nvSpPr>
            <p:spPr bwMode="auto">
              <a:xfrm>
                <a:off x="3495" y="3400"/>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70" name="Text Box 11"/>
              <p:cNvSpPr txBox="1">
                <a:spLocks noChangeArrowheads="1"/>
              </p:cNvSpPr>
              <p:nvPr/>
            </p:nvSpPr>
            <p:spPr bwMode="auto">
              <a:xfrm>
                <a:off x="737" y="29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p>
            </p:txBody>
          </p:sp>
          <p:sp>
            <p:nvSpPr>
              <p:cNvPr id="30771" name="Text Box 12"/>
              <p:cNvSpPr txBox="1">
                <a:spLocks noChangeArrowheads="1"/>
              </p:cNvSpPr>
              <p:nvPr/>
            </p:nvSpPr>
            <p:spPr bwMode="auto">
              <a:xfrm>
                <a:off x="737" y="35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p>
            </p:txBody>
          </p:sp>
          <p:sp>
            <p:nvSpPr>
              <p:cNvPr id="30772" name="Text Box 13"/>
              <p:cNvSpPr txBox="1">
                <a:spLocks noChangeArrowheads="1"/>
              </p:cNvSpPr>
              <p:nvPr/>
            </p:nvSpPr>
            <p:spPr bwMode="auto">
              <a:xfrm>
                <a:off x="2266" y="3417"/>
                <a:ext cx="29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p>
            </p:txBody>
          </p:sp>
          <p:sp>
            <p:nvSpPr>
              <p:cNvPr id="30773" name="Text Box 14"/>
              <p:cNvSpPr txBox="1">
                <a:spLocks noChangeArrowheads="1"/>
              </p:cNvSpPr>
              <p:nvPr/>
            </p:nvSpPr>
            <p:spPr bwMode="auto">
              <a:xfrm>
                <a:off x="3347"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p>
            </p:txBody>
          </p:sp>
          <p:sp>
            <p:nvSpPr>
              <p:cNvPr id="30774" name="Text Box 16"/>
              <p:cNvSpPr txBox="1">
                <a:spLocks noChangeArrowheads="1"/>
              </p:cNvSpPr>
              <p:nvPr/>
            </p:nvSpPr>
            <p:spPr bwMode="auto">
              <a:xfrm>
                <a:off x="2852"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30775" name="Text Box 17"/>
              <p:cNvSpPr txBox="1">
                <a:spLocks noChangeArrowheads="1"/>
              </p:cNvSpPr>
              <p:nvPr/>
            </p:nvSpPr>
            <p:spPr bwMode="auto">
              <a:xfrm>
                <a:off x="737" y="1403"/>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30776" name="Text Box 18"/>
              <p:cNvSpPr txBox="1">
                <a:spLocks noChangeArrowheads="1"/>
              </p:cNvSpPr>
              <p:nvPr/>
            </p:nvSpPr>
            <p:spPr bwMode="auto">
              <a:xfrm>
                <a:off x="4747" y="3454"/>
                <a:ext cx="29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30761" name="Line 21"/>
            <p:cNvSpPr>
              <a:spLocks noChangeShapeType="1"/>
            </p:cNvSpPr>
            <p:nvPr/>
          </p:nvSpPr>
          <p:spPr bwMode="auto">
            <a:xfrm flipH="1">
              <a:off x="1536" y="3100"/>
              <a:ext cx="274" cy="21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2" name="Text Box 22"/>
            <p:cNvSpPr txBox="1">
              <a:spLocks noChangeArrowheads="1"/>
            </p:cNvSpPr>
            <p:nvPr/>
          </p:nvSpPr>
          <p:spPr bwMode="auto">
            <a:xfrm>
              <a:off x="1536" y="2648"/>
              <a:ext cx="9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600" b="1">
                  <a:solidFill>
                    <a:srgbClr val="0000CC"/>
                  </a:solidFill>
                  <a:ea typeface="宋体" panose="02010600030101010101" pitchFamily="2" charset="-122"/>
                </a:rPr>
                <a:t>折现率临界值</a:t>
              </a:r>
            </a:p>
          </p:txBody>
        </p:sp>
      </p:grpSp>
      <p:graphicFrame>
        <p:nvGraphicFramePr>
          <p:cNvPr id="525600" name="Group 288"/>
          <p:cNvGraphicFramePr>
            <a:graphicFrameLocks noGrp="1"/>
          </p:cNvGraphicFramePr>
          <p:nvPr>
            <p:ph sz="half" idx="2"/>
          </p:nvPr>
        </p:nvGraphicFramePr>
        <p:xfrm>
          <a:off x="4689475" y="2263775"/>
          <a:ext cx="4175125" cy="3879876"/>
        </p:xfrm>
        <a:graphic>
          <a:graphicData uri="http://schemas.openxmlformats.org/drawingml/2006/table">
            <a:tbl>
              <a:tblPr/>
              <a:tblGrid>
                <a:gridCol w="1235075">
                  <a:extLst>
                    <a:ext uri="{9D8B030D-6E8A-4147-A177-3AD203B41FA5}">
                      <a16:colId xmlns:a16="http://schemas.microsoft.com/office/drawing/2014/main" xmlns="" val="20000"/>
                    </a:ext>
                  </a:extLst>
                </a:gridCol>
                <a:gridCol w="2940050">
                  <a:extLst>
                    <a:ext uri="{9D8B030D-6E8A-4147-A177-3AD203B41FA5}">
                      <a16:colId xmlns:a16="http://schemas.microsoft.com/office/drawing/2014/main" xmlns="" val="20001"/>
                    </a:ext>
                  </a:extLst>
                </a:gridCol>
              </a:tblGrid>
              <a:tr h="822923">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i(%)</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NPV(i)=</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-120+7.2(P/A,i,20)+240(P/F, I, 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3</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116.50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5</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57.32</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437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7</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17.10</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4437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8</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2.02</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9</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-10.51</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45964">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11</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-29.64</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13</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-43.00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45964">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15</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-52.41</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t>NPV(i)——</a:t>
            </a:r>
            <a:r>
              <a:rPr lang="zh-CN" altLang="en-US" smtClean="0"/>
              <a:t>净现值函数</a:t>
            </a:r>
          </a:p>
        </p:txBody>
      </p:sp>
      <p:sp>
        <p:nvSpPr>
          <p:cNvPr id="32771" name="Rectangle 3"/>
          <p:cNvSpPr>
            <a:spLocks noGrp="1" noChangeArrowheads="1"/>
          </p:cNvSpPr>
          <p:nvPr>
            <p:ph type="body" sz="half" idx="1"/>
          </p:nvPr>
        </p:nvSpPr>
        <p:spPr>
          <a:xfrm>
            <a:off x="0" y="1346200"/>
            <a:ext cx="9144000" cy="5029200"/>
          </a:xfrm>
        </p:spPr>
        <p:txBody>
          <a:bodyPr/>
          <a:lstStyle/>
          <a:p>
            <a:pPr eaLnBrk="1" hangingPunct="1"/>
            <a:r>
              <a:rPr lang="zh-CN" altLang="en-US" sz="2800" b="1" smtClean="0"/>
              <a:t>净现值函数的特点</a:t>
            </a:r>
          </a:p>
          <a:p>
            <a:pPr lvl="1" eaLnBrk="1" hangingPunct="1"/>
            <a:r>
              <a:rPr lang="zh-CN" altLang="en-US" sz="2400" b="1" smtClean="0"/>
              <a:t>基准折现率</a:t>
            </a:r>
            <a:r>
              <a:rPr lang="en-US" altLang="zh-CN" sz="2400" b="1" smtClean="0"/>
              <a:t>i</a:t>
            </a:r>
            <a:r>
              <a:rPr lang="en-US" altLang="zh-CN" sz="2400" b="1" baseline="-25000" smtClean="0"/>
              <a:t>c</a:t>
            </a:r>
            <a:r>
              <a:rPr lang="zh-CN" altLang="en-US" sz="2400" b="1" smtClean="0"/>
              <a:t>定的越高，对项目的挑选越严格，能接受的方案越少</a:t>
            </a:r>
          </a:p>
          <a:p>
            <a:pPr lvl="1" eaLnBrk="1" hangingPunct="1"/>
            <a:r>
              <a:rPr lang="zh-CN" altLang="en-US" sz="2400" b="1" smtClean="0"/>
              <a:t>多方案比选时，当</a:t>
            </a:r>
            <a:r>
              <a:rPr lang="en-US" altLang="zh-CN" sz="2400" b="1" smtClean="0"/>
              <a:t>i</a:t>
            </a:r>
            <a:r>
              <a:rPr lang="zh-CN" altLang="en-US" sz="2400" b="1" smtClean="0"/>
              <a:t>由某一值变为另一值时，方案的排序可能会发生变化</a:t>
            </a:r>
          </a:p>
          <a:p>
            <a:pPr lvl="2" eaLnBrk="1" hangingPunct="1"/>
            <a:r>
              <a:rPr lang="zh-CN" altLang="en-US" sz="2200" b="1" smtClean="0"/>
              <a:t>不同方案对折现率的敏感程度不同</a:t>
            </a:r>
          </a:p>
          <a:p>
            <a:pPr lvl="2" eaLnBrk="1" hangingPunct="1"/>
            <a:r>
              <a:rPr lang="zh-CN" altLang="en-US" sz="2200" b="1" smtClean="0"/>
              <a:t>随着投资限额的减少，需要提高基准折现率，这时原先按净现值的方案排序会发生变化</a:t>
            </a:r>
          </a:p>
          <a:p>
            <a:pPr lvl="1" eaLnBrk="1" hangingPunct="1"/>
            <a:endParaRPr lang="zh-CN" altLang="en-US" sz="2200" b="1" smtClean="0"/>
          </a:p>
          <a:p>
            <a:pPr lvl="1" eaLnBrk="1" hangingPunct="1"/>
            <a:endParaRPr lang="zh-CN" altLang="en-US" sz="2200" b="1" smtClean="0"/>
          </a:p>
        </p:txBody>
      </p:sp>
      <p:graphicFrame>
        <p:nvGraphicFramePr>
          <p:cNvPr id="526511" name="Group 175"/>
          <p:cNvGraphicFramePr>
            <a:graphicFrameLocks noGrp="1"/>
          </p:cNvGraphicFramePr>
          <p:nvPr>
            <p:ph sz="half" idx="2"/>
          </p:nvPr>
        </p:nvGraphicFramePr>
        <p:xfrm>
          <a:off x="533400" y="4772025"/>
          <a:ext cx="8242300" cy="1422401"/>
        </p:xfrm>
        <a:graphic>
          <a:graphicData uri="http://schemas.openxmlformats.org/drawingml/2006/table">
            <a:tbl>
              <a:tblPr/>
              <a:tblGrid>
                <a:gridCol w="915988">
                  <a:extLst>
                    <a:ext uri="{9D8B030D-6E8A-4147-A177-3AD203B41FA5}">
                      <a16:colId xmlns:a16="http://schemas.microsoft.com/office/drawing/2014/main" xmlns="" val="20000"/>
                    </a:ext>
                  </a:extLst>
                </a:gridCol>
                <a:gridCol w="915987">
                  <a:extLst>
                    <a:ext uri="{9D8B030D-6E8A-4147-A177-3AD203B41FA5}">
                      <a16:colId xmlns:a16="http://schemas.microsoft.com/office/drawing/2014/main" xmlns="" val="20001"/>
                    </a:ext>
                  </a:extLst>
                </a:gridCol>
                <a:gridCol w="915988">
                  <a:extLst>
                    <a:ext uri="{9D8B030D-6E8A-4147-A177-3AD203B41FA5}">
                      <a16:colId xmlns:a16="http://schemas.microsoft.com/office/drawing/2014/main" xmlns="" val="20002"/>
                    </a:ext>
                  </a:extLst>
                </a:gridCol>
                <a:gridCol w="915987">
                  <a:extLst>
                    <a:ext uri="{9D8B030D-6E8A-4147-A177-3AD203B41FA5}">
                      <a16:colId xmlns:a16="http://schemas.microsoft.com/office/drawing/2014/main" xmlns="" val="20003"/>
                    </a:ext>
                  </a:extLst>
                </a:gridCol>
                <a:gridCol w="914400">
                  <a:extLst>
                    <a:ext uri="{9D8B030D-6E8A-4147-A177-3AD203B41FA5}">
                      <a16:colId xmlns:a16="http://schemas.microsoft.com/office/drawing/2014/main" xmlns="" val="20004"/>
                    </a:ext>
                  </a:extLst>
                </a:gridCol>
                <a:gridCol w="915988">
                  <a:extLst>
                    <a:ext uri="{9D8B030D-6E8A-4147-A177-3AD203B41FA5}">
                      <a16:colId xmlns:a16="http://schemas.microsoft.com/office/drawing/2014/main" xmlns="" val="20005"/>
                    </a:ext>
                  </a:extLst>
                </a:gridCol>
                <a:gridCol w="915987">
                  <a:extLst>
                    <a:ext uri="{9D8B030D-6E8A-4147-A177-3AD203B41FA5}">
                      <a16:colId xmlns:a16="http://schemas.microsoft.com/office/drawing/2014/main" xmlns="" val="20006"/>
                    </a:ext>
                  </a:extLst>
                </a:gridCol>
                <a:gridCol w="915988">
                  <a:extLst>
                    <a:ext uri="{9D8B030D-6E8A-4147-A177-3AD203B41FA5}">
                      <a16:colId xmlns:a16="http://schemas.microsoft.com/office/drawing/2014/main" xmlns="" val="20007"/>
                    </a:ext>
                  </a:extLst>
                </a:gridCol>
                <a:gridCol w="915987">
                  <a:extLst>
                    <a:ext uri="{9D8B030D-6E8A-4147-A177-3AD203B41FA5}">
                      <a16:colId xmlns:a16="http://schemas.microsoft.com/office/drawing/2014/main" xmlns="" val="20008"/>
                    </a:ext>
                  </a:extLst>
                </a:gridCol>
              </a:tblGrid>
              <a:tr h="64452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Times New Roman" pitchFamily="18" charset="0"/>
                          <a:ea typeface="宋体" pitchFamily="2" charset="-122"/>
                          <a:cs typeface="楷体_GB2312"/>
                        </a:rPr>
                        <a:t>方案</a:t>
                      </a:r>
                      <a:endParaRPr kumimoji="0" lang="zh-CN" altLang="en-US"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2</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3</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4</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5</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NPV</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NPV</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(20%)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88938">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A</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-230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50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50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83.91 </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24.81 </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8938">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B</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30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30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60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60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60</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75.40 </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itchFamily="18" charset="0"/>
                          <a:ea typeface="宋体" pitchFamily="2" charset="-122"/>
                          <a:cs typeface="楷体_GB2312"/>
                        </a:rPr>
                        <a:t>33.58 </a:t>
                      </a:r>
                      <a:endParaRPr kumimoji="0" lang="en-US" altLang="zh-CN" sz="16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32814" name="Oval 177"/>
          <p:cNvSpPr>
            <a:spLocks noChangeArrowheads="1"/>
          </p:cNvSpPr>
          <p:nvPr/>
        </p:nvSpPr>
        <p:spPr bwMode="auto">
          <a:xfrm>
            <a:off x="6943725" y="5386388"/>
            <a:ext cx="915988" cy="4191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32815" name="Oval 178"/>
          <p:cNvSpPr>
            <a:spLocks noChangeArrowheads="1"/>
          </p:cNvSpPr>
          <p:nvPr/>
        </p:nvSpPr>
        <p:spPr bwMode="auto">
          <a:xfrm>
            <a:off x="7859713" y="5805488"/>
            <a:ext cx="915987" cy="4191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mtClean="0"/>
              <a:t>多方案比选</a:t>
            </a:r>
          </a:p>
        </p:txBody>
      </p:sp>
      <p:sp>
        <p:nvSpPr>
          <p:cNvPr id="34819" name="Rectangle 3"/>
          <p:cNvSpPr>
            <a:spLocks noGrp="1" noChangeArrowheads="1"/>
          </p:cNvSpPr>
          <p:nvPr>
            <p:ph type="body" idx="1"/>
          </p:nvPr>
        </p:nvSpPr>
        <p:spPr/>
        <p:txBody>
          <a:bodyPr/>
          <a:lstStyle/>
          <a:p>
            <a:pPr eaLnBrk="1" hangingPunct="1"/>
            <a:endParaRPr lang="zh-CN" altLang="en-US" smtClean="0"/>
          </a:p>
        </p:txBody>
      </p:sp>
      <p:sp>
        <p:nvSpPr>
          <p:cNvPr id="34820" name="Line 6"/>
          <p:cNvSpPr>
            <a:spLocks noChangeShapeType="1"/>
          </p:cNvSpPr>
          <p:nvPr/>
        </p:nvSpPr>
        <p:spPr bwMode="auto">
          <a:xfrm flipV="1">
            <a:off x="1795463" y="5000625"/>
            <a:ext cx="4398962"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4821" name="Line 7"/>
          <p:cNvSpPr>
            <a:spLocks noChangeShapeType="1"/>
          </p:cNvSpPr>
          <p:nvPr/>
        </p:nvSpPr>
        <p:spPr bwMode="auto">
          <a:xfrm flipV="1">
            <a:off x="1804988" y="1563688"/>
            <a:ext cx="0" cy="429895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23624" name="Freeform 8"/>
          <p:cNvSpPr>
            <a:spLocks/>
          </p:cNvSpPr>
          <p:nvPr/>
        </p:nvSpPr>
        <p:spPr bwMode="auto">
          <a:xfrm>
            <a:off x="1536700" y="1563688"/>
            <a:ext cx="4475163" cy="4583112"/>
          </a:xfrm>
          <a:custGeom>
            <a:avLst/>
            <a:gdLst>
              <a:gd name="T0" fmla="*/ 0 w 3200"/>
              <a:gd name="T1" fmla="*/ 0 h 2600"/>
              <a:gd name="T2" fmla="*/ 2147483646 w 3200"/>
              <a:gd name="T3" fmla="*/ 2147483646 h 2600"/>
              <a:gd name="T4" fmla="*/ 2147483646 w 3200"/>
              <a:gd name="T5" fmla="*/ 2147483646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3" name="Text Box 18"/>
          <p:cNvSpPr txBox="1">
            <a:spLocks noChangeArrowheads="1"/>
          </p:cNvSpPr>
          <p:nvPr/>
        </p:nvSpPr>
        <p:spPr bwMode="auto">
          <a:xfrm>
            <a:off x="1068388" y="1787525"/>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NPV</a:t>
            </a:r>
            <a:endParaRPr lang="en-US" altLang="zh-CN" sz="1600" b="1" baseline="-25000">
              <a:ea typeface="宋体" panose="02010600030101010101" pitchFamily="2" charset="-122"/>
            </a:endParaRPr>
          </a:p>
        </p:txBody>
      </p:sp>
      <p:sp>
        <p:nvSpPr>
          <p:cNvPr id="34824" name="Text Box 19"/>
          <p:cNvSpPr txBox="1">
            <a:spLocks noChangeArrowheads="1"/>
          </p:cNvSpPr>
          <p:nvPr/>
        </p:nvSpPr>
        <p:spPr bwMode="auto">
          <a:xfrm>
            <a:off x="6315075" y="4470400"/>
            <a:ext cx="363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i</a:t>
            </a:r>
            <a:endParaRPr lang="en-US" altLang="zh-CN" sz="1800" baseline="-25000">
              <a:ea typeface="宋体" panose="02010600030101010101" pitchFamily="2" charset="-122"/>
            </a:endParaRPr>
          </a:p>
        </p:txBody>
      </p:sp>
      <p:sp>
        <p:nvSpPr>
          <p:cNvPr id="623638" name="Freeform 22"/>
          <p:cNvSpPr>
            <a:spLocks/>
          </p:cNvSpPr>
          <p:nvPr/>
        </p:nvSpPr>
        <p:spPr bwMode="auto">
          <a:xfrm>
            <a:off x="1346200" y="2698750"/>
            <a:ext cx="5332413" cy="2725738"/>
          </a:xfrm>
          <a:custGeom>
            <a:avLst/>
            <a:gdLst>
              <a:gd name="T0" fmla="*/ 0 w 3200"/>
              <a:gd name="T1" fmla="*/ 0 h 2600"/>
              <a:gd name="T2" fmla="*/ 2147483646 w 3200"/>
              <a:gd name="T3" fmla="*/ 2147483646 h 2600"/>
              <a:gd name="T4" fmla="*/ 2147483646 w 3200"/>
              <a:gd name="T5" fmla="*/ 2147483646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639" name="Text Box 23"/>
          <p:cNvSpPr txBox="1">
            <a:spLocks noChangeArrowheads="1"/>
          </p:cNvSpPr>
          <p:nvPr/>
        </p:nvSpPr>
        <p:spPr bwMode="auto">
          <a:xfrm>
            <a:off x="6011863" y="5862638"/>
            <a:ext cx="544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FF"/>
                </a:solidFill>
                <a:ea typeface="宋体" panose="02010600030101010101" pitchFamily="2" charset="-122"/>
              </a:rPr>
              <a:t>A</a:t>
            </a:r>
            <a:endParaRPr lang="en-US" altLang="zh-CN" sz="2000" b="1" baseline="-25000">
              <a:solidFill>
                <a:srgbClr val="0000FF"/>
              </a:solidFill>
              <a:ea typeface="宋体" panose="02010600030101010101" pitchFamily="2" charset="-122"/>
            </a:endParaRPr>
          </a:p>
        </p:txBody>
      </p:sp>
      <p:sp>
        <p:nvSpPr>
          <p:cNvPr id="623640" name="Text Box 24"/>
          <p:cNvSpPr txBox="1">
            <a:spLocks noChangeArrowheads="1"/>
          </p:cNvSpPr>
          <p:nvPr/>
        </p:nvSpPr>
        <p:spPr bwMode="auto">
          <a:xfrm>
            <a:off x="6678613" y="5332413"/>
            <a:ext cx="544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B</a:t>
            </a:r>
            <a:endParaRPr lang="en-US" altLang="zh-CN" sz="2000" b="1" baseline="-25000">
              <a:solidFill>
                <a:srgbClr val="FF0000"/>
              </a:solidFill>
              <a:ea typeface="宋体" panose="02010600030101010101" pitchFamily="2" charset="-122"/>
            </a:endParaRPr>
          </a:p>
        </p:txBody>
      </p:sp>
      <p:sp>
        <p:nvSpPr>
          <p:cNvPr id="623641" name="Line 25"/>
          <p:cNvSpPr>
            <a:spLocks noChangeShapeType="1"/>
          </p:cNvSpPr>
          <p:nvPr/>
        </p:nvSpPr>
        <p:spPr bwMode="auto">
          <a:xfrm>
            <a:off x="2644775" y="3659188"/>
            <a:ext cx="0" cy="1341437"/>
          </a:xfrm>
          <a:prstGeom prst="line">
            <a:avLst/>
          </a:prstGeom>
          <a:noFill/>
          <a:ln w="2857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3642" name="Text Box 26"/>
          <p:cNvSpPr txBox="1">
            <a:spLocks noChangeArrowheads="1"/>
          </p:cNvSpPr>
          <p:nvPr/>
        </p:nvSpPr>
        <p:spPr bwMode="auto">
          <a:xfrm>
            <a:off x="2003425" y="5087938"/>
            <a:ext cx="615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a:t>
            </a:r>
            <a:endParaRPr lang="en-US" altLang="zh-CN" sz="1600" b="1" baseline="-25000">
              <a:ea typeface="宋体" panose="02010600030101010101" pitchFamily="2" charset="-122"/>
            </a:endParaRPr>
          </a:p>
        </p:txBody>
      </p:sp>
      <p:sp>
        <p:nvSpPr>
          <p:cNvPr id="623643" name="Line 27"/>
          <p:cNvSpPr>
            <a:spLocks noChangeShapeType="1"/>
          </p:cNvSpPr>
          <p:nvPr/>
        </p:nvSpPr>
        <p:spPr bwMode="auto">
          <a:xfrm>
            <a:off x="3708400" y="4470400"/>
            <a:ext cx="12700" cy="530225"/>
          </a:xfrm>
          <a:prstGeom prst="line">
            <a:avLst/>
          </a:prstGeom>
          <a:noFill/>
          <a:ln w="2857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3644" name="Text Box 28"/>
          <p:cNvSpPr txBox="1">
            <a:spLocks noChangeArrowheads="1"/>
          </p:cNvSpPr>
          <p:nvPr/>
        </p:nvSpPr>
        <p:spPr bwMode="auto">
          <a:xfrm>
            <a:off x="3413125" y="5087938"/>
            <a:ext cx="615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20%</a:t>
            </a:r>
            <a:endParaRPr lang="en-US" altLang="zh-CN" sz="1600" b="1" baseline="-250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3639"/>
                                        </p:tgtEl>
                                        <p:attrNameLst>
                                          <p:attrName>style.visibility</p:attrName>
                                        </p:attrNameLst>
                                      </p:cBhvr>
                                      <p:to>
                                        <p:strVal val="visible"/>
                                      </p:to>
                                    </p:set>
                                    <p:animEffect transition="in" filter="blinds(horizontal)">
                                      <p:cBhvr>
                                        <p:cTn id="7" dur="500"/>
                                        <p:tgtEl>
                                          <p:spTgt spid="6236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23624"/>
                                        </p:tgtEl>
                                        <p:attrNameLst>
                                          <p:attrName>style.visibility</p:attrName>
                                        </p:attrNameLst>
                                      </p:cBhvr>
                                      <p:to>
                                        <p:strVal val="visible"/>
                                      </p:to>
                                    </p:set>
                                    <p:animEffect transition="in" filter="blinds(horizontal)">
                                      <p:cBhvr>
                                        <p:cTn id="10" dur="500"/>
                                        <p:tgtEl>
                                          <p:spTgt spid="6236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23640"/>
                                        </p:tgtEl>
                                        <p:attrNameLst>
                                          <p:attrName>style.visibility</p:attrName>
                                        </p:attrNameLst>
                                      </p:cBhvr>
                                      <p:to>
                                        <p:strVal val="visible"/>
                                      </p:to>
                                    </p:set>
                                    <p:animEffect transition="in" filter="blinds(horizontal)">
                                      <p:cBhvr>
                                        <p:cTn id="15" dur="500"/>
                                        <p:tgtEl>
                                          <p:spTgt spid="62364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23638"/>
                                        </p:tgtEl>
                                        <p:attrNameLst>
                                          <p:attrName>style.visibility</p:attrName>
                                        </p:attrNameLst>
                                      </p:cBhvr>
                                      <p:to>
                                        <p:strVal val="visible"/>
                                      </p:to>
                                    </p:set>
                                    <p:animEffect transition="in" filter="blinds(horizontal)">
                                      <p:cBhvr>
                                        <p:cTn id="18" dur="500"/>
                                        <p:tgtEl>
                                          <p:spTgt spid="62363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23641"/>
                                        </p:tgtEl>
                                        <p:attrNameLst>
                                          <p:attrName>style.visibility</p:attrName>
                                        </p:attrNameLst>
                                      </p:cBhvr>
                                      <p:to>
                                        <p:strVal val="visible"/>
                                      </p:to>
                                    </p:set>
                                    <p:animEffect transition="in" filter="blinds(horizontal)">
                                      <p:cBhvr>
                                        <p:cTn id="23" dur="500"/>
                                        <p:tgtEl>
                                          <p:spTgt spid="62364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23642"/>
                                        </p:tgtEl>
                                        <p:attrNameLst>
                                          <p:attrName>style.visibility</p:attrName>
                                        </p:attrNameLst>
                                      </p:cBhvr>
                                      <p:to>
                                        <p:strVal val="visible"/>
                                      </p:to>
                                    </p:set>
                                    <p:animEffect transition="in" filter="blinds(horizontal)">
                                      <p:cBhvr>
                                        <p:cTn id="26" dur="500"/>
                                        <p:tgtEl>
                                          <p:spTgt spid="6236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23643"/>
                                        </p:tgtEl>
                                        <p:attrNameLst>
                                          <p:attrName>style.visibility</p:attrName>
                                        </p:attrNameLst>
                                      </p:cBhvr>
                                      <p:to>
                                        <p:strVal val="visible"/>
                                      </p:to>
                                    </p:set>
                                    <p:animEffect transition="in" filter="blinds(horizontal)">
                                      <p:cBhvr>
                                        <p:cTn id="31" dur="500"/>
                                        <p:tgtEl>
                                          <p:spTgt spid="62364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23644"/>
                                        </p:tgtEl>
                                        <p:attrNameLst>
                                          <p:attrName>style.visibility</p:attrName>
                                        </p:attrNameLst>
                                      </p:cBhvr>
                                      <p:to>
                                        <p:strVal val="visible"/>
                                      </p:to>
                                    </p:set>
                                    <p:animEffect transition="in" filter="blinds(horizontal)">
                                      <p:cBhvr>
                                        <p:cTn id="34" dur="500"/>
                                        <p:tgtEl>
                                          <p:spTgt spid="623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24" grpId="0" animBg="1"/>
      <p:bldP spid="623638" grpId="0" animBg="1"/>
      <p:bldP spid="623639" grpId="0"/>
      <p:bldP spid="623640" grpId="0"/>
      <p:bldP spid="623641" grpId="0" animBg="1"/>
      <p:bldP spid="623642" grpId="0"/>
      <p:bldP spid="623643" grpId="0" animBg="1"/>
      <p:bldP spid="6236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4000" smtClean="0"/>
              <a:t>动态评价指标三：内部收益率</a:t>
            </a:r>
            <a:r>
              <a:rPr lang="en-US" altLang="zh-CN" sz="4000" smtClean="0"/>
              <a:t>(IRR)</a:t>
            </a:r>
            <a:endParaRPr lang="zh-CN" altLang="en-US" sz="4000" smtClean="0"/>
          </a:p>
        </p:txBody>
      </p:sp>
      <p:sp>
        <p:nvSpPr>
          <p:cNvPr id="35843" name="Rectangle 3"/>
          <p:cNvSpPr>
            <a:spLocks noGrp="1" noChangeArrowheads="1"/>
          </p:cNvSpPr>
          <p:nvPr>
            <p:ph type="body" sz="half" idx="1"/>
          </p:nvPr>
        </p:nvSpPr>
        <p:spPr>
          <a:xfrm>
            <a:off x="0" y="1346200"/>
            <a:ext cx="9144000" cy="5003800"/>
          </a:xfrm>
        </p:spPr>
        <p:txBody>
          <a:bodyPr/>
          <a:lstStyle/>
          <a:p>
            <a:pPr eaLnBrk="1" hangingPunct="1"/>
            <a:r>
              <a:rPr lang="zh-CN" altLang="en-US" b="1" smtClean="0"/>
              <a:t>内部收益率</a:t>
            </a:r>
            <a:r>
              <a:rPr lang="en-US" altLang="zh-CN" b="1" smtClean="0"/>
              <a:t>(Internal Rate of Return, IRR)</a:t>
            </a:r>
            <a:r>
              <a:rPr lang="zh-CN" altLang="en-US" b="1" smtClean="0"/>
              <a:t>是对投资项目进行动态评价的另外一个最重要的指标</a:t>
            </a:r>
          </a:p>
          <a:p>
            <a:pPr lvl="1" eaLnBrk="1" hangingPunct="1"/>
            <a:r>
              <a:rPr lang="en-US" altLang="zh-CN" sz="3200" b="1" smtClean="0">
                <a:solidFill>
                  <a:srgbClr val="FF0000"/>
                </a:solidFill>
              </a:rPr>
              <a:t>IRR</a:t>
            </a:r>
            <a:r>
              <a:rPr lang="zh-CN" altLang="en-US" sz="3200" b="1" smtClean="0">
                <a:solidFill>
                  <a:srgbClr val="FF0000"/>
                </a:solidFill>
              </a:rPr>
              <a:t>就是使净现值为</a:t>
            </a:r>
            <a:r>
              <a:rPr lang="en-US" altLang="zh-CN" sz="3200" b="1" smtClean="0">
                <a:solidFill>
                  <a:srgbClr val="FF0000"/>
                </a:solidFill>
              </a:rPr>
              <a:t>0</a:t>
            </a:r>
            <a:r>
              <a:rPr lang="zh-CN" altLang="en-US" sz="3200" b="1" smtClean="0">
                <a:solidFill>
                  <a:srgbClr val="FF0000"/>
                </a:solidFill>
              </a:rPr>
              <a:t>时的收益率</a:t>
            </a:r>
          </a:p>
          <a:p>
            <a:pPr lvl="1" eaLnBrk="1" hangingPunct="1"/>
            <a:endParaRPr lang="zh-CN" altLang="en-US" sz="3200" b="1" smtClean="0"/>
          </a:p>
        </p:txBody>
      </p:sp>
      <p:graphicFrame>
        <p:nvGraphicFramePr>
          <p:cNvPr id="35844" name="Object 4"/>
          <p:cNvGraphicFramePr>
            <a:graphicFrameLocks noGrp="1" noChangeAspect="1"/>
          </p:cNvGraphicFramePr>
          <p:nvPr>
            <p:ph sz="half" idx="2"/>
          </p:nvPr>
        </p:nvGraphicFramePr>
        <p:xfrm>
          <a:off x="119063" y="3551238"/>
          <a:ext cx="4886325" cy="830262"/>
        </p:xfrm>
        <a:graphic>
          <a:graphicData uri="http://schemas.openxmlformats.org/presentationml/2006/ole">
            <mc:AlternateContent xmlns:mc="http://schemas.openxmlformats.org/markup-compatibility/2006">
              <mc:Choice xmlns:v="urn:schemas-microsoft-com:vml" Requires="v">
                <p:oleObj spid="_x0000_s35881" name="公式" r:id="rId4" imgW="2540000" imgH="431800" progId="Equation.3">
                  <p:embed/>
                </p:oleObj>
              </mc:Choice>
              <mc:Fallback>
                <p:oleObj name="公式" r:id="rId4" imgW="2540000" imgH="431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063" y="3551238"/>
                        <a:ext cx="4886325"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5" name="Group 26"/>
          <p:cNvGrpSpPr>
            <a:grpSpLocks/>
          </p:cNvGrpSpPr>
          <p:nvPr/>
        </p:nvGrpSpPr>
        <p:grpSpPr bwMode="auto">
          <a:xfrm>
            <a:off x="5005388" y="2933700"/>
            <a:ext cx="4254500" cy="3484563"/>
            <a:chOff x="49" y="1624"/>
            <a:chExt cx="2905" cy="2307"/>
          </a:xfrm>
        </p:grpSpPr>
        <p:grpSp>
          <p:nvGrpSpPr>
            <p:cNvPr id="35846" name="Group 27"/>
            <p:cNvGrpSpPr>
              <a:grpSpLocks/>
            </p:cNvGrpSpPr>
            <p:nvPr/>
          </p:nvGrpSpPr>
          <p:grpSpPr bwMode="auto">
            <a:xfrm>
              <a:off x="49" y="1624"/>
              <a:ext cx="2905" cy="2307"/>
              <a:chOff x="737" y="1264"/>
              <a:chExt cx="4305" cy="2864"/>
            </a:xfrm>
          </p:grpSpPr>
          <p:sp>
            <p:nvSpPr>
              <p:cNvPr id="35849" name="Line 28"/>
              <p:cNvSpPr>
                <a:spLocks noChangeShapeType="1"/>
              </p:cNvSpPr>
              <p:nvPr/>
            </p:nvSpPr>
            <p:spPr bwMode="auto">
              <a:xfrm flipV="1">
                <a:off x="1327" y="3400"/>
                <a:ext cx="356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0" name="Line 29"/>
              <p:cNvSpPr>
                <a:spLocks noChangeShapeType="1"/>
              </p:cNvSpPr>
              <p:nvPr/>
            </p:nvSpPr>
            <p:spPr bwMode="auto">
              <a:xfrm flipV="1">
                <a:off x="1335" y="1264"/>
                <a:ext cx="0" cy="2672"/>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1" name="Freeform 30"/>
              <p:cNvSpPr>
                <a:spLocks/>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2" name="Line 31"/>
              <p:cNvSpPr>
                <a:spLocks noChangeShapeType="1"/>
              </p:cNvSpPr>
              <p:nvPr/>
            </p:nvSpPr>
            <p:spPr bwMode="auto">
              <a:xfrm>
                <a:off x="1335" y="3096"/>
                <a:ext cx="1080"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32"/>
              <p:cNvSpPr>
                <a:spLocks noChangeShapeType="1"/>
              </p:cNvSpPr>
              <p:nvPr/>
            </p:nvSpPr>
            <p:spPr bwMode="auto">
              <a:xfrm>
                <a:off x="2415" y="3096"/>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33"/>
              <p:cNvSpPr>
                <a:spLocks noChangeShapeType="1"/>
              </p:cNvSpPr>
              <p:nvPr/>
            </p:nvSpPr>
            <p:spPr bwMode="auto">
              <a:xfrm>
                <a:off x="1327" y="3696"/>
                <a:ext cx="2176"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34"/>
              <p:cNvSpPr>
                <a:spLocks noChangeShapeType="1"/>
              </p:cNvSpPr>
              <p:nvPr/>
            </p:nvSpPr>
            <p:spPr bwMode="auto">
              <a:xfrm>
                <a:off x="3495" y="3400"/>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Text Box 35"/>
              <p:cNvSpPr txBox="1">
                <a:spLocks noChangeArrowheads="1"/>
              </p:cNvSpPr>
              <p:nvPr/>
            </p:nvSpPr>
            <p:spPr bwMode="auto">
              <a:xfrm>
                <a:off x="737" y="2971"/>
                <a:ext cx="590"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p>
            </p:txBody>
          </p:sp>
          <p:sp>
            <p:nvSpPr>
              <p:cNvPr id="35857" name="Text Box 36"/>
              <p:cNvSpPr txBox="1">
                <a:spLocks noChangeArrowheads="1"/>
              </p:cNvSpPr>
              <p:nvPr/>
            </p:nvSpPr>
            <p:spPr bwMode="auto">
              <a:xfrm>
                <a:off x="737" y="3571"/>
                <a:ext cx="59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p>
            </p:txBody>
          </p:sp>
          <p:sp>
            <p:nvSpPr>
              <p:cNvPr id="35858" name="Text Box 37"/>
              <p:cNvSpPr txBox="1">
                <a:spLocks noChangeArrowheads="1"/>
              </p:cNvSpPr>
              <p:nvPr/>
            </p:nvSpPr>
            <p:spPr bwMode="auto">
              <a:xfrm>
                <a:off x="2266" y="3417"/>
                <a:ext cx="2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p>
            </p:txBody>
          </p:sp>
          <p:sp>
            <p:nvSpPr>
              <p:cNvPr id="35859" name="Text Box 38"/>
              <p:cNvSpPr txBox="1">
                <a:spLocks noChangeArrowheads="1"/>
              </p:cNvSpPr>
              <p:nvPr/>
            </p:nvSpPr>
            <p:spPr bwMode="auto">
              <a:xfrm>
                <a:off x="3347" y="3096"/>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p>
            </p:txBody>
          </p:sp>
          <p:sp>
            <p:nvSpPr>
              <p:cNvPr id="35860" name="Text Box 39"/>
              <p:cNvSpPr txBox="1">
                <a:spLocks noChangeArrowheads="1"/>
              </p:cNvSpPr>
              <p:nvPr/>
            </p:nvSpPr>
            <p:spPr bwMode="auto">
              <a:xfrm>
                <a:off x="2853" y="3096"/>
                <a:ext cx="294"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35861" name="Text Box 40"/>
              <p:cNvSpPr txBox="1">
                <a:spLocks noChangeArrowheads="1"/>
              </p:cNvSpPr>
              <p:nvPr/>
            </p:nvSpPr>
            <p:spPr bwMode="auto">
              <a:xfrm>
                <a:off x="737" y="1404"/>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35862" name="Text Box 41"/>
              <p:cNvSpPr txBox="1">
                <a:spLocks noChangeArrowheads="1"/>
              </p:cNvSpPr>
              <p:nvPr/>
            </p:nvSpPr>
            <p:spPr bwMode="auto">
              <a:xfrm>
                <a:off x="4746" y="3453"/>
                <a:ext cx="2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35847" name="Line 42"/>
            <p:cNvSpPr>
              <a:spLocks noChangeShapeType="1"/>
            </p:cNvSpPr>
            <p:nvPr/>
          </p:nvSpPr>
          <p:spPr bwMode="auto">
            <a:xfrm flipH="1">
              <a:off x="1536" y="3100"/>
              <a:ext cx="274" cy="21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8" name="Text Box 43"/>
            <p:cNvSpPr txBox="1">
              <a:spLocks noChangeArrowheads="1"/>
            </p:cNvSpPr>
            <p:nvPr/>
          </p:nvSpPr>
          <p:spPr bwMode="auto">
            <a:xfrm>
              <a:off x="1536" y="2648"/>
              <a:ext cx="99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800" b="1">
                  <a:solidFill>
                    <a:srgbClr val="0000CC"/>
                  </a:solidFill>
                  <a:ea typeface="宋体" panose="02010600030101010101" pitchFamily="2" charset="-122"/>
                </a:rPr>
                <a:t>内部收益率</a:t>
              </a: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mtClean="0"/>
              <a:t>内部收益率</a:t>
            </a:r>
            <a:r>
              <a:rPr lang="en-US" altLang="zh-CN" smtClean="0"/>
              <a:t>(IRR)</a:t>
            </a:r>
            <a:r>
              <a:rPr lang="zh-CN" altLang="en-US" smtClean="0"/>
              <a:t>的经济含义</a:t>
            </a:r>
          </a:p>
        </p:txBody>
      </p:sp>
      <p:sp>
        <p:nvSpPr>
          <p:cNvPr id="37891" name="Rectangle 3"/>
          <p:cNvSpPr>
            <a:spLocks noGrp="1" noChangeArrowheads="1"/>
          </p:cNvSpPr>
          <p:nvPr>
            <p:ph type="body" idx="1"/>
          </p:nvPr>
        </p:nvSpPr>
        <p:spPr/>
        <p:txBody>
          <a:bodyPr/>
          <a:lstStyle/>
          <a:p>
            <a:pPr eaLnBrk="1" hangingPunct="1"/>
            <a:r>
              <a:rPr lang="en-US" altLang="zh-CN" b="1" smtClean="0"/>
              <a:t>IRR</a:t>
            </a:r>
            <a:r>
              <a:rPr lang="zh-CN" altLang="en-US" b="1" smtClean="0"/>
              <a:t>的经济含义</a:t>
            </a:r>
          </a:p>
          <a:p>
            <a:pPr lvl="1" eaLnBrk="1" hangingPunct="1"/>
            <a:r>
              <a:rPr lang="zh-CN" altLang="en-US" b="1" smtClean="0"/>
              <a:t>在项目的整个寿命期内按利率</a:t>
            </a:r>
            <a:r>
              <a:rPr lang="en-US" altLang="zh-CN" b="1" smtClean="0"/>
              <a:t>i=IRR</a:t>
            </a:r>
            <a:r>
              <a:rPr lang="zh-CN" altLang="en-US" b="1" smtClean="0"/>
              <a:t>计算，始终存在未能收回的投资，而在寿命结束时，投资恰好被完全收回。</a:t>
            </a:r>
          </a:p>
          <a:p>
            <a:pPr lvl="1" eaLnBrk="1" hangingPunct="1"/>
            <a:r>
              <a:rPr lang="zh-CN" altLang="en-US" b="1" smtClean="0"/>
              <a:t>在项目寿命期中，始终处于“偿付”未被收回的投资的状况。“偿付”能力完全取决于项目内部，故称“内部收益率”。</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mtClean="0"/>
              <a:t>IRR</a:t>
            </a:r>
            <a:r>
              <a:rPr lang="zh-CN" altLang="en-US" smtClean="0"/>
              <a:t>是没有回收的投资的盈利率</a:t>
            </a:r>
          </a:p>
        </p:txBody>
      </p:sp>
      <p:graphicFrame>
        <p:nvGraphicFramePr>
          <p:cNvPr id="530667" name="Group 235"/>
          <p:cNvGraphicFramePr>
            <a:graphicFrameLocks noGrp="1"/>
          </p:cNvGraphicFramePr>
          <p:nvPr>
            <p:ph idx="1"/>
          </p:nvPr>
        </p:nvGraphicFramePr>
        <p:xfrm>
          <a:off x="784225" y="1484313"/>
          <a:ext cx="7823200" cy="2835274"/>
        </p:xfrm>
        <a:graphic>
          <a:graphicData uri="http://schemas.openxmlformats.org/drawingml/2006/table">
            <a:tbl>
              <a:tblPr/>
              <a:tblGrid>
                <a:gridCol w="687388">
                  <a:extLst>
                    <a:ext uri="{9D8B030D-6E8A-4147-A177-3AD203B41FA5}">
                      <a16:colId xmlns:a16="http://schemas.microsoft.com/office/drawing/2014/main" xmlns="" val="20000"/>
                    </a:ext>
                  </a:extLst>
                </a:gridCol>
                <a:gridCol w="1892300">
                  <a:extLst>
                    <a:ext uri="{9D8B030D-6E8A-4147-A177-3AD203B41FA5}">
                      <a16:colId xmlns:a16="http://schemas.microsoft.com/office/drawing/2014/main" xmlns="" val="20001"/>
                    </a:ext>
                  </a:extLst>
                </a:gridCol>
                <a:gridCol w="1477962">
                  <a:extLst>
                    <a:ext uri="{9D8B030D-6E8A-4147-A177-3AD203B41FA5}">
                      <a16:colId xmlns:a16="http://schemas.microsoft.com/office/drawing/2014/main" xmlns="" val="20002"/>
                    </a:ext>
                  </a:extLst>
                </a:gridCol>
                <a:gridCol w="2163763">
                  <a:extLst>
                    <a:ext uri="{9D8B030D-6E8A-4147-A177-3AD203B41FA5}">
                      <a16:colId xmlns:a16="http://schemas.microsoft.com/office/drawing/2014/main" xmlns="" val="20003"/>
                    </a:ext>
                  </a:extLst>
                </a:gridCol>
                <a:gridCol w="1601787">
                  <a:extLst>
                    <a:ext uri="{9D8B030D-6E8A-4147-A177-3AD203B41FA5}">
                      <a16:colId xmlns:a16="http://schemas.microsoft.com/office/drawing/2014/main" xmlns="" val="20004"/>
                    </a:ext>
                  </a:extLst>
                </a:gridCol>
              </a:tblGrid>
              <a:tr h="823144">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年</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净现金流量</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（年末发生）①</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年初未回收</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的投资②</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年初未回收的投资</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到年末的余额</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③</a:t>
                      </a: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=②×(1+IRR)</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年末未收回</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的投资④</a:t>
                      </a: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=③-①</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　</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　</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　</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113.5</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93.5</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30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93.5</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106</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76</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3</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76</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86.2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66.2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66.2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75.2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35.2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5</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35.2</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bl>
          </a:graphicData>
        </a:graphic>
      </p:graphicFrame>
      <p:grpSp>
        <p:nvGrpSpPr>
          <p:cNvPr id="38965" name="Group 275"/>
          <p:cNvGrpSpPr>
            <a:grpSpLocks/>
          </p:cNvGrpSpPr>
          <p:nvPr/>
        </p:nvGrpSpPr>
        <p:grpSpPr bwMode="auto">
          <a:xfrm>
            <a:off x="1120775" y="4329113"/>
            <a:ext cx="6843713" cy="2043112"/>
            <a:chOff x="102" y="2774"/>
            <a:chExt cx="4311" cy="1287"/>
          </a:xfrm>
        </p:grpSpPr>
        <p:sp>
          <p:nvSpPr>
            <p:cNvPr id="38966" name="Line 236"/>
            <p:cNvSpPr>
              <a:spLocks noChangeShapeType="1"/>
            </p:cNvSpPr>
            <p:nvPr/>
          </p:nvSpPr>
          <p:spPr bwMode="auto">
            <a:xfrm>
              <a:off x="494" y="3024"/>
              <a:ext cx="391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7" name="Line 237"/>
            <p:cNvSpPr>
              <a:spLocks noChangeShapeType="1"/>
            </p:cNvSpPr>
            <p:nvPr/>
          </p:nvSpPr>
          <p:spPr bwMode="auto">
            <a:xfrm>
              <a:off x="494" y="3024"/>
              <a:ext cx="0" cy="6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8" name="Text Box 238"/>
            <p:cNvSpPr txBox="1">
              <a:spLocks noChangeArrowheads="1"/>
            </p:cNvSpPr>
            <p:nvPr/>
          </p:nvSpPr>
          <p:spPr bwMode="auto">
            <a:xfrm>
              <a:off x="102" y="3640"/>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-100</a:t>
              </a:r>
            </a:p>
          </p:txBody>
        </p:sp>
        <p:sp>
          <p:nvSpPr>
            <p:cNvPr id="38969" name="Line 239"/>
            <p:cNvSpPr>
              <a:spLocks noChangeShapeType="1"/>
            </p:cNvSpPr>
            <p:nvPr/>
          </p:nvSpPr>
          <p:spPr bwMode="auto">
            <a:xfrm>
              <a:off x="1046" y="3036"/>
              <a:ext cx="0" cy="98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0" name="Text Box 240"/>
            <p:cNvSpPr txBox="1">
              <a:spLocks noChangeArrowheads="1"/>
            </p:cNvSpPr>
            <p:nvPr/>
          </p:nvSpPr>
          <p:spPr bwMode="auto">
            <a:xfrm>
              <a:off x="534" y="3809"/>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-113.5</a:t>
              </a:r>
            </a:p>
          </p:txBody>
        </p:sp>
        <p:sp>
          <p:nvSpPr>
            <p:cNvPr id="38971" name="Line 241"/>
            <p:cNvSpPr>
              <a:spLocks noChangeShapeType="1"/>
            </p:cNvSpPr>
            <p:nvPr/>
          </p:nvSpPr>
          <p:spPr bwMode="auto">
            <a:xfrm>
              <a:off x="494" y="3680"/>
              <a:ext cx="552" cy="339"/>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2" name="Line 242"/>
            <p:cNvSpPr>
              <a:spLocks noChangeShapeType="1"/>
            </p:cNvSpPr>
            <p:nvPr/>
          </p:nvSpPr>
          <p:spPr bwMode="auto">
            <a:xfrm flipV="1">
              <a:off x="1086" y="3743"/>
              <a:ext cx="0" cy="2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3" name="Line 243"/>
            <p:cNvSpPr>
              <a:spLocks noChangeShapeType="1"/>
            </p:cNvSpPr>
            <p:nvPr/>
          </p:nvSpPr>
          <p:spPr bwMode="auto">
            <a:xfrm>
              <a:off x="1056" y="3692"/>
              <a:ext cx="528" cy="24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4" name="Line 244"/>
            <p:cNvSpPr>
              <a:spLocks noChangeShapeType="1"/>
            </p:cNvSpPr>
            <p:nvPr/>
          </p:nvSpPr>
          <p:spPr bwMode="auto">
            <a:xfrm>
              <a:off x="1624" y="3024"/>
              <a:ext cx="0" cy="9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5" name="Line 245"/>
            <p:cNvSpPr>
              <a:spLocks noChangeShapeType="1"/>
            </p:cNvSpPr>
            <p:nvPr/>
          </p:nvSpPr>
          <p:spPr bwMode="auto">
            <a:xfrm>
              <a:off x="2208" y="3024"/>
              <a:ext cx="0" cy="7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6" name="Line 246"/>
            <p:cNvSpPr>
              <a:spLocks noChangeShapeType="1"/>
            </p:cNvSpPr>
            <p:nvPr/>
          </p:nvSpPr>
          <p:spPr bwMode="auto">
            <a:xfrm flipV="1">
              <a:off x="1662" y="3544"/>
              <a:ext cx="0" cy="37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7" name="Line 247"/>
            <p:cNvSpPr>
              <a:spLocks noChangeShapeType="1"/>
            </p:cNvSpPr>
            <p:nvPr/>
          </p:nvSpPr>
          <p:spPr bwMode="auto">
            <a:xfrm flipV="1">
              <a:off x="2240" y="3448"/>
              <a:ext cx="0" cy="3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8" name="Line 248"/>
            <p:cNvSpPr>
              <a:spLocks noChangeShapeType="1"/>
            </p:cNvSpPr>
            <p:nvPr/>
          </p:nvSpPr>
          <p:spPr bwMode="auto">
            <a:xfrm>
              <a:off x="2784" y="3024"/>
              <a:ext cx="0" cy="6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9" name="Line 249"/>
            <p:cNvSpPr>
              <a:spLocks noChangeShapeType="1"/>
            </p:cNvSpPr>
            <p:nvPr/>
          </p:nvSpPr>
          <p:spPr bwMode="auto">
            <a:xfrm>
              <a:off x="1654" y="3544"/>
              <a:ext cx="528" cy="24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0" name="Line 250"/>
            <p:cNvSpPr>
              <a:spLocks noChangeShapeType="1"/>
            </p:cNvSpPr>
            <p:nvPr/>
          </p:nvSpPr>
          <p:spPr bwMode="auto">
            <a:xfrm>
              <a:off x="2256" y="3448"/>
              <a:ext cx="528" cy="24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1" name="Line 251"/>
            <p:cNvSpPr>
              <a:spLocks noChangeShapeType="1"/>
            </p:cNvSpPr>
            <p:nvPr/>
          </p:nvSpPr>
          <p:spPr bwMode="auto">
            <a:xfrm>
              <a:off x="3384" y="3024"/>
              <a:ext cx="0" cy="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2" name="Line 252"/>
            <p:cNvSpPr>
              <a:spLocks noChangeShapeType="1"/>
            </p:cNvSpPr>
            <p:nvPr/>
          </p:nvSpPr>
          <p:spPr bwMode="auto">
            <a:xfrm>
              <a:off x="2784" y="3264"/>
              <a:ext cx="600" cy="28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83" name="Line 253"/>
            <p:cNvSpPr>
              <a:spLocks noChangeShapeType="1"/>
            </p:cNvSpPr>
            <p:nvPr/>
          </p:nvSpPr>
          <p:spPr bwMode="auto">
            <a:xfrm flipV="1">
              <a:off x="2824" y="3304"/>
              <a:ext cx="0" cy="37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4" name="Line 254"/>
            <p:cNvSpPr>
              <a:spLocks noChangeShapeType="1"/>
            </p:cNvSpPr>
            <p:nvPr/>
          </p:nvSpPr>
          <p:spPr bwMode="auto">
            <a:xfrm flipV="1">
              <a:off x="3416" y="3024"/>
              <a:ext cx="0" cy="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5" name="Text Box 255"/>
            <p:cNvSpPr txBox="1">
              <a:spLocks noChangeArrowheads="1"/>
            </p:cNvSpPr>
            <p:nvPr/>
          </p:nvSpPr>
          <p:spPr bwMode="auto">
            <a:xfrm>
              <a:off x="1056" y="3743"/>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20</a:t>
              </a:r>
            </a:p>
          </p:txBody>
        </p:sp>
        <p:sp>
          <p:nvSpPr>
            <p:cNvPr id="38986" name="Text Box 256"/>
            <p:cNvSpPr txBox="1">
              <a:spLocks noChangeArrowheads="1"/>
            </p:cNvSpPr>
            <p:nvPr/>
          </p:nvSpPr>
          <p:spPr bwMode="auto">
            <a:xfrm>
              <a:off x="651" y="3531"/>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-93.5</a:t>
              </a:r>
            </a:p>
          </p:txBody>
        </p:sp>
        <p:sp>
          <p:nvSpPr>
            <p:cNvPr id="38987" name="Text Box 257"/>
            <p:cNvSpPr txBox="1">
              <a:spLocks noChangeArrowheads="1"/>
            </p:cNvSpPr>
            <p:nvPr/>
          </p:nvSpPr>
          <p:spPr bwMode="auto">
            <a:xfrm>
              <a:off x="1583" y="3849"/>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-106</a:t>
              </a:r>
            </a:p>
          </p:txBody>
        </p:sp>
        <p:sp>
          <p:nvSpPr>
            <p:cNvPr id="38988" name="Text Box 258"/>
            <p:cNvSpPr txBox="1">
              <a:spLocks noChangeArrowheads="1"/>
            </p:cNvSpPr>
            <p:nvPr/>
          </p:nvSpPr>
          <p:spPr bwMode="auto">
            <a:xfrm>
              <a:off x="1366" y="3342"/>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-76</a:t>
              </a:r>
            </a:p>
          </p:txBody>
        </p:sp>
        <p:sp>
          <p:nvSpPr>
            <p:cNvPr id="38989" name="Text Box 259"/>
            <p:cNvSpPr txBox="1">
              <a:spLocks noChangeArrowheads="1"/>
            </p:cNvSpPr>
            <p:nvPr/>
          </p:nvSpPr>
          <p:spPr bwMode="auto">
            <a:xfrm>
              <a:off x="1624" y="3627"/>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30</a:t>
              </a:r>
            </a:p>
          </p:txBody>
        </p:sp>
        <p:sp>
          <p:nvSpPr>
            <p:cNvPr id="38990" name="Text Box 260"/>
            <p:cNvSpPr txBox="1">
              <a:spLocks noChangeArrowheads="1"/>
            </p:cNvSpPr>
            <p:nvPr/>
          </p:nvSpPr>
          <p:spPr bwMode="auto">
            <a:xfrm>
              <a:off x="2119" y="3772"/>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-86.2</a:t>
              </a:r>
            </a:p>
          </p:txBody>
        </p:sp>
        <p:sp>
          <p:nvSpPr>
            <p:cNvPr id="38991" name="Text Box 261"/>
            <p:cNvSpPr txBox="1">
              <a:spLocks noChangeArrowheads="1"/>
            </p:cNvSpPr>
            <p:nvPr/>
          </p:nvSpPr>
          <p:spPr bwMode="auto">
            <a:xfrm>
              <a:off x="1862" y="3319"/>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-66.2</a:t>
              </a:r>
            </a:p>
          </p:txBody>
        </p:sp>
        <p:sp>
          <p:nvSpPr>
            <p:cNvPr id="38992" name="Text Box 262"/>
            <p:cNvSpPr txBox="1">
              <a:spLocks noChangeArrowheads="1"/>
            </p:cNvSpPr>
            <p:nvPr/>
          </p:nvSpPr>
          <p:spPr bwMode="auto">
            <a:xfrm>
              <a:off x="2182" y="3511"/>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20</a:t>
              </a:r>
            </a:p>
          </p:txBody>
        </p:sp>
        <p:sp>
          <p:nvSpPr>
            <p:cNvPr id="38993" name="Text Box 263"/>
            <p:cNvSpPr txBox="1">
              <a:spLocks noChangeArrowheads="1"/>
            </p:cNvSpPr>
            <p:nvPr/>
          </p:nvSpPr>
          <p:spPr bwMode="auto">
            <a:xfrm>
              <a:off x="2784" y="3342"/>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40</a:t>
              </a:r>
            </a:p>
          </p:txBody>
        </p:sp>
        <p:sp>
          <p:nvSpPr>
            <p:cNvPr id="38994" name="Text Box 264"/>
            <p:cNvSpPr txBox="1">
              <a:spLocks noChangeArrowheads="1"/>
            </p:cNvSpPr>
            <p:nvPr/>
          </p:nvSpPr>
          <p:spPr bwMode="auto">
            <a:xfrm>
              <a:off x="3384" y="3198"/>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40</a:t>
              </a:r>
            </a:p>
          </p:txBody>
        </p:sp>
        <p:sp>
          <p:nvSpPr>
            <p:cNvPr id="38995" name="Text Box 265"/>
            <p:cNvSpPr txBox="1">
              <a:spLocks noChangeArrowheads="1"/>
            </p:cNvSpPr>
            <p:nvPr/>
          </p:nvSpPr>
          <p:spPr bwMode="auto">
            <a:xfrm>
              <a:off x="2632" y="3692"/>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-75.2</a:t>
              </a:r>
            </a:p>
          </p:txBody>
        </p:sp>
        <p:sp>
          <p:nvSpPr>
            <p:cNvPr id="38996" name="Text Box 266"/>
            <p:cNvSpPr txBox="1">
              <a:spLocks noChangeArrowheads="1"/>
            </p:cNvSpPr>
            <p:nvPr/>
          </p:nvSpPr>
          <p:spPr bwMode="auto">
            <a:xfrm>
              <a:off x="2375" y="3130"/>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-35.2</a:t>
              </a:r>
            </a:p>
          </p:txBody>
        </p:sp>
        <p:sp>
          <p:nvSpPr>
            <p:cNvPr id="38997" name="Text Box 267"/>
            <p:cNvSpPr txBox="1">
              <a:spLocks noChangeArrowheads="1"/>
            </p:cNvSpPr>
            <p:nvPr/>
          </p:nvSpPr>
          <p:spPr bwMode="auto">
            <a:xfrm>
              <a:off x="3181" y="3554"/>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-40</a:t>
              </a:r>
            </a:p>
          </p:txBody>
        </p:sp>
        <p:sp>
          <p:nvSpPr>
            <p:cNvPr id="38998" name="Text Box 268"/>
            <p:cNvSpPr txBox="1">
              <a:spLocks noChangeArrowheads="1"/>
            </p:cNvSpPr>
            <p:nvPr/>
          </p:nvSpPr>
          <p:spPr bwMode="auto">
            <a:xfrm>
              <a:off x="3384" y="2986"/>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0</a:t>
              </a:r>
            </a:p>
          </p:txBody>
        </p:sp>
        <p:sp>
          <p:nvSpPr>
            <p:cNvPr id="38999" name="Text Box 269"/>
            <p:cNvSpPr txBox="1">
              <a:spLocks noChangeArrowheads="1"/>
            </p:cNvSpPr>
            <p:nvPr/>
          </p:nvSpPr>
          <p:spPr bwMode="auto">
            <a:xfrm>
              <a:off x="394"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0</a:t>
              </a:r>
            </a:p>
          </p:txBody>
        </p:sp>
        <p:sp>
          <p:nvSpPr>
            <p:cNvPr id="39000" name="Text Box 270"/>
            <p:cNvSpPr txBox="1">
              <a:spLocks noChangeArrowheads="1"/>
            </p:cNvSpPr>
            <p:nvPr/>
          </p:nvSpPr>
          <p:spPr bwMode="auto">
            <a:xfrm>
              <a:off x="917"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a:t>
              </a:r>
            </a:p>
          </p:txBody>
        </p:sp>
        <p:sp>
          <p:nvSpPr>
            <p:cNvPr id="39001" name="Text Box 271"/>
            <p:cNvSpPr txBox="1">
              <a:spLocks noChangeArrowheads="1"/>
            </p:cNvSpPr>
            <p:nvPr/>
          </p:nvSpPr>
          <p:spPr bwMode="auto">
            <a:xfrm>
              <a:off x="1495"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2</a:t>
              </a:r>
            </a:p>
          </p:txBody>
        </p:sp>
        <p:sp>
          <p:nvSpPr>
            <p:cNvPr id="39002" name="Text Box 272"/>
            <p:cNvSpPr txBox="1">
              <a:spLocks noChangeArrowheads="1"/>
            </p:cNvSpPr>
            <p:nvPr/>
          </p:nvSpPr>
          <p:spPr bwMode="auto">
            <a:xfrm>
              <a:off x="2079"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3</a:t>
              </a:r>
            </a:p>
          </p:txBody>
        </p:sp>
        <p:sp>
          <p:nvSpPr>
            <p:cNvPr id="39003" name="Text Box 273"/>
            <p:cNvSpPr txBox="1">
              <a:spLocks noChangeArrowheads="1"/>
            </p:cNvSpPr>
            <p:nvPr/>
          </p:nvSpPr>
          <p:spPr bwMode="auto">
            <a:xfrm>
              <a:off x="2655"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4</a:t>
              </a:r>
            </a:p>
          </p:txBody>
        </p:sp>
        <p:sp>
          <p:nvSpPr>
            <p:cNvPr id="39004" name="Text Box 274"/>
            <p:cNvSpPr txBox="1">
              <a:spLocks noChangeArrowheads="1"/>
            </p:cNvSpPr>
            <p:nvPr/>
          </p:nvSpPr>
          <p:spPr bwMode="auto">
            <a:xfrm>
              <a:off x="3287"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5</a:t>
              </a: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mtClean="0"/>
              <a:t>内部收益率</a:t>
            </a:r>
            <a:r>
              <a:rPr lang="en-US" altLang="zh-CN" smtClean="0"/>
              <a:t>(IRR)</a:t>
            </a:r>
            <a:endParaRPr lang="zh-CN" altLang="en-US" smtClean="0"/>
          </a:p>
        </p:txBody>
      </p:sp>
      <p:sp>
        <p:nvSpPr>
          <p:cNvPr id="40963" name="Rectangle 3"/>
          <p:cNvSpPr>
            <a:spLocks noGrp="1" noChangeArrowheads="1"/>
          </p:cNvSpPr>
          <p:nvPr>
            <p:ph type="body" sz="half" idx="1"/>
          </p:nvPr>
        </p:nvSpPr>
        <p:spPr>
          <a:xfrm>
            <a:off x="0" y="1346200"/>
            <a:ext cx="9144000" cy="5016500"/>
          </a:xfrm>
        </p:spPr>
        <p:txBody>
          <a:bodyPr/>
          <a:lstStyle/>
          <a:p>
            <a:pPr eaLnBrk="1" hangingPunct="1"/>
            <a:r>
              <a:rPr lang="zh-CN" altLang="en-US" b="1" smtClean="0"/>
              <a:t>判别准则：设基准收益率为</a:t>
            </a:r>
            <a:r>
              <a:rPr lang="en-US" altLang="zh-CN" b="1" smtClean="0"/>
              <a:t>i</a:t>
            </a:r>
            <a:r>
              <a:rPr lang="en-US" altLang="zh-CN" b="1" baseline="-25000" smtClean="0"/>
              <a:t>c</a:t>
            </a:r>
          </a:p>
          <a:p>
            <a:pPr lvl="1" eaLnBrk="1" hangingPunct="1"/>
            <a:r>
              <a:rPr lang="zh-CN" altLang="en-US" b="1" smtClean="0"/>
              <a:t>若            ，则项目在经济效果上可以接受；</a:t>
            </a:r>
          </a:p>
          <a:p>
            <a:pPr lvl="1" eaLnBrk="1" hangingPunct="1"/>
            <a:r>
              <a:rPr lang="zh-CN" altLang="en-US" b="1" smtClean="0"/>
              <a:t>若            ，则项目在经济效果上不可接受。</a:t>
            </a:r>
          </a:p>
          <a:p>
            <a:pPr eaLnBrk="1" hangingPunct="1"/>
            <a:endParaRPr lang="en-US" altLang="zh-CN" sz="2800" b="1" smtClean="0"/>
          </a:p>
          <a:p>
            <a:pPr eaLnBrk="1" hangingPunct="1"/>
            <a:r>
              <a:rPr lang="en-US" altLang="zh-CN" b="1" smtClean="0"/>
              <a:t>IRR</a:t>
            </a:r>
            <a:r>
              <a:rPr lang="zh-CN" altLang="en-US" b="1" smtClean="0"/>
              <a:t>被普遍认为是项目投资的盈利率，反映了投资的使用效率，概念清晰明确</a:t>
            </a:r>
          </a:p>
          <a:p>
            <a:pPr lvl="1" eaLnBrk="1" hangingPunct="1"/>
            <a:r>
              <a:rPr lang="zh-CN" altLang="en-US" b="1" smtClean="0"/>
              <a:t>比起</a:t>
            </a:r>
            <a:r>
              <a:rPr lang="en-US" altLang="zh-CN" b="1" smtClean="0"/>
              <a:t>NPV</a:t>
            </a:r>
            <a:r>
              <a:rPr lang="zh-CN" altLang="en-US" b="1" smtClean="0"/>
              <a:t>，行业中的实际工作者更偏好使用</a:t>
            </a:r>
            <a:r>
              <a:rPr lang="en-US" altLang="zh-CN" b="1" smtClean="0"/>
              <a:t>IRR</a:t>
            </a:r>
            <a:endParaRPr lang="zh-CN" altLang="en-US" b="1" smtClean="0"/>
          </a:p>
          <a:p>
            <a:pPr lvl="1" eaLnBrk="1" hangingPunct="1"/>
            <a:endParaRPr lang="zh-CN" altLang="en-US" b="1" smtClean="0"/>
          </a:p>
        </p:txBody>
      </p:sp>
      <p:graphicFrame>
        <p:nvGraphicFramePr>
          <p:cNvPr id="40964" name="Object 4"/>
          <p:cNvGraphicFramePr>
            <a:graphicFrameLocks noGrp="1" noChangeAspect="1"/>
          </p:cNvGraphicFramePr>
          <p:nvPr>
            <p:ph sz="quarter" idx="2"/>
          </p:nvPr>
        </p:nvGraphicFramePr>
        <p:xfrm>
          <a:off x="1162050" y="1993900"/>
          <a:ext cx="968375" cy="425450"/>
        </p:xfrm>
        <a:graphic>
          <a:graphicData uri="http://schemas.openxmlformats.org/presentationml/2006/ole">
            <mc:AlternateContent xmlns:mc="http://schemas.openxmlformats.org/markup-compatibility/2006">
              <mc:Choice xmlns:v="urn:schemas-microsoft-com:vml" Requires="v">
                <p:oleObj spid="_x0000_s41001" name="公式" r:id="rId4" imgW="520700" imgH="228600" progId="Equation.3">
                  <p:embed/>
                </p:oleObj>
              </mc:Choice>
              <mc:Fallback>
                <p:oleObj name="公式" r:id="rId4" imgW="5207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2050" y="1993900"/>
                        <a:ext cx="96837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5" name="Object 6"/>
          <p:cNvGraphicFramePr>
            <a:graphicFrameLocks noGrp="1" noChangeAspect="1"/>
          </p:cNvGraphicFramePr>
          <p:nvPr>
            <p:ph sz="quarter" idx="3"/>
          </p:nvPr>
        </p:nvGraphicFramePr>
        <p:xfrm>
          <a:off x="1162050" y="2495550"/>
          <a:ext cx="955675" cy="419100"/>
        </p:xfrm>
        <a:graphic>
          <a:graphicData uri="http://schemas.openxmlformats.org/presentationml/2006/ole">
            <mc:AlternateContent xmlns:mc="http://schemas.openxmlformats.org/markup-compatibility/2006">
              <mc:Choice xmlns:v="urn:schemas-microsoft-com:vml" Requires="v">
                <p:oleObj spid="_x0000_s41002" name="公式" r:id="rId6" imgW="520700" imgH="228600" progId="Equation.3">
                  <p:embed/>
                </p:oleObj>
              </mc:Choice>
              <mc:Fallback>
                <p:oleObj name="公式" r:id="rId6" imgW="5207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2050" y="2495550"/>
                        <a:ext cx="95567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smtClean="0"/>
              <a:t>内部收益率</a:t>
            </a:r>
            <a:r>
              <a:rPr lang="en-US" altLang="zh-CN" smtClean="0"/>
              <a:t>(IRR)</a:t>
            </a:r>
            <a:endParaRPr lang="zh-CN" altLang="en-US" smtClean="0"/>
          </a:p>
        </p:txBody>
      </p:sp>
      <p:sp>
        <p:nvSpPr>
          <p:cNvPr id="43011" name="Rectangle 3"/>
          <p:cNvSpPr>
            <a:spLocks noGrp="1" noChangeArrowheads="1"/>
          </p:cNvSpPr>
          <p:nvPr>
            <p:ph type="body" idx="1"/>
          </p:nvPr>
        </p:nvSpPr>
        <p:spPr>
          <a:xfrm>
            <a:off x="0" y="1304925"/>
            <a:ext cx="9144000" cy="5207000"/>
          </a:xfrm>
        </p:spPr>
        <p:txBody>
          <a:bodyPr/>
          <a:lstStyle/>
          <a:p>
            <a:pPr eaLnBrk="1" hangingPunct="1"/>
            <a:r>
              <a:rPr lang="zh-CN" altLang="en-US" b="1" smtClean="0"/>
              <a:t>求解</a:t>
            </a:r>
            <a:r>
              <a:rPr lang="en-US" altLang="zh-CN" b="1" smtClean="0"/>
              <a:t>IRR</a:t>
            </a:r>
            <a:r>
              <a:rPr lang="zh-CN" altLang="en-US" b="1" smtClean="0"/>
              <a:t>的方程是个高次方程，通常采用插值法求解</a:t>
            </a:r>
          </a:p>
          <a:p>
            <a:pPr eaLnBrk="1" hangingPunct="1"/>
            <a:endParaRPr lang="zh-CN" altLang="en-US" b="1" smtClean="0"/>
          </a:p>
          <a:p>
            <a:pPr eaLnBrk="1" hangingPunct="1"/>
            <a:endParaRPr lang="zh-CN" altLang="en-US" b="1" smtClean="0"/>
          </a:p>
          <a:p>
            <a:pPr eaLnBrk="1" hangingPunct="1"/>
            <a:endParaRPr lang="zh-CN" altLang="en-US" b="1" smtClean="0"/>
          </a:p>
          <a:p>
            <a:pPr eaLnBrk="1" hangingPunct="1"/>
            <a:r>
              <a:rPr lang="zh-CN" altLang="en-US" b="1" smtClean="0"/>
              <a:t>五道口的房产投资</a:t>
            </a:r>
          </a:p>
          <a:p>
            <a:pPr lvl="1" eaLnBrk="1" hangingPunct="1"/>
            <a:r>
              <a:rPr lang="en-US" altLang="zh-CN" sz="2200" b="1" smtClean="0"/>
              <a:t>i</a:t>
            </a:r>
            <a:r>
              <a:rPr lang="en-US" altLang="zh-CN" sz="2200" b="1" baseline="-25000" smtClean="0"/>
              <a:t>1</a:t>
            </a:r>
            <a:r>
              <a:rPr lang="en-US" altLang="zh-CN" sz="2200" b="1" smtClean="0"/>
              <a:t>=8%, NPV</a:t>
            </a:r>
            <a:r>
              <a:rPr lang="en-US" altLang="zh-CN" sz="2200" b="1" baseline="-25000" smtClean="0"/>
              <a:t>1</a:t>
            </a:r>
            <a:r>
              <a:rPr lang="en-US" altLang="zh-CN" sz="2200" b="1" smtClean="0"/>
              <a:t>=2.02</a:t>
            </a:r>
            <a:r>
              <a:rPr lang="zh-CN" altLang="en-US" sz="2200" b="1" smtClean="0"/>
              <a:t>万元</a:t>
            </a:r>
          </a:p>
          <a:p>
            <a:pPr lvl="1" eaLnBrk="1" hangingPunct="1"/>
            <a:r>
              <a:rPr lang="en-US" altLang="zh-CN" sz="2200" b="1" smtClean="0"/>
              <a:t>i</a:t>
            </a:r>
            <a:r>
              <a:rPr lang="en-US" altLang="zh-CN" sz="2200" b="1" baseline="-25000" smtClean="0"/>
              <a:t>2</a:t>
            </a:r>
            <a:r>
              <a:rPr lang="en-US" altLang="zh-CN" sz="2200" b="1" smtClean="0"/>
              <a:t>=9%, NPV</a:t>
            </a:r>
            <a:r>
              <a:rPr lang="en-US" altLang="zh-CN" sz="2200" b="1" baseline="-25000" smtClean="0"/>
              <a:t>2</a:t>
            </a:r>
            <a:r>
              <a:rPr lang="en-US" altLang="zh-CN" sz="2200" b="1" smtClean="0"/>
              <a:t>=-10.51</a:t>
            </a:r>
            <a:r>
              <a:rPr lang="zh-CN" altLang="en-US" sz="2200" b="1" smtClean="0"/>
              <a:t>万元</a:t>
            </a:r>
          </a:p>
          <a:p>
            <a:pPr lvl="1" eaLnBrk="1" hangingPunct="1"/>
            <a:r>
              <a:rPr lang="zh-CN" altLang="en-US" sz="2200" b="1" smtClean="0"/>
              <a:t>插值计算：</a:t>
            </a:r>
            <a:r>
              <a:rPr lang="en-US" altLang="zh-CN" sz="2200" b="1" smtClean="0"/>
              <a:t>IRR=8%+[2.02/(2.02+10.51)]*1%=8.16%</a:t>
            </a:r>
          </a:p>
          <a:p>
            <a:pPr eaLnBrk="1" hangingPunct="1"/>
            <a:r>
              <a:rPr lang="en-US" altLang="zh-CN" sz="2600" b="1" smtClean="0"/>
              <a:t>Excel</a:t>
            </a:r>
            <a:r>
              <a:rPr lang="zh-CN" altLang="en-US" sz="2600" b="1" smtClean="0"/>
              <a:t>公式：</a:t>
            </a:r>
            <a:r>
              <a:rPr lang="en-US" altLang="zh-CN" sz="2600" b="1" smtClean="0"/>
              <a:t>IRR</a:t>
            </a:r>
          </a:p>
          <a:p>
            <a:pPr lvl="1" eaLnBrk="1" hangingPunct="1"/>
            <a:endParaRPr lang="zh-CN" altLang="en-US" sz="2200" b="1" smtClean="0"/>
          </a:p>
          <a:p>
            <a:pPr eaLnBrk="1" hangingPunct="1"/>
            <a:endParaRPr lang="zh-CN" altLang="en-US" smtClean="0"/>
          </a:p>
        </p:txBody>
      </p:sp>
      <p:grpSp>
        <p:nvGrpSpPr>
          <p:cNvPr id="43012" name="Group 4"/>
          <p:cNvGrpSpPr>
            <a:grpSpLocks/>
          </p:cNvGrpSpPr>
          <p:nvPr/>
        </p:nvGrpSpPr>
        <p:grpSpPr bwMode="auto">
          <a:xfrm>
            <a:off x="5114925" y="1892300"/>
            <a:ext cx="3660775" cy="2222500"/>
            <a:chOff x="3192" y="2703"/>
            <a:chExt cx="1981" cy="1196"/>
          </a:xfrm>
        </p:grpSpPr>
        <p:sp>
          <p:nvSpPr>
            <p:cNvPr id="43015" name="Line 5"/>
            <p:cNvSpPr>
              <a:spLocks noChangeShapeType="1"/>
            </p:cNvSpPr>
            <p:nvPr/>
          </p:nvSpPr>
          <p:spPr bwMode="auto">
            <a:xfrm flipV="1">
              <a:off x="3615" y="3314"/>
              <a:ext cx="134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016" name="Line 6"/>
            <p:cNvSpPr>
              <a:spLocks noChangeShapeType="1"/>
            </p:cNvSpPr>
            <p:nvPr/>
          </p:nvSpPr>
          <p:spPr bwMode="auto">
            <a:xfrm flipH="1" flipV="1">
              <a:off x="3615" y="2703"/>
              <a:ext cx="0" cy="1196"/>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017" name="Freeform 7"/>
            <p:cNvSpPr>
              <a:spLocks/>
            </p:cNvSpPr>
            <p:nvPr/>
          </p:nvSpPr>
          <p:spPr bwMode="auto">
            <a:xfrm>
              <a:off x="3936" y="2976"/>
              <a:ext cx="1052" cy="786"/>
            </a:xfrm>
            <a:custGeom>
              <a:avLst/>
              <a:gdLst>
                <a:gd name="T0" fmla="*/ 0 w 3200"/>
                <a:gd name="T1" fmla="*/ 0 h 2600"/>
                <a:gd name="T2" fmla="*/ 0 w 3200"/>
                <a:gd name="T3" fmla="*/ 0 h 2600"/>
                <a:gd name="T4" fmla="*/ 0 w 3200"/>
                <a:gd name="T5" fmla="*/ 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18" name="Line 8"/>
            <p:cNvSpPr>
              <a:spLocks noChangeShapeType="1"/>
            </p:cNvSpPr>
            <p:nvPr/>
          </p:nvSpPr>
          <p:spPr bwMode="auto">
            <a:xfrm>
              <a:off x="3618" y="3148"/>
              <a:ext cx="408"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9" name="Line 9"/>
            <p:cNvSpPr>
              <a:spLocks noChangeShapeType="1"/>
            </p:cNvSpPr>
            <p:nvPr/>
          </p:nvSpPr>
          <p:spPr bwMode="auto">
            <a:xfrm>
              <a:off x="4026" y="3148"/>
              <a:ext cx="0" cy="166"/>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0" name="Line 10"/>
            <p:cNvSpPr>
              <a:spLocks noChangeShapeType="1"/>
            </p:cNvSpPr>
            <p:nvPr/>
          </p:nvSpPr>
          <p:spPr bwMode="auto">
            <a:xfrm>
              <a:off x="3615" y="3476"/>
              <a:ext cx="822"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1" name="Line 11"/>
            <p:cNvSpPr>
              <a:spLocks noChangeShapeType="1"/>
            </p:cNvSpPr>
            <p:nvPr/>
          </p:nvSpPr>
          <p:spPr bwMode="auto">
            <a:xfrm>
              <a:off x="4434" y="3314"/>
              <a:ext cx="0" cy="166"/>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2" name="Text Box 12"/>
            <p:cNvSpPr txBox="1">
              <a:spLocks noChangeArrowheads="1"/>
            </p:cNvSpPr>
            <p:nvPr/>
          </p:nvSpPr>
          <p:spPr bwMode="auto">
            <a:xfrm>
              <a:off x="3192" y="3080"/>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p>
          </p:txBody>
        </p:sp>
        <p:sp>
          <p:nvSpPr>
            <p:cNvPr id="43023" name="Text Box 13"/>
            <p:cNvSpPr txBox="1">
              <a:spLocks noChangeArrowheads="1"/>
            </p:cNvSpPr>
            <p:nvPr/>
          </p:nvSpPr>
          <p:spPr bwMode="auto">
            <a:xfrm>
              <a:off x="3192" y="3407"/>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p>
          </p:txBody>
        </p:sp>
        <p:sp>
          <p:nvSpPr>
            <p:cNvPr id="43024" name="Text Box 14"/>
            <p:cNvSpPr txBox="1">
              <a:spLocks noChangeArrowheads="1"/>
            </p:cNvSpPr>
            <p:nvPr/>
          </p:nvSpPr>
          <p:spPr bwMode="auto">
            <a:xfrm>
              <a:off x="3968" y="3324"/>
              <a:ext cx="22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p>
          </p:txBody>
        </p:sp>
        <p:sp>
          <p:nvSpPr>
            <p:cNvPr id="43025" name="Text Box 15"/>
            <p:cNvSpPr txBox="1">
              <a:spLocks noChangeArrowheads="1"/>
            </p:cNvSpPr>
            <p:nvPr/>
          </p:nvSpPr>
          <p:spPr bwMode="auto">
            <a:xfrm>
              <a:off x="4375" y="3148"/>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p>
          </p:txBody>
        </p:sp>
        <p:sp>
          <p:nvSpPr>
            <p:cNvPr id="43026" name="Text Box 16"/>
            <p:cNvSpPr txBox="1">
              <a:spLocks noChangeArrowheads="1"/>
            </p:cNvSpPr>
            <p:nvPr/>
          </p:nvSpPr>
          <p:spPr bwMode="auto">
            <a:xfrm>
              <a:off x="4044" y="2876"/>
              <a:ext cx="28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
              </a: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43027" name="Text Box 17"/>
            <p:cNvSpPr txBox="1">
              <a:spLocks noChangeArrowheads="1"/>
            </p:cNvSpPr>
            <p:nvPr/>
          </p:nvSpPr>
          <p:spPr bwMode="auto">
            <a:xfrm>
              <a:off x="3192" y="2703"/>
              <a:ext cx="39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43028" name="Text Box 18"/>
            <p:cNvSpPr txBox="1">
              <a:spLocks noChangeArrowheads="1"/>
            </p:cNvSpPr>
            <p:nvPr/>
          </p:nvSpPr>
          <p:spPr bwMode="auto">
            <a:xfrm>
              <a:off x="4904" y="3344"/>
              <a:ext cx="11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43029" name="Line 19"/>
            <p:cNvSpPr>
              <a:spLocks noChangeShapeType="1"/>
            </p:cNvSpPr>
            <p:nvPr/>
          </p:nvSpPr>
          <p:spPr bwMode="auto">
            <a:xfrm>
              <a:off x="4026" y="3140"/>
              <a:ext cx="390" cy="36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0" name="Line 20"/>
            <p:cNvSpPr>
              <a:spLocks noChangeShapeType="1"/>
            </p:cNvSpPr>
            <p:nvPr/>
          </p:nvSpPr>
          <p:spPr bwMode="auto">
            <a:xfrm flipH="1">
              <a:off x="4224" y="3080"/>
              <a:ext cx="151" cy="23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1" name="Text Box 21"/>
            <p:cNvSpPr txBox="1">
              <a:spLocks noChangeArrowheads="1"/>
            </p:cNvSpPr>
            <p:nvPr/>
          </p:nvSpPr>
          <p:spPr bwMode="auto">
            <a:xfrm>
              <a:off x="4375" y="2876"/>
              <a:ext cx="42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
              </a: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43032" name="Line 22"/>
            <p:cNvSpPr>
              <a:spLocks noChangeShapeType="1"/>
            </p:cNvSpPr>
            <p:nvPr/>
          </p:nvSpPr>
          <p:spPr bwMode="auto">
            <a:xfrm flipH="1">
              <a:off x="4128" y="3164"/>
              <a:ext cx="60" cy="148"/>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3" name="Text Box 23"/>
            <p:cNvSpPr txBox="1">
              <a:spLocks noChangeArrowheads="1"/>
            </p:cNvSpPr>
            <p:nvPr/>
          </p:nvSpPr>
          <p:spPr bwMode="auto">
            <a:xfrm>
              <a:off x="4988" y="3225"/>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graphicFrame>
        <p:nvGraphicFramePr>
          <p:cNvPr id="43013" name="Object 24"/>
          <p:cNvGraphicFramePr>
            <a:graphicFrameLocks noChangeAspect="1"/>
          </p:cNvGraphicFramePr>
          <p:nvPr/>
        </p:nvGraphicFramePr>
        <p:xfrm>
          <a:off x="2027238" y="2033588"/>
          <a:ext cx="1349375" cy="457200"/>
        </p:xfrm>
        <a:graphic>
          <a:graphicData uri="http://schemas.openxmlformats.org/presentationml/2006/ole">
            <mc:AlternateContent xmlns:mc="http://schemas.openxmlformats.org/markup-compatibility/2006">
              <mc:Choice xmlns:v="urn:schemas-microsoft-com:vml" Requires="v">
                <p:oleObj spid="_x0000_s43069" name="公式" r:id="rId3" imgW="748975" imgH="253890" progId="Equation.3">
                  <p:embed/>
                </p:oleObj>
              </mc:Choice>
              <mc:Fallback>
                <p:oleObj name="公式" r:id="rId3" imgW="748975" imgH="253890"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38" y="2033588"/>
                        <a:ext cx="134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25"/>
          <p:cNvGraphicFramePr>
            <a:graphicFrameLocks noChangeAspect="1"/>
          </p:cNvGraphicFramePr>
          <p:nvPr/>
        </p:nvGraphicFramePr>
        <p:xfrm>
          <a:off x="974725" y="2616200"/>
          <a:ext cx="3509963" cy="787400"/>
        </p:xfrm>
        <a:graphic>
          <a:graphicData uri="http://schemas.openxmlformats.org/presentationml/2006/ole">
            <mc:AlternateContent xmlns:mc="http://schemas.openxmlformats.org/markup-compatibility/2006">
              <mc:Choice xmlns:v="urn:schemas-microsoft-com:vml" Requires="v">
                <p:oleObj spid="_x0000_s43070" name="公式" r:id="rId5" imgW="1981200" imgH="444500" progId="Equation.3">
                  <p:embed/>
                </p:oleObj>
              </mc:Choice>
              <mc:Fallback>
                <p:oleObj name="公式" r:id="rId5" imgW="1981200" imgH="444500"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725" y="2616200"/>
                        <a:ext cx="35099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457200" y="2286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spcBef>
                <a:spcPct val="0"/>
              </a:spcBef>
              <a:buFontTx/>
              <a:buNone/>
            </a:pPr>
            <a:r>
              <a:rPr lang="zh-CN" altLang="en-US" sz="4800" b="1">
                <a:solidFill>
                  <a:srgbClr val="990000"/>
                </a:solidFill>
              </a:rPr>
              <a:t> </a:t>
            </a:r>
            <a:endParaRPr lang="en-US" altLang="zh-CN" sz="4800" b="1">
              <a:solidFill>
                <a:srgbClr val="990000"/>
              </a:solidFill>
            </a:endParaRPr>
          </a:p>
        </p:txBody>
      </p:sp>
      <p:sp>
        <p:nvSpPr>
          <p:cNvPr id="44035" name="Text Box 27"/>
          <p:cNvSpPr txBox="1">
            <a:spLocks noChangeArrowheads="1"/>
          </p:cNvSpPr>
          <p:nvPr/>
        </p:nvSpPr>
        <p:spPr bwMode="auto">
          <a:xfrm>
            <a:off x="227013" y="2001838"/>
            <a:ext cx="8523287"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zh-CN" altLang="en-US" sz="4800" b="1">
                <a:solidFill>
                  <a:srgbClr val="990000"/>
                </a:solidFill>
                <a:ea typeface="宋体" panose="02010600030101010101" pitchFamily="2" charset="-122"/>
              </a:rPr>
              <a:t>经济评价指标可分为几种类型</a:t>
            </a:r>
            <a:r>
              <a:rPr lang="en-US" altLang="zh-CN" sz="4800" b="1">
                <a:solidFill>
                  <a:srgbClr val="990000"/>
                </a:solidFill>
                <a:ea typeface="宋体" panose="02010600030101010101" pitchFamily="2" charset="-122"/>
              </a:rPr>
              <a:t>?</a:t>
            </a:r>
            <a:endParaRPr lang="zh-CN" altLang="en-US" sz="4800" b="1">
              <a:solidFill>
                <a:srgbClr val="990000"/>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t>经济评价指标类型</a:t>
            </a:r>
          </a:p>
        </p:txBody>
      </p:sp>
      <p:sp>
        <p:nvSpPr>
          <p:cNvPr id="45059" name="Rectangle 3"/>
          <p:cNvSpPr>
            <a:spLocks noGrp="1" noChangeArrowheads="1"/>
          </p:cNvSpPr>
          <p:nvPr>
            <p:ph type="body" idx="1"/>
          </p:nvPr>
        </p:nvSpPr>
        <p:spPr/>
        <p:txBody>
          <a:bodyPr/>
          <a:lstStyle/>
          <a:p>
            <a:pPr eaLnBrk="1" hangingPunct="1"/>
            <a:r>
              <a:rPr lang="zh-CN" altLang="en-US" b="1" smtClean="0"/>
              <a:t>净现值</a:t>
            </a:r>
            <a:r>
              <a:rPr lang="en-US" altLang="zh-CN" smtClean="0"/>
              <a:t>--</a:t>
            </a:r>
            <a:r>
              <a:rPr lang="zh-CN" altLang="en-US" b="1" smtClean="0">
                <a:solidFill>
                  <a:srgbClr val="0000FF"/>
                </a:solidFill>
              </a:rPr>
              <a:t>价值</a:t>
            </a:r>
            <a:endParaRPr lang="zh-CN" altLang="en-US" b="1" smtClean="0"/>
          </a:p>
          <a:p>
            <a:pPr eaLnBrk="1" hangingPunct="1"/>
            <a:r>
              <a:rPr lang="zh-CN" altLang="en-US" b="1" smtClean="0"/>
              <a:t>内部收益率</a:t>
            </a:r>
            <a:r>
              <a:rPr lang="en-US" altLang="zh-CN" smtClean="0"/>
              <a:t>--</a:t>
            </a:r>
            <a:r>
              <a:rPr lang="zh-CN" altLang="en-US" b="1" smtClean="0">
                <a:solidFill>
                  <a:srgbClr val="0000FF"/>
                </a:solidFill>
              </a:rPr>
              <a:t>效率</a:t>
            </a:r>
            <a:endParaRPr lang="zh-CN" altLang="en-US" b="1" smtClean="0"/>
          </a:p>
          <a:p>
            <a:pPr eaLnBrk="1" hangingPunct="1"/>
            <a:r>
              <a:rPr lang="zh-CN" altLang="en-US" b="1" smtClean="0"/>
              <a:t>投资回收期</a:t>
            </a:r>
            <a:r>
              <a:rPr lang="en-US" altLang="zh-CN" smtClean="0"/>
              <a:t>--</a:t>
            </a:r>
            <a:r>
              <a:rPr lang="zh-CN" altLang="en-US" b="1" smtClean="0">
                <a:solidFill>
                  <a:srgbClr val="0000FF"/>
                </a:solidFill>
              </a:rPr>
              <a:t>时间</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457200" y="2286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spcBef>
                <a:spcPct val="0"/>
              </a:spcBef>
              <a:buFontTx/>
              <a:buNone/>
            </a:pPr>
            <a:r>
              <a:rPr lang="zh-CN" altLang="en-US" sz="4400" b="1">
                <a:solidFill>
                  <a:srgbClr val="990000"/>
                </a:solidFill>
              </a:rPr>
              <a:t> 经济评价指标</a:t>
            </a:r>
            <a:endParaRPr lang="en-US" altLang="zh-CN" sz="4400" b="1">
              <a:solidFill>
                <a:srgbClr val="990000"/>
              </a:solidFill>
            </a:endParaRPr>
          </a:p>
        </p:txBody>
      </p:sp>
      <p:grpSp>
        <p:nvGrpSpPr>
          <p:cNvPr id="2" name="Group 5"/>
          <p:cNvGrpSpPr>
            <a:grpSpLocks/>
          </p:cNvGrpSpPr>
          <p:nvPr/>
        </p:nvGrpSpPr>
        <p:grpSpPr bwMode="auto">
          <a:xfrm>
            <a:off x="152400" y="1336675"/>
            <a:ext cx="8458200" cy="5318125"/>
            <a:chOff x="96" y="912"/>
            <a:chExt cx="5328" cy="3206"/>
          </a:xfrm>
        </p:grpSpPr>
        <p:sp>
          <p:nvSpPr>
            <p:cNvPr id="46084" name="Text Box 6"/>
            <p:cNvSpPr txBox="1">
              <a:spLocks noChangeArrowheads="1"/>
            </p:cNvSpPr>
            <p:nvPr/>
          </p:nvSpPr>
          <p:spPr bwMode="auto">
            <a:xfrm>
              <a:off x="96" y="2019"/>
              <a:ext cx="1182" cy="32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黑体" panose="02010609060101010101" pitchFamily="49" charset="-122"/>
                </a:rPr>
                <a:t>基本指标</a:t>
              </a:r>
            </a:p>
          </p:txBody>
        </p:sp>
        <p:grpSp>
          <p:nvGrpSpPr>
            <p:cNvPr id="46085" name="Group 7"/>
            <p:cNvGrpSpPr>
              <a:grpSpLocks/>
            </p:cNvGrpSpPr>
            <p:nvPr/>
          </p:nvGrpSpPr>
          <p:grpSpPr bwMode="auto">
            <a:xfrm>
              <a:off x="1358" y="912"/>
              <a:ext cx="4066" cy="3206"/>
              <a:chOff x="1358" y="912"/>
              <a:chExt cx="4066" cy="3206"/>
            </a:xfrm>
          </p:grpSpPr>
          <p:sp>
            <p:nvSpPr>
              <p:cNvPr id="46086" name="Text Box 8"/>
              <p:cNvSpPr txBox="1">
                <a:spLocks noChangeArrowheads="1"/>
              </p:cNvSpPr>
              <p:nvPr/>
            </p:nvSpPr>
            <p:spPr bwMode="auto">
              <a:xfrm>
                <a:off x="1776" y="3696"/>
                <a:ext cx="3008" cy="42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400">
                    <a:latin typeface="楷体_GB2312" charset="-122"/>
                  </a:rPr>
                  <a:t>经济评价指标的分类</a:t>
                </a:r>
              </a:p>
            </p:txBody>
          </p:sp>
          <p:sp>
            <p:nvSpPr>
              <p:cNvPr id="46087" name="Text Box 9"/>
              <p:cNvSpPr txBox="1">
                <a:spLocks noChangeArrowheads="1"/>
              </p:cNvSpPr>
              <p:nvPr/>
            </p:nvSpPr>
            <p:spPr bwMode="auto">
              <a:xfrm>
                <a:off x="4386" y="2280"/>
                <a:ext cx="905" cy="30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静态指标</a:t>
                </a:r>
              </a:p>
            </p:txBody>
          </p:sp>
          <p:sp>
            <p:nvSpPr>
              <p:cNvPr id="46088" name="Text Box 10"/>
              <p:cNvSpPr txBox="1">
                <a:spLocks noChangeArrowheads="1"/>
              </p:cNvSpPr>
              <p:nvPr/>
            </p:nvSpPr>
            <p:spPr bwMode="auto">
              <a:xfrm>
                <a:off x="2422" y="1845"/>
                <a:ext cx="1384" cy="87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lnSpc>
                    <a:spcPct val="110000"/>
                  </a:lnSpc>
                  <a:spcBef>
                    <a:spcPct val="0"/>
                  </a:spcBef>
                  <a:buFontTx/>
                  <a:buNone/>
                </a:pPr>
                <a:r>
                  <a:rPr lang="zh-CN" altLang="en-US" sz="2000">
                    <a:latin typeface="Times New Roman" panose="02020603050405020304" pitchFamily="18" charset="0"/>
                  </a:rPr>
                  <a:t>投资收益率</a:t>
                </a:r>
              </a:p>
              <a:p>
                <a:pPr algn="just">
                  <a:lnSpc>
                    <a:spcPct val="110000"/>
                  </a:lnSpc>
                  <a:spcBef>
                    <a:spcPct val="0"/>
                  </a:spcBef>
                  <a:buFontTx/>
                  <a:buNone/>
                </a:pPr>
                <a:r>
                  <a:rPr lang="zh-CN" altLang="en-US" sz="2000" b="1">
                    <a:latin typeface="Times New Roman" panose="02020603050405020304" pitchFamily="18" charset="0"/>
                  </a:rPr>
                  <a:t>内部收益率</a:t>
                </a:r>
              </a:p>
              <a:p>
                <a:pPr algn="just">
                  <a:lnSpc>
                    <a:spcPct val="110000"/>
                  </a:lnSpc>
                  <a:spcBef>
                    <a:spcPct val="0"/>
                  </a:spcBef>
                  <a:buFontTx/>
                  <a:buNone/>
                </a:pPr>
                <a:r>
                  <a:rPr lang="zh-CN" altLang="en-US" sz="2000">
                    <a:latin typeface="Times New Roman" panose="02020603050405020304" pitchFamily="18" charset="0"/>
                  </a:rPr>
                  <a:t>差额内部收益率</a:t>
                </a:r>
              </a:p>
              <a:p>
                <a:pPr algn="just">
                  <a:lnSpc>
                    <a:spcPct val="110000"/>
                  </a:lnSpc>
                  <a:spcBef>
                    <a:spcPct val="0"/>
                  </a:spcBef>
                  <a:buFontTx/>
                  <a:buNone/>
                </a:pPr>
                <a:r>
                  <a:rPr lang="zh-CN" altLang="en-US" sz="2000">
                    <a:latin typeface="Times New Roman" panose="02020603050405020304" pitchFamily="18" charset="0"/>
                  </a:rPr>
                  <a:t>净现值指数</a:t>
                </a:r>
              </a:p>
            </p:txBody>
          </p:sp>
          <p:sp>
            <p:nvSpPr>
              <p:cNvPr id="46089" name="Text Box 11"/>
              <p:cNvSpPr txBox="1">
                <a:spLocks noChangeArrowheads="1"/>
              </p:cNvSpPr>
              <p:nvPr/>
            </p:nvSpPr>
            <p:spPr bwMode="auto">
              <a:xfrm>
                <a:off x="2422" y="2965"/>
                <a:ext cx="1358" cy="646"/>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lnSpc>
                    <a:spcPct val="110000"/>
                  </a:lnSpc>
                  <a:spcBef>
                    <a:spcPct val="0"/>
                  </a:spcBef>
                  <a:buFontTx/>
                  <a:buNone/>
                </a:pPr>
                <a:r>
                  <a:rPr lang="zh-CN" altLang="en-US" sz="2000" b="1">
                    <a:latin typeface="Times New Roman" panose="02020603050405020304" pitchFamily="18" charset="0"/>
                  </a:rPr>
                  <a:t>静态投资回收期</a:t>
                </a:r>
              </a:p>
              <a:p>
                <a:pPr algn="just">
                  <a:lnSpc>
                    <a:spcPct val="110000"/>
                  </a:lnSpc>
                  <a:spcBef>
                    <a:spcPct val="0"/>
                  </a:spcBef>
                  <a:buFontTx/>
                  <a:buNone/>
                </a:pPr>
                <a:r>
                  <a:rPr lang="zh-CN" altLang="en-US" sz="2000" b="1">
                    <a:latin typeface="Times New Roman" panose="02020603050405020304" pitchFamily="18" charset="0"/>
                  </a:rPr>
                  <a:t>动态投资回收期</a:t>
                </a:r>
              </a:p>
              <a:p>
                <a:pPr algn="just">
                  <a:lnSpc>
                    <a:spcPct val="110000"/>
                  </a:lnSpc>
                  <a:spcBef>
                    <a:spcPct val="0"/>
                  </a:spcBef>
                  <a:buFontTx/>
                  <a:buNone/>
                </a:pPr>
                <a:r>
                  <a:rPr lang="zh-CN" altLang="en-US" sz="2000">
                    <a:latin typeface="Times New Roman" panose="02020603050405020304" pitchFamily="18" charset="0"/>
                  </a:rPr>
                  <a:t>贷款偿还期</a:t>
                </a:r>
              </a:p>
            </p:txBody>
          </p:sp>
          <p:sp>
            <p:nvSpPr>
              <p:cNvPr id="46090" name="Text Box 12"/>
              <p:cNvSpPr txBox="1">
                <a:spLocks noChangeArrowheads="1"/>
              </p:cNvSpPr>
              <p:nvPr/>
            </p:nvSpPr>
            <p:spPr bwMode="auto">
              <a:xfrm>
                <a:off x="4386" y="912"/>
                <a:ext cx="852" cy="30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动态指标</a:t>
                </a:r>
              </a:p>
            </p:txBody>
          </p:sp>
          <p:sp>
            <p:nvSpPr>
              <p:cNvPr id="46091" name="Text Box 13"/>
              <p:cNvSpPr txBox="1">
                <a:spLocks noChangeArrowheads="1"/>
              </p:cNvSpPr>
              <p:nvPr/>
            </p:nvSpPr>
            <p:spPr bwMode="auto">
              <a:xfrm>
                <a:off x="1571" y="2156"/>
                <a:ext cx="798" cy="249"/>
              </a:xfrm>
              <a:prstGeom prst="rect">
                <a:avLst/>
              </a:prstGeom>
              <a:noFill/>
              <a:ln w="127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效率型</a:t>
                </a:r>
              </a:p>
            </p:txBody>
          </p:sp>
          <p:sp>
            <p:nvSpPr>
              <p:cNvPr id="46092" name="Text Box 14"/>
              <p:cNvSpPr txBox="1">
                <a:spLocks noChangeArrowheads="1"/>
              </p:cNvSpPr>
              <p:nvPr/>
            </p:nvSpPr>
            <p:spPr bwMode="auto">
              <a:xfrm>
                <a:off x="2422" y="912"/>
                <a:ext cx="1610" cy="647"/>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nSpc>
                    <a:spcPct val="110000"/>
                  </a:lnSpc>
                  <a:spcBef>
                    <a:spcPct val="0"/>
                  </a:spcBef>
                  <a:buFontTx/>
                  <a:buNone/>
                </a:pPr>
                <a:r>
                  <a:rPr lang="zh-CN" altLang="en-US" sz="2000" b="1">
                    <a:latin typeface="Times New Roman" panose="02020603050405020304" pitchFamily="18" charset="0"/>
                  </a:rPr>
                  <a:t>净现值</a:t>
                </a:r>
              </a:p>
              <a:p>
                <a:pPr>
                  <a:lnSpc>
                    <a:spcPct val="110000"/>
                  </a:lnSpc>
                  <a:spcBef>
                    <a:spcPct val="0"/>
                  </a:spcBef>
                  <a:buFontTx/>
                  <a:buNone/>
                </a:pPr>
                <a:r>
                  <a:rPr lang="zh-CN" altLang="en-US" sz="2000">
                    <a:latin typeface="Times New Roman" panose="02020603050405020304" pitchFamily="18" charset="0"/>
                  </a:rPr>
                  <a:t>净年值</a:t>
                </a:r>
              </a:p>
              <a:p>
                <a:pPr>
                  <a:lnSpc>
                    <a:spcPct val="110000"/>
                  </a:lnSpc>
                  <a:spcBef>
                    <a:spcPct val="0"/>
                  </a:spcBef>
                  <a:buFontTx/>
                  <a:buNone/>
                </a:pPr>
                <a:r>
                  <a:rPr lang="zh-CN" altLang="en-US" sz="2000">
                    <a:latin typeface="宋体" panose="02010600030101010101" pitchFamily="2" charset="-122"/>
                  </a:rPr>
                  <a:t>费用现值、费用年值</a:t>
                </a:r>
              </a:p>
            </p:txBody>
          </p:sp>
          <p:sp>
            <p:nvSpPr>
              <p:cNvPr id="46093" name="Text Box 15"/>
              <p:cNvSpPr txBox="1">
                <a:spLocks noChangeArrowheads="1"/>
              </p:cNvSpPr>
              <p:nvPr/>
            </p:nvSpPr>
            <p:spPr bwMode="auto">
              <a:xfrm>
                <a:off x="1571" y="3151"/>
                <a:ext cx="628" cy="297"/>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时间型</a:t>
                </a:r>
              </a:p>
            </p:txBody>
          </p:sp>
          <p:sp>
            <p:nvSpPr>
              <p:cNvPr id="46094" name="Text Box 16"/>
              <p:cNvSpPr txBox="1">
                <a:spLocks noChangeArrowheads="1"/>
              </p:cNvSpPr>
              <p:nvPr/>
            </p:nvSpPr>
            <p:spPr bwMode="auto">
              <a:xfrm>
                <a:off x="1571" y="1099"/>
                <a:ext cx="604" cy="242"/>
              </a:xfrm>
              <a:prstGeom prst="rect">
                <a:avLst/>
              </a:prstGeom>
              <a:noFill/>
              <a:ln w="127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价值型</a:t>
                </a:r>
              </a:p>
            </p:txBody>
          </p:sp>
          <p:sp>
            <p:nvSpPr>
              <p:cNvPr id="46095" name="AutoShape 17"/>
              <p:cNvSpPr>
                <a:spLocks/>
              </p:cNvSpPr>
              <p:nvPr/>
            </p:nvSpPr>
            <p:spPr bwMode="auto">
              <a:xfrm>
                <a:off x="1358" y="1130"/>
                <a:ext cx="159" cy="2146"/>
              </a:xfrm>
              <a:prstGeom prst="leftBrace">
                <a:avLst>
                  <a:gd name="adj1" fmla="val 112474"/>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6" name="AutoShape 18"/>
              <p:cNvSpPr>
                <a:spLocks/>
              </p:cNvSpPr>
              <p:nvPr/>
            </p:nvSpPr>
            <p:spPr bwMode="auto">
              <a:xfrm>
                <a:off x="2261" y="1969"/>
                <a:ext cx="120" cy="700"/>
              </a:xfrm>
              <a:prstGeom prst="leftBrace">
                <a:avLst>
                  <a:gd name="adj1" fmla="val 48611"/>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7" name="AutoShape 19"/>
              <p:cNvSpPr>
                <a:spLocks/>
              </p:cNvSpPr>
              <p:nvPr/>
            </p:nvSpPr>
            <p:spPr bwMode="auto">
              <a:xfrm>
                <a:off x="2261" y="3027"/>
                <a:ext cx="107" cy="560"/>
              </a:xfrm>
              <a:prstGeom prst="leftBrace">
                <a:avLst>
                  <a:gd name="adj1" fmla="val 43614"/>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8" name="AutoShape 20"/>
              <p:cNvSpPr>
                <a:spLocks/>
              </p:cNvSpPr>
              <p:nvPr/>
            </p:nvSpPr>
            <p:spPr bwMode="auto">
              <a:xfrm>
                <a:off x="2261" y="974"/>
                <a:ext cx="80" cy="566"/>
              </a:xfrm>
              <a:prstGeom prst="leftBrace">
                <a:avLst>
                  <a:gd name="adj1" fmla="val 58958"/>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9" name="AutoShape 21"/>
              <p:cNvSpPr>
                <a:spLocks/>
              </p:cNvSpPr>
              <p:nvPr/>
            </p:nvSpPr>
            <p:spPr bwMode="auto">
              <a:xfrm>
                <a:off x="4071" y="2094"/>
                <a:ext cx="107" cy="684"/>
              </a:xfrm>
              <a:prstGeom prst="rightBrace">
                <a:avLst>
                  <a:gd name="adj1" fmla="val 53271"/>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100" name="AutoShape 22"/>
              <p:cNvSpPr>
                <a:spLocks/>
              </p:cNvSpPr>
              <p:nvPr/>
            </p:nvSpPr>
            <p:spPr bwMode="auto">
              <a:xfrm>
                <a:off x="4072" y="974"/>
                <a:ext cx="80" cy="566"/>
              </a:xfrm>
              <a:prstGeom prst="rightBrace">
                <a:avLst>
                  <a:gd name="adj1" fmla="val 58958"/>
                  <a:gd name="adj2" fmla="val 50000"/>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101" name="Text Box 23"/>
              <p:cNvSpPr txBox="1">
                <a:spLocks noChangeArrowheads="1"/>
              </p:cNvSpPr>
              <p:nvPr/>
            </p:nvSpPr>
            <p:spPr bwMode="auto">
              <a:xfrm>
                <a:off x="4386" y="2902"/>
                <a:ext cx="852" cy="24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静态指标</a:t>
                </a:r>
              </a:p>
            </p:txBody>
          </p:sp>
          <p:sp>
            <p:nvSpPr>
              <p:cNvPr id="46102" name="Text Box 24"/>
              <p:cNvSpPr txBox="1">
                <a:spLocks noChangeArrowheads="1"/>
              </p:cNvSpPr>
              <p:nvPr/>
            </p:nvSpPr>
            <p:spPr bwMode="auto">
              <a:xfrm>
                <a:off x="4386" y="3400"/>
                <a:ext cx="958" cy="249"/>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静态指标</a:t>
                </a:r>
              </a:p>
            </p:txBody>
          </p:sp>
          <p:sp>
            <p:nvSpPr>
              <p:cNvPr id="46103" name="Text Box 25"/>
              <p:cNvSpPr txBox="1">
                <a:spLocks noChangeArrowheads="1"/>
              </p:cNvSpPr>
              <p:nvPr/>
            </p:nvSpPr>
            <p:spPr bwMode="auto">
              <a:xfrm>
                <a:off x="4386" y="3151"/>
                <a:ext cx="1038" cy="2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动态指标</a:t>
                </a:r>
              </a:p>
            </p:txBody>
          </p:sp>
          <p:sp>
            <p:nvSpPr>
              <p:cNvPr id="46104" name="Text Box 26"/>
              <p:cNvSpPr txBox="1">
                <a:spLocks noChangeArrowheads="1"/>
              </p:cNvSpPr>
              <p:nvPr/>
            </p:nvSpPr>
            <p:spPr bwMode="auto">
              <a:xfrm>
                <a:off x="4386" y="1783"/>
                <a:ext cx="958" cy="24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pitchFamily="18" charset="0"/>
                    <a:ea typeface="宋体" panose="02010600030101010101" pitchFamily="2" charset="-122"/>
                  </a:rPr>
                  <a:t>静态指标</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p:txBody>
          <a:bodyPr/>
          <a:lstStyle/>
          <a:p>
            <a:pPr eaLnBrk="1" hangingPunct="1"/>
            <a:r>
              <a:rPr lang="zh-CN" altLang="en-US" smtClean="0"/>
              <a:t>静态和动态评价指标</a:t>
            </a:r>
          </a:p>
        </p:txBody>
      </p:sp>
      <p:sp>
        <p:nvSpPr>
          <p:cNvPr id="47107" name="Rectangle 5"/>
          <p:cNvSpPr>
            <a:spLocks noGrp="1" noChangeArrowheads="1"/>
          </p:cNvSpPr>
          <p:nvPr>
            <p:ph type="body" idx="1"/>
          </p:nvPr>
        </p:nvSpPr>
        <p:spPr/>
        <p:txBody>
          <a:bodyPr/>
          <a:lstStyle/>
          <a:p>
            <a:pPr eaLnBrk="1" hangingPunct="1"/>
            <a:r>
              <a:rPr lang="zh-CN" altLang="en-US" b="1" smtClean="0"/>
              <a:t>静态：不考虑时间价值</a:t>
            </a:r>
          </a:p>
          <a:p>
            <a:pPr lvl="1" eaLnBrk="1" hangingPunct="1"/>
            <a:r>
              <a:rPr lang="zh-CN" altLang="en-US" sz="2400" b="1" smtClean="0"/>
              <a:t>在技术经济数据不完备和不精确，或初步评价时使用</a:t>
            </a:r>
          </a:p>
          <a:p>
            <a:pPr eaLnBrk="1" hangingPunct="1"/>
            <a:r>
              <a:rPr lang="zh-CN" altLang="en-US" b="1" smtClean="0"/>
              <a:t>动态：考虑时间价值</a:t>
            </a:r>
          </a:p>
          <a:p>
            <a:pPr lvl="1" eaLnBrk="1" hangingPunct="1"/>
            <a:r>
              <a:rPr lang="zh-CN" altLang="en-US" sz="2400" b="1" smtClean="0"/>
              <a:t>在数据完备，和最后决策时使用</a:t>
            </a:r>
          </a:p>
          <a:p>
            <a:pPr lvl="1" eaLnBrk="1" hangingPunct="1"/>
            <a:endParaRPr lang="zh-CN" altLang="en-US" sz="2400" b="1" smtClean="0"/>
          </a:p>
        </p:txBody>
      </p:sp>
      <p:sp>
        <p:nvSpPr>
          <p:cNvPr id="47108" name="Text Box 6"/>
          <p:cNvSpPr txBox="1">
            <a:spLocks noChangeArrowheads="1"/>
          </p:cNvSpPr>
          <p:nvPr/>
        </p:nvSpPr>
        <p:spPr bwMode="auto">
          <a:xfrm>
            <a:off x="473075" y="4699000"/>
            <a:ext cx="281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经济效果评价指标</a:t>
            </a:r>
          </a:p>
        </p:txBody>
      </p:sp>
      <p:sp>
        <p:nvSpPr>
          <p:cNvPr id="47109" name="AutoShape 7"/>
          <p:cNvSpPr>
            <a:spLocks/>
          </p:cNvSpPr>
          <p:nvPr/>
        </p:nvSpPr>
        <p:spPr bwMode="auto">
          <a:xfrm>
            <a:off x="2811463" y="4160838"/>
            <a:ext cx="152400" cy="1630362"/>
          </a:xfrm>
          <a:prstGeom prst="leftBrace">
            <a:avLst>
              <a:gd name="adj1" fmla="val 89149"/>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0" name="Text Box 8"/>
          <p:cNvSpPr txBox="1">
            <a:spLocks noChangeArrowheads="1"/>
          </p:cNvSpPr>
          <p:nvPr/>
        </p:nvSpPr>
        <p:spPr bwMode="auto">
          <a:xfrm>
            <a:off x="2963863" y="3854450"/>
            <a:ext cx="187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静态评价指标</a:t>
            </a:r>
          </a:p>
        </p:txBody>
      </p:sp>
      <p:sp>
        <p:nvSpPr>
          <p:cNvPr id="47111" name="AutoShape 9"/>
          <p:cNvSpPr>
            <a:spLocks/>
          </p:cNvSpPr>
          <p:nvPr/>
        </p:nvSpPr>
        <p:spPr bwMode="auto">
          <a:xfrm>
            <a:off x="4843463" y="3457575"/>
            <a:ext cx="88900" cy="1100138"/>
          </a:xfrm>
          <a:prstGeom prst="leftBrace">
            <a:avLst>
              <a:gd name="adj1" fmla="val 10312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2" name="Text Box 10"/>
          <p:cNvSpPr txBox="1">
            <a:spLocks noChangeArrowheads="1"/>
          </p:cNvSpPr>
          <p:nvPr/>
        </p:nvSpPr>
        <p:spPr bwMode="auto">
          <a:xfrm>
            <a:off x="4995863" y="3259138"/>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静态投资回收期</a:t>
            </a:r>
          </a:p>
        </p:txBody>
      </p:sp>
      <p:sp>
        <p:nvSpPr>
          <p:cNvPr id="47113" name="Text Box 11"/>
          <p:cNvSpPr txBox="1">
            <a:spLocks noChangeArrowheads="1"/>
          </p:cNvSpPr>
          <p:nvPr/>
        </p:nvSpPr>
        <p:spPr bwMode="auto">
          <a:xfrm>
            <a:off x="4995863" y="3763963"/>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投资收益率</a:t>
            </a:r>
          </a:p>
        </p:txBody>
      </p:sp>
      <p:sp>
        <p:nvSpPr>
          <p:cNvPr id="47114" name="Text Box 12"/>
          <p:cNvSpPr txBox="1">
            <a:spLocks noChangeArrowheads="1"/>
          </p:cNvSpPr>
          <p:nvPr/>
        </p:nvSpPr>
        <p:spPr bwMode="auto">
          <a:xfrm>
            <a:off x="4995863" y="4359275"/>
            <a:ext cx="291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偿债能力指标</a:t>
            </a:r>
            <a:r>
              <a:rPr lang="en-US" altLang="zh-CN" sz="2000" b="1"/>
              <a:t>(</a:t>
            </a:r>
            <a:r>
              <a:rPr lang="zh-CN" altLang="en-US" sz="2000" b="1"/>
              <a:t>自学）</a:t>
            </a:r>
          </a:p>
        </p:txBody>
      </p:sp>
      <p:sp>
        <p:nvSpPr>
          <p:cNvPr id="47115" name="Text Box 13"/>
          <p:cNvSpPr txBox="1">
            <a:spLocks noChangeArrowheads="1"/>
          </p:cNvSpPr>
          <p:nvPr/>
        </p:nvSpPr>
        <p:spPr bwMode="auto">
          <a:xfrm>
            <a:off x="2963863" y="5638800"/>
            <a:ext cx="187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动态评价指标</a:t>
            </a:r>
          </a:p>
        </p:txBody>
      </p:sp>
      <p:sp>
        <p:nvSpPr>
          <p:cNvPr id="47116" name="AutoShape 14"/>
          <p:cNvSpPr>
            <a:spLocks/>
          </p:cNvSpPr>
          <p:nvPr/>
        </p:nvSpPr>
        <p:spPr bwMode="auto">
          <a:xfrm>
            <a:off x="4792663" y="5324475"/>
            <a:ext cx="88900" cy="1100138"/>
          </a:xfrm>
          <a:prstGeom prst="leftBrace">
            <a:avLst>
              <a:gd name="adj1" fmla="val 103125"/>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7" name="Text Box 15"/>
          <p:cNvSpPr txBox="1">
            <a:spLocks noChangeArrowheads="1"/>
          </p:cNvSpPr>
          <p:nvPr/>
        </p:nvSpPr>
        <p:spPr bwMode="auto">
          <a:xfrm>
            <a:off x="4995863" y="4927600"/>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净现值</a:t>
            </a:r>
            <a:r>
              <a:rPr lang="en-US" altLang="zh-CN" sz="2000" b="1"/>
              <a:t>NPV</a:t>
            </a:r>
          </a:p>
        </p:txBody>
      </p:sp>
      <p:sp>
        <p:nvSpPr>
          <p:cNvPr id="47118" name="Text Box 16"/>
          <p:cNvSpPr txBox="1">
            <a:spLocks noChangeArrowheads="1"/>
          </p:cNvSpPr>
          <p:nvPr/>
        </p:nvSpPr>
        <p:spPr bwMode="auto">
          <a:xfrm>
            <a:off x="4995863" y="5362575"/>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内部收益率</a:t>
            </a:r>
            <a:r>
              <a:rPr lang="en-US" altLang="zh-CN" sz="2000" b="1"/>
              <a:t>IRR</a:t>
            </a:r>
          </a:p>
        </p:txBody>
      </p:sp>
      <p:sp>
        <p:nvSpPr>
          <p:cNvPr id="47119" name="Text Box 17"/>
          <p:cNvSpPr txBox="1">
            <a:spLocks noChangeArrowheads="1"/>
          </p:cNvSpPr>
          <p:nvPr/>
        </p:nvSpPr>
        <p:spPr bwMode="auto">
          <a:xfrm>
            <a:off x="4995863" y="5791200"/>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动态投资回收期</a:t>
            </a:r>
          </a:p>
        </p:txBody>
      </p:sp>
      <p:sp>
        <p:nvSpPr>
          <p:cNvPr id="47120" name="Text Box 18"/>
          <p:cNvSpPr txBox="1">
            <a:spLocks noChangeArrowheads="1"/>
          </p:cNvSpPr>
          <p:nvPr/>
        </p:nvSpPr>
        <p:spPr bwMode="auto">
          <a:xfrm>
            <a:off x="4995863" y="6188075"/>
            <a:ext cx="2636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净年值，净现值率</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p:txBody>
          <a:bodyPr/>
          <a:lstStyle/>
          <a:p>
            <a:pPr eaLnBrk="1" hangingPunct="1"/>
            <a:r>
              <a:rPr lang="zh-CN" altLang="en-US" smtClean="0"/>
              <a:t>净现值</a:t>
            </a:r>
            <a:r>
              <a:rPr lang="en-US" altLang="zh-CN" smtClean="0"/>
              <a:t>NPV</a:t>
            </a:r>
          </a:p>
        </p:txBody>
      </p:sp>
      <p:sp>
        <p:nvSpPr>
          <p:cNvPr id="48131" name="Rectangle 5"/>
          <p:cNvSpPr>
            <a:spLocks noGrp="1" noChangeArrowheads="1"/>
          </p:cNvSpPr>
          <p:nvPr>
            <p:ph type="body" sz="half" idx="1"/>
          </p:nvPr>
        </p:nvSpPr>
        <p:spPr>
          <a:xfrm>
            <a:off x="0" y="2324100"/>
            <a:ext cx="9144000" cy="1562100"/>
          </a:xfrm>
        </p:spPr>
        <p:txBody>
          <a:bodyPr/>
          <a:lstStyle/>
          <a:p>
            <a:pPr eaLnBrk="1" hangingPunct="1"/>
            <a:r>
              <a:rPr lang="zh-CN" altLang="en-US" sz="2400" b="1" smtClean="0"/>
              <a:t>用一个预定的基准收益率</a:t>
            </a:r>
            <a:r>
              <a:rPr lang="en-US" altLang="zh-CN" sz="2400" b="1" smtClean="0"/>
              <a:t>ic</a:t>
            </a:r>
            <a:r>
              <a:rPr lang="zh-CN" altLang="en-US" sz="2400" b="1" smtClean="0"/>
              <a:t>，分别把整个计算期内各年所发生的净现金流量都折现到期初（基准期）的现值之和。</a:t>
            </a:r>
          </a:p>
          <a:p>
            <a:pPr eaLnBrk="1" hangingPunct="1"/>
            <a:r>
              <a:rPr lang="zh-CN" altLang="en-US" sz="2400" b="1" smtClean="0"/>
              <a:t>可以被认为是超过“基准收益率”外的“超额收益额”。</a:t>
            </a:r>
          </a:p>
        </p:txBody>
      </p:sp>
      <p:graphicFrame>
        <p:nvGraphicFramePr>
          <p:cNvPr id="633862" name="Object 6"/>
          <p:cNvGraphicFramePr>
            <a:graphicFrameLocks noChangeAspect="1"/>
          </p:cNvGraphicFramePr>
          <p:nvPr/>
        </p:nvGraphicFramePr>
        <p:xfrm>
          <a:off x="2489200" y="1498600"/>
          <a:ext cx="3495675" cy="825500"/>
        </p:xfrm>
        <a:graphic>
          <a:graphicData uri="http://schemas.openxmlformats.org/presentationml/2006/ole">
            <mc:AlternateContent xmlns:mc="http://schemas.openxmlformats.org/markup-compatibility/2006">
              <mc:Choice xmlns:v="urn:schemas-microsoft-com:vml" Requires="v">
                <p:oleObj spid="_x0000_s48188" name="Equation" r:id="rId3" imgW="1828800" imgH="431800" progId="Equation.DSMT4">
                  <p:embed/>
                </p:oleObj>
              </mc:Choice>
              <mc:Fallback>
                <p:oleObj name="Equation" r:id="rId3" imgW="1828800" imgH="4318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9200" y="1498600"/>
                        <a:ext cx="349567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Rectangle 7"/>
          <p:cNvSpPr>
            <a:spLocks noChangeArrowheads="1"/>
          </p:cNvSpPr>
          <p:nvPr/>
        </p:nvSpPr>
        <p:spPr bwMode="auto">
          <a:xfrm>
            <a:off x="0" y="3886200"/>
            <a:ext cx="9144000" cy="2260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r>
              <a:rPr lang="zh-CN" altLang="en-US" b="1"/>
              <a:t>评价准则</a:t>
            </a:r>
          </a:p>
          <a:p>
            <a:pPr lvl="1" eaLnBrk="1" hangingPunct="1"/>
            <a:r>
              <a:rPr lang="zh-CN" altLang="en-US" sz="2400" b="1"/>
              <a:t>若                ，则项目应予以考虑接受；</a:t>
            </a:r>
          </a:p>
          <a:p>
            <a:pPr lvl="1" eaLnBrk="1" hangingPunct="1"/>
            <a:r>
              <a:rPr lang="zh-CN" altLang="en-US" sz="2400" b="1"/>
              <a:t>若                ，则项目应予以拒绝。</a:t>
            </a:r>
          </a:p>
          <a:p>
            <a:pPr lvl="1" eaLnBrk="1" hangingPunct="1"/>
            <a:r>
              <a:rPr lang="zh-CN" altLang="en-US" sz="2400" b="1"/>
              <a:t>若为多方案比选，净现值越大的方案相对越优</a:t>
            </a:r>
            <a:endParaRPr lang="zh-CN" altLang="en-US" sz="2000"/>
          </a:p>
        </p:txBody>
      </p:sp>
      <p:graphicFrame>
        <p:nvGraphicFramePr>
          <p:cNvPr id="48134" name="Object 8"/>
          <p:cNvGraphicFramePr>
            <a:graphicFrameLocks noChangeAspect="1"/>
          </p:cNvGraphicFramePr>
          <p:nvPr/>
        </p:nvGraphicFramePr>
        <p:xfrm>
          <a:off x="1250950" y="4508500"/>
          <a:ext cx="1098550" cy="334963"/>
        </p:xfrm>
        <a:graphic>
          <a:graphicData uri="http://schemas.openxmlformats.org/presentationml/2006/ole">
            <mc:AlternateContent xmlns:mc="http://schemas.openxmlformats.org/markup-compatibility/2006">
              <mc:Choice xmlns:v="urn:schemas-microsoft-com:vml" Requires="v">
                <p:oleObj spid="_x0000_s48189" name="公式" r:id="rId5" imgW="583693" imgH="177646" progId="Equation.3">
                  <p:embed/>
                </p:oleObj>
              </mc:Choice>
              <mc:Fallback>
                <p:oleObj name="公式" r:id="rId5" imgW="583693" imgH="177646"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0950" y="4508500"/>
                        <a:ext cx="109855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5" name="Object 9"/>
          <p:cNvGraphicFramePr>
            <a:graphicFrameLocks noChangeAspect="1"/>
          </p:cNvGraphicFramePr>
          <p:nvPr/>
        </p:nvGraphicFramePr>
        <p:xfrm>
          <a:off x="1250950" y="4965700"/>
          <a:ext cx="1098550" cy="334963"/>
        </p:xfrm>
        <a:graphic>
          <a:graphicData uri="http://schemas.openxmlformats.org/presentationml/2006/ole">
            <mc:AlternateContent xmlns:mc="http://schemas.openxmlformats.org/markup-compatibility/2006">
              <mc:Choice xmlns:v="urn:schemas-microsoft-com:vml" Requires="v">
                <p:oleObj spid="_x0000_s48190" name="公式" r:id="rId7" imgW="583693" imgH="177646" progId="Equation.3">
                  <p:embed/>
                </p:oleObj>
              </mc:Choice>
              <mc:Fallback>
                <p:oleObj name="公式" r:id="rId7" imgW="583693" imgH="177646"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0950" y="4965700"/>
                        <a:ext cx="109855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3862"/>
                                        </p:tgtEl>
                                        <p:attrNameLst>
                                          <p:attrName>style.visibility</p:attrName>
                                        </p:attrNameLst>
                                      </p:cBhvr>
                                      <p:to>
                                        <p:strVal val="visible"/>
                                      </p:to>
                                    </p:set>
                                    <p:anim calcmode="lin" valueType="num">
                                      <p:cBhvr additive="base">
                                        <p:cTn id="7" dur="500" fill="hold"/>
                                        <p:tgtEl>
                                          <p:spTgt spid="633862"/>
                                        </p:tgtEl>
                                        <p:attrNameLst>
                                          <p:attrName>ppt_x</p:attrName>
                                        </p:attrNameLst>
                                      </p:cBhvr>
                                      <p:tavLst>
                                        <p:tav tm="0">
                                          <p:val>
                                            <p:strVal val="#ppt_x"/>
                                          </p:val>
                                        </p:tav>
                                        <p:tav tm="100000">
                                          <p:val>
                                            <p:strVal val="#ppt_x"/>
                                          </p:val>
                                        </p:tav>
                                      </p:tavLst>
                                    </p:anim>
                                    <p:anim calcmode="lin" valueType="num">
                                      <p:cBhvr additive="base">
                                        <p:cTn id="8" dur="500" fill="hold"/>
                                        <p:tgtEl>
                                          <p:spTgt spid="6338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title"/>
          </p:nvPr>
        </p:nvSpPr>
        <p:spPr/>
        <p:txBody>
          <a:bodyPr/>
          <a:lstStyle/>
          <a:p>
            <a:pPr eaLnBrk="1" hangingPunct="1"/>
            <a:r>
              <a:rPr lang="en-US" altLang="zh-CN" smtClean="0"/>
              <a:t>NPV(i)——</a:t>
            </a:r>
            <a:r>
              <a:rPr lang="zh-CN" altLang="en-US" smtClean="0"/>
              <a:t>净现值函数</a:t>
            </a:r>
          </a:p>
        </p:txBody>
      </p:sp>
      <p:sp>
        <p:nvSpPr>
          <p:cNvPr id="49155" name="Rectangle 5"/>
          <p:cNvSpPr>
            <a:spLocks noGrp="1" noChangeArrowheads="1"/>
          </p:cNvSpPr>
          <p:nvPr>
            <p:ph type="body" sz="half" idx="1"/>
          </p:nvPr>
        </p:nvSpPr>
        <p:spPr>
          <a:xfrm>
            <a:off x="0" y="1346200"/>
            <a:ext cx="9144000" cy="4986338"/>
          </a:xfrm>
        </p:spPr>
        <p:txBody>
          <a:bodyPr/>
          <a:lstStyle/>
          <a:p>
            <a:pPr eaLnBrk="1" hangingPunct="1"/>
            <a:r>
              <a:rPr lang="zh-CN" altLang="en-US" sz="2800" b="1" smtClean="0"/>
              <a:t>当</a:t>
            </a:r>
            <a:r>
              <a:rPr lang="en-US" altLang="zh-CN" sz="2800" b="1" smtClean="0"/>
              <a:t>A0&lt;0</a:t>
            </a:r>
            <a:r>
              <a:rPr lang="zh-CN" altLang="en-US" sz="2800" b="1" smtClean="0"/>
              <a:t>，</a:t>
            </a:r>
            <a:r>
              <a:rPr lang="en-US" altLang="zh-CN" sz="2800" b="1" smtClean="0"/>
              <a:t>At&gt;0</a:t>
            </a:r>
            <a:r>
              <a:rPr lang="zh-CN" altLang="en-US" sz="2800" b="1" smtClean="0"/>
              <a:t>时，</a:t>
            </a:r>
            <a:r>
              <a:rPr lang="en-US" altLang="zh-CN" sz="2800" b="1" smtClean="0"/>
              <a:t>NPV(i)</a:t>
            </a:r>
            <a:r>
              <a:rPr lang="zh-CN" altLang="en-US" sz="2800" b="1" smtClean="0"/>
              <a:t>是基准收益率</a:t>
            </a:r>
            <a:r>
              <a:rPr lang="en-US" altLang="zh-CN" sz="2800" b="1" smtClean="0"/>
              <a:t>i</a:t>
            </a:r>
            <a:r>
              <a:rPr lang="zh-CN" altLang="en-US" sz="2800" b="1" smtClean="0"/>
              <a:t>的递减函数；对于一般的工程项目，</a:t>
            </a:r>
            <a:r>
              <a:rPr lang="en-US" altLang="zh-CN" sz="2800" b="1" smtClean="0"/>
              <a:t>NPV</a:t>
            </a:r>
            <a:r>
              <a:rPr lang="zh-CN" altLang="en-US" sz="2800" b="1" smtClean="0"/>
              <a:t>随着</a:t>
            </a:r>
            <a:r>
              <a:rPr lang="en-US" altLang="zh-CN" sz="2800" b="1" smtClean="0"/>
              <a:t>i</a:t>
            </a:r>
            <a:r>
              <a:rPr lang="zh-CN" altLang="en-US" sz="2800" b="1" smtClean="0"/>
              <a:t>的增加而减小</a:t>
            </a:r>
          </a:p>
        </p:txBody>
      </p:sp>
      <p:grpSp>
        <p:nvGrpSpPr>
          <p:cNvPr id="49156" name="Group 6"/>
          <p:cNvGrpSpPr>
            <a:grpSpLocks/>
          </p:cNvGrpSpPr>
          <p:nvPr/>
        </p:nvGrpSpPr>
        <p:grpSpPr bwMode="auto">
          <a:xfrm>
            <a:off x="77788" y="2578100"/>
            <a:ext cx="4611687" cy="3662363"/>
            <a:chOff x="49" y="1624"/>
            <a:chExt cx="2905" cy="2307"/>
          </a:xfrm>
        </p:grpSpPr>
        <p:grpSp>
          <p:nvGrpSpPr>
            <p:cNvPr id="49192" name="Group 7"/>
            <p:cNvGrpSpPr>
              <a:grpSpLocks/>
            </p:cNvGrpSpPr>
            <p:nvPr/>
          </p:nvGrpSpPr>
          <p:grpSpPr bwMode="auto">
            <a:xfrm>
              <a:off x="49" y="1624"/>
              <a:ext cx="2905" cy="2307"/>
              <a:chOff x="737" y="1264"/>
              <a:chExt cx="4305" cy="2864"/>
            </a:xfrm>
          </p:grpSpPr>
          <p:sp>
            <p:nvSpPr>
              <p:cNvPr id="49195" name="Line 8"/>
              <p:cNvSpPr>
                <a:spLocks noChangeShapeType="1"/>
              </p:cNvSpPr>
              <p:nvPr/>
            </p:nvSpPr>
            <p:spPr bwMode="auto">
              <a:xfrm flipV="1">
                <a:off x="1327" y="3400"/>
                <a:ext cx="356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9196" name="Line 9"/>
              <p:cNvSpPr>
                <a:spLocks noChangeShapeType="1"/>
              </p:cNvSpPr>
              <p:nvPr/>
            </p:nvSpPr>
            <p:spPr bwMode="auto">
              <a:xfrm flipV="1">
                <a:off x="1335" y="1264"/>
                <a:ext cx="0" cy="2672"/>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9197" name="Freeform 10"/>
              <p:cNvSpPr>
                <a:spLocks/>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8" name="Line 11"/>
              <p:cNvSpPr>
                <a:spLocks noChangeShapeType="1"/>
              </p:cNvSpPr>
              <p:nvPr/>
            </p:nvSpPr>
            <p:spPr bwMode="auto">
              <a:xfrm>
                <a:off x="1335" y="3096"/>
                <a:ext cx="1080"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9" name="Line 12"/>
              <p:cNvSpPr>
                <a:spLocks noChangeShapeType="1"/>
              </p:cNvSpPr>
              <p:nvPr/>
            </p:nvSpPr>
            <p:spPr bwMode="auto">
              <a:xfrm>
                <a:off x="2415" y="3096"/>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0" name="Line 13"/>
              <p:cNvSpPr>
                <a:spLocks noChangeShapeType="1"/>
              </p:cNvSpPr>
              <p:nvPr/>
            </p:nvSpPr>
            <p:spPr bwMode="auto">
              <a:xfrm>
                <a:off x="1327" y="3696"/>
                <a:ext cx="2176"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1" name="Line 14"/>
              <p:cNvSpPr>
                <a:spLocks noChangeShapeType="1"/>
              </p:cNvSpPr>
              <p:nvPr/>
            </p:nvSpPr>
            <p:spPr bwMode="auto">
              <a:xfrm>
                <a:off x="3495" y="3400"/>
                <a:ext cx="0" cy="304"/>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02" name="Text Box 15"/>
              <p:cNvSpPr txBox="1">
                <a:spLocks noChangeArrowheads="1"/>
              </p:cNvSpPr>
              <p:nvPr/>
            </p:nvSpPr>
            <p:spPr bwMode="auto">
              <a:xfrm>
                <a:off x="737" y="29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p>
            </p:txBody>
          </p:sp>
          <p:sp>
            <p:nvSpPr>
              <p:cNvPr id="49203" name="Text Box 16"/>
              <p:cNvSpPr txBox="1">
                <a:spLocks noChangeArrowheads="1"/>
              </p:cNvSpPr>
              <p:nvPr/>
            </p:nvSpPr>
            <p:spPr bwMode="auto">
              <a:xfrm>
                <a:off x="737" y="35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p>
            </p:txBody>
          </p:sp>
          <p:sp>
            <p:nvSpPr>
              <p:cNvPr id="49204" name="Text Box 17"/>
              <p:cNvSpPr txBox="1">
                <a:spLocks noChangeArrowheads="1"/>
              </p:cNvSpPr>
              <p:nvPr/>
            </p:nvSpPr>
            <p:spPr bwMode="auto">
              <a:xfrm>
                <a:off x="2266" y="3417"/>
                <a:ext cx="29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p>
            </p:txBody>
          </p:sp>
          <p:sp>
            <p:nvSpPr>
              <p:cNvPr id="49205" name="Text Box 18"/>
              <p:cNvSpPr txBox="1">
                <a:spLocks noChangeArrowheads="1"/>
              </p:cNvSpPr>
              <p:nvPr/>
            </p:nvSpPr>
            <p:spPr bwMode="auto">
              <a:xfrm>
                <a:off x="3347"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p>
            </p:txBody>
          </p:sp>
          <p:sp>
            <p:nvSpPr>
              <p:cNvPr id="49206" name="Text Box 19"/>
              <p:cNvSpPr txBox="1">
                <a:spLocks noChangeArrowheads="1"/>
              </p:cNvSpPr>
              <p:nvPr/>
            </p:nvSpPr>
            <p:spPr bwMode="auto">
              <a:xfrm>
                <a:off x="2852"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49207" name="Text Box 20"/>
              <p:cNvSpPr txBox="1">
                <a:spLocks noChangeArrowheads="1"/>
              </p:cNvSpPr>
              <p:nvPr/>
            </p:nvSpPr>
            <p:spPr bwMode="auto">
              <a:xfrm>
                <a:off x="737" y="1403"/>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49208" name="Text Box 21"/>
              <p:cNvSpPr txBox="1">
                <a:spLocks noChangeArrowheads="1"/>
              </p:cNvSpPr>
              <p:nvPr/>
            </p:nvSpPr>
            <p:spPr bwMode="auto">
              <a:xfrm>
                <a:off x="4747" y="3454"/>
                <a:ext cx="29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49193" name="Line 22"/>
            <p:cNvSpPr>
              <a:spLocks noChangeShapeType="1"/>
            </p:cNvSpPr>
            <p:nvPr/>
          </p:nvSpPr>
          <p:spPr bwMode="auto">
            <a:xfrm flipH="1">
              <a:off x="1536" y="3100"/>
              <a:ext cx="274" cy="21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4" name="Text Box 23"/>
            <p:cNvSpPr txBox="1">
              <a:spLocks noChangeArrowheads="1"/>
            </p:cNvSpPr>
            <p:nvPr/>
          </p:nvSpPr>
          <p:spPr bwMode="auto">
            <a:xfrm>
              <a:off x="1536" y="2648"/>
              <a:ext cx="9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600" b="1">
                  <a:solidFill>
                    <a:srgbClr val="0000CC"/>
                  </a:solidFill>
                  <a:ea typeface="宋体" panose="02010600030101010101" pitchFamily="2" charset="-122"/>
                </a:rPr>
                <a:t>折现率临界值</a:t>
              </a:r>
            </a:p>
          </p:txBody>
        </p:sp>
      </p:grpSp>
      <p:graphicFrame>
        <p:nvGraphicFramePr>
          <p:cNvPr id="634904" name="Group 24"/>
          <p:cNvGraphicFramePr>
            <a:graphicFrameLocks noGrp="1"/>
          </p:cNvGraphicFramePr>
          <p:nvPr/>
        </p:nvGraphicFramePr>
        <p:xfrm>
          <a:off x="4689475" y="2263775"/>
          <a:ext cx="4175125" cy="3879876"/>
        </p:xfrm>
        <a:graphic>
          <a:graphicData uri="http://schemas.openxmlformats.org/drawingml/2006/table">
            <a:tbl>
              <a:tblPr/>
              <a:tblGrid>
                <a:gridCol w="1235075">
                  <a:extLst>
                    <a:ext uri="{9D8B030D-6E8A-4147-A177-3AD203B41FA5}">
                      <a16:colId xmlns:a16="http://schemas.microsoft.com/office/drawing/2014/main" xmlns="" val="20000"/>
                    </a:ext>
                  </a:extLst>
                </a:gridCol>
                <a:gridCol w="2940050">
                  <a:extLst>
                    <a:ext uri="{9D8B030D-6E8A-4147-A177-3AD203B41FA5}">
                      <a16:colId xmlns:a16="http://schemas.microsoft.com/office/drawing/2014/main" xmlns="" val="20001"/>
                    </a:ext>
                  </a:extLst>
                </a:gridCol>
              </a:tblGrid>
              <a:tr h="822923">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i(%)</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NPV(i)=</a:t>
                      </a:r>
                    </a:p>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-120+7.2(P/A,i,20)+240(P/F, I, 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3</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116.50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5</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57.32</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437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7</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17.10</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4437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8</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2.02</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9</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FF"/>
                          </a:solidFill>
                          <a:effectLst/>
                          <a:latin typeface="Times New Roman" pitchFamily="18" charset="0"/>
                          <a:ea typeface="楷体_GB2312"/>
                          <a:cs typeface="楷体_GB2312"/>
                        </a:rPr>
                        <a:t>-10.51</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45964">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11</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-29.64</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13</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-43.00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45964">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rPr>
                        <a:t>15</a:t>
                      </a: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-52.41</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35248">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宋体" pitchFamily="2" charset="-122"/>
                          <a:cs typeface="楷体_GB2312"/>
                        </a:rPr>
                        <a:t>∞</a:t>
                      </a:r>
                      <a:endParaRPr kumimoji="0" lang="zh-CN" altLang="en-US"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itchFamily="34" charset="0"/>
                          <a:ea typeface="楷体_GB2312"/>
                          <a:cs typeface="楷体_GB2312"/>
                        </a:defRPr>
                      </a:lvl1pPr>
                      <a:lvl2pPr marL="742950" indent="-285750">
                        <a:spcBef>
                          <a:spcPct val="20000"/>
                        </a:spcBef>
                        <a:defRPr sz="2400">
                          <a:solidFill>
                            <a:srgbClr val="000000"/>
                          </a:solidFill>
                          <a:latin typeface="Arial" pitchFamily="34" charset="0"/>
                          <a:ea typeface="楷体_GB2312"/>
                          <a:cs typeface="楷体_GB2312"/>
                        </a:defRPr>
                      </a:lvl2pPr>
                      <a:lvl3pPr marL="1143000" indent="-228600">
                        <a:spcBef>
                          <a:spcPct val="20000"/>
                        </a:spcBef>
                        <a:defRPr sz="2000">
                          <a:solidFill>
                            <a:srgbClr val="000000"/>
                          </a:solidFill>
                          <a:latin typeface="Arial" pitchFamily="34" charset="0"/>
                          <a:ea typeface="楷体_GB2312"/>
                          <a:cs typeface="楷体_GB2312"/>
                        </a:defRPr>
                      </a:lvl3pPr>
                      <a:lvl4pPr marL="1600200" indent="-228600">
                        <a:spcBef>
                          <a:spcPct val="20000"/>
                        </a:spcBef>
                        <a:defRPr>
                          <a:solidFill>
                            <a:srgbClr val="000000"/>
                          </a:solidFill>
                          <a:latin typeface="Arial" pitchFamily="34" charset="0"/>
                          <a:ea typeface="楷体_GB2312"/>
                          <a:cs typeface="楷体_GB2312"/>
                        </a:defRPr>
                      </a:lvl4pPr>
                      <a:lvl5pPr marL="2057400" indent="-228600">
                        <a:spcBef>
                          <a:spcPct val="20000"/>
                        </a:spcBef>
                        <a:defRPr>
                          <a:solidFill>
                            <a:srgbClr val="000000"/>
                          </a:solidFill>
                          <a:latin typeface="Arial"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宋体" pitchFamily="2" charset="-122"/>
                          <a:cs typeface="楷体_GB2312"/>
                        </a:rPr>
                        <a:t>-120</a:t>
                      </a:r>
                      <a:endParaRPr kumimoji="0" lang="en-US" altLang="zh-CN" sz="1600" b="1" i="0" u="none" strike="noStrike" cap="none" normalizeH="0" baseline="0" smtClean="0">
                        <a:ln>
                          <a:noFill/>
                        </a:ln>
                        <a:solidFill>
                          <a:srgbClr val="000000"/>
                        </a:solidFill>
                        <a:effectLst/>
                        <a:latin typeface="Times New Roman" pitchFamily="18"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0" y="12700"/>
            <a:ext cx="9144000" cy="1181100"/>
          </a:xfrm>
        </p:spPr>
        <p:txBody>
          <a:bodyPr/>
          <a:lstStyle/>
          <a:p>
            <a:pPr eaLnBrk="1" hangingPunct="1"/>
            <a:r>
              <a:rPr lang="zh-CN" altLang="en-US" smtClean="0"/>
              <a:t> </a:t>
            </a:r>
            <a:r>
              <a:rPr lang="zh-CN" altLang="en-US" sz="4000" smtClean="0"/>
              <a:t>净现值的衍生指标</a:t>
            </a:r>
            <a:r>
              <a:rPr lang="en-US" altLang="zh-CN" sz="4000" smtClean="0"/>
              <a:t>1</a:t>
            </a:r>
            <a:r>
              <a:rPr lang="zh-CN" altLang="en-US" sz="4000" smtClean="0"/>
              <a:t>：净现值率</a:t>
            </a:r>
            <a:r>
              <a:rPr lang="en-US" altLang="zh-CN" sz="4000" smtClean="0"/>
              <a:t>(NPVR)</a:t>
            </a:r>
          </a:p>
        </p:txBody>
      </p:sp>
      <p:sp>
        <p:nvSpPr>
          <p:cNvPr id="635909" name="Rectangle 5"/>
          <p:cNvSpPr>
            <a:spLocks noGrp="1" noChangeArrowheads="1"/>
          </p:cNvSpPr>
          <p:nvPr>
            <p:ph type="body" sz="half" idx="1"/>
          </p:nvPr>
        </p:nvSpPr>
        <p:spPr>
          <a:xfrm>
            <a:off x="0" y="1346200"/>
            <a:ext cx="9144000" cy="5029200"/>
          </a:xfrm>
        </p:spPr>
        <p:txBody>
          <a:bodyPr/>
          <a:lstStyle/>
          <a:p>
            <a:pPr eaLnBrk="1" hangingPunct="1"/>
            <a:r>
              <a:rPr lang="zh-CN" altLang="en-US" sz="2800" b="1" smtClean="0"/>
              <a:t>在</a:t>
            </a:r>
            <a:r>
              <a:rPr lang="en-US" altLang="zh-CN" sz="2800" b="1" smtClean="0"/>
              <a:t>NPV</a:t>
            </a:r>
            <a:r>
              <a:rPr lang="zh-CN" altLang="en-US" sz="2800" b="1" smtClean="0"/>
              <a:t>基础上发展起来，作为净现值的补充</a:t>
            </a:r>
          </a:p>
          <a:p>
            <a:pPr eaLnBrk="1" hangingPunct="1"/>
            <a:r>
              <a:rPr lang="en-US" altLang="zh-CN" sz="2800" b="1" smtClean="0"/>
              <a:t>1. </a:t>
            </a:r>
            <a:r>
              <a:rPr lang="zh-CN" altLang="en-US" sz="2800" b="1" smtClean="0"/>
              <a:t>净现值率</a:t>
            </a:r>
            <a:r>
              <a:rPr lang="en-US" altLang="zh-CN" sz="2800" b="1" smtClean="0"/>
              <a:t>(Net Present Value Rate, NPVR)</a:t>
            </a:r>
          </a:p>
          <a:p>
            <a:pPr lvl="1" eaLnBrk="1" hangingPunct="1"/>
            <a:r>
              <a:rPr lang="zh-CN" altLang="en-US" sz="2400" b="1" smtClean="0"/>
              <a:t>净现值与项目全部投资现值的比值，其经济含义为单位投资现值所能带来的净现值，可以考察</a:t>
            </a:r>
            <a:r>
              <a:rPr lang="zh-CN" altLang="en-US" sz="2400" b="1" u="sng" smtClean="0"/>
              <a:t>投资的利用效率</a:t>
            </a:r>
            <a:r>
              <a:rPr lang="zh-CN" altLang="en-US" sz="2400" b="1" smtClean="0"/>
              <a:t>。</a:t>
            </a:r>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r>
              <a:rPr lang="zh-CN" altLang="en-US" sz="2400" b="1" smtClean="0"/>
              <a:t>每</a:t>
            </a:r>
            <a:r>
              <a:rPr lang="en-US" altLang="zh-CN" sz="2400" b="1" smtClean="0"/>
              <a:t>1</a:t>
            </a:r>
            <a:r>
              <a:rPr lang="zh-CN" altLang="en-US" sz="2400" b="1" smtClean="0"/>
              <a:t>元的投资，能赚到多少</a:t>
            </a:r>
            <a:r>
              <a:rPr lang="en-US" altLang="zh-CN" sz="2400" b="1" smtClean="0"/>
              <a:t>NPV</a:t>
            </a:r>
            <a:r>
              <a:rPr lang="zh-CN" altLang="en-US" sz="2400" b="1" smtClean="0"/>
              <a:t>？</a:t>
            </a:r>
          </a:p>
          <a:p>
            <a:pPr lvl="1" eaLnBrk="1" hangingPunct="1"/>
            <a:r>
              <a:rPr lang="zh-CN" altLang="en-US" sz="2400" b="1" smtClean="0"/>
              <a:t>评价标准：                 ，且越大越好。</a:t>
            </a:r>
          </a:p>
          <a:p>
            <a:pPr lvl="1" eaLnBrk="1" hangingPunct="1"/>
            <a:r>
              <a:rPr lang="zh-CN" altLang="en-US" sz="2400" b="1" smtClean="0"/>
              <a:t>注意：投资现值与净现值的研究期应一致，折现率应一致。</a:t>
            </a:r>
          </a:p>
          <a:p>
            <a:pPr eaLnBrk="1" hangingPunct="1"/>
            <a:endParaRPr lang="en-US" altLang="zh-CN" sz="2800" b="1" smtClean="0"/>
          </a:p>
          <a:p>
            <a:pPr eaLnBrk="1" hangingPunct="1"/>
            <a:endParaRPr lang="zh-CN" altLang="en-US" sz="2800" b="1" smtClean="0"/>
          </a:p>
        </p:txBody>
      </p:sp>
      <p:graphicFrame>
        <p:nvGraphicFramePr>
          <p:cNvPr id="50180" name="Object 6"/>
          <p:cNvGraphicFramePr>
            <a:graphicFrameLocks noChangeAspect="1"/>
          </p:cNvGraphicFramePr>
          <p:nvPr/>
        </p:nvGraphicFramePr>
        <p:xfrm>
          <a:off x="1212850" y="3495675"/>
          <a:ext cx="2054225" cy="944563"/>
        </p:xfrm>
        <a:graphic>
          <a:graphicData uri="http://schemas.openxmlformats.org/presentationml/2006/ole">
            <mc:AlternateContent xmlns:mc="http://schemas.openxmlformats.org/markup-compatibility/2006">
              <mc:Choice xmlns:v="urn:schemas-microsoft-com:vml" Requires="v">
                <p:oleObj spid="_x0000_s50235" name="公式" r:id="rId3" imgW="939392" imgH="431613" progId="Equation.3">
                  <p:embed/>
                </p:oleObj>
              </mc:Choice>
              <mc:Fallback>
                <p:oleObj name="公式" r:id="rId3" imgW="939392" imgH="431613"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850" y="3495675"/>
                        <a:ext cx="2054225"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7"/>
          <p:cNvGraphicFramePr>
            <a:graphicFrameLocks noChangeAspect="1"/>
          </p:cNvGraphicFramePr>
          <p:nvPr/>
        </p:nvGraphicFramePr>
        <p:xfrm>
          <a:off x="4765675" y="3440113"/>
          <a:ext cx="2800350" cy="962025"/>
        </p:xfrm>
        <a:graphic>
          <a:graphicData uri="http://schemas.openxmlformats.org/presentationml/2006/ole">
            <mc:AlternateContent xmlns:mc="http://schemas.openxmlformats.org/markup-compatibility/2006">
              <mc:Choice xmlns:v="urn:schemas-microsoft-com:vml" Requires="v">
                <p:oleObj spid="_x0000_s50236" name="公式" r:id="rId5" imgW="1257300" imgH="431800" progId="Equation.3">
                  <p:embed/>
                </p:oleObj>
              </mc:Choice>
              <mc:Fallback>
                <p:oleObj name="公式" r:id="rId5" imgW="1257300" imgH="431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5675" y="3440113"/>
                        <a:ext cx="280035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912" name="Object 8"/>
          <p:cNvGraphicFramePr>
            <a:graphicFrameLocks noChangeAspect="1"/>
          </p:cNvGraphicFramePr>
          <p:nvPr/>
        </p:nvGraphicFramePr>
        <p:xfrm>
          <a:off x="2239963" y="5391150"/>
          <a:ext cx="1379537" cy="369888"/>
        </p:xfrm>
        <a:graphic>
          <a:graphicData uri="http://schemas.openxmlformats.org/presentationml/2006/ole">
            <mc:AlternateContent xmlns:mc="http://schemas.openxmlformats.org/markup-compatibility/2006">
              <mc:Choice xmlns:v="urn:schemas-microsoft-com:vml" Requires="v">
                <p:oleObj spid="_x0000_s50237" name="Equation" r:id="rId7" imgW="660113" imgH="177723" progId="Equation.DSMT4">
                  <p:embed/>
                </p:oleObj>
              </mc:Choice>
              <mc:Fallback>
                <p:oleObj name="Equation" r:id="rId7" imgW="660113" imgH="177723"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9963" y="5391150"/>
                        <a:ext cx="13795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5909">
                                            <p:txEl>
                                              <p:pRg st="7" end="7"/>
                                            </p:txEl>
                                          </p:spTgt>
                                        </p:tgtEl>
                                        <p:attrNameLst>
                                          <p:attrName>style.visibility</p:attrName>
                                        </p:attrNameLst>
                                      </p:cBhvr>
                                      <p:to>
                                        <p:strVal val="visible"/>
                                      </p:to>
                                    </p:set>
                                    <p:animEffect transition="in" filter="blinds(horizontal)">
                                      <p:cBhvr>
                                        <p:cTn id="7" dur="500"/>
                                        <p:tgtEl>
                                          <p:spTgt spid="635909">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35909">
                                            <p:txEl>
                                              <p:pRg st="8" end="8"/>
                                            </p:txEl>
                                          </p:spTgt>
                                        </p:tgtEl>
                                        <p:attrNameLst>
                                          <p:attrName>style.visibility</p:attrName>
                                        </p:attrNameLst>
                                      </p:cBhvr>
                                      <p:to>
                                        <p:strVal val="visible"/>
                                      </p:to>
                                    </p:set>
                                    <p:animEffect transition="in" filter="blinds(horizontal)">
                                      <p:cBhvr>
                                        <p:cTn id="10" dur="500"/>
                                        <p:tgtEl>
                                          <p:spTgt spid="635909">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35909">
                                            <p:txEl>
                                              <p:pRg st="9" end="9"/>
                                            </p:txEl>
                                          </p:spTgt>
                                        </p:tgtEl>
                                        <p:attrNameLst>
                                          <p:attrName>style.visibility</p:attrName>
                                        </p:attrNameLst>
                                      </p:cBhvr>
                                      <p:to>
                                        <p:strVal val="visible"/>
                                      </p:to>
                                    </p:set>
                                    <p:animEffect transition="in" filter="blinds(horizontal)">
                                      <p:cBhvr>
                                        <p:cTn id="13" dur="500"/>
                                        <p:tgtEl>
                                          <p:spTgt spid="635909">
                                            <p:txEl>
                                              <p:pRg st="9" end="9"/>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35912"/>
                                        </p:tgtEl>
                                        <p:attrNameLst>
                                          <p:attrName>style.visibility</p:attrName>
                                        </p:attrNameLst>
                                      </p:cBhvr>
                                      <p:to>
                                        <p:strVal val="visible"/>
                                      </p:to>
                                    </p:set>
                                    <p:animEffect transition="in" filter="blinds(horizontal)">
                                      <p:cBhvr>
                                        <p:cTn id="18" dur="500"/>
                                        <p:tgtEl>
                                          <p:spTgt spid="635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p:txBody>
          <a:bodyPr/>
          <a:lstStyle/>
          <a:p>
            <a:pPr eaLnBrk="1" hangingPunct="1"/>
            <a:r>
              <a:rPr lang="zh-CN" altLang="en-US" sz="4000" smtClean="0"/>
              <a:t>净现值的衍生指标</a:t>
            </a:r>
            <a:r>
              <a:rPr lang="en-US" altLang="zh-CN" sz="4000" smtClean="0"/>
              <a:t>2</a:t>
            </a:r>
            <a:r>
              <a:rPr lang="zh-CN" altLang="en-US" sz="4000" smtClean="0"/>
              <a:t>：净年值</a:t>
            </a:r>
            <a:r>
              <a:rPr lang="en-US" altLang="zh-CN" sz="4000" smtClean="0"/>
              <a:t>(NAV)</a:t>
            </a:r>
            <a:endParaRPr lang="zh-CN" altLang="en-US" sz="4000" smtClean="0"/>
          </a:p>
        </p:txBody>
      </p:sp>
      <p:sp>
        <p:nvSpPr>
          <p:cNvPr id="51203" name="Rectangle 5"/>
          <p:cNvSpPr>
            <a:spLocks noGrp="1" noChangeArrowheads="1"/>
          </p:cNvSpPr>
          <p:nvPr>
            <p:ph type="body" sz="half" idx="1"/>
          </p:nvPr>
        </p:nvSpPr>
        <p:spPr>
          <a:xfrm>
            <a:off x="0" y="1346200"/>
            <a:ext cx="9144000" cy="5029200"/>
          </a:xfrm>
        </p:spPr>
        <p:txBody>
          <a:bodyPr/>
          <a:lstStyle/>
          <a:p>
            <a:pPr eaLnBrk="1" hangingPunct="1"/>
            <a:r>
              <a:rPr lang="en-US" altLang="zh-CN" sz="2800" b="1" smtClean="0"/>
              <a:t>2. </a:t>
            </a:r>
            <a:r>
              <a:rPr lang="zh-CN" altLang="en-US" sz="2800" b="1" smtClean="0"/>
              <a:t>净年值 </a:t>
            </a:r>
            <a:r>
              <a:rPr lang="en-US" altLang="zh-CN" sz="2800" b="1" smtClean="0"/>
              <a:t>(Net Annual Value, NAV)</a:t>
            </a:r>
          </a:p>
          <a:p>
            <a:pPr lvl="1" eaLnBrk="1" hangingPunct="1"/>
            <a:r>
              <a:rPr lang="zh-CN" altLang="en-US" sz="2400" b="1" smtClean="0"/>
              <a:t>通过资金等值计算将项目净现值分摊到寿命期内各年的等额年值，反映项目寿命期内每年的等额超额收益。</a:t>
            </a:r>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r>
              <a:rPr lang="zh-CN" altLang="en-US" sz="2400" b="1" smtClean="0"/>
              <a:t>平均每年能赚多少</a:t>
            </a:r>
            <a:r>
              <a:rPr lang="en-US" altLang="zh-CN" sz="2400" b="1" smtClean="0"/>
              <a:t>NPV</a:t>
            </a:r>
            <a:r>
              <a:rPr lang="zh-CN" altLang="en-US" sz="2400" b="1" smtClean="0"/>
              <a:t>（超额收益）</a:t>
            </a:r>
            <a:r>
              <a:rPr lang="en-US" altLang="zh-CN" sz="2400" b="1" smtClean="0"/>
              <a:t>?</a:t>
            </a:r>
          </a:p>
        </p:txBody>
      </p:sp>
      <p:graphicFrame>
        <p:nvGraphicFramePr>
          <p:cNvPr id="51204" name="Object 6"/>
          <p:cNvGraphicFramePr>
            <a:graphicFrameLocks noChangeAspect="1"/>
          </p:cNvGraphicFramePr>
          <p:nvPr/>
        </p:nvGraphicFramePr>
        <p:xfrm>
          <a:off x="895350" y="3098800"/>
          <a:ext cx="7081838" cy="850900"/>
        </p:xfrm>
        <a:graphic>
          <a:graphicData uri="http://schemas.openxmlformats.org/presentationml/2006/ole">
            <mc:AlternateContent xmlns:mc="http://schemas.openxmlformats.org/markup-compatibility/2006">
              <mc:Choice xmlns:v="urn:schemas-microsoft-com:vml" Requires="v">
                <p:oleObj spid="_x0000_s51223" name="公式" r:id="rId3" imgW="3594100" imgH="431800" progId="Equation.3">
                  <p:embed/>
                </p:oleObj>
              </mc:Choice>
              <mc:Fallback>
                <p:oleObj name="公式" r:id="rId3" imgW="35941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3098800"/>
                        <a:ext cx="708183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r>
              <a:rPr lang="zh-CN" altLang="en-US" smtClean="0"/>
              <a:t>五道口房子投资的</a:t>
            </a:r>
            <a:r>
              <a:rPr lang="en-US" altLang="zh-CN" smtClean="0"/>
              <a:t>NPVR</a:t>
            </a:r>
            <a:r>
              <a:rPr lang="zh-CN" altLang="en-US" smtClean="0"/>
              <a:t>和</a:t>
            </a:r>
            <a:r>
              <a:rPr lang="en-US" altLang="zh-CN" smtClean="0"/>
              <a:t>NAV</a:t>
            </a:r>
          </a:p>
        </p:txBody>
      </p:sp>
      <p:sp>
        <p:nvSpPr>
          <p:cNvPr id="637957" name="Rectangle 5"/>
          <p:cNvSpPr>
            <a:spLocks noGrp="1" noChangeArrowheads="1"/>
          </p:cNvSpPr>
          <p:nvPr>
            <p:ph type="body" idx="1"/>
          </p:nvPr>
        </p:nvSpPr>
        <p:spPr>
          <a:xfrm>
            <a:off x="0" y="4953000"/>
            <a:ext cx="9144000" cy="1295400"/>
          </a:xfrm>
        </p:spPr>
        <p:txBody>
          <a:bodyPr/>
          <a:lstStyle/>
          <a:p>
            <a:pPr eaLnBrk="1" hangingPunct="1"/>
            <a:r>
              <a:rPr lang="en-US" altLang="zh-CN" sz="2800" b="1" smtClean="0"/>
              <a:t>NPV= 57.32</a:t>
            </a:r>
            <a:r>
              <a:rPr lang="zh-CN" altLang="en-US" sz="2800" b="1" smtClean="0"/>
              <a:t>万元</a:t>
            </a:r>
            <a:r>
              <a:rPr lang="en-US" altLang="zh-CN" sz="2800" b="1" smtClean="0"/>
              <a:t>, Ip= 120</a:t>
            </a:r>
            <a:r>
              <a:rPr lang="zh-CN" altLang="en-US" sz="2800" b="1" smtClean="0"/>
              <a:t>万元</a:t>
            </a:r>
            <a:r>
              <a:rPr lang="en-US" altLang="zh-CN" sz="2800" b="1" smtClean="0"/>
              <a:t>, NPVR= 57.32/120=0.48</a:t>
            </a:r>
          </a:p>
          <a:p>
            <a:pPr eaLnBrk="1" hangingPunct="1"/>
            <a:r>
              <a:rPr lang="en-US" altLang="zh-CN" sz="2800" b="1" smtClean="0"/>
              <a:t>NAV= NPV(A/P,ic,n)=57.32(A/P,5%,20)=4.60</a:t>
            </a:r>
            <a:r>
              <a:rPr lang="zh-CN" altLang="en-US" sz="2800" b="1" smtClean="0"/>
              <a:t>万元</a:t>
            </a:r>
          </a:p>
        </p:txBody>
      </p:sp>
      <p:sp>
        <p:nvSpPr>
          <p:cNvPr id="637958" name="Line 6"/>
          <p:cNvSpPr>
            <a:spLocks noChangeShapeType="1"/>
          </p:cNvSpPr>
          <p:nvPr/>
        </p:nvSpPr>
        <p:spPr bwMode="auto">
          <a:xfrm>
            <a:off x="1200150" y="3149600"/>
            <a:ext cx="6956425"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37959" name="Text Box 7"/>
          <p:cNvSpPr txBox="1">
            <a:spLocks noChangeArrowheads="1"/>
          </p:cNvSpPr>
          <p:nvPr/>
        </p:nvSpPr>
        <p:spPr bwMode="auto">
          <a:xfrm>
            <a:off x="146050" y="3911600"/>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p>
        </p:txBody>
      </p:sp>
      <p:sp>
        <p:nvSpPr>
          <p:cNvPr id="637960" name="Text Box 8"/>
          <p:cNvSpPr txBox="1">
            <a:spLocks noChangeArrowheads="1"/>
          </p:cNvSpPr>
          <p:nvPr/>
        </p:nvSpPr>
        <p:spPr bwMode="auto">
          <a:xfrm>
            <a:off x="790575" y="31496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637961" name="Text Box 9"/>
          <p:cNvSpPr txBox="1">
            <a:spLocks noChangeArrowheads="1"/>
          </p:cNvSpPr>
          <p:nvPr/>
        </p:nvSpPr>
        <p:spPr bwMode="auto">
          <a:xfrm>
            <a:off x="1587500" y="31623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637962" name="Text Box 10"/>
          <p:cNvSpPr txBox="1">
            <a:spLocks noChangeArrowheads="1"/>
          </p:cNvSpPr>
          <p:nvPr/>
        </p:nvSpPr>
        <p:spPr bwMode="auto">
          <a:xfrm>
            <a:off x="2292350" y="31623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637963" name="Text Box 11"/>
          <p:cNvSpPr txBox="1">
            <a:spLocks noChangeArrowheads="1"/>
          </p:cNvSpPr>
          <p:nvPr/>
        </p:nvSpPr>
        <p:spPr bwMode="auto">
          <a:xfrm>
            <a:off x="3044825" y="31496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637964" name="Line 12"/>
          <p:cNvSpPr>
            <a:spLocks noChangeShapeType="1"/>
          </p:cNvSpPr>
          <p:nvPr/>
        </p:nvSpPr>
        <p:spPr bwMode="auto">
          <a:xfrm flipV="1">
            <a:off x="1803400" y="27432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5" name="Line 13"/>
          <p:cNvSpPr>
            <a:spLocks noChangeShapeType="1"/>
          </p:cNvSpPr>
          <p:nvPr/>
        </p:nvSpPr>
        <p:spPr bwMode="auto">
          <a:xfrm flipV="1">
            <a:off x="2527300" y="27432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6" name="Line 14"/>
          <p:cNvSpPr>
            <a:spLocks noChangeShapeType="1"/>
          </p:cNvSpPr>
          <p:nvPr/>
        </p:nvSpPr>
        <p:spPr bwMode="auto">
          <a:xfrm flipV="1">
            <a:off x="3219450" y="27559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7" name="Text Box 15"/>
          <p:cNvSpPr txBox="1">
            <a:spLocks noChangeArrowheads="1"/>
          </p:cNvSpPr>
          <p:nvPr/>
        </p:nvSpPr>
        <p:spPr bwMode="auto">
          <a:xfrm>
            <a:off x="2165350"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grpSp>
        <p:nvGrpSpPr>
          <p:cNvPr id="2" name="Group 16"/>
          <p:cNvGrpSpPr>
            <a:grpSpLocks/>
          </p:cNvGrpSpPr>
          <p:nvPr/>
        </p:nvGrpSpPr>
        <p:grpSpPr bwMode="auto">
          <a:xfrm>
            <a:off x="7610475" y="2311400"/>
            <a:ext cx="457200" cy="307975"/>
            <a:chOff x="1104" y="3432"/>
            <a:chExt cx="400" cy="408"/>
          </a:xfrm>
        </p:grpSpPr>
        <p:sp>
          <p:nvSpPr>
            <p:cNvPr id="52257" name="Line 17"/>
            <p:cNvSpPr>
              <a:spLocks noChangeShapeType="1"/>
            </p:cNvSpPr>
            <p:nvPr/>
          </p:nvSpPr>
          <p:spPr bwMode="auto">
            <a:xfrm>
              <a:off x="1312" y="3432"/>
              <a:ext cx="192"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58" name="Line 18"/>
            <p:cNvSpPr>
              <a:spLocks noChangeShapeType="1"/>
            </p:cNvSpPr>
            <p:nvPr/>
          </p:nvSpPr>
          <p:spPr bwMode="auto">
            <a:xfrm flipH="1">
              <a:off x="1104" y="3432"/>
              <a:ext cx="400" cy="40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59" name="Line 19"/>
            <p:cNvSpPr>
              <a:spLocks noChangeShapeType="1"/>
            </p:cNvSpPr>
            <p:nvPr/>
          </p:nvSpPr>
          <p:spPr bwMode="auto">
            <a:xfrm flipV="1">
              <a:off x="1104" y="3832"/>
              <a:ext cx="208" cy="8"/>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7972" name="Line 20"/>
          <p:cNvSpPr>
            <a:spLocks noChangeShapeType="1"/>
          </p:cNvSpPr>
          <p:nvPr/>
        </p:nvSpPr>
        <p:spPr bwMode="auto">
          <a:xfrm>
            <a:off x="1200150" y="3149600"/>
            <a:ext cx="0" cy="762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7973" name="Line 21"/>
          <p:cNvSpPr>
            <a:spLocks noChangeShapeType="1"/>
          </p:cNvSpPr>
          <p:nvPr/>
        </p:nvSpPr>
        <p:spPr bwMode="auto">
          <a:xfrm flipV="1">
            <a:off x="7042150" y="27051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4" name="Line 22"/>
          <p:cNvSpPr>
            <a:spLocks noChangeShapeType="1"/>
          </p:cNvSpPr>
          <p:nvPr/>
        </p:nvSpPr>
        <p:spPr bwMode="auto">
          <a:xfrm flipV="1">
            <a:off x="7918450" y="2743200"/>
            <a:ext cx="0" cy="406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5" name="Line 23"/>
          <p:cNvSpPr>
            <a:spLocks noChangeShapeType="1"/>
          </p:cNvSpPr>
          <p:nvPr/>
        </p:nvSpPr>
        <p:spPr bwMode="auto">
          <a:xfrm flipV="1">
            <a:off x="7835900" y="1371600"/>
            <a:ext cx="0" cy="9398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6" name="Line 24"/>
          <p:cNvSpPr>
            <a:spLocks noChangeShapeType="1"/>
          </p:cNvSpPr>
          <p:nvPr/>
        </p:nvSpPr>
        <p:spPr bwMode="auto">
          <a:xfrm>
            <a:off x="7851775" y="2606675"/>
            <a:ext cx="0" cy="55562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7977" name="Text Box 25"/>
          <p:cNvSpPr txBox="1">
            <a:spLocks noChangeArrowheads="1"/>
          </p:cNvSpPr>
          <p:nvPr/>
        </p:nvSpPr>
        <p:spPr bwMode="auto">
          <a:xfrm>
            <a:off x="6734175" y="31623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637978" name="Text Box 26"/>
          <p:cNvSpPr txBox="1">
            <a:spLocks noChangeArrowheads="1"/>
          </p:cNvSpPr>
          <p:nvPr/>
        </p:nvSpPr>
        <p:spPr bwMode="auto">
          <a:xfrm>
            <a:off x="7610475" y="31623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grpSp>
        <p:nvGrpSpPr>
          <p:cNvPr id="3" name="Group 27"/>
          <p:cNvGrpSpPr>
            <a:grpSpLocks/>
          </p:cNvGrpSpPr>
          <p:nvPr/>
        </p:nvGrpSpPr>
        <p:grpSpPr bwMode="auto">
          <a:xfrm>
            <a:off x="974725" y="3911600"/>
            <a:ext cx="431800" cy="396875"/>
            <a:chOff x="1104" y="3432"/>
            <a:chExt cx="400" cy="408"/>
          </a:xfrm>
        </p:grpSpPr>
        <p:sp>
          <p:nvSpPr>
            <p:cNvPr id="52254" name="Line 28"/>
            <p:cNvSpPr>
              <a:spLocks noChangeShapeType="1"/>
            </p:cNvSpPr>
            <p:nvPr/>
          </p:nvSpPr>
          <p:spPr bwMode="auto">
            <a:xfrm>
              <a:off x="1312" y="3432"/>
              <a:ext cx="19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55" name="Line 29"/>
            <p:cNvSpPr>
              <a:spLocks noChangeShapeType="1"/>
            </p:cNvSpPr>
            <p:nvPr/>
          </p:nvSpPr>
          <p:spPr bwMode="auto">
            <a:xfrm flipH="1">
              <a:off x="1104" y="3432"/>
              <a:ext cx="400" cy="40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56" name="Line 30"/>
            <p:cNvSpPr>
              <a:spLocks noChangeShapeType="1"/>
            </p:cNvSpPr>
            <p:nvPr/>
          </p:nvSpPr>
          <p:spPr bwMode="auto">
            <a:xfrm flipV="1">
              <a:off x="1104" y="3832"/>
              <a:ext cx="208" cy="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7983" name="Line 31"/>
          <p:cNvSpPr>
            <a:spLocks noChangeShapeType="1"/>
          </p:cNvSpPr>
          <p:nvPr/>
        </p:nvSpPr>
        <p:spPr bwMode="auto">
          <a:xfrm>
            <a:off x="1212850" y="4308475"/>
            <a:ext cx="0" cy="6445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84" name="Text Box 32"/>
          <p:cNvSpPr txBox="1">
            <a:spLocks noChangeArrowheads="1"/>
          </p:cNvSpPr>
          <p:nvPr/>
        </p:nvSpPr>
        <p:spPr bwMode="auto">
          <a:xfrm>
            <a:off x="7835900" y="1549400"/>
            <a:ext cx="105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240</a:t>
            </a:r>
            <a:r>
              <a:rPr lang="zh-CN" altLang="en-US" sz="2000" b="1">
                <a:solidFill>
                  <a:srgbClr val="0000CC"/>
                </a:solidFill>
                <a:ea typeface="宋体" panose="02010600030101010101" pitchFamily="2" charset="-122"/>
              </a:rPr>
              <a:t>万</a:t>
            </a:r>
          </a:p>
        </p:txBody>
      </p:sp>
      <p:sp>
        <p:nvSpPr>
          <p:cNvPr id="637985" name="Text Box 33"/>
          <p:cNvSpPr txBox="1">
            <a:spLocks noChangeArrowheads="1"/>
          </p:cNvSpPr>
          <p:nvPr/>
        </p:nvSpPr>
        <p:spPr bwMode="auto">
          <a:xfrm>
            <a:off x="6543675" y="22098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37986" name="Text Box 34"/>
          <p:cNvSpPr txBox="1">
            <a:spLocks noChangeArrowheads="1"/>
          </p:cNvSpPr>
          <p:nvPr/>
        </p:nvSpPr>
        <p:spPr bwMode="auto">
          <a:xfrm>
            <a:off x="1314450"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37987" name="Text Box 35"/>
          <p:cNvSpPr txBox="1">
            <a:spLocks noChangeArrowheads="1"/>
          </p:cNvSpPr>
          <p:nvPr/>
        </p:nvSpPr>
        <p:spPr bwMode="auto">
          <a:xfrm>
            <a:off x="3044825"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637988" name="Text Box 36"/>
          <p:cNvSpPr txBox="1">
            <a:spLocks noChangeArrowheads="1"/>
          </p:cNvSpPr>
          <p:nvPr/>
        </p:nvSpPr>
        <p:spPr bwMode="auto">
          <a:xfrm>
            <a:off x="7835900" y="23622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p>
        </p:txBody>
      </p:sp>
      <p:sp>
        <p:nvSpPr>
          <p:cNvPr id="52253" name="Text Box 37"/>
          <p:cNvSpPr txBox="1">
            <a:spLocks noChangeArrowheads="1"/>
          </p:cNvSpPr>
          <p:nvPr/>
        </p:nvSpPr>
        <p:spPr bwMode="auto">
          <a:xfrm>
            <a:off x="282575" y="1549400"/>
            <a:ext cx="130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400" b="1">
                <a:ea typeface="宋体" panose="02010600030101010101" pitchFamily="2" charset="-122"/>
              </a:rPr>
              <a:t>i</a:t>
            </a:r>
            <a:r>
              <a:rPr lang="en-US" altLang="zh-CN" sz="2400" b="1" baseline="-25000">
                <a:ea typeface="宋体" panose="02010600030101010101" pitchFamily="2" charset="-122"/>
              </a:rPr>
              <a:t>c</a:t>
            </a:r>
            <a:r>
              <a:rPr lang="en-US" altLang="zh-CN" sz="2400" b="1">
                <a:ea typeface="宋体" panose="02010600030101010101" pitchFamily="2" charset="-122"/>
              </a:rPr>
              <a:t>=5%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7958"/>
                                        </p:tgtEl>
                                        <p:attrNameLst>
                                          <p:attrName>style.visibility</p:attrName>
                                        </p:attrNameLst>
                                      </p:cBhvr>
                                      <p:to>
                                        <p:strVal val="visible"/>
                                      </p:to>
                                    </p:set>
                                    <p:animEffect transition="in" filter="blinds(horizontal)">
                                      <p:cBhvr>
                                        <p:cTn id="7" dur="500"/>
                                        <p:tgtEl>
                                          <p:spTgt spid="63795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37959"/>
                                        </p:tgtEl>
                                        <p:attrNameLst>
                                          <p:attrName>style.visibility</p:attrName>
                                        </p:attrNameLst>
                                      </p:cBhvr>
                                      <p:to>
                                        <p:strVal val="visible"/>
                                      </p:to>
                                    </p:set>
                                    <p:animEffect transition="in" filter="blinds(horizontal)">
                                      <p:cBhvr>
                                        <p:cTn id="10" dur="500"/>
                                        <p:tgtEl>
                                          <p:spTgt spid="63795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37960"/>
                                        </p:tgtEl>
                                        <p:attrNameLst>
                                          <p:attrName>style.visibility</p:attrName>
                                        </p:attrNameLst>
                                      </p:cBhvr>
                                      <p:to>
                                        <p:strVal val="visible"/>
                                      </p:to>
                                    </p:set>
                                    <p:animEffect transition="in" filter="blinds(horizontal)">
                                      <p:cBhvr>
                                        <p:cTn id="13" dur="500"/>
                                        <p:tgtEl>
                                          <p:spTgt spid="63796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37961"/>
                                        </p:tgtEl>
                                        <p:attrNameLst>
                                          <p:attrName>style.visibility</p:attrName>
                                        </p:attrNameLst>
                                      </p:cBhvr>
                                      <p:to>
                                        <p:strVal val="visible"/>
                                      </p:to>
                                    </p:set>
                                    <p:animEffect transition="in" filter="blinds(horizontal)">
                                      <p:cBhvr>
                                        <p:cTn id="16" dur="500"/>
                                        <p:tgtEl>
                                          <p:spTgt spid="63796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37962"/>
                                        </p:tgtEl>
                                        <p:attrNameLst>
                                          <p:attrName>style.visibility</p:attrName>
                                        </p:attrNameLst>
                                      </p:cBhvr>
                                      <p:to>
                                        <p:strVal val="visible"/>
                                      </p:to>
                                    </p:set>
                                    <p:animEffect transition="in" filter="blinds(horizontal)">
                                      <p:cBhvr>
                                        <p:cTn id="19" dur="500"/>
                                        <p:tgtEl>
                                          <p:spTgt spid="63796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37963"/>
                                        </p:tgtEl>
                                        <p:attrNameLst>
                                          <p:attrName>style.visibility</p:attrName>
                                        </p:attrNameLst>
                                      </p:cBhvr>
                                      <p:to>
                                        <p:strVal val="visible"/>
                                      </p:to>
                                    </p:set>
                                    <p:animEffect transition="in" filter="blinds(horizontal)">
                                      <p:cBhvr>
                                        <p:cTn id="22" dur="500"/>
                                        <p:tgtEl>
                                          <p:spTgt spid="63796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37964"/>
                                        </p:tgtEl>
                                        <p:attrNameLst>
                                          <p:attrName>style.visibility</p:attrName>
                                        </p:attrNameLst>
                                      </p:cBhvr>
                                      <p:to>
                                        <p:strVal val="visible"/>
                                      </p:to>
                                    </p:set>
                                    <p:animEffect transition="in" filter="blinds(horizontal)">
                                      <p:cBhvr>
                                        <p:cTn id="25" dur="500"/>
                                        <p:tgtEl>
                                          <p:spTgt spid="63796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37965"/>
                                        </p:tgtEl>
                                        <p:attrNameLst>
                                          <p:attrName>style.visibility</p:attrName>
                                        </p:attrNameLst>
                                      </p:cBhvr>
                                      <p:to>
                                        <p:strVal val="visible"/>
                                      </p:to>
                                    </p:set>
                                    <p:animEffect transition="in" filter="blinds(horizontal)">
                                      <p:cBhvr>
                                        <p:cTn id="28" dur="500"/>
                                        <p:tgtEl>
                                          <p:spTgt spid="63796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37966"/>
                                        </p:tgtEl>
                                        <p:attrNameLst>
                                          <p:attrName>style.visibility</p:attrName>
                                        </p:attrNameLst>
                                      </p:cBhvr>
                                      <p:to>
                                        <p:strVal val="visible"/>
                                      </p:to>
                                    </p:set>
                                    <p:animEffect transition="in" filter="blinds(horizontal)">
                                      <p:cBhvr>
                                        <p:cTn id="31" dur="500"/>
                                        <p:tgtEl>
                                          <p:spTgt spid="63796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37967"/>
                                        </p:tgtEl>
                                        <p:attrNameLst>
                                          <p:attrName>style.visibility</p:attrName>
                                        </p:attrNameLst>
                                      </p:cBhvr>
                                      <p:to>
                                        <p:strVal val="visible"/>
                                      </p:to>
                                    </p:set>
                                    <p:animEffect transition="in" filter="blinds(horizontal)">
                                      <p:cBhvr>
                                        <p:cTn id="34" dur="500"/>
                                        <p:tgtEl>
                                          <p:spTgt spid="637967"/>
                                        </p:tgtEl>
                                      </p:cBhvr>
                                    </p:animEffect>
                                  </p:childTnLst>
                                </p:cTn>
                              </p:par>
                              <p:par>
                                <p:cTn id="35" presetID="3" presetClass="entr" presetSubtype="1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37972"/>
                                        </p:tgtEl>
                                        <p:attrNameLst>
                                          <p:attrName>style.visibility</p:attrName>
                                        </p:attrNameLst>
                                      </p:cBhvr>
                                      <p:to>
                                        <p:strVal val="visible"/>
                                      </p:to>
                                    </p:set>
                                    <p:animEffect transition="in" filter="blinds(horizontal)">
                                      <p:cBhvr>
                                        <p:cTn id="40" dur="500"/>
                                        <p:tgtEl>
                                          <p:spTgt spid="63797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37973"/>
                                        </p:tgtEl>
                                        <p:attrNameLst>
                                          <p:attrName>style.visibility</p:attrName>
                                        </p:attrNameLst>
                                      </p:cBhvr>
                                      <p:to>
                                        <p:strVal val="visible"/>
                                      </p:to>
                                    </p:set>
                                    <p:animEffect transition="in" filter="blinds(horizontal)">
                                      <p:cBhvr>
                                        <p:cTn id="43" dur="500"/>
                                        <p:tgtEl>
                                          <p:spTgt spid="63797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37974"/>
                                        </p:tgtEl>
                                        <p:attrNameLst>
                                          <p:attrName>style.visibility</p:attrName>
                                        </p:attrNameLst>
                                      </p:cBhvr>
                                      <p:to>
                                        <p:strVal val="visible"/>
                                      </p:to>
                                    </p:set>
                                    <p:animEffect transition="in" filter="blinds(horizontal)">
                                      <p:cBhvr>
                                        <p:cTn id="46" dur="500"/>
                                        <p:tgtEl>
                                          <p:spTgt spid="63797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37975"/>
                                        </p:tgtEl>
                                        <p:attrNameLst>
                                          <p:attrName>style.visibility</p:attrName>
                                        </p:attrNameLst>
                                      </p:cBhvr>
                                      <p:to>
                                        <p:strVal val="visible"/>
                                      </p:to>
                                    </p:set>
                                    <p:animEffect transition="in" filter="blinds(horizontal)">
                                      <p:cBhvr>
                                        <p:cTn id="49" dur="500"/>
                                        <p:tgtEl>
                                          <p:spTgt spid="637975"/>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37976"/>
                                        </p:tgtEl>
                                        <p:attrNameLst>
                                          <p:attrName>style.visibility</p:attrName>
                                        </p:attrNameLst>
                                      </p:cBhvr>
                                      <p:to>
                                        <p:strVal val="visible"/>
                                      </p:to>
                                    </p:set>
                                    <p:animEffect transition="in" filter="blinds(horizontal)">
                                      <p:cBhvr>
                                        <p:cTn id="52" dur="500"/>
                                        <p:tgtEl>
                                          <p:spTgt spid="637976"/>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37977"/>
                                        </p:tgtEl>
                                        <p:attrNameLst>
                                          <p:attrName>style.visibility</p:attrName>
                                        </p:attrNameLst>
                                      </p:cBhvr>
                                      <p:to>
                                        <p:strVal val="visible"/>
                                      </p:to>
                                    </p:set>
                                    <p:animEffect transition="in" filter="blinds(horizontal)">
                                      <p:cBhvr>
                                        <p:cTn id="55" dur="500"/>
                                        <p:tgtEl>
                                          <p:spTgt spid="637977"/>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37978"/>
                                        </p:tgtEl>
                                        <p:attrNameLst>
                                          <p:attrName>style.visibility</p:attrName>
                                        </p:attrNameLst>
                                      </p:cBhvr>
                                      <p:to>
                                        <p:strVal val="visible"/>
                                      </p:to>
                                    </p:set>
                                    <p:animEffect transition="in" filter="blinds(horizontal)">
                                      <p:cBhvr>
                                        <p:cTn id="58" dur="500"/>
                                        <p:tgtEl>
                                          <p:spTgt spid="637978"/>
                                        </p:tgtEl>
                                      </p:cBhvr>
                                    </p:animEffect>
                                  </p:childTnLst>
                                </p:cTn>
                              </p:par>
                              <p:par>
                                <p:cTn id="59" presetID="3" presetClass="entr" presetSubtype="1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linds(horizontal)">
                                      <p:cBhvr>
                                        <p:cTn id="61" dur="500"/>
                                        <p:tgtEl>
                                          <p:spTgt spid="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637983"/>
                                        </p:tgtEl>
                                        <p:attrNameLst>
                                          <p:attrName>style.visibility</p:attrName>
                                        </p:attrNameLst>
                                      </p:cBhvr>
                                      <p:to>
                                        <p:strVal val="visible"/>
                                      </p:to>
                                    </p:set>
                                    <p:animEffect transition="in" filter="blinds(horizontal)">
                                      <p:cBhvr>
                                        <p:cTn id="64" dur="500"/>
                                        <p:tgtEl>
                                          <p:spTgt spid="637983"/>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37984"/>
                                        </p:tgtEl>
                                        <p:attrNameLst>
                                          <p:attrName>style.visibility</p:attrName>
                                        </p:attrNameLst>
                                      </p:cBhvr>
                                      <p:to>
                                        <p:strVal val="visible"/>
                                      </p:to>
                                    </p:set>
                                    <p:animEffect transition="in" filter="blinds(horizontal)">
                                      <p:cBhvr>
                                        <p:cTn id="67" dur="500"/>
                                        <p:tgtEl>
                                          <p:spTgt spid="63798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37985"/>
                                        </p:tgtEl>
                                        <p:attrNameLst>
                                          <p:attrName>style.visibility</p:attrName>
                                        </p:attrNameLst>
                                      </p:cBhvr>
                                      <p:to>
                                        <p:strVal val="visible"/>
                                      </p:to>
                                    </p:set>
                                    <p:animEffect transition="in" filter="blinds(horizontal)">
                                      <p:cBhvr>
                                        <p:cTn id="70" dur="500"/>
                                        <p:tgtEl>
                                          <p:spTgt spid="63798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37986"/>
                                        </p:tgtEl>
                                        <p:attrNameLst>
                                          <p:attrName>style.visibility</p:attrName>
                                        </p:attrNameLst>
                                      </p:cBhvr>
                                      <p:to>
                                        <p:strVal val="visible"/>
                                      </p:to>
                                    </p:set>
                                    <p:animEffect transition="in" filter="blinds(horizontal)">
                                      <p:cBhvr>
                                        <p:cTn id="73" dur="500"/>
                                        <p:tgtEl>
                                          <p:spTgt spid="637986"/>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637987"/>
                                        </p:tgtEl>
                                        <p:attrNameLst>
                                          <p:attrName>style.visibility</p:attrName>
                                        </p:attrNameLst>
                                      </p:cBhvr>
                                      <p:to>
                                        <p:strVal val="visible"/>
                                      </p:to>
                                    </p:set>
                                    <p:animEffect transition="in" filter="blinds(horizontal)">
                                      <p:cBhvr>
                                        <p:cTn id="76" dur="500"/>
                                        <p:tgtEl>
                                          <p:spTgt spid="637987"/>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637988"/>
                                        </p:tgtEl>
                                        <p:attrNameLst>
                                          <p:attrName>style.visibility</p:attrName>
                                        </p:attrNameLst>
                                      </p:cBhvr>
                                      <p:to>
                                        <p:strVal val="visible"/>
                                      </p:to>
                                    </p:set>
                                    <p:animEffect transition="in" filter="blinds(horizontal)">
                                      <p:cBhvr>
                                        <p:cTn id="79" dur="500"/>
                                        <p:tgtEl>
                                          <p:spTgt spid="63798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637957">
                                            <p:bg/>
                                          </p:spTgt>
                                        </p:tgtEl>
                                        <p:attrNameLst>
                                          <p:attrName>style.visibility</p:attrName>
                                        </p:attrNameLst>
                                      </p:cBhvr>
                                      <p:to>
                                        <p:strVal val="visible"/>
                                      </p:to>
                                    </p:set>
                                    <p:animEffect transition="in" filter="blinds(horizontal)">
                                      <p:cBhvr>
                                        <p:cTn id="84" dur="500"/>
                                        <p:tgtEl>
                                          <p:spTgt spid="637957">
                                            <p:bg/>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637957">
                                            <p:txEl>
                                              <p:pRg st="0" end="0"/>
                                            </p:txEl>
                                          </p:spTgt>
                                        </p:tgtEl>
                                        <p:attrNameLst>
                                          <p:attrName>style.visibility</p:attrName>
                                        </p:attrNameLst>
                                      </p:cBhvr>
                                      <p:to>
                                        <p:strVal val="visible"/>
                                      </p:to>
                                    </p:set>
                                    <p:animEffect transition="in" filter="blinds(horizontal)">
                                      <p:cBhvr>
                                        <p:cTn id="89" dur="500"/>
                                        <p:tgtEl>
                                          <p:spTgt spid="637957">
                                            <p:txEl>
                                              <p:pRg st="0" end="0"/>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637957">
                                            <p:txEl>
                                              <p:pRg st="1" end="1"/>
                                            </p:txEl>
                                          </p:spTgt>
                                        </p:tgtEl>
                                        <p:attrNameLst>
                                          <p:attrName>style.visibility</p:attrName>
                                        </p:attrNameLst>
                                      </p:cBhvr>
                                      <p:to>
                                        <p:strVal val="visible"/>
                                      </p:to>
                                    </p:set>
                                    <p:animEffect transition="in" filter="blinds(horizontal)">
                                      <p:cBhvr>
                                        <p:cTn id="94" dur="500"/>
                                        <p:tgtEl>
                                          <p:spTgt spid="6379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7" grpId="0" build="p" animBg="1"/>
      <p:bldP spid="637958" grpId="0" animBg="1"/>
      <p:bldP spid="637959" grpId="0"/>
      <p:bldP spid="637960" grpId="0"/>
      <p:bldP spid="637961" grpId="0"/>
      <p:bldP spid="637962" grpId="0"/>
      <p:bldP spid="637963" grpId="0"/>
      <p:bldP spid="637964" grpId="0" animBg="1"/>
      <p:bldP spid="637965" grpId="0" animBg="1"/>
      <p:bldP spid="637966" grpId="0" animBg="1"/>
      <p:bldP spid="637967" grpId="0"/>
      <p:bldP spid="637972" grpId="0" animBg="1"/>
      <p:bldP spid="637973" grpId="0" animBg="1"/>
      <p:bldP spid="637974" grpId="0" animBg="1"/>
      <p:bldP spid="637975" grpId="0" animBg="1"/>
      <p:bldP spid="637976" grpId="0" animBg="1"/>
      <p:bldP spid="637977" grpId="0"/>
      <p:bldP spid="637978" grpId="0"/>
      <p:bldP spid="637983" grpId="0" animBg="1"/>
      <p:bldP spid="637984" grpId="0"/>
      <p:bldP spid="637985" grpId="0"/>
      <p:bldP spid="637986" grpId="0"/>
      <p:bldP spid="637987" grpId="0"/>
      <p:bldP spid="6379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title"/>
          </p:nvPr>
        </p:nvSpPr>
        <p:spPr/>
        <p:txBody>
          <a:bodyPr/>
          <a:lstStyle/>
          <a:p>
            <a:pPr eaLnBrk="1" hangingPunct="1"/>
            <a:r>
              <a:rPr lang="zh-CN" altLang="en-US" smtClean="0"/>
              <a:t>内部收益率</a:t>
            </a:r>
            <a:r>
              <a:rPr lang="en-US" altLang="zh-CN" smtClean="0"/>
              <a:t>IRR</a:t>
            </a:r>
            <a:endParaRPr lang="zh-CN" altLang="en-US" smtClean="0"/>
          </a:p>
        </p:txBody>
      </p:sp>
      <p:sp>
        <p:nvSpPr>
          <p:cNvPr id="53251" name="Rectangle 5"/>
          <p:cNvSpPr>
            <a:spLocks noGrp="1" noChangeArrowheads="1"/>
          </p:cNvSpPr>
          <p:nvPr>
            <p:ph type="body" sz="half" idx="1"/>
          </p:nvPr>
        </p:nvSpPr>
        <p:spPr>
          <a:xfrm>
            <a:off x="-23813" y="1346200"/>
            <a:ext cx="9144001" cy="5003800"/>
          </a:xfrm>
        </p:spPr>
        <p:txBody>
          <a:bodyPr/>
          <a:lstStyle/>
          <a:p>
            <a:pPr eaLnBrk="1" hangingPunct="1"/>
            <a:r>
              <a:rPr lang="en-US" altLang="zh-CN" sz="2800" b="1" smtClean="0"/>
              <a:t>IRR</a:t>
            </a:r>
            <a:r>
              <a:rPr lang="zh-CN" altLang="en-US" sz="2800" b="1" smtClean="0"/>
              <a:t>就是使净现值为</a:t>
            </a:r>
            <a:r>
              <a:rPr lang="en-US" altLang="zh-CN" sz="2800" b="1" smtClean="0"/>
              <a:t>0</a:t>
            </a:r>
            <a:r>
              <a:rPr lang="zh-CN" altLang="en-US" sz="2800" b="1" smtClean="0"/>
              <a:t>时的收益率</a:t>
            </a:r>
          </a:p>
          <a:p>
            <a:pPr eaLnBrk="1" hangingPunct="1"/>
            <a:r>
              <a:rPr lang="zh-CN" altLang="en-US" sz="2800" b="1" smtClean="0"/>
              <a:t>当           时，项目可以被接受</a:t>
            </a:r>
            <a:endParaRPr lang="en-US" altLang="zh-CN" sz="2800" b="1" smtClean="0"/>
          </a:p>
          <a:p>
            <a:pPr lvl="1" eaLnBrk="1" hangingPunct="1"/>
            <a:endParaRPr lang="zh-CN" altLang="en-US" sz="2400" b="1" smtClean="0"/>
          </a:p>
          <a:p>
            <a:pPr lvl="1" eaLnBrk="1" hangingPunct="1"/>
            <a:endParaRPr lang="zh-CN" altLang="en-US" b="1" smtClean="0"/>
          </a:p>
        </p:txBody>
      </p:sp>
      <p:graphicFrame>
        <p:nvGraphicFramePr>
          <p:cNvPr id="53252" name="Object 6"/>
          <p:cNvGraphicFramePr>
            <a:graphicFrameLocks noChangeAspect="1"/>
          </p:cNvGraphicFramePr>
          <p:nvPr/>
        </p:nvGraphicFramePr>
        <p:xfrm>
          <a:off x="119063" y="3408363"/>
          <a:ext cx="4886325" cy="830262"/>
        </p:xfrm>
        <a:graphic>
          <a:graphicData uri="http://schemas.openxmlformats.org/presentationml/2006/ole">
            <mc:AlternateContent xmlns:mc="http://schemas.openxmlformats.org/markup-compatibility/2006">
              <mc:Choice xmlns:v="urn:schemas-microsoft-com:vml" Requires="v">
                <p:oleObj spid="_x0000_s53308" name="公式" r:id="rId3" imgW="2540000" imgH="431800" progId="Equation.3">
                  <p:embed/>
                </p:oleObj>
              </mc:Choice>
              <mc:Fallback>
                <p:oleObj name="公式" r:id="rId3" imgW="25400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3" y="3408363"/>
                        <a:ext cx="4886325"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253" name="Group 7"/>
          <p:cNvGrpSpPr>
            <a:grpSpLocks/>
          </p:cNvGrpSpPr>
          <p:nvPr/>
        </p:nvGrpSpPr>
        <p:grpSpPr bwMode="auto">
          <a:xfrm>
            <a:off x="4586288" y="2713038"/>
            <a:ext cx="4687887" cy="3484562"/>
            <a:chOff x="2880" y="1848"/>
            <a:chExt cx="2953" cy="2195"/>
          </a:xfrm>
        </p:grpSpPr>
        <p:sp>
          <p:nvSpPr>
            <p:cNvPr id="53257" name="Line 8"/>
            <p:cNvSpPr>
              <a:spLocks noChangeShapeType="1"/>
            </p:cNvSpPr>
            <p:nvPr/>
          </p:nvSpPr>
          <p:spPr bwMode="auto">
            <a:xfrm flipV="1">
              <a:off x="3409" y="3485"/>
              <a:ext cx="232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58" name="Line 9"/>
            <p:cNvSpPr>
              <a:spLocks noChangeShapeType="1"/>
            </p:cNvSpPr>
            <p:nvPr/>
          </p:nvSpPr>
          <p:spPr bwMode="auto">
            <a:xfrm flipV="1">
              <a:off x="3414" y="1848"/>
              <a:ext cx="0" cy="2048"/>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59" name="Freeform 10"/>
            <p:cNvSpPr>
              <a:spLocks/>
            </p:cNvSpPr>
            <p:nvPr/>
          </p:nvSpPr>
          <p:spPr bwMode="auto">
            <a:xfrm>
              <a:off x="3336" y="2050"/>
              <a:ext cx="2088" cy="1993"/>
            </a:xfrm>
            <a:custGeom>
              <a:avLst/>
              <a:gdLst>
                <a:gd name="T0" fmla="*/ 0 w 3200"/>
                <a:gd name="T1" fmla="*/ 0 h 2600"/>
                <a:gd name="T2" fmla="*/ 30 w 3200"/>
                <a:gd name="T3" fmla="*/ 161 h 2600"/>
                <a:gd name="T4" fmla="*/ 105 w 3200"/>
                <a:gd name="T5" fmla="*/ 31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60" name="Line 11"/>
            <p:cNvSpPr>
              <a:spLocks noChangeShapeType="1"/>
            </p:cNvSpPr>
            <p:nvPr/>
          </p:nvSpPr>
          <p:spPr bwMode="auto">
            <a:xfrm>
              <a:off x="3414" y="3252"/>
              <a:ext cx="705"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12"/>
            <p:cNvSpPr>
              <a:spLocks noChangeShapeType="1"/>
            </p:cNvSpPr>
            <p:nvPr/>
          </p:nvSpPr>
          <p:spPr bwMode="auto">
            <a:xfrm>
              <a:off x="4119" y="3252"/>
              <a:ext cx="0" cy="233"/>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13"/>
            <p:cNvSpPr>
              <a:spLocks noChangeShapeType="1"/>
            </p:cNvSpPr>
            <p:nvPr/>
          </p:nvSpPr>
          <p:spPr bwMode="auto">
            <a:xfrm>
              <a:off x="3409" y="3712"/>
              <a:ext cx="1420"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Line 14"/>
            <p:cNvSpPr>
              <a:spLocks noChangeShapeType="1"/>
            </p:cNvSpPr>
            <p:nvPr/>
          </p:nvSpPr>
          <p:spPr bwMode="auto">
            <a:xfrm>
              <a:off x="4824" y="3485"/>
              <a:ext cx="0" cy="233"/>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4" name="Text Box 15"/>
            <p:cNvSpPr txBox="1">
              <a:spLocks noChangeArrowheads="1"/>
            </p:cNvSpPr>
            <p:nvPr/>
          </p:nvSpPr>
          <p:spPr bwMode="auto">
            <a:xfrm>
              <a:off x="2880" y="3156"/>
              <a:ext cx="5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r>
                <a:rPr lang="en-US" altLang="zh-CN" sz="1400" b="1" baseline="-25000">
                  <a:ea typeface="宋体" panose="02010600030101010101" pitchFamily="2" charset="-122"/>
                </a:rPr>
                <a:t>1</a:t>
              </a:r>
            </a:p>
          </p:txBody>
        </p:sp>
        <p:sp>
          <p:nvSpPr>
            <p:cNvPr id="53265" name="Text Box 16"/>
            <p:cNvSpPr txBox="1">
              <a:spLocks noChangeArrowheads="1"/>
            </p:cNvSpPr>
            <p:nvPr/>
          </p:nvSpPr>
          <p:spPr bwMode="auto">
            <a:xfrm>
              <a:off x="2880" y="3616"/>
              <a:ext cx="5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r>
                <a:rPr lang="en-US" altLang="zh-CN" sz="1400" b="1" baseline="-25000">
                  <a:ea typeface="宋体" panose="02010600030101010101" pitchFamily="2" charset="-122"/>
                </a:rPr>
                <a:t>2</a:t>
              </a:r>
            </a:p>
          </p:txBody>
        </p:sp>
        <p:sp>
          <p:nvSpPr>
            <p:cNvPr id="53266" name="Text Box 17"/>
            <p:cNvSpPr txBox="1">
              <a:spLocks noChangeArrowheads="1"/>
            </p:cNvSpPr>
            <p:nvPr/>
          </p:nvSpPr>
          <p:spPr bwMode="auto">
            <a:xfrm>
              <a:off x="4022" y="3498"/>
              <a:ext cx="1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r>
                <a:rPr lang="en-US" altLang="zh-CN" sz="1400" b="1" baseline="-25000">
                  <a:ea typeface="宋体" panose="02010600030101010101" pitchFamily="2" charset="-122"/>
                </a:rPr>
                <a:t>1</a:t>
              </a:r>
            </a:p>
          </p:txBody>
        </p:sp>
        <p:sp>
          <p:nvSpPr>
            <p:cNvPr id="53267" name="Text Box 18"/>
            <p:cNvSpPr txBox="1">
              <a:spLocks noChangeArrowheads="1"/>
            </p:cNvSpPr>
            <p:nvPr/>
          </p:nvSpPr>
          <p:spPr bwMode="auto">
            <a:xfrm>
              <a:off x="4727" y="32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r>
                <a:rPr lang="en-US" altLang="zh-CN" sz="1400" b="1" baseline="-25000">
                  <a:ea typeface="宋体" panose="02010600030101010101" pitchFamily="2" charset="-122"/>
                </a:rPr>
                <a:t>2</a:t>
              </a:r>
            </a:p>
          </p:txBody>
        </p:sp>
        <p:sp>
          <p:nvSpPr>
            <p:cNvPr id="53268" name="Text Box 19"/>
            <p:cNvSpPr txBox="1">
              <a:spLocks noChangeArrowheads="1"/>
            </p:cNvSpPr>
            <p:nvPr/>
          </p:nvSpPr>
          <p:spPr bwMode="auto">
            <a:xfrm>
              <a:off x="4405" y="32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endParaRPr lang="en-US" altLang="zh-CN" sz="1400" b="1" baseline="-25000">
                <a:ea typeface="宋体" panose="02010600030101010101" pitchFamily="2" charset="-122"/>
              </a:endParaRPr>
            </a:p>
          </p:txBody>
        </p:sp>
        <p:sp>
          <p:nvSpPr>
            <p:cNvPr id="53269" name="Text Box 20"/>
            <p:cNvSpPr txBox="1">
              <a:spLocks noChangeArrowheads="1"/>
            </p:cNvSpPr>
            <p:nvPr/>
          </p:nvSpPr>
          <p:spPr bwMode="auto">
            <a:xfrm>
              <a:off x="3024" y="1955"/>
              <a:ext cx="3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endParaRPr lang="en-US" altLang="zh-CN" sz="1400" b="1" baseline="-25000">
                <a:ea typeface="宋体" panose="02010600030101010101" pitchFamily="2" charset="-122"/>
              </a:endParaRPr>
            </a:p>
          </p:txBody>
        </p:sp>
        <p:sp>
          <p:nvSpPr>
            <p:cNvPr id="53270" name="Text Box 21"/>
            <p:cNvSpPr txBox="1">
              <a:spLocks noChangeArrowheads="1"/>
            </p:cNvSpPr>
            <p:nvPr/>
          </p:nvSpPr>
          <p:spPr bwMode="auto">
            <a:xfrm>
              <a:off x="5640" y="3526"/>
              <a:ext cx="1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endParaRPr lang="en-US" altLang="zh-CN" sz="1400" b="1" baseline="-25000">
                <a:ea typeface="宋体" panose="02010600030101010101" pitchFamily="2" charset="-122"/>
              </a:endParaRPr>
            </a:p>
          </p:txBody>
        </p:sp>
        <p:sp>
          <p:nvSpPr>
            <p:cNvPr id="53271" name="Line 22"/>
            <p:cNvSpPr>
              <a:spLocks noChangeShapeType="1"/>
            </p:cNvSpPr>
            <p:nvPr/>
          </p:nvSpPr>
          <p:spPr bwMode="auto">
            <a:xfrm flipH="1">
              <a:off x="4462" y="3252"/>
              <a:ext cx="265" cy="20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2" name="Text Box 23"/>
            <p:cNvSpPr txBox="1">
              <a:spLocks noChangeArrowheads="1"/>
            </p:cNvSpPr>
            <p:nvPr/>
          </p:nvSpPr>
          <p:spPr bwMode="auto">
            <a:xfrm>
              <a:off x="4462" y="2822"/>
              <a:ext cx="9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800" b="1">
                  <a:solidFill>
                    <a:srgbClr val="0000CC"/>
                  </a:solidFill>
                  <a:ea typeface="宋体" panose="02010600030101010101" pitchFamily="2" charset="-122"/>
                </a:rPr>
                <a:t>内部收益率</a:t>
              </a:r>
            </a:p>
          </p:txBody>
        </p:sp>
      </p:grpSp>
      <p:sp>
        <p:nvSpPr>
          <p:cNvPr id="639000" name="Rectangle 24"/>
          <p:cNvSpPr>
            <a:spLocks noChangeArrowheads="1"/>
          </p:cNvSpPr>
          <p:nvPr/>
        </p:nvSpPr>
        <p:spPr bwMode="auto">
          <a:xfrm>
            <a:off x="282575" y="4248150"/>
            <a:ext cx="4184650"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zh-CN" altLang="en-US" sz="2200" b="1">
                <a:solidFill>
                  <a:srgbClr val="0000FF"/>
                </a:solidFill>
                <a:ea typeface="宋体" panose="02010600030101010101" pitchFamily="2" charset="-122"/>
              </a:rPr>
              <a:t>在项目的整个寿命期内按利率</a:t>
            </a:r>
            <a:r>
              <a:rPr lang="en-US" altLang="zh-CN" sz="2200" b="1">
                <a:solidFill>
                  <a:srgbClr val="0000FF"/>
                </a:solidFill>
                <a:ea typeface="宋体" panose="02010600030101010101" pitchFamily="2" charset="-122"/>
              </a:rPr>
              <a:t>i=IRR</a:t>
            </a:r>
            <a:r>
              <a:rPr lang="zh-CN" altLang="en-US" sz="2200" b="1">
                <a:solidFill>
                  <a:srgbClr val="0000FF"/>
                </a:solidFill>
                <a:ea typeface="宋体" panose="02010600030101010101" pitchFamily="2" charset="-122"/>
              </a:rPr>
              <a:t>计算，始终存在未能收回的投资，而在寿命结束时，投资恰好被完全收回。</a:t>
            </a:r>
          </a:p>
          <a:p>
            <a:pPr>
              <a:spcBef>
                <a:spcPct val="0"/>
              </a:spcBef>
              <a:buFontTx/>
              <a:buNone/>
            </a:pPr>
            <a:r>
              <a:rPr lang="zh-CN" altLang="en-US" sz="2200" b="1">
                <a:solidFill>
                  <a:srgbClr val="990033"/>
                </a:solidFill>
                <a:ea typeface="宋体" panose="02010600030101010101" pitchFamily="2" charset="-122"/>
              </a:rPr>
              <a:t>可以被认为是项目的“内在”盈利能力。</a:t>
            </a:r>
          </a:p>
        </p:txBody>
      </p:sp>
      <p:sp>
        <p:nvSpPr>
          <p:cNvPr id="53255" name="Rectangle 2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53256" name="Object 26"/>
          <p:cNvGraphicFramePr>
            <a:graphicFrameLocks noChangeAspect="1"/>
          </p:cNvGraphicFramePr>
          <p:nvPr/>
        </p:nvGraphicFramePr>
        <p:xfrm>
          <a:off x="889000" y="2012950"/>
          <a:ext cx="1214438" cy="520700"/>
        </p:xfrm>
        <a:graphic>
          <a:graphicData uri="http://schemas.openxmlformats.org/presentationml/2006/ole">
            <mc:AlternateContent xmlns:mc="http://schemas.openxmlformats.org/markup-compatibility/2006">
              <mc:Choice xmlns:v="urn:schemas-microsoft-com:vml" Requires="v">
                <p:oleObj spid="_x0000_s53309" name="公式" r:id="rId5" imgW="533169" imgH="228501" progId="Equation.3">
                  <p:embed/>
                </p:oleObj>
              </mc:Choice>
              <mc:Fallback>
                <p:oleObj name="公式" r:id="rId5" imgW="533169" imgH="228501" progId="Equation.3">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9000" y="2012950"/>
                        <a:ext cx="12144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9000"/>
                                        </p:tgtEl>
                                        <p:attrNameLst>
                                          <p:attrName>style.visibility</p:attrName>
                                        </p:attrNameLst>
                                      </p:cBhvr>
                                      <p:to>
                                        <p:strVal val="visible"/>
                                      </p:to>
                                    </p:set>
                                    <p:animEffect transition="in" filter="blinds(horizontal)">
                                      <p:cBhvr>
                                        <p:cTn id="7" dur="500"/>
                                        <p:tgtEl>
                                          <p:spTgt spid="639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900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Grp="1" noChangeArrowheads="1"/>
          </p:cNvSpPr>
          <p:nvPr>
            <p:ph type="title"/>
          </p:nvPr>
        </p:nvSpPr>
        <p:spPr/>
        <p:txBody>
          <a:bodyPr/>
          <a:lstStyle/>
          <a:p>
            <a:pPr eaLnBrk="1" hangingPunct="1"/>
            <a:r>
              <a:rPr lang="zh-CN" altLang="en-US" smtClean="0"/>
              <a:t>内部收益率</a:t>
            </a:r>
            <a:r>
              <a:rPr lang="en-US" altLang="zh-CN" smtClean="0"/>
              <a:t>(IRR)</a:t>
            </a:r>
            <a:endParaRPr lang="zh-CN" altLang="en-US" smtClean="0"/>
          </a:p>
        </p:txBody>
      </p:sp>
      <p:sp>
        <p:nvSpPr>
          <p:cNvPr id="54275" name="Rectangle 5"/>
          <p:cNvSpPr>
            <a:spLocks noGrp="1" noChangeArrowheads="1"/>
          </p:cNvSpPr>
          <p:nvPr>
            <p:ph type="body" idx="1"/>
          </p:nvPr>
        </p:nvSpPr>
        <p:spPr>
          <a:xfrm>
            <a:off x="0" y="1304925"/>
            <a:ext cx="9144000" cy="5207000"/>
          </a:xfrm>
        </p:spPr>
        <p:txBody>
          <a:bodyPr/>
          <a:lstStyle/>
          <a:p>
            <a:pPr eaLnBrk="1" hangingPunct="1"/>
            <a:r>
              <a:rPr lang="zh-CN" altLang="en-US" b="1" smtClean="0"/>
              <a:t>求解</a:t>
            </a:r>
            <a:r>
              <a:rPr lang="en-US" altLang="zh-CN" b="1" smtClean="0"/>
              <a:t>IRR</a:t>
            </a:r>
            <a:r>
              <a:rPr lang="zh-CN" altLang="en-US" b="1" smtClean="0"/>
              <a:t>的方程是个高次方程，通常采用插值法求解</a:t>
            </a:r>
          </a:p>
          <a:p>
            <a:pPr eaLnBrk="1" hangingPunct="1"/>
            <a:endParaRPr lang="zh-CN" altLang="en-US" b="1" smtClean="0"/>
          </a:p>
          <a:p>
            <a:pPr eaLnBrk="1" hangingPunct="1"/>
            <a:endParaRPr lang="zh-CN" altLang="en-US" b="1" smtClean="0"/>
          </a:p>
          <a:p>
            <a:pPr eaLnBrk="1" hangingPunct="1"/>
            <a:endParaRPr lang="zh-CN" altLang="en-US" b="1" smtClean="0"/>
          </a:p>
          <a:p>
            <a:pPr eaLnBrk="1" hangingPunct="1"/>
            <a:r>
              <a:rPr lang="zh-CN" altLang="en-US" sz="2400" b="1" smtClean="0"/>
              <a:t>五道口的房产投资</a:t>
            </a:r>
          </a:p>
          <a:p>
            <a:pPr lvl="1" eaLnBrk="1" hangingPunct="1"/>
            <a:r>
              <a:rPr lang="en-US" altLang="zh-CN" sz="2400" b="1" smtClean="0"/>
              <a:t>i1=8%, NPV1=2.02</a:t>
            </a:r>
            <a:r>
              <a:rPr lang="zh-CN" altLang="en-US" sz="2400" b="1" smtClean="0"/>
              <a:t>万元</a:t>
            </a:r>
          </a:p>
          <a:p>
            <a:pPr lvl="1" eaLnBrk="1" hangingPunct="1"/>
            <a:r>
              <a:rPr lang="en-US" altLang="zh-CN" sz="2400" b="1" smtClean="0"/>
              <a:t>i2=9%, NPV2=-10.51</a:t>
            </a:r>
            <a:r>
              <a:rPr lang="zh-CN" altLang="en-US" sz="2400" b="1" smtClean="0"/>
              <a:t>万元</a:t>
            </a:r>
          </a:p>
          <a:p>
            <a:pPr lvl="1" eaLnBrk="1" hangingPunct="1"/>
            <a:r>
              <a:rPr lang="zh-CN" altLang="en-US" sz="2400" b="1" smtClean="0"/>
              <a:t>插值计算：</a:t>
            </a:r>
            <a:r>
              <a:rPr lang="en-US" altLang="zh-CN" sz="2400" b="1" smtClean="0"/>
              <a:t>IRR=8%+[2.02/(2.02+10.51)]*1%=8.16%</a:t>
            </a:r>
          </a:p>
          <a:p>
            <a:pPr eaLnBrk="1" hangingPunct="1"/>
            <a:r>
              <a:rPr lang="en-US" altLang="zh-CN" sz="2400" b="1" smtClean="0"/>
              <a:t>Excel</a:t>
            </a:r>
            <a:r>
              <a:rPr lang="zh-CN" altLang="en-US" sz="2400" b="1" smtClean="0"/>
              <a:t>公式：</a:t>
            </a:r>
            <a:r>
              <a:rPr lang="en-US" altLang="zh-CN" sz="2400" b="1" smtClean="0"/>
              <a:t>IRR</a:t>
            </a:r>
          </a:p>
          <a:p>
            <a:pPr lvl="1" eaLnBrk="1" hangingPunct="1"/>
            <a:endParaRPr lang="zh-CN" altLang="en-US" sz="2400" b="1" smtClean="0"/>
          </a:p>
          <a:p>
            <a:pPr eaLnBrk="1" hangingPunct="1"/>
            <a:endParaRPr lang="zh-CN" altLang="en-US" smtClean="0"/>
          </a:p>
        </p:txBody>
      </p:sp>
      <p:grpSp>
        <p:nvGrpSpPr>
          <p:cNvPr id="54276" name="Group 6"/>
          <p:cNvGrpSpPr>
            <a:grpSpLocks/>
          </p:cNvGrpSpPr>
          <p:nvPr/>
        </p:nvGrpSpPr>
        <p:grpSpPr bwMode="auto">
          <a:xfrm>
            <a:off x="5114925" y="1892300"/>
            <a:ext cx="3660775" cy="2222500"/>
            <a:chOff x="3192" y="2703"/>
            <a:chExt cx="1981" cy="1196"/>
          </a:xfrm>
        </p:grpSpPr>
        <p:sp>
          <p:nvSpPr>
            <p:cNvPr id="54279" name="Line 7"/>
            <p:cNvSpPr>
              <a:spLocks noChangeShapeType="1"/>
            </p:cNvSpPr>
            <p:nvPr/>
          </p:nvSpPr>
          <p:spPr bwMode="auto">
            <a:xfrm flipV="1">
              <a:off x="3615" y="3314"/>
              <a:ext cx="1348" cy="0"/>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280" name="Line 8"/>
            <p:cNvSpPr>
              <a:spLocks noChangeShapeType="1"/>
            </p:cNvSpPr>
            <p:nvPr/>
          </p:nvSpPr>
          <p:spPr bwMode="auto">
            <a:xfrm flipH="1" flipV="1">
              <a:off x="3615" y="2703"/>
              <a:ext cx="0" cy="1196"/>
            </a:xfrm>
            <a:prstGeom prst="line">
              <a:avLst/>
            </a:prstGeom>
            <a:noFill/>
            <a:ln w="95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281" name="Freeform 9"/>
            <p:cNvSpPr>
              <a:spLocks/>
            </p:cNvSpPr>
            <p:nvPr/>
          </p:nvSpPr>
          <p:spPr bwMode="auto">
            <a:xfrm>
              <a:off x="3936" y="2976"/>
              <a:ext cx="1052" cy="786"/>
            </a:xfrm>
            <a:custGeom>
              <a:avLst/>
              <a:gdLst>
                <a:gd name="T0" fmla="*/ 0 w 3200"/>
                <a:gd name="T1" fmla="*/ 0 h 2600"/>
                <a:gd name="T2" fmla="*/ 0 w 3200"/>
                <a:gd name="T3" fmla="*/ 0 h 2600"/>
                <a:gd name="T4" fmla="*/ 0 w 3200"/>
                <a:gd name="T5" fmla="*/ 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2" name="Line 10"/>
            <p:cNvSpPr>
              <a:spLocks noChangeShapeType="1"/>
            </p:cNvSpPr>
            <p:nvPr/>
          </p:nvSpPr>
          <p:spPr bwMode="auto">
            <a:xfrm>
              <a:off x="3618" y="3148"/>
              <a:ext cx="408"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3" name="Line 11"/>
            <p:cNvSpPr>
              <a:spLocks noChangeShapeType="1"/>
            </p:cNvSpPr>
            <p:nvPr/>
          </p:nvSpPr>
          <p:spPr bwMode="auto">
            <a:xfrm>
              <a:off x="4026" y="3148"/>
              <a:ext cx="0" cy="166"/>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4" name="Line 12"/>
            <p:cNvSpPr>
              <a:spLocks noChangeShapeType="1"/>
            </p:cNvSpPr>
            <p:nvPr/>
          </p:nvSpPr>
          <p:spPr bwMode="auto">
            <a:xfrm>
              <a:off x="3615" y="3476"/>
              <a:ext cx="822"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5" name="Line 13"/>
            <p:cNvSpPr>
              <a:spLocks noChangeShapeType="1"/>
            </p:cNvSpPr>
            <p:nvPr/>
          </p:nvSpPr>
          <p:spPr bwMode="auto">
            <a:xfrm>
              <a:off x="4434" y="3314"/>
              <a:ext cx="0" cy="166"/>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6" name="Text Box 14"/>
            <p:cNvSpPr txBox="1">
              <a:spLocks noChangeArrowheads="1"/>
            </p:cNvSpPr>
            <p:nvPr/>
          </p:nvSpPr>
          <p:spPr bwMode="auto">
            <a:xfrm>
              <a:off x="3192" y="3080"/>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p>
          </p:txBody>
        </p:sp>
        <p:sp>
          <p:nvSpPr>
            <p:cNvPr id="54287" name="Text Box 15"/>
            <p:cNvSpPr txBox="1">
              <a:spLocks noChangeArrowheads="1"/>
            </p:cNvSpPr>
            <p:nvPr/>
          </p:nvSpPr>
          <p:spPr bwMode="auto">
            <a:xfrm>
              <a:off x="3192" y="3407"/>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p>
          </p:txBody>
        </p:sp>
        <p:sp>
          <p:nvSpPr>
            <p:cNvPr id="54288" name="Text Box 16"/>
            <p:cNvSpPr txBox="1">
              <a:spLocks noChangeArrowheads="1"/>
            </p:cNvSpPr>
            <p:nvPr/>
          </p:nvSpPr>
          <p:spPr bwMode="auto">
            <a:xfrm>
              <a:off x="3968" y="3324"/>
              <a:ext cx="22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p>
          </p:txBody>
        </p:sp>
        <p:sp>
          <p:nvSpPr>
            <p:cNvPr id="54289" name="Text Box 17"/>
            <p:cNvSpPr txBox="1">
              <a:spLocks noChangeArrowheads="1"/>
            </p:cNvSpPr>
            <p:nvPr/>
          </p:nvSpPr>
          <p:spPr bwMode="auto">
            <a:xfrm>
              <a:off x="4375" y="3148"/>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p>
          </p:txBody>
        </p:sp>
        <p:sp>
          <p:nvSpPr>
            <p:cNvPr id="54290" name="Text Box 18"/>
            <p:cNvSpPr txBox="1">
              <a:spLocks noChangeArrowheads="1"/>
            </p:cNvSpPr>
            <p:nvPr/>
          </p:nvSpPr>
          <p:spPr bwMode="auto">
            <a:xfrm>
              <a:off x="4044" y="2876"/>
              <a:ext cx="28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
              </a: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54291" name="Text Box 19"/>
            <p:cNvSpPr txBox="1">
              <a:spLocks noChangeArrowheads="1"/>
            </p:cNvSpPr>
            <p:nvPr/>
          </p:nvSpPr>
          <p:spPr bwMode="auto">
            <a:xfrm>
              <a:off x="3192" y="2703"/>
              <a:ext cx="39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54292" name="Text Box 20"/>
            <p:cNvSpPr txBox="1">
              <a:spLocks noChangeArrowheads="1"/>
            </p:cNvSpPr>
            <p:nvPr/>
          </p:nvSpPr>
          <p:spPr bwMode="auto">
            <a:xfrm>
              <a:off x="4904" y="3344"/>
              <a:ext cx="11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54293" name="Line 21"/>
            <p:cNvSpPr>
              <a:spLocks noChangeShapeType="1"/>
            </p:cNvSpPr>
            <p:nvPr/>
          </p:nvSpPr>
          <p:spPr bwMode="auto">
            <a:xfrm>
              <a:off x="4026" y="3140"/>
              <a:ext cx="390" cy="36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4" name="Line 22"/>
            <p:cNvSpPr>
              <a:spLocks noChangeShapeType="1"/>
            </p:cNvSpPr>
            <p:nvPr/>
          </p:nvSpPr>
          <p:spPr bwMode="auto">
            <a:xfrm flipH="1">
              <a:off x="4224" y="3080"/>
              <a:ext cx="151" cy="23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5" name="Text Box 23"/>
            <p:cNvSpPr txBox="1">
              <a:spLocks noChangeArrowheads="1"/>
            </p:cNvSpPr>
            <p:nvPr/>
          </p:nvSpPr>
          <p:spPr bwMode="auto">
            <a:xfrm>
              <a:off x="4375" y="2876"/>
              <a:ext cx="42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
              </a: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54296" name="Line 24"/>
            <p:cNvSpPr>
              <a:spLocks noChangeShapeType="1"/>
            </p:cNvSpPr>
            <p:nvPr/>
          </p:nvSpPr>
          <p:spPr bwMode="auto">
            <a:xfrm flipH="1">
              <a:off x="4128" y="3164"/>
              <a:ext cx="60" cy="148"/>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Text Box 25"/>
            <p:cNvSpPr txBox="1">
              <a:spLocks noChangeArrowheads="1"/>
            </p:cNvSpPr>
            <p:nvPr/>
          </p:nvSpPr>
          <p:spPr bwMode="auto">
            <a:xfrm>
              <a:off x="4988" y="3225"/>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graphicFrame>
        <p:nvGraphicFramePr>
          <p:cNvPr id="54277" name="Object 26"/>
          <p:cNvGraphicFramePr>
            <a:graphicFrameLocks noChangeAspect="1"/>
          </p:cNvGraphicFramePr>
          <p:nvPr/>
        </p:nvGraphicFramePr>
        <p:xfrm>
          <a:off x="2027238" y="2033588"/>
          <a:ext cx="1349375" cy="457200"/>
        </p:xfrm>
        <a:graphic>
          <a:graphicData uri="http://schemas.openxmlformats.org/presentationml/2006/ole">
            <mc:AlternateContent xmlns:mc="http://schemas.openxmlformats.org/markup-compatibility/2006">
              <mc:Choice xmlns:v="urn:schemas-microsoft-com:vml" Requires="v">
                <p:oleObj spid="_x0000_s54333" name="公式" r:id="rId3" imgW="748975" imgH="253890" progId="Equation.3">
                  <p:embed/>
                </p:oleObj>
              </mc:Choice>
              <mc:Fallback>
                <p:oleObj name="公式" r:id="rId3" imgW="748975" imgH="25389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38" y="2033588"/>
                        <a:ext cx="134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27"/>
          <p:cNvGraphicFramePr>
            <a:graphicFrameLocks noChangeAspect="1"/>
          </p:cNvGraphicFramePr>
          <p:nvPr/>
        </p:nvGraphicFramePr>
        <p:xfrm>
          <a:off x="974725" y="2616200"/>
          <a:ext cx="3509963" cy="787400"/>
        </p:xfrm>
        <a:graphic>
          <a:graphicData uri="http://schemas.openxmlformats.org/presentationml/2006/ole">
            <mc:AlternateContent xmlns:mc="http://schemas.openxmlformats.org/markup-compatibility/2006">
              <mc:Choice xmlns:v="urn:schemas-microsoft-com:vml" Requires="v">
                <p:oleObj spid="_x0000_s54334" name="公式" r:id="rId5" imgW="1981200" imgH="444500" progId="Equation.3">
                  <p:embed/>
                </p:oleObj>
              </mc:Choice>
              <mc:Fallback>
                <p:oleObj name="公式" r:id="rId5" imgW="1981200" imgH="444500"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725" y="2616200"/>
                        <a:ext cx="35099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p:txBody>
          <a:bodyPr/>
          <a:lstStyle/>
          <a:p>
            <a:pPr eaLnBrk="1" hangingPunct="1"/>
            <a:r>
              <a:rPr lang="zh-CN" altLang="en-US" smtClean="0"/>
              <a:t>例题</a:t>
            </a:r>
            <a:endParaRPr lang="en-US" altLang="zh-CN" smtClean="0"/>
          </a:p>
        </p:txBody>
      </p:sp>
      <p:sp>
        <p:nvSpPr>
          <p:cNvPr id="55299" name="Rectangle 5"/>
          <p:cNvSpPr>
            <a:spLocks noGrp="1" noChangeArrowheads="1"/>
          </p:cNvSpPr>
          <p:nvPr>
            <p:ph type="body" idx="1"/>
          </p:nvPr>
        </p:nvSpPr>
        <p:spPr/>
        <p:txBody>
          <a:bodyPr/>
          <a:lstStyle/>
          <a:p>
            <a:pPr eaLnBrk="1" hangingPunct="1"/>
            <a:r>
              <a:rPr lang="zh-CN" altLang="en-US" b="1" smtClean="0"/>
              <a:t>某台设备的投资为</a:t>
            </a:r>
            <a:r>
              <a:rPr lang="en-US" altLang="zh-CN" b="1" smtClean="0"/>
              <a:t>2000</a:t>
            </a:r>
            <a:r>
              <a:rPr lang="zh-CN" altLang="en-US" b="1" smtClean="0"/>
              <a:t>万元，投资之后</a:t>
            </a:r>
            <a:r>
              <a:rPr lang="en-US" altLang="zh-CN" b="1" smtClean="0"/>
              <a:t>5</a:t>
            </a:r>
            <a:r>
              <a:rPr lang="zh-CN" altLang="en-US" b="1" smtClean="0"/>
              <a:t>年内每年年末都将有</a:t>
            </a:r>
            <a:r>
              <a:rPr lang="en-US" altLang="zh-CN" b="1" smtClean="0"/>
              <a:t>900</a:t>
            </a:r>
            <a:r>
              <a:rPr lang="zh-CN" altLang="en-US" b="1" smtClean="0"/>
              <a:t>万元净收益，</a:t>
            </a:r>
            <a:r>
              <a:rPr lang="en-US" altLang="zh-CN" b="1" smtClean="0"/>
              <a:t>5</a:t>
            </a:r>
            <a:r>
              <a:rPr lang="zh-CN" altLang="en-US" b="1" smtClean="0"/>
              <a:t>年后设备残值为零。</a:t>
            </a:r>
          </a:p>
          <a:p>
            <a:pPr lvl="1" eaLnBrk="1" hangingPunct="1"/>
            <a:r>
              <a:rPr lang="zh-CN" altLang="en-US" b="1" smtClean="0"/>
              <a:t>请问该项目的</a:t>
            </a:r>
            <a:r>
              <a:rPr lang="en-US" altLang="zh-CN" b="1" smtClean="0"/>
              <a:t>IRR</a:t>
            </a:r>
            <a:r>
              <a:rPr lang="zh-CN" altLang="en-US" b="1" smtClean="0"/>
              <a:t>是多少？</a:t>
            </a:r>
          </a:p>
          <a:p>
            <a:pPr lvl="1" eaLnBrk="1" hangingPunct="1"/>
            <a:r>
              <a:rPr lang="zh-CN" altLang="en-US" b="1" smtClean="0"/>
              <a:t>用于购买设备的投资还可以用于投资收益率为</a:t>
            </a:r>
            <a:r>
              <a:rPr lang="en-US" altLang="zh-CN" b="1" smtClean="0"/>
              <a:t>20%</a:t>
            </a:r>
            <a:r>
              <a:rPr lang="zh-CN" altLang="en-US" b="1" smtClean="0"/>
              <a:t>的外贸生意。请比较哪项投资更合算。</a:t>
            </a:r>
          </a:p>
          <a:p>
            <a:pPr lvl="1" eaLnBrk="1" hangingPunct="1"/>
            <a:endParaRPr lang="zh-CN" altLang="en-US" b="1" smtClean="0"/>
          </a:p>
          <a:p>
            <a:pPr lvl="1" eaLnBrk="1" hangingPunct="1"/>
            <a:r>
              <a:rPr lang="en-US" altLang="zh-CN" b="1" smtClean="0"/>
              <a:t>i1=34.94%, NPV=0</a:t>
            </a:r>
            <a:r>
              <a:rPr lang="zh-CN" altLang="en-US" b="1" smtClean="0"/>
              <a:t>万元</a:t>
            </a:r>
          </a:p>
          <a:p>
            <a:pPr eaLnBrk="1" hangingPunct="1">
              <a:buFontTx/>
              <a:buNone/>
            </a:pPr>
            <a:endParaRPr lang="zh-CN" altLang="en-US" smtClean="0"/>
          </a:p>
        </p:txBody>
      </p:sp>
      <p:sp>
        <p:nvSpPr>
          <p:cNvPr id="641030" name="Rectangle 6"/>
          <p:cNvSpPr>
            <a:spLocks noChangeArrowheads="1"/>
          </p:cNvSpPr>
          <p:nvPr/>
        </p:nvSpPr>
        <p:spPr bwMode="auto">
          <a:xfrm>
            <a:off x="546100" y="5730875"/>
            <a:ext cx="59166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en-US" altLang="zh-CN" sz="2400" b="1">
                <a:solidFill>
                  <a:srgbClr val="990033"/>
                </a:solidFill>
                <a:ea typeface="宋体" panose="02010600030101010101" pitchFamily="2" charset="-122"/>
              </a:rPr>
              <a:t>IRR</a:t>
            </a:r>
            <a:r>
              <a:rPr lang="zh-CN" altLang="en-US" sz="2400" b="1">
                <a:solidFill>
                  <a:srgbClr val="990033"/>
                </a:solidFill>
                <a:ea typeface="宋体" panose="02010600030101010101" pitchFamily="2" charset="-122"/>
              </a:rPr>
              <a:t>为购买设备的投资的盈利率，大于</a:t>
            </a:r>
            <a:r>
              <a:rPr lang="en-US" altLang="zh-CN" sz="2400" b="1">
                <a:solidFill>
                  <a:srgbClr val="990033"/>
                </a:solidFill>
                <a:ea typeface="宋体" panose="02010600030101010101" pitchFamily="2" charset="-122"/>
              </a:rPr>
              <a:t>20%</a:t>
            </a:r>
          </a:p>
          <a:p>
            <a:pPr>
              <a:spcBef>
                <a:spcPct val="0"/>
              </a:spcBef>
              <a:buFontTx/>
              <a:buNone/>
            </a:pPr>
            <a:r>
              <a:rPr lang="zh-CN" altLang="en-US" sz="2400" b="1">
                <a:solidFill>
                  <a:srgbClr val="990033"/>
                </a:solidFill>
                <a:ea typeface="宋体" panose="02010600030101010101" pitchFamily="2" charset="-122"/>
              </a:rPr>
              <a:t>所以投资购买设备所带来的收益更高。</a:t>
            </a:r>
            <a:endParaRPr lang="en-US" altLang="zh-CN" sz="2400" b="1">
              <a:solidFill>
                <a:srgbClr val="990033"/>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1030"/>
                                        </p:tgtEl>
                                        <p:attrNameLst>
                                          <p:attrName>style.visibility</p:attrName>
                                        </p:attrNameLst>
                                      </p:cBhvr>
                                      <p:to>
                                        <p:strVal val="visible"/>
                                      </p:to>
                                    </p:set>
                                    <p:animEffect transition="in" filter="checkerboard(across)">
                                      <p:cBhvr>
                                        <p:cTn id="7" dur="500"/>
                                        <p:tgtEl>
                                          <p:spTgt spid="6410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641030"/>
                                        </p:tgtEl>
                                        <p:attrNameLst>
                                          <p:attrName>style.visibility</p:attrName>
                                        </p:attrNameLst>
                                      </p:cBhvr>
                                      <p:to>
                                        <p:strVal val="visible"/>
                                      </p:to>
                                    </p:set>
                                    <p:animEffect transition="in" filter="blinds(horizontal)">
                                      <p:cBhvr>
                                        <p:cTn id="12" dur="500"/>
                                        <p:tgtEl>
                                          <p:spTgt spid="64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30" grpId="0"/>
      <p:bldP spid="641030"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title"/>
          </p:nvPr>
        </p:nvSpPr>
        <p:spPr/>
        <p:txBody>
          <a:bodyPr/>
          <a:lstStyle/>
          <a:p>
            <a:pPr eaLnBrk="1" hangingPunct="1"/>
            <a:r>
              <a:rPr lang="zh-CN" altLang="en-US" smtClean="0"/>
              <a:t>常规项目 和  非常规项目</a:t>
            </a:r>
          </a:p>
        </p:txBody>
      </p:sp>
      <p:sp>
        <p:nvSpPr>
          <p:cNvPr id="56323" name="Rectangle 5"/>
          <p:cNvSpPr>
            <a:spLocks noGrp="1" noChangeArrowheads="1"/>
          </p:cNvSpPr>
          <p:nvPr>
            <p:ph type="body" idx="1"/>
          </p:nvPr>
        </p:nvSpPr>
        <p:spPr/>
        <p:txBody>
          <a:bodyPr/>
          <a:lstStyle/>
          <a:p>
            <a:pPr eaLnBrk="1" hangingPunct="1"/>
            <a:r>
              <a:rPr lang="zh-CN" altLang="en-US" b="1" smtClean="0"/>
              <a:t>常规项目</a:t>
            </a:r>
          </a:p>
          <a:p>
            <a:pPr lvl="1" eaLnBrk="1" hangingPunct="1"/>
            <a:r>
              <a:rPr lang="zh-CN" altLang="en-US" b="1" smtClean="0"/>
              <a:t>计算期内，净现金流量的正负号只变化一次，即所有负现金流量都出现在正现金流量之前。</a:t>
            </a:r>
          </a:p>
          <a:p>
            <a:pPr lvl="1" eaLnBrk="1" hangingPunct="1"/>
            <a:endParaRPr lang="zh-CN" altLang="en-US" b="1" smtClean="0"/>
          </a:p>
          <a:p>
            <a:pPr eaLnBrk="1" hangingPunct="1"/>
            <a:r>
              <a:rPr lang="zh-CN" altLang="en-US" b="1" smtClean="0"/>
              <a:t>非常规项目</a:t>
            </a:r>
          </a:p>
          <a:p>
            <a:pPr lvl="1" eaLnBrk="1" hangingPunct="1"/>
            <a:r>
              <a:rPr lang="zh-CN" altLang="en-US" b="1" smtClean="0"/>
              <a:t>计算期内，带负号的净现金流量不仅发生在项目前期，而且分散在带正号的净现金流量之中。</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p:txBody>
          <a:bodyPr/>
          <a:lstStyle/>
          <a:p>
            <a:pPr eaLnBrk="1" hangingPunct="1"/>
            <a:r>
              <a:rPr lang="en-US" altLang="zh-CN" smtClean="0"/>
              <a:t>IRR</a:t>
            </a:r>
            <a:r>
              <a:rPr lang="zh-CN" altLang="en-US" smtClean="0"/>
              <a:t>是惟一的吗？</a:t>
            </a:r>
          </a:p>
        </p:txBody>
      </p:sp>
      <p:sp>
        <p:nvSpPr>
          <p:cNvPr id="643077" name="Rectangle 5"/>
          <p:cNvSpPr>
            <a:spLocks noGrp="1" noChangeArrowheads="1"/>
          </p:cNvSpPr>
          <p:nvPr>
            <p:ph type="body" sz="half" idx="1"/>
          </p:nvPr>
        </p:nvSpPr>
        <p:spPr>
          <a:xfrm>
            <a:off x="0" y="1346200"/>
            <a:ext cx="9144000" cy="5029200"/>
          </a:xfrm>
        </p:spPr>
        <p:txBody>
          <a:bodyPr/>
          <a:lstStyle/>
          <a:p>
            <a:pPr eaLnBrk="1" hangingPunct="1"/>
            <a:r>
              <a:rPr lang="zh-CN" altLang="en-US" sz="2800" b="1" dirty="0" smtClean="0"/>
              <a:t>常规项目</a:t>
            </a:r>
          </a:p>
          <a:p>
            <a:pPr lvl="1" eaLnBrk="1" hangingPunct="1"/>
            <a:r>
              <a:rPr lang="zh-CN" altLang="en-US" sz="2000" b="1" dirty="0" smtClean="0"/>
              <a:t>内部收益率方程肯定有惟一解，且其解就是</a:t>
            </a:r>
            <a:r>
              <a:rPr lang="zh-CN" altLang="en-US" sz="2000" b="1" u="sng" dirty="0" smtClean="0"/>
              <a:t>真正的</a:t>
            </a:r>
            <a:r>
              <a:rPr lang="zh-CN" altLang="en-US" sz="2000" b="1" dirty="0" smtClean="0"/>
              <a:t>内部收益率。</a:t>
            </a:r>
          </a:p>
          <a:p>
            <a:pPr eaLnBrk="1" hangingPunct="1"/>
            <a:r>
              <a:rPr lang="zh-CN" altLang="en-US" sz="2800" b="1" dirty="0" smtClean="0"/>
              <a:t>非常规项目</a:t>
            </a:r>
          </a:p>
          <a:p>
            <a:pPr lvl="1" eaLnBrk="1" hangingPunct="1"/>
            <a:r>
              <a:rPr lang="zh-CN" altLang="en-US" sz="2000" b="1" dirty="0" smtClean="0"/>
              <a:t>如果净现金流量的正负号多次变化，内部收益率方程可能有多个解</a:t>
            </a:r>
          </a:p>
          <a:p>
            <a:pPr lvl="2" eaLnBrk="1" hangingPunct="1"/>
            <a:r>
              <a:rPr lang="zh-CN" altLang="en-US" sz="2000" b="1" dirty="0" smtClean="0"/>
              <a:t>如果只有</a:t>
            </a:r>
            <a:r>
              <a:rPr lang="en-US" altLang="zh-CN" sz="2000" b="1" u="sng" dirty="0" smtClean="0"/>
              <a:t>1</a:t>
            </a:r>
            <a:r>
              <a:rPr lang="zh-CN" altLang="en-US" sz="2000" b="1" u="sng" dirty="0" smtClean="0"/>
              <a:t>个</a:t>
            </a:r>
            <a:r>
              <a:rPr lang="zh-CN" altLang="en-US" sz="2000" b="1" dirty="0" smtClean="0"/>
              <a:t>正根，则该解就</a:t>
            </a:r>
            <a:r>
              <a:rPr lang="zh-CN" altLang="en-US" sz="2000" b="1" u="sng" dirty="0" smtClean="0"/>
              <a:t>是</a:t>
            </a:r>
            <a:r>
              <a:rPr lang="zh-CN" altLang="en-US" sz="2000" b="1" dirty="0" smtClean="0"/>
              <a:t>真正的内部收益率</a:t>
            </a:r>
          </a:p>
          <a:p>
            <a:pPr lvl="2" eaLnBrk="1" hangingPunct="1"/>
            <a:r>
              <a:rPr lang="zh-CN" altLang="en-US" sz="2000" b="1" dirty="0" smtClean="0"/>
              <a:t>如果有</a:t>
            </a:r>
            <a:r>
              <a:rPr lang="zh-CN" altLang="en-US" sz="2000" b="1" u="sng" dirty="0" smtClean="0"/>
              <a:t>多个解</a:t>
            </a:r>
            <a:r>
              <a:rPr lang="zh-CN" altLang="en-US" sz="2000" b="1" dirty="0" smtClean="0"/>
              <a:t>，则所有的解都</a:t>
            </a:r>
            <a:r>
              <a:rPr lang="zh-CN" altLang="en-US" sz="2000" b="1" u="sng" dirty="0" smtClean="0"/>
              <a:t>不是</a:t>
            </a:r>
            <a:r>
              <a:rPr lang="zh-CN" altLang="en-US" sz="2000" b="1" dirty="0" smtClean="0"/>
              <a:t>真正的内部收益率。</a:t>
            </a:r>
          </a:p>
        </p:txBody>
      </p:sp>
      <p:graphicFrame>
        <p:nvGraphicFramePr>
          <p:cNvPr id="643078" name="Group 6"/>
          <p:cNvGraphicFramePr>
            <a:graphicFrameLocks noGrp="1"/>
          </p:cNvGraphicFramePr>
          <p:nvPr/>
        </p:nvGraphicFramePr>
        <p:xfrm>
          <a:off x="787400" y="4152900"/>
          <a:ext cx="7289800" cy="838200"/>
        </p:xfrm>
        <a:graphic>
          <a:graphicData uri="http://schemas.openxmlformats.org/drawingml/2006/table">
            <a:tbl>
              <a:tblPr/>
              <a:tblGrid>
                <a:gridCol w="2490788">
                  <a:extLst>
                    <a:ext uri="{9D8B030D-6E8A-4147-A177-3AD203B41FA5}">
                      <a16:colId xmlns:a16="http://schemas.microsoft.com/office/drawing/2014/main" xmlns="" val="20000"/>
                    </a:ext>
                  </a:extLst>
                </a:gridCol>
                <a:gridCol w="1138237">
                  <a:extLst>
                    <a:ext uri="{9D8B030D-6E8A-4147-A177-3AD203B41FA5}">
                      <a16:colId xmlns:a16="http://schemas.microsoft.com/office/drawing/2014/main" xmlns="" val="20001"/>
                    </a:ext>
                  </a:extLst>
                </a:gridCol>
                <a:gridCol w="1119188">
                  <a:extLst>
                    <a:ext uri="{9D8B030D-6E8A-4147-A177-3AD203B41FA5}">
                      <a16:colId xmlns:a16="http://schemas.microsoft.com/office/drawing/2014/main" xmlns="" val="20002"/>
                    </a:ext>
                  </a:extLst>
                </a:gridCol>
                <a:gridCol w="1320800">
                  <a:extLst>
                    <a:ext uri="{9D8B030D-6E8A-4147-A177-3AD203B41FA5}">
                      <a16:colId xmlns:a16="http://schemas.microsoft.com/office/drawing/2014/main" xmlns="" val="20003"/>
                    </a:ext>
                  </a:extLst>
                </a:gridCol>
                <a:gridCol w="1220787">
                  <a:extLst>
                    <a:ext uri="{9D8B030D-6E8A-4147-A177-3AD203B41FA5}">
                      <a16:colId xmlns:a16="http://schemas.microsoft.com/office/drawing/2014/main" xmlns="" val="20004"/>
                    </a:ext>
                  </a:extLst>
                </a:gridCol>
              </a:tblGrid>
              <a:tr h="4191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rgbClr val="000000"/>
                          </a:solidFill>
                          <a:effectLst/>
                          <a:latin typeface="Times New Roman" pitchFamily="18" charset="0"/>
                          <a:ea typeface="宋体" pitchFamily="2" charset="-122"/>
                          <a:cs typeface="楷体_GB2312"/>
                        </a:rPr>
                        <a:t>年</a:t>
                      </a:r>
                      <a:endParaRPr kumimoji="0" lang="zh-CN" altLang="en-US"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0</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1</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2</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3</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191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rgbClr val="000000"/>
                          </a:solidFill>
                          <a:effectLst/>
                          <a:latin typeface="Times New Roman" pitchFamily="18" charset="0"/>
                          <a:ea typeface="宋体" pitchFamily="2" charset="-122"/>
                          <a:cs typeface="楷体_GB2312"/>
                        </a:rPr>
                        <a:t>净现金流量（万元）</a:t>
                      </a:r>
                      <a:endParaRPr kumimoji="0" lang="zh-CN" altLang="en-US"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-100</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470</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-720</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rgbClr val="000000"/>
                          </a:solidFill>
                          <a:effectLst/>
                          <a:latin typeface="Times New Roman" pitchFamily="18" charset="0"/>
                          <a:ea typeface="宋体" pitchFamily="2" charset="-122"/>
                          <a:cs typeface="楷体_GB2312"/>
                        </a:rPr>
                        <a:t>360</a:t>
                      </a:r>
                      <a:endParaRPr kumimoji="0" lang="en-US" altLang="zh-CN" sz="1800" b="0" i="0" u="none" strike="noStrike" cap="none" normalizeH="0" baseline="0" smtClean="0">
                        <a:ln>
                          <a:noFill/>
                        </a:ln>
                        <a:solidFill>
                          <a:srgbClr val="000000"/>
                        </a:solidFill>
                        <a:effectLst/>
                        <a:latin typeface="Times New Roman" pitchFamily="18"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
        <p:nvSpPr>
          <p:cNvPr id="643098" name="Text Box 26"/>
          <p:cNvSpPr txBox="1">
            <a:spLocks noChangeArrowheads="1"/>
          </p:cNvSpPr>
          <p:nvPr/>
        </p:nvSpPr>
        <p:spPr bwMode="auto">
          <a:xfrm>
            <a:off x="282575" y="5435600"/>
            <a:ext cx="3667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400">
                <a:ea typeface="宋体" panose="02010600030101010101" pitchFamily="2" charset="-122"/>
              </a:rPr>
              <a:t>i</a:t>
            </a:r>
            <a:r>
              <a:rPr lang="en-US" altLang="zh-CN" sz="2400" baseline="-25000">
                <a:ea typeface="宋体" panose="02010600030101010101" pitchFamily="2" charset="-122"/>
              </a:rPr>
              <a:t>1</a:t>
            </a:r>
            <a:r>
              <a:rPr lang="en-US" altLang="zh-CN" sz="2400">
                <a:ea typeface="宋体" panose="02010600030101010101" pitchFamily="2" charset="-122"/>
              </a:rPr>
              <a:t>=20%, i</a:t>
            </a:r>
            <a:r>
              <a:rPr lang="en-US" altLang="zh-CN" sz="2400" baseline="-25000">
                <a:ea typeface="宋体" panose="02010600030101010101" pitchFamily="2" charset="-122"/>
              </a:rPr>
              <a:t>2</a:t>
            </a:r>
            <a:r>
              <a:rPr lang="en-US" altLang="zh-CN" sz="2400">
                <a:ea typeface="宋体" panose="02010600030101010101" pitchFamily="2" charset="-122"/>
              </a:rPr>
              <a:t>=50%, i</a:t>
            </a:r>
            <a:r>
              <a:rPr lang="en-US" altLang="zh-CN" sz="2400" baseline="-25000">
                <a:ea typeface="宋体" panose="02010600030101010101" pitchFamily="2" charset="-122"/>
              </a:rPr>
              <a:t>3</a:t>
            </a:r>
            <a:r>
              <a:rPr lang="en-US" altLang="zh-CN" sz="2400">
                <a:ea typeface="宋体" panose="02010600030101010101" pitchFamily="2" charset="-122"/>
              </a:rPr>
              <a:t>=100%</a:t>
            </a:r>
          </a:p>
        </p:txBody>
      </p:sp>
      <p:sp>
        <p:nvSpPr>
          <p:cNvPr id="57369" name="Text Box 27"/>
          <p:cNvSpPr txBox="1">
            <a:spLocks noChangeArrowheads="1"/>
          </p:cNvSpPr>
          <p:nvPr/>
        </p:nvSpPr>
        <p:spPr bwMode="auto">
          <a:xfrm>
            <a:off x="8166100" y="5715000"/>
            <a:ext cx="622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i</a:t>
            </a:r>
          </a:p>
        </p:txBody>
      </p:sp>
      <p:grpSp>
        <p:nvGrpSpPr>
          <p:cNvPr id="2" name="Group 28"/>
          <p:cNvGrpSpPr>
            <a:grpSpLocks/>
          </p:cNvGrpSpPr>
          <p:nvPr/>
        </p:nvGrpSpPr>
        <p:grpSpPr bwMode="auto">
          <a:xfrm>
            <a:off x="4051300" y="4991100"/>
            <a:ext cx="4041775" cy="1384300"/>
            <a:chOff x="2552" y="3144"/>
            <a:chExt cx="2546" cy="872"/>
          </a:xfrm>
        </p:grpSpPr>
        <p:sp>
          <p:nvSpPr>
            <p:cNvPr id="57371" name="Line 29"/>
            <p:cNvSpPr>
              <a:spLocks noChangeShapeType="1"/>
            </p:cNvSpPr>
            <p:nvPr/>
          </p:nvSpPr>
          <p:spPr bwMode="auto">
            <a:xfrm>
              <a:off x="2920" y="3712"/>
              <a:ext cx="217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2" name="Line 30"/>
            <p:cNvSpPr>
              <a:spLocks noChangeShapeType="1"/>
            </p:cNvSpPr>
            <p:nvPr/>
          </p:nvSpPr>
          <p:spPr bwMode="auto">
            <a:xfrm flipV="1">
              <a:off x="2920" y="3192"/>
              <a:ext cx="0" cy="8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3" name="Freeform 31"/>
            <p:cNvSpPr>
              <a:spLocks/>
            </p:cNvSpPr>
            <p:nvPr/>
          </p:nvSpPr>
          <p:spPr bwMode="auto">
            <a:xfrm>
              <a:off x="3048" y="3504"/>
              <a:ext cx="1480" cy="345"/>
            </a:xfrm>
            <a:custGeom>
              <a:avLst/>
              <a:gdLst>
                <a:gd name="T0" fmla="*/ 0 w 1480"/>
                <a:gd name="T1" fmla="*/ 0 h 345"/>
                <a:gd name="T2" fmla="*/ 296 w 1480"/>
                <a:gd name="T3" fmla="*/ 336 h 345"/>
                <a:gd name="T4" fmla="*/ 768 w 1480"/>
                <a:gd name="T5" fmla="*/ 56 h 345"/>
                <a:gd name="T6" fmla="*/ 1480 w 1480"/>
                <a:gd name="T7" fmla="*/ 296 h 345"/>
                <a:gd name="T8" fmla="*/ 0 60000 65536"/>
                <a:gd name="T9" fmla="*/ 0 60000 65536"/>
                <a:gd name="T10" fmla="*/ 0 60000 65536"/>
                <a:gd name="T11" fmla="*/ 0 60000 65536"/>
                <a:gd name="T12" fmla="*/ 0 w 1480"/>
                <a:gd name="T13" fmla="*/ 0 h 345"/>
                <a:gd name="T14" fmla="*/ 1480 w 1480"/>
                <a:gd name="T15" fmla="*/ 345 h 345"/>
              </a:gdLst>
              <a:ahLst/>
              <a:cxnLst>
                <a:cxn ang="T8">
                  <a:pos x="T0" y="T1"/>
                </a:cxn>
                <a:cxn ang="T9">
                  <a:pos x="T2" y="T3"/>
                </a:cxn>
                <a:cxn ang="T10">
                  <a:pos x="T4" y="T5"/>
                </a:cxn>
                <a:cxn ang="T11">
                  <a:pos x="T6" y="T7"/>
                </a:cxn>
              </a:cxnLst>
              <a:rect l="T12" t="T13" r="T14" b="T15"/>
              <a:pathLst>
                <a:path w="1480" h="345">
                  <a:moveTo>
                    <a:pt x="0" y="0"/>
                  </a:moveTo>
                  <a:cubicBezTo>
                    <a:pt x="84" y="163"/>
                    <a:pt x="168" y="327"/>
                    <a:pt x="296" y="336"/>
                  </a:cubicBezTo>
                  <a:cubicBezTo>
                    <a:pt x="424" y="345"/>
                    <a:pt x="571" y="63"/>
                    <a:pt x="768" y="56"/>
                  </a:cubicBezTo>
                  <a:cubicBezTo>
                    <a:pt x="965" y="49"/>
                    <a:pt x="1364" y="256"/>
                    <a:pt x="1480" y="296"/>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74" name="Text Box 32"/>
            <p:cNvSpPr txBox="1">
              <a:spLocks noChangeArrowheads="1"/>
            </p:cNvSpPr>
            <p:nvPr/>
          </p:nvSpPr>
          <p:spPr bwMode="auto">
            <a:xfrm>
              <a:off x="2552" y="3144"/>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NPV</a:t>
              </a:r>
            </a:p>
          </p:txBody>
        </p:sp>
        <p:sp>
          <p:nvSpPr>
            <p:cNvPr id="57375" name="Text Box 33"/>
            <p:cNvSpPr txBox="1">
              <a:spLocks noChangeArrowheads="1"/>
            </p:cNvSpPr>
            <p:nvPr/>
          </p:nvSpPr>
          <p:spPr bwMode="auto">
            <a:xfrm>
              <a:off x="2696" y="3592"/>
              <a:ext cx="1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0</a:t>
              </a:r>
            </a:p>
          </p:txBody>
        </p:sp>
        <p:sp>
          <p:nvSpPr>
            <p:cNvPr id="57376" name="Text Box 34"/>
            <p:cNvSpPr txBox="1">
              <a:spLocks noChangeArrowheads="1"/>
            </p:cNvSpPr>
            <p:nvPr/>
          </p:nvSpPr>
          <p:spPr bwMode="auto">
            <a:xfrm>
              <a:off x="3080" y="3448"/>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20%</a:t>
              </a:r>
            </a:p>
          </p:txBody>
        </p:sp>
        <p:sp>
          <p:nvSpPr>
            <p:cNvPr id="57377" name="Text Box 35"/>
            <p:cNvSpPr txBox="1">
              <a:spLocks noChangeArrowheads="1"/>
            </p:cNvSpPr>
            <p:nvPr/>
          </p:nvSpPr>
          <p:spPr bwMode="auto">
            <a:xfrm>
              <a:off x="3432" y="3720"/>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50%</a:t>
              </a:r>
            </a:p>
          </p:txBody>
        </p:sp>
        <p:sp>
          <p:nvSpPr>
            <p:cNvPr id="57378" name="Text Box 36"/>
            <p:cNvSpPr txBox="1">
              <a:spLocks noChangeArrowheads="1"/>
            </p:cNvSpPr>
            <p:nvPr/>
          </p:nvSpPr>
          <p:spPr bwMode="auto">
            <a:xfrm>
              <a:off x="4232" y="3456"/>
              <a:ext cx="46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100%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3077">
                                            <p:txEl>
                                              <p:pRg st="2" end="2"/>
                                            </p:txEl>
                                          </p:spTgt>
                                        </p:tgtEl>
                                        <p:attrNameLst>
                                          <p:attrName>style.visibility</p:attrName>
                                        </p:attrNameLst>
                                      </p:cBhvr>
                                      <p:to>
                                        <p:strVal val="visible"/>
                                      </p:to>
                                    </p:set>
                                    <p:animEffect transition="in" filter="blinds(horizontal)">
                                      <p:cBhvr>
                                        <p:cTn id="7" dur="500"/>
                                        <p:tgtEl>
                                          <p:spTgt spid="64307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43077">
                                            <p:txEl>
                                              <p:pRg st="3" end="3"/>
                                            </p:txEl>
                                          </p:spTgt>
                                        </p:tgtEl>
                                        <p:attrNameLst>
                                          <p:attrName>style.visibility</p:attrName>
                                        </p:attrNameLst>
                                      </p:cBhvr>
                                      <p:to>
                                        <p:strVal val="visible"/>
                                      </p:to>
                                    </p:set>
                                    <p:animEffect transition="in" filter="blinds(horizontal)">
                                      <p:cBhvr>
                                        <p:cTn id="10" dur="500"/>
                                        <p:tgtEl>
                                          <p:spTgt spid="643077">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43077">
                                            <p:txEl>
                                              <p:pRg st="4" end="4"/>
                                            </p:txEl>
                                          </p:spTgt>
                                        </p:tgtEl>
                                        <p:attrNameLst>
                                          <p:attrName>style.visibility</p:attrName>
                                        </p:attrNameLst>
                                      </p:cBhvr>
                                      <p:to>
                                        <p:strVal val="visible"/>
                                      </p:to>
                                    </p:set>
                                    <p:animEffect transition="in" filter="blinds(horizontal)">
                                      <p:cBhvr>
                                        <p:cTn id="13" dur="500"/>
                                        <p:tgtEl>
                                          <p:spTgt spid="643077">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43077">
                                            <p:txEl>
                                              <p:pRg st="5" end="5"/>
                                            </p:txEl>
                                          </p:spTgt>
                                        </p:tgtEl>
                                        <p:attrNameLst>
                                          <p:attrName>style.visibility</p:attrName>
                                        </p:attrNameLst>
                                      </p:cBhvr>
                                      <p:to>
                                        <p:strVal val="visible"/>
                                      </p:to>
                                    </p:set>
                                    <p:animEffect transition="in" filter="blinds(horizontal)">
                                      <p:cBhvr>
                                        <p:cTn id="16" dur="500"/>
                                        <p:tgtEl>
                                          <p:spTgt spid="643077">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43078"/>
                                        </p:tgtEl>
                                        <p:attrNameLst>
                                          <p:attrName>style.visibility</p:attrName>
                                        </p:attrNameLst>
                                      </p:cBhvr>
                                      <p:to>
                                        <p:strVal val="visible"/>
                                      </p:to>
                                    </p:set>
                                    <p:animEffect transition="in" filter="blinds(horizontal)">
                                      <p:cBhvr>
                                        <p:cTn id="21" dur="500"/>
                                        <p:tgtEl>
                                          <p:spTgt spid="64307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43098"/>
                                        </p:tgtEl>
                                        <p:attrNameLst>
                                          <p:attrName>style.visibility</p:attrName>
                                        </p:attrNameLst>
                                      </p:cBhvr>
                                      <p:to>
                                        <p:strVal val="visible"/>
                                      </p:to>
                                    </p:set>
                                    <p:animEffect transition="in" filter="blinds(horizontal)">
                                      <p:cBhvr>
                                        <p:cTn id="24" dur="500"/>
                                        <p:tgtEl>
                                          <p:spTgt spid="643098"/>
                                        </p:tgtEl>
                                      </p:cBhvr>
                                    </p:animEffect>
                                  </p:childTnLst>
                                </p:cTn>
                              </p:par>
                              <p:par>
                                <p:cTn id="25" presetID="3" presetClass="entr" presetSubtype="1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9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p:txBody>
          <a:bodyPr/>
          <a:lstStyle/>
          <a:p>
            <a:pPr eaLnBrk="1" hangingPunct="1"/>
            <a:r>
              <a:rPr lang="en-US" altLang="zh-CN" smtClean="0"/>
              <a:t>IRR </a:t>
            </a:r>
            <a:r>
              <a:rPr lang="zh-CN" altLang="en-US" smtClean="0"/>
              <a:t>和 </a:t>
            </a:r>
            <a:r>
              <a:rPr lang="en-US" altLang="zh-CN" smtClean="0"/>
              <a:t>ic</a:t>
            </a:r>
          </a:p>
        </p:txBody>
      </p:sp>
      <p:sp>
        <p:nvSpPr>
          <p:cNvPr id="644101" name="Rectangle 5"/>
          <p:cNvSpPr>
            <a:spLocks noGrp="1" noChangeArrowheads="1"/>
          </p:cNvSpPr>
          <p:nvPr>
            <p:ph type="body" idx="1"/>
          </p:nvPr>
        </p:nvSpPr>
        <p:spPr/>
        <p:txBody>
          <a:bodyPr/>
          <a:lstStyle/>
          <a:p>
            <a:pPr eaLnBrk="1" hangingPunct="1"/>
            <a:r>
              <a:rPr lang="en-US" altLang="zh-CN" b="1" smtClean="0"/>
              <a:t>IRR</a:t>
            </a:r>
          </a:p>
          <a:p>
            <a:pPr lvl="1" eaLnBrk="1" hangingPunct="1"/>
            <a:r>
              <a:rPr lang="zh-CN" altLang="en-US" b="1" smtClean="0"/>
              <a:t>由项目自身的现金流量决定</a:t>
            </a:r>
          </a:p>
          <a:p>
            <a:pPr lvl="1" eaLnBrk="1" hangingPunct="1"/>
            <a:r>
              <a:rPr lang="zh-CN" altLang="en-US" b="1" smtClean="0"/>
              <a:t>归根到底，由项目所处市场的供给和需求决定</a:t>
            </a:r>
          </a:p>
          <a:p>
            <a:pPr eaLnBrk="1" hangingPunct="1"/>
            <a:r>
              <a:rPr lang="en-US" altLang="zh-CN" b="1" smtClean="0"/>
              <a:t>ic</a:t>
            </a:r>
            <a:r>
              <a:rPr lang="en-US" altLang="zh-CN" smtClean="0"/>
              <a:t>=</a:t>
            </a:r>
            <a:r>
              <a:rPr lang="en-US" altLang="zh-CN" i="1" smtClean="0"/>
              <a:t>k</a:t>
            </a:r>
            <a:r>
              <a:rPr lang="en-US" altLang="zh-CN" smtClean="0"/>
              <a:t> + </a:t>
            </a:r>
            <a:r>
              <a:rPr lang="en-US" altLang="zh-CN" i="1" smtClean="0"/>
              <a:t>hr</a:t>
            </a:r>
          </a:p>
          <a:p>
            <a:pPr eaLnBrk="1" hangingPunct="1"/>
            <a:endParaRPr lang="en-US" altLang="zh-CN" i="1" smtClean="0"/>
          </a:p>
          <a:p>
            <a:pPr eaLnBrk="1" hangingPunct="1"/>
            <a:r>
              <a:rPr lang="en-US" altLang="zh-CN" i="1" smtClean="0"/>
              <a:t>K= </a:t>
            </a:r>
            <a:r>
              <a:rPr lang="en-US" altLang="zh-CN" smtClean="0"/>
              <a:t>Max{k</a:t>
            </a:r>
            <a:r>
              <a:rPr lang="en-US" altLang="zh-CN" i="1" smtClean="0"/>
              <a:t>d </a:t>
            </a:r>
            <a:r>
              <a:rPr lang="en-US" altLang="zh-CN" smtClean="0"/>
              <a:t>+  k* + ko }</a:t>
            </a:r>
          </a:p>
          <a:p>
            <a:pPr eaLnBrk="1" hangingPunct="1"/>
            <a:r>
              <a:rPr lang="en-US" altLang="zh-CN" sz="2800" smtClean="0"/>
              <a:t>K</a:t>
            </a:r>
            <a:r>
              <a:rPr lang="en-US" altLang="zh-CN" sz="2800" i="1" smtClean="0"/>
              <a:t>d </a:t>
            </a:r>
            <a:r>
              <a:rPr lang="en-US" altLang="zh-CN" sz="2800" smtClean="0"/>
              <a:t>---</a:t>
            </a:r>
            <a:r>
              <a:rPr lang="zh-CN" altLang="en-US" sz="2800" smtClean="0"/>
              <a:t>借贷资金成本</a:t>
            </a:r>
          </a:p>
          <a:p>
            <a:pPr eaLnBrk="1" hangingPunct="1"/>
            <a:r>
              <a:rPr lang="en-US" altLang="zh-CN" sz="2800" smtClean="0"/>
              <a:t>k*  ---</a:t>
            </a:r>
            <a:r>
              <a:rPr lang="zh-CN" altLang="en-US" sz="2800" smtClean="0"/>
              <a:t>全部资金加权平均成本</a:t>
            </a:r>
          </a:p>
          <a:p>
            <a:pPr eaLnBrk="1" hangingPunct="1"/>
            <a:r>
              <a:rPr lang="en-US" altLang="zh-CN" sz="2800" smtClean="0"/>
              <a:t>Ko ---</a:t>
            </a:r>
            <a:r>
              <a:rPr lang="zh-CN" altLang="en-US" sz="2800" smtClean="0"/>
              <a:t>项目投资的机会成本</a:t>
            </a:r>
          </a:p>
          <a:p>
            <a:pPr eaLnBrk="1" hangingPunct="1"/>
            <a:r>
              <a:rPr lang="en-US" altLang="zh-CN" sz="2800" i="1" smtClean="0"/>
              <a:t>Hr </a:t>
            </a:r>
            <a:r>
              <a:rPr lang="en-US" altLang="zh-CN" sz="2800" smtClean="0"/>
              <a:t>--- </a:t>
            </a:r>
            <a:r>
              <a:rPr lang="zh-CN" altLang="en-US" sz="2800" smtClean="0"/>
              <a:t>投资风险补偿系数</a:t>
            </a:r>
            <a:endParaRPr lang="zh-CN" altLang="en-US" sz="2800" i="1" smtClean="0"/>
          </a:p>
          <a:p>
            <a:pPr eaLnBrk="1" hangingPunct="1"/>
            <a:endParaRPr lang="en-US" altLang="zh-CN" sz="2800" b="1" smtClean="0"/>
          </a:p>
          <a:p>
            <a:pPr lvl="1" eaLnBrk="1" hangingPunct="1">
              <a:lnSpc>
                <a:spcPct val="90000"/>
              </a:lnSpc>
            </a:pPr>
            <a:endParaRPr lang="en-US" altLang="zh-CN" b="1" smtClean="0"/>
          </a:p>
        </p:txBody>
      </p:sp>
      <p:sp>
        <p:nvSpPr>
          <p:cNvPr id="58372" name="Rectangle 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644103" name="Object 7"/>
          <p:cNvGraphicFramePr>
            <a:graphicFrameLocks noChangeAspect="1"/>
          </p:cNvGraphicFramePr>
          <p:nvPr/>
        </p:nvGraphicFramePr>
        <p:xfrm>
          <a:off x="6375400" y="5359400"/>
          <a:ext cx="1244600" cy="533400"/>
        </p:xfrm>
        <a:graphic>
          <a:graphicData uri="http://schemas.openxmlformats.org/presentationml/2006/ole">
            <mc:AlternateContent xmlns:mc="http://schemas.openxmlformats.org/markup-compatibility/2006">
              <mc:Choice xmlns:v="urn:schemas-microsoft-com:vml" Requires="v">
                <p:oleObj spid="_x0000_s58392" name="公式" r:id="rId3" imgW="533169" imgH="228501" progId="Equation.3">
                  <p:embed/>
                </p:oleObj>
              </mc:Choice>
              <mc:Fallback>
                <p:oleObj name="公式" r:id="rId3" imgW="533169" imgH="228501"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5400" y="5359400"/>
                        <a:ext cx="1244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4101">
                                            <p:txEl>
                                              <p:pRg st="3" end="3"/>
                                            </p:txEl>
                                          </p:spTgt>
                                        </p:tgtEl>
                                        <p:attrNameLst>
                                          <p:attrName>style.visibility</p:attrName>
                                        </p:attrNameLst>
                                      </p:cBhvr>
                                      <p:to>
                                        <p:strVal val="visible"/>
                                      </p:to>
                                    </p:set>
                                    <p:animEffect transition="in" filter="blinds(horizontal)">
                                      <p:cBhvr>
                                        <p:cTn id="7" dur="500"/>
                                        <p:tgtEl>
                                          <p:spTgt spid="64410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4101">
                                            <p:txEl>
                                              <p:pRg st="5" end="5"/>
                                            </p:txEl>
                                          </p:spTgt>
                                        </p:tgtEl>
                                        <p:attrNameLst>
                                          <p:attrName>style.visibility</p:attrName>
                                        </p:attrNameLst>
                                      </p:cBhvr>
                                      <p:to>
                                        <p:strVal val="visible"/>
                                      </p:to>
                                    </p:set>
                                    <p:animEffect transition="in" filter="blinds(horizontal)">
                                      <p:cBhvr>
                                        <p:cTn id="12" dur="500"/>
                                        <p:tgtEl>
                                          <p:spTgt spid="644101">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4101">
                                            <p:txEl>
                                              <p:pRg st="6" end="6"/>
                                            </p:txEl>
                                          </p:spTgt>
                                        </p:tgtEl>
                                        <p:attrNameLst>
                                          <p:attrName>style.visibility</p:attrName>
                                        </p:attrNameLst>
                                      </p:cBhvr>
                                      <p:to>
                                        <p:strVal val="visible"/>
                                      </p:to>
                                    </p:set>
                                    <p:animEffect transition="in" filter="blinds(horizontal)">
                                      <p:cBhvr>
                                        <p:cTn id="17" dur="500"/>
                                        <p:tgtEl>
                                          <p:spTgt spid="644101">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44101">
                                            <p:txEl>
                                              <p:pRg st="7" end="7"/>
                                            </p:txEl>
                                          </p:spTgt>
                                        </p:tgtEl>
                                        <p:attrNameLst>
                                          <p:attrName>style.visibility</p:attrName>
                                        </p:attrNameLst>
                                      </p:cBhvr>
                                      <p:to>
                                        <p:strVal val="visible"/>
                                      </p:to>
                                    </p:set>
                                    <p:animEffect transition="in" filter="blinds(horizontal)">
                                      <p:cBhvr>
                                        <p:cTn id="22" dur="500"/>
                                        <p:tgtEl>
                                          <p:spTgt spid="644101">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44101">
                                            <p:txEl>
                                              <p:pRg st="8" end="8"/>
                                            </p:txEl>
                                          </p:spTgt>
                                        </p:tgtEl>
                                        <p:attrNameLst>
                                          <p:attrName>style.visibility</p:attrName>
                                        </p:attrNameLst>
                                      </p:cBhvr>
                                      <p:to>
                                        <p:strVal val="visible"/>
                                      </p:to>
                                    </p:set>
                                    <p:animEffect transition="in" filter="blinds(horizontal)">
                                      <p:cBhvr>
                                        <p:cTn id="27" dur="500"/>
                                        <p:tgtEl>
                                          <p:spTgt spid="644101">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44101">
                                            <p:txEl>
                                              <p:pRg st="9" end="9"/>
                                            </p:txEl>
                                          </p:spTgt>
                                        </p:tgtEl>
                                        <p:attrNameLst>
                                          <p:attrName>style.visibility</p:attrName>
                                        </p:attrNameLst>
                                      </p:cBhvr>
                                      <p:to>
                                        <p:strVal val="visible"/>
                                      </p:to>
                                    </p:set>
                                    <p:animEffect transition="in" filter="blinds(horizontal)">
                                      <p:cBhvr>
                                        <p:cTn id="32" dur="500"/>
                                        <p:tgtEl>
                                          <p:spTgt spid="644101">
                                            <p:txEl>
                                              <p:pRg st="9" end="9"/>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44103"/>
                                        </p:tgtEl>
                                        <p:attrNameLst>
                                          <p:attrName>style.visibility</p:attrName>
                                        </p:attrNameLst>
                                      </p:cBhvr>
                                      <p:to>
                                        <p:strVal val="visible"/>
                                      </p:to>
                                    </p:set>
                                    <p:animEffect transition="in" filter="blinds(horizontal)">
                                      <p:cBhvr>
                                        <p:cTn id="37" dur="500"/>
                                        <p:tgtEl>
                                          <p:spTgt spid="64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Grp="1" noChangeArrowheads="1"/>
          </p:cNvSpPr>
          <p:nvPr>
            <p:ph type="title"/>
          </p:nvPr>
        </p:nvSpPr>
        <p:spPr/>
        <p:txBody>
          <a:bodyPr/>
          <a:lstStyle/>
          <a:p>
            <a:pPr eaLnBrk="1" hangingPunct="1"/>
            <a:r>
              <a:rPr lang="zh-CN" altLang="en-US" b="0" smtClean="0"/>
              <a:t>机会成本</a:t>
            </a:r>
          </a:p>
        </p:txBody>
      </p:sp>
      <p:sp>
        <p:nvSpPr>
          <p:cNvPr id="59395" name="Rectangle 5"/>
          <p:cNvSpPr>
            <a:spLocks noGrp="1" noChangeArrowheads="1"/>
          </p:cNvSpPr>
          <p:nvPr>
            <p:ph type="body" idx="1"/>
          </p:nvPr>
        </p:nvSpPr>
        <p:spPr/>
        <p:txBody>
          <a:bodyPr/>
          <a:lstStyle/>
          <a:p>
            <a:pPr eaLnBrk="1" hangingPunct="1"/>
            <a:r>
              <a:rPr lang="zh-CN" altLang="en-US" b="1" smtClean="0"/>
              <a:t>是他为了投资该项目，而放弃的其他投资机会中，（相同风险下）收益最大的那个</a:t>
            </a:r>
            <a:r>
              <a:rPr lang="en-US" altLang="zh-CN" b="1" smtClean="0"/>
              <a:t>——“</a:t>
            </a:r>
            <a:r>
              <a:rPr lang="zh-CN" altLang="en-US" b="1" smtClean="0"/>
              <a:t>机会成本”</a:t>
            </a:r>
          </a:p>
          <a:p>
            <a:pPr lvl="1" eaLnBrk="1" hangingPunct="1"/>
            <a:endParaRPr lang="zh-CN" altLang="en-US" b="1" smtClean="0"/>
          </a:p>
          <a:p>
            <a:pPr eaLnBrk="1" hangingPunct="1"/>
            <a:r>
              <a:rPr lang="zh-CN" altLang="en-US" b="1" smtClean="0"/>
              <a:t>要求所选择的投资机会的收益率要大于放弃的最大收益率。</a:t>
            </a:r>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title"/>
          </p:nvPr>
        </p:nvSpPr>
        <p:spPr/>
        <p:txBody>
          <a:bodyPr/>
          <a:lstStyle/>
          <a:p>
            <a:pPr eaLnBrk="1" hangingPunct="1"/>
            <a:r>
              <a:rPr lang="zh-CN" altLang="en-US" smtClean="0"/>
              <a:t>基准收益率的选择方法</a:t>
            </a:r>
          </a:p>
        </p:txBody>
      </p:sp>
      <p:sp>
        <p:nvSpPr>
          <p:cNvPr id="646149" name="Rectangle 5"/>
          <p:cNvSpPr>
            <a:spLocks noGrp="1" noChangeArrowheads="1"/>
          </p:cNvSpPr>
          <p:nvPr>
            <p:ph type="body" idx="1"/>
          </p:nvPr>
        </p:nvSpPr>
        <p:spPr/>
        <p:txBody>
          <a:bodyPr/>
          <a:lstStyle/>
          <a:p>
            <a:pPr eaLnBrk="1" hangingPunct="1"/>
            <a:r>
              <a:rPr lang="zh-CN" altLang="en-US" smtClean="0"/>
              <a:t>   </a:t>
            </a:r>
            <a:r>
              <a:rPr lang="zh-CN" altLang="en-US" b="1" smtClean="0"/>
              <a:t>投资者选择了这个投资机会，而放弃的其他投资机会中最高的收益率（经过风险调整）</a:t>
            </a:r>
          </a:p>
          <a:p>
            <a:pPr eaLnBrk="1" hangingPunct="1"/>
            <a:r>
              <a:rPr lang="zh-CN" altLang="en-US" b="1" smtClean="0"/>
              <a:t>资金的机会成本</a:t>
            </a:r>
          </a:p>
          <a:p>
            <a:pPr eaLnBrk="1" hangingPunct="1"/>
            <a:r>
              <a:rPr lang="en-US" altLang="zh-CN" b="1" smtClean="0"/>
              <a:t>Opportunity Cost of Capital (OCC)</a:t>
            </a:r>
            <a:endParaRPr lang="zh-CN" altLang="en-US" b="1" smtClean="0"/>
          </a:p>
          <a:p>
            <a:pPr eaLnBrk="1" hangingPunct="1"/>
            <a:endParaRPr lang="zh-CN" altLang="en-US" b="1" smtClean="0"/>
          </a:p>
          <a:p>
            <a:pPr eaLnBrk="1" hangingPunct="1"/>
            <a:endParaRPr lang="zh-CN" altLang="en-US" b="1" smtClean="0"/>
          </a:p>
          <a:p>
            <a:pPr algn="ctr" eaLnBrk="1" hangingPunct="1">
              <a:buFontTx/>
              <a:buNone/>
            </a:pPr>
            <a:endParaRPr lang="en-US" altLang="zh-CN" sz="3600" b="1" smtClean="0"/>
          </a:p>
        </p:txBody>
      </p:sp>
      <p:grpSp>
        <p:nvGrpSpPr>
          <p:cNvPr id="2" name="Group 6"/>
          <p:cNvGrpSpPr>
            <a:grpSpLocks/>
          </p:cNvGrpSpPr>
          <p:nvPr/>
        </p:nvGrpSpPr>
        <p:grpSpPr bwMode="auto">
          <a:xfrm>
            <a:off x="749300" y="3698875"/>
            <a:ext cx="8115300" cy="2841625"/>
            <a:chOff x="472" y="2330"/>
            <a:chExt cx="5112" cy="1790"/>
          </a:xfrm>
        </p:grpSpPr>
        <p:pic>
          <p:nvPicPr>
            <p:cNvPr id="60421" name="Picture 7" descr="北京CBD_国贸中心"/>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2" y="2474"/>
              <a:ext cx="1742"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Text Box 8"/>
            <p:cNvSpPr txBox="1">
              <a:spLocks noChangeArrowheads="1"/>
            </p:cNvSpPr>
            <p:nvPr/>
          </p:nvSpPr>
          <p:spPr bwMode="auto">
            <a:xfrm>
              <a:off x="472" y="2330"/>
              <a:ext cx="1040" cy="288"/>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储蓄</a:t>
              </a:r>
            </a:p>
          </p:txBody>
        </p:sp>
        <p:sp>
          <p:nvSpPr>
            <p:cNvPr id="60423" name="Text Box 9"/>
            <p:cNvSpPr txBox="1">
              <a:spLocks noChangeArrowheads="1"/>
            </p:cNvSpPr>
            <p:nvPr/>
          </p:nvSpPr>
          <p:spPr bwMode="auto">
            <a:xfrm>
              <a:off x="472" y="2698"/>
              <a:ext cx="1040" cy="28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股票</a:t>
              </a:r>
            </a:p>
          </p:txBody>
        </p:sp>
        <p:sp>
          <p:nvSpPr>
            <p:cNvPr id="60424" name="Text Box 10"/>
            <p:cNvSpPr txBox="1">
              <a:spLocks noChangeArrowheads="1"/>
            </p:cNvSpPr>
            <p:nvPr/>
          </p:nvSpPr>
          <p:spPr bwMode="auto">
            <a:xfrm>
              <a:off x="472" y="3082"/>
              <a:ext cx="1040" cy="28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基金</a:t>
              </a:r>
            </a:p>
          </p:txBody>
        </p:sp>
        <p:sp>
          <p:nvSpPr>
            <p:cNvPr id="60425" name="Text Box 11"/>
            <p:cNvSpPr txBox="1">
              <a:spLocks noChangeArrowheads="1"/>
            </p:cNvSpPr>
            <p:nvPr/>
          </p:nvSpPr>
          <p:spPr bwMode="auto">
            <a:xfrm>
              <a:off x="472" y="3448"/>
              <a:ext cx="1040" cy="288"/>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做小买卖</a:t>
              </a:r>
            </a:p>
          </p:txBody>
        </p:sp>
        <p:sp>
          <p:nvSpPr>
            <p:cNvPr id="60426" name="Text Box 12"/>
            <p:cNvSpPr txBox="1">
              <a:spLocks noChangeArrowheads="1"/>
            </p:cNvSpPr>
            <p:nvPr/>
          </p:nvSpPr>
          <p:spPr bwMode="auto">
            <a:xfrm>
              <a:off x="472" y="3832"/>
              <a:ext cx="1040"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en-US" altLang="zh-CN" sz="2400" b="1">
                  <a:ea typeface="宋体" panose="02010600030101010101" pitchFamily="2" charset="-122"/>
                </a:rPr>
                <a:t>……</a:t>
              </a:r>
            </a:p>
          </p:txBody>
        </p:sp>
        <p:sp>
          <p:nvSpPr>
            <p:cNvPr id="60427" name="Line 13"/>
            <p:cNvSpPr>
              <a:spLocks noChangeShapeType="1"/>
            </p:cNvSpPr>
            <p:nvPr/>
          </p:nvSpPr>
          <p:spPr bwMode="auto">
            <a:xfrm>
              <a:off x="1512" y="2474"/>
              <a:ext cx="872" cy="76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8" name="Line 14"/>
            <p:cNvSpPr>
              <a:spLocks noChangeShapeType="1"/>
            </p:cNvSpPr>
            <p:nvPr/>
          </p:nvSpPr>
          <p:spPr bwMode="auto">
            <a:xfrm>
              <a:off x="1512" y="2829"/>
              <a:ext cx="872" cy="4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9" name="Line 15"/>
            <p:cNvSpPr>
              <a:spLocks noChangeShapeType="1"/>
            </p:cNvSpPr>
            <p:nvPr/>
          </p:nvSpPr>
          <p:spPr bwMode="auto">
            <a:xfrm>
              <a:off x="1512" y="3240"/>
              <a:ext cx="87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0" name="Line 16"/>
            <p:cNvSpPr>
              <a:spLocks noChangeShapeType="1"/>
            </p:cNvSpPr>
            <p:nvPr/>
          </p:nvSpPr>
          <p:spPr bwMode="auto">
            <a:xfrm flipV="1">
              <a:off x="1512" y="3240"/>
              <a:ext cx="872" cy="3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1" name="Line 17"/>
            <p:cNvSpPr>
              <a:spLocks noChangeShapeType="1"/>
            </p:cNvSpPr>
            <p:nvPr/>
          </p:nvSpPr>
          <p:spPr bwMode="auto">
            <a:xfrm flipV="1">
              <a:off x="1512" y="3240"/>
              <a:ext cx="872" cy="76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2" name="Line 18"/>
            <p:cNvSpPr>
              <a:spLocks noChangeShapeType="1"/>
            </p:cNvSpPr>
            <p:nvPr/>
          </p:nvSpPr>
          <p:spPr bwMode="auto">
            <a:xfrm>
              <a:off x="2384" y="3240"/>
              <a:ext cx="145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46149">
                                            <p:txEl>
                                              <p:pRg st="1" end="1"/>
                                            </p:txEl>
                                          </p:spTgt>
                                        </p:tgtEl>
                                        <p:attrNameLst>
                                          <p:attrName>style.visibility</p:attrName>
                                        </p:attrNameLst>
                                      </p:cBhvr>
                                      <p:to>
                                        <p:strVal val="visible"/>
                                      </p:to>
                                    </p:set>
                                    <p:animEffect transition="in" filter="box(in)">
                                      <p:cBhvr>
                                        <p:cTn id="7" dur="500"/>
                                        <p:tgtEl>
                                          <p:spTgt spid="64614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46149">
                                            <p:txEl>
                                              <p:pRg st="2" end="2"/>
                                            </p:txEl>
                                          </p:spTgt>
                                        </p:tgtEl>
                                        <p:attrNameLst>
                                          <p:attrName>style.visibility</p:attrName>
                                        </p:attrNameLst>
                                      </p:cBhvr>
                                      <p:to>
                                        <p:strVal val="visible"/>
                                      </p:to>
                                    </p:set>
                                    <p:animEffect transition="in" filter="box(in)">
                                      <p:cBhvr>
                                        <p:cTn id="10" dur="500"/>
                                        <p:tgtEl>
                                          <p:spTgt spid="646149">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p:txBody>
          <a:bodyPr/>
          <a:lstStyle/>
          <a:p>
            <a:pPr eaLnBrk="1" hangingPunct="1"/>
            <a:r>
              <a:rPr lang="zh-CN" altLang="en-US" smtClean="0"/>
              <a:t>投资利润率（静态评价指标）</a:t>
            </a:r>
          </a:p>
        </p:txBody>
      </p:sp>
      <p:sp>
        <p:nvSpPr>
          <p:cNvPr id="61443" name="Rectangle 5"/>
          <p:cNvSpPr>
            <a:spLocks noGrp="1" noChangeArrowheads="1"/>
          </p:cNvSpPr>
          <p:nvPr>
            <p:ph type="body" sz="half" idx="1"/>
          </p:nvPr>
        </p:nvSpPr>
        <p:spPr>
          <a:xfrm>
            <a:off x="0" y="1346200"/>
            <a:ext cx="9144000" cy="5041900"/>
          </a:xfrm>
        </p:spPr>
        <p:txBody>
          <a:bodyPr/>
          <a:lstStyle/>
          <a:p>
            <a:pPr eaLnBrk="1" hangingPunct="1"/>
            <a:r>
              <a:rPr lang="zh-CN" altLang="en-US" sz="2800" b="1" smtClean="0"/>
              <a:t>投资收益率</a:t>
            </a:r>
          </a:p>
          <a:p>
            <a:pPr lvl="1" eaLnBrk="1" hangingPunct="1"/>
            <a:r>
              <a:rPr lang="zh-CN" altLang="en-US" sz="2400" b="1" smtClean="0"/>
              <a:t>工程项目达到设计生产能力时，一个正常生产年份的利润总额与投资总额的比值。</a:t>
            </a:r>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r>
              <a:rPr lang="zh-CN" altLang="en-US" sz="2400" b="1" smtClean="0"/>
              <a:t>自有资金：股权投资、权益投资</a:t>
            </a:r>
          </a:p>
          <a:p>
            <a:pPr lvl="1" eaLnBrk="1" hangingPunct="1"/>
            <a:r>
              <a:rPr lang="zh-CN" altLang="en-US" sz="2400" b="1" smtClean="0"/>
              <a:t>全投资：自有资金＋债权投资</a:t>
            </a:r>
            <a:r>
              <a:rPr lang="en-US" altLang="zh-CN" sz="2400" b="1" smtClean="0"/>
              <a:t>(</a:t>
            </a:r>
            <a:r>
              <a:rPr lang="zh-CN" altLang="en-US" sz="2400" b="1" smtClean="0"/>
              <a:t>银行贷款、债券、其他贷款</a:t>
            </a:r>
            <a:r>
              <a:rPr lang="en-US" altLang="zh-CN" sz="2400" b="1" smtClean="0"/>
              <a:t>)</a:t>
            </a:r>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a:p>
            <a:pPr lvl="1" eaLnBrk="1" hangingPunct="1"/>
            <a:endParaRPr lang="zh-CN" altLang="en-US" sz="2400" b="1" smtClean="0"/>
          </a:p>
        </p:txBody>
      </p:sp>
      <p:graphicFrame>
        <p:nvGraphicFramePr>
          <p:cNvPr id="61444" name="Object 6"/>
          <p:cNvGraphicFramePr>
            <a:graphicFrameLocks noChangeAspect="1"/>
          </p:cNvGraphicFramePr>
          <p:nvPr/>
        </p:nvGraphicFramePr>
        <p:xfrm>
          <a:off x="3168650" y="3457575"/>
          <a:ext cx="1331913" cy="982663"/>
        </p:xfrm>
        <a:graphic>
          <a:graphicData uri="http://schemas.openxmlformats.org/presentationml/2006/ole">
            <mc:AlternateContent xmlns:mc="http://schemas.openxmlformats.org/markup-compatibility/2006">
              <mc:Choice xmlns:v="urn:schemas-microsoft-com:vml" Requires="v">
                <p:oleObj spid="_x0000_s61469" name="公式" r:id="rId3" imgW="533169" imgH="393529" progId="Equation.3">
                  <p:embed/>
                </p:oleObj>
              </mc:Choice>
              <mc:Fallback>
                <p:oleObj name="公式" r:id="rId3" imgW="533169" imgH="39352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8650" y="3457575"/>
                        <a:ext cx="1331913"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175" name="Line 7"/>
          <p:cNvSpPr>
            <a:spLocks noChangeShapeType="1"/>
          </p:cNvSpPr>
          <p:nvPr/>
        </p:nvSpPr>
        <p:spPr bwMode="auto">
          <a:xfrm flipV="1">
            <a:off x="4500563" y="3457575"/>
            <a:ext cx="1265237" cy="220663"/>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6" name="Line 8"/>
          <p:cNvSpPr>
            <a:spLocks noChangeShapeType="1"/>
          </p:cNvSpPr>
          <p:nvPr/>
        </p:nvSpPr>
        <p:spPr bwMode="auto">
          <a:xfrm>
            <a:off x="4500563" y="4249738"/>
            <a:ext cx="1265237"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7" name="Line 9"/>
          <p:cNvSpPr>
            <a:spLocks noChangeShapeType="1"/>
          </p:cNvSpPr>
          <p:nvPr/>
        </p:nvSpPr>
        <p:spPr bwMode="auto">
          <a:xfrm flipH="1">
            <a:off x="2235200" y="3944938"/>
            <a:ext cx="933450"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8" name="Text Box 10"/>
          <p:cNvSpPr txBox="1">
            <a:spLocks noChangeArrowheads="1"/>
          </p:cNvSpPr>
          <p:nvPr/>
        </p:nvSpPr>
        <p:spPr bwMode="auto">
          <a:xfrm>
            <a:off x="5956300" y="3022600"/>
            <a:ext cx="3035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正常年份的利润总额（全投资、自有资金）</a:t>
            </a:r>
          </a:p>
        </p:txBody>
      </p:sp>
      <p:sp>
        <p:nvSpPr>
          <p:cNvPr id="647179" name="Text Box 11"/>
          <p:cNvSpPr txBox="1">
            <a:spLocks noChangeArrowheads="1"/>
          </p:cNvSpPr>
          <p:nvPr/>
        </p:nvSpPr>
        <p:spPr bwMode="auto">
          <a:xfrm>
            <a:off x="5956300" y="4440238"/>
            <a:ext cx="279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投资总额（全投资，或自有资金）</a:t>
            </a:r>
          </a:p>
        </p:txBody>
      </p:sp>
      <p:sp>
        <p:nvSpPr>
          <p:cNvPr id="647180" name="Text Box 12"/>
          <p:cNvSpPr txBox="1">
            <a:spLocks noChangeArrowheads="1"/>
          </p:cNvSpPr>
          <p:nvPr/>
        </p:nvSpPr>
        <p:spPr bwMode="auto">
          <a:xfrm>
            <a:off x="0" y="3441700"/>
            <a:ext cx="223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投资利润率（全投资、自有资金）</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7175"/>
                                        </p:tgtEl>
                                        <p:attrNameLst>
                                          <p:attrName>style.visibility</p:attrName>
                                        </p:attrNameLst>
                                      </p:cBhvr>
                                      <p:to>
                                        <p:strVal val="visible"/>
                                      </p:to>
                                    </p:set>
                                    <p:animEffect transition="in" filter="blinds(horizontal)">
                                      <p:cBhvr>
                                        <p:cTn id="7" dur="500"/>
                                        <p:tgtEl>
                                          <p:spTgt spid="64717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47178"/>
                                        </p:tgtEl>
                                        <p:attrNameLst>
                                          <p:attrName>style.visibility</p:attrName>
                                        </p:attrNameLst>
                                      </p:cBhvr>
                                      <p:to>
                                        <p:strVal val="visible"/>
                                      </p:to>
                                    </p:set>
                                    <p:animEffect transition="in" filter="blinds(horizontal)">
                                      <p:cBhvr>
                                        <p:cTn id="10" dur="500"/>
                                        <p:tgtEl>
                                          <p:spTgt spid="6471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47176"/>
                                        </p:tgtEl>
                                        <p:attrNameLst>
                                          <p:attrName>style.visibility</p:attrName>
                                        </p:attrNameLst>
                                      </p:cBhvr>
                                      <p:to>
                                        <p:strVal val="visible"/>
                                      </p:to>
                                    </p:set>
                                    <p:animEffect transition="in" filter="blinds(horizontal)">
                                      <p:cBhvr>
                                        <p:cTn id="15" dur="500"/>
                                        <p:tgtEl>
                                          <p:spTgt spid="64717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47179"/>
                                        </p:tgtEl>
                                        <p:attrNameLst>
                                          <p:attrName>style.visibility</p:attrName>
                                        </p:attrNameLst>
                                      </p:cBhvr>
                                      <p:to>
                                        <p:strVal val="visible"/>
                                      </p:to>
                                    </p:set>
                                    <p:animEffect transition="in" filter="blinds(horizontal)">
                                      <p:cBhvr>
                                        <p:cTn id="18" dur="500"/>
                                        <p:tgtEl>
                                          <p:spTgt spid="64717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47177"/>
                                        </p:tgtEl>
                                        <p:attrNameLst>
                                          <p:attrName>style.visibility</p:attrName>
                                        </p:attrNameLst>
                                      </p:cBhvr>
                                      <p:to>
                                        <p:strVal val="visible"/>
                                      </p:to>
                                    </p:set>
                                    <p:animEffect transition="in" filter="blinds(horizontal)">
                                      <p:cBhvr>
                                        <p:cTn id="23" dur="500"/>
                                        <p:tgtEl>
                                          <p:spTgt spid="64717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47180"/>
                                        </p:tgtEl>
                                        <p:attrNameLst>
                                          <p:attrName>style.visibility</p:attrName>
                                        </p:attrNameLst>
                                      </p:cBhvr>
                                      <p:to>
                                        <p:strVal val="visible"/>
                                      </p:to>
                                    </p:set>
                                    <p:animEffect transition="in" filter="blinds(horizontal)">
                                      <p:cBhvr>
                                        <p:cTn id="26" dur="500"/>
                                        <p:tgtEl>
                                          <p:spTgt spid="647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5" grpId="0" animBg="1"/>
      <p:bldP spid="647176" grpId="0" animBg="1"/>
      <p:bldP spid="647177" grpId="0" animBg="1"/>
      <p:bldP spid="647178" grpId="0"/>
      <p:bldP spid="647179" grpId="0"/>
      <p:bldP spid="64718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Grp="1" noChangeArrowheads="1"/>
          </p:cNvSpPr>
          <p:nvPr>
            <p:ph type="title"/>
          </p:nvPr>
        </p:nvSpPr>
        <p:spPr/>
        <p:txBody>
          <a:bodyPr/>
          <a:lstStyle/>
          <a:p>
            <a:pPr eaLnBrk="1" hangingPunct="1"/>
            <a:r>
              <a:rPr lang="zh-CN" altLang="en-US" smtClean="0"/>
              <a:t>主要公式</a:t>
            </a:r>
          </a:p>
        </p:txBody>
      </p:sp>
      <p:sp>
        <p:nvSpPr>
          <p:cNvPr id="648197" name="Rectangle 5"/>
          <p:cNvSpPr>
            <a:spLocks noGrp="1" noChangeArrowheads="1"/>
          </p:cNvSpPr>
          <p:nvPr>
            <p:ph type="body" idx="1"/>
          </p:nvPr>
        </p:nvSpPr>
        <p:spPr/>
        <p:txBody>
          <a:bodyPr/>
          <a:lstStyle/>
          <a:p>
            <a:pPr eaLnBrk="1" hangingPunct="1"/>
            <a:r>
              <a:rPr lang="zh-CN" altLang="en-US" smtClean="0"/>
              <a:t>          </a:t>
            </a:r>
            <a:r>
              <a:rPr lang="zh-CN" altLang="en-US" sz="2400" b="1" smtClean="0"/>
              <a:t>年产品销售收入</a:t>
            </a:r>
          </a:p>
          <a:p>
            <a:pPr eaLnBrk="1" hangingPunct="1"/>
            <a:r>
              <a:rPr lang="zh-CN" altLang="en-US" sz="2400" b="1" smtClean="0"/>
              <a:t>      －年产品销售税金及附加</a:t>
            </a:r>
          </a:p>
          <a:p>
            <a:pPr eaLnBrk="1" hangingPunct="1"/>
            <a:r>
              <a:rPr lang="zh-CN" altLang="en-US" sz="2400" b="1" smtClean="0"/>
              <a:t>      －年总成本费用</a:t>
            </a:r>
          </a:p>
          <a:p>
            <a:pPr eaLnBrk="1" hangingPunct="1"/>
            <a:r>
              <a:rPr lang="zh-CN" altLang="en-US" sz="2400" b="1" smtClean="0"/>
              <a:t>          年利润总额（全投资，税息前）</a:t>
            </a:r>
          </a:p>
          <a:p>
            <a:pPr eaLnBrk="1" hangingPunct="1"/>
            <a:r>
              <a:rPr lang="en-US" altLang="zh-CN" sz="2400" b="1" smtClean="0"/>
              <a:t>      </a:t>
            </a:r>
            <a:r>
              <a:rPr lang="zh-CN" altLang="en-US" sz="2400" b="1" smtClean="0"/>
              <a:t>－还本付息</a:t>
            </a:r>
          </a:p>
          <a:p>
            <a:pPr eaLnBrk="1" hangingPunct="1"/>
            <a:r>
              <a:rPr lang="zh-CN" altLang="en-US" sz="2400" b="1" smtClean="0"/>
              <a:t>          税前利润（自有资金）</a:t>
            </a:r>
            <a:endParaRPr lang="en-US" altLang="zh-CN" sz="2400" b="1" smtClean="0"/>
          </a:p>
          <a:p>
            <a:pPr eaLnBrk="1" hangingPunct="1"/>
            <a:r>
              <a:rPr lang="zh-CN" altLang="en-US" sz="2400" b="1" smtClean="0"/>
              <a:t>      －所得税</a:t>
            </a:r>
          </a:p>
          <a:p>
            <a:pPr eaLnBrk="1" hangingPunct="1"/>
            <a:r>
              <a:rPr lang="zh-CN" altLang="en-US" sz="2400" b="1" smtClean="0"/>
              <a:t>          税后利润（自有资金）</a:t>
            </a:r>
          </a:p>
        </p:txBody>
      </p:sp>
      <p:graphicFrame>
        <p:nvGraphicFramePr>
          <p:cNvPr id="648198" name="Object 6"/>
          <p:cNvGraphicFramePr>
            <a:graphicFrameLocks noChangeAspect="1"/>
          </p:cNvGraphicFramePr>
          <p:nvPr/>
        </p:nvGraphicFramePr>
        <p:xfrm>
          <a:off x="4692650" y="4729163"/>
          <a:ext cx="3963988" cy="812800"/>
        </p:xfrm>
        <a:graphic>
          <a:graphicData uri="http://schemas.openxmlformats.org/presentationml/2006/ole">
            <mc:AlternateContent xmlns:mc="http://schemas.openxmlformats.org/markup-compatibility/2006">
              <mc:Choice xmlns:v="urn:schemas-microsoft-com:vml" Requires="v">
                <p:oleObj spid="_x0000_s62508" name="公式" r:id="rId3" imgW="2044700" imgH="419100" progId="Equation.3">
                  <p:embed/>
                </p:oleObj>
              </mc:Choice>
              <mc:Fallback>
                <p:oleObj name="公式" r:id="rId3" imgW="2044700" imgH="419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2650" y="4729163"/>
                        <a:ext cx="3963988"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199" name="Object 7"/>
          <p:cNvGraphicFramePr>
            <a:graphicFrameLocks noChangeAspect="1"/>
          </p:cNvGraphicFramePr>
          <p:nvPr/>
        </p:nvGraphicFramePr>
        <p:xfrm>
          <a:off x="4692650" y="5745163"/>
          <a:ext cx="4451350" cy="808037"/>
        </p:xfrm>
        <a:graphic>
          <a:graphicData uri="http://schemas.openxmlformats.org/presentationml/2006/ole">
            <mc:AlternateContent xmlns:mc="http://schemas.openxmlformats.org/markup-compatibility/2006">
              <mc:Choice xmlns:v="urn:schemas-microsoft-com:vml" Requires="v">
                <p:oleObj spid="_x0000_s62509" name="公式" r:id="rId5" imgW="2311400" imgH="419100" progId="Equation.3">
                  <p:embed/>
                </p:oleObj>
              </mc:Choice>
              <mc:Fallback>
                <p:oleObj name="公式" r:id="rId5" imgW="23114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2650" y="5745163"/>
                        <a:ext cx="4451350"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8200" name="Line 8"/>
          <p:cNvSpPr>
            <a:spLocks noChangeShapeType="1"/>
          </p:cNvSpPr>
          <p:nvPr/>
        </p:nvSpPr>
        <p:spPr bwMode="auto">
          <a:xfrm>
            <a:off x="0" y="2832100"/>
            <a:ext cx="56515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201" name="Line 9"/>
          <p:cNvSpPr>
            <a:spLocks noChangeShapeType="1"/>
          </p:cNvSpPr>
          <p:nvPr/>
        </p:nvSpPr>
        <p:spPr bwMode="auto">
          <a:xfrm>
            <a:off x="0" y="3695700"/>
            <a:ext cx="56515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202" name="Line 10"/>
          <p:cNvSpPr>
            <a:spLocks noChangeShapeType="1"/>
          </p:cNvSpPr>
          <p:nvPr/>
        </p:nvSpPr>
        <p:spPr bwMode="auto">
          <a:xfrm>
            <a:off x="0" y="4551363"/>
            <a:ext cx="56515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8197">
                                            <p:txEl>
                                              <p:pRg st="1" end="1"/>
                                            </p:txEl>
                                          </p:spTgt>
                                        </p:tgtEl>
                                        <p:attrNameLst>
                                          <p:attrName>style.visibility</p:attrName>
                                        </p:attrNameLst>
                                      </p:cBhvr>
                                      <p:to>
                                        <p:strVal val="visible"/>
                                      </p:to>
                                    </p:set>
                                    <p:animEffect transition="in" filter="blinds(horizontal)">
                                      <p:cBhvr>
                                        <p:cTn id="7" dur="500"/>
                                        <p:tgtEl>
                                          <p:spTgt spid="64819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8197">
                                            <p:txEl>
                                              <p:pRg st="2" end="2"/>
                                            </p:txEl>
                                          </p:spTgt>
                                        </p:tgtEl>
                                        <p:attrNameLst>
                                          <p:attrName>style.visibility</p:attrName>
                                        </p:attrNameLst>
                                      </p:cBhvr>
                                      <p:to>
                                        <p:strVal val="visible"/>
                                      </p:to>
                                    </p:set>
                                    <p:animEffect transition="in" filter="blinds(horizontal)">
                                      <p:cBhvr>
                                        <p:cTn id="12" dur="500"/>
                                        <p:tgtEl>
                                          <p:spTgt spid="64819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8200"/>
                                        </p:tgtEl>
                                        <p:attrNameLst>
                                          <p:attrName>style.visibility</p:attrName>
                                        </p:attrNameLst>
                                      </p:cBhvr>
                                      <p:to>
                                        <p:strVal val="visible"/>
                                      </p:to>
                                    </p:set>
                                    <p:animEffect transition="in" filter="blinds(horizontal)">
                                      <p:cBhvr>
                                        <p:cTn id="17" dur="500"/>
                                        <p:tgtEl>
                                          <p:spTgt spid="648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48197">
                                            <p:txEl>
                                              <p:pRg st="3" end="3"/>
                                            </p:txEl>
                                          </p:spTgt>
                                        </p:tgtEl>
                                        <p:attrNameLst>
                                          <p:attrName>style.visibility</p:attrName>
                                        </p:attrNameLst>
                                      </p:cBhvr>
                                      <p:to>
                                        <p:strVal val="visible"/>
                                      </p:to>
                                    </p:set>
                                    <p:animEffect transition="in" filter="blinds(horizontal)">
                                      <p:cBhvr>
                                        <p:cTn id="22" dur="500"/>
                                        <p:tgtEl>
                                          <p:spTgt spid="64819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48197">
                                            <p:txEl>
                                              <p:pRg st="4" end="4"/>
                                            </p:txEl>
                                          </p:spTgt>
                                        </p:tgtEl>
                                        <p:attrNameLst>
                                          <p:attrName>style.visibility</p:attrName>
                                        </p:attrNameLst>
                                      </p:cBhvr>
                                      <p:to>
                                        <p:strVal val="visible"/>
                                      </p:to>
                                    </p:set>
                                    <p:animEffect transition="in" filter="blinds(horizontal)">
                                      <p:cBhvr>
                                        <p:cTn id="27" dur="500"/>
                                        <p:tgtEl>
                                          <p:spTgt spid="64819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48201"/>
                                        </p:tgtEl>
                                        <p:attrNameLst>
                                          <p:attrName>style.visibility</p:attrName>
                                        </p:attrNameLst>
                                      </p:cBhvr>
                                      <p:to>
                                        <p:strVal val="visible"/>
                                      </p:to>
                                    </p:set>
                                    <p:animEffect transition="in" filter="blinds(horizontal)">
                                      <p:cBhvr>
                                        <p:cTn id="32" dur="500"/>
                                        <p:tgtEl>
                                          <p:spTgt spid="6482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48197">
                                            <p:txEl>
                                              <p:pRg st="5" end="5"/>
                                            </p:txEl>
                                          </p:spTgt>
                                        </p:tgtEl>
                                        <p:attrNameLst>
                                          <p:attrName>style.visibility</p:attrName>
                                        </p:attrNameLst>
                                      </p:cBhvr>
                                      <p:to>
                                        <p:strVal val="visible"/>
                                      </p:to>
                                    </p:set>
                                    <p:animEffect transition="in" filter="blinds(horizontal)">
                                      <p:cBhvr>
                                        <p:cTn id="37" dur="500"/>
                                        <p:tgtEl>
                                          <p:spTgt spid="64819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48197">
                                            <p:txEl>
                                              <p:pRg st="6" end="6"/>
                                            </p:txEl>
                                          </p:spTgt>
                                        </p:tgtEl>
                                        <p:attrNameLst>
                                          <p:attrName>style.visibility</p:attrName>
                                        </p:attrNameLst>
                                      </p:cBhvr>
                                      <p:to>
                                        <p:strVal val="visible"/>
                                      </p:to>
                                    </p:set>
                                    <p:animEffect transition="in" filter="blinds(horizontal)">
                                      <p:cBhvr>
                                        <p:cTn id="42" dur="500"/>
                                        <p:tgtEl>
                                          <p:spTgt spid="64819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48202"/>
                                        </p:tgtEl>
                                        <p:attrNameLst>
                                          <p:attrName>style.visibility</p:attrName>
                                        </p:attrNameLst>
                                      </p:cBhvr>
                                      <p:to>
                                        <p:strVal val="visible"/>
                                      </p:to>
                                    </p:set>
                                    <p:animEffect transition="in" filter="blinds(horizontal)">
                                      <p:cBhvr>
                                        <p:cTn id="47" dur="500"/>
                                        <p:tgtEl>
                                          <p:spTgt spid="6482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48197">
                                            <p:txEl>
                                              <p:pRg st="7" end="7"/>
                                            </p:txEl>
                                          </p:spTgt>
                                        </p:tgtEl>
                                        <p:attrNameLst>
                                          <p:attrName>style.visibility</p:attrName>
                                        </p:attrNameLst>
                                      </p:cBhvr>
                                      <p:to>
                                        <p:strVal val="visible"/>
                                      </p:to>
                                    </p:set>
                                    <p:animEffect transition="in" filter="blinds(horizontal)">
                                      <p:cBhvr>
                                        <p:cTn id="52" dur="500"/>
                                        <p:tgtEl>
                                          <p:spTgt spid="648197">
                                            <p:txEl>
                                              <p:pRg st="7" end="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48198"/>
                                        </p:tgtEl>
                                        <p:attrNameLst>
                                          <p:attrName>style.visibility</p:attrName>
                                        </p:attrNameLst>
                                      </p:cBhvr>
                                      <p:to>
                                        <p:strVal val="visible"/>
                                      </p:to>
                                    </p:set>
                                    <p:animEffect transition="in" filter="blinds(horizontal)">
                                      <p:cBhvr>
                                        <p:cTn id="57" dur="500"/>
                                        <p:tgtEl>
                                          <p:spTgt spid="64819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648199"/>
                                        </p:tgtEl>
                                        <p:attrNameLst>
                                          <p:attrName>style.visibility</p:attrName>
                                        </p:attrNameLst>
                                      </p:cBhvr>
                                      <p:to>
                                        <p:strVal val="visible"/>
                                      </p:to>
                                    </p:set>
                                    <p:animEffect transition="in" filter="blinds(horizontal)">
                                      <p:cBhvr>
                                        <p:cTn id="62" dur="500"/>
                                        <p:tgtEl>
                                          <p:spTgt spid="64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00" grpId="0" animBg="1"/>
      <p:bldP spid="648201" grpId="0" animBg="1"/>
      <p:bldP spid="64820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noChangeArrowheads="1"/>
          </p:cNvSpPr>
          <p:nvPr>
            <p:ph type="title"/>
          </p:nvPr>
        </p:nvSpPr>
        <p:spPr/>
        <p:txBody>
          <a:bodyPr/>
          <a:lstStyle/>
          <a:p>
            <a:pPr eaLnBrk="1" hangingPunct="1"/>
            <a:r>
              <a:rPr lang="zh-CN" altLang="en-US" smtClean="0"/>
              <a:t>评价标准</a:t>
            </a:r>
            <a:endParaRPr lang="en-US" altLang="zh-CN" smtClean="0"/>
          </a:p>
        </p:txBody>
      </p:sp>
      <p:sp>
        <p:nvSpPr>
          <p:cNvPr id="63491" name="Rectangle 5"/>
          <p:cNvSpPr>
            <a:spLocks noGrp="1" noChangeArrowheads="1"/>
          </p:cNvSpPr>
          <p:nvPr>
            <p:ph type="body" sz="half" idx="1"/>
          </p:nvPr>
        </p:nvSpPr>
        <p:spPr>
          <a:xfrm>
            <a:off x="0" y="1346200"/>
            <a:ext cx="9144000" cy="5016500"/>
          </a:xfrm>
        </p:spPr>
        <p:txBody>
          <a:bodyPr/>
          <a:lstStyle/>
          <a:p>
            <a:pPr eaLnBrk="1" hangingPunct="1"/>
            <a:r>
              <a:rPr lang="zh-CN" altLang="en-US" sz="2800" b="1" smtClean="0"/>
              <a:t>用投资利润率评价经济效果，需要与根据历史数据及投资者意愿等确定的基准利润率作比较。</a:t>
            </a:r>
          </a:p>
          <a:p>
            <a:pPr lvl="1" eaLnBrk="1" hangingPunct="1"/>
            <a:r>
              <a:rPr lang="zh-CN" altLang="en-US" sz="2400" b="1" smtClean="0"/>
              <a:t>设基准利润率为</a:t>
            </a:r>
            <a:r>
              <a:rPr lang="en-US" altLang="zh-CN" sz="2400" b="1" i="1" smtClean="0"/>
              <a:t>Rc</a:t>
            </a:r>
          </a:p>
          <a:p>
            <a:pPr lvl="1" eaLnBrk="1" hangingPunct="1"/>
            <a:r>
              <a:rPr lang="zh-CN" altLang="en-US" sz="2400" b="1" smtClean="0"/>
              <a:t>若            ，项目可以考虑接受</a:t>
            </a:r>
          </a:p>
          <a:p>
            <a:pPr lvl="1" eaLnBrk="1" hangingPunct="1"/>
            <a:r>
              <a:rPr lang="zh-CN" altLang="en-US" sz="2400" b="1" smtClean="0"/>
              <a:t>若            ，项目应予以拒绝</a:t>
            </a:r>
          </a:p>
          <a:p>
            <a:pPr lvl="1" eaLnBrk="1" hangingPunct="1"/>
            <a:endParaRPr lang="zh-CN" altLang="en-US" sz="2400" b="1" smtClean="0"/>
          </a:p>
          <a:p>
            <a:pPr eaLnBrk="1" hangingPunct="1"/>
            <a:endParaRPr lang="zh-CN" altLang="en-US" b="1" smtClean="0"/>
          </a:p>
        </p:txBody>
      </p:sp>
      <p:graphicFrame>
        <p:nvGraphicFramePr>
          <p:cNvPr id="63492" name="Object 6"/>
          <p:cNvGraphicFramePr>
            <a:graphicFrameLocks noChangeAspect="1"/>
          </p:cNvGraphicFramePr>
          <p:nvPr/>
        </p:nvGraphicFramePr>
        <p:xfrm>
          <a:off x="1177925" y="2735263"/>
          <a:ext cx="701675" cy="373062"/>
        </p:xfrm>
        <a:graphic>
          <a:graphicData uri="http://schemas.openxmlformats.org/presentationml/2006/ole">
            <mc:AlternateContent xmlns:mc="http://schemas.openxmlformats.org/markup-compatibility/2006">
              <mc:Choice xmlns:v="urn:schemas-microsoft-com:vml" Requires="v">
                <p:oleObj spid="_x0000_s63529" name="公式" r:id="rId3" imgW="431613" imgH="228501" progId="Equation.3">
                  <p:embed/>
                </p:oleObj>
              </mc:Choice>
              <mc:Fallback>
                <p:oleObj name="公式" r:id="rId3" imgW="431613" imgH="22850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925" y="2735263"/>
                        <a:ext cx="70167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3" name="Object 7"/>
          <p:cNvGraphicFramePr>
            <a:graphicFrameLocks noChangeAspect="1"/>
          </p:cNvGraphicFramePr>
          <p:nvPr/>
        </p:nvGraphicFramePr>
        <p:xfrm>
          <a:off x="1177925" y="3192463"/>
          <a:ext cx="708025" cy="376237"/>
        </p:xfrm>
        <a:graphic>
          <a:graphicData uri="http://schemas.openxmlformats.org/presentationml/2006/ole">
            <mc:AlternateContent xmlns:mc="http://schemas.openxmlformats.org/markup-compatibility/2006">
              <mc:Choice xmlns:v="urn:schemas-microsoft-com:vml" Requires="v">
                <p:oleObj spid="_x0000_s63530" name="公式" r:id="rId5" imgW="431613" imgH="228501" progId="Equation.3">
                  <p:embed/>
                </p:oleObj>
              </mc:Choice>
              <mc:Fallback>
                <p:oleObj name="公式" r:id="rId5" imgW="431613" imgH="228501"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7925" y="3192463"/>
                        <a:ext cx="7080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title"/>
          </p:nvPr>
        </p:nvSpPr>
        <p:spPr/>
        <p:txBody>
          <a:bodyPr/>
          <a:lstStyle/>
          <a:p>
            <a:pPr eaLnBrk="1" hangingPunct="1"/>
            <a:r>
              <a:rPr lang="zh-CN" altLang="en-US" smtClean="0"/>
              <a:t>例子</a:t>
            </a:r>
          </a:p>
        </p:txBody>
      </p:sp>
      <p:sp>
        <p:nvSpPr>
          <p:cNvPr id="64515" name="Rectangle 5"/>
          <p:cNvSpPr>
            <a:spLocks noGrp="1" noChangeArrowheads="1"/>
          </p:cNvSpPr>
          <p:nvPr>
            <p:ph type="body" idx="1"/>
          </p:nvPr>
        </p:nvSpPr>
        <p:spPr/>
        <p:txBody>
          <a:bodyPr/>
          <a:lstStyle/>
          <a:p>
            <a:pPr eaLnBrk="1" hangingPunct="1"/>
            <a:r>
              <a:rPr lang="zh-CN" altLang="en-US" b="1" smtClean="0"/>
              <a:t>某建材集团修建一座建材厂，总投资需要</a:t>
            </a:r>
            <a:r>
              <a:rPr lang="en-US" altLang="zh-CN" b="1" smtClean="0"/>
              <a:t>10</a:t>
            </a:r>
            <a:r>
              <a:rPr lang="zh-CN" altLang="en-US" b="1" smtClean="0"/>
              <a:t>亿元，其资本结构为自有资金</a:t>
            </a:r>
            <a:r>
              <a:rPr lang="en-US" altLang="zh-CN" b="1" smtClean="0"/>
              <a:t>4</a:t>
            </a:r>
            <a:r>
              <a:rPr lang="zh-CN" altLang="en-US" b="1" smtClean="0"/>
              <a:t>亿元，银行贷款</a:t>
            </a:r>
            <a:r>
              <a:rPr lang="en-US" altLang="zh-CN" b="1" smtClean="0"/>
              <a:t>6</a:t>
            </a:r>
            <a:r>
              <a:rPr lang="zh-CN" altLang="en-US" b="1" smtClean="0"/>
              <a:t>亿元，年还本付息额为</a:t>
            </a:r>
            <a:r>
              <a:rPr lang="en-US" altLang="zh-CN" b="1" smtClean="0"/>
              <a:t>0.4</a:t>
            </a:r>
            <a:r>
              <a:rPr lang="zh-CN" altLang="en-US" b="1" smtClean="0"/>
              <a:t>亿元。该工厂投产后正常年份的年利润总额为</a:t>
            </a:r>
            <a:r>
              <a:rPr lang="en-US" altLang="zh-CN" b="1" smtClean="0"/>
              <a:t>1</a:t>
            </a:r>
            <a:r>
              <a:rPr lang="zh-CN" altLang="en-US" b="1" smtClean="0"/>
              <a:t>亿元。</a:t>
            </a:r>
          </a:p>
          <a:p>
            <a:pPr lvl="1" eaLnBrk="1" hangingPunct="1"/>
            <a:r>
              <a:rPr lang="zh-CN" altLang="en-US" b="1" smtClean="0"/>
              <a:t>该工厂的全部投资利润率和自有资金税前利润率分别是多少？</a:t>
            </a:r>
          </a:p>
          <a:p>
            <a:pPr lvl="1" eaLnBrk="1" hangingPunct="1"/>
            <a:r>
              <a:rPr lang="zh-CN" altLang="en-US" b="1" smtClean="0"/>
              <a:t>该集团用于投资修建建材厂的</a:t>
            </a:r>
            <a:r>
              <a:rPr lang="en-US" altLang="zh-CN" b="1" smtClean="0"/>
              <a:t>4</a:t>
            </a:r>
            <a:r>
              <a:rPr lang="zh-CN" altLang="en-US" b="1" smtClean="0"/>
              <a:t>亿元自有资金还可以约</a:t>
            </a:r>
            <a:r>
              <a:rPr lang="en-US" altLang="zh-CN" b="1" smtClean="0"/>
              <a:t>12%</a:t>
            </a:r>
            <a:r>
              <a:rPr lang="zh-CN" altLang="en-US" b="1" smtClean="0"/>
              <a:t>的投资利润率投资某房地产项目。问该集团应该如何选择？</a:t>
            </a:r>
          </a:p>
          <a:p>
            <a:pPr lvl="1" eaLnBrk="1" hangingPunct="1">
              <a:buFontTx/>
              <a:buNone/>
            </a:pPr>
            <a:endParaRPr lang="en-US" altLang="zh-CN" smtClean="0"/>
          </a:p>
          <a:p>
            <a:pPr lvl="1" eaLnBrk="1" hangingPunct="1"/>
            <a:endParaRPr lang="zh-CN" altLang="en-US" b="1" smtClean="0"/>
          </a:p>
          <a:p>
            <a:pPr lvl="1" eaLnBrk="1" hangingPunct="1"/>
            <a:endParaRPr lang="zh-CN" altLang="en-US" b="1" smtClean="0"/>
          </a:p>
          <a:p>
            <a:pPr lvl="1" eaLnBrk="1" hangingPunct="1">
              <a:buFontTx/>
              <a:buNone/>
            </a:pPr>
            <a:endParaRPr lang="en-US" altLang="zh-CN" sz="3200" smtClean="0">
              <a:solidFill>
                <a:srgbClr val="FF0000"/>
              </a:solidFill>
            </a:endParaRPr>
          </a:p>
        </p:txBody>
      </p:sp>
      <p:sp>
        <p:nvSpPr>
          <p:cNvPr id="64516" name="Rectangle 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p:txBody>
          <a:bodyPr/>
          <a:lstStyle/>
          <a:p>
            <a:pPr eaLnBrk="1" hangingPunct="1"/>
            <a:r>
              <a:rPr lang="en-US" altLang="zh-CN" smtClean="0"/>
              <a:t>Solution:</a:t>
            </a:r>
          </a:p>
        </p:txBody>
      </p:sp>
      <p:graphicFrame>
        <p:nvGraphicFramePr>
          <p:cNvPr id="651269" name="Object 5"/>
          <p:cNvGraphicFramePr>
            <a:graphicFrameLocks noChangeAspect="1"/>
          </p:cNvGraphicFramePr>
          <p:nvPr/>
        </p:nvGraphicFramePr>
        <p:xfrm>
          <a:off x="781050" y="1517650"/>
          <a:ext cx="5821363" cy="996950"/>
        </p:xfrm>
        <a:graphic>
          <a:graphicData uri="http://schemas.openxmlformats.org/presentationml/2006/ole">
            <mc:AlternateContent xmlns:mc="http://schemas.openxmlformats.org/markup-compatibility/2006">
              <mc:Choice xmlns:v="urn:schemas-microsoft-com:vml" Requires="v">
                <p:oleObj spid="_x0000_s65577" name="Equation" r:id="rId3" imgW="2298700" imgH="393700" progId="Equation.DSMT4">
                  <p:embed/>
                </p:oleObj>
              </mc:Choice>
              <mc:Fallback>
                <p:oleObj name="Equation" r:id="rId3" imgW="2298700" imgH="393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50" y="1517650"/>
                        <a:ext cx="5821363"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1270" name="Object 6"/>
          <p:cNvGraphicFramePr>
            <a:graphicFrameLocks noChangeAspect="1"/>
          </p:cNvGraphicFramePr>
          <p:nvPr/>
        </p:nvGraphicFramePr>
        <p:xfrm>
          <a:off x="781050" y="3079750"/>
          <a:ext cx="5243513" cy="933450"/>
        </p:xfrm>
        <a:graphic>
          <a:graphicData uri="http://schemas.openxmlformats.org/presentationml/2006/ole">
            <mc:AlternateContent xmlns:mc="http://schemas.openxmlformats.org/markup-compatibility/2006">
              <mc:Choice xmlns:v="urn:schemas-microsoft-com:vml" Requires="v">
                <p:oleObj spid="_x0000_s65578" name="公式" r:id="rId5" imgW="2209800" imgH="393700" progId="Equation.3">
                  <p:embed/>
                </p:oleObj>
              </mc:Choice>
              <mc:Fallback>
                <p:oleObj name="公式" r:id="rId5" imgW="22098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050" y="3079750"/>
                        <a:ext cx="524351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1" name="Rectangle 7"/>
          <p:cNvSpPr>
            <a:spLocks noChangeArrowheads="1"/>
          </p:cNvSpPr>
          <p:nvPr/>
        </p:nvSpPr>
        <p:spPr bwMode="auto">
          <a:xfrm>
            <a:off x="282575" y="4356100"/>
            <a:ext cx="5191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lvl="1" eaLnBrk="1" hangingPunct="1">
              <a:buFont typeface="Arial" panose="020B0604020202020204" pitchFamily="34" charset="0"/>
              <a:buNone/>
            </a:pPr>
            <a:r>
              <a:rPr lang="zh-CN" altLang="en-US" sz="3200" b="1">
                <a:solidFill>
                  <a:srgbClr val="FF0000"/>
                </a:solidFill>
                <a:ea typeface="宋体" panose="02010600030101010101" pitchFamily="2" charset="-122"/>
              </a:rPr>
              <a:t>应该选择投资建材厂</a:t>
            </a:r>
            <a:endParaRPr lang="en-US" altLang="zh-CN" sz="3200" b="1">
              <a:solidFill>
                <a:srgbClr val="FF0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1269"/>
                                        </p:tgtEl>
                                        <p:attrNameLst>
                                          <p:attrName>style.visibility</p:attrName>
                                        </p:attrNameLst>
                                      </p:cBhvr>
                                      <p:to>
                                        <p:strVal val="visible"/>
                                      </p:to>
                                    </p:set>
                                    <p:animEffect transition="in" filter="blinds(horizontal)">
                                      <p:cBhvr>
                                        <p:cTn id="7" dur="500"/>
                                        <p:tgtEl>
                                          <p:spTgt spid="651269"/>
                                        </p:tgtEl>
                                      </p:cBhvr>
                                    </p:animEffect>
                                  </p:childTnLst>
                                </p:cTn>
                              </p:par>
                              <p:par>
                                <p:cTn id="8" presetID="3" presetClass="entr" presetSubtype="10" fill="hold" nodeType="withEffect">
                                  <p:stCondLst>
                                    <p:cond delay="0"/>
                                  </p:stCondLst>
                                  <p:childTnLst>
                                    <p:set>
                                      <p:cBhvr>
                                        <p:cTn id="9" dur="1" fill="hold">
                                          <p:stCondLst>
                                            <p:cond delay="0"/>
                                          </p:stCondLst>
                                        </p:cTn>
                                        <p:tgtEl>
                                          <p:spTgt spid="651270"/>
                                        </p:tgtEl>
                                        <p:attrNameLst>
                                          <p:attrName>style.visibility</p:attrName>
                                        </p:attrNameLst>
                                      </p:cBhvr>
                                      <p:to>
                                        <p:strVal val="visible"/>
                                      </p:to>
                                    </p:set>
                                    <p:animEffect transition="in" filter="blinds(horizontal)">
                                      <p:cBhvr>
                                        <p:cTn id="10" dur="500"/>
                                        <p:tgtEl>
                                          <p:spTgt spid="65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p:txBody>
          <a:bodyPr/>
          <a:lstStyle/>
          <a:p>
            <a:pPr eaLnBrk="1" hangingPunct="1"/>
            <a:r>
              <a:rPr lang="zh-CN" altLang="en-US" smtClean="0"/>
              <a:t>投资利润率（静态评价指标）</a:t>
            </a:r>
          </a:p>
        </p:txBody>
      </p:sp>
      <p:sp>
        <p:nvSpPr>
          <p:cNvPr id="66563" name="Rectangle 5"/>
          <p:cNvSpPr>
            <a:spLocks noGrp="1" noChangeArrowheads="1"/>
          </p:cNvSpPr>
          <p:nvPr>
            <p:ph type="body" idx="1"/>
          </p:nvPr>
        </p:nvSpPr>
        <p:spPr/>
        <p:txBody>
          <a:bodyPr/>
          <a:lstStyle/>
          <a:p>
            <a:pPr eaLnBrk="1" hangingPunct="1"/>
            <a:r>
              <a:rPr lang="zh-CN" altLang="en-US" b="1" smtClean="0"/>
              <a:t>优点</a:t>
            </a:r>
          </a:p>
          <a:p>
            <a:pPr lvl="1" eaLnBrk="1" hangingPunct="1"/>
            <a:r>
              <a:rPr lang="zh-CN" altLang="en-US" b="1" smtClean="0"/>
              <a:t>经济意义明确、直观，计算简便</a:t>
            </a:r>
          </a:p>
          <a:p>
            <a:pPr eaLnBrk="1" hangingPunct="1"/>
            <a:r>
              <a:rPr lang="zh-CN" altLang="en-US" b="1" smtClean="0"/>
              <a:t>不足</a:t>
            </a:r>
          </a:p>
          <a:p>
            <a:pPr lvl="1" eaLnBrk="1" hangingPunct="1"/>
            <a:r>
              <a:rPr lang="zh-CN" altLang="en-US" b="1" smtClean="0"/>
              <a:t>没有考虑资金的时间价值，正常生产年份的选择比较困难</a:t>
            </a:r>
            <a:endParaRPr lang="en-US" altLang="zh-CN" b="1" smtClean="0"/>
          </a:p>
          <a:p>
            <a:pPr eaLnBrk="1" hangingPunct="1"/>
            <a:r>
              <a:rPr lang="zh-CN" altLang="en-US" b="1" smtClean="0"/>
              <a:t>适用情况</a:t>
            </a:r>
            <a:endParaRPr lang="en-US" altLang="zh-CN" b="1" smtClean="0"/>
          </a:p>
          <a:p>
            <a:pPr lvl="1" eaLnBrk="1" hangingPunct="1"/>
            <a:r>
              <a:rPr lang="zh-CN" altLang="en-US" b="1" smtClean="0"/>
              <a:t>经营期长，每年的利润比较稳定</a:t>
            </a:r>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4" descr="D:\研究生\工程经济学助教\ppt\沪杭高铁.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1562100"/>
            <a:ext cx="3563937"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descr="D:\研究生\工程经济学助教\ppt\沪杭高铁线路.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417638"/>
            <a:ext cx="3024188"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Rectangle 8"/>
          <p:cNvSpPr>
            <a:spLocks noRot="1" noChangeArrowheads="1"/>
          </p:cNvSpPr>
          <p:nvPr/>
        </p:nvSpPr>
        <p:spPr bwMode="auto">
          <a:xfrm>
            <a:off x="250825" y="188913"/>
            <a:ext cx="8423275"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buFontTx/>
              <a:buNone/>
            </a:pPr>
            <a:r>
              <a:rPr lang="zh-CN" altLang="en-US" sz="4800" b="1">
                <a:solidFill>
                  <a:srgbClr val="660033"/>
                </a:solidFill>
              </a:rPr>
              <a:t>沪杭高铁</a:t>
            </a:r>
            <a:endParaRPr lang="en-US" altLang="zh-CN" sz="4800" b="1">
              <a:solidFill>
                <a:srgbClr val="660033"/>
              </a:solidFill>
            </a:endParaRPr>
          </a:p>
        </p:txBody>
      </p:sp>
      <p:sp>
        <p:nvSpPr>
          <p:cNvPr id="4" name="Rectangle 9"/>
          <p:cNvSpPr txBox="1">
            <a:spLocks noRot="1" noChangeArrowheads="1"/>
          </p:cNvSpPr>
          <p:nvPr/>
        </p:nvSpPr>
        <p:spPr bwMode="auto">
          <a:xfrm>
            <a:off x="250825" y="1704975"/>
            <a:ext cx="44656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工程动工 </a:t>
            </a:r>
            <a:r>
              <a:rPr lang="en-US" altLang="zh-CN" sz="2800">
                <a:latin typeface="华文新魏" panose="02010800040101010101" pitchFamily="2" charset="-122"/>
                <a:ea typeface="华文新魏" panose="02010800040101010101" pitchFamily="2" charset="-122"/>
              </a:rPr>
              <a:t>2009</a:t>
            </a:r>
            <a:r>
              <a:rPr lang="zh-CN" altLang="en-US" sz="2800">
                <a:latin typeface="华文新魏" panose="02010800040101010101" pitchFamily="2" charset="-122"/>
                <a:ea typeface="华文新魏" panose="02010800040101010101" pitchFamily="2" charset="-122"/>
              </a:rPr>
              <a:t>年</a:t>
            </a:r>
            <a:r>
              <a:rPr lang="en-US" altLang="zh-CN" sz="2800">
                <a:latin typeface="华文新魏" panose="02010800040101010101" pitchFamily="2" charset="-122"/>
                <a:ea typeface="华文新魏" panose="02010800040101010101" pitchFamily="2" charset="-122"/>
              </a:rPr>
              <a:t>2</a:t>
            </a:r>
            <a:r>
              <a:rPr lang="zh-CN" altLang="en-US" sz="2800">
                <a:latin typeface="华文新魏" panose="02010800040101010101" pitchFamily="2" charset="-122"/>
                <a:ea typeface="华文新魏" panose="02010800040101010101" pitchFamily="2" charset="-122"/>
              </a:rPr>
              <a:t>月</a:t>
            </a:r>
            <a:r>
              <a:rPr lang="en-US" altLang="zh-CN" sz="2800">
                <a:latin typeface="华文新魏" panose="02010800040101010101" pitchFamily="2" charset="-122"/>
                <a:ea typeface="华文新魏" panose="02010800040101010101" pitchFamily="2" charset="-122"/>
              </a:rPr>
              <a:t>26</a:t>
            </a:r>
            <a:r>
              <a:rPr lang="zh-CN" altLang="en-US" sz="2800">
                <a:latin typeface="华文新魏" panose="02010800040101010101" pitchFamily="2" charset="-122"/>
                <a:ea typeface="华文新魏" panose="02010800040101010101" pitchFamily="2" charset="-122"/>
              </a:rPr>
              <a:t>日</a:t>
            </a:r>
            <a:endParaRPr lang="en-US" altLang="zh-CN" sz="2800">
              <a:latin typeface="华文新魏" panose="02010800040101010101" pitchFamily="2" charset="-122"/>
              <a:ea typeface="华文新魏" panose="02010800040101010101" pitchFamily="2" charset="-122"/>
            </a:endParaRPr>
          </a:p>
        </p:txBody>
      </p:sp>
      <p:sp>
        <p:nvSpPr>
          <p:cNvPr id="8" name="矩形 7"/>
          <p:cNvSpPr>
            <a:spLocks noChangeArrowheads="1"/>
          </p:cNvSpPr>
          <p:nvPr/>
        </p:nvSpPr>
        <p:spPr bwMode="auto">
          <a:xfrm>
            <a:off x="250825" y="2276475"/>
            <a:ext cx="511333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正线全长</a:t>
            </a:r>
            <a:r>
              <a:rPr lang="en-US" altLang="zh-CN" sz="2800">
                <a:latin typeface="华文新魏" panose="02010800040101010101" pitchFamily="2" charset="-122"/>
                <a:ea typeface="华文新魏" panose="02010800040101010101" pitchFamily="2" charset="-122"/>
              </a:rPr>
              <a:t>160</a:t>
            </a:r>
            <a:r>
              <a:rPr lang="zh-CN" altLang="en-US" sz="2800">
                <a:latin typeface="华文新魏" panose="02010800040101010101" pitchFamily="2" charset="-122"/>
                <a:ea typeface="华文新魏" panose="02010800040101010101" pitchFamily="2" charset="-122"/>
              </a:rPr>
              <a:t>多公里，车站</a:t>
            </a:r>
            <a:r>
              <a:rPr lang="en-US" altLang="zh-CN" sz="2800">
                <a:latin typeface="华文新魏" panose="02010800040101010101" pitchFamily="2" charset="-122"/>
                <a:ea typeface="华文新魏" panose="02010800040101010101" pitchFamily="2" charset="-122"/>
              </a:rPr>
              <a:t>9</a:t>
            </a:r>
            <a:r>
              <a:rPr lang="zh-CN" altLang="en-US" sz="2800">
                <a:latin typeface="华文新魏" panose="02010800040101010101" pitchFamily="2" charset="-122"/>
                <a:ea typeface="华文新魏" panose="02010800040101010101" pitchFamily="2" charset="-122"/>
              </a:rPr>
              <a:t>座</a:t>
            </a:r>
            <a:endParaRPr lang="en-US" altLang="zh-CN" sz="2800">
              <a:latin typeface="华文新魏" panose="02010800040101010101" pitchFamily="2" charset="-122"/>
              <a:ea typeface="华文新魏" panose="02010800040101010101" pitchFamily="2" charset="-122"/>
            </a:endParaRPr>
          </a:p>
        </p:txBody>
      </p:sp>
      <p:sp>
        <p:nvSpPr>
          <p:cNvPr id="9" name="矩形 8"/>
          <p:cNvSpPr>
            <a:spLocks noChangeArrowheads="1"/>
          </p:cNvSpPr>
          <p:nvPr/>
        </p:nvSpPr>
        <p:spPr bwMode="auto">
          <a:xfrm>
            <a:off x="250825" y="4652963"/>
            <a:ext cx="5761038"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en-US" altLang="zh-CN" sz="2800">
                <a:latin typeface="华文新魏" panose="02010800040101010101" pitchFamily="2" charset="-122"/>
                <a:ea typeface="华文新魏" panose="02010800040101010101" pitchFamily="2" charset="-122"/>
              </a:rPr>
              <a:t>87</a:t>
            </a:r>
            <a:r>
              <a:rPr lang="zh-CN" altLang="en-US" sz="2800">
                <a:latin typeface="华文新魏" panose="02010800040101010101" pitchFamily="2" charset="-122"/>
                <a:ea typeface="华文新魏" panose="02010800040101010101" pitchFamily="2" charset="-122"/>
              </a:rPr>
              <a:t>％为桥梁工程“以桥代路” </a:t>
            </a:r>
          </a:p>
        </p:txBody>
      </p:sp>
      <p:sp>
        <p:nvSpPr>
          <p:cNvPr id="10" name="矩形 9"/>
          <p:cNvSpPr>
            <a:spLocks noChangeArrowheads="1"/>
          </p:cNvSpPr>
          <p:nvPr/>
        </p:nvSpPr>
        <p:spPr bwMode="auto">
          <a:xfrm>
            <a:off x="250825" y="2852738"/>
            <a:ext cx="4572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设计时速为</a:t>
            </a:r>
            <a:r>
              <a:rPr lang="en-US" altLang="zh-CN" sz="2800">
                <a:latin typeface="华文新魏" panose="02010800040101010101" pitchFamily="2" charset="-122"/>
                <a:ea typeface="华文新魏" panose="02010800040101010101" pitchFamily="2" charset="-122"/>
              </a:rPr>
              <a:t>350</a:t>
            </a:r>
            <a:r>
              <a:rPr lang="zh-CN" altLang="en-US" sz="2800">
                <a:latin typeface="华文新魏" panose="02010800040101010101" pitchFamily="2" charset="-122"/>
                <a:ea typeface="华文新魏" panose="02010800040101010101" pitchFamily="2" charset="-122"/>
              </a:rPr>
              <a:t>公里</a:t>
            </a:r>
          </a:p>
        </p:txBody>
      </p:sp>
      <p:sp>
        <p:nvSpPr>
          <p:cNvPr id="12" name="矩形 11"/>
          <p:cNvSpPr>
            <a:spLocks noChangeArrowheads="1"/>
          </p:cNvSpPr>
          <p:nvPr/>
        </p:nvSpPr>
        <p:spPr bwMode="auto">
          <a:xfrm>
            <a:off x="250825" y="3429000"/>
            <a:ext cx="4572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沪至杭的时间：</a:t>
            </a:r>
            <a:r>
              <a:rPr lang="en-US" altLang="zh-CN" sz="2800">
                <a:latin typeface="华文新魏" panose="02010800040101010101" pitchFamily="2" charset="-122"/>
                <a:ea typeface="华文新魏" panose="02010800040101010101" pitchFamily="2" charset="-122"/>
              </a:rPr>
              <a:t>38</a:t>
            </a:r>
            <a:r>
              <a:rPr lang="zh-CN" altLang="en-US" sz="2800">
                <a:latin typeface="华文新魏" panose="02010800040101010101" pitchFamily="2" charset="-122"/>
                <a:ea typeface="华文新魏" panose="02010800040101010101" pitchFamily="2" charset="-122"/>
              </a:rPr>
              <a:t>分钟</a:t>
            </a:r>
          </a:p>
        </p:txBody>
      </p:sp>
      <p:sp>
        <p:nvSpPr>
          <p:cNvPr id="16" name="矩形 15"/>
          <p:cNvSpPr>
            <a:spLocks noChangeArrowheads="1"/>
          </p:cNvSpPr>
          <p:nvPr/>
        </p:nvSpPr>
        <p:spPr bwMode="auto">
          <a:xfrm>
            <a:off x="250825" y="4005263"/>
            <a:ext cx="86423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规划年输送旅客为单向</a:t>
            </a:r>
            <a:r>
              <a:rPr lang="en-US" altLang="zh-CN" sz="2800">
                <a:latin typeface="华文新魏" panose="02010800040101010101" pitchFamily="2" charset="-122"/>
                <a:ea typeface="华文新魏" panose="02010800040101010101" pitchFamily="2" charset="-122"/>
              </a:rPr>
              <a:t>8000</a:t>
            </a:r>
            <a:r>
              <a:rPr lang="zh-CN" altLang="en-US" sz="2800">
                <a:latin typeface="华文新魏" panose="02010800040101010101" pitchFamily="2" charset="-122"/>
                <a:ea typeface="华文新魏" panose="02010800040101010101" pitchFamily="2" charset="-122"/>
              </a:rPr>
              <a:t>万人 </a:t>
            </a:r>
          </a:p>
        </p:txBody>
      </p:sp>
      <p:sp>
        <p:nvSpPr>
          <p:cNvPr id="17" name="矩形 16"/>
          <p:cNvSpPr>
            <a:spLocks noChangeArrowheads="1"/>
          </p:cNvSpPr>
          <p:nvPr/>
        </p:nvSpPr>
        <p:spPr bwMode="auto">
          <a:xfrm>
            <a:off x="250825" y="5229225"/>
            <a:ext cx="86423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新的轨道施工技术，弯道不用减速。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0" grpId="0"/>
      <p:bldP spid="12" grpId="0"/>
      <p:bldP spid="16" grpId="0"/>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body" idx="1"/>
          </p:nvPr>
        </p:nvSpPr>
        <p:spPr/>
        <p:txBody>
          <a:bodyPr/>
          <a:lstStyle/>
          <a:p>
            <a:pPr eaLnBrk="1" hangingPunct="1">
              <a:lnSpc>
                <a:spcPct val="90000"/>
              </a:lnSpc>
            </a:pPr>
            <a:r>
              <a:rPr lang="zh-CN" altLang="en-US" sz="3600" b="1" smtClean="0">
                <a:solidFill>
                  <a:srgbClr val="660033"/>
                </a:solidFill>
                <a:hlinkClick r:id="rId2"/>
              </a:rPr>
              <a:t>中国铁建</a:t>
            </a:r>
            <a:r>
              <a:rPr lang="zh-CN" altLang="en-US" sz="3600" b="1" smtClean="0">
                <a:solidFill>
                  <a:srgbClr val="660033"/>
                </a:solidFill>
              </a:rPr>
              <a:t>承建</a:t>
            </a:r>
          </a:p>
          <a:p>
            <a:pPr eaLnBrk="1" hangingPunct="1">
              <a:lnSpc>
                <a:spcPct val="90000"/>
              </a:lnSpc>
            </a:pPr>
            <a:r>
              <a:rPr lang="zh-CN" altLang="en-US" b="1" smtClean="0"/>
              <a:t>工期要求为：</a:t>
            </a:r>
            <a:r>
              <a:rPr lang="en-US" altLang="zh-CN" b="1" smtClean="0"/>
              <a:t>2010</a:t>
            </a:r>
            <a:r>
              <a:rPr lang="zh-CN" altLang="en-US" b="1" smtClean="0"/>
              <a:t>年</a:t>
            </a:r>
            <a:r>
              <a:rPr lang="en-US" altLang="zh-CN" b="1" smtClean="0"/>
              <a:t>11</a:t>
            </a:r>
            <a:r>
              <a:rPr lang="zh-CN" altLang="en-US" b="1" smtClean="0"/>
              <a:t>月</a:t>
            </a:r>
            <a:r>
              <a:rPr lang="en-US" altLang="zh-CN" b="1" smtClean="0"/>
              <a:t>13</a:t>
            </a:r>
            <a:r>
              <a:rPr lang="zh-CN" altLang="en-US" b="1" smtClean="0"/>
              <a:t>日开通运营，达到</a:t>
            </a:r>
            <a:r>
              <a:rPr lang="en-US" altLang="zh-CN" b="1" smtClean="0"/>
              <a:t>35%</a:t>
            </a:r>
            <a:r>
              <a:rPr lang="zh-CN" altLang="en-US" b="1" smtClean="0"/>
              <a:t>运能；</a:t>
            </a:r>
            <a:r>
              <a:rPr lang="en-US" altLang="zh-CN" b="1" smtClean="0"/>
              <a:t>2011</a:t>
            </a:r>
            <a:r>
              <a:rPr lang="zh-CN" altLang="en-US" b="1" smtClean="0"/>
              <a:t>年</a:t>
            </a:r>
            <a:r>
              <a:rPr lang="en-US" altLang="zh-CN" b="1" smtClean="0"/>
              <a:t>5</a:t>
            </a:r>
            <a:r>
              <a:rPr lang="zh-CN" altLang="en-US" b="1" smtClean="0"/>
              <a:t>月完成所有调试，达到</a:t>
            </a:r>
            <a:r>
              <a:rPr lang="en-US" altLang="zh-CN" b="1" smtClean="0"/>
              <a:t>100%</a:t>
            </a:r>
            <a:r>
              <a:rPr lang="zh-CN" altLang="en-US" b="1" smtClean="0"/>
              <a:t>运能。</a:t>
            </a:r>
          </a:p>
          <a:p>
            <a:pPr eaLnBrk="1" hangingPunct="1">
              <a:lnSpc>
                <a:spcPct val="90000"/>
              </a:lnSpc>
            </a:pPr>
            <a:r>
              <a:rPr lang="zh-CN" altLang="en-US" b="1" smtClean="0"/>
              <a:t>该项目合同总金额约为</a:t>
            </a:r>
            <a:r>
              <a:rPr lang="en-US" altLang="zh-CN" b="1" smtClean="0"/>
              <a:t>17.7</a:t>
            </a:r>
            <a:r>
              <a:rPr lang="zh-CN" altLang="en-US" b="1" smtClean="0"/>
              <a:t>亿美元，按</a:t>
            </a:r>
            <a:r>
              <a:rPr lang="en-US" altLang="zh-CN" b="1" smtClean="0"/>
              <a:t>2010</a:t>
            </a:r>
            <a:r>
              <a:rPr lang="zh-CN" altLang="en-US" b="1" smtClean="0"/>
              <a:t>年</a:t>
            </a:r>
            <a:r>
              <a:rPr lang="en-US" altLang="zh-CN" b="1" smtClean="0"/>
              <a:t>9</a:t>
            </a:r>
            <a:r>
              <a:rPr lang="zh-CN" altLang="en-US" b="1" smtClean="0"/>
              <a:t>月</a:t>
            </a:r>
            <a:r>
              <a:rPr lang="en-US" altLang="zh-CN" b="1" smtClean="0"/>
              <a:t>30</a:t>
            </a:r>
            <a:r>
              <a:rPr lang="zh-CN" altLang="en-US" b="1" smtClean="0"/>
              <a:t>日的汇率，折合人民币</a:t>
            </a:r>
            <a:r>
              <a:rPr lang="en-US" altLang="zh-CN" b="1" smtClean="0"/>
              <a:t>120.70</a:t>
            </a:r>
            <a:r>
              <a:rPr lang="zh-CN" altLang="en-US" b="1" smtClean="0"/>
              <a:t>亿元。</a:t>
            </a:r>
          </a:p>
          <a:p>
            <a:pPr eaLnBrk="1" hangingPunct="1">
              <a:lnSpc>
                <a:spcPct val="90000"/>
              </a:lnSpc>
            </a:pPr>
            <a:r>
              <a:rPr lang="zh-CN" altLang="en-US" b="1" smtClean="0"/>
              <a:t>预计总成本</a:t>
            </a:r>
            <a:r>
              <a:rPr lang="en-US" altLang="zh-CN" b="1" smtClean="0"/>
              <a:t>160.69</a:t>
            </a:r>
            <a:r>
              <a:rPr lang="zh-CN" altLang="en-US" b="1" smtClean="0"/>
              <a:t>亿元，两者相减，合同损失</a:t>
            </a:r>
            <a:r>
              <a:rPr lang="en-US" altLang="zh-CN" b="1" smtClean="0"/>
              <a:t>39.99</a:t>
            </a:r>
            <a:r>
              <a:rPr lang="zh-CN" altLang="en-US" b="1" smtClean="0"/>
              <a:t>亿元。加上财务费用</a:t>
            </a:r>
            <a:r>
              <a:rPr lang="en-US" altLang="zh-CN" b="1" smtClean="0"/>
              <a:t>1.54</a:t>
            </a:r>
            <a:r>
              <a:rPr lang="zh-CN" altLang="en-US" b="1" smtClean="0"/>
              <a:t>亿元，该项目总的亏损预计为</a:t>
            </a:r>
            <a:r>
              <a:rPr lang="en-US" altLang="zh-CN" b="1" smtClean="0"/>
              <a:t>41.53</a:t>
            </a:r>
            <a:r>
              <a:rPr lang="zh-CN" altLang="en-US" b="1" smtClean="0"/>
              <a:t>亿元。</a:t>
            </a:r>
          </a:p>
        </p:txBody>
      </p:sp>
      <p:sp>
        <p:nvSpPr>
          <p:cNvPr id="68611" name="Rectangle 8"/>
          <p:cNvSpPr>
            <a:spLocks noRot="1" noChangeArrowheads="1"/>
          </p:cNvSpPr>
          <p:nvPr/>
        </p:nvSpPr>
        <p:spPr bwMode="auto">
          <a:xfrm>
            <a:off x="1447800" y="188913"/>
            <a:ext cx="6591300"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dist" eaLnBrk="1" hangingPunct="1">
              <a:spcBef>
                <a:spcPct val="0"/>
              </a:spcBef>
              <a:buFontTx/>
              <a:buNone/>
            </a:pPr>
            <a:r>
              <a:rPr lang="zh-CN" altLang="en-US" sz="3600" b="1">
                <a:solidFill>
                  <a:srgbClr val="660033"/>
                </a:solidFill>
              </a:rPr>
              <a:t>沙特麦加萨法至穆戈达莎轻轨</a:t>
            </a:r>
            <a:endParaRPr lang="en-US" altLang="zh-CN" sz="3600" b="1">
              <a:solidFill>
                <a:srgbClr val="990000"/>
              </a:solidFill>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Grp="1" noChangeArrowheads="1"/>
          </p:cNvSpPr>
          <p:nvPr>
            <p:ph type="title"/>
          </p:nvPr>
        </p:nvSpPr>
        <p:spPr/>
        <p:txBody>
          <a:bodyPr/>
          <a:lstStyle/>
          <a:p>
            <a:pPr eaLnBrk="1" hangingPunct="1"/>
            <a:r>
              <a:rPr lang="zh-CN" altLang="en-US" smtClean="0"/>
              <a:t>评价指标使用习惯</a:t>
            </a:r>
          </a:p>
        </p:txBody>
      </p:sp>
      <p:sp>
        <p:nvSpPr>
          <p:cNvPr id="69635" name="Rectangle 5"/>
          <p:cNvSpPr>
            <a:spLocks noGrp="1" noChangeArrowheads="1"/>
          </p:cNvSpPr>
          <p:nvPr>
            <p:ph type="body" idx="1"/>
          </p:nvPr>
        </p:nvSpPr>
        <p:spPr/>
        <p:txBody>
          <a:bodyPr/>
          <a:lstStyle/>
          <a:p>
            <a:pPr eaLnBrk="1" hangingPunct="1"/>
            <a:r>
              <a:rPr lang="zh-CN" altLang="en-US" smtClean="0"/>
              <a:t>世界银行</a:t>
            </a:r>
            <a:r>
              <a:rPr lang="en-US" altLang="zh-CN" smtClean="0"/>
              <a:t>: IRR</a:t>
            </a:r>
          </a:p>
          <a:p>
            <a:pPr eaLnBrk="1" hangingPunct="1"/>
            <a:r>
              <a:rPr lang="zh-CN" altLang="en-US" smtClean="0"/>
              <a:t>美国国际开发暑</a:t>
            </a:r>
            <a:r>
              <a:rPr lang="en-US" altLang="zh-CN" smtClean="0"/>
              <a:t>: NPV</a:t>
            </a:r>
          </a:p>
          <a:p>
            <a:pPr eaLnBrk="1" hangingPunct="1"/>
            <a:r>
              <a:rPr lang="zh-CN" altLang="en-US" smtClean="0"/>
              <a:t>发达国家共用项目</a:t>
            </a:r>
            <a:r>
              <a:rPr lang="en-US" altLang="zh-CN" smtClean="0"/>
              <a:t>: B/C</a:t>
            </a:r>
          </a:p>
          <a:p>
            <a:pPr eaLnBrk="1" hangingPunct="1"/>
            <a:r>
              <a:rPr lang="zh-CN" altLang="en-US" smtClean="0"/>
              <a:t>中国</a:t>
            </a:r>
            <a:r>
              <a:rPr lang="en-US" altLang="zh-CN" smtClean="0"/>
              <a:t>: IRR, </a:t>
            </a:r>
            <a:r>
              <a:rPr lang="zh-CN" altLang="en-US" smtClean="0"/>
              <a:t>静态回收期</a:t>
            </a:r>
            <a:endParaRPr lang="en-US" altLang="zh-CN" smtClean="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a:spLocks noGrp="1" noChangeArrowheads="1"/>
          </p:cNvSpPr>
          <p:nvPr>
            <p:ph type="title"/>
          </p:nvPr>
        </p:nvSpPr>
        <p:spPr/>
        <p:txBody>
          <a:bodyPr/>
          <a:lstStyle/>
          <a:p>
            <a:pPr eaLnBrk="1" hangingPunct="1"/>
            <a:r>
              <a:rPr lang="zh-CN" altLang="en-US" smtClean="0"/>
              <a:t>小结：经济评价指标类型</a:t>
            </a:r>
          </a:p>
        </p:txBody>
      </p:sp>
      <p:sp>
        <p:nvSpPr>
          <p:cNvPr id="70659" name="Rectangle 5"/>
          <p:cNvSpPr>
            <a:spLocks noGrp="1" noChangeArrowheads="1"/>
          </p:cNvSpPr>
          <p:nvPr>
            <p:ph type="body" idx="1"/>
          </p:nvPr>
        </p:nvSpPr>
        <p:spPr/>
        <p:txBody>
          <a:bodyPr/>
          <a:lstStyle/>
          <a:p>
            <a:pPr eaLnBrk="1" hangingPunct="1"/>
            <a:r>
              <a:rPr lang="zh-CN" altLang="en-US" sz="3600" b="1" smtClean="0">
                <a:solidFill>
                  <a:srgbClr val="660033"/>
                </a:solidFill>
              </a:rPr>
              <a:t>价值型</a:t>
            </a:r>
            <a:endParaRPr lang="zh-CN" altLang="en-US" sz="3600" b="1" smtClean="0"/>
          </a:p>
          <a:p>
            <a:pPr eaLnBrk="1" hangingPunct="1"/>
            <a:r>
              <a:rPr lang="zh-CN" altLang="en-US" sz="3600" b="1" smtClean="0">
                <a:solidFill>
                  <a:srgbClr val="660033"/>
                </a:solidFill>
              </a:rPr>
              <a:t>效率型</a:t>
            </a:r>
            <a:endParaRPr lang="zh-CN" altLang="en-US" sz="3600" b="1" smtClean="0"/>
          </a:p>
          <a:p>
            <a:pPr eaLnBrk="1" hangingPunct="1"/>
            <a:r>
              <a:rPr lang="zh-CN" altLang="en-US" sz="3600" b="1" smtClean="0">
                <a:solidFill>
                  <a:srgbClr val="660033"/>
                </a:solidFill>
              </a:rPr>
              <a:t>时间型</a:t>
            </a:r>
            <a:endParaRPr lang="zh-CN" altLang="en-US" sz="3600" b="1" smtClean="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endParaRPr lang="zh-CN" altLang="en-US" smtClean="0"/>
          </a:p>
        </p:txBody>
      </p:sp>
      <p:sp>
        <p:nvSpPr>
          <p:cNvPr id="71683" name="Rectangle 3"/>
          <p:cNvSpPr>
            <a:spLocks noGrp="1" noChangeArrowheads="1"/>
          </p:cNvSpPr>
          <p:nvPr>
            <p:ph type="body" idx="1"/>
          </p:nvPr>
        </p:nvSpPr>
        <p:spPr/>
        <p:txBody>
          <a:bodyPr/>
          <a:lstStyle/>
          <a:p>
            <a:pPr algn="ctr" eaLnBrk="1" hangingPunct="1">
              <a:buFontTx/>
              <a:buNone/>
            </a:pPr>
            <a:r>
              <a:rPr lang="en-US" altLang="zh-CN" sz="5400" b="1" smtClean="0"/>
              <a:t>Question?</a:t>
            </a:r>
            <a:endParaRPr lang="zh-CN" altLang="en-US" sz="5400" b="1"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楷体_GB2312"/>
        <a:cs typeface="楷体_GB2312"/>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8382</TotalTime>
  <Words>3966</Words>
  <Application>Microsoft Macintosh PowerPoint</Application>
  <PresentationFormat>全屏显示(4:3)</PresentationFormat>
  <Paragraphs>802</Paragraphs>
  <Slides>61</Slides>
  <Notes>14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73" baseType="lpstr">
      <vt:lpstr>Times</vt:lpstr>
      <vt:lpstr>Times New Roman</vt:lpstr>
      <vt:lpstr>方正舒体</vt:lpstr>
      <vt:lpstr>仿宋</vt:lpstr>
      <vt:lpstr>黑体</vt:lpstr>
      <vt:lpstr>华文新魏</vt:lpstr>
      <vt:lpstr>楷体_GB2312</vt:lpstr>
      <vt:lpstr>宋体</vt:lpstr>
      <vt:lpstr>Arial</vt:lpstr>
      <vt:lpstr>Blank Presentation</vt:lpstr>
      <vt:lpstr>Equation</vt:lpstr>
      <vt:lpstr>公式</vt:lpstr>
      <vt:lpstr>北京大兴国际机场</vt:lpstr>
      <vt:lpstr>北京大兴国际机场</vt:lpstr>
      <vt:lpstr>北京大兴国际机场</vt:lpstr>
      <vt:lpstr>北京大兴国际机场</vt:lpstr>
      <vt:lpstr>北京大兴国际机场</vt:lpstr>
      <vt:lpstr>北京大兴国际机场</vt:lpstr>
      <vt:lpstr>北京大兴国际机场</vt:lpstr>
      <vt:lpstr>PowerPoint 演示文稿</vt:lpstr>
      <vt:lpstr>本讲内容</vt:lpstr>
      <vt:lpstr>经济效果评价的基本思路</vt:lpstr>
      <vt:lpstr>一个简单的投资项目</vt:lpstr>
      <vt:lpstr>一个简单的投资项目</vt:lpstr>
      <vt:lpstr>经济效果评价指标体系</vt:lpstr>
      <vt:lpstr>投资回收期</vt:lpstr>
      <vt:lpstr>静态评价指标：静态投资回收期</vt:lpstr>
      <vt:lpstr>静态投资回收期Pt的计算</vt:lpstr>
      <vt:lpstr>插值法计算静态投资回收期Pt</vt:lpstr>
      <vt:lpstr>利用静态投资回收期Pt的进行方案评价</vt:lpstr>
      <vt:lpstr>动态评价指标：动态投资回收期Pt’</vt:lpstr>
      <vt:lpstr>动态投资回收期 (ic=5%)</vt:lpstr>
      <vt:lpstr>投资回收期</vt:lpstr>
      <vt:lpstr>动态评价指标二：净现值(NPV)</vt:lpstr>
      <vt:lpstr>净现值(NPV)的评价准则</vt:lpstr>
      <vt:lpstr>NPV的计算</vt:lpstr>
      <vt:lpstr>对NPV的讨论</vt:lpstr>
      <vt:lpstr>NPV(i)——净现值函数</vt:lpstr>
      <vt:lpstr>NPV(i)——净现值函数</vt:lpstr>
      <vt:lpstr>多方案比选</vt:lpstr>
      <vt:lpstr>动态评价指标三：内部收益率(IRR)</vt:lpstr>
      <vt:lpstr>内部收益率(IRR)的经济含义</vt:lpstr>
      <vt:lpstr>IRR是没有回收的投资的盈利率</vt:lpstr>
      <vt:lpstr>内部收益率(IRR)</vt:lpstr>
      <vt:lpstr>内部收益率(IRR)</vt:lpstr>
      <vt:lpstr>PowerPoint 演示文稿</vt:lpstr>
      <vt:lpstr>经济评价指标类型</vt:lpstr>
      <vt:lpstr>PowerPoint 演示文稿</vt:lpstr>
      <vt:lpstr>静态和动态评价指标</vt:lpstr>
      <vt:lpstr>净现值NPV</vt:lpstr>
      <vt:lpstr>NPV(i)——净现值函数</vt:lpstr>
      <vt:lpstr> 净现值的衍生指标1：净现值率(NPVR)</vt:lpstr>
      <vt:lpstr>净现值的衍生指标2：净年值(NAV)</vt:lpstr>
      <vt:lpstr>五道口房子投资的NPVR和NAV</vt:lpstr>
      <vt:lpstr>内部收益率IRR</vt:lpstr>
      <vt:lpstr>内部收益率(IRR)</vt:lpstr>
      <vt:lpstr>例题</vt:lpstr>
      <vt:lpstr>常规项目 和  非常规项目</vt:lpstr>
      <vt:lpstr>IRR是惟一的吗？</vt:lpstr>
      <vt:lpstr>IRR 和 ic</vt:lpstr>
      <vt:lpstr>机会成本</vt:lpstr>
      <vt:lpstr>基准收益率的选择方法</vt:lpstr>
      <vt:lpstr>投资利润率（静态评价指标）</vt:lpstr>
      <vt:lpstr>主要公式</vt:lpstr>
      <vt:lpstr>评价标准</vt:lpstr>
      <vt:lpstr>例子</vt:lpstr>
      <vt:lpstr>Solution:</vt:lpstr>
      <vt:lpstr>投资利润率（静态评价指标）</vt:lpstr>
      <vt:lpstr>PowerPoint 演示文稿</vt:lpstr>
      <vt:lpstr>PowerPoint 演示文稿</vt:lpstr>
      <vt:lpstr>评价指标使用习惯</vt:lpstr>
      <vt:lpstr>小结：经济评价指标类型</vt:lpstr>
      <vt:lpstr>PowerPoint 演示文稿</vt:lpstr>
    </vt:vector>
  </TitlesOfParts>
  <Company>KAGAN</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崔 世博</cp:lastModifiedBy>
  <cp:revision>1365</cp:revision>
  <dcterms:created xsi:type="dcterms:W3CDTF">2006-03-30T18:33:07Z</dcterms:created>
  <dcterms:modified xsi:type="dcterms:W3CDTF">2020-01-02T13:53:55Z</dcterms:modified>
</cp:coreProperties>
</file>