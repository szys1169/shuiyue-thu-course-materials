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4" r:id="rId2"/>
    <p:sldId id="364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69" r:id="rId11"/>
    <p:sldId id="370" r:id="rId12"/>
    <p:sldId id="308" r:id="rId13"/>
    <p:sldId id="309" r:id="rId14"/>
    <p:sldId id="310" r:id="rId15"/>
    <p:sldId id="311" r:id="rId16"/>
    <p:sldId id="371" r:id="rId17"/>
    <p:sldId id="372" r:id="rId18"/>
    <p:sldId id="373" r:id="rId19"/>
    <p:sldId id="350" r:id="rId20"/>
    <p:sldId id="349" r:id="rId21"/>
    <p:sldId id="376" r:id="rId22"/>
    <p:sldId id="312" r:id="rId23"/>
    <p:sldId id="374" r:id="rId24"/>
    <p:sldId id="367" r:id="rId25"/>
    <p:sldId id="368" r:id="rId26"/>
    <p:sldId id="377" r:id="rId27"/>
    <p:sldId id="351" r:id="rId28"/>
    <p:sldId id="319" r:id="rId29"/>
    <p:sldId id="320" r:id="rId30"/>
    <p:sldId id="375" r:id="rId31"/>
    <p:sldId id="362" r:id="rId32"/>
    <p:sldId id="321" r:id="rId33"/>
    <p:sldId id="363" r:id="rId34"/>
    <p:sldId id="338" r:id="rId35"/>
    <p:sldId id="352" r:id="rId36"/>
    <p:sldId id="378" r:id="rId37"/>
    <p:sldId id="348" r:id="rId38"/>
    <p:sldId id="366" r:id="rId39"/>
    <p:sldId id="361" r:id="rId40"/>
    <p:sldId id="353" r:id="rId41"/>
    <p:sldId id="354" r:id="rId42"/>
    <p:sldId id="355" r:id="rId43"/>
    <p:sldId id="356" r:id="rId44"/>
    <p:sldId id="357" r:id="rId45"/>
    <p:sldId id="379" r:id="rId46"/>
    <p:sldId id="358" r:id="rId47"/>
    <p:sldId id="359" r:id="rId48"/>
    <p:sldId id="365" r:id="rId49"/>
    <p:sldId id="360" r:id="rId5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99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531" y="-58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884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</p:grpSp>
      <p:sp>
        <p:nvSpPr>
          <p:cNvPr id="399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4522451-F811-4AD9-867C-FA11B173C6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4908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218AF1-58E6-45A6-AE82-CD1824706C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3598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95F4A-9CF6-47BD-996E-161164FD08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8837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D1065-9CE4-4611-BB68-0CD14F30D7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4472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E47876-ED8B-4F09-BF28-B02AAF4728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064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E7FE0-FBC0-4F48-AD7E-9CCD2335F8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452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E53C58-C60E-4CA7-81D4-233029A19F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2112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57E65-0630-48A8-8CF4-BC0E492F03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277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4E4E4F-B4F0-41EE-9D09-BFB22704A1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340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7D551-ABD8-4FD6-9407-7F5C3DF122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7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DFFFB6-281D-4E1F-A1E1-82AFAAF28C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908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89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6D37763-B3DD-4F04-B938-2760821E3B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765E76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0" y="782638"/>
            <a:ext cx="91440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>
                <a:latin typeface="Arial" charset="0"/>
                <a:ea typeface="隶书" pitchFamily="49" charset="-122"/>
              </a:rPr>
              <a:t>第三讲习题答案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6000" b="1">
              <a:latin typeface="Arial" charset="0"/>
              <a:ea typeface="隶书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b="1">
                <a:latin typeface="Arial" charset="0"/>
                <a:ea typeface="黑体" pitchFamily="2" charset="-122"/>
              </a:rPr>
              <a:t>换面法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b="1">
                <a:latin typeface="Arial" charset="0"/>
                <a:ea typeface="黑体" pitchFamily="2" charset="-122"/>
              </a:rPr>
              <a:t>综合问题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/>
          <p:cNvSpPr txBox="1">
            <a:spLocks noChangeArrowheads="1"/>
          </p:cNvSpPr>
          <p:nvPr/>
        </p:nvSpPr>
        <p:spPr bwMode="auto">
          <a:xfrm>
            <a:off x="1292234" y="1057284"/>
            <a:ext cx="39830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latin typeface="宋体" pitchFamily="2" charset="-122"/>
              </a:rPr>
              <a:t>主要问题：</a:t>
            </a: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>
            <a:off x="2028825" y="2117384"/>
            <a:ext cx="5961063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1. </a:t>
            </a:r>
            <a:r>
              <a:rPr lang="zh-CN" altLang="en-US" sz="2800" b="1" dirty="0">
                <a:solidFill>
                  <a:schemeClr val="hlink"/>
                </a:solidFill>
                <a:latin typeface="宋体" pitchFamily="2" charset="-122"/>
              </a:rPr>
              <a:t>规范性 － 线型、字体、箭头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chemeClr val="hlink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2. </a:t>
            </a:r>
            <a:r>
              <a:rPr lang="zh-CN" altLang="en-US" sz="2800" b="1" dirty="0">
                <a:solidFill>
                  <a:schemeClr val="hlink"/>
                </a:solidFill>
                <a:latin typeface="宋体" pitchFamily="2" charset="-122"/>
              </a:rPr>
              <a:t>度量错误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itchFamily="2" charset="-122"/>
              </a:rPr>
              <a:t>    准确作图能够引导正确思维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zh-CN" altLang="en-US" sz="2800" b="1" dirty="0">
              <a:solidFill>
                <a:schemeClr val="hlink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3. </a:t>
            </a:r>
            <a:r>
              <a:rPr lang="zh-CN" altLang="en-US" sz="2800" b="1" dirty="0">
                <a:solidFill>
                  <a:schemeClr val="hlink"/>
                </a:solidFill>
                <a:latin typeface="宋体" pitchFamily="2" charset="-122"/>
              </a:rPr>
              <a:t>多解判断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chemeClr val="hlink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4. </a:t>
            </a:r>
            <a:r>
              <a:rPr lang="zh-CN" altLang="en-US" sz="2800" b="1" dirty="0">
                <a:solidFill>
                  <a:schemeClr val="hlink"/>
                </a:solidFill>
                <a:latin typeface="宋体" pitchFamily="2" charset="-122"/>
              </a:rPr>
              <a:t>可见性判断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chemeClr val="hlink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5. </a:t>
            </a:r>
            <a:r>
              <a:rPr lang="zh-CN" altLang="en-US" sz="2800" b="1" dirty="0">
                <a:solidFill>
                  <a:schemeClr val="hlink"/>
                </a:solidFill>
                <a:latin typeface="宋体" pitchFamily="2" charset="-122"/>
              </a:rPr>
              <a:t>投影要</a:t>
            </a:r>
            <a:r>
              <a:rPr lang="zh-CN" altLang="en-US" sz="2800" b="1" dirty="0" smtClean="0">
                <a:solidFill>
                  <a:schemeClr val="hlink"/>
                </a:solidFill>
                <a:latin typeface="宋体" pitchFamily="2" charset="-122"/>
              </a:rPr>
              <a:t>完整</a:t>
            </a:r>
            <a:endParaRPr lang="zh-CN" altLang="en-US" sz="2800" b="1" dirty="0">
              <a:solidFill>
                <a:schemeClr val="hlink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9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90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0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0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87"/>
          <a:stretch>
            <a:fillRect/>
          </a:stretch>
        </p:blipFill>
        <p:spPr bwMode="auto">
          <a:xfrm>
            <a:off x="2187575" y="469900"/>
            <a:ext cx="4767263" cy="556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2-3-1-1  </a:t>
            </a:r>
            <a:r>
              <a:rPr lang="zh-CN" altLang="en-US" sz="1600" b="1">
                <a:latin typeface="宋体" pitchFamily="2" charset="-122"/>
              </a:rPr>
              <a:t>求点Ｄ到三角形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的距离，并画出其垂足Ｋ的投影。</a:t>
            </a:r>
          </a:p>
        </p:txBody>
      </p:sp>
      <p:sp>
        <p:nvSpPr>
          <p:cNvPr id="5124" name="Oval 5"/>
          <p:cNvSpPr>
            <a:spLocks noChangeArrowheads="1"/>
          </p:cNvSpPr>
          <p:nvPr/>
        </p:nvSpPr>
        <p:spPr bwMode="auto">
          <a:xfrm>
            <a:off x="125413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248356" y="4725988"/>
            <a:ext cx="876017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itchFamily="2" charset="-122"/>
              </a:rPr>
              <a:t>问题：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宋体" pitchFamily="2" charset="-122"/>
              </a:rPr>
              <a:t>1. </a:t>
            </a:r>
            <a:r>
              <a:rPr lang="en-US" altLang="zh-CN" sz="2000" b="1" dirty="0" err="1" smtClean="0">
                <a:latin typeface="宋体" pitchFamily="2" charset="-122"/>
              </a:rPr>
              <a:t>kd</a:t>
            </a:r>
            <a:r>
              <a:rPr lang="en-US" altLang="zh-CN" sz="2000" b="1" dirty="0" smtClean="0">
                <a:latin typeface="宋体" pitchFamily="2" charset="-122"/>
              </a:rPr>
              <a:t> </a:t>
            </a:r>
            <a:r>
              <a:rPr lang="zh-CN" altLang="en-US" sz="2000" b="1" dirty="0" smtClean="0">
                <a:latin typeface="宋体" pitchFamily="2" charset="-122"/>
              </a:rPr>
              <a:t>方向？</a:t>
            </a:r>
            <a:endParaRPr lang="en-US" altLang="zh-CN" sz="2000" b="1" dirty="0" smtClean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 smtClean="0">
                <a:latin typeface="宋体" pitchFamily="2" charset="-122"/>
              </a:rPr>
              <a:t>2. </a:t>
            </a:r>
            <a:r>
              <a:rPr lang="zh-CN" altLang="en-US" sz="2000" b="1" dirty="0" smtClean="0">
                <a:latin typeface="宋体" pitchFamily="2" charset="-122"/>
              </a:rPr>
              <a:t>可见性</a:t>
            </a:r>
            <a:r>
              <a:rPr lang="zh-CN" altLang="en-US" sz="2000" b="1" dirty="0">
                <a:latin typeface="宋体" pitchFamily="2" charset="-122"/>
              </a:rPr>
              <a:t>，如何判断</a:t>
            </a:r>
            <a:r>
              <a:rPr lang="zh-CN" altLang="en-US" sz="2000" b="1" dirty="0" smtClean="0">
                <a:latin typeface="宋体" pitchFamily="2" charset="-122"/>
              </a:rPr>
              <a:t>？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任意两个相邻投影面均构成正交投影面体系，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VH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原则。</a:t>
            </a:r>
            <a:endParaRPr lang="zh-CN" altLang="en-US" sz="2000" b="1" dirty="0">
              <a:solidFill>
                <a:srgbClr val="FF0000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宋体" pitchFamily="2" charset="-122"/>
              </a:rPr>
              <a:t>2. </a:t>
            </a:r>
            <a:r>
              <a:rPr lang="zh-CN" altLang="en-US" sz="2000" b="1" dirty="0">
                <a:latin typeface="宋体" pitchFamily="2" charset="-122"/>
              </a:rPr>
              <a:t>线型</a:t>
            </a:r>
            <a:r>
              <a:rPr lang="zh-CN" altLang="en-US" sz="2000" b="1" dirty="0" smtClean="0">
                <a:latin typeface="宋体" pitchFamily="2" charset="-122"/>
              </a:rPr>
              <a:t>。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两只铅笔分别画粗线和细线。</a:t>
            </a:r>
            <a:endParaRPr lang="zh-CN" altLang="en-US" sz="2000" b="1" dirty="0">
              <a:solidFill>
                <a:srgbClr val="FF0000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宋体" pitchFamily="2" charset="-122"/>
              </a:rPr>
              <a:t>3. </a:t>
            </a:r>
            <a:r>
              <a:rPr lang="zh-CN" altLang="en-US" sz="2000" b="1" dirty="0">
                <a:latin typeface="宋体" pitchFamily="2" charset="-122"/>
              </a:rPr>
              <a:t>投影面体系的</a:t>
            </a:r>
            <a:r>
              <a:rPr lang="zh-CN" altLang="en-US" sz="2000" b="1" dirty="0" smtClean="0">
                <a:latin typeface="宋体" pitchFamily="2" charset="-122"/>
              </a:rPr>
              <a:t>标注。</a:t>
            </a:r>
            <a:endParaRPr lang="zh-CN" altLang="en-US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宋体" pitchFamily="2" charset="-122"/>
              </a:rPr>
              <a:t>4. </a:t>
            </a:r>
            <a:r>
              <a:rPr lang="zh-CN" altLang="en-US" sz="2000" b="1" dirty="0">
                <a:latin typeface="宋体" pitchFamily="2" charset="-122"/>
              </a:rPr>
              <a:t>注意线段的画法</a:t>
            </a:r>
            <a:r>
              <a:rPr lang="zh-CN" altLang="en-US" sz="2000" b="1" dirty="0" smtClean="0">
                <a:latin typeface="宋体" pitchFamily="2" charset="-122"/>
              </a:rPr>
              <a:t>。</a:t>
            </a:r>
            <a:endParaRPr lang="en-US" altLang="zh-CN" sz="2000" b="1" dirty="0" smtClean="0">
              <a:latin typeface="宋体" pitchFamily="2" charset="-122"/>
            </a:endParaRPr>
          </a:p>
        </p:txBody>
      </p:sp>
      <p:sp>
        <p:nvSpPr>
          <p:cNvPr id="62471" name="Oval 7"/>
          <p:cNvSpPr>
            <a:spLocks noChangeArrowheads="1"/>
          </p:cNvSpPr>
          <p:nvPr/>
        </p:nvSpPr>
        <p:spPr bwMode="auto">
          <a:xfrm>
            <a:off x="2336800" y="2290763"/>
            <a:ext cx="627063" cy="58102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62472" name="Oval 8"/>
          <p:cNvSpPr>
            <a:spLocks noChangeArrowheads="1"/>
          </p:cNvSpPr>
          <p:nvPr/>
        </p:nvSpPr>
        <p:spPr bwMode="auto">
          <a:xfrm>
            <a:off x="4427538" y="4327525"/>
            <a:ext cx="627062" cy="58102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4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24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1" grpId="0" animBg="1"/>
      <p:bldP spid="6247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2-3-1-2  </a:t>
            </a:r>
            <a:r>
              <a:rPr lang="zh-CN" altLang="en-US" sz="1600" b="1">
                <a:latin typeface="宋体" pitchFamily="2" charset="-122"/>
              </a:rPr>
              <a:t>以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为底作等腰三角形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，其高为 </a:t>
            </a:r>
            <a:r>
              <a:rPr lang="en-US" altLang="zh-CN" sz="1600" b="1">
                <a:latin typeface="宋体" pitchFamily="2" charset="-122"/>
              </a:rPr>
              <a:t>30</a:t>
            </a:r>
            <a:r>
              <a:rPr lang="zh-CN" altLang="en-US" sz="1600" b="1">
                <a:latin typeface="宋体" pitchFamily="2" charset="-122"/>
              </a:rPr>
              <a:t>，并与Ｈ成 </a:t>
            </a:r>
            <a:r>
              <a:rPr lang="en-US" altLang="zh-CN" sz="1600" b="1">
                <a:latin typeface="宋体" pitchFamily="2" charset="-122"/>
              </a:rPr>
              <a:t>45°</a:t>
            </a:r>
            <a:r>
              <a:rPr lang="zh-CN" altLang="en-US" sz="1600" b="1">
                <a:latin typeface="宋体" pitchFamily="2" charset="-122"/>
              </a:rPr>
              <a:t>角。</a:t>
            </a:r>
          </a:p>
        </p:txBody>
      </p:sp>
      <p:graphicFrame>
        <p:nvGraphicFramePr>
          <p:cNvPr id="6147" name="Object 4"/>
          <p:cNvGraphicFramePr>
            <a:graphicFrameLocks noChangeAspect="1"/>
          </p:cNvGraphicFramePr>
          <p:nvPr/>
        </p:nvGraphicFramePr>
        <p:xfrm>
          <a:off x="1260475" y="700088"/>
          <a:ext cx="6821488" cy="525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Image" r:id="rId3" imgW="8520635" imgH="6565079" progId="Photoshop.Image.6">
                  <p:embed/>
                </p:oleObj>
              </mc:Choice>
              <mc:Fallback>
                <p:oleObj name="Image" r:id="rId3" imgW="8520635" imgH="6565079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700088"/>
                        <a:ext cx="6821488" cy="525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8"/>
          <a:stretch>
            <a:fillRect/>
          </a:stretch>
        </p:blipFill>
        <p:spPr bwMode="auto">
          <a:xfrm>
            <a:off x="2195513" y="469900"/>
            <a:ext cx="5099050" cy="563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2-3-1-3  </a:t>
            </a:r>
            <a:r>
              <a:rPr lang="zh-CN" altLang="en-US" sz="1600" b="1">
                <a:latin typeface="宋体" pitchFamily="2" charset="-122"/>
              </a:rPr>
              <a:t>已知线段 </a:t>
            </a:r>
            <a:r>
              <a:rPr lang="en-US" altLang="zh-CN" sz="1600" b="1">
                <a:latin typeface="宋体" pitchFamily="2" charset="-122"/>
              </a:rPr>
              <a:t>DE </a:t>
            </a:r>
            <a:r>
              <a:rPr lang="zh-CN" altLang="en-US" sz="1600" b="1">
                <a:latin typeface="宋体" pitchFamily="2" charset="-122"/>
              </a:rPr>
              <a:t>平行于三角形</a:t>
            </a:r>
            <a:r>
              <a:rPr lang="en-US" altLang="zh-CN" sz="1600" b="1">
                <a:latin typeface="宋体" pitchFamily="2" charset="-122"/>
              </a:rPr>
              <a:t>ABC</a:t>
            </a:r>
            <a:r>
              <a:rPr lang="zh-CN" altLang="en-US" sz="1600" b="1">
                <a:latin typeface="宋体" pitchFamily="2" charset="-122"/>
              </a:rPr>
              <a:t>，与三角形</a:t>
            </a:r>
            <a:r>
              <a:rPr lang="en-US" altLang="zh-CN" sz="1600" b="1">
                <a:latin typeface="宋体" pitchFamily="2" charset="-122"/>
              </a:rPr>
              <a:t>ABC</a:t>
            </a:r>
            <a:r>
              <a:rPr lang="zh-CN" altLang="en-US" sz="1600" b="1">
                <a:latin typeface="宋体" pitchFamily="2" charset="-122"/>
              </a:rPr>
              <a:t>的距离为</a:t>
            </a:r>
            <a:r>
              <a:rPr lang="en-US" altLang="zh-CN" sz="1600" b="1">
                <a:latin typeface="宋体" pitchFamily="2" charset="-122"/>
              </a:rPr>
              <a:t>15</a:t>
            </a:r>
            <a:r>
              <a:rPr lang="zh-CN" altLang="en-US" sz="1600" b="1">
                <a:latin typeface="宋体" pitchFamily="2" charset="-122"/>
              </a:rPr>
              <a:t>，求线段 </a:t>
            </a:r>
            <a:r>
              <a:rPr lang="en-US" altLang="zh-CN" sz="1600" b="1">
                <a:latin typeface="宋体" pitchFamily="2" charset="-122"/>
              </a:rPr>
              <a:t>DE </a:t>
            </a:r>
            <a:r>
              <a:rPr lang="zh-CN" altLang="en-US" sz="1600" b="1">
                <a:latin typeface="宋体" pitchFamily="2" charset="-122"/>
              </a:rPr>
              <a:t>的正面投影。</a:t>
            </a:r>
          </a:p>
        </p:txBody>
      </p:sp>
      <p:sp>
        <p:nvSpPr>
          <p:cNvPr id="7172" name="Oval 4"/>
          <p:cNvSpPr>
            <a:spLocks noChangeArrowheads="1"/>
          </p:cNvSpPr>
          <p:nvPr/>
        </p:nvSpPr>
        <p:spPr bwMode="auto">
          <a:xfrm>
            <a:off x="125413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60421" name="Oval 5"/>
          <p:cNvSpPr>
            <a:spLocks noChangeArrowheads="1"/>
          </p:cNvSpPr>
          <p:nvPr/>
        </p:nvSpPr>
        <p:spPr bwMode="auto">
          <a:xfrm>
            <a:off x="6032500" y="5376863"/>
            <a:ext cx="1136650" cy="73025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72"/>
          <a:stretch>
            <a:fillRect/>
          </a:stretch>
        </p:blipFill>
        <p:spPr bwMode="auto">
          <a:xfrm>
            <a:off x="2235200" y="714375"/>
            <a:ext cx="4673600" cy="536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2-3-1-4  </a:t>
            </a:r>
            <a:r>
              <a:rPr lang="zh-CN" altLang="en-US" sz="1600" b="1">
                <a:latin typeface="宋体" pitchFamily="2" charset="-122"/>
              </a:rPr>
              <a:t>已知入射光线为 </a:t>
            </a:r>
            <a:r>
              <a:rPr lang="en-US" altLang="zh-CN" sz="1600" b="1">
                <a:latin typeface="宋体" pitchFamily="2" charset="-122"/>
              </a:rPr>
              <a:t>AK </a:t>
            </a:r>
            <a:r>
              <a:rPr lang="zh-CN" altLang="en-US" sz="1600" b="1">
                <a:latin typeface="宋体" pitchFamily="2" charset="-122"/>
              </a:rPr>
              <a:t>方向，反射光线为 </a:t>
            </a:r>
            <a:r>
              <a:rPr lang="en-US" altLang="zh-CN" sz="1600" b="1">
                <a:latin typeface="宋体" pitchFamily="2" charset="-122"/>
              </a:rPr>
              <a:t>KB </a:t>
            </a:r>
            <a:r>
              <a:rPr lang="zh-CN" altLang="en-US" sz="1600" b="1">
                <a:latin typeface="宋体" pitchFamily="2" charset="-122"/>
              </a:rPr>
              <a:t>方向，试确定反射镜面的位置及其投影（镜面用以 </a:t>
            </a:r>
            <a:r>
              <a:rPr lang="en-US" altLang="zh-CN" sz="1600" b="1">
                <a:latin typeface="宋体" pitchFamily="2" charset="-122"/>
              </a:rPr>
              <a:t>K </a:t>
            </a:r>
            <a:r>
              <a:rPr lang="zh-CN" altLang="en-US" sz="1600" b="1">
                <a:latin typeface="宋体" pitchFamily="2" charset="-122"/>
              </a:rPr>
              <a:t>为中心的正方形表示，边长为 </a:t>
            </a:r>
            <a:r>
              <a:rPr lang="en-US" altLang="zh-CN" sz="1600" b="1">
                <a:latin typeface="宋体" pitchFamily="2" charset="-122"/>
              </a:rPr>
              <a:t>20</a:t>
            </a:r>
            <a:r>
              <a:rPr lang="zh-CN" altLang="en-US" sz="1600" b="1">
                <a:latin typeface="宋体" pitchFamily="2" charset="-122"/>
              </a:rPr>
              <a:t>，其中两边是水平线）。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2185988" y="469900"/>
            <a:ext cx="4772025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宋体" pitchFamily="2" charset="-122"/>
              </a:rPr>
              <a:t>2-3-1-5  </a:t>
            </a:r>
            <a:r>
              <a:rPr lang="zh-CN" altLang="en-US" sz="1600" b="1" dirty="0">
                <a:latin typeface="宋体" pitchFamily="2" charset="-122"/>
              </a:rPr>
              <a:t>在三角形 </a:t>
            </a:r>
            <a:r>
              <a:rPr lang="en-US" altLang="zh-CN" sz="1600" b="1" dirty="0">
                <a:latin typeface="宋体" pitchFamily="2" charset="-122"/>
              </a:rPr>
              <a:t>ABC </a:t>
            </a:r>
            <a:r>
              <a:rPr lang="zh-CN" altLang="en-US" sz="1600" b="1" dirty="0" smtClean="0">
                <a:latin typeface="宋体" pitchFamily="2" charset="-122"/>
              </a:rPr>
              <a:t>所确定的平面上找</a:t>
            </a:r>
            <a:r>
              <a:rPr lang="zh-CN" altLang="en-US" sz="1600" b="1" dirty="0">
                <a:latin typeface="宋体" pitchFamily="2" charset="-122"/>
              </a:rPr>
              <a:t>一点Ｋ，使点Ｋ与点Ａ距离 </a:t>
            </a:r>
            <a:r>
              <a:rPr lang="en-US" altLang="zh-CN" sz="1600" b="1" dirty="0">
                <a:latin typeface="宋体" pitchFamily="2" charset="-122"/>
              </a:rPr>
              <a:t>15</a:t>
            </a:r>
            <a:r>
              <a:rPr lang="zh-CN" altLang="en-US" sz="1600" b="1" dirty="0">
                <a:latin typeface="宋体" pitchFamily="2" charset="-122"/>
              </a:rPr>
              <a:t>，与点Ｂ距离 </a:t>
            </a:r>
            <a:r>
              <a:rPr lang="en-US" altLang="zh-CN" sz="1600" b="1" dirty="0">
                <a:latin typeface="宋体" pitchFamily="2" charset="-122"/>
              </a:rPr>
              <a:t>25</a:t>
            </a:r>
            <a:r>
              <a:rPr lang="zh-CN" altLang="en-US" sz="1600" b="1" dirty="0">
                <a:latin typeface="宋体" pitchFamily="2" charset="-122"/>
              </a:rPr>
              <a:t>。</a:t>
            </a:r>
          </a:p>
        </p:txBody>
      </p:sp>
      <p:sp>
        <p:nvSpPr>
          <p:cNvPr id="9220" name="Oval 4"/>
          <p:cNvSpPr>
            <a:spLocks noChangeArrowheads="1"/>
          </p:cNvSpPr>
          <p:nvPr/>
        </p:nvSpPr>
        <p:spPr bwMode="auto">
          <a:xfrm>
            <a:off x="361950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8373" name="Oval 5"/>
          <p:cNvSpPr>
            <a:spLocks noChangeArrowheads="1"/>
          </p:cNvSpPr>
          <p:nvPr/>
        </p:nvSpPr>
        <p:spPr bwMode="auto">
          <a:xfrm>
            <a:off x="5757863" y="5821363"/>
            <a:ext cx="879475" cy="58102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2181225" y="469900"/>
            <a:ext cx="4779963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2-3-1-6  </a:t>
            </a:r>
            <a:r>
              <a:rPr lang="zh-CN" altLang="en-US" sz="1600" b="1">
                <a:latin typeface="宋体" pitchFamily="2" charset="-122"/>
              </a:rPr>
              <a:t>作直线 </a:t>
            </a:r>
            <a:r>
              <a:rPr lang="en-US" altLang="zh-CN" sz="1600" b="1">
                <a:latin typeface="宋体" pitchFamily="2" charset="-122"/>
              </a:rPr>
              <a:t>CD </a:t>
            </a:r>
            <a:r>
              <a:rPr lang="zh-CN" altLang="en-US" sz="1600" b="1">
                <a:latin typeface="宋体" pitchFamily="2" charset="-122"/>
              </a:rPr>
              <a:t>与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相交成 </a:t>
            </a:r>
            <a:r>
              <a:rPr lang="en-US" altLang="zh-CN" sz="1600" b="1">
                <a:latin typeface="宋体" pitchFamily="2" charset="-122"/>
              </a:rPr>
              <a:t>60°</a:t>
            </a:r>
            <a:r>
              <a:rPr lang="zh-CN" altLang="en-US" sz="1600" b="1">
                <a:latin typeface="宋体" pitchFamily="2" charset="-122"/>
              </a:rPr>
              <a:t>角。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8"/>
          <a:stretch>
            <a:fillRect/>
          </a:stretch>
        </p:blipFill>
        <p:spPr bwMode="auto">
          <a:xfrm>
            <a:off x="2182813" y="469900"/>
            <a:ext cx="4776787" cy="582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2-3-1-7  </a:t>
            </a:r>
            <a:r>
              <a:rPr lang="zh-CN" altLang="en-US" sz="1600" b="1">
                <a:latin typeface="宋体" pitchFamily="2" charset="-122"/>
              </a:rPr>
              <a:t>直线 </a:t>
            </a:r>
            <a:r>
              <a:rPr lang="en-US" altLang="zh-CN" sz="1600" b="1">
                <a:latin typeface="宋体" pitchFamily="2" charset="-122"/>
              </a:rPr>
              <a:t>AB∥CD</a:t>
            </a:r>
            <a:r>
              <a:rPr lang="zh-CN" altLang="en-US" sz="1600" b="1">
                <a:latin typeface="宋体" pitchFamily="2" charset="-122"/>
              </a:rPr>
              <a:t>，求作：⑴ 点Ｋ到直线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及 </a:t>
            </a:r>
            <a:r>
              <a:rPr lang="en-US" altLang="zh-CN" sz="1600" b="1">
                <a:latin typeface="宋体" pitchFamily="2" charset="-122"/>
              </a:rPr>
              <a:t>CD </a:t>
            </a:r>
            <a:r>
              <a:rPr lang="zh-CN" altLang="en-US" sz="1600" b="1">
                <a:latin typeface="宋体" pitchFamily="2" charset="-122"/>
              </a:rPr>
              <a:t>的距离；⑵ 直线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与 </a:t>
            </a:r>
            <a:r>
              <a:rPr lang="en-US" altLang="zh-CN" sz="1600" b="1">
                <a:latin typeface="宋体" pitchFamily="2" charset="-122"/>
              </a:rPr>
              <a:t>CD </a:t>
            </a:r>
            <a:r>
              <a:rPr lang="zh-CN" altLang="en-US" sz="1600" b="1">
                <a:latin typeface="宋体" pitchFamily="2" charset="-122"/>
              </a:rPr>
              <a:t>间的距离。</a:t>
            </a:r>
          </a:p>
        </p:txBody>
      </p:sp>
      <p:sp>
        <p:nvSpPr>
          <p:cNvPr id="11268" name="Oval 4"/>
          <p:cNvSpPr>
            <a:spLocks noChangeArrowheads="1"/>
          </p:cNvSpPr>
          <p:nvPr/>
        </p:nvSpPr>
        <p:spPr bwMode="auto">
          <a:xfrm>
            <a:off x="361950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2-3-1-8  </a:t>
            </a:r>
            <a:r>
              <a:rPr lang="zh-CN" altLang="en-US" sz="1600" b="1">
                <a:latin typeface="宋体" pitchFamily="2" charset="-122"/>
              </a:rPr>
              <a:t>已知直线 </a:t>
            </a:r>
            <a:r>
              <a:rPr lang="en-US" altLang="zh-CN" sz="1600" b="1">
                <a:latin typeface="宋体" pitchFamily="2" charset="-122"/>
              </a:rPr>
              <a:t>AB∥CD</a:t>
            </a:r>
            <a:r>
              <a:rPr lang="zh-CN" altLang="en-US" sz="1600" b="1">
                <a:latin typeface="宋体" pitchFamily="2" charset="-122"/>
              </a:rPr>
              <a:t>，且相距为 </a:t>
            </a:r>
            <a:r>
              <a:rPr lang="en-US" altLang="zh-CN" sz="1600" b="1">
                <a:latin typeface="宋体" pitchFamily="2" charset="-122"/>
              </a:rPr>
              <a:t>10</a:t>
            </a:r>
            <a:r>
              <a:rPr lang="zh-CN" altLang="en-US" sz="1600" b="1">
                <a:latin typeface="宋体" pitchFamily="2" charset="-122"/>
              </a:rPr>
              <a:t>，求 </a:t>
            </a:r>
            <a:r>
              <a:rPr lang="en-US" altLang="zh-CN" sz="1600" b="1">
                <a:latin typeface="宋体" pitchFamily="2" charset="-122"/>
              </a:rPr>
              <a:t>CD </a:t>
            </a:r>
            <a:r>
              <a:rPr lang="zh-CN" altLang="en-US" sz="1600" b="1">
                <a:latin typeface="宋体" pitchFamily="2" charset="-122"/>
              </a:rPr>
              <a:t>的正面投影。</a:t>
            </a:r>
          </a:p>
        </p:txBody>
      </p:sp>
      <p:sp>
        <p:nvSpPr>
          <p:cNvPr id="12291" name="Oval 4"/>
          <p:cNvSpPr>
            <a:spLocks noChangeArrowheads="1"/>
          </p:cNvSpPr>
          <p:nvPr/>
        </p:nvSpPr>
        <p:spPr bwMode="auto">
          <a:xfrm>
            <a:off x="361950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229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0" t="24316" r="43710" b="36963"/>
          <a:stretch>
            <a:fillRect/>
          </a:stretch>
        </p:blipFill>
        <p:spPr bwMode="auto">
          <a:xfrm>
            <a:off x="1446213" y="896938"/>
            <a:ext cx="5330825" cy="44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2-3-1-8  </a:t>
            </a:r>
            <a:r>
              <a:rPr lang="zh-CN" altLang="en-US" sz="1600" b="1">
                <a:latin typeface="宋体" pitchFamily="2" charset="-122"/>
              </a:rPr>
              <a:t>已知直线 </a:t>
            </a:r>
            <a:r>
              <a:rPr lang="en-US" altLang="zh-CN" sz="1600" b="1">
                <a:latin typeface="宋体" pitchFamily="2" charset="-122"/>
              </a:rPr>
              <a:t>AB∥CD</a:t>
            </a:r>
            <a:r>
              <a:rPr lang="zh-CN" altLang="en-US" sz="1600" b="1">
                <a:latin typeface="宋体" pitchFamily="2" charset="-122"/>
              </a:rPr>
              <a:t>，且相距为 </a:t>
            </a:r>
            <a:r>
              <a:rPr lang="en-US" altLang="zh-CN" sz="1600" b="1">
                <a:latin typeface="宋体" pitchFamily="2" charset="-122"/>
              </a:rPr>
              <a:t>10</a:t>
            </a:r>
            <a:r>
              <a:rPr lang="zh-CN" altLang="en-US" sz="1600" b="1">
                <a:latin typeface="宋体" pitchFamily="2" charset="-122"/>
              </a:rPr>
              <a:t>，求 </a:t>
            </a:r>
            <a:r>
              <a:rPr lang="en-US" altLang="zh-CN" sz="1600" b="1">
                <a:latin typeface="宋体" pitchFamily="2" charset="-122"/>
              </a:rPr>
              <a:t>CD </a:t>
            </a:r>
            <a:r>
              <a:rPr lang="zh-CN" altLang="en-US" sz="1600" b="1">
                <a:latin typeface="宋体" pitchFamily="2" charset="-122"/>
              </a:rPr>
              <a:t>的正面投影。</a:t>
            </a:r>
          </a:p>
        </p:txBody>
      </p:sp>
      <p:sp>
        <p:nvSpPr>
          <p:cNvPr id="13315" name="Oval 3"/>
          <p:cNvSpPr>
            <a:spLocks noChangeArrowheads="1"/>
          </p:cNvSpPr>
          <p:nvPr/>
        </p:nvSpPr>
        <p:spPr bwMode="auto">
          <a:xfrm>
            <a:off x="361950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351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6" t="15169" r="31406" b="22461"/>
          <a:stretch>
            <a:fillRect/>
          </a:stretch>
        </p:blipFill>
        <p:spPr bwMode="auto">
          <a:xfrm>
            <a:off x="0" y="785813"/>
            <a:ext cx="4792663" cy="502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94" t="23112" r="36797" b="25977"/>
          <a:stretch>
            <a:fillRect/>
          </a:stretch>
        </p:blipFill>
        <p:spPr bwMode="auto">
          <a:xfrm>
            <a:off x="4649788" y="1163638"/>
            <a:ext cx="4233862" cy="464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08"/>
          <a:stretch>
            <a:fillRect/>
          </a:stretch>
        </p:blipFill>
        <p:spPr bwMode="auto">
          <a:xfrm>
            <a:off x="2181225" y="469900"/>
            <a:ext cx="478155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2-3-1-8  </a:t>
            </a:r>
            <a:r>
              <a:rPr lang="zh-CN" altLang="en-US" sz="1600" b="1">
                <a:latin typeface="宋体" pitchFamily="2" charset="-122"/>
              </a:rPr>
              <a:t>已知直线 </a:t>
            </a:r>
            <a:r>
              <a:rPr lang="en-US" altLang="zh-CN" sz="1600" b="1">
                <a:latin typeface="宋体" pitchFamily="2" charset="-122"/>
              </a:rPr>
              <a:t>AB∥CD</a:t>
            </a:r>
            <a:r>
              <a:rPr lang="zh-CN" altLang="en-US" sz="1600" b="1">
                <a:latin typeface="宋体" pitchFamily="2" charset="-122"/>
              </a:rPr>
              <a:t>，且相距为 </a:t>
            </a:r>
            <a:r>
              <a:rPr lang="en-US" altLang="zh-CN" sz="1600" b="1">
                <a:latin typeface="宋体" pitchFamily="2" charset="-122"/>
              </a:rPr>
              <a:t>10</a:t>
            </a:r>
            <a:r>
              <a:rPr lang="zh-CN" altLang="en-US" sz="1600" b="1">
                <a:latin typeface="宋体" pitchFamily="2" charset="-122"/>
              </a:rPr>
              <a:t>，求 </a:t>
            </a:r>
            <a:r>
              <a:rPr lang="en-US" altLang="zh-CN" sz="1600" b="1">
                <a:latin typeface="宋体" pitchFamily="2" charset="-122"/>
              </a:rPr>
              <a:t>CD </a:t>
            </a:r>
            <a:r>
              <a:rPr lang="zh-CN" altLang="en-US" sz="1600" b="1">
                <a:latin typeface="宋体" pitchFamily="2" charset="-122"/>
              </a:rPr>
              <a:t>的正面投影。</a:t>
            </a:r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361950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671513" y="5619750"/>
            <a:ext cx="77152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注意：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latin typeface="宋体" pitchFamily="2" charset="-122"/>
              </a:rPr>
              <a:t>       </a:t>
            </a:r>
            <a:r>
              <a:rPr lang="zh-CN" altLang="en-US" sz="2000" b="1">
                <a:solidFill>
                  <a:schemeClr val="hlink"/>
                </a:solidFill>
                <a:latin typeface="宋体" pitchFamily="2" charset="-122"/>
              </a:rPr>
              <a:t>多次换面时，从已知条件多的投影出发。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6083300" y="4590874"/>
            <a:ext cx="879475" cy="58102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3"/>
          <a:stretch>
            <a:fillRect/>
          </a:stretch>
        </p:blipFill>
        <p:spPr bwMode="auto">
          <a:xfrm>
            <a:off x="2184400" y="469900"/>
            <a:ext cx="4773613" cy="573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2-3-1-9  </a:t>
            </a:r>
            <a:r>
              <a:rPr lang="zh-CN" altLang="en-US" sz="1600" b="1">
                <a:latin typeface="宋体" pitchFamily="2" charset="-122"/>
              </a:rPr>
              <a:t>试确定连接管子 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与 </a:t>
            </a:r>
            <a:r>
              <a:rPr lang="en-US" altLang="zh-CN" sz="1600" b="1">
                <a:latin typeface="宋体" pitchFamily="2" charset="-122"/>
              </a:rPr>
              <a:t>CD</a:t>
            </a:r>
            <a:r>
              <a:rPr lang="zh-CN" altLang="en-US" sz="1600" b="1">
                <a:latin typeface="宋体" pitchFamily="2" charset="-122"/>
              </a:rPr>
              <a:t>的最短管子 </a:t>
            </a:r>
            <a:r>
              <a:rPr lang="en-US" altLang="zh-CN" sz="1600" b="1">
                <a:latin typeface="宋体" pitchFamily="2" charset="-122"/>
              </a:rPr>
              <a:t>EF </a:t>
            </a:r>
            <a:r>
              <a:rPr lang="zh-CN" altLang="en-US" sz="1600" b="1">
                <a:latin typeface="宋体" pitchFamily="2" charset="-122"/>
              </a:rPr>
              <a:t>的位置及其长度。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2179638" y="469900"/>
            <a:ext cx="4786312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*2-3-1-10  </a:t>
            </a:r>
            <a:r>
              <a:rPr lang="zh-CN" altLang="en-US" sz="1600" b="1">
                <a:latin typeface="宋体" pitchFamily="2" charset="-122"/>
              </a:rPr>
              <a:t>电流在导线中由Ａ流向Ｂ，试给出在点Ｃ处的磁场强度方向的投影。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2174875" y="469900"/>
            <a:ext cx="4792663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*2-3-1-11  </a:t>
            </a:r>
            <a:r>
              <a:rPr lang="zh-CN" altLang="en-US" sz="1600" b="1">
                <a:latin typeface="宋体" pitchFamily="2" charset="-122"/>
              </a:rPr>
              <a:t>试确定直线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与三角形 </a:t>
            </a:r>
            <a:r>
              <a:rPr lang="en-US" altLang="zh-CN" sz="1600" b="1">
                <a:latin typeface="宋体" pitchFamily="2" charset="-122"/>
              </a:rPr>
              <a:t>DEF </a:t>
            </a:r>
            <a:r>
              <a:rPr lang="zh-CN" altLang="en-US" sz="1600" b="1">
                <a:latin typeface="宋体" pitchFamily="2" charset="-122"/>
              </a:rPr>
              <a:t>夹角的实际大小。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*2-3-1-12  </a:t>
            </a:r>
            <a:r>
              <a:rPr lang="zh-CN" altLang="en-US" sz="1600" b="1">
                <a:latin typeface="宋体" pitchFamily="2" charset="-122"/>
              </a:rPr>
              <a:t>已知平面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垂直于平面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，平面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同时垂直于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及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，求作平面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和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的两个投影。</a:t>
            </a:r>
          </a:p>
        </p:txBody>
      </p:sp>
      <p:sp>
        <p:nvSpPr>
          <p:cNvPr id="18435" name="Oval 4"/>
          <p:cNvSpPr>
            <a:spLocks noChangeArrowheads="1"/>
          </p:cNvSpPr>
          <p:nvPr/>
        </p:nvSpPr>
        <p:spPr bwMode="auto">
          <a:xfrm>
            <a:off x="144463" y="785813"/>
            <a:ext cx="473075" cy="31591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38" t="12483" r="21016" b="36230"/>
          <a:stretch>
            <a:fillRect/>
          </a:stretch>
        </p:blipFill>
        <p:spPr bwMode="auto">
          <a:xfrm>
            <a:off x="2362200" y="935038"/>
            <a:ext cx="4711700" cy="500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316038" y="6199188"/>
            <a:ext cx="7681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rgbClr val="FF0000"/>
                </a:solidFill>
                <a:latin typeface="宋体" pitchFamily="2" charset="-122"/>
              </a:rPr>
              <a:t>思路</a:t>
            </a:r>
            <a:r>
              <a:rPr lang="en-US" altLang="zh-CN" sz="2000" b="1">
                <a:solidFill>
                  <a:srgbClr val="FF0000"/>
                </a:solidFill>
                <a:latin typeface="宋体" pitchFamily="2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itchFamily="2" charset="-122"/>
              </a:rPr>
              <a:t>：</a:t>
            </a:r>
            <a:r>
              <a:rPr lang="en-US" altLang="zh-CN" sz="2000" b="1">
                <a:solidFill>
                  <a:srgbClr val="FF0000"/>
                </a:solidFill>
                <a:latin typeface="宋体" pitchFamily="2" charset="-122"/>
              </a:rPr>
              <a:t>ABC</a:t>
            </a:r>
            <a:r>
              <a:rPr lang="zh-CN" altLang="en-US" sz="2000" b="1">
                <a:solidFill>
                  <a:srgbClr val="FF0000"/>
                </a:solidFill>
                <a:latin typeface="宋体" pitchFamily="2" charset="-122"/>
              </a:rPr>
              <a:t>变换为投影面平行面，则</a:t>
            </a:r>
            <a:r>
              <a:rPr lang="en-US" altLang="zh-CN" sz="2000" b="1">
                <a:solidFill>
                  <a:srgbClr val="FF0000"/>
                </a:solidFill>
                <a:latin typeface="宋体" pitchFamily="2" charset="-122"/>
              </a:rPr>
              <a:t>ACD</a:t>
            </a:r>
            <a:r>
              <a:rPr lang="zh-CN" altLang="en-US" sz="2000" b="1">
                <a:solidFill>
                  <a:srgbClr val="FF0000"/>
                </a:solidFill>
                <a:latin typeface="宋体" pitchFamily="2" charset="-122"/>
              </a:rPr>
              <a:t>和</a:t>
            </a:r>
            <a:r>
              <a:rPr lang="en-US" altLang="zh-CN" sz="2000" b="1">
                <a:solidFill>
                  <a:srgbClr val="FF0000"/>
                </a:solidFill>
                <a:latin typeface="宋体" pitchFamily="2" charset="-122"/>
              </a:rPr>
              <a:t>AFG</a:t>
            </a:r>
            <a:r>
              <a:rPr lang="zh-CN" altLang="en-US" sz="2000" b="1">
                <a:solidFill>
                  <a:srgbClr val="FF0000"/>
                </a:solidFill>
                <a:latin typeface="宋体" pitchFamily="2" charset="-122"/>
              </a:rPr>
              <a:t>积聚为直线。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*2-3-1-12  </a:t>
            </a:r>
            <a:r>
              <a:rPr lang="zh-CN" altLang="en-US" sz="1600" b="1">
                <a:latin typeface="宋体" pitchFamily="2" charset="-122"/>
              </a:rPr>
              <a:t>已知平面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垂直于平面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，平面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同时垂直于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及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，求作平面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和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的两个投影。</a:t>
            </a:r>
          </a:p>
        </p:txBody>
      </p:sp>
      <p:sp>
        <p:nvSpPr>
          <p:cNvPr id="19459" name="Oval 3"/>
          <p:cNvSpPr>
            <a:spLocks noChangeArrowheads="1"/>
          </p:cNvSpPr>
          <p:nvPr/>
        </p:nvSpPr>
        <p:spPr bwMode="auto">
          <a:xfrm>
            <a:off x="144463" y="785813"/>
            <a:ext cx="473075" cy="31591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946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9" t="23389" r="30859" b="27620"/>
          <a:stretch>
            <a:fillRect/>
          </a:stretch>
        </p:blipFill>
        <p:spPr bwMode="auto">
          <a:xfrm>
            <a:off x="871538" y="1101725"/>
            <a:ext cx="7158037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*2-3-1-12  </a:t>
            </a:r>
            <a:r>
              <a:rPr lang="zh-CN" altLang="en-US" sz="1600" b="1">
                <a:latin typeface="宋体" pitchFamily="2" charset="-122"/>
              </a:rPr>
              <a:t>已知平面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垂直于平面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，平面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同时垂直于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及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，求作平面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和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的两个投影。</a:t>
            </a:r>
          </a:p>
        </p:txBody>
      </p:sp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144463" y="785813"/>
            <a:ext cx="473075" cy="31591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2048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6" t="19612" r="28711" b="30305"/>
          <a:stretch>
            <a:fillRect/>
          </a:stretch>
        </p:blipFill>
        <p:spPr bwMode="auto">
          <a:xfrm>
            <a:off x="837463" y="708175"/>
            <a:ext cx="7769225" cy="540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949450" y="1104559"/>
            <a:ext cx="2622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g2</a:t>
            </a:r>
            <a:r>
              <a:rPr lang="zh-CN" altLang="en-US" sz="2000" b="1" dirty="0">
                <a:solidFill>
                  <a:srgbClr val="FF0000"/>
                </a:solidFill>
                <a:latin typeface="宋体" pitchFamily="2" charset="-122"/>
              </a:rPr>
              <a:t>如何求？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048525" y="6292084"/>
            <a:ext cx="68569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思考：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AFG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是唯一存在的吗？能利用构造法做出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AFG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平面吗？</a:t>
            </a:r>
            <a:endParaRPr lang="zh-CN" altLang="en-US" sz="2000" b="1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*2-3-1-12  </a:t>
            </a:r>
            <a:r>
              <a:rPr lang="zh-CN" altLang="en-US" sz="1600" b="1">
                <a:latin typeface="宋体" pitchFamily="2" charset="-122"/>
              </a:rPr>
              <a:t>已知平面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垂直于平面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，平面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同时垂直于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及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，求作平面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和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的两个投影。</a:t>
            </a:r>
          </a:p>
        </p:txBody>
      </p:sp>
      <p:graphicFrame>
        <p:nvGraphicFramePr>
          <p:cNvPr id="2150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651690"/>
              </p:ext>
            </p:extLst>
          </p:nvPr>
        </p:nvGraphicFramePr>
        <p:xfrm>
          <a:off x="136525" y="716138"/>
          <a:ext cx="9007475" cy="542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0" name="Image" r:id="rId3" imgW="10844444" imgH="6526984" progId="Photoshop.Image.6">
                  <p:embed/>
                </p:oleObj>
              </mc:Choice>
              <mc:Fallback>
                <p:oleObj name="Image" r:id="rId3" imgW="10844444" imgH="6526984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" y="716138"/>
                        <a:ext cx="9007475" cy="542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Oval 5"/>
          <p:cNvSpPr>
            <a:spLocks noChangeArrowheads="1"/>
          </p:cNvSpPr>
          <p:nvPr/>
        </p:nvSpPr>
        <p:spPr bwMode="auto">
          <a:xfrm>
            <a:off x="136525" y="785813"/>
            <a:ext cx="473075" cy="31591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83884" y="5610685"/>
            <a:ext cx="68569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方法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1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：构造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AFG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，使之垂直于平面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ABC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和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ACD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。</a:t>
            </a:r>
            <a:endParaRPr lang="zh-CN" altLang="en-US" sz="20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17412" y="6110557"/>
            <a:ext cx="9026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方法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1.1 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：构造一个垂直于直线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AC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的平面，此平面即是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AFG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。</a:t>
            </a:r>
            <a:endParaRPr lang="zh-CN" altLang="en-US" sz="2000" b="1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*2-3-1-12  </a:t>
            </a:r>
            <a:r>
              <a:rPr lang="zh-CN" altLang="en-US" sz="1600" b="1">
                <a:latin typeface="宋体" pitchFamily="2" charset="-122"/>
              </a:rPr>
              <a:t>已知平面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垂直于平面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，平面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同时垂直于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及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，求作平面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和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的两个投影。</a:t>
            </a:r>
          </a:p>
        </p:txBody>
      </p:sp>
      <p:graphicFrame>
        <p:nvGraphicFramePr>
          <p:cNvPr id="2253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061304"/>
              </p:ext>
            </p:extLst>
          </p:nvPr>
        </p:nvGraphicFramePr>
        <p:xfrm>
          <a:off x="144463" y="691797"/>
          <a:ext cx="8872537" cy="580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5" name="Image" r:id="rId3" imgW="9866667" imgH="6450794" progId="Photoshop.Image.6">
                  <p:embed/>
                </p:oleObj>
              </mc:Choice>
              <mc:Fallback>
                <p:oleObj name="Image" r:id="rId3" imgW="9866667" imgH="6450794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3" y="691797"/>
                        <a:ext cx="8872537" cy="580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Oval 5"/>
          <p:cNvSpPr>
            <a:spLocks noChangeArrowheads="1"/>
          </p:cNvSpPr>
          <p:nvPr/>
        </p:nvSpPr>
        <p:spPr bwMode="auto">
          <a:xfrm>
            <a:off x="144463" y="785813"/>
            <a:ext cx="473075" cy="31591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4425247" y="588725"/>
            <a:ext cx="45917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作法示例：过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F</a:t>
            </a:r>
            <a:r>
              <a:rPr lang="zh-CN" altLang="en-US" sz="2000" b="1" dirty="0">
                <a:solidFill>
                  <a:srgbClr val="FF0000"/>
                </a:solidFill>
                <a:latin typeface="宋体" pitchFamily="2" charset="-122"/>
              </a:rPr>
              <a:t>做垂直于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ADC</a:t>
            </a:r>
            <a:r>
              <a:rPr lang="zh-CN" altLang="en-US" sz="2000" b="1" dirty="0">
                <a:solidFill>
                  <a:srgbClr val="FF0000"/>
                </a:solidFill>
                <a:latin typeface="宋体" pitchFamily="2" charset="-122"/>
              </a:rPr>
              <a:t>的直线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F3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66764" y="6179194"/>
            <a:ext cx="68569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方法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1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.2 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：构造一个垂直于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ADC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或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ABC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平面的平面。</a:t>
            </a:r>
            <a:endParaRPr lang="zh-CN" altLang="en-US" sz="20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281484" y="6124330"/>
            <a:ext cx="28625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latin typeface="宋体" pitchFamily="2" charset="-122"/>
              </a:rPr>
              <a:t>方法</a:t>
            </a:r>
            <a:r>
              <a:rPr lang="en-US" altLang="zh-CN" sz="2400" b="1" dirty="0" smtClean="0">
                <a:solidFill>
                  <a:srgbClr val="FF0000"/>
                </a:solidFill>
                <a:latin typeface="宋体" pitchFamily="2" charset="-122"/>
              </a:rPr>
              <a:t>1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itchFamily="2" charset="-122"/>
              </a:rPr>
              <a:t>：换面</a:t>
            </a:r>
            <a:r>
              <a:rPr lang="en-US" altLang="zh-CN" sz="2400" b="1" dirty="0" smtClean="0">
                <a:solidFill>
                  <a:srgbClr val="FF0000"/>
                </a:solidFill>
                <a:latin typeface="宋体" pitchFamily="2" charset="-122"/>
              </a:rPr>
              <a:t>+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构造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/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*2-3-1-12  </a:t>
            </a:r>
            <a:r>
              <a:rPr lang="zh-CN" altLang="en-US" sz="1600" b="1">
                <a:latin typeface="宋体" pitchFamily="2" charset="-122"/>
              </a:rPr>
              <a:t>已知平面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垂直于平面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，平面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同时垂直于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及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，求作平面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和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的两个投影。</a:t>
            </a:r>
          </a:p>
        </p:txBody>
      </p:sp>
      <p:sp>
        <p:nvSpPr>
          <p:cNvPr id="23555" name="Oval 4"/>
          <p:cNvSpPr>
            <a:spLocks noChangeArrowheads="1"/>
          </p:cNvSpPr>
          <p:nvPr/>
        </p:nvSpPr>
        <p:spPr bwMode="auto">
          <a:xfrm>
            <a:off x="125413" y="714375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2355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84" t="11311" r="31758" b="19922"/>
          <a:stretch>
            <a:fillRect/>
          </a:stretch>
        </p:blipFill>
        <p:spPr bwMode="auto">
          <a:xfrm>
            <a:off x="2722563" y="714375"/>
            <a:ext cx="3767137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581775" y="1258888"/>
            <a:ext cx="2562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hlink"/>
                </a:solidFill>
                <a:latin typeface="宋体" pitchFamily="2" charset="-122"/>
              </a:rPr>
              <a:t>思路</a:t>
            </a:r>
            <a:r>
              <a:rPr lang="en-US" altLang="zh-CN" sz="2400" b="1">
                <a:solidFill>
                  <a:schemeClr val="hlink"/>
                </a:solidFill>
                <a:latin typeface="宋体" pitchFamily="2" charset="-122"/>
              </a:rPr>
              <a:t>2</a:t>
            </a:r>
            <a:r>
              <a:rPr lang="zh-CN" altLang="en-US" sz="2400" b="1">
                <a:solidFill>
                  <a:schemeClr val="hlink"/>
                </a:solidFill>
                <a:latin typeface="宋体" pitchFamily="2" charset="-122"/>
              </a:rPr>
              <a:t>：构造法</a:t>
            </a:r>
            <a:endParaRPr lang="zh-CN" altLang="en-US" sz="2400" b="1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6407404" y="2259112"/>
            <a:ext cx="271830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 smtClean="0">
                <a:latin typeface="宋体" pitchFamily="2" charset="-122"/>
              </a:rPr>
              <a:t>方法</a:t>
            </a:r>
            <a:r>
              <a:rPr lang="en-US" altLang="zh-CN" sz="1800" b="1" dirty="0" smtClean="0">
                <a:latin typeface="宋体" pitchFamily="2" charset="-122"/>
              </a:rPr>
              <a:t> </a:t>
            </a:r>
            <a:r>
              <a:rPr lang="zh-CN" altLang="en-US" sz="1800" b="1" dirty="0" smtClean="0">
                <a:latin typeface="宋体" pitchFamily="2" charset="-122"/>
              </a:rPr>
              <a:t>：</a:t>
            </a:r>
            <a:endParaRPr lang="en-US" altLang="zh-CN" sz="1800" b="1" dirty="0" smtClean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 smtClean="0">
                <a:latin typeface="宋体" pitchFamily="2" charset="-122"/>
              </a:rPr>
              <a:t>构造平面</a:t>
            </a:r>
            <a:r>
              <a:rPr lang="en-US" altLang="zh-CN" sz="1800" b="1" dirty="0" smtClean="0">
                <a:latin typeface="宋体" pitchFamily="2" charset="-122"/>
              </a:rPr>
              <a:t>12A</a:t>
            </a:r>
            <a:r>
              <a:rPr lang="zh-CN" altLang="en-US" sz="1800" b="1" dirty="0" smtClean="0">
                <a:latin typeface="宋体" pitchFamily="2" charset="-122"/>
              </a:rPr>
              <a:t>垂直</a:t>
            </a:r>
            <a:r>
              <a:rPr lang="zh-CN" altLang="en-US" sz="1800" b="1" dirty="0" smtClean="0">
                <a:latin typeface="宋体" pitchFamily="2" charset="-122"/>
              </a:rPr>
              <a:t>于</a:t>
            </a:r>
            <a:r>
              <a:rPr lang="en-US" altLang="zh-CN" sz="1800" b="1" dirty="0" smtClean="0">
                <a:latin typeface="宋体" pitchFamily="2" charset="-122"/>
              </a:rPr>
              <a:t>AC</a:t>
            </a:r>
            <a:r>
              <a:rPr lang="zh-CN" altLang="en-US" sz="1800" b="1" dirty="0" smtClean="0">
                <a:latin typeface="宋体" pitchFamily="2" charset="-122"/>
              </a:rPr>
              <a:t>。</a:t>
            </a:r>
            <a:endParaRPr lang="en-US" altLang="zh-CN" sz="1800" b="1" dirty="0" smtClean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 smtClean="0">
                <a:latin typeface="宋体" pitchFamily="2" charset="-122"/>
              </a:rPr>
              <a:t>做</a:t>
            </a:r>
            <a:r>
              <a:rPr lang="en-US" altLang="zh-CN" sz="1800" b="1" dirty="0" smtClean="0">
                <a:latin typeface="宋体" pitchFamily="2" charset="-122"/>
              </a:rPr>
              <a:t>DM</a:t>
            </a:r>
            <a:r>
              <a:rPr lang="zh-CN" altLang="en-US" sz="1800" b="1" dirty="0" smtClean="0">
                <a:latin typeface="宋体" pitchFamily="2" charset="-122"/>
              </a:rPr>
              <a:t>垂直于平面</a:t>
            </a:r>
            <a:r>
              <a:rPr lang="en-US" altLang="zh-CN" sz="1800" b="1" dirty="0" smtClean="0">
                <a:latin typeface="宋体" pitchFamily="2" charset="-122"/>
              </a:rPr>
              <a:t>ABC</a:t>
            </a:r>
            <a:r>
              <a:rPr lang="zh-CN" altLang="en-US" sz="1800" b="1" dirty="0" smtClean="0">
                <a:latin typeface="宋体" pitchFamily="2" charset="-122"/>
              </a:rPr>
              <a:t>。</a:t>
            </a:r>
            <a:endParaRPr lang="zh-CN" altLang="en-US" sz="1800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*2-3-1-12  </a:t>
            </a:r>
            <a:r>
              <a:rPr lang="zh-CN" altLang="en-US" sz="1600" b="1">
                <a:latin typeface="宋体" pitchFamily="2" charset="-122"/>
              </a:rPr>
              <a:t>已知平面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垂直于平面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，平面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同时垂直于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及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，求作平面 </a:t>
            </a:r>
            <a:r>
              <a:rPr lang="en-US" altLang="zh-CN" sz="1600" b="1">
                <a:latin typeface="宋体" pitchFamily="2" charset="-122"/>
              </a:rPr>
              <a:t>ACD </a:t>
            </a:r>
            <a:r>
              <a:rPr lang="zh-CN" altLang="en-US" sz="1600" b="1">
                <a:latin typeface="宋体" pitchFamily="2" charset="-122"/>
              </a:rPr>
              <a:t>和 </a:t>
            </a:r>
            <a:r>
              <a:rPr lang="en-US" altLang="zh-CN" sz="1600" b="1">
                <a:latin typeface="宋体" pitchFamily="2" charset="-122"/>
              </a:rPr>
              <a:t>AFG </a:t>
            </a:r>
            <a:r>
              <a:rPr lang="zh-CN" altLang="en-US" sz="1600" b="1">
                <a:latin typeface="宋体" pitchFamily="2" charset="-122"/>
              </a:rPr>
              <a:t>的两个投影。</a:t>
            </a:r>
          </a:p>
        </p:txBody>
      </p:sp>
      <p:graphicFrame>
        <p:nvGraphicFramePr>
          <p:cNvPr id="24579" name="Object 5"/>
          <p:cNvGraphicFramePr>
            <a:graphicFrameLocks noChangeAspect="1"/>
          </p:cNvGraphicFramePr>
          <p:nvPr/>
        </p:nvGraphicFramePr>
        <p:xfrm>
          <a:off x="2593975" y="714375"/>
          <a:ext cx="5934075" cy="557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2" name="Image" r:id="rId3" imgW="7911111" imgH="7428571" progId="Photoshop.Image.6">
                  <p:embed/>
                </p:oleObj>
              </mc:Choice>
              <mc:Fallback>
                <p:oleObj name="Image" r:id="rId3" imgW="7911111" imgH="7428571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714375"/>
                        <a:ext cx="5934075" cy="557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Oval 6"/>
          <p:cNvSpPr>
            <a:spLocks noChangeArrowheads="1"/>
          </p:cNvSpPr>
          <p:nvPr/>
        </p:nvSpPr>
        <p:spPr bwMode="auto">
          <a:xfrm>
            <a:off x="125413" y="714375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365125" y="4975225"/>
            <a:ext cx="3505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宋体" pitchFamily="2" charset="-122"/>
              </a:rPr>
              <a:t>问题：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000" b="1">
                <a:latin typeface="宋体" pitchFamily="2" charset="-122"/>
              </a:rPr>
              <a:t>各投影面上的投影要完整。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000" b="1">
                <a:latin typeface="宋体" pitchFamily="2" charset="-122"/>
              </a:rPr>
              <a:t>可见性。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780088" y="714375"/>
            <a:ext cx="3363912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宋体" pitchFamily="2" charset="-122"/>
              </a:rPr>
              <a:t>思路</a:t>
            </a:r>
            <a:r>
              <a:rPr lang="en-US" altLang="zh-CN" sz="2400" b="1" dirty="0">
                <a:solidFill>
                  <a:schemeClr val="hlink"/>
                </a:solidFill>
                <a:latin typeface="宋体" pitchFamily="2" charset="-122"/>
              </a:rPr>
              <a:t>3</a:t>
            </a:r>
            <a:r>
              <a:rPr lang="zh-CN" altLang="en-US" sz="2400" b="1" dirty="0">
                <a:solidFill>
                  <a:schemeClr val="hlink"/>
                </a:solidFill>
                <a:latin typeface="宋体" pitchFamily="2" charset="-122"/>
              </a:rPr>
              <a:t>：</a:t>
            </a:r>
            <a:endParaRPr lang="en-US" altLang="zh-CN" sz="2400" b="1" dirty="0">
              <a:solidFill>
                <a:schemeClr val="hlink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itchFamily="2" charset="-122"/>
              </a:rPr>
              <a:t>将</a:t>
            </a:r>
            <a:r>
              <a:rPr lang="en-US" altLang="zh-CN" sz="2000" b="1" dirty="0">
                <a:latin typeface="宋体" pitchFamily="2" charset="-122"/>
              </a:rPr>
              <a:t>AC</a:t>
            </a:r>
            <a:r>
              <a:rPr lang="zh-CN" altLang="en-US" sz="2000" b="1" dirty="0">
                <a:latin typeface="宋体" pitchFamily="2" charset="-122"/>
              </a:rPr>
              <a:t>积聚，则</a:t>
            </a:r>
            <a:r>
              <a:rPr lang="en-US" altLang="zh-CN" sz="2000" b="1" dirty="0">
                <a:latin typeface="宋体" pitchFamily="2" charset="-122"/>
              </a:rPr>
              <a:t>ABC</a:t>
            </a:r>
            <a:r>
              <a:rPr lang="zh-CN" altLang="en-US" sz="2000" b="1" dirty="0">
                <a:latin typeface="宋体" pitchFamily="2" charset="-122"/>
              </a:rPr>
              <a:t>和</a:t>
            </a:r>
            <a:r>
              <a:rPr lang="en-US" altLang="zh-CN" sz="2000" b="1" dirty="0">
                <a:latin typeface="宋体" pitchFamily="2" charset="-122"/>
              </a:rPr>
              <a:t>ACD</a:t>
            </a:r>
            <a:r>
              <a:rPr lang="zh-CN" altLang="en-US" sz="2000" b="1" dirty="0">
                <a:latin typeface="宋体" pitchFamily="2" charset="-122"/>
              </a:rPr>
              <a:t>积聚。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2-4-1  </a:t>
            </a:r>
            <a:r>
              <a:rPr lang="zh-CN" altLang="en-US" sz="1600" b="1">
                <a:latin typeface="宋体" pitchFamily="2" charset="-122"/>
              </a:rPr>
              <a:t>作直线 </a:t>
            </a:r>
            <a:r>
              <a:rPr lang="en-US" altLang="zh-CN" sz="1600" b="1">
                <a:latin typeface="宋体" pitchFamily="2" charset="-122"/>
              </a:rPr>
              <a:t>MN </a:t>
            </a:r>
            <a:r>
              <a:rPr lang="zh-CN" altLang="en-US" sz="1600" b="1">
                <a:latin typeface="宋体" pitchFamily="2" charset="-122"/>
              </a:rPr>
              <a:t>与两直线 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CD </a:t>
            </a:r>
            <a:r>
              <a:rPr lang="zh-CN" altLang="en-US" sz="1600" b="1">
                <a:latin typeface="宋体" pitchFamily="2" charset="-122"/>
              </a:rPr>
              <a:t>相交，并平行于直线 </a:t>
            </a:r>
            <a:r>
              <a:rPr lang="en-US" altLang="zh-CN" sz="1600" b="1">
                <a:latin typeface="宋体" pitchFamily="2" charset="-122"/>
              </a:rPr>
              <a:t>EF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  <p:sp>
        <p:nvSpPr>
          <p:cNvPr id="25603" name="Oval 3"/>
          <p:cNvSpPr>
            <a:spLocks noChangeArrowheads="1"/>
          </p:cNvSpPr>
          <p:nvPr/>
        </p:nvSpPr>
        <p:spPr bwMode="auto">
          <a:xfrm>
            <a:off x="125413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09" t="31233" r="22772" b="24268"/>
          <a:stretch>
            <a:fillRect/>
          </a:stretch>
        </p:blipFill>
        <p:spPr bwMode="auto">
          <a:xfrm>
            <a:off x="-9525" y="785813"/>
            <a:ext cx="4824413" cy="566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272" name="Line 8"/>
          <p:cNvSpPr>
            <a:spLocks noChangeShapeType="1"/>
          </p:cNvSpPr>
          <p:nvPr/>
        </p:nvSpPr>
        <p:spPr bwMode="auto">
          <a:xfrm flipH="1">
            <a:off x="3595688" y="2579688"/>
            <a:ext cx="368300" cy="55562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73" name="Text Box 9"/>
          <p:cNvSpPr txBox="1">
            <a:spLocks noChangeArrowheads="1"/>
          </p:cNvSpPr>
          <p:nvPr/>
        </p:nvSpPr>
        <p:spPr bwMode="auto">
          <a:xfrm>
            <a:off x="4731639" y="954532"/>
            <a:ext cx="4319588" cy="529375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空间分析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 </a:t>
            </a:r>
            <a:r>
              <a:rPr lang="zh-CN" altLang="en-US" sz="2400" b="1" dirty="0">
                <a:solidFill>
                  <a:schemeClr val="hlink"/>
                </a:solidFill>
                <a:latin typeface="宋体" pitchFamily="2" charset="-122"/>
              </a:rPr>
              <a:t>逆推法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宋体" pitchFamily="2" charset="-122"/>
              </a:rPr>
              <a:t>1.EF</a:t>
            </a:r>
            <a:r>
              <a:rPr lang="zh-CN" altLang="en-US" sz="1800" b="1" dirty="0">
                <a:latin typeface="宋体" pitchFamily="2" charset="-122"/>
              </a:rPr>
              <a:t>积聚，</a:t>
            </a:r>
            <a:r>
              <a:rPr lang="en-US" altLang="zh-CN" sz="1800" b="1" dirty="0">
                <a:latin typeface="宋体" pitchFamily="2" charset="-122"/>
              </a:rPr>
              <a:t>MN</a:t>
            </a:r>
            <a:r>
              <a:rPr lang="zh-CN" altLang="en-US" sz="1800" b="1" dirty="0">
                <a:latin typeface="宋体" pitchFamily="2" charset="-122"/>
              </a:rPr>
              <a:t>积聚为</a:t>
            </a:r>
            <a:r>
              <a:rPr lang="en-US" altLang="zh-CN" sz="1800" b="1" dirty="0">
                <a:latin typeface="宋体" pitchFamily="2" charset="-122"/>
              </a:rPr>
              <a:t>AB</a:t>
            </a:r>
            <a:r>
              <a:rPr lang="zh-CN" altLang="en-US" sz="1800" b="1" dirty="0">
                <a:latin typeface="宋体" pitchFamily="2" charset="-122"/>
              </a:rPr>
              <a:t>和</a:t>
            </a:r>
            <a:r>
              <a:rPr lang="en-US" altLang="zh-CN" sz="1800" b="1" dirty="0">
                <a:latin typeface="宋体" pitchFamily="2" charset="-122"/>
              </a:rPr>
              <a:t>CD</a:t>
            </a:r>
            <a:r>
              <a:rPr lang="zh-CN" altLang="en-US" sz="1800" b="1" dirty="0">
                <a:latin typeface="宋体" pitchFamily="2" charset="-122"/>
              </a:rPr>
              <a:t>的重影点。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宋体" pitchFamily="2" charset="-122"/>
              </a:rPr>
              <a:t>2.CD</a:t>
            </a:r>
            <a:r>
              <a:rPr lang="zh-CN" altLang="en-US" sz="1800" b="1" dirty="0">
                <a:latin typeface="宋体" pitchFamily="2" charset="-122"/>
              </a:rPr>
              <a:t>积聚，</a:t>
            </a:r>
            <a:r>
              <a:rPr lang="en-US" altLang="zh-CN" sz="1800" b="1" dirty="0">
                <a:latin typeface="宋体" pitchFamily="2" charset="-122"/>
              </a:rPr>
              <a:t>N</a:t>
            </a:r>
            <a:r>
              <a:rPr lang="zh-CN" altLang="en-US" sz="1800" b="1" dirty="0">
                <a:latin typeface="宋体" pitchFamily="2" charset="-122"/>
              </a:rPr>
              <a:t>与</a:t>
            </a:r>
            <a:r>
              <a:rPr lang="en-US" altLang="zh-CN" sz="1800" b="1" dirty="0">
                <a:latin typeface="宋体" pitchFamily="2" charset="-122"/>
              </a:rPr>
              <a:t>CD</a:t>
            </a:r>
            <a:r>
              <a:rPr lang="zh-CN" altLang="en-US" sz="1800" b="1" dirty="0">
                <a:latin typeface="宋体" pitchFamily="2" charset="-122"/>
              </a:rPr>
              <a:t>重影而获得。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 </a:t>
            </a:r>
            <a:r>
              <a:rPr lang="zh-CN" altLang="en-US" sz="2400" b="1" dirty="0">
                <a:solidFill>
                  <a:schemeClr val="hlink"/>
                </a:solidFill>
                <a:latin typeface="宋体" pitchFamily="2" charset="-122"/>
              </a:rPr>
              <a:t>逆推法＋轨迹法</a:t>
            </a:r>
            <a:endParaRPr lang="zh-CN" altLang="en-US" sz="24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CN" sz="1800" b="1" dirty="0">
                <a:latin typeface="宋体" pitchFamily="2" charset="-122"/>
              </a:rPr>
              <a:t>AB</a:t>
            </a:r>
            <a:r>
              <a:rPr lang="zh-CN" altLang="en-US" sz="1800" b="1" dirty="0">
                <a:latin typeface="宋体" pitchFamily="2" charset="-122"/>
              </a:rPr>
              <a:t>与</a:t>
            </a:r>
            <a:r>
              <a:rPr lang="en-US" altLang="zh-CN" sz="1800" b="1" dirty="0">
                <a:latin typeface="宋体" pitchFamily="2" charset="-122"/>
              </a:rPr>
              <a:t>MN</a:t>
            </a:r>
            <a:r>
              <a:rPr lang="zh-CN" altLang="en-US" sz="1800" b="1" dirty="0">
                <a:latin typeface="宋体" pitchFamily="2" charset="-122"/>
              </a:rPr>
              <a:t>构成平行于</a:t>
            </a:r>
            <a:r>
              <a:rPr lang="en-US" altLang="zh-CN" sz="1800" b="1" dirty="0">
                <a:latin typeface="宋体" pitchFamily="2" charset="-122"/>
              </a:rPr>
              <a:t>EF</a:t>
            </a:r>
            <a:r>
              <a:rPr lang="zh-CN" altLang="en-US" sz="1800" b="1" dirty="0">
                <a:latin typeface="宋体" pitchFamily="2" charset="-122"/>
              </a:rPr>
              <a:t>的平面，</a:t>
            </a:r>
            <a:r>
              <a:rPr lang="en-US" altLang="zh-CN" sz="1800" b="1" dirty="0">
                <a:latin typeface="宋体" pitchFamily="2" charset="-122"/>
              </a:rPr>
              <a:t>CD</a:t>
            </a:r>
            <a:r>
              <a:rPr lang="zh-CN" altLang="en-US" sz="1800" b="1" dirty="0">
                <a:latin typeface="宋体" pitchFamily="2" charset="-122"/>
              </a:rPr>
              <a:t>与</a:t>
            </a:r>
            <a:r>
              <a:rPr lang="en-US" altLang="zh-CN" sz="1800" b="1" dirty="0">
                <a:latin typeface="宋体" pitchFamily="2" charset="-122"/>
              </a:rPr>
              <a:t>MN</a:t>
            </a:r>
            <a:r>
              <a:rPr lang="zh-CN" altLang="en-US" sz="1800" b="1" dirty="0">
                <a:latin typeface="宋体" pitchFamily="2" charset="-122"/>
              </a:rPr>
              <a:t>也构成一个平行于</a:t>
            </a:r>
            <a:r>
              <a:rPr lang="en-US" altLang="zh-CN" sz="1800" b="1" dirty="0">
                <a:latin typeface="宋体" pitchFamily="2" charset="-122"/>
              </a:rPr>
              <a:t>EF</a:t>
            </a:r>
            <a:r>
              <a:rPr lang="zh-CN" altLang="en-US" sz="1800" b="1" dirty="0">
                <a:latin typeface="宋体" pitchFamily="2" charset="-122"/>
              </a:rPr>
              <a:t>的平面，这两个平面的交线即为</a:t>
            </a:r>
            <a:r>
              <a:rPr lang="en-US" altLang="zh-CN" sz="1800" b="1" dirty="0">
                <a:latin typeface="宋体" pitchFamily="2" charset="-122"/>
              </a:rPr>
              <a:t>MN</a:t>
            </a:r>
            <a:r>
              <a:rPr lang="zh-CN" altLang="en-US" sz="1800" b="1" dirty="0">
                <a:latin typeface="宋体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endParaRPr lang="zh-CN" altLang="en-US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宋体" pitchFamily="2" charset="-122"/>
              </a:rPr>
              <a:t> 轨迹</a:t>
            </a:r>
            <a:r>
              <a:rPr lang="zh-CN" altLang="en-US" sz="2400" b="1" dirty="0" smtClean="0">
                <a:solidFill>
                  <a:schemeClr val="hlink"/>
                </a:solidFill>
                <a:latin typeface="宋体" pitchFamily="2" charset="-122"/>
              </a:rPr>
              <a:t>法</a:t>
            </a:r>
            <a:endParaRPr lang="zh-CN" altLang="en-US" sz="2400" b="1" dirty="0">
              <a:solidFill>
                <a:schemeClr val="hlink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>
                <a:latin typeface="宋体" pitchFamily="2" charset="-122"/>
              </a:rPr>
              <a:t>所有与</a:t>
            </a:r>
            <a:r>
              <a:rPr lang="en-US" altLang="zh-CN" sz="1800" b="1" dirty="0">
                <a:latin typeface="宋体" pitchFamily="2" charset="-122"/>
              </a:rPr>
              <a:t>AB</a:t>
            </a:r>
            <a:r>
              <a:rPr lang="zh-CN" altLang="en-US" sz="1800" b="1" dirty="0">
                <a:latin typeface="宋体" pitchFamily="2" charset="-122"/>
              </a:rPr>
              <a:t>相交，且与</a:t>
            </a:r>
            <a:r>
              <a:rPr lang="en-US" altLang="zh-CN" sz="1800" b="1" dirty="0">
                <a:latin typeface="宋体" pitchFamily="2" charset="-122"/>
              </a:rPr>
              <a:t>EF</a:t>
            </a:r>
            <a:r>
              <a:rPr lang="zh-CN" altLang="en-US" sz="1800" b="1" dirty="0">
                <a:latin typeface="宋体" pitchFamily="2" charset="-122"/>
              </a:rPr>
              <a:t>平行的直线的轨迹是一个过</a:t>
            </a:r>
            <a:r>
              <a:rPr lang="en-US" altLang="zh-CN" sz="1800" b="1" dirty="0">
                <a:latin typeface="宋体" pitchFamily="2" charset="-122"/>
              </a:rPr>
              <a:t>AB</a:t>
            </a:r>
            <a:r>
              <a:rPr lang="zh-CN" altLang="en-US" sz="1800" b="1" dirty="0">
                <a:latin typeface="宋体" pitchFamily="2" charset="-122"/>
              </a:rPr>
              <a:t>且平行于</a:t>
            </a:r>
            <a:r>
              <a:rPr lang="en-US" altLang="zh-CN" sz="1800" b="1" dirty="0">
                <a:latin typeface="宋体" pitchFamily="2" charset="-122"/>
              </a:rPr>
              <a:t>EF</a:t>
            </a:r>
            <a:r>
              <a:rPr lang="zh-CN" altLang="en-US" sz="1800" b="1" dirty="0">
                <a:latin typeface="宋体" pitchFamily="2" charset="-122"/>
              </a:rPr>
              <a:t>的平面。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>
                <a:latin typeface="宋体" pitchFamily="2" charset="-122"/>
              </a:rPr>
              <a:t>所有与</a:t>
            </a:r>
            <a:r>
              <a:rPr lang="en-US" altLang="zh-CN" sz="1800" b="1" dirty="0">
                <a:latin typeface="宋体" pitchFamily="2" charset="-122"/>
              </a:rPr>
              <a:t>CD</a:t>
            </a:r>
            <a:r>
              <a:rPr lang="zh-CN" altLang="en-US" sz="1800" b="1" dirty="0">
                <a:latin typeface="宋体" pitchFamily="2" charset="-122"/>
              </a:rPr>
              <a:t>相交，且与</a:t>
            </a:r>
            <a:r>
              <a:rPr lang="en-US" altLang="zh-CN" sz="1800" b="1" dirty="0">
                <a:latin typeface="宋体" pitchFamily="2" charset="-122"/>
              </a:rPr>
              <a:t>EF</a:t>
            </a:r>
            <a:r>
              <a:rPr lang="zh-CN" altLang="en-US" sz="1800" b="1" dirty="0">
                <a:latin typeface="宋体" pitchFamily="2" charset="-122"/>
              </a:rPr>
              <a:t>平行的直线的轨迹是一个过</a:t>
            </a:r>
            <a:r>
              <a:rPr lang="en-US" altLang="zh-CN" sz="1800" b="1" dirty="0">
                <a:latin typeface="宋体" pitchFamily="2" charset="-122"/>
              </a:rPr>
              <a:t>CD</a:t>
            </a:r>
            <a:r>
              <a:rPr lang="zh-CN" altLang="en-US" sz="1800" b="1" dirty="0">
                <a:latin typeface="宋体" pitchFamily="2" charset="-122"/>
              </a:rPr>
              <a:t>且</a:t>
            </a:r>
            <a:r>
              <a:rPr lang="zh-CN" altLang="en-US" sz="1800" b="1" dirty="0" smtClean="0">
                <a:latin typeface="宋体" pitchFamily="2" charset="-122"/>
              </a:rPr>
              <a:t>平行于</a:t>
            </a:r>
            <a:r>
              <a:rPr lang="en-US" altLang="zh-CN" sz="1800" b="1" dirty="0" smtClean="0">
                <a:latin typeface="宋体" pitchFamily="2" charset="-122"/>
              </a:rPr>
              <a:t>EF</a:t>
            </a:r>
            <a:r>
              <a:rPr lang="zh-CN" altLang="en-US" sz="1800" b="1" dirty="0">
                <a:latin typeface="宋体" pitchFamily="2" charset="-122"/>
              </a:rPr>
              <a:t>的平面。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>
                <a:latin typeface="宋体" pitchFamily="2" charset="-122"/>
              </a:rPr>
              <a:t>这两个平面的交线就是即与</a:t>
            </a:r>
            <a:r>
              <a:rPr lang="en-US" altLang="zh-CN" sz="1800" b="1" dirty="0">
                <a:latin typeface="宋体" pitchFamily="2" charset="-122"/>
              </a:rPr>
              <a:t>AB</a:t>
            </a:r>
            <a:r>
              <a:rPr lang="zh-CN" altLang="en-US" sz="1800" b="1" dirty="0">
                <a:latin typeface="宋体" pitchFamily="2" charset="-122"/>
              </a:rPr>
              <a:t>和</a:t>
            </a:r>
            <a:r>
              <a:rPr lang="en-US" altLang="zh-CN" sz="1800" b="1" dirty="0">
                <a:latin typeface="宋体" pitchFamily="2" charset="-122"/>
              </a:rPr>
              <a:t>CD</a:t>
            </a:r>
            <a:r>
              <a:rPr lang="zh-CN" altLang="en-US" sz="1800" b="1" dirty="0">
                <a:latin typeface="宋体" pitchFamily="2" charset="-122"/>
              </a:rPr>
              <a:t>相交，又与</a:t>
            </a:r>
            <a:r>
              <a:rPr lang="en-US" altLang="zh-CN" sz="1800" b="1" dirty="0">
                <a:latin typeface="宋体" pitchFamily="2" charset="-122"/>
              </a:rPr>
              <a:t>EF</a:t>
            </a:r>
            <a:r>
              <a:rPr lang="zh-CN" altLang="en-US" sz="1800" b="1" dirty="0">
                <a:latin typeface="宋体" pitchFamily="2" charset="-122"/>
              </a:rPr>
              <a:t>平行的直线。</a:t>
            </a:r>
          </a:p>
        </p:txBody>
      </p:sp>
      <p:sp>
        <p:nvSpPr>
          <p:cNvPr id="139274" name="Text Box 10"/>
          <p:cNvSpPr txBox="1">
            <a:spLocks noChangeArrowheads="1"/>
          </p:cNvSpPr>
          <p:nvPr/>
        </p:nvSpPr>
        <p:spPr bwMode="auto">
          <a:xfrm>
            <a:off x="3268663" y="3090863"/>
            <a:ext cx="831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  <a:latin typeface="Times New Roman" pitchFamily="18" charset="0"/>
                <a:ea typeface="BatangChe" pitchFamily="49" charset="-127"/>
              </a:rPr>
              <a:t>m</a:t>
            </a:r>
            <a:r>
              <a:rPr lang="en-US" altLang="zh-CN" sz="1800" b="1">
                <a:solidFill>
                  <a:schemeClr val="hlink"/>
                </a:solidFill>
                <a:latin typeface="Times New Roman" pitchFamily="18" charset="0"/>
              </a:rPr>
              <a:t>′</a:t>
            </a:r>
          </a:p>
        </p:txBody>
      </p:sp>
      <p:sp>
        <p:nvSpPr>
          <p:cNvPr id="139275" name="Text Box 11"/>
          <p:cNvSpPr txBox="1">
            <a:spLocks noChangeArrowheads="1"/>
          </p:cNvSpPr>
          <p:nvPr/>
        </p:nvSpPr>
        <p:spPr bwMode="auto">
          <a:xfrm>
            <a:off x="3844925" y="2212975"/>
            <a:ext cx="831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  <a:latin typeface="Times New Roman" pitchFamily="18" charset="0"/>
                <a:ea typeface="BatangChe" pitchFamily="49" charset="-127"/>
              </a:rPr>
              <a:t>n</a:t>
            </a:r>
            <a:r>
              <a:rPr lang="en-US" altLang="zh-CN" sz="1800" b="1">
                <a:solidFill>
                  <a:schemeClr val="hlink"/>
                </a:solidFill>
                <a:latin typeface="Times New Roman" pitchFamily="18" charset="0"/>
              </a:rPr>
              <a:t>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9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9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9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9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9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9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92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92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92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392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2-4-1  </a:t>
            </a:r>
            <a:r>
              <a:rPr lang="zh-CN" altLang="en-US" sz="1600" b="1">
                <a:latin typeface="宋体" pitchFamily="2" charset="-122"/>
              </a:rPr>
              <a:t>作直线 </a:t>
            </a:r>
            <a:r>
              <a:rPr lang="en-US" altLang="zh-CN" sz="1600" b="1">
                <a:latin typeface="宋体" pitchFamily="2" charset="-122"/>
              </a:rPr>
              <a:t>MN </a:t>
            </a:r>
            <a:r>
              <a:rPr lang="zh-CN" altLang="en-US" sz="1600" b="1">
                <a:latin typeface="宋体" pitchFamily="2" charset="-122"/>
              </a:rPr>
              <a:t>与两直线 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CD </a:t>
            </a:r>
            <a:r>
              <a:rPr lang="zh-CN" altLang="en-US" sz="1600" b="1">
                <a:latin typeface="宋体" pitchFamily="2" charset="-122"/>
              </a:rPr>
              <a:t>相交，并平行于直线 </a:t>
            </a:r>
            <a:r>
              <a:rPr lang="en-US" altLang="zh-CN" sz="1600" b="1">
                <a:latin typeface="宋体" pitchFamily="2" charset="-122"/>
              </a:rPr>
              <a:t>EF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  <p:sp>
        <p:nvSpPr>
          <p:cNvPr id="26627" name="Oval 4"/>
          <p:cNvSpPr>
            <a:spLocks noChangeArrowheads="1"/>
          </p:cNvSpPr>
          <p:nvPr/>
        </p:nvSpPr>
        <p:spPr bwMode="auto">
          <a:xfrm>
            <a:off x="125413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321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2" t="22900" r="17305" b="24089"/>
          <a:stretch>
            <a:fillRect/>
          </a:stretch>
        </p:blipFill>
        <p:spPr bwMode="auto">
          <a:xfrm>
            <a:off x="374650" y="957263"/>
            <a:ext cx="8283575" cy="517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95364" y="6179194"/>
            <a:ext cx="68569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方法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1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：将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EF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积聚。</a:t>
            </a:r>
            <a:endParaRPr lang="zh-CN" altLang="en-US" sz="2000" b="1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2-4-1  </a:t>
            </a:r>
            <a:r>
              <a:rPr lang="zh-CN" altLang="en-US" sz="1600" b="1">
                <a:latin typeface="宋体" pitchFamily="2" charset="-122"/>
              </a:rPr>
              <a:t>作直线 </a:t>
            </a:r>
            <a:r>
              <a:rPr lang="en-US" altLang="zh-CN" sz="1600" b="1">
                <a:latin typeface="宋体" pitchFamily="2" charset="-122"/>
              </a:rPr>
              <a:t>MN </a:t>
            </a:r>
            <a:r>
              <a:rPr lang="zh-CN" altLang="en-US" sz="1600" b="1">
                <a:latin typeface="宋体" pitchFamily="2" charset="-122"/>
              </a:rPr>
              <a:t>与两直线 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CD </a:t>
            </a:r>
            <a:r>
              <a:rPr lang="zh-CN" altLang="en-US" sz="1600" b="1">
                <a:latin typeface="宋体" pitchFamily="2" charset="-122"/>
              </a:rPr>
              <a:t>相交，并平行于直线 </a:t>
            </a:r>
            <a:r>
              <a:rPr lang="en-US" altLang="zh-CN" sz="1600" b="1">
                <a:latin typeface="宋体" pitchFamily="2" charset="-122"/>
              </a:rPr>
              <a:t>EF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125413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33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7" t="14388" r="14401" b="26546"/>
          <a:stretch>
            <a:fillRect/>
          </a:stretch>
        </p:blipFill>
        <p:spPr bwMode="auto">
          <a:xfrm>
            <a:off x="1112838" y="646113"/>
            <a:ext cx="7473950" cy="576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95364" y="6314662"/>
            <a:ext cx="68569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方法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2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：将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AB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或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CD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积聚。</a:t>
            </a:r>
            <a:endParaRPr lang="zh-CN" altLang="en-US" sz="2000" b="1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2-4-1  </a:t>
            </a:r>
            <a:r>
              <a:rPr lang="zh-CN" altLang="en-US" sz="1600" b="1">
                <a:latin typeface="宋体" pitchFamily="2" charset="-122"/>
              </a:rPr>
              <a:t>作直线 </a:t>
            </a:r>
            <a:r>
              <a:rPr lang="en-US" altLang="zh-CN" sz="1600" b="1">
                <a:latin typeface="宋体" pitchFamily="2" charset="-122"/>
              </a:rPr>
              <a:t>MN </a:t>
            </a:r>
            <a:r>
              <a:rPr lang="zh-CN" altLang="en-US" sz="1600" b="1">
                <a:latin typeface="宋体" pitchFamily="2" charset="-122"/>
              </a:rPr>
              <a:t>与两直线 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CD </a:t>
            </a:r>
            <a:r>
              <a:rPr lang="zh-CN" altLang="en-US" sz="1600" b="1">
                <a:latin typeface="宋体" pitchFamily="2" charset="-122"/>
              </a:rPr>
              <a:t>相交，并平行于直线 </a:t>
            </a:r>
            <a:r>
              <a:rPr lang="en-US" altLang="zh-CN" sz="1600" b="1">
                <a:latin typeface="宋体" pitchFamily="2" charset="-122"/>
              </a:rPr>
              <a:t>EF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  <p:sp>
        <p:nvSpPr>
          <p:cNvPr id="28675" name="Oval 3"/>
          <p:cNvSpPr>
            <a:spLocks noChangeArrowheads="1"/>
          </p:cNvSpPr>
          <p:nvPr/>
        </p:nvSpPr>
        <p:spPr bwMode="auto">
          <a:xfrm>
            <a:off x="125413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204813"/>
              </p:ext>
            </p:extLst>
          </p:nvPr>
        </p:nvGraphicFramePr>
        <p:xfrm>
          <a:off x="2933363" y="469900"/>
          <a:ext cx="5967413" cy="621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6" name="Image" r:id="rId3" imgW="6209524" imgH="6463492" progId="Photoshop.Image.6">
                  <p:embed/>
                </p:oleObj>
              </mc:Choice>
              <mc:Fallback>
                <p:oleObj name="Image" r:id="rId3" imgW="6209524" imgH="6463492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363" y="469900"/>
                        <a:ext cx="5967413" cy="621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1226" y="5772790"/>
            <a:ext cx="685698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方法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3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：过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AB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和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CD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做两个平行于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EF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的平面，</a:t>
            </a:r>
            <a:endParaRPr lang="en-US" altLang="zh-CN" sz="2000" b="1" dirty="0" smtClean="0">
              <a:solidFill>
                <a:srgbClr val="FF0000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 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      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求交线。</a:t>
            </a:r>
            <a:endParaRPr lang="zh-CN" altLang="en-US" sz="2000" b="1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2-4-1  </a:t>
            </a:r>
            <a:r>
              <a:rPr lang="zh-CN" altLang="en-US" sz="1600" b="1">
                <a:latin typeface="宋体" pitchFamily="2" charset="-122"/>
              </a:rPr>
              <a:t>作直线 </a:t>
            </a:r>
            <a:r>
              <a:rPr lang="en-US" altLang="zh-CN" sz="1600" b="1">
                <a:latin typeface="宋体" pitchFamily="2" charset="-122"/>
              </a:rPr>
              <a:t>MN </a:t>
            </a:r>
            <a:r>
              <a:rPr lang="zh-CN" altLang="en-US" sz="1600" b="1">
                <a:latin typeface="宋体" pitchFamily="2" charset="-122"/>
              </a:rPr>
              <a:t>与两直线 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CD </a:t>
            </a:r>
            <a:r>
              <a:rPr lang="zh-CN" altLang="en-US" sz="1600" b="1">
                <a:latin typeface="宋体" pitchFamily="2" charset="-122"/>
              </a:rPr>
              <a:t>相交，并平行于直线 </a:t>
            </a:r>
            <a:r>
              <a:rPr lang="en-US" altLang="zh-CN" sz="1600" b="1">
                <a:latin typeface="宋体" pitchFamily="2" charset="-122"/>
              </a:rPr>
              <a:t>EF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  <p:sp>
        <p:nvSpPr>
          <p:cNvPr id="29699" name="Oval 4"/>
          <p:cNvSpPr>
            <a:spLocks noChangeArrowheads="1"/>
          </p:cNvSpPr>
          <p:nvPr/>
        </p:nvSpPr>
        <p:spPr bwMode="auto">
          <a:xfrm>
            <a:off x="125413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2970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2" t="18359" r="49727" b="32893"/>
          <a:stretch>
            <a:fillRect/>
          </a:stretch>
        </p:blipFill>
        <p:spPr bwMode="auto">
          <a:xfrm>
            <a:off x="2991750" y="571322"/>
            <a:ext cx="6038850" cy="557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85818" y="6292084"/>
            <a:ext cx="88667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改进的方法</a:t>
            </a:r>
            <a:r>
              <a:rPr lang="en-US" altLang="zh-CN" sz="1800" b="1" dirty="0" smtClean="0">
                <a:solidFill>
                  <a:srgbClr val="FF0000"/>
                </a:solidFill>
                <a:latin typeface="宋体" pitchFamily="2" charset="-122"/>
              </a:rPr>
              <a:t>3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：过</a:t>
            </a:r>
            <a:r>
              <a:rPr lang="en-US" altLang="zh-CN" sz="1800" b="1" dirty="0" smtClean="0">
                <a:solidFill>
                  <a:srgbClr val="FF0000"/>
                </a:solidFill>
                <a:latin typeface="宋体" pitchFamily="2" charset="-122"/>
              </a:rPr>
              <a:t>AB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和</a:t>
            </a:r>
            <a:r>
              <a:rPr lang="en-US" altLang="zh-CN" sz="1800" b="1" dirty="0" smtClean="0">
                <a:solidFill>
                  <a:srgbClr val="FF0000"/>
                </a:solidFill>
                <a:latin typeface="宋体" pitchFamily="2" charset="-122"/>
              </a:rPr>
              <a:t>CD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做两个平行于</a:t>
            </a:r>
            <a:r>
              <a:rPr lang="en-US" altLang="zh-CN" sz="1800" b="1" dirty="0" smtClean="0">
                <a:solidFill>
                  <a:srgbClr val="FF0000"/>
                </a:solidFill>
                <a:latin typeface="宋体" pitchFamily="2" charset="-122"/>
              </a:rPr>
              <a:t>EF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的平面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，求出</a:t>
            </a:r>
            <a:r>
              <a:rPr lang="en-US" altLang="zh-CN" sz="1800" b="1" dirty="0" smtClean="0">
                <a:solidFill>
                  <a:srgbClr val="FF0000"/>
                </a:solidFill>
                <a:latin typeface="宋体" pitchFamily="2" charset="-122"/>
              </a:rPr>
              <a:t>1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个交点，利用平行条件求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交线。</a:t>
            </a:r>
            <a:endParaRPr lang="zh-CN" altLang="en-US" sz="1800" b="1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2-4-1  </a:t>
            </a:r>
            <a:r>
              <a:rPr lang="zh-CN" altLang="en-US" sz="1600" b="1">
                <a:latin typeface="宋体" pitchFamily="2" charset="-122"/>
              </a:rPr>
              <a:t>作直线 </a:t>
            </a:r>
            <a:r>
              <a:rPr lang="en-US" altLang="zh-CN" sz="1600" b="1">
                <a:latin typeface="宋体" pitchFamily="2" charset="-122"/>
              </a:rPr>
              <a:t>MN </a:t>
            </a:r>
            <a:r>
              <a:rPr lang="zh-CN" altLang="en-US" sz="1600" b="1">
                <a:latin typeface="宋体" pitchFamily="2" charset="-122"/>
              </a:rPr>
              <a:t>与两直线 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CD </a:t>
            </a:r>
            <a:r>
              <a:rPr lang="zh-CN" altLang="en-US" sz="1600" b="1">
                <a:latin typeface="宋体" pitchFamily="2" charset="-122"/>
              </a:rPr>
              <a:t>相交，并平行于直线 </a:t>
            </a:r>
            <a:r>
              <a:rPr lang="en-US" altLang="zh-CN" sz="1600" b="1">
                <a:latin typeface="宋体" pitchFamily="2" charset="-122"/>
              </a:rPr>
              <a:t>EF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  <p:graphicFrame>
        <p:nvGraphicFramePr>
          <p:cNvPr id="3072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083357"/>
              </p:ext>
            </p:extLst>
          </p:nvPr>
        </p:nvGraphicFramePr>
        <p:xfrm>
          <a:off x="3512803" y="917575"/>
          <a:ext cx="5526087" cy="541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" name="Image" r:id="rId3" imgW="6869841" imgH="6730159" progId="Photoshop.Image.6">
                  <p:embed/>
                </p:oleObj>
              </mc:Choice>
              <mc:Fallback>
                <p:oleObj name="Image" r:id="rId3" imgW="6869841" imgH="6730159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2803" y="917575"/>
                        <a:ext cx="5526087" cy="541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Oval 6"/>
          <p:cNvSpPr>
            <a:spLocks noChangeArrowheads="1"/>
          </p:cNvSpPr>
          <p:nvPr/>
        </p:nvSpPr>
        <p:spPr bwMode="auto">
          <a:xfrm>
            <a:off x="125413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1226" y="6371107"/>
            <a:ext cx="68569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方法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4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：过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AB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或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CD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做平行于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EF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的平面，求穿点，做平行线。</a:t>
            </a:r>
            <a:endParaRPr lang="zh-CN" altLang="en-US" sz="2000" b="1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2-4-2  </a:t>
            </a:r>
            <a:r>
              <a:rPr lang="zh-CN" altLang="en-US" sz="1600" b="1">
                <a:latin typeface="宋体" pitchFamily="2" charset="-122"/>
              </a:rPr>
              <a:t>过直线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上一点Ａ作一直线垂直于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，并与 </a:t>
            </a:r>
            <a:r>
              <a:rPr lang="en-US" altLang="zh-CN" sz="1600" b="1">
                <a:latin typeface="宋体" pitchFamily="2" charset="-122"/>
              </a:rPr>
              <a:t>DE </a:t>
            </a:r>
            <a:r>
              <a:rPr lang="zh-CN" altLang="en-US" sz="1600" b="1">
                <a:latin typeface="宋体" pitchFamily="2" charset="-122"/>
              </a:rPr>
              <a:t>相交。</a:t>
            </a:r>
          </a:p>
        </p:txBody>
      </p:sp>
      <p:sp>
        <p:nvSpPr>
          <p:cNvPr id="31747" name="Oval 4"/>
          <p:cNvSpPr>
            <a:spLocks noChangeArrowheads="1"/>
          </p:cNvSpPr>
          <p:nvPr/>
        </p:nvSpPr>
        <p:spPr bwMode="auto">
          <a:xfrm>
            <a:off x="125413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3174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9" t="27995" r="39128" b="21028"/>
          <a:stretch>
            <a:fillRect/>
          </a:stretch>
        </p:blipFill>
        <p:spPr bwMode="auto">
          <a:xfrm>
            <a:off x="125413" y="1006475"/>
            <a:ext cx="5235575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6011863" y="1006475"/>
            <a:ext cx="2143125" cy="27098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宋体" pitchFamily="2" charset="-122"/>
              </a:rPr>
              <a:t>空间分析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宋体" pitchFamily="2" charset="-122"/>
              </a:rPr>
              <a:t>1. </a:t>
            </a:r>
            <a:r>
              <a:rPr lang="zh-CN" altLang="en-US" sz="2400" b="1">
                <a:solidFill>
                  <a:schemeClr val="hlink"/>
                </a:solidFill>
                <a:latin typeface="宋体" pitchFamily="2" charset="-122"/>
              </a:rPr>
              <a:t>轨迹法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>
              <a:solidFill>
                <a:schemeClr val="hlink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宋体" pitchFamily="2" charset="-122"/>
              </a:rPr>
              <a:t>2. </a:t>
            </a:r>
            <a:r>
              <a:rPr lang="zh-CN" altLang="en-US" sz="2400" b="1">
                <a:solidFill>
                  <a:schemeClr val="hlink"/>
                </a:solidFill>
                <a:latin typeface="宋体" pitchFamily="2" charset="-122"/>
              </a:rPr>
              <a:t>逆推法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0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24"/>
          <a:stretch>
            <a:fillRect/>
          </a:stretch>
        </p:blipFill>
        <p:spPr bwMode="auto">
          <a:xfrm>
            <a:off x="2171700" y="469900"/>
            <a:ext cx="4800600" cy="576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2-4-2  </a:t>
            </a:r>
            <a:r>
              <a:rPr lang="zh-CN" altLang="en-US" sz="1600" b="1">
                <a:latin typeface="宋体" pitchFamily="2" charset="-122"/>
              </a:rPr>
              <a:t>过直线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上一点Ａ作一直线垂直于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，并与 </a:t>
            </a:r>
            <a:r>
              <a:rPr lang="en-US" altLang="zh-CN" sz="1600" b="1">
                <a:latin typeface="宋体" pitchFamily="2" charset="-122"/>
              </a:rPr>
              <a:t>DE </a:t>
            </a:r>
            <a:r>
              <a:rPr lang="zh-CN" altLang="en-US" sz="1600" b="1">
                <a:latin typeface="宋体" pitchFamily="2" charset="-122"/>
              </a:rPr>
              <a:t>相交。</a:t>
            </a:r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125413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2-4-2  </a:t>
            </a:r>
            <a:r>
              <a:rPr lang="zh-CN" altLang="en-US" sz="1600" b="1">
                <a:latin typeface="宋体" pitchFamily="2" charset="-122"/>
              </a:rPr>
              <a:t>过直线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上一点Ａ作一直线垂直于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，并与 </a:t>
            </a:r>
            <a:r>
              <a:rPr lang="en-US" altLang="zh-CN" sz="1600" b="1">
                <a:latin typeface="宋体" pitchFamily="2" charset="-122"/>
              </a:rPr>
              <a:t>DE </a:t>
            </a:r>
            <a:r>
              <a:rPr lang="zh-CN" altLang="en-US" sz="1600" b="1">
                <a:latin typeface="宋体" pitchFamily="2" charset="-122"/>
              </a:rPr>
              <a:t>相交。</a:t>
            </a:r>
          </a:p>
        </p:txBody>
      </p:sp>
      <p:sp>
        <p:nvSpPr>
          <p:cNvPr id="33795" name="Oval 4"/>
          <p:cNvSpPr>
            <a:spLocks noChangeArrowheads="1"/>
          </p:cNvSpPr>
          <p:nvPr/>
        </p:nvSpPr>
        <p:spPr bwMode="auto">
          <a:xfrm>
            <a:off x="125413" y="469900"/>
            <a:ext cx="473075" cy="3159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33796" name="Object 6"/>
          <p:cNvGraphicFramePr>
            <a:graphicFrameLocks noChangeAspect="1"/>
          </p:cNvGraphicFramePr>
          <p:nvPr/>
        </p:nvGraphicFramePr>
        <p:xfrm>
          <a:off x="1300163" y="561975"/>
          <a:ext cx="6543675" cy="629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6" name="Image" r:id="rId3" imgW="8723810" imgH="8393651" progId="Photoshop.Image.6">
                  <p:embed/>
                </p:oleObj>
              </mc:Choice>
              <mc:Fallback>
                <p:oleObj name="Image" r:id="rId3" imgW="8723810" imgH="8393651" progId="Photoshop.Image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561975"/>
                        <a:ext cx="6543675" cy="629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3"/>
          <a:stretch>
            <a:fillRect/>
          </a:stretch>
        </p:blipFill>
        <p:spPr bwMode="auto">
          <a:xfrm>
            <a:off x="2163763" y="469900"/>
            <a:ext cx="4784725" cy="573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2-4-3  </a:t>
            </a:r>
            <a:r>
              <a:rPr lang="zh-CN" altLang="en-US" sz="1600" b="1">
                <a:latin typeface="宋体" pitchFamily="2" charset="-122"/>
              </a:rPr>
              <a:t>正方形</a:t>
            </a:r>
            <a:r>
              <a:rPr lang="en-US" altLang="zh-CN" sz="1600" b="1">
                <a:latin typeface="宋体" pitchFamily="2" charset="-122"/>
              </a:rPr>
              <a:t>ABCD</a:t>
            </a:r>
            <a:r>
              <a:rPr lang="zh-CN" altLang="en-US" sz="1600" b="1">
                <a:latin typeface="宋体" pitchFamily="2" charset="-122"/>
              </a:rPr>
              <a:t>的点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在直线</a:t>
            </a:r>
            <a:r>
              <a:rPr lang="en-US" altLang="zh-CN" sz="1600" b="1">
                <a:latin typeface="宋体" pitchFamily="2" charset="-122"/>
              </a:rPr>
              <a:t>EF</a:t>
            </a:r>
            <a:r>
              <a:rPr lang="zh-CN" altLang="en-US" sz="1600" b="1">
                <a:latin typeface="宋体" pitchFamily="2" charset="-122"/>
              </a:rPr>
              <a:t>上，点</a:t>
            </a:r>
            <a:r>
              <a:rPr lang="en-US" altLang="zh-CN" sz="1600" b="1">
                <a:latin typeface="宋体" pitchFamily="2" charset="-122"/>
              </a:rPr>
              <a:t>C</a:t>
            </a:r>
            <a:r>
              <a:rPr lang="zh-CN" altLang="en-US" sz="1600" b="1">
                <a:latin typeface="宋体" pitchFamily="2" charset="-122"/>
              </a:rPr>
              <a:t>在</a:t>
            </a:r>
            <a:r>
              <a:rPr lang="en-US" altLang="zh-CN" sz="1600" b="1">
                <a:latin typeface="宋体" pitchFamily="2" charset="-122"/>
              </a:rPr>
              <a:t>BG</a:t>
            </a:r>
            <a:r>
              <a:rPr lang="zh-CN" altLang="en-US" sz="1600" b="1">
                <a:latin typeface="宋体" pitchFamily="2" charset="-122"/>
              </a:rPr>
              <a:t>上</a:t>
            </a:r>
            <a:r>
              <a:rPr lang="en-US" altLang="zh-CN" sz="1600" b="1">
                <a:latin typeface="宋体" pitchFamily="2" charset="-122"/>
              </a:rPr>
              <a:t>,</a:t>
            </a:r>
            <a:r>
              <a:rPr lang="zh-CN" altLang="en-US" sz="1600" b="1">
                <a:latin typeface="宋体" pitchFamily="2" charset="-122"/>
              </a:rPr>
              <a:t>试完成其投影。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2-4-3  </a:t>
            </a:r>
            <a:r>
              <a:rPr lang="zh-CN" altLang="en-US" sz="1600" b="1">
                <a:latin typeface="宋体" pitchFamily="2" charset="-122"/>
              </a:rPr>
              <a:t>正方形</a:t>
            </a:r>
            <a:r>
              <a:rPr lang="en-US" altLang="zh-CN" sz="1600" b="1">
                <a:latin typeface="宋体" pitchFamily="2" charset="-122"/>
              </a:rPr>
              <a:t>ABCD</a:t>
            </a:r>
            <a:r>
              <a:rPr lang="zh-CN" altLang="en-US" sz="1600" b="1">
                <a:latin typeface="宋体" pitchFamily="2" charset="-122"/>
              </a:rPr>
              <a:t>的点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在直线</a:t>
            </a:r>
            <a:r>
              <a:rPr lang="en-US" altLang="zh-CN" sz="1600" b="1">
                <a:latin typeface="宋体" pitchFamily="2" charset="-122"/>
              </a:rPr>
              <a:t>EF</a:t>
            </a:r>
            <a:r>
              <a:rPr lang="zh-CN" altLang="en-US" sz="1600" b="1">
                <a:latin typeface="宋体" pitchFamily="2" charset="-122"/>
              </a:rPr>
              <a:t>上，点</a:t>
            </a:r>
            <a:r>
              <a:rPr lang="en-US" altLang="zh-CN" sz="1600" b="1">
                <a:latin typeface="宋体" pitchFamily="2" charset="-122"/>
              </a:rPr>
              <a:t>C</a:t>
            </a:r>
            <a:r>
              <a:rPr lang="zh-CN" altLang="en-US" sz="1600" b="1">
                <a:latin typeface="宋体" pitchFamily="2" charset="-122"/>
              </a:rPr>
              <a:t>在</a:t>
            </a:r>
            <a:r>
              <a:rPr lang="en-US" altLang="zh-CN" sz="1600" b="1">
                <a:latin typeface="宋体" pitchFamily="2" charset="-122"/>
              </a:rPr>
              <a:t>BG</a:t>
            </a:r>
            <a:r>
              <a:rPr lang="zh-CN" altLang="en-US" sz="1600" b="1">
                <a:latin typeface="宋体" pitchFamily="2" charset="-122"/>
              </a:rPr>
              <a:t>上</a:t>
            </a:r>
            <a:r>
              <a:rPr lang="en-US" altLang="zh-CN" sz="1600" b="1">
                <a:latin typeface="宋体" pitchFamily="2" charset="-122"/>
              </a:rPr>
              <a:t>,</a:t>
            </a:r>
            <a:r>
              <a:rPr lang="zh-CN" altLang="en-US" sz="1600" b="1">
                <a:latin typeface="宋体" pitchFamily="2" charset="-122"/>
              </a:rPr>
              <a:t>试完成其投影。</a:t>
            </a:r>
          </a:p>
        </p:txBody>
      </p:sp>
      <p:graphicFrame>
        <p:nvGraphicFramePr>
          <p:cNvPr id="35843" name="Object 6"/>
          <p:cNvGraphicFramePr>
            <a:graphicFrameLocks noChangeAspect="1"/>
          </p:cNvGraphicFramePr>
          <p:nvPr/>
        </p:nvGraphicFramePr>
        <p:xfrm>
          <a:off x="1462088" y="598488"/>
          <a:ext cx="6219825" cy="613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3" name="Image" r:id="rId3" imgW="8292063" imgH="8177778" progId="Photoshop.Image.6">
                  <p:embed/>
                </p:oleObj>
              </mc:Choice>
              <mc:Fallback>
                <p:oleObj name="Image" r:id="rId3" imgW="8292063" imgH="8177778" progId="Photoshop.Image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598488"/>
                        <a:ext cx="6219825" cy="613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2-4-4  </a:t>
            </a:r>
            <a:r>
              <a:rPr lang="zh-CN" altLang="en-US" sz="1600" b="1">
                <a:latin typeface="宋体" pitchFamily="2" charset="-122"/>
              </a:rPr>
              <a:t>已知单摆</a:t>
            </a:r>
            <a:r>
              <a:rPr lang="en-US" altLang="zh-CN" sz="1600" b="1">
                <a:latin typeface="宋体" pitchFamily="2" charset="-122"/>
              </a:rPr>
              <a:t>MN</a:t>
            </a:r>
            <a:r>
              <a:rPr lang="zh-CN" altLang="en-US" sz="1600" b="1">
                <a:latin typeface="宋体" pitchFamily="2" charset="-122"/>
              </a:rPr>
              <a:t>，点</a:t>
            </a:r>
            <a:r>
              <a:rPr lang="en-US" altLang="zh-CN" sz="1600" b="1">
                <a:latin typeface="宋体" pitchFamily="2" charset="-122"/>
              </a:rPr>
              <a:t>N</a:t>
            </a:r>
            <a:r>
              <a:rPr lang="zh-CN" altLang="en-US" sz="1600" b="1">
                <a:latin typeface="宋体" pitchFamily="2" charset="-122"/>
              </a:rPr>
              <a:t>绕点</a:t>
            </a:r>
            <a:r>
              <a:rPr lang="en-US" altLang="zh-CN" sz="1600" b="1">
                <a:latin typeface="宋体" pitchFamily="2" charset="-122"/>
              </a:rPr>
              <a:t>M</a:t>
            </a:r>
            <a:r>
              <a:rPr lang="zh-CN" altLang="en-US" sz="1600" b="1">
                <a:latin typeface="宋体" pitchFamily="2" charset="-122"/>
              </a:rPr>
              <a:t>在垂直于三角形</a:t>
            </a:r>
            <a:r>
              <a:rPr lang="en-US" altLang="zh-CN" sz="1600" b="1">
                <a:latin typeface="宋体" pitchFamily="2" charset="-122"/>
              </a:rPr>
              <a:t>ABC</a:t>
            </a:r>
            <a:r>
              <a:rPr lang="zh-CN" altLang="en-US" sz="1600" b="1">
                <a:latin typeface="宋体" pitchFamily="2" charset="-122"/>
              </a:rPr>
              <a:t>的面内摆动，求点</a:t>
            </a:r>
            <a:r>
              <a:rPr lang="en-US" altLang="zh-CN" sz="1600" b="1">
                <a:latin typeface="宋体" pitchFamily="2" charset="-122"/>
              </a:rPr>
              <a:t>N</a:t>
            </a:r>
            <a:r>
              <a:rPr lang="zh-CN" altLang="en-US" sz="1600" b="1">
                <a:latin typeface="宋体" pitchFamily="2" charset="-122"/>
              </a:rPr>
              <a:t>与三角形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的触点</a:t>
            </a:r>
            <a:r>
              <a:rPr lang="en-US" altLang="zh-CN" sz="1600" b="1">
                <a:latin typeface="宋体" pitchFamily="2" charset="-122"/>
              </a:rPr>
              <a:t>N</a:t>
            </a:r>
            <a:r>
              <a:rPr lang="en-US" altLang="zh-CN" sz="1000" b="1">
                <a:latin typeface="宋体" pitchFamily="2" charset="-122"/>
              </a:rPr>
              <a:t>1</a:t>
            </a:r>
            <a:r>
              <a:rPr lang="zh-CN" altLang="en-US" sz="1600" b="1">
                <a:latin typeface="宋体" pitchFamily="2" charset="-122"/>
              </a:rPr>
              <a:t>及摆动的角度</a:t>
            </a:r>
            <a:r>
              <a:rPr lang="en-US" altLang="zh-CN" sz="1600" b="1">
                <a:latin typeface="宋体" pitchFamily="2" charset="-122"/>
              </a:rPr>
              <a:t>θ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  <p:graphicFrame>
        <p:nvGraphicFramePr>
          <p:cNvPr id="36867" name="Object 4"/>
          <p:cNvGraphicFramePr>
            <a:graphicFrameLocks noChangeAspect="1"/>
          </p:cNvGraphicFramePr>
          <p:nvPr/>
        </p:nvGraphicFramePr>
        <p:xfrm>
          <a:off x="1598613" y="969963"/>
          <a:ext cx="6262687" cy="505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7" name="Image" r:id="rId3" imgW="6768254" imgH="5460317" progId="Photoshop.Image.6">
                  <p:embed/>
                </p:oleObj>
              </mc:Choice>
              <mc:Fallback>
                <p:oleObj name="Image" r:id="rId3" imgW="6768254" imgH="5460317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969963"/>
                        <a:ext cx="6262687" cy="505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2-4-4  </a:t>
            </a:r>
            <a:r>
              <a:rPr lang="zh-CN" altLang="en-US" sz="1600" b="1">
                <a:latin typeface="宋体" pitchFamily="2" charset="-122"/>
              </a:rPr>
              <a:t>已知单摆</a:t>
            </a:r>
            <a:r>
              <a:rPr lang="en-US" altLang="zh-CN" sz="1600" b="1">
                <a:latin typeface="宋体" pitchFamily="2" charset="-122"/>
              </a:rPr>
              <a:t>MN</a:t>
            </a:r>
            <a:r>
              <a:rPr lang="zh-CN" altLang="en-US" sz="1600" b="1">
                <a:latin typeface="宋体" pitchFamily="2" charset="-122"/>
              </a:rPr>
              <a:t>，点</a:t>
            </a:r>
            <a:r>
              <a:rPr lang="en-US" altLang="zh-CN" sz="1600" b="1">
                <a:latin typeface="宋体" pitchFamily="2" charset="-122"/>
              </a:rPr>
              <a:t>N</a:t>
            </a:r>
            <a:r>
              <a:rPr lang="zh-CN" altLang="en-US" sz="1600" b="1">
                <a:latin typeface="宋体" pitchFamily="2" charset="-122"/>
              </a:rPr>
              <a:t>绕点</a:t>
            </a:r>
            <a:r>
              <a:rPr lang="en-US" altLang="zh-CN" sz="1600" b="1">
                <a:latin typeface="宋体" pitchFamily="2" charset="-122"/>
              </a:rPr>
              <a:t>M</a:t>
            </a:r>
            <a:r>
              <a:rPr lang="zh-CN" altLang="en-US" sz="1600" b="1">
                <a:latin typeface="宋体" pitchFamily="2" charset="-122"/>
              </a:rPr>
              <a:t>在垂直于三角形</a:t>
            </a:r>
            <a:r>
              <a:rPr lang="en-US" altLang="zh-CN" sz="1600" b="1">
                <a:latin typeface="宋体" pitchFamily="2" charset="-122"/>
              </a:rPr>
              <a:t>ABC</a:t>
            </a:r>
            <a:r>
              <a:rPr lang="zh-CN" altLang="en-US" sz="1600" b="1">
                <a:latin typeface="宋体" pitchFamily="2" charset="-122"/>
              </a:rPr>
              <a:t>的面内摆动，求点</a:t>
            </a:r>
            <a:r>
              <a:rPr lang="en-US" altLang="zh-CN" sz="1600" b="1">
                <a:latin typeface="宋体" pitchFamily="2" charset="-122"/>
              </a:rPr>
              <a:t>N</a:t>
            </a:r>
            <a:r>
              <a:rPr lang="zh-CN" altLang="en-US" sz="1600" b="1">
                <a:latin typeface="宋体" pitchFamily="2" charset="-122"/>
              </a:rPr>
              <a:t>与三角形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的触点</a:t>
            </a:r>
            <a:r>
              <a:rPr lang="en-US" altLang="zh-CN" sz="1600" b="1">
                <a:latin typeface="宋体" pitchFamily="2" charset="-122"/>
              </a:rPr>
              <a:t>N</a:t>
            </a:r>
            <a:r>
              <a:rPr lang="en-US" altLang="zh-CN" sz="1000" b="1">
                <a:latin typeface="宋体" pitchFamily="2" charset="-122"/>
              </a:rPr>
              <a:t>1</a:t>
            </a:r>
            <a:r>
              <a:rPr lang="zh-CN" altLang="en-US" sz="1600" b="1">
                <a:latin typeface="宋体" pitchFamily="2" charset="-122"/>
              </a:rPr>
              <a:t>及摆动的角度</a:t>
            </a:r>
            <a:r>
              <a:rPr lang="en-US" altLang="zh-CN" sz="1600" b="1">
                <a:latin typeface="宋体" pitchFamily="2" charset="-122"/>
              </a:rPr>
              <a:t>θ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  <p:graphicFrame>
        <p:nvGraphicFramePr>
          <p:cNvPr id="37891" name="Object 4"/>
          <p:cNvGraphicFramePr>
            <a:graphicFrameLocks noChangeAspect="1"/>
          </p:cNvGraphicFramePr>
          <p:nvPr/>
        </p:nvGraphicFramePr>
        <p:xfrm>
          <a:off x="1096963" y="1004888"/>
          <a:ext cx="7705725" cy="524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1" name="Image" r:id="rId3" imgW="10273016" imgH="6996825" progId="Photoshop.Image.6">
                  <p:embed/>
                </p:oleObj>
              </mc:Choice>
              <mc:Fallback>
                <p:oleObj name="Image" r:id="rId3" imgW="10273016" imgH="6996825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963" y="1004888"/>
                        <a:ext cx="7705725" cy="524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Oval 2"/>
          <p:cNvSpPr>
            <a:spLocks noChangeArrowheads="1"/>
          </p:cNvSpPr>
          <p:nvPr/>
        </p:nvSpPr>
        <p:spPr bwMode="auto">
          <a:xfrm>
            <a:off x="2901950" y="3540125"/>
            <a:ext cx="2644775" cy="1220788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8915" name="Line 3"/>
          <p:cNvSpPr>
            <a:spLocks noChangeShapeType="1"/>
          </p:cNvSpPr>
          <p:nvPr/>
        </p:nvSpPr>
        <p:spPr bwMode="auto">
          <a:xfrm flipV="1">
            <a:off x="4156075" y="2800350"/>
            <a:ext cx="17463" cy="28368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8916" name="Group 4"/>
          <p:cNvGrpSpPr>
            <a:grpSpLocks/>
          </p:cNvGrpSpPr>
          <p:nvPr/>
        </p:nvGrpSpPr>
        <p:grpSpPr bwMode="auto">
          <a:xfrm>
            <a:off x="4383088" y="1843088"/>
            <a:ext cx="2482850" cy="4787900"/>
            <a:chOff x="1436" y="1067"/>
            <a:chExt cx="1290" cy="2522"/>
          </a:xfrm>
        </p:grpSpPr>
        <p:sp>
          <p:nvSpPr>
            <p:cNvPr id="38942" name="Freeform 5"/>
            <p:cNvSpPr>
              <a:spLocks/>
            </p:cNvSpPr>
            <p:nvPr/>
          </p:nvSpPr>
          <p:spPr bwMode="auto">
            <a:xfrm>
              <a:off x="1436" y="1068"/>
              <a:ext cx="1290" cy="2521"/>
            </a:xfrm>
            <a:custGeom>
              <a:avLst/>
              <a:gdLst>
                <a:gd name="T0" fmla="*/ 854 w 1290"/>
                <a:gd name="T1" fmla="*/ 2521 h 2521"/>
                <a:gd name="T2" fmla="*/ 0 w 1290"/>
                <a:gd name="T3" fmla="*/ 1667 h 2521"/>
                <a:gd name="T4" fmla="*/ 447 w 1290"/>
                <a:gd name="T5" fmla="*/ 0 h 2521"/>
                <a:gd name="T6" fmla="*/ 1290 w 1290"/>
                <a:gd name="T7" fmla="*/ 843 h 2521"/>
                <a:gd name="T8" fmla="*/ 854 w 1290"/>
                <a:gd name="T9" fmla="*/ 2521 h 25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0"/>
                <a:gd name="T16" fmla="*/ 0 h 2521"/>
                <a:gd name="T17" fmla="*/ 1290 w 1290"/>
                <a:gd name="T18" fmla="*/ 2521 h 25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0" h="2521">
                  <a:moveTo>
                    <a:pt x="854" y="2521"/>
                  </a:moveTo>
                  <a:lnTo>
                    <a:pt x="0" y="1667"/>
                  </a:lnTo>
                  <a:lnTo>
                    <a:pt x="447" y="0"/>
                  </a:lnTo>
                  <a:lnTo>
                    <a:pt x="1290" y="843"/>
                  </a:lnTo>
                  <a:lnTo>
                    <a:pt x="854" y="2521"/>
                  </a:lnTo>
                  <a:close/>
                </a:path>
              </a:pathLst>
            </a:custGeom>
            <a:solidFill>
              <a:srgbClr val="80808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3" name="Freeform 6"/>
            <p:cNvSpPr>
              <a:spLocks/>
            </p:cNvSpPr>
            <p:nvPr/>
          </p:nvSpPr>
          <p:spPr bwMode="auto">
            <a:xfrm>
              <a:off x="1879" y="1067"/>
              <a:ext cx="840" cy="2514"/>
            </a:xfrm>
            <a:custGeom>
              <a:avLst/>
              <a:gdLst>
                <a:gd name="T0" fmla="*/ 408 w 840"/>
                <a:gd name="T1" fmla="*/ 2514 h 2514"/>
                <a:gd name="T2" fmla="*/ 840 w 840"/>
                <a:gd name="T3" fmla="*/ 840 h 2514"/>
                <a:gd name="T4" fmla="*/ 0 w 840"/>
                <a:gd name="T5" fmla="*/ 0 h 2514"/>
                <a:gd name="T6" fmla="*/ 0 60000 65536"/>
                <a:gd name="T7" fmla="*/ 0 60000 65536"/>
                <a:gd name="T8" fmla="*/ 0 60000 65536"/>
                <a:gd name="T9" fmla="*/ 0 w 840"/>
                <a:gd name="T10" fmla="*/ 0 h 2514"/>
                <a:gd name="T11" fmla="*/ 840 w 840"/>
                <a:gd name="T12" fmla="*/ 2514 h 2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0" h="2514">
                  <a:moveTo>
                    <a:pt x="408" y="2514"/>
                  </a:moveTo>
                  <a:lnTo>
                    <a:pt x="840" y="84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917" name="Text Box 7"/>
          <p:cNvSpPr txBox="1">
            <a:spLocks noChangeArrowheads="1"/>
          </p:cNvSpPr>
          <p:nvPr/>
        </p:nvSpPr>
        <p:spPr bwMode="auto">
          <a:xfrm>
            <a:off x="6335713" y="3317875"/>
            <a:ext cx="306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P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693863" y="3222625"/>
            <a:ext cx="4978400" cy="2279650"/>
            <a:chOff x="2763" y="2003"/>
            <a:chExt cx="1977" cy="853"/>
          </a:xfrm>
        </p:grpSpPr>
        <p:sp>
          <p:nvSpPr>
            <p:cNvPr id="38940" name="Freeform 9"/>
            <p:cNvSpPr>
              <a:spLocks/>
            </p:cNvSpPr>
            <p:nvPr/>
          </p:nvSpPr>
          <p:spPr bwMode="auto">
            <a:xfrm>
              <a:off x="2763" y="2003"/>
              <a:ext cx="1977" cy="846"/>
            </a:xfrm>
            <a:custGeom>
              <a:avLst/>
              <a:gdLst>
                <a:gd name="T0" fmla="*/ 0 w 1977"/>
                <a:gd name="T1" fmla="*/ 0 h 846"/>
                <a:gd name="T2" fmla="*/ 1131 w 1977"/>
                <a:gd name="T3" fmla="*/ 0 h 846"/>
                <a:gd name="T4" fmla="*/ 1977 w 1977"/>
                <a:gd name="T5" fmla="*/ 846 h 846"/>
                <a:gd name="T6" fmla="*/ 837 w 1977"/>
                <a:gd name="T7" fmla="*/ 846 h 846"/>
                <a:gd name="T8" fmla="*/ 0 w 1977"/>
                <a:gd name="T9" fmla="*/ 0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7"/>
                <a:gd name="T16" fmla="*/ 0 h 846"/>
                <a:gd name="T17" fmla="*/ 1977 w 1977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7" h="846">
                  <a:moveTo>
                    <a:pt x="0" y="0"/>
                  </a:moveTo>
                  <a:lnTo>
                    <a:pt x="1131" y="0"/>
                  </a:lnTo>
                  <a:lnTo>
                    <a:pt x="1977" y="846"/>
                  </a:lnTo>
                  <a:lnTo>
                    <a:pt x="837" y="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FF">
                <a:alpha val="25098"/>
              </a:srgbClr>
            </a:solidFill>
            <a:ln w="952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1" name="Line 10"/>
            <p:cNvSpPr>
              <a:spLocks noChangeShapeType="1"/>
            </p:cNvSpPr>
            <p:nvPr/>
          </p:nvSpPr>
          <p:spPr bwMode="auto">
            <a:xfrm>
              <a:off x="3608" y="2856"/>
              <a:ext cx="1132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5419" name="Line 11"/>
          <p:cNvSpPr>
            <a:spLocks noChangeShapeType="1"/>
          </p:cNvSpPr>
          <p:nvPr/>
        </p:nvSpPr>
        <p:spPr bwMode="auto">
          <a:xfrm>
            <a:off x="3095625" y="3867150"/>
            <a:ext cx="1079500" cy="40481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5421" name="Line 13"/>
          <p:cNvSpPr>
            <a:spLocks noChangeShapeType="1"/>
          </p:cNvSpPr>
          <p:nvPr/>
        </p:nvSpPr>
        <p:spPr bwMode="auto">
          <a:xfrm>
            <a:off x="4770438" y="3465513"/>
            <a:ext cx="1624012" cy="16748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5422" name="Line 14"/>
          <p:cNvSpPr>
            <a:spLocks noChangeShapeType="1"/>
          </p:cNvSpPr>
          <p:nvPr/>
        </p:nvSpPr>
        <p:spPr bwMode="auto">
          <a:xfrm flipV="1">
            <a:off x="4152900" y="3989388"/>
            <a:ext cx="1144588" cy="2825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8923" name="Text Box 15"/>
          <p:cNvSpPr txBox="1">
            <a:spLocks noChangeArrowheads="1"/>
          </p:cNvSpPr>
          <p:nvPr/>
        </p:nvSpPr>
        <p:spPr bwMode="auto">
          <a:xfrm>
            <a:off x="4141788" y="2506663"/>
            <a:ext cx="398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M</a:t>
            </a:r>
          </a:p>
        </p:txBody>
      </p:sp>
      <p:sp>
        <p:nvSpPr>
          <p:cNvPr id="38924" name="Text Box 16"/>
          <p:cNvSpPr txBox="1">
            <a:spLocks noChangeArrowheads="1"/>
          </p:cNvSpPr>
          <p:nvPr/>
        </p:nvSpPr>
        <p:spPr bwMode="auto">
          <a:xfrm>
            <a:off x="4244975" y="5614988"/>
            <a:ext cx="398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N</a:t>
            </a:r>
          </a:p>
        </p:txBody>
      </p:sp>
      <p:sp>
        <p:nvSpPr>
          <p:cNvPr id="38925" name="Text Box 17"/>
          <p:cNvSpPr txBox="1">
            <a:spLocks noChangeArrowheads="1"/>
          </p:cNvSpPr>
          <p:nvPr/>
        </p:nvSpPr>
        <p:spPr bwMode="auto">
          <a:xfrm>
            <a:off x="2895600" y="3416300"/>
            <a:ext cx="398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A</a:t>
            </a:r>
          </a:p>
        </p:txBody>
      </p:sp>
      <p:sp>
        <p:nvSpPr>
          <p:cNvPr id="145426" name="Text Box 18"/>
          <p:cNvSpPr txBox="1">
            <a:spLocks noChangeArrowheads="1"/>
          </p:cNvSpPr>
          <p:nvPr/>
        </p:nvSpPr>
        <p:spPr bwMode="auto">
          <a:xfrm>
            <a:off x="4159250" y="4221163"/>
            <a:ext cx="398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B</a:t>
            </a:r>
          </a:p>
        </p:txBody>
      </p:sp>
      <p:sp>
        <p:nvSpPr>
          <p:cNvPr id="145427" name="Text Box 19"/>
          <p:cNvSpPr txBox="1">
            <a:spLocks noChangeArrowheads="1"/>
          </p:cNvSpPr>
          <p:nvPr/>
        </p:nvSpPr>
        <p:spPr bwMode="auto">
          <a:xfrm>
            <a:off x="4540250" y="2990850"/>
            <a:ext cx="398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E</a:t>
            </a:r>
          </a:p>
        </p:txBody>
      </p:sp>
      <p:sp>
        <p:nvSpPr>
          <p:cNvPr id="145428" name="Text Box 20"/>
          <p:cNvSpPr txBox="1">
            <a:spLocks noChangeArrowheads="1"/>
          </p:cNvSpPr>
          <p:nvPr/>
        </p:nvSpPr>
        <p:spPr bwMode="auto">
          <a:xfrm>
            <a:off x="6456363" y="4851400"/>
            <a:ext cx="398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F</a:t>
            </a:r>
          </a:p>
        </p:txBody>
      </p:sp>
      <p:sp>
        <p:nvSpPr>
          <p:cNvPr id="145429" name="Text Box 21"/>
          <p:cNvSpPr txBox="1">
            <a:spLocks noChangeArrowheads="1"/>
          </p:cNvSpPr>
          <p:nvPr/>
        </p:nvSpPr>
        <p:spPr bwMode="auto">
          <a:xfrm>
            <a:off x="5040313" y="4002088"/>
            <a:ext cx="398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C</a:t>
            </a:r>
          </a:p>
        </p:txBody>
      </p:sp>
      <p:sp>
        <p:nvSpPr>
          <p:cNvPr id="145443" name="Text Box 35"/>
          <p:cNvSpPr txBox="1">
            <a:spLocks noChangeArrowheads="1"/>
          </p:cNvSpPr>
          <p:nvPr/>
        </p:nvSpPr>
        <p:spPr bwMode="auto">
          <a:xfrm>
            <a:off x="2106613" y="3259138"/>
            <a:ext cx="306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Q</a:t>
            </a:r>
          </a:p>
        </p:txBody>
      </p:sp>
      <p:sp>
        <p:nvSpPr>
          <p:cNvPr id="145444" name="Line 36"/>
          <p:cNvSpPr>
            <a:spLocks noChangeShapeType="1"/>
          </p:cNvSpPr>
          <p:nvPr/>
        </p:nvSpPr>
        <p:spPr bwMode="auto">
          <a:xfrm>
            <a:off x="4175125" y="4271963"/>
            <a:ext cx="8032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5446" name="Line 38"/>
          <p:cNvSpPr>
            <a:spLocks noChangeShapeType="1"/>
          </p:cNvSpPr>
          <p:nvPr/>
        </p:nvSpPr>
        <p:spPr bwMode="auto">
          <a:xfrm>
            <a:off x="4175126" y="4271963"/>
            <a:ext cx="2046991" cy="72160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45448" name="Oval 40"/>
          <p:cNvSpPr>
            <a:spLocks noChangeArrowheads="1"/>
          </p:cNvSpPr>
          <p:nvPr/>
        </p:nvSpPr>
        <p:spPr bwMode="auto">
          <a:xfrm>
            <a:off x="4938713" y="4221163"/>
            <a:ext cx="88900" cy="88900"/>
          </a:xfrm>
          <a:prstGeom prst="ellipse">
            <a:avLst/>
          </a:prstGeom>
          <a:solidFill>
            <a:srgbClr val="FF0000"/>
          </a:solidFill>
          <a:ln w="38100" algn="ctr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45449" name="Text Box 41"/>
          <p:cNvSpPr txBox="1">
            <a:spLocks noChangeArrowheads="1"/>
          </p:cNvSpPr>
          <p:nvPr/>
        </p:nvSpPr>
        <p:spPr bwMode="auto">
          <a:xfrm>
            <a:off x="4830763" y="4221163"/>
            <a:ext cx="6080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latin typeface="ISOCPEUR" pitchFamily="34" charset="0"/>
              </a:rPr>
              <a:t>C1</a:t>
            </a:r>
          </a:p>
        </p:txBody>
      </p:sp>
      <p:sp>
        <p:nvSpPr>
          <p:cNvPr id="38936" name="Text Box 13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2-4-5  </a:t>
            </a:r>
            <a:r>
              <a:rPr lang="zh-CN" altLang="en-US" sz="1600" b="1">
                <a:latin typeface="宋体" pitchFamily="2" charset="-122"/>
              </a:rPr>
              <a:t>试检查空间点Ａ绕 </a:t>
            </a:r>
            <a:r>
              <a:rPr lang="en-US" altLang="zh-CN" sz="1600" b="1">
                <a:latin typeface="宋体" pitchFamily="2" charset="-122"/>
              </a:rPr>
              <a:t>M-N </a:t>
            </a:r>
            <a:r>
              <a:rPr lang="zh-CN" altLang="en-US" sz="1600" b="1">
                <a:latin typeface="宋体" pitchFamily="2" charset="-122"/>
              </a:rPr>
              <a:t>轴（正平线）旋转时会不会与平面 </a:t>
            </a:r>
            <a:r>
              <a:rPr lang="en-US" altLang="zh-CN" sz="1600" b="1">
                <a:latin typeface="宋体" pitchFamily="2" charset="-122"/>
              </a:rPr>
              <a:t>BCDE </a:t>
            </a:r>
            <a:r>
              <a:rPr lang="zh-CN" altLang="en-US" sz="1600" b="1">
                <a:latin typeface="宋体" pitchFamily="2" charset="-122"/>
              </a:rPr>
              <a:t>相碰撞（作图说明）。</a:t>
            </a:r>
          </a:p>
        </p:txBody>
      </p:sp>
      <p:sp>
        <p:nvSpPr>
          <p:cNvPr id="30" name="Line 36"/>
          <p:cNvSpPr>
            <a:spLocks noChangeShapeType="1"/>
          </p:cNvSpPr>
          <p:nvPr/>
        </p:nvSpPr>
        <p:spPr bwMode="auto">
          <a:xfrm>
            <a:off x="3086100" y="3848100"/>
            <a:ext cx="1744663" cy="4286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1" name="Oval 39"/>
          <p:cNvSpPr>
            <a:spLocks noChangeArrowheads="1"/>
          </p:cNvSpPr>
          <p:nvPr/>
        </p:nvSpPr>
        <p:spPr bwMode="auto">
          <a:xfrm>
            <a:off x="4818063" y="3848100"/>
            <a:ext cx="88900" cy="88900"/>
          </a:xfrm>
          <a:prstGeom prst="ellipse">
            <a:avLst/>
          </a:prstGeom>
          <a:solidFill>
            <a:srgbClr val="FF0000"/>
          </a:solidFill>
          <a:ln w="38100" algn="ctr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2" name="Text Box 41"/>
          <p:cNvSpPr txBox="1">
            <a:spLocks noChangeArrowheads="1"/>
          </p:cNvSpPr>
          <p:nvPr/>
        </p:nvSpPr>
        <p:spPr bwMode="auto">
          <a:xfrm>
            <a:off x="4530901" y="3854277"/>
            <a:ext cx="6080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latin typeface="ISOCPEUR" pitchFamily="34" charset="0"/>
              </a:rPr>
              <a:t>C2</a:t>
            </a:r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 flipV="1">
            <a:off x="3109914" y="3610664"/>
            <a:ext cx="1797033" cy="23584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35" name="Text Box 41"/>
          <p:cNvSpPr txBox="1">
            <a:spLocks noChangeArrowheads="1"/>
          </p:cNvSpPr>
          <p:nvPr/>
        </p:nvSpPr>
        <p:spPr bwMode="auto">
          <a:xfrm>
            <a:off x="4925215" y="3367798"/>
            <a:ext cx="6080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 smtClean="0">
                <a:latin typeface="ISOCPEUR" pitchFamily="34" charset="0"/>
              </a:rPr>
              <a:t>C3</a:t>
            </a:r>
            <a:endParaRPr lang="en-US" altLang="zh-CN" sz="1800" b="1" i="1" dirty="0">
              <a:latin typeface="ISOCPEUR" pitchFamily="34" charset="0"/>
            </a:endParaRPr>
          </a:p>
        </p:txBody>
      </p:sp>
      <p:sp>
        <p:nvSpPr>
          <p:cNvPr id="36" name="Text Box 41"/>
          <p:cNvSpPr txBox="1">
            <a:spLocks noChangeArrowheads="1"/>
          </p:cNvSpPr>
          <p:nvPr/>
        </p:nvSpPr>
        <p:spPr bwMode="auto">
          <a:xfrm>
            <a:off x="6090444" y="4521993"/>
            <a:ext cx="6080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 smtClean="0">
                <a:latin typeface="ISOCPEUR" pitchFamily="34" charset="0"/>
              </a:rPr>
              <a:t>C4</a:t>
            </a:r>
            <a:endParaRPr lang="en-US" altLang="zh-CN" sz="1800" b="1" i="1" dirty="0">
              <a:latin typeface="ISOCPEUR" pitchFamily="34" charset="0"/>
            </a:endParaRPr>
          </a:p>
        </p:txBody>
      </p:sp>
      <p:sp>
        <p:nvSpPr>
          <p:cNvPr id="37" name="Oval 39"/>
          <p:cNvSpPr>
            <a:spLocks noChangeArrowheads="1"/>
          </p:cNvSpPr>
          <p:nvPr/>
        </p:nvSpPr>
        <p:spPr bwMode="auto">
          <a:xfrm>
            <a:off x="5229388" y="3944394"/>
            <a:ext cx="88900" cy="88900"/>
          </a:xfrm>
          <a:prstGeom prst="ellipse">
            <a:avLst/>
          </a:prstGeom>
          <a:solidFill>
            <a:srgbClr val="FF0000"/>
          </a:solidFill>
          <a:ln w="38100" algn="ctr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3" name="Oval 39"/>
          <p:cNvSpPr>
            <a:spLocks noChangeArrowheads="1"/>
          </p:cNvSpPr>
          <p:nvPr/>
        </p:nvSpPr>
        <p:spPr bwMode="auto">
          <a:xfrm>
            <a:off x="4862497" y="3566214"/>
            <a:ext cx="88900" cy="88900"/>
          </a:xfrm>
          <a:prstGeom prst="ellipse">
            <a:avLst/>
          </a:prstGeom>
          <a:solidFill>
            <a:srgbClr val="FF0000"/>
          </a:solidFill>
          <a:ln w="38100" algn="ctr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8920" name="Oval 12"/>
          <p:cNvSpPr>
            <a:spLocks noChangeArrowheads="1"/>
          </p:cNvSpPr>
          <p:nvPr/>
        </p:nvSpPr>
        <p:spPr bwMode="auto">
          <a:xfrm>
            <a:off x="3021013" y="3802063"/>
            <a:ext cx="88900" cy="88900"/>
          </a:xfrm>
          <a:prstGeom prst="ellipse">
            <a:avLst/>
          </a:prstGeom>
          <a:solidFill>
            <a:srgbClr val="FF0000"/>
          </a:solidFill>
          <a:ln w="38100" algn="ctr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8" name="Oval 12"/>
          <p:cNvSpPr>
            <a:spLocks noChangeArrowheads="1"/>
          </p:cNvSpPr>
          <p:nvPr/>
        </p:nvSpPr>
        <p:spPr bwMode="auto">
          <a:xfrm>
            <a:off x="4121689" y="4225399"/>
            <a:ext cx="88900" cy="88900"/>
          </a:xfrm>
          <a:prstGeom prst="ellipse">
            <a:avLst/>
          </a:prstGeom>
          <a:solidFill>
            <a:srgbClr val="FF0000"/>
          </a:solidFill>
          <a:ln w="38100" algn="ctr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9" name="Line 38"/>
          <p:cNvSpPr>
            <a:spLocks noChangeShapeType="1"/>
          </p:cNvSpPr>
          <p:nvPr/>
        </p:nvSpPr>
        <p:spPr bwMode="auto">
          <a:xfrm>
            <a:off x="6266567" y="5016146"/>
            <a:ext cx="2046991" cy="72160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45447" name="Oval 39"/>
          <p:cNvSpPr>
            <a:spLocks noChangeArrowheads="1"/>
          </p:cNvSpPr>
          <p:nvPr/>
        </p:nvSpPr>
        <p:spPr bwMode="auto">
          <a:xfrm>
            <a:off x="6177667" y="4949118"/>
            <a:ext cx="88900" cy="88900"/>
          </a:xfrm>
          <a:prstGeom prst="ellipse">
            <a:avLst/>
          </a:prstGeom>
          <a:solidFill>
            <a:srgbClr val="FF0000"/>
          </a:solidFill>
          <a:ln w="38100" algn="ctr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0" name="Oval 39"/>
          <p:cNvSpPr>
            <a:spLocks noChangeArrowheads="1"/>
          </p:cNvSpPr>
          <p:nvPr/>
        </p:nvSpPr>
        <p:spPr bwMode="auto">
          <a:xfrm>
            <a:off x="8226619" y="5677257"/>
            <a:ext cx="88900" cy="88900"/>
          </a:xfrm>
          <a:prstGeom prst="ellipse">
            <a:avLst/>
          </a:prstGeom>
          <a:solidFill>
            <a:srgbClr val="FF0000"/>
          </a:solidFill>
          <a:ln w="38100" algn="ctr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1" name="Text Box 41"/>
          <p:cNvSpPr txBox="1">
            <a:spLocks noChangeArrowheads="1"/>
          </p:cNvSpPr>
          <p:nvPr/>
        </p:nvSpPr>
        <p:spPr bwMode="auto">
          <a:xfrm>
            <a:off x="8065997" y="5331003"/>
            <a:ext cx="6080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 smtClean="0">
                <a:latin typeface="ISOCPEUR" pitchFamily="34" charset="0"/>
              </a:rPr>
              <a:t>C5</a:t>
            </a:r>
            <a:endParaRPr lang="en-US" altLang="zh-CN" sz="1800" b="1" i="1" dirty="0">
              <a:latin typeface="ISOCPEUR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5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4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4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4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45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4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4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 animBg="1"/>
      <p:bldP spid="145419" grpId="0" animBg="1"/>
      <p:bldP spid="145421" grpId="0" animBg="1"/>
      <p:bldP spid="145422" grpId="0" animBg="1"/>
      <p:bldP spid="145426" grpId="0"/>
      <p:bldP spid="145427" grpId="0"/>
      <p:bldP spid="145428" grpId="0"/>
      <p:bldP spid="145429" grpId="0"/>
      <p:bldP spid="145443" grpId="0"/>
      <p:bldP spid="145444" grpId="0" animBg="1"/>
      <p:bldP spid="145446" grpId="0" animBg="1"/>
      <p:bldP spid="145448" grpId="0" animBg="1"/>
      <p:bldP spid="145449" grpId="0"/>
      <p:bldP spid="30" grpId="0" animBg="1"/>
      <p:bldP spid="31" grpId="0" animBg="1"/>
      <p:bldP spid="32" grpId="0"/>
      <p:bldP spid="34" grpId="0" animBg="1"/>
      <p:bldP spid="35" grpId="0"/>
      <p:bldP spid="36" grpId="0"/>
      <p:bldP spid="37" grpId="0" animBg="1"/>
      <p:bldP spid="33" grpId="0" animBg="1"/>
      <p:bldP spid="38" grpId="0" animBg="1"/>
      <p:bldP spid="39" grpId="0" animBg="1"/>
      <p:bldP spid="145447" grpId="0" animBg="1"/>
      <p:bldP spid="40" grpId="0" animBg="1"/>
      <p:bldP spid="4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33"/>
          <p:cNvSpPr>
            <a:spLocks noChangeArrowheads="1"/>
          </p:cNvSpPr>
          <p:nvPr/>
        </p:nvSpPr>
        <p:spPr bwMode="auto">
          <a:xfrm>
            <a:off x="1922463" y="1476375"/>
            <a:ext cx="5697537" cy="642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04" name="Line 4"/>
          <p:cNvSpPr>
            <a:spLocks noChangeShapeType="1"/>
          </p:cNvSpPr>
          <p:nvPr/>
        </p:nvSpPr>
        <p:spPr bwMode="auto">
          <a:xfrm>
            <a:off x="4125913" y="4295775"/>
            <a:ext cx="4762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405" name="Line 5"/>
          <p:cNvSpPr>
            <a:spLocks noChangeShapeType="1"/>
          </p:cNvSpPr>
          <p:nvPr/>
        </p:nvSpPr>
        <p:spPr bwMode="auto">
          <a:xfrm>
            <a:off x="5508625" y="2889250"/>
            <a:ext cx="0" cy="3384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755900" y="4351338"/>
            <a:ext cx="4137025" cy="701675"/>
            <a:chOff x="1579" y="2389"/>
            <a:chExt cx="2606" cy="442"/>
          </a:xfrm>
        </p:grpSpPr>
        <p:sp>
          <p:nvSpPr>
            <p:cNvPr id="40026" name="Text Box 7"/>
            <p:cNvSpPr txBox="1">
              <a:spLocks noChangeArrowheads="1"/>
            </p:cNvSpPr>
            <p:nvPr/>
          </p:nvSpPr>
          <p:spPr bwMode="auto">
            <a:xfrm>
              <a:off x="1689" y="2389"/>
              <a:ext cx="28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080808"/>
                  </a:solidFill>
                  <a:latin typeface="ISOCPEUR" pitchFamily="34" charset="0"/>
                </a:rPr>
                <a:t>V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080808"/>
                  </a:solidFill>
                  <a:latin typeface="ISOCPEUR" pitchFamily="34" charset="0"/>
                </a:rPr>
                <a:t>H</a:t>
              </a:r>
            </a:p>
          </p:txBody>
        </p:sp>
        <p:sp>
          <p:nvSpPr>
            <p:cNvPr id="40027" name="Text Box 8"/>
            <p:cNvSpPr txBox="1">
              <a:spLocks noChangeArrowheads="1"/>
            </p:cNvSpPr>
            <p:nvPr/>
          </p:nvSpPr>
          <p:spPr bwMode="auto">
            <a:xfrm>
              <a:off x="1579" y="2483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080808"/>
                  </a:solidFill>
                  <a:latin typeface="ISOCPEUR" pitchFamily="34" charset="0"/>
                </a:rPr>
                <a:t>X</a:t>
              </a:r>
              <a:endParaRPr lang="en-US" altLang="zh-CN" sz="2000">
                <a:solidFill>
                  <a:srgbClr val="080808"/>
                </a:solidFill>
                <a:latin typeface="ISOCPEUR" pitchFamily="34" charset="0"/>
              </a:endParaRPr>
            </a:p>
          </p:txBody>
        </p:sp>
        <p:sp>
          <p:nvSpPr>
            <p:cNvPr id="40028" name="Text Box 9"/>
            <p:cNvSpPr txBox="1">
              <a:spLocks noChangeArrowheads="1"/>
            </p:cNvSpPr>
            <p:nvPr/>
          </p:nvSpPr>
          <p:spPr bwMode="auto">
            <a:xfrm>
              <a:off x="3918" y="2453"/>
              <a:ext cx="2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080808"/>
                  </a:solidFill>
                  <a:latin typeface="ISOCPEUR" pitchFamily="34" charset="0"/>
                </a:rPr>
                <a:t>O</a:t>
              </a:r>
              <a:endParaRPr lang="en-US" altLang="zh-CN" sz="2000">
                <a:solidFill>
                  <a:srgbClr val="080808"/>
                </a:solidFill>
                <a:latin typeface="ISOCPEUR" pitchFamily="34" charset="0"/>
              </a:endParaRP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274888" y="1385888"/>
            <a:ext cx="2978150" cy="2841625"/>
            <a:chOff x="1285" y="521"/>
            <a:chExt cx="1876" cy="1790"/>
          </a:xfrm>
        </p:grpSpPr>
        <p:sp>
          <p:nvSpPr>
            <p:cNvPr id="40021" name="Line 11"/>
            <p:cNvSpPr>
              <a:spLocks noChangeShapeType="1"/>
            </p:cNvSpPr>
            <p:nvPr/>
          </p:nvSpPr>
          <p:spPr bwMode="auto">
            <a:xfrm flipV="1">
              <a:off x="1668" y="720"/>
              <a:ext cx="1292" cy="1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0022" name="Group 12"/>
            <p:cNvGrpSpPr>
              <a:grpSpLocks/>
            </p:cNvGrpSpPr>
            <p:nvPr/>
          </p:nvGrpSpPr>
          <p:grpSpPr bwMode="auto">
            <a:xfrm rot="-1359911">
              <a:off x="1285" y="1869"/>
              <a:ext cx="539" cy="442"/>
              <a:chOff x="1269" y="1620"/>
              <a:chExt cx="539" cy="442"/>
            </a:xfrm>
          </p:grpSpPr>
          <p:sp>
            <p:nvSpPr>
              <p:cNvPr id="40024" name="Text Box 13"/>
              <p:cNvSpPr txBox="1">
                <a:spLocks noChangeArrowheads="1"/>
              </p:cNvSpPr>
              <p:nvPr/>
            </p:nvSpPr>
            <p:spPr bwMode="auto">
              <a:xfrm rot="-1398549">
                <a:off x="1269" y="1798"/>
                <a:ext cx="48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i="1">
                    <a:solidFill>
                      <a:srgbClr val="080808"/>
                    </a:solidFill>
                    <a:latin typeface="ISOCPEUR" pitchFamily="34" charset="0"/>
                  </a:rPr>
                  <a:t>X</a:t>
                </a:r>
                <a:r>
                  <a:rPr lang="en-US" altLang="zh-CN" sz="2000" i="1" baseline="-10000">
                    <a:solidFill>
                      <a:srgbClr val="080808"/>
                    </a:solidFill>
                    <a:latin typeface="ISOCPEUR" pitchFamily="34" charset="0"/>
                  </a:rPr>
                  <a:t>1</a:t>
                </a:r>
              </a:p>
            </p:txBody>
          </p:sp>
          <p:sp>
            <p:nvSpPr>
              <p:cNvPr id="40025" name="Text Box 14"/>
              <p:cNvSpPr txBox="1">
                <a:spLocks noChangeArrowheads="1"/>
              </p:cNvSpPr>
              <p:nvPr/>
            </p:nvSpPr>
            <p:spPr bwMode="auto">
              <a:xfrm rot="-1398549">
                <a:off x="1508" y="1620"/>
                <a:ext cx="300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i="1">
                    <a:solidFill>
                      <a:srgbClr val="080808"/>
                    </a:solidFill>
                    <a:latin typeface="ISOCPEUR" pitchFamily="34" charset="0"/>
                  </a:rPr>
                  <a:t>P</a:t>
                </a:r>
                <a:r>
                  <a:rPr lang="en-US" altLang="zh-CN" sz="2000" i="1" baseline="-10000">
                    <a:solidFill>
                      <a:srgbClr val="080808"/>
                    </a:solidFill>
                    <a:latin typeface="ISOCPEUR" pitchFamily="34" charset="0"/>
                  </a:rPr>
                  <a:t>1</a:t>
                </a:r>
                <a:r>
                  <a:rPr lang="en-US" altLang="zh-CN" sz="2000" i="1">
                    <a:solidFill>
                      <a:srgbClr val="080808"/>
                    </a:solidFill>
                    <a:latin typeface="ISOCPEUR" pitchFamily="34" charset="0"/>
                  </a:rPr>
                  <a:t> 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i="1">
                    <a:solidFill>
                      <a:srgbClr val="080808"/>
                    </a:solidFill>
                    <a:latin typeface="ISOCPEUR" pitchFamily="34" charset="0"/>
                  </a:rPr>
                  <a:t>V</a:t>
                </a:r>
                <a:endParaRPr lang="en-US" altLang="zh-CN" sz="2000">
                  <a:solidFill>
                    <a:srgbClr val="080808"/>
                  </a:solidFill>
                  <a:latin typeface="ISOCPEUR" pitchFamily="34" charset="0"/>
                </a:endParaRPr>
              </a:p>
            </p:txBody>
          </p:sp>
        </p:grpSp>
        <p:sp>
          <p:nvSpPr>
            <p:cNvPr id="40023" name="Text Box 15"/>
            <p:cNvSpPr txBox="1">
              <a:spLocks noChangeArrowheads="1"/>
            </p:cNvSpPr>
            <p:nvPr/>
          </p:nvSpPr>
          <p:spPr bwMode="auto">
            <a:xfrm rot="-2781765">
              <a:off x="2918" y="514"/>
              <a:ext cx="2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080808"/>
                  </a:solidFill>
                  <a:latin typeface="ISOCPEUR" pitchFamily="34" charset="0"/>
                </a:rPr>
                <a:t>O</a:t>
              </a:r>
              <a:r>
                <a:rPr lang="en-US" altLang="zh-CN" sz="2000" i="1" baseline="-25000">
                  <a:solidFill>
                    <a:srgbClr val="080808"/>
                  </a:solidFill>
                  <a:latin typeface="ISOCPEUR" pitchFamily="34" charset="0"/>
                </a:rPr>
                <a:t>1</a:t>
              </a:r>
            </a:p>
          </p:txBody>
        </p:sp>
      </p:grpSp>
      <p:sp>
        <p:nvSpPr>
          <p:cNvPr id="102416" name="Line 16"/>
          <p:cNvSpPr>
            <a:spLocks noChangeShapeType="1"/>
          </p:cNvSpPr>
          <p:nvPr/>
        </p:nvSpPr>
        <p:spPr bwMode="auto">
          <a:xfrm flipV="1">
            <a:off x="4127500" y="2886075"/>
            <a:ext cx="1384300" cy="1406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417" name="Text Box 17"/>
          <p:cNvSpPr txBox="1">
            <a:spLocks noChangeArrowheads="1"/>
          </p:cNvSpPr>
          <p:nvPr/>
        </p:nvSpPr>
        <p:spPr bwMode="auto">
          <a:xfrm>
            <a:off x="2995613" y="1641475"/>
            <a:ext cx="1079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m</a:t>
            </a:r>
            <a:r>
              <a:rPr lang="en-US" altLang="zh-CN" sz="2000" b="1" i="1" baseline="-10000">
                <a:solidFill>
                  <a:srgbClr val="080808"/>
                </a:solidFill>
                <a:latin typeface="ISOCPEUR" pitchFamily="34" charset="0"/>
              </a:rPr>
              <a:t>1</a:t>
            </a:r>
            <a:r>
              <a:rPr lang="en-US" altLang="zh-TW" sz="1600">
                <a:solidFill>
                  <a:srgbClr val="080808"/>
                </a:solidFill>
                <a:latin typeface="Times New Roman" pitchFamily="18" charset="0"/>
              </a:rPr>
              <a:t>≡</a:t>
            </a: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n</a:t>
            </a:r>
            <a:r>
              <a:rPr lang="en-US" altLang="zh-CN" sz="2000" b="1" i="1" baseline="-10000">
                <a:solidFill>
                  <a:srgbClr val="080808"/>
                </a:solidFill>
                <a:latin typeface="ISOCPEUR" pitchFamily="34" charset="0"/>
              </a:rPr>
              <a:t>1</a:t>
            </a:r>
            <a:r>
              <a:rPr lang="en-US" altLang="zh-CN" sz="2000">
                <a:solidFill>
                  <a:srgbClr val="080808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102418" name="Line 18"/>
          <p:cNvSpPr>
            <a:spLocks noChangeShapeType="1"/>
          </p:cNvSpPr>
          <p:nvPr/>
        </p:nvSpPr>
        <p:spPr bwMode="auto">
          <a:xfrm>
            <a:off x="3308350" y="1984375"/>
            <a:ext cx="1111250" cy="1096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419" name="Oval 19"/>
          <p:cNvSpPr>
            <a:spLocks noChangeArrowheads="1"/>
          </p:cNvSpPr>
          <p:nvPr/>
        </p:nvSpPr>
        <p:spPr bwMode="auto">
          <a:xfrm>
            <a:off x="3279775" y="1954213"/>
            <a:ext cx="46038" cy="4445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20" name="Oval 20"/>
          <p:cNvSpPr>
            <a:spLocks noChangeArrowheads="1"/>
          </p:cNvSpPr>
          <p:nvPr/>
        </p:nvSpPr>
        <p:spPr bwMode="auto">
          <a:xfrm>
            <a:off x="2787650" y="1447800"/>
            <a:ext cx="1047750" cy="104775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21" name="Line 21"/>
          <p:cNvSpPr>
            <a:spLocks noChangeShapeType="1"/>
          </p:cNvSpPr>
          <p:nvPr/>
        </p:nvSpPr>
        <p:spPr bwMode="auto">
          <a:xfrm flipH="1">
            <a:off x="2860675" y="952500"/>
            <a:ext cx="685800" cy="2093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422" name="Text Box 22"/>
          <p:cNvSpPr txBox="1">
            <a:spLocks noChangeArrowheads="1"/>
          </p:cNvSpPr>
          <p:nvPr/>
        </p:nvSpPr>
        <p:spPr bwMode="auto">
          <a:xfrm>
            <a:off x="5470525" y="2565400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g’</a:t>
            </a:r>
          </a:p>
        </p:txBody>
      </p:sp>
      <p:sp>
        <p:nvSpPr>
          <p:cNvPr id="102423" name="Text Box 23"/>
          <p:cNvSpPr txBox="1">
            <a:spLocks noChangeArrowheads="1"/>
          </p:cNvSpPr>
          <p:nvPr/>
        </p:nvSpPr>
        <p:spPr bwMode="auto">
          <a:xfrm>
            <a:off x="5476875" y="6045200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g</a:t>
            </a:r>
          </a:p>
        </p:txBody>
      </p:sp>
      <p:sp>
        <p:nvSpPr>
          <p:cNvPr id="102424" name="Text Box 24"/>
          <p:cNvSpPr txBox="1">
            <a:spLocks noChangeArrowheads="1"/>
          </p:cNvSpPr>
          <p:nvPr/>
        </p:nvSpPr>
        <p:spPr bwMode="auto">
          <a:xfrm>
            <a:off x="3763963" y="4211638"/>
            <a:ext cx="344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f’</a:t>
            </a:r>
          </a:p>
        </p:txBody>
      </p:sp>
      <p:sp>
        <p:nvSpPr>
          <p:cNvPr id="102425" name="Text Box 25"/>
          <p:cNvSpPr txBox="1">
            <a:spLocks noChangeArrowheads="1"/>
          </p:cNvSpPr>
          <p:nvPr/>
        </p:nvSpPr>
        <p:spPr bwMode="auto">
          <a:xfrm>
            <a:off x="3805238" y="5086350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f</a:t>
            </a:r>
          </a:p>
        </p:txBody>
      </p:sp>
      <p:sp>
        <p:nvSpPr>
          <p:cNvPr id="102426" name="Text Box 26"/>
          <p:cNvSpPr txBox="1">
            <a:spLocks noChangeArrowheads="1"/>
          </p:cNvSpPr>
          <p:nvPr/>
        </p:nvSpPr>
        <p:spPr bwMode="auto">
          <a:xfrm>
            <a:off x="3160713" y="1055688"/>
            <a:ext cx="409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l</a:t>
            </a:r>
            <a:r>
              <a:rPr lang="en-US" altLang="zh-CN" sz="2000" b="1" i="1" baseline="-10000">
                <a:solidFill>
                  <a:srgbClr val="080808"/>
                </a:solidFill>
                <a:latin typeface="ISOCPEUR" pitchFamily="34" charset="0"/>
              </a:rPr>
              <a:t>1</a:t>
            </a: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 </a:t>
            </a:r>
          </a:p>
        </p:txBody>
      </p:sp>
      <p:sp>
        <p:nvSpPr>
          <p:cNvPr id="102428" name="Text Box 28"/>
          <p:cNvSpPr txBox="1">
            <a:spLocks noChangeArrowheads="1"/>
          </p:cNvSpPr>
          <p:nvPr/>
        </p:nvSpPr>
        <p:spPr bwMode="auto">
          <a:xfrm>
            <a:off x="2662238" y="2238375"/>
            <a:ext cx="460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k</a:t>
            </a:r>
            <a:r>
              <a:rPr lang="en-US" altLang="zh-CN" sz="2000" b="1" i="1" baseline="-10000">
                <a:solidFill>
                  <a:srgbClr val="080808"/>
                </a:solidFill>
                <a:latin typeface="ISOCPEUR" pitchFamily="34" charset="0"/>
              </a:rPr>
              <a:t>1</a:t>
            </a: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 </a:t>
            </a:r>
          </a:p>
        </p:txBody>
      </p: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3756025" y="1857375"/>
            <a:ext cx="1277938" cy="1504950"/>
            <a:chOff x="2370" y="1168"/>
            <a:chExt cx="805" cy="948"/>
          </a:xfrm>
        </p:grpSpPr>
        <p:sp>
          <p:nvSpPr>
            <p:cNvPr id="40018" name="Text Box 31"/>
            <p:cNvSpPr txBox="1">
              <a:spLocks noChangeArrowheads="1"/>
            </p:cNvSpPr>
            <p:nvPr/>
          </p:nvSpPr>
          <p:spPr bwMode="auto">
            <a:xfrm>
              <a:off x="2370" y="1168"/>
              <a:ext cx="3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080808"/>
                  </a:solidFill>
                  <a:latin typeface="ISOCPEUR" pitchFamily="34" charset="0"/>
                </a:rPr>
                <a:t>a</a:t>
              </a:r>
              <a:r>
                <a:rPr lang="en-US" altLang="zh-CN" sz="2000" b="1" i="1" baseline="-10000">
                  <a:solidFill>
                    <a:srgbClr val="080808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40019" name="Line 32"/>
            <p:cNvSpPr>
              <a:spLocks noChangeShapeType="1"/>
            </p:cNvSpPr>
            <p:nvPr/>
          </p:nvSpPr>
          <p:spPr bwMode="auto">
            <a:xfrm>
              <a:off x="2392" y="1343"/>
              <a:ext cx="783" cy="7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020" name="Oval 33"/>
            <p:cNvSpPr>
              <a:spLocks noChangeArrowheads="1"/>
            </p:cNvSpPr>
            <p:nvPr/>
          </p:nvSpPr>
          <p:spPr bwMode="auto">
            <a:xfrm>
              <a:off x="2384" y="1333"/>
              <a:ext cx="29" cy="3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02434" name="Line 34"/>
          <p:cNvSpPr>
            <a:spLocks noChangeShapeType="1"/>
          </p:cNvSpPr>
          <p:nvPr/>
        </p:nvSpPr>
        <p:spPr bwMode="auto">
          <a:xfrm>
            <a:off x="2860675" y="3051175"/>
            <a:ext cx="1262063" cy="124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435" name="Text Box 35"/>
          <p:cNvSpPr txBox="1">
            <a:spLocks noChangeArrowheads="1"/>
          </p:cNvSpPr>
          <p:nvPr/>
        </p:nvSpPr>
        <p:spPr bwMode="auto">
          <a:xfrm>
            <a:off x="2508250" y="2705100"/>
            <a:ext cx="442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f</a:t>
            </a:r>
            <a:r>
              <a:rPr lang="en-US" altLang="zh-CN" sz="2000" b="1" i="1" baseline="-10000">
                <a:solidFill>
                  <a:srgbClr val="080808"/>
                </a:solidFill>
                <a:latin typeface="ISOCPEUR" pitchFamily="34" charset="0"/>
              </a:rPr>
              <a:t>1</a:t>
            </a: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 </a:t>
            </a:r>
          </a:p>
        </p:txBody>
      </p:sp>
      <p:sp>
        <p:nvSpPr>
          <p:cNvPr id="102436" name="Oval 36"/>
          <p:cNvSpPr>
            <a:spLocks noChangeArrowheads="1"/>
          </p:cNvSpPr>
          <p:nvPr/>
        </p:nvSpPr>
        <p:spPr bwMode="auto">
          <a:xfrm>
            <a:off x="2836863" y="3021013"/>
            <a:ext cx="46037" cy="42862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37" name="Line 37"/>
          <p:cNvSpPr>
            <a:spLocks noChangeShapeType="1"/>
          </p:cNvSpPr>
          <p:nvPr/>
        </p:nvSpPr>
        <p:spPr bwMode="auto">
          <a:xfrm>
            <a:off x="3549650" y="941388"/>
            <a:ext cx="1897063" cy="1873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438" name="Text Box 38"/>
          <p:cNvSpPr txBox="1">
            <a:spLocks noChangeArrowheads="1"/>
          </p:cNvSpPr>
          <p:nvPr/>
        </p:nvSpPr>
        <p:spPr bwMode="auto">
          <a:xfrm>
            <a:off x="3492500" y="625475"/>
            <a:ext cx="460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g</a:t>
            </a:r>
            <a:r>
              <a:rPr lang="en-US" altLang="zh-CN" sz="2000" b="1" i="1" baseline="-10000">
                <a:solidFill>
                  <a:srgbClr val="080808"/>
                </a:solidFill>
                <a:latin typeface="ISOCPEUR" pitchFamily="34" charset="0"/>
              </a:rPr>
              <a:t>1</a:t>
            </a: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 </a:t>
            </a:r>
          </a:p>
        </p:txBody>
      </p:sp>
      <p:sp>
        <p:nvSpPr>
          <p:cNvPr id="102439" name="Oval 39"/>
          <p:cNvSpPr>
            <a:spLocks noChangeArrowheads="1"/>
          </p:cNvSpPr>
          <p:nvPr/>
        </p:nvSpPr>
        <p:spPr bwMode="auto">
          <a:xfrm>
            <a:off x="3530600" y="917575"/>
            <a:ext cx="47625" cy="47625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40" name="Line 40"/>
          <p:cNvSpPr>
            <a:spLocks noChangeShapeType="1"/>
          </p:cNvSpPr>
          <p:nvPr/>
        </p:nvSpPr>
        <p:spPr bwMode="auto">
          <a:xfrm>
            <a:off x="4135438" y="5283200"/>
            <a:ext cx="1376362" cy="9826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441" name="Line 41"/>
          <p:cNvSpPr>
            <a:spLocks noChangeShapeType="1"/>
          </p:cNvSpPr>
          <p:nvPr/>
        </p:nvSpPr>
        <p:spPr bwMode="auto">
          <a:xfrm flipV="1">
            <a:off x="4513263" y="3144838"/>
            <a:ext cx="744537" cy="7556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442" name="Text Box 42"/>
          <p:cNvSpPr txBox="1">
            <a:spLocks noChangeArrowheads="1"/>
          </p:cNvSpPr>
          <p:nvPr/>
        </p:nvSpPr>
        <p:spPr bwMode="auto">
          <a:xfrm>
            <a:off x="0" y="2058988"/>
            <a:ext cx="91440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分析：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点</a:t>
            </a:r>
            <a:r>
              <a:rPr lang="en-US" altLang="zh-CN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A 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的旋转轨迹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为垂直于</a:t>
            </a:r>
            <a:r>
              <a:rPr lang="en-US" altLang="zh-CN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en-US" altLang="zh-CN" sz="1600" b="1" i="1">
                <a:solidFill>
                  <a:srgbClr val="080808"/>
                </a:solidFill>
                <a:latin typeface="ISOCPEUR" pitchFamily="34" charset="0"/>
              </a:rPr>
              <a:t>’</a:t>
            </a:r>
            <a:r>
              <a:rPr lang="en-US" altLang="zh-CN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1600" b="1" i="1">
                <a:solidFill>
                  <a:srgbClr val="080808"/>
                </a:solidFill>
                <a:latin typeface="ISOCPEUR" pitchFamily="34" charset="0"/>
              </a:rPr>
              <a:t>’ </a:t>
            </a:r>
            <a:r>
              <a:rPr lang="zh-CN" altLang="en-US" sz="1600" b="1">
                <a:solidFill>
                  <a:srgbClr val="080808"/>
                </a:solidFill>
                <a:latin typeface="ISOCPEUR" pitchFamily="34" charset="0"/>
                <a:ea typeface="黑体" pitchFamily="2" charset="-122"/>
              </a:rPr>
              <a:t>的圆</a:t>
            </a:r>
            <a:endParaRPr lang="zh-CN" altLang="en-US" sz="1600" b="1">
              <a:solidFill>
                <a:srgbClr val="080808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该圆的正面投影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积聚为与</a:t>
            </a:r>
            <a:r>
              <a:rPr lang="en-US" altLang="zh-CN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en-US" altLang="zh-CN" sz="1600" b="1" i="1">
                <a:solidFill>
                  <a:srgbClr val="080808"/>
                </a:solidFill>
                <a:latin typeface="ISOCPEUR" pitchFamily="34" charset="0"/>
              </a:rPr>
              <a:t>’</a:t>
            </a:r>
            <a:r>
              <a:rPr lang="en-US" altLang="zh-CN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1600" b="1" i="1">
                <a:solidFill>
                  <a:srgbClr val="080808"/>
                </a:solidFill>
                <a:latin typeface="ISOCPEUR" pitchFamily="34" charset="0"/>
              </a:rPr>
              <a:t>’ 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垂直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的直线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该圆的水平投影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为椭圆，无法直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接准确画出</a:t>
            </a:r>
          </a:p>
        </p:txBody>
      </p:sp>
      <p:sp>
        <p:nvSpPr>
          <p:cNvPr id="102443" name="Text Box 43"/>
          <p:cNvSpPr txBox="1">
            <a:spLocks noChangeArrowheads="1"/>
          </p:cNvSpPr>
          <p:nvPr/>
        </p:nvSpPr>
        <p:spPr bwMode="auto">
          <a:xfrm>
            <a:off x="6832600" y="3205163"/>
            <a:ext cx="2311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80808"/>
                </a:solidFill>
                <a:latin typeface="Times New Roman" pitchFamily="18" charset="0"/>
                <a:ea typeface="黑体" pitchFamily="2" charset="-122"/>
              </a:rPr>
              <a:t>……</a:t>
            </a:r>
            <a:endParaRPr lang="en-US" altLang="zh-CN" sz="1600" b="1">
              <a:solidFill>
                <a:srgbClr val="08080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2444" name="Text Box 44"/>
          <p:cNvSpPr txBox="1">
            <a:spLocks noChangeArrowheads="1"/>
          </p:cNvSpPr>
          <p:nvPr/>
        </p:nvSpPr>
        <p:spPr bwMode="auto">
          <a:xfrm>
            <a:off x="0" y="4697413"/>
            <a:ext cx="91440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若点</a:t>
            </a:r>
            <a:r>
              <a:rPr lang="en-US" altLang="zh-CN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与平面相碰，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点</a:t>
            </a:r>
            <a:r>
              <a:rPr lang="en-US" altLang="zh-CN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的轨迹圆与平面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BCDE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上的红色直线相交。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（即轨迹圆与已知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 平面的交线）</a:t>
            </a:r>
          </a:p>
        </p:txBody>
      </p:sp>
      <p:sp>
        <p:nvSpPr>
          <p:cNvPr id="102446" name="Text Box 46"/>
          <p:cNvSpPr txBox="1">
            <a:spLocks noChangeArrowheads="1"/>
          </p:cNvSpPr>
          <p:nvPr/>
        </p:nvSpPr>
        <p:spPr bwMode="auto">
          <a:xfrm>
            <a:off x="6437313" y="1163638"/>
            <a:ext cx="2706687" cy="825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步骤：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作轨迹圆与已知平面的交线</a:t>
            </a:r>
            <a:r>
              <a:rPr lang="en-US" altLang="zh-CN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FG</a:t>
            </a:r>
            <a:r>
              <a:rPr lang="en-US" altLang="zh-CN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过</a:t>
            </a:r>
            <a:r>
              <a:rPr lang="en-US" altLang="zh-CN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1600" b="1" i="1">
                <a:solidFill>
                  <a:srgbClr val="080808"/>
                </a:solidFill>
                <a:latin typeface="ISOCPEUR" pitchFamily="34" charset="0"/>
              </a:rPr>
              <a:t>’</a:t>
            </a:r>
            <a:r>
              <a:rPr lang="en-US" altLang="zh-CN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作</a:t>
            </a:r>
            <a:r>
              <a:rPr lang="en-US" altLang="zh-CN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en-US" altLang="zh-CN" sz="1600" b="1" i="1">
                <a:solidFill>
                  <a:srgbClr val="080808"/>
                </a:solidFill>
                <a:latin typeface="ISOCPEUR" pitchFamily="34" charset="0"/>
              </a:rPr>
              <a:t>’ </a:t>
            </a:r>
            <a:r>
              <a:rPr lang="en-US" altLang="zh-CN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1600" b="1" i="1">
                <a:solidFill>
                  <a:srgbClr val="080808"/>
                </a:solidFill>
                <a:latin typeface="ISOCPEUR" pitchFamily="34" charset="0"/>
              </a:rPr>
              <a:t>’ 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的垂线</a:t>
            </a:r>
            <a:r>
              <a:rPr lang="en-US" altLang="zh-CN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)</a:t>
            </a:r>
          </a:p>
        </p:txBody>
      </p:sp>
      <p:sp>
        <p:nvSpPr>
          <p:cNvPr id="102447" name="Text Box 47"/>
          <p:cNvSpPr txBox="1">
            <a:spLocks noChangeArrowheads="1"/>
          </p:cNvSpPr>
          <p:nvPr/>
        </p:nvSpPr>
        <p:spPr bwMode="auto">
          <a:xfrm>
            <a:off x="6523038" y="2287588"/>
            <a:ext cx="2620962" cy="581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换面，将 </a:t>
            </a:r>
            <a:r>
              <a:rPr lang="en-US" altLang="zh-CN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M-N 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轴积聚为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一点</a:t>
            </a:r>
          </a:p>
        </p:txBody>
      </p:sp>
      <p:sp>
        <p:nvSpPr>
          <p:cNvPr id="102448" name="Line 48"/>
          <p:cNvSpPr>
            <a:spLocks noChangeShapeType="1"/>
          </p:cNvSpPr>
          <p:nvPr/>
        </p:nvSpPr>
        <p:spPr bwMode="auto">
          <a:xfrm>
            <a:off x="3370263" y="1452563"/>
            <a:ext cx="915987" cy="9064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9" name="Line 49"/>
          <p:cNvSpPr>
            <a:spLocks noChangeShapeType="1"/>
          </p:cNvSpPr>
          <p:nvPr/>
        </p:nvSpPr>
        <p:spPr bwMode="auto">
          <a:xfrm>
            <a:off x="3070225" y="2435225"/>
            <a:ext cx="593725" cy="5873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0" name="Line 50"/>
          <p:cNvSpPr>
            <a:spLocks noChangeShapeType="1"/>
          </p:cNvSpPr>
          <p:nvPr/>
        </p:nvSpPr>
        <p:spPr bwMode="auto">
          <a:xfrm>
            <a:off x="4291013" y="2363788"/>
            <a:ext cx="873125" cy="863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1" name="Line 51"/>
          <p:cNvSpPr>
            <a:spLocks noChangeShapeType="1"/>
          </p:cNvSpPr>
          <p:nvPr/>
        </p:nvSpPr>
        <p:spPr bwMode="auto">
          <a:xfrm>
            <a:off x="3667125" y="3024188"/>
            <a:ext cx="847725" cy="8366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2" name="Line 52"/>
          <p:cNvSpPr>
            <a:spLocks noChangeShapeType="1"/>
          </p:cNvSpPr>
          <p:nvPr/>
        </p:nvSpPr>
        <p:spPr bwMode="auto">
          <a:xfrm>
            <a:off x="5164138" y="3224213"/>
            <a:ext cx="0" cy="1454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3" name="Line 53"/>
          <p:cNvSpPr>
            <a:spLocks noChangeShapeType="1"/>
          </p:cNvSpPr>
          <p:nvPr/>
        </p:nvSpPr>
        <p:spPr bwMode="auto">
          <a:xfrm>
            <a:off x="4529138" y="3890963"/>
            <a:ext cx="0" cy="7953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4" name="Oval 54"/>
          <p:cNvSpPr>
            <a:spLocks noChangeArrowheads="1"/>
          </p:cNvSpPr>
          <p:nvPr/>
        </p:nvSpPr>
        <p:spPr bwMode="auto">
          <a:xfrm>
            <a:off x="5140325" y="3203575"/>
            <a:ext cx="476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55" name="Oval 55"/>
          <p:cNvSpPr>
            <a:spLocks noChangeArrowheads="1"/>
          </p:cNvSpPr>
          <p:nvPr/>
        </p:nvSpPr>
        <p:spPr bwMode="auto">
          <a:xfrm>
            <a:off x="4508500" y="3857625"/>
            <a:ext cx="476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56" name="Line 56"/>
          <p:cNvSpPr>
            <a:spLocks noChangeShapeType="1"/>
          </p:cNvSpPr>
          <p:nvPr/>
        </p:nvSpPr>
        <p:spPr bwMode="auto">
          <a:xfrm>
            <a:off x="4529138" y="4676775"/>
            <a:ext cx="0" cy="8842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7" name="Line 57"/>
          <p:cNvSpPr>
            <a:spLocks noChangeShapeType="1"/>
          </p:cNvSpPr>
          <p:nvPr/>
        </p:nvSpPr>
        <p:spPr bwMode="auto">
          <a:xfrm>
            <a:off x="5164138" y="4676775"/>
            <a:ext cx="0" cy="13382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8" name="Oval 58"/>
          <p:cNvSpPr>
            <a:spLocks noChangeArrowheads="1"/>
          </p:cNvSpPr>
          <p:nvPr/>
        </p:nvSpPr>
        <p:spPr bwMode="auto">
          <a:xfrm>
            <a:off x="4522788" y="5153025"/>
            <a:ext cx="738187" cy="1019175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59" name="Oval 59"/>
          <p:cNvSpPr>
            <a:spLocks noChangeArrowheads="1"/>
          </p:cNvSpPr>
          <p:nvPr/>
        </p:nvSpPr>
        <p:spPr bwMode="auto">
          <a:xfrm>
            <a:off x="4505325" y="5538788"/>
            <a:ext cx="476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60" name="Oval 60"/>
          <p:cNvSpPr>
            <a:spLocks noChangeArrowheads="1"/>
          </p:cNvSpPr>
          <p:nvPr/>
        </p:nvSpPr>
        <p:spPr bwMode="auto">
          <a:xfrm>
            <a:off x="5135563" y="5989638"/>
            <a:ext cx="476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61" name="Text Box 61"/>
          <p:cNvSpPr txBox="1">
            <a:spLocks noChangeArrowheads="1"/>
          </p:cNvSpPr>
          <p:nvPr/>
        </p:nvSpPr>
        <p:spPr bwMode="auto">
          <a:xfrm>
            <a:off x="4479925" y="3775075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k’</a:t>
            </a:r>
          </a:p>
        </p:txBody>
      </p:sp>
      <p:sp>
        <p:nvSpPr>
          <p:cNvPr id="102462" name="Text Box 62"/>
          <p:cNvSpPr txBox="1">
            <a:spLocks noChangeArrowheads="1"/>
          </p:cNvSpPr>
          <p:nvPr/>
        </p:nvSpPr>
        <p:spPr bwMode="auto">
          <a:xfrm>
            <a:off x="5146675" y="30194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l’</a:t>
            </a:r>
          </a:p>
        </p:txBody>
      </p:sp>
      <p:sp>
        <p:nvSpPr>
          <p:cNvPr id="102463" name="Text Box 63"/>
          <p:cNvSpPr txBox="1">
            <a:spLocks noChangeArrowheads="1"/>
          </p:cNvSpPr>
          <p:nvPr/>
        </p:nvSpPr>
        <p:spPr bwMode="auto">
          <a:xfrm>
            <a:off x="4473575" y="5232400"/>
            <a:ext cx="404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 </a:t>
            </a:r>
          </a:p>
        </p:txBody>
      </p:sp>
      <p:sp>
        <p:nvSpPr>
          <p:cNvPr id="102464" name="Text Box 64"/>
          <p:cNvSpPr txBox="1">
            <a:spLocks noChangeArrowheads="1"/>
          </p:cNvSpPr>
          <p:nvPr/>
        </p:nvSpPr>
        <p:spPr bwMode="auto">
          <a:xfrm>
            <a:off x="4945063" y="5897563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l </a:t>
            </a:r>
          </a:p>
        </p:txBody>
      </p:sp>
      <p:sp>
        <p:nvSpPr>
          <p:cNvPr id="102465" name="Text Box 65"/>
          <p:cNvSpPr txBox="1">
            <a:spLocks noChangeArrowheads="1"/>
          </p:cNvSpPr>
          <p:nvPr/>
        </p:nvSpPr>
        <p:spPr bwMode="auto">
          <a:xfrm>
            <a:off x="6648450" y="3819525"/>
            <a:ext cx="24955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结论：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点</a:t>
            </a:r>
            <a:r>
              <a:rPr lang="en-US" altLang="zh-CN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与</a:t>
            </a:r>
            <a:r>
              <a:rPr lang="en-US" altLang="zh-CN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BCDE</a:t>
            </a:r>
            <a:r>
              <a:rPr lang="zh-CN" altLang="en-US" sz="1600" b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相碰于点</a:t>
            </a:r>
            <a:r>
              <a:rPr lang="en-US" altLang="zh-CN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K</a:t>
            </a:r>
            <a:r>
              <a:rPr lang="zh-CN" altLang="en-US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1600" b="1" i="1">
                <a:solidFill>
                  <a:srgbClr val="080808"/>
                </a:solidFill>
                <a:latin typeface="黑体" pitchFamily="2" charset="-122"/>
                <a:ea typeface="黑体" pitchFamily="2" charset="-122"/>
              </a:rPr>
              <a:t>L</a:t>
            </a:r>
          </a:p>
        </p:txBody>
      </p:sp>
      <p:sp>
        <p:nvSpPr>
          <p:cNvPr id="39987" name="Line 67"/>
          <p:cNvSpPr>
            <a:spLocks noChangeShapeType="1"/>
          </p:cNvSpPr>
          <p:nvPr/>
        </p:nvSpPr>
        <p:spPr bwMode="auto">
          <a:xfrm>
            <a:off x="3111500" y="4684713"/>
            <a:ext cx="3400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88" name="AutoShape 68"/>
          <p:cNvSpPr>
            <a:spLocks noChangeArrowheads="1"/>
          </p:cNvSpPr>
          <p:nvPr/>
        </p:nvSpPr>
        <p:spPr bwMode="auto">
          <a:xfrm>
            <a:off x="3552825" y="4876800"/>
            <a:ext cx="2686050" cy="1514475"/>
          </a:xfrm>
          <a:prstGeom prst="parallelogram">
            <a:avLst>
              <a:gd name="adj" fmla="val 5191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9989" name="AutoShape 69"/>
          <p:cNvSpPr>
            <a:spLocks noChangeArrowheads="1"/>
          </p:cNvSpPr>
          <p:nvPr/>
        </p:nvSpPr>
        <p:spPr bwMode="auto">
          <a:xfrm rot="20377737" flipH="1">
            <a:off x="3697288" y="3070225"/>
            <a:ext cx="2395537" cy="1263650"/>
          </a:xfrm>
          <a:prstGeom prst="parallelogram">
            <a:avLst>
              <a:gd name="adj" fmla="val 2912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9990" name="Line 70"/>
          <p:cNvSpPr>
            <a:spLocks noChangeShapeType="1"/>
          </p:cNvSpPr>
          <p:nvPr/>
        </p:nvSpPr>
        <p:spPr bwMode="auto">
          <a:xfrm>
            <a:off x="4429125" y="3086100"/>
            <a:ext cx="836613" cy="836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91" name="Line 71"/>
          <p:cNvSpPr>
            <a:spLocks noChangeShapeType="1"/>
          </p:cNvSpPr>
          <p:nvPr/>
        </p:nvSpPr>
        <p:spPr bwMode="auto">
          <a:xfrm>
            <a:off x="4429125" y="3086100"/>
            <a:ext cx="0" cy="2581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92" name="Line 72"/>
          <p:cNvSpPr>
            <a:spLocks noChangeShapeType="1"/>
          </p:cNvSpPr>
          <p:nvPr/>
        </p:nvSpPr>
        <p:spPr bwMode="auto">
          <a:xfrm>
            <a:off x="5262563" y="3924300"/>
            <a:ext cx="0" cy="17430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93" name="Line 73"/>
          <p:cNvSpPr>
            <a:spLocks noChangeShapeType="1"/>
          </p:cNvSpPr>
          <p:nvPr/>
        </p:nvSpPr>
        <p:spPr bwMode="auto">
          <a:xfrm>
            <a:off x="3543300" y="3529013"/>
            <a:ext cx="0" cy="2860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94" name="Line 74"/>
          <p:cNvSpPr>
            <a:spLocks noChangeShapeType="1"/>
          </p:cNvSpPr>
          <p:nvPr/>
        </p:nvSpPr>
        <p:spPr bwMode="auto">
          <a:xfrm>
            <a:off x="6242050" y="3878263"/>
            <a:ext cx="0" cy="10048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95" name="Line 75"/>
          <p:cNvSpPr>
            <a:spLocks noChangeShapeType="1"/>
          </p:cNvSpPr>
          <p:nvPr/>
        </p:nvSpPr>
        <p:spPr bwMode="auto">
          <a:xfrm>
            <a:off x="4341813" y="4586288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96" name="Line 76"/>
          <p:cNvSpPr>
            <a:spLocks noChangeShapeType="1"/>
          </p:cNvSpPr>
          <p:nvPr/>
        </p:nvSpPr>
        <p:spPr bwMode="auto">
          <a:xfrm>
            <a:off x="5453063" y="2819400"/>
            <a:ext cx="0" cy="3576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97" name="Line 77"/>
          <p:cNvSpPr>
            <a:spLocks noChangeShapeType="1"/>
          </p:cNvSpPr>
          <p:nvPr/>
        </p:nvSpPr>
        <p:spPr bwMode="auto">
          <a:xfrm>
            <a:off x="5038725" y="3367088"/>
            <a:ext cx="0" cy="1833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98" name="Oval 82"/>
          <p:cNvSpPr>
            <a:spLocks noChangeArrowheads="1"/>
          </p:cNvSpPr>
          <p:nvPr/>
        </p:nvSpPr>
        <p:spPr bwMode="auto">
          <a:xfrm>
            <a:off x="5014913" y="5176838"/>
            <a:ext cx="42862" cy="428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9999" name="Oval 85"/>
          <p:cNvSpPr>
            <a:spLocks noChangeArrowheads="1"/>
          </p:cNvSpPr>
          <p:nvPr/>
        </p:nvSpPr>
        <p:spPr bwMode="auto">
          <a:xfrm>
            <a:off x="5018088" y="3346450"/>
            <a:ext cx="42862" cy="428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0000" name="Line 87"/>
          <p:cNvSpPr>
            <a:spLocks noChangeShapeType="1"/>
          </p:cNvSpPr>
          <p:nvPr/>
        </p:nvSpPr>
        <p:spPr bwMode="auto">
          <a:xfrm>
            <a:off x="4425950" y="5664200"/>
            <a:ext cx="8397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01" name="Text Box 89"/>
          <p:cNvSpPr txBox="1">
            <a:spLocks noChangeArrowheads="1"/>
          </p:cNvSpPr>
          <p:nvPr/>
        </p:nvSpPr>
        <p:spPr bwMode="auto">
          <a:xfrm>
            <a:off x="3276600" y="3230563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b’</a:t>
            </a:r>
          </a:p>
        </p:txBody>
      </p:sp>
      <p:sp>
        <p:nvSpPr>
          <p:cNvPr id="40002" name="Text Box 90"/>
          <p:cNvSpPr txBox="1">
            <a:spLocks noChangeArrowheads="1"/>
          </p:cNvSpPr>
          <p:nvPr/>
        </p:nvSpPr>
        <p:spPr bwMode="auto">
          <a:xfrm>
            <a:off x="5319713" y="2465388"/>
            <a:ext cx="344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c’</a:t>
            </a:r>
          </a:p>
        </p:txBody>
      </p:sp>
      <p:sp>
        <p:nvSpPr>
          <p:cNvPr id="40003" name="Text Box 91"/>
          <p:cNvSpPr txBox="1">
            <a:spLocks noChangeArrowheads="1"/>
          </p:cNvSpPr>
          <p:nvPr/>
        </p:nvSpPr>
        <p:spPr bwMode="auto">
          <a:xfrm>
            <a:off x="6208713" y="3627438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d’</a:t>
            </a:r>
          </a:p>
        </p:txBody>
      </p:sp>
      <p:sp>
        <p:nvSpPr>
          <p:cNvPr id="40004" name="Text Box 92"/>
          <p:cNvSpPr txBox="1">
            <a:spLocks noChangeArrowheads="1"/>
          </p:cNvSpPr>
          <p:nvPr/>
        </p:nvSpPr>
        <p:spPr bwMode="auto">
          <a:xfrm>
            <a:off x="4200525" y="4157663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e’</a:t>
            </a:r>
          </a:p>
        </p:txBody>
      </p:sp>
      <p:sp>
        <p:nvSpPr>
          <p:cNvPr id="40005" name="Text Box 93"/>
          <p:cNvSpPr txBox="1">
            <a:spLocks noChangeArrowheads="1"/>
          </p:cNvSpPr>
          <p:nvPr/>
        </p:nvSpPr>
        <p:spPr bwMode="auto">
          <a:xfrm>
            <a:off x="4979988" y="3211513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a’</a:t>
            </a:r>
          </a:p>
        </p:txBody>
      </p:sp>
      <p:sp>
        <p:nvSpPr>
          <p:cNvPr id="40006" name="Text Box 94"/>
          <p:cNvSpPr txBox="1">
            <a:spLocks noChangeArrowheads="1"/>
          </p:cNvSpPr>
          <p:nvPr/>
        </p:nvSpPr>
        <p:spPr bwMode="auto">
          <a:xfrm>
            <a:off x="4354513" y="2771775"/>
            <a:ext cx="395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m’</a:t>
            </a:r>
          </a:p>
        </p:txBody>
      </p:sp>
      <p:sp>
        <p:nvSpPr>
          <p:cNvPr id="40007" name="Text Box 95"/>
          <p:cNvSpPr txBox="1">
            <a:spLocks noChangeArrowheads="1"/>
          </p:cNvSpPr>
          <p:nvPr/>
        </p:nvSpPr>
        <p:spPr bwMode="auto">
          <a:xfrm>
            <a:off x="5183188" y="3608388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n’</a:t>
            </a:r>
          </a:p>
        </p:txBody>
      </p:sp>
      <p:sp>
        <p:nvSpPr>
          <p:cNvPr id="40008" name="Text Box 96"/>
          <p:cNvSpPr txBox="1">
            <a:spLocks noChangeArrowheads="1"/>
          </p:cNvSpPr>
          <p:nvPr/>
        </p:nvSpPr>
        <p:spPr bwMode="auto">
          <a:xfrm>
            <a:off x="3238500" y="619601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b</a:t>
            </a:r>
          </a:p>
        </p:txBody>
      </p:sp>
      <p:sp>
        <p:nvSpPr>
          <p:cNvPr id="40009" name="Text Box 97"/>
          <p:cNvSpPr txBox="1">
            <a:spLocks noChangeArrowheads="1"/>
          </p:cNvSpPr>
          <p:nvPr/>
        </p:nvSpPr>
        <p:spPr bwMode="auto">
          <a:xfrm>
            <a:off x="6216650" y="463391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d</a:t>
            </a:r>
          </a:p>
        </p:txBody>
      </p:sp>
      <p:sp>
        <p:nvSpPr>
          <p:cNvPr id="40010" name="Text Box 98"/>
          <p:cNvSpPr txBox="1">
            <a:spLocks noChangeArrowheads="1"/>
          </p:cNvSpPr>
          <p:nvPr/>
        </p:nvSpPr>
        <p:spPr bwMode="auto">
          <a:xfrm>
            <a:off x="4064000" y="4592638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e</a:t>
            </a:r>
          </a:p>
        </p:txBody>
      </p:sp>
      <p:sp>
        <p:nvSpPr>
          <p:cNvPr id="40011" name="Text Box 99"/>
          <p:cNvSpPr txBox="1">
            <a:spLocks noChangeArrowheads="1"/>
          </p:cNvSpPr>
          <p:nvPr/>
        </p:nvSpPr>
        <p:spPr bwMode="auto">
          <a:xfrm>
            <a:off x="5006975" y="493871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a</a:t>
            </a:r>
          </a:p>
        </p:txBody>
      </p:sp>
      <p:sp>
        <p:nvSpPr>
          <p:cNvPr id="40012" name="Text Box 100"/>
          <p:cNvSpPr txBox="1">
            <a:spLocks noChangeArrowheads="1"/>
          </p:cNvSpPr>
          <p:nvPr/>
        </p:nvSpPr>
        <p:spPr bwMode="auto">
          <a:xfrm>
            <a:off x="4124325" y="5446713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m</a:t>
            </a:r>
          </a:p>
        </p:txBody>
      </p:sp>
      <p:sp>
        <p:nvSpPr>
          <p:cNvPr id="40013" name="Text Box 101"/>
          <p:cNvSpPr txBox="1">
            <a:spLocks noChangeArrowheads="1"/>
          </p:cNvSpPr>
          <p:nvPr/>
        </p:nvSpPr>
        <p:spPr bwMode="auto">
          <a:xfrm>
            <a:off x="5195888" y="5418138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n</a:t>
            </a:r>
          </a:p>
        </p:txBody>
      </p:sp>
      <p:sp>
        <p:nvSpPr>
          <p:cNvPr id="102429" name="Oval 29"/>
          <p:cNvSpPr>
            <a:spLocks noChangeArrowheads="1"/>
          </p:cNvSpPr>
          <p:nvPr/>
        </p:nvSpPr>
        <p:spPr bwMode="auto">
          <a:xfrm>
            <a:off x="3044825" y="2408238"/>
            <a:ext cx="44450" cy="4445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27" name="Oval 27"/>
          <p:cNvSpPr>
            <a:spLocks noChangeArrowheads="1"/>
          </p:cNvSpPr>
          <p:nvPr/>
        </p:nvSpPr>
        <p:spPr bwMode="auto">
          <a:xfrm>
            <a:off x="3354388" y="1428750"/>
            <a:ext cx="47625" cy="47625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0016" name="Text Box 103"/>
          <p:cNvSpPr txBox="1">
            <a:spLocks noChangeArrowheads="1"/>
          </p:cNvSpPr>
          <p:nvPr/>
        </p:nvSpPr>
        <p:spPr bwMode="auto">
          <a:xfrm>
            <a:off x="5302250" y="6272213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80808"/>
                </a:solidFill>
                <a:latin typeface="ISOCPEUR" pitchFamily="34" charset="0"/>
              </a:rPr>
              <a:t>c</a:t>
            </a:r>
          </a:p>
        </p:txBody>
      </p:sp>
      <p:sp>
        <p:nvSpPr>
          <p:cNvPr id="40017" name="Text Box 13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2-4-5  </a:t>
            </a:r>
            <a:r>
              <a:rPr lang="zh-CN" altLang="en-US" sz="1600" b="1">
                <a:latin typeface="宋体" pitchFamily="2" charset="-122"/>
              </a:rPr>
              <a:t>试检查空间点Ａ绕 </a:t>
            </a:r>
            <a:r>
              <a:rPr lang="en-US" altLang="zh-CN" sz="1600" b="1">
                <a:latin typeface="宋体" pitchFamily="2" charset="-122"/>
              </a:rPr>
              <a:t>M-N </a:t>
            </a:r>
            <a:r>
              <a:rPr lang="zh-CN" altLang="en-US" sz="1600" b="1">
                <a:latin typeface="宋体" pitchFamily="2" charset="-122"/>
              </a:rPr>
              <a:t>轴（正平线）旋转时会不会与平面 </a:t>
            </a:r>
            <a:r>
              <a:rPr lang="en-US" altLang="zh-CN" sz="1600" b="1">
                <a:latin typeface="宋体" pitchFamily="2" charset="-122"/>
              </a:rPr>
              <a:t>BCDE </a:t>
            </a:r>
            <a:r>
              <a:rPr lang="zh-CN" altLang="en-US" sz="1600" b="1">
                <a:latin typeface="宋体" pitchFamily="2" charset="-122"/>
              </a:rPr>
              <a:t>相碰撞（作图说明）。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0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0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0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10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0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0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26" dur="2000"/>
                                        <p:tgtEl>
                                          <p:spTgt spid="10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2000"/>
                                        <p:tgtEl>
                                          <p:spTgt spid="10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2000"/>
                                        <p:tgtEl>
                                          <p:spTgt spid="10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0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0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10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0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0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1000"/>
                                        <p:tgtEl>
                                          <p:spTgt spid="10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1000"/>
                                        <p:tgtEl>
                                          <p:spTgt spid="10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1000"/>
                                        <p:tgtEl>
                                          <p:spTgt spid="10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1000"/>
                                        <p:tgtEl>
                                          <p:spTgt spid="10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 animBg="1"/>
      <p:bldP spid="102405" grpId="0" animBg="1"/>
      <p:bldP spid="102416" grpId="0" animBg="1"/>
      <p:bldP spid="102417" grpId="0"/>
      <p:bldP spid="102418" grpId="0" animBg="1"/>
      <p:bldP spid="102419" grpId="0" animBg="1"/>
      <p:bldP spid="102420" grpId="0" animBg="1"/>
      <p:bldP spid="102421" grpId="0" animBg="1"/>
      <p:bldP spid="102422" grpId="0"/>
      <p:bldP spid="102423" grpId="0"/>
      <p:bldP spid="102424" grpId="0"/>
      <p:bldP spid="102425" grpId="0"/>
      <p:bldP spid="102426" grpId="0"/>
      <p:bldP spid="102428" grpId="0"/>
      <p:bldP spid="102434" grpId="0" animBg="1"/>
      <p:bldP spid="102435" grpId="0"/>
      <p:bldP spid="102436" grpId="0" animBg="1"/>
      <p:bldP spid="102437" grpId="0" animBg="1"/>
      <p:bldP spid="102438" grpId="0"/>
      <p:bldP spid="102439" grpId="0" animBg="1"/>
      <p:bldP spid="102440" grpId="0" animBg="1"/>
      <p:bldP spid="102441" grpId="0" animBg="1"/>
      <p:bldP spid="102441" grpId="1" animBg="1"/>
      <p:bldP spid="102442" grpId="0" build="p"/>
      <p:bldP spid="102443" grpId="0"/>
      <p:bldP spid="102444" grpId="0"/>
      <p:bldP spid="102446" grpId="0" animBg="1"/>
      <p:bldP spid="102447" grpId="0" animBg="1"/>
      <p:bldP spid="102448" grpId="0" animBg="1"/>
      <p:bldP spid="102449" grpId="0" animBg="1"/>
      <p:bldP spid="102450" grpId="0" animBg="1"/>
      <p:bldP spid="102451" grpId="0" animBg="1"/>
      <p:bldP spid="102452" grpId="0" animBg="1"/>
      <p:bldP spid="102453" grpId="0" animBg="1"/>
      <p:bldP spid="102454" grpId="0" animBg="1"/>
      <p:bldP spid="102455" grpId="0" animBg="1"/>
      <p:bldP spid="102456" grpId="0" animBg="1"/>
      <p:bldP spid="102457" grpId="0" animBg="1"/>
      <p:bldP spid="102458" grpId="0" animBg="1"/>
      <p:bldP spid="102458" grpId="1" animBg="1"/>
      <p:bldP spid="102459" grpId="0" animBg="1"/>
      <p:bldP spid="102460" grpId="0" animBg="1"/>
      <p:bldP spid="102461" grpId="0"/>
      <p:bldP spid="102462" grpId="0"/>
      <p:bldP spid="102463" grpId="0"/>
      <p:bldP spid="102464" grpId="0"/>
      <p:bldP spid="102465" grpId="0"/>
      <p:bldP spid="102429" grpId="0" animBg="1"/>
      <p:bldP spid="1024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2-4-6  </a:t>
            </a:r>
            <a:r>
              <a:rPr lang="zh-CN" altLang="en-US" sz="1600" b="1">
                <a:latin typeface="宋体" pitchFamily="2" charset="-122"/>
              </a:rPr>
              <a:t>已知</a:t>
            </a:r>
            <a:r>
              <a:rPr lang="en-US" altLang="zh-CN" sz="1600" b="1">
                <a:latin typeface="宋体" pitchFamily="2" charset="-122"/>
              </a:rPr>
              <a:t>AD</a:t>
            </a:r>
            <a:r>
              <a:rPr lang="zh-CN" altLang="en-US" sz="1600" b="1">
                <a:latin typeface="宋体" pitchFamily="2" charset="-122"/>
              </a:rPr>
              <a:t>是三角形</a:t>
            </a:r>
            <a:r>
              <a:rPr lang="en-US" altLang="zh-CN" sz="1600" b="1">
                <a:latin typeface="宋体" pitchFamily="2" charset="-122"/>
              </a:rPr>
              <a:t>ABC</a:t>
            </a:r>
            <a:r>
              <a:rPr lang="zh-CN" altLang="en-US" sz="1600" b="1">
                <a:latin typeface="宋体" pitchFamily="2" charset="-122"/>
              </a:rPr>
              <a:t>平面内的水平线，</a:t>
            </a:r>
            <a:r>
              <a:rPr lang="en-US" altLang="zh-CN" sz="1600" b="1">
                <a:latin typeface="宋体" pitchFamily="2" charset="-122"/>
              </a:rPr>
              <a:t>AE</a:t>
            </a:r>
            <a:r>
              <a:rPr lang="zh-CN" altLang="en-US" sz="1600" b="1">
                <a:latin typeface="宋体" pitchFamily="2" charset="-122"/>
              </a:rPr>
              <a:t>是三角形</a:t>
            </a:r>
            <a:r>
              <a:rPr lang="en-US" altLang="zh-CN" sz="1600" b="1">
                <a:latin typeface="宋体" pitchFamily="2" charset="-122"/>
              </a:rPr>
              <a:t>ABC</a:t>
            </a:r>
            <a:r>
              <a:rPr lang="zh-CN" altLang="en-US" sz="1600" b="1">
                <a:latin typeface="宋体" pitchFamily="2" charset="-122"/>
              </a:rPr>
              <a:t>平面内的正平线，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latin typeface="宋体" pitchFamily="2" charset="-122"/>
              </a:rPr>
              <a:t>       请完成</a:t>
            </a:r>
            <a:r>
              <a:rPr lang="en-US" altLang="zh-CN" sz="1600" b="1">
                <a:latin typeface="宋体" pitchFamily="2" charset="-122"/>
              </a:rPr>
              <a:t>ABC</a:t>
            </a:r>
            <a:r>
              <a:rPr lang="zh-CN" altLang="en-US" sz="1600" b="1">
                <a:latin typeface="宋体" pitchFamily="2" charset="-122"/>
              </a:rPr>
              <a:t>的正面投影。</a:t>
            </a:r>
          </a:p>
        </p:txBody>
      </p:sp>
      <p:pic>
        <p:nvPicPr>
          <p:cNvPr id="4096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6" t="18945" r="34557" b="29720"/>
          <a:stretch>
            <a:fillRect/>
          </a:stretch>
        </p:blipFill>
        <p:spPr bwMode="auto">
          <a:xfrm>
            <a:off x="1389063" y="1054100"/>
            <a:ext cx="5957887" cy="500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74"/>
          <p:cNvGraphicFramePr>
            <a:graphicFrameLocks noChangeAspect="1"/>
          </p:cNvGraphicFramePr>
          <p:nvPr/>
        </p:nvGraphicFramePr>
        <p:xfrm>
          <a:off x="157163" y="292100"/>
          <a:ext cx="8839200" cy="614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6" name="Image" r:id="rId3" imgW="12190476" imgH="8482540" progId="Photoshop.Image.6">
                  <p:embed/>
                </p:oleObj>
              </mc:Choice>
              <mc:Fallback>
                <p:oleObj name="Image" r:id="rId3" imgW="12190476" imgH="8482540" progId="Photoshop.Image.6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3" y="292100"/>
                        <a:ext cx="8839200" cy="614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924300" y="2836863"/>
            <a:ext cx="3138488" cy="1354137"/>
            <a:chOff x="2763" y="2003"/>
            <a:chExt cx="1977" cy="853"/>
          </a:xfrm>
        </p:grpSpPr>
        <p:sp>
          <p:nvSpPr>
            <p:cNvPr id="43080" name="Freeform 3"/>
            <p:cNvSpPr>
              <a:spLocks/>
            </p:cNvSpPr>
            <p:nvPr/>
          </p:nvSpPr>
          <p:spPr bwMode="auto">
            <a:xfrm>
              <a:off x="2763" y="2003"/>
              <a:ext cx="1977" cy="846"/>
            </a:xfrm>
            <a:custGeom>
              <a:avLst/>
              <a:gdLst>
                <a:gd name="T0" fmla="*/ 0 w 1977"/>
                <a:gd name="T1" fmla="*/ 0 h 846"/>
                <a:gd name="T2" fmla="*/ 1131 w 1977"/>
                <a:gd name="T3" fmla="*/ 0 h 846"/>
                <a:gd name="T4" fmla="*/ 1977 w 1977"/>
                <a:gd name="T5" fmla="*/ 846 h 846"/>
                <a:gd name="T6" fmla="*/ 837 w 1977"/>
                <a:gd name="T7" fmla="*/ 846 h 846"/>
                <a:gd name="T8" fmla="*/ 0 w 1977"/>
                <a:gd name="T9" fmla="*/ 0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7"/>
                <a:gd name="T16" fmla="*/ 0 h 846"/>
                <a:gd name="T17" fmla="*/ 1977 w 1977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7" h="846">
                  <a:moveTo>
                    <a:pt x="0" y="0"/>
                  </a:moveTo>
                  <a:lnTo>
                    <a:pt x="1131" y="0"/>
                  </a:lnTo>
                  <a:lnTo>
                    <a:pt x="1977" y="846"/>
                  </a:lnTo>
                  <a:lnTo>
                    <a:pt x="837" y="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81" name="Line 4"/>
            <p:cNvSpPr>
              <a:spLocks noChangeShapeType="1"/>
            </p:cNvSpPr>
            <p:nvPr/>
          </p:nvSpPr>
          <p:spPr bwMode="auto">
            <a:xfrm>
              <a:off x="3608" y="2856"/>
              <a:ext cx="113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3606800" y="1362075"/>
            <a:ext cx="2047875" cy="4003675"/>
            <a:chOff x="2563" y="1074"/>
            <a:chExt cx="1290" cy="2522"/>
          </a:xfrm>
        </p:grpSpPr>
        <p:sp>
          <p:nvSpPr>
            <p:cNvPr id="43078" name="Freeform 6"/>
            <p:cNvSpPr>
              <a:spLocks/>
            </p:cNvSpPr>
            <p:nvPr/>
          </p:nvSpPr>
          <p:spPr bwMode="auto">
            <a:xfrm>
              <a:off x="2563" y="1075"/>
              <a:ext cx="1290" cy="2521"/>
            </a:xfrm>
            <a:custGeom>
              <a:avLst/>
              <a:gdLst>
                <a:gd name="T0" fmla="*/ 854 w 1290"/>
                <a:gd name="T1" fmla="*/ 2521 h 2521"/>
                <a:gd name="T2" fmla="*/ 0 w 1290"/>
                <a:gd name="T3" fmla="*/ 1667 h 2521"/>
                <a:gd name="T4" fmla="*/ 447 w 1290"/>
                <a:gd name="T5" fmla="*/ 0 h 2521"/>
                <a:gd name="T6" fmla="*/ 1290 w 1290"/>
                <a:gd name="T7" fmla="*/ 843 h 2521"/>
                <a:gd name="T8" fmla="*/ 854 w 1290"/>
                <a:gd name="T9" fmla="*/ 2521 h 25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0"/>
                <a:gd name="T16" fmla="*/ 0 h 2521"/>
                <a:gd name="T17" fmla="*/ 1290 w 1290"/>
                <a:gd name="T18" fmla="*/ 2521 h 25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0" h="2521">
                  <a:moveTo>
                    <a:pt x="854" y="2521"/>
                  </a:moveTo>
                  <a:lnTo>
                    <a:pt x="0" y="1667"/>
                  </a:lnTo>
                  <a:lnTo>
                    <a:pt x="447" y="0"/>
                  </a:lnTo>
                  <a:lnTo>
                    <a:pt x="1290" y="843"/>
                  </a:lnTo>
                  <a:lnTo>
                    <a:pt x="854" y="2521"/>
                  </a:lnTo>
                  <a:close/>
                </a:path>
              </a:pathLst>
            </a:custGeom>
            <a:solidFill>
              <a:srgbClr val="333399">
                <a:alpha val="16078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79" name="Freeform 7"/>
            <p:cNvSpPr>
              <a:spLocks/>
            </p:cNvSpPr>
            <p:nvPr/>
          </p:nvSpPr>
          <p:spPr bwMode="auto">
            <a:xfrm>
              <a:off x="3012" y="1074"/>
              <a:ext cx="840" cy="2514"/>
            </a:xfrm>
            <a:custGeom>
              <a:avLst/>
              <a:gdLst>
                <a:gd name="T0" fmla="*/ 408 w 840"/>
                <a:gd name="T1" fmla="*/ 2514 h 2514"/>
                <a:gd name="T2" fmla="*/ 840 w 840"/>
                <a:gd name="T3" fmla="*/ 840 h 2514"/>
                <a:gd name="T4" fmla="*/ 0 w 840"/>
                <a:gd name="T5" fmla="*/ 0 h 2514"/>
                <a:gd name="T6" fmla="*/ 0 60000 65536"/>
                <a:gd name="T7" fmla="*/ 0 60000 65536"/>
                <a:gd name="T8" fmla="*/ 0 60000 65536"/>
                <a:gd name="T9" fmla="*/ 0 w 840"/>
                <a:gd name="T10" fmla="*/ 0 h 2514"/>
                <a:gd name="T11" fmla="*/ 840 w 840"/>
                <a:gd name="T12" fmla="*/ 2514 h 2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0" h="2514">
                  <a:moveTo>
                    <a:pt x="408" y="2514"/>
                  </a:moveTo>
                  <a:lnTo>
                    <a:pt x="840" y="84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012" name="Line 8"/>
          <p:cNvSpPr>
            <a:spLocks noChangeShapeType="1"/>
          </p:cNvSpPr>
          <p:nvPr/>
        </p:nvSpPr>
        <p:spPr bwMode="auto">
          <a:xfrm flipH="1" flipV="1">
            <a:off x="4333875" y="2065338"/>
            <a:ext cx="542925" cy="26654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2127250" y="2835275"/>
            <a:ext cx="3138488" cy="1357313"/>
            <a:chOff x="1631" y="2002"/>
            <a:chExt cx="1977" cy="855"/>
          </a:xfrm>
        </p:grpSpPr>
        <p:sp>
          <p:nvSpPr>
            <p:cNvPr id="43076" name="Freeform 10"/>
            <p:cNvSpPr>
              <a:spLocks/>
            </p:cNvSpPr>
            <p:nvPr/>
          </p:nvSpPr>
          <p:spPr bwMode="auto">
            <a:xfrm>
              <a:off x="1631" y="2002"/>
              <a:ext cx="1977" cy="849"/>
            </a:xfrm>
            <a:custGeom>
              <a:avLst/>
              <a:gdLst>
                <a:gd name="T0" fmla="*/ 0 w 1977"/>
                <a:gd name="T1" fmla="*/ 0 h 846"/>
                <a:gd name="T2" fmla="*/ 1131 w 1977"/>
                <a:gd name="T3" fmla="*/ 0 h 846"/>
                <a:gd name="T4" fmla="*/ 1977 w 1977"/>
                <a:gd name="T5" fmla="*/ 864 h 846"/>
                <a:gd name="T6" fmla="*/ 837 w 1977"/>
                <a:gd name="T7" fmla="*/ 864 h 846"/>
                <a:gd name="T8" fmla="*/ 0 w 1977"/>
                <a:gd name="T9" fmla="*/ 0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7"/>
                <a:gd name="T16" fmla="*/ 0 h 846"/>
                <a:gd name="T17" fmla="*/ 1977 w 1977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7" h="846">
                  <a:moveTo>
                    <a:pt x="0" y="0"/>
                  </a:moveTo>
                  <a:lnTo>
                    <a:pt x="1131" y="0"/>
                  </a:lnTo>
                  <a:lnTo>
                    <a:pt x="1977" y="846"/>
                  </a:lnTo>
                  <a:lnTo>
                    <a:pt x="837" y="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77" name="Line 11"/>
            <p:cNvSpPr>
              <a:spLocks noChangeShapeType="1"/>
            </p:cNvSpPr>
            <p:nvPr/>
          </p:nvSpPr>
          <p:spPr bwMode="auto">
            <a:xfrm>
              <a:off x="2474" y="2857"/>
              <a:ext cx="113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7772" name="Line 12"/>
          <p:cNvSpPr>
            <a:spLocks noChangeShapeType="1"/>
          </p:cNvSpPr>
          <p:nvPr/>
        </p:nvSpPr>
        <p:spPr bwMode="auto">
          <a:xfrm flipH="1" flipV="1">
            <a:off x="3925888" y="2843213"/>
            <a:ext cx="1336675" cy="133667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3" name="Line 13"/>
          <p:cNvSpPr>
            <a:spLocks noChangeShapeType="1"/>
          </p:cNvSpPr>
          <p:nvPr/>
        </p:nvSpPr>
        <p:spPr bwMode="auto">
          <a:xfrm>
            <a:off x="2647950" y="3367088"/>
            <a:ext cx="1990725" cy="1841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4" name="Line 14"/>
          <p:cNvSpPr>
            <a:spLocks noChangeShapeType="1"/>
          </p:cNvSpPr>
          <p:nvPr/>
        </p:nvSpPr>
        <p:spPr bwMode="auto">
          <a:xfrm flipV="1">
            <a:off x="3462338" y="3949700"/>
            <a:ext cx="1566862" cy="2428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7" name="Line 15"/>
          <p:cNvSpPr>
            <a:spLocks noChangeShapeType="1"/>
          </p:cNvSpPr>
          <p:nvPr/>
        </p:nvSpPr>
        <p:spPr bwMode="auto">
          <a:xfrm flipV="1">
            <a:off x="1974850" y="2644775"/>
            <a:ext cx="1563688" cy="125888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6" name="Text Box 16"/>
          <p:cNvSpPr txBox="1">
            <a:spLocks noChangeArrowheads="1"/>
          </p:cNvSpPr>
          <p:nvPr/>
        </p:nvSpPr>
        <p:spPr bwMode="auto">
          <a:xfrm>
            <a:off x="4525963" y="2654300"/>
            <a:ext cx="306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N</a:t>
            </a:r>
          </a:p>
        </p:txBody>
      </p:sp>
      <p:sp>
        <p:nvSpPr>
          <p:cNvPr id="43019" name="Text Box 17"/>
          <p:cNvSpPr txBox="1">
            <a:spLocks noChangeArrowheads="1"/>
          </p:cNvSpPr>
          <p:nvPr/>
        </p:nvSpPr>
        <p:spPr bwMode="auto">
          <a:xfrm>
            <a:off x="4360863" y="1958975"/>
            <a:ext cx="2905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C</a:t>
            </a:r>
          </a:p>
        </p:txBody>
      </p:sp>
      <p:sp>
        <p:nvSpPr>
          <p:cNvPr id="43020" name="Text Box 18"/>
          <p:cNvSpPr txBox="1">
            <a:spLocks noChangeArrowheads="1"/>
          </p:cNvSpPr>
          <p:nvPr/>
        </p:nvSpPr>
        <p:spPr bwMode="auto">
          <a:xfrm>
            <a:off x="4819650" y="4381500"/>
            <a:ext cx="30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D</a:t>
            </a:r>
          </a:p>
        </p:txBody>
      </p:sp>
      <p:sp>
        <p:nvSpPr>
          <p:cNvPr id="117779" name="Text Box 19"/>
          <p:cNvSpPr txBox="1">
            <a:spLocks noChangeArrowheads="1"/>
          </p:cNvSpPr>
          <p:nvPr/>
        </p:nvSpPr>
        <p:spPr bwMode="auto">
          <a:xfrm>
            <a:off x="4200525" y="1468438"/>
            <a:ext cx="306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Q</a:t>
            </a:r>
          </a:p>
        </p:txBody>
      </p:sp>
      <p:sp>
        <p:nvSpPr>
          <p:cNvPr id="117780" name="Text Box 20"/>
          <p:cNvSpPr txBox="1">
            <a:spLocks noChangeArrowheads="1"/>
          </p:cNvSpPr>
          <p:nvPr/>
        </p:nvSpPr>
        <p:spPr bwMode="auto">
          <a:xfrm rot="-1395791">
            <a:off x="581025" y="2822575"/>
            <a:ext cx="301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ISOCPEUR" pitchFamily="34" charset="0"/>
              </a:rPr>
              <a:t>S</a:t>
            </a:r>
          </a:p>
        </p:txBody>
      </p:sp>
      <p:sp>
        <p:nvSpPr>
          <p:cNvPr id="117781" name="Text Box 21"/>
          <p:cNvSpPr txBox="1">
            <a:spLocks noChangeArrowheads="1"/>
          </p:cNvSpPr>
          <p:nvPr/>
        </p:nvSpPr>
        <p:spPr bwMode="auto">
          <a:xfrm>
            <a:off x="5265738" y="4197350"/>
            <a:ext cx="306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H</a:t>
            </a:r>
          </a:p>
        </p:txBody>
      </p:sp>
      <p:sp>
        <p:nvSpPr>
          <p:cNvPr id="117782" name="Text Box 22"/>
          <p:cNvSpPr txBox="1">
            <a:spLocks noChangeArrowheads="1"/>
          </p:cNvSpPr>
          <p:nvPr/>
        </p:nvSpPr>
        <p:spPr bwMode="auto">
          <a:xfrm>
            <a:off x="3894138" y="2468563"/>
            <a:ext cx="306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G</a:t>
            </a:r>
          </a:p>
        </p:txBody>
      </p:sp>
      <p:sp>
        <p:nvSpPr>
          <p:cNvPr id="117783" name="Text Box 23"/>
          <p:cNvSpPr txBox="1">
            <a:spLocks noChangeArrowheads="1"/>
          </p:cNvSpPr>
          <p:nvPr/>
        </p:nvSpPr>
        <p:spPr bwMode="auto">
          <a:xfrm>
            <a:off x="3413125" y="4197350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F</a:t>
            </a:r>
          </a:p>
        </p:txBody>
      </p:sp>
      <p:sp>
        <p:nvSpPr>
          <p:cNvPr id="117784" name="Text Box 24"/>
          <p:cNvSpPr txBox="1">
            <a:spLocks noChangeArrowheads="1"/>
          </p:cNvSpPr>
          <p:nvPr/>
        </p:nvSpPr>
        <p:spPr bwMode="auto">
          <a:xfrm rot="-1684829">
            <a:off x="4065588" y="3725863"/>
            <a:ext cx="287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ISOCPEUR" pitchFamily="34" charset="0"/>
              </a:rPr>
              <a:t>L</a:t>
            </a:r>
          </a:p>
        </p:txBody>
      </p:sp>
      <p:sp>
        <p:nvSpPr>
          <p:cNvPr id="117785" name="Rectangle 25"/>
          <p:cNvSpPr>
            <a:spLocks noChangeArrowheads="1"/>
          </p:cNvSpPr>
          <p:nvPr/>
        </p:nvSpPr>
        <p:spPr bwMode="auto">
          <a:xfrm>
            <a:off x="5540375" y="1058863"/>
            <a:ext cx="3603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黑体" pitchFamily="2" charset="-122"/>
                <a:ea typeface="黑体" pitchFamily="2" charset="-122"/>
              </a:rPr>
              <a:t>作水平面 </a:t>
            </a:r>
            <a:r>
              <a:rPr lang="en-US" altLang="zh-CN" sz="1800" b="1">
                <a:latin typeface="黑体" pitchFamily="2" charset="-122"/>
                <a:ea typeface="黑体" pitchFamily="2" charset="-122"/>
              </a:rPr>
              <a:t>S</a:t>
            </a:r>
          </a:p>
        </p:txBody>
      </p:sp>
      <p:sp>
        <p:nvSpPr>
          <p:cNvPr id="117786" name="Rectangle 26"/>
          <p:cNvSpPr>
            <a:spLocks noChangeArrowheads="1"/>
          </p:cNvSpPr>
          <p:nvPr/>
        </p:nvSpPr>
        <p:spPr bwMode="auto">
          <a:xfrm>
            <a:off x="5540375" y="744538"/>
            <a:ext cx="3603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黑体" pitchFamily="2" charset="-122"/>
                <a:ea typeface="黑体" pitchFamily="2" charset="-122"/>
              </a:rPr>
              <a:t>作平面</a:t>
            </a:r>
            <a:r>
              <a:rPr lang="en-US" altLang="zh-CN" sz="1800" b="1">
                <a:latin typeface="黑体" pitchFamily="2" charset="-122"/>
                <a:ea typeface="黑体" pitchFamily="2" charset="-122"/>
              </a:rPr>
              <a:t>P(</a:t>
            </a:r>
            <a:r>
              <a:rPr lang="zh-CN" altLang="en-US" sz="1800" b="1">
                <a:latin typeface="黑体" pitchFamily="2" charset="-122"/>
                <a:ea typeface="黑体" pitchFamily="2" charset="-122"/>
              </a:rPr>
              <a:t>含</a:t>
            </a:r>
            <a:r>
              <a:rPr lang="en-US" altLang="zh-CN" sz="1800" b="1">
                <a:latin typeface="黑体" pitchFamily="2" charset="-122"/>
                <a:ea typeface="黑体" pitchFamily="2" charset="-122"/>
              </a:rPr>
              <a:t>AB)∥</a:t>
            </a:r>
            <a:r>
              <a:rPr lang="zh-CN" altLang="en-US" sz="1800" b="1">
                <a:latin typeface="黑体" pitchFamily="2" charset="-122"/>
                <a:ea typeface="黑体" pitchFamily="2" charset="-122"/>
              </a:rPr>
              <a:t>平面</a:t>
            </a:r>
            <a:r>
              <a:rPr lang="en-US" altLang="zh-CN" sz="1800" b="1">
                <a:latin typeface="黑体" pitchFamily="2" charset="-122"/>
                <a:ea typeface="黑体" pitchFamily="2" charset="-122"/>
              </a:rPr>
              <a:t>Q(</a:t>
            </a:r>
            <a:r>
              <a:rPr lang="zh-CN" altLang="en-US" sz="1800" b="1">
                <a:latin typeface="黑体" pitchFamily="2" charset="-122"/>
                <a:ea typeface="黑体" pitchFamily="2" charset="-122"/>
              </a:rPr>
              <a:t>含</a:t>
            </a:r>
            <a:r>
              <a:rPr lang="en-US" altLang="zh-CN" sz="1800" b="1">
                <a:latin typeface="黑体" pitchFamily="2" charset="-122"/>
                <a:ea typeface="黑体" pitchFamily="2" charset="-122"/>
              </a:rPr>
              <a:t>CD)</a:t>
            </a:r>
          </a:p>
        </p:txBody>
      </p:sp>
      <p:sp>
        <p:nvSpPr>
          <p:cNvPr id="117787" name="Rectangle 27"/>
          <p:cNvSpPr>
            <a:spLocks noChangeArrowheads="1"/>
          </p:cNvSpPr>
          <p:nvPr/>
        </p:nvSpPr>
        <p:spPr bwMode="auto">
          <a:xfrm>
            <a:off x="5540375" y="1330325"/>
            <a:ext cx="3603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1800" b="1">
                <a:latin typeface="黑体" pitchFamily="2" charset="-122"/>
                <a:ea typeface="黑体" pitchFamily="2" charset="-122"/>
              </a:rPr>
              <a:t>得：水平线 </a:t>
            </a:r>
            <a:r>
              <a:rPr lang="en-US" altLang="zh-CN" sz="1800" b="1">
                <a:latin typeface="黑体" pitchFamily="2" charset="-122"/>
                <a:ea typeface="黑体" pitchFamily="2" charset="-122"/>
              </a:rPr>
              <a:t>EF∥GH</a:t>
            </a:r>
          </a:p>
        </p:txBody>
      </p:sp>
      <p:sp>
        <p:nvSpPr>
          <p:cNvPr id="117788" name="Rectangle 28"/>
          <p:cNvSpPr>
            <a:spLocks noChangeArrowheads="1"/>
          </p:cNvSpPr>
          <p:nvPr/>
        </p:nvSpPr>
        <p:spPr bwMode="auto">
          <a:xfrm>
            <a:off x="5540375" y="1660525"/>
            <a:ext cx="3603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黑体" pitchFamily="2" charset="-122"/>
                <a:ea typeface="黑体" pitchFamily="2" charset="-122"/>
              </a:rPr>
              <a:t>L </a:t>
            </a:r>
            <a:r>
              <a:rPr lang="zh-CN" altLang="en-US" sz="1800" b="1">
                <a:latin typeface="黑体" pitchFamily="2" charset="-122"/>
                <a:ea typeface="黑体" pitchFamily="2" charset="-122"/>
              </a:rPr>
              <a:t>为水平最短距离实长</a:t>
            </a:r>
          </a:p>
        </p:txBody>
      </p:sp>
      <p:sp>
        <p:nvSpPr>
          <p:cNvPr id="117789" name="Line 29"/>
          <p:cNvSpPr>
            <a:spLocks noChangeShapeType="1"/>
          </p:cNvSpPr>
          <p:nvPr/>
        </p:nvSpPr>
        <p:spPr bwMode="auto">
          <a:xfrm flipV="1">
            <a:off x="3462338" y="3949700"/>
            <a:ext cx="1566862" cy="2428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4802188" y="3938588"/>
            <a:ext cx="360362" cy="171450"/>
            <a:chOff x="3320" y="2697"/>
            <a:chExt cx="227" cy="108"/>
          </a:xfrm>
        </p:grpSpPr>
        <p:sp>
          <p:nvSpPr>
            <p:cNvPr id="43074" name="Arc 31"/>
            <p:cNvSpPr>
              <a:spLocks/>
            </p:cNvSpPr>
            <p:nvPr/>
          </p:nvSpPr>
          <p:spPr bwMode="auto">
            <a:xfrm>
              <a:off x="3320" y="2697"/>
              <a:ext cx="227" cy="108"/>
            </a:xfrm>
            <a:custGeom>
              <a:avLst/>
              <a:gdLst>
                <a:gd name="T0" fmla="*/ 0 w 32106"/>
                <a:gd name="T1" fmla="*/ 0 h 21600"/>
                <a:gd name="T2" fmla="*/ 0 w 32106"/>
                <a:gd name="T3" fmla="*/ 0 h 21600"/>
                <a:gd name="T4" fmla="*/ 0 w 32106"/>
                <a:gd name="T5" fmla="*/ 0 h 21600"/>
                <a:gd name="T6" fmla="*/ 0 60000 65536"/>
                <a:gd name="T7" fmla="*/ 0 60000 65536"/>
                <a:gd name="T8" fmla="*/ 0 60000 65536"/>
                <a:gd name="T9" fmla="*/ 0 w 32106"/>
                <a:gd name="T10" fmla="*/ 0 h 21600"/>
                <a:gd name="T11" fmla="*/ 32106 w 321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106" h="21600" fill="none" extrusionOk="0">
                  <a:moveTo>
                    <a:pt x="32105" y="18200"/>
                  </a:moveTo>
                  <a:cubicBezTo>
                    <a:pt x="28632" y="20420"/>
                    <a:pt x="24596" y="21599"/>
                    <a:pt x="20474" y="21600"/>
                  </a:cubicBezTo>
                  <a:cubicBezTo>
                    <a:pt x="11197" y="21600"/>
                    <a:pt x="2956" y="15676"/>
                    <a:pt x="0" y="6883"/>
                  </a:cubicBezTo>
                </a:path>
                <a:path w="32106" h="21600" stroke="0" extrusionOk="0">
                  <a:moveTo>
                    <a:pt x="32105" y="18200"/>
                  </a:moveTo>
                  <a:cubicBezTo>
                    <a:pt x="28632" y="20420"/>
                    <a:pt x="24596" y="21599"/>
                    <a:pt x="20474" y="21600"/>
                  </a:cubicBezTo>
                  <a:cubicBezTo>
                    <a:pt x="11197" y="21600"/>
                    <a:pt x="2956" y="15676"/>
                    <a:pt x="0" y="6883"/>
                  </a:cubicBezTo>
                  <a:lnTo>
                    <a:pt x="20474" y="0"/>
                  </a:lnTo>
                  <a:lnTo>
                    <a:pt x="32105" y="1820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75" name="Oval 32"/>
            <p:cNvSpPr>
              <a:spLocks noChangeAspect="1" noChangeArrowheads="1"/>
            </p:cNvSpPr>
            <p:nvPr/>
          </p:nvSpPr>
          <p:spPr bwMode="auto">
            <a:xfrm flipH="1" flipV="1">
              <a:off x="3428" y="2750"/>
              <a:ext cx="14" cy="14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17793" name="Text Box 33"/>
          <p:cNvSpPr txBox="1">
            <a:spLocks noChangeArrowheads="1"/>
          </p:cNvSpPr>
          <p:nvPr/>
        </p:nvSpPr>
        <p:spPr bwMode="auto">
          <a:xfrm>
            <a:off x="5010150" y="3619500"/>
            <a:ext cx="230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I</a:t>
            </a:r>
          </a:p>
        </p:txBody>
      </p:sp>
      <p:sp>
        <p:nvSpPr>
          <p:cNvPr id="117794" name="Text Box 34"/>
          <p:cNvSpPr txBox="1">
            <a:spLocks noChangeArrowheads="1"/>
          </p:cNvSpPr>
          <p:nvPr/>
        </p:nvSpPr>
        <p:spPr bwMode="auto">
          <a:xfrm>
            <a:off x="4621213" y="3313113"/>
            <a:ext cx="2905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i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ISOCPEUR" pitchFamily="34" charset="0"/>
              </a:rPr>
              <a:t>L</a:t>
            </a:r>
          </a:p>
        </p:txBody>
      </p:sp>
      <p:sp>
        <p:nvSpPr>
          <p:cNvPr id="117795" name="Rectangle 35"/>
          <p:cNvSpPr>
            <a:spLocks noChangeArrowheads="1"/>
          </p:cNvSpPr>
          <p:nvPr/>
        </p:nvSpPr>
        <p:spPr bwMode="auto">
          <a:xfrm>
            <a:off x="5540375" y="1984375"/>
            <a:ext cx="3603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黑体" pitchFamily="2" charset="-122"/>
                <a:ea typeface="黑体" pitchFamily="2" charset="-122"/>
              </a:rPr>
              <a:t>MN </a:t>
            </a:r>
            <a:r>
              <a:rPr lang="zh-CN" altLang="en-US" sz="1800" b="1">
                <a:latin typeface="黑体" pitchFamily="2" charset="-122"/>
                <a:ea typeface="黑体" pitchFamily="2" charset="-122"/>
              </a:rPr>
              <a:t>为所求</a:t>
            </a:r>
          </a:p>
        </p:txBody>
      </p:sp>
      <p:sp>
        <p:nvSpPr>
          <p:cNvPr id="117796" name="Line 36"/>
          <p:cNvSpPr>
            <a:spLocks noChangeShapeType="1"/>
          </p:cNvSpPr>
          <p:nvPr/>
        </p:nvSpPr>
        <p:spPr bwMode="auto">
          <a:xfrm flipV="1">
            <a:off x="3284538" y="2073275"/>
            <a:ext cx="1044575" cy="76835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97" name="Line 37"/>
          <p:cNvSpPr>
            <a:spLocks noChangeShapeType="1"/>
          </p:cNvSpPr>
          <p:nvPr/>
        </p:nvSpPr>
        <p:spPr bwMode="auto">
          <a:xfrm flipV="1">
            <a:off x="3190875" y="2309813"/>
            <a:ext cx="1190625" cy="61595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98" name="Line 38"/>
          <p:cNvSpPr>
            <a:spLocks noChangeShapeType="1"/>
          </p:cNvSpPr>
          <p:nvPr/>
        </p:nvSpPr>
        <p:spPr bwMode="auto">
          <a:xfrm flipV="1">
            <a:off x="3071813" y="2559050"/>
            <a:ext cx="1368425" cy="45720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99" name="Line 39"/>
          <p:cNvSpPr>
            <a:spLocks noChangeShapeType="1"/>
          </p:cNvSpPr>
          <p:nvPr/>
        </p:nvSpPr>
        <p:spPr bwMode="auto">
          <a:xfrm flipV="1">
            <a:off x="2971800" y="2789238"/>
            <a:ext cx="1508125" cy="31115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800" name="Line 40"/>
          <p:cNvSpPr>
            <a:spLocks noChangeShapeType="1"/>
          </p:cNvSpPr>
          <p:nvPr/>
        </p:nvSpPr>
        <p:spPr bwMode="auto">
          <a:xfrm flipV="1">
            <a:off x="2865438" y="3025775"/>
            <a:ext cx="1660525" cy="14605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801" name="Line 41"/>
          <p:cNvSpPr>
            <a:spLocks noChangeShapeType="1"/>
          </p:cNvSpPr>
          <p:nvPr/>
        </p:nvSpPr>
        <p:spPr bwMode="auto">
          <a:xfrm>
            <a:off x="2759075" y="3262313"/>
            <a:ext cx="1825625" cy="1905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802" name="Line 42"/>
          <p:cNvSpPr>
            <a:spLocks noChangeShapeType="1"/>
          </p:cNvSpPr>
          <p:nvPr/>
        </p:nvSpPr>
        <p:spPr bwMode="auto">
          <a:xfrm>
            <a:off x="2516188" y="3457575"/>
            <a:ext cx="2162175" cy="34290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803" name="Line 43"/>
          <p:cNvSpPr>
            <a:spLocks noChangeShapeType="1"/>
          </p:cNvSpPr>
          <p:nvPr/>
        </p:nvSpPr>
        <p:spPr bwMode="auto">
          <a:xfrm>
            <a:off x="2416175" y="3541713"/>
            <a:ext cx="2314575" cy="49530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804" name="Line 44"/>
          <p:cNvSpPr>
            <a:spLocks noChangeShapeType="1"/>
          </p:cNvSpPr>
          <p:nvPr/>
        </p:nvSpPr>
        <p:spPr bwMode="auto">
          <a:xfrm>
            <a:off x="2284413" y="3644900"/>
            <a:ext cx="2505075" cy="69215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805" name="Line 45"/>
          <p:cNvSpPr>
            <a:spLocks noChangeShapeType="1"/>
          </p:cNvSpPr>
          <p:nvPr/>
        </p:nvSpPr>
        <p:spPr bwMode="auto">
          <a:xfrm>
            <a:off x="2127250" y="3773488"/>
            <a:ext cx="2727325" cy="86360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1817688" y="1350963"/>
            <a:ext cx="2047875" cy="4003675"/>
            <a:chOff x="1436" y="1067"/>
            <a:chExt cx="1290" cy="2522"/>
          </a:xfrm>
        </p:grpSpPr>
        <p:sp>
          <p:nvSpPr>
            <p:cNvPr id="43072" name="Freeform 47"/>
            <p:cNvSpPr>
              <a:spLocks/>
            </p:cNvSpPr>
            <p:nvPr/>
          </p:nvSpPr>
          <p:spPr bwMode="auto">
            <a:xfrm>
              <a:off x="1436" y="1068"/>
              <a:ext cx="1290" cy="2521"/>
            </a:xfrm>
            <a:custGeom>
              <a:avLst/>
              <a:gdLst>
                <a:gd name="T0" fmla="*/ 854 w 1290"/>
                <a:gd name="T1" fmla="*/ 2521 h 2521"/>
                <a:gd name="T2" fmla="*/ 0 w 1290"/>
                <a:gd name="T3" fmla="*/ 1667 h 2521"/>
                <a:gd name="T4" fmla="*/ 447 w 1290"/>
                <a:gd name="T5" fmla="*/ 0 h 2521"/>
                <a:gd name="T6" fmla="*/ 1290 w 1290"/>
                <a:gd name="T7" fmla="*/ 843 h 2521"/>
                <a:gd name="T8" fmla="*/ 854 w 1290"/>
                <a:gd name="T9" fmla="*/ 2521 h 25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0"/>
                <a:gd name="T16" fmla="*/ 0 h 2521"/>
                <a:gd name="T17" fmla="*/ 1290 w 1290"/>
                <a:gd name="T18" fmla="*/ 2521 h 25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0" h="2521">
                  <a:moveTo>
                    <a:pt x="854" y="2521"/>
                  </a:moveTo>
                  <a:lnTo>
                    <a:pt x="0" y="1667"/>
                  </a:lnTo>
                  <a:lnTo>
                    <a:pt x="447" y="0"/>
                  </a:lnTo>
                  <a:lnTo>
                    <a:pt x="1290" y="843"/>
                  </a:lnTo>
                  <a:lnTo>
                    <a:pt x="854" y="2521"/>
                  </a:lnTo>
                  <a:close/>
                </a:path>
              </a:pathLst>
            </a:custGeom>
            <a:solidFill>
              <a:srgbClr val="80808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73" name="Freeform 48"/>
            <p:cNvSpPr>
              <a:spLocks/>
            </p:cNvSpPr>
            <p:nvPr/>
          </p:nvSpPr>
          <p:spPr bwMode="auto">
            <a:xfrm>
              <a:off x="1879" y="1067"/>
              <a:ext cx="840" cy="2514"/>
            </a:xfrm>
            <a:custGeom>
              <a:avLst/>
              <a:gdLst>
                <a:gd name="T0" fmla="*/ 408 w 840"/>
                <a:gd name="T1" fmla="*/ 2514 h 2514"/>
                <a:gd name="T2" fmla="*/ 840 w 840"/>
                <a:gd name="T3" fmla="*/ 840 h 2514"/>
                <a:gd name="T4" fmla="*/ 0 w 840"/>
                <a:gd name="T5" fmla="*/ 0 h 2514"/>
                <a:gd name="T6" fmla="*/ 0 60000 65536"/>
                <a:gd name="T7" fmla="*/ 0 60000 65536"/>
                <a:gd name="T8" fmla="*/ 0 60000 65536"/>
                <a:gd name="T9" fmla="*/ 0 w 840"/>
                <a:gd name="T10" fmla="*/ 0 h 2514"/>
                <a:gd name="T11" fmla="*/ 840 w 840"/>
                <a:gd name="T12" fmla="*/ 2514 h 2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0" h="2514">
                  <a:moveTo>
                    <a:pt x="408" y="2514"/>
                  </a:moveTo>
                  <a:lnTo>
                    <a:pt x="840" y="84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330200" y="2838450"/>
            <a:ext cx="3138488" cy="1354138"/>
            <a:chOff x="499" y="2004"/>
            <a:chExt cx="1977" cy="853"/>
          </a:xfrm>
        </p:grpSpPr>
        <p:sp>
          <p:nvSpPr>
            <p:cNvPr id="43070" name="Freeform 50"/>
            <p:cNvSpPr>
              <a:spLocks/>
            </p:cNvSpPr>
            <p:nvPr/>
          </p:nvSpPr>
          <p:spPr bwMode="auto">
            <a:xfrm>
              <a:off x="499" y="2004"/>
              <a:ext cx="1977" cy="846"/>
            </a:xfrm>
            <a:custGeom>
              <a:avLst/>
              <a:gdLst>
                <a:gd name="T0" fmla="*/ 0 w 1977"/>
                <a:gd name="T1" fmla="*/ 0 h 846"/>
                <a:gd name="T2" fmla="*/ 1131 w 1977"/>
                <a:gd name="T3" fmla="*/ 0 h 846"/>
                <a:gd name="T4" fmla="*/ 1977 w 1977"/>
                <a:gd name="T5" fmla="*/ 846 h 846"/>
                <a:gd name="T6" fmla="*/ 837 w 1977"/>
                <a:gd name="T7" fmla="*/ 846 h 846"/>
                <a:gd name="T8" fmla="*/ 0 w 1977"/>
                <a:gd name="T9" fmla="*/ 0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7"/>
                <a:gd name="T16" fmla="*/ 0 h 846"/>
                <a:gd name="T17" fmla="*/ 1977 w 1977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7" h="846">
                  <a:moveTo>
                    <a:pt x="0" y="0"/>
                  </a:moveTo>
                  <a:lnTo>
                    <a:pt x="1131" y="0"/>
                  </a:lnTo>
                  <a:lnTo>
                    <a:pt x="1977" y="846"/>
                  </a:lnTo>
                  <a:lnTo>
                    <a:pt x="837" y="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71" name="Freeform 51"/>
            <p:cNvSpPr>
              <a:spLocks/>
            </p:cNvSpPr>
            <p:nvPr/>
          </p:nvSpPr>
          <p:spPr bwMode="auto">
            <a:xfrm>
              <a:off x="500" y="2011"/>
              <a:ext cx="1974" cy="846"/>
            </a:xfrm>
            <a:custGeom>
              <a:avLst/>
              <a:gdLst>
                <a:gd name="T0" fmla="*/ 0 w 1974"/>
                <a:gd name="T1" fmla="*/ 0 h 846"/>
                <a:gd name="T2" fmla="*/ 834 w 1974"/>
                <a:gd name="T3" fmla="*/ 846 h 846"/>
                <a:gd name="T4" fmla="*/ 1974 w 1974"/>
                <a:gd name="T5" fmla="*/ 846 h 846"/>
                <a:gd name="T6" fmla="*/ 0 60000 65536"/>
                <a:gd name="T7" fmla="*/ 0 60000 65536"/>
                <a:gd name="T8" fmla="*/ 0 60000 65536"/>
                <a:gd name="T9" fmla="*/ 0 w 1974"/>
                <a:gd name="T10" fmla="*/ 0 h 846"/>
                <a:gd name="T11" fmla="*/ 1974 w 1974"/>
                <a:gd name="T12" fmla="*/ 846 h 8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4" h="846">
                  <a:moveTo>
                    <a:pt x="0" y="0"/>
                  </a:moveTo>
                  <a:lnTo>
                    <a:pt x="834" y="846"/>
                  </a:lnTo>
                  <a:lnTo>
                    <a:pt x="1974" y="846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7812" name="Text Box 52"/>
          <p:cNvSpPr txBox="1">
            <a:spLocks noChangeArrowheads="1"/>
          </p:cNvSpPr>
          <p:nvPr/>
        </p:nvSpPr>
        <p:spPr bwMode="auto">
          <a:xfrm>
            <a:off x="2433638" y="1497013"/>
            <a:ext cx="306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P</a:t>
            </a:r>
          </a:p>
        </p:txBody>
      </p:sp>
      <p:sp>
        <p:nvSpPr>
          <p:cNvPr id="117813" name="Text Box 53"/>
          <p:cNvSpPr txBox="1">
            <a:spLocks noChangeArrowheads="1"/>
          </p:cNvSpPr>
          <p:nvPr/>
        </p:nvSpPr>
        <p:spPr bwMode="auto">
          <a:xfrm>
            <a:off x="2605088" y="2835275"/>
            <a:ext cx="322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M</a:t>
            </a:r>
          </a:p>
        </p:txBody>
      </p:sp>
      <p:sp>
        <p:nvSpPr>
          <p:cNvPr id="43050" name="Text Box 54"/>
          <p:cNvSpPr txBox="1">
            <a:spLocks noChangeArrowheads="1"/>
          </p:cNvSpPr>
          <p:nvPr/>
        </p:nvSpPr>
        <p:spPr bwMode="auto">
          <a:xfrm>
            <a:off x="1952625" y="3748088"/>
            <a:ext cx="306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B</a:t>
            </a:r>
          </a:p>
        </p:txBody>
      </p:sp>
      <p:sp>
        <p:nvSpPr>
          <p:cNvPr id="117815" name="Text Box 55"/>
          <p:cNvSpPr txBox="1">
            <a:spLocks noChangeArrowheads="1"/>
          </p:cNvSpPr>
          <p:nvPr/>
        </p:nvSpPr>
        <p:spPr bwMode="auto">
          <a:xfrm>
            <a:off x="1836738" y="2468563"/>
            <a:ext cx="2905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E</a:t>
            </a:r>
          </a:p>
        </p:txBody>
      </p:sp>
      <p:sp>
        <p:nvSpPr>
          <p:cNvPr id="117816" name="Text Box 56"/>
          <p:cNvSpPr txBox="1">
            <a:spLocks noChangeArrowheads="1"/>
          </p:cNvSpPr>
          <p:nvPr/>
        </p:nvSpPr>
        <p:spPr bwMode="auto">
          <a:xfrm>
            <a:off x="2224088" y="3157538"/>
            <a:ext cx="3063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i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ISOCPEUR" pitchFamily="34" charset="0"/>
              </a:rPr>
              <a:t>K</a:t>
            </a:r>
          </a:p>
        </p:txBody>
      </p:sp>
      <p:sp>
        <p:nvSpPr>
          <p:cNvPr id="117817" name="Line 57"/>
          <p:cNvSpPr>
            <a:spLocks noChangeShapeType="1"/>
          </p:cNvSpPr>
          <p:nvPr/>
        </p:nvSpPr>
        <p:spPr bwMode="auto">
          <a:xfrm flipH="1" flipV="1">
            <a:off x="2122488" y="2843213"/>
            <a:ext cx="1330325" cy="13303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4" name="Text Box 58"/>
          <p:cNvSpPr txBox="1">
            <a:spLocks noChangeArrowheads="1"/>
          </p:cNvSpPr>
          <p:nvPr/>
        </p:nvSpPr>
        <p:spPr bwMode="auto">
          <a:xfrm>
            <a:off x="3141663" y="2398713"/>
            <a:ext cx="3222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A</a:t>
            </a:r>
          </a:p>
        </p:txBody>
      </p:sp>
      <p:sp>
        <p:nvSpPr>
          <p:cNvPr id="117819" name="Rectangle 59"/>
          <p:cNvSpPr>
            <a:spLocks noChangeArrowheads="1"/>
          </p:cNvSpPr>
          <p:nvPr/>
        </p:nvSpPr>
        <p:spPr bwMode="auto">
          <a:xfrm>
            <a:off x="6183313" y="2501900"/>
            <a:ext cx="312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KL </a:t>
            </a:r>
            <a:r>
              <a:rPr lang="zh-CN" altLang="en-US" sz="1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为所求</a:t>
            </a:r>
          </a:p>
        </p:txBody>
      </p:sp>
      <p:sp>
        <p:nvSpPr>
          <p:cNvPr id="117820" name="Rectangle 60"/>
          <p:cNvSpPr>
            <a:spLocks noChangeArrowheads="1"/>
          </p:cNvSpPr>
          <p:nvPr/>
        </p:nvSpPr>
        <p:spPr bwMode="auto">
          <a:xfrm>
            <a:off x="7373938" y="2498725"/>
            <a:ext cx="1933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- </a:t>
            </a:r>
            <a:r>
              <a:rPr lang="zh-CN" altLang="en-US" sz="1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否</a:t>
            </a:r>
            <a:r>
              <a:rPr lang="en-US" altLang="zh-CN" sz="1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!</a:t>
            </a:r>
          </a:p>
        </p:txBody>
      </p:sp>
      <p:sp>
        <p:nvSpPr>
          <p:cNvPr id="117821" name="Rectangle 61"/>
          <p:cNvSpPr>
            <a:spLocks noChangeArrowheads="1"/>
          </p:cNvSpPr>
          <p:nvPr/>
        </p:nvSpPr>
        <p:spPr bwMode="auto">
          <a:xfrm>
            <a:off x="6183313" y="2801938"/>
            <a:ext cx="3124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AB</a:t>
            </a:r>
            <a:r>
              <a:rPr lang="zh-CN" altLang="en-US" sz="1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1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CD</a:t>
            </a:r>
            <a:r>
              <a:rPr lang="zh-CN" altLang="en-US" sz="1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有无数条水平线</a:t>
            </a:r>
            <a:r>
              <a:rPr lang="en-US" altLang="zh-CN" sz="1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只有一条为题解</a:t>
            </a:r>
          </a:p>
        </p:txBody>
      </p:sp>
      <p:grpSp>
        <p:nvGrpSpPr>
          <p:cNvPr id="8" name="Group 62"/>
          <p:cNvGrpSpPr>
            <a:grpSpLocks/>
          </p:cNvGrpSpPr>
          <p:nvPr/>
        </p:nvGrpSpPr>
        <p:grpSpPr bwMode="auto">
          <a:xfrm>
            <a:off x="3606800" y="3995738"/>
            <a:ext cx="3138488" cy="1354137"/>
            <a:chOff x="2763" y="2003"/>
            <a:chExt cx="1977" cy="853"/>
          </a:xfrm>
        </p:grpSpPr>
        <p:sp>
          <p:nvSpPr>
            <p:cNvPr id="43068" name="Freeform 63"/>
            <p:cNvSpPr>
              <a:spLocks/>
            </p:cNvSpPr>
            <p:nvPr/>
          </p:nvSpPr>
          <p:spPr bwMode="auto">
            <a:xfrm>
              <a:off x="2763" y="2003"/>
              <a:ext cx="1977" cy="846"/>
            </a:xfrm>
            <a:custGeom>
              <a:avLst/>
              <a:gdLst>
                <a:gd name="T0" fmla="*/ 0 w 1977"/>
                <a:gd name="T1" fmla="*/ 0 h 846"/>
                <a:gd name="T2" fmla="*/ 1131 w 1977"/>
                <a:gd name="T3" fmla="*/ 0 h 846"/>
                <a:gd name="T4" fmla="*/ 1977 w 1977"/>
                <a:gd name="T5" fmla="*/ 846 h 846"/>
                <a:gd name="T6" fmla="*/ 837 w 1977"/>
                <a:gd name="T7" fmla="*/ 846 h 846"/>
                <a:gd name="T8" fmla="*/ 0 w 1977"/>
                <a:gd name="T9" fmla="*/ 0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7"/>
                <a:gd name="T16" fmla="*/ 0 h 846"/>
                <a:gd name="T17" fmla="*/ 1977 w 1977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7" h="846">
                  <a:moveTo>
                    <a:pt x="0" y="0"/>
                  </a:moveTo>
                  <a:lnTo>
                    <a:pt x="1131" y="0"/>
                  </a:lnTo>
                  <a:lnTo>
                    <a:pt x="1977" y="846"/>
                  </a:lnTo>
                  <a:lnTo>
                    <a:pt x="837" y="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FF">
                <a:alpha val="25098"/>
              </a:srgbClr>
            </a:solidFill>
            <a:ln w="952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9" name="Line 64"/>
            <p:cNvSpPr>
              <a:spLocks noChangeShapeType="1"/>
            </p:cNvSpPr>
            <p:nvPr/>
          </p:nvSpPr>
          <p:spPr bwMode="auto">
            <a:xfrm>
              <a:off x="3608" y="2856"/>
              <a:ext cx="1132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65"/>
          <p:cNvGrpSpPr>
            <a:grpSpLocks/>
          </p:cNvGrpSpPr>
          <p:nvPr/>
        </p:nvGrpSpPr>
        <p:grpSpPr bwMode="auto">
          <a:xfrm>
            <a:off x="1817688" y="3995738"/>
            <a:ext cx="3138487" cy="1357312"/>
            <a:chOff x="1631" y="2002"/>
            <a:chExt cx="1977" cy="855"/>
          </a:xfrm>
        </p:grpSpPr>
        <p:sp>
          <p:nvSpPr>
            <p:cNvPr id="43066" name="Freeform 66"/>
            <p:cNvSpPr>
              <a:spLocks/>
            </p:cNvSpPr>
            <p:nvPr/>
          </p:nvSpPr>
          <p:spPr bwMode="auto">
            <a:xfrm>
              <a:off x="1631" y="2002"/>
              <a:ext cx="1977" cy="849"/>
            </a:xfrm>
            <a:custGeom>
              <a:avLst/>
              <a:gdLst>
                <a:gd name="T0" fmla="*/ 0 w 1977"/>
                <a:gd name="T1" fmla="*/ 0 h 846"/>
                <a:gd name="T2" fmla="*/ 1131 w 1977"/>
                <a:gd name="T3" fmla="*/ 0 h 846"/>
                <a:gd name="T4" fmla="*/ 1977 w 1977"/>
                <a:gd name="T5" fmla="*/ 864 h 846"/>
                <a:gd name="T6" fmla="*/ 837 w 1977"/>
                <a:gd name="T7" fmla="*/ 864 h 846"/>
                <a:gd name="T8" fmla="*/ 0 w 1977"/>
                <a:gd name="T9" fmla="*/ 0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7"/>
                <a:gd name="T16" fmla="*/ 0 h 846"/>
                <a:gd name="T17" fmla="*/ 1977 w 1977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7" h="846">
                  <a:moveTo>
                    <a:pt x="0" y="0"/>
                  </a:moveTo>
                  <a:lnTo>
                    <a:pt x="1131" y="0"/>
                  </a:lnTo>
                  <a:lnTo>
                    <a:pt x="1977" y="846"/>
                  </a:lnTo>
                  <a:lnTo>
                    <a:pt x="837" y="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FF">
                <a:alpha val="25098"/>
              </a:srgbClr>
            </a:solidFill>
            <a:ln w="952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7" name="Line 67"/>
            <p:cNvSpPr>
              <a:spLocks noChangeShapeType="1"/>
            </p:cNvSpPr>
            <p:nvPr/>
          </p:nvSpPr>
          <p:spPr bwMode="auto">
            <a:xfrm>
              <a:off x="2474" y="2857"/>
              <a:ext cx="1134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68"/>
          <p:cNvGrpSpPr>
            <a:grpSpLocks/>
          </p:cNvGrpSpPr>
          <p:nvPr/>
        </p:nvGrpSpPr>
        <p:grpSpPr bwMode="auto">
          <a:xfrm>
            <a:off x="52388" y="3998913"/>
            <a:ext cx="3138487" cy="1357312"/>
            <a:chOff x="1631" y="2002"/>
            <a:chExt cx="1977" cy="855"/>
          </a:xfrm>
        </p:grpSpPr>
        <p:sp>
          <p:nvSpPr>
            <p:cNvPr id="43064" name="Freeform 69"/>
            <p:cNvSpPr>
              <a:spLocks/>
            </p:cNvSpPr>
            <p:nvPr/>
          </p:nvSpPr>
          <p:spPr bwMode="auto">
            <a:xfrm>
              <a:off x="1631" y="2002"/>
              <a:ext cx="1977" cy="849"/>
            </a:xfrm>
            <a:custGeom>
              <a:avLst/>
              <a:gdLst>
                <a:gd name="T0" fmla="*/ 0 w 1977"/>
                <a:gd name="T1" fmla="*/ 0 h 846"/>
                <a:gd name="T2" fmla="*/ 1131 w 1977"/>
                <a:gd name="T3" fmla="*/ 0 h 846"/>
                <a:gd name="T4" fmla="*/ 1977 w 1977"/>
                <a:gd name="T5" fmla="*/ 864 h 846"/>
                <a:gd name="T6" fmla="*/ 837 w 1977"/>
                <a:gd name="T7" fmla="*/ 864 h 846"/>
                <a:gd name="T8" fmla="*/ 0 w 1977"/>
                <a:gd name="T9" fmla="*/ 0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7"/>
                <a:gd name="T16" fmla="*/ 0 h 846"/>
                <a:gd name="T17" fmla="*/ 1977 w 1977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7" h="846">
                  <a:moveTo>
                    <a:pt x="0" y="0"/>
                  </a:moveTo>
                  <a:lnTo>
                    <a:pt x="1131" y="0"/>
                  </a:lnTo>
                  <a:lnTo>
                    <a:pt x="1977" y="846"/>
                  </a:lnTo>
                  <a:lnTo>
                    <a:pt x="837" y="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FF">
                <a:alpha val="25098"/>
              </a:srgbClr>
            </a:solidFill>
            <a:ln w="952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5" name="Line 70"/>
            <p:cNvSpPr>
              <a:spLocks noChangeShapeType="1"/>
            </p:cNvSpPr>
            <p:nvPr/>
          </p:nvSpPr>
          <p:spPr bwMode="auto">
            <a:xfrm>
              <a:off x="2474" y="2857"/>
              <a:ext cx="1134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7831" name="Text Box 71"/>
          <p:cNvSpPr txBox="1">
            <a:spLocks noChangeArrowheads="1"/>
          </p:cNvSpPr>
          <p:nvPr/>
        </p:nvSpPr>
        <p:spPr bwMode="auto">
          <a:xfrm>
            <a:off x="1339850" y="4972050"/>
            <a:ext cx="30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H</a:t>
            </a:r>
          </a:p>
        </p:txBody>
      </p:sp>
      <p:sp>
        <p:nvSpPr>
          <p:cNvPr id="117832" name="Text Box 72"/>
          <p:cNvSpPr txBox="1">
            <a:spLocks noChangeArrowheads="1"/>
          </p:cNvSpPr>
          <p:nvPr/>
        </p:nvSpPr>
        <p:spPr bwMode="auto">
          <a:xfrm>
            <a:off x="2968625" y="5518150"/>
            <a:ext cx="569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P</a:t>
            </a:r>
            <a:r>
              <a:rPr lang="en-US" altLang="zh-CN" sz="1800" i="1" baseline="-25000">
                <a:latin typeface="ISOCPEUR" pitchFamily="34" charset="0"/>
              </a:rPr>
              <a:t>H</a:t>
            </a:r>
          </a:p>
        </p:txBody>
      </p:sp>
      <p:sp>
        <p:nvSpPr>
          <p:cNvPr id="117833" name="Text Box 73"/>
          <p:cNvSpPr txBox="1">
            <a:spLocks noChangeArrowheads="1"/>
          </p:cNvSpPr>
          <p:nvPr/>
        </p:nvSpPr>
        <p:spPr bwMode="auto">
          <a:xfrm>
            <a:off x="4743450" y="5518150"/>
            <a:ext cx="569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P</a:t>
            </a:r>
            <a:r>
              <a:rPr lang="en-US" altLang="zh-CN" sz="1800" i="1" baseline="-25000">
                <a:latin typeface="ISOCPEUR" pitchFamily="34" charset="0"/>
              </a:rPr>
              <a:t>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000"/>
                                        <p:tgtEl>
                                          <p:spTgt spid="11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000"/>
                                        <p:tgtEl>
                                          <p:spTgt spid="11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117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1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1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1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1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1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17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2000"/>
                                        <p:tgtEl>
                                          <p:spTgt spid="117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33333E-6 C -0.0073 0.02408 -0.01459 0.04838 -0.01771 0.06389 C -0.02084 0.0794 -0.01233 0.12963 -0.01875 0.09306 C -0.02518 0.05648 -0.04098 -0.0493 -0.05677 -0.15486 " pathEditMode="relative" rAng="0" ptsTypes="aaaA">
                                      <p:cBhvr>
                                        <p:cTn id="182" dur="5000" fill="hold"/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47" y="-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8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1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1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72" grpId="0" animBg="1"/>
      <p:bldP spid="117773" grpId="0" animBg="1"/>
      <p:bldP spid="117773" grpId="1" animBg="1"/>
      <p:bldP spid="117774" grpId="0" animBg="1"/>
      <p:bldP spid="117774" grpId="1" animBg="1"/>
      <p:bldP spid="117779" grpId="0"/>
      <p:bldP spid="117780" grpId="0"/>
      <p:bldP spid="117781" grpId="0"/>
      <p:bldP spid="117782" grpId="0"/>
      <p:bldP spid="117783" grpId="0"/>
      <p:bldP spid="117784" grpId="0"/>
      <p:bldP spid="117785" grpId="0"/>
      <p:bldP spid="117786" grpId="0"/>
      <p:bldP spid="117787" grpId="0"/>
      <p:bldP spid="117788" grpId="0"/>
      <p:bldP spid="117789" grpId="0" animBg="1"/>
      <p:bldP spid="117793" grpId="0"/>
      <p:bldP spid="117794" grpId="0"/>
      <p:bldP spid="117794" grpId="1"/>
      <p:bldP spid="117795" grpId="0"/>
      <p:bldP spid="117796" grpId="0" animBg="1"/>
      <p:bldP spid="117796" grpId="1" animBg="1"/>
      <p:bldP spid="117797" grpId="0" animBg="1"/>
      <p:bldP spid="117797" grpId="1" animBg="1"/>
      <p:bldP spid="117798" grpId="0" animBg="1"/>
      <p:bldP spid="117798" grpId="1" animBg="1"/>
      <p:bldP spid="117799" grpId="0" animBg="1"/>
      <p:bldP spid="117799" grpId="1" animBg="1"/>
      <p:bldP spid="117800" grpId="0" animBg="1"/>
      <p:bldP spid="117800" grpId="1" animBg="1"/>
      <p:bldP spid="117801" grpId="0" animBg="1"/>
      <p:bldP spid="117801" grpId="1" animBg="1"/>
      <p:bldP spid="117802" grpId="0" animBg="1"/>
      <p:bldP spid="117802" grpId="1" animBg="1"/>
      <p:bldP spid="117803" grpId="0" animBg="1"/>
      <p:bldP spid="117803" grpId="1" animBg="1"/>
      <p:bldP spid="117804" grpId="0" animBg="1"/>
      <p:bldP spid="117804" grpId="1" animBg="1"/>
      <p:bldP spid="117805" grpId="0" animBg="1"/>
      <p:bldP spid="117805" grpId="1" animBg="1"/>
      <p:bldP spid="117812" grpId="0"/>
      <p:bldP spid="117815" grpId="0"/>
      <p:bldP spid="117816" grpId="0"/>
      <p:bldP spid="117816" grpId="1"/>
      <p:bldP spid="117817" grpId="0" animBg="1"/>
      <p:bldP spid="117819" grpId="0"/>
      <p:bldP spid="117820" grpId="0"/>
      <p:bldP spid="117821" grpId="0"/>
      <p:bldP spid="117831" grpId="0"/>
      <p:bldP spid="117832" grpId="0"/>
      <p:bldP spid="11783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0" y="136525"/>
          <a:ext cx="9144000" cy="648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4" name="Image" r:id="rId3" imgW="12457143" imgH="8838095" progId="Photoshop.Image.6">
                  <p:embed/>
                </p:oleObj>
              </mc:Choice>
              <mc:Fallback>
                <p:oleObj name="Image" r:id="rId3" imgW="12457143" imgH="8838095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6525"/>
                        <a:ext cx="9144000" cy="648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0" y="220663"/>
          <a:ext cx="9007475" cy="647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8" name="Image" r:id="rId3" imgW="12457143" imgH="8952381" progId="Photoshop.Image.6">
                  <p:embed/>
                </p:oleObj>
              </mc:Choice>
              <mc:Fallback>
                <p:oleObj name="Image" r:id="rId3" imgW="12457143" imgH="8952381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0663"/>
                        <a:ext cx="9007475" cy="647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2"/>
          <p:cNvGrpSpPr>
            <a:grpSpLocks/>
          </p:cNvGrpSpPr>
          <p:nvPr/>
        </p:nvGrpSpPr>
        <p:grpSpPr bwMode="auto">
          <a:xfrm>
            <a:off x="4386263" y="3179763"/>
            <a:ext cx="3138487" cy="1354137"/>
            <a:chOff x="2763" y="2003"/>
            <a:chExt cx="1977" cy="853"/>
          </a:xfrm>
        </p:grpSpPr>
        <p:sp>
          <p:nvSpPr>
            <p:cNvPr id="46143" name="Freeform 3"/>
            <p:cNvSpPr>
              <a:spLocks/>
            </p:cNvSpPr>
            <p:nvPr/>
          </p:nvSpPr>
          <p:spPr bwMode="auto">
            <a:xfrm>
              <a:off x="2763" y="2003"/>
              <a:ext cx="1977" cy="846"/>
            </a:xfrm>
            <a:custGeom>
              <a:avLst/>
              <a:gdLst>
                <a:gd name="T0" fmla="*/ 0 w 1977"/>
                <a:gd name="T1" fmla="*/ 0 h 846"/>
                <a:gd name="T2" fmla="*/ 1131 w 1977"/>
                <a:gd name="T3" fmla="*/ 0 h 846"/>
                <a:gd name="T4" fmla="*/ 1977 w 1977"/>
                <a:gd name="T5" fmla="*/ 846 h 846"/>
                <a:gd name="T6" fmla="*/ 837 w 1977"/>
                <a:gd name="T7" fmla="*/ 846 h 846"/>
                <a:gd name="T8" fmla="*/ 0 w 1977"/>
                <a:gd name="T9" fmla="*/ 0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7"/>
                <a:gd name="T16" fmla="*/ 0 h 846"/>
                <a:gd name="T17" fmla="*/ 1977 w 1977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7" h="846">
                  <a:moveTo>
                    <a:pt x="0" y="0"/>
                  </a:moveTo>
                  <a:lnTo>
                    <a:pt x="1131" y="0"/>
                  </a:lnTo>
                  <a:lnTo>
                    <a:pt x="1977" y="846"/>
                  </a:lnTo>
                  <a:lnTo>
                    <a:pt x="837" y="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4" name="Line 4"/>
            <p:cNvSpPr>
              <a:spLocks noChangeShapeType="1"/>
            </p:cNvSpPr>
            <p:nvPr/>
          </p:nvSpPr>
          <p:spPr bwMode="auto">
            <a:xfrm>
              <a:off x="3608" y="2856"/>
              <a:ext cx="113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083" name="Group 5"/>
          <p:cNvGrpSpPr>
            <a:grpSpLocks/>
          </p:cNvGrpSpPr>
          <p:nvPr/>
        </p:nvGrpSpPr>
        <p:grpSpPr bwMode="auto">
          <a:xfrm>
            <a:off x="4068763" y="1704975"/>
            <a:ext cx="2047875" cy="4003675"/>
            <a:chOff x="2563" y="1074"/>
            <a:chExt cx="1290" cy="2522"/>
          </a:xfrm>
        </p:grpSpPr>
        <p:sp>
          <p:nvSpPr>
            <p:cNvPr id="46141" name="Freeform 6"/>
            <p:cNvSpPr>
              <a:spLocks/>
            </p:cNvSpPr>
            <p:nvPr/>
          </p:nvSpPr>
          <p:spPr bwMode="auto">
            <a:xfrm>
              <a:off x="2563" y="1075"/>
              <a:ext cx="1290" cy="2521"/>
            </a:xfrm>
            <a:custGeom>
              <a:avLst/>
              <a:gdLst>
                <a:gd name="T0" fmla="*/ 854 w 1290"/>
                <a:gd name="T1" fmla="*/ 2521 h 2521"/>
                <a:gd name="T2" fmla="*/ 0 w 1290"/>
                <a:gd name="T3" fmla="*/ 1667 h 2521"/>
                <a:gd name="T4" fmla="*/ 447 w 1290"/>
                <a:gd name="T5" fmla="*/ 0 h 2521"/>
                <a:gd name="T6" fmla="*/ 1290 w 1290"/>
                <a:gd name="T7" fmla="*/ 843 h 2521"/>
                <a:gd name="T8" fmla="*/ 854 w 1290"/>
                <a:gd name="T9" fmla="*/ 2521 h 25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0"/>
                <a:gd name="T16" fmla="*/ 0 h 2521"/>
                <a:gd name="T17" fmla="*/ 1290 w 1290"/>
                <a:gd name="T18" fmla="*/ 2521 h 25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0" h="2521">
                  <a:moveTo>
                    <a:pt x="854" y="2521"/>
                  </a:moveTo>
                  <a:lnTo>
                    <a:pt x="0" y="1667"/>
                  </a:lnTo>
                  <a:lnTo>
                    <a:pt x="447" y="0"/>
                  </a:lnTo>
                  <a:lnTo>
                    <a:pt x="1290" y="843"/>
                  </a:lnTo>
                  <a:lnTo>
                    <a:pt x="854" y="2521"/>
                  </a:lnTo>
                  <a:close/>
                </a:path>
              </a:pathLst>
            </a:custGeom>
            <a:solidFill>
              <a:srgbClr val="333399">
                <a:alpha val="16078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2" name="Freeform 7"/>
            <p:cNvSpPr>
              <a:spLocks/>
            </p:cNvSpPr>
            <p:nvPr/>
          </p:nvSpPr>
          <p:spPr bwMode="auto">
            <a:xfrm>
              <a:off x="3012" y="1074"/>
              <a:ext cx="840" cy="2514"/>
            </a:xfrm>
            <a:custGeom>
              <a:avLst/>
              <a:gdLst>
                <a:gd name="T0" fmla="*/ 408 w 840"/>
                <a:gd name="T1" fmla="*/ 2514 h 2514"/>
                <a:gd name="T2" fmla="*/ 840 w 840"/>
                <a:gd name="T3" fmla="*/ 840 h 2514"/>
                <a:gd name="T4" fmla="*/ 0 w 840"/>
                <a:gd name="T5" fmla="*/ 0 h 2514"/>
                <a:gd name="T6" fmla="*/ 0 60000 65536"/>
                <a:gd name="T7" fmla="*/ 0 60000 65536"/>
                <a:gd name="T8" fmla="*/ 0 60000 65536"/>
                <a:gd name="T9" fmla="*/ 0 w 840"/>
                <a:gd name="T10" fmla="*/ 0 h 2514"/>
                <a:gd name="T11" fmla="*/ 840 w 840"/>
                <a:gd name="T12" fmla="*/ 2514 h 2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0" h="2514">
                  <a:moveTo>
                    <a:pt x="408" y="2514"/>
                  </a:moveTo>
                  <a:lnTo>
                    <a:pt x="840" y="84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084" name="Line 8"/>
          <p:cNvSpPr>
            <a:spLocks noChangeShapeType="1"/>
          </p:cNvSpPr>
          <p:nvPr/>
        </p:nvSpPr>
        <p:spPr bwMode="auto">
          <a:xfrm flipH="1" flipV="1">
            <a:off x="4795838" y="2408238"/>
            <a:ext cx="542925" cy="26654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6085" name="Group 9"/>
          <p:cNvGrpSpPr>
            <a:grpSpLocks/>
          </p:cNvGrpSpPr>
          <p:nvPr/>
        </p:nvGrpSpPr>
        <p:grpSpPr bwMode="auto">
          <a:xfrm>
            <a:off x="2589213" y="3178175"/>
            <a:ext cx="3138487" cy="1357313"/>
            <a:chOff x="1631" y="2002"/>
            <a:chExt cx="1977" cy="855"/>
          </a:xfrm>
        </p:grpSpPr>
        <p:sp>
          <p:nvSpPr>
            <p:cNvPr id="46139" name="Freeform 10"/>
            <p:cNvSpPr>
              <a:spLocks/>
            </p:cNvSpPr>
            <p:nvPr/>
          </p:nvSpPr>
          <p:spPr bwMode="auto">
            <a:xfrm>
              <a:off x="1631" y="2002"/>
              <a:ext cx="1977" cy="849"/>
            </a:xfrm>
            <a:custGeom>
              <a:avLst/>
              <a:gdLst>
                <a:gd name="T0" fmla="*/ 0 w 1977"/>
                <a:gd name="T1" fmla="*/ 0 h 846"/>
                <a:gd name="T2" fmla="*/ 1131 w 1977"/>
                <a:gd name="T3" fmla="*/ 0 h 846"/>
                <a:gd name="T4" fmla="*/ 1977 w 1977"/>
                <a:gd name="T5" fmla="*/ 864 h 846"/>
                <a:gd name="T6" fmla="*/ 837 w 1977"/>
                <a:gd name="T7" fmla="*/ 864 h 846"/>
                <a:gd name="T8" fmla="*/ 0 w 1977"/>
                <a:gd name="T9" fmla="*/ 0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7"/>
                <a:gd name="T16" fmla="*/ 0 h 846"/>
                <a:gd name="T17" fmla="*/ 1977 w 1977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7" h="846">
                  <a:moveTo>
                    <a:pt x="0" y="0"/>
                  </a:moveTo>
                  <a:lnTo>
                    <a:pt x="1131" y="0"/>
                  </a:lnTo>
                  <a:lnTo>
                    <a:pt x="1977" y="846"/>
                  </a:lnTo>
                  <a:lnTo>
                    <a:pt x="837" y="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0" name="Line 11"/>
            <p:cNvSpPr>
              <a:spLocks noChangeShapeType="1"/>
            </p:cNvSpPr>
            <p:nvPr/>
          </p:nvSpPr>
          <p:spPr bwMode="auto">
            <a:xfrm>
              <a:off x="2474" y="2857"/>
              <a:ext cx="113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086" name="Line 12"/>
          <p:cNvSpPr>
            <a:spLocks noChangeShapeType="1"/>
          </p:cNvSpPr>
          <p:nvPr/>
        </p:nvSpPr>
        <p:spPr bwMode="auto">
          <a:xfrm flipH="1" flipV="1">
            <a:off x="4387850" y="3186113"/>
            <a:ext cx="1336675" cy="133667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7" name="Line 13"/>
          <p:cNvSpPr>
            <a:spLocks noChangeShapeType="1"/>
          </p:cNvSpPr>
          <p:nvPr/>
        </p:nvSpPr>
        <p:spPr bwMode="auto">
          <a:xfrm>
            <a:off x="3109913" y="3709988"/>
            <a:ext cx="1990725" cy="1841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8" name="Line 14"/>
          <p:cNvSpPr>
            <a:spLocks noChangeShapeType="1"/>
          </p:cNvSpPr>
          <p:nvPr/>
        </p:nvSpPr>
        <p:spPr bwMode="auto">
          <a:xfrm flipV="1">
            <a:off x="3924300" y="4292600"/>
            <a:ext cx="1566863" cy="2428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9" name="Line 15"/>
          <p:cNvSpPr>
            <a:spLocks noChangeShapeType="1"/>
          </p:cNvSpPr>
          <p:nvPr/>
        </p:nvSpPr>
        <p:spPr bwMode="auto">
          <a:xfrm flipV="1">
            <a:off x="2436813" y="2987675"/>
            <a:ext cx="1563687" cy="125888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0" name="Text Box 16"/>
          <p:cNvSpPr txBox="1">
            <a:spLocks noChangeArrowheads="1"/>
          </p:cNvSpPr>
          <p:nvPr/>
        </p:nvSpPr>
        <p:spPr bwMode="auto">
          <a:xfrm>
            <a:off x="4987925" y="2997200"/>
            <a:ext cx="30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N</a:t>
            </a:r>
          </a:p>
        </p:txBody>
      </p:sp>
      <p:sp>
        <p:nvSpPr>
          <p:cNvPr id="46091" name="Text Box 17"/>
          <p:cNvSpPr txBox="1">
            <a:spLocks noChangeArrowheads="1"/>
          </p:cNvSpPr>
          <p:nvPr/>
        </p:nvSpPr>
        <p:spPr bwMode="auto">
          <a:xfrm>
            <a:off x="4822825" y="2301875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C</a:t>
            </a:r>
          </a:p>
        </p:txBody>
      </p:sp>
      <p:sp>
        <p:nvSpPr>
          <p:cNvPr id="46092" name="Text Box 18"/>
          <p:cNvSpPr txBox="1">
            <a:spLocks noChangeArrowheads="1"/>
          </p:cNvSpPr>
          <p:nvPr/>
        </p:nvSpPr>
        <p:spPr bwMode="auto">
          <a:xfrm>
            <a:off x="5281613" y="4724400"/>
            <a:ext cx="306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D</a:t>
            </a:r>
          </a:p>
        </p:txBody>
      </p:sp>
      <p:sp>
        <p:nvSpPr>
          <p:cNvPr id="46093" name="Text Box 19"/>
          <p:cNvSpPr txBox="1">
            <a:spLocks noChangeArrowheads="1"/>
          </p:cNvSpPr>
          <p:nvPr/>
        </p:nvSpPr>
        <p:spPr bwMode="auto">
          <a:xfrm>
            <a:off x="4662488" y="1811338"/>
            <a:ext cx="306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Q</a:t>
            </a:r>
          </a:p>
        </p:txBody>
      </p:sp>
      <p:sp>
        <p:nvSpPr>
          <p:cNvPr id="46094" name="Text Box 20"/>
          <p:cNvSpPr txBox="1">
            <a:spLocks noChangeArrowheads="1"/>
          </p:cNvSpPr>
          <p:nvPr/>
        </p:nvSpPr>
        <p:spPr bwMode="auto">
          <a:xfrm rot="-1395791">
            <a:off x="1042988" y="3165475"/>
            <a:ext cx="301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ISOCPEUR" pitchFamily="34" charset="0"/>
              </a:rPr>
              <a:t>S</a:t>
            </a:r>
          </a:p>
        </p:txBody>
      </p:sp>
      <p:sp>
        <p:nvSpPr>
          <p:cNvPr id="46095" name="Text Box 21"/>
          <p:cNvSpPr txBox="1">
            <a:spLocks noChangeArrowheads="1"/>
          </p:cNvSpPr>
          <p:nvPr/>
        </p:nvSpPr>
        <p:spPr bwMode="auto">
          <a:xfrm>
            <a:off x="5727700" y="4540250"/>
            <a:ext cx="30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H</a:t>
            </a:r>
          </a:p>
        </p:txBody>
      </p:sp>
      <p:sp>
        <p:nvSpPr>
          <p:cNvPr id="46096" name="Text Box 22"/>
          <p:cNvSpPr txBox="1">
            <a:spLocks noChangeArrowheads="1"/>
          </p:cNvSpPr>
          <p:nvPr/>
        </p:nvSpPr>
        <p:spPr bwMode="auto">
          <a:xfrm>
            <a:off x="4356100" y="2811463"/>
            <a:ext cx="306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G</a:t>
            </a:r>
          </a:p>
        </p:txBody>
      </p:sp>
      <p:sp>
        <p:nvSpPr>
          <p:cNvPr id="46097" name="Text Box 23"/>
          <p:cNvSpPr txBox="1">
            <a:spLocks noChangeArrowheads="1"/>
          </p:cNvSpPr>
          <p:nvPr/>
        </p:nvSpPr>
        <p:spPr bwMode="auto">
          <a:xfrm>
            <a:off x="3875088" y="4540250"/>
            <a:ext cx="2905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F</a:t>
            </a:r>
          </a:p>
        </p:txBody>
      </p:sp>
      <p:sp>
        <p:nvSpPr>
          <p:cNvPr id="46098" name="Text Box 24"/>
          <p:cNvSpPr txBox="1">
            <a:spLocks noChangeArrowheads="1"/>
          </p:cNvSpPr>
          <p:nvPr/>
        </p:nvSpPr>
        <p:spPr bwMode="auto">
          <a:xfrm rot="-1684829">
            <a:off x="4527550" y="4068763"/>
            <a:ext cx="287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ISOCPEUR" pitchFamily="34" charset="0"/>
              </a:rPr>
              <a:t>L</a:t>
            </a:r>
          </a:p>
        </p:txBody>
      </p:sp>
      <p:sp>
        <p:nvSpPr>
          <p:cNvPr id="46099" name="Line 25"/>
          <p:cNvSpPr>
            <a:spLocks noChangeShapeType="1"/>
          </p:cNvSpPr>
          <p:nvPr/>
        </p:nvSpPr>
        <p:spPr bwMode="auto">
          <a:xfrm flipV="1">
            <a:off x="3924300" y="4292600"/>
            <a:ext cx="1566863" cy="2428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6100" name="Group 26"/>
          <p:cNvGrpSpPr>
            <a:grpSpLocks/>
          </p:cNvGrpSpPr>
          <p:nvPr/>
        </p:nvGrpSpPr>
        <p:grpSpPr bwMode="auto">
          <a:xfrm>
            <a:off x="5264150" y="4281488"/>
            <a:ext cx="360363" cy="171450"/>
            <a:chOff x="3320" y="2697"/>
            <a:chExt cx="227" cy="108"/>
          </a:xfrm>
        </p:grpSpPr>
        <p:sp>
          <p:nvSpPr>
            <p:cNvPr id="46137" name="Arc 27"/>
            <p:cNvSpPr>
              <a:spLocks/>
            </p:cNvSpPr>
            <p:nvPr/>
          </p:nvSpPr>
          <p:spPr bwMode="auto">
            <a:xfrm>
              <a:off x="3320" y="2697"/>
              <a:ext cx="227" cy="108"/>
            </a:xfrm>
            <a:custGeom>
              <a:avLst/>
              <a:gdLst>
                <a:gd name="T0" fmla="*/ 0 w 32106"/>
                <a:gd name="T1" fmla="*/ 0 h 21600"/>
                <a:gd name="T2" fmla="*/ 0 w 32106"/>
                <a:gd name="T3" fmla="*/ 0 h 21600"/>
                <a:gd name="T4" fmla="*/ 0 w 32106"/>
                <a:gd name="T5" fmla="*/ 0 h 21600"/>
                <a:gd name="T6" fmla="*/ 0 60000 65536"/>
                <a:gd name="T7" fmla="*/ 0 60000 65536"/>
                <a:gd name="T8" fmla="*/ 0 60000 65536"/>
                <a:gd name="T9" fmla="*/ 0 w 32106"/>
                <a:gd name="T10" fmla="*/ 0 h 21600"/>
                <a:gd name="T11" fmla="*/ 32106 w 321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106" h="21600" fill="none" extrusionOk="0">
                  <a:moveTo>
                    <a:pt x="32105" y="18200"/>
                  </a:moveTo>
                  <a:cubicBezTo>
                    <a:pt x="28632" y="20420"/>
                    <a:pt x="24596" y="21599"/>
                    <a:pt x="20474" y="21600"/>
                  </a:cubicBezTo>
                  <a:cubicBezTo>
                    <a:pt x="11197" y="21600"/>
                    <a:pt x="2956" y="15676"/>
                    <a:pt x="0" y="6883"/>
                  </a:cubicBezTo>
                </a:path>
                <a:path w="32106" h="21600" stroke="0" extrusionOk="0">
                  <a:moveTo>
                    <a:pt x="32105" y="18200"/>
                  </a:moveTo>
                  <a:cubicBezTo>
                    <a:pt x="28632" y="20420"/>
                    <a:pt x="24596" y="21599"/>
                    <a:pt x="20474" y="21600"/>
                  </a:cubicBezTo>
                  <a:cubicBezTo>
                    <a:pt x="11197" y="21600"/>
                    <a:pt x="2956" y="15676"/>
                    <a:pt x="0" y="6883"/>
                  </a:cubicBezTo>
                  <a:lnTo>
                    <a:pt x="20474" y="0"/>
                  </a:lnTo>
                  <a:lnTo>
                    <a:pt x="32105" y="1820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8" name="Oval 28"/>
            <p:cNvSpPr>
              <a:spLocks noChangeAspect="1" noChangeArrowheads="1"/>
            </p:cNvSpPr>
            <p:nvPr/>
          </p:nvSpPr>
          <p:spPr bwMode="auto">
            <a:xfrm flipH="1" flipV="1">
              <a:off x="3428" y="2750"/>
              <a:ext cx="14" cy="14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46101" name="Text Box 29"/>
          <p:cNvSpPr txBox="1">
            <a:spLocks noChangeArrowheads="1"/>
          </p:cNvSpPr>
          <p:nvPr/>
        </p:nvSpPr>
        <p:spPr bwMode="auto">
          <a:xfrm>
            <a:off x="5472113" y="3962400"/>
            <a:ext cx="2301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I</a:t>
            </a:r>
          </a:p>
        </p:txBody>
      </p:sp>
      <p:sp>
        <p:nvSpPr>
          <p:cNvPr id="120862" name="Text Box 30"/>
          <p:cNvSpPr txBox="1">
            <a:spLocks noChangeArrowheads="1"/>
          </p:cNvSpPr>
          <p:nvPr/>
        </p:nvSpPr>
        <p:spPr bwMode="auto">
          <a:xfrm>
            <a:off x="5083175" y="3656013"/>
            <a:ext cx="2905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i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ISOCPEUR" pitchFamily="34" charset="0"/>
              </a:rPr>
              <a:t>L</a:t>
            </a:r>
          </a:p>
        </p:txBody>
      </p:sp>
      <p:grpSp>
        <p:nvGrpSpPr>
          <p:cNvPr id="46103" name="Group 31"/>
          <p:cNvGrpSpPr>
            <a:grpSpLocks/>
          </p:cNvGrpSpPr>
          <p:nvPr/>
        </p:nvGrpSpPr>
        <p:grpSpPr bwMode="auto">
          <a:xfrm>
            <a:off x="2279650" y="1693863"/>
            <a:ext cx="2047875" cy="4003675"/>
            <a:chOff x="1436" y="1067"/>
            <a:chExt cx="1290" cy="2522"/>
          </a:xfrm>
        </p:grpSpPr>
        <p:sp>
          <p:nvSpPr>
            <p:cNvPr id="46135" name="Freeform 32"/>
            <p:cNvSpPr>
              <a:spLocks/>
            </p:cNvSpPr>
            <p:nvPr/>
          </p:nvSpPr>
          <p:spPr bwMode="auto">
            <a:xfrm>
              <a:off x="1436" y="1068"/>
              <a:ext cx="1290" cy="2521"/>
            </a:xfrm>
            <a:custGeom>
              <a:avLst/>
              <a:gdLst>
                <a:gd name="T0" fmla="*/ 854 w 1290"/>
                <a:gd name="T1" fmla="*/ 2521 h 2521"/>
                <a:gd name="T2" fmla="*/ 0 w 1290"/>
                <a:gd name="T3" fmla="*/ 1667 h 2521"/>
                <a:gd name="T4" fmla="*/ 447 w 1290"/>
                <a:gd name="T5" fmla="*/ 0 h 2521"/>
                <a:gd name="T6" fmla="*/ 1290 w 1290"/>
                <a:gd name="T7" fmla="*/ 843 h 2521"/>
                <a:gd name="T8" fmla="*/ 854 w 1290"/>
                <a:gd name="T9" fmla="*/ 2521 h 25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0"/>
                <a:gd name="T16" fmla="*/ 0 h 2521"/>
                <a:gd name="T17" fmla="*/ 1290 w 1290"/>
                <a:gd name="T18" fmla="*/ 2521 h 25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0" h="2521">
                  <a:moveTo>
                    <a:pt x="854" y="2521"/>
                  </a:moveTo>
                  <a:lnTo>
                    <a:pt x="0" y="1667"/>
                  </a:lnTo>
                  <a:lnTo>
                    <a:pt x="447" y="0"/>
                  </a:lnTo>
                  <a:lnTo>
                    <a:pt x="1290" y="843"/>
                  </a:lnTo>
                  <a:lnTo>
                    <a:pt x="854" y="2521"/>
                  </a:lnTo>
                  <a:close/>
                </a:path>
              </a:pathLst>
            </a:custGeom>
            <a:solidFill>
              <a:srgbClr val="80808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6" name="Freeform 33"/>
            <p:cNvSpPr>
              <a:spLocks/>
            </p:cNvSpPr>
            <p:nvPr/>
          </p:nvSpPr>
          <p:spPr bwMode="auto">
            <a:xfrm>
              <a:off x="1879" y="1067"/>
              <a:ext cx="840" cy="2514"/>
            </a:xfrm>
            <a:custGeom>
              <a:avLst/>
              <a:gdLst>
                <a:gd name="T0" fmla="*/ 408 w 840"/>
                <a:gd name="T1" fmla="*/ 2514 h 2514"/>
                <a:gd name="T2" fmla="*/ 840 w 840"/>
                <a:gd name="T3" fmla="*/ 840 h 2514"/>
                <a:gd name="T4" fmla="*/ 0 w 840"/>
                <a:gd name="T5" fmla="*/ 0 h 2514"/>
                <a:gd name="T6" fmla="*/ 0 60000 65536"/>
                <a:gd name="T7" fmla="*/ 0 60000 65536"/>
                <a:gd name="T8" fmla="*/ 0 60000 65536"/>
                <a:gd name="T9" fmla="*/ 0 w 840"/>
                <a:gd name="T10" fmla="*/ 0 h 2514"/>
                <a:gd name="T11" fmla="*/ 840 w 840"/>
                <a:gd name="T12" fmla="*/ 2514 h 2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0" h="2514">
                  <a:moveTo>
                    <a:pt x="408" y="2514"/>
                  </a:moveTo>
                  <a:lnTo>
                    <a:pt x="840" y="84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104" name="Group 34"/>
          <p:cNvGrpSpPr>
            <a:grpSpLocks/>
          </p:cNvGrpSpPr>
          <p:nvPr/>
        </p:nvGrpSpPr>
        <p:grpSpPr bwMode="auto">
          <a:xfrm>
            <a:off x="792163" y="3181350"/>
            <a:ext cx="3138487" cy="1354138"/>
            <a:chOff x="499" y="2004"/>
            <a:chExt cx="1977" cy="853"/>
          </a:xfrm>
        </p:grpSpPr>
        <p:sp>
          <p:nvSpPr>
            <p:cNvPr id="46133" name="Freeform 35"/>
            <p:cNvSpPr>
              <a:spLocks/>
            </p:cNvSpPr>
            <p:nvPr/>
          </p:nvSpPr>
          <p:spPr bwMode="auto">
            <a:xfrm>
              <a:off x="499" y="2004"/>
              <a:ext cx="1977" cy="846"/>
            </a:xfrm>
            <a:custGeom>
              <a:avLst/>
              <a:gdLst>
                <a:gd name="T0" fmla="*/ 0 w 1977"/>
                <a:gd name="T1" fmla="*/ 0 h 846"/>
                <a:gd name="T2" fmla="*/ 1131 w 1977"/>
                <a:gd name="T3" fmla="*/ 0 h 846"/>
                <a:gd name="T4" fmla="*/ 1977 w 1977"/>
                <a:gd name="T5" fmla="*/ 846 h 846"/>
                <a:gd name="T6" fmla="*/ 837 w 1977"/>
                <a:gd name="T7" fmla="*/ 846 h 846"/>
                <a:gd name="T8" fmla="*/ 0 w 1977"/>
                <a:gd name="T9" fmla="*/ 0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7"/>
                <a:gd name="T16" fmla="*/ 0 h 846"/>
                <a:gd name="T17" fmla="*/ 1977 w 1977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7" h="846">
                  <a:moveTo>
                    <a:pt x="0" y="0"/>
                  </a:moveTo>
                  <a:lnTo>
                    <a:pt x="1131" y="0"/>
                  </a:lnTo>
                  <a:lnTo>
                    <a:pt x="1977" y="846"/>
                  </a:lnTo>
                  <a:lnTo>
                    <a:pt x="837" y="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4" name="Freeform 36"/>
            <p:cNvSpPr>
              <a:spLocks/>
            </p:cNvSpPr>
            <p:nvPr/>
          </p:nvSpPr>
          <p:spPr bwMode="auto">
            <a:xfrm>
              <a:off x="500" y="2011"/>
              <a:ext cx="1974" cy="846"/>
            </a:xfrm>
            <a:custGeom>
              <a:avLst/>
              <a:gdLst>
                <a:gd name="T0" fmla="*/ 0 w 1974"/>
                <a:gd name="T1" fmla="*/ 0 h 846"/>
                <a:gd name="T2" fmla="*/ 834 w 1974"/>
                <a:gd name="T3" fmla="*/ 846 h 846"/>
                <a:gd name="T4" fmla="*/ 1974 w 1974"/>
                <a:gd name="T5" fmla="*/ 846 h 846"/>
                <a:gd name="T6" fmla="*/ 0 60000 65536"/>
                <a:gd name="T7" fmla="*/ 0 60000 65536"/>
                <a:gd name="T8" fmla="*/ 0 60000 65536"/>
                <a:gd name="T9" fmla="*/ 0 w 1974"/>
                <a:gd name="T10" fmla="*/ 0 h 846"/>
                <a:gd name="T11" fmla="*/ 1974 w 1974"/>
                <a:gd name="T12" fmla="*/ 846 h 8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4" h="846">
                  <a:moveTo>
                    <a:pt x="0" y="0"/>
                  </a:moveTo>
                  <a:lnTo>
                    <a:pt x="834" y="846"/>
                  </a:lnTo>
                  <a:lnTo>
                    <a:pt x="1974" y="846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105" name="Text Box 37"/>
          <p:cNvSpPr txBox="1">
            <a:spLocks noChangeArrowheads="1"/>
          </p:cNvSpPr>
          <p:nvPr/>
        </p:nvSpPr>
        <p:spPr bwMode="auto">
          <a:xfrm>
            <a:off x="2895600" y="1839913"/>
            <a:ext cx="306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P</a:t>
            </a:r>
          </a:p>
        </p:txBody>
      </p:sp>
      <p:sp>
        <p:nvSpPr>
          <p:cNvPr id="46106" name="Text Box 38"/>
          <p:cNvSpPr txBox="1">
            <a:spLocks noChangeArrowheads="1"/>
          </p:cNvSpPr>
          <p:nvPr/>
        </p:nvSpPr>
        <p:spPr bwMode="auto">
          <a:xfrm>
            <a:off x="3067050" y="3178175"/>
            <a:ext cx="322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M</a:t>
            </a:r>
          </a:p>
        </p:txBody>
      </p:sp>
      <p:sp>
        <p:nvSpPr>
          <p:cNvPr id="46107" name="Text Box 39"/>
          <p:cNvSpPr txBox="1">
            <a:spLocks noChangeArrowheads="1"/>
          </p:cNvSpPr>
          <p:nvPr/>
        </p:nvSpPr>
        <p:spPr bwMode="auto">
          <a:xfrm>
            <a:off x="2414588" y="4090988"/>
            <a:ext cx="306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B</a:t>
            </a:r>
          </a:p>
        </p:txBody>
      </p:sp>
      <p:sp>
        <p:nvSpPr>
          <p:cNvPr id="46108" name="Text Box 40"/>
          <p:cNvSpPr txBox="1">
            <a:spLocks noChangeArrowheads="1"/>
          </p:cNvSpPr>
          <p:nvPr/>
        </p:nvSpPr>
        <p:spPr bwMode="auto">
          <a:xfrm>
            <a:off x="2298700" y="2811463"/>
            <a:ext cx="290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E</a:t>
            </a:r>
          </a:p>
        </p:txBody>
      </p:sp>
      <p:sp>
        <p:nvSpPr>
          <p:cNvPr id="120873" name="Text Box 41"/>
          <p:cNvSpPr txBox="1">
            <a:spLocks noChangeArrowheads="1"/>
          </p:cNvSpPr>
          <p:nvPr/>
        </p:nvSpPr>
        <p:spPr bwMode="auto">
          <a:xfrm>
            <a:off x="2686050" y="3500438"/>
            <a:ext cx="3063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i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ISOCPEUR" pitchFamily="34" charset="0"/>
              </a:rPr>
              <a:t>K</a:t>
            </a:r>
          </a:p>
        </p:txBody>
      </p:sp>
      <p:sp>
        <p:nvSpPr>
          <p:cNvPr id="46110" name="Line 42"/>
          <p:cNvSpPr>
            <a:spLocks noChangeShapeType="1"/>
          </p:cNvSpPr>
          <p:nvPr/>
        </p:nvSpPr>
        <p:spPr bwMode="auto">
          <a:xfrm flipH="1" flipV="1">
            <a:off x="2584450" y="3186113"/>
            <a:ext cx="1330325" cy="13303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11" name="Text Box 43"/>
          <p:cNvSpPr txBox="1">
            <a:spLocks noChangeArrowheads="1"/>
          </p:cNvSpPr>
          <p:nvPr/>
        </p:nvSpPr>
        <p:spPr bwMode="auto">
          <a:xfrm>
            <a:off x="3603625" y="2741613"/>
            <a:ext cx="3222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A</a:t>
            </a:r>
          </a:p>
        </p:txBody>
      </p:sp>
      <p:sp>
        <p:nvSpPr>
          <p:cNvPr id="120876" name="Text Box 44"/>
          <p:cNvSpPr txBox="1">
            <a:spLocks noChangeArrowheads="1"/>
          </p:cNvSpPr>
          <p:nvPr/>
        </p:nvSpPr>
        <p:spPr bwMode="auto">
          <a:xfrm>
            <a:off x="1562100" y="355600"/>
            <a:ext cx="4062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P   Q </a:t>
            </a:r>
          </a:p>
        </p:txBody>
      </p:sp>
      <p:sp>
        <p:nvSpPr>
          <p:cNvPr id="120877" name="Line 45"/>
          <p:cNvSpPr>
            <a:spLocks noChangeShapeType="1"/>
          </p:cNvSpPr>
          <p:nvPr/>
        </p:nvSpPr>
        <p:spPr bwMode="auto">
          <a:xfrm>
            <a:off x="1392238" y="1355725"/>
            <a:ext cx="419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78" name="Line 46"/>
          <p:cNvSpPr>
            <a:spLocks noChangeShapeType="1"/>
          </p:cNvSpPr>
          <p:nvPr/>
        </p:nvSpPr>
        <p:spPr bwMode="auto">
          <a:xfrm flipH="1">
            <a:off x="2590800" y="792163"/>
            <a:ext cx="415925" cy="573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79" name="Line 47"/>
          <p:cNvSpPr>
            <a:spLocks noChangeShapeType="1"/>
          </p:cNvSpPr>
          <p:nvPr/>
        </p:nvSpPr>
        <p:spPr bwMode="auto">
          <a:xfrm>
            <a:off x="2697163" y="790575"/>
            <a:ext cx="173037" cy="611188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80" name="Line 48"/>
          <p:cNvSpPr>
            <a:spLocks noChangeShapeType="1"/>
          </p:cNvSpPr>
          <p:nvPr/>
        </p:nvSpPr>
        <p:spPr bwMode="auto">
          <a:xfrm>
            <a:off x="1955800" y="1095375"/>
            <a:ext cx="827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81" name="Line 49"/>
          <p:cNvSpPr>
            <a:spLocks noChangeShapeType="1"/>
          </p:cNvSpPr>
          <p:nvPr/>
        </p:nvSpPr>
        <p:spPr bwMode="auto">
          <a:xfrm>
            <a:off x="1539875" y="1096963"/>
            <a:ext cx="4191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82" name="Text Box 50"/>
          <p:cNvSpPr txBox="1">
            <a:spLocks noChangeArrowheads="1"/>
          </p:cNvSpPr>
          <p:nvPr/>
        </p:nvSpPr>
        <p:spPr bwMode="auto">
          <a:xfrm>
            <a:off x="3011488" y="450850"/>
            <a:ext cx="322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A</a:t>
            </a:r>
          </a:p>
        </p:txBody>
      </p:sp>
      <p:sp>
        <p:nvSpPr>
          <p:cNvPr id="120883" name="Text Box 51"/>
          <p:cNvSpPr txBox="1">
            <a:spLocks noChangeArrowheads="1"/>
          </p:cNvSpPr>
          <p:nvPr/>
        </p:nvSpPr>
        <p:spPr bwMode="auto">
          <a:xfrm>
            <a:off x="2505075" y="450850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C</a:t>
            </a:r>
          </a:p>
        </p:txBody>
      </p:sp>
      <p:sp>
        <p:nvSpPr>
          <p:cNvPr id="120884" name="Text Box 52"/>
          <p:cNvSpPr txBox="1">
            <a:spLocks noChangeArrowheads="1"/>
          </p:cNvSpPr>
          <p:nvPr/>
        </p:nvSpPr>
        <p:spPr bwMode="auto">
          <a:xfrm>
            <a:off x="2309813" y="1285875"/>
            <a:ext cx="306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B</a:t>
            </a:r>
          </a:p>
        </p:txBody>
      </p:sp>
      <p:sp>
        <p:nvSpPr>
          <p:cNvPr id="120885" name="Text Box 53"/>
          <p:cNvSpPr txBox="1">
            <a:spLocks noChangeArrowheads="1"/>
          </p:cNvSpPr>
          <p:nvPr/>
        </p:nvSpPr>
        <p:spPr bwMode="auto">
          <a:xfrm>
            <a:off x="2809875" y="1285875"/>
            <a:ext cx="30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D</a:t>
            </a:r>
          </a:p>
        </p:txBody>
      </p:sp>
      <p:sp>
        <p:nvSpPr>
          <p:cNvPr id="120886" name="Text Box 54"/>
          <p:cNvSpPr txBox="1">
            <a:spLocks noChangeArrowheads="1"/>
          </p:cNvSpPr>
          <p:nvPr/>
        </p:nvSpPr>
        <p:spPr bwMode="auto">
          <a:xfrm>
            <a:off x="2786063" y="925513"/>
            <a:ext cx="7026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M,N</a:t>
            </a:r>
          </a:p>
        </p:txBody>
      </p:sp>
      <p:sp>
        <p:nvSpPr>
          <p:cNvPr id="120887" name="Text Box 55"/>
          <p:cNvSpPr txBox="1">
            <a:spLocks noChangeArrowheads="1"/>
          </p:cNvSpPr>
          <p:nvPr/>
        </p:nvSpPr>
        <p:spPr bwMode="auto">
          <a:xfrm>
            <a:off x="1262063" y="812800"/>
            <a:ext cx="5895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M      N     </a:t>
            </a:r>
          </a:p>
        </p:txBody>
      </p:sp>
      <p:sp>
        <p:nvSpPr>
          <p:cNvPr id="120888" name="Text Box 56"/>
          <p:cNvSpPr txBox="1">
            <a:spLocks noChangeArrowheads="1"/>
          </p:cNvSpPr>
          <p:nvPr/>
        </p:nvSpPr>
        <p:spPr bwMode="auto">
          <a:xfrm>
            <a:off x="1503363" y="1054100"/>
            <a:ext cx="2905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L</a:t>
            </a:r>
          </a:p>
        </p:txBody>
      </p:sp>
      <p:sp>
        <p:nvSpPr>
          <p:cNvPr id="120889" name="Oval 57"/>
          <p:cNvSpPr>
            <a:spLocks noChangeArrowheads="1"/>
          </p:cNvSpPr>
          <p:nvPr/>
        </p:nvSpPr>
        <p:spPr bwMode="auto">
          <a:xfrm>
            <a:off x="2757488" y="1073150"/>
            <a:ext cx="5397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0890" name="Line 58"/>
          <p:cNvSpPr>
            <a:spLocks noChangeShapeType="1"/>
          </p:cNvSpPr>
          <p:nvPr/>
        </p:nvSpPr>
        <p:spPr bwMode="auto">
          <a:xfrm flipH="1">
            <a:off x="1343025" y="644525"/>
            <a:ext cx="457200" cy="792163"/>
          </a:xfrm>
          <a:prstGeom prst="line">
            <a:avLst/>
          </a:prstGeom>
          <a:noFill/>
          <a:ln w="2857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91" name="Line 59"/>
          <p:cNvSpPr>
            <a:spLocks noChangeShapeType="1"/>
          </p:cNvSpPr>
          <p:nvPr/>
        </p:nvSpPr>
        <p:spPr bwMode="auto">
          <a:xfrm flipH="1">
            <a:off x="1735138" y="690563"/>
            <a:ext cx="457200" cy="792162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92" name="Line 60"/>
          <p:cNvSpPr>
            <a:spLocks noChangeShapeType="1"/>
          </p:cNvSpPr>
          <p:nvPr/>
        </p:nvSpPr>
        <p:spPr bwMode="auto">
          <a:xfrm flipH="1">
            <a:off x="1789113" y="787400"/>
            <a:ext cx="346075" cy="598488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93" name="Line 61"/>
          <p:cNvSpPr>
            <a:spLocks noChangeShapeType="1"/>
          </p:cNvSpPr>
          <p:nvPr/>
        </p:nvSpPr>
        <p:spPr bwMode="auto">
          <a:xfrm flipH="1">
            <a:off x="1385888" y="787400"/>
            <a:ext cx="330200" cy="571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94" name="Oval 62"/>
          <p:cNvSpPr>
            <a:spLocks noChangeArrowheads="1"/>
          </p:cNvSpPr>
          <p:nvPr/>
        </p:nvSpPr>
        <p:spPr bwMode="auto">
          <a:xfrm>
            <a:off x="1509713" y="1069975"/>
            <a:ext cx="5397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0895" name="Oval 63"/>
          <p:cNvSpPr>
            <a:spLocks noChangeArrowheads="1"/>
          </p:cNvSpPr>
          <p:nvPr/>
        </p:nvSpPr>
        <p:spPr bwMode="auto">
          <a:xfrm>
            <a:off x="1930400" y="1073150"/>
            <a:ext cx="5397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0896" name="Line 64"/>
          <p:cNvSpPr>
            <a:spLocks noChangeShapeType="1"/>
          </p:cNvSpPr>
          <p:nvPr/>
        </p:nvSpPr>
        <p:spPr bwMode="auto">
          <a:xfrm>
            <a:off x="1050925" y="1179513"/>
            <a:ext cx="280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0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0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0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0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20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120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120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20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12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76" grpId="0"/>
      <p:bldP spid="120877" grpId="0" animBg="1"/>
      <p:bldP spid="120878" grpId="0" animBg="1"/>
      <p:bldP spid="120879" grpId="0" animBg="1"/>
      <p:bldP spid="120880" grpId="0" animBg="1"/>
      <p:bldP spid="120881" grpId="0" animBg="1"/>
      <p:bldP spid="120882" grpId="0"/>
      <p:bldP spid="120883" grpId="0"/>
      <p:bldP spid="120884" grpId="0"/>
      <p:bldP spid="120885" grpId="0"/>
      <p:bldP spid="120886" grpId="0"/>
      <p:bldP spid="120887" grpId="0"/>
      <p:bldP spid="120888" grpId="0"/>
      <p:bldP spid="120889" grpId="0" animBg="1"/>
      <p:bldP spid="120890" grpId="0" animBg="1"/>
      <p:bldP spid="120891" grpId="0" animBg="1"/>
      <p:bldP spid="120892" grpId="0" animBg="1"/>
      <p:bldP spid="120893" grpId="0" animBg="1"/>
      <p:bldP spid="120894" grpId="0" animBg="1"/>
      <p:bldP spid="120895" grpId="0" animBg="1"/>
      <p:bldP spid="12089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0" y="0"/>
          <a:ext cx="9144000" cy="691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6" name="Image" r:id="rId3" imgW="12647619" imgH="9561905" progId="Photoshop.Image.6">
                  <p:embed/>
                </p:oleObj>
              </mc:Choice>
              <mc:Fallback>
                <p:oleObj name="Image" r:id="rId3" imgW="12647619" imgH="9561905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91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5" t="14192" r="9662" b="18311"/>
          <a:stretch>
            <a:fillRect/>
          </a:stretch>
        </p:blipFill>
        <p:spPr bwMode="auto">
          <a:xfrm>
            <a:off x="0" y="174625"/>
            <a:ext cx="8994775" cy="648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2"/>
          <p:cNvGraphicFramePr>
            <a:graphicFrameLocks noChangeAspect="1"/>
          </p:cNvGraphicFramePr>
          <p:nvPr/>
        </p:nvGraphicFramePr>
        <p:xfrm>
          <a:off x="0" y="0"/>
          <a:ext cx="9144000" cy="682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4" name="Image" r:id="rId3" imgW="13206349" imgH="9853968" progId="Photoshop.Image.6">
                  <p:embed/>
                </p:oleObj>
              </mc:Choice>
              <mc:Fallback>
                <p:oleObj name="Image" r:id="rId3" imgW="13206349" imgH="9853968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2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4492625" y="3400425"/>
            <a:ext cx="357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O</a:t>
            </a:r>
            <a:r>
              <a:rPr lang="en-US" altLang="zh-CN" sz="1800" i="1" baseline="-10000">
                <a:latin typeface="ISOCPEUR" pitchFamily="34" charset="0"/>
              </a:rPr>
              <a:t>1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894138" y="3502025"/>
            <a:ext cx="377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O</a:t>
            </a:r>
            <a:r>
              <a:rPr lang="en-US" altLang="zh-CN" sz="1800" i="1" baseline="-10000">
                <a:latin typeface="ISOCPEUR" pitchFamily="34" charset="0"/>
              </a:rPr>
              <a:t>2</a:t>
            </a: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4067175" y="2946400"/>
            <a:ext cx="30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O</a:t>
            </a:r>
            <a:endParaRPr lang="en-US" altLang="zh-CN" sz="1800" i="1" baseline="-10000">
              <a:latin typeface="ISOCPEUR" pitchFamily="34" charset="0"/>
            </a:endParaRPr>
          </a:p>
        </p:txBody>
      </p:sp>
      <p:graphicFrame>
        <p:nvGraphicFramePr>
          <p:cNvPr id="50181" name="Object 5"/>
          <p:cNvGraphicFramePr>
            <a:graphicFrameLocks noChangeAspect="1"/>
          </p:cNvGraphicFramePr>
          <p:nvPr/>
        </p:nvGraphicFramePr>
        <p:xfrm>
          <a:off x="1131888" y="276225"/>
          <a:ext cx="5991225" cy="632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2" name="位图图像" r:id="rId3" imgW="4923810" imgH="5200000" progId="Paint.Picture">
                  <p:embed/>
                </p:oleObj>
              </mc:Choice>
              <mc:Fallback>
                <p:oleObj name="位图图像" r:id="rId3" imgW="4923810" imgH="520000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8" y="276225"/>
                        <a:ext cx="5991225" cy="632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0" name="Text Box 6"/>
          <p:cNvSpPr txBox="1">
            <a:spLocks noChangeArrowheads="1"/>
          </p:cNvSpPr>
          <p:nvPr/>
        </p:nvSpPr>
        <p:spPr bwMode="auto">
          <a:xfrm>
            <a:off x="6500813" y="687388"/>
            <a:ext cx="2493962" cy="1314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Arial" charset="0"/>
                <a:ea typeface="仿宋_GB2312" pitchFamily="49" charset="-122"/>
              </a:rPr>
              <a:t>·</a:t>
            </a:r>
            <a:r>
              <a:rPr lang="zh-CN" altLang="en-US" sz="1600" b="1">
                <a:latin typeface="仿宋_GB2312" pitchFamily="49" charset="-122"/>
                <a:ea typeface="仿宋_GB2312" pitchFamily="49" charset="-122"/>
              </a:rPr>
              <a:t>过已知直线作两平行平面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Arial" charset="0"/>
                <a:ea typeface="仿宋_GB2312" pitchFamily="49" charset="-122"/>
              </a:rPr>
              <a:t>·</a:t>
            </a:r>
            <a:r>
              <a:rPr lang="zh-CN" altLang="en-US" sz="1600" b="1">
                <a:latin typeface="仿宋_GB2312" pitchFamily="49" charset="-122"/>
                <a:ea typeface="仿宋_GB2312" pitchFamily="49" charset="-122"/>
              </a:rPr>
              <a:t>用一水平面截此两平面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Arial" charset="0"/>
                <a:ea typeface="仿宋_GB2312" pitchFamily="49" charset="-122"/>
              </a:rPr>
              <a:t>·</a:t>
            </a:r>
            <a:r>
              <a:rPr lang="zh-CN" altLang="en-US" sz="1600" b="1">
                <a:latin typeface="仿宋_GB2312" pitchFamily="49" charset="-122"/>
                <a:ea typeface="仿宋_GB2312" pitchFamily="49" charset="-122"/>
              </a:rPr>
              <a:t>截得的</a:t>
            </a:r>
            <a:r>
              <a:rPr lang="zh-CN" altLang="en-US" sz="16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两平行线</a:t>
            </a:r>
            <a:r>
              <a:rPr lang="zh-CN" altLang="en-US" sz="1600" b="1">
                <a:latin typeface="仿宋_GB2312" pitchFamily="49" charset="-122"/>
                <a:ea typeface="仿宋_GB2312" pitchFamily="49" charset="-122"/>
              </a:rPr>
              <a:t>间的距离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latin typeface="仿宋_GB2312" pitchFamily="49" charset="-122"/>
                <a:ea typeface="仿宋_GB2312" pitchFamily="49" charset="-122"/>
              </a:rPr>
              <a:t>即为水平最短距离的长度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Arial" charset="0"/>
                <a:ea typeface="仿宋_GB2312" pitchFamily="49" charset="-122"/>
              </a:rPr>
              <a:t>·</a:t>
            </a:r>
            <a:r>
              <a:rPr lang="zh-CN" altLang="en-US" sz="1600" b="1">
                <a:latin typeface="仿宋_GB2312" pitchFamily="49" charset="-122"/>
                <a:ea typeface="仿宋_GB2312" pitchFamily="49" charset="-122"/>
              </a:rPr>
              <a:t>此距离</a:t>
            </a:r>
            <a:r>
              <a:rPr lang="zh-CN" altLang="en-US" sz="1600" b="1">
                <a:latin typeface="黑体" pitchFamily="2" charset="-122"/>
                <a:ea typeface="黑体" pitchFamily="2" charset="-122"/>
              </a:rPr>
              <a:t>垂直</a:t>
            </a:r>
            <a:r>
              <a:rPr lang="zh-CN" altLang="en-US" sz="1600" b="1">
                <a:latin typeface="仿宋_GB2312" pitchFamily="49" charset="-122"/>
                <a:ea typeface="仿宋_GB2312" pitchFamily="49" charset="-122"/>
              </a:rPr>
              <a:t>于此</a:t>
            </a:r>
            <a:r>
              <a:rPr lang="zh-CN" altLang="en-US" sz="16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两平行线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0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7"/>
          <p:cNvGraphicFramePr>
            <a:graphicFrameLocks noChangeAspect="1"/>
          </p:cNvGraphicFramePr>
          <p:nvPr/>
        </p:nvGraphicFramePr>
        <p:xfrm>
          <a:off x="0" y="909638"/>
          <a:ext cx="9144000" cy="386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2" name="Image" r:id="rId3" imgW="13930159" imgH="5892063" progId="Photoshop.Image.6">
                  <p:embed/>
                </p:oleObj>
              </mc:Choice>
              <mc:Fallback>
                <p:oleObj name="Image" r:id="rId3" imgW="13930159" imgH="5892063" progId="Photoshop.Image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09638"/>
                        <a:ext cx="9144000" cy="386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47725" y="3648075"/>
            <a:ext cx="6372225" cy="1771650"/>
            <a:chOff x="534" y="2010"/>
            <a:chExt cx="4014" cy="1116"/>
          </a:xfrm>
        </p:grpSpPr>
        <p:sp>
          <p:nvSpPr>
            <p:cNvPr id="52259" name="Freeform 3"/>
            <p:cNvSpPr>
              <a:spLocks/>
            </p:cNvSpPr>
            <p:nvPr/>
          </p:nvSpPr>
          <p:spPr bwMode="auto">
            <a:xfrm>
              <a:off x="534" y="2016"/>
              <a:ext cx="4014" cy="1110"/>
            </a:xfrm>
            <a:custGeom>
              <a:avLst/>
              <a:gdLst>
                <a:gd name="T0" fmla="*/ 0 w 4014"/>
                <a:gd name="T1" fmla="*/ 0 h 1110"/>
                <a:gd name="T2" fmla="*/ 1110 w 4014"/>
                <a:gd name="T3" fmla="*/ 1110 h 1110"/>
                <a:gd name="T4" fmla="*/ 4014 w 4014"/>
                <a:gd name="T5" fmla="*/ 1110 h 1110"/>
                <a:gd name="T6" fmla="*/ 0 60000 65536"/>
                <a:gd name="T7" fmla="*/ 0 60000 65536"/>
                <a:gd name="T8" fmla="*/ 0 60000 65536"/>
                <a:gd name="T9" fmla="*/ 0 w 4014"/>
                <a:gd name="T10" fmla="*/ 0 h 1110"/>
                <a:gd name="T11" fmla="*/ 4014 w 4014"/>
                <a:gd name="T12" fmla="*/ 1110 h 11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14" h="1110">
                  <a:moveTo>
                    <a:pt x="0" y="0"/>
                  </a:moveTo>
                  <a:lnTo>
                    <a:pt x="1110" y="1110"/>
                  </a:lnTo>
                  <a:lnTo>
                    <a:pt x="4014" y="111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0" name="Freeform 4"/>
            <p:cNvSpPr>
              <a:spLocks/>
            </p:cNvSpPr>
            <p:nvPr/>
          </p:nvSpPr>
          <p:spPr bwMode="auto">
            <a:xfrm>
              <a:off x="540" y="2010"/>
              <a:ext cx="3996" cy="1110"/>
            </a:xfrm>
            <a:custGeom>
              <a:avLst/>
              <a:gdLst>
                <a:gd name="T0" fmla="*/ 0 w 3996"/>
                <a:gd name="T1" fmla="*/ 0 h 1110"/>
                <a:gd name="T2" fmla="*/ 1110 w 3996"/>
                <a:gd name="T3" fmla="*/ 1110 h 1110"/>
                <a:gd name="T4" fmla="*/ 3996 w 3996"/>
                <a:gd name="T5" fmla="*/ 1110 h 1110"/>
                <a:gd name="T6" fmla="*/ 2892 w 3996"/>
                <a:gd name="T7" fmla="*/ 6 h 1110"/>
                <a:gd name="T8" fmla="*/ 0 w 3996"/>
                <a:gd name="T9" fmla="*/ 0 h 1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96"/>
                <a:gd name="T16" fmla="*/ 0 h 1110"/>
                <a:gd name="T17" fmla="*/ 3996 w 3996"/>
                <a:gd name="T18" fmla="*/ 1110 h 11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96" h="1110">
                  <a:moveTo>
                    <a:pt x="0" y="0"/>
                  </a:moveTo>
                  <a:lnTo>
                    <a:pt x="1110" y="1110"/>
                  </a:lnTo>
                  <a:lnTo>
                    <a:pt x="3996" y="1110"/>
                  </a:lnTo>
                  <a:lnTo>
                    <a:pt x="289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4933" name="Line 5"/>
          <p:cNvSpPr>
            <a:spLocks noChangeShapeType="1"/>
          </p:cNvSpPr>
          <p:nvPr/>
        </p:nvSpPr>
        <p:spPr bwMode="auto">
          <a:xfrm flipH="1" flipV="1">
            <a:off x="3995738" y="1905000"/>
            <a:ext cx="439737" cy="21653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4" name="Line 6"/>
          <p:cNvSpPr>
            <a:spLocks noChangeShapeType="1"/>
          </p:cNvSpPr>
          <p:nvPr/>
        </p:nvSpPr>
        <p:spPr bwMode="auto">
          <a:xfrm rot="1811177" flipV="1">
            <a:off x="3570288" y="2379663"/>
            <a:ext cx="1566862" cy="2428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5" name="Rectangle 7"/>
          <p:cNvSpPr>
            <a:spLocks noChangeArrowheads="1"/>
          </p:cNvSpPr>
          <p:nvPr/>
        </p:nvSpPr>
        <p:spPr bwMode="auto">
          <a:xfrm>
            <a:off x="5540375" y="1058863"/>
            <a:ext cx="3603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黑体" pitchFamily="2" charset="-122"/>
                <a:ea typeface="黑体" pitchFamily="2" charset="-122"/>
              </a:rPr>
              <a:t>将一条直线积聚为一点</a:t>
            </a:r>
          </a:p>
        </p:txBody>
      </p:sp>
      <p:sp>
        <p:nvSpPr>
          <p:cNvPr id="124936" name="Rectangle 8"/>
          <p:cNvSpPr>
            <a:spLocks noChangeArrowheads="1"/>
          </p:cNvSpPr>
          <p:nvPr/>
        </p:nvSpPr>
        <p:spPr bwMode="auto">
          <a:xfrm>
            <a:off x="5540375" y="744538"/>
            <a:ext cx="3603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黑体" pitchFamily="2" charset="-122"/>
                <a:ea typeface="黑体" pitchFamily="2" charset="-122"/>
              </a:rPr>
              <a:t>斜投影法：</a:t>
            </a:r>
          </a:p>
        </p:txBody>
      </p:sp>
      <p:sp>
        <p:nvSpPr>
          <p:cNvPr id="124937" name="Text Box 9"/>
          <p:cNvSpPr txBox="1">
            <a:spLocks noChangeArrowheads="1"/>
          </p:cNvSpPr>
          <p:nvPr/>
        </p:nvSpPr>
        <p:spPr bwMode="auto">
          <a:xfrm rot="-1958682">
            <a:off x="1042988" y="3622675"/>
            <a:ext cx="301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ISOCPEUR" pitchFamily="34" charset="0"/>
              </a:rPr>
              <a:t>H</a:t>
            </a:r>
          </a:p>
        </p:txBody>
      </p:sp>
      <p:sp>
        <p:nvSpPr>
          <p:cNvPr id="124938" name="Text Box 10"/>
          <p:cNvSpPr txBox="1">
            <a:spLocks noChangeArrowheads="1"/>
          </p:cNvSpPr>
          <p:nvPr/>
        </p:nvSpPr>
        <p:spPr bwMode="auto">
          <a:xfrm>
            <a:off x="5102225" y="2620963"/>
            <a:ext cx="306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N</a:t>
            </a:r>
          </a:p>
        </p:txBody>
      </p:sp>
      <p:sp>
        <p:nvSpPr>
          <p:cNvPr id="52233" name="Text Box 11"/>
          <p:cNvSpPr txBox="1">
            <a:spLocks noChangeArrowheads="1"/>
          </p:cNvSpPr>
          <p:nvPr/>
        </p:nvSpPr>
        <p:spPr bwMode="auto">
          <a:xfrm>
            <a:off x="5281613" y="3643313"/>
            <a:ext cx="306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D</a:t>
            </a:r>
          </a:p>
        </p:txBody>
      </p:sp>
      <p:sp>
        <p:nvSpPr>
          <p:cNvPr id="124940" name="Text Box 12"/>
          <p:cNvSpPr txBox="1">
            <a:spLocks noChangeArrowheads="1"/>
          </p:cNvSpPr>
          <p:nvPr/>
        </p:nvSpPr>
        <p:spPr bwMode="auto">
          <a:xfrm>
            <a:off x="3956050" y="1230313"/>
            <a:ext cx="290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s</a:t>
            </a:r>
          </a:p>
        </p:txBody>
      </p:sp>
      <p:sp>
        <p:nvSpPr>
          <p:cNvPr id="124941" name="Text Box 13"/>
          <p:cNvSpPr txBox="1">
            <a:spLocks noChangeArrowheads="1"/>
          </p:cNvSpPr>
          <p:nvPr/>
        </p:nvSpPr>
        <p:spPr bwMode="auto">
          <a:xfrm>
            <a:off x="3633788" y="3979863"/>
            <a:ext cx="5494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m</a:t>
            </a:r>
            <a:r>
              <a:rPr lang="en-US" altLang="zh-CN" sz="1800" b="1" i="1" baseline="-11000">
                <a:latin typeface="ISOCPEUR" pitchFamily="34" charset="0"/>
              </a:rPr>
              <a:t>1</a:t>
            </a:r>
          </a:p>
        </p:txBody>
      </p:sp>
      <p:sp>
        <p:nvSpPr>
          <p:cNvPr id="124942" name="Text Box 14"/>
          <p:cNvSpPr txBox="1">
            <a:spLocks noChangeArrowheads="1"/>
          </p:cNvSpPr>
          <p:nvPr/>
        </p:nvSpPr>
        <p:spPr bwMode="auto">
          <a:xfrm>
            <a:off x="4687888" y="4235450"/>
            <a:ext cx="2873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ISOCPEUR" pitchFamily="34" charset="0"/>
              </a:rPr>
              <a:t>L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830638" y="4325938"/>
            <a:ext cx="452437" cy="147637"/>
            <a:chOff x="2409" y="2729"/>
            <a:chExt cx="285" cy="108"/>
          </a:xfrm>
        </p:grpSpPr>
        <p:sp>
          <p:nvSpPr>
            <p:cNvPr id="52257" name="Arc 16"/>
            <p:cNvSpPr>
              <a:spLocks/>
            </p:cNvSpPr>
            <p:nvPr/>
          </p:nvSpPr>
          <p:spPr bwMode="auto">
            <a:xfrm>
              <a:off x="2409" y="2729"/>
              <a:ext cx="285" cy="108"/>
            </a:xfrm>
            <a:custGeom>
              <a:avLst/>
              <a:gdLst>
                <a:gd name="T0" fmla="*/ 0 w 40254"/>
                <a:gd name="T1" fmla="*/ 0 h 21600"/>
                <a:gd name="T2" fmla="*/ 0 w 40254"/>
                <a:gd name="T3" fmla="*/ 0 h 21600"/>
                <a:gd name="T4" fmla="*/ 0 w 40254"/>
                <a:gd name="T5" fmla="*/ 0 h 21600"/>
                <a:gd name="T6" fmla="*/ 0 60000 65536"/>
                <a:gd name="T7" fmla="*/ 0 60000 65536"/>
                <a:gd name="T8" fmla="*/ 0 60000 65536"/>
                <a:gd name="T9" fmla="*/ 0 w 40254"/>
                <a:gd name="T10" fmla="*/ 0 h 21600"/>
                <a:gd name="T11" fmla="*/ 40254 w 4025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254" h="21600" fill="none" extrusionOk="0">
                  <a:moveTo>
                    <a:pt x="40253" y="7974"/>
                  </a:moveTo>
                  <a:cubicBezTo>
                    <a:pt x="36986" y="16200"/>
                    <a:pt x="29030" y="21599"/>
                    <a:pt x="20180" y="21600"/>
                  </a:cubicBezTo>
                  <a:cubicBezTo>
                    <a:pt x="11222" y="21600"/>
                    <a:pt x="3194" y="16071"/>
                    <a:pt x="0" y="7702"/>
                  </a:cubicBezTo>
                </a:path>
                <a:path w="40254" h="21600" stroke="0" extrusionOk="0">
                  <a:moveTo>
                    <a:pt x="40253" y="7974"/>
                  </a:moveTo>
                  <a:cubicBezTo>
                    <a:pt x="36986" y="16200"/>
                    <a:pt x="29030" y="21599"/>
                    <a:pt x="20180" y="21600"/>
                  </a:cubicBezTo>
                  <a:cubicBezTo>
                    <a:pt x="11222" y="21600"/>
                    <a:pt x="3194" y="16071"/>
                    <a:pt x="0" y="7702"/>
                  </a:cubicBezTo>
                  <a:lnTo>
                    <a:pt x="20180" y="0"/>
                  </a:lnTo>
                  <a:lnTo>
                    <a:pt x="40253" y="7974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8" name="Oval 17"/>
            <p:cNvSpPr>
              <a:spLocks noChangeAspect="1" noChangeArrowheads="1"/>
            </p:cNvSpPr>
            <p:nvPr/>
          </p:nvSpPr>
          <p:spPr bwMode="auto">
            <a:xfrm flipH="1" flipV="1">
              <a:off x="2540" y="2766"/>
              <a:ext cx="14" cy="14"/>
            </a:xfrm>
            <a:prstGeom prst="ellipse">
              <a:avLst/>
            </a:prstGeom>
            <a:solidFill>
              <a:schemeClr val="tx2"/>
            </a:solidFill>
            <a:ln w="31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24946" name="Text Box 18"/>
          <p:cNvSpPr txBox="1">
            <a:spLocks noChangeArrowheads="1"/>
          </p:cNvSpPr>
          <p:nvPr/>
        </p:nvSpPr>
        <p:spPr bwMode="auto">
          <a:xfrm>
            <a:off x="3248025" y="1916113"/>
            <a:ext cx="3222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M</a:t>
            </a:r>
          </a:p>
        </p:txBody>
      </p:sp>
      <p:sp>
        <p:nvSpPr>
          <p:cNvPr id="52239" name="Text Box 19"/>
          <p:cNvSpPr txBox="1">
            <a:spLocks noChangeArrowheads="1"/>
          </p:cNvSpPr>
          <p:nvPr/>
        </p:nvSpPr>
        <p:spPr bwMode="auto">
          <a:xfrm>
            <a:off x="2224088" y="2790825"/>
            <a:ext cx="306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B</a:t>
            </a:r>
          </a:p>
        </p:txBody>
      </p:sp>
      <p:sp>
        <p:nvSpPr>
          <p:cNvPr id="124948" name="Text Box 20"/>
          <p:cNvSpPr txBox="1">
            <a:spLocks noChangeArrowheads="1"/>
          </p:cNvSpPr>
          <p:nvPr/>
        </p:nvSpPr>
        <p:spPr bwMode="auto">
          <a:xfrm>
            <a:off x="2603500" y="4968875"/>
            <a:ext cx="6523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b</a:t>
            </a:r>
            <a:r>
              <a:rPr lang="en-US" altLang="zh-CN" sz="1800" b="1" i="1" baseline="-11000">
                <a:latin typeface="ISOCPEUR" pitchFamily="34" charset="0"/>
              </a:rPr>
              <a:t>1</a:t>
            </a:r>
          </a:p>
        </p:txBody>
      </p:sp>
      <p:sp>
        <p:nvSpPr>
          <p:cNvPr id="52241" name="Text Box 21"/>
          <p:cNvSpPr txBox="1">
            <a:spLocks noChangeArrowheads="1"/>
          </p:cNvSpPr>
          <p:nvPr/>
        </p:nvSpPr>
        <p:spPr bwMode="auto">
          <a:xfrm>
            <a:off x="3603625" y="1660525"/>
            <a:ext cx="322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A</a:t>
            </a:r>
          </a:p>
        </p:txBody>
      </p:sp>
      <p:sp>
        <p:nvSpPr>
          <p:cNvPr id="52242" name="Line 22"/>
          <p:cNvSpPr>
            <a:spLocks noChangeShapeType="1"/>
          </p:cNvSpPr>
          <p:nvPr/>
        </p:nvSpPr>
        <p:spPr bwMode="auto">
          <a:xfrm flipH="1" flipV="1">
            <a:off x="4795838" y="1327150"/>
            <a:ext cx="542925" cy="266541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3" name="Line 23"/>
          <p:cNvSpPr>
            <a:spLocks noChangeShapeType="1"/>
          </p:cNvSpPr>
          <p:nvPr/>
        </p:nvSpPr>
        <p:spPr bwMode="auto">
          <a:xfrm flipV="1">
            <a:off x="2436813" y="1906588"/>
            <a:ext cx="1563687" cy="1258887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4" name="Text Box 24"/>
          <p:cNvSpPr txBox="1">
            <a:spLocks noChangeArrowheads="1"/>
          </p:cNvSpPr>
          <p:nvPr/>
        </p:nvSpPr>
        <p:spPr bwMode="auto">
          <a:xfrm>
            <a:off x="4784725" y="1192213"/>
            <a:ext cx="290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C</a:t>
            </a:r>
          </a:p>
        </p:txBody>
      </p:sp>
      <p:sp>
        <p:nvSpPr>
          <p:cNvPr id="124953" name="Line 25"/>
          <p:cNvSpPr>
            <a:spLocks noChangeShapeType="1"/>
          </p:cNvSpPr>
          <p:nvPr/>
        </p:nvSpPr>
        <p:spPr bwMode="auto">
          <a:xfrm flipH="1" flipV="1">
            <a:off x="5338763" y="3989388"/>
            <a:ext cx="177800" cy="8778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4" name="Line 26"/>
          <p:cNvSpPr>
            <a:spLocks noChangeShapeType="1"/>
          </p:cNvSpPr>
          <p:nvPr/>
        </p:nvSpPr>
        <p:spPr bwMode="auto">
          <a:xfrm flipH="1" flipV="1">
            <a:off x="2441575" y="3162300"/>
            <a:ext cx="363538" cy="1787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5" name="Line 27"/>
          <p:cNvSpPr>
            <a:spLocks noChangeShapeType="1"/>
          </p:cNvSpPr>
          <p:nvPr/>
        </p:nvSpPr>
        <p:spPr bwMode="auto">
          <a:xfrm rot="1811177" flipV="1">
            <a:off x="3997325" y="4451350"/>
            <a:ext cx="1566863" cy="2428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6" name="Line 28"/>
          <p:cNvSpPr>
            <a:spLocks noChangeShapeType="1"/>
          </p:cNvSpPr>
          <p:nvPr/>
        </p:nvSpPr>
        <p:spPr bwMode="auto">
          <a:xfrm flipV="1">
            <a:off x="2801938" y="4065588"/>
            <a:ext cx="1635125" cy="874712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7" name="Line 29"/>
          <p:cNvSpPr>
            <a:spLocks noChangeShapeType="1"/>
          </p:cNvSpPr>
          <p:nvPr/>
        </p:nvSpPr>
        <p:spPr bwMode="auto">
          <a:xfrm flipH="1" flipV="1">
            <a:off x="4232275" y="1169988"/>
            <a:ext cx="119063" cy="5826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8" name="Text Box 30"/>
          <p:cNvSpPr txBox="1">
            <a:spLocks noChangeArrowheads="1"/>
          </p:cNvSpPr>
          <p:nvPr/>
        </p:nvSpPr>
        <p:spPr bwMode="auto">
          <a:xfrm>
            <a:off x="4362450" y="3813175"/>
            <a:ext cx="4748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a</a:t>
            </a:r>
            <a:r>
              <a:rPr lang="en-US" altLang="zh-CN" sz="1800" b="1" i="1" baseline="-11000">
                <a:latin typeface="ISOCPEUR" pitchFamily="34" charset="0"/>
              </a:rPr>
              <a:t>1</a:t>
            </a:r>
          </a:p>
        </p:txBody>
      </p:sp>
      <p:sp>
        <p:nvSpPr>
          <p:cNvPr id="124959" name="Text Box 31"/>
          <p:cNvSpPr txBox="1">
            <a:spLocks noChangeArrowheads="1"/>
          </p:cNvSpPr>
          <p:nvPr/>
        </p:nvSpPr>
        <p:spPr bwMode="auto">
          <a:xfrm>
            <a:off x="5110163" y="4827588"/>
            <a:ext cx="4033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c</a:t>
            </a:r>
            <a:r>
              <a:rPr lang="en-US" altLang="zh-CN" sz="1800" b="1" i="1" baseline="-11000">
                <a:latin typeface="ISOCPEUR" pitchFamily="34" charset="0"/>
              </a:rPr>
              <a:t>1 </a:t>
            </a:r>
            <a:r>
              <a:rPr lang="en-US" altLang="zh-CN" sz="1800" b="1" i="1">
                <a:latin typeface="ISOCPEUR" pitchFamily="34" charset="0"/>
              </a:rPr>
              <a:t>,d</a:t>
            </a:r>
            <a:r>
              <a:rPr lang="en-US" altLang="zh-CN" sz="1800" b="1" i="1" baseline="-11000">
                <a:latin typeface="ISOCPEUR" pitchFamily="34" charset="0"/>
              </a:rPr>
              <a:t>1</a:t>
            </a:r>
          </a:p>
        </p:txBody>
      </p:sp>
      <p:sp>
        <p:nvSpPr>
          <p:cNvPr id="124960" name="Line 32"/>
          <p:cNvSpPr>
            <a:spLocks noChangeShapeType="1"/>
          </p:cNvSpPr>
          <p:nvPr/>
        </p:nvSpPr>
        <p:spPr bwMode="auto">
          <a:xfrm flipH="1" flipV="1">
            <a:off x="3840163" y="3309938"/>
            <a:ext cx="195262" cy="9620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61" name="Text Box 33"/>
          <p:cNvSpPr txBox="1">
            <a:spLocks noChangeArrowheads="1"/>
          </p:cNvSpPr>
          <p:nvPr/>
        </p:nvSpPr>
        <p:spPr bwMode="auto">
          <a:xfrm>
            <a:off x="5591175" y="4819650"/>
            <a:ext cx="3554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latin typeface="ISOCPEUR" pitchFamily="34" charset="0"/>
              </a:rPr>
              <a:t>,n</a:t>
            </a:r>
            <a:r>
              <a:rPr lang="en-US" altLang="zh-CN" sz="1800" b="1" i="1" baseline="-11000">
                <a:latin typeface="ISOCPEUR" pitchFamily="34" charset="0"/>
              </a:rPr>
              <a:t>1</a:t>
            </a:r>
          </a:p>
        </p:txBody>
      </p:sp>
      <p:sp>
        <p:nvSpPr>
          <p:cNvPr id="124962" name="Oval 34"/>
          <p:cNvSpPr>
            <a:spLocks noChangeArrowheads="1"/>
          </p:cNvSpPr>
          <p:nvPr/>
        </p:nvSpPr>
        <p:spPr bwMode="auto">
          <a:xfrm>
            <a:off x="5478463" y="4830763"/>
            <a:ext cx="73025" cy="682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charset="0"/>
            </a:endParaRPr>
          </a:p>
        </p:txBody>
      </p:sp>
      <p:sp>
        <p:nvSpPr>
          <p:cNvPr id="124963" name="Line 35"/>
          <p:cNvSpPr>
            <a:spLocks noChangeShapeType="1"/>
          </p:cNvSpPr>
          <p:nvPr/>
        </p:nvSpPr>
        <p:spPr bwMode="auto">
          <a:xfrm flipH="1" flipV="1">
            <a:off x="3621088" y="2220913"/>
            <a:ext cx="225425" cy="11144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64" name="Rectangle 36"/>
          <p:cNvSpPr>
            <a:spLocks noChangeArrowheads="1"/>
          </p:cNvSpPr>
          <p:nvPr/>
        </p:nvSpPr>
        <p:spPr bwMode="auto">
          <a:xfrm>
            <a:off x="5564188" y="1471613"/>
            <a:ext cx="3603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黑体" pitchFamily="2" charset="-122"/>
                <a:ea typeface="黑体" pitchFamily="2" charset="-122"/>
              </a:rPr>
              <a:t>具体作图，略。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4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4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2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2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2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2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3" grpId="0" animBg="1"/>
      <p:bldP spid="124934" grpId="0" animBg="1"/>
      <p:bldP spid="124935" grpId="0"/>
      <p:bldP spid="124936" grpId="0"/>
      <p:bldP spid="124937" grpId="0"/>
      <p:bldP spid="124938" grpId="0"/>
      <p:bldP spid="124940" grpId="0"/>
      <p:bldP spid="124941" grpId="0"/>
      <p:bldP spid="124942" grpId="0"/>
      <p:bldP spid="124946" grpId="0"/>
      <p:bldP spid="124948" grpId="0"/>
      <p:bldP spid="124953" grpId="0" animBg="1"/>
      <p:bldP spid="124954" grpId="0" animBg="1"/>
      <p:bldP spid="124955" grpId="0" animBg="1"/>
      <p:bldP spid="124956" grpId="0" animBg="1"/>
      <p:bldP spid="124957" grpId="0" animBg="1"/>
      <p:bldP spid="124958" grpId="0"/>
      <p:bldP spid="124959" grpId="0"/>
      <p:bldP spid="124960" grpId="0" animBg="1"/>
      <p:bldP spid="124961" grpId="0"/>
      <p:bldP spid="124962" grpId="0" animBg="1"/>
      <p:bldP spid="124963" grpId="0" animBg="1"/>
      <p:bldP spid="124964" grpId="0"/>
    </p:bld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6694</TotalTime>
  <Words>1740</Words>
  <Application>Microsoft Office PowerPoint</Application>
  <PresentationFormat>全屏显示(4:3)</PresentationFormat>
  <Paragraphs>253</Paragraphs>
  <Slides>49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52" baseType="lpstr">
      <vt:lpstr>Blends</vt:lpstr>
      <vt:lpstr>Image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Li Tiemin</cp:lastModifiedBy>
  <cp:revision>151</cp:revision>
  <dcterms:created xsi:type="dcterms:W3CDTF">2006-04-04T11:38:05Z</dcterms:created>
  <dcterms:modified xsi:type="dcterms:W3CDTF">2023-10-15T08:36:16Z</dcterms:modified>
</cp:coreProperties>
</file>