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475" r:id="rId3"/>
    <p:sldId id="476" r:id="rId4"/>
    <p:sldId id="477" r:id="rId5"/>
    <p:sldId id="478" r:id="rId6"/>
    <p:sldId id="479" r:id="rId7"/>
    <p:sldId id="480" r:id="rId8"/>
    <p:sldId id="481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489" r:id="rId17"/>
    <p:sldId id="490" r:id="rId18"/>
    <p:sldId id="491" r:id="rId19"/>
    <p:sldId id="492" r:id="rId20"/>
    <p:sldId id="493" r:id="rId21"/>
    <p:sldId id="494" r:id="rId22"/>
    <p:sldId id="495" r:id="rId23"/>
    <p:sldId id="470" r:id="rId24"/>
    <p:sldId id="496" r:id="rId25"/>
    <p:sldId id="497" r:id="rId26"/>
    <p:sldId id="498" r:id="rId2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0" autoAdjust="0"/>
    <p:restoredTop sz="94840" autoAdjust="0"/>
  </p:normalViewPr>
  <p:slideViewPr>
    <p:cSldViewPr snapToGrid="0">
      <p:cViewPr varScale="1">
        <p:scale>
          <a:sx n="83" d="100"/>
          <a:sy n="83" d="100"/>
        </p:scale>
        <p:origin x="-1517" y="-62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7C9E85F-A8F2-4CE3-BF5E-67D9C61016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966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3BA3D-41E4-4079-B68E-FD4425ABF0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935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041FD-9971-48A5-93D8-6D2D0FADB6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462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B923F-CEFC-494E-99F2-321A709115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680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1A70C-6B83-44CE-BEF6-F4CA6E33FC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839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DF863-9EC3-4AB4-9579-1BF6708727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77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E85CB-C5A3-4A50-9740-B3A56D959C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350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2B7458-856E-4551-BB07-C76D33A1F9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937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5C7061-EEAF-44D7-B2A8-BAC0060A50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82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30DD9-3F7B-49EF-9D2E-A9A9E66855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20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63774-F40B-424C-81A7-2DE8B5EC92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76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3FDF46D9-639C-45B6-8AB3-D18220391B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627063"/>
            <a:ext cx="9144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6000" b="1" dirty="0" smtClean="0">
                <a:latin typeface="Arial" charset="0"/>
                <a:ea typeface="隶书" pitchFamily="49" charset="-122"/>
              </a:rPr>
              <a:t>第七讲</a:t>
            </a:r>
            <a:r>
              <a:rPr lang="zh-CN" altLang="en-US" sz="6000" b="1" dirty="0">
                <a:latin typeface="Arial" charset="0"/>
                <a:ea typeface="隶书" pitchFamily="49" charset="-122"/>
              </a:rPr>
              <a:t>习题答案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3454151"/>
            <a:ext cx="9144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4400" b="1" dirty="0">
                <a:ea typeface="黑体" pitchFamily="2" charset="-122"/>
              </a:rPr>
              <a:t>回转体</a:t>
            </a:r>
            <a:r>
              <a:rPr lang="zh-CN" altLang="en-US" sz="4400" b="1" dirty="0" smtClean="0">
                <a:ea typeface="黑体" pitchFamily="2" charset="-122"/>
              </a:rPr>
              <a:t>与回转体相交</a:t>
            </a:r>
            <a:endParaRPr lang="zh-CN" altLang="en-US" sz="4400" b="1" dirty="0"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3-3-2-1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11" t="19824" r="28033" b="32063"/>
          <a:stretch>
            <a:fillRect/>
          </a:stretch>
        </p:blipFill>
        <p:spPr bwMode="auto">
          <a:xfrm>
            <a:off x="1168400" y="847725"/>
            <a:ext cx="7340600" cy="533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5640959" y="4968875"/>
            <a:ext cx="321468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eaLnBrk="1" hangingPunct="1"/>
            <a:r>
              <a:rPr lang="en-US" altLang="zh-CN" sz="2000" b="1" dirty="0" smtClean="0">
                <a:latin typeface="宋体" pitchFamily="2" charset="-122"/>
              </a:rPr>
              <a:t>1. </a:t>
            </a:r>
            <a:r>
              <a:rPr lang="zh-CN" altLang="en-US" sz="2000" b="1" dirty="0" smtClean="0">
                <a:latin typeface="宋体" pitchFamily="2" charset="-122"/>
              </a:rPr>
              <a:t>回转</a:t>
            </a:r>
            <a:r>
              <a:rPr lang="zh-CN" altLang="en-US" sz="2000" b="1" dirty="0">
                <a:latin typeface="宋体" pitchFamily="2" charset="-122"/>
              </a:rPr>
              <a:t>中心线（点画线</a:t>
            </a:r>
            <a:r>
              <a:rPr lang="zh-CN" altLang="en-US" sz="2000" b="1" dirty="0" smtClean="0">
                <a:latin typeface="宋体" pitchFamily="2" charset="-122"/>
              </a:rPr>
              <a:t>）</a:t>
            </a:r>
            <a:endParaRPr lang="en-US" altLang="zh-CN" sz="2000" b="1" dirty="0" smtClean="0">
              <a:latin typeface="宋体" pitchFamily="2" charset="-122"/>
            </a:endParaRPr>
          </a:p>
          <a:p>
            <a:pPr eaLnBrk="1" hangingPunct="1"/>
            <a:r>
              <a:rPr lang="en-US" altLang="zh-CN" sz="2000" b="1" dirty="0" smtClean="0">
                <a:latin typeface="宋体" pitchFamily="2" charset="-122"/>
              </a:rPr>
              <a:t>2. </a:t>
            </a:r>
            <a:r>
              <a:rPr lang="zh-CN" altLang="en-US" sz="2000" b="1" dirty="0" smtClean="0">
                <a:latin typeface="宋体" pitchFamily="2" charset="-122"/>
              </a:rPr>
              <a:t>中间点过程需保留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3-3-2-1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2" t="19754" r="17262" b="30629"/>
          <a:stretch>
            <a:fillRect/>
          </a:stretch>
        </p:blipFill>
        <p:spPr bwMode="auto">
          <a:xfrm>
            <a:off x="1390650" y="858838"/>
            <a:ext cx="5678488" cy="368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3-3-2-2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5603" name="Oval 3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9" t="24072" r="19597" b="26221"/>
          <a:stretch>
            <a:fillRect/>
          </a:stretch>
        </p:blipFill>
        <p:spPr bwMode="auto">
          <a:xfrm>
            <a:off x="1116013" y="701675"/>
            <a:ext cx="7597775" cy="565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6229" name="Oval 5"/>
          <p:cNvSpPr>
            <a:spLocks noChangeArrowheads="1"/>
          </p:cNvSpPr>
          <p:nvPr/>
        </p:nvSpPr>
        <p:spPr bwMode="auto">
          <a:xfrm>
            <a:off x="2851150" y="1384300"/>
            <a:ext cx="519113" cy="2809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6230" name="Oval 6"/>
          <p:cNvSpPr>
            <a:spLocks noChangeArrowheads="1"/>
          </p:cNvSpPr>
          <p:nvPr/>
        </p:nvSpPr>
        <p:spPr bwMode="auto">
          <a:xfrm>
            <a:off x="2865438" y="2852738"/>
            <a:ext cx="519112" cy="2809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9" grpId="0" animBg="1"/>
      <p:bldP spid="4362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3-3-2-2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372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9" t="23975" r="20287" b="25244"/>
          <a:stretch>
            <a:fillRect/>
          </a:stretch>
        </p:blipFill>
        <p:spPr bwMode="auto">
          <a:xfrm>
            <a:off x="136525" y="766763"/>
            <a:ext cx="4210050" cy="324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72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98" t="22266" r="24297" b="27393"/>
          <a:stretch>
            <a:fillRect/>
          </a:stretch>
        </p:blipFill>
        <p:spPr bwMode="auto">
          <a:xfrm>
            <a:off x="5127625" y="758825"/>
            <a:ext cx="4016375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7254" name="Line 6"/>
          <p:cNvSpPr>
            <a:spLocks noChangeShapeType="1"/>
          </p:cNvSpPr>
          <p:nvPr/>
        </p:nvSpPr>
        <p:spPr bwMode="auto">
          <a:xfrm>
            <a:off x="4519613" y="2079625"/>
            <a:ext cx="46831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372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9" t="24072" r="19597" b="26221"/>
          <a:stretch>
            <a:fillRect/>
          </a:stretch>
        </p:blipFill>
        <p:spPr bwMode="auto">
          <a:xfrm>
            <a:off x="2643188" y="3836988"/>
            <a:ext cx="3832225" cy="285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7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3-3-2-2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95" t="22563" r="32437" b="36929"/>
          <a:stretch>
            <a:fillRect/>
          </a:stretch>
        </p:blipFill>
        <p:spPr bwMode="auto">
          <a:xfrm>
            <a:off x="3074988" y="511175"/>
            <a:ext cx="3021012" cy="282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82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8" t="19075" r="27019" b="23015"/>
          <a:stretch>
            <a:fillRect/>
          </a:stretch>
        </p:blipFill>
        <p:spPr bwMode="auto">
          <a:xfrm>
            <a:off x="5368925" y="3444875"/>
            <a:ext cx="3448050" cy="341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82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7" t="20232" r="28386" b="24300"/>
          <a:stretch>
            <a:fillRect/>
          </a:stretch>
        </p:blipFill>
        <p:spPr bwMode="auto">
          <a:xfrm>
            <a:off x="750888" y="3382963"/>
            <a:ext cx="3411537" cy="347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3"/>
          <a:stretch>
            <a:fillRect/>
          </a:stretch>
        </p:blipFill>
        <p:spPr bwMode="auto">
          <a:xfrm>
            <a:off x="2195513" y="446088"/>
            <a:ext cx="4811712" cy="618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3-3-2-3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3463798" y="3840702"/>
            <a:ext cx="519113" cy="2809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3-3-2-3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3" t="18990" r="15210" b="33316"/>
          <a:stretch>
            <a:fillRect/>
          </a:stretch>
        </p:blipFill>
        <p:spPr bwMode="auto">
          <a:xfrm>
            <a:off x="1543050" y="1149350"/>
            <a:ext cx="5651500" cy="336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3"/>
          <a:stretch>
            <a:fillRect/>
          </a:stretch>
        </p:blipFill>
        <p:spPr bwMode="auto">
          <a:xfrm>
            <a:off x="2195513" y="446088"/>
            <a:ext cx="4784725" cy="618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*3-3-2-4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*3-3-2-4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0" t="22935" r="16295" b="41035"/>
          <a:stretch>
            <a:fillRect/>
          </a:stretch>
        </p:blipFill>
        <p:spPr bwMode="auto">
          <a:xfrm>
            <a:off x="1225550" y="1541463"/>
            <a:ext cx="7720013" cy="331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3-3-2-5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2771" name="Oval 3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01" t="20882" r="19948" b="24609"/>
          <a:stretch>
            <a:fillRect/>
          </a:stretch>
        </p:blipFill>
        <p:spPr bwMode="auto">
          <a:xfrm>
            <a:off x="1593850" y="858838"/>
            <a:ext cx="6175375" cy="531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" t="1759" r="6010" b="1759"/>
          <a:stretch>
            <a:fillRect/>
          </a:stretch>
        </p:blipFill>
        <p:spPr bwMode="auto">
          <a:xfrm>
            <a:off x="3519488" y="506413"/>
            <a:ext cx="1987550" cy="2871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3-3-2-5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444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9" t="14844" r="28723" b="17790"/>
          <a:stretch>
            <a:fillRect/>
          </a:stretch>
        </p:blipFill>
        <p:spPr bwMode="auto">
          <a:xfrm>
            <a:off x="5708650" y="3309938"/>
            <a:ext cx="2924175" cy="354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44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46" t="19060" r="31876" b="22688"/>
          <a:stretch>
            <a:fillRect/>
          </a:stretch>
        </p:blipFill>
        <p:spPr bwMode="auto">
          <a:xfrm>
            <a:off x="728663" y="3286125"/>
            <a:ext cx="2859087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3-3-2-6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9" t="22054" r="25742" b="28662"/>
          <a:stretch>
            <a:fillRect/>
          </a:stretch>
        </p:blipFill>
        <p:spPr bwMode="auto">
          <a:xfrm>
            <a:off x="1573213" y="911225"/>
            <a:ext cx="6270625" cy="5233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5445" name="Oval 5"/>
          <p:cNvSpPr>
            <a:spLocks noChangeArrowheads="1"/>
          </p:cNvSpPr>
          <p:nvPr/>
        </p:nvSpPr>
        <p:spPr bwMode="auto">
          <a:xfrm>
            <a:off x="1968500" y="1820863"/>
            <a:ext cx="311150" cy="2809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5446" name="Oval 6"/>
          <p:cNvSpPr>
            <a:spLocks noChangeArrowheads="1"/>
          </p:cNvSpPr>
          <p:nvPr/>
        </p:nvSpPr>
        <p:spPr bwMode="auto">
          <a:xfrm>
            <a:off x="3956050" y="1865313"/>
            <a:ext cx="311150" cy="2809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5447" name="Oval 7"/>
          <p:cNvSpPr>
            <a:spLocks noChangeArrowheads="1"/>
          </p:cNvSpPr>
          <p:nvPr/>
        </p:nvSpPr>
        <p:spPr bwMode="auto">
          <a:xfrm>
            <a:off x="2338388" y="2346325"/>
            <a:ext cx="311150" cy="2809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5448" name="Oval 8"/>
          <p:cNvSpPr>
            <a:spLocks noChangeArrowheads="1"/>
          </p:cNvSpPr>
          <p:nvPr/>
        </p:nvSpPr>
        <p:spPr bwMode="auto">
          <a:xfrm>
            <a:off x="3522663" y="2344738"/>
            <a:ext cx="311150" cy="2809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5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5" grpId="0" animBg="1"/>
      <p:bldP spid="445446" grpId="0" animBg="1"/>
      <p:bldP spid="445447" grpId="0" animBg="1"/>
      <p:bldP spid="4454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3-3-2-6  作第三视图，并标出交线上特殊点的三投影。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1" t="18446" r="18347" b="35315"/>
          <a:stretch>
            <a:fillRect/>
          </a:stretch>
        </p:blipFill>
        <p:spPr bwMode="auto">
          <a:xfrm>
            <a:off x="1890713" y="1485900"/>
            <a:ext cx="5291137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522288"/>
            <a:ext cx="5729287" cy="525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3-3-2-7  作两圆柱偏交后的主视图，并标出交线上特殊点的三投影。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8" t="13736" r="17558" b="26906"/>
          <a:stretch>
            <a:fillRect/>
          </a:stretch>
        </p:blipFill>
        <p:spPr bwMode="auto">
          <a:xfrm>
            <a:off x="2105025" y="1119188"/>
            <a:ext cx="4843463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3-3-2-7  作两圆柱偏交后的主视图，并标出交线上特殊点的三投影。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3-3-2-8  完成两斜交圆柱的主、俯视图。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8915" name="Oval 3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8" t="25032" r="25833" b="20882"/>
          <a:stretch>
            <a:fillRect/>
          </a:stretch>
        </p:blipFill>
        <p:spPr bwMode="auto">
          <a:xfrm>
            <a:off x="1354138" y="488642"/>
            <a:ext cx="6184900" cy="527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9541" name="Text Box 5"/>
          <p:cNvSpPr txBox="1">
            <a:spLocks noChangeArrowheads="1"/>
          </p:cNvSpPr>
          <p:nvPr/>
        </p:nvSpPr>
        <p:spPr bwMode="auto">
          <a:xfrm>
            <a:off x="435769" y="5807662"/>
            <a:ext cx="82621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注意：</a:t>
            </a:r>
            <a:r>
              <a:rPr lang="zh-CN" altLang="en-US" sz="20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椭圆是近似画法画出的，其上不能取点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。中间点使用换面法。</a:t>
            </a:r>
            <a:endParaRPr lang="zh-CN" altLang="en-US" sz="20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32055" y="6227686"/>
            <a:ext cx="82621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思考：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沿倾斜圆柱方向的最低点？</a:t>
            </a:r>
            <a:endParaRPr lang="zh-CN" altLang="en-US" sz="20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41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3-3-2-8  完成两斜交圆柱的主、俯视图。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9939" name="Oval 3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7" t="20345" r="16875" b="25667"/>
          <a:stretch>
            <a:fillRect/>
          </a:stretch>
        </p:blipFill>
        <p:spPr bwMode="auto">
          <a:xfrm>
            <a:off x="917575" y="558800"/>
            <a:ext cx="8013700" cy="526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565" name="Text Box 5"/>
          <p:cNvSpPr txBox="1">
            <a:spLocks noChangeArrowheads="1"/>
          </p:cNvSpPr>
          <p:nvPr/>
        </p:nvSpPr>
        <p:spPr bwMode="auto">
          <a:xfrm>
            <a:off x="1393556" y="5973108"/>
            <a:ext cx="695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注意：</a:t>
            </a:r>
            <a:r>
              <a:rPr lang="zh-CN" altLang="en-US" sz="20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只要使用球面法，必须找出最大球和最小球。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917575" y="2219404"/>
            <a:ext cx="1725690" cy="2531016"/>
          </a:xfrm>
          <a:prstGeom prst="straightConnector1">
            <a:avLst/>
          </a:prstGeom>
          <a:ln w="25400">
            <a:solidFill>
              <a:schemeClr val="tx1"/>
            </a:solidFill>
            <a:headEnd type="none" w="sm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52989" y="2174799"/>
            <a:ext cx="5969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沿</a:t>
            </a:r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倾斜圆柱</a:t>
            </a:r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轴线的</a:t>
            </a:r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最低点</a:t>
            </a:r>
            <a:endParaRPr lang="en-US" altLang="zh-CN" sz="20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389842" y="6348528"/>
            <a:ext cx="6953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提示</a:t>
            </a:r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0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光滑连接交线时，检查特殊点是否完全。</a:t>
            </a:r>
            <a:endParaRPr lang="zh-CN" altLang="en-US" sz="20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27915" y="2183311"/>
            <a:ext cx="5969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利用左视图求出俯视图</a:t>
            </a:r>
            <a:endParaRPr lang="en-US" altLang="zh-CN" sz="2000" b="1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5" grpId="0"/>
      <p:bldP spid="11" grpId="0"/>
      <p:bldP spid="8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6" t="15512" r="12843" b="26904"/>
          <a:stretch>
            <a:fillRect/>
          </a:stretch>
        </p:blipFill>
        <p:spPr bwMode="auto">
          <a:xfrm>
            <a:off x="1492250" y="688975"/>
            <a:ext cx="6111875" cy="370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3-3-2-8  完成两斜交圆柱的主、俯视图。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1"/>
          <a:stretch>
            <a:fillRect/>
          </a:stretch>
        </p:blipFill>
        <p:spPr bwMode="auto">
          <a:xfrm>
            <a:off x="1331913" y="446088"/>
            <a:ext cx="6480175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3-3-2-9  作半圆柱与圆锥台的交线。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7" t="17238" r="13849" b="28384"/>
          <a:stretch>
            <a:fillRect/>
          </a:stretch>
        </p:blipFill>
        <p:spPr bwMode="auto">
          <a:xfrm>
            <a:off x="1493838" y="950913"/>
            <a:ext cx="5691187" cy="350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3-3-2-9  作半圆柱与圆锥台的交线。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3-3-2-10  补全圆柱与圆球相交后视图中所缺的线。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46" t="29118" r="29205" b="33269"/>
          <a:stretch>
            <a:fillRect/>
          </a:stretch>
        </p:blipFill>
        <p:spPr bwMode="auto">
          <a:xfrm>
            <a:off x="4416425" y="536575"/>
            <a:ext cx="3722688" cy="26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50" t="25179" r="32278" b="29329"/>
          <a:stretch>
            <a:fillRect/>
          </a:stretch>
        </p:blipFill>
        <p:spPr bwMode="auto">
          <a:xfrm>
            <a:off x="4416425" y="3175000"/>
            <a:ext cx="3751263" cy="368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4" t="10938" r="8203" b="16992"/>
          <a:stretch>
            <a:fillRect/>
          </a:stretch>
        </p:blipFill>
        <p:spPr bwMode="auto">
          <a:xfrm>
            <a:off x="287338" y="0"/>
            <a:ext cx="8659812" cy="681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3" t="10742" r="12656" b="18164"/>
          <a:stretch>
            <a:fillRect/>
          </a:stretch>
        </p:blipFill>
        <p:spPr bwMode="auto">
          <a:xfrm>
            <a:off x="319088" y="26988"/>
            <a:ext cx="8558212" cy="683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5685" name="Text Box 5"/>
          <p:cNvSpPr txBox="1">
            <a:spLocks noChangeArrowheads="1"/>
          </p:cNvSpPr>
          <p:nvPr/>
        </p:nvSpPr>
        <p:spPr bwMode="auto">
          <a:xfrm>
            <a:off x="487363" y="3395663"/>
            <a:ext cx="2732087" cy="21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黑体" pitchFamily="2" charset="-122"/>
              </a:rPr>
              <a:t>找全特殊点；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黑体" pitchFamily="2" charset="-122"/>
              </a:rPr>
              <a:t>补充中间点；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黑体" pitchFamily="2" charset="-122"/>
              </a:rPr>
              <a:t>判断分界点；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黑体" pitchFamily="2" charset="-122"/>
              </a:rPr>
              <a:t>检查轮廓点。</a:t>
            </a:r>
          </a:p>
        </p:txBody>
      </p:sp>
      <p:sp>
        <p:nvSpPr>
          <p:cNvPr id="455686" name="Text Box 6"/>
          <p:cNvSpPr txBox="1">
            <a:spLocks noChangeArrowheads="1"/>
          </p:cNvSpPr>
          <p:nvPr/>
        </p:nvSpPr>
        <p:spPr bwMode="auto">
          <a:xfrm>
            <a:off x="539750" y="5746750"/>
            <a:ext cx="2732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hlink"/>
                </a:solidFill>
                <a:ea typeface="黑体" pitchFamily="2" charset="-122"/>
              </a:rPr>
              <a:t>以点引线！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5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5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5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5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5"/>
          <a:stretch>
            <a:fillRect/>
          </a:stretch>
        </p:blipFill>
        <p:spPr bwMode="auto">
          <a:xfrm>
            <a:off x="2886875" y="446088"/>
            <a:ext cx="4748212" cy="617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3-3-2-11  补全圆柱与圆环相交后视图中所缺的线。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6213" y="3395662"/>
            <a:ext cx="25335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 smtClean="0">
                <a:ea typeface="黑体" pitchFamily="2" charset="-122"/>
              </a:rPr>
              <a:t>注意</a:t>
            </a:r>
            <a:r>
              <a:rPr lang="zh-CN" altLang="en-US" sz="2400" b="1" dirty="0" smtClean="0">
                <a:ea typeface="黑体" pitchFamily="2" charset="-122"/>
              </a:rPr>
              <a:t>： </a:t>
            </a:r>
            <a:endParaRPr lang="en-US" altLang="zh-CN" sz="2400" b="1" dirty="0" smtClean="0">
              <a:ea typeface="黑体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 smtClean="0">
                <a:ea typeface="黑体" pitchFamily="2" charset="-122"/>
              </a:rPr>
              <a:t>使用异心球面法无法找到</a:t>
            </a:r>
            <a:r>
              <a:rPr lang="en-US" altLang="zh-CN" sz="2400" b="1" dirty="0" smtClean="0">
                <a:ea typeface="黑体" pitchFamily="2" charset="-122"/>
              </a:rPr>
              <a:t>4</a:t>
            </a:r>
            <a:r>
              <a:rPr lang="zh-CN" altLang="en-US" sz="2400" b="1" dirty="0" smtClean="0">
                <a:ea typeface="黑体" pitchFamily="2" charset="-122"/>
              </a:rPr>
              <a:t>点</a:t>
            </a:r>
            <a:endParaRPr lang="zh-CN" altLang="en-US" sz="2400" b="1" dirty="0">
              <a:ea typeface="黑体" pitchFamily="2" charset="-122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en-US" sz="1600" b="1">
                <a:latin typeface="宋体" pitchFamily="2" charset="-122"/>
              </a:rPr>
              <a:t>3-3-2-11  补全圆柱与圆环相交后视图中所缺的线。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5" t="17583" r="13750" b="24586"/>
          <a:stretch>
            <a:fillRect/>
          </a:stretch>
        </p:blipFill>
        <p:spPr bwMode="auto">
          <a:xfrm>
            <a:off x="1716088" y="933450"/>
            <a:ext cx="5514975" cy="372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176213" y="477838"/>
            <a:ext cx="519112" cy="2809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4802</TotalTime>
  <Words>235</Words>
  <Application>Microsoft Office PowerPoint</Application>
  <PresentationFormat>全屏显示(4:3)</PresentationFormat>
  <Paragraphs>41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318</cp:revision>
  <dcterms:created xsi:type="dcterms:W3CDTF">2006-04-04T11:38:05Z</dcterms:created>
  <dcterms:modified xsi:type="dcterms:W3CDTF">2023-11-10T07:58:54Z</dcterms:modified>
</cp:coreProperties>
</file>